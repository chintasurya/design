
<file path=[Content_Types].xml><?xml version="1.0" encoding="utf-8"?>
<Types xmlns="http://schemas.openxmlformats.org/package/2006/content-types">
  <Default Extension="rels" ContentType="application/vnd.openxmlformats-package.relationships+xml"/>
  <Default Extension="xml" ContentType="application/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heme/theme1.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sldIdLst>
    <p:sldId id="256" r:id="rId1"/>
    <p:sldId id="257" r:id="rId2"/>
    <p:sldId id="258" r:id="rId3"/>
  </p:sldIdLst>
  <p:sldSz cx="12192000" cy="6858000"/>
  <p:notesSz cx="6858000" cy="12192000"/>
  <p:defaultTextStyle>
    <a:defPPr>
      <a:defRPr lang="en-US"/>
    </a:def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file>

<file path=ppt/_rels/presentation.xml.rels><?xml version="1.0" encoding="UTF-8" standalone="yes"?>
<Relationships xmlns="http://schemas.openxmlformats.org/package/2006/relationships">
<Relationship Id="rId1" Type="http://schemas.openxmlformats.org/officeDocument/2006/relationships/slide" Target="slides/slide1.xml"/><Relationship Id="rId2" Type="http://schemas.openxmlformats.org/officeDocument/2006/relationships/slide" Target="slides/slide2.xml"/><Relationship Id="rId3" Type="http://schemas.openxmlformats.org/officeDocument/2006/relationships/slide" Target="slides/slide3.xml"/>
<Relationship Id="rId4" Type="http://schemas.openxmlformats.org/officeDocument/2006/relationships/slideMaster" Target="slideMasters/slideMaster1.xml"/>
<Relationship Id="rId5" Type="http://schemas.openxmlformats.org/officeDocument/2006/relationships/presProps" Target="presProps.xml"/>
<Relationship Id="rId6" Type="http://schemas.openxmlformats.org/officeDocument/2006/relationships/viewProps" Target="viewProps.xml"/>
<Relationship Id="rId7" Type="http://schemas.openxmlformats.org/officeDocument/2006/relationships/theme" Target="theme/theme1.xml"/>
<Relationship Id="rId8" Type="http://schemas.openxmlformats.org/officeDocument/2006/relationships/tableStyles" Target="tableStyles.xml"/>
</Relationships>
</file>

<file path=ppt/slideLayouts/_rels/slideLayout1.xml.rels><?xml version="1.0" encoding="UTF-8" standalone="yes"?>
<Relationships xmlns="http://schemas.openxmlformats.org/package/2006/relationships">
<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
<Relationship Id="rId1" Type="http://schemas.openxmlformats.org/officeDocument/2006/relationships/slideLayout" Target="../slideLayouts/slideLayout1.xml"/>
<Relationship Id="rId2" Type="http://schemas.openxmlformats.org/officeDocument/2006/relationships/theme" Target="../theme/theme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defRPr/>
      </a:lvl1pPr>
      <a:lvl2pPr>
        <a:defRPr/>
      </a:lvl2pPr>
      <a:lvl3pPr>
        <a:defRPr/>
      </a:lvl3pPr>
      <a:lvl4pPr>
        <a:defRPr/>
      </a:lvl4pPr>
      <a:lvl5pPr>
        <a:defRPr/>
      </a:lvl5pPr>
      <a:lvl6pPr>
        <a:defRPr/>
      </a:lvl6pPr>
      <a:lvl7pPr>
        <a:defRPr/>
      </a:lvl7pPr>
      <a:lvl8pPr>
        <a:defRPr/>
      </a:lvl8pPr>
      <a:lvl9pPr>
        <a:defRPr/>
      </a:lvl9pPr>
    </p:titleStyle>
    <p:bodyStyle>
      <a:lvl1pPr>
        <a:defRPr/>
      </a:lvl1pPr>
      <a:lvl2pPr>
        <a:defRPr/>
      </a:lvl2pPr>
      <a:lvl3pPr>
        <a:defRPr/>
      </a:lvl3pPr>
      <a:lvl4pPr>
        <a:defRPr/>
      </a:lvl4pPr>
      <a:lvl5pPr>
        <a:defRPr/>
      </a:lvl5pPr>
      <a:lvl6pPr>
        <a:defRPr/>
      </a:lvl6pPr>
      <a:lvl7pPr>
        <a:defRPr/>
      </a:lvl7pPr>
      <a:lvl8pPr>
        <a:defRPr/>
      </a:lvl8pPr>
      <a:lvl9pPr>
        <a:defRPr/>
      </a:lvl9pPr>
    </p:bodyStyle>
    <p:otherStyle>
      <a:lvl1pPr>
        <a:defRPr/>
      </a:lvl1pPr>
      <a:lvl2pPr>
        <a:defRPr/>
      </a:lvl2pPr>
      <a:lvl3pPr>
        <a:defRPr/>
      </a:lvl3pPr>
      <a:lvl4pPr>
        <a:defRPr/>
      </a:lvl4pPr>
      <a:lvl5pPr>
        <a:defRPr/>
      </a:lvl5pPr>
      <a:lvl6pPr>
        <a:defRPr/>
      </a:lvl6pPr>
      <a:lvl7pPr>
        <a:defRPr/>
      </a:lvl7pPr>
      <a:lvl8pPr>
        <a:defRPr/>
      </a:lvl8pPr>
      <a:lvl9pPr>
        <a:defRPr/>
      </a:lvl9pPr>
    </p:otherStyle>
  </p:txStyles>
</p:sldMaster>
</file>

<file path=ppt/slides/_rels/slide1.xml.rels><?xml version="1.0" encoding="UTF-8" standalone="yes"?>
<Relationships xmlns="http://schemas.openxmlformats.org/package/2006/relationships">
<Relationship Id="rId1" Type="http://schemas.openxmlformats.org/officeDocument/2006/relationships/image" Target="../media/slide1.png"/>
<Relationship Id="rId2" Type="http://schemas.openxmlformats.org/officeDocument/2006/relationships/slideLayout" Target="../slideLayouts/slideLayout1.xml"/>
</Relationships>
</file>

<file path=ppt/slides/_rels/slide2.xml.rels><?xml version="1.0" encoding="UTF-8" standalone="yes"?>
<Relationships xmlns="http://schemas.openxmlformats.org/package/2006/relationships">
<Relationship Id="rId1" Type="http://schemas.openxmlformats.org/officeDocument/2006/relationships/image" Target="../media/slide2.png"/>
<Relationship Id="rId2" Type="http://schemas.openxmlformats.org/officeDocument/2006/relationships/slideLayout" Target="../slideLayouts/slideLayout1.xml"/>
</Relationships>
</file>

<file path=ppt/slides/_rels/slide3.xml.rels><?xml version="1.0" encoding="UTF-8" standalone="yes"?>
<Relationships xmlns="http://schemas.openxmlformats.org/package/2006/relationships">
<Relationship Id="rId1" Type="http://schemas.openxmlformats.org/officeDocument/2006/relationships/image" Target="../media/slide3.png"/>
<Relationship Id="rId2"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ne platform for Salesforce governance" descr="Slide 1 of 3. Headline: One platform for Salesforce governance. Understand user access, assess security risks and simplify governance within your Salesforce org. Approved by Salesforce Security Review and live on AppExchange. Access intelligence, audit and compliance readiness, release and storage insights. Product view: org security dashboard, permission set comparison and compliance frameworks."/>
          <p:cNvPicPr>
            <a:picLocks noChangeAspect="1"/>
          </p:cNvPicPr>
          <p:nvPr/>
        </p:nvPicPr>
        <p:blipFill>
          <a:blip r:embed="rId1"/>
          <a:stretch>
            <a:fillRect/>
          </a:stretch>
        </p:blipFill>
        <p:spPr>
          <a:xfrm>
            <a:off x="0" y="0"/>
            <a:ext cx="12192000" cy="6858000"/>
          </a:xfrm>
          <a:prstGeom prst="rect">
            <a:avLst/>
          </a:prstGeom>
        </p:spPr>
      </p:pic>
      <p:sp>
        <p:nvSpPr>
          <p:cNvPr id="3" name="One platform for"/>
          <p:cNvSpPr txBox="1"/>
          <p:nvPr/>
        </p:nvSpPr>
        <p:spPr>
          <a:xfrm>
            <a:off x="441960" y="1295321"/>
            <a:ext cx="5632704" cy="1507846"/>
          </a:xfrm>
          <a:prstGeom prst="rect">
            <a:avLst/>
          </a:prstGeom>
          <a:noFill/>
        </p:spPr>
        <p:txBody>
          <a:bodyPr wrap="square" lIns="0" tIns="0" rIns="0" bIns="0" anchor="ctr">
            <a:noAutofit/>
          </a:bodyPr>
          <a:lstStyle/>
          <a:p>
            <a:pPr algn="l">
              <a:lnSpc>
                <a:spcPts val="3958"/>
              </a:lnSpc>
            </a:pPr>
            <a:r>
              <a:rPr lang="en-US" sz="4080" b="0" i="0" spc="-102" dirty="0">
                <a:solidFill>
                  <a:srgbClr val="0C1520"/>
                </a:solidFill>
                <a:latin typeface="Trenda IG Display Black"/>
                <a:cs typeface="Trenda IG Display Black"/>
              </a:rPr>
              <a:t>One platform for</a:t>
            </a:r>
          </a:p>
          <a:p>
            <a:pPr algn="l">
              <a:lnSpc>
                <a:spcPts val="3958"/>
              </a:lnSpc>
            </a:pPr>
            <a:r>
              <a:rPr lang="en-US" sz="4080" b="0" i="0" spc="-102" dirty="0">
                <a:solidFill>
                  <a:srgbClr val="0C1520"/>
                </a:solidFill>
                <a:latin typeface="Trenda IG Display Black"/>
                <a:cs typeface="Trenda IG Display Black"/>
              </a:rPr>
              <a:t>Salesforce</a:t>
            </a:r>
          </a:p>
          <a:p>
            <a:pPr algn="l">
              <a:lnSpc>
                <a:spcPts val="3958"/>
              </a:lnSpc>
            </a:pPr>
            <a:r>
              <a:rPr lang="en-US" sz="4080" b="0" i="0" spc="-102" dirty="0">
                <a:solidFill>
                  <a:srgbClr val="22C1F0"/>
                </a:solidFill>
                <a:latin typeface="Trenda IG Display Black"/>
                <a:cs typeface="Trenda IG Display Black"/>
              </a:rPr>
              <a:t>governance</a:t>
            </a:r>
          </a:p>
        </p:txBody>
      </p:sp>
      <p:sp>
        <p:nvSpPr>
          <p:cNvPr id="4" name="Understand user access, asse..."/>
          <p:cNvSpPr txBox="1"/>
          <p:nvPr/>
        </p:nvSpPr>
        <p:spPr>
          <a:xfrm>
            <a:off x="441960" y="3307051"/>
            <a:ext cx="5120640" cy="497738"/>
          </a:xfrm>
          <a:prstGeom prst="rect">
            <a:avLst/>
          </a:prstGeom>
          <a:noFill/>
        </p:spPr>
        <p:txBody>
          <a:bodyPr wrap="square" lIns="0" tIns="0" rIns="0" bIns="0" anchor="ctr">
            <a:noAutofit/>
          </a:bodyPr>
          <a:lstStyle/>
          <a:p>
            <a:pPr algn="l">
              <a:lnSpc>
                <a:spcPts val="1960"/>
              </a:lnSpc>
            </a:pPr>
            <a:r>
              <a:rPr lang="en-US" sz="1380" b="0" i="0" spc="-6" dirty="0">
                <a:solidFill>
                  <a:srgbClr val="5A6573"/>
                </a:solidFill>
                <a:latin typeface="Trenda IG Text"/>
                <a:cs typeface="Trenda IG Text"/>
              </a:rPr>
              <a:t>Understand user access, assess security risks</a:t>
            </a:r>
          </a:p>
          <a:p>
            <a:pPr algn="l">
              <a:lnSpc>
                <a:spcPts val="1960"/>
              </a:lnSpc>
            </a:pPr>
            <a:r>
              <a:rPr lang="en-US" sz="1380" b="0" i="0" spc="-6" dirty="0">
                <a:solidFill>
                  <a:srgbClr val="5A6573"/>
                </a:solidFill>
                <a:latin typeface="Trenda IG Text"/>
                <a:cs typeface="Trenda IG Text"/>
              </a:rPr>
              <a:t>and simplify governance within your Salesforce org.</a:t>
            </a:r>
          </a:p>
        </p:txBody>
      </p:sp>
      <p:sp>
        <p:nvSpPr>
          <p:cNvPr id="5" name="Approved by Salesforce Secur..."/>
          <p:cNvSpPr txBox="1"/>
          <p:nvPr/>
        </p:nvSpPr>
        <p:spPr>
          <a:xfrm>
            <a:off x="807720" y="3962400"/>
            <a:ext cx="3576980" cy="198120"/>
          </a:xfrm>
          <a:prstGeom prst="rect">
            <a:avLst/>
          </a:prstGeom>
          <a:noFill/>
        </p:spPr>
        <p:txBody>
          <a:bodyPr wrap="square" lIns="0" tIns="0" rIns="0" bIns="0" anchor="ctr">
            <a:noAutofit/>
          </a:bodyPr>
          <a:lstStyle/>
          <a:p>
            <a:pPr algn="l">
              <a:lnSpc>
                <a:spcPts val="1560"/>
              </a:lnSpc>
            </a:pPr>
            <a:r>
              <a:rPr lang="en-US" sz="1320" b="0" i="0" spc="-12" dirty="0">
                <a:solidFill>
                  <a:srgbClr val="16202C"/>
                </a:solidFill>
                <a:latin typeface="Trenda IG Display Semibold"/>
                <a:cs typeface="Trenda IG Display Semibold"/>
              </a:rPr>
              <a:t>Approved by Salesforce Security Review</a:t>
            </a:r>
          </a:p>
        </p:txBody>
      </p:sp>
      <p:sp>
        <p:nvSpPr>
          <p:cNvPr id="6" name="Live on AppExchange"/>
          <p:cNvSpPr txBox="1"/>
          <p:nvPr/>
        </p:nvSpPr>
        <p:spPr>
          <a:xfrm>
            <a:off x="807720" y="4328160"/>
            <a:ext cx="1921974" cy="198120"/>
          </a:xfrm>
          <a:prstGeom prst="rect">
            <a:avLst/>
          </a:prstGeom>
          <a:noFill/>
        </p:spPr>
        <p:txBody>
          <a:bodyPr wrap="square" lIns="0" tIns="0" rIns="0" bIns="0" anchor="ctr">
            <a:noAutofit/>
          </a:bodyPr>
          <a:lstStyle/>
          <a:p>
            <a:pPr algn="l">
              <a:lnSpc>
                <a:spcPts val="1560"/>
              </a:lnSpc>
            </a:pPr>
            <a:r>
              <a:rPr lang="en-US" sz="1320" b="0" i="0" spc="-12" dirty="0">
                <a:solidFill>
                  <a:srgbClr val="16202C"/>
                </a:solidFill>
                <a:latin typeface="Trenda IG Display Semibold"/>
                <a:cs typeface="Trenda IG Display Semibold"/>
              </a:rPr>
              <a:t>Live on AppExchange</a:t>
            </a:r>
          </a:p>
        </p:txBody>
      </p:sp>
      <p:sp>
        <p:nvSpPr>
          <p:cNvPr id="7" name="Access intelligence"/>
          <p:cNvSpPr txBox="1"/>
          <p:nvPr/>
        </p:nvSpPr>
        <p:spPr>
          <a:xfrm>
            <a:off x="1005840" y="4959036"/>
            <a:ext cx="1836496"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Access intelligence</a:t>
            </a:r>
          </a:p>
        </p:txBody>
      </p:sp>
      <p:sp>
        <p:nvSpPr>
          <p:cNvPr id="8" name="Audit and compliance readine..."/>
          <p:cNvSpPr txBox="1"/>
          <p:nvPr/>
        </p:nvSpPr>
        <p:spPr>
          <a:xfrm>
            <a:off x="1005840" y="5492436"/>
            <a:ext cx="3039180"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Audit and compliance readiness</a:t>
            </a:r>
          </a:p>
        </p:txBody>
      </p:sp>
      <p:sp>
        <p:nvSpPr>
          <p:cNvPr id="9" name="Release and storage insights"/>
          <p:cNvSpPr txBox="1"/>
          <p:nvPr/>
        </p:nvSpPr>
        <p:spPr>
          <a:xfrm>
            <a:off x="1005840" y="6025836"/>
            <a:ext cx="2738876"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Release and storage insights</a:t>
            </a:r>
          </a:p>
        </p:txBody>
      </p:sp>
      <p:sp>
        <p:nvSpPr>
          <p:cNvPr id="10" name="Illustrative demo view"/>
          <p:cNvSpPr txBox="1"/>
          <p:nvPr/>
        </p:nvSpPr>
        <p:spPr>
          <a:xfrm>
            <a:off x="10770037" y="6217920"/>
            <a:ext cx="1182948" cy="121920"/>
          </a:xfrm>
          <a:prstGeom prst="rect">
            <a:avLst/>
          </a:prstGeom>
          <a:noFill/>
        </p:spPr>
        <p:txBody>
          <a:bodyPr wrap="square" lIns="0" tIns="0" rIns="0" bIns="0" anchor="ctr">
            <a:noAutofit/>
          </a:bodyPr>
          <a:lstStyle/>
          <a:p>
            <a:pPr algn="l">
              <a:lnSpc>
                <a:spcPts val="960"/>
              </a:lnSpc>
            </a:pPr>
            <a:r>
              <a:rPr lang="en-US" sz="870" b="0" i="1" spc="0" dirty="0">
                <a:solidFill>
                  <a:srgbClr val="7C8795"/>
                </a:solidFill>
                <a:latin typeface="Trenda IG Text"/>
                <a:cs typeface="Trenda IG Text"/>
              </a:rPr>
              <a:t>Illustrative demo view</a:t>
            </a:r>
          </a:p>
        </p:txBody>
      </p:sp>
      <p:sp>
        <p:nvSpPr>
          <p:cNvPr id="11" name="ShieldForge does not capture..."/>
          <p:cNvSpPr txBox="1"/>
          <p:nvPr/>
        </p:nvSpPr>
        <p:spPr>
          <a:xfrm>
            <a:off x="609600" y="6572250"/>
            <a:ext cx="6836988" cy="129540"/>
          </a:xfrm>
          <a:prstGeom prst="rect">
            <a:avLst/>
          </a:prstGeom>
          <a:noFill/>
        </p:spPr>
        <p:txBody>
          <a:bodyPr wrap="square" lIns="0" tIns="0" rIns="0" bIns="0" anchor="ctr">
            <a:noAutofit/>
          </a:bodyPr>
          <a:lstStyle/>
          <a:p>
            <a:pPr algn="l">
              <a:lnSpc>
                <a:spcPts val="1020"/>
              </a:lnSpc>
            </a:pPr>
            <a:r>
              <a:rPr lang="en-US" sz="900" b="0" i="0" spc="-3" dirty="0">
                <a:solidFill>
                  <a:srgbClr val="16202C"/>
                </a:solidFill>
                <a:latin typeface="Trenda IG Display Bold"/>
                <a:cs typeface="Trenda IG Display Bold"/>
              </a:rPr>
              <a:t>ShieldForge does not capture, store, or retain customer business data.</a:t>
            </a:r>
            <a:r>
              <a:rPr lang="en-US" sz="900" b="0" i="0" spc="-3" dirty="0">
                <a:solidFill>
                  <a:srgbClr val="C6CDD6"/>
                </a:solidFill>
                <a:latin typeface="Trenda IG Text"/>
                <a:cs typeface="Trenda IG Text"/>
              </a:rPr>
              <a:t>  |  </a:t>
            </a:r>
            <a:r>
              <a:rPr lang="en-US" sz="900" b="0" i="0" spc="-3" dirty="0">
                <a:solidFill>
                  <a:srgbClr val="5A6573"/>
                </a:solidFill>
                <a:latin typeface="Trenda IG Text"/>
                <a:cs typeface="Trenda IG Text"/>
              </a:rPr>
              <a:t>Customer data remains within Salesforce.</a:t>
            </a:r>
          </a:p>
        </p:txBody>
      </p:sp>
      <p:sp>
        <p:nvSpPr>
          <p:cNvPr id="12" name="01"/>
          <p:cNvSpPr txBox="1"/>
          <p:nvPr/>
        </p:nvSpPr>
        <p:spPr>
          <a:xfrm>
            <a:off x="11729561" y="6572250"/>
            <a:ext cx="142418" cy="129540"/>
          </a:xfrm>
          <a:prstGeom prst="rect">
            <a:avLst/>
          </a:prstGeom>
          <a:noFill/>
        </p:spPr>
        <p:txBody>
          <a:bodyPr wrap="square" lIns="0" tIns="0" rIns="0" bIns="0" anchor="ctr">
            <a:noAutofit/>
          </a:bodyPr>
          <a:lstStyle/>
          <a:p>
            <a:pPr algn="l">
              <a:lnSpc>
                <a:spcPts val="1020"/>
              </a:lnSpc>
            </a:pPr>
            <a:r>
              <a:rPr lang="en-US" sz="900" b="0" i="0" spc="0" dirty="0">
                <a:solidFill>
                  <a:srgbClr val="7C8795"/>
                </a:solidFill>
                <a:latin typeface="Trenda IG Text Semibold"/>
                <a:cs typeface="Trenda IG Text Semibold"/>
              </a:rPr>
              <a:t>01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Audit readiness. Security visibility." descr="Slide 2 of 3. Headline: Audit readiness. Security visibility. Security posture, compliance findings and audit evidence in one workspace. SOX and compliance, segregation of duties, org security and health check, audit evidence. Product view: health check scores across SOX, HIPAA, PCI-DSS, GDPR and NIST, plus a segregation of duties violation report."/>
          <p:cNvPicPr>
            <a:picLocks noChangeAspect="1"/>
          </p:cNvPicPr>
          <p:nvPr/>
        </p:nvPicPr>
        <p:blipFill>
          <a:blip r:embed="rId1"/>
          <a:stretch>
            <a:fillRect/>
          </a:stretch>
        </p:blipFill>
        <p:spPr>
          <a:xfrm>
            <a:off x="0" y="0"/>
            <a:ext cx="12192000" cy="6858000"/>
          </a:xfrm>
          <a:prstGeom prst="rect">
            <a:avLst/>
          </a:prstGeom>
        </p:spPr>
      </p:pic>
      <p:sp>
        <p:nvSpPr>
          <p:cNvPr id="3" name="Audit readiness."/>
          <p:cNvSpPr txBox="1"/>
          <p:nvPr/>
        </p:nvSpPr>
        <p:spPr>
          <a:xfrm>
            <a:off x="441960" y="1432470"/>
            <a:ext cx="5974080" cy="1064362"/>
          </a:xfrm>
          <a:prstGeom prst="rect">
            <a:avLst/>
          </a:prstGeom>
          <a:noFill/>
        </p:spPr>
        <p:txBody>
          <a:bodyPr wrap="square" lIns="0" tIns="0" rIns="0" bIns="0" anchor="ctr">
            <a:noAutofit/>
          </a:bodyPr>
          <a:lstStyle/>
          <a:p>
            <a:pPr algn="l">
              <a:lnSpc>
                <a:spcPts val="4190"/>
              </a:lnSpc>
            </a:pPr>
            <a:r>
              <a:rPr lang="en-US" sz="4320" b="0" i="0" spc="-114" dirty="0">
                <a:solidFill>
                  <a:srgbClr val="0C1520"/>
                </a:solidFill>
                <a:latin typeface="Trenda IG Display Black"/>
                <a:cs typeface="Trenda IG Display Black"/>
              </a:rPr>
              <a:t>Audit readiness.</a:t>
            </a:r>
          </a:p>
          <a:p>
            <a:pPr algn="l">
              <a:lnSpc>
                <a:spcPts val="4190"/>
              </a:lnSpc>
            </a:pPr>
            <a:r>
              <a:rPr lang="en-US" sz="4320" b="0" i="0" spc="-114" dirty="0">
                <a:solidFill>
                  <a:srgbClr val="22C1F0"/>
                </a:solidFill>
                <a:latin typeface="Trenda IG Display Black"/>
                <a:cs typeface="Trenda IG Display Black"/>
              </a:rPr>
              <a:t>Security visibility.</a:t>
            </a:r>
          </a:p>
        </p:txBody>
      </p:sp>
      <p:sp>
        <p:nvSpPr>
          <p:cNvPr id="4" name="Security posture, compliance..."/>
          <p:cNvSpPr txBox="1"/>
          <p:nvPr/>
        </p:nvSpPr>
        <p:spPr>
          <a:xfrm>
            <a:off x="441960" y="2621251"/>
            <a:ext cx="5120640" cy="497738"/>
          </a:xfrm>
          <a:prstGeom prst="rect">
            <a:avLst/>
          </a:prstGeom>
          <a:noFill/>
        </p:spPr>
        <p:txBody>
          <a:bodyPr wrap="square" lIns="0" tIns="0" rIns="0" bIns="0" anchor="ctr">
            <a:noAutofit/>
          </a:bodyPr>
          <a:lstStyle/>
          <a:p>
            <a:pPr algn="l">
              <a:lnSpc>
                <a:spcPts val="1960"/>
              </a:lnSpc>
            </a:pPr>
            <a:r>
              <a:rPr lang="en-US" sz="1380" b="0" i="0" spc="-6" dirty="0">
                <a:solidFill>
                  <a:srgbClr val="5A6573"/>
                </a:solidFill>
                <a:latin typeface="Trenda IG Text"/>
                <a:cs typeface="Trenda IG Text"/>
              </a:rPr>
              <a:t>Security posture, compliance findings and</a:t>
            </a:r>
          </a:p>
          <a:p>
            <a:pPr algn="l">
              <a:lnSpc>
                <a:spcPts val="1960"/>
              </a:lnSpc>
            </a:pPr>
            <a:r>
              <a:rPr lang="en-US" sz="1380" b="0" i="0" spc="-6" dirty="0">
                <a:solidFill>
                  <a:srgbClr val="5A6573"/>
                </a:solidFill>
                <a:latin typeface="Trenda IG Text"/>
                <a:cs typeface="Trenda IG Text"/>
              </a:rPr>
              <a:t>audit evidence in one workspace.</a:t>
            </a:r>
          </a:p>
        </p:txBody>
      </p:sp>
      <p:sp>
        <p:nvSpPr>
          <p:cNvPr id="5" name="SOX and compliance"/>
          <p:cNvSpPr txBox="1"/>
          <p:nvPr/>
        </p:nvSpPr>
        <p:spPr>
          <a:xfrm>
            <a:off x="1036320" y="3428964"/>
            <a:ext cx="3963562"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SOX and compliance</a:t>
            </a:r>
          </a:p>
        </p:txBody>
      </p:sp>
      <p:sp>
        <p:nvSpPr>
          <p:cNvPr id="6" name="Map findings to SOX, HIPAA, ..."/>
          <p:cNvSpPr txBox="1"/>
          <p:nvPr/>
        </p:nvSpPr>
        <p:spPr>
          <a:xfrm>
            <a:off x="1036320" y="3683413"/>
            <a:ext cx="3963562" cy="190310"/>
          </a:xfrm>
          <a:prstGeom prst="rect">
            <a:avLst/>
          </a:prstGeom>
          <a:noFill/>
        </p:spPr>
        <p:txBody>
          <a:bodyPr wrap="square" lIns="0" tIns="0" rIns="0" bIns="0" anchor="ctr">
            <a:noAutofit/>
          </a:bodyPr>
          <a:lstStyle/>
          <a:p>
            <a:pPr algn="l">
              <a:lnSpc>
                <a:spcPts val="1498"/>
              </a:lnSpc>
            </a:pPr>
            <a:r>
              <a:rPr lang="en-US" sz="1110" b="0" i="0" spc="-6" dirty="0">
                <a:solidFill>
                  <a:srgbClr val="5A6573"/>
                </a:solidFill>
                <a:latin typeface="Trenda IG Text"/>
                <a:cs typeface="Trenda IG Text"/>
              </a:rPr>
              <a:t>Map findings to SOX, HIPAA, PCI-DSS, GDPR and NIST.</a:t>
            </a:r>
          </a:p>
        </p:txBody>
      </p:sp>
      <p:sp>
        <p:nvSpPr>
          <p:cNvPr id="7" name="Segregation of duties"/>
          <p:cNvSpPr txBox="1"/>
          <p:nvPr/>
        </p:nvSpPr>
        <p:spPr>
          <a:xfrm>
            <a:off x="1036320" y="4102263"/>
            <a:ext cx="3974897"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Segregation of duties</a:t>
            </a:r>
          </a:p>
        </p:txBody>
      </p:sp>
      <p:sp>
        <p:nvSpPr>
          <p:cNvPr id="8" name="Identify conflicting permiss..."/>
          <p:cNvSpPr txBox="1"/>
          <p:nvPr/>
        </p:nvSpPr>
        <p:spPr>
          <a:xfrm>
            <a:off x="1036320" y="4356711"/>
            <a:ext cx="3974897" cy="190310"/>
          </a:xfrm>
          <a:prstGeom prst="rect">
            <a:avLst/>
          </a:prstGeom>
          <a:noFill/>
        </p:spPr>
        <p:txBody>
          <a:bodyPr wrap="square" lIns="0" tIns="0" rIns="0" bIns="0" anchor="ctr">
            <a:noAutofit/>
          </a:bodyPr>
          <a:lstStyle/>
          <a:p>
            <a:pPr algn="l">
              <a:lnSpc>
                <a:spcPts val="1498"/>
              </a:lnSpc>
            </a:pPr>
            <a:r>
              <a:rPr lang="en-US" sz="1110" b="0" i="0" spc="-6" dirty="0">
                <a:solidFill>
                  <a:srgbClr val="5A6573"/>
                </a:solidFill>
                <a:latin typeface="Trenda IG Text"/>
                <a:cs typeface="Trenda IG Text"/>
              </a:rPr>
              <a:t>Identify conflicting permissions and review affected users.</a:t>
            </a:r>
          </a:p>
        </p:txBody>
      </p:sp>
      <p:sp>
        <p:nvSpPr>
          <p:cNvPr id="9" name="Org Security and Health Chec..."/>
          <p:cNvSpPr txBox="1"/>
          <p:nvPr/>
        </p:nvSpPr>
        <p:spPr>
          <a:xfrm>
            <a:off x="1036320" y="4775561"/>
            <a:ext cx="4055707"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Org Security and Health Check</a:t>
            </a:r>
          </a:p>
        </p:txBody>
      </p:sp>
      <p:sp>
        <p:nvSpPr>
          <p:cNvPr id="10" name="See posture scores, privileg..."/>
          <p:cNvSpPr txBox="1"/>
          <p:nvPr/>
        </p:nvSpPr>
        <p:spPr>
          <a:xfrm>
            <a:off x="1036320" y="5030010"/>
            <a:ext cx="4055707" cy="190310"/>
          </a:xfrm>
          <a:prstGeom prst="rect">
            <a:avLst/>
          </a:prstGeom>
          <a:noFill/>
        </p:spPr>
        <p:txBody>
          <a:bodyPr wrap="square" lIns="0" tIns="0" rIns="0" bIns="0" anchor="ctr">
            <a:noAutofit/>
          </a:bodyPr>
          <a:lstStyle/>
          <a:p>
            <a:pPr algn="l">
              <a:lnSpc>
                <a:spcPts val="1498"/>
              </a:lnSpc>
            </a:pPr>
            <a:r>
              <a:rPr lang="en-US" sz="1110" b="0" i="0" spc="-6" dirty="0">
                <a:solidFill>
                  <a:srgbClr val="5A6573"/>
                </a:solidFill>
                <a:latin typeface="Trenda IG Text"/>
                <a:cs typeface="Trenda IG Text"/>
              </a:rPr>
              <a:t>See posture scores, privileged access and prioritized risks.</a:t>
            </a:r>
          </a:p>
        </p:txBody>
      </p:sp>
      <p:sp>
        <p:nvSpPr>
          <p:cNvPr id="11" name="Audit evidence"/>
          <p:cNvSpPr txBox="1"/>
          <p:nvPr/>
        </p:nvSpPr>
        <p:spPr>
          <a:xfrm>
            <a:off x="1036320" y="5448860"/>
            <a:ext cx="4511764" cy="201168"/>
          </a:xfrm>
          <a:prstGeom prst="rect">
            <a:avLst/>
          </a:prstGeom>
          <a:noFill/>
        </p:spPr>
        <p:txBody>
          <a:bodyPr wrap="square" lIns="0" tIns="0" rIns="0" bIns="0" anchor="ctr">
            <a:noAutofit/>
          </a:bodyPr>
          <a:lstStyle/>
          <a:p>
            <a:pPr algn="l">
              <a:lnSpc>
                <a:spcPts val="1584"/>
              </a:lnSpc>
            </a:pPr>
            <a:r>
              <a:rPr lang="en-US" sz="1440" b="0" i="0" spc="-24" dirty="0">
                <a:solidFill>
                  <a:srgbClr val="0C1520"/>
                </a:solidFill>
                <a:latin typeface="Trenda IG Display Bold"/>
                <a:cs typeface="Trenda IG Display Bold"/>
              </a:rPr>
              <a:t>Audit evidence</a:t>
            </a:r>
          </a:p>
        </p:txBody>
      </p:sp>
      <p:sp>
        <p:nvSpPr>
          <p:cNvPr id="12" name="Trace access grants and docu..."/>
          <p:cNvSpPr txBox="1"/>
          <p:nvPr/>
        </p:nvSpPr>
        <p:spPr>
          <a:xfrm>
            <a:off x="1036320" y="5703308"/>
            <a:ext cx="4511764" cy="190310"/>
          </a:xfrm>
          <a:prstGeom prst="rect">
            <a:avLst/>
          </a:prstGeom>
          <a:noFill/>
        </p:spPr>
        <p:txBody>
          <a:bodyPr wrap="square" lIns="0" tIns="0" rIns="0" bIns="0" anchor="ctr">
            <a:noAutofit/>
          </a:bodyPr>
          <a:lstStyle/>
          <a:p>
            <a:pPr algn="l">
              <a:lnSpc>
                <a:spcPts val="1498"/>
              </a:lnSpc>
            </a:pPr>
            <a:r>
              <a:rPr lang="en-US" sz="1110" b="0" i="0" spc="-6" dirty="0">
                <a:solidFill>
                  <a:srgbClr val="5A6573"/>
                </a:solidFill>
                <a:latin typeface="Trenda IG Text"/>
                <a:cs typeface="Trenda IG Text"/>
              </a:rPr>
              <a:t>Trace access grants and document reviews with attributable logs.</a:t>
            </a:r>
          </a:p>
        </p:txBody>
      </p:sp>
      <p:sp>
        <p:nvSpPr>
          <p:cNvPr id="13" name="Illustrative demo view"/>
          <p:cNvSpPr txBox="1"/>
          <p:nvPr/>
        </p:nvSpPr>
        <p:spPr>
          <a:xfrm>
            <a:off x="10770037" y="6309360"/>
            <a:ext cx="1182948" cy="121920"/>
          </a:xfrm>
          <a:prstGeom prst="rect">
            <a:avLst/>
          </a:prstGeom>
          <a:noFill/>
        </p:spPr>
        <p:txBody>
          <a:bodyPr wrap="square" lIns="0" tIns="0" rIns="0" bIns="0" anchor="ctr">
            <a:noAutofit/>
          </a:bodyPr>
          <a:lstStyle/>
          <a:p>
            <a:pPr algn="l">
              <a:lnSpc>
                <a:spcPts val="960"/>
              </a:lnSpc>
            </a:pPr>
            <a:r>
              <a:rPr lang="en-US" sz="870" b="0" i="1" spc="0" dirty="0">
                <a:solidFill>
                  <a:srgbClr val="7C8795"/>
                </a:solidFill>
                <a:latin typeface="Trenda IG Text"/>
                <a:cs typeface="Trenda IG Text"/>
              </a:rPr>
              <a:t>Illustrative demo view</a:t>
            </a:r>
          </a:p>
        </p:txBody>
      </p:sp>
      <p:sp>
        <p:nvSpPr>
          <p:cNvPr id="14" name="ShieldForge does not capture..."/>
          <p:cNvSpPr txBox="1"/>
          <p:nvPr/>
        </p:nvSpPr>
        <p:spPr>
          <a:xfrm>
            <a:off x="609600" y="6572250"/>
            <a:ext cx="6836988" cy="129540"/>
          </a:xfrm>
          <a:prstGeom prst="rect">
            <a:avLst/>
          </a:prstGeom>
          <a:noFill/>
        </p:spPr>
        <p:txBody>
          <a:bodyPr wrap="square" lIns="0" tIns="0" rIns="0" bIns="0" anchor="ctr">
            <a:noAutofit/>
          </a:bodyPr>
          <a:lstStyle/>
          <a:p>
            <a:pPr algn="l">
              <a:lnSpc>
                <a:spcPts val="1020"/>
              </a:lnSpc>
            </a:pPr>
            <a:r>
              <a:rPr lang="en-US" sz="900" b="0" i="0" spc="-3" dirty="0">
                <a:solidFill>
                  <a:srgbClr val="16202C"/>
                </a:solidFill>
                <a:latin typeface="Trenda IG Display Bold"/>
                <a:cs typeface="Trenda IG Display Bold"/>
              </a:rPr>
              <a:t>ShieldForge does not capture, store, or retain customer business data.</a:t>
            </a:r>
            <a:r>
              <a:rPr lang="en-US" sz="900" b="0" i="0" spc="-3" dirty="0">
                <a:solidFill>
                  <a:srgbClr val="C6CDD6"/>
                </a:solidFill>
                <a:latin typeface="Trenda IG Text"/>
                <a:cs typeface="Trenda IG Text"/>
              </a:rPr>
              <a:t>  |  </a:t>
            </a:r>
            <a:r>
              <a:rPr lang="en-US" sz="900" b="0" i="0" spc="-3" dirty="0">
                <a:solidFill>
                  <a:srgbClr val="5A6573"/>
                </a:solidFill>
                <a:latin typeface="Trenda IG Text"/>
                <a:cs typeface="Trenda IG Text"/>
              </a:rPr>
              <a:t>Customer data remains within Salesforce.</a:t>
            </a:r>
          </a:p>
        </p:txBody>
      </p:sp>
      <p:sp>
        <p:nvSpPr>
          <p:cNvPr id="15" name="02"/>
          <p:cNvSpPr txBox="1"/>
          <p:nvPr/>
        </p:nvSpPr>
        <p:spPr>
          <a:xfrm>
            <a:off x="11729561" y="6572250"/>
            <a:ext cx="142418" cy="129540"/>
          </a:xfrm>
          <a:prstGeom prst="rect">
            <a:avLst/>
          </a:prstGeom>
          <a:noFill/>
        </p:spPr>
        <p:txBody>
          <a:bodyPr wrap="square" lIns="0" tIns="0" rIns="0" bIns="0" anchor="ctr">
            <a:noAutofit/>
          </a:bodyPr>
          <a:lstStyle/>
          <a:p>
            <a:pPr algn="l">
              <a:lnSpc>
                <a:spcPts val="1020"/>
              </a:lnSpc>
            </a:pPr>
            <a:r>
              <a:rPr lang="en-US" sz="900" b="0" i="0" spc="0" dirty="0">
                <a:solidFill>
                  <a:srgbClr val="7C8795"/>
                </a:solidFill>
                <a:latin typeface="Trenda IG Text Semibold"/>
                <a:cs typeface="Trenda IG Text Semibold"/>
              </a:rPr>
              <a:t>02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learer access. Simpler administration." descr="Slide 3 of 3. Headline: Clearer access. Simpler administration. Practical tools for admins, architects and support teams. User 360 and effective access, permission intelligence, profile migration, Release Radar and CAB reports, storage, FinOps and dev tools. Product view: User 360, profile migration steps and Release Radar updates."/>
          <p:cNvPicPr>
            <a:picLocks noChangeAspect="1"/>
          </p:cNvPicPr>
          <p:nvPr/>
        </p:nvPicPr>
        <p:blipFill>
          <a:blip r:embed="rId1"/>
          <a:stretch>
            <a:fillRect/>
          </a:stretch>
        </p:blipFill>
        <p:spPr>
          <a:xfrm>
            <a:off x="0" y="0"/>
            <a:ext cx="12192000" cy="6858000"/>
          </a:xfrm>
          <a:prstGeom prst="rect">
            <a:avLst/>
          </a:prstGeom>
        </p:spPr>
      </p:pic>
      <p:sp>
        <p:nvSpPr>
          <p:cNvPr id="3" name="Clearer access."/>
          <p:cNvSpPr txBox="1"/>
          <p:nvPr/>
        </p:nvSpPr>
        <p:spPr>
          <a:xfrm>
            <a:off x="441960" y="1203931"/>
            <a:ext cx="5803392" cy="901598"/>
          </a:xfrm>
          <a:prstGeom prst="rect">
            <a:avLst/>
          </a:prstGeom>
          <a:noFill/>
        </p:spPr>
        <p:txBody>
          <a:bodyPr wrap="square" lIns="0" tIns="0" rIns="0" bIns="0" anchor="ctr">
            <a:noAutofit/>
          </a:bodyPr>
          <a:lstStyle/>
          <a:p>
            <a:pPr algn="l">
              <a:lnSpc>
                <a:spcPts val="3550"/>
              </a:lnSpc>
            </a:pPr>
            <a:r>
              <a:rPr lang="en-US" sz="3480" b="0" i="0" spc="-84" dirty="0">
                <a:solidFill>
                  <a:srgbClr val="0C1520"/>
                </a:solidFill>
                <a:latin typeface="Trenda IG Display Black"/>
                <a:cs typeface="Trenda IG Display Black"/>
              </a:rPr>
              <a:t>Clearer access.</a:t>
            </a:r>
          </a:p>
          <a:p>
            <a:pPr algn="l">
              <a:lnSpc>
                <a:spcPts val="3550"/>
              </a:lnSpc>
            </a:pPr>
            <a:r>
              <a:rPr lang="en-US" sz="3480" b="0" i="0" spc="-84" dirty="0">
                <a:solidFill>
                  <a:srgbClr val="22C1F0"/>
                </a:solidFill>
                <a:latin typeface="Trenda IG Display Black"/>
                <a:cs typeface="Trenda IG Display Black"/>
              </a:rPr>
              <a:t>Simpler administration.</a:t>
            </a:r>
          </a:p>
        </p:txBody>
      </p:sp>
      <p:sp>
        <p:nvSpPr>
          <p:cNvPr id="4" name="Practical tools for admins, ..."/>
          <p:cNvSpPr txBox="1"/>
          <p:nvPr/>
        </p:nvSpPr>
        <p:spPr>
          <a:xfrm>
            <a:off x="441960" y="2255499"/>
            <a:ext cx="5462016" cy="238049"/>
          </a:xfrm>
          <a:prstGeom prst="rect">
            <a:avLst/>
          </a:prstGeom>
          <a:noFill/>
        </p:spPr>
        <p:txBody>
          <a:bodyPr wrap="square" lIns="0" tIns="0" rIns="0" bIns="0" anchor="ctr">
            <a:noAutofit/>
          </a:bodyPr>
          <a:lstStyle/>
          <a:p>
            <a:pPr algn="l">
              <a:lnSpc>
                <a:spcPts val="1874"/>
              </a:lnSpc>
            </a:pPr>
            <a:r>
              <a:rPr lang="en-US" sz="1320" b="0" i="0" spc="-6" dirty="0">
                <a:solidFill>
                  <a:srgbClr val="5A6573"/>
                </a:solidFill>
                <a:latin typeface="Trenda IG Text"/>
                <a:cs typeface="Trenda IG Text"/>
              </a:rPr>
              <a:t>Practical tools for admins, architects and support teams.</a:t>
            </a:r>
          </a:p>
        </p:txBody>
      </p:sp>
      <p:sp>
        <p:nvSpPr>
          <p:cNvPr id="5" name="User 360 and effective acces..."/>
          <p:cNvSpPr txBox="1"/>
          <p:nvPr/>
        </p:nvSpPr>
        <p:spPr>
          <a:xfrm>
            <a:off x="1005840" y="2666988"/>
            <a:ext cx="3051581" cy="192786"/>
          </a:xfrm>
          <a:prstGeom prst="rect">
            <a:avLst/>
          </a:prstGeom>
          <a:noFill/>
        </p:spPr>
        <p:txBody>
          <a:bodyPr wrap="square" lIns="0" tIns="0" rIns="0" bIns="0" anchor="ctr">
            <a:noAutofit/>
          </a:bodyPr>
          <a:lstStyle/>
          <a:p>
            <a:pPr algn="l">
              <a:lnSpc>
                <a:spcPts val="1518"/>
              </a:lnSpc>
            </a:pPr>
            <a:r>
              <a:rPr lang="en-US" sz="1380" b="0" i="0" spc="-24" dirty="0">
                <a:solidFill>
                  <a:srgbClr val="0C1520"/>
                </a:solidFill>
                <a:latin typeface="Trenda IG Display Bold"/>
                <a:cs typeface="Trenda IG Display Bold"/>
              </a:rPr>
              <a:t>User 360 and effective access</a:t>
            </a:r>
          </a:p>
        </p:txBody>
      </p:sp>
      <p:sp>
        <p:nvSpPr>
          <p:cNvPr id="6" name="See who can do what, why, an..."/>
          <p:cNvSpPr txBox="1"/>
          <p:nvPr/>
        </p:nvSpPr>
        <p:spPr>
          <a:xfrm>
            <a:off x="1005840" y="2905451"/>
            <a:ext cx="3051581" cy="172822"/>
          </a:xfrm>
          <a:prstGeom prst="rect">
            <a:avLst/>
          </a:prstGeom>
          <a:noFill/>
        </p:spPr>
        <p:txBody>
          <a:bodyPr wrap="square" lIns="0" tIns="0" rIns="0" bIns="0" anchor="ctr">
            <a:noAutofit/>
          </a:bodyPr>
          <a:lstStyle/>
          <a:p>
            <a:pPr algn="l">
              <a:lnSpc>
                <a:spcPts val="1361"/>
              </a:lnSpc>
            </a:pPr>
            <a:r>
              <a:rPr lang="en-US" sz="1008" b="0" i="0" spc="-6" dirty="0">
                <a:solidFill>
                  <a:srgbClr val="5A6573"/>
                </a:solidFill>
                <a:latin typeface="Trenda IG Text"/>
                <a:cs typeface="Trenda IG Text"/>
              </a:rPr>
              <a:t>See who can do what, why, and how users differ.</a:t>
            </a:r>
          </a:p>
        </p:txBody>
      </p:sp>
      <p:sp>
        <p:nvSpPr>
          <p:cNvPr id="7" name="Permission intelligence"/>
          <p:cNvSpPr txBox="1"/>
          <p:nvPr/>
        </p:nvSpPr>
        <p:spPr>
          <a:xfrm>
            <a:off x="1005840" y="3322070"/>
            <a:ext cx="3945960" cy="192786"/>
          </a:xfrm>
          <a:prstGeom prst="rect">
            <a:avLst/>
          </a:prstGeom>
          <a:noFill/>
        </p:spPr>
        <p:txBody>
          <a:bodyPr wrap="square" lIns="0" tIns="0" rIns="0" bIns="0" anchor="ctr">
            <a:noAutofit/>
          </a:bodyPr>
          <a:lstStyle/>
          <a:p>
            <a:pPr algn="l">
              <a:lnSpc>
                <a:spcPts val="1518"/>
              </a:lnSpc>
            </a:pPr>
            <a:r>
              <a:rPr lang="en-US" sz="1380" b="0" i="0" spc="-24" dirty="0">
                <a:solidFill>
                  <a:srgbClr val="0C1520"/>
                </a:solidFill>
                <a:latin typeface="Trenda IG Display Bold"/>
                <a:cs typeface="Trenda IG Display Bold"/>
              </a:rPr>
              <a:t>Permission intelligence</a:t>
            </a:r>
          </a:p>
        </p:txBody>
      </p:sp>
      <p:sp>
        <p:nvSpPr>
          <p:cNvPr id="8" name="Analyze and compare permissi..."/>
          <p:cNvSpPr txBox="1"/>
          <p:nvPr/>
        </p:nvSpPr>
        <p:spPr>
          <a:xfrm>
            <a:off x="1005840" y="3560533"/>
            <a:ext cx="3945960" cy="172822"/>
          </a:xfrm>
          <a:prstGeom prst="rect">
            <a:avLst/>
          </a:prstGeom>
          <a:noFill/>
        </p:spPr>
        <p:txBody>
          <a:bodyPr wrap="square" lIns="0" tIns="0" rIns="0" bIns="0" anchor="ctr">
            <a:noAutofit/>
          </a:bodyPr>
          <a:lstStyle/>
          <a:p>
            <a:pPr algn="l">
              <a:lnSpc>
                <a:spcPts val="1361"/>
              </a:lnSpc>
            </a:pPr>
            <a:r>
              <a:rPr lang="en-US" sz="1008" b="0" i="0" spc="-6" dirty="0">
                <a:solidFill>
                  <a:srgbClr val="5A6573"/>
                </a:solidFill>
                <a:latin typeface="Trenda IG Text"/>
                <a:cs typeface="Trenda IG Text"/>
              </a:rPr>
              <a:t>Analyze and compare permissions. Find and merge duplicates.</a:t>
            </a:r>
          </a:p>
        </p:txBody>
      </p:sp>
      <p:sp>
        <p:nvSpPr>
          <p:cNvPr id="9" name="Profile migration"/>
          <p:cNvSpPr txBox="1"/>
          <p:nvPr/>
        </p:nvSpPr>
        <p:spPr>
          <a:xfrm>
            <a:off x="1005840" y="3977152"/>
            <a:ext cx="3174263" cy="192786"/>
          </a:xfrm>
          <a:prstGeom prst="rect">
            <a:avLst/>
          </a:prstGeom>
          <a:noFill/>
        </p:spPr>
        <p:txBody>
          <a:bodyPr wrap="square" lIns="0" tIns="0" rIns="0" bIns="0" anchor="ctr">
            <a:noAutofit/>
          </a:bodyPr>
          <a:lstStyle/>
          <a:p>
            <a:pPr algn="l">
              <a:lnSpc>
                <a:spcPts val="1518"/>
              </a:lnSpc>
            </a:pPr>
            <a:r>
              <a:rPr lang="en-US" sz="1380" b="0" i="0" spc="-24" dirty="0">
                <a:solidFill>
                  <a:srgbClr val="0C1520"/>
                </a:solidFill>
                <a:latin typeface="Trenda IG Display Bold"/>
                <a:cs typeface="Trenda IG Display Bold"/>
              </a:rPr>
              <a:t>Profile migration</a:t>
            </a:r>
          </a:p>
        </p:txBody>
      </p:sp>
      <p:sp>
        <p:nvSpPr>
          <p:cNvPr id="10" name="Move to permission sets thro..."/>
          <p:cNvSpPr txBox="1"/>
          <p:nvPr/>
        </p:nvSpPr>
        <p:spPr>
          <a:xfrm>
            <a:off x="1005840" y="4215615"/>
            <a:ext cx="3174263" cy="172822"/>
          </a:xfrm>
          <a:prstGeom prst="rect">
            <a:avLst/>
          </a:prstGeom>
          <a:noFill/>
        </p:spPr>
        <p:txBody>
          <a:bodyPr wrap="square" lIns="0" tIns="0" rIns="0" bIns="0" anchor="ctr">
            <a:noAutofit/>
          </a:bodyPr>
          <a:lstStyle/>
          <a:p>
            <a:pPr algn="l">
              <a:lnSpc>
                <a:spcPts val="1361"/>
              </a:lnSpc>
            </a:pPr>
            <a:r>
              <a:rPr lang="en-US" sz="1008" b="0" i="0" spc="-6" dirty="0">
                <a:solidFill>
                  <a:srgbClr val="5A6573"/>
                </a:solidFill>
                <a:latin typeface="Trenda IG Text"/>
                <a:cs typeface="Trenda IG Text"/>
              </a:rPr>
              <a:t>Move to permission sets through reviewable steps.</a:t>
            </a:r>
          </a:p>
        </p:txBody>
      </p:sp>
      <p:sp>
        <p:nvSpPr>
          <p:cNvPr id="11" name="Release Radar and CAB report..."/>
          <p:cNvSpPr txBox="1"/>
          <p:nvPr/>
        </p:nvSpPr>
        <p:spPr>
          <a:xfrm>
            <a:off x="1005840" y="4632234"/>
            <a:ext cx="3631921" cy="192786"/>
          </a:xfrm>
          <a:prstGeom prst="rect">
            <a:avLst/>
          </a:prstGeom>
          <a:noFill/>
        </p:spPr>
        <p:txBody>
          <a:bodyPr wrap="square" lIns="0" tIns="0" rIns="0" bIns="0" anchor="ctr">
            <a:noAutofit/>
          </a:bodyPr>
          <a:lstStyle/>
          <a:p>
            <a:pPr algn="l">
              <a:lnSpc>
                <a:spcPts val="1518"/>
              </a:lnSpc>
            </a:pPr>
            <a:r>
              <a:rPr lang="en-US" sz="1380" b="0" i="0" spc="-24" dirty="0">
                <a:solidFill>
                  <a:srgbClr val="0C1520"/>
                </a:solidFill>
                <a:latin typeface="Trenda IG Display Bold"/>
                <a:cs typeface="Trenda IG Display Bold"/>
              </a:rPr>
              <a:t>Release Radar and CAB reports</a:t>
            </a:r>
          </a:p>
        </p:txBody>
      </p:sp>
      <p:sp>
        <p:nvSpPr>
          <p:cNvPr id="12" name="Assess release impact and pr..."/>
          <p:cNvSpPr txBox="1"/>
          <p:nvPr/>
        </p:nvSpPr>
        <p:spPr>
          <a:xfrm>
            <a:off x="1005840" y="4870697"/>
            <a:ext cx="3631921" cy="172822"/>
          </a:xfrm>
          <a:prstGeom prst="rect">
            <a:avLst/>
          </a:prstGeom>
          <a:noFill/>
        </p:spPr>
        <p:txBody>
          <a:bodyPr wrap="square" lIns="0" tIns="0" rIns="0" bIns="0" anchor="ctr">
            <a:noAutofit/>
          </a:bodyPr>
          <a:lstStyle/>
          <a:p>
            <a:pPr algn="l">
              <a:lnSpc>
                <a:spcPts val="1361"/>
              </a:lnSpc>
            </a:pPr>
            <a:r>
              <a:rPr lang="en-US" sz="1008" b="0" i="0" spc="-6" dirty="0">
                <a:solidFill>
                  <a:srgbClr val="5A6573"/>
                </a:solidFill>
                <a:latin typeface="Trenda IG Text"/>
                <a:cs typeface="Trenda IG Text"/>
              </a:rPr>
              <a:t>Assess release impact and prepare deployment evidence.</a:t>
            </a:r>
          </a:p>
        </p:txBody>
      </p:sp>
      <p:sp>
        <p:nvSpPr>
          <p:cNvPr id="13" name="Storage, FinOps and Dev Tool..."/>
          <p:cNvSpPr txBox="1"/>
          <p:nvPr/>
        </p:nvSpPr>
        <p:spPr>
          <a:xfrm>
            <a:off x="1005840" y="5287316"/>
            <a:ext cx="3900087" cy="192786"/>
          </a:xfrm>
          <a:prstGeom prst="rect">
            <a:avLst/>
          </a:prstGeom>
          <a:noFill/>
        </p:spPr>
        <p:txBody>
          <a:bodyPr wrap="square" lIns="0" tIns="0" rIns="0" bIns="0" anchor="ctr">
            <a:noAutofit/>
          </a:bodyPr>
          <a:lstStyle/>
          <a:p>
            <a:pPr algn="l">
              <a:lnSpc>
                <a:spcPts val="1518"/>
              </a:lnSpc>
            </a:pPr>
            <a:r>
              <a:rPr lang="en-US" sz="1380" b="0" i="0" spc="-24" dirty="0">
                <a:solidFill>
                  <a:srgbClr val="0C1520"/>
                </a:solidFill>
                <a:latin typeface="Trenda IG Display Bold"/>
                <a:cs typeface="Trenda IG Display Bold"/>
              </a:rPr>
              <a:t>Storage, FinOps and Dev Tools</a:t>
            </a:r>
          </a:p>
        </p:txBody>
      </p:sp>
      <p:sp>
        <p:nvSpPr>
          <p:cNvPr id="14" name="Find archive candidates and ..."/>
          <p:cNvSpPr txBox="1"/>
          <p:nvPr/>
        </p:nvSpPr>
        <p:spPr>
          <a:xfrm>
            <a:off x="1005840" y="5525779"/>
            <a:ext cx="3900087" cy="172822"/>
          </a:xfrm>
          <a:prstGeom prst="rect">
            <a:avLst/>
          </a:prstGeom>
          <a:noFill/>
        </p:spPr>
        <p:txBody>
          <a:bodyPr wrap="square" lIns="0" tIns="0" rIns="0" bIns="0" anchor="ctr">
            <a:noAutofit/>
          </a:bodyPr>
          <a:lstStyle/>
          <a:p>
            <a:pPr algn="l">
              <a:lnSpc>
                <a:spcPts val="1361"/>
              </a:lnSpc>
            </a:pPr>
            <a:r>
              <a:rPr lang="en-US" sz="1008" b="0" i="0" spc="-6" dirty="0">
                <a:solidFill>
                  <a:srgbClr val="5A6573"/>
                </a:solidFill>
                <a:latin typeface="Trenda IG Text"/>
                <a:cs typeface="Trenda IG Text"/>
              </a:rPr>
              <a:t>Find archive candidates and query, import or export in context.</a:t>
            </a:r>
          </a:p>
        </p:txBody>
      </p:sp>
      <p:sp>
        <p:nvSpPr>
          <p:cNvPr id="15" name="Illustrative demo view"/>
          <p:cNvSpPr txBox="1"/>
          <p:nvPr/>
        </p:nvSpPr>
        <p:spPr>
          <a:xfrm>
            <a:off x="10770037" y="6370320"/>
            <a:ext cx="1182948" cy="121920"/>
          </a:xfrm>
          <a:prstGeom prst="rect">
            <a:avLst/>
          </a:prstGeom>
          <a:noFill/>
        </p:spPr>
        <p:txBody>
          <a:bodyPr wrap="square" lIns="0" tIns="0" rIns="0" bIns="0" anchor="ctr">
            <a:noAutofit/>
          </a:bodyPr>
          <a:lstStyle/>
          <a:p>
            <a:pPr algn="l">
              <a:lnSpc>
                <a:spcPts val="960"/>
              </a:lnSpc>
            </a:pPr>
            <a:r>
              <a:rPr lang="en-US" sz="870" b="0" i="1" spc="0" dirty="0">
                <a:solidFill>
                  <a:srgbClr val="7C8795"/>
                </a:solidFill>
                <a:latin typeface="Trenda IG Text"/>
                <a:cs typeface="Trenda IG Text"/>
              </a:rPr>
              <a:t>Illustrative demo view</a:t>
            </a:r>
          </a:p>
        </p:txBody>
      </p:sp>
      <p:sp>
        <p:nvSpPr>
          <p:cNvPr id="16" name="ShieldForge does not capture..."/>
          <p:cNvSpPr txBox="1"/>
          <p:nvPr/>
        </p:nvSpPr>
        <p:spPr>
          <a:xfrm>
            <a:off x="609600" y="6572250"/>
            <a:ext cx="6836988" cy="129540"/>
          </a:xfrm>
          <a:prstGeom prst="rect">
            <a:avLst/>
          </a:prstGeom>
          <a:noFill/>
        </p:spPr>
        <p:txBody>
          <a:bodyPr wrap="square" lIns="0" tIns="0" rIns="0" bIns="0" anchor="ctr">
            <a:noAutofit/>
          </a:bodyPr>
          <a:lstStyle/>
          <a:p>
            <a:pPr algn="l">
              <a:lnSpc>
                <a:spcPts val="1020"/>
              </a:lnSpc>
            </a:pPr>
            <a:r>
              <a:rPr lang="en-US" sz="900" b="0" i="0" spc="-3" dirty="0">
                <a:solidFill>
                  <a:srgbClr val="16202C"/>
                </a:solidFill>
                <a:latin typeface="Trenda IG Display Bold"/>
                <a:cs typeface="Trenda IG Display Bold"/>
              </a:rPr>
              <a:t>ShieldForge does not capture, store, or retain customer business data.</a:t>
            </a:r>
            <a:r>
              <a:rPr lang="en-US" sz="900" b="0" i="0" spc="-3" dirty="0">
                <a:solidFill>
                  <a:srgbClr val="C6CDD6"/>
                </a:solidFill>
                <a:latin typeface="Trenda IG Text"/>
                <a:cs typeface="Trenda IG Text"/>
              </a:rPr>
              <a:t>  |  </a:t>
            </a:r>
            <a:r>
              <a:rPr lang="en-US" sz="900" b="0" i="0" spc="-3" dirty="0">
                <a:solidFill>
                  <a:srgbClr val="5A6573"/>
                </a:solidFill>
                <a:latin typeface="Trenda IG Text"/>
                <a:cs typeface="Trenda IG Text"/>
              </a:rPr>
              <a:t>Customer data remains within Salesforce.</a:t>
            </a:r>
          </a:p>
        </p:txBody>
      </p:sp>
      <p:sp>
        <p:nvSpPr>
          <p:cNvPr id="17" name="03"/>
          <p:cNvSpPr txBox="1"/>
          <p:nvPr/>
        </p:nvSpPr>
        <p:spPr>
          <a:xfrm>
            <a:off x="11729561" y="6572250"/>
            <a:ext cx="142418" cy="129540"/>
          </a:xfrm>
          <a:prstGeom prst="rect">
            <a:avLst/>
          </a:prstGeom>
          <a:noFill/>
        </p:spPr>
        <p:txBody>
          <a:bodyPr wrap="square" lIns="0" tIns="0" rIns="0" bIns="0" anchor="ctr">
            <a:noAutofit/>
          </a:bodyPr>
          <a:lstStyle/>
          <a:p>
            <a:pPr algn="l">
              <a:lnSpc>
                <a:spcPts val="1020"/>
              </a:lnSpc>
            </a:pPr>
            <a:r>
              <a:rPr lang="en-US" sz="900" b="0" i="0" spc="0" dirty="0">
                <a:solidFill>
                  <a:srgbClr val="7C8795"/>
                </a:solidFill>
                <a:latin typeface="Trenda IG Text Semibold"/>
                <a:cs typeface="Trenda IG Text Semibold"/>
              </a:rPr>
              <a:t>03</a:t>
            </a:r>
          </a:p>
        </p:txBody>
      </p:sp>
    </p:spTree>
  </p:cSld>
  <p:clrMapOvr>
    <a:masterClrMapping/>
  </p:clrMapOvr>
</p:sld>
</file>

<file path=ppt/theme/theme1.xml><?xml version="1.0" encoding="utf-8"?>
<a:theme xmlns:a="http://schemas.openxmlformats.org/drawingml/2006/main" name="ShieldForge">
  <a:themeElements>
    <a:clrScheme name="ShieldForge">
      <a:dk1>
        <a:sysClr val="windowText" lastClr="000000"/>
      </a:dk1>
      <a:lt1>
        <a:sysClr val="window" lastClr="FFFFFF"/>
      </a:lt1>
      <a:dk2>
        <a:srgbClr val="0C1520"/>
      </a:dk2>
      <a:lt2>
        <a:srgbClr val="F4F6F9"/>
      </a:lt2>
      <a:accent1>
        <a:srgbClr val="22C1F0"/>
      </a:accent1>
      <a:accent2>
        <a:srgbClr val="FFC629"/>
      </a:accent2>
      <a:accent3>
        <a:srgbClr val="ED0F7E"/>
      </a:accent3>
      <a:accent4>
        <a:srgbClr val="0E2233"/>
      </a:accent4>
      <a:accent5>
        <a:srgbClr val="5A6573"/>
      </a:accent5>
      <a:accent6>
        <a:srgbClr val="0FA8DC"/>
      </a:accent6>
      <a:hlink>
        <a:srgbClr val="0FA8DC"/>
      </a:hlink>
      <a:folHlink>
        <a:srgbClr val="5A6573"/>
      </a:folHlink>
    </a:clrScheme>
    <a:fontScheme name="ShieldForge">
      <a:majorFont>
        <a:latin typeface="Trenda IG Display"/>
        <a:ea typeface=""/>
        <a:cs typeface=""/>
      </a:majorFont>
      <a:minorFont>
        <a:latin typeface="Trenda IG Text"/>
        <a:ea typeface=""/>
        <a:cs typeface=""/>
      </a:minorFont>
    </a:fontScheme>
    <a:fmtScheme name="ShieldForge">
      <a:fillStyleLst>
        <a:solidFill>
          <a:schemeClr val="phClr"/>
        </a:solidFill>
        <a:solidFill>
          <a:schemeClr val="phClr"/>
        </a:solidFill>
        <a:solidFill>
          <a:schemeClr val="phClr"/>
        </a:solidFill>
      </a:fillStyleLst>
      <a:lnStyleLst>
        <a:ln w="6350"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ShieldForge deck builder</Application>
  <Slides>3</Slides>
  <Paragraphs>0</Paragraphs>
  <Words>0</Words>
  <PresentationFormat>Widescreen</PresentationFormat>
  <TitlesOfParts>
    <vt:vector size="3" baseType="lpstr">
      <vt:lpstr>One platform for Salesforce governance</vt:lpstr>
      <vt:lpstr>Audit readiness. Security visibility.</vt:lpstr>
      <vt:lpstr>Clearer access. Simpler administration.</vt:lpstr>
    </vt:vector>
  </TitlesOfPart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ShieldForge by Insight Global</dc:title>
  <dcterms:created xsi:type="dcterms:W3CDTF">2026-09-18T05:15:41Z</dcterms:created>
  <dcterms:modified xsi:type="dcterms:W3CDTF">2026-09-18T05:15:41Z</dcterms:modified>
</cp:coreProperties>
</file>