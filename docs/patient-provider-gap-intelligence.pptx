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60120"/>
            <a:ext cx="3291840" cy="329184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16768" y="2578608"/>
            <a:ext cx="2103120" cy="2103120"/>
          </a:xfrm>
          <a:prstGeom prst="ellipse">
            <a:avLst/>
          </a:prstGeom>
          <a:solidFill>
            <a:srgbClr val="3DDC97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170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 ·  SOLUTION DESIGN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72768"/>
            <a:ext cx="88696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and Provider Gap Intelligence, on the Same Knowledge Graph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34670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2. Find where patient inflow is highest and provider outcomes are weakest, explain the gap with evidence, and turn it into a governed campaign. Built on the Neo4j graph, TopQuadrant ontology and GraphRAG stack already in production.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464040" y="1170432"/>
            <a:ext cx="2221992" cy="4572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64040" y="117043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Knowledge Graph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3520440" cy="1170432"/>
          </a:xfrm>
          <a:prstGeom prst="rect">
            <a:avLst/>
          </a:prstGeom>
          <a:solidFill>
            <a:srgbClr val="16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4791456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690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layers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120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source to L7 governance, every one specified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9392" y="4572000"/>
            <a:ext cx="3520440" cy="1170432"/>
          </a:xfrm>
          <a:prstGeom prst="rect">
            <a:avLst/>
          </a:prstGeom>
          <a:solidFill>
            <a:srgbClr val="16161C"/>
          </a:solidFill>
          <a:ln/>
        </p:spPr>
      </p:sp>
      <p:sp>
        <p:nvSpPr>
          <p:cNvPr id="14" name="Shape 12"/>
          <p:cNvSpPr/>
          <p:nvPr/>
        </p:nvSpPr>
        <p:spPr>
          <a:xfrm>
            <a:off x="4498848" y="4791456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36592" y="4690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gap types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5120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outcome, leakage, care, adequacy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55864" y="4572000"/>
            <a:ext cx="3520440" cy="1170432"/>
          </a:xfrm>
          <a:prstGeom prst="rect">
            <a:avLst/>
          </a:prstGeom>
          <a:solidFill>
            <a:srgbClr val="16161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4791456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13064" y="4690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graph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513064" y="5120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production Neo4j estate, extended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0533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President, Consulting  |  Office of the CRO/VP, Global Operations  |  Office of the COO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 same graph answer it? Yes, with three conditions.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444752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you asked is a graph question. Patient inflow is a traversal, provider outcome is a node property, and the gap between them is the path that does not exist yet. Nothing in it needs a new platform.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39696"/>
            <a:ext cx="3520440" cy="292608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2377440"/>
            <a:ext cx="118872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1832" y="229514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Same model, new domain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2743200"/>
            <a:ext cx="28437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becomes Patient and Population.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becomes Encounter and Episode.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becomes Service Line and Procedure.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BDR and SDR scores become risk, outcome and capacity indices, promoted to traversals the same way.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Neo4j, TopQuadrant, SageMaker, Snowflake, Data Cloud, MCP: unchanged.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79392" y="2139696"/>
            <a:ext cx="3520440" cy="292608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2377440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18304" y="229514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Outcomes need adjusting first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2743200"/>
            <a:ext cx="28437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raw outcomes punishes the providers who take the sickest patients, and the finding will not survive its first review.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adjustment, minimum denominators, shrinkage and confidence intervals are in the build, not a later refinement.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largest difference from Solution 1.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55864" y="2139696"/>
            <a:ext cx="3520440" cy="292608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9" name="Shape 17"/>
          <p:cNvSpPr/>
          <p:nvPr/>
        </p:nvSpPr>
        <p:spPr>
          <a:xfrm>
            <a:off x="8257032" y="2377440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94776" y="229514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Activation needs a new gate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94776" y="2743200"/>
            <a:ext cx="28437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state, channel permission and suppression are checked at cohort build, not at send.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stays out of model prompts unless the endpoint is covered by a BAA.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human approves every cohort before it leaves the building.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358384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" y="5532120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5358384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not: it does not make clinical decisions and it does not publish a league table of clinicians. It ranks addressable gaps and names who can close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 TO SOLUTION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reuse, what we adapt, what we build new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MAP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44475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 asset is the spine. Roughly two thirds of Solution 2 is the Solution 1 stack pointed at a different ontology.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3520440" cy="38404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AS 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22576"/>
            <a:ext cx="3520440" cy="310896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" y="248716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production cluster and scaled index design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TopQuadrant ontology tooling and SHACL validation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retrieval pattern and prompt scaffolding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surface into Agentforce and Slack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a judge evaluation harness and gold set method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gated, milestone based delivery model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79392" y="1938528"/>
            <a:ext cx="352044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62272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79392" y="2322576"/>
            <a:ext cx="3520440" cy="310896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98848" y="248716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classes move from sales objects to care delivery objects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migration pipeline retargeted from BDR and SDR to risk, outcome and capacity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Cloud bridge carries referral notes, clinical notes and call transcripts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models extended from CRM to claims, EHR, directory and scheduling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personas rewritten for market and provider questions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55864" y="1938528"/>
            <a:ext cx="3520440" cy="38404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38744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55864" y="2322576"/>
            <a:ext cx="3520440" cy="310896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75320" y="248716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+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and provider identity resolution, EMPI plus NPI and TIN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+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adjustment and the statistical guardrail set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+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gap engines and the inflow versus outcome quadrant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+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activation with consent gate, holdout and write back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+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governance, minimum necessary enforcement and audit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614416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" y="5788152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5614416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first two columns is delivery risk already retired. The third column is where the four month plan spends its time.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inflow, weakest outcome: four computable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5806440" cy="841248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1664208"/>
            <a:ext cx="118872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 Demand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185623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patients actually come from, by geography and service line, and is that volume growing?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404872"/>
            <a:ext cx="5806440" cy="841248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2624328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 Supply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281635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contracted to serve them, with what bookable capacity and what panel status?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364992"/>
            <a:ext cx="5806440" cy="841248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" y="3584448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502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 Performance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77647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the outcome once you adjust for how sick the patients were?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325112"/>
            <a:ext cx="5806440" cy="841248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4544568"/>
            <a:ext cx="118872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 Addressability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73659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gaps can an outreach actually move, and who is reachable and consented?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84848" y="1883664"/>
            <a:ext cx="2450592" cy="1609344"/>
          </a:xfrm>
          <a:prstGeom prst="rect">
            <a:avLst/>
          </a:prstGeom>
          <a:solidFill>
            <a:srgbClr val="E6F6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31152" y="20116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2304288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outcome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235440" y="1883664"/>
            <a:ext cx="2450592" cy="1609344"/>
          </a:xfrm>
          <a:prstGeom prst="rect">
            <a:avLst/>
          </a:prstGeom>
          <a:solidFill>
            <a:srgbClr val="DFF2F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81744" y="20116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381744" y="2304288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outcome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84848" y="3493008"/>
            <a:ext cx="2450592" cy="1609344"/>
          </a:xfrm>
          <a:prstGeom prst="rect">
            <a:avLst/>
          </a:prstGeom>
          <a:solidFill>
            <a:srgbClr val="E9ED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31152" y="362102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31152" y="3913632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outcome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235440" y="3493008"/>
            <a:ext cx="2450592" cy="1609344"/>
          </a:xfrm>
          <a:prstGeom prst="rect">
            <a:avLst/>
          </a:prstGeom>
          <a:solidFill>
            <a:srgbClr val="F7E3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81744" y="362102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381744" y="3913632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outcome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812816" y="2798978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49970" y="2412736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18745" y="3507090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695030" y="3249595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773290" y="2541483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655503" y="2831165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214397" y="2283988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145622" y="3120847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16769" y="4343949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351947" y="4665817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891077" y="4086454"/>
            <a:ext cx="100584" cy="100584"/>
          </a:xfrm>
          <a:prstGeom prst="ellipse">
            <a:avLst/>
          </a:prstGeom>
          <a:solidFill>
            <a:srgbClr val="5A5A5A">
              <a:alpha val="5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969337" y="4215201"/>
            <a:ext cx="100584" cy="10058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57480" y="4601444"/>
            <a:ext cx="100584" cy="10058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50" name="Shape 48"/>
          <p:cNvSpPr/>
          <p:nvPr/>
        </p:nvSpPr>
        <p:spPr>
          <a:xfrm>
            <a:off x="11047598" y="4022080"/>
            <a:ext cx="100584" cy="10058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51" name="Shape 49"/>
          <p:cNvSpPr/>
          <p:nvPr/>
        </p:nvSpPr>
        <p:spPr>
          <a:xfrm>
            <a:off x="10263408" y="4794565"/>
            <a:ext cx="100584" cy="10058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52" name="Shape 50"/>
          <p:cNvSpPr/>
          <p:nvPr/>
        </p:nvSpPr>
        <p:spPr>
          <a:xfrm>
            <a:off x="9675266" y="4504883"/>
            <a:ext cx="100584" cy="10058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784848" y="149961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 risk adjusted outcome, strongest at the top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784848" y="5193792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patient inflow, highest at the right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02920" y="5760720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56" name="Shape 54"/>
          <p:cNvSpPr/>
          <p:nvPr/>
        </p:nvSpPr>
        <p:spPr>
          <a:xfrm>
            <a:off x="704088" y="5934456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41832" y="5760720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quadrant is the campaign cohort. The GROW quadrant is where the volume is steered. Both come out of one query.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GAP ACTUALLY IS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gaps the graph can compute, and what each one triggers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TYPES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3520440" cy="18836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164592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1E8E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gap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" y="21945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versus contracted, bookable capacity by geography and service line.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provider recruitment and contracting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79392" y="1444752"/>
            <a:ext cx="3520440" cy="18836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164592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80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92624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gap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21945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adjusted outcome index against a like for like peer benchmark.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quality improvement campaign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55864" y="1444752"/>
            <a:ext cx="3520440" cy="18836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57032" y="164592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B23A4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5703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769096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gap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21945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patients treated outside the network, traced along referral paths.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in network capture campaign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529584"/>
            <a:ext cx="3520440" cy="18836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" y="3730752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1E8E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4088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16152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gap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" y="42793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quality measures per patient: screening, chronic follow up, adherence.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22376" y="4992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patient outreach cohort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79392" y="3529584"/>
            <a:ext cx="3520440" cy="18836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4" name="Shape 32"/>
          <p:cNvSpPr/>
          <p:nvPr/>
        </p:nvSpPr>
        <p:spPr>
          <a:xfrm>
            <a:off x="4480560" y="3730752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8056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992624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Adequacy gap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498848" y="42793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distance and appointment wait standards by county and specialty.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498848" y="4992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network filing and expansion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55864" y="3529584"/>
            <a:ext cx="3520440" cy="18836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8257032" y="3730752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B23A4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57032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769096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gap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2793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that exist in the sources but are not related in the ontology.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275320" y="4992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the graph backlog itself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5632704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46" name="Shape 44"/>
          <p:cNvSpPr/>
          <p:nvPr/>
        </p:nvSpPr>
        <p:spPr>
          <a:xfrm>
            <a:off x="704088" y="5806440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1832" y="5632704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six is the one the case study already taught us: entities present in the source but unlinked in the ontology look exactly like a business gap until you check.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layers, same shape as the delivery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– L7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11183112" cy="502920"/>
          </a:xfrm>
          <a:prstGeom prst="rect">
            <a:avLst/>
          </a:prstGeom>
          <a:solidFill>
            <a:srgbClr val="E9EDE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444752"/>
            <a:ext cx="658368" cy="50292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44475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14447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and ingestion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4447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every system of record without changing what it means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4447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· Data Cloud · S3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002536"/>
            <a:ext cx="11183112" cy="50292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002536"/>
            <a:ext cx="658368" cy="50292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200253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002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resolution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2002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patient, one provider, one place, with evidence kept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20025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 · NPI and TIN · CCN · geocode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2560320"/>
            <a:ext cx="11183112" cy="502920"/>
          </a:xfrm>
          <a:prstGeom prst="rect">
            <a:avLst/>
          </a:prstGeom>
          <a:solidFill>
            <a:srgbClr val="E9EDEB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560320"/>
            <a:ext cx="65836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256032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Ontology and graph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40480" y="2560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relationship a first class object, validated on load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560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TopQuadrant · SHACL · Neo4j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118104"/>
            <a:ext cx="11183112" cy="50292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118104"/>
            <a:ext cx="65836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311810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31181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840480" y="31181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computed scores to native traversals under a latency SLA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31181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· graph projections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675888"/>
            <a:ext cx="11183112" cy="502920"/>
          </a:xfrm>
          <a:prstGeom prst="rect">
            <a:avLst/>
          </a:prstGeom>
          <a:solidFill>
            <a:srgbClr val="E9EDEB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3675888"/>
            <a:ext cx="658368" cy="50292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2920" y="36758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3675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analytics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840480" y="36758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graph into a ranked, defensible, lineage backed gap list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052560" y="36758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GDS · Snowflake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4233672"/>
            <a:ext cx="11183112" cy="50292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233672"/>
            <a:ext cx="658368" cy="50292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02920" y="42336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371600" y="4233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GraphRAG and agents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840480" y="42336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natural language, grounded, with node level citations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052560" y="42336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· Agentforce · MCP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791456"/>
            <a:ext cx="11183112" cy="502920"/>
          </a:xfrm>
          <a:prstGeom prst="rect">
            <a:avLst/>
          </a:prstGeom>
          <a:solidFill>
            <a:srgbClr val="E9EDEB"/>
          </a:solidFill>
          <a:ln/>
        </p:spPr>
      </p:sp>
      <p:sp>
        <p:nvSpPr>
          <p:cNvPr id="46" name="Shape 44"/>
          <p:cNvSpPr/>
          <p:nvPr/>
        </p:nvSpPr>
        <p:spPr>
          <a:xfrm>
            <a:off x="502920" y="4791456"/>
            <a:ext cx="658368" cy="50292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02920" y="479145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L6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371600" y="47914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activation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3840480" y="47914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gap into a governed outreach with a holdout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9052560" y="47914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Cloud · Marketing Cloud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920" y="5349240"/>
            <a:ext cx="11183112" cy="50292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52" name="Shape 50"/>
          <p:cNvSpPr/>
          <p:nvPr/>
        </p:nvSpPr>
        <p:spPr>
          <a:xfrm>
            <a:off x="502920" y="5349240"/>
            <a:ext cx="658368" cy="50292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02920" y="53492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L7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1371600" y="5349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and governance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3840480" y="5349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is right, keep it legal, measure what it moved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052560" y="5349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 · holdouts · audit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502920" y="6016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to L3 are graph construction. L4 is the answer. L5 to L7 make it usable, governed and measurable.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and ingestion: land it, do not reshape 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1118311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2194560"/>
                <a:gridCol w="239572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contributes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Claims, 837 and 835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Utilisation, cost, outcome proxies, out of network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Monthly, 30 to 90 day 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 and FHIR, US 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Diagnoses, procedures, labs, vitals, referrals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and attribution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in the population and which provider owns them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directory, NPPES, CAQH, roster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Identity, specialty, location, contract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and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Bookable supply, wait time, panel open or 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and Health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Relationship, contacts, prior outreach, consent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and contact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real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notes, clinical notes, call transcripts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and geo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SNOMED, ICD-10, CPT, NUCC, census, drive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5413248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11" name="Shape 8"/>
          <p:cNvSpPr/>
          <p:nvPr/>
        </p:nvSpPr>
        <p:spPr>
          <a:xfrm>
            <a:off x="704088" y="5586984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41832" y="5413248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acquires meaning at L0. Meaning is assigned at L2, so a source correction replays through the graph instead of rewriting it.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998464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 carried from the delivery solution: the obligation was the source of truth there, the ontology is the source of truth here. Inputs stay replayable.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resolution: the ceiling on every number here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5440680" cy="2395728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1682496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1600200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resolution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2048256"/>
            <a:ext cx="4764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first: source MRN, member id, and a composite of name, date of birth and last four of SSN.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fallback on name, date of birth, address and phone, with a scored threshold and a manual review band.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rules decide which attribute wins when sources disagree, and the losing value is kept.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source links are stored as evidence edges, not silent merges, so a bad link can be reversed.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444752"/>
            <a:ext cx="5440680" cy="2395728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19088" y="1682496"/>
            <a:ext cx="118872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56832" y="1600200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and place resolution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56832" y="2048256"/>
            <a:ext cx="4764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NPI is the person key. TIN plus NPI is the practice key. CCN is the facility key.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and organisational NPIs are never collapsed into one node.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NUCC taxonomy gives specialty. Address geocodes to census tract for drive time and adequacy work.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 is time bounded, so a provider who left a practice in March does not distort the year.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" y="4215384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4041648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92 percent provider match rate means up to 8 percent of what looks like a gap is a join failure. Match rate is published next to every gap, every 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773168"/>
            <a:ext cx="260604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956048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5256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" y="5193792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keys, highest confidence, no review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9272" y="4773168"/>
            <a:ext cx="260604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5" name="Shape 23"/>
          <p:cNvSpPr/>
          <p:nvPr/>
        </p:nvSpPr>
        <p:spPr>
          <a:xfrm>
            <a:off x="3502152" y="4956048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21608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721608" y="5193792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scored, thresholded, review band above the floor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5624" y="4773168"/>
            <a:ext cx="260604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9" name="Shape 27"/>
          <p:cNvSpPr/>
          <p:nvPr/>
        </p:nvSpPr>
        <p:spPr>
          <a:xfrm>
            <a:off x="6318504" y="4956048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37960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edges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5193792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are reversible, merges are not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51976" y="4773168"/>
            <a:ext cx="260604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3" name="Shape 31"/>
          <p:cNvSpPr/>
          <p:nvPr/>
        </p:nvSpPr>
        <p:spPr>
          <a:xfrm>
            <a:off x="9134856" y="4956048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54312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match rate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354312" y="5193792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carries the rate behind it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Ontology and graph model: the relationship is the product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4447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triples, governed in TopQuadrant and enforced by SHACL on load.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83664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883664"/>
            <a:ext cx="50292" cy="2788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1883664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075688" y="1883664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:RESIDES_IN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050792" y="1883664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176272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176272"/>
            <a:ext cx="50292" cy="2788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" y="2176272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075688" y="2176272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:HAD_ENCOUNTER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050792" y="2176272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468880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2468880"/>
            <a:ext cx="50292" cy="2788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" y="2468880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075688" y="2468880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:ATTRIBUTED_TO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050792" y="2468880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2761488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761488"/>
            <a:ext cx="50292" cy="2788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7512" y="2761488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075688" y="2761488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:HAS_OPEN_MEASURE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050792" y="2761488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054096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3054096"/>
            <a:ext cx="50292" cy="278892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7512" y="3054096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075688" y="3054096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:PERFORMED_BY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050792" y="3054096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346704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3346704"/>
            <a:ext cx="50292" cy="278892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7512" y="3346704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2075688" y="3346704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:AT_FACILITY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050792" y="3346704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3639312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3639312"/>
            <a:ext cx="50292" cy="278892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67512" y="3639312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2075688" y="3639312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:FOR_CONDITION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050792" y="3639312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3931920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6" name="Shape 44"/>
          <p:cNvSpPr/>
          <p:nvPr/>
        </p:nvSpPr>
        <p:spPr>
          <a:xfrm>
            <a:off x="502920" y="3931920"/>
            <a:ext cx="50292" cy="278892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67512" y="3931920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2075688" y="3931920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:MAPS_TO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050792" y="3931920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ServiceLine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2920" y="4224528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51" name="Shape 49"/>
          <p:cNvSpPr/>
          <p:nvPr/>
        </p:nvSpPr>
        <p:spPr>
          <a:xfrm>
            <a:off x="502920" y="4224528"/>
            <a:ext cx="50292" cy="27889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67512" y="4224528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2075688" y="4224528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:AFFILIATED_WITH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4050792" y="4224528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02920" y="4517136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56" name="Shape 54"/>
          <p:cNvSpPr/>
          <p:nvPr/>
        </p:nvSpPr>
        <p:spPr>
          <a:xfrm>
            <a:off x="502920" y="4517136"/>
            <a:ext cx="50292" cy="27889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67512" y="4517136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2075688" y="4517136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:HAS_TAXONOMY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4050792" y="4517136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02920" y="4809744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61" name="Shape 59"/>
          <p:cNvSpPr/>
          <p:nvPr/>
        </p:nvSpPr>
        <p:spPr>
          <a:xfrm>
            <a:off x="502920" y="4809744"/>
            <a:ext cx="50292" cy="27889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67512" y="4809744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2075688" y="4809744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:REFERRED_TO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4050792" y="4809744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" y="5102352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66" name="Shape 64"/>
          <p:cNvSpPr/>
          <p:nvPr/>
        </p:nvSpPr>
        <p:spPr>
          <a:xfrm>
            <a:off x="502920" y="5102352"/>
            <a:ext cx="50292" cy="27889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67512" y="5102352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075688" y="5102352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:SCORED_ON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4050792" y="5102352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OutcomeIndex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2920" y="5394960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71" name="Shape 69"/>
          <p:cNvSpPr/>
          <p:nvPr/>
        </p:nvSpPr>
        <p:spPr>
          <a:xfrm>
            <a:off x="502920" y="5394960"/>
            <a:ext cx="50292" cy="2788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67512" y="5394960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2075688" y="5394960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:TARGETS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4050792" y="5394960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02920" y="5687568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76" name="Shape 74"/>
          <p:cNvSpPr/>
          <p:nvPr/>
        </p:nvSpPr>
        <p:spPr>
          <a:xfrm>
            <a:off x="502920" y="5687568"/>
            <a:ext cx="50292" cy="2788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67512" y="5687568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2075688" y="5687568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:SENT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4050792" y="5687568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02920" y="5980176"/>
            <a:ext cx="4983480" cy="278892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81" name="Shape 79"/>
          <p:cNvSpPr/>
          <p:nvPr/>
        </p:nvSpPr>
        <p:spPr>
          <a:xfrm>
            <a:off x="502920" y="5980176"/>
            <a:ext cx="50292" cy="2788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67512" y="5980176"/>
            <a:ext cx="1371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</a:t>
            </a:r>
            <a:endParaRPr lang="en-US" sz="950" dirty="0"/>
          </a:p>
        </p:txBody>
      </p:sp>
      <p:sp>
        <p:nvSpPr>
          <p:cNvPr id="83" name="Text 81"/>
          <p:cNvSpPr txBox="1"/>
          <p:nvPr/>
        </p:nvSpPr>
        <p:spPr>
          <a:xfrm>
            <a:off x="2075688" y="5980176"/>
            <a:ext cx="1920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:RESULTED_IN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4050792" y="5980176"/>
            <a:ext cx="1325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760720" y="1444752"/>
            <a:ext cx="5925312" cy="2212848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86" name="Shape 84"/>
          <p:cNvSpPr/>
          <p:nvPr/>
        </p:nvSpPr>
        <p:spPr>
          <a:xfrm>
            <a:off x="5961888" y="1682496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199632" y="1600200"/>
            <a:ext cx="5285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 the ontology enforces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6199632" y="2048256"/>
            <a:ext cx="5248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Every score is reachable by traversal. A score stored as a flat attribute cannot be reasoned over, which is exactly what the BDR and SDR migration proved.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Every edge is time bounded. Affiliation, attribution and contract status all change, and a gap computed across a move is a false gap.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Every derived node carries lineage back to the source rows that produced it, or it cannot be published.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760720" y="3877056"/>
            <a:ext cx="5925312" cy="2231136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90" name="Shape 88"/>
          <p:cNvSpPr/>
          <p:nvPr/>
        </p:nvSpPr>
        <p:spPr>
          <a:xfrm>
            <a:off x="5961888" y="4114800"/>
            <a:ext cx="118872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199632" y="4032504"/>
            <a:ext cx="5285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target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199632" y="4480560"/>
            <a:ext cx="52486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estate already runs 511,000 plus nodes and 894,000 plus relationships with a scaled index design.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 delivery subgraph is additive to that estate, not a second graph: patient, encounter, provider, facility, geography and service line attach to the entities that are already there.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design is reviewed at M1 against the traversal patterns L4 actually issues, not against the model on paper.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Signal: scores become traversals, not attributes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1118311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977640"/>
                <a:gridCol w="2743200"/>
                <a:gridCol w="1234440"/>
                <a:gridCol w="704088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risk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acuity and utilisation for the next 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HCC or CDPS, or internal model on SageMaker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adjusted outcome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over expected for a provider and service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over E with hierarchical shrinkage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Inflow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volume by geography and service line, trended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aggregation and projection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Bookable supply against modelled 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feed plus panel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attributed patients treated out of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path query on referral edges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Contactability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Reachable or not, and on which permitted 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plus consent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754880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11" name="Shape 8"/>
          <p:cNvSpPr/>
          <p:nvPr/>
        </p:nvSpPr>
        <p:spPr>
          <a:xfrm>
            <a:off x="704088" y="4928616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41832" y="4754880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the BDR and SDR migration: a score on a row is a report, a score on a node is an answer. The 50ms budget is what makes an agent reply feel instant.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5376672"/>
            <a:ext cx="3520440" cy="87782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5559552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5256" y="5486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where it is read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" y="576072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land on the Provider, Patient and Geography nodes, so retrieval needs no second system.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79392" y="5376672"/>
            <a:ext cx="3520440" cy="87782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8" name="Shape 15"/>
          <p:cNvSpPr/>
          <p:nvPr/>
        </p:nvSpPr>
        <p:spPr>
          <a:xfrm>
            <a:off x="4462272" y="5559552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81728" y="5486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Versioned, never overwritten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681728" y="576072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refresh writes a dated index. Last quarter's gap list can still be reproduced exactly.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055864" y="5376672"/>
            <a:ext cx="3520440" cy="87782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2" name="Shape 19"/>
          <p:cNvSpPr/>
          <p:nvPr/>
        </p:nvSpPr>
        <p:spPr>
          <a:xfrm>
            <a:off x="8238744" y="5559552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458200" y="5486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travels with it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576072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 carries n, its interval and its peer group, and L4 refuses to rank without them.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analytics: the ranked list, and why it survives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444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computation chain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5486400" cy="64008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" y="197510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" y="19019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" y="21488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index by geography and service line, trended over the attribution window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587752"/>
            <a:ext cx="5486400" cy="64008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273405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" y="266090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" y="29077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index across contracted providers in the same geography and service 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346704"/>
            <a:ext cx="5486400" cy="64008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" y="349300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" y="341985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" y="3666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adjusted outcome index against the matched peer benchmark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105656"/>
            <a:ext cx="5486400" cy="64008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" y="42519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" y="41788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score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" y="44256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function of demand, supply deficit, outcome deficit and addressability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864608"/>
            <a:ext cx="5486400" cy="64008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" y="50109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24712" y="49377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Quadrant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" y="5184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place on the inflow versus outcome plane, and attach the evidence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82512" y="1444752"/>
            <a:ext cx="5303520" cy="422452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0" y="1700784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21424" y="1627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guardrails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821424" y="2048256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denominator. No provider is ranked below the agreed encounter count for that service line.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Shrinkage. Small volume providers are pulled toward the peer mean by empirical Bayes before ranking.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intervals. Published with every index. Overlapping intervals are reported as not different.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groups. Defined by specialty, care setting and case mix, never by geography alone.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Attribution. One rule per service line, agreed before build, versioned, and stated on every answer.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Lineage. Every gap resolves back to the source rows that produced it, or it is not published.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779008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40" name="Shape 38"/>
          <p:cNvSpPr/>
          <p:nvPr/>
        </p:nvSpPr>
        <p:spPr>
          <a:xfrm>
            <a:off x="704088" y="5952744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1832" y="5779008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you cannot defend in front of the provider it names is not a gap, it is a complaint. The guardrails are what make the list usable in a contracting conversation.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GraphRAG and agents: grounded answers, with citations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1847088" cy="566928"/>
          </a:xfrm>
          <a:prstGeom prst="chevron">
            <a:avLst/>
          </a:prstGeom>
          <a:solidFill>
            <a:srgbClr val="5A5A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" y="144475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95144" y="1444752"/>
            <a:ext cx="1847088" cy="566928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41448" y="144475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anchor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87368" y="1444752"/>
            <a:ext cx="1847088" cy="566928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33672" y="144475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 expansion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79592" y="1444752"/>
            <a:ext cx="1847088" cy="566928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25896" y="144475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71816" y="1444752"/>
            <a:ext cx="1847088" cy="566928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18120" y="144475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and assemble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64040" y="1444752"/>
            <a:ext cx="1847088" cy="566928"/>
          </a:xfrm>
          <a:prstGeom prst="chevron">
            <a:avLst/>
          </a:prstGeom>
          <a:solidFill>
            <a:srgbClr val="1E8E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10344" y="144475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2139696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county, specialty and provider names to graph identifiers, expand along typed edges within a bounded hop budget, read the indices already sitting on the nodes, then assemble evidence before the model writes a word.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615184"/>
            <a:ext cx="3520440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" y="2834640"/>
            <a:ext cx="118872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POV agent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" y="31455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our biggest access gap this quarter?”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22376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county, service line, gap score and the practices behind it, each one clickable back to its evidence.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79392" y="2615184"/>
            <a:ext cx="3520440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0560" y="2834640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18304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POV agent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498848" y="31455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this practice flagged?”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498848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the observed over expected, the peer group, the interval, the volume and the encounters that produced 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55864" y="2615184"/>
            <a:ext cx="3520440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3" name="Shape 31"/>
          <p:cNvSpPr/>
          <p:nvPr/>
        </p:nvSpPr>
        <p:spPr>
          <a:xfrm>
            <a:off x="8257032" y="2834640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94776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planner agent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31455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me the cohort.”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cohort definition, projected reach and the approvals required. It drafts. It does not send.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065776"/>
            <a:ext cx="11183112" cy="1097280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088" y="5266944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550468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PHI in a prompt unless the endpoint is covered by a BAA  ·  de-identified aggregates by default  ·  every claim cites the nodes it came from  ·  a refusal path when evidence falls below threshold  ·  full prompt and response audit retained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activation: from gap list to governed outreach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1783080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444752"/>
            <a:ext cx="17830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4447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build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" y="1938528"/>
            <a:ext cx="1490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the quadrant and the gap score, with the target metric named up front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" y="338328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cohort definition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258568" y="24048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377440" y="1444752"/>
            <a:ext cx="1783080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1444752"/>
            <a:ext cx="1783080" cy="36576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468880" y="14447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761488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523744" y="1938528"/>
            <a:ext cx="1490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in state, channel permission, suppression list and a minimum necessary check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523744" y="338328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eligible list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133088" y="24048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251960" y="1444752"/>
            <a:ext cx="1783080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4" name="Shape 22"/>
          <p:cNvSpPr/>
          <p:nvPr/>
        </p:nvSpPr>
        <p:spPr>
          <a:xfrm>
            <a:off x="4251960" y="1444752"/>
            <a:ext cx="1783080" cy="36576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43400" y="14447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98264" y="1938528"/>
            <a:ext cx="1490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and compliance approval, versioned, with the approver recorded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398264" y="338328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approval record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007608" y="24048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26480" y="1444752"/>
            <a:ext cx="1783080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1444752"/>
            <a:ext cx="17830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17920" y="14447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510528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routing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272784" y="1938528"/>
            <a:ext cx="1490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field task, contracting outreach, quality packet. Patient: SMS, email, call list, care manager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272784" y="338328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channel plan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882128" y="24048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001000" y="1444752"/>
            <a:ext cx="1783080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8" name="Shape 36"/>
          <p:cNvSpPr/>
          <p:nvPr/>
        </p:nvSpPr>
        <p:spPr>
          <a:xfrm>
            <a:off x="8001000" y="1444752"/>
            <a:ext cx="17830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92440" y="14447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385048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and send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147304" y="1938528"/>
            <a:ext cx="1490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randomised control held back at cohort build, ten percent by default, never carved out afterwards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147304" y="338328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test and control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756648" y="24048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875520" y="1444752"/>
            <a:ext cx="1783080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5" name="Shape 43"/>
          <p:cNvSpPr/>
          <p:nvPr/>
        </p:nvSpPr>
        <p:spPr>
          <a:xfrm>
            <a:off x="9875520" y="1444752"/>
            <a:ext cx="1783080" cy="36576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966960" y="14447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0259568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back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021824" y="1938528"/>
            <a:ext cx="1490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Campaign, Touch and Response land on the graph and feed the next cycle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10021824" y="338328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graph nodes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" y="3986784"/>
            <a:ext cx="5440680" cy="129844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51" name="Shape 49"/>
          <p:cNvSpPr/>
          <p:nvPr/>
        </p:nvSpPr>
        <p:spPr>
          <a:xfrm>
            <a:off x="704088" y="4187952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41832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holdout is not optional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41832" y="44439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before the send or the lift number is a story, not a measurement. Ten percent held back by default, agreed per cohort.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17920" y="3986784"/>
            <a:ext cx="5440680" cy="129844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55" name="Shape 53"/>
          <p:cNvSpPr/>
          <p:nvPr/>
        </p:nvSpPr>
        <p:spPr>
          <a:xfrm>
            <a:off x="6419088" y="4187952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656832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write back closes the loop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656832" y="44439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Campaign, Touch and Response become graph nodes, so the next cycle's targeting trains on what actually worked, not on what was planned.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02920" y="550468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 and 3 are the gate. Nothing reaches a channel without passing both, and the agent layer can draft a cohort but cannot open the gate.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and governance: prove it, then keep proving 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3520440" cy="32004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1682496"/>
            <a:ext cx="118872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1600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answer right?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2048256"/>
            <a:ext cx="28437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set of 100 plus SME labelled questions, the method carried straight from Solution 1.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a judge scoring, with a human spot audit on a fixed sample.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SME review of flagged providers before any gap is published.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rate and coverage dashboards, read before the gap list is read.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 agent accuracy, on the same gold set.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9392" y="1444752"/>
            <a:ext cx="3520440" cy="32004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1682496"/>
            <a:ext cx="118872" cy="1188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18304" y="1600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campaign move it?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18304" y="2048256"/>
            <a:ext cx="28437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lift on one primary metric named at cohort build.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 tracked alongside: opt out rate, complaint rate, provider abrasion.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window fixed in advance and not adjusted after the result is known.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scorecard per cohort, kept whether the result was good or bad.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55864" y="1444752"/>
            <a:ext cx="3520440" cy="32004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8" name="Shape 16"/>
          <p:cNvSpPr/>
          <p:nvPr/>
        </p:nvSpPr>
        <p:spPr>
          <a:xfrm>
            <a:off x="8257032" y="1682496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94776" y="1600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legal and audited?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494776" y="2048256"/>
            <a:ext cx="28437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minimum necessary enforced at the query layer, not by convention.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based access to subgraphs, so a user sees the slice their role permits.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for analytic use, re-identification only through a controlled path.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from every published gap back to source rows.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and purge aligned to policy, and every agent prompt and response retained for audit.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901184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5074920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4901184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framework is the reusable asset. Solution 1 built it for seller agents. Solution 2 inherits it and adds campaign lift to it, and Solution 3 will inherit both.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55778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 gate in the delivery plan is evidence produced by this layer. No gate is passed on opinion.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walked through all eight layers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The shape of the analysis is real, the figures are placeholders until the source inventory at M0.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11183112" cy="502920"/>
          </a:xfrm>
          <a:prstGeom prst="rect">
            <a:avLst/>
          </a:prstGeom>
          <a:solidFill>
            <a:srgbClr val="E9EDEB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828800"/>
            <a:ext cx="987552" cy="50292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18288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 · L1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73352" y="1828800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128,000 attributed patients and 41 contracted cardiologists in the county resolve at 96 percent patient match and 94 percent provider match. Both rates are published with the result.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391156"/>
            <a:ext cx="11183112" cy="50292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391156"/>
            <a:ext cx="987552" cy="50292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2391156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673352" y="2391156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encounters, providers, practices, facilities and the cardiology service line are linked and SHACL validated. Twelve practices and seven facilities carry the volume.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953512"/>
            <a:ext cx="11183112" cy="502920"/>
          </a:xfrm>
          <a:prstGeom prst="rect">
            <a:avLst/>
          </a:prstGeom>
          <a:solidFill>
            <a:srgbClr val="E9EDE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953512"/>
            <a:ext cx="9875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295351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673352" y="2953512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index for the county sits in the top decile. The risk adjusted outcome index is 1.18 observed over expected, and the interval excludes 1.0, so the difference is real.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515868"/>
            <a:ext cx="11183112" cy="50292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515868"/>
            <a:ext cx="9875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" y="351586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73352" y="3515868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deficit is seven full time equivalents. Leakage is 23 percent of referrals leaving the network. The county lands in the PRIORITY quadrant and ranks first on gap score.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078224"/>
            <a:ext cx="11183112" cy="502920"/>
          </a:xfrm>
          <a:prstGeom prst="rect">
            <a:avLst/>
          </a:prstGeom>
          <a:solidFill>
            <a:srgbClr val="E9EDE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4078224"/>
            <a:ext cx="987552" cy="50292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2920" y="4078224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673352" y="4078224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POV agent answers the quarterly question with the county, the twelve practices, the interval and a link back to the encounters behind every number.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640580"/>
            <a:ext cx="11183112" cy="50292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4640580"/>
            <a:ext cx="987552" cy="50292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02920" y="464058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L6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673352" y="4640580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cohorts leave the gate: twelve practices for contracting and quality outreach, and 4,100 patients with open measures, ten percent held back as control.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202936"/>
            <a:ext cx="11183112" cy="502920"/>
          </a:xfrm>
          <a:prstGeom prst="rect">
            <a:avLst/>
          </a:prstGeom>
          <a:solidFill>
            <a:srgbClr val="E9EDEB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5202936"/>
            <a:ext cx="987552" cy="50292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02920" y="5202936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L7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673352" y="5202936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measured against the holdout at ninety days. SME sign off recorded before send. The whole chain replays from the source rows on request.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760720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9" name="Shape 37"/>
          <p:cNvSpPr/>
          <p:nvPr/>
        </p:nvSpPr>
        <p:spPr>
          <a:xfrm>
            <a:off x="704088" y="5934456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5760720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County cardiology, first in the ranked list. The same query produces the next forty rows, and the GROW quadrant says where the steered volume should go.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make this wrong, and what stops 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544068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1664208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1581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18470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differences that are really case mix differences.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2103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adjustment, matched peer groups, published intervals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444752"/>
            <a:ext cx="544068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088" y="1664208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56832" y="1581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denominators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18470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with two patients looks catastrophic or perfect.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656832" y="2103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volume floor plus empirical Bayes shrinkage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542032"/>
            <a:ext cx="544068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2761488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run 30 to 90 days behind, so a gap may already be closed.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3200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indices, and the lag stated on every answer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542032"/>
            <a:ext cx="544068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9088" y="2761488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56832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 disputes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56832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parties both claim, or both disclaim, the same patient.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3200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versioned rule per service line, agreed before build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3639312"/>
            <a:ext cx="544068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" y="3858768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776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failure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4041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failure that looks exactly like a business gap.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4297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rate published next to every gap, every time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639312"/>
            <a:ext cx="544068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9088" y="3858768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56832" y="3776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abrasion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56832" y="4041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clinicians creates legal and relationship exposure.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656832" y="4297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ranking, review gate, no public league table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4736592"/>
            <a:ext cx="544068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704088" y="4956048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1832" y="4873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 exposure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" y="5138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detail reaching a model endpoint or an unapproved channel.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941832" y="5394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covered endpoints, de-identified by default, consent gate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4736592"/>
            <a:ext cx="5440680" cy="969264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5" name="Shape 43"/>
          <p:cNvSpPr/>
          <p:nvPr/>
        </p:nvSpPr>
        <p:spPr>
          <a:xfrm>
            <a:off x="6419088" y="4956048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656832" y="4873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fatigue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656832" y="5138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cohort contacted by three teams in one month.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656832" y="5394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list and contact frequency caps in the graph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59436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design decision taken before build, not a caveat added after the first review.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52144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02336"/>
            <a:ext cx="9326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months, five evidence gates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0" y="39319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A1A1A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0" y="39319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2212848" cy="512064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" y="144475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4447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to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1956816"/>
            <a:ext cx="2212848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" y="2414016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inventory, attribution and peer group rules agreed, ontology draft, identity baseline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315968"/>
            <a:ext cx="2212848" cy="1078992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" y="44074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match rate at or above the agreed floor, attribution rule signed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25496" y="1444752"/>
            <a:ext cx="2212848" cy="5120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953512" y="144475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557016" y="14447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 to 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25496" y="1956816"/>
            <a:ext cx="2212848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71800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and signals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2414016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loaded with SHACL, care subgraph at production scale, indices as traversals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25496" y="4315968"/>
            <a:ext cx="2212848" cy="1078992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971800" y="44074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index parity with the analytics team's own numbers, inside tolerance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48072" y="1444752"/>
            <a:ext cx="2212848" cy="5120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76088" y="144475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879592" y="14447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 to 11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48072" y="1956816"/>
            <a:ext cx="2212848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94376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engines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94376" y="2414016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gap engines, the quadrant, statistical guardrails and lineage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48072" y="4315968"/>
            <a:ext cx="2212848" cy="1078992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94376" y="44074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clinical SME review of a flagged sample, shrinkage and intervals validated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70648" y="1444752"/>
            <a:ext cx="2212848" cy="512064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598664" y="144475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202168" y="14447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 to 14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70648" y="1956816"/>
            <a:ext cx="2212848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616952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and eval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616952" y="2414016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retrieval, three agents in Agentforce and Slack via MCP, gold set baseline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70648" y="4315968"/>
            <a:ext cx="2212848" cy="1078992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616952" y="44074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accuracy at or above the agreed baseline on the gold set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793224" y="1444752"/>
            <a:ext cx="2212848" cy="512064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921240" y="144475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524744" y="14447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 to 17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793224" y="1956816"/>
            <a:ext cx="2212848" cy="2286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939528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9939528" y="2414016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builder, consent gate, holdout design, write back, first campaign in flight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793224" y="4315968"/>
            <a:ext cx="2212848" cy="1078992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939528" y="44074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holdout defined pre send, compliance sign off, scorecard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" y="5742432"/>
            <a:ext cx="11183112" cy="475488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50" name="Shape 48"/>
          <p:cNvSpPr/>
          <p:nvPr/>
        </p:nvSpPr>
        <p:spPr>
          <a:xfrm>
            <a:off x="704088" y="5916168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41832" y="5742432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are evidence, not opinion, which is what de-risked the first engagement. A gate that cannot be evidenced moves the date rather than the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109728"/>
            <a:ext cx="2468880" cy="246888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GET, AND WHAT WE NEED TO DECIDE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we can do it on the same graph. Here is what it returns.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532120" cy="2542032"/>
          </a:xfrm>
          <a:prstGeom prst="rect">
            <a:avLst/>
          </a:prstGeom>
          <a:solidFill>
            <a:srgbClr val="16161C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" y="2249424"/>
            <a:ext cx="118872" cy="11887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6696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257860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✓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lineage backed gap list that survives a contracting conversation</a:t>
            </a:r>
            <a:endParaRPr lang="en-US" sz="1100" dirty="0"/>
          </a:p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✓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answer market and provider questions with node level citations</a:t>
            </a:r>
            <a:endParaRPr lang="en-US" sz="1100" dirty="0"/>
          </a:p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✓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whose lift is measured against a holdout, not asserted</a:t>
            </a:r>
            <a:endParaRPr lang="en-US" sz="1100" dirty="0"/>
          </a:p>
          <a:p>
            <a:pPr marL="342900" indent="-342900">
              <a:lnSpc>
                <a:spcPct val="106000"/>
              </a:lnSpc>
              <a:spcAft>
                <a:spcPts val="1100"/>
              </a:spcAft>
              <a:buSzPct val="100000"/>
              <a:buChar char="✓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use case proving the graph, with the evaluation asset reused not rebuilt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376672" cy="2542032"/>
          </a:xfrm>
          <a:prstGeom prst="rect">
            <a:avLst/>
          </a:prstGeom>
          <a:solidFill>
            <a:srgbClr val="16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6547104" y="2249424"/>
            <a:ext cx="118872" cy="11887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03136" y="2176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week one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03136" y="2578608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attribution rule, and by when?</a:t>
            </a:r>
            <a:endParaRPr lang="en-US" sz="11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model: buy the standard grouper or build internally?</a:t>
            </a:r>
            <a:endParaRPr lang="en-US" sz="11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endpoints are BAA covered today?</a:t>
            </a:r>
            <a:endParaRPr lang="en-US" sz="11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is the consent store of record?</a:t>
            </a:r>
            <a:endParaRPr lang="en-US" sz="11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off a cohort before it is sent?</a:t>
            </a:r>
            <a:endParaRPr lang="en-US" sz="110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D8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policy on naming individual clinicians internally?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882896"/>
            <a:ext cx="11183112" cy="18288"/>
          </a:xfrm>
          <a:prstGeom prst="rect">
            <a:avLst/>
          </a:prstGeom>
          <a:solidFill>
            <a:srgbClr val="3A3A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5084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InsightGlobal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5102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your IG partner directly or at insightglobal.com.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51023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Insight Global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190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Global Labs  ·  Solution 2 design  ·  Confidential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863072" y="6419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Insight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and Provider Gap Intelligence</dc:title>
  <dc:subject>PptxGenJS Presentation</dc:subject>
  <dc:creator>Insight Global Labs</dc:creator>
  <cp:lastModifiedBy>Insight Global Labs</cp:lastModifiedBy>
  <cp:revision>1</cp:revision>
  <dcterms:created xsi:type="dcterms:W3CDTF">2026-09-21T11:45:04Z</dcterms:created>
  <dcterms:modified xsi:type="dcterms:W3CDTF">2026-09-21T11:45:04Z</dcterms:modified>
</cp:coreProperties>
</file>