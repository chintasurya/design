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4"/>
    <p:sldMasterId id="2147483776" r:id="rId5"/>
  </p:sldMasterIdLst>
  <p:notesMasterIdLst>
    <p:notesMasterId r:id="rId7"/>
  </p:notesMasterIdLst>
  <p:sldIdLst>
    <p:sldId id="321" r:id="rId6"/>
  </p:sldIdLst>
  <p:sldSz cx="7772400" cy="100584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 Cornick" initials="SC" lastIdx="1" clrIdx="0">
    <p:extLst>
      <p:ext uri="{19B8F6BF-5375-455C-9EA6-DF929625EA0E}">
        <p15:presenceInfo xmlns:p15="http://schemas.microsoft.com/office/powerpoint/2012/main" userId="S::Scott.Cornick@InsightGlobal.com::ea8377ca-400b-4c72-a422-cd53092e4f46" providerId="AD"/>
      </p:ext>
    </p:extLst>
  </p:cmAuthor>
  <p:cmAuthor id="2" name="Jason Heath" initials="JH" lastIdx="1" clrIdx="1">
    <p:extLst>
      <p:ext uri="{19B8F6BF-5375-455C-9EA6-DF929625EA0E}">
        <p15:presenceInfo xmlns:p15="http://schemas.microsoft.com/office/powerpoint/2012/main" userId="Jason Heat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2D2"/>
    <a:srgbClr val="55E13A"/>
    <a:srgbClr val="00D6F2"/>
    <a:srgbClr val="00293D"/>
    <a:srgbClr val="F2F2F2"/>
    <a:srgbClr val="00283C"/>
    <a:srgbClr val="203C00"/>
    <a:srgbClr val="00301E"/>
    <a:srgbClr val="FDF2D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0E2A7-FC82-4874-ACFD-8FA137D88DFB}" v="6" dt="2026-07-28T20:20:31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0"/>
    <p:restoredTop sz="95860" autoAdjust="0"/>
  </p:normalViewPr>
  <p:slideViewPr>
    <p:cSldViewPr snapToGrid="0">
      <p:cViewPr>
        <p:scale>
          <a:sx n="120" d="100"/>
          <a:sy n="120" d="100"/>
        </p:scale>
        <p:origin x="954" y="-12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 Mroz" userId="d06e8338-68b8-4742-8068-a53a7648ad77" providerId="ADAL" clId="{53FF0788-FFEA-4AC0-A08A-5977A3A75313}"/>
    <pc:docChg chg="modSld">
      <pc:chgData name="Brad Mroz" userId="d06e8338-68b8-4742-8068-a53a7648ad77" providerId="ADAL" clId="{53FF0788-FFEA-4AC0-A08A-5977A3A75313}" dt="2026-07-28T20:20:31.837" v="3" actId="164"/>
      <pc:docMkLst>
        <pc:docMk/>
      </pc:docMkLst>
      <pc:sldChg chg="addSp modSp">
        <pc:chgData name="Brad Mroz" userId="d06e8338-68b8-4742-8068-a53a7648ad77" providerId="ADAL" clId="{53FF0788-FFEA-4AC0-A08A-5977A3A75313}" dt="2026-07-28T20:20:31.837" v="3" actId="164"/>
        <pc:sldMkLst>
          <pc:docMk/>
          <pc:sldMk cId="3522545653" sldId="321"/>
        </pc:sldMkLst>
        <pc:spChg chg="mod">
          <ac:chgData name="Brad Mroz" userId="d06e8338-68b8-4742-8068-a53a7648ad77" providerId="ADAL" clId="{53FF0788-FFEA-4AC0-A08A-5977A3A75313}" dt="2026-07-28T20:20:31.837" v="3" actId="164"/>
          <ac:spMkLst>
            <pc:docMk/>
            <pc:sldMk cId="3522545653" sldId="321"/>
            <ac:spMk id="16" creationId="{5D143BA4-88AB-95A1-FEBB-9E55BC574461}"/>
          </ac:spMkLst>
        </pc:spChg>
        <pc:spChg chg="add mod">
          <ac:chgData name="Brad Mroz" userId="d06e8338-68b8-4742-8068-a53a7648ad77" providerId="ADAL" clId="{53FF0788-FFEA-4AC0-A08A-5977A3A75313}" dt="2026-07-28T20:20:31.837" v="3" actId="164"/>
          <ac:spMkLst>
            <pc:docMk/>
            <pc:sldMk cId="3522545653" sldId="321"/>
            <ac:spMk id="17" creationId="{EB090188-7C02-7F74-E1F9-8729B4784ABF}"/>
          </ac:spMkLst>
        </pc:spChg>
        <pc:spChg chg="add mod">
          <ac:chgData name="Brad Mroz" userId="d06e8338-68b8-4742-8068-a53a7648ad77" providerId="ADAL" clId="{53FF0788-FFEA-4AC0-A08A-5977A3A75313}" dt="2026-07-28T20:20:31.837" v="3" actId="164"/>
          <ac:spMkLst>
            <pc:docMk/>
            <pc:sldMk cId="3522545653" sldId="321"/>
            <ac:spMk id="18" creationId="{E0B24C04-9DE2-09D5-E0E1-25E824E91815}"/>
          </ac:spMkLst>
        </pc:spChg>
        <pc:grpChg chg="add mod">
          <ac:chgData name="Brad Mroz" userId="d06e8338-68b8-4742-8068-a53a7648ad77" providerId="ADAL" clId="{53FF0788-FFEA-4AC0-A08A-5977A3A75313}" dt="2026-07-28T20:20:31.837" v="3" actId="164"/>
          <ac:grpSpMkLst>
            <pc:docMk/>
            <pc:sldMk cId="3522545653" sldId="321"/>
            <ac:grpSpMk id="19" creationId="{9DE165D3-0707-88C0-BF36-8E5F3566E13C}"/>
          </ac:grpSpMkLst>
        </pc:grpChg>
        <pc:picChg chg="mod">
          <ac:chgData name="Brad Mroz" userId="d06e8338-68b8-4742-8068-a53a7648ad77" providerId="ADAL" clId="{53FF0788-FFEA-4AC0-A08A-5977A3A75313}" dt="2026-07-28T20:20:31.837" v="3" actId="164"/>
          <ac:picMkLst>
            <pc:docMk/>
            <pc:sldMk cId="3522545653" sldId="321"/>
            <ac:picMk id="15" creationId="{53580EF9-F448-3BEC-0BB1-D29CE094793F}"/>
          </ac:picMkLst>
        </pc:picChg>
      </pc:sldChg>
      <pc:sldChg chg="addSp modSp">
        <pc:chgData name="Brad Mroz" userId="d06e8338-68b8-4742-8068-a53a7648ad77" providerId="ADAL" clId="{53FF0788-FFEA-4AC0-A08A-5977A3A75313}" dt="2026-07-28T20:15:11.928" v="0"/>
        <pc:sldMkLst>
          <pc:docMk/>
          <pc:sldMk cId="2925094131" sldId="322"/>
        </pc:sldMkLst>
        <pc:spChg chg="mod">
          <ac:chgData name="Brad Mroz" userId="d06e8338-68b8-4742-8068-a53a7648ad77" providerId="ADAL" clId="{53FF0788-FFEA-4AC0-A08A-5977A3A75313}" dt="2026-07-28T20:15:11.928" v="0"/>
          <ac:spMkLst>
            <pc:docMk/>
            <pc:sldMk cId="2925094131" sldId="322"/>
            <ac:spMk id="14" creationId="{A5407202-9793-6327-4186-EACA2AFEFA28}"/>
          </ac:spMkLst>
        </pc:spChg>
        <pc:spChg chg="mod">
          <ac:chgData name="Brad Mroz" userId="d06e8338-68b8-4742-8068-a53a7648ad77" providerId="ADAL" clId="{53FF0788-FFEA-4AC0-A08A-5977A3A75313}" dt="2026-07-28T20:15:11.928" v="0"/>
          <ac:spMkLst>
            <pc:docMk/>
            <pc:sldMk cId="2925094131" sldId="322"/>
            <ac:spMk id="15" creationId="{DB3D8D85-0B59-2C17-3441-689D528B809A}"/>
          </ac:spMkLst>
        </pc:spChg>
        <pc:grpChg chg="add mod">
          <ac:chgData name="Brad Mroz" userId="d06e8338-68b8-4742-8068-a53a7648ad77" providerId="ADAL" clId="{53FF0788-FFEA-4AC0-A08A-5977A3A75313}" dt="2026-07-28T20:15:11.928" v="0"/>
          <ac:grpSpMkLst>
            <pc:docMk/>
            <pc:sldMk cId="2925094131" sldId="322"/>
            <ac:grpSpMk id="4" creationId="{25BEA411-169B-7C0B-22E8-362D0F52AF76}"/>
          </ac:grpSpMkLst>
        </pc:grpChg>
        <pc:picChg chg="mod">
          <ac:chgData name="Brad Mroz" userId="d06e8338-68b8-4742-8068-a53a7648ad77" providerId="ADAL" clId="{53FF0788-FFEA-4AC0-A08A-5977A3A75313}" dt="2026-07-28T20:15:11.928" v="0"/>
          <ac:picMkLst>
            <pc:docMk/>
            <pc:sldMk cId="2925094131" sldId="322"/>
            <ac:picMk id="13" creationId="{F76DBA20-BD04-8639-B49D-5A599476D856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252F4-4ADB-40FE-A9C2-EEC8F8237A9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1162050"/>
            <a:ext cx="242252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436EA-93E1-4EB3-B26E-E064D7B1C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69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4" Type="http://schemas.openxmlformats.org/officeDocument/2006/relationships/hyperlink" Target="mailto:Brad.Mroz@InsightGlobal.com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 sz="2200">
                    <a:solidFill>
                      <a:srgbClr val="00283C"/>
                    </a:solidFill>
                    <a:latin typeface="Trenda IG Text Bold"/>
                    <a:ea typeface="Trenda IG Text Bold"/>
                    <a:cs typeface="Trenda IG Text Bold"/>
                    <a:sym typeface="Trenda IG Text Bold"/>
                  </a:defRPr>
                </a:pPr>
                <a:r>
                  <a:rPr kumimoji="0" lang="en-US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83C"/>
                    </a:solidFill>
                    <a:effectLst/>
                    <a:uLnTx/>
                    <a:uFillTx/>
                    <a:latin typeface="+mn-lt"/>
                    <a:sym typeface="Trenda IG Text Bold"/>
                  </a:rPr>
                  <a:t>𝑯𝒐𝒘 𝒕𝒐 𝑪𝒐𝒏𝒏𝒆𝒄𝒕 𝒀𝒐𝒖𝒓 𝑫𝒂𝒕𝒂𝒃𝒓𝒊𝒄𝒌𝒔 𝑪𝒆𝒓𝒕𝒊𝒇𝒊𝒄𝒂𝒕𝒊𝒐𝒏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83C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𝐸𝑚𝑎𝑖𝑙</a:t>
                </a:r>
                <a:r>
                  <a:rPr lang="en-US" sz="2400" i="0" dirty="0">
                    <a:solidFill>
                      <a:srgbClr val="00283C"/>
                    </a:solidFill>
                    <a:latin typeface="+mn-lt"/>
                  </a:rPr>
                  <a:t> </a:t>
                </a:r>
                <a:r>
                  <a:rPr lang="en-US" sz="2400" b="1" i="0" dirty="0">
                    <a:solidFill>
                      <a:srgbClr val="00283C"/>
                    </a:solidFill>
                    <a:latin typeface="+mn-lt"/>
                    <a:hlinkClick r:id="rId4"/>
                  </a:rPr>
                  <a:t>𝑩𝒓𝒂𝒅.𝑴𝒓𝒐𝒛@𝑰𝒏𝒔𝒊𝒈𝒉𝒕𝑮𝒍𝒐𝒃𝒂𝒍.𝒄𝒐𝒎</a:t>
                </a:r>
                <a:r>
                  <a:rPr lang="en-US" sz="2400" b="1" i="0" dirty="0">
                    <a:solidFill>
                      <a:srgbClr val="00283C"/>
                    </a:solidFill>
                    <a:latin typeface="+mn-lt"/>
                  </a:rPr>
                  <a:t>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83C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𝑡ℎ𝑒 𝑓𝑜𝑙𝑙𝑜𝑤𝑖𝑛𝑔:</a:t>
                </a:r>
              </a:p>
              <a:p>
                <a:pPr marL="171450" marR="0" lvl="0" indent="-171450" algn="l" defTabSz="914400" rtl="0" eaLnBrk="1" fontAlgn="base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83C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𝑺𝒖𝒃𝒋𝒆𝒄𝒕 𝑳𝒊𝒏𝒆: 𝑫𝒂𝒕𝒂𝒃𝒓𝒊𝒄𝒌𝒔 𝑪𝒐𝒏𝒔𝒖𝒍𝒕𝒂𝒏𝒕 𝑪𝒆𝒓𝒕𝒊𝒇𝒊𝒄𝒂𝒕𝒊𝒐𝒏</a:t>
                </a:r>
              </a:p>
              <a:p>
                <a:pPr marL="171450" marR="0" lvl="0" indent="-171450" algn="l" defTabSz="914400" rtl="0" eaLnBrk="1" fontAlgn="base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83C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𝐻𝑖, [𝐹𝑖𝑟𝑠𝑡 𝑁𝑎𝑚𝑒] [𝐿𝑎𝑠𝑡 𝑁𝑎𝑚𝑒] ℎ𝑎𝑠 𝑐𝑜𝑚𝑝𝑙𝑒𝑡𝑒𝑑 𝑡ℎ𝑒𝑖𝑟 [𝐷𝑎𝑡𝑎𝑏𝑟𝑖𝑐𝑘𝑠 𝑐𝑒𝑟𝑡𝑖𝑓𝑖𝑐𝑎𝑡𝑖𝑜𝑛 𝑛𝑎𝑚𝑒]. 𝐻𝑒𝑟𝑒 𝑖𝑠 𝑡ℎ𝑒𝑖𝑟 𝑐𝑒𝑟𝑡𝑖𝑓𝑖𝑐𝑎𝑡𝑖𝑜𝑛 # [𝐷𝑎𝑡𝑎𝑏𝑟𝑖𝑐𝑘𝑠 𝑐𝑒𝑟𝑡𝑖𝑓𝑖𝑐𝑎𝑡𝑖𝑜𝑛 𝑛𝑢𝑚𝑏𝑒𝑟] 𝑎𝑛𝑑 𝑎 𝑠𝑐𝑟𝑒𝑒𝑛𝑠ℎ𝑜𝑡 𝑏𝑒𝑙𝑜𝑤: [𝑖𝑛𝑠𝑒𝑟𝑡 𝑠𝑐𝑟𝑒𝑒𝑛𝑠ℎ𝑜𝑡] </a:t>
                </a:r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436EA-93E1-4EB3-B26E-E064D7B1C5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9278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892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B847-AA49-4C3F-8646-9962190C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20" y="534989"/>
            <a:ext cx="6485022" cy="308292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586FF2-B1E9-4683-6AA8-3B4E400599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7920" y="842963"/>
            <a:ext cx="6485022" cy="85407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8C54E02-4236-B747-631F-1B0BCF3701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920" y="2028507"/>
            <a:ext cx="6485022" cy="854075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1DF126C-F9E6-BEE5-150E-6BDB2D397B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920" y="1823711"/>
            <a:ext cx="6485022" cy="165303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latin typeface="Trenda IG Text Bold" pitchFamily="2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AE8E3B1D-1288-7ECC-80CB-88D5DC38CCE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920" y="3574517"/>
            <a:ext cx="3267801" cy="2133800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51F7F6E-3839-6390-7640-44ACD10E1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920" y="3345755"/>
            <a:ext cx="3267802" cy="166992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latin typeface="Trenda IG Text Bold" pitchFamily="2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E06071-64FB-391B-D4BF-5D1BC24FAC56}"/>
              </a:ext>
            </a:extLst>
          </p:cNvPr>
          <p:cNvCxnSpPr>
            <a:cxnSpLocks/>
          </p:cNvCxnSpPr>
          <p:nvPr userDrawn="1"/>
        </p:nvCxnSpPr>
        <p:spPr>
          <a:xfrm>
            <a:off x="587920" y="5932960"/>
            <a:ext cx="6485022" cy="1817"/>
          </a:xfrm>
          <a:prstGeom prst="line">
            <a:avLst/>
          </a:prstGeom>
          <a:ln w="19050" cap="rnd">
            <a:solidFill>
              <a:srgbClr val="00293D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942E1F-FB9C-4D6C-0C66-DD3885D954E5}"/>
              </a:ext>
            </a:extLst>
          </p:cNvPr>
          <p:cNvCxnSpPr>
            <a:cxnSpLocks/>
          </p:cNvCxnSpPr>
          <p:nvPr userDrawn="1"/>
        </p:nvCxnSpPr>
        <p:spPr>
          <a:xfrm>
            <a:off x="587920" y="3125551"/>
            <a:ext cx="6485022" cy="1817"/>
          </a:xfrm>
          <a:prstGeom prst="line">
            <a:avLst/>
          </a:prstGeom>
          <a:ln w="19050" cap="rnd">
            <a:solidFill>
              <a:srgbClr val="00293D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B5C6CAD-1872-368F-2329-8CEC7BC93F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55676" y="3376629"/>
            <a:ext cx="1408113" cy="673777"/>
          </a:xfrm>
        </p:spPr>
        <p:txBody>
          <a:bodyPr>
            <a:noAutofit/>
          </a:bodyPr>
          <a:lstStyle>
            <a:lvl1pPr marL="0" indent="0">
              <a:buNone/>
              <a:defRPr sz="4800" b="0" i="0">
                <a:solidFill>
                  <a:srgbClr val="55E13A"/>
                </a:solidFill>
                <a:latin typeface="Trenda IG Display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19">
            <a:extLst>
              <a:ext uri="{FF2B5EF4-FFF2-40B4-BE49-F238E27FC236}">
                <a16:creationId xmlns:a16="http://schemas.microsoft.com/office/drawing/2014/main" id="{CF5D064C-C938-2E08-EB34-DF098D905E1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63746" y="3367687"/>
            <a:ext cx="1408113" cy="673777"/>
          </a:xfrm>
        </p:spPr>
        <p:txBody>
          <a:bodyPr>
            <a:noAutofit/>
          </a:bodyPr>
          <a:lstStyle>
            <a:lvl1pPr marL="0" indent="0">
              <a:buNone/>
              <a:defRPr sz="4800" b="0" i="0">
                <a:solidFill>
                  <a:srgbClr val="55E13A"/>
                </a:solidFill>
                <a:latin typeface="Trenda IG Display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19">
            <a:extLst>
              <a:ext uri="{FF2B5EF4-FFF2-40B4-BE49-F238E27FC236}">
                <a16:creationId xmlns:a16="http://schemas.microsoft.com/office/drawing/2014/main" id="{9FF349AB-0E31-AF88-982A-86A55A2739A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55676" y="4675300"/>
            <a:ext cx="1408113" cy="673777"/>
          </a:xfrm>
        </p:spPr>
        <p:txBody>
          <a:bodyPr>
            <a:noAutofit/>
          </a:bodyPr>
          <a:lstStyle>
            <a:lvl1pPr marL="0" indent="0">
              <a:buNone/>
              <a:defRPr sz="4800" b="0" i="0">
                <a:solidFill>
                  <a:srgbClr val="55E13A"/>
                </a:solidFill>
                <a:latin typeface="Trenda IG Display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C73BCABE-C828-3BA3-5067-ECE1FC2D3B0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663746" y="4666358"/>
            <a:ext cx="1408113" cy="673777"/>
          </a:xfrm>
        </p:spPr>
        <p:txBody>
          <a:bodyPr>
            <a:noAutofit/>
          </a:bodyPr>
          <a:lstStyle>
            <a:lvl1pPr marL="0" indent="0">
              <a:buNone/>
              <a:defRPr sz="4800" b="0" i="0">
                <a:solidFill>
                  <a:srgbClr val="55E13A"/>
                </a:solidFill>
                <a:latin typeface="Trenda IG Display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9">
            <a:extLst>
              <a:ext uri="{FF2B5EF4-FFF2-40B4-BE49-F238E27FC236}">
                <a16:creationId xmlns:a16="http://schemas.microsoft.com/office/drawing/2014/main" id="{41C69F17-801E-FAFE-A604-DAF4B9AE8FB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055676" y="4104417"/>
            <a:ext cx="1408113" cy="256181"/>
          </a:xfrm>
        </p:spPr>
        <p:txBody>
          <a:bodyPr>
            <a:noAutofit/>
          </a:bodyPr>
          <a:lstStyle>
            <a:lvl1pPr marL="0" indent="0">
              <a:buNone/>
              <a:defRPr sz="1050" b="0" i="0">
                <a:solidFill>
                  <a:srgbClr val="55E13A"/>
                </a:solidFill>
                <a:latin typeface="Trenda IG Display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9">
            <a:extLst>
              <a:ext uri="{FF2B5EF4-FFF2-40B4-BE49-F238E27FC236}">
                <a16:creationId xmlns:a16="http://schemas.microsoft.com/office/drawing/2014/main" id="{5F277A38-0411-0F92-6CBE-809205B22C43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663746" y="4095475"/>
            <a:ext cx="1408113" cy="256181"/>
          </a:xfrm>
        </p:spPr>
        <p:txBody>
          <a:bodyPr>
            <a:noAutofit/>
          </a:bodyPr>
          <a:lstStyle>
            <a:lvl1pPr marL="0" indent="0">
              <a:buNone/>
              <a:defRPr sz="1050" b="0" i="0">
                <a:solidFill>
                  <a:srgbClr val="55E13A"/>
                </a:solidFill>
                <a:latin typeface="Trenda IG Display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9">
            <a:extLst>
              <a:ext uri="{FF2B5EF4-FFF2-40B4-BE49-F238E27FC236}">
                <a16:creationId xmlns:a16="http://schemas.microsoft.com/office/drawing/2014/main" id="{8DF74E58-3179-7056-7D37-DA4F1E7B46D7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055676" y="5403088"/>
            <a:ext cx="1408113" cy="256181"/>
          </a:xfrm>
        </p:spPr>
        <p:txBody>
          <a:bodyPr>
            <a:noAutofit/>
          </a:bodyPr>
          <a:lstStyle>
            <a:lvl1pPr marL="0" indent="0">
              <a:buNone/>
              <a:defRPr sz="1050" b="0" i="0">
                <a:solidFill>
                  <a:srgbClr val="55E13A"/>
                </a:solidFill>
                <a:latin typeface="Trenda IG Display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19">
            <a:extLst>
              <a:ext uri="{FF2B5EF4-FFF2-40B4-BE49-F238E27FC236}">
                <a16:creationId xmlns:a16="http://schemas.microsoft.com/office/drawing/2014/main" id="{6DD346B6-5862-23C5-FB89-002DAD786DE0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663746" y="5394146"/>
            <a:ext cx="1408113" cy="256181"/>
          </a:xfrm>
        </p:spPr>
        <p:txBody>
          <a:bodyPr>
            <a:noAutofit/>
          </a:bodyPr>
          <a:lstStyle>
            <a:lvl1pPr marL="0" indent="0">
              <a:buNone/>
              <a:defRPr sz="1050" b="0" i="0">
                <a:solidFill>
                  <a:srgbClr val="55E13A"/>
                </a:solidFill>
                <a:latin typeface="Trenda IG Display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7">
            <a:extLst>
              <a:ext uri="{FF2B5EF4-FFF2-40B4-BE49-F238E27FC236}">
                <a16:creationId xmlns:a16="http://schemas.microsoft.com/office/drawing/2014/main" id="{94AFCFF2-5D69-0F4F-9140-E47D7846A7D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87920" y="6369734"/>
            <a:ext cx="1912683" cy="19135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6D71246-1D0A-5D37-9C18-5A66A37058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7920" y="6140972"/>
            <a:ext cx="3267802" cy="166992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latin typeface="Trenda IG Text Bold" pitchFamily="2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0" name="Content Placeholder 7">
            <a:extLst>
              <a:ext uri="{FF2B5EF4-FFF2-40B4-BE49-F238E27FC236}">
                <a16:creationId xmlns:a16="http://schemas.microsoft.com/office/drawing/2014/main" id="{1C4C6F08-3D4D-1266-7320-A319931FB3E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873549" y="6369734"/>
            <a:ext cx="1912682" cy="19135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7">
            <a:extLst>
              <a:ext uri="{FF2B5EF4-FFF2-40B4-BE49-F238E27FC236}">
                <a16:creationId xmlns:a16="http://schemas.microsoft.com/office/drawing/2014/main" id="{61102D10-AA1D-4633-33AB-C8D0B27D553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159177" y="6369734"/>
            <a:ext cx="1912682" cy="19135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615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2177-E46B-59E6-64A6-68464A60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25" y="2508250"/>
            <a:ext cx="6704013" cy="4183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4901A-A86A-4344-0317-100C7863F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225" y="6731000"/>
            <a:ext cx="6704013" cy="22002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6C472-FD3F-F089-FC93-B1C0BEB9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092BC-ADCF-7C14-B1F5-679EE2B5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A0E82-80FE-B89A-3028-F5E4AC784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C2B8B-29AF-BDA5-64EF-240D5A86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B514-E0F4-6FA2-CB6B-503D09F82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988" y="2678113"/>
            <a:ext cx="3275012" cy="638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28D89-18AA-BDB5-B993-3C55718BB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2400" y="2678113"/>
            <a:ext cx="3275013" cy="638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4441D-D0CF-6892-917B-805499D7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F2CAE-9783-0F4C-4B1A-B7187BA4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6FE3B-63CA-8904-A02B-C48EF455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9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DED8-2ACE-DF90-0702-1E22E023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8"/>
            <a:ext cx="6704012" cy="19446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577EE-D055-D39F-47AF-7D9257631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8" y="2465388"/>
            <a:ext cx="3287712" cy="1208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E5840-7FA7-6166-E62A-5ADEC7E3B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8" y="3673475"/>
            <a:ext cx="3287712" cy="5405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EACA9-977A-62ED-47C2-854717488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35413" y="2465388"/>
            <a:ext cx="3303587" cy="1208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A632F-3697-EC5A-E363-9BE00A162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935413" y="3673475"/>
            <a:ext cx="3303587" cy="5405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1F26CD-B3BE-82FF-0E80-1AD01E28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CE16B-BED1-082F-A7CE-FCCB11A8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183569-AF2E-1BA5-98FF-41B42D5C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8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56A6-0E88-3342-1046-DE3B6C9F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CA589-051C-531E-8754-2B1018169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6D69F-D8AB-CA7E-9066-DC8360FE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97BC7-4711-8609-BEB9-EDEA1569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66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463F1-00A8-E6B8-5A6C-EA72D607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CB40C9-0915-006E-967A-9165EDAB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58953-AD1E-B323-E6FB-4B675180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8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0BB7-B48C-2037-FF17-19BCD950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669925"/>
            <a:ext cx="2506662" cy="23479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E1914-EF4C-FBF9-6E04-9F4E0C0AB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3588" y="1447800"/>
            <a:ext cx="3935412" cy="71485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8D12D-D695-105E-DA6D-6BEC03E7C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988" y="3017838"/>
            <a:ext cx="2506662" cy="5589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70CFB-C2C7-3A5B-323F-BC808DC7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6A01A-595E-0036-3A1C-6A7EFCFB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BD23B-25CC-96AD-A258-901F6A26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02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1C64-2D34-EA6F-D7F4-879AC67A9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669925"/>
            <a:ext cx="2506662" cy="23479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8B5641-4D18-B12A-FE14-304D5A92F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03588" y="1447800"/>
            <a:ext cx="3935412" cy="71485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7935C-29B5-A400-83E9-614FAF91B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988" y="3017838"/>
            <a:ext cx="2506662" cy="5589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4689A-F690-D5D3-ECD1-3E647ED1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E9C87-7483-B068-B28F-ED5C77EC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C8D1D-3581-C88E-FE7F-4A1F8D71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1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01A7A-AEBA-3CE4-A91D-8FE4D9BE1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77F41-F7E8-CD08-6F59-79093D36F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175A1-B5E1-0D07-88ED-04E86320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2FC30-22BF-99EB-9DEA-945A81180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059D5-74B6-28DA-6707-1B4139B4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3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EEC80B-7242-9FD9-9683-227A387BFA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562600" y="534988"/>
            <a:ext cx="1674813" cy="8524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7586D-68C1-5922-8E24-7A6F8BA62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4988" y="534988"/>
            <a:ext cx="4875212" cy="8524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E0303-840F-078E-B200-78D8C0FD0B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0537A-EA2D-7C09-508D-0D667B51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F2DF-30DD-1067-CA7D-2E928C6D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69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3293C6-9538-BD1B-75F3-8816DF3D40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3623" y="9318250"/>
            <a:ext cx="1771554" cy="44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26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 Global - Evergreen Sales Enabl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0400C-272D-6430-8227-071F614B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9"/>
            <a:ext cx="6702425" cy="4635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40897-7A81-C297-CAAE-219ADAD75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988" y="3690307"/>
            <a:ext cx="6702425" cy="51962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AE4E2F-FDD0-96E1-ECE6-8B1DCACC63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3623" y="9318250"/>
            <a:ext cx="1771554" cy="44403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7D43092-E499-4339-5A3C-9D91303D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2826" y="9453588"/>
            <a:ext cx="3344399" cy="173355"/>
          </a:xfrm>
          <a:prstGeom prst="rect">
            <a:avLst/>
          </a:prstGeom>
        </p:spPr>
        <p:txBody>
          <a:bodyPr/>
          <a:lstStyle>
            <a:lvl1pPr algn="ctr">
              <a:defRPr sz="800"/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C9377D7-80C0-4F4E-0DED-B2685EB2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19800" y="9468828"/>
            <a:ext cx="1217613" cy="158115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endParaRPr lang="en-US" dirty="0">
              <a:solidFill>
                <a:srgbClr val="00283C"/>
              </a:solidFill>
              <a:latin typeface="Trenda IG Text" pitchFamily="2" charset="77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E50B17-90A9-3CEB-68BE-079E7A9779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56924"/>
            <a:ext cx="7772400" cy="2104462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FE73FF-CD9C-6EB0-48D8-DF8B221C07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4988" y="276602"/>
            <a:ext cx="6702425" cy="220469"/>
          </a:xfrm>
        </p:spPr>
        <p:txBody>
          <a:bodyPr/>
          <a:lstStyle>
            <a:lvl1pPr marL="0" indent="0">
              <a:buNone/>
              <a:defRPr b="1" i="0" spc="300">
                <a:latin typeface="Trenda IG Text Bold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1310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DA2C-4C6E-537F-AA55-A26B516F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25" y="2508250"/>
            <a:ext cx="6704013" cy="41830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3F0FC-E258-33D0-1B38-8E8148F2F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225" y="6731000"/>
            <a:ext cx="6704013" cy="2200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B112-FFCE-8B77-147C-8DC0DC0B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25C044B4-6605-0A4A-89CA-8F549CEC791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C5A0C-A8D7-A9C7-6C1D-BF0A570CC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1430F-2144-D792-9366-B75AB19E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80DF71DA-1814-374A-BC18-529D2FE7F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61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553E-9CE6-9A77-FC04-BF3F3781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8"/>
            <a:ext cx="6702425" cy="1944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B8AFE-03E4-BD8D-1737-75B7691C7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988" y="2678113"/>
            <a:ext cx="3275012" cy="6381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9C3CE-8220-A1CA-AAD7-DC8268B1B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2400" y="2678113"/>
            <a:ext cx="3275013" cy="6381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78792-7322-05A3-6C83-2853903F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25C044B4-6605-0A4A-89CA-8F549CEC791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CC6E2-28CA-50CD-C83A-C9AB8BDA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FE5E-6B25-F6A2-73FE-9C8693B2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80DF71DA-1814-374A-BC18-529D2FE7F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97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E44B-66F3-96CC-CD40-98D4A3EE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8"/>
            <a:ext cx="6704012" cy="1944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592F1-4B8E-539E-C148-46F347A5D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8" y="2465388"/>
            <a:ext cx="3287712" cy="12080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497ED-26A4-4A23-8CD8-38587E4B8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8" y="3673475"/>
            <a:ext cx="3287712" cy="5405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59267-2C46-FC00-BD43-9F34DFEA7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35413" y="2465388"/>
            <a:ext cx="3303587" cy="12080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59325-C161-EB0F-F00F-7866DBC8A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935413" y="3673475"/>
            <a:ext cx="3303587" cy="5405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E9D0F-3D1A-9B3E-C145-9D401DAC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25C044B4-6605-0A4A-89CA-8F549CEC791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9EB16-6A14-1AF8-677F-3861DE78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A168C-B684-1378-B165-807FDEA5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80DF71DA-1814-374A-BC18-529D2FE7F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991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31AC9-D3AF-CC2F-6ECD-1D5EB76A4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8"/>
            <a:ext cx="6702425" cy="1944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12FB5-8E62-D2CC-0D26-767B78ACE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8" y="2678113"/>
            <a:ext cx="6702425" cy="6381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31BAE-C791-D467-C317-E59D55DE7602}"/>
              </a:ext>
            </a:extLst>
          </p:cNvPr>
          <p:cNvSpPr/>
          <p:nvPr userDrawn="1"/>
        </p:nvSpPr>
        <p:spPr>
          <a:xfrm>
            <a:off x="4209411" y="9367216"/>
            <a:ext cx="2868722" cy="222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r">
              <a:lnSpc>
                <a:spcPts val="1840"/>
              </a:lnSpc>
            </a:pPr>
            <a:r>
              <a:rPr lang="en-US" sz="800" dirty="0">
                <a:solidFill>
                  <a:srgbClr val="00301E"/>
                </a:solidFill>
                <a:latin typeface="Trenda IG Text" pitchFamily="2" charset="77"/>
                <a:ea typeface="STIXGeneral" pitchFamily="2" charset="2"/>
                <a:cs typeface="STIXGeneral" pitchFamily="2" charset="2"/>
              </a:rPr>
              <a:t>Connect with your IG partner directly or at </a:t>
            </a:r>
            <a:r>
              <a:rPr lang="en-US" sz="800" u="sng" dirty="0" err="1">
                <a:solidFill>
                  <a:srgbClr val="00301E"/>
                </a:solidFill>
                <a:latin typeface="Trenda IG Text" pitchFamily="2" charset="77"/>
                <a:ea typeface="STIXGeneral" pitchFamily="2" charset="2"/>
                <a:cs typeface="STIXGeneral" pitchFamily="2" charset="2"/>
              </a:rPr>
              <a:t>igevergreen.com</a:t>
            </a:r>
            <a:endParaRPr lang="en-US" sz="800" u="sng" dirty="0">
              <a:solidFill>
                <a:srgbClr val="00301E"/>
              </a:solidFill>
              <a:latin typeface="Trenda IG Text" pitchFamily="2" charset="77"/>
              <a:ea typeface="STIXGeneral" pitchFamily="2" charset="2"/>
              <a:cs typeface="STIXGeneral" pitchFamily="2" charset="2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C068B-914E-D805-53DE-3A4EBF5721C3}"/>
              </a:ext>
            </a:extLst>
          </p:cNvPr>
          <p:cNvCxnSpPr>
            <a:cxnSpLocks/>
          </p:cNvCxnSpPr>
          <p:nvPr userDrawn="1"/>
        </p:nvCxnSpPr>
        <p:spPr>
          <a:xfrm>
            <a:off x="618400" y="9150245"/>
            <a:ext cx="6485022" cy="1817"/>
          </a:xfrm>
          <a:prstGeom prst="line">
            <a:avLst/>
          </a:prstGeom>
          <a:ln w="19050" cap="rnd">
            <a:solidFill>
              <a:srgbClr val="00293D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1FC98CE-0422-EABB-77CD-F7DA8F94B48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79713" y="9336158"/>
            <a:ext cx="2126261" cy="36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0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293D"/>
          </a:solidFill>
          <a:latin typeface="Trenda IG Display 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renda IG Tex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renda IG Tex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renda IG Tex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renda IG Tex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renda IG Tex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C54DE70-FEDF-73C9-3D57-678E121B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8"/>
            <a:ext cx="6702425" cy="1944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796688-49DC-1EFB-DFB6-E54C35B9E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8" y="2678113"/>
            <a:ext cx="6702425" cy="6381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9116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293D"/>
          </a:solidFill>
          <a:latin typeface="Trenda IG Display 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000" b="0" i="0" kern="1200">
          <a:solidFill>
            <a:srgbClr val="00293D"/>
          </a:solidFill>
          <a:latin typeface="Trenda IG Tex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rgbClr val="00293D"/>
          </a:solidFill>
          <a:latin typeface="Trenda IG Tex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rgbClr val="00293D"/>
          </a:solidFill>
          <a:latin typeface="Trenda IG Tex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rgbClr val="00293D"/>
          </a:solidFill>
          <a:latin typeface="Trenda IG Tex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rgbClr val="00293D"/>
          </a:solidFill>
          <a:latin typeface="Trenda IG Tex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hyperlink" Target="skillbuilder.aws" TargetMode="External"/><Relationship Id="rId4" Type="http://schemas.openxmlformats.org/officeDocument/2006/relationships/hyperlink" Target="insightglobal.com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hyperlink" Target="https://trailhead.salesforce.com/credentia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968204B-0073-AC59-7E63-29A891F3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19800" y="9451973"/>
            <a:ext cx="1217613" cy="158115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>©2026 Insight Global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DB36EF-71BD-D1C5-3AFE-873A56AA9D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4988" y="334857"/>
            <a:ext cx="6702425" cy="220469"/>
          </a:xfrm>
        </p:spPr>
        <p:txBody>
          <a:bodyPr>
            <a:normAutofit/>
          </a:bodyPr>
          <a:lstStyle/>
          <a:p>
            <a:r>
              <a:rPr lang="en-US" sz="900" dirty="0"/>
              <a:t>INSIGHT GLOBAL CONSULTING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86D30-710F-E758-B1E1-9D5C091398E8}"/>
              </a:ext>
            </a:extLst>
          </p:cNvPr>
          <p:cNvSpPr txBox="1"/>
          <p:nvPr/>
        </p:nvSpPr>
        <p:spPr>
          <a:xfrm>
            <a:off x="534987" y="658414"/>
            <a:ext cx="6949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7200">
                <a:solidFill>
                  <a:srgbClr val="00283C"/>
                </a:solidFill>
                <a:latin typeface="Trenda IG Display ExtraLight"/>
                <a:ea typeface="Trenda IG Display ExtraLight"/>
                <a:cs typeface="Trenda IG Display ExtraLight"/>
                <a:sym typeface="Trenda IG Display ExtraLight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nda IG Display Bold" pitchFamily="2" charset="77"/>
                <a:sym typeface="Trenda IG Display ExtraLight"/>
              </a:rPr>
              <a:t>Salesforce Certification Linking: How-To Guide</a:t>
            </a:r>
          </a:p>
        </p:txBody>
      </p:sp>
      <p:pic>
        <p:nvPicPr>
          <p:cNvPr id="11" name="Picture 10" descr="shot_academ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65296"/>
            <a:ext cx="6675120" cy="18240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shot_compan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787175"/>
            <a:ext cx="6675120" cy="1416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Body 1">
            <a:extLst>
              <a:ext uri="{FF2B5EF4-FFF2-40B4-BE49-F238E27FC236}">
                <a16:creationId xmlns:a16="http://schemas.microsoft.com/office/drawing/2014/main" id="{903F5234-E5C6-C1D0-CBFF-F1FE3976A210}"/>
              </a:ext>
            </a:extLst>
          </p:cNvPr>
          <p:cNvSpPr txBox="1"/>
          <p:nvPr/>
        </p:nvSpPr>
        <p:spPr>
          <a:xfrm>
            <a:off x="594360" y="1115568"/>
            <a:ext cx="6940296" cy="254000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spcAft>
                <a:spcPts val="600"/>
              </a:spcAft>
              <a:defRPr sz="2200">
                <a:solidFill>
                  <a:srgbClr val="00283C"/>
                </a:solidFill>
                <a:latin typeface="Trenda IG Text Bold"/>
                <a:ea typeface="Trenda IG Text Bold"/>
                <a:cs typeface="Trenda IG Text Bold"/>
                <a:sym typeface="Trenda IG Text Bold"/>
              </a:defRPr>
            </a:pPr>
            <a:r>
              <a:rPr lang="en-US" sz="1200" b="1" dirty="0">
                <a:solidFill>
                  <a:srgbClr val="00283C"/>
                </a:solidFill>
                <a:latin typeface="Trenda IG Text Bold" pitchFamily="2" charset="77"/>
                <a:sym typeface="Trenda IG Text Bold"/>
              </a:rPr>
              <a:t xml:space="preserve">🔑 Why This Matters</a:t>
            </a:r>
          </a:p>
          <a:p>
            <a:pPr lvl="0" fontAlgn="base">
              <a:lnSpc>
                <a:spcPct val="150000"/>
              </a:lnSpc>
              <a:defRPr/>
            </a:pPr>
            <a:r>
              <a:rPr lang="en-US" sz="1050" dirty="0">
                <a:solidFill>
                  <a:srgbClr val="00283C"/>
                </a:solidFill>
                <a:latin typeface="Trenda IG Text" pitchFamily="2" charset="77"/>
              </a:rPr>
              <a:t xml:space="preserve">Linking your Salesforce certifications to Insight Global, LLC ensures they are credited to Insight Global's Salesforce partner record. </a:t>
            </a:r>
          </a:p>
          <a:p>
            <a:pPr marL="171450" lvl="0" indent="-171450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50" b="1" dirty="0">
                <a:solidFill>
                  <a:srgbClr val="00283C"/>
                </a:solidFill>
                <a:latin typeface="Trenda IG Text Bold" panose="00000800000000000000" pitchFamily="50" charset="0"/>
              </a:rPr>
              <a:t xml:space="preserve">More linked certifications strengthen IG's partner standing </a:t>
            </a:r>
            <a:r>
              <a:rPr lang="en-US" sz="1050" dirty="0">
                <a:solidFill>
                  <a:srgbClr val="00283C"/>
                </a:solidFill>
                <a:latin typeface="Trenda IG Text" pitchFamily="2" charset="77"/>
              </a:rPr>
              <a:t xml:space="preserve">including tier progression, specializations, and access to Salesforce enablement and funding programs</a:t>
            </a:r>
          </a:p>
          <a:p>
            <a:pPr marL="171450" lvl="0" indent="-171450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50" b="1" dirty="0">
                <a:solidFill>
                  <a:srgbClr val="00283C"/>
                </a:solidFill>
                <a:latin typeface="Trenda IG Text Bold" panose="00000800000000000000" pitchFamily="50" charset="0"/>
              </a:rPr>
              <a:t xml:space="preserve">More certifications strengthen IG's credibility with Salesforce teams, customers, and help us win</a:t>
            </a:r>
          </a:p>
          <a:p>
            <a:pPr lvl="0">
              <a:spcBef>
                <a:spcPts val="800"/>
              </a:spcBef>
              <a:spcAft>
                <a:spcPts val="600"/>
              </a:spcAft>
              <a:defRPr sz="2200">
                <a:solidFill>
                  <a:srgbClr val="00283C"/>
                </a:solidFill>
                <a:latin typeface="Trenda IG Text Bold"/>
                <a:ea typeface="Trenda IG Text Bold"/>
                <a:cs typeface="Trenda IG Text Bold"/>
                <a:sym typeface="Trenda IG Text Bold"/>
              </a:defRPr>
            </a:pPr>
            <a:r>
              <a:rPr lang="en-US" sz="1200" b="1" dirty="0">
                <a:solidFill>
                  <a:srgbClr val="00283C"/>
                </a:solidFill>
                <a:latin typeface="Trenda IG Text Bold" pitchFamily="2" charset="77"/>
                <a:sym typeface="Trenda IG Text Bold"/>
              </a:rPr>
              <a:t xml:space="preserve">🔗 Steps to Link</a:t>
            </a: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 xml:space="preserve">Pre-req: You must have at least one completed Salesforce certification and access to your Trailhead account. 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</a:rPr>
              <a:t xml:space="preserve">Sign in to Trailhead Academy (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  <a:hlinkClick r:id="rId8"/>
              </a:rPr>
              <a:t xml:space="preserve">trailhead.salesforce.com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</a:rPr>
              <a:t xml:space="preserve">) 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 xml:space="preserve">and open your Trailhead Academy Account.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</a:rPr>
              <a:t xml:space="preserve">In the Employer section, enter Insight Global, LLC in the Company Name field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 xml:space="preserve"> exactly as shown, then Save.</a:t>
            </a:r>
          </a:p>
        </p:txBody>
      </p:sp>
      <p:sp>
        <p:nvSpPr>
          <p:cNvPr id="10" name="Body 2">
            <a:extLst>
              <a:ext uri="{FF2B5EF4-FFF2-40B4-BE49-F238E27FC236}">
                <a16:creationId xmlns:a16="http://schemas.microsoft.com/office/drawing/2014/main" id="{903F5234-E5C6-C1D0-CBFF-F1FE3976A210}"/>
              </a:ext>
            </a:extLst>
          </p:cNvPr>
          <p:cNvSpPr txBox="1"/>
          <p:nvPr/>
        </p:nvSpPr>
        <p:spPr>
          <a:xfrm>
            <a:off x="594360" y="5717327"/>
            <a:ext cx="6940296" cy="96011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</a:rPr>
              <a:t xml:space="preserve">Sign in to your Trailblazer Profile and open Settings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 xml:space="preserve">, then edit the Details tile at the bottom of the page.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</a:rPr>
              <a:t xml:space="preserve">In the Relationship to Salesforce field, choose Partner.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5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</a:rPr>
              <a:t xml:space="preserve">In My Company, set Company to Insight Global, LLC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 xml:space="preserve"> exactly as shown, and Work Email to your IG email.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6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</a:rPr>
              <a:t xml:space="preserve">Click Save.</a:t>
            </a:r>
          </a:p>
        </p:txBody>
      </p:sp>
      <p:sp>
        <p:nvSpPr>
          <p:cNvPr id="10" name="Body 3">
            <a:extLst>
              <a:ext uri="{FF2B5EF4-FFF2-40B4-BE49-F238E27FC236}">
                <a16:creationId xmlns:a16="http://schemas.microsoft.com/office/drawing/2014/main" id="{903F5234-E5C6-C1D0-CBFF-F1FE3976A210}"/>
              </a:ext>
            </a:extLst>
          </p:cNvPr>
          <p:cNvSpPr txBox="1"/>
          <p:nvPr/>
        </p:nvSpPr>
        <p:spPr>
          <a:xfrm>
            <a:off x="594360" y="8331458"/>
            <a:ext cx="6940296" cy="72008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685800" lvl="1" indent="-228600" fontAlgn="base">
              <a:lnSpc>
                <a:spcPct val="150000"/>
              </a:lnSpc>
              <a:buFont typeface="+mj-lt"/>
              <a:buAutoNum type="arabicPeriod"/>
              <a:defRPr/>
            </a:pP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 xml:space="preserve">Your certifications then begin counting toward IG's Salesforce partner metrics.</a:t>
            </a:r>
          </a:p>
          <a:p>
            <a:pPr marL="228600" indent="-228600" fontAlgn="base">
              <a:lnSpc>
                <a:spcPct val="150000"/>
              </a:lnSpc>
              <a:buFont typeface="+mj-lt"/>
              <a:buAutoNum type="arabicPeriod" startAt="7"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 xml:space="preserve">Going forward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 xml:space="preserve">: register for and complete all future Salesforce training and certifications using your 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  <a:hlinkClick r:id="rId4"/>
              </a:rPr>
              <a:t xml:space="preserve">@InsightGlobal.com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 xml:space="preserve"> email address so nothing needs re-linking.</a:t>
            </a:r>
          </a:p>
        </p:txBody>
      </p:sp>
    </p:spTree>
    <p:extLst>
      <p:ext uri="{BB962C8B-B14F-4D97-AF65-F5344CB8AC3E}">
        <p14:creationId xmlns:p14="http://schemas.microsoft.com/office/powerpoint/2010/main" val="352254565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G24-Sales FAQ One Pager" id="{6758BD21-CFC9-6647-9FD1-F7277BA852F5}" vid="{9B887740-5A2D-0F4A-B415-F4D3A6D4989C}"/>
    </a:ext>
  </a:extLst>
</a:theme>
</file>

<file path=ppt/theme/theme2.xml><?xml version="1.0" encoding="utf-8"?>
<a:theme xmlns:a="http://schemas.openxmlformats.org/drawingml/2006/main" name="1_Custom Design">
  <a:themeElements>
    <a:clrScheme name="IGH Theme">
      <a:dk1>
        <a:srgbClr val="00283C"/>
      </a:dk1>
      <a:lt1>
        <a:srgbClr val="FFFFFF"/>
      </a:lt1>
      <a:dk2>
        <a:srgbClr val="00283C"/>
      </a:dk2>
      <a:lt2>
        <a:srgbClr val="FFFFFF"/>
      </a:lt2>
      <a:accent1>
        <a:srgbClr val="FF0069"/>
      </a:accent1>
      <a:accent2>
        <a:srgbClr val="D2D2D2"/>
      </a:accent2>
      <a:accent3>
        <a:srgbClr val="00D8F7"/>
      </a:accent3>
      <a:accent4>
        <a:srgbClr val="BDE1E2"/>
      </a:accent4>
      <a:accent5>
        <a:srgbClr val="FFD600"/>
      </a:accent5>
      <a:accent6>
        <a:srgbClr val="56E13B"/>
      </a:accent6>
      <a:hlink>
        <a:srgbClr val="FF0069"/>
      </a:hlink>
      <a:folHlink>
        <a:srgbClr val="00283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G24-Sales FAQ One Pager" id="{6758BD21-CFC9-6647-9FD1-F7277BA852F5}" vid="{EF9FFFEF-E067-304E-A809-AEC149B0FFE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13A20D8965174294601BF03CAE5B7B" ma:contentTypeVersion="29" ma:contentTypeDescription="Create a new document." ma:contentTypeScope="" ma:versionID="c523c19df85a17e3b67096af64817a86">
  <xsd:schema xmlns:xsd="http://www.w3.org/2001/XMLSchema" xmlns:xs="http://www.w3.org/2001/XMLSchema" xmlns:p="http://schemas.microsoft.com/office/2006/metadata/properties" xmlns:ns2="ea0e3c10-5c93-4a64-99b1-bb344df21289" xmlns:ns3="51f7202f-a46f-4c17-bf46-37f4ae712862" targetNamespace="http://schemas.microsoft.com/office/2006/metadata/properties" ma:root="true" ma:fieldsID="5e693422079a4fe45914b5ba2bfe11f2" ns2:_="" ns3:_="">
    <xsd:import namespace="ea0e3c10-5c93-4a64-99b1-bb344df21289"/>
    <xsd:import namespace="51f7202f-a46f-4c17-bf46-37f4ae7128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Comments" minOccurs="0"/>
                <xsd:element ref="ns2:Note" minOccurs="0"/>
                <xsd:element ref="ns2:MediaServiceBillingMetadata" minOccurs="0"/>
                <xsd:element ref="ns2:Industry" minOccurs="0"/>
                <xsd:element ref="ns2:Domain" minOccurs="0"/>
                <xsd:element ref="ns2:Deliverymodel" minOccurs="0"/>
                <xsd:element ref="ns2:TechnologyStack" minOccurs="0"/>
                <xsd:element ref="ns2:SA" minOccurs="0"/>
                <xsd:element ref="ns2: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0e3c10-5c93-4a64-99b1-bb344df212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07218f3-d2c5-4c29-a7f8-a65ed91ec7b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26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Note" ma:index="27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Industry" ma:index="29" nillable="true" ma:displayName="Industry" ma:description="The list of the most common industry domains (verticals) served by the Evergreen account." ma:format="Dropdown" ma:internalName="Industry">
      <xsd:simpleType>
        <xsd:union memberTypes="dms:Text">
          <xsd:simpleType>
            <xsd:restriction base="dms:Choice">
              <xsd:enumeration value="Healthcare &amp; Life Sciences"/>
              <xsd:enumeration value="Banking &amp; Financial Services"/>
              <xsd:enumeration value="Manufacturing &amp; Industrial"/>
              <xsd:enumeration value="Retail &amp; Consumer"/>
              <xsd:enumeration value="Telecom &amp; Technology"/>
              <xsd:enumeration value="Energy"/>
            </xsd:restriction>
          </xsd:simpleType>
        </xsd:union>
      </xsd:simpleType>
    </xsd:element>
    <xsd:element name="Domain" ma:index="30" nillable="true" ma:displayName="Domain" ma:description="The most common technical domains supported by the Evergreen account." ma:format="Dropdown" ma:internalName="Domain">
      <xsd:simpleType>
        <xsd:union memberTypes="dms:Text">
          <xsd:simpleType>
            <xsd:restriction base="dms:Choice">
              <xsd:enumeration value="Cloud Engineering"/>
              <xsd:enumeration value="DevOps"/>
              <xsd:enumeration value="QA Automation"/>
              <xsd:enumeration value="Security"/>
              <xsd:enumeration value="Network Engineering"/>
              <xsd:enumeration value="SRE"/>
              <xsd:enumeration value="AI &amp; MLOps"/>
              <xsd:enumeration value="Infrastructure"/>
            </xsd:restriction>
          </xsd:simpleType>
        </xsd:union>
      </xsd:simpleType>
    </xsd:element>
    <xsd:element name="Deliverymodel" ma:index="31" nillable="true" ma:displayName="Delivery model" ma:description="The most common delivery models used across the Evergreen account." ma:format="Dropdown" ma:internalName="Deliverymodel">
      <xsd:simpleType>
        <xsd:union memberTypes="dms:Text">
          <xsd:simpleType>
            <xsd:restriction base="dms:Choice">
              <xsd:enumeration value="T&amp;M"/>
              <xsd:enumeration value="Fixed Price"/>
              <xsd:enumeration value="Managed Services"/>
              <xsd:enumeration value="Unit-Based Pricing"/>
              <xsd:enumeration value="Outcome-Based Pricing"/>
              <xsd:enumeration value="Fixed Monthly Fee"/>
            </xsd:restriction>
          </xsd:simpleType>
        </xsd:union>
      </xsd:simpleType>
    </xsd:element>
    <xsd:element name="TechnologyStack" ma:index="32" nillable="true" ma:displayName="Technology Stack" ma:format="Dropdown" ma:internalName="TechnologyStack">
      <xsd:simpleType>
        <xsd:restriction base="dms:Note">
          <xsd:maxLength value="255"/>
        </xsd:restriction>
      </xsd:simpleType>
    </xsd:element>
    <xsd:element name="SA" ma:index="33" nillable="true" ma:displayName="SA" ma:format="Dropdown" ma:internalName="SA">
      <xsd:simpleType>
        <xsd:restriction base="dms:Text">
          <xsd:maxLength value="255"/>
        </xsd:restriction>
      </xsd:simpleType>
    </xsd:element>
    <xsd:element name="Client" ma:index="34" nillable="true" ma:displayName="Client" ma:format="Dropdown" ma:internalName="Clien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f7202f-a46f-4c17-bf46-37f4ae71286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21c63ba-36c7-4e95-8f2b-50729ebee29a}" ma:internalName="TaxCatchAll" ma:showField="CatchAllData" ma:web="51f7202f-a46f-4c17-bf46-37f4ae7128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0e3c10-5c93-4a64-99b1-bb344df21289">
      <Terms xmlns="http://schemas.microsoft.com/office/infopath/2007/PartnerControls"/>
    </lcf76f155ced4ddcb4097134ff3c332f>
    <TaxCatchAll xmlns="51f7202f-a46f-4c17-bf46-37f4ae712862" xsi:nil="true"/>
    <Note xmlns="ea0e3c10-5c93-4a64-99b1-bb344df21289" xsi:nil="true"/>
    <Comments xmlns="ea0e3c10-5c93-4a64-99b1-bb344df21289" xsi:nil="true"/>
    <Industry xmlns="ea0e3c10-5c93-4a64-99b1-bb344df21289" xsi:nil="true"/>
    <Deliverymodel xmlns="ea0e3c10-5c93-4a64-99b1-bb344df21289" xsi:nil="true"/>
    <_Flow_SignoffStatus xmlns="ea0e3c10-5c93-4a64-99b1-bb344df21289" xsi:nil="true"/>
    <TechnologyStack xmlns="ea0e3c10-5c93-4a64-99b1-bb344df21289" xsi:nil="true"/>
    <Client xmlns="ea0e3c10-5c93-4a64-99b1-bb344df21289" xsi:nil="true"/>
    <SA xmlns="ea0e3c10-5c93-4a64-99b1-bb344df21289" xsi:nil="true"/>
    <Domain xmlns="ea0e3c10-5c93-4a64-99b1-bb344df21289" xsi:nil="true"/>
  </documentManagement>
</p:properties>
</file>

<file path=customXml/itemProps1.xml><?xml version="1.0" encoding="utf-8"?>
<ds:datastoreItem xmlns:ds="http://schemas.openxmlformats.org/officeDocument/2006/customXml" ds:itemID="{FBF1B645-ACAD-47AC-9E8E-7199482DA8D7}"/>
</file>

<file path=customXml/itemProps2.xml><?xml version="1.0" encoding="utf-8"?>
<ds:datastoreItem xmlns:ds="http://schemas.openxmlformats.org/officeDocument/2006/customXml" ds:itemID="{7D278DA6-9CF3-4E00-A41E-E1D83474BA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0CF0BD-4A34-4B6C-A7E8-B403126C7223}">
  <ds:schemaRefs>
    <ds:schemaRef ds:uri="e2071a78-70be-40d2-b78b-7035c74a8a5c"/>
    <ds:schemaRef ds:uri="b2a07f8a-5312-49c5-afb1-6c6276776e26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52217199-75dd-4e06-8891-77a8eb5eee12}" enabled="0" method="" siteId="{52217199-75dd-4e06-8891-77a8eb5eee1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229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Trenda IG Display</vt:lpstr>
      <vt:lpstr>Trenda IG Display Bold</vt:lpstr>
      <vt:lpstr>Trenda IG Text</vt:lpstr>
      <vt:lpstr>Trenda IG Text Bold</vt:lpstr>
      <vt:lpstr>Custom Design</vt:lpstr>
      <vt:lpstr>1_Custom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Salesforce Certification Linking: How-To Guide</dc:title>
  <dc:creator>Mroz, Brad</dc:creator>
  <cp:lastModifiedBy>Insight Global Consulting</cp:lastModifiedBy>
  <cp:revision>13</cp:revision>
  <cp:lastPrinted>2022-07-22T20:05:55Z</cp:lastPrinted>
  <dcterms:created xsi:type="dcterms:W3CDTF">2024-01-11T14:52:48Z</dcterms:created>
  <dcterms:modified xsi:type="dcterms:W3CDTF">2026-07-28T20:21:08Z</dcterms:modified>
  <dc:subject>Linking Salesforce certifications to Insight Global, LLC</dc:subject>
  <cp:keywords>Salesforce, certification, Trailblazer, Trailhead, partner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0x010100EE13A20D8965174294601BF03CAE5B7B</vt:lpwstr>
  </property>
  <property fmtid="{D5CDD505-2E9C-101B-9397-08002B2CF9AE}" pid="3" name="MediaServiceImageTags">
    <vt:lpwstr/>
  </property>
</Properties>
</file>