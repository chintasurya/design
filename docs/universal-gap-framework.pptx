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5FD0C0"/>
                </a:solidFill>
                <a:latin typeface="Trenda IG Display Semibold" pitchFamily="34" charset="0"/>
                <a:ea typeface="Trenda IG Display Semibold" pitchFamily="34" charset="-122"/>
                <a:cs typeface="Trenda IG Display Semibold" pitchFamily="34" charset="-120"/>
              </a:rPr>
              <a:t>ONE FRAMEWORK, MANY MARKETS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What stays the same, and what every industry has to declare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784080" y="2194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9B4C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Roughly seven parts in ten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9B4C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never change.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9728" y="100584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5A6573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THE NINE LAYERS, MARKED CORE OR PACK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1207008"/>
            <a:ext cx="7406640" cy="402336"/>
          </a:xfrm>
          <a:prstGeom prst="rect">
            <a:avLst/>
          </a:prstGeom>
          <a:solidFill>
            <a:srgbClr val="ECEFF3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" y="1207008"/>
            <a:ext cx="457200" cy="402336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" y="12070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L1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12070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Source systems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16352" y="1307592"/>
            <a:ext cx="585216" cy="201168"/>
          </a:xfrm>
          <a:prstGeom prst="rect">
            <a:avLst/>
          </a:prstGeom>
          <a:solidFill>
            <a:srgbClr val="C774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816352" y="130759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30" kern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PACK</a:t>
            </a:r>
            <a:endParaRPr lang="en-US" sz="68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12070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Whatever the systems of record are, in any vendor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09728" y="1664208"/>
            <a:ext cx="7406640" cy="40233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" y="1664208"/>
            <a:ext cx="457200" cy="402336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" y="16642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L2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16642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Source connectors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16352" y="1764792"/>
            <a:ext cx="585216" cy="201168"/>
          </a:xfrm>
          <a:prstGeom prst="rect">
            <a:avLst/>
          </a:prstGeom>
          <a:solidFill>
            <a:srgbClr val="C774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816352" y="176479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30" kern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PACK</a:t>
            </a:r>
            <a:endParaRPr lang="en-US" sz="680" dirty="0"/>
          </a:p>
        </p:txBody>
      </p:sp>
      <p:sp>
        <p:nvSpPr>
          <p:cNvPr id="20" name="Text 18"/>
          <p:cNvSpPr txBox="1"/>
          <p:nvPr/>
        </p:nvSpPr>
        <p:spPr>
          <a:xfrm>
            <a:off x="3529584" y="16642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One connector per system. The contract is core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109728" y="2121408"/>
            <a:ext cx="7406640" cy="402336"/>
          </a:xfrm>
          <a:prstGeom prst="rect">
            <a:avLst/>
          </a:prstGeom>
          <a:solidFill>
            <a:srgbClr val="ECEFF3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728" y="2121408"/>
            <a:ext cx="457200" cy="402336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9728" y="21214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L3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21214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Trust and privacy boundary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16352" y="2221992"/>
            <a:ext cx="585216" cy="20116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816352" y="222199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30" kern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BOTH</a:t>
            </a:r>
            <a:endParaRPr lang="en-US" sz="680" dirty="0"/>
          </a:p>
        </p:txBody>
      </p:sp>
      <p:sp>
        <p:nvSpPr>
          <p:cNvPr id="27" name="Text 25"/>
          <p:cNvSpPr txBox="1"/>
          <p:nvPr/>
        </p:nvSpPr>
        <p:spPr>
          <a:xfrm>
            <a:off x="3529584" y="21214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Mechanics are core. HIPAA, GDPR or PCI is the pack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109728" y="2578608"/>
            <a:ext cx="7406640" cy="40233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9" name="Shape 27"/>
          <p:cNvSpPr/>
          <p:nvPr/>
        </p:nvSpPr>
        <p:spPr>
          <a:xfrm>
            <a:off x="109728" y="2578608"/>
            <a:ext cx="457200" cy="402336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9728" y="25786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L4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25786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Ingest and identity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16352" y="2679192"/>
            <a:ext cx="585216" cy="20116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816352" y="267919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30" kern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BOTH</a:t>
            </a:r>
            <a:endParaRPr lang="en-US" sz="680" dirty="0"/>
          </a:p>
        </p:txBody>
      </p:sp>
      <p:sp>
        <p:nvSpPr>
          <p:cNvPr id="34" name="Text 32"/>
          <p:cNvSpPr txBox="1"/>
          <p:nvPr/>
        </p:nvSpPr>
        <p:spPr>
          <a:xfrm>
            <a:off x="3529584" y="25786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Resolution machinery is core. The identity spine is the pack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109728" y="3035808"/>
            <a:ext cx="7406640" cy="402336"/>
          </a:xfrm>
          <a:prstGeom prst="rect">
            <a:avLst/>
          </a:prstGeom>
          <a:solidFill>
            <a:srgbClr val="ECEFF3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728" y="3035808"/>
            <a:ext cx="457200" cy="402336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9728" y="30358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L5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0358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Domain model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816352" y="3136392"/>
            <a:ext cx="585216" cy="201168"/>
          </a:xfrm>
          <a:prstGeom prst="rect">
            <a:avLst/>
          </a:prstGeom>
          <a:solidFill>
            <a:srgbClr val="C7740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2816352" y="313639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30" kern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PACK</a:t>
            </a:r>
            <a:endParaRPr lang="en-US" sz="680" dirty="0"/>
          </a:p>
        </p:txBody>
      </p:sp>
      <p:sp>
        <p:nvSpPr>
          <p:cNvPr id="41" name="Text 39"/>
          <p:cNvSpPr txBox="1"/>
          <p:nvPr/>
        </p:nvSpPr>
        <p:spPr>
          <a:xfrm>
            <a:off x="3529584" y="30358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The classes change. Bitemporal and evidence rules do not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109728" y="3493008"/>
            <a:ext cx="7406640" cy="40233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3" name="Shape 41"/>
          <p:cNvSpPr/>
          <p:nvPr/>
        </p:nvSpPr>
        <p:spPr>
          <a:xfrm>
            <a:off x="109728" y="3493008"/>
            <a:ext cx="457200" cy="402336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9728" y="34930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L6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658368" y="34930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Graph storage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16352" y="3593592"/>
            <a:ext cx="585216" cy="201168"/>
          </a:xfrm>
          <a:prstGeom prst="rect">
            <a:avLst/>
          </a:prstGeom>
          <a:solidFill>
            <a:srgbClr val="0E8A7D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2816352" y="359359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30" kern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CORE</a:t>
            </a:r>
            <a:endParaRPr lang="en-US" sz="680" dirty="0"/>
          </a:p>
        </p:txBody>
      </p:sp>
      <p:sp>
        <p:nvSpPr>
          <p:cNvPr id="48" name="Text 46"/>
          <p:cNvSpPr txBox="1"/>
          <p:nvPr/>
        </p:nvSpPr>
        <p:spPr>
          <a:xfrm>
            <a:off x="3529584" y="34930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Content addressed, immutable, vendor neutral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109728" y="3950208"/>
            <a:ext cx="7406640" cy="402336"/>
          </a:xfrm>
          <a:prstGeom prst="rect">
            <a:avLst/>
          </a:prstGeom>
          <a:solidFill>
            <a:srgbClr val="ECEFF3"/>
          </a:solidFill>
          <a:ln/>
        </p:spPr>
      </p:sp>
      <p:sp>
        <p:nvSpPr>
          <p:cNvPr id="50" name="Shape 48"/>
          <p:cNvSpPr/>
          <p:nvPr/>
        </p:nvSpPr>
        <p:spPr>
          <a:xfrm>
            <a:off x="109728" y="3950208"/>
            <a:ext cx="457200" cy="402336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9728" y="39502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L7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39502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Derived edge engine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816352" y="4050792"/>
            <a:ext cx="585216" cy="20116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2816352" y="405079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30" kern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BOTH</a:t>
            </a:r>
            <a:endParaRPr lang="en-US" sz="680" dirty="0"/>
          </a:p>
        </p:txBody>
      </p:sp>
      <p:sp>
        <p:nvSpPr>
          <p:cNvPr id="55" name="Text 53"/>
          <p:cNvSpPr txBox="1"/>
          <p:nvPr/>
        </p:nvSpPr>
        <p:spPr>
          <a:xfrm>
            <a:off x="3529584" y="39502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The engine is core. Reachability and thresholds are the pack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109728" y="4407408"/>
            <a:ext cx="7406640" cy="40233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7" name="Shape 55"/>
          <p:cNvSpPr/>
          <p:nvPr/>
        </p:nvSpPr>
        <p:spPr>
          <a:xfrm>
            <a:off x="109728" y="4407408"/>
            <a:ext cx="457200" cy="402336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09728" y="44074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L8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658368" y="44074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Graph runtime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816352" y="4507992"/>
            <a:ext cx="585216" cy="201168"/>
          </a:xfrm>
          <a:prstGeom prst="rect">
            <a:avLst/>
          </a:prstGeom>
          <a:solidFill>
            <a:srgbClr val="0E8A7D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2816352" y="450799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30" kern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CORE</a:t>
            </a:r>
            <a:endParaRPr lang="en-US" sz="680" dirty="0"/>
          </a:p>
        </p:txBody>
      </p:sp>
      <p:sp>
        <p:nvSpPr>
          <p:cNvPr id="62" name="Text 60"/>
          <p:cNvSpPr txBox="1"/>
          <p:nvPr/>
        </p:nvSpPr>
        <p:spPr>
          <a:xfrm>
            <a:off x="3529584" y="44074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Traversal, vectors, shadow graph, analytics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109728" y="4864608"/>
            <a:ext cx="7406640" cy="402336"/>
          </a:xfrm>
          <a:prstGeom prst="rect">
            <a:avLst/>
          </a:prstGeom>
          <a:solidFill>
            <a:srgbClr val="ECEFF3"/>
          </a:solidFill>
          <a:ln/>
        </p:spPr>
      </p:sp>
      <p:sp>
        <p:nvSpPr>
          <p:cNvPr id="64" name="Shape 62"/>
          <p:cNvSpPr/>
          <p:nvPr/>
        </p:nvSpPr>
        <p:spPr>
          <a:xfrm>
            <a:off x="109728" y="4864608"/>
            <a:ext cx="457200" cy="402336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109728" y="48646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L9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8646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Gap engines and API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816352" y="4965192"/>
            <a:ext cx="585216" cy="201168"/>
          </a:xfrm>
          <a:prstGeom prst="rect">
            <a:avLst/>
          </a:prstGeom>
          <a:solidFill>
            <a:srgbClr val="0E8A7D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2816352" y="496519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30" kern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CORE</a:t>
            </a:r>
            <a:endParaRPr lang="en-US" sz="680" dirty="0"/>
          </a:p>
        </p:txBody>
      </p:sp>
      <p:sp>
        <p:nvSpPr>
          <p:cNvPr id="69" name="Text 67"/>
          <p:cNvSpPr txBox="1"/>
          <p:nvPr/>
        </p:nvSpPr>
        <p:spPr>
          <a:xfrm>
            <a:off x="3529584" y="48646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The twelve scenarios are domain neutral already</a:t>
            </a:r>
            <a:endParaRPr lang="en-US" sz="880" dirty="0"/>
          </a:p>
        </p:txBody>
      </p:sp>
      <p:sp>
        <p:nvSpPr>
          <p:cNvPr id="70" name="Shape 68"/>
          <p:cNvSpPr/>
          <p:nvPr/>
        </p:nvSpPr>
        <p:spPr>
          <a:xfrm>
            <a:off x="7699248" y="1207008"/>
            <a:ext cx="4379976" cy="2066544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71" name="Shape 69"/>
          <p:cNvSpPr/>
          <p:nvPr/>
        </p:nvSpPr>
        <p:spPr>
          <a:xfrm>
            <a:off x="7882128" y="1408176"/>
            <a:ext cx="91440" cy="91440"/>
          </a:xfrm>
          <a:prstGeom prst="rect">
            <a:avLst/>
          </a:prstGeom>
          <a:solidFill>
            <a:srgbClr val="5FD0C0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8065008" y="1325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The invariant claim</a:t>
            </a:r>
            <a:endParaRPr lang="en-US" sz="1350" dirty="0"/>
          </a:p>
        </p:txBody>
      </p:sp>
      <p:sp>
        <p:nvSpPr>
          <p:cNvPr id="73" name="Text 71"/>
          <p:cNvSpPr txBox="1"/>
          <p:nvPr/>
        </p:nvSpPr>
        <p:spPr>
          <a:xfrm>
            <a:off x="7882128" y="1700784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D8DEE6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 gap is a missing path between demand and a supply that satisfies a declared capability, reachable inside a constraint.</a:t>
            </a:r>
            <a:endParaRPr lang="en-US" sz="920" dirty="0"/>
          </a:p>
          <a:p>
            <a:pPr marL="114300" indent="-1143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D8DEE6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That sentence contains no industry. Change the nouns and the engine does not notice.</a:t>
            </a:r>
            <a:endParaRPr lang="en-US" sz="920" dirty="0"/>
          </a:p>
          <a:p>
            <a:pPr marL="114300" indent="-1143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D8DEE6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Everything above L5 operates on the abstraction, never on the domain.</a:t>
            </a:r>
            <a:endParaRPr lang="en-US" sz="920" dirty="0"/>
          </a:p>
        </p:txBody>
      </p:sp>
      <p:sp>
        <p:nvSpPr>
          <p:cNvPr id="74" name="Shape 72"/>
          <p:cNvSpPr/>
          <p:nvPr/>
        </p:nvSpPr>
        <p:spPr>
          <a:xfrm>
            <a:off x="7699248" y="3383280"/>
            <a:ext cx="4379976" cy="1938528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882128" y="3584448"/>
            <a:ext cx="91440" cy="91440"/>
          </a:xfrm>
          <a:prstGeom prst="rect">
            <a:avLst/>
          </a:prstGeom>
          <a:solidFill>
            <a:srgbClr val="C77400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8065008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The pack contract</a:t>
            </a:r>
            <a:endParaRPr lang="en-US" sz="1350" dirty="0"/>
          </a:p>
        </p:txBody>
      </p:sp>
      <p:sp>
        <p:nvSpPr>
          <p:cNvPr id="77" name="Text 75"/>
          <p:cNvSpPr txBox="1"/>
          <p:nvPr/>
        </p:nvSpPr>
        <p:spPr>
          <a:xfrm>
            <a:off x="7882128" y="3858768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Ontology classes and the identity spine</a:t>
            </a:r>
            <a:endParaRPr lang="en-US" sz="920" dirty="0"/>
          </a:p>
          <a:p>
            <a:pPr marL="114300" indent="-1143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The reachability metric: drive time, signal, latency, territory</a:t>
            </a:r>
            <a:endParaRPr lang="en-US" sz="920" dirty="0"/>
          </a:p>
          <a:p>
            <a:pPr marL="114300" indent="-1143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The capability specification: what an offering requires</a:t>
            </a:r>
            <a:endParaRPr lang="en-US" sz="920" dirty="0"/>
          </a:p>
          <a:p>
            <a:pPr marL="114300" indent="-1143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The regulatory profile and its thresholds</a:t>
            </a:r>
            <a:endParaRPr lang="en-US" sz="920" dirty="0"/>
          </a:p>
          <a:p>
            <a:pPr marL="114300" indent="-1143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Source connectors and the action catalogue</a:t>
            </a:r>
            <a:endParaRPr lang="en-US" sz="920" dirty="0"/>
          </a:p>
        </p:txBody>
      </p:sp>
      <p:sp>
        <p:nvSpPr>
          <p:cNvPr id="78" name="Shape 76"/>
          <p:cNvSpPr/>
          <p:nvPr/>
        </p:nvSpPr>
        <p:spPr>
          <a:xfrm>
            <a:off x="109728" y="5358384"/>
            <a:ext cx="11969496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92608" y="5559552"/>
            <a:ext cx="91440" cy="91440"/>
          </a:xfrm>
          <a:prstGeom prst="rect">
            <a:avLst/>
          </a:prstGeom>
          <a:solidFill>
            <a:srgbClr val="1B6BC0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493776" y="5358384"/>
            <a:ext cx="11430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We have already built two packs without calling them packs. The engineering delivery graph and the clinical network graph share nine layers and differ only in the five declarations above.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109728" y="6053328"/>
            <a:ext cx="11969496" cy="493776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82" name="Shape 80"/>
          <p:cNvSpPr/>
          <p:nvPr/>
        </p:nvSpPr>
        <p:spPr>
          <a:xfrm>
            <a:off x="274320" y="6227064"/>
            <a:ext cx="91440" cy="91440"/>
          </a:xfrm>
          <a:prstGeom prst="rect">
            <a:avLst/>
          </a:prstGeom>
          <a:solidFill>
            <a:srgbClr val="5FD0C0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457200" y="6053328"/>
            <a:ext cx="11521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So the honest claim is not that it fits everything. It is that the architecture is the product and the industry is the configuration.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5FD0C0"/>
                </a:solidFill>
                <a:latin typeface="Trenda IG Display Semibold" pitchFamily="34" charset="0"/>
                <a:ea typeface="Trenda IG Display Semibold" pitchFamily="34" charset="-122"/>
                <a:cs typeface="Trenda IG Display Semibold" pitchFamily="34" charset="-120"/>
              </a:rPr>
              <a:t>THE SAME MODEL, FOUR INDUSTRIES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Change the nouns. The engine does not notice.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784080" y="2194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9B4C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Worked, not asserted.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58568" y="1024128"/>
            <a:ext cx="2414016" cy="310896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350008" y="102412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" kern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HEALTHCARE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09160" y="1024128"/>
            <a:ext cx="2414016" cy="310896"/>
          </a:xfrm>
          <a:prstGeom prst="rect">
            <a:avLst/>
          </a:prstGeom>
          <a:solidFill>
            <a:srgbClr val="1B6BC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00600" y="102412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" kern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TELECOM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159752" y="1024128"/>
            <a:ext cx="2414016" cy="310896"/>
          </a:xfrm>
          <a:prstGeom prst="rect">
            <a:avLst/>
          </a:prstGeom>
          <a:solidFill>
            <a:srgbClr val="C774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51192" y="102412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" kern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AUTOMOTIVE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610344" y="1024128"/>
            <a:ext cx="2414016" cy="310896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701784" y="102412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" kern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ENGINEERING DELIVERY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9728" y="1389888"/>
            <a:ext cx="1196949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9456" y="13898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Party, the demand side</a:t>
            </a:r>
            <a:endParaRPr lang="en-US" sz="860" dirty="0"/>
          </a:p>
        </p:txBody>
      </p:sp>
      <p:sp>
        <p:nvSpPr>
          <p:cNvPr id="16" name="Text 14"/>
          <p:cNvSpPr txBox="1"/>
          <p:nvPr/>
        </p:nvSpPr>
        <p:spPr>
          <a:xfrm>
            <a:off x="2350008" y="138988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Patient</a:t>
            </a:r>
            <a:endParaRPr lang="en-US" sz="84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38988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Subscriber</a:t>
            </a:r>
            <a:endParaRPr lang="en-US" sz="840" dirty="0"/>
          </a:p>
        </p:txBody>
      </p:sp>
      <p:sp>
        <p:nvSpPr>
          <p:cNvPr id="18" name="Text 16"/>
          <p:cNvSpPr txBox="1"/>
          <p:nvPr/>
        </p:nvSpPr>
        <p:spPr>
          <a:xfrm>
            <a:off x="7251192" y="138988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Owner or buyer</a:t>
            </a:r>
            <a:endParaRPr lang="en-US" sz="840" dirty="0"/>
          </a:p>
        </p:txBody>
      </p:sp>
      <p:sp>
        <p:nvSpPr>
          <p:cNvPr id="19" name="Text 17"/>
          <p:cNvSpPr txBox="1"/>
          <p:nvPr/>
        </p:nvSpPr>
        <p:spPr>
          <a:xfrm>
            <a:off x="9701784" y="138988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Requirement or request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109728" y="1792224"/>
            <a:ext cx="11969496" cy="365760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9456" y="179222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Resource, the supply side</a:t>
            </a:r>
            <a:endParaRPr lang="en-US" sz="860" dirty="0"/>
          </a:p>
        </p:txBody>
      </p:sp>
      <p:sp>
        <p:nvSpPr>
          <p:cNvPr id="22" name="Text 20"/>
          <p:cNvSpPr txBox="1"/>
          <p:nvPr/>
        </p:nvSpPr>
        <p:spPr>
          <a:xfrm>
            <a:off x="2350008" y="179222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Provider, facility</a:t>
            </a:r>
            <a:endParaRPr lang="en-US" sz="84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179222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Cell site, sector, field engineer</a:t>
            </a:r>
            <a:endParaRPr lang="en-US" sz="840" dirty="0"/>
          </a:p>
        </p:txBody>
      </p:sp>
      <p:sp>
        <p:nvSpPr>
          <p:cNvPr id="24" name="Text 22"/>
          <p:cNvSpPr txBox="1"/>
          <p:nvPr/>
        </p:nvSpPr>
        <p:spPr>
          <a:xfrm>
            <a:off x="7251192" y="179222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Dealer, bay, technician</a:t>
            </a:r>
            <a:endParaRPr lang="en-US" sz="840" dirty="0"/>
          </a:p>
        </p:txBody>
      </p:sp>
      <p:sp>
        <p:nvSpPr>
          <p:cNvPr id="25" name="Text 23"/>
          <p:cNvSpPr txBox="1"/>
          <p:nvPr/>
        </p:nvSpPr>
        <p:spPr>
          <a:xfrm>
            <a:off x="9701784" y="179222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Component, service, team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109728" y="2194560"/>
            <a:ext cx="1196949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9456" y="21945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Capability</a:t>
            </a:r>
            <a:endParaRPr lang="en-US" sz="860" dirty="0"/>
          </a:p>
        </p:txBody>
      </p:sp>
      <p:sp>
        <p:nvSpPr>
          <p:cNvPr id="28" name="Text 26"/>
          <p:cNvSpPr txBox="1"/>
          <p:nvPr/>
        </p:nvSpPr>
        <p:spPr>
          <a:xfrm>
            <a:off x="2350008" y="219456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Specialty plus privilege</a:t>
            </a:r>
            <a:endParaRPr lang="en-US" sz="840" dirty="0"/>
          </a:p>
        </p:txBody>
      </p:sp>
      <p:sp>
        <p:nvSpPr>
          <p:cNvPr id="29" name="Text 27"/>
          <p:cNvSpPr txBox="1"/>
          <p:nvPr/>
        </p:nvSpPr>
        <p:spPr>
          <a:xfrm>
            <a:off x="4800600" y="219456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Band, capacity, backhaul</a:t>
            </a:r>
            <a:endParaRPr lang="en-US" sz="840" dirty="0"/>
          </a:p>
        </p:txBody>
      </p:sp>
      <p:sp>
        <p:nvSpPr>
          <p:cNvPr id="30" name="Text 28"/>
          <p:cNvSpPr txBox="1"/>
          <p:nvPr/>
        </p:nvSpPr>
        <p:spPr>
          <a:xfrm>
            <a:off x="7251192" y="219456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Brand and EV certification, rig</a:t>
            </a:r>
            <a:endParaRPr lang="en-US" sz="840" dirty="0"/>
          </a:p>
        </p:txBody>
      </p:sp>
      <p:sp>
        <p:nvSpPr>
          <p:cNvPr id="31" name="Text 29"/>
          <p:cNvSpPr txBox="1"/>
          <p:nvPr/>
        </p:nvSpPr>
        <p:spPr>
          <a:xfrm>
            <a:off x="9701784" y="219456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Language, framework, API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109728" y="2596896"/>
            <a:ext cx="11969496" cy="365760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19456" y="259689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Offering, which declares what it REQUIRES</a:t>
            </a:r>
            <a:endParaRPr lang="en-US" sz="860" dirty="0"/>
          </a:p>
        </p:txBody>
      </p:sp>
      <p:sp>
        <p:nvSpPr>
          <p:cNvPr id="34" name="Text 32"/>
          <p:cNvSpPr txBox="1"/>
          <p:nvPr/>
        </p:nvSpPr>
        <p:spPr>
          <a:xfrm>
            <a:off x="2350008" y="259689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Service line</a:t>
            </a:r>
            <a:endParaRPr lang="en-US" sz="84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59689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Plan or product, such as fixed wireless</a:t>
            </a:r>
            <a:endParaRPr lang="en-US" sz="840" dirty="0"/>
          </a:p>
        </p:txBody>
      </p:sp>
      <p:sp>
        <p:nvSpPr>
          <p:cNvPr id="36" name="Text 34"/>
          <p:cNvSpPr txBox="1"/>
          <p:nvPr/>
        </p:nvSpPr>
        <p:spPr>
          <a:xfrm>
            <a:off x="7251192" y="259689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Sale, warranty repair, EV service</a:t>
            </a:r>
            <a:endParaRPr lang="en-US" sz="840" dirty="0"/>
          </a:p>
        </p:txBody>
      </p:sp>
      <p:sp>
        <p:nvSpPr>
          <p:cNvPr id="37" name="Text 35"/>
          <p:cNvSpPr txBox="1"/>
          <p:nvPr/>
        </p:nvSpPr>
        <p:spPr>
          <a:xfrm>
            <a:off x="9701784" y="259689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Feature or change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109728" y="2999232"/>
            <a:ext cx="1196949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19456" y="29992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Place and reachability</a:t>
            </a:r>
            <a:endParaRPr lang="en-US" sz="860" dirty="0"/>
          </a:p>
        </p:txBody>
      </p:sp>
      <p:sp>
        <p:nvSpPr>
          <p:cNvPr id="40" name="Text 38"/>
          <p:cNvSpPr txBox="1"/>
          <p:nvPr/>
        </p:nvSpPr>
        <p:spPr>
          <a:xfrm>
            <a:off x="2350008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County, drive time</a:t>
            </a:r>
            <a:endParaRPr lang="en-US" sz="840" dirty="0"/>
          </a:p>
        </p:txBody>
      </p:sp>
      <p:sp>
        <p:nvSpPr>
          <p:cNvPr id="41" name="Text 39"/>
          <p:cNvSpPr txBox="1"/>
          <p:nvPr/>
        </p:nvSpPr>
        <p:spPr>
          <a:xfrm>
            <a:off x="4800600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Coverage polygon, signal strength</a:t>
            </a:r>
            <a:endParaRPr lang="en-US" sz="840" dirty="0"/>
          </a:p>
        </p:txBody>
      </p:sp>
      <p:sp>
        <p:nvSpPr>
          <p:cNvPr id="42" name="Text 40"/>
          <p:cNvSpPr txBox="1"/>
          <p:nvPr/>
        </p:nvSpPr>
        <p:spPr>
          <a:xfrm>
            <a:off x="7251192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Territory, drive time</a:t>
            </a:r>
            <a:endParaRPr lang="en-US" sz="840" dirty="0"/>
          </a:p>
        </p:txBody>
      </p:sp>
      <p:sp>
        <p:nvSpPr>
          <p:cNvPr id="43" name="Text 41"/>
          <p:cNvSpPr txBox="1"/>
          <p:nvPr/>
        </p:nvSpPr>
        <p:spPr>
          <a:xfrm>
            <a:off x="9701784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Repo and domain boundary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109728" y="3401568"/>
            <a:ext cx="11969496" cy="365760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19456" y="34015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Interaction</a:t>
            </a:r>
            <a:endParaRPr lang="en-US" sz="860" dirty="0"/>
          </a:p>
        </p:txBody>
      </p:sp>
      <p:sp>
        <p:nvSpPr>
          <p:cNvPr id="46" name="Text 44"/>
          <p:cNvSpPr txBox="1"/>
          <p:nvPr/>
        </p:nvSpPr>
        <p:spPr>
          <a:xfrm>
            <a:off x="2350008" y="340156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Encounter</a:t>
            </a:r>
            <a:endParaRPr lang="en-US" sz="840" dirty="0"/>
          </a:p>
        </p:txBody>
      </p:sp>
      <p:sp>
        <p:nvSpPr>
          <p:cNvPr id="47" name="Text 45"/>
          <p:cNvSpPr txBox="1"/>
          <p:nvPr/>
        </p:nvSpPr>
        <p:spPr>
          <a:xfrm>
            <a:off x="4800600" y="340156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Session, care call, truck roll</a:t>
            </a:r>
            <a:endParaRPr lang="en-US" sz="840" dirty="0"/>
          </a:p>
        </p:txBody>
      </p:sp>
      <p:sp>
        <p:nvSpPr>
          <p:cNvPr id="48" name="Text 46"/>
          <p:cNvSpPr txBox="1"/>
          <p:nvPr/>
        </p:nvSpPr>
        <p:spPr>
          <a:xfrm>
            <a:off x="7251192" y="340156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Service visit, test drive</a:t>
            </a:r>
            <a:endParaRPr lang="en-US" sz="840" dirty="0"/>
          </a:p>
        </p:txBody>
      </p:sp>
      <p:sp>
        <p:nvSpPr>
          <p:cNvPr id="49" name="Text 47"/>
          <p:cNvSpPr txBox="1"/>
          <p:nvPr/>
        </p:nvSpPr>
        <p:spPr>
          <a:xfrm>
            <a:off x="9701784" y="340156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Deployment, incident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109728" y="3803904"/>
            <a:ext cx="1196949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19456" y="38039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Commitment with a lifecycle</a:t>
            </a:r>
            <a:endParaRPr lang="en-US" sz="860" dirty="0"/>
          </a:p>
        </p:txBody>
      </p:sp>
      <p:sp>
        <p:nvSpPr>
          <p:cNvPr id="52" name="Text 50"/>
          <p:cNvSpPr txBox="1"/>
          <p:nvPr/>
        </p:nvSpPr>
        <p:spPr>
          <a:xfrm>
            <a:off x="2350008" y="3803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Appointment</a:t>
            </a:r>
            <a:endParaRPr lang="en-US" sz="840" dirty="0"/>
          </a:p>
        </p:txBody>
      </p:sp>
      <p:sp>
        <p:nvSpPr>
          <p:cNvPr id="53" name="Text 51"/>
          <p:cNvSpPr txBox="1"/>
          <p:nvPr/>
        </p:nvSpPr>
        <p:spPr>
          <a:xfrm>
            <a:off x="4800600" y="3803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Subscription</a:t>
            </a:r>
            <a:endParaRPr lang="en-US" sz="840" dirty="0"/>
          </a:p>
        </p:txBody>
      </p:sp>
      <p:sp>
        <p:nvSpPr>
          <p:cNvPr id="54" name="Text 52"/>
          <p:cNvSpPr txBox="1"/>
          <p:nvPr/>
        </p:nvSpPr>
        <p:spPr>
          <a:xfrm>
            <a:off x="7251192" y="3803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Order, service booking</a:t>
            </a:r>
            <a:endParaRPr lang="en-US" sz="840" dirty="0"/>
          </a:p>
        </p:txBody>
      </p:sp>
      <p:sp>
        <p:nvSpPr>
          <p:cNvPr id="55" name="Text 53"/>
          <p:cNvSpPr txBox="1"/>
          <p:nvPr/>
        </p:nvSpPr>
        <p:spPr>
          <a:xfrm>
            <a:off x="9701784" y="3803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Work item</a:t>
            </a:r>
            <a:endParaRPr lang="en-US" sz="840" dirty="0"/>
          </a:p>
        </p:txBody>
      </p:sp>
      <p:sp>
        <p:nvSpPr>
          <p:cNvPr id="56" name="Shape 54"/>
          <p:cNvSpPr/>
          <p:nvPr/>
        </p:nvSpPr>
        <p:spPr>
          <a:xfrm>
            <a:off x="109728" y="4206240"/>
            <a:ext cx="11969496" cy="365760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19456" y="4206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Flow, where value leaks</a:t>
            </a:r>
            <a:endParaRPr lang="en-US" sz="860" dirty="0"/>
          </a:p>
        </p:txBody>
      </p:sp>
      <p:sp>
        <p:nvSpPr>
          <p:cNvPr id="58" name="Text 56"/>
          <p:cNvSpPr txBox="1"/>
          <p:nvPr/>
        </p:nvSpPr>
        <p:spPr>
          <a:xfrm>
            <a:off x="2350008" y="42062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Referral out of network</a:t>
            </a:r>
            <a:endParaRPr lang="en-US" sz="840" dirty="0"/>
          </a:p>
        </p:txBody>
      </p:sp>
      <p:sp>
        <p:nvSpPr>
          <p:cNvPr id="59" name="Text 57"/>
          <p:cNvSpPr txBox="1"/>
          <p:nvPr/>
        </p:nvSpPr>
        <p:spPr>
          <a:xfrm>
            <a:off x="4800600" y="42062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Port out to a competitor</a:t>
            </a:r>
            <a:endParaRPr lang="en-US" sz="840" dirty="0"/>
          </a:p>
        </p:txBody>
      </p:sp>
      <p:sp>
        <p:nvSpPr>
          <p:cNvPr id="60" name="Text 58"/>
          <p:cNvSpPr txBox="1"/>
          <p:nvPr/>
        </p:nvSpPr>
        <p:spPr>
          <a:xfrm>
            <a:off x="7251192" y="42062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Defection to independents</a:t>
            </a:r>
            <a:endParaRPr lang="en-US" sz="840" dirty="0"/>
          </a:p>
        </p:txBody>
      </p:sp>
      <p:sp>
        <p:nvSpPr>
          <p:cNvPr id="61" name="Text 59"/>
          <p:cNvSpPr txBox="1"/>
          <p:nvPr/>
        </p:nvSpPr>
        <p:spPr>
          <a:xfrm>
            <a:off x="9701784" y="42062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Dependency across teams</a:t>
            </a:r>
            <a:endParaRPr lang="en-US" sz="840" dirty="0"/>
          </a:p>
        </p:txBody>
      </p:sp>
      <p:sp>
        <p:nvSpPr>
          <p:cNvPr id="62" name="Shape 60"/>
          <p:cNvSpPr/>
          <p:nvPr/>
        </p:nvSpPr>
        <p:spPr>
          <a:xfrm>
            <a:off x="109728" y="4608576"/>
            <a:ext cx="1196949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19456" y="460857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The adequacy rule</a:t>
            </a:r>
            <a:endParaRPr lang="en-US" sz="860" dirty="0"/>
          </a:p>
        </p:txBody>
      </p:sp>
      <p:sp>
        <p:nvSpPr>
          <p:cNvPr id="64" name="Text 62"/>
          <p:cNvSpPr txBox="1"/>
          <p:nvPr/>
        </p:nvSpPr>
        <p:spPr>
          <a:xfrm>
            <a:off x="2350008" y="460857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CMS time and distance</a:t>
            </a:r>
            <a:endParaRPr lang="en-US" sz="84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60857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Regulator coverage obligation</a:t>
            </a:r>
            <a:endParaRPr lang="en-US" sz="840" dirty="0"/>
          </a:p>
        </p:txBody>
      </p:sp>
      <p:sp>
        <p:nvSpPr>
          <p:cNvPr id="66" name="Text 64"/>
          <p:cNvSpPr txBox="1"/>
          <p:nvPr/>
        </p:nvSpPr>
        <p:spPr>
          <a:xfrm>
            <a:off x="7251192" y="460857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OEM network standard</a:t>
            </a:r>
            <a:endParaRPr lang="en-US" sz="840" dirty="0"/>
          </a:p>
        </p:txBody>
      </p:sp>
      <p:sp>
        <p:nvSpPr>
          <p:cNvPr id="67" name="Text 65"/>
          <p:cNvSpPr txBox="1"/>
          <p:nvPr/>
        </p:nvSpPr>
        <p:spPr>
          <a:xfrm>
            <a:off x="9701784" y="460857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Architecture standard or SLA</a:t>
            </a:r>
            <a:endParaRPr lang="en-US" sz="840" dirty="0"/>
          </a:p>
        </p:txBody>
      </p:sp>
      <p:sp>
        <p:nvSpPr>
          <p:cNvPr id="68" name="Shape 66"/>
          <p:cNvSpPr/>
          <p:nvPr/>
        </p:nvSpPr>
        <p:spPr>
          <a:xfrm>
            <a:off x="109728" y="5010912"/>
            <a:ext cx="11969496" cy="365760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19456" y="5010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Identity spine</a:t>
            </a:r>
            <a:endParaRPr lang="en-US" sz="860" dirty="0"/>
          </a:p>
        </p:txBody>
      </p:sp>
      <p:sp>
        <p:nvSpPr>
          <p:cNvPr id="70" name="Text 68"/>
          <p:cNvSpPr txBox="1"/>
          <p:nvPr/>
        </p:nvSpPr>
        <p:spPr>
          <a:xfrm>
            <a:off x="2350008" y="50109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NPI, TIN, CCN, EMPI</a:t>
            </a:r>
            <a:endParaRPr lang="en-US" sz="840" dirty="0"/>
          </a:p>
        </p:txBody>
      </p:sp>
      <p:sp>
        <p:nvSpPr>
          <p:cNvPr id="71" name="Text 69"/>
          <p:cNvSpPr txBox="1"/>
          <p:nvPr/>
        </p:nvSpPr>
        <p:spPr>
          <a:xfrm>
            <a:off x="4800600" y="50109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MSISDN, IMSI, account</a:t>
            </a:r>
            <a:endParaRPr lang="en-US" sz="840" dirty="0"/>
          </a:p>
        </p:txBody>
      </p:sp>
      <p:sp>
        <p:nvSpPr>
          <p:cNvPr id="72" name="Text 70"/>
          <p:cNvSpPr txBox="1"/>
          <p:nvPr/>
        </p:nvSpPr>
        <p:spPr>
          <a:xfrm>
            <a:off x="7251192" y="50109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VIN, dealer code</a:t>
            </a:r>
            <a:endParaRPr lang="en-US" sz="840" dirty="0"/>
          </a:p>
        </p:txBody>
      </p:sp>
      <p:sp>
        <p:nvSpPr>
          <p:cNvPr id="73" name="Text 71"/>
          <p:cNvSpPr txBox="1"/>
          <p:nvPr/>
        </p:nvSpPr>
        <p:spPr>
          <a:xfrm>
            <a:off x="9701784" y="50109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Repo and service id</a:t>
            </a:r>
            <a:endParaRPr lang="en-US" sz="840" dirty="0"/>
          </a:p>
        </p:txBody>
      </p:sp>
      <p:sp>
        <p:nvSpPr>
          <p:cNvPr id="74" name="Shape 72"/>
          <p:cNvSpPr/>
          <p:nvPr/>
        </p:nvSpPr>
        <p:spPr>
          <a:xfrm>
            <a:off x="109728" y="5504688"/>
            <a:ext cx="11969496" cy="621792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75" name="Shape 73"/>
          <p:cNvSpPr/>
          <p:nvPr/>
        </p:nvSpPr>
        <p:spPr>
          <a:xfrm>
            <a:off x="292608" y="5705856"/>
            <a:ext cx="91440" cy="91440"/>
          </a:xfrm>
          <a:prstGeom prst="rect">
            <a:avLst/>
          </a:prstGeom>
          <a:solidFill>
            <a:srgbClr val="5FD0C0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493776" y="55778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D0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Scenario 1, demand without supply, read four ways: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493776" y="577900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D8DEE6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 county with inflow and no credentialed cardiologist inside the drive time band  ·  a postcode with demand and no site carrying the required band  ·  a territory with a growing electric parc and no high voltage certified technician  ·  a requirement with no component that implements it</a:t>
            </a:r>
            <a:endParaRPr lang="en-US" sz="880" dirty="0"/>
          </a:p>
        </p:txBody>
      </p:sp>
      <p:sp>
        <p:nvSpPr>
          <p:cNvPr id="78" name="Shape 76"/>
          <p:cNvSpPr/>
          <p:nvPr/>
        </p:nvSpPr>
        <p:spPr>
          <a:xfrm>
            <a:off x="109728" y="6199632"/>
            <a:ext cx="11969496" cy="493776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79" name="Shape 77"/>
          <p:cNvSpPr/>
          <p:nvPr/>
        </p:nvSpPr>
        <p:spPr>
          <a:xfrm>
            <a:off x="274320" y="6373368"/>
            <a:ext cx="91440" cy="91440"/>
          </a:xfrm>
          <a:prstGeom prst="rect">
            <a:avLst/>
          </a:prstGeom>
          <a:solidFill>
            <a:srgbClr val="5FD0C0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457200" y="6199632"/>
            <a:ext cx="11521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Telecom coverage obligations and CMS network adequacy are the same query. So are a stranded cath lab and a 5G radio with no fibre behind 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5FD0C0"/>
                </a:solidFill>
                <a:latin typeface="Trenda IG Display Semibold" pitchFamily="34" charset="0"/>
                <a:ea typeface="Trenda IG Display Semibold" pitchFamily="34" charset="-122"/>
                <a:cs typeface="Trenda IG Display Semibold" pitchFamily="34" charset="-120"/>
              </a:rPr>
              <a:t>FIT, LIMITS AND TECHNOLOGY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Where it travels, where it weakens, and what is really coupled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784080" y="2194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9B4C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The useful answer is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9B4C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not yes to everything.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728" y="987552"/>
            <a:ext cx="3904488" cy="4224528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197864"/>
            <a:ext cx="91440" cy="91440"/>
          </a:xfrm>
          <a:prstGeom prst="rect">
            <a:avLst/>
          </a:prstGeom>
          <a:solidFill>
            <a:srgbClr val="0E8A7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5488" y="111556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Six questions that decide fit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" y="1554480"/>
            <a:ext cx="237744" cy="237744"/>
          </a:xfrm>
          <a:prstGeom prst="rect">
            <a:avLst/>
          </a:prstGeom>
          <a:solidFill>
            <a:srgbClr val="0E8A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2608" y="1554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03504" y="1563624"/>
            <a:ext cx="320954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Can demand be located, by geography, segment or jurisdiction?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92608" y="1962912"/>
            <a:ext cx="237744" cy="237744"/>
          </a:xfrm>
          <a:prstGeom prst="rect">
            <a:avLst/>
          </a:prstGeom>
          <a:solidFill>
            <a:srgbClr val="0E8A7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2608" y="1962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" y="1972056"/>
            <a:ext cx="320954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Is supply lumpy, licensed or slow to add? This is the decisive one.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292608" y="2371344"/>
            <a:ext cx="237744" cy="237744"/>
          </a:xfrm>
          <a:prstGeom prst="rect">
            <a:avLst/>
          </a:prstGeom>
          <a:solidFill>
            <a:srgbClr val="0E8A7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92608" y="2371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80488"/>
            <a:ext cx="3209544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Can someone write down what an offering requires?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92608" y="2682240"/>
            <a:ext cx="237744" cy="237744"/>
          </a:xfrm>
          <a:prstGeom prst="rect">
            <a:avLst/>
          </a:prstGeom>
          <a:solidFill>
            <a:srgbClr val="0E8A7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92608" y="2682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" y="2691384"/>
            <a:ext cx="3209544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Is there an identity spine on both sides?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292608" y="2993136"/>
            <a:ext cx="237744" cy="237744"/>
          </a:xfrm>
          <a:prstGeom prst="rect">
            <a:avLst/>
          </a:prstGeom>
          <a:solidFill>
            <a:srgbClr val="0E8A7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92608" y="2993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3002280"/>
            <a:ext cx="3209544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Does value flow between suppliers, and can it leak?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292608" y="3304032"/>
            <a:ext cx="237744" cy="237744"/>
          </a:xfrm>
          <a:prstGeom prst="rect">
            <a:avLst/>
          </a:prstGeom>
          <a:solidFill>
            <a:srgbClr val="0E8A7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92608" y="3304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" y="3313176"/>
            <a:ext cx="3209544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Is there a commitment with a lifecycle and exits?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292608" y="3986784"/>
            <a:ext cx="3538728" cy="1060704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20624" y="4078224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D0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Four or more yes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20624" y="4279392"/>
            <a:ext cx="3282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60" dirty="0">
                <a:solidFill>
                  <a:srgbClr val="D8DEE6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Strong fit. Healthcare, telecom, automotive aftersales, field service, energy networks, logistics and utilities all score five or six. Question two carries the most weight: gap analysis earns its keep only where adding supply takes months and money.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4142232" y="987552"/>
            <a:ext cx="3904488" cy="4224528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25112" y="1197864"/>
            <a:ext cx="9144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07992" y="111556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Where it weakens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325112" y="1536192"/>
            <a:ext cx="3538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62828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Elastic supply</a:t>
            </a:r>
            <a:endParaRPr lang="en-US" sz="980" dirty="0"/>
          </a:p>
        </p:txBody>
      </p:sp>
      <p:sp>
        <p:nvSpPr>
          <p:cNvPr id="34" name="Text 32"/>
          <p:cNvSpPr txBox="1"/>
          <p:nvPr/>
        </p:nvSpPr>
        <p:spPr>
          <a:xfrm>
            <a:off x="4325112" y="1719072"/>
            <a:ext cx="353872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If capacity appears on demand, the gap closes itself. Commodity cloud does not need this. Credentialed, licensed or capital bound supply does.</a:t>
            </a:r>
            <a:endParaRPr lang="en-US" sz="860" dirty="0"/>
          </a:p>
        </p:txBody>
      </p:sp>
      <p:sp>
        <p:nvSpPr>
          <p:cNvPr id="35" name="Text 33"/>
          <p:cNvSpPr txBox="1"/>
          <p:nvPr/>
        </p:nvSpPr>
        <p:spPr>
          <a:xfrm>
            <a:off x="4325112" y="2145792"/>
            <a:ext cx="3538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62828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No reachability constraint</a:t>
            </a:r>
            <a:endParaRPr lang="en-US" sz="980" dirty="0"/>
          </a:p>
        </p:txBody>
      </p:sp>
      <p:sp>
        <p:nvSpPr>
          <p:cNvPr id="36" name="Text 34"/>
          <p:cNvSpPr txBox="1"/>
          <p:nvPr/>
        </p:nvSpPr>
        <p:spPr>
          <a:xfrm>
            <a:off x="4325112" y="2328672"/>
            <a:ext cx="3538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 purely digital good delivered instantly everywhere loses the strongest gap type. Latency, language or jurisdiction can stand in, but the edge is weaker.</a:t>
            </a:r>
            <a:endParaRPr lang="en-US" sz="860" dirty="0"/>
          </a:p>
        </p:txBody>
      </p:sp>
      <p:sp>
        <p:nvSpPr>
          <p:cNvPr id="37" name="Text 35"/>
          <p:cNvSpPr txBox="1"/>
          <p:nvPr/>
        </p:nvSpPr>
        <p:spPr>
          <a:xfrm>
            <a:off x="4325112" y="2886456"/>
            <a:ext cx="3538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62828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The specification cannot be written</a:t>
            </a:r>
            <a:endParaRPr lang="en-US" sz="980" dirty="0"/>
          </a:p>
        </p:txBody>
      </p:sp>
      <p:sp>
        <p:nvSpPr>
          <p:cNvPr id="38" name="Text 36"/>
          <p:cNvSpPr txBox="1"/>
          <p:nvPr/>
        </p:nvSpPr>
        <p:spPr>
          <a:xfrm>
            <a:off x="4325112" y="3069336"/>
            <a:ext cx="3538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Capability algebra needs someone to state what an offering requires. When nobody can, that is a business knowledge problem, and it is usually the hardest workshop.</a:t>
            </a:r>
            <a:endParaRPr lang="en-US" sz="860" dirty="0"/>
          </a:p>
        </p:txBody>
      </p:sp>
      <p:sp>
        <p:nvSpPr>
          <p:cNvPr id="39" name="Text 37"/>
          <p:cNvSpPr txBox="1"/>
          <p:nvPr/>
        </p:nvSpPr>
        <p:spPr>
          <a:xfrm>
            <a:off x="4325112" y="3627120"/>
            <a:ext cx="3538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62828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No identity spine</a:t>
            </a:r>
            <a:endParaRPr lang="en-US" sz="980" dirty="0"/>
          </a:p>
        </p:txBody>
      </p:sp>
      <p:sp>
        <p:nvSpPr>
          <p:cNvPr id="40" name="Text 38"/>
          <p:cNvSpPr txBox="1"/>
          <p:nvPr/>
        </p:nvSpPr>
        <p:spPr>
          <a:xfrm>
            <a:off x="4325112" y="3810000"/>
            <a:ext cx="353872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Anonymous consumer markets still support geography level aggregates, but person level flow and leakage are lost.</a:t>
            </a:r>
            <a:endParaRPr lang="en-US" sz="860" dirty="0"/>
          </a:p>
        </p:txBody>
      </p:sp>
      <p:sp>
        <p:nvSpPr>
          <p:cNvPr id="41" name="Text 39"/>
          <p:cNvSpPr txBox="1"/>
          <p:nvPr/>
        </p:nvSpPr>
        <p:spPr>
          <a:xfrm>
            <a:off x="4325112" y="4236720"/>
            <a:ext cx="3538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62828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Small scale</a:t>
            </a:r>
            <a:endParaRPr lang="en-US" sz="980" dirty="0"/>
          </a:p>
        </p:txBody>
      </p:sp>
      <p:sp>
        <p:nvSpPr>
          <p:cNvPr id="42" name="Text 40"/>
          <p:cNvSpPr txBox="1"/>
          <p:nvPr/>
        </p:nvSpPr>
        <p:spPr>
          <a:xfrm>
            <a:off x="4325112" y="4419600"/>
            <a:ext cx="353872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Twelve suppliers and three sites is a spreadsheet. The graph earns its keep on heterogeneity and volume.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8174736" y="987552"/>
            <a:ext cx="3904488" cy="4224528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44" name="Shape 42"/>
          <p:cNvSpPr/>
          <p:nvPr/>
        </p:nvSpPr>
        <p:spPr>
          <a:xfrm>
            <a:off x="8357616" y="1197864"/>
            <a:ext cx="91440" cy="91440"/>
          </a:xfrm>
          <a:prstGeom prst="rect">
            <a:avLst/>
          </a:prstGeom>
          <a:solidFill>
            <a:srgbClr val="5FD0C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540496" y="111556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Technology, honestly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357616" y="1499616"/>
            <a:ext cx="3538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5FD0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SWAPPABLE WITHOUT REDESIGN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8357616" y="1691640"/>
            <a:ext cx="3538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D8DEE6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CRM: Salesforce, Dynamics, ServiceNow, SAP. It is a connector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D8DEE6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System of record: Epic, Cerner, Amdocs, a dealer management system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D8DEE6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Graph store: Neo4j, TigerGraph, Neptune, Memgraph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D8DEE6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Cloud and model endpoints, behind the same contract</a:t>
            </a:r>
            <a:endParaRPr lang="en-US" sz="880" dirty="0"/>
          </a:p>
        </p:txBody>
      </p:sp>
      <p:sp>
        <p:nvSpPr>
          <p:cNvPr id="48" name="Text 46"/>
          <p:cNvSpPr txBox="1"/>
          <p:nvPr/>
        </p:nvSpPr>
        <p:spPr>
          <a:xfrm>
            <a:off x="8357616" y="2871216"/>
            <a:ext cx="3538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E8A87C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GENUINELY COUPLED, SO DECIDE EARLY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8357616" y="3072384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Graph engine class</a:t>
            </a:r>
            <a:endParaRPr lang="en-US" sz="940" dirty="0"/>
          </a:p>
        </p:txBody>
      </p:sp>
      <p:sp>
        <p:nvSpPr>
          <p:cNvPr id="50" name="Text 48"/>
          <p:cNvSpPr txBox="1"/>
          <p:nvPr/>
        </p:nvSpPr>
        <p:spPr>
          <a:xfrm>
            <a:off x="8357616" y="3246120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A9B4C2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Variable depth traversal is native in a property graph and hand rolled in SQL. Any technology, yes. Any technology equally well, no.</a:t>
            </a:r>
            <a:endParaRPr lang="en-US" sz="840" dirty="0"/>
          </a:p>
        </p:txBody>
      </p:sp>
      <p:sp>
        <p:nvSpPr>
          <p:cNvPr id="51" name="Text 49"/>
          <p:cNvSpPr txBox="1"/>
          <p:nvPr/>
        </p:nvSpPr>
        <p:spPr>
          <a:xfrm>
            <a:off x="8357616" y="3648456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The identity spine</a:t>
            </a:r>
            <a:endParaRPr lang="en-US" sz="940" dirty="0"/>
          </a:p>
        </p:txBody>
      </p:sp>
      <p:sp>
        <p:nvSpPr>
          <p:cNvPr id="52" name="Text 50"/>
          <p:cNvSpPr txBox="1"/>
          <p:nvPr/>
        </p:nvSpPr>
        <p:spPr>
          <a:xfrm>
            <a:off x="8357616" y="3822192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A9B4C2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Per industry, and not equal. A VIN is a better key than anything healthcare has.</a:t>
            </a:r>
            <a:endParaRPr lang="en-US" sz="840" dirty="0"/>
          </a:p>
        </p:txBody>
      </p:sp>
      <p:sp>
        <p:nvSpPr>
          <p:cNvPr id="53" name="Text 51"/>
          <p:cNvSpPr txBox="1"/>
          <p:nvPr/>
        </p:nvSpPr>
        <p:spPr>
          <a:xfrm>
            <a:off x="8357616" y="4224528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The regulatory regime</a:t>
            </a:r>
            <a:endParaRPr lang="en-US" sz="940" dirty="0"/>
          </a:p>
        </p:txBody>
      </p:sp>
      <p:sp>
        <p:nvSpPr>
          <p:cNvPr id="54" name="Text 52"/>
          <p:cNvSpPr txBox="1"/>
          <p:nvPr/>
        </p:nvSpPr>
        <p:spPr>
          <a:xfrm>
            <a:off x="8357616" y="4398264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A9B4C2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HIPAA, GDPR and ePrivacy, or right to repair. The boundary layer stays, its rules do not.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109728" y="5486400"/>
            <a:ext cx="11969496" cy="493776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56" name="Shape 54"/>
          <p:cNvSpPr/>
          <p:nvPr/>
        </p:nvSpPr>
        <p:spPr>
          <a:xfrm>
            <a:off x="274320" y="5660136"/>
            <a:ext cx="91440" cy="91440"/>
          </a:xfrm>
          <a:prstGeom prst="rect">
            <a:avLst/>
          </a:prstGeom>
          <a:solidFill>
            <a:srgbClr val="5FD0C0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57200" y="5486400"/>
            <a:ext cx="11521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Answer to the question as asked: it does not fit everything, and the places it does not are predictable from six questions you can ask in a first meeting.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09728" y="6071616"/>
            <a:ext cx="11969496" cy="603504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92608" y="6272784"/>
            <a:ext cx="91440" cy="91440"/>
          </a:xfrm>
          <a:prstGeom prst="rect">
            <a:avLst/>
          </a:prstGeom>
          <a:solidFill>
            <a:srgbClr val="C77400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93776" y="6071616"/>
            <a:ext cx="11430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The commercial shape: build the core once, sell the pack per industry. A new market is a five part declaration and a set of connectors, not a new build, which is what turns a delivered project into a repeatable practice.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Universal Gap Intelligence Framework</dc:title>
  <dc:subject>PptxGenJS Presentation</dc:subject>
  <dc:creator>Insight Global Labs</dc:creator>
  <cp:lastModifiedBy>Insight Global Labs</cp:lastModifiedBy>
  <cp:revision>1</cp:revision>
  <dcterms:created xsi:type="dcterms:W3CDTF">2026-09-21T14:38:01Z</dcterms:created>
  <dcterms:modified xsi:type="dcterms:W3CDTF">2026-09-21T14:38:01Z</dcterms:modified>
</cp:coreProperties>
</file>