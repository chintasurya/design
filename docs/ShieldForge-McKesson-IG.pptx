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C14E3A-DB50-0A83-3C52-493FBFC8A8BE}">
          <p14:sldIdLst>
            <p14:sldId id="256"/>
          </p14:sldIdLst>
        </p14:section>
        <p14:section name="ShieldForge" id="{6F3408EB-2C72-0EA8-B2E9-652117378790}">
          <p14:sldIdLst>
            <p14:sldId id="257"/>
            <p14:sldId id="258"/>
          </p14:sldIdLst>
        </p14:section>
        <p14:section name="SOX controls" id="{F6635583-3D31-7750-0D37-F9D44C6B82B9}">
          <p14:sldIdLst>
            <p14:sldId id="259"/>
            <p14:sldId id="260"/>
          </p14:sldIdLst>
        </p14:section>
        <p14:section name="Evidence" id="{6CA3D4F1-EDAF-677F-2D83-D4AAA80DD41B}">
          <p14:sldIdLst>
            <p14:sldId id="261"/>
          </p14:sldIdLst>
        </p14:section>
        <p14:section name="Beyond Salesforce" id="{41A99F6B-0251-3CE8-F253-AF0673AC0AEF}">
          <p14:sldIdLst>
            <p14:sldId id="262"/>
          </p14:sldIdLst>
        </p14:section>
        <p14:section name="Next steps" id="{9FFD45DB-AD17-00F1-7FDA-F8DACCFF37DF}">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49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5F32AA-3872-E56D-E7C9-0E92DDA4A292}"/>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r>
              <a:rPr lang="en-IN"/>
              <a:t>SHIELDFORGE</a:t>
            </a:r>
          </a:p>
        </p:txBody>
      </p:sp>
      <p:sp>
        <p:nvSpPr>
          <p:cNvPr id="3" name="Date Placeholder 2">
            <a:extLst>
              <a:ext uri="{FF2B5EF4-FFF2-40B4-BE49-F238E27FC236}">
                <a16:creationId xmlns:a16="http://schemas.microsoft.com/office/drawing/2014/main" id="{7295FF68-6B38-F1BB-5A33-879E844B2308}"/>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3854F655-FE58-450B-AC5A-93C476E21D09}" type="datetimeFigureOut">
              <a:rPr lang="en-IN" smtClean="0"/>
              <a:t>22-10-2026</a:t>
            </a:fld>
            <a:endParaRPr lang="en-IN"/>
          </a:p>
        </p:txBody>
      </p:sp>
      <p:sp>
        <p:nvSpPr>
          <p:cNvPr id="4" name="Footer Placeholder 3">
            <a:extLst>
              <a:ext uri="{FF2B5EF4-FFF2-40B4-BE49-F238E27FC236}">
                <a16:creationId xmlns:a16="http://schemas.microsoft.com/office/drawing/2014/main" id="{B7E3A02D-16F3-90F3-F707-C9A697278A79}"/>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0A8F794-3D67-7547-E594-FF1A2036AE98}"/>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94AEF156-AC6D-4B76-8237-279ADCBAA53B}" type="slidenum">
              <a:rPr lang="en-IN" smtClean="0"/>
              <a:t>‹#›</a:t>
            </a:fld>
            <a:endParaRPr lang="en-IN"/>
          </a:p>
        </p:txBody>
      </p:sp>
    </p:spTree>
    <p:extLst>
      <p:ext uri="{BB962C8B-B14F-4D97-AF65-F5344CB8AC3E}">
        <p14:creationId xmlns:p14="http://schemas.microsoft.com/office/powerpoint/2010/main" val="1609266993"/>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r>
              <a:rPr lang="en-US"/>
              <a:t>SHIELDFORGE</a:t>
            </a:r>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4FF28AF-5DD8-4015-89E2-4FEA37B6F151}" type="datetimeFigureOut">
              <a:t>10/22/2026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4B074BF-AE5D-4CC9-9FB3-BD35ED4D1616}" type="slidenum">
              <a:t>‹#›</a:t>
            </a:fld>
            <a:endParaRPr lang="en-US"/>
          </a:p>
        </p:txBody>
      </p:sp>
    </p:spTree>
    <p:extLst>
      <p:ext uri="{BB962C8B-B14F-4D97-AF65-F5344CB8AC3E}">
        <p14:creationId xmlns:p14="http://schemas.microsoft.com/office/powerpoint/2010/main" val="211718755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Context-setting opener.
SAY: "Thanks for setting this up. When BJ McBride mentioned the SOX and SOC work you are driving for McKesson, we were excited to connect. Because that work spans many layers of an enterprise stack, I want to start with ShieldForge, the governance and compliance application we built for Salesforce. Then we can discuss where the same engineering approach could help with the applications and controls that matter to your team."
"We will spend three minutes on the product, ten on the control coverage, scoring approach and sample evidence binder, then five to ten on your technology scope. The outcome I would like is one priority system and control problem we can map together."
CONTEXT: Salesforce is the current product example. SAP, Workday, Oracle, ServiceNow, AWS, IAM and custom applications are discovery targets and proposed engineering extensions. Do not assume McKesson uses a particular system. Control owners and auditors determine scope and conclusions.
TRANSITION: "First, here is ShieldForge at a glance."
BRAND: Supplied IG26-BrandGuidelines-6-9-26.pdf pp. 19, 34, 41-42, 59-60. Trenda IG Text fonts and IG-Gradient-Navy-01.png. Primary white logo reproduced from the supplied guide.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
        <p:nvSpPr>
          <p:cNvPr id="5" name="Header Placeholder 4">
            <a:extLst>
              <a:ext uri="{FF2B5EF4-FFF2-40B4-BE49-F238E27FC236}">
                <a16:creationId xmlns:a16="http://schemas.microsoft.com/office/drawing/2014/main" id="{FBD13B19-B8B6-9916-182B-6C238469EE0F}"/>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Establish credibility, then move into SOX.
SAY: "ShieldForge combines access intelligence, release and storage insights, and audit readiness. Our supplied product material describes it as Salesforce Security Review approved and live on AppExchange."
"User 360 brings together identity, permissions, sharing and integrations. Effective access comparisons explain why users differ across profiles and permission sets. The migration workflow moves profile permissions into permission sets through reviewable steps."
"Release Radar scans the org against upcoming platform updates and supports CAB deployment evidence. Storage and FinOps identify archive candidates. Dev Tools supports query, import and export in context. These functions give you the broader platform context, while today's focus is compliance."
"The compliance layer maps findings to SOX, HIPAA, PCI-DSS, GDPR and NIST. The current application runs natively in-org. The supplied product material states that customer business data stays within Salesforce and is not captured, stored or retained outside the environment."
IF ASKED ABOUT EXTERNAL DATA: "For a future integration, we would agree which identity, entitlement and audit metadata crosses system boundaries, where it is processed and what evidence is retained. In-memory processing reduces persistence but still involves data transfer."
DEMO CUE: The screenshot is an illustrative demo view cropped from source slide 1. Its score differs from the PDF sample, and neither represents McKesson. Security Review is not SOX/SOC certification. Product and listing claims follow supplied materials, without live listing verification.
TRANSITION: "The core challenge is showing controls operating inside your environment."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
        <p:nvSpPr>
          <p:cNvPr id="5" name="Header Placeholder 4">
            <a:extLst>
              <a:ext uri="{FF2B5EF4-FFF2-40B4-BE49-F238E27FC236}">
                <a16:creationId xmlns:a16="http://schemas.microsoft.com/office/drawing/2014/main" id="{F0DEDAE6-6836-D57F-A588-8CA1BCC24006}"/>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SAY: "A cloud vendor's assurance report covers the controls within that report's scope. Your auditors still need evidence for the controls your organization operates inside the application. They ask who can change financial data, what changed, who approved it and whether anyone holds conflicting permissions."
"ShieldForge supports four steps. Scan collects a read-only baseline. Score organizes findings into a posture grade and priority gaps. Fix and certify supports authorized changes and records review decisions. Export produces the Risk Control Matrix binder and detailed CSVs for review."
CLARIFY: Read-only describes scanning. Revoking access or remediating settings is a separate authorized action. A recorded sign-off provides attribution, but an immutable or tamper-proof claim needs verified audit-log controls. A setup-change event does not alone prove approval or testing.
SOC SCOPE: Ask whether they mean SOC 1, SOC 2, service-provider reports or internal evidence supporting these programs. The provided binder is a SOX 404 / ITGC evidence report, not a SOC report or independent audit opinion.
TRANSITION: "Here are the five control areas, with development governance alongside change management."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
        <p:nvSpPr>
          <p:cNvPr id="5" name="Header Placeholder 4">
            <a:extLst>
              <a:ext uri="{FF2B5EF4-FFF2-40B4-BE49-F238E27FC236}">
                <a16:creationId xmlns:a16="http://schemas.microsoft.com/office/drawing/2014/main" id="{379E4129-FFD1-DFF6-8096-B3F174D0E8BC}"/>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Walk all five domains. Use the report page cues for a deeper demonstration.
1. ACCESS, pp. 2-3: "The privileged inventory lists Modify All Data, View All Data, Manage Users, Author Apex and Modify Metadata, with the source profile or permission set. Active accounts dormant more than 90 days or never logged in enter review. User access reviews record the user, decision, reviewer, date and cycle, such as Q3-2026. The sample includes Certified, Revoked, Unassigned, Profile Changed and Access Granted. Dormant service or system accounts need context before removal."
2. CHANGE AND DEVELOPMENT, pp. 4-13 and 17: "Setup Audit Trail provides the trailing 180-day change history, categorized by action, section, item, actor and timestamp. We can discuss metadata, code, flow and security changes, including IP allowlists and password policies. The sample has a separate ITGC-PD Program Development section marked Informational. We group it with change management for this five-domain walkthrough. A change event alone does not prove approval or testing. We would connect those records to SDLC and CAB evidence. Validate history availability, extraction completeness and API limits before promising full-period coverage."
3. SOD, pp. 13-14: "Rules evaluate effective conflicting permissions per user. The source deck illustrates six starter rules. This report has 13 active rules, 22 violations and two users in violation. These are sample-org results. High-risk examples include AuthorApex plus ModifyAllData, ModifyAllData plus ManageUsers, and ManageUsers plus AuthorApex. CustomizeApplication plus ModifyAllData appears as medium risk. McKesson control owners would approve the conflict definitions, scope and mitigations."
4. OPERATIONS, pp. 14-17: "The baseline compares settings across risk tiers: MFA and SAML indicators, password policies, session timeouts, clickjack and CSRF protections, certificates, external sharing and administrator concentration. Five percent is the sample's administrator-profile threshold, not a universal SOX standard. Connected-app inventory and active OAuth tokens expose integrations needing review. Admin-Approved Only set to false is a review signal. The sample includes Dataloader, Workbench and Ant Migration Tool. Validate actual enforcement, context and compensating controls before treating a signal as a confirmed gap."
5. INTEGRITY, p. 17: "The test checks Field Audit Trail availability. The sample marks this Not Assessed when the add-on is not detected. It contrasts standard 18-24 month history with longer retention, described as up to ten years. We would establish the audit period and test actual fields, retention policies and reconstruction evidence. A license indicator alone does not prove effectiveness."
RESULTS: Pass, Exception, Deficiency and Not Assessed are report labels. Program Development also uses Informational. Auditors determine the significance of deficiencies. These headings organize the product walkthrough; specific audit objectives determine scope.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
        <p:nvSpPr>
          <p:cNvPr id="5" name="Header Placeholder 4">
            <a:extLst>
              <a:ext uri="{FF2B5EF4-FFF2-40B4-BE49-F238E27FC236}">
                <a16:creationId xmlns:a16="http://schemas.microsoft.com/office/drawing/2014/main" id="{BED265F4-6048-0204-E900-224F5582FDFF}"/>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Go deeper only if architects or control leads want the detail.
SAY: "The design separates collection from evaluation and reporting. Four scanner domains collect identity, configuration, data-protection and hardening signals. Findings feed shared rule evaluation and framework mapping, followed by evidence generation. These four architectural modules differ from the five ITGC presentation domains."
"The architecture narrative names ShieldForgeRealityIdentityScanner, ShieldForgeRealityConfigScanner, ShieldForgeRealityDataProtectionScanner and ShieldForgeRealityHardeningScanner. ShieldForgeRealityFrameworkMapper computes the mapped framework views. The SoD components named include ShieldForgeUserViolationService, ShieldForgeUserViolationScanner and ShieldForgeUserViolationBuilder."
"A single technical finding can support multiple framework mappings. Reducing excess privileged access can improve the mapped posture for SOX, HIPAA, PCI and NIST together. A framework view re-evaluates relevant findings using the domain-weighted approach, with hardening as a foundational baseline. An arbitrary deduction from 100 would not preserve meaning when findings are filtered."
TECHNICAL DETAIL: The supplied narrative describes the architecture; source code and standalone architecture diagrams were not supplied. Do not invent exact weights, denominators, score bands or missing-data handling. Validate these in the implementation workshop. A posture score does not establish legal compliance or control operating effectiveness. Framework mapping indicates relevance, not full regulatory coverage.
PIVOT SETUP: "This separation gives us reusable patterns. A new system still needs a connector, entitlement semantics, approved mappings and validated evidence. Components that depend on Salesforce objects or runtime services need adaptation or porting."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
        <p:nvSpPr>
          <p:cNvPr id="5" name="Header Placeholder 4">
            <a:extLst>
              <a:ext uri="{FF2B5EF4-FFF2-40B4-BE49-F238E27FC236}">
                <a16:creationId xmlns:a16="http://schemas.microsoft.com/office/drawing/2014/main" id="{5DA2CEE0-0258-B2A7-B88A-1F00C22910F4}"/>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Open the original PDF alongside the slides.
SAY: "This is a 17-page example from a CTS Developer Edition org, not McKesson. The report identifies the organization, period and generation time. Each control states its objective, test, evidence and result. Supporting inventories and event logs provide the detail."
PAGE CUES: Page 1 gives scope and the trailing 180-day period ending 22 October 2026. Pages 2-3 cover privileged grants, dormant accounts and access decisions. Pages 4-13 contain setup-change evidence. Pages 13-14 show SoD rules and violations. Pages 14-17 cover settings and connected apps. Page 17 includes retention, development governance and attestation.
"The summary reports Access: Exception; Program Changes: Pass; SoD: Exception; Computer Operations: Deficiency; Data Integrity: Not Assessed. The last status keeps incomplete coverage visible."
DEMO DETAIL: The sample lists 18 privileged grants, eight dormant/never-logged-in accounts out of 12 active users, 11 access-review decisions and 200 configuration/metadata changes for its stated period. Validate completeness before describing the 200 records as exhaustive. The SoD section lists 13 active rules, 22 violations and two users in violation. These count different populations and must not be combined.
"Page 17 closes the loop with Prepared By, Reviewed By Control Owner, Approved By Audit and Date. The review and audit fields are blank in the sample. Generating a report does not supply those approvals. CSV detail supports further review."
IF ASKED ABOUT SCORE: The PDF shows D, 61/100. The source slides show different illustrative scores. Its executive narrative says no Critical or High findings, while nearby summary/detail sections include High-risk items. Do not assert a reconciled headline severity count. Resolve population definitions and the generated narrative before audit submission.
TRANSITION: "Is Salesforce one of your target systems, or is the immediate evidence problem elsewhere?"
VISUAL: Original attestation excerpt from sample PDF p. 17. Native table reproduces p. 2 domain results. The binder is internal evidence and explicitly disclaims an independent audit opinion.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
        <p:nvSpPr>
          <p:cNvPr id="5" name="Header Placeholder 4">
            <a:extLst>
              <a:ext uri="{FF2B5EF4-FFF2-40B4-BE49-F238E27FC236}">
                <a16:creationId xmlns:a16="http://schemas.microsoft.com/office/drawing/2014/main" id="{0CF3660E-F60F-2D49-A441-B14EB83C8713}"/>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 minutes. Pause and discover their system scope before the pivot.
ASK: "When BJ connected us regarding the SOX/SOC work at McKesson, is Salesforce one of the target systems, or are you solving this across other enterprise platforms and custom applications?"
IF SALESFORCE IS IN SCOPE: "We can plan a sandbox deployment, confirm the package and permissions, run the read-only baseline and review the SOX evidence and SoD findings against your RCM. We can tailor the definitions and thresholds to your controls."
IF SALESFORCE IS NOT THE TARGET: "That is helpful context. ShieldForge gives us a concrete example of the automation and evidence structure we have built. Collection, normalization, rule evaluation, scoring and reporting are reusable engineering patterns. We can adapt those to your target environment, after validating its authorization model and evidence sources."
CONNECTORS: A provider interface such as IShieldForgeDataProvider could isolate source-specific collection. SapGrcDataProvider and OktaScimDataProvider are proposed names, not demonstrated connectors. REST, OData and SCIM may help where a target exposes the required information. Named/External Credentials or approved middleware can handle connections. An ExternalCredentialParameter access entry in an audit trail does not prove an external compliance connector exists.
COMMON SCHEMA: Identity includes source ID, canonical person ID, active state, account type and last activity. Entitlements include role/T-code, underlying privilege, scope, validity and grant source. Events include actor, action, target, timestamp, timezone and source reference. Configuration includes setting, value, approved baseline and risk. Retention, approvals, certification and integrity need additional metadata. These four entities are a useful starting contract, not an exhaustive schema.
TRANSLATION CHEAT SHEET: SAP USR02 and AGR_USERS can be starting extracts for users and role assignments. SAP_ALL/SAP_NEW or administrative authority need context. Change sources can include transport records associated with STMS, CDHDR/CDPOS where relevant, or GitHub/Azure DevOps deployment logs. No single source proves the whole approval/testing lifecycle. Security-parameter inventories, SSO/MFA evidence, RFC destinations and service-account inventories can support operations. For history, assess configured application/database audit logging, including relevant SAP table logging such as rec/client, then test actual coverage and retention.
SOD MAPPING: T-code pairs such as ME21N plus MIGO are illustrative starting points. Authorization objects, organizational scope, approvals and compensating controls determine meaningful conflicts. The request's vendor creation in Salesforce plus payment approval in SAP is a hypothetical cross-system duty conflict, not a validated permission mapping. Canonical identity correlation and effective authorization semantics are essential.
CLOSE: "The objectives and evidence structure can be reused. The connector, effective-access model and control mappings need system-specific engineering."
All external-system examples are proposed mappings from the user's narrative and require validation. No working SAP, Workday or IAM connector appears in the supplied material.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
        <p:nvSpPr>
          <p:cNvPr id="5" name="Header Placeholder 4">
            <a:extLst>
              <a:ext uri="{FF2B5EF4-FFF2-40B4-BE49-F238E27FC236}">
                <a16:creationId xmlns:a16="http://schemas.microsoft.com/office/drawing/2014/main" id="{2ED88CD3-CF84-2335-5837-A68ED592BB7F}"/>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3-7 minutes, led by their answers. Planned meeting: roughly 20-25 minutes, with room for discovery up to 30.
SAY: "The right engineering path depends on the system scope and where you want the workload to run. The external-system options here are proposed implementation paths."
OPTION 1, SALESFORCE HUB: "We can assess adapters that bring approved access and audit metadata into Salesforce through REST, OData or SCIM, authenticated through Named/External Credentials or middleware. A file prototype can start with approved CSV/JSON exports while API access is evaluated. We would add a Target System Import workflow, validate schema and population completeness, normalize data, apply approved controls and produce an RCM-style report."
Dev Tools import/export does not establish that a universal external-control importer is already delivered. CSV transfer still needs approved handling and security review. Do not promise zero firewall approvals. UAR can record Certify/Revoke decisions, but revoking source-system access requires an authorized integration and verified execution. Keep review intent distinct from completed source-system action.
OPTION 2, CROSS-APPLICATION GOVERNANCE: "If MuleSoft or Data Cloud fits your approved architecture, we can assess consolidating entitlement metadata and correlating identities to evaluate duties across systems. For example, master-data maintenance in one system and payment approval in another may create a conflict under your control matrix. We would confirm connectors, licensing, refresh cadence and effective privileges."
Data Cloud is an option to evaluate, not a guaranteed connector or SoD engine. Cross-system evaluation needs canonical IDs, scoped entitlements, rule versions, lineage and evidence freshness. Do not assume McKesson owns these products.
OPTION 3, STANDALONE SERVICE: "If Salesforce should not be involved, our engineering team can assess a service inside your AWS/Azure environment. A Python implementation can carry forward the four-domain collection pattern, rule design, scoring approach, framework mappings and report structure. Apex cannot simply run there. We would port runtime dependencies and validate outputs against agreed cases."
DATA HANDLING: Agree where identity metadata, entitlements, events and review decisions are processed and retained. In-memory processing reduces persistence but still transfers data. Minimized findings can contain sensitive identity metadata. The current Salesforce zero-business-data-egress statement does not automatically apply to a new hub or service. Balance minimization with evidence retention and reproducibility. Report length depends on volume; 17 pages describes the sample, not a fixed output guarantee.
QUICK-FIRE DISCOVERY:
1. "Which applications or infrastructure layers give your team the biggest headache when pulling SOX/SOC evidence?" Confirm audit type, system owner, APIs/exports and identity sources such as Entra ID, Okta or SailPoint if relevant.
2. "Between UAR, SoD conflict detection and change-management evidence, which consumes the most manual hours?" Confirm lookback, review frequency, retention and control owners. Ninety-day dormancy and 180-day history are sample parameters, not universal requirements.
3. "If you can share a sanitized RCM or the control tests your auditors request, plus one approved sample extract, we can map the inputs and return with a scoped example of the automated output."
WORKSHOP OUTPUT: One application and workflow, control-to-evidence mapping, input fields and gaps, proposed runtime and agreed success criteria. Useful criteria include population completeness, source traceability, reviewer attribution and expected-rule reconciliation. Determine timing after reviewing inputs.
IF ASKED 'JUST SWAP CONNECTORS?': "The modular design gives us reusable patterns for rules, scoring and evidence. We still need to engineer and validate each system's connector, entitlement model and mappings. The first scoped session establishes that work."
CLOSE: "Which application and control workflow would you like to use for that first mapping session?"
SOURCES: User-supplied shieldforge-deck.pptx slides 1-4; ShieldForge SOX Compliance Report.pdf, 17-page sample generated 22 October 2026; meeting strategy and architecture narrative in the request. Architecture class names and scoring behavior follow the supplied narrative. Source code was not provided. Sample results describe CTS Developer Edition, not McKesson.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
        <p:nvSpPr>
          <p:cNvPr id="5" name="Header Placeholder 4">
            <a:extLst>
              <a:ext uri="{FF2B5EF4-FFF2-40B4-BE49-F238E27FC236}">
                <a16:creationId xmlns:a16="http://schemas.microsoft.com/office/drawing/2014/main" id="{F5535ADA-D864-CE52-62F5-3276BC08ACB9}"/>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
        <p:nvSpPr>
          <p:cNvPr id="5" name="Header Placeholder 4">
            <a:extLst>
              <a:ext uri="{FF2B5EF4-FFF2-40B4-BE49-F238E27FC236}">
                <a16:creationId xmlns:a16="http://schemas.microsoft.com/office/drawing/2014/main" id="{915F7A9C-DC56-02A7-0F50-DA534C6F36DF}"/>
              </a:ext>
            </a:extLst>
          </p:cNvPr>
          <p:cNvSpPr>
            <a:spLocks noGrp="1"/>
          </p:cNvSpPr>
          <p:nvPr>
            <p:ph type="hdr" sz="quarter"/>
          </p:nvPr>
        </p:nvSpPr>
        <p:spPr/>
        <p:txBody>
          <a:bodyPr/>
          <a:lstStyle/>
          <a:p>
            <a:r>
              <a:rPr lang="en-US"/>
              <a:t>SHIELDFORGE</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G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Design/ec113594-1409-5d14-9233-57b3dcba7fdf/scratchpad/assets/logo_white.png"/>
          <p:cNvPicPr>
            <a:picLocks noChangeAspect="1"/>
          </p:cNvPicPr>
          <p:nvPr/>
        </p:nvPicPr>
        <p:blipFill>
          <a:blip r:embed="rId3"/>
          <a:stretch>
            <a:fillRect/>
          </a:stretch>
        </p:blipFill>
        <p:spPr>
          <a:xfrm>
            <a:off x="5135728" y="566928"/>
            <a:ext cx="1920240" cy="457200"/>
          </a:xfrm>
          <a:prstGeom prst="rect">
            <a:avLst/>
          </a:prstGeom>
        </p:spPr>
      </p:pic>
      <p:sp>
        <p:nvSpPr>
          <p:cNvPr id="3" name="Text 0"/>
          <p:cNvSpPr>
            <a:spLocks noGrp="1"/>
          </p:cNvSpPr>
          <p:nvPr>
            <p:ph type="title" idx="101" hasCustomPrompt="1"/>
          </p:nvPr>
        </p:nvSpPr>
        <p:spPr>
          <a:xfrm>
            <a:off x="1097280" y="2148840"/>
            <a:ext cx="9997135" cy="1600200"/>
          </a:xfrm>
          <a:prstGeom prst="rect">
            <a:avLst/>
          </a:prstGeom>
          <a:noFill/>
          <a:ln/>
        </p:spPr>
        <p:txBody>
          <a:bodyPr wrap="square" rtlCol="0"/>
          <a:lstStyle>
            <a:lvl1pPr marL="0" indent="0" algn="ctr">
              <a:buNone/>
              <a:defRPr lang="en-US" sz="5400" kern="0" spc="1000" dirty="0">
                <a:solidFill>
                  <a:schemeClr val="bg1"/>
                </a:solidFill>
                <a:latin typeface="Trenda IG Text Light" pitchFamily="34" charset="0"/>
                <a:ea typeface="Trenda IG Text Light" pitchFamily="34" charset="-122"/>
                <a:cs typeface="Trenda IG Text Light" pitchFamily="34" charset="-120"/>
              </a:defRPr>
            </a:lvl1pPr>
          </a:lstStyle>
          <a:p>
            <a:pPr marL="0" indent="0" algn="ctr">
              <a:buNone/>
            </a:pPr>
            <a:endParaRPr lang="en-US" sz="5400" dirty="0"/>
          </a:p>
        </p:txBody>
      </p:sp>
      <p:sp>
        <p:nvSpPr>
          <p:cNvPr id="4" name="Text 0"/>
          <p:cNvSpPr>
            <a:spLocks noGrp="1"/>
          </p:cNvSpPr>
          <p:nvPr>
            <p:ph type="body" idx="102" hasCustomPrompt="1"/>
          </p:nvPr>
        </p:nvSpPr>
        <p:spPr>
          <a:xfrm>
            <a:off x="1097280" y="3977640"/>
            <a:ext cx="9997135" cy="868680"/>
          </a:xfrm>
          <a:prstGeom prst="rect">
            <a:avLst/>
          </a:prstGeom>
          <a:noFill/>
          <a:ln/>
        </p:spPr>
        <p:txBody>
          <a:bodyPr wrap="square" rtlCol="0"/>
          <a:lstStyle>
            <a:lvl1pPr marL="0" indent="0" algn="ctr">
              <a:buNone/>
              <a:defRPr lang="en-US" sz="1600" dirty="0">
                <a:solidFill>
                  <a:schemeClr val="bg1"/>
                </a:solidFill>
              </a:defRPr>
            </a:lvl1pPr>
          </a:lstStyle>
          <a:p>
            <a:pPr marL="0" indent="0" algn="ctr">
              <a:buNone/>
            </a:pPr>
            <a:endParaRPr lang="en-US" sz="1600" dirty="0"/>
          </a:p>
        </p:txBody>
      </p:sp>
      <p:sp>
        <p:nvSpPr>
          <p:cNvPr id="5" name="Text 0"/>
          <p:cNvSpPr>
            <a:spLocks noGrp="1"/>
          </p:cNvSpPr>
          <p:nvPr>
            <p:ph type="body" idx="103" hasCustomPrompt="1"/>
          </p:nvPr>
        </p:nvSpPr>
        <p:spPr>
          <a:xfrm>
            <a:off x="3355848" y="5989320"/>
            <a:ext cx="5486400" cy="274320"/>
          </a:xfrm>
          <a:prstGeom prst="rect">
            <a:avLst/>
          </a:prstGeom>
          <a:noFill/>
          <a:ln/>
        </p:spPr>
        <p:txBody>
          <a:bodyPr wrap="square" rtlCol="0"/>
          <a:lstStyle>
            <a:lvl1pPr marL="0" indent="0" algn="ctr">
              <a:buNone/>
              <a:defRPr lang="en-US" sz="900" b="1" kern="0" spc="300" dirty="0">
                <a:solidFill>
                  <a:schemeClr val="bg1"/>
                </a:solidFill>
              </a:defRPr>
            </a:lvl1pPr>
          </a:lstStyle>
          <a:p>
            <a:pPr marL="0" indent="0" algn="ctr">
              <a:buNone/>
            </a:pP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G Light">
    <p:bg>
      <p:bgPr>
        <a:solidFill>
          <a:srgbClr val="FFFFFF"/>
        </a:solidFill>
        <a:effectLst/>
      </p:bgPr>
    </p:bg>
    <p:spTree>
      <p:nvGrpSpPr>
        <p:cNvPr id="1" name=""/>
        <p:cNvGrpSpPr/>
        <p:nvPr/>
      </p:nvGrpSpPr>
      <p:grpSpPr>
        <a:xfrm>
          <a:off x="0" y="0"/>
          <a:ext cx="0" cy="0"/>
          <a:chOff x="0" y="0"/>
          <a:chExt cx="0" cy="0"/>
        </a:xfrm>
      </p:grpSpPr>
      <p:pic>
        <p:nvPicPr>
          <p:cNvPr id="2" name="Image 0" descr="/tmp/claude-0/-home-user-Design/ec113594-1409-5d14-9233-57b3dcba7fdf/scratchpad/assets/mark_black.png"/>
          <p:cNvPicPr>
            <a:picLocks noChangeAspect="1"/>
          </p:cNvPicPr>
          <p:nvPr/>
        </p:nvPicPr>
        <p:blipFill>
          <a:blip r:embed="rId2"/>
          <a:stretch>
            <a:fillRect/>
          </a:stretch>
        </p:blipFill>
        <p:spPr>
          <a:xfrm>
            <a:off x="512064" y="6400800"/>
            <a:ext cx="512064" cy="103327"/>
          </a:xfrm>
          <a:prstGeom prst="rect">
            <a:avLst/>
          </a:prstGeom>
        </p:spPr>
      </p:pic>
      <p:sp>
        <p:nvSpPr>
          <p:cNvPr id="3" name="Text 0"/>
          <p:cNvSpPr/>
          <p:nvPr/>
        </p:nvSpPr>
        <p:spPr>
          <a:xfrm>
            <a:off x="512064" y="256032"/>
            <a:ext cx="7315200" cy="201168"/>
          </a:xfrm>
          <a:prstGeom prst="rect">
            <a:avLst/>
          </a:prstGeom>
          <a:noFill/>
          <a:ln/>
        </p:spPr>
        <p:txBody>
          <a:bodyPr wrap="square" lIns="0" tIns="0" rIns="0" bIns="0" rtlCol="0" anchor="ctr"/>
          <a:lstStyle/>
          <a:p>
            <a:pPr marL="0" indent="0">
              <a:buNone/>
            </a:pPr>
            <a:r>
              <a:rPr lang="en-US" sz="800" b="1" kern="0" spc="300" dirty="0">
                <a:solidFill>
                  <a:schemeClr val="tx1"/>
                </a:solidFill>
              </a:rPr>
              <a:t>SHIELDFORGE</a:t>
            </a:r>
            <a:endParaRPr lang="en-US" sz="800" dirty="0"/>
          </a:p>
        </p:txBody>
      </p:sp>
      <p:sp>
        <p:nvSpPr>
          <p:cNvPr id="4" name="Text 1"/>
          <p:cNvSpPr>
            <a:spLocks noGrp="1"/>
          </p:cNvSpPr>
          <p:nvPr>
            <p:ph type="title" idx="102" hasCustomPrompt="1"/>
          </p:nvPr>
        </p:nvSpPr>
        <p:spPr>
          <a:xfrm>
            <a:off x="512064" y="658368"/>
            <a:ext cx="11167567" cy="658368"/>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5" name="Text 1"/>
          <p:cNvSpPr>
            <a:spLocks noGrp="1"/>
          </p:cNvSpPr>
          <p:nvPr>
            <p:ph type="body" idx="103" hasCustomPrompt="1"/>
          </p:nvPr>
        </p:nvSpPr>
        <p:spPr>
          <a:xfrm>
            <a:off x="512064" y="1371600"/>
            <a:ext cx="11167567" cy="347472"/>
          </a:xfrm>
          <a:prstGeom prst="rect">
            <a:avLst/>
          </a:prstGeom>
          <a:noFill/>
          <a:ln/>
        </p:spPr>
        <p:txBody>
          <a:bodyPr wrap="square" rtlCol="0"/>
          <a:lstStyle>
            <a:lvl1pPr marL="0" indent="0" algn="l">
              <a:buNone/>
              <a:defRPr lang="en-US" sz="1500" dirty="0">
                <a:solidFill>
                  <a:schemeClr val="tx1"/>
                </a:solidFill>
              </a:defRPr>
            </a:lvl1pPr>
          </a:lstStyle>
          <a:p>
            <a:pPr marL="0" indent="0" algn="l">
              <a:buNone/>
            </a:pPr>
            <a:endParaRPr lang="en-US" sz="1500" dirty="0"/>
          </a:p>
        </p:txBody>
      </p:sp>
      <p:sp>
        <p:nvSpPr>
          <p:cNvPr id="25" name="Slide Number Placeholder 0"/>
          <p:cNvSpPr>
            <a:spLocks noGrp="1"/>
          </p:cNvSpPr>
          <p:nvPr>
            <p:ph type="sldNum" sz="quarter" idx="4294967295"/>
          </p:nvPr>
        </p:nvSpPr>
        <p:spPr>
          <a:xfrm>
            <a:off x="11219688" y="6345936"/>
            <a:ext cx="45720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00000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G Dark Blue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Design/ec113594-1409-5d14-9233-57b3dcba7fdf/scratchpad/assets/mark_white.png"/>
          <p:cNvPicPr>
            <a:picLocks noChangeAspect="1"/>
          </p:cNvPicPr>
          <p:nvPr/>
        </p:nvPicPr>
        <p:blipFill>
          <a:blip r:embed="rId3"/>
          <a:stretch>
            <a:fillRect/>
          </a:stretch>
        </p:blipFill>
        <p:spPr>
          <a:xfrm>
            <a:off x="512064" y="6400800"/>
            <a:ext cx="512064" cy="103327"/>
          </a:xfrm>
          <a:prstGeom prst="rect">
            <a:avLst/>
          </a:prstGeom>
        </p:spPr>
      </p:pic>
      <p:sp>
        <p:nvSpPr>
          <p:cNvPr id="3" name="Text 0"/>
          <p:cNvSpPr/>
          <p:nvPr/>
        </p:nvSpPr>
        <p:spPr>
          <a:xfrm>
            <a:off x="512064" y="256032"/>
            <a:ext cx="7315200" cy="201168"/>
          </a:xfrm>
          <a:prstGeom prst="rect">
            <a:avLst/>
          </a:prstGeom>
          <a:noFill/>
          <a:ln/>
        </p:spPr>
        <p:txBody>
          <a:bodyPr wrap="square" lIns="0" tIns="0" rIns="0" bIns="0" rtlCol="0" anchor="ctr"/>
          <a:lstStyle/>
          <a:p>
            <a:pPr marL="0" indent="0">
              <a:buNone/>
            </a:pPr>
            <a:r>
              <a:rPr lang="en-US" sz="800" b="1" kern="0" spc="300" dirty="0">
                <a:solidFill>
                  <a:schemeClr val="bg1"/>
                </a:solidFill>
              </a:rPr>
              <a:t>SHIELDFORGE</a:t>
            </a:r>
            <a:endParaRPr lang="en-US" sz="800" dirty="0"/>
          </a:p>
        </p:txBody>
      </p:sp>
      <p:sp>
        <p:nvSpPr>
          <p:cNvPr id="4" name="Text 1"/>
          <p:cNvSpPr>
            <a:spLocks noGrp="1"/>
          </p:cNvSpPr>
          <p:nvPr>
            <p:ph type="title" idx="102" hasCustomPrompt="1"/>
          </p:nvPr>
        </p:nvSpPr>
        <p:spPr>
          <a:xfrm>
            <a:off x="512064" y="658368"/>
            <a:ext cx="11167567" cy="65836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5" name="Text 1"/>
          <p:cNvSpPr>
            <a:spLocks noGrp="1"/>
          </p:cNvSpPr>
          <p:nvPr>
            <p:ph type="body" idx="103" hasCustomPrompt="1"/>
          </p:nvPr>
        </p:nvSpPr>
        <p:spPr>
          <a:xfrm>
            <a:off x="512064" y="1371600"/>
            <a:ext cx="11167567" cy="347472"/>
          </a:xfrm>
          <a:prstGeom prst="rect">
            <a:avLst/>
          </a:prstGeom>
          <a:noFill/>
          <a:ln/>
        </p:spPr>
        <p:txBody>
          <a:bodyPr wrap="square" rtlCol="0"/>
          <a:lstStyle>
            <a:lvl1pPr marL="0" indent="0" algn="l">
              <a:buNone/>
              <a:defRPr lang="en-US" sz="1500" dirty="0">
                <a:solidFill>
                  <a:schemeClr val="bg2"/>
                </a:solidFill>
              </a:defRPr>
            </a:lvl1pPr>
          </a:lstStyle>
          <a:p>
            <a:pPr marL="0" indent="0" algn="l">
              <a:buNone/>
            </a:pPr>
            <a:endParaRPr lang="en-US" sz="1500" dirty="0"/>
          </a:p>
        </p:txBody>
      </p:sp>
      <p:sp>
        <p:nvSpPr>
          <p:cNvPr id="25" name="Slide Number Placeholder 0"/>
          <p:cNvSpPr>
            <a:spLocks noGrp="1"/>
          </p:cNvSpPr>
          <p:nvPr>
            <p:ph type="sldNum" sz="quarter" idx="4294967295"/>
          </p:nvPr>
        </p:nvSpPr>
        <p:spPr>
          <a:xfrm>
            <a:off x="11219688" y="6345936"/>
            <a:ext cx="45720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G Dark Magenta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Design/ec113594-1409-5d14-9233-57b3dcba7fdf/scratchpad/assets/mark_white.png"/>
          <p:cNvPicPr>
            <a:picLocks noChangeAspect="1"/>
          </p:cNvPicPr>
          <p:nvPr/>
        </p:nvPicPr>
        <p:blipFill>
          <a:blip r:embed="rId3"/>
          <a:stretch>
            <a:fillRect/>
          </a:stretch>
        </p:blipFill>
        <p:spPr>
          <a:xfrm>
            <a:off x="512064" y="6400800"/>
            <a:ext cx="512064" cy="103327"/>
          </a:xfrm>
          <a:prstGeom prst="rect">
            <a:avLst/>
          </a:prstGeom>
        </p:spPr>
      </p:pic>
      <p:sp>
        <p:nvSpPr>
          <p:cNvPr id="3" name="Text 0"/>
          <p:cNvSpPr/>
          <p:nvPr/>
        </p:nvSpPr>
        <p:spPr>
          <a:xfrm>
            <a:off x="512064" y="256032"/>
            <a:ext cx="7315200" cy="201168"/>
          </a:xfrm>
          <a:prstGeom prst="rect">
            <a:avLst/>
          </a:prstGeom>
          <a:noFill/>
          <a:ln/>
        </p:spPr>
        <p:txBody>
          <a:bodyPr wrap="square" lIns="0" tIns="0" rIns="0" bIns="0" rtlCol="0" anchor="ctr"/>
          <a:lstStyle/>
          <a:p>
            <a:pPr marL="0" indent="0">
              <a:buNone/>
            </a:pPr>
            <a:r>
              <a:rPr lang="en-US" sz="800" b="1" kern="0" spc="300" dirty="0">
                <a:solidFill>
                  <a:schemeClr val="bg1"/>
                </a:solidFill>
              </a:rPr>
              <a:t>SHIELDFORGE</a:t>
            </a:r>
            <a:endParaRPr lang="en-US" sz="800" dirty="0"/>
          </a:p>
        </p:txBody>
      </p:sp>
      <p:sp>
        <p:nvSpPr>
          <p:cNvPr id="4" name="Text 1"/>
          <p:cNvSpPr>
            <a:spLocks noGrp="1"/>
          </p:cNvSpPr>
          <p:nvPr>
            <p:ph type="title" idx="102" hasCustomPrompt="1"/>
          </p:nvPr>
        </p:nvSpPr>
        <p:spPr>
          <a:xfrm>
            <a:off x="512064" y="658368"/>
            <a:ext cx="11167567" cy="65836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5" name="Text 1"/>
          <p:cNvSpPr>
            <a:spLocks noGrp="1"/>
          </p:cNvSpPr>
          <p:nvPr>
            <p:ph type="body" idx="103" hasCustomPrompt="1"/>
          </p:nvPr>
        </p:nvSpPr>
        <p:spPr>
          <a:xfrm>
            <a:off x="512064" y="1371600"/>
            <a:ext cx="11167567" cy="347472"/>
          </a:xfrm>
          <a:prstGeom prst="rect">
            <a:avLst/>
          </a:prstGeom>
          <a:noFill/>
          <a:ln/>
        </p:spPr>
        <p:txBody>
          <a:bodyPr wrap="square" rtlCol="0"/>
          <a:lstStyle>
            <a:lvl1pPr marL="0" indent="0" algn="l">
              <a:buNone/>
              <a:defRPr lang="en-US" sz="1500" dirty="0">
                <a:solidFill>
                  <a:schemeClr val="bg2"/>
                </a:solidFill>
              </a:defRPr>
            </a:lvl1pPr>
          </a:lstStyle>
          <a:p>
            <a:pPr marL="0" indent="0" algn="l">
              <a:buNone/>
            </a:pPr>
            <a:endParaRPr lang="en-US" sz="1500" dirty="0"/>
          </a:p>
        </p:txBody>
      </p:sp>
      <p:sp>
        <p:nvSpPr>
          <p:cNvPr id="25" name="Slide Number Placeholder 0"/>
          <p:cNvSpPr>
            <a:spLocks noGrp="1"/>
          </p:cNvSpPr>
          <p:nvPr>
            <p:ph type="sldNum" sz="quarter" idx="4294967295"/>
          </p:nvPr>
        </p:nvSpPr>
        <p:spPr>
          <a:xfrm>
            <a:off x="11219688" y="6345936"/>
            <a:ext cx="45720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G Dark Glow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Design/ec113594-1409-5d14-9233-57b3dcba7fdf/scratchpad/assets/mark_white.png"/>
          <p:cNvPicPr>
            <a:picLocks noChangeAspect="1"/>
          </p:cNvPicPr>
          <p:nvPr/>
        </p:nvPicPr>
        <p:blipFill>
          <a:blip r:embed="rId3"/>
          <a:stretch>
            <a:fillRect/>
          </a:stretch>
        </p:blipFill>
        <p:spPr>
          <a:xfrm>
            <a:off x="512064" y="6400800"/>
            <a:ext cx="512064" cy="103327"/>
          </a:xfrm>
          <a:prstGeom prst="rect">
            <a:avLst/>
          </a:prstGeom>
        </p:spPr>
      </p:pic>
      <p:sp>
        <p:nvSpPr>
          <p:cNvPr id="3" name="Text 0"/>
          <p:cNvSpPr/>
          <p:nvPr/>
        </p:nvSpPr>
        <p:spPr>
          <a:xfrm>
            <a:off x="512064" y="256032"/>
            <a:ext cx="7315200" cy="201168"/>
          </a:xfrm>
          <a:prstGeom prst="rect">
            <a:avLst/>
          </a:prstGeom>
          <a:noFill/>
          <a:ln/>
        </p:spPr>
        <p:txBody>
          <a:bodyPr wrap="square" lIns="0" tIns="0" rIns="0" bIns="0" rtlCol="0" anchor="ctr"/>
          <a:lstStyle/>
          <a:p>
            <a:pPr marL="0" indent="0">
              <a:buNone/>
            </a:pPr>
            <a:r>
              <a:rPr lang="en-US" sz="800" b="1" kern="0" spc="300" dirty="0">
                <a:solidFill>
                  <a:schemeClr val="bg1"/>
                </a:solidFill>
              </a:rPr>
              <a:t>SHIELDFORGE</a:t>
            </a:r>
            <a:endParaRPr lang="en-US" sz="800" dirty="0"/>
          </a:p>
        </p:txBody>
      </p:sp>
      <p:sp>
        <p:nvSpPr>
          <p:cNvPr id="4" name="Text 1"/>
          <p:cNvSpPr>
            <a:spLocks noGrp="1"/>
          </p:cNvSpPr>
          <p:nvPr>
            <p:ph type="title" idx="102" hasCustomPrompt="1"/>
          </p:nvPr>
        </p:nvSpPr>
        <p:spPr>
          <a:xfrm>
            <a:off x="512064" y="658368"/>
            <a:ext cx="11167567" cy="65836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5" name="Text 1"/>
          <p:cNvSpPr>
            <a:spLocks noGrp="1"/>
          </p:cNvSpPr>
          <p:nvPr>
            <p:ph type="body" idx="103" hasCustomPrompt="1"/>
          </p:nvPr>
        </p:nvSpPr>
        <p:spPr>
          <a:xfrm>
            <a:off x="512064" y="1371600"/>
            <a:ext cx="11167567" cy="347472"/>
          </a:xfrm>
          <a:prstGeom prst="rect">
            <a:avLst/>
          </a:prstGeom>
          <a:noFill/>
          <a:ln/>
        </p:spPr>
        <p:txBody>
          <a:bodyPr wrap="square" rtlCol="0"/>
          <a:lstStyle>
            <a:lvl1pPr marL="0" indent="0" algn="l">
              <a:buNone/>
              <a:defRPr lang="en-US" sz="1500" dirty="0">
                <a:solidFill>
                  <a:schemeClr val="bg2"/>
                </a:solidFill>
              </a:defRPr>
            </a:lvl1pPr>
          </a:lstStyle>
          <a:p>
            <a:pPr marL="0" indent="0" algn="l">
              <a:buNone/>
            </a:pPr>
            <a:endParaRPr lang="en-US" sz="1500" dirty="0"/>
          </a:p>
        </p:txBody>
      </p:sp>
      <p:sp>
        <p:nvSpPr>
          <p:cNvPr id="25" name="Slide Number Placeholder 0"/>
          <p:cNvSpPr>
            <a:spLocks noGrp="1"/>
          </p:cNvSpPr>
          <p:nvPr>
            <p:ph type="sldNum" sz="quarter" idx="4294967295"/>
          </p:nvPr>
        </p:nvSpPr>
        <p:spPr>
          <a:xfrm>
            <a:off x="11219688" y="6345936"/>
            <a:ext cx="45720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G Dark Gold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Design/ec113594-1409-5d14-9233-57b3dcba7fdf/scratchpad/assets/mark_white.png"/>
          <p:cNvPicPr>
            <a:picLocks noChangeAspect="1"/>
          </p:cNvPicPr>
          <p:nvPr/>
        </p:nvPicPr>
        <p:blipFill>
          <a:blip r:embed="rId3"/>
          <a:stretch>
            <a:fillRect/>
          </a:stretch>
        </p:blipFill>
        <p:spPr>
          <a:xfrm>
            <a:off x="512064" y="6400800"/>
            <a:ext cx="512064" cy="103327"/>
          </a:xfrm>
          <a:prstGeom prst="rect">
            <a:avLst/>
          </a:prstGeom>
        </p:spPr>
      </p:pic>
      <p:sp>
        <p:nvSpPr>
          <p:cNvPr id="3" name="Text 0"/>
          <p:cNvSpPr/>
          <p:nvPr/>
        </p:nvSpPr>
        <p:spPr>
          <a:xfrm>
            <a:off x="512064" y="256032"/>
            <a:ext cx="7315200" cy="201168"/>
          </a:xfrm>
          <a:prstGeom prst="rect">
            <a:avLst/>
          </a:prstGeom>
          <a:noFill/>
          <a:ln/>
        </p:spPr>
        <p:txBody>
          <a:bodyPr wrap="square" lIns="0" tIns="0" rIns="0" bIns="0" rtlCol="0" anchor="ctr"/>
          <a:lstStyle/>
          <a:p>
            <a:pPr marL="0" indent="0">
              <a:buNone/>
            </a:pPr>
            <a:r>
              <a:rPr lang="en-US" sz="800" b="1" kern="0" spc="300" dirty="0">
                <a:solidFill>
                  <a:schemeClr val="bg1"/>
                </a:solidFill>
              </a:rPr>
              <a:t>SHIELDFORGE</a:t>
            </a:r>
            <a:endParaRPr lang="en-US" sz="800" dirty="0"/>
          </a:p>
        </p:txBody>
      </p:sp>
      <p:sp>
        <p:nvSpPr>
          <p:cNvPr id="4" name="Text 1"/>
          <p:cNvSpPr>
            <a:spLocks noGrp="1"/>
          </p:cNvSpPr>
          <p:nvPr>
            <p:ph type="title" idx="102" hasCustomPrompt="1"/>
          </p:nvPr>
        </p:nvSpPr>
        <p:spPr>
          <a:xfrm>
            <a:off x="512064" y="658368"/>
            <a:ext cx="11167567" cy="65836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5" name="Text 1"/>
          <p:cNvSpPr>
            <a:spLocks noGrp="1"/>
          </p:cNvSpPr>
          <p:nvPr>
            <p:ph type="body" idx="103" hasCustomPrompt="1"/>
          </p:nvPr>
        </p:nvSpPr>
        <p:spPr>
          <a:xfrm>
            <a:off x="512064" y="1371600"/>
            <a:ext cx="11167567" cy="347472"/>
          </a:xfrm>
          <a:prstGeom prst="rect">
            <a:avLst/>
          </a:prstGeom>
          <a:noFill/>
          <a:ln/>
        </p:spPr>
        <p:txBody>
          <a:bodyPr wrap="square" rtlCol="0"/>
          <a:lstStyle>
            <a:lvl1pPr marL="0" indent="0" algn="l">
              <a:buNone/>
              <a:defRPr lang="en-US" sz="1500" dirty="0">
                <a:solidFill>
                  <a:schemeClr val="bg2"/>
                </a:solidFill>
              </a:defRPr>
            </a:lvl1pPr>
          </a:lstStyle>
          <a:p>
            <a:pPr marL="0" indent="0" algn="l">
              <a:buNone/>
            </a:pPr>
            <a:endParaRPr lang="en-US" sz="1500" dirty="0"/>
          </a:p>
        </p:txBody>
      </p:sp>
      <p:sp>
        <p:nvSpPr>
          <p:cNvPr id="25" name="Slide Number Placeholder 0"/>
          <p:cNvSpPr>
            <a:spLocks noGrp="1"/>
          </p:cNvSpPr>
          <p:nvPr>
            <p:ph type="sldNum" sz="quarter" idx="4294967295"/>
          </p:nvPr>
        </p:nvSpPr>
        <p:spPr>
          <a:xfrm>
            <a:off x="11219688" y="6345936"/>
            <a:ext cx="45720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G Closing">
    <p:bg>
      <p:bgPr>
        <a:solidFill>
          <a:srgbClr val="000000"/>
        </a:solidFill>
        <a:effectLst/>
      </p:bgPr>
    </p:bg>
    <p:spTree>
      <p:nvGrpSpPr>
        <p:cNvPr id="1" name=""/>
        <p:cNvGrpSpPr/>
        <p:nvPr/>
      </p:nvGrpSpPr>
      <p:grpSpPr>
        <a:xfrm>
          <a:off x="0" y="0"/>
          <a:ext cx="0" cy="0"/>
          <a:chOff x="0" y="0"/>
          <a:chExt cx="0" cy="0"/>
        </a:xfrm>
      </p:grpSpPr>
      <p:pic>
        <p:nvPicPr>
          <p:cNvPr id="2" name="Image 0" descr="/tmp/claude-0/-home-user-Design/ec113594-1409-5d14-9233-57b3dcba7fdf/scratchpad/bgs/p47.png"/>
          <p:cNvPicPr>
            <a:picLocks noChangeAspect="1"/>
          </p:cNvPicPr>
          <p:nvPr/>
        </p:nvPicPr>
        <p:blipFill>
          <a:blip r:embed="rId2"/>
          <a:stretch>
            <a:fillRect/>
          </a:stretch>
        </p:blipFill>
        <p:spPr>
          <a:xfrm>
            <a:off x="1856232" y="822960"/>
            <a:ext cx="8458200" cy="4773168"/>
          </a:xfrm>
          <a:prstGeom prst="rect">
            <a:avLst/>
          </a:prstGeom>
        </p:spPr>
      </p:pic>
      <p:pic>
        <p:nvPicPr>
          <p:cNvPr id="3" name="Image 1" descr="/tmp/claude-0/-home-user-Design/ec113594-1409-5d14-9233-57b3dcba7fdf/scratchpad/assets/logo_white.png"/>
          <p:cNvPicPr>
            <a:picLocks noChangeAspect="1"/>
          </p:cNvPicPr>
          <p:nvPr/>
        </p:nvPicPr>
        <p:blipFill>
          <a:blip r:embed="rId3"/>
          <a:stretch>
            <a:fillRect/>
          </a:stretch>
        </p:blipFill>
        <p:spPr>
          <a:xfrm>
            <a:off x="5455768" y="6035040"/>
            <a:ext cx="1280160" cy="305410"/>
          </a:xfrm>
          <a:prstGeom prst="rect">
            <a:avLst/>
          </a:prstGeom>
        </p:spPr>
      </p:pic>
      <p:sp>
        <p:nvSpPr>
          <p:cNvPr id="4" name="Text 0"/>
          <p:cNvSpPr>
            <a:spLocks noGrp="1"/>
          </p:cNvSpPr>
          <p:nvPr>
            <p:ph type="title" idx="102" hasCustomPrompt="1"/>
          </p:nvPr>
        </p:nvSpPr>
        <p:spPr>
          <a:xfrm>
            <a:off x="2286000" y="2788920"/>
            <a:ext cx="7619695" cy="822960"/>
          </a:xfrm>
          <a:prstGeom prst="rect">
            <a:avLst/>
          </a:prstGeom>
          <a:noFill/>
          <a:ln/>
        </p:spPr>
        <p:txBody>
          <a:bodyPr wrap="square" rtlCol="0"/>
          <a:lstStyle>
            <a:lvl1pPr marL="0" indent="0" algn="ctr">
              <a:buNone/>
              <a:defRPr lang="en-US" sz="4000" kern="0" spc="800" dirty="0">
                <a:solidFill>
                  <a:schemeClr val="bg1"/>
                </a:solidFill>
                <a:latin typeface="Trenda IG Text Light" pitchFamily="34" charset="0"/>
                <a:ea typeface="Trenda IG Text Light" pitchFamily="34" charset="-122"/>
                <a:cs typeface="Trenda IG Text Light" pitchFamily="34" charset="-120"/>
              </a:defRPr>
            </a:lvl1pPr>
          </a:lstStyle>
          <a:p>
            <a:pPr marL="0" indent="0" algn="ctr">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19688" y="6345936"/>
            <a:ext cx="457200" cy="219456"/>
          </a:xfrm>
          <a:prstGeom prst="rect">
            <a:avLst/>
          </a:prstGeom>
          <a:extLst>
            <a:ext uri="{C572A759-6A51-4108-AA02-DFA0A04FC94B}">
              <ma14:wrappingTextBoxFlag xmlns="" xmlns:ma14="http://schemas.microsoft.com/office/mac/drawingml/2011/main" val="0"/>
            </a:ext>
          </a:extLst>
        </p:spPr>
        <p:txBody>
          <a:bodyPr/>
          <a:lstStyle>
            <a:lvl1pPr>
              <a:defRPr sz="900">
                <a:solidFill>
                  <a:srgbClr val="00000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1097280" y="2377440"/>
            <a:ext cx="9997135" cy="1600200"/>
          </a:xfrm>
          <a:prstGeom prst="rect">
            <a:avLst/>
          </a:prstGeom>
          <a:noFill/>
          <a:ln/>
        </p:spPr>
        <p:txBody>
          <a:bodyPr wrap="square" lIns="0" tIns="0" rIns="0" bIns="0" rtlCol="0" anchor="ctr"/>
          <a:lstStyle/>
          <a:p>
            <a:pPr marL="0" indent="0" algn="ctr">
              <a:buNone/>
            </a:pPr>
            <a:endParaRPr lang="en-US" sz="5400" dirty="0"/>
          </a:p>
          <a:p>
            <a:pPr marL="0" indent="0" algn="ctr">
              <a:buNone/>
            </a:pPr>
            <a:r>
              <a:rPr lang="en-US" sz="2200" kern="0" spc="600" dirty="0">
                <a:solidFill>
                  <a:schemeClr val="bg1"/>
                </a:solidFill>
                <a:latin typeface="Trenda IG Text Light" pitchFamily="34" charset="0"/>
                <a:ea typeface="Trenda IG Text Light" pitchFamily="34" charset="-122"/>
                <a:cs typeface="Trenda IG Text Light" pitchFamily="34" charset="-120"/>
              </a:rPr>
              <a:t>SOX / SOC EVIDENCE AUTOMATION</a:t>
            </a:r>
            <a:endParaRPr lang="en-US" sz="5400" dirty="0"/>
          </a:p>
        </p:txBody>
      </p:sp>
      <p:sp>
        <p:nvSpPr>
          <p:cNvPr id="3" name="Text 0"/>
          <p:cNvSpPr>
            <a:spLocks noGrp="1"/>
          </p:cNvSpPr>
          <p:nvPr>
            <p:ph type="body" idx="102" hasCustomPrompt="1"/>
          </p:nvPr>
        </p:nvSpPr>
        <p:spPr>
          <a:xfrm>
            <a:off x="1097280" y="3977640"/>
            <a:ext cx="9997135" cy="868680"/>
          </a:xfrm>
          <a:prstGeom prst="rect">
            <a:avLst/>
          </a:prstGeom>
          <a:noFill/>
          <a:ln/>
        </p:spPr>
        <p:txBody>
          <a:bodyPr wrap="square" lIns="0" tIns="0" rIns="0" bIns="0" rtlCol="0" anchor="t"/>
          <a:lstStyle/>
          <a:p>
            <a:pPr marL="0" indent="0" algn="ctr">
              <a:buNone/>
            </a:pPr>
            <a:r>
              <a:rPr lang="en-US" sz="1600" dirty="0">
                <a:solidFill>
                  <a:schemeClr val="bg1"/>
                </a:solidFill>
              </a:rPr>
              <a:t>Salesforce capabilities and enterprise application opportunities</a:t>
            </a:r>
            <a:endParaRPr lang="en-US" sz="1600" dirty="0"/>
          </a:p>
        </p:txBody>
      </p:sp>
      <p:sp>
        <p:nvSpPr>
          <p:cNvPr id="4" name="Text 0"/>
          <p:cNvSpPr>
            <a:spLocks noGrp="1"/>
          </p:cNvSpPr>
          <p:nvPr>
            <p:ph type="body" idx="103" hasCustomPrompt="1"/>
          </p:nvPr>
        </p:nvSpPr>
        <p:spPr>
          <a:xfrm>
            <a:off x="3355848" y="5989320"/>
            <a:ext cx="5486400" cy="274320"/>
          </a:xfrm>
          <a:prstGeom prst="rect">
            <a:avLst/>
          </a:prstGeom>
          <a:noFill/>
          <a:ln/>
        </p:spPr>
        <p:txBody>
          <a:bodyPr wrap="square" lIns="0" tIns="0" rIns="0" bIns="0" rtlCol="0"/>
          <a:lstStyle/>
          <a:p>
            <a:pPr marL="0" indent="0" algn="ctr">
              <a:buNone/>
            </a:pPr>
            <a:r>
              <a:rPr lang="en-US" sz="900" b="1" kern="0" spc="300" dirty="0">
                <a:solidFill>
                  <a:schemeClr val="bg1"/>
                </a:solidFill>
              </a:rPr>
              <a:t>22 OCTOBER 2026</a:t>
            </a:r>
            <a:endParaRPr lang="en-US" sz="900" dirty="0"/>
          </a:p>
        </p:txBody>
      </p:sp>
      <p:pic>
        <p:nvPicPr>
          <p:cNvPr id="8" name="Picture 7">
            <a:extLst>
              <a:ext uri="{FF2B5EF4-FFF2-40B4-BE49-F238E27FC236}">
                <a16:creationId xmlns:a16="http://schemas.microsoft.com/office/drawing/2014/main" id="{DB2A09CA-CB82-25DD-4D33-7B17A26386DA}"/>
              </a:ext>
            </a:extLst>
          </p:cNvPr>
          <p:cNvPicPr>
            <a:picLocks noChangeAspect="1"/>
          </p:cNvPicPr>
          <p:nvPr/>
        </p:nvPicPr>
        <p:blipFill>
          <a:blip r:embed="rId3"/>
          <a:stretch>
            <a:fillRect/>
          </a:stretch>
        </p:blipFill>
        <p:spPr>
          <a:xfrm>
            <a:off x="3285509" y="1626046"/>
            <a:ext cx="5407270" cy="22627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09321" y="635508"/>
            <a:ext cx="11167567" cy="658368"/>
          </a:xfrm>
          <a:prstGeom prst="rect">
            <a:avLst/>
          </a:prstGeom>
          <a:noFill/>
          <a:ln/>
        </p:spPr>
        <p:txBody>
          <a:bodyPr wrap="square" lIns="0" tIns="0" rIns="0" bIns="0" rtlCol="0" anchor="b"/>
          <a:lstStyle/>
          <a:p>
            <a:pPr marL="0" indent="0" algn="l">
              <a:buNone/>
            </a:pPr>
            <a:r>
              <a:rPr lang="en-US" sz="3200" b="1" dirty="0">
                <a:solidFill>
                  <a:schemeClr val="tx1"/>
                </a:solidFill>
              </a:rPr>
              <a:t>ShieldForge at a glance</a:t>
            </a:r>
            <a:endParaRPr lang="en-US" sz="3200" dirty="0"/>
          </a:p>
        </p:txBody>
      </p:sp>
      <p:sp>
        <p:nvSpPr>
          <p:cNvPr id="3" name="Text 1"/>
          <p:cNvSpPr>
            <a:spLocks noGrp="1"/>
          </p:cNvSpPr>
          <p:nvPr>
            <p:ph type="body" idx="103" hasCustomPrompt="1"/>
          </p:nvPr>
        </p:nvSpPr>
        <p:spPr>
          <a:xfrm>
            <a:off x="512064" y="1371600"/>
            <a:ext cx="11167567" cy="347472"/>
          </a:xfrm>
          <a:prstGeom prst="rect">
            <a:avLst/>
          </a:prstGeom>
          <a:noFill/>
          <a:ln/>
        </p:spPr>
        <p:txBody>
          <a:bodyPr wrap="square" lIns="0" tIns="0" rIns="0" bIns="0" rtlCol="0" anchor="t"/>
          <a:lstStyle/>
          <a:p>
            <a:pPr marL="0" indent="0" algn="l">
              <a:buNone/>
            </a:pPr>
            <a:r>
              <a:rPr lang="en-US" sz="1500" dirty="0">
                <a:solidFill>
                  <a:schemeClr val="tx1"/>
                </a:solidFill>
              </a:rPr>
              <a:t>Salesforce governance application built by Insight Global</a:t>
            </a:r>
            <a:endParaRPr lang="en-US" sz="1500" dirty="0"/>
          </a:p>
        </p:txBody>
      </p:sp>
      <p:sp>
        <p:nvSpPr>
          <p:cNvPr id="4" name="Capability dot 1"/>
          <p:cNvSpPr/>
          <p:nvPr/>
        </p:nvSpPr>
        <p:spPr>
          <a:xfrm>
            <a:off x="512064" y="2148840"/>
            <a:ext cx="274320" cy="274320"/>
          </a:xfrm>
          <a:prstGeom prst="ellipse">
            <a:avLst/>
          </a:prstGeom>
          <a:solidFill>
            <a:schemeClr val="accent1"/>
          </a:solidFill>
          <a:ln/>
        </p:spPr>
        <p:txBody>
          <a:bodyPr/>
          <a:lstStyle/>
          <a:p>
            <a:endParaRPr lang="en-IN"/>
          </a:p>
        </p:txBody>
      </p:sp>
      <p:sp>
        <p:nvSpPr>
          <p:cNvPr id="5" name="Capability 1 title"/>
          <p:cNvSpPr txBox="1"/>
          <p:nvPr/>
        </p:nvSpPr>
        <p:spPr>
          <a:xfrm>
            <a:off x="969264" y="2103120"/>
            <a:ext cx="4754880" cy="365760"/>
          </a:xfrm>
          <a:prstGeom prst="rect">
            <a:avLst/>
          </a:prstGeom>
          <a:noFill/>
          <a:ln/>
        </p:spPr>
        <p:txBody>
          <a:bodyPr wrap="square" lIns="0" tIns="0" rIns="0" bIns="0" rtlCol="0" anchor="ctr"/>
          <a:lstStyle/>
          <a:p>
            <a:pPr marL="0" indent="0">
              <a:buNone/>
            </a:pPr>
            <a:r>
              <a:rPr lang="en-US" sz="1800" b="1" dirty="0">
                <a:solidFill>
                  <a:schemeClr val="tx1"/>
                </a:solidFill>
              </a:rPr>
              <a:t>Access intelligence</a:t>
            </a:r>
            <a:endParaRPr lang="en-US" sz="1800" dirty="0"/>
          </a:p>
        </p:txBody>
      </p:sp>
      <p:sp>
        <p:nvSpPr>
          <p:cNvPr id="6" name="Capability 1 body"/>
          <p:cNvSpPr txBox="1"/>
          <p:nvPr/>
        </p:nvSpPr>
        <p:spPr>
          <a:xfrm>
            <a:off x="969264" y="2514600"/>
            <a:ext cx="4754880" cy="640080"/>
          </a:xfrm>
          <a:prstGeom prst="rect">
            <a:avLst/>
          </a:prstGeom>
          <a:noFill/>
          <a:ln/>
        </p:spPr>
        <p:txBody>
          <a:bodyPr wrap="square" lIns="0" tIns="0" rIns="0" bIns="0" rtlCol="0" anchor="t"/>
          <a:lstStyle/>
          <a:p>
            <a:pPr marL="0" indent="0">
              <a:buNone/>
            </a:pPr>
            <a:r>
              <a:rPr lang="en-US" sz="1400" dirty="0">
                <a:solidFill>
                  <a:schemeClr val="tx1"/>
                </a:solidFill>
              </a:rPr>
              <a:t>User 360, effective access comparisons</a:t>
            </a:r>
            <a:endParaRPr lang="en-US" sz="1400" dirty="0"/>
          </a:p>
          <a:p>
            <a:pPr marL="0" indent="0">
              <a:buNone/>
            </a:pPr>
            <a:r>
              <a:rPr lang="en-US" sz="1400" dirty="0">
                <a:solidFill>
                  <a:schemeClr val="tx1"/>
                </a:solidFill>
              </a:rPr>
              <a:t>and profile-to-permission-set migration</a:t>
            </a:r>
            <a:endParaRPr lang="en-US" sz="1400" dirty="0"/>
          </a:p>
        </p:txBody>
      </p:sp>
      <p:sp>
        <p:nvSpPr>
          <p:cNvPr id="7" name="Capability dot 2"/>
          <p:cNvSpPr/>
          <p:nvPr/>
        </p:nvSpPr>
        <p:spPr>
          <a:xfrm>
            <a:off x="512064" y="3474720"/>
            <a:ext cx="274320" cy="274320"/>
          </a:xfrm>
          <a:prstGeom prst="ellipse">
            <a:avLst/>
          </a:prstGeom>
          <a:solidFill>
            <a:schemeClr val="accent2"/>
          </a:solidFill>
          <a:ln/>
        </p:spPr>
        <p:txBody>
          <a:bodyPr/>
          <a:lstStyle/>
          <a:p>
            <a:endParaRPr lang="en-IN"/>
          </a:p>
        </p:txBody>
      </p:sp>
      <p:sp>
        <p:nvSpPr>
          <p:cNvPr id="8" name="Capability 2 title"/>
          <p:cNvSpPr txBox="1"/>
          <p:nvPr/>
        </p:nvSpPr>
        <p:spPr>
          <a:xfrm>
            <a:off x="969264" y="3429000"/>
            <a:ext cx="4754880" cy="365760"/>
          </a:xfrm>
          <a:prstGeom prst="rect">
            <a:avLst/>
          </a:prstGeom>
          <a:noFill/>
          <a:ln/>
        </p:spPr>
        <p:txBody>
          <a:bodyPr wrap="square" lIns="0" tIns="0" rIns="0" bIns="0" rtlCol="0" anchor="ctr"/>
          <a:lstStyle/>
          <a:p>
            <a:pPr marL="0" indent="0">
              <a:buNone/>
            </a:pPr>
            <a:r>
              <a:rPr lang="en-US" sz="1800" b="1" dirty="0">
                <a:solidFill>
                  <a:schemeClr val="tx1"/>
                </a:solidFill>
              </a:rPr>
              <a:t>Release and storage insights</a:t>
            </a:r>
            <a:endParaRPr lang="en-US" sz="1800" dirty="0"/>
          </a:p>
        </p:txBody>
      </p:sp>
      <p:sp>
        <p:nvSpPr>
          <p:cNvPr id="9" name="Capability 2 body"/>
          <p:cNvSpPr txBox="1"/>
          <p:nvPr/>
        </p:nvSpPr>
        <p:spPr>
          <a:xfrm>
            <a:off x="969264" y="3840480"/>
            <a:ext cx="4754880" cy="640080"/>
          </a:xfrm>
          <a:prstGeom prst="rect">
            <a:avLst/>
          </a:prstGeom>
          <a:noFill/>
          <a:ln/>
        </p:spPr>
        <p:txBody>
          <a:bodyPr wrap="square" lIns="0" tIns="0" rIns="0" bIns="0" rtlCol="0" anchor="t"/>
          <a:lstStyle/>
          <a:p>
            <a:pPr marL="0" indent="0">
              <a:buNone/>
            </a:pPr>
            <a:r>
              <a:rPr lang="en-US" sz="1400" dirty="0">
                <a:solidFill>
                  <a:schemeClr val="tx1"/>
                </a:solidFill>
              </a:rPr>
              <a:t>Release Radar and CAB evidence</a:t>
            </a:r>
            <a:endParaRPr lang="en-US" sz="1400" dirty="0"/>
          </a:p>
          <a:p>
            <a:pPr marL="0" indent="0">
              <a:buNone/>
            </a:pPr>
            <a:r>
              <a:rPr lang="en-US" sz="1400" dirty="0">
                <a:solidFill>
                  <a:schemeClr val="tx1"/>
                </a:solidFill>
              </a:rPr>
              <a:t>Storage archiving, FinOps and Dev Tools</a:t>
            </a:r>
            <a:endParaRPr lang="en-US" sz="1400" dirty="0"/>
          </a:p>
        </p:txBody>
      </p:sp>
      <p:sp>
        <p:nvSpPr>
          <p:cNvPr id="10" name="Capability dot 3"/>
          <p:cNvSpPr/>
          <p:nvPr/>
        </p:nvSpPr>
        <p:spPr>
          <a:xfrm>
            <a:off x="512064" y="4800600"/>
            <a:ext cx="274320" cy="274320"/>
          </a:xfrm>
          <a:prstGeom prst="ellipse">
            <a:avLst/>
          </a:prstGeom>
          <a:solidFill>
            <a:schemeClr val="accent3"/>
          </a:solidFill>
          <a:ln/>
        </p:spPr>
        <p:txBody>
          <a:bodyPr/>
          <a:lstStyle/>
          <a:p>
            <a:endParaRPr lang="en-IN"/>
          </a:p>
        </p:txBody>
      </p:sp>
      <p:sp>
        <p:nvSpPr>
          <p:cNvPr id="11" name="Capability 3 title"/>
          <p:cNvSpPr txBox="1"/>
          <p:nvPr/>
        </p:nvSpPr>
        <p:spPr>
          <a:xfrm>
            <a:off x="969264" y="4754880"/>
            <a:ext cx="4754880" cy="365760"/>
          </a:xfrm>
          <a:prstGeom prst="rect">
            <a:avLst/>
          </a:prstGeom>
          <a:noFill/>
          <a:ln/>
        </p:spPr>
        <p:txBody>
          <a:bodyPr wrap="square" lIns="0" tIns="0" rIns="0" bIns="0" rtlCol="0" anchor="ctr"/>
          <a:lstStyle/>
          <a:p>
            <a:pPr marL="0" indent="0">
              <a:buNone/>
            </a:pPr>
            <a:r>
              <a:rPr lang="en-US" sz="1800" b="1" dirty="0">
                <a:solidFill>
                  <a:schemeClr val="tx1"/>
                </a:solidFill>
              </a:rPr>
              <a:t>Audit and compliance readiness</a:t>
            </a:r>
            <a:endParaRPr lang="en-US" sz="1800" dirty="0"/>
          </a:p>
        </p:txBody>
      </p:sp>
      <p:sp>
        <p:nvSpPr>
          <p:cNvPr id="12" name="Capability 3 body"/>
          <p:cNvSpPr txBox="1"/>
          <p:nvPr/>
        </p:nvSpPr>
        <p:spPr>
          <a:xfrm>
            <a:off x="969264" y="5166360"/>
            <a:ext cx="4754880" cy="640080"/>
          </a:xfrm>
          <a:prstGeom prst="rect">
            <a:avLst/>
          </a:prstGeom>
          <a:noFill/>
          <a:ln/>
        </p:spPr>
        <p:txBody>
          <a:bodyPr wrap="square" lIns="0" tIns="0" rIns="0" bIns="0" rtlCol="0" anchor="t"/>
          <a:lstStyle/>
          <a:p>
            <a:pPr marL="0" indent="0">
              <a:buNone/>
            </a:pPr>
            <a:r>
              <a:rPr lang="en-US" sz="1400" dirty="0">
                <a:solidFill>
                  <a:schemeClr val="tx1"/>
                </a:solidFill>
              </a:rPr>
              <a:t>SOX, HIPAA, PCI-DSS, GDPR and NIST</a:t>
            </a:r>
            <a:endParaRPr lang="en-US" sz="1400" dirty="0"/>
          </a:p>
          <a:p>
            <a:pPr marL="0" indent="0">
              <a:buNone/>
            </a:pPr>
            <a:r>
              <a:rPr lang="en-US" sz="1400" dirty="0">
                <a:solidFill>
                  <a:schemeClr val="tx1"/>
                </a:solidFill>
              </a:rPr>
              <a:t>Risk findings with evidence exports</a:t>
            </a:r>
            <a:endParaRPr lang="en-US" sz="1400" dirty="0"/>
          </a:p>
        </p:txBody>
      </p:sp>
      <p:sp>
        <p:nvSpPr>
          <p:cNvPr id="13" name="Product panel"/>
          <p:cNvSpPr/>
          <p:nvPr/>
        </p:nvSpPr>
        <p:spPr>
          <a:xfrm>
            <a:off x="5989320" y="1965960"/>
            <a:ext cx="5687568" cy="4114800"/>
          </a:xfrm>
          <a:prstGeom prst="rect">
            <a:avLst/>
          </a:prstGeom>
          <a:solidFill>
            <a:schemeClr val="bg2"/>
          </a:solidFill>
          <a:ln/>
        </p:spPr>
        <p:txBody>
          <a:bodyPr/>
          <a:lstStyle/>
          <a:p>
            <a:endParaRPr lang="en-IN"/>
          </a:p>
        </p:txBody>
      </p:sp>
      <p:pic>
        <p:nvPicPr>
          <p:cNvPr id="14" name="Product screenshot" descr="Illustrative ShieldForge dashboard view showing the org security posture overview"/>
          <p:cNvPicPr>
            <a:picLocks noChangeAspect="1"/>
          </p:cNvPicPr>
          <p:nvPr/>
        </p:nvPicPr>
        <p:blipFill>
          <a:blip r:embed="rId3"/>
          <a:stretch>
            <a:fillRect/>
          </a:stretch>
        </p:blipFill>
        <p:spPr>
          <a:xfrm>
            <a:off x="6217920" y="2194560"/>
            <a:ext cx="5230368" cy="2112264"/>
          </a:xfrm>
          <a:prstGeom prst="rect">
            <a:avLst/>
          </a:prstGeom>
        </p:spPr>
      </p:pic>
      <p:sp>
        <p:nvSpPr>
          <p:cNvPr id="15" name="Product claim"/>
          <p:cNvSpPr txBox="1"/>
          <p:nvPr/>
        </p:nvSpPr>
        <p:spPr>
          <a:xfrm>
            <a:off x="6217920" y="4526280"/>
            <a:ext cx="5230368" cy="658368"/>
          </a:xfrm>
          <a:prstGeom prst="rect">
            <a:avLst/>
          </a:prstGeom>
          <a:noFill/>
          <a:ln/>
        </p:spPr>
        <p:txBody>
          <a:bodyPr wrap="square" lIns="0" tIns="0" rIns="0" bIns="0" rtlCol="0" anchor="t"/>
          <a:lstStyle/>
          <a:p>
            <a:pPr marL="0" indent="0">
              <a:buNone/>
            </a:pPr>
            <a:r>
              <a:rPr lang="en-US" sz="1700" b="1" dirty="0">
                <a:solidFill>
                  <a:schemeClr val="tx1"/>
                </a:solidFill>
              </a:rPr>
              <a:t>Salesforce Security Review approved</a:t>
            </a:r>
            <a:endParaRPr lang="en-US" sz="1700" dirty="0"/>
          </a:p>
          <a:p>
            <a:pPr marL="0" indent="0">
              <a:buNone/>
            </a:pPr>
            <a:r>
              <a:rPr lang="en-US" sz="1700" b="1" dirty="0">
                <a:solidFill>
                  <a:schemeClr val="tx1"/>
                </a:solidFill>
              </a:rPr>
              <a:t>Live on AppExchange</a:t>
            </a:r>
            <a:endParaRPr lang="en-US" sz="1700" dirty="0"/>
          </a:p>
        </p:txBody>
      </p:sp>
      <p:sp>
        <p:nvSpPr>
          <p:cNvPr id="16" name="Product data note"/>
          <p:cNvSpPr txBox="1"/>
          <p:nvPr/>
        </p:nvSpPr>
        <p:spPr>
          <a:xfrm>
            <a:off x="6217920" y="5285232"/>
            <a:ext cx="5230368" cy="548640"/>
          </a:xfrm>
          <a:prstGeom prst="rect">
            <a:avLst/>
          </a:prstGeom>
          <a:noFill/>
          <a:ln/>
        </p:spPr>
        <p:txBody>
          <a:bodyPr wrap="square" lIns="0" tIns="0" rIns="0" bIns="0" rtlCol="0" anchor="t"/>
          <a:lstStyle/>
          <a:p>
            <a:pPr marL="0" indent="0">
              <a:buNone/>
            </a:pPr>
            <a:r>
              <a:rPr lang="en-US" sz="1400" dirty="0">
                <a:solidFill>
                  <a:srgbClr val="4D4D4D"/>
                </a:solidFill>
              </a:rPr>
              <a:t>Native in-org processing</a:t>
            </a:r>
            <a:endParaRPr lang="en-US" sz="1400" dirty="0"/>
          </a:p>
          <a:p>
            <a:pPr marL="0" indent="0">
              <a:buNone/>
            </a:pPr>
            <a:r>
              <a:rPr lang="en-US" sz="1400" dirty="0">
                <a:solidFill>
                  <a:srgbClr val="4D4D4D"/>
                </a:solidFill>
              </a:rPr>
              <a:t>Customer business data stays in Salesforce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12064" y="658368"/>
            <a:ext cx="11167567" cy="658368"/>
          </a:xfrm>
          <a:prstGeom prst="rect">
            <a:avLst/>
          </a:prstGeom>
          <a:noFill/>
          <a:ln/>
        </p:spPr>
        <p:txBody>
          <a:bodyPr wrap="square" lIns="0" tIns="0" rIns="0" bIns="0" rtlCol="0" anchor="b"/>
          <a:lstStyle/>
          <a:p>
            <a:pPr marL="0" indent="0" algn="l">
              <a:buNone/>
            </a:pPr>
            <a:r>
              <a:rPr lang="en-US" sz="3200" b="1" dirty="0">
                <a:solidFill>
                  <a:schemeClr val="bg1"/>
                </a:solidFill>
              </a:rPr>
              <a:t>The audit evidence lifecycle</a:t>
            </a:r>
            <a:endParaRPr lang="en-US" sz="3200" dirty="0"/>
          </a:p>
        </p:txBody>
      </p:sp>
      <p:sp>
        <p:nvSpPr>
          <p:cNvPr id="3" name="Text 1"/>
          <p:cNvSpPr>
            <a:spLocks noGrp="1"/>
          </p:cNvSpPr>
          <p:nvPr>
            <p:ph type="body" idx="103" hasCustomPrompt="1"/>
          </p:nvPr>
        </p:nvSpPr>
        <p:spPr>
          <a:xfrm>
            <a:off x="512064" y="1371600"/>
            <a:ext cx="11167567" cy="347472"/>
          </a:xfrm>
          <a:prstGeom prst="rect">
            <a:avLst/>
          </a:prstGeom>
          <a:noFill/>
          <a:ln/>
        </p:spPr>
        <p:txBody>
          <a:bodyPr wrap="square" lIns="0" tIns="0" rIns="0" bIns="0" rtlCol="0" anchor="t"/>
          <a:lstStyle/>
          <a:p>
            <a:pPr marL="0" indent="0" algn="l">
              <a:buNone/>
            </a:pPr>
            <a:r>
              <a:rPr lang="en-US" sz="1500" dirty="0">
                <a:solidFill>
                  <a:schemeClr val="bg2"/>
                </a:solidFill>
              </a:rPr>
              <a:t>Vendor assurance and customer control evidence address different parts of the environment</a:t>
            </a:r>
            <a:endParaRPr lang="en-US" sz="1500" dirty="0"/>
          </a:p>
        </p:txBody>
      </p:sp>
      <p:sp>
        <p:nvSpPr>
          <p:cNvPr id="4" name="Questions label"/>
          <p:cNvSpPr txBox="1"/>
          <p:nvPr/>
        </p:nvSpPr>
        <p:spPr>
          <a:xfrm>
            <a:off x="512064" y="2011680"/>
            <a:ext cx="11167567" cy="274320"/>
          </a:xfrm>
          <a:prstGeom prst="rect">
            <a:avLst/>
          </a:prstGeom>
          <a:noFill/>
          <a:ln/>
        </p:spPr>
        <p:txBody>
          <a:bodyPr wrap="square" lIns="0" tIns="0" rIns="0" bIns="0" rtlCol="0" anchor="ctr"/>
          <a:lstStyle/>
          <a:p>
            <a:pPr marL="0" indent="0">
              <a:buNone/>
            </a:pPr>
            <a:r>
              <a:rPr lang="en-US" sz="1400" kern="0" spc="400" dirty="0">
                <a:solidFill>
                  <a:schemeClr val="accent1"/>
                </a:solidFill>
                <a:latin typeface="Trenda IG Text Light" pitchFamily="34" charset="0"/>
                <a:ea typeface="Trenda IG Text Light" pitchFamily="34" charset="-122"/>
                <a:cs typeface="Trenda IG Text Light" pitchFamily="34" charset="-120"/>
              </a:rPr>
              <a:t>THE CUSTOMER CONTROL QUESTIONS</a:t>
            </a:r>
            <a:endParaRPr lang="en-US" sz="1400" dirty="0"/>
          </a:p>
        </p:txBody>
      </p:sp>
      <p:sp>
        <p:nvSpPr>
          <p:cNvPr id="5" name="Lifecycle connector"/>
          <p:cNvSpPr/>
          <p:nvPr/>
        </p:nvSpPr>
        <p:spPr>
          <a:xfrm>
            <a:off x="1078992" y="3712464"/>
            <a:ext cx="7808747" cy="0"/>
          </a:xfrm>
          <a:prstGeom prst="line">
            <a:avLst/>
          </a:prstGeom>
          <a:noFill/>
          <a:ln w="12700">
            <a:solidFill>
              <a:srgbClr val="FFFFFF">
                <a:alpha val="60000"/>
              </a:srgbClr>
            </a:solidFill>
            <a:prstDash val="solid"/>
          </a:ln>
        </p:spPr>
        <p:txBody>
          <a:bodyPr/>
          <a:lstStyle/>
          <a:p>
            <a:endParaRPr lang="en-IN"/>
          </a:p>
        </p:txBody>
      </p:sp>
      <p:sp>
        <p:nvSpPr>
          <p:cNvPr id="6" name="Question 1"/>
          <p:cNvSpPr txBox="1"/>
          <p:nvPr/>
        </p:nvSpPr>
        <p:spPr>
          <a:xfrm>
            <a:off x="512064" y="2377440"/>
            <a:ext cx="2700452" cy="411480"/>
          </a:xfrm>
          <a:prstGeom prst="rect">
            <a:avLst/>
          </a:prstGeom>
          <a:noFill/>
          <a:ln/>
        </p:spPr>
        <p:txBody>
          <a:bodyPr wrap="square" lIns="0" tIns="0" rIns="0" bIns="0" rtlCol="0" anchor="ctr"/>
          <a:lstStyle/>
          <a:p>
            <a:pPr marL="0" indent="0">
              <a:buNone/>
            </a:pPr>
            <a:r>
              <a:rPr lang="en-US" sz="1800" dirty="0">
                <a:solidFill>
                  <a:schemeClr val="bg1"/>
                </a:solidFill>
                <a:latin typeface="Trenda IG Text Light" pitchFamily="34" charset="0"/>
                <a:ea typeface="Trenda IG Text Light" pitchFamily="34" charset="-122"/>
                <a:cs typeface="Trenda IG Text Light" pitchFamily="34" charset="-120"/>
              </a:rPr>
              <a:t>Who has access?</a:t>
            </a:r>
            <a:endParaRPr lang="en-US" sz="1800" dirty="0"/>
          </a:p>
        </p:txBody>
      </p:sp>
      <p:sp>
        <p:nvSpPr>
          <p:cNvPr id="7" name="Question 2"/>
          <p:cNvSpPr txBox="1"/>
          <p:nvPr/>
        </p:nvSpPr>
        <p:spPr>
          <a:xfrm>
            <a:off x="3303956" y="2377440"/>
            <a:ext cx="2700452" cy="411480"/>
          </a:xfrm>
          <a:prstGeom prst="rect">
            <a:avLst/>
          </a:prstGeom>
          <a:noFill/>
          <a:ln/>
        </p:spPr>
        <p:txBody>
          <a:bodyPr wrap="square" lIns="0" tIns="0" rIns="0" bIns="0" rtlCol="0" anchor="ctr"/>
          <a:lstStyle/>
          <a:p>
            <a:pPr marL="0" indent="0">
              <a:buNone/>
            </a:pPr>
            <a:r>
              <a:rPr lang="en-US" sz="1800" dirty="0">
                <a:solidFill>
                  <a:schemeClr val="bg1"/>
                </a:solidFill>
                <a:latin typeface="Trenda IG Text Light" pitchFamily="34" charset="0"/>
                <a:ea typeface="Trenda IG Text Light" pitchFamily="34" charset="-122"/>
                <a:cs typeface="Trenda IG Text Light" pitchFamily="34" charset="-120"/>
              </a:rPr>
              <a:t>What changed?</a:t>
            </a:r>
            <a:endParaRPr lang="en-US" sz="1800" dirty="0"/>
          </a:p>
        </p:txBody>
      </p:sp>
      <p:sp>
        <p:nvSpPr>
          <p:cNvPr id="8" name="Question 3"/>
          <p:cNvSpPr txBox="1"/>
          <p:nvPr/>
        </p:nvSpPr>
        <p:spPr>
          <a:xfrm>
            <a:off x="6095848" y="2377440"/>
            <a:ext cx="2700452" cy="411480"/>
          </a:xfrm>
          <a:prstGeom prst="rect">
            <a:avLst/>
          </a:prstGeom>
          <a:noFill/>
          <a:ln/>
        </p:spPr>
        <p:txBody>
          <a:bodyPr wrap="square" lIns="0" tIns="0" rIns="0" bIns="0" rtlCol="0" anchor="ctr"/>
          <a:lstStyle/>
          <a:p>
            <a:pPr marL="0" indent="0">
              <a:buNone/>
            </a:pPr>
            <a:r>
              <a:rPr lang="en-US" sz="1800" dirty="0">
                <a:solidFill>
                  <a:schemeClr val="bg1"/>
                </a:solidFill>
                <a:latin typeface="Trenda IG Text Light" pitchFamily="34" charset="0"/>
                <a:ea typeface="Trenda IG Text Light" pitchFamily="34" charset="-122"/>
                <a:cs typeface="Trenda IG Text Light" pitchFamily="34" charset="-120"/>
              </a:rPr>
              <a:t>Who approved it?</a:t>
            </a:r>
            <a:endParaRPr lang="en-US" sz="1800" dirty="0"/>
          </a:p>
        </p:txBody>
      </p:sp>
      <p:sp>
        <p:nvSpPr>
          <p:cNvPr id="9" name="Question 4"/>
          <p:cNvSpPr txBox="1"/>
          <p:nvPr/>
        </p:nvSpPr>
        <p:spPr>
          <a:xfrm>
            <a:off x="8887739" y="2377440"/>
            <a:ext cx="2700452" cy="411480"/>
          </a:xfrm>
          <a:prstGeom prst="rect">
            <a:avLst/>
          </a:prstGeom>
          <a:noFill/>
          <a:ln/>
        </p:spPr>
        <p:txBody>
          <a:bodyPr wrap="square" lIns="0" tIns="0" rIns="0" bIns="0" rtlCol="0" anchor="ctr"/>
          <a:lstStyle/>
          <a:p>
            <a:pPr marL="0" indent="0">
              <a:buNone/>
            </a:pPr>
            <a:r>
              <a:rPr lang="en-US" sz="1800" dirty="0">
                <a:solidFill>
                  <a:schemeClr val="bg1"/>
                </a:solidFill>
                <a:latin typeface="Trenda IG Text Light" pitchFamily="34" charset="0"/>
                <a:ea typeface="Trenda IG Text Light" pitchFamily="34" charset="-122"/>
                <a:cs typeface="Trenda IG Text Light" pitchFamily="34" charset="-120"/>
              </a:rPr>
              <a:t>Which duties conflict?</a:t>
            </a:r>
            <a:endParaRPr lang="en-US" sz="1800" dirty="0"/>
          </a:p>
        </p:txBody>
      </p:sp>
      <p:sp>
        <p:nvSpPr>
          <p:cNvPr id="10" name="Step 1 backing"/>
          <p:cNvSpPr/>
          <p:nvPr/>
        </p:nvSpPr>
        <p:spPr>
          <a:xfrm>
            <a:off x="512064" y="3429000"/>
            <a:ext cx="566928" cy="566928"/>
          </a:xfrm>
          <a:prstGeom prst="ellipse">
            <a:avLst/>
          </a:prstGeom>
          <a:solidFill>
            <a:srgbClr val="0B1D2A"/>
          </a:solidFill>
          <a:ln/>
        </p:spPr>
        <p:txBody>
          <a:bodyPr/>
          <a:lstStyle/>
          <a:p>
            <a:endParaRPr lang="en-IN"/>
          </a:p>
        </p:txBody>
      </p:sp>
      <p:sp>
        <p:nvSpPr>
          <p:cNvPr id="11" name="Step 1 number"/>
          <p:cNvSpPr/>
          <p:nvPr/>
        </p:nvSpPr>
        <p:spPr>
          <a:xfrm>
            <a:off x="512064" y="3429000"/>
            <a:ext cx="566928" cy="566928"/>
          </a:xfrm>
          <a:prstGeom prst="ellipse">
            <a:avLst/>
          </a:prstGeom>
          <a:ln w="19050">
            <a:solidFill>
              <a:srgbClr val="00D6F2"/>
            </a:solidFill>
          </a:ln>
        </p:spPr>
        <p:txBody>
          <a:bodyPr wrap="square" lIns="0" tIns="0" rIns="0" bIns="0" rtlCol="0" anchor="ctr"/>
          <a:lstStyle/>
          <a:p>
            <a:pPr marL="0" indent="0" algn="ctr">
              <a:buNone/>
            </a:pPr>
            <a:r>
              <a:rPr lang="en-US" sz="1600" dirty="0">
                <a:solidFill>
                  <a:srgbClr val="00D6F2"/>
                </a:solidFill>
                <a:latin typeface="Trenda IG Text Light" pitchFamily="34" charset="0"/>
                <a:ea typeface="Trenda IG Text Light" pitchFamily="34" charset="-122"/>
                <a:cs typeface="Trenda IG Text Light" pitchFamily="34" charset="-120"/>
              </a:rPr>
              <a:t>01</a:t>
            </a:r>
            <a:endParaRPr lang="en-US" sz="1600" dirty="0"/>
          </a:p>
        </p:txBody>
      </p:sp>
      <p:sp>
        <p:nvSpPr>
          <p:cNvPr id="12" name="Step 1 title"/>
          <p:cNvSpPr txBox="1"/>
          <p:nvPr/>
        </p:nvSpPr>
        <p:spPr>
          <a:xfrm>
            <a:off x="512064" y="4206240"/>
            <a:ext cx="2563292" cy="365760"/>
          </a:xfrm>
          <a:prstGeom prst="rect">
            <a:avLst/>
          </a:prstGeom>
          <a:noFill/>
          <a:ln/>
        </p:spPr>
        <p:txBody>
          <a:bodyPr wrap="square" lIns="0" tIns="0" rIns="0" bIns="0" rtlCol="0" anchor="ctr"/>
          <a:lstStyle/>
          <a:p>
            <a:pPr marL="0" indent="0">
              <a:buNone/>
            </a:pPr>
            <a:r>
              <a:rPr lang="en-US" sz="2000" b="1" dirty="0">
                <a:solidFill>
                  <a:schemeClr val="bg1"/>
                </a:solidFill>
              </a:rPr>
              <a:t>Scan</a:t>
            </a:r>
            <a:endParaRPr lang="en-US" sz="2000" dirty="0"/>
          </a:p>
        </p:txBody>
      </p:sp>
      <p:sp>
        <p:nvSpPr>
          <p:cNvPr id="13" name="Step 1 body"/>
          <p:cNvSpPr txBox="1"/>
          <p:nvPr/>
        </p:nvSpPr>
        <p:spPr>
          <a:xfrm>
            <a:off x="512064" y="4645152"/>
            <a:ext cx="2563292" cy="731520"/>
          </a:xfrm>
          <a:prstGeom prst="rect">
            <a:avLst/>
          </a:prstGeom>
          <a:noFill/>
          <a:ln/>
        </p:spPr>
        <p:txBody>
          <a:bodyPr wrap="square" lIns="0" tIns="0" rIns="0" bIns="0" rtlCol="0" anchor="t"/>
          <a:lstStyle/>
          <a:p>
            <a:pPr marL="0" indent="0">
              <a:buNone/>
            </a:pPr>
            <a:r>
              <a:rPr lang="en-US" sz="1400" dirty="0">
                <a:solidFill>
                  <a:srgbClr val="D0D0D0"/>
                </a:solidFill>
              </a:rPr>
              <a:t>Read-only baseline</a:t>
            </a:r>
            <a:endParaRPr lang="en-US" sz="1400" dirty="0"/>
          </a:p>
          <a:p>
            <a:pPr marL="0" indent="0">
              <a:buNone/>
            </a:pPr>
            <a:r>
              <a:rPr lang="en-US" sz="1400" dirty="0">
                <a:solidFill>
                  <a:srgbClr val="D0D0D0"/>
                </a:solidFill>
              </a:rPr>
              <a:t>Identity and configuration</a:t>
            </a:r>
            <a:endParaRPr lang="en-US" sz="1400" dirty="0"/>
          </a:p>
        </p:txBody>
      </p:sp>
      <p:sp>
        <p:nvSpPr>
          <p:cNvPr id="14" name="Step 2 backing"/>
          <p:cNvSpPr/>
          <p:nvPr/>
        </p:nvSpPr>
        <p:spPr>
          <a:xfrm>
            <a:off x="3303956" y="3429000"/>
            <a:ext cx="566928" cy="566928"/>
          </a:xfrm>
          <a:prstGeom prst="ellipse">
            <a:avLst/>
          </a:prstGeom>
          <a:solidFill>
            <a:srgbClr val="0B1D2A"/>
          </a:solidFill>
          <a:ln/>
        </p:spPr>
        <p:txBody>
          <a:bodyPr/>
          <a:lstStyle/>
          <a:p>
            <a:endParaRPr lang="en-IN"/>
          </a:p>
        </p:txBody>
      </p:sp>
      <p:sp>
        <p:nvSpPr>
          <p:cNvPr id="15" name="Step 2 number"/>
          <p:cNvSpPr/>
          <p:nvPr/>
        </p:nvSpPr>
        <p:spPr>
          <a:xfrm>
            <a:off x="3303956" y="3429000"/>
            <a:ext cx="566928" cy="566928"/>
          </a:xfrm>
          <a:prstGeom prst="ellipse">
            <a:avLst/>
          </a:prstGeom>
          <a:ln w="19050">
            <a:solidFill>
              <a:srgbClr val="FFD700"/>
            </a:solidFill>
          </a:ln>
        </p:spPr>
        <p:txBody>
          <a:bodyPr wrap="square" lIns="0" tIns="0" rIns="0" bIns="0" rtlCol="0" anchor="ctr"/>
          <a:lstStyle/>
          <a:p>
            <a:pPr marL="0" indent="0" algn="ctr">
              <a:buNone/>
            </a:pPr>
            <a:r>
              <a:rPr lang="en-US" sz="1600" dirty="0">
                <a:solidFill>
                  <a:srgbClr val="FFD700"/>
                </a:solidFill>
                <a:latin typeface="Trenda IG Text Light" pitchFamily="34" charset="0"/>
                <a:ea typeface="Trenda IG Text Light" pitchFamily="34" charset="-122"/>
                <a:cs typeface="Trenda IG Text Light" pitchFamily="34" charset="-120"/>
              </a:rPr>
              <a:t>02</a:t>
            </a:r>
            <a:endParaRPr lang="en-US" sz="1600" dirty="0"/>
          </a:p>
        </p:txBody>
      </p:sp>
      <p:sp>
        <p:nvSpPr>
          <p:cNvPr id="16" name="Step 2 title"/>
          <p:cNvSpPr txBox="1"/>
          <p:nvPr/>
        </p:nvSpPr>
        <p:spPr>
          <a:xfrm>
            <a:off x="3303956" y="4206240"/>
            <a:ext cx="2563292" cy="365760"/>
          </a:xfrm>
          <a:prstGeom prst="rect">
            <a:avLst/>
          </a:prstGeom>
          <a:noFill/>
          <a:ln/>
        </p:spPr>
        <p:txBody>
          <a:bodyPr wrap="square" lIns="0" tIns="0" rIns="0" bIns="0" rtlCol="0" anchor="ctr"/>
          <a:lstStyle/>
          <a:p>
            <a:pPr marL="0" indent="0">
              <a:buNone/>
            </a:pPr>
            <a:r>
              <a:rPr lang="en-US" sz="2000" b="1" dirty="0">
                <a:solidFill>
                  <a:schemeClr val="bg1"/>
                </a:solidFill>
              </a:rPr>
              <a:t>Score</a:t>
            </a:r>
            <a:endParaRPr lang="en-US" sz="2000" dirty="0"/>
          </a:p>
        </p:txBody>
      </p:sp>
      <p:sp>
        <p:nvSpPr>
          <p:cNvPr id="17" name="Step 2 body"/>
          <p:cNvSpPr txBox="1"/>
          <p:nvPr/>
        </p:nvSpPr>
        <p:spPr>
          <a:xfrm>
            <a:off x="3303956" y="4645152"/>
            <a:ext cx="2563292" cy="731520"/>
          </a:xfrm>
          <a:prstGeom prst="rect">
            <a:avLst/>
          </a:prstGeom>
          <a:noFill/>
          <a:ln/>
        </p:spPr>
        <p:txBody>
          <a:bodyPr wrap="square" lIns="0" tIns="0" rIns="0" bIns="0" rtlCol="0" anchor="t"/>
          <a:lstStyle/>
          <a:p>
            <a:pPr marL="0" indent="0">
              <a:buNone/>
            </a:pPr>
            <a:r>
              <a:rPr lang="en-US" sz="1400" dirty="0">
                <a:solidFill>
                  <a:srgbClr val="D0D0D0"/>
                </a:solidFill>
              </a:rPr>
              <a:t>Posture out of 100</a:t>
            </a:r>
            <a:endParaRPr lang="en-US" sz="1400" dirty="0"/>
          </a:p>
          <a:p>
            <a:pPr marL="0" indent="0">
              <a:buNone/>
            </a:pPr>
            <a:r>
              <a:rPr lang="en-US" sz="1400" dirty="0">
                <a:solidFill>
                  <a:srgbClr val="D0D0D0"/>
                </a:solidFill>
              </a:rPr>
              <a:t>Prioritized findings</a:t>
            </a:r>
            <a:endParaRPr lang="en-US" sz="1400" dirty="0"/>
          </a:p>
        </p:txBody>
      </p:sp>
      <p:sp>
        <p:nvSpPr>
          <p:cNvPr id="18" name="Step 3 backing"/>
          <p:cNvSpPr/>
          <p:nvPr/>
        </p:nvSpPr>
        <p:spPr>
          <a:xfrm>
            <a:off x="6095848" y="3429000"/>
            <a:ext cx="566928" cy="566928"/>
          </a:xfrm>
          <a:prstGeom prst="ellipse">
            <a:avLst/>
          </a:prstGeom>
          <a:solidFill>
            <a:srgbClr val="0B1D2A"/>
          </a:solidFill>
          <a:ln/>
        </p:spPr>
        <p:txBody>
          <a:bodyPr/>
          <a:lstStyle/>
          <a:p>
            <a:endParaRPr lang="en-IN"/>
          </a:p>
        </p:txBody>
      </p:sp>
      <p:sp>
        <p:nvSpPr>
          <p:cNvPr id="19" name="Step 3 number"/>
          <p:cNvSpPr/>
          <p:nvPr/>
        </p:nvSpPr>
        <p:spPr>
          <a:xfrm>
            <a:off x="6095848" y="3429000"/>
            <a:ext cx="566928" cy="566928"/>
          </a:xfrm>
          <a:prstGeom prst="ellipse">
            <a:avLst/>
          </a:prstGeom>
          <a:ln w="19050">
            <a:solidFill>
              <a:srgbClr val="FF0069"/>
            </a:solidFill>
          </a:ln>
        </p:spPr>
        <p:txBody>
          <a:bodyPr wrap="square" lIns="0" tIns="0" rIns="0" bIns="0" rtlCol="0" anchor="ctr"/>
          <a:lstStyle/>
          <a:p>
            <a:pPr marL="0" indent="0" algn="ctr">
              <a:buNone/>
            </a:pPr>
            <a:r>
              <a:rPr lang="en-US" sz="1600" dirty="0">
                <a:solidFill>
                  <a:srgbClr val="FF0069"/>
                </a:solidFill>
                <a:latin typeface="Trenda IG Text Light" pitchFamily="34" charset="0"/>
                <a:ea typeface="Trenda IG Text Light" pitchFamily="34" charset="-122"/>
                <a:cs typeface="Trenda IG Text Light" pitchFamily="34" charset="-120"/>
              </a:rPr>
              <a:t>03</a:t>
            </a:r>
            <a:endParaRPr lang="en-US" sz="1600" dirty="0"/>
          </a:p>
        </p:txBody>
      </p:sp>
      <p:sp>
        <p:nvSpPr>
          <p:cNvPr id="20" name="Step 3 title"/>
          <p:cNvSpPr txBox="1"/>
          <p:nvPr/>
        </p:nvSpPr>
        <p:spPr>
          <a:xfrm>
            <a:off x="6095848" y="4206240"/>
            <a:ext cx="2563292" cy="365760"/>
          </a:xfrm>
          <a:prstGeom prst="rect">
            <a:avLst/>
          </a:prstGeom>
          <a:noFill/>
          <a:ln/>
        </p:spPr>
        <p:txBody>
          <a:bodyPr wrap="square" lIns="0" tIns="0" rIns="0" bIns="0" rtlCol="0" anchor="ctr"/>
          <a:lstStyle/>
          <a:p>
            <a:pPr marL="0" indent="0">
              <a:buNone/>
            </a:pPr>
            <a:r>
              <a:rPr lang="en-US" sz="2000" b="1" dirty="0">
                <a:solidFill>
                  <a:schemeClr val="bg1"/>
                </a:solidFill>
              </a:rPr>
              <a:t>Fix &amp; certify</a:t>
            </a:r>
            <a:endParaRPr lang="en-US" sz="2000" dirty="0"/>
          </a:p>
        </p:txBody>
      </p:sp>
      <p:sp>
        <p:nvSpPr>
          <p:cNvPr id="21" name="Step 3 body"/>
          <p:cNvSpPr txBox="1"/>
          <p:nvPr/>
        </p:nvSpPr>
        <p:spPr>
          <a:xfrm>
            <a:off x="6095848" y="4645152"/>
            <a:ext cx="2563292" cy="731520"/>
          </a:xfrm>
          <a:prstGeom prst="rect">
            <a:avLst/>
          </a:prstGeom>
          <a:noFill/>
          <a:ln/>
        </p:spPr>
        <p:txBody>
          <a:bodyPr wrap="square" lIns="0" tIns="0" rIns="0" bIns="0" rtlCol="0" anchor="t"/>
          <a:lstStyle/>
          <a:p>
            <a:pPr marL="0" indent="0">
              <a:buNone/>
            </a:pPr>
            <a:r>
              <a:rPr lang="en-US" sz="1400" dirty="0">
                <a:solidFill>
                  <a:srgbClr val="D0D0D0"/>
                </a:solidFill>
              </a:rPr>
              <a:t>Approved remediation</a:t>
            </a:r>
            <a:endParaRPr lang="en-US" sz="1400" dirty="0"/>
          </a:p>
          <a:p>
            <a:pPr marL="0" indent="0">
              <a:buNone/>
            </a:pPr>
            <a:r>
              <a:rPr lang="en-US" sz="1400" dirty="0">
                <a:solidFill>
                  <a:srgbClr val="D0D0D0"/>
                </a:solidFill>
              </a:rPr>
              <a:t>Attributed review decisions</a:t>
            </a:r>
            <a:endParaRPr lang="en-US" sz="1400" dirty="0"/>
          </a:p>
        </p:txBody>
      </p:sp>
      <p:sp>
        <p:nvSpPr>
          <p:cNvPr id="22" name="Step 4 backing"/>
          <p:cNvSpPr/>
          <p:nvPr/>
        </p:nvSpPr>
        <p:spPr>
          <a:xfrm>
            <a:off x="8887739" y="3429000"/>
            <a:ext cx="566928" cy="566928"/>
          </a:xfrm>
          <a:prstGeom prst="ellipse">
            <a:avLst/>
          </a:prstGeom>
          <a:solidFill>
            <a:srgbClr val="0B1D2A"/>
          </a:solidFill>
          <a:ln/>
        </p:spPr>
        <p:txBody>
          <a:bodyPr/>
          <a:lstStyle/>
          <a:p>
            <a:endParaRPr lang="en-IN"/>
          </a:p>
        </p:txBody>
      </p:sp>
      <p:sp>
        <p:nvSpPr>
          <p:cNvPr id="23" name="Step 4 number"/>
          <p:cNvSpPr/>
          <p:nvPr/>
        </p:nvSpPr>
        <p:spPr>
          <a:xfrm>
            <a:off x="8887739" y="3429000"/>
            <a:ext cx="566928" cy="566928"/>
          </a:xfrm>
          <a:prstGeom prst="ellipse">
            <a:avLst/>
          </a:prstGeom>
          <a:ln w="19050">
            <a:solidFill>
              <a:srgbClr val="FFFFFF"/>
            </a:solidFill>
          </a:ln>
        </p:spPr>
        <p:txBody>
          <a:bodyPr wrap="square" lIns="0" tIns="0" rIns="0" bIns="0" rtlCol="0" anchor="ctr"/>
          <a:lstStyle/>
          <a:p>
            <a:pPr marL="0" indent="0" algn="ctr">
              <a:buNone/>
            </a:pPr>
            <a:r>
              <a:rPr lang="en-US" sz="1600" dirty="0">
                <a:solidFill>
                  <a:srgbClr val="FFFFFF"/>
                </a:solidFill>
                <a:latin typeface="Trenda IG Text Light" pitchFamily="34" charset="0"/>
                <a:ea typeface="Trenda IG Text Light" pitchFamily="34" charset="-122"/>
                <a:cs typeface="Trenda IG Text Light" pitchFamily="34" charset="-120"/>
              </a:rPr>
              <a:t>04</a:t>
            </a:r>
            <a:endParaRPr lang="en-US" sz="1600" dirty="0"/>
          </a:p>
        </p:txBody>
      </p:sp>
      <p:sp>
        <p:nvSpPr>
          <p:cNvPr id="24" name="Step 4 title"/>
          <p:cNvSpPr txBox="1"/>
          <p:nvPr/>
        </p:nvSpPr>
        <p:spPr>
          <a:xfrm>
            <a:off x="8887739" y="4206240"/>
            <a:ext cx="2563292" cy="365760"/>
          </a:xfrm>
          <a:prstGeom prst="rect">
            <a:avLst/>
          </a:prstGeom>
          <a:noFill/>
          <a:ln/>
        </p:spPr>
        <p:txBody>
          <a:bodyPr wrap="square" lIns="0" tIns="0" rIns="0" bIns="0" rtlCol="0" anchor="ctr"/>
          <a:lstStyle/>
          <a:p>
            <a:pPr marL="0" indent="0">
              <a:buNone/>
            </a:pPr>
            <a:r>
              <a:rPr lang="en-US" sz="2000" b="1" dirty="0">
                <a:solidFill>
                  <a:schemeClr val="bg1"/>
                </a:solidFill>
              </a:rPr>
              <a:t>Export evidence</a:t>
            </a:r>
            <a:endParaRPr lang="en-US" sz="2000" dirty="0"/>
          </a:p>
        </p:txBody>
      </p:sp>
      <p:sp>
        <p:nvSpPr>
          <p:cNvPr id="25" name="Step 4 body"/>
          <p:cNvSpPr txBox="1"/>
          <p:nvPr/>
        </p:nvSpPr>
        <p:spPr>
          <a:xfrm>
            <a:off x="8887739" y="4645152"/>
            <a:ext cx="2563292" cy="731520"/>
          </a:xfrm>
          <a:prstGeom prst="rect">
            <a:avLst/>
          </a:prstGeom>
          <a:noFill/>
          <a:ln/>
        </p:spPr>
        <p:txBody>
          <a:bodyPr wrap="square" lIns="0" tIns="0" rIns="0" bIns="0" rtlCol="0" anchor="t"/>
          <a:lstStyle/>
          <a:p>
            <a:pPr marL="0" indent="0">
              <a:buNone/>
            </a:pPr>
            <a:r>
              <a:rPr lang="en-US" sz="1400" dirty="0">
                <a:solidFill>
                  <a:srgbClr val="D0D0D0"/>
                </a:solidFill>
              </a:rPr>
              <a:t>RCM PDF binder</a:t>
            </a:r>
            <a:endParaRPr lang="en-US" sz="1400" dirty="0"/>
          </a:p>
          <a:p>
            <a:pPr marL="0" indent="0">
              <a:buNone/>
            </a:pPr>
            <a:r>
              <a:rPr lang="en-US" sz="1400" dirty="0">
                <a:solidFill>
                  <a:srgbClr val="D0D0D0"/>
                </a:solidFill>
              </a:rPr>
              <a:t>Supporting CSV detail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12064" y="658368"/>
            <a:ext cx="11167567" cy="658368"/>
          </a:xfrm>
          <a:prstGeom prst="rect">
            <a:avLst/>
          </a:prstGeom>
          <a:noFill/>
          <a:ln/>
        </p:spPr>
        <p:txBody>
          <a:bodyPr wrap="square" lIns="0" tIns="0" rIns="0" bIns="0" rtlCol="0" anchor="b"/>
          <a:lstStyle/>
          <a:p>
            <a:pPr marL="0" indent="0" algn="l">
              <a:buNone/>
            </a:pPr>
            <a:r>
              <a:rPr lang="en-US" sz="3200" b="1" dirty="0">
                <a:solidFill>
                  <a:schemeClr val="tx1"/>
                </a:solidFill>
              </a:rPr>
              <a:t>Five SOX control domains</a:t>
            </a:r>
            <a:endParaRPr lang="en-US" sz="3200" dirty="0"/>
          </a:p>
        </p:txBody>
      </p:sp>
      <p:sp>
        <p:nvSpPr>
          <p:cNvPr id="3" name="Text 1"/>
          <p:cNvSpPr>
            <a:spLocks noGrp="1"/>
          </p:cNvSpPr>
          <p:nvPr>
            <p:ph type="body" idx="103" hasCustomPrompt="1"/>
          </p:nvPr>
        </p:nvSpPr>
        <p:spPr>
          <a:xfrm>
            <a:off x="512064" y="1371600"/>
            <a:ext cx="11167567" cy="347472"/>
          </a:xfrm>
          <a:prstGeom prst="rect">
            <a:avLst/>
          </a:prstGeom>
          <a:noFill/>
          <a:ln/>
        </p:spPr>
        <p:txBody>
          <a:bodyPr wrap="square" lIns="0" tIns="0" rIns="0" bIns="0" rtlCol="0" anchor="t"/>
          <a:lstStyle/>
          <a:p>
            <a:pPr marL="0" indent="0" algn="l">
              <a:buNone/>
            </a:pPr>
            <a:r>
              <a:rPr lang="en-US" sz="1500" dirty="0">
                <a:solidFill>
                  <a:schemeClr val="tx1"/>
                </a:solidFill>
              </a:rPr>
              <a:t>COBIT-aligned evidence structure in the sample binder</a:t>
            </a:r>
            <a:endParaRPr lang="en-US" sz="1500" dirty="0"/>
          </a:p>
        </p:txBody>
      </p:sp>
      <p:graphicFrame>
        <p:nvGraphicFramePr>
          <p:cNvPr id="5" name="Control domain table"/>
          <p:cNvGraphicFramePr>
            <a:graphicFrameLocks noGrp="1"/>
          </p:cNvGraphicFramePr>
          <p:nvPr>
            <p:extLst>
              <p:ext uri="{D42A27DB-BD31-4B8C-83A1-F6EECF244321}">
                <p14:modId xmlns:p14="http://schemas.microsoft.com/office/powerpoint/2010/main" val="1579011935"/>
              </p:ext>
            </p:extLst>
          </p:nvPr>
        </p:nvGraphicFramePr>
        <p:xfrm>
          <a:off x="512064" y="1920240"/>
          <a:ext cx="11164824" cy="3675888"/>
        </p:xfrm>
        <a:graphic>
          <a:graphicData uri="http://schemas.openxmlformats.org/drawingml/2006/table">
            <a:tbl>
              <a:tblPr/>
              <a:tblGrid>
                <a:gridCol w="30175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398264">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000000"/>
                          </a:solidFill>
                        </a:rPr>
                        <a:t>Control domain</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rPr>
                        <a:t>Auditor question</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rPr>
                        <a:t>ShieldForge evidence</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000000"/>
                          </a:solidFill>
                        </a:rPr>
                        <a:t>Access to data</a:t>
                      </a:r>
                      <a:endParaRPr lang="en-US" sz="1300" dirty="0"/>
                    </a:p>
                    <a:p>
                      <a:pPr marL="0" indent="0">
                        <a:buNone/>
                      </a:pPr>
                      <a:r>
                        <a:rPr lang="en-US" sz="1000" kern="0" spc="100" dirty="0">
                          <a:solidFill>
                            <a:srgbClr val="4D4D4D"/>
                          </a:solidFill>
                        </a:rPr>
                        <a:t>ITGC-AC</a:t>
                      </a:r>
                      <a:endParaRPr lang="en-US" sz="1300" dirty="0"/>
                    </a:p>
                  </a:txBody>
                  <a:tcPr anchor="ctr">
                    <a:lnL w="0" cap="flat" cmpd="sng" algn="ctr">
                      <a:noFill/>
                    </a:lnL>
                    <a:lnR w="0" cap="flat" cmpd="sng" algn="ctr">
                      <a:noFill/>
                    </a:lnR>
                    <a:lnT w="22225" cap="flat" cmpd="sng" algn="ctr">
                      <a:solidFill>
                        <a:srgbClr val="000000"/>
                      </a:solidFill>
                      <a:prstDash val="solid"/>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Who can access or change financial data?</a:t>
                      </a:r>
                      <a:endParaRPr lang="en-US" sz="1300" dirty="0"/>
                    </a:p>
                  </a:txBody>
                  <a:tcPr anchor="ctr">
                    <a:lnL w="0" cap="flat" cmpd="sng" algn="ctr">
                      <a:noFill/>
                    </a:lnL>
                    <a:lnR w="0" cap="flat" cmpd="sng" algn="ctr">
                      <a:noFill/>
                    </a:lnR>
                    <a:lnT w="22225" cap="flat" cmpd="sng" algn="ctr">
                      <a:solidFill>
                        <a:srgbClr val="000000"/>
                      </a:solidFill>
                      <a:prstDash val="solid"/>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Privileged grants and source</a:t>
                      </a:r>
                      <a:endParaRPr lang="en-US" sz="1300" dirty="0"/>
                    </a:p>
                    <a:p>
                      <a:pPr marL="0" indent="0">
                        <a:buNone/>
                      </a:pPr>
                      <a:r>
                        <a:rPr lang="en-US" sz="1300" dirty="0">
                          <a:solidFill>
                            <a:srgbClr val="000000"/>
                          </a:solidFill>
                        </a:rPr>
                        <a:t>Dormant users and UAR decisions</a:t>
                      </a:r>
                      <a:endParaRPr lang="en-US" sz="1300" dirty="0"/>
                    </a:p>
                  </a:txBody>
                  <a:tcPr anchor="ctr">
                    <a:lnL w="0" cap="flat" cmpd="sng" algn="ctr">
                      <a:noFill/>
                    </a:lnL>
                    <a:lnR w="0" cap="flat" cmpd="sng" algn="ctr">
                      <a:noFill/>
                    </a:lnR>
                    <a:lnT w="22225" cap="flat" cmpd="sng" algn="ctr">
                      <a:solidFill>
                        <a:srgbClr val="000000"/>
                      </a:solidFill>
                      <a:prstDash val="solid"/>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000000"/>
                          </a:solidFill>
                        </a:rPr>
                        <a:t>Changes &amp; development</a:t>
                      </a:r>
                      <a:endParaRPr lang="en-US" sz="1300" dirty="0"/>
                    </a:p>
                    <a:p>
                      <a:pPr marL="0" indent="0">
                        <a:buNone/>
                      </a:pPr>
                      <a:r>
                        <a:rPr lang="en-US" sz="1000" kern="0" spc="100" dirty="0">
                          <a:solidFill>
                            <a:srgbClr val="4D4D4D"/>
                          </a:solidFill>
                        </a:rPr>
                        <a:t>ITGC-CM / ITGC-PD</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Who changed the system, and how was it governed?</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180-day Setup Audit Trail</a:t>
                      </a:r>
                      <a:endParaRPr lang="en-US" sz="1300" dirty="0"/>
                    </a:p>
                    <a:p>
                      <a:pPr marL="0" indent="0">
                        <a:buNone/>
                      </a:pPr>
                      <a:r>
                        <a:rPr lang="en-US" sz="1300" dirty="0">
                          <a:solidFill>
                            <a:srgbClr val="000000"/>
                          </a:solidFill>
                        </a:rPr>
                        <a:t>Change events and governance</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300" b="1" dirty="0">
                          <a:solidFill>
                            <a:srgbClr val="000000"/>
                          </a:solidFill>
                        </a:rPr>
                        <a:t>Segregation of duties</a:t>
                      </a:r>
                      <a:endParaRPr lang="en-US" sz="1300" dirty="0"/>
                    </a:p>
                    <a:p>
                      <a:pPr marL="0" indent="0">
                        <a:buNone/>
                      </a:pPr>
                      <a:r>
                        <a:rPr lang="en-US" sz="1000" kern="0" spc="100" dirty="0">
                          <a:solidFill>
                            <a:srgbClr val="4D4D4D"/>
                          </a:solidFill>
                        </a:rPr>
                        <a:t>ITGC-SD</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Can one person perform and conceal a change?</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Conflicting permissions per user</a:t>
                      </a:r>
                      <a:endParaRPr lang="en-US" sz="1300" dirty="0"/>
                    </a:p>
                    <a:p>
                      <a:pPr marL="0" indent="0">
                        <a:buNone/>
                      </a:pPr>
                      <a:r>
                        <a:rPr lang="en-US" sz="1300" dirty="0">
                          <a:solidFill>
                            <a:srgbClr val="000000"/>
                          </a:solidFill>
                        </a:rPr>
                        <a:t>Rule, risk and affected users</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300" b="1" dirty="0">
                          <a:solidFill>
                            <a:srgbClr val="000000"/>
                          </a:solidFill>
                        </a:rPr>
                        <a:t>Computer operations</a:t>
                      </a:r>
                      <a:endParaRPr lang="en-US" sz="1300" dirty="0"/>
                    </a:p>
                    <a:p>
                      <a:pPr marL="0" indent="0">
                        <a:buNone/>
                      </a:pPr>
                      <a:r>
                        <a:rPr lang="en-US" sz="1000" kern="0" spc="100" dirty="0">
                          <a:solidFill>
                            <a:srgbClr val="4D4D4D"/>
                          </a:solidFill>
                        </a:rPr>
                        <a:t>ITGC-CO</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Are settings and integrations governed?</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Security baseline exceptions</a:t>
                      </a:r>
                      <a:endParaRPr lang="en-US" sz="1300" dirty="0"/>
                    </a:p>
                    <a:p>
                      <a:pPr marL="0" indent="0">
                        <a:buNone/>
                      </a:pPr>
                      <a:r>
                        <a:rPr lang="en-US" sz="1300" dirty="0">
                          <a:solidFill>
                            <a:srgbClr val="000000"/>
                          </a:solidFill>
                        </a:rPr>
                        <a:t>Connected apps and OAuth tokens</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300" b="1" dirty="0">
                          <a:solidFill>
                            <a:srgbClr val="000000"/>
                          </a:solidFill>
                        </a:rPr>
                        <a:t>Integrity &amp; retention</a:t>
                      </a:r>
                      <a:endParaRPr lang="en-US" sz="1300" dirty="0"/>
                    </a:p>
                    <a:p>
                      <a:pPr marL="0" indent="0">
                        <a:buNone/>
                      </a:pPr>
                      <a:r>
                        <a:rPr lang="en-US" sz="1000" kern="0" spc="100" dirty="0">
                          <a:solidFill>
                            <a:srgbClr val="4D4D4D"/>
                          </a:solidFill>
                        </a:rPr>
                        <a:t>ITGC-DR</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Can prior record states be reconstructed?</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300" dirty="0">
                          <a:solidFill>
                            <a:srgbClr val="000000"/>
                          </a:solidFill>
                        </a:rPr>
                        <a:t>Field-history retention capability</a:t>
                      </a:r>
                      <a:endParaRPr lang="en-US" sz="1300" dirty="0"/>
                    </a:p>
                    <a:p>
                      <a:pPr marL="0" indent="0">
                        <a:buNone/>
                      </a:pPr>
                      <a:r>
                        <a:rPr lang="en-US" sz="1300" dirty="0">
                          <a:solidFill>
                            <a:srgbClr val="000000"/>
                          </a:solidFill>
                        </a:rPr>
                        <a:t>Audit-period coverage and gaps</a:t>
                      </a:r>
                      <a:endParaRPr lang="en-US" sz="13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Legend dot 1"/>
          <p:cNvSpPr/>
          <p:nvPr/>
        </p:nvSpPr>
        <p:spPr>
          <a:xfrm>
            <a:off x="603504" y="5833872"/>
            <a:ext cx="146304" cy="146304"/>
          </a:xfrm>
          <a:prstGeom prst="ellipse">
            <a:avLst/>
          </a:prstGeom>
          <a:solidFill>
            <a:srgbClr val="56E13B"/>
          </a:solidFill>
          <a:ln/>
        </p:spPr>
        <p:txBody>
          <a:bodyPr/>
          <a:lstStyle/>
          <a:p>
            <a:endParaRPr lang="en-IN"/>
          </a:p>
        </p:txBody>
      </p:sp>
      <p:sp>
        <p:nvSpPr>
          <p:cNvPr id="6" name="Legend 1"/>
          <p:cNvSpPr txBox="1"/>
          <p:nvPr/>
        </p:nvSpPr>
        <p:spPr>
          <a:xfrm>
            <a:off x="822960" y="5769864"/>
            <a:ext cx="1371600" cy="274320"/>
          </a:xfrm>
          <a:prstGeom prst="rect">
            <a:avLst/>
          </a:prstGeom>
          <a:noFill/>
          <a:ln/>
        </p:spPr>
        <p:txBody>
          <a:bodyPr wrap="square" lIns="0" tIns="0" rIns="0" bIns="0" rtlCol="0" anchor="ctr"/>
          <a:lstStyle/>
          <a:p>
            <a:pPr marL="0" indent="0">
              <a:buNone/>
            </a:pPr>
            <a:r>
              <a:rPr lang="en-US" sz="1000" b="1" kern="0" spc="200" dirty="0">
                <a:solidFill>
                  <a:schemeClr val="tx1"/>
                </a:solidFill>
              </a:rPr>
              <a:t>PASS</a:t>
            </a:r>
            <a:endParaRPr lang="en-US" sz="1000" dirty="0"/>
          </a:p>
        </p:txBody>
      </p:sp>
      <p:sp>
        <p:nvSpPr>
          <p:cNvPr id="7" name="Legend dot 2"/>
          <p:cNvSpPr/>
          <p:nvPr/>
        </p:nvSpPr>
        <p:spPr>
          <a:xfrm>
            <a:off x="1709928" y="5833872"/>
            <a:ext cx="146304" cy="146304"/>
          </a:xfrm>
          <a:prstGeom prst="ellipse">
            <a:avLst/>
          </a:prstGeom>
          <a:solidFill>
            <a:srgbClr val="FFD700"/>
          </a:solidFill>
          <a:ln/>
        </p:spPr>
        <p:txBody>
          <a:bodyPr/>
          <a:lstStyle/>
          <a:p>
            <a:endParaRPr lang="en-IN"/>
          </a:p>
        </p:txBody>
      </p:sp>
      <p:sp>
        <p:nvSpPr>
          <p:cNvPr id="8" name="Legend 2"/>
          <p:cNvSpPr txBox="1"/>
          <p:nvPr/>
        </p:nvSpPr>
        <p:spPr>
          <a:xfrm>
            <a:off x="1929384" y="5769864"/>
            <a:ext cx="1371600" cy="274320"/>
          </a:xfrm>
          <a:prstGeom prst="rect">
            <a:avLst/>
          </a:prstGeom>
          <a:noFill/>
          <a:ln/>
        </p:spPr>
        <p:txBody>
          <a:bodyPr wrap="square" lIns="0" tIns="0" rIns="0" bIns="0" rtlCol="0" anchor="ctr"/>
          <a:lstStyle/>
          <a:p>
            <a:pPr marL="0" indent="0">
              <a:buNone/>
            </a:pPr>
            <a:r>
              <a:rPr lang="en-US" sz="1000" b="1" kern="0" spc="200" dirty="0">
                <a:solidFill>
                  <a:schemeClr val="tx1"/>
                </a:solidFill>
              </a:rPr>
              <a:t>EXCEPTION</a:t>
            </a:r>
            <a:endParaRPr lang="en-US" sz="1000" dirty="0"/>
          </a:p>
        </p:txBody>
      </p:sp>
      <p:sp>
        <p:nvSpPr>
          <p:cNvPr id="9" name="Legend dot 3"/>
          <p:cNvSpPr/>
          <p:nvPr/>
        </p:nvSpPr>
        <p:spPr>
          <a:xfrm>
            <a:off x="3296412" y="5833872"/>
            <a:ext cx="146304" cy="146304"/>
          </a:xfrm>
          <a:prstGeom prst="ellipse">
            <a:avLst/>
          </a:prstGeom>
          <a:solidFill>
            <a:srgbClr val="FF0069"/>
          </a:solidFill>
          <a:ln/>
        </p:spPr>
        <p:txBody>
          <a:bodyPr/>
          <a:lstStyle/>
          <a:p>
            <a:endParaRPr lang="en-IN"/>
          </a:p>
        </p:txBody>
      </p:sp>
      <p:sp>
        <p:nvSpPr>
          <p:cNvPr id="10" name="Legend 3"/>
          <p:cNvSpPr txBox="1"/>
          <p:nvPr/>
        </p:nvSpPr>
        <p:spPr>
          <a:xfrm>
            <a:off x="3515868" y="5769864"/>
            <a:ext cx="1371600" cy="274320"/>
          </a:xfrm>
          <a:prstGeom prst="rect">
            <a:avLst/>
          </a:prstGeom>
          <a:noFill/>
          <a:ln/>
        </p:spPr>
        <p:txBody>
          <a:bodyPr wrap="square" lIns="0" tIns="0" rIns="0" bIns="0" rtlCol="0" anchor="ctr"/>
          <a:lstStyle/>
          <a:p>
            <a:pPr marL="0" indent="0">
              <a:buNone/>
            </a:pPr>
            <a:r>
              <a:rPr lang="en-US" sz="1000" b="1" kern="0" spc="200" dirty="0">
                <a:solidFill>
                  <a:schemeClr val="tx1"/>
                </a:solidFill>
              </a:rPr>
              <a:t>DEFICIENCY</a:t>
            </a:r>
            <a:endParaRPr lang="en-US" sz="1000" dirty="0"/>
          </a:p>
        </p:txBody>
      </p:sp>
      <p:sp>
        <p:nvSpPr>
          <p:cNvPr id="11" name="Legend dot 4"/>
          <p:cNvSpPr/>
          <p:nvPr/>
        </p:nvSpPr>
        <p:spPr>
          <a:xfrm>
            <a:off x="4978908" y="5833872"/>
            <a:ext cx="146304" cy="146304"/>
          </a:xfrm>
          <a:prstGeom prst="ellipse">
            <a:avLst/>
          </a:prstGeom>
          <a:solidFill>
            <a:srgbClr val="A6A6A6"/>
          </a:solidFill>
          <a:ln/>
        </p:spPr>
        <p:txBody>
          <a:bodyPr/>
          <a:lstStyle/>
          <a:p>
            <a:endParaRPr lang="en-IN"/>
          </a:p>
        </p:txBody>
      </p:sp>
      <p:sp>
        <p:nvSpPr>
          <p:cNvPr id="12" name="Legend 4"/>
          <p:cNvSpPr txBox="1"/>
          <p:nvPr/>
        </p:nvSpPr>
        <p:spPr>
          <a:xfrm>
            <a:off x="5198364" y="5769864"/>
            <a:ext cx="1371600" cy="274320"/>
          </a:xfrm>
          <a:prstGeom prst="rect">
            <a:avLst/>
          </a:prstGeom>
          <a:noFill/>
          <a:ln/>
        </p:spPr>
        <p:txBody>
          <a:bodyPr wrap="square" lIns="0" tIns="0" rIns="0" bIns="0" rtlCol="0" anchor="ctr"/>
          <a:lstStyle/>
          <a:p>
            <a:pPr marL="0" indent="0">
              <a:buNone/>
            </a:pPr>
            <a:r>
              <a:rPr lang="en-US" sz="1000" b="1" kern="0" spc="200" dirty="0">
                <a:solidFill>
                  <a:schemeClr val="tx1"/>
                </a:solidFill>
              </a:rPr>
              <a:t>NOT ASSESSED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12064" y="658368"/>
            <a:ext cx="11167567" cy="658368"/>
          </a:xfrm>
          <a:prstGeom prst="rect">
            <a:avLst/>
          </a:prstGeom>
          <a:noFill/>
          <a:ln/>
        </p:spPr>
        <p:txBody>
          <a:bodyPr wrap="square" lIns="0" tIns="0" rIns="0" bIns="0" rtlCol="0" anchor="b"/>
          <a:lstStyle/>
          <a:p>
            <a:pPr marL="0" indent="0" algn="l">
              <a:buNone/>
            </a:pPr>
            <a:r>
              <a:rPr lang="en-US" sz="3200" b="1" dirty="0">
                <a:solidFill>
                  <a:schemeClr val="bg1"/>
                </a:solidFill>
              </a:rPr>
              <a:t>Scoring and reusable architecture</a:t>
            </a:r>
            <a:endParaRPr lang="en-US" sz="3200" dirty="0"/>
          </a:p>
        </p:txBody>
      </p:sp>
      <p:sp>
        <p:nvSpPr>
          <p:cNvPr id="3" name="Text 1"/>
          <p:cNvSpPr>
            <a:spLocks noGrp="1"/>
          </p:cNvSpPr>
          <p:nvPr>
            <p:ph type="body" idx="103" hasCustomPrompt="1"/>
          </p:nvPr>
        </p:nvSpPr>
        <p:spPr>
          <a:xfrm>
            <a:off x="512064" y="1371600"/>
            <a:ext cx="11167567" cy="347472"/>
          </a:xfrm>
          <a:prstGeom prst="rect">
            <a:avLst/>
          </a:prstGeom>
          <a:noFill/>
          <a:ln/>
        </p:spPr>
        <p:txBody>
          <a:bodyPr wrap="square" lIns="0" tIns="0" rIns="0" bIns="0" rtlCol="0" anchor="t"/>
          <a:lstStyle/>
          <a:p>
            <a:pPr marL="0" indent="0" algn="l">
              <a:buNone/>
            </a:pPr>
            <a:r>
              <a:rPr lang="en-US" sz="1500" dirty="0">
                <a:solidFill>
                  <a:schemeClr val="bg2"/>
                </a:solidFill>
              </a:rPr>
              <a:t>Four scanner domains feed shared evaluation, framework mapping and evidence output</a:t>
            </a:r>
            <a:endParaRPr lang="en-US" sz="1500" dirty="0"/>
          </a:p>
        </p:txBody>
      </p:sp>
      <p:sp>
        <p:nvSpPr>
          <p:cNvPr id="4" name="Domain dot 1"/>
          <p:cNvSpPr/>
          <p:nvPr/>
        </p:nvSpPr>
        <p:spPr>
          <a:xfrm>
            <a:off x="512064" y="2103120"/>
            <a:ext cx="182880" cy="182880"/>
          </a:xfrm>
          <a:prstGeom prst="ellipse">
            <a:avLst/>
          </a:prstGeom>
          <a:solidFill>
            <a:srgbClr val="00D6F2"/>
          </a:solidFill>
          <a:ln/>
        </p:spPr>
        <p:txBody>
          <a:bodyPr/>
          <a:lstStyle/>
          <a:p>
            <a:endParaRPr lang="en-IN"/>
          </a:p>
        </p:txBody>
      </p:sp>
      <p:sp>
        <p:nvSpPr>
          <p:cNvPr id="5" name="Domain 1 title"/>
          <p:cNvSpPr txBox="1"/>
          <p:nvPr/>
        </p:nvSpPr>
        <p:spPr>
          <a:xfrm>
            <a:off x="804672" y="2011680"/>
            <a:ext cx="2334692" cy="365760"/>
          </a:xfrm>
          <a:prstGeom prst="rect">
            <a:avLst/>
          </a:prstGeom>
          <a:noFill/>
          <a:ln/>
        </p:spPr>
        <p:txBody>
          <a:bodyPr wrap="square" lIns="0" tIns="0" rIns="0" bIns="0" rtlCol="0" anchor="ctr"/>
          <a:lstStyle/>
          <a:p>
            <a:pPr marL="0" indent="0">
              <a:buNone/>
            </a:pPr>
            <a:r>
              <a:rPr lang="en-US" sz="1800" b="1" dirty="0">
                <a:solidFill>
                  <a:srgbClr val="00D6F2"/>
                </a:solidFill>
              </a:rPr>
              <a:t>Identity</a:t>
            </a:r>
            <a:endParaRPr lang="en-US" sz="1800" dirty="0"/>
          </a:p>
        </p:txBody>
      </p:sp>
      <p:sp>
        <p:nvSpPr>
          <p:cNvPr id="6" name="Domain 1 body"/>
          <p:cNvSpPr txBox="1"/>
          <p:nvPr/>
        </p:nvSpPr>
        <p:spPr>
          <a:xfrm>
            <a:off x="804672" y="2468880"/>
            <a:ext cx="2334692" cy="868680"/>
          </a:xfrm>
          <a:prstGeom prst="rect">
            <a:avLst/>
          </a:prstGeom>
          <a:noFill/>
          <a:ln/>
        </p:spPr>
        <p:txBody>
          <a:bodyPr wrap="square" lIns="0" tIns="0" rIns="0" bIns="0" rtlCol="0" anchor="t"/>
          <a:lstStyle/>
          <a:p>
            <a:pPr marL="0" indent="0">
              <a:buNone/>
            </a:pPr>
            <a:r>
              <a:rPr lang="en-US" sz="1400" dirty="0">
                <a:solidFill>
                  <a:schemeClr val="bg1"/>
                </a:solidFill>
              </a:rPr>
              <a:t>Privileged access</a:t>
            </a:r>
            <a:endParaRPr lang="en-US" sz="1400" dirty="0"/>
          </a:p>
          <a:p>
            <a:pPr marL="0" indent="0">
              <a:buNone/>
            </a:pPr>
            <a:r>
              <a:rPr lang="en-US" sz="1400" dirty="0">
                <a:solidFill>
                  <a:schemeClr val="bg1"/>
                </a:solidFill>
              </a:rPr>
              <a:t>Dormant accounts</a:t>
            </a:r>
            <a:endParaRPr lang="en-US" sz="1400" dirty="0"/>
          </a:p>
          <a:p>
            <a:pPr marL="0" indent="0">
              <a:buNone/>
            </a:pPr>
            <a:r>
              <a:rPr lang="en-US" sz="1400" dirty="0">
                <a:solidFill>
                  <a:schemeClr val="bg1"/>
                </a:solidFill>
              </a:rPr>
              <a:t>External exposure</a:t>
            </a:r>
            <a:endParaRPr lang="en-US" sz="1400" dirty="0"/>
          </a:p>
        </p:txBody>
      </p:sp>
      <p:sp>
        <p:nvSpPr>
          <p:cNvPr id="7" name="Domain dot 2"/>
          <p:cNvSpPr/>
          <p:nvPr/>
        </p:nvSpPr>
        <p:spPr>
          <a:xfrm>
            <a:off x="3303956" y="2103120"/>
            <a:ext cx="182880" cy="182880"/>
          </a:xfrm>
          <a:prstGeom prst="ellipse">
            <a:avLst/>
          </a:prstGeom>
          <a:solidFill>
            <a:srgbClr val="FFD700"/>
          </a:solidFill>
          <a:ln/>
        </p:spPr>
        <p:txBody>
          <a:bodyPr/>
          <a:lstStyle/>
          <a:p>
            <a:endParaRPr lang="en-IN"/>
          </a:p>
        </p:txBody>
      </p:sp>
      <p:sp>
        <p:nvSpPr>
          <p:cNvPr id="8" name="Domain 2 title"/>
          <p:cNvSpPr txBox="1"/>
          <p:nvPr/>
        </p:nvSpPr>
        <p:spPr>
          <a:xfrm>
            <a:off x="3596564" y="2011680"/>
            <a:ext cx="2334692" cy="365760"/>
          </a:xfrm>
          <a:prstGeom prst="rect">
            <a:avLst/>
          </a:prstGeom>
          <a:noFill/>
          <a:ln/>
        </p:spPr>
        <p:txBody>
          <a:bodyPr wrap="square" lIns="0" tIns="0" rIns="0" bIns="0" rtlCol="0" anchor="ctr"/>
          <a:lstStyle/>
          <a:p>
            <a:pPr marL="0" indent="0">
              <a:buNone/>
            </a:pPr>
            <a:r>
              <a:rPr lang="en-US" sz="1800" b="1" dirty="0">
                <a:solidFill>
                  <a:srgbClr val="FFD700"/>
                </a:solidFill>
              </a:rPr>
              <a:t>Configuration</a:t>
            </a:r>
            <a:endParaRPr lang="en-US" sz="1800" dirty="0"/>
          </a:p>
        </p:txBody>
      </p:sp>
      <p:sp>
        <p:nvSpPr>
          <p:cNvPr id="9" name="Domain 2 body"/>
          <p:cNvSpPr txBox="1"/>
          <p:nvPr/>
        </p:nvSpPr>
        <p:spPr>
          <a:xfrm>
            <a:off x="3596564" y="2468880"/>
            <a:ext cx="2334692" cy="868680"/>
          </a:xfrm>
          <a:prstGeom prst="rect">
            <a:avLst/>
          </a:prstGeom>
          <a:noFill/>
          <a:ln/>
        </p:spPr>
        <p:txBody>
          <a:bodyPr wrap="square" lIns="0" tIns="0" rIns="0" bIns="0" rtlCol="0" anchor="t"/>
          <a:lstStyle/>
          <a:p>
            <a:pPr marL="0" indent="0">
              <a:buNone/>
            </a:pPr>
            <a:r>
              <a:rPr lang="en-US" sz="1400" dirty="0">
                <a:solidFill>
                  <a:schemeClr val="bg1"/>
                </a:solidFill>
              </a:rPr>
              <a:t>Security settings</a:t>
            </a:r>
            <a:endParaRPr lang="en-US" sz="1400" dirty="0"/>
          </a:p>
          <a:p>
            <a:pPr marL="0" indent="0">
              <a:buNone/>
            </a:pPr>
            <a:r>
              <a:rPr lang="en-US" sz="1400" dirty="0">
                <a:solidFill>
                  <a:schemeClr val="bg1"/>
                </a:solidFill>
              </a:rPr>
              <a:t>Access configuration</a:t>
            </a:r>
            <a:endParaRPr lang="en-US" sz="1400" dirty="0"/>
          </a:p>
          <a:p>
            <a:pPr marL="0" indent="0">
              <a:buNone/>
            </a:pPr>
            <a:r>
              <a:rPr lang="en-US" sz="1400" dirty="0">
                <a:solidFill>
                  <a:schemeClr val="bg1"/>
                </a:solidFill>
              </a:rPr>
              <a:t>Observed changes</a:t>
            </a:r>
            <a:endParaRPr lang="en-US" sz="1400" dirty="0"/>
          </a:p>
        </p:txBody>
      </p:sp>
      <p:sp>
        <p:nvSpPr>
          <p:cNvPr id="10" name="Domain dot 3"/>
          <p:cNvSpPr/>
          <p:nvPr/>
        </p:nvSpPr>
        <p:spPr>
          <a:xfrm>
            <a:off x="6095848" y="2103120"/>
            <a:ext cx="182880" cy="182880"/>
          </a:xfrm>
          <a:prstGeom prst="ellipse">
            <a:avLst/>
          </a:prstGeom>
          <a:solidFill>
            <a:srgbClr val="FA8B35"/>
          </a:solidFill>
          <a:ln/>
        </p:spPr>
        <p:txBody>
          <a:bodyPr/>
          <a:lstStyle/>
          <a:p>
            <a:endParaRPr lang="en-IN"/>
          </a:p>
        </p:txBody>
      </p:sp>
      <p:sp>
        <p:nvSpPr>
          <p:cNvPr id="11" name="Domain 3 title"/>
          <p:cNvSpPr txBox="1"/>
          <p:nvPr/>
        </p:nvSpPr>
        <p:spPr>
          <a:xfrm>
            <a:off x="6388456" y="2011680"/>
            <a:ext cx="2334692" cy="365760"/>
          </a:xfrm>
          <a:prstGeom prst="rect">
            <a:avLst/>
          </a:prstGeom>
          <a:noFill/>
          <a:ln/>
        </p:spPr>
        <p:txBody>
          <a:bodyPr wrap="square" lIns="0" tIns="0" rIns="0" bIns="0" rtlCol="0" anchor="ctr"/>
          <a:lstStyle/>
          <a:p>
            <a:pPr marL="0" indent="0">
              <a:buNone/>
            </a:pPr>
            <a:r>
              <a:rPr lang="en-US" sz="1800" b="1" dirty="0">
                <a:solidFill>
                  <a:srgbClr val="FA8B35"/>
                </a:solidFill>
              </a:rPr>
              <a:t>Data protection</a:t>
            </a:r>
            <a:endParaRPr lang="en-US" sz="1800" dirty="0"/>
          </a:p>
        </p:txBody>
      </p:sp>
      <p:sp>
        <p:nvSpPr>
          <p:cNvPr id="12" name="Domain 3 body"/>
          <p:cNvSpPr txBox="1"/>
          <p:nvPr/>
        </p:nvSpPr>
        <p:spPr>
          <a:xfrm>
            <a:off x="6388456" y="2468880"/>
            <a:ext cx="2334692" cy="868680"/>
          </a:xfrm>
          <a:prstGeom prst="rect">
            <a:avLst/>
          </a:prstGeom>
          <a:noFill/>
          <a:ln/>
        </p:spPr>
        <p:txBody>
          <a:bodyPr wrap="square" lIns="0" tIns="0" rIns="0" bIns="0" rtlCol="0" anchor="t"/>
          <a:lstStyle/>
          <a:p>
            <a:pPr marL="0" indent="0">
              <a:buNone/>
            </a:pPr>
            <a:r>
              <a:rPr lang="en-US" sz="1400" dirty="0">
                <a:solidFill>
                  <a:schemeClr val="bg1"/>
                </a:solidFill>
              </a:rPr>
              <a:t>Data exposure</a:t>
            </a:r>
            <a:endParaRPr lang="en-US" sz="1400" dirty="0"/>
          </a:p>
          <a:p>
            <a:pPr marL="0" indent="0">
              <a:buNone/>
            </a:pPr>
            <a:r>
              <a:rPr lang="en-US" sz="1400" dirty="0">
                <a:solidFill>
                  <a:schemeClr val="bg1"/>
                </a:solidFill>
              </a:rPr>
              <a:t>History coverage</a:t>
            </a:r>
            <a:endParaRPr lang="en-US" sz="1400" dirty="0"/>
          </a:p>
          <a:p>
            <a:pPr marL="0" indent="0">
              <a:buNone/>
            </a:pPr>
            <a:r>
              <a:rPr lang="en-US" sz="1400" dirty="0">
                <a:solidFill>
                  <a:schemeClr val="bg1"/>
                </a:solidFill>
              </a:rPr>
              <a:t>Retention signals</a:t>
            </a:r>
            <a:endParaRPr lang="en-US" sz="1400" dirty="0"/>
          </a:p>
        </p:txBody>
      </p:sp>
      <p:sp>
        <p:nvSpPr>
          <p:cNvPr id="13" name="Domain dot 4"/>
          <p:cNvSpPr/>
          <p:nvPr/>
        </p:nvSpPr>
        <p:spPr>
          <a:xfrm>
            <a:off x="8887739" y="2103120"/>
            <a:ext cx="182880" cy="182880"/>
          </a:xfrm>
          <a:prstGeom prst="ellipse">
            <a:avLst/>
          </a:prstGeom>
          <a:solidFill>
            <a:srgbClr val="FFFFFF"/>
          </a:solidFill>
          <a:ln/>
        </p:spPr>
        <p:txBody>
          <a:bodyPr/>
          <a:lstStyle/>
          <a:p>
            <a:endParaRPr lang="en-IN"/>
          </a:p>
        </p:txBody>
      </p:sp>
      <p:sp>
        <p:nvSpPr>
          <p:cNvPr id="14" name="Domain 4 title"/>
          <p:cNvSpPr txBox="1"/>
          <p:nvPr/>
        </p:nvSpPr>
        <p:spPr>
          <a:xfrm>
            <a:off x="9180347" y="2011680"/>
            <a:ext cx="2334692" cy="365760"/>
          </a:xfrm>
          <a:prstGeom prst="rect">
            <a:avLst/>
          </a:prstGeom>
          <a:noFill/>
          <a:ln/>
        </p:spPr>
        <p:txBody>
          <a:bodyPr wrap="square" lIns="0" tIns="0" rIns="0" bIns="0" rtlCol="0" anchor="ctr"/>
          <a:lstStyle/>
          <a:p>
            <a:pPr marL="0" indent="0">
              <a:buNone/>
            </a:pPr>
            <a:r>
              <a:rPr lang="en-US" sz="1800" b="1" dirty="0">
                <a:solidFill>
                  <a:srgbClr val="FFFFFF"/>
                </a:solidFill>
              </a:rPr>
              <a:t>Hardening</a:t>
            </a:r>
            <a:endParaRPr lang="en-US" sz="1800" dirty="0"/>
          </a:p>
        </p:txBody>
      </p:sp>
      <p:sp>
        <p:nvSpPr>
          <p:cNvPr id="15" name="Domain 4 body"/>
          <p:cNvSpPr txBox="1"/>
          <p:nvPr/>
        </p:nvSpPr>
        <p:spPr>
          <a:xfrm>
            <a:off x="9180347" y="2468880"/>
            <a:ext cx="2334692" cy="868680"/>
          </a:xfrm>
          <a:prstGeom prst="rect">
            <a:avLst/>
          </a:prstGeom>
          <a:noFill/>
          <a:ln/>
        </p:spPr>
        <p:txBody>
          <a:bodyPr wrap="square" lIns="0" tIns="0" rIns="0" bIns="0" rtlCol="0" anchor="t"/>
          <a:lstStyle/>
          <a:p>
            <a:pPr marL="0" indent="0">
              <a:buNone/>
            </a:pPr>
            <a:r>
              <a:rPr lang="en-US" sz="1400" dirty="0">
                <a:solidFill>
                  <a:schemeClr val="bg1"/>
                </a:solidFill>
              </a:rPr>
              <a:t>Foundational baseline</a:t>
            </a:r>
            <a:endParaRPr lang="en-US" sz="1400" dirty="0"/>
          </a:p>
          <a:p>
            <a:pPr marL="0" indent="0">
              <a:buNone/>
            </a:pPr>
            <a:r>
              <a:rPr lang="en-US" sz="1400" dirty="0">
                <a:solidFill>
                  <a:schemeClr val="bg1"/>
                </a:solidFill>
              </a:rPr>
              <a:t>Applied across</a:t>
            </a:r>
            <a:endParaRPr lang="en-US" sz="1400" dirty="0"/>
          </a:p>
          <a:p>
            <a:pPr marL="0" indent="0">
              <a:buNone/>
            </a:pPr>
            <a:r>
              <a:rPr lang="en-US" sz="1400" dirty="0">
                <a:solidFill>
                  <a:schemeClr val="bg1"/>
                </a:solidFill>
              </a:rPr>
              <a:t>framework views</a:t>
            </a:r>
            <a:endParaRPr lang="en-US" sz="1400" dirty="0"/>
          </a:p>
        </p:txBody>
      </p:sp>
      <p:sp>
        <p:nvSpPr>
          <p:cNvPr id="16" name="Flow arrow"/>
          <p:cNvSpPr/>
          <p:nvPr/>
        </p:nvSpPr>
        <p:spPr>
          <a:xfrm>
            <a:off x="5931256" y="3493008"/>
            <a:ext cx="329184" cy="329184"/>
          </a:xfrm>
          <a:prstGeom prst="downArrow">
            <a:avLst/>
          </a:prstGeom>
          <a:solidFill>
            <a:srgbClr val="FFFFFF">
              <a:alpha val="70000"/>
            </a:srgbClr>
          </a:solidFill>
          <a:ln/>
        </p:spPr>
        <p:txBody>
          <a:bodyPr/>
          <a:lstStyle/>
          <a:p>
            <a:endParaRPr lang="en-IN"/>
          </a:p>
        </p:txBody>
      </p:sp>
      <p:sp>
        <p:nvSpPr>
          <p:cNvPr id="17" name="Evaluation panel"/>
          <p:cNvSpPr/>
          <p:nvPr/>
        </p:nvSpPr>
        <p:spPr>
          <a:xfrm>
            <a:off x="512064" y="3931920"/>
            <a:ext cx="11167567" cy="1207008"/>
          </a:xfrm>
          <a:prstGeom prst="roundRect">
            <a:avLst>
              <a:gd name="adj" fmla="val 9091"/>
            </a:avLst>
          </a:prstGeom>
          <a:solidFill>
            <a:srgbClr val="000000">
              <a:alpha val="55000"/>
            </a:srgbClr>
          </a:solidFill>
          <a:ln w="9525">
            <a:solidFill>
              <a:srgbClr val="FFFFFF">
                <a:alpha val="40000"/>
              </a:srgbClr>
            </a:solidFill>
            <a:prstDash val="solid"/>
          </a:ln>
        </p:spPr>
        <p:txBody>
          <a:bodyPr/>
          <a:lstStyle/>
          <a:p>
            <a:endParaRPr lang="en-IN"/>
          </a:p>
        </p:txBody>
      </p:sp>
      <p:sp>
        <p:nvSpPr>
          <p:cNvPr id="18" name="Evaluation title"/>
          <p:cNvSpPr txBox="1"/>
          <p:nvPr/>
        </p:nvSpPr>
        <p:spPr>
          <a:xfrm>
            <a:off x="786384" y="4041648"/>
            <a:ext cx="10618927" cy="384048"/>
          </a:xfrm>
          <a:prstGeom prst="rect">
            <a:avLst/>
          </a:prstGeom>
          <a:noFill/>
          <a:ln/>
        </p:spPr>
        <p:txBody>
          <a:bodyPr wrap="square" lIns="0" tIns="0" rIns="0" bIns="0" rtlCol="0" anchor="ctr"/>
          <a:lstStyle/>
          <a:p>
            <a:pPr marL="0" indent="0">
              <a:buNone/>
            </a:pPr>
            <a:r>
              <a:rPr lang="en-US" sz="2000" b="1" dirty="0">
                <a:solidFill>
                  <a:schemeClr val="bg1"/>
                </a:solidFill>
              </a:rPr>
              <a:t>Rule evaluation and framework mapping</a:t>
            </a:r>
            <a:endParaRPr lang="en-US" sz="2000" dirty="0"/>
          </a:p>
        </p:txBody>
      </p:sp>
      <p:sp>
        <p:nvSpPr>
          <p:cNvPr id="19" name="Evaluation body"/>
          <p:cNvSpPr txBox="1"/>
          <p:nvPr/>
        </p:nvSpPr>
        <p:spPr>
          <a:xfrm>
            <a:off x="786384" y="4480560"/>
            <a:ext cx="10618927" cy="566928"/>
          </a:xfrm>
          <a:prstGeom prst="rect">
            <a:avLst/>
          </a:prstGeom>
          <a:noFill/>
          <a:ln/>
        </p:spPr>
        <p:txBody>
          <a:bodyPr wrap="square" lIns="0" tIns="0" rIns="0" bIns="0" rtlCol="0" anchor="t"/>
          <a:lstStyle/>
          <a:p>
            <a:pPr marL="0" indent="0">
              <a:buNone/>
            </a:pPr>
            <a:r>
              <a:rPr lang="en-US" sz="1400" dirty="0">
                <a:solidFill>
                  <a:srgbClr val="D0D0D0"/>
                </a:solidFill>
              </a:rPr>
              <a:t>Framework-specific findings determine each score.</a:t>
            </a:r>
            <a:endParaRPr lang="en-US" sz="1400" dirty="0"/>
          </a:p>
          <a:p>
            <a:pPr marL="0" indent="0">
              <a:buNone/>
            </a:pPr>
            <a:r>
              <a:rPr lang="en-US" sz="1400" dirty="0">
                <a:solidFill>
                  <a:srgbClr val="D0D0D0"/>
                </a:solidFill>
              </a:rPr>
              <a:t>Domain weights preserve the baseline when the framework view changes.</a:t>
            </a:r>
            <a:endParaRPr lang="en-US" sz="1400" dirty="0"/>
          </a:p>
        </p:txBody>
      </p:sp>
      <p:sp>
        <p:nvSpPr>
          <p:cNvPr id="20" name="Framework 1"/>
          <p:cNvSpPr/>
          <p:nvPr/>
        </p:nvSpPr>
        <p:spPr>
          <a:xfrm>
            <a:off x="512064" y="5413248"/>
            <a:ext cx="1737360" cy="402336"/>
          </a:xfrm>
          <a:prstGeom prst="roundRect">
            <a:avLst>
              <a:gd name="adj" fmla="val 50000"/>
            </a:avLst>
          </a:prstGeom>
          <a:ln w="19050">
            <a:solidFill>
              <a:srgbClr val="FFFFFF"/>
            </a:solidFill>
          </a:ln>
        </p:spPr>
        <p:txBody>
          <a:bodyPr wrap="square" lIns="0" tIns="0" rIns="0" bIns="0" rtlCol="0" anchor="ctr"/>
          <a:lstStyle/>
          <a:p>
            <a:pPr marL="0" indent="0" algn="ctr">
              <a:buNone/>
            </a:pPr>
            <a:r>
              <a:rPr lang="en-US" sz="1200" b="1" dirty="0">
                <a:solidFill>
                  <a:srgbClr val="FFFFFF"/>
                </a:solidFill>
              </a:rPr>
              <a:t>SOX 404</a:t>
            </a:r>
            <a:endParaRPr lang="en-US" sz="1200" dirty="0"/>
          </a:p>
        </p:txBody>
      </p:sp>
      <p:sp>
        <p:nvSpPr>
          <p:cNvPr id="21" name="Framework 2"/>
          <p:cNvSpPr/>
          <p:nvPr/>
        </p:nvSpPr>
        <p:spPr>
          <a:xfrm>
            <a:off x="2869616" y="5413248"/>
            <a:ext cx="1737360" cy="402336"/>
          </a:xfrm>
          <a:prstGeom prst="roundRect">
            <a:avLst>
              <a:gd name="adj" fmla="val 50000"/>
            </a:avLst>
          </a:prstGeom>
          <a:ln w="19050">
            <a:solidFill>
              <a:srgbClr val="FFFFFF"/>
            </a:solidFill>
          </a:ln>
        </p:spPr>
        <p:txBody>
          <a:bodyPr wrap="square" lIns="0" tIns="0" rIns="0" bIns="0" rtlCol="0" anchor="ctr"/>
          <a:lstStyle/>
          <a:p>
            <a:pPr marL="0" indent="0" algn="ctr">
              <a:buNone/>
            </a:pPr>
            <a:r>
              <a:rPr lang="en-US" sz="1200" b="1" dirty="0">
                <a:solidFill>
                  <a:srgbClr val="FFFFFF"/>
                </a:solidFill>
              </a:rPr>
              <a:t>HIPAA</a:t>
            </a:r>
            <a:endParaRPr lang="en-US" sz="1200" dirty="0"/>
          </a:p>
        </p:txBody>
      </p:sp>
      <p:sp>
        <p:nvSpPr>
          <p:cNvPr id="22" name="Framework 3"/>
          <p:cNvSpPr/>
          <p:nvPr/>
        </p:nvSpPr>
        <p:spPr>
          <a:xfrm>
            <a:off x="5227168" y="5413248"/>
            <a:ext cx="1737360" cy="402336"/>
          </a:xfrm>
          <a:prstGeom prst="roundRect">
            <a:avLst>
              <a:gd name="adj" fmla="val 50000"/>
            </a:avLst>
          </a:prstGeom>
          <a:ln w="19050">
            <a:solidFill>
              <a:srgbClr val="FFFFFF"/>
            </a:solidFill>
          </a:ln>
        </p:spPr>
        <p:txBody>
          <a:bodyPr wrap="square" lIns="0" tIns="0" rIns="0" bIns="0" rtlCol="0" anchor="ctr"/>
          <a:lstStyle/>
          <a:p>
            <a:pPr marL="0" indent="0" algn="ctr">
              <a:buNone/>
            </a:pPr>
            <a:r>
              <a:rPr lang="en-US" sz="1200" b="1" dirty="0">
                <a:solidFill>
                  <a:srgbClr val="FFFFFF"/>
                </a:solidFill>
              </a:rPr>
              <a:t>PCI-DSS</a:t>
            </a:r>
            <a:endParaRPr lang="en-US" sz="1200" dirty="0"/>
          </a:p>
        </p:txBody>
      </p:sp>
      <p:sp>
        <p:nvSpPr>
          <p:cNvPr id="23" name="Framework 4"/>
          <p:cNvSpPr/>
          <p:nvPr/>
        </p:nvSpPr>
        <p:spPr>
          <a:xfrm>
            <a:off x="7584719" y="5413248"/>
            <a:ext cx="1737360" cy="402336"/>
          </a:xfrm>
          <a:prstGeom prst="roundRect">
            <a:avLst>
              <a:gd name="adj" fmla="val 50000"/>
            </a:avLst>
          </a:prstGeom>
          <a:ln w="19050">
            <a:solidFill>
              <a:srgbClr val="FFFFFF"/>
            </a:solidFill>
          </a:ln>
        </p:spPr>
        <p:txBody>
          <a:bodyPr wrap="square" lIns="0" tIns="0" rIns="0" bIns="0" rtlCol="0" anchor="ctr"/>
          <a:lstStyle/>
          <a:p>
            <a:pPr marL="0" indent="0" algn="ctr">
              <a:buNone/>
            </a:pPr>
            <a:r>
              <a:rPr lang="en-US" sz="1200" b="1" dirty="0">
                <a:solidFill>
                  <a:srgbClr val="FFFFFF"/>
                </a:solidFill>
              </a:rPr>
              <a:t>GDPR / CCPA</a:t>
            </a:r>
            <a:endParaRPr lang="en-US" sz="1200" dirty="0"/>
          </a:p>
        </p:txBody>
      </p:sp>
      <p:sp>
        <p:nvSpPr>
          <p:cNvPr id="24" name="Framework 5"/>
          <p:cNvSpPr/>
          <p:nvPr/>
        </p:nvSpPr>
        <p:spPr>
          <a:xfrm>
            <a:off x="9942271" y="5413248"/>
            <a:ext cx="1737360" cy="402336"/>
          </a:xfrm>
          <a:prstGeom prst="roundRect">
            <a:avLst>
              <a:gd name="adj" fmla="val 50000"/>
            </a:avLst>
          </a:prstGeom>
          <a:ln w="19050">
            <a:solidFill>
              <a:srgbClr val="FFFFFF"/>
            </a:solidFill>
          </a:ln>
        </p:spPr>
        <p:txBody>
          <a:bodyPr wrap="square" lIns="0" tIns="0" rIns="0" bIns="0" rtlCol="0" anchor="ctr"/>
          <a:lstStyle/>
          <a:p>
            <a:pPr marL="0" indent="0" algn="ctr">
              <a:buNone/>
            </a:pPr>
            <a:r>
              <a:rPr lang="en-US" sz="1200" b="1" dirty="0">
                <a:solidFill>
                  <a:srgbClr val="FFFFFF"/>
                </a:solidFill>
              </a:rPr>
              <a:t>NIST 800-53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12064" y="658368"/>
            <a:ext cx="11167567" cy="658368"/>
          </a:xfrm>
          <a:prstGeom prst="rect">
            <a:avLst/>
          </a:prstGeom>
          <a:noFill/>
          <a:ln/>
        </p:spPr>
        <p:txBody>
          <a:bodyPr wrap="square" lIns="0" tIns="0" rIns="0" bIns="0" rtlCol="0" anchor="b"/>
          <a:lstStyle/>
          <a:p>
            <a:pPr marL="0" indent="0" algn="l">
              <a:buNone/>
            </a:pPr>
            <a:r>
              <a:rPr lang="en-US" sz="3200" b="1" dirty="0">
                <a:solidFill>
                  <a:schemeClr val="tx1"/>
                </a:solidFill>
              </a:rPr>
              <a:t>The 17-page evidence binder</a:t>
            </a:r>
            <a:endParaRPr lang="en-US" sz="3200" dirty="0"/>
          </a:p>
        </p:txBody>
      </p:sp>
      <p:sp>
        <p:nvSpPr>
          <p:cNvPr id="3" name="Text 1"/>
          <p:cNvSpPr>
            <a:spLocks noGrp="1"/>
          </p:cNvSpPr>
          <p:nvPr>
            <p:ph type="body" idx="103" hasCustomPrompt="1"/>
          </p:nvPr>
        </p:nvSpPr>
        <p:spPr>
          <a:xfrm>
            <a:off x="512064" y="1371600"/>
            <a:ext cx="11167567" cy="347472"/>
          </a:xfrm>
          <a:prstGeom prst="rect">
            <a:avLst/>
          </a:prstGeom>
          <a:noFill/>
          <a:ln/>
        </p:spPr>
        <p:txBody>
          <a:bodyPr wrap="square" lIns="0" tIns="0" rIns="0" bIns="0" rtlCol="0" anchor="t"/>
          <a:lstStyle/>
          <a:p>
            <a:pPr marL="0" indent="0" algn="l">
              <a:buNone/>
            </a:pPr>
            <a:r>
              <a:rPr lang="en-US" sz="1500" dirty="0">
                <a:solidFill>
                  <a:schemeClr val="tx1"/>
                </a:solidFill>
              </a:rPr>
              <a:t>A traceable Risk Control Matrix with supporting detail and human sign-off</a:t>
            </a:r>
            <a:endParaRPr lang="en-US" sz="1500" dirty="0"/>
          </a:p>
        </p:txBody>
      </p:sp>
      <p:sp>
        <p:nvSpPr>
          <p:cNvPr id="4" name="Records label"/>
          <p:cNvSpPr txBox="1"/>
          <p:nvPr/>
        </p:nvSpPr>
        <p:spPr>
          <a:xfrm>
            <a:off x="512064" y="1965960"/>
            <a:ext cx="4572000" cy="274320"/>
          </a:xfrm>
          <a:prstGeom prst="rect">
            <a:avLst/>
          </a:prstGeom>
          <a:noFill/>
          <a:ln/>
        </p:spPr>
        <p:txBody>
          <a:bodyPr wrap="square" lIns="0" tIns="0" rIns="0" bIns="0" rtlCol="0" anchor="ctr"/>
          <a:lstStyle/>
          <a:p>
            <a:pPr marL="0" indent="0">
              <a:buNone/>
            </a:pPr>
            <a:r>
              <a:rPr lang="en-US" sz="1400" kern="0" spc="400" dirty="0">
                <a:solidFill>
                  <a:schemeClr val="tx1"/>
                </a:solidFill>
                <a:latin typeface="Trenda IG Text Light" pitchFamily="34" charset="0"/>
                <a:ea typeface="Trenda IG Text Light" pitchFamily="34" charset="-122"/>
                <a:cs typeface="Trenda IG Text Light" pitchFamily="34" charset="-120"/>
              </a:rPr>
              <a:t>EACH CONTROL RECORDS</a:t>
            </a:r>
            <a:endParaRPr lang="en-US" sz="1400" dirty="0"/>
          </a:p>
        </p:txBody>
      </p:sp>
      <p:sp>
        <p:nvSpPr>
          <p:cNvPr id="5" name="Record 1 number"/>
          <p:cNvSpPr/>
          <p:nvPr/>
        </p:nvSpPr>
        <p:spPr>
          <a:xfrm>
            <a:off x="512064" y="2395728"/>
            <a:ext cx="292608" cy="292608"/>
          </a:xfrm>
          <a:prstGeom prst="ellipse">
            <a:avLst/>
          </a:prstGeom>
          <a:ln w="19050">
            <a:solidFill>
              <a:srgbClr val="000000"/>
            </a:solidFill>
          </a:ln>
        </p:spPr>
        <p:txBody>
          <a:bodyPr wrap="square" lIns="0" tIns="0" rIns="0" bIns="0" rtlCol="0" anchor="ctr"/>
          <a:lstStyle/>
          <a:p>
            <a:pPr marL="0" indent="0" algn="ctr">
              <a:buNone/>
            </a:pPr>
            <a:r>
              <a:rPr lang="en-US" sz="1100" dirty="0">
                <a:solidFill>
                  <a:srgbClr val="000000"/>
                </a:solidFill>
                <a:latin typeface="Trenda IG Text Light" pitchFamily="34" charset="0"/>
                <a:ea typeface="Trenda IG Text Light" pitchFamily="34" charset="-122"/>
                <a:cs typeface="Trenda IG Text Light" pitchFamily="34" charset="-120"/>
              </a:rPr>
              <a:t>1</a:t>
            </a:r>
            <a:endParaRPr lang="en-US" sz="1100" dirty="0"/>
          </a:p>
        </p:txBody>
      </p:sp>
      <p:sp>
        <p:nvSpPr>
          <p:cNvPr id="6" name="Record 1"/>
          <p:cNvSpPr txBox="1"/>
          <p:nvPr/>
        </p:nvSpPr>
        <p:spPr>
          <a:xfrm>
            <a:off x="950976" y="2359152"/>
            <a:ext cx="4023360" cy="365760"/>
          </a:xfrm>
          <a:prstGeom prst="rect">
            <a:avLst/>
          </a:prstGeom>
          <a:noFill/>
          <a:ln/>
        </p:spPr>
        <p:txBody>
          <a:bodyPr wrap="square" lIns="0" tIns="0" rIns="0" bIns="0" rtlCol="0" anchor="ctr"/>
          <a:lstStyle/>
          <a:p>
            <a:pPr marL="0" indent="0">
              <a:buNone/>
            </a:pPr>
            <a:r>
              <a:rPr lang="en-US" sz="1600" dirty="0">
                <a:solidFill>
                  <a:schemeClr val="tx1"/>
                </a:solidFill>
              </a:rPr>
              <a:t>Objective</a:t>
            </a:r>
            <a:endParaRPr lang="en-US" sz="1600" dirty="0"/>
          </a:p>
        </p:txBody>
      </p:sp>
      <p:sp>
        <p:nvSpPr>
          <p:cNvPr id="7" name="Record 2 number"/>
          <p:cNvSpPr/>
          <p:nvPr/>
        </p:nvSpPr>
        <p:spPr>
          <a:xfrm>
            <a:off x="512064" y="2798064"/>
            <a:ext cx="292608" cy="292608"/>
          </a:xfrm>
          <a:prstGeom prst="ellipse">
            <a:avLst/>
          </a:prstGeom>
          <a:ln w="19050">
            <a:solidFill>
              <a:srgbClr val="000000"/>
            </a:solidFill>
          </a:ln>
        </p:spPr>
        <p:txBody>
          <a:bodyPr wrap="square" lIns="0" tIns="0" rIns="0" bIns="0" rtlCol="0" anchor="ctr"/>
          <a:lstStyle/>
          <a:p>
            <a:pPr marL="0" indent="0" algn="ctr">
              <a:buNone/>
            </a:pPr>
            <a:r>
              <a:rPr lang="en-US" sz="1100" dirty="0">
                <a:solidFill>
                  <a:srgbClr val="000000"/>
                </a:solidFill>
                <a:latin typeface="Trenda IG Text Light" pitchFamily="34" charset="0"/>
                <a:ea typeface="Trenda IG Text Light" pitchFamily="34" charset="-122"/>
                <a:cs typeface="Trenda IG Text Light" pitchFamily="34" charset="-120"/>
              </a:rPr>
              <a:t>2</a:t>
            </a:r>
            <a:endParaRPr lang="en-US" sz="1100" dirty="0"/>
          </a:p>
        </p:txBody>
      </p:sp>
      <p:sp>
        <p:nvSpPr>
          <p:cNvPr id="8" name="Record 2"/>
          <p:cNvSpPr txBox="1"/>
          <p:nvPr/>
        </p:nvSpPr>
        <p:spPr>
          <a:xfrm>
            <a:off x="950976" y="2761488"/>
            <a:ext cx="4023360" cy="365760"/>
          </a:xfrm>
          <a:prstGeom prst="rect">
            <a:avLst/>
          </a:prstGeom>
          <a:noFill/>
          <a:ln/>
        </p:spPr>
        <p:txBody>
          <a:bodyPr wrap="square" lIns="0" tIns="0" rIns="0" bIns="0" rtlCol="0" anchor="ctr"/>
          <a:lstStyle/>
          <a:p>
            <a:pPr marL="0" indent="0">
              <a:buNone/>
            </a:pPr>
            <a:r>
              <a:rPr lang="en-US" sz="1600" dirty="0">
                <a:solidFill>
                  <a:schemeClr val="tx1"/>
                </a:solidFill>
              </a:rPr>
              <a:t>Test performed</a:t>
            </a:r>
            <a:endParaRPr lang="en-US" sz="1600" dirty="0"/>
          </a:p>
        </p:txBody>
      </p:sp>
      <p:sp>
        <p:nvSpPr>
          <p:cNvPr id="9" name="Record 3 number"/>
          <p:cNvSpPr/>
          <p:nvPr/>
        </p:nvSpPr>
        <p:spPr>
          <a:xfrm>
            <a:off x="512064" y="3200400"/>
            <a:ext cx="292608" cy="292608"/>
          </a:xfrm>
          <a:prstGeom prst="ellipse">
            <a:avLst/>
          </a:prstGeom>
          <a:ln w="19050">
            <a:solidFill>
              <a:srgbClr val="000000"/>
            </a:solidFill>
          </a:ln>
        </p:spPr>
        <p:txBody>
          <a:bodyPr wrap="square" lIns="0" tIns="0" rIns="0" bIns="0" rtlCol="0" anchor="ctr"/>
          <a:lstStyle/>
          <a:p>
            <a:pPr marL="0" indent="0" algn="ctr">
              <a:buNone/>
            </a:pPr>
            <a:r>
              <a:rPr lang="en-US" sz="1100" dirty="0">
                <a:solidFill>
                  <a:srgbClr val="000000"/>
                </a:solidFill>
                <a:latin typeface="Trenda IG Text Light" pitchFamily="34" charset="0"/>
                <a:ea typeface="Trenda IG Text Light" pitchFamily="34" charset="-122"/>
                <a:cs typeface="Trenda IG Text Light" pitchFamily="34" charset="-120"/>
              </a:rPr>
              <a:t>3</a:t>
            </a:r>
            <a:endParaRPr lang="en-US" sz="1100" dirty="0"/>
          </a:p>
        </p:txBody>
      </p:sp>
      <p:sp>
        <p:nvSpPr>
          <p:cNvPr id="10" name="Record 3"/>
          <p:cNvSpPr txBox="1"/>
          <p:nvPr/>
        </p:nvSpPr>
        <p:spPr>
          <a:xfrm>
            <a:off x="950976" y="3163824"/>
            <a:ext cx="4023360" cy="365760"/>
          </a:xfrm>
          <a:prstGeom prst="rect">
            <a:avLst/>
          </a:prstGeom>
          <a:noFill/>
          <a:ln/>
        </p:spPr>
        <p:txBody>
          <a:bodyPr wrap="square" lIns="0" tIns="0" rIns="0" bIns="0" rtlCol="0" anchor="ctr"/>
          <a:lstStyle/>
          <a:p>
            <a:pPr marL="0" indent="0">
              <a:buNone/>
            </a:pPr>
            <a:r>
              <a:rPr lang="en-US" sz="1600" dirty="0">
                <a:solidFill>
                  <a:schemeClr val="tx1"/>
                </a:solidFill>
              </a:rPr>
              <a:t>Evidence gathered</a:t>
            </a:r>
            <a:endParaRPr lang="en-US" sz="1600" dirty="0"/>
          </a:p>
        </p:txBody>
      </p:sp>
      <p:sp>
        <p:nvSpPr>
          <p:cNvPr id="11" name="Record 4 number"/>
          <p:cNvSpPr/>
          <p:nvPr/>
        </p:nvSpPr>
        <p:spPr>
          <a:xfrm>
            <a:off x="512064" y="3602736"/>
            <a:ext cx="292608" cy="292608"/>
          </a:xfrm>
          <a:prstGeom prst="ellipse">
            <a:avLst/>
          </a:prstGeom>
          <a:ln w="19050">
            <a:solidFill>
              <a:srgbClr val="000000"/>
            </a:solidFill>
          </a:ln>
        </p:spPr>
        <p:txBody>
          <a:bodyPr wrap="square" lIns="0" tIns="0" rIns="0" bIns="0" rtlCol="0" anchor="ctr"/>
          <a:lstStyle/>
          <a:p>
            <a:pPr marL="0" indent="0" algn="ctr">
              <a:buNone/>
            </a:pPr>
            <a:r>
              <a:rPr lang="en-US" sz="1100" dirty="0">
                <a:solidFill>
                  <a:srgbClr val="000000"/>
                </a:solidFill>
                <a:latin typeface="Trenda IG Text Light" pitchFamily="34" charset="0"/>
                <a:ea typeface="Trenda IG Text Light" pitchFamily="34" charset="-122"/>
                <a:cs typeface="Trenda IG Text Light" pitchFamily="34" charset="-120"/>
              </a:rPr>
              <a:t>4</a:t>
            </a:r>
            <a:endParaRPr lang="en-US" sz="1100" dirty="0"/>
          </a:p>
        </p:txBody>
      </p:sp>
      <p:sp>
        <p:nvSpPr>
          <p:cNvPr id="12" name="Record 4"/>
          <p:cNvSpPr txBox="1"/>
          <p:nvPr/>
        </p:nvSpPr>
        <p:spPr>
          <a:xfrm>
            <a:off x="950976" y="3566160"/>
            <a:ext cx="4023360" cy="365760"/>
          </a:xfrm>
          <a:prstGeom prst="rect">
            <a:avLst/>
          </a:prstGeom>
          <a:noFill/>
          <a:ln/>
        </p:spPr>
        <p:txBody>
          <a:bodyPr wrap="square" lIns="0" tIns="0" rIns="0" bIns="0" rtlCol="0" anchor="ctr"/>
          <a:lstStyle/>
          <a:p>
            <a:pPr marL="0" indent="0">
              <a:buNone/>
            </a:pPr>
            <a:r>
              <a:rPr lang="en-US" sz="1600" dirty="0">
                <a:solidFill>
                  <a:schemeClr val="tx1"/>
                </a:solidFill>
              </a:rPr>
              <a:t>Result and exceptions</a:t>
            </a:r>
            <a:endParaRPr lang="en-US" sz="1600" dirty="0"/>
          </a:p>
        </p:txBody>
      </p:sp>
      <p:graphicFrame>
        <p:nvGraphicFramePr>
          <p:cNvPr id="13" name="Sample results table"/>
          <p:cNvGraphicFramePr>
            <a:graphicFrameLocks noGrp="1"/>
          </p:cNvGraphicFramePr>
          <p:nvPr>
            <p:extLst>
              <p:ext uri="{D42A27DB-BD31-4B8C-83A1-F6EECF244321}">
                <p14:modId xmlns:p14="http://schemas.microsoft.com/office/powerpoint/2010/main" val="1579011935"/>
              </p:ext>
            </p:extLst>
          </p:nvPr>
        </p:nvGraphicFramePr>
        <p:xfrm>
          <a:off x="5989320" y="1938528"/>
          <a:ext cx="5687568" cy="1993392"/>
        </p:xfrm>
        <a:graphic>
          <a:graphicData uri="http://schemas.openxmlformats.org/drawingml/2006/table">
            <a:tbl>
              <a:tblPr/>
              <a:tblGrid>
                <a:gridCol w="3108960">
                  <a:extLst>
                    <a:ext uri="{9D8B030D-6E8A-4147-A177-3AD203B41FA5}">
                      <a16:colId xmlns:a16="http://schemas.microsoft.com/office/drawing/2014/main" val="20000"/>
                    </a:ext>
                  </a:extLst>
                </a:gridCol>
                <a:gridCol w="2578608">
                  <a:extLst>
                    <a:ext uri="{9D8B030D-6E8A-4147-A177-3AD203B41FA5}">
                      <a16:colId xmlns:a16="http://schemas.microsoft.com/office/drawing/2014/main" val="20001"/>
                    </a:ext>
                  </a:extLst>
                </a:gridCol>
              </a:tblGrid>
              <a:tr h="347472">
                <a:tc>
                  <a:txBody>
                    <a:bodyPr/>
                    <a:lstStyle/>
                    <a:p>
                      <a:pPr marL="0" indent="0">
                        <a:buNone/>
                      </a:pPr>
                      <a:r>
                        <a:rPr lang="en-US" sz="1300" b="1" dirty="0">
                          <a:solidFill>
                            <a:srgbClr val="000000"/>
                          </a:solidFill>
                        </a:rPr>
                        <a:t>Sample domain</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rPr>
                        <a:t>Reported result</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000000"/>
                          </a:solidFill>
                        </a:rPr>
                        <a:t>Access</a:t>
                      </a:r>
                      <a:endParaRPr lang="en-US" sz="1200" dirty="0"/>
                    </a:p>
                  </a:txBody>
                  <a:tcPr anchor="ctr">
                    <a:lnL w="0" cap="flat" cmpd="sng" algn="ctr">
                      <a:noFill/>
                    </a:lnL>
                    <a:lnR w="0" cap="flat" cmpd="sng" algn="ctr">
                      <a:noFill/>
                    </a:lnR>
                    <a:lnT w="22225" cap="flat" cmpd="sng" algn="ctr">
                      <a:solidFill>
                        <a:srgbClr val="000000"/>
                      </a:solidFill>
                      <a:prstDash val="solid"/>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200" dirty="0">
                          <a:solidFill>
                            <a:srgbClr val="000000"/>
                          </a:solidFill>
                        </a:rPr>
                        <a:t>Exception</a:t>
                      </a:r>
                      <a:endParaRPr lang="en-US" sz="1200" dirty="0"/>
                    </a:p>
                  </a:txBody>
                  <a:tcPr marL="347472" marT="27432" marB="27432" anchor="ctr">
                    <a:lnL w="0" cap="flat" cmpd="sng" algn="ctr">
                      <a:noFill/>
                    </a:lnL>
                    <a:lnR w="0" cap="flat" cmpd="sng" algn="ctr">
                      <a:noFill/>
                    </a:lnR>
                    <a:lnT w="22225" cap="flat" cmpd="sng" algn="ctr">
                      <a:solidFill>
                        <a:srgbClr val="000000"/>
                      </a:solidFill>
                      <a:prstDash val="solid"/>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000000"/>
                          </a:solidFill>
                        </a:rPr>
                        <a:t>Program changes</a:t>
                      </a:r>
                      <a:endParaRPr lang="en-US" sz="12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200" dirty="0">
                          <a:solidFill>
                            <a:srgbClr val="000000"/>
                          </a:solidFill>
                        </a:rPr>
                        <a:t>Pass</a:t>
                      </a:r>
                      <a:endParaRPr lang="en-US" sz="1200" dirty="0"/>
                    </a:p>
                  </a:txBody>
                  <a:tcPr marL="347472" marT="27432" marB="27432"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000000"/>
                          </a:solidFill>
                        </a:rPr>
                        <a:t>Segregation of duties</a:t>
                      </a:r>
                      <a:endParaRPr lang="en-US" sz="12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200" dirty="0">
                          <a:solidFill>
                            <a:srgbClr val="000000"/>
                          </a:solidFill>
                        </a:rPr>
                        <a:t>Exception</a:t>
                      </a:r>
                      <a:endParaRPr lang="en-US" sz="1200" dirty="0"/>
                    </a:p>
                  </a:txBody>
                  <a:tcPr marL="347472" marT="27432" marB="27432"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000000"/>
                          </a:solidFill>
                        </a:rPr>
                        <a:t>Computer operations</a:t>
                      </a:r>
                      <a:endParaRPr lang="en-US" sz="12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200" dirty="0">
                          <a:solidFill>
                            <a:srgbClr val="000000"/>
                          </a:solidFill>
                        </a:rPr>
                        <a:t>Deficiency</a:t>
                      </a:r>
                      <a:endParaRPr lang="en-US" sz="1200" dirty="0"/>
                    </a:p>
                  </a:txBody>
                  <a:tcPr marL="347472" marT="27432" marB="27432"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200" b="1" dirty="0">
                          <a:solidFill>
                            <a:srgbClr val="000000"/>
                          </a:solidFill>
                        </a:rPr>
                        <a:t>Data integrity</a:t>
                      </a:r>
                      <a:endParaRPr lang="en-US" sz="1200" dirty="0"/>
                    </a:p>
                  </a:txBody>
                  <a:tcPr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tc>
                  <a:txBody>
                    <a:bodyPr/>
                    <a:lstStyle/>
                    <a:p>
                      <a:pPr marL="0" indent="0">
                        <a:buNone/>
                      </a:pPr>
                      <a:r>
                        <a:rPr lang="en-US" sz="1200" dirty="0">
                          <a:solidFill>
                            <a:srgbClr val="000000"/>
                          </a:solidFill>
                        </a:rPr>
                        <a:t>Not Assessed</a:t>
                      </a:r>
                      <a:endParaRPr lang="en-US" sz="1200" dirty="0"/>
                    </a:p>
                  </a:txBody>
                  <a:tcPr marL="347472" marT="27432" marB="27432" anchor="ctr">
                    <a:lnL w="0" cap="flat" cmpd="sng" algn="ctr">
                      <a:noFill/>
                    </a:lnL>
                    <a:lnR w="0" cap="flat" cmpd="sng" algn="ctr">
                      <a:noFill/>
                    </a:lnR>
                    <a:lnT w="12700" cap="flat" cmpd="sng" algn="ctr">
                      <a:solidFill>
                        <a:srgbClr val="7F7F7F"/>
                      </a:solidFill>
                      <a:prstDash val="sysDot"/>
                      <a:round/>
                      <a:headEnd type="none" w="med" len="med"/>
                      <a:tailEnd type="none" w="med" len="med"/>
                    </a:lnT>
                    <a:lnB w="12700" cap="flat" cmpd="sng" algn="ctr">
                      <a:solidFill>
                        <a:srgbClr val="7F7F7F"/>
                      </a:solidFill>
                      <a:prstDash val="sysDot"/>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Result dot 1"/>
          <p:cNvSpPr/>
          <p:nvPr/>
        </p:nvSpPr>
        <p:spPr>
          <a:xfrm>
            <a:off x="9208008" y="2382012"/>
            <a:ext cx="137160" cy="137160"/>
          </a:xfrm>
          <a:prstGeom prst="ellipse">
            <a:avLst/>
          </a:prstGeom>
          <a:solidFill>
            <a:srgbClr val="FFD700"/>
          </a:solidFill>
          <a:ln/>
        </p:spPr>
        <p:txBody>
          <a:bodyPr/>
          <a:lstStyle/>
          <a:p>
            <a:endParaRPr lang="en-IN"/>
          </a:p>
        </p:txBody>
      </p:sp>
      <p:sp>
        <p:nvSpPr>
          <p:cNvPr id="15" name="Result dot 2"/>
          <p:cNvSpPr/>
          <p:nvPr/>
        </p:nvSpPr>
        <p:spPr>
          <a:xfrm>
            <a:off x="9208008" y="2711196"/>
            <a:ext cx="137160" cy="137160"/>
          </a:xfrm>
          <a:prstGeom prst="ellipse">
            <a:avLst/>
          </a:prstGeom>
          <a:solidFill>
            <a:srgbClr val="56E13B"/>
          </a:solidFill>
          <a:ln/>
        </p:spPr>
        <p:txBody>
          <a:bodyPr/>
          <a:lstStyle/>
          <a:p>
            <a:endParaRPr lang="en-IN"/>
          </a:p>
        </p:txBody>
      </p:sp>
      <p:sp>
        <p:nvSpPr>
          <p:cNvPr id="16" name="Result dot 3"/>
          <p:cNvSpPr/>
          <p:nvPr/>
        </p:nvSpPr>
        <p:spPr>
          <a:xfrm>
            <a:off x="9208008" y="3040380"/>
            <a:ext cx="137160" cy="137160"/>
          </a:xfrm>
          <a:prstGeom prst="ellipse">
            <a:avLst/>
          </a:prstGeom>
          <a:solidFill>
            <a:srgbClr val="FFD700"/>
          </a:solidFill>
          <a:ln/>
        </p:spPr>
        <p:txBody>
          <a:bodyPr/>
          <a:lstStyle/>
          <a:p>
            <a:endParaRPr lang="en-IN"/>
          </a:p>
        </p:txBody>
      </p:sp>
      <p:sp>
        <p:nvSpPr>
          <p:cNvPr id="17" name="Result dot 4"/>
          <p:cNvSpPr/>
          <p:nvPr/>
        </p:nvSpPr>
        <p:spPr>
          <a:xfrm>
            <a:off x="9208008" y="3369564"/>
            <a:ext cx="137160" cy="137160"/>
          </a:xfrm>
          <a:prstGeom prst="ellipse">
            <a:avLst/>
          </a:prstGeom>
          <a:solidFill>
            <a:srgbClr val="FF0069"/>
          </a:solidFill>
          <a:ln/>
        </p:spPr>
        <p:txBody>
          <a:bodyPr/>
          <a:lstStyle/>
          <a:p>
            <a:endParaRPr lang="en-IN"/>
          </a:p>
        </p:txBody>
      </p:sp>
      <p:sp>
        <p:nvSpPr>
          <p:cNvPr id="18" name="Result dot 5"/>
          <p:cNvSpPr/>
          <p:nvPr/>
        </p:nvSpPr>
        <p:spPr>
          <a:xfrm>
            <a:off x="9208008" y="3698748"/>
            <a:ext cx="137160" cy="137160"/>
          </a:xfrm>
          <a:prstGeom prst="ellipse">
            <a:avLst/>
          </a:prstGeom>
          <a:solidFill>
            <a:srgbClr val="A6A6A6"/>
          </a:solidFill>
          <a:ln/>
        </p:spPr>
        <p:txBody>
          <a:bodyPr/>
          <a:lstStyle/>
          <a:p>
            <a:endParaRPr lang="en-IN"/>
          </a:p>
        </p:txBody>
      </p:sp>
      <p:pic>
        <p:nvPicPr>
          <p:cNvPr id="19" name="Attestation excerpt" descr="Attestation and sign-off excerpt from page 17 of the sample report"/>
          <p:cNvPicPr>
            <a:picLocks noChangeAspect="1"/>
          </p:cNvPicPr>
          <p:nvPr/>
        </p:nvPicPr>
        <p:blipFill>
          <a:blip r:embed="rId3"/>
          <a:stretch>
            <a:fillRect/>
          </a:stretch>
        </p:blipFill>
        <p:spPr>
          <a:xfrm>
            <a:off x="512064" y="4224528"/>
            <a:ext cx="11167567" cy="1739263"/>
          </a:xfrm>
          <a:prstGeom prst="rect">
            <a:avLst/>
          </a:prstGeom>
        </p:spPr>
      </p:pic>
      <p:sp>
        <p:nvSpPr>
          <p:cNvPr id="20" name="Excerpt frame"/>
          <p:cNvSpPr/>
          <p:nvPr/>
        </p:nvSpPr>
        <p:spPr>
          <a:xfrm>
            <a:off x="512064" y="4224528"/>
            <a:ext cx="11167567" cy="1739263"/>
          </a:xfrm>
          <a:prstGeom prst="rect">
            <a:avLst/>
          </a:prstGeom>
          <a:ln w="9525">
            <a:solidFill>
              <a:srgbClr val="BFBFBF"/>
            </a:solidFill>
            <a:prstDash val="solid"/>
          </a:ln>
        </p:spPr>
        <p:txBody>
          <a:bodyPr/>
          <a:lstStyle/>
          <a:p>
            <a:endParaRPr lang="en-IN"/>
          </a:p>
        </p:txBody>
      </p:sp>
      <p:sp>
        <p:nvSpPr>
          <p:cNvPr id="21" name="Excerpt caption"/>
          <p:cNvSpPr txBox="1"/>
          <p:nvPr/>
        </p:nvSpPr>
        <p:spPr>
          <a:xfrm>
            <a:off x="512064" y="5989320"/>
            <a:ext cx="11167567" cy="237744"/>
          </a:xfrm>
          <a:prstGeom prst="rect">
            <a:avLst/>
          </a:prstGeom>
          <a:noFill/>
          <a:ln/>
        </p:spPr>
        <p:txBody>
          <a:bodyPr wrap="square" lIns="0" tIns="0" rIns="0" bIns="0" rtlCol="0" anchor="ctr"/>
          <a:lstStyle/>
          <a:p>
            <a:pPr marL="0" indent="0">
              <a:buNone/>
            </a:pPr>
            <a:r>
              <a:rPr lang="en-US" sz="900" i="1" kern="0" spc="100" dirty="0">
                <a:solidFill>
                  <a:srgbClr val="4D4D4D"/>
                </a:solidFill>
              </a:rPr>
              <a:t>EXCERPT FROM PAGE 17. INTERNAL EVIDENCE FOR REVIEW, NOT AN INDEPENDENT AUDIT OPINION.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12064" y="658368"/>
            <a:ext cx="11167567" cy="658368"/>
          </a:xfrm>
          <a:prstGeom prst="rect">
            <a:avLst/>
          </a:prstGeom>
          <a:noFill/>
          <a:ln/>
        </p:spPr>
        <p:txBody>
          <a:bodyPr wrap="square" lIns="0" tIns="0" rIns="0" bIns="0" rtlCol="0" anchor="b"/>
          <a:lstStyle/>
          <a:p>
            <a:pPr marL="0" indent="0" algn="l">
              <a:buNone/>
            </a:pPr>
            <a:r>
              <a:rPr lang="en-US" sz="3200" b="1" dirty="0">
                <a:solidFill>
                  <a:schemeClr val="bg1"/>
                </a:solidFill>
              </a:rPr>
              <a:t>Shared controls, application-specific evidence</a:t>
            </a:r>
            <a:endParaRPr lang="en-US" sz="3200" dirty="0"/>
          </a:p>
        </p:txBody>
      </p:sp>
      <p:sp>
        <p:nvSpPr>
          <p:cNvPr id="3" name="Text 1"/>
          <p:cNvSpPr>
            <a:spLocks noGrp="1"/>
          </p:cNvSpPr>
          <p:nvPr>
            <p:ph type="body" idx="103" hasCustomPrompt="1"/>
          </p:nvPr>
        </p:nvSpPr>
        <p:spPr>
          <a:xfrm>
            <a:off x="512064" y="1371600"/>
            <a:ext cx="11167567" cy="347472"/>
          </a:xfrm>
          <a:prstGeom prst="rect">
            <a:avLst/>
          </a:prstGeom>
          <a:noFill/>
          <a:ln/>
        </p:spPr>
        <p:txBody>
          <a:bodyPr wrap="square" lIns="0" tIns="0" rIns="0" bIns="0" rtlCol="0" anchor="t"/>
          <a:lstStyle/>
          <a:p>
            <a:pPr marL="0" indent="0" algn="l">
              <a:buNone/>
            </a:pPr>
            <a:r>
              <a:rPr lang="en-US" sz="1500" dirty="0">
                <a:solidFill>
                  <a:schemeClr val="bg2"/>
                </a:solidFill>
              </a:rPr>
              <a:t>Proposed extension beyond Salesforce, subject to target-system mapping and validation</a:t>
            </a:r>
            <a:endParaRPr lang="en-US" sz="1500" dirty="0"/>
          </a:p>
        </p:txBody>
      </p:sp>
      <p:graphicFrame>
        <p:nvGraphicFramePr>
          <p:cNvPr id="8" name="Control comparison table"/>
          <p:cNvGraphicFramePr>
            <a:graphicFrameLocks noGrp="1"/>
          </p:cNvGraphicFramePr>
          <p:nvPr>
            <p:extLst>
              <p:ext uri="{D42A27DB-BD31-4B8C-83A1-F6EECF244321}">
                <p14:modId xmlns:p14="http://schemas.microsoft.com/office/powerpoint/2010/main" val="1579011935"/>
              </p:ext>
            </p:extLst>
          </p:nvPr>
        </p:nvGraphicFramePr>
        <p:xfrm>
          <a:off x="512064" y="1874520"/>
          <a:ext cx="11164824" cy="3401568"/>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15384">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rPr>
                        <a:t>Control</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FFFFFF"/>
                      </a:solidFill>
                      <a:prstDash val="solid"/>
                      <a:round/>
                      <a:headEnd type="none" w="med" len="med"/>
                      <a:tailEnd type="none" w="med" len="med"/>
                    </a:lnB>
                  </a:tcPr>
                </a:tc>
                <a:tc>
                  <a:txBody>
                    <a:bodyPr/>
                    <a:lstStyle/>
                    <a:p>
                      <a:pPr marL="0" indent="0">
                        <a:buNone/>
                      </a:pPr>
                      <a:r>
                        <a:rPr lang="en-US" sz="1300" b="1" dirty="0">
                          <a:solidFill>
                            <a:srgbClr val="FFFFFF"/>
                          </a:solidFill>
                        </a:rPr>
                        <a:t>Salesforce example</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FFFFFF"/>
                      </a:solidFill>
                      <a:prstDash val="solid"/>
                      <a:round/>
                      <a:headEnd type="none" w="med" len="med"/>
                      <a:tailEnd type="none" w="med" len="med"/>
                    </a:lnB>
                  </a:tcPr>
                </a:tc>
                <a:tc>
                  <a:txBody>
                    <a:bodyPr/>
                    <a:lstStyle/>
                    <a:p>
                      <a:pPr marL="0" indent="0">
                        <a:buNone/>
                      </a:pPr>
                      <a:r>
                        <a:rPr lang="en-US" sz="1300" b="1" dirty="0">
                          <a:solidFill>
                            <a:srgbClr val="FFFFFF"/>
                          </a:solidFill>
                        </a:rPr>
                        <a:t>SAP / enterprise example</a:t>
                      </a:r>
                      <a:endParaRPr lang="en-US" sz="1300" dirty="0"/>
                    </a:p>
                  </a:txBody>
                  <a:tcPr marT="36576" marB="73152" anchor="b">
                    <a:lnL w="0" cap="flat" cmpd="sng" algn="ctr">
                      <a:noFill/>
                    </a:lnL>
                    <a:lnR w="0" cap="flat" cmpd="sng" algn="ctr">
                      <a:noFill/>
                    </a:lnR>
                    <a:lnT w="0" cap="flat" cmpd="sng" algn="ctr">
                      <a:noFill/>
                    </a:lnT>
                    <a:lnB w="222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buNone/>
                      </a:pPr>
                      <a:r>
                        <a:rPr lang="en-US" sz="1300" b="1" dirty="0">
                          <a:solidFill>
                            <a:srgbClr val="FFFFFF"/>
                          </a:solidFill>
                        </a:rPr>
                        <a:t>Access and UAR</a:t>
                      </a:r>
                      <a:endParaRPr lang="en-US" sz="1300" dirty="0"/>
                    </a:p>
                  </a:txBody>
                  <a:tcPr anchor="ctr">
                    <a:lnL w="0" cap="flat" cmpd="sng" algn="ctr">
                      <a:noFill/>
                    </a:lnL>
                    <a:lnR w="0" cap="flat" cmpd="sng" algn="ctr">
                      <a:noFill/>
                    </a:lnR>
                    <a:lnT w="22225" cap="flat" cmpd="sng" algn="ctr">
                      <a:solidFill>
                        <a:srgbClr val="FFFFFF"/>
                      </a:solidFill>
                      <a:prstDash val="solid"/>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tc>
                  <a:txBody>
                    <a:bodyPr/>
                    <a:lstStyle/>
                    <a:p>
                      <a:pPr marL="0" indent="0">
                        <a:buNone/>
                      </a:pPr>
                      <a:r>
                        <a:rPr lang="en-US" sz="1300" dirty="0">
                          <a:solidFill>
                            <a:srgbClr val="FFFFFF"/>
                          </a:solidFill>
                        </a:rPr>
                        <a:t>Profiles / permission sets</a:t>
                      </a:r>
                      <a:endParaRPr lang="en-US" sz="1300" dirty="0"/>
                    </a:p>
                    <a:p>
                      <a:pPr marL="0" indent="0">
                        <a:buNone/>
                      </a:pPr>
                      <a:r>
                        <a:rPr lang="en-US" sz="1300" dirty="0">
                          <a:solidFill>
                            <a:srgbClr val="FFFFFF"/>
                          </a:solidFill>
                        </a:rPr>
                        <a:t>Login history and review log</a:t>
                      </a:r>
                      <a:endParaRPr lang="en-US" sz="1300" dirty="0"/>
                    </a:p>
                  </a:txBody>
                  <a:tcPr anchor="ctr">
                    <a:lnL w="0" cap="flat" cmpd="sng" algn="ctr">
                      <a:noFill/>
                    </a:lnL>
                    <a:lnR w="0" cap="flat" cmpd="sng" algn="ctr">
                      <a:noFill/>
                    </a:lnR>
                    <a:lnT w="22225" cap="flat" cmpd="sng" algn="ctr">
                      <a:solidFill>
                        <a:srgbClr val="FFFFFF"/>
                      </a:solidFill>
                      <a:prstDash val="solid"/>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tc>
                  <a:txBody>
                    <a:bodyPr/>
                    <a:lstStyle/>
                    <a:p>
                      <a:pPr marL="0" indent="0">
                        <a:buNone/>
                      </a:pPr>
                      <a:r>
                        <a:rPr lang="en-US" sz="1300" dirty="0">
                          <a:solidFill>
                            <a:srgbClr val="FFFFFF"/>
                          </a:solidFill>
                        </a:rPr>
                        <a:t>Privileged roles / SAP_ALL</a:t>
                      </a:r>
                      <a:endParaRPr lang="en-US" sz="1300" dirty="0"/>
                    </a:p>
                    <a:p>
                      <a:pPr marL="0" indent="0">
                        <a:buNone/>
                      </a:pPr>
                      <a:r>
                        <a:rPr lang="en-US" sz="1300" dirty="0">
                          <a:solidFill>
                            <a:srgbClr val="FFFFFF"/>
                          </a:solidFill>
                        </a:rPr>
                        <a:t>User activity and entitlement extracts</a:t>
                      </a:r>
                      <a:endParaRPr lang="en-US" sz="1300" dirty="0"/>
                    </a:p>
                  </a:txBody>
                  <a:tcPr anchor="ctr">
                    <a:lnL w="0" cap="flat" cmpd="sng" algn="ctr">
                      <a:noFill/>
                    </a:lnL>
                    <a:lnR w="0" cap="flat" cmpd="sng" algn="ctr">
                      <a:noFill/>
                    </a:lnR>
                    <a:lnT w="22225" cap="flat" cmpd="sng" algn="ctr">
                      <a:solidFill>
                        <a:srgbClr val="FFFFFF"/>
                      </a:solidFill>
                      <a:prstDash val="solid"/>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extLst>
                  <a:ext uri="{0D108BD9-81ED-4DB2-BD59-A6C34878D82A}">
                    <a16:rowId xmlns:a16="http://schemas.microsoft.com/office/drawing/2014/main" val="10001"/>
                  </a:ext>
                </a:extLst>
              </a:tr>
              <a:tr h="603504">
                <a:tc>
                  <a:txBody>
                    <a:bodyPr/>
                    <a:lstStyle/>
                    <a:p>
                      <a:pPr marL="0" indent="0">
                        <a:buNone/>
                      </a:pPr>
                      <a:r>
                        <a:rPr lang="en-US" sz="1300" b="1" dirty="0">
                          <a:solidFill>
                            <a:srgbClr val="FFFFFF"/>
                          </a:solidFill>
                        </a:rPr>
                        <a:t>Changes and development</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tcPr>
                </a:tc>
                <a:tc>
                  <a:txBody>
                    <a:bodyPr/>
                    <a:lstStyle/>
                    <a:p>
                      <a:pPr marL="0" indent="0">
                        <a:buNone/>
                      </a:pPr>
                      <a:r>
                        <a:rPr lang="en-US" sz="1300" dirty="0">
                          <a:solidFill>
                            <a:srgbClr val="FFFFFF"/>
                          </a:solidFill>
                        </a:rPr>
                        <a:t>Setup Audit Trail</a:t>
                      </a:r>
                      <a:endParaRPr lang="en-US" sz="1300" dirty="0"/>
                    </a:p>
                    <a:p>
                      <a:pPr marL="0" indent="0">
                        <a:buNone/>
                      </a:pPr>
                      <a:r>
                        <a:rPr lang="en-US" sz="1300" dirty="0">
                          <a:solidFill>
                            <a:srgbClr val="FFFFFF"/>
                          </a:solidFill>
                        </a:rPr>
                        <a:t>Source-control context</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tcPr>
                </a:tc>
                <a:tc>
                  <a:txBody>
                    <a:bodyPr/>
                    <a:lstStyle/>
                    <a:p>
                      <a:pPr marL="0" indent="0">
                        <a:buNone/>
                      </a:pPr>
                      <a:r>
                        <a:rPr lang="en-US" sz="1300" dirty="0">
                          <a:solidFill>
                            <a:srgbClr val="FFFFFF"/>
                          </a:solidFill>
                        </a:rPr>
                        <a:t>Transport / deployment records</a:t>
                      </a:r>
                      <a:endParaRPr lang="en-US" sz="1300" dirty="0"/>
                    </a:p>
                    <a:p>
                      <a:pPr marL="0" indent="0">
                        <a:buNone/>
                      </a:pPr>
                      <a:r>
                        <a:rPr lang="en-US" sz="1300" dirty="0">
                          <a:solidFill>
                            <a:srgbClr val="FFFFFF"/>
                          </a:solidFill>
                        </a:rPr>
                        <a:t>Change documents and approvals</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300" b="1" dirty="0">
                          <a:solidFill>
                            <a:srgbClr val="FFFFFF"/>
                          </a:solidFill>
                        </a:rPr>
                        <a:t>Segregation of duties</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tc>
                  <a:txBody>
                    <a:bodyPr/>
                    <a:lstStyle/>
                    <a:p>
                      <a:pPr marL="0" indent="0">
                        <a:buNone/>
                      </a:pPr>
                      <a:r>
                        <a:rPr lang="en-US" sz="1300" dirty="0">
                          <a:solidFill>
                            <a:srgbClr val="FFFFFF"/>
                          </a:solidFill>
                        </a:rPr>
                        <a:t>AuthorApex + ModifyAllData</a:t>
                      </a:r>
                      <a:endParaRPr lang="en-US" sz="1300" dirty="0"/>
                    </a:p>
                    <a:p>
                      <a:pPr marL="0" indent="0">
                        <a:buNone/>
                      </a:pPr>
                      <a:r>
                        <a:rPr lang="en-US" sz="1300" dirty="0">
                          <a:solidFill>
                            <a:srgbClr val="FFFFFF"/>
                          </a:solidFill>
                        </a:rPr>
                        <a:t>Effective-permission conflicts</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tc>
                  <a:txBody>
                    <a:bodyPr/>
                    <a:lstStyle/>
                    <a:p>
                      <a:pPr marL="0" indent="0">
                        <a:buNone/>
                      </a:pPr>
                      <a:r>
                        <a:rPr lang="en-US" sz="1300" dirty="0">
                          <a:solidFill>
                            <a:srgbClr val="FFFFFF"/>
                          </a:solidFill>
                        </a:rPr>
                        <a:t>Approved business-duty conflicts</a:t>
                      </a:r>
                      <a:endParaRPr lang="en-US" sz="1300" dirty="0"/>
                    </a:p>
                    <a:p>
                      <a:pPr marL="0" indent="0">
                        <a:buNone/>
                      </a:pPr>
                      <a:r>
                        <a:rPr lang="en-US" sz="1300" dirty="0">
                          <a:solidFill>
                            <a:srgbClr val="FFFFFF"/>
                          </a:solidFill>
                        </a:rPr>
                        <a:t>Role and authorization evaluation</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extLst>
                  <a:ext uri="{0D108BD9-81ED-4DB2-BD59-A6C34878D82A}">
                    <a16:rowId xmlns:a16="http://schemas.microsoft.com/office/drawing/2014/main" val="10003"/>
                  </a:ext>
                </a:extLst>
              </a:tr>
              <a:tr h="603504">
                <a:tc>
                  <a:txBody>
                    <a:bodyPr/>
                    <a:lstStyle/>
                    <a:p>
                      <a:pPr marL="0" indent="0">
                        <a:buNone/>
                      </a:pPr>
                      <a:r>
                        <a:rPr lang="en-US" sz="1300" b="1" dirty="0">
                          <a:solidFill>
                            <a:srgbClr val="FFFFFF"/>
                          </a:solidFill>
                        </a:rPr>
                        <a:t>Computer operations</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tcPr>
                </a:tc>
                <a:tc>
                  <a:txBody>
                    <a:bodyPr/>
                    <a:lstStyle/>
                    <a:p>
                      <a:pPr marL="0" indent="0">
                        <a:buNone/>
                      </a:pPr>
                      <a:r>
                        <a:rPr lang="en-US" sz="1300" dirty="0">
                          <a:solidFill>
                            <a:srgbClr val="FFFFFF"/>
                          </a:solidFill>
                        </a:rPr>
                        <a:t>Security baseline</a:t>
                      </a:r>
                      <a:endParaRPr lang="en-US" sz="1300" dirty="0"/>
                    </a:p>
                    <a:p>
                      <a:pPr marL="0" indent="0">
                        <a:buNone/>
                      </a:pPr>
                      <a:r>
                        <a:rPr lang="en-US" sz="1300" dirty="0">
                          <a:solidFill>
                            <a:srgbClr val="FFFFFF"/>
                          </a:solidFill>
                        </a:rPr>
                        <a:t>Connected apps and OAuth</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tcPr>
                </a:tc>
                <a:tc>
                  <a:txBody>
                    <a:bodyPr/>
                    <a:lstStyle/>
                    <a:p>
                      <a:pPr marL="0" indent="0">
                        <a:buNone/>
                      </a:pPr>
                      <a:r>
                        <a:rPr lang="en-US" sz="1300" dirty="0">
                          <a:solidFill>
                            <a:srgbClr val="FFFFFF"/>
                          </a:solidFill>
                        </a:rPr>
                        <a:t>Security parameters and SSO / MFA</a:t>
                      </a:r>
                      <a:endParaRPr lang="en-US" sz="1300" dirty="0"/>
                    </a:p>
                    <a:p>
                      <a:pPr marL="0" indent="0">
                        <a:buNone/>
                      </a:pPr>
                      <a:r>
                        <a:rPr lang="en-US" sz="1300" dirty="0">
                          <a:solidFill>
                            <a:srgbClr val="FFFFFF"/>
                          </a:solidFill>
                        </a:rPr>
                        <a:t>Service accounts and integrations</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buNone/>
                      </a:pPr>
                      <a:r>
                        <a:rPr lang="en-US" sz="1300" b="1" dirty="0">
                          <a:solidFill>
                            <a:srgbClr val="FFFFFF"/>
                          </a:solidFill>
                        </a:rPr>
                        <a:t>Integrity and retention</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tc>
                  <a:txBody>
                    <a:bodyPr/>
                    <a:lstStyle/>
                    <a:p>
                      <a:pPr marL="0" indent="0">
                        <a:buNone/>
                      </a:pPr>
                      <a:r>
                        <a:rPr lang="en-US" sz="1300" dirty="0">
                          <a:solidFill>
                            <a:srgbClr val="FFFFFF"/>
                          </a:solidFill>
                        </a:rPr>
                        <a:t>Field-history / Field Audit Trail</a:t>
                      </a:r>
                      <a:endParaRPr lang="en-US" sz="1300" dirty="0"/>
                    </a:p>
                    <a:p>
                      <a:pPr marL="0" indent="0">
                        <a:buNone/>
                      </a:pPr>
                      <a:r>
                        <a:rPr lang="en-US" sz="1300" dirty="0">
                          <a:solidFill>
                            <a:srgbClr val="FFFFFF"/>
                          </a:solidFill>
                        </a:rPr>
                        <a:t>Availability and coverage</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tc>
                  <a:txBody>
                    <a:bodyPr/>
                    <a:lstStyle/>
                    <a:p>
                      <a:pPr marL="0" indent="0">
                        <a:buNone/>
                      </a:pPr>
                      <a:r>
                        <a:rPr lang="en-US" sz="1300" dirty="0">
                          <a:solidFill>
                            <a:srgbClr val="FFFFFF"/>
                          </a:solidFill>
                        </a:rPr>
                        <a:t>Database / application change logs</a:t>
                      </a:r>
                      <a:endParaRPr lang="en-US" sz="1300" dirty="0"/>
                    </a:p>
                    <a:p>
                      <a:pPr marL="0" indent="0">
                        <a:buNone/>
                      </a:pPr>
                      <a:r>
                        <a:rPr lang="en-US" sz="1300" dirty="0">
                          <a:solidFill>
                            <a:srgbClr val="FFFFFF"/>
                          </a:solidFill>
                        </a:rPr>
                        <a:t>Retention and reconstruction tests</a:t>
                      </a:r>
                      <a:endParaRPr lang="en-US" sz="1300" dirty="0"/>
                    </a:p>
                  </a:txBody>
                  <a:tcPr anchor="ctr">
                    <a:lnL w="0" cap="flat" cmpd="sng" algn="ctr">
                      <a:noFill/>
                    </a:lnL>
                    <a:lnR w="0" cap="flat" cmpd="sng" algn="ctr">
                      <a:noFill/>
                    </a:lnR>
                    <a:lnT w="12700" cap="flat" cmpd="sng" algn="ctr">
                      <a:solidFill>
                        <a:srgbClr val="8C8C8C"/>
                      </a:solidFill>
                      <a:prstDash val="sysDot"/>
                      <a:round/>
                      <a:headEnd type="none" w="med" len="med"/>
                      <a:tailEnd type="none" w="med" len="med"/>
                    </a:lnT>
                    <a:lnB w="12700" cap="flat" cmpd="sng" algn="ctr">
                      <a:solidFill>
                        <a:srgbClr val="8C8C8C"/>
                      </a:solidFill>
                      <a:prstDash val="sysDot"/>
                      <a:round/>
                      <a:headEnd type="none" w="med" len="med"/>
                      <a:tailEnd type="none" w="med" len="med"/>
                    </a:lnB>
                    <a:solidFill>
                      <a:srgbClr val="333333"/>
                    </a:solidFill>
                  </a:tcPr>
                </a:tc>
                <a:extLst>
                  <a:ext uri="{0D108BD9-81ED-4DB2-BD59-A6C34878D82A}">
                    <a16:rowId xmlns:a16="http://schemas.microsoft.com/office/drawing/2014/main" val="10005"/>
                  </a:ext>
                </a:extLst>
              </a:tr>
            </a:tbl>
          </a:graphicData>
        </a:graphic>
      </p:graphicFrame>
      <p:sp>
        <p:nvSpPr>
          <p:cNvPr id="5" name="Common inputs label"/>
          <p:cNvSpPr txBox="1"/>
          <p:nvPr/>
        </p:nvSpPr>
        <p:spPr>
          <a:xfrm>
            <a:off x="512064" y="5486400"/>
            <a:ext cx="2331720" cy="384048"/>
          </a:xfrm>
          <a:prstGeom prst="rect">
            <a:avLst/>
          </a:prstGeom>
          <a:noFill/>
          <a:ln/>
        </p:spPr>
        <p:txBody>
          <a:bodyPr wrap="square" lIns="0" tIns="0" rIns="0" bIns="0" rtlCol="0" anchor="ctr"/>
          <a:lstStyle/>
          <a:p>
            <a:pPr marL="0" indent="0">
              <a:buNone/>
            </a:pPr>
            <a:r>
              <a:rPr lang="en-US" sz="1400" kern="0" spc="400" dirty="0">
                <a:solidFill>
                  <a:schemeClr val="bg1"/>
                </a:solidFill>
                <a:latin typeface="Trenda IG Text Light" pitchFamily="34" charset="0"/>
                <a:ea typeface="Trenda IG Text Light" pitchFamily="34" charset="-122"/>
                <a:cs typeface="Trenda IG Text Light" pitchFamily="34" charset="-120"/>
              </a:rPr>
              <a:t>COMMON INPUTS</a:t>
            </a:r>
            <a:endParaRPr lang="en-US" sz="1400" dirty="0"/>
          </a:p>
        </p:txBody>
      </p:sp>
      <p:sp>
        <p:nvSpPr>
          <p:cNvPr id="6" name="Common input 1"/>
          <p:cNvSpPr/>
          <p:nvPr/>
        </p:nvSpPr>
        <p:spPr>
          <a:xfrm>
            <a:off x="2935224" y="5486400"/>
            <a:ext cx="1920240" cy="384048"/>
          </a:xfrm>
          <a:prstGeom prst="roundRect">
            <a:avLst>
              <a:gd name="adj" fmla="val 50000"/>
            </a:avLst>
          </a:prstGeom>
          <a:ln w="19050">
            <a:solidFill>
              <a:srgbClr val="00D6F2"/>
            </a:solidFill>
          </a:ln>
        </p:spPr>
        <p:txBody>
          <a:bodyPr wrap="square" lIns="0" tIns="0" rIns="0" bIns="0" rtlCol="0" anchor="ctr"/>
          <a:lstStyle/>
          <a:p>
            <a:pPr marL="0" indent="0" algn="ctr">
              <a:buNone/>
            </a:pPr>
            <a:r>
              <a:rPr lang="en-US" sz="1200" b="1" dirty="0">
                <a:solidFill>
                  <a:srgbClr val="FFFFFF"/>
                </a:solidFill>
              </a:rPr>
              <a:t>Identities</a:t>
            </a:r>
            <a:endParaRPr lang="en-US" sz="1200" dirty="0"/>
          </a:p>
        </p:txBody>
      </p:sp>
      <p:sp>
        <p:nvSpPr>
          <p:cNvPr id="7" name="Common input 2"/>
          <p:cNvSpPr/>
          <p:nvPr/>
        </p:nvSpPr>
        <p:spPr>
          <a:xfrm>
            <a:off x="5084064" y="5486400"/>
            <a:ext cx="1920240" cy="384048"/>
          </a:xfrm>
          <a:prstGeom prst="roundRect">
            <a:avLst>
              <a:gd name="adj" fmla="val 50000"/>
            </a:avLst>
          </a:prstGeom>
          <a:ln w="19050">
            <a:solidFill>
              <a:srgbClr val="00D6F2"/>
            </a:solidFill>
          </a:ln>
        </p:spPr>
        <p:txBody>
          <a:bodyPr wrap="square" lIns="0" tIns="0" rIns="0" bIns="0" rtlCol="0" anchor="ctr"/>
          <a:lstStyle/>
          <a:p>
            <a:pPr marL="0" indent="0" algn="ctr">
              <a:buNone/>
            </a:pPr>
            <a:r>
              <a:rPr lang="en-US" sz="1200" b="1" dirty="0">
                <a:solidFill>
                  <a:srgbClr val="FFFFFF"/>
                </a:solidFill>
              </a:rPr>
              <a:t>Entitlements</a:t>
            </a:r>
            <a:endParaRPr lang="en-US" sz="1200" dirty="0"/>
          </a:p>
        </p:txBody>
      </p:sp>
      <p:sp>
        <p:nvSpPr>
          <p:cNvPr id="4" name="Common input 3"/>
          <p:cNvSpPr/>
          <p:nvPr/>
        </p:nvSpPr>
        <p:spPr>
          <a:xfrm>
            <a:off x="7232904" y="5486400"/>
            <a:ext cx="1920240" cy="384048"/>
          </a:xfrm>
          <a:prstGeom prst="roundRect">
            <a:avLst>
              <a:gd name="adj" fmla="val 50000"/>
            </a:avLst>
          </a:prstGeom>
          <a:ln w="19050">
            <a:solidFill>
              <a:srgbClr val="00D6F2"/>
            </a:solidFill>
          </a:ln>
        </p:spPr>
        <p:txBody>
          <a:bodyPr wrap="square" lIns="0" tIns="0" rIns="0" bIns="0" rtlCol="0" anchor="ctr"/>
          <a:lstStyle/>
          <a:p>
            <a:pPr marL="0" indent="0" algn="ctr">
              <a:buNone/>
            </a:pPr>
            <a:r>
              <a:rPr lang="en-US" sz="1200" b="1" dirty="0">
                <a:solidFill>
                  <a:srgbClr val="FFFFFF"/>
                </a:solidFill>
              </a:rPr>
              <a:t>Audit events</a:t>
            </a:r>
            <a:endParaRPr lang="en-US" sz="1200" dirty="0"/>
          </a:p>
        </p:txBody>
      </p:sp>
      <p:sp>
        <p:nvSpPr>
          <p:cNvPr id="9" name="Common input 4"/>
          <p:cNvSpPr/>
          <p:nvPr/>
        </p:nvSpPr>
        <p:spPr>
          <a:xfrm>
            <a:off x="9381744" y="5486400"/>
            <a:ext cx="1920240" cy="384048"/>
          </a:xfrm>
          <a:prstGeom prst="roundRect">
            <a:avLst>
              <a:gd name="adj" fmla="val 50000"/>
            </a:avLst>
          </a:prstGeom>
          <a:ln w="19050">
            <a:solidFill>
              <a:srgbClr val="00D6F2"/>
            </a:solidFill>
          </a:ln>
        </p:spPr>
        <p:txBody>
          <a:bodyPr wrap="square" lIns="0" tIns="0" rIns="0" bIns="0" rtlCol="0" anchor="ctr"/>
          <a:lstStyle/>
          <a:p>
            <a:pPr marL="0" indent="0" algn="ctr">
              <a:buNone/>
            </a:pPr>
            <a:r>
              <a:rPr lang="en-US" sz="1200" b="1" dirty="0">
                <a:solidFill>
                  <a:srgbClr val="FFFFFF"/>
                </a:solidFill>
              </a:rPr>
              <a:t>Configuration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12064" y="658368"/>
            <a:ext cx="11167567" cy="658368"/>
          </a:xfrm>
          <a:prstGeom prst="rect">
            <a:avLst/>
          </a:prstGeom>
          <a:noFill/>
          <a:ln/>
        </p:spPr>
        <p:txBody>
          <a:bodyPr wrap="square" lIns="0" tIns="0" rIns="0" bIns="0" rtlCol="0" anchor="b"/>
          <a:lstStyle/>
          <a:p>
            <a:pPr marL="0" indent="0" algn="l">
              <a:buNone/>
            </a:pPr>
            <a:r>
              <a:rPr lang="en-US" sz="3200" b="1" dirty="0">
                <a:solidFill>
                  <a:schemeClr val="bg1"/>
                </a:solidFill>
              </a:rPr>
              <a:t>McKesson scope and delivery options</a:t>
            </a:r>
            <a:endParaRPr lang="en-US" sz="3200" dirty="0"/>
          </a:p>
        </p:txBody>
      </p:sp>
      <p:sp>
        <p:nvSpPr>
          <p:cNvPr id="3" name="Text 1"/>
          <p:cNvSpPr>
            <a:spLocks noGrp="1"/>
          </p:cNvSpPr>
          <p:nvPr>
            <p:ph type="body" idx="103" hasCustomPrompt="1"/>
          </p:nvPr>
        </p:nvSpPr>
        <p:spPr>
          <a:xfrm>
            <a:off x="512064" y="1371600"/>
            <a:ext cx="11167567" cy="347472"/>
          </a:xfrm>
          <a:prstGeom prst="rect">
            <a:avLst/>
          </a:prstGeom>
          <a:noFill/>
          <a:ln/>
        </p:spPr>
        <p:txBody>
          <a:bodyPr wrap="square" lIns="0" tIns="0" rIns="0" bIns="0" rtlCol="0" anchor="t"/>
          <a:lstStyle/>
          <a:p>
            <a:pPr marL="0" indent="0" algn="l">
              <a:buNone/>
            </a:pPr>
            <a:r>
              <a:rPr lang="en-US" sz="1500" dirty="0">
                <a:solidFill>
                  <a:schemeClr val="bg2"/>
                </a:solidFill>
              </a:rPr>
              <a:t>One priority application and one control workflow define the first working session</a:t>
            </a:r>
            <a:endParaRPr lang="en-US" sz="1500" dirty="0"/>
          </a:p>
        </p:txBody>
      </p:sp>
      <p:sp>
        <p:nvSpPr>
          <p:cNvPr id="4" name="Option 1 number"/>
          <p:cNvSpPr/>
          <p:nvPr/>
        </p:nvSpPr>
        <p:spPr>
          <a:xfrm>
            <a:off x="512064" y="2011680"/>
            <a:ext cx="457200" cy="457200"/>
          </a:xfrm>
          <a:prstGeom prst="ellipse">
            <a:avLst/>
          </a:prstGeom>
          <a:ln w="19050">
            <a:solidFill>
              <a:srgbClr val="FFFFFF"/>
            </a:solidFill>
          </a:ln>
        </p:spPr>
        <p:txBody>
          <a:bodyPr wrap="square" lIns="0" tIns="0" rIns="0" bIns="0" rtlCol="0" anchor="ctr"/>
          <a:lstStyle/>
          <a:p>
            <a:pPr marL="0" indent="0" algn="ctr">
              <a:buNone/>
            </a:pPr>
            <a:r>
              <a:rPr lang="en-US" sz="1500" dirty="0">
                <a:solidFill>
                  <a:srgbClr val="FFFFFF"/>
                </a:solidFill>
                <a:latin typeface="Trenda IG Text Light" pitchFamily="34" charset="0"/>
                <a:ea typeface="Trenda IG Text Light" pitchFamily="34" charset="-122"/>
                <a:cs typeface="Trenda IG Text Light" pitchFamily="34" charset="-120"/>
              </a:rPr>
              <a:t>1</a:t>
            </a:r>
            <a:endParaRPr lang="en-US" sz="1500" dirty="0"/>
          </a:p>
        </p:txBody>
      </p:sp>
      <p:sp>
        <p:nvSpPr>
          <p:cNvPr id="5" name="Option 1 title"/>
          <p:cNvSpPr txBox="1"/>
          <p:nvPr/>
        </p:nvSpPr>
        <p:spPr>
          <a:xfrm>
            <a:off x="512064" y="2606040"/>
            <a:ext cx="3585362" cy="411480"/>
          </a:xfrm>
          <a:prstGeom prst="rect">
            <a:avLst/>
          </a:prstGeom>
          <a:noFill/>
          <a:ln/>
        </p:spPr>
        <p:txBody>
          <a:bodyPr wrap="square" lIns="0" tIns="0" rIns="0" bIns="0" rtlCol="0" anchor="ctr">
            <a:normAutofit/>
          </a:bodyPr>
          <a:lstStyle/>
          <a:p>
            <a:pPr marL="0" indent="0">
              <a:buNone/>
            </a:pPr>
            <a:r>
              <a:rPr lang="en-US" sz="1800" b="1" dirty="0">
                <a:solidFill>
                  <a:schemeClr val="bg1"/>
                </a:solidFill>
              </a:rPr>
              <a:t>Salesforce hub</a:t>
            </a:r>
            <a:endParaRPr lang="en-US" sz="1800" dirty="0"/>
          </a:p>
        </p:txBody>
      </p:sp>
      <p:sp>
        <p:nvSpPr>
          <p:cNvPr id="6" name="Option 1 body"/>
          <p:cNvSpPr txBox="1"/>
          <p:nvPr/>
        </p:nvSpPr>
        <p:spPr>
          <a:xfrm>
            <a:off x="512064" y="3090672"/>
            <a:ext cx="3585362" cy="777240"/>
          </a:xfrm>
          <a:prstGeom prst="rect">
            <a:avLst/>
          </a:prstGeom>
          <a:noFill/>
          <a:ln/>
        </p:spPr>
        <p:txBody>
          <a:bodyPr wrap="square" lIns="0" tIns="0" rIns="0" bIns="0" rtlCol="0" anchor="t"/>
          <a:lstStyle/>
          <a:p>
            <a:pPr marL="0" indent="0">
              <a:buNone/>
            </a:pPr>
            <a:r>
              <a:rPr lang="en-US" sz="1400" dirty="0">
                <a:solidFill>
                  <a:schemeClr val="bg1"/>
                </a:solidFill>
              </a:rPr>
              <a:t>Proposed external ingestion via</a:t>
            </a:r>
            <a:endParaRPr lang="en-US" sz="1400" dirty="0"/>
          </a:p>
          <a:p>
            <a:pPr marL="0" indent="0">
              <a:buNone/>
            </a:pPr>
            <a:r>
              <a:rPr lang="en-US" sz="1400" dirty="0">
                <a:solidFill>
                  <a:schemeClr val="bg1"/>
                </a:solidFill>
              </a:rPr>
              <a:t>REST / OData / SCIM or CSV / JSON</a:t>
            </a:r>
            <a:endParaRPr lang="en-US" sz="1400" dirty="0"/>
          </a:p>
        </p:txBody>
      </p:sp>
      <p:sp>
        <p:nvSpPr>
          <p:cNvPr id="7" name="Option 2 number"/>
          <p:cNvSpPr/>
          <p:nvPr/>
        </p:nvSpPr>
        <p:spPr>
          <a:xfrm>
            <a:off x="4234586" y="2011680"/>
            <a:ext cx="457200" cy="457200"/>
          </a:xfrm>
          <a:prstGeom prst="ellipse">
            <a:avLst/>
          </a:prstGeom>
          <a:ln w="19050">
            <a:solidFill>
              <a:srgbClr val="FFFFFF"/>
            </a:solidFill>
          </a:ln>
        </p:spPr>
        <p:txBody>
          <a:bodyPr wrap="square" lIns="0" tIns="0" rIns="0" bIns="0" rtlCol="0" anchor="ctr"/>
          <a:lstStyle/>
          <a:p>
            <a:pPr marL="0" indent="0" algn="ctr">
              <a:buNone/>
            </a:pPr>
            <a:r>
              <a:rPr lang="en-US" sz="1500" dirty="0">
                <a:solidFill>
                  <a:srgbClr val="FFFFFF"/>
                </a:solidFill>
                <a:latin typeface="Trenda IG Text Light" pitchFamily="34" charset="0"/>
                <a:ea typeface="Trenda IG Text Light" pitchFamily="34" charset="-122"/>
                <a:cs typeface="Trenda IG Text Light" pitchFamily="34" charset="-120"/>
              </a:rPr>
              <a:t>2</a:t>
            </a:r>
            <a:endParaRPr lang="en-US" sz="1500" dirty="0"/>
          </a:p>
        </p:txBody>
      </p:sp>
      <p:sp>
        <p:nvSpPr>
          <p:cNvPr id="8" name="Option 2 title"/>
          <p:cNvSpPr txBox="1"/>
          <p:nvPr/>
        </p:nvSpPr>
        <p:spPr>
          <a:xfrm>
            <a:off x="4234586" y="2606040"/>
            <a:ext cx="3585362" cy="411480"/>
          </a:xfrm>
          <a:prstGeom prst="rect">
            <a:avLst/>
          </a:prstGeom>
          <a:noFill/>
          <a:ln/>
        </p:spPr>
        <p:txBody>
          <a:bodyPr wrap="square" lIns="0" tIns="0" rIns="0" bIns="0" rtlCol="0" anchor="ctr">
            <a:normAutofit/>
          </a:bodyPr>
          <a:lstStyle/>
          <a:p>
            <a:pPr marL="0" indent="0">
              <a:buNone/>
            </a:pPr>
            <a:r>
              <a:rPr lang="en-US" sz="1800" b="1" dirty="0">
                <a:solidFill>
                  <a:schemeClr val="bg1"/>
                </a:solidFill>
              </a:rPr>
              <a:t>Cross-application governance</a:t>
            </a:r>
            <a:endParaRPr lang="en-US" sz="1800" dirty="0"/>
          </a:p>
        </p:txBody>
      </p:sp>
      <p:sp>
        <p:nvSpPr>
          <p:cNvPr id="9" name="Option 2 body"/>
          <p:cNvSpPr txBox="1"/>
          <p:nvPr/>
        </p:nvSpPr>
        <p:spPr>
          <a:xfrm>
            <a:off x="4234586" y="3090672"/>
            <a:ext cx="3585362" cy="777240"/>
          </a:xfrm>
          <a:prstGeom prst="rect">
            <a:avLst/>
          </a:prstGeom>
          <a:noFill/>
          <a:ln/>
        </p:spPr>
        <p:txBody>
          <a:bodyPr wrap="square" lIns="0" tIns="0" rIns="0" bIns="0" rtlCol="0" anchor="t"/>
          <a:lstStyle/>
          <a:p>
            <a:pPr marL="0" indent="0">
              <a:buNone/>
            </a:pPr>
            <a:r>
              <a:rPr lang="en-US" sz="1400" dirty="0">
                <a:solidFill>
                  <a:schemeClr val="bg1"/>
                </a:solidFill>
              </a:rPr>
              <a:t>Proposed MuleSoft / Data Cloud path</a:t>
            </a:r>
            <a:endParaRPr lang="en-US" sz="1400" dirty="0"/>
          </a:p>
          <a:p>
            <a:pPr marL="0" indent="0">
              <a:buNone/>
            </a:pPr>
            <a:r>
              <a:rPr lang="en-US" sz="1400" dirty="0">
                <a:solidFill>
                  <a:schemeClr val="bg1"/>
                </a:solidFill>
              </a:rPr>
              <a:t>Identity correlation and shared SoD rules</a:t>
            </a:r>
            <a:endParaRPr lang="en-US" sz="1400" dirty="0"/>
          </a:p>
        </p:txBody>
      </p:sp>
      <p:sp>
        <p:nvSpPr>
          <p:cNvPr id="10" name="Option 3 number"/>
          <p:cNvSpPr/>
          <p:nvPr/>
        </p:nvSpPr>
        <p:spPr>
          <a:xfrm>
            <a:off x="7957109" y="2011680"/>
            <a:ext cx="457200" cy="457200"/>
          </a:xfrm>
          <a:prstGeom prst="ellipse">
            <a:avLst/>
          </a:prstGeom>
          <a:ln w="19050">
            <a:solidFill>
              <a:srgbClr val="FFFFFF"/>
            </a:solidFill>
          </a:ln>
        </p:spPr>
        <p:txBody>
          <a:bodyPr wrap="square" lIns="0" tIns="0" rIns="0" bIns="0" rtlCol="0" anchor="ctr"/>
          <a:lstStyle/>
          <a:p>
            <a:pPr marL="0" indent="0" algn="ctr">
              <a:buNone/>
            </a:pPr>
            <a:r>
              <a:rPr lang="en-US" sz="1500" dirty="0">
                <a:solidFill>
                  <a:srgbClr val="FFFFFF"/>
                </a:solidFill>
                <a:latin typeface="Trenda IG Text Light" pitchFamily="34" charset="0"/>
                <a:ea typeface="Trenda IG Text Light" pitchFamily="34" charset="-122"/>
                <a:cs typeface="Trenda IG Text Light" pitchFamily="34" charset="-120"/>
              </a:rPr>
              <a:t>3</a:t>
            </a:r>
            <a:endParaRPr lang="en-US" sz="1500" dirty="0"/>
          </a:p>
        </p:txBody>
      </p:sp>
      <p:sp>
        <p:nvSpPr>
          <p:cNvPr id="11" name="Option 3 title"/>
          <p:cNvSpPr txBox="1"/>
          <p:nvPr/>
        </p:nvSpPr>
        <p:spPr>
          <a:xfrm>
            <a:off x="7957109" y="2606040"/>
            <a:ext cx="3585362" cy="411480"/>
          </a:xfrm>
          <a:prstGeom prst="rect">
            <a:avLst/>
          </a:prstGeom>
          <a:noFill/>
          <a:ln/>
        </p:spPr>
        <p:txBody>
          <a:bodyPr wrap="square" lIns="0" tIns="0" rIns="0" bIns="0" rtlCol="0" anchor="ctr">
            <a:normAutofit/>
          </a:bodyPr>
          <a:lstStyle/>
          <a:p>
            <a:pPr marL="0" indent="0">
              <a:buNone/>
            </a:pPr>
            <a:r>
              <a:rPr lang="en-US" sz="1800" b="1" dirty="0">
                <a:solidFill>
                  <a:schemeClr val="bg1"/>
                </a:solidFill>
              </a:rPr>
              <a:t>Standalone service</a:t>
            </a:r>
            <a:endParaRPr lang="en-US" sz="1800" dirty="0"/>
          </a:p>
        </p:txBody>
      </p:sp>
      <p:sp>
        <p:nvSpPr>
          <p:cNvPr id="12" name="Option 3 body"/>
          <p:cNvSpPr txBox="1"/>
          <p:nvPr/>
        </p:nvSpPr>
        <p:spPr>
          <a:xfrm>
            <a:off x="7957109" y="3090672"/>
            <a:ext cx="3585362" cy="777240"/>
          </a:xfrm>
          <a:prstGeom prst="rect">
            <a:avLst/>
          </a:prstGeom>
          <a:noFill/>
          <a:ln/>
        </p:spPr>
        <p:txBody>
          <a:bodyPr wrap="square" lIns="0" tIns="0" rIns="0" bIns="0" rtlCol="0" anchor="t"/>
          <a:lstStyle/>
          <a:p>
            <a:pPr marL="0" indent="0">
              <a:buNone/>
            </a:pPr>
            <a:r>
              <a:rPr lang="en-US" sz="1400" dirty="0">
                <a:solidFill>
                  <a:schemeClr val="bg1"/>
                </a:solidFill>
              </a:rPr>
              <a:t>Proposed Python service in your cloud</a:t>
            </a:r>
            <a:endParaRPr lang="en-US" sz="1400" dirty="0"/>
          </a:p>
          <a:p>
            <a:pPr marL="0" indent="0">
              <a:buNone/>
            </a:pPr>
            <a:r>
              <a:rPr lang="en-US" sz="1400" dirty="0">
                <a:solidFill>
                  <a:schemeClr val="bg1"/>
                </a:solidFill>
              </a:rPr>
              <a:t>Port the rules, scoring and reporting</a:t>
            </a:r>
            <a:endParaRPr lang="en-US" sz="1400" dirty="0"/>
          </a:p>
        </p:txBody>
      </p:sp>
      <p:sp>
        <p:nvSpPr>
          <p:cNvPr id="13" name="Discovery panel"/>
          <p:cNvSpPr/>
          <p:nvPr/>
        </p:nvSpPr>
        <p:spPr>
          <a:xfrm>
            <a:off x="512064" y="4114800"/>
            <a:ext cx="11167567" cy="1965960"/>
          </a:xfrm>
          <a:prstGeom prst="roundRect">
            <a:avLst>
              <a:gd name="adj" fmla="val 5581"/>
            </a:avLst>
          </a:prstGeom>
          <a:solidFill>
            <a:srgbClr val="000000">
              <a:alpha val="65000"/>
            </a:srgbClr>
          </a:solidFill>
          <a:ln w="9525">
            <a:solidFill>
              <a:srgbClr val="FFFFFF">
                <a:alpha val="40000"/>
              </a:srgbClr>
            </a:solidFill>
            <a:prstDash val="solid"/>
          </a:ln>
        </p:spPr>
        <p:txBody>
          <a:bodyPr/>
          <a:lstStyle/>
          <a:p>
            <a:endParaRPr lang="en-IN"/>
          </a:p>
        </p:txBody>
      </p:sp>
      <p:sp>
        <p:nvSpPr>
          <p:cNvPr id="14" name="Discovery label"/>
          <p:cNvSpPr txBox="1"/>
          <p:nvPr/>
        </p:nvSpPr>
        <p:spPr>
          <a:xfrm>
            <a:off x="832104" y="4279392"/>
            <a:ext cx="5486400" cy="292608"/>
          </a:xfrm>
          <a:prstGeom prst="rect">
            <a:avLst/>
          </a:prstGeom>
          <a:noFill/>
          <a:ln/>
        </p:spPr>
        <p:txBody>
          <a:bodyPr wrap="square" lIns="0" tIns="0" rIns="0" bIns="0" rtlCol="0" anchor="ctr"/>
          <a:lstStyle/>
          <a:p>
            <a:pPr marL="0" indent="0">
              <a:buNone/>
            </a:pPr>
            <a:r>
              <a:rPr lang="en-US" sz="1400" kern="0" spc="400" dirty="0">
                <a:solidFill>
                  <a:schemeClr val="accent1"/>
                </a:solidFill>
                <a:latin typeface="Trenda IG Text Light" pitchFamily="34" charset="0"/>
                <a:ea typeface="Trenda IG Text Light" pitchFamily="34" charset="-122"/>
                <a:cs typeface="Trenda IG Text Light" pitchFamily="34" charset="-120"/>
              </a:rPr>
              <a:t>DISCOVERY AND NEXT STEP</a:t>
            </a:r>
            <a:endParaRPr lang="en-US" sz="1400" dirty="0"/>
          </a:p>
        </p:txBody>
      </p:sp>
      <p:sp>
        <p:nvSpPr>
          <p:cNvPr id="15" name="Discovery dot 1"/>
          <p:cNvSpPr/>
          <p:nvPr/>
        </p:nvSpPr>
        <p:spPr>
          <a:xfrm>
            <a:off x="859536" y="4818888"/>
            <a:ext cx="137160" cy="137160"/>
          </a:xfrm>
          <a:prstGeom prst="ellipse">
            <a:avLst/>
          </a:prstGeom>
          <a:solidFill>
            <a:srgbClr val="00D6F2"/>
          </a:solidFill>
          <a:ln/>
        </p:spPr>
        <p:txBody>
          <a:bodyPr/>
          <a:lstStyle/>
          <a:p>
            <a:endParaRPr lang="en-IN"/>
          </a:p>
        </p:txBody>
      </p:sp>
      <p:sp>
        <p:nvSpPr>
          <p:cNvPr id="16" name="Discovery question 1"/>
          <p:cNvSpPr txBox="1"/>
          <p:nvPr/>
        </p:nvSpPr>
        <p:spPr>
          <a:xfrm>
            <a:off x="1152144" y="4709160"/>
            <a:ext cx="10253167" cy="365760"/>
          </a:xfrm>
          <a:prstGeom prst="rect">
            <a:avLst/>
          </a:prstGeom>
          <a:noFill/>
          <a:ln/>
        </p:spPr>
        <p:txBody>
          <a:bodyPr wrap="square" lIns="0" tIns="0" rIns="0" bIns="0" rtlCol="0" anchor="ctr"/>
          <a:lstStyle/>
          <a:p>
            <a:pPr marL="0" indent="0">
              <a:buNone/>
            </a:pPr>
            <a:r>
              <a:rPr lang="en-US" sz="1600" dirty="0">
                <a:solidFill>
                  <a:schemeClr val="bg1"/>
                </a:solidFill>
              </a:rPr>
              <a:t>Which systems are hardest to evidence?</a:t>
            </a:r>
            <a:endParaRPr lang="en-US" sz="1600" dirty="0"/>
          </a:p>
        </p:txBody>
      </p:sp>
      <p:sp>
        <p:nvSpPr>
          <p:cNvPr id="17" name="Discovery dot 2"/>
          <p:cNvSpPr/>
          <p:nvPr/>
        </p:nvSpPr>
        <p:spPr>
          <a:xfrm>
            <a:off x="859536" y="5221224"/>
            <a:ext cx="137160" cy="137160"/>
          </a:xfrm>
          <a:prstGeom prst="ellipse">
            <a:avLst/>
          </a:prstGeom>
          <a:solidFill>
            <a:srgbClr val="FF0069"/>
          </a:solidFill>
          <a:ln/>
        </p:spPr>
        <p:txBody>
          <a:bodyPr/>
          <a:lstStyle/>
          <a:p>
            <a:endParaRPr lang="en-IN"/>
          </a:p>
        </p:txBody>
      </p:sp>
      <p:sp>
        <p:nvSpPr>
          <p:cNvPr id="18" name="Discovery question 2"/>
          <p:cNvSpPr txBox="1"/>
          <p:nvPr/>
        </p:nvSpPr>
        <p:spPr>
          <a:xfrm>
            <a:off x="1152144" y="5111496"/>
            <a:ext cx="10253167" cy="365760"/>
          </a:xfrm>
          <a:prstGeom prst="rect">
            <a:avLst/>
          </a:prstGeom>
          <a:noFill/>
          <a:ln/>
        </p:spPr>
        <p:txBody>
          <a:bodyPr wrap="square" lIns="0" tIns="0" rIns="0" bIns="0" rtlCol="0" anchor="ctr"/>
          <a:lstStyle/>
          <a:p>
            <a:pPr marL="0" indent="0">
              <a:buNone/>
            </a:pPr>
            <a:r>
              <a:rPr lang="en-US" sz="1600" dirty="0">
                <a:solidFill>
                  <a:schemeClr val="bg1"/>
                </a:solidFill>
              </a:rPr>
              <a:t>Where is the effort greatest: UAR, SoD or change management?</a:t>
            </a:r>
            <a:endParaRPr lang="en-US" sz="1600" dirty="0"/>
          </a:p>
        </p:txBody>
      </p:sp>
      <p:sp>
        <p:nvSpPr>
          <p:cNvPr id="19" name="Discovery dot 3"/>
          <p:cNvSpPr/>
          <p:nvPr/>
        </p:nvSpPr>
        <p:spPr>
          <a:xfrm>
            <a:off x="859536" y="5623560"/>
            <a:ext cx="137160" cy="137160"/>
          </a:xfrm>
          <a:prstGeom prst="ellipse">
            <a:avLst/>
          </a:prstGeom>
          <a:solidFill>
            <a:srgbClr val="FFFFFF"/>
          </a:solidFill>
          <a:ln/>
        </p:spPr>
        <p:txBody>
          <a:bodyPr/>
          <a:lstStyle/>
          <a:p>
            <a:endParaRPr lang="en-IN"/>
          </a:p>
        </p:txBody>
      </p:sp>
      <p:sp>
        <p:nvSpPr>
          <p:cNvPr id="20" name="Discovery question 3"/>
          <p:cNvSpPr txBox="1"/>
          <p:nvPr/>
        </p:nvSpPr>
        <p:spPr>
          <a:xfrm>
            <a:off x="1152144" y="5513832"/>
            <a:ext cx="10253167" cy="365760"/>
          </a:xfrm>
          <a:prstGeom prst="rect">
            <a:avLst/>
          </a:prstGeom>
          <a:noFill/>
          <a:ln/>
        </p:spPr>
        <p:txBody>
          <a:bodyPr wrap="square" lIns="0" tIns="0" rIns="0" bIns="0" rtlCol="0" anchor="ctr"/>
          <a:lstStyle/>
          <a:p>
            <a:pPr marL="0" indent="0">
              <a:buNone/>
            </a:pPr>
            <a:r>
              <a:rPr lang="en-US" sz="1600" dirty="0">
                <a:solidFill>
                  <a:schemeClr val="bg1"/>
                </a:solidFill>
              </a:rPr>
              <a:t>Can we map one sanitized RCM and sample extract together?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2286000" y="2788920"/>
            <a:ext cx="7619695" cy="822960"/>
          </a:xfrm>
          <a:prstGeom prst="rect">
            <a:avLst/>
          </a:prstGeom>
          <a:noFill/>
          <a:ln/>
        </p:spPr>
        <p:txBody>
          <a:bodyPr wrap="square" lIns="0" tIns="0" rIns="0" bIns="0" rtlCol="0" anchor="ctr"/>
          <a:lstStyle/>
          <a:p>
            <a:pPr marL="0" indent="0" algn="ctr">
              <a:buNone/>
            </a:pPr>
            <a:r>
              <a:rPr lang="en-US" sz="4000" kern="0" spc="800" dirty="0">
                <a:solidFill>
                  <a:schemeClr val="bg1"/>
                </a:solidFill>
                <a:latin typeface="Trenda IG Text Light" pitchFamily="34" charset="0"/>
                <a:ea typeface="Trenda IG Text Light" pitchFamily="34" charset="-122"/>
                <a:cs typeface="Trenda IG Text Light" pitchFamily="34" charset="-120"/>
              </a:rPr>
              <a:t>THANK YOU</a:t>
            </a:r>
            <a:endParaRPr lang="en-US" sz="4000" dirty="0"/>
          </a:p>
        </p:txBody>
      </p:sp>
    </p:spTree>
  </p:cSld>
  <p:clrMapOvr>
    <a:masterClrMapping/>
  </p:clrMapOvr>
</p:sld>
</file>

<file path=ppt/theme/theme1.xml><?xml version="1.0" encoding="utf-8"?>
<a:theme xmlns:a="http://schemas.openxmlformats.org/drawingml/2006/main" name="Insight Global">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D214AA"/>
      </a:accent5>
      <a:accent6>
        <a:srgbClr val="56E13B"/>
      </a:accent6>
      <a:hlink>
        <a:srgbClr val="FF0069"/>
      </a:hlink>
      <a:folHlink>
        <a:srgbClr val="D214AA"/>
      </a:folHlink>
    </a:clrScheme>
    <a:fontScheme name="Insight Global">
      <a:majorFont>
        <a:latin typeface="Trenda IG T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4368</Words>
  <Application>Microsoft Office PowerPoint</Application>
  <PresentationFormat>Widescreen</PresentationFormat>
  <Paragraphs>206</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Trenda IG Text</vt:lpstr>
      <vt:lpstr>Trenda IG Text Light</vt:lpstr>
      <vt:lpstr>Insight Global</vt:lpstr>
      <vt:lpstr> SOX / SOC EVIDENCE AUTOMATION</vt:lpstr>
      <vt:lpstr>ShieldForge at a glance</vt:lpstr>
      <vt:lpstr>The audit evidence lifecycle</vt:lpstr>
      <vt:lpstr>Five SOX control domains</vt:lpstr>
      <vt:lpstr>Scoring and reusable architecture</vt:lpstr>
      <vt:lpstr>The 17-page evidence binder</vt:lpstr>
      <vt:lpstr>Shared controls, application-specific evidence</vt:lpstr>
      <vt:lpstr>McKesson scope and delivery options</vt:lpstr>
      <vt:lpstr>THANK YOU</vt:lpstr>
    </vt:vector>
  </TitlesOfParts>
  <Company>Insight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ShieldForge | Discussion with McKesson</dc:title>
  <dc:subject>PptxGenJS Presentation</dc:subject>
  <dc:creator>Insight Global</dc:creator>
  <cp:lastModifiedBy>Saka Rohit</cp:lastModifiedBy>
  <cp:revision>3</cp:revision>
  <dcterms:created xsi:type="dcterms:W3CDTF">2026-10-22T13:09:19Z</dcterms:created>
  <dcterms:modified xsi:type="dcterms:W3CDTF">2026-10-22T13:30:53Z</dcterms:modified>
</cp:coreProperties>
</file>