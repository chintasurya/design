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" y="64008"/>
            <a:ext cx="3310128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01168" y="118872"/>
            <a:ext cx="3108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1B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AUTHORITATIVE SOURCES</a:t>
            </a:r>
            <a:endParaRPr lang="en-US" sz="850" dirty="0"/>
          </a:p>
        </p:txBody>
      </p:sp>
      <p:sp>
        <p:nvSpPr>
          <p:cNvPr id="4" name="Text 2"/>
          <p:cNvSpPr txBox="1"/>
          <p:nvPr/>
        </p:nvSpPr>
        <p:spPr>
          <a:xfrm>
            <a:off x="201168" y="329184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</a:t>
            </a:r>
            <a:endParaRPr lang="en-US" sz="65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329184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</a:t>
            </a:r>
            <a:endParaRPr lang="en-US" sz="650" dirty="0"/>
          </a:p>
        </p:txBody>
      </p:sp>
      <p:sp>
        <p:nvSpPr>
          <p:cNvPr id="6" name="Text 4"/>
          <p:cNvSpPr txBox="1"/>
          <p:nvPr/>
        </p:nvSpPr>
        <p:spPr>
          <a:xfrm>
            <a:off x="1115568" y="329184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</a:t>
            </a:r>
            <a:endParaRPr lang="en-US" sz="650" dirty="0"/>
          </a:p>
        </p:txBody>
      </p:sp>
      <p:sp>
        <p:nvSpPr>
          <p:cNvPr id="7" name="Text 5"/>
          <p:cNvSpPr txBox="1"/>
          <p:nvPr/>
        </p:nvSpPr>
        <p:spPr>
          <a:xfrm>
            <a:off x="1572768" y="329184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</a:t>
            </a:r>
            <a:endParaRPr lang="en-US" sz="650" dirty="0"/>
          </a:p>
        </p:txBody>
      </p:sp>
      <p:sp>
        <p:nvSpPr>
          <p:cNvPr id="8" name="Text 6"/>
          <p:cNvSpPr txBox="1"/>
          <p:nvPr/>
        </p:nvSpPr>
        <p:spPr>
          <a:xfrm>
            <a:off x="2029968" y="329184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</a:t>
            </a:r>
            <a:endParaRPr lang="en-US" sz="650" dirty="0"/>
          </a:p>
        </p:txBody>
      </p:sp>
      <p:sp>
        <p:nvSpPr>
          <p:cNvPr id="9" name="Text 7"/>
          <p:cNvSpPr txBox="1"/>
          <p:nvPr/>
        </p:nvSpPr>
        <p:spPr>
          <a:xfrm>
            <a:off x="2487168" y="329184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Referrals</a:t>
            </a:r>
            <a:endParaRPr lang="en-US" sz="650" dirty="0"/>
          </a:p>
        </p:txBody>
      </p:sp>
      <p:sp>
        <p:nvSpPr>
          <p:cNvPr id="10" name="Text 8"/>
          <p:cNvSpPr txBox="1"/>
          <p:nvPr/>
        </p:nvSpPr>
        <p:spPr>
          <a:xfrm>
            <a:off x="2944368" y="329184"/>
            <a:ext cx="43891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</a:t>
            </a:r>
            <a:endParaRPr lang="en-US" sz="650" dirty="0"/>
          </a:p>
        </p:txBody>
      </p:sp>
      <p:sp>
        <p:nvSpPr>
          <p:cNvPr id="11" name="Text 9"/>
          <p:cNvSpPr txBox="1"/>
          <p:nvPr/>
        </p:nvSpPr>
        <p:spPr>
          <a:xfrm>
            <a:off x="201168" y="512064"/>
            <a:ext cx="31089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i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only  ·  tokenised  ·  provenance tagged</a:t>
            </a:r>
            <a:endParaRPr lang="en-US" sz="650" dirty="0"/>
          </a:p>
        </p:txBody>
      </p:sp>
      <p:sp>
        <p:nvSpPr>
          <p:cNvPr id="12" name="Shape 10"/>
          <p:cNvSpPr/>
          <p:nvPr/>
        </p:nvSpPr>
        <p:spPr>
          <a:xfrm>
            <a:off x="3529584" y="64008"/>
            <a:ext cx="5074920" cy="603504"/>
          </a:xfrm>
          <a:prstGeom prst="rect">
            <a:avLst/>
          </a:prstGeom>
          <a:solidFill>
            <a:srgbClr val="0E1B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621024" y="109728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PROVIDER, FACILITY AND PATIENT DEMAND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621024" y="310896"/>
            <a:ext cx="4892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Network Knowledge Graph Architecture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621024" y="502920"/>
            <a:ext cx="4892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→ connectors → identity → domain model → JSON snapshot → derived edges → graph → gap engines</a:t>
            </a:r>
            <a:endParaRPr lang="en-US" sz="600" dirty="0"/>
          </a:p>
        </p:txBody>
      </p:sp>
      <p:sp>
        <p:nvSpPr>
          <p:cNvPr id="16" name="Shape 14"/>
          <p:cNvSpPr/>
          <p:nvPr/>
        </p:nvSpPr>
        <p:spPr>
          <a:xfrm>
            <a:off x="8750808" y="64008"/>
            <a:ext cx="3328416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842248" y="118872"/>
            <a:ext cx="314553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60" kern="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GRAPH ANSWERS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842248" y="301752"/>
            <a:ext cx="31455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demand has no provider  ·  where a provider has no demand  ·  where capability and credential do not meet  ·  where patients leave the network</a:t>
            </a:r>
            <a:endParaRPr lang="en-US" sz="650" dirty="0"/>
          </a:p>
        </p:txBody>
      </p:sp>
      <p:sp>
        <p:nvSpPr>
          <p:cNvPr id="19" name="Text 17"/>
          <p:cNvSpPr txBox="1"/>
          <p:nvPr/>
        </p:nvSpPr>
        <p:spPr>
          <a:xfrm>
            <a:off x="8842248" y="512064"/>
            <a:ext cx="314553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i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missing edge is the answer</a:t>
            </a:r>
            <a:endParaRPr lang="en-US" sz="650" dirty="0"/>
          </a:p>
        </p:txBody>
      </p:sp>
      <p:sp>
        <p:nvSpPr>
          <p:cNvPr id="20" name="Shape 18"/>
          <p:cNvSpPr/>
          <p:nvPr/>
        </p:nvSpPr>
        <p:spPr>
          <a:xfrm>
            <a:off x="109728" y="722376"/>
            <a:ext cx="1449324" cy="530352"/>
          </a:xfrm>
          <a:prstGeom prst="rect">
            <a:avLst/>
          </a:prstGeom>
          <a:solidFill>
            <a:srgbClr val="1B6BC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64592" y="768096"/>
            <a:ext cx="13395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</a:t>
            </a:r>
            <a:endParaRPr lang="en-US" sz="700" dirty="0"/>
          </a:p>
        </p:txBody>
      </p:sp>
      <p:sp>
        <p:nvSpPr>
          <p:cNvPr id="22" name="Text 20"/>
          <p:cNvSpPr txBox="1"/>
          <p:nvPr/>
        </p:nvSpPr>
        <p:spPr>
          <a:xfrm>
            <a:off x="146304" y="886968"/>
            <a:ext cx="13761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Systems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55448" y="1115568"/>
            <a:ext cx="135788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50" i="1" dirty="0">
                <a:solidFill>
                  <a:srgbClr val="E8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Authoritative systems of record</a:t>
            </a:r>
            <a:endParaRPr lang="en-US" sz="550" dirty="0"/>
          </a:p>
        </p:txBody>
      </p:sp>
      <p:sp>
        <p:nvSpPr>
          <p:cNvPr id="24" name="Shape 22"/>
          <p:cNvSpPr/>
          <p:nvPr/>
        </p:nvSpPr>
        <p:spPr>
          <a:xfrm>
            <a:off x="109728" y="1271016"/>
            <a:ext cx="1449324" cy="4379976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73736" y="1367028"/>
            <a:ext cx="64008" cy="64008"/>
          </a:xfrm>
          <a:prstGeom prst="rect">
            <a:avLst/>
          </a:prstGeom>
          <a:solidFill>
            <a:srgbClr val="1B6BC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74320" y="1335024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1B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 and clinical</a:t>
            </a:r>
            <a:endParaRPr lang="en-US" sz="650" dirty="0"/>
          </a:p>
        </p:txBody>
      </p:sp>
      <p:sp>
        <p:nvSpPr>
          <p:cNvPr id="27" name="Text 25"/>
          <p:cNvSpPr txBox="1"/>
          <p:nvPr/>
        </p:nvSpPr>
        <p:spPr>
          <a:xfrm>
            <a:off x="201168" y="1481328"/>
            <a:ext cx="12847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Encounters, diagnoses, procedures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ADT admit, transfer, discharge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Orders, results, problem list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and visit type</a:t>
            </a:r>
            <a:endParaRPr lang="en-US" sz="550" dirty="0"/>
          </a:p>
        </p:txBody>
      </p:sp>
      <p:sp>
        <p:nvSpPr>
          <p:cNvPr id="28" name="Shape 26"/>
          <p:cNvSpPr/>
          <p:nvPr/>
        </p:nvSpPr>
        <p:spPr>
          <a:xfrm>
            <a:off x="173736" y="1983334"/>
            <a:ext cx="64008" cy="64008"/>
          </a:xfrm>
          <a:prstGeom prst="rect">
            <a:avLst/>
          </a:prstGeom>
          <a:solidFill>
            <a:srgbClr val="1B6BC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74320" y="1951330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1B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Credentialing and privileging</a:t>
            </a:r>
            <a:endParaRPr lang="en-US" sz="650" dirty="0"/>
          </a:p>
        </p:txBody>
      </p:sp>
      <p:sp>
        <p:nvSpPr>
          <p:cNvPr id="30" name="Text 28"/>
          <p:cNvSpPr txBox="1"/>
          <p:nvPr/>
        </p:nvSpPr>
        <p:spPr>
          <a:xfrm>
            <a:off x="201168" y="2097634"/>
            <a:ext cx="12847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Licence, board certification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Privileges by procedure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and expirables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Sanctions and restrictions</a:t>
            </a:r>
            <a:endParaRPr lang="en-US" sz="550" dirty="0"/>
          </a:p>
        </p:txBody>
      </p:sp>
      <p:sp>
        <p:nvSpPr>
          <p:cNvPr id="31" name="Shape 29"/>
          <p:cNvSpPr/>
          <p:nvPr/>
        </p:nvSpPr>
        <p:spPr>
          <a:xfrm>
            <a:off x="173736" y="2599639"/>
            <a:ext cx="64008" cy="64008"/>
          </a:xfrm>
          <a:prstGeom prst="rect">
            <a:avLst/>
          </a:prstGeom>
          <a:solidFill>
            <a:srgbClr val="1B6BC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74320" y="2567635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1B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directory and MDM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01168" y="2713939"/>
            <a:ext cx="12847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and organisation NPI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NUCC taxonomy, subspecialty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locations, group TIN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open or closed</a:t>
            </a:r>
            <a:endParaRPr lang="en-US" sz="550" dirty="0"/>
          </a:p>
        </p:txBody>
      </p:sp>
      <p:sp>
        <p:nvSpPr>
          <p:cNvPr id="34" name="Shape 32"/>
          <p:cNvSpPr/>
          <p:nvPr/>
        </p:nvSpPr>
        <p:spPr>
          <a:xfrm>
            <a:off x="173736" y="3215945"/>
            <a:ext cx="64008" cy="64008"/>
          </a:xfrm>
          <a:prstGeom prst="rect">
            <a:avLst/>
          </a:prstGeom>
          <a:solidFill>
            <a:srgbClr val="1B6BC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74320" y="3183941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1B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and access</a:t>
            </a:r>
            <a:endParaRPr lang="en-US" sz="650" dirty="0"/>
          </a:p>
        </p:txBody>
      </p:sp>
      <p:sp>
        <p:nvSpPr>
          <p:cNvPr id="36" name="Text 34"/>
          <p:cNvSpPr txBox="1"/>
          <p:nvPr/>
        </p:nvSpPr>
        <p:spPr>
          <a:xfrm>
            <a:off x="201168" y="3330245"/>
            <a:ext cx="12847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Templates, sessions, slots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 against bookable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 next available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show and cancellation</a:t>
            </a:r>
            <a:endParaRPr lang="en-US" sz="550" dirty="0"/>
          </a:p>
        </p:txBody>
      </p:sp>
      <p:sp>
        <p:nvSpPr>
          <p:cNvPr id="37" name="Shape 35"/>
          <p:cNvSpPr/>
          <p:nvPr/>
        </p:nvSpPr>
        <p:spPr>
          <a:xfrm>
            <a:off x="173736" y="3832250"/>
            <a:ext cx="64008" cy="64008"/>
          </a:xfrm>
          <a:prstGeom prst="rect">
            <a:avLst/>
          </a:prstGeom>
          <a:solidFill>
            <a:srgbClr val="1B6BC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74320" y="3800246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1B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and billing</a:t>
            </a:r>
            <a:endParaRPr lang="en-US" sz="650" dirty="0"/>
          </a:p>
        </p:txBody>
      </p:sp>
      <p:sp>
        <p:nvSpPr>
          <p:cNvPr id="39" name="Text 37"/>
          <p:cNvSpPr txBox="1"/>
          <p:nvPr/>
        </p:nvSpPr>
        <p:spPr>
          <a:xfrm>
            <a:off x="201168" y="3946550"/>
            <a:ext cx="12847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CPT, ICD-10, place of service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Rendering and billing NPI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Payer, plan, network status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network activity</a:t>
            </a:r>
            <a:endParaRPr lang="en-US" sz="550" dirty="0"/>
          </a:p>
        </p:txBody>
      </p:sp>
      <p:sp>
        <p:nvSpPr>
          <p:cNvPr id="40" name="Shape 38"/>
          <p:cNvSpPr/>
          <p:nvPr/>
        </p:nvSpPr>
        <p:spPr>
          <a:xfrm>
            <a:off x="173736" y="4448556"/>
            <a:ext cx="64008" cy="64008"/>
          </a:xfrm>
          <a:prstGeom prst="rect">
            <a:avLst/>
          </a:prstGeom>
          <a:solidFill>
            <a:srgbClr val="1B6BC0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274320" y="4416552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1B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Referrals, orders and geo</a:t>
            </a:r>
            <a:endParaRPr lang="en-US" sz="650" dirty="0"/>
          </a:p>
        </p:txBody>
      </p:sp>
      <p:sp>
        <p:nvSpPr>
          <p:cNvPr id="42" name="Text 40"/>
          <p:cNvSpPr txBox="1"/>
          <p:nvPr/>
        </p:nvSpPr>
        <p:spPr>
          <a:xfrm>
            <a:off x="201168" y="4562856"/>
            <a:ext cx="12847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Referring to receiving NPI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Reason, urgency, completion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Census tract and drive time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 adequacy standards</a:t>
            </a:r>
            <a:endParaRPr lang="en-US" sz="550" dirty="0"/>
          </a:p>
        </p:txBody>
      </p:sp>
      <p:sp>
        <p:nvSpPr>
          <p:cNvPr id="43" name="Shape 41"/>
          <p:cNvSpPr/>
          <p:nvPr/>
        </p:nvSpPr>
        <p:spPr>
          <a:xfrm>
            <a:off x="109728" y="5230368"/>
            <a:ext cx="1449324" cy="420624"/>
          </a:xfrm>
          <a:prstGeom prst="rect">
            <a:avLst/>
          </a:prstGeom>
          <a:solidFill>
            <a:srgbClr val="1B6BC0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173736" y="5266944"/>
            <a:ext cx="13213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b="1" spc="40" kern="0" dirty="0">
                <a:solidFill>
                  <a:srgbClr val="D8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GET</a:t>
            </a:r>
            <a:endParaRPr lang="en-US" sz="550" dirty="0"/>
          </a:p>
        </p:txBody>
      </p:sp>
      <p:sp>
        <p:nvSpPr>
          <p:cNvPr id="45" name="Text 43"/>
          <p:cNvSpPr txBox="1"/>
          <p:nvPr/>
        </p:nvSpPr>
        <p:spPr>
          <a:xfrm>
            <a:off x="173736" y="5385816"/>
            <a:ext cx="13213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5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network fact in one place, no more tribal knowledge</a:t>
            </a:r>
            <a:endParaRPr lang="en-US" sz="580" dirty="0"/>
          </a:p>
        </p:txBody>
      </p:sp>
      <p:sp>
        <p:nvSpPr>
          <p:cNvPr id="46" name="Text 44"/>
          <p:cNvSpPr txBox="1"/>
          <p:nvPr/>
        </p:nvSpPr>
        <p:spPr>
          <a:xfrm>
            <a:off x="1554480" y="905256"/>
            <a:ext cx="640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9AA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500" dirty="0"/>
          </a:p>
        </p:txBody>
      </p:sp>
      <p:sp>
        <p:nvSpPr>
          <p:cNvPr id="47" name="Shape 45"/>
          <p:cNvSpPr/>
          <p:nvPr/>
        </p:nvSpPr>
        <p:spPr>
          <a:xfrm>
            <a:off x="1611630" y="722376"/>
            <a:ext cx="1449324" cy="530352"/>
          </a:xfrm>
          <a:prstGeom prst="rect">
            <a:avLst/>
          </a:prstGeom>
          <a:solidFill>
            <a:srgbClr val="0E8A7D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1666494" y="768096"/>
            <a:ext cx="13395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</a:t>
            </a:r>
            <a:endParaRPr lang="en-US" sz="700" dirty="0"/>
          </a:p>
        </p:txBody>
      </p:sp>
      <p:sp>
        <p:nvSpPr>
          <p:cNvPr id="49" name="Text 47"/>
          <p:cNvSpPr txBox="1"/>
          <p:nvPr/>
        </p:nvSpPr>
        <p:spPr>
          <a:xfrm>
            <a:off x="1648206" y="886968"/>
            <a:ext cx="13761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Connectors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1657350" y="1115568"/>
            <a:ext cx="135788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50" i="1" dirty="0">
                <a:solidFill>
                  <a:srgbClr val="E8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only, PHI safe at the boundary</a:t>
            </a:r>
            <a:endParaRPr lang="en-US" sz="550" dirty="0"/>
          </a:p>
        </p:txBody>
      </p:sp>
      <p:sp>
        <p:nvSpPr>
          <p:cNvPr id="51" name="Shape 49"/>
          <p:cNvSpPr/>
          <p:nvPr/>
        </p:nvSpPr>
        <p:spPr>
          <a:xfrm>
            <a:off x="1611630" y="1271016"/>
            <a:ext cx="1449324" cy="4379976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675638" y="1367028"/>
            <a:ext cx="64008" cy="64008"/>
          </a:xfrm>
          <a:prstGeom prst="rect">
            <a:avLst/>
          </a:prstGeom>
          <a:solidFill>
            <a:srgbClr val="0E8A7D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1776222" y="1335024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EHRConnector</a:t>
            </a:r>
            <a:endParaRPr lang="en-US" sz="650" dirty="0"/>
          </a:p>
        </p:txBody>
      </p:sp>
      <p:sp>
        <p:nvSpPr>
          <p:cNvPr id="54" name="Text 52"/>
          <p:cNvSpPr txBox="1"/>
          <p:nvPr/>
        </p:nvSpPr>
        <p:spPr>
          <a:xfrm>
            <a:off x="1703070" y="1481328"/>
            <a:ext cx="12847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FHIR R4 and HL7 v2 feeds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only service account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export plus ADT stream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MRN tokenised at ingress</a:t>
            </a:r>
            <a:endParaRPr lang="en-US" sz="550" dirty="0"/>
          </a:p>
        </p:txBody>
      </p:sp>
      <p:sp>
        <p:nvSpPr>
          <p:cNvPr id="55" name="Shape 53"/>
          <p:cNvSpPr/>
          <p:nvPr/>
        </p:nvSpPr>
        <p:spPr>
          <a:xfrm>
            <a:off x="1675638" y="1983334"/>
            <a:ext cx="64008" cy="64008"/>
          </a:xfrm>
          <a:prstGeom prst="rect">
            <a:avLst/>
          </a:prstGeom>
          <a:solidFill>
            <a:srgbClr val="0E8A7D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1776222" y="1951330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CredentialingConnector</a:t>
            </a:r>
            <a:endParaRPr lang="en-US" sz="650" dirty="0"/>
          </a:p>
        </p:txBody>
      </p:sp>
      <p:sp>
        <p:nvSpPr>
          <p:cNvPr id="57" name="Text 55"/>
          <p:cNvSpPr txBox="1"/>
          <p:nvPr/>
        </p:nvSpPr>
        <p:spPr>
          <a:xfrm>
            <a:off x="1703070" y="2097634"/>
            <a:ext cx="1284732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 API or SFTP delta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Privilege code dictionary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Expirables change capture</a:t>
            </a:r>
            <a:endParaRPr lang="en-US" sz="550" dirty="0"/>
          </a:p>
        </p:txBody>
      </p:sp>
      <p:sp>
        <p:nvSpPr>
          <p:cNvPr id="58" name="Shape 56"/>
          <p:cNvSpPr/>
          <p:nvPr/>
        </p:nvSpPr>
        <p:spPr>
          <a:xfrm>
            <a:off x="1675638" y="2502713"/>
            <a:ext cx="64008" cy="64008"/>
          </a:xfrm>
          <a:prstGeom prst="rect">
            <a:avLst/>
          </a:prstGeom>
          <a:solidFill>
            <a:srgbClr val="0E8A7D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776222" y="2470709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DirectoryConnector</a:t>
            </a:r>
            <a:endParaRPr lang="en-US" sz="650" dirty="0"/>
          </a:p>
        </p:txBody>
      </p:sp>
      <p:sp>
        <p:nvSpPr>
          <p:cNvPr id="60" name="Text 58"/>
          <p:cNvSpPr txBox="1"/>
          <p:nvPr/>
        </p:nvSpPr>
        <p:spPr>
          <a:xfrm>
            <a:off x="1703070" y="2617013"/>
            <a:ext cx="1284732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NPPES weekly plus MDM API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 to TIN cross walk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Taxonomy version pinned</a:t>
            </a:r>
            <a:endParaRPr lang="en-US" sz="550" dirty="0"/>
          </a:p>
        </p:txBody>
      </p:sp>
      <p:sp>
        <p:nvSpPr>
          <p:cNvPr id="61" name="Shape 59"/>
          <p:cNvSpPr/>
          <p:nvPr/>
        </p:nvSpPr>
        <p:spPr>
          <a:xfrm>
            <a:off x="1675638" y="3022092"/>
            <a:ext cx="64008" cy="64008"/>
          </a:xfrm>
          <a:prstGeom prst="rect">
            <a:avLst/>
          </a:prstGeom>
          <a:solidFill>
            <a:srgbClr val="0E8A7D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776222" y="2990088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SchedulingConnector</a:t>
            </a:r>
            <a:endParaRPr lang="en-US" sz="650" dirty="0"/>
          </a:p>
        </p:txBody>
      </p:sp>
      <p:sp>
        <p:nvSpPr>
          <p:cNvPr id="63" name="Text 61"/>
          <p:cNvSpPr txBox="1"/>
          <p:nvPr/>
        </p:nvSpPr>
        <p:spPr>
          <a:xfrm>
            <a:off x="1703070" y="3136392"/>
            <a:ext cx="1284732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and template API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Nightly bookable snapshot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time series retained</a:t>
            </a:r>
            <a:endParaRPr lang="en-US" sz="550" dirty="0"/>
          </a:p>
        </p:txBody>
      </p:sp>
      <p:sp>
        <p:nvSpPr>
          <p:cNvPr id="64" name="Shape 62"/>
          <p:cNvSpPr/>
          <p:nvPr/>
        </p:nvSpPr>
        <p:spPr>
          <a:xfrm>
            <a:off x="1675638" y="3541471"/>
            <a:ext cx="64008" cy="64008"/>
          </a:xfrm>
          <a:prstGeom prst="rect">
            <a:avLst/>
          </a:prstGeom>
          <a:solidFill>
            <a:srgbClr val="0E8A7D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1776222" y="3509467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ClaimsConnector</a:t>
            </a:r>
            <a:endParaRPr lang="en-US" sz="650" dirty="0"/>
          </a:p>
        </p:txBody>
      </p:sp>
      <p:sp>
        <p:nvSpPr>
          <p:cNvPr id="66" name="Text 64"/>
          <p:cNvSpPr txBox="1"/>
          <p:nvPr/>
        </p:nvSpPr>
        <p:spPr>
          <a:xfrm>
            <a:off x="1703070" y="3655771"/>
            <a:ext cx="1284732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837 and 835 extract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De-identified at the boundary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close, replayable</a:t>
            </a:r>
            <a:endParaRPr lang="en-US" sz="550" dirty="0"/>
          </a:p>
        </p:txBody>
      </p:sp>
      <p:sp>
        <p:nvSpPr>
          <p:cNvPr id="67" name="Shape 65"/>
          <p:cNvSpPr/>
          <p:nvPr/>
        </p:nvSpPr>
        <p:spPr>
          <a:xfrm>
            <a:off x="1675638" y="4060850"/>
            <a:ext cx="64008" cy="64008"/>
          </a:xfrm>
          <a:prstGeom prst="rect">
            <a:avLst/>
          </a:prstGeom>
          <a:solidFill>
            <a:srgbClr val="0E8A7D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1776222" y="4028846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E8A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and Geo connectors</a:t>
            </a:r>
            <a:endParaRPr lang="en-US" sz="650" dirty="0"/>
          </a:p>
        </p:txBody>
      </p:sp>
      <p:sp>
        <p:nvSpPr>
          <p:cNvPr id="69" name="Text 67"/>
          <p:cNvSpPr txBox="1"/>
          <p:nvPr/>
        </p:nvSpPr>
        <p:spPr>
          <a:xfrm>
            <a:off x="1703070" y="4175150"/>
            <a:ext cx="1284732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and referral export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Census and drive time matrix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 per record, no writes</a:t>
            </a:r>
            <a:endParaRPr lang="en-US" sz="550" dirty="0"/>
          </a:p>
        </p:txBody>
      </p:sp>
      <p:sp>
        <p:nvSpPr>
          <p:cNvPr id="70" name="Shape 68"/>
          <p:cNvSpPr/>
          <p:nvPr/>
        </p:nvSpPr>
        <p:spPr>
          <a:xfrm>
            <a:off x="1611630" y="5230368"/>
            <a:ext cx="1449324" cy="420624"/>
          </a:xfrm>
          <a:prstGeom prst="rect">
            <a:avLst/>
          </a:prstGeom>
          <a:solidFill>
            <a:srgbClr val="0E8A7D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1675638" y="5266944"/>
            <a:ext cx="13213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b="1" spc="40" kern="0" dirty="0">
                <a:solidFill>
                  <a:srgbClr val="D8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GET</a:t>
            </a:r>
            <a:endParaRPr lang="en-US" sz="550" dirty="0"/>
          </a:p>
        </p:txBody>
      </p:sp>
      <p:sp>
        <p:nvSpPr>
          <p:cNvPr id="72" name="Text 70"/>
          <p:cNvSpPr txBox="1"/>
          <p:nvPr/>
        </p:nvSpPr>
        <p:spPr>
          <a:xfrm>
            <a:off x="1675638" y="5385816"/>
            <a:ext cx="13213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5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Safe, repeatable reads. No writes, no PHI sprawl</a:t>
            </a:r>
            <a:endParaRPr lang="en-US" sz="580" dirty="0"/>
          </a:p>
        </p:txBody>
      </p:sp>
      <p:sp>
        <p:nvSpPr>
          <p:cNvPr id="73" name="Text 71"/>
          <p:cNvSpPr txBox="1"/>
          <p:nvPr/>
        </p:nvSpPr>
        <p:spPr>
          <a:xfrm>
            <a:off x="3056382" y="905256"/>
            <a:ext cx="640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9AA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500" dirty="0"/>
          </a:p>
        </p:txBody>
      </p:sp>
      <p:sp>
        <p:nvSpPr>
          <p:cNvPr id="74" name="Shape 72"/>
          <p:cNvSpPr/>
          <p:nvPr/>
        </p:nvSpPr>
        <p:spPr>
          <a:xfrm>
            <a:off x="3113532" y="722376"/>
            <a:ext cx="1449324" cy="530352"/>
          </a:xfrm>
          <a:prstGeom prst="rect">
            <a:avLst/>
          </a:prstGeom>
          <a:solidFill>
            <a:srgbClr val="7A4FC0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168396" y="768096"/>
            <a:ext cx="13395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</a:t>
            </a:r>
            <a:endParaRPr lang="en-US" sz="700" dirty="0"/>
          </a:p>
        </p:txBody>
      </p:sp>
      <p:sp>
        <p:nvSpPr>
          <p:cNvPr id="76" name="Text 74"/>
          <p:cNvSpPr txBox="1"/>
          <p:nvPr/>
        </p:nvSpPr>
        <p:spPr>
          <a:xfrm>
            <a:off x="3150108" y="886968"/>
            <a:ext cx="13761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Ingestors and Identity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3159252" y="1115568"/>
            <a:ext cx="135788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50" i="1" dirty="0">
                <a:solidFill>
                  <a:srgbClr val="E8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Parse, resolve, prove</a:t>
            </a:r>
            <a:endParaRPr lang="en-US" sz="550" dirty="0"/>
          </a:p>
        </p:txBody>
      </p:sp>
      <p:sp>
        <p:nvSpPr>
          <p:cNvPr id="78" name="Shape 76"/>
          <p:cNvSpPr/>
          <p:nvPr/>
        </p:nvSpPr>
        <p:spPr>
          <a:xfrm>
            <a:off x="3113532" y="1271016"/>
            <a:ext cx="1449324" cy="4379976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3177540" y="1367028"/>
            <a:ext cx="64008" cy="64008"/>
          </a:xfrm>
          <a:prstGeom prst="rect">
            <a:avLst/>
          </a:prstGeom>
          <a:solidFill>
            <a:srgbClr val="7A4FC0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278124" y="1335024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7A4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and normalise</a:t>
            </a:r>
            <a:endParaRPr lang="en-US" sz="650" dirty="0"/>
          </a:p>
        </p:txBody>
      </p:sp>
      <p:sp>
        <p:nvSpPr>
          <p:cNvPr id="81" name="Text 79"/>
          <p:cNvSpPr txBox="1"/>
          <p:nvPr/>
        </p:nvSpPr>
        <p:spPr>
          <a:xfrm>
            <a:off x="3204972" y="1481328"/>
            <a:ext cx="12847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FHIR to domain objects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ICD-10, CPT, SNOMED mapped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Taxonomy to specialty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Units, dates, time zones</a:t>
            </a:r>
            <a:endParaRPr lang="en-US" sz="550" dirty="0"/>
          </a:p>
        </p:txBody>
      </p:sp>
      <p:sp>
        <p:nvSpPr>
          <p:cNvPr id="82" name="Shape 80"/>
          <p:cNvSpPr/>
          <p:nvPr/>
        </p:nvSpPr>
        <p:spPr>
          <a:xfrm>
            <a:off x="3177540" y="1983334"/>
            <a:ext cx="64008" cy="64008"/>
          </a:xfrm>
          <a:prstGeom prst="rect">
            <a:avLst/>
          </a:prstGeom>
          <a:solidFill>
            <a:srgbClr val="7A4FC0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3278124" y="1951330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7A4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identity, EMPI</a:t>
            </a:r>
            <a:endParaRPr lang="en-US" sz="650" dirty="0"/>
          </a:p>
        </p:txBody>
      </p:sp>
      <p:sp>
        <p:nvSpPr>
          <p:cNvPr id="84" name="Text 82"/>
          <p:cNvSpPr txBox="1"/>
          <p:nvPr/>
        </p:nvSpPr>
        <p:spPr>
          <a:xfrm>
            <a:off x="3204972" y="2097634"/>
            <a:ext cx="12847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MRN, member id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Probabilistic name, DOB, address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band, no silent merge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downstream, never MRN</a:t>
            </a:r>
            <a:endParaRPr lang="en-US" sz="550" dirty="0"/>
          </a:p>
        </p:txBody>
      </p:sp>
      <p:sp>
        <p:nvSpPr>
          <p:cNvPr id="85" name="Shape 83"/>
          <p:cNvSpPr/>
          <p:nvPr/>
        </p:nvSpPr>
        <p:spPr>
          <a:xfrm>
            <a:off x="3177540" y="2599639"/>
            <a:ext cx="64008" cy="64008"/>
          </a:xfrm>
          <a:prstGeom prst="rect">
            <a:avLst/>
          </a:prstGeom>
          <a:solidFill>
            <a:srgbClr val="7A4FC0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3278124" y="2567635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7A4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 and place identity</a:t>
            </a:r>
            <a:endParaRPr lang="en-US" sz="650" dirty="0"/>
          </a:p>
        </p:txBody>
      </p:sp>
      <p:sp>
        <p:nvSpPr>
          <p:cNvPr id="87" name="Text 85"/>
          <p:cNvSpPr txBox="1"/>
          <p:nvPr/>
        </p:nvSpPr>
        <p:spPr>
          <a:xfrm>
            <a:off x="3204972" y="2713939"/>
            <a:ext cx="12847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NPI is the person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 plus NPI is the practice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CCN is the facility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Roster, claims, NPPES deduped</a:t>
            </a:r>
            <a:endParaRPr lang="en-US" sz="550" dirty="0"/>
          </a:p>
        </p:txBody>
      </p:sp>
      <p:sp>
        <p:nvSpPr>
          <p:cNvPr id="88" name="Shape 86"/>
          <p:cNvSpPr/>
          <p:nvPr/>
        </p:nvSpPr>
        <p:spPr>
          <a:xfrm>
            <a:off x="3177540" y="3215945"/>
            <a:ext cx="64008" cy="64008"/>
          </a:xfrm>
          <a:prstGeom prst="rect">
            <a:avLst/>
          </a:prstGeom>
          <a:solidFill>
            <a:srgbClr val="7A4FC0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278124" y="3183941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7A4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650" dirty="0"/>
          </a:p>
        </p:txBody>
      </p:sp>
      <p:sp>
        <p:nvSpPr>
          <p:cNvPr id="90" name="Text 88"/>
          <p:cNvSpPr txBox="1"/>
          <p:nvPr/>
        </p:nvSpPr>
        <p:spPr>
          <a:xfrm>
            <a:off x="3204972" y="3330245"/>
            <a:ext cx="12847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fields and code sets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Privilege against procedure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Affiliation validity dates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Rejects to exception queue</a:t>
            </a:r>
            <a:endParaRPr lang="en-US" sz="550" dirty="0"/>
          </a:p>
        </p:txBody>
      </p:sp>
      <p:sp>
        <p:nvSpPr>
          <p:cNvPr id="91" name="Shape 89"/>
          <p:cNvSpPr/>
          <p:nvPr/>
        </p:nvSpPr>
        <p:spPr>
          <a:xfrm>
            <a:off x="3177540" y="3832250"/>
            <a:ext cx="64008" cy="64008"/>
          </a:xfrm>
          <a:prstGeom prst="rect">
            <a:avLst/>
          </a:prstGeom>
          <a:solidFill>
            <a:srgbClr val="7A4FC0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3278124" y="3800246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7A4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</a:t>
            </a:r>
            <a:endParaRPr lang="en-US" sz="650" dirty="0"/>
          </a:p>
        </p:txBody>
      </p:sp>
      <p:sp>
        <p:nvSpPr>
          <p:cNvPr id="93" name="Text 91"/>
          <p:cNvSpPr txBox="1"/>
          <p:nvPr/>
        </p:nvSpPr>
        <p:spPr>
          <a:xfrm>
            <a:off x="3204972" y="3946550"/>
            <a:ext cx="1284732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Source, extract id, hash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retrievedAt, derivationMethod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FACTUAL or INFERRED</a:t>
            </a:r>
            <a:endParaRPr lang="en-US" sz="550" dirty="0"/>
          </a:p>
        </p:txBody>
      </p:sp>
      <p:sp>
        <p:nvSpPr>
          <p:cNvPr id="94" name="Shape 92"/>
          <p:cNvSpPr/>
          <p:nvPr/>
        </p:nvSpPr>
        <p:spPr>
          <a:xfrm>
            <a:off x="3113532" y="5230368"/>
            <a:ext cx="1449324" cy="420624"/>
          </a:xfrm>
          <a:prstGeom prst="rect">
            <a:avLst/>
          </a:prstGeom>
          <a:solidFill>
            <a:srgbClr val="7A4FC0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177540" y="5266944"/>
            <a:ext cx="13213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b="1" spc="40" kern="0" dirty="0">
                <a:solidFill>
                  <a:srgbClr val="D8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GET</a:t>
            </a:r>
            <a:endParaRPr lang="en-US" sz="550" dirty="0"/>
          </a:p>
        </p:txBody>
      </p:sp>
      <p:sp>
        <p:nvSpPr>
          <p:cNvPr id="96" name="Text 94"/>
          <p:cNvSpPr txBox="1"/>
          <p:nvPr/>
        </p:nvSpPr>
        <p:spPr>
          <a:xfrm>
            <a:off x="3177540" y="5385816"/>
            <a:ext cx="13213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5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patient, one provider, one place, with the proof kept</a:t>
            </a:r>
            <a:endParaRPr lang="en-US" sz="580" dirty="0"/>
          </a:p>
        </p:txBody>
      </p:sp>
      <p:sp>
        <p:nvSpPr>
          <p:cNvPr id="97" name="Text 95"/>
          <p:cNvSpPr txBox="1"/>
          <p:nvPr/>
        </p:nvSpPr>
        <p:spPr>
          <a:xfrm>
            <a:off x="4558284" y="905256"/>
            <a:ext cx="640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9AA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500" dirty="0"/>
          </a:p>
        </p:txBody>
      </p:sp>
      <p:sp>
        <p:nvSpPr>
          <p:cNvPr id="98" name="Shape 96"/>
          <p:cNvSpPr/>
          <p:nvPr/>
        </p:nvSpPr>
        <p:spPr>
          <a:xfrm>
            <a:off x="4615434" y="722376"/>
            <a:ext cx="1449324" cy="530352"/>
          </a:xfrm>
          <a:prstGeom prst="rect">
            <a:avLst/>
          </a:prstGeom>
          <a:solidFill>
            <a:srgbClr val="C2185B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4670298" y="768096"/>
            <a:ext cx="13395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</a:t>
            </a:r>
            <a:endParaRPr lang="en-US" sz="700" dirty="0"/>
          </a:p>
        </p:txBody>
      </p:sp>
      <p:sp>
        <p:nvSpPr>
          <p:cNvPr id="100" name="Text 98"/>
          <p:cNvSpPr txBox="1"/>
          <p:nvPr/>
        </p:nvSpPr>
        <p:spPr>
          <a:xfrm>
            <a:off x="4652010" y="886968"/>
            <a:ext cx="13761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Model</a:t>
            </a:r>
            <a:endParaRPr lang="en-US" sz="900" dirty="0"/>
          </a:p>
        </p:txBody>
      </p:sp>
      <p:sp>
        <p:nvSpPr>
          <p:cNvPr id="101" name="Text 99"/>
          <p:cNvSpPr txBox="1"/>
          <p:nvPr/>
        </p:nvSpPr>
        <p:spPr>
          <a:xfrm>
            <a:off x="4661154" y="1115568"/>
            <a:ext cx="135788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50" i="1" dirty="0">
                <a:solidFill>
                  <a:srgbClr val="E8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CareNetworkContext</a:t>
            </a:r>
            <a:endParaRPr lang="en-US" sz="550" dirty="0"/>
          </a:p>
        </p:txBody>
      </p:sp>
      <p:sp>
        <p:nvSpPr>
          <p:cNvPr id="102" name="Shape 100"/>
          <p:cNvSpPr/>
          <p:nvPr/>
        </p:nvSpPr>
        <p:spPr>
          <a:xfrm>
            <a:off x="4615434" y="1271016"/>
            <a:ext cx="1449324" cy="4379976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4679442" y="1367028"/>
            <a:ext cx="64008" cy="64008"/>
          </a:xfrm>
          <a:prstGeom prst="rect">
            <a:avLst/>
          </a:prstGeom>
          <a:solidFill>
            <a:srgbClr val="C2185B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4780026" y="1335024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C21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object</a:t>
            </a:r>
            <a:endParaRPr lang="en-US" sz="650" dirty="0"/>
          </a:p>
        </p:txBody>
      </p:sp>
      <p:sp>
        <p:nvSpPr>
          <p:cNvPr id="105" name="Text 103"/>
          <p:cNvSpPr txBox="1"/>
          <p:nvPr/>
        </p:nvSpPr>
        <p:spPr>
          <a:xfrm>
            <a:off x="4706874" y="1481328"/>
            <a:ext cx="1284732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networkId, marketId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asOfDate, snapshotId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block</a:t>
            </a:r>
            <a:endParaRPr lang="en-US" sz="550" dirty="0"/>
          </a:p>
        </p:txBody>
      </p:sp>
      <p:sp>
        <p:nvSpPr>
          <p:cNvPr id="106" name="Shape 104"/>
          <p:cNvSpPr/>
          <p:nvPr/>
        </p:nvSpPr>
        <p:spPr>
          <a:xfrm>
            <a:off x="4679442" y="1886407"/>
            <a:ext cx="64008" cy="64008"/>
          </a:xfrm>
          <a:prstGeom prst="rect">
            <a:avLst/>
          </a:prstGeom>
          <a:solidFill>
            <a:srgbClr val="C2185B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4780026" y="1854403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C21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providers[]</a:t>
            </a:r>
            <a:endParaRPr lang="en-US" sz="650" dirty="0"/>
          </a:p>
        </p:txBody>
      </p:sp>
      <p:sp>
        <p:nvSpPr>
          <p:cNvPr id="108" name="Text 106"/>
          <p:cNvSpPr txBox="1"/>
          <p:nvPr/>
        </p:nvSpPr>
        <p:spPr>
          <a:xfrm>
            <a:off x="4706874" y="2000707"/>
            <a:ext cx="12847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npi, specialty[], subspecialty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privileges[], credentialStatus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fte, sessions, panelStatus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practiceGroup, locations[]</a:t>
            </a:r>
            <a:endParaRPr lang="en-US" sz="550" dirty="0"/>
          </a:p>
        </p:txBody>
      </p:sp>
      <p:sp>
        <p:nvSpPr>
          <p:cNvPr id="109" name="Shape 107"/>
          <p:cNvSpPr/>
          <p:nvPr/>
        </p:nvSpPr>
        <p:spPr>
          <a:xfrm>
            <a:off x="4679442" y="2502713"/>
            <a:ext cx="64008" cy="64008"/>
          </a:xfrm>
          <a:prstGeom prst="rect">
            <a:avLst/>
          </a:prstGeom>
          <a:solidFill>
            <a:srgbClr val="C2185B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4780026" y="2470709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C21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facilities[]</a:t>
            </a:r>
            <a:endParaRPr lang="en-US" sz="650" dirty="0"/>
          </a:p>
        </p:txBody>
      </p:sp>
      <p:sp>
        <p:nvSpPr>
          <p:cNvPr id="111" name="Text 109"/>
          <p:cNvSpPr txBox="1"/>
          <p:nvPr/>
        </p:nvSpPr>
        <p:spPr>
          <a:xfrm>
            <a:off x="4706874" y="2617013"/>
            <a:ext cx="12847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ccn, type, hospital or ASC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serviceLines[], capabilities[]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beds, rooms, equipment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geo, driveTimeBands[]</a:t>
            </a:r>
            <a:endParaRPr lang="en-US" sz="550" dirty="0"/>
          </a:p>
        </p:txBody>
      </p:sp>
      <p:sp>
        <p:nvSpPr>
          <p:cNvPr id="112" name="Shape 110"/>
          <p:cNvSpPr/>
          <p:nvPr/>
        </p:nvSpPr>
        <p:spPr>
          <a:xfrm>
            <a:off x="4679442" y="3119018"/>
            <a:ext cx="64008" cy="64008"/>
          </a:xfrm>
          <a:prstGeom prst="rect">
            <a:avLst/>
          </a:prstGeom>
          <a:solidFill>
            <a:srgbClr val="C2185B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4780026" y="3087014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C21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serviceLines[]</a:t>
            </a:r>
            <a:endParaRPr lang="en-US" sz="650" dirty="0"/>
          </a:p>
        </p:txBody>
      </p:sp>
      <p:sp>
        <p:nvSpPr>
          <p:cNvPr id="114" name="Text 112"/>
          <p:cNvSpPr txBox="1"/>
          <p:nvPr/>
        </p:nvSpPr>
        <p:spPr>
          <a:xfrm>
            <a:off x="4706874" y="3233318"/>
            <a:ext cx="1284732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requiredSpecialties[]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requiredCapabilities[]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minVolumeThreshold</a:t>
            </a:r>
            <a:endParaRPr lang="en-US" sz="550" dirty="0"/>
          </a:p>
        </p:txBody>
      </p:sp>
      <p:sp>
        <p:nvSpPr>
          <p:cNvPr id="115" name="Shape 113"/>
          <p:cNvSpPr/>
          <p:nvPr/>
        </p:nvSpPr>
        <p:spPr>
          <a:xfrm>
            <a:off x="4679442" y="3638398"/>
            <a:ext cx="64008" cy="64008"/>
          </a:xfrm>
          <a:prstGeom prst="rect">
            <a:avLst/>
          </a:prstGeom>
          <a:solidFill>
            <a:srgbClr val="C2185B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4780026" y="3606394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C21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demand[]</a:t>
            </a:r>
            <a:endParaRPr lang="en-US" sz="650" dirty="0"/>
          </a:p>
        </p:txBody>
      </p:sp>
      <p:sp>
        <p:nvSpPr>
          <p:cNvPr id="117" name="Text 115"/>
          <p:cNvSpPr txBox="1"/>
          <p:nvPr/>
        </p:nvSpPr>
        <p:spPr>
          <a:xfrm>
            <a:off x="4706874" y="3752698"/>
            <a:ext cx="1284732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geographyId, serviceLineId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patients, encounters, trend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acuityMix, payerMix</a:t>
            </a:r>
            <a:endParaRPr lang="en-US" sz="550" dirty="0"/>
          </a:p>
        </p:txBody>
      </p:sp>
      <p:sp>
        <p:nvSpPr>
          <p:cNvPr id="118" name="Shape 116"/>
          <p:cNvSpPr/>
          <p:nvPr/>
        </p:nvSpPr>
        <p:spPr>
          <a:xfrm>
            <a:off x="4679442" y="4157777"/>
            <a:ext cx="64008" cy="64008"/>
          </a:xfrm>
          <a:prstGeom prst="rect">
            <a:avLst/>
          </a:prstGeom>
          <a:solidFill>
            <a:srgbClr val="C2185B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4780026" y="4125773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C21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access[] and flows[]</a:t>
            </a:r>
            <a:endParaRPr lang="en-US" sz="650" dirty="0"/>
          </a:p>
        </p:txBody>
      </p:sp>
      <p:sp>
        <p:nvSpPr>
          <p:cNvPr id="120" name="Text 118"/>
          <p:cNvSpPr txBox="1"/>
          <p:nvPr/>
        </p:nvSpPr>
        <p:spPr>
          <a:xfrm>
            <a:off x="4706874" y="4272077"/>
            <a:ext cx="12847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slots, thirdNextAvailable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origin to destination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inNetwork, leakageFlag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O over E, n, interval</a:t>
            </a:r>
            <a:endParaRPr lang="en-US" sz="550" dirty="0"/>
          </a:p>
        </p:txBody>
      </p:sp>
      <p:sp>
        <p:nvSpPr>
          <p:cNvPr id="121" name="Shape 119"/>
          <p:cNvSpPr/>
          <p:nvPr/>
        </p:nvSpPr>
        <p:spPr>
          <a:xfrm>
            <a:off x="4615434" y="5230368"/>
            <a:ext cx="1449324" cy="420624"/>
          </a:xfrm>
          <a:prstGeom prst="rect">
            <a:avLst/>
          </a:prstGeom>
          <a:solidFill>
            <a:srgbClr val="C2185B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4679442" y="5266944"/>
            <a:ext cx="13213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b="1" spc="40" kern="0" dirty="0">
                <a:solidFill>
                  <a:srgbClr val="D8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GET</a:t>
            </a:r>
            <a:endParaRPr lang="en-US" sz="550" dirty="0"/>
          </a:p>
        </p:txBody>
      </p:sp>
      <p:sp>
        <p:nvSpPr>
          <p:cNvPr id="123" name="Text 121"/>
          <p:cNvSpPr txBox="1"/>
          <p:nvPr/>
        </p:nvSpPr>
        <p:spPr>
          <a:xfrm>
            <a:off x="4679442" y="5385816"/>
            <a:ext cx="13213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5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records become a typed network model</a:t>
            </a:r>
            <a:endParaRPr lang="en-US" sz="580" dirty="0"/>
          </a:p>
        </p:txBody>
      </p:sp>
      <p:sp>
        <p:nvSpPr>
          <p:cNvPr id="124" name="Text 122"/>
          <p:cNvSpPr txBox="1"/>
          <p:nvPr/>
        </p:nvSpPr>
        <p:spPr>
          <a:xfrm>
            <a:off x="6060186" y="905256"/>
            <a:ext cx="640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9AA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500" dirty="0"/>
          </a:p>
        </p:txBody>
      </p:sp>
      <p:sp>
        <p:nvSpPr>
          <p:cNvPr id="125" name="Shape 123"/>
          <p:cNvSpPr/>
          <p:nvPr/>
        </p:nvSpPr>
        <p:spPr>
          <a:xfrm>
            <a:off x="6117336" y="722376"/>
            <a:ext cx="1449324" cy="530352"/>
          </a:xfrm>
          <a:prstGeom prst="rect">
            <a:avLst/>
          </a:prstGeom>
          <a:solidFill>
            <a:srgbClr val="C77400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6172200" y="768096"/>
            <a:ext cx="13395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5</a:t>
            </a:r>
            <a:endParaRPr lang="en-US" sz="700" dirty="0"/>
          </a:p>
        </p:txBody>
      </p:sp>
      <p:sp>
        <p:nvSpPr>
          <p:cNvPr id="127" name="Text 125"/>
          <p:cNvSpPr txBox="1"/>
          <p:nvPr/>
        </p:nvSpPr>
        <p:spPr>
          <a:xfrm>
            <a:off x="6153912" y="886968"/>
            <a:ext cx="13761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Storage</a:t>
            </a:r>
            <a:endParaRPr lang="en-US" sz="900" dirty="0"/>
          </a:p>
        </p:txBody>
      </p:sp>
      <p:sp>
        <p:nvSpPr>
          <p:cNvPr id="128" name="Text 126"/>
          <p:cNvSpPr txBox="1"/>
          <p:nvPr/>
        </p:nvSpPr>
        <p:spPr>
          <a:xfrm>
            <a:off x="6163056" y="1115568"/>
            <a:ext cx="135788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50" i="1" dirty="0">
                <a:solidFill>
                  <a:srgbClr val="E8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JSON contract</a:t>
            </a:r>
            <a:endParaRPr lang="en-US" sz="550" dirty="0"/>
          </a:p>
        </p:txBody>
      </p:sp>
      <p:sp>
        <p:nvSpPr>
          <p:cNvPr id="129" name="Shape 127"/>
          <p:cNvSpPr/>
          <p:nvPr/>
        </p:nvSpPr>
        <p:spPr>
          <a:xfrm>
            <a:off x="6117336" y="1271016"/>
            <a:ext cx="1449324" cy="4379976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130" name="Text 128"/>
          <p:cNvSpPr txBox="1"/>
          <p:nvPr/>
        </p:nvSpPr>
        <p:spPr>
          <a:xfrm>
            <a:off x="6181344" y="1335024"/>
            <a:ext cx="1321308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C77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network.json (excerpt)</a:t>
            </a:r>
            <a:endParaRPr lang="en-US" sz="650" dirty="0"/>
          </a:p>
        </p:txBody>
      </p:sp>
      <p:sp>
        <p:nvSpPr>
          <p:cNvPr id="131" name="Shape 129"/>
          <p:cNvSpPr/>
          <p:nvPr/>
        </p:nvSpPr>
        <p:spPr>
          <a:xfrm>
            <a:off x="6163056" y="1481328"/>
            <a:ext cx="1357884" cy="1298448"/>
          </a:xfrm>
          <a:prstGeom prst="rect">
            <a:avLst/>
          </a:prstGeom>
          <a:solidFill>
            <a:srgbClr val="F4F6F8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132" name="Text 130"/>
          <p:cNvSpPr txBox="1"/>
          <p:nvPr/>
        </p:nvSpPr>
        <p:spPr>
          <a:xfrm>
            <a:off x="6208776" y="1517904"/>
            <a:ext cx="126644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4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"snapshotId": "tx-2026Q3",</a:t>
            </a:r>
            <a:endParaRPr lang="en-US" sz="4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"nodes": [{</a:t>
            </a:r>
            <a:endParaRPr lang="en-US" sz="4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"id": "npi:1487…",</a:t>
            </a:r>
            <a:endParaRPr lang="en-US" sz="4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"type": "PROVIDER",</a:t>
            </a:r>
            <a:endParaRPr lang="en-US" sz="4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"properties": {</a:t>
            </a:r>
            <a:endParaRPr lang="en-US" sz="4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"specialty": "CARDIOLOGY",</a:t>
            </a:r>
            <a:endParaRPr lang="en-US" sz="4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"fte": 0.6, "panel": "OPEN" },</a:t>
            </a:r>
            <a:endParaRPr lang="en-US" sz="4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"sourceRefs": [{ "system":"CAQH",</a:t>
            </a:r>
            <a:endParaRPr lang="en-US" sz="4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"hash": "a91f…" }] }],</a:t>
            </a:r>
            <a:endParaRPr lang="en-US" sz="4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"relationships": [{</a:t>
            </a:r>
            <a:endParaRPr lang="en-US" sz="4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"type": "PRACTICES_AT",</a:t>
            </a:r>
            <a:endParaRPr lang="en-US" sz="4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"from": "npi:1487…",</a:t>
            </a:r>
            <a:endParaRPr lang="en-US" sz="4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"to":   "ccn:450214",</a:t>
            </a:r>
            <a:endParaRPr lang="en-US" sz="4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"validFrom": "2024-07-01",</a:t>
            </a:r>
            <a:endParaRPr lang="en-US" sz="4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"confidence": 1.0 }]</a:t>
            </a:r>
            <a:endParaRPr lang="en-US" sz="46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460" dirty="0"/>
          </a:p>
        </p:txBody>
      </p:sp>
      <p:sp>
        <p:nvSpPr>
          <p:cNvPr id="133" name="Shape 131"/>
          <p:cNvSpPr/>
          <p:nvPr/>
        </p:nvSpPr>
        <p:spPr>
          <a:xfrm>
            <a:off x="6181344" y="2884932"/>
            <a:ext cx="64008" cy="64008"/>
          </a:xfrm>
          <a:prstGeom prst="rect">
            <a:avLst/>
          </a:prstGeom>
          <a:solidFill>
            <a:srgbClr val="C77400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6281928" y="2852928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C77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file holds</a:t>
            </a:r>
            <a:endParaRPr lang="en-US" sz="65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2999232"/>
            <a:ext cx="1284732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with its properties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typed relationship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Validity dates on each edge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and content hash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snapshot per period</a:t>
            </a:r>
            <a:endParaRPr lang="en-US" sz="550" dirty="0"/>
          </a:p>
        </p:txBody>
      </p:sp>
      <p:sp>
        <p:nvSpPr>
          <p:cNvPr id="136" name="Shape 134"/>
          <p:cNvSpPr/>
          <p:nvPr/>
        </p:nvSpPr>
        <p:spPr>
          <a:xfrm>
            <a:off x="6181344" y="3598164"/>
            <a:ext cx="64008" cy="64008"/>
          </a:xfrm>
          <a:prstGeom prst="rect">
            <a:avLst/>
          </a:prstGeom>
          <a:solidFill>
            <a:srgbClr val="C77400"/>
          </a:solidFill>
          <a:ln/>
        </p:spPr>
      </p:sp>
      <p:sp>
        <p:nvSpPr>
          <p:cNvPr id="137" name="Text 135"/>
          <p:cNvSpPr txBox="1"/>
          <p:nvPr/>
        </p:nvSpPr>
        <p:spPr>
          <a:xfrm>
            <a:off x="6281928" y="3566160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C77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rules</a:t>
            </a:r>
            <a:endParaRPr lang="en-US" sz="650" dirty="0"/>
          </a:p>
        </p:txBody>
      </p:sp>
      <p:sp>
        <p:nvSpPr>
          <p:cNvPr id="138" name="Text 136"/>
          <p:cNvSpPr txBox="1"/>
          <p:nvPr/>
        </p:nvSpPr>
        <p:spPr>
          <a:xfrm>
            <a:off x="6208776" y="3712464"/>
            <a:ext cx="12847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Rebuilt, never written back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Versioned per snapshot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De-identified by default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at rest</a:t>
            </a:r>
            <a:endParaRPr lang="en-US" sz="550" dirty="0"/>
          </a:p>
        </p:txBody>
      </p:sp>
      <p:sp>
        <p:nvSpPr>
          <p:cNvPr id="139" name="Shape 137"/>
          <p:cNvSpPr/>
          <p:nvPr/>
        </p:nvSpPr>
        <p:spPr>
          <a:xfrm>
            <a:off x="6117336" y="5230368"/>
            <a:ext cx="1449324" cy="420624"/>
          </a:xfrm>
          <a:prstGeom prst="rect">
            <a:avLst/>
          </a:prstGeom>
          <a:solidFill>
            <a:srgbClr val="C77400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6181344" y="5266944"/>
            <a:ext cx="13213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b="1" spc="40" kern="0" dirty="0">
                <a:solidFill>
                  <a:srgbClr val="D8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GET</a:t>
            </a:r>
            <a:endParaRPr lang="en-US" sz="550" dirty="0"/>
          </a:p>
        </p:txBody>
      </p:sp>
      <p:sp>
        <p:nvSpPr>
          <p:cNvPr id="141" name="Text 139"/>
          <p:cNvSpPr txBox="1"/>
          <p:nvPr/>
        </p:nvSpPr>
        <p:spPr>
          <a:xfrm>
            <a:off x="6181344" y="5385816"/>
            <a:ext cx="13213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5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portable snapshot any tool or engine can consume</a:t>
            </a:r>
            <a:endParaRPr lang="en-US" sz="580" dirty="0"/>
          </a:p>
        </p:txBody>
      </p:sp>
      <p:sp>
        <p:nvSpPr>
          <p:cNvPr id="142" name="Text 140"/>
          <p:cNvSpPr txBox="1"/>
          <p:nvPr/>
        </p:nvSpPr>
        <p:spPr>
          <a:xfrm>
            <a:off x="7562088" y="905256"/>
            <a:ext cx="640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9AA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500" dirty="0"/>
          </a:p>
        </p:txBody>
      </p:sp>
      <p:sp>
        <p:nvSpPr>
          <p:cNvPr id="143" name="Shape 141"/>
          <p:cNvSpPr/>
          <p:nvPr/>
        </p:nvSpPr>
        <p:spPr>
          <a:xfrm>
            <a:off x="7619238" y="722376"/>
            <a:ext cx="1449324" cy="530352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7674102" y="768096"/>
            <a:ext cx="13395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6</a:t>
            </a:r>
            <a:endParaRPr lang="en-US" sz="700" dirty="0"/>
          </a:p>
        </p:txBody>
      </p:sp>
      <p:sp>
        <p:nvSpPr>
          <p:cNvPr id="145" name="Text 143"/>
          <p:cNvSpPr txBox="1"/>
          <p:nvPr/>
        </p:nvSpPr>
        <p:spPr>
          <a:xfrm>
            <a:off x="7655814" y="886968"/>
            <a:ext cx="13761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Edge Engine</a:t>
            </a:r>
            <a:endParaRPr lang="en-US" sz="900" dirty="0"/>
          </a:p>
        </p:txBody>
      </p:sp>
      <p:sp>
        <p:nvSpPr>
          <p:cNvPr id="146" name="Text 144"/>
          <p:cNvSpPr txBox="1"/>
          <p:nvPr/>
        </p:nvSpPr>
        <p:spPr>
          <a:xfrm>
            <a:off x="7664958" y="1115568"/>
            <a:ext cx="135788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50" i="1" dirty="0">
                <a:solidFill>
                  <a:srgbClr val="E8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gap becomes computable</a:t>
            </a:r>
            <a:endParaRPr lang="en-US" sz="550" dirty="0"/>
          </a:p>
        </p:txBody>
      </p:sp>
      <p:sp>
        <p:nvSpPr>
          <p:cNvPr id="147" name="Shape 145"/>
          <p:cNvSpPr/>
          <p:nvPr/>
        </p:nvSpPr>
        <p:spPr>
          <a:xfrm>
            <a:off x="7619238" y="1271016"/>
            <a:ext cx="1449324" cy="4379976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7683246" y="1367028"/>
            <a:ext cx="64008" cy="64008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7783830" y="1335024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edges</a:t>
            </a:r>
            <a:endParaRPr lang="en-US" sz="650" dirty="0"/>
          </a:p>
        </p:txBody>
      </p:sp>
      <p:sp>
        <p:nvSpPr>
          <p:cNvPr id="150" name="Text 148"/>
          <p:cNvSpPr txBox="1"/>
          <p:nvPr/>
        </p:nvSpPr>
        <p:spPr>
          <a:xfrm>
            <a:off x="7710678" y="1481328"/>
            <a:ext cx="1284732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 geo to facility, driveMin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serviceLine to specialty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provider to line at site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SUBSTITUTE_FOR provider to provider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REFERS_TO provider to provider</a:t>
            </a:r>
            <a:endParaRPr lang="en-US" sz="550" dirty="0"/>
          </a:p>
        </p:txBody>
      </p:sp>
      <p:sp>
        <p:nvSpPr>
          <p:cNvPr id="151" name="Shape 149"/>
          <p:cNvSpPr/>
          <p:nvPr/>
        </p:nvSpPr>
        <p:spPr>
          <a:xfrm>
            <a:off x="7683246" y="2080260"/>
            <a:ext cx="64008" cy="64008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52" name="Text 150"/>
          <p:cNvSpPr txBox="1"/>
          <p:nvPr/>
        </p:nvSpPr>
        <p:spPr>
          <a:xfrm>
            <a:off x="7783830" y="2048256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indices</a:t>
            </a:r>
            <a:endParaRPr lang="en-US" sz="650" dirty="0"/>
          </a:p>
        </p:txBody>
      </p:sp>
      <p:sp>
        <p:nvSpPr>
          <p:cNvPr id="153" name="Text 151"/>
          <p:cNvSpPr txBox="1"/>
          <p:nvPr/>
        </p:nvSpPr>
        <p:spPr>
          <a:xfrm>
            <a:off x="7710678" y="2194560"/>
            <a:ext cx="1284732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inflow and trend by geo and line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capacity, bookable against demand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and adequacy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 share, referral depth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O over E with shrinkage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concentration, HHI, SPOF flag</a:t>
            </a:r>
            <a:endParaRPr lang="en-US" sz="550" dirty="0"/>
          </a:p>
        </p:txBody>
      </p:sp>
      <p:sp>
        <p:nvSpPr>
          <p:cNvPr id="154" name="Shape 152"/>
          <p:cNvSpPr/>
          <p:nvPr/>
        </p:nvSpPr>
        <p:spPr>
          <a:xfrm>
            <a:off x="7683246" y="2890418"/>
            <a:ext cx="64008" cy="64008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7783830" y="2858414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</a:t>
            </a:r>
            <a:endParaRPr lang="en-US" sz="650" dirty="0"/>
          </a:p>
        </p:txBody>
      </p:sp>
      <p:sp>
        <p:nvSpPr>
          <p:cNvPr id="156" name="Text 154"/>
          <p:cNvSpPr txBox="1"/>
          <p:nvPr/>
        </p:nvSpPr>
        <p:spPr>
          <a:xfrm>
            <a:off x="7710678" y="3004718"/>
            <a:ext cx="12847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volume before ranking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group by setting and case mix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interval published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Valid-at date on every index</a:t>
            </a:r>
            <a:endParaRPr lang="en-US" sz="550" dirty="0"/>
          </a:p>
        </p:txBody>
      </p:sp>
      <p:sp>
        <p:nvSpPr>
          <p:cNvPr id="157" name="Shape 155"/>
          <p:cNvSpPr/>
          <p:nvPr/>
        </p:nvSpPr>
        <p:spPr>
          <a:xfrm>
            <a:off x="7683246" y="3506724"/>
            <a:ext cx="64008" cy="64008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7783830" y="3474720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policy</a:t>
            </a:r>
            <a:endParaRPr lang="en-US" sz="650" dirty="0"/>
          </a:p>
        </p:txBody>
      </p:sp>
      <p:sp>
        <p:nvSpPr>
          <p:cNvPr id="159" name="Text 157"/>
          <p:cNvSpPr txBox="1"/>
          <p:nvPr/>
        </p:nvSpPr>
        <p:spPr>
          <a:xfrm>
            <a:off x="7710678" y="3621024"/>
            <a:ext cx="128473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index dated and versioned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quarter reproduces exactly</a:t>
            </a:r>
            <a:endParaRPr lang="en-US" sz="550" dirty="0"/>
          </a:p>
        </p:txBody>
      </p:sp>
      <p:sp>
        <p:nvSpPr>
          <p:cNvPr id="160" name="Shape 158"/>
          <p:cNvSpPr/>
          <p:nvPr/>
        </p:nvSpPr>
        <p:spPr>
          <a:xfrm>
            <a:off x="7619238" y="5230368"/>
            <a:ext cx="1449324" cy="420624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61" name="Text 159"/>
          <p:cNvSpPr txBox="1"/>
          <p:nvPr/>
        </p:nvSpPr>
        <p:spPr>
          <a:xfrm>
            <a:off x="7683246" y="5266944"/>
            <a:ext cx="13213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b="1" spc="40" kern="0" dirty="0">
                <a:solidFill>
                  <a:srgbClr val="D8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GET</a:t>
            </a:r>
            <a:endParaRPr lang="en-US" sz="550" dirty="0"/>
          </a:p>
        </p:txBody>
      </p:sp>
      <p:sp>
        <p:nvSpPr>
          <p:cNvPr id="162" name="Text 160"/>
          <p:cNvSpPr txBox="1"/>
          <p:nvPr/>
        </p:nvSpPr>
        <p:spPr>
          <a:xfrm>
            <a:off x="7683246" y="5385816"/>
            <a:ext cx="13213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5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missing edge becomes a measurable, defensible number</a:t>
            </a:r>
            <a:endParaRPr lang="en-US" sz="580" dirty="0"/>
          </a:p>
        </p:txBody>
      </p:sp>
      <p:sp>
        <p:nvSpPr>
          <p:cNvPr id="163" name="Text 161"/>
          <p:cNvSpPr txBox="1"/>
          <p:nvPr/>
        </p:nvSpPr>
        <p:spPr>
          <a:xfrm>
            <a:off x="9063990" y="905256"/>
            <a:ext cx="640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9AA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500" dirty="0"/>
          </a:p>
        </p:txBody>
      </p:sp>
      <p:sp>
        <p:nvSpPr>
          <p:cNvPr id="164" name="Shape 162"/>
          <p:cNvSpPr/>
          <p:nvPr/>
        </p:nvSpPr>
        <p:spPr>
          <a:xfrm>
            <a:off x="9121140" y="722376"/>
            <a:ext cx="1449324" cy="5303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176004" y="768096"/>
            <a:ext cx="13395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7</a:t>
            </a:r>
            <a:endParaRPr lang="en-US" sz="700" dirty="0"/>
          </a:p>
        </p:txBody>
      </p:sp>
      <p:sp>
        <p:nvSpPr>
          <p:cNvPr id="166" name="Text 164"/>
          <p:cNvSpPr txBox="1"/>
          <p:nvPr/>
        </p:nvSpPr>
        <p:spPr>
          <a:xfrm>
            <a:off x="9157716" y="886968"/>
            <a:ext cx="13761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ContextGraph</a:t>
            </a:r>
            <a:endParaRPr lang="en-US" sz="900" dirty="0"/>
          </a:p>
        </p:txBody>
      </p:sp>
      <p:sp>
        <p:nvSpPr>
          <p:cNvPr id="167" name="Text 165"/>
          <p:cNvSpPr txBox="1"/>
          <p:nvPr/>
        </p:nvSpPr>
        <p:spPr>
          <a:xfrm>
            <a:off x="9166860" y="1115568"/>
            <a:ext cx="135788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50" i="1" dirty="0">
                <a:solidFill>
                  <a:srgbClr val="E8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knowledge graph</a:t>
            </a:r>
            <a:endParaRPr lang="en-US" sz="550" dirty="0"/>
          </a:p>
        </p:txBody>
      </p:sp>
      <p:sp>
        <p:nvSpPr>
          <p:cNvPr id="168" name="Shape 166"/>
          <p:cNvSpPr/>
          <p:nvPr/>
        </p:nvSpPr>
        <p:spPr>
          <a:xfrm>
            <a:off x="9121140" y="1271016"/>
            <a:ext cx="1449324" cy="4379976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185148" y="1367028"/>
            <a:ext cx="64008" cy="640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9285732" y="1335024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structure</a:t>
            </a:r>
            <a:endParaRPr lang="en-US" sz="650" dirty="0"/>
          </a:p>
        </p:txBody>
      </p:sp>
      <p:sp>
        <p:nvSpPr>
          <p:cNvPr id="171" name="Text 169"/>
          <p:cNvSpPr txBox="1"/>
          <p:nvPr/>
        </p:nvSpPr>
        <p:spPr>
          <a:xfrm>
            <a:off x="9212580" y="1481328"/>
            <a:ext cx="12847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by type, typed edges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Weights: driveMin, volume, cost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Adjacency and drive time index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O(1) node access, typed scans</a:t>
            </a:r>
            <a:endParaRPr lang="en-US" sz="550" dirty="0"/>
          </a:p>
        </p:txBody>
      </p:sp>
      <p:sp>
        <p:nvSpPr>
          <p:cNvPr id="172" name="Shape 170"/>
          <p:cNvSpPr/>
          <p:nvPr/>
        </p:nvSpPr>
        <p:spPr>
          <a:xfrm>
            <a:off x="9185148" y="1983334"/>
            <a:ext cx="64008" cy="640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73" name="Text 171"/>
          <p:cNvSpPr txBox="1"/>
          <p:nvPr/>
        </p:nvSpPr>
        <p:spPr>
          <a:xfrm>
            <a:off x="9285732" y="1951330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Traversals</a:t>
            </a:r>
            <a:endParaRPr lang="en-US" sz="650" dirty="0"/>
          </a:p>
        </p:txBody>
      </p:sp>
      <p:sp>
        <p:nvSpPr>
          <p:cNvPr id="174" name="Text 172"/>
          <p:cNvSpPr txBox="1"/>
          <p:nvPr/>
        </p:nvSpPr>
        <p:spPr>
          <a:xfrm>
            <a:off x="9212580" y="2097634"/>
            <a:ext cx="1284732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coverage_path(geo, serviceLine)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missing_edge(demand, supply)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blast_radius(provider, hops)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shortest_referral_path(a, b)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k_nearest_providers(geo, k)</a:t>
            </a:r>
            <a:endParaRPr lang="en-US" sz="550" dirty="0"/>
          </a:p>
        </p:txBody>
      </p:sp>
      <p:sp>
        <p:nvSpPr>
          <p:cNvPr id="175" name="Shape 173"/>
          <p:cNvSpPr/>
          <p:nvPr/>
        </p:nvSpPr>
        <p:spPr>
          <a:xfrm>
            <a:off x="9185148" y="2696566"/>
            <a:ext cx="64008" cy="640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76" name="Text 174"/>
          <p:cNvSpPr txBox="1"/>
          <p:nvPr/>
        </p:nvSpPr>
        <p:spPr>
          <a:xfrm>
            <a:off x="9285732" y="2664562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analytics</a:t>
            </a:r>
            <a:endParaRPr lang="en-US" sz="650" dirty="0"/>
          </a:p>
        </p:txBody>
      </p:sp>
      <p:sp>
        <p:nvSpPr>
          <p:cNvPr id="177" name="Text 175"/>
          <p:cNvSpPr txBox="1"/>
          <p:nvPr/>
        </p:nvSpPr>
        <p:spPr>
          <a:xfrm>
            <a:off x="9212580" y="2810866"/>
            <a:ext cx="12847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Centrality: who is load bearing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Components: network islands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Communities: referral clusters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cover: fewest hires to fix</a:t>
            </a:r>
            <a:endParaRPr lang="en-US" sz="550" dirty="0"/>
          </a:p>
        </p:txBody>
      </p:sp>
      <p:sp>
        <p:nvSpPr>
          <p:cNvPr id="178" name="Shape 176"/>
          <p:cNvSpPr/>
          <p:nvPr/>
        </p:nvSpPr>
        <p:spPr>
          <a:xfrm>
            <a:off x="9185148" y="3312871"/>
            <a:ext cx="64008" cy="640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9285732" y="3280867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What-if simulation</a:t>
            </a:r>
            <a:endParaRPr lang="en-US" sz="650" dirty="0"/>
          </a:p>
        </p:txBody>
      </p:sp>
      <p:sp>
        <p:nvSpPr>
          <p:cNvPr id="180" name="Text 178"/>
          <p:cNvSpPr txBox="1"/>
          <p:nvPr/>
        </p:nvSpPr>
        <p:spPr>
          <a:xfrm>
            <a:off x="9212580" y="3427171"/>
            <a:ext cx="12847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a hypothetical provider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traversals, diff result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gaining access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 recaptured</a:t>
            </a:r>
            <a:endParaRPr lang="en-US" sz="550" dirty="0"/>
          </a:p>
        </p:txBody>
      </p:sp>
      <p:sp>
        <p:nvSpPr>
          <p:cNvPr id="181" name="Shape 179"/>
          <p:cNvSpPr/>
          <p:nvPr/>
        </p:nvSpPr>
        <p:spPr>
          <a:xfrm>
            <a:off x="9121140" y="5230368"/>
            <a:ext cx="1449324" cy="42062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9185148" y="5266944"/>
            <a:ext cx="13213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b="1" spc="40" kern="0" dirty="0">
                <a:solidFill>
                  <a:srgbClr val="D8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GET</a:t>
            </a:r>
            <a:endParaRPr lang="en-US" sz="550" dirty="0"/>
          </a:p>
        </p:txBody>
      </p:sp>
      <p:sp>
        <p:nvSpPr>
          <p:cNvPr id="183" name="Text 181"/>
          <p:cNvSpPr txBox="1"/>
          <p:nvPr/>
        </p:nvSpPr>
        <p:spPr>
          <a:xfrm>
            <a:off x="9185148" y="5385816"/>
            <a:ext cx="13213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5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Gap, blast radius and what-if answered in under a second</a:t>
            </a:r>
            <a:endParaRPr lang="en-US" sz="580" dirty="0"/>
          </a:p>
        </p:txBody>
      </p:sp>
      <p:sp>
        <p:nvSpPr>
          <p:cNvPr id="184" name="Text 182"/>
          <p:cNvSpPr txBox="1"/>
          <p:nvPr/>
        </p:nvSpPr>
        <p:spPr>
          <a:xfrm>
            <a:off x="10565892" y="905256"/>
            <a:ext cx="640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00" dirty="0">
                <a:solidFill>
                  <a:srgbClr val="9AA4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500" dirty="0"/>
          </a:p>
        </p:txBody>
      </p:sp>
      <p:sp>
        <p:nvSpPr>
          <p:cNvPr id="185" name="Shape 183"/>
          <p:cNvSpPr/>
          <p:nvPr/>
        </p:nvSpPr>
        <p:spPr>
          <a:xfrm>
            <a:off x="10623042" y="722376"/>
            <a:ext cx="1449324" cy="530352"/>
          </a:xfrm>
          <a:prstGeom prst="rect">
            <a:avLst/>
          </a:prstGeom>
          <a:solidFill>
            <a:srgbClr val="00757F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10677906" y="768096"/>
            <a:ext cx="13395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8</a:t>
            </a:r>
            <a:endParaRPr lang="en-US" sz="700" dirty="0"/>
          </a:p>
        </p:txBody>
      </p:sp>
      <p:sp>
        <p:nvSpPr>
          <p:cNvPr id="187" name="Text 185"/>
          <p:cNvSpPr txBox="1"/>
          <p:nvPr/>
        </p:nvSpPr>
        <p:spPr>
          <a:xfrm>
            <a:off x="10659618" y="886968"/>
            <a:ext cx="13761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Engines and API</a:t>
            </a:r>
            <a:endParaRPr lang="en-US" sz="900" dirty="0"/>
          </a:p>
        </p:txBody>
      </p:sp>
      <p:sp>
        <p:nvSpPr>
          <p:cNvPr id="188" name="Text 186"/>
          <p:cNvSpPr txBox="1"/>
          <p:nvPr/>
        </p:nvSpPr>
        <p:spPr>
          <a:xfrm>
            <a:off x="10668762" y="1115568"/>
            <a:ext cx="1357884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550" i="1" dirty="0">
                <a:solidFill>
                  <a:srgbClr val="E8F0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library on verified facts</a:t>
            </a:r>
            <a:endParaRPr lang="en-US" sz="550" dirty="0"/>
          </a:p>
        </p:txBody>
      </p:sp>
      <p:sp>
        <p:nvSpPr>
          <p:cNvPr id="189" name="Shape 187"/>
          <p:cNvSpPr/>
          <p:nvPr/>
        </p:nvSpPr>
        <p:spPr>
          <a:xfrm>
            <a:off x="10623042" y="1271016"/>
            <a:ext cx="1449324" cy="4379976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10687050" y="1367028"/>
            <a:ext cx="64008" cy="64008"/>
          </a:xfrm>
          <a:prstGeom prst="rect">
            <a:avLst/>
          </a:prstGeom>
          <a:solidFill>
            <a:srgbClr val="00757F"/>
          </a:solidFill>
          <a:ln/>
        </p:spPr>
      </p:sp>
      <p:sp>
        <p:nvSpPr>
          <p:cNvPr id="191" name="Text 189"/>
          <p:cNvSpPr txBox="1"/>
          <p:nvPr/>
        </p:nvSpPr>
        <p:spPr>
          <a:xfrm>
            <a:off x="10787634" y="1335024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engines</a:t>
            </a:r>
            <a:endParaRPr lang="en-US" sz="650" dirty="0"/>
          </a:p>
        </p:txBody>
      </p:sp>
      <p:sp>
        <p:nvSpPr>
          <p:cNvPr id="192" name="Text 190"/>
          <p:cNvSpPr txBox="1"/>
          <p:nvPr/>
        </p:nvSpPr>
        <p:spPr>
          <a:xfrm>
            <a:off x="10714482" y="1481328"/>
            <a:ext cx="1284732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access_gap() demand, no supply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idle_supply_gap() supply, no demand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capability_credential_gap()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service_line_completeness()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leakage_gap(), adequacy_gap()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single_point_of_failure()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volume_threshold_gap()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patient_care_gap()</a:t>
            </a:r>
            <a:endParaRPr lang="en-US" sz="550" dirty="0"/>
          </a:p>
        </p:txBody>
      </p:sp>
      <p:sp>
        <p:nvSpPr>
          <p:cNvPr id="193" name="Shape 191"/>
          <p:cNvSpPr/>
          <p:nvPr/>
        </p:nvSpPr>
        <p:spPr>
          <a:xfrm>
            <a:off x="10687050" y="2371039"/>
            <a:ext cx="64008" cy="64008"/>
          </a:xfrm>
          <a:prstGeom prst="rect">
            <a:avLst/>
          </a:prstGeom>
          <a:solidFill>
            <a:srgbClr val="00757F"/>
          </a:solidFill>
          <a:ln/>
        </p:spPr>
      </p:sp>
      <p:sp>
        <p:nvSpPr>
          <p:cNvPr id="194" name="Text 192"/>
          <p:cNvSpPr txBox="1"/>
          <p:nvPr/>
        </p:nvSpPr>
        <p:spPr>
          <a:xfrm>
            <a:off x="10787634" y="2339035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API</a:t>
            </a:r>
            <a:endParaRPr lang="en-US" sz="650" dirty="0"/>
          </a:p>
        </p:txBody>
      </p:sp>
      <p:sp>
        <p:nvSpPr>
          <p:cNvPr id="195" name="Text 193"/>
          <p:cNvSpPr txBox="1"/>
          <p:nvPr/>
        </p:nvSpPr>
        <p:spPr>
          <a:xfrm>
            <a:off x="10714482" y="2485339"/>
            <a:ext cx="1284732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graph.query, gap.rank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whatif.simulate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cohort.build, evidence.path</a:t>
            </a:r>
            <a:endParaRPr lang="en-US" sz="550" dirty="0"/>
          </a:p>
        </p:txBody>
      </p:sp>
      <p:sp>
        <p:nvSpPr>
          <p:cNvPr id="196" name="Shape 194"/>
          <p:cNvSpPr/>
          <p:nvPr/>
        </p:nvSpPr>
        <p:spPr>
          <a:xfrm>
            <a:off x="10687050" y="2890418"/>
            <a:ext cx="64008" cy="64008"/>
          </a:xfrm>
          <a:prstGeom prst="rect">
            <a:avLst/>
          </a:prstGeom>
          <a:solidFill>
            <a:srgbClr val="00757F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10787634" y="2858414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surface</a:t>
            </a:r>
            <a:endParaRPr lang="en-US" sz="650" dirty="0"/>
          </a:p>
        </p:txBody>
      </p:sp>
      <p:sp>
        <p:nvSpPr>
          <p:cNvPr id="198" name="Text 196"/>
          <p:cNvSpPr txBox="1"/>
          <p:nvPr/>
        </p:nvSpPr>
        <p:spPr>
          <a:xfrm>
            <a:off x="10714482" y="3004718"/>
            <a:ext cx="1284732" cy="4069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language, cited nodes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Refuses below the evidence floor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carries its date</a:t>
            </a:r>
            <a:endParaRPr lang="en-US" sz="550" dirty="0"/>
          </a:p>
        </p:txBody>
      </p:sp>
      <p:sp>
        <p:nvSpPr>
          <p:cNvPr id="199" name="Shape 197"/>
          <p:cNvSpPr/>
          <p:nvPr/>
        </p:nvSpPr>
        <p:spPr>
          <a:xfrm>
            <a:off x="10687050" y="3409798"/>
            <a:ext cx="64008" cy="64008"/>
          </a:xfrm>
          <a:prstGeom prst="rect">
            <a:avLst/>
          </a:prstGeom>
          <a:solidFill>
            <a:srgbClr val="00757F"/>
          </a:solidFill>
          <a:ln/>
        </p:spPr>
      </p:sp>
      <p:sp>
        <p:nvSpPr>
          <p:cNvPr id="200" name="Text 198"/>
          <p:cNvSpPr txBox="1"/>
          <p:nvPr/>
        </p:nvSpPr>
        <p:spPr>
          <a:xfrm>
            <a:off x="10787634" y="3377794"/>
            <a:ext cx="12207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75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contract</a:t>
            </a:r>
            <a:endParaRPr lang="en-US" sz="650" dirty="0"/>
          </a:p>
        </p:txBody>
      </p:sp>
      <p:sp>
        <p:nvSpPr>
          <p:cNvPr id="201" name="Text 199"/>
          <p:cNvSpPr txBox="1"/>
          <p:nvPr/>
        </p:nvSpPr>
        <p:spPr>
          <a:xfrm>
            <a:off x="10714482" y="3524098"/>
            <a:ext cx="12847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gap with evidence path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and volume affected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action and owner</a:t>
            </a:r>
            <a:endParaRPr lang="en-US" sz="550" dirty="0"/>
          </a:p>
          <a:p>
            <a:pPr marL="342900" indent="-342900">
              <a:lnSpc>
                <a:spcPct val="95000"/>
              </a:lnSpc>
              <a:spcAft>
                <a:spcPts val="100"/>
              </a:spcAft>
              <a:buSzPct val="100000"/>
              <a:buChar char="▪"/>
            </a:pPr>
            <a:r>
              <a:rPr lang="en-US" sz="5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ready for activation</a:t>
            </a:r>
            <a:endParaRPr lang="en-US" sz="550" dirty="0"/>
          </a:p>
        </p:txBody>
      </p:sp>
      <p:sp>
        <p:nvSpPr>
          <p:cNvPr id="202" name="Shape 200"/>
          <p:cNvSpPr/>
          <p:nvPr/>
        </p:nvSpPr>
        <p:spPr>
          <a:xfrm>
            <a:off x="10623042" y="5230368"/>
            <a:ext cx="1449324" cy="420624"/>
          </a:xfrm>
          <a:prstGeom prst="rect">
            <a:avLst/>
          </a:prstGeom>
          <a:solidFill>
            <a:srgbClr val="00757F"/>
          </a:solidFill>
          <a:ln/>
        </p:spPr>
      </p:sp>
      <p:sp>
        <p:nvSpPr>
          <p:cNvPr id="203" name="Text 201"/>
          <p:cNvSpPr txBox="1"/>
          <p:nvPr/>
        </p:nvSpPr>
        <p:spPr>
          <a:xfrm>
            <a:off x="10687050" y="5266944"/>
            <a:ext cx="132130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b="1" spc="40" kern="0" dirty="0">
                <a:solidFill>
                  <a:srgbClr val="D8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GET</a:t>
            </a:r>
            <a:endParaRPr lang="en-US" sz="550" dirty="0"/>
          </a:p>
        </p:txBody>
      </p:sp>
      <p:sp>
        <p:nvSpPr>
          <p:cNvPr id="204" name="Text 202"/>
          <p:cNvSpPr txBox="1"/>
          <p:nvPr/>
        </p:nvSpPr>
        <p:spPr>
          <a:xfrm>
            <a:off x="10687050" y="5385816"/>
            <a:ext cx="13213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5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Ranked, explainable gaps with the action already attached</a:t>
            </a:r>
            <a:endParaRPr lang="en-US" sz="580" dirty="0"/>
          </a:p>
        </p:txBody>
      </p:sp>
      <p:sp>
        <p:nvSpPr>
          <p:cNvPr id="205" name="Text 203"/>
          <p:cNvSpPr txBox="1"/>
          <p:nvPr/>
        </p:nvSpPr>
        <p:spPr>
          <a:xfrm>
            <a:off x="109728" y="5724144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55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</a:t>
            </a:r>
            <a:endParaRPr lang="en-US" sz="550" dirty="0"/>
          </a:p>
          <a:p>
            <a:pPr indent="0" marL="0">
              <a:lnSpc>
                <a:spcPct val="95000"/>
              </a:lnSpc>
              <a:buNone/>
            </a:pPr>
            <a:r>
              <a:rPr lang="en-US" sz="550" b="1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LAYERS</a:t>
            </a:r>
            <a:endParaRPr lang="en-US" sz="550" dirty="0"/>
          </a:p>
        </p:txBody>
      </p:sp>
      <p:sp>
        <p:nvSpPr>
          <p:cNvPr id="206" name="Shape 204"/>
          <p:cNvSpPr/>
          <p:nvPr/>
        </p:nvSpPr>
        <p:spPr>
          <a:xfrm>
            <a:off x="1097280" y="5724144"/>
            <a:ext cx="1517904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1152144" y="5806440"/>
            <a:ext cx="54864" cy="73152"/>
          </a:xfrm>
          <a:prstGeom prst="rect">
            <a:avLst/>
          </a:prstGeom>
          <a:solidFill>
            <a:srgbClr val="1B6BC0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1234440" y="5724144"/>
            <a:ext cx="1335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only API  ·  FHIR plus roster</a:t>
            </a:r>
            <a:endParaRPr lang="en-US" sz="530" dirty="0"/>
          </a:p>
        </p:txBody>
      </p:sp>
      <p:sp>
        <p:nvSpPr>
          <p:cNvPr id="209" name="Shape 207"/>
          <p:cNvSpPr/>
          <p:nvPr/>
        </p:nvSpPr>
        <p:spPr>
          <a:xfrm>
            <a:off x="2679192" y="5724144"/>
            <a:ext cx="1517904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2734056" y="5806440"/>
            <a:ext cx="54864" cy="73152"/>
          </a:xfrm>
          <a:prstGeom prst="rect">
            <a:avLst/>
          </a:prstGeom>
          <a:solidFill>
            <a:srgbClr val="0E8A7D"/>
          </a:solidFill>
          <a:ln/>
        </p:spPr>
      </p:sp>
      <p:sp>
        <p:nvSpPr>
          <p:cNvPr id="211" name="Text 209"/>
          <p:cNvSpPr txBox="1"/>
          <p:nvPr/>
        </p:nvSpPr>
        <p:spPr>
          <a:xfrm>
            <a:off x="2816352" y="5724144"/>
            <a:ext cx="1335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artifact: bytes plus hash</a:t>
            </a:r>
            <a:endParaRPr lang="en-US" sz="530" dirty="0"/>
          </a:p>
        </p:txBody>
      </p:sp>
      <p:sp>
        <p:nvSpPr>
          <p:cNvPr id="212" name="Shape 210"/>
          <p:cNvSpPr/>
          <p:nvPr/>
        </p:nvSpPr>
        <p:spPr>
          <a:xfrm>
            <a:off x="4261104" y="5724144"/>
            <a:ext cx="1517904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4315968" y="5806440"/>
            <a:ext cx="54864" cy="73152"/>
          </a:xfrm>
          <a:prstGeom prst="rect">
            <a:avLst/>
          </a:prstGeom>
          <a:solidFill>
            <a:srgbClr val="7A4FC0"/>
          </a:solidFill>
          <a:ln/>
        </p:spPr>
      </p:sp>
      <p:sp>
        <p:nvSpPr>
          <p:cNvPr id="214" name="Text 212"/>
          <p:cNvSpPr txBox="1"/>
          <p:nvPr/>
        </p:nvSpPr>
        <p:spPr>
          <a:xfrm>
            <a:off x="4398264" y="5724144"/>
            <a:ext cx="1335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entities plus provenance</a:t>
            </a:r>
            <a:endParaRPr lang="en-US" sz="530" dirty="0"/>
          </a:p>
        </p:txBody>
      </p:sp>
      <p:sp>
        <p:nvSpPr>
          <p:cNvPr id="215" name="Shape 213"/>
          <p:cNvSpPr/>
          <p:nvPr/>
        </p:nvSpPr>
        <p:spPr>
          <a:xfrm>
            <a:off x="5843016" y="5724144"/>
            <a:ext cx="1517904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>
            <a:off x="5897880" y="5806440"/>
            <a:ext cx="54864" cy="73152"/>
          </a:xfrm>
          <a:prstGeom prst="rect">
            <a:avLst/>
          </a:prstGeom>
          <a:solidFill>
            <a:srgbClr val="C2185B"/>
          </a:solidFill>
          <a:ln/>
        </p:spPr>
      </p:sp>
      <p:sp>
        <p:nvSpPr>
          <p:cNvPr id="217" name="Text 215"/>
          <p:cNvSpPr txBox="1"/>
          <p:nvPr/>
        </p:nvSpPr>
        <p:spPr>
          <a:xfrm>
            <a:off x="5980176" y="5724144"/>
            <a:ext cx="1335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CareNetworkContext objects</a:t>
            </a:r>
            <a:endParaRPr lang="en-US" sz="530" dirty="0"/>
          </a:p>
        </p:txBody>
      </p:sp>
      <p:sp>
        <p:nvSpPr>
          <p:cNvPr id="218" name="Shape 216"/>
          <p:cNvSpPr/>
          <p:nvPr/>
        </p:nvSpPr>
        <p:spPr>
          <a:xfrm>
            <a:off x="7424928" y="5724144"/>
            <a:ext cx="1517904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7479792" y="5806440"/>
            <a:ext cx="54864" cy="73152"/>
          </a:xfrm>
          <a:prstGeom prst="rect">
            <a:avLst/>
          </a:prstGeom>
          <a:solidFill>
            <a:srgbClr val="C77400"/>
          </a:solidFill>
          <a:ln/>
        </p:spPr>
      </p:sp>
      <p:sp>
        <p:nvSpPr>
          <p:cNvPr id="220" name="Text 218"/>
          <p:cNvSpPr txBox="1"/>
          <p:nvPr/>
        </p:nvSpPr>
        <p:spPr>
          <a:xfrm>
            <a:off x="7562088" y="5724144"/>
            <a:ext cx="1335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neutral JSON snapshot</a:t>
            </a:r>
            <a:endParaRPr lang="en-US" sz="530" dirty="0"/>
          </a:p>
        </p:txBody>
      </p:sp>
      <p:sp>
        <p:nvSpPr>
          <p:cNvPr id="221" name="Shape 219"/>
          <p:cNvSpPr/>
          <p:nvPr/>
        </p:nvSpPr>
        <p:spPr>
          <a:xfrm>
            <a:off x="9006840" y="5724144"/>
            <a:ext cx="1517904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9061704" y="5806440"/>
            <a:ext cx="54864" cy="73152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223" name="Text 221"/>
          <p:cNvSpPr txBox="1"/>
          <p:nvPr/>
        </p:nvSpPr>
        <p:spPr>
          <a:xfrm>
            <a:off x="9144000" y="5724144"/>
            <a:ext cx="1335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derived edges plus dated indices</a:t>
            </a:r>
            <a:endParaRPr lang="en-US" sz="530" dirty="0"/>
          </a:p>
        </p:txBody>
      </p:sp>
      <p:sp>
        <p:nvSpPr>
          <p:cNvPr id="224" name="Shape 222"/>
          <p:cNvSpPr/>
          <p:nvPr/>
        </p:nvSpPr>
        <p:spPr>
          <a:xfrm>
            <a:off x="10588752" y="5724144"/>
            <a:ext cx="1517904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10643616" y="5806440"/>
            <a:ext cx="54864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26" name="Text 224"/>
          <p:cNvSpPr txBox="1"/>
          <p:nvPr/>
        </p:nvSpPr>
        <p:spPr>
          <a:xfrm>
            <a:off x="10725912" y="5724144"/>
            <a:ext cx="1335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graph  ·  traversals ready</a:t>
            </a:r>
            <a:endParaRPr lang="en-US" sz="530" dirty="0"/>
          </a:p>
        </p:txBody>
      </p:sp>
      <p:sp>
        <p:nvSpPr>
          <p:cNvPr id="227" name="Shape 225"/>
          <p:cNvSpPr/>
          <p:nvPr/>
        </p:nvSpPr>
        <p:spPr>
          <a:xfrm>
            <a:off x="109728" y="6053328"/>
            <a:ext cx="293751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192024" y="6135624"/>
            <a:ext cx="73152" cy="73152"/>
          </a:xfrm>
          <a:prstGeom prst="rect">
            <a:avLst/>
          </a:prstGeom>
          <a:solidFill>
            <a:srgbClr val="7A4FC0"/>
          </a:solidFill>
          <a:ln/>
        </p:spPr>
      </p:sp>
      <p:sp>
        <p:nvSpPr>
          <p:cNvPr id="229" name="Text 227"/>
          <p:cNvSpPr txBox="1"/>
          <p:nvPr/>
        </p:nvSpPr>
        <p:spPr>
          <a:xfrm>
            <a:off x="310896" y="6099048"/>
            <a:ext cx="2651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7A4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 and authority</a:t>
            </a:r>
            <a:endParaRPr lang="en-US" sz="700" dirty="0"/>
          </a:p>
        </p:txBody>
      </p:sp>
      <p:sp>
        <p:nvSpPr>
          <p:cNvPr id="230" name="Text 228"/>
          <p:cNvSpPr txBox="1"/>
          <p:nvPr/>
        </p:nvSpPr>
        <p:spPr>
          <a:xfrm>
            <a:off x="192024" y="627278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56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node and edge carries source, extract id, content hash, retrievedAt and derivation (FACTUAL | INFERRED | MODELLED). Authority stays with the source system. The graph never becomes the system of record for a clinical fact.</a:t>
            </a:r>
            <a:endParaRPr lang="en-US" sz="560" dirty="0"/>
          </a:p>
        </p:txBody>
      </p:sp>
      <p:sp>
        <p:nvSpPr>
          <p:cNvPr id="231" name="Shape 229"/>
          <p:cNvSpPr/>
          <p:nvPr/>
        </p:nvSpPr>
        <p:spPr>
          <a:xfrm>
            <a:off x="3120390" y="6053328"/>
            <a:ext cx="293751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232" name="Shape 230"/>
          <p:cNvSpPr/>
          <p:nvPr/>
        </p:nvSpPr>
        <p:spPr>
          <a:xfrm>
            <a:off x="3202686" y="6135624"/>
            <a:ext cx="73152" cy="73152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233" name="Text 231"/>
          <p:cNvSpPr txBox="1"/>
          <p:nvPr/>
        </p:nvSpPr>
        <p:spPr>
          <a:xfrm>
            <a:off x="3321558" y="6099048"/>
            <a:ext cx="2651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and three identities</a:t>
            </a:r>
            <a:endParaRPr lang="en-US" sz="700" dirty="0"/>
          </a:p>
        </p:txBody>
      </p:sp>
      <p:sp>
        <p:nvSpPr>
          <p:cNvPr id="234" name="Text 232"/>
          <p:cNvSpPr txBox="1"/>
          <p:nvPr/>
        </p:nvSpPr>
        <p:spPr>
          <a:xfrm>
            <a:off x="3202686" y="627278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56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 graph: de-identified and tokenised, no MRN. Operational graph: limited data set under BAA, for outreach only. Identified access: role based, minimum necessary enforced at the query layer. Model endpoints see aggregates unless BAA covered.</a:t>
            </a:r>
            <a:endParaRPr lang="en-US" sz="560" dirty="0"/>
          </a:p>
        </p:txBody>
      </p:sp>
      <p:sp>
        <p:nvSpPr>
          <p:cNvPr id="235" name="Shape 233"/>
          <p:cNvSpPr/>
          <p:nvPr/>
        </p:nvSpPr>
        <p:spPr>
          <a:xfrm>
            <a:off x="6131052" y="6053328"/>
            <a:ext cx="293751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236" name="Shape 234"/>
          <p:cNvSpPr/>
          <p:nvPr/>
        </p:nvSpPr>
        <p:spPr>
          <a:xfrm>
            <a:off x="6213348" y="6135624"/>
            <a:ext cx="73152" cy="73152"/>
          </a:xfrm>
          <a:prstGeom prst="rect">
            <a:avLst/>
          </a:prstGeom>
          <a:solidFill>
            <a:srgbClr val="1B6BC0"/>
          </a:solidFill>
          <a:ln/>
        </p:spPr>
      </p:sp>
      <p:sp>
        <p:nvSpPr>
          <p:cNvPr id="237" name="Text 235"/>
          <p:cNvSpPr txBox="1"/>
          <p:nvPr/>
        </p:nvSpPr>
        <p:spPr>
          <a:xfrm>
            <a:off x="6332220" y="6099048"/>
            <a:ext cx="2651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1B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and traceability</a:t>
            </a:r>
            <a:endParaRPr lang="en-US" sz="700" dirty="0"/>
          </a:p>
        </p:txBody>
      </p:sp>
      <p:sp>
        <p:nvSpPr>
          <p:cNvPr id="238" name="Text 236"/>
          <p:cNvSpPr txBox="1"/>
          <p:nvPr/>
        </p:nvSpPr>
        <p:spPr>
          <a:xfrm>
            <a:off x="6213348" y="627278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56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gap resolves back to the source rows that produced it. Every query, answer and cohort is logged with user, timestamp, snapshot id and the evidence path returned. A gap that cannot be replayed is not published.</a:t>
            </a:r>
            <a:endParaRPr lang="en-US" sz="560" dirty="0"/>
          </a:p>
        </p:txBody>
      </p:sp>
      <p:sp>
        <p:nvSpPr>
          <p:cNvPr id="239" name="Shape 237"/>
          <p:cNvSpPr/>
          <p:nvPr/>
        </p:nvSpPr>
        <p:spPr>
          <a:xfrm>
            <a:off x="9141714" y="6053328"/>
            <a:ext cx="293751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240" name="Shape 238"/>
          <p:cNvSpPr/>
          <p:nvPr/>
        </p:nvSpPr>
        <p:spPr>
          <a:xfrm>
            <a:off x="9224010" y="6135624"/>
            <a:ext cx="73152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41" name="Text 239"/>
          <p:cNvSpPr txBox="1"/>
          <p:nvPr/>
        </p:nvSpPr>
        <p:spPr>
          <a:xfrm>
            <a:off x="9342882" y="6099048"/>
            <a:ext cx="26517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of the proof</a:t>
            </a:r>
            <a:endParaRPr lang="en-US" sz="700" dirty="0"/>
          </a:p>
        </p:txBody>
      </p:sp>
      <p:sp>
        <p:nvSpPr>
          <p:cNvPr id="242" name="Text 240"/>
          <p:cNvSpPr txBox="1"/>
          <p:nvPr/>
        </p:nvSpPr>
        <p:spPr>
          <a:xfrm>
            <a:off x="9224010" y="6272784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56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market, two service lines, ninety days. Build order: identity, then graph, then two gap engines, then one what-if. Success is a gap list that a clinical leader and a network leader both sign.</a:t>
            </a:r>
            <a:endParaRPr lang="en-US" sz="5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0E1B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28016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SCENARIOS, ONE ENGINE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47472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provider, facility and patient graph answers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8869680" y="201168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i="1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scenario is the same query shape:</a:t>
            </a:r>
            <a:endParaRPr lang="en-US" sz="8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850" i="1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demand path exists, the supply path does not.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109728" y="987552"/>
            <a:ext cx="2916936" cy="274320"/>
          </a:xfrm>
          <a:prstGeom prst="rect">
            <a:avLst/>
          </a:prstGeom>
          <a:solidFill>
            <a:srgbClr val="1B6BC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19456" y="987552"/>
            <a:ext cx="2734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 ·  SUPPLY AND DEMAND MISMATCH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09728" y="1353312"/>
            <a:ext cx="2916936" cy="1481328"/>
          </a:xfrm>
          <a:prstGeom prst="rect">
            <a:avLst/>
          </a:prstGeom>
          <a:solidFill>
            <a:srgbClr val="F4F6F8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37744" y="1463040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Demand without supply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37744" y="1828800"/>
            <a:ext cx="26609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b="1" spc="5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GRAPH</a:t>
            </a:r>
            <a:endParaRPr lang="en-US" sz="580" dirty="0"/>
          </a:p>
        </p:txBody>
      </p:sp>
      <p:sp>
        <p:nvSpPr>
          <p:cNvPr id="11" name="Text 9"/>
          <p:cNvSpPr txBox="1"/>
          <p:nvPr/>
        </p:nvSpPr>
        <p:spPr>
          <a:xfrm>
            <a:off x="237744" y="1965960"/>
            <a:ext cx="2660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has inflow for a service line and no credentialed provider inside the drive time band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37744" y="2450592"/>
            <a:ext cx="64008" cy="64008"/>
          </a:xfrm>
          <a:prstGeom prst="rect">
            <a:avLst/>
          </a:prstGeom>
          <a:solidFill>
            <a:srgbClr val="1B6BC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6616" y="2414016"/>
            <a:ext cx="2532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1B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Recruit, locum, telehealth or a transfer agreement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109728" y="2944368"/>
            <a:ext cx="2916936" cy="1481328"/>
          </a:xfrm>
          <a:prstGeom prst="rect">
            <a:avLst/>
          </a:prstGeom>
          <a:solidFill>
            <a:srgbClr val="F4F6F8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37744" y="3054096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Supply without demand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237744" y="3419856"/>
            <a:ext cx="26609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b="1" spc="5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GRAPH</a:t>
            </a:r>
            <a:endParaRPr lang="en-US" sz="580" dirty="0"/>
          </a:p>
        </p:txBody>
      </p:sp>
      <p:sp>
        <p:nvSpPr>
          <p:cNvPr id="17" name="Text 15"/>
          <p:cNvSpPr txBox="1"/>
          <p:nvPr/>
        </p:nvSpPr>
        <p:spPr>
          <a:xfrm>
            <a:off x="237744" y="3557016"/>
            <a:ext cx="2660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and slots exist, encounter volume sits in the bottom decile for the peer group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37744" y="4041648"/>
            <a:ext cx="64008" cy="64008"/>
          </a:xfrm>
          <a:prstGeom prst="rect">
            <a:avLst/>
          </a:prstGeom>
          <a:solidFill>
            <a:srgbClr val="1B6BC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56616" y="4005072"/>
            <a:ext cx="2532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1B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Redeploy sessions, re-market, resize the template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109728" y="4535424"/>
            <a:ext cx="2916936" cy="1481328"/>
          </a:xfrm>
          <a:prstGeom prst="rect">
            <a:avLst/>
          </a:prstGeom>
          <a:solidFill>
            <a:srgbClr val="F4F6F8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37744" y="4645152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Capability and credential mismatch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37744" y="5010912"/>
            <a:ext cx="26609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b="1" spc="5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GRAPH</a:t>
            </a:r>
            <a:endParaRPr lang="en-US" sz="580" dirty="0"/>
          </a:p>
        </p:txBody>
      </p:sp>
      <p:sp>
        <p:nvSpPr>
          <p:cNvPr id="23" name="Text 21"/>
          <p:cNvSpPr txBox="1"/>
          <p:nvPr/>
        </p:nvSpPr>
        <p:spPr>
          <a:xfrm>
            <a:off x="237744" y="5148072"/>
            <a:ext cx="2660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site holds the asset, cath lab, MRI, L and D, with nobody privileged to use it, or the reverse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237744" y="5632704"/>
            <a:ext cx="64008" cy="64008"/>
          </a:xfrm>
          <a:prstGeom prst="rect">
            <a:avLst/>
          </a:prstGeom>
          <a:solidFill>
            <a:srgbClr val="1B6BC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56616" y="5596128"/>
            <a:ext cx="2532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1B6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Privilege, credential, or move the asset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3120390" y="987552"/>
            <a:ext cx="2916936" cy="274320"/>
          </a:xfrm>
          <a:prstGeom prst="rect">
            <a:avLst/>
          </a:prstGeom>
          <a:solidFill>
            <a:srgbClr val="C2185B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230118" y="987552"/>
            <a:ext cx="2734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 ·  NETWORK COMPLETENESS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120390" y="1353312"/>
            <a:ext cx="2916936" cy="1481328"/>
          </a:xfrm>
          <a:prstGeom prst="rect">
            <a:avLst/>
          </a:prstGeom>
          <a:solidFill>
            <a:srgbClr val="F4F6F8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48406" y="1463040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Incomplete service line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248406" y="1828800"/>
            <a:ext cx="26609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b="1" spc="5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GRAPH</a:t>
            </a:r>
            <a:endParaRPr lang="en-US" sz="580" dirty="0"/>
          </a:p>
        </p:txBody>
      </p:sp>
      <p:sp>
        <p:nvSpPr>
          <p:cNvPr id="31" name="Text 29"/>
          <p:cNvSpPr txBox="1"/>
          <p:nvPr/>
        </p:nvSpPr>
        <p:spPr>
          <a:xfrm>
            <a:off x="3248406" y="1965960"/>
            <a:ext cx="2660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requires N specialties and the site has N minus one, so care finishes somewhere else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248406" y="2450592"/>
            <a:ext cx="64008" cy="64008"/>
          </a:xfrm>
          <a:prstGeom prst="rect">
            <a:avLst/>
          </a:prstGeom>
          <a:solidFill>
            <a:srgbClr val="C2185B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367278" y="2414016"/>
            <a:ext cx="2532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C21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one gap that unlocks the whole line</a:t>
            </a:r>
            <a:endParaRPr lang="en-US" sz="820" dirty="0"/>
          </a:p>
        </p:txBody>
      </p:sp>
      <p:sp>
        <p:nvSpPr>
          <p:cNvPr id="34" name="Shape 32"/>
          <p:cNvSpPr/>
          <p:nvPr/>
        </p:nvSpPr>
        <p:spPr>
          <a:xfrm>
            <a:off x="3120390" y="2944368"/>
            <a:ext cx="2916936" cy="1481328"/>
          </a:xfrm>
          <a:prstGeom prst="rect">
            <a:avLst/>
          </a:prstGeom>
          <a:solidFill>
            <a:srgbClr val="F4F6F8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248406" y="3054096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Single point of failure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3248406" y="3419856"/>
            <a:ext cx="26609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b="1" spc="5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GRAPH</a:t>
            </a:r>
            <a:endParaRPr lang="en-US" sz="580" dirty="0"/>
          </a:p>
        </p:txBody>
      </p:sp>
      <p:sp>
        <p:nvSpPr>
          <p:cNvPr id="37" name="Text 35"/>
          <p:cNvSpPr txBox="1"/>
          <p:nvPr/>
        </p:nvSpPr>
        <p:spPr>
          <a:xfrm>
            <a:off x="3248406" y="3557016"/>
            <a:ext cx="2660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provider is the only path to a service line in a county, and the graph says who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248406" y="4041648"/>
            <a:ext cx="64008" cy="64008"/>
          </a:xfrm>
          <a:prstGeom prst="rect">
            <a:avLst/>
          </a:prstGeom>
          <a:solidFill>
            <a:srgbClr val="C2185B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367278" y="4005072"/>
            <a:ext cx="2532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C21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Succession and cross cover, blast radius quantified</a:t>
            </a:r>
            <a:endParaRPr lang="en-US" sz="820" dirty="0"/>
          </a:p>
        </p:txBody>
      </p:sp>
      <p:sp>
        <p:nvSpPr>
          <p:cNvPr id="40" name="Shape 38"/>
          <p:cNvSpPr/>
          <p:nvPr/>
        </p:nvSpPr>
        <p:spPr>
          <a:xfrm>
            <a:off x="3120390" y="4535424"/>
            <a:ext cx="2916936" cy="1481328"/>
          </a:xfrm>
          <a:prstGeom prst="rect">
            <a:avLst/>
          </a:prstGeom>
          <a:solidFill>
            <a:srgbClr val="F4F6F8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248406" y="4645152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 Volume below threshold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3248406" y="5010912"/>
            <a:ext cx="26609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b="1" spc="5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GRAPH</a:t>
            </a:r>
            <a:endParaRPr lang="en-US" sz="580" dirty="0"/>
          </a:p>
        </p:txBody>
      </p:sp>
      <p:sp>
        <p:nvSpPr>
          <p:cNvPr id="43" name="Text 41"/>
          <p:cNvSpPr txBox="1"/>
          <p:nvPr/>
        </p:nvSpPr>
        <p:spPr>
          <a:xfrm>
            <a:off x="3248406" y="5148072"/>
            <a:ext cx="2660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procedures performed under the safe volume floor for that site or provider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3248406" y="5632704"/>
            <a:ext cx="64008" cy="64008"/>
          </a:xfrm>
          <a:prstGeom prst="rect">
            <a:avLst/>
          </a:prstGeom>
          <a:solidFill>
            <a:srgbClr val="C2185B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367278" y="5596128"/>
            <a:ext cx="2532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C21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 or refer, with the quality risk named</a:t>
            </a:r>
            <a:endParaRPr lang="en-US" sz="820" dirty="0"/>
          </a:p>
        </p:txBody>
      </p:sp>
      <p:sp>
        <p:nvSpPr>
          <p:cNvPr id="46" name="Shape 44"/>
          <p:cNvSpPr/>
          <p:nvPr/>
        </p:nvSpPr>
        <p:spPr>
          <a:xfrm>
            <a:off x="6131052" y="987552"/>
            <a:ext cx="2916936" cy="274320"/>
          </a:xfrm>
          <a:prstGeom prst="rect">
            <a:avLst/>
          </a:prstGeom>
          <a:solidFill>
            <a:srgbClr val="C77400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240780" y="987552"/>
            <a:ext cx="2734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·  PATIENT FLOW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131052" y="1353312"/>
            <a:ext cx="2916936" cy="1481328"/>
          </a:xfrm>
          <a:prstGeom prst="rect">
            <a:avLst/>
          </a:prstGeom>
          <a:solidFill>
            <a:srgbClr val="F4F6F8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259068" y="1463040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 Referral leakage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259068" y="1828800"/>
            <a:ext cx="26609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b="1" spc="5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GRAPH</a:t>
            </a:r>
            <a:endParaRPr lang="en-US" sz="580" dirty="0"/>
          </a:p>
        </p:txBody>
      </p:sp>
      <p:sp>
        <p:nvSpPr>
          <p:cNvPr id="51" name="Text 49"/>
          <p:cNvSpPr txBox="1"/>
          <p:nvPr/>
        </p:nvSpPr>
        <p:spPr>
          <a:xfrm>
            <a:off x="6259068" y="1965960"/>
            <a:ext cx="2660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Attributed patients treated out of network, traced along the actual referral edges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6259068" y="2450592"/>
            <a:ext cx="64008" cy="64008"/>
          </a:xfrm>
          <a:prstGeom prst="rect">
            <a:avLst/>
          </a:prstGeom>
          <a:solidFill>
            <a:srgbClr val="C77400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377940" y="2414016"/>
            <a:ext cx="2532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C77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Recapture campaign that fixes the reason, not the symptom</a:t>
            </a:r>
            <a:endParaRPr lang="en-US" sz="820" dirty="0"/>
          </a:p>
        </p:txBody>
      </p:sp>
      <p:sp>
        <p:nvSpPr>
          <p:cNvPr id="54" name="Shape 52"/>
          <p:cNvSpPr/>
          <p:nvPr/>
        </p:nvSpPr>
        <p:spPr>
          <a:xfrm>
            <a:off x="6131052" y="2944368"/>
            <a:ext cx="2916936" cy="1481328"/>
          </a:xfrm>
          <a:prstGeom prst="rect">
            <a:avLst/>
          </a:prstGeom>
          <a:solidFill>
            <a:srgbClr val="F4F6F8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259068" y="3054096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 Bypass and travel burden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6259068" y="3419856"/>
            <a:ext cx="26609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b="1" spc="5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GRAPH</a:t>
            </a:r>
            <a:endParaRPr lang="en-US" sz="580" dirty="0"/>
          </a:p>
        </p:txBody>
      </p:sp>
      <p:sp>
        <p:nvSpPr>
          <p:cNvPr id="57" name="Text 55"/>
          <p:cNvSpPr txBox="1"/>
          <p:nvPr/>
        </p:nvSpPr>
        <p:spPr>
          <a:xfrm>
            <a:off x="6259068" y="3557016"/>
            <a:ext cx="2660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drive past a nearer site to reach a farther one, repeatedly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6259068" y="4041648"/>
            <a:ext cx="64008" cy="64008"/>
          </a:xfrm>
          <a:prstGeom prst="rect">
            <a:avLst/>
          </a:prstGeom>
          <a:solidFill>
            <a:srgbClr val="C77400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6377940" y="4005072"/>
            <a:ext cx="2532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C77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Isolates reputation against capability against access</a:t>
            </a:r>
            <a:endParaRPr lang="en-US" sz="820" dirty="0"/>
          </a:p>
        </p:txBody>
      </p:sp>
      <p:sp>
        <p:nvSpPr>
          <p:cNvPr id="60" name="Shape 58"/>
          <p:cNvSpPr/>
          <p:nvPr/>
        </p:nvSpPr>
        <p:spPr>
          <a:xfrm>
            <a:off x="6131052" y="4535424"/>
            <a:ext cx="2916936" cy="1481328"/>
          </a:xfrm>
          <a:prstGeom prst="rect">
            <a:avLst/>
          </a:prstGeom>
          <a:solidFill>
            <a:srgbClr val="F4F6F8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259068" y="4645152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 Referral chain depth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6259068" y="5010912"/>
            <a:ext cx="26609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b="1" spc="5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GRAPH</a:t>
            </a:r>
            <a:endParaRPr lang="en-US" sz="580" dirty="0"/>
          </a:p>
        </p:txBody>
      </p:sp>
      <p:sp>
        <p:nvSpPr>
          <p:cNvPr id="63" name="Text 61"/>
          <p:cNvSpPr txBox="1"/>
          <p:nvPr/>
        </p:nvSpPr>
        <p:spPr>
          <a:xfrm>
            <a:off x="6259068" y="5148072"/>
            <a:ext cx="2660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hops to reach definitive care, every hop measurable in days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6259068" y="5632704"/>
            <a:ext cx="64008" cy="64008"/>
          </a:xfrm>
          <a:prstGeom prst="rect">
            <a:avLst/>
          </a:prstGeom>
          <a:solidFill>
            <a:srgbClr val="C77400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377940" y="5596128"/>
            <a:ext cx="2532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C77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Shorten the path, open a direct access pathway</a:t>
            </a:r>
            <a:endParaRPr lang="en-US" sz="820" dirty="0"/>
          </a:p>
        </p:txBody>
      </p:sp>
      <p:sp>
        <p:nvSpPr>
          <p:cNvPr id="66" name="Shape 64"/>
          <p:cNvSpPr/>
          <p:nvPr/>
        </p:nvSpPr>
        <p:spPr>
          <a:xfrm>
            <a:off x="9141714" y="987552"/>
            <a:ext cx="2916936" cy="27432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9251442" y="987552"/>
            <a:ext cx="2734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 ·  ACCESS, QUALITY AND GROWTH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9141714" y="1353312"/>
            <a:ext cx="2916936" cy="1481328"/>
          </a:xfrm>
          <a:prstGeom prst="rect">
            <a:avLst/>
          </a:prstGeom>
          <a:solidFill>
            <a:srgbClr val="F4F6F8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9269730" y="1463040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Adequacy and access deserts</a:t>
            </a:r>
            <a:endParaRPr lang="en-US" sz="1100" dirty="0"/>
          </a:p>
        </p:txBody>
      </p:sp>
      <p:sp>
        <p:nvSpPr>
          <p:cNvPr id="70" name="Text 68"/>
          <p:cNvSpPr txBox="1"/>
          <p:nvPr/>
        </p:nvSpPr>
        <p:spPr>
          <a:xfrm>
            <a:off x="9269730" y="1828800"/>
            <a:ext cx="26609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b="1" spc="5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GRAPH</a:t>
            </a:r>
            <a:endParaRPr lang="en-US" sz="580" dirty="0"/>
          </a:p>
        </p:txBody>
      </p:sp>
      <p:sp>
        <p:nvSpPr>
          <p:cNvPr id="71" name="Text 69"/>
          <p:cNvSpPr txBox="1"/>
          <p:nvPr/>
        </p:nvSpPr>
        <p:spPr>
          <a:xfrm>
            <a:off x="9269730" y="1965960"/>
            <a:ext cx="2660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CMS time and distance failures by county and specialty, mapped to the graph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9269730" y="2450592"/>
            <a:ext cx="64008" cy="640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9388602" y="2414016"/>
            <a:ext cx="2532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Filing evidence, and the fewest hires that fix the most counties</a:t>
            </a:r>
            <a:endParaRPr lang="en-US" sz="820" dirty="0"/>
          </a:p>
        </p:txBody>
      </p:sp>
      <p:sp>
        <p:nvSpPr>
          <p:cNvPr id="74" name="Shape 72"/>
          <p:cNvSpPr/>
          <p:nvPr/>
        </p:nvSpPr>
        <p:spPr>
          <a:xfrm>
            <a:off x="9141714" y="2944368"/>
            <a:ext cx="2916936" cy="1481328"/>
          </a:xfrm>
          <a:prstGeom prst="rect">
            <a:avLst/>
          </a:prstGeom>
          <a:solidFill>
            <a:srgbClr val="F4F6F8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269730" y="3054096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Inflow high, outcome weak</a:t>
            </a:r>
            <a:endParaRPr lang="en-US" sz="1100" dirty="0"/>
          </a:p>
        </p:txBody>
      </p:sp>
      <p:sp>
        <p:nvSpPr>
          <p:cNvPr id="76" name="Text 74"/>
          <p:cNvSpPr txBox="1"/>
          <p:nvPr/>
        </p:nvSpPr>
        <p:spPr>
          <a:xfrm>
            <a:off x="9269730" y="3419856"/>
            <a:ext cx="26609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b="1" spc="5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GRAPH</a:t>
            </a:r>
            <a:endParaRPr lang="en-US" sz="580" dirty="0"/>
          </a:p>
        </p:txBody>
      </p:sp>
      <p:sp>
        <p:nvSpPr>
          <p:cNvPr id="77" name="Text 75"/>
          <p:cNvSpPr txBox="1"/>
          <p:nvPr/>
        </p:nvSpPr>
        <p:spPr>
          <a:xfrm>
            <a:off x="9269730" y="3557016"/>
            <a:ext cx="2660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in the top decile with risk adjusted O over E above the peer benchmark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9269730" y="4041648"/>
            <a:ext cx="64008" cy="640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9388602" y="4005072"/>
            <a:ext cx="2532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campaign, and steer volume to the strong sites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9141714" y="4535424"/>
            <a:ext cx="2916936" cy="1481328"/>
          </a:xfrm>
          <a:prstGeom prst="rect">
            <a:avLst/>
          </a:prstGeom>
          <a:solidFill>
            <a:srgbClr val="F4F6F8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269730" y="4645152"/>
            <a:ext cx="2660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Hire and site simulation</a:t>
            </a:r>
            <a:endParaRPr lang="en-US" sz="1100" dirty="0"/>
          </a:p>
        </p:txBody>
      </p:sp>
      <p:sp>
        <p:nvSpPr>
          <p:cNvPr id="82" name="Text 80"/>
          <p:cNvSpPr txBox="1"/>
          <p:nvPr/>
        </p:nvSpPr>
        <p:spPr>
          <a:xfrm>
            <a:off x="9269730" y="5010912"/>
            <a:ext cx="26609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b="1" spc="50" kern="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GRAPH</a:t>
            </a:r>
            <a:endParaRPr lang="en-US" sz="580" dirty="0"/>
          </a:p>
        </p:txBody>
      </p:sp>
      <p:sp>
        <p:nvSpPr>
          <p:cNvPr id="83" name="Text 81"/>
          <p:cNvSpPr txBox="1"/>
          <p:nvPr/>
        </p:nvSpPr>
        <p:spPr>
          <a:xfrm>
            <a:off x="9269730" y="5148072"/>
            <a:ext cx="2660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a hypothetical provider or site, re-run every traversal, diff the result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9269730" y="5632704"/>
            <a:ext cx="64008" cy="64008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9388602" y="5596128"/>
            <a:ext cx="25328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2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gaining access and leakage recaptured, before you spend</a:t>
            </a:r>
            <a:endParaRPr lang="en-US" sz="820" dirty="0"/>
          </a:p>
        </p:txBody>
      </p:sp>
      <p:sp>
        <p:nvSpPr>
          <p:cNvPr id="86" name="Shape 84"/>
          <p:cNvSpPr/>
          <p:nvPr/>
        </p:nvSpPr>
        <p:spPr>
          <a:xfrm>
            <a:off x="109728" y="6199632"/>
            <a:ext cx="11969496" cy="457200"/>
          </a:xfrm>
          <a:prstGeom prst="rect">
            <a:avLst/>
          </a:prstGeom>
          <a:solidFill>
            <a:srgbClr val="0E1B2E"/>
          </a:solidFill>
          <a:ln/>
        </p:spPr>
      </p:sp>
      <p:sp>
        <p:nvSpPr>
          <p:cNvPr id="87" name="Shape 85"/>
          <p:cNvSpPr/>
          <p:nvPr/>
        </p:nvSpPr>
        <p:spPr>
          <a:xfrm>
            <a:off x="256032" y="6364224"/>
            <a:ext cx="91440" cy="91440"/>
          </a:xfrm>
          <a:prstGeom prst="rect">
            <a:avLst/>
          </a:prstGeom>
          <a:solidFill>
            <a:srgbClr val="5FD0C0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438912" y="6199632"/>
            <a:ext cx="11521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scenario returns the same four things: the evidence path, the patients affected, the recommended action, and a cohort ready to activate.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0E1B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28016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5FD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47472"/>
            <a:ext cx="8686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Yes. It is a graph problem, not a dashboard problem.</a:t>
            </a:r>
            <a:endParaRPr lang="en-US" sz="2100" dirty="0"/>
          </a:p>
        </p:txBody>
      </p:sp>
      <p:sp>
        <p:nvSpPr>
          <p:cNvPr id="5" name="Text 3"/>
          <p:cNvSpPr txBox="1"/>
          <p:nvPr/>
        </p:nvSpPr>
        <p:spPr>
          <a:xfrm>
            <a:off x="9052560" y="310896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gap is a missing path, not a missing row.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09728" y="1024128"/>
            <a:ext cx="5934456" cy="2340864"/>
          </a:xfrm>
          <a:prstGeom prst="rect">
            <a:avLst/>
          </a:prstGeom>
          <a:solidFill>
            <a:srgbClr val="F4F6F8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0896" y="1261872"/>
            <a:ext cx="100584" cy="100584"/>
          </a:xfrm>
          <a:prstGeom prst="rect">
            <a:avLst/>
          </a:prstGeom>
          <a:solidFill>
            <a:srgbClr val="1B6BC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12064" y="118872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graph and not a report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512064" y="1572768"/>
            <a:ext cx="5349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▪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star schema answers how many cardiologists are in a county</a:t>
            </a:r>
            <a:endParaRPr lang="en-US" sz="95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▪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cannot answer which counties have demand for a service line whose required specialty has no privileged provider within thirty minutes</a:t>
            </a:r>
            <a:endParaRPr lang="en-US" sz="95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▪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variable depth traversal across seven entity types, where the answer is an absent edge</a:t>
            </a:r>
            <a:endParaRPr lang="en-US" sz="95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▪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modelling decision makes it computable: a service line declares what it REQUIRES, so every site and credential can be tested against it automatically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6144768" y="1024128"/>
            <a:ext cx="5934456" cy="2340864"/>
          </a:xfrm>
          <a:prstGeom prst="rect">
            <a:avLst/>
          </a:prstGeom>
          <a:solidFill>
            <a:srgbClr val="F4F6F8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45936" y="1261872"/>
            <a:ext cx="100584" cy="100584"/>
          </a:xfrm>
          <a:prstGeom prst="rect">
            <a:avLst/>
          </a:prstGeom>
          <a:solidFill>
            <a:srgbClr val="C2185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547104" y="118872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must have, and what degrades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547104" y="1572768"/>
            <a:ext cx="5349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▪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have: provider directory with NPI and taxonomy, credentialing roster, encounter or claims history, facility service and capability registry, patient geography</a:t>
            </a:r>
            <a:endParaRPr lang="en-US" sz="95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▪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Degrades gracefully: privileging detail, wait time series, payer contract terms, outcome registries</a:t>
            </a:r>
            <a:endParaRPr lang="en-US" sz="95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▪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bookable supply the capacity index falls back to a proxy, and no slots cannot be separated from a bad template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109728" y="3511296"/>
            <a:ext cx="5934456" cy="2340864"/>
          </a:xfrm>
          <a:prstGeom prst="rect">
            <a:avLst/>
          </a:prstGeom>
          <a:solidFill>
            <a:srgbClr val="F4F6F8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0896" y="3749040"/>
            <a:ext cx="100584" cy="100584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12064" y="367588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five hard problems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12064" y="4059936"/>
            <a:ext cx="5349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▪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resolution is the ceiling on every number. Roster, claims and NPPES disagree about who works where</a:t>
            </a:r>
            <a:endParaRPr lang="en-US" sz="95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▪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Privileging data is usually the weakest source, and scenario three depends on it entirely</a:t>
            </a:r>
            <a:endParaRPr lang="en-US" sz="95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▪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Bookable against booked supply decides whether capacity is real or inferred</a:t>
            </a:r>
            <a:endParaRPr lang="en-US" sz="95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▪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Attribution: whose patient is it. One versioned rule per service line, agreed before build</a:t>
            </a:r>
            <a:endParaRPr lang="en-US" sz="95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▪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governance: three identities, enforced at the query layer rather than by convention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144768" y="3511296"/>
            <a:ext cx="5934456" cy="2340864"/>
          </a:xfrm>
          <a:prstGeom prst="rect">
            <a:avLst/>
          </a:prstGeom>
          <a:solidFill>
            <a:srgbClr val="F4F6F8"/>
          </a:solidFill>
          <a:ln w="9525">
            <a:solidFill>
              <a:srgbClr val="D5D9D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45936" y="3749040"/>
            <a:ext cx="100584" cy="10058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47104" y="367588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Ninety day proof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547104" y="4059936"/>
            <a:ext cx="53492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▪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 to 3: one market, two service lines. Source inventory, attribution rule, required specialty map agreed</a:t>
            </a:r>
            <a:endParaRPr lang="en-US" sz="95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▪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4 to 7: identity resolution and the graph loaded, match rate published as the first deliverable</a:t>
            </a:r>
            <a:endParaRPr lang="en-US" sz="95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▪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8 to 11: two gap engines live, scenario one and scenario three, reviewed by a clinical SME</a:t>
            </a:r>
            <a:endParaRPr lang="en-US" sz="950" dirty="0"/>
          </a:p>
          <a:p>
            <a:pPr marL="342900" indent="-342900">
              <a:lnSpc>
                <a:spcPct val="102000"/>
              </a:lnSpc>
              <a:spcAft>
                <a:spcPts val="700"/>
              </a:spcAft>
              <a:buSzPct val="100000"/>
              <a:buChar char="▪"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12 to 13: one what-if simulation, and a gap list that a clinical leader and a network leader both sign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109728" y="6144768"/>
            <a:ext cx="11969496" cy="512064"/>
          </a:xfrm>
          <a:prstGeom prst="rect">
            <a:avLst/>
          </a:prstGeom>
          <a:solidFill>
            <a:srgbClr val="0E1B2E"/>
          </a:solidFill>
          <a:ln/>
        </p:spPr>
      </p:sp>
      <p:sp>
        <p:nvSpPr>
          <p:cNvPr id="23" name="Shape 21"/>
          <p:cNvSpPr/>
          <p:nvPr/>
        </p:nvSpPr>
        <p:spPr>
          <a:xfrm>
            <a:off x="256032" y="6336792"/>
            <a:ext cx="91440" cy="91440"/>
          </a:xfrm>
          <a:prstGeom prst="rect">
            <a:avLst/>
          </a:prstGeom>
          <a:solidFill>
            <a:srgbClr val="5FD0C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38912" y="6144768"/>
            <a:ext cx="11521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 five are blockers. All five are decisions to take in week one, rather than discoveries to make in month three.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Clinical Network Knowledge Graph</dc:title>
  <dc:subject>PptxGenJS Presentation</dc:subject>
  <dc:creator>Insight Global Labs</dc:creator>
  <cp:lastModifiedBy>Insight Global Labs</cp:lastModifiedBy>
  <cp:revision>1</cp:revision>
  <dcterms:created xsi:type="dcterms:W3CDTF">2026-09-21T12:01:21Z</dcterms:created>
  <dcterms:modified xsi:type="dcterms:W3CDTF">2026-09-21T12:01:21Z</dcterms:modified>
</cp:coreProperties>
</file>