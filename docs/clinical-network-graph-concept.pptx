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64008"/>
            <a:ext cx="3200400" cy="6126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10312" y="118872"/>
            <a:ext cx="3017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SEVEN AUTHORITATIVE SOURCES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210312" y="29260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EHR  ·  Credentialing  ·  Directory  ·  Scheduling  ·  Claims  ·  Referrals  ·  Geography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210312" y="534924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A6573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read only  ·  tokenised at the boundary  ·  provenance tagged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456432" y="64008"/>
            <a:ext cx="5230368" cy="612648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47872" y="109728"/>
            <a:ext cx="5047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PROVIDER, FACILITY AND PATIENT DEMAND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329184"/>
            <a:ext cx="5047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Clinical Network Knowledge Graph Architecture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521208"/>
            <a:ext cx="50474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A9B4C2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sources → connectors → privacy boundary → identity → domain model → storage → derived edges → graph → gap engines</a:t>
            </a:r>
            <a:endParaRPr lang="en-US" sz="620" dirty="0"/>
          </a:p>
        </p:txBody>
      </p:sp>
      <p:sp>
        <p:nvSpPr>
          <p:cNvPr id="10" name="Shape 8"/>
          <p:cNvSpPr/>
          <p:nvPr/>
        </p:nvSpPr>
        <p:spPr>
          <a:xfrm>
            <a:off x="8796528" y="64008"/>
            <a:ext cx="3282696" cy="6126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97112" y="118872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THE GRAPH ANSWERS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310896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Where demand has no provider  ·  where a provider has no demand  ·  where capability and credential do not meet  ·  where patients leave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521208"/>
            <a:ext cx="30906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missing edge is the answer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9728" y="713232"/>
            <a:ext cx="1289304" cy="621792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5448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1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46304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Source Systems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Systems of record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09728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" y="1467612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3464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EHR and clinical</a:t>
            </a:r>
            <a:endParaRPr lang="en-US" sz="825" dirty="0"/>
          </a:p>
        </p:txBody>
      </p:sp>
      <p:sp>
        <p:nvSpPr>
          <p:cNvPr id="21" name="Text 19"/>
          <p:cNvSpPr txBox="1"/>
          <p:nvPr/>
        </p:nvSpPr>
        <p:spPr>
          <a:xfrm>
            <a:off x="182880" y="1609258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Encounters and diagnoses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ADT admit and discharge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Orders, results, problems</a:t>
            </a:r>
            <a:endParaRPr lang="en-US" sz="725" dirty="0"/>
          </a:p>
        </p:txBody>
      </p:sp>
      <p:sp>
        <p:nvSpPr>
          <p:cNvPr id="22" name="Shape 20"/>
          <p:cNvSpPr/>
          <p:nvPr/>
        </p:nvSpPr>
        <p:spPr>
          <a:xfrm>
            <a:off x="182880" y="2195541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83464" y="2163537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Credentialing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182880" y="2337187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Licence and board certs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Privileges by procedure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Expirables and sanctions</a:t>
            </a:r>
            <a:endParaRPr lang="en-US" sz="725" dirty="0"/>
          </a:p>
        </p:txBody>
      </p:sp>
      <p:sp>
        <p:nvSpPr>
          <p:cNvPr id="25" name="Shape 23"/>
          <p:cNvSpPr/>
          <p:nvPr/>
        </p:nvSpPr>
        <p:spPr>
          <a:xfrm>
            <a:off x="182880" y="2815190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83464" y="278318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Directory and MDM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182880" y="2956836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Individual and org NPI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NUCC taxonomy and sub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Locations, TIN, panel</a:t>
            </a:r>
            <a:endParaRPr lang="en-US" sz="725" dirty="0"/>
          </a:p>
        </p:txBody>
      </p:sp>
      <p:sp>
        <p:nvSpPr>
          <p:cNvPr id="28" name="Shape 26"/>
          <p:cNvSpPr/>
          <p:nvPr/>
        </p:nvSpPr>
        <p:spPr>
          <a:xfrm>
            <a:off x="182880" y="3434839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3464" y="3402835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Scheduling and access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182880" y="3704415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Templates and sessions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Booked against bookable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Third next available</a:t>
            </a:r>
            <a:endParaRPr lang="en-US" sz="725" dirty="0"/>
          </a:p>
        </p:txBody>
      </p:sp>
      <p:sp>
        <p:nvSpPr>
          <p:cNvPr id="31" name="Shape 29"/>
          <p:cNvSpPr/>
          <p:nvPr/>
        </p:nvSpPr>
        <p:spPr>
          <a:xfrm>
            <a:off x="182880" y="4182418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83464" y="415041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Claims, referrals, geo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82880" y="4324064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CPT, ICD-10, place of service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Referring to receiving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Drive time and tracts</a:t>
            </a:r>
            <a:endParaRPr lang="en-US" sz="725" dirty="0"/>
          </a:p>
        </p:txBody>
      </p:sp>
      <p:sp>
        <p:nvSpPr>
          <p:cNvPr id="34" name="Shape 32"/>
          <p:cNvSpPr/>
          <p:nvPr/>
        </p:nvSpPr>
        <p:spPr>
          <a:xfrm>
            <a:off x="109728" y="5230368"/>
            <a:ext cx="1289304" cy="457200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2880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182880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Every network fact in one place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1397203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38" name="Shape 36"/>
          <p:cNvSpPr/>
          <p:nvPr/>
        </p:nvSpPr>
        <p:spPr>
          <a:xfrm>
            <a:off x="1444752" y="713232"/>
            <a:ext cx="1289304" cy="621792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490472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2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1481328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Source Connectors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490472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Read only and replayable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1444752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17904" y="1467612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618488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Clinical connectors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517904" y="160925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FHIR R4 and HL7 v2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Bulk export, ADT stream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 only accounts</a:t>
            </a:r>
            <a:endParaRPr lang="en-US" sz="725" dirty="0"/>
          </a:p>
        </p:txBody>
      </p:sp>
      <p:sp>
        <p:nvSpPr>
          <p:cNvPr id="46" name="Shape 44"/>
          <p:cNvSpPr/>
          <p:nvPr/>
        </p:nvSpPr>
        <p:spPr>
          <a:xfrm>
            <a:off x="1517904" y="2087261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618488" y="2055257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Workforce connectors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1517904" y="2356837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Credentialing delta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NPPES weekly, MDM API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Taxonomy version pinned</a:t>
            </a:r>
            <a:endParaRPr lang="en-US" sz="725" dirty="0"/>
          </a:p>
        </p:txBody>
      </p:sp>
      <p:sp>
        <p:nvSpPr>
          <p:cNvPr id="49" name="Shape 47"/>
          <p:cNvSpPr/>
          <p:nvPr/>
        </p:nvSpPr>
        <p:spPr>
          <a:xfrm>
            <a:off x="1517904" y="2834840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618488" y="2802836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Operational connectors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1517904" y="3104417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Slot and template API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Nightly bookable snapshot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837 and 835 monthly</a:t>
            </a:r>
            <a:endParaRPr lang="en-US" sz="725" dirty="0"/>
          </a:p>
        </p:txBody>
      </p:sp>
      <p:sp>
        <p:nvSpPr>
          <p:cNvPr id="52" name="Shape 50"/>
          <p:cNvSpPr/>
          <p:nvPr/>
        </p:nvSpPr>
        <p:spPr>
          <a:xfrm>
            <a:off x="1517904" y="3690699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618488" y="3658695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Connector contract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1517904" y="3832346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 writes, ever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SHA-256 per record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Replay by extract id</a:t>
            </a:r>
            <a:endParaRPr lang="en-US" sz="725" dirty="0"/>
          </a:p>
        </p:txBody>
      </p:sp>
      <p:sp>
        <p:nvSpPr>
          <p:cNvPr id="55" name="Shape 53"/>
          <p:cNvSpPr/>
          <p:nvPr/>
        </p:nvSpPr>
        <p:spPr>
          <a:xfrm>
            <a:off x="1517904" y="4310348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618488" y="427834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E8A7D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Failure handling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1517904" y="4451995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Partial pull discarded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Late file supersedes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run leaves a receipt</a:t>
            </a:r>
            <a:endParaRPr lang="en-US" sz="725" dirty="0"/>
          </a:p>
        </p:txBody>
      </p:sp>
      <p:sp>
        <p:nvSpPr>
          <p:cNvPr id="58" name="Shape 56"/>
          <p:cNvSpPr/>
          <p:nvPr/>
        </p:nvSpPr>
        <p:spPr>
          <a:xfrm>
            <a:off x="1444752" y="5230368"/>
            <a:ext cx="1289304" cy="457200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17904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60" name="Text 58"/>
          <p:cNvSpPr txBox="1"/>
          <p:nvPr/>
        </p:nvSpPr>
        <p:spPr>
          <a:xfrm>
            <a:off x="1517904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Safe, repeatable reads. No writes anywhere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2732227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62" name="Shape 60"/>
          <p:cNvSpPr/>
          <p:nvPr/>
        </p:nvSpPr>
        <p:spPr>
          <a:xfrm>
            <a:off x="2779776" y="713232"/>
            <a:ext cx="1289304" cy="62179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825496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3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2816352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Trust and Privacy Boundary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2825496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Nothing crosses identified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779776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852928" y="1467612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953512" y="1435608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De-identify at ingress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2852928" y="1737189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Safe Harbor identifiers out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MRN to HMAC token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Dates shifted per patient</a:t>
            </a:r>
            <a:endParaRPr lang="en-US" sz="725" dirty="0"/>
          </a:p>
        </p:txBody>
      </p:sp>
      <p:sp>
        <p:nvSpPr>
          <p:cNvPr id="70" name="Shape 68"/>
          <p:cNvSpPr/>
          <p:nvPr/>
        </p:nvSpPr>
        <p:spPr>
          <a:xfrm>
            <a:off x="2852928" y="2323471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2953512" y="2291467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Three data planes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2852928" y="246511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Analytic: k-anonymous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Operational: LDS, BAA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Identified: break glass</a:t>
            </a:r>
            <a:endParaRPr lang="en-US" sz="725" dirty="0"/>
          </a:p>
        </p:txBody>
      </p:sp>
      <p:sp>
        <p:nvSpPr>
          <p:cNvPr id="73" name="Shape 71"/>
          <p:cNvSpPr/>
          <p:nvPr/>
        </p:nvSpPr>
        <p:spPr>
          <a:xfrm>
            <a:off x="2852928" y="2943120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953512" y="291111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Keys and crypto</a:t>
            </a:r>
            <a:endParaRPr lang="en-US" sz="825" dirty="0"/>
          </a:p>
        </p:txBody>
      </p:sp>
      <p:sp>
        <p:nvSpPr>
          <p:cNvPr id="75" name="Text 73"/>
          <p:cNvSpPr txBox="1"/>
          <p:nvPr/>
        </p:nvSpPr>
        <p:spPr>
          <a:xfrm>
            <a:off x="2852928" y="3084767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KMS or HSM held keys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Envelope per snapshot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TLS 1.3, AES-256 at rest</a:t>
            </a:r>
            <a:endParaRPr lang="en-US" sz="725" dirty="0"/>
          </a:p>
        </p:txBody>
      </p:sp>
      <p:sp>
        <p:nvSpPr>
          <p:cNvPr id="76" name="Shape 74"/>
          <p:cNvSpPr/>
          <p:nvPr/>
        </p:nvSpPr>
        <p:spPr>
          <a:xfrm>
            <a:off x="2852928" y="3562769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2953512" y="3530765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Re-identification defence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2852928" y="3832346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k-anonymity floor per cell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Rare plus small suppressed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Query budget per user</a:t>
            </a:r>
            <a:endParaRPr lang="en-US" sz="725" dirty="0"/>
          </a:p>
        </p:txBody>
      </p:sp>
      <p:sp>
        <p:nvSpPr>
          <p:cNvPr id="79" name="Shape 77"/>
          <p:cNvSpPr/>
          <p:nvPr/>
        </p:nvSpPr>
        <p:spPr>
          <a:xfrm>
            <a:off x="2852928" y="4418628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2953512" y="438662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Assurance</a:t>
            </a:r>
            <a:endParaRPr lang="en-US" sz="825" dirty="0"/>
          </a:p>
        </p:txBody>
      </p:sp>
      <p:sp>
        <p:nvSpPr>
          <p:cNvPr id="81" name="Text 79"/>
          <p:cNvSpPr txBox="1"/>
          <p:nvPr/>
        </p:nvSpPr>
        <p:spPr>
          <a:xfrm>
            <a:off x="2852928" y="4560275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HIPAA, HITRUST, SOC 2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Immutable WORM audit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Quarterly re-id review</a:t>
            </a:r>
            <a:endParaRPr lang="en-US" sz="725" dirty="0"/>
          </a:p>
        </p:txBody>
      </p:sp>
      <p:sp>
        <p:nvSpPr>
          <p:cNvPr id="82" name="Shape 80"/>
          <p:cNvSpPr/>
          <p:nvPr/>
        </p:nvSpPr>
        <p:spPr>
          <a:xfrm>
            <a:off x="2779776" y="5230368"/>
            <a:ext cx="1289304" cy="4572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852928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2852928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PHI never crosses the line in identifiable form</a:t>
            </a:r>
            <a:endParaRPr lang="en-US" sz="700" dirty="0"/>
          </a:p>
        </p:txBody>
      </p:sp>
      <p:sp>
        <p:nvSpPr>
          <p:cNvPr id="85" name="Text 83"/>
          <p:cNvSpPr txBox="1"/>
          <p:nvPr/>
        </p:nvSpPr>
        <p:spPr>
          <a:xfrm>
            <a:off x="4067251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86" name="Shape 84"/>
          <p:cNvSpPr/>
          <p:nvPr/>
        </p:nvSpPr>
        <p:spPr>
          <a:xfrm>
            <a:off x="4114800" y="713232"/>
            <a:ext cx="1289304" cy="621792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60520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4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4151376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Ingest and Identity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4160520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Resolve, reconcile, prove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4114800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187952" y="1467612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88536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Parse and normalise</a:t>
            </a:r>
            <a:endParaRPr lang="en-US" sz="825" dirty="0"/>
          </a:p>
        </p:txBody>
      </p:sp>
      <p:sp>
        <p:nvSpPr>
          <p:cNvPr id="93" name="Text 91"/>
          <p:cNvSpPr txBox="1"/>
          <p:nvPr/>
        </p:nvSpPr>
        <p:spPr>
          <a:xfrm>
            <a:off x="4187952" y="160925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FHIR to domain objects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ICD-10, CPT, SNOMED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Taxonomy to specialty</a:t>
            </a:r>
            <a:endParaRPr lang="en-US" sz="725" dirty="0"/>
          </a:p>
        </p:txBody>
      </p:sp>
      <p:sp>
        <p:nvSpPr>
          <p:cNvPr id="94" name="Shape 92"/>
          <p:cNvSpPr/>
          <p:nvPr/>
        </p:nvSpPr>
        <p:spPr>
          <a:xfrm>
            <a:off x="4187952" y="2087261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288536" y="2055257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Patient identity, EMPI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4187952" y="2356837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Deterministic on token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Probabilistic, reviewed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Links stay reversible</a:t>
            </a:r>
            <a:endParaRPr lang="en-US" sz="725" dirty="0"/>
          </a:p>
        </p:txBody>
      </p:sp>
      <p:sp>
        <p:nvSpPr>
          <p:cNvPr id="97" name="Shape 95"/>
          <p:cNvSpPr/>
          <p:nvPr/>
        </p:nvSpPr>
        <p:spPr>
          <a:xfrm>
            <a:off x="4187952" y="2834840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88536" y="280283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Provider and place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4187952" y="2976486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NPI is the person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TIN plus NPI is practice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CCN is the facility</a:t>
            </a:r>
            <a:endParaRPr lang="en-US" sz="725" dirty="0"/>
          </a:p>
        </p:txBody>
      </p:sp>
      <p:sp>
        <p:nvSpPr>
          <p:cNvPr id="100" name="Shape 98"/>
          <p:cNvSpPr/>
          <p:nvPr/>
        </p:nvSpPr>
        <p:spPr>
          <a:xfrm>
            <a:off x="4187952" y="3454489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4288536" y="3422485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Conflict resolution</a:t>
            </a:r>
            <a:endParaRPr lang="en-US" sz="825" dirty="0"/>
          </a:p>
        </p:txBody>
      </p:sp>
      <p:sp>
        <p:nvSpPr>
          <p:cNvPr id="102" name="Text 100"/>
          <p:cNvSpPr txBox="1"/>
          <p:nvPr/>
        </p:nvSpPr>
        <p:spPr>
          <a:xfrm>
            <a:off x="4187952" y="3596135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Precedence per attribute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Losing value retained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Confidence on every link</a:t>
            </a:r>
            <a:endParaRPr lang="en-US" sz="725" dirty="0"/>
          </a:p>
        </p:txBody>
      </p:sp>
      <p:sp>
        <p:nvSpPr>
          <p:cNvPr id="103" name="Shape 101"/>
          <p:cNvSpPr/>
          <p:nvPr/>
        </p:nvSpPr>
        <p:spPr>
          <a:xfrm>
            <a:off x="4187952" y="4074138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88536" y="404213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Provenance</a:t>
            </a:r>
            <a:endParaRPr lang="en-US" sz="825" dirty="0"/>
          </a:p>
        </p:txBody>
      </p:sp>
      <p:sp>
        <p:nvSpPr>
          <p:cNvPr id="105" name="Text 103"/>
          <p:cNvSpPr txBox="1"/>
          <p:nvPr/>
        </p:nvSpPr>
        <p:spPr>
          <a:xfrm>
            <a:off x="4187952" y="4215784"/>
            <a:ext cx="1188720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Source, extract, hash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FACTUAL or INFERRED</a:t>
            </a:r>
            <a:endParaRPr lang="en-US" sz="725" dirty="0"/>
          </a:p>
        </p:txBody>
      </p:sp>
      <p:sp>
        <p:nvSpPr>
          <p:cNvPr id="106" name="Shape 104"/>
          <p:cNvSpPr/>
          <p:nvPr/>
        </p:nvSpPr>
        <p:spPr>
          <a:xfrm>
            <a:off x="4114800" y="5230368"/>
            <a:ext cx="1289304" cy="457200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4187952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08" name="Text 106"/>
          <p:cNvSpPr txBox="1"/>
          <p:nvPr/>
        </p:nvSpPr>
        <p:spPr>
          <a:xfrm>
            <a:off x="4187952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One patient, one provider, one place, with the proof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5402275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10" name="Shape 108"/>
          <p:cNvSpPr/>
          <p:nvPr/>
        </p:nvSpPr>
        <p:spPr>
          <a:xfrm>
            <a:off x="5449824" y="713232"/>
            <a:ext cx="1289304" cy="62179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5495544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5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5486400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Domain Model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5495544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CareNetworkContext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5449824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522976" y="1467612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623560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Entities</a:t>
            </a:r>
            <a:endParaRPr lang="en-US" sz="825" dirty="0"/>
          </a:p>
        </p:txBody>
      </p:sp>
      <p:sp>
        <p:nvSpPr>
          <p:cNvPr id="117" name="Text 115"/>
          <p:cNvSpPr txBox="1"/>
          <p:nvPr/>
        </p:nvSpPr>
        <p:spPr>
          <a:xfrm>
            <a:off x="5522976" y="1609258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providers[], facilities[]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serviceLines[], capabilities[]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geographies[], payers[]</a:t>
            </a:r>
            <a:endParaRPr lang="en-US" sz="725" dirty="0"/>
          </a:p>
        </p:txBody>
      </p:sp>
      <p:sp>
        <p:nvSpPr>
          <p:cNvPr id="118" name="Shape 116"/>
          <p:cNvSpPr/>
          <p:nvPr/>
        </p:nvSpPr>
        <p:spPr>
          <a:xfrm>
            <a:off x="5522976" y="2195541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5623560" y="2163537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Relationship objects</a:t>
            </a:r>
            <a:endParaRPr lang="en-US" sz="825" dirty="0"/>
          </a:p>
        </p:txBody>
      </p:sp>
      <p:sp>
        <p:nvSpPr>
          <p:cNvPr id="120" name="Text 118"/>
          <p:cNvSpPr txBox="1"/>
          <p:nvPr/>
        </p:nvSpPr>
        <p:spPr>
          <a:xfrm>
            <a:off x="5522976" y="2337187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Affiliation, Privilege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Coverage, Referral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Attribution, Contract</a:t>
            </a:r>
            <a:endParaRPr lang="en-US" sz="725" dirty="0"/>
          </a:p>
        </p:txBody>
      </p:sp>
      <p:sp>
        <p:nvSpPr>
          <p:cNvPr id="121" name="Shape 119"/>
          <p:cNvSpPr/>
          <p:nvPr/>
        </p:nvSpPr>
        <p:spPr>
          <a:xfrm>
            <a:off x="5522976" y="2815190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623560" y="278318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Service line spec</a:t>
            </a:r>
            <a:endParaRPr lang="en-US" sz="825" dirty="0"/>
          </a:p>
        </p:txBody>
      </p:sp>
      <p:sp>
        <p:nvSpPr>
          <p:cNvPr id="123" name="Text 121"/>
          <p:cNvSpPr txBox="1"/>
          <p:nvPr/>
        </p:nvSpPr>
        <p:spPr>
          <a:xfrm>
            <a:off x="5522976" y="2956836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requiredSpecialties[]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requiredCapabilities[]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coverageWindow, minVolume</a:t>
            </a:r>
            <a:endParaRPr lang="en-US" sz="725" dirty="0"/>
          </a:p>
        </p:txBody>
      </p:sp>
      <p:sp>
        <p:nvSpPr>
          <p:cNvPr id="124" name="Shape 122"/>
          <p:cNvSpPr/>
          <p:nvPr/>
        </p:nvSpPr>
        <p:spPr>
          <a:xfrm>
            <a:off x="5522976" y="3543119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5623560" y="3511115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Demand and access</a:t>
            </a:r>
            <a:endParaRPr lang="en-US" sz="825" dirty="0"/>
          </a:p>
        </p:txBody>
      </p:sp>
      <p:sp>
        <p:nvSpPr>
          <p:cNvPr id="126" name="Text 124"/>
          <p:cNvSpPr txBox="1"/>
          <p:nvPr/>
        </p:nvSpPr>
        <p:spPr>
          <a:xfrm>
            <a:off x="5522976" y="3684765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patients, encounters, trend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acuityMix, payerMix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slots, thirdNextAvailable</a:t>
            </a:r>
            <a:endParaRPr lang="en-US" sz="725" dirty="0"/>
          </a:p>
        </p:txBody>
      </p:sp>
      <p:sp>
        <p:nvSpPr>
          <p:cNvPr id="127" name="Shape 125"/>
          <p:cNvSpPr/>
          <p:nvPr/>
        </p:nvSpPr>
        <p:spPr>
          <a:xfrm>
            <a:off x="5522976" y="4271048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5623560" y="4239044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2185B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Bitemporal by default</a:t>
            </a:r>
            <a:endParaRPr lang="en-US" sz="825" dirty="0"/>
          </a:p>
        </p:txBody>
      </p:sp>
      <p:sp>
        <p:nvSpPr>
          <p:cNvPr id="129" name="Text 127"/>
          <p:cNvSpPr txBox="1"/>
          <p:nvPr/>
        </p:nvSpPr>
        <p:spPr>
          <a:xfrm>
            <a:off x="5522976" y="4540625"/>
            <a:ext cx="1188720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validFrom, validTo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recordedAt, supersededAt</a:t>
            </a:r>
            <a:endParaRPr lang="en-US" sz="725" dirty="0"/>
          </a:p>
        </p:txBody>
      </p:sp>
      <p:sp>
        <p:nvSpPr>
          <p:cNvPr id="130" name="Shape 128"/>
          <p:cNvSpPr/>
          <p:nvPr/>
        </p:nvSpPr>
        <p:spPr>
          <a:xfrm>
            <a:off x="5449824" y="5230368"/>
            <a:ext cx="1289304" cy="45720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522976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32" name="Text 130"/>
          <p:cNvSpPr txBox="1"/>
          <p:nvPr/>
        </p:nvSpPr>
        <p:spPr>
          <a:xfrm>
            <a:off x="5522976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 typed, bitemporal model of the network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6737299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34" name="Shape 132"/>
          <p:cNvSpPr/>
          <p:nvPr/>
        </p:nvSpPr>
        <p:spPr>
          <a:xfrm>
            <a:off x="6784848" y="713232"/>
            <a:ext cx="1289304" cy="621792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6830568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6</a:t>
            </a:r>
            <a:endParaRPr lang="en-US" sz="750" dirty="0"/>
          </a:p>
        </p:txBody>
      </p:sp>
      <p:sp>
        <p:nvSpPr>
          <p:cNvPr id="136" name="Text 134"/>
          <p:cNvSpPr txBox="1"/>
          <p:nvPr/>
        </p:nvSpPr>
        <p:spPr>
          <a:xfrm>
            <a:off x="6821424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Graph Storage</a:t>
            </a:r>
            <a:endParaRPr lang="en-US" sz="1000" dirty="0"/>
          </a:p>
        </p:txBody>
      </p:sp>
      <p:sp>
        <p:nvSpPr>
          <p:cNvPr id="137" name="Text 135"/>
          <p:cNvSpPr txBox="1"/>
          <p:nvPr/>
        </p:nvSpPr>
        <p:spPr>
          <a:xfrm>
            <a:off x="6830568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Bitemporal and immutable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6784848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6858000" y="1435608"/>
            <a:ext cx="1143000" cy="127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network.json (excerpt)</a:t>
            </a:r>
            <a:endParaRPr lang="en-US" sz="825" dirty="0"/>
          </a:p>
        </p:txBody>
      </p:sp>
      <p:sp>
        <p:nvSpPr>
          <p:cNvPr id="140" name="Shape 138"/>
          <p:cNvSpPr/>
          <p:nvPr/>
        </p:nvSpPr>
        <p:spPr>
          <a:xfrm>
            <a:off x="6830568" y="1609258"/>
            <a:ext cx="1197864" cy="1298448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867144" y="1654978"/>
            <a:ext cx="112471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"snapshot": "sha256:7c41…",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"nodes": [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{"id": "prv:9f2a…",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"PROVIDER",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"spec": "CARDIOLOGY",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"fte": 0.6, "panel": "OPEN"}],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"edges": [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{"id": "cov:41b7…",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"COVERS",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"from": "prv:9f2a…",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"to": "svc:CARD@450214",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"validFrom": "2024-07-01",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"validTo": null,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"recordedAt": "2026-08-02",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"confidence": 0.92,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"evidence": ["caqh:8821#r44"]</a:t>
            </a:r>
            <a:endParaRPr lang="en-US" sz="4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}] }</a:t>
            </a:r>
            <a:endParaRPr lang="en-US" sz="450" dirty="0"/>
          </a:p>
        </p:txBody>
      </p:sp>
      <p:sp>
        <p:nvSpPr>
          <p:cNvPr id="142" name="Shape 140"/>
          <p:cNvSpPr/>
          <p:nvPr/>
        </p:nvSpPr>
        <p:spPr>
          <a:xfrm>
            <a:off x="6858000" y="3049438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6958584" y="301743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the file holds</a:t>
            </a:r>
            <a:endParaRPr lang="en-US" sz="825" dirty="0"/>
          </a:p>
        </p:txBody>
      </p:sp>
      <p:sp>
        <p:nvSpPr>
          <p:cNvPr id="144" name="Text 142"/>
          <p:cNvSpPr txBox="1"/>
          <p:nvPr/>
        </p:nvSpPr>
        <p:spPr>
          <a:xfrm>
            <a:off x="6858000" y="3191085"/>
            <a:ext cx="1188720" cy="654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and edge typed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Two time axes per edge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Confidence and evidence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Tokens only, no ids</a:t>
            </a:r>
            <a:endParaRPr lang="en-US" sz="725" dirty="0"/>
          </a:p>
        </p:txBody>
      </p:sp>
      <p:sp>
        <p:nvSpPr>
          <p:cNvPr id="145" name="Shape 143"/>
          <p:cNvSpPr/>
          <p:nvPr/>
        </p:nvSpPr>
        <p:spPr>
          <a:xfrm>
            <a:off x="6858000" y="3904698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958584" y="387269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7740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Storage rules</a:t>
            </a:r>
            <a:endParaRPr lang="en-US" sz="825" dirty="0"/>
          </a:p>
        </p:txBody>
      </p:sp>
      <p:sp>
        <p:nvSpPr>
          <p:cNvPr id="147" name="Text 145"/>
          <p:cNvSpPr txBox="1"/>
          <p:nvPr/>
        </p:nvSpPr>
        <p:spPr>
          <a:xfrm>
            <a:off x="6858000" y="4046344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Content addressed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Rebuilt, never written back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Encrypted per snapshot</a:t>
            </a:r>
            <a:endParaRPr lang="en-US" sz="725" dirty="0"/>
          </a:p>
        </p:txBody>
      </p:sp>
      <p:sp>
        <p:nvSpPr>
          <p:cNvPr id="148" name="Shape 146"/>
          <p:cNvSpPr/>
          <p:nvPr/>
        </p:nvSpPr>
        <p:spPr>
          <a:xfrm>
            <a:off x="6784848" y="5230368"/>
            <a:ext cx="1289304" cy="45720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858000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50" name="Text 148"/>
          <p:cNvSpPr txBox="1"/>
          <p:nvPr/>
        </p:nvSpPr>
        <p:spPr>
          <a:xfrm>
            <a:off x="6858000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Any past state of the network, replayed exactly</a:t>
            </a:r>
            <a:endParaRPr lang="en-US" sz="700" dirty="0"/>
          </a:p>
        </p:txBody>
      </p:sp>
      <p:sp>
        <p:nvSpPr>
          <p:cNvPr id="151" name="Text 149"/>
          <p:cNvSpPr txBox="1"/>
          <p:nvPr/>
        </p:nvSpPr>
        <p:spPr>
          <a:xfrm>
            <a:off x="8072323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52" name="Shape 150"/>
          <p:cNvSpPr/>
          <p:nvPr/>
        </p:nvSpPr>
        <p:spPr>
          <a:xfrm>
            <a:off x="8119872" y="713232"/>
            <a:ext cx="1289304" cy="62179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8165592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7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156448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Derived Edge Engine</a:t>
            </a:r>
            <a:endParaRPr lang="en-US" sz="1000" dirty="0"/>
          </a:p>
        </p:txBody>
      </p:sp>
      <p:sp>
        <p:nvSpPr>
          <p:cNvPr id="155" name="Text 153"/>
          <p:cNvSpPr txBox="1"/>
          <p:nvPr/>
        </p:nvSpPr>
        <p:spPr>
          <a:xfrm>
            <a:off x="8165592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A gap becomes a number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8119872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93024" y="1467612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8293608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Derived edges</a:t>
            </a:r>
            <a:endParaRPr lang="en-US" sz="825" dirty="0"/>
          </a:p>
        </p:txBody>
      </p:sp>
      <p:sp>
        <p:nvSpPr>
          <p:cNvPr id="159" name="Text 157"/>
          <p:cNvSpPr txBox="1"/>
          <p:nvPr/>
        </p:nvSpPr>
        <p:spPr>
          <a:xfrm>
            <a:off x="8193024" y="1609258"/>
            <a:ext cx="1188720" cy="654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SERVES geo to site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REQUIRES line to specialty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COVERS provider to line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SUBSTITUTE_FOR pairs</a:t>
            </a:r>
            <a:endParaRPr lang="en-US" sz="725" dirty="0"/>
          </a:p>
        </p:txBody>
      </p:sp>
      <p:sp>
        <p:nvSpPr>
          <p:cNvPr id="160" name="Shape 158"/>
          <p:cNvSpPr/>
          <p:nvPr/>
        </p:nvSpPr>
        <p:spPr>
          <a:xfrm>
            <a:off x="8193024" y="2322871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293608" y="2290867"/>
            <a:ext cx="1051560" cy="274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Constraint evaluation</a:t>
            </a:r>
            <a:endParaRPr lang="en-US" sz="825" dirty="0"/>
          </a:p>
        </p:txBody>
      </p:sp>
      <p:sp>
        <p:nvSpPr>
          <p:cNvPr id="162" name="Text 160"/>
          <p:cNvSpPr txBox="1"/>
          <p:nvPr/>
        </p:nvSpPr>
        <p:spPr>
          <a:xfrm>
            <a:off x="8193024" y="259244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Spec run against graph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Unsatisfied means a gap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New line is a spec row</a:t>
            </a:r>
            <a:endParaRPr lang="en-US" sz="725" dirty="0"/>
          </a:p>
        </p:txBody>
      </p:sp>
      <p:sp>
        <p:nvSpPr>
          <p:cNvPr id="163" name="Shape 161"/>
          <p:cNvSpPr/>
          <p:nvPr/>
        </p:nvSpPr>
        <p:spPr>
          <a:xfrm>
            <a:off x="8193024" y="3070450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293608" y="303844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Indices</a:t>
            </a:r>
            <a:endParaRPr lang="en-US" sz="825" dirty="0"/>
          </a:p>
        </p:txBody>
      </p:sp>
      <p:sp>
        <p:nvSpPr>
          <p:cNvPr id="165" name="Text 163"/>
          <p:cNvSpPr txBox="1"/>
          <p:nvPr/>
        </p:nvSpPr>
        <p:spPr>
          <a:xfrm>
            <a:off x="8193024" y="3212097"/>
            <a:ext cx="118872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inflow, capacity, coverage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leakage, adequacy, depth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outcome O over E, shrunk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concentration and SPOF</a:t>
            </a:r>
            <a:endParaRPr lang="en-US" sz="725" dirty="0"/>
          </a:p>
        </p:txBody>
      </p:sp>
      <p:sp>
        <p:nvSpPr>
          <p:cNvPr id="166" name="Shape 164"/>
          <p:cNvSpPr/>
          <p:nvPr/>
        </p:nvSpPr>
        <p:spPr>
          <a:xfrm>
            <a:off x="8193024" y="3817430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293608" y="378542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C62828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Guardrails</a:t>
            </a:r>
            <a:endParaRPr lang="en-US" sz="825" dirty="0"/>
          </a:p>
        </p:txBody>
      </p:sp>
      <p:sp>
        <p:nvSpPr>
          <p:cNvPr id="168" name="Text 166"/>
          <p:cNvSpPr txBox="1"/>
          <p:nvPr/>
        </p:nvSpPr>
        <p:spPr>
          <a:xfrm>
            <a:off x="8193024" y="3959076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Minimum volume to rank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Peer group by case mix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Interval with every value</a:t>
            </a:r>
            <a:endParaRPr lang="en-US" sz="725" dirty="0"/>
          </a:p>
        </p:txBody>
      </p:sp>
      <p:sp>
        <p:nvSpPr>
          <p:cNvPr id="169" name="Shape 167"/>
          <p:cNvSpPr/>
          <p:nvPr/>
        </p:nvSpPr>
        <p:spPr>
          <a:xfrm>
            <a:off x="8119872" y="5230368"/>
            <a:ext cx="1289304" cy="4572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8193024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8193024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The missing edge becomes a defensible number</a:t>
            </a:r>
            <a:endParaRPr lang="en-US" sz="700" dirty="0"/>
          </a:p>
        </p:txBody>
      </p:sp>
      <p:sp>
        <p:nvSpPr>
          <p:cNvPr id="172" name="Text 170"/>
          <p:cNvSpPr txBox="1"/>
          <p:nvPr/>
        </p:nvSpPr>
        <p:spPr>
          <a:xfrm>
            <a:off x="9407347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73" name="Shape 171"/>
          <p:cNvSpPr/>
          <p:nvPr/>
        </p:nvSpPr>
        <p:spPr>
          <a:xfrm>
            <a:off x="9454896" y="713232"/>
            <a:ext cx="1289304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500616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8</a:t>
            </a:r>
            <a:endParaRPr lang="en-US" sz="750" dirty="0"/>
          </a:p>
        </p:txBody>
      </p:sp>
      <p:sp>
        <p:nvSpPr>
          <p:cNvPr id="175" name="Text 173"/>
          <p:cNvSpPr txBox="1"/>
          <p:nvPr/>
        </p:nvSpPr>
        <p:spPr>
          <a:xfrm>
            <a:off x="9491472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Network ContextGraph</a:t>
            </a:r>
            <a:endParaRPr lang="en-US" sz="1000" dirty="0"/>
          </a:p>
        </p:txBody>
      </p:sp>
      <p:sp>
        <p:nvSpPr>
          <p:cNvPr id="176" name="Text 174"/>
          <p:cNvSpPr txBox="1"/>
          <p:nvPr/>
        </p:nvSpPr>
        <p:spPr>
          <a:xfrm>
            <a:off x="9500616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Traversals and what-if</a:t>
            </a:r>
            <a:endParaRPr lang="en-US" sz="650" dirty="0"/>
          </a:p>
        </p:txBody>
      </p:sp>
      <p:sp>
        <p:nvSpPr>
          <p:cNvPr id="177" name="Shape 175"/>
          <p:cNvSpPr/>
          <p:nvPr/>
        </p:nvSpPr>
        <p:spPr>
          <a:xfrm>
            <a:off x="9454896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528048" y="1467612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628632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Graph runtime</a:t>
            </a:r>
            <a:endParaRPr lang="en-US" sz="825" dirty="0"/>
          </a:p>
        </p:txBody>
      </p:sp>
      <p:sp>
        <p:nvSpPr>
          <p:cNvPr id="180" name="Text 178"/>
          <p:cNvSpPr txBox="1"/>
          <p:nvPr/>
        </p:nvSpPr>
        <p:spPr>
          <a:xfrm>
            <a:off x="9528048" y="160925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nodes and edges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Weights: time, volume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As-of views on any date</a:t>
            </a:r>
            <a:endParaRPr lang="en-US" sz="725" dirty="0"/>
          </a:p>
        </p:txBody>
      </p:sp>
      <p:sp>
        <p:nvSpPr>
          <p:cNvPr id="181" name="Shape 179"/>
          <p:cNvSpPr/>
          <p:nvPr/>
        </p:nvSpPr>
        <p:spPr>
          <a:xfrm>
            <a:off x="9528048" y="2087261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628632" y="2055257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Traversals</a:t>
            </a:r>
            <a:endParaRPr lang="en-US" sz="825" dirty="0"/>
          </a:p>
        </p:txBody>
      </p:sp>
      <p:sp>
        <p:nvSpPr>
          <p:cNvPr id="183" name="Text 181"/>
          <p:cNvSpPr txBox="1"/>
          <p:nvPr/>
        </p:nvSpPr>
        <p:spPr>
          <a:xfrm>
            <a:off x="9528048" y="2228907"/>
            <a:ext cx="118872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coverage_path(geo, svc)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missing_edge(dmd, sup)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blast_radius(prv)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k_nearest(geo, k)</a:t>
            </a:r>
            <a:endParaRPr lang="en-US" sz="725" dirty="0"/>
          </a:p>
        </p:txBody>
      </p:sp>
      <p:sp>
        <p:nvSpPr>
          <p:cNvPr id="184" name="Shape 182"/>
          <p:cNvSpPr/>
          <p:nvPr/>
        </p:nvSpPr>
        <p:spPr>
          <a:xfrm>
            <a:off x="9528048" y="2834240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9628632" y="280223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Vector plane</a:t>
            </a:r>
            <a:endParaRPr lang="en-US" sz="825" dirty="0"/>
          </a:p>
        </p:txBody>
      </p:sp>
      <p:sp>
        <p:nvSpPr>
          <p:cNvPr id="186" name="Text 184"/>
          <p:cNvSpPr txBox="1"/>
          <p:nvPr/>
        </p:nvSpPr>
        <p:spPr>
          <a:xfrm>
            <a:off x="9528048" y="2975886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Embeddings per type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Substitutability search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Anchor symbolic, rank vector</a:t>
            </a:r>
            <a:endParaRPr lang="en-US" sz="725" dirty="0"/>
          </a:p>
        </p:txBody>
      </p:sp>
      <p:sp>
        <p:nvSpPr>
          <p:cNvPr id="187" name="Shape 185"/>
          <p:cNvSpPr/>
          <p:nvPr/>
        </p:nvSpPr>
        <p:spPr>
          <a:xfrm>
            <a:off x="9528048" y="3562169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628632" y="3530165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Shadow graph</a:t>
            </a:r>
            <a:endParaRPr lang="en-US" sz="825" dirty="0"/>
          </a:p>
        </p:txBody>
      </p:sp>
      <p:sp>
        <p:nvSpPr>
          <p:cNvPr id="189" name="Text 187"/>
          <p:cNvSpPr txBox="1"/>
          <p:nvPr/>
        </p:nvSpPr>
        <p:spPr>
          <a:xfrm>
            <a:off x="9528048" y="3703815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Copy on write namespace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Insert hypothetical nodes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Diff against base</a:t>
            </a:r>
            <a:endParaRPr lang="en-US" sz="725" dirty="0"/>
          </a:p>
        </p:txBody>
      </p:sp>
      <p:sp>
        <p:nvSpPr>
          <p:cNvPr id="190" name="Shape 188"/>
          <p:cNvSpPr/>
          <p:nvPr/>
        </p:nvSpPr>
        <p:spPr>
          <a:xfrm>
            <a:off x="9528048" y="4181818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9628632" y="4149814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Analytics</a:t>
            </a:r>
            <a:endParaRPr lang="en-US" sz="825" dirty="0"/>
          </a:p>
        </p:txBody>
      </p:sp>
      <p:sp>
        <p:nvSpPr>
          <p:cNvPr id="192" name="Text 190"/>
          <p:cNvSpPr txBox="1"/>
          <p:nvPr/>
        </p:nvSpPr>
        <p:spPr>
          <a:xfrm>
            <a:off x="9528048" y="4323464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Centrality, components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Referral communities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Set cover: fewest hires</a:t>
            </a:r>
            <a:endParaRPr lang="en-US" sz="725" dirty="0"/>
          </a:p>
        </p:txBody>
      </p:sp>
      <p:sp>
        <p:nvSpPr>
          <p:cNvPr id="193" name="Shape 191"/>
          <p:cNvSpPr/>
          <p:nvPr/>
        </p:nvSpPr>
        <p:spPr>
          <a:xfrm>
            <a:off x="9454896" y="5230368"/>
            <a:ext cx="1289304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9528048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195" name="Text 193"/>
          <p:cNvSpPr txBox="1"/>
          <p:nvPr/>
        </p:nvSpPr>
        <p:spPr>
          <a:xfrm>
            <a:off x="9528048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Gap, blast radius and what-if in under a second</a:t>
            </a:r>
            <a:endParaRPr lang="en-US" sz="700" dirty="0"/>
          </a:p>
        </p:txBody>
      </p:sp>
      <p:sp>
        <p:nvSpPr>
          <p:cNvPr id="196" name="Text 194"/>
          <p:cNvSpPr txBox="1"/>
          <p:nvPr/>
        </p:nvSpPr>
        <p:spPr>
          <a:xfrm>
            <a:off x="10742371" y="914400"/>
            <a:ext cx="493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" dirty="0">
                <a:solidFill>
                  <a:srgbClr val="9AA4B0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▶</a:t>
            </a:r>
            <a:endParaRPr lang="en-US" sz="450" dirty="0"/>
          </a:p>
        </p:txBody>
      </p:sp>
      <p:sp>
        <p:nvSpPr>
          <p:cNvPr id="197" name="Shape 195"/>
          <p:cNvSpPr/>
          <p:nvPr/>
        </p:nvSpPr>
        <p:spPr>
          <a:xfrm>
            <a:off x="10789920" y="713232"/>
            <a:ext cx="1289304" cy="621792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10835640" y="758952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40" kern="0" dirty="0">
                <a:solidFill>
                  <a:srgbClr val="FFFFFF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LAYER 9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10826496" y="886968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Gap Engines and API</a:t>
            </a:r>
            <a:endParaRPr lang="en-US" sz="1000" dirty="0"/>
          </a:p>
        </p:txBody>
      </p:sp>
      <p:sp>
        <p:nvSpPr>
          <p:cNvPr id="200" name="Text 198"/>
          <p:cNvSpPr txBox="1"/>
          <p:nvPr/>
        </p:nvSpPr>
        <p:spPr>
          <a:xfrm>
            <a:off x="10835640" y="1188720"/>
            <a:ext cx="1197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E4EEF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Twelve scenarios, one engine</a:t>
            </a:r>
            <a:endParaRPr lang="en-US" sz="650" dirty="0"/>
          </a:p>
        </p:txBody>
      </p:sp>
      <p:sp>
        <p:nvSpPr>
          <p:cNvPr id="201" name="Shape 199"/>
          <p:cNvSpPr/>
          <p:nvPr/>
        </p:nvSpPr>
        <p:spPr>
          <a:xfrm>
            <a:off x="10789920" y="1353312"/>
            <a:ext cx="1289304" cy="43342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10863072" y="1467612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10963656" y="143560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Gap engines</a:t>
            </a:r>
            <a:endParaRPr lang="en-US" sz="825" dirty="0"/>
          </a:p>
        </p:txBody>
      </p:sp>
      <p:sp>
        <p:nvSpPr>
          <p:cNvPr id="204" name="Text 202"/>
          <p:cNvSpPr txBox="1"/>
          <p:nvPr/>
        </p:nvSpPr>
        <p:spPr>
          <a:xfrm>
            <a:off x="10863072" y="1609258"/>
            <a:ext cx="1188720" cy="927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access_gap()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idle_supply_gap()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credential_gap()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line_completeness()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leakage_gap()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adequacy_gap()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failure_point()</a:t>
            </a:r>
            <a:endParaRPr lang="en-US" sz="725" dirty="0"/>
          </a:p>
        </p:txBody>
      </p:sp>
      <p:sp>
        <p:nvSpPr>
          <p:cNvPr id="205" name="Shape 203"/>
          <p:cNvSpPr/>
          <p:nvPr/>
        </p:nvSpPr>
        <p:spPr>
          <a:xfrm>
            <a:off x="10863072" y="2596582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10963656" y="2564578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Query API</a:t>
            </a:r>
            <a:endParaRPr lang="en-US" sz="825" dirty="0"/>
          </a:p>
        </p:txBody>
      </p:sp>
      <p:sp>
        <p:nvSpPr>
          <p:cNvPr id="207" name="Text 205"/>
          <p:cNvSpPr txBox="1"/>
          <p:nvPr/>
        </p:nvSpPr>
        <p:spPr>
          <a:xfrm>
            <a:off x="10863072" y="2738228"/>
            <a:ext cx="1188720" cy="41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graph.query, gap.rank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whatif.simulate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cohort.build, asof(date)</a:t>
            </a:r>
            <a:endParaRPr lang="en-US" sz="725" dirty="0"/>
          </a:p>
        </p:txBody>
      </p:sp>
      <p:sp>
        <p:nvSpPr>
          <p:cNvPr id="208" name="Shape 206"/>
          <p:cNvSpPr/>
          <p:nvPr/>
        </p:nvSpPr>
        <p:spPr>
          <a:xfrm>
            <a:off x="10863072" y="3216231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10963656" y="3184227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Policy at query time</a:t>
            </a:r>
            <a:endParaRPr lang="en-US" sz="825" dirty="0"/>
          </a:p>
        </p:txBody>
      </p:sp>
      <p:sp>
        <p:nvSpPr>
          <p:cNvPr id="210" name="Text 208"/>
          <p:cNvSpPr txBox="1"/>
          <p:nvPr/>
        </p:nvSpPr>
        <p:spPr>
          <a:xfrm>
            <a:off x="10863072" y="3357877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Purpose of use required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Minimum necessary compiled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k-anonymity pre-return</a:t>
            </a:r>
            <a:endParaRPr lang="en-US" sz="725" dirty="0"/>
          </a:p>
        </p:txBody>
      </p:sp>
      <p:sp>
        <p:nvSpPr>
          <p:cNvPr id="211" name="Shape 209"/>
          <p:cNvSpPr/>
          <p:nvPr/>
        </p:nvSpPr>
        <p:spPr>
          <a:xfrm>
            <a:off x="10863072" y="3944160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10963656" y="3912156"/>
            <a:ext cx="1051560" cy="146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5" dirty="0">
                <a:solidFill>
                  <a:srgbClr val="00757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Output contract</a:t>
            </a:r>
            <a:endParaRPr lang="en-US" sz="825" dirty="0"/>
          </a:p>
        </p:txBody>
      </p:sp>
      <p:sp>
        <p:nvSpPr>
          <p:cNvPr id="213" name="Text 211"/>
          <p:cNvSpPr txBox="1"/>
          <p:nvPr/>
        </p:nvSpPr>
        <p:spPr>
          <a:xfrm>
            <a:off x="10863072" y="4085806"/>
            <a:ext cx="1188720" cy="52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Ranked gap, evidence path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Patients and volume</a:t>
            </a:r>
            <a:endParaRPr lang="en-US" sz="725" dirty="0"/>
          </a:p>
          <a:p>
            <a:pPr marL="91440" indent="-91440">
              <a:lnSpc>
                <a:spcPct val="98000"/>
              </a:lnSpc>
              <a:spcAft>
                <a:spcPts val="150"/>
              </a:spcAft>
              <a:buSzPct val="100000"/>
              <a:buChar char="•"/>
            </a:pPr>
            <a:r>
              <a:rPr lang="en-US" sz="725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Action, owner, cohort</a:t>
            </a:r>
            <a:endParaRPr lang="en-US" sz="725" dirty="0"/>
          </a:p>
        </p:txBody>
      </p:sp>
      <p:sp>
        <p:nvSpPr>
          <p:cNvPr id="214" name="Shape 212"/>
          <p:cNvSpPr/>
          <p:nvPr/>
        </p:nvSpPr>
        <p:spPr>
          <a:xfrm>
            <a:off x="10789920" y="5230368"/>
            <a:ext cx="1289304" cy="457200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10863072" y="5276088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40" kern="0" dirty="0">
                <a:solidFill>
                  <a:srgbClr val="CFE6EE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WHAT YOU GET</a:t>
            </a:r>
            <a:endParaRPr lang="en-US" sz="650" dirty="0"/>
          </a:p>
        </p:txBody>
      </p:sp>
      <p:sp>
        <p:nvSpPr>
          <p:cNvPr id="216" name="Text 214"/>
          <p:cNvSpPr txBox="1"/>
          <p:nvPr/>
        </p:nvSpPr>
        <p:spPr>
          <a:xfrm>
            <a:off x="10863072" y="54041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Ranked, explainable gaps with the action attached</a:t>
            </a:r>
            <a:endParaRPr lang="en-US" sz="700" dirty="0"/>
          </a:p>
        </p:txBody>
      </p:sp>
      <p:sp>
        <p:nvSpPr>
          <p:cNvPr id="217" name="Text 215"/>
          <p:cNvSpPr txBox="1"/>
          <p:nvPr/>
        </p:nvSpPr>
        <p:spPr>
          <a:xfrm>
            <a:off x="109728" y="5742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HANDOFF</a:t>
            </a:r>
            <a:endParaRPr lang="en-US" sz="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BETWEEN LAYERS</a:t>
            </a:r>
            <a:endParaRPr lang="en-US" sz="600" dirty="0"/>
          </a:p>
        </p:txBody>
      </p:sp>
      <p:sp>
        <p:nvSpPr>
          <p:cNvPr id="218" name="Shape 216"/>
          <p:cNvSpPr/>
          <p:nvPr/>
        </p:nvSpPr>
        <p:spPr>
          <a:xfrm>
            <a:off x="1088136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1152144" y="5833872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1243584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read only API pull</a:t>
            </a:r>
            <a:endParaRPr lang="en-US" sz="630" dirty="0"/>
          </a:p>
        </p:txBody>
      </p:sp>
      <p:sp>
        <p:nvSpPr>
          <p:cNvPr id="221" name="Shape 219"/>
          <p:cNvSpPr/>
          <p:nvPr/>
        </p:nvSpPr>
        <p:spPr>
          <a:xfrm>
            <a:off x="2466594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30602" y="5833872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2622042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bytes plus content hash</a:t>
            </a:r>
            <a:endParaRPr lang="en-US" sz="630" dirty="0"/>
          </a:p>
        </p:txBody>
      </p:sp>
      <p:sp>
        <p:nvSpPr>
          <p:cNvPr id="224" name="Shape 222"/>
          <p:cNvSpPr/>
          <p:nvPr/>
        </p:nvSpPr>
        <p:spPr>
          <a:xfrm>
            <a:off x="3845052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909060" y="5833872"/>
            <a:ext cx="64008" cy="640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4000500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tokenised, de-identified</a:t>
            </a:r>
            <a:endParaRPr lang="en-US" sz="630" dirty="0"/>
          </a:p>
        </p:txBody>
      </p:sp>
      <p:sp>
        <p:nvSpPr>
          <p:cNvPr id="227" name="Shape 225"/>
          <p:cNvSpPr/>
          <p:nvPr/>
        </p:nvSpPr>
        <p:spPr>
          <a:xfrm>
            <a:off x="5223510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287518" y="5833872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29" name="Text 227"/>
          <p:cNvSpPr txBox="1"/>
          <p:nvPr/>
        </p:nvSpPr>
        <p:spPr>
          <a:xfrm>
            <a:off x="5378958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resolved entities, provenance</a:t>
            </a:r>
            <a:endParaRPr lang="en-US" sz="630" dirty="0"/>
          </a:p>
        </p:txBody>
      </p:sp>
      <p:sp>
        <p:nvSpPr>
          <p:cNvPr id="230" name="Shape 228"/>
          <p:cNvSpPr/>
          <p:nvPr/>
        </p:nvSpPr>
        <p:spPr>
          <a:xfrm>
            <a:off x="6601968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6665976" y="5833872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6757416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CareNetworkContext</a:t>
            </a:r>
            <a:endParaRPr lang="en-US" sz="630" dirty="0"/>
          </a:p>
        </p:txBody>
      </p:sp>
      <p:sp>
        <p:nvSpPr>
          <p:cNvPr id="233" name="Shape 231"/>
          <p:cNvSpPr/>
          <p:nvPr/>
        </p:nvSpPr>
        <p:spPr>
          <a:xfrm>
            <a:off x="7980426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44434" y="5833872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235" name="Text 233"/>
          <p:cNvSpPr txBox="1"/>
          <p:nvPr/>
        </p:nvSpPr>
        <p:spPr>
          <a:xfrm>
            <a:off x="8135874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immutable JSON snapshot</a:t>
            </a:r>
            <a:endParaRPr lang="en-US" sz="630" dirty="0"/>
          </a:p>
        </p:txBody>
      </p:sp>
      <p:sp>
        <p:nvSpPr>
          <p:cNvPr id="236" name="Shape 234"/>
          <p:cNvSpPr/>
          <p:nvPr/>
        </p:nvSpPr>
        <p:spPr>
          <a:xfrm>
            <a:off x="9358884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422892" y="5833872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514332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derived edges, dated indices</a:t>
            </a:r>
            <a:endParaRPr lang="en-US" sz="630" dirty="0"/>
          </a:p>
        </p:txBody>
      </p:sp>
      <p:sp>
        <p:nvSpPr>
          <p:cNvPr id="239" name="Shape 237"/>
          <p:cNvSpPr/>
          <p:nvPr/>
        </p:nvSpPr>
        <p:spPr>
          <a:xfrm>
            <a:off x="10737342" y="5742432"/>
            <a:ext cx="13258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10801350" y="5833872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10892790" y="5742432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graph loaded, traversals ready</a:t>
            </a:r>
            <a:endParaRPr lang="en-US" sz="630" dirty="0"/>
          </a:p>
        </p:txBody>
      </p:sp>
      <p:sp>
        <p:nvSpPr>
          <p:cNvPr id="242" name="Shape 240"/>
          <p:cNvSpPr/>
          <p:nvPr/>
        </p:nvSpPr>
        <p:spPr>
          <a:xfrm>
            <a:off x="109728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01168" y="6163056"/>
            <a:ext cx="77724" cy="77724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44" name="Text 242"/>
          <p:cNvSpPr txBox="1"/>
          <p:nvPr/>
        </p:nvSpPr>
        <p:spPr>
          <a:xfrm>
            <a:off x="329184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4F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Provenance and authority</a:t>
            </a:r>
            <a:endParaRPr lang="en-US" sz="800" dirty="0"/>
          </a:p>
        </p:txBody>
      </p:sp>
      <p:sp>
        <p:nvSpPr>
          <p:cNvPr id="245" name="Text 243"/>
          <p:cNvSpPr txBox="1"/>
          <p:nvPr/>
        </p:nvSpPr>
        <p:spPr>
          <a:xfrm>
            <a:off x="201168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node and edge carries source, extract id, content hash, retrievedAt and derivation: FACTUAL, INFERRED or MODELLED. Authority stays with the source system. The graph never becomes the system of record for a clinical fact.</a:t>
            </a:r>
            <a:endParaRPr lang="en-US" sz="680" dirty="0"/>
          </a:p>
        </p:txBody>
      </p:sp>
      <p:sp>
        <p:nvSpPr>
          <p:cNvPr id="246" name="Shape 244"/>
          <p:cNvSpPr/>
          <p:nvPr/>
        </p:nvSpPr>
        <p:spPr>
          <a:xfrm>
            <a:off x="3120390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3211830" y="6163056"/>
            <a:ext cx="77724" cy="7772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3339846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A1B9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Threat model, and the control for each</a:t>
            </a:r>
            <a:endParaRPr lang="en-US" sz="800" dirty="0"/>
          </a:p>
        </p:txBody>
      </p:sp>
      <p:sp>
        <p:nvSpPr>
          <p:cNvPr id="249" name="Text 247"/>
          <p:cNvSpPr txBox="1"/>
          <p:nvPr/>
        </p:nvSpPr>
        <p:spPr>
          <a:xfrm>
            <a:off x="3211830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Re-identification from rare attribute combinations: k-anonymity at the query compiler. Insider browsing: purpose of use required per query. PHI reaching a model: aggregates unless BAA covered. Vendor sprawl: no copies leave the boundary.</a:t>
            </a:r>
            <a:endParaRPr lang="en-US" sz="680" dirty="0"/>
          </a:p>
        </p:txBody>
      </p:sp>
      <p:sp>
        <p:nvSpPr>
          <p:cNvPr id="250" name="Shape 248"/>
          <p:cNvSpPr/>
          <p:nvPr/>
        </p:nvSpPr>
        <p:spPr>
          <a:xfrm>
            <a:off x="6131052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6222492" y="6163056"/>
            <a:ext cx="77724" cy="77724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6350508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6B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Audit and traceability</a:t>
            </a:r>
            <a:endParaRPr lang="en-US" sz="800" dirty="0"/>
          </a:p>
        </p:txBody>
      </p:sp>
      <p:sp>
        <p:nvSpPr>
          <p:cNvPr id="253" name="Text 251"/>
          <p:cNvSpPr txBox="1"/>
          <p:nvPr/>
        </p:nvSpPr>
        <p:spPr>
          <a:xfrm>
            <a:off x="6222492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gap resolves back to the source rows that produced it. Every query, answer and cohort is logged with user, purpose, timestamp, snapshot id and the evidence path returned. A gap that cannot be replayed is not published.</a:t>
            </a:r>
            <a:endParaRPr lang="en-US" sz="680" dirty="0"/>
          </a:p>
        </p:txBody>
      </p:sp>
      <p:sp>
        <p:nvSpPr>
          <p:cNvPr id="254" name="Shape 252"/>
          <p:cNvSpPr/>
          <p:nvPr/>
        </p:nvSpPr>
        <p:spPr>
          <a:xfrm>
            <a:off x="9141714" y="6071616"/>
            <a:ext cx="293751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9233154" y="6163056"/>
            <a:ext cx="77724" cy="7772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6" name="Text 254"/>
          <p:cNvSpPr txBox="1"/>
          <p:nvPr/>
        </p:nvSpPr>
        <p:spPr>
          <a:xfrm>
            <a:off x="9361170" y="61264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Scope of the proof</a:t>
            </a:r>
            <a:endParaRPr lang="en-US" sz="800" dirty="0"/>
          </a:p>
        </p:txBody>
      </p:sp>
      <p:sp>
        <p:nvSpPr>
          <p:cNvPr id="257" name="Text 255"/>
          <p:cNvSpPr txBox="1"/>
          <p:nvPr/>
        </p:nvSpPr>
        <p:spPr>
          <a:xfrm>
            <a:off x="9233154" y="630936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market, two service lines, ninety days. Build order: privacy boundary, then identity, then graph, then two gap engines, then one what-if. Success is a gap list a clinical leader and a network leader both sign.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37160"/>
            <a:ext cx="7315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TWELVE SCENARIOS, ONE ENGINE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the provider, facility and patient graph answers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915400" y="219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Every scenario is the same query shape: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the demand path exists, the supply path does not.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9728" y="1005840"/>
            <a:ext cx="2916936" cy="2926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28600" y="1005840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  ·  SUPPLY AND DEMAND MISMATCH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9728" y="13898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" y="15087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  Demand without supply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46888" y="18836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11" name="Text 9"/>
          <p:cNvSpPr txBox="1"/>
          <p:nvPr/>
        </p:nvSpPr>
        <p:spPr>
          <a:xfrm>
            <a:off x="246888" y="20208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Geography has inflow for a service line and no credentialed provider inside the drive time band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" y="2505456"/>
            <a:ext cx="68580" cy="68580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904" y="24597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Recruit, locum, telehealth or a transfer agreement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109728" y="29900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6888" y="31089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2  Supply without demand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46888" y="34838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246888" y="36210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Sessions and slots exist, encounter volume sits in the bottom decile for the peer group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" y="4105656"/>
            <a:ext cx="68580" cy="68580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4904" y="40599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Redeploy sessions, re-market, resize the template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109728" y="45902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6888" y="47091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3  Capability and credential mismatch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46888" y="50840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23" name="Text 21"/>
          <p:cNvSpPr txBox="1"/>
          <p:nvPr/>
        </p:nvSpPr>
        <p:spPr>
          <a:xfrm>
            <a:off x="246888" y="52212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site holds the asset, cath lab, MRI, labour and delivery, with nobody privileged to use it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6888" y="5705856"/>
            <a:ext cx="68580" cy="68580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" y="56601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1B6B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Privilege, credential, or move the asset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3120390" y="1005840"/>
            <a:ext cx="2916936" cy="2926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239262" y="1005840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B  ·  NETWORK COMPLETENESS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20390" y="13898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57550" y="15087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4  Incomplete service line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57550" y="18836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31" name="Text 29"/>
          <p:cNvSpPr txBox="1"/>
          <p:nvPr/>
        </p:nvSpPr>
        <p:spPr>
          <a:xfrm>
            <a:off x="3257550" y="20208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line requires N specialties and the site has N minus one, so care finishes somewhere else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57550" y="2505456"/>
            <a:ext cx="68580" cy="6858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85566" y="24597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Close the one gap that unlocks the whole line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3120390" y="29900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57550" y="31089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5  Single point of failure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257550" y="34838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37" name="Text 35"/>
          <p:cNvSpPr txBox="1"/>
          <p:nvPr/>
        </p:nvSpPr>
        <p:spPr>
          <a:xfrm>
            <a:off x="3257550" y="36210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provider is the only path to a service line in a county, and the graph names them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57550" y="4105656"/>
            <a:ext cx="68580" cy="6858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85566" y="40599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Succession and cross cover, blast radius quantified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3120390" y="45902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57550" y="47091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6  Volume below threshold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257550" y="50840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43" name="Text 41"/>
          <p:cNvSpPr txBox="1"/>
          <p:nvPr/>
        </p:nvSpPr>
        <p:spPr>
          <a:xfrm>
            <a:off x="3257550" y="52212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Complex procedures performed under the safe volume floor for that site or provider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7550" y="5705856"/>
            <a:ext cx="68580" cy="6858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85566" y="56601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Consolidate or refer, with the quality risk named</a:t>
            </a:r>
            <a:endParaRPr lang="en-US" sz="860" dirty="0"/>
          </a:p>
        </p:txBody>
      </p:sp>
      <p:sp>
        <p:nvSpPr>
          <p:cNvPr id="46" name="Shape 44"/>
          <p:cNvSpPr/>
          <p:nvPr/>
        </p:nvSpPr>
        <p:spPr>
          <a:xfrm>
            <a:off x="6131052" y="1005840"/>
            <a:ext cx="2916936" cy="2926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49924" y="1005840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  ·  PATIENT FLOW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31052" y="13898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8212" y="15087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7  Referral leakage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6268212" y="18836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51" name="Text 49"/>
          <p:cNvSpPr txBox="1"/>
          <p:nvPr/>
        </p:nvSpPr>
        <p:spPr>
          <a:xfrm>
            <a:off x="6268212" y="20208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Attributed patients treated out of network, traced along the actual referral edges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268212" y="2505456"/>
            <a:ext cx="68580" cy="6858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96228" y="24597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Recapture campaign that fixes the reason, not the symptom</a:t>
            </a:r>
            <a:endParaRPr lang="en-US" sz="860" dirty="0"/>
          </a:p>
        </p:txBody>
      </p:sp>
      <p:sp>
        <p:nvSpPr>
          <p:cNvPr id="54" name="Shape 52"/>
          <p:cNvSpPr/>
          <p:nvPr/>
        </p:nvSpPr>
        <p:spPr>
          <a:xfrm>
            <a:off x="6131052" y="29900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68212" y="31089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8  Bypass and travel burden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6268212" y="34838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57" name="Text 55"/>
          <p:cNvSpPr txBox="1"/>
          <p:nvPr/>
        </p:nvSpPr>
        <p:spPr>
          <a:xfrm>
            <a:off x="6268212" y="36210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Patients drive past a nearer site to reach a farther one, repeatedly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268212" y="4105656"/>
            <a:ext cx="68580" cy="6858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96228" y="40599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Isolates reputation against capability against access</a:t>
            </a:r>
            <a:endParaRPr lang="en-US" sz="860" dirty="0"/>
          </a:p>
        </p:txBody>
      </p:sp>
      <p:sp>
        <p:nvSpPr>
          <p:cNvPr id="60" name="Shape 58"/>
          <p:cNvSpPr/>
          <p:nvPr/>
        </p:nvSpPr>
        <p:spPr>
          <a:xfrm>
            <a:off x="6131052" y="45902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68212" y="47091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9  Referral chain depth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6268212" y="50840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63" name="Text 61"/>
          <p:cNvSpPr txBox="1"/>
          <p:nvPr/>
        </p:nvSpPr>
        <p:spPr>
          <a:xfrm>
            <a:off x="6268212" y="52212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Four hops to reach definitive care, every hop measurable in days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268212" y="5705856"/>
            <a:ext cx="68580" cy="6858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96228" y="56601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Shorten the path, open a direct access pathway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9141714" y="1005840"/>
            <a:ext cx="2916936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9260586" y="1005840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D  ·  ACCESS, QUALITY AND GROWTH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141714" y="13898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278874" y="15087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10  Adequacy and access deserts</a:t>
            </a:r>
            <a:endParaRPr lang="en-US" sz="1150" dirty="0"/>
          </a:p>
        </p:txBody>
      </p:sp>
      <p:sp>
        <p:nvSpPr>
          <p:cNvPr id="70" name="Text 68"/>
          <p:cNvSpPr txBox="1"/>
          <p:nvPr/>
        </p:nvSpPr>
        <p:spPr>
          <a:xfrm>
            <a:off x="9278874" y="18836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71" name="Text 69"/>
          <p:cNvSpPr txBox="1"/>
          <p:nvPr/>
        </p:nvSpPr>
        <p:spPr>
          <a:xfrm>
            <a:off x="9278874" y="20208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CMS time and distance failures by county and specialty, mapped onto the graph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278874" y="2505456"/>
            <a:ext cx="68580" cy="685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406890" y="24597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Filing evidence, and the fewest hires that fix the most counties</a:t>
            </a:r>
            <a:endParaRPr lang="en-US" sz="860" dirty="0"/>
          </a:p>
        </p:txBody>
      </p:sp>
      <p:sp>
        <p:nvSpPr>
          <p:cNvPr id="74" name="Shape 72"/>
          <p:cNvSpPr/>
          <p:nvPr/>
        </p:nvSpPr>
        <p:spPr>
          <a:xfrm>
            <a:off x="9141714" y="29900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278874" y="31089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11  Inflow high, outcome weak</a:t>
            </a:r>
            <a:endParaRPr lang="en-US" sz="1150" dirty="0"/>
          </a:p>
        </p:txBody>
      </p:sp>
      <p:sp>
        <p:nvSpPr>
          <p:cNvPr id="76" name="Text 74"/>
          <p:cNvSpPr txBox="1"/>
          <p:nvPr/>
        </p:nvSpPr>
        <p:spPr>
          <a:xfrm>
            <a:off x="9278874" y="34838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77" name="Text 75"/>
          <p:cNvSpPr txBox="1"/>
          <p:nvPr/>
        </p:nvSpPr>
        <p:spPr>
          <a:xfrm>
            <a:off x="9278874" y="36210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Volume in the top decile with risk adjusted O over E above the peer benchmark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278874" y="4105656"/>
            <a:ext cx="68580" cy="685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06890" y="40599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Quality campaign, and steer volume to the strong sites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9141714" y="4590288"/>
            <a:ext cx="2916936" cy="1490472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278874" y="4709160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12  Hire and site simulation</a:t>
            </a:r>
            <a:endParaRPr lang="en-US" sz="1150" dirty="0"/>
          </a:p>
        </p:txBody>
      </p:sp>
      <p:sp>
        <p:nvSpPr>
          <p:cNvPr id="82" name="Text 80"/>
          <p:cNvSpPr txBox="1"/>
          <p:nvPr/>
        </p:nvSpPr>
        <p:spPr>
          <a:xfrm>
            <a:off x="9278874" y="5084064"/>
            <a:ext cx="2642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spc="50" kern="0" dirty="0">
                <a:solidFill>
                  <a:srgbClr val="5A6573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IN THE GRAPH</a:t>
            </a:r>
            <a:endParaRPr lang="en-US" sz="620" dirty="0"/>
          </a:p>
        </p:txBody>
      </p:sp>
      <p:sp>
        <p:nvSpPr>
          <p:cNvPr id="83" name="Text 81"/>
          <p:cNvSpPr txBox="1"/>
          <p:nvPr/>
        </p:nvSpPr>
        <p:spPr>
          <a:xfrm>
            <a:off x="9278874" y="5221224"/>
            <a:ext cx="26426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Insert a hypothetical provider or site, re-run every traversal, diff the result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278874" y="5705856"/>
            <a:ext cx="68580" cy="685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9406890" y="5660136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Patients gaining access and leakage recaptured, before you spend</a:t>
            </a:r>
            <a:endParaRPr lang="en-US" sz="860" dirty="0"/>
          </a:p>
        </p:txBody>
      </p:sp>
      <p:sp>
        <p:nvSpPr>
          <p:cNvPr id="86" name="Shape 84"/>
          <p:cNvSpPr/>
          <p:nvPr/>
        </p:nvSpPr>
        <p:spPr>
          <a:xfrm>
            <a:off x="109728" y="6236208"/>
            <a:ext cx="11969496" cy="457200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87" name="Shape 85"/>
          <p:cNvSpPr/>
          <p:nvPr/>
        </p:nvSpPr>
        <p:spPr>
          <a:xfrm>
            <a:off x="274320" y="6400800"/>
            <a:ext cx="91440" cy="9144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57200" y="6236208"/>
            <a:ext cx="1152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Each scenario returns the same four things: the evidence path, the patients affected, the recommended action, and a cohort ready to activate.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37160"/>
            <a:ext cx="5486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THE GRAPH MODEL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Seven decisions that make this more than a provider directory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418320" y="219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Each one is cheap to build in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and expensive to retrofit.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9728" y="1024128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" y="1024128"/>
            <a:ext cx="347472" cy="347472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069848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Bitemporal by default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1554480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edge carries two clocks: when it was true in the world, and when we learned it.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Claims arrive ninety days late and credentials move. Without both clocks you cannot tell a real change from a late arrival.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74320" y="2962656"/>
            <a:ext cx="68580" cy="6858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2336" y="2916936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C7740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Ask what was true in March, and what we believed in March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3129534" y="1024128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29534" y="1024128"/>
            <a:ext cx="347472" cy="34747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29534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86734" y="1069848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Relationships are nodes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94126" y="1554480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Affiliation, Privilege and Coverage are objects, not plain edges, so each holds its own dates, confidence, evidence and scope.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Other edges can then point at them.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3294126" y="2962656"/>
            <a:ext cx="68580" cy="6858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22142" y="2916936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C2185B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 disputed coverage claim keeps both sides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149340" y="1024128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9340" y="1024128"/>
            <a:ext cx="347472" cy="347472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49340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1069848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Assertion plane, evidence plane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13932" y="1554480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assertion resolves to evidence nodes: source, extract, row, hash.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 evidence path means no publication. The rule is enforced by the engine, not by habit.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6313932" y="2962656"/>
            <a:ext cx="68580" cy="68580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1948" y="2916936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7A4FC0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Defensible in a contracting conversation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9169146" y="1024128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69146" y="1024128"/>
            <a:ext cx="347472" cy="34747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69146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626346" y="1069848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Capability algebra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333738" y="1554480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service line is a specification: required specialties, required capabilities, coverage window, minimum volume.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Gap detection becomes constraint satisfaction over the graph instead of a library of hand written queries.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9333738" y="2962656"/>
            <a:ext cx="68580" cy="6858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1754" y="2916936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C62828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A new service line is a spec row, not new code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109728" y="3511296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728" y="3511296"/>
            <a:ext cx="347472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9728" y="3511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3557016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Symbolic plus vector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74320" y="4041648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Typed traversal handles the hard constraints. Embeddings handle likeness: who could substitute, which site is comparable.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Anchor symbolically, rank by vector, never the reverse.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274320" y="5449824"/>
            <a:ext cx="68580" cy="685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02336" y="5404104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2E7D32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Similarity never overrules a credential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3129534" y="3511296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29534" y="3511296"/>
            <a:ext cx="347472" cy="347472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129534" y="3511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586734" y="3557016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Shadow graph for what-if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294126" y="4041648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Hypothetical providers and sites are written into a copy on write namespace.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Traversals run against base plus shadow and the diff is the answer. The base graph never mutates.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3294126" y="5449824"/>
            <a:ext cx="68580" cy="68580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22142" y="5404104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0E8A7D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Simulate the hire before you fund it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6149340" y="3511296"/>
            <a:ext cx="2910078" cy="2340864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49340" y="3511296"/>
            <a:ext cx="347472" cy="347472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149340" y="3511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606540" y="3557016"/>
            <a:ext cx="2343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Private by construction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313932" y="4041648"/>
            <a:ext cx="258089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Patient nodes are tokenised and degree limited; the cohort is the queryable unit.</a:t>
            </a: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endParaRPr lang="en-US" sz="92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92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graph is itself a re-identification vector: rare specialty plus rare condition plus small geography identifies a person.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6313932" y="5449824"/>
            <a:ext cx="68580" cy="685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41948" y="5404104"/>
            <a:ext cx="2471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A1B9A"/>
                </a:solidFill>
                <a:latin typeface="Trenda IG Text Semibold" pitchFamily="34" charset="0"/>
                <a:ea typeface="Trenda IG Text Semibold" pitchFamily="34" charset="-122"/>
                <a:cs typeface="Trenda IG Text Semibold" pitchFamily="34" charset="-120"/>
              </a:rPr>
              <a:t>k-anonymity in the query compiler, not the dashboard</a:t>
            </a:r>
            <a:endParaRPr lang="en-US" sz="880" dirty="0"/>
          </a:p>
        </p:txBody>
      </p:sp>
      <p:sp>
        <p:nvSpPr>
          <p:cNvPr id="55" name="Shape 53"/>
          <p:cNvSpPr/>
          <p:nvPr/>
        </p:nvSpPr>
        <p:spPr>
          <a:xfrm>
            <a:off x="9169146" y="3511296"/>
            <a:ext cx="2910078" cy="2340864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333738" y="3675888"/>
            <a:ext cx="2580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D0C0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Why it has to be this way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9333738" y="4041648"/>
            <a:ext cx="258089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directory tells you who exists. This tells you what is missing, and proves it.</a:t>
            </a:r>
            <a:endParaRPr lang="en-US" sz="920" dirty="0"/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Every answer is reproducible at a date, which is what makes it safe to act on.</a:t>
            </a:r>
            <a:endParaRPr lang="en-US" sz="920" dirty="0"/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920" dirty="0">
                <a:solidFill>
                  <a:srgbClr val="D8DEE6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The model is domain neutral. Swap the specification and it serves another network.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109728" y="6199632"/>
            <a:ext cx="11969496" cy="493776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59" name="Shape 57"/>
          <p:cNvSpPr/>
          <p:nvPr/>
        </p:nvSpPr>
        <p:spPr>
          <a:xfrm>
            <a:off x="274320" y="6373368"/>
            <a:ext cx="91440" cy="9144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57200" y="6199632"/>
            <a:ext cx="11521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None of this is exotic. It is the difference between a graph that stores what exists and one that can prove what is missing.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37160"/>
            <a:ext cx="5486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FD0C0"/>
                </a:solidFill>
                <a:latin typeface="Trenda IG Display Semibold" pitchFamily="34" charset="0"/>
                <a:ea typeface="Trenda IG Display Semibold" pitchFamily="34" charset="-122"/>
                <a:cs typeface="Trenda IG Display Semibold" pitchFamily="34" charset="-120"/>
              </a:rPr>
              <a:t>FEASIBILITY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576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Yes. It is a graph problem, not a dashboard problem.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098280" y="40233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9B4C2"/>
                </a:solidFill>
                <a:latin typeface="Trenda IG Text Light" pitchFamily="34" charset="0"/>
                <a:ea typeface="Trenda IG Text Light" pitchFamily="34" charset="-122"/>
                <a:cs typeface="Trenda IG Text Light" pitchFamily="34" charset="-120"/>
              </a:rPr>
              <a:t>A gap is a missing path, not a missing 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9728" y="1024128"/>
            <a:ext cx="5934456" cy="237744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1271016"/>
            <a:ext cx="100584" cy="100584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9496" y="1188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Why a graph and not a report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1600200"/>
            <a:ext cx="5349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 star schema answers how many cardiologists are in a county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It cannot answer which counties have demand for a service line whose required specialty has no privileged provider within thirty minutes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That is variable depth traversal across nine entity types, where the answer is an absent edge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One modelling decision makes it computable: a service line declares what it REQUIRES, so every site and credential is tested against it automatically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024128"/>
            <a:ext cx="5934456" cy="237744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1271016"/>
            <a:ext cx="100584" cy="100584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4536" y="1188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What we must have, and what degrades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1600200"/>
            <a:ext cx="5349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Must have: provider directory with NPI and taxonomy, credentialing roster, encounter or claims history, facility capability registry, patient geography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Degrades gracefully: privileging detail, wait time series, payer contract terms, outcome registries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Without bookable supply the capacity index falls back to a proxy, and no slots cannot be separated from a bad template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9728" y="3547872"/>
            <a:ext cx="5934456" cy="237744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" y="3794760"/>
            <a:ext cx="100584" cy="10058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9496" y="37124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The five hard problems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39496" y="4123944"/>
            <a:ext cx="5349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Identity resolution is the ceiling on every number. Roster, claims and NPPES disagree about who works where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Privileging data is usually the weakest source, and scenario three depends on it entirely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Bookable against booked supply decides whether capacity is real or inferred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Attribution: whose patient is it. One versioned rule per service line, agreed before build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Re-identification risk is a design constraint, not a review step. It sets what the graph may hold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44768" y="3547872"/>
            <a:ext cx="5934456" cy="2377440"/>
          </a:xfrm>
          <a:prstGeom prst="rect">
            <a:avLst/>
          </a:prstGeom>
          <a:solidFill>
            <a:srgbClr val="F4F6F9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4224" y="3794760"/>
            <a:ext cx="100584" cy="10058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74536" y="37124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Trenda IG Display Bold" pitchFamily="34" charset="0"/>
                <a:ea typeface="Trenda IG Display Bold" pitchFamily="34" charset="-122"/>
                <a:cs typeface="Trenda IG Display Bold" pitchFamily="34" charset="-120"/>
              </a:rPr>
              <a:t>Ninety day proof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574536" y="4123944"/>
            <a:ext cx="5349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Weeks 1 to 3: one market, two service lines. Source inventory, attribution rule, required specialty map, privacy boundary design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Weeks 4 to 7: boundary and identity resolution live. Match rate and k-anonymity floor published as the first deliverable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Weeks 8 to 11: two gap engines, scenarios one and three, reviewed by a clinical SME</a:t>
            </a:r>
            <a:endParaRPr lang="en-US" sz="10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Weeks 12 to 13: one what-if simulation, and a gap list a clinical leader and a network leader both sign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9728" y="6199632"/>
            <a:ext cx="11969496" cy="493776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6373368"/>
            <a:ext cx="91440" cy="9144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6199632"/>
            <a:ext cx="11521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nda IG Text" pitchFamily="34" charset="0"/>
                <a:ea typeface="Trenda IG Text" pitchFamily="34" charset="-122"/>
                <a:cs typeface="Trenda IG Text" pitchFamily="34" charset="-120"/>
              </a:rPr>
              <a:t>None of the five are blockers. All five are decisions to take in week one, rather than discoveries to make in month three.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Network Knowledge Graph</dc:title>
  <dc:subject>PptxGenJS Presentation</dc:subject>
  <dc:creator>Insight Global Labs</dc:creator>
  <cp:lastModifiedBy>Insight Global Labs</cp:lastModifiedBy>
  <cp:revision>1</cp:revision>
  <dcterms:created xsi:type="dcterms:W3CDTF">2026-09-21T12:22:31Z</dcterms:created>
  <dcterms:modified xsi:type="dcterms:W3CDTF">2026-09-21T12:22:31Z</dcterms:modified>
</cp:coreProperties>
</file>