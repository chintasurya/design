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9728" y="64008"/>
            <a:ext cx="3200400" cy="612648"/>
          </a:xfrm>
          <a:prstGeom prst="rect">
            <a:avLst/>
          </a:prstGeom>
          <a:solidFill>
            <a:srgbClr val="FFFFFF"/>
          </a:solidFill>
          <a:ln w="9525">
            <a:solidFill>
              <a:srgbClr val="D5D9DE"/>
            </a:solidFill>
            <a:prstDash val="solid"/>
          </a:ln>
        </p:spPr>
      </p:sp>
      <p:sp>
        <p:nvSpPr>
          <p:cNvPr id="3" name="Text 1"/>
          <p:cNvSpPr txBox="1"/>
          <p:nvPr/>
        </p:nvSpPr>
        <p:spPr>
          <a:xfrm>
            <a:off x="210312" y="118872"/>
            <a:ext cx="3017520" cy="173736"/>
          </a:xfrm>
          <a:prstGeom prst="rect">
            <a:avLst/>
          </a:prstGeom>
          <a:noFill/>
          <a:ln/>
        </p:spPr>
        <p:txBody>
          <a:bodyPr wrap="square" lIns="0" tIns="0" rIns="0" bIns="0" rtlCol="0" anchor="t"/>
          <a:lstStyle/>
          <a:p>
            <a:pPr indent="0" marL="0">
              <a:buNone/>
            </a:pPr>
            <a:r>
              <a:rPr lang="en-US" sz="950" spc="50" kern="0" dirty="0">
                <a:solidFill>
                  <a:srgbClr val="1B6BC0"/>
                </a:solidFill>
                <a:latin typeface="Trenda IG Display Bold" pitchFamily="34" charset="0"/>
                <a:ea typeface="Trenda IG Display Bold" pitchFamily="34" charset="-122"/>
                <a:cs typeface="Trenda IG Display Bold" pitchFamily="34" charset="-120"/>
              </a:rPr>
              <a:t>SEVEN AUTHORITATIVE SOURCES</a:t>
            </a:r>
            <a:endParaRPr lang="en-US" sz="950" dirty="0"/>
          </a:p>
        </p:txBody>
      </p:sp>
      <p:sp>
        <p:nvSpPr>
          <p:cNvPr id="4" name="Text 2"/>
          <p:cNvSpPr txBox="1"/>
          <p:nvPr/>
        </p:nvSpPr>
        <p:spPr>
          <a:xfrm>
            <a:off x="210312" y="292608"/>
            <a:ext cx="3017520" cy="237744"/>
          </a:xfrm>
          <a:prstGeom prst="rect">
            <a:avLst/>
          </a:prstGeom>
          <a:noFill/>
          <a:ln/>
        </p:spPr>
        <p:txBody>
          <a:bodyPr wrap="square" lIns="0" tIns="0" rIns="0" bIns="0" rtlCol="0" anchor="t"/>
          <a:lstStyle/>
          <a:p>
            <a:pPr indent="0" marL="0">
              <a:lnSpc>
                <a:spcPct val="100000"/>
              </a:lnSpc>
              <a:buNone/>
            </a:pPr>
            <a:r>
              <a:rPr lang="en-US" sz="750" dirty="0">
                <a:solidFill>
                  <a:srgbClr val="1A1A1A"/>
                </a:solidFill>
                <a:latin typeface="Trenda IG Text Semibold" pitchFamily="34" charset="0"/>
                <a:ea typeface="Trenda IG Text Semibold" pitchFamily="34" charset="-122"/>
                <a:cs typeface="Trenda IG Text Semibold" pitchFamily="34" charset="-120"/>
              </a:rPr>
              <a:t>EHR  ·  Credentialing  ·  Directory  ·  Scheduling  ·  Claims  ·  Referrals  ·  Geography</a:t>
            </a:r>
            <a:endParaRPr lang="en-US" sz="750" dirty="0"/>
          </a:p>
        </p:txBody>
      </p:sp>
      <p:sp>
        <p:nvSpPr>
          <p:cNvPr id="5" name="Text 3"/>
          <p:cNvSpPr txBox="1"/>
          <p:nvPr/>
        </p:nvSpPr>
        <p:spPr>
          <a:xfrm>
            <a:off x="210312" y="534924"/>
            <a:ext cx="3017520" cy="137160"/>
          </a:xfrm>
          <a:prstGeom prst="rect">
            <a:avLst/>
          </a:prstGeom>
          <a:noFill/>
          <a:ln/>
        </p:spPr>
        <p:txBody>
          <a:bodyPr wrap="square" lIns="0" tIns="0" rIns="0" bIns="0" rtlCol="0" anchor="t"/>
          <a:lstStyle/>
          <a:p>
            <a:pPr indent="0" marL="0">
              <a:buNone/>
            </a:pPr>
            <a:r>
              <a:rPr lang="en-US" sz="700" dirty="0">
                <a:solidFill>
                  <a:srgbClr val="5A6573"/>
                </a:solidFill>
                <a:latin typeface="Trenda IG Text Light" pitchFamily="34" charset="0"/>
                <a:ea typeface="Trenda IG Text Light" pitchFamily="34" charset="-122"/>
                <a:cs typeface="Trenda IG Text Light" pitchFamily="34" charset="-120"/>
              </a:rPr>
              <a:t>read only  ·  tokenised at the boundary  ·  provenance tagged</a:t>
            </a:r>
            <a:endParaRPr lang="en-US" sz="700" dirty="0"/>
          </a:p>
        </p:txBody>
      </p:sp>
      <p:sp>
        <p:nvSpPr>
          <p:cNvPr id="6" name="Shape 4"/>
          <p:cNvSpPr/>
          <p:nvPr/>
        </p:nvSpPr>
        <p:spPr>
          <a:xfrm>
            <a:off x="3456432" y="64008"/>
            <a:ext cx="5230368" cy="612648"/>
          </a:xfrm>
          <a:prstGeom prst="rect">
            <a:avLst/>
          </a:prstGeom>
          <a:solidFill>
            <a:srgbClr val="0E1B2E"/>
          </a:solidFill>
          <a:ln/>
        </p:spPr>
      </p:sp>
      <p:sp>
        <p:nvSpPr>
          <p:cNvPr id="7" name="Text 5"/>
          <p:cNvSpPr txBox="1"/>
          <p:nvPr/>
        </p:nvSpPr>
        <p:spPr>
          <a:xfrm>
            <a:off x="3547872" y="109728"/>
            <a:ext cx="5047488" cy="228600"/>
          </a:xfrm>
          <a:prstGeom prst="rect">
            <a:avLst/>
          </a:prstGeom>
          <a:noFill/>
          <a:ln/>
        </p:spPr>
        <p:txBody>
          <a:bodyPr wrap="square" lIns="0" tIns="0" rIns="0" bIns="0" rtlCol="0" anchor="t"/>
          <a:lstStyle/>
          <a:p>
            <a:pPr algn="ctr" indent="0" marL="0">
              <a:buNone/>
            </a:pPr>
            <a:r>
              <a:rPr lang="en-US" sz="1450" dirty="0">
                <a:solidFill>
                  <a:srgbClr val="FFFFFF"/>
                </a:solidFill>
                <a:latin typeface="Trenda IG Display Bold" pitchFamily="34" charset="0"/>
                <a:ea typeface="Trenda IG Display Bold" pitchFamily="34" charset="-122"/>
                <a:cs typeface="Trenda IG Display Bold" pitchFamily="34" charset="-120"/>
              </a:rPr>
              <a:t>PROVIDER, FACILITY AND PATIENT DEMAND</a:t>
            </a:r>
            <a:endParaRPr lang="en-US" sz="1450" dirty="0"/>
          </a:p>
        </p:txBody>
      </p:sp>
      <p:sp>
        <p:nvSpPr>
          <p:cNvPr id="8" name="Text 6"/>
          <p:cNvSpPr txBox="1"/>
          <p:nvPr/>
        </p:nvSpPr>
        <p:spPr>
          <a:xfrm>
            <a:off x="3547872" y="329184"/>
            <a:ext cx="5047488" cy="182880"/>
          </a:xfrm>
          <a:prstGeom prst="rect">
            <a:avLst/>
          </a:prstGeom>
          <a:noFill/>
          <a:ln/>
        </p:spPr>
        <p:txBody>
          <a:bodyPr wrap="square" lIns="0" tIns="0" rIns="0" bIns="0" rtlCol="0" anchor="t"/>
          <a:lstStyle/>
          <a:p>
            <a:pPr algn="ctr" indent="0" marL="0">
              <a:buNone/>
            </a:pPr>
            <a:r>
              <a:rPr lang="en-US" sz="1000" dirty="0">
                <a:solidFill>
                  <a:srgbClr val="5FD0C0"/>
                </a:solidFill>
                <a:latin typeface="Trenda IG Display Semibold" pitchFamily="34" charset="0"/>
                <a:ea typeface="Trenda IG Display Semibold" pitchFamily="34" charset="-122"/>
                <a:cs typeface="Trenda IG Display Semibold" pitchFamily="34" charset="-120"/>
              </a:rPr>
              <a:t>Clinical Network Knowledge Graph Architecture</a:t>
            </a:r>
            <a:endParaRPr lang="en-US" sz="1000" dirty="0"/>
          </a:p>
        </p:txBody>
      </p:sp>
      <p:sp>
        <p:nvSpPr>
          <p:cNvPr id="9" name="Text 7"/>
          <p:cNvSpPr txBox="1"/>
          <p:nvPr/>
        </p:nvSpPr>
        <p:spPr>
          <a:xfrm>
            <a:off x="3547872" y="521208"/>
            <a:ext cx="5047488" cy="137160"/>
          </a:xfrm>
          <a:prstGeom prst="rect">
            <a:avLst/>
          </a:prstGeom>
          <a:noFill/>
          <a:ln/>
        </p:spPr>
        <p:txBody>
          <a:bodyPr wrap="square" lIns="0" tIns="0" rIns="0" bIns="0" rtlCol="0" anchor="t"/>
          <a:lstStyle/>
          <a:p>
            <a:pPr algn="ctr" indent="0" marL="0">
              <a:buNone/>
            </a:pPr>
            <a:r>
              <a:rPr lang="en-US" sz="620" dirty="0">
                <a:solidFill>
                  <a:srgbClr val="A9B4C2"/>
                </a:solidFill>
                <a:latin typeface="Trenda IG Text" pitchFamily="34" charset="0"/>
                <a:ea typeface="Trenda IG Text" pitchFamily="34" charset="-122"/>
                <a:cs typeface="Trenda IG Text" pitchFamily="34" charset="-120"/>
              </a:rPr>
              <a:t>sources → connectors → privacy boundary → identity → domain model → storage → derived edges → graph → gap engines</a:t>
            </a:r>
            <a:endParaRPr lang="en-US" sz="620" dirty="0"/>
          </a:p>
        </p:txBody>
      </p:sp>
      <p:sp>
        <p:nvSpPr>
          <p:cNvPr id="10" name="Shape 8"/>
          <p:cNvSpPr/>
          <p:nvPr/>
        </p:nvSpPr>
        <p:spPr>
          <a:xfrm>
            <a:off x="8796528" y="64008"/>
            <a:ext cx="3282696" cy="612648"/>
          </a:xfrm>
          <a:prstGeom prst="rect">
            <a:avLst/>
          </a:prstGeom>
          <a:solidFill>
            <a:srgbClr val="FFFFFF"/>
          </a:solidFill>
          <a:ln w="9525">
            <a:solidFill>
              <a:srgbClr val="D5D9DE"/>
            </a:solidFill>
            <a:prstDash val="solid"/>
          </a:ln>
        </p:spPr>
      </p:sp>
      <p:sp>
        <p:nvSpPr>
          <p:cNvPr id="11" name="Text 9"/>
          <p:cNvSpPr txBox="1"/>
          <p:nvPr/>
        </p:nvSpPr>
        <p:spPr>
          <a:xfrm>
            <a:off x="8897112" y="118872"/>
            <a:ext cx="3108960" cy="173736"/>
          </a:xfrm>
          <a:prstGeom prst="rect">
            <a:avLst/>
          </a:prstGeom>
          <a:noFill/>
          <a:ln/>
        </p:spPr>
        <p:txBody>
          <a:bodyPr wrap="square" lIns="0" tIns="0" rIns="0" bIns="0" rtlCol="0" anchor="t"/>
          <a:lstStyle/>
          <a:p>
            <a:pPr indent="0" marL="0">
              <a:buNone/>
            </a:pPr>
            <a:r>
              <a:rPr lang="en-US" sz="950" spc="50" kern="0" dirty="0">
                <a:solidFill>
                  <a:srgbClr val="2E7D32"/>
                </a:solidFill>
                <a:latin typeface="Trenda IG Display Bold" pitchFamily="34" charset="0"/>
                <a:ea typeface="Trenda IG Display Bold" pitchFamily="34" charset="-122"/>
                <a:cs typeface="Trenda IG Display Bold" pitchFamily="34" charset="-120"/>
              </a:rPr>
              <a:t>WHAT THE GRAPH ANSWERS</a:t>
            </a:r>
            <a:endParaRPr lang="en-US" sz="950" dirty="0"/>
          </a:p>
        </p:txBody>
      </p:sp>
      <p:sp>
        <p:nvSpPr>
          <p:cNvPr id="12" name="Text 10"/>
          <p:cNvSpPr txBox="1"/>
          <p:nvPr/>
        </p:nvSpPr>
        <p:spPr>
          <a:xfrm>
            <a:off x="8897112" y="310896"/>
            <a:ext cx="3090672" cy="219456"/>
          </a:xfrm>
          <a:prstGeom prst="rect">
            <a:avLst/>
          </a:prstGeom>
          <a:noFill/>
          <a:ln/>
        </p:spPr>
        <p:txBody>
          <a:bodyPr wrap="square" lIns="0" tIns="0" rIns="0" bIns="0" rtlCol="0" anchor="t"/>
          <a:lstStyle/>
          <a:p>
            <a:pPr indent="0" marL="0">
              <a:lnSpc>
                <a:spcPct val="102000"/>
              </a:lnSpc>
              <a:buNone/>
            </a:pPr>
            <a:r>
              <a:rPr lang="en-US" sz="700" dirty="0">
                <a:solidFill>
                  <a:srgbClr val="1A1A1A"/>
                </a:solidFill>
                <a:latin typeface="Trenda IG Text" pitchFamily="34" charset="0"/>
                <a:ea typeface="Trenda IG Text" pitchFamily="34" charset="-122"/>
                <a:cs typeface="Trenda IG Text" pitchFamily="34" charset="-120"/>
              </a:rPr>
              <a:t>Where demand has no provider  ·  where a provider has no demand  ·  where capability and credential do not meet  ·  where patients leave</a:t>
            </a:r>
            <a:endParaRPr lang="en-US" sz="700" dirty="0"/>
          </a:p>
        </p:txBody>
      </p:sp>
      <p:sp>
        <p:nvSpPr>
          <p:cNvPr id="13" name="Text 11"/>
          <p:cNvSpPr txBox="1"/>
          <p:nvPr/>
        </p:nvSpPr>
        <p:spPr>
          <a:xfrm>
            <a:off x="8897112" y="521208"/>
            <a:ext cx="3090672" cy="137160"/>
          </a:xfrm>
          <a:prstGeom prst="rect">
            <a:avLst/>
          </a:prstGeom>
          <a:noFill/>
          <a:ln/>
        </p:spPr>
        <p:txBody>
          <a:bodyPr wrap="square" lIns="0" tIns="0" rIns="0" bIns="0" rtlCol="0" anchor="t"/>
          <a:lstStyle/>
          <a:p>
            <a:pPr indent="0" marL="0">
              <a:buNone/>
            </a:pPr>
            <a:r>
              <a:rPr lang="en-US" sz="700" dirty="0">
                <a:solidFill>
                  <a:srgbClr val="2E7D32"/>
                </a:solidFill>
                <a:latin typeface="Trenda IG Text Semibold" pitchFamily="34" charset="0"/>
                <a:ea typeface="Trenda IG Text Semibold" pitchFamily="34" charset="-122"/>
                <a:cs typeface="Trenda IG Text Semibold" pitchFamily="34" charset="-120"/>
              </a:rPr>
              <a:t>The missing edge is the answer</a:t>
            </a:r>
            <a:endParaRPr lang="en-US" sz="700" dirty="0"/>
          </a:p>
        </p:txBody>
      </p:sp>
      <p:sp>
        <p:nvSpPr>
          <p:cNvPr id="14" name="Shape 12"/>
          <p:cNvSpPr/>
          <p:nvPr/>
        </p:nvSpPr>
        <p:spPr>
          <a:xfrm>
            <a:off x="109728" y="713232"/>
            <a:ext cx="1289304" cy="621792"/>
          </a:xfrm>
          <a:prstGeom prst="rect">
            <a:avLst/>
          </a:prstGeom>
          <a:solidFill>
            <a:srgbClr val="1B6BC0"/>
          </a:solidFill>
          <a:ln/>
        </p:spPr>
      </p:sp>
      <p:sp>
        <p:nvSpPr>
          <p:cNvPr id="15" name="Text 13"/>
          <p:cNvSpPr txBox="1"/>
          <p:nvPr/>
        </p:nvSpPr>
        <p:spPr>
          <a:xfrm>
            <a:off x="155448" y="758952"/>
            <a:ext cx="1197864" cy="137160"/>
          </a:xfrm>
          <a:prstGeom prst="rect">
            <a:avLst/>
          </a:prstGeom>
          <a:noFill/>
          <a:ln/>
        </p:spPr>
        <p:txBody>
          <a:bodyPr wrap="square" lIns="0" tIns="0" rIns="0" bIns="0" rtlCol="0" anchor="t"/>
          <a:lstStyle/>
          <a:p>
            <a:pPr algn="ctr" indent="0" marL="0">
              <a:buNone/>
            </a:pPr>
            <a:r>
              <a:rPr lang="en-US" sz="750" spc="40" kern="0" dirty="0">
                <a:solidFill>
                  <a:srgbClr val="FFFFFF"/>
                </a:solidFill>
                <a:latin typeface="Trenda IG Display Semibold" pitchFamily="34" charset="0"/>
                <a:ea typeface="Trenda IG Display Semibold" pitchFamily="34" charset="-122"/>
                <a:cs typeface="Trenda IG Display Semibold" pitchFamily="34" charset="-120"/>
              </a:rPr>
              <a:t>LAYER 1</a:t>
            </a:r>
            <a:endParaRPr lang="en-US" sz="750" dirty="0"/>
          </a:p>
        </p:txBody>
      </p:sp>
      <p:sp>
        <p:nvSpPr>
          <p:cNvPr id="16" name="Text 14"/>
          <p:cNvSpPr txBox="1"/>
          <p:nvPr/>
        </p:nvSpPr>
        <p:spPr>
          <a:xfrm>
            <a:off x="146304" y="886968"/>
            <a:ext cx="1216152" cy="329184"/>
          </a:xfrm>
          <a:prstGeom prst="rect">
            <a:avLst/>
          </a:prstGeom>
          <a:noFill/>
          <a:ln/>
        </p:spPr>
        <p:txBody>
          <a:bodyPr wrap="square" lIns="0" tIns="0" rIns="0" bIns="0" rtlCol="0" anchor="t"/>
          <a:lstStyle/>
          <a:p>
            <a:pPr algn="ctr" indent="0" marL="0">
              <a:lnSpc>
                <a:spcPct val="92000"/>
              </a:lnSpc>
              <a:buNone/>
            </a:pPr>
            <a:r>
              <a:rPr lang="en-US" sz="1000" dirty="0">
                <a:solidFill>
                  <a:srgbClr val="FFFFFF"/>
                </a:solidFill>
                <a:latin typeface="Trenda IG Display Bold" pitchFamily="34" charset="0"/>
                <a:ea typeface="Trenda IG Display Bold" pitchFamily="34" charset="-122"/>
                <a:cs typeface="Trenda IG Display Bold" pitchFamily="34" charset="-120"/>
              </a:rPr>
              <a:t>Source Systems</a:t>
            </a:r>
            <a:endParaRPr lang="en-US" sz="1000" dirty="0"/>
          </a:p>
        </p:txBody>
      </p:sp>
      <p:sp>
        <p:nvSpPr>
          <p:cNvPr id="17" name="Text 15"/>
          <p:cNvSpPr txBox="1"/>
          <p:nvPr/>
        </p:nvSpPr>
        <p:spPr>
          <a:xfrm>
            <a:off x="155448" y="1188720"/>
            <a:ext cx="1197864" cy="137160"/>
          </a:xfrm>
          <a:prstGeom prst="rect">
            <a:avLst/>
          </a:prstGeom>
          <a:noFill/>
          <a:ln/>
        </p:spPr>
        <p:txBody>
          <a:bodyPr wrap="square" lIns="0" tIns="0" rIns="0" bIns="0" rtlCol="0" anchor="t"/>
          <a:lstStyle/>
          <a:p>
            <a:pPr algn="ctr" indent="0" marL="0">
              <a:buNone/>
            </a:pPr>
            <a:r>
              <a:rPr lang="en-US" sz="650" dirty="0">
                <a:solidFill>
                  <a:srgbClr val="E4EEF2"/>
                </a:solidFill>
                <a:latin typeface="Trenda IG Text Light" pitchFamily="34" charset="0"/>
                <a:ea typeface="Trenda IG Text Light" pitchFamily="34" charset="-122"/>
                <a:cs typeface="Trenda IG Text Light" pitchFamily="34" charset="-120"/>
              </a:rPr>
              <a:t>Systems of record</a:t>
            </a:r>
            <a:endParaRPr lang="en-US" sz="650" dirty="0"/>
          </a:p>
        </p:txBody>
      </p:sp>
      <p:sp>
        <p:nvSpPr>
          <p:cNvPr id="18" name="Shape 16"/>
          <p:cNvSpPr/>
          <p:nvPr/>
        </p:nvSpPr>
        <p:spPr>
          <a:xfrm>
            <a:off x="109728" y="1353312"/>
            <a:ext cx="1289304" cy="4334256"/>
          </a:xfrm>
          <a:prstGeom prst="rect">
            <a:avLst/>
          </a:prstGeom>
          <a:solidFill>
            <a:srgbClr val="FFFFFF"/>
          </a:solidFill>
          <a:ln w="9525">
            <a:solidFill>
              <a:srgbClr val="D5D9DE"/>
            </a:solidFill>
            <a:prstDash val="solid"/>
          </a:ln>
        </p:spPr>
      </p:sp>
      <p:sp>
        <p:nvSpPr>
          <p:cNvPr id="19" name="Shape 17"/>
          <p:cNvSpPr/>
          <p:nvPr/>
        </p:nvSpPr>
        <p:spPr>
          <a:xfrm>
            <a:off x="182880" y="1467612"/>
            <a:ext cx="64008" cy="64008"/>
          </a:xfrm>
          <a:prstGeom prst="rect">
            <a:avLst/>
          </a:prstGeom>
          <a:solidFill>
            <a:srgbClr val="1B6BC0"/>
          </a:solidFill>
          <a:ln/>
        </p:spPr>
      </p:sp>
      <p:sp>
        <p:nvSpPr>
          <p:cNvPr id="20" name="Text 18"/>
          <p:cNvSpPr txBox="1"/>
          <p:nvPr/>
        </p:nvSpPr>
        <p:spPr>
          <a:xfrm>
            <a:off x="283464" y="1435608"/>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1B6BC0"/>
                </a:solidFill>
                <a:latin typeface="Trenda IG Display Bold" pitchFamily="34" charset="0"/>
                <a:ea typeface="Trenda IG Display Bold" pitchFamily="34" charset="-122"/>
                <a:cs typeface="Trenda IG Display Bold" pitchFamily="34" charset="-120"/>
              </a:rPr>
              <a:t>EHR and clinical</a:t>
            </a:r>
            <a:endParaRPr lang="en-US" sz="800" dirty="0"/>
          </a:p>
        </p:txBody>
      </p:sp>
      <p:sp>
        <p:nvSpPr>
          <p:cNvPr id="21" name="Text 19"/>
          <p:cNvSpPr txBox="1"/>
          <p:nvPr/>
        </p:nvSpPr>
        <p:spPr>
          <a:xfrm>
            <a:off x="182880" y="1605382"/>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Encounters and diagnoses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ADT admit and discharge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Orders, results, problems</a:t>
            </a:r>
            <a:endParaRPr lang="en-US" sz="700" dirty="0"/>
          </a:p>
        </p:txBody>
      </p:sp>
      <p:sp>
        <p:nvSpPr>
          <p:cNvPr id="22" name="Shape 20"/>
          <p:cNvSpPr/>
          <p:nvPr/>
        </p:nvSpPr>
        <p:spPr>
          <a:xfrm>
            <a:off x="182880" y="2072183"/>
            <a:ext cx="64008" cy="64008"/>
          </a:xfrm>
          <a:prstGeom prst="rect">
            <a:avLst/>
          </a:prstGeom>
          <a:solidFill>
            <a:srgbClr val="1B6BC0"/>
          </a:solidFill>
          <a:ln/>
        </p:spPr>
      </p:sp>
      <p:sp>
        <p:nvSpPr>
          <p:cNvPr id="23" name="Text 21"/>
          <p:cNvSpPr txBox="1"/>
          <p:nvPr/>
        </p:nvSpPr>
        <p:spPr>
          <a:xfrm>
            <a:off x="283464" y="2040179"/>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1B6BC0"/>
                </a:solidFill>
                <a:latin typeface="Trenda IG Display Bold" pitchFamily="34" charset="0"/>
                <a:ea typeface="Trenda IG Display Bold" pitchFamily="34" charset="-122"/>
                <a:cs typeface="Trenda IG Display Bold" pitchFamily="34" charset="-120"/>
              </a:rPr>
              <a:t>Credentialing</a:t>
            </a:r>
            <a:endParaRPr lang="en-US" sz="800" dirty="0"/>
          </a:p>
        </p:txBody>
      </p:sp>
      <p:sp>
        <p:nvSpPr>
          <p:cNvPr id="24" name="Text 22"/>
          <p:cNvSpPr txBox="1"/>
          <p:nvPr/>
        </p:nvSpPr>
        <p:spPr>
          <a:xfrm>
            <a:off x="182880" y="2209952"/>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Licence and board certs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Privileges by procedure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Expirables and sanctions</a:t>
            </a:r>
            <a:endParaRPr lang="en-US" sz="700" dirty="0"/>
          </a:p>
        </p:txBody>
      </p:sp>
      <p:sp>
        <p:nvSpPr>
          <p:cNvPr id="25" name="Shape 23"/>
          <p:cNvSpPr/>
          <p:nvPr/>
        </p:nvSpPr>
        <p:spPr>
          <a:xfrm>
            <a:off x="182880" y="2676754"/>
            <a:ext cx="64008" cy="64008"/>
          </a:xfrm>
          <a:prstGeom prst="rect">
            <a:avLst/>
          </a:prstGeom>
          <a:solidFill>
            <a:srgbClr val="1B6BC0"/>
          </a:solidFill>
          <a:ln/>
        </p:spPr>
      </p:sp>
      <p:sp>
        <p:nvSpPr>
          <p:cNvPr id="26" name="Text 24"/>
          <p:cNvSpPr txBox="1"/>
          <p:nvPr/>
        </p:nvSpPr>
        <p:spPr>
          <a:xfrm>
            <a:off x="283464" y="2644750"/>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1B6BC0"/>
                </a:solidFill>
                <a:latin typeface="Trenda IG Display Bold" pitchFamily="34" charset="0"/>
                <a:ea typeface="Trenda IG Display Bold" pitchFamily="34" charset="-122"/>
                <a:cs typeface="Trenda IG Display Bold" pitchFamily="34" charset="-120"/>
              </a:rPr>
              <a:t>Directory and MDM</a:t>
            </a:r>
            <a:endParaRPr lang="en-US" sz="800" dirty="0"/>
          </a:p>
        </p:txBody>
      </p:sp>
      <p:sp>
        <p:nvSpPr>
          <p:cNvPr id="27" name="Text 25"/>
          <p:cNvSpPr txBox="1"/>
          <p:nvPr/>
        </p:nvSpPr>
        <p:spPr>
          <a:xfrm>
            <a:off x="182880" y="2814523"/>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Individual and org NPI</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NUCC taxonomy and sub</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Locations, TIN, panel</a:t>
            </a:r>
            <a:endParaRPr lang="en-US" sz="700" dirty="0"/>
          </a:p>
        </p:txBody>
      </p:sp>
      <p:sp>
        <p:nvSpPr>
          <p:cNvPr id="28" name="Shape 26"/>
          <p:cNvSpPr/>
          <p:nvPr/>
        </p:nvSpPr>
        <p:spPr>
          <a:xfrm>
            <a:off x="182880" y="3281324"/>
            <a:ext cx="64008" cy="64008"/>
          </a:xfrm>
          <a:prstGeom prst="rect">
            <a:avLst/>
          </a:prstGeom>
          <a:solidFill>
            <a:srgbClr val="1B6BC0"/>
          </a:solidFill>
          <a:ln/>
        </p:spPr>
      </p:sp>
      <p:sp>
        <p:nvSpPr>
          <p:cNvPr id="29" name="Text 27"/>
          <p:cNvSpPr txBox="1"/>
          <p:nvPr/>
        </p:nvSpPr>
        <p:spPr>
          <a:xfrm>
            <a:off x="283464" y="3249320"/>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1B6BC0"/>
                </a:solidFill>
                <a:latin typeface="Trenda IG Display Bold" pitchFamily="34" charset="0"/>
                <a:ea typeface="Trenda IG Display Bold" pitchFamily="34" charset="-122"/>
                <a:cs typeface="Trenda IG Display Bold" pitchFamily="34" charset="-120"/>
              </a:rPr>
              <a:t>Booking and access</a:t>
            </a:r>
            <a:endParaRPr lang="en-US" sz="800" dirty="0"/>
          </a:p>
        </p:txBody>
      </p:sp>
      <p:sp>
        <p:nvSpPr>
          <p:cNvPr id="30" name="Text 28"/>
          <p:cNvSpPr txBox="1"/>
          <p:nvPr/>
        </p:nvSpPr>
        <p:spPr>
          <a:xfrm>
            <a:off x="182880" y="3419094"/>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Bookings and cancellations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Arrivals and no-shows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Waitlist and reminders</a:t>
            </a:r>
            <a:endParaRPr lang="en-US" sz="700" dirty="0"/>
          </a:p>
        </p:txBody>
      </p:sp>
      <p:sp>
        <p:nvSpPr>
          <p:cNvPr id="31" name="Shape 29"/>
          <p:cNvSpPr/>
          <p:nvPr/>
        </p:nvSpPr>
        <p:spPr>
          <a:xfrm>
            <a:off x="182880" y="3885895"/>
            <a:ext cx="64008" cy="64008"/>
          </a:xfrm>
          <a:prstGeom prst="rect">
            <a:avLst/>
          </a:prstGeom>
          <a:solidFill>
            <a:srgbClr val="1B6BC0"/>
          </a:solidFill>
          <a:ln/>
        </p:spPr>
      </p:sp>
      <p:sp>
        <p:nvSpPr>
          <p:cNvPr id="32" name="Text 30"/>
          <p:cNvSpPr txBox="1"/>
          <p:nvPr/>
        </p:nvSpPr>
        <p:spPr>
          <a:xfrm>
            <a:off x="283464" y="3853891"/>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1B6BC0"/>
                </a:solidFill>
                <a:latin typeface="Trenda IG Display Bold" pitchFamily="34" charset="0"/>
                <a:ea typeface="Trenda IG Display Bold" pitchFamily="34" charset="-122"/>
                <a:cs typeface="Trenda IG Display Bold" pitchFamily="34" charset="-120"/>
              </a:rPr>
              <a:t>Claims, referrals, geo</a:t>
            </a:r>
            <a:endParaRPr lang="en-US" sz="800" dirty="0"/>
          </a:p>
        </p:txBody>
      </p:sp>
      <p:sp>
        <p:nvSpPr>
          <p:cNvPr id="33" name="Text 31"/>
          <p:cNvSpPr txBox="1"/>
          <p:nvPr/>
        </p:nvSpPr>
        <p:spPr>
          <a:xfrm>
            <a:off x="182880" y="4023665"/>
            <a:ext cx="1188720" cy="51191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CPT, ICD-10, place of service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Referring to receiving</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Drive time and tracts</a:t>
            </a:r>
            <a:endParaRPr lang="en-US" sz="700" dirty="0"/>
          </a:p>
        </p:txBody>
      </p:sp>
      <p:sp>
        <p:nvSpPr>
          <p:cNvPr id="34" name="Shape 32"/>
          <p:cNvSpPr/>
          <p:nvPr/>
        </p:nvSpPr>
        <p:spPr>
          <a:xfrm>
            <a:off x="109728" y="5230368"/>
            <a:ext cx="1289304" cy="457200"/>
          </a:xfrm>
          <a:prstGeom prst="rect">
            <a:avLst/>
          </a:prstGeom>
          <a:solidFill>
            <a:srgbClr val="1B6BC0"/>
          </a:solidFill>
          <a:ln/>
        </p:spPr>
      </p:sp>
      <p:sp>
        <p:nvSpPr>
          <p:cNvPr id="35" name="Text 33"/>
          <p:cNvSpPr txBox="1"/>
          <p:nvPr/>
        </p:nvSpPr>
        <p:spPr>
          <a:xfrm>
            <a:off x="182880" y="5276088"/>
            <a:ext cx="1143000" cy="128016"/>
          </a:xfrm>
          <a:prstGeom prst="rect">
            <a:avLst/>
          </a:prstGeom>
          <a:noFill/>
          <a:ln/>
        </p:spPr>
        <p:txBody>
          <a:bodyPr wrap="square" lIns="0" tIns="0" rIns="0" bIns="0" rtlCol="0" anchor="t"/>
          <a:lstStyle/>
          <a:p>
            <a:pPr indent="0" marL="0">
              <a:buNone/>
            </a:pPr>
            <a:r>
              <a:rPr lang="en-US" sz="650" spc="40" kern="0" dirty="0">
                <a:solidFill>
                  <a:srgbClr val="CFE6EE"/>
                </a:solidFill>
                <a:latin typeface="Trenda IG Text Semibold" pitchFamily="34" charset="0"/>
                <a:ea typeface="Trenda IG Text Semibold" pitchFamily="34" charset="-122"/>
                <a:cs typeface="Trenda IG Text Semibold" pitchFamily="34" charset="-120"/>
              </a:rPr>
              <a:t>WHAT YOU GET</a:t>
            </a:r>
            <a:endParaRPr lang="en-US" sz="650" dirty="0"/>
          </a:p>
        </p:txBody>
      </p:sp>
      <p:sp>
        <p:nvSpPr>
          <p:cNvPr id="36" name="Text 34"/>
          <p:cNvSpPr txBox="1"/>
          <p:nvPr/>
        </p:nvSpPr>
        <p:spPr>
          <a:xfrm>
            <a:off x="182880" y="5404104"/>
            <a:ext cx="1143000" cy="274320"/>
          </a:xfrm>
          <a:prstGeom prst="rect">
            <a:avLst/>
          </a:prstGeom>
          <a:noFill/>
          <a:ln/>
        </p:spPr>
        <p:txBody>
          <a:bodyPr wrap="square" lIns="0" tIns="0" rIns="0" bIns="0" rtlCol="0" anchor="t"/>
          <a:lstStyle/>
          <a:p>
            <a:pPr indent="0" marL="0">
              <a:lnSpc>
                <a:spcPct val="97000"/>
              </a:lnSpc>
              <a:buNone/>
            </a:pPr>
            <a:r>
              <a:rPr lang="en-US" sz="700" dirty="0">
                <a:solidFill>
                  <a:srgbClr val="FFFFFF"/>
                </a:solidFill>
                <a:latin typeface="Trenda IG Text Semibold" pitchFamily="34" charset="0"/>
                <a:ea typeface="Trenda IG Text Semibold" pitchFamily="34" charset="-122"/>
                <a:cs typeface="Trenda IG Text Semibold" pitchFamily="34" charset="-120"/>
              </a:rPr>
              <a:t>Every network fact in one place</a:t>
            </a:r>
            <a:endParaRPr lang="en-US" sz="700" dirty="0"/>
          </a:p>
        </p:txBody>
      </p:sp>
      <p:sp>
        <p:nvSpPr>
          <p:cNvPr id="37" name="Text 35"/>
          <p:cNvSpPr txBox="1"/>
          <p:nvPr/>
        </p:nvSpPr>
        <p:spPr>
          <a:xfrm>
            <a:off x="1397203" y="914400"/>
            <a:ext cx="49378" cy="128016"/>
          </a:xfrm>
          <a:prstGeom prst="rect">
            <a:avLst/>
          </a:prstGeom>
          <a:noFill/>
          <a:ln/>
        </p:spPr>
        <p:txBody>
          <a:bodyPr wrap="square" lIns="0" tIns="0" rIns="0" bIns="0" rtlCol="0" anchor="t"/>
          <a:lstStyle/>
          <a:p>
            <a:pPr algn="ctr" indent="0" marL="0">
              <a:buNone/>
            </a:pPr>
            <a:r>
              <a:rPr lang="en-US" sz="450" dirty="0">
                <a:solidFill>
                  <a:srgbClr val="9AA4B0"/>
                </a:solidFill>
                <a:latin typeface="Trenda IG Text" pitchFamily="34" charset="0"/>
                <a:ea typeface="Trenda IG Text" pitchFamily="34" charset="-122"/>
                <a:cs typeface="Trenda IG Text" pitchFamily="34" charset="-120"/>
              </a:rPr>
              <a:t>▶</a:t>
            </a:r>
            <a:endParaRPr lang="en-US" sz="450" dirty="0"/>
          </a:p>
        </p:txBody>
      </p:sp>
      <p:sp>
        <p:nvSpPr>
          <p:cNvPr id="38" name="Shape 36"/>
          <p:cNvSpPr/>
          <p:nvPr/>
        </p:nvSpPr>
        <p:spPr>
          <a:xfrm>
            <a:off x="1444752" y="713232"/>
            <a:ext cx="1289304" cy="621792"/>
          </a:xfrm>
          <a:prstGeom prst="rect">
            <a:avLst/>
          </a:prstGeom>
          <a:solidFill>
            <a:srgbClr val="0E8A7D"/>
          </a:solidFill>
          <a:ln/>
        </p:spPr>
      </p:sp>
      <p:sp>
        <p:nvSpPr>
          <p:cNvPr id="39" name="Text 37"/>
          <p:cNvSpPr txBox="1"/>
          <p:nvPr/>
        </p:nvSpPr>
        <p:spPr>
          <a:xfrm>
            <a:off x="1490472" y="758952"/>
            <a:ext cx="1197864" cy="137160"/>
          </a:xfrm>
          <a:prstGeom prst="rect">
            <a:avLst/>
          </a:prstGeom>
          <a:noFill/>
          <a:ln/>
        </p:spPr>
        <p:txBody>
          <a:bodyPr wrap="square" lIns="0" tIns="0" rIns="0" bIns="0" rtlCol="0" anchor="t"/>
          <a:lstStyle/>
          <a:p>
            <a:pPr algn="ctr" indent="0" marL="0">
              <a:buNone/>
            </a:pPr>
            <a:r>
              <a:rPr lang="en-US" sz="750" spc="40" kern="0" dirty="0">
                <a:solidFill>
                  <a:srgbClr val="FFFFFF"/>
                </a:solidFill>
                <a:latin typeface="Trenda IG Display Semibold" pitchFamily="34" charset="0"/>
                <a:ea typeface="Trenda IG Display Semibold" pitchFamily="34" charset="-122"/>
                <a:cs typeface="Trenda IG Display Semibold" pitchFamily="34" charset="-120"/>
              </a:rPr>
              <a:t>LAYER 2</a:t>
            </a:r>
            <a:endParaRPr lang="en-US" sz="750" dirty="0"/>
          </a:p>
        </p:txBody>
      </p:sp>
      <p:sp>
        <p:nvSpPr>
          <p:cNvPr id="40" name="Text 38"/>
          <p:cNvSpPr txBox="1"/>
          <p:nvPr/>
        </p:nvSpPr>
        <p:spPr>
          <a:xfrm>
            <a:off x="1481328" y="886968"/>
            <a:ext cx="1216152" cy="329184"/>
          </a:xfrm>
          <a:prstGeom prst="rect">
            <a:avLst/>
          </a:prstGeom>
          <a:noFill/>
          <a:ln/>
        </p:spPr>
        <p:txBody>
          <a:bodyPr wrap="square" lIns="0" tIns="0" rIns="0" bIns="0" rtlCol="0" anchor="t"/>
          <a:lstStyle/>
          <a:p>
            <a:pPr algn="ctr" indent="0" marL="0">
              <a:lnSpc>
                <a:spcPct val="92000"/>
              </a:lnSpc>
              <a:buNone/>
            </a:pPr>
            <a:r>
              <a:rPr lang="en-US" sz="1000" dirty="0">
                <a:solidFill>
                  <a:srgbClr val="FFFFFF"/>
                </a:solidFill>
                <a:latin typeface="Trenda IG Display Bold" pitchFamily="34" charset="0"/>
                <a:ea typeface="Trenda IG Display Bold" pitchFamily="34" charset="-122"/>
                <a:cs typeface="Trenda IG Display Bold" pitchFamily="34" charset="-120"/>
              </a:rPr>
              <a:t>Source Connectors</a:t>
            </a:r>
            <a:endParaRPr lang="en-US" sz="1000" dirty="0"/>
          </a:p>
        </p:txBody>
      </p:sp>
      <p:sp>
        <p:nvSpPr>
          <p:cNvPr id="41" name="Text 39"/>
          <p:cNvSpPr txBox="1"/>
          <p:nvPr/>
        </p:nvSpPr>
        <p:spPr>
          <a:xfrm>
            <a:off x="1490472" y="1188720"/>
            <a:ext cx="1197864" cy="137160"/>
          </a:xfrm>
          <a:prstGeom prst="rect">
            <a:avLst/>
          </a:prstGeom>
          <a:noFill/>
          <a:ln/>
        </p:spPr>
        <p:txBody>
          <a:bodyPr wrap="square" lIns="0" tIns="0" rIns="0" bIns="0" rtlCol="0" anchor="t"/>
          <a:lstStyle/>
          <a:p>
            <a:pPr algn="ctr" indent="0" marL="0">
              <a:buNone/>
            </a:pPr>
            <a:r>
              <a:rPr lang="en-US" sz="650" dirty="0">
                <a:solidFill>
                  <a:srgbClr val="E4EEF2"/>
                </a:solidFill>
                <a:latin typeface="Trenda IG Text Light" pitchFamily="34" charset="0"/>
                <a:ea typeface="Trenda IG Text Light" pitchFamily="34" charset="-122"/>
                <a:cs typeface="Trenda IG Text Light" pitchFamily="34" charset="-120"/>
              </a:rPr>
              <a:t>Read only and replayable</a:t>
            </a:r>
            <a:endParaRPr lang="en-US" sz="650" dirty="0"/>
          </a:p>
        </p:txBody>
      </p:sp>
      <p:sp>
        <p:nvSpPr>
          <p:cNvPr id="42" name="Shape 40"/>
          <p:cNvSpPr/>
          <p:nvPr/>
        </p:nvSpPr>
        <p:spPr>
          <a:xfrm>
            <a:off x="1444752" y="1353312"/>
            <a:ext cx="1289304" cy="4334256"/>
          </a:xfrm>
          <a:prstGeom prst="rect">
            <a:avLst/>
          </a:prstGeom>
          <a:solidFill>
            <a:srgbClr val="FFFFFF"/>
          </a:solidFill>
          <a:ln w="9525">
            <a:solidFill>
              <a:srgbClr val="D5D9DE"/>
            </a:solidFill>
            <a:prstDash val="solid"/>
          </a:ln>
        </p:spPr>
      </p:sp>
      <p:sp>
        <p:nvSpPr>
          <p:cNvPr id="43" name="Shape 41"/>
          <p:cNvSpPr/>
          <p:nvPr/>
        </p:nvSpPr>
        <p:spPr>
          <a:xfrm>
            <a:off x="1517904" y="1467612"/>
            <a:ext cx="64008" cy="64008"/>
          </a:xfrm>
          <a:prstGeom prst="rect">
            <a:avLst/>
          </a:prstGeom>
          <a:solidFill>
            <a:srgbClr val="0E8A7D"/>
          </a:solidFill>
          <a:ln/>
        </p:spPr>
      </p:sp>
      <p:sp>
        <p:nvSpPr>
          <p:cNvPr id="44" name="Text 42"/>
          <p:cNvSpPr txBox="1"/>
          <p:nvPr/>
        </p:nvSpPr>
        <p:spPr>
          <a:xfrm>
            <a:off x="1618488" y="1435608"/>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0E8A7D"/>
                </a:solidFill>
                <a:latin typeface="Trenda IG Display Bold" pitchFamily="34" charset="0"/>
                <a:ea typeface="Trenda IG Display Bold" pitchFamily="34" charset="-122"/>
                <a:cs typeface="Trenda IG Display Bold" pitchFamily="34" charset="-120"/>
              </a:rPr>
              <a:t>Clinical connectors</a:t>
            </a:r>
            <a:endParaRPr lang="en-US" sz="800" dirty="0"/>
          </a:p>
        </p:txBody>
      </p:sp>
      <p:sp>
        <p:nvSpPr>
          <p:cNvPr id="45" name="Text 43"/>
          <p:cNvSpPr txBox="1"/>
          <p:nvPr/>
        </p:nvSpPr>
        <p:spPr>
          <a:xfrm>
            <a:off x="1517904" y="1605382"/>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FHIR R4 and HL7 v2</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Bulk export, ADT stream</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Read only accounts</a:t>
            </a:r>
            <a:endParaRPr lang="en-US" sz="700" dirty="0"/>
          </a:p>
        </p:txBody>
      </p:sp>
      <p:sp>
        <p:nvSpPr>
          <p:cNvPr id="46" name="Shape 44"/>
          <p:cNvSpPr/>
          <p:nvPr/>
        </p:nvSpPr>
        <p:spPr>
          <a:xfrm>
            <a:off x="1517904" y="2072183"/>
            <a:ext cx="64008" cy="64008"/>
          </a:xfrm>
          <a:prstGeom prst="rect">
            <a:avLst/>
          </a:prstGeom>
          <a:solidFill>
            <a:srgbClr val="0E8A7D"/>
          </a:solidFill>
          <a:ln/>
        </p:spPr>
      </p:sp>
      <p:sp>
        <p:nvSpPr>
          <p:cNvPr id="47" name="Text 45"/>
          <p:cNvSpPr txBox="1"/>
          <p:nvPr/>
        </p:nvSpPr>
        <p:spPr>
          <a:xfrm>
            <a:off x="1618488" y="2040179"/>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0E8A7D"/>
                </a:solidFill>
                <a:latin typeface="Trenda IG Display Bold" pitchFamily="34" charset="0"/>
                <a:ea typeface="Trenda IG Display Bold" pitchFamily="34" charset="-122"/>
                <a:cs typeface="Trenda IG Display Bold" pitchFamily="34" charset="-120"/>
              </a:rPr>
              <a:t>Workforce connectors</a:t>
            </a:r>
            <a:endParaRPr lang="en-US" sz="800" dirty="0"/>
          </a:p>
        </p:txBody>
      </p:sp>
      <p:sp>
        <p:nvSpPr>
          <p:cNvPr id="48" name="Text 46"/>
          <p:cNvSpPr txBox="1"/>
          <p:nvPr/>
        </p:nvSpPr>
        <p:spPr>
          <a:xfrm>
            <a:off x="1517904" y="2209952"/>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Credentialing delta</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NPPES weekly, MDM API</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Taxonomy version pinned</a:t>
            </a:r>
            <a:endParaRPr lang="en-US" sz="700" dirty="0"/>
          </a:p>
        </p:txBody>
      </p:sp>
      <p:sp>
        <p:nvSpPr>
          <p:cNvPr id="49" name="Shape 47"/>
          <p:cNvSpPr/>
          <p:nvPr/>
        </p:nvSpPr>
        <p:spPr>
          <a:xfrm>
            <a:off x="1517904" y="2676754"/>
            <a:ext cx="64008" cy="64008"/>
          </a:xfrm>
          <a:prstGeom prst="rect">
            <a:avLst/>
          </a:prstGeom>
          <a:solidFill>
            <a:srgbClr val="0E8A7D"/>
          </a:solidFill>
          <a:ln/>
        </p:spPr>
      </p:sp>
      <p:sp>
        <p:nvSpPr>
          <p:cNvPr id="50" name="Text 48"/>
          <p:cNvSpPr txBox="1"/>
          <p:nvPr/>
        </p:nvSpPr>
        <p:spPr>
          <a:xfrm>
            <a:off x="1618488" y="2644750"/>
            <a:ext cx="1051560" cy="266395"/>
          </a:xfrm>
          <a:prstGeom prst="rect">
            <a:avLst/>
          </a:prstGeom>
          <a:noFill/>
          <a:ln/>
        </p:spPr>
        <p:txBody>
          <a:bodyPr wrap="square" lIns="0" tIns="0" rIns="0" bIns="0" rtlCol="0" anchor="t"/>
          <a:lstStyle/>
          <a:p>
            <a:pPr indent="0" marL="0">
              <a:lnSpc>
                <a:spcPct val="98000"/>
              </a:lnSpc>
              <a:buNone/>
            </a:pPr>
            <a:r>
              <a:rPr lang="en-US" sz="800" dirty="0">
                <a:solidFill>
                  <a:srgbClr val="0E8A7D"/>
                </a:solidFill>
                <a:latin typeface="Trenda IG Display Bold" pitchFamily="34" charset="0"/>
                <a:ea typeface="Trenda IG Display Bold" pitchFamily="34" charset="-122"/>
                <a:cs typeface="Trenda IG Display Bold" pitchFamily="34" charset="-120"/>
              </a:rPr>
              <a:t>Operational connectors</a:t>
            </a:r>
            <a:endParaRPr lang="en-US" sz="800" dirty="0"/>
          </a:p>
        </p:txBody>
      </p:sp>
      <p:sp>
        <p:nvSpPr>
          <p:cNvPr id="51" name="Text 49"/>
          <p:cNvSpPr txBox="1"/>
          <p:nvPr/>
        </p:nvSpPr>
        <p:spPr>
          <a:xfrm>
            <a:off x="1517904" y="2938577"/>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Slot and template API</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Nightly bookable snapshot</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837 and 835 monthly</a:t>
            </a:r>
            <a:endParaRPr lang="en-US" sz="700" dirty="0"/>
          </a:p>
        </p:txBody>
      </p:sp>
      <p:sp>
        <p:nvSpPr>
          <p:cNvPr id="52" name="Shape 50"/>
          <p:cNvSpPr/>
          <p:nvPr/>
        </p:nvSpPr>
        <p:spPr>
          <a:xfrm>
            <a:off x="1517904" y="3405378"/>
            <a:ext cx="64008" cy="64008"/>
          </a:xfrm>
          <a:prstGeom prst="rect">
            <a:avLst/>
          </a:prstGeom>
          <a:solidFill>
            <a:srgbClr val="0E8A7D"/>
          </a:solidFill>
          <a:ln/>
        </p:spPr>
      </p:sp>
      <p:sp>
        <p:nvSpPr>
          <p:cNvPr id="53" name="Text 51"/>
          <p:cNvSpPr txBox="1"/>
          <p:nvPr/>
        </p:nvSpPr>
        <p:spPr>
          <a:xfrm>
            <a:off x="1618488" y="3373374"/>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0E8A7D"/>
                </a:solidFill>
                <a:latin typeface="Trenda IG Display Bold" pitchFamily="34" charset="0"/>
                <a:ea typeface="Trenda IG Display Bold" pitchFamily="34" charset="-122"/>
                <a:cs typeface="Trenda IG Display Bold" pitchFamily="34" charset="-120"/>
              </a:rPr>
              <a:t>Connector contract</a:t>
            </a:r>
            <a:endParaRPr lang="en-US" sz="800" dirty="0"/>
          </a:p>
        </p:txBody>
      </p:sp>
      <p:sp>
        <p:nvSpPr>
          <p:cNvPr id="54" name="Text 52"/>
          <p:cNvSpPr txBox="1"/>
          <p:nvPr/>
        </p:nvSpPr>
        <p:spPr>
          <a:xfrm>
            <a:off x="1517904" y="3543148"/>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No writes, ever</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SHA-256 per record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Replay by extract id</a:t>
            </a:r>
            <a:endParaRPr lang="en-US" sz="700" dirty="0"/>
          </a:p>
        </p:txBody>
      </p:sp>
      <p:sp>
        <p:nvSpPr>
          <p:cNvPr id="55" name="Shape 53"/>
          <p:cNvSpPr/>
          <p:nvPr/>
        </p:nvSpPr>
        <p:spPr>
          <a:xfrm>
            <a:off x="1517904" y="4009949"/>
            <a:ext cx="64008" cy="64008"/>
          </a:xfrm>
          <a:prstGeom prst="rect">
            <a:avLst/>
          </a:prstGeom>
          <a:solidFill>
            <a:srgbClr val="0E8A7D"/>
          </a:solidFill>
          <a:ln/>
        </p:spPr>
      </p:sp>
      <p:sp>
        <p:nvSpPr>
          <p:cNvPr id="56" name="Text 54"/>
          <p:cNvSpPr txBox="1"/>
          <p:nvPr/>
        </p:nvSpPr>
        <p:spPr>
          <a:xfrm>
            <a:off x="1618488" y="3977945"/>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0E8A7D"/>
                </a:solidFill>
                <a:latin typeface="Trenda IG Display Bold" pitchFamily="34" charset="0"/>
                <a:ea typeface="Trenda IG Display Bold" pitchFamily="34" charset="-122"/>
                <a:cs typeface="Trenda IG Display Bold" pitchFamily="34" charset="-120"/>
              </a:rPr>
              <a:t>Failure handling</a:t>
            </a:r>
            <a:endParaRPr lang="en-US" sz="800" dirty="0"/>
          </a:p>
        </p:txBody>
      </p:sp>
      <p:sp>
        <p:nvSpPr>
          <p:cNvPr id="57" name="Text 55"/>
          <p:cNvSpPr txBox="1"/>
          <p:nvPr/>
        </p:nvSpPr>
        <p:spPr>
          <a:xfrm>
            <a:off x="1517904" y="4147718"/>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Partial pull discarded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Late file supersedes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Every run leaves a receipt</a:t>
            </a:r>
            <a:endParaRPr lang="en-US" sz="700" dirty="0"/>
          </a:p>
        </p:txBody>
      </p:sp>
      <p:sp>
        <p:nvSpPr>
          <p:cNvPr id="58" name="Shape 56"/>
          <p:cNvSpPr/>
          <p:nvPr/>
        </p:nvSpPr>
        <p:spPr>
          <a:xfrm>
            <a:off x="1444752" y="5230368"/>
            <a:ext cx="1289304" cy="457200"/>
          </a:xfrm>
          <a:prstGeom prst="rect">
            <a:avLst/>
          </a:prstGeom>
          <a:solidFill>
            <a:srgbClr val="0E8A7D"/>
          </a:solidFill>
          <a:ln/>
        </p:spPr>
      </p:sp>
      <p:sp>
        <p:nvSpPr>
          <p:cNvPr id="59" name="Text 57"/>
          <p:cNvSpPr txBox="1"/>
          <p:nvPr/>
        </p:nvSpPr>
        <p:spPr>
          <a:xfrm>
            <a:off x="1517904" y="5276088"/>
            <a:ext cx="1143000" cy="128016"/>
          </a:xfrm>
          <a:prstGeom prst="rect">
            <a:avLst/>
          </a:prstGeom>
          <a:noFill/>
          <a:ln/>
        </p:spPr>
        <p:txBody>
          <a:bodyPr wrap="square" lIns="0" tIns="0" rIns="0" bIns="0" rtlCol="0" anchor="t"/>
          <a:lstStyle/>
          <a:p>
            <a:pPr indent="0" marL="0">
              <a:buNone/>
            </a:pPr>
            <a:r>
              <a:rPr lang="en-US" sz="650" spc="40" kern="0" dirty="0">
                <a:solidFill>
                  <a:srgbClr val="CFE6EE"/>
                </a:solidFill>
                <a:latin typeface="Trenda IG Text Semibold" pitchFamily="34" charset="0"/>
                <a:ea typeface="Trenda IG Text Semibold" pitchFamily="34" charset="-122"/>
                <a:cs typeface="Trenda IG Text Semibold" pitchFamily="34" charset="-120"/>
              </a:rPr>
              <a:t>WHAT YOU GET</a:t>
            </a:r>
            <a:endParaRPr lang="en-US" sz="650" dirty="0"/>
          </a:p>
        </p:txBody>
      </p:sp>
      <p:sp>
        <p:nvSpPr>
          <p:cNvPr id="60" name="Text 58"/>
          <p:cNvSpPr txBox="1"/>
          <p:nvPr/>
        </p:nvSpPr>
        <p:spPr>
          <a:xfrm>
            <a:off x="1517904" y="5404104"/>
            <a:ext cx="1143000" cy="274320"/>
          </a:xfrm>
          <a:prstGeom prst="rect">
            <a:avLst/>
          </a:prstGeom>
          <a:noFill/>
          <a:ln/>
        </p:spPr>
        <p:txBody>
          <a:bodyPr wrap="square" lIns="0" tIns="0" rIns="0" bIns="0" rtlCol="0" anchor="t"/>
          <a:lstStyle/>
          <a:p>
            <a:pPr indent="0" marL="0">
              <a:lnSpc>
                <a:spcPct val="97000"/>
              </a:lnSpc>
              <a:buNone/>
            </a:pPr>
            <a:r>
              <a:rPr lang="en-US" sz="700" dirty="0">
                <a:solidFill>
                  <a:srgbClr val="FFFFFF"/>
                </a:solidFill>
                <a:latin typeface="Trenda IG Text Semibold" pitchFamily="34" charset="0"/>
                <a:ea typeface="Trenda IG Text Semibold" pitchFamily="34" charset="-122"/>
                <a:cs typeface="Trenda IG Text Semibold" pitchFamily="34" charset="-120"/>
              </a:rPr>
              <a:t>Safe, repeatable reads. No writes anywhere</a:t>
            </a:r>
            <a:endParaRPr lang="en-US" sz="700" dirty="0"/>
          </a:p>
        </p:txBody>
      </p:sp>
      <p:sp>
        <p:nvSpPr>
          <p:cNvPr id="61" name="Text 59"/>
          <p:cNvSpPr txBox="1"/>
          <p:nvPr/>
        </p:nvSpPr>
        <p:spPr>
          <a:xfrm>
            <a:off x="2732227" y="914400"/>
            <a:ext cx="49378" cy="128016"/>
          </a:xfrm>
          <a:prstGeom prst="rect">
            <a:avLst/>
          </a:prstGeom>
          <a:noFill/>
          <a:ln/>
        </p:spPr>
        <p:txBody>
          <a:bodyPr wrap="square" lIns="0" tIns="0" rIns="0" bIns="0" rtlCol="0" anchor="t"/>
          <a:lstStyle/>
          <a:p>
            <a:pPr algn="ctr" indent="0" marL="0">
              <a:buNone/>
            </a:pPr>
            <a:r>
              <a:rPr lang="en-US" sz="450" dirty="0">
                <a:solidFill>
                  <a:srgbClr val="9AA4B0"/>
                </a:solidFill>
                <a:latin typeface="Trenda IG Text" pitchFamily="34" charset="0"/>
                <a:ea typeface="Trenda IG Text" pitchFamily="34" charset="-122"/>
                <a:cs typeface="Trenda IG Text" pitchFamily="34" charset="-120"/>
              </a:rPr>
              <a:t>▶</a:t>
            </a:r>
            <a:endParaRPr lang="en-US" sz="450" dirty="0"/>
          </a:p>
        </p:txBody>
      </p:sp>
      <p:sp>
        <p:nvSpPr>
          <p:cNvPr id="62" name="Shape 60"/>
          <p:cNvSpPr/>
          <p:nvPr/>
        </p:nvSpPr>
        <p:spPr>
          <a:xfrm>
            <a:off x="2779776" y="713232"/>
            <a:ext cx="1289304" cy="621792"/>
          </a:xfrm>
          <a:prstGeom prst="rect">
            <a:avLst/>
          </a:prstGeom>
          <a:solidFill>
            <a:srgbClr val="6A1B9A"/>
          </a:solidFill>
          <a:ln/>
        </p:spPr>
      </p:sp>
      <p:sp>
        <p:nvSpPr>
          <p:cNvPr id="63" name="Text 61"/>
          <p:cNvSpPr txBox="1"/>
          <p:nvPr/>
        </p:nvSpPr>
        <p:spPr>
          <a:xfrm>
            <a:off x="2825496" y="758952"/>
            <a:ext cx="1197864" cy="137160"/>
          </a:xfrm>
          <a:prstGeom prst="rect">
            <a:avLst/>
          </a:prstGeom>
          <a:noFill/>
          <a:ln/>
        </p:spPr>
        <p:txBody>
          <a:bodyPr wrap="square" lIns="0" tIns="0" rIns="0" bIns="0" rtlCol="0" anchor="t"/>
          <a:lstStyle/>
          <a:p>
            <a:pPr algn="ctr" indent="0" marL="0">
              <a:buNone/>
            </a:pPr>
            <a:r>
              <a:rPr lang="en-US" sz="750" spc="40" kern="0" dirty="0">
                <a:solidFill>
                  <a:srgbClr val="FFFFFF"/>
                </a:solidFill>
                <a:latin typeface="Trenda IG Display Semibold" pitchFamily="34" charset="0"/>
                <a:ea typeface="Trenda IG Display Semibold" pitchFamily="34" charset="-122"/>
                <a:cs typeface="Trenda IG Display Semibold" pitchFamily="34" charset="-120"/>
              </a:rPr>
              <a:t>LAYER 3</a:t>
            </a:r>
            <a:endParaRPr lang="en-US" sz="750" dirty="0"/>
          </a:p>
        </p:txBody>
      </p:sp>
      <p:sp>
        <p:nvSpPr>
          <p:cNvPr id="64" name="Text 62"/>
          <p:cNvSpPr txBox="1"/>
          <p:nvPr/>
        </p:nvSpPr>
        <p:spPr>
          <a:xfrm>
            <a:off x="2816352" y="886968"/>
            <a:ext cx="1216152" cy="329184"/>
          </a:xfrm>
          <a:prstGeom prst="rect">
            <a:avLst/>
          </a:prstGeom>
          <a:noFill/>
          <a:ln/>
        </p:spPr>
        <p:txBody>
          <a:bodyPr wrap="square" lIns="0" tIns="0" rIns="0" bIns="0" rtlCol="0" anchor="t"/>
          <a:lstStyle/>
          <a:p>
            <a:pPr algn="ctr" indent="0" marL="0">
              <a:lnSpc>
                <a:spcPct val="92000"/>
              </a:lnSpc>
              <a:buNone/>
            </a:pPr>
            <a:r>
              <a:rPr lang="en-US" sz="1000" dirty="0">
                <a:solidFill>
                  <a:srgbClr val="FFFFFF"/>
                </a:solidFill>
                <a:latin typeface="Trenda IG Display Bold" pitchFamily="34" charset="0"/>
                <a:ea typeface="Trenda IG Display Bold" pitchFamily="34" charset="-122"/>
                <a:cs typeface="Trenda IG Display Bold" pitchFamily="34" charset="-120"/>
              </a:rPr>
              <a:t>Trust and Privacy Boundary</a:t>
            </a:r>
            <a:endParaRPr lang="en-US" sz="1000" dirty="0"/>
          </a:p>
        </p:txBody>
      </p:sp>
      <p:sp>
        <p:nvSpPr>
          <p:cNvPr id="65" name="Text 63"/>
          <p:cNvSpPr txBox="1"/>
          <p:nvPr/>
        </p:nvSpPr>
        <p:spPr>
          <a:xfrm>
            <a:off x="2825496" y="1188720"/>
            <a:ext cx="1197864" cy="137160"/>
          </a:xfrm>
          <a:prstGeom prst="rect">
            <a:avLst/>
          </a:prstGeom>
          <a:noFill/>
          <a:ln/>
        </p:spPr>
        <p:txBody>
          <a:bodyPr wrap="square" lIns="0" tIns="0" rIns="0" bIns="0" rtlCol="0" anchor="t"/>
          <a:lstStyle/>
          <a:p>
            <a:pPr algn="ctr" indent="0" marL="0">
              <a:buNone/>
            </a:pPr>
            <a:r>
              <a:rPr lang="en-US" sz="650" dirty="0">
                <a:solidFill>
                  <a:srgbClr val="E4EEF2"/>
                </a:solidFill>
                <a:latin typeface="Trenda IG Text Light" pitchFamily="34" charset="0"/>
                <a:ea typeface="Trenda IG Text Light" pitchFamily="34" charset="-122"/>
                <a:cs typeface="Trenda IG Text Light" pitchFamily="34" charset="-120"/>
              </a:rPr>
              <a:t>Nothing crosses identified</a:t>
            </a:r>
            <a:endParaRPr lang="en-US" sz="650" dirty="0"/>
          </a:p>
        </p:txBody>
      </p:sp>
      <p:sp>
        <p:nvSpPr>
          <p:cNvPr id="66" name="Shape 64"/>
          <p:cNvSpPr/>
          <p:nvPr/>
        </p:nvSpPr>
        <p:spPr>
          <a:xfrm>
            <a:off x="2779776" y="1353312"/>
            <a:ext cx="1289304" cy="4334256"/>
          </a:xfrm>
          <a:prstGeom prst="rect">
            <a:avLst/>
          </a:prstGeom>
          <a:solidFill>
            <a:srgbClr val="FFFFFF"/>
          </a:solidFill>
          <a:ln w="9525">
            <a:solidFill>
              <a:srgbClr val="D5D9DE"/>
            </a:solidFill>
            <a:prstDash val="solid"/>
          </a:ln>
        </p:spPr>
      </p:sp>
      <p:sp>
        <p:nvSpPr>
          <p:cNvPr id="67" name="Shape 65"/>
          <p:cNvSpPr/>
          <p:nvPr/>
        </p:nvSpPr>
        <p:spPr>
          <a:xfrm>
            <a:off x="2852928" y="1467612"/>
            <a:ext cx="64008" cy="64008"/>
          </a:xfrm>
          <a:prstGeom prst="rect">
            <a:avLst/>
          </a:prstGeom>
          <a:solidFill>
            <a:srgbClr val="6A1B9A"/>
          </a:solidFill>
          <a:ln/>
        </p:spPr>
      </p:sp>
      <p:sp>
        <p:nvSpPr>
          <p:cNvPr id="68" name="Text 66"/>
          <p:cNvSpPr txBox="1"/>
          <p:nvPr/>
        </p:nvSpPr>
        <p:spPr>
          <a:xfrm>
            <a:off x="2953512" y="1435608"/>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6A1B9A"/>
                </a:solidFill>
                <a:latin typeface="Trenda IG Display Bold" pitchFamily="34" charset="0"/>
                <a:ea typeface="Trenda IG Display Bold" pitchFamily="34" charset="-122"/>
                <a:cs typeface="Trenda IG Display Bold" pitchFamily="34" charset="-120"/>
              </a:rPr>
              <a:t>De-identify at ingress</a:t>
            </a:r>
            <a:endParaRPr lang="en-US" sz="800" dirty="0"/>
          </a:p>
        </p:txBody>
      </p:sp>
      <p:sp>
        <p:nvSpPr>
          <p:cNvPr id="69" name="Text 67"/>
          <p:cNvSpPr txBox="1"/>
          <p:nvPr/>
        </p:nvSpPr>
        <p:spPr>
          <a:xfrm>
            <a:off x="2852928" y="1605382"/>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Safe Harbor identifiers out</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MRN to HMAC token</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Dates shifted per patient</a:t>
            </a:r>
            <a:endParaRPr lang="en-US" sz="700" dirty="0"/>
          </a:p>
        </p:txBody>
      </p:sp>
      <p:sp>
        <p:nvSpPr>
          <p:cNvPr id="70" name="Shape 68"/>
          <p:cNvSpPr/>
          <p:nvPr/>
        </p:nvSpPr>
        <p:spPr>
          <a:xfrm>
            <a:off x="2852928" y="2072183"/>
            <a:ext cx="64008" cy="64008"/>
          </a:xfrm>
          <a:prstGeom prst="rect">
            <a:avLst/>
          </a:prstGeom>
          <a:solidFill>
            <a:srgbClr val="6A1B9A"/>
          </a:solidFill>
          <a:ln/>
        </p:spPr>
      </p:sp>
      <p:sp>
        <p:nvSpPr>
          <p:cNvPr id="71" name="Text 69"/>
          <p:cNvSpPr txBox="1"/>
          <p:nvPr/>
        </p:nvSpPr>
        <p:spPr>
          <a:xfrm>
            <a:off x="2953512" y="2040179"/>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6A1B9A"/>
                </a:solidFill>
                <a:latin typeface="Trenda IG Display Bold" pitchFamily="34" charset="0"/>
                <a:ea typeface="Trenda IG Display Bold" pitchFamily="34" charset="-122"/>
                <a:cs typeface="Trenda IG Display Bold" pitchFamily="34" charset="-120"/>
              </a:rPr>
              <a:t>Three data planes</a:t>
            </a:r>
            <a:endParaRPr lang="en-US" sz="800" dirty="0"/>
          </a:p>
        </p:txBody>
      </p:sp>
      <p:sp>
        <p:nvSpPr>
          <p:cNvPr id="72" name="Text 70"/>
          <p:cNvSpPr txBox="1"/>
          <p:nvPr/>
        </p:nvSpPr>
        <p:spPr>
          <a:xfrm>
            <a:off x="2852928" y="2209952"/>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Analytic: k-anonymous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Operational: LDS, BAA</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Identified: break glass</a:t>
            </a:r>
            <a:endParaRPr lang="en-US" sz="700" dirty="0"/>
          </a:p>
        </p:txBody>
      </p:sp>
      <p:sp>
        <p:nvSpPr>
          <p:cNvPr id="73" name="Shape 71"/>
          <p:cNvSpPr/>
          <p:nvPr/>
        </p:nvSpPr>
        <p:spPr>
          <a:xfrm>
            <a:off x="2852928" y="2676754"/>
            <a:ext cx="64008" cy="64008"/>
          </a:xfrm>
          <a:prstGeom prst="rect">
            <a:avLst/>
          </a:prstGeom>
          <a:solidFill>
            <a:srgbClr val="6A1B9A"/>
          </a:solidFill>
          <a:ln/>
        </p:spPr>
      </p:sp>
      <p:sp>
        <p:nvSpPr>
          <p:cNvPr id="74" name="Text 72"/>
          <p:cNvSpPr txBox="1"/>
          <p:nvPr/>
        </p:nvSpPr>
        <p:spPr>
          <a:xfrm>
            <a:off x="2953512" y="2644750"/>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6A1B9A"/>
                </a:solidFill>
                <a:latin typeface="Trenda IG Display Bold" pitchFamily="34" charset="0"/>
                <a:ea typeface="Trenda IG Display Bold" pitchFamily="34" charset="-122"/>
                <a:cs typeface="Trenda IG Display Bold" pitchFamily="34" charset="-120"/>
              </a:rPr>
              <a:t>Keys and crypto</a:t>
            </a:r>
            <a:endParaRPr lang="en-US" sz="800" dirty="0"/>
          </a:p>
        </p:txBody>
      </p:sp>
      <p:sp>
        <p:nvSpPr>
          <p:cNvPr id="75" name="Text 73"/>
          <p:cNvSpPr txBox="1"/>
          <p:nvPr/>
        </p:nvSpPr>
        <p:spPr>
          <a:xfrm>
            <a:off x="2852928" y="2814523"/>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KMS or HSM held keys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Envelope per snapshot</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TLS 1.3, AES-256 at rest</a:t>
            </a:r>
            <a:endParaRPr lang="en-US" sz="700" dirty="0"/>
          </a:p>
        </p:txBody>
      </p:sp>
      <p:sp>
        <p:nvSpPr>
          <p:cNvPr id="76" name="Shape 74"/>
          <p:cNvSpPr/>
          <p:nvPr/>
        </p:nvSpPr>
        <p:spPr>
          <a:xfrm>
            <a:off x="2852928" y="3281324"/>
            <a:ext cx="64008" cy="64008"/>
          </a:xfrm>
          <a:prstGeom prst="rect">
            <a:avLst/>
          </a:prstGeom>
          <a:solidFill>
            <a:srgbClr val="6A1B9A"/>
          </a:solidFill>
          <a:ln/>
        </p:spPr>
      </p:sp>
      <p:sp>
        <p:nvSpPr>
          <p:cNvPr id="77" name="Text 75"/>
          <p:cNvSpPr txBox="1"/>
          <p:nvPr/>
        </p:nvSpPr>
        <p:spPr>
          <a:xfrm>
            <a:off x="2953512" y="3249320"/>
            <a:ext cx="1051560" cy="266395"/>
          </a:xfrm>
          <a:prstGeom prst="rect">
            <a:avLst/>
          </a:prstGeom>
          <a:noFill/>
          <a:ln/>
        </p:spPr>
        <p:txBody>
          <a:bodyPr wrap="square" lIns="0" tIns="0" rIns="0" bIns="0" rtlCol="0" anchor="t"/>
          <a:lstStyle/>
          <a:p>
            <a:pPr indent="0" marL="0">
              <a:lnSpc>
                <a:spcPct val="98000"/>
              </a:lnSpc>
              <a:buNone/>
            </a:pPr>
            <a:r>
              <a:rPr lang="en-US" sz="800" dirty="0">
                <a:solidFill>
                  <a:srgbClr val="6A1B9A"/>
                </a:solidFill>
                <a:latin typeface="Trenda IG Display Bold" pitchFamily="34" charset="0"/>
                <a:ea typeface="Trenda IG Display Bold" pitchFamily="34" charset="-122"/>
                <a:cs typeface="Trenda IG Display Bold" pitchFamily="34" charset="-120"/>
              </a:rPr>
              <a:t>Re-identification defence</a:t>
            </a:r>
            <a:endParaRPr lang="en-US" sz="800" dirty="0"/>
          </a:p>
        </p:txBody>
      </p:sp>
      <p:sp>
        <p:nvSpPr>
          <p:cNvPr id="78" name="Text 76"/>
          <p:cNvSpPr txBox="1"/>
          <p:nvPr/>
        </p:nvSpPr>
        <p:spPr>
          <a:xfrm>
            <a:off x="2852928" y="3543148"/>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k-anonymity floor per cell</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Rare plus small suppressed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Query budget per user</a:t>
            </a:r>
            <a:endParaRPr lang="en-US" sz="700" dirty="0"/>
          </a:p>
        </p:txBody>
      </p:sp>
      <p:sp>
        <p:nvSpPr>
          <p:cNvPr id="79" name="Shape 77"/>
          <p:cNvSpPr/>
          <p:nvPr/>
        </p:nvSpPr>
        <p:spPr>
          <a:xfrm>
            <a:off x="2852928" y="4009949"/>
            <a:ext cx="64008" cy="64008"/>
          </a:xfrm>
          <a:prstGeom prst="rect">
            <a:avLst/>
          </a:prstGeom>
          <a:solidFill>
            <a:srgbClr val="6A1B9A"/>
          </a:solidFill>
          <a:ln/>
        </p:spPr>
      </p:sp>
      <p:sp>
        <p:nvSpPr>
          <p:cNvPr id="80" name="Text 78"/>
          <p:cNvSpPr txBox="1"/>
          <p:nvPr/>
        </p:nvSpPr>
        <p:spPr>
          <a:xfrm>
            <a:off x="2953512" y="3977945"/>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6A1B9A"/>
                </a:solidFill>
                <a:latin typeface="Trenda IG Display Bold" pitchFamily="34" charset="0"/>
                <a:ea typeface="Trenda IG Display Bold" pitchFamily="34" charset="-122"/>
                <a:cs typeface="Trenda IG Display Bold" pitchFamily="34" charset="-120"/>
              </a:rPr>
              <a:t>Assurance</a:t>
            </a:r>
            <a:endParaRPr lang="en-US" sz="800" dirty="0"/>
          </a:p>
        </p:txBody>
      </p:sp>
      <p:sp>
        <p:nvSpPr>
          <p:cNvPr id="81" name="Text 79"/>
          <p:cNvSpPr txBox="1"/>
          <p:nvPr/>
        </p:nvSpPr>
        <p:spPr>
          <a:xfrm>
            <a:off x="2852928" y="4147718"/>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HIPAA, HITRUST, SOC 2</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Immutable WORM audit</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Quarterly re-id review</a:t>
            </a:r>
            <a:endParaRPr lang="en-US" sz="700" dirty="0"/>
          </a:p>
        </p:txBody>
      </p:sp>
      <p:sp>
        <p:nvSpPr>
          <p:cNvPr id="82" name="Shape 80"/>
          <p:cNvSpPr/>
          <p:nvPr/>
        </p:nvSpPr>
        <p:spPr>
          <a:xfrm>
            <a:off x="2779776" y="5230368"/>
            <a:ext cx="1289304" cy="457200"/>
          </a:xfrm>
          <a:prstGeom prst="rect">
            <a:avLst/>
          </a:prstGeom>
          <a:solidFill>
            <a:srgbClr val="6A1B9A"/>
          </a:solidFill>
          <a:ln/>
        </p:spPr>
      </p:sp>
      <p:sp>
        <p:nvSpPr>
          <p:cNvPr id="83" name="Text 81"/>
          <p:cNvSpPr txBox="1"/>
          <p:nvPr/>
        </p:nvSpPr>
        <p:spPr>
          <a:xfrm>
            <a:off x="2852928" y="5276088"/>
            <a:ext cx="1143000" cy="128016"/>
          </a:xfrm>
          <a:prstGeom prst="rect">
            <a:avLst/>
          </a:prstGeom>
          <a:noFill/>
          <a:ln/>
        </p:spPr>
        <p:txBody>
          <a:bodyPr wrap="square" lIns="0" tIns="0" rIns="0" bIns="0" rtlCol="0" anchor="t"/>
          <a:lstStyle/>
          <a:p>
            <a:pPr indent="0" marL="0">
              <a:buNone/>
            </a:pPr>
            <a:r>
              <a:rPr lang="en-US" sz="650" spc="40" kern="0" dirty="0">
                <a:solidFill>
                  <a:srgbClr val="CFE6EE"/>
                </a:solidFill>
                <a:latin typeface="Trenda IG Text Semibold" pitchFamily="34" charset="0"/>
                <a:ea typeface="Trenda IG Text Semibold" pitchFamily="34" charset="-122"/>
                <a:cs typeface="Trenda IG Text Semibold" pitchFamily="34" charset="-120"/>
              </a:rPr>
              <a:t>WHAT YOU GET</a:t>
            </a:r>
            <a:endParaRPr lang="en-US" sz="650" dirty="0"/>
          </a:p>
        </p:txBody>
      </p:sp>
      <p:sp>
        <p:nvSpPr>
          <p:cNvPr id="84" name="Text 82"/>
          <p:cNvSpPr txBox="1"/>
          <p:nvPr/>
        </p:nvSpPr>
        <p:spPr>
          <a:xfrm>
            <a:off x="2852928" y="5404104"/>
            <a:ext cx="1143000" cy="274320"/>
          </a:xfrm>
          <a:prstGeom prst="rect">
            <a:avLst/>
          </a:prstGeom>
          <a:noFill/>
          <a:ln/>
        </p:spPr>
        <p:txBody>
          <a:bodyPr wrap="square" lIns="0" tIns="0" rIns="0" bIns="0" rtlCol="0" anchor="t"/>
          <a:lstStyle/>
          <a:p>
            <a:pPr indent="0" marL="0">
              <a:lnSpc>
                <a:spcPct val="97000"/>
              </a:lnSpc>
              <a:buNone/>
            </a:pPr>
            <a:r>
              <a:rPr lang="en-US" sz="700" dirty="0">
                <a:solidFill>
                  <a:srgbClr val="FFFFFF"/>
                </a:solidFill>
                <a:latin typeface="Trenda IG Text Semibold" pitchFamily="34" charset="0"/>
                <a:ea typeface="Trenda IG Text Semibold" pitchFamily="34" charset="-122"/>
                <a:cs typeface="Trenda IG Text Semibold" pitchFamily="34" charset="-120"/>
              </a:rPr>
              <a:t>PHI never crosses the line in identifiable form</a:t>
            </a:r>
            <a:endParaRPr lang="en-US" sz="700" dirty="0"/>
          </a:p>
        </p:txBody>
      </p:sp>
      <p:sp>
        <p:nvSpPr>
          <p:cNvPr id="85" name="Text 83"/>
          <p:cNvSpPr txBox="1"/>
          <p:nvPr/>
        </p:nvSpPr>
        <p:spPr>
          <a:xfrm>
            <a:off x="4067251" y="914400"/>
            <a:ext cx="49378" cy="128016"/>
          </a:xfrm>
          <a:prstGeom prst="rect">
            <a:avLst/>
          </a:prstGeom>
          <a:noFill/>
          <a:ln/>
        </p:spPr>
        <p:txBody>
          <a:bodyPr wrap="square" lIns="0" tIns="0" rIns="0" bIns="0" rtlCol="0" anchor="t"/>
          <a:lstStyle/>
          <a:p>
            <a:pPr algn="ctr" indent="0" marL="0">
              <a:buNone/>
            </a:pPr>
            <a:r>
              <a:rPr lang="en-US" sz="450" dirty="0">
                <a:solidFill>
                  <a:srgbClr val="9AA4B0"/>
                </a:solidFill>
                <a:latin typeface="Trenda IG Text" pitchFamily="34" charset="0"/>
                <a:ea typeface="Trenda IG Text" pitchFamily="34" charset="-122"/>
                <a:cs typeface="Trenda IG Text" pitchFamily="34" charset="-120"/>
              </a:rPr>
              <a:t>▶</a:t>
            </a:r>
            <a:endParaRPr lang="en-US" sz="450" dirty="0"/>
          </a:p>
        </p:txBody>
      </p:sp>
      <p:sp>
        <p:nvSpPr>
          <p:cNvPr id="86" name="Shape 84"/>
          <p:cNvSpPr/>
          <p:nvPr/>
        </p:nvSpPr>
        <p:spPr>
          <a:xfrm>
            <a:off x="4114800" y="713232"/>
            <a:ext cx="1289304" cy="621792"/>
          </a:xfrm>
          <a:prstGeom prst="rect">
            <a:avLst/>
          </a:prstGeom>
          <a:solidFill>
            <a:srgbClr val="7A4FC0"/>
          </a:solidFill>
          <a:ln/>
        </p:spPr>
      </p:sp>
      <p:sp>
        <p:nvSpPr>
          <p:cNvPr id="87" name="Text 85"/>
          <p:cNvSpPr txBox="1"/>
          <p:nvPr/>
        </p:nvSpPr>
        <p:spPr>
          <a:xfrm>
            <a:off x="4160520" y="758952"/>
            <a:ext cx="1197864" cy="137160"/>
          </a:xfrm>
          <a:prstGeom prst="rect">
            <a:avLst/>
          </a:prstGeom>
          <a:noFill/>
          <a:ln/>
        </p:spPr>
        <p:txBody>
          <a:bodyPr wrap="square" lIns="0" tIns="0" rIns="0" bIns="0" rtlCol="0" anchor="t"/>
          <a:lstStyle/>
          <a:p>
            <a:pPr algn="ctr" indent="0" marL="0">
              <a:buNone/>
            </a:pPr>
            <a:r>
              <a:rPr lang="en-US" sz="750" spc="40" kern="0" dirty="0">
                <a:solidFill>
                  <a:srgbClr val="FFFFFF"/>
                </a:solidFill>
                <a:latin typeface="Trenda IG Display Semibold" pitchFamily="34" charset="0"/>
                <a:ea typeface="Trenda IG Display Semibold" pitchFamily="34" charset="-122"/>
                <a:cs typeface="Trenda IG Display Semibold" pitchFamily="34" charset="-120"/>
              </a:rPr>
              <a:t>LAYER 4</a:t>
            </a:r>
            <a:endParaRPr lang="en-US" sz="750" dirty="0"/>
          </a:p>
        </p:txBody>
      </p:sp>
      <p:sp>
        <p:nvSpPr>
          <p:cNvPr id="88" name="Text 86"/>
          <p:cNvSpPr txBox="1"/>
          <p:nvPr/>
        </p:nvSpPr>
        <p:spPr>
          <a:xfrm>
            <a:off x="4151376" y="886968"/>
            <a:ext cx="1216152" cy="329184"/>
          </a:xfrm>
          <a:prstGeom prst="rect">
            <a:avLst/>
          </a:prstGeom>
          <a:noFill/>
          <a:ln/>
        </p:spPr>
        <p:txBody>
          <a:bodyPr wrap="square" lIns="0" tIns="0" rIns="0" bIns="0" rtlCol="0" anchor="t"/>
          <a:lstStyle/>
          <a:p>
            <a:pPr algn="ctr" indent="0" marL="0">
              <a:lnSpc>
                <a:spcPct val="92000"/>
              </a:lnSpc>
              <a:buNone/>
            </a:pPr>
            <a:r>
              <a:rPr lang="en-US" sz="1000" dirty="0">
                <a:solidFill>
                  <a:srgbClr val="FFFFFF"/>
                </a:solidFill>
                <a:latin typeface="Trenda IG Display Bold" pitchFamily="34" charset="0"/>
                <a:ea typeface="Trenda IG Display Bold" pitchFamily="34" charset="-122"/>
                <a:cs typeface="Trenda IG Display Bold" pitchFamily="34" charset="-120"/>
              </a:rPr>
              <a:t>Ingest and Identity</a:t>
            </a:r>
            <a:endParaRPr lang="en-US" sz="1000" dirty="0"/>
          </a:p>
        </p:txBody>
      </p:sp>
      <p:sp>
        <p:nvSpPr>
          <p:cNvPr id="89" name="Text 87"/>
          <p:cNvSpPr txBox="1"/>
          <p:nvPr/>
        </p:nvSpPr>
        <p:spPr>
          <a:xfrm>
            <a:off x="4160520" y="1188720"/>
            <a:ext cx="1197864" cy="137160"/>
          </a:xfrm>
          <a:prstGeom prst="rect">
            <a:avLst/>
          </a:prstGeom>
          <a:noFill/>
          <a:ln/>
        </p:spPr>
        <p:txBody>
          <a:bodyPr wrap="square" lIns="0" tIns="0" rIns="0" bIns="0" rtlCol="0" anchor="t"/>
          <a:lstStyle/>
          <a:p>
            <a:pPr algn="ctr" indent="0" marL="0">
              <a:buNone/>
            </a:pPr>
            <a:r>
              <a:rPr lang="en-US" sz="650" dirty="0">
                <a:solidFill>
                  <a:srgbClr val="E4EEF2"/>
                </a:solidFill>
                <a:latin typeface="Trenda IG Text Light" pitchFamily="34" charset="0"/>
                <a:ea typeface="Trenda IG Text Light" pitchFamily="34" charset="-122"/>
                <a:cs typeface="Trenda IG Text Light" pitchFamily="34" charset="-120"/>
              </a:rPr>
              <a:t>Resolve, reconcile, prove</a:t>
            </a:r>
            <a:endParaRPr lang="en-US" sz="650" dirty="0"/>
          </a:p>
        </p:txBody>
      </p:sp>
      <p:sp>
        <p:nvSpPr>
          <p:cNvPr id="90" name="Shape 88"/>
          <p:cNvSpPr/>
          <p:nvPr/>
        </p:nvSpPr>
        <p:spPr>
          <a:xfrm>
            <a:off x="4114800" y="1353312"/>
            <a:ext cx="1289304" cy="4334256"/>
          </a:xfrm>
          <a:prstGeom prst="rect">
            <a:avLst/>
          </a:prstGeom>
          <a:solidFill>
            <a:srgbClr val="FFFFFF"/>
          </a:solidFill>
          <a:ln w="9525">
            <a:solidFill>
              <a:srgbClr val="D5D9DE"/>
            </a:solidFill>
            <a:prstDash val="solid"/>
          </a:ln>
        </p:spPr>
      </p:sp>
      <p:sp>
        <p:nvSpPr>
          <p:cNvPr id="91" name="Shape 89"/>
          <p:cNvSpPr/>
          <p:nvPr/>
        </p:nvSpPr>
        <p:spPr>
          <a:xfrm>
            <a:off x="4187952" y="1467612"/>
            <a:ext cx="64008" cy="64008"/>
          </a:xfrm>
          <a:prstGeom prst="rect">
            <a:avLst/>
          </a:prstGeom>
          <a:solidFill>
            <a:srgbClr val="7A4FC0"/>
          </a:solidFill>
          <a:ln/>
        </p:spPr>
      </p:sp>
      <p:sp>
        <p:nvSpPr>
          <p:cNvPr id="92" name="Text 90"/>
          <p:cNvSpPr txBox="1"/>
          <p:nvPr/>
        </p:nvSpPr>
        <p:spPr>
          <a:xfrm>
            <a:off x="4288536" y="1435608"/>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7A4FC0"/>
                </a:solidFill>
                <a:latin typeface="Trenda IG Display Bold" pitchFamily="34" charset="0"/>
                <a:ea typeface="Trenda IG Display Bold" pitchFamily="34" charset="-122"/>
                <a:cs typeface="Trenda IG Display Bold" pitchFamily="34" charset="-120"/>
              </a:rPr>
              <a:t>Parse and normalise</a:t>
            </a:r>
            <a:endParaRPr lang="en-US" sz="800" dirty="0"/>
          </a:p>
        </p:txBody>
      </p:sp>
      <p:sp>
        <p:nvSpPr>
          <p:cNvPr id="93" name="Text 91"/>
          <p:cNvSpPr txBox="1"/>
          <p:nvPr/>
        </p:nvSpPr>
        <p:spPr>
          <a:xfrm>
            <a:off x="4187952" y="1605382"/>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FHIR to domain objects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ICD-10, CPT, SNOMED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Taxonomy to specialty</a:t>
            </a:r>
            <a:endParaRPr lang="en-US" sz="700" dirty="0"/>
          </a:p>
        </p:txBody>
      </p:sp>
      <p:sp>
        <p:nvSpPr>
          <p:cNvPr id="94" name="Shape 92"/>
          <p:cNvSpPr/>
          <p:nvPr/>
        </p:nvSpPr>
        <p:spPr>
          <a:xfrm>
            <a:off x="4187952" y="2072183"/>
            <a:ext cx="64008" cy="64008"/>
          </a:xfrm>
          <a:prstGeom prst="rect">
            <a:avLst/>
          </a:prstGeom>
          <a:solidFill>
            <a:srgbClr val="7A4FC0"/>
          </a:solidFill>
          <a:ln/>
        </p:spPr>
      </p:sp>
      <p:sp>
        <p:nvSpPr>
          <p:cNvPr id="95" name="Text 93"/>
          <p:cNvSpPr txBox="1"/>
          <p:nvPr/>
        </p:nvSpPr>
        <p:spPr>
          <a:xfrm>
            <a:off x="4288536" y="2040179"/>
            <a:ext cx="1051560" cy="266395"/>
          </a:xfrm>
          <a:prstGeom prst="rect">
            <a:avLst/>
          </a:prstGeom>
          <a:noFill/>
          <a:ln/>
        </p:spPr>
        <p:txBody>
          <a:bodyPr wrap="square" lIns="0" tIns="0" rIns="0" bIns="0" rtlCol="0" anchor="t"/>
          <a:lstStyle/>
          <a:p>
            <a:pPr indent="0" marL="0">
              <a:lnSpc>
                <a:spcPct val="98000"/>
              </a:lnSpc>
              <a:buNone/>
            </a:pPr>
            <a:r>
              <a:rPr lang="en-US" sz="800" dirty="0">
                <a:solidFill>
                  <a:srgbClr val="7A4FC0"/>
                </a:solidFill>
                <a:latin typeface="Trenda IG Display Bold" pitchFamily="34" charset="0"/>
                <a:ea typeface="Trenda IG Display Bold" pitchFamily="34" charset="-122"/>
                <a:cs typeface="Trenda IG Display Bold" pitchFamily="34" charset="-120"/>
              </a:rPr>
              <a:t>Patient identity, EMPI</a:t>
            </a:r>
            <a:endParaRPr lang="en-US" sz="800" dirty="0"/>
          </a:p>
        </p:txBody>
      </p:sp>
      <p:sp>
        <p:nvSpPr>
          <p:cNvPr id="96" name="Text 94"/>
          <p:cNvSpPr txBox="1"/>
          <p:nvPr/>
        </p:nvSpPr>
        <p:spPr>
          <a:xfrm>
            <a:off x="4187952" y="2334006"/>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Deterministic on token</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Probabilistic, reviewed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Links stay reversible</a:t>
            </a:r>
            <a:endParaRPr lang="en-US" sz="700" dirty="0"/>
          </a:p>
        </p:txBody>
      </p:sp>
      <p:sp>
        <p:nvSpPr>
          <p:cNvPr id="97" name="Shape 95"/>
          <p:cNvSpPr/>
          <p:nvPr/>
        </p:nvSpPr>
        <p:spPr>
          <a:xfrm>
            <a:off x="4187952" y="2800807"/>
            <a:ext cx="64008" cy="64008"/>
          </a:xfrm>
          <a:prstGeom prst="rect">
            <a:avLst/>
          </a:prstGeom>
          <a:solidFill>
            <a:srgbClr val="7A4FC0"/>
          </a:solidFill>
          <a:ln/>
        </p:spPr>
      </p:sp>
      <p:sp>
        <p:nvSpPr>
          <p:cNvPr id="98" name="Text 96"/>
          <p:cNvSpPr txBox="1"/>
          <p:nvPr/>
        </p:nvSpPr>
        <p:spPr>
          <a:xfrm>
            <a:off x="4288536" y="2768803"/>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7A4FC0"/>
                </a:solidFill>
                <a:latin typeface="Trenda IG Display Bold" pitchFamily="34" charset="0"/>
                <a:ea typeface="Trenda IG Display Bold" pitchFamily="34" charset="-122"/>
                <a:cs typeface="Trenda IG Display Bold" pitchFamily="34" charset="-120"/>
              </a:rPr>
              <a:t>Provider and place</a:t>
            </a:r>
            <a:endParaRPr lang="en-US" sz="800" dirty="0"/>
          </a:p>
        </p:txBody>
      </p:sp>
      <p:sp>
        <p:nvSpPr>
          <p:cNvPr id="99" name="Text 97"/>
          <p:cNvSpPr txBox="1"/>
          <p:nvPr/>
        </p:nvSpPr>
        <p:spPr>
          <a:xfrm>
            <a:off x="4187952" y="2938577"/>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NPI is the person</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TIN plus NPI is practice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CCN is the facility</a:t>
            </a:r>
            <a:endParaRPr lang="en-US" sz="700" dirty="0"/>
          </a:p>
        </p:txBody>
      </p:sp>
      <p:sp>
        <p:nvSpPr>
          <p:cNvPr id="100" name="Shape 98"/>
          <p:cNvSpPr/>
          <p:nvPr/>
        </p:nvSpPr>
        <p:spPr>
          <a:xfrm>
            <a:off x="4187952" y="3405378"/>
            <a:ext cx="64008" cy="64008"/>
          </a:xfrm>
          <a:prstGeom prst="rect">
            <a:avLst/>
          </a:prstGeom>
          <a:solidFill>
            <a:srgbClr val="7A4FC0"/>
          </a:solidFill>
          <a:ln/>
        </p:spPr>
      </p:sp>
      <p:sp>
        <p:nvSpPr>
          <p:cNvPr id="101" name="Text 99"/>
          <p:cNvSpPr txBox="1"/>
          <p:nvPr/>
        </p:nvSpPr>
        <p:spPr>
          <a:xfrm>
            <a:off x="4288536" y="3373374"/>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7A4FC0"/>
                </a:solidFill>
                <a:latin typeface="Trenda IG Display Bold" pitchFamily="34" charset="0"/>
                <a:ea typeface="Trenda IG Display Bold" pitchFamily="34" charset="-122"/>
                <a:cs typeface="Trenda IG Display Bold" pitchFamily="34" charset="-120"/>
              </a:rPr>
              <a:t>Conflict resolution</a:t>
            </a:r>
            <a:endParaRPr lang="en-US" sz="800" dirty="0"/>
          </a:p>
        </p:txBody>
      </p:sp>
      <p:sp>
        <p:nvSpPr>
          <p:cNvPr id="102" name="Text 100"/>
          <p:cNvSpPr txBox="1"/>
          <p:nvPr/>
        </p:nvSpPr>
        <p:spPr>
          <a:xfrm>
            <a:off x="4187952" y="3543148"/>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Precedence per attribute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Losing value retained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Confidence on every link</a:t>
            </a:r>
            <a:endParaRPr lang="en-US" sz="700" dirty="0"/>
          </a:p>
        </p:txBody>
      </p:sp>
      <p:sp>
        <p:nvSpPr>
          <p:cNvPr id="103" name="Shape 101"/>
          <p:cNvSpPr/>
          <p:nvPr/>
        </p:nvSpPr>
        <p:spPr>
          <a:xfrm>
            <a:off x="4187952" y="4009949"/>
            <a:ext cx="64008" cy="64008"/>
          </a:xfrm>
          <a:prstGeom prst="rect">
            <a:avLst/>
          </a:prstGeom>
          <a:solidFill>
            <a:srgbClr val="7A4FC0"/>
          </a:solidFill>
          <a:ln/>
        </p:spPr>
      </p:sp>
      <p:sp>
        <p:nvSpPr>
          <p:cNvPr id="104" name="Text 102"/>
          <p:cNvSpPr txBox="1"/>
          <p:nvPr/>
        </p:nvSpPr>
        <p:spPr>
          <a:xfrm>
            <a:off x="4288536" y="3977945"/>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7A4FC0"/>
                </a:solidFill>
                <a:latin typeface="Trenda IG Display Bold" pitchFamily="34" charset="0"/>
                <a:ea typeface="Trenda IG Display Bold" pitchFamily="34" charset="-122"/>
                <a:cs typeface="Trenda IG Display Bold" pitchFamily="34" charset="-120"/>
              </a:rPr>
              <a:t>Provenance</a:t>
            </a:r>
            <a:endParaRPr lang="en-US" sz="800" dirty="0"/>
          </a:p>
        </p:txBody>
      </p:sp>
      <p:sp>
        <p:nvSpPr>
          <p:cNvPr id="105" name="Text 103"/>
          <p:cNvSpPr txBox="1"/>
          <p:nvPr/>
        </p:nvSpPr>
        <p:spPr>
          <a:xfrm>
            <a:off x="4187952" y="4147718"/>
            <a:ext cx="1188720" cy="283769"/>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Source, extract, hash</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FACTUAL or INFERRED</a:t>
            </a:r>
            <a:endParaRPr lang="en-US" sz="700" dirty="0"/>
          </a:p>
        </p:txBody>
      </p:sp>
      <p:sp>
        <p:nvSpPr>
          <p:cNvPr id="106" name="Shape 104"/>
          <p:cNvSpPr/>
          <p:nvPr/>
        </p:nvSpPr>
        <p:spPr>
          <a:xfrm>
            <a:off x="4114800" y="5230368"/>
            <a:ext cx="1289304" cy="457200"/>
          </a:xfrm>
          <a:prstGeom prst="rect">
            <a:avLst/>
          </a:prstGeom>
          <a:solidFill>
            <a:srgbClr val="7A4FC0"/>
          </a:solidFill>
          <a:ln/>
        </p:spPr>
      </p:sp>
      <p:sp>
        <p:nvSpPr>
          <p:cNvPr id="107" name="Text 105"/>
          <p:cNvSpPr txBox="1"/>
          <p:nvPr/>
        </p:nvSpPr>
        <p:spPr>
          <a:xfrm>
            <a:off x="4187952" y="5276088"/>
            <a:ext cx="1143000" cy="128016"/>
          </a:xfrm>
          <a:prstGeom prst="rect">
            <a:avLst/>
          </a:prstGeom>
          <a:noFill/>
          <a:ln/>
        </p:spPr>
        <p:txBody>
          <a:bodyPr wrap="square" lIns="0" tIns="0" rIns="0" bIns="0" rtlCol="0" anchor="t"/>
          <a:lstStyle/>
          <a:p>
            <a:pPr indent="0" marL="0">
              <a:buNone/>
            </a:pPr>
            <a:r>
              <a:rPr lang="en-US" sz="650" spc="40" kern="0" dirty="0">
                <a:solidFill>
                  <a:srgbClr val="CFE6EE"/>
                </a:solidFill>
                <a:latin typeface="Trenda IG Text Semibold" pitchFamily="34" charset="0"/>
                <a:ea typeface="Trenda IG Text Semibold" pitchFamily="34" charset="-122"/>
                <a:cs typeface="Trenda IG Text Semibold" pitchFamily="34" charset="-120"/>
              </a:rPr>
              <a:t>WHAT YOU GET</a:t>
            </a:r>
            <a:endParaRPr lang="en-US" sz="650" dirty="0"/>
          </a:p>
        </p:txBody>
      </p:sp>
      <p:sp>
        <p:nvSpPr>
          <p:cNvPr id="108" name="Text 106"/>
          <p:cNvSpPr txBox="1"/>
          <p:nvPr/>
        </p:nvSpPr>
        <p:spPr>
          <a:xfrm>
            <a:off x="4187952" y="5404104"/>
            <a:ext cx="1143000" cy="274320"/>
          </a:xfrm>
          <a:prstGeom prst="rect">
            <a:avLst/>
          </a:prstGeom>
          <a:noFill/>
          <a:ln/>
        </p:spPr>
        <p:txBody>
          <a:bodyPr wrap="square" lIns="0" tIns="0" rIns="0" bIns="0" rtlCol="0" anchor="t"/>
          <a:lstStyle/>
          <a:p>
            <a:pPr indent="0" marL="0">
              <a:lnSpc>
                <a:spcPct val="97000"/>
              </a:lnSpc>
              <a:buNone/>
            </a:pPr>
            <a:r>
              <a:rPr lang="en-US" sz="700" dirty="0">
                <a:solidFill>
                  <a:srgbClr val="FFFFFF"/>
                </a:solidFill>
                <a:latin typeface="Trenda IG Text Semibold" pitchFamily="34" charset="0"/>
                <a:ea typeface="Trenda IG Text Semibold" pitchFamily="34" charset="-122"/>
                <a:cs typeface="Trenda IG Text Semibold" pitchFamily="34" charset="-120"/>
              </a:rPr>
              <a:t>One patient, one provider, one place, with the proof</a:t>
            </a:r>
            <a:endParaRPr lang="en-US" sz="700" dirty="0"/>
          </a:p>
        </p:txBody>
      </p:sp>
      <p:sp>
        <p:nvSpPr>
          <p:cNvPr id="109" name="Text 107"/>
          <p:cNvSpPr txBox="1"/>
          <p:nvPr/>
        </p:nvSpPr>
        <p:spPr>
          <a:xfrm>
            <a:off x="5402275" y="914400"/>
            <a:ext cx="49378" cy="128016"/>
          </a:xfrm>
          <a:prstGeom prst="rect">
            <a:avLst/>
          </a:prstGeom>
          <a:noFill/>
          <a:ln/>
        </p:spPr>
        <p:txBody>
          <a:bodyPr wrap="square" lIns="0" tIns="0" rIns="0" bIns="0" rtlCol="0" anchor="t"/>
          <a:lstStyle/>
          <a:p>
            <a:pPr algn="ctr" indent="0" marL="0">
              <a:buNone/>
            </a:pPr>
            <a:r>
              <a:rPr lang="en-US" sz="450" dirty="0">
                <a:solidFill>
                  <a:srgbClr val="9AA4B0"/>
                </a:solidFill>
                <a:latin typeface="Trenda IG Text" pitchFamily="34" charset="0"/>
                <a:ea typeface="Trenda IG Text" pitchFamily="34" charset="-122"/>
                <a:cs typeface="Trenda IG Text" pitchFamily="34" charset="-120"/>
              </a:rPr>
              <a:t>▶</a:t>
            </a:r>
            <a:endParaRPr lang="en-US" sz="450" dirty="0"/>
          </a:p>
        </p:txBody>
      </p:sp>
      <p:sp>
        <p:nvSpPr>
          <p:cNvPr id="110" name="Shape 108"/>
          <p:cNvSpPr/>
          <p:nvPr/>
        </p:nvSpPr>
        <p:spPr>
          <a:xfrm>
            <a:off x="5449824" y="713232"/>
            <a:ext cx="1289304" cy="621792"/>
          </a:xfrm>
          <a:prstGeom prst="rect">
            <a:avLst/>
          </a:prstGeom>
          <a:solidFill>
            <a:srgbClr val="C2185B"/>
          </a:solidFill>
          <a:ln/>
        </p:spPr>
      </p:sp>
      <p:sp>
        <p:nvSpPr>
          <p:cNvPr id="111" name="Text 109"/>
          <p:cNvSpPr txBox="1"/>
          <p:nvPr/>
        </p:nvSpPr>
        <p:spPr>
          <a:xfrm>
            <a:off x="5495544" y="758952"/>
            <a:ext cx="1197864" cy="137160"/>
          </a:xfrm>
          <a:prstGeom prst="rect">
            <a:avLst/>
          </a:prstGeom>
          <a:noFill/>
          <a:ln/>
        </p:spPr>
        <p:txBody>
          <a:bodyPr wrap="square" lIns="0" tIns="0" rIns="0" bIns="0" rtlCol="0" anchor="t"/>
          <a:lstStyle/>
          <a:p>
            <a:pPr algn="ctr" indent="0" marL="0">
              <a:buNone/>
            </a:pPr>
            <a:r>
              <a:rPr lang="en-US" sz="750" spc="40" kern="0" dirty="0">
                <a:solidFill>
                  <a:srgbClr val="FFFFFF"/>
                </a:solidFill>
                <a:latin typeface="Trenda IG Display Semibold" pitchFamily="34" charset="0"/>
                <a:ea typeface="Trenda IG Display Semibold" pitchFamily="34" charset="-122"/>
                <a:cs typeface="Trenda IG Display Semibold" pitchFamily="34" charset="-120"/>
              </a:rPr>
              <a:t>LAYER 5</a:t>
            </a:r>
            <a:endParaRPr lang="en-US" sz="750" dirty="0"/>
          </a:p>
        </p:txBody>
      </p:sp>
      <p:sp>
        <p:nvSpPr>
          <p:cNvPr id="112" name="Text 110"/>
          <p:cNvSpPr txBox="1"/>
          <p:nvPr/>
        </p:nvSpPr>
        <p:spPr>
          <a:xfrm>
            <a:off x="5486400" y="886968"/>
            <a:ext cx="1216152" cy="329184"/>
          </a:xfrm>
          <a:prstGeom prst="rect">
            <a:avLst/>
          </a:prstGeom>
          <a:noFill/>
          <a:ln/>
        </p:spPr>
        <p:txBody>
          <a:bodyPr wrap="square" lIns="0" tIns="0" rIns="0" bIns="0" rtlCol="0" anchor="t"/>
          <a:lstStyle/>
          <a:p>
            <a:pPr algn="ctr" indent="0" marL="0">
              <a:lnSpc>
                <a:spcPct val="92000"/>
              </a:lnSpc>
              <a:buNone/>
            </a:pPr>
            <a:r>
              <a:rPr lang="en-US" sz="1000" dirty="0">
                <a:solidFill>
                  <a:srgbClr val="FFFFFF"/>
                </a:solidFill>
                <a:latin typeface="Trenda IG Display Bold" pitchFamily="34" charset="0"/>
                <a:ea typeface="Trenda IG Display Bold" pitchFamily="34" charset="-122"/>
                <a:cs typeface="Trenda IG Display Bold" pitchFamily="34" charset="-120"/>
              </a:rPr>
              <a:t>Domain Model</a:t>
            </a:r>
            <a:endParaRPr lang="en-US" sz="1000" dirty="0"/>
          </a:p>
        </p:txBody>
      </p:sp>
      <p:sp>
        <p:nvSpPr>
          <p:cNvPr id="113" name="Text 111"/>
          <p:cNvSpPr txBox="1"/>
          <p:nvPr/>
        </p:nvSpPr>
        <p:spPr>
          <a:xfrm>
            <a:off x="5495544" y="1188720"/>
            <a:ext cx="1197864" cy="137160"/>
          </a:xfrm>
          <a:prstGeom prst="rect">
            <a:avLst/>
          </a:prstGeom>
          <a:noFill/>
          <a:ln/>
        </p:spPr>
        <p:txBody>
          <a:bodyPr wrap="square" lIns="0" tIns="0" rIns="0" bIns="0" rtlCol="0" anchor="t"/>
          <a:lstStyle/>
          <a:p>
            <a:pPr algn="ctr" indent="0" marL="0">
              <a:buNone/>
            </a:pPr>
            <a:r>
              <a:rPr lang="en-US" sz="650" dirty="0">
                <a:solidFill>
                  <a:srgbClr val="E4EEF2"/>
                </a:solidFill>
                <a:latin typeface="Trenda IG Text Light" pitchFamily="34" charset="0"/>
                <a:ea typeface="Trenda IG Text Light" pitchFamily="34" charset="-122"/>
                <a:cs typeface="Trenda IG Text Light" pitchFamily="34" charset="-120"/>
              </a:rPr>
              <a:t>CareNetworkContext</a:t>
            </a:r>
            <a:endParaRPr lang="en-US" sz="650" dirty="0"/>
          </a:p>
        </p:txBody>
      </p:sp>
      <p:sp>
        <p:nvSpPr>
          <p:cNvPr id="114" name="Shape 112"/>
          <p:cNvSpPr/>
          <p:nvPr/>
        </p:nvSpPr>
        <p:spPr>
          <a:xfrm>
            <a:off x="5449824" y="1353312"/>
            <a:ext cx="1289304" cy="4334256"/>
          </a:xfrm>
          <a:prstGeom prst="rect">
            <a:avLst/>
          </a:prstGeom>
          <a:solidFill>
            <a:srgbClr val="FFFFFF"/>
          </a:solidFill>
          <a:ln w="9525">
            <a:solidFill>
              <a:srgbClr val="D5D9DE"/>
            </a:solidFill>
            <a:prstDash val="solid"/>
          </a:ln>
        </p:spPr>
      </p:sp>
      <p:sp>
        <p:nvSpPr>
          <p:cNvPr id="115" name="Shape 113"/>
          <p:cNvSpPr/>
          <p:nvPr/>
        </p:nvSpPr>
        <p:spPr>
          <a:xfrm>
            <a:off x="5522976" y="1467612"/>
            <a:ext cx="64008" cy="64008"/>
          </a:xfrm>
          <a:prstGeom prst="rect">
            <a:avLst/>
          </a:prstGeom>
          <a:solidFill>
            <a:srgbClr val="C2185B"/>
          </a:solidFill>
          <a:ln/>
        </p:spPr>
      </p:sp>
      <p:sp>
        <p:nvSpPr>
          <p:cNvPr id="116" name="Text 114"/>
          <p:cNvSpPr txBox="1"/>
          <p:nvPr/>
        </p:nvSpPr>
        <p:spPr>
          <a:xfrm>
            <a:off x="5623560" y="1435608"/>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C2185B"/>
                </a:solidFill>
                <a:latin typeface="Trenda IG Display Bold" pitchFamily="34" charset="0"/>
                <a:ea typeface="Trenda IG Display Bold" pitchFamily="34" charset="-122"/>
                <a:cs typeface="Trenda IG Display Bold" pitchFamily="34" charset="-120"/>
              </a:rPr>
              <a:t>Entities</a:t>
            </a:r>
            <a:endParaRPr lang="en-US" sz="800" dirty="0"/>
          </a:p>
        </p:txBody>
      </p:sp>
      <p:sp>
        <p:nvSpPr>
          <p:cNvPr id="117" name="Text 115"/>
          <p:cNvSpPr txBox="1"/>
          <p:nvPr/>
        </p:nvSpPr>
        <p:spPr>
          <a:xfrm>
            <a:off x="5522976" y="1605382"/>
            <a:ext cx="1188720" cy="51191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providers[], facilities[]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serviceLines[], capabilities[]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appointments[], careIntent[]</a:t>
            </a:r>
            <a:endParaRPr lang="en-US" sz="700" dirty="0"/>
          </a:p>
        </p:txBody>
      </p:sp>
      <p:sp>
        <p:nvSpPr>
          <p:cNvPr id="118" name="Shape 116"/>
          <p:cNvSpPr/>
          <p:nvPr/>
        </p:nvSpPr>
        <p:spPr>
          <a:xfrm>
            <a:off x="5522976" y="2176729"/>
            <a:ext cx="64008" cy="64008"/>
          </a:xfrm>
          <a:prstGeom prst="rect">
            <a:avLst/>
          </a:prstGeom>
          <a:solidFill>
            <a:srgbClr val="C2185B"/>
          </a:solidFill>
          <a:ln/>
        </p:spPr>
      </p:sp>
      <p:sp>
        <p:nvSpPr>
          <p:cNvPr id="119" name="Text 117"/>
          <p:cNvSpPr txBox="1"/>
          <p:nvPr/>
        </p:nvSpPr>
        <p:spPr>
          <a:xfrm>
            <a:off x="5623560" y="2144725"/>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C2185B"/>
                </a:solidFill>
                <a:latin typeface="Trenda IG Display Bold" pitchFamily="34" charset="0"/>
                <a:ea typeface="Trenda IG Display Bold" pitchFamily="34" charset="-122"/>
                <a:cs typeface="Trenda IG Display Bold" pitchFamily="34" charset="-120"/>
              </a:rPr>
              <a:t>Relationship objects</a:t>
            </a:r>
            <a:endParaRPr lang="en-US" sz="800" dirty="0"/>
          </a:p>
        </p:txBody>
      </p:sp>
      <p:sp>
        <p:nvSpPr>
          <p:cNvPr id="120" name="Text 118"/>
          <p:cNvSpPr txBox="1"/>
          <p:nvPr/>
        </p:nvSpPr>
        <p:spPr>
          <a:xfrm>
            <a:off x="5522976" y="2314499"/>
            <a:ext cx="1188720" cy="38831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Affiliation, Privilege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Coverage, Referral, Contract</a:t>
            </a:r>
            <a:endParaRPr lang="en-US" sz="700" dirty="0"/>
          </a:p>
        </p:txBody>
      </p:sp>
      <p:sp>
        <p:nvSpPr>
          <p:cNvPr id="121" name="Shape 119"/>
          <p:cNvSpPr/>
          <p:nvPr/>
        </p:nvSpPr>
        <p:spPr>
          <a:xfrm>
            <a:off x="5522976" y="2762250"/>
            <a:ext cx="64008" cy="64008"/>
          </a:xfrm>
          <a:prstGeom prst="rect">
            <a:avLst/>
          </a:prstGeom>
          <a:solidFill>
            <a:srgbClr val="C2185B"/>
          </a:solidFill>
          <a:ln/>
        </p:spPr>
      </p:sp>
      <p:sp>
        <p:nvSpPr>
          <p:cNvPr id="122" name="Text 120"/>
          <p:cNvSpPr txBox="1"/>
          <p:nvPr/>
        </p:nvSpPr>
        <p:spPr>
          <a:xfrm>
            <a:off x="5623560" y="2730246"/>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C2185B"/>
                </a:solidFill>
                <a:latin typeface="Trenda IG Display Bold" pitchFamily="34" charset="0"/>
                <a:ea typeface="Trenda IG Display Bold" pitchFamily="34" charset="-122"/>
                <a:cs typeface="Trenda IG Display Bold" pitchFamily="34" charset="-120"/>
              </a:rPr>
              <a:t>Service line spec</a:t>
            </a:r>
            <a:endParaRPr lang="en-US" sz="800" dirty="0"/>
          </a:p>
        </p:txBody>
      </p:sp>
      <p:sp>
        <p:nvSpPr>
          <p:cNvPr id="123" name="Text 121"/>
          <p:cNvSpPr txBox="1"/>
          <p:nvPr/>
        </p:nvSpPr>
        <p:spPr>
          <a:xfrm>
            <a:off x="5522976" y="2900020"/>
            <a:ext cx="1188720" cy="51191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requiredSpecialties[]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requiredCapabilities[]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coverageWindow, minVolume</a:t>
            </a:r>
            <a:endParaRPr lang="en-US" sz="700" dirty="0"/>
          </a:p>
        </p:txBody>
      </p:sp>
      <p:sp>
        <p:nvSpPr>
          <p:cNvPr id="124" name="Shape 122"/>
          <p:cNvSpPr/>
          <p:nvPr/>
        </p:nvSpPr>
        <p:spPr>
          <a:xfrm>
            <a:off x="5522976" y="3471367"/>
            <a:ext cx="64008" cy="64008"/>
          </a:xfrm>
          <a:prstGeom prst="rect">
            <a:avLst/>
          </a:prstGeom>
          <a:solidFill>
            <a:srgbClr val="C2185B"/>
          </a:solidFill>
          <a:ln/>
        </p:spPr>
      </p:sp>
      <p:sp>
        <p:nvSpPr>
          <p:cNvPr id="125" name="Text 123"/>
          <p:cNvSpPr txBox="1"/>
          <p:nvPr/>
        </p:nvSpPr>
        <p:spPr>
          <a:xfrm>
            <a:off x="5623560" y="3439363"/>
            <a:ext cx="1051560" cy="266395"/>
          </a:xfrm>
          <a:prstGeom prst="rect">
            <a:avLst/>
          </a:prstGeom>
          <a:noFill/>
          <a:ln/>
        </p:spPr>
        <p:txBody>
          <a:bodyPr wrap="square" lIns="0" tIns="0" rIns="0" bIns="0" rtlCol="0" anchor="t"/>
          <a:lstStyle/>
          <a:p>
            <a:pPr indent="0" marL="0">
              <a:lnSpc>
                <a:spcPct val="98000"/>
              </a:lnSpc>
              <a:buNone/>
            </a:pPr>
            <a:r>
              <a:rPr lang="en-US" sz="800" dirty="0">
                <a:solidFill>
                  <a:srgbClr val="C2185B"/>
                </a:solidFill>
                <a:latin typeface="Trenda IG Display Bold" pitchFamily="34" charset="0"/>
                <a:ea typeface="Trenda IG Display Bold" pitchFamily="34" charset="-122"/>
                <a:cs typeface="Trenda IG Display Bold" pitchFamily="34" charset="-120"/>
              </a:rPr>
              <a:t>Appointment and demand</a:t>
            </a:r>
            <a:endParaRPr lang="en-US" sz="800" dirty="0"/>
          </a:p>
        </p:txBody>
      </p:sp>
      <p:sp>
        <p:nvSpPr>
          <p:cNvPr id="126" name="Text 124"/>
          <p:cNvSpPr txBox="1"/>
          <p:nvPr/>
        </p:nvSpPr>
        <p:spPr>
          <a:xfrm>
            <a:off x="5522976" y="3733190"/>
            <a:ext cx="1188720" cy="51191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status, cancelledBy, leadTime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patients, encounters, trend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slots, thirdNextAvailable</a:t>
            </a:r>
            <a:endParaRPr lang="en-US" sz="700" dirty="0"/>
          </a:p>
        </p:txBody>
      </p:sp>
      <p:sp>
        <p:nvSpPr>
          <p:cNvPr id="127" name="Shape 125"/>
          <p:cNvSpPr/>
          <p:nvPr/>
        </p:nvSpPr>
        <p:spPr>
          <a:xfrm>
            <a:off x="5522976" y="4304538"/>
            <a:ext cx="64008" cy="64008"/>
          </a:xfrm>
          <a:prstGeom prst="rect">
            <a:avLst/>
          </a:prstGeom>
          <a:solidFill>
            <a:srgbClr val="C2185B"/>
          </a:solidFill>
          <a:ln/>
        </p:spPr>
      </p:sp>
      <p:sp>
        <p:nvSpPr>
          <p:cNvPr id="128" name="Text 126"/>
          <p:cNvSpPr txBox="1"/>
          <p:nvPr/>
        </p:nvSpPr>
        <p:spPr>
          <a:xfrm>
            <a:off x="5623560" y="4272534"/>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C2185B"/>
                </a:solidFill>
                <a:latin typeface="Trenda IG Display Bold" pitchFamily="34" charset="0"/>
                <a:ea typeface="Trenda IG Display Bold" pitchFamily="34" charset="-122"/>
                <a:cs typeface="Trenda IG Display Bold" pitchFamily="34" charset="-120"/>
              </a:rPr>
              <a:t>Bitemporal by default</a:t>
            </a:r>
            <a:endParaRPr lang="en-US" sz="800" dirty="0"/>
          </a:p>
        </p:txBody>
      </p:sp>
      <p:sp>
        <p:nvSpPr>
          <p:cNvPr id="129" name="Text 127"/>
          <p:cNvSpPr txBox="1"/>
          <p:nvPr/>
        </p:nvSpPr>
        <p:spPr>
          <a:xfrm>
            <a:off x="5522976" y="4442308"/>
            <a:ext cx="1188720" cy="283769"/>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validFrom, validTo</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recordedAt, supersededAt</a:t>
            </a:r>
            <a:endParaRPr lang="en-US" sz="700" dirty="0"/>
          </a:p>
        </p:txBody>
      </p:sp>
      <p:sp>
        <p:nvSpPr>
          <p:cNvPr id="130" name="Shape 128"/>
          <p:cNvSpPr/>
          <p:nvPr/>
        </p:nvSpPr>
        <p:spPr>
          <a:xfrm>
            <a:off x="5449824" y="5230368"/>
            <a:ext cx="1289304" cy="457200"/>
          </a:xfrm>
          <a:prstGeom prst="rect">
            <a:avLst/>
          </a:prstGeom>
          <a:solidFill>
            <a:srgbClr val="C2185B"/>
          </a:solidFill>
          <a:ln/>
        </p:spPr>
      </p:sp>
      <p:sp>
        <p:nvSpPr>
          <p:cNvPr id="131" name="Text 129"/>
          <p:cNvSpPr txBox="1"/>
          <p:nvPr/>
        </p:nvSpPr>
        <p:spPr>
          <a:xfrm>
            <a:off x="5522976" y="5276088"/>
            <a:ext cx="1143000" cy="128016"/>
          </a:xfrm>
          <a:prstGeom prst="rect">
            <a:avLst/>
          </a:prstGeom>
          <a:noFill/>
          <a:ln/>
        </p:spPr>
        <p:txBody>
          <a:bodyPr wrap="square" lIns="0" tIns="0" rIns="0" bIns="0" rtlCol="0" anchor="t"/>
          <a:lstStyle/>
          <a:p>
            <a:pPr indent="0" marL="0">
              <a:buNone/>
            </a:pPr>
            <a:r>
              <a:rPr lang="en-US" sz="650" spc="40" kern="0" dirty="0">
                <a:solidFill>
                  <a:srgbClr val="CFE6EE"/>
                </a:solidFill>
                <a:latin typeface="Trenda IG Text Semibold" pitchFamily="34" charset="0"/>
                <a:ea typeface="Trenda IG Text Semibold" pitchFamily="34" charset="-122"/>
                <a:cs typeface="Trenda IG Text Semibold" pitchFamily="34" charset="-120"/>
              </a:rPr>
              <a:t>WHAT YOU GET</a:t>
            </a:r>
            <a:endParaRPr lang="en-US" sz="650" dirty="0"/>
          </a:p>
        </p:txBody>
      </p:sp>
      <p:sp>
        <p:nvSpPr>
          <p:cNvPr id="132" name="Text 130"/>
          <p:cNvSpPr txBox="1"/>
          <p:nvPr/>
        </p:nvSpPr>
        <p:spPr>
          <a:xfrm>
            <a:off x="5522976" y="5404104"/>
            <a:ext cx="1143000" cy="274320"/>
          </a:xfrm>
          <a:prstGeom prst="rect">
            <a:avLst/>
          </a:prstGeom>
          <a:noFill/>
          <a:ln/>
        </p:spPr>
        <p:txBody>
          <a:bodyPr wrap="square" lIns="0" tIns="0" rIns="0" bIns="0" rtlCol="0" anchor="t"/>
          <a:lstStyle/>
          <a:p>
            <a:pPr indent="0" marL="0">
              <a:lnSpc>
                <a:spcPct val="97000"/>
              </a:lnSpc>
              <a:buNone/>
            </a:pPr>
            <a:r>
              <a:rPr lang="en-US" sz="700" dirty="0">
                <a:solidFill>
                  <a:srgbClr val="FFFFFF"/>
                </a:solidFill>
                <a:latin typeface="Trenda IG Text Semibold" pitchFamily="34" charset="0"/>
                <a:ea typeface="Trenda IG Text Semibold" pitchFamily="34" charset="-122"/>
                <a:cs typeface="Trenda IG Text Semibold" pitchFamily="34" charset="-120"/>
              </a:rPr>
              <a:t>A typed, bitemporal model of the network</a:t>
            </a:r>
            <a:endParaRPr lang="en-US" sz="700" dirty="0"/>
          </a:p>
        </p:txBody>
      </p:sp>
      <p:sp>
        <p:nvSpPr>
          <p:cNvPr id="133" name="Text 131"/>
          <p:cNvSpPr txBox="1"/>
          <p:nvPr/>
        </p:nvSpPr>
        <p:spPr>
          <a:xfrm>
            <a:off x="6737299" y="914400"/>
            <a:ext cx="49378" cy="128016"/>
          </a:xfrm>
          <a:prstGeom prst="rect">
            <a:avLst/>
          </a:prstGeom>
          <a:noFill/>
          <a:ln/>
        </p:spPr>
        <p:txBody>
          <a:bodyPr wrap="square" lIns="0" tIns="0" rIns="0" bIns="0" rtlCol="0" anchor="t"/>
          <a:lstStyle/>
          <a:p>
            <a:pPr algn="ctr" indent="0" marL="0">
              <a:buNone/>
            </a:pPr>
            <a:r>
              <a:rPr lang="en-US" sz="450" dirty="0">
                <a:solidFill>
                  <a:srgbClr val="9AA4B0"/>
                </a:solidFill>
                <a:latin typeface="Trenda IG Text" pitchFamily="34" charset="0"/>
                <a:ea typeface="Trenda IG Text" pitchFamily="34" charset="-122"/>
                <a:cs typeface="Trenda IG Text" pitchFamily="34" charset="-120"/>
              </a:rPr>
              <a:t>▶</a:t>
            </a:r>
            <a:endParaRPr lang="en-US" sz="450" dirty="0"/>
          </a:p>
        </p:txBody>
      </p:sp>
      <p:sp>
        <p:nvSpPr>
          <p:cNvPr id="134" name="Shape 132"/>
          <p:cNvSpPr/>
          <p:nvPr/>
        </p:nvSpPr>
        <p:spPr>
          <a:xfrm>
            <a:off x="6784848" y="713232"/>
            <a:ext cx="1289304" cy="621792"/>
          </a:xfrm>
          <a:prstGeom prst="rect">
            <a:avLst/>
          </a:prstGeom>
          <a:solidFill>
            <a:srgbClr val="C77400"/>
          </a:solidFill>
          <a:ln/>
        </p:spPr>
      </p:sp>
      <p:sp>
        <p:nvSpPr>
          <p:cNvPr id="135" name="Text 133"/>
          <p:cNvSpPr txBox="1"/>
          <p:nvPr/>
        </p:nvSpPr>
        <p:spPr>
          <a:xfrm>
            <a:off x="6830568" y="758952"/>
            <a:ext cx="1197864" cy="137160"/>
          </a:xfrm>
          <a:prstGeom prst="rect">
            <a:avLst/>
          </a:prstGeom>
          <a:noFill/>
          <a:ln/>
        </p:spPr>
        <p:txBody>
          <a:bodyPr wrap="square" lIns="0" tIns="0" rIns="0" bIns="0" rtlCol="0" anchor="t"/>
          <a:lstStyle/>
          <a:p>
            <a:pPr algn="ctr" indent="0" marL="0">
              <a:buNone/>
            </a:pPr>
            <a:r>
              <a:rPr lang="en-US" sz="750" spc="40" kern="0" dirty="0">
                <a:solidFill>
                  <a:srgbClr val="FFFFFF"/>
                </a:solidFill>
                <a:latin typeface="Trenda IG Display Semibold" pitchFamily="34" charset="0"/>
                <a:ea typeface="Trenda IG Display Semibold" pitchFamily="34" charset="-122"/>
                <a:cs typeface="Trenda IG Display Semibold" pitchFamily="34" charset="-120"/>
              </a:rPr>
              <a:t>LAYER 6</a:t>
            </a:r>
            <a:endParaRPr lang="en-US" sz="750" dirty="0"/>
          </a:p>
        </p:txBody>
      </p:sp>
      <p:sp>
        <p:nvSpPr>
          <p:cNvPr id="136" name="Text 134"/>
          <p:cNvSpPr txBox="1"/>
          <p:nvPr/>
        </p:nvSpPr>
        <p:spPr>
          <a:xfrm>
            <a:off x="6821424" y="886968"/>
            <a:ext cx="1216152" cy="329184"/>
          </a:xfrm>
          <a:prstGeom prst="rect">
            <a:avLst/>
          </a:prstGeom>
          <a:noFill/>
          <a:ln/>
        </p:spPr>
        <p:txBody>
          <a:bodyPr wrap="square" lIns="0" tIns="0" rIns="0" bIns="0" rtlCol="0" anchor="t"/>
          <a:lstStyle/>
          <a:p>
            <a:pPr algn="ctr" indent="0" marL="0">
              <a:lnSpc>
                <a:spcPct val="92000"/>
              </a:lnSpc>
              <a:buNone/>
            </a:pPr>
            <a:r>
              <a:rPr lang="en-US" sz="1000" dirty="0">
                <a:solidFill>
                  <a:srgbClr val="FFFFFF"/>
                </a:solidFill>
                <a:latin typeface="Trenda IG Display Bold" pitchFamily="34" charset="0"/>
                <a:ea typeface="Trenda IG Display Bold" pitchFamily="34" charset="-122"/>
                <a:cs typeface="Trenda IG Display Bold" pitchFamily="34" charset="-120"/>
              </a:rPr>
              <a:t>Graph Storage</a:t>
            </a:r>
            <a:endParaRPr lang="en-US" sz="1000" dirty="0"/>
          </a:p>
        </p:txBody>
      </p:sp>
      <p:sp>
        <p:nvSpPr>
          <p:cNvPr id="137" name="Text 135"/>
          <p:cNvSpPr txBox="1"/>
          <p:nvPr/>
        </p:nvSpPr>
        <p:spPr>
          <a:xfrm>
            <a:off x="6830568" y="1188720"/>
            <a:ext cx="1197864" cy="137160"/>
          </a:xfrm>
          <a:prstGeom prst="rect">
            <a:avLst/>
          </a:prstGeom>
          <a:noFill/>
          <a:ln/>
        </p:spPr>
        <p:txBody>
          <a:bodyPr wrap="square" lIns="0" tIns="0" rIns="0" bIns="0" rtlCol="0" anchor="t"/>
          <a:lstStyle/>
          <a:p>
            <a:pPr algn="ctr" indent="0" marL="0">
              <a:buNone/>
            </a:pPr>
            <a:r>
              <a:rPr lang="en-US" sz="650" dirty="0">
                <a:solidFill>
                  <a:srgbClr val="E4EEF2"/>
                </a:solidFill>
                <a:latin typeface="Trenda IG Text Light" pitchFamily="34" charset="0"/>
                <a:ea typeface="Trenda IG Text Light" pitchFamily="34" charset="-122"/>
                <a:cs typeface="Trenda IG Text Light" pitchFamily="34" charset="-120"/>
              </a:rPr>
              <a:t>Bitemporal and immutable</a:t>
            </a:r>
            <a:endParaRPr lang="en-US" sz="650" dirty="0"/>
          </a:p>
        </p:txBody>
      </p:sp>
      <p:sp>
        <p:nvSpPr>
          <p:cNvPr id="138" name="Shape 136"/>
          <p:cNvSpPr/>
          <p:nvPr/>
        </p:nvSpPr>
        <p:spPr>
          <a:xfrm>
            <a:off x="6784848" y="1353312"/>
            <a:ext cx="1289304" cy="4334256"/>
          </a:xfrm>
          <a:prstGeom prst="rect">
            <a:avLst/>
          </a:prstGeom>
          <a:solidFill>
            <a:srgbClr val="FFFFFF"/>
          </a:solidFill>
          <a:ln w="9525">
            <a:solidFill>
              <a:srgbClr val="D5D9DE"/>
            </a:solidFill>
            <a:prstDash val="solid"/>
          </a:ln>
        </p:spPr>
      </p:sp>
      <p:sp>
        <p:nvSpPr>
          <p:cNvPr id="139" name="Text 137"/>
          <p:cNvSpPr txBox="1"/>
          <p:nvPr/>
        </p:nvSpPr>
        <p:spPr>
          <a:xfrm>
            <a:off x="6858000" y="1435608"/>
            <a:ext cx="1143000" cy="124054"/>
          </a:xfrm>
          <a:prstGeom prst="rect">
            <a:avLst/>
          </a:prstGeom>
          <a:noFill/>
          <a:ln/>
        </p:spPr>
        <p:txBody>
          <a:bodyPr wrap="square" lIns="0" tIns="0" rIns="0" bIns="0" rtlCol="0" anchor="t"/>
          <a:lstStyle/>
          <a:p>
            <a:pPr indent="0" marL="0">
              <a:buNone/>
            </a:pPr>
            <a:r>
              <a:rPr lang="en-US" sz="800" dirty="0">
                <a:solidFill>
                  <a:srgbClr val="C77400"/>
                </a:solidFill>
                <a:latin typeface="Trenda IG Display Bold" pitchFamily="34" charset="0"/>
                <a:ea typeface="Trenda IG Display Bold" pitchFamily="34" charset="-122"/>
                <a:cs typeface="Trenda IG Display Bold" pitchFamily="34" charset="-120"/>
              </a:rPr>
              <a:t>network.json (excerpt)</a:t>
            </a:r>
            <a:endParaRPr lang="en-US" sz="800" dirty="0"/>
          </a:p>
        </p:txBody>
      </p:sp>
      <p:sp>
        <p:nvSpPr>
          <p:cNvPr id="140" name="Shape 138"/>
          <p:cNvSpPr/>
          <p:nvPr/>
        </p:nvSpPr>
        <p:spPr>
          <a:xfrm>
            <a:off x="6830568" y="1605382"/>
            <a:ext cx="1197864" cy="1298448"/>
          </a:xfrm>
          <a:prstGeom prst="rect">
            <a:avLst/>
          </a:prstGeom>
          <a:solidFill>
            <a:srgbClr val="F4F6F9"/>
          </a:solidFill>
          <a:ln w="9525">
            <a:solidFill>
              <a:srgbClr val="D5D9DE"/>
            </a:solidFill>
            <a:prstDash val="solid"/>
          </a:ln>
        </p:spPr>
      </p:sp>
      <p:sp>
        <p:nvSpPr>
          <p:cNvPr id="141" name="Text 139"/>
          <p:cNvSpPr txBox="1"/>
          <p:nvPr/>
        </p:nvSpPr>
        <p:spPr>
          <a:xfrm>
            <a:off x="6867144" y="1651102"/>
            <a:ext cx="1124712" cy="1225296"/>
          </a:xfrm>
          <a:prstGeom prst="rect">
            <a:avLst/>
          </a:prstGeom>
          <a:noFill/>
          <a:ln/>
        </p:spPr>
        <p:txBody>
          <a:bodyPr wrap="square" lIns="0" tIns="0" rIns="0" bIns="0" rtlCol="0" anchor="t"/>
          <a:lstStyle/>
          <a:p>
            <a:pPr indent="0" marL="0">
              <a:lnSpc>
                <a:spcPct val="100000"/>
              </a:lnSpc>
              <a:buNone/>
            </a:pPr>
            <a:r>
              <a:rPr lang="en-US" sz="450" dirty="0">
                <a:solidFill>
                  <a:srgbClr val="1A1A1A"/>
                </a:solidFill>
                <a:latin typeface="Courier New" pitchFamily="34" charset="0"/>
                <a:ea typeface="Courier New" pitchFamily="34" charset="-122"/>
                <a:cs typeface="Courier New" pitchFamily="34" charset="-120"/>
              </a:rPr>
              <a:t>{ "snapshot": "sha256:7c41…",</a:t>
            </a:r>
            <a:endParaRPr lang="en-US" sz="450" dirty="0"/>
          </a:p>
          <a:p>
            <a:pPr indent="0" marL="0">
              <a:lnSpc>
                <a:spcPct val="100000"/>
              </a:lnSpc>
              <a:buNone/>
            </a:pPr>
            <a:r>
              <a:rPr lang="en-US" sz="450" dirty="0">
                <a:solidFill>
                  <a:srgbClr val="1A1A1A"/>
                </a:solidFill>
                <a:latin typeface="Courier New" pitchFamily="34" charset="0"/>
                <a:ea typeface="Courier New" pitchFamily="34" charset="-122"/>
                <a:cs typeface="Courier New" pitchFamily="34" charset="-120"/>
              </a:rPr>
              <a:t>  "nodes": [</a:t>
            </a:r>
            <a:endParaRPr lang="en-US" sz="450" dirty="0"/>
          </a:p>
          <a:p>
            <a:pPr indent="0" marL="0">
              <a:lnSpc>
                <a:spcPct val="100000"/>
              </a:lnSpc>
              <a:buNone/>
            </a:pPr>
            <a:r>
              <a:rPr lang="en-US" sz="450" dirty="0">
                <a:solidFill>
                  <a:srgbClr val="1A1A1A"/>
                </a:solidFill>
                <a:latin typeface="Courier New" pitchFamily="34" charset="0"/>
                <a:ea typeface="Courier New" pitchFamily="34" charset="-122"/>
                <a:cs typeface="Courier New" pitchFamily="34" charset="-120"/>
              </a:rPr>
              <a:t>   {"id": "prv:9f2a…",</a:t>
            </a:r>
            <a:endParaRPr lang="en-US" sz="450" dirty="0"/>
          </a:p>
          <a:p>
            <a:pPr indent="0" marL="0">
              <a:lnSpc>
                <a:spcPct val="100000"/>
              </a:lnSpc>
              <a:buNone/>
            </a:pPr>
            <a:r>
              <a:rPr lang="en-US" sz="450" dirty="0">
                <a:solidFill>
                  <a:srgbClr val="1A1A1A"/>
                </a:solidFill>
                <a:latin typeface="Courier New" pitchFamily="34" charset="0"/>
                <a:ea typeface="Courier New" pitchFamily="34" charset="-122"/>
                <a:cs typeface="Courier New" pitchFamily="34" charset="-120"/>
              </a:rPr>
              <a:t>    "type": "PROVIDER",</a:t>
            </a:r>
            <a:endParaRPr lang="en-US" sz="450" dirty="0"/>
          </a:p>
          <a:p>
            <a:pPr indent="0" marL="0">
              <a:lnSpc>
                <a:spcPct val="100000"/>
              </a:lnSpc>
              <a:buNone/>
            </a:pPr>
            <a:r>
              <a:rPr lang="en-US" sz="450" dirty="0">
                <a:solidFill>
                  <a:srgbClr val="1A1A1A"/>
                </a:solidFill>
                <a:latin typeface="Courier New" pitchFamily="34" charset="0"/>
                <a:ea typeface="Courier New" pitchFamily="34" charset="-122"/>
                <a:cs typeface="Courier New" pitchFamily="34" charset="-120"/>
              </a:rPr>
              <a:t>    "spec": "CARDIOLOGY",</a:t>
            </a:r>
            <a:endParaRPr lang="en-US" sz="450" dirty="0"/>
          </a:p>
          <a:p>
            <a:pPr indent="0" marL="0">
              <a:lnSpc>
                <a:spcPct val="100000"/>
              </a:lnSpc>
              <a:buNone/>
            </a:pPr>
            <a:r>
              <a:rPr lang="en-US" sz="450" dirty="0">
                <a:solidFill>
                  <a:srgbClr val="1A1A1A"/>
                </a:solidFill>
                <a:latin typeface="Courier New" pitchFamily="34" charset="0"/>
                <a:ea typeface="Courier New" pitchFamily="34" charset="-122"/>
                <a:cs typeface="Courier New" pitchFamily="34" charset="-120"/>
              </a:rPr>
              <a:t>    "fte": 0.6, "panel": "OPEN"}],</a:t>
            </a:r>
            <a:endParaRPr lang="en-US" sz="450" dirty="0"/>
          </a:p>
          <a:p>
            <a:pPr indent="0" marL="0">
              <a:lnSpc>
                <a:spcPct val="100000"/>
              </a:lnSpc>
              <a:buNone/>
            </a:pPr>
            <a:r>
              <a:rPr lang="en-US" sz="450" dirty="0">
                <a:solidFill>
                  <a:srgbClr val="1A1A1A"/>
                </a:solidFill>
                <a:latin typeface="Courier New" pitchFamily="34" charset="0"/>
                <a:ea typeface="Courier New" pitchFamily="34" charset="-122"/>
                <a:cs typeface="Courier New" pitchFamily="34" charset="-120"/>
              </a:rPr>
              <a:t>  "edges": [</a:t>
            </a:r>
            <a:endParaRPr lang="en-US" sz="450" dirty="0"/>
          </a:p>
          <a:p>
            <a:pPr indent="0" marL="0">
              <a:lnSpc>
                <a:spcPct val="100000"/>
              </a:lnSpc>
              <a:buNone/>
            </a:pPr>
            <a:r>
              <a:rPr lang="en-US" sz="450" dirty="0">
                <a:solidFill>
                  <a:srgbClr val="1A1A1A"/>
                </a:solidFill>
                <a:latin typeface="Courier New" pitchFamily="34" charset="0"/>
                <a:ea typeface="Courier New" pitchFamily="34" charset="-122"/>
                <a:cs typeface="Courier New" pitchFamily="34" charset="-120"/>
              </a:rPr>
              <a:t>   {"id": "cov:41b7…",</a:t>
            </a:r>
            <a:endParaRPr lang="en-US" sz="450" dirty="0"/>
          </a:p>
          <a:p>
            <a:pPr indent="0" marL="0">
              <a:lnSpc>
                <a:spcPct val="100000"/>
              </a:lnSpc>
              <a:buNone/>
            </a:pPr>
            <a:r>
              <a:rPr lang="en-US" sz="450" dirty="0">
                <a:solidFill>
                  <a:srgbClr val="1A1A1A"/>
                </a:solidFill>
                <a:latin typeface="Courier New" pitchFamily="34" charset="0"/>
                <a:ea typeface="Courier New" pitchFamily="34" charset="-122"/>
                <a:cs typeface="Courier New" pitchFamily="34" charset="-120"/>
              </a:rPr>
              <a:t>    "type": "COVERS",</a:t>
            </a:r>
            <a:endParaRPr lang="en-US" sz="450" dirty="0"/>
          </a:p>
          <a:p>
            <a:pPr indent="0" marL="0">
              <a:lnSpc>
                <a:spcPct val="100000"/>
              </a:lnSpc>
              <a:buNone/>
            </a:pPr>
            <a:r>
              <a:rPr lang="en-US" sz="450" dirty="0">
                <a:solidFill>
                  <a:srgbClr val="1A1A1A"/>
                </a:solidFill>
                <a:latin typeface="Courier New" pitchFamily="34" charset="0"/>
                <a:ea typeface="Courier New" pitchFamily="34" charset="-122"/>
                <a:cs typeface="Courier New" pitchFamily="34" charset="-120"/>
              </a:rPr>
              <a:t>    "from": "prv:9f2a…",</a:t>
            </a:r>
            <a:endParaRPr lang="en-US" sz="450" dirty="0"/>
          </a:p>
          <a:p>
            <a:pPr indent="0" marL="0">
              <a:lnSpc>
                <a:spcPct val="100000"/>
              </a:lnSpc>
              <a:buNone/>
            </a:pPr>
            <a:r>
              <a:rPr lang="en-US" sz="450" dirty="0">
                <a:solidFill>
                  <a:srgbClr val="1A1A1A"/>
                </a:solidFill>
                <a:latin typeface="Courier New" pitchFamily="34" charset="0"/>
                <a:ea typeface="Courier New" pitchFamily="34" charset="-122"/>
                <a:cs typeface="Courier New" pitchFamily="34" charset="-120"/>
              </a:rPr>
              <a:t>    "to": "svc:CARD@450214",</a:t>
            </a:r>
            <a:endParaRPr lang="en-US" sz="450" dirty="0"/>
          </a:p>
          <a:p>
            <a:pPr indent="0" marL="0">
              <a:lnSpc>
                <a:spcPct val="100000"/>
              </a:lnSpc>
              <a:buNone/>
            </a:pPr>
            <a:r>
              <a:rPr lang="en-US" sz="450" dirty="0">
                <a:solidFill>
                  <a:srgbClr val="1A1A1A"/>
                </a:solidFill>
                <a:latin typeface="Courier New" pitchFamily="34" charset="0"/>
                <a:ea typeface="Courier New" pitchFamily="34" charset="-122"/>
                <a:cs typeface="Courier New" pitchFamily="34" charset="-120"/>
              </a:rPr>
              <a:t>    "validFrom": "2024-07-01",</a:t>
            </a:r>
            <a:endParaRPr lang="en-US" sz="450" dirty="0"/>
          </a:p>
          <a:p>
            <a:pPr indent="0" marL="0">
              <a:lnSpc>
                <a:spcPct val="100000"/>
              </a:lnSpc>
              <a:buNone/>
            </a:pPr>
            <a:r>
              <a:rPr lang="en-US" sz="450" dirty="0">
                <a:solidFill>
                  <a:srgbClr val="1A1A1A"/>
                </a:solidFill>
                <a:latin typeface="Courier New" pitchFamily="34" charset="0"/>
                <a:ea typeface="Courier New" pitchFamily="34" charset="-122"/>
                <a:cs typeface="Courier New" pitchFamily="34" charset="-120"/>
              </a:rPr>
              <a:t>    "validTo": null,</a:t>
            </a:r>
            <a:endParaRPr lang="en-US" sz="450" dirty="0"/>
          </a:p>
          <a:p>
            <a:pPr indent="0" marL="0">
              <a:lnSpc>
                <a:spcPct val="100000"/>
              </a:lnSpc>
              <a:buNone/>
            </a:pPr>
            <a:r>
              <a:rPr lang="en-US" sz="450" dirty="0">
                <a:solidFill>
                  <a:srgbClr val="1A1A1A"/>
                </a:solidFill>
                <a:latin typeface="Courier New" pitchFamily="34" charset="0"/>
                <a:ea typeface="Courier New" pitchFamily="34" charset="-122"/>
                <a:cs typeface="Courier New" pitchFamily="34" charset="-120"/>
              </a:rPr>
              <a:t>    "recordedAt": "2026-08-02",</a:t>
            </a:r>
            <a:endParaRPr lang="en-US" sz="450" dirty="0"/>
          </a:p>
          <a:p>
            <a:pPr indent="0" marL="0">
              <a:lnSpc>
                <a:spcPct val="100000"/>
              </a:lnSpc>
              <a:buNone/>
            </a:pPr>
            <a:r>
              <a:rPr lang="en-US" sz="450" dirty="0">
                <a:solidFill>
                  <a:srgbClr val="1A1A1A"/>
                </a:solidFill>
                <a:latin typeface="Courier New" pitchFamily="34" charset="0"/>
                <a:ea typeface="Courier New" pitchFamily="34" charset="-122"/>
                <a:cs typeface="Courier New" pitchFamily="34" charset="-120"/>
              </a:rPr>
              <a:t>    "confidence": 0.92,</a:t>
            </a:r>
            <a:endParaRPr lang="en-US" sz="450" dirty="0"/>
          </a:p>
          <a:p>
            <a:pPr indent="0" marL="0">
              <a:lnSpc>
                <a:spcPct val="100000"/>
              </a:lnSpc>
              <a:buNone/>
            </a:pPr>
            <a:r>
              <a:rPr lang="en-US" sz="450" dirty="0">
                <a:solidFill>
                  <a:srgbClr val="1A1A1A"/>
                </a:solidFill>
                <a:latin typeface="Courier New" pitchFamily="34" charset="0"/>
                <a:ea typeface="Courier New" pitchFamily="34" charset="-122"/>
                <a:cs typeface="Courier New" pitchFamily="34" charset="-120"/>
              </a:rPr>
              <a:t>    "evidence": ["caqh:8821#r44"]</a:t>
            </a:r>
            <a:endParaRPr lang="en-US" sz="450" dirty="0"/>
          </a:p>
          <a:p>
            <a:pPr indent="0" marL="0">
              <a:lnSpc>
                <a:spcPct val="100000"/>
              </a:lnSpc>
              <a:buNone/>
            </a:pPr>
            <a:r>
              <a:rPr lang="en-US" sz="450" dirty="0">
                <a:solidFill>
                  <a:srgbClr val="1A1A1A"/>
                </a:solidFill>
                <a:latin typeface="Courier New" pitchFamily="34" charset="0"/>
                <a:ea typeface="Courier New" pitchFamily="34" charset="-122"/>
                <a:cs typeface="Courier New" pitchFamily="34" charset="-120"/>
              </a:rPr>
              <a:t>   }] }</a:t>
            </a:r>
            <a:endParaRPr lang="en-US" sz="450" dirty="0"/>
          </a:p>
        </p:txBody>
      </p:sp>
      <p:sp>
        <p:nvSpPr>
          <p:cNvPr id="142" name="Shape 140"/>
          <p:cNvSpPr/>
          <p:nvPr/>
        </p:nvSpPr>
        <p:spPr>
          <a:xfrm>
            <a:off x="6858000" y="3045562"/>
            <a:ext cx="64008" cy="64008"/>
          </a:xfrm>
          <a:prstGeom prst="rect">
            <a:avLst/>
          </a:prstGeom>
          <a:solidFill>
            <a:srgbClr val="C77400"/>
          </a:solidFill>
          <a:ln/>
        </p:spPr>
      </p:sp>
      <p:sp>
        <p:nvSpPr>
          <p:cNvPr id="143" name="Text 141"/>
          <p:cNvSpPr txBox="1"/>
          <p:nvPr/>
        </p:nvSpPr>
        <p:spPr>
          <a:xfrm>
            <a:off x="6958584" y="3013558"/>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C77400"/>
                </a:solidFill>
                <a:latin typeface="Trenda IG Display Bold" pitchFamily="34" charset="0"/>
                <a:ea typeface="Trenda IG Display Bold" pitchFamily="34" charset="-122"/>
                <a:cs typeface="Trenda IG Display Bold" pitchFamily="34" charset="-120"/>
              </a:rPr>
              <a:t>What the file holds</a:t>
            </a:r>
            <a:endParaRPr lang="en-US" sz="800" dirty="0"/>
          </a:p>
        </p:txBody>
      </p:sp>
      <p:sp>
        <p:nvSpPr>
          <p:cNvPr id="144" name="Text 142"/>
          <p:cNvSpPr txBox="1"/>
          <p:nvPr/>
        </p:nvSpPr>
        <p:spPr>
          <a:xfrm>
            <a:off x="6858000" y="3183331"/>
            <a:ext cx="1188720" cy="635508"/>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Every node and edge typed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Two time axes per edge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Confidence and evidence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Tokens only, no ids</a:t>
            </a:r>
            <a:endParaRPr lang="en-US" sz="700" dirty="0"/>
          </a:p>
        </p:txBody>
      </p:sp>
      <p:sp>
        <p:nvSpPr>
          <p:cNvPr id="145" name="Shape 143"/>
          <p:cNvSpPr/>
          <p:nvPr/>
        </p:nvSpPr>
        <p:spPr>
          <a:xfrm>
            <a:off x="6858000" y="3878275"/>
            <a:ext cx="64008" cy="64008"/>
          </a:xfrm>
          <a:prstGeom prst="rect">
            <a:avLst/>
          </a:prstGeom>
          <a:solidFill>
            <a:srgbClr val="C77400"/>
          </a:solidFill>
          <a:ln/>
        </p:spPr>
      </p:sp>
      <p:sp>
        <p:nvSpPr>
          <p:cNvPr id="146" name="Text 144"/>
          <p:cNvSpPr txBox="1"/>
          <p:nvPr/>
        </p:nvSpPr>
        <p:spPr>
          <a:xfrm>
            <a:off x="6958584" y="3846271"/>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C77400"/>
                </a:solidFill>
                <a:latin typeface="Trenda IG Display Bold" pitchFamily="34" charset="0"/>
                <a:ea typeface="Trenda IG Display Bold" pitchFamily="34" charset="-122"/>
                <a:cs typeface="Trenda IG Display Bold" pitchFamily="34" charset="-120"/>
              </a:rPr>
              <a:t>Storage rules</a:t>
            </a:r>
            <a:endParaRPr lang="en-US" sz="800" dirty="0"/>
          </a:p>
        </p:txBody>
      </p:sp>
      <p:sp>
        <p:nvSpPr>
          <p:cNvPr id="147" name="Text 145"/>
          <p:cNvSpPr txBox="1"/>
          <p:nvPr/>
        </p:nvSpPr>
        <p:spPr>
          <a:xfrm>
            <a:off x="6858000" y="4016045"/>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Content addressed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Rebuilt, never written back</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Encrypted per snapshot</a:t>
            </a:r>
            <a:endParaRPr lang="en-US" sz="700" dirty="0"/>
          </a:p>
        </p:txBody>
      </p:sp>
      <p:sp>
        <p:nvSpPr>
          <p:cNvPr id="148" name="Shape 146"/>
          <p:cNvSpPr/>
          <p:nvPr/>
        </p:nvSpPr>
        <p:spPr>
          <a:xfrm>
            <a:off x="6784848" y="5230368"/>
            <a:ext cx="1289304" cy="457200"/>
          </a:xfrm>
          <a:prstGeom prst="rect">
            <a:avLst/>
          </a:prstGeom>
          <a:solidFill>
            <a:srgbClr val="C77400"/>
          </a:solidFill>
          <a:ln/>
        </p:spPr>
      </p:sp>
      <p:sp>
        <p:nvSpPr>
          <p:cNvPr id="149" name="Text 147"/>
          <p:cNvSpPr txBox="1"/>
          <p:nvPr/>
        </p:nvSpPr>
        <p:spPr>
          <a:xfrm>
            <a:off x="6858000" y="5276088"/>
            <a:ext cx="1143000" cy="128016"/>
          </a:xfrm>
          <a:prstGeom prst="rect">
            <a:avLst/>
          </a:prstGeom>
          <a:noFill/>
          <a:ln/>
        </p:spPr>
        <p:txBody>
          <a:bodyPr wrap="square" lIns="0" tIns="0" rIns="0" bIns="0" rtlCol="0" anchor="t"/>
          <a:lstStyle/>
          <a:p>
            <a:pPr indent="0" marL="0">
              <a:buNone/>
            </a:pPr>
            <a:r>
              <a:rPr lang="en-US" sz="650" spc="40" kern="0" dirty="0">
                <a:solidFill>
                  <a:srgbClr val="CFE6EE"/>
                </a:solidFill>
                <a:latin typeface="Trenda IG Text Semibold" pitchFamily="34" charset="0"/>
                <a:ea typeface="Trenda IG Text Semibold" pitchFamily="34" charset="-122"/>
                <a:cs typeface="Trenda IG Text Semibold" pitchFamily="34" charset="-120"/>
              </a:rPr>
              <a:t>WHAT YOU GET</a:t>
            </a:r>
            <a:endParaRPr lang="en-US" sz="650" dirty="0"/>
          </a:p>
        </p:txBody>
      </p:sp>
      <p:sp>
        <p:nvSpPr>
          <p:cNvPr id="150" name="Text 148"/>
          <p:cNvSpPr txBox="1"/>
          <p:nvPr/>
        </p:nvSpPr>
        <p:spPr>
          <a:xfrm>
            <a:off x="6858000" y="5404104"/>
            <a:ext cx="1143000" cy="274320"/>
          </a:xfrm>
          <a:prstGeom prst="rect">
            <a:avLst/>
          </a:prstGeom>
          <a:noFill/>
          <a:ln/>
        </p:spPr>
        <p:txBody>
          <a:bodyPr wrap="square" lIns="0" tIns="0" rIns="0" bIns="0" rtlCol="0" anchor="t"/>
          <a:lstStyle/>
          <a:p>
            <a:pPr indent="0" marL="0">
              <a:lnSpc>
                <a:spcPct val="97000"/>
              </a:lnSpc>
              <a:buNone/>
            </a:pPr>
            <a:r>
              <a:rPr lang="en-US" sz="700" dirty="0">
                <a:solidFill>
                  <a:srgbClr val="FFFFFF"/>
                </a:solidFill>
                <a:latin typeface="Trenda IG Text Semibold" pitchFamily="34" charset="0"/>
                <a:ea typeface="Trenda IG Text Semibold" pitchFamily="34" charset="-122"/>
                <a:cs typeface="Trenda IG Text Semibold" pitchFamily="34" charset="-120"/>
              </a:rPr>
              <a:t>Any past state of the network, replayed exactly</a:t>
            </a:r>
            <a:endParaRPr lang="en-US" sz="700" dirty="0"/>
          </a:p>
        </p:txBody>
      </p:sp>
      <p:sp>
        <p:nvSpPr>
          <p:cNvPr id="151" name="Text 149"/>
          <p:cNvSpPr txBox="1"/>
          <p:nvPr/>
        </p:nvSpPr>
        <p:spPr>
          <a:xfrm>
            <a:off x="8072323" y="914400"/>
            <a:ext cx="49378" cy="128016"/>
          </a:xfrm>
          <a:prstGeom prst="rect">
            <a:avLst/>
          </a:prstGeom>
          <a:noFill/>
          <a:ln/>
        </p:spPr>
        <p:txBody>
          <a:bodyPr wrap="square" lIns="0" tIns="0" rIns="0" bIns="0" rtlCol="0" anchor="t"/>
          <a:lstStyle/>
          <a:p>
            <a:pPr algn="ctr" indent="0" marL="0">
              <a:buNone/>
            </a:pPr>
            <a:r>
              <a:rPr lang="en-US" sz="450" dirty="0">
                <a:solidFill>
                  <a:srgbClr val="9AA4B0"/>
                </a:solidFill>
                <a:latin typeface="Trenda IG Text" pitchFamily="34" charset="0"/>
                <a:ea typeface="Trenda IG Text" pitchFamily="34" charset="-122"/>
                <a:cs typeface="Trenda IG Text" pitchFamily="34" charset="-120"/>
              </a:rPr>
              <a:t>▶</a:t>
            </a:r>
            <a:endParaRPr lang="en-US" sz="450" dirty="0"/>
          </a:p>
        </p:txBody>
      </p:sp>
      <p:sp>
        <p:nvSpPr>
          <p:cNvPr id="152" name="Shape 150"/>
          <p:cNvSpPr/>
          <p:nvPr/>
        </p:nvSpPr>
        <p:spPr>
          <a:xfrm>
            <a:off x="8119872" y="713232"/>
            <a:ext cx="1289304" cy="621792"/>
          </a:xfrm>
          <a:prstGeom prst="rect">
            <a:avLst/>
          </a:prstGeom>
          <a:solidFill>
            <a:srgbClr val="C62828"/>
          </a:solidFill>
          <a:ln/>
        </p:spPr>
      </p:sp>
      <p:sp>
        <p:nvSpPr>
          <p:cNvPr id="153" name="Text 151"/>
          <p:cNvSpPr txBox="1"/>
          <p:nvPr/>
        </p:nvSpPr>
        <p:spPr>
          <a:xfrm>
            <a:off x="8165592" y="758952"/>
            <a:ext cx="1197864" cy="137160"/>
          </a:xfrm>
          <a:prstGeom prst="rect">
            <a:avLst/>
          </a:prstGeom>
          <a:noFill/>
          <a:ln/>
        </p:spPr>
        <p:txBody>
          <a:bodyPr wrap="square" lIns="0" tIns="0" rIns="0" bIns="0" rtlCol="0" anchor="t"/>
          <a:lstStyle/>
          <a:p>
            <a:pPr algn="ctr" indent="0" marL="0">
              <a:buNone/>
            </a:pPr>
            <a:r>
              <a:rPr lang="en-US" sz="750" spc="40" kern="0" dirty="0">
                <a:solidFill>
                  <a:srgbClr val="FFFFFF"/>
                </a:solidFill>
                <a:latin typeface="Trenda IG Display Semibold" pitchFamily="34" charset="0"/>
                <a:ea typeface="Trenda IG Display Semibold" pitchFamily="34" charset="-122"/>
                <a:cs typeface="Trenda IG Display Semibold" pitchFamily="34" charset="-120"/>
              </a:rPr>
              <a:t>LAYER 7</a:t>
            </a:r>
            <a:endParaRPr lang="en-US" sz="750" dirty="0"/>
          </a:p>
        </p:txBody>
      </p:sp>
      <p:sp>
        <p:nvSpPr>
          <p:cNvPr id="154" name="Text 152"/>
          <p:cNvSpPr txBox="1"/>
          <p:nvPr/>
        </p:nvSpPr>
        <p:spPr>
          <a:xfrm>
            <a:off x="8156448" y="886968"/>
            <a:ext cx="1216152" cy="329184"/>
          </a:xfrm>
          <a:prstGeom prst="rect">
            <a:avLst/>
          </a:prstGeom>
          <a:noFill/>
          <a:ln/>
        </p:spPr>
        <p:txBody>
          <a:bodyPr wrap="square" lIns="0" tIns="0" rIns="0" bIns="0" rtlCol="0" anchor="t"/>
          <a:lstStyle/>
          <a:p>
            <a:pPr algn="ctr" indent="0" marL="0">
              <a:lnSpc>
                <a:spcPct val="92000"/>
              </a:lnSpc>
              <a:buNone/>
            </a:pPr>
            <a:r>
              <a:rPr lang="en-US" sz="1000" dirty="0">
                <a:solidFill>
                  <a:srgbClr val="FFFFFF"/>
                </a:solidFill>
                <a:latin typeface="Trenda IG Display Bold" pitchFamily="34" charset="0"/>
                <a:ea typeface="Trenda IG Display Bold" pitchFamily="34" charset="-122"/>
                <a:cs typeface="Trenda IG Display Bold" pitchFamily="34" charset="-120"/>
              </a:rPr>
              <a:t>Derived Edge Engine</a:t>
            </a:r>
            <a:endParaRPr lang="en-US" sz="1000" dirty="0"/>
          </a:p>
        </p:txBody>
      </p:sp>
      <p:sp>
        <p:nvSpPr>
          <p:cNvPr id="155" name="Text 153"/>
          <p:cNvSpPr txBox="1"/>
          <p:nvPr/>
        </p:nvSpPr>
        <p:spPr>
          <a:xfrm>
            <a:off x="8165592" y="1188720"/>
            <a:ext cx="1197864" cy="137160"/>
          </a:xfrm>
          <a:prstGeom prst="rect">
            <a:avLst/>
          </a:prstGeom>
          <a:noFill/>
          <a:ln/>
        </p:spPr>
        <p:txBody>
          <a:bodyPr wrap="square" lIns="0" tIns="0" rIns="0" bIns="0" rtlCol="0" anchor="t"/>
          <a:lstStyle/>
          <a:p>
            <a:pPr algn="ctr" indent="0" marL="0">
              <a:buNone/>
            </a:pPr>
            <a:r>
              <a:rPr lang="en-US" sz="650" dirty="0">
                <a:solidFill>
                  <a:srgbClr val="E4EEF2"/>
                </a:solidFill>
                <a:latin typeface="Trenda IG Text Light" pitchFamily="34" charset="0"/>
                <a:ea typeface="Trenda IG Text Light" pitchFamily="34" charset="-122"/>
                <a:cs typeface="Trenda IG Text Light" pitchFamily="34" charset="-120"/>
              </a:rPr>
              <a:t>A gap becomes a number</a:t>
            </a:r>
            <a:endParaRPr lang="en-US" sz="650" dirty="0"/>
          </a:p>
        </p:txBody>
      </p:sp>
      <p:sp>
        <p:nvSpPr>
          <p:cNvPr id="156" name="Shape 154"/>
          <p:cNvSpPr/>
          <p:nvPr/>
        </p:nvSpPr>
        <p:spPr>
          <a:xfrm>
            <a:off x="8119872" y="1353312"/>
            <a:ext cx="1289304" cy="4334256"/>
          </a:xfrm>
          <a:prstGeom prst="rect">
            <a:avLst/>
          </a:prstGeom>
          <a:solidFill>
            <a:srgbClr val="FFFFFF"/>
          </a:solidFill>
          <a:ln w="9525">
            <a:solidFill>
              <a:srgbClr val="D5D9DE"/>
            </a:solidFill>
            <a:prstDash val="solid"/>
          </a:ln>
        </p:spPr>
      </p:sp>
      <p:sp>
        <p:nvSpPr>
          <p:cNvPr id="157" name="Shape 155"/>
          <p:cNvSpPr/>
          <p:nvPr/>
        </p:nvSpPr>
        <p:spPr>
          <a:xfrm>
            <a:off x="8193024" y="1467612"/>
            <a:ext cx="64008" cy="64008"/>
          </a:xfrm>
          <a:prstGeom prst="rect">
            <a:avLst/>
          </a:prstGeom>
          <a:solidFill>
            <a:srgbClr val="C62828"/>
          </a:solidFill>
          <a:ln/>
        </p:spPr>
      </p:sp>
      <p:sp>
        <p:nvSpPr>
          <p:cNvPr id="158" name="Text 156"/>
          <p:cNvSpPr txBox="1"/>
          <p:nvPr/>
        </p:nvSpPr>
        <p:spPr>
          <a:xfrm>
            <a:off x="8293608" y="1435608"/>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C62828"/>
                </a:solidFill>
                <a:latin typeface="Trenda IG Display Bold" pitchFamily="34" charset="0"/>
                <a:ea typeface="Trenda IG Display Bold" pitchFamily="34" charset="-122"/>
                <a:cs typeface="Trenda IG Display Bold" pitchFamily="34" charset="-120"/>
              </a:rPr>
              <a:t>Derived edges</a:t>
            </a:r>
            <a:endParaRPr lang="en-US" sz="800" dirty="0"/>
          </a:p>
        </p:txBody>
      </p:sp>
      <p:sp>
        <p:nvSpPr>
          <p:cNvPr id="159" name="Text 157"/>
          <p:cNvSpPr txBox="1"/>
          <p:nvPr/>
        </p:nvSpPr>
        <p:spPr>
          <a:xfrm>
            <a:off x="8193024" y="1605382"/>
            <a:ext cx="1188720" cy="53096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SERVES geo to site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REQUIRES line to specialty</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COVERS provider to line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SUBSTITUTE_FOR pairs</a:t>
            </a:r>
            <a:endParaRPr lang="en-US" sz="700" dirty="0"/>
          </a:p>
        </p:txBody>
      </p:sp>
      <p:sp>
        <p:nvSpPr>
          <p:cNvPr id="160" name="Shape 158"/>
          <p:cNvSpPr/>
          <p:nvPr/>
        </p:nvSpPr>
        <p:spPr>
          <a:xfrm>
            <a:off x="8193024" y="2195779"/>
            <a:ext cx="64008" cy="64008"/>
          </a:xfrm>
          <a:prstGeom prst="rect">
            <a:avLst/>
          </a:prstGeom>
          <a:solidFill>
            <a:srgbClr val="C62828"/>
          </a:solidFill>
          <a:ln/>
        </p:spPr>
      </p:sp>
      <p:sp>
        <p:nvSpPr>
          <p:cNvPr id="161" name="Text 159"/>
          <p:cNvSpPr txBox="1"/>
          <p:nvPr/>
        </p:nvSpPr>
        <p:spPr>
          <a:xfrm>
            <a:off x="8293608" y="2163775"/>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C62828"/>
                </a:solidFill>
                <a:latin typeface="Trenda IG Display Bold" pitchFamily="34" charset="0"/>
                <a:ea typeface="Trenda IG Display Bold" pitchFamily="34" charset="-122"/>
                <a:cs typeface="Trenda IG Display Bold" pitchFamily="34" charset="-120"/>
              </a:rPr>
              <a:t>Constraint evaluation</a:t>
            </a:r>
            <a:endParaRPr lang="en-US" sz="800" dirty="0"/>
          </a:p>
        </p:txBody>
      </p:sp>
      <p:sp>
        <p:nvSpPr>
          <p:cNvPr id="162" name="Text 160"/>
          <p:cNvSpPr txBox="1"/>
          <p:nvPr/>
        </p:nvSpPr>
        <p:spPr>
          <a:xfrm>
            <a:off x="8193024" y="2333549"/>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Spec run against graph</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Unsatisfied means a gap</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New line is a spec row</a:t>
            </a:r>
            <a:endParaRPr lang="en-US" sz="700" dirty="0"/>
          </a:p>
        </p:txBody>
      </p:sp>
      <p:sp>
        <p:nvSpPr>
          <p:cNvPr id="163" name="Shape 161"/>
          <p:cNvSpPr/>
          <p:nvPr/>
        </p:nvSpPr>
        <p:spPr>
          <a:xfrm>
            <a:off x="8193024" y="2800350"/>
            <a:ext cx="64008" cy="64008"/>
          </a:xfrm>
          <a:prstGeom prst="rect">
            <a:avLst/>
          </a:prstGeom>
          <a:solidFill>
            <a:srgbClr val="C62828"/>
          </a:solidFill>
          <a:ln/>
        </p:spPr>
      </p:sp>
      <p:sp>
        <p:nvSpPr>
          <p:cNvPr id="164" name="Text 162"/>
          <p:cNvSpPr txBox="1"/>
          <p:nvPr/>
        </p:nvSpPr>
        <p:spPr>
          <a:xfrm>
            <a:off x="8293608" y="2768346"/>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C62828"/>
                </a:solidFill>
                <a:latin typeface="Trenda IG Display Bold" pitchFamily="34" charset="0"/>
                <a:ea typeface="Trenda IG Display Bold" pitchFamily="34" charset="-122"/>
                <a:cs typeface="Trenda IG Display Bold" pitchFamily="34" charset="-120"/>
              </a:rPr>
              <a:t>Indices</a:t>
            </a:r>
            <a:endParaRPr lang="en-US" sz="800" dirty="0"/>
          </a:p>
        </p:txBody>
      </p:sp>
      <p:sp>
        <p:nvSpPr>
          <p:cNvPr id="165" name="Text 163"/>
          <p:cNvSpPr txBox="1"/>
          <p:nvPr/>
        </p:nvSpPr>
        <p:spPr>
          <a:xfrm>
            <a:off x="8193024" y="2938120"/>
            <a:ext cx="1188720" cy="53096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inflow, capacity, coverage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leakage, adequacy, depth</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no-show and slot recovery</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outcome O over E, shrunk</a:t>
            </a:r>
            <a:endParaRPr lang="en-US" sz="700" dirty="0"/>
          </a:p>
        </p:txBody>
      </p:sp>
      <p:sp>
        <p:nvSpPr>
          <p:cNvPr id="166" name="Shape 164"/>
          <p:cNvSpPr/>
          <p:nvPr/>
        </p:nvSpPr>
        <p:spPr>
          <a:xfrm>
            <a:off x="8193024" y="3528517"/>
            <a:ext cx="64008" cy="64008"/>
          </a:xfrm>
          <a:prstGeom prst="rect">
            <a:avLst/>
          </a:prstGeom>
          <a:solidFill>
            <a:srgbClr val="C62828"/>
          </a:solidFill>
          <a:ln/>
        </p:spPr>
      </p:sp>
      <p:sp>
        <p:nvSpPr>
          <p:cNvPr id="167" name="Text 165"/>
          <p:cNvSpPr txBox="1"/>
          <p:nvPr/>
        </p:nvSpPr>
        <p:spPr>
          <a:xfrm>
            <a:off x="8293608" y="3496513"/>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C62828"/>
                </a:solidFill>
                <a:latin typeface="Trenda IG Display Bold" pitchFamily="34" charset="0"/>
                <a:ea typeface="Trenda IG Display Bold" pitchFamily="34" charset="-122"/>
                <a:cs typeface="Trenda IG Display Bold" pitchFamily="34" charset="-120"/>
              </a:rPr>
              <a:t>Guardrails</a:t>
            </a:r>
            <a:endParaRPr lang="en-US" sz="800" dirty="0"/>
          </a:p>
        </p:txBody>
      </p:sp>
      <p:sp>
        <p:nvSpPr>
          <p:cNvPr id="168" name="Text 166"/>
          <p:cNvSpPr txBox="1"/>
          <p:nvPr/>
        </p:nvSpPr>
        <p:spPr>
          <a:xfrm>
            <a:off x="8193024" y="3666287"/>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Minimum volume to rank</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Peer group by case mix</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Interval with every value</a:t>
            </a:r>
            <a:endParaRPr lang="en-US" sz="700" dirty="0"/>
          </a:p>
        </p:txBody>
      </p:sp>
      <p:sp>
        <p:nvSpPr>
          <p:cNvPr id="169" name="Shape 167"/>
          <p:cNvSpPr/>
          <p:nvPr/>
        </p:nvSpPr>
        <p:spPr>
          <a:xfrm>
            <a:off x="8119872" y="5230368"/>
            <a:ext cx="1289304" cy="457200"/>
          </a:xfrm>
          <a:prstGeom prst="rect">
            <a:avLst/>
          </a:prstGeom>
          <a:solidFill>
            <a:srgbClr val="C62828"/>
          </a:solidFill>
          <a:ln/>
        </p:spPr>
      </p:sp>
      <p:sp>
        <p:nvSpPr>
          <p:cNvPr id="170" name="Text 168"/>
          <p:cNvSpPr txBox="1"/>
          <p:nvPr/>
        </p:nvSpPr>
        <p:spPr>
          <a:xfrm>
            <a:off x="8193024" y="5276088"/>
            <a:ext cx="1143000" cy="128016"/>
          </a:xfrm>
          <a:prstGeom prst="rect">
            <a:avLst/>
          </a:prstGeom>
          <a:noFill/>
          <a:ln/>
        </p:spPr>
        <p:txBody>
          <a:bodyPr wrap="square" lIns="0" tIns="0" rIns="0" bIns="0" rtlCol="0" anchor="t"/>
          <a:lstStyle/>
          <a:p>
            <a:pPr indent="0" marL="0">
              <a:buNone/>
            </a:pPr>
            <a:r>
              <a:rPr lang="en-US" sz="650" spc="40" kern="0" dirty="0">
                <a:solidFill>
                  <a:srgbClr val="CFE6EE"/>
                </a:solidFill>
                <a:latin typeface="Trenda IG Text Semibold" pitchFamily="34" charset="0"/>
                <a:ea typeface="Trenda IG Text Semibold" pitchFamily="34" charset="-122"/>
                <a:cs typeface="Trenda IG Text Semibold" pitchFamily="34" charset="-120"/>
              </a:rPr>
              <a:t>WHAT YOU GET</a:t>
            </a:r>
            <a:endParaRPr lang="en-US" sz="650" dirty="0"/>
          </a:p>
        </p:txBody>
      </p:sp>
      <p:sp>
        <p:nvSpPr>
          <p:cNvPr id="171" name="Text 169"/>
          <p:cNvSpPr txBox="1"/>
          <p:nvPr/>
        </p:nvSpPr>
        <p:spPr>
          <a:xfrm>
            <a:off x="8193024" y="5404104"/>
            <a:ext cx="1143000" cy="274320"/>
          </a:xfrm>
          <a:prstGeom prst="rect">
            <a:avLst/>
          </a:prstGeom>
          <a:noFill/>
          <a:ln/>
        </p:spPr>
        <p:txBody>
          <a:bodyPr wrap="square" lIns="0" tIns="0" rIns="0" bIns="0" rtlCol="0" anchor="t"/>
          <a:lstStyle/>
          <a:p>
            <a:pPr indent="0" marL="0">
              <a:lnSpc>
                <a:spcPct val="97000"/>
              </a:lnSpc>
              <a:buNone/>
            </a:pPr>
            <a:r>
              <a:rPr lang="en-US" sz="700" dirty="0">
                <a:solidFill>
                  <a:srgbClr val="FFFFFF"/>
                </a:solidFill>
                <a:latin typeface="Trenda IG Text Semibold" pitchFamily="34" charset="0"/>
                <a:ea typeface="Trenda IG Text Semibold" pitchFamily="34" charset="-122"/>
                <a:cs typeface="Trenda IG Text Semibold" pitchFamily="34" charset="-120"/>
              </a:rPr>
              <a:t>The missing edge becomes a defensible number</a:t>
            </a:r>
            <a:endParaRPr lang="en-US" sz="700" dirty="0"/>
          </a:p>
        </p:txBody>
      </p:sp>
      <p:sp>
        <p:nvSpPr>
          <p:cNvPr id="172" name="Text 170"/>
          <p:cNvSpPr txBox="1"/>
          <p:nvPr/>
        </p:nvSpPr>
        <p:spPr>
          <a:xfrm>
            <a:off x="9407347" y="914400"/>
            <a:ext cx="49378" cy="128016"/>
          </a:xfrm>
          <a:prstGeom prst="rect">
            <a:avLst/>
          </a:prstGeom>
          <a:noFill/>
          <a:ln/>
        </p:spPr>
        <p:txBody>
          <a:bodyPr wrap="square" lIns="0" tIns="0" rIns="0" bIns="0" rtlCol="0" anchor="t"/>
          <a:lstStyle/>
          <a:p>
            <a:pPr algn="ctr" indent="0" marL="0">
              <a:buNone/>
            </a:pPr>
            <a:r>
              <a:rPr lang="en-US" sz="450" dirty="0">
                <a:solidFill>
                  <a:srgbClr val="9AA4B0"/>
                </a:solidFill>
                <a:latin typeface="Trenda IG Text" pitchFamily="34" charset="0"/>
                <a:ea typeface="Trenda IG Text" pitchFamily="34" charset="-122"/>
                <a:cs typeface="Trenda IG Text" pitchFamily="34" charset="-120"/>
              </a:rPr>
              <a:t>▶</a:t>
            </a:r>
            <a:endParaRPr lang="en-US" sz="450" dirty="0"/>
          </a:p>
        </p:txBody>
      </p:sp>
      <p:sp>
        <p:nvSpPr>
          <p:cNvPr id="173" name="Shape 171"/>
          <p:cNvSpPr/>
          <p:nvPr/>
        </p:nvSpPr>
        <p:spPr>
          <a:xfrm>
            <a:off x="9454896" y="713232"/>
            <a:ext cx="1289304" cy="621792"/>
          </a:xfrm>
          <a:prstGeom prst="rect">
            <a:avLst/>
          </a:prstGeom>
          <a:solidFill>
            <a:srgbClr val="2E7D32"/>
          </a:solidFill>
          <a:ln/>
        </p:spPr>
      </p:sp>
      <p:sp>
        <p:nvSpPr>
          <p:cNvPr id="174" name="Text 172"/>
          <p:cNvSpPr txBox="1"/>
          <p:nvPr/>
        </p:nvSpPr>
        <p:spPr>
          <a:xfrm>
            <a:off x="9500616" y="758952"/>
            <a:ext cx="1197864" cy="137160"/>
          </a:xfrm>
          <a:prstGeom prst="rect">
            <a:avLst/>
          </a:prstGeom>
          <a:noFill/>
          <a:ln/>
        </p:spPr>
        <p:txBody>
          <a:bodyPr wrap="square" lIns="0" tIns="0" rIns="0" bIns="0" rtlCol="0" anchor="t"/>
          <a:lstStyle/>
          <a:p>
            <a:pPr algn="ctr" indent="0" marL="0">
              <a:buNone/>
            </a:pPr>
            <a:r>
              <a:rPr lang="en-US" sz="750" spc="40" kern="0" dirty="0">
                <a:solidFill>
                  <a:srgbClr val="FFFFFF"/>
                </a:solidFill>
                <a:latin typeface="Trenda IG Display Semibold" pitchFamily="34" charset="0"/>
                <a:ea typeface="Trenda IG Display Semibold" pitchFamily="34" charset="-122"/>
                <a:cs typeface="Trenda IG Display Semibold" pitchFamily="34" charset="-120"/>
              </a:rPr>
              <a:t>LAYER 8</a:t>
            </a:r>
            <a:endParaRPr lang="en-US" sz="750" dirty="0"/>
          </a:p>
        </p:txBody>
      </p:sp>
      <p:sp>
        <p:nvSpPr>
          <p:cNvPr id="175" name="Text 173"/>
          <p:cNvSpPr txBox="1"/>
          <p:nvPr/>
        </p:nvSpPr>
        <p:spPr>
          <a:xfrm>
            <a:off x="9491472" y="886968"/>
            <a:ext cx="1216152" cy="329184"/>
          </a:xfrm>
          <a:prstGeom prst="rect">
            <a:avLst/>
          </a:prstGeom>
          <a:noFill/>
          <a:ln/>
        </p:spPr>
        <p:txBody>
          <a:bodyPr wrap="square" lIns="0" tIns="0" rIns="0" bIns="0" rtlCol="0" anchor="t"/>
          <a:lstStyle/>
          <a:p>
            <a:pPr algn="ctr" indent="0" marL="0">
              <a:lnSpc>
                <a:spcPct val="92000"/>
              </a:lnSpc>
              <a:buNone/>
            </a:pPr>
            <a:r>
              <a:rPr lang="en-US" sz="1000" dirty="0">
                <a:solidFill>
                  <a:srgbClr val="FFFFFF"/>
                </a:solidFill>
                <a:latin typeface="Trenda IG Display Bold" pitchFamily="34" charset="0"/>
                <a:ea typeface="Trenda IG Display Bold" pitchFamily="34" charset="-122"/>
                <a:cs typeface="Trenda IG Display Bold" pitchFamily="34" charset="-120"/>
              </a:rPr>
              <a:t>Network ContextGraph</a:t>
            </a:r>
            <a:endParaRPr lang="en-US" sz="1000" dirty="0"/>
          </a:p>
        </p:txBody>
      </p:sp>
      <p:sp>
        <p:nvSpPr>
          <p:cNvPr id="176" name="Text 174"/>
          <p:cNvSpPr txBox="1"/>
          <p:nvPr/>
        </p:nvSpPr>
        <p:spPr>
          <a:xfrm>
            <a:off x="9500616" y="1188720"/>
            <a:ext cx="1197864" cy="137160"/>
          </a:xfrm>
          <a:prstGeom prst="rect">
            <a:avLst/>
          </a:prstGeom>
          <a:noFill/>
          <a:ln/>
        </p:spPr>
        <p:txBody>
          <a:bodyPr wrap="square" lIns="0" tIns="0" rIns="0" bIns="0" rtlCol="0" anchor="t"/>
          <a:lstStyle/>
          <a:p>
            <a:pPr algn="ctr" indent="0" marL="0">
              <a:buNone/>
            </a:pPr>
            <a:r>
              <a:rPr lang="en-US" sz="650" dirty="0">
                <a:solidFill>
                  <a:srgbClr val="E4EEF2"/>
                </a:solidFill>
                <a:latin typeface="Trenda IG Text Light" pitchFamily="34" charset="0"/>
                <a:ea typeface="Trenda IG Text Light" pitchFamily="34" charset="-122"/>
                <a:cs typeface="Trenda IG Text Light" pitchFamily="34" charset="-120"/>
              </a:rPr>
              <a:t>Traversals and what-if</a:t>
            </a:r>
            <a:endParaRPr lang="en-US" sz="650" dirty="0"/>
          </a:p>
        </p:txBody>
      </p:sp>
      <p:sp>
        <p:nvSpPr>
          <p:cNvPr id="177" name="Shape 175"/>
          <p:cNvSpPr/>
          <p:nvPr/>
        </p:nvSpPr>
        <p:spPr>
          <a:xfrm>
            <a:off x="9454896" y="1353312"/>
            <a:ext cx="1289304" cy="4334256"/>
          </a:xfrm>
          <a:prstGeom prst="rect">
            <a:avLst/>
          </a:prstGeom>
          <a:solidFill>
            <a:srgbClr val="FFFFFF"/>
          </a:solidFill>
          <a:ln w="9525">
            <a:solidFill>
              <a:srgbClr val="D5D9DE"/>
            </a:solidFill>
            <a:prstDash val="solid"/>
          </a:ln>
        </p:spPr>
      </p:sp>
      <p:sp>
        <p:nvSpPr>
          <p:cNvPr id="178" name="Shape 176"/>
          <p:cNvSpPr/>
          <p:nvPr/>
        </p:nvSpPr>
        <p:spPr>
          <a:xfrm>
            <a:off x="9528048" y="1467612"/>
            <a:ext cx="64008" cy="64008"/>
          </a:xfrm>
          <a:prstGeom prst="rect">
            <a:avLst/>
          </a:prstGeom>
          <a:solidFill>
            <a:srgbClr val="2E7D32"/>
          </a:solidFill>
          <a:ln/>
        </p:spPr>
      </p:sp>
      <p:sp>
        <p:nvSpPr>
          <p:cNvPr id="179" name="Text 177"/>
          <p:cNvSpPr txBox="1"/>
          <p:nvPr/>
        </p:nvSpPr>
        <p:spPr>
          <a:xfrm>
            <a:off x="9628632" y="1435608"/>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2E7D32"/>
                </a:solidFill>
                <a:latin typeface="Trenda IG Display Bold" pitchFamily="34" charset="0"/>
                <a:ea typeface="Trenda IG Display Bold" pitchFamily="34" charset="-122"/>
                <a:cs typeface="Trenda IG Display Bold" pitchFamily="34" charset="-120"/>
              </a:rPr>
              <a:t>Graph runtime</a:t>
            </a:r>
            <a:endParaRPr lang="en-US" sz="800" dirty="0"/>
          </a:p>
        </p:txBody>
      </p:sp>
      <p:sp>
        <p:nvSpPr>
          <p:cNvPr id="180" name="Text 178"/>
          <p:cNvSpPr txBox="1"/>
          <p:nvPr/>
        </p:nvSpPr>
        <p:spPr>
          <a:xfrm>
            <a:off x="9528048" y="1605382"/>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Typed nodes and edges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Weights: time, volume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As-of views on any date</a:t>
            </a:r>
            <a:endParaRPr lang="en-US" sz="700" dirty="0"/>
          </a:p>
        </p:txBody>
      </p:sp>
      <p:sp>
        <p:nvSpPr>
          <p:cNvPr id="181" name="Shape 179"/>
          <p:cNvSpPr/>
          <p:nvPr/>
        </p:nvSpPr>
        <p:spPr>
          <a:xfrm>
            <a:off x="9528048" y="2072183"/>
            <a:ext cx="64008" cy="64008"/>
          </a:xfrm>
          <a:prstGeom prst="rect">
            <a:avLst/>
          </a:prstGeom>
          <a:solidFill>
            <a:srgbClr val="2E7D32"/>
          </a:solidFill>
          <a:ln/>
        </p:spPr>
      </p:sp>
      <p:sp>
        <p:nvSpPr>
          <p:cNvPr id="182" name="Text 180"/>
          <p:cNvSpPr txBox="1"/>
          <p:nvPr/>
        </p:nvSpPr>
        <p:spPr>
          <a:xfrm>
            <a:off x="9628632" y="2040179"/>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2E7D32"/>
                </a:solidFill>
                <a:latin typeface="Trenda IG Display Bold" pitchFamily="34" charset="0"/>
                <a:ea typeface="Trenda IG Display Bold" pitchFamily="34" charset="-122"/>
                <a:cs typeface="Trenda IG Display Bold" pitchFamily="34" charset="-120"/>
              </a:rPr>
              <a:t>Traversals</a:t>
            </a:r>
            <a:endParaRPr lang="en-US" sz="800" dirty="0"/>
          </a:p>
        </p:txBody>
      </p:sp>
      <p:sp>
        <p:nvSpPr>
          <p:cNvPr id="183" name="Text 181"/>
          <p:cNvSpPr txBox="1"/>
          <p:nvPr/>
        </p:nvSpPr>
        <p:spPr>
          <a:xfrm>
            <a:off x="9528048" y="2209952"/>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coverage_path(geo, svc)</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missing_edge(dmd, sup)</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blast_radius(prv)</a:t>
            </a:r>
            <a:endParaRPr lang="en-US" sz="700" dirty="0"/>
          </a:p>
        </p:txBody>
      </p:sp>
      <p:sp>
        <p:nvSpPr>
          <p:cNvPr id="184" name="Shape 182"/>
          <p:cNvSpPr/>
          <p:nvPr/>
        </p:nvSpPr>
        <p:spPr>
          <a:xfrm>
            <a:off x="9528048" y="2676754"/>
            <a:ext cx="64008" cy="64008"/>
          </a:xfrm>
          <a:prstGeom prst="rect">
            <a:avLst/>
          </a:prstGeom>
          <a:solidFill>
            <a:srgbClr val="2E7D32"/>
          </a:solidFill>
          <a:ln/>
        </p:spPr>
      </p:sp>
      <p:sp>
        <p:nvSpPr>
          <p:cNvPr id="185" name="Text 183"/>
          <p:cNvSpPr txBox="1"/>
          <p:nvPr/>
        </p:nvSpPr>
        <p:spPr>
          <a:xfrm>
            <a:off x="9628632" y="2644750"/>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2E7D32"/>
                </a:solidFill>
                <a:latin typeface="Trenda IG Display Bold" pitchFamily="34" charset="0"/>
                <a:ea typeface="Trenda IG Display Bold" pitchFamily="34" charset="-122"/>
                <a:cs typeface="Trenda IG Display Bold" pitchFamily="34" charset="-120"/>
              </a:rPr>
              <a:t>Vector plane</a:t>
            </a:r>
            <a:endParaRPr lang="en-US" sz="800" dirty="0"/>
          </a:p>
        </p:txBody>
      </p:sp>
      <p:sp>
        <p:nvSpPr>
          <p:cNvPr id="186" name="Text 184"/>
          <p:cNvSpPr txBox="1"/>
          <p:nvPr/>
        </p:nvSpPr>
        <p:spPr>
          <a:xfrm>
            <a:off x="9528048" y="2814523"/>
            <a:ext cx="1188720" cy="51191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Embeddings per type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Substitutability search</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Anchor symbolic, rank vector</a:t>
            </a:r>
            <a:endParaRPr lang="en-US" sz="700" dirty="0"/>
          </a:p>
        </p:txBody>
      </p:sp>
      <p:sp>
        <p:nvSpPr>
          <p:cNvPr id="187" name="Shape 185"/>
          <p:cNvSpPr/>
          <p:nvPr/>
        </p:nvSpPr>
        <p:spPr>
          <a:xfrm>
            <a:off x="9528048" y="3385871"/>
            <a:ext cx="64008" cy="64008"/>
          </a:xfrm>
          <a:prstGeom prst="rect">
            <a:avLst/>
          </a:prstGeom>
          <a:solidFill>
            <a:srgbClr val="2E7D32"/>
          </a:solidFill>
          <a:ln/>
        </p:spPr>
      </p:sp>
      <p:sp>
        <p:nvSpPr>
          <p:cNvPr id="188" name="Text 186"/>
          <p:cNvSpPr txBox="1"/>
          <p:nvPr/>
        </p:nvSpPr>
        <p:spPr>
          <a:xfrm>
            <a:off x="9628632" y="3353867"/>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2E7D32"/>
                </a:solidFill>
                <a:latin typeface="Trenda IG Display Bold" pitchFamily="34" charset="0"/>
                <a:ea typeface="Trenda IG Display Bold" pitchFamily="34" charset="-122"/>
                <a:cs typeface="Trenda IG Display Bold" pitchFamily="34" charset="-120"/>
              </a:rPr>
              <a:t>Shadow graph</a:t>
            </a:r>
            <a:endParaRPr lang="en-US" sz="800" dirty="0"/>
          </a:p>
        </p:txBody>
      </p:sp>
      <p:sp>
        <p:nvSpPr>
          <p:cNvPr id="189" name="Text 187"/>
          <p:cNvSpPr txBox="1"/>
          <p:nvPr/>
        </p:nvSpPr>
        <p:spPr>
          <a:xfrm>
            <a:off x="9528048" y="3523640"/>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Copy on write namespace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Insert hypothetical nodes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Diff against base</a:t>
            </a:r>
            <a:endParaRPr lang="en-US" sz="700" dirty="0"/>
          </a:p>
        </p:txBody>
      </p:sp>
      <p:sp>
        <p:nvSpPr>
          <p:cNvPr id="190" name="Shape 188"/>
          <p:cNvSpPr/>
          <p:nvPr/>
        </p:nvSpPr>
        <p:spPr>
          <a:xfrm>
            <a:off x="9528048" y="3990442"/>
            <a:ext cx="64008" cy="64008"/>
          </a:xfrm>
          <a:prstGeom prst="rect">
            <a:avLst/>
          </a:prstGeom>
          <a:solidFill>
            <a:srgbClr val="2E7D32"/>
          </a:solidFill>
          <a:ln/>
        </p:spPr>
      </p:sp>
      <p:sp>
        <p:nvSpPr>
          <p:cNvPr id="191" name="Text 189"/>
          <p:cNvSpPr txBox="1"/>
          <p:nvPr/>
        </p:nvSpPr>
        <p:spPr>
          <a:xfrm>
            <a:off x="9628632" y="3958438"/>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2E7D32"/>
                </a:solidFill>
                <a:latin typeface="Trenda IG Display Bold" pitchFamily="34" charset="0"/>
                <a:ea typeface="Trenda IG Display Bold" pitchFamily="34" charset="-122"/>
                <a:cs typeface="Trenda IG Display Bold" pitchFamily="34" charset="-120"/>
              </a:rPr>
              <a:t>Prediction plane</a:t>
            </a:r>
            <a:endParaRPr lang="en-US" sz="800" dirty="0"/>
          </a:p>
        </p:txBody>
      </p:sp>
      <p:sp>
        <p:nvSpPr>
          <p:cNvPr id="192" name="Text 190"/>
          <p:cNvSpPr txBox="1"/>
          <p:nvPr/>
        </p:nvSpPr>
        <p:spPr>
          <a:xfrm>
            <a:off x="9528048" y="4128211"/>
            <a:ext cx="1188720" cy="51191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Model registry per target</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Calibrated score plus reasons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Written back as a signal</a:t>
            </a:r>
            <a:endParaRPr lang="en-US" sz="700" dirty="0"/>
          </a:p>
        </p:txBody>
      </p:sp>
      <p:sp>
        <p:nvSpPr>
          <p:cNvPr id="193" name="Shape 191"/>
          <p:cNvSpPr/>
          <p:nvPr/>
        </p:nvSpPr>
        <p:spPr>
          <a:xfrm>
            <a:off x="9528048" y="4699559"/>
            <a:ext cx="64008" cy="64008"/>
          </a:xfrm>
          <a:prstGeom prst="rect">
            <a:avLst/>
          </a:prstGeom>
          <a:solidFill>
            <a:srgbClr val="2E7D32"/>
          </a:solidFill>
          <a:ln/>
        </p:spPr>
      </p:sp>
      <p:sp>
        <p:nvSpPr>
          <p:cNvPr id="194" name="Text 192"/>
          <p:cNvSpPr txBox="1"/>
          <p:nvPr/>
        </p:nvSpPr>
        <p:spPr>
          <a:xfrm>
            <a:off x="9628632" y="4667555"/>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2E7D32"/>
                </a:solidFill>
                <a:latin typeface="Trenda IG Display Bold" pitchFamily="34" charset="0"/>
                <a:ea typeface="Trenda IG Display Bold" pitchFamily="34" charset="-122"/>
                <a:cs typeface="Trenda IG Display Bold" pitchFamily="34" charset="-120"/>
              </a:rPr>
              <a:t>Analytics</a:t>
            </a:r>
            <a:endParaRPr lang="en-US" sz="800" dirty="0"/>
          </a:p>
        </p:txBody>
      </p:sp>
      <p:sp>
        <p:nvSpPr>
          <p:cNvPr id="195" name="Text 193"/>
          <p:cNvSpPr txBox="1"/>
          <p:nvPr/>
        </p:nvSpPr>
        <p:spPr>
          <a:xfrm>
            <a:off x="9528048" y="4837328"/>
            <a:ext cx="1188720" cy="16017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Set cover: fewest hires</a:t>
            </a:r>
            <a:endParaRPr lang="en-US" sz="700" dirty="0"/>
          </a:p>
        </p:txBody>
      </p:sp>
      <p:sp>
        <p:nvSpPr>
          <p:cNvPr id="196" name="Shape 194"/>
          <p:cNvSpPr/>
          <p:nvPr/>
        </p:nvSpPr>
        <p:spPr>
          <a:xfrm>
            <a:off x="9454896" y="5230368"/>
            <a:ext cx="1289304" cy="457200"/>
          </a:xfrm>
          <a:prstGeom prst="rect">
            <a:avLst/>
          </a:prstGeom>
          <a:solidFill>
            <a:srgbClr val="2E7D32"/>
          </a:solidFill>
          <a:ln/>
        </p:spPr>
      </p:sp>
      <p:sp>
        <p:nvSpPr>
          <p:cNvPr id="197" name="Text 195"/>
          <p:cNvSpPr txBox="1"/>
          <p:nvPr/>
        </p:nvSpPr>
        <p:spPr>
          <a:xfrm>
            <a:off x="9528048" y="5276088"/>
            <a:ext cx="1143000" cy="128016"/>
          </a:xfrm>
          <a:prstGeom prst="rect">
            <a:avLst/>
          </a:prstGeom>
          <a:noFill/>
          <a:ln/>
        </p:spPr>
        <p:txBody>
          <a:bodyPr wrap="square" lIns="0" tIns="0" rIns="0" bIns="0" rtlCol="0" anchor="t"/>
          <a:lstStyle/>
          <a:p>
            <a:pPr indent="0" marL="0">
              <a:buNone/>
            </a:pPr>
            <a:r>
              <a:rPr lang="en-US" sz="650" spc="40" kern="0" dirty="0">
                <a:solidFill>
                  <a:srgbClr val="CFE6EE"/>
                </a:solidFill>
                <a:latin typeface="Trenda IG Text Semibold" pitchFamily="34" charset="0"/>
                <a:ea typeface="Trenda IG Text Semibold" pitchFamily="34" charset="-122"/>
                <a:cs typeface="Trenda IG Text Semibold" pitchFamily="34" charset="-120"/>
              </a:rPr>
              <a:t>WHAT YOU GET</a:t>
            </a:r>
            <a:endParaRPr lang="en-US" sz="650" dirty="0"/>
          </a:p>
        </p:txBody>
      </p:sp>
      <p:sp>
        <p:nvSpPr>
          <p:cNvPr id="198" name="Text 196"/>
          <p:cNvSpPr txBox="1"/>
          <p:nvPr/>
        </p:nvSpPr>
        <p:spPr>
          <a:xfrm>
            <a:off x="9528048" y="5404104"/>
            <a:ext cx="1143000" cy="274320"/>
          </a:xfrm>
          <a:prstGeom prst="rect">
            <a:avLst/>
          </a:prstGeom>
          <a:noFill/>
          <a:ln/>
        </p:spPr>
        <p:txBody>
          <a:bodyPr wrap="square" lIns="0" tIns="0" rIns="0" bIns="0" rtlCol="0" anchor="t"/>
          <a:lstStyle/>
          <a:p>
            <a:pPr indent="0" marL="0">
              <a:lnSpc>
                <a:spcPct val="97000"/>
              </a:lnSpc>
              <a:buNone/>
            </a:pPr>
            <a:r>
              <a:rPr lang="en-US" sz="700" dirty="0">
                <a:solidFill>
                  <a:srgbClr val="FFFFFF"/>
                </a:solidFill>
                <a:latin typeface="Trenda IG Text Semibold" pitchFamily="34" charset="0"/>
                <a:ea typeface="Trenda IG Text Semibold" pitchFamily="34" charset="-122"/>
                <a:cs typeface="Trenda IG Text Semibold" pitchFamily="34" charset="-120"/>
              </a:rPr>
              <a:t>Gap, blast radius and what-if in under a second</a:t>
            </a:r>
            <a:endParaRPr lang="en-US" sz="700" dirty="0"/>
          </a:p>
        </p:txBody>
      </p:sp>
      <p:sp>
        <p:nvSpPr>
          <p:cNvPr id="199" name="Text 197"/>
          <p:cNvSpPr txBox="1"/>
          <p:nvPr/>
        </p:nvSpPr>
        <p:spPr>
          <a:xfrm>
            <a:off x="10742371" y="914400"/>
            <a:ext cx="49378" cy="128016"/>
          </a:xfrm>
          <a:prstGeom prst="rect">
            <a:avLst/>
          </a:prstGeom>
          <a:noFill/>
          <a:ln/>
        </p:spPr>
        <p:txBody>
          <a:bodyPr wrap="square" lIns="0" tIns="0" rIns="0" bIns="0" rtlCol="0" anchor="t"/>
          <a:lstStyle/>
          <a:p>
            <a:pPr algn="ctr" indent="0" marL="0">
              <a:buNone/>
            </a:pPr>
            <a:r>
              <a:rPr lang="en-US" sz="450" dirty="0">
                <a:solidFill>
                  <a:srgbClr val="9AA4B0"/>
                </a:solidFill>
                <a:latin typeface="Trenda IG Text" pitchFamily="34" charset="0"/>
                <a:ea typeface="Trenda IG Text" pitchFamily="34" charset="-122"/>
                <a:cs typeface="Trenda IG Text" pitchFamily="34" charset="-120"/>
              </a:rPr>
              <a:t>▶</a:t>
            </a:r>
            <a:endParaRPr lang="en-US" sz="450" dirty="0"/>
          </a:p>
        </p:txBody>
      </p:sp>
      <p:sp>
        <p:nvSpPr>
          <p:cNvPr id="200" name="Shape 198"/>
          <p:cNvSpPr/>
          <p:nvPr/>
        </p:nvSpPr>
        <p:spPr>
          <a:xfrm>
            <a:off x="10789920" y="713232"/>
            <a:ext cx="1289304" cy="621792"/>
          </a:xfrm>
          <a:prstGeom prst="rect">
            <a:avLst/>
          </a:prstGeom>
          <a:solidFill>
            <a:srgbClr val="00757F"/>
          </a:solidFill>
          <a:ln/>
        </p:spPr>
      </p:sp>
      <p:sp>
        <p:nvSpPr>
          <p:cNvPr id="201" name="Text 199"/>
          <p:cNvSpPr txBox="1"/>
          <p:nvPr/>
        </p:nvSpPr>
        <p:spPr>
          <a:xfrm>
            <a:off x="10835640" y="758952"/>
            <a:ext cx="1197864" cy="137160"/>
          </a:xfrm>
          <a:prstGeom prst="rect">
            <a:avLst/>
          </a:prstGeom>
          <a:noFill/>
          <a:ln/>
        </p:spPr>
        <p:txBody>
          <a:bodyPr wrap="square" lIns="0" tIns="0" rIns="0" bIns="0" rtlCol="0" anchor="t"/>
          <a:lstStyle/>
          <a:p>
            <a:pPr algn="ctr" indent="0" marL="0">
              <a:buNone/>
            </a:pPr>
            <a:r>
              <a:rPr lang="en-US" sz="750" spc="40" kern="0" dirty="0">
                <a:solidFill>
                  <a:srgbClr val="FFFFFF"/>
                </a:solidFill>
                <a:latin typeface="Trenda IG Display Semibold" pitchFamily="34" charset="0"/>
                <a:ea typeface="Trenda IG Display Semibold" pitchFamily="34" charset="-122"/>
                <a:cs typeface="Trenda IG Display Semibold" pitchFamily="34" charset="-120"/>
              </a:rPr>
              <a:t>LAYER 9</a:t>
            </a:r>
            <a:endParaRPr lang="en-US" sz="750" dirty="0"/>
          </a:p>
        </p:txBody>
      </p:sp>
      <p:sp>
        <p:nvSpPr>
          <p:cNvPr id="202" name="Text 200"/>
          <p:cNvSpPr txBox="1"/>
          <p:nvPr/>
        </p:nvSpPr>
        <p:spPr>
          <a:xfrm>
            <a:off x="10826496" y="886968"/>
            <a:ext cx="1216152" cy="329184"/>
          </a:xfrm>
          <a:prstGeom prst="rect">
            <a:avLst/>
          </a:prstGeom>
          <a:noFill/>
          <a:ln/>
        </p:spPr>
        <p:txBody>
          <a:bodyPr wrap="square" lIns="0" tIns="0" rIns="0" bIns="0" rtlCol="0" anchor="t"/>
          <a:lstStyle/>
          <a:p>
            <a:pPr algn="ctr" indent="0" marL="0">
              <a:lnSpc>
                <a:spcPct val="92000"/>
              </a:lnSpc>
              <a:buNone/>
            </a:pPr>
            <a:r>
              <a:rPr lang="en-US" sz="1000" dirty="0">
                <a:solidFill>
                  <a:srgbClr val="FFFFFF"/>
                </a:solidFill>
                <a:latin typeface="Trenda IG Display Bold" pitchFamily="34" charset="0"/>
                <a:ea typeface="Trenda IG Display Bold" pitchFamily="34" charset="-122"/>
                <a:cs typeface="Trenda IG Display Bold" pitchFamily="34" charset="-120"/>
              </a:rPr>
              <a:t>Gap Engines and API</a:t>
            </a:r>
            <a:endParaRPr lang="en-US" sz="1000" dirty="0"/>
          </a:p>
        </p:txBody>
      </p:sp>
      <p:sp>
        <p:nvSpPr>
          <p:cNvPr id="203" name="Text 201"/>
          <p:cNvSpPr txBox="1"/>
          <p:nvPr/>
        </p:nvSpPr>
        <p:spPr>
          <a:xfrm>
            <a:off x="10835640" y="1188720"/>
            <a:ext cx="1197864" cy="137160"/>
          </a:xfrm>
          <a:prstGeom prst="rect">
            <a:avLst/>
          </a:prstGeom>
          <a:noFill/>
          <a:ln/>
        </p:spPr>
        <p:txBody>
          <a:bodyPr wrap="square" lIns="0" tIns="0" rIns="0" bIns="0" rtlCol="0" anchor="t"/>
          <a:lstStyle/>
          <a:p>
            <a:pPr algn="ctr" indent="0" marL="0">
              <a:buNone/>
            </a:pPr>
            <a:r>
              <a:rPr lang="en-US" sz="650" dirty="0">
                <a:solidFill>
                  <a:srgbClr val="E4EEF2"/>
                </a:solidFill>
                <a:latin typeface="Trenda IG Text Light" pitchFamily="34" charset="0"/>
                <a:ea typeface="Trenda IG Text Light" pitchFamily="34" charset="-122"/>
                <a:cs typeface="Trenda IG Text Light" pitchFamily="34" charset="-120"/>
              </a:rPr>
              <a:t>Twelve scenarios, one engine</a:t>
            </a:r>
            <a:endParaRPr lang="en-US" sz="650" dirty="0"/>
          </a:p>
        </p:txBody>
      </p:sp>
      <p:sp>
        <p:nvSpPr>
          <p:cNvPr id="204" name="Shape 202"/>
          <p:cNvSpPr/>
          <p:nvPr/>
        </p:nvSpPr>
        <p:spPr>
          <a:xfrm>
            <a:off x="10789920" y="1353312"/>
            <a:ext cx="1289304" cy="4334256"/>
          </a:xfrm>
          <a:prstGeom prst="rect">
            <a:avLst/>
          </a:prstGeom>
          <a:solidFill>
            <a:srgbClr val="FFFFFF"/>
          </a:solidFill>
          <a:ln w="9525">
            <a:solidFill>
              <a:srgbClr val="D5D9DE"/>
            </a:solidFill>
            <a:prstDash val="solid"/>
          </a:ln>
        </p:spPr>
      </p:sp>
      <p:sp>
        <p:nvSpPr>
          <p:cNvPr id="205" name="Shape 203"/>
          <p:cNvSpPr/>
          <p:nvPr/>
        </p:nvSpPr>
        <p:spPr>
          <a:xfrm>
            <a:off x="10863072" y="1467612"/>
            <a:ext cx="64008" cy="64008"/>
          </a:xfrm>
          <a:prstGeom prst="rect">
            <a:avLst/>
          </a:prstGeom>
          <a:solidFill>
            <a:srgbClr val="00757F"/>
          </a:solidFill>
          <a:ln/>
        </p:spPr>
      </p:sp>
      <p:sp>
        <p:nvSpPr>
          <p:cNvPr id="206" name="Text 204"/>
          <p:cNvSpPr txBox="1"/>
          <p:nvPr/>
        </p:nvSpPr>
        <p:spPr>
          <a:xfrm>
            <a:off x="10963656" y="1435608"/>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00757F"/>
                </a:solidFill>
                <a:latin typeface="Trenda IG Display Bold" pitchFamily="34" charset="0"/>
                <a:ea typeface="Trenda IG Display Bold" pitchFamily="34" charset="-122"/>
                <a:cs typeface="Trenda IG Display Bold" pitchFamily="34" charset="-120"/>
              </a:rPr>
              <a:t>Gap engines</a:t>
            </a:r>
            <a:endParaRPr lang="en-US" sz="800" dirty="0"/>
          </a:p>
        </p:txBody>
      </p:sp>
      <p:sp>
        <p:nvSpPr>
          <p:cNvPr id="207" name="Text 205"/>
          <p:cNvSpPr txBox="1"/>
          <p:nvPr/>
        </p:nvSpPr>
        <p:spPr>
          <a:xfrm>
            <a:off x="10863072" y="1605382"/>
            <a:ext cx="1188720" cy="654558"/>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access_gap()</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idle_supply_gap()</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credential_gap()</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line_completeness()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leakage_gap()</a:t>
            </a:r>
            <a:endParaRPr lang="en-US" sz="700" dirty="0"/>
          </a:p>
        </p:txBody>
      </p:sp>
      <p:sp>
        <p:nvSpPr>
          <p:cNvPr id="208" name="Shape 206"/>
          <p:cNvSpPr/>
          <p:nvPr/>
        </p:nvSpPr>
        <p:spPr>
          <a:xfrm>
            <a:off x="10863072" y="2319376"/>
            <a:ext cx="64008" cy="64008"/>
          </a:xfrm>
          <a:prstGeom prst="rect">
            <a:avLst/>
          </a:prstGeom>
          <a:solidFill>
            <a:srgbClr val="00757F"/>
          </a:solidFill>
          <a:ln/>
        </p:spPr>
      </p:sp>
      <p:sp>
        <p:nvSpPr>
          <p:cNvPr id="209" name="Text 207"/>
          <p:cNvSpPr txBox="1"/>
          <p:nvPr/>
        </p:nvSpPr>
        <p:spPr>
          <a:xfrm>
            <a:off x="10963656" y="2287372"/>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00757F"/>
                </a:solidFill>
                <a:latin typeface="Trenda IG Display Bold" pitchFamily="34" charset="0"/>
                <a:ea typeface="Trenda IG Display Bold" pitchFamily="34" charset="-122"/>
                <a:cs typeface="Trenda IG Display Bold" pitchFamily="34" charset="-120"/>
              </a:rPr>
              <a:t>Query API</a:t>
            </a:r>
            <a:endParaRPr lang="en-US" sz="800" dirty="0"/>
          </a:p>
        </p:txBody>
      </p:sp>
      <p:sp>
        <p:nvSpPr>
          <p:cNvPr id="210" name="Text 208"/>
          <p:cNvSpPr txBox="1"/>
          <p:nvPr/>
        </p:nvSpPr>
        <p:spPr>
          <a:xfrm>
            <a:off x="10863072" y="2457145"/>
            <a:ext cx="1188720" cy="635508"/>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graph.query, gap.rank</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appointment.risk(id)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slot.backfill(), whatif.simulate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cohort.build, asof(date)</a:t>
            </a:r>
            <a:endParaRPr lang="en-US" sz="700" dirty="0"/>
          </a:p>
        </p:txBody>
      </p:sp>
      <p:sp>
        <p:nvSpPr>
          <p:cNvPr id="211" name="Shape 209"/>
          <p:cNvSpPr/>
          <p:nvPr/>
        </p:nvSpPr>
        <p:spPr>
          <a:xfrm>
            <a:off x="10863072" y="3152089"/>
            <a:ext cx="64008" cy="64008"/>
          </a:xfrm>
          <a:prstGeom prst="rect">
            <a:avLst/>
          </a:prstGeom>
          <a:solidFill>
            <a:srgbClr val="00757F"/>
          </a:solidFill>
          <a:ln/>
        </p:spPr>
      </p:sp>
      <p:sp>
        <p:nvSpPr>
          <p:cNvPr id="212" name="Text 210"/>
          <p:cNvSpPr txBox="1"/>
          <p:nvPr/>
        </p:nvSpPr>
        <p:spPr>
          <a:xfrm>
            <a:off x="10963656" y="3120085"/>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00757F"/>
                </a:solidFill>
                <a:latin typeface="Trenda IG Display Bold" pitchFamily="34" charset="0"/>
                <a:ea typeface="Trenda IG Display Bold" pitchFamily="34" charset="-122"/>
                <a:cs typeface="Trenda IG Display Bold" pitchFamily="34" charset="-120"/>
              </a:rPr>
              <a:t>Policy at query time</a:t>
            </a:r>
            <a:endParaRPr lang="en-US" sz="800" dirty="0"/>
          </a:p>
        </p:txBody>
      </p:sp>
      <p:sp>
        <p:nvSpPr>
          <p:cNvPr id="213" name="Text 211"/>
          <p:cNvSpPr txBox="1"/>
          <p:nvPr/>
        </p:nvSpPr>
        <p:spPr>
          <a:xfrm>
            <a:off x="10863072" y="3289859"/>
            <a:ext cx="1188720" cy="51191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Purpose of use required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Minimum necessary compiled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k-anonymity pre-return</a:t>
            </a:r>
            <a:endParaRPr lang="en-US" sz="700" dirty="0"/>
          </a:p>
        </p:txBody>
      </p:sp>
      <p:sp>
        <p:nvSpPr>
          <p:cNvPr id="214" name="Shape 212"/>
          <p:cNvSpPr/>
          <p:nvPr/>
        </p:nvSpPr>
        <p:spPr>
          <a:xfrm>
            <a:off x="10863072" y="3861206"/>
            <a:ext cx="64008" cy="64008"/>
          </a:xfrm>
          <a:prstGeom prst="rect">
            <a:avLst/>
          </a:prstGeom>
          <a:solidFill>
            <a:srgbClr val="00757F"/>
          </a:solidFill>
          <a:ln/>
        </p:spPr>
      </p:sp>
      <p:sp>
        <p:nvSpPr>
          <p:cNvPr id="215" name="Text 213"/>
          <p:cNvSpPr txBox="1"/>
          <p:nvPr/>
        </p:nvSpPr>
        <p:spPr>
          <a:xfrm>
            <a:off x="10963656" y="3829202"/>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00757F"/>
                </a:solidFill>
                <a:latin typeface="Trenda IG Display Bold" pitchFamily="34" charset="0"/>
                <a:ea typeface="Trenda IG Display Bold" pitchFamily="34" charset="-122"/>
                <a:cs typeface="Trenda IG Display Bold" pitchFamily="34" charset="-120"/>
              </a:rPr>
              <a:t>Feature packs</a:t>
            </a:r>
            <a:endParaRPr lang="en-US" sz="800" dirty="0"/>
          </a:p>
        </p:txBody>
      </p:sp>
      <p:sp>
        <p:nvSpPr>
          <p:cNvPr id="216" name="Text 214"/>
          <p:cNvSpPr txBox="1"/>
          <p:nvPr/>
        </p:nvSpPr>
        <p:spPr>
          <a:xfrm>
            <a:off x="10863072" y="3998976"/>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Declare entities and spec</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Declare signals and gaps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Campaigns come for free</a:t>
            </a:r>
            <a:endParaRPr lang="en-US" sz="700" dirty="0"/>
          </a:p>
        </p:txBody>
      </p:sp>
      <p:sp>
        <p:nvSpPr>
          <p:cNvPr id="217" name="Shape 215"/>
          <p:cNvSpPr/>
          <p:nvPr/>
        </p:nvSpPr>
        <p:spPr>
          <a:xfrm>
            <a:off x="10863072" y="4465777"/>
            <a:ext cx="64008" cy="64008"/>
          </a:xfrm>
          <a:prstGeom prst="rect">
            <a:avLst/>
          </a:prstGeom>
          <a:solidFill>
            <a:srgbClr val="00757F"/>
          </a:solidFill>
          <a:ln/>
        </p:spPr>
      </p:sp>
      <p:sp>
        <p:nvSpPr>
          <p:cNvPr id="218" name="Text 216"/>
          <p:cNvSpPr txBox="1"/>
          <p:nvPr/>
        </p:nvSpPr>
        <p:spPr>
          <a:xfrm>
            <a:off x="10963656" y="4433773"/>
            <a:ext cx="1051560" cy="142342"/>
          </a:xfrm>
          <a:prstGeom prst="rect">
            <a:avLst/>
          </a:prstGeom>
          <a:noFill/>
          <a:ln/>
        </p:spPr>
        <p:txBody>
          <a:bodyPr wrap="square" lIns="0" tIns="0" rIns="0" bIns="0" rtlCol="0" anchor="t"/>
          <a:lstStyle/>
          <a:p>
            <a:pPr indent="0" marL="0">
              <a:lnSpc>
                <a:spcPct val="98000"/>
              </a:lnSpc>
              <a:buNone/>
            </a:pPr>
            <a:r>
              <a:rPr lang="en-US" sz="800" dirty="0">
                <a:solidFill>
                  <a:srgbClr val="00757F"/>
                </a:solidFill>
                <a:latin typeface="Trenda IG Display Bold" pitchFamily="34" charset="0"/>
                <a:ea typeface="Trenda IG Display Bold" pitchFamily="34" charset="-122"/>
                <a:cs typeface="Trenda IG Display Bold" pitchFamily="34" charset="-120"/>
              </a:rPr>
              <a:t>Output contract</a:t>
            </a:r>
            <a:endParaRPr lang="en-US" sz="800" dirty="0"/>
          </a:p>
        </p:txBody>
      </p:sp>
      <p:sp>
        <p:nvSpPr>
          <p:cNvPr id="219" name="Text 217"/>
          <p:cNvSpPr txBox="1"/>
          <p:nvPr/>
        </p:nvSpPr>
        <p:spPr>
          <a:xfrm>
            <a:off x="10863072" y="4603547"/>
            <a:ext cx="1188720" cy="283769"/>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Ranked gap, evidence path</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Action, owner, cohort</a:t>
            </a:r>
            <a:endParaRPr lang="en-US" sz="700" dirty="0"/>
          </a:p>
        </p:txBody>
      </p:sp>
      <p:sp>
        <p:nvSpPr>
          <p:cNvPr id="220" name="Shape 218"/>
          <p:cNvSpPr/>
          <p:nvPr/>
        </p:nvSpPr>
        <p:spPr>
          <a:xfrm>
            <a:off x="10789920" y="5230368"/>
            <a:ext cx="1289304" cy="457200"/>
          </a:xfrm>
          <a:prstGeom prst="rect">
            <a:avLst/>
          </a:prstGeom>
          <a:solidFill>
            <a:srgbClr val="00757F"/>
          </a:solidFill>
          <a:ln/>
        </p:spPr>
      </p:sp>
      <p:sp>
        <p:nvSpPr>
          <p:cNvPr id="221" name="Text 219"/>
          <p:cNvSpPr txBox="1"/>
          <p:nvPr/>
        </p:nvSpPr>
        <p:spPr>
          <a:xfrm>
            <a:off x="10863072" y="5276088"/>
            <a:ext cx="1143000" cy="128016"/>
          </a:xfrm>
          <a:prstGeom prst="rect">
            <a:avLst/>
          </a:prstGeom>
          <a:noFill/>
          <a:ln/>
        </p:spPr>
        <p:txBody>
          <a:bodyPr wrap="square" lIns="0" tIns="0" rIns="0" bIns="0" rtlCol="0" anchor="t"/>
          <a:lstStyle/>
          <a:p>
            <a:pPr indent="0" marL="0">
              <a:buNone/>
            </a:pPr>
            <a:r>
              <a:rPr lang="en-US" sz="650" spc="40" kern="0" dirty="0">
                <a:solidFill>
                  <a:srgbClr val="CFE6EE"/>
                </a:solidFill>
                <a:latin typeface="Trenda IG Text Semibold" pitchFamily="34" charset="0"/>
                <a:ea typeface="Trenda IG Text Semibold" pitchFamily="34" charset="-122"/>
                <a:cs typeface="Trenda IG Text Semibold" pitchFamily="34" charset="-120"/>
              </a:rPr>
              <a:t>WHAT YOU GET</a:t>
            </a:r>
            <a:endParaRPr lang="en-US" sz="650" dirty="0"/>
          </a:p>
        </p:txBody>
      </p:sp>
      <p:sp>
        <p:nvSpPr>
          <p:cNvPr id="222" name="Text 220"/>
          <p:cNvSpPr txBox="1"/>
          <p:nvPr/>
        </p:nvSpPr>
        <p:spPr>
          <a:xfrm>
            <a:off x="10863072" y="5404104"/>
            <a:ext cx="1143000" cy="274320"/>
          </a:xfrm>
          <a:prstGeom prst="rect">
            <a:avLst/>
          </a:prstGeom>
          <a:noFill/>
          <a:ln/>
        </p:spPr>
        <p:txBody>
          <a:bodyPr wrap="square" lIns="0" tIns="0" rIns="0" bIns="0" rtlCol="0" anchor="t"/>
          <a:lstStyle/>
          <a:p>
            <a:pPr indent="0" marL="0">
              <a:lnSpc>
                <a:spcPct val="97000"/>
              </a:lnSpc>
              <a:buNone/>
            </a:pPr>
            <a:r>
              <a:rPr lang="en-US" sz="700" dirty="0">
                <a:solidFill>
                  <a:srgbClr val="FFFFFF"/>
                </a:solidFill>
                <a:latin typeface="Trenda IG Text Semibold" pitchFamily="34" charset="0"/>
                <a:ea typeface="Trenda IG Text Semibold" pitchFamily="34" charset="-122"/>
                <a:cs typeface="Trenda IG Text Semibold" pitchFamily="34" charset="-120"/>
              </a:rPr>
              <a:t>Ranked, explainable gaps with the action attached</a:t>
            </a:r>
            <a:endParaRPr lang="en-US" sz="700" dirty="0"/>
          </a:p>
        </p:txBody>
      </p:sp>
      <p:sp>
        <p:nvSpPr>
          <p:cNvPr id="223" name="Text 221"/>
          <p:cNvSpPr txBox="1"/>
          <p:nvPr/>
        </p:nvSpPr>
        <p:spPr>
          <a:xfrm>
            <a:off x="109728" y="5742432"/>
            <a:ext cx="914400" cy="256032"/>
          </a:xfrm>
          <a:prstGeom prst="rect">
            <a:avLst/>
          </a:prstGeom>
          <a:noFill/>
          <a:ln/>
        </p:spPr>
        <p:txBody>
          <a:bodyPr wrap="square" lIns="0" tIns="0" rIns="0" bIns="0" rtlCol="0" anchor="t"/>
          <a:lstStyle/>
          <a:p>
            <a:pPr indent="0" marL="0">
              <a:lnSpc>
                <a:spcPct val="95000"/>
              </a:lnSpc>
              <a:buNone/>
            </a:pPr>
            <a:r>
              <a:rPr lang="en-US" sz="600" dirty="0">
                <a:solidFill>
                  <a:srgbClr val="5A6573"/>
                </a:solidFill>
                <a:latin typeface="Trenda IG Text Semibold" pitchFamily="34" charset="0"/>
                <a:ea typeface="Trenda IG Text Semibold" pitchFamily="34" charset="-122"/>
                <a:cs typeface="Trenda IG Text Semibold" pitchFamily="34" charset="-120"/>
              </a:rPr>
              <a:t>HANDOFF</a:t>
            </a:r>
            <a:endParaRPr lang="en-US" sz="600" dirty="0"/>
          </a:p>
          <a:p>
            <a:pPr indent="0" marL="0">
              <a:lnSpc>
                <a:spcPct val="95000"/>
              </a:lnSpc>
              <a:buNone/>
            </a:pPr>
            <a:r>
              <a:rPr lang="en-US" sz="600" dirty="0">
                <a:solidFill>
                  <a:srgbClr val="5A6573"/>
                </a:solidFill>
                <a:latin typeface="Trenda IG Text Semibold" pitchFamily="34" charset="0"/>
                <a:ea typeface="Trenda IG Text Semibold" pitchFamily="34" charset="-122"/>
                <a:cs typeface="Trenda IG Text Semibold" pitchFamily="34" charset="-120"/>
              </a:rPr>
              <a:t>BETWEEN LAYERS</a:t>
            </a:r>
            <a:endParaRPr lang="en-US" sz="600" dirty="0"/>
          </a:p>
        </p:txBody>
      </p:sp>
      <p:sp>
        <p:nvSpPr>
          <p:cNvPr id="224" name="Shape 222"/>
          <p:cNvSpPr/>
          <p:nvPr/>
        </p:nvSpPr>
        <p:spPr>
          <a:xfrm>
            <a:off x="1088136" y="5742432"/>
            <a:ext cx="1325880" cy="256032"/>
          </a:xfrm>
          <a:prstGeom prst="rect">
            <a:avLst/>
          </a:prstGeom>
          <a:solidFill>
            <a:srgbClr val="FFFFFF"/>
          </a:solidFill>
          <a:ln w="9525">
            <a:solidFill>
              <a:srgbClr val="D5D9DE"/>
            </a:solidFill>
            <a:prstDash val="solid"/>
          </a:ln>
        </p:spPr>
      </p:sp>
      <p:sp>
        <p:nvSpPr>
          <p:cNvPr id="225" name="Shape 223"/>
          <p:cNvSpPr/>
          <p:nvPr/>
        </p:nvSpPr>
        <p:spPr>
          <a:xfrm>
            <a:off x="1152144" y="5833872"/>
            <a:ext cx="64008" cy="64008"/>
          </a:xfrm>
          <a:prstGeom prst="rect">
            <a:avLst/>
          </a:prstGeom>
          <a:solidFill>
            <a:srgbClr val="1B6BC0"/>
          </a:solidFill>
          <a:ln/>
        </p:spPr>
      </p:sp>
      <p:sp>
        <p:nvSpPr>
          <p:cNvPr id="226" name="Text 224"/>
          <p:cNvSpPr txBox="1"/>
          <p:nvPr/>
        </p:nvSpPr>
        <p:spPr>
          <a:xfrm>
            <a:off x="1243584" y="5742432"/>
            <a:ext cx="1133856" cy="256032"/>
          </a:xfrm>
          <a:prstGeom prst="rect">
            <a:avLst/>
          </a:prstGeom>
          <a:noFill/>
          <a:ln/>
        </p:spPr>
        <p:txBody>
          <a:bodyPr wrap="square" lIns="0" tIns="0" rIns="0" bIns="0" rtlCol="0" anchor="ctr"/>
          <a:lstStyle/>
          <a:p>
            <a:pPr indent="0" marL="0">
              <a:buNone/>
            </a:pPr>
            <a:r>
              <a:rPr lang="en-US" sz="630" dirty="0">
                <a:solidFill>
                  <a:srgbClr val="1A1A1A"/>
                </a:solidFill>
                <a:latin typeface="Trenda IG Text" pitchFamily="34" charset="0"/>
                <a:ea typeface="Trenda IG Text" pitchFamily="34" charset="-122"/>
                <a:cs typeface="Trenda IG Text" pitchFamily="34" charset="-120"/>
              </a:rPr>
              <a:t>read only API pull</a:t>
            </a:r>
            <a:endParaRPr lang="en-US" sz="630" dirty="0"/>
          </a:p>
        </p:txBody>
      </p:sp>
      <p:sp>
        <p:nvSpPr>
          <p:cNvPr id="227" name="Shape 225"/>
          <p:cNvSpPr/>
          <p:nvPr/>
        </p:nvSpPr>
        <p:spPr>
          <a:xfrm>
            <a:off x="2466594" y="5742432"/>
            <a:ext cx="1325880" cy="256032"/>
          </a:xfrm>
          <a:prstGeom prst="rect">
            <a:avLst/>
          </a:prstGeom>
          <a:solidFill>
            <a:srgbClr val="FFFFFF"/>
          </a:solidFill>
          <a:ln w="9525">
            <a:solidFill>
              <a:srgbClr val="D5D9DE"/>
            </a:solidFill>
            <a:prstDash val="solid"/>
          </a:ln>
        </p:spPr>
      </p:sp>
      <p:sp>
        <p:nvSpPr>
          <p:cNvPr id="228" name="Shape 226"/>
          <p:cNvSpPr/>
          <p:nvPr/>
        </p:nvSpPr>
        <p:spPr>
          <a:xfrm>
            <a:off x="2530602" y="5833872"/>
            <a:ext cx="64008" cy="64008"/>
          </a:xfrm>
          <a:prstGeom prst="rect">
            <a:avLst/>
          </a:prstGeom>
          <a:solidFill>
            <a:srgbClr val="0E8A7D"/>
          </a:solidFill>
          <a:ln/>
        </p:spPr>
      </p:sp>
      <p:sp>
        <p:nvSpPr>
          <p:cNvPr id="229" name="Text 227"/>
          <p:cNvSpPr txBox="1"/>
          <p:nvPr/>
        </p:nvSpPr>
        <p:spPr>
          <a:xfrm>
            <a:off x="2622042" y="5742432"/>
            <a:ext cx="1133856" cy="256032"/>
          </a:xfrm>
          <a:prstGeom prst="rect">
            <a:avLst/>
          </a:prstGeom>
          <a:noFill/>
          <a:ln/>
        </p:spPr>
        <p:txBody>
          <a:bodyPr wrap="square" lIns="0" tIns="0" rIns="0" bIns="0" rtlCol="0" anchor="ctr"/>
          <a:lstStyle/>
          <a:p>
            <a:pPr indent="0" marL="0">
              <a:buNone/>
            </a:pPr>
            <a:r>
              <a:rPr lang="en-US" sz="630" dirty="0">
                <a:solidFill>
                  <a:srgbClr val="1A1A1A"/>
                </a:solidFill>
                <a:latin typeface="Trenda IG Text" pitchFamily="34" charset="0"/>
                <a:ea typeface="Trenda IG Text" pitchFamily="34" charset="-122"/>
                <a:cs typeface="Trenda IG Text" pitchFamily="34" charset="-120"/>
              </a:rPr>
              <a:t>bytes plus content hash</a:t>
            </a:r>
            <a:endParaRPr lang="en-US" sz="630" dirty="0"/>
          </a:p>
        </p:txBody>
      </p:sp>
      <p:sp>
        <p:nvSpPr>
          <p:cNvPr id="230" name="Shape 228"/>
          <p:cNvSpPr/>
          <p:nvPr/>
        </p:nvSpPr>
        <p:spPr>
          <a:xfrm>
            <a:off x="3845052" y="5742432"/>
            <a:ext cx="1325880" cy="256032"/>
          </a:xfrm>
          <a:prstGeom prst="rect">
            <a:avLst/>
          </a:prstGeom>
          <a:solidFill>
            <a:srgbClr val="FFFFFF"/>
          </a:solidFill>
          <a:ln w="9525">
            <a:solidFill>
              <a:srgbClr val="D5D9DE"/>
            </a:solidFill>
            <a:prstDash val="solid"/>
          </a:ln>
        </p:spPr>
      </p:sp>
      <p:sp>
        <p:nvSpPr>
          <p:cNvPr id="231" name="Shape 229"/>
          <p:cNvSpPr/>
          <p:nvPr/>
        </p:nvSpPr>
        <p:spPr>
          <a:xfrm>
            <a:off x="3909060" y="5833872"/>
            <a:ext cx="64008" cy="64008"/>
          </a:xfrm>
          <a:prstGeom prst="rect">
            <a:avLst/>
          </a:prstGeom>
          <a:solidFill>
            <a:srgbClr val="6A1B9A"/>
          </a:solidFill>
          <a:ln/>
        </p:spPr>
      </p:sp>
      <p:sp>
        <p:nvSpPr>
          <p:cNvPr id="232" name="Text 230"/>
          <p:cNvSpPr txBox="1"/>
          <p:nvPr/>
        </p:nvSpPr>
        <p:spPr>
          <a:xfrm>
            <a:off x="4000500" y="5742432"/>
            <a:ext cx="1133856" cy="256032"/>
          </a:xfrm>
          <a:prstGeom prst="rect">
            <a:avLst/>
          </a:prstGeom>
          <a:noFill/>
          <a:ln/>
        </p:spPr>
        <p:txBody>
          <a:bodyPr wrap="square" lIns="0" tIns="0" rIns="0" bIns="0" rtlCol="0" anchor="ctr"/>
          <a:lstStyle/>
          <a:p>
            <a:pPr indent="0" marL="0">
              <a:buNone/>
            </a:pPr>
            <a:r>
              <a:rPr lang="en-US" sz="630" dirty="0">
                <a:solidFill>
                  <a:srgbClr val="1A1A1A"/>
                </a:solidFill>
                <a:latin typeface="Trenda IG Text" pitchFamily="34" charset="0"/>
                <a:ea typeface="Trenda IG Text" pitchFamily="34" charset="-122"/>
                <a:cs typeface="Trenda IG Text" pitchFamily="34" charset="-120"/>
              </a:rPr>
              <a:t>tokenised, de-identified</a:t>
            </a:r>
            <a:endParaRPr lang="en-US" sz="630" dirty="0"/>
          </a:p>
        </p:txBody>
      </p:sp>
      <p:sp>
        <p:nvSpPr>
          <p:cNvPr id="233" name="Shape 231"/>
          <p:cNvSpPr/>
          <p:nvPr/>
        </p:nvSpPr>
        <p:spPr>
          <a:xfrm>
            <a:off x="5223510" y="5742432"/>
            <a:ext cx="1325880" cy="256032"/>
          </a:xfrm>
          <a:prstGeom prst="rect">
            <a:avLst/>
          </a:prstGeom>
          <a:solidFill>
            <a:srgbClr val="FFFFFF"/>
          </a:solidFill>
          <a:ln w="9525">
            <a:solidFill>
              <a:srgbClr val="D5D9DE"/>
            </a:solidFill>
            <a:prstDash val="solid"/>
          </a:ln>
        </p:spPr>
      </p:sp>
      <p:sp>
        <p:nvSpPr>
          <p:cNvPr id="234" name="Shape 232"/>
          <p:cNvSpPr/>
          <p:nvPr/>
        </p:nvSpPr>
        <p:spPr>
          <a:xfrm>
            <a:off x="5287518" y="5833872"/>
            <a:ext cx="64008" cy="64008"/>
          </a:xfrm>
          <a:prstGeom prst="rect">
            <a:avLst/>
          </a:prstGeom>
          <a:solidFill>
            <a:srgbClr val="7A4FC0"/>
          </a:solidFill>
          <a:ln/>
        </p:spPr>
      </p:sp>
      <p:sp>
        <p:nvSpPr>
          <p:cNvPr id="235" name="Text 233"/>
          <p:cNvSpPr txBox="1"/>
          <p:nvPr/>
        </p:nvSpPr>
        <p:spPr>
          <a:xfrm>
            <a:off x="5378958" y="5742432"/>
            <a:ext cx="1133856" cy="256032"/>
          </a:xfrm>
          <a:prstGeom prst="rect">
            <a:avLst/>
          </a:prstGeom>
          <a:noFill/>
          <a:ln/>
        </p:spPr>
        <p:txBody>
          <a:bodyPr wrap="square" lIns="0" tIns="0" rIns="0" bIns="0" rtlCol="0" anchor="ctr"/>
          <a:lstStyle/>
          <a:p>
            <a:pPr indent="0" marL="0">
              <a:buNone/>
            </a:pPr>
            <a:r>
              <a:rPr lang="en-US" sz="630" dirty="0">
                <a:solidFill>
                  <a:srgbClr val="1A1A1A"/>
                </a:solidFill>
                <a:latin typeface="Trenda IG Text" pitchFamily="34" charset="0"/>
                <a:ea typeface="Trenda IG Text" pitchFamily="34" charset="-122"/>
                <a:cs typeface="Trenda IG Text" pitchFamily="34" charset="-120"/>
              </a:rPr>
              <a:t>resolved entities, provenance</a:t>
            </a:r>
            <a:endParaRPr lang="en-US" sz="630" dirty="0"/>
          </a:p>
        </p:txBody>
      </p:sp>
      <p:sp>
        <p:nvSpPr>
          <p:cNvPr id="236" name="Shape 234"/>
          <p:cNvSpPr/>
          <p:nvPr/>
        </p:nvSpPr>
        <p:spPr>
          <a:xfrm>
            <a:off x="6601968" y="5742432"/>
            <a:ext cx="1325880" cy="256032"/>
          </a:xfrm>
          <a:prstGeom prst="rect">
            <a:avLst/>
          </a:prstGeom>
          <a:solidFill>
            <a:srgbClr val="FFFFFF"/>
          </a:solidFill>
          <a:ln w="9525">
            <a:solidFill>
              <a:srgbClr val="D5D9DE"/>
            </a:solidFill>
            <a:prstDash val="solid"/>
          </a:ln>
        </p:spPr>
      </p:sp>
      <p:sp>
        <p:nvSpPr>
          <p:cNvPr id="237" name="Shape 235"/>
          <p:cNvSpPr/>
          <p:nvPr/>
        </p:nvSpPr>
        <p:spPr>
          <a:xfrm>
            <a:off x="6665976" y="5833872"/>
            <a:ext cx="64008" cy="64008"/>
          </a:xfrm>
          <a:prstGeom prst="rect">
            <a:avLst/>
          </a:prstGeom>
          <a:solidFill>
            <a:srgbClr val="C2185B"/>
          </a:solidFill>
          <a:ln/>
        </p:spPr>
      </p:sp>
      <p:sp>
        <p:nvSpPr>
          <p:cNvPr id="238" name="Text 236"/>
          <p:cNvSpPr txBox="1"/>
          <p:nvPr/>
        </p:nvSpPr>
        <p:spPr>
          <a:xfrm>
            <a:off x="6757416" y="5742432"/>
            <a:ext cx="1133856" cy="256032"/>
          </a:xfrm>
          <a:prstGeom prst="rect">
            <a:avLst/>
          </a:prstGeom>
          <a:noFill/>
          <a:ln/>
        </p:spPr>
        <p:txBody>
          <a:bodyPr wrap="square" lIns="0" tIns="0" rIns="0" bIns="0" rtlCol="0" anchor="ctr"/>
          <a:lstStyle/>
          <a:p>
            <a:pPr indent="0" marL="0">
              <a:buNone/>
            </a:pPr>
            <a:r>
              <a:rPr lang="en-US" sz="630" dirty="0">
                <a:solidFill>
                  <a:srgbClr val="1A1A1A"/>
                </a:solidFill>
                <a:latin typeface="Trenda IG Text" pitchFamily="34" charset="0"/>
                <a:ea typeface="Trenda IG Text" pitchFamily="34" charset="-122"/>
                <a:cs typeface="Trenda IG Text" pitchFamily="34" charset="-120"/>
              </a:rPr>
              <a:t>typed CareNetworkContext</a:t>
            </a:r>
            <a:endParaRPr lang="en-US" sz="630" dirty="0"/>
          </a:p>
        </p:txBody>
      </p:sp>
      <p:sp>
        <p:nvSpPr>
          <p:cNvPr id="239" name="Shape 237"/>
          <p:cNvSpPr/>
          <p:nvPr/>
        </p:nvSpPr>
        <p:spPr>
          <a:xfrm>
            <a:off x="7980426" y="5742432"/>
            <a:ext cx="1325880" cy="256032"/>
          </a:xfrm>
          <a:prstGeom prst="rect">
            <a:avLst/>
          </a:prstGeom>
          <a:solidFill>
            <a:srgbClr val="FFFFFF"/>
          </a:solidFill>
          <a:ln w="9525">
            <a:solidFill>
              <a:srgbClr val="D5D9DE"/>
            </a:solidFill>
            <a:prstDash val="solid"/>
          </a:ln>
        </p:spPr>
      </p:sp>
      <p:sp>
        <p:nvSpPr>
          <p:cNvPr id="240" name="Shape 238"/>
          <p:cNvSpPr/>
          <p:nvPr/>
        </p:nvSpPr>
        <p:spPr>
          <a:xfrm>
            <a:off x="8044434" y="5833872"/>
            <a:ext cx="64008" cy="64008"/>
          </a:xfrm>
          <a:prstGeom prst="rect">
            <a:avLst/>
          </a:prstGeom>
          <a:solidFill>
            <a:srgbClr val="C77400"/>
          </a:solidFill>
          <a:ln/>
        </p:spPr>
      </p:sp>
      <p:sp>
        <p:nvSpPr>
          <p:cNvPr id="241" name="Text 239"/>
          <p:cNvSpPr txBox="1"/>
          <p:nvPr/>
        </p:nvSpPr>
        <p:spPr>
          <a:xfrm>
            <a:off x="8135874" y="5742432"/>
            <a:ext cx="1133856" cy="256032"/>
          </a:xfrm>
          <a:prstGeom prst="rect">
            <a:avLst/>
          </a:prstGeom>
          <a:noFill/>
          <a:ln/>
        </p:spPr>
        <p:txBody>
          <a:bodyPr wrap="square" lIns="0" tIns="0" rIns="0" bIns="0" rtlCol="0" anchor="ctr"/>
          <a:lstStyle/>
          <a:p>
            <a:pPr indent="0" marL="0">
              <a:buNone/>
            </a:pPr>
            <a:r>
              <a:rPr lang="en-US" sz="630" dirty="0">
                <a:solidFill>
                  <a:srgbClr val="1A1A1A"/>
                </a:solidFill>
                <a:latin typeface="Trenda IG Text" pitchFamily="34" charset="0"/>
                <a:ea typeface="Trenda IG Text" pitchFamily="34" charset="-122"/>
                <a:cs typeface="Trenda IG Text" pitchFamily="34" charset="-120"/>
              </a:rPr>
              <a:t>immutable JSON snapshot</a:t>
            </a:r>
            <a:endParaRPr lang="en-US" sz="630" dirty="0"/>
          </a:p>
        </p:txBody>
      </p:sp>
      <p:sp>
        <p:nvSpPr>
          <p:cNvPr id="242" name="Shape 240"/>
          <p:cNvSpPr/>
          <p:nvPr/>
        </p:nvSpPr>
        <p:spPr>
          <a:xfrm>
            <a:off x="9358884" y="5742432"/>
            <a:ext cx="1325880" cy="256032"/>
          </a:xfrm>
          <a:prstGeom prst="rect">
            <a:avLst/>
          </a:prstGeom>
          <a:solidFill>
            <a:srgbClr val="FFFFFF"/>
          </a:solidFill>
          <a:ln w="9525">
            <a:solidFill>
              <a:srgbClr val="D5D9DE"/>
            </a:solidFill>
            <a:prstDash val="solid"/>
          </a:ln>
        </p:spPr>
      </p:sp>
      <p:sp>
        <p:nvSpPr>
          <p:cNvPr id="243" name="Shape 241"/>
          <p:cNvSpPr/>
          <p:nvPr/>
        </p:nvSpPr>
        <p:spPr>
          <a:xfrm>
            <a:off x="9422892" y="5833872"/>
            <a:ext cx="64008" cy="64008"/>
          </a:xfrm>
          <a:prstGeom prst="rect">
            <a:avLst/>
          </a:prstGeom>
          <a:solidFill>
            <a:srgbClr val="C62828"/>
          </a:solidFill>
          <a:ln/>
        </p:spPr>
      </p:sp>
      <p:sp>
        <p:nvSpPr>
          <p:cNvPr id="244" name="Text 242"/>
          <p:cNvSpPr txBox="1"/>
          <p:nvPr/>
        </p:nvSpPr>
        <p:spPr>
          <a:xfrm>
            <a:off x="9514332" y="5742432"/>
            <a:ext cx="1133856" cy="256032"/>
          </a:xfrm>
          <a:prstGeom prst="rect">
            <a:avLst/>
          </a:prstGeom>
          <a:noFill/>
          <a:ln/>
        </p:spPr>
        <p:txBody>
          <a:bodyPr wrap="square" lIns="0" tIns="0" rIns="0" bIns="0" rtlCol="0" anchor="ctr"/>
          <a:lstStyle/>
          <a:p>
            <a:pPr indent="0" marL="0">
              <a:buNone/>
            </a:pPr>
            <a:r>
              <a:rPr lang="en-US" sz="630" dirty="0">
                <a:solidFill>
                  <a:srgbClr val="1A1A1A"/>
                </a:solidFill>
                <a:latin typeface="Trenda IG Text" pitchFamily="34" charset="0"/>
                <a:ea typeface="Trenda IG Text" pitchFamily="34" charset="-122"/>
                <a:cs typeface="Trenda IG Text" pitchFamily="34" charset="-120"/>
              </a:rPr>
              <a:t>derived edges, dated indices</a:t>
            </a:r>
            <a:endParaRPr lang="en-US" sz="630" dirty="0"/>
          </a:p>
        </p:txBody>
      </p:sp>
      <p:sp>
        <p:nvSpPr>
          <p:cNvPr id="245" name="Shape 243"/>
          <p:cNvSpPr/>
          <p:nvPr/>
        </p:nvSpPr>
        <p:spPr>
          <a:xfrm>
            <a:off x="10737342" y="5742432"/>
            <a:ext cx="1325880" cy="256032"/>
          </a:xfrm>
          <a:prstGeom prst="rect">
            <a:avLst/>
          </a:prstGeom>
          <a:solidFill>
            <a:srgbClr val="FFFFFF"/>
          </a:solidFill>
          <a:ln w="9525">
            <a:solidFill>
              <a:srgbClr val="D5D9DE"/>
            </a:solidFill>
            <a:prstDash val="solid"/>
          </a:ln>
        </p:spPr>
      </p:sp>
      <p:sp>
        <p:nvSpPr>
          <p:cNvPr id="246" name="Shape 244"/>
          <p:cNvSpPr/>
          <p:nvPr/>
        </p:nvSpPr>
        <p:spPr>
          <a:xfrm>
            <a:off x="10801350" y="5833872"/>
            <a:ext cx="64008" cy="64008"/>
          </a:xfrm>
          <a:prstGeom prst="rect">
            <a:avLst/>
          </a:prstGeom>
          <a:solidFill>
            <a:srgbClr val="2E7D32"/>
          </a:solidFill>
          <a:ln/>
        </p:spPr>
      </p:sp>
      <p:sp>
        <p:nvSpPr>
          <p:cNvPr id="247" name="Text 245"/>
          <p:cNvSpPr txBox="1"/>
          <p:nvPr/>
        </p:nvSpPr>
        <p:spPr>
          <a:xfrm>
            <a:off x="10892790" y="5742432"/>
            <a:ext cx="1133856" cy="256032"/>
          </a:xfrm>
          <a:prstGeom prst="rect">
            <a:avLst/>
          </a:prstGeom>
          <a:noFill/>
          <a:ln/>
        </p:spPr>
        <p:txBody>
          <a:bodyPr wrap="square" lIns="0" tIns="0" rIns="0" bIns="0" rtlCol="0" anchor="ctr"/>
          <a:lstStyle/>
          <a:p>
            <a:pPr indent="0" marL="0">
              <a:buNone/>
            </a:pPr>
            <a:r>
              <a:rPr lang="en-US" sz="630" dirty="0">
                <a:solidFill>
                  <a:srgbClr val="1A1A1A"/>
                </a:solidFill>
                <a:latin typeface="Trenda IG Text" pitchFamily="34" charset="0"/>
                <a:ea typeface="Trenda IG Text" pitchFamily="34" charset="-122"/>
                <a:cs typeface="Trenda IG Text" pitchFamily="34" charset="-120"/>
              </a:rPr>
              <a:t>graph loaded, traversals ready</a:t>
            </a:r>
            <a:endParaRPr lang="en-US" sz="630" dirty="0"/>
          </a:p>
        </p:txBody>
      </p:sp>
      <p:sp>
        <p:nvSpPr>
          <p:cNvPr id="248" name="Shape 246"/>
          <p:cNvSpPr/>
          <p:nvPr/>
        </p:nvSpPr>
        <p:spPr>
          <a:xfrm>
            <a:off x="109728" y="6071616"/>
            <a:ext cx="2937510" cy="722376"/>
          </a:xfrm>
          <a:prstGeom prst="rect">
            <a:avLst/>
          </a:prstGeom>
          <a:solidFill>
            <a:srgbClr val="FFFFFF"/>
          </a:solidFill>
          <a:ln w="9525">
            <a:solidFill>
              <a:srgbClr val="D5D9DE"/>
            </a:solidFill>
            <a:prstDash val="solid"/>
          </a:ln>
        </p:spPr>
      </p:sp>
      <p:sp>
        <p:nvSpPr>
          <p:cNvPr id="249" name="Shape 247"/>
          <p:cNvSpPr/>
          <p:nvPr/>
        </p:nvSpPr>
        <p:spPr>
          <a:xfrm>
            <a:off x="201168" y="6163056"/>
            <a:ext cx="77724" cy="77724"/>
          </a:xfrm>
          <a:prstGeom prst="rect">
            <a:avLst/>
          </a:prstGeom>
          <a:solidFill>
            <a:srgbClr val="7A4FC0"/>
          </a:solidFill>
          <a:ln/>
        </p:spPr>
      </p:sp>
      <p:sp>
        <p:nvSpPr>
          <p:cNvPr id="250" name="Text 248"/>
          <p:cNvSpPr txBox="1"/>
          <p:nvPr/>
        </p:nvSpPr>
        <p:spPr>
          <a:xfrm>
            <a:off x="329184" y="6126480"/>
            <a:ext cx="2633472" cy="155448"/>
          </a:xfrm>
          <a:prstGeom prst="rect">
            <a:avLst/>
          </a:prstGeom>
          <a:noFill/>
          <a:ln/>
        </p:spPr>
        <p:txBody>
          <a:bodyPr wrap="square" lIns="0" tIns="0" rIns="0" bIns="0" rtlCol="0" anchor="t"/>
          <a:lstStyle/>
          <a:p>
            <a:pPr indent="0" marL="0">
              <a:buNone/>
            </a:pPr>
            <a:r>
              <a:rPr lang="en-US" sz="800" dirty="0">
                <a:solidFill>
                  <a:srgbClr val="7A4FC0"/>
                </a:solidFill>
                <a:latin typeface="Trenda IG Display Bold" pitchFamily="34" charset="0"/>
                <a:ea typeface="Trenda IG Display Bold" pitchFamily="34" charset="-122"/>
                <a:cs typeface="Trenda IG Display Bold" pitchFamily="34" charset="-120"/>
              </a:rPr>
              <a:t>Provenance and authority</a:t>
            </a:r>
            <a:endParaRPr lang="en-US" sz="800" dirty="0"/>
          </a:p>
        </p:txBody>
      </p:sp>
      <p:sp>
        <p:nvSpPr>
          <p:cNvPr id="251" name="Text 249"/>
          <p:cNvSpPr txBox="1"/>
          <p:nvPr/>
        </p:nvSpPr>
        <p:spPr>
          <a:xfrm>
            <a:off x="201168" y="6309360"/>
            <a:ext cx="2770632" cy="457200"/>
          </a:xfrm>
          <a:prstGeom prst="rect">
            <a:avLst/>
          </a:prstGeom>
          <a:noFill/>
          <a:ln/>
        </p:spPr>
        <p:txBody>
          <a:bodyPr wrap="square" lIns="0" tIns="0" rIns="0" bIns="0" rtlCol="0" anchor="t"/>
          <a:lstStyle/>
          <a:p>
            <a:pPr indent="0" marL="0">
              <a:lnSpc>
                <a:spcPct val="100000"/>
              </a:lnSpc>
              <a:buNone/>
            </a:pPr>
            <a:r>
              <a:rPr lang="en-US" sz="680" dirty="0">
                <a:solidFill>
                  <a:srgbClr val="1A1A1A"/>
                </a:solidFill>
                <a:latin typeface="Trenda IG Text" pitchFamily="34" charset="0"/>
                <a:ea typeface="Trenda IG Text" pitchFamily="34" charset="-122"/>
                <a:cs typeface="Trenda IG Text" pitchFamily="34" charset="-120"/>
              </a:rPr>
              <a:t>Every node and edge carries source, extract id, content hash, retrievedAt and derivation: FACTUAL, INFERRED or MODELLED. Authority stays with the source system. The graph never becomes the system of record for a clinical fact.</a:t>
            </a:r>
            <a:endParaRPr lang="en-US" sz="680" dirty="0"/>
          </a:p>
        </p:txBody>
      </p:sp>
      <p:sp>
        <p:nvSpPr>
          <p:cNvPr id="252" name="Shape 250"/>
          <p:cNvSpPr/>
          <p:nvPr/>
        </p:nvSpPr>
        <p:spPr>
          <a:xfrm>
            <a:off x="3120390" y="6071616"/>
            <a:ext cx="2937510" cy="722376"/>
          </a:xfrm>
          <a:prstGeom prst="rect">
            <a:avLst/>
          </a:prstGeom>
          <a:solidFill>
            <a:srgbClr val="FFFFFF"/>
          </a:solidFill>
          <a:ln w="9525">
            <a:solidFill>
              <a:srgbClr val="D5D9DE"/>
            </a:solidFill>
            <a:prstDash val="solid"/>
          </a:ln>
        </p:spPr>
      </p:sp>
      <p:sp>
        <p:nvSpPr>
          <p:cNvPr id="253" name="Shape 251"/>
          <p:cNvSpPr/>
          <p:nvPr/>
        </p:nvSpPr>
        <p:spPr>
          <a:xfrm>
            <a:off x="3211830" y="6163056"/>
            <a:ext cx="77724" cy="77724"/>
          </a:xfrm>
          <a:prstGeom prst="rect">
            <a:avLst/>
          </a:prstGeom>
          <a:solidFill>
            <a:srgbClr val="6A1B9A"/>
          </a:solidFill>
          <a:ln/>
        </p:spPr>
      </p:sp>
      <p:sp>
        <p:nvSpPr>
          <p:cNvPr id="254" name="Text 252"/>
          <p:cNvSpPr txBox="1"/>
          <p:nvPr/>
        </p:nvSpPr>
        <p:spPr>
          <a:xfrm>
            <a:off x="3339846" y="6126480"/>
            <a:ext cx="2633472" cy="155448"/>
          </a:xfrm>
          <a:prstGeom prst="rect">
            <a:avLst/>
          </a:prstGeom>
          <a:noFill/>
          <a:ln/>
        </p:spPr>
        <p:txBody>
          <a:bodyPr wrap="square" lIns="0" tIns="0" rIns="0" bIns="0" rtlCol="0" anchor="t"/>
          <a:lstStyle/>
          <a:p>
            <a:pPr indent="0" marL="0">
              <a:buNone/>
            </a:pPr>
            <a:r>
              <a:rPr lang="en-US" sz="800" dirty="0">
                <a:solidFill>
                  <a:srgbClr val="6A1B9A"/>
                </a:solidFill>
                <a:latin typeface="Trenda IG Display Bold" pitchFamily="34" charset="0"/>
                <a:ea typeface="Trenda IG Display Bold" pitchFamily="34" charset="-122"/>
                <a:cs typeface="Trenda IG Display Bold" pitchFamily="34" charset="-120"/>
              </a:rPr>
              <a:t>Threat model, and the control for each</a:t>
            </a:r>
            <a:endParaRPr lang="en-US" sz="800" dirty="0"/>
          </a:p>
        </p:txBody>
      </p:sp>
      <p:sp>
        <p:nvSpPr>
          <p:cNvPr id="255" name="Text 253"/>
          <p:cNvSpPr txBox="1"/>
          <p:nvPr/>
        </p:nvSpPr>
        <p:spPr>
          <a:xfrm>
            <a:off x="3211830" y="6309360"/>
            <a:ext cx="2770632" cy="457200"/>
          </a:xfrm>
          <a:prstGeom prst="rect">
            <a:avLst/>
          </a:prstGeom>
          <a:noFill/>
          <a:ln/>
        </p:spPr>
        <p:txBody>
          <a:bodyPr wrap="square" lIns="0" tIns="0" rIns="0" bIns="0" rtlCol="0" anchor="t"/>
          <a:lstStyle/>
          <a:p>
            <a:pPr indent="0" marL="0">
              <a:lnSpc>
                <a:spcPct val="100000"/>
              </a:lnSpc>
              <a:buNone/>
            </a:pPr>
            <a:r>
              <a:rPr lang="en-US" sz="680" dirty="0">
                <a:solidFill>
                  <a:srgbClr val="1A1A1A"/>
                </a:solidFill>
                <a:latin typeface="Trenda IG Text" pitchFamily="34" charset="0"/>
                <a:ea typeface="Trenda IG Text" pitchFamily="34" charset="-122"/>
                <a:cs typeface="Trenda IG Text" pitchFamily="34" charset="-120"/>
              </a:rPr>
              <a:t>Re-identification from rare attribute combinations: k-anonymity at the query compiler. Insider browsing: purpose of use required per query. PHI reaching a model: aggregates unless BAA covered. Vendor sprawl: no copies leave the boundary.</a:t>
            </a:r>
            <a:endParaRPr lang="en-US" sz="680" dirty="0"/>
          </a:p>
        </p:txBody>
      </p:sp>
      <p:sp>
        <p:nvSpPr>
          <p:cNvPr id="256" name="Shape 254"/>
          <p:cNvSpPr/>
          <p:nvPr/>
        </p:nvSpPr>
        <p:spPr>
          <a:xfrm>
            <a:off x="6131052" y="6071616"/>
            <a:ext cx="2937510" cy="722376"/>
          </a:xfrm>
          <a:prstGeom prst="rect">
            <a:avLst/>
          </a:prstGeom>
          <a:solidFill>
            <a:srgbClr val="FFFFFF"/>
          </a:solidFill>
          <a:ln w="9525">
            <a:solidFill>
              <a:srgbClr val="D5D9DE"/>
            </a:solidFill>
            <a:prstDash val="solid"/>
          </a:ln>
        </p:spPr>
      </p:sp>
      <p:sp>
        <p:nvSpPr>
          <p:cNvPr id="257" name="Shape 255"/>
          <p:cNvSpPr/>
          <p:nvPr/>
        </p:nvSpPr>
        <p:spPr>
          <a:xfrm>
            <a:off x="6222492" y="6163056"/>
            <a:ext cx="77724" cy="77724"/>
          </a:xfrm>
          <a:prstGeom prst="rect">
            <a:avLst/>
          </a:prstGeom>
          <a:solidFill>
            <a:srgbClr val="1B6BC0"/>
          </a:solidFill>
          <a:ln/>
        </p:spPr>
      </p:sp>
      <p:sp>
        <p:nvSpPr>
          <p:cNvPr id="258" name="Text 256"/>
          <p:cNvSpPr txBox="1"/>
          <p:nvPr/>
        </p:nvSpPr>
        <p:spPr>
          <a:xfrm>
            <a:off x="6350508" y="6126480"/>
            <a:ext cx="2633472" cy="155448"/>
          </a:xfrm>
          <a:prstGeom prst="rect">
            <a:avLst/>
          </a:prstGeom>
          <a:noFill/>
          <a:ln/>
        </p:spPr>
        <p:txBody>
          <a:bodyPr wrap="square" lIns="0" tIns="0" rIns="0" bIns="0" rtlCol="0" anchor="t"/>
          <a:lstStyle/>
          <a:p>
            <a:pPr indent="0" marL="0">
              <a:buNone/>
            </a:pPr>
            <a:r>
              <a:rPr lang="en-US" sz="800" dirty="0">
                <a:solidFill>
                  <a:srgbClr val="1B6BC0"/>
                </a:solidFill>
                <a:latin typeface="Trenda IG Display Bold" pitchFamily="34" charset="0"/>
                <a:ea typeface="Trenda IG Display Bold" pitchFamily="34" charset="-122"/>
                <a:cs typeface="Trenda IG Display Bold" pitchFamily="34" charset="-120"/>
              </a:rPr>
              <a:t>Audit and traceability</a:t>
            </a:r>
            <a:endParaRPr lang="en-US" sz="800" dirty="0"/>
          </a:p>
        </p:txBody>
      </p:sp>
      <p:sp>
        <p:nvSpPr>
          <p:cNvPr id="259" name="Text 257"/>
          <p:cNvSpPr txBox="1"/>
          <p:nvPr/>
        </p:nvSpPr>
        <p:spPr>
          <a:xfrm>
            <a:off x="6222492" y="6309360"/>
            <a:ext cx="2770632" cy="457200"/>
          </a:xfrm>
          <a:prstGeom prst="rect">
            <a:avLst/>
          </a:prstGeom>
          <a:noFill/>
          <a:ln/>
        </p:spPr>
        <p:txBody>
          <a:bodyPr wrap="square" lIns="0" tIns="0" rIns="0" bIns="0" rtlCol="0" anchor="t"/>
          <a:lstStyle/>
          <a:p>
            <a:pPr indent="0" marL="0">
              <a:lnSpc>
                <a:spcPct val="100000"/>
              </a:lnSpc>
              <a:buNone/>
            </a:pPr>
            <a:r>
              <a:rPr lang="en-US" sz="680" dirty="0">
                <a:solidFill>
                  <a:srgbClr val="1A1A1A"/>
                </a:solidFill>
                <a:latin typeface="Trenda IG Text" pitchFamily="34" charset="0"/>
                <a:ea typeface="Trenda IG Text" pitchFamily="34" charset="-122"/>
                <a:cs typeface="Trenda IG Text" pitchFamily="34" charset="-120"/>
              </a:rPr>
              <a:t>Every gap resolves back to the source rows that produced it. Every query, answer and cohort is logged with user, purpose, timestamp, snapshot id and the evidence path returned. A gap that cannot be replayed is not published.</a:t>
            </a:r>
            <a:endParaRPr lang="en-US" sz="680" dirty="0"/>
          </a:p>
        </p:txBody>
      </p:sp>
      <p:sp>
        <p:nvSpPr>
          <p:cNvPr id="260" name="Shape 258"/>
          <p:cNvSpPr/>
          <p:nvPr/>
        </p:nvSpPr>
        <p:spPr>
          <a:xfrm>
            <a:off x="9141714" y="6071616"/>
            <a:ext cx="2937510" cy="722376"/>
          </a:xfrm>
          <a:prstGeom prst="rect">
            <a:avLst/>
          </a:prstGeom>
          <a:solidFill>
            <a:srgbClr val="FFFFFF"/>
          </a:solidFill>
          <a:ln w="9525">
            <a:solidFill>
              <a:srgbClr val="D5D9DE"/>
            </a:solidFill>
            <a:prstDash val="solid"/>
          </a:ln>
        </p:spPr>
      </p:sp>
      <p:sp>
        <p:nvSpPr>
          <p:cNvPr id="261" name="Shape 259"/>
          <p:cNvSpPr/>
          <p:nvPr/>
        </p:nvSpPr>
        <p:spPr>
          <a:xfrm>
            <a:off x="9233154" y="6163056"/>
            <a:ext cx="77724" cy="77724"/>
          </a:xfrm>
          <a:prstGeom prst="rect">
            <a:avLst/>
          </a:prstGeom>
          <a:solidFill>
            <a:srgbClr val="2E7D32"/>
          </a:solidFill>
          <a:ln/>
        </p:spPr>
      </p:sp>
      <p:sp>
        <p:nvSpPr>
          <p:cNvPr id="262" name="Text 260"/>
          <p:cNvSpPr txBox="1"/>
          <p:nvPr/>
        </p:nvSpPr>
        <p:spPr>
          <a:xfrm>
            <a:off x="9361170" y="6126480"/>
            <a:ext cx="2633472" cy="155448"/>
          </a:xfrm>
          <a:prstGeom prst="rect">
            <a:avLst/>
          </a:prstGeom>
          <a:noFill/>
          <a:ln/>
        </p:spPr>
        <p:txBody>
          <a:bodyPr wrap="square" lIns="0" tIns="0" rIns="0" bIns="0" rtlCol="0" anchor="t"/>
          <a:lstStyle/>
          <a:p>
            <a:pPr indent="0" marL="0">
              <a:buNone/>
            </a:pPr>
            <a:r>
              <a:rPr lang="en-US" sz="800" dirty="0">
                <a:solidFill>
                  <a:srgbClr val="2E7D32"/>
                </a:solidFill>
                <a:latin typeface="Trenda IG Display Bold" pitchFamily="34" charset="0"/>
                <a:ea typeface="Trenda IG Display Bold" pitchFamily="34" charset="-122"/>
                <a:cs typeface="Trenda IG Display Bold" pitchFamily="34" charset="-120"/>
              </a:rPr>
              <a:t>Scope of the proof</a:t>
            </a:r>
            <a:endParaRPr lang="en-US" sz="800" dirty="0"/>
          </a:p>
        </p:txBody>
      </p:sp>
      <p:sp>
        <p:nvSpPr>
          <p:cNvPr id="263" name="Text 261"/>
          <p:cNvSpPr txBox="1"/>
          <p:nvPr/>
        </p:nvSpPr>
        <p:spPr>
          <a:xfrm>
            <a:off x="9233154" y="6309360"/>
            <a:ext cx="2770632" cy="457200"/>
          </a:xfrm>
          <a:prstGeom prst="rect">
            <a:avLst/>
          </a:prstGeom>
          <a:noFill/>
          <a:ln/>
        </p:spPr>
        <p:txBody>
          <a:bodyPr wrap="square" lIns="0" tIns="0" rIns="0" bIns="0" rtlCol="0" anchor="t"/>
          <a:lstStyle/>
          <a:p>
            <a:pPr indent="0" marL="0">
              <a:lnSpc>
                <a:spcPct val="100000"/>
              </a:lnSpc>
              <a:buNone/>
            </a:pPr>
            <a:r>
              <a:rPr lang="en-US" sz="680" dirty="0">
                <a:solidFill>
                  <a:srgbClr val="1A1A1A"/>
                </a:solidFill>
                <a:latin typeface="Trenda IG Text" pitchFamily="34" charset="0"/>
                <a:ea typeface="Trenda IG Text" pitchFamily="34" charset="-122"/>
                <a:cs typeface="Trenda IG Text" pitchFamily="34" charset="-120"/>
              </a:rPr>
              <a:t>One market, two service lines, ninety days. Build order: privacy boundary, then identity, then graph, then two gap engines, then one what-if. Success is a gap list a clinical leader and a network leader both sign.</a:t>
            </a:r>
            <a:endParaRPr lang="en-US" sz="6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E1B2E"/>
          </a:solidFill>
          <a:ln/>
        </p:spPr>
      </p:sp>
      <p:sp>
        <p:nvSpPr>
          <p:cNvPr id="3" name="Text 1"/>
          <p:cNvSpPr txBox="1"/>
          <p:nvPr/>
        </p:nvSpPr>
        <p:spPr>
          <a:xfrm>
            <a:off x="457200" y="137160"/>
            <a:ext cx="7315200" cy="192024"/>
          </a:xfrm>
          <a:prstGeom prst="rect">
            <a:avLst/>
          </a:prstGeom>
          <a:noFill/>
          <a:ln/>
        </p:spPr>
        <p:txBody>
          <a:bodyPr wrap="square" lIns="0" tIns="0" rIns="0" bIns="0" rtlCol="0" anchor="t"/>
          <a:lstStyle/>
          <a:p>
            <a:pPr indent="0" marL="0">
              <a:buNone/>
            </a:pPr>
            <a:r>
              <a:rPr lang="en-US" sz="1050" spc="120" kern="0" dirty="0">
                <a:solidFill>
                  <a:srgbClr val="5FD0C0"/>
                </a:solidFill>
                <a:latin typeface="Trenda IG Display Semibold" pitchFamily="34" charset="0"/>
                <a:ea typeface="Trenda IG Display Semibold" pitchFamily="34" charset="-122"/>
                <a:cs typeface="Trenda IG Display Semibold" pitchFamily="34" charset="-120"/>
              </a:rPr>
              <a:t>TWELVE SCENARIOS, ONE ENGINE</a:t>
            </a:r>
            <a:endParaRPr lang="en-US" sz="1050" dirty="0"/>
          </a:p>
        </p:txBody>
      </p:sp>
      <p:sp>
        <p:nvSpPr>
          <p:cNvPr id="4" name="Text 2"/>
          <p:cNvSpPr txBox="1"/>
          <p:nvPr/>
        </p:nvSpPr>
        <p:spPr>
          <a:xfrm>
            <a:off x="457200" y="365760"/>
            <a:ext cx="8229600" cy="347472"/>
          </a:xfrm>
          <a:prstGeom prst="rect">
            <a:avLst/>
          </a:prstGeom>
          <a:noFill/>
          <a:ln/>
        </p:spPr>
        <p:txBody>
          <a:bodyPr wrap="square" lIns="0" tIns="0" rIns="0" bIns="0" rtlCol="0" anchor="t"/>
          <a:lstStyle/>
          <a:p>
            <a:pPr indent="0" marL="0">
              <a:buNone/>
            </a:pPr>
            <a:r>
              <a:rPr lang="en-US" sz="2200" dirty="0">
                <a:solidFill>
                  <a:srgbClr val="FFFFFF"/>
                </a:solidFill>
                <a:latin typeface="Trenda IG Display Bold" pitchFamily="34" charset="0"/>
                <a:ea typeface="Trenda IG Display Bold" pitchFamily="34" charset="-122"/>
                <a:cs typeface="Trenda IG Display Bold" pitchFamily="34" charset="-120"/>
              </a:rPr>
              <a:t>What the provider, facility and patient graph answers</a:t>
            </a:r>
            <a:endParaRPr lang="en-US" sz="2200" dirty="0"/>
          </a:p>
        </p:txBody>
      </p:sp>
      <p:sp>
        <p:nvSpPr>
          <p:cNvPr id="5" name="Text 3"/>
          <p:cNvSpPr txBox="1"/>
          <p:nvPr/>
        </p:nvSpPr>
        <p:spPr>
          <a:xfrm>
            <a:off x="8915400" y="219456"/>
            <a:ext cx="2834640" cy="457200"/>
          </a:xfrm>
          <a:prstGeom prst="rect">
            <a:avLst/>
          </a:prstGeom>
          <a:noFill/>
          <a:ln/>
        </p:spPr>
        <p:txBody>
          <a:bodyPr wrap="square" lIns="0" tIns="0" rIns="0" bIns="0" rtlCol="0" anchor="t"/>
          <a:lstStyle/>
          <a:p>
            <a:pPr indent="0" marL="0">
              <a:lnSpc>
                <a:spcPct val="108000"/>
              </a:lnSpc>
              <a:buNone/>
            </a:pPr>
            <a:r>
              <a:rPr lang="en-US" sz="900" dirty="0">
                <a:solidFill>
                  <a:srgbClr val="A9B4C2"/>
                </a:solidFill>
                <a:latin typeface="Trenda IG Text Light" pitchFamily="34" charset="0"/>
                <a:ea typeface="Trenda IG Text Light" pitchFamily="34" charset="-122"/>
                <a:cs typeface="Trenda IG Text Light" pitchFamily="34" charset="-120"/>
              </a:rPr>
              <a:t>Every scenario is the same query shape:</a:t>
            </a:r>
            <a:endParaRPr lang="en-US" sz="900" dirty="0"/>
          </a:p>
          <a:p>
            <a:pPr indent="0" marL="0">
              <a:lnSpc>
                <a:spcPct val="108000"/>
              </a:lnSpc>
              <a:buNone/>
            </a:pPr>
            <a:r>
              <a:rPr lang="en-US" sz="900" dirty="0">
                <a:solidFill>
                  <a:srgbClr val="A9B4C2"/>
                </a:solidFill>
                <a:latin typeface="Trenda IG Text Light" pitchFamily="34" charset="0"/>
                <a:ea typeface="Trenda IG Text Light" pitchFamily="34" charset="-122"/>
                <a:cs typeface="Trenda IG Text Light" pitchFamily="34" charset="-120"/>
              </a:rPr>
              <a:t>the demand path exists, the supply path does not.</a:t>
            </a:r>
            <a:endParaRPr lang="en-US" sz="900" dirty="0"/>
          </a:p>
        </p:txBody>
      </p:sp>
      <p:sp>
        <p:nvSpPr>
          <p:cNvPr id="6" name="Shape 4"/>
          <p:cNvSpPr/>
          <p:nvPr/>
        </p:nvSpPr>
        <p:spPr>
          <a:xfrm>
            <a:off x="109728" y="1005840"/>
            <a:ext cx="2916936" cy="292608"/>
          </a:xfrm>
          <a:prstGeom prst="rect">
            <a:avLst/>
          </a:prstGeom>
          <a:solidFill>
            <a:srgbClr val="1B6BC0"/>
          </a:solidFill>
          <a:ln/>
        </p:spPr>
      </p:sp>
      <p:sp>
        <p:nvSpPr>
          <p:cNvPr id="7" name="Text 5"/>
          <p:cNvSpPr txBox="1"/>
          <p:nvPr/>
        </p:nvSpPr>
        <p:spPr>
          <a:xfrm>
            <a:off x="228600" y="1005840"/>
            <a:ext cx="2715768" cy="292608"/>
          </a:xfrm>
          <a:prstGeom prst="rect">
            <a:avLst/>
          </a:prstGeom>
          <a:noFill/>
          <a:ln/>
        </p:spPr>
        <p:txBody>
          <a:bodyPr wrap="square" lIns="0" tIns="0" rIns="0" bIns="0" rtlCol="0" anchor="ctr"/>
          <a:lstStyle/>
          <a:p>
            <a:pPr indent="0" marL="0">
              <a:buNone/>
            </a:pPr>
            <a:r>
              <a:rPr lang="en-US" sz="850" spc="40" kern="0" dirty="0">
                <a:solidFill>
                  <a:srgbClr val="FFFFFF"/>
                </a:solidFill>
                <a:latin typeface="Trenda IG Display Bold" pitchFamily="34" charset="0"/>
                <a:ea typeface="Trenda IG Display Bold" pitchFamily="34" charset="-122"/>
                <a:cs typeface="Trenda IG Display Bold" pitchFamily="34" charset="-120"/>
              </a:rPr>
              <a:t>A  ·  SUPPLY AND DEMAND MISMATCH</a:t>
            </a:r>
            <a:endParaRPr lang="en-US" sz="850" dirty="0"/>
          </a:p>
        </p:txBody>
      </p:sp>
      <p:sp>
        <p:nvSpPr>
          <p:cNvPr id="8" name="Shape 6"/>
          <p:cNvSpPr/>
          <p:nvPr/>
        </p:nvSpPr>
        <p:spPr>
          <a:xfrm>
            <a:off x="109728" y="1389888"/>
            <a:ext cx="2916936" cy="1490472"/>
          </a:xfrm>
          <a:prstGeom prst="rect">
            <a:avLst/>
          </a:prstGeom>
          <a:solidFill>
            <a:srgbClr val="F4F6F9"/>
          </a:solidFill>
          <a:ln w="9525">
            <a:solidFill>
              <a:srgbClr val="D5D9DE"/>
            </a:solidFill>
            <a:prstDash val="solid"/>
          </a:ln>
        </p:spPr>
      </p:sp>
      <p:sp>
        <p:nvSpPr>
          <p:cNvPr id="9" name="Text 7"/>
          <p:cNvSpPr txBox="1"/>
          <p:nvPr/>
        </p:nvSpPr>
        <p:spPr>
          <a:xfrm>
            <a:off x="246888" y="1508760"/>
            <a:ext cx="2642616" cy="310896"/>
          </a:xfrm>
          <a:prstGeom prst="rect">
            <a:avLst/>
          </a:prstGeom>
          <a:noFill/>
          <a:ln/>
        </p:spPr>
        <p:txBody>
          <a:bodyPr wrap="square" lIns="0" tIns="0" rIns="0" bIns="0" rtlCol="0" anchor="t"/>
          <a:lstStyle/>
          <a:p>
            <a:pPr indent="0" marL="0">
              <a:lnSpc>
                <a:spcPct val="95000"/>
              </a:lnSpc>
              <a:buNone/>
            </a:pPr>
            <a:r>
              <a:rPr lang="en-US" sz="1150" dirty="0">
                <a:solidFill>
                  <a:srgbClr val="1A1A1A"/>
                </a:solidFill>
                <a:latin typeface="Trenda IG Display Bold" pitchFamily="34" charset="0"/>
                <a:ea typeface="Trenda IG Display Bold" pitchFamily="34" charset="-122"/>
                <a:cs typeface="Trenda IG Display Bold" pitchFamily="34" charset="-120"/>
              </a:rPr>
              <a:t>1  Demand without supply</a:t>
            </a:r>
            <a:endParaRPr lang="en-US" sz="1150" dirty="0"/>
          </a:p>
        </p:txBody>
      </p:sp>
      <p:sp>
        <p:nvSpPr>
          <p:cNvPr id="10" name="Text 8"/>
          <p:cNvSpPr txBox="1"/>
          <p:nvPr/>
        </p:nvSpPr>
        <p:spPr>
          <a:xfrm>
            <a:off x="246888" y="1883664"/>
            <a:ext cx="2642616" cy="128016"/>
          </a:xfrm>
          <a:prstGeom prst="rect">
            <a:avLst/>
          </a:prstGeom>
          <a:noFill/>
          <a:ln/>
        </p:spPr>
        <p:txBody>
          <a:bodyPr wrap="square" lIns="0" tIns="0" rIns="0" bIns="0" rtlCol="0" anchor="t"/>
          <a:lstStyle/>
          <a:p>
            <a:pPr indent="0" marL="0">
              <a:buNone/>
            </a:pPr>
            <a:r>
              <a:rPr lang="en-US" sz="620" spc="50" kern="0" dirty="0">
                <a:solidFill>
                  <a:srgbClr val="5A6573"/>
                </a:solidFill>
                <a:latin typeface="Trenda IG Text Semibold" pitchFamily="34" charset="0"/>
                <a:ea typeface="Trenda IG Text Semibold" pitchFamily="34" charset="-122"/>
                <a:cs typeface="Trenda IG Text Semibold" pitchFamily="34" charset="-120"/>
              </a:rPr>
              <a:t>IN THE GRAPH</a:t>
            </a:r>
            <a:endParaRPr lang="en-US" sz="620" dirty="0"/>
          </a:p>
        </p:txBody>
      </p:sp>
      <p:sp>
        <p:nvSpPr>
          <p:cNvPr id="11" name="Text 9"/>
          <p:cNvSpPr txBox="1"/>
          <p:nvPr/>
        </p:nvSpPr>
        <p:spPr>
          <a:xfrm>
            <a:off x="246888" y="2020824"/>
            <a:ext cx="2642616" cy="429768"/>
          </a:xfrm>
          <a:prstGeom prst="rect">
            <a:avLst/>
          </a:prstGeom>
          <a:noFill/>
          <a:ln/>
        </p:spPr>
        <p:txBody>
          <a:bodyPr wrap="square" lIns="0" tIns="0" rIns="0" bIns="0" rtlCol="0" anchor="t"/>
          <a:lstStyle/>
          <a:p>
            <a:pPr indent="0" marL="0">
              <a:lnSpc>
                <a:spcPct val="100000"/>
              </a:lnSpc>
              <a:buNone/>
            </a:pPr>
            <a:r>
              <a:rPr lang="en-US" sz="900" dirty="0">
                <a:solidFill>
                  <a:srgbClr val="1A1A1A"/>
                </a:solidFill>
                <a:latin typeface="Trenda IG Text" pitchFamily="34" charset="0"/>
                <a:ea typeface="Trenda IG Text" pitchFamily="34" charset="-122"/>
                <a:cs typeface="Trenda IG Text" pitchFamily="34" charset="-120"/>
              </a:rPr>
              <a:t>Geography has inflow for a service line and no credentialed provider inside the drive time band</a:t>
            </a:r>
            <a:endParaRPr lang="en-US" sz="900" dirty="0"/>
          </a:p>
        </p:txBody>
      </p:sp>
      <p:sp>
        <p:nvSpPr>
          <p:cNvPr id="12" name="Shape 10"/>
          <p:cNvSpPr/>
          <p:nvPr/>
        </p:nvSpPr>
        <p:spPr>
          <a:xfrm>
            <a:off x="246888" y="2505456"/>
            <a:ext cx="68580" cy="68580"/>
          </a:xfrm>
          <a:prstGeom prst="rect">
            <a:avLst/>
          </a:prstGeom>
          <a:solidFill>
            <a:srgbClr val="1B6BC0"/>
          </a:solidFill>
          <a:ln/>
        </p:spPr>
      </p:sp>
      <p:sp>
        <p:nvSpPr>
          <p:cNvPr id="13" name="Text 11"/>
          <p:cNvSpPr txBox="1"/>
          <p:nvPr/>
        </p:nvSpPr>
        <p:spPr>
          <a:xfrm>
            <a:off x="374904" y="2459736"/>
            <a:ext cx="2514600" cy="347472"/>
          </a:xfrm>
          <a:prstGeom prst="rect">
            <a:avLst/>
          </a:prstGeom>
          <a:noFill/>
          <a:ln/>
        </p:spPr>
        <p:txBody>
          <a:bodyPr wrap="square" lIns="0" tIns="0" rIns="0" bIns="0" rtlCol="0" anchor="t"/>
          <a:lstStyle/>
          <a:p>
            <a:pPr indent="0" marL="0">
              <a:lnSpc>
                <a:spcPct val="98000"/>
              </a:lnSpc>
              <a:buNone/>
            </a:pPr>
            <a:r>
              <a:rPr lang="en-US" sz="860" dirty="0">
                <a:solidFill>
                  <a:srgbClr val="1B6BC0"/>
                </a:solidFill>
                <a:latin typeface="Trenda IG Text Semibold" pitchFamily="34" charset="0"/>
                <a:ea typeface="Trenda IG Text Semibold" pitchFamily="34" charset="-122"/>
                <a:cs typeface="Trenda IG Text Semibold" pitchFamily="34" charset="-120"/>
              </a:rPr>
              <a:t>Recruit, locum, telehealth or a transfer agreement</a:t>
            </a:r>
            <a:endParaRPr lang="en-US" sz="860" dirty="0"/>
          </a:p>
        </p:txBody>
      </p:sp>
      <p:sp>
        <p:nvSpPr>
          <p:cNvPr id="14" name="Shape 12"/>
          <p:cNvSpPr/>
          <p:nvPr/>
        </p:nvSpPr>
        <p:spPr>
          <a:xfrm>
            <a:off x="109728" y="2990088"/>
            <a:ext cx="2916936" cy="1490472"/>
          </a:xfrm>
          <a:prstGeom prst="rect">
            <a:avLst/>
          </a:prstGeom>
          <a:solidFill>
            <a:srgbClr val="F4F6F9"/>
          </a:solidFill>
          <a:ln w="9525">
            <a:solidFill>
              <a:srgbClr val="D5D9DE"/>
            </a:solidFill>
            <a:prstDash val="solid"/>
          </a:ln>
        </p:spPr>
      </p:sp>
      <p:sp>
        <p:nvSpPr>
          <p:cNvPr id="15" name="Text 13"/>
          <p:cNvSpPr txBox="1"/>
          <p:nvPr/>
        </p:nvSpPr>
        <p:spPr>
          <a:xfrm>
            <a:off x="246888" y="3108960"/>
            <a:ext cx="2642616" cy="310896"/>
          </a:xfrm>
          <a:prstGeom prst="rect">
            <a:avLst/>
          </a:prstGeom>
          <a:noFill/>
          <a:ln/>
        </p:spPr>
        <p:txBody>
          <a:bodyPr wrap="square" lIns="0" tIns="0" rIns="0" bIns="0" rtlCol="0" anchor="t"/>
          <a:lstStyle/>
          <a:p>
            <a:pPr indent="0" marL="0">
              <a:lnSpc>
                <a:spcPct val="95000"/>
              </a:lnSpc>
              <a:buNone/>
            </a:pPr>
            <a:r>
              <a:rPr lang="en-US" sz="1150" dirty="0">
                <a:solidFill>
                  <a:srgbClr val="1A1A1A"/>
                </a:solidFill>
                <a:latin typeface="Trenda IG Display Bold" pitchFamily="34" charset="0"/>
                <a:ea typeface="Trenda IG Display Bold" pitchFamily="34" charset="-122"/>
                <a:cs typeface="Trenda IG Display Bold" pitchFamily="34" charset="-120"/>
              </a:rPr>
              <a:t>2  Supply without demand</a:t>
            </a:r>
            <a:endParaRPr lang="en-US" sz="1150" dirty="0"/>
          </a:p>
        </p:txBody>
      </p:sp>
      <p:sp>
        <p:nvSpPr>
          <p:cNvPr id="16" name="Text 14"/>
          <p:cNvSpPr txBox="1"/>
          <p:nvPr/>
        </p:nvSpPr>
        <p:spPr>
          <a:xfrm>
            <a:off x="246888" y="3483864"/>
            <a:ext cx="2642616" cy="128016"/>
          </a:xfrm>
          <a:prstGeom prst="rect">
            <a:avLst/>
          </a:prstGeom>
          <a:noFill/>
          <a:ln/>
        </p:spPr>
        <p:txBody>
          <a:bodyPr wrap="square" lIns="0" tIns="0" rIns="0" bIns="0" rtlCol="0" anchor="t"/>
          <a:lstStyle/>
          <a:p>
            <a:pPr indent="0" marL="0">
              <a:buNone/>
            </a:pPr>
            <a:r>
              <a:rPr lang="en-US" sz="620" spc="50" kern="0" dirty="0">
                <a:solidFill>
                  <a:srgbClr val="5A6573"/>
                </a:solidFill>
                <a:latin typeface="Trenda IG Text Semibold" pitchFamily="34" charset="0"/>
                <a:ea typeface="Trenda IG Text Semibold" pitchFamily="34" charset="-122"/>
                <a:cs typeface="Trenda IG Text Semibold" pitchFamily="34" charset="-120"/>
              </a:rPr>
              <a:t>IN THE GRAPH</a:t>
            </a:r>
            <a:endParaRPr lang="en-US" sz="620" dirty="0"/>
          </a:p>
        </p:txBody>
      </p:sp>
      <p:sp>
        <p:nvSpPr>
          <p:cNvPr id="17" name="Text 15"/>
          <p:cNvSpPr txBox="1"/>
          <p:nvPr/>
        </p:nvSpPr>
        <p:spPr>
          <a:xfrm>
            <a:off x="246888" y="3621024"/>
            <a:ext cx="2642616" cy="429768"/>
          </a:xfrm>
          <a:prstGeom prst="rect">
            <a:avLst/>
          </a:prstGeom>
          <a:noFill/>
          <a:ln/>
        </p:spPr>
        <p:txBody>
          <a:bodyPr wrap="square" lIns="0" tIns="0" rIns="0" bIns="0" rtlCol="0" anchor="t"/>
          <a:lstStyle/>
          <a:p>
            <a:pPr indent="0" marL="0">
              <a:lnSpc>
                <a:spcPct val="100000"/>
              </a:lnSpc>
              <a:buNone/>
            </a:pPr>
            <a:r>
              <a:rPr lang="en-US" sz="900" dirty="0">
                <a:solidFill>
                  <a:srgbClr val="1A1A1A"/>
                </a:solidFill>
                <a:latin typeface="Trenda IG Text" pitchFamily="34" charset="0"/>
                <a:ea typeface="Trenda IG Text" pitchFamily="34" charset="-122"/>
                <a:cs typeface="Trenda IG Text" pitchFamily="34" charset="-120"/>
              </a:rPr>
              <a:t>Sessions and slots exist, encounter volume sits in the bottom decile for the peer group</a:t>
            </a:r>
            <a:endParaRPr lang="en-US" sz="900" dirty="0"/>
          </a:p>
        </p:txBody>
      </p:sp>
      <p:sp>
        <p:nvSpPr>
          <p:cNvPr id="18" name="Shape 16"/>
          <p:cNvSpPr/>
          <p:nvPr/>
        </p:nvSpPr>
        <p:spPr>
          <a:xfrm>
            <a:off x="246888" y="4105656"/>
            <a:ext cx="68580" cy="68580"/>
          </a:xfrm>
          <a:prstGeom prst="rect">
            <a:avLst/>
          </a:prstGeom>
          <a:solidFill>
            <a:srgbClr val="1B6BC0"/>
          </a:solidFill>
          <a:ln/>
        </p:spPr>
      </p:sp>
      <p:sp>
        <p:nvSpPr>
          <p:cNvPr id="19" name="Text 17"/>
          <p:cNvSpPr txBox="1"/>
          <p:nvPr/>
        </p:nvSpPr>
        <p:spPr>
          <a:xfrm>
            <a:off x="374904" y="4059936"/>
            <a:ext cx="2514600" cy="347472"/>
          </a:xfrm>
          <a:prstGeom prst="rect">
            <a:avLst/>
          </a:prstGeom>
          <a:noFill/>
          <a:ln/>
        </p:spPr>
        <p:txBody>
          <a:bodyPr wrap="square" lIns="0" tIns="0" rIns="0" bIns="0" rtlCol="0" anchor="t"/>
          <a:lstStyle/>
          <a:p>
            <a:pPr indent="0" marL="0">
              <a:lnSpc>
                <a:spcPct val="98000"/>
              </a:lnSpc>
              <a:buNone/>
            </a:pPr>
            <a:r>
              <a:rPr lang="en-US" sz="860" dirty="0">
                <a:solidFill>
                  <a:srgbClr val="1B6BC0"/>
                </a:solidFill>
                <a:latin typeface="Trenda IG Text Semibold" pitchFamily="34" charset="0"/>
                <a:ea typeface="Trenda IG Text Semibold" pitchFamily="34" charset="-122"/>
                <a:cs typeface="Trenda IG Text Semibold" pitchFamily="34" charset="-120"/>
              </a:rPr>
              <a:t>Redeploy sessions, re-market, resize the template</a:t>
            </a:r>
            <a:endParaRPr lang="en-US" sz="860" dirty="0"/>
          </a:p>
        </p:txBody>
      </p:sp>
      <p:sp>
        <p:nvSpPr>
          <p:cNvPr id="20" name="Shape 18"/>
          <p:cNvSpPr/>
          <p:nvPr/>
        </p:nvSpPr>
        <p:spPr>
          <a:xfrm>
            <a:off x="109728" y="4590288"/>
            <a:ext cx="2916936" cy="1490472"/>
          </a:xfrm>
          <a:prstGeom prst="rect">
            <a:avLst/>
          </a:prstGeom>
          <a:solidFill>
            <a:srgbClr val="F4F6F9"/>
          </a:solidFill>
          <a:ln w="9525">
            <a:solidFill>
              <a:srgbClr val="D5D9DE"/>
            </a:solidFill>
            <a:prstDash val="solid"/>
          </a:ln>
        </p:spPr>
      </p:sp>
      <p:sp>
        <p:nvSpPr>
          <p:cNvPr id="21" name="Text 19"/>
          <p:cNvSpPr txBox="1"/>
          <p:nvPr/>
        </p:nvSpPr>
        <p:spPr>
          <a:xfrm>
            <a:off x="246888" y="4709160"/>
            <a:ext cx="2642616" cy="310896"/>
          </a:xfrm>
          <a:prstGeom prst="rect">
            <a:avLst/>
          </a:prstGeom>
          <a:noFill/>
          <a:ln/>
        </p:spPr>
        <p:txBody>
          <a:bodyPr wrap="square" lIns="0" tIns="0" rIns="0" bIns="0" rtlCol="0" anchor="t"/>
          <a:lstStyle/>
          <a:p>
            <a:pPr indent="0" marL="0">
              <a:lnSpc>
                <a:spcPct val="95000"/>
              </a:lnSpc>
              <a:buNone/>
            </a:pPr>
            <a:r>
              <a:rPr lang="en-US" sz="1150" dirty="0">
                <a:solidFill>
                  <a:srgbClr val="1A1A1A"/>
                </a:solidFill>
                <a:latin typeface="Trenda IG Display Bold" pitchFamily="34" charset="0"/>
                <a:ea typeface="Trenda IG Display Bold" pitchFamily="34" charset="-122"/>
                <a:cs typeface="Trenda IG Display Bold" pitchFamily="34" charset="-120"/>
              </a:rPr>
              <a:t>3  Capability and credential mismatch</a:t>
            </a:r>
            <a:endParaRPr lang="en-US" sz="1150" dirty="0"/>
          </a:p>
        </p:txBody>
      </p:sp>
      <p:sp>
        <p:nvSpPr>
          <p:cNvPr id="22" name="Text 20"/>
          <p:cNvSpPr txBox="1"/>
          <p:nvPr/>
        </p:nvSpPr>
        <p:spPr>
          <a:xfrm>
            <a:off x="246888" y="5084064"/>
            <a:ext cx="2642616" cy="128016"/>
          </a:xfrm>
          <a:prstGeom prst="rect">
            <a:avLst/>
          </a:prstGeom>
          <a:noFill/>
          <a:ln/>
        </p:spPr>
        <p:txBody>
          <a:bodyPr wrap="square" lIns="0" tIns="0" rIns="0" bIns="0" rtlCol="0" anchor="t"/>
          <a:lstStyle/>
          <a:p>
            <a:pPr indent="0" marL="0">
              <a:buNone/>
            </a:pPr>
            <a:r>
              <a:rPr lang="en-US" sz="620" spc="50" kern="0" dirty="0">
                <a:solidFill>
                  <a:srgbClr val="5A6573"/>
                </a:solidFill>
                <a:latin typeface="Trenda IG Text Semibold" pitchFamily="34" charset="0"/>
                <a:ea typeface="Trenda IG Text Semibold" pitchFamily="34" charset="-122"/>
                <a:cs typeface="Trenda IG Text Semibold" pitchFamily="34" charset="-120"/>
              </a:rPr>
              <a:t>IN THE GRAPH</a:t>
            </a:r>
            <a:endParaRPr lang="en-US" sz="620" dirty="0"/>
          </a:p>
        </p:txBody>
      </p:sp>
      <p:sp>
        <p:nvSpPr>
          <p:cNvPr id="23" name="Text 21"/>
          <p:cNvSpPr txBox="1"/>
          <p:nvPr/>
        </p:nvSpPr>
        <p:spPr>
          <a:xfrm>
            <a:off x="246888" y="5221224"/>
            <a:ext cx="2642616" cy="429768"/>
          </a:xfrm>
          <a:prstGeom prst="rect">
            <a:avLst/>
          </a:prstGeom>
          <a:noFill/>
          <a:ln/>
        </p:spPr>
        <p:txBody>
          <a:bodyPr wrap="square" lIns="0" tIns="0" rIns="0" bIns="0" rtlCol="0" anchor="t"/>
          <a:lstStyle/>
          <a:p>
            <a:pPr indent="0" marL="0">
              <a:lnSpc>
                <a:spcPct val="100000"/>
              </a:lnSpc>
              <a:buNone/>
            </a:pPr>
            <a:r>
              <a:rPr lang="en-US" sz="900" dirty="0">
                <a:solidFill>
                  <a:srgbClr val="1A1A1A"/>
                </a:solidFill>
                <a:latin typeface="Trenda IG Text" pitchFamily="34" charset="0"/>
                <a:ea typeface="Trenda IG Text" pitchFamily="34" charset="-122"/>
                <a:cs typeface="Trenda IG Text" pitchFamily="34" charset="-120"/>
              </a:rPr>
              <a:t>The site holds the asset, cath lab, MRI, labour and delivery, with nobody privileged to use it</a:t>
            </a:r>
            <a:endParaRPr lang="en-US" sz="900" dirty="0"/>
          </a:p>
        </p:txBody>
      </p:sp>
      <p:sp>
        <p:nvSpPr>
          <p:cNvPr id="24" name="Shape 22"/>
          <p:cNvSpPr/>
          <p:nvPr/>
        </p:nvSpPr>
        <p:spPr>
          <a:xfrm>
            <a:off x="246888" y="5705856"/>
            <a:ext cx="68580" cy="68580"/>
          </a:xfrm>
          <a:prstGeom prst="rect">
            <a:avLst/>
          </a:prstGeom>
          <a:solidFill>
            <a:srgbClr val="1B6BC0"/>
          </a:solidFill>
          <a:ln/>
        </p:spPr>
      </p:sp>
      <p:sp>
        <p:nvSpPr>
          <p:cNvPr id="25" name="Text 23"/>
          <p:cNvSpPr txBox="1"/>
          <p:nvPr/>
        </p:nvSpPr>
        <p:spPr>
          <a:xfrm>
            <a:off x="374904" y="5660136"/>
            <a:ext cx="2514600" cy="347472"/>
          </a:xfrm>
          <a:prstGeom prst="rect">
            <a:avLst/>
          </a:prstGeom>
          <a:noFill/>
          <a:ln/>
        </p:spPr>
        <p:txBody>
          <a:bodyPr wrap="square" lIns="0" tIns="0" rIns="0" bIns="0" rtlCol="0" anchor="t"/>
          <a:lstStyle/>
          <a:p>
            <a:pPr indent="0" marL="0">
              <a:lnSpc>
                <a:spcPct val="98000"/>
              </a:lnSpc>
              <a:buNone/>
            </a:pPr>
            <a:r>
              <a:rPr lang="en-US" sz="860" dirty="0">
                <a:solidFill>
                  <a:srgbClr val="1B6BC0"/>
                </a:solidFill>
                <a:latin typeface="Trenda IG Text Semibold" pitchFamily="34" charset="0"/>
                <a:ea typeface="Trenda IG Text Semibold" pitchFamily="34" charset="-122"/>
                <a:cs typeface="Trenda IG Text Semibold" pitchFamily="34" charset="-120"/>
              </a:rPr>
              <a:t>Privilege, credential, or move the asset</a:t>
            </a:r>
            <a:endParaRPr lang="en-US" sz="860" dirty="0"/>
          </a:p>
        </p:txBody>
      </p:sp>
      <p:sp>
        <p:nvSpPr>
          <p:cNvPr id="26" name="Shape 24"/>
          <p:cNvSpPr/>
          <p:nvPr/>
        </p:nvSpPr>
        <p:spPr>
          <a:xfrm>
            <a:off x="3120390" y="1005840"/>
            <a:ext cx="2916936" cy="292608"/>
          </a:xfrm>
          <a:prstGeom prst="rect">
            <a:avLst/>
          </a:prstGeom>
          <a:solidFill>
            <a:srgbClr val="C2185B"/>
          </a:solidFill>
          <a:ln/>
        </p:spPr>
      </p:sp>
      <p:sp>
        <p:nvSpPr>
          <p:cNvPr id="27" name="Text 25"/>
          <p:cNvSpPr txBox="1"/>
          <p:nvPr/>
        </p:nvSpPr>
        <p:spPr>
          <a:xfrm>
            <a:off x="3239262" y="1005840"/>
            <a:ext cx="2715768" cy="292608"/>
          </a:xfrm>
          <a:prstGeom prst="rect">
            <a:avLst/>
          </a:prstGeom>
          <a:noFill/>
          <a:ln/>
        </p:spPr>
        <p:txBody>
          <a:bodyPr wrap="square" lIns="0" tIns="0" rIns="0" bIns="0" rtlCol="0" anchor="ctr"/>
          <a:lstStyle/>
          <a:p>
            <a:pPr indent="0" marL="0">
              <a:buNone/>
            </a:pPr>
            <a:r>
              <a:rPr lang="en-US" sz="850" spc="40" kern="0" dirty="0">
                <a:solidFill>
                  <a:srgbClr val="FFFFFF"/>
                </a:solidFill>
                <a:latin typeface="Trenda IG Display Bold" pitchFamily="34" charset="0"/>
                <a:ea typeface="Trenda IG Display Bold" pitchFamily="34" charset="-122"/>
                <a:cs typeface="Trenda IG Display Bold" pitchFamily="34" charset="-120"/>
              </a:rPr>
              <a:t>B  ·  NETWORK COMPLETENESS</a:t>
            </a:r>
            <a:endParaRPr lang="en-US" sz="850" dirty="0"/>
          </a:p>
        </p:txBody>
      </p:sp>
      <p:sp>
        <p:nvSpPr>
          <p:cNvPr id="28" name="Shape 26"/>
          <p:cNvSpPr/>
          <p:nvPr/>
        </p:nvSpPr>
        <p:spPr>
          <a:xfrm>
            <a:off x="3120390" y="1389888"/>
            <a:ext cx="2916936" cy="1490472"/>
          </a:xfrm>
          <a:prstGeom prst="rect">
            <a:avLst/>
          </a:prstGeom>
          <a:solidFill>
            <a:srgbClr val="F4F6F9"/>
          </a:solidFill>
          <a:ln w="9525">
            <a:solidFill>
              <a:srgbClr val="D5D9DE"/>
            </a:solidFill>
            <a:prstDash val="solid"/>
          </a:ln>
        </p:spPr>
      </p:sp>
      <p:sp>
        <p:nvSpPr>
          <p:cNvPr id="29" name="Text 27"/>
          <p:cNvSpPr txBox="1"/>
          <p:nvPr/>
        </p:nvSpPr>
        <p:spPr>
          <a:xfrm>
            <a:off x="3257550" y="1508760"/>
            <a:ext cx="2642616" cy="310896"/>
          </a:xfrm>
          <a:prstGeom prst="rect">
            <a:avLst/>
          </a:prstGeom>
          <a:noFill/>
          <a:ln/>
        </p:spPr>
        <p:txBody>
          <a:bodyPr wrap="square" lIns="0" tIns="0" rIns="0" bIns="0" rtlCol="0" anchor="t"/>
          <a:lstStyle/>
          <a:p>
            <a:pPr indent="0" marL="0">
              <a:lnSpc>
                <a:spcPct val="95000"/>
              </a:lnSpc>
              <a:buNone/>
            </a:pPr>
            <a:r>
              <a:rPr lang="en-US" sz="1150" dirty="0">
                <a:solidFill>
                  <a:srgbClr val="1A1A1A"/>
                </a:solidFill>
                <a:latin typeface="Trenda IG Display Bold" pitchFamily="34" charset="0"/>
                <a:ea typeface="Trenda IG Display Bold" pitchFamily="34" charset="-122"/>
                <a:cs typeface="Trenda IG Display Bold" pitchFamily="34" charset="-120"/>
              </a:rPr>
              <a:t>4  Incomplete service line</a:t>
            </a:r>
            <a:endParaRPr lang="en-US" sz="1150" dirty="0"/>
          </a:p>
        </p:txBody>
      </p:sp>
      <p:sp>
        <p:nvSpPr>
          <p:cNvPr id="30" name="Text 28"/>
          <p:cNvSpPr txBox="1"/>
          <p:nvPr/>
        </p:nvSpPr>
        <p:spPr>
          <a:xfrm>
            <a:off x="3257550" y="1883664"/>
            <a:ext cx="2642616" cy="128016"/>
          </a:xfrm>
          <a:prstGeom prst="rect">
            <a:avLst/>
          </a:prstGeom>
          <a:noFill/>
          <a:ln/>
        </p:spPr>
        <p:txBody>
          <a:bodyPr wrap="square" lIns="0" tIns="0" rIns="0" bIns="0" rtlCol="0" anchor="t"/>
          <a:lstStyle/>
          <a:p>
            <a:pPr indent="0" marL="0">
              <a:buNone/>
            </a:pPr>
            <a:r>
              <a:rPr lang="en-US" sz="620" spc="50" kern="0" dirty="0">
                <a:solidFill>
                  <a:srgbClr val="5A6573"/>
                </a:solidFill>
                <a:latin typeface="Trenda IG Text Semibold" pitchFamily="34" charset="0"/>
                <a:ea typeface="Trenda IG Text Semibold" pitchFamily="34" charset="-122"/>
                <a:cs typeface="Trenda IG Text Semibold" pitchFamily="34" charset="-120"/>
              </a:rPr>
              <a:t>IN THE GRAPH</a:t>
            </a:r>
            <a:endParaRPr lang="en-US" sz="620" dirty="0"/>
          </a:p>
        </p:txBody>
      </p:sp>
      <p:sp>
        <p:nvSpPr>
          <p:cNvPr id="31" name="Text 29"/>
          <p:cNvSpPr txBox="1"/>
          <p:nvPr/>
        </p:nvSpPr>
        <p:spPr>
          <a:xfrm>
            <a:off x="3257550" y="2020824"/>
            <a:ext cx="2642616" cy="429768"/>
          </a:xfrm>
          <a:prstGeom prst="rect">
            <a:avLst/>
          </a:prstGeom>
          <a:noFill/>
          <a:ln/>
        </p:spPr>
        <p:txBody>
          <a:bodyPr wrap="square" lIns="0" tIns="0" rIns="0" bIns="0" rtlCol="0" anchor="t"/>
          <a:lstStyle/>
          <a:p>
            <a:pPr indent="0" marL="0">
              <a:lnSpc>
                <a:spcPct val="100000"/>
              </a:lnSpc>
              <a:buNone/>
            </a:pPr>
            <a:r>
              <a:rPr lang="en-US" sz="900" dirty="0">
                <a:solidFill>
                  <a:srgbClr val="1A1A1A"/>
                </a:solidFill>
                <a:latin typeface="Trenda IG Text" pitchFamily="34" charset="0"/>
                <a:ea typeface="Trenda IG Text" pitchFamily="34" charset="-122"/>
                <a:cs typeface="Trenda IG Text" pitchFamily="34" charset="-120"/>
              </a:rPr>
              <a:t>The line requires N specialties and the site has N minus one, so care finishes somewhere else</a:t>
            </a:r>
            <a:endParaRPr lang="en-US" sz="900" dirty="0"/>
          </a:p>
        </p:txBody>
      </p:sp>
      <p:sp>
        <p:nvSpPr>
          <p:cNvPr id="32" name="Shape 30"/>
          <p:cNvSpPr/>
          <p:nvPr/>
        </p:nvSpPr>
        <p:spPr>
          <a:xfrm>
            <a:off x="3257550" y="2505456"/>
            <a:ext cx="68580" cy="68580"/>
          </a:xfrm>
          <a:prstGeom prst="rect">
            <a:avLst/>
          </a:prstGeom>
          <a:solidFill>
            <a:srgbClr val="C2185B"/>
          </a:solidFill>
          <a:ln/>
        </p:spPr>
      </p:sp>
      <p:sp>
        <p:nvSpPr>
          <p:cNvPr id="33" name="Text 31"/>
          <p:cNvSpPr txBox="1"/>
          <p:nvPr/>
        </p:nvSpPr>
        <p:spPr>
          <a:xfrm>
            <a:off x="3385566" y="2459736"/>
            <a:ext cx="2514600" cy="347472"/>
          </a:xfrm>
          <a:prstGeom prst="rect">
            <a:avLst/>
          </a:prstGeom>
          <a:noFill/>
          <a:ln/>
        </p:spPr>
        <p:txBody>
          <a:bodyPr wrap="square" lIns="0" tIns="0" rIns="0" bIns="0" rtlCol="0" anchor="t"/>
          <a:lstStyle/>
          <a:p>
            <a:pPr indent="0" marL="0">
              <a:lnSpc>
                <a:spcPct val="98000"/>
              </a:lnSpc>
              <a:buNone/>
            </a:pPr>
            <a:r>
              <a:rPr lang="en-US" sz="860" dirty="0">
                <a:solidFill>
                  <a:srgbClr val="C2185B"/>
                </a:solidFill>
                <a:latin typeface="Trenda IG Text Semibold" pitchFamily="34" charset="0"/>
                <a:ea typeface="Trenda IG Text Semibold" pitchFamily="34" charset="-122"/>
                <a:cs typeface="Trenda IG Text Semibold" pitchFamily="34" charset="-120"/>
              </a:rPr>
              <a:t>Close the one gap that unlocks the whole line</a:t>
            </a:r>
            <a:endParaRPr lang="en-US" sz="860" dirty="0"/>
          </a:p>
        </p:txBody>
      </p:sp>
      <p:sp>
        <p:nvSpPr>
          <p:cNvPr id="34" name="Shape 32"/>
          <p:cNvSpPr/>
          <p:nvPr/>
        </p:nvSpPr>
        <p:spPr>
          <a:xfrm>
            <a:off x="3120390" y="2990088"/>
            <a:ext cx="2916936" cy="1490472"/>
          </a:xfrm>
          <a:prstGeom prst="rect">
            <a:avLst/>
          </a:prstGeom>
          <a:solidFill>
            <a:srgbClr val="F4F6F9"/>
          </a:solidFill>
          <a:ln w="9525">
            <a:solidFill>
              <a:srgbClr val="D5D9DE"/>
            </a:solidFill>
            <a:prstDash val="solid"/>
          </a:ln>
        </p:spPr>
      </p:sp>
      <p:sp>
        <p:nvSpPr>
          <p:cNvPr id="35" name="Text 33"/>
          <p:cNvSpPr txBox="1"/>
          <p:nvPr/>
        </p:nvSpPr>
        <p:spPr>
          <a:xfrm>
            <a:off x="3257550" y="3108960"/>
            <a:ext cx="2642616" cy="310896"/>
          </a:xfrm>
          <a:prstGeom prst="rect">
            <a:avLst/>
          </a:prstGeom>
          <a:noFill/>
          <a:ln/>
        </p:spPr>
        <p:txBody>
          <a:bodyPr wrap="square" lIns="0" tIns="0" rIns="0" bIns="0" rtlCol="0" anchor="t"/>
          <a:lstStyle/>
          <a:p>
            <a:pPr indent="0" marL="0">
              <a:lnSpc>
                <a:spcPct val="95000"/>
              </a:lnSpc>
              <a:buNone/>
            </a:pPr>
            <a:r>
              <a:rPr lang="en-US" sz="1150" dirty="0">
                <a:solidFill>
                  <a:srgbClr val="1A1A1A"/>
                </a:solidFill>
                <a:latin typeface="Trenda IG Display Bold" pitchFamily="34" charset="0"/>
                <a:ea typeface="Trenda IG Display Bold" pitchFamily="34" charset="-122"/>
                <a:cs typeface="Trenda IG Display Bold" pitchFamily="34" charset="-120"/>
              </a:rPr>
              <a:t>5  Single point of failure</a:t>
            </a:r>
            <a:endParaRPr lang="en-US" sz="1150" dirty="0"/>
          </a:p>
        </p:txBody>
      </p:sp>
      <p:sp>
        <p:nvSpPr>
          <p:cNvPr id="36" name="Text 34"/>
          <p:cNvSpPr txBox="1"/>
          <p:nvPr/>
        </p:nvSpPr>
        <p:spPr>
          <a:xfrm>
            <a:off x="3257550" y="3483864"/>
            <a:ext cx="2642616" cy="128016"/>
          </a:xfrm>
          <a:prstGeom prst="rect">
            <a:avLst/>
          </a:prstGeom>
          <a:noFill/>
          <a:ln/>
        </p:spPr>
        <p:txBody>
          <a:bodyPr wrap="square" lIns="0" tIns="0" rIns="0" bIns="0" rtlCol="0" anchor="t"/>
          <a:lstStyle/>
          <a:p>
            <a:pPr indent="0" marL="0">
              <a:buNone/>
            </a:pPr>
            <a:r>
              <a:rPr lang="en-US" sz="620" spc="50" kern="0" dirty="0">
                <a:solidFill>
                  <a:srgbClr val="5A6573"/>
                </a:solidFill>
                <a:latin typeface="Trenda IG Text Semibold" pitchFamily="34" charset="0"/>
                <a:ea typeface="Trenda IG Text Semibold" pitchFamily="34" charset="-122"/>
                <a:cs typeface="Trenda IG Text Semibold" pitchFamily="34" charset="-120"/>
              </a:rPr>
              <a:t>IN THE GRAPH</a:t>
            </a:r>
            <a:endParaRPr lang="en-US" sz="620" dirty="0"/>
          </a:p>
        </p:txBody>
      </p:sp>
      <p:sp>
        <p:nvSpPr>
          <p:cNvPr id="37" name="Text 35"/>
          <p:cNvSpPr txBox="1"/>
          <p:nvPr/>
        </p:nvSpPr>
        <p:spPr>
          <a:xfrm>
            <a:off x="3257550" y="3621024"/>
            <a:ext cx="2642616" cy="429768"/>
          </a:xfrm>
          <a:prstGeom prst="rect">
            <a:avLst/>
          </a:prstGeom>
          <a:noFill/>
          <a:ln/>
        </p:spPr>
        <p:txBody>
          <a:bodyPr wrap="square" lIns="0" tIns="0" rIns="0" bIns="0" rtlCol="0" anchor="t"/>
          <a:lstStyle/>
          <a:p>
            <a:pPr indent="0" marL="0">
              <a:lnSpc>
                <a:spcPct val="100000"/>
              </a:lnSpc>
              <a:buNone/>
            </a:pPr>
            <a:r>
              <a:rPr lang="en-US" sz="900" dirty="0">
                <a:solidFill>
                  <a:srgbClr val="1A1A1A"/>
                </a:solidFill>
                <a:latin typeface="Trenda IG Text" pitchFamily="34" charset="0"/>
                <a:ea typeface="Trenda IG Text" pitchFamily="34" charset="-122"/>
                <a:cs typeface="Trenda IG Text" pitchFamily="34" charset="-120"/>
              </a:rPr>
              <a:t>One provider is the only path to a service line in a county, and the graph names them</a:t>
            </a:r>
            <a:endParaRPr lang="en-US" sz="900" dirty="0"/>
          </a:p>
        </p:txBody>
      </p:sp>
      <p:sp>
        <p:nvSpPr>
          <p:cNvPr id="38" name="Shape 36"/>
          <p:cNvSpPr/>
          <p:nvPr/>
        </p:nvSpPr>
        <p:spPr>
          <a:xfrm>
            <a:off x="3257550" y="4105656"/>
            <a:ext cx="68580" cy="68580"/>
          </a:xfrm>
          <a:prstGeom prst="rect">
            <a:avLst/>
          </a:prstGeom>
          <a:solidFill>
            <a:srgbClr val="C2185B"/>
          </a:solidFill>
          <a:ln/>
        </p:spPr>
      </p:sp>
      <p:sp>
        <p:nvSpPr>
          <p:cNvPr id="39" name="Text 37"/>
          <p:cNvSpPr txBox="1"/>
          <p:nvPr/>
        </p:nvSpPr>
        <p:spPr>
          <a:xfrm>
            <a:off x="3385566" y="4059936"/>
            <a:ext cx="2514600" cy="347472"/>
          </a:xfrm>
          <a:prstGeom prst="rect">
            <a:avLst/>
          </a:prstGeom>
          <a:noFill/>
          <a:ln/>
        </p:spPr>
        <p:txBody>
          <a:bodyPr wrap="square" lIns="0" tIns="0" rIns="0" bIns="0" rtlCol="0" anchor="t"/>
          <a:lstStyle/>
          <a:p>
            <a:pPr indent="0" marL="0">
              <a:lnSpc>
                <a:spcPct val="98000"/>
              </a:lnSpc>
              <a:buNone/>
            </a:pPr>
            <a:r>
              <a:rPr lang="en-US" sz="860" dirty="0">
                <a:solidFill>
                  <a:srgbClr val="C2185B"/>
                </a:solidFill>
                <a:latin typeface="Trenda IG Text Semibold" pitchFamily="34" charset="0"/>
                <a:ea typeface="Trenda IG Text Semibold" pitchFamily="34" charset="-122"/>
                <a:cs typeface="Trenda IG Text Semibold" pitchFamily="34" charset="-120"/>
              </a:rPr>
              <a:t>Succession and cross cover, blast radius quantified</a:t>
            </a:r>
            <a:endParaRPr lang="en-US" sz="860" dirty="0"/>
          </a:p>
        </p:txBody>
      </p:sp>
      <p:sp>
        <p:nvSpPr>
          <p:cNvPr id="40" name="Shape 38"/>
          <p:cNvSpPr/>
          <p:nvPr/>
        </p:nvSpPr>
        <p:spPr>
          <a:xfrm>
            <a:off x="3120390" y="4590288"/>
            <a:ext cx="2916936" cy="1490472"/>
          </a:xfrm>
          <a:prstGeom prst="rect">
            <a:avLst/>
          </a:prstGeom>
          <a:solidFill>
            <a:srgbClr val="F4F6F9"/>
          </a:solidFill>
          <a:ln w="9525">
            <a:solidFill>
              <a:srgbClr val="D5D9DE"/>
            </a:solidFill>
            <a:prstDash val="solid"/>
          </a:ln>
        </p:spPr>
      </p:sp>
      <p:sp>
        <p:nvSpPr>
          <p:cNvPr id="41" name="Text 39"/>
          <p:cNvSpPr txBox="1"/>
          <p:nvPr/>
        </p:nvSpPr>
        <p:spPr>
          <a:xfrm>
            <a:off x="3257550" y="4709160"/>
            <a:ext cx="2642616" cy="310896"/>
          </a:xfrm>
          <a:prstGeom prst="rect">
            <a:avLst/>
          </a:prstGeom>
          <a:noFill/>
          <a:ln/>
        </p:spPr>
        <p:txBody>
          <a:bodyPr wrap="square" lIns="0" tIns="0" rIns="0" bIns="0" rtlCol="0" anchor="t"/>
          <a:lstStyle/>
          <a:p>
            <a:pPr indent="0" marL="0">
              <a:lnSpc>
                <a:spcPct val="95000"/>
              </a:lnSpc>
              <a:buNone/>
            </a:pPr>
            <a:r>
              <a:rPr lang="en-US" sz="1150" dirty="0">
                <a:solidFill>
                  <a:srgbClr val="1A1A1A"/>
                </a:solidFill>
                <a:latin typeface="Trenda IG Display Bold" pitchFamily="34" charset="0"/>
                <a:ea typeface="Trenda IG Display Bold" pitchFamily="34" charset="-122"/>
                <a:cs typeface="Trenda IG Display Bold" pitchFamily="34" charset="-120"/>
              </a:rPr>
              <a:t>6  Volume below threshold</a:t>
            </a:r>
            <a:endParaRPr lang="en-US" sz="1150" dirty="0"/>
          </a:p>
        </p:txBody>
      </p:sp>
      <p:sp>
        <p:nvSpPr>
          <p:cNvPr id="42" name="Text 40"/>
          <p:cNvSpPr txBox="1"/>
          <p:nvPr/>
        </p:nvSpPr>
        <p:spPr>
          <a:xfrm>
            <a:off x="3257550" y="5084064"/>
            <a:ext cx="2642616" cy="128016"/>
          </a:xfrm>
          <a:prstGeom prst="rect">
            <a:avLst/>
          </a:prstGeom>
          <a:noFill/>
          <a:ln/>
        </p:spPr>
        <p:txBody>
          <a:bodyPr wrap="square" lIns="0" tIns="0" rIns="0" bIns="0" rtlCol="0" anchor="t"/>
          <a:lstStyle/>
          <a:p>
            <a:pPr indent="0" marL="0">
              <a:buNone/>
            </a:pPr>
            <a:r>
              <a:rPr lang="en-US" sz="620" spc="50" kern="0" dirty="0">
                <a:solidFill>
                  <a:srgbClr val="5A6573"/>
                </a:solidFill>
                <a:latin typeface="Trenda IG Text Semibold" pitchFamily="34" charset="0"/>
                <a:ea typeface="Trenda IG Text Semibold" pitchFamily="34" charset="-122"/>
                <a:cs typeface="Trenda IG Text Semibold" pitchFamily="34" charset="-120"/>
              </a:rPr>
              <a:t>IN THE GRAPH</a:t>
            </a:r>
            <a:endParaRPr lang="en-US" sz="620" dirty="0"/>
          </a:p>
        </p:txBody>
      </p:sp>
      <p:sp>
        <p:nvSpPr>
          <p:cNvPr id="43" name="Text 41"/>
          <p:cNvSpPr txBox="1"/>
          <p:nvPr/>
        </p:nvSpPr>
        <p:spPr>
          <a:xfrm>
            <a:off x="3257550" y="5221224"/>
            <a:ext cx="2642616" cy="429768"/>
          </a:xfrm>
          <a:prstGeom prst="rect">
            <a:avLst/>
          </a:prstGeom>
          <a:noFill/>
          <a:ln/>
        </p:spPr>
        <p:txBody>
          <a:bodyPr wrap="square" lIns="0" tIns="0" rIns="0" bIns="0" rtlCol="0" anchor="t"/>
          <a:lstStyle/>
          <a:p>
            <a:pPr indent="0" marL="0">
              <a:lnSpc>
                <a:spcPct val="100000"/>
              </a:lnSpc>
              <a:buNone/>
            </a:pPr>
            <a:r>
              <a:rPr lang="en-US" sz="900" dirty="0">
                <a:solidFill>
                  <a:srgbClr val="1A1A1A"/>
                </a:solidFill>
                <a:latin typeface="Trenda IG Text" pitchFamily="34" charset="0"/>
                <a:ea typeface="Trenda IG Text" pitchFamily="34" charset="-122"/>
                <a:cs typeface="Trenda IG Text" pitchFamily="34" charset="-120"/>
              </a:rPr>
              <a:t>Complex procedures performed under the safe volume floor for that site or provider</a:t>
            </a:r>
            <a:endParaRPr lang="en-US" sz="900" dirty="0"/>
          </a:p>
        </p:txBody>
      </p:sp>
      <p:sp>
        <p:nvSpPr>
          <p:cNvPr id="44" name="Shape 42"/>
          <p:cNvSpPr/>
          <p:nvPr/>
        </p:nvSpPr>
        <p:spPr>
          <a:xfrm>
            <a:off x="3257550" y="5705856"/>
            <a:ext cx="68580" cy="68580"/>
          </a:xfrm>
          <a:prstGeom prst="rect">
            <a:avLst/>
          </a:prstGeom>
          <a:solidFill>
            <a:srgbClr val="C2185B"/>
          </a:solidFill>
          <a:ln/>
        </p:spPr>
      </p:sp>
      <p:sp>
        <p:nvSpPr>
          <p:cNvPr id="45" name="Text 43"/>
          <p:cNvSpPr txBox="1"/>
          <p:nvPr/>
        </p:nvSpPr>
        <p:spPr>
          <a:xfrm>
            <a:off x="3385566" y="5660136"/>
            <a:ext cx="2514600" cy="347472"/>
          </a:xfrm>
          <a:prstGeom prst="rect">
            <a:avLst/>
          </a:prstGeom>
          <a:noFill/>
          <a:ln/>
        </p:spPr>
        <p:txBody>
          <a:bodyPr wrap="square" lIns="0" tIns="0" rIns="0" bIns="0" rtlCol="0" anchor="t"/>
          <a:lstStyle/>
          <a:p>
            <a:pPr indent="0" marL="0">
              <a:lnSpc>
                <a:spcPct val="98000"/>
              </a:lnSpc>
              <a:buNone/>
            </a:pPr>
            <a:r>
              <a:rPr lang="en-US" sz="860" dirty="0">
                <a:solidFill>
                  <a:srgbClr val="C2185B"/>
                </a:solidFill>
                <a:latin typeface="Trenda IG Text Semibold" pitchFamily="34" charset="0"/>
                <a:ea typeface="Trenda IG Text Semibold" pitchFamily="34" charset="-122"/>
                <a:cs typeface="Trenda IG Text Semibold" pitchFamily="34" charset="-120"/>
              </a:rPr>
              <a:t>Consolidate or refer, with the quality risk named</a:t>
            </a:r>
            <a:endParaRPr lang="en-US" sz="860" dirty="0"/>
          </a:p>
        </p:txBody>
      </p:sp>
      <p:sp>
        <p:nvSpPr>
          <p:cNvPr id="46" name="Shape 44"/>
          <p:cNvSpPr/>
          <p:nvPr/>
        </p:nvSpPr>
        <p:spPr>
          <a:xfrm>
            <a:off x="6131052" y="1005840"/>
            <a:ext cx="2916936" cy="292608"/>
          </a:xfrm>
          <a:prstGeom prst="rect">
            <a:avLst/>
          </a:prstGeom>
          <a:solidFill>
            <a:srgbClr val="C77400"/>
          </a:solidFill>
          <a:ln/>
        </p:spPr>
      </p:sp>
      <p:sp>
        <p:nvSpPr>
          <p:cNvPr id="47" name="Text 45"/>
          <p:cNvSpPr txBox="1"/>
          <p:nvPr/>
        </p:nvSpPr>
        <p:spPr>
          <a:xfrm>
            <a:off x="6249924" y="1005840"/>
            <a:ext cx="2715768" cy="292608"/>
          </a:xfrm>
          <a:prstGeom prst="rect">
            <a:avLst/>
          </a:prstGeom>
          <a:noFill/>
          <a:ln/>
        </p:spPr>
        <p:txBody>
          <a:bodyPr wrap="square" lIns="0" tIns="0" rIns="0" bIns="0" rtlCol="0" anchor="ctr"/>
          <a:lstStyle/>
          <a:p>
            <a:pPr indent="0" marL="0">
              <a:buNone/>
            </a:pPr>
            <a:r>
              <a:rPr lang="en-US" sz="850" spc="40" kern="0" dirty="0">
                <a:solidFill>
                  <a:srgbClr val="FFFFFF"/>
                </a:solidFill>
                <a:latin typeface="Trenda IG Display Bold" pitchFamily="34" charset="0"/>
                <a:ea typeface="Trenda IG Display Bold" pitchFamily="34" charset="-122"/>
                <a:cs typeface="Trenda IG Display Bold" pitchFamily="34" charset="-120"/>
              </a:rPr>
              <a:t>C  ·  PATIENT FLOW</a:t>
            </a:r>
            <a:endParaRPr lang="en-US" sz="850" dirty="0"/>
          </a:p>
        </p:txBody>
      </p:sp>
      <p:sp>
        <p:nvSpPr>
          <p:cNvPr id="48" name="Shape 46"/>
          <p:cNvSpPr/>
          <p:nvPr/>
        </p:nvSpPr>
        <p:spPr>
          <a:xfrm>
            <a:off x="6131052" y="1389888"/>
            <a:ext cx="2916936" cy="1490472"/>
          </a:xfrm>
          <a:prstGeom prst="rect">
            <a:avLst/>
          </a:prstGeom>
          <a:solidFill>
            <a:srgbClr val="F4F6F9"/>
          </a:solidFill>
          <a:ln w="9525">
            <a:solidFill>
              <a:srgbClr val="D5D9DE"/>
            </a:solidFill>
            <a:prstDash val="solid"/>
          </a:ln>
        </p:spPr>
      </p:sp>
      <p:sp>
        <p:nvSpPr>
          <p:cNvPr id="49" name="Text 47"/>
          <p:cNvSpPr txBox="1"/>
          <p:nvPr/>
        </p:nvSpPr>
        <p:spPr>
          <a:xfrm>
            <a:off x="6268212" y="1508760"/>
            <a:ext cx="2642616" cy="310896"/>
          </a:xfrm>
          <a:prstGeom prst="rect">
            <a:avLst/>
          </a:prstGeom>
          <a:noFill/>
          <a:ln/>
        </p:spPr>
        <p:txBody>
          <a:bodyPr wrap="square" lIns="0" tIns="0" rIns="0" bIns="0" rtlCol="0" anchor="t"/>
          <a:lstStyle/>
          <a:p>
            <a:pPr indent="0" marL="0">
              <a:lnSpc>
                <a:spcPct val="95000"/>
              </a:lnSpc>
              <a:buNone/>
            </a:pPr>
            <a:r>
              <a:rPr lang="en-US" sz="1150" dirty="0">
                <a:solidFill>
                  <a:srgbClr val="1A1A1A"/>
                </a:solidFill>
                <a:latin typeface="Trenda IG Display Bold" pitchFamily="34" charset="0"/>
                <a:ea typeface="Trenda IG Display Bold" pitchFamily="34" charset="-122"/>
                <a:cs typeface="Trenda IG Display Bold" pitchFamily="34" charset="-120"/>
              </a:rPr>
              <a:t>7  Referral leakage</a:t>
            </a:r>
            <a:endParaRPr lang="en-US" sz="1150" dirty="0"/>
          </a:p>
        </p:txBody>
      </p:sp>
      <p:sp>
        <p:nvSpPr>
          <p:cNvPr id="50" name="Text 48"/>
          <p:cNvSpPr txBox="1"/>
          <p:nvPr/>
        </p:nvSpPr>
        <p:spPr>
          <a:xfrm>
            <a:off x="6268212" y="1883664"/>
            <a:ext cx="2642616" cy="128016"/>
          </a:xfrm>
          <a:prstGeom prst="rect">
            <a:avLst/>
          </a:prstGeom>
          <a:noFill/>
          <a:ln/>
        </p:spPr>
        <p:txBody>
          <a:bodyPr wrap="square" lIns="0" tIns="0" rIns="0" bIns="0" rtlCol="0" anchor="t"/>
          <a:lstStyle/>
          <a:p>
            <a:pPr indent="0" marL="0">
              <a:buNone/>
            </a:pPr>
            <a:r>
              <a:rPr lang="en-US" sz="620" spc="50" kern="0" dirty="0">
                <a:solidFill>
                  <a:srgbClr val="5A6573"/>
                </a:solidFill>
                <a:latin typeface="Trenda IG Text Semibold" pitchFamily="34" charset="0"/>
                <a:ea typeface="Trenda IG Text Semibold" pitchFamily="34" charset="-122"/>
                <a:cs typeface="Trenda IG Text Semibold" pitchFamily="34" charset="-120"/>
              </a:rPr>
              <a:t>IN THE GRAPH</a:t>
            </a:r>
            <a:endParaRPr lang="en-US" sz="620" dirty="0"/>
          </a:p>
        </p:txBody>
      </p:sp>
      <p:sp>
        <p:nvSpPr>
          <p:cNvPr id="51" name="Text 49"/>
          <p:cNvSpPr txBox="1"/>
          <p:nvPr/>
        </p:nvSpPr>
        <p:spPr>
          <a:xfrm>
            <a:off x="6268212" y="2020824"/>
            <a:ext cx="2642616" cy="429768"/>
          </a:xfrm>
          <a:prstGeom prst="rect">
            <a:avLst/>
          </a:prstGeom>
          <a:noFill/>
          <a:ln/>
        </p:spPr>
        <p:txBody>
          <a:bodyPr wrap="square" lIns="0" tIns="0" rIns="0" bIns="0" rtlCol="0" anchor="t"/>
          <a:lstStyle/>
          <a:p>
            <a:pPr indent="0" marL="0">
              <a:lnSpc>
                <a:spcPct val="100000"/>
              </a:lnSpc>
              <a:buNone/>
            </a:pPr>
            <a:r>
              <a:rPr lang="en-US" sz="900" dirty="0">
                <a:solidFill>
                  <a:srgbClr val="1A1A1A"/>
                </a:solidFill>
                <a:latin typeface="Trenda IG Text" pitchFamily="34" charset="0"/>
                <a:ea typeface="Trenda IG Text" pitchFamily="34" charset="-122"/>
                <a:cs typeface="Trenda IG Text" pitchFamily="34" charset="-120"/>
              </a:rPr>
              <a:t>Attributed patients treated out of network, traced along the actual referral edges</a:t>
            </a:r>
            <a:endParaRPr lang="en-US" sz="900" dirty="0"/>
          </a:p>
        </p:txBody>
      </p:sp>
      <p:sp>
        <p:nvSpPr>
          <p:cNvPr id="52" name="Shape 50"/>
          <p:cNvSpPr/>
          <p:nvPr/>
        </p:nvSpPr>
        <p:spPr>
          <a:xfrm>
            <a:off x="6268212" y="2505456"/>
            <a:ext cx="68580" cy="68580"/>
          </a:xfrm>
          <a:prstGeom prst="rect">
            <a:avLst/>
          </a:prstGeom>
          <a:solidFill>
            <a:srgbClr val="C77400"/>
          </a:solidFill>
          <a:ln/>
        </p:spPr>
      </p:sp>
      <p:sp>
        <p:nvSpPr>
          <p:cNvPr id="53" name="Text 51"/>
          <p:cNvSpPr txBox="1"/>
          <p:nvPr/>
        </p:nvSpPr>
        <p:spPr>
          <a:xfrm>
            <a:off x="6396228" y="2459736"/>
            <a:ext cx="2514600" cy="347472"/>
          </a:xfrm>
          <a:prstGeom prst="rect">
            <a:avLst/>
          </a:prstGeom>
          <a:noFill/>
          <a:ln/>
        </p:spPr>
        <p:txBody>
          <a:bodyPr wrap="square" lIns="0" tIns="0" rIns="0" bIns="0" rtlCol="0" anchor="t"/>
          <a:lstStyle/>
          <a:p>
            <a:pPr indent="0" marL="0">
              <a:lnSpc>
                <a:spcPct val="98000"/>
              </a:lnSpc>
              <a:buNone/>
            </a:pPr>
            <a:r>
              <a:rPr lang="en-US" sz="860" dirty="0">
                <a:solidFill>
                  <a:srgbClr val="C77400"/>
                </a:solidFill>
                <a:latin typeface="Trenda IG Text Semibold" pitchFamily="34" charset="0"/>
                <a:ea typeface="Trenda IG Text Semibold" pitchFamily="34" charset="-122"/>
                <a:cs typeface="Trenda IG Text Semibold" pitchFamily="34" charset="-120"/>
              </a:rPr>
              <a:t>Recapture campaign that fixes the reason, not the symptom</a:t>
            </a:r>
            <a:endParaRPr lang="en-US" sz="860" dirty="0"/>
          </a:p>
        </p:txBody>
      </p:sp>
      <p:sp>
        <p:nvSpPr>
          <p:cNvPr id="54" name="Shape 52"/>
          <p:cNvSpPr/>
          <p:nvPr/>
        </p:nvSpPr>
        <p:spPr>
          <a:xfrm>
            <a:off x="6131052" y="2990088"/>
            <a:ext cx="2916936" cy="1490472"/>
          </a:xfrm>
          <a:prstGeom prst="rect">
            <a:avLst/>
          </a:prstGeom>
          <a:solidFill>
            <a:srgbClr val="F4F6F9"/>
          </a:solidFill>
          <a:ln w="9525">
            <a:solidFill>
              <a:srgbClr val="D5D9DE"/>
            </a:solidFill>
            <a:prstDash val="solid"/>
          </a:ln>
        </p:spPr>
      </p:sp>
      <p:sp>
        <p:nvSpPr>
          <p:cNvPr id="55" name="Text 53"/>
          <p:cNvSpPr txBox="1"/>
          <p:nvPr/>
        </p:nvSpPr>
        <p:spPr>
          <a:xfrm>
            <a:off x="6268212" y="3108960"/>
            <a:ext cx="2642616" cy="310896"/>
          </a:xfrm>
          <a:prstGeom prst="rect">
            <a:avLst/>
          </a:prstGeom>
          <a:noFill/>
          <a:ln/>
        </p:spPr>
        <p:txBody>
          <a:bodyPr wrap="square" lIns="0" tIns="0" rIns="0" bIns="0" rtlCol="0" anchor="t"/>
          <a:lstStyle/>
          <a:p>
            <a:pPr indent="0" marL="0">
              <a:lnSpc>
                <a:spcPct val="95000"/>
              </a:lnSpc>
              <a:buNone/>
            </a:pPr>
            <a:r>
              <a:rPr lang="en-US" sz="1150" dirty="0">
                <a:solidFill>
                  <a:srgbClr val="1A1A1A"/>
                </a:solidFill>
                <a:latin typeface="Trenda IG Display Bold" pitchFamily="34" charset="0"/>
                <a:ea typeface="Trenda IG Display Bold" pitchFamily="34" charset="-122"/>
                <a:cs typeface="Trenda IG Display Bold" pitchFamily="34" charset="-120"/>
              </a:rPr>
              <a:t>8  Bypass and travel burden</a:t>
            </a:r>
            <a:endParaRPr lang="en-US" sz="1150" dirty="0"/>
          </a:p>
        </p:txBody>
      </p:sp>
      <p:sp>
        <p:nvSpPr>
          <p:cNvPr id="56" name="Text 54"/>
          <p:cNvSpPr txBox="1"/>
          <p:nvPr/>
        </p:nvSpPr>
        <p:spPr>
          <a:xfrm>
            <a:off x="6268212" y="3483864"/>
            <a:ext cx="2642616" cy="128016"/>
          </a:xfrm>
          <a:prstGeom prst="rect">
            <a:avLst/>
          </a:prstGeom>
          <a:noFill/>
          <a:ln/>
        </p:spPr>
        <p:txBody>
          <a:bodyPr wrap="square" lIns="0" tIns="0" rIns="0" bIns="0" rtlCol="0" anchor="t"/>
          <a:lstStyle/>
          <a:p>
            <a:pPr indent="0" marL="0">
              <a:buNone/>
            </a:pPr>
            <a:r>
              <a:rPr lang="en-US" sz="620" spc="50" kern="0" dirty="0">
                <a:solidFill>
                  <a:srgbClr val="5A6573"/>
                </a:solidFill>
                <a:latin typeface="Trenda IG Text Semibold" pitchFamily="34" charset="0"/>
                <a:ea typeface="Trenda IG Text Semibold" pitchFamily="34" charset="-122"/>
                <a:cs typeface="Trenda IG Text Semibold" pitchFamily="34" charset="-120"/>
              </a:rPr>
              <a:t>IN THE GRAPH</a:t>
            </a:r>
            <a:endParaRPr lang="en-US" sz="620" dirty="0"/>
          </a:p>
        </p:txBody>
      </p:sp>
      <p:sp>
        <p:nvSpPr>
          <p:cNvPr id="57" name="Text 55"/>
          <p:cNvSpPr txBox="1"/>
          <p:nvPr/>
        </p:nvSpPr>
        <p:spPr>
          <a:xfrm>
            <a:off x="6268212" y="3621024"/>
            <a:ext cx="2642616" cy="429768"/>
          </a:xfrm>
          <a:prstGeom prst="rect">
            <a:avLst/>
          </a:prstGeom>
          <a:noFill/>
          <a:ln/>
        </p:spPr>
        <p:txBody>
          <a:bodyPr wrap="square" lIns="0" tIns="0" rIns="0" bIns="0" rtlCol="0" anchor="t"/>
          <a:lstStyle/>
          <a:p>
            <a:pPr indent="0" marL="0">
              <a:lnSpc>
                <a:spcPct val="100000"/>
              </a:lnSpc>
              <a:buNone/>
            </a:pPr>
            <a:r>
              <a:rPr lang="en-US" sz="900" dirty="0">
                <a:solidFill>
                  <a:srgbClr val="1A1A1A"/>
                </a:solidFill>
                <a:latin typeface="Trenda IG Text" pitchFamily="34" charset="0"/>
                <a:ea typeface="Trenda IG Text" pitchFamily="34" charset="-122"/>
                <a:cs typeface="Trenda IG Text" pitchFamily="34" charset="-120"/>
              </a:rPr>
              <a:t>Patients drive past a nearer site to reach a farther one, repeatedly</a:t>
            </a:r>
            <a:endParaRPr lang="en-US" sz="900" dirty="0"/>
          </a:p>
        </p:txBody>
      </p:sp>
      <p:sp>
        <p:nvSpPr>
          <p:cNvPr id="58" name="Shape 56"/>
          <p:cNvSpPr/>
          <p:nvPr/>
        </p:nvSpPr>
        <p:spPr>
          <a:xfrm>
            <a:off x="6268212" y="4105656"/>
            <a:ext cx="68580" cy="68580"/>
          </a:xfrm>
          <a:prstGeom prst="rect">
            <a:avLst/>
          </a:prstGeom>
          <a:solidFill>
            <a:srgbClr val="C77400"/>
          </a:solidFill>
          <a:ln/>
        </p:spPr>
      </p:sp>
      <p:sp>
        <p:nvSpPr>
          <p:cNvPr id="59" name="Text 57"/>
          <p:cNvSpPr txBox="1"/>
          <p:nvPr/>
        </p:nvSpPr>
        <p:spPr>
          <a:xfrm>
            <a:off x="6396228" y="4059936"/>
            <a:ext cx="2514600" cy="347472"/>
          </a:xfrm>
          <a:prstGeom prst="rect">
            <a:avLst/>
          </a:prstGeom>
          <a:noFill/>
          <a:ln/>
        </p:spPr>
        <p:txBody>
          <a:bodyPr wrap="square" lIns="0" tIns="0" rIns="0" bIns="0" rtlCol="0" anchor="t"/>
          <a:lstStyle/>
          <a:p>
            <a:pPr indent="0" marL="0">
              <a:lnSpc>
                <a:spcPct val="98000"/>
              </a:lnSpc>
              <a:buNone/>
            </a:pPr>
            <a:r>
              <a:rPr lang="en-US" sz="860" dirty="0">
                <a:solidFill>
                  <a:srgbClr val="C77400"/>
                </a:solidFill>
                <a:latin typeface="Trenda IG Text Semibold" pitchFamily="34" charset="0"/>
                <a:ea typeface="Trenda IG Text Semibold" pitchFamily="34" charset="-122"/>
                <a:cs typeface="Trenda IG Text Semibold" pitchFamily="34" charset="-120"/>
              </a:rPr>
              <a:t>Isolates reputation against capability against access</a:t>
            </a:r>
            <a:endParaRPr lang="en-US" sz="860" dirty="0"/>
          </a:p>
        </p:txBody>
      </p:sp>
      <p:sp>
        <p:nvSpPr>
          <p:cNvPr id="60" name="Shape 58"/>
          <p:cNvSpPr/>
          <p:nvPr/>
        </p:nvSpPr>
        <p:spPr>
          <a:xfrm>
            <a:off x="6131052" y="4590288"/>
            <a:ext cx="2916936" cy="1490472"/>
          </a:xfrm>
          <a:prstGeom prst="rect">
            <a:avLst/>
          </a:prstGeom>
          <a:solidFill>
            <a:srgbClr val="F4F6F9"/>
          </a:solidFill>
          <a:ln w="9525">
            <a:solidFill>
              <a:srgbClr val="D5D9DE"/>
            </a:solidFill>
            <a:prstDash val="solid"/>
          </a:ln>
        </p:spPr>
      </p:sp>
      <p:sp>
        <p:nvSpPr>
          <p:cNvPr id="61" name="Text 59"/>
          <p:cNvSpPr txBox="1"/>
          <p:nvPr/>
        </p:nvSpPr>
        <p:spPr>
          <a:xfrm>
            <a:off x="6268212" y="4709160"/>
            <a:ext cx="2642616" cy="310896"/>
          </a:xfrm>
          <a:prstGeom prst="rect">
            <a:avLst/>
          </a:prstGeom>
          <a:noFill/>
          <a:ln/>
        </p:spPr>
        <p:txBody>
          <a:bodyPr wrap="square" lIns="0" tIns="0" rIns="0" bIns="0" rtlCol="0" anchor="t"/>
          <a:lstStyle/>
          <a:p>
            <a:pPr indent="0" marL="0">
              <a:lnSpc>
                <a:spcPct val="95000"/>
              </a:lnSpc>
              <a:buNone/>
            </a:pPr>
            <a:r>
              <a:rPr lang="en-US" sz="1150" dirty="0">
                <a:solidFill>
                  <a:srgbClr val="1A1A1A"/>
                </a:solidFill>
                <a:latin typeface="Trenda IG Display Bold" pitchFamily="34" charset="0"/>
                <a:ea typeface="Trenda IG Display Bold" pitchFamily="34" charset="-122"/>
                <a:cs typeface="Trenda IG Display Bold" pitchFamily="34" charset="-120"/>
              </a:rPr>
              <a:t>9  Referral chain depth</a:t>
            </a:r>
            <a:endParaRPr lang="en-US" sz="1150" dirty="0"/>
          </a:p>
        </p:txBody>
      </p:sp>
      <p:sp>
        <p:nvSpPr>
          <p:cNvPr id="62" name="Text 60"/>
          <p:cNvSpPr txBox="1"/>
          <p:nvPr/>
        </p:nvSpPr>
        <p:spPr>
          <a:xfrm>
            <a:off x="6268212" y="5084064"/>
            <a:ext cx="2642616" cy="128016"/>
          </a:xfrm>
          <a:prstGeom prst="rect">
            <a:avLst/>
          </a:prstGeom>
          <a:noFill/>
          <a:ln/>
        </p:spPr>
        <p:txBody>
          <a:bodyPr wrap="square" lIns="0" tIns="0" rIns="0" bIns="0" rtlCol="0" anchor="t"/>
          <a:lstStyle/>
          <a:p>
            <a:pPr indent="0" marL="0">
              <a:buNone/>
            </a:pPr>
            <a:r>
              <a:rPr lang="en-US" sz="620" spc="50" kern="0" dirty="0">
                <a:solidFill>
                  <a:srgbClr val="5A6573"/>
                </a:solidFill>
                <a:latin typeface="Trenda IG Text Semibold" pitchFamily="34" charset="0"/>
                <a:ea typeface="Trenda IG Text Semibold" pitchFamily="34" charset="-122"/>
                <a:cs typeface="Trenda IG Text Semibold" pitchFamily="34" charset="-120"/>
              </a:rPr>
              <a:t>IN THE GRAPH</a:t>
            </a:r>
            <a:endParaRPr lang="en-US" sz="620" dirty="0"/>
          </a:p>
        </p:txBody>
      </p:sp>
      <p:sp>
        <p:nvSpPr>
          <p:cNvPr id="63" name="Text 61"/>
          <p:cNvSpPr txBox="1"/>
          <p:nvPr/>
        </p:nvSpPr>
        <p:spPr>
          <a:xfrm>
            <a:off x="6268212" y="5221224"/>
            <a:ext cx="2642616" cy="429768"/>
          </a:xfrm>
          <a:prstGeom prst="rect">
            <a:avLst/>
          </a:prstGeom>
          <a:noFill/>
          <a:ln/>
        </p:spPr>
        <p:txBody>
          <a:bodyPr wrap="square" lIns="0" tIns="0" rIns="0" bIns="0" rtlCol="0" anchor="t"/>
          <a:lstStyle/>
          <a:p>
            <a:pPr indent="0" marL="0">
              <a:lnSpc>
                <a:spcPct val="100000"/>
              </a:lnSpc>
              <a:buNone/>
            </a:pPr>
            <a:r>
              <a:rPr lang="en-US" sz="900" dirty="0">
                <a:solidFill>
                  <a:srgbClr val="1A1A1A"/>
                </a:solidFill>
                <a:latin typeface="Trenda IG Text" pitchFamily="34" charset="0"/>
                <a:ea typeface="Trenda IG Text" pitchFamily="34" charset="-122"/>
                <a:cs typeface="Trenda IG Text" pitchFamily="34" charset="-120"/>
              </a:rPr>
              <a:t>Four hops to reach definitive care, every hop measurable in days</a:t>
            </a:r>
            <a:endParaRPr lang="en-US" sz="900" dirty="0"/>
          </a:p>
        </p:txBody>
      </p:sp>
      <p:sp>
        <p:nvSpPr>
          <p:cNvPr id="64" name="Shape 62"/>
          <p:cNvSpPr/>
          <p:nvPr/>
        </p:nvSpPr>
        <p:spPr>
          <a:xfrm>
            <a:off x="6268212" y="5705856"/>
            <a:ext cx="68580" cy="68580"/>
          </a:xfrm>
          <a:prstGeom prst="rect">
            <a:avLst/>
          </a:prstGeom>
          <a:solidFill>
            <a:srgbClr val="C77400"/>
          </a:solidFill>
          <a:ln/>
        </p:spPr>
      </p:sp>
      <p:sp>
        <p:nvSpPr>
          <p:cNvPr id="65" name="Text 63"/>
          <p:cNvSpPr txBox="1"/>
          <p:nvPr/>
        </p:nvSpPr>
        <p:spPr>
          <a:xfrm>
            <a:off x="6396228" y="5660136"/>
            <a:ext cx="2514600" cy="347472"/>
          </a:xfrm>
          <a:prstGeom prst="rect">
            <a:avLst/>
          </a:prstGeom>
          <a:noFill/>
          <a:ln/>
        </p:spPr>
        <p:txBody>
          <a:bodyPr wrap="square" lIns="0" tIns="0" rIns="0" bIns="0" rtlCol="0" anchor="t"/>
          <a:lstStyle/>
          <a:p>
            <a:pPr indent="0" marL="0">
              <a:lnSpc>
                <a:spcPct val="98000"/>
              </a:lnSpc>
              <a:buNone/>
            </a:pPr>
            <a:r>
              <a:rPr lang="en-US" sz="860" dirty="0">
                <a:solidFill>
                  <a:srgbClr val="C77400"/>
                </a:solidFill>
                <a:latin typeface="Trenda IG Text Semibold" pitchFamily="34" charset="0"/>
                <a:ea typeface="Trenda IG Text Semibold" pitchFamily="34" charset="-122"/>
                <a:cs typeface="Trenda IG Text Semibold" pitchFamily="34" charset="-120"/>
              </a:rPr>
              <a:t>Shorten the path, open a direct access pathway</a:t>
            </a:r>
            <a:endParaRPr lang="en-US" sz="860" dirty="0"/>
          </a:p>
        </p:txBody>
      </p:sp>
      <p:sp>
        <p:nvSpPr>
          <p:cNvPr id="66" name="Shape 64"/>
          <p:cNvSpPr/>
          <p:nvPr/>
        </p:nvSpPr>
        <p:spPr>
          <a:xfrm>
            <a:off x="9141714" y="1005840"/>
            <a:ext cx="2916936" cy="292608"/>
          </a:xfrm>
          <a:prstGeom prst="rect">
            <a:avLst/>
          </a:prstGeom>
          <a:solidFill>
            <a:srgbClr val="2E7D32"/>
          </a:solidFill>
          <a:ln/>
        </p:spPr>
      </p:sp>
      <p:sp>
        <p:nvSpPr>
          <p:cNvPr id="67" name="Text 65"/>
          <p:cNvSpPr txBox="1"/>
          <p:nvPr/>
        </p:nvSpPr>
        <p:spPr>
          <a:xfrm>
            <a:off x="9260586" y="1005840"/>
            <a:ext cx="2715768" cy="292608"/>
          </a:xfrm>
          <a:prstGeom prst="rect">
            <a:avLst/>
          </a:prstGeom>
          <a:noFill/>
          <a:ln/>
        </p:spPr>
        <p:txBody>
          <a:bodyPr wrap="square" lIns="0" tIns="0" rIns="0" bIns="0" rtlCol="0" anchor="ctr"/>
          <a:lstStyle/>
          <a:p>
            <a:pPr indent="0" marL="0">
              <a:buNone/>
            </a:pPr>
            <a:r>
              <a:rPr lang="en-US" sz="850" spc="40" kern="0" dirty="0">
                <a:solidFill>
                  <a:srgbClr val="FFFFFF"/>
                </a:solidFill>
                <a:latin typeface="Trenda IG Display Bold" pitchFamily="34" charset="0"/>
                <a:ea typeface="Trenda IG Display Bold" pitchFamily="34" charset="-122"/>
                <a:cs typeface="Trenda IG Display Bold" pitchFamily="34" charset="-120"/>
              </a:rPr>
              <a:t>D  ·  ACCESS, QUALITY AND GROWTH</a:t>
            </a:r>
            <a:endParaRPr lang="en-US" sz="850" dirty="0"/>
          </a:p>
        </p:txBody>
      </p:sp>
      <p:sp>
        <p:nvSpPr>
          <p:cNvPr id="68" name="Shape 66"/>
          <p:cNvSpPr/>
          <p:nvPr/>
        </p:nvSpPr>
        <p:spPr>
          <a:xfrm>
            <a:off x="9141714" y="1389888"/>
            <a:ext cx="2916936" cy="1490472"/>
          </a:xfrm>
          <a:prstGeom prst="rect">
            <a:avLst/>
          </a:prstGeom>
          <a:solidFill>
            <a:srgbClr val="F4F6F9"/>
          </a:solidFill>
          <a:ln w="9525">
            <a:solidFill>
              <a:srgbClr val="D5D9DE"/>
            </a:solidFill>
            <a:prstDash val="solid"/>
          </a:ln>
        </p:spPr>
      </p:sp>
      <p:sp>
        <p:nvSpPr>
          <p:cNvPr id="69" name="Text 67"/>
          <p:cNvSpPr txBox="1"/>
          <p:nvPr/>
        </p:nvSpPr>
        <p:spPr>
          <a:xfrm>
            <a:off x="9278874" y="1508760"/>
            <a:ext cx="2642616" cy="310896"/>
          </a:xfrm>
          <a:prstGeom prst="rect">
            <a:avLst/>
          </a:prstGeom>
          <a:noFill/>
          <a:ln/>
        </p:spPr>
        <p:txBody>
          <a:bodyPr wrap="square" lIns="0" tIns="0" rIns="0" bIns="0" rtlCol="0" anchor="t"/>
          <a:lstStyle/>
          <a:p>
            <a:pPr indent="0" marL="0">
              <a:lnSpc>
                <a:spcPct val="95000"/>
              </a:lnSpc>
              <a:buNone/>
            </a:pPr>
            <a:r>
              <a:rPr lang="en-US" sz="1150" dirty="0">
                <a:solidFill>
                  <a:srgbClr val="1A1A1A"/>
                </a:solidFill>
                <a:latin typeface="Trenda IG Display Bold" pitchFamily="34" charset="0"/>
                <a:ea typeface="Trenda IG Display Bold" pitchFamily="34" charset="-122"/>
                <a:cs typeface="Trenda IG Display Bold" pitchFamily="34" charset="-120"/>
              </a:rPr>
              <a:t>10  Adequacy and access deserts</a:t>
            </a:r>
            <a:endParaRPr lang="en-US" sz="1150" dirty="0"/>
          </a:p>
        </p:txBody>
      </p:sp>
      <p:sp>
        <p:nvSpPr>
          <p:cNvPr id="70" name="Text 68"/>
          <p:cNvSpPr txBox="1"/>
          <p:nvPr/>
        </p:nvSpPr>
        <p:spPr>
          <a:xfrm>
            <a:off x="9278874" y="1883664"/>
            <a:ext cx="2642616" cy="128016"/>
          </a:xfrm>
          <a:prstGeom prst="rect">
            <a:avLst/>
          </a:prstGeom>
          <a:noFill/>
          <a:ln/>
        </p:spPr>
        <p:txBody>
          <a:bodyPr wrap="square" lIns="0" tIns="0" rIns="0" bIns="0" rtlCol="0" anchor="t"/>
          <a:lstStyle/>
          <a:p>
            <a:pPr indent="0" marL="0">
              <a:buNone/>
            </a:pPr>
            <a:r>
              <a:rPr lang="en-US" sz="620" spc="50" kern="0" dirty="0">
                <a:solidFill>
                  <a:srgbClr val="5A6573"/>
                </a:solidFill>
                <a:latin typeface="Trenda IG Text Semibold" pitchFamily="34" charset="0"/>
                <a:ea typeface="Trenda IG Text Semibold" pitchFamily="34" charset="-122"/>
                <a:cs typeface="Trenda IG Text Semibold" pitchFamily="34" charset="-120"/>
              </a:rPr>
              <a:t>IN THE GRAPH</a:t>
            </a:r>
            <a:endParaRPr lang="en-US" sz="620" dirty="0"/>
          </a:p>
        </p:txBody>
      </p:sp>
      <p:sp>
        <p:nvSpPr>
          <p:cNvPr id="71" name="Text 69"/>
          <p:cNvSpPr txBox="1"/>
          <p:nvPr/>
        </p:nvSpPr>
        <p:spPr>
          <a:xfrm>
            <a:off x="9278874" y="2020824"/>
            <a:ext cx="2642616" cy="429768"/>
          </a:xfrm>
          <a:prstGeom prst="rect">
            <a:avLst/>
          </a:prstGeom>
          <a:noFill/>
          <a:ln/>
        </p:spPr>
        <p:txBody>
          <a:bodyPr wrap="square" lIns="0" tIns="0" rIns="0" bIns="0" rtlCol="0" anchor="t"/>
          <a:lstStyle/>
          <a:p>
            <a:pPr indent="0" marL="0">
              <a:lnSpc>
                <a:spcPct val="100000"/>
              </a:lnSpc>
              <a:buNone/>
            </a:pPr>
            <a:r>
              <a:rPr lang="en-US" sz="900" dirty="0">
                <a:solidFill>
                  <a:srgbClr val="1A1A1A"/>
                </a:solidFill>
                <a:latin typeface="Trenda IG Text" pitchFamily="34" charset="0"/>
                <a:ea typeface="Trenda IG Text" pitchFamily="34" charset="-122"/>
                <a:cs typeface="Trenda IG Text" pitchFamily="34" charset="-120"/>
              </a:rPr>
              <a:t>CMS time and distance failures by county and specialty, mapped onto the graph</a:t>
            </a:r>
            <a:endParaRPr lang="en-US" sz="900" dirty="0"/>
          </a:p>
        </p:txBody>
      </p:sp>
      <p:sp>
        <p:nvSpPr>
          <p:cNvPr id="72" name="Shape 70"/>
          <p:cNvSpPr/>
          <p:nvPr/>
        </p:nvSpPr>
        <p:spPr>
          <a:xfrm>
            <a:off x="9278874" y="2505456"/>
            <a:ext cx="68580" cy="68580"/>
          </a:xfrm>
          <a:prstGeom prst="rect">
            <a:avLst/>
          </a:prstGeom>
          <a:solidFill>
            <a:srgbClr val="2E7D32"/>
          </a:solidFill>
          <a:ln/>
        </p:spPr>
      </p:sp>
      <p:sp>
        <p:nvSpPr>
          <p:cNvPr id="73" name="Text 71"/>
          <p:cNvSpPr txBox="1"/>
          <p:nvPr/>
        </p:nvSpPr>
        <p:spPr>
          <a:xfrm>
            <a:off x="9406890" y="2459736"/>
            <a:ext cx="2514600" cy="347472"/>
          </a:xfrm>
          <a:prstGeom prst="rect">
            <a:avLst/>
          </a:prstGeom>
          <a:noFill/>
          <a:ln/>
        </p:spPr>
        <p:txBody>
          <a:bodyPr wrap="square" lIns="0" tIns="0" rIns="0" bIns="0" rtlCol="0" anchor="t"/>
          <a:lstStyle/>
          <a:p>
            <a:pPr indent="0" marL="0">
              <a:lnSpc>
                <a:spcPct val="98000"/>
              </a:lnSpc>
              <a:buNone/>
            </a:pPr>
            <a:r>
              <a:rPr lang="en-US" sz="860" dirty="0">
                <a:solidFill>
                  <a:srgbClr val="2E7D32"/>
                </a:solidFill>
                <a:latin typeface="Trenda IG Text Semibold" pitchFamily="34" charset="0"/>
                <a:ea typeface="Trenda IG Text Semibold" pitchFamily="34" charset="-122"/>
                <a:cs typeface="Trenda IG Text Semibold" pitchFamily="34" charset="-120"/>
              </a:rPr>
              <a:t>Filing evidence, and the fewest hires that fix the most counties</a:t>
            </a:r>
            <a:endParaRPr lang="en-US" sz="860" dirty="0"/>
          </a:p>
        </p:txBody>
      </p:sp>
      <p:sp>
        <p:nvSpPr>
          <p:cNvPr id="74" name="Shape 72"/>
          <p:cNvSpPr/>
          <p:nvPr/>
        </p:nvSpPr>
        <p:spPr>
          <a:xfrm>
            <a:off x="9141714" y="2990088"/>
            <a:ext cx="2916936" cy="1490472"/>
          </a:xfrm>
          <a:prstGeom prst="rect">
            <a:avLst/>
          </a:prstGeom>
          <a:solidFill>
            <a:srgbClr val="F4F6F9"/>
          </a:solidFill>
          <a:ln w="9525">
            <a:solidFill>
              <a:srgbClr val="D5D9DE"/>
            </a:solidFill>
            <a:prstDash val="solid"/>
          </a:ln>
        </p:spPr>
      </p:sp>
      <p:sp>
        <p:nvSpPr>
          <p:cNvPr id="75" name="Text 73"/>
          <p:cNvSpPr txBox="1"/>
          <p:nvPr/>
        </p:nvSpPr>
        <p:spPr>
          <a:xfrm>
            <a:off x="9278874" y="3108960"/>
            <a:ext cx="2642616" cy="310896"/>
          </a:xfrm>
          <a:prstGeom prst="rect">
            <a:avLst/>
          </a:prstGeom>
          <a:noFill/>
          <a:ln/>
        </p:spPr>
        <p:txBody>
          <a:bodyPr wrap="square" lIns="0" tIns="0" rIns="0" bIns="0" rtlCol="0" anchor="t"/>
          <a:lstStyle/>
          <a:p>
            <a:pPr indent="0" marL="0">
              <a:lnSpc>
                <a:spcPct val="95000"/>
              </a:lnSpc>
              <a:buNone/>
            </a:pPr>
            <a:r>
              <a:rPr lang="en-US" sz="1150" dirty="0">
                <a:solidFill>
                  <a:srgbClr val="1A1A1A"/>
                </a:solidFill>
                <a:latin typeface="Trenda IG Display Bold" pitchFamily="34" charset="0"/>
                <a:ea typeface="Trenda IG Display Bold" pitchFamily="34" charset="-122"/>
                <a:cs typeface="Trenda IG Display Bold" pitchFamily="34" charset="-120"/>
              </a:rPr>
              <a:t>11  Inflow high, outcome weak</a:t>
            </a:r>
            <a:endParaRPr lang="en-US" sz="1150" dirty="0"/>
          </a:p>
        </p:txBody>
      </p:sp>
      <p:sp>
        <p:nvSpPr>
          <p:cNvPr id="76" name="Text 74"/>
          <p:cNvSpPr txBox="1"/>
          <p:nvPr/>
        </p:nvSpPr>
        <p:spPr>
          <a:xfrm>
            <a:off x="9278874" y="3483864"/>
            <a:ext cx="2642616" cy="128016"/>
          </a:xfrm>
          <a:prstGeom prst="rect">
            <a:avLst/>
          </a:prstGeom>
          <a:noFill/>
          <a:ln/>
        </p:spPr>
        <p:txBody>
          <a:bodyPr wrap="square" lIns="0" tIns="0" rIns="0" bIns="0" rtlCol="0" anchor="t"/>
          <a:lstStyle/>
          <a:p>
            <a:pPr indent="0" marL="0">
              <a:buNone/>
            </a:pPr>
            <a:r>
              <a:rPr lang="en-US" sz="620" spc="50" kern="0" dirty="0">
                <a:solidFill>
                  <a:srgbClr val="5A6573"/>
                </a:solidFill>
                <a:latin typeface="Trenda IG Text Semibold" pitchFamily="34" charset="0"/>
                <a:ea typeface="Trenda IG Text Semibold" pitchFamily="34" charset="-122"/>
                <a:cs typeface="Trenda IG Text Semibold" pitchFamily="34" charset="-120"/>
              </a:rPr>
              <a:t>IN THE GRAPH</a:t>
            </a:r>
            <a:endParaRPr lang="en-US" sz="620" dirty="0"/>
          </a:p>
        </p:txBody>
      </p:sp>
      <p:sp>
        <p:nvSpPr>
          <p:cNvPr id="77" name="Text 75"/>
          <p:cNvSpPr txBox="1"/>
          <p:nvPr/>
        </p:nvSpPr>
        <p:spPr>
          <a:xfrm>
            <a:off x="9278874" y="3621024"/>
            <a:ext cx="2642616" cy="429768"/>
          </a:xfrm>
          <a:prstGeom prst="rect">
            <a:avLst/>
          </a:prstGeom>
          <a:noFill/>
          <a:ln/>
        </p:spPr>
        <p:txBody>
          <a:bodyPr wrap="square" lIns="0" tIns="0" rIns="0" bIns="0" rtlCol="0" anchor="t"/>
          <a:lstStyle/>
          <a:p>
            <a:pPr indent="0" marL="0">
              <a:lnSpc>
                <a:spcPct val="100000"/>
              </a:lnSpc>
              <a:buNone/>
            </a:pPr>
            <a:r>
              <a:rPr lang="en-US" sz="900" dirty="0">
                <a:solidFill>
                  <a:srgbClr val="1A1A1A"/>
                </a:solidFill>
                <a:latin typeface="Trenda IG Text" pitchFamily="34" charset="0"/>
                <a:ea typeface="Trenda IG Text" pitchFamily="34" charset="-122"/>
                <a:cs typeface="Trenda IG Text" pitchFamily="34" charset="-120"/>
              </a:rPr>
              <a:t>Volume in the top decile with risk adjusted O over E above the peer benchmark</a:t>
            </a:r>
            <a:endParaRPr lang="en-US" sz="900" dirty="0"/>
          </a:p>
        </p:txBody>
      </p:sp>
      <p:sp>
        <p:nvSpPr>
          <p:cNvPr id="78" name="Shape 76"/>
          <p:cNvSpPr/>
          <p:nvPr/>
        </p:nvSpPr>
        <p:spPr>
          <a:xfrm>
            <a:off x="9278874" y="4105656"/>
            <a:ext cx="68580" cy="68580"/>
          </a:xfrm>
          <a:prstGeom prst="rect">
            <a:avLst/>
          </a:prstGeom>
          <a:solidFill>
            <a:srgbClr val="2E7D32"/>
          </a:solidFill>
          <a:ln/>
        </p:spPr>
      </p:sp>
      <p:sp>
        <p:nvSpPr>
          <p:cNvPr id="79" name="Text 77"/>
          <p:cNvSpPr txBox="1"/>
          <p:nvPr/>
        </p:nvSpPr>
        <p:spPr>
          <a:xfrm>
            <a:off x="9406890" y="4059936"/>
            <a:ext cx="2514600" cy="347472"/>
          </a:xfrm>
          <a:prstGeom prst="rect">
            <a:avLst/>
          </a:prstGeom>
          <a:noFill/>
          <a:ln/>
        </p:spPr>
        <p:txBody>
          <a:bodyPr wrap="square" lIns="0" tIns="0" rIns="0" bIns="0" rtlCol="0" anchor="t"/>
          <a:lstStyle/>
          <a:p>
            <a:pPr indent="0" marL="0">
              <a:lnSpc>
                <a:spcPct val="98000"/>
              </a:lnSpc>
              <a:buNone/>
            </a:pPr>
            <a:r>
              <a:rPr lang="en-US" sz="860" dirty="0">
                <a:solidFill>
                  <a:srgbClr val="2E7D32"/>
                </a:solidFill>
                <a:latin typeface="Trenda IG Text Semibold" pitchFamily="34" charset="0"/>
                <a:ea typeface="Trenda IG Text Semibold" pitchFamily="34" charset="-122"/>
                <a:cs typeface="Trenda IG Text Semibold" pitchFamily="34" charset="-120"/>
              </a:rPr>
              <a:t>Quality campaign, and steer volume to the strong sites</a:t>
            </a:r>
            <a:endParaRPr lang="en-US" sz="860" dirty="0"/>
          </a:p>
        </p:txBody>
      </p:sp>
      <p:sp>
        <p:nvSpPr>
          <p:cNvPr id="80" name="Shape 78"/>
          <p:cNvSpPr/>
          <p:nvPr/>
        </p:nvSpPr>
        <p:spPr>
          <a:xfrm>
            <a:off x="9141714" y="4590288"/>
            <a:ext cx="2916936" cy="1490472"/>
          </a:xfrm>
          <a:prstGeom prst="rect">
            <a:avLst/>
          </a:prstGeom>
          <a:solidFill>
            <a:srgbClr val="F4F6F9"/>
          </a:solidFill>
          <a:ln w="9525">
            <a:solidFill>
              <a:srgbClr val="D5D9DE"/>
            </a:solidFill>
            <a:prstDash val="solid"/>
          </a:ln>
        </p:spPr>
      </p:sp>
      <p:sp>
        <p:nvSpPr>
          <p:cNvPr id="81" name="Text 79"/>
          <p:cNvSpPr txBox="1"/>
          <p:nvPr/>
        </p:nvSpPr>
        <p:spPr>
          <a:xfrm>
            <a:off x="9278874" y="4709160"/>
            <a:ext cx="2642616" cy="310896"/>
          </a:xfrm>
          <a:prstGeom prst="rect">
            <a:avLst/>
          </a:prstGeom>
          <a:noFill/>
          <a:ln/>
        </p:spPr>
        <p:txBody>
          <a:bodyPr wrap="square" lIns="0" tIns="0" rIns="0" bIns="0" rtlCol="0" anchor="t"/>
          <a:lstStyle/>
          <a:p>
            <a:pPr indent="0" marL="0">
              <a:lnSpc>
                <a:spcPct val="95000"/>
              </a:lnSpc>
              <a:buNone/>
            </a:pPr>
            <a:r>
              <a:rPr lang="en-US" sz="1150" dirty="0">
                <a:solidFill>
                  <a:srgbClr val="1A1A1A"/>
                </a:solidFill>
                <a:latin typeface="Trenda IG Display Bold" pitchFamily="34" charset="0"/>
                <a:ea typeface="Trenda IG Display Bold" pitchFamily="34" charset="-122"/>
                <a:cs typeface="Trenda IG Display Bold" pitchFamily="34" charset="-120"/>
              </a:rPr>
              <a:t>12  Hire and site simulation</a:t>
            </a:r>
            <a:endParaRPr lang="en-US" sz="1150" dirty="0"/>
          </a:p>
        </p:txBody>
      </p:sp>
      <p:sp>
        <p:nvSpPr>
          <p:cNvPr id="82" name="Text 80"/>
          <p:cNvSpPr txBox="1"/>
          <p:nvPr/>
        </p:nvSpPr>
        <p:spPr>
          <a:xfrm>
            <a:off x="9278874" y="5084064"/>
            <a:ext cx="2642616" cy="128016"/>
          </a:xfrm>
          <a:prstGeom prst="rect">
            <a:avLst/>
          </a:prstGeom>
          <a:noFill/>
          <a:ln/>
        </p:spPr>
        <p:txBody>
          <a:bodyPr wrap="square" lIns="0" tIns="0" rIns="0" bIns="0" rtlCol="0" anchor="t"/>
          <a:lstStyle/>
          <a:p>
            <a:pPr indent="0" marL="0">
              <a:buNone/>
            </a:pPr>
            <a:r>
              <a:rPr lang="en-US" sz="620" spc="50" kern="0" dirty="0">
                <a:solidFill>
                  <a:srgbClr val="5A6573"/>
                </a:solidFill>
                <a:latin typeface="Trenda IG Text Semibold" pitchFamily="34" charset="0"/>
                <a:ea typeface="Trenda IG Text Semibold" pitchFamily="34" charset="-122"/>
                <a:cs typeface="Trenda IG Text Semibold" pitchFamily="34" charset="-120"/>
              </a:rPr>
              <a:t>IN THE GRAPH</a:t>
            </a:r>
            <a:endParaRPr lang="en-US" sz="620" dirty="0"/>
          </a:p>
        </p:txBody>
      </p:sp>
      <p:sp>
        <p:nvSpPr>
          <p:cNvPr id="83" name="Text 81"/>
          <p:cNvSpPr txBox="1"/>
          <p:nvPr/>
        </p:nvSpPr>
        <p:spPr>
          <a:xfrm>
            <a:off x="9278874" y="5221224"/>
            <a:ext cx="2642616" cy="429768"/>
          </a:xfrm>
          <a:prstGeom prst="rect">
            <a:avLst/>
          </a:prstGeom>
          <a:noFill/>
          <a:ln/>
        </p:spPr>
        <p:txBody>
          <a:bodyPr wrap="square" lIns="0" tIns="0" rIns="0" bIns="0" rtlCol="0" anchor="t"/>
          <a:lstStyle/>
          <a:p>
            <a:pPr indent="0" marL="0">
              <a:lnSpc>
                <a:spcPct val="100000"/>
              </a:lnSpc>
              <a:buNone/>
            </a:pPr>
            <a:r>
              <a:rPr lang="en-US" sz="900" dirty="0">
                <a:solidFill>
                  <a:srgbClr val="1A1A1A"/>
                </a:solidFill>
                <a:latin typeface="Trenda IG Text" pitchFamily="34" charset="0"/>
                <a:ea typeface="Trenda IG Text" pitchFamily="34" charset="-122"/>
                <a:cs typeface="Trenda IG Text" pitchFamily="34" charset="-120"/>
              </a:rPr>
              <a:t>Insert a hypothetical provider or site, re-run every traversal, diff the result</a:t>
            </a:r>
            <a:endParaRPr lang="en-US" sz="900" dirty="0"/>
          </a:p>
        </p:txBody>
      </p:sp>
      <p:sp>
        <p:nvSpPr>
          <p:cNvPr id="84" name="Shape 82"/>
          <p:cNvSpPr/>
          <p:nvPr/>
        </p:nvSpPr>
        <p:spPr>
          <a:xfrm>
            <a:off x="9278874" y="5705856"/>
            <a:ext cx="68580" cy="68580"/>
          </a:xfrm>
          <a:prstGeom prst="rect">
            <a:avLst/>
          </a:prstGeom>
          <a:solidFill>
            <a:srgbClr val="2E7D32"/>
          </a:solidFill>
          <a:ln/>
        </p:spPr>
      </p:sp>
      <p:sp>
        <p:nvSpPr>
          <p:cNvPr id="85" name="Text 83"/>
          <p:cNvSpPr txBox="1"/>
          <p:nvPr/>
        </p:nvSpPr>
        <p:spPr>
          <a:xfrm>
            <a:off x="9406890" y="5660136"/>
            <a:ext cx="2514600" cy="347472"/>
          </a:xfrm>
          <a:prstGeom prst="rect">
            <a:avLst/>
          </a:prstGeom>
          <a:noFill/>
          <a:ln/>
        </p:spPr>
        <p:txBody>
          <a:bodyPr wrap="square" lIns="0" tIns="0" rIns="0" bIns="0" rtlCol="0" anchor="t"/>
          <a:lstStyle/>
          <a:p>
            <a:pPr indent="0" marL="0">
              <a:lnSpc>
                <a:spcPct val="98000"/>
              </a:lnSpc>
              <a:buNone/>
            </a:pPr>
            <a:r>
              <a:rPr lang="en-US" sz="860" dirty="0">
                <a:solidFill>
                  <a:srgbClr val="2E7D32"/>
                </a:solidFill>
                <a:latin typeface="Trenda IG Text Semibold" pitchFamily="34" charset="0"/>
                <a:ea typeface="Trenda IG Text Semibold" pitchFamily="34" charset="-122"/>
                <a:cs typeface="Trenda IG Text Semibold" pitchFamily="34" charset="-120"/>
              </a:rPr>
              <a:t>Patients gaining access and leakage recaptured, before you spend</a:t>
            </a:r>
            <a:endParaRPr lang="en-US" sz="860" dirty="0"/>
          </a:p>
        </p:txBody>
      </p:sp>
      <p:sp>
        <p:nvSpPr>
          <p:cNvPr id="86" name="Shape 84"/>
          <p:cNvSpPr/>
          <p:nvPr/>
        </p:nvSpPr>
        <p:spPr>
          <a:xfrm>
            <a:off x="109728" y="6236208"/>
            <a:ext cx="11969496" cy="457200"/>
          </a:xfrm>
          <a:prstGeom prst="rect">
            <a:avLst/>
          </a:prstGeom>
          <a:solidFill>
            <a:srgbClr val="0E1B2E"/>
          </a:solidFill>
          <a:ln/>
        </p:spPr>
      </p:sp>
      <p:sp>
        <p:nvSpPr>
          <p:cNvPr id="87" name="Shape 85"/>
          <p:cNvSpPr/>
          <p:nvPr/>
        </p:nvSpPr>
        <p:spPr>
          <a:xfrm>
            <a:off x="274320" y="6400800"/>
            <a:ext cx="91440" cy="91440"/>
          </a:xfrm>
          <a:prstGeom prst="rect">
            <a:avLst/>
          </a:prstGeom>
          <a:solidFill>
            <a:srgbClr val="5FD0C0"/>
          </a:solidFill>
          <a:ln/>
        </p:spPr>
      </p:sp>
      <p:sp>
        <p:nvSpPr>
          <p:cNvPr id="88" name="Text 86"/>
          <p:cNvSpPr txBox="1"/>
          <p:nvPr/>
        </p:nvSpPr>
        <p:spPr>
          <a:xfrm>
            <a:off x="457200" y="6236208"/>
            <a:ext cx="11521440" cy="457200"/>
          </a:xfrm>
          <a:prstGeom prst="rect">
            <a:avLst/>
          </a:prstGeom>
          <a:noFill/>
          <a:ln/>
        </p:spPr>
        <p:txBody>
          <a:bodyPr wrap="square" lIns="0" tIns="0" rIns="0" bIns="0" rtlCol="0" anchor="ctr"/>
          <a:lstStyle/>
          <a:p>
            <a:pPr indent="0" marL="0">
              <a:buNone/>
            </a:pPr>
            <a:r>
              <a:rPr lang="en-US" sz="1050" dirty="0">
                <a:solidFill>
                  <a:srgbClr val="FFFFFF"/>
                </a:solidFill>
                <a:latin typeface="Trenda IG Text" pitchFamily="34" charset="0"/>
                <a:ea typeface="Trenda IG Text" pitchFamily="34" charset="-122"/>
                <a:cs typeface="Trenda IG Text" pitchFamily="34" charset="-120"/>
              </a:rPr>
              <a:t>Each scenario returns the same four things: the evidence path, the patients affected, the recommended action, and a cohort ready to activate.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E1B2E"/>
          </a:solidFill>
          <a:ln/>
        </p:spPr>
      </p:sp>
      <p:sp>
        <p:nvSpPr>
          <p:cNvPr id="3" name="Text 1"/>
          <p:cNvSpPr txBox="1"/>
          <p:nvPr/>
        </p:nvSpPr>
        <p:spPr>
          <a:xfrm>
            <a:off x="457200" y="137160"/>
            <a:ext cx="8229600" cy="192024"/>
          </a:xfrm>
          <a:prstGeom prst="rect">
            <a:avLst/>
          </a:prstGeom>
          <a:noFill/>
          <a:ln/>
        </p:spPr>
        <p:txBody>
          <a:bodyPr wrap="square" lIns="0" tIns="0" rIns="0" bIns="0" rtlCol="0" anchor="t"/>
          <a:lstStyle/>
          <a:p>
            <a:pPr indent="0" marL="0">
              <a:buNone/>
            </a:pPr>
            <a:r>
              <a:rPr lang="en-US" sz="1050" spc="120" kern="0" dirty="0">
                <a:solidFill>
                  <a:srgbClr val="5FD0C0"/>
                </a:solidFill>
                <a:latin typeface="Trenda IG Display Semibold" pitchFamily="34" charset="0"/>
                <a:ea typeface="Trenda IG Display Semibold" pitchFamily="34" charset="-122"/>
                <a:cs typeface="Trenda IG Display Semibold" pitchFamily="34" charset="-120"/>
              </a:rPr>
              <a:t>APPOINTMENTS, AND THE NEXT FEATURE AFTER THAT</a:t>
            </a:r>
            <a:endParaRPr lang="en-US" sz="1050" dirty="0"/>
          </a:p>
        </p:txBody>
      </p:sp>
      <p:sp>
        <p:nvSpPr>
          <p:cNvPr id="4" name="Text 2"/>
          <p:cNvSpPr txBox="1"/>
          <p:nvPr/>
        </p:nvSpPr>
        <p:spPr>
          <a:xfrm>
            <a:off x="457200" y="365760"/>
            <a:ext cx="9144000" cy="347472"/>
          </a:xfrm>
          <a:prstGeom prst="rect">
            <a:avLst/>
          </a:prstGeom>
          <a:noFill/>
          <a:ln/>
        </p:spPr>
        <p:txBody>
          <a:bodyPr wrap="square" lIns="0" tIns="0" rIns="0" bIns="0" rtlCol="0" anchor="t"/>
          <a:lstStyle/>
          <a:p>
            <a:pPr indent="0" marL="0">
              <a:buNone/>
            </a:pPr>
            <a:r>
              <a:rPr lang="en-US" sz="2200" dirty="0">
                <a:solidFill>
                  <a:srgbClr val="FFFFFF"/>
                </a:solidFill>
                <a:latin typeface="Trenda IG Display Bold" pitchFamily="34" charset="0"/>
                <a:ea typeface="Trenda IG Display Bold" pitchFamily="34" charset="-122"/>
                <a:cs typeface="Trenda IG Display Bold" pitchFamily="34" charset="-120"/>
              </a:rPr>
              <a:t>Booking, cancellation, no-show risk, and how anything new plugs in</a:t>
            </a:r>
            <a:endParaRPr lang="en-US" sz="2200" dirty="0"/>
          </a:p>
        </p:txBody>
      </p:sp>
      <p:sp>
        <p:nvSpPr>
          <p:cNvPr id="5" name="Text 3"/>
          <p:cNvSpPr txBox="1"/>
          <p:nvPr/>
        </p:nvSpPr>
        <p:spPr>
          <a:xfrm>
            <a:off x="9966960" y="219456"/>
            <a:ext cx="1920240" cy="457200"/>
          </a:xfrm>
          <a:prstGeom prst="rect">
            <a:avLst/>
          </a:prstGeom>
          <a:noFill/>
          <a:ln/>
        </p:spPr>
        <p:txBody>
          <a:bodyPr wrap="square" lIns="0" tIns="0" rIns="0" bIns="0" rtlCol="0" anchor="t"/>
          <a:lstStyle/>
          <a:p>
            <a:pPr indent="0" marL="0">
              <a:lnSpc>
                <a:spcPct val="108000"/>
              </a:lnSpc>
              <a:buNone/>
            </a:pPr>
            <a:r>
              <a:rPr lang="en-US" sz="900" dirty="0">
                <a:solidFill>
                  <a:srgbClr val="A9B4C2"/>
                </a:solidFill>
                <a:latin typeface="Trenda IG Text Light" pitchFamily="34" charset="0"/>
                <a:ea typeface="Trenda IG Text Light" pitchFamily="34" charset="-122"/>
                <a:cs typeface="Trenda IG Text Light" pitchFamily="34" charset="-120"/>
              </a:rPr>
              <a:t>A booking is a lifecycle,</a:t>
            </a:r>
            <a:endParaRPr lang="en-US" sz="900" dirty="0"/>
          </a:p>
          <a:p>
            <a:pPr indent="0" marL="0">
              <a:lnSpc>
                <a:spcPct val="108000"/>
              </a:lnSpc>
              <a:buNone/>
            </a:pPr>
            <a:r>
              <a:rPr lang="en-US" sz="900" dirty="0">
                <a:solidFill>
                  <a:srgbClr val="A9B4C2"/>
                </a:solidFill>
                <a:latin typeface="Trenda IG Text Light" pitchFamily="34" charset="0"/>
                <a:ea typeface="Trenda IG Text Light" pitchFamily="34" charset="-122"/>
                <a:cs typeface="Trenda IG Text Light" pitchFamily="34" charset="-120"/>
              </a:rPr>
              <a:t>not a row.</a:t>
            </a:r>
            <a:endParaRPr lang="en-US" sz="900" dirty="0"/>
          </a:p>
        </p:txBody>
      </p:sp>
      <p:sp>
        <p:nvSpPr>
          <p:cNvPr id="6" name="Shape 4"/>
          <p:cNvSpPr/>
          <p:nvPr/>
        </p:nvSpPr>
        <p:spPr>
          <a:xfrm>
            <a:off x="109728" y="987552"/>
            <a:ext cx="3904488" cy="4297680"/>
          </a:xfrm>
          <a:prstGeom prst="rect">
            <a:avLst/>
          </a:prstGeom>
          <a:solidFill>
            <a:srgbClr val="F4F6F9"/>
          </a:solidFill>
          <a:ln w="9525">
            <a:solidFill>
              <a:srgbClr val="D5D9DE"/>
            </a:solidFill>
            <a:prstDash val="solid"/>
          </a:ln>
        </p:spPr>
      </p:sp>
      <p:sp>
        <p:nvSpPr>
          <p:cNvPr id="7" name="Shape 5"/>
          <p:cNvSpPr/>
          <p:nvPr/>
        </p:nvSpPr>
        <p:spPr>
          <a:xfrm>
            <a:off x="292608" y="1197864"/>
            <a:ext cx="91440" cy="91440"/>
          </a:xfrm>
          <a:prstGeom prst="rect">
            <a:avLst/>
          </a:prstGeom>
          <a:solidFill>
            <a:srgbClr val="C77400"/>
          </a:solidFill>
          <a:ln/>
        </p:spPr>
      </p:sp>
      <p:sp>
        <p:nvSpPr>
          <p:cNvPr id="8" name="Text 6"/>
          <p:cNvSpPr txBox="1"/>
          <p:nvPr/>
        </p:nvSpPr>
        <p:spPr>
          <a:xfrm>
            <a:off x="475488" y="1115568"/>
            <a:ext cx="3355848" cy="274320"/>
          </a:xfrm>
          <a:prstGeom prst="rect">
            <a:avLst/>
          </a:prstGeom>
          <a:noFill/>
          <a:ln/>
        </p:spPr>
        <p:txBody>
          <a:bodyPr wrap="square" lIns="0" tIns="0" rIns="0" bIns="0" rtlCol="0" anchor="t"/>
          <a:lstStyle/>
          <a:p>
            <a:pPr indent="0" marL="0">
              <a:buNone/>
            </a:pPr>
            <a:r>
              <a:rPr lang="en-US" sz="1400" dirty="0">
                <a:solidFill>
                  <a:srgbClr val="1A1A1A"/>
                </a:solidFill>
                <a:latin typeface="Trenda IG Display Bold" pitchFamily="34" charset="0"/>
                <a:ea typeface="Trenda IG Display Bold" pitchFamily="34" charset="-122"/>
                <a:cs typeface="Trenda IG Display Bold" pitchFamily="34" charset="-120"/>
              </a:rPr>
              <a:t>The booking lifecycle</a:t>
            </a:r>
            <a:endParaRPr lang="en-US" sz="1400" dirty="0"/>
          </a:p>
        </p:txBody>
      </p:sp>
      <p:sp>
        <p:nvSpPr>
          <p:cNvPr id="9" name="Text 7"/>
          <p:cNvSpPr txBox="1"/>
          <p:nvPr/>
        </p:nvSpPr>
        <p:spPr>
          <a:xfrm>
            <a:off x="292608" y="1499616"/>
            <a:ext cx="3538728" cy="146304"/>
          </a:xfrm>
          <a:prstGeom prst="rect">
            <a:avLst/>
          </a:prstGeom>
          <a:noFill/>
          <a:ln/>
        </p:spPr>
        <p:txBody>
          <a:bodyPr wrap="square" lIns="0" tIns="0" rIns="0" bIns="0" rtlCol="0" anchor="t"/>
          <a:lstStyle/>
          <a:p>
            <a:pPr indent="0" marL="0">
              <a:buNone/>
            </a:pPr>
            <a:r>
              <a:rPr lang="en-US" sz="700" spc="60" kern="0" dirty="0">
                <a:solidFill>
                  <a:srgbClr val="5A6573"/>
                </a:solidFill>
                <a:latin typeface="Trenda IG Text Semibold" pitchFamily="34" charset="0"/>
                <a:ea typeface="Trenda IG Text Semibold" pitchFamily="34" charset="-122"/>
                <a:cs typeface="Trenda IG Text Semibold" pitchFamily="34" charset="-120"/>
              </a:rPr>
              <a:t>THE PATH WE WANT</a:t>
            </a:r>
            <a:endParaRPr lang="en-US" sz="700" dirty="0"/>
          </a:p>
        </p:txBody>
      </p:sp>
      <p:sp>
        <p:nvSpPr>
          <p:cNvPr id="10" name="Shape 8"/>
          <p:cNvSpPr/>
          <p:nvPr/>
        </p:nvSpPr>
        <p:spPr>
          <a:xfrm>
            <a:off x="292608" y="1691640"/>
            <a:ext cx="1097280" cy="292608"/>
          </a:xfrm>
          <a:prstGeom prst="rect">
            <a:avLst/>
          </a:prstGeom>
          <a:solidFill>
            <a:srgbClr val="FFFFFF"/>
          </a:solidFill>
          <a:ln w="9525">
            <a:solidFill>
              <a:srgbClr val="D5D9DE"/>
            </a:solidFill>
            <a:prstDash val="solid"/>
          </a:ln>
        </p:spPr>
      </p:sp>
      <p:sp>
        <p:nvSpPr>
          <p:cNvPr id="11" name="Text 9"/>
          <p:cNvSpPr txBox="1"/>
          <p:nvPr/>
        </p:nvSpPr>
        <p:spPr>
          <a:xfrm>
            <a:off x="292608" y="1691640"/>
            <a:ext cx="1097280" cy="292608"/>
          </a:xfrm>
          <a:prstGeom prst="rect">
            <a:avLst/>
          </a:prstGeom>
          <a:noFill/>
          <a:ln/>
        </p:spPr>
        <p:txBody>
          <a:bodyPr wrap="square" lIns="0" tIns="0" rIns="0" bIns="0" rtlCol="0" anchor="ctr"/>
          <a:lstStyle/>
          <a:p>
            <a:pPr algn="ctr" indent="0" marL="0">
              <a:buNone/>
            </a:pPr>
            <a:r>
              <a:rPr lang="en-US" sz="850" dirty="0">
                <a:solidFill>
                  <a:srgbClr val="1A1A1A"/>
                </a:solidFill>
                <a:latin typeface="Trenda IG Text Semibold" pitchFamily="34" charset="0"/>
                <a:ea typeface="Trenda IG Text Semibold" pitchFamily="34" charset="-122"/>
                <a:cs typeface="Trenda IG Text Semibold" pitchFamily="34" charset="-120"/>
              </a:rPr>
              <a:t>Requested</a:t>
            </a:r>
            <a:endParaRPr lang="en-US" sz="850" dirty="0"/>
          </a:p>
        </p:txBody>
      </p:sp>
      <p:sp>
        <p:nvSpPr>
          <p:cNvPr id="12" name="Text 10"/>
          <p:cNvSpPr txBox="1"/>
          <p:nvPr/>
        </p:nvSpPr>
        <p:spPr>
          <a:xfrm>
            <a:off x="1389888" y="1691640"/>
            <a:ext cx="91440" cy="292608"/>
          </a:xfrm>
          <a:prstGeom prst="rect">
            <a:avLst/>
          </a:prstGeom>
          <a:noFill/>
          <a:ln/>
        </p:spPr>
        <p:txBody>
          <a:bodyPr wrap="square" lIns="0" tIns="0" rIns="0" bIns="0" rtlCol="0" anchor="ctr"/>
          <a:lstStyle/>
          <a:p>
            <a:pPr algn="ctr" indent="0" marL="0">
              <a:buNone/>
            </a:pPr>
            <a:r>
              <a:rPr lang="en-US" sz="1000" dirty="0">
                <a:solidFill>
                  <a:srgbClr val="5A6573"/>
                </a:solidFill>
                <a:latin typeface="Trenda IG Text" pitchFamily="34" charset="0"/>
                <a:ea typeface="Trenda IG Text" pitchFamily="34" charset="-122"/>
                <a:cs typeface="Trenda IG Text" pitchFamily="34" charset="-120"/>
              </a:rPr>
              <a:t>›</a:t>
            </a:r>
            <a:endParaRPr lang="en-US" sz="1000" dirty="0"/>
          </a:p>
        </p:txBody>
      </p:sp>
      <p:sp>
        <p:nvSpPr>
          <p:cNvPr id="13" name="Shape 11"/>
          <p:cNvSpPr/>
          <p:nvPr/>
        </p:nvSpPr>
        <p:spPr>
          <a:xfrm>
            <a:off x="1481328" y="1691640"/>
            <a:ext cx="1097280" cy="292608"/>
          </a:xfrm>
          <a:prstGeom prst="rect">
            <a:avLst/>
          </a:prstGeom>
          <a:solidFill>
            <a:srgbClr val="FFFFFF"/>
          </a:solidFill>
          <a:ln w="9525">
            <a:solidFill>
              <a:srgbClr val="D5D9DE"/>
            </a:solidFill>
            <a:prstDash val="solid"/>
          </a:ln>
        </p:spPr>
      </p:sp>
      <p:sp>
        <p:nvSpPr>
          <p:cNvPr id="14" name="Text 12"/>
          <p:cNvSpPr txBox="1"/>
          <p:nvPr/>
        </p:nvSpPr>
        <p:spPr>
          <a:xfrm>
            <a:off x="1481328" y="1691640"/>
            <a:ext cx="1097280" cy="292608"/>
          </a:xfrm>
          <a:prstGeom prst="rect">
            <a:avLst/>
          </a:prstGeom>
          <a:noFill/>
          <a:ln/>
        </p:spPr>
        <p:txBody>
          <a:bodyPr wrap="square" lIns="0" tIns="0" rIns="0" bIns="0" rtlCol="0" anchor="ctr"/>
          <a:lstStyle/>
          <a:p>
            <a:pPr algn="ctr" indent="0" marL="0">
              <a:buNone/>
            </a:pPr>
            <a:r>
              <a:rPr lang="en-US" sz="850" dirty="0">
                <a:solidFill>
                  <a:srgbClr val="1A1A1A"/>
                </a:solidFill>
                <a:latin typeface="Trenda IG Text Semibold" pitchFamily="34" charset="0"/>
                <a:ea typeface="Trenda IG Text Semibold" pitchFamily="34" charset="-122"/>
                <a:cs typeface="Trenda IG Text Semibold" pitchFamily="34" charset="-120"/>
              </a:rPr>
              <a:t>Scheduled</a:t>
            </a:r>
            <a:endParaRPr lang="en-US" sz="850" dirty="0"/>
          </a:p>
        </p:txBody>
      </p:sp>
      <p:sp>
        <p:nvSpPr>
          <p:cNvPr id="15" name="Text 13"/>
          <p:cNvSpPr txBox="1"/>
          <p:nvPr/>
        </p:nvSpPr>
        <p:spPr>
          <a:xfrm>
            <a:off x="2578608" y="1691640"/>
            <a:ext cx="91440" cy="292608"/>
          </a:xfrm>
          <a:prstGeom prst="rect">
            <a:avLst/>
          </a:prstGeom>
          <a:noFill/>
          <a:ln/>
        </p:spPr>
        <p:txBody>
          <a:bodyPr wrap="square" lIns="0" tIns="0" rIns="0" bIns="0" rtlCol="0" anchor="ctr"/>
          <a:lstStyle/>
          <a:p>
            <a:pPr algn="ctr" indent="0" marL="0">
              <a:buNone/>
            </a:pPr>
            <a:r>
              <a:rPr lang="en-US" sz="1000" dirty="0">
                <a:solidFill>
                  <a:srgbClr val="5A6573"/>
                </a:solidFill>
                <a:latin typeface="Trenda IG Text" pitchFamily="34" charset="0"/>
                <a:ea typeface="Trenda IG Text" pitchFamily="34" charset="-122"/>
                <a:cs typeface="Trenda IG Text" pitchFamily="34" charset="-120"/>
              </a:rPr>
              <a:t>›</a:t>
            </a:r>
            <a:endParaRPr lang="en-US" sz="1000" dirty="0"/>
          </a:p>
        </p:txBody>
      </p:sp>
      <p:sp>
        <p:nvSpPr>
          <p:cNvPr id="16" name="Shape 14"/>
          <p:cNvSpPr/>
          <p:nvPr/>
        </p:nvSpPr>
        <p:spPr>
          <a:xfrm>
            <a:off x="2670048" y="1691640"/>
            <a:ext cx="1097280" cy="292608"/>
          </a:xfrm>
          <a:prstGeom prst="rect">
            <a:avLst/>
          </a:prstGeom>
          <a:solidFill>
            <a:srgbClr val="FFFFFF"/>
          </a:solidFill>
          <a:ln w="9525">
            <a:solidFill>
              <a:srgbClr val="D5D9DE"/>
            </a:solidFill>
            <a:prstDash val="solid"/>
          </a:ln>
        </p:spPr>
      </p:sp>
      <p:sp>
        <p:nvSpPr>
          <p:cNvPr id="17" name="Text 15"/>
          <p:cNvSpPr txBox="1"/>
          <p:nvPr/>
        </p:nvSpPr>
        <p:spPr>
          <a:xfrm>
            <a:off x="2670048" y="1691640"/>
            <a:ext cx="1097280" cy="292608"/>
          </a:xfrm>
          <a:prstGeom prst="rect">
            <a:avLst/>
          </a:prstGeom>
          <a:noFill/>
          <a:ln/>
        </p:spPr>
        <p:txBody>
          <a:bodyPr wrap="square" lIns="0" tIns="0" rIns="0" bIns="0" rtlCol="0" anchor="ctr"/>
          <a:lstStyle/>
          <a:p>
            <a:pPr algn="ctr" indent="0" marL="0">
              <a:buNone/>
            </a:pPr>
            <a:r>
              <a:rPr lang="en-US" sz="850" dirty="0">
                <a:solidFill>
                  <a:srgbClr val="1A1A1A"/>
                </a:solidFill>
                <a:latin typeface="Trenda IG Text Semibold" pitchFamily="34" charset="0"/>
                <a:ea typeface="Trenda IG Text Semibold" pitchFamily="34" charset="-122"/>
                <a:cs typeface="Trenda IG Text Semibold" pitchFamily="34" charset="-120"/>
              </a:rPr>
              <a:t>Confirmed</a:t>
            </a:r>
            <a:endParaRPr lang="en-US" sz="850" dirty="0"/>
          </a:p>
        </p:txBody>
      </p:sp>
      <p:sp>
        <p:nvSpPr>
          <p:cNvPr id="18" name="Shape 16"/>
          <p:cNvSpPr/>
          <p:nvPr/>
        </p:nvSpPr>
        <p:spPr>
          <a:xfrm>
            <a:off x="292608" y="2075688"/>
            <a:ext cx="1097280" cy="292608"/>
          </a:xfrm>
          <a:prstGeom prst="rect">
            <a:avLst/>
          </a:prstGeom>
          <a:solidFill>
            <a:srgbClr val="FFFFFF"/>
          </a:solidFill>
          <a:ln w="9525">
            <a:solidFill>
              <a:srgbClr val="D5D9DE"/>
            </a:solidFill>
            <a:prstDash val="solid"/>
          </a:ln>
        </p:spPr>
      </p:sp>
      <p:sp>
        <p:nvSpPr>
          <p:cNvPr id="19" name="Text 17"/>
          <p:cNvSpPr txBox="1"/>
          <p:nvPr/>
        </p:nvSpPr>
        <p:spPr>
          <a:xfrm>
            <a:off x="292608" y="2075688"/>
            <a:ext cx="1097280" cy="292608"/>
          </a:xfrm>
          <a:prstGeom prst="rect">
            <a:avLst/>
          </a:prstGeom>
          <a:noFill/>
          <a:ln/>
        </p:spPr>
        <p:txBody>
          <a:bodyPr wrap="square" lIns="0" tIns="0" rIns="0" bIns="0" rtlCol="0" anchor="ctr"/>
          <a:lstStyle/>
          <a:p>
            <a:pPr algn="ctr" indent="0" marL="0">
              <a:buNone/>
            </a:pPr>
            <a:r>
              <a:rPr lang="en-US" sz="850" dirty="0">
                <a:solidFill>
                  <a:srgbClr val="1A1A1A"/>
                </a:solidFill>
                <a:latin typeface="Trenda IG Text Semibold" pitchFamily="34" charset="0"/>
                <a:ea typeface="Trenda IG Text Semibold" pitchFamily="34" charset="-122"/>
                <a:cs typeface="Trenda IG Text Semibold" pitchFamily="34" charset="-120"/>
              </a:rPr>
              <a:t>Reminded</a:t>
            </a:r>
            <a:endParaRPr lang="en-US" sz="850" dirty="0"/>
          </a:p>
        </p:txBody>
      </p:sp>
      <p:sp>
        <p:nvSpPr>
          <p:cNvPr id="20" name="Text 18"/>
          <p:cNvSpPr txBox="1"/>
          <p:nvPr/>
        </p:nvSpPr>
        <p:spPr>
          <a:xfrm>
            <a:off x="1389888" y="2075688"/>
            <a:ext cx="91440" cy="292608"/>
          </a:xfrm>
          <a:prstGeom prst="rect">
            <a:avLst/>
          </a:prstGeom>
          <a:noFill/>
          <a:ln/>
        </p:spPr>
        <p:txBody>
          <a:bodyPr wrap="square" lIns="0" tIns="0" rIns="0" bIns="0" rtlCol="0" anchor="ctr"/>
          <a:lstStyle/>
          <a:p>
            <a:pPr algn="ctr" indent="0" marL="0">
              <a:buNone/>
            </a:pPr>
            <a:r>
              <a:rPr lang="en-US" sz="1000" dirty="0">
                <a:solidFill>
                  <a:srgbClr val="5A6573"/>
                </a:solidFill>
                <a:latin typeface="Trenda IG Text" pitchFamily="34" charset="0"/>
                <a:ea typeface="Trenda IG Text" pitchFamily="34" charset="-122"/>
                <a:cs typeface="Trenda IG Text" pitchFamily="34" charset="-120"/>
              </a:rPr>
              <a:t>›</a:t>
            </a:r>
            <a:endParaRPr lang="en-US" sz="1000" dirty="0"/>
          </a:p>
        </p:txBody>
      </p:sp>
      <p:sp>
        <p:nvSpPr>
          <p:cNvPr id="21" name="Shape 19"/>
          <p:cNvSpPr/>
          <p:nvPr/>
        </p:nvSpPr>
        <p:spPr>
          <a:xfrm>
            <a:off x="1481328" y="2075688"/>
            <a:ext cx="1097280" cy="292608"/>
          </a:xfrm>
          <a:prstGeom prst="rect">
            <a:avLst/>
          </a:prstGeom>
          <a:solidFill>
            <a:srgbClr val="FFFFFF"/>
          </a:solidFill>
          <a:ln w="9525">
            <a:solidFill>
              <a:srgbClr val="D5D9DE"/>
            </a:solidFill>
            <a:prstDash val="solid"/>
          </a:ln>
        </p:spPr>
      </p:sp>
      <p:sp>
        <p:nvSpPr>
          <p:cNvPr id="22" name="Text 20"/>
          <p:cNvSpPr txBox="1"/>
          <p:nvPr/>
        </p:nvSpPr>
        <p:spPr>
          <a:xfrm>
            <a:off x="1481328" y="2075688"/>
            <a:ext cx="1097280" cy="292608"/>
          </a:xfrm>
          <a:prstGeom prst="rect">
            <a:avLst/>
          </a:prstGeom>
          <a:noFill/>
          <a:ln/>
        </p:spPr>
        <p:txBody>
          <a:bodyPr wrap="square" lIns="0" tIns="0" rIns="0" bIns="0" rtlCol="0" anchor="ctr"/>
          <a:lstStyle/>
          <a:p>
            <a:pPr algn="ctr" indent="0" marL="0">
              <a:buNone/>
            </a:pPr>
            <a:r>
              <a:rPr lang="en-US" sz="850" dirty="0">
                <a:solidFill>
                  <a:srgbClr val="1A1A1A"/>
                </a:solidFill>
                <a:latin typeface="Trenda IG Text Semibold" pitchFamily="34" charset="0"/>
                <a:ea typeface="Trenda IG Text Semibold" pitchFamily="34" charset="-122"/>
                <a:cs typeface="Trenda IG Text Semibold" pitchFamily="34" charset="-120"/>
              </a:rPr>
              <a:t>Arrived</a:t>
            </a:r>
            <a:endParaRPr lang="en-US" sz="850" dirty="0"/>
          </a:p>
        </p:txBody>
      </p:sp>
      <p:sp>
        <p:nvSpPr>
          <p:cNvPr id="23" name="Text 21"/>
          <p:cNvSpPr txBox="1"/>
          <p:nvPr/>
        </p:nvSpPr>
        <p:spPr>
          <a:xfrm>
            <a:off x="2578608" y="2075688"/>
            <a:ext cx="91440" cy="292608"/>
          </a:xfrm>
          <a:prstGeom prst="rect">
            <a:avLst/>
          </a:prstGeom>
          <a:noFill/>
          <a:ln/>
        </p:spPr>
        <p:txBody>
          <a:bodyPr wrap="square" lIns="0" tIns="0" rIns="0" bIns="0" rtlCol="0" anchor="ctr"/>
          <a:lstStyle/>
          <a:p>
            <a:pPr algn="ctr" indent="0" marL="0">
              <a:buNone/>
            </a:pPr>
            <a:r>
              <a:rPr lang="en-US" sz="1000" dirty="0">
                <a:solidFill>
                  <a:srgbClr val="5A6573"/>
                </a:solidFill>
                <a:latin typeface="Trenda IG Text" pitchFamily="34" charset="0"/>
                <a:ea typeface="Trenda IG Text" pitchFamily="34" charset="-122"/>
                <a:cs typeface="Trenda IG Text" pitchFamily="34" charset="-120"/>
              </a:rPr>
              <a:t>›</a:t>
            </a:r>
            <a:endParaRPr lang="en-US" sz="1000" dirty="0"/>
          </a:p>
        </p:txBody>
      </p:sp>
      <p:sp>
        <p:nvSpPr>
          <p:cNvPr id="24" name="Shape 22"/>
          <p:cNvSpPr/>
          <p:nvPr/>
        </p:nvSpPr>
        <p:spPr>
          <a:xfrm>
            <a:off x="2670048" y="2075688"/>
            <a:ext cx="1097280" cy="292608"/>
          </a:xfrm>
          <a:prstGeom prst="rect">
            <a:avLst/>
          </a:prstGeom>
          <a:solidFill>
            <a:srgbClr val="FFFFFF"/>
          </a:solidFill>
          <a:ln w="9525">
            <a:solidFill>
              <a:srgbClr val="D5D9DE"/>
            </a:solidFill>
            <a:prstDash val="solid"/>
          </a:ln>
        </p:spPr>
      </p:sp>
      <p:sp>
        <p:nvSpPr>
          <p:cNvPr id="25" name="Text 23"/>
          <p:cNvSpPr txBox="1"/>
          <p:nvPr/>
        </p:nvSpPr>
        <p:spPr>
          <a:xfrm>
            <a:off x="2670048" y="2075688"/>
            <a:ext cx="1097280" cy="292608"/>
          </a:xfrm>
          <a:prstGeom prst="rect">
            <a:avLst/>
          </a:prstGeom>
          <a:noFill/>
          <a:ln/>
        </p:spPr>
        <p:txBody>
          <a:bodyPr wrap="square" lIns="0" tIns="0" rIns="0" bIns="0" rtlCol="0" anchor="ctr"/>
          <a:lstStyle/>
          <a:p>
            <a:pPr algn="ctr" indent="0" marL="0">
              <a:buNone/>
            </a:pPr>
            <a:r>
              <a:rPr lang="en-US" sz="850" dirty="0">
                <a:solidFill>
                  <a:srgbClr val="1A1A1A"/>
                </a:solidFill>
                <a:latin typeface="Trenda IG Text Semibold" pitchFamily="34" charset="0"/>
                <a:ea typeface="Trenda IG Text Semibold" pitchFamily="34" charset="-122"/>
                <a:cs typeface="Trenda IG Text Semibold" pitchFamily="34" charset="-120"/>
              </a:rPr>
              <a:t>Completed</a:t>
            </a:r>
            <a:endParaRPr lang="en-US" sz="850" dirty="0"/>
          </a:p>
        </p:txBody>
      </p:sp>
      <p:sp>
        <p:nvSpPr>
          <p:cNvPr id="26" name="Text 24"/>
          <p:cNvSpPr txBox="1"/>
          <p:nvPr/>
        </p:nvSpPr>
        <p:spPr>
          <a:xfrm>
            <a:off x="292608" y="2542032"/>
            <a:ext cx="3538728" cy="146304"/>
          </a:xfrm>
          <a:prstGeom prst="rect">
            <a:avLst/>
          </a:prstGeom>
          <a:noFill/>
          <a:ln/>
        </p:spPr>
        <p:txBody>
          <a:bodyPr wrap="square" lIns="0" tIns="0" rIns="0" bIns="0" rtlCol="0" anchor="t"/>
          <a:lstStyle/>
          <a:p>
            <a:pPr indent="0" marL="0">
              <a:buNone/>
            </a:pPr>
            <a:r>
              <a:rPr lang="en-US" sz="700" spc="60" kern="0" dirty="0">
                <a:solidFill>
                  <a:srgbClr val="5A6573"/>
                </a:solidFill>
                <a:latin typeface="Trenda IG Text Semibold" pitchFamily="34" charset="0"/>
                <a:ea typeface="Trenda IG Text Semibold" pitchFamily="34" charset="-122"/>
                <a:cs typeface="Trenda IG Text Semibold" pitchFamily="34" charset="-120"/>
              </a:rPr>
              <a:t>WHERE IT BREAKS, AND WHY THE DIFFERENCE MATTERS</a:t>
            </a:r>
            <a:endParaRPr lang="en-US" sz="700" dirty="0"/>
          </a:p>
        </p:txBody>
      </p:sp>
      <p:sp>
        <p:nvSpPr>
          <p:cNvPr id="27" name="Shape 25"/>
          <p:cNvSpPr/>
          <p:nvPr/>
        </p:nvSpPr>
        <p:spPr>
          <a:xfrm>
            <a:off x="292608" y="2734056"/>
            <a:ext cx="3538728" cy="420624"/>
          </a:xfrm>
          <a:prstGeom prst="rect">
            <a:avLst/>
          </a:prstGeom>
          <a:solidFill>
            <a:srgbClr val="FFFFFF"/>
          </a:solidFill>
          <a:ln w="9525">
            <a:solidFill>
              <a:srgbClr val="D5D9DE"/>
            </a:solidFill>
            <a:prstDash val="solid"/>
          </a:ln>
        </p:spPr>
      </p:sp>
      <p:sp>
        <p:nvSpPr>
          <p:cNvPr id="28" name="Shape 26"/>
          <p:cNvSpPr/>
          <p:nvPr/>
        </p:nvSpPr>
        <p:spPr>
          <a:xfrm>
            <a:off x="402336" y="2816352"/>
            <a:ext cx="73152" cy="73152"/>
          </a:xfrm>
          <a:prstGeom prst="rect">
            <a:avLst/>
          </a:prstGeom>
          <a:solidFill>
            <a:srgbClr val="C77400"/>
          </a:solidFill>
          <a:ln/>
        </p:spPr>
      </p:sp>
      <p:sp>
        <p:nvSpPr>
          <p:cNvPr id="29" name="Text 27"/>
          <p:cNvSpPr txBox="1"/>
          <p:nvPr/>
        </p:nvSpPr>
        <p:spPr>
          <a:xfrm>
            <a:off x="530352" y="2770632"/>
            <a:ext cx="3264408" cy="155448"/>
          </a:xfrm>
          <a:prstGeom prst="rect">
            <a:avLst/>
          </a:prstGeom>
          <a:noFill/>
          <a:ln/>
        </p:spPr>
        <p:txBody>
          <a:bodyPr wrap="square" lIns="0" tIns="0" rIns="0" bIns="0" rtlCol="0" anchor="t"/>
          <a:lstStyle/>
          <a:p>
            <a:pPr indent="0" marL="0">
              <a:buNone/>
            </a:pPr>
            <a:r>
              <a:rPr lang="en-US" sz="950" dirty="0">
                <a:solidFill>
                  <a:srgbClr val="1A1A1A"/>
                </a:solidFill>
                <a:latin typeface="Trenda IG Text Semibold" pitchFamily="34" charset="0"/>
                <a:ea typeface="Trenda IG Text Semibold" pitchFamily="34" charset="-122"/>
                <a:cs typeface="Trenda IG Text Semibold" pitchFamily="34" charset="-120"/>
              </a:rPr>
              <a:t>Cancelled by the patient</a:t>
            </a:r>
            <a:endParaRPr lang="en-US" sz="950" dirty="0"/>
          </a:p>
        </p:txBody>
      </p:sp>
      <p:sp>
        <p:nvSpPr>
          <p:cNvPr id="30" name="Text 28"/>
          <p:cNvSpPr txBox="1"/>
          <p:nvPr/>
        </p:nvSpPr>
        <p:spPr>
          <a:xfrm>
            <a:off x="530352" y="2935224"/>
            <a:ext cx="3246120" cy="201168"/>
          </a:xfrm>
          <a:prstGeom prst="rect">
            <a:avLst/>
          </a:prstGeom>
          <a:noFill/>
          <a:ln/>
        </p:spPr>
        <p:txBody>
          <a:bodyPr wrap="square" lIns="0" tIns="0" rIns="0" bIns="0" rtlCol="0" anchor="t"/>
          <a:lstStyle/>
          <a:p>
            <a:pPr indent="0" marL="0">
              <a:lnSpc>
                <a:spcPct val="98000"/>
              </a:lnSpc>
              <a:buNone/>
            </a:pPr>
            <a:r>
              <a:rPr lang="en-US" sz="820" dirty="0">
                <a:solidFill>
                  <a:srgbClr val="5A6573"/>
                </a:solidFill>
                <a:latin typeface="Trenda IG Text" pitchFamily="34" charset="0"/>
                <a:ea typeface="Trenda IG Text" pitchFamily="34" charset="-122"/>
                <a:cs typeface="Trenda IG Text" pitchFamily="34" charset="-120"/>
              </a:rPr>
              <a:t>Lead time decides whether the slot is recoverable at all</a:t>
            </a:r>
            <a:endParaRPr lang="en-US" sz="820" dirty="0"/>
          </a:p>
        </p:txBody>
      </p:sp>
      <p:sp>
        <p:nvSpPr>
          <p:cNvPr id="31" name="Shape 29"/>
          <p:cNvSpPr/>
          <p:nvPr/>
        </p:nvSpPr>
        <p:spPr>
          <a:xfrm>
            <a:off x="292608" y="3209544"/>
            <a:ext cx="3538728" cy="420624"/>
          </a:xfrm>
          <a:prstGeom prst="rect">
            <a:avLst/>
          </a:prstGeom>
          <a:solidFill>
            <a:srgbClr val="FFFFFF"/>
          </a:solidFill>
          <a:ln w="9525">
            <a:solidFill>
              <a:srgbClr val="D5D9DE"/>
            </a:solidFill>
            <a:prstDash val="solid"/>
          </a:ln>
        </p:spPr>
      </p:sp>
      <p:sp>
        <p:nvSpPr>
          <p:cNvPr id="32" name="Shape 30"/>
          <p:cNvSpPr/>
          <p:nvPr/>
        </p:nvSpPr>
        <p:spPr>
          <a:xfrm>
            <a:off x="402336" y="3291840"/>
            <a:ext cx="73152" cy="73152"/>
          </a:xfrm>
          <a:prstGeom prst="rect">
            <a:avLst/>
          </a:prstGeom>
          <a:solidFill>
            <a:srgbClr val="C62828"/>
          </a:solidFill>
          <a:ln/>
        </p:spPr>
      </p:sp>
      <p:sp>
        <p:nvSpPr>
          <p:cNvPr id="33" name="Text 31"/>
          <p:cNvSpPr txBox="1"/>
          <p:nvPr/>
        </p:nvSpPr>
        <p:spPr>
          <a:xfrm>
            <a:off x="530352" y="3246120"/>
            <a:ext cx="3264408" cy="155448"/>
          </a:xfrm>
          <a:prstGeom prst="rect">
            <a:avLst/>
          </a:prstGeom>
          <a:noFill/>
          <a:ln/>
        </p:spPr>
        <p:txBody>
          <a:bodyPr wrap="square" lIns="0" tIns="0" rIns="0" bIns="0" rtlCol="0" anchor="t"/>
          <a:lstStyle/>
          <a:p>
            <a:pPr indent="0" marL="0">
              <a:buNone/>
            </a:pPr>
            <a:r>
              <a:rPr lang="en-US" sz="950" dirty="0">
                <a:solidFill>
                  <a:srgbClr val="1A1A1A"/>
                </a:solidFill>
                <a:latin typeface="Trenda IG Text Semibold" pitchFamily="34" charset="0"/>
                <a:ea typeface="Trenda IG Text Semibold" pitchFamily="34" charset="-122"/>
                <a:cs typeface="Trenda IG Text Semibold" pitchFamily="34" charset="-120"/>
              </a:rPr>
              <a:t>Cancelled by the clinic</a:t>
            </a:r>
            <a:endParaRPr lang="en-US" sz="950" dirty="0"/>
          </a:p>
        </p:txBody>
      </p:sp>
      <p:sp>
        <p:nvSpPr>
          <p:cNvPr id="34" name="Text 32"/>
          <p:cNvSpPr txBox="1"/>
          <p:nvPr/>
        </p:nvSpPr>
        <p:spPr>
          <a:xfrm>
            <a:off x="530352" y="3410712"/>
            <a:ext cx="3246120" cy="201168"/>
          </a:xfrm>
          <a:prstGeom prst="rect">
            <a:avLst/>
          </a:prstGeom>
          <a:noFill/>
          <a:ln/>
        </p:spPr>
        <p:txBody>
          <a:bodyPr wrap="square" lIns="0" tIns="0" rIns="0" bIns="0" rtlCol="0" anchor="t"/>
          <a:lstStyle/>
          <a:p>
            <a:pPr indent="0" marL="0">
              <a:lnSpc>
                <a:spcPct val="98000"/>
              </a:lnSpc>
              <a:buNone/>
            </a:pPr>
            <a:r>
              <a:rPr lang="en-US" sz="820" dirty="0">
                <a:solidFill>
                  <a:srgbClr val="5A6573"/>
                </a:solidFill>
                <a:latin typeface="Trenda IG Text" pitchFamily="34" charset="0"/>
                <a:ea typeface="Trenda IG Text" pitchFamily="34" charset="-122"/>
                <a:cs typeface="Trenda IG Text" pitchFamily="34" charset="-120"/>
              </a:rPr>
              <a:t>Provider absence or template churn, often logged as the patient’s</a:t>
            </a:r>
            <a:endParaRPr lang="en-US" sz="820" dirty="0"/>
          </a:p>
        </p:txBody>
      </p:sp>
      <p:sp>
        <p:nvSpPr>
          <p:cNvPr id="35" name="Shape 33"/>
          <p:cNvSpPr/>
          <p:nvPr/>
        </p:nvSpPr>
        <p:spPr>
          <a:xfrm>
            <a:off x="292608" y="3685032"/>
            <a:ext cx="3538728" cy="420624"/>
          </a:xfrm>
          <a:prstGeom prst="rect">
            <a:avLst/>
          </a:prstGeom>
          <a:solidFill>
            <a:srgbClr val="FFFFFF"/>
          </a:solidFill>
          <a:ln w="9525">
            <a:solidFill>
              <a:srgbClr val="D5D9DE"/>
            </a:solidFill>
            <a:prstDash val="solid"/>
          </a:ln>
        </p:spPr>
      </p:sp>
      <p:sp>
        <p:nvSpPr>
          <p:cNvPr id="36" name="Shape 34"/>
          <p:cNvSpPr/>
          <p:nvPr/>
        </p:nvSpPr>
        <p:spPr>
          <a:xfrm>
            <a:off x="402336" y="3767328"/>
            <a:ext cx="73152" cy="73152"/>
          </a:xfrm>
          <a:prstGeom prst="rect">
            <a:avLst/>
          </a:prstGeom>
          <a:solidFill>
            <a:srgbClr val="7A4FC0"/>
          </a:solidFill>
          <a:ln/>
        </p:spPr>
      </p:sp>
      <p:sp>
        <p:nvSpPr>
          <p:cNvPr id="37" name="Text 35"/>
          <p:cNvSpPr txBox="1"/>
          <p:nvPr/>
        </p:nvSpPr>
        <p:spPr>
          <a:xfrm>
            <a:off x="530352" y="3721608"/>
            <a:ext cx="3264408" cy="155448"/>
          </a:xfrm>
          <a:prstGeom prst="rect">
            <a:avLst/>
          </a:prstGeom>
          <a:noFill/>
          <a:ln/>
        </p:spPr>
        <p:txBody>
          <a:bodyPr wrap="square" lIns="0" tIns="0" rIns="0" bIns="0" rtlCol="0" anchor="t"/>
          <a:lstStyle/>
          <a:p>
            <a:pPr indent="0" marL="0">
              <a:buNone/>
            </a:pPr>
            <a:r>
              <a:rPr lang="en-US" sz="950" dirty="0">
                <a:solidFill>
                  <a:srgbClr val="1A1A1A"/>
                </a:solidFill>
                <a:latin typeface="Trenda IG Text Semibold" pitchFamily="34" charset="0"/>
                <a:ea typeface="Trenda IG Text Semibold" pitchFamily="34" charset="-122"/>
                <a:cs typeface="Trenda IG Text Semibold" pitchFamily="34" charset="-120"/>
              </a:rPr>
              <a:t>Rescheduled</a:t>
            </a:r>
            <a:endParaRPr lang="en-US" sz="950" dirty="0"/>
          </a:p>
        </p:txBody>
      </p:sp>
      <p:sp>
        <p:nvSpPr>
          <p:cNvPr id="38" name="Text 36"/>
          <p:cNvSpPr txBox="1"/>
          <p:nvPr/>
        </p:nvSpPr>
        <p:spPr>
          <a:xfrm>
            <a:off x="530352" y="3886200"/>
            <a:ext cx="3246120" cy="201168"/>
          </a:xfrm>
          <a:prstGeom prst="rect">
            <a:avLst/>
          </a:prstGeom>
          <a:noFill/>
          <a:ln/>
        </p:spPr>
        <p:txBody>
          <a:bodyPr wrap="square" lIns="0" tIns="0" rIns="0" bIns="0" rtlCol="0" anchor="t"/>
          <a:lstStyle/>
          <a:p>
            <a:pPr indent="0" marL="0">
              <a:lnSpc>
                <a:spcPct val="98000"/>
              </a:lnSpc>
              <a:buNone/>
            </a:pPr>
            <a:r>
              <a:rPr lang="en-US" sz="820" dirty="0">
                <a:solidFill>
                  <a:srgbClr val="5A6573"/>
                </a:solidFill>
                <a:latin typeface="Trenda IG Text" pitchFamily="34" charset="0"/>
                <a:ea typeface="Trenda IG Text" pitchFamily="34" charset="-122"/>
                <a:cs typeface="Trenda IG Text" pitchFamily="34" charset="-120"/>
              </a:rPr>
              <a:t>A new appointment, the same care intent. Not a second failure</a:t>
            </a:r>
            <a:endParaRPr lang="en-US" sz="820" dirty="0"/>
          </a:p>
        </p:txBody>
      </p:sp>
      <p:sp>
        <p:nvSpPr>
          <p:cNvPr id="39" name="Shape 37"/>
          <p:cNvSpPr/>
          <p:nvPr/>
        </p:nvSpPr>
        <p:spPr>
          <a:xfrm>
            <a:off x="292608" y="4160520"/>
            <a:ext cx="3538728" cy="420624"/>
          </a:xfrm>
          <a:prstGeom prst="rect">
            <a:avLst/>
          </a:prstGeom>
          <a:solidFill>
            <a:srgbClr val="FFFFFF"/>
          </a:solidFill>
          <a:ln w="9525">
            <a:solidFill>
              <a:srgbClr val="D5D9DE"/>
            </a:solidFill>
            <a:prstDash val="solid"/>
          </a:ln>
        </p:spPr>
      </p:sp>
      <p:sp>
        <p:nvSpPr>
          <p:cNvPr id="40" name="Shape 38"/>
          <p:cNvSpPr/>
          <p:nvPr/>
        </p:nvSpPr>
        <p:spPr>
          <a:xfrm>
            <a:off x="402336" y="4242816"/>
            <a:ext cx="73152" cy="73152"/>
          </a:xfrm>
          <a:prstGeom prst="rect">
            <a:avLst/>
          </a:prstGeom>
          <a:solidFill>
            <a:srgbClr val="C2185B"/>
          </a:solidFill>
          <a:ln/>
        </p:spPr>
      </p:sp>
      <p:sp>
        <p:nvSpPr>
          <p:cNvPr id="41" name="Text 39"/>
          <p:cNvSpPr txBox="1"/>
          <p:nvPr/>
        </p:nvSpPr>
        <p:spPr>
          <a:xfrm>
            <a:off x="530352" y="4197096"/>
            <a:ext cx="3264408" cy="155448"/>
          </a:xfrm>
          <a:prstGeom prst="rect">
            <a:avLst/>
          </a:prstGeom>
          <a:noFill/>
          <a:ln/>
        </p:spPr>
        <p:txBody>
          <a:bodyPr wrap="square" lIns="0" tIns="0" rIns="0" bIns="0" rtlCol="0" anchor="t"/>
          <a:lstStyle/>
          <a:p>
            <a:pPr indent="0" marL="0">
              <a:buNone/>
            </a:pPr>
            <a:r>
              <a:rPr lang="en-US" sz="950" dirty="0">
                <a:solidFill>
                  <a:srgbClr val="1A1A1A"/>
                </a:solidFill>
                <a:latin typeface="Trenda IG Text Semibold" pitchFamily="34" charset="0"/>
                <a:ea typeface="Trenda IG Text Semibold" pitchFamily="34" charset="-122"/>
                <a:cs typeface="Trenda IG Text Semibold" pitchFamily="34" charset="-120"/>
              </a:rPr>
              <a:t>No-show</a:t>
            </a:r>
            <a:endParaRPr lang="en-US" sz="950" dirty="0"/>
          </a:p>
        </p:txBody>
      </p:sp>
      <p:sp>
        <p:nvSpPr>
          <p:cNvPr id="42" name="Text 40"/>
          <p:cNvSpPr txBox="1"/>
          <p:nvPr/>
        </p:nvSpPr>
        <p:spPr>
          <a:xfrm>
            <a:off x="530352" y="4361688"/>
            <a:ext cx="3246120" cy="201168"/>
          </a:xfrm>
          <a:prstGeom prst="rect">
            <a:avLst/>
          </a:prstGeom>
          <a:noFill/>
          <a:ln/>
        </p:spPr>
        <p:txBody>
          <a:bodyPr wrap="square" lIns="0" tIns="0" rIns="0" bIns="0" rtlCol="0" anchor="t"/>
          <a:lstStyle/>
          <a:p>
            <a:pPr indent="0" marL="0">
              <a:lnSpc>
                <a:spcPct val="98000"/>
              </a:lnSpc>
              <a:buNone/>
            </a:pPr>
            <a:r>
              <a:rPr lang="en-US" sz="820" dirty="0">
                <a:solidFill>
                  <a:srgbClr val="5A6573"/>
                </a:solidFill>
                <a:latin typeface="Trenda IG Text" pitchFamily="34" charset="0"/>
                <a:ea typeface="Trenda IG Text" pitchFamily="34" charset="-122"/>
                <a:cs typeface="Trenda IG Text" pitchFamily="34" charset="-120"/>
              </a:rPr>
              <a:t>The slot is gone and the care gap stays open</a:t>
            </a:r>
            <a:endParaRPr lang="en-US" sz="820" dirty="0"/>
          </a:p>
        </p:txBody>
      </p:sp>
      <p:sp>
        <p:nvSpPr>
          <p:cNvPr id="43" name="Shape 41"/>
          <p:cNvSpPr/>
          <p:nvPr/>
        </p:nvSpPr>
        <p:spPr>
          <a:xfrm>
            <a:off x="292608" y="4700016"/>
            <a:ext cx="3538728" cy="493776"/>
          </a:xfrm>
          <a:prstGeom prst="rect">
            <a:avLst/>
          </a:prstGeom>
          <a:solidFill>
            <a:srgbClr val="0E1B2E"/>
          </a:solidFill>
          <a:ln/>
        </p:spPr>
      </p:sp>
      <p:sp>
        <p:nvSpPr>
          <p:cNvPr id="44" name="Text 42"/>
          <p:cNvSpPr txBox="1"/>
          <p:nvPr/>
        </p:nvSpPr>
        <p:spPr>
          <a:xfrm>
            <a:off x="420624" y="4754880"/>
            <a:ext cx="3282696" cy="402336"/>
          </a:xfrm>
          <a:prstGeom prst="rect">
            <a:avLst/>
          </a:prstGeom>
          <a:noFill/>
          <a:ln/>
        </p:spPr>
        <p:txBody>
          <a:bodyPr wrap="square" lIns="0" tIns="0" rIns="0" bIns="0" rtlCol="0" anchor="t"/>
          <a:lstStyle/>
          <a:p>
            <a:pPr indent="0" marL="0">
              <a:lnSpc>
                <a:spcPct val="100000"/>
              </a:lnSpc>
              <a:buNone/>
            </a:pPr>
            <a:r>
              <a:rPr lang="en-US" sz="800" dirty="0">
                <a:solidFill>
                  <a:srgbClr val="D8DEE6"/>
                </a:solidFill>
                <a:latin typeface="Trenda IG Text" pitchFamily="34" charset="0"/>
                <a:ea typeface="Trenda IG Text" pitchFamily="34" charset="-122"/>
                <a:cs typeface="Trenda IG Text" pitchFamily="34" charset="-120"/>
              </a:rPr>
              <a:t>One care intent can hold four bookings and three cancellations. Count appointments and the patient looks non compliant. Count care intents and you see one person who got seen, after three rounds of friction.</a:t>
            </a:r>
            <a:endParaRPr lang="en-US" sz="800" dirty="0"/>
          </a:p>
        </p:txBody>
      </p:sp>
      <p:sp>
        <p:nvSpPr>
          <p:cNvPr id="45" name="Shape 43"/>
          <p:cNvSpPr/>
          <p:nvPr/>
        </p:nvSpPr>
        <p:spPr>
          <a:xfrm>
            <a:off x="4142232" y="987552"/>
            <a:ext cx="3904488" cy="4297680"/>
          </a:xfrm>
          <a:prstGeom prst="rect">
            <a:avLst/>
          </a:prstGeom>
          <a:solidFill>
            <a:srgbClr val="F4F6F9"/>
          </a:solidFill>
          <a:ln w="9525">
            <a:solidFill>
              <a:srgbClr val="D5D9DE"/>
            </a:solidFill>
            <a:prstDash val="solid"/>
          </a:ln>
        </p:spPr>
      </p:sp>
      <p:sp>
        <p:nvSpPr>
          <p:cNvPr id="46" name="Shape 44"/>
          <p:cNvSpPr/>
          <p:nvPr/>
        </p:nvSpPr>
        <p:spPr>
          <a:xfrm>
            <a:off x="4325112" y="1197864"/>
            <a:ext cx="91440" cy="91440"/>
          </a:xfrm>
          <a:prstGeom prst="rect">
            <a:avLst/>
          </a:prstGeom>
          <a:solidFill>
            <a:srgbClr val="2E7D32"/>
          </a:solidFill>
          <a:ln/>
        </p:spPr>
      </p:sp>
      <p:sp>
        <p:nvSpPr>
          <p:cNvPr id="47" name="Text 45"/>
          <p:cNvSpPr txBox="1"/>
          <p:nvPr/>
        </p:nvSpPr>
        <p:spPr>
          <a:xfrm>
            <a:off x="4507992" y="1115568"/>
            <a:ext cx="3355848" cy="274320"/>
          </a:xfrm>
          <a:prstGeom prst="rect">
            <a:avLst/>
          </a:prstGeom>
          <a:noFill/>
          <a:ln/>
        </p:spPr>
        <p:txBody>
          <a:bodyPr wrap="square" lIns="0" tIns="0" rIns="0" bIns="0" rtlCol="0" anchor="t"/>
          <a:lstStyle/>
          <a:p>
            <a:pPr indent="0" marL="0">
              <a:buNone/>
            </a:pPr>
            <a:r>
              <a:rPr lang="en-US" sz="1400" dirty="0">
                <a:solidFill>
                  <a:srgbClr val="1A1A1A"/>
                </a:solidFill>
                <a:latin typeface="Trenda IG Display Bold" pitchFamily="34" charset="0"/>
                <a:ea typeface="Trenda IG Display Bold" pitchFamily="34" charset="-122"/>
                <a:cs typeface="Trenda IG Display Bold" pitchFamily="34" charset="-120"/>
              </a:rPr>
              <a:t>What we predict, and how</a:t>
            </a:r>
            <a:endParaRPr lang="en-US" sz="1400" dirty="0"/>
          </a:p>
        </p:txBody>
      </p:sp>
      <p:sp>
        <p:nvSpPr>
          <p:cNvPr id="48" name="Shape 46"/>
          <p:cNvSpPr/>
          <p:nvPr/>
        </p:nvSpPr>
        <p:spPr>
          <a:xfrm>
            <a:off x="4325112" y="1563624"/>
            <a:ext cx="73152" cy="73152"/>
          </a:xfrm>
          <a:prstGeom prst="rect">
            <a:avLst/>
          </a:prstGeom>
          <a:solidFill>
            <a:srgbClr val="2E7D32"/>
          </a:solidFill>
          <a:ln/>
        </p:spPr>
      </p:sp>
      <p:sp>
        <p:nvSpPr>
          <p:cNvPr id="49" name="Text 47"/>
          <p:cNvSpPr txBox="1"/>
          <p:nvPr/>
        </p:nvSpPr>
        <p:spPr>
          <a:xfrm>
            <a:off x="4471416" y="1517904"/>
            <a:ext cx="3392424" cy="182880"/>
          </a:xfrm>
          <a:prstGeom prst="rect">
            <a:avLst/>
          </a:prstGeom>
          <a:noFill/>
          <a:ln/>
        </p:spPr>
        <p:txBody>
          <a:bodyPr wrap="square" lIns="0" tIns="0" rIns="0" bIns="0" rtlCol="0" anchor="t"/>
          <a:lstStyle/>
          <a:p>
            <a:pPr indent="0" marL="0">
              <a:buNone/>
            </a:pPr>
            <a:r>
              <a:rPr lang="en-US" sz="1000" dirty="0">
                <a:solidFill>
                  <a:srgbClr val="1A1A1A"/>
                </a:solidFill>
                <a:latin typeface="Trenda IG Display Bold" pitchFamily="34" charset="0"/>
                <a:ea typeface="Trenda IG Display Bold" pitchFamily="34" charset="-122"/>
                <a:cs typeface="Trenda IG Display Bold" pitchFamily="34" charset="-120"/>
              </a:rPr>
              <a:t>The target, defined properly</a:t>
            </a:r>
            <a:endParaRPr lang="en-US" sz="1000" dirty="0"/>
          </a:p>
        </p:txBody>
      </p:sp>
      <p:sp>
        <p:nvSpPr>
          <p:cNvPr id="50" name="Text 48"/>
          <p:cNvSpPr txBox="1"/>
          <p:nvPr/>
        </p:nvSpPr>
        <p:spPr>
          <a:xfrm>
            <a:off x="4343400" y="1737360"/>
            <a:ext cx="3502152" cy="838200"/>
          </a:xfrm>
          <a:prstGeom prst="rect">
            <a:avLst/>
          </a:prstGeom>
          <a:noFill/>
          <a:ln/>
        </p:spPr>
        <p:txBody>
          <a:bodyPr wrap="square" lIns="0" tIns="0" rIns="0" bIns="0" rtlCol="0" anchor="t"/>
          <a:lstStyle/>
          <a:p>
            <a:pPr marL="101600" indent="-101600">
              <a:lnSpc>
                <a:spcPct val="100000"/>
              </a:lnSpc>
              <a:spcAft>
                <a:spcPts val="300"/>
              </a:spcAft>
              <a:buSzPct val="100000"/>
              <a:buChar char="•"/>
            </a:pPr>
            <a:r>
              <a:rPr lang="en-US" sz="830" dirty="0">
                <a:solidFill>
                  <a:srgbClr val="1A1A1A"/>
                </a:solidFill>
                <a:latin typeface="Trenda IG Text" pitchFamily="34" charset="0"/>
                <a:ea typeface="Trenda IG Text" pitchFamily="34" charset="-122"/>
                <a:cs typeface="Trenda IG Text" pitchFamily="34" charset="-120"/>
              </a:rPr>
              <a:t>Three outcomes, not two: attended, cancelled, no-show</a:t>
            </a:r>
            <a:endParaRPr lang="en-US" sz="830" dirty="0"/>
          </a:p>
          <a:p>
            <a:pPr marL="101600" indent="-101600">
              <a:lnSpc>
                <a:spcPct val="100000"/>
              </a:lnSpc>
              <a:spcAft>
                <a:spcPts val="300"/>
              </a:spcAft>
              <a:buSzPct val="100000"/>
              <a:buChar char="•"/>
            </a:pPr>
            <a:r>
              <a:rPr lang="en-US" sz="830" dirty="0">
                <a:solidFill>
                  <a:srgbClr val="1A1A1A"/>
                </a:solidFill>
                <a:latin typeface="Trenda IG Text" pitchFamily="34" charset="0"/>
                <a:ea typeface="Trenda IG Text" pitchFamily="34" charset="-122"/>
                <a:cs typeface="Trenda IG Text" pitchFamily="34" charset="-120"/>
              </a:rPr>
              <a:t>A cancellation three weeks out is a recovered slot. Two hours out is a no-show with extra steps</a:t>
            </a:r>
            <a:endParaRPr lang="en-US" sz="830" dirty="0"/>
          </a:p>
          <a:p>
            <a:pPr marL="101600" indent="-101600">
              <a:lnSpc>
                <a:spcPct val="100000"/>
              </a:lnSpc>
              <a:spcAft>
                <a:spcPts val="300"/>
              </a:spcAft>
              <a:buSzPct val="100000"/>
              <a:buChar char="•"/>
            </a:pPr>
            <a:r>
              <a:rPr lang="en-US" sz="830" dirty="0">
                <a:solidFill>
                  <a:srgbClr val="1A1A1A"/>
                </a:solidFill>
                <a:latin typeface="Trenda IG Text" pitchFamily="34" charset="0"/>
                <a:ea typeface="Trenda IG Text" pitchFamily="34" charset="-122"/>
                <a:cs typeface="Trenda IG Text" pitchFamily="34" charset="-120"/>
              </a:rPr>
              <a:t>So the model returns attendance probability and slot recovery probability</a:t>
            </a:r>
            <a:endParaRPr lang="en-US" sz="830" dirty="0"/>
          </a:p>
        </p:txBody>
      </p:sp>
      <p:sp>
        <p:nvSpPr>
          <p:cNvPr id="51" name="Shape 49"/>
          <p:cNvSpPr/>
          <p:nvPr/>
        </p:nvSpPr>
        <p:spPr>
          <a:xfrm>
            <a:off x="4325112" y="2676144"/>
            <a:ext cx="73152" cy="73152"/>
          </a:xfrm>
          <a:prstGeom prst="rect">
            <a:avLst/>
          </a:prstGeom>
          <a:solidFill>
            <a:srgbClr val="1B6BC0"/>
          </a:solidFill>
          <a:ln/>
        </p:spPr>
      </p:sp>
      <p:sp>
        <p:nvSpPr>
          <p:cNvPr id="52" name="Text 50"/>
          <p:cNvSpPr txBox="1"/>
          <p:nvPr/>
        </p:nvSpPr>
        <p:spPr>
          <a:xfrm>
            <a:off x="4471416" y="2630424"/>
            <a:ext cx="3392424" cy="182880"/>
          </a:xfrm>
          <a:prstGeom prst="rect">
            <a:avLst/>
          </a:prstGeom>
          <a:noFill/>
          <a:ln/>
        </p:spPr>
        <p:txBody>
          <a:bodyPr wrap="square" lIns="0" tIns="0" rIns="0" bIns="0" rtlCol="0" anchor="t"/>
          <a:lstStyle/>
          <a:p>
            <a:pPr indent="0" marL="0">
              <a:buNone/>
            </a:pPr>
            <a:r>
              <a:rPr lang="en-US" sz="1000" dirty="0">
                <a:solidFill>
                  <a:srgbClr val="1A1A1A"/>
                </a:solidFill>
                <a:latin typeface="Trenda IG Display Bold" pitchFamily="34" charset="0"/>
                <a:ea typeface="Trenda IG Display Bold" pitchFamily="34" charset="-122"/>
                <a:cs typeface="Trenda IG Display Bold" pitchFamily="34" charset="-120"/>
              </a:rPr>
              <a:t>Features the graph already holds</a:t>
            </a:r>
            <a:endParaRPr lang="en-US" sz="1000" dirty="0"/>
          </a:p>
        </p:txBody>
      </p:sp>
      <p:sp>
        <p:nvSpPr>
          <p:cNvPr id="53" name="Text 51"/>
          <p:cNvSpPr txBox="1"/>
          <p:nvPr/>
        </p:nvSpPr>
        <p:spPr>
          <a:xfrm>
            <a:off x="4343400" y="2849880"/>
            <a:ext cx="3502152" cy="914400"/>
          </a:xfrm>
          <a:prstGeom prst="rect">
            <a:avLst/>
          </a:prstGeom>
          <a:noFill/>
          <a:ln/>
        </p:spPr>
        <p:txBody>
          <a:bodyPr wrap="square" lIns="0" tIns="0" rIns="0" bIns="0" rtlCol="0" anchor="t"/>
          <a:lstStyle/>
          <a:p>
            <a:pPr marL="101600" indent="-101600">
              <a:lnSpc>
                <a:spcPct val="100000"/>
              </a:lnSpc>
              <a:spcAft>
                <a:spcPts val="300"/>
              </a:spcAft>
              <a:buSzPct val="100000"/>
              <a:buChar char="•"/>
            </a:pPr>
            <a:r>
              <a:rPr lang="en-US" sz="830" dirty="0">
                <a:solidFill>
                  <a:srgbClr val="1A1A1A"/>
                </a:solidFill>
                <a:latin typeface="Trenda IG Text" pitchFamily="34" charset="0"/>
                <a:ea typeface="Trenda IG Text" pitchFamily="34" charset="-122"/>
                <a:cs typeface="Trenda IG Text" pitchFamily="34" charset="-120"/>
              </a:rPr>
              <a:t>Lead time from booking to visit, usually the strongest single signal</a:t>
            </a:r>
            <a:endParaRPr lang="en-US" sz="830" dirty="0"/>
          </a:p>
          <a:p>
            <a:pPr marL="101600" indent="-101600">
              <a:lnSpc>
                <a:spcPct val="100000"/>
              </a:lnSpc>
              <a:spcAft>
                <a:spcPts val="300"/>
              </a:spcAft>
              <a:buSzPct val="100000"/>
              <a:buChar char="•"/>
            </a:pPr>
            <a:r>
              <a:rPr lang="en-US" sz="830" dirty="0">
                <a:solidFill>
                  <a:srgbClr val="1A1A1A"/>
                </a:solidFill>
                <a:latin typeface="Trenda IG Text" pitchFamily="34" charset="0"/>
                <a:ea typeface="Trenda IG Text" pitchFamily="34" charset="-122"/>
                <a:cs typeface="Trenda IG Text" pitchFamily="34" charset="-120"/>
              </a:rPr>
              <a:t>Patient history, shrunk for low counts</a:t>
            </a:r>
            <a:endParaRPr lang="en-US" sz="830" dirty="0"/>
          </a:p>
          <a:p>
            <a:pPr marL="101600" indent="-101600">
              <a:lnSpc>
                <a:spcPct val="100000"/>
              </a:lnSpc>
              <a:spcAft>
                <a:spcPts val="300"/>
              </a:spcAft>
              <a:buSzPct val="100000"/>
              <a:buChar char="•"/>
            </a:pPr>
            <a:r>
              <a:rPr lang="en-US" sz="830" dirty="0">
                <a:solidFill>
                  <a:srgbClr val="1A1A1A"/>
                </a:solidFill>
                <a:latin typeface="Trenda IG Text" pitchFamily="34" charset="0"/>
                <a:ea typeface="Trenda IG Text" pitchFamily="34" charset="-122"/>
                <a:cs typeface="Trenda IG Text" pitchFamily="34" charset="-120"/>
              </a:rPr>
              <a:t>Drive time and travel burden, already an edge</a:t>
            </a:r>
            <a:endParaRPr lang="en-US" sz="830" dirty="0"/>
          </a:p>
          <a:p>
            <a:pPr marL="101600" indent="-101600">
              <a:lnSpc>
                <a:spcPct val="100000"/>
              </a:lnSpc>
              <a:spcAft>
                <a:spcPts val="300"/>
              </a:spcAft>
              <a:buSzPct val="100000"/>
              <a:buChar char="•"/>
            </a:pPr>
            <a:r>
              <a:rPr lang="en-US" sz="830" dirty="0">
                <a:solidFill>
                  <a:srgbClr val="1A1A1A"/>
                </a:solidFill>
                <a:latin typeface="Trenda IG Text" pitchFamily="34" charset="0"/>
                <a:ea typeface="Trenda IG Text" pitchFamily="34" charset="-122"/>
                <a:cs typeface="Trenda IG Text" pitchFamily="34" charset="-120"/>
              </a:rPr>
              <a:t>Reminder delivered, and engaged with</a:t>
            </a:r>
            <a:endParaRPr lang="en-US" sz="830" dirty="0"/>
          </a:p>
          <a:p>
            <a:pPr marL="101600" indent="-101600">
              <a:lnSpc>
                <a:spcPct val="100000"/>
              </a:lnSpc>
              <a:spcAft>
                <a:spcPts val="300"/>
              </a:spcAft>
              <a:buSzPct val="100000"/>
              <a:buChar char="•"/>
            </a:pPr>
            <a:r>
              <a:rPr lang="en-US" sz="830" dirty="0">
                <a:solidFill>
                  <a:srgbClr val="1A1A1A"/>
                </a:solidFill>
                <a:latin typeface="Trenda IG Text" pitchFamily="34" charset="0"/>
                <a:ea typeface="Trenda IG Text" pitchFamily="34" charset="-122"/>
                <a:cs typeface="Trenda IG Text" pitchFamily="34" charset="-120"/>
              </a:rPr>
              <a:t>Times the clinic cancelled on this patient</a:t>
            </a:r>
            <a:endParaRPr lang="en-US" sz="830" dirty="0"/>
          </a:p>
        </p:txBody>
      </p:sp>
      <p:sp>
        <p:nvSpPr>
          <p:cNvPr id="54" name="Shape 52"/>
          <p:cNvSpPr/>
          <p:nvPr/>
        </p:nvSpPr>
        <p:spPr>
          <a:xfrm>
            <a:off x="4325112" y="3864864"/>
            <a:ext cx="73152" cy="73152"/>
          </a:xfrm>
          <a:prstGeom prst="rect">
            <a:avLst/>
          </a:prstGeom>
          <a:solidFill>
            <a:srgbClr val="7A4FC0"/>
          </a:solidFill>
          <a:ln/>
        </p:spPr>
      </p:sp>
      <p:sp>
        <p:nvSpPr>
          <p:cNvPr id="55" name="Text 53"/>
          <p:cNvSpPr txBox="1"/>
          <p:nvPr/>
        </p:nvSpPr>
        <p:spPr>
          <a:xfrm>
            <a:off x="4471416" y="3819144"/>
            <a:ext cx="3392424" cy="182880"/>
          </a:xfrm>
          <a:prstGeom prst="rect">
            <a:avLst/>
          </a:prstGeom>
          <a:noFill/>
          <a:ln/>
        </p:spPr>
        <p:txBody>
          <a:bodyPr wrap="square" lIns="0" tIns="0" rIns="0" bIns="0" rtlCol="0" anchor="t"/>
          <a:lstStyle/>
          <a:p>
            <a:pPr indent="0" marL="0">
              <a:buNone/>
            </a:pPr>
            <a:r>
              <a:rPr lang="en-US" sz="1000" dirty="0">
                <a:solidFill>
                  <a:srgbClr val="1A1A1A"/>
                </a:solidFill>
                <a:latin typeface="Trenda IG Display Bold" pitchFamily="34" charset="0"/>
                <a:ea typeface="Trenda IG Display Bold" pitchFamily="34" charset="-122"/>
                <a:cs typeface="Trenda IG Display Bold" pitchFamily="34" charset="-120"/>
              </a:rPr>
              <a:t>The output contract</a:t>
            </a:r>
            <a:endParaRPr lang="en-US" sz="1000" dirty="0"/>
          </a:p>
        </p:txBody>
      </p:sp>
      <p:sp>
        <p:nvSpPr>
          <p:cNvPr id="56" name="Text 54"/>
          <p:cNvSpPr txBox="1"/>
          <p:nvPr/>
        </p:nvSpPr>
        <p:spPr>
          <a:xfrm>
            <a:off x="4343400" y="4038600"/>
            <a:ext cx="3502152" cy="585216"/>
          </a:xfrm>
          <a:prstGeom prst="rect">
            <a:avLst/>
          </a:prstGeom>
          <a:noFill/>
          <a:ln/>
        </p:spPr>
        <p:txBody>
          <a:bodyPr wrap="square" lIns="0" tIns="0" rIns="0" bIns="0" rtlCol="0" anchor="t"/>
          <a:lstStyle/>
          <a:p>
            <a:pPr marL="101600" indent="-101600">
              <a:lnSpc>
                <a:spcPct val="100000"/>
              </a:lnSpc>
              <a:spcAft>
                <a:spcPts val="300"/>
              </a:spcAft>
              <a:buSzPct val="100000"/>
              <a:buChar char="•"/>
            </a:pPr>
            <a:r>
              <a:rPr lang="en-US" sz="830" dirty="0">
                <a:solidFill>
                  <a:srgbClr val="1A1A1A"/>
                </a:solidFill>
                <a:latin typeface="Trenda IG Text" pitchFamily="34" charset="0"/>
                <a:ea typeface="Trenda IG Text" pitchFamily="34" charset="-122"/>
                <a:cs typeface="Trenda IG Text" pitchFamily="34" charset="-120"/>
              </a:rPr>
              <a:t>A calibrated probability, not a rank</a:t>
            </a:r>
            <a:endParaRPr lang="en-US" sz="830" dirty="0"/>
          </a:p>
          <a:p>
            <a:pPr marL="101600" indent="-101600">
              <a:lnSpc>
                <a:spcPct val="100000"/>
              </a:lnSpc>
              <a:spcAft>
                <a:spcPts val="300"/>
              </a:spcAft>
              <a:buSzPct val="100000"/>
              <a:buChar char="•"/>
            </a:pPr>
            <a:r>
              <a:rPr lang="en-US" sz="830" dirty="0">
                <a:solidFill>
                  <a:srgbClr val="1A1A1A"/>
                </a:solidFill>
                <a:latin typeface="Trenda IG Text" pitchFamily="34" charset="0"/>
                <a:ea typeface="Trenda IG Text" pitchFamily="34" charset="-122"/>
                <a:cs typeface="Trenda IG Text" pitchFamily="34" charset="-120"/>
              </a:rPr>
              <a:t>Reason codes traced back to graph evidence</a:t>
            </a:r>
            <a:endParaRPr lang="en-US" sz="830" dirty="0"/>
          </a:p>
          <a:p>
            <a:pPr marL="101600" indent="-101600">
              <a:lnSpc>
                <a:spcPct val="100000"/>
              </a:lnSpc>
              <a:spcAft>
                <a:spcPts val="300"/>
              </a:spcAft>
              <a:buSzPct val="100000"/>
              <a:buChar char="•"/>
            </a:pPr>
            <a:r>
              <a:rPr lang="en-US" sz="830" dirty="0">
                <a:solidFill>
                  <a:srgbClr val="1A1A1A"/>
                </a:solidFill>
                <a:latin typeface="Trenda IG Text" pitchFamily="34" charset="0"/>
                <a:ea typeface="Trenda IG Text" pitchFamily="34" charset="-122"/>
                <a:cs typeface="Trenda IG Text" pitchFamily="34" charset="-120"/>
              </a:rPr>
              <a:t>Written back as a signal node, with its model version</a:t>
            </a:r>
            <a:endParaRPr lang="en-US" sz="830" dirty="0"/>
          </a:p>
        </p:txBody>
      </p:sp>
      <p:sp>
        <p:nvSpPr>
          <p:cNvPr id="57" name="Shape 55"/>
          <p:cNvSpPr/>
          <p:nvPr/>
        </p:nvSpPr>
        <p:spPr>
          <a:xfrm>
            <a:off x="4325112" y="4608576"/>
            <a:ext cx="3538728" cy="640080"/>
          </a:xfrm>
          <a:prstGeom prst="rect">
            <a:avLst/>
          </a:prstGeom>
          <a:solidFill>
            <a:srgbClr val="C62828"/>
          </a:solidFill>
          <a:ln/>
        </p:spPr>
      </p:sp>
      <p:sp>
        <p:nvSpPr>
          <p:cNvPr id="58" name="Text 56"/>
          <p:cNvSpPr txBox="1"/>
          <p:nvPr/>
        </p:nvSpPr>
        <p:spPr>
          <a:xfrm>
            <a:off x="4453128" y="4654296"/>
            <a:ext cx="3282696" cy="164592"/>
          </a:xfrm>
          <a:prstGeom prst="rect">
            <a:avLst/>
          </a:prstGeom>
          <a:noFill/>
          <a:ln/>
        </p:spPr>
        <p:txBody>
          <a:bodyPr wrap="square" lIns="0" tIns="0" rIns="0" bIns="0" rtlCol="0" anchor="t"/>
          <a:lstStyle/>
          <a:p>
            <a:pPr indent="0" marL="0">
              <a:buNone/>
            </a:pPr>
            <a:r>
              <a:rPr lang="en-US" sz="900" dirty="0">
                <a:solidFill>
                  <a:srgbClr val="FFD9DC"/>
                </a:solidFill>
                <a:latin typeface="Trenda IG Text Semibold" pitchFamily="34" charset="0"/>
                <a:ea typeface="Trenda IG Text Semibold" pitchFamily="34" charset="-122"/>
                <a:cs typeface="Trenda IG Text Semibold" pitchFamily="34" charset="-120"/>
              </a:rPr>
              <a:t>The rule that keeps it defensible</a:t>
            </a:r>
            <a:endParaRPr lang="en-US" sz="900" dirty="0"/>
          </a:p>
        </p:txBody>
      </p:sp>
      <p:sp>
        <p:nvSpPr>
          <p:cNvPr id="59" name="Text 57"/>
          <p:cNvSpPr txBox="1"/>
          <p:nvPr/>
        </p:nvSpPr>
        <p:spPr>
          <a:xfrm>
            <a:off x="4453128" y="4818888"/>
            <a:ext cx="3282696" cy="384048"/>
          </a:xfrm>
          <a:prstGeom prst="rect">
            <a:avLst/>
          </a:prstGeom>
          <a:noFill/>
          <a:ln/>
        </p:spPr>
        <p:txBody>
          <a:bodyPr wrap="square" lIns="0" tIns="0" rIns="0" bIns="0" rtlCol="0" anchor="t"/>
          <a:lstStyle/>
          <a:p>
            <a:pPr indent="0" marL="0">
              <a:lnSpc>
                <a:spcPct val="100000"/>
              </a:lnSpc>
              <a:buNone/>
            </a:pPr>
            <a:r>
              <a:rPr lang="en-US" sz="830" dirty="0">
                <a:solidFill>
                  <a:srgbClr val="FFFFFF"/>
                </a:solidFill>
                <a:latin typeface="Trenda IG Text" pitchFamily="34" charset="0"/>
                <a:ea typeface="Trenda IG Text" pitchFamily="34" charset="-122"/>
                <a:cs typeface="Trenda IG Text" pitchFamily="34" charset="-120"/>
              </a:rPr>
              <a:t>Use the score to add support, never to remove access. A model that downgrades a slot punishes the patients with the worst transport and the least flexible work.</a:t>
            </a:r>
            <a:endParaRPr lang="en-US" sz="830" dirty="0"/>
          </a:p>
        </p:txBody>
      </p:sp>
      <p:sp>
        <p:nvSpPr>
          <p:cNvPr id="60" name="Shape 58"/>
          <p:cNvSpPr/>
          <p:nvPr/>
        </p:nvSpPr>
        <p:spPr>
          <a:xfrm>
            <a:off x="8174736" y="987552"/>
            <a:ext cx="3904488" cy="4297680"/>
          </a:xfrm>
          <a:prstGeom prst="rect">
            <a:avLst/>
          </a:prstGeom>
          <a:solidFill>
            <a:srgbClr val="0E1B2E"/>
          </a:solidFill>
          <a:ln/>
        </p:spPr>
      </p:sp>
      <p:sp>
        <p:nvSpPr>
          <p:cNvPr id="61" name="Shape 59"/>
          <p:cNvSpPr/>
          <p:nvPr/>
        </p:nvSpPr>
        <p:spPr>
          <a:xfrm>
            <a:off x="8357616" y="1197864"/>
            <a:ext cx="91440" cy="91440"/>
          </a:xfrm>
          <a:prstGeom prst="rect">
            <a:avLst/>
          </a:prstGeom>
          <a:solidFill>
            <a:srgbClr val="5FD0C0"/>
          </a:solidFill>
          <a:ln/>
        </p:spPr>
      </p:sp>
      <p:sp>
        <p:nvSpPr>
          <p:cNvPr id="62" name="Text 60"/>
          <p:cNvSpPr txBox="1"/>
          <p:nvPr/>
        </p:nvSpPr>
        <p:spPr>
          <a:xfrm>
            <a:off x="8540496" y="1115568"/>
            <a:ext cx="3355848" cy="274320"/>
          </a:xfrm>
          <a:prstGeom prst="rect">
            <a:avLst/>
          </a:prstGeom>
          <a:noFill/>
          <a:ln/>
        </p:spPr>
        <p:txBody>
          <a:bodyPr wrap="square" lIns="0" tIns="0" rIns="0" bIns="0" rtlCol="0" anchor="t"/>
          <a:lstStyle/>
          <a:p>
            <a:pPr indent="0" marL="0">
              <a:buNone/>
            </a:pPr>
            <a:r>
              <a:rPr lang="en-US" sz="1400" dirty="0">
                <a:solidFill>
                  <a:srgbClr val="FFFFFF"/>
                </a:solidFill>
                <a:latin typeface="Trenda IG Display Bold" pitchFamily="34" charset="0"/>
                <a:ea typeface="Trenda IG Display Bold" pitchFamily="34" charset="-122"/>
                <a:cs typeface="Trenda IG Display Bold" pitchFamily="34" charset="-120"/>
              </a:rPr>
              <a:t>Extending the framework</a:t>
            </a:r>
            <a:endParaRPr lang="en-US" sz="1400" dirty="0"/>
          </a:p>
        </p:txBody>
      </p:sp>
      <p:sp>
        <p:nvSpPr>
          <p:cNvPr id="63" name="Text 61"/>
          <p:cNvSpPr txBox="1"/>
          <p:nvPr/>
        </p:nvSpPr>
        <p:spPr>
          <a:xfrm>
            <a:off x="8357616" y="1463040"/>
            <a:ext cx="3538728" cy="182880"/>
          </a:xfrm>
          <a:prstGeom prst="rect">
            <a:avLst/>
          </a:prstGeom>
          <a:noFill/>
          <a:ln/>
        </p:spPr>
        <p:txBody>
          <a:bodyPr wrap="square" lIns="0" tIns="0" rIns="0" bIns="0" rtlCol="0" anchor="t"/>
          <a:lstStyle/>
          <a:p>
            <a:pPr indent="0" marL="0">
              <a:buNone/>
            </a:pPr>
            <a:r>
              <a:rPr lang="en-US" sz="880" dirty="0">
                <a:solidFill>
                  <a:srgbClr val="A9B4C2"/>
                </a:solidFill>
                <a:latin typeface="Trenda IG Text" pitchFamily="34" charset="0"/>
                <a:ea typeface="Trenda IG Text" pitchFamily="34" charset="-122"/>
                <a:cs typeface="Trenda IG Text" pitchFamily="34" charset="-120"/>
              </a:rPr>
              <a:t>A new feature declares five things. The engine does not change.</a:t>
            </a:r>
            <a:endParaRPr lang="en-US" sz="880" dirty="0"/>
          </a:p>
        </p:txBody>
      </p:sp>
      <p:sp>
        <p:nvSpPr>
          <p:cNvPr id="64" name="Shape 62"/>
          <p:cNvSpPr/>
          <p:nvPr/>
        </p:nvSpPr>
        <p:spPr>
          <a:xfrm>
            <a:off x="8357616" y="1719072"/>
            <a:ext cx="237744" cy="237744"/>
          </a:xfrm>
          <a:prstGeom prst="rect">
            <a:avLst/>
          </a:prstGeom>
          <a:solidFill>
            <a:srgbClr val="5FD0C0"/>
          </a:solidFill>
          <a:ln/>
        </p:spPr>
      </p:sp>
      <p:sp>
        <p:nvSpPr>
          <p:cNvPr id="65" name="Text 63"/>
          <p:cNvSpPr txBox="1"/>
          <p:nvPr/>
        </p:nvSpPr>
        <p:spPr>
          <a:xfrm>
            <a:off x="8357616" y="1719072"/>
            <a:ext cx="237744" cy="237744"/>
          </a:xfrm>
          <a:prstGeom prst="rect">
            <a:avLst/>
          </a:prstGeom>
          <a:noFill/>
          <a:ln/>
        </p:spPr>
        <p:txBody>
          <a:bodyPr wrap="square" lIns="0" tIns="0" rIns="0" bIns="0" rtlCol="0" anchor="ctr"/>
          <a:lstStyle/>
          <a:p>
            <a:pPr algn="ctr" indent="0" marL="0">
              <a:buNone/>
            </a:pPr>
            <a:r>
              <a:rPr lang="en-US" sz="900" dirty="0">
                <a:solidFill>
                  <a:srgbClr val="0E1B2E"/>
                </a:solidFill>
                <a:latin typeface="Trenda IG Display Bold" pitchFamily="34" charset="0"/>
                <a:ea typeface="Trenda IG Display Bold" pitchFamily="34" charset="-122"/>
                <a:cs typeface="Trenda IG Display Bold" pitchFamily="34" charset="-120"/>
              </a:rPr>
              <a:t>1</a:t>
            </a:r>
            <a:endParaRPr lang="en-US" sz="900" dirty="0"/>
          </a:p>
        </p:txBody>
      </p:sp>
      <p:sp>
        <p:nvSpPr>
          <p:cNvPr id="66" name="Text 64"/>
          <p:cNvSpPr txBox="1"/>
          <p:nvPr/>
        </p:nvSpPr>
        <p:spPr>
          <a:xfrm>
            <a:off x="8668512" y="1737360"/>
            <a:ext cx="3209544" cy="164592"/>
          </a:xfrm>
          <a:prstGeom prst="rect">
            <a:avLst/>
          </a:prstGeom>
          <a:noFill/>
          <a:ln/>
        </p:spPr>
        <p:txBody>
          <a:bodyPr wrap="square" lIns="0" tIns="0" rIns="0" bIns="0" rtlCol="0" anchor="t"/>
          <a:lstStyle/>
          <a:p>
            <a:pPr indent="0" marL="0">
              <a:buNone/>
            </a:pPr>
            <a:r>
              <a:rPr lang="en-US" sz="980" dirty="0">
                <a:solidFill>
                  <a:srgbClr val="FFFFFF"/>
                </a:solidFill>
                <a:latin typeface="Trenda IG Text Semibold" pitchFamily="34" charset="0"/>
                <a:ea typeface="Trenda IG Text Semibold" pitchFamily="34" charset="-122"/>
                <a:cs typeface="Trenda IG Text Semibold" pitchFamily="34" charset="-120"/>
              </a:rPr>
              <a:t>Entities and edges</a:t>
            </a:r>
            <a:endParaRPr lang="en-US" sz="980" dirty="0"/>
          </a:p>
        </p:txBody>
      </p:sp>
      <p:sp>
        <p:nvSpPr>
          <p:cNvPr id="67" name="Text 65"/>
          <p:cNvSpPr txBox="1"/>
          <p:nvPr/>
        </p:nvSpPr>
        <p:spPr>
          <a:xfrm>
            <a:off x="8668512" y="1911096"/>
            <a:ext cx="3209544" cy="201168"/>
          </a:xfrm>
          <a:prstGeom prst="rect">
            <a:avLst/>
          </a:prstGeom>
          <a:noFill/>
          <a:ln/>
        </p:spPr>
        <p:txBody>
          <a:bodyPr wrap="square" lIns="0" tIns="0" rIns="0" bIns="0" rtlCol="0" anchor="t"/>
          <a:lstStyle/>
          <a:p>
            <a:pPr indent="0" marL="0">
              <a:lnSpc>
                <a:spcPct val="98000"/>
              </a:lnSpc>
              <a:buNone/>
            </a:pPr>
            <a:r>
              <a:rPr lang="en-US" sz="820" dirty="0">
                <a:solidFill>
                  <a:srgbClr val="A9B4C2"/>
                </a:solidFill>
                <a:latin typeface="Trenda IG Text" pitchFamily="34" charset="0"/>
                <a:ea typeface="Trenda IG Text" pitchFamily="34" charset="-122"/>
                <a:cs typeface="Trenda IG Text" pitchFamily="34" charset="-120"/>
              </a:rPr>
              <a:t>Added to the ontology as shapes: bitemporal, evidence bearing</a:t>
            </a:r>
            <a:endParaRPr lang="en-US" sz="820" dirty="0"/>
          </a:p>
        </p:txBody>
      </p:sp>
      <p:sp>
        <p:nvSpPr>
          <p:cNvPr id="68" name="Text 66"/>
          <p:cNvSpPr txBox="1"/>
          <p:nvPr/>
        </p:nvSpPr>
        <p:spPr>
          <a:xfrm>
            <a:off x="8668512" y="2093976"/>
            <a:ext cx="3209544" cy="201168"/>
          </a:xfrm>
          <a:prstGeom prst="rect">
            <a:avLst/>
          </a:prstGeom>
          <a:noFill/>
          <a:ln/>
        </p:spPr>
        <p:txBody>
          <a:bodyPr wrap="square" lIns="0" tIns="0" rIns="0" bIns="0" rtlCol="0" anchor="t"/>
          <a:lstStyle/>
          <a:p>
            <a:pPr indent="0" marL="0">
              <a:lnSpc>
                <a:spcPct val="98000"/>
              </a:lnSpc>
              <a:buNone/>
            </a:pPr>
            <a:r>
              <a:rPr lang="en-US" sz="820" dirty="0">
                <a:solidFill>
                  <a:srgbClr val="5FD0C0"/>
                </a:solidFill>
                <a:latin typeface="Trenda IG Text Semibold" pitchFamily="34" charset="0"/>
                <a:ea typeface="Trenda IG Text Semibold" pitchFamily="34" charset="-122"/>
                <a:cs typeface="Trenda IG Text Semibold" pitchFamily="34" charset="-120"/>
              </a:rPr>
              <a:t>Appointment, CareIntent, Slot, Waitlist</a:t>
            </a:r>
            <a:endParaRPr lang="en-US" sz="820" dirty="0"/>
          </a:p>
        </p:txBody>
      </p:sp>
      <p:sp>
        <p:nvSpPr>
          <p:cNvPr id="69" name="Shape 67"/>
          <p:cNvSpPr/>
          <p:nvPr/>
        </p:nvSpPr>
        <p:spPr>
          <a:xfrm>
            <a:off x="8357616" y="2322576"/>
            <a:ext cx="237744" cy="237744"/>
          </a:xfrm>
          <a:prstGeom prst="rect">
            <a:avLst/>
          </a:prstGeom>
          <a:solidFill>
            <a:srgbClr val="5FD0C0"/>
          </a:solidFill>
          <a:ln/>
        </p:spPr>
      </p:sp>
      <p:sp>
        <p:nvSpPr>
          <p:cNvPr id="70" name="Text 68"/>
          <p:cNvSpPr txBox="1"/>
          <p:nvPr/>
        </p:nvSpPr>
        <p:spPr>
          <a:xfrm>
            <a:off x="8357616" y="2322576"/>
            <a:ext cx="237744" cy="237744"/>
          </a:xfrm>
          <a:prstGeom prst="rect">
            <a:avLst/>
          </a:prstGeom>
          <a:noFill/>
          <a:ln/>
        </p:spPr>
        <p:txBody>
          <a:bodyPr wrap="square" lIns="0" tIns="0" rIns="0" bIns="0" rtlCol="0" anchor="ctr"/>
          <a:lstStyle/>
          <a:p>
            <a:pPr algn="ctr" indent="0" marL="0">
              <a:buNone/>
            </a:pPr>
            <a:r>
              <a:rPr lang="en-US" sz="900" dirty="0">
                <a:solidFill>
                  <a:srgbClr val="0E1B2E"/>
                </a:solidFill>
                <a:latin typeface="Trenda IG Display Bold" pitchFamily="34" charset="0"/>
                <a:ea typeface="Trenda IG Display Bold" pitchFamily="34" charset="-122"/>
                <a:cs typeface="Trenda IG Display Bold" pitchFamily="34" charset="-120"/>
              </a:rPr>
              <a:t>2</a:t>
            </a:r>
            <a:endParaRPr lang="en-US" sz="900" dirty="0"/>
          </a:p>
        </p:txBody>
      </p:sp>
      <p:sp>
        <p:nvSpPr>
          <p:cNvPr id="71" name="Text 69"/>
          <p:cNvSpPr txBox="1"/>
          <p:nvPr/>
        </p:nvSpPr>
        <p:spPr>
          <a:xfrm>
            <a:off x="8668512" y="2340864"/>
            <a:ext cx="3209544" cy="164592"/>
          </a:xfrm>
          <a:prstGeom prst="rect">
            <a:avLst/>
          </a:prstGeom>
          <a:noFill/>
          <a:ln/>
        </p:spPr>
        <p:txBody>
          <a:bodyPr wrap="square" lIns="0" tIns="0" rIns="0" bIns="0" rtlCol="0" anchor="t"/>
          <a:lstStyle/>
          <a:p>
            <a:pPr indent="0" marL="0">
              <a:buNone/>
            </a:pPr>
            <a:r>
              <a:rPr lang="en-US" sz="980" dirty="0">
                <a:solidFill>
                  <a:srgbClr val="FFFFFF"/>
                </a:solidFill>
                <a:latin typeface="Trenda IG Text Semibold" pitchFamily="34" charset="0"/>
                <a:ea typeface="Trenda IG Text Semibold" pitchFamily="34" charset="-122"/>
                <a:cs typeface="Trenda IG Text Semibold" pitchFamily="34" charset="-120"/>
              </a:rPr>
              <a:t>A specification</a:t>
            </a:r>
            <a:endParaRPr lang="en-US" sz="980" dirty="0"/>
          </a:p>
        </p:txBody>
      </p:sp>
      <p:sp>
        <p:nvSpPr>
          <p:cNvPr id="72" name="Text 70"/>
          <p:cNvSpPr txBox="1"/>
          <p:nvPr/>
        </p:nvSpPr>
        <p:spPr>
          <a:xfrm>
            <a:off x="8668512" y="2514600"/>
            <a:ext cx="3209544" cy="201168"/>
          </a:xfrm>
          <a:prstGeom prst="rect">
            <a:avLst/>
          </a:prstGeom>
          <a:noFill/>
          <a:ln/>
        </p:spPr>
        <p:txBody>
          <a:bodyPr wrap="square" lIns="0" tIns="0" rIns="0" bIns="0" rtlCol="0" anchor="t"/>
          <a:lstStyle/>
          <a:p>
            <a:pPr indent="0" marL="0">
              <a:lnSpc>
                <a:spcPct val="98000"/>
              </a:lnSpc>
              <a:buNone/>
            </a:pPr>
            <a:r>
              <a:rPr lang="en-US" sz="820" dirty="0">
                <a:solidFill>
                  <a:srgbClr val="A9B4C2"/>
                </a:solidFill>
                <a:latin typeface="Trenda IG Text" pitchFamily="34" charset="0"/>
                <a:ea typeface="Trenda IG Text" pitchFamily="34" charset="-122"/>
                <a:cs typeface="Trenda IG Text" pitchFamily="34" charset="-120"/>
              </a:rPr>
              <a:t>What good looks like: targets, thresholds, windows</a:t>
            </a:r>
            <a:endParaRPr lang="en-US" sz="820" dirty="0"/>
          </a:p>
        </p:txBody>
      </p:sp>
      <p:sp>
        <p:nvSpPr>
          <p:cNvPr id="73" name="Text 71"/>
          <p:cNvSpPr txBox="1"/>
          <p:nvPr/>
        </p:nvSpPr>
        <p:spPr>
          <a:xfrm>
            <a:off x="8668512" y="2697480"/>
            <a:ext cx="3209544" cy="201168"/>
          </a:xfrm>
          <a:prstGeom prst="rect">
            <a:avLst/>
          </a:prstGeom>
          <a:noFill/>
          <a:ln/>
        </p:spPr>
        <p:txBody>
          <a:bodyPr wrap="square" lIns="0" tIns="0" rIns="0" bIns="0" rtlCol="0" anchor="t"/>
          <a:lstStyle/>
          <a:p>
            <a:pPr indent="0" marL="0">
              <a:lnSpc>
                <a:spcPct val="98000"/>
              </a:lnSpc>
              <a:buNone/>
            </a:pPr>
            <a:r>
              <a:rPr lang="en-US" sz="820" dirty="0">
                <a:solidFill>
                  <a:srgbClr val="5FD0C0"/>
                </a:solidFill>
                <a:latin typeface="Trenda IG Text Semibold" pitchFamily="34" charset="0"/>
                <a:ea typeface="Trenda IG Text Semibold" pitchFamily="34" charset="-122"/>
                <a:cs typeface="Trenda IG Text Semibold" pitchFamily="34" charset="-120"/>
              </a:rPr>
              <a:t>Utilisation target, recovery window, max lead time</a:t>
            </a:r>
            <a:endParaRPr lang="en-US" sz="820" dirty="0"/>
          </a:p>
        </p:txBody>
      </p:sp>
      <p:sp>
        <p:nvSpPr>
          <p:cNvPr id="74" name="Shape 72"/>
          <p:cNvSpPr/>
          <p:nvPr/>
        </p:nvSpPr>
        <p:spPr>
          <a:xfrm>
            <a:off x="8357616" y="2926080"/>
            <a:ext cx="237744" cy="237744"/>
          </a:xfrm>
          <a:prstGeom prst="rect">
            <a:avLst/>
          </a:prstGeom>
          <a:solidFill>
            <a:srgbClr val="5FD0C0"/>
          </a:solidFill>
          <a:ln/>
        </p:spPr>
      </p:sp>
      <p:sp>
        <p:nvSpPr>
          <p:cNvPr id="75" name="Text 73"/>
          <p:cNvSpPr txBox="1"/>
          <p:nvPr/>
        </p:nvSpPr>
        <p:spPr>
          <a:xfrm>
            <a:off x="8357616" y="2926080"/>
            <a:ext cx="237744" cy="237744"/>
          </a:xfrm>
          <a:prstGeom prst="rect">
            <a:avLst/>
          </a:prstGeom>
          <a:noFill/>
          <a:ln/>
        </p:spPr>
        <p:txBody>
          <a:bodyPr wrap="square" lIns="0" tIns="0" rIns="0" bIns="0" rtlCol="0" anchor="ctr"/>
          <a:lstStyle/>
          <a:p>
            <a:pPr algn="ctr" indent="0" marL="0">
              <a:buNone/>
            </a:pPr>
            <a:r>
              <a:rPr lang="en-US" sz="900" dirty="0">
                <a:solidFill>
                  <a:srgbClr val="0E1B2E"/>
                </a:solidFill>
                <a:latin typeface="Trenda IG Display Bold" pitchFamily="34" charset="0"/>
                <a:ea typeface="Trenda IG Display Bold" pitchFamily="34" charset="-122"/>
                <a:cs typeface="Trenda IG Display Bold" pitchFamily="34" charset="-120"/>
              </a:rPr>
              <a:t>3</a:t>
            </a:r>
            <a:endParaRPr lang="en-US" sz="900" dirty="0"/>
          </a:p>
        </p:txBody>
      </p:sp>
      <p:sp>
        <p:nvSpPr>
          <p:cNvPr id="76" name="Text 74"/>
          <p:cNvSpPr txBox="1"/>
          <p:nvPr/>
        </p:nvSpPr>
        <p:spPr>
          <a:xfrm>
            <a:off x="8668512" y="2944368"/>
            <a:ext cx="3209544" cy="164592"/>
          </a:xfrm>
          <a:prstGeom prst="rect">
            <a:avLst/>
          </a:prstGeom>
          <a:noFill/>
          <a:ln/>
        </p:spPr>
        <p:txBody>
          <a:bodyPr wrap="square" lIns="0" tIns="0" rIns="0" bIns="0" rtlCol="0" anchor="t"/>
          <a:lstStyle/>
          <a:p>
            <a:pPr indent="0" marL="0">
              <a:buNone/>
            </a:pPr>
            <a:r>
              <a:rPr lang="en-US" sz="980" dirty="0">
                <a:solidFill>
                  <a:srgbClr val="FFFFFF"/>
                </a:solidFill>
                <a:latin typeface="Trenda IG Text Semibold" pitchFamily="34" charset="0"/>
                <a:ea typeface="Trenda IG Text Semibold" pitchFamily="34" charset="-122"/>
                <a:cs typeface="Trenda IG Text Semibold" pitchFamily="34" charset="-120"/>
              </a:rPr>
              <a:t>Signals</a:t>
            </a:r>
            <a:endParaRPr lang="en-US" sz="980" dirty="0"/>
          </a:p>
        </p:txBody>
      </p:sp>
      <p:sp>
        <p:nvSpPr>
          <p:cNvPr id="77" name="Text 75"/>
          <p:cNvSpPr txBox="1"/>
          <p:nvPr/>
        </p:nvSpPr>
        <p:spPr>
          <a:xfrm>
            <a:off x="8668512" y="3118104"/>
            <a:ext cx="3209544" cy="201168"/>
          </a:xfrm>
          <a:prstGeom prst="rect">
            <a:avLst/>
          </a:prstGeom>
          <a:noFill/>
          <a:ln/>
        </p:spPr>
        <p:txBody>
          <a:bodyPr wrap="square" lIns="0" tIns="0" rIns="0" bIns="0" rtlCol="0" anchor="t"/>
          <a:lstStyle/>
          <a:p>
            <a:pPr indent="0" marL="0">
              <a:lnSpc>
                <a:spcPct val="98000"/>
              </a:lnSpc>
              <a:buNone/>
            </a:pPr>
            <a:r>
              <a:rPr lang="en-US" sz="820" dirty="0">
                <a:solidFill>
                  <a:srgbClr val="A9B4C2"/>
                </a:solidFill>
                <a:latin typeface="Trenda IG Text" pitchFamily="34" charset="0"/>
                <a:ea typeface="Trenda IG Text" pitchFamily="34" charset="-122"/>
                <a:cs typeface="Trenda IG Text" pitchFamily="34" charset="-120"/>
              </a:rPr>
              <a:t>Computed indices promoted to traversals</a:t>
            </a:r>
            <a:endParaRPr lang="en-US" sz="820" dirty="0"/>
          </a:p>
        </p:txBody>
      </p:sp>
      <p:sp>
        <p:nvSpPr>
          <p:cNvPr id="78" name="Text 76"/>
          <p:cNvSpPr txBox="1"/>
          <p:nvPr/>
        </p:nvSpPr>
        <p:spPr>
          <a:xfrm>
            <a:off x="8668512" y="3300984"/>
            <a:ext cx="3209544" cy="201168"/>
          </a:xfrm>
          <a:prstGeom prst="rect">
            <a:avLst/>
          </a:prstGeom>
          <a:noFill/>
          <a:ln/>
        </p:spPr>
        <p:txBody>
          <a:bodyPr wrap="square" lIns="0" tIns="0" rIns="0" bIns="0" rtlCol="0" anchor="t"/>
          <a:lstStyle/>
          <a:p>
            <a:pPr indent="0" marL="0">
              <a:lnSpc>
                <a:spcPct val="98000"/>
              </a:lnSpc>
              <a:buNone/>
            </a:pPr>
            <a:r>
              <a:rPr lang="en-US" sz="820" dirty="0">
                <a:solidFill>
                  <a:srgbClr val="5FD0C0"/>
                </a:solidFill>
                <a:latin typeface="Trenda IG Text Semibold" pitchFamily="34" charset="0"/>
                <a:ea typeface="Trenda IG Text Semibold" pitchFamily="34" charset="-122"/>
                <a:cs typeface="Trenda IG Text Semibold" pitchFamily="34" charset="-120"/>
              </a:rPr>
              <a:t>No-show risk, recovery probability, utilisation</a:t>
            </a:r>
            <a:endParaRPr lang="en-US" sz="820" dirty="0"/>
          </a:p>
        </p:txBody>
      </p:sp>
      <p:sp>
        <p:nvSpPr>
          <p:cNvPr id="79" name="Shape 77"/>
          <p:cNvSpPr/>
          <p:nvPr/>
        </p:nvSpPr>
        <p:spPr>
          <a:xfrm>
            <a:off x="8357616" y="3529584"/>
            <a:ext cx="237744" cy="237744"/>
          </a:xfrm>
          <a:prstGeom prst="rect">
            <a:avLst/>
          </a:prstGeom>
          <a:solidFill>
            <a:srgbClr val="5FD0C0"/>
          </a:solidFill>
          <a:ln/>
        </p:spPr>
      </p:sp>
      <p:sp>
        <p:nvSpPr>
          <p:cNvPr id="80" name="Text 78"/>
          <p:cNvSpPr txBox="1"/>
          <p:nvPr/>
        </p:nvSpPr>
        <p:spPr>
          <a:xfrm>
            <a:off x="8357616" y="3529584"/>
            <a:ext cx="237744" cy="237744"/>
          </a:xfrm>
          <a:prstGeom prst="rect">
            <a:avLst/>
          </a:prstGeom>
          <a:noFill/>
          <a:ln/>
        </p:spPr>
        <p:txBody>
          <a:bodyPr wrap="square" lIns="0" tIns="0" rIns="0" bIns="0" rtlCol="0" anchor="ctr"/>
          <a:lstStyle/>
          <a:p>
            <a:pPr algn="ctr" indent="0" marL="0">
              <a:buNone/>
            </a:pPr>
            <a:r>
              <a:rPr lang="en-US" sz="900" dirty="0">
                <a:solidFill>
                  <a:srgbClr val="0E1B2E"/>
                </a:solidFill>
                <a:latin typeface="Trenda IG Display Bold" pitchFamily="34" charset="0"/>
                <a:ea typeface="Trenda IG Display Bold" pitchFamily="34" charset="-122"/>
                <a:cs typeface="Trenda IG Display Bold" pitchFamily="34" charset="-120"/>
              </a:rPr>
              <a:t>4</a:t>
            </a:r>
            <a:endParaRPr lang="en-US" sz="900" dirty="0"/>
          </a:p>
        </p:txBody>
      </p:sp>
      <p:sp>
        <p:nvSpPr>
          <p:cNvPr id="81" name="Text 79"/>
          <p:cNvSpPr txBox="1"/>
          <p:nvPr/>
        </p:nvSpPr>
        <p:spPr>
          <a:xfrm>
            <a:off x="8668512" y="3547872"/>
            <a:ext cx="3209544" cy="164592"/>
          </a:xfrm>
          <a:prstGeom prst="rect">
            <a:avLst/>
          </a:prstGeom>
          <a:noFill/>
          <a:ln/>
        </p:spPr>
        <p:txBody>
          <a:bodyPr wrap="square" lIns="0" tIns="0" rIns="0" bIns="0" rtlCol="0" anchor="t"/>
          <a:lstStyle/>
          <a:p>
            <a:pPr indent="0" marL="0">
              <a:buNone/>
            </a:pPr>
            <a:r>
              <a:rPr lang="en-US" sz="980" dirty="0">
                <a:solidFill>
                  <a:srgbClr val="FFFFFF"/>
                </a:solidFill>
                <a:latin typeface="Trenda IG Text Semibold" pitchFamily="34" charset="0"/>
                <a:ea typeface="Trenda IG Text Semibold" pitchFamily="34" charset="-122"/>
                <a:cs typeface="Trenda IG Text Semibold" pitchFamily="34" charset="-120"/>
              </a:rPr>
              <a:t>Gap engines</a:t>
            </a:r>
            <a:endParaRPr lang="en-US" sz="980" dirty="0"/>
          </a:p>
        </p:txBody>
      </p:sp>
      <p:sp>
        <p:nvSpPr>
          <p:cNvPr id="82" name="Text 80"/>
          <p:cNvSpPr txBox="1"/>
          <p:nvPr/>
        </p:nvSpPr>
        <p:spPr>
          <a:xfrm>
            <a:off x="8668512" y="3721608"/>
            <a:ext cx="3209544" cy="201168"/>
          </a:xfrm>
          <a:prstGeom prst="rect">
            <a:avLst/>
          </a:prstGeom>
          <a:noFill/>
          <a:ln/>
        </p:spPr>
        <p:txBody>
          <a:bodyPr wrap="square" lIns="0" tIns="0" rIns="0" bIns="0" rtlCol="0" anchor="t"/>
          <a:lstStyle/>
          <a:p>
            <a:pPr indent="0" marL="0">
              <a:lnSpc>
                <a:spcPct val="98000"/>
              </a:lnSpc>
              <a:buNone/>
            </a:pPr>
            <a:r>
              <a:rPr lang="en-US" sz="820" dirty="0">
                <a:solidFill>
                  <a:srgbClr val="A9B4C2"/>
                </a:solidFill>
                <a:latin typeface="Trenda IG Text" pitchFamily="34" charset="0"/>
                <a:ea typeface="Trenda IG Text" pitchFamily="34" charset="-122"/>
                <a:cs typeface="Trenda IG Text" pitchFamily="34" charset="-120"/>
              </a:rPr>
              <a:t>Constraints that, unsatisfied, are gaps</a:t>
            </a:r>
            <a:endParaRPr lang="en-US" sz="820" dirty="0"/>
          </a:p>
        </p:txBody>
      </p:sp>
      <p:sp>
        <p:nvSpPr>
          <p:cNvPr id="83" name="Text 81"/>
          <p:cNvSpPr txBox="1"/>
          <p:nvPr/>
        </p:nvSpPr>
        <p:spPr>
          <a:xfrm>
            <a:off x="8668512" y="3904488"/>
            <a:ext cx="3209544" cy="201168"/>
          </a:xfrm>
          <a:prstGeom prst="rect">
            <a:avLst/>
          </a:prstGeom>
          <a:noFill/>
          <a:ln/>
        </p:spPr>
        <p:txBody>
          <a:bodyPr wrap="square" lIns="0" tIns="0" rIns="0" bIns="0" rtlCol="0" anchor="t"/>
          <a:lstStyle/>
          <a:p>
            <a:pPr indent="0" marL="0">
              <a:lnSpc>
                <a:spcPct val="98000"/>
              </a:lnSpc>
              <a:buNone/>
            </a:pPr>
            <a:r>
              <a:rPr lang="en-US" sz="820" dirty="0">
                <a:solidFill>
                  <a:srgbClr val="5FD0C0"/>
                </a:solidFill>
                <a:latin typeface="Trenda IG Text Semibold" pitchFamily="34" charset="0"/>
                <a:ea typeface="Trenda IG Text Semibold" pitchFamily="34" charset="-122"/>
                <a:cs typeface="Trenda IG Text Semibold" pitchFamily="34" charset="-120"/>
              </a:rPr>
              <a:t>idle_slot_gap(), lead_time_gap(), churn_gap()</a:t>
            </a:r>
            <a:endParaRPr lang="en-US" sz="820" dirty="0"/>
          </a:p>
        </p:txBody>
      </p:sp>
      <p:sp>
        <p:nvSpPr>
          <p:cNvPr id="84" name="Shape 82"/>
          <p:cNvSpPr/>
          <p:nvPr/>
        </p:nvSpPr>
        <p:spPr>
          <a:xfrm>
            <a:off x="8357616" y="4133088"/>
            <a:ext cx="237744" cy="237744"/>
          </a:xfrm>
          <a:prstGeom prst="rect">
            <a:avLst/>
          </a:prstGeom>
          <a:solidFill>
            <a:srgbClr val="5FD0C0"/>
          </a:solidFill>
          <a:ln/>
        </p:spPr>
      </p:sp>
      <p:sp>
        <p:nvSpPr>
          <p:cNvPr id="85" name="Text 83"/>
          <p:cNvSpPr txBox="1"/>
          <p:nvPr/>
        </p:nvSpPr>
        <p:spPr>
          <a:xfrm>
            <a:off x="8357616" y="4133088"/>
            <a:ext cx="237744" cy="237744"/>
          </a:xfrm>
          <a:prstGeom prst="rect">
            <a:avLst/>
          </a:prstGeom>
          <a:noFill/>
          <a:ln/>
        </p:spPr>
        <p:txBody>
          <a:bodyPr wrap="square" lIns="0" tIns="0" rIns="0" bIns="0" rtlCol="0" anchor="ctr"/>
          <a:lstStyle/>
          <a:p>
            <a:pPr algn="ctr" indent="0" marL="0">
              <a:buNone/>
            </a:pPr>
            <a:r>
              <a:rPr lang="en-US" sz="900" dirty="0">
                <a:solidFill>
                  <a:srgbClr val="0E1B2E"/>
                </a:solidFill>
                <a:latin typeface="Trenda IG Display Bold" pitchFamily="34" charset="0"/>
                <a:ea typeface="Trenda IG Display Bold" pitchFamily="34" charset="-122"/>
                <a:cs typeface="Trenda IG Display Bold" pitchFamily="34" charset="-120"/>
              </a:rPr>
              <a:t>5</a:t>
            </a:r>
            <a:endParaRPr lang="en-US" sz="900" dirty="0"/>
          </a:p>
        </p:txBody>
      </p:sp>
      <p:sp>
        <p:nvSpPr>
          <p:cNvPr id="86" name="Text 84"/>
          <p:cNvSpPr txBox="1"/>
          <p:nvPr/>
        </p:nvSpPr>
        <p:spPr>
          <a:xfrm>
            <a:off x="8668512" y="4151376"/>
            <a:ext cx="3209544" cy="164592"/>
          </a:xfrm>
          <a:prstGeom prst="rect">
            <a:avLst/>
          </a:prstGeom>
          <a:noFill/>
          <a:ln/>
        </p:spPr>
        <p:txBody>
          <a:bodyPr wrap="square" lIns="0" tIns="0" rIns="0" bIns="0" rtlCol="0" anchor="t"/>
          <a:lstStyle/>
          <a:p>
            <a:pPr indent="0" marL="0">
              <a:buNone/>
            </a:pPr>
            <a:r>
              <a:rPr lang="en-US" sz="980" dirty="0">
                <a:solidFill>
                  <a:srgbClr val="FFFFFF"/>
                </a:solidFill>
                <a:latin typeface="Trenda IG Text Semibold" pitchFamily="34" charset="0"/>
                <a:ea typeface="Trenda IG Text Semibold" pitchFamily="34" charset="-122"/>
                <a:cs typeface="Trenda IG Text Semibold" pitchFamily="34" charset="-120"/>
              </a:rPr>
              <a:t>Cohorts and actions</a:t>
            </a:r>
            <a:endParaRPr lang="en-US" sz="980" dirty="0"/>
          </a:p>
        </p:txBody>
      </p:sp>
      <p:sp>
        <p:nvSpPr>
          <p:cNvPr id="87" name="Text 85"/>
          <p:cNvSpPr txBox="1"/>
          <p:nvPr/>
        </p:nvSpPr>
        <p:spPr>
          <a:xfrm>
            <a:off x="8668512" y="4325112"/>
            <a:ext cx="3209544" cy="201168"/>
          </a:xfrm>
          <a:prstGeom prst="rect">
            <a:avLst/>
          </a:prstGeom>
          <a:noFill/>
          <a:ln/>
        </p:spPr>
        <p:txBody>
          <a:bodyPr wrap="square" lIns="0" tIns="0" rIns="0" bIns="0" rtlCol="0" anchor="t"/>
          <a:lstStyle/>
          <a:p>
            <a:pPr indent="0" marL="0">
              <a:lnSpc>
                <a:spcPct val="98000"/>
              </a:lnSpc>
              <a:buNone/>
            </a:pPr>
            <a:r>
              <a:rPr lang="en-US" sz="820" dirty="0">
                <a:solidFill>
                  <a:srgbClr val="A9B4C2"/>
                </a:solidFill>
                <a:latin typeface="Trenda IG Text" pitchFamily="34" charset="0"/>
                <a:ea typeface="Trenda IG Text" pitchFamily="34" charset="-122"/>
                <a:cs typeface="Trenda IG Text" pitchFamily="34" charset="-120"/>
              </a:rPr>
              <a:t>Handed to the activation layer that already exists</a:t>
            </a:r>
            <a:endParaRPr lang="en-US" sz="820" dirty="0"/>
          </a:p>
        </p:txBody>
      </p:sp>
      <p:sp>
        <p:nvSpPr>
          <p:cNvPr id="88" name="Text 86"/>
          <p:cNvSpPr txBox="1"/>
          <p:nvPr/>
        </p:nvSpPr>
        <p:spPr>
          <a:xfrm>
            <a:off x="8668512" y="4507992"/>
            <a:ext cx="3209544" cy="201168"/>
          </a:xfrm>
          <a:prstGeom prst="rect">
            <a:avLst/>
          </a:prstGeom>
          <a:noFill/>
          <a:ln/>
        </p:spPr>
        <p:txBody>
          <a:bodyPr wrap="square" lIns="0" tIns="0" rIns="0" bIns="0" rtlCol="0" anchor="t"/>
          <a:lstStyle/>
          <a:p>
            <a:pPr indent="0" marL="0">
              <a:lnSpc>
                <a:spcPct val="98000"/>
              </a:lnSpc>
              <a:buNone/>
            </a:pPr>
            <a:r>
              <a:rPr lang="en-US" sz="820" dirty="0">
                <a:solidFill>
                  <a:srgbClr val="5FD0C0"/>
                </a:solidFill>
                <a:latin typeface="Trenda IG Text Semibold" pitchFamily="34" charset="0"/>
                <a:ea typeface="Trenda IG Text Semibold" pitchFamily="34" charset="-122"/>
                <a:cs typeface="Trenda IG Text Semibold" pitchFamily="34" charset="-120"/>
              </a:rPr>
              <a:t>Backfill list, support outreach, overbook policy</a:t>
            </a:r>
            <a:endParaRPr lang="en-US" sz="820" dirty="0"/>
          </a:p>
        </p:txBody>
      </p:sp>
      <p:sp>
        <p:nvSpPr>
          <p:cNvPr id="89" name="Shape 87"/>
          <p:cNvSpPr/>
          <p:nvPr/>
        </p:nvSpPr>
        <p:spPr>
          <a:xfrm>
            <a:off x="8357616" y="4791456"/>
            <a:ext cx="3538728" cy="402336"/>
          </a:xfrm>
          <a:prstGeom prst="rect">
            <a:avLst/>
          </a:prstGeom>
          <a:solidFill>
            <a:srgbClr val="16202C"/>
          </a:solidFill>
          <a:ln/>
        </p:spPr>
      </p:sp>
      <p:sp>
        <p:nvSpPr>
          <p:cNvPr id="90" name="Text 88"/>
          <p:cNvSpPr txBox="1"/>
          <p:nvPr/>
        </p:nvSpPr>
        <p:spPr>
          <a:xfrm>
            <a:off x="8485632" y="4837176"/>
            <a:ext cx="3282696" cy="329184"/>
          </a:xfrm>
          <a:prstGeom prst="rect">
            <a:avLst/>
          </a:prstGeom>
          <a:noFill/>
          <a:ln/>
        </p:spPr>
        <p:txBody>
          <a:bodyPr wrap="square" lIns="0" tIns="0" rIns="0" bIns="0" rtlCol="0" anchor="t"/>
          <a:lstStyle/>
          <a:p>
            <a:pPr indent="0" marL="0">
              <a:lnSpc>
                <a:spcPct val="100000"/>
              </a:lnSpc>
              <a:buNone/>
            </a:pPr>
            <a:r>
              <a:rPr lang="en-US" sz="820" dirty="0">
                <a:solidFill>
                  <a:srgbClr val="D8DEE6"/>
                </a:solidFill>
                <a:latin typeface="Trenda IG Text" pitchFamily="34" charset="0"/>
                <a:ea typeface="Trenda IG Text" pitchFamily="34" charset="-122"/>
                <a:cs typeface="Trenda IG Text" pitchFamily="34" charset="-120"/>
              </a:rPr>
              <a:t>Never touched: identity, the privacy boundary, storage, the traversal engine, the campaign machinery.</a:t>
            </a:r>
            <a:endParaRPr lang="en-US" sz="820" dirty="0"/>
          </a:p>
        </p:txBody>
      </p:sp>
      <p:sp>
        <p:nvSpPr>
          <p:cNvPr id="91" name="Text 89"/>
          <p:cNvSpPr txBox="1"/>
          <p:nvPr/>
        </p:nvSpPr>
        <p:spPr>
          <a:xfrm>
            <a:off x="109728" y="5394960"/>
            <a:ext cx="4572000" cy="146304"/>
          </a:xfrm>
          <a:prstGeom prst="rect">
            <a:avLst/>
          </a:prstGeom>
          <a:noFill/>
          <a:ln/>
        </p:spPr>
        <p:txBody>
          <a:bodyPr wrap="square" lIns="0" tIns="0" rIns="0" bIns="0" rtlCol="0" anchor="t"/>
          <a:lstStyle/>
          <a:p>
            <a:pPr indent="0" marL="0">
              <a:buNone/>
            </a:pPr>
            <a:r>
              <a:rPr lang="en-US" sz="750" spc="60" kern="0" dirty="0">
                <a:solidFill>
                  <a:srgbClr val="5A6573"/>
                </a:solidFill>
                <a:latin typeface="Trenda IG Text Semibold" pitchFamily="34" charset="0"/>
                <a:ea typeface="Trenda IG Text Semibold" pitchFamily="34" charset="-122"/>
                <a:cs typeface="Trenda IG Text Semibold" pitchFamily="34" charset="-120"/>
              </a:rPr>
              <a:t>SIX MORE SCENARIOS, NO ENGINE CHANGE</a:t>
            </a:r>
            <a:endParaRPr lang="en-US" sz="750" dirty="0"/>
          </a:p>
        </p:txBody>
      </p:sp>
      <p:sp>
        <p:nvSpPr>
          <p:cNvPr id="92" name="Shape 90"/>
          <p:cNvSpPr/>
          <p:nvPr/>
        </p:nvSpPr>
        <p:spPr>
          <a:xfrm>
            <a:off x="109728" y="5596128"/>
            <a:ext cx="1918411" cy="457200"/>
          </a:xfrm>
          <a:prstGeom prst="rect">
            <a:avLst/>
          </a:prstGeom>
          <a:solidFill>
            <a:srgbClr val="FFFFFF"/>
          </a:solidFill>
          <a:ln w="9525">
            <a:solidFill>
              <a:srgbClr val="D5D9DE"/>
            </a:solidFill>
            <a:prstDash val="solid"/>
          </a:ln>
        </p:spPr>
      </p:sp>
      <p:sp>
        <p:nvSpPr>
          <p:cNvPr id="93" name="Text 91"/>
          <p:cNvSpPr txBox="1"/>
          <p:nvPr/>
        </p:nvSpPr>
        <p:spPr>
          <a:xfrm>
            <a:off x="210312" y="5641848"/>
            <a:ext cx="1737360" cy="155448"/>
          </a:xfrm>
          <a:prstGeom prst="rect">
            <a:avLst/>
          </a:prstGeom>
          <a:noFill/>
          <a:ln/>
        </p:spPr>
        <p:txBody>
          <a:bodyPr wrap="square" lIns="0" tIns="0" rIns="0" bIns="0" rtlCol="0" anchor="t"/>
          <a:lstStyle/>
          <a:p>
            <a:pPr indent="0" marL="0">
              <a:buNone/>
            </a:pPr>
            <a:r>
              <a:rPr lang="en-US" sz="820" dirty="0">
                <a:solidFill>
                  <a:srgbClr val="C77400"/>
                </a:solidFill>
                <a:latin typeface="Trenda IG Text Semibold" pitchFamily="34" charset="0"/>
                <a:ea typeface="Trenda IG Text Semibold" pitchFamily="34" charset="-122"/>
                <a:cs typeface="Trenda IG Text Semibold" pitchFamily="34" charset="-120"/>
              </a:rPr>
              <a:t>13  Idle slot recovery</a:t>
            </a:r>
            <a:endParaRPr lang="en-US" sz="820" dirty="0"/>
          </a:p>
        </p:txBody>
      </p:sp>
      <p:sp>
        <p:nvSpPr>
          <p:cNvPr id="94" name="Text 92"/>
          <p:cNvSpPr txBox="1"/>
          <p:nvPr/>
        </p:nvSpPr>
        <p:spPr>
          <a:xfrm>
            <a:off x="210312" y="5797296"/>
            <a:ext cx="1737360" cy="219456"/>
          </a:xfrm>
          <a:prstGeom prst="rect">
            <a:avLst/>
          </a:prstGeom>
          <a:noFill/>
          <a:ln/>
        </p:spPr>
        <p:txBody>
          <a:bodyPr wrap="square" lIns="0" tIns="0" rIns="0" bIns="0" rtlCol="0" anchor="t"/>
          <a:lstStyle/>
          <a:p>
            <a:pPr indent="0" marL="0">
              <a:lnSpc>
                <a:spcPct val="96000"/>
              </a:lnSpc>
              <a:buNone/>
            </a:pPr>
            <a:r>
              <a:rPr lang="en-US" sz="740" dirty="0">
                <a:solidFill>
                  <a:srgbClr val="5A6573"/>
                </a:solidFill>
                <a:latin typeface="Trenda IG Text" pitchFamily="34" charset="0"/>
                <a:ea typeface="Trenda IG Text" pitchFamily="34" charset="-122"/>
                <a:cs typeface="Trenda IG Text" pitchFamily="34" charset="-120"/>
              </a:rPr>
              <a:t>Late cancellations that never refill</a:t>
            </a:r>
            <a:endParaRPr lang="en-US" sz="740" dirty="0"/>
          </a:p>
        </p:txBody>
      </p:sp>
      <p:sp>
        <p:nvSpPr>
          <p:cNvPr id="95" name="Shape 93"/>
          <p:cNvSpPr/>
          <p:nvPr/>
        </p:nvSpPr>
        <p:spPr>
          <a:xfrm>
            <a:off x="2119579" y="5596128"/>
            <a:ext cx="1918411" cy="457200"/>
          </a:xfrm>
          <a:prstGeom prst="rect">
            <a:avLst/>
          </a:prstGeom>
          <a:solidFill>
            <a:srgbClr val="FFFFFF"/>
          </a:solidFill>
          <a:ln w="9525">
            <a:solidFill>
              <a:srgbClr val="D5D9DE"/>
            </a:solidFill>
            <a:prstDash val="solid"/>
          </a:ln>
        </p:spPr>
      </p:sp>
      <p:sp>
        <p:nvSpPr>
          <p:cNvPr id="96" name="Text 94"/>
          <p:cNvSpPr txBox="1"/>
          <p:nvPr/>
        </p:nvSpPr>
        <p:spPr>
          <a:xfrm>
            <a:off x="2220163" y="5641848"/>
            <a:ext cx="1737360" cy="155448"/>
          </a:xfrm>
          <a:prstGeom prst="rect">
            <a:avLst/>
          </a:prstGeom>
          <a:noFill/>
          <a:ln/>
        </p:spPr>
        <p:txBody>
          <a:bodyPr wrap="square" lIns="0" tIns="0" rIns="0" bIns="0" rtlCol="0" anchor="t"/>
          <a:lstStyle/>
          <a:p>
            <a:pPr indent="0" marL="0">
              <a:buNone/>
            </a:pPr>
            <a:r>
              <a:rPr lang="en-US" sz="820" dirty="0">
                <a:solidFill>
                  <a:srgbClr val="C77400"/>
                </a:solidFill>
                <a:latin typeface="Trenda IG Text Semibold" pitchFamily="34" charset="0"/>
                <a:ea typeface="Trenda IG Text Semibold" pitchFamily="34" charset="-122"/>
                <a:cs typeface="Trenda IG Text Semibold" pitchFamily="34" charset="-120"/>
              </a:rPr>
              <a:t>14  Chronic no-show</a:t>
            </a:r>
            <a:endParaRPr lang="en-US" sz="820" dirty="0"/>
          </a:p>
        </p:txBody>
      </p:sp>
      <p:sp>
        <p:nvSpPr>
          <p:cNvPr id="97" name="Text 95"/>
          <p:cNvSpPr txBox="1"/>
          <p:nvPr/>
        </p:nvSpPr>
        <p:spPr>
          <a:xfrm>
            <a:off x="2220163" y="5797296"/>
            <a:ext cx="1737360" cy="219456"/>
          </a:xfrm>
          <a:prstGeom prst="rect">
            <a:avLst/>
          </a:prstGeom>
          <a:noFill/>
          <a:ln/>
        </p:spPr>
        <p:txBody>
          <a:bodyPr wrap="square" lIns="0" tIns="0" rIns="0" bIns="0" rtlCol="0" anchor="t"/>
          <a:lstStyle/>
          <a:p>
            <a:pPr indent="0" marL="0">
              <a:lnSpc>
                <a:spcPct val="96000"/>
              </a:lnSpc>
              <a:buNone/>
            </a:pPr>
            <a:r>
              <a:rPr lang="en-US" sz="740" dirty="0">
                <a:solidFill>
                  <a:srgbClr val="5A6573"/>
                </a:solidFill>
                <a:latin typeface="Trenda IG Text" pitchFamily="34" charset="0"/>
                <a:ea typeface="Trenda IG Text" pitchFamily="34" charset="-122"/>
                <a:cs typeface="Trenda IG Text" pitchFamily="34" charset="-120"/>
              </a:rPr>
              <a:t>With open care gaps: support, not sanction</a:t>
            </a:r>
            <a:endParaRPr lang="en-US" sz="740" dirty="0"/>
          </a:p>
        </p:txBody>
      </p:sp>
      <p:sp>
        <p:nvSpPr>
          <p:cNvPr id="98" name="Shape 96"/>
          <p:cNvSpPr/>
          <p:nvPr/>
        </p:nvSpPr>
        <p:spPr>
          <a:xfrm>
            <a:off x="4129430" y="5596128"/>
            <a:ext cx="1918411" cy="457200"/>
          </a:xfrm>
          <a:prstGeom prst="rect">
            <a:avLst/>
          </a:prstGeom>
          <a:solidFill>
            <a:srgbClr val="FFFFFF"/>
          </a:solidFill>
          <a:ln w="9525">
            <a:solidFill>
              <a:srgbClr val="D5D9DE"/>
            </a:solidFill>
            <a:prstDash val="solid"/>
          </a:ln>
        </p:spPr>
      </p:sp>
      <p:sp>
        <p:nvSpPr>
          <p:cNvPr id="99" name="Text 97"/>
          <p:cNvSpPr txBox="1"/>
          <p:nvPr/>
        </p:nvSpPr>
        <p:spPr>
          <a:xfrm>
            <a:off x="4230014" y="5641848"/>
            <a:ext cx="1737360" cy="155448"/>
          </a:xfrm>
          <a:prstGeom prst="rect">
            <a:avLst/>
          </a:prstGeom>
          <a:noFill/>
          <a:ln/>
        </p:spPr>
        <p:txBody>
          <a:bodyPr wrap="square" lIns="0" tIns="0" rIns="0" bIns="0" rtlCol="0" anchor="t"/>
          <a:lstStyle/>
          <a:p>
            <a:pPr indent="0" marL="0">
              <a:buNone/>
            </a:pPr>
            <a:r>
              <a:rPr lang="en-US" sz="820" dirty="0">
                <a:solidFill>
                  <a:srgbClr val="C77400"/>
                </a:solidFill>
                <a:latin typeface="Trenda IG Text Semibold" pitchFamily="34" charset="0"/>
                <a:ea typeface="Trenda IG Text Semibold" pitchFamily="34" charset="-122"/>
                <a:cs typeface="Trenda IG Text Semibold" pitchFamily="34" charset="-120"/>
              </a:rPr>
              <a:t>15  Clinic cancelled it</a:t>
            </a:r>
            <a:endParaRPr lang="en-US" sz="820" dirty="0"/>
          </a:p>
        </p:txBody>
      </p:sp>
      <p:sp>
        <p:nvSpPr>
          <p:cNvPr id="100" name="Text 98"/>
          <p:cNvSpPr txBox="1"/>
          <p:nvPr/>
        </p:nvSpPr>
        <p:spPr>
          <a:xfrm>
            <a:off x="4230014" y="5797296"/>
            <a:ext cx="1737360" cy="219456"/>
          </a:xfrm>
          <a:prstGeom prst="rect">
            <a:avLst/>
          </a:prstGeom>
          <a:noFill/>
          <a:ln/>
        </p:spPr>
        <p:txBody>
          <a:bodyPr wrap="square" lIns="0" tIns="0" rIns="0" bIns="0" rtlCol="0" anchor="t"/>
          <a:lstStyle/>
          <a:p>
            <a:pPr indent="0" marL="0">
              <a:lnSpc>
                <a:spcPct val="96000"/>
              </a:lnSpc>
              <a:buNone/>
            </a:pPr>
            <a:r>
              <a:rPr lang="en-US" sz="740" dirty="0">
                <a:solidFill>
                  <a:srgbClr val="5A6573"/>
                </a:solidFill>
                <a:latin typeface="Trenda IG Text" pitchFamily="34" charset="0"/>
                <a:ea typeface="Trenda IG Text" pitchFamily="34" charset="-122"/>
                <a:cs typeface="Trenda IG Text" pitchFamily="34" charset="-120"/>
              </a:rPr>
              <a:t>The cause that hides in the data</a:t>
            </a:r>
            <a:endParaRPr lang="en-US" sz="740" dirty="0"/>
          </a:p>
        </p:txBody>
      </p:sp>
      <p:sp>
        <p:nvSpPr>
          <p:cNvPr id="101" name="Shape 99"/>
          <p:cNvSpPr/>
          <p:nvPr/>
        </p:nvSpPr>
        <p:spPr>
          <a:xfrm>
            <a:off x="6139282" y="5596128"/>
            <a:ext cx="1918411" cy="457200"/>
          </a:xfrm>
          <a:prstGeom prst="rect">
            <a:avLst/>
          </a:prstGeom>
          <a:solidFill>
            <a:srgbClr val="FFFFFF"/>
          </a:solidFill>
          <a:ln w="9525">
            <a:solidFill>
              <a:srgbClr val="D5D9DE"/>
            </a:solidFill>
            <a:prstDash val="solid"/>
          </a:ln>
        </p:spPr>
      </p:sp>
      <p:sp>
        <p:nvSpPr>
          <p:cNvPr id="102" name="Text 100"/>
          <p:cNvSpPr txBox="1"/>
          <p:nvPr/>
        </p:nvSpPr>
        <p:spPr>
          <a:xfrm>
            <a:off x="6239866" y="5641848"/>
            <a:ext cx="1737360" cy="155448"/>
          </a:xfrm>
          <a:prstGeom prst="rect">
            <a:avLst/>
          </a:prstGeom>
          <a:noFill/>
          <a:ln/>
        </p:spPr>
        <p:txBody>
          <a:bodyPr wrap="square" lIns="0" tIns="0" rIns="0" bIns="0" rtlCol="0" anchor="t"/>
          <a:lstStyle/>
          <a:p>
            <a:pPr indent="0" marL="0">
              <a:buNone/>
            </a:pPr>
            <a:r>
              <a:rPr lang="en-US" sz="820" dirty="0">
                <a:solidFill>
                  <a:srgbClr val="C77400"/>
                </a:solidFill>
                <a:latin typeface="Trenda IG Text Semibold" pitchFamily="34" charset="0"/>
                <a:ea typeface="Trenda IG Text Semibold" pitchFamily="34" charset="-122"/>
                <a:cs typeface="Trenda IG Text Semibold" pitchFamily="34" charset="-120"/>
              </a:rPr>
              <a:t>16  Lead time loop</a:t>
            </a:r>
            <a:endParaRPr lang="en-US" sz="820" dirty="0"/>
          </a:p>
        </p:txBody>
      </p:sp>
      <p:sp>
        <p:nvSpPr>
          <p:cNvPr id="103" name="Text 101"/>
          <p:cNvSpPr txBox="1"/>
          <p:nvPr/>
        </p:nvSpPr>
        <p:spPr>
          <a:xfrm>
            <a:off x="6239866" y="5797296"/>
            <a:ext cx="1737360" cy="219456"/>
          </a:xfrm>
          <a:prstGeom prst="rect">
            <a:avLst/>
          </a:prstGeom>
          <a:noFill/>
          <a:ln/>
        </p:spPr>
        <p:txBody>
          <a:bodyPr wrap="square" lIns="0" tIns="0" rIns="0" bIns="0" rtlCol="0" anchor="t"/>
          <a:lstStyle/>
          <a:p>
            <a:pPr indent="0" marL="0">
              <a:lnSpc>
                <a:spcPct val="96000"/>
              </a:lnSpc>
              <a:buNone/>
            </a:pPr>
            <a:r>
              <a:rPr lang="en-US" sz="740" dirty="0">
                <a:solidFill>
                  <a:srgbClr val="5A6573"/>
                </a:solidFill>
                <a:latin typeface="Trenda IG Text" pitchFamily="34" charset="0"/>
                <a:ea typeface="Trenda IG Text" pitchFamily="34" charset="-122"/>
                <a:cs typeface="Trenda IG Text" pitchFamily="34" charset="-120"/>
              </a:rPr>
              <a:t>Long waits cause no-shows cause longer waits</a:t>
            </a:r>
            <a:endParaRPr lang="en-US" sz="740" dirty="0"/>
          </a:p>
        </p:txBody>
      </p:sp>
      <p:sp>
        <p:nvSpPr>
          <p:cNvPr id="104" name="Shape 102"/>
          <p:cNvSpPr/>
          <p:nvPr/>
        </p:nvSpPr>
        <p:spPr>
          <a:xfrm>
            <a:off x="8149133" y="5596128"/>
            <a:ext cx="1918411" cy="457200"/>
          </a:xfrm>
          <a:prstGeom prst="rect">
            <a:avLst/>
          </a:prstGeom>
          <a:solidFill>
            <a:srgbClr val="FFFFFF"/>
          </a:solidFill>
          <a:ln w="9525">
            <a:solidFill>
              <a:srgbClr val="D5D9DE"/>
            </a:solidFill>
            <a:prstDash val="solid"/>
          </a:ln>
        </p:spPr>
      </p:sp>
      <p:sp>
        <p:nvSpPr>
          <p:cNvPr id="105" name="Text 103"/>
          <p:cNvSpPr txBox="1"/>
          <p:nvPr/>
        </p:nvSpPr>
        <p:spPr>
          <a:xfrm>
            <a:off x="8249717" y="5641848"/>
            <a:ext cx="1737360" cy="155448"/>
          </a:xfrm>
          <a:prstGeom prst="rect">
            <a:avLst/>
          </a:prstGeom>
          <a:noFill/>
          <a:ln/>
        </p:spPr>
        <p:txBody>
          <a:bodyPr wrap="square" lIns="0" tIns="0" rIns="0" bIns="0" rtlCol="0" anchor="t"/>
          <a:lstStyle/>
          <a:p>
            <a:pPr indent="0" marL="0">
              <a:buNone/>
            </a:pPr>
            <a:r>
              <a:rPr lang="en-US" sz="820" dirty="0">
                <a:solidFill>
                  <a:srgbClr val="C77400"/>
                </a:solidFill>
                <a:latin typeface="Trenda IG Text Semibold" pitchFamily="34" charset="0"/>
                <a:ea typeface="Trenda IG Text Semibold" pitchFamily="34" charset="-122"/>
                <a:cs typeface="Trenda IG Text Semibold" pitchFamily="34" charset="-120"/>
              </a:rPr>
              <a:t>17  Waitlist backfill</a:t>
            </a:r>
            <a:endParaRPr lang="en-US" sz="820" dirty="0"/>
          </a:p>
        </p:txBody>
      </p:sp>
      <p:sp>
        <p:nvSpPr>
          <p:cNvPr id="106" name="Text 104"/>
          <p:cNvSpPr txBox="1"/>
          <p:nvPr/>
        </p:nvSpPr>
        <p:spPr>
          <a:xfrm>
            <a:off x="8249717" y="5797296"/>
            <a:ext cx="1737360" cy="219456"/>
          </a:xfrm>
          <a:prstGeom prst="rect">
            <a:avLst/>
          </a:prstGeom>
          <a:noFill/>
          <a:ln/>
        </p:spPr>
        <p:txBody>
          <a:bodyPr wrap="square" lIns="0" tIns="0" rIns="0" bIns="0" rtlCol="0" anchor="t"/>
          <a:lstStyle/>
          <a:p>
            <a:pPr indent="0" marL="0">
              <a:lnSpc>
                <a:spcPct val="96000"/>
              </a:lnSpc>
              <a:buNone/>
            </a:pPr>
            <a:r>
              <a:rPr lang="en-US" sz="740" dirty="0">
                <a:solidFill>
                  <a:srgbClr val="5A6573"/>
                </a:solidFill>
                <a:latin typeface="Trenda IG Text" pitchFamily="34" charset="0"/>
                <a:ea typeface="Trenda IG Text" pitchFamily="34" charset="-122"/>
                <a:cs typeface="Trenda IG Text" pitchFamily="34" charset="-120"/>
              </a:rPr>
              <a:t>Best fit patient for a freed slot</a:t>
            </a:r>
            <a:endParaRPr lang="en-US" sz="740" dirty="0"/>
          </a:p>
        </p:txBody>
      </p:sp>
      <p:sp>
        <p:nvSpPr>
          <p:cNvPr id="107" name="Shape 105"/>
          <p:cNvSpPr/>
          <p:nvPr/>
        </p:nvSpPr>
        <p:spPr>
          <a:xfrm>
            <a:off x="10158984" y="5596128"/>
            <a:ext cx="1918411" cy="457200"/>
          </a:xfrm>
          <a:prstGeom prst="rect">
            <a:avLst/>
          </a:prstGeom>
          <a:solidFill>
            <a:srgbClr val="FFFFFF"/>
          </a:solidFill>
          <a:ln w="9525">
            <a:solidFill>
              <a:srgbClr val="D5D9DE"/>
            </a:solidFill>
            <a:prstDash val="solid"/>
          </a:ln>
        </p:spPr>
      </p:sp>
      <p:sp>
        <p:nvSpPr>
          <p:cNvPr id="108" name="Text 106"/>
          <p:cNvSpPr txBox="1"/>
          <p:nvPr/>
        </p:nvSpPr>
        <p:spPr>
          <a:xfrm>
            <a:off x="10259568" y="5641848"/>
            <a:ext cx="1737360" cy="155448"/>
          </a:xfrm>
          <a:prstGeom prst="rect">
            <a:avLst/>
          </a:prstGeom>
          <a:noFill/>
          <a:ln/>
        </p:spPr>
        <p:txBody>
          <a:bodyPr wrap="square" lIns="0" tIns="0" rIns="0" bIns="0" rtlCol="0" anchor="t"/>
          <a:lstStyle/>
          <a:p>
            <a:pPr indent="0" marL="0">
              <a:buNone/>
            </a:pPr>
            <a:r>
              <a:rPr lang="en-US" sz="820" dirty="0">
                <a:solidFill>
                  <a:srgbClr val="C77400"/>
                </a:solidFill>
                <a:latin typeface="Trenda IG Text Semibold" pitchFamily="34" charset="0"/>
                <a:ea typeface="Trenda IG Text Semibold" pitchFamily="34" charset="-122"/>
                <a:cs typeface="Trenda IG Text Semibold" pitchFamily="34" charset="-120"/>
              </a:rPr>
              <a:t>18  Reminder channel lift</a:t>
            </a:r>
            <a:endParaRPr lang="en-US" sz="820" dirty="0"/>
          </a:p>
        </p:txBody>
      </p:sp>
      <p:sp>
        <p:nvSpPr>
          <p:cNvPr id="109" name="Text 107"/>
          <p:cNvSpPr txBox="1"/>
          <p:nvPr/>
        </p:nvSpPr>
        <p:spPr>
          <a:xfrm>
            <a:off x="10259568" y="5797296"/>
            <a:ext cx="1737360" cy="219456"/>
          </a:xfrm>
          <a:prstGeom prst="rect">
            <a:avLst/>
          </a:prstGeom>
          <a:noFill/>
          <a:ln/>
        </p:spPr>
        <p:txBody>
          <a:bodyPr wrap="square" lIns="0" tIns="0" rIns="0" bIns="0" rtlCol="0" anchor="t"/>
          <a:lstStyle/>
          <a:p>
            <a:pPr indent="0" marL="0">
              <a:lnSpc>
                <a:spcPct val="96000"/>
              </a:lnSpc>
              <a:buNone/>
            </a:pPr>
            <a:r>
              <a:rPr lang="en-US" sz="740" dirty="0">
                <a:solidFill>
                  <a:srgbClr val="5A6573"/>
                </a:solidFill>
                <a:latin typeface="Trenda IG Text" pitchFamily="34" charset="0"/>
                <a:ea typeface="Trenda IG Text" pitchFamily="34" charset="-122"/>
                <a:cs typeface="Trenda IG Text" pitchFamily="34" charset="-120"/>
              </a:rPr>
              <a:t>Measured against a holdout</a:t>
            </a:r>
            <a:endParaRPr lang="en-US" sz="740" dirty="0"/>
          </a:p>
        </p:txBody>
      </p:sp>
      <p:sp>
        <p:nvSpPr>
          <p:cNvPr id="110" name="Shape 108"/>
          <p:cNvSpPr/>
          <p:nvPr/>
        </p:nvSpPr>
        <p:spPr>
          <a:xfrm>
            <a:off x="109728" y="6163056"/>
            <a:ext cx="11969496" cy="493776"/>
          </a:xfrm>
          <a:prstGeom prst="rect">
            <a:avLst/>
          </a:prstGeom>
          <a:solidFill>
            <a:srgbClr val="0E1B2E"/>
          </a:solidFill>
          <a:ln/>
        </p:spPr>
      </p:sp>
      <p:sp>
        <p:nvSpPr>
          <p:cNvPr id="111" name="Shape 109"/>
          <p:cNvSpPr/>
          <p:nvPr/>
        </p:nvSpPr>
        <p:spPr>
          <a:xfrm>
            <a:off x="274320" y="6336792"/>
            <a:ext cx="91440" cy="91440"/>
          </a:xfrm>
          <a:prstGeom prst="rect">
            <a:avLst/>
          </a:prstGeom>
          <a:solidFill>
            <a:srgbClr val="5FD0C0"/>
          </a:solidFill>
          <a:ln/>
        </p:spPr>
      </p:sp>
      <p:sp>
        <p:nvSpPr>
          <p:cNvPr id="112" name="Text 110"/>
          <p:cNvSpPr txBox="1"/>
          <p:nvPr/>
        </p:nvSpPr>
        <p:spPr>
          <a:xfrm>
            <a:off x="457200" y="6163056"/>
            <a:ext cx="11521440" cy="493776"/>
          </a:xfrm>
          <a:prstGeom prst="rect">
            <a:avLst/>
          </a:prstGeom>
          <a:noFill/>
          <a:ln/>
        </p:spPr>
        <p:txBody>
          <a:bodyPr wrap="square" lIns="0" tIns="0" rIns="0" bIns="0" rtlCol="0" anchor="ctr"/>
          <a:lstStyle/>
          <a:p>
            <a:pPr indent="0" marL="0">
              <a:buNone/>
            </a:pPr>
            <a:r>
              <a:rPr lang="en-US" sz="1100" dirty="0">
                <a:solidFill>
                  <a:srgbClr val="FFFFFF"/>
                </a:solidFill>
                <a:latin typeface="Trenda IG Text" pitchFamily="34" charset="0"/>
                <a:ea typeface="Trenda IG Text" pitchFamily="34" charset="-122"/>
                <a:cs typeface="Trenda IG Text" pitchFamily="34" charset="-120"/>
              </a:rPr>
              <a:t>Register the feature, and the gaps, the agent answers and the campaigns follow. That is the difference between an application and a framework.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E1B2E"/>
          </a:solidFill>
          <a:ln/>
        </p:spPr>
      </p:sp>
      <p:sp>
        <p:nvSpPr>
          <p:cNvPr id="3" name="Text 1"/>
          <p:cNvSpPr txBox="1"/>
          <p:nvPr/>
        </p:nvSpPr>
        <p:spPr>
          <a:xfrm>
            <a:off x="457200" y="137160"/>
            <a:ext cx="5486400" cy="192024"/>
          </a:xfrm>
          <a:prstGeom prst="rect">
            <a:avLst/>
          </a:prstGeom>
          <a:noFill/>
          <a:ln/>
        </p:spPr>
        <p:txBody>
          <a:bodyPr wrap="square" lIns="0" tIns="0" rIns="0" bIns="0" rtlCol="0" anchor="t"/>
          <a:lstStyle/>
          <a:p>
            <a:pPr indent="0" marL="0">
              <a:buNone/>
            </a:pPr>
            <a:r>
              <a:rPr lang="en-US" sz="1050" spc="120" kern="0" dirty="0">
                <a:solidFill>
                  <a:srgbClr val="5FD0C0"/>
                </a:solidFill>
                <a:latin typeface="Trenda IG Display Semibold" pitchFamily="34" charset="0"/>
                <a:ea typeface="Trenda IG Display Semibold" pitchFamily="34" charset="-122"/>
                <a:cs typeface="Trenda IG Display Semibold" pitchFamily="34" charset="-120"/>
              </a:rPr>
              <a:t>THE GRAPH MODEL</a:t>
            </a:r>
            <a:endParaRPr lang="en-US" sz="1050" dirty="0"/>
          </a:p>
        </p:txBody>
      </p:sp>
      <p:sp>
        <p:nvSpPr>
          <p:cNvPr id="4" name="Text 2"/>
          <p:cNvSpPr txBox="1"/>
          <p:nvPr/>
        </p:nvSpPr>
        <p:spPr>
          <a:xfrm>
            <a:off x="457200" y="365760"/>
            <a:ext cx="8778240" cy="347472"/>
          </a:xfrm>
          <a:prstGeom prst="rect">
            <a:avLst/>
          </a:prstGeom>
          <a:noFill/>
          <a:ln/>
        </p:spPr>
        <p:txBody>
          <a:bodyPr wrap="square" lIns="0" tIns="0" rIns="0" bIns="0" rtlCol="0" anchor="t"/>
          <a:lstStyle/>
          <a:p>
            <a:pPr indent="0" marL="0">
              <a:buNone/>
            </a:pPr>
            <a:r>
              <a:rPr lang="en-US" sz="2200" dirty="0">
                <a:solidFill>
                  <a:srgbClr val="FFFFFF"/>
                </a:solidFill>
                <a:latin typeface="Trenda IG Display Bold" pitchFamily="34" charset="0"/>
                <a:ea typeface="Trenda IG Display Bold" pitchFamily="34" charset="-122"/>
                <a:cs typeface="Trenda IG Display Bold" pitchFamily="34" charset="-120"/>
              </a:rPr>
              <a:t>Seven decisions that make this more than a provider directory</a:t>
            </a:r>
            <a:endParaRPr lang="en-US" sz="2200" dirty="0"/>
          </a:p>
        </p:txBody>
      </p:sp>
      <p:sp>
        <p:nvSpPr>
          <p:cNvPr id="5" name="Text 3"/>
          <p:cNvSpPr txBox="1"/>
          <p:nvPr/>
        </p:nvSpPr>
        <p:spPr>
          <a:xfrm>
            <a:off x="9418320" y="219456"/>
            <a:ext cx="2377440" cy="457200"/>
          </a:xfrm>
          <a:prstGeom prst="rect">
            <a:avLst/>
          </a:prstGeom>
          <a:noFill/>
          <a:ln/>
        </p:spPr>
        <p:txBody>
          <a:bodyPr wrap="square" lIns="0" tIns="0" rIns="0" bIns="0" rtlCol="0" anchor="t"/>
          <a:lstStyle/>
          <a:p>
            <a:pPr indent="0" marL="0">
              <a:lnSpc>
                <a:spcPct val="108000"/>
              </a:lnSpc>
              <a:buNone/>
            </a:pPr>
            <a:r>
              <a:rPr lang="en-US" sz="900" dirty="0">
                <a:solidFill>
                  <a:srgbClr val="A9B4C2"/>
                </a:solidFill>
                <a:latin typeface="Trenda IG Text Light" pitchFamily="34" charset="0"/>
                <a:ea typeface="Trenda IG Text Light" pitchFamily="34" charset="-122"/>
                <a:cs typeface="Trenda IG Text Light" pitchFamily="34" charset="-120"/>
              </a:rPr>
              <a:t>Each one is cheap to build in</a:t>
            </a:r>
            <a:endParaRPr lang="en-US" sz="900" dirty="0"/>
          </a:p>
          <a:p>
            <a:pPr indent="0" marL="0">
              <a:lnSpc>
                <a:spcPct val="108000"/>
              </a:lnSpc>
              <a:buNone/>
            </a:pPr>
            <a:r>
              <a:rPr lang="en-US" sz="900" dirty="0">
                <a:solidFill>
                  <a:srgbClr val="A9B4C2"/>
                </a:solidFill>
                <a:latin typeface="Trenda IG Text Light" pitchFamily="34" charset="0"/>
                <a:ea typeface="Trenda IG Text Light" pitchFamily="34" charset="-122"/>
                <a:cs typeface="Trenda IG Text Light" pitchFamily="34" charset="-120"/>
              </a:rPr>
              <a:t>and expensive to retrofit.</a:t>
            </a:r>
            <a:endParaRPr lang="en-US" sz="900" dirty="0"/>
          </a:p>
        </p:txBody>
      </p:sp>
      <p:sp>
        <p:nvSpPr>
          <p:cNvPr id="6" name="Shape 4"/>
          <p:cNvSpPr/>
          <p:nvPr/>
        </p:nvSpPr>
        <p:spPr>
          <a:xfrm>
            <a:off x="109728" y="1024128"/>
            <a:ext cx="2910078" cy="2340864"/>
          </a:xfrm>
          <a:prstGeom prst="rect">
            <a:avLst/>
          </a:prstGeom>
          <a:solidFill>
            <a:srgbClr val="F4F6F9"/>
          </a:solidFill>
          <a:ln w="9525">
            <a:solidFill>
              <a:srgbClr val="D5D9DE"/>
            </a:solidFill>
            <a:prstDash val="solid"/>
          </a:ln>
        </p:spPr>
      </p:sp>
      <p:sp>
        <p:nvSpPr>
          <p:cNvPr id="7" name="Shape 5"/>
          <p:cNvSpPr/>
          <p:nvPr/>
        </p:nvSpPr>
        <p:spPr>
          <a:xfrm>
            <a:off x="109728" y="1024128"/>
            <a:ext cx="347472" cy="347472"/>
          </a:xfrm>
          <a:prstGeom prst="rect">
            <a:avLst/>
          </a:prstGeom>
          <a:solidFill>
            <a:srgbClr val="C77400"/>
          </a:solidFill>
          <a:ln/>
        </p:spPr>
      </p:sp>
      <p:sp>
        <p:nvSpPr>
          <p:cNvPr id="8" name="Text 6"/>
          <p:cNvSpPr txBox="1"/>
          <p:nvPr/>
        </p:nvSpPr>
        <p:spPr>
          <a:xfrm>
            <a:off x="109728" y="1024128"/>
            <a:ext cx="347472" cy="347472"/>
          </a:xfrm>
          <a:prstGeom prst="rect">
            <a:avLst/>
          </a:prstGeom>
          <a:noFill/>
          <a:ln/>
        </p:spPr>
        <p:txBody>
          <a:bodyPr wrap="square" lIns="0" tIns="0" rIns="0" bIns="0" rtlCol="0" anchor="ctr"/>
          <a:lstStyle/>
          <a:p>
            <a:pPr algn="ctr" indent="0" marL="0">
              <a:buNone/>
            </a:pPr>
            <a:r>
              <a:rPr lang="en-US" sz="1300" dirty="0">
                <a:solidFill>
                  <a:srgbClr val="FFFFFF"/>
                </a:solidFill>
                <a:latin typeface="Trenda IG Display Bold" pitchFamily="34" charset="0"/>
                <a:ea typeface="Trenda IG Display Bold" pitchFamily="34" charset="-122"/>
                <a:cs typeface="Trenda IG Display Bold" pitchFamily="34" charset="-120"/>
              </a:rPr>
              <a:t>1</a:t>
            </a:r>
            <a:endParaRPr lang="en-US" sz="1300" dirty="0"/>
          </a:p>
        </p:txBody>
      </p:sp>
      <p:sp>
        <p:nvSpPr>
          <p:cNvPr id="9" name="Text 7"/>
          <p:cNvSpPr txBox="1"/>
          <p:nvPr/>
        </p:nvSpPr>
        <p:spPr>
          <a:xfrm>
            <a:off x="566928" y="1069848"/>
            <a:ext cx="2343150" cy="420624"/>
          </a:xfrm>
          <a:prstGeom prst="rect">
            <a:avLst/>
          </a:prstGeom>
          <a:noFill/>
          <a:ln/>
        </p:spPr>
        <p:txBody>
          <a:bodyPr wrap="square" lIns="0" tIns="0" rIns="0" bIns="0" rtlCol="0" anchor="t"/>
          <a:lstStyle/>
          <a:p>
            <a:pPr indent="0" marL="0">
              <a:lnSpc>
                <a:spcPct val="95000"/>
              </a:lnSpc>
              <a:buNone/>
            </a:pPr>
            <a:r>
              <a:rPr lang="en-US" sz="1300" dirty="0">
                <a:solidFill>
                  <a:srgbClr val="1A1A1A"/>
                </a:solidFill>
                <a:latin typeface="Trenda IG Display Bold" pitchFamily="34" charset="0"/>
                <a:ea typeface="Trenda IG Display Bold" pitchFamily="34" charset="-122"/>
                <a:cs typeface="Trenda IG Display Bold" pitchFamily="34" charset="-120"/>
              </a:rPr>
              <a:t>Bitemporal by default</a:t>
            </a:r>
            <a:endParaRPr lang="en-US" sz="1300" dirty="0"/>
          </a:p>
        </p:txBody>
      </p:sp>
      <p:sp>
        <p:nvSpPr>
          <p:cNvPr id="10" name="Text 8"/>
          <p:cNvSpPr txBox="1"/>
          <p:nvPr/>
        </p:nvSpPr>
        <p:spPr>
          <a:xfrm>
            <a:off x="274320" y="1554480"/>
            <a:ext cx="2580894" cy="1316736"/>
          </a:xfrm>
          <a:prstGeom prst="rect">
            <a:avLst/>
          </a:prstGeom>
          <a:noFill/>
          <a:ln/>
        </p:spPr>
        <p:txBody>
          <a:bodyPr wrap="square" lIns="0" tIns="0" rIns="0" bIns="0" rtlCol="0" anchor="t"/>
          <a:lstStyle/>
          <a:p>
            <a:pPr indent="0" marL="0">
              <a:lnSpc>
                <a:spcPct val="102000"/>
              </a:lnSpc>
              <a:buNone/>
            </a:pPr>
            <a:r>
              <a:rPr lang="en-US" sz="920" dirty="0">
                <a:solidFill>
                  <a:srgbClr val="1A1A1A"/>
                </a:solidFill>
                <a:latin typeface="Trenda IG Text" pitchFamily="34" charset="0"/>
                <a:ea typeface="Trenda IG Text" pitchFamily="34" charset="-122"/>
                <a:cs typeface="Trenda IG Text" pitchFamily="34" charset="-120"/>
              </a:rPr>
              <a:t>Every edge carries two clocks: when it was true in the world, and when we learned it.</a:t>
            </a:r>
            <a:endParaRPr lang="en-US" sz="920" dirty="0"/>
          </a:p>
          <a:p>
            <a:pPr indent="0" marL="0">
              <a:lnSpc>
                <a:spcPct val="102000"/>
              </a:lnSpc>
              <a:buNone/>
            </a:pPr>
            <a:endParaRPr lang="en-US" sz="920" dirty="0"/>
          </a:p>
          <a:p>
            <a:pPr indent="0" marL="0">
              <a:lnSpc>
                <a:spcPct val="102000"/>
              </a:lnSpc>
              <a:buNone/>
            </a:pPr>
            <a:r>
              <a:rPr lang="en-US" sz="920" dirty="0">
                <a:solidFill>
                  <a:srgbClr val="1A1A1A"/>
                </a:solidFill>
                <a:latin typeface="Trenda IG Text" pitchFamily="34" charset="0"/>
                <a:ea typeface="Trenda IG Text" pitchFamily="34" charset="-122"/>
                <a:cs typeface="Trenda IG Text" pitchFamily="34" charset="-120"/>
              </a:rPr>
              <a:t>Claims arrive ninety days late and credentials move. Without both clocks you cannot tell a real change from a late arrival.</a:t>
            </a:r>
            <a:endParaRPr lang="en-US" sz="920" dirty="0"/>
          </a:p>
        </p:txBody>
      </p:sp>
      <p:sp>
        <p:nvSpPr>
          <p:cNvPr id="11" name="Shape 9"/>
          <p:cNvSpPr/>
          <p:nvPr/>
        </p:nvSpPr>
        <p:spPr>
          <a:xfrm>
            <a:off x="274320" y="2962656"/>
            <a:ext cx="68580" cy="68580"/>
          </a:xfrm>
          <a:prstGeom prst="rect">
            <a:avLst/>
          </a:prstGeom>
          <a:solidFill>
            <a:srgbClr val="C77400"/>
          </a:solidFill>
          <a:ln/>
        </p:spPr>
      </p:sp>
      <p:sp>
        <p:nvSpPr>
          <p:cNvPr id="12" name="Text 10"/>
          <p:cNvSpPr txBox="1"/>
          <p:nvPr/>
        </p:nvSpPr>
        <p:spPr>
          <a:xfrm>
            <a:off x="402336" y="2916936"/>
            <a:ext cx="2471166" cy="365760"/>
          </a:xfrm>
          <a:prstGeom prst="rect">
            <a:avLst/>
          </a:prstGeom>
          <a:noFill/>
          <a:ln/>
        </p:spPr>
        <p:txBody>
          <a:bodyPr wrap="square" lIns="0" tIns="0" rIns="0" bIns="0" rtlCol="0" anchor="t"/>
          <a:lstStyle/>
          <a:p>
            <a:pPr indent="0" marL="0">
              <a:lnSpc>
                <a:spcPct val="98000"/>
              </a:lnSpc>
              <a:buNone/>
            </a:pPr>
            <a:r>
              <a:rPr lang="en-US" sz="880" dirty="0">
                <a:solidFill>
                  <a:srgbClr val="C77400"/>
                </a:solidFill>
                <a:latin typeface="Trenda IG Text Semibold" pitchFamily="34" charset="0"/>
                <a:ea typeface="Trenda IG Text Semibold" pitchFamily="34" charset="-122"/>
                <a:cs typeface="Trenda IG Text Semibold" pitchFamily="34" charset="-120"/>
              </a:rPr>
              <a:t>Ask what was true in March, and what we believed in March</a:t>
            </a:r>
            <a:endParaRPr lang="en-US" sz="880" dirty="0"/>
          </a:p>
        </p:txBody>
      </p:sp>
      <p:sp>
        <p:nvSpPr>
          <p:cNvPr id="13" name="Shape 11"/>
          <p:cNvSpPr/>
          <p:nvPr/>
        </p:nvSpPr>
        <p:spPr>
          <a:xfrm>
            <a:off x="3129534" y="1024128"/>
            <a:ext cx="2910078" cy="2340864"/>
          </a:xfrm>
          <a:prstGeom prst="rect">
            <a:avLst/>
          </a:prstGeom>
          <a:solidFill>
            <a:srgbClr val="F4F6F9"/>
          </a:solidFill>
          <a:ln w="9525">
            <a:solidFill>
              <a:srgbClr val="D5D9DE"/>
            </a:solidFill>
            <a:prstDash val="solid"/>
          </a:ln>
        </p:spPr>
      </p:sp>
      <p:sp>
        <p:nvSpPr>
          <p:cNvPr id="14" name="Shape 12"/>
          <p:cNvSpPr/>
          <p:nvPr/>
        </p:nvSpPr>
        <p:spPr>
          <a:xfrm>
            <a:off x="3129534" y="1024128"/>
            <a:ext cx="347472" cy="347472"/>
          </a:xfrm>
          <a:prstGeom prst="rect">
            <a:avLst/>
          </a:prstGeom>
          <a:solidFill>
            <a:srgbClr val="C2185B"/>
          </a:solidFill>
          <a:ln/>
        </p:spPr>
      </p:sp>
      <p:sp>
        <p:nvSpPr>
          <p:cNvPr id="15" name="Text 13"/>
          <p:cNvSpPr txBox="1"/>
          <p:nvPr/>
        </p:nvSpPr>
        <p:spPr>
          <a:xfrm>
            <a:off x="3129534" y="1024128"/>
            <a:ext cx="347472" cy="347472"/>
          </a:xfrm>
          <a:prstGeom prst="rect">
            <a:avLst/>
          </a:prstGeom>
          <a:noFill/>
          <a:ln/>
        </p:spPr>
        <p:txBody>
          <a:bodyPr wrap="square" lIns="0" tIns="0" rIns="0" bIns="0" rtlCol="0" anchor="ctr"/>
          <a:lstStyle/>
          <a:p>
            <a:pPr algn="ctr" indent="0" marL="0">
              <a:buNone/>
            </a:pPr>
            <a:r>
              <a:rPr lang="en-US" sz="1300" dirty="0">
                <a:solidFill>
                  <a:srgbClr val="FFFFFF"/>
                </a:solidFill>
                <a:latin typeface="Trenda IG Display Bold" pitchFamily="34" charset="0"/>
                <a:ea typeface="Trenda IG Display Bold" pitchFamily="34" charset="-122"/>
                <a:cs typeface="Trenda IG Display Bold" pitchFamily="34" charset="-120"/>
              </a:rPr>
              <a:t>2</a:t>
            </a:r>
            <a:endParaRPr lang="en-US" sz="1300" dirty="0"/>
          </a:p>
        </p:txBody>
      </p:sp>
      <p:sp>
        <p:nvSpPr>
          <p:cNvPr id="16" name="Text 14"/>
          <p:cNvSpPr txBox="1"/>
          <p:nvPr/>
        </p:nvSpPr>
        <p:spPr>
          <a:xfrm>
            <a:off x="3586734" y="1069848"/>
            <a:ext cx="2343150" cy="420624"/>
          </a:xfrm>
          <a:prstGeom prst="rect">
            <a:avLst/>
          </a:prstGeom>
          <a:noFill/>
          <a:ln/>
        </p:spPr>
        <p:txBody>
          <a:bodyPr wrap="square" lIns="0" tIns="0" rIns="0" bIns="0" rtlCol="0" anchor="t"/>
          <a:lstStyle/>
          <a:p>
            <a:pPr indent="0" marL="0">
              <a:lnSpc>
                <a:spcPct val="95000"/>
              </a:lnSpc>
              <a:buNone/>
            </a:pPr>
            <a:r>
              <a:rPr lang="en-US" sz="1300" dirty="0">
                <a:solidFill>
                  <a:srgbClr val="1A1A1A"/>
                </a:solidFill>
                <a:latin typeface="Trenda IG Display Bold" pitchFamily="34" charset="0"/>
                <a:ea typeface="Trenda IG Display Bold" pitchFamily="34" charset="-122"/>
                <a:cs typeface="Trenda IG Display Bold" pitchFamily="34" charset="-120"/>
              </a:rPr>
              <a:t>Relationships are nodes</a:t>
            </a:r>
            <a:endParaRPr lang="en-US" sz="1300" dirty="0"/>
          </a:p>
        </p:txBody>
      </p:sp>
      <p:sp>
        <p:nvSpPr>
          <p:cNvPr id="17" name="Text 15"/>
          <p:cNvSpPr txBox="1"/>
          <p:nvPr/>
        </p:nvSpPr>
        <p:spPr>
          <a:xfrm>
            <a:off x="3294126" y="1554480"/>
            <a:ext cx="2580894" cy="1316736"/>
          </a:xfrm>
          <a:prstGeom prst="rect">
            <a:avLst/>
          </a:prstGeom>
          <a:noFill/>
          <a:ln/>
        </p:spPr>
        <p:txBody>
          <a:bodyPr wrap="square" lIns="0" tIns="0" rIns="0" bIns="0" rtlCol="0" anchor="t"/>
          <a:lstStyle/>
          <a:p>
            <a:pPr indent="0" marL="0">
              <a:lnSpc>
                <a:spcPct val="102000"/>
              </a:lnSpc>
              <a:buNone/>
            </a:pPr>
            <a:r>
              <a:rPr lang="en-US" sz="920" dirty="0">
                <a:solidFill>
                  <a:srgbClr val="1A1A1A"/>
                </a:solidFill>
                <a:latin typeface="Trenda IG Text" pitchFamily="34" charset="0"/>
                <a:ea typeface="Trenda IG Text" pitchFamily="34" charset="-122"/>
                <a:cs typeface="Trenda IG Text" pitchFamily="34" charset="-120"/>
              </a:rPr>
              <a:t>Affiliation, Privilege and Coverage are objects, not plain edges, so each holds its own dates, confidence, evidence and scope.</a:t>
            </a:r>
            <a:endParaRPr lang="en-US" sz="920" dirty="0"/>
          </a:p>
          <a:p>
            <a:pPr indent="0" marL="0">
              <a:lnSpc>
                <a:spcPct val="102000"/>
              </a:lnSpc>
              <a:buNone/>
            </a:pPr>
            <a:endParaRPr lang="en-US" sz="920" dirty="0"/>
          </a:p>
          <a:p>
            <a:pPr indent="0" marL="0">
              <a:lnSpc>
                <a:spcPct val="102000"/>
              </a:lnSpc>
              <a:buNone/>
            </a:pPr>
            <a:r>
              <a:rPr lang="en-US" sz="920" dirty="0">
                <a:solidFill>
                  <a:srgbClr val="1A1A1A"/>
                </a:solidFill>
                <a:latin typeface="Trenda IG Text" pitchFamily="34" charset="0"/>
                <a:ea typeface="Trenda IG Text" pitchFamily="34" charset="-122"/>
                <a:cs typeface="Trenda IG Text" pitchFamily="34" charset="-120"/>
              </a:rPr>
              <a:t>Other edges can then point at them.</a:t>
            </a:r>
            <a:endParaRPr lang="en-US" sz="920" dirty="0"/>
          </a:p>
        </p:txBody>
      </p:sp>
      <p:sp>
        <p:nvSpPr>
          <p:cNvPr id="18" name="Shape 16"/>
          <p:cNvSpPr/>
          <p:nvPr/>
        </p:nvSpPr>
        <p:spPr>
          <a:xfrm>
            <a:off x="3294126" y="2962656"/>
            <a:ext cx="68580" cy="68580"/>
          </a:xfrm>
          <a:prstGeom prst="rect">
            <a:avLst/>
          </a:prstGeom>
          <a:solidFill>
            <a:srgbClr val="C2185B"/>
          </a:solidFill>
          <a:ln/>
        </p:spPr>
      </p:sp>
      <p:sp>
        <p:nvSpPr>
          <p:cNvPr id="19" name="Text 17"/>
          <p:cNvSpPr txBox="1"/>
          <p:nvPr/>
        </p:nvSpPr>
        <p:spPr>
          <a:xfrm>
            <a:off x="3422142" y="2916936"/>
            <a:ext cx="2471166" cy="365760"/>
          </a:xfrm>
          <a:prstGeom prst="rect">
            <a:avLst/>
          </a:prstGeom>
          <a:noFill/>
          <a:ln/>
        </p:spPr>
        <p:txBody>
          <a:bodyPr wrap="square" lIns="0" tIns="0" rIns="0" bIns="0" rtlCol="0" anchor="t"/>
          <a:lstStyle/>
          <a:p>
            <a:pPr indent="0" marL="0">
              <a:lnSpc>
                <a:spcPct val="98000"/>
              </a:lnSpc>
              <a:buNone/>
            </a:pPr>
            <a:r>
              <a:rPr lang="en-US" sz="880" dirty="0">
                <a:solidFill>
                  <a:srgbClr val="C2185B"/>
                </a:solidFill>
                <a:latin typeface="Trenda IG Text Semibold" pitchFamily="34" charset="0"/>
                <a:ea typeface="Trenda IG Text Semibold" pitchFamily="34" charset="-122"/>
                <a:cs typeface="Trenda IG Text Semibold" pitchFamily="34" charset="-120"/>
              </a:rPr>
              <a:t>A disputed coverage claim keeps both sides</a:t>
            </a:r>
            <a:endParaRPr lang="en-US" sz="880" dirty="0"/>
          </a:p>
        </p:txBody>
      </p:sp>
      <p:sp>
        <p:nvSpPr>
          <p:cNvPr id="20" name="Shape 18"/>
          <p:cNvSpPr/>
          <p:nvPr/>
        </p:nvSpPr>
        <p:spPr>
          <a:xfrm>
            <a:off x="6149340" y="1024128"/>
            <a:ext cx="2910078" cy="2340864"/>
          </a:xfrm>
          <a:prstGeom prst="rect">
            <a:avLst/>
          </a:prstGeom>
          <a:solidFill>
            <a:srgbClr val="F4F6F9"/>
          </a:solidFill>
          <a:ln w="9525">
            <a:solidFill>
              <a:srgbClr val="D5D9DE"/>
            </a:solidFill>
            <a:prstDash val="solid"/>
          </a:ln>
        </p:spPr>
      </p:sp>
      <p:sp>
        <p:nvSpPr>
          <p:cNvPr id="21" name="Shape 19"/>
          <p:cNvSpPr/>
          <p:nvPr/>
        </p:nvSpPr>
        <p:spPr>
          <a:xfrm>
            <a:off x="6149340" y="1024128"/>
            <a:ext cx="347472" cy="347472"/>
          </a:xfrm>
          <a:prstGeom prst="rect">
            <a:avLst/>
          </a:prstGeom>
          <a:solidFill>
            <a:srgbClr val="7A4FC0"/>
          </a:solidFill>
          <a:ln/>
        </p:spPr>
      </p:sp>
      <p:sp>
        <p:nvSpPr>
          <p:cNvPr id="22" name="Text 20"/>
          <p:cNvSpPr txBox="1"/>
          <p:nvPr/>
        </p:nvSpPr>
        <p:spPr>
          <a:xfrm>
            <a:off x="6149340" y="1024128"/>
            <a:ext cx="347472" cy="347472"/>
          </a:xfrm>
          <a:prstGeom prst="rect">
            <a:avLst/>
          </a:prstGeom>
          <a:noFill/>
          <a:ln/>
        </p:spPr>
        <p:txBody>
          <a:bodyPr wrap="square" lIns="0" tIns="0" rIns="0" bIns="0" rtlCol="0" anchor="ctr"/>
          <a:lstStyle/>
          <a:p>
            <a:pPr algn="ctr" indent="0" marL="0">
              <a:buNone/>
            </a:pPr>
            <a:r>
              <a:rPr lang="en-US" sz="1300" dirty="0">
                <a:solidFill>
                  <a:srgbClr val="FFFFFF"/>
                </a:solidFill>
                <a:latin typeface="Trenda IG Display Bold" pitchFamily="34" charset="0"/>
                <a:ea typeface="Trenda IG Display Bold" pitchFamily="34" charset="-122"/>
                <a:cs typeface="Trenda IG Display Bold" pitchFamily="34" charset="-120"/>
              </a:rPr>
              <a:t>3</a:t>
            </a:r>
            <a:endParaRPr lang="en-US" sz="1300" dirty="0"/>
          </a:p>
        </p:txBody>
      </p:sp>
      <p:sp>
        <p:nvSpPr>
          <p:cNvPr id="23" name="Text 21"/>
          <p:cNvSpPr txBox="1"/>
          <p:nvPr/>
        </p:nvSpPr>
        <p:spPr>
          <a:xfrm>
            <a:off x="6606540" y="1069848"/>
            <a:ext cx="2343150" cy="420624"/>
          </a:xfrm>
          <a:prstGeom prst="rect">
            <a:avLst/>
          </a:prstGeom>
          <a:noFill/>
          <a:ln/>
        </p:spPr>
        <p:txBody>
          <a:bodyPr wrap="square" lIns="0" tIns="0" rIns="0" bIns="0" rtlCol="0" anchor="t"/>
          <a:lstStyle/>
          <a:p>
            <a:pPr indent="0" marL="0">
              <a:lnSpc>
                <a:spcPct val="95000"/>
              </a:lnSpc>
              <a:buNone/>
            </a:pPr>
            <a:r>
              <a:rPr lang="en-US" sz="1300" dirty="0">
                <a:solidFill>
                  <a:srgbClr val="1A1A1A"/>
                </a:solidFill>
                <a:latin typeface="Trenda IG Display Bold" pitchFamily="34" charset="0"/>
                <a:ea typeface="Trenda IG Display Bold" pitchFamily="34" charset="-122"/>
                <a:cs typeface="Trenda IG Display Bold" pitchFamily="34" charset="-120"/>
              </a:rPr>
              <a:t>Assertion plane, evidence plane</a:t>
            </a:r>
            <a:endParaRPr lang="en-US" sz="1300" dirty="0"/>
          </a:p>
        </p:txBody>
      </p:sp>
      <p:sp>
        <p:nvSpPr>
          <p:cNvPr id="24" name="Text 22"/>
          <p:cNvSpPr txBox="1"/>
          <p:nvPr/>
        </p:nvSpPr>
        <p:spPr>
          <a:xfrm>
            <a:off x="6313932" y="1554480"/>
            <a:ext cx="2580894" cy="1316736"/>
          </a:xfrm>
          <a:prstGeom prst="rect">
            <a:avLst/>
          </a:prstGeom>
          <a:noFill/>
          <a:ln/>
        </p:spPr>
        <p:txBody>
          <a:bodyPr wrap="square" lIns="0" tIns="0" rIns="0" bIns="0" rtlCol="0" anchor="t"/>
          <a:lstStyle/>
          <a:p>
            <a:pPr indent="0" marL="0">
              <a:lnSpc>
                <a:spcPct val="102000"/>
              </a:lnSpc>
              <a:buNone/>
            </a:pPr>
            <a:r>
              <a:rPr lang="en-US" sz="920" dirty="0">
                <a:solidFill>
                  <a:srgbClr val="1A1A1A"/>
                </a:solidFill>
                <a:latin typeface="Trenda IG Text" pitchFamily="34" charset="0"/>
                <a:ea typeface="Trenda IG Text" pitchFamily="34" charset="-122"/>
                <a:cs typeface="Trenda IG Text" pitchFamily="34" charset="-120"/>
              </a:rPr>
              <a:t>Every assertion resolves to evidence nodes: source, extract, row, hash.</a:t>
            </a:r>
            <a:endParaRPr lang="en-US" sz="920" dirty="0"/>
          </a:p>
          <a:p>
            <a:pPr indent="0" marL="0">
              <a:lnSpc>
                <a:spcPct val="102000"/>
              </a:lnSpc>
              <a:buNone/>
            </a:pPr>
            <a:endParaRPr lang="en-US" sz="920" dirty="0"/>
          </a:p>
          <a:p>
            <a:pPr indent="0" marL="0">
              <a:lnSpc>
                <a:spcPct val="102000"/>
              </a:lnSpc>
              <a:buNone/>
            </a:pPr>
            <a:r>
              <a:rPr lang="en-US" sz="920" dirty="0">
                <a:solidFill>
                  <a:srgbClr val="1A1A1A"/>
                </a:solidFill>
                <a:latin typeface="Trenda IG Text" pitchFamily="34" charset="0"/>
                <a:ea typeface="Trenda IG Text" pitchFamily="34" charset="-122"/>
                <a:cs typeface="Trenda IG Text" pitchFamily="34" charset="-120"/>
              </a:rPr>
              <a:t>No evidence path means no publication. The rule is enforced by the engine, not by habit.</a:t>
            </a:r>
            <a:endParaRPr lang="en-US" sz="920" dirty="0"/>
          </a:p>
        </p:txBody>
      </p:sp>
      <p:sp>
        <p:nvSpPr>
          <p:cNvPr id="25" name="Shape 23"/>
          <p:cNvSpPr/>
          <p:nvPr/>
        </p:nvSpPr>
        <p:spPr>
          <a:xfrm>
            <a:off x="6313932" y="2962656"/>
            <a:ext cx="68580" cy="68580"/>
          </a:xfrm>
          <a:prstGeom prst="rect">
            <a:avLst/>
          </a:prstGeom>
          <a:solidFill>
            <a:srgbClr val="7A4FC0"/>
          </a:solidFill>
          <a:ln/>
        </p:spPr>
      </p:sp>
      <p:sp>
        <p:nvSpPr>
          <p:cNvPr id="26" name="Text 24"/>
          <p:cNvSpPr txBox="1"/>
          <p:nvPr/>
        </p:nvSpPr>
        <p:spPr>
          <a:xfrm>
            <a:off x="6441948" y="2916936"/>
            <a:ext cx="2471166" cy="365760"/>
          </a:xfrm>
          <a:prstGeom prst="rect">
            <a:avLst/>
          </a:prstGeom>
          <a:noFill/>
          <a:ln/>
        </p:spPr>
        <p:txBody>
          <a:bodyPr wrap="square" lIns="0" tIns="0" rIns="0" bIns="0" rtlCol="0" anchor="t"/>
          <a:lstStyle/>
          <a:p>
            <a:pPr indent="0" marL="0">
              <a:lnSpc>
                <a:spcPct val="98000"/>
              </a:lnSpc>
              <a:buNone/>
            </a:pPr>
            <a:r>
              <a:rPr lang="en-US" sz="880" dirty="0">
                <a:solidFill>
                  <a:srgbClr val="7A4FC0"/>
                </a:solidFill>
                <a:latin typeface="Trenda IG Text Semibold" pitchFamily="34" charset="0"/>
                <a:ea typeface="Trenda IG Text Semibold" pitchFamily="34" charset="-122"/>
                <a:cs typeface="Trenda IG Text Semibold" pitchFamily="34" charset="-120"/>
              </a:rPr>
              <a:t>Defensible in a contracting conversation</a:t>
            </a:r>
            <a:endParaRPr lang="en-US" sz="880" dirty="0"/>
          </a:p>
        </p:txBody>
      </p:sp>
      <p:sp>
        <p:nvSpPr>
          <p:cNvPr id="27" name="Shape 25"/>
          <p:cNvSpPr/>
          <p:nvPr/>
        </p:nvSpPr>
        <p:spPr>
          <a:xfrm>
            <a:off x="9169146" y="1024128"/>
            <a:ext cx="2910078" cy="2340864"/>
          </a:xfrm>
          <a:prstGeom prst="rect">
            <a:avLst/>
          </a:prstGeom>
          <a:solidFill>
            <a:srgbClr val="F4F6F9"/>
          </a:solidFill>
          <a:ln w="9525">
            <a:solidFill>
              <a:srgbClr val="D5D9DE"/>
            </a:solidFill>
            <a:prstDash val="solid"/>
          </a:ln>
        </p:spPr>
      </p:sp>
      <p:sp>
        <p:nvSpPr>
          <p:cNvPr id="28" name="Shape 26"/>
          <p:cNvSpPr/>
          <p:nvPr/>
        </p:nvSpPr>
        <p:spPr>
          <a:xfrm>
            <a:off x="9169146" y="1024128"/>
            <a:ext cx="347472" cy="347472"/>
          </a:xfrm>
          <a:prstGeom prst="rect">
            <a:avLst/>
          </a:prstGeom>
          <a:solidFill>
            <a:srgbClr val="C62828"/>
          </a:solidFill>
          <a:ln/>
        </p:spPr>
      </p:sp>
      <p:sp>
        <p:nvSpPr>
          <p:cNvPr id="29" name="Text 27"/>
          <p:cNvSpPr txBox="1"/>
          <p:nvPr/>
        </p:nvSpPr>
        <p:spPr>
          <a:xfrm>
            <a:off x="9169146" y="1024128"/>
            <a:ext cx="347472" cy="347472"/>
          </a:xfrm>
          <a:prstGeom prst="rect">
            <a:avLst/>
          </a:prstGeom>
          <a:noFill/>
          <a:ln/>
        </p:spPr>
        <p:txBody>
          <a:bodyPr wrap="square" lIns="0" tIns="0" rIns="0" bIns="0" rtlCol="0" anchor="ctr"/>
          <a:lstStyle/>
          <a:p>
            <a:pPr algn="ctr" indent="0" marL="0">
              <a:buNone/>
            </a:pPr>
            <a:r>
              <a:rPr lang="en-US" sz="1300" dirty="0">
                <a:solidFill>
                  <a:srgbClr val="FFFFFF"/>
                </a:solidFill>
                <a:latin typeface="Trenda IG Display Bold" pitchFamily="34" charset="0"/>
                <a:ea typeface="Trenda IG Display Bold" pitchFamily="34" charset="-122"/>
                <a:cs typeface="Trenda IG Display Bold" pitchFamily="34" charset="-120"/>
              </a:rPr>
              <a:t>4</a:t>
            </a:r>
            <a:endParaRPr lang="en-US" sz="1300" dirty="0"/>
          </a:p>
        </p:txBody>
      </p:sp>
      <p:sp>
        <p:nvSpPr>
          <p:cNvPr id="30" name="Text 28"/>
          <p:cNvSpPr txBox="1"/>
          <p:nvPr/>
        </p:nvSpPr>
        <p:spPr>
          <a:xfrm>
            <a:off x="9626346" y="1069848"/>
            <a:ext cx="2343150" cy="420624"/>
          </a:xfrm>
          <a:prstGeom prst="rect">
            <a:avLst/>
          </a:prstGeom>
          <a:noFill/>
          <a:ln/>
        </p:spPr>
        <p:txBody>
          <a:bodyPr wrap="square" lIns="0" tIns="0" rIns="0" bIns="0" rtlCol="0" anchor="t"/>
          <a:lstStyle/>
          <a:p>
            <a:pPr indent="0" marL="0">
              <a:lnSpc>
                <a:spcPct val="95000"/>
              </a:lnSpc>
              <a:buNone/>
            </a:pPr>
            <a:r>
              <a:rPr lang="en-US" sz="1300" dirty="0">
                <a:solidFill>
                  <a:srgbClr val="1A1A1A"/>
                </a:solidFill>
                <a:latin typeface="Trenda IG Display Bold" pitchFamily="34" charset="0"/>
                <a:ea typeface="Trenda IG Display Bold" pitchFamily="34" charset="-122"/>
                <a:cs typeface="Trenda IG Display Bold" pitchFamily="34" charset="-120"/>
              </a:rPr>
              <a:t>Capability algebra</a:t>
            </a:r>
            <a:endParaRPr lang="en-US" sz="1300" dirty="0"/>
          </a:p>
        </p:txBody>
      </p:sp>
      <p:sp>
        <p:nvSpPr>
          <p:cNvPr id="31" name="Text 29"/>
          <p:cNvSpPr txBox="1"/>
          <p:nvPr/>
        </p:nvSpPr>
        <p:spPr>
          <a:xfrm>
            <a:off x="9333738" y="1554480"/>
            <a:ext cx="2580894" cy="1316736"/>
          </a:xfrm>
          <a:prstGeom prst="rect">
            <a:avLst/>
          </a:prstGeom>
          <a:noFill/>
          <a:ln/>
        </p:spPr>
        <p:txBody>
          <a:bodyPr wrap="square" lIns="0" tIns="0" rIns="0" bIns="0" rtlCol="0" anchor="t"/>
          <a:lstStyle/>
          <a:p>
            <a:pPr indent="0" marL="0">
              <a:lnSpc>
                <a:spcPct val="102000"/>
              </a:lnSpc>
              <a:buNone/>
            </a:pPr>
            <a:r>
              <a:rPr lang="en-US" sz="920" dirty="0">
                <a:solidFill>
                  <a:srgbClr val="1A1A1A"/>
                </a:solidFill>
                <a:latin typeface="Trenda IG Text" pitchFamily="34" charset="0"/>
                <a:ea typeface="Trenda IG Text" pitchFamily="34" charset="-122"/>
                <a:cs typeface="Trenda IG Text" pitchFamily="34" charset="-120"/>
              </a:rPr>
              <a:t>A service line is a specification: required specialties, required capabilities, coverage window, minimum volume.</a:t>
            </a:r>
            <a:endParaRPr lang="en-US" sz="920" dirty="0"/>
          </a:p>
          <a:p>
            <a:pPr indent="0" marL="0">
              <a:lnSpc>
                <a:spcPct val="102000"/>
              </a:lnSpc>
              <a:buNone/>
            </a:pPr>
            <a:endParaRPr lang="en-US" sz="920" dirty="0"/>
          </a:p>
          <a:p>
            <a:pPr indent="0" marL="0">
              <a:lnSpc>
                <a:spcPct val="102000"/>
              </a:lnSpc>
              <a:buNone/>
            </a:pPr>
            <a:r>
              <a:rPr lang="en-US" sz="920" dirty="0">
                <a:solidFill>
                  <a:srgbClr val="1A1A1A"/>
                </a:solidFill>
                <a:latin typeface="Trenda IG Text" pitchFamily="34" charset="0"/>
                <a:ea typeface="Trenda IG Text" pitchFamily="34" charset="-122"/>
                <a:cs typeface="Trenda IG Text" pitchFamily="34" charset="-120"/>
              </a:rPr>
              <a:t>Gap detection becomes constraint satisfaction over the graph instead of a library of hand written queries.</a:t>
            </a:r>
            <a:endParaRPr lang="en-US" sz="920" dirty="0"/>
          </a:p>
        </p:txBody>
      </p:sp>
      <p:sp>
        <p:nvSpPr>
          <p:cNvPr id="32" name="Shape 30"/>
          <p:cNvSpPr/>
          <p:nvPr/>
        </p:nvSpPr>
        <p:spPr>
          <a:xfrm>
            <a:off x="9333738" y="2962656"/>
            <a:ext cx="68580" cy="68580"/>
          </a:xfrm>
          <a:prstGeom prst="rect">
            <a:avLst/>
          </a:prstGeom>
          <a:solidFill>
            <a:srgbClr val="C62828"/>
          </a:solidFill>
          <a:ln/>
        </p:spPr>
      </p:sp>
      <p:sp>
        <p:nvSpPr>
          <p:cNvPr id="33" name="Text 31"/>
          <p:cNvSpPr txBox="1"/>
          <p:nvPr/>
        </p:nvSpPr>
        <p:spPr>
          <a:xfrm>
            <a:off x="9461754" y="2916936"/>
            <a:ext cx="2471166" cy="365760"/>
          </a:xfrm>
          <a:prstGeom prst="rect">
            <a:avLst/>
          </a:prstGeom>
          <a:noFill/>
          <a:ln/>
        </p:spPr>
        <p:txBody>
          <a:bodyPr wrap="square" lIns="0" tIns="0" rIns="0" bIns="0" rtlCol="0" anchor="t"/>
          <a:lstStyle/>
          <a:p>
            <a:pPr indent="0" marL="0">
              <a:lnSpc>
                <a:spcPct val="98000"/>
              </a:lnSpc>
              <a:buNone/>
            </a:pPr>
            <a:r>
              <a:rPr lang="en-US" sz="880" dirty="0">
                <a:solidFill>
                  <a:srgbClr val="C62828"/>
                </a:solidFill>
                <a:latin typeface="Trenda IG Text Semibold" pitchFamily="34" charset="0"/>
                <a:ea typeface="Trenda IG Text Semibold" pitchFamily="34" charset="-122"/>
                <a:cs typeface="Trenda IG Text Semibold" pitchFamily="34" charset="-120"/>
              </a:rPr>
              <a:t>A new service line is a spec row, not new code</a:t>
            </a:r>
            <a:endParaRPr lang="en-US" sz="880" dirty="0"/>
          </a:p>
        </p:txBody>
      </p:sp>
      <p:sp>
        <p:nvSpPr>
          <p:cNvPr id="34" name="Shape 32"/>
          <p:cNvSpPr/>
          <p:nvPr/>
        </p:nvSpPr>
        <p:spPr>
          <a:xfrm>
            <a:off x="109728" y="3511296"/>
            <a:ext cx="2910078" cy="2340864"/>
          </a:xfrm>
          <a:prstGeom prst="rect">
            <a:avLst/>
          </a:prstGeom>
          <a:solidFill>
            <a:srgbClr val="F4F6F9"/>
          </a:solidFill>
          <a:ln w="9525">
            <a:solidFill>
              <a:srgbClr val="D5D9DE"/>
            </a:solidFill>
            <a:prstDash val="solid"/>
          </a:ln>
        </p:spPr>
      </p:sp>
      <p:sp>
        <p:nvSpPr>
          <p:cNvPr id="35" name="Shape 33"/>
          <p:cNvSpPr/>
          <p:nvPr/>
        </p:nvSpPr>
        <p:spPr>
          <a:xfrm>
            <a:off x="109728" y="3511296"/>
            <a:ext cx="347472" cy="347472"/>
          </a:xfrm>
          <a:prstGeom prst="rect">
            <a:avLst/>
          </a:prstGeom>
          <a:solidFill>
            <a:srgbClr val="2E7D32"/>
          </a:solidFill>
          <a:ln/>
        </p:spPr>
      </p:sp>
      <p:sp>
        <p:nvSpPr>
          <p:cNvPr id="36" name="Text 34"/>
          <p:cNvSpPr txBox="1"/>
          <p:nvPr/>
        </p:nvSpPr>
        <p:spPr>
          <a:xfrm>
            <a:off x="109728" y="3511296"/>
            <a:ext cx="347472" cy="347472"/>
          </a:xfrm>
          <a:prstGeom prst="rect">
            <a:avLst/>
          </a:prstGeom>
          <a:noFill/>
          <a:ln/>
        </p:spPr>
        <p:txBody>
          <a:bodyPr wrap="square" lIns="0" tIns="0" rIns="0" bIns="0" rtlCol="0" anchor="ctr"/>
          <a:lstStyle/>
          <a:p>
            <a:pPr algn="ctr" indent="0" marL="0">
              <a:buNone/>
            </a:pPr>
            <a:r>
              <a:rPr lang="en-US" sz="1300" dirty="0">
                <a:solidFill>
                  <a:srgbClr val="FFFFFF"/>
                </a:solidFill>
                <a:latin typeface="Trenda IG Display Bold" pitchFamily="34" charset="0"/>
                <a:ea typeface="Trenda IG Display Bold" pitchFamily="34" charset="-122"/>
                <a:cs typeface="Trenda IG Display Bold" pitchFamily="34" charset="-120"/>
              </a:rPr>
              <a:t>5</a:t>
            </a:r>
            <a:endParaRPr lang="en-US" sz="1300" dirty="0"/>
          </a:p>
        </p:txBody>
      </p:sp>
      <p:sp>
        <p:nvSpPr>
          <p:cNvPr id="37" name="Text 35"/>
          <p:cNvSpPr txBox="1"/>
          <p:nvPr/>
        </p:nvSpPr>
        <p:spPr>
          <a:xfrm>
            <a:off x="566928" y="3557016"/>
            <a:ext cx="2343150" cy="420624"/>
          </a:xfrm>
          <a:prstGeom prst="rect">
            <a:avLst/>
          </a:prstGeom>
          <a:noFill/>
          <a:ln/>
        </p:spPr>
        <p:txBody>
          <a:bodyPr wrap="square" lIns="0" tIns="0" rIns="0" bIns="0" rtlCol="0" anchor="t"/>
          <a:lstStyle/>
          <a:p>
            <a:pPr indent="0" marL="0">
              <a:lnSpc>
                <a:spcPct val="95000"/>
              </a:lnSpc>
              <a:buNone/>
            </a:pPr>
            <a:r>
              <a:rPr lang="en-US" sz="1300" dirty="0">
                <a:solidFill>
                  <a:srgbClr val="1A1A1A"/>
                </a:solidFill>
                <a:latin typeface="Trenda IG Display Bold" pitchFamily="34" charset="0"/>
                <a:ea typeface="Trenda IG Display Bold" pitchFamily="34" charset="-122"/>
                <a:cs typeface="Trenda IG Display Bold" pitchFamily="34" charset="-120"/>
              </a:rPr>
              <a:t>Symbolic plus vector</a:t>
            </a:r>
            <a:endParaRPr lang="en-US" sz="1300" dirty="0"/>
          </a:p>
        </p:txBody>
      </p:sp>
      <p:sp>
        <p:nvSpPr>
          <p:cNvPr id="38" name="Text 36"/>
          <p:cNvSpPr txBox="1"/>
          <p:nvPr/>
        </p:nvSpPr>
        <p:spPr>
          <a:xfrm>
            <a:off x="274320" y="4041648"/>
            <a:ext cx="2580894" cy="1316736"/>
          </a:xfrm>
          <a:prstGeom prst="rect">
            <a:avLst/>
          </a:prstGeom>
          <a:noFill/>
          <a:ln/>
        </p:spPr>
        <p:txBody>
          <a:bodyPr wrap="square" lIns="0" tIns="0" rIns="0" bIns="0" rtlCol="0" anchor="t"/>
          <a:lstStyle/>
          <a:p>
            <a:pPr indent="0" marL="0">
              <a:lnSpc>
                <a:spcPct val="102000"/>
              </a:lnSpc>
              <a:buNone/>
            </a:pPr>
            <a:r>
              <a:rPr lang="en-US" sz="920" dirty="0">
                <a:solidFill>
                  <a:srgbClr val="1A1A1A"/>
                </a:solidFill>
                <a:latin typeface="Trenda IG Text" pitchFamily="34" charset="0"/>
                <a:ea typeface="Trenda IG Text" pitchFamily="34" charset="-122"/>
                <a:cs typeface="Trenda IG Text" pitchFamily="34" charset="-120"/>
              </a:rPr>
              <a:t>Typed traversal handles the hard constraints. Embeddings handle likeness: who could substitute, which site is comparable.</a:t>
            </a:r>
            <a:endParaRPr lang="en-US" sz="920" dirty="0"/>
          </a:p>
          <a:p>
            <a:pPr indent="0" marL="0">
              <a:lnSpc>
                <a:spcPct val="102000"/>
              </a:lnSpc>
              <a:buNone/>
            </a:pPr>
            <a:endParaRPr lang="en-US" sz="920" dirty="0"/>
          </a:p>
          <a:p>
            <a:pPr indent="0" marL="0">
              <a:lnSpc>
                <a:spcPct val="102000"/>
              </a:lnSpc>
              <a:buNone/>
            </a:pPr>
            <a:r>
              <a:rPr lang="en-US" sz="920" dirty="0">
                <a:solidFill>
                  <a:srgbClr val="1A1A1A"/>
                </a:solidFill>
                <a:latin typeface="Trenda IG Text" pitchFamily="34" charset="0"/>
                <a:ea typeface="Trenda IG Text" pitchFamily="34" charset="-122"/>
                <a:cs typeface="Trenda IG Text" pitchFamily="34" charset="-120"/>
              </a:rPr>
              <a:t>Anchor symbolically, rank by vector, never the reverse.</a:t>
            </a:r>
            <a:endParaRPr lang="en-US" sz="920" dirty="0"/>
          </a:p>
        </p:txBody>
      </p:sp>
      <p:sp>
        <p:nvSpPr>
          <p:cNvPr id="39" name="Shape 37"/>
          <p:cNvSpPr/>
          <p:nvPr/>
        </p:nvSpPr>
        <p:spPr>
          <a:xfrm>
            <a:off x="274320" y="5449824"/>
            <a:ext cx="68580" cy="68580"/>
          </a:xfrm>
          <a:prstGeom prst="rect">
            <a:avLst/>
          </a:prstGeom>
          <a:solidFill>
            <a:srgbClr val="2E7D32"/>
          </a:solidFill>
          <a:ln/>
        </p:spPr>
      </p:sp>
      <p:sp>
        <p:nvSpPr>
          <p:cNvPr id="40" name="Text 38"/>
          <p:cNvSpPr txBox="1"/>
          <p:nvPr/>
        </p:nvSpPr>
        <p:spPr>
          <a:xfrm>
            <a:off x="402336" y="5404104"/>
            <a:ext cx="2471166" cy="365760"/>
          </a:xfrm>
          <a:prstGeom prst="rect">
            <a:avLst/>
          </a:prstGeom>
          <a:noFill/>
          <a:ln/>
        </p:spPr>
        <p:txBody>
          <a:bodyPr wrap="square" lIns="0" tIns="0" rIns="0" bIns="0" rtlCol="0" anchor="t"/>
          <a:lstStyle/>
          <a:p>
            <a:pPr indent="0" marL="0">
              <a:lnSpc>
                <a:spcPct val="98000"/>
              </a:lnSpc>
              <a:buNone/>
            </a:pPr>
            <a:r>
              <a:rPr lang="en-US" sz="880" dirty="0">
                <a:solidFill>
                  <a:srgbClr val="2E7D32"/>
                </a:solidFill>
                <a:latin typeface="Trenda IG Text Semibold" pitchFamily="34" charset="0"/>
                <a:ea typeface="Trenda IG Text Semibold" pitchFamily="34" charset="-122"/>
                <a:cs typeface="Trenda IG Text Semibold" pitchFamily="34" charset="-120"/>
              </a:rPr>
              <a:t>Similarity never overrules a credential</a:t>
            </a:r>
            <a:endParaRPr lang="en-US" sz="880" dirty="0"/>
          </a:p>
        </p:txBody>
      </p:sp>
      <p:sp>
        <p:nvSpPr>
          <p:cNvPr id="41" name="Shape 39"/>
          <p:cNvSpPr/>
          <p:nvPr/>
        </p:nvSpPr>
        <p:spPr>
          <a:xfrm>
            <a:off x="3129534" y="3511296"/>
            <a:ext cx="2910078" cy="2340864"/>
          </a:xfrm>
          <a:prstGeom prst="rect">
            <a:avLst/>
          </a:prstGeom>
          <a:solidFill>
            <a:srgbClr val="F4F6F9"/>
          </a:solidFill>
          <a:ln w="9525">
            <a:solidFill>
              <a:srgbClr val="D5D9DE"/>
            </a:solidFill>
            <a:prstDash val="solid"/>
          </a:ln>
        </p:spPr>
      </p:sp>
      <p:sp>
        <p:nvSpPr>
          <p:cNvPr id="42" name="Shape 40"/>
          <p:cNvSpPr/>
          <p:nvPr/>
        </p:nvSpPr>
        <p:spPr>
          <a:xfrm>
            <a:off x="3129534" y="3511296"/>
            <a:ext cx="347472" cy="347472"/>
          </a:xfrm>
          <a:prstGeom prst="rect">
            <a:avLst/>
          </a:prstGeom>
          <a:solidFill>
            <a:srgbClr val="0E8A7D"/>
          </a:solidFill>
          <a:ln/>
        </p:spPr>
      </p:sp>
      <p:sp>
        <p:nvSpPr>
          <p:cNvPr id="43" name="Text 41"/>
          <p:cNvSpPr txBox="1"/>
          <p:nvPr/>
        </p:nvSpPr>
        <p:spPr>
          <a:xfrm>
            <a:off x="3129534" y="3511296"/>
            <a:ext cx="347472" cy="347472"/>
          </a:xfrm>
          <a:prstGeom prst="rect">
            <a:avLst/>
          </a:prstGeom>
          <a:noFill/>
          <a:ln/>
        </p:spPr>
        <p:txBody>
          <a:bodyPr wrap="square" lIns="0" tIns="0" rIns="0" bIns="0" rtlCol="0" anchor="ctr"/>
          <a:lstStyle/>
          <a:p>
            <a:pPr algn="ctr" indent="0" marL="0">
              <a:buNone/>
            </a:pPr>
            <a:r>
              <a:rPr lang="en-US" sz="1300" dirty="0">
                <a:solidFill>
                  <a:srgbClr val="FFFFFF"/>
                </a:solidFill>
                <a:latin typeface="Trenda IG Display Bold" pitchFamily="34" charset="0"/>
                <a:ea typeface="Trenda IG Display Bold" pitchFamily="34" charset="-122"/>
                <a:cs typeface="Trenda IG Display Bold" pitchFamily="34" charset="-120"/>
              </a:rPr>
              <a:t>6</a:t>
            </a:r>
            <a:endParaRPr lang="en-US" sz="1300" dirty="0"/>
          </a:p>
        </p:txBody>
      </p:sp>
      <p:sp>
        <p:nvSpPr>
          <p:cNvPr id="44" name="Text 42"/>
          <p:cNvSpPr txBox="1"/>
          <p:nvPr/>
        </p:nvSpPr>
        <p:spPr>
          <a:xfrm>
            <a:off x="3586734" y="3557016"/>
            <a:ext cx="2343150" cy="420624"/>
          </a:xfrm>
          <a:prstGeom prst="rect">
            <a:avLst/>
          </a:prstGeom>
          <a:noFill/>
          <a:ln/>
        </p:spPr>
        <p:txBody>
          <a:bodyPr wrap="square" lIns="0" tIns="0" rIns="0" bIns="0" rtlCol="0" anchor="t"/>
          <a:lstStyle/>
          <a:p>
            <a:pPr indent="0" marL="0">
              <a:lnSpc>
                <a:spcPct val="95000"/>
              </a:lnSpc>
              <a:buNone/>
            </a:pPr>
            <a:r>
              <a:rPr lang="en-US" sz="1300" dirty="0">
                <a:solidFill>
                  <a:srgbClr val="1A1A1A"/>
                </a:solidFill>
                <a:latin typeface="Trenda IG Display Bold" pitchFamily="34" charset="0"/>
                <a:ea typeface="Trenda IG Display Bold" pitchFamily="34" charset="-122"/>
                <a:cs typeface="Trenda IG Display Bold" pitchFamily="34" charset="-120"/>
              </a:rPr>
              <a:t>Shadow graph for what-if</a:t>
            </a:r>
            <a:endParaRPr lang="en-US" sz="1300" dirty="0"/>
          </a:p>
        </p:txBody>
      </p:sp>
      <p:sp>
        <p:nvSpPr>
          <p:cNvPr id="45" name="Text 43"/>
          <p:cNvSpPr txBox="1"/>
          <p:nvPr/>
        </p:nvSpPr>
        <p:spPr>
          <a:xfrm>
            <a:off x="3294126" y="4041648"/>
            <a:ext cx="2580894" cy="1316736"/>
          </a:xfrm>
          <a:prstGeom prst="rect">
            <a:avLst/>
          </a:prstGeom>
          <a:noFill/>
          <a:ln/>
        </p:spPr>
        <p:txBody>
          <a:bodyPr wrap="square" lIns="0" tIns="0" rIns="0" bIns="0" rtlCol="0" anchor="t"/>
          <a:lstStyle/>
          <a:p>
            <a:pPr indent="0" marL="0">
              <a:lnSpc>
                <a:spcPct val="102000"/>
              </a:lnSpc>
              <a:buNone/>
            </a:pPr>
            <a:r>
              <a:rPr lang="en-US" sz="920" dirty="0">
                <a:solidFill>
                  <a:srgbClr val="1A1A1A"/>
                </a:solidFill>
                <a:latin typeface="Trenda IG Text" pitchFamily="34" charset="0"/>
                <a:ea typeface="Trenda IG Text" pitchFamily="34" charset="-122"/>
                <a:cs typeface="Trenda IG Text" pitchFamily="34" charset="-120"/>
              </a:rPr>
              <a:t>Hypothetical providers and sites are written into a copy on write namespace.</a:t>
            </a:r>
            <a:endParaRPr lang="en-US" sz="920" dirty="0"/>
          </a:p>
          <a:p>
            <a:pPr indent="0" marL="0">
              <a:lnSpc>
                <a:spcPct val="102000"/>
              </a:lnSpc>
              <a:buNone/>
            </a:pPr>
            <a:endParaRPr lang="en-US" sz="920" dirty="0"/>
          </a:p>
          <a:p>
            <a:pPr indent="0" marL="0">
              <a:lnSpc>
                <a:spcPct val="102000"/>
              </a:lnSpc>
              <a:buNone/>
            </a:pPr>
            <a:r>
              <a:rPr lang="en-US" sz="920" dirty="0">
                <a:solidFill>
                  <a:srgbClr val="1A1A1A"/>
                </a:solidFill>
                <a:latin typeface="Trenda IG Text" pitchFamily="34" charset="0"/>
                <a:ea typeface="Trenda IG Text" pitchFamily="34" charset="-122"/>
                <a:cs typeface="Trenda IG Text" pitchFamily="34" charset="-120"/>
              </a:rPr>
              <a:t>Traversals run against base plus shadow and the diff is the answer. The base graph never mutates.</a:t>
            </a:r>
            <a:endParaRPr lang="en-US" sz="920" dirty="0"/>
          </a:p>
        </p:txBody>
      </p:sp>
      <p:sp>
        <p:nvSpPr>
          <p:cNvPr id="46" name="Shape 44"/>
          <p:cNvSpPr/>
          <p:nvPr/>
        </p:nvSpPr>
        <p:spPr>
          <a:xfrm>
            <a:off x="3294126" y="5449824"/>
            <a:ext cx="68580" cy="68580"/>
          </a:xfrm>
          <a:prstGeom prst="rect">
            <a:avLst/>
          </a:prstGeom>
          <a:solidFill>
            <a:srgbClr val="0E8A7D"/>
          </a:solidFill>
          <a:ln/>
        </p:spPr>
      </p:sp>
      <p:sp>
        <p:nvSpPr>
          <p:cNvPr id="47" name="Text 45"/>
          <p:cNvSpPr txBox="1"/>
          <p:nvPr/>
        </p:nvSpPr>
        <p:spPr>
          <a:xfrm>
            <a:off x="3422142" y="5404104"/>
            <a:ext cx="2471166" cy="365760"/>
          </a:xfrm>
          <a:prstGeom prst="rect">
            <a:avLst/>
          </a:prstGeom>
          <a:noFill/>
          <a:ln/>
        </p:spPr>
        <p:txBody>
          <a:bodyPr wrap="square" lIns="0" tIns="0" rIns="0" bIns="0" rtlCol="0" anchor="t"/>
          <a:lstStyle/>
          <a:p>
            <a:pPr indent="0" marL="0">
              <a:lnSpc>
                <a:spcPct val="98000"/>
              </a:lnSpc>
              <a:buNone/>
            </a:pPr>
            <a:r>
              <a:rPr lang="en-US" sz="880" dirty="0">
                <a:solidFill>
                  <a:srgbClr val="0E8A7D"/>
                </a:solidFill>
                <a:latin typeface="Trenda IG Text Semibold" pitchFamily="34" charset="0"/>
                <a:ea typeface="Trenda IG Text Semibold" pitchFamily="34" charset="-122"/>
                <a:cs typeface="Trenda IG Text Semibold" pitchFamily="34" charset="-120"/>
              </a:rPr>
              <a:t>Simulate the hire before you fund it</a:t>
            </a:r>
            <a:endParaRPr lang="en-US" sz="880" dirty="0"/>
          </a:p>
        </p:txBody>
      </p:sp>
      <p:sp>
        <p:nvSpPr>
          <p:cNvPr id="48" name="Shape 46"/>
          <p:cNvSpPr/>
          <p:nvPr/>
        </p:nvSpPr>
        <p:spPr>
          <a:xfrm>
            <a:off x="6149340" y="3511296"/>
            <a:ext cx="2910078" cy="2340864"/>
          </a:xfrm>
          <a:prstGeom prst="rect">
            <a:avLst/>
          </a:prstGeom>
          <a:solidFill>
            <a:srgbClr val="F4F6F9"/>
          </a:solidFill>
          <a:ln w="9525">
            <a:solidFill>
              <a:srgbClr val="D5D9DE"/>
            </a:solidFill>
            <a:prstDash val="solid"/>
          </a:ln>
        </p:spPr>
      </p:sp>
      <p:sp>
        <p:nvSpPr>
          <p:cNvPr id="49" name="Shape 47"/>
          <p:cNvSpPr/>
          <p:nvPr/>
        </p:nvSpPr>
        <p:spPr>
          <a:xfrm>
            <a:off x="6149340" y="3511296"/>
            <a:ext cx="347472" cy="347472"/>
          </a:xfrm>
          <a:prstGeom prst="rect">
            <a:avLst/>
          </a:prstGeom>
          <a:solidFill>
            <a:srgbClr val="6A1B9A"/>
          </a:solidFill>
          <a:ln/>
        </p:spPr>
      </p:sp>
      <p:sp>
        <p:nvSpPr>
          <p:cNvPr id="50" name="Text 48"/>
          <p:cNvSpPr txBox="1"/>
          <p:nvPr/>
        </p:nvSpPr>
        <p:spPr>
          <a:xfrm>
            <a:off x="6149340" y="3511296"/>
            <a:ext cx="347472" cy="347472"/>
          </a:xfrm>
          <a:prstGeom prst="rect">
            <a:avLst/>
          </a:prstGeom>
          <a:noFill/>
          <a:ln/>
        </p:spPr>
        <p:txBody>
          <a:bodyPr wrap="square" lIns="0" tIns="0" rIns="0" bIns="0" rtlCol="0" anchor="ctr"/>
          <a:lstStyle/>
          <a:p>
            <a:pPr algn="ctr" indent="0" marL="0">
              <a:buNone/>
            </a:pPr>
            <a:r>
              <a:rPr lang="en-US" sz="1300" dirty="0">
                <a:solidFill>
                  <a:srgbClr val="FFFFFF"/>
                </a:solidFill>
                <a:latin typeface="Trenda IG Display Bold" pitchFamily="34" charset="0"/>
                <a:ea typeface="Trenda IG Display Bold" pitchFamily="34" charset="-122"/>
                <a:cs typeface="Trenda IG Display Bold" pitchFamily="34" charset="-120"/>
              </a:rPr>
              <a:t>7</a:t>
            </a:r>
            <a:endParaRPr lang="en-US" sz="1300" dirty="0"/>
          </a:p>
        </p:txBody>
      </p:sp>
      <p:sp>
        <p:nvSpPr>
          <p:cNvPr id="51" name="Text 49"/>
          <p:cNvSpPr txBox="1"/>
          <p:nvPr/>
        </p:nvSpPr>
        <p:spPr>
          <a:xfrm>
            <a:off x="6606540" y="3557016"/>
            <a:ext cx="2343150" cy="420624"/>
          </a:xfrm>
          <a:prstGeom prst="rect">
            <a:avLst/>
          </a:prstGeom>
          <a:noFill/>
          <a:ln/>
        </p:spPr>
        <p:txBody>
          <a:bodyPr wrap="square" lIns="0" tIns="0" rIns="0" bIns="0" rtlCol="0" anchor="t"/>
          <a:lstStyle/>
          <a:p>
            <a:pPr indent="0" marL="0">
              <a:lnSpc>
                <a:spcPct val="95000"/>
              </a:lnSpc>
              <a:buNone/>
            </a:pPr>
            <a:r>
              <a:rPr lang="en-US" sz="1300" dirty="0">
                <a:solidFill>
                  <a:srgbClr val="1A1A1A"/>
                </a:solidFill>
                <a:latin typeface="Trenda IG Display Bold" pitchFamily="34" charset="0"/>
                <a:ea typeface="Trenda IG Display Bold" pitchFamily="34" charset="-122"/>
                <a:cs typeface="Trenda IG Display Bold" pitchFamily="34" charset="-120"/>
              </a:rPr>
              <a:t>Private by construction</a:t>
            </a:r>
            <a:endParaRPr lang="en-US" sz="1300" dirty="0"/>
          </a:p>
        </p:txBody>
      </p:sp>
      <p:sp>
        <p:nvSpPr>
          <p:cNvPr id="52" name="Text 50"/>
          <p:cNvSpPr txBox="1"/>
          <p:nvPr/>
        </p:nvSpPr>
        <p:spPr>
          <a:xfrm>
            <a:off x="6313932" y="4041648"/>
            <a:ext cx="2580894" cy="1316736"/>
          </a:xfrm>
          <a:prstGeom prst="rect">
            <a:avLst/>
          </a:prstGeom>
          <a:noFill/>
          <a:ln/>
        </p:spPr>
        <p:txBody>
          <a:bodyPr wrap="square" lIns="0" tIns="0" rIns="0" bIns="0" rtlCol="0" anchor="t"/>
          <a:lstStyle/>
          <a:p>
            <a:pPr indent="0" marL="0">
              <a:lnSpc>
                <a:spcPct val="102000"/>
              </a:lnSpc>
              <a:buNone/>
            </a:pPr>
            <a:r>
              <a:rPr lang="en-US" sz="920" dirty="0">
                <a:solidFill>
                  <a:srgbClr val="1A1A1A"/>
                </a:solidFill>
                <a:latin typeface="Trenda IG Text" pitchFamily="34" charset="0"/>
                <a:ea typeface="Trenda IG Text" pitchFamily="34" charset="-122"/>
                <a:cs typeface="Trenda IG Text" pitchFamily="34" charset="-120"/>
              </a:rPr>
              <a:t>Patient nodes are tokenised and degree limited; the cohort is the queryable unit.</a:t>
            </a:r>
            <a:endParaRPr lang="en-US" sz="920" dirty="0"/>
          </a:p>
          <a:p>
            <a:pPr indent="0" marL="0">
              <a:lnSpc>
                <a:spcPct val="102000"/>
              </a:lnSpc>
              <a:buNone/>
            </a:pPr>
            <a:endParaRPr lang="en-US" sz="920" dirty="0"/>
          </a:p>
          <a:p>
            <a:pPr indent="0" marL="0">
              <a:lnSpc>
                <a:spcPct val="102000"/>
              </a:lnSpc>
              <a:buNone/>
            </a:pPr>
            <a:r>
              <a:rPr lang="en-US" sz="920" dirty="0">
                <a:solidFill>
                  <a:srgbClr val="1A1A1A"/>
                </a:solidFill>
                <a:latin typeface="Trenda IG Text" pitchFamily="34" charset="0"/>
                <a:ea typeface="Trenda IG Text" pitchFamily="34" charset="-122"/>
                <a:cs typeface="Trenda IG Text" pitchFamily="34" charset="-120"/>
              </a:rPr>
              <a:t>A graph is itself a re-identification vector: rare specialty plus rare condition plus small geography identifies a person.</a:t>
            </a:r>
            <a:endParaRPr lang="en-US" sz="920" dirty="0"/>
          </a:p>
        </p:txBody>
      </p:sp>
      <p:sp>
        <p:nvSpPr>
          <p:cNvPr id="53" name="Shape 51"/>
          <p:cNvSpPr/>
          <p:nvPr/>
        </p:nvSpPr>
        <p:spPr>
          <a:xfrm>
            <a:off x="6313932" y="5449824"/>
            <a:ext cx="68580" cy="68580"/>
          </a:xfrm>
          <a:prstGeom prst="rect">
            <a:avLst/>
          </a:prstGeom>
          <a:solidFill>
            <a:srgbClr val="6A1B9A"/>
          </a:solidFill>
          <a:ln/>
        </p:spPr>
      </p:sp>
      <p:sp>
        <p:nvSpPr>
          <p:cNvPr id="54" name="Text 52"/>
          <p:cNvSpPr txBox="1"/>
          <p:nvPr/>
        </p:nvSpPr>
        <p:spPr>
          <a:xfrm>
            <a:off x="6441948" y="5404104"/>
            <a:ext cx="2471166" cy="365760"/>
          </a:xfrm>
          <a:prstGeom prst="rect">
            <a:avLst/>
          </a:prstGeom>
          <a:noFill/>
          <a:ln/>
        </p:spPr>
        <p:txBody>
          <a:bodyPr wrap="square" lIns="0" tIns="0" rIns="0" bIns="0" rtlCol="0" anchor="t"/>
          <a:lstStyle/>
          <a:p>
            <a:pPr indent="0" marL="0">
              <a:lnSpc>
                <a:spcPct val="98000"/>
              </a:lnSpc>
              <a:buNone/>
            </a:pPr>
            <a:r>
              <a:rPr lang="en-US" sz="880" dirty="0">
                <a:solidFill>
                  <a:srgbClr val="6A1B9A"/>
                </a:solidFill>
                <a:latin typeface="Trenda IG Text Semibold" pitchFamily="34" charset="0"/>
                <a:ea typeface="Trenda IG Text Semibold" pitchFamily="34" charset="-122"/>
                <a:cs typeface="Trenda IG Text Semibold" pitchFamily="34" charset="-120"/>
              </a:rPr>
              <a:t>k-anonymity in the query compiler, not the dashboard</a:t>
            </a:r>
            <a:endParaRPr lang="en-US" sz="880" dirty="0"/>
          </a:p>
        </p:txBody>
      </p:sp>
      <p:sp>
        <p:nvSpPr>
          <p:cNvPr id="55" name="Shape 53"/>
          <p:cNvSpPr/>
          <p:nvPr/>
        </p:nvSpPr>
        <p:spPr>
          <a:xfrm>
            <a:off x="9169146" y="3511296"/>
            <a:ext cx="2910078" cy="2340864"/>
          </a:xfrm>
          <a:prstGeom prst="rect">
            <a:avLst/>
          </a:prstGeom>
          <a:solidFill>
            <a:srgbClr val="0E1B2E"/>
          </a:solidFill>
          <a:ln/>
        </p:spPr>
      </p:sp>
      <p:sp>
        <p:nvSpPr>
          <p:cNvPr id="56" name="Text 54"/>
          <p:cNvSpPr txBox="1"/>
          <p:nvPr/>
        </p:nvSpPr>
        <p:spPr>
          <a:xfrm>
            <a:off x="9333738" y="3675888"/>
            <a:ext cx="2580894" cy="274320"/>
          </a:xfrm>
          <a:prstGeom prst="rect">
            <a:avLst/>
          </a:prstGeom>
          <a:noFill/>
          <a:ln/>
        </p:spPr>
        <p:txBody>
          <a:bodyPr wrap="square" lIns="0" tIns="0" rIns="0" bIns="0" rtlCol="0" anchor="t"/>
          <a:lstStyle/>
          <a:p>
            <a:pPr indent="0" marL="0">
              <a:buNone/>
            </a:pPr>
            <a:r>
              <a:rPr lang="en-US" sz="1300" dirty="0">
                <a:solidFill>
                  <a:srgbClr val="5FD0C0"/>
                </a:solidFill>
                <a:latin typeface="Trenda IG Display Bold" pitchFamily="34" charset="0"/>
                <a:ea typeface="Trenda IG Display Bold" pitchFamily="34" charset="-122"/>
                <a:cs typeface="Trenda IG Display Bold" pitchFamily="34" charset="-120"/>
              </a:rPr>
              <a:t>Why it has to be this way</a:t>
            </a:r>
            <a:endParaRPr lang="en-US" sz="1300" dirty="0"/>
          </a:p>
        </p:txBody>
      </p:sp>
      <p:sp>
        <p:nvSpPr>
          <p:cNvPr id="57" name="Text 55"/>
          <p:cNvSpPr txBox="1"/>
          <p:nvPr/>
        </p:nvSpPr>
        <p:spPr>
          <a:xfrm>
            <a:off x="9333738" y="4041648"/>
            <a:ext cx="2580894" cy="1645920"/>
          </a:xfrm>
          <a:prstGeom prst="rect">
            <a:avLst/>
          </a:prstGeom>
          <a:noFill/>
          <a:ln/>
        </p:spPr>
        <p:txBody>
          <a:bodyPr wrap="square" lIns="0" tIns="0" rIns="0" bIns="0" rtlCol="0" anchor="t"/>
          <a:lstStyle/>
          <a:p>
            <a:pPr marL="342900" indent="-342900">
              <a:lnSpc>
                <a:spcPct val="102000"/>
              </a:lnSpc>
              <a:spcAft>
                <a:spcPts val="900"/>
              </a:spcAft>
              <a:buSzPct val="100000"/>
              <a:buChar char="•"/>
            </a:pPr>
            <a:r>
              <a:rPr lang="en-US" sz="920" dirty="0">
                <a:solidFill>
                  <a:srgbClr val="D8DEE6"/>
                </a:solidFill>
                <a:latin typeface="Trenda IG Text" pitchFamily="34" charset="0"/>
                <a:ea typeface="Trenda IG Text" pitchFamily="34" charset="-122"/>
                <a:cs typeface="Trenda IG Text" pitchFamily="34" charset="-120"/>
              </a:rPr>
              <a:t>A directory tells you who exists. This tells you what is missing, and proves it.</a:t>
            </a:r>
            <a:endParaRPr lang="en-US" sz="920" dirty="0"/>
          </a:p>
          <a:p>
            <a:pPr marL="342900" indent="-342900">
              <a:lnSpc>
                <a:spcPct val="102000"/>
              </a:lnSpc>
              <a:spcAft>
                <a:spcPts val="900"/>
              </a:spcAft>
              <a:buSzPct val="100000"/>
              <a:buChar char="•"/>
            </a:pPr>
            <a:r>
              <a:rPr lang="en-US" sz="920" dirty="0">
                <a:solidFill>
                  <a:srgbClr val="D8DEE6"/>
                </a:solidFill>
                <a:latin typeface="Trenda IG Text" pitchFamily="34" charset="0"/>
                <a:ea typeface="Trenda IG Text" pitchFamily="34" charset="-122"/>
                <a:cs typeface="Trenda IG Text" pitchFamily="34" charset="-120"/>
              </a:rPr>
              <a:t>Every answer is reproducible at a date, which is what makes it safe to act on.</a:t>
            </a:r>
            <a:endParaRPr lang="en-US" sz="920" dirty="0"/>
          </a:p>
          <a:p>
            <a:pPr marL="342900" indent="-342900">
              <a:lnSpc>
                <a:spcPct val="102000"/>
              </a:lnSpc>
              <a:spcAft>
                <a:spcPts val="900"/>
              </a:spcAft>
              <a:buSzPct val="100000"/>
              <a:buChar char="•"/>
            </a:pPr>
            <a:r>
              <a:rPr lang="en-US" sz="920" dirty="0">
                <a:solidFill>
                  <a:srgbClr val="D8DEE6"/>
                </a:solidFill>
                <a:latin typeface="Trenda IG Text" pitchFamily="34" charset="0"/>
                <a:ea typeface="Trenda IG Text" pitchFamily="34" charset="-122"/>
                <a:cs typeface="Trenda IG Text" pitchFamily="34" charset="-120"/>
              </a:rPr>
              <a:t>The model is domain neutral. Swap the specification and it serves another network.</a:t>
            </a:r>
            <a:endParaRPr lang="en-US" sz="920" dirty="0"/>
          </a:p>
        </p:txBody>
      </p:sp>
      <p:sp>
        <p:nvSpPr>
          <p:cNvPr id="58" name="Shape 56"/>
          <p:cNvSpPr/>
          <p:nvPr/>
        </p:nvSpPr>
        <p:spPr>
          <a:xfrm>
            <a:off x="109728" y="6199632"/>
            <a:ext cx="11969496" cy="493776"/>
          </a:xfrm>
          <a:prstGeom prst="rect">
            <a:avLst/>
          </a:prstGeom>
          <a:solidFill>
            <a:srgbClr val="0E1B2E"/>
          </a:solidFill>
          <a:ln/>
        </p:spPr>
      </p:sp>
      <p:sp>
        <p:nvSpPr>
          <p:cNvPr id="59" name="Shape 57"/>
          <p:cNvSpPr/>
          <p:nvPr/>
        </p:nvSpPr>
        <p:spPr>
          <a:xfrm>
            <a:off x="274320" y="6373368"/>
            <a:ext cx="91440" cy="91440"/>
          </a:xfrm>
          <a:prstGeom prst="rect">
            <a:avLst/>
          </a:prstGeom>
          <a:solidFill>
            <a:srgbClr val="5FD0C0"/>
          </a:solidFill>
          <a:ln/>
        </p:spPr>
      </p:sp>
      <p:sp>
        <p:nvSpPr>
          <p:cNvPr id="60" name="Text 58"/>
          <p:cNvSpPr txBox="1"/>
          <p:nvPr/>
        </p:nvSpPr>
        <p:spPr>
          <a:xfrm>
            <a:off x="457200" y="6199632"/>
            <a:ext cx="11521440" cy="493776"/>
          </a:xfrm>
          <a:prstGeom prst="rect">
            <a:avLst/>
          </a:prstGeom>
          <a:noFill/>
          <a:ln/>
        </p:spPr>
        <p:txBody>
          <a:bodyPr wrap="square" lIns="0" tIns="0" rIns="0" bIns="0" rtlCol="0" anchor="ctr"/>
          <a:lstStyle/>
          <a:p>
            <a:pPr indent="0" marL="0">
              <a:buNone/>
            </a:pPr>
            <a:r>
              <a:rPr lang="en-US" sz="1100" dirty="0">
                <a:solidFill>
                  <a:srgbClr val="FFFFFF"/>
                </a:solidFill>
                <a:latin typeface="Trenda IG Text" pitchFamily="34" charset="0"/>
                <a:ea typeface="Trenda IG Text" pitchFamily="34" charset="-122"/>
                <a:cs typeface="Trenda IG Text" pitchFamily="34" charset="-120"/>
              </a:rPr>
              <a:t>None of this is exotic. It is the difference between a graph that stores what exists and one that can prove what is missing.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E1B2E"/>
          </a:solidFill>
          <a:ln/>
        </p:spPr>
      </p:sp>
      <p:sp>
        <p:nvSpPr>
          <p:cNvPr id="3" name="Text 1"/>
          <p:cNvSpPr txBox="1"/>
          <p:nvPr/>
        </p:nvSpPr>
        <p:spPr>
          <a:xfrm>
            <a:off x="457200" y="137160"/>
            <a:ext cx="5486400" cy="192024"/>
          </a:xfrm>
          <a:prstGeom prst="rect">
            <a:avLst/>
          </a:prstGeom>
          <a:noFill/>
          <a:ln/>
        </p:spPr>
        <p:txBody>
          <a:bodyPr wrap="square" lIns="0" tIns="0" rIns="0" bIns="0" rtlCol="0" anchor="t"/>
          <a:lstStyle/>
          <a:p>
            <a:pPr indent="0" marL="0">
              <a:buNone/>
            </a:pPr>
            <a:r>
              <a:rPr lang="en-US" sz="1050" spc="120" kern="0" dirty="0">
                <a:solidFill>
                  <a:srgbClr val="5FD0C0"/>
                </a:solidFill>
                <a:latin typeface="Trenda IG Display Semibold" pitchFamily="34" charset="0"/>
                <a:ea typeface="Trenda IG Display Semibold" pitchFamily="34" charset="-122"/>
                <a:cs typeface="Trenda IG Display Semibold" pitchFamily="34" charset="-120"/>
              </a:rPr>
              <a:t>FEASIBILITY</a:t>
            </a:r>
            <a:endParaRPr lang="en-US" sz="1050" dirty="0"/>
          </a:p>
        </p:txBody>
      </p:sp>
      <p:sp>
        <p:nvSpPr>
          <p:cNvPr id="4" name="Text 2"/>
          <p:cNvSpPr txBox="1"/>
          <p:nvPr/>
        </p:nvSpPr>
        <p:spPr>
          <a:xfrm>
            <a:off x="457200" y="365760"/>
            <a:ext cx="8686800" cy="347472"/>
          </a:xfrm>
          <a:prstGeom prst="rect">
            <a:avLst/>
          </a:prstGeom>
          <a:noFill/>
          <a:ln/>
        </p:spPr>
        <p:txBody>
          <a:bodyPr wrap="square" lIns="0" tIns="0" rIns="0" bIns="0" rtlCol="0" anchor="t"/>
          <a:lstStyle/>
          <a:p>
            <a:pPr indent="0" marL="0">
              <a:buNone/>
            </a:pPr>
            <a:r>
              <a:rPr lang="en-US" sz="2200" dirty="0">
                <a:solidFill>
                  <a:srgbClr val="FFFFFF"/>
                </a:solidFill>
                <a:latin typeface="Trenda IG Display Bold" pitchFamily="34" charset="0"/>
                <a:ea typeface="Trenda IG Display Bold" pitchFamily="34" charset="-122"/>
                <a:cs typeface="Trenda IG Display Bold" pitchFamily="34" charset="-120"/>
              </a:rPr>
              <a:t>Yes. It is a graph problem, not a dashboard problem.</a:t>
            </a:r>
            <a:endParaRPr lang="en-US" sz="2200" dirty="0"/>
          </a:p>
        </p:txBody>
      </p:sp>
      <p:sp>
        <p:nvSpPr>
          <p:cNvPr id="5" name="Text 3"/>
          <p:cNvSpPr txBox="1"/>
          <p:nvPr/>
        </p:nvSpPr>
        <p:spPr>
          <a:xfrm>
            <a:off x="9098280" y="402336"/>
            <a:ext cx="2697480" cy="274320"/>
          </a:xfrm>
          <a:prstGeom prst="rect">
            <a:avLst/>
          </a:prstGeom>
          <a:noFill/>
          <a:ln/>
        </p:spPr>
        <p:txBody>
          <a:bodyPr wrap="square" lIns="0" tIns="0" rIns="0" bIns="0" rtlCol="0" anchor="t"/>
          <a:lstStyle/>
          <a:p>
            <a:pPr indent="0" marL="0">
              <a:buNone/>
            </a:pPr>
            <a:r>
              <a:rPr lang="en-US" sz="950" dirty="0">
                <a:solidFill>
                  <a:srgbClr val="A9B4C2"/>
                </a:solidFill>
                <a:latin typeface="Trenda IG Text Light" pitchFamily="34" charset="0"/>
                <a:ea typeface="Trenda IG Text Light" pitchFamily="34" charset="-122"/>
                <a:cs typeface="Trenda IG Text Light" pitchFamily="34" charset="-120"/>
              </a:rPr>
              <a:t>A gap is a missing path, not a missing row.</a:t>
            </a:r>
            <a:endParaRPr lang="en-US" sz="950" dirty="0"/>
          </a:p>
        </p:txBody>
      </p:sp>
      <p:sp>
        <p:nvSpPr>
          <p:cNvPr id="6" name="Shape 4"/>
          <p:cNvSpPr/>
          <p:nvPr/>
        </p:nvSpPr>
        <p:spPr>
          <a:xfrm>
            <a:off x="109728" y="1024128"/>
            <a:ext cx="5934456" cy="2377440"/>
          </a:xfrm>
          <a:prstGeom prst="rect">
            <a:avLst/>
          </a:prstGeom>
          <a:solidFill>
            <a:srgbClr val="F4F6F9"/>
          </a:solidFill>
          <a:ln w="9525">
            <a:solidFill>
              <a:srgbClr val="D5D9DE"/>
            </a:solidFill>
            <a:prstDash val="solid"/>
          </a:ln>
        </p:spPr>
      </p:sp>
      <p:sp>
        <p:nvSpPr>
          <p:cNvPr id="7" name="Shape 5"/>
          <p:cNvSpPr/>
          <p:nvPr/>
        </p:nvSpPr>
        <p:spPr>
          <a:xfrm>
            <a:off x="329184" y="1271016"/>
            <a:ext cx="100584" cy="100584"/>
          </a:xfrm>
          <a:prstGeom prst="rect">
            <a:avLst/>
          </a:prstGeom>
          <a:solidFill>
            <a:srgbClr val="1B6BC0"/>
          </a:solidFill>
          <a:ln/>
        </p:spPr>
      </p:sp>
      <p:sp>
        <p:nvSpPr>
          <p:cNvPr id="8" name="Text 6"/>
          <p:cNvSpPr txBox="1"/>
          <p:nvPr/>
        </p:nvSpPr>
        <p:spPr>
          <a:xfrm>
            <a:off x="539496" y="1188720"/>
            <a:ext cx="5303520" cy="274320"/>
          </a:xfrm>
          <a:prstGeom prst="rect">
            <a:avLst/>
          </a:prstGeom>
          <a:noFill/>
          <a:ln/>
        </p:spPr>
        <p:txBody>
          <a:bodyPr wrap="square" lIns="0" tIns="0" rIns="0" bIns="0" rtlCol="0" anchor="t"/>
          <a:lstStyle/>
          <a:p>
            <a:pPr indent="0" marL="0">
              <a:buNone/>
            </a:pPr>
            <a:r>
              <a:rPr lang="en-US" sz="1450" dirty="0">
                <a:solidFill>
                  <a:srgbClr val="1A1A1A"/>
                </a:solidFill>
                <a:latin typeface="Trenda IG Display Bold" pitchFamily="34" charset="0"/>
                <a:ea typeface="Trenda IG Display Bold" pitchFamily="34" charset="-122"/>
                <a:cs typeface="Trenda IG Display Bold" pitchFamily="34" charset="-120"/>
              </a:rPr>
              <a:t>Why a graph and not a report</a:t>
            </a:r>
            <a:endParaRPr lang="en-US" sz="1450" dirty="0"/>
          </a:p>
        </p:txBody>
      </p:sp>
      <p:sp>
        <p:nvSpPr>
          <p:cNvPr id="9" name="Text 7"/>
          <p:cNvSpPr txBox="1"/>
          <p:nvPr/>
        </p:nvSpPr>
        <p:spPr>
          <a:xfrm>
            <a:off x="539496" y="1600200"/>
            <a:ext cx="5349240" cy="1691640"/>
          </a:xfrm>
          <a:prstGeom prst="rect">
            <a:avLst/>
          </a:prstGeom>
          <a:noFill/>
          <a:ln/>
        </p:spPr>
        <p:txBody>
          <a:bodyPr wrap="square" lIns="0" tIns="0" rIns="0" bIns="0" rtlCol="0" anchor="t"/>
          <a:lstStyle/>
          <a:p>
            <a:pPr marL="342900" indent="-342900">
              <a:lnSpc>
                <a:spcPct val="102000"/>
              </a:lnSpc>
              <a:spcAft>
                <a:spcPts val="700"/>
              </a:spcAft>
              <a:buSzPct val="100000"/>
              <a:buChar char="•"/>
            </a:pPr>
            <a:r>
              <a:rPr lang="en-US" sz="1000" dirty="0">
                <a:solidFill>
                  <a:srgbClr val="1A1A1A"/>
                </a:solidFill>
                <a:latin typeface="Trenda IG Text" pitchFamily="34" charset="0"/>
                <a:ea typeface="Trenda IG Text" pitchFamily="34" charset="-122"/>
                <a:cs typeface="Trenda IG Text" pitchFamily="34" charset="-120"/>
              </a:rPr>
              <a:t>A star schema answers how many cardiologists are in a county</a:t>
            </a:r>
            <a:endParaRPr lang="en-US" sz="1000" dirty="0"/>
          </a:p>
          <a:p>
            <a:pPr marL="342900" indent="-342900">
              <a:lnSpc>
                <a:spcPct val="102000"/>
              </a:lnSpc>
              <a:spcAft>
                <a:spcPts val="700"/>
              </a:spcAft>
              <a:buSzPct val="100000"/>
              <a:buChar char="•"/>
            </a:pPr>
            <a:r>
              <a:rPr lang="en-US" sz="1000" dirty="0">
                <a:solidFill>
                  <a:srgbClr val="1A1A1A"/>
                </a:solidFill>
                <a:latin typeface="Trenda IG Text" pitchFamily="34" charset="0"/>
                <a:ea typeface="Trenda IG Text" pitchFamily="34" charset="-122"/>
                <a:cs typeface="Trenda IG Text" pitchFamily="34" charset="-120"/>
              </a:rPr>
              <a:t>It cannot answer which counties have demand for a service line whose required specialty has no privileged provider within thirty minutes</a:t>
            </a:r>
            <a:endParaRPr lang="en-US" sz="1000" dirty="0"/>
          </a:p>
          <a:p>
            <a:pPr marL="342900" indent="-342900">
              <a:lnSpc>
                <a:spcPct val="102000"/>
              </a:lnSpc>
              <a:spcAft>
                <a:spcPts val="700"/>
              </a:spcAft>
              <a:buSzPct val="100000"/>
              <a:buChar char="•"/>
            </a:pPr>
            <a:r>
              <a:rPr lang="en-US" sz="1000" dirty="0">
                <a:solidFill>
                  <a:srgbClr val="1A1A1A"/>
                </a:solidFill>
                <a:latin typeface="Trenda IG Text" pitchFamily="34" charset="0"/>
                <a:ea typeface="Trenda IG Text" pitchFamily="34" charset="-122"/>
                <a:cs typeface="Trenda IG Text" pitchFamily="34" charset="-120"/>
              </a:rPr>
              <a:t>That is variable depth traversal across nine entity types, where the answer is an absent edge</a:t>
            </a:r>
            <a:endParaRPr lang="en-US" sz="1000" dirty="0"/>
          </a:p>
          <a:p>
            <a:pPr marL="342900" indent="-342900">
              <a:lnSpc>
                <a:spcPct val="102000"/>
              </a:lnSpc>
              <a:spcAft>
                <a:spcPts val="700"/>
              </a:spcAft>
              <a:buSzPct val="100000"/>
              <a:buChar char="•"/>
            </a:pPr>
            <a:r>
              <a:rPr lang="en-US" sz="1000" dirty="0">
                <a:solidFill>
                  <a:srgbClr val="1A1A1A"/>
                </a:solidFill>
                <a:latin typeface="Trenda IG Text" pitchFamily="34" charset="0"/>
                <a:ea typeface="Trenda IG Text" pitchFamily="34" charset="-122"/>
                <a:cs typeface="Trenda IG Text" pitchFamily="34" charset="-120"/>
              </a:rPr>
              <a:t>One modelling decision makes it computable: a service line declares what it REQUIRES, so every site and credential is tested against it automatically</a:t>
            </a:r>
            <a:endParaRPr lang="en-US" sz="1000" dirty="0"/>
          </a:p>
        </p:txBody>
      </p:sp>
      <p:sp>
        <p:nvSpPr>
          <p:cNvPr id="10" name="Shape 8"/>
          <p:cNvSpPr/>
          <p:nvPr/>
        </p:nvSpPr>
        <p:spPr>
          <a:xfrm>
            <a:off x="6144768" y="1024128"/>
            <a:ext cx="5934456" cy="2377440"/>
          </a:xfrm>
          <a:prstGeom prst="rect">
            <a:avLst/>
          </a:prstGeom>
          <a:solidFill>
            <a:srgbClr val="F4F6F9"/>
          </a:solidFill>
          <a:ln w="9525">
            <a:solidFill>
              <a:srgbClr val="D5D9DE"/>
            </a:solidFill>
            <a:prstDash val="solid"/>
          </a:ln>
        </p:spPr>
      </p:sp>
      <p:sp>
        <p:nvSpPr>
          <p:cNvPr id="11" name="Shape 9"/>
          <p:cNvSpPr/>
          <p:nvPr/>
        </p:nvSpPr>
        <p:spPr>
          <a:xfrm>
            <a:off x="6364224" y="1271016"/>
            <a:ext cx="100584" cy="100584"/>
          </a:xfrm>
          <a:prstGeom prst="rect">
            <a:avLst/>
          </a:prstGeom>
          <a:solidFill>
            <a:srgbClr val="C2185B"/>
          </a:solidFill>
          <a:ln/>
        </p:spPr>
      </p:sp>
      <p:sp>
        <p:nvSpPr>
          <p:cNvPr id="12" name="Text 10"/>
          <p:cNvSpPr txBox="1"/>
          <p:nvPr/>
        </p:nvSpPr>
        <p:spPr>
          <a:xfrm>
            <a:off x="6574536" y="1188720"/>
            <a:ext cx="5303520" cy="274320"/>
          </a:xfrm>
          <a:prstGeom prst="rect">
            <a:avLst/>
          </a:prstGeom>
          <a:noFill/>
          <a:ln/>
        </p:spPr>
        <p:txBody>
          <a:bodyPr wrap="square" lIns="0" tIns="0" rIns="0" bIns="0" rtlCol="0" anchor="t"/>
          <a:lstStyle/>
          <a:p>
            <a:pPr indent="0" marL="0">
              <a:buNone/>
            </a:pPr>
            <a:r>
              <a:rPr lang="en-US" sz="1450" dirty="0">
                <a:solidFill>
                  <a:srgbClr val="1A1A1A"/>
                </a:solidFill>
                <a:latin typeface="Trenda IG Display Bold" pitchFamily="34" charset="0"/>
                <a:ea typeface="Trenda IG Display Bold" pitchFamily="34" charset="-122"/>
                <a:cs typeface="Trenda IG Display Bold" pitchFamily="34" charset="-120"/>
              </a:rPr>
              <a:t>What we must have, and what degrades</a:t>
            </a:r>
            <a:endParaRPr lang="en-US" sz="1450" dirty="0"/>
          </a:p>
        </p:txBody>
      </p:sp>
      <p:sp>
        <p:nvSpPr>
          <p:cNvPr id="13" name="Text 11"/>
          <p:cNvSpPr txBox="1"/>
          <p:nvPr/>
        </p:nvSpPr>
        <p:spPr>
          <a:xfrm>
            <a:off x="6574536" y="1600200"/>
            <a:ext cx="5349240" cy="1691640"/>
          </a:xfrm>
          <a:prstGeom prst="rect">
            <a:avLst/>
          </a:prstGeom>
          <a:noFill/>
          <a:ln/>
        </p:spPr>
        <p:txBody>
          <a:bodyPr wrap="square" lIns="0" tIns="0" rIns="0" bIns="0" rtlCol="0" anchor="t"/>
          <a:lstStyle/>
          <a:p>
            <a:pPr marL="342900" indent="-342900">
              <a:lnSpc>
                <a:spcPct val="102000"/>
              </a:lnSpc>
              <a:spcAft>
                <a:spcPts val="700"/>
              </a:spcAft>
              <a:buSzPct val="100000"/>
              <a:buChar char="•"/>
            </a:pPr>
            <a:r>
              <a:rPr lang="en-US" sz="1000" dirty="0">
                <a:solidFill>
                  <a:srgbClr val="1A1A1A"/>
                </a:solidFill>
                <a:latin typeface="Trenda IG Text" pitchFamily="34" charset="0"/>
                <a:ea typeface="Trenda IG Text" pitchFamily="34" charset="-122"/>
                <a:cs typeface="Trenda IG Text" pitchFamily="34" charset="-120"/>
              </a:rPr>
              <a:t>Must have: provider directory with NPI and taxonomy, credentialing roster, encounter or claims history, facility capability registry, patient geography</a:t>
            </a:r>
            <a:endParaRPr lang="en-US" sz="1000" dirty="0"/>
          </a:p>
          <a:p>
            <a:pPr marL="342900" indent="-342900">
              <a:lnSpc>
                <a:spcPct val="102000"/>
              </a:lnSpc>
              <a:spcAft>
                <a:spcPts val="700"/>
              </a:spcAft>
              <a:buSzPct val="100000"/>
              <a:buChar char="•"/>
            </a:pPr>
            <a:r>
              <a:rPr lang="en-US" sz="1000" dirty="0">
                <a:solidFill>
                  <a:srgbClr val="1A1A1A"/>
                </a:solidFill>
                <a:latin typeface="Trenda IG Text" pitchFamily="34" charset="0"/>
                <a:ea typeface="Trenda IG Text" pitchFamily="34" charset="-122"/>
                <a:cs typeface="Trenda IG Text" pitchFamily="34" charset="-120"/>
              </a:rPr>
              <a:t>Degrades gracefully: privileging detail, wait time series, payer contract terms, outcome registries</a:t>
            </a:r>
            <a:endParaRPr lang="en-US" sz="1000" dirty="0"/>
          </a:p>
          <a:p>
            <a:pPr marL="342900" indent="-342900">
              <a:lnSpc>
                <a:spcPct val="102000"/>
              </a:lnSpc>
              <a:spcAft>
                <a:spcPts val="700"/>
              </a:spcAft>
              <a:buSzPct val="100000"/>
              <a:buChar char="•"/>
            </a:pPr>
            <a:r>
              <a:rPr lang="en-US" sz="1000" dirty="0">
                <a:solidFill>
                  <a:srgbClr val="1A1A1A"/>
                </a:solidFill>
                <a:latin typeface="Trenda IG Text" pitchFamily="34" charset="0"/>
                <a:ea typeface="Trenda IG Text" pitchFamily="34" charset="-122"/>
                <a:cs typeface="Trenda IG Text" pitchFamily="34" charset="-120"/>
              </a:rPr>
              <a:t>Without bookable supply the capacity index falls back to a proxy, and no slots cannot be separated from a bad template</a:t>
            </a:r>
            <a:endParaRPr lang="en-US" sz="1000" dirty="0"/>
          </a:p>
        </p:txBody>
      </p:sp>
      <p:sp>
        <p:nvSpPr>
          <p:cNvPr id="14" name="Shape 12"/>
          <p:cNvSpPr/>
          <p:nvPr/>
        </p:nvSpPr>
        <p:spPr>
          <a:xfrm>
            <a:off x="109728" y="3547872"/>
            <a:ext cx="5934456" cy="2377440"/>
          </a:xfrm>
          <a:prstGeom prst="rect">
            <a:avLst/>
          </a:prstGeom>
          <a:solidFill>
            <a:srgbClr val="F4F6F9"/>
          </a:solidFill>
          <a:ln w="9525">
            <a:solidFill>
              <a:srgbClr val="D5D9DE"/>
            </a:solidFill>
            <a:prstDash val="solid"/>
          </a:ln>
        </p:spPr>
      </p:sp>
      <p:sp>
        <p:nvSpPr>
          <p:cNvPr id="15" name="Shape 13"/>
          <p:cNvSpPr/>
          <p:nvPr/>
        </p:nvSpPr>
        <p:spPr>
          <a:xfrm>
            <a:off x="329184" y="3794760"/>
            <a:ext cx="100584" cy="100584"/>
          </a:xfrm>
          <a:prstGeom prst="rect">
            <a:avLst/>
          </a:prstGeom>
          <a:solidFill>
            <a:srgbClr val="C62828"/>
          </a:solidFill>
          <a:ln/>
        </p:spPr>
      </p:sp>
      <p:sp>
        <p:nvSpPr>
          <p:cNvPr id="16" name="Text 14"/>
          <p:cNvSpPr txBox="1"/>
          <p:nvPr/>
        </p:nvSpPr>
        <p:spPr>
          <a:xfrm>
            <a:off x="539496" y="3712464"/>
            <a:ext cx="5303520" cy="274320"/>
          </a:xfrm>
          <a:prstGeom prst="rect">
            <a:avLst/>
          </a:prstGeom>
          <a:noFill/>
          <a:ln/>
        </p:spPr>
        <p:txBody>
          <a:bodyPr wrap="square" lIns="0" tIns="0" rIns="0" bIns="0" rtlCol="0" anchor="t"/>
          <a:lstStyle/>
          <a:p>
            <a:pPr indent="0" marL="0">
              <a:buNone/>
            </a:pPr>
            <a:r>
              <a:rPr lang="en-US" sz="1450" dirty="0">
                <a:solidFill>
                  <a:srgbClr val="1A1A1A"/>
                </a:solidFill>
                <a:latin typeface="Trenda IG Display Bold" pitchFamily="34" charset="0"/>
                <a:ea typeface="Trenda IG Display Bold" pitchFamily="34" charset="-122"/>
                <a:cs typeface="Trenda IG Display Bold" pitchFamily="34" charset="-120"/>
              </a:rPr>
              <a:t>The five hard problems</a:t>
            </a:r>
            <a:endParaRPr lang="en-US" sz="1450" dirty="0"/>
          </a:p>
        </p:txBody>
      </p:sp>
      <p:sp>
        <p:nvSpPr>
          <p:cNvPr id="17" name="Text 15"/>
          <p:cNvSpPr txBox="1"/>
          <p:nvPr/>
        </p:nvSpPr>
        <p:spPr>
          <a:xfrm>
            <a:off x="539496" y="4123944"/>
            <a:ext cx="5349240" cy="1691640"/>
          </a:xfrm>
          <a:prstGeom prst="rect">
            <a:avLst/>
          </a:prstGeom>
          <a:noFill/>
          <a:ln/>
        </p:spPr>
        <p:txBody>
          <a:bodyPr wrap="square" lIns="0" tIns="0" rIns="0" bIns="0" rtlCol="0" anchor="t"/>
          <a:lstStyle/>
          <a:p>
            <a:pPr marL="342900" indent="-342900">
              <a:lnSpc>
                <a:spcPct val="102000"/>
              </a:lnSpc>
              <a:spcAft>
                <a:spcPts val="700"/>
              </a:spcAft>
              <a:buSzPct val="100000"/>
              <a:buChar char="•"/>
            </a:pPr>
            <a:r>
              <a:rPr lang="en-US" sz="1000" dirty="0">
                <a:solidFill>
                  <a:srgbClr val="1A1A1A"/>
                </a:solidFill>
                <a:latin typeface="Trenda IG Text" pitchFamily="34" charset="0"/>
                <a:ea typeface="Trenda IG Text" pitchFamily="34" charset="-122"/>
                <a:cs typeface="Trenda IG Text" pitchFamily="34" charset="-120"/>
              </a:rPr>
              <a:t>Identity resolution is the ceiling on every number. Roster, claims and NPPES disagree about who works where</a:t>
            </a:r>
            <a:endParaRPr lang="en-US" sz="1000" dirty="0"/>
          </a:p>
          <a:p>
            <a:pPr marL="342900" indent="-342900">
              <a:lnSpc>
                <a:spcPct val="102000"/>
              </a:lnSpc>
              <a:spcAft>
                <a:spcPts val="700"/>
              </a:spcAft>
              <a:buSzPct val="100000"/>
              <a:buChar char="•"/>
            </a:pPr>
            <a:r>
              <a:rPr lang="en-US" sz="1000" dirty="0">
                <a:solidFill>
                  <a:srgbClr val="1A1A1A"/>
                </a:solidFill>
                <a:latin typeface="Trenda IG Text" pitchFamily="34" charset="0"/>
                <a:ea typeface="Trenda IG Text" pitchFamily="34" charset="-122"/>
                <a:cs typeface="Trenda IG Text" pitchFamily="34" charset="-120"/>
              </a:rPr>
              <a:t>Privileging data is usually the weakest source, and scenario three depends on it entirely</a:t>
            </a:r>
            <a:endParaRPr lang="en-US" sz="1000" dirty="0"/>
          </a:p>
          <a:p>
            <a:pPr marL="342900" indent="-342900">
              <a:lnSpc>
                <a:spcPct val="102000"/>
              </a:lnSpc>
              <a:spcAft>
                <a:spcPts val="700"/>
              </a:spcAft>
              <a:buSzPct val="100000"/>
              <a:buChar char="•"/>
            </a:pPr>
            <a:r>
              <a:rPr lang="en-US" sz="1000" dirty="0">
                <a:solidFill>
                  <a:srgbClr val="1A1A1A"/>
                </a:solidFill>
                <a:latin typeface="Trenda IG Text" pitchFamily="34" charset="0"/>
                <a:ea typeface="Trenda IG Text" pitchFamily="34" charset="-122"/>
                <a:cs typeface="Trenda IG Text" pitchFamily="34" charset="-120"/>
              </a:rPr>
              <a:t>Bookable against booked supply decides whether capacity is real or inferred</a:t>
            </a:r>
            <a:endParaRPr lang="en-US" sz="1000" dirty="0"/>
          </a:p>
          <a:p>
            <a:pPr marL="342900" indent="-342900">
              <a:lnSpc>
                <a:spcPct val="102000"/>
              </a:lnSpc>
              <a:spcAft>
                <a:spcPts val="700"/>
              </a:spcAft>
              <a:buSzPct val="100000"/>
              <a:buChar char="•"/>
            </a:pPr>
            <a:r>
              <a:rPr lang="en-US" sz="1000" dirty="0">
                <a:solidFill>
                  <a:srgbClr val="1A1A1A"/>
                </a:solidFill>
                <a:latin typeface="Trenda IG Text" pitchFamily="34" charset="0"/>
                <a:ea typeface="Trenda IG Text" pitchFamily="34" charset="-122"/>
                <a:cs typeface="Trenda IG Text" pitchFamily="34" charset="-120"/>
              </a:rPr>
              <a:t>Attribution: whose patient is it. One versioned rule per service line, agreed before build</a:t>
            </a:r>
            <a:endParaRPr lang="en-US" sz="1000" dirty="0"/>
          </a:p>
          <a:p>
            <a:pPr marL="342900" indent="-342900">
              <a:lnSpc>
                <a:spcPct val="102000"/>
              </a:lnSpc>
              <a:spcAft>
                <a:spcPts val="700"/>
              </a:spcAft>
              <a:buSzPct val="100000"/>
              <a:buChar char="•"/>
            </a:pPr>
            <a:r>
              <a:rPr lang="en-US" sz="1000" dirty="0">
                <a:solidFill>
                  <a:srgbClr val="1A1A1A"/>
                </a:solidFill>
                <a:latin typeface="Trenda IG Text" pitchFamily="34" charset="0"/>
                <a:ea typeface="Trenda IG Text" pitchFamily="34" charset="-122"/>
                <a:cs typeface="Trenda IG Text" pitchFamily="34" charset="-120"/>
              </a:rPr>
              <a:t>Re-identification risk is a design constraint, not a review step. It sets what the graph may hold</a:t>
            </a:r>
            <a:endParaRPr lang="en-US" sz="1000" dirty="0"/>
          </a:p>
        </p:txBody>
      </p:sp>
      <p:sp>
        <p:nvSpPr>
          <p:cNvPr id="18" name="Shape 16"/>
          <p:cNvSpPr/>
          <p:nvPr/>
        </p:nvSpPr>
        <p:spPr>
          <a:xfrm>
            <a:off x="6144768" y="3547872"/>
            <a:ext cx="5934456" cy="2377440"/>
          </a:xfrm>
          <a:prstGeom prst="rect">
            <a:avLst/>
          </a:prstGeom>
          <a:solidFill>
            <a:srgbClr val="F4F6F9"/>
          </a:solidFill>
          <a:ln w="9525">
            <a:solidFill>
              <a:srgbClr val="D5D9DE"/>
            </a:solidFill>
            <a:prstDash val="solid"/>
          </a:ln>
        </p:spPr>
      </p:sp>
      <p:sp>
        <p:nvSpPr>
          <p:cNvPr id="19" name="Shape 17"/>
          <p:cNvSpPr/>
          <p:nvPr/>
        </p:nvSpPr>
        <p:spPr>
          <a:xfrm>
            <a:off x="6364224" y="3794760"/>
            <a:ext cx="100584" cy="100584"/>
          </a:xfrm>
          <a:prstGeom prst="rect">
            <a:avLst/>
          </a:prstGeom>
          <a:solidFill>
            <a:srgbClr val="2E7D32"/>
          </a:solidFill>
          <a:ln/>
        </p:spPr>
      </p:sp>
      <p:sp>
        <p:nvSpPr>
          <p:cNvPr id="20" name="Text 18"/>
          <p:cNvSpPr txBox="1"/>
          <p:nvPr/>
        </p:nvSpPr>
        <p:spPr>
          <a:xfrm>
            <a:off x="6574536" y="3712464"/>
            <a:ext cx="5303520" cy="274320"/>
          </a:xfrm>
          <a:prstGeom prst="rect">
            <a:avLst/>
          </a:prstGeom>
          <a:noFill/>
          <a:ln/>
        </p:spPr>
        <p:txBody>
          <a:bodyPr wrap="square" lIns="0" tIns="0" rIns="0" bIns="0" rtlCol="0" anchor="t"/>
          <a:lstStyle/>
          <a:p>
            <a:pPr indent="0" marL="0">
              <a:buNone/>
            </a:pPr>
            <a:r>
              <a:rPr lang="en-US" sz="1450" dirty="0">
                <a:solidFill>
                  <a:srgbClr val="1A1A1A"/>
                </a:solidFill>
                <a:latin typeface="Trenda IG Display Bold" pitchFamily="34" charset="0"/>
                <a:ea typeface="Trenda IG Display Bold" pitchFamily="34" charset="-122"/>
                <a:cs typeface="Trenda IG Display Bold" pitchFamily="34" charset="-120"/>
              </a:rPr>
              <a:t>Ninety day proof</a:t>
            </a:r>
            <a:endParaRPr lang="en-US" sz="1450" dirty="0"/>
          </a:p>
        </p:txBody>
      </p:sp>
      <p:sp>
        <p:nvSpPr>
          <p:cNvPr id="21" name="Text 19"/>
          <p:cNvSpPr txBox="1"/>
          <p:nvPr/>
        </p:nvSpPr>
        <p:spPr>
          <a:xfrm>
            <a:off x="6574536" y="4123944"/>
            <a:ext cx="5349240" cy="1691640"/>
          </a:xfrm>
          <a:prstGeom prst="rect">
            <a:avLst/>
          </a:prstGeom>
          <a:noFill/>
          <a:ln/>
        </p:spPr>
        <p:txBody>
          <a:bodyPr wrap="square" lIns="0" tIns="0" rIns="0" bIns="0" rtlCol="0" anchor="t"/>
          <a:lstStyle/>
          <a:p>
            <a:pPr marL="342900" indent="-342900">
              <a:lnSpc>
                <a:spcPct val="102000"/>
              </a:lnSpc>
              <a:spcAft>
                <a:spcPts val="700"/>
              </a:spcAft>
              <a:buSzPct val="100000"/>
              <a:buChar char="•"/>
            </a:pPr>
            <a:r>
              <a:rPr lang="en-US" sz="1000" dirty="0">
                <a:solidFill>
                  <a:srgbClr val="1A1A1A"/>
                </a:solidFill>
                <a:latin typeface="Trenda IG Text" pitchFamily="34" charset="0"/>
                <a:ea typeface="Trenda IG Text" pitchFamily="34" charset="-122"/>
                <a:cs typeface="Trenda IG Text" pitchFamily="34" charset="-120"/>
              </a:rPr>
              <a:t>Weeks 1 to 3: one market, two service lines. Source inventory, attribution rule, required specialty map, privacy boundary design</a:t>
            </a:r>
            <a:endParaRPr lang="en-US" sz="1000" dirty="0"/>
          </a:p>
          <a:p>
            <a:pPr marL="342900" indent="-342900">
              <a:lnSpc>
                <a:spcPct val="102000"/>
              </a:lnSpc>
              <a:spcAft>
                <a:spcPts val="700"/>
              </a:spcAft>
              <a:buSzPct val="100000"/>
              <a:buChar char="•"/>
            </a:pPr>
            <a:r>
              <a:rPr lang="en-US" sz="1000" dirty="0">
                <a:solidFill>
                  <a:srgbClr val="1A1A1A"/>
                </a:solidFill>
                <a:latin typeface="Trenda IG Text" pitchFamily="34" charset="0"/>
                <a:ea typeface="Trenda IG Text" pitchFamily="34" charset="-122"/>
                <a:cs typeface="Trenda IG Text" pitchFamily="34" charset="-120"/>
              </a:rPr>
              <a:t>Weeks 4 to 7: boundary and identity resolution live. Match rate and k-anonymity floor published as the first deliverable</a:t>
            </a:r>
            <a:endParaRPr lang="en-US" sz="1000" dirty="0"/>
          </a:p>
          <a:p>
            <a:pPr marL="342900" indent="-342900">
              <a:lnSpc>
                <a:spcPct val="102000"/>
              </a:lnSpc>
              <a:spcAft>
                <a:spcPts val="700"/>
              </a:spcAft>
              <a:buSzPct val="100000"/>
              <a:buChar char="•"/>
            </a:pPr>
            <a:r>
              <a:rPr lang="en-US" sz="1000" dirty="0">
                <a:solidFill>
                  <a:srgbClr val="1A1A1A"/>
                </a:solidFill>
                <a:latin typeface="Trenda IG Text" pitchFamily="34" charset="0"/>
                <a:ea typeface="Trenda IG Text" pitchFamily="34" charset="-122"/>
                <a:cs typeface="Trenda IG Text" pitchFamily="34" charset="-120"/>
              </a:rPr>
              <a:t>Weeks 8 to 11: two gap engines, scenarios one and three, reviewed by a clinical SME</a:t>
            </a:r>
            <a:endParaRPr lang="en-US" sz="1000" dirty="0"/>
          </a:p>
          <a:p>
            <a:pPr marL="342900" indent="-342900">
              <a:lnSpc>
                <a:spcPct val="102000"/>
              </a:lnSpc>
              <a:spcAft>
                <a:spcPts val="700"/>
              </a:spcAft>
              <a:buSzPct val="100000"/>
              <a:buChar char="•"/>
            </a:pPr>
            <a:r>
              <a:rPr lang="en-US" sz="1000" dirty="0">
                <a:solidFill>
                  <a:srgbClr val="1A1A1A"/>
                </a:solidFill>
                <a:latin typeface="Trenda IG Text" pitchFamily="34" charset="0"/>
                <a:ea typeface="Trenda IG Text" pitchFamily="34" charset="-122"/>
                <a:cs typeface="Trenda IG Text" pitchFamily="34" charset="-120"/>
              </a:rPr>
              <a:t>Weeks 12 to 13: one what-if simulation, and a gap list a clinical leader and a network leader both sign</a:t>
            </a:r>
            <a:endParaRPr lang="en-US" sz="1000" dirty="0"/>
          </a:p>
        </p:txBody>
      </p:sp>
      <p:sp>
        <p:nvSpPr>
          <p:cNvPr id="22" name="Shape 20"/>
          <p:cNvSpPr/>
          <p:nvPr/>
        </p:nvSpPr>
        <p:spPr>
          <a:xfrm>
            <a:off x="109728" y="6199632"/>
            <a:ext cx="11969496" cy="493776"/>
          </a:xfrm>
          <a:prstGeom prst="rect">
            <a:avLst/>
          </a:prstGeom>
          <a:solidFill>
            <a:srgbClr val="0E1B2E"/>
          </a:solidFill>
          <a:ln/>
        </p:spPr>
      </p:sp>
      <p:sp>
        <p:nvSpPr>
          <p:cNvPr id="23" name="Shape 21"/>
          <p:cNvSpPr/>
          <p:nvPr/>
        </p:nvSpPr>
        <p:spPr>
          <a:xfrm>
            <a:off x="274320" y="6373368"/>
            <a:ext cx="91440" cy="91440"/>
          </a:xfrm>
          <a:prstGeom prst="rect">
            <a:avLst/>
          </a:prstGeom>
          <a:solidFill>
            <a:srgbClr val="5FD0C0"/>
          </a:solidFill>
          <a:ln/>
        </p:spPr>
      </p:sp>
      <p:sp>
        <p:nvSpPr>
          <p:cNvPr id="24" name="Text 22"/>
          <p:cNvSpPr txBox="1"/>
          <p:nvPr/>
        </p:nvSpPr>
        <p:spPr>
          <a:xfrm>
            <a:off x="457200" y="6199632"/>
            <a:ext cx="11521440" cy="493776"/>
          </a:xfrm>
          <a:prstGeom prst="rect">
            <a:avLst/>
          </a:prstGeom>
          <a:noFill/>
          <a:ln/>
        </p:spPr>
        <p:txBody>
          <a:bodyPr wrap="square" lIns="0" tIns="0" rIns="0" bIns="0" rtlCol="0" anchor="ctr"/>
          <a:lstStyle/>
          <a:p>
            <a:pPr indent="0" marL="0">
              <a:buNone/>
            </a:pPr>
            <a:r>
              <a:rPr lang="en-US" sz="1100" dirty="0">
                <a:solidFill>
                  <a:srgbClr val="FFFFFF"/>
                </a:solidFill>
                <a:latin typeface="Trenda IG Text" pitchFamily="34" charset="0"/>
                <a:ea typeface="Trenda IG Text" pitchFamily="34" charset="-122"/>
                <a:cs typeface="Trenda IG Text" pitchFamily="34" charset="-120"/>
              </a:rPr>
              <a:t>None of the five are blockers. All five are decisions to take in week one, rather than discoveries to make in month three.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Clinical Network Knowledge Graph</dc:title>
  <dc:subject>PptxGenJS Presentation</dc:subject>
  <dc:creator>Insight Global Labs</dc:creator>
  <cp:lastModifiedBy>Insight Global Labs</cp:lastModifiedBy>
  <cp:revision>1</cp:revision>
  <dcterms:created xsi:type="dcterms:W3CDTF">2026-09-21T13:12:37Z</dcterms:created>
  <dcterms:modified xsi:type="dcterms:W3CDTF">2026-09-21T13:12:37Z</dcterms:modified>
</cp:coreProperties>
</file>