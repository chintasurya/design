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321" r:id="rId6"/>
    <p:sldId id="322" r:id="rId7"/>
    <p:sldId id="32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B7F3D-AF48-40FC-A8FB-ACACB1119627}" v="4" dt="2026-09-21T14:46:26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Chinta" userId="41ee6f01-053e-4268-a09b-364f54be2fbe" providerId="ADAL" clId="{E5143D04-8900-4457-BE49-945FECC57414}"/>
    <pc:docChg chg="custSel addSld modSld">
      <pc:chgData name="Surya Chinta" userId="41ee6f01-053e-4268-a09b-364f54be2fbe" providerId="ADAL" clId="{E5143D04-8900-4457-BE49-945FECC57414}" dt="2026-09-21T14:46:47.634" v="63" actId="20577"/>
      <pc:docMkLst>
        <pc:docMk/>
      </pc:docMkLst>
      <pc:sldChg chg="addSp modSp new mod">
        <pc:chgData name="Surya Chinta" userId="41ee6f01-053e-4268-a09b-364f54be2fbe" providerId="ADAL" clId="{E5143D04-8900-4457-BE49-945FECC57414}" dt="2026-09-21T14:46:47.634" v="63" actId="20577"/>
        <pc:sldMkLst>
          <pc:docMk/>
          <pc:sldMk cId="1586874623" sldId="259"/>
        </pc:sldMkLst>
        <pc:spChg chg="add mod">
          <ac:chgData name="Surya Chinta" userId="41ee6f01-053e-4268-a09b-364f54be2fbe" providerId="ADAL" clId="{E5143D04-8900-4457-BE49-945FECC57414}" dt="2026-09-21T14:46:47.634" v="63" actId="20577"/>
          <ac:spMkLst>
            <pc:docMk/>
            <pc:sldMk cId="1586874623" sldId="259"/>
            <ac:spMk id="2" creationId="{AF7C0828-14B9-ED98-E81B-846AB22DA4C6}"/>
          </ac:spMkLst>
        </pc:spChg>
      </pc:sldChg>
      <pc:sldChg chg="delSp modSp add mod">
        <pc:chgData name="Surya Chinta" userId="41ee6f01-053e-4268-a09b-364f54be2fbe" providerId="ADAL" clId="{E5143D04-8900-4457-BE49-945FECC57414}" dt="2026-09-21T14:45:39.583" v="10" actId="1076"/>
        <pc:sldMkLst>
          <pc:docMk/>
          <pc:sldMk cId="0" sldId="321"/>
        </pc:sldMkLst>
        <pc:spChg chg="mod">
          <ac:chgData name="Surya Chinta" userId="41ee6f01-053e-4268-a09b-364f54be2fbe" providerId="ADAL" clId="{E5143D04-8900-4457-BE49-945FECC57414}" dt="2026-09-21T14:45:33.314" v="9" actId="1076"/>
          <ac:spMkLst>
            <pc:docMk/>
            <pc:sldMk cId="0" sldId="321"/>
            <ac:spMk id="3" creationId="{00000000-0000-0000-0000-000000000000}"/>
          </ac:spMkLst>
        </pc:spChg>
        <pc:spChg chg="del mod">
          <ac:chgData name="Surya Chinta" userId="41ee6f01-053e-4268-a09b-364f54be2fbe" providerId="ADAL" clId="{E5143D04-8900-4457-BE49-945FECC57414}" dt="2026-09-21T14:45:10.536" v="3" actId="478"/>
          <ac:spMkLst>
            <pc:docMk/>
            <pc:sldMk cId="0" sldId="321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09-21T14:45:39.583" v="10" actId="1076"/>
          <ac:spMkLst>
            <pc:docMk/>
            <pc:sldMk cId="0" sldId="321"/>
            <ac:spMk id="5" creationId="{00000000-0000-0000-0000-000000000000}"/>
          </ac:spMkLst>
        </pc:spChg>
      </pc:sldChg>
      <pc:sldChg chg="add setBg">
        <pc:chgData name="Surya Chinta" userId="41ee6f01-053e-4268-a09b-364f54be2fbe" providerId="ADAL" clId="{E5143D04-8900-4457-BE49-945FECC57414}" dt="2026-09-21T14:46:07.096" v="11"/>
        <pc:sldMkLst>
          <pc:docMk/>
          <pc:sldMk cId="0" sldId="322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architecture with explicit connectivity. Six systems of record are read by dedicated read-only connectors (each with its own auth: OAuth 2.0 3LO, PAT, Connected App JWT bearer, SSH deploy key, client credentials, API token). Each connector emits a SourceArtifact of bytes plus metadata and a SHA-256 hash. Per-source ingestors parse those artifacts into the NetworkServicesContext domain model. That model is persisted as vendor-neutral JSON, then exported into typed nodes and relationships. The graph engine loads it in memory; the adapter API exposes typed queries; Codex reasons over bounded graph slices and returns an ImpactAnalysis and ChangePlan. Delivery stays governed: risk-routed human approval, CAB, and production owned by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ONE FRAMEWORK, MANY MARKETS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What stays the same, and what every industry has to declare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219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Roughly seven parts in ten</a:t>
            </a:r>
            <a:endParaRPr lang="en-US" sz="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never change.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9728" y="100584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5A6573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NINE LAYERS, MARKED CORE OR PACK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12070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9728" y="12070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09728" y="12070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Source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16352" y="1307592"/>
            <a:ext cx="585216" cy="201168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816352" y="13075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PACK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1207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Whatever the systems of record are, in any vendor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09728" y="16642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9728" y="16642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9728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664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Source connectors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16352" y="1764792"/>
            <a:ext cx="585216" cy="201168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816352" y="17647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PACK</a:t>
            </a:r>
            <a:endParaRPr lang="en-US" sz="680" dirty="0"/>
          </a:p>
        </p:txBody>
      </p:sp>
      <p:sp>
        <p:nvSpPr>
          <p:cNvPr id="20" name="Text 18"/>
          <p:cNvSpPr txBox="1"/>
          <p:nvPr/>
        </p:nvSpPr>
        <p:spPr>
          <a:xfrm>
            <a:off x="3529584" y="16642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One connector per system. The contract is core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9728" y="21214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9728" y="21214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09728" y="2121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121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Trust and privacy boundary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16352" y="2221992"/>
            <a:ext cx="585216" cy="20116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2816352" y="22219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BOTH</a:t>
            </a:r>
            <a:endParaRPr lang="en-US" sz="680" dirty="0"/>
          </a:p>
        </p:txBody>
      </p:sp>
      <p:sp>
        <p:nvSpPr>
          <p:cNvPr id="27" name="Text 25"/>
          <p:cNvSpPr txBox="1"/>
          <p:nvPr/>
        </p:nvSpPr>
        <p:spPr>
          <a:xfrm>
            <a:off x="3529584" y="21214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Mechanics are core. HIPAA, GDPR or PCI is the pack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9728" y="25786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09728" y="25786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109728" y="2578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L4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Ingest and identity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16352" y="2679192"/>
            <a:ext cx="585216" cy="20116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2816352" y="26791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BOTH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3529584" y="25786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Resolution machinery is core. The identity spine is the pack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9728" y="30358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9728" y="30358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109728" y="3035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L5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0358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Domain model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16352" y="3136392"/>
            <a:ext cx="585216" cy="201168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2816352" y="31363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PACK</a:t>
            </a:r>
            <a:endParaRPr lang="en-US" sz="680" dirty="0"/>
          </a:p>
        </p:txBody>
      </p:sp>
      <p:sp>
        <p:nvSpPr>
          <p:cNvPr id="41" name="Text 39"/>
          <p:cNvSpPr txBox="1"/>
          <p:nvPr/>
        </p:nvSpPr>
        <p:spPr>
          <a:xfrm>
            <a:off x="3529584" y="30358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classes change. Bitemporal and evidence rules do not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109728" y="34930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09728" y="34930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109728" y="34930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L6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3493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storage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16352" y="3593592"/>
            <a:ext cx="585216" cy="20116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2816352" y="35935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</a:t>
            </a:r>
            <a:endParaRPr lang="en-US" sz="680" dirty="0"/>
          </a:p>
        </p:txBody>
      </p:sp>
      <p:sp>
        <p:nvSpPr>
          <p:cNvPr id="48" name="Text 46"/>
          <p:cNvSpPr txBox="1"/>
          <p:nvPr/>
        </p:nvSpPr>
        <p:spPr>
          <a:xfrm>
            <a:off x="3529584" y="3493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Content addressed, immutable, vendor neutral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109728" y="39502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09728" y="39502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109728" y="3950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L7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Derived edge engine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816352" y="4050792"/>
            <a:ext cx="585216" cy="20116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2816352" y="40507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BOTH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3529584" y="39502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engine is core. Reachability and thresholds are the pack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109728" y="4407408"/>
            <a:ext cx="7406640" cy="402336"/>
          </a:xfrm>
          <a:prstGeom prst="rect">
            <a:avLst/>
          </a:prstGeom>
          <a:solidFill>
            <a:srgbClr val="F4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09728" y="44074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 txBox="1"/>
          <p:nvPr/>
        </p:nvSpPr>
        <p:spPr>
          <a:xfrm>
            <a:off x="109728" y="4407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L8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407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runtime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816352" y="4507992"/>
            <a:ext cx="585216" cy="20116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 txBox="1"/>
          <p:nvPr/>
        </p:nvSpPr>
        <p:spPr>
          <a:xfrm>
            <a:off x="2816352" y="45079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</a:t>
            </a:r>
            <a:endParaRPr lang="en-US" sz="680" dirty="0"/>
          </a:p>
        </p:txBody>
      </p:sp>
      <p:sp>
        <p:nvSpPr>
          <p:cNvPr id="62" name="Text 60"/>
          <p:cNvSpPr txBox="1"/>
          <p:nvPr/>
        </p:nvSpPr>
        <p:spPr>
          <a:xfrm>
            <a:off x="3529584" y="44074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Traversal, vectors, shadow graph, analytics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109728" y="4864608"/>
            <a:ext cx="7406640" cy="402336"/>
          </a:xfrm>
          <a:prstGeom prst="rect">
            <a:avLst/>
          </a:prstGeom>
          <a:solidFill>
            <a:srgbClr val="ECEF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09728" y="4864608"/>
            <a:ext cx="457200" cy="40233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 txBox="1"/>
          <p:nvPr/>
        </p:nvSpPr>
        <p:spPr>
          <a:xfrm>
            <a:off x="109728" y="4864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L9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864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Gap engines and API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816352" y="4965192"/>
            <a:ext cx="585216" cy="20116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 txBox="1"/>
          <p:nvPr/>
        </p:nvSpPr>
        <p:spPr>
          <a:xfrm>
            <a:off x="2816352" y="4965192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kern="0" spc="3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</a:t>
            </a:r>
            <a:endParaRPr lang="en-US" sz="680" dirty="0"/>
          </a:p>
        </p:txBody>
      </p:sp>
      <p:sp>
        <p:nvSpPr>
          <p:cNvPr id="69" name="Text 67"/>
          <p:cNvSpPr txBox="1"/>
          <p:nvPr/>
        </p:nvSpPr>
        <p:spPr>
          <a:xfrm>
            <a:off x="3529584" y="48646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twelve scenarios are domain neutral already</a:t>
            </a:r>
            <a:endParaRPr lang="en-US" sz="880" dirty="0"/>
          </a:p>
        </p:txBody>
      </p:sp>
      <p:sp>
        <p:nvSpPr>
          <p:cNvPr id="70" name="Shape 68"/>
          <p:cNvSpPr/>
          <p:nvPr/>
        </p:nvSpPr>
        <p:spPr>
          <a:xfrm>
            <a:off x="7699248" y="1207008"/>
            <a:ext cx="4379976" cy="2066544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882128" y="1408176"/>
            <a:ext cx="91440" cy="91440"/>
          </a:xfrm>
          <a:prstGeom prst="rect">
            <a:avLst/>
          </a:prstGeom>
          <a:solidFill>
            <a:srgbClr val="5FD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 txBox="1"/>
          <p:nvPr/>
        </p:nvSpPr>
        <p:spPr>
          <a:xfrm>
            <a:off x="8065008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The invariant claim</a:t>
            </a:r>
            <a:endParaRPr lang="en-US" sz="1350" dirty="0"/>
          </a:p>
        </p:txBody>
      </p:sp>
      <p:sp>
        <p:nvSpPr>
          <p:cNvPr id="73" name="Text 71"/>
          <p:cNvSpPr txBox="1"/>
          <p:nvPr/>
        </p:nvSpPr>
        <p:spPr>
          <a:xfrm>
            <a:off x="7882128" y="1700784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gap is a missing path between demand and a supply that satisfies a declared capability, reachable inside a constraint.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That sentence contains no industry. Change the nouns and the engine does not notice.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92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Everything above L5 operates on the abstraction, never on the domain.</a:t>
            </a:r>
            <a:endParaRPr lang="en-US" sz="920" dirty="0"/>
          </a:p>
        </p:txBody>
      </p:sp>
      <p:sp>
        <p:nvSpPr>
          <p:cNvPr id="74" name="Shape 72"/>
          <p:cNvSpPr/>
          <p:nvPr/>
        </p:nvSpPr>
        <p:spPr>
          <a:xfrm>
            <a:off x="7699248" y="3383280"/>
            <a:ext cx="4379976" cy="19385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7882128" y="3584448"/>
            <a:ext cx="91440" cy="91440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 txBox="1"/>
          <p:nvPr/>
        </p:nvSpPr>
        <p:spPr>
          <a:xfrm>
            <a:off x="8065008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The pack contract</a:t>
            </a:r>
            <a:endParaRPr lang="en-US" sz="1350" dirty="0"/>
          </a:p>
        </p:txBody>
      </p:sp>
      <p:sp>
        <p:nvSpPr>
          <p:cNvPr id="77" name="Text 75"/>
          <p:cNvSpPr txBox="1"/>
          <p:nvPr/>
        </p:nvSpPr>
        <p:spPr>
          <a:xfrm>
            <a:off x="7882128" y="385876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Ontology classes and the identity spine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reachability metric: drive time, signal, latency, territory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capability specification: what an offering requires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regulatory profile and its thresholds</a:t>
            </a:r>
            <a:endParaRPr lang="en-US" sz="920" dirty="0"/>
          </a:p>
          <a:p>
            <a:pPr marL="114300" indent="-1143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Source connectors and the action catalogue</a:t>
            </a:r>
            <a:endParaRPr lang="en-US" sz="920" dirty="0"/>
          </a:p>
        </p:txBody>
      </p:sp>
      <p:sp>
        <p:nvSpPr>
          <p:cNvPr id="78" name="Shape 76"/>
          <p:cNvSpPr/>
          <p:nvPr/>
        </p:nvSpPr>
        <p:spPr>
          <a:xfrm>
            <a:off x="109728" y="5358384"/>
            <a:ext cx="11969496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92608" y="5559552"/>
            <a:ext cx="91440" cy="91440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 txBox="1"/>
          <p:nvPr/>
        </p:nvSpPr>
        <p:spPr>
          <a:xfrm>
            <a:off x="493776" y="5358384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We have already built two packs without calling them packs. The engineering delivery graph and the clinical network graph share nine layers and differ only in the five declarations above.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109728" y="6053328"/>
            <a:ext cx="11969496" cy="49377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274320" y="6227064"/>
            <a:ext cx="91440" cy="91440"/>
          </a:xfrm>
          <a:prstGeom prst="rect">
            <a:avLst/>
          </a:prstGeom>
          <a:solidFill>
            <a:srgbClr val="5FD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 txBox="1"/>
          <p:nvPr/>
        </p:nvSpPr>
        <p:spPr>
          <a:xfrm>
            <a:off x="457200" y="6053328"/>
            <a:ext cx="1152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 the honest claim is not that it fits everything. It is that the architecture is the product and the industry is the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THE SAME MODEL, FOUR INDUSTRIES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Change the nouns. The engine does not notice.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219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Worked, not asserted.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58568" y="1024128"/>
            <a:ext cx="2414016" cy="310896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350008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HEALTHCARE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2414016" cy="310896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800600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TELECOM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159752" y="1024128"/>
            <a:ext cx="2414016" cy="310896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251192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AUTOMOTIVE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10344" y="1024128"/>
            <a:ext cx="2414016" cy="310896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9701784" y="1024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ENGINEERING DELIVERY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9728" y="1389888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219456" y="1389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Party, the demand side</a:t>
            </a:r>
            <a:endParaRPr lang="en-US" sz="860" dirty="0"/>
          </a:p>
        </p:txBody>
      </p:sp>
      <p:sp>
        <p:nvSpPr>
          <p:cNvPr id="16" name="Text 14"/>
          <p:cNvSpPr txBox="1"/>
          <p:nvPr/>
        </p:nvSpPr>
        <p:spPr>
          <a:xfrm>
            <a:off x="2350008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Patient</a:t>
            </a:r>
            <a:endParaRPr lang="en-US" sz="84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Subscriber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7251192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Owner or buyer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9701784" y="138988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Requirement or request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109728" y="1792224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219456" y="179222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Resource, the supply side</a:t>
            </a:r>
            <a:endParaRPr lang="en-US" sz="86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Provider, facility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Cell site, sector, field engineer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Dealer, bay, technician</a:t>
            </a:r>
            <a:endParaRPr lang="en-US" sz="840" dirty="0"/>
          </a:p>
        </p:txBody>
      </p:sp>
      <p:sp>
        <p:nvSpPr>
          <p:cNvPr id="25" name="Text 23"/>
          <p:cNvSpPr txBox="1"/>
          <p:nvPr/>
        </p:nvSpPr>
        <p:spPr>
          <a:xfrm>
            <a:off x="9701784" y="179222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Component, service, team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109728" y="2194560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219456" y="21945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Capability</a:t>
            </a:r>
            <a:endParaRPr lang="en-US" sz="860" dirty="0"/>
          </a:p>
        </p:txBody>
      </p:sp>
      <p:sp>
        <p:nvSpPr>
          <p:cNvPr id="28" name="Text 26"/>
          <p:cNvSpPr txBox="1"/>
          <p:nvPr/>
        </p:nvSpPr>
        <p:spPr>
          <a:xfrm>
            <a:off x="2350008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Specialty plus privilege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Band, capacity, backhaul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7251192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Brand and EV certification, rig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9701784" y="21945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Language, framework, API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109728" y="2596896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219456" y="25968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Offering, which declares what it REQUIRES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2350008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Service line</a:t>
            </a:r>
            <a:endParaRPr lang="en-US" sz="84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Plan or product, such as fixed wireless</a:t>
            </a:r>
            <a:endParaRPr lang="en-US" sz="840" dirty="0"/>
          </a:p>
        </p:txBody>
      </p:sp>
      <p:sp>
        <p:nvSpPr>
          <p:cNvPr id="36" name="Text 34"/>
          <p:cNvSpPr txBox="1"/>
          <p:nvPr/>
        </p:nvSpPr>
        <p:spPr>
          <a:xfrm>
            <a:off x="7251192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Sale, warranty repair, EV service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9701784" y="2596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Feature or change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109728" y="2999232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219456" y="29992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Place and reachability</a:t>
            </a:r>
            <a:endParaRPr lang="en-US" sz="860" dirty="0"/>
          </a:p>
        </p:txBody>
      </p:sp>
      <p:sp>
        <p:nvSpPr>
          <p:cNvPr id="40" name="Text 38"/>
          <p:cNvSpPr txBox="1"/>
          <p:nvPr/>
        </p:nvSpPr>
        <p:spPr>
          <a:xfrm>
            <a:off x="2350008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County, drive time</a:t>
            </a:r>
            <a:endParaRPr lang="en-US" sz="84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 polygon, signal strength</a:t>
            </a:r>
            <a:endParaRPr lang="en-US" sz="840" dirty="0"/>
          </a:p>
        </p:txBody>
      </p:sp>
      <p:sp>
        <p:nvSpPr>
          <p:cNvPr id="42" name="Text 40"/>
          <p:cNvSpPr txBox="1"/>
          <p:nvPr/>
        </p:nvSpPr>
        <p:spPr>
          <a:xfrm>
            <a:off x="7251192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Territory, drive time</a:t>
            </a:r>
            <a:endParaRPr lang="en-US" sz="840" dirty="0"/>
          </a:p>
        </p:txBody>
      </p:sp>
      <p:sp>
        <p:nvSpPr>
          <p:cNvPr id="43" name="Text 41"/>
          <p:cNvSpPr txBox="1"/>
          <p:nvPr/>
        </p:nvSpPr>
        <p:spPr>
          <a:xfrm>
            <a:off x="9701784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Repo and domain boundary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109728" y="3401568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219456" y="34015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Interaction</a:t>
            </a:r>
            <a:endParaRPr lang="en-US" sz="860" dirty="0"/>
          </a:p>
        </p:txBody>
      </p:sp>
      <p:sp>
        <p:nvSpPr>
          <p:cNvPr id="46" name="Text 44"/>
          <p:cNvSpPr txBox="1"/>
          <p:nvPr/>
        </p:nvSpPr>
        <p:spPr>
          <a:xfrm>
            <a:off x="2350008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Encounter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4800600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Session, care call, truck roll</a:t>
            </a:r>
            <a:endParaRPr lang="en-US" sz="840" dirty="0"/>
          </a:p>
        </p:txBody>
      </p:sp>
      <p:sp>
        <p:nvSpPr>
          <p:cNvPr id="48" name="Text 46"/>
          <p:cNvSpPr txBox="1"/>
          <p:nvPr/>
        </p:nvSpPr>
        <p:spPr>
          <a:xfrm>
            <a:off x="7251192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Service visit, test drive</a:t>
            </a:r>
            <a:endParaRPr lang="en-US" sz="840" dirty="0"/>
          </a:p>
        </p:txBody>
      </p:sp>
      <p:sp>
        <p:nvSpPr>
          <p:cNvPr id="49" name="Text 47"/>
          <p:cNvSpPr txBox="1"/>
          <p:nvPr/>
        </p:nvSpPr>
        <p:spPr>
          <a:xfrm>
            <a:off x="9701784" y="34015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Deployment, incident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109728" y="3803904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219456" y="380390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Commitment with a lifecycle</a:t>
            </a:r>
            <a:endParaRPr lang="en-US" sz="860" dirty="0"/>
          </a:p>
        </p:txBody>
      </p:sp>
      <p:sp>
        <p:nvSpPr>
          <p:cNvPr id="52" name="Text 50"/>
          <p:cNvSpPr txBox="1"/>
          <p:nvPr/>
        </p:nvSpPr>
        <p:spPr>
          <a:xfrm>
            <a:off x="2350008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Appointment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4800600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Subscription</a:t>
            </a:r>
            <a:endParaRPr lang="en-US" sz="840" dirty="0"/>
          </a:p>
        </p:txBody>
      </p:sp>
      <p:sp>
        <p:nvSpPr>
          <p:cNvPr id="54" name="Text 52"/>
          <p:cNvSpPr txBox="1"/>
          <p:nvPr/>
        </p:nvSpPr>
        <p:spPr>
          <a:xfrm>
            <a:off x="7251192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Order, service booking</a:t>
            </a:r>
            <a:endParaRPr lang="en-US" sz="840" dirty="0"/>
          </a:p>
        </p:txBody>
      </p:sp>
      <p:sp>
        <p:nvSpPr>
          <p:cNvPr id="55" name="Text 53"/>
          <p:cNvSpPr txBox="1"/>
          <p:nvPr/>
        </p:nvSpPr>
        <p:spPr>
          <a:xfrm>
            <a:off x="9701784" y="380390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Work item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109728" y="4206240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 txBox="1"/>
          <p:nvPr/>
        </p:nvSpPr>
        <p:spPr>
          <a:xfrm>
            <a:off x="219456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Flow, where value leaks</a:t>
            </a:r>
            <a:endParaRPr lang="en-US" sz="860" dirty="0"/>
          </a:p>
        </p:txBody>
      </p:sp>
      <p:sp>
        <p:nvSpPr>
          <p:cNvPr id="58" name="Text 56"/>
          <p:cNvSpPr txBox="1"/>
          <p:nvPr/>
        </p:nvSpPr>
        <p:spPr>
          <a:xfrm>
            <a:off x="2350008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Referral out of network</a:t>
            </a:r>
            <a:endParaRPr lang="en-US" sz="840" dirty="0"/>
          </a:p>
        </p:txBody>
      </p:sp>
      <p:sp>
        <p:nvSpPr>
          <p:cNvPr id="59" name="Text 57"/>
          <p:cNvSpPr txBox="1"/>
          <p:nvPr/>
        </p:nvSpPr>
        <p:spPr>
          <a:xfrm>
            <a:off x="4800600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Port out to a competitor</a:t>
            </a:r>
            <a:endParaRPr lang="en-US" sz="840" dirty="0"/>
          </a:p>
        </p:txBody>
      </p:sp>
      <p:sp>
        <p:nvSpPr>
          <p:cNvPr id="60" name="Text 58"/>
          <p:cNvSpPr txBox="1"/>
          <p:nvPr/>
        </p:nvSpPr>
        <p:spPr>
          <a:xfrm>
            <a:off x="7251192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Defection to independents</a:t>
            </a:r>
            <a:endParaRPr lang="en-US" sz="840" dirty="0"/>
          </a:p>
        </p:txBody>
      </p:sp>
      <p:sp>
        <p:nvSpPr>
          <p:cNvPr id="61" name="Text 59"/>
          <p:cNvSpPr txBox="1"/>
          <p:nvPr/>
        </p:nvSpPr>
        <p:spPr>
          <a:xfrm>
            <a:off x="9701784" y="4206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Dependency across teams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109728" y="4608576"/>
            <a:ext cx="11969496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 txBox="1"/>
          <p:nvPr/>
        </p:nvSpPr>
        <p:spPr>
          <a:xfrm>
            <a:off x="219456" y="46085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adequacy rule</a:t>
            </a:r>
            <a:endParaRPr lang="en-US" sz="860" dirty="0"/>
          </a:p>
        </p:txBody>
      </p:sp>
      <p:sp>
        <p:nvSpPr>
          <p:cNvPr id="64" name="Text 62"/>
          <p:cNvSpPr txBox="1"/>
          <p:nvPr/>
        </p:nvSpPr>
        <p:spPr>
          <a:xfrm>
            <a:off x="2350008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CMS time and distance</a:t>
            </a:r>
            <a:endParaRPr lang="en-US" sz="84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Regulator coverage obligation</a:t>
            </a:r>
            <a:endParaRPr lang="en-US" sz="840" dirty="0"/>
          </a:p>
        </p:txBody>
      </p:sp>
      <p:sp>
        <p:nvSpPr>
          <p:cNvPr id="66" name="Text 64"/>
          <p:cNvSpPr txBox="1"/>
          <p:nvPr/>
        </p:nvSpPr>
        <p:spPr>
          <a:xfrm>
            <a:off x="7251192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OEM network standard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9701784" y="460857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Architecture standard or SLA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109728" y="5010912"/>
            <a:ext cx="11969496" cy="365760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 txBox="1"/>
          <p:nvPr/>
        </p:nvSpPr>
        <p:spPr>
          <a:xfrm>
            <a:off x="219456" y="5010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Identity spine</a:t>
            </a:r>
            <a:endParaRPr lang="en-US" sz="860" dirty="0"/>
          </a:p>
        </p:txBody>
      </p:sp>
      <p:sp>
        <p:nvSpPr>
          <p:cNvPr id="70" name="Text 68"/>
          <p:cNvSpPr txBox="1"/>
          <p:nvPr/>
        </p:nvSpPr>
        <p:spPr>
          <a:xfrm>
            <a:off x="2350008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NPI, TIN, CCN, EMPI</a:t>
            </a:r>
            <a:endParaRPr lang="en-US" sz="840" dirty="0"/>
          </a:p>
        </p:txBody>
      </p:sp>
      <p:sp>
        <p:nvSpPr>
          <p:cNvPr id="71" name="Text 69"/>
          <p:cNvSpPr txBox="1"/>
          <p:nvPr/>
        </p:nvSpPr>
        <p:spPr>
          <a:xfrm>
            <a:off x="4800600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MSISDN, IMSI, account</a:t>
            </a:r>
            <a:endParaRPr lang="en-US" sz="840" dirty="0"/>
          </a:p>
        </p:txBody>
      </p:sp>
      <p:sp>
        <p:nvSpPr>
          <p:cNvPr id="72" name="Text 70"/>
          <p:cNvSpPr txBox="1"/>
          <p:nvPr/>
        </p:nvSpPr>
        <p:spPr>
          <a:xfrm>
            <a:off x="7251192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VIN, dealer code</a:t>
            </a:r>
            <a:endParaRPr lang="en-US" sz="840" dirty="0"/>
          </a:p>
        </p:txBody>
      </p:sp>
      <p:sp>
        <p:nvSpPr>
          <p:cNvPr id="73" name="Text 71"/>
          <p:cNvSpPr txBox="1"/>
          <p:nvPr/>
        </p:nvSpPr>
        <p:spPr>
          <a:xfrm>
            <a:off x="9701784" y="501091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84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Repo and service id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109728" y="5504688"/>
            <a:ext cx="11969496" cy="621792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292608" y="5705856"/>
            <a:ext cx="91440" cy="91440"/>
          </a:xfrm>
          <a:prstGeom prst="rect">
            <a:avLst/>
          </a:prstGeom>
          <a:solidFill>
            <a:srgbClr val="5FD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 txBox="1"/>
          <p:nvPr/>
        </p:nvSpPr>
        <p:spPr>
          <a:xfrm>
            <a:off x="493776" y="5577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FD0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Scenario 1, demand without supply, read four ways: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493776" y="577900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county with inflow and no credentialed cardiologist inside the drive time band  ·  a postcode with demand and no site carrying the required band  ·  a territory with a growing electric parc and no high voltage certified technician  ·  a requirement with no component that implements it</a:t>
            </a:r>
            <a:endParaRPr lang="en-US" sz="880" dirty="0"/>
          </a:p>
        </p:txBody>
      </p:sp>
      <p:sp>
        <p:nvSpPr>
          <p:cNvPr id="78" name="Shape 76"/>
          <p:cNvSpPr/>
          <p:nvPr/>
        </p:nvSpPr>
        <p:spPr>
          <a:xfrm>
            <a:off x="109728" y="6199632"/>
            <a:ext cx="11969496" cy="49377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74320" y="6373368"/>
            <a:ext cx="91440" cy="91440"/>
          </a:xfrm>
          <a:prstGeom prst="rect">
            <a:avLst/>
          </a:prstGeom>
          <a:solidFill>
            <a:srgbClr val="5FD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 txBox="1"/>
          <p:nvPr/>
        </p:nvSpPr>
        <p:spPr>
          <a:xfrm>
            <a:off x="457200" y="6199632"/>
            <a:ext cx="1152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Telecom coverage obligations and CMS network adequacy are the same query. So are a stranded cath lab and a 5G radio with no fibre behind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137160"/>
            <a:ext cx="8229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12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FIT, LIMITS AND TECHNOLOGY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Where it travels, where it weakens, and what is really coupled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2194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The useful answer is</a:t>
            </a:r>
            <a:endParaRPr lang="en-US" sz="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4C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not yes to everything.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" y="987552"/>
            <a:ext cx="3904488" cy="42245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2608" y="1197864"/>
            <a:ext cx="91440" cy="91440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75488" y="11155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Six questions that decide fit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1554480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92608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1563624"/>
            <a:ext cx="320954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Can demand be located, by geography, segment or jurisdiction?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92608" y="1962912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92608" y="1962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" y="1972056"/>
            <a:ext cx="320954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Is supply lumpy, licensed or slow to add? This is the decisive one.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92608" y="2371344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292608" y="2371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80488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Can someone write down what an offering requires?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92608" y="2682240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292608" y="2682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2691384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Is there an identity spine on both sides?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92608" y="2993136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292608" y="2993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3002280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Does value flow between suppliers, and can it leak?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92608" y="3304032"/>
            <a:ext cx="237744" cy="237744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292608" y="3304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" y="3313176"/>
            <a:ext cx="3209544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Is there a commitment with a lifecycle and exits?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92608" y="3986784"/>
            <a:ext cx="3538728" cy="1060704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20624" y="4078224"/>
            <a:ext cx="3282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D0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Four or more yes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" y="4279392"/>
            <a:ext cx="3282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6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Strong fit. Healthcare, telecom, automotive aftersales, field service, energy networks, logistics and utilities all score five or six. Question two carries the most weight: gap analysis earns its keep only where adding supply takes months and money.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142232" y="987552"/>
            <a:ext cx="3904488" cy="422452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325112" y="1197864"/>
            <a:ext cx="91440" cy="914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4507992" y="11155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Where it weakens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325112" y="1536192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Elastic supply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4325112" y="1719072"/>
            <a:ext cx="353872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If capacity appears on demand, the gap closes itself. Commodity cloud does not need this. Credentialed, licensed or capital bound supply does.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4325112" y="2145792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No reachability constraint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4325112" y="2328672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purely digital good delivered instantly everywhere loses the strongest gap type. Latency, language or jurisdiction can stand in, but the edge is weaker.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4325112" y="2886456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specification cannot be written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4325112" y="3069336"/>
            <a:ext cx="3538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Capability algebra needs someone to state what an offering requires. When nobody can, that is a business knowledge problem, and it is usually the hardest workshop.</a:t>
            </a:r>
            <a:endParaRPr lang="en-US" sz="860" dirty="0"/>
          </a:p>
        </p:txBody>
      </p:sp>
      <p:sp>
        <p:nvSpPr>
          <p:cNvPr id="39" name="Text 37"/>
          <p:cNvSpPr txBox="1"/>
          <p:nvPr/>
        </p:nvSpPr>
        <p:spPr>
          <a:xfrm>
            <a:off x="4325112" y="3627120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No identity spine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4325112" y="3810000"/>
            <a:ext cx="353872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Anonymous consumer markets still support geography level aggregates, but person level flow and leakage are lost.</a:t>
            </a:r>
            <a:endParaRPr lang="en-US" sz="860" dirty="0"/>
          </a:p>
        </p:txBody>
      </p:sp>
      <p:sp>
        <p:nvSpPr>
          <p:cNvPr id="41" name="Text 39"/>
          <p:cNvSpPr txBox="1"/>
          <p:nvPr/>
        </p:nvSpPr>
        <p:spPr>
          <a:xfrm>
            <a:off x="4325112" y="4236720"/>
            <a:ext cx="3538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Small scale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4325112" y="4419600"/>
            <a:ext cx="353872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60" dirty="0">
                <a:solidFill>
                  <a:srgbClr val="5A6573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Twelve suppliers and three sites is a spreadsheet. The graph earns its keep on heterogeneity and volume.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8174736" y="987552"/>
            <a:ext cx="3904488" cy="4224528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357616" y="1197864"/>
            <a:ext cx="91440" cy="91440"/>
          </a:xfrm>
          <a:prstGeom prst="rect">
            <a:avLst/>
          </a:prstGeom>
          <a:solidFill>
            <a:srgbClr val="5FD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8540496" y="11155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Technology, honestly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357616" y="1499616"/>
            <a:ext cx="3538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kern="0" spc="50" dirty="0">
                <a:solidFill>
                  <a:srgbClr val="5FD0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SWAPPABLE WITHOUT REDESIGN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8357616" y="1691640"/>
            <a:ext cx="3538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CRM: Salesforce, Dynamics, ServiceNow, SAP. It is a connector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System of record: Epic, Cerner, Amdocs, a dealer management system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Graph store: Neo4j, TigerGraph, Neptune, Memgraph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D8DEE6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Cloud and model endpoints, behind the same contract</a:t>
            </a:r>
            <a:endParaRPr lang="en-US" sz="880" dirty="0"/>
          </a:p>
        </p:txBody>
      </p:sp>
      <p:sp>
        <p:nvSpPr>
          <p:cNvPr id="48" name="Text 46"/>
          <p:cNvSpPr txBox="1"/>
          <p:nvPr/>
        </p:nvSpPr>
        <p:spPr>
          <a:xfrm>
            <a:off x="8357616" y="2871216"/>
            <a:ext cx="3538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kern="0" spc="50" dirty="0">
                <a:solidFill>
                  <a:srgbClr val="E8A87C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GENUINELY COUPLED, SO DECIDE EARLY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8357616" y="3072384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engine class</a:t>
            </a:r>
            <a:endParaRPr lang="en-US" sz="940" dirty="0"/>
          </a:p>
        </p:txBody>
      </p:sp>
      <p:sp>
        <p:nvSpPr>
          <p:cNvPr id="50" name="Text 48"/>
          <p:cNvSpPr txBox="1"/>
          <p:nvPr/>
        </p:nvSpPr>
        <p:spPr>
          <a:xfrm>
            <a:off x="8357616" y="324612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Variable depth traversal is native in a property graph and hand rolled in SQL. Any technology, yes. Any technology equally well, no.</a:t>
            </a:r>
            <a:endParaRPr lang="en-US" sz="840" dirty="0"/>
          </a:p>
        </p:txBody>
      </p:sp>
      <p:sp>
        <p:nvSpPr>
          <p:cNvPr id="51" name="Text 49"/>
          <p:cNvSpPr txBox="1"/>
          <p:nvPr/>
        </p:nvSpPr>
        <p:spPr>
          <a:xfrm>
            <a:off x="8357616" y="3648456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identity spine</a:t>
            </a:r>
            <a:endParaRPr lang="en-US" sz="940" dirty="0"/>
          </a:p>
        </p:txBody>
      </p:sp>
      <p:sp>
        <p:nvSpPr>
          <p:cNvPr id="52" name="Text 50"/>
          <p:cNvSpPr txBox="1"/>
          <p:nvPr/>
        </p:nvSpPr>
        <p:spPr>
          <a:xfrm>
            <a:off x="8357616" y="3822192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Per industry, and not equal. A VIN is a better key than anything healthcare has.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8357616" y="4224528"/>
            <a:ext cx="3538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regulatory regime</a:t>
            </a:r>
            <a:endParaRPr lang="en-US" sz="940" dirty="0"/>
          </a:p>
        </p:txBody>
      </p:sp>
      <p:sp>
        <p:nvSpPr>
          <p:cNvPr id="54" name="Text 52"/>
          <p:cNvSpPr txBox="1"/>
          <p:nvPr/>
        </p:nvSpPr>
        <p:spPr>
          <a:xfrm>
            <a:off x="8357616" y="4398264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4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HIPAA, GDPR and ePrivacy, or right to repair. The boundary layer stays, its rules do not.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109728" y="5486400"/>
            <a:ext cx="11969496" cy="493776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74320" y="5660136"/>
            <a:ext cx="91440" cy="91440"/>
          </a:xfrm>
          <a:prstGeom prst="rect">
            <a:avLst/>
          </a:prstGeom>
          <a:solidFill>
            <a:srgbClr val="5FD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 txBox="1"/>
          <p:nvPr/>
        </p:nvSpPr>
        <p:spPr>
          <a:xfrm>
            <a:off x="457200" y="5486400"/>
            <a:ext cx="11521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Answer to the question as asked: it does not fit everything, and the places it does not are predictable from six questions you can ask in a first meeting.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9728" y="6071616"/>
            <a:ext cx="11969496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92608" y="6272784"/>
            <a:ext cx="91440" cy="91440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 txBox="1"/>
          <p:nvPr/>
        </p:nvSpPr>
        <p:spPr>
          <a:xfrm>
            <a:off x="493776" y="6071616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The commercial shape: build the core once, sell the pack per industry. A new market is a five part declaration and a set of connectors, not a new build, which is what turns a delivered project into a repeatable practice.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363200" y="0"/>
            <a:ext cx="1828800" cy="201168"/>
          </a:xfrm>
          <a:prstGeom prst="rect">
            <a:avLst/>
          </a:prstGeom>
          <a:solidFill>
            <a:srgbClr val="5F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656832"/>
            <a:ext cx="1828800" cy="201168"/>
          </a:xfrm>
          <a:prstGeom prst="rect">
            <a:avLst/>
          </a:prstGeom>
          <a:solidFill>
            <a:srgbClr val="5F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20700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spc="140">
                <a:solidFill>
                  <a:srgbClr val="5FD0C0"/>
                </a:solidFill>
                <a:latin typeface="Trenda IG Display Semibold"/>
              </a:rPr>
              <a:t>FROM FRAMEWORK TO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300">
                <a:solidFill>
                  <a:srgbClr val="FFFFFF"/>
                </a:solidFill>
                <a:latin typeface="Trenda IG Display Bold"/>
              </a:rPr>
              <a:t>One framework. Two solutions, for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9CFCC"/>
                </a:solidFill>
                <a:latin typeface="Trenda IG Text"/>
              </a:rPr>
              <a:t>What follows are two working examples of the same nine layers, built for two unrelated domains. Same engine, different declarations.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10128"/>
            <a:ext cx="4937760" cy="1591056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14400" y="3310128"/>
            <a:ext cx="4937760" cy="54864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352958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>
                <a:solidFill>
                  <a:srgbClr val="6A1B9A"/>
                </a:solidFill>
                <a:latin typeface="Trenda IG Display 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273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spc="120">
                <a:solidFill>
                  <a:srgbClr val="A9B4C2"/>
                </a:solidFill>
                <a:latin typeface="Trenda IG Text Semibold"/>
              </a:rPr>
              <a:t>SAMPLE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856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Trenda IG Display Bold"/>
              </a:rPr>
              <a:t>Engineering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24528"/>
            <a:ext cx="43891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D8DEE6"/>
                </a:solidFill>
                <a:latin typeface="Trenda IG Text"/>
              </a:rPr>
              <a:t>Requirements, code, tests and releases across six systems of record. Demand is a requirement. Supply is a component that implements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310128"/>
            <a:ext cx="4937760" cy="1591056"/>
          </a:xfrm>
          <a:prstGeom prst="rect">
            <a:avLst/>
          </a:prstGeom>
          <a:solidFill>
            <a:srgbClr val="16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72200" y="3310128"/>
            <a:ext cx="4937760" cy="54864"/>
          </a:xfrm>
          <a:prstGeom prst="rect">
            <a:avLst/>
          </a:prstGeom>
          <a:solidFill>
            <a:srgbClr val="007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352958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>
                <a:solidFill>
                  <a:srgbClr val="00757F"/>
                </a:solidFill>
                <a:latin typeface="Trenda IG Display 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0273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spc="120">
                <a:solidFill>
                  <a:srgbClr val="A9B4C2"/>
                </a:solidFill>
                <a:latin typeface="Trenda IG Text Semibold"/>
              </a:rPr>
              <a:t>SAMPLE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856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Trenda IG Display Bold"/>
              </a:rPr>
              <a:t>Clinical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24528"/>
            <a:ext cx="43891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D8DEE6"/>
                </a:solidFill>
                <a:latin typeface="Trenda IG Text"/>
              </a:rPr>
              <a:t>Providers, facilities and patient demand across seven sources, behind a privacy boundary. Demand is a patient in a geography. Supply is a credentialed provider.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742432"/>
            <a:ext cx="91440" cy="91440"/>
          </a:xfrm>
          <a:prstGeom prst="rect">
            <a:avLst/>
          </a:prstGeom>
          <a:solidFill>
            <a:srgbClr val="5F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15568" y="56692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>
                <a:solidFill>
                  <a:srgbClr val="C9CFCC"/>
                </a:solidFill>
                <a:latin typeface="Trenda IG Text"/>
              </a:rPr>
              <a:t>Read them as evidence that the abstraction holds, not as two separate products. Nine layers, nine layers. Only the five declarations differ.</a:t>
            </a:r>
          </a:p>
        </p:txBody>
      </p:sp>
    </p:spTree>
    <p:extLst>
      <p:ext uri="{BB962C8B-B14F-4D97-AF65-F5344CB8AC3E}">
        <p14:creationId xmlns:p14="http://schemas.microsoft.com/office/powerpoint/2010/main" val="158687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2464" y="109728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0E1B2E"/>
          </a:solidFill>
          <a:ln w="12700">
            <a:solidFill>
              <a:srgbClr val="0E1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3734753" y="292608"/>
            <a:ext cx="4672584" cy="20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5FD0E8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Engineering Context Knowledge Graph Architecture</a:t>
            </a:r>
            <a:endParaRPr lang="en-US" sz="120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758184" y="429768"/>
            <a:ext cx="4672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AEBED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systems → connectors → ingestors → domain model → JSON storage → graph export → engine → Codex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"/>
            <a:ext cx="343814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74320" y="146304"/>
            <a:ext cx="3218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0" kern="0" spc="3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SIX AUTHORITATIVE SYSTEMS OF RECORD</a:t>
            </a:r>
            <a:endParaRPr lang="en-US" sz="74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92608"/>
            <a:ext cx="137160" cy="137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1168" y="4389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Jira</a:t>
            </a:r>
            <a:endParaRPr lang="en-US" sz="58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92608"/>
            <a:ext cx="137160" cy="137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4389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Confluence</a:t>
            </a:r>
            <a:endParaRPr lang="en-US" sz="58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176" y="292608"/>
            <a:ext cx="137160" cy="137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61872" y="4389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Salesforce</a:t>
            </a:r>
            <a:endParaRPr lang="en-US" sz="58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8" y="292608"/>
            <a:ext cx="137160" cy="1371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92224" y="4389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Git</a:t>
            </a:r>
            <a:endParaRPr lang="en-US" sz="58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292608"/>
            <a:ext cx="137160" cy="1371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322576" y="4389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Copado</a:t>
            </a:r>
            <a:endParaRPr lang="en-US" sz="58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9232" y="292608"/>
            <a:ext cx="137160" cy="1371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2852928" y="4389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Drive</a:t>
            </a:r>
            <a:endParaRPr lang="en-US" sz="580" dirty="0"/>
          </a:p>
        </p:txBody>
      </p:sp>
      <p:sp>
        <p:nvSpPr>
          <p:cNvPr id="20" name="Text 12"/>
          <p:cNvSpPr txBox="1"/>
          <p:nvPr/>
        </p:nvSpPr>
        <p:spPr>
          <a:xfrm>
            <a:off x="274320" y="553212"/>
            <a:ext cx="3218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5C6E85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read-only · hashed · provenance-tagged</a:t>
            </a:r>
            <a:endParaRPr lang="en-US" sz="600" dirty="0"/>
          </a:p>
        </p:txBody>
      </p:sp>
      <p:sp>
        <p:nvSpPr>
          <p:cNvPr id="21" name="Shape 13"/>
          <p:cNvSpPr/>
          <p:nvPr/>
        </p:nvSpPr>
        <p:spPr>
          <a:xfrm>
            <a:off x="8586216" y="109728"/>
            <a:ext cx="343814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4"/>
          <p:cNvSpPr txBox="1"/>
          <p:nvPr/>
        </p:nvSpPr>
        <p:spPr>
          <a:xfrm>
            <a:off x="8695944" y="146304"/>
            <a:ext cx="3218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0" kern="0" spc="3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GOVERNED DELIVERY OUTCOMES</a:t>
            </a:r>
            <a:endParaRPr lang="en-US" sz="740" dirty="0"/>
          </a:p>
        </p:txBody>
      </p:sp>
      <p:sp>
        <p:nvSpPr>
          <p:cNvPr id="23" name="Text 15"/>
          <p:cNvSpPr txBox="1"/>
          <p:nvPr/>
        </p:nvSpPr>
        <p:spPr>
          <a:xfrm>
            <a:off x="8695944" y="29260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8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Impact analysis · reuse detection · risk-routed approval · generated change + tests · complete audit evidence</a:t>
            </a:r>
            <a:endParaRPr lang="en-US" sz="680" dirty="0"/>
          </a:p>
        </p:txBody>
      </p:sp>
      <p:sp>
        <p:nvSpPr>
          <p:cNvPr id="24" name="Text 16"/>
          <p:cNvSpPr txBox="1"/>
          <p:nvPr/>
        </p:nvSpPr>
        <p:spPr>
          <a:xfrm>
            <a:off x="8695944" y="553212"/>
            <a:ext cx="3218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5C6E85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AI analyzes and builds · humans keep every decision</a:t>
            </a:r>
            <a:endParaRPr lang="en-US" sz="600" dirty="0"/>
          </a:p>
        </p:txBody>
      </p:sp>
      <p:sp>
        <p:nvSpPr>
          <p:cNvPr id="25" name="Shape 17"/>
          <p:cNvSpPr/>
          <p:nvPr/>
        </p:nvSpPr>
        <p:spPr>
          <a:xfrm>
            <a:off x="164592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EAF1FB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164592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1B6BC0"/>
          </a:solidFill>
          <a:ln w="12700">
            <a:solidFill>
              <a:srgbClr val="1B6B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242" y="754380"/>
            <a:ext cx="137160" cy="1371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201168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1</a:t>
            </a:r>
            <a:endParaRPr lang="en-US" sz="560" dirty="0"/>
          </a:p>
        </p:txBody>
      </p:sp>
      <p:sp>
        <p:nvSpPr>
          <p:cNvPr id="29" name="Text 20"/>
          <p:cNvSpPr txBox="1"/>
          <p:nvPr/>
        </p:nvSpPr>
        <p:spPr>
          <a:xfrm>
            <a:off x="192024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Source Systems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192024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Authoritative systems of record</a:t>
            </a:r>
            <a:endParaRPr lang="en-US" sz="520" dirty="0"/>
          </a:p>
        </p:txBody>
      </p:sp>
      <p:sp>
        <p:nvSpPr>
          <p:cNvPr id="31" name="Shape 22"/>
          <p:cNvSpPr/>
          <p:nvPr/>
        </p:nvSpPr>
        <p:spPr>
          <a:xfrm>
            <a:off x="1558366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210312" y="138988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421892"/>
            <a:ext cx="96012" cy="9601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79476" y="1415491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Jira Cloud</a:t>
            </a:r>
            <a:endParaRPr lang="en-US" sz="620" dirty="0"/>
          </a:p>
        </p:txBody>
      </p:sp>
      <p:sp>
        <p:nvSpPr>
          <p:cNvPr id="35" name="Text 25"/>
          <p:cNvSpPr txBox="1"/>
          <p:nvPr/>
        </p:nvSpPr>
        <p:spPr>
          <a:xfrm>
            <a:off x="256032" y="154990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User stories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Acceptance criteria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Epics, components, labels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Kanban &amp; sprint history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Linked issues &amp; defects</a:t>
            </a:r>
            <a:endParaRPr lang="en-US" sz="550" dirty="0"/>
          </a:p>
        </p:txBody>
      </p:sp>
      <p:sp>
        <p:nvSpPr>
          <p:cNvPr id="36" name="Shape 26"/>
          <p:cNvSpPr/>
          <p:nvPr/>
        </p:nvSpPr>
        <p:spPr>
          <a:xfrm>
            <a:off x="210312" y="2059686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091690"/>
            <a:ext cx="96012" cy="9601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79476" y="2085289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Confluence</a:t>
            </a:r>
            <a:endParaRPr lang="en-US" sz="620" dirty="0"/>
          </a:p>
        </p:txBody>
      </p:sp>
      <p:sp>
        <p:nvSpPr>
          <p:cNvPr id="39" name="Text 28"/>
          <p:cNvSpPr txBox="1"/>
          <p:nvPr/>
        </p:nvSpPr>
        <p:spPr>
          <a:xfrm>
            <a:off x="256032" y="2219706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Functional design pages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Technical design pages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Business-rule tables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Integration diagrams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HFN / HPF runbooks</a:t>
            </a:r>
            <a:endParaRPr lang="en-US" sz="550" dirty="0"/>
          </a:p>
        </p:txBody>
      </p:sp>
      <p:sp>
        <p:nvSpPr>
          <p:cNvPr id="40" name="Shape 29"/>
          <p:cNvSpPr/>
          <p:nvPr/>
        </p:nvSpPr>
        <p:spPr>
          <a:xfrm>
            <a:off x="210312" y="2729484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2761488"/>
            <a:ext cx="96012" cy="96012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379476" y="2755087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Salesforce</a:t>
            </a:r>
            <a:endParaRPr lang="en-US" sz="620" dirty="0"/>
          </a:p>
        </p:txBody>
      </p:sp>
      <p:sp>
        <p:nvSpPr>
          <p:cNvPr id="43" name="Text 31"/>
          <p:cNvSpPr txBox="1"/>
          <p:nvPr/>
        </p:nvSpPr>
        <p:spPr>
          <a:xfrm>
            <a:off x="256032" y="2889504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Health Cloud org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HCP / Account, Facility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HPF, HFN, CPA, Fee Sched.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Fields, record types, rels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Flows, Apex, LWC, perm sets</a:t>
            </a:r>
            <a:endParaRPr lang="en-US" sz="550" dirty="0"/>
          </a:p>
        </p:txBody>
      </p:sp>
      <p:sp>
        <p:nvSpPr>
          <p:cNvPr id="44" name="Shape 32"/>
          <p:cNvSpPr/>
          <p:nvPr/>
        </p:nvSpPr>
        <p:spPr>
          <a:xfrm>
            <a:off x="210312" y="3399282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" y="3431286"/>
            <a:ext cx="96012" cy="9601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379476" y="3424885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Git (SFDX repo)</a:t>
            </a:r>
            <a:endParaRPr lang="en-US" sz="620" dirty="0"/>
          </a:p>
        </p:txBody>
      </p:sp>
      <p:sp>
        <p:nvSpPr>
          <p:cNvPr id="47" name="Text 34"/>
          <p:cNvSpPr txBox="1"/>
          <p:nvPr/>
        </p:nvSpPr>
        <p:spPr>
          <a:xfrm>
            <a:off x="256032" y="3559302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force-app source tree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 classes &amp; triggers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LWC bundles &amp; meta XML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 test classes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Commits, branches, tags</a:t>
            </a:r>
            <a:endParaRPr lang="en-US" sz="550" dirty="0"/>
          </a:p>
        </p:txBody>
      </p:sp>
      <p:sp>
        <p:nvSpPr>
          <p:cNvPr id="48" name="Shape 35"/>
          <p:cNvSpPr/>
          <p:nvPr/>
        </p:nvSpPr>
        <p:spPr>
          <a:xfrm>
            <a:off x="210312" y="4069080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" y="4101084"/>
            <a:ext cx="96012" cy="96012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379476" y="4094683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Copado</a:t>
            </a:r>
            <a:endParaRPr lang="en-US" sz="620" dirty="0"/>
          </a:p>
        </p:txBody>
      </p:sp>
      <p:sp>
        <p:nvSpPr>
          <p:cNvPr id="51" name="Text 37"/>
          <p:cNvSpPr txBox="1"/>
          <p:nvPr/>
        </p:nvSpPr>
        <p:spPr>
          <a:xfrm>
            <a:off x="256032" y="4229100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User stories &amp; promotions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Deployment records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Robotic testing suites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Regression test runs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DEV → SIT → UAT → PROD</a:t>
            </a:r>
            <a:endParaRPr lang="en-US" sz="550" dirty="0"/>
          </a:p>
        </p:txBody>
      </p:sp>
      <p:sp>
        <p:nvSpPr>
          <p:cNvPr id="52" name="Shape 38"/>
          <p:cNvSpPr/>
          <p:nvPr/>
        </p:nvSpPr>
        <p:spPr>
          <a:xfrm>
            <a:off x="210312" y="473887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" y="4770882"/>
            <a:ext cx="96012" cy="96012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379476" y="4764481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1B6B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Google Drive</a:t>
            </a:r>
            <a:endParaRPr lang="en-US" sz="620" dirty="0"/>
          </a:p>
        </p:txBody>
      </p:sp>
      <p:sp>
        <p:nvSpPr>
          <p:cNvPr id="55" name="Text 40"/>
          <p:cNvSpPr txBox="1"/>
          <p:nvPr/>
        </p:nvSpPr>
        <p:spPr>
          <a:xfrm>
            <a:off x="256032" y="489889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Shared delivery documents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Spec &amp; mapping sheets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Test-data workbooks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Evidence exports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Decision &amp; meeting notes</a:t>
            </a:r>
            <a:endParaRPr lang="en-US" sz="550" dirty="0"/>
          </a:p>
        </p:txBody>
      </p:sp>
      <p:sp>
        <p:nvSpPr>
          <p:cNvPr id="56" name="Shape 41"/>
          <p:cNvSpPr/>
          <p:nvPr/>
        </p:nvSpPr>
        <p:spPr>
          <a:xfrm>
            <a:off x="210312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1B6BC0"/>
          </a:solidFill>
          <a:ln w="12700">
            <a:solidFill>
              <a:srgbClr val="1B6B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42"/>
          <p:cNvSpPr txBox="1"/>
          <p:nvPr/>
        </p:nvSpPr>
        <p:spPr>
          <a:xfrm>
            <a:off x="256032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58" name="Text 43"/>
          <p:cNvSpPr txBox="1"/>
          <p:nvPr/>
        </p:nvSpPr>
        <p:spPr>
          <a:xfrm>
            <a:off x="256032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delivery fact in one place, no more tribal knowledge</a:t>
            </a:r>
            <a:endParaRPr lang="en-US" sz="520" dirty="0"/>
          </a:p>
        </p:txBody>
      </p:sp>
      <p:sp>
        <p:nvSpPr>
          <p:cNvPr id="59" name="Shape 44"/>
          <p:cNvSpPr/>
          <p:nvPr/>
        </p:nvSpPr>
        <p:spPr>
          <a:xfrm>
            <a:off x="1660779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E5F4F1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45"/>
          <p:cNvSpPr/>
          <p:nvPr/>
        </p:nvSpPr>
        <p:spPr>
          <a:xfrm>
            <a:off x="1660779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5428" y="754380"/>
            <a:ext cx="137160" cy="137160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1697355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2</a:t>
            </a:r>
            <a:endParaRPr lang="en-US" sz="560" dirty="0"/>
          </a:p>
        </p:txBody>
      </p:sp>
      <p:sp>
        <p:nvSpPr>
          <p:cNvPr id="63" name="Text 47"/>
          <p:cNvSpPr txBox="1"/>
          <p:nvPr/>
        </p:nvSpPr>
        <p:spPr>
          <a:xfrm>
            <a:off x="1688211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Source Connectors</a:t>
            </a:r>
            <a:endParaRPr lang="en-US" sz="800" dirty="0"/>
          </a:p>
        </p:txBody>
      </p:sp>
      <p:sp>
        <p:nvSpPr>
          <p:cNvPr id="64" name="Text 48"/>
          <p:cNvSpPr txBox="1"/>
          <p:nvPr/>
        </p:nvSpPr>
        <p:spPr>
          <a:xfrm>
            <a:off x="1688211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AI Read Service · read-only</a:t>
            </a:r>
            <a:endParaRPr lang="en-US" sz="520" dirty="0"/>
          </a:p>
        </p:txBody>
      </p:sp>
      <p:sp>
        <p:nvSpPr>
          <p:cNvPr id="65" name="Shape 49"/>
          <p:cNvSpPr/>
          <p:nvPr/>
        </p:nvSpPr>
        <p:spPr>
          <a:xfrm>
            <a:off x="3054553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50"/>
          <p:cNvSpPr/>
          <p:nvPr/>
        </p:nvSpPr>
        <p:spPr>
          <a:xfrm>
            <a:off x="1706499" y="138988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19" y="1421892"/>
            <a:ext cx="96012" cy="96012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1875663" y="1415491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JiraSourceConnector</a:t>
            </a:r>
            <a:endParaRPr lang="en-US" sz="620" dirty="0"/>
          </a:p>
        </p:txBody>
      </p:sp>
      <p:sp>
        <p:nvSpPr>
          <p:cNvPr id="69" name="Text 52"/>
          <p:cNvSpPr txBox="1"/>
          <p:nvPr/>
        </p:nvSpPr>
        <p:spPr>
          <a:xfrm>
            <a:off x="1752219" y="154990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OAuth 2.0 (3LO) / API token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Read-only scopes only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JQL delta pull (lastSyncAt)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Paging, 429 backoff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SHA-256 per issue payload</a:t>
            </a:r>
            <a:endParaRPr lang="en-US" sz="550" dirty="0"/>
          </a:p>
        </p:txBody>
      </p:sp>
      <p:sp>
        <p:nvSpPr>
          <p:cNvPr id="70" name="Shape 53"/>
          <p:cNvSpPr/>
          <p:nvPr/>
        </p:nvSpPr>
        <p:spPr>
          <a:xfrm>
            <a:off x="1706499" y="2059686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219" y="2091690"/>
            <a:ext cx="96012" cy="96012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1875663" y="2085289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ConfluenceConnector</a:t>
            </a:r>
            <a:endParaRPr lang="en-US" sz="620" dirty="0"/>
          </a:p>
        </p:txBody>
      </p:sp>
      <p:sp>
        <p:nvSpPr>
          <p:cNvPr id="73" name="Text 55"/>
          <p:cNvSpPr txBox="1"/>
          <p:nvPr/>
        </p:nvSpPr>
        <p:spPr>
          <a:xfrm>
            <a:off x="1752219" y="2219706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PAT / API token auth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Space + label scoped pull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HTML via body.storage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Version + lastUpdated delta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Rate limited · SHA-256</a:t>
            </a:r>
            <a:endParaRPr lang="en-US" sz="550" dirty="0"/>
          </a:p>
        </p:txBody>
      </p:sp>
      <p:sp>
        <p:nvSpPr>
          <p:cNvPr id="74" name="Shape 56"/>
          <p:cNvSpPr/>
          <p:nvPr/>
        </p:nvSpPr>
        <p:spPr>
          <a:xfrm>
            <a:off x="1706499" y="2729484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219" y="2761488"/>
            <a:ext cx="96012" cy="96012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1875663" y="2755087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SalesforceConnector</a:t>
            </a:r>
            <a:endParaRPr lang="en-US" sz="620" dirty="0"/>
          </a:p>
        </p:txBody>
      </p:sp>
      <p:sp>
        <p:nvSpPr>
          <p:cNvPr id="77" name="Text 58"/>
          <p:cNvSpPr txBox="1"/>
          <p:nvPr/>
        </p:nvSpPr>
        <p:spPr>
          <a:xfrm>
            <a:off x="1752219" y="2889504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Connected App JWT bearer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Read-only perm set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No record-data access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Tooling + Metadata API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MetadataComponentDep.</a:t>
            </a:r>
            <a:endParaRPr lang="en-US" sz="550" dirty="0"/>
          </a:p>
        </p:txBody>
      </p:sp>
      <p:sp>
        <p:nvSpPr>
          <p:cNvPr id="78" name="Shape 59"/>
          <p:cNvSpPr/>
          <p:nvPr/>
        </p:nvSpPr>
        <p:spPr>
          <a:xfrm>
            <a:off x="1706499" y="3399282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219" y="3431286"/>
            <a:ext cx="96012" cy="96012"/>
          </a:xfrm>
          <a:prstGeom prst="rect">
            <a:avLst/>
          </a:prstGeom>
        </p:spPr>
      </p:pic>
      <p:sp>
        <p:nvSpPr>
          <p:cNvPr id="80" name="Text 60"/>
          <p:cNvSpPr txBox="1"/>
          <p:nvPr/>
        </p:nvSpPr>
        <p:spPr>
          <a:xfrm>
            <a:off x="1875663" y="3424885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GitSourceConnector</a:t>
            </a:r>
            <a:endParaRPr lang="en-US" sz="620" dirty="0"/>
          </a:p>
        </p:txBody>
      </p:sp>
      <p:sp>
        <p:nvSpPr>
          <p:cNvPr id="81" name="Text 61"/>
          <p:cNvSpPr txBox="1"/>
          <p:nvPr/>
        </p:nvSpPr>
        <p:spPr>
          <a:xfrm>
            <a:off x="1752219" y="3559302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SSH deploy key / read PAT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Shallow clone + fetch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Branch &amp; tag traversal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Commit SHA, author, date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Per-file SHA-256, no push</a:t>
            </a:r>
            <a:endParaRPr lang="en-US" sz="550" dirty="0"/>
          </a:p>
        </p:txBody>
      </p:sp>
      <p:sp>
        <p:nvSpPr>
          <p:cNvPr id="82" name="Shape 62"/>
          <p:cNvSpPr/>
          <p:nvPr/>
        </p:nvSpPr>
        <p:spPr>
          <a:xfrm>
            <a:off x="1706499" y="4069080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3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219" y="4101084"/>
            <a:ext cx="96012" cy="96012"/>
          </a:xfrm>
          <a:prstGeom prst="rect">
            <a:avLst/>
          </a:prstGeom>
        </p:spPr>
      </p:pic>
      <p:sp>
        <p:nvSpPr>
          <p:cNvPr id="84" name="Text 63"/>
          <p:cNvSpPr txBox="1"/>
          <p:nvPr/>
        </p:nvSpPr>
        <p:spPr>
          <a:xfrm>
            <a:off x="1875663" y="4094683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CopadoConnector</a:t>
            </a:r>
            <a:endParaRPr lang="en-US" sz="620" dirty="0"/>
          </a:p>
        </p:txBody>
      </p:sp>
      <p:sp>
        <p:nvSpPr>
          <p:cNvPr id="85" name="Text 64"/>
          <p:cNvSpPr txBox="1"/>
          <p:nvPr/>
        </p:nvSpPr>
        <p:spPr>
          <a:xfrm>
            <a:off x="1752219" y="4229100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OAuth 2.0 client creds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Read-only API user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Stories + promotions pull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Robotic + regression runs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Deployment records per env</a:t>
            </a:r>
            <a:endParaRPr lang="en-US" sz="550" dirty="0"/>
          </a:p>
        </p:txBody>
      </p:sp>
      <p:sp>
        <p:nvSpPr>
          <p:cNvPr id="86" name="Shape 65"/>
          <p:cNvSpPr/>
          <p:nvPr/>
        </p:nvSpPr>
        <p:spPr>
          <a:xfrm>
            <a:off x="1706499" y="473887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7" name="Image 1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2219" y="4770882"/>
            <a:ext cx="96012" cy="96012"/>
          </a:xfrm>
          <a:prstGeom prst="rect">
            <a:avLst/>
          </a:prstGeom>
        </p:spPr>
      </p:pic>
      <p:sp>
        <p:nvSpPr>
          <p:cNvPr id="88" name="Text 66"/>
          <p:cNvSpPr txBox="1"/>
          <p:nvPr/>
        </p:nvSpPr>
        <p:spPr>
          <a:xfrm>
            <a:off x="1875663" y="4764481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GoogleDriveConnector</a:t>
            </a:r>
            <a:endParaRPr lang="en-US" sz="620" dirty="0"/>
          </a:p>
        </p:txBody>
      </p:sp>
      <p:sp>
        <p:nvSpPr>
          <p:cNvPr id="89" name="Text 67"/>
          <p:cNvSpPr txBox="1"/>
          <p:nvPr/>
        </p:nvSpPr>
        <p:spPr>
          <a:xfrm>
            <a:off x="1752219" y="489889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OAuth 2.0 service account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Drive API v3, shared drive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files.list + files.export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Docs / Sheets → text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Change-token delta sync</a:t>
            </a:r>
            <a:endParaRPr lang="en-US" sz="550" dirty="0"/>
          </a:p>
        </p:txBody>
      </p:sp>
      <p:sp>
        <p:nvSpPr>
          <p:cNvPr id="90" name="Shape 68"/>
          <p:cNvSpPr/>
          <p:nvPr/>
        </p:nvSpPr>
        <p:spPr>
          <a:xfrm>
            <a:off x="1706499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0E8A7D"/>
          </a:solidFill>
          <a:ln w="12700">
            <a:solidFill>
              <a:srgbClr val="0E8A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69"/>
          <p:cNvSpPr txBox="1"/>
          <p:nvPr/>
        </p:nvSpPr>
        <p:spPr>
          <a:xfrm>
            <a:off x="1752219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92" name="Text 70"/>
          <p:cNvSpPr txBox="1"/>
          <p:nvPr/>
        </p:nvSpPr>
        <p:spPr>
          <a:xfrm>
            <a:off x="1752219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Safe, repeatable reads, no writes, no production credentials</a:t>
            </a:r>
            <a:endParaRPr lang="en-US" sz="520" dirty="0"/>
          </a:p>
        </p:txBody>
      </p:sp>
      <p:sp>
        <p:nvSpPr>
          <p:cNvPr id="93" name="Shape 71"/>
          <p:cNvSpPr/>
          <p:nvPr/>
        </p:nvSpPr>
        <p:spPr>
          <a:xfrm>
            <a:off x="3156966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F0EBFA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72"/>
          <p:cNvSpPr/>
          <p:nvPr/>
        </p:nvSpPr>
        <p:spPr>
          <a:xfrm>
            <a:off x="3156966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7A4FC0"/>
          </a:solidFill>
          <a:ln w="12700">
            <a:solidFill>
              <a:srgbClr val="7A4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81616" y="754380"/>
            <a:ext cx="137160" cy="137160"/>
          </a:xfrm>
          <a:prstGeom prst="rect">
            <a:avLst/>
          </a:prstGeom>
        </p:spPr>
      </p:pic>
      <p:sp>
        <p:nvSpPr>
          <p:cNvPr id="96" name="Text 73"/>
          <p:cNvSpPr txBox="1"/>
          <p:nvPr/>
        </p:nvSpPr>
        <p:spPr>
          <a:xfrm>
            <a:off x="3193542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3</a:t>
            </a:r>
            <a:endParaRPr lang="en-US" sz="560" dirty="0"/>
          </a:p>
        </p:txBody>
      </p:sp>
      <p:sp>
        <p:nvSpPr>
          <p:cNvPr id="97" name="Text 74"/>
          <p:cNvSpPr txBox="1"/>
          <p:nvPr/>
        </p:nvSpPr>
        <p:spPr>
          <a:xfrm>
            <a:off x="3184398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Ingestors</a:t>
            </a:r>
            <a:endParaRPr lang="en-US" sz="800" dirty="0"/>
          </a:p>
        </p:txBody>
      </p:sp>
      <p:sp>
        <p:nvSpPr>
          <p:cNvPr id="98" name="Text 75"/>
          <p:cNvSpPr txBox="1"/>
          <p:nvPr/>
        </p:nvSpPr>
        <p:spPr>
          <a:xfrm>
            <a:off x="3184398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Parse → domain model</a:t>
            </a:r>
            <a:endParaRPr lang="en-US" sz="520" dirty="0"/>
          </a:p>
        </p:txBody>
      </p:sp>
      <p:sp>
        <p:nvSpPr>
          <p:cNvPr id="99" name="Shape 76"/>
          <p:cNvSpPr/>
          <p:nvPr/>
        </p:nvSpPr>
        <p:spPr>
          <a:xfrm>
            <a:off x="4550740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77"/>
          <p:cNvSpPr/>
          <p:nvPr/>
        </p:nvSpPr>
        <p:spPr>
          <a:xfrm>
            <a:off x="3202686" y="138988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1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06" y="1421892"/>
            <a:ext cx="96012" cy="96012"/>
          </a:xfrm>
          <a:prstGeom prst="rect">
            <a:avLst/>
          </a:prstGeom>
        </p:spPr>
      </p:pic>
      <p:sp>
        <p:nvSpPr>
          <p:cNvPr id="102" name="Text 78"/>
          <p:cNvSpPr txBox="1"/>
          <p:nvPr/>
        </p:nvSpPr>
        <p:spPr>
          <a:xfrm>
            <a:off x="3371850" y="1415491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Jira → Requirements</a:t>
            </a:r>
            <a:endParaRPr lang="en-US" sz="620" dirty="0"/>
          </a:p>
        </p:txBody>
      </p:sp>
      <p:sp>
        <p:nvSpPr>
          <p:cNvPr id="103" name="Text 79"/>
          <p:cNvSpPr txBox="1"/>
          <p:nvPr/>
        </p:nvSpPr>
        <p:spPr>
          <a:xfrm>
            <a:off x="3248406" y="154990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ADF JSON parsing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Requirement extraction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Given / When / Then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Capability tagging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Provenance: key + hash</a:t>
            </a:r>
            <a:endParaRPr lang="en-US" sz="550" dirty="0"/>
          </a:p>
        </p:txBody>
      </p:sp>
      <p:sp>
        <p:nvSpPr>
          <p:cNvPr id="104" name="Shape 80"/>
          <p:cNvSpPr/>
          <p:nvPr/>
        </p:nvSpPr>
        <p:spPr>
          <a:xfrm>
            <a:off x="3202686" y="2059686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5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406" y="2091690"/>
            <a:ext cx="96012" cy="96012"/>
          </a:xfrm>
          <a:prstGeom prst="rect">
            <a:avLst/>
          </a:prstGeom>
        </p:spPr>
      </p:pic>
      <p:sp>
        <p:nvSpPr>
          <p:cNvPr id="106" name="Text 81"/>
          <p:cNvSpPr txBox="1"/>
          <p:nvPr/>
        </p:nvSpPr>
        <p:spPr>
          <a:xfrm>
            <a:off x="3371850" y="2085289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Confluence → Design</a:t>
            </a:r>
            <a:endParaRPr lang="en-US" sz="620" dirty="0"/>
          </a:p>
        </p:txBody>
      </p:sp>
      <p:sp>
        <p:nvSpPr>
          <p:cNvPr id="107" name="Text 82"/>
          <p:cNvSpPr txBox="1"/>
          <p:nvPr/>
        </p:nvSpPr>
        <p:spPr>
          <a:xfrm>
            <a:off x="3248406" y="2219706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Jsoup HTML parsing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Sections H1–H4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Tables: headers, rows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Business-rule sentences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Provenance: id, version</a:t>
            </a:r>
            <a:endParaRPr lang="en-US" sz="550" dirty="0"/>
          </a:p>
        </p:txBody>
      </p:sp>
      <p:sp>
        <p:nvSpPr>
          <p:cNvPr id="108" name="Shape 83"/>
          <p:cNvSpPr/>
          <p:nvPr/>
        </p:nvSpPr>
        <p:spPr>
          <a:xfrm>
            <a:off x="3202686" y="2729484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9" name="Image 2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406" y="2761488"/>
            <a:ext cx="96012" cy="96012"/>
          </a:xfrm>
          <a:prstGeom prst="rect">
            <a:avLst/>
          </a:prstGeom>
        </p:spPr>
      </p:pic>
      <p:sp>
        <p:nvSpPr>
          <p:cNvPr id="110" name="Text 84"/>
          <p:cNvSpPr txBox="1"/>
          <p:nvPr/>
        </p:nvSpPr>
        <p:spPr>
          <a:xfrm>
            <a:off x="3371850" y="2755087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Salesforce → Metadata</a:t>
            </a:r>
            <a:endParaRPr lang="en-US" sz="620" dirty="0"/>
          </a:p>
        </p:txBody>
      </p:sp>
      <p:sp>
        <p:nvSpPr>
          <p:cNvPr id="111" name="Text 85"/>
          <p:cNvSpPr txBox="1"/>
          <p:nvPr/>
        </p:nvSpPr>
        <p:spPr>
          <a:xfrm>
            <a:off x="3248406" y="2889504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describe() → objects, fields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Flow XML: elements, rules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Apex: SOQL, DML, sObjects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Validation rule formulas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Dependency API → edges</a:t>
            </a:r>
            <a:endParaRPr lang="en-US" sz="550" dirty="0"/>
          </a:p>
        </p:txBody>
      </p:sp>
      <p:sp>
        <p:nvSpPr>
          <p:cNvPr id="112" name="Shape 86"/>
          <p:cNvSpPr/>
          <p:nvPr/>
        </p:nvSpPr>
        <p:spPr>
          <a:xfrm>
            <a:off x="3202686" y="3399282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3" name="Image 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406" y="3431286"/>
            <a:ext cx="96012" cy="96012"/>
          </a:xfrm>
          <a:prstGeom prst="rect">
            <a:avLst/>
          </a:prstGeom>
        </p:spPr>
      </p:pic>
      <p:sp>
        <p:nvSpPr>
          <p:cNvPr id="114" name="Text 87"/>
          <p:cNvSpPr txBox="1"/>
          <p:nvPr/>
        </p:nvSpPr>
        <p:spPr>
          <a:xfrm>
            <a:off x="3371850" y="3424885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Git → Code</a:t>
            </a:r>
            <a:endParaRPr lang="en-US" sz="620" dirty="0"/>
          </a:p>
        </p:txBody>
      </p:sp>
      <p:sp>
        <p:nvSpPr>
          <p:cNvPr id="115" name="Text 88"/>
          <p:cNvSpPr txBox="1"/>
          <p:nvPr/>
        </p:nvSpPr>
        <p:spPr>
          <a:xfrm>
            <a:off x="3248406" y="3559302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SFDX source traversal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 parsing (@isTest)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 → covered class map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LWC + meta XML parsing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Provenance: path + commit</a:t>
            </a:r>
            <a:endParaRPr lang="en-US" sz="550" dirty="0"/>
          </a:p>
        </p:txBody>
      </p:sp>
      <p:sp>
        <p:nvSpPr>
          <p:cNvPr id="116" name="Shape 89"/>
          <p:cNvSpPr/>
          <p:nvPr/>
        </p:nvSpPr>
        <p:spPr>
          <a:xfrm>
            <a:off x="3202686" y="4069080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7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8406" y="4101084"/>
            <a:ext cx="96012" cy="96012"/>
          </a:xfrm>
          <a:prstGeom prst="rect">
            <a:avLst/>
          </a:prstGeom>
        </p:spPr>
      </p:pic>
      <p:sp>
        <p:nvSpPr>
          <p:cNvPr id="118" name="Text 90"/>
          <p:cNvSpPr txBox="1"/>
          <p:nvPr/>
        </p:nvSpPr>
        <p:spPr>
          <a:xfrm>
            <a:off x="3371850" y="4094683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Copado → Releases</a:t>
            </a:r>
            <a:endParaRPr lang="en-US" sz="620" dirty="0"/>
          </a:p>
        </p:txBody>
      </p:sp>
      <p:sp>
        <p:nvSpPr>
          <p:cNvPr id="119" name="Text 91"/>
          <p:cNvSpPr txBox="1"/>
          <p:nvPr/>
        </p:nvSpPr>
        <p:spPr>
          <a:xfrm>
            <a:off x="3248406" y="4229100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Story → component mapping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Promotion &amp; deployment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Robotic test → component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Regression + evidence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Environment / stage map</a:t>
            </a:r>
            <a:endParaRPr lang="en-US" sz="550" dirty="0"/>
          </a:p>
        </p:txBody>
      </p:sp>
      <p:sp>
        <p:nvSpPr>
          <p:cNvPr id="120" name="Shape 92"/>
          <p:cNvSpPr/>
          <p:nvPr/>
        </p:nvSpPr>
        <p:spPr>
          <a:xfrm>
            <a:off x="3202686" y="473887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1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8406" y="4770882"/>
            <a:ext cx="96012" cy="96012"/>
          </a:xfrm>
          <a:prstGeom prst="rect">
            <a:avLst/>
          </a:prstGeom>
        </p:spPr>
      </p:pic>
      <p:sp>
        <p:nvSpPr>
          <p:cNvPr id="122" name="Text 93"/>
          <p:cNvSpPr txBox="1"/>
          <p:nvPr/>
        </p:nvSpPr>
        <p:spPr>
          <a:xfrm>
            <a:off x="3371850" y="4764481"/>
            <a:ext cx="1080135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Drive → Documents</a:t>
            </a:r>
            <a:endParaRPr lang="en-US" sz="620" dirty="0"/>
          </a:p>
        </p:txBody>
      </p:sp>
      <p:sp>
        <p:nvSpPr>
          <p:cNvPr id="123" name="Text 94"/>
          <p:cNvSpPr txBox="1"/>
          <p:nvPr/>
        </p:nvSpPr>
        <p:spPr>
          <a:xfrm>
            <a:off x="3248406" y="489889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Docs / Sheets text export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Sheet table extraction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Spec → capability mapping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Test-data workbook parse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Provenance: id + revision</a:t>
            </a:r>
            <a:endParaRPr lang="en-US" sz="550" dirty="0"/>
          </a:p>
        </p:txBody>
      </p:sp>
      <p:sp>
        <p:nvSpPr>
          <p:cNvPr id="124" name="Shape 95"/>
          <p:cNvSpPr/>
          <p:nvPr/>
        </p:nvSpPr>
        <p:spPr>
          <a:xfrm>
            <a:off x="3202686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7A4FC0"/>
          </a:solidFill>
          <a:ln w="12700">
            <a:solidFill>
              <a:srgbClr val="7A4F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96"/>
          <p:cNvSpPr txBox="1"/>
          <p:nvPr/>
        </p:nvSpPr>
        <p:spPr>
          <a:xfrm>
            <a:off x="3248406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126" name="Text 97"/>
          <p:cNvSpPr txBox="1"/>
          <p:nvPr/>
        </p:nvSpPr>
        <p:spPr>
          <a:xfrm>
            <a:off x="3248406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Raw artifacts become structured facts with full provenance</a:t>
            </a:r>
            <a:endParaRPr lang="en-US" sz="520" dirty="0"/>
          </a:p>
        </p:txBody>
      </p:sp>
      <p:sp>
        <p:nvSpPr>
          <p:cNvPr id="127" name="Shape 98"/>
          <p:cNvSpPr/>
          <p:nvPr/>
        </p:nvSpPr>
        <p:spPr>
          <a:xfrm>
            <a:off x="4653153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FBE9F0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99"/>
          <p:cNvSpPr/>
          <p:nvPr/>
        </p:nvSpPr>
        <p:spPr>
          <a:xfrm>
            <a:off x="4653153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9" name="Image 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7802" y="754380"/>
            <a:ext cx="137160" cy="137160"/>
          </a:xfrm>
          <a:prstGeom prst="rect">
            <a:avLst/>
          </a:prstGeom>
        </p:spPr>
      </p:pic>
      <p:sp>
        <p:nvSpPr>
          <p:cNvPr id="130" name="Text 100"/>
          <p:cNvSpPr txBox="1"/>
          <p:nvPr/>
        </p:nvSpPr>
        <p:spPr>
          <a:xfrm>
            <a:off x="4689729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4</a:t>
            </a:r>
            <a:endParaRPr lang="en-US" sz="560" dirty="0"/>
          </a:p>
        </p:txBody>
      </p:sp>
      <p:sp>
        <p:nvSpPr>
          <p:cNvPr id="131" name="Text 101"/>
          <p:cNvSpPr txBox="1"/>
          <p:nvPr/>
        </p:nvSpPr>
        <p:spPr>
          <a:xfrm>
            <a:off x="4680585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Domain Model</a:t>
            </a:r>
            <a:endParaRPr lang="en-US" sz="800" dirty="0"/>
          </a:p>
        </p:txBody>
      </p:sp>
      <p:sp>
        <p:nvSpPr>
          <p:cNvPr id="132" name="Text 102"/>
          <p:cNvSpPr txBox="1"/>
          <p:nvPr/>
        </p:nvSpPr>
        <p:spPr>
          <a:xfrm>
            <a:off x="4680585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NetworkServicesContext</a:t>
            </a:r>
            <a:endParaRPr lang="en-US" sz="520" dirty="0"/>
          </a:p>
        </p:txBody>
      </p:sp>
      <p:sp>
        <p:nvSpPr>
          <p:cNvPr id="133" name="Shape 103"/>
          <p:cNvSpPr/>
          <p:nvPr/>
        </p:nvSpPr>
        <p:spPr>
          <a:xfrm>
            <a:off x="6046927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04"/>
          <p:cNvSpPr/>
          <p:nvPr/>
        </p:nvSpPr>
        <p:spPr>
          <a:xfrm>
            <a:off x="4698873" y="138988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05"/>
          <p:cNvSpPr txBox="1"/>
          <p:nvPr/>
        </p:nvSpPr>
        <p:spPr>
          <a:xfrm>
            <a:off x="4744593" y="1415491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Root object</a:t>
            </a:r>
            <a:endParaRPr lang="en-US" sz="620" dirty="0"/>
          </a:p>
        </p:txBody>
      </p:sp>
      <p:sp>
        <p:nvSpPr>
          <p:cNvPr id="136" name="Text 106"/>
          <p:cNvSpPr txBox="1"/>
          <p:nvPr/>
        </p:nvSpPr>
        <p:spPr>
          <a:xfrm>
            <a:off x="4744593" y="154990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applicationName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applicationVersion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createdAt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snapshotId (UUID per sync)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</a:t>
            </a:r>
            <a:endParaRPr lang="en-US" sz="550" dirty="0"/>
          </a:p>
        </p:txBody>
      </p:sp>
      <p:sp>
        <p:nvSpPr>
          <p:cNvPr id="137" name="Shape 107"/>
          <p:cNvSpPr/>
          <p:nvPr/>
        </p:nvSpPr>
        <p:spPr>
          <a:xfrm>
            <a:off x="4698873" y="2059686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Text 108"/>
          <p:cNvSpPr txBox="1"/>
          <p:nvPr/>
        </p:nvSpPr>
        <p:spPr>
          <a:xfrm>
            <a:off x="4744593" y="2085289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requirements[]</a:t>
            </a:r>
            <a:endParaRPr lang="en-US" sz="620" dirty="0"/>
          </a:p>
        </p:txBody>
      </p:sp>
      <p:sp>
        <p:nvSpPr>
          <p:cNvPr id="139" name="Text 109"/>
          <p:cNvSpPr txBox="1"/>
          <p:nvPr/>
        </p:nvSpPr>
        <p:spPr>
          <a:xfrm>
            <a:off x="4744593" y="2219706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requirementId (Jira key)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title, summary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acceptanceCriteria[]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businessCapability, status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priority, riskTier, links</a:t>
            </a:r>
            <a:endParaRPr lang="en-US" sz="550" dirty="0"/>
          </a:p>
        </p:txBody>
      </p:sp>
      <p:sp>
        <p:nvSpPr>
          <p:cNvPr id="140" name="Shape 110"/>
          <p:cNvSpPr/>
          <p:nvPr/>
        </p:nvSpPr>
        <p:spPr>
          <a:xfrm>
            <a:off x="4698873" y="2729484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11"/>
          <p:cNvSpPr txBox="1"/>
          <p:nvPr/>
        </p:nvSpPr>
        <p:spPr>
          <a:xfrm>
            <a:off x="4744593" y="2755087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documents[]</a:t>
            </a:r>
            <a:endParaRPr lang="en-US" sz="620" dirty="0"/>
          </a:p>
        </p:txBody>
      </p:sp>
      <p:sp>
        <p:nvSpPr>
          <p:cNvPr id="142" name="Text 112"/>
          <p:cNvSpPr txBox="1"/>
          <p:nvPr/>
        </p:nvSpPr>
        <p:spPr>
          <a:xfrm>
            <a:off x="4744593" y="2889504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documentId (page id)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sections[]: heading, level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tables[], links[]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businessRules[]: ruleText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objectsReferenced[], hash</a:t>
            </a:r>
            <a:endParaRPr lang="en-US" sz="550" dirty="0"/>
          </a:p>
        </p:txBody>
      </p:sp>
      <p:sp>
        <p:nvSpPr>
          <p:cNvPr id="143" name="Shape 113"/>
          <p:cNvSpPr/>
          <p:nvPr/>
        </p:nvSpPr>
        <p:spPr>
          <a:xfrm>
            <a:off x="4698873" y="3399282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Text 114"/>
          <p:cNvSpPr txBox="1"/>
          <p:nvPr/>
        </p:nvSpPr>
        <p:spPr>
          <a:xfrm>
            <a:off x="4744593" y="3424885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salesforceObjects[]</a:t>
            </a:r>
            <a:endParaRPr lang="en-US" sz="620" dirty="0"/>
          </a:p>
        </p:txBody>
      </p:sp>
      <p:sp>
        <p:nvSpPr>
          <p:cNvPr id="145" name="Text 115"/>
          <p:cNvSpPr txBox="1"/>
          <p:nvPr/>
        </p:nvSpPr>
        <p:spPr>
          <a:xfrm>
            <a:off x="4744593" y="3559302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objectApiName, label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recordTypes[]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fields[]: type, formula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relationships[]: lookup, M-D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sharingModel, permSets[]</a:t>
            </a:r>
            <a:endParaRPr lang="en-US" sz="550" dirty="0"/>
          </a:p>
        </p:txBody>
      </p:sp>
      <p:sp>
        <p:nvSpPr>
          <p:cNvPr id="146" name="Shape 116"/>
          <p:cNvSpPr/>
          <p:nvPr/>
        </p:nvSpPr>
        <p:spPr>
          <a:xfrm>
            <a:off x="4698873" y="4069080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17"/>
          <p:cNvSpPr txBox="1"/>
          <p:nvPr/>
        </p:nvSpPr>
        <p:spPr>
          <a:xfrm>
            <a:off x="4744593" y="4094683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automations[]</a:t>
            </a:r>
            <a:endParaRPr lang="en-US" sz="620" dirty="0"/>
          </a:p>
        </p:txBody>
      </p:sp>
      <p:sp>
        <p:nvSpPr>
          <p:cNvPr id="148" name="Text 118"/>
          <p:cNvSpPr txBox="1"/>
          <p:nvPr/>
        </p:nvSpPr>
        <p:spPr>
          <a:xfrm>
            <a:off x="4744593" y="4229100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componentId, apiName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FLOW | APEX | TRIGGER | VR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objectsTouched[]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dmlOperations, soqlQueries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testCoverage · riskTier</a:t>
            </a:r>
            <a:endParaRPr lang="en-US" sz="550" dirty="0"/>
          </a:p>
        </p:txBody>
      </p:sp>
      <p:sp>
        <p:nvSpPr>
          <p:cNvPr id="149" name="Shape 119"/>
          <p:cNvSpPr/>
          <p:nvPr/>
        </p:nvSpPr>
        <p:spPr>
          <a:xfrm>
            <a:off x="4698873" y="4738878"/>
            <a:ext cx="1295019" cy="6286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Text 120"/>
          <p:cNvSpPr txBox="1"/>
          <p:nvPr/>
        </p:nvSpPr>
        <p:spPr>
          <a:xfrm>
            <a:off x="4744593" y="4764481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Tests &amp; releases</a:t>
            </a:r>
            <a:endParaRPr lang="en-US" sz="620" dirty="0"/>
          </a:p>
        </p:txBody>
      </p:sp>
      <p:sp>
        <p:nvSpPr>
          <p:cNvPr id="151" name="Text 121"/>
          <p:cNvSpPr txBox="1"/>
          <p:nvPr/>
        </p:nvSpPr>
        <p:spPr>
          <a:xfrm>
            <a:off x="4744593" y="4898898"/>
            <a:ext cx="1203579" cy="436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testAssets[]: robotic + regr.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assertions[], evidenceUri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releases[]: env, components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integrations[]: APDH events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SF → Queueable → Pub/Sub</a:t>
            </a:r>
            <a:endParaRPr lang="en-US" sz="550" dirty="0"/>
          </a:p>
        </p:txBody>
      </p:sp>
      <p:sp>
        <p:nvSpPr>
          <p:cNvPr id="152" name="Shape 122"/>
          <p:cNvSpPr/>
          <p:nvPr/>
        </p:nvSpPr>
        <p:spPr>
          <a:xfrm>
            <a:off x="4698873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Text 123"/>
          <p:cNvSpPr txBox="1"/>
          <p:nvPr/>
        </p:nvSpPr>
        <p:spPr>
          <a:xfrm>
            <a:off x="4744593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154" name="Text 124"/>
          <p:cNvSpPr txBox="1"/>
          <p:nvPr/>
        </p:nvSpPr>
        <p:spPr>
          <a:xfrm>
            <a:off x="4744593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One model linking requirements, code, objects, tests, releases</a:t>
            </a:r>
            <a:endParaRPr lang="en-US" sz="520" dirty="0"/>
          </a:p>
        </p:txBody>
      </p:sp>
      <p:sp>
        <p:nvSpPr>
          <p:cNvPr id="155" name="Shape 125"/>
          <p:cNvSpPr/>
          <p:nvPr/>
        </p:nvSpPr>
        <p:spPr>
          <a:xfrm>
            <a:off x="6149340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FDF1DE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26"/>
          <p:cNvSpPr/>
          <p:nvPr/>
        </p:nvSpPr>
        <p:spPr>
          <a:xfrm>
            <a:off x="6149340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C77400"/>
          </a:solidFill>
          <a:ln w="12700">
            <a:solidFill>
              <a:srgbClr val="C77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7" name="Image 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3989" y="754380"/>
            <a:ext cx="137160" cy="137160"/>
          </a:xfrm>
          <a:prstGeom prst="rect">
            <a:avLst/>
          </a:prstGeom>
        </p:spPr>
      </p:pic>
      <p:sp>
        <p:nvSpPr>
          <p:cNvPr id="158" name="Text 127"/>
          <p:cNvSpPr txBox="1"/>
          <p:nvPr/>
        </p:nvSpPr>
        <p:spPr>
          <a:xfrm>
            <a:off x="6185916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5</a:t>
            </a:r>
            <a:endParaRPr lang="en-US" sz="560" dirty="0"/>
          </a:p>
        </p:txBody>
      </p:sp>
      <p:sp>
        <p:nvSpPr>
          <p:cNvPr id="159" name="Text 128"/>
          <p:cNvSpPr txBox="1"/>
          <p:nvPr/>
        </p:nvSpPr>
        <p:spPr>
          <a:xfrm>
            <a:off x="6176772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Storage</a:t>
            </a:r>
            <a:endParaRPr lang="en-US" sz="800" dirty="0"/>
          </a:p>
        </p:txBody>
      </p:sp>
      <p:sp>
        <p:nvSpPr>
          <p:cNvPr id="160" name="Text 129"/>
          <p:cNvSpPr txBox="1"/>
          <p:nvPr/>
        </p:nvSpPr>
        <p:spPr>
          <a:xfrm>
            <a:off x="6176772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Neutral JSON contract</a:t>
            </a:r>
            <a:endParaRPr lang="en-US" sz="520" dirty="0"/>
          </a:p>
        </p:txBody>
      </p:sp>
      <p:sp>
        <p:nvSpPr>
          <p:cNvPr id="161" name="Shape 130"/>
          <p:cNvSpPr/>
          <p:nvPr/>
        </p:nvSpPr>
        <p:spPr>
          <a:xfrm>
            <a:off x="7543114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131"/>
          <p:cNvSpPr/>
          <p:nvPr/>
        </p:nvSpPr>
        <p:spPr>
          <a:xfrm>
            <a:off x="6195060" y="1389888"/>
            <a:ext cx="1295019" cy="2045056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Text 132"/>
          <p:cNvSpPr txBox="1"/>
          <p:nvPr/>
        </p:nvSpPr>
        <p:spPr>
          <a:xfrm>
            <a:off x="6240780" y="1415491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7740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context.json (excerpt)</a:t>
            </a:r>
            <a:endParaRPr lang="en-US" sz="620" dirty="0"/>
          </a:p>
        </p:txBody>
      </p:sp>
      <p:sp>
        <p:nvSpPr>
          <p:cNvPr id="164" name="Text 133"/>
          <p:cNvSpPr txBox="1"/>
          <p:nvPr/>
        </p:nvSpPr>
        <p:spPr>
          <a:xfrm>
            <a:off x="6240780" y="1549908"/>
            <a:ext cx="1203579" cy="185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"snapshotId": "b7f1c2e4",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"nodes": [{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"sobj:HFN__c",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"SOBJECT",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"fieldCount": 148,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"testCoverage": 81,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"riskTier": "HIGH" },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"sourceReferences": [{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"artifactPath":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"objects/HFN__c.xml",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"artifactHash":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"sha256:9f2b...c41d"}]}],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"relationships": [{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"FLOW_UPDATES_SOBJECT",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"from": "flow:HFN_Gen",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"to": "sobj:HFN__c",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"origin": "FACTUAL",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1.0 }]</a:t>
            </a:r>
            <a:endParaRPr lang="en-US" sz="54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" dirty="0">
                <a:solidFill>
                  <a:srgbClr val="12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40" dirty="0"/>
          </a:p>
        </p:txBody>
      </p:sp>
      <p:sp>
        <p:nvSpPr>
          <p:cNvPr id="165" name="Shape 134"/>
          <p:cNvSpPr/>
          <p:nvPr/>
        </p:nvSpPr>
        <p:spPr>
          <a:xfrm>
            <a:off x="6195060" y="3476092"/>
            <a:ext cx="1295019" cy="925144"/>
          </a:xfrm>
          <a:prstGeom prst="roundRect">
            <a:avLst>
              <a:gd name="adj" fmla="val 3954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35"/>
          <p:cNvSpPr txBox="1"/>
          <p:nvPr/>
        </p:nvSpPr>
        <p:spPr>
          <a:xfrm>
            <a:off x="6240780" y="3501695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7740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the file holds</a:t>
            </a:r>
            <a:endParaRPr lang="en-US" sz="620" dirty="0"/>
          </a:p>
        </p:txBody>
      </p:sp>
      <p:sp>
        <p:nvSpPr>
          <p:cNvPr id="167" name="Text 136"/>
          <p:cNvSpPr txBox="1"/>
          <p:nvPr/>
        </p:nvSpPr>
        <p:spPr>
          <a:xfrm>
            <a:off x="6240780" y="3636112"/>
            <a:ext cx="1203579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node with properties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typed relationship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 on each element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SHA-256 source references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One snapshot per sync run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Vendor-neutral, portable</a:t>
            </a:r>
            <a:endParaRPr lang="en-US" sz="550" dirty="0"/>
          </a:p>
        </p:txBody>
      </p:sp>
      <p:sp>
        <p:nvSpPr>
          <p:cNvPr id="168" name="Shape 137"/>
          <p:cNvSpPr/>
          <p:nvPr/>
        </p:nvSpPr>
        <p:spPr>
          <a:xfrm>
            <a:off x="6195060" y="4442384"/>
            <a:ext cx="1295019" cy="925144"/>
          </a:xfrm>
          <a:prstGeom prst="roundRect">
            <a:avLst>
              <a:gd name="adj" fmla="val 3954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Text 138"/>
          <p:cNvSpPr txBox="1"/>
          <p:nvPr/>
        </p:nvSpPr>
        <p:spPr>
          <a:xfrm>
            <a:off x="6240780" y="4467987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7740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Storage rules</a:t>
            </a:r>
            <a:endParaRPr lang="en-US" sz="620" dirty="0"/>
          </a:p>
        </p:txBody>
      </p:sp>
      <p:sp>
        <p:nvSpPr>
          <p:cNvPr id="170" name="Text 139"/>
          <p:cNvSpPr txBox="1"/>
          <p:nvPr/>
        </p:nvSpPr>
        <p:spPr>
          <a:xfrm>
            <a:off x="6240780" y="4602404"/>
            <a:ext cx="1203579" cy="7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Rebuilt on each sync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Never written back to source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Versioned per snapshotId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SHA-256 change detection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Metadata + sanitized data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Encrypted at rest</a:t>
            </a:r>
            <a:endParaRPr lang="en-US" sz="550" dirty="0"/>
          </a:p>
        </p:txBody>
      </p:sp>
      <p:sp>
        <p:nvSpPr>
          <p:cNvPr id="171" name="Shape 140"/>
          <p:cNvSpPr/>
          <p:nvPr/>
        </p:nvSpPr>
        <p:spPr>
          <a:xfrm>
            <a:off x="6195060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C77400"/>
          </a:solidFill>
          <a:ln w="12700">
            <a:solidFill>
              <a:srgbClr val="C77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Text 141"/>
          <p:cNvSpPr txBox="1"/>
          <p:nvPr/>
        </p:nvSpPr>
        <p:spPr>
          <a:xfrm>
            <a:off x="6240780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173" name="Text 142"/>
          <p:cNvSpPr txBox="1"/>
          <p:nvPr/>
        </p:nvSpPr>
        <p:spPr>
          <a:xfrm>
            <a:off x="6240780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 portable snapshot any tool or engine can consume</a:t>
            </a:r>
            <a:endParaRPr lang="en-US" sz="520" dirty="0"/>
          </a:p>
        </p:txBody>
      </p:sp>
      <p:sp>
        <p:nvSpPr>
          <p:cNvPr id="174" name="Shape 143"/>
          <p:cNvSpPr/>
          <p:nvPr/>
        </p:nvSpPr>
        <p:spPr>
          <a:xfrm>
            <a:off x="7645527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FBEAEA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44"/>
          <p:cNvSpPr/>
          <p:nvPr/>
        </p:nvSpPr>
        <p:spPr>
          <a:xfrm>
            <a:off x="7645527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6" name="Image 2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0177" y="754380"/>
            <a:ext cx="137160" cy="137160"/>
          </a:xfrm>
          <a:prstGeom prst="rect">
            <a:avLst/>
          </a:prstGeom>
        </p:spPr>
      </p:pic>
      <p:sp>
        <p:nvSpPr>
          <p:cNvPr id="177" name="Text 145"/>
          <p:cNvSpPr txBox="1"/>
          <p:nvPr/>
        </p:nvSpPr>
        <p:spPr>
          <a:xfrm>
            <a:off x="7682103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6</a:t>
            </a:r>
            <a:endParaRPr lang="en-US" sz="560" dirty="0"/>
          </a:p>
        </p:txBody>
      </p:sp>
      <p:sp>
        <p:nvSpPr>
          <p:cNvPr id="178" name="Text 146"/>
          <p:cNvSpPr txBox="1"/>
          <p:nvPr/>
        </p:nvSpPr>
        <p:spPr>
          <a:xfrm>
            <a:off x="7672959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Exporter</a:t>
            </a:r>
            <a:endParaRPr lang="en-US" sz="800" dirty="0"/>
          </a:p>
        </p:txBody>
      </p:sp>
      <p:sp>
        <p:nvSpPr>
          <p:cNvPr id="179" name="Text 147"/>
          <p:cNvSpPr txBox="1"/>
          <p:nvPr/>
        </p:nvSpPr>
        <p:spPr>
          <a:xfrm>
            <a:off x="7672959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Context → graph export</a:t>
            </a:r>
            <a:endParaRPr lang="en-US" sz="520" dirty="0"/>
          </a:p>
        </p:txBody>
      </p:sp>
      <p:sp>
        <p:nvSpPr>
          <p:cNvPr id="180" name="Shape 148"/>
          <p:cNvSpPr/>
          <p:nvPr/>
        </p:nvSpPr>
        <p:spPr>
          <a:xfrm>
            <a:off x="9039301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49"/>
          <p:cNvSpPr/>
          <p:nvPr/>
        </p:nvSpPr>
        <p:spPr>
          <a:xfrm>
            <a:off x="7691247" y="1389888"/>
            <a:ext cx="1295019" cy="1756921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50"/>
          <p:cNvSpPr txBox="1"/>
          <p:nvPr/>
        </p:nvSpPr>
        <p:spPr>
          <a:xfrm>
            <a:off x="7736967" y="1415491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Node types</a:t>
            </a:r>
            <a:endParaRPr lang="en-US" sz="620" dirty="0"/>
          </a:p>
        </p:txBody>
      </p:sp>
      <p:sp>
        <p:nvSpPr>
          <p:cNvPr id="183" name="Text 151"/>
          <p:cNvSpPr txBox="1"/>
          <p:nvPr/>
        </p:nvSpPr>
        <p:spPr>
          <a:xfrm>
            <a:off x="7736967" y="1549908"/>
            <a:ext cx="1203579" cy="1564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APPLICATION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BUSINESS_CAPABILITY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REQUIREMENT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DESIGN_DOCUMENT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DOCUMENT_SECTION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BUSINESS_RULE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SOBJECT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FIELD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FLOW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APEX_CLASS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APEX_TRIGGER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VALIDATION_RULE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LWC_COMPONENT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TEST_CASE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REPOSITORY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COMPONENT_FILE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RELEASE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ENVIRONMENT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INTEGRATION_EVENT</a:t>
            </a:r>
            <a:endParaRPr lang="en-US" sz="550" dirty="0"/>
          </a:p>
        </p:txBody>
      </p:sp>
      <p:sp>
        <p:nvSpPr>
          <p:cNvPr id="184" name="Shape 152"/>
          <p:cNvSpPr/>
          <p:nvPr/>
        </p:nvSpPr>
        <p:spPr>
          <a:xfrm>
            <a:off x="7691247" y="3187957"/>
            <a:ext cx="1295019" cy="1515972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Text 153"/>
          <p:cNvSpPr txBox="1"/>
          <p:nvPr/>
        </p:nvSpPr>
        <p:spPr>
          <a:xfrm>
            <a:off x="7736967" y="3213560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Relationship types</a:t>
            </a:r>
            <a:endParaRPr lang="en-US" sz="620" dirty="0"/>
          </a:p>
        </p:txBody>
      </p:sp>
      <p:sp>
        <p:nvSpPr>
          <p:cNvPr id="186" name="Text 154"/>
          <p:cNvSpPr txBox="1"/>
          <p:nvPr/>
        </p:nvSpPr>
        <p:spPr>
          <a:xfrm>
            <a:off x="7736967" y="3347977"/>
            <a:ext cx="1203579" cy="132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REQ_TARGETS_CAPABILITY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REQ_SPECIFIED_BY_DOC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DOCUMENT_HAS_SECTION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SECTION_DEFINES_RULE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RULE_CONSTRAINS_SOBJECT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SOBJECT_HAS_FIELD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SOBJECT_RELATES_TO_SOBJ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FLOW_UPDATES_SOBJECT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APEX_REFERENCES_SOBJECT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TRIGGER_FIRES_ON_SOBJECT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COMP_DEPENDS_ON_COMP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TEST_COVERS_COMPONENT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REQ_IMPLEMENTED_BY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RELEASE_DEPLOYS_COMP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COMP_PUBLISHES_EVENT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REQ_REUSES_COMPONENT</a:t>
            </a:r>
            <a:endParaRPr lang="en-US" sz="550" dirty="0"/>
          </a:p>
        </p:txBody>
      </p:sp>
      <p:sp>
        <p:nvSpPr>
          <p:cNvPr id="187" name="Shape 155"/>
          <p:cNvSpPr/>
          <p:nvPr/>
        </p:nvSpPr>
        <p:spPr>
          <a:xfrm>
            <a:off x="7691247" y="4745076"/>
            <a:ext cx="1295019" cy="622452"/>
          </a:xfrm>
          <a:prstGeom prst="roundRect">
            <a:avLst>
              <a:gd name="adj" fmla="val 587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Text 156"/>
          <p:cNvSpPr txBox="1"/>
          <p:nvPr/>
        </p:nvSpPr>
        <p:spPr>
          <a:xfrm>
            <a:off x="7736967" y="4770679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Properties preserved</a:t>
            </a:r>
            <a:endParaRPr lang="en-US" sz="620" dirty="0"/>
          </a:p>
        </p:txBody>
      </p:sp>
      <p:sp>
        <p:nvSpPr>
          <p:cNvPr id="189" name="Text 157"/>
          <p:cNvSpPr txBox="1"/>
          <p:nvPr/>
        </p:nvSpPr>
        <p:spPr>
          <a:xfrm>
            <a:off x="7736967" y="4905096"/>
            <a:ext cx="1203579" cy="43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All domain metadata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Provenance + derivation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Source refs, exact location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Confidence 1.0 / inferred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Risk tier per component</a:t>
            </a:r>
            <a:endParaRPr lang="en-US" sz="550" dirty="0"/>
          </a:p>
        </p:txBody>
      </p:sp>
      <p:sp>
        <p:nvSpPr>
          <p:cNvPr id="190" name="Shape 158"/>
          <p:cNvSpPr/>
          <p:nvPr/>
        </p:nvSpPr>
        <p:spPr>
          <a:xfrm>
            <a:off x="7691247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Text 159"/>
          <p:cNvSpPr txBox="1"/>
          <p:nvPr/>
        </p:nvSpPr>
        <p:spPr>
          <a:xfrm>
            <a:off x="7736967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192" name="Text 160"/>
          <p:cNvSpPr txBox="1"/>
          <p:nvPr/>
        </p:nvSpPr>
        <p:spPr>
          <a:xfrm>
            <a:off x="7736967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Dependencies made explicit as a typed, queryable graph</a:t>
            </a:r>
            <a:endParaRPr lang="en-US" sz="520" dirty="0"/>
          </a:p>
        </p:txBody>
      </p:sp>
      <p:sp>
        <p:nvSpPr>
          <p:cNvPr id="193" name="Shape 161"/>
          <p:cNvSpPr/>
          <p:nvPr/>
        </p:nvSpPr>
        <p:spPr>
          <a:xfrm>
            <a:off x="9141714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E9F3EA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162"/>
          <p:cNvSpPr/>
          <p:nvPr/>
        </p:nvSpPr>
        <p:spPr>
          <a:xfrm>
            <a:off x="9141714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5" name="Image 3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66364" y="754380"/>
            <a:ext cx="137160" cy="137160"/>
          </a:xfrm>
          <a:prstGeom prst="rect">
            <a:avLst/>
          </a:prstGeom>
        </p:spPr>
      </p:pic>
      <p:sp>
        <p:nvSpPr>
          <p:cNvPr id="196" name="Text 163"/>
          <p:cNvSpPr txBox="1"/>
          <p:nvPr/>
        </p:nvSpPr>
        <p:spPr>
          <a:xfrm>
            <a:off x="9178290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7</a:t>
            </a:r>
            <a:endParaRPr lang="en-US" sz="560" dirty="0"/>
          </a:p>
        </p:txBody>
      </p:sp>
      <p:sp>
        <p:nvSpPr>
          <p:cNvPr id="197" name="Text 164"/>
          <p:cNvSpPr txBox="1"/>
          <p:nvPr/>
        </p:nvSpPr>
        <p:spPr>
          <a:xfrm>
            <a:off x="9169146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Semantica ContextGraph</a:t>
            </a:r>
            <a:endParaRPr lang="en-US" sz="800" dirty="0"/>
          </a:p>
        </p:txBody>
      </p:sp>
      <p:sp>
        <p:nvSpPr>
          <p:cNvPr id="198" name="Text 165"/>
          <p:cNvSpPr txBox="1"/>
          <p:nvPr/>
        </p:nvSpPr>
        <p:spPr>
          <a:xfrm>
            <a:off x="9169146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In-memory knowledge graph</a:t>
            </a:r>
            <a:endParaRPr lang="en-US" sz="520" dirty="0"/>
          </a:p>
        </p:txBody>
      </p:sp>
      <p:sp>
        <p:nvSpPr>
          <p:cNvPr id="199" name="Shape 166"/>
          <p:cNvSpPr/>
          <p:nvPr/>
        </p:nvSpPr>
        <p:spPr>
          <a:xfrm>
            <a:off x="10535488" y="992124"/>
            <a:ext cx="95098" cy="91440"/>
          </a:xfrm>
          <a:prstGeom prst="rightArrow">
            <a:avLst/>
          </a:prstGeom>
          <a:solidFill>
            <a:srgbClr val="9AA7B5"/>
          </a:solidFill>
          <a:ln w="12700">
            <a:solidFill>
              <a:srgbClr val="9A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167"/>
          <p:cNvSpPr/>
          <p:nvPr/>
        </p:nvSpPr>
        <p:spPr>
          <a:xfrm>
            <a:off x="9187434" y="1389888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Text 168"/>
          <p:cNvSpPr txBox="1"/>
          <p:nvPr/>
        </p:nvSpPr>
        <p:spPr>
          <a:xfrm>
            <a:off x="9233154" y="1415491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data structure</a:t>
            </a:r>
            <a:endParaRPr lang="en-US" sz="620" dirty="0"/>
          </a:p>
        </p:txBody>
      </p:sp>
      <p:sp>
        <p:nvSpPr>
          <p:cNvPr id="202" name="Text 169"/>
          <p:cNvSpPr txBox="1"/>
          <p:nvPr/>
        </p:nvSpPr>
        <p:spPr>
          <a:xfrm>
            <a:off x="9233154" y="1549908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In-memory directed graph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Typed nodes + properties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Typed edges + weights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Adjacency index per type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O(1) node access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 indexes for scans</a:t>
            </a:r>
            <a:endParaRPr lang="en-US" sz="550" dirty="0"/>
          </a:p>
        </p:txBody>
      </p:sp>
      <p:sp>
        <p:nvSpPr>
          <p:cNvPr id="203" name="Shape 170"/>
          <p:cNvSpPr/>
          <p:nvPr/>
        </p:nvSpPr>
        <p:spPr>
          <a:xfrm>
            <a:off x="9187434" y="2394585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Text 171"/>
          <p:cNvSpPr txBox="1"/>
          <p:nvPr/>
        </p:nvSpPr>
        <p:spPr>
          <a:xfrm>
            <a:off x="9233154" y="2420188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Graph operations</a:t>
            </a:r>
            <a:endParaRPr lang="en-US" sz="620" dirty="0"/>
          </a:p>
        </p:txBody>
      </p:sp>
      <p:sp>
        <p:nvSpPr>
          <p:cNvPr id="205" name="Text 172"/>
          <p:cNvSpPr txBox="1"/>
          <p:nvPr/>
        </p:nvSpPr>
        <p:spPr>
          <a:xfrm>
            <a:off x="9233154" y="2554605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add_node(id, type, props)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add_edge(src, tgt, type)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find_node(node_id)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find_nodes(node_type)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find_edges(edge_type)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has_node · retract</a:t>
            </a:r>
            <a:endParaRPr lang="en-US" sz="550" dirty="0"/>
          </a:p>
        </p:txBody>
      </p:sp>
      <p:sp>
        <p:nvSpPr>
          <p:cNvPr id="206" name="Shape 173"/>
          <p:cNvSpPr/>
          <p:nvPr/>
        </p:nvSpPr>
        <p:spPr>
          <a:xfrm>
            <a:off x="9187434" y="3399282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Text 174"/>
          <p:cNvSpPr txBox="1"/>
          <p:nvPr/>
        </p:nvSpPr>
        <p:spPr>
          <a:xfrm>
            <a:off x="9233154" y="3424885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Delivery analysis</a:t>
            </a:r>
            <a:endParaRPr lang="en-US" sz="620" dirty="0"/>
          </a:p>
        </p:txBody>
      </p:sp>
      <p:sp>
        <p:nvSpPr>
          <p:cNvPr id="208" name="Text 175"/>
          <p:cNvSpPr txBox="1"/>
          <p:nvPr/>
        </p:nvSpPr>
        <p:spPr>
          <a:xfrm>
            <a:off x="9233154" y="3559302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blast_radius(node, hops)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reuse_candidates(capab.)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risk_tier(components)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downstream_events → APDH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coverage_gap(component)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find_path(from, to)</a:t>
            </a:r>
            <a:endParaRPr lang="en-US" sz="550" dirty="0"/>
          </a:p>
        </p:txBody>
      </p:sp>
      <p:sp>
        <p:nvSpPr>
          <p:cNvPr id="209" name="Shape 176"/>
          <p:cNvSpPr/>
          <p:nvPr/>
        </p:nvSpPr>
        <p:spPr>
          <a:xfrm>
            <a:off x="9187434" y="4403979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177"/>
          <p:cNvSpPr txBox="1"/>
          <p:nvPr/>
        </p:nvSpPr>
        <p:spPr>
          <a:xfrm>
            <a:off x="9233154" y="4429582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Analytics &amp; provenance</a:t>
            </a:r>
            <a:endParaRPr lang="en-US" sz="620" dirty="0"/>
          </a:p>
        </p:txBody>
      </p:sp>
      <p:sp>
        <p:nvSpPr>
          <p:cNvPr id="211" name="Text 178"/>
          <p:cNvSpPr txBox="1"/>
          <p:nvPr/>
        </p:nvSpPr>
        <p:spPr>
          <a:xfrm>
            <a:off x="9233154" y="4563999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stats(): counts, density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 distributions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Connected components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save / load_from_file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Snapshot diffing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Query &lt; 0.01s · 1M+ nodes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get_lineage, trace_source</a:t>
            </a:r>
            <a:endParaRPr lang="en-US" sz="550" dirty="0"/>
          </a:p>
        </p:txBody>
      </p:sp>
      <p:sp>
        <p:nvSpPr>
          <p:cNvPr id="212" name="Shape 179"/>
          <p:cNvSpPr/>
          <p:nvPr/>
        </p:nvSpPr>
        <p:spPr>
          <a:xfrm>
            <a:off x="9187434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Text 180"/>
          <p:cNvSpPr txBox="1"/>
          <p:nvPr/>
        </p:nvSpPr>
        <p:spPr>
          <a:xfrm>
            <a:off x="9233154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214" name="Text 181"/>
          <p:cNvSpPr txBox="1"/>
          <p:nvPr/>
        </p:nvSpPr>
        <p:spPr>
          <a:xfrm>
            <a:off x="9233154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Blast radius, reuse and risk answered in under 0.01s</a:t>
            </a:r>
            <a:endParaRPr lang="en-US" sz="520" dirty="0"/>
          </a:p>
        </p:txBody>
      </p:sp>
      <p:sp>
        <p:nvSpPr>
          <p:cNvPr id="215" name="Shape 182"/>
          <p:cNvSpPr/>
          <p:nvPr/>
        </p:nvSpPr>
        <p:spPr>
          <a:xfrm>
            <a:off x="10637901" y="722376"/>
            <a:ext cx="1386459" cy="5111496"/>
          </a:xfrm>
          <a:prstGeom prst="roundRect">
            <a:avLst>
              <a:gd name="adj" fmla="val 3298"/>
            </a:avLst>
          </a:prstGeom>
          <a:solidFill>
            <a:srgbClr val="E3F2F4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183"/>
          <p:cNvSpPr/>
          <p:nvPr/>
        </p:nvSpPr>
        <p:spPr>
          <a:xfrm>
            <a:off x="10637901" y="722376"/>
            <a:ext cx="1386459" cy="621792"/>
          </a:xfrm>
          <a:prstGeom prst="roundRect">
            <a:avLst>
              <a:gd name="adj" fmla="val 7353"/>
            </a:avLst>
          </a:prstGeom>
          <a:solidFill>
            <a:srgbClr val="00757F"/>
          </a:solidFill>
          <a:ln w="12700">
            <a:solidFill>
              <a:srgbClr val="0075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7" name="Image 3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62551" y="754380"/>
            <a:ext cx="137160" cy="137160"/>
          </a:xfrm>
          <a:prstGeom prst="rect">
            <a:avLst/>
          </a:prstGeom>
        </p:spPr>
      </p:pic>
      <p:sp>
        <p:nvSpPr>
          <p:cNvPr id="218" name="Text 184"/>
          <p:cNvSpPr txBox="1"/>
          <p:nvPr/>
        </p:nvSpPr>
        <p:spPr>
          <a:xfrm>
            <a:off x="10674477" y="900684"/>
            <a:ext cx="131330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 kern="0" spc="5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LAYER 8</a:t>
            </a:r>
            <a:endParaRPr lang="en-US" sz="560" dirty="0"/>
          </a:p>
        </p:txBody>
      </p:sp>
      <p:sp>
        <p:nvSpPr>
          <p:cNvPr id="219" name="Text 185"/>
          <p:cNvSpPr txBox="1"/>
          <p:nvPr/>
        </p:nvSpPr>
        <p:spPr>
          <a:xfrm>
            <a:off x="10665333" y="1001268"/>
            <a:ext cx="133159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Adapter API + Codex</a:t>
            </a:r>
            <a:endParaRPr lang="en-US" sz="800" dirty="0"/>
          </a:p>
        </p:txBody>
      </p:sp>
      <p:sp>
        <p:nvSpPr>
          <p:cNvPr id="220" name="Text 186"/>
          <p:cNvSpPr txBox="1"/>
          <p:nvPr/>
        </p:nvSpPr>
        <p:spPr>
          <a:xfrm>
            <a:off x="10665333" y="1211580"/>
            <a:ext cx="13315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i="1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SemanticaGraphAdapter → Codex</a:t>
            </a:r>
            <a:endParaRPr lang="en-US" sz="520" dirty="0"/>
          </a:p>
        </p:txBody>
      </p:sp>
      <p:sp>
        <p:nvSpPr>
          <p:cNvPr id="221" name="Shape 187"/>
          <p:cNvSpPr/>
          <p:nvPr/>
        </p:nvSpPr>
        <p:spPr>
          <a:xfrm>
            <a:off x="10683621" y="1389888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Text 188"/>
          <p:cNvSpPr txBox="1"/>
          <p:nvPr/>
        </p:nvSpPr>
        <p:spPr>
          <a:xfrm>
            <a:off x="10729341" y="1415491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0757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Core query methods</a:t>
            </a:r>
            <a:endParaRPr lang="en-US" sz="620" dirty="0"/>
          </a:p>
        </p:txBody>
      </p:sp>
      <p:sp>
        <p:nvSpPr>
          <p:cNvPr id="223" name="Text 189"/>
          <p:cNvSpPr txBox="1"/>
          <p:nvPr/>
        </p:nvSpPr>
        <p:spPr>
          <a:xfrm>
            <a:off x="10729341" y="1549908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load_from_json(path)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get_node(node_id)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get_nodes_by_type(type)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get_outgoing_edges(id)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get_incoming_edges(id)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get_neighbors(id, hops)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find_path(from, to, hops)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get_graph_stats()</a:t>
            </a:r>
            <a:endParaRPr lang="en-US" sz="550" dirty="0"/>
          </a:p>
        </p:txBody>
      </p:sp>
      <p:sp>
        <p:nvSpPr>
          <p:cNvPr id="224" name="Shape 190"/>
          <p:cNvSpPr/>
          <p:nvPr/>
        </p:nvSpPr>
        <p:spPr>
          <a:xfrm>
            <a:off x="10683621" y="2394585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Text 191"/>
          <p:cNvSpPr txBox="1"/>
          <p:nvPr/>
        </p:nvSpPr>
        <p:spPr>
          <a:xfrm>
            <a:off x="10729341" y="2420188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0757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Delivery methods</a:t>
            </a:r>
            <a:endParaRPr lang="en-US" sz="620" dirty="0"/>
          </a:p>
        </p:txBody>
      </p:sp>
      <p:sp>
        <p:nvSpPr>
          <p:cNvPr id="226" name="Text 192"/>
          <p:cNvSpPr txBox="1"/>
          <p:nvPr/>
        </p:nvSpPr>
        <p:spPr>
          <a:xfrm>
            <a:off x="10729341" y="2554605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analyze_impact(requirement)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find_reuse(capability)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classify_risk(components)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trace_downstream_events()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coverage_report()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build_context_slice()</a:t>
            </a:r>
            <a:endParaRPr lang="en-US" sz="550" dirty="0"/>
          </a:p>
        </p:txBody>
      </p:sp>
      <p:sp>
        <p:nvSpPr>
          <p:cNvPr id="227" name="Shape 193"/>
          <p:cNvSpPr/>
          <p:nvPr/>
        </p:nvSpPr>
        <p:spPr>
          <a:xfrm>
            <a:off x="10683621" y="3399282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Text 194"/>
          <p:cNvSpPr txBox="1"/>
          <p:nvPr/>
        </p:nvSpPr>
        <p:spPr>
          <a:xfrm>
            <a:off x="10729341" y="3424885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0757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Codex tool surface</a:t>
            </a:r>
            <a:endParaRPr lang="en-US" sz="620" dirty="0"/>
          </a:p>
        </p:txBody>
      </p:sp>
      <p:sp>
        <p:nvSpPr>
          <p:cNvPr id="229" name="Text 195"/>
          <p:cNvSpPr txBox="1"/>
          <p:nvPr/>
        </p:nvSpPr>
        <p:spPr>
          <a:xfrm>
            <a:off x="10729341" y="3559302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graph.query · graph.impact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graph.reuse · graph.prov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git.read_file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sf.describe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jira.read · copado.status</a:t>
            </a:r>
            <a:endParaRPr lang="en-US" sz="550" dirty="0"/>
          </a:p>
        </p:txBody>
      </p:sp>
      <p:sp>
        <p:nvSpPr>
          <p:cNvPr id="230" name="Shape 196"/>
          <p:cNvSpPr/>
          <p:nvPr/>
        </p:nvSpPr>
        <p:spPr>
          <a:xfrm>
            <a:off x="10683621" y="4403979"/>
            <a:ext cx="1295019" cy="963549"/>
          </a:xfrm>
          <a:prstGeom prst="roundRect">
            <a:avLst>
              <a:gd name="adj" fmla="val 3796"/>
            </a:avLst>
          </a:prstGeom>
          <a:solidFill>
            <a:srgbClr val="FFFFFF"/>
          </a:solidFill>
          <a:ln w="9525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Text 197"/>
          <p:cNvSpPr txBox="1"/>
          <p:nvPr/>
        </p:nvSpPr>
        <p:spPr>
          <a:xfrm>
            <a:off x="10729341" y="4429582"/>
            <a:ext cx="1203579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620" b="0" dirty="0">
                <a:solidFill>
                  <a:srgbClr val="00757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Output contract</a:t>
            </a:r>
            <a:endParaRPr lang="en-US" sz="620" dirty="0"/>
          </a:p>
        </p:txBody>
      </p:sp>
      <p:sp>
        <p:nvSpPr>
          <p:cNvPr id="232" name="Text 198"/>
          <p:cNvSpPr txBox="1"/>
          <p:nvPr/>
        </p:nvSpPr>
        <p:spPr>
          <a:xfrm>
            <a:off x="10729341" y="4563999"/>
            <a:ext cx="120357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Bounded graph slice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No invented dependencies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claim cites a node id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ImpactAnalysis · ChangePlan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GeneratedArtifacts, TestPlan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RiskAssessment</a:t>
            </a:r>
            <a:endParaRPr lang="en-US" sz="550" dirty="0"/>
          </a:p>
          <a:p>
            <a:pPr marL="76200" indent="-76200">
              <a:lnSpc>
                <a:spcPct val="88000"/>
              </a:lnSpc>
              <a:buSzPct val="100000"/>
              <a:buChar char="•"/>
            </a:pPr>
            <a:r>
              <a:rPr lang="en-US" sz="55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Write: DEV + branch only</a:t>
            </a:r>
            <a:endParaRPr lang="en-US" sz="550" dirty="0"/>
          </a:p>
        </p:txBody>
      </p:sp>
      <p:sp>
        <p:nvSpPr>
          <p:cNvPr id="233" name="Shape 199"/>
          <p:cNvSpPr/>
          <p:nvPr/>
        </p:nvSpPr>
        <p:spPr>
          <a:xfrm>
            <a:off x="10683621" y="5404104"/>
            <a:ext cx="1295019" cy="384048"/>
          </a:xfrm>
          <a:prstGeom prst="roundRect">
            <a:avLst>
              <a:gd name="adj" fmla="val 9524"/>
            </a:avLst>
          </a:prstGeom>
          <a:solidFill>
            <a:srgbClr val="00757F"/>
          </a:solidFill>
          <a:ln w="12700">
            <a:solidFill>
              <a:srgbClr val="0075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Text 200"/>
          <p:cNvSpPr txBox="1"/>
          <p:nvPr/>
        </p:nvSpPr>
        <p:spPr>
          <a:xfrm>
            <a:off x="10729341" y="5436108"/>
            <a:ext cx="1203579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" b="0" kern="0" spc="4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480" dirty="0"/>
          </a:p>
        </p:txBody>
      </p:sp>
      <p:sp>
        <p:nvSpPr>
          <p:cNvPr id="235" name="Text 201"/>
          <p:cNvSpPr txBox="1"/>
          <p:nvPr/>
        </p:nvSpPr>
        <p:spPr>
          <a:xfrm>
            <a:off x="10729341" y="5545836"/>
            <a:ext cx="1203579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520" dirty="0">
                <a:solidFill>
                  <a:srgbClr val="FFFFFF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Codex reasons on verified facts, never invented ones</a:t>
            </a:r>
            <a:endParaRPr lang="en-US" sz="520" dirty="0"/>
          </a:p>
        </p:txBody>
      </p:sp>
      <p:sp>
        <p:nvSpPr>
          <p:cNvPr id="236" name="Shape 202"/>
          <p:cNvSpPr/>
          <p:nvPr/>
        </p:nvSpPr>
        <p:spPr>
          <a:xfrm>
            <a:off x="984123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Text 203"/>
          <p:cNvSpPr txBox="1"/>
          <p:nvPr/>
        </p:nvSpPr>
        <p:spPr>
          <a:xfrm>
            <a:off x="1029843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REST v3 · OAuth 2.0 · JWT bearer · SSH key · API token</a:t>
            </a:r>
            <a:endParaRPr lang="en-US" sz="540" dirty="0"/>
          </a:p>
        </p:txBody>
      </p:sp>
      <p:sp>
        <p:nvSpPr>
          <p:cNvPr id="238" name="Shape 204"/>
          <p:cNvSpPr/>
          <p:nvPr/>
        </p:nvSpPr>
        <p:spPr>
          <a:xfrm>
            <a:off x="2480310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Text 205"/>
          <p:cNvSpPr txBox="1"/>
          <p:nvPr/>
        </p:nvSpPr>
        <p:spPr>
          <a:xfrm>
            <a:off x="2526030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SourceArtifact: bytes + metadata + SHA-256</a:t>
            </a:r>
            <a:endParaRPr lang="en-US" sz="540" dirty="0"/>
          </a:p>
        </p:txBody>
      </p:sp>
      <p:sp>
        <p:nvSpPr>
          <p:cNvPr id="240" name="Shape 206"/>
          <p:cNvSpPr/>
          <p:nvPr/>
        </p:nvSpPr>
        <p:spPr>
          <a:xfrm>
            <a:off x="3976497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Text 207"/>
          <p:cNvSpPr txBox="1"/>
          <p:nvPr/>
        </p:nvSpPr>
        <p:spPr>
          <a:xfrm>
            <a:off x="4022217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C2185B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Typed domain objects + provenance</a:t>
            </a:r>
            <a:endParaRPr lang="en-US" sz="540" dirty="0"/>
          </a:p>
        </p:txBody>
      </p:sp>
      <p:sp>
        <p:nvSpPr>
          <p:cNvPr id="242" name="Shape 208"/>
          <p:cNvSpPr/>
          <p:nvPr/>
        </p:nvSpPr>
        <p:spPr>
          <a:xfrm>
            <a:off x="5472684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Text 209"/>
          <p:cNvSpPr txBox="1"/>
          <p:nvPr/>
        </p:nvSpPr>
        <p:spPr>
          <a:xfrm>
            <a:off x="5518404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C7740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persisted as vendor-neutral JSON</a:t>
            </a:r>
            <a:endParaRPr lang="en-US" sz="540" dirty="0"/>
          </a:p>
        </p:txBody>
      </p:sp>
      <p:sp>
        <p:nvSpPr>
          <p:cNvPr id="244" name="Shape 210"/>
          <p:cNvSpPr/>
          <p:nvPr/>
        </p:nvSpPr>
        <p:spPr>
          <a:xfrm>
            <a:off x="6968871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Text 211"/>
          <p:cNvSpPr txBox="1"/>
          <p:nvPr/>
        </p:nvSpPr>
        <p:spPr>
          <a:xfrm>
            <a:off x="7014591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C62828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export(NetworkServicesContext) → nodes + edges</a:t>
            </a:r>
            <a:endParaRPr lang="en-US" sz="540" dirty="0"/>
          </a:p>
        </p:txBody>
      </p:sp>
      <p:sp>
        <p:nvSpPr>
          <p:cNvPr id="246" name="Shape 212"/>
          <p:cNvSpPr/>
          <p:nvPr/>
        </p:nvSpPr>
        <p:spPr>
          <a:xfrm>
            <a:off x="8465058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Text 213"/>
          <p:cNvSpPr txBox="1"/>
          <p:nvPr/>
        </p:nvSpPr>
        <p:spPr>
          <a:xfrm>
            <a:off x="8510778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loaded into the in-memory graph</a:t>
            </a:r>
            <a:endParaRPr lang="en-US" sz="540" dirty="0"/>
          </a:p>
        </p:txBody>
      </p:sp>
      <p:sp>
        <p:nvSpPr>
          <p:cNvPr id="248" name="Shape 214"/>
          <p:cNvSpPr/>
          <p:nvPr/>
        </p:nvSpPr>
        <p:spPr>
          <a:xfrm>
            <a:off x="9961245" y="5870448"/>
            <a:ext cx="1243584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B9C4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Text 215"/>
          <p:cNvSpPr txBox="1"/>
          <p:nvPr/>
        </p:nvSpPr>
        <p:spPr>
          <a:xfrm>
            <a:off x="10006965" y="5893308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" b="0" dirty="0">
                <a:solidFill>
                  <a:srgbClr val="00757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▶  </a:t>
            </a:r>
            <a:r>
              <a:rPr lang="en-US" sz="54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adapter API: typed graph queries</a:t>
            </a:r>
            <a:endParaRPr lang="en-US" sz="540" dirty="0"/>
          </a:p>
        </p:txBody>
      </p:sp>
      <p:sp>
        <p:nvSpPr>
          <p:cNvPr id="250" name="Text 216"/>
          <p:cNvSpPr txBox="1"/>
          <p:nvPr/>
        </p:nvSpPr>
        <p:spPr>
          <a:xfrm>
            <a:off x="164592" y="587044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00" b="0" dirty="0">
                <a:solidFill>
                  <a:srgbClr val="5C6E85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HANDOFF</a:t>
            </a:r>
            <a:endParaRPr lang="en-US" sz="5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00" b="0" dirty="0">
                <a:solidFill>
                  <a:srgbClr val="5C6E85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BETWEEN LAYERS</a:t>
            </a:r>
            <a:endParaRPr lang="en-US" sz="500" dirty="0"/>
          </a:p>
        </p:txBody>
      </p:sp>
      <p:sp>
        <p:nvSpPr>
          <p:cNvPr id="251" name="Shape 217"/>
          <p:cNvSpPr/>
          <p:nvPr/>
        </p:nvSpPr>
        <p:spPr>
          <a:xfrm>
            <a:off x="164592" y="6190488"/>
            <a:ext cx="286893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2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6888" y="6240780"/>
            <a:ext cx="128016" cy="128016"/>
          </a:xfrm>
          <a:prstGeom prst="rect">
            <a:avLst/>
          </a:prstGeom>
        </p:spPr>
      </p:pic>
      <p:sp>
        <p:nvSpPr>
          <p:cNvPr id="253" name="Text 218"/>
          <p:cNvSpPr txBox="1"/>
          <p:nvPr/>
        </p:nvSpPr>
        <p:spPr>
          <a:xfrm>
            <a:off x="420624" y="6231636"/>
            <a:ext cx="25214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0" dirty="0">
                <a:solidFill>
                  <a:srgbClr val="7A4FC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Provenance &amp; authority</a:t>
            </a:r>
            <a:endParaRPr lang="en-US" sz="700" dirty="0"/>
          </a:p>
        </p:txBody>
      </p:sp>
      <p:sp>
        <p:nvSpPr>
          <p:cNvPr id="254" name="Text 219"/>
          <p:cNvSpPr txBox="1"/>
          <p:nvPr/>
        </p:nvSpPr>
        <p:spPr>
          <a:xfrm>
            <a:off x="246888" y="6396228"/>
            <a:ext cx="27043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6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node and edge carries createdBy · createdAt · derivationMethod (AUTOMATED | MANUAL | INFERRED) · origin (FACTUAL | INFERRED) · confidence · sourceReferences (type, artifactId, path, SHA-256, retrievedAt). Authority stays with the source system.</a:t>
            </a:r>
            <a:endParaRPr lang="en-US" sz="560" dirty="0"/>
          </a:p>
        </p:txBody>
      </p:sp>
      <p:sp>
        <p:nvSpPr>
          <p:cNvPr id="255" name="Shape 220"/>
          <p:cNvSpPr/>
          <p:nvPr/>
        </p:nvSpPr>
        <p:spPr>
          <a:xfrm>
            <a:off x="3161538" y="6190488"/>
            <a:ext cx="286893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6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3834" y="6240780"/>
            <a:ext cx="128016" cy="128016"/>
          </a:xfrm>
          <a:prstGeom prst="rect">
            <a:avLst/>
          </a:prstGeom>
        </p:spPr>
      </p:pic>
      <p:sp>
        <p:nvSpPr>
          <p:cNvPr id="257" name="Text 221"/>
          <p:cNvSpPr txBox="1"/>
          <p:nvPr/>
        </p:nvSpPr>
        <p:spPr>
          <a:xfrm>
            <a:off x="3417570" y="6231636"/>
            <a:ext cx="25214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0" dirty="0">
                <a:solidFill>
                  <a:srgbClr val="0E8A7D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Security &amp; access: three identities</a:t>
            </a:r>
            <a:endParaRPr lang="en-US" sz="700" dirty="0"/>
          </a:p>
        </p:txBody>
      </p:sp>
      <p:sp>
        <p:nvSpPr>
          <p:cNvPr id="258" name="Text 222"/>
          <p:cNvSpPr txBox="1"/>
          <p:nvPr/>
        </p:nvSpPr>
        <p:spPr>
          <a:xfrm>
            <a:off x="3243834" y="6396228"/>
            <a:ext cx="27043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6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AI Read Service: read-only into the Context Graph · AI Development Service: DEV org plus source branch · AI Release Service: Copado, lower environments only. Production credentials are never available to the LLM agent.</a:t>
            </a:r>
            <a:endParaRPr lang="en-US" sz="560" dirty="0"/>
          </a:p>
        </p:txBody>
      </p:sp>
      <p:sp>
        <p:nvSpPr>
          <p:cNvPr id="259" name="Shape 223"/>
          <p:cNvSpPr/>
          <p:nvPr/>
        </p:nvSpPr>
        <p:spPr>
          <a:xfrm>
            <a:off x="6158484" y="6190488"/>
            <a:ext cx="286893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0" name="Image 3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0780" y="6240780"/>
            <a:ext cx="128016" cy="128016"/>
          </a:xfrm>
          <a:prstGeom prst="rect">
            <a:avLst/>
          </a:prstGeom>
        </p:spPr>
      </p:pic>
      <p:sp>
        <p:nvSpPr>
          <p:cNvPr id="261" name="Text 224"/>
          <p:cNvSpPr txBox="1"/>
          <p:nvPr/>
        </p:nvSpPr>
        <p:spPr>
          <a:xfrm>
            <a:off x="6414516" y="6231636"/>
            <a:ext cx="25214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0" dirty="0">
                <a:solidFill>
                  <a:srgbClr val="4527A0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Audit &amp; traceability</a:t>
            </a:r>
            <a:endParaRPr lang="en-US" sz="700" dirty="0"/>
          </a:p>
        </p:txBody>
      </p:sp>
      <p:sp>
        <p:nvSpPr>
          <p:cNvPr id="262" name="Text 225"/>
          <p:cNvSpPr txBox="1"/>
          <p:nvPr/>
        </p:nvSpPr>
        <p:spPr>
          <a:xfrm>
            <a:off x="6240780" y="6396228"/>
            <a:ext cx="27043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6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Evidence in Jira · Git · Copado · AI Audit Store (Slack is notification only). Every action captures request, user, timestamp, source context, recommendation, approval, files changed, code diff, tests, environment, deployment and outcome.</a:t>
            </a:r>
            <a:endParaRPr lang="en-US" sz="560" dirty="0"/>
          </a:p>
        </p:txBody>
      </p:sp>
      <p:sp>
        <p:nvSpPr>
          <p:cNvPr id="263" name="Shape 226"/>
          <p:cNvSpPr/>
          <p:nvPr/>
        </p:nvSpPr>
        <p:spPr>
          <a:xfrm>
            <a:off x="9155430" y="6190488"/>
            <a:ext cx="286893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4" name="Image 3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37726" y="6240780"/>
            <a:ext cx="128016" cy="128016"/>
          </a:xfrm>
          <a:prstGeom prst="rect">
            <a:avLst/>
          </a:prstGeom>
        </p:spPr>
      </p:pic>
      <p:sp>
        <p:nvSpPr>
          <p:cNvPr id="265" name="Text 227"/>
          <p:cNvSpPr txBox="1"/>
          <p:nvPr/>
        </p:nvSpPr>
        <p:spPr>
          <a:xfrm>
            <a:off x="9411462" y="6231636"/>
            <a:ext cx="252145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Governed delivery &amp; POC</a:t>
            </a:r>
            <a:endParaRPr lang="en-US" sz="700" dirty="0"/>
          </a:p>
        </p:txBody>
      </p:sp>
      <p:sp>
        <p:nvSpPr>
          <p:cNvPr id="266" name="Text 228"/>
          <p:cNvSpPr txBox="1"/>
          <p:nvPr/>
        </p:nvSpPr>
        <p:spPr>
          <a:xfrm>
            <a:off x="9237726" y="6396228"/>
            <a:ext cx="270433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60" dirty="0">
                <a:solidFill>
                  <a:srgbClr val="12233B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AI Build → Copado release → quality gates → DEV → SIT → UAT → human approval → CAB → PREPROD → PROD. Risk routing: low → developer · medium → tech lead · high → architecture · critical → security. POC: 10–15 changes; APDH, credentialing rules and HFN redesign excluded.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64008"/>
            <a:ext cx="3200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10312" y="118872"/>
            <a:ext cx="3017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SEVEN AUTHORITATIVE SOURCES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210312" y="292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EHR  ·  Credentialing  ·  Directory  ·  Scheduling  ·  Claims  ·  Referrals  ·  Geography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10312" y="534924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A6573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read only  ·  tokenised at the boundary  ·  provenance tagged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56432" y="64008"/>
            <a:ext cx="5230368" cy="612648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547872" y="109728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PROVIDER, FACILITY AND PATIENT DEMAND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329184"/>
            <a:ext cx="5047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D0C0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Clinical Network Knowledge Graph Architecture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521208"/>
            <a:ext cx="5047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A9B4C2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sources → connectors → privacy boundary → identity → domain model → storage → derived edges → graph → gap engines</a:t>
            </a:r>
            <a:endParaRPr lang="en-US" sz="620" dirty="0"/>
          </a:p>
        </p:txBody>
      </p:sp>
      <p:sp>
        <p:nvSpPr>
          <p:cNvPr id="10" name="Shape 8"/>
          <p:cNvSpPr/>
          <p:nvPr/>
        </p:nvSpPr>
        <p:spPr>
          <a:xfrm>
            <a:off x="8796528" y="64008"/>
            <a:ext cx="3282696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897112" y="118872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WHAT THE GRAPH ANSWERS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31089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Where demand has no provider  ·  where a provider has no demand  ·  where capability and credential do not meet  ·  where patients leave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521208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2E7D32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missing edge is the answer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9728" y="713232"/>
            <a:ext cx="1289304" cy="621792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55448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1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46304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Source Systems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Systems of record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09728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" y="1467612"/>
            <a:ext cx="64008" cy="64008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283464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EHR and clinical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160538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Encounters and diagnoses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ADT admit and discharge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Orders, results, problems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82880" y="2072183"/>
            <a:ext cx="64008" cy="64008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83464" y="2040179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Credentialing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" y="220995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Licence and board certs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Privileges by procedure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Expirables and sanctions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2676754"/>
            <a:ext cx="64008" cy="64008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283464" y="2644750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Directory and MDM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" y="2814523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Individual and org NPI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NUCC taxonomy and sub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Locations, TIN, panel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82880" y="3281324"/>
            <a:ext cx="64008" cy="64008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83464" y="3249320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Booking and access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" y="3419094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Bookings and cancellations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Arrivals and no-shows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Waitlist and reminders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3885895"/>
            <a:ext cx="64008" cy="64008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283464" y="3853891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Claims, referrals, geo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" y="4023665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CPT, ICD-10, place of service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Referring to receiving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Drive time and tracts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9728" y="5230368"/>
            <a:ext cx="1289304" cy="457200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182880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182880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Every network fact in one place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1397203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38" name="Shape 36"/>
          <p:cNvSpPr/>
          <p:nvPr/>
        </p:nvSpPr>
        <p:spPr>
          <a:xfrm>
            <a:off x="1444752" y="713232"/>
            <a:ext cx="1289304" cy="621792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1490472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2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481328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Source Connectors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490472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Read only and replayable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444752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517904" y="1467612"/>
            <a:ext cx="64008" cy="6400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1618488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E8A7D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Clinical connectors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517904" y="160538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FHIR R4 and HL7 v2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Bulk export, ADT stream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Read only accounts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517904" y="2072183"/>
            <a:ext cx="64008" cy="6400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1618488" y="2040179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E8A7D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Workforce connectors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1517904" y="220995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Credentialing delta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NPPES weekly, MDM API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Taxonomy version pinned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517904" y="2676754"/>
            <a:ext cx="64008" cy="6400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1618488" y="2644750"/>
            <a:ext cx="1051560" cy="2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E8A7D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Operational connectors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517904" y="2938577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Slot and template API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Nightly bookable snapshot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837 and 835 monthly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517904" y="3405378"/>
            <a:ext cx="64008" cy="6400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 txBox="1"/>
          <p:nvPr/>
        </p:nvSpPr>
        <p:spPr>
          <a:xfrm>
            <a:off x="1618488" y="3373374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E8A7D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Connector contract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517904" y="3543148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No writes, ever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SHA-256 per record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Replay by extract id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517904" y="4009949"/>
            <a:ext cx="64008" cy="6400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 txBox="1"/>
          <p:nvPr/>
        </p:nvSpPr>
        <p:spPr>
          <a:xfrm>
            <a:off x="1618488" y="397794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E8A7D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Failure handling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1517904" y="4147718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Partial pull discarded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Late file supersedes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run leaves a receipt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444752" y="5230368"/>
            <a:ext cx="1289304" cy="457200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 txBox="1"/>
          <p:nvPr/>
        </p:nvSpPr>
        <p:spPr>
          <a:xfrm>
            <a:off x="1517904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60" name="Text 58"/>
          <p:cNvSpPr txBox="1"/>
          <p:nvPr/>
        </p:nvSpPr>
        <p:spPr>
          <a:xfrm>
            <a:off x="1517904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Safe, repeatable reads. No writes anywhere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2732227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62" name="Shape 60"/>
          <p:cNvSpPr/>
          <p:nvPr/>
        </p:nvSpPr>
        <p:spPr>
          <a:xfrm>
            <a:off x="2779776" y="713232"/>
            <a:ext cx="1289304" cy="621792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 txBox="1"/>
          <p:nvPr/>
        </p:nvSpPr>
        <p:spPr>
          <a:xfrm>
            <a:off x="2825496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3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2816352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Trust and Privacy Boundary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2825496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Nothing crosses identified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779776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852928" y="1467612"/>
            <a:ext cx="64008" cy="64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 txBox="1"/>
          <p:nvPr/>
        </p:nvSpPr>
        <p:spPr>
          <a:xfrm>
            <a:off x="2953512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De-identify at ingress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2852928" y="160538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Safe Harbor identifiers out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MRN to HMAC token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Dates shifted per patient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852928" y="2072183"/>
            <a:ext cx="64008" cy="64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 txBox="1"/>
          <p:nvPr/>
        </p:nvSpPr>
        <p:spPr>
          <a:xfrm>
            <a:off x="2953512" y="2040179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Three data planes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2852928" y="220995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Analytic: k-anonymous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Operational: LDS, BAA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Identified: break glass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852928" y="2676754"/>
            <a:ext cx="64008" cy="64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 txBox="1"/>
          <p:nvPr/>
        </p:nvSpPr>
        <p:spPr>
          <a:xfrm>
            <a:off x="2953512" y="2644750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Keys and crypto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2852928" y="2814523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KMS or HSM held keys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Envelope per snapshot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TLS 1.3, AES-256 at rest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852928" y="3281324"/>
            <a:ext cx="64008" cy="64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 txBox="1"/>
          <p:nvPr/>
        </p:nvSpPr>
        <p:spPr>
          <a:xfrm>
            <a:off x="2953512" y="3249320"/>
            <a:ext cx="1051560" cy="2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Re-identification defence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2852928" y="3543148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k-anonymity floor per cell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Rare plus small suppressed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Query budget per user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2852928" y="4009949"/>
            <a:ext cx="64008" cy="64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 txBox="1"/>
          <p:nvPr/>
        </p:nvSpPr>
        <p:spPr>
          <a:xfrm>
            <a:off x="2953512" y="397794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6A1B9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Assurance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2852928" y="4147718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HIPAA, HITRUST, SOC 2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Immutable WORM audit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Quarterly re-id review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779776" y="5230368"/>
            <a:ext cx="1289304" cy="457200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 txBox="1"/>
          <p:nvPr/>
        </p:nvSpPr>
        <p:spPr>
          <a:xfrm>
            <a:off x="2852928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84" name="Text 82"/>
          <p:cNvSpPr txBox="1"/>
          <p:nvPr/>
        </p:nvSpPr>
        <p:spPr>
          <a:xfrm>
            <a:off x="2852928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PHI never crosses the line in identifiable form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4067251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86" name="Shape 84"/>
          <p:cNvSpPr/>
          <p:nvPr/>
        </p:nvSpPr>
        <p:spPr>
          <a:xfrm>
            <a:off x="4114800" y="713232"/>
            <a:ext cx="1289304" cy="621792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 txBox="1"/>
          <p:nvPr/>
        </p:nvSpPr>
        <p:spPr>
          <a:xfrm>
            <a:off x="4160520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4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4151376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Ingest and Identity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4160520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Resolve, reconcile, prove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4114800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4187952" y="1467612"/>
            <a:ext cx="64008" cy="64008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 txBox="1"/>
          <p:nvPr/>
        </p:nvSpPr>
        <p:spPr>
          <a:xfrm>
            <a:off x="4288536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7A4F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Parse and normalise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4187952" y="160538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FHIR to domain objects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ICD-10, CPT, SNOMED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Taxonomy to specialty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4187952" y="2072183"/>
            <a:ext cx="64008" cy="64008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 txBox="1"/>
          <p:nvPr/>
        </p:nvSpPr>
        <p:spPr>
          <a:xfrm>
            <a:off x="4288536" y="2040179"/>
            <a:ext cx="1051560" cy="2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7A4F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Patient identity, EMPI</a:t>
            </a:r>
            <a:endParaRPr lang="en-US" sz="800" dirty="0"/>
          </a:p>
        </p:txBody>
      </p:sp>
      <p:sp>
        <p:nvSpPr>
          <p:cNvPr id="96" name="Text 94"/>
          <p:cNvSpPr txBox="1"/>
          <p:nvPr/>
        </p:nvSpPr>
        <p:spPr>
          <a:xfrm>
            <a:off x="4187952" y="2334006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Deterministic on token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Probabilistic, reviewed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Links stay reversible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187952" y="2800807"/>
            <a:ext cx="64008" cy="64008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 txBox="1"/>
          <p:nvPr/>
        </p:nvSpPr>
        <p:spPr>
          <a:xfrm>
            <a:off x="4288536" y="2768803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7A4F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Provider and place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4187952" y="2938577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NPI is the person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TIN plus NPI is practice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CCN is the facility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4187952" y="3405378"/>
            <a:ext cx="64008" cy="64008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 txBox="1"/>
          <p:nvPr/>
        </p:nvSpPr>
        <p:spPr>
          <a:xfrm>
            <a:off x="4288536" y="3373374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7A4F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Conflict resolution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4187952" y="3543148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Precedence per attribute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Losing value retained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Confidence on every link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187952" y="4009949"/>
            <a:ext cx="64008" cy="64008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 txBox="1"/>
          <p:nvPr/>
        </p:nvSpPr>
        <p:spPr>
          <a:xfrm>
            <a:off x="4288536" y="397794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7A4F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Provenance</a:t>
            </a:r>
            <a:endParaRPr lang="en-US" sz="800" dirty="0"/>
          </a:p>
        </p:txBody>
      </p:sp>
      <p:sp>
        <p:nvSpPr>
          <p:cNvPr id="105" name="Text 103"/>
          <p:cNvSpPr txBox="1"/>
          <p:nvPr/>
        </p:nvSpPr>
        <p:spPr>
          <a:xfrm>
            <a:off x="4187952" y="4147718"/>
            <a:ext cx="1188720" cy="283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Source, extract, hash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FACTUAL or INFERRED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114800" y="5230368"/>
            <a:ext cx="1289304" cy="457200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 txBox="1"/>
          <p:nvPr/>
        </p:nvSpPr>
        <p:spPr>
          <a:xfrm>
            <a:off x="4187952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108" name="Text 106"/>
          <p:cNvSpPr txBox="1"/>
          <p:nvPr/>
        </p:nvSpPr>
        <p:spPr>
          <a:xfrm>
            <a:off x="4187952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One patient, one provider, one place, with the proof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5402275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110" name="Shape 108"/>
          <p:cNvSpPr/>
          <p:nvPr/>
        </p:nvSpPr>
        <p:spPr>
          <a:xfrm>
            <a:off x="5449824" y="713232"/>
            <a:ext cx="1289304" cy="621792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 txBox="1"/>
          <p:nvPr/>
        </p:nvSpPr>
        <p:spPr>
          <a:xfrm>
            <a:off x="5495544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5</a:t>
            </a:r>
            <a:endParaRPr lang="en-US" sz="750" dirty="0"/>
          </a:p>
        </p:txBody>
      </p:sp>
      <p:sp>
        <p:nvSpPr>
          <p:cNvPr id="112" name="Text 110"/>
          <p:cNvSpPr txBox="1"/>
          <p:nvPr/>
        </p:nvSpPr>
        <p:spPr>
          <a:xfrm>
            <a:off x="5486400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Domain Model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5495544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CareNetworkContext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5449824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5522976" y="1467612"/>
            <a:ext cx="64008" cy="640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 txBox="1"/>
          <p:nvPr/>
        </p:nvSpPr>
        <p:spPr>
          <a:xfrm>
            <a:off x="5623560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2185B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Entities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5522976" y="1605382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providers[], facilities[]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serviceLines[], capabilities[]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appointments[], careIntent[]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522976" y="2176729"/>
            <a:ext cx="64008" cy="640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 txBox="1"/>
          <p:nvPr/>
        </p:nvSpPr>
        <p:spPr>
          <a:xfrm>
            <a:off x="5623560" y="214472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2185B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Relationship objects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5522976" y="2314499"/>
            <a:ext cx="1188720" cy="38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Affiliation, Privilege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Coverage, Referral, Contract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5522976" y="2762250"/>
            <a:ext cx="64008" cy="640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 txBox="1"/>
          <p:nvPr/>
        </p:nvSpPr>
        <p:spPr>
          <a:xfrm>
            <a:off x="5623560" y="2730246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2185B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Service line spec</a:t>
            </a:r>
            <a:endParaRPr lang="en-US" sz="800" dirty="0"/>
          </a:p>
        </p:txBody>
      </p:sp>
      <p:sp>
        <p:nvSpPr>
          <p:cNvPr id="123" name="Text 121"/>
          <p:cNvSpPr txBox="1"/>
          <p:nvPr/>
        </p:nvSpPr>
        <p:spPr>
          <a:xfrm>
            <a:off x="5522976" y="2900020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requiredSpecialties[]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requiredCapabilities[]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coverageWindow, minVolume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522976" y="3471367"/>
            <a:ext cx="64008" cy="640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 txBox="1"/>
          <p:nvPr/>
        </p:nvSpPr>
        <p:spPr>
          <a:xfrm>
            <a:off x="5623560" y="3439363"/>
            <a:ext cx="1051560" cy="2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2185B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Appointment and demand</a:t>
            </a:r>
            <a:endParaRPr lang="en-US" sz="800" dirty="0"/>
          </a:p>
        </p:txBody>
      </p:sp>
      <p:sp>
        <p:nvSpPr>
          <p:cNvPr id="126" name="Text 124"/>
          <p:cNvSpPr txBox="1"/>
          <p:nvPr/>
        </p:nvSpPr>
        <p:spPr>
          <a:xfrm>
            <a:off x="5522976" y="3733190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status, cancelledBy, leadTime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patients, encounters, trend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slots, thirdNextAvailable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5522976" y="4304538"/>
            <a:ext cx="64008" cy="640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 txBox="1"/>
          <p:nvPr/>
        </p:nvSpPr>
        <p:spPr>
          <a:xfrm>
            <a:off x="5623560" y="4272534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2185B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Bitemporal by default</a:t>
            </a:r>
            <a:endParaRPr lang="en-US" sz="800" dirty="0"/>
          </a:p>
        </p:txBody>
      </p:sp>
      <p:sp>
        <p:nvSpPr>
          <p:cNvPr id="129" name="Text 127"/>
          <p:cNvSpPr txBox="1"/>
          <p:nvPr/>
        </p:nvSpPr>
        <p:spPr>
          <a:xfrm>
            <a:off x="5522976" y="4442308"/>
            <a:ext cx="1188720" cy="283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validFrom, validTo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recordedAt, supersededAt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5449824" y="5230368"/>
            <a:ext cx="1289304" cy="457200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 txBox="1"/>
          <p:nvPr/>
        </p:nvSpPr>
        <p:spPr>
          <a:xfrm>
            <a:off x="5522976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132" name="Text 130"/>
          <p:cNvSpPr txBox="1"/>
          <p:nvPr/>
        </p:nvSpPr>
        <p:spPr>
          <a:xfrm>
            <a:off x="5522976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 typed, bitemporal model of the network</a:t>
            </a:r>
            <a:endParaRPr lang="en-US" sz="700" dirty="0"/>
          </a:p>
        </p:txBody>
      </p:sp>
      <p:sp>
        <p:nvSpPr>
          <p:cNvPr id="133" name="Text 131"/>
          <p:cNvSpPr txBox="1"/>
          <p:nvPr/>
        </p:nvSpPr>
        <p:spPr>
          <a:xfrm>
            <a:off x="6737299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134" name="Shape 132"/>
          <p:cNvSpPr/>
          <p:nvPr/>
        </p:nvSpPr>
        <p:spPr>
          <a:xfrm>
            <a:off x="6784848" y="713232"/>
            <a:ext cx="1289304" cy="621792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 txBox="1"/>
          <p:nvPr/>
        </p:nvSpPr>
        <p:spPr>
          <a:xfrm>
            <a:off x="6830568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6</a:t>
            </a:r>
            <a:endParaRPr lang="en-US" sz="750" dirty="0"/>
          </a:p>
        </p:txBody>
      </p:sp>
      <p:sp>
        <p:nvSpPr>
          <p:cNvPr id="136" name="Text 134"/>
          <p:cNvSpPr txBox="1"/>
          <p:nvPr/>
        </p:nvSpPr>
        <p:spPr>
          <a:xfrm>
            <a:off x="6821424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Graph Storage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6830568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Bitemporal and immutable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6784848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 txBox="1"/>
          <p:nvPr/>
        </p:nvSpPr>
        <p:spPr>
          <a:xfrm>
            <a:off x="6858000" y="1435608"/>
            <a:ext cx="1143000" cy="124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7740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network.json (excerpt)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830568" y="1605382"/>
            <a:ext cx="1197864" cy="1395222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 txBox="1"/>
          <p:nvPr/>
        </p:nvSpPr>
        <p:spPr>
          <a:xfrm>
            <a:off x="6922008" y="1633271"/>
            <a:ext cx="112471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"snapshot": "sha256:7c41…",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"nodes": [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{"id": "prv:9f2a…",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"PROVIDER",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"spec": "CARDIOLOGY",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"fte": 0.6, "panel": "OPEN"}],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"edges": [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{"id": "cov:41b7…",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"COVERS",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"from": "prv:9f2a…",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"to": "svc:CARD@450214",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"validFrom": "2024-07-01",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"validTo": null,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"recordedAt": "2026-08-02",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0.92,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"evidence": ["caqh:8821#r44"]</a:t>
            </a:r>
            <a:endParaRPr lang="en-US" sz="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}] }</a:t>
            </a:r>
            <a:endParaRPr lang="en-US" sz="450" dirty="0"/>
          </a:p>
        </p:txBody>
      </p:sp>
      <p:sp>
        <p:nvSpPr>
          <p:cNvPr id="142" name="Shape 140"/>
          <p:cNvSpPr/>
          <p:nvPr/>
        </p:nvSpPr>
        <p:spPr>
          <a:xfrm>
            <a:off x="6858000" y="3045562"/>
            <a:ext cx="64008" cy="64008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 txBox="1"/>
          <p:nvPr/>
        </p:nvSpPr>
        <p:spPr>
          <a:xfrm>
            <a:off x="6958584" y="301355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7740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What the file holds</a:t>
            </a:r>
            <a:endParaRPr lang="en-US" sz="800" dirty="0"/>
          </a:p>
        </p:txBody>
      </p:sp>
      <p:sp>
        <p:nvSpPr>
          <p:cNvPr id="144" name="Text 142"/>
          <p:cNvSpPr txBox="1"/>
          <p:nvPr/>
        </p:nvSpPr>
        <p:spPr>
          <a:xfrm>
            <a:off x="6858000" y="3183331"/>
            <a:ext cx="118872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node and edge typed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Two time axes per edge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Confidence and evidence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Tokens only, no ids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6858000" y="3878275"/>
            <a:ext cx="64008" cy="64008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 txBox="1"/>
          <p:nvPr/>
        </p:nvSpPr>
        <p:spPr>
          <a:xfrm>
            <a:off x="6958584" y="3846271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7740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Storage rules</a:t>
            </a:r>
            <a:endParaRPr lang="en-US" sz="800" dirty="0"/>
          </a:p>
        </p:txBody>
      </p:sp>
      <p:sp>
        <p:nvSpPr>
          <p:cNvPr id="147" name="Text 145"/>
          <p:cNvSpPr txBox="1"/>
          <p:nvPr/>
        </p:nvSpPr>
        <p:spPr>
          <a:xfrm>
            <a:off x="6858000" y="4016045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Content addressed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Rebuilt, never written back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Encrypted per snapshot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6784848" y="5230368"/>
            <a:ext cx="1289304" cy="457200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 txBox="1"/>
          <p:nvPr/>
        </p:nvSpPr>
        <p:spPr>
          <a:xfrm>
            <a:off x="6858000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150" name="Text 148"/>
          <p:cNvSpPr txBox="1"/>
          <p:nvPr/>
        </p:nvSpPr>
        <p:spPr>
          <a:xfrm>
            <a:off x="6858000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Any past state of the network, replayed exactly</a:t>
            </a:r>
            <a:endParaRPr lang="en-US" sz="700" dirty="0"/>
          </a:p>
        </p:txBody>
      </p:sp>
      <p:sp>
        <p:nvSpPr>
          <p:cNvPr id="151" name="Text 149"/>
          <p:cNvSpPr txBox="1"/>
          <p:nvPr/>
        </p:nvSpPr>
        <p:spPr>
          <a:xfrm>
            <a:off x="8072323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152" name="Shape 150"/>
          <p:cNvSpPr/>
          <p:nvPr/>
        </p:nvSpPr>
        <p:spPr>
          <a:xfrm>
            <a:off x="8119872" y="713232"/>
            <a:ext cx="1289304" cy="62179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 txBox="1"/>
          <p:nvPr/>
        </p:nvSpPr>
        <p:spPr>
          <a:xfrm>
            <a:off x="8165592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7</a:t>
            </a:r>
            <a:endParaRPr lang="en-US" sz="750" dirty="0"/>
          </a:p>
        </p:txBody>
      </p:sp>
      <p:sp>
        <p:nvSpPr>
          <p:cNvPr id="154" name="Text 152"/>
          <p:cNvSpPr txBox="1"/>
          <p:nvPr/>
        </p:nvSpPr>
        <p:spPr>
          <a:xfrm>
            <a:off x="8156448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Derived Edge Engine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8165592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A gap becomes a number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8119872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8193024" y="1467612"/>
            <a:ext cx="64008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8" name="Text 156"/>
          <p:cNvSpPr txBox="1"/>
          <p:nvPr/>
        </p:nvSpPr>
        <p:spPr>
          <a:xfrm>
            <a:off x="8293608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62828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Derived edges</a:t>
            </a:r>
            <a:endParaRPr lang="en-US" sz="800" dirty="0"/>
          </a:p>
        </p:txBody>
      </p:sp>
      <p:sp>
        <p:nvSpPr>
          <p:cNvPr id="159" name="Text 157"/>
          <p:cNvSpPr txBox="1"/>
          <p:nvPr/>
        </p:nvSpPr>
        <p:spPr>
          <a:xfrm>
            <a:off x="8193024" y="1605382"/>
            <a:ext cx="1188720" cy="5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SERVES geo to site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REQUIRES line to specialty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COVERS provider to line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SUBSTITUTE_FOR pairs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8193024" y="2195779"/>
            <a:ext cx="64008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1" name="Text 159"/>
          <p:cNvSpPr txBox="1"/>
          <p:nvPr/>
        </p:nvSpPr>
        <p:spPr>
          <a:xfrm>
            <a:off x="8293608" y="216377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62828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Constraint evaluation</a:t>
            </a:r>
            <a:endParaRPr lang="en-US" sz="800" dirty="0"/>
          </a:p>
        </p:txBody>
      </p:sp>
      <p:sp>
        <p:nvSpPr>
          <p:cNvPr id="162" name="Text 160"/>
          <p:cNvSpPr txBox="1"/>
          <p:nvPr/>
        </p:nvSpPr>
        <p:spPr>
          <a:xfrm>
            <a:off x="8193024" y="2333549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Spec run against graph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Unsatisfied means a gap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New line is a spec row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8193024" y="2800350"/>
            <a:ext cx="64008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4" name="Text 162"/>
          <p:cNvSpPr txBox="1"/>
          <p:nvPr/>
        </p:nvSpPr>
        <p:spPr>
          <a:xfrm>
            <a:off x="8293608" y="2768346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62828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Indices</a:t>
            </a:r>
            <a:endParaRPr lang="en-US" sz="800" dirty="0"/>
          </a:p>
        </p:txBody>
      </p:sp>
      <p:sp>
        <p:nvSpPr>
          <p:cNvPr id="165" name="Text 163"/>
          <p:cNvSpPr txBox="1"/>
          <p:nvPr/>
        </p:nvSpPr>
        <p:spPr>
          <a:xfrm>
            <a:off x="8193024" y="2938120"/>
            <a:ext cx="1188720" cy="53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inflow, capacity, coverage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leakage, adequacy, depth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no-show and slot recovery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outcome O over E, shrunk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8193024" y="3528517"/>
            <a:ext cx="64008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7" name="Text 165"/>
          <p:cNvSpPr txBox="1"/>
          <p:nvPr/>
        </p:nvSpPr>
        <p:spPr>
          <a:xfrm>
            <a:off x="8293608" y="3496513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C62828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168" name="Text 166"/>
          <p:cNvSpPr txBox="1"/>
          <p:nvPr/>
        </p:nvSpPr>
        <p:spPr>
          <a:xfrm>
            <a:off x="8193024" y="3666287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Minimum volume to rank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Peer group by case mix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Interval with every value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8119872" y="5230368"/>
            <a:ext cx="1289304" cy="45720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0" name="Text 168"/>
          <p:cNvSpPr txBox="1"/>
          <p:nvPr/>
        </p:nvSpPr>
        <p:spPr>
          <a:xfrm>
            <a:off x="8193024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171" name="Text 169"/>
          <p:cNvSpPr txBox="1"/>
          <p:nvPr/>
        </p:nvSpPr>
        <p:spPr>
          <a:xfrm>
            <a:off x="8193024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The missing edge becomes a defensible number</a:t>
            </a:r>
            <a:endParaRPr lang="en-US" sz="700" dirty="0"/>
          </a:p>
        </p:txBody>
      </p:sp>
      <p:sp>
        <p:nvSpPr>
          <p:cNvPr id="172" name="Text 170"/>
          <p:cNvSpPr txBox="1"/>
          <p:nvPr/>
        </p:nvSpPr>
        <p:spPr>
          <a:xfrm>
            <a:off x="9407347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173" name="Shape 171"/>
          <p:cNvSpPr/>
          <p:nvPr/>
        </p:nvSpPr>
        <p:spPr>
          <a:xfrm>
            <a:off x="9454896" y="713232"/>
            <a:ext cx="1289304" cy="62179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4" name="Text 172"/>
          <p:cNvSpPr txBox="1"/>
          <p:nvPr/>
        </p:nvSpPr>
        <p:spPr>
          <a:xfrm>
            <a:off x="9500616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8</a:t>
            </a:r>
            <a:endParaRPr lang="en-US" sz="750" dirty="0"/>
          </a:p>
        </p:txBody>
      </p:sp>
      <p:sp>
        <p:nvSpPr>
          <p:cNvPr id="175" name="Text 173"/>
          <p:cNvSpPr txBox="1"/>
          <p:nvPr/>
        </p:nvSpPr>
        <p:spPr>
          <a:xfrm>
            <a:off x="9491472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Network ContextGraph</a:t>
            </a:r>
            <a:endParaRPr lang="en-US" sz="1000" dirty="0"/>
          </a:p>
        </p:txBody>
      </p:sp>
      <p:sp>
        <p:nvSpPr>
          <p:cNvPr id="176" name="Text 174"/>
          <p:cNvSpPr txBox="1"/>
          <p:nvPr/>
        </p:nvSpPr>
        <p:spPr>
          <a:xfrm>
            <a:off x="9500616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Traversals and what-if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9454896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9528048" y="1467612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9" name="Text 177"/>
          <p:cNvSpPr txBox="1"/>
          <p:nvPr/>
        </p:nvSpPr>
        <p:spPr>
          <a:xfrm>
            <a:off x="9628632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Graph runtime</a:t>
            </a:r>
            <a:endParaRPr lang="en-US" sz="800" dirty="0"/>
          </a:p>
        </p:txBody>
      </p:sp>
      <p:sp>
        <p:nvSpPr>
          <p:cNvPr id="180" name="Text 178"/>
          <p:cNvSpPr txBox="1"/>
          <p:nvPr/>
        </p:nvSpPr>
        <p:spPr>
          <a:xfrm>
            <a:off x="9528048" y="160538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Typed nodes and edges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Weights: time, volume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As-of views on any date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9528048" y="2072183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 txBox="1"/>
          <p:nvPr/>
        </p:nvSpPr>
        <p:spPr>
          <a:xfrm>
            <a:off x="9628632" y="2040179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Traversals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9528048" y="2209952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coverage_path(geo, svc)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missing_edge(dmd, sup)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blast_radius(prv)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9528048" y="2676754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5" name="Text 183"/>
          <p:cNvSpPr txBox="1"/>
          <p:nvPr/>
        </p:nvSpPr>
        <p:spPr>
          <a:xfrm>
            <a:off x="9628632" y="2644750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Vector plane</a:t>
            </a:r>
            <a:endParaRPr lang="en-US" sz="800" dirty="0"/>
          </a:p>
        </p:txBody>
      </p:sp>
      <p:sp>
        <p:nvSpPr>
          <p:cNvPr id="186" name="Text 184"/>
          <p:cNvSpPr txBox="1"/>
          <p:nvPr/>
        </p:nvSpPr>
        <p:spPr>
          <a:xfrm>
            <a:off x="9528048" y="2814523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Embeddings per type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Substitutability search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Anchor symbolic, rank vector</a:t>
            </a:r>
            <a:endParaRPr lang="en-US" sz="700" dirty="0"/>
          </a:p>
        </p:txBody>
      </p:sp>
      <p:sp>
        <p:nvSpPr>
          <p:cNvPr id="187" name="Shape 185"/>
          <p:cNvSpPr/>
          <p:nvPr/>
        </p:nvSpPr>
        <p:spPr>
          <a:xfrm>
            <a:off x="9528048" y="3385871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 txBox="1"/>
          <p:nvPr/>
        </p:nvSpPr>
        <p:spPr>
          <a:xfrm>
            <a:off x="9628632" y="3353867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Shadow graph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9528048" y="3523640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Copy on write namespace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Insert hypothetical nodes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Diff against base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9528048" y="3990442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1" name="Text 189"/>
          <p:cNvSpPr txBox="1"/>
          <p:nvPr/>
        </p:nvSpPr>
        <p:spPr>
          <a:xfrm>
            <a:off x="9628632" y="395843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Prediction plane</a:t>
            </a:r>
            <a:endParaRPr lang="en-US" sz="800" dirty="0"/>
          </a:p>
        </p:txBody>
      </p:sp>
      <p:sp>
        <p:nvSpPr>
          <p:cNvPr id="192" name="Text 190"/>
          <p:cNvSpPr txBox="1"/>
          <p:nvPr/>
        </p:nvSpPr>
        <p:spPr>
          <a:xfrm>
            <a:off x="9528048" y="4128211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Model registry per target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Calibrated score plus reasons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Written back as a signal</a:t>
            </a:r>
            <a:endParaRPr lang="en-US" sz="700" dirty="0"/>
          </a:p>
        </p:txBody>
      </p:sp>
      <p:sp>
        <p:nvSpPr>
          <p:cNvPr id="193" name="Shape 191"/>
          <p:cNvSpPr/>
          <p:nvPr/>
        </p:nvSpPr>
        <p:spPr>
          <a:xfrm>
            <a:off x="9528048" y="4699559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 txBox="1"/>
          <p:nvPr/>
        </p:nvSpPr>
        <p:spPr>
          <a:xfrm>
            <a:off x="9628632" y="466755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Analytics</a:t>
            </a:r>
            <a:endParaRPr lang="en-US" sz="800" dirty="0"/>
          </a:p>
        </p:txBody>
      </p:sp>
      <p:sp>
        <p:nvSpPr>
          <p:cNvPr id="195" name="Text 193"/>
          <p:cNvSpPr txBox="1"/>
          <p:nvPr/>
        </p:nvSpPr>
        <p:spPr>
          <a:xfrm>
            <a:off x="9528048" y="4837328"/>
            <a:ext cx="1188720" cy="160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Set cover: fewest hires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9454896" y="5230368"/>
            <a:ext cx="1289304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7" name="Text 195"/>
          <p:cNvSpPr txBox="1"/>
          <p:nvPr/>
        </p:nvSpPr>
        <p:spPr>
          <a:xfrm>
            <a:off x="9528048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198" name="Text 196"/>
          <p:cNvSpPr txBox="1"/>
          <p:nvPr/>
        </p:nvSpPr>
        <p:spPr>
          <a:xfrm>
            <a:off x="9528048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Gap, blast radius and what-if in under a second</a:t>
            </a:r>
            <a:endParaRPr lang="en-US" sz="700" dirty="0"/>
          </a:p>
        </p:txBody>
      </p:sp>
      <p:sp>
        <p:nvSpPr>
          <p:cNvPr id="199" name="Text 197"/>
          <p:cNvSpPr txBox="1"/>
          <p:nvPr/>
        </p:nvSpPr>
        <p:spPr>
          <a:xfrm>
            <a:off x="10742371" y="914400"/>
            <a:ext cx="493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50" dirty="0">
                <a:solidFill>
                  <a:srgbClr val="9AA4B0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▶</a:t>
            </a:r>
            <a:endParaRPr lang="en-US" sz="450" dirty="0"/>
          </a:p>
        </p:txBody>
      </p:sp>
      <p:sp>
        <p:nvSpPr>
          <p:cNvPr id="200" name="Shape 198"/>
          <p:cNvSpPr/>
          <p:nvPr/>
        </p:nvSpPr>
        <p:spPr>
          <a:xfrm>
            <a:off x="10789920" y="713232"/>
            <a:ext cx="1289304" cy="621792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1" name="Text 199"/>
          <p:cNvSpPr txBox="1"/>
          <p:nvPr/>
        </p:nvSpPr>
        <p:spPr>
          <a:xfrm>
            <a:off x="10835640" y="75895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kern="0" spc="40" dirty="0">
                <a:solidFill>
                  <a:srgbClr val="FFFFFF"/>
                </a:solidFill>
                <a:latin typeface="Trenda IG Display Semibold" pitchFamily="34" charset="0"/>
                <a:ea typeface="Trenda IG Display Semibold" pitchFamily="34" charset="-122"/>
                <a:cs typeface="Trenda IG Display Semibold" pitchFamily="34" charset="-120"/>
              </a:rPr>
              <a:t>LAYER 9</a:t>
            </a:r>
            <a:endParaRPr lang="en-US" sz="750" dirty="0"/>
          </a:p>
        </p:txBody>
      </p:sp>
      <p:sp>
        <p:nvSpPr>
          <p:cNvPr id="202" name="Text 200"/>
          <p:cNvSpPr txBox="1"/>
          <p:nvPr/>
        </p:nvSpPr>
        <p:spPr>
          <a:xfrm>
            <a:off x="10826496" y="886968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Gap Engines and API</a:t>
            </a:r>
            <a:endParaRPr lang="en-US" sz="1000" dirty="0"/>
          </a:p>
        </p:txBody>
      </p:sp>
      <p:sp>
        <p:nvSpPr>
          <p:cNvPr id="203" name="Text 201"/>
          <p:cNvSpPr txBox="1"/>
          <p:nvPr/>
        </p:nvSpPr>
        <p:spPr>
          <a:xfrm>
            <a:off x="10835640" y="118872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4EEF2"/>
                </a:solidFill>
                <a:latin typeface="Trenda IG Text Light" pitchFamily="34" charset="0"/>
                <a:ea typeface="Trenda IG Text Light" pitchFamily="34" charset="-122"/>
                <a:cs typeface="Trenda IG Text Light" pitchFamily="34" charset="-120"/>
              </a:rPr>
              <a:t>Twelve scenarios, one engine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10789920" y="1353312"/>
            <a:ext cx="1289304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10863072" y="1467612"/>
            <a:ext cx="64008" cy="64008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6" name="Text 204"/>
          <p:cNvSpPr txBox="1"/>
          <p:nvPr/>
        </p:nvSpPr>
        <p:spPr>
          <a:xfrm>
            <a:off x="10963656" y="1435608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0757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Gap engines</a:t>
            </a:r>
            <a:endParaRPr lang="en-US" sz="800" dirty="0"/>
          </a:p>
        </p:txBody>
      </p:sp>
      <p:sp>
        <p:nvSpPr>
          <p:cNvPr id="207" name="Text 205"/>
          <p:cNvSpPr txBox="1"/>
          <p:nvPr/>
        </p:nvSpPr>
        <p:spPr>
          <a:xfrm>
            <a:off x="10863072" y="1605382"/>
            <a:ext cx="1188720" cy="65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access_gap()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idle_supply_gap()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credential_gap()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line_completeness()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leakage_gap()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10863072" y="2319376"/>
            <a:ext cx="64008" cy="64008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9" name="Text 207"/>
          <p:cNvSpPr txBox="1"/>
          <p:nvPr/>
        </p:nvSpPr>
        <p:spPr>
          <a:xfrm>
            <a:off x="10963656" y="2287372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0757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Query API</a:t>
            </a:r>
            <a:endParaRPr lang="en-US" sz="800" dirty="0"/>
          </a:p>
        </p:txBody>
      </p:sp>
      <p:sp>
        <p:nvSpPr>
          <p:cNvPr id="210" name="Text 208"/>
          <p:cNvSpPr txBox="1"/>
          <p:nvPr/>
        </p:nvSpPr>
        <p:spPr>
          <a:xfrm>
            <a:off x="10863072" y="2457145"/>
            <a:ext cx="118872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graph.query, gap.rank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appointment.risk(id)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slot.backfill(), whatif.simulate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cohort.build, asof(date)</a:t>
            </a:r>
            <a:endParaRPr lang="en-US" sz="700" dirty="0"/>
          </a:p>
        </p:txBody>
      </p:sp>
      <p:sp>
        <p:nvSpPr>
          <p:cNvPr id="211" name="Shape 209"/>
          <p:cNvSpPr/>
          <p:nvPr/>
        </p:nvSpPr>
        <p:spPr>
          <a:xfrm>
            <a:off x="10863072" y="3152089"/>
            <a:ext cx="64008" cy="64008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2" name="Text 210"/>
          <p:cNvSpPr txBox="1"/>
          <p:nvPr/>
        </p:nvSpPr>
        <p:spPr>
          <a:xfrm>
            <a:off x="10963656" y="3120085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0757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Policy at query time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10863072" y="3289859"/>
            <a:ext cx="1188720" cy="5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Purpose of use required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Minimum necessary compiled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k-anonymity pre-return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10863072" y="3861206"/>
            <a:ext cx="64008" cy="64008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5" name="Text 213"/>
          <p:cNvSpPr txBox="1"/>
          <p:nvPr/>
        </p:nvSpPr>
        <p:spPr>
          <a:xfrm>
            <a:off x="10963656" y="3829202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0757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Feature packs</a:t>
            </a:r>
            <a:endParaRPr lang="en-US" sz="800" dirty="0"/>
          </a:p>
        </p:txBody>
      </p:sp>
      <p:sp>
        <p:nvSpPr>
          <p:cNvPr id="216" name="Text 214"/>
          <p:cNvSpPr txBox="1"/>
          <p:nvPr/>
        </p:nvSpPr>
        <p:spPr>
          <a:xfrm>
            <a:off x="10863072" y="3998976"/>
            <a:ext cx="1188720" cy="4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Declare entities and spec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Declare signals and gaps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Campaigns come for free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10863072" y="4465777"/>
            <a:ext cx="64008" cy="64008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 txBox="1"/>
          <p:nvPr/>
        </p:nvSpPr>
        <p:spPr>
          <a:xfrm>
            <a:off x="10963656" y="4433773"/>
            <a:ext cx="1051560" cy="1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800" dirty="0">
                <a:solidFill>
                  <a:srgbClr val="00757F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Output contract</a:t>
            </a:r>
            <a:endParaRPr lang="en-US" sz="800" dirty="0"/>
          </a:p>
        </p:txBody>
      </p:sp>
      <p:sp>
        <p:nvSpPr>
          <p:cNvPr id="219" name="Text 217"/>
          <p:cNvSpPr txBox="1"/>
          <p:nvPr/>
        </p:nvSpPr>
        <p:spPr>
          <a:xfrm>
            <a:off x="10863072" y="4603547"/>
            <a:ext cx="1188720" cy="283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Ranked gap, evidence path</a:t>
            </a:r>
            <a:endParaRPr lang="en-US" sz="700" dirty="0"/>
          </a:p>
          <a:p>
            <a:pPr marL="91440" indent="-91440">
              <a:lnSpc>
                <a:spcPct val="98000"/>
              </a:lnSpc>
              <a:spcAft>
                <a:spcPts val="150"/>
              </a:spcAft>
              <a:buSzPct val="100000"/>
              <a:buChar char="•"/>
            </a:pPr>
            <a:r>
              <a:rPr lang="en-US" sz="70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Action, owner, cohort</a:t>
            </a:r>
            <a:endParaRPr lang="en-US" sz="700" dirty="0"/>
          </a:p>
        </p:txBody>
      </p:sp>
      <p:sp>
        <p:nvSpPr>
          <p:cNvPr id="220" name="Shape 218"/>
          <p:cNvSpPr/>
          <p:nvPr/>
        </p:nvSpPr>
        <p:spPr>
          <a:xfrm>
            <a:off x="10789920" y="5230368"/>
            <a:ext cx="1289304" cy="457200"/>
          </a:xfrm>
          <a:prstGeom prst="rect">
            <a:avLst/>
          </a:prstGeom>
          <a:solidFill>
            <a:srgbClr val="0075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1" name="Text 219"/>
          <p:cNvSpPr txBox="1"/>
          <p:nvPr/>
        </p:nvSpPr>
        <p:spPr>
          <a:xfrm>
            <a:off x="10863072" y="52760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kern="0" spc="40" dirty="0">
                <a:solidFill>
                  <a:srgbClr val="CFE6EE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WHAT YOU GET</a:t>
            </a:r>
            <a:endParaRPr lang="en-US" sz="650" dirty="0"/>
          </a:p>
        </p:txBody>
      </p:sp>
      <p:sp>
        <p:nvSpPr>
          <p:cNvPr id="222" name="Text 220"/>
          <p:cNvSpPr txBox="1"/>
          <p:nvPr/>
        </p:nvSpPr>
        <p:spPr>
          <a:xfrm>
            <a:off x="10863072" y="5404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Ranked, explainable gaps with the action attached</a:t>
            </a:r>
            <a:endParaRPr lang="en-US" sz="700" dirty="0"/>
          </a:p>
        </p:txBody>
      </p:sp>
      <p:sp>
        <p:nvSpPr>
          <p:cNvPr id="223" name="Text 221"/>
          <p:cNvSpPr txBox="1"/>
          <p:nvPr/>
        </p:nvSpPr>
        <p:spPr>
          <a:xfrm>
            <a:off x="109728" y="5742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600" dirty="0">
                <a:solidFill>
                  <a:srgbClr val="5A6573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HANDOFF</a:t>
            </a:r>
            <a:endParaRPr lang="en-US" sz="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600" dirty="0">
                <a:solidFill>
                  <a:srgbClr val="5A6573"/>
                </a:solidFill>
                <a:latin typeface="Trenda IG Text Semibold" pitchFamily="34" charset="0"/>
                <a:ea typeface="Trenda IG Text Semibold" pitchFamily="34" charset="-122"/>
                <a:cs typeface="Trenda IG Text Semibold" pitchFamily="34" charset="-120"/>
              </a:rPr>
              <a:t>BETWEEN LAYERS</a:t>
            </a:r>
            <a:endParaRPr lang="en-US" sz="600" dirty="0"/>
          </a:p>
        </p:txBody>
      </p:sp>
      <p:sp>
        <p:nvSpPr>
          <p:cNvPr id="224" name="Shape 222"/>
          <p:cNvSpPr/>
          <p:nvPr/>
        </p:nvSpPr>
        <p:spPr>
          <a:xfrm>
            <a:off x="1088136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1152144" y="5833872"/>
            <a:ext cx="64008" cy="64008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6" name="Text 224"/>
          <p:cNvSpPr txBox="1"/>
          <p:nvPr/>
        </p:nvSpPr>
        <p:spPr>
          <a:xfrm>
            <a:off x="1243584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read only API pull</a:t>
            </a:r>
            <a:endParaRPr lang="en-US" sz="630" dirty="0"/>
          </a:p>
        </p:txBody>
      </p:sp>
      <p:sp>
        <p:nvSpPr>
          <p:cNvPr id="227" name="Shape 225"/>
          <p:cNvSpPr/>
          <p:nvPr/>
        </p:nvSpPr>
        <p:spPr>
          <a:xfrm>
            <a:off x="2466594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2530602" y="5833872"/>
            <a:ext cx="64008" cy="64008"/>
          </a:xfrm>
          <a:prstGeom prst="rect">
            <a:avLst/>
          </a:prstGeom>
          <a:solidFill>
            <a:srgbClr val="0E8A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9" name="Text 227"/>
          <p:cNvSpPr txBox="1"/>
          <p:nvPr/>
        </p:nvSpPr>
        <p:spPr>
          <a:xfrm>
            <a:off x="2622042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bytes plus content hash</a:t>
            </a:r>
            <a:endParaRPr lang="en-US" sz="630" dirty="0"/>
          </a:p>
        </p:txBody>
      </p:sp>
      <p:sp>
        <p:nvSpPr>
          <p:cNvPr id="230" name="Shape 228"/>
          <p:cNvSpPr/>
          <p:nvPr/>
        </p:nvSpPr>
        <p:spPr>
          <a:xfrm>
            <a:off x="3845052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3909060" y="5833872"/>
            <a:ext cx="64008" cy="6400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2" name="Text 230"/>
          <p:cNvSpPr txBox="1"/>
          <p:nvPr/>
        </p:nvSpPr>
        <p:spPr>
          <a:xfrm>
            <a:off x="4000500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tokenised, de-identified</a:t>
            </a:r>
            <a:endParaRPr lang="en-US" sz="630" dirty="0"/>
          </a:p>
        </p:txBody>
      </p:sp>
      <p:sp>
        <p:nvSpPr>
          <p:cNvPr id="233" name="Shape 231"/>
          <p:cNvSpPr/>
          <p:nvPr/>
        </p:nvSpPr>
        <p:spPr>
          <a:xfrm>
            <a:off x="5223510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5287518" y="5833872"/>
            <a:ext cx="64008" cy="64008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5" name="Text 233"/>
          <p:cNvSpPr txBox="1"/>
          <p:nvPr/>
        </p:nvSpPr>
        <p:spPr>
          <a:xfrm>
            <a:off x="5378958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resolved entities, provenance</a:t>
            </a:r>
            <a:endParaRPr lang="en-US" sz="630" dirty="0"/>
          </a:p>
        </p:txBody>
      </p:sp>
      <p:sp>
        <p:nvSpPr>
          <p:cNvPr id="236" name="Shape 234"/>
          <p:cNvSpPr/>
          <p:nvPr/>
        </p:nvSpPr>
        <p:spPr>
          <a:xfrm>
            <a:off x="6601968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6665976" y="5833872"/>
            <a:ext cx="64008" cy="64008"/>
          </a:xfrm>
          <a:prstGeom prst="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8" name="Text 236"/>
          <p:cNvSpPr txBox="1"/>
          <p:nvPr/>
        </p:nvSpPr>
        <p:spPr>
          <a:xfrm>
            <a:off x="6757416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typed CareNetworkContext</a:t>
            </a:r>
            <a:endParaRPr lang="en-US" sz="630" dirty="0"/>
          </a:p>
        </p:txBody>
      </p:sp>
      <p:sp>
        <p:nvSpPr>
          <p:cNvPr id="239" name="Shape 237"/>
          <p:cNvSpPr/>
          <p:nvPr/>
        </p:nvSpPr>
        <p:spPr>
          <a:xfrm>
            <a:off x="7980426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8044434" y="5833872"/>
            <a:ext cx="64008" cy="64008"/>
          </a:xfrm>
          <a:prstGeom prst="rect">
            <a:avLst/>
          </a:prstGeom>
          <a:solidFill>
            <a:srgbClr val="C77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1" name="Text 239"/>
          <p:cNvSpPr txBox="1"/>
          <p:nvPr/>
        </p:nvSpPr>
        <p:spPr>
          <a:xfrm>
            <a:off x="8135874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immutable JSON snapshot</a:t>
            </a:r>
            <a:endParaRPr lang="en-US" sz="630" dirty="0"/>
          </a:p>
        </p:txBody>
      </p:sp>
      <p:sp>
        <p:nvSpPr>
          <p:cNvPr id="242" name="Shape 240"/>
          <p:cNvSpPr/>
          <p:nvPr/>
        </p:nvSpPr>
        <p:spPr>
          <a:xfrm>
            <a:off x="9358884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9422892" y="5833872"/>
            <a:ext cx="64008" cy="6400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4" name="Text 242"/>
          <p:cNvSpPr txBox="1"/>
          <p:nvPr/>
        </p:nvSpPr>
        <p:spPr>
          <a:xfrm>
            <a:off x="9514332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derived edges, dated indices</a:t>
            </a:r>
            <a:endParaRPr lang="en-US" sz="630" dirty="0"/>
          </a:p>
        </p:txBody>
      </p:sp>
      <p:sp>
        <p:nvSpPr>
          <p:cNvPr id="245" name="Shape 243"/>
          <p:cNvSpPr/>
          <p:nvPr/>
        </p:nvSpPr>
        <p:spPr>
          <a:xfrm>
            <a:off x="10737342" y="5742432"/>
            <a:ext cx="13258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10801350" y="5833872"/>
            <a:ext cx="64008" cy="640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7" name="Text 245"/>
          <p:cNvSpPr txBox="1"/>
          <p:nvPr/>
        </p:nvSpPr>
        <p:spPr>
          <a:xfrm>
            <a:off x="10892790" y="5742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graph loaded, traversals ready</a:t>
            </a:r>
            <a:endParaRPr lang="en-US" sz="630" dirty="0"/>
          </a:p>
        </p:txBody>
      </p:sp>
      <p:sp>
        <p:nvSpPr>
          <p:cNvPr id="248" name="Shape 246"/>
          <p:cNvSpPr/>
          <p:nvPr/>
        </p:nvSpPr>
        <p:spPr>
          <a:xfrm>
            <a:off x="109728" y="6071616"/>
            <a:ext cx="293751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201168" y="6163056"/>
            <a:ext cx="77724" cy="77724"/>
          </a:xfrm>
          <a:prstGeom prst="rect">
            <a:avLst/>
          </a:prstGeom>
          <a:solidFill>
            <a:srgbClr val="7A4F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0" name="Text 248"/>
          <p:cNvSpPr txBox="1"/>
          <p:nvPr/>
        </p:nvSpPr>
        <p:spPr>
          <a:xfrm>
            <a:off x="329184" y="612648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A4F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Provenance and authority</a:t>
            </a:r>
            <a:endParaRPr lang="en-US" sz="800" dirty="0"/>
          </a:p>
        </p:txBody>
      </p:sp>
      <p:sp>
        <p:nvSpPr>
          <p:cNvPr id="251" name="Text 249"/>
          <p:cNvSpPr txBox="1"/>
          <p:nvPr/>
        </p:nvSpPr>
        <p:spPr>
          <a:xfrm>
            <a:off x="201168" y="63093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node and edge carries source, extract id, content hash, retrievedAt and derivation: FACTUAL, INFERRED or MODELLED. Authority stays with the source system. The graph never becomes the system of record for a clinical fact.</a:t>
            </a:r>
            <a:endParaRPr lang="en-US" sz="680" dirty="0"/>
          </a:p>
        </p:txBody>
      </p:sp>
      <p:sp>
        <p:nvSpPr>
          <p:cNvPr id="252" name="Shape 250"/>
          <p:cNvSpPr/>
          <p:nvPr/>
        </p:nvSpPr>
        <p:spPr>
          <a:xfrm>
            <a:off x="3120390" y="6071616"/>
            <a:ext cx="293751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251"/>
          <p:cNvSpPr/>
          <p:nvPr/>
        </p:nvSpPr>
        <p:spPr>
          <a:xfrm>
            <a:off x="3211830" y="6163056"/>
            <a:ext cx="77724" cy="77724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4" name="Text 252"/>
          <p:cNvSpPr txBox="1"/>
          <p:nvPr/>
        </p:nvSpPr>
        <p:spPr>
          <a:xfrm>
            <a:off x="3339846" y="612648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A1B9A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Threat model, and the control for each</a:t>
            </a:r>
            <a:endParaRPr lang="en-US" sz="800" dirty="0"/>
          </a:p>
        </p:txBody>
      </p:sp>
      <p:sp>
        <p:nvSpPr>
          <p:cNvPr id="255" name="Text 253"/>
          <p:cNvSpPr txBox="1"/>
          <p:nvPr/>
        </p:nvSpPr>
        <p:spPr>
          <a:xfrm>
            <a:off x="3211830" y="63093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Re-identification from rare attribute combinations: k-anonymity at the query compiler. Insider browsing: purpose of use required per query. PHI reaching a model: aggregates unless BAA covered. Vendor sprawl: no copies leave the boundary.</a:t>
            </a:r>
            <a:endParaRPr lang="en-US" sz="680" dirty="0"/>
          </a:p>
        </p:txBody>
      </p:sp>
      <p:sp>
        <p:nvSpPr>
          <p:cNvPr id="256" name="Shape 254"/>
          <p:cNvSpPr/>
          <p:nvPr/>
        </p:nvSpPr>
        <p:spPr>
          <a:xfrm>
            <a:off x="6131052" y="6071616"/>
            <a:ext cx="293751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hape 255"/>
          <p:cNvSpPr/>
          <p:nvPr/>
        </p:nvSpPr>
        <p:spPr>
          <a:xfrm>
            <a:off x="6222492" y="6163056"/>
            <a:ext cx="77724" cy="77724"/>
          </a:xfrm>
          <a:prstGeom prst="rect">
            <a:avLst/>
          </a:prstGeom>
          <a:solidFill>
            <a:srgbClr val="1B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8" name="Text 256"/>
          <p:cNvSpPr txBox="1"/>
          <p:nvPr/>
        </p:nvSpPr>
        <p:spPr>
          <a:xfrm>
            <a:off x="6350508" y="612648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6BC0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Audit and traceability</a:t>
            </a:r>
            <a:endParaRPr lang="en-US" sz="800" dirty="0"/>
          </a:p>
        </p:txBody>
      </p:sp>
      <p:sp>
        <p:nvSpPr>
          <p:cNvPr id="259" name="Text 257"/>
          <p:cNvSpPr txBox="1"/>
          <p:nvPr/>
        </p:nvSpPr>
        <p:spPr>
          <a:xfrm>
            <a:off x="6222492" y="63093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Every gap resolves back to the source rows that produced it. Every query, answer and cohort is logged with user, purpose, timestamp, snapshot id and the evidence path returned. A gap that cannot be replayed is not published.</a:t>
            </a:r>
            <a:endParaRPr lang="en-US" sz="680" dirty="0"/>
          </a:p>
        </p:txBody>
      </p:sp>
      <p:sp>
        <p:nvSpPr>
          <p:cNvPr id="260" name="Shape 258"/>
          <p:cNvSpPr/>
          <p:nvPr/>
        </p:nvSpPr>
        <p:spPr>
          <a:xfrm>
            <a:off x="9141714" y="6071616"/>
            <a:ext cx="293751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hape 259"/>
          <p:cNvSpPr/>
          <p:nvPr/>
        </p:nvSpPr>
        <p:spPr>
          <a:xfrm>
            <a:off x="9233154" y="6163056"/>
            <a:ext cx="77724" cy="7772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2" name="Text 260"/>
          <p:cNvSpPr txBox="1"/>
          <p:nvPr/>
        </p:nvSpPr>
        <p:spPr>
          <a:xfrm>
            <a:off x="9361170" y="6126480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E7D32"/>
                </a:solidFill>
                <a:latin typeface="Trenda IG Display Bold" pitchFamily="34" charset="0"/>
                <a:ea typeface="Trenda IG Display Bold" pitchFamily="34" charset="-122"/>
                <a:cs typeface="Trenda IG Display Bold" pitchFamily="34" charset="-120"/>
              </a:rPr>
              <a:t>Scope of the proof</a:t>
            </a:r>
            <a:endParaRPr lang="en-US" sz="800" dirty="0"/>
          </a:p>
        </p:txBody>
      </p:sp>
      <p:sp>
        <p:nvSpPr>
          <p:cNvPr id="263" name="Text 261"/>
          <p:cNvSpPr txBox="1"/>
          <p:nvPr/>
        </p:nvSpPr>
        <p:spPr>
          <a:xfrm>
            <a:off x="9233154" y="630936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80" dirty="0">
                <a:solidFill>
                  <a:srgbClr val="1A1A1A"/>
                </a:solidFill>
                <a:latin typeface="Trenda IG Text" pitchFamily="34" charset="0"/>
                <a:ea typeface="Trenda IG Text" pitchFamily="34" charset="-122"/>
                <a:cs typeface="Trenda IG Text" pitchFamily="34" charset="-120"/>
              </a:rPr>
              <a:t>One market, two service lines, ninety days. Build order: privacy boundary, then identity, then graph, then two gap engines, then one what-if. Success is a gap list a clinical leader and a network leader both sign.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spc="120">
                <a:solidFill>
                  <a:srgbClr val="5FD0C0"/>
                </a:solidFill>
                <a:latin typeface="Trenda IG Display Semibold"/>
              </a:rPr>
              <a:t>THE QUESTIONS THAT COME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>
                <a:solidFill>
                  <a:srgbClr val="FFFFFF"/>
                </a:solidFill>
                <a:latin typeface="Trenda IG Display Bold"/>
              </a:rPr>
              <a:t>Where it runs, what it is written in, and which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21945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900">
                <a:solidFill>
                  <a:srgbClr val="A9B4C2"/>
                </a:solidFill>
                <a:latin typeface="Trenda IG Text Light"/>
              </a:rPr>
              <a:t>Every one of these</a:t>
            </a:r>
          </a:p>
          <a:p>
            <a:pPr>
              <a:lnSpc>
                <a:spcPct val="108000"/>
              </a:lnSpc>
            </a:pPr>
            <a:r>
              <a:rPr sz="900">
                <a:solidFill>
                  <a:srgbClr val="A9B4C2"/>
                </a:solidFill>
                <a:latin typeface="Trenda IG Text Light"/>
              </a:rPr>
              <a:t>is a swap, not a rebuild.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987552"/>
            <a:ext cx="2896362" cy="349300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9728" y="987552"/>
            <a:ext cx="2896362" cy="384048"/>
          </a:xfrm>
          <a:prstGeom prst="rect">
            <a:avLst/>
          </a:prstGeom>
          <a:solidFill>
            <a:srgbClr val="1B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" y="987552"/>
            <a:ext cx="26037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Trenda IG Display Bold"/>
              </a:rPr>
              <a:t>Where does it run?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49961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149961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Any cloud, or none: AWS, Azure, GCP, private cloud or on premise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89077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89077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Packaged as containers, so it lands in whatever you already 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28193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28193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Batch on a schedule to rebuild the graph, an API service to query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673095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673095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No managed service is assumed anywhere in the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602736"/>
            <a:ext cx="2603754" cy="73152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84048" y="3730752"/>
            <a:ext cx="73152" cy="73152"/>
          </a:xfrm>
          <a:prstGeom prst="rect">
            <a:avLst/>
          </a:prstGeom>
          <a:solidFill>
            <a:srgbClr val="1B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4048" y="3877056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900">
                <a:solidFill>
                  <a:srgbClr val="FFFFFF"/>
                </a:solidFill>
                <a:latin typeface="Trenda IG Text Semibold"/>
              </a:rPr>
              <a:t>If it runs Python and containers, it runs this.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4106" y="987552"/>
            <a:ext cx="2896362" cy="349300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34106" y="987552"/>
            <a:ext cx="2896362" cy="384048"/>
          </a:xfrm>
          <a:prstGeom prst="rect">
            <a:avLst/>
          </a:prstGeom>
          <a:solidFill>
            <a:srgbClr val="007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80410" y="987552"/>
            <a:ext cx="26037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Trenda IG Display Bold"/>
              </a:rPr>
              <a:t>Where does the data live?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0410" y="149961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0994" y="149961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Object storage: S3, Azure Blob, Google Cloud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0410" y="189077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0994" y="189077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Graph store: Neo4j, TigerGraph, Neptune, Memgraph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0410" y="228193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0994" y="228193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Warehouse: Snowflake, BigQuery, Databricks, Synapse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0410" y="2673095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0994" y="2673095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Relational: Postgres, where the graph is small enough to sit there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0410" y="3602736"/>
            <a:ext cx="2603754" cy="73152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408426" y="3730752"/>
            <a:ext cx="73152" cy="73152"/>
          </a:xfrm>
          <a:prstGeom prst="rect">
            <a:avLst/>
          </a:prstGeom>
          <a:solidFill>
            <a:srgbClr val="007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08426" y="3877056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900">
                <a:solidFill>
                  <a:srgbClr val="FFFFFF"/>
                </a:solidFill>
                <a:latin typeface="Trenda IG Text Semibold"/>
              </a:rPr>
              <a:t>The snapshot is vendor neutral JSON, so the store is a swap, not a rewrite.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8484" y="987552"/>
            <a:ext cx="2896362" cy="349300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58484" y="987552"/>
            <a:ext cx="2896362" cy="384048"/>
          </a:xfrm>
          <a:prstGeom prst="rect">
            <a:avLst/>
          </a:prstGeom>
          <a:solidFill>
            <a:srgbClr val="C7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04788" y="987552"/>
            <a:ext cx="26037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Trenda IG Display Bold"/>
              </a:rPr>
              <a:t>What is it written in?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4788" y="149961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5372" y="149961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Python is the core: ingestion, identity, derived edges and the gap engines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4788" y="189077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5372" y="189077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Standard libraries and open packages. No proprietary runtime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4788" y="228193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5372" y="228193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Orchestrated by whatever you already run: Airflow, Dagster, Step Functions, cron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4788" y="2673095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5372" y="2673095"/>
            <a:ext cx="2503170" cy="470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Configuration is data: ontology shapes, specifications and thresholds are files, not 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4788" y="3602736"/>
            <a:ext cx="2603754" cy="73152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432804" y="3730752"/>
            <a:ext cx="73152" cy="73152"/>
          </a:xfrm>
          <a:prstGeom prst="rect">
            <a:avLst/>
          </a:prstGeom>
          <a:solidFill>
            <a:srgbClr val="C7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432804" y="3877056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900">
                <a:solidFill>
                  <a:srgbClr val="FFFFFF"/>
                </a:solidFill>
                <a:latin typeface="Trenda IG Text Semibold"/>
              </a:rPr>
              <a:t>A new industry ships as configuration and connectors, not a new codebase.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2861" y="987552"/>
            <a:ext cx="2896362" cy="3493008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182861" y="987552"/>
            <a:ext cx="2896362" cy="384048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329165" y="987552"/>
            <a:ext cx="260375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Trenda IG Display Bold"/>
              </a:rPr>
              <a:t>Which AI model?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9165" y="149961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9749" y="149961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Claude, Gemini, GPT and Codex, or an open weights model, behind one adapter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9165" y="189077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29749" y="189077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The model turns a question into a traversal, and evidence into a sentence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9165" y="2281936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29749" y="2281936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It does not decide the answer. The traversal computes it and the citation proves 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9165" y="2673095"/>
            <a:ext cx="109728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Trenda IG Text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29749" y="2673095"/>
            <a:ext cx="2503170" cy="3261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50">
                <a:solidFill>
                  <a:srgbClr val="1A1A1A"/>
                </a:solidFill>
                <a:latin typeface="Trenda IG Text"/>
              </a:rPr>
              <a:t>Model choice can differ per environment and per sensitivity rule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9165" y="3602736"/>
            <a:ext cx="2603754" cy="73152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9457182" y="3730752"/>
            <a:ext cx="73152" cy="73152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457182" y="3877056"/>
            <a:ext cx="23477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900">
                <a:solidFill>
                  <a:srgbClr val="FFFFFF"/>
                </a:solidFill>
                <a:latin typeface="Trenda IG Text Semibold"/>
              </a:rPr>
              <a:t>Swap the model and the answers do not change. That is the test.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9728" y="4626864"/>
            <a:ext cx="11972544" cy="987552"/>
          </a:xfrm>
          <a:prstGeom prst="rect">
            <a:avLst/>
          </a:prstGeom>
          <a:solidFill>
            <a:srgbClr val="F4F6F9"/>
          </a:solidFill>
          <a:ln w="9525">
            <a:solidFill>
              <a:srgbClr val="D5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292608" y="4828032"/>
            <a:ext cx="91440" cy="914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93776" y="4745736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>
                <a:solidFill>
                  <a:srgbClr val="1A1A1A"/>
                </a:solidFill>
                <a:latin typeface="Trenda IG Display Bold"/>
              </a:rPr>
              <a:t>Three things we do require, whatever you choose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5065776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C62828"/>
                </a:solidFill>
                <a:latin typeface="Trenda IG Text Semibold"/>
              </a:rPr>
              <a:t>1  A store that can traverse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" y="5276088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9">
                <a:solidFill>
                  <a:srgbClr val="5A6573"/>
                </a:solidFill>
                <a:latin typeface="Trenda IG Text"/>
              </a:rPr>
              <a:t>or every hop is paid for in hand written SQL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52544" y="5065776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C62828"/>
                </a:solidFill>
                <a:latin typeface="Trenda IG Text Semibold"/>
              </a:rPr>
              <a:t>2  An endpoint under the right agreement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52544" y="5276088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9">
                <a:solidFill>
                  <a:srgbClr val="5A6573"/>
                </a:solidFill>
                <a:latin typeface="Trenda IG Text"/>
              </a:rPr>
              <a:t>where regulated data is in play, or the model sees aggregates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11312" y="5065776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>
                <a:solidFill>
                  <a:srgbClr val="C62828"/>
                </a:solidFill>
                <a:latin typeface="Trenda IG Text Semibold"/>
              </a:rPr>
              <a:t>3  Reproducibility from a snapshot 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1312" y="5276088"/>
            <a:ext cx="3703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9">
                <a:solidFill>
                  <a:srgbClr val="5A6573"/>
                </a:solidFill>
                <a:latin typeface="Trenda IG Text"/>
              </a:rPr>
              <a:t>any answer replayable at a date, whatever the stack underneath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" y="5779008"/>
            <a:ext cx="11972544" cy="566928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92608" y="5971032"/>
            <a:ext cx="91440" cy="91440"/>
          </a:xfrm>
          <a:prstGeom prst="rect">
            <a:avLst/>
          </a:prstGeom>
          <a:solidFill>
            <a:srgbClr val="5F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93776" y="5779008"/>
            <a:ext cx="114300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Trenda IG Text"/>
              </a:rPr>
              <a:t>The framework is open by construction. Every vendor named here is an example, not a dependency.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4214</Words>
  <Application>Microsoft Office PowerPoint</Application>
  <PresentationFormat>Widescreen</PresentationFormat>
  <Paragraphs>784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Courier New</vt:lpstr>
      <vt:lpstr>Trenda IG Display Bold</vt:lpstr>
      <vt:lpstr>Trenda IG Display Semibold</vt:lpstr>
      <vt:lpstr>Trenda IG Text</vt:lpstr>
      <vt:lpstr>Trenda IG Text Light</vt:lpstr>
      <vt:lpstr>Trenda IG Text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Gap Intelligence Framework</dc:title>
  <dc:subject>PptxGenJS Presentation</dc:subject>
  <dc:creator>Insight Global Labs</dc:creator>
  <cp:lastModifiedBy>Surya Chinta</cp:lastModifiedBy>
  <cp:revision>1</cp:revision>
  <dcterms:created xsi:type="dcterms:W3CDTF">2026-09-21T14:38:01Z</dcterms:created>
  <dcterms:modified xsi:type="dcterms:W3CDTF">2026-09-21T14:46:55Z</dcterms:modified>
</cp:coreProperties>
</file>