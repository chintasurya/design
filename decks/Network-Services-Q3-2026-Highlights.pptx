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picture for Jeff: in Q3 the team built a new front door and readied the rest of the lifecycle for new markets.
- New: the Digital Provider Application for intake, live in our first market.
- Enhanced: conversion, contracting, credentialing, network participation and data/access already existed; the team extended them so they work for new markets.
- Scale: the intake is built as a framework, so onboarding the next market is configuration on the current system, not a rebuild.
Caveat: this is UAT evidence; production adoption and time savings still need production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people view for Jeff: how each group's day-to-day work changes because of what was delivered.
- Intake and recruitment: no more re-keying applications.
- Contracting: every deal has a clear next step.
- Credentialing: recredentialing is set up on time automatically.
- Network management: participation follows contract and account changes.
- Operations: bad data is stopped at entry.
- All roles: permissions are ready, so teams don't wait on admins.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lifecycle left to right, top to bottom:
1. Intake: digital application now converts Leads and creates downstream records automatically.
2. Conversion and identity: one reliable provider record, fewer duplicates and credentialing errors.
3. Contracting: three releases of Opportunity task automation give every deal a clear next step.
4. Recredentialing: due applications and documents are created on schedule.
5. Network participation: participation follows account, fee schedule and facility changes automatically.
6. Data governance: 20 validation rules stop invalid relationships at entry.
7. User experience: refreshed pages and search for faster decisions.
8. Access: the right groups can use the new automation without admin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bg1"/>
                </a:solidFill>
              </a:rPr>
              <a:t>NETWORK SERVICES  ·  Q3 2026 HIGHLIGHTS</a:t>
            </a:r>
            <a:endParaRPr lang="en-US" sz="900" dirty="0"/>
          </a:p>
        </p:txBody>
      </p:sp>
      <p:pic>
        <p:nvPicPr>
          <p:cNvPr id="3" name="Image 0" descr="Insight Global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38404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6364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 Title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bg1"/>
                </a:solidFill>
              </a:rPr>
              <a:t>NETWORK SERVICES  ·  Q3 2026 HIGHLIGHTS</a:t>
            </a:r>
            <a:endParaRPr lang="en-US" sz="900" dirty="0"/>
          </a:p>
        </p:txBody>
      </p:sp>
      <p:pic>
        <p:nvPicPr>
          <p:cNvPr id="3" name="Image 0" descr="Insight Global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384048" cy="109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976" y="6364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IG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 Dark He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ight Global 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19088"/>
            <a:ext cx="38404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0976" y="6364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Q3 readied our provider lifecycle for new markets</a:t>
            </a:r>
            <a:endParaRPr lang="en-US" sz="3200" dirty="0"/>
          </a:p>
        </p:txBody>
      </p:sp>
      <p:sp>
        <p:nvSpPr>
          <p:cNvPr id="3" name="Summary"/>
          <p:cNvSpPr txBox="1"/>
          <p:nvPr/>
        </p:nvSpPr>
        <p:spPr>
          <a:xfrm>
            <a:off x="548640" y="132588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We launched a new Digital Provider Application as the front door, and enhanced every existing stage behind it so new markets can onboard on the system we already have.</a:t>
            </a:r>
            <a:endParaRPr lang="en-US" sz="1600" dirty="0"/>
          </a:p>
        </p:txBody>
      </p:sp>
      <p:sp>
        <p:nvSpPr>
          <p:cNvPr id="4" name="New tag"/>
          <p:cNvSpPr/>
          <p:nvPr/>
        </p:nvSpPr>
        <p:spPr>
          <a:xfrm>
            <a:off x="1188720" y="2103120"/>
            <a:ext cx="822960" cy="292608"/>
          </a:xfrm>
          <a:prstGeom prst="roundRect">
            <a:avLst>
              <a:gd name="adj" fmla="val 46875"/>
            </a:avLst>
          </a:prstGeom>
          <a:solidFill>
            <a:srgbClr val="00C8F0"/>
          </a:solidFill>
          <a:ln>
            <a:solidFill>
              <a:srgbClr val="00C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</a:rPr>
              <a:t>NEW</a:t>
            </a:r>
            <a:endParaRPr lang="en-US" sz="1100" dirty="0"/>
          </a:p>
        </p:txBody>
      </p:sp>
      <p:sp>
        <p:nvSpPr>
          <p:cNvPr id="5" name="Enhanced bracket"/>
          <p:cNvSpPr/>
          <p:nvPr/>
        </p:nvSpPr>
        <p:spPr>
          <a:xfrm>
            <a:off x="3398459" y="2395728"/>
            <a:ext cx="71930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" name="Enhanced bracket end 1"/>
          <p:cNvSpPr/>
          <p:nvPr/>
        </p:nvSpPr>
        <p:spPr>
          <a:xfrm>
            <a:off x="3398459" y="2395728"/>
            <a:ext cx="0" cy="12801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Enhanced bracket end 5"/>
          <p:cNvSpPr/>
          <p:nvPr/>
        </p:nvSpPr>
        <p:spPr>
          <a:xfrm>
            <a:off x="10591495" y="2395728"/>
            <a:ext cx="0" cy="12801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Enhanced label"/>
          <p:cNvSpPr txBox="1"/>
          <p:nvPr/>
        </p:nvSpPr>
        <p:spPr>
          <a:xfrm>
            <a:off x="3398459" y="2057400"/>
            <a:ext cx="7193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EXISTING STAGES, ENHANCED FOR NEW MARKETS</a:t>
            </a:r>
            <a:endParaRPr lang="en-US" sz="1100" dirty="0"/>
          </a:p>
        </p:txBody>
      </p:sp>
      <p:sp>
        <p:nvSpPr>
          <p:cNvPr id="9" name="Stage 1 circle"/>
          <p:cNvSpPr/>
          <p:nvPr/>
        </p:nvSpPr>
        <p:spPr>
          <a:xfrm>
            <a:off x="548640" y="2560320"/>
            <a:ext cx="2103120" cy="2103120"/>
          </a:xfrm>
          <a:prstGeom prst="ellipse">
            <a:avLst/>
          </a:prstGeom>
          <a:solidFill>
            <a:srgbClr val="00C8F0">
              <a:alpha val="8500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Stage 2 circle"/>
          <p:cNvSpPr/>
          <p:nvPr/>
        </p:nvSpPr>
        <p:spPr>
          <a:xfrm>
            <a:off x="2346899" y="2560320"/>
            <a:ext cx="2103120" cy="2103120"/>
          </a:xfrm>
          <a:prstGeom prst="ellipse">
            <a:avLst/>
          </a:prstGeom>
          <a:solidFill>
            <a:srgbClr val="FFD200">
              <a:alpha val="50000"/>
            </a:srgbClr>
          </a:solidFill>
          <a:ln w="12700">
            <a:solidFill>
              <a:srgbClr val="FFD200">
                <a:alpha val="80000"/>
              </a:srgbClr>
            </a:solidFill>
            <a:prstDash val="solid"/>
          </a:ln>
        </p:spPr>
      </p:sp>
      <p:sp>
        <p:nvSpPr>
          <p:cNvPr id="11" name="Stage 3 circle"/>
          <p:cNvSpPr/>
          <p:nvPr/>
        </p:nvSpPr>
        <p:spPr>
          <a:xfrm>
            <a:off x="4145158" y="2560320"/>
            <a:ext cx="2103120" cy="2103120"/>
          </a:xfrm>
          <a:prstGeom prst="ellipse">
            <a:avLst/>
          </a:prstGeom>
          <a:solidFill>
            <a:srgbClr val="FF0A6E">
              <a:alpha val="50000"/>
            </a:srgbClr>
          </a:solidFill>
          <a:ln w="12700">
            <a:solidFill>
              <a:srgbClr val="FF0A6E">
                <a:alpha val="80000"/>
              </a:srgbClr>
            </a:solidFill>
            <a:prstDash val="solid"/>
          </a:ln>
        </p:spPr>
      </p:sp>
      <p:sp>
        <p:nvSpPr>
          <p:cNvPr id="12" name="Stage 4 circle"/>
          <p:cNvSpPr/>
          <p:nvPr/>
        </p:nvSpPr>
        <p:spPr>
          <a:xfrm>
            <a:off x="5943417" y="2560320"/>
            <a:ext cx="2103120" cy="2103120"/>
          </a:xfrm>
          <a:prstGeom prst="ellipse">
            <a:avLst/>
          </a:prstGeom>
          <a:solidFill>
            <a:srgbClr val="00C8F0">
              <a:alpha val="50000"/>
            </a:srgbClr>
          </a:solidFill>
          <a:ln w="12700">
            <a:solidFill>
              <a:srgbClr val="00C8F0">
                <a:alpha val="80000"/>
              </a:srgbClr>
            </a:solidFill>
            <a:prstDash val="solid"/>
          </a:ln>
        </p:spPr>
      </p:sp>
      <p:sp>
        <p:nvSpPr>
          <p:cNvPr id="13" name="Stage 5 circle"/>
          <p:cNvSpPr/>
          <p:nvPr/>
        </p:nvSpPr>
        <p:spPr>
          <a:xfrm>
            <a:off x="7741676" y="2560320"/>
            <a:ext cx="2103120" cy="2103120"/>
          </a:xfrm>
          <a:prstGeom prst="ellipse">
            <a:avLst/>
          </a:prstGeom>
          <a:solidFill>
            <a:srgbClr val="FFD200">
              <a:alpha val="50000"/>
            </a:srgbClr>
          </a:solidFill>
          <a:ln w="12700">
            <a:solidFill>
              <a:srgbClr val="FFD200">
                <a:alpha val="80000"/>
              </a:srgbClr>
            </a:solidFill>
            <a:prstDash val="solid"/>
          </a:ln>
        </p:spPr>
      </p:sp>
      <p:sp>
        <p:nvSpPr>
          <p:cNvPr id="14" name="Stage 6 circle"/>
          <p:cNvSpPr/>
          <p:nvPr/>
        </p:nvSpPr>
        <p:spPr>
          <a:xfrm>
            <a:off x="9539935" y="2560320"/>
            <a:ext cx="2103120" cy="2103120"/>
          </a:xfrm>
          <a:prstGeom prst="ellipse">
            <a:avLst/>
          </a:prstGeom>
          <a:solidFill>
            <a:srgbClr val="FF0A6E">
              <a:alpha val="50000"/>
            </a:srgbClr>
          </a:solidFill>
          <a:ln w="12700">
            <a:solidFill>
              <a:srgbClr val="FF0A6E">
                <a:alpha val="80000"/>
              </a:srgbClr>
            </a:solidFill>
            <a:prstDash val="solid"/>
          </a:ln>
        </p:spPr>
      </p:sp>
      <p:sp>
        <p:nvSpPr>
          <p:cNvPr id="15" name="Stage 1 name"/>
          <p:cNvSpPr txBox="1"/>
          <p:nvPr/>
        </p:nvSpPr>
        <p:spPr>
          <a:xfrm>
            <a:off x="68580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Intake</a:t>
            </a:r>
            <a:endParaRPr lang="en-US" sz="1600" dirty="0"/>
          </a:p>
        </p:txBody>
      </p:sp>
      <p:sp>
        <p:nvSpPr>
          <p:cNvPr id="16" name="Stage 1 built"/>
          <p:cNvSpPr txBox="1"/>
          <p:nvPr/>
        </p:nvSpPr>
        <p:spPr>
          <a:xfrm>
            <a:off x="701070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Digital Provider Application, live in our first market</a:t>
            </a:r>
            <a:endParaRPr lang="en-US" sz="1300" dirty="0"/>
          </a:p>
        </p:txBody>
      </p:sp>
      <p:sp>
        <p:nvSpPr>
          <p:cNvPr id="17" name="Stage 2 name"/>
          <p:cNvSpPr txBox="1"/>
          <p:nvPr/>
        </p:nvSpPr>
        <p:spPr>
          <a:xfrm>
            <a:off x="2484059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Conversion</a:t>
            </a:r>
            <a:endParaRPr lang="en-US" sz="1600" dirty="0"/>
          </a:p>
        </p:txBody>
      </p:sp>
      <p:sp>
        <p:nvSpPr>
          <p:cNvPr id="18" name="Stage 2 built"/>
          <p:cNvSpPr txBox="1"/>
          <p:nvPr/>
        </p:nvSpPr>
        <p:spPr>
          <a:xfrm>
            <a:off x="2499330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Lead conversion and provider identity strengthened</a:t>
            </a:r>
            <a:endParaRPr lang="en-US" sz="1300" dirty="0"/>
          </a:p>
        </p:txBody>
      </p:sp>
      <p:sp>
        <p:nvSpPr>
          <p:cNvPr id="19" name="Stage 3 name"/>
          <p:cNvSpPr txBox="1"/>
          <p:nvPr/>
        </p:nvSpPr>
        <p:spPr>
          <a:xfrm>
            <a:off x="4282318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Contracting</a:t>
            </a:r>
            <a:endParaRPr lang="en-US" sz="1600" dirty="0"/>
          </a:p>
        </p:txBody>
      </p:sp>
      <p:sp>
        <p:nvSpPr>
          <p:cNvPr id="20" name="Stage 3 built"/>
          <p:cNvSpPr txBox="1"/>
          <p:nvPr/>
        </p:nvSpPr>
        <p:spPr>
          <a:xfrm>
            <a:off x="4297589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Opportunity task automation enhanced in three releases</a:t>
            </a:r>
            <a:endParaRPr lang="en-US" sz="1300" dirty="0"/>
          </a:p>
        </p:txBody>
      </p:sp>
      <p:sp>
        <p:nvSpPr>
          <p:cNvPr id="21" name="Stage 4 name"/>
          <p:cNvSpPr txBox="1"/>
          <p:nvPr/>
        </p:nvSpPr>
        <p:spPr>
          <a:xfrm>
            <a:off x="6080577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Credentialing</a:t>
            </a:r>
            <a:endParaRPr lang="en-US" sz="1600" dirty="0"/>
          </a:p>
        </p:txBody>
      </p:sp>
      <p:sp>
        <p:nvSpPr>
          <p:cNvPr id="22" name="Stage 4 built"/>
          <p:cNvSpPr txBox="1"/>
          <p:nvPr/>
        </p:nvSpPr>
        <p:spPr>
          <a:xfrm>
            <a:off x="6095848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Recredentialing flow and document setup updated</a:t>
            </a:r>
            <a:endParaRPr lang="en-US" sz="1300" dirty="0"/>
          </a:p>
        </p:txBody>
      </p:sp>
      <p:sp>
        <p:nvSpPr>
          <p:cNvPr id="23" name="Stage 5 name"/>
          <p:cNvSpPr txBox="1"/>
          <p:nvPr/>
        </p:nvSpPr>
        <p:spPr>
          <a:xfrm>
            <a:off x="7878836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Network participation</a:t>
            </a:r>
            <a:endParaRPr lang="en-US" sz="1600" dirty="0"/>
          </a:p>
        </p:txBody>
      </p:sp>
      <p:sp>
        <p:nvSpPr>
          <p:cNvPr id="24" name="Stage 5 built"/>
          <p:cNvSpPr txBox="1"/>
          <p:nvPr/>
        </p:nvSpPr>
        <p:spPr>
          <a:xfrm>
            <a:off x="7894107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Now follows account and contract changes automatically</a:t>
            </a:r>
            <a:endParaRPr lang="en-US" sz="1300" dirty="0"/>
          </a:p>
        </p:txBody>
      </p:sp>
      <p:sp>
        <p:nvSpPr>
          <p:cNvPr id="25" name="Stage 6 name"/>
          <p:cNvSpPr txBox="1"/>
          <p:nvPr/>
        </p:nvSpPr>
        <p:spPr>
          <a:xfrm>
            <a:off x="9677095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Data and access</a:t>
            </a:r>
            <a:endParaRPr lang="en-US" sz="1600" dirty="0"/>
          </a:p>
        </p:txBody>
      </p:sp>
      <p:sp>
        <p:nvSpPr>
          <p:cNvPr id="26" name="Stage 6 built"/>
          <p:cNvSpPr txBox="1"/>
          <p:nvPr/>
        </p:nvSpPr>
        <p:spPr>
          <a:xfrm>
            <a:off x="9692366" y="480060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New validation rules, pages and role permissions</a:t>
            </a:r>
            <a:endParaRPr lang="en-US" sz="1300" dirty="0"/>
          </a:p>
        </p:txBody>
      </p:sp>
      <p:sp>
        <p:nvSpPr>
          <p:cNvPr id="27" name="Scale callout"/>
          <p:cNvSpPr/>
          <p:nvPr/>
        </p:nvSpPr>
        <p:spPr>
          <a:xfrm>
            <a:off x="548640" y="5577840"/>
            <a:ext cx="11094415" cy="475488"/>
          </a:xfrm>
          <a:prstGeom prst="roundRect">
            <a:avLst>
              <a:gd name="adj" fmla="val 23077"/>
            </a:avLst>
          </a:prstGeom>
          <a:solidFill>
            <a:srgbClr val="000000">
              <a:alpha val="65000"/>
            </a:srgbClr>
          </a:solidFill>
          <a:ln w="15875">
            <a:solidFill>
              <a:srgbClr val="00C8F0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</a:rPr>
              <a:t>Built to scale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Live in one market today. Reusable framework: the next market onboards on the current system, no rebuild.</a:t>
            </a:r>
            <a:endParaRPr lang="en-US" sz="1400" dirty="0"/>
          </a:p>
        </p:txBody>
      </p:sp>
      <p:sp>
        <p:nvSpPr>
          <p:cNvPr id="28" name="Source note"/>
          <p:cNvSpPr txBox="1"/>
          <p:nvPr/>
        </p:nvSpPr>
        <p:spPr>
          <a:xfrm>
            <a:off x="146304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bg1"/>
                </a:solidFill>
              </a:rPr>
              <a:t>Source: Ascension UAT setup audit trail, July to September 2026. Delivered and exercised in UAT; production impact to be confirmed with production reporting.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changed for our teams</a:t>
            </a:r>
            <a:endParaRPr lang="en-US" sz="3200" dirty="0"/>
          </a:p>
        </p:txBody>
      </p:sp>
      <p:sp>
        <p:nvSpPr>
          <p:cNvPr id="3" name="TEAM heading"/>
          <p:cNvSpPr txBox="1"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BEFORE Q3 heading"/>
          <p:cNvSpPr txBox="1"/>
          <p:nvPr/>
        </p:nvSpPr>
        <p:spPr>
          <a:xfrm>
            <a:off x="32461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BEFORE Q3</a:t>
            </a:r>
            <a:endParaRPr lang="en-US" sz="1100" dirty="0"/>
          </a:p>
        </p:txBody>
      </p:sp>
      <p:sp>
        <p:nvSpPr>
          <p:cNvPr id="5" name="NOW heading"/>
          <p:cNvSpPr txBox="1"/>
          <p:nvPr/>
        </p:nvSpPr>
        <p:spPr>
          <a:xfrm>
            <a:off x="70866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chemeClr val="bg1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Row 1 divider"/>
          <p:cNvSpPr/>
          <p:nvPr/>
        </p:nvSpPr>
        <p:spPr>
          <a:xfrm>
            <a:off x="548640" y="248716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7" name="Row 1 team"/>
          <p:cNvSpPr/>
          <p:nvPr/>
        </p:nvSpPr>
        <p:spPr>
          <a:xfrm>
            <a:off x="548640" y="191109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FFD2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Intake and recruitment</a:t>
            </a:r>
            <a:endParaRPr lang="en-US" sz="1200" dirty="0"/>
          </a:p>
        </p:txBody>
      </p:sp>
      <p:sp>
        <p:nvSpPr>
          <p:cNvPr id="8" name="Row 1 before"/>
          <p:cNvSpPr txBox="1"/>
          <p:nvPr/>
        </p:nvSpPr>
        <p:spPr>
          <a:xfrm>
            <a:off x="3246120" y="178308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Re-keying provider applications by hand</a:t>
            </a:r>
            <a:endParaRPr lang="en-US" sz="1400" dirty="0"/>
          </a:p>
        </p:txBody>
      </p:sp>
      <p:sp>
        <p:nvSpPr>
          <p:cNvPr id="9" name="Row 1 arrow"/>
          <p:cNvSpPr/>
          <p:nvPr/>
        </p:nvSpPr>
        <p:spPr>
          <a:xfrm>
            <a:off x="6400800" y="2020824"/>
            <a:ext cx="411480" cy="237744"/>
          </a:xfrm>
          <a:prstGeom prst="rightArrow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10" name="Row 1 now"/>
          <p:cNvSpPr txBox="1"/>
          <p:nvPr/>
        </p:nvSpPr>
        <p:spPr>
          <a:xfrm>
            <a:off x="7086600" y="178308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Applications arrive ready to work</a:t>
            </a:r>
            <a:endParaRPr lang="en-US" sz="1600" dirty="0"/>
          </a:p>
        </p:txBody>
      </p:sp>
      <p:sp>
        <p:nvSpPr>
          <p:cNvPr id="11" name="Row 2 divider"/>
          <p:cNvSpPr/>
          <p:nvPr/>
        </p:nvSpPr>
        <p:spPr>
          <a:xfrm>
            <a:off x="548640" y="321868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12" name="Row 2 team"/>
          <p:cNvSpPr/>
          <p:nvPr/>
        </p:nvSpPr>
        <p:spPr>
          <a:xfrm>
            <a:off x="548640" y="264261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00C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Contracting</a:t>
            </a:r>
            <a:endParaRPr lang="en-US" sz="1200" dirty="0"/>
          </a:p>
        </p:txBody>
      </p:sp>
      <p:sp>
        <p:nvSpPr>
          <p:cNvPr id="13" name="Row 2 before"/>
          <p:cNvSpPr txBox="1"/>
          <p:nvPr/>
        </p:nvSpPr>
        <p:spPr>
          <a:xfrm>
            <a:off x="3246120" y="251460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Chasing the next step on every deal</a:t>
            </a:r>
            <a:endParaRPr lang="en-US" sz="1400" dirty="0"/>
          </a:p>
        </p:txBody>
      </p:sp>
      <p:sp>
        <p:nvSpPr>
          <p:cNvPr id="14" name="Row 2 arrow"/>
          <p:cNvSpPr/>
          <p:nvPr/>
        </p:nvSpPr>
        <p:spPr>
          <a:xfrm>
            <a:off x="6400800" y="2752344"/>
            <a:ext cx="411480" cy="237744"/>
          </a:xfrm>
          <a:prstGeom prst="rightArrow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5" name="Row 2 now"/>
          <p:cNvSpPr txBox="1"/>
          <p:nvPr/>
        </p:nvSpPr>
        <p:spPr>
          <a:xfrm>
            <a:off x="7086600" y="251460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deal has a clear owner and next task</a:t>
            </a:r>
            <a:endParaRPr lang="en-US" sz="1600" dirty="0"/>
          </a:p>
        </p:txBody>
      </p:sp>
      <p:sp>
        <p:nvSpPr>
          <p:cNvPr id="16" name="Row 3 divider"/>
          <p:cNvSpPr/>
          <p:nvPr/>
        </p:nvSpPr>
        <p:spPr>
          <a:xfrm>
            <a:off x="548640" y="395020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17" name="Row 3 team"/>
          <p:cNvSpPr/>
          <p:nvPr/>
        </p:nvSpPr>
        <p:spPr>
          <a:xfrm>
            <a:off x="548640" y="337413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FF0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Credentialing</a:t>
            </a:r>
            <a:endParaRPr lang="en-US" sz="1200" dirty="0"/>
          </a:p>
        </p:txBody>
      </p:sp>
      <p:sp>
        <p:nvSpPr>
          <p:cNvPr id="18" name="Row 3 before"/>
          <p:cNvSpPr txBox="1"/>
          <p:nvPr/>
        </p:nvSpPr>
        <p:spPr>
          <a:xfrm>
            <a:off x="3246120" y="324612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Tracking recredentialing due dates manually</a:t>
            </a:r>
            <a:endParaRPr lang="en-US" sz="1400" dirty="0"/>
          </a:p>
        </p:txBody>
      </p:sp>
      <p:sp>
        <p:nvSpPr>
          <p:cNvPr id="19" name="Row 3 arrow"/>
          <p:cNvSpPr/>
          <p:nvPr/>
        </p:nvSpPr>
        <p:spPr>
          <a:xfrm>
            <a:off x="6400800" y="3483864"/>
            <a:ext cx="411480" cy="237744"/>
          </a:xfrm>
          <a:prstGeom prst="rightArrow">
            <a:avLst/>
          </a:prstGeom>
          <a:solidFill>
            <a:srgbClr val="FF0A6E"/>
          </a:solidFill>
          <a:ln w="12700">
            <a:solidFill>
              <a:srgbClr val="FF0A6E"/>
            </a:solidFill>
            <a:prstDash val="solid"/>
          </a:ln>
        </p:spPr>
      </p:sp>
      <p:sp>
        <p:nvSpPr>
          <p:cNvPr id="20" name="Row 3 now"/>
          <p:cNvSpPr txBox="1"/>
          <p:nvPr/>
        </p:nvSpPr>
        <p:spPr>
          <a:xfrm>
            <a:off x="7086600" y="324612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Due applications and documents set up automatically</a:t>
            </a:r>
            <a:endParaRPr lang="en-US" sz="1600" dirty="0"/>
          </a:p>
        </p:txBody>
      </p:sp>
      <p:sp>
        <p:nvSpPr>
          <p:cNvPr id="21" name="Row 4 divider"/>
          <p:cNvSpPr/>
          <p:nvPr/>
        </p:nvSpPr>
        <p:spPr>
          <a:xfrm>
            <a:off x="548640" y="468172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22" name="Row 4 team"/>
          <p:cNvSpPr/>
          <p:nvPr/>
        </p:nvSpPr>
        <p:spPr>
          <a:xfrm>
            <a:off x="548640" y="410565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FFD2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Network management</a:t>
            </a:r>
            <a:endParaRPr lang="en-US" sz="1200" dirty="0"/>
          </a:p>
        </p:txBody>
      </p:sp>
      <p:sp>
        <p:nvSpPr>
          <p:cNvPr id="23" name="Row 4 before"/>
          <p:cNvSpPr txBox="1"/>
          <p:nvPr/>
        </p:nvSpPr>
        <p:spPr>
          <a:xfrm>
            <a:off x="3246120" y="397764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Cleaning up participation after contract changes</a:t>
            </a:r>
            <a:endParaRPr lang="en-US" sz="1400" dirty="0"/>
          </a:p>
        </p:txBody>
      </p:sp>
      <p:sp>
        <p:nvSpPr>
          <p:cNvPr id="24" name="Row 4 arrow"/>
          <p:cNvSpPr/>
          <p:nvPr/>
        </p:nvSpPr>
        <p:spPr>
          <a:xfrm>
            <a:off x="6400800" y="4215384"/>
            <a:ext cx="411480" cy="237744"/>
          </a:xfrm>
          <a:prstGeom prst="rightArrow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</p:sp>
      <p:sp>
        <p:nvSpPr>
          <p:cNvPr id="25" name="Row 4 now"/>
          <p:cNvSpPr txBox="1"/>
          <p:nvPr/>
        </p:nvSpPr>
        <p:spPr>
          <a:xfrm>
            <a:off x="7086600" y="397764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Participation stays current on its own</a:t>
            </a:r>
            <a:endParaRPr lang="en-US" sz="1600" dirty="0"/>
          </a:p>
        </p:txBody>
      </p:sp>
      <p:sp>
        <p:nvSpPr>
          <p:cNvPr id="26" name="Row 5 divider"/>
          <p:cNvSpPr/>
          <p:nvPr/>
        </p:nvSpPr>
        <p:spPr>
          <a:xfrm>
            <a:off x="548640" y="541324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27" name="Row 5 team"/>
          <p:cNvSpPr/>
          <p:nvPr/>
        </p:nvSpPr>
        <p:spPr>
          <a:xfrm>
            <a:off x="548640" y="483717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00C8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Operations and reporting</a:t>
            </a:r>
            <a:endParaRPr lang="en-US" sz="1200" dirty="0"/>
          </a:p>
        </p:txBody>
      </p:sp>
      <p:sp>
        <p:nvSpPr>
          <p:cNvPr id="28" name="Row 5 before"/>
          <p:cNvSpPr txBox="1"/>
          <p:nvPr/>
        </p:nvSpPr>
        <p:spPr>
          <a:xfrm>
            <a:off x="3246120" y="470916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Fixing bad data after the fact</a:t>
            </a:r>
            <a:endParaRPr lang="en-US" sz="1400" dirty="0"/>
          </a:p>
        </p:txBody>
      </p:sp>
      <p:sp>
        <p:nvSpPr>
          <p:cNvPr id="29" name="Row 5 arrow"/>
          <p:cNvSpPr/>
          <p:nvPr/>
        </p:nvSpPr>
        <p:spPr>
          <a:xfrm>
            <a:off x="6400800" y="4946904"/>
            <a:ext cx="411480" cy="237744"/>
          </a:xfrm>
          <a:prstGeom prst="rightArrow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0" name="Row 5 now"/>
          <p:cNvSpPr txBox="1"/>
          <p:nvPr/>
        </p:nvSpPr>
        <p:spPr>
          <a:xfrm>
            <a:off x="7086600" y="470916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Errors stopped before they enter the process</a:t>
            </a:r>
            <a:endParaRPr lang="en-US" sz="1600" dirty="0"/>
          </a:p>
        </p:txBody>
      </p:sp>
      <p:sp>
        <p:nvSpPr>
          <p:cNvPr id="31" name="Row 6 divider"/>
          <p:cNvSpPr/>
          <p:nvPr/>
        </p:nvSpPr>
        <p:spPr>
          <a:xfrm>
            <a:off x="548640" y="6144768"/>
            <a:ext cx="11094415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ysDot"/>
          </a:ln>
        </p:spPr>
      </p:sp>
      <p:sp>
        <p:nvSpPr>
          <p:cNvPr id="32" name="Row 6 team"/>
          <p:cNvSpPr/>
          <p:nvPr/>
        </p:nvSpPr>
        <p:spPr>
          <a:xfrm>
            <a:off x="548640" y="5568696"/>
            <a:ext cx="2468880" cy="420624"/>
          </a:xfrm>
          <a:prstGeom prst="roundRect">
            <a:avLst>
              <a:gd name="adj" fmla="val 47826"/>
            </a:avLst>
          </a:prstGeom>
          <a:solidFill>
            <a:srgbClr val="000000">
              <a:alpha val="60000"/>
            </a:srgbClr>
          </a:solidFill>
          <a:ln w="19050">
            <a:solidFill>
              <a:srgbClr val="FF0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Every Network Services role</a:t>
            </a:r>
            <a:endParaRPr lang="en-US" sz="1200" dirty="0"/>
          </a:p>
        </p:txBody>
      </p:sp>
      <p:sp>
        <p:nvSpPr>
          <p:cNvPr id="33" name="Row 6 before"/>
          <p:cNvSpPr txBox="1"/>
          <p:nvPr/>
        </p:nvSpPr>
        <p:spPr>
          <a:xfrm>
            <a:off x="3246120" y="544068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6DE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Waiting on admins for routine access</a:t>
            </a:r>
            <a:endParaRPr lang="en-US" sz="1400" dirty="0"/>
          </a:p>
        </p:txBody>
      </p:sp>
      <p:sp>
        <p:nvSpPr>
          <p:cNvPr id="34" name="Row 6 arrow"/>
          <p:cNvSpPr/>
          <p:nvPr/>
        </p:nvSpPr>
        <p:spPr>
          <a:xfrm>
            <a:off x="6400800" y="5678424"/>
            <a:ext cx="411480" cy="237744"/>
          </a:xfrm>
          <a:prstGeom prst="rightArrow">
            <a:avLst/>
          </a:prstGeom>
          <a:solidFill>
            <a:srgbClr val="FF0A6E"/>
          </a:solidFill>
          <a:ln w="12700">
            <a:solidFill>
              <a:srgbClr val="FF0A6E"/>
            </a:solidFill>
            <a:prstDash val="solid"/>
          </a:ln>
        </p:spPr>
      </p:sp>
      <p:sp>
        <p:nvSpPr>
          <p:cNvPr id="35" name="Row 6 now"/>
          <p:cNvSpPr txBox="1"/>
          <p:nvPr/>
        </p:nvSpPr>
        <p:spPr>
          <a:xfrm>
            <a:off x="7086600" y="5440680"/>
            <a:ext cx="45564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Ready to use the new tools without help</a:t>
            </a:r>
            <a:endParaRPr lang="en-US" sz="1600" dirty="0"/>
          </a:p>
        </p:txBody>
      </p:sp>
      <p:sp>
        <p:nvSpPr>
          <p:cNvPr id="36" name="Source note"/>
          <p:cNvSpPr txBox="1"/>
          <p:nvPr/>
        </p:nvSpPr>
        <p:spPr>
          <a:xfrm>
            <a:off x="1463040" y="633679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bg1"/>
                </a:solidFill>
              </a:rPr>
              <a:t>Source: Ascension UAT setup audit trail, July to September 2026. Delivered and exercised in UAT; production impact to be confirmed with production reporting.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the team delivered, and why it matters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444752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Card 1 badge"/>
          <p:cNvSpPr/>
          <p:nvPr/>
        </p:nvSpPr>
        <p:spPr>
          <a:xfrm>
            <a:off x="731520" y="1627632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200"/>
            </a:solidFill>
            <a:prstDash val="solid"/>
          </a:ln>
        </p:spPr>
      </p:sp>
      <p:sp>
        <p:nvSpPr>
          <p:cNvPr id="5" name="Card 1 number"/>
          <p:cNvSpPr txBox="1"/>
          <p:nvPr/>
        </p:nvSpPr>
        <p:spPr>
          <a:xfrm>
            <a:off x="73152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ard 1 title"/>
          <p:cNvSpPr txBox="1"/>
          <p:nvPr/>
        </p:nvSpPr>
        <p:spPr>
          <a:xfrm>
            <a:off x="1152144" y="157276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Digital provider intake</a:t>
            </a:r>
            <a:endParaRPr lang="en-US" sz="1400" dirty="0"/>
          </a:p>
        </p:txBody>
      </p:sp>
      <p:sp>
        <p:nvSpPr>
          <p:cNvPr id="7" name="Card 1 delivered"/>
          <p:cNvSpPr txBox="1"/>
          <p:nvPr/>
        </p:nvSpPr>
        <p:spPr>
          <a:xfrm>
            <a:off x="731520" y="2103120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New Digital Provider Application builds provider records; live in one market, built to scale</a:t>
            </a:r>
            <a:endParaRPr lang="en-US" sz="1200" dirty="0"/>
          </a:p>
        </p:txBody>
      </p:sp>
      <p:sp>
        <p:nvSpPr>
          <p:cNvPr id="8" name="Card 1 benefit"/>
          <p:cNvSpPr txBox="1"/>
          <p:nvPr/>
        </p:nvSpPr>
        <p:spPr>
          <a:xfrm>
            <a:off x="731520" y="3072384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FFD20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Less manual entry, faster onboarding</a:t>
            </a:r>
            <a:endParaRPr lang="en-US" sz="800" dirty="0"/>
          </a:p>
        </p:txBody>
      </p:sp>
      <p:sp>
        <p:nvSpPr>
          <p:cNvPr id="9" name="Card 2"/>
          <p:cNvSpPr/>
          <p:nvPr/>
        </p:nvSpPr>
        <p:spPr>
          <a:xfrm>
            <a:off x="3379394" y="1444752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Card 2 badge"/>
          <p:cNvSpPr/>
          <p:nvPr/>
        </p:nvSpPr>
        <p:spPr>
          <a:xfrm>
            <a:off x="3562274" y="1627632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C8F0"/>
            </a:solidFill>
            <a:prstDash val="solid"/>
          </a:ln>
        </p:spPr>
      </p:sp>
      <p:sp>
        <p:nvSpPr>
          <p:cNvPr id="11" name="Card 2 number"/>
          <p:cNvSpPr txBox="1"/>
          <p:nvPr/>
        </p:nvSpPr>
        <p:spPr>
          <a:xfrm>
            <a:off x="3562274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Card 2 title"/>
          <p:cNvSpPr txBox="1"/>
          <p:nvPr/>
        </p:nvSpPr>
        <p:spPr>
          <a:xfrm>
            <a:off x="3982898" y="157276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Provider conversion and identity</a:t>
            </a:r>
            <a:endParaRPr lang="en-US" sz="1400" dirty="0"/>
          </a:p>
        </p:txBody>
      </p:sp>
      <p:sp>
        <p:nvSpPr>
          <p:cNvPr id="13" name="Card 2 delivered"/>
          <p:cNvSpPr txBox="1"/>
          <p:nvPr/>
        </p:nvSpPr>
        <p:spPr>
          <a:xfrm>
            <a:off x="3562274" y="2103120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Stronger Lead-to-provider automation with identity sync and protected practitioner data</a:t>
            </a:r>
            <a:endParaRPr lang="en-US" sz="1200" dirty="0"/>
          </a:p>
        </p:txBody>
      </p:sp>
      <p:sp>
        <p:nvSpPr>
          <p:cNvPr id="14" name="Card 2 benefit"/>
          <p:cNvSpPr txBox="1"/>
          <p:nvPr/>
        </p:nvSpPr>
        <p:spPr>
          <a:xfrm>
            <a:off x="3562274" y="3072384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00C8F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One reliable provider record</a:t>
            </a:r>
            <a:endParaRPr lang="en-US" sz="800" dirty="0"/>
          </a:p>
        </p:txBody>
      </p:sp>
      <p:sp>
        <p:nvSpPr>
          <p:cNvPr id="15" name="Card 3"/>
          <p:cNvSpPr/>
          <p:nvPr/>
        </p:nvSpPr>
        <p:spPr>
          <a:xfrm>
            <a:off x="6210148" y="1444752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Card 3 badge"/>
          <p:cNvSpPr/>
          <p:nvPr/>
        </p:nvSpPr>
        <p:spPr>
          <a:xfrm>
            <a:off x="6393028" y="1627632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0A6E"/>
            </a:solidFill>
            <a:prstDash val="solid"/>
          </a:ln>
        </p:spPr>
      </p:sp>
      <p:sp>
        <p:nvSpPr>
          <p:cNvPr id="17" name="Card 3 number"/>
          <p:cNvSpPr txBox="1"/>
          <p:nvPr/>
        </p:nvSpPr>
        <p:spPr>
          <a:xfrm>
            <a:off x="6393028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Card 3 title"/>
          <p:cNvSpPr txBox="1"/>
          <p:nvPr/>
        </p:nvSpPr>
        <p:spPr>
          <a:xfrm>
            <a:off x="6813652" y="157276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Contracting workflow</a:t>
            </a:r>
            <a:endParaRPr lang="en-US" sz="1400" dirty="0"/>
          </a:p>
        </p:txBody>
      </p:sp>
      <p:sp>
        <p:nvSpPr>
          <p:cNvPr id="19" name="Card 3 delivered"/>
          <p:cNvSpPr txBox="1"/>
          <p:nvPr/>
        </p:nvSpPr>
        <p:spPr>
          <a:xfrm>
            <a:off x="6393028" y="2103120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Three releases of task automation from recruitment through redlines, signatures and onboarding</a:t>
            </a:r>
            <a:endParaRPr lang="en-US" sz="1200" dirty="0"/>
          </a:p>
        </p:txBody>
      </p:sp>
      <p:sp>
        <p:nvSpPr>
          <p:cNvPr id="20" name="Card 3 benefit"/>
          <p:cNvSpPr txBox="1"/>
          <p:nvPr/>
        </p:nvSpPr>
        <p:spPr>
          <a:xfrm>
            <a:off x="6393028" y="3072384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FF0A6E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Clear next steps, fewer stalled deals</a:t>
            </a:r>
            <a:endParaRPr lang="en-US" sz="800" dirty="0"/>
          </a:p>
        </p:txBody>
      </p:sp>
      <p:sp>
        <p:nvSpPr>
          <p:cNvPr id="21" name="Card 4"/>
          <p:cNvSpPr/>
          <p:nvPr/>
        </p:nvSpPr>
        <p:spPr>
          <a:xfrm>
            <a:off x="9040901" y="1444752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Card 4 badge"/>
          <p:cNvSpPr/>
          <p:nvPr/>
        </p:nvSpPr>
        <p:spPr>
          <a:xfrm>
            <a:off x="9223781" y="1627632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200"/>
            </a:solidFill>
            <a:prstDash val="solid"/>
          </a:ln>
        </p:spPr>
      </p:sp>
      <p:sp>
        <p:nvSpPr>
          <p:cNvPr id="23" name="Card 4 number"/>
          <p:cNvSpPr txBox="1"/>
          <p:nvPr/>
        </p:nvSpPr>
        <p:spPr>
          <a:xfrm>
            <a:off x="9223781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Card 4 title"/>
          <p:cNvSpPr txBox="1"/>
          <p:nvPr/>
        </p:nvSpPr>
        <p:spPr>
          <a:xfrm>
            <a:off x="9644405" y="157276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Recredentialing</a:t>
            </a:r>
            <a:endParaRPr lang="en-US" sz="1400" dirty="0"/>
          </a:p>
        </p:txBody>
      </p:sp>
      <p:sp>
        <p:nvSpPr>
          <p:cNvPr id="25" name="Card 4 delivered"/>
          <p:cNvSpPr txBox="1"/>
          <p:nvPr/>
        </p:nvSpPr>
        <p:spPr>
          <a:xfrm>
            <a:off x="9223781" y="2103120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Updated clone flow; due applications and document requirements created automatically</a:t>
            </a:r>
            <a:endParaRPr lang="en-US" sz="1200" dirty="0"/>
          </a:p>
        </p:txBody>
      </p:sp>
      <p:sp>
        <p:nvSpPr>
          <p:cNvPr id="26" name="Card 4 benefit"/>
          <p:cNvSpPr txBox="1"/>
          <p:nvPr/>
        </p:nvSpPr>
        <p:spPr>
          <a:xfrm>
            <a:off x="9223781" y="3072384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FFD20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Timely recredentialing, fewer gaps</a:t>
            </a:r>
            <a:endParaRPr lang="en-US" sz="800" dirty="0"/>
          </a:p>
        </p:txBody>
      </p:sp>
      <p:sp>
        <p:nvSpPr>
          <p:cNvPr id="27" name="Card 5"/>
          <p:cNvSpPr/>
          <p:nvPr/>
        </p:nvSpPr>
        <p:spPr>
          <a:xfrm>
            <a:off x="548640" y="3877056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Card 5 badge"/>
          <p:cNvSpPr/>
          <p:nvPr/>
        </p:nvSpPr>
        <p:spPr>
          <a:xfrm>
            <a:off x="731520" y="4059936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C8F0"/>
            </a:solidFill>
            <a:prstDash val="solid"/>
          </a:ln>
        </p:spPr>
      </p:sp>
      <p:sp>
        <p:nvSpPr>
          <p:cNvPr id="29" name="Card 5 number"/>
          <p:cNvSpPr txBox="1"/>
          <p:nvPr/>
        </p:nvSpPr>
        <p:spPr>
          <a:xfrm>
            <a:off x="73152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Card 5 title"/>
          <p:cNvSpPr txBox="1"/>
          <p:nvPr/>
        </p:nvSpPr>
        <p:spPr>
          <a:xfrm>
            <a:off x="1152144" y="4005072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Participation lifecycle</a:t>
            </a:r>
            <a:endParaRPr lang="en-US" sz="1400" dirty="0"/>
          </a:p>
        </p:txBody>
      </p:sp>
      <p:sp>
        <p:nvSpPr>
          <p:cNvPr id="31" name="Card 5 delivered"/>
          <p:cNvSpPr txBox="1"/>
          <p:nvPr/>
        </p:nvSpPr>
        <p:spPr>
          <a:xfrm>
            <a:off x="731520" y="4535424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Network participation updates itself when accounts, fee schedules or facility eligibility change</a:t>
            </a:r>
            <a:endParaRPr lang="en-US" sz="1200" dirty="0"/>
          </a:p>
        </p:txBody>
      </p:sp>
      <p:sp>
        <p:nvSpPr>
          <p:cNvPr id="32" name="Card 5 benefit"/>
          <p:cNvSpPr txBox="1"/>
          <p:nvPr/>
        </p:nvSpPr>
        <p:spPr>
          <a:xfrm>
            <a:off x="731520" y="5504688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00C8F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Less cleanup, no obsolete records</a:t>
            </a:r>
            <a:endParaRPr lang="en-US" sz="800" dirty="0"/>
          </a:p>
        </p:txBody>
      </p:sp>
      <p:sp>
        <p:nvSpPr>
          <p:cNvPr id="33" name="Card 6"/>
          <p:cNvSpPr/>
          <p:nvPr/>
        </p:nvSpPr>
        <p:spPr>
          <a:xfrm>
            <a:off x="3379394" y="3877056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Card 6 badge"/>
          <p:cNvSpPr/>
          <p:nvPr/>
        </p:nvSpPr>
        <p:spPr>
          <a:xfrm>
            <a:off x="3562274" y="4059936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0A6E"/>
            </a:solidFill>
            <a:prstDash val="solid"/>
          </a:ln>
        </p:spPr>
      </p:sp>
      <p:sp>
        <p:nvSpPr>
          <p:cNvPr id="35" name="Card 6 number"/>
          <p:cNvSpPr txBox="1"/>
          <p:nvPr/>
        </p:nvSpPr>
        <p:spPr>
          <a:xfrm>
            <a:off x="3562274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Card 6 title"/>
          <p:cNvSpPr txBox="1"/>
          <p:nvPr/>
        </p:nvSpPr>
        <p:spPr>
          <a:xfrm>
            <a:off x="3982898" y="4005072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governance</a:t>
            </a:r>
            <a:endParaRPr lang="en-US" sz="1400" dirty="0"/>
          </a:p>
        </p:txBody>
      </p:sp>
      <p:sp>
        <p:nvSpPr>
          <p:cNvPr id="37" name="Card 6 delivered"/>
          <p:cNvSpPr txBox="1"/>
          <p:nvPr/>
        </p:nvSpPr>
        <p:spPr>
          <a:xfrm>
            <a:off x="3562274" y="4535424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20 validation rules covering market, TIN hierarchy, contracts, credentialing and fee schedules</a:t>
            </a:r>
            <a:endParaRPr lang="en-US" sz="1200" dirty="0"/>
          </a:p>
        </p:txBody>
      </p:sp>
      <p:sp>
        <p:nvSpPr>
          <p:cNvPr id="38" name="Card 6 benefit"/>
          <p:cNvSpPr txBox="1"/>
          <p:nvPr/>
        </p:nvSpPr>
        <p:spPr>
          <a:xfrm>
            <a:off x="3562274" y="5504688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FF0A6E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Invalid data stopped at entry</a:t>
            </a:r>
            <a:endParaRPr lang="en-US" sz="800" dirty="0"/>
          </a:p>
        </p:txBody>
      </p:sp>
      <p:sp>
        <p:nvSpPr>
          <p:cNvPr id="39" name="Card 7"/>
          <p:cNvSpPr/>
          <p:nvPr/>
        </p:nvSpPr>
        <p:spPr>
          <a:xfrm>
            <a:off x="6210148" y="3877056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Card 7 badge"/>
          <p:cNvSpPr/>
          <p:nvPr/>
        </p:nvSpPr>
        <p:spPr>
          <a:xfrm>
            <a:off x="6393028" y="4059936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D200"/>
            </a:solidFill>
            <a:prstDash val="solid"/>
          </a:ln>
        </p:spPr>
      </p:sp>
      <p:sp>
        <p:nvSpPr>
          <p:cNvPr id="41" name="Card 7 number"/>
          <p:cNvSpPr txBox="1"/>
          <p:nvPr/>
        </p:nvSpPr>
        <p:spPr>
          <a:xfrm>
            <a:off x="6393028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2" name="Card 7 title"/>
          <p:cNvSpPr txBox="1"/>
          <p:nvPr/>
        </p:nvSpPr>
        <p:spPr>
          <a:xfrm>
            <a:off x="6813652" y="4005072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 experience</a:t>
            </a:r>
            <a:endParaRPr lang="en-US" sz="1400" dirty="0"/>
          </a:p>
        </p:txBody>
      </p:sp>
      <p:sp>
        <p:nvSpPr>
          <p:cNvPr id="43" name="Card 7 delivered"/>
          <p:cNvSpPr txBox="1"/>
          <p:nvPr/>
        </p:nvSpPr>
        <p:spPr>
          <a:xfrm>
            <a:off x="6393028" y="4535424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Refreshed pages, layouts and search for National and TX CIN teams</a:t>
            </a:r>
            <a:endParaRPr lang="en-US" sz="1200" dirty="0"/>
          </a:p>
        </p:txBody>
      </p:sp>
      <p:sp>
        <p:nvSpPr>
          <p:cNvPr id="44" name="Card 7 benefit"/>
          <p:cNvSpPr txBox="1"/>
          <p:nvPr/>
        </p:nvSpPr>
        <p:spPr>
          <a:xfrm>
            <a:off x="6393028" y="5504688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FFD20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Faster, more consistent decisions</a:t>
            </a:r>
            <a:endParaRPr lang="en-US" sz="800" dirty="0"/>
          </a:p>
        </p:txBody>
      </p:sp>
      <p:sp>
        <p:nvSpPr>
          <p:cNvPr id="45" name="Card 8"/>
          <p:cNvSpPr/>
          <p:nvPr/>
        </p:nvSpPr>
        <p:spPr>
          <a:xfrm>
            <a:off x="9040901" y="3877056"/>
            <a:ext cx="2602154" cy="2231136"/>
          </a:xfrm>
          <a:prstGeom prst="roundRect">
            <a:avLst>
              <a:gd name="adj" fmla="val 4918"/>
            </a:avLst>
          </a:prstGeom>
          <a:solidFill>
            <a:srgbClr val="000000">
              <a:alpha val="7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6" name="Card 8 badge"/>
          <p:cNvSpPr/>
          <p:nvPr/>
        </p:nvSpPr>
        <p:spPr>
          <a:xfrm>
            <a:off x="9223781" y="4059936"/>
            <a:ext cx="329184" cy="329184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C8F0"/>
            </a:solidFill>
            <a:prstDash val="solid"/>
          </a:ln>
        </p:spPr>
      </p:sp>
      <p:sp>
        <p:nvSpPr>
          <p:cNvPr id="47" name="Card 8 number"/>
          <p:cNvSpPr txBox="1"/>
          <p:nvPr/>
        </p:nvSpPr>
        <p:spPr>
          <a:xfrm>
            <a:off x="9223781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8" name="Card 8 title"/>
          <p:cNvSpPr txBox="1"/>
          <p:nvPr/>
        </p:nvSpPr>
        <p:spPr>
          <a:xfrm>
            <a:off x="9644405" y="4005072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Role and access readiness</a:t>
            </a:r>
            <a:endParaRPr lang="en-US" sz="1400" dirty="0"/>
          </a:p>
        </p:txBody>
      </p:sp>
      <p:sp>
        <p:nvSpPr>
          <p:cNvPr id="49" name="Card 8 delivered"/>
          <p:cNvSpPr txBox="1"/>
          <p:nvPr/>
        </p:nvSpPr>
        <p:spPr>
          <a:xfrm>
            <a:off x="9223781" y="4535424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</a:rPr>
              <a:t>Permissions updated for National, TX CIN, PDM, Credentialing, Contracting and leadership</a:t>
            </a:r>
            <a:endParaRPr lang="en-US" sz="1200" dirty="0"/>
          </a:p>
        </p:txBody>
      </p:sp>
      <p:sp>
        <p:nvSpPr>
          <p:cNvPr id="50" name="Card 8 benefit"/>
          <p:cNvSpPr txBox="1"/>
          <p:nvPr/>
        </p:nvSpPr>
        <p:spPr>
          <a:xfrm>
            <a:off x="9223781" y="5504688"/>
            <a:ext cx="22363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200" kern="0" dirty="0">
                <a:solidFill>
                  <a:srgbClr val="00C8F0"/>
                </a:solidFill>
              </a:rPr>
              <a:t>WHY IT MATTERS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Teams self-serve, less admin help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64224"/>
            <a:ext cx="36576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 Global Gradient">
  <a:themeElements>
    <a:clrScheme name="Insight Global Gradient">
      <a:dk1>
        <a:srgbClr val="000000"/>
      </a:dk1>
      <a:lt1>
        <a:srgbClr val="FFFFFF"/>
      </a:lt1>
      <a:dk2>
        <a:srgbClr val="03253A"/>
      </a:dk2>
      <a:lt2>
        <a:srgbClr val="F0F0F0"/>
      </a:lt2>
      <a:accent1>
        <a:srgbClr val="00C8F0"/>
      </a:accent1>
      <a:accent2>
        <a:srgbClr val="FFD200"/>
      </a:accent2>
      <a:accent3>
        <a:srgbClr val="FF0A6E"/>
      </a:accent3>
      <a:accent4>
        <a:srgbClr val="FF8A2B"/>
      </a:accent4>
      <a:accent5>
        <a:srgbClr val="C81EB4"/>
      </a:accent5>
      <a:accent6>
        <a:srgbClr val="4FE34A"/>
      </a:accent6>
      <a:hlink>
        <a:srgbClr val="00C8F0"/>
      </a:hlink>
      <a:folHlink>
        <a:srgbClr val="C81EB4"/>
      </a:folHlink>
    </a:clrScheme>
    <a:fontScheme name="Insight Global Gradient">
      <a:majorFont>
        <a:latin typeface="Trenda IG T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Insight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Services Q3 2026 Highlights</dc:title>
  <dc:subject>PptxGenJS Presentation</dc:subject>
  <dc:creator>PptxGenJS</dc:creator>
  <cp:lastModifiedBy>PptxGenJS</cp:lastModifiedBy>
  <cp:revision>1</cp:revision>
  <dcterms:created xsi:type="dcterms:W3CDTF">2026-10-24T12:16:23Z</dcterms:created>
  <dcterms:modified xsi:type="dcterms:W3CDTF">2026-10-24T12:16:23Z</dcterms:modified>
</cp:coreProperties>
</file>