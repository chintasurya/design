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rchitecture" id="{75a14718-78de-0a92-6154-fe7a5175699a}">
          <p14:sldIdLst>
            <p14:sldId id="256"/>
          </p14:sldIdLst>
        </p14:section>
        <p14:section name="Vertex AI" id="{ea247f78-50cf-5d91-e6b5-9e5be1c84e69}">
          <p14:sldIdLst>
            <p14:sldId id="257"/>
          </p14:sldIdLst>
        </p14:section>
        <p14:section name="Impact" id="{b4e2ac49-0019-aa2c-63e9-60f4391efd88}">
          <p14:sldIdLst>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delivery architecture for Proposal 2. Read it top to bottom. A request comes in from the portal, Jira, Slack or Codex. The orchestrator is plain code: it owns the order of steps, the gates and the budgets, so no model can talk its way past a control. At each step it asks the decision service first. Jev answers typed questions such as which lane, which template, is anything missing, how risky, in under a second, with a confidence score. High confidence acts, medium confidence escalates to a model on Vertex AI, low confidence goes to a person. Only when something new has to be written does the generation service call Codex for code or Claude or Gemini on Vertex AI for plans and patient-facing copy. Everything runs inside Ascension's Google Cloud. Only two services sit outside, Jev and Codex, both behind an egress gateway that checks for patient data before every call. Production is reached only through Ascension's existing release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Vertex AI is the half of the architecture that stays inside Ascension's Google Cloud. Every AI call goes one of two ways. Routine decisions on delivery data, like tickets, code and metadata, go to Jev. Anything that touches patient content, anything the PHI guard flags, decisions where Jev is not confident enough, and all decisions if Jev is unavailable go to Vertex AI. Vertex AI also does four other jobs: it gives us Gemini and Claude for writing inside the boundary, it hosts the agents through the Agent Development Kit and Agent Engine, which answers the question of how we move agents off developer laptops into the cloud, it indexes Jira, Confluence and Drive for context, and it evaluates agent quality before we switch anything on. One item to confirm with Ascension security is exactly which Vertex AI services their Google Cloud BAA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Decision-first delivery starts from one observation: most of delivering a change is making choices, not writing. Which lane, which template, is anything missing, how risky, is this test failure real. Today each choice waits in a queue or costs a full large-model call. Here Jev makes them in under a second, and large models are called only to write something new. The gains are pilot targets, not promises. The headline is Jose's own benchmark: the PDN request that takes two weeks today, a new SMS template and journey branch for another market, done in half a day. In that repeat-request flow only one of ten steps calls a large model. Across an agentic pod we target two to three times more changes per person, with contractors rolling off first rather than cutting staff. For the business that means faster launches, more experiments against company goals like readmissions, lower cost per change, and a full audit trail. We measure the baseline before the pilot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Title</a:t>
            </a:r>
            <a:endParaRPr lang="en-US" sz="3400" dirty="0"/>
          </a:p>
        </p:txBody>
      </p:sp>
      <p:sp>
        <p:nvSpPr>
          <p:cNvPr id="3" name="Text 0"/>
          <p:cNvSpPr/>
          <p:nvPr>
            <p:ph idx="101" type="body" hasCustomPrompt="1"/>
          </p:nvPr>
        </p:nvSpPr>
        <p:spPr>
          <a:xfrm>
            <a:off x="457200" y="914400"/>
            <a:ext cx="11274552" cy="384048"/>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r>
              <a:rPr lang="en-US" sz="1500" dirty="0">
                <a:solidFill>
                  <a:schemeClr val="accent5"/>
                </a:solidFill>
              </a:rPr>
              <a:t>Subtitle</a:t>
            </a:r>
            <a:endParaRPr lang="en-US" sz="1500" dirty="0"/>
          </a:p>
        </p:txBody>
      </p:sp>
      <p:sp>
        <p:nvSpPr>
          <p:cNvPr id="4" name="Text 0"/>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Decision-First Delivery  ·  Proposal 2  ·  Draft for discussion</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6400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Title</a:t>
            </a:r>
            <a:endParaRPr lang="en-US" sz="3400" dirty="0"/>
          </a:p>
        </p:txBody>
      </p:sp>
      <p:sp>
        <p:nvSpPr>
          <p:cNvPr id="3" name="Text 0"/>
          <p:cNvSpPr/>
          <p:nvPr>
            <p:ph idx="101" type="body" hasCustomPrompt="1"/>
          </p:nvPr>
        </p:nvSpPr>
        <p:spPr>
          <a:xfrm>
            <a:off x="457200" y="914400"/>
            <a:ext cx="11274552" cy="384048"/>
          </a:xfrm>
          <a:prstGeom prst="rect">
            <a:avLst/>
          </a:prstGeom>
          <a:noFill/>
          <a:ln/>
        </p:spPr>
        <p:txBody>
          <a:bodyPr wrap="square" rtlCol="0"/>
          <a:lstStyle>
            <a:lvl1pPr algn="l" indent="0" marL="0">
              <a:buNone/>
              <a:defRPr lang="en-US" sz="1500" dirty="0">
                <a:solidFill>
                  <a:schemeClr val="bg2"/>
                </a:solidFill>
              </a:defRPr>
            </a:lvl1pPr>
          </a:lstStyle>
          <a:p>
            <a:pPr algn="l" indent="0" marL="0">
              <a:buNone/>
            </a:pPr>
            <a:r>
              <a:rPr lang="en-US" sz="1500" dirty="0">
                <a:solidFill>
                  <a:schemeClr val="bg2"/>
                </a:solidFill>
              </a:rPr>
              <a:t>Subtitle</a:t>
            </a:r>
            <a:endParaRPr lang="en-US" sz="1500" dirty="0"/>
          </a:p>
        </p:txBody>
      </p:sp>
      <p:sp>
        <p:nvSpPr>
          <p:cNvPr id="4" name="Text 0"/>
          <p:cNvSpPr/>
          <p:nvPr/>
        </p:nvSpPr>
        <p:spPr>
          <a:xfrm>
            <a:off x="457200" y="6473952"/>
            <a:ext cx="7315200" cy="274320"/>
          </a:xfrm>
          <a:prstGeom prst="rect">
            <a:avLst/>
          </a:prstGeom>
          <a:noFill/>
          <a:ln/>
        </p:spPr>
        <p:txBody>
          <a:bodyPr wrap="square" lIns="0" tIns="0" rIns="0" bIns="0" rtlCol="0" anchor="ctr"/>
          <a:lstStyle/>
          <a:p>
            <a:pPr indent="0" marL="0">
              <a:buNone/>
            </a:pPr>
            <a:r>
              <a:rPr lang="en-US" sz="1000" dirty="0">
                <a:solidFill>
                  <a:schemeClr val="bg2"/>
                </a:solidFill>
              </a:rPr>
              <a:t>Decision-First Delivery  ·  Proposal 2  ·  Draft for discussion</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3.xml"/><Relationship Id="rId10"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640080"/>
          </a:xfrm>
          <a:prstGeom prst="rect">
            <a:avLst/>
          </a:prstGeom>
          <a:noFill/>
          <a:ln/>
        </p:spPr>
        <p:txBody>
          <a:bodyPr wrap="square" lIns="0" tIns="0" rIns="0" bIns="0" rtlCol="0" anchor="ctr"/>
          <a:lstStyle/>
          <a:p>
            <a:pPr algn="l" indent="0" marL="0">
              <a:buNone/>
            </a:pPr>
            <a:r>
              <a:rPr lang="en-US" sz="3400" b="1" dirty="0">
                <a:solidFill>
                  <a:schemeClr val="tx1"/>
                </a:solidFill>
              </a:rPr>
              <a:t>How we deliver: decision-first architecture</a:t>
            </a:r>
            <a:endParaRPr lang="en-US" sz="3400" dirty="0"/>
          </a:p>
        </p:txBody>
      </p:sp>
      <p:sp>
        <p:nvSpPr>
          <p:cNvPr id="3" name="Text 0"/>
          <p:cNvSpPr/>
          <p:nvPr>
            <p:ph idx="101" type="body" hasCustomPrompt="1"/>
          </p:nvPr>
        </p:nvSpPr>
        <p:spPr>
          <a:xfrm>
            <a:off x="457200" y="914400"/>
            <a:ext cx="11274552" cy="384048"/>
          </a:xfrm>
          <a:prstGeom prst="rect">
            <a:avLst/>
          </a:prstGeom>
          <a:noFill/>
          <a:ln/>
        </p:spPr>
        <p:txBody>
          <a:bodyPr wrap="square" lIns="0" tIns="0" rIns="0" bIns="0" rtlCol="0" anchor="t"/>
          <a:lstStyle/>
          <a:p>
            <a:pPr algn="l" indent="0" marL="0">
              <a:buNone/>
            </a:pPr>
            <a:r>
              <a:rPr lang="en-US" sz="1500" dirty="0">
                <a:solidFill>
                  <a:schemeClr val="accent5"/>
                </a:solidFill>
              </a:rPr>
              <a:t>Jev makes the routine decisions, large models write only when needed, and people approve. Everything runs inside Ascension's Google Cloud.</a:t>
            </a:r>
            <a:endParaRPr lang="en-US" sz="1500" dirty="0"/>
          </a:p>
        </p:txBody>
      </p:sp>
      <p:sp>
        <p:nvSpPr>
          <p:cNvPr id="4" name="PHI boundary"/>
          <p:cNvSpPr/>
          <p:nvPr/>
        </p:nvSpPr>
        <p:spPr>
          <a:xfrm>
            <a:off x="457200" y="1463040"/>
            <a:ext cx="9006840" cy="4892040"/>
          </a:xfrm>
          <a:prstGeom prst="rect">
            <a:avLst/>
          </a:prstGeom>
          <a:solidFill>
            <a:schemeClr val="bg1"/>
          </a:solidFill>
          <a:ln w="22225">
            <a:solidFill>
              <a:schemeClr val="accent4"/>
            </a:solidFill>
            <a:prstDash val="dash"/>
          </a:ln>
        </p:spPr>
      </p:sp>
      <p:sp>
        <p:nvSpPr>
          <p:cNvPr id="5" name="Boundary label"/>
          <p:cNvSpPr txBox="1"/>
          <p:nvPr/>
        </p:nvSpPr>
        <p:spPr>
          <a:xfrm>
            <a:off x="658368" y="1344168"/>
            <a:ext cx="7223760" cy="237744"/>
          </a:xfrm>
          <a:prstGeom prst="rect">
            <a:avLst/>
          </a:prstGeom>
          <a:solidFill>
            <a:schemeClr val="bg1"/>
          </a:solidFill>
          <a:ln/>
        </p:spPr>
        <p:txBody>
          <a:bodyPr wrap="square" lIns="0" tIns="50800" rIns="50800" bIns="0" rtlCol="0" anchor="ctr"/>
          <a:lstStyle/>
          <a:p>
            <a:pPr indent="0" marL="0">
              <a:buNone/>
            </a:pPr>
            <a:r>
              <a:rPr lang="en-US" sz="1000" b="1" spc="100" kern="0" dirty="0">
                <a:solidFill>
                  <a:schemeClr val="accent4"/>
                </a:solidFill>
              </a:rPr>
              <a:t>ASCENSION GOOGLE CLOUD  ·  VPC SERVICE CONTROLS PERIMETER  ·  NO PATIENT DATA LEAVES</a:t>
            </a:r>
            <a:endParaRPr lang="en-US" sz="1000" dirty="0"/>
          </a:p>
        </p:txBody>
      </p:sp>
      <p:sp>
        <p:nvSpPr>
          <p:cNvPr id="6" name="Channels"/>
          <p:cNvSpPr/>
          <p:nvPr/>
        </p:nvSpPr>
        <p:spPr>
          <a:xfrm>
            <a:off x="640080" y="1691640"/>
            <a:ext cx="8641080" cy="365760"/>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50" b="1" dirty="0">
                <a:solidFill>
                  <a:schemeClr val="tx1"/>
                </a:solidFill>
              </a:rPr>
              <a:t>Channels   </a:t>
            </a:r>
            <a:pPr indent="0" marL="0">
              <a:buNone/>
            </a:pPr>
            <a:r>
              <a:rPr lang="en-US" sz="1150" dirty="0">
                <a:solidFill>
                  <a:srgbClr val="3D4A5A"/>
                </a:solidFill>
              </a:rPr>
              <a:t>Request portal  ·  Jira  ·  Slack / Teams  ·  Codex IDE and CLI</a:t>
            </a:r>
            <a:endParaRPr lang="en-US" sz="1150" dirty="0"/>
          </a:p>
        </p:txBody>
      </p:sp>
      <p:sp>
        <p:nvSpPr>
          <p:cNvPr id="7" name="Intake gateway"/>
          <p:cNvSpPr/>
          <p:nvPr/>
        </p:nvSpPr>
        <p:spPr>
          <a:xfrm>
            <a:off x="640080" y="2130552"/>
            <a:ext cx="8641080" cy="365760"/>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50" b="1" dirty="0">
                <a:solidFill>
                  <a:schemeClr val="tx1"/>
                </a:solidFill>
              </a:rPr>
              <a:t>Intake gateway   </a:t>
            </a:r>
            <a:pPr indent="0" marL="0">
              <a:buNone/>
            </a:pPr>
            <a:r>
              <a:rPr lang="en-US" sz="1150" dirty="0">
                <a:solidFill>
                  <a:srgbClr val="3D4A5A"/>
                </a:solidFill>
              </a:rPr>
              <a:t>authenticates callers, screens text with Model Armor, publishes work-item events to Pub/Sub</a:t>
            </a:r>
            <a:endParaRPr lang="en-US" sz="1150" dirty="0"/>
          </a:p>
        </p:txBody>
      </p:sp>
      <p:sp>
        <p:nvSpPr>
          <p:cNvPr id="8" name="Orchestrator"/>
          <p:cNvSpPr/>
          <p:nvPr/>
        </p:nvSpPr>
        <p:spPr>
          <a:xfrm>
            <a:off x="640080" y="2569464"/>
            <a:ext cx="8641080" cy="457200"/>
          </a:xfrm>
          <a:prstGeom prst="rect">
            <a:avLst/>
          </a:prstGeom>
          <a:solidFill>
            <a:srgbClr val="E8EDF2"/>
          </a:solidFill>
          <a:ln w="12700">
            <a:solidFill>
              <a:schemeClr val="accent5"/>
            </a:solidFill>
          </a:ln>
        </p:spPr>
        <p:txBody>
          <a:bodyPr wrap="square" lIns="88900" tIns="88900" rIns="88900" bIns="88900" rtlCol="0" anchor="ctr"/>
          <a:lstStyle/>
          <a:p>
            <a:pPr indent="0" marL="0">
              <a:buNone/>
            </a:pPr>
            <a:r>
              <a:rPr lang="en-US" sz="1150" b="1" dirty="0">
                <a:solidFill>
                  <a:schemeClr val="tx1"/>
                </a:solidFill>
              </a:rPr>
              <a:t>Delivery orchestrator (plain code)   </a:t>
            </a:r>
            <a:pPr indent="0" marL="0">
              <a:buNone/>
            </a:pPr>
            <a:r>
              <a:rPr lang="en-US" sz="1150" dirty="0">
                <a:solidFill>
                  <a:srgbClr val="3D4A5A"/>
                </a:solidFill>
              </a:rPr>
              <a:t>work-item state machine  ·  recipe, standard, complex lanes  ·  budgets, retries, SLAs  ·  Cloud Workflows</a:t>
            </a:r>
            <a:endParaRPr lang="en-US" sz="1150" dirty="0"/>
          </a:p>
        </p:txBody>
      </p:sp>
      <p:sp>
        <p:nvSpPr>
          <p:cNvPr id="9" name="Decision service"/>
          <p:cNvSpPr/>
          <p:nvPr/>
        </p:nvSpPr>
        <p:spPr>
          <a:xfrm>
            <a:off x="640080" y="3127248"/>
            <a:ext cx="2788920" cy="1115568"/>
          </a:xfrm>
          <a:prstGeom prst="rect">
            <a:avLst/>
          </a:prstGeom>
          <a:solidFill>
            <a:srgbClr val="E2F3F0"/>
          </a:solidFill>
          <a:ln w="22225">
            <a:solidFill>
              <a:schemeClr val="accent1"/>
            </a:solidFill>
          </a:ln>
        </p:spPr>
        <p:txBody>
          <a:bodyPr wrap="square" lIns="63500" tIns="101600" rIns="101600" bIns="63500" rtlCol="0" anchor="t"/>
          <a:lstStyle/>
          <a:p>
            <a:pPr indent="0" marL="0">
              <a:spcAft>
                <a:spcPts val="200"/>
              </a:spcAft>
              <a:buNone/>
            </a:pPr>
            <a:r>
              <a:rPr lang="en-US" sz="1300" b="1" dirty="0">
                <a:solidFill>
                  <a:schemeClr val="accent1"/>
                </a:solidFill>
              </a:rPr>
              <a:t>Decision service  ·  Jev</a:t>
            </a:r>
            <a:endParaRPr lang="en-US" sz="1300" dirty="0"/>
          </a:p>
          <a:p>
            <a:pPr indent="0" marL="0">
              <a:spcAft>
                <a:spcPts val="200"/>
              </a:spcAft>
              <a:buNone/>
            </a:pPr>
            <a:r>
              <a:rPr lang="en-US" sz="1050" dirty="0">
                <a:solidFill>
                  <a:srgbClr val="3D4A5A"/>
                </a:solidFill>
              </a:rPr>
              <a:t>decide(state, questions) returns a typed answer with a confidence score</a:t>
            </a:r>
            <a:endParaRPr lang="en-US" sz="1300" dirty="0"/>
          </a:p>
          <a:p>
            <a:pPr indent="0" marL="0">
              <a:spcAft>
                <a:spcPts val="200"/>
              </a:spcAft>
              <a:buNone/>
            </a:pPr>
            <a:r>
              <a:rPr lang="en-US" sz="1050" dirty="0">
                <a:solidFill>
                  <a:srgbClr val="3D4A5A"/>
                </a:solidFill>
              </a:rPr>
              <a:t>PHI guard  ·  confidence router  ·  Vertex AI fallback  ·  shadow mode</a:t>
            </a:r>
            <a:endParaRPr lang="en-US" sz="1300" dirty="0"/>
          </a:p>
        </p:txBody>
      </p:sp>
      <p:sp>
        <p:nvSpPr>
          <p:cNvPr id="10" name="Generation service"/>
          <p:cNvSpPr/>
          <p:nvPr/>
        </p:nvSpPr>
        <p:spPr>
          <a:xfrm>
            <a:off x="3566160" y="3127248"/>
            <a:ext cx="2788920" cy="1115568"/>
          </a:xfrm>
          <a:prstGeom prst="rect">
            <a:avLst/>
          </a:prstGeom>
          <a:solidFill>
            <a:srgbClr val="EBE9FB"/>
          </a:solidFill>
          <a:ln w="22225">
            <a:solidFill>
              <a:schemeClr val="accent2"/>
            </a:solidFill>
          </a:ln>
        </p:spPr>
        <p:txBody>
          <a:bodyPr wrap="square" lIns="63500" tIns="101600" rIns="101600" bIns="63500" rtlCol="0" anchor="t"/>
          <a:lstStyle/>
          <a:p>
            <a:pPr indent="0" marL="0">
              <a:spcAft>
                <a:spcPts val="200"/>
              </a:spcAft>
              <a:buNone/>
            </a:pPr>
            <a:r>
              <a:rPr lang="en-US" sz="1300" b="1" dirty="0">
                <a:solidFill>
                  <a:schemeClr val="accent2"/>
                </a:solidFill>
              </a:rPr>
              <a:t>Generation service</a:t>
            </a:r>
            <a:endParaRPr lang="en-US" sz="1300" dirty="0"/>
          </a:p>
          <a:p>
            <a:pPr indent="0" marL="0">
              <a:spcAft>
                <a:spcPts val="200"/>
              </a:spcAft>
              <a:buNone/>
            </a:pPr>
            <a:r>
              <a:rPr lang="en-US" sz="1050" dirty="0">
                <a:solidFill>
                  <a:srgbClr val="3D4A5A"/>
                </a:solidFill>
              </a:rPr>
              <a:t>Model gateway: routing, prompt caching, token budgets</a:t>
            </a:r>
            <a:endParaRPr lang="en-US" sz="1300" dirty="0"/>
          </a:p>
          <a:p>
            <a:pPr indent="0" marL="0">
              <a:spcAft>
                <a:spcPts val="200"/>
              </a:spcAft>
              <a:buNone/>
            </a:pPr>
            <a:r>
              <a:rPr lang="en-US" sz="1050" dirty="0">
                <a:solidFill>
                  <a:srgbClr val="3D4A5A"/>
                </a:solidFill>
              </a:rPr>
              <a:t>Codex for code  ·  Claude or Gemini on Vertex AI for plans and patient-facing copy</a:t>
            </a:r>
            <a:endParaRPr lang="en-US" sz="1300" dirty="0"/>
          </a:p>
        </p:txBody>
      </p:sp>
      <p:sp>
        <p:nvSpPr>
          <p:cNvPr id="11" name="Human gate service"/>
          <p:cNvSpPr/>
          <p:nvPr/>
        </p:nvSpPr>
        <p:spPr>
          <a:xfrm>
            <a:off x="6492240" y="3127248"/>
            <a:ext cx="2788920" cy="1115568"/>
          </a:xfrm>
          <a:prstGeom prst="rect">
            <a:avLst/>
          </a:prstGeom>
          <a:solidFill>
            <a:srgbClr val="FBEFDF"/>
          </a:solidFill>
          <a:ln w="15875">
            <a:solidFill>
              <a:schemeClr val="accent3"/>
            </a:solidFill>
          </a:ln>
        </p:spPr>
        <p:txBody>
          <a:bodyPr wrap="square" lIns="63500" tIns="101600" rIns="101600" bIns="63500" rtlCol="0" anchor="t"/>
          <a:lstStyle/>
          <a:p>
            <a:pPr indent="0" marL="0">
              <a:spcAft>
                <a:spcPts val="200"/>
              </a:spcAft>
              <a:buNone/>
            </a:pPr>
            <a:r>
              <a:rPr lang="en-US" sz="1300" b="1" dirty="0">
                <a:solidFill>
                  <a:schemeClr val="accent3"/>
                </a:solidFill>
              </a:rPr>
              <a:t>Human gate service</a:t>
            </a:r>
            <a:endParaRPr lang="en-US" sz="1300" dirty="0"/>
          </a:p>
          <a:p>
            <a:pPr indent="0" marL="0">
              <a:spcAft>
                <a:spcPts val="200"/>
              </a:spcAft>
              <a:buNone/>
            </a:pPr>
            <a:r>
              <a:rPr lang="en-US" sz="1050" dirty="0">
                <a:solidFill>
                  <a:srgbClr val="3D4A5A"/>
                </a:solidFill>
              </a:rPr>
              <a:t>Approvals in Jira and Slack / Teams with the evidence attached</a:t>
            </a:r>
            <a:endParaRPr lang="en-US" sz="1300" dirty="0"/>
          </a:p>
          <a:p>
            <a:pPr indent="0" marL="0">
              <a:spcAft>
                <a:spcPts val="200"/>
              </a:spcAft>
              <a:buNone/>
            </a:pPr>
            <a:r>
              <a:rPr lang="en-US" sz="1050" dirty="0">
                <a:solidFill>
                  <a:srgbClr val="3D4A5A"/>
                </a:solidFill>
              </a:rPr>
              <a:t>Agents cannot approve their own work</a:t>
            </a:r>
            <a:endParaRPr lang="en-US" sz="1300" dirty="0"/>
          </a:p>
        </p:txBody>
      </p:sp>
      <p:sp>
        <p:nvSpPr>
          <p:cNvPr id="12" name="Context service"/>
          <p:cNvSpPr/>
          <p:nvPr/>
        </p:nvSpPr>
        <p:spPr>
          <a:xfrm>
            <a:off x="640080" y="4343400"/>
            <a:ext cx="2788920" cy="777240"/>
          </a:xfrm>
          <a:prstGeom prst="rect">
            <a:avLst/>
          </a:prstGeom>
          <a:solidFill>
            <a:schemeClr val="bg2"/>
          </a:solidFill>
          <a:ln w="9525">
            <a:solidFill>
              <a:srgbClr val="D5DCE5"/>
            </a:solidFill>
          </a:ln>
        </p:spPr>
        <p:txBody>
          <a:bodyPr wrap="square" lIns="63500" tIns="101600" rIns="101600" bIns="63500" rtlCol="0" anchor="t"/>
          <a:lstStyle/>
          <a:p>
            <a:pPr indent="0" marL="0">
              <a:spcAft>
                <a:spcPts val="200"/>
              </a:spcAft>
              <a:buNone/>
            </a:pPr>
            <a:r>
              <a:rPr lang="en-US" sz="1200" b="1" dirty="0">
                <a:solidFill>
                  <a:schemeClr val="tx1"/>
                </a:solidFill>
              </a:rPr>
              <a:t>Context service</a:t>
            </a:r>
            <a:endParaRPr lang="en-US" sz="1200" dirty="0"/>
          </a:p>
          <a:p>
            <a:pPr indent="0" marL="0">
              <a:spcAft>
                <a:spcPts val="200"/>
              </a:spcAft>
              <a:buNone/>
            </a:pPr>
            <a:r>
              <a:rPr lang="en-US" sz="1050" dirty="0">
                <a:solidFill>
                  <a:srgbClr val="3D4A5A"/>
                </a:solidFill>
              </a:rPr>
              <a:t>Searches Jira, Confluence, GitHub and metadata; Jev keeps only what is relevant</a:t>
            </a:r>
            <a:endParaRPr lang="en-US" sz="1200" dirty="0"/>
          </a:p>
        </p:txBody>
      </p:sp>
      <p:sp>
        <p:nvSpPr>
          <p:cNvPr id="13" name="Recipe engine"/>
          <p:cNvSpPr/>
          <p:nvPr/>
        </p:nvSpPr>
        <p:spPr>
          <a:xfrm>
            <a:off x="3566160" y="4343400"/>
            <a:ext cx="2788920" cy="777240"/>
          </a:xfrm>
          <a:prstGeom prst="rect">
            <a:avLst/>
          </a:prstGeom>
          <a:solidFill>
            <a:schemeClr val="bg2"/>
          </a:solidFill>
          <a:ln w="9525">
            <a:solidFill>
              <a:srgbClr val="D5DCE5"/>
            </a:solidFill>
          </a:ln>
        </p:spPr>
        <p:txBody>
          <a:bodyPr wrap="square" lIns="63500" tIns="101600" rIns="101600" bIns="63500" rtlCol="0" anchor="t"/>
          <a:lstStyle/>
          <a:p>
            <a:pPr indent="0" marL="0">
              <a:spcAft>
                <a:spcPts val="200"/>
              </a:spcAft>
              <a:buNone/>
            </a:pPr>
            <a:r>
              <a:rPr lang="en-US" sz="1200" b="1" dirty="0">
                <a:solidFill>
                  <a:schemeClr val="tx1"/>
                </a:solidFill>
              </a:rPr>
              <a:t>Recipe engine</a:t>
            </a:r>
            <a:endParaRPr lang="en-US" sz="1200" dirty="0"/>
          </a:p>
          <a:p>
            <a:pPr indent="0" marL="0">
              <a:spcAft>
                <a:spcPts val="200"/>
              </a:spcAft>
              <a:buNone/>
            </a:pPr>
            <a:r>
              <a:rPr lang="en-US" sz="1050" dirty="0">
                <a:solidFill>
                  <a:srgbClr val="3D4A5A"/>
                </a:solidFill>
              </a:rPr>
              <a:t>Templates for repeat changes, such as SMS plus journey branch. No model call</a:t>
            </a:r>
            <a:endParaRPr lang="en-US" sz="1200" dirty="0"/>
          </a:p>
        </p:txBody>
      </p:sp>
      <p:sp>
        <p:nvSpPr>
          <p:cNvPr id="14" name="Verification"/>
          <p:cNvSpPr/>
          <p:nvPr/>
        </p:nvSpPr>
        <p:spPr>
          <a:xfrm>
            <a:off x="6492240" y="4343400"/>
            <a:ext cx="2788920" cy="777240"/>
          </a:xfrm>
          <a:prstGeom prst="rect">
            <a:avLst/>
          </a:prstGeom>
          <a:solidFill>
            <a:schemeClr val="bg2"/>
          </a:solidFill>
          <a:ln w="9525">
            <a:solidFill>
              <a:srgbClr val="D5DCE5"/>
            </a:solidFill>
          </a:ln>
        </p:spPr>
        <p:txBody>
          <a:bodyPr wrap="square" lIns="63500" tIns="101600" rIns="101600" bIns="63500" rtlCol="0" anchor="t"/>
          <a:lstStyle/>
          <a:p>
            <a:pPr indent="0" marL="0">
              <a:spcAft>
                <a:spcPts val="200"/>
              </a:spcAft>
              <a:buNone/>
            </a:pPr>
            <a:r>
              <a:rPr lang="en-US" sz="1200" b="1" dirty="0">
                <a:solidFill>
                  <a:schemeClr val="tx1"/>
                </a:solidFill>
              </a:rPr>
              <a:t>Verification</a:t>
            </a:r>
            <a:endParaRPr lang="en-US" sz="1200" dirty="0"/>
          </a:p>
          <a:p>
            <a:pPr indent="0" marL="0">
              <a:spcAft>
                <a:spcPts val="200"/>
              </a:spcAft>
              <a:buNone/>
            </a:pPr>
            <a:r>
              <a:rPr lang="en-US" sz="1050" dirty="0">
                <a:solidFill>
                  <a:srgbClr val="3D4A5A"/>
                </a:solidFill>
              </a:rPr>
              <a:t>CI and tests, seed-list test sends, message compliance checks</a:t>
            </a:r>
            <a:endParaRPr lang="en-US" sz="1200" dirty="0"/>
          </a:p>
        </p:txBody>
      </p:sp>
      <p:sp>
        <p:nvSpPr>
          <p:cNvPr id="15" name="Tool layer"/>
          <p:cNvSpPr/>
          <p:nvPr/>
        </p:nvSpPr>
        <p:spPr>
          <a:xfrm>
            <a:off x="640080" y="5221224"/>
            <a:ext cx="8641080" cy="420624"/>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50" b="1" dirty="0">
                <a:solidFill>
                  <a:schemeClr val="tx1"/>
                </a:solidFill>
              </a:rPr>
              <a:t>Tool layer · MCP servers   </a:t>
            </a:r>
            <a:pPr indent="0" marL="0">
              <a:buNone/>
            </a:pPr>
            <a:r>
              <a:rPr lang="en-US" sz="1150" dirty="0">
                <a:solidFill>
                  <a:srgbClr val="3D4A5A"/>
                </a:solidFill>
              </a:rPr>
              <a:t>one per system, least privilege: Jira  ·  Confluence  ·  GitHub PRs  ·  Salesforce sandbox  ·  Marketing Cloud test BU</a:t>
            </a:r>
            <a:endParaRPr lang="en-US" sz="1150" dirty="0"/>
          </a:p>
        </p:txBody>
      </p:sp>
      <p:sp>
        <p:nvSpPr>
          <p:cNvPr id="16" name="Decision ledger"/>
          <p:cNvSpPr/>
          <p:nvPr/>
        </p:nvSpPr>
        <p:spPr>
          <a:xfrm>
            <a:off x="640080" y="5742432"/>
            <a:ext cx="2057400" cy="475488"/>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00" b="1" dirty="0">
                <a:solidFill>
                  <a:schemeClr val="tx1"/>
                </a:solidFill>
              </a:rPr>
              <a:t>Decision ledger  </a:t>
            </a:r>
            <a:pPr indent="0" marL="0">
              <a:buNone/>
            </a:pPr>
            <a:r>
              <a:rPr lang="en-US" sz="1100" dirty="0">
                <a:solidFill>
                  <a:srgbClr val="3D4A5A"/>
                </a:solidFill>
              </a:rPr>
              <a:t>BigQuery</a:t>
            </a:r>
            <a:endParaRPr lang="en-US" sz="1100" dirty="0"/>
          </a:p>
        </p:txBody>
      </p:sp>
      <p:sp>
        <p:nvSpPr>
          <p:cNvPr id="17" name="Observability"/>
          <p:cNvSpPr/>
          <p:nvPr/>
        </p:nvSpPr>
        <p:spPr>
          <a:xfrm>
            <a:off x="2834640" y="5742432"/>
            <a:ext cx="2057400" cy="475488"/>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00" b="1" dirty="0">
                <a:solidFill>
                  <a:schemeClr val="tx1"/>
                </a:solidFill>
              </a:rPr>
              <a:t>Observability  </a:t>
            </a:r>
            <a:pPr indent="0" marL="0">
              <a:buNone/>
            </a:pPr>
            <a:r>
              <a:rPr lang="en-US" sz="1100" dirty="0">
                <a:solidFill>
                  <a:srgbClr val="3D4A5A"/>
                </a:solidFill>
              </a:rPr>
              <a:t>Logging, Trace</a:t>
            </a:r>
            <a:endParaRPr lang="en-US" sz="1100" dirty="0"/>
          </a:p>
        </p:txBody>
      </p:sp>
      <p:sp>
        <p:nvSpPr>
          <p:cNvPr id="18" name="Security"/>
          <p:cNvSpPr/>
          <p:nvPr/>
        </p:nvSpPr>
        <p:spPr>
          <a:xfrm>
            <a:off x="5029200" y="5742432"/>
            <a:ext cx="2057400" cy="475488"/>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00" b="1" dirty="0">
                <a:solidFill>
                  <a:schemeClr val="tx1"/>
                </a:solidFill>
              </a:rPr>
              <a:t>Security  </a:t>
            </a:r>
            <a:pPr indent="0" marL="0">
              <a:buNone/>
            </a:pPr>
            <a:r>
              <a:rPr lang="en-US" sz="1100" dirty="0">
                <a:solidFill>
                  <a:srgbClr val="3D4A5A"/>
                </a:solidFill>
              </a:rPr>
              <a:t>DLP, Model Armor, IAM</a:t>
            </a:r>
            <a:endParaRPr lang="en-US" sz="1100" dirty="0"/>
          </a:p>
        </p:txBody>
      </p:sp>
      <p:sp>
        <p:nvSpPr>
          <p:cNvPr id="19" name="Vertex AI"/>
          <p:cNvSpPr/>
          <p:nvPr/>
        </p:nvSpPr>
        <p:spPr>
          <a:xfrm>
            <a:off x="7223760" y="5742432"/>
            <a:ext cx="2057400" cy="475488"/>
          </a:xfrm>
          <a:prstGeom prst="rect">
            <a:avLst/>
          </a:prstGeom>
          <a:solidFill>
            <a:schemeClr val="bg2"/>
          </a:solidFill>
          <a:ln w="9525">
            <a:solidFill>
              <a:srgbClr val="D5DCE5"/>
            </a:solidFill>
          </a:ln>
        </p:spPr>
        <p:txBody>
          <a:bodyPr wrap="square" lIns="88900" tIns="88900" rIns="88900" bIns="88900" rtlCol="0" anchor="ctr"/>
          <a:lstStyle/>
          <a:p>
            <a:pPr indent="0" marL="0">
              <a:buNone/>
            </a:pPr>
            <a:r>
              <a:rPr lang="en-US" sz="1100" b="1" dirty="0">
                <a:solidFill>
                  <a:schemeClr val="tx1"/>
                </a:solidFill>
              </a:rPr>
              <a:t>Vertex AI  </a:t>
            </a:r>
            <a:pPr indent="0" marL="0">
              <a:buNone/>
            </a:pPr>
            <a:r>
              <a:rPr lang="en-US" sz="1100" dirty="0">
                <a:solidFill>
                  <a:srgbClr val="3D4A5A"/>
                </a:solidFill>
              </a:rPr>
              <a:t>in-boundary models</a:t>
            </a:r>
            <a:endParaRPr lang="en-US" sz="1100" dirty="0"/>
          </a:p>
        </p:txBody>
      </p:sp>
      <p:sp>
        <p:nvSpPr>
          <p:cNvPr id="20" name="Outside label"/>
          <p:cNvSpPr txBox="1"/>
          <p:nvPr/>
        </p:nvSpPr>
        <p:spPr>
          <a:xfrm>
            <a:off x="9710928" y="1417320"/>
            <a:ext cx="2020824" cy="237744"/>
          </a:xfrm>
          <a:prstGeom prst="rect">
            <a:avLst/>
          </a:prstGeom>
          <a:noFill/>
          <a:ln/>
        </p:spPr>
        <p:txBody>
          <a:bodyPr wrap="square" lIns="0" tIns="0" rIns="0" bIns="0" rtlCol="0" anchor="ctr"/>
          <a:lstStyle/>
          <a:p>
            <a:pPr indent="0" marL="0">
              <a:buNone/>
            </a:pPr>
            <a:r>
              <a:rPr lang="en-US" sz="1000" b="1" spc="100" kern="0" dirty="0">
                <a:solidFill>
                  <a:schemeClr val="accent5"/>
                </a:solidFill>
              </a:rPr>
              <a:t>OUTSIDE THE BOUNDARY</a:t>
            </a:r>
            <a:endParaRPr lang="en-US" sz="1000" dirty="0"/>
          </a:p>
        </p:txBody>
      </p:sp>
      <p:sp>
        <p:nvSpPr>
          <p:cNvPr id="21" name="Egress gateway"/>
          <p:cNvSpPr/>
          <p:nvPr/>
        </p:nvSpPr>
        <p:spPr>
          <a:xfrm>
            <a:off x="9710928" y="1719072"/>
            <a:ext cx="2020824" cy="868680"/>
          </a:xfrm>
          <a:prstGeom prst="rect">
            <a:avLst/>
          </a:prstGeom>
          <a:solidFill>
            <a:srgbClr val="FBE8EC"/>
          </a:solidFill>
          <a:ln w="15875">
            <a:solidFill>
              <a:schemeClr val="accent4"/>
            </a:solidFill>
          </a:ln>
        </p:spPr>
        <p:txBody>
          <a:bodyPr wrap="square" lIns="63500" tIns="101600" rIns="101600" bIns="63500" rtlCol="0" anchor="t"/>
          <a:lstStyle/>
          <a:p>
            <a:pPr indent="0" marL="0">
              <a:spcAft>
                <a:spcPts val="200"/>
              </a:spcAft>
              <a:buNone/>
            </a:pPr>
            <a:r>
              <a:rPr lang="en-US" sz="1200" b="1" dirty="0">
                <a:solidFill>
                  <a:schemeClr val="accent4"/>
                </a:solidFill>
              </a:rPr>
              <a:t>Egress gateway</a:t>
            </a:r>
            <a:endParaRPr lang="en-US" sz="1200" dirty="0"/>
          </a:p>
          <a:p>
            <a:pPr indent="0" marL="0">
              <a:spcAft>
                <a:spcPts val="200"/>
              </a:spcAft>
              <a:buNone/>
            </a:pPr>
            <a:r>
              <a:rPr lang="en-US" sz="1050" dirty="0">
                <a:solidFill>
                  <a:srgbClr val="3D4A5A"/>
                </a:solidFill>
              </a:rPr>
              <a:t>Allow-listed hosts only. PHI check before every call.</a:t>
            </a:r>
            <a:endParaRPr lang="en-US" sz="1200" dirty="0"/>
          </a:p>
        </p:txBody>
      </p:sp>
      <p:sp>
        <p:nvSpPr>
          <p:cNvPr id="22" name="Jev API"/>
          <p:cNvSpPr/>
          <p:nvPr/>
        </p:nvSpPr>
        <p:spPr>
          <a:xfrm>
            <a:off x="9710928" y="2724912"/>
            <a:ext cx="2020824" cy="1207008"/>
          </a:xfrm>
          <a:prstGeom prst="rect">
            <a:avLst/>
          </a:prstGeom>
          <a:solidFill>
            <a:srgbClr val="E2F3F0"/>
          </a:solidFill>
          <a:ln w="15875">
            <a:solidFill>
              <a:schemeClr val="accent1"/>
            </a:solidFill>
          </a:ln>
        </p:spPr>
        <p:txBody>
          <a:bodyPr wrap="square" lIns="63500" tIns="101600" rIns="101600" bIns="63500" rtlCol="0" anchor="t"/>
          <a:lstStyle/>
          <a:p>
            <a:pPr indent="0" marL="0">
              <a:spcAft>
                <a:spcPts val="200"/>
              </a:spcAft>
              <a:buNone/>
            </a:pPr>
            <a:r>
              <a:rPr lang="en-US" sz="1200" b="1" dirty="0">
                <a:solidFill>
                  <a:schemeClr val="accent1"/>
                </a:solidFill>
              </a:rPr>
              <a:t>Jev API · TypeSafe AI</a:t>
            </a:r>
            <a:endParaRPr lang="en-US" sz="1200" dirty="0"/>
          </a:p>
          <a:p>
            <a:pPr indent="0" marL="0">
              <a:spcAft>
                <a:spcPts val="200"/>
              </a:spcAft>
              <a:buNone/>
            </a:pPr>
            <a:r>
              <a:rPr lang="en-US" sz="1050" dirty="0">
                <a:solidFill>
                  <a:srgbClr val="3D4A5A"/>
                </a:solidFill>
              </a:rPr>
              <a:t>Hosted decision model. Delivery data only: tickets, code, metadata. Zero data retention.</a:t>
            </a:r>
            <a:endParaRPr lang="en-US" sz="1200" dirty="0"/>
          </a:p>
        </p:txBody>
      </p:sp>
      <p:sp>
        <p:nvSpPr>
          <p:cNvPr id="23" name="Codex"/>
          <p:cNvSpPr/>
          <p:nvPr/>
        </p:nvSpPr>
        <p:spPr>
          <a:xfrm>
            <a:off x="9710928" y="4069080"/>
            <a:ext cx="2020824" cy="1051560"/>
          </a:xfrm>
          <a:prstGeom prst="rect">
            <a:avLst/>
          </a:prstGeom>
          <a:solidFill>
            <a:srgbClr val="EBE9FB"/>
          </a:solidFill>
          <a:ln w="15875">
            <a:solidFill>
              <a:schemeClr val="accent2"/>
            </a:solidFill>
          </a:ln>
        </p:spPr>
        <p:txBody>
          <a:bodyPr wrap="square" lIns="63500" tIns="101600" rIns="101600" bIns="63500" rtlCol="0" anchor="t"/>
          <a:lstStyle/>
          <a:p>
            <a:pPr indent="0" marL="0">
              <a:spcAft>
                <a:spcPts val="200"/>
              </a:spcAft>
              <a:buNone/>
            </a:pPr>
            <a:r>
              <a:rPr lang="en-US" sz="1200" b="1" dirty="0">
                <a:solidFill>
                  <a:schemeClr val="accent2"/>
                </a:solidFill>
              </a:rPr>
              <a:t>Codex · OpenAI</a:t>
            </a:r>
            <a:endParaRPr lang="en-US" sz="1200" dirty="0"/>
          </a:p>
          <a:p>
            <a:pPr indent="0" marL="0">
              <a:spcAft>
                <a:spcPts val="200"/>
              </a:spcAft>
              <a:buNone/>
            </a:pPr>
            <a:r>
              <a:rPr lang="en-US" sz="1050" dirty="0">
                <a:solidFill>
                  <a:srgbClr val="3D4A5A"/>
                </a:solidFill>
              </a:rPr>
              <a:t>Writes and reviews code. Never sees patient data.</a:t>
            </a:r>
            <a:endParaRPr lang="en-US" sz="1200" dirty="0"/>
          </a:p>
        </p:txBody>
      </p:sp>
      <p:sp>
        <p:nvSpPr>
          <p:cNvPr id="24" name="Production"/>
          <p:cNvSpPr/>
          <p:nvPr/>
        </p:nvSpPr>
        <p:spPr>
          <a:xfrm>
            <a:off x="9710928" y="5257800"/>
            <a:ext cx="2020824" cy="960120"/>
          </a:xfrm>
          <a:prstGeom prst="rect">
            <a:avLst/>
          </a:prstGeom>
          <a:solidFill>
            <a:srgbClr val="E8EDF2"/>
          </a:solidFill>
          <a:ln w="12700">
            <a:solidFill>
              <a:schemeClr val="accent5"/>
            </a:solidFill>
          </a:ln>
        </p:spPr>
        <p:txBody>
          <a:bodyPr wrap="square" lIns="63500" tIns="101600" rIns="101600" bIns="63500" rtlCol="0" anchor="t"/>
          <a:lstStyle/>
          <a:p>
            <a:pPr indent="0" marL="0">
              <a:spcAft>
                <a:spcPts val="200"/>
              </a:spcAft>
              <a:buNone/>
            </a:pPr>
            <a:r>
              <a:rPr lang="en-US" sz="1200" b="1" dirty="0">
                <a:solidFill>
                  <a:schemeClr val="tx1"/>
                </a:solidFill>
              </a:rPr>
              <a:t>Production</a:t>
            </a:r>
            <a:endParaRPr lang="en-US" sz="1200" dirty="0"/>
          </a:p>
          <a:p>
            <a:pPr indent="0" marL="0">
              <a:spcAft>
                <a:spcPts val="200"/>
              </a:spcAft>
              <a:buNone/>
            </a:pPr>
            <a:r>
              <a:rPr lang="en-US" sz="1050" dirty="0">
                <a:solidFill>
                  <a:srgbClr val="3D4A5A"/>
                </a:solidFill>
              </a:rPr>
              <a:t>Existing release approval only. No agent identity can deploy.</a:t>
            </a:r>
            <a:endParaRPr lang="en-US" sz="1200" dirty="0"/>
          </a:p>
        </p:txBody>
      </p:sp>
      <p:sp>
        <p:nvSpPr>
          <p:cNvPr id="25" name="Egress arrow 1"/>
          <p:cNvSpPr/>
          <p:nvPr/>
        </p:nvSpPr>
        <p:spPr>
          <a:xfrm>
            <a:off x="9464040" y="3328416"/>
            <a:ext cx="246888" cy="0"/>
          </a:xfrm>
          <a:prstGeom prst="line">
            <a:avLst/>
          </a:prstGeom>
          <a:noFill/>
          <a:ln w="19050">
            <a:solidFill>
              <a:schemeClr val="accent4"/>
            </a:solidFill>
            <a:prstDash val="solid"/>
            <a:tailEnd type="triangle"/>
          </a:ln>
        </p:spPr>
      </p:sp>
      <p:sp>
        <p:nvSpPr>
          <p:cNvPr id="26" name="Egress arrow 2"/>
          <p:cNvSpPr/>
          <p:nvPr/>
        </p:nvSpPr>
        <p:spPr>
          <a:xfrm>
            <a:off x="9464040" y="4590288"/>
            <a:ext cx="246888" cy="0"/>
          </a:xfrm>
          <a:prstGeom prst="line">
            <a:avLst/>
          </a:prstGeom>
          <a:noFill/>
          <a:ln w="19050">
            <a:solidFill>
              <a:schemeClr val="accent4"/>
            </a:solidFill>
            <a:prstDash val="solid"/>
            <a:tailEnd type="triangle"/>
          </a:ln>
        </p:spPr>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640080"/>
          </a:xfrm>
          <a:prstGeom prst="rect">
            <a:avLst/>
          </a:prstGeom>
          <a:noFill/>
          <a:ln/>
        </p:spPr>
        <p:txBody>
          <a:bodyPr wrap="square" lIns="0" tIns="0" rIns="0" bIns="0" rtlCol="0" anchor="ctr"/>
          <a:lstStyle/>
          <a:p>
            <a:pPr algn="l" indent="0" marL="0">
              <a:buNone/>
            </a:pPr>
            <a:r>
              <a:rPr lang="en-US" sz="3400" b="1" dirty="0">
                <a:solidFill>
                  <a:schemeClr val="tx1"/>
                </a:solidFill>
              </a:rPr>
              <a:t>Vertex AI: the AI platform inside the boundary</a:t>
            </a:r>
            <a:endParaRPr lang="en-US" sz="3400" dirty="0"/>
          </a:p>
        </p:txBody>
      </p:sp>
      <p:sp>
        <p:nvSpPr>
          <p:cNvPr id="3" name="Text 0"/>
          <p:cNvSpPr/>
          <p:nvPr>
            <p:ph idx="101" type="body" hasCustomPrompt="1"/>
          </p:nvPr>
        </p:nvSpPr>
        <p:spPr>
          <a:xfrm>
            <a:off x="457200" y="914400"/>
            <a:ext cx="11274552" cy="384048"/>
          </a:xfrm>
          <a:prstGeom prst="rect">
            <a:avLst/>
          </a:prstGeom>
          <a:noFill/>
          <a:ln/>
        </p:spPr>
        <p:txBody>
          <a:bodyPr wrap="square" lIns="0" tIns="0" rIns="0" bIns="0" rtlCol="0" anchor="t"/>
          <a:lstStyle/>
          <a:p>
            <a:pPr algn="l" indent="0" marL="0">
              <a:buNone/>
            </a:pPr>
            <a:r>
              <a:rPr lang="en-US" sz="1500" dirty="0">
                <a:solidFill>
                  <a:schemeClr val="accent5"/>
                </a:solidFill>
              </a:rPr>
              <a:t>Anything sensitive, every fallback and every agent runs on Vertex AI, inside Ascension's own Google Cloud.</a:t>
            </a:r>
            <a:endParaRPr lang="en-US" sz="1500" dirty="0"/>
          </a:p>
        </p:txBody>
      </p:sp>
      <p:sp>
        <p:nvSpPr>
          <p:cNvPr id="4" name="Lanes label"/>
          <p:cNvSpPr txBox="1"/>
          <p:nvPr/>
        </p:nvSpPr>
        <p:spPr>
          <a:xfrm>
            <a:off x="457200" y="1554480"/>
            <a:ext cx="4343400"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TWO LANES FOR EVERY AI CALL</a:t>
            </a:r>
            <a:endParaRPr lang="en-US" sz="1100" dirty="0"/>
          </a:p>
        </p:txBody>
      </p:sp>
      <p:sp>
        <p:nvSpPr>
          <p:cNvPr id="5" name="Jev lane"/>
          <p:cNvSpPr/>
          <p:nvPr/>
        </p:nvSpPr>
        <p:spPr>
          <a:xfrm>
            <a:off x="457200" y="1920240"/>
            <a:ext cx="4343400" cy="1051560"/>
          </a:xfrm>
          <a:prstGeom prst="rect">
            <a:avLst/>
          </a:prstGeom>
          <a:solidFill>
            <a:srgbClr val="E2F3F0"/>
          </a:solidFill>
          <a:ln w="15875">
            <a:solidFill>
              <a:schemeClr val="accent1"/>
            </a:solidFill>
          </a:ln>
        </p:spPr>
        <p:txBody>
          <a:bodyPr wrap="square" lIns="101600" tIns="152400" rIns="152400" bIns="101600" rtlCol="0" anchor="ctr"/>
          <a:lstStyle/>
          <a:p>
            <a:pPr indent="0" marL="0">
              <a:buNone/>
            </a:pPr>
            <a:r>
              <a:rPr lang="en-US" sz="1500" b="1" dirty="0">
                <a:solidFill>
                  <a:schemeClr val="accent1"/>
                </a:solidFill>
              </a:rPr>
              <a:t>Jev  ·  outside the boundary</a:t>
            </a:r>
            <a:endParaRPr lang="en-US" sz="1500" dirty="0"/>
          </a:p>
          <a:p>
            <a:pPr indent="0" marL="0">
              <a:buNone/>
            </a:pPr>
            <a:r>
              <a:rPr lang="en-US" sz="1400" dirty="0">
                <a:solidFill>
                  <a:srgbClr val="3D4A5A"/>
                </a:solidFill>
              </a:rPr>
              <a:t>Fast, low-cost decisions on delivery data: tickets, code, metadata</a:t>
            </a:r>
            <a:endParaRPr lang="en-US" sz="1500" dirty="0"/>
          </a:p>
        </p:txBody>
      </p:sp>
      <p:sp>
        <p:nvSpPr>
          <p:cNvPr id="6" name="PHI guard"/>
          <p:cNvSpPr/>
          <p:nvPr/>
        </p:nvSpPr>
        <p:spPr>
          <a:xfrm>
            <a:off x="1005840" y="3200400"/>
            <a:ext cx="3246120" cy="502920"/>
          </a:xfrm>
          <a:prstGeom prst="rect">
            <a:avLst/>
          </a:prstGeom>
          <a:solidFill>
            <a:srgbClr val="FBE8EC"/>
          </a:solidFill>
          <a:ln w="15875">
            <a:solidFill>
              <a:schemeClr val="accent4"/>
            </a:solidFill>
            <a:prstDash val="dash"/>
          </a:ln>
        </p:spPr>
        <p:txBody>
          <a:bodyPr wrap="square" lIns="0" tIns="0" rIns="0" bIns="0" rtlCol="0" anchor="ctr"/>
          <a:lstStyle/>
          <a:p>
            <a:pPr algn="ctr" indent="0" marL="0">
              <a:buNone/>
            </a:pPr>
            <a:r>
              <a:rPr lang="en-US" sz="1400" b="1" dirty="0">
                <a:solidFill>
                  <a:schemeClr val="accent4"/>
                </a:solidFill>
              </a:rPr>
              <a:t>PHI guard checks every call</a:t>
            </a:r>
            <a:endParaRPr lang="en-US" sz="1400" dirty="0"/>
          </a:p>
        </p:txBody>
      </p:sp>
      <p:sp>
        <p:nvSpPr>
          <p:cNvPr id="7" name="Lane arrow 1"/>
          <p:cNvSpPr/>
          <p:nvPr/>
        </p:nvSpPr>
        <p:spPr>
          <a:xfrm>
            <a:off x="2628900" y="2971800"/>
            <a:ext cx="0" cy="228600"/>
          </a:xfrm>
          <a:prstGeom prst="line">
            <a:avLst/>
          </a:prstGeom>
          <a:noFill/>
          <a:ln w="19050">
            <a:solidFill>
              <a:schemeClr val="accent4"/>
            </a:solidFill>
            <a:prstDash val="solid"/>
            <a:tailEnd type="triangle"/>
          </a:ln>
        </p:spPr>
      </p:sp>
      <p:sp>
        <p:nvSpPr>
          <p:cNvPr id="8" name="Lane arrow 2"/>
          <p:cNvSpPr/>
          <p:nvPr/>
        </p:nvSpPr>
        <p:spPr>
          <a:xfrm>
            <a:off x="2628900" y="3703320"/>
            <a:ext cx="0" cy="228600"/>
          </a:xfrm>
          <a:prstGeom prst="line">
            <a:avLst/>
          </a:prstGeom>
          <a:noFill/>
          <a:ln w="19050">
            <a:solidFill>
              <a:schemeClr val="accent4"/>
            </a:solidFill>
            <a:prstDash val="solid"/>
            <a:tailEnd type="triangle"/>
          </a:ln>
        </p:spPr>
      </p:sp>
      <p:sp>
        <p:nvSpPr>
          <p:cNvPr id="9" name="Vertex lane"/>
          <p:cNvSpPr/>
          <p:nvPr/>
        </p:nvSpPr>
        <p:spPr>
          <a:xfrm>
            <a:off x="457200" y="3931920"/>
            <a:ext cx="4343400" cy="1371600"/>
          </a:xfrm>
          <a:prstGeom prst="rect">
            <a:avLst/>
          </a:prstGeom>
          <a:solidFill>
            <a:schemeClr val="tx2"/>
          </a:solidFill>
          <a:ln w="12700">
            <a:solidFill>
              <a:schemeClr val="tx2"/>
            </a:solidFill>
          </a:ln>
        </p:spPr>
        <p:txBody>
          <a:bodyPr wrap="square" lIns="101600" tIns="152400" rIns="152400" bIns="101600" rtlCol="0" anchor="ctr"/>
          <a:lstStyle/>
          <a:p>
            <a:pPr indent="0" marL="0">
              <a:buNone/>
            </a:pPr>
            <a:r>
              <a:rPr lang="en-US" sz="1500" b="1" dirty="0">
                <a:solidFill>
                  <a:schemeClr val="bg1"/>
                </a:solidFill>
              </a:rPr>
              <a:t>Vertex AI  ·  inside the boundary</a:t>
            </a:r>
            <a:endParaRPr lang="en-US" sz="1500" dirty="0"/>
          </a:p>
          <a:p>
            <a:pPr indent="0" marL="0">
              <a:buNone/>
            </a:pPr>
            <a:r>
              <a:rPr lang="en-US" sz="1400" dirty="0">
                <a:solidFill>
                  <a:schemeClr val="bg2"/>
                </a:solidFill>
              </a:rPr>
              <a:t>Patient-facing content, anything the guard flags, medium-confidence decisions, and every decision when Jev is unavailable</a:t>
            </a:r>
            <a:endParaRPr lang="en-US" sz="1500" dirty="0"/>
          </a:p>
        </p:txBody>
      </p:sp>
      <p:sp>
        <p:nvSpPr>
          <p:cNvPr id="10" name="Rule"/>
          <p:cNvSpPr txBox="1"/>
          <p:nvPr/>
        </p:nvSpPr>
        <p:spPr>
          <a:xfrm>
            <a:off x="457200" y="5486400"/>
            <a:ext cx="4343400" cy="411480"/>
          </a:xfrm>
          <a:prstGeom prst="rect">
            <a:avLst/>
          </a:prstGeom>
          <a:noFill/>
          <a:ln/>
        </p:spPr>
        <p:txBody>
          <a:bodyPr wrap="square" lIns="0" tIns="0" rIns="0" bIns="0" rtlCol="0" anchor="ctr"/>
          <a:lstStyle/>
          <a:p>
            <a:pPr indent="0" marL="0">
              <a:buNone/>
            </a:pPr>
            <a:r>
              <a:rPr lang="en-US" sz="1500" b="1" i="1" dirty="0">
                <a:solidFill>
                  <a:schemeClr val="tx1"/>
                </a:solidFill>
              </a:rPr>
              <a:t>If it touches patient content, it runs on Vertex AI.</a:t>
            </a:r>
            <a:endParaRPr lang="en-US" sz="1500" dirty="0"/>
          </a:p>
        </p:txBody>
      </p:sp>
      <p:sp>
        <p:nvSpPr>
          <p:cNvPr id="11" name="Roles label"/>
          <p:cNvSpPr txBox="1"/>
          <p:nvPr/>
        </p:nvSpPr>
        <p:spPr>
          <a:xfrm>
            <a:off x="5257800" y="1554480"/>
            <a:ext cx="6473952" cy="274320"/>
          </a:xfrm>
          <a:prstGeom prst="rect">
            <a:avLst/>
          </a:prstGeom>
          <a:noFill/>
          <a:ln/>
        </p:spPr>
        <p:txBody>
          <a:bodyPr wrap="square" lIns="0" tIns="0" rIns="0" bIns="0" rtlCol="0" anchor="ctr"/>
          <a:lstStyle/>
          <a:p>
            <a:pPr indent="0" marL="0">
              <a:buNone/>
            </a:pPr>
            <a:r>
              <a:rPr lang="en-US" sz="1100" b="1" spc="100" kern="0" dirty="0">
                <a:solidFill>
                  <a:schemeClr val="accent5"/>
                </a:solidFill>
              </a:rPr>
              <a:t>WHAT VERTEX AI DOES IN THE ARCHITECTURE</a:t>
            </a:r>
            <a:endParaRPr lang="en-US" sz="1100" dirty="0"/>
          </a:p>
        </p:txBody>
      </p:sp>
      <p:sp>
        <p:nvSpPr>
          <p:cNvPr id="12" name="Writes inside the boundary circle"/>
          <p:cNvSpPr/>
          <p:nvPr/>
        </p:nvSpPr>
        <p:spPr>
          <a:xfrm>
            <a:off x="5257800" y="1975104"/>
            <a:ext cx="512064" cy="512064"/>
          </a:xfrm>
          <a:prstGeom prst="ellipse">
            <a:avLst/>
          </a:prstGeom>
          <a:solidFill>
            <a:schemeClr val="accent2"/>
          </a:solidFill>
          <a:ln w="6350">
            <a:solidFill>
              <a:schemeClr val="accent2"/>
            </a:solidFill>
            <a:prstDash val="solid"/>
          </a:ln>
        </p:spPr>
      </p:sp>
      <p:pic>
        <p:nvPicPr>
          <p:cNvPr id="13" name="Image 0" descr="Writes inside the boundary">    </p:cNvPr>
          <p:cNvPicPr>
            <a:picLocks noChangeAspect="1"/>
          </p:cNvPicPr>
          <p:nvPr/>
        </p:nvPicPr>
        <p:blipFill>
          <a:blip r:embed="rId1"/>
          <a:stretch>
            <a:fillRect/>
          </a:stretch>
        </p:blipFill>
        <p:spPr>
          <a:xfrm>
            <a:off x="5385816" y="2103120"/>
            <a:ext cx="256032" cy="256032"/>
          </a:xfrm>
          <a:prstGeom prst="rect">
            <a:avLst/>
          </a:prstGeom>
        </p:spPr>
      </p:pic>
      <p:sp>
        <p:nvSpPr>
          <p:cNvPr id="14" name="Writes inside the boundary"/>
          <p:cNvSpPr txBox="1"/>
          <p:nvPr/>
        </p:nvSpPr>
        <p:spPr>
          <a:xfrm>
            <a:off x="5943600" y="1920240"/>
            <a:ext cx="5788152"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Writes inside the boundary</a:t>
            </a:r>
            <a:endParaRPr lang="en-US" sz="1500" dirty="0"/>
          </a:p>
          <a:p>
            <a:pPr indent="0" marL="0">
              <a:spcAft>
                <a:spcPts val="200"/>
              </a:spcAft>
              <a:buNone/>
            </a:pPr>
            <a:r>
              <a:rPr lang="en-US" sz="1300" dirty="0">
                <a:solidFill>
                  <a:srgbClr val="3D4A5A"/>
                </a:solidFill>
              </a:rPr>
              <a:t>Gemini, or Claude from Model Garden, drafts plans, documents and patient-facing SMS copy without data leaving Ascension's cloud.</a:t>
            </a:r>
            <a:endParaRPr lang="en-US" sz="1500" dirty="0"/>
          </a:p>
        </p:txBody>
      </p:sp>
      <p:sp>
        <p:nvSpPr>
          <p:cNvPr id="15" name="Backs up every decision circle"/>
          <p:cNvSpPr/>
          <p:nvPr/>
        </p:nvSpPr>
        <p:spPr>
          <a:xfrm>
            <a:off x="5257800" y="2779776"/>
            <a:ext cx="512064" cy="512064"/>
          </a:xfrm>
          <a:prstGeom prst="ellipse">
            <a:avLst/>
          </a:prstGeom>
          <a:solidFill>
            <a:schemeClr val="accent1"/>
          </a:solidFill>
          <a:ln w="6350">
            <a:solidFill>
              <a:schemeClr val="accent1"/>
            </a:solidFill>
            <a:prstDash val="solid"/>
          </a:ln>
        </p:spPr>
      </p:sp>
      <p:pic>
        <p:nvPicPr>
          <p:cNvPr id="16" name="Image 1" descr="Backs up every decision">    </p:cNvPr>
          <p:cNvPicPr>
            <a:picLocks noChangeAspect="1"/>
          </p:cNvPicPr>
          <p:nvPr/>
        </p:nvPicPr>
        <p:blipFill>
          <a:blip r:embed="rId2"/>
          <a:stretch>
            <a:fillRect/>
          </a:stretch>
        </p:blipFill>
        <p:spPr>
          <a:xfrm>
            <a:off x="5385816" y="2907792"/>
            <a:ext cx="256032" cy="256032"/>
          </a:xfrm>
          <a:prstGeom prst="rect">
            <a:avLst/>
          </a:prstGeom>
        </p:spPr>
      </p:pic>
      <p:sp>
        <p:nvSpPr>
          <p:cNvPr id="17" name="Backs up every decision"/>
          <p:cNvSpPr txBox="1"/>
          <p:nvPr/>
        </p:nvSpPr>
        <p:spPr>
          <a:xfrm>
            <a:off x="5943600" y="2724912"/>
            <a:ext cx="5788152"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Backs up every decision</a:t>
            </a:r>
            <a:endParaRPr lang="en-US" sz="1500" dirty="0"/>
          </a:p>
          <a:p>
            <a:pPr indent="0" marL="0">
              <a:spcAft>
                <a:spcPts val="200"/>
              </a:spcAft>
              <a:buNone/>
            </a:pPr>
            <a:r>
              <a:rPr lang="en-US" sz="1300" dirty="0">
                <a:solidFill>
                  <a:srgbClr val="3D4A5A"/>
                </a:solidFill>
              </a:rPr>
              <a:t>Answers medium-confidence questions, anything the PHI guard blocks, and all decisions if Jev is down.</a:t>
            </a:r>
            <a:endParaRPr lang="en-US" sz="1500" dirty="0"/>
          </a:p>
        </p:txBody>
      </p:sp>
      <p:sp>
        <p:nvSpPr>
          <p:cNvPr id="18" name="Runs the agents in the cloud circle"/>
          <p:cNvSpPr/>
          <p:nvPr/>
        </p:nvSpPr>
        <p:spPr>
          <a:xfrm>
            <a:off x="5257800" y="3584448"/>
            <a:ext cx="512064" cy="512064"/>
          </a:xfrm>
          <a:prstGeom prst="ellipse">
            <a:avLst/>
          </a:prstGeom>
          <a:solidFill>
            <a:schemeClr val="accent5"/>
          </a:solidFill>
          <a:ln w="6350">
            <a:solidFill>
              <a:schemeClr val="accent5"/>
            </a:solidFill>
            <a:prstDash val="solid"/>
          </a:ln>
        </p:spPr>
      </p:sp>
      <p:pic>
        <p:nvPicPr>
          <p:cNvPr id="19" name="Image 2" descr="Runs the agents in the cloud">    </p:cNvPr>
          <p:cNvPicPr>
            <a:picLocks noChangeAspect="1"/>
          </p:cNvPicPr>
          <p:nvPr/>
        </p:nvPicPr>
        <p:blipFill>
          <a:blip r:embed="rId3"/>
          <a:stretch>
            <a:fillRect/>
          </a:stretch>
        </p:blipFill>
        <p:spPr>
          <a:xfrm>
            <a:off x="5385816" y="3712464"/>
            <a:ext cx="256032" cy="256032"/>
          </a:xfrm>
          <a:prstGeom prst="rect">
            <a:avLst/>
          </a:prstGeom>
        </p:spPr>
      </p:pic>
      <p:sp>
        <p:nvSpPr>
          <p:cNvPr id="20" name="Runs the agents in the cloud"/>
          <p:cNvSpPr txBox="1"/>
          <p:nvPr/>
        </p:nvSpPr>
        <p:spPr>
          <a:xfrm>
            <a:off x="5943600" y="3529584"/>
            <a:ext cx="5788152"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Runs the agents in the cloud</a:t>
            </a:r>
            <a:endParaRPr lang="en-US" sz="1500" dirty="0"/>
          </a:p>
          <a:p>
            <a:pPr indent="0" marL="0">
              <a:spcAft>
                <a:spcPts val="200"/>
              </a:spcAft>
              <a:buNone/>
            </a:pPr>
            <a:r>
              <a:rPr lang="en-US" sz="1300" dirty="0">
                <a:solidFill>
                  <a:srgbClr val="3D4A5A"/>
                </a:solidFill>
              </a:rPr>
              <a:t>Agent Development Kit and Agent Engine host the agents, moving them off developer laptops into one governed service.</a:t>
            </a:r>
            <a:endParaRPr lang="en-US" sz="1500" dirty="0"/>
          </a:p>
        </p:txBody>
      </p:sp>
      <p:sp>
        <p:nvSpPr>
          <p:cNvPr id="21" name="Finds the right context circle"/>
          <p:cNvSpPr/>
          <p:nvPr/>
        </p:nvSpPr>
        <p:spPr>
          <a:xfrm>
            <a:off x="5257800" y="4389120"/>
            <a:ext cx="512064" cy="512064"/>
          </a:xfrm>
          <a:prstGeom prst="ellipse">
            <a:avLst/>
          </a:prstGeom>
          <a:solidFill>
            <a:schemeClr val="accent3"/>
          </a:solidFill>
          <a:ln w="6350">
            <a:solidFill>
              <a:schemeClr val="accent3"/>
            </a:solidFill>
            <a:prstDash val="solid"/>
          </a:ln>
        </p:spPr>
      </p:sp>
      <p:pic>
        <p:nvPicPr>
          <p:cNvPr id="22" name="Image 3" descr="Finds the right context">    </p:cNvPr>
          <p:cNvPicPr>
            <a:picLocks noChangeAspect="1"/>
          </p:cNvPicPr>
          <p:nvPr/>
        </p:nvPicPr>
        <p:blipFill>
          <a:blip r:embed="rId4"/>
          <a:stretch>
            <a:fillRect/>
          </a:stretch>
        </p:blipFill>
        <p:spPr>
          <a:xfrm>
            <a:off x="5385816" y="4517136"/>
            <a:ext cx="256032" cy="256032"/>
          </a:xfrm>
          <a:prstGeom prst="rect">
            <a:avLst/>
          </a:prstGeom>
        </p:spPr>
      </p:pic>
      <p:sp>
        <p:nvSpPr>
          <p:cNvPr id="23" name="Finds the right context"/>
          <p:cNvSpPr txBox="1"/>
          <p:nvPr/>
        </p:nvSpPr>
        <p:spPr>
          <a:xfrm>
            <a:off x="5943600" y="4334256"/>
            <a:ext cx="5788152"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Finds the right context</a:t>
            </a:r>
            <a:endParaRPr lang="en-US" sz="1500" dirty="0"/>
          </a:p>
          <a:p>
            <a:pPr indent="0" marL="0">
              <a:spcAft>
                <a:spcPts val="200"/>
              </a:spcAft>
              <a:buNone/>
            </a:pPr>
            <a:r>
              <a:rPr lang="en-US" sz="1300" dirty="0">
                <a:solidFill>
                  <a:srgbClr val="3D4A5A"/>
                </a:solidFill>
              </a:rPr>
              <a:t>Vertex AI Search indexes Jira, Confluence and Drive, so each request starts from the relevant documents.</a:t>
            </a:r>
            <a:endParaRPr lang="en-US" sz="1500" dirty="0"/>
          </a:p>
        </p:txBody>
      </p:sp>
      <p:sp>
        <p:nvSpPr>
          <p:cNvPr id="24" name="Measures quality before go-live circle"/>
          <p:cNvSpPr/>
          <p:nvPr/>
        </p:nvSpPr>
        <p:spPr>
          <a:xfrm>
            <a:off x="5257800" y="5193792"/>
            <a:ext cx="512064" cy="512064"/>
          </a:xfrm>
          <a:prstGeom prst="ellipse">
            <a:avLst/>
          </a:prstGeom>
          <a:solidFill>
            <a:schemeClr val="accent4"/>
          </a:solidFill>
          <a:ln w="6350">
            <a:solidFill>
              <a:schemeClr val="accent4"/>
            </a:solidFill>
            <a:prstDash val="solid"/>
          </a:ln>
        </p:spPr>
      </p:sp>
      <p:pic>
        <p:nvPicPr>
          <p:cNvPr id="25" name="Image 4" descr="Measures quality before go-live">    </p:cNvPr>
          <p:cNvPicPr>
            <a:picLocks noChangeAspect="1"/>
          </p:cNvPicPr>
          <p:nvPr/>
        </p:nvPicPr>
        <p:blipFill>
          <a:blip r:embed="rId5"/>
          <a:stretch>
            <a:fillRect/>
          </a:stretch>
        </p:blipFill>
        <p:spPr>
          <a:xfrm>
            <a:off x="5385816" y="5321808"/>
            <a:ext cx="256032" cy="256032"/>
          </a:xfrm>
          <a:prstGeom prst="rect">
            <a:avLst/>
          </a:prstGeom>
        </p:spPr>
      </p:pic>
      <p:sp>
        <p:nvSpPr>
          <p:cNvPr id="26" name="Measures quality before go-live"/>
          <p:cNvSpPr txBox="1"/>
          <p:nvPr/>
        </p:nvSpPr>
        <p:spPr>
          <a:xfrm>
            <a:off x="5943600" y="5138928"/>
            <a:ext cx="5788152" cy="731520"/>
          </a:xfrm>
          <a:prstGeom prst="rect">
            <a:avLst/>
          </a:prstGeom>
          <a:noFill/>
          <a:ln/>
        </p:spPr>
        <p:txBody>
          <a:bodyPr wrap="square" lIns="0" tIns="0" rIns="0" bIns="0" rtlCol="0" anchor="t"/>
          <a:lstStyle/>
          <a:p>
            <a:pPr indent="0" marL="0">
              <a:spcAft>
                <a:spcPts val="200"/>
              </a:spcAft>
              <a:buNone/>
            </a:pPr>
            <a:r>
              <a:rPr lang="en-US" sz="1500" b="1" dirty="0">
                <a:solidFill>
                  <a:schemeClr val="tx1"/>
                </a:solidFill>
              </a:rPr>
              <a:t>Measures quality before go-live</a:t>
            </a:r>
            <a:endParaRPr lang="en-US" sz="1500" dirty="0"/>
          </a:p>
          <a:p>
            <a:pPr indent="0" marL="0">
              <a:spcAft>
                <a:spcPts val="200"/>
              </a:spcAft>
              <a:buNone/>
            </a:pPr>
            <a:r>
              <a:rPr lang="en-US" sz="1300" dirty="0">
                <a:solidFill>
                  <a:srgbClr val="3D4A5A"/>
                </a:solidFill>
              </a:rPr>
              <a:t>Gen AI evaluation scores agents and decisions against past tickets before anything is promoted.</a:t>
            </a:r>
            <a:endParaRPr lang="en-US" sz="1500" dirty="0"/>
          </a:p>
        </p:txBody>
      </p:sp>
      <p:sp>
        <p:nvSpPr>
          <p:cNvPr id="27" name="BAA note"/>
          <p:cNvSpPr txBox="1"/>
          <p:nvPr/>
        </p:nvSpPr>
        <p:spPr>
          <a:xfrm>
            <a:off x="5257800" y="5989320"/>
            <a:ext cx="6473952" cy="274320"/>
          </a:xfrm>
          <a:prstGeom prst="rect">
            <a:avLst/>
          </a:prstGeom>
          <a:noFill/>
          <a:ln/>
        </p:spPr>
        <p:txBody>
          <a:bodyPr wrap="square" lIns="0" tIns="0" rIns="0" bIns="0" rtlCol="0" anchor="ctr"/>
          <a:lstStyle/>
          <a:p>
            <a:pPr indent="0" marL="0">
              <a:buNone/>
            </a:pPr>
            <a:r>
              <a:rPr lang="en-US" sz="1100" i="1" dirty="0">
                <a:solidFill>
                  <a:schemeClr val="accent5"/>
                </a:solidFill>
              </a:rPr>
              <a:t>To confirm: which Vertex AI services and models are covered by Ascension's Google Cloud BAA.</a:t>
            </a:r>
            <a:endParaRPr lang="en-US" sz="11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92608"/>
            <a:ext cx="11274552" cy="640080"/>
          </a:xfrm>
          <a:prstGeom prst="rect">
            <a:avLst/>
          </a:prstGeom>
          <a:noFill/>
          <a:ln/>
        </p:spPr>
        <p:txBody>
          <a:bodyPr wrap="square" lIns="0" tIns="0" rIns="0" bIns="0" rtlCol="0" anchor="ctr"/>
          <a:lstStyle/>
          <a:p>
            <a:pPr algn="l" indent="0" marL="0">
              <a:buNone/>
            </a:pPr>
            <a:r>
              <a:rPr lang="en-US" sz="3400" b="1" dirty="0">
                <a:solidFill>
                  <a:schemeClr val="bg1"/>
                </a:solidFill>
              </a:rPr>
              <a:t>Decision-first delivery: what it is and what it delivers</a:t>
            </a:r>
            <a:endParaRPr lang="en-US" sz="3400" dirty="0"/>
          </a:p>
        </p:txBody>
      </p:sp>
      <p:sp>
        <p:nvSpPr>
          <p:cNvPr id="3" name="Text 0"/>
          <p:cNvSpPr/>
          <p:nvPr>
            <p:ph idx="101" type="body" hasCustomPrompt="1"/>
          </p:nvPr>
        </p:nvSpPr>
        <p:spPr>
          <a:xfrm>
            <a:off x="457200" y="914400"/>
            <a:ext cx="11274552" cy="384048"/>
          </a:xfrm>
          <a:prstGeom prst="rect">
            <a:avLst/>
          </a:prstGeom>
          <a:noFill/>
          <a:ln/>
        </p:spPr>
        <p:txBody>
          <a:bodyPr wrap="square" lIns="0" tIns="0" rIns="0" bIns="0" rtlCol="0" anchor="t"/>
          <a:lstStyle/>
          <a:p>
            <a:pPr algn="l" indent="0" marL="0">
              <a:buNone/>
            </a:pPr>
            <a:r>
              <a:rPr lang="en-US" sz="1500" dirty="0">
                <a:solidFill>
                  <a:schemeClr val="bg2"/>
                </a:solidFill>
              </a:rPr>
              <a:t>Most delivery steps are choices. Jev makes them in under a second; large models write only when something new is needed.</a:t>
            </a:r>
            <a:endParaRPr lang="en-US" sz="1500" dirty="0"/>
          </a:p>
        </p:txBody>
      </p:sp>
      <p:sp>
        <p:nvSpPr>
          <p:cNvPr id="4" name="Helps label"/>
          <p:cNvSpPr txBox="1"/>
          <p:nvPr/>
        </p:nvSpPr>
        <p:spPr>
          <a:xfrm>
            <a:off x="457200" y="1554480"/>
            <a:ext cx="5212080" cy="274320"/>
          </a:xfrm>
          <a:prstGeom prst="rect">
            <a:avLst/>
          </a:prstGeom>
          <a:noFill/>
          <a:ln/>
        </p:spPr>
        <p:txBody>
          <a:bodyPr wrap="square" lIns="0" tIns="0" rIns="0" bIns="0" rtlCol="0" anchor="ctr"/>
          <a:lstStyle/>
          <a:p>
            <a:pPr indent="0" marL="0">
              <a:buNone/>
            </a:pPr>
            <a:r>
              <a:rPr lang="en-US" sz="1100" b="1" spc="100" kern="0" dirty="0">
                <a:solidFill>
                  <a:srgbClr val="5FD3C4"/>
                </a:solidFill>
              </a:rPr>
              <a:t>HOW IT HELPS</a:t>
            </a:r>
            <a:endParaRPr lang="en-US" sz="1100" dirty="0"/>
          </a:p>
        </p:txBody>
      </p:sp>
      <p:sp>
        <p:nvSpPr>
          <p:cNvPr id="5" name="No waiting between steps circle"/>
          <p:cNvSpPr/>
          <p:nvPr/>
        </p:nvSpPr>
        <p:spPr>
          <a:xfrm>
            <a:off x="457200" y="1965960"/>
            <a:ext cx="475488" cy="475488"/>
          </a:xfrm>
          <a:prstGeom prst="ellipse">
            <a:avLst/>
          </a:prstGeom>
          <a:solidFill>
            <a:schemeClr val="accent1"/>
          </a:solidFill>
          <a:ln w="6350">
            <a:solidFill>
              <a:schemeClr val="accent1"/>
            </a:solidFill>
            <a:prstDash val="solid"/>
          </a:ln>
        </p:spPr>
      </p:sp>
      <p:pic>
        <p:nvPicPr>
          <p:cNvPr id="6" name="Image 0" descr="No waiting between steps">    </p:cNvPr>
          <p:cNvPicPr>
            <a:picLocks noChangeAspect="1"/>
          </p:cNvPicPr>
          <p:nvPr/>
        </p:nvPicPr>
        <p:blipFill>
          <a:blip r:embed="rId1"/>
          <a:stretch>
            <a:fillRect/>
          </a:stretch>
        </p:blipFill>
        <p:spPr>
          <a:xfrm>
            <a:off x="576072" y="2084832"/>
            <a:ext cx="237744" cy="237744"/>
          </a:xfrm>
          <a:prstGeom prst="rect">
            <a:avLst/>
          </a:prstGeom>
        </p:spPr>
      </p:pic>
      <p:sp>
        <p:nvSpPr>
          <p:cNvPr id="7" name="No waiting between steps"/>
          <p:cNvSpPr txBox="1"/>
          <p:nvPr/>
        </p:nvSpPr>
        <p:spPr>
          <a:xfrm>
            <a:off x="1097280" y="1920240"/>
            <a:ext cx="4572000" cy="713232"/>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No waiting between steps</a:t>
            </a:r>
            <a:endParaRPr lang="en-US" sz="1500" dirty="0"/>
          </a:p>
          <a:p>
            <a:pPr indent="0" marL="0">
              <a:spcAft>
                <a:spcPts val="200"/>
              </a:spcAft>
              <a:buNone/>
            </a:pPr>
            <a:r>
              <a:rPr lang="en-US" sz="1300" dirty="0">
                <a:solidFill>
                  <a:srgbClr val="A9BCC4"/>
                </a:solidFill>
              </a:rPr>
              <a:t>Lane, template, risk and routing are decided in seconds, not in queues and handoffs.</a:t>
            </a:r>
            <a:endParaRPr lang="en-US" sz="1500" dirty="0"/>
          </a:p>
        </p:txBody>
      </p:sp>
      <p:sp>
        <p:nvSpPr>
          <p:cNvPr id="8" name="Large models only where needed circle"/>
          <p:cNvSpPr/>
          <p:nvPr/>
        </p:nvSpPr>
        <p:spPr>
          <a:xfrm>
            <a:off x="457200" y="2752344"/>
            <a:ext cx="475488" cy="475488"/>
          </a:xfrm>
          <a:prstGeom prst="ellipse">
            <a:avLst/>
          </a:prstGeom>
          <a:solidFill>
            <a:schemeClr val="accent1"/>
          </a:solidFill>
          <a:ln w="6350">
            <a:solidFill>
              <a:schemeClr val="accent1"/>
            </a:solidFill>
            <a:prstDash val="solid"/>
          </a:ln>
        </p:spPr>
      </p:sp>
      <p:pic>
        <p:nvPicPr>
          <p:cNvPr id="9" name="Image 1" descr="Large models only where needed">    </p:cNvPr>
          <p:cNvPicPr>
            <a:picLocks noChangeAspect="1"/>
          </p:cNvPicPr>
          <p:nvPr/>
        </p:nvPicPr>
        <p:blipFill>
          <a:blip r:embed="rId2"/>
          <a:stretch>
            <a:fillRect/>
          </a:stretch>
        </p:blipFill>
        <p:spPr>
          <a:xfrm>
            <a:off x="576072" y="2871216"/>
            <a:ext cx="237744" cy="237744"/>
          </a:xfrm>
          <a:prstGeom prst="rect">
            <a:avLst/>
          </a:prstGeom>
        </p:spPr>
      </p:pic>
      <p:sp>
        <p:nvSpPr>
          <p:cNvPr id="10" name="Large models only where needed"/>
          <p:cNvSpPr txBox="1"/>
          <p:nvPr/>
        </p:nvSpPr>
        <p:spPr>
          <a:xfrm>
            <a:off x="1097280" y="2706624"/>
            <a:ext cx="4572000" cy="713232"/>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Large models only where needed</a:t>
            </a:r>
            <a:endParaRPr lang="en-US" sz="1500" dirty="0"/>
          </a:p>
          <a:p>
            <a:pPr indent="0" marL="0">
              <a:spcAft>
                <a:spcPts val="200"/>
              </a:spcAft>
              <a:buNone/>
            </a:pPr>
            <a:r>
              <a:rPr lang="en-US" sz="1300" dirty="0">
                <a:solidFill>
                  <a:srgbClr val="A9BCC4"/>
                </a:solidFill>
              </a:rPr>
              <a:t>A repeat request uses one large-model call, not one per step, so cost per change falls as volume grows.</a:t>
            </a:r>
            <a:endParaRPr lang="en-US" sz="1500" dirty="0"/>
          </a:p>
        </p:txBody>
      </p:sp>
      <p:sp>
        <p:nvSpPr>
          <p:cNvPr id="11" name="People spend time on judgement circle"/>
          <p:cNvSpPr/>
          <p:nvPr/>
        </p:nvSpPr>
        <p:spPr>
          <a:xfrm>
            <a:off x="457200" y="3538728"/>
            <a:ext cx="475488" cy="475488"/>
          </a:xfrm>
          <a:prstGeom prst="ellipse">
            <a:avLst/>
          </a:prstGeom>
          <a:solidFill>
            <a:schemeClr val="accent1"/>
          </a:solidFill>
          <a:ln w="6350">
            <a:solidFill>
              <a:schemeClr val="accent1"/>
            </a:solidFill>
            <a:prstDash val="solid"/>
          </a:ln>
        </p:spPr>
      </p:sp>
      <p:pic>
        <p:nvPicPr>
          <p:cNvPr id="12" name="Image 2" descr="People spend time on judgement">    </p:cNvPr>
          <p:cNvPicPr>
            <a:picLocks noChangeAspect="1"/>
          </p:cNvPicPr>
          <p:nvPr/>
        </p:nvPicPr>
        <p:blipFill>
          <a:blip r:embed="rId3"/>
          <a:stretch>
            <a:fillRect/>
          </a:stretch>
        </p:blipFill>
        <p:spPr>
          <a:xfrm>
            <a:off x="576072" y="3657600"/>
            <a:ext cx="237744" cy="237744"/>
          </a:xfrm>
          <a:prstGeom prst="rect">
            <a:avLst/>
          </a:prstGeom>
        </p:spPr>
      </p:pic>
      <p:sp>
        <p:nvSpPr>
          <p:cNvPr id="13" name="People spend time on judgement"/>
          <p:cNvSpPr txBox="1"/>
          <p:nvPr/>
        </p:nvSpPr>
        <p:spPr>
          <a:xfrm>
            <a:off x="1097280" y="3493008"/>
            <a:ext cx="4572000" cy="713232"/>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People spend time on judgement</a:t>
            </a:r>
            <a:endParaRPr lang="en-US" sz="1500" dirty="0"/>
          </a:p>
          <a:p>
            <a:pPr indent="0" marL="0">
              <a:spcAft>
                <a:spcPts val="200"/>
              </a:spcAft>
              <a:buNone/>
            </a:pPr>
            <a:r>
              <a:rPr lang="en-US" sz="1300" dirty="0">
                <a:solidFill>
                  <a:srgbClr val="A9BCC4"/>
                </a:solidFill>
              </a:rPr>
              <a:t>Only uncertain or high-risk decisions reach a person.</a:t>
            </a:r>
            <a:endParaRPr lang="en-US" sz="1500" dirty="0"/>
          </a:p>
        </p:txBody>
      </p:sp>
      <p:sp>
        <p:nvSpPr>
          <p:cNvPr id="14" name="Every decision on record circle"/>
          <p:cNvSpPr/>
          <p:nvPr/>
        </p:nvSpPr>
        <p:spPr>
          <a:xfrm>
            <a:off x="457200" y="4325112"/>
            <a:ext cx="475488" cy="475488"/>
          </a:xfrm>
          <a:prstGeom prst="ellipse">
            <a:avLst/>
          </a:prstGeom>
          <a:solidFill>
            <a:schemeClr val="accent1"/>
          </a:solidFill>
          <a:ln w="6350">
            <a:solidFill>
              <a:schemeClr val="accent1"/>
            </a:solidFill>
            <a:prstDash val="solid"/>
          </a:ln>
        </p:spPr>
      </p:sp>
      <p:pic>
        <p:nvPicPr>
          <p:cNvPr id="15" name="Image 3" descr="Every decision on record">    </p:cNvPr>
          <p:cNvPicPr>
            <a:picLocks noChangeAspect="1"/>
          </p:cNvPicPr>
          <p:nvPr/>
        </p:nvPicPr>
        <p:blipFill>
          <a:blip r:embed="rId4"/>
          <a:stretch>
            <a:fillRect/>
          </a:stretch>
        </p:blipFill>
        <p:spPr>
          <a:xfrm>
            <a:off x="576072" y="4443984"/>
            <a:ext cx="237744" cy="237744"/>
          </a:xfrm>
          <a:prstGeom prst="rect">
            <a:avLst/>
          </a:prstGeom>
        </p:spPr>
      </p:pic>
      <p:sp>
        <p:nvSpPr>
          <p:cNvPr id="16" name="Every decision on record"/>
          <p:cNvSpPr txBox="1"/>
          <p:nvPr/>
        </p:nvSpPr>
        <p:spPr>
          <a:xfrm>
            <a:off x="1097280" y="4279392"/>
            <a:ext cx="4572000" cy="713232"/>
          </a:xfrm>
          <a:prstGeom prst="rect">
            <a:avLst/>
          </a:prstGeom>
          <a:noFill/>
          <a:ln/>
        </p:spPr>
        <p:txBody>
          <a:bodyPr wrap="square" lIns="0" tIns="0" rIns="0" bIns="0" rtlCol="0" anchor="t"/>
          <a:lstStyle/>
          <a:p>
            <a:pPr indent="0" marL="0">
              <a:spcAft>
                <a:spcPts val="200"/>
              </a:spcAft>
              <a:buNone/>
            </a:pPr>
            <a:r>
              <a:rPr lang="en-US" sz="1500" b="1" dirty="0">
                <a:solidFill>
                  <a:schemeClr val="bg1"/>
                </a:solidFill>
              </a:rPr>
              <a:t>Every decision on record</a:t>
            </a:r>
            <a:endParaRPr lang="en-US" sz="1500" dirty="0"/>
          </a:p>
          <a:p>
            <a:pPr indent="0" marL="0">
              <a:spcAft>
                <a:spcPts val="200"/>
              </a:spcAft>
              <a:buNone/>
            </a:pPr>
            <a:r>
              <a:rPr lang="en-US" sz="1300" dirty="0">
                <a:solidFill>
                  <a:srgbClr val="A9BCC4"/>
                </a:solidFill>
              </a:rPr>
              <a:t>Answer, confidence and approver are logged for audit.</a:t>
            </a:r>
            <a:endParaRPr lang="en-US" sz="1500" dirty="0"/>
          </a:p>
        </p:txBody>
      </p:sp>
      <p:sp>
        <p:nvSpPr>
          <p:cNvPr id="17" name="Gains label"/>
          <p:cNvSpPr txBox="1"/>
          <p:nvPr/>
        </p:nvSpPr>
        <p:spPr>
          <a:xfrm>
            <a:off x="5989320" y="1554480"/>
            <a:ext cx="5742432" cy="274320"/>
          </a:xfrm>
          <a:prstGeom prst="rect">
            <a:avLst/>
          </a:prstGeom>
          <a:noFill/>
          <a:ln/>
        </p:spPr>
        <p:txBody>
          <a:bodyPr wrap="square" lIns="0" tIns="0" rIns="0" bIns="0" rtlCol="0" anchor="ctr"/>
          <a:lstStyle/>
          <a:p>
            <a:pPr indent="0" marL="0">
              <a:buNone/>
            </a:pPr>
            <a:r>
              <a:rPr lang="en-US" sz="1100" b="1" spc="100" kern="0" dirty="0">
                <a:solidFill>
                  <a:srgbClr val="5FD3C4"/>
                </a:solidFill>
              </a:rPr>
              <a:t>EXPECTED GAINS  ·  PILOT TARGETS</a:t>
            </a:r>
            <a:endParaRPr lang="en-US" sz="1100" dirty="0"/>
          </a:p>
        </p:txBody>
      </p:sp>
      <p:sp>
        <p:nvSpPr>
          <p:cNvPr id="18" name="Gain 1"/>
          <p:cNvSpPr/>
          <p:nvPr/>
        </p:nvSpPr>
        <p:spPr>
          <a:xfrm>
            <a:off x="5989320" y="1920240"/>
            <a:ext cx="2779776" cy="1463040"/>
          </a:xfrm>
          <a:prstGeom prst="rect">
            <a:avLst/>
          </a:prstGeom>
          <a:solidFill>
            <a:srgbClr val="18303A"/>
          </a:solidFill>
          <a:ln w="9525">
            <a:solidFill>
              <a:srgbClr val="2E4A55"/>
            </a:solidFill>
          </a:ln>
        </p:spPr>
        <p:txBody>
          <a:bodyPr wrap="square" lIns="127000" tIns="177800" rIns="177800" bIns="127000" rtlCol="0" anchor="t"/>
          <a:lstStyle/>
          <a:p>
            <a:pPr indent="0" marL="0">
              <a:spcAft>
                <a:spcPts val="400"/>
              </a:spcAft>
              <a:buNone/>
            </a:pPr>
            <a:r>
              <a:rPr lang="en-US" sz="3000" b="1" dirty="0">
                <a:solidFill>
                  <a:srgbClr val="5FD3C4"/>
                </a:solidFill>
                <a:latin typeface="Cambria" pitchFamily="34" charset="0"/>
                <a:ea typeface="Cambria" pitchFamily="34" charset="-122"/>
                <a:cs typeface="Cambria" pitchFamily="34" charset="-120"/>
              </a:rPr>
              <a:t>2 wks → ½ day</a:t>
            </a:r>
            <a:endParaRPr lang="en-US" sz="3000" dirty="0"/>
          </a:p>
          <a:p>
            <a:pPr indent="0" marL="0">
              <a:spcAft>
                <a:spcPts val="400"/>
              </a:spcAft>
              <a:buNone/>
            </a:pPr>
            <a:r>
              <a:rPr lang="en-US" sz="1300" dirty="0">
                <a:solidFill>
                  <a:schemeClr val="bg2"/>
                </a:solidFill>
              </a:rPr>
              <a:t>PDN repeat request: new SMS template plus journey branch for another market</a:t>
            </a:r>
            <a:endParaRPr lang="en-US" sz="3000" dirty="0"/>
          </a:p>
        </p:txBody>
      </p:sp>
      <p:sp>
        <p:nvSpPr>
          <p:cNvPr id="19" name="Gain 2"/>
          <p:cNvSpPr/>
          <p:nvPr/>
        </p:nvSpPr>
        <p:spPr>
          <a:xfrm>
            <a:off x="8951976" y="1920240"/>
            <a:ext cx="2779776" cy="1463040"/>
          </a:xfrm>
          <a:prstGeom prst="rect">
            <a:avLst/>
          </a:prstGeom>
          <a:solidFill>
            <a:srgbClr val="18303A"/>
          </a:solidFill>
          <a:ln w="9525">
            <a:solidFill>
              <a:srgbClr val="2E4A55"/>
            </a:solidFill>
          </a:ln>
        </p:spPr>
        <p:txBody>
          <a:bodyPr wrap="square" lIns="127000" tIns="177800" rIns="177800" bIns="127000" rtlCol="0" anchor="t"/>
          <a:lstStyle/>
          <a:p>
            <a:pPr indent="0" marL="0">
              <a:spcAft>
                <a:spcPts val="400"/>
              </a:spcAft>
              <a:buNone/>
            </a:pPr>
            <a:r>
              <a:rPr lang="en-US" sz="3000" b="1" dirty="0">
                <a:solidFill>
                  <a:srgbClr val="5FD3C4"/>
                </a:solidFill>
                <a:latin typeface="Cambria" pitchFamily="34" charset="0"/>
                <a:ea typeface="Cambria" pitchFamily="34" charset="-122"/>
                <a:cs typeface="Cambria" pitchFamily="34" charset="-120"/>
              </a:rPr>
              <a:t>1 of 10</a:t>
            </a:r>
            <a:endParaRPr lang="en-US" sz="3000" dirty="0"/>
          </a:p>
          <a:p>
            <a:pPr indent="0" marL="0">
              <a:spcAft>
                <a:spcPts val="400"/>
              </a:spcAft>
              <a:buNone/>
            </a:pPr>
            <a:r>
              <a:rPr lang="en-US" sz="1300" dirty="0">
                <a:solidFill>
                  <a:schemeClr val="bg2"/>
                </a:solidFill>
              </a:rPr>
              <a:t>steps in a repeat request that call a large model</a:t>
            </a:r>
            <a:endParaRPr lang="en-US" sz="3000" dirty="0"/>
          </a:p>
        </p:txBody>
      </p:sp>
      <p:sp>
        <p:nvSpPr>
          <p:cNvPr id="20" name="Gain 3"/>
          <p:cNvSpPr/>
          <p:nvPr/>
        </p:nvSpPr>
        <p:spPr>
          <a:xfrm>
            <a:off x="5989320" y="3547872"/>
            <a:ext cx="2779776" cy="1463040"/>
          </a:xfrm>
          <a:prstGeom prst="rect">
            <a:avLst/>
          </a:prstGeom>
          <a:solidFill>
            <a:srgbClr val="18303A"/>
          </a:solidFill>
          <a:ln w="9525">
            <a:solidFill>
              <a:srgbClr val="2E4A55"/>
            </a:solidFill>
          </a:ln>
        </p:spPr>
        <p:txBody>
          <a:bodyPr wrap="square" lIns="127000" tIns="177800" rIns="177800" bIns="127000" rtlCol="0" anchor="t"/>
          <a:lstStyle/>
          <a:p>
            <a:pPr indent="0" marL="0">
              <a:spcAft>
                <a:spcPts val="400"/>
              </a:spcAft>
              <a:buNone/>
            </a:pPr>
            <a:r>
              <a:rPr lang="en-US" sz="3000" b="1" dirty="0">
                <a:solidFill>
                  <a:srgbClr val="5FD3C4"/>
                </a:solidFill>
                <a:latin typeface="Cambria" pitchFamily="34" charset="0"/>
                <a:ea typeface="Cambria" pitchFamily="34" charset="-122"/>
                <a:cs typeface="Cambria" pitchFamily="34" charset="-120"/>
              </a:rPr>
              <a:t>2–3×</a:t>
            </a:r>
            <a:endParaRPr lang="en-US" sz="3000" dirty="0"/>
          </a:p>
          <a:p>
            <a:pPr indent="0" marL="0">
              <a:spcAft>
                <a:spcPts val="400"/>
              </a:spcAft>
              <a:buNone/>
            </a:pPr>
            <a:r>
              <a:rPr lang="en-US" sz="1300" dirty="0">
                <a:solidFill>
                  <a:schemeClr val="bg2"/>
                </a:solidFill>
              </a:rPr>
              <a:t>more changes delivered per person in an agentic pod</a:t>
            </a:r>
            <a:endParaRPr lang="en-US" sz="3000" dirty="0"/>
          </a:p>
        </p:txBody>
      </p:sp>
      <p:sp>
        <p:nvSpPr>
          <p:cNvPr id="21" name="Gain 4"/>
          <p:cNvSpPr/>
          <p:nvPr/>
        </p:nvSpPr>
        <p:spPr>
          <a:xfrm>
            <a:off x="8951976" y="3547872"/>
            <a:ext cx="2779776" cy="1463040"/>
          </a:xfrm>
          <a:prstGeom prst="rect">
            <a:avLst/>
          </a:prstGeom>
          <a:solidFill>
            <a:srgbClr val="18303A"/>
          </a:solidFill>
          <a:ln w="9525">
            <a:solidFill>
              <a:srgbClr val="2E4A55"/>
            </a:solidFill>
          </a:ln>
        </p:spPr>
        <p:txBody>
          <a:bodyPr wrap="square" lIns="127000" tIns="177800" rIns="177800" bIns="127000" rtlCol="0" anchor="t"/>
          <a:lstStyle/>
          <a:p>
            <a:pPr indent="0" marL="0">
              <a:spcAft>
                <a:spcPts val="400"/>
              </a:spcAft>
              <a:buNone/>
            </a:pPr>
            <a:r>
              <a:rPr lang="en-US" sz="3000" b="1" dirty="0">
                <a:solidFill>
                  <a:srgbClr val="5FD3C4"/>
                </a:solidFill>
                <a:latin typeface="Cambria" pitchFamily="34" charset="0"/>
                <a:ea typeface="Cambria" pitchFamily="34" charset="-122"/>
                <a:cs typeface="Cambria" pitchFamily="34" charset="-120"/>
              </a:rPr>
              <a:t>&lt; 1 sec</a:t>
            </a:r>
            <a:endParaRPr lang="en-US" sz="3000" dirty="0"/>
          </a:p>
          <a:p>
            <a:pPr indent="0" marL="0">
              <a:spcAft>
                <a:spcPts val="400"/>
              </a:spcAft>
              <a:buNone/>
            </a:pPr>
            <a:r>
              <a:rPr lang="en-US" sz="1300" dirty="0">
                <a:solidFill>
                  <a:schemeClr val="bg2"/>
                </a:solidFill>
              </a:rPr>
              <a:t>per routine decision, instead of hours waiting in a queue</a:t>
            </a:r>
            <a:endParaRPr lang="en-US" sz="3000" dirty="0"/>
          </a:p>
        </p:txBody>
      </p:sp>
      <p:sp>
        <p:nvSpPr>
          <p:cNvPr id="22" name="Outcomes label"/>
          <p:cNvSpPr txBox="1"/>
          <p:nvPr/>
        </p:nvSpPr>
        <p:spPr>
          <a:xfrm>
            <a:off x="457200" y="5230368"/>
            <a:ext cx="5486400" cy="274320"/>
          </a:xfrm>
          <a:prstGeom prst="rect">
            <a:avLst/>
          </a:prstGeom>
          <a:noFill/>
          <a:ln/>
        </p:spPr>
        <p:txBody>
          <a:bodyPr wrap="square" lIns="0" tIns="0" rIns="0" bIns="0" rtlCol="0" anchor="ctr"/>
          <a:lstStyle/>
          <a:p>
            <a:pPr indent="0" marL="0">
              <a:buNone/>
            </a:pPr>
            <a:r>
              <a:rPr lang="en-US" sz="1100" b="1" spc="100" kern="0" dirty="0">
                <a:solidFill>
                  <a:srgbClr val="5FD3C4"/>
                </a:solidFill>
              </a:rPr>
              <a:t>BUSINESS OUTCOMES</a:t>
            </a:r>
            <a:endParaRPr lang="en-US" sz="1100" dirty="0"/>
          </a:p>
        </p:txBody>
      </p:sp>
      <p:sp>
        <p:nvSpPr>
          <p:cNvPr id="23" name="Faster campaign and market launches card"/>
          <p:cNvSpPr/>
          <p:nvPr/>
        </p:nvSpPr>
        <p:spPr>
          <a:xfrm>
            <a:off x="457200" y="5559552"/>
            <a:ext cx="2715768" cy="621792"/>
          </a:xfrm>
          <a:prstGeom prst="rect">
            <a:avLst/>
          </a:prstGeom>
          <a:solidFill>
            <a:srgbClr val="18303A"/>
          </a:solidFill>
          <a:ln w="9525">
            <a:solidFill>
              <a:srgbClr val="2E4A55"/>
            </a:solidFill>
            <a:prstDash val="solid"/>
          </a:ln>
        </p:spPr>
      </p:sp>
      <p:pic>
        <p:nvPicPr>
          <p:cNvPr id="24" name="Image 4" descr="Faster campaign and market launches">    </p:cNvPr>
          <p:cNvPicPr>
            <a:picLocks noChangeAspect="1"/>
          </p:cNvPicPr>
          <p:nvPr/>
        </p:nvPicPr>
        <p:blipFill>
          <a:blip r:embed="rId5"/>
          <a:stretch>
            <a:fillRect/>
          </a:stretch>
        </p:blipFill>
        <p:spPr>
          <a:xfrm>
            <a:off x="603504" y="5733288"/>
            <a:ext cx="274320" cy="274320"/>
          </a:xfrm>
          <a:prstGeom prst="rect">
            <a:avLst/>
          </a:prstGeom>
        </p:spPr>
      </p:pic>
      <p:sp>
        <p:nvSpPr>
          <p:cNvPr id="25" name="Faster campaign and market launches"/>
          <p:cNvSpPr txBox="1"/>
          <p:nvPr/>
        </p:nvSpPr>
        <p:spPr>
          <a:xfrm>
            <a:off x="987552" y="5559552"/>
            <a:ext cx="2093976" cy="621792"/>
          </a:xfrm>
          <a:prstGeom prst="rect">
            <a:avLst/>
          </a:prstGeom>
          <a:noFill/>
          <a:ln/>
        </p:spPr>
        <p:txBody>
          <a:bodyPr wrap="square" lIns="0" tIns="0" rIns="0" bIns="0" rtlCol="0" anchor="ctr"/>
          <a:lstStyle/>
          <a:p>
            <a:pPr indent="0" marL="0">
              <a:buNone/>
            </a:pPr>
            <a:r>
              <a:rPr lang="en-US" sz="1350" b="1" dirty="0">
                <a:solidFill>
                  <a:schemeClr val="bg1"/>
                </a:solidFill>
              </a:rPr>
              <a:t>Faster campaign and market launches</a:t>
            </a:r>
            <a:endParaRPr lang="en-US" sz="1350" dirty="0"/>
          </a:p>
        </p:txBody>
      </p:sp>
      <p:sp>
        <p:nvSpPr>
          <p:cNvPr id="26" name="More experiments toward company goals card"/>
          <p:cNvSpPr/>
          <p:nvPr/>
        </p:nvSpPr>
        <p:spPr>
          <a:xfrm>
            <a:off x="3310128" y="5559552"/>
            <a:ext cx="2715768" cy="621792"/>
          </a:xfrm>
          <a:prstGeom prst="rect">
            <a:avLst/>
          </a:prstGeom>
          <a:solidFill>
            <a:srgbClr val="18303A"/>
          </a:solidFill>
          <a:ln w="9525">
            <a:solidFill>
              <a:srgbClr val="2E4A55"/>
            </a:solidFill>
            <a:prstDash val="solid"/>
          </a:ln>
        </p:spPr>
      </p:sp>
      <p:pic>
        <p:nvPicPr>
          <p:cNvPr id="27" name="Image 5" descr="More experiments toward company goals">    </p:cNvPr>
          <p:cNvPicPr>
            <a:picLocks noChangeAspect="1"/>
          </p:cNvPicPr>
          <p:nvPr/>
        </p:nvPicPr>
        <p:blipFill>
          <a:blip r:embed="rId6"/>
          <a:stretch>
            <a:fillRect/>
          </a:stretch>
        </p:blipFill>
        <p:spPr>
          <a:xfrm>
            <a:off x="3456432" y="5733288"/>
            <a:ext cx="274320" cy="274320"/>
          </a:xfrm>
          <a:prstGeom prst="rect">
            <a:avLst/>
          </a:prstGeom>
        </p:spPr>
      </p:pic>
      <p:sp>
        <p:nvSpPr>
          <p:cNvPr id="28" name="More experiments toward company goals"/>
          <p:cNvSpPr txBox="1"/>
          <p:nvPr/>
        </p:nvSpPr>
        <p:spPr>
          <a:xfrm>
            <a:off x="3840480" y="5559552"/>
            <a:ext cx="2093976" cy="621792"/>
          </a:xfrm>
          <a:prstGeom prst="rect">
            <a:avLst/>
          </a:prstGeom>
          <a:noFill/>
          <a:ln/>
        </p:spPr>
        <p:txBody>
          <a:bodyPr wrap="square" lIns="0" tIns="0" rIns="0" bIns="0" rtlCol="0" anchor="ctr"/>
          <a:lstStyle/>
          <a:p>
            <a:pPr indent="0" marL="0">
              <a:buNone/>
            </a:pPr>
            <a:r>
              <a:rPr lang="en-US" sz="1350" b="1" dirty="0">
                <a:solidFill>
                  <a:schemeClr val="bg1"/>
                </a:solidFill>
              </a:rPr>
              <a:t>More experiments toward company goals</a:t>
            </a:r>
            <a:endParaRPr lang="en-US" sz="1350" dirty="0"/>
          </a:p>
        </p:txBody>
      </p:sp>
      <p:sp>
        <p:nvSpPr>
          <p:cNvPr id="29" name="Lower cost per change and contractor spend card"/>
          <p:cNvSpPr/>
          <p:nvPr/>
        </p:nvSpPr>
        <p:spPr>
          <a:xfrm>
            <a:off x="6163056" y="5559552"/>
            <a:ext cx="2715768" cy="621792"/>
          </a:xfrm>
          <a:prstGeom prst="rect">
            <a:avLst/>
          </a:prstGeom>
          <a:solidFill>
            <a:srgbClr val="18303A"/>
          </a:solidFill>
          <a:ln w="9525">
            <a:solidFill>
              <a:srgbClr val="2E4A55"/>
            </a:solidFill>
            <a:prstDash val="solid"/>
          </a:ln>
        </p:spPr>
      </p:sp>
      <p:pic>
        <p:nvPicPr>
          <p:cNvPr id="30" name="Image 6" descr="Lower cost per change and contractor spend">    </p:cNvPr>
          <p:cNvPicPr>
            <a:picLocks noChangeAspect="1"/>
          </p:cNvPicPr>
          <p:nvPr/>
        </p:nvPicPr>
        <p:blipFill>
          <a:blip r:embed="rId7"/>
          <a:stretch>
            <a:fillRect/>
          </a:stretch>
        </p:blipFill>
        <p:spPr>
          <a:xfrm>
            <a:off x="6309360" y="5733288"/>
            <a:ext cx="274320" cy="274320"/>
          </a:xfrm>
          <a:prstGeom prst="rect">
            <a:avLst/>
          </a:prstGeom>
        </p:spPr>
      </p:pic>
      <p:sp>
        <p:nvSpPr>
          <p:cNvPr id="31" name="Lower cost per change and contractor spend"/>
          <p:cNvSpPr txBox="1"/>
          <p:nvPr/>
        </p:nvSpPr>
        <p:spPr>
          <a:xfrm>
            <a:off x="6693408" y="5559552"/>
            <a:ext cx="2093976" cy="621792"/>
          </a:xfrm>
          <a:prstGeom prst="rect">
            <a:avLst/>
          </a:prstGeom>
          <a:noFill/>
          <a:ln/>
        </p:spPr>
        <p:txBody>
          <a:bodyPr wrap="square" lIns="0" tIns="0" rIns="0" bIns="0" rtlCol="0" anchor="ctr"/>
          <a:lstStyle/>
          <a:p>
            <a:pPr indent="0" marL="0">
              <a:buNone/>
            </a:pPr>
            <a:r>
              <a:rPr lang="en-US" sz="1350" b="1" dirty="0">
                <a:solidFill>
                  <a:schemeClr val="bg1"/>
                </a:solidFill>
              </a:rPr>
              <a:t>Lower cost per change and contractor spend</a:t>
            </a:r>
            <a:endParaRPr lang="en-US" sz="1350" dirty="0"/>
          </a:p>
        </p:txBody>
      </p:sp>
      <p:sp>
        <p:nvSpPr>
          <p:cNvPr id="32" name="Governed, auditable delivery card"/>
          <p:cNvSpPr/>
          <p:nvPr/>
        </p:nvSpPr>
        <p:spPr>
          <a:xfrm>
            <a:off x="9015984" y="5559552"/>
            <a:ext cx="2715768" cy="621792"/>
          </a:xfrm>
          <a:prstGeom prst="rect">
            <a:avLst/>
          </a:prstGeom>
          <a:solidFill>
            <a:srgbClr val="18303A"/>
          </a:solidFill>
          <a:ln w="9525">
            <a:solidFill>
              <a:srgbClr val="2E4A55"/>
            </a:solidFill>
            <a:prstDash val="solid"/>
          </a:ln>
        </p:spPr>
      </p:sp>
      <p:pic>
        <p:nvPicPr>
          <p:cNvPr id="33" name="Image 7" descr="Governed, auditable delivery">    </p:cNvPr>
          <p:cNvPicPr>
            <a:picLocks noChangeAspect="1"/>
          </p:cNvPicPr>
          <p:nvPr/>
        </p:nvPicPr>
        <p:blipFill>
          <a:blip r:embed="rId8"/>
          <a:stretch>
            <a:fillRect/>
          </a:stretch>
        </p:blipFill>
        <p:spPr>
          <a:xfrm>
            <a:off x="9162288" y="5733288"/>
            <a:ext cx="274320" cy="274320"/>
          </a:xfrm>
          <a:prstGeom prst="rect">
            <a:avLst/>
          </a:prstGeom>
        </p:spPr>
      </p:pic>
      <p:sp>
        <p:nvSpPr>
          <p:cNvPr id="34" name="Governed, auditable delivery"/>
          <p:cNvSpPr txBox="1"/>
          <p:nvPr/>
        </p:nvSpPr>
        <p:spPr>
          <a:xfrm>
            <a:off x="9546336" y="5559552"/>
            <a:ext cx="2093976" cy="621792"/>
          </a:xfrm>
          <a:prstGeom prst="rect">
            <a:avLst/>
          </a:prstGeom>
          <a:noFill/>
          <a:ln/>
        </p:spPr>
        <p:txBody>
          <a:bodyPr wrap="square" lIns="0" tIns="0" rIns="0" bIns="0" rtlCol="0" anchor="ctr"/>
          <a:lstStyle/>
          <a:p>
            <a:pPr indent="0" marL="0">
              <a:buNone/>
            </a:pPr>
            <a:r>
              <a:rPr lang="en-US" sz="1350" b="1" dirty="0">
                <a:solidFill>
                  <a:schemeClr val="bg1"/>
                </a:solidFill>
              </a:rPr>
              <a:t>Governed, auditable delivery</a:t>
            </a:r>
            <a:endParaRPr lang="en-US" sz="1350" dirty="0"/>
          </a:p>
        </p:txBody>
      </p:sp>
      <p:sp>
        <p:nvSpPr>
          <p:cNvPr id="35" name="Targets note"/>
          <p:cNvSpPr txBox="1"/>
          <p:nvPr/>
        </p:nvSpPr>
        <p:spPr>
          <a:xfrm>
            <a:off x="457200" y="6217920"/>
            <a:ext cx="8686800" cy="237744"/>
          </a:xfrm>
          <a:prstGeom prst="rect">
            <a:avLst/>
          </a:prstGeom>
          <a:noFill/>
          <a:ln/>
        </p:spPr>
        <p:txBody>
          <a:bodyPr wrap="square" lIns="0" tIns="0" rIns="0" bIns="0" rtlCol="0" anchor="ctr"/>
          <a:lstStyle/>
          <a:p>
            <a:pPr indent="0" marL="0">
              <a:buNone/>
            </a:pPr>
            <a:r>
              <a:rPr lang="en-US" sz="1000" i="1" dirty="0">
                <a:solidFill>
                  <a:srgbClr val="A9BCC4"/>
                </a:solidFill>
              </a:rPr>
              <a:t>Targets to be validated in a 12-week pilot against a measured baseline. Jev speed and cost figures are vendor-reported.</a:t>
            </a:r>
            <a:endParaRPr lang="en-US" sz="1000" dirty="0"/>
          </a:p>
        </p:txBody>
      </p:sp>
      <p:sp>
        <p:nvSpPr>
          <p:cNvPr id="25" name="Slide Number Placeholder 0"/>
          <p:cNvSpPr>
            <a:spLocks noGrp="1"/>
          </p:cNvSpPr>
          <p:nvPr>
            <p:ph type="sldNum" sz="quarter" idx="4294967295"/>
          </p:nvPr>
        </p:nvSpPr>
        <p:spPr>
          <a:xfrm>
            <a:off x="11274552"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Decision-First Delivery">
  <a:themeElements>
    <a:clrScheme name="Decision-First Delivery">
      <a:dk1>
        <a:srgbClr val="17202B"/>
      </a:dk1>
      <a:lt1>
        <a:srgbClr val="FFFFFF"/>
      </a:lt1>
      <a:dk2>
        <a:srgbClr val="0F1E26"/>
      </a:dk2>
      <a:lt2>
        <a:srgbClr val="F2F5F8"/>
      </a:lt2>
      <a:accent1>
        <a:srgbClr val="0D7A6F"/>
      </a:accent1>
      <a:accent2>
        <a:srgbClr val="4A3FBF"/>
      </a:accent2>
      <a:accent3>
        <a:srgbClr val="A65A07"/>
      </a:accent3>
      <a:accent4>
        <a:srgbClr val="B5233F"/>
      </a:accent4>
      <a:accent5>
        <a:srgbClr val="4B5868"/>
      </a:accent5>
      <a:accent6>
        <a:srgbClr val="5FD3C4"/>
      </a:accent6>
      <a:hlink>
        <a:srgbClr val="4A3FBF"/>
      </a:hlink>
      <a:folHlink>
        <a:srgbClr val="6B5FD0"/>
      </a:folHlink>
    </a:clrScheme>
    <a:fontScheme name="Decision-First Deliv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Decision-First Delivery</dc:title>
  <dc:subject>Proposal 2: decision-first agentic delivery</dc:subject>
  <dc:creator>PptxGenJS</dc:creator>
  <cp:lastModifiedBy>PptxGenJS</cp:lastModifiedBy>
  <cp:revision>1</cp:revision>
  <dcterms:created xsi:type="dcterms:W3CDTF">2026-10-06T15:45:20Z</dcterms:created>
  <dcterms:modified xsi:type="dcterms:W3CDTF">2026-10-06T15:45:20Z</dcterms:modified>
</cp:coreProperties>
</file>