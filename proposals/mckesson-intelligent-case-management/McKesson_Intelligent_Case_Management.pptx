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slideMasters/slideMaster17.xml" ContentType="application/vnd.openxmlformats-officedocument.presentationml.slideMaster+xml"/>
  <Override PartName="/ppt/slides/slide17.xml" ContentType="application/vnd.openxmlformats-officedocument.presentationml.slide+xml"/>
  <Override PartName="/ppt/slideMasters/slideMaster18.xml" ContentType="application/vnd.openxmlformats-officedocument.presentationml.slideMaster+xml"/>
  <Override PartName="/ppt/slides/slide18.xml" ContentType="application/vnd.openxmlformats-officedocument.presentationml.slide+xml"/>
  <Override PartName="/ppt/slideMasters/slideMaster19.xml" ContentType="application/vnd.openxmlformats-officedocument.presentationml.slideMaster+xml"/>
  <Override PartName="/ppt/slides/slide19.xml" ContentType="application/vnd.openxmlformats-officedocument.presentationml.slide+xml"/>
  <Override PartName="/ppt/slideMasters/slideMaster20.xml" ContentType="application/vnd.openxmlformats-officedocument.presentationml.slideMaster+xml"/>
  <Override PartName="/ppt/slides/slide20.xml" ContentType="application/vnd.openxmlformats-officedocument.presentationml.slide+xml"/>
  <Override PartName="/ppt/slideMasters/slideMaster21.xml" ContentType="application/vnd.openxmlformats-officedocument.presentationml.slideMaster+xml"/>
  <Override PartName="/ppt/slides/slide21.xml" ContentType="application/vnd.openxmlformats-officedocument.presentationml.slide+xml"/>
  <Override PartName="/ppt/slideMasters/slideMaster22.xml" ContentType="application/vnd.openxmlformats-officedocument.presentationml.slideMaster+xml"/>
  <Override PartName="/ppt/slides/slide22.xml" ContentType="application/vnd.openxmlformats-officedocument.presentationml.slide+xml"/>
  <Override PartName="/ppt/slideMasters/slideMaster23.xml" ContentType="application/vnd.openxmlformats-officedocument.presentationml.slideMaster+xml"/>
  <Override PartName="/ppt/slides/slide23.xml" ContentType="application/vnd.openxmlformats-officedocument.presentationml.slide+xml"/>
  <Override PartName="/ppt/slideMasters/slideMaster24.xml" ContentType="application/vnd.openxmlformats-officedocument.presentationml.slideMaster+xml"/>
  <Override PartName="/ppt/slides/slide24.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 id="278" r:id="rId24"/>
    <p:sldId id="279" r:id="rId25"/>
  </p:sldIdLst>
  <p:notesMasterIdLst>
    <p:notesMasterId r:id="rId26"/>
  </p:notesMasterIdLst>
  <p:sldSz cx="12191695" cy="6858000"/>
  <p:notesSz cx="6858000" cy="12191695"/>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slide" Target="slides/slide19.xml"/><Relationship Id="rId21" Type="http://schemas.openxmlformats.org/officeDocument/2006/relationships/slide" Target="slides/slide20.xml"/><Relationship Id="rId22" Type="http://schemas.openxmlformats.org/officeDocument/2006/relationships/slide" Target="slides/slide21.xml"/><Relationship Id="rId23" Type="http://schemas.openxmlformats.org/officeDocument/2006/relationships/slide" Target="slides/slide22.xml"/><Relationship Id="rId24" Type="http://schemas.openxmlformats.org/officeDocument/2006/relationships/slide" Target="slides/slide23.xml"/><Relationship Id="rId25" Type="http://schemas.openxmlformats.org/officeDocument/2006/relationships/slide" Target="slides/slide24.xml"/><Relationship Id="rId26" Type="http://schemas.openxmlformats.org/officeDocument/2006/relationships/notesMaster" Target="notesMasters/notesMaster1.xml"/><Relationship Id="rId27" Type="http://schemas.openxmlformats.org/officeDocument/2006/relationships/presProps" Target="presProps.xml"/><Relationship Id="rId28" Type="http://schemas.openxmlformats.org/officeDocument/2006/relationships/viewProps" Target="viewProps.xml"/><Relationship Id="rId29" Type="http://schemas.openxmlformats.org/officeDocument/2006/relationships/theme" Target="theme/theme1.xml"/><Relationship Id="rId30"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_rels/notesSlide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xml"/>
		</Relationships>
</file>

<file path=ppt/notesSlides/_rels/notesSlide1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8.xml"/>
		</Relationships>
</file>

<file path=ppt/notesSlides/_rels/notesSlide1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9.xml"/>
		</Relationships>
</file>

<file path=ppt/notesSlides/_rels/notesSlide2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0.xml"/>
		</Relationships>
</file>

<file path=ppt/notesSlides/_rels/notesSlide2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1.xml"/>
		</Relationships>
</file>

<file path=ppt/notesSlides/_rels/notesSlide2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2.xml"/>
		</Relationships>
</file>

<file path=ppt/notesSlides/_rels/notesSlide2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3.xml"/>
		</Relationships>
</file>

<file path=ppt/notesSlides/_rels/notesSlide2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4.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1. Cover   (about 20 seconds)
PURPOSE
Set the frame before any detail.
SAY
We were asked to take on Extended Care email. What we are proposing is not more people pointed at the same queue, it is the queue itself working differently. Everything that happens to a case before an agent sees it, reading it, classifying it, prioritising it, routing it, drafting the reply, moves into Salesforce. The agent's job becomes judgement.
WATCH FOR
If asked what is different from the original proposal: the operating model and the commercials are unchanged. This is how the work gets done inside them.</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2. What this proposal covers   (about 25 seconds)
PURPOSE
Give the shape of the next thirty minutes.
SAY
Six sections. We start with where the effort actually goes today, then the solution itself, then classification, priority and SLA, then the drafting and summarising that reduces workload, then trust and phasing, and we close on business value and what we need from you. If you only want two, take section one and section six.</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3. The solution on one page   (about 60 seconds)
PURPOSE
The executive slide. Everything in one picture.
SAY
This is the whole design on one page. Email arrives and becomes a Salesforce case. A single record triggered Flow then does three things: it understands the email using a Prompt Template, which reads the thread and pulls out the category, the order numbers, the sentiment and a summary. It decides, using deterministic rules, what priority this is, which queue and skill it needs, which SLA clock applies and when to escalate. And it assists, drafting the reply grounded in your Knowledge articles. The agent reviews that draft, corrects it and sends. Underneath it all sits Omni Channel routing, Entitlements for SLA, Knowledge, and the Einstein Trust Layer for PHI masking and audit. On the right: what it is worth, what it runs on, and how it lands in three phases. The one line I would take away is at the bottom left. Anything involving money, PHI or a judgement call always stops with a person.
WATCH FOR
This is the slide to leave up if the conversation goes long. If an executive joins late, restart here.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4. Where the effort goes today   (about 45 seconds)
PURPOSE
Build the case for change from their own numbers.
SAY
Thirty three thousand cases a month, and the blended handling time is eight fifteen. But look at the split: credits and disputes run at eleven twenty five against six forty for order placement, so a quarter of your volume is consuming a disproportionate share of the effort. On the left is what happens to every one of those cases today. Six manual steps, and only the last one, composing the reply, actually needs the expertise you hired for. The other five are administration that follows rules a system can apply.
WATCH FOR
If they push on the two minutes of triage: it is our estimate, and we validate it against real cases in the baseline period. The point stands either way.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5. From a manual queue to intelligent case management   (about 40 seconds)
PURPOSE
Show the before and after without going into mechanism.
SAY
Do not read this line by line. The shape is what matters. Every row moves work from the agent to the platform. Case creation, classification, priority, assignment, SLA, the response itself, the handover. And every item in the right hand column is standard Salesforce behaviour, not something exotic we are inventing for you.</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6. Six stages, one automated case lifecycle   (about 35 seconds)
PURPOSE
Name the six stages used for the rest of the deck.
SAY
Six stages: capture, understand, route, time, assist, learn. We use this frame for the rest of the deck, so if you lose the thread at any point, ask which stage we are in. Worth noting now: stages one, three, four and six need no new licensing at all. Stages two and five are where Prompt Templates come in, and that is the only part with a licensing question attached.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7. How it works inside McKesson Salesforce   (about 50 seconds)
PURPOSE
The architecture, for the technical audience.
SAY
This is the same story with the Salesforce components named. The important architectural point is that one Flow is the spine. The Prompt Templates are called by the Flow, they do not own the process. That matters because it means the policy, what priority something gets, whether it can be automated, stays deterministic and auditable. A model is interpreting language. It is not deciding how your cases are handled. Underneath, the Einstein Trust Layer gives us zero data retention, PHI masking, prompt injection defence and a full audit trail on every generated output.
WATCH FOR
Security will ask where the data goes. Answer: it runs in McKesson tenancy, PHI is masked before the prompt leaves the org, and nothing is retained or trained 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8. Capture the email, then understand it   (about 45 seconds)
PURPOSE
Show the eight values everything downstream depends on.
SAY
Capture is Email to Case, with thread matching so a reply appends to the existing case instead of creating a duplicate, and an acknowledgement going back to the customer within seconds. Understand is the triage template. The eight fields at the bottom are the whole point of this slide, because routing, SLA, drafting and reporting all key off them. And note the third bullet on the right: deterministic Flow rules sit over the top. Where policy is unambiguous, the rule wins, not the model.</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9. A case taxonomy built for customer service   (about 35 seconds)
PURPOSE
Replace software terminology with service categories.
SAY
An earlier draft of this used terms like story and defect. Those are engineering words and they would confuse a customer service agent. These six categories describe what an Extended Care customer is actually asking for, and they map cleanly onto how the work gets handled. Category tells you what kind of work it is. The service family field on the right tells you which part of the operation owns it. Routing, reporting and knowledge all key off the pair.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10. Priority is derived, not guessed   (about 40 seconds)
PURPOSE
Show priority as a formula with controls, not a judgement call.
SAY
Category alone does not tell you how urgent something is. Priority comes from four inputs: business impact, urgency, customer criticality, and regulatory or financial risk. The four tiers are on the slide, but the controls along the bottom matter more than the tiers. Priority is never left blank. An agent can change it only with a recorded reason. Downgrading a P1 or P2 needs Shift Lead approval, and every change is in the audit history. Without those controls priority drifts and the SLA numbers stop meaning anything.</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11. Routed to the right team   (about 30 seconds)
PURPOSE
Assignment on skill and capacity, not next free hands.
SAY
Omni Channel takes the category, family and priority and pushes the case to someone who has the skill and the capacity to work it now. Six inputs decide it: queue, skill, capacity, priority, coverage and a fallback so nothing sits unowned. The practical effect is on the right: complex credits reach senior agents, and a P1 never sits behind a routine status request. This is all included in Service Cloud. No AI licensing needed.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12. Two SLA clocks, enforced by the platform   (about 45 seconds)
PURPOSE
SLA as live records, not month-end reporting.
SAY
Entitlements and Milestones run the SLA inside Salesforce against your business hours. Two clocks: first meaningful response, and resolution. The clock is a record, not a report, which means we can act on it while it is still running rather than explain it afterwards. One design decision to flag: the resolution clock keeps running while we wait on an internal McKesson team. We could pause it and our numbers would look better, but it would hide the real customer experience. Instead we measure dependency time separately so you can see what is ours and what is yours.
WATCH FOR
Expect pushback on that decision. It is deliberate and we think it is the honest choice. The four way time split is the answer.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13. Escalation fires on percentage of SLA consumed   (about 35 seconds)
PURPOSE
Explain why proportional beats a fixed rule.
SAY
A fixed one hour escalation rule is too slow for a P1 and pure noise on a seventy two hour credit. So escalation fires on percentage of the clock consumed. Fifty percent notifies the owner, seventy brings in the Shift Lead, eighty five escalates and flags on the dashboard, a hundred goes to the Operations Manager. On a P1 that first prompt lands at seven and a half minutes. On a credit case it lands at thirty six hours. The escalation load scales with actual risk, so people are interrupted when it matters.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14. The draft is waiting when the agent opens the case   (about 50 seconds)
PURPOSE
The workload reduction, and the boundary that makes it safe.
SAY
If you take one slide from this deck, take this one. The agent stops composing from a blank box and starts reviewing, correcting and sending. The draft is written in your approved tone, grounded on the case, the customer, the Knowledge article and the order record. The summary means a second agent can pick up a case without reading every reply. And the third column is what makes this safe to say yes to: every credit, return, pricing adjustment, account hold and billing dispute stays with a person, as does anything PHI sensitive or where the data is missing or conflicting. In Phase 2 nothing generated reaches a customer without an agent approving it.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15. Knowledge articles are what make the answer correct   (about 35 seconds)
PURPOSE
Answer the accuracy objection.
SAY
The obvious objection to generated replies is that they might be wrong. This is the answer. Every draft is grounded in your own approved Knowledge articles, and the article used is attached to the case so it can be checked in seconds. When an agent finds no article fits, they raise a gap in one click and it becomes a backlog item with an owner. So the knowledge base gets better rather than drifting. Today a good answer helps one customer. Under this model a good answer is written once and grounds every future reply on that case type.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16. Standard statuses, and what each does to the clock   (about 30 seconds)
PURPOSE
Remove ambiguity from SLA reporting.
SAY
Ambiguous statuses are how SLA reporting loses credibility. Ten statuses, each with one meaning and a defined effect on both clocks, configured in the Entitlement Process. The row to look at is Pending Internal Team, which is the decision we just discussed. We measure four times on every case: end to end closure, our controllable time, dependency time waiting on a McKesson team, and customer wait time.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17. Built for a PHI sensitive environment   (about 40 seconds)
PURPOSE
The security conversation, pre-empted.
SAY
Everything generative runs through the Einstein Trust Layer inside McKesson tenancy. Nothing is trained on your data and nothing is retained by a model provider. PHI and PII are masked before the prompt leaves the org and rehydrated in the response. Instructions embedded in an inbound customer email are treated as content, not as commands to the system. And every prompt, response, agent edit and send is retained, so any reply a customer received can be reconstructed. The band along the bottom is the list that never becomes autonomous, at any phase, whatever the confidence score.
WATCH FOR
If security wants detail, this is the slide to slow down on. Phase 1 uses no generative capability at all, so it introduces no new data handling surface.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18. Three phases, and value before any new licence   (about 40 seconds)
PURPOSE
De-risk the licensing question.
SAY
This is the commercial point without talking commercials. Phase 1 is built entirely from capability you already own in Service Cloud: routing, SLA, escalation, the response library, the dashboards. No new licensing, so you can start without resolving the Agentforce question first. Phase 2 adds the Prompt Templates and needs Einstein or Agentforce licensing. Phase 3 is a controlled pilot on a narrow list of case types. Each phase is gated on readiness, not on a date.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19. What McKesson and the team can see, live   (about 30 seconds)
PURPOSE
Show that structured data makes real reporting possible.
SAY
Because classification, priority and SLA are now structured fields rather than judgement calls, they can be reported on reliably. Two views: an operations control tower for the leads and for you, and an individual view for each agent. Note the automation coverage metrics, which is how we prove the AI is actually helping. Draft acceptance rate is a coaching signal about the templates, never a target for the agent. And shift reports are generated from case fields, not typed by agents at the end of a shift.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20. Every closed case feeds the next one   (about 25 seconds)
PURPOSE
Improvement as a managed process.
SAY
A short survey on closure, linked back to the originating case. Negative feedback automatically raises a service recovery action. QA determines whether the cause is the agent, the process, the article, the system, a dependency or the policy, and the fix goes to the right place. The difference from today is that the signal is captured automatically at the point of work rather than depending on someone remembering.</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21. Where the minutes actually come from   (about 45 seconds)
PURPOSE
Show the arithmetic rather than assert a percentage.
SAY
Handling time does not fall because we ask agents to work faster. It falls because we remove steps that do not need a person and shorten the ones that do. Here is the decomposition of the eight fifteen, step by step, with what we think each becomes. It totals six fifteen, about a twenty four percent reduction. The row I would defend hardest is classify, prioritise and assign, because that one is fully automated rather than assisted. Across your volume that is over three hundred and seventy hours a month on its own. These are modelled numbers and we have labelled them as such. We validate them in the baseline period before anyone commits to them.
WATCH FOR
If challenged on the compose row, note it only saves twenty five seconds because we assume the agent reads and edits every draft. We have been deliberately conservative.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22. Efficiency and response time, the two targets   (about 40 seconds)
PURPOSE
The number the sponsor remembers.
SAY
Two targets. Efficiency is the twenty four percent, roughly eleven hundred hours a month returned as capacity. Response time improves further, and for a different reason: today first response is mostly queue wait, because a case is only understood when an agent reaches it. Under this model it is understood in seconds, so an urgent case is surfaced immediately rather than on discovery. And every customer gets an acknowledgement with a case number within seconds, which is itself a response time improvement. The right hand column is what this is worth beyond the numbers, and consistency is the one I would underline.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23. What we need from McKesson to build this   (about 30 seconds)
PURPOSE
Close on the ask.
SAY
Four things. Access and environment, so we can configure and test. The licensing decision, which is the only genuinely open question and which Phase 1 does not wait on. Data and systems, including your existing articles and templates. And people and decisions, primarily sign off on the taxonomy, the priority rules and the SLA targets. Our proposed next step is a joint design workshop on those definitions, run alongside a technical discovery session on your Salesforce configuration and current Einstein entitlement.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24. Close   (about 15 seconds)
PURPOSE
One line to leave in the room.
SAY
Salesforce reads, classifies, prioritises, routes, times, summarises and drafts. Insight Global owns the operation, the quality and the outcome. And agents spend their time on the cases that need judgement. Thank you.</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24</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image" Target="../media/image-1-1.png"/><Relationship Id="rId2" Type="http://schemas.openxmlformats.org/officeDocument/2006/relationships/slideLayout" Target="../slideLayouts/slideLayout1.xml"/><Relationship Id="rId3"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image" Target="../media/image-2-1.png"/><Relationship Id="rId2" Type="http://schemas.openxmlformats.org/officeDocument/2006/relationships/slideLayout" Target="../slideLayouts/slideLayout1.xml"/><Relationship Id="rId3"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image" Target="../media/image-3-1.png"/><Relationship Id="rId2" Type="http://schemas.openxmlformats.org/officeDocument/2006/relationships/slideLayout" Target="../slideLayouts/slideLayout1.xml"/><Relationship Id="rId3"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image" Target="../media/image-4-1.png"/><Relationship Id="rId2" Type="http://schemas.openxmlformats.org/officeDocument/2006/relationships/slideLayout" Target="../slideLayouts/slideLayout1.xml"/><Relationship Id="rId3"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image" Target="../media/image-5-1.png"/><Relationship Id="rId2" Type="http://schemas.openxmlformats.org/officeDocument/2006/relationships/slideLayout" Target="../slideLayouts/slideLayout1.xml"/><Relationship Id="rId3"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image" Target="../media/image-6-1.png"/><Relationship Id="rId2" Type="http://schemas.openxmlformats.org/officeDocument/2006/relationships/slideLayout" Target="../slideLayouts/slideLayout1.xml"/><Relationship Id="rId3"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image" Target="../media/image-7-1.png"/><Relationship Id="rId2" Type="http://schemas.openxmlformats.org/officeDocument/2006/relationships/slideLayout" Target="../slideLayouts/slideLayout1.xml"/><Relationship Id="rId3"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image" Target="../media/image-8-1.png"/><Relationship Id="rId2" Type="http://schemas.openxmlformats.org/officeDocument/2006/relationships/slideLayout" Target="../slideLayouts/slideLayout1.xml"/><Relationship Id="rId3"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image" Target="../media/image-9-1.png"/><Relationship Id="rId2" Type="http://schemas.openxmlformats.org/officeDocument/2006/relationships/slideLayout" Target="../slideLayouts/slideLayout1.xml"/><Relationship Id="rId3"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image" Target="../media/image-10-1.png"/><Relationship Id="rId2" Type="http://schemas.openxmlformats.org/officeDocument/2006/relationships/slideLayout" Target="../slideLayouts/slideLayout1.xml"/><Relationship Id="rId3"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image" Target="../media/image-11-1.png"/><Relationship Id="rId2" Type="http://schemas.openxmlformats.org/officeDocument/2006/relationships/slideLayout" Target="../slideLayouts/slideLayout1.xml"/><Relationship Id="rId3"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image" Target="../media/image-12-1.png"/><Relationship Id="rId2" Type="http://schemas.openxmlformats.org/officeDocument/2006/relationships/slideLayout" Target="../slideLayouts/slideLayout1.xml"/><Relationship Id="rId3"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image" Target="../media/image-13-1.png"/><Relationship Id="rId2" Type="http://schemas.openxmlformats.org/officeDocument/2006/relationships/slideLayout" Target="../slideLayouts/slideLayout1.xml"/><Relationship Id="rId3"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image" Target="../media/image-14-1.png"/><Relationship Id="rId2" Type="http://schemas.openxmlformats.org/officeDocument/2006/relationships/slideLayout" Target="../slideLayouts/slideLayout1.xml"/><Relationship Id="rId3"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image" Target="../media/image-15-1.png"/><Relationship Id="rId2" Type="http://schemas.openxmlformats.org/officeDocument/2006/relationships/slideLayout" Target="../slideLayouts/slideLayout1.xml"/><Relationship Id="rId3"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image" Target="../media/image-16-1.png"/><Relationship Id="rId2" Type="http://schemas.openxmlformats.org/officeDocument/2006/relationships/slideLayout" Target="../slideLayouts/slideLayout1.xml"/><Relationship Id="rId3"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image" Target="../media/image-17-1.png"/><Relationship Id="rId2" Type="http://schemas.openxmlformats.org/officeDocument/2006/relationships/slideLayout" Target="../slideLayouts/slideLayout1.xml"/><Relationship Id="rId3"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image" Target="../media/image-18-1.png"/><Relationship Id="rId2" Type="http://schemas.openxmlformats.org/officeDocument/2006/relationships/slideLayout" Target="../slideLayouts/slideLayout1.xml"/><Relationship Id="rId3"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image" Target="../media/image-19-1.png"/><Relationship Id="rId2" Type="http://schemas.openxmlformats.org/officeDocument/2006/relationships/slideLayout" Target="../slideLayouts/slideLayout1.xml"/><Relationship Id="rId3"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image" Target="../media/image-20-1.png"/><Relationship Id="rId2" Type="http://schemas.openxmlformats.org/officeDocument/2006/relationships/slideLayout" Target="../slideLayouts/slideLayout1.xml"/><Relationship Id="rId3"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image" Target="../media/image-21-1.png"/><Relationship Id="rId2" Type="http://schemas.openxmlformats.org/officeDocument/2006/relationships/slideLayout" Target="../slideLayouts/slideLayout1.xml"/><Relationship Id="rId3"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image" Target="../media/image-22-1.png"/><Relationship Id="rId2" Type="http://schemas.openxmlformats.org/officeDocument/2006/relationships/slideLayout" Target="../slideLayouts/slideLayout1.xml"/><Relationship Id="rId3"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image" Target="../media/image-23-1.png"/><Relationship Id="rId2" Type="http://schemas.openxmlformats.org/officeDocument/2006/relationships/slideLayout" Target="../slideLayouts/slideLayout1.xml"/><Relationship Id="rId3"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image" Target="../media/image-24-1.png"/><Relationship Id="rId2" Type="http://schemas.openxmlformats.org/officeDocument/2006/relationships/slideLayout" Target="../slideLayouts/slideLayout1.xml"/><Relationship Id="rId3" Type="http://schemas.openxmlformats.org/officeDocument/2006/relationships/notesSlide" Target="../notesSlides/notesSlide24.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0A0D14"/>
        </a:solidFill>
      </p:bgPr>
    </p:bg>
    <p:spTree>
      <p:nvGrpSpPr>
        <p:cNvPr id="1" name=""/>
        <p:cNvGrpSpPr/>
        <p:nvPr/>
      </p:nvGrpSpPr>
      <p:grpSpPr>
        <a:xfrm>
          <a:off x="0" y="0"/>
          <a:ext cx="0" cy="0"/>
          <a:chOff x="0" y="0"/>
          <a:chExt cx="0" cy="0"/>
        </a:xfrm>
      </p:grpSpPr>
      <p:sp>
        <p:nvSpPr>
          <p:cNvPr id="2" name="Shape 0"/>
          <p:cNvSpPr/>
          <p:nvPr/>
        </p:nvSpPr>
        <p:spPr>
          <a:xfrm>
            <a:off x="7818120" y="1691640"/>
            <a:ext cx="2697480" cy="2697480"/>
          </a:xfrm>
          <a:prstGeom prst="ellipse">
            <a:avLst/>
          </a:prstGeom>
          <a:solidFill>
            <a:srgbClr val="22D3EE">
              <a:alpha val="14000"/>
            </a:srgbClr>
          </a:solidFill>
          <a:ln w="12700">
            <a:solidFill>
              <a:srgbClr val="22D3EE"/>
            </a:solidFill>
            <a:prstDash val="solid"/>
          </a:ln>
        </p:spPr>
      </p:sp>
      <p:sp>
        <p:nvSpPr>
          <p:cNvPr id="3" name="Shape 1"/>
          <p:cNvSpPr/>
          <p:nvPr/>
        </p:nvSpPr>
        <p:spPr>
          <a:xfrm>
            <a:off x="9220810" y="1691640"/>
            <a:ext cx="2697480" cy="2697480"/>
          </a:xfrm>
          <a:prstGeom prst="ellipse">
            <a:avLst/>
          </a:prstGeom>
          <a:solidFill>
            <a:srgbClr val="FFC72C">
              <a:alpha val="14000"/>
            </a:srgbClr>
          </a:solidFill>
          <a:ln w="12700">
            <a:solidFill>
              <a:srgbClr val="FFC72C"/>
            </a:solidFill>
            <a:prstDash val="solid"/>
          </a:ln>
        </p:spPr>
      </p:sp>
      <p:sp>
        <p:nvSpPr>
          <p:cNvPr id="4" name="Shape 2"/>
          <p:cNvSpPr/>
          <p:nvPr/>
        </p:nvSpPr>
        <p:spPr>
          <a:xfrm>
            <a:off x="8519465" y="2905506"/>
            <a:ext cx="2697480" cy="2697480"/>
          </a:xfrm>
          <a:prstGeom prst="ellipse">
            <a:avLst/>
          </a:prstGeom>
          <a:solidFill>
            <a:srgbClr val="FF0069">
              <a:alpha val="14000"/>
            </a:srgbClr>
          </a:solidFill>
          <a:ln w="12700">
            <a:solidFill>
              <a:srgbClr val="FF0069"/>
            </a:solidFill>
            <a:prstDash val="solid"/>
          </a:ln>
        </p:spPr>
      </p:sp>
      <p:pic>
        <p:nvPicPr>
          <p:cNvPr id="5" name="Image 0" descr="assets/ig-wordmark.png">    </p:cNvPr>
          <p:cNvPicPr>
            <a:picLocks noChangeAspect="1"/>
          </p:cNvPicPr>
          <p:nvPr/>
        </p:nvPicPr>
        <p:blipFill>
          <a:blip r:embed="rId1"/>
          <a:stretch>
            <a:fillRect/>
          </a:stretch>
        </p:blipFill>
        <p:spPr>
          <a:xfrm>
            <a:off x="502920" y="502920"/>
            <a:ext cx="1965960" cy="491033"/>
          </a:xfrm>
          <a:prstGeom prst="rect">
            <a:avLst/>
          </a:prstGeom>
        </p:spPr>
      </p:pic>
      <p:sp>
        <p:nvSpPr>
          <p:cNvPr id="6" name="Shape 3"/>
          <p:cNvSpPr/>
          <p:nvPr/>
        </p:nvSpPr>
        <p:spPr>
          <a:xfrm>
            <a:off x="502920" y="2212848"/>
            <a:ext cx="173736" cy="173736"/>
          </a:xfrm>
          <a:prstGeom prst="ellipse">
            <a:avLst/>
          </a:prstGeom>
          <a:solidFill>
            <a:srgbClr val="22D3EE"/>
          </a:solidFill>
          <a:ln w="12700">
            <a:solidFill>
              <a:srgbClr val="22D3EE"/>
            </a:solidFill>
            <a:prstDash val="solid"/>
          </a:ln>
        </p:spPr>
      </p:sp>
      <p:sp>
        <p:nvSpPr>
          <p:cNvPr id="7" name="Shape 4"/>
          <p:cNvSpPr/>
          <p:nvPr/>
        </p:nvSpPr>
        <p:spPr>
          <a:xfrm>
            <a:off x="768096" y="2212848"/>
            <a:ext cx="173736" cy="173736"/>
          </a:xfrm>
          <a:prstGeom prst="ellipse">
            <a:avLst/>
          </a:prstGeom>
          <a:solidFill>
            <a:srgbClr val="FFC72C"/>
          </a:solidFill>
          <a:ln w="12700">
            <a:solidFill>
              <a:srgbClr val="FFC72C"/>
            </a:solidFill>
            <a:prstDash val="solid"/>
          </a:ln>
        </p:spPr>
      </p:sp>
      <p:sp>
        <p:nvSpPr>
          <p:cNvPr id="8" name="Shape 5"/>
          <p:cNvSpPr/>
          <p:nvPr/>
        </p:nvSpPr>
        <p:spPr>
          <a:xfrm>
            <a:off x="1033272" y="2212848"/>
            <a:ext cx="173736" cy="173736"/>
          </a:xfrm>
          <a:prstGeom prst="ellipse">
            <a:avLst/>
          </a:prstGeom>
          <a:solidFill>
            <a:srgbClr val="FF0069"/>
          </a:solidFill>
          <a:ln w="12700">
            <a:solidFill>
              <a:srgbClr val="FF0069"/>
            </a:solidFill>
            <a:prstDash val="solid"/>
          </a:ln>
        </p:spPr>
      </p:sp>
      <p:sp>
        <p:nvSpPr>
          <p:cNvPr id="9" name="Text 6"/>
          <p:cNvSpPr txBox="1"/>
          <p:nvPr/>
        </p:nvSpPr>
        <p:spPr>
          <a:xfrm>
            <a:off x="502920" y="2615184"/>
            <a:ext cx="9144000" cy="237744"/>
          </a:xfrm>
          <a:prstGeom prst="rect">
            <a:avLst/>
          </a:prstGeom>
          <a:noFill/>
          <a:ln/>
        </p:spPr>
        <p:txBody>
          <a:bodyPr wrap="square" lIns="0" tIns="0" rIns="0" bIns="0" rtlCol="0" anchor="ctr"/>
          <a:lstStyle/>
          <a:p>
            <a:pPr indent="0" marL="0">
              <a:buNone/>
            </a:pPr>
            <a:r>
              <a:rPr lang="en-US" sz="1100" b="1" spc="260" kern="0" dirty="0">
                <a:solidFill>
                  <a:srgbClr val="22D3EE"/>
                </a:solidFill>
                <a:latin typeface="Trenda IG Display" pitchFamily="34" charset="0"/>
                <a:ea typeface="Trenda IG Display" pitchFamily="34" charset="-122"/>
                <a:cs typeface="Trenda IG Display" pitchFamily="34" charset="-120"/>
              </a:rPr>
              <a:t>MCKESSON EXTENDED CARE  |  SOLUTION PROPOSAL</a:t>
            </a:r>
            <a:endParaRPr lang="en-US" sz="1100" dirty="0"/>
          </a:p>
        </p:txBody>
      </p:sp>
      <p:sp>
        <p:nvSpPr>
          <p:cNvPr id="10" name="Text 7"/>
          <p:cNvSpPr txBox="1"/>
          <p:nvPr/>
        </p:nvSpPr>
        <p:spPr>
          <a:xfrm>
            <a:off x="502920" y="2944368"/>
            <a:ext cx="10058400" cy="1481328"/>
          </a:xfrm>
          <a:prstGeom prst="rect">
            <a:avLst/>
          </a:prstGeom>
          <a:noFill/>
          <a:ln/>
        </p:spPr>
        <p:txBody>
          <a:bodyPr wrap="square" lIns="0" tIns="0" rIns="0" bIns="0" rtlCol="0" anchor="t"/>
          <a:lstStyle/>
          <a:p>
            <a:pPr indent="0" marL="0">
              <a:lnSpc>
                <a:spcPts val="5000"/>
              </a:lnSpc>
              <a:buNone/>
            </a:pPr>
            <a:r>
              <a:rPr lang="en-US" sz="4400" b="1" spc="60" kern="0" dirty="0">
                <a:solidFill>
                  <a:srgbClr val="FFFFFF"/>
                </a:solidFill>
                <a:latin typeface="Trenda IG Display" pitchFamily="34" charset="0"/>
                <a:ea typeface="Trenda IG Display" pitchFamily="34" charset="-122"/>
                <a:cs typeface="Trenda IG Display" pitchFamily="34" charset="-120"/>
              </a:rPr>
              <a:t>INTELLIGENT CASE</a:t>
            </a:r>
            <a:endParaRPr lang="en-US" sz="4400" dirty="0"/>
          </a:p>
          <a:p>
            <a:pPr indent="0" marL="0">
              <a:lnSpc>
                <a:spcPts val="5000"/>
              </a:lnSpc>
              <a:buNone/>
            </a:pPr>
            <a:r>
              <a:rPr lang="en-US" sz="4400" b="1" spc="60" kern="0" dirty="0">
                <a:solidFill>
                  <a:srgbClr val="FFFFFF"/>
                </a:solidFill>
                <a:latin typeface="Trenda IG Display" pitchFamily="34" charset="0"/>
                <a:ea typeface="Trenda IG Display" pitchFamily="34" charset="-122"/>
                <a:cs typeface="Trenda IG Display" pitchFamily="34" charset="-120"/>
              </a:rPr>
              <a:t>MANAGEMENT</a:t>
            </a:r>
            <a:endParaRPr lang="en-US" sz="4400" dirty="0"/>
          </a:p>
        </p:txBody>
      </p:sp>
      <p:sp>
        <p:nvSpPr>
          <p:cNvPr id="11" name="Text 8"/>
          <p:cNvSpPr txBox="1"/>
          <p:nvPr/>
        </p:nvSpPr>
        <p:spPr>
          <a:xfrm>
            <a:off x="502920" y="4617720"/>
            <a:ext cx="7772400" cy="640080"/>
          </a:xfrm>
          <a:prstGeom prst="rect">
            <a:avLst/>
          </a:prstGeom>
          <a:noFill/>
          <a:ln/>
        </p:spPr>
        <p:txBody>
          <a:bodyPr wrap="square" lIns="0" tIns="0" rIns="0" bIns="0" rtlCol="0" anchor="t"/>
          <a:lstStyle/>
          <a:p>
            <a:pPr indent="0" marL="0">
              <a:lnSpc>
                <a:spcPts val="1900"/>
              </a:lnSpc>
              <a:buNone/>
            </a:pPr>
            <a:r>
              <a:rPr lang="en-US" sz="1300" dirty="0">
                <a:solidFill>
                  <a:srgbClr val="8A94A6"/>
                </a:solidFill>
                <a:latin typeface="Trenda IG Text" pitchFamily="34" charset="0"/>
                <a:ea typeface="Trenda IG Text" pitchFamily="34" charset="-122"/>
                <a:cs typeface="Trenda IG Text" pitchFamily="34" charset="-120"/>
              </a:rPr>
              <a:t>Salesforce native email case automation. Every inbound case classified, prioritised, routed, timed, summarised and drafted before an agent opens it.</a:t>
            </a:r>
            <a:endParaRPr lang="en-US" sz="1300" dirty="0"/>
          </a:p>
        </p:txBody>
      </p:sp>
      <p:sp>
        <p:nvSpPr>
          <p:cNvPr id="12" name="Text 9"/>
          <p:cNvSpPr txBox="1"/>
          <p:nvPr/>
        </p:nvSpPr>
        <p:spPr>
          <a:xfrm>
            <a:off x="502920" y="6053328"/>
            <a:ext cx="6400800" cy="256032"/>
          </a:xfrm>
          <a:prstGeom prst="rect">
            <a:avLst/>
          </a:prstGeom>
          <a:noFill/>
          <a:ln/>
        </p:spPr>
        <p:txBody>
          <a:bodyPr wrap="square" lIns="0" tIns="0" rIns="0" bIns="0" rtlCol="0" anchor="ctr"/>
          <a:lstStyle/>
          <a:p>
            <a:pPr indent="0" marL="0">
              <a:buNone/>
            </a:pPr>
            <a:r>
              <a:rPr lang="en-US" sz="1000" dirty="0">
                <a:solidFill>
                  <a:srgbClr val="8A94A6"/>
                </a:solidFill>
                <a:latin typeface="Trenda IG Text" pitchFamily="34" charset="0"/>
                <a:ea typeface="Trenda IG Text" pitchFamily="34" charset="-122"/>
                <a:cs typeface="Trenda IG Text" pitchFamily="34" charset="-120"/>
              </a:rPr>
              <a:t>Prepared by Insight Global   ·   September 2026</a:t>
            </a:r>
            <a:endParaRPr lang="en-US" sz="10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0A0D14"/>
        </a:solidFill>
      </p:bgPr>
    </p:bg>
    <p:spTree>
      <p:nvGrpSpPr>
        <p:cNvPr id="1" name=""/>
        <p:cNvGrpSpPr/>
        <p:nvPr/>
      </p:nvGrpSpPr>
      <p:grpSpPr>
        <a:xfrm>
          <a:off x="0" y="0"/>
          <a:ext cx="0" cy="0"/>
          <a:chOff x="0" y="0"/>
          <a:chExt cx="0" cy="0"/>
        </a:xfrm>
      </p:grpSpPr>
      <p:sp>
        <p:nvSpPr>
          <p:cNvPr id="2" name="Text 0"/>
          <p:cNvSpPr txBox="1"/>
          <p:nvPr/>
        </p:nvSpPr>
        <p:spPr>
          <a:xfrm>
            <a:off x="502920" y="384048"/>
            <a:ext cx="11183112" cy="219456"/>
          </a:xfrm>
          <a:prstGeom prst="rect">
            <a:avLst/>
          </a:prstGeom>
          <a:noFill/>
          <a:ln/>
        </p:spPr>
        <p:txBody>
          <a:bodyPr wrap="square" lIns="0" tIns="0" rIns="0" bIns="0" rtlCol="0" anchor="ctr"/>
          <a:lstStyle/>
          <a:p>
            <a:pPr indent="0" marL="0">
              <a:buNone/>
            </a:pPr>
            <a:r>
              <a:rPr lang="en-US" sz="1000" b="1" spc="220" kern="0" dirty="0">
                <a:solidFill>
                  <a:srgbClr val="22D3EE"/>
                </a:solidFill>
                <a:latin typeface="Trenda IG Display" pitchFamily="34" charset="0"/>
                <a:ea typeface="Trenda IG Display" pitchFamily="34" charset="-122"/>
                <a:cs typeface="Trenda IG Display" pitchFamily="34" charset="-120"/>
              </a:rPr>
              <a:t>AGENDA</a:t>
            </a:r>
            <a:endParaRPr lang="en-US" sz="1000" dirty="0"/>
          </a:p>
        </p:txBody>
      </p:sp>
      <p:sp>
        <p:nvSpPr>
          <p:cNvPr id="3" name="Text 1"/>
          <p:cNvSpPr txBox="1"/>
          <p:nvPr/>
        </p:nvSpPr>
        <p:spPr>
          <a:xfrm>
            <a:off x="502920" y="658368"/>
            <a:ext cx="11183112" cy="416052"/>
          </a:xfrm>
          <a:prstGeom prst="rect">
            <a:avLst/>
          </a:prstGeom>
          <a:noFill/>
          <a:ln/>
        </p:spPr>
        <p:txBody>
          <a:bodyPr wrap="square" lIns="0" tIns="0" rIns="0" bIns="0" rtlCol="0" anchor="ctr"/>
          <a:lstStyle/>
          <a:p>
            <a:pPr indent="0" marL="0">
              <a:lnSpc>
                <a:spcPts val="3016"/>
              </a:lnSpc>
              <a:buNone/>
            </a:pPr>
            <a:r>
              <a:rPr lang="en-US" sz="2600" b="1" spc="40" kern="0" dirty="0">
                <a:solidFill>
                  <a:srgbClr val="FFFFFF"/>
                </a:solidFill>
                <a:latin typeface="Trenda IG Display" pitchFamily="34" charset="0"/>
                <a:ea typeface="Trenda IG Display" pitchFamily="34" charset="-122"/>
                <a:cs typeface="Trenda IG Display" pitchFamily="34" charset="-120"/>
              </a:rPr>
              <a:t>WHAT THIS PROPOSAL COVERS</a:t>
            </a:r>
            <a:endParaRPr lang="en-US" sz="2600" dirty="0"/>
          </a:p>
        </p:txBody>
      </p:sp>
      <p:sp>
        <p:nvSpPr>
          <p:cNvPr id="4" name="Text 2"/>
          <p:cNvSpPr txBox="1"/>
          <p:nvPr/>
        </p:nvSpPr>
        <p:spPr>
          <a:xfrm>
            <a:off x="502920" y="1156716"/>
            <a:ext cx="11183112" cy="384048"/>
          </a:xfrm>
          <a:prstGeom prst="rect">
            <a:avLst/>
          </a:prstGeom>
          <a:noFill/>
          <a:ln/>
        </p:spPr>
        <p:txBody>
          <a:bodyPr wrap="square" lIns="0" tIns="0" rIns="0" bIns="0" rtlCol="0" anchor="t"/>
          <a:lstStyle/>
          <a:p>
            <a:pPr indent="0" marL="0">
              <a:lnSpc>
                <a:spcPts val="1500"/>
              </a:lnSpc>
              <a:buNone/>
            </a:pPr>
            <a:r>
              <a:rPr lang="en-US" sz="1150" dirty="0">
                <a:solidFill>
                  <a:srgbClr val="8A94A6"/>
                </a:solidFill>
                <a:latin typeface="Trenda IG Text" pitchFamily="34" charset="0"/>
                <a:ea typeface="Trenda IG Text" pitchFamily="34" charset="-122"/>
                <a:cs typeface="Trenda IG Text" pitchFamily="34" charset="-120"/>
              </a:rPr>
              <a:t>A Salesforce native operating model for Extended Care email, built on Flow Builder, Prompt Templates and Agentforce, delivered in phases so value lands before any new licensing is required.</a:t>
            </a:r>
            <a:endParaRPr lang="en-US" sz="1150" dirty="0"/>
          </a:p>
        </p:txBody>
      </p:sp>
      <p:sp>
        <p:nvSpPr>
          <p:cNvPr id="5" name="Shape 3"/>
          <p:cNvSpPr/>
          <p:nvPr/>
        </p:nvSpPr>
        <p:spPr>
          <a:xfrm>
            <a:off x="502920" y="1796796"/>
            <a:ext cx="3593592" cy="1755648"/>
          </a:xfrm>
          <a:prstGeom prst="roundRect">
            <a:avLst>
              <a:gd name="adj" fmla="val 2083"/>
            </a:avLst>
          </a:prstGeom>
          <a:solidFill>
            <a:srgbClr val="151A24"/>
          </a:solidFill>
          <a:ln w="12700">
            <a:solidFill>
              <a:srgbClr val="252D3D"/>
            </a:solidFill>
            <a:prstDash val="solid"/>
          </a:ln>
        </p:spPr>
      </p:sp>
      <p:sp>
        <p:nvSpPr>
          <p:cNvPr id="6" name="Shape 4"/>
          <p:cNvSpPr/>
          <p:nvPr/>
        </p:nvSpPr>
        <p:spPr>
          <a:xfrm>
            <a:off x="722376" y="2016252"/>
            <a:ext cx="310896" cy="256032"/>
          </a:xfrm>
          <a:prstGeom prst="roundRect">
            <a:avLst>
              <a:gd name="adj" fmla="val 17857"/>
            </a:avLst>
          </a:prstGeom>
          <a:solidFill>
            <a:srgbClr val="0A0D14"/>
          </a:solidFill>
          <a:ln w="12700">
            <a:solidFill>
              <a:srgbClr val="22D3EE"/>
            </a:solidFill>
            <a:prstDash val="solid"/>
          </a:ln>
        </p:spPr>
      </p:sp>
      <p:sp>
        <p:nvSpPr>
          <p:cNvPr id="7" name="Text 5"/>
          <p:cNvSpPr txBox="1"/>
          <p:nvPr/>
        </p:nvSpPr>
        <p:spPr>
          <a:xfrm>
            <a:off x="722376" y="2016252"/>
            <a:ext cx="310896" cy="256032"/>
          </a:xfrm>
          <a:prstGeom prst="rect">
            <a:avLst/>
          </a:prstGeom>
          <a:noFill/>
          <a:ln/>
        </p:spPr>
        <p:txBody>
          <a:bodyPr wrap="square" lIns="0" tIns="0" rIns="0" bIns="0" rtlCol="0" anchor="ctr"/>
          <a:lstStyle/>
          <a:p>
            <a:pPr algn="ctr" indent="0" marL="0">
              <a:buNone/>
            </a:pPr>
            <a:r>
              <a:rPr lang="en-US" sz="1050" b="1" dirty="0">
                <a:solidFill>
                  <a:srgbClr val="22D3EE"/>
                </a:solidFill>
                <a:latin typeface="Trenda IG Display" pitchFamily="34" charset="0"/>
                <a:ea typeface="Trenda IG Display" pitchFamily="34" charset="-122"/>
                <a:cs typeface="Trenda IG Display" pitchFamily="34" charset="-120"/>
              </a:rPr>
              <a:t>01</a:t>
            </a:r>
            <a:endParaRPr lang="en-US" sz="1050" dirty="0"/>
          </a:p>
        </p:txBody>
      </p:sp>
      <p:sp>
        <p:nvSpPr>
          <p:cNvPr id="8" name="Text 6"/>
          <p:cNvSpPr txBox="1"/>
          <p:nvPr/>
        </p:nvSpPr>
        <p:spPr>
          <a:xfrm>
            <a:off x="722376" y="2363724"/>
            <a:ext cx="3154680" cy="493776"/>
          </a:xfrm>
          <a:prstGeom prst="rect">
            <a:avLst/>
          </a:prstGeom>
          <a:noFill/>
          <a:ln/>
        </p:spPr>
        <p:txBody>
          <a:bodyPr wrap="square" lIns="0" tIns="0" rIns="0" bIns="0" rtlCol="0" anchor="t"/>
          <a:lstStyle/>
          <a:p>
            <a:pPr indent="0" marL="0">
              <a:lnSpc>
                <a:spcPts val="1600"/>
              </a:lnSpc>
              <a:buNone/>
            </a:pPr>
            <a:r>
              <a:rPr lang="en-US" sz="1250" b="1" dirty="0">
                <a:solidFill>
                  <a:srgbClr val="FFFFFF"/>
                </a:solidFill>
                <a:latin typeface="Trenda IG Text" pitchFamily="34" charset="0"/>
                <a:ea typeface="Trenda IG Text" pitchFamily="34" charset="-122"/>
                <a:cs typeface="Trenda IG Text" pitchFamily="34" charset="-120"/>
              </a:rPr>
              <a:t>Where the effort goes today</a:t>
            </a:r>
            <a:endParaRPr lang="en-US" sz="1250" dirty="0"/>
          </a:p>
        </p:txBody>
      </p:sp>
      <p:sp>
        <p:nvSpPr>
          <p:cNvPr id="9" name="Text 7"/>
          <p:cNvSpPr txBox="1"/>
          <p:nvPr/>
        </p:nvSpPr>
        <p:spPr>
          <a:xfrm>
            <a:off x="722376" y="2875788"/>
            <a:ext cx="3154680" cy="566928"/>
          </a:xfrm>
          <a:prstGeom prst="rect">
            <a:avLst/>
          </a:prstGeom>
          <a:noFill/>
          <a:ln/>
        </p:spPr>
        <p:txBody>
          <a:bodyPr wrap="square" lIns="0" tIns="0" rIns="0" bIns="0" rtlCol="0" anchor="t"/>
          <a:lstStyle/>
          <a:p>
            <a:pPr indent="0" marL="0">
              <a:lnSpc>
                <a:spcPts val="1250"/>
              </a:lnSpc>
              <a:buNone/>
            </a:pPr>
            <a:r>
              <a:rPr lang="en-US" sz="900" dirty="0">
                <a:solidFill>
                  <a:srgbClr val="8A94A6"/>
                </a:solidFill>
                <a:latin typeface="Trenda IG Text" pitchFamily="34" charset="0"/>
                <a:ea typeface="Trenda IG Text" pitchFamily="34" charset="-122"/>
                <a:cs typeface="Trenda IG Text" pitchFamily="34" charset="-120"/>
              </a:rPr>
              <a:t>The manual work sitting between an inbound email and a customer reply, and what it costs in handling time.</a:t>
            </a:r>
            <a:endParaRPr lang="en-US" sz="900" dirty="0"/>
          </a:p>
        </p:txBody>
      </p:sp>
      <p:sp>
        <p:nvSpPr>
          <p:cNvPr id="10" name="Shape 8"/>
          <p:cNvSpPr/>
          <p:nvPr/>
        </p:nvSpPr>
        <p:spPr>
          <a:xfrm>
            <a:off x="4297680" y="1796796"/>
            <a:ext cx="3593592" cy="1755648"/>
          </a:xfrm>
          <a:prstGeom prst="roundRect">
            <a:avLst>
              <a:gd name="adj" fmla="val 2083"/>
            </a:avLst>
          </a:prstGeom>
          <a:solidFill>
            <a:srgbClr val="151A24"/>
          </a:solidFill>
          <a:ln w="12700">
            <a:solidFill>
              <a:srgbClr val="252D3D"/>
            </a:solidFill>
            <a:prstDash val="solid"/>
          </a:ln>
        </p:spPr>
      </p:sp>
      <p:sp>
        <p:nvSpPr>
          <p:cNvPr id="11" name="Shape 9"/>
          <p:cNvSpPr/>
          <p:nvPr/>
        </p:nvSpPr>
        <p:spPr>
          <a:xfrm>
            <a:off x="4517136" y="2016252"/>
            <a:ext cx="310896" cy="256032"/>
          </a:xfrm>
          <a:prstGeom prst="roundRect">
            <a:avLst>
              <a:gd name="adj" fmla="val 17857"/>
            </a:avLst>
          </a:prstGeom>
          <a:solidFill>
            <a:srgbClr val="0A0D14"/>
          </a:solidFill>
          <a:ln w="12700">
            <a:solidFill>
              <a:srgbClr val="22D3EE"/>
            </a:solidFill>
            <a:prstDash val="solid"/>
          </a:ln>
        </p:spPr>
      </p:sp>
      <p:sp>
        <p:nvSpPr>
          <p:cNvPr id="12" name="Text 10"/>
          <p:cNvSpPr txBox="1"/>
          <p:nvPr/>
        </p:nvSpPr>
        <p:spPr>
          <a:xfrm>
            <a:off x="4517136" y="2016252"/>
            <a:ext cx="310896" cy="256032"/>
          </a:xfrm>
          <a:prstGeom prst="rect">
            <a:avLst/>
          </a:prstGeom>
          <a:noFill/>
          <a:ln/>
        </p:spPr>
        <p:txBody>
          <a:bodyPr wrap="square" lIns="0" tIns="0" rIns="0" bIns="0" rtlCol="0" anchor="ctr"/>
          <a:lstStyle/>
          <a:p>
            <a:pPr algn="ctr" indent="0" marL="0">
              <a:buNone/>
            </a:pPr>
            <a:r>
              <a:rPr lang="en-US" sz="1050" b="1" dirty="0">
                <a:solidFill>
                  <a:srgbClr val="22D3EE"/>
                </a:solidFill>
                <a:latin typeface="Trenda IG Display" pitchFamily="34" charset="0"/>
                <a:ea typeface="Trenda IG Display" pitchFamily="34" charset="-122"/>
                <a:cs typeface="Trenda IG Display" pitchFamily="34" charset="-120"/>
              </a:rPr>
              <a:t>02</a:t>
            </a:r>
            <a:endParaRPr lang="en-US" sz="1050" dirty="0"/>
          </a:p>
        </p:txBody>
      </p:sp>
      <p:sp>
        <p:nvSpPr>
          <p:cNvPr id="13" name="Text 11"/>
          <p:cNvSpPr txBox="1"/>
          <p:nvPr/>
        </p:nvSpPr>
        <p:spPr>
          <a:xfrm>
            <a:off x="4517136" y="2363724"/>
            <a:ext cx="3154680" cy="493776"/>
          </a:xfrm>
          <a:prstGeom prst="rect">
            <a:avLst/>
          </a:prstGeom>
          <a:noFill/>
          <a:ln/>
        </p:spPr>
        <p:txBody>
          <a:bodyPr wrap="square" lIns="0" tIns="0" rIns="0" bIns="0" rtlCol="0" anchor="t"/>
          <a:lstStyle/>
          <a:p>
            <a:pPr indent="0" marL="0">
              <a:lnSpc>
                <a:spcPts val="1600"/>
              </a:lnSpc>
              <a:buNone/>
            </a:pPr>
            <a:r>
              <a:rPr lang="en-US" sz="1250" b="1" dirty="0">
                <a:solidFill>
                  <a:srgbClr val="FFFFFF"/>
                </a:solidFill>
                <a:latin typeface="Trenda IG Text" pitchFamily="34" charset="0"/>
                <a:ea typeface="Trenda IG Text" pitchFamily="34" charset="-122"/>
                <a:cs typeface="Trenda IG Text" pitchFamily="34" charset="-120"/>
              </a:rPr>
              <a:t>The intelligent case management model</a:t>
            </a:r>
            <a:endParaRPr lang="en-US" sz="1250" dirty="0"/>
          </a:p>
        </p:txBody>
      </p:sp>
      <p:sp>
        <p:nvSpPr>
          <p:cNvPr id="14" name="Text 12"/>
          <p:cNvSpPr txBox="1"/>
          <p:nvPr/>
        </p:nvSpPr>
        <p:spPr>
          <a:xfrm>
            <a:off x="4517136" y="2875788"/>
            <a:ext cx="3154680" cy="566928"/>
          </a:xfrm>
          <a:prstGeom prst="rect">
            <a:avLst/>
          </a:prstGeom>
          <a:noFill/>
          <a:ln/>
        </p:spPr>
        <p:txBody>
          <a:bodyPr wrap="square" lIns="0" tIns="0" rIns="0" bIns="0" rtlCol="0" anchor="t"/>
          <a:lstStyle/>
          <a:p>
            <a:pPr indent="0" marL="0">
              <a:lnSpc>
                <a:spcPts val="1250"/>
              </a:lnSpc>
              <a:buNone/>
            </a:pPr>
            <a:r>
              <a:rPr lang="en-US" sz="900" dirty="0">
                <a:solidFill>
                  <a:srgbClr val="8A94A6"/>
                </a:solidFill>
                <a:latin typeface="Trenda IG Text" pitchFamily="34" charset="0"/>
                <a:ea typeface="Trenda IG Text" pitchFamily="34" charset="-122"/>
                <a:cs typeface="Trenda IG Text" pitchFamily="34" charset="-120"/>
              </a:rPr>
              <a:t>Six stages from capture to continuous learning, and the Salesforce architecture that delivers them.</a:t>
            </a:r>
            <a:endParaRPr lang="en-US" sz="900" dirty="0"/>
          </a:p>
        </p:txBody>
      </p:sp>
      <p:sp>
        <p:nvSpPr>
          <p:cNvPr id="15" name="Shape 13"/>
          <p:cNvSpPr/>
          <p:nvPr/>
        </p:nvSpPr>
        <p:spPr>
          <a:xfrm>
            <a:off x="8092440" y="1796796"/>
            <a:ext cx="3593592" cy="1755648"/>
          </a:xfrm>
          <a:prstGeom prst="roundRect">
            <a:avLst>
              <a:gd name="adj" fmla="val 2083"/>
            </a:avLst>
          </a:prstGeom>
          <a:solidFill>
            <a:srgbClr val="151A24"/>
          </a:solidFill>
          <a:ln w="12700">
            <a:solidFill>
              <a:srgbClr val="252D3D"/>
            </a:solidFill>
            <a:prstDash val="solid"/>
          </a:ln>
        </p:spPr>
      </p:sp>
      <p:sp>
        <p:nvSpPr>
          <p:cNvPr id="16" name="Shape 14"/>
          <p:cNvSpPr/>
          <p:nvPr/>
        </p:nvSpPr>
        <p:spPr>
          <a:xfrm>
            <a:off x="8311896" y="2016252"/>
            <a:ext cx="310896" cy="256032"/>
          </a:xfrm>
          <a:prstGeom prst="roundRect">
            <a:avLst>
              <a:gd name="adj" fmla="val 17857"/>
            </a:avLst>
          </a:prstGeom>
          <a:solidFill>
            <a:srgbClr val="0A0D14"/>
          </a:solidFill>
          <a:ln w="12700">
            <a:solidFill>
              <a:srgbClr val="22D3EE"/>
            </a:solidFill>
            <a:prstDash val="solid"/>
          </a:ln>
        </p:spPr>
      </p:sp>
      <p:sp>
        <p:nvSpPr>
          <p:cNvPr id="17" name="Text 15"/>
          <p:cNvSpPr txBox="1"/>
          <p:nvPr/>
        </p:nvSpPr>
        <p:spPr>
          <a:xfrm>
            <a:off x="8311896" y="2016252"/>
            <a:ext cx="310896" cy="256032"/>
          </a:xfrm>
          <a:prstGeom prst="rect">
            <a:avLst/>
          </a:prstGeom>
          <a:noFill/>
          <a:ln/>
        </p:spPr>
        <p:txBody>
          <a:bodyPr wrap="square" lIns="0" tIns="0" rIns="0" bIns="0" rtlCol="0" anchor="ctr"/>
          <a:lstStyle/>
          <a:p>
            <a:pPr algn="ctr" indent="0" marL="0">
              <a:buNone/>
            </a:pPr>
            <a:r>
              <a:rPr lang="en-US" sz="1050" b="1" dirty="0">
                <a:solidFill>
                  <a:srgbClr val="22D3EE"/>
                </a:solidFill>
                <a:latin typeface="Trenda IG Display" pitchFamily="34" charset="0"/>
                <a:ea typeface="Trenda IG Display" pitchFamily="34" charset="-122"/>
                <a:cs typeface="Trenda IG Display" pitchFamily="34" charset="-120"/>
              </a:rPr>
              <a:t>03</a:t>
            </a:r>
            <a:endParaRPr lang="en-US" sz="1050" dirty="0"/>
          </a:p>
        </p:txBody>
      </p:sp>
      <p:sp>
        <p:nvSpPr>
          <p:cNvPr id="18" name="Text 16"/>
          <p:cNvSpPr txBox="1"/>
          <p:nvPr/>
        </p:nvSpPr>
        <p:spPr>
          <a:xfrm>
            <a:off x="8311896" y="2363724"/>
            <a:ext cx="3154680" cy="493776"/>
          </a:xfrm>
          <a:prstGeom prst="rect">
            <a:avLst/>
          </a:prstGeom>
          <a:noFill/>
          <a:ln/>
        </p:spPr>
        <p:txBody>
          <a:bodyPr wrap="square" lIns="0" tIns="0" rIns="0" bIns="0" rtlCol="0" anchor="t"/>
          <a:lstStyle/>
          <a:p>
            <a:pPr indent="0" marL="0">
              <a:lnSpc>
                <a:spcPts val="1600"/>
              </a:lnSpc>
              <a:buNone/>
            </a:pPr>
            <a:r>
              <a:rPr lang="en-US" sz="1250" b="1" dirty="0">
                <a:solidFill>
                  <a:srgbClr val="FFFFFF"/>
                </a:solidFill>
                <a:latin typeface="Trenda IG Text" pitchFamily="34" charset="0"/>
                <a:ea typeface="Trenda IG Text" pitchFamily="34" charset="-122"/>
                <a:cs typeface="Trenda IG Text" pitchFamily="34" charset="-120"/>
              </a:rPr>
              <a:t>Classification, priority and SLA</a:t>
            </a:r>
            <a:endParaRPr lang="en-US" sz="1250" dirty="0"/>
          </a:p>
        </p:txBody>
      </p:sp>
      <p:sp>
        <p:nvSpPr>
          <p:cNvPr id="19" name="Text 17"/>
          <p:cNvSpPr txBox="1"/>
          <p:nvPr/>
        </p:nvSpPr>
        <p:spPr>
          <a:xfrm>
            <a:off x="8311896" y="2875788"/>
            <a:ext cx="3154680" cy="566928"/>
          </a:xfrm>
          <a:prstGeom prst="rect">
            <a:avLst/>
          </a:prstGeom>
          <a:noFill/>
          <a:ln/>
        </p:spPr>
        <p:txBody>
          <a:bodyPr wrap="square" lIns="0" tIns="0" rIns="0" bIns="0" rtlCol="0" anchor="t"/>
          <a:lstStyle/>
          <a:p>
            <a:pPr indent="0" marL="0">
              <a:lnSpc>
                <a:spcPts val="1250"/>
              </a:lnSpc>
              <a:buNone/>
            </a:pPr>
            <a:r>
              <a:rPr lang="en-US" sz="900" dirty="0">
                <a:solidFill>
                  <a:srgbClr val="8A94A6"/>
                </a:solidFill>
                <a:latin typeface="Trenda IG Text" pitchFamily="34" charset="0"/>
                <a:ea typeface="Trenda IG Text" pitchFamily="34" charset="-122"/>
                <a:cs typeface="Trenda IG Text" pitchFamily="34" charset="-120"/>
              </a:rPr>
              <a:t>A customer service taxonomy, a priority formula, and SLA clocks enforced by Entitlements and Milestones.</a:t>
            </a:r>
            <a:endParaRPr lang="en-US" sz="900" dirty="0"/>
          </a:p>
        </p:txBody>
      </p:sp>
      <p:sp>
        <p:nvSpPr>
          <p:cNvPr id="20" name="Shape 18"/>
          <p:cNvSpPr/>
          <p:nvPr/>
        </p:nvSpPr>
        <p:spPr>
          <a:xfrm>
            <a:off x="502920" y="3771900"/>
            <a:ext cx="3593592" cy="1755648"/>
          </a:xfrm>
          <a:prstGeom prst="roundRect">
            <a:avLst>
              <a:gd name="adj" fmla="val 2083"/>
            </a:avLst>
          </a:prstGeom>
          <a:solidFill>
            <a:srgbClr val="151A24"/>
          </a:solidFill>
          <a:ln w="12700">
            <a:solidFill>
              <a:srgbClr val="252D3D"/>
            </a:solidFill>
            <a:prstDash val="solid"/>
          </a:ln>
        </p:spPr>
      </p:sp>
      <p:sp>
        <p:nvSpPr>
          <p:cNvPr id="21" name="Shape 19"/>
          <p:cNvSpPr/>
          <p:nvPr/>
        </p:nvSpPr>
        <p:spPr>
          <a:xfrm>
            <a:off x="722376" y="3991356"/>
            <a:ext cx="310896" cy="256032"/>
          </a:xfrm>
          <a:prstGeom prst="roundRect">
            <a:avLst>
              <a:gd name="adj" fmla="val 17857"/>
            </a:avLst>
          </a:prstGeom>
          <a:solidFill>
            <a:srgbClr val="0A0D14"/>
          </a:solidFill>
          <a:ln w="12700">
            <a:solidFill>
              <a:srgbClr val="22D3EE"/>
            </a:solidFill>
            <a:prstDash val="solid"/>
          </a:ln>
        </p:spPr>
      </p:sp>
      <p:sp>
        <p:nvSpPr>
          <p:cNvPr id="22" name="Text 20"/>
          <p:cNvSpPr txBox="1"/>
          <p:nvPr/>
        </p:nvSpPr>
        <p:spPr>
          <a:xfrm>
            <a:off x="722376" y="3991356"/>
            <a:ext cx="310896" cy="256032"/>
          </a:xfrm>
          <a:prstGeom prst="rect">
            <a:avLst/>
          </a:prstGeom>
          <a:noFill/>
          <a:ln/>
        </p:spPr>
        <p:txBody>
          <a:bodyPr wrap="square" lIns="0" tIns="0" rIns="0" bIns="0" rtlCol="0" anchor="ctr"/>
          <a:lstStyle/>
          <a:p>
            <a:pPr algn="ctr" indent="0" marL="0">
              <a:buNone/>
            </a:pPr>
            <a:r>
              <a:rPr lang="en-US" sz="1050" b="1" dirty="0">
                <a:solidFill>
                  <a:srgbClr val="22D3EE"/>
                </a:solidFill>
                <a:latin typeface="Trenda IG Display" pitchFamily="34" charset="0"/>
                <a:ea typeface="Trenda IG Display" pitchFamily="34" charset="-122"/>
                <a:cs typeface="Trenda IG Display" pitchFamily="34" charset="-120"/>
              </a:rPr>
              <a:t>04</a:t>
            </a:r>
            <a:endParaRPr lang="en-US" sz="1050" dirty="0"/>
          </a:p>
        </p:txBody>
      </p:sp>
      <p:sp>
        <p:nvSpPr>
          <p:cNvPr id="23" name="Text 21"/>
          <p:cNvSpPr txBox="1"/>
          <p:nvPr/>
        </p:nvSpPr>
        <p:spPr>
          <a:xfrm>
            <a:off x="722376" y="4338828"/>
            <a:ext cx="3154680" cy="493776"/>
          </a:xfrm>
          <a:prstGeom prst="rect">
            <a:avLst/>
          </a:prstGeom>
          <a:noFill/>
          <a:ln/>
        </p:spPr>
        <p:txBody>
          <a:bodyPr wrap="square" lIns="0" tIns="0" rIns="0" bIns="0" rtlCol="0" anchor="t"/>
          <a:lstStyle/>
          <a:p>
            <a:pPr indent="0" marL="0">
              <a:lnSpc>
                <a:spcPts val="1600"/>
              </a:lnSpc>
              <a:buNone/>
            </a:pPr>
            <a:r>
              <a:rPr lang="en-US" sz="1250" b="1" dirty="0">
                <a:solidFill>
                  <a:srgbClr val="FFFFFF"/>
                </a:solidFill>
                <a:latin typeface="Trenda IG Text" pitchFamily="34" charset="0"/>
                <a:ea typeface="Trenda IG Text" pitchFamily="34" charset="-122"/>
                <a:cs typeface="Trenda IG Text" pitchFamily="34" charset="-120"/>
              </a:rPr>
              <a:t>Draft, summarise and assist</a:t>
            </a:r>
            <a:endParaRPr lang="en-US" sz="1250" dirty="0"/>
          </a:p>
        </p:txBody>
      </p:sp>
      <p:sp>
        <p:nvSpPr>
          <p:cNvPr id="24" name="Text 22"/>
          <p:cNvSpPr txBox="1"/>
          <p:nvPr/>
        </p:nvSpPr>
        <p:spPr>
          <a:xfrm>
            <a:off x="722376" y="4850892"/>
            <a:ext cx="3154680" cy="566928"/>
          </a:xfrm>
          <a:prstGeom prst="rect">
            <a:avLst/>
          </a:prstGeom>
          <a:noFill/>
          <a:ln/>
        </p:spPr>
        <p:txBody>
          <a:bodyPr wrap="square" lIns="0" tIns="0" rIns="0" bIns="0" rtlCol="0" anchor="t"/>
          <a:lstStyle/>
          <a:p>
            <a:pPr indent="0" marL="0">
              <a:lnSpc>
                <a:spcPts val="1250"/>
              </a:lnSpc>
              <a:buNone/>
            </a:pPr>
            <a:r>
              <a:rPr lang="en-US" sz="900" dirty="0">
                <a:solidFill>
                  <a:srgbClr val="8A94A6"/>
                </a:solidFill>
                <a:latin typeface="Trenda IG Text" pitchFamily="34" charset="0"/>
                <a:ea typeface="Trenda IG Text" pitchFamily="34" charset="-122"/>
                <a:cs typeface="Trenda IG Text" pitchFamily="34" charset="-120"/>
              </a:rPr>
              <a:t>Prompt Templates that summarise the thread, ground the answer in Knowledge and draft the reply for review.</a:t>
            </a:r>
            <a:endParaRPr lang="en-US" sz="900" dirty="0"/>
          </a:p>
        </p:txBody>
      </p:sp>
      <p:sp>
        <p:nvSpPr>
          <p:cNvPr id="25" name="Shape 23"/>
          <p:cNvSpPr/>
          <p:nvPr/>
        </p:nvSpPr>
        <p:spPr>
          <a:xfrm>
            <a:off x="4297680" y="3771900"/>
            <a:ext cx="3593592" cy="1755648"/>
          </a:xfrm>
          <a:prstGeom prst="roundRect">
            <a:avLst>
              <a:gd name="adj" fmla="val 2083"/>
            </a:avLst>
          </a:prstGeom>
          <a:solidFill>
            <a:srgbClr val="151A24"/>
          </a:solidFill>
          <a:ln w="12700">
            <a:solidFill>
              <a:srgbClr val="252D3D"/>
            </a:solidFill>
            <a:prstDash val="solid"/>
          </a:ln>
        </p:spPr>
      </p:sp>
      <p:sp>
        <p:nvSpPr>
          <p:cNvPr id="26" name="Shape 24"/>
          <p:cNvSpPr/>
          <p:nvPr/>
        </p:nvSpPr>
        <p:spPr>
          <a:xfrm>
            <a:off x="4517136" y="3991356"/>
            <a:ext cx="310896" cy="256032"/>
          </a:xfrm>
          <a:prstGeom prst="roundRect">
            <a:avLst>
              <a:gd name="adj" fmla="val 17857"/>
            </a:avLst>
          </a:prstGeom>
          <a:solidFill>
            <a:srgbClr val="0A0D14"/>
          </a:solidFill>
          <a:ln w="12700">
            <a:solidFill>
              <a:srgbClr val="22D3EE"/>
            </a:solidFill>
            <a:prstDash val="solid"/>
          </a:ln>
        </p:spPr>
      </p:sp>
      <p:sp>
        <p:nvSpPr>
          <p:cNvPr id="27" name="Text 25"/>
          <p:cNvSpPr txBox="1"/>
          <p:nvPr/>
        </p:nvSpPr>
        <p:spPr>
          <a:xfrm>
            <a:off x="4517136" y="3991356"/>
            <a:ext cx="310896" cy="256032"/>
          </a:xfrm>
          <a:prstGeom prst="rect">
            <a:avLst/>
          </a:prstGeom>
          <a:noFill/>
          <a:ln/>
        </p:spPr>
        <p:txBody>
          <a:bodyPr wrap="square" lIns="0" tIns="0" rIns="0" bIns="0" rtlCol="0" anchor="ctr"/>
          <a:lstStyle/>
          <a:p>
            <a:pPr algn="ctr" indent="0" marL="0">
              <a:buNone/>
            </a:pPr>
            <a:r>
              <a:rPr lang="en-US" sz="1050" b="1" dirty="0">
                <a:solidFill>
                  <a:srgbClr val="22D3EE"/>
                </a:solidFill>
                <a:latin typeface="Trenda IG Display" pitchFamily="34" charset="0"/>
                <a:ea typeface="Trenda IG Display" pitchFamily="34" charset="-122"/>
                <a:cs typeface="Trenda IG Display" pitchFamily="34" charset="-120"/>
              </a:rPr>
              <a:t>05</a:t>
            </a:r>
            <a:endParaRPr lang="en-US" sz="1050" dirty="0"/>
          </a:p>
        </p:txBody>
      </p:sp>
      <p:sp>
        <p:nvSpPr>
          <p:cNvPr id="28" name="Text 26"/>
          <p:cNvSpPr txBox="1"/>
          <p:nvPr/>
        </p:nvSpPr>
        <p:spPr>
          <a:xfrm>
            <a:off x="4517136" y="4338828"/>
            <a:ext cx="3154680" cy="493776"/>
          </a:xfrm>
          <a:prstGeom prst="rect">
            <a:avLst/>
          </a:prstGeom>
          <a:noFill/>
          <a:ln/>
        </p:spPr>
        <p:txBody>
          <a:bodyPr wrap="square" lIns="0" tIns="0" rIns="0" bIns="0" rtlCol="0" anchor="t"/>
          <a:lstStyle/>
          <a:p>
            <a:pPr indent="0" marL="0">
              <a:lnSpc>
                <a:spcPts val="1600"/>
              </a:lnSpc>
              <a:buNone/>
            </a:pPr>
            <a:r>
              <a:rPr lang="en-US" sz="1250" b="1" dirty="0">
                <a:solidFill>
                  <a:srgbClr val="FFFFFF"/>
                </a:solidFill>
                <a:latin typeface="Trenda IG Text" pitchFamily="34" charset="0"/>
                <a:ea typeface="Trenda IG Text" pitchFamily="34" charset="-122"/>
                <a:cs typeface="Trenda IG Text" pitchFamily="34" charset="-120"/>
              </a:rPr>
              <a:t>Trust, guardrails and phased delivery</a:t>
            </a:r>
            <a:endParaRPr lang="en-US" sz="1250" dirty="0"/>
          </a:p>
        </p:txBody>
      </p:sp>
      <p:sp>
        <p:nvSpPr>
          <p:cNvPr id="29" name="Text 27"/>
          <p:cNvSpPr txBox="1"/>
          <p:nvPr/>
        </p:nvSpPr>
        <p:spPr>
          <a:xfrm>
            <a:off x="4517136" y="4850892"/>
            <a:ext cx="3154680" cy="566928"/>
          </a:xfrm>
          <a:prstGeom prst="rect">
            <a:avLst/>
          </a:prstGeom>
          <a:noFill/>
          <a:ln/>
        </p:spPr>
        <p:txBody>
          <a:bodyPr wrap="square" lIns="0" tIns="0" rIns="0" bIns="0" rtlCol="0" anchor="t"/>
          <a:lstStyle/>
          <a:p>
            <a:pPr indent="0" marL="0">
              <a:lnSpc>
                <a:spcPts val="1250"/>
              </a:lnSpc>
              <a:buNone/>
            </a:pPr>
            <a:r>
              <a:rPr lang="en-US" sz="900" dirty="0">
                <a:solidFill>
                  <a:srgbClr val="8A94A6"/>
                </a:solidFill>
                <a:latin typeface="Trenda IG Text" pitchFamily="34" charset="0"/>
                <a:ea typeface="Trenda IG Text" pitchFamily="34" charset="-122"/>
                <a:cs typeface="Trenda IG Text" pitchFamily="34" charset="-120"/>
              </a:rPr>
              <a:t>PHI handling, the human approval boundary, and a three phase roadmap gated on licensing and readiness.</a:t>
            </a:r>
            <a:endParaRPr lang="en-US" sz="900" dirty="0"/>
          </a:p>
        </p:txBody>
      </p:sp>
      <p:sp>
        <p:nvSpPr>
          <p:cNvPr id="30" name="Shape 28"/>
          <p:cNvSpPr/>
          <p:nvPr/>
        </p:nvSpPr>
        <p:spPr>
          <a:xfrm>
            <a:off x="8092440" y="3771900"/>
            <a:ext cx="3593592" cy="1755648"/>
          </a:xfrm>
          <a:prstGeom prst="roundRect">
            <a:avLst>
              <a:gd name="adj" fmla="val 2083"/>
            </a:avLst>
          </a:prstGeom>
          <a:solidFill>
            <a:srgbClr val="151A24"/>
          </a:solidFill>
          <a:ln w="12700">
            <a:solidFill>
              <a:srgbClr val="252D3D"/>
            </a:solidFill>
            <a:prstDash val="solid"/>
          </a:ln>
        </p:spPr>
      </p:sp>
      <p:sp>
        <p:nvSpPr>
          <p:cNvPr id="31" name="Shape 29"/>
          <p:cNvSpPr/>
          <p:nvPr/>
        </p:nvSpPr>
        <p:spPr>
          <a:xfrm>
            <a:off x="8311896" y="3991356"/>
            <a:ext cx="310896" cy="256032"/>
          </a:xfrm>
          <a:prstGeom prst="roundRect">
            <a:avLst>
              <a:gd name="adj" fmla="val 17857"/>
            </a:avLst>
          </a:prstGeom>
          <a:solidFill>
            <a:srgbClr val="0A0D14"/>
          </a:solidFill>
          <a:ln w="12700">
            <a:solidFill>
              <a:srgbClr val="22D3EE"/>
            </a:solidFill>
            <a:prstDash val="solid"/>
          </a:ln>
        </p:spPr>
      </p:sp>
      <p:sp>
        <p:nvSpPr>
          <p:cNvPr id="32" name="Text 30"/>
          <p:cNvSpPr txBox="1"/>
          <p:nvPr/>
        </p:nvSpPr>
        <p:spPr>
          <a:xfrm>
            <a:off x="8311896" y="3991356"/>
            <a:ext cx="310896" cy="256032"/>
          </a:xfrm>
          <a:prstGeom prst="rect">
            <a:avLst/>
          </a:prstGeom>
          <a:noFill/>
          <a:ln/>
        </p:spPr>
        <p:txBody>
          <a:bodyPr wrap="square" lIns="0" tIns="0" rIns="0" bIns="0" rtlCol="0" anchor="ctr"/>
          <a:lstStyle/>
          <a:p>
            <a:pPr algn="ctr" indent="0" marL="0">
              <a:buNone/>
            </a:pPr>
            <a:r>
              <a:rPr lang="en-US" sz="1050" b="1" dirty="0">
                <a:solidFill>
                  <a:srgbClr val="22D3EE"/>
                </a:solidFill>
                <a:latin typeface="Trenda IG Display" pitchFamily="34" charset="0"/>
                <a:ea typeface="Trenda IG Display" pitchFamily="34" charset="-122"/>
                <a:cs typeface="Trenda IG Display" pitchFamily="34" charset="-120"/>
              </a:rPr>
              <a:t>06</a:t>
            </a:r>
            <a:endParaRPr lang="en-US" sz="1050" dirty="0"/>
          </a:p>
        </p:txBody>
      </p:sp>
      <p:sp>
        <p:nvSpPr>
          <p:cNvPr id="33" name="Text 31"/>
          <p:cNvSpPr txBox="1"/>
          <p:nvPr/>
        </p:nvSpPr>
        <p:spPr>
          <a:xfrm>
            <a:off x="8311896" y="4338828"/>
            <a:ext cx="3154680" cy="493776"/>
          </a:xfrm>
          <a:prstGeom prst="rect">
            <a:avLst/>
          </a:prstGeom>
          <a:noFill/>
          <a:ln/>
        </p:spPr>
        <p:txBody>
          <a:bodyPr wrap="square" lIns="0" tIns="0" rIns="0" bIns="0" rtlCol="0" anchor="t"/>
          <a:lstStyle/>
          <a:p>
            <a:pPr indent="0" marL="0">
              <a:lnSpc>
                <a:spcPts val="1600"/>
              </a:lnSpc>
              <a:buNone/>
            </a:pPr>
            <a:r>
              <a:rPr lang="en-US" sz="1250" b="1" dirty="0">
                <a:solidFill>
                  <a:srgbClr val="FFFFFF"/>
                </a:solidFill>
                <a:latin typeface="Trenda IG Text" pitchFamily="34" charset="0"/>
                <a:ea typeface="Trenda IG Text" pitchFamily="34" charset="-122"/>
                <a:cs typeface="Trenda IG Text" pitchFamily="34" charset="-120"/>
              </a:rPr>
              <a:t>Business value</a:t>
            </a:r>
            <a:endParaRPr lang="en-US" sz="1250" dirty="0"/>
          </a:p>
        </p:txBody>
      </p:sp>
      <p:sp>
        <p:nvSpPr>
          <p:cNvPr id="34" name="Text 32"/>
          <p:cNvSpPr txBox="1"/>
          <p:nvPr/>
        </p:nvSpPr>
        <p:spPr>
          <a:xfrm>
            <a:off x="8311896" y="4850892"/>
            <a:ext cx="3154680" cy="566928"/>
          </a:xfrm>
          <a:prstGeom prst="rect">
            <a:avLst/>
          </a:prstGeom>
          <a:noFill/>
          <a:ln/>
        </p:spPr>
        <p:txBody>
          <a:bodyPr wrap="square" lIns="0" tIns="0" rIns="0" bIns="0" rtlCol="0" anchor="t"/>
          <a:lstStyle/>
          <a:p>
            <a:pPr indent="0" marL="0">
              <a:lnSpc>
                <a:spcPts val="1250"/>
              </a:lnSpc>
              <a:buNone/>
            </a:pPr>
            <a:r>
              <a:rPr lang="en-US" sz="900" dirty="0">
                <a:solidFill>
                  <a:srgbClr val="8A94A6"/>
                </a:solidFill>
                <a:latin typeface="Trenda IG Text" pitchFamily="34" charset="0"/>
                <a:ea typeface="Trenda IG Text" pitchFamily="34" charset="-122"/>
                <a:cs typeface="Trenda IG Text" pitchFamily="34" charset="-120"/>
              </a:rPr>
              <a:t>Modelled handling time reduction, response time impact, and what we need from McKesson to deliver it.</a:t>
            </a:r>
            <a:endParaRPr lang="en-US" sz="900" dirty="0"/>
          </a:p>
        </p:txBody>
      </p:sp>
      <p:pic>
        <p:nvPicPr>
          <p:cNvPr id="35" name="Image 0" descr="assets/ig-mark.png">    </p:cNvPr>
          <p:cNvPicPr>
            <a:picLocks noChangeAspect="1"/>
          </p:cNvPicPr>
          <p:nvPr/>
        </p:nvPicPr>
        <p:blipFill>
          <a:blip r:embed="rId1"/>
          <a:stretch>
            <a:fillRect/>
          </a:stretch>
        </p:blipFill>
        <p:spPr>
          <a:xfrm>
            <a:off x="502920" y="6455664"/>
            <a:ext cx="420624" cy="144475"/>
          </a:xfrm>
          <a:prstGeom prst="rect">
            <a:avLst/>
          </a:prstGeom>
        </p:spPr>
      </p:pic>
      <p:sp>
        <p:nvSpPr>
          <p:cNvPr id="36" name="Text 33"/>
          <p:cNvSpPr txBox="1"/>
          <p:nvPr/>
        </p:nvSpPr>
        <p:spPr>
          <a:xfrm>
            <a:off x="11201400" y="6400800"/>
            <a:ext cx="484632" cy="237744"/>
          </a:xfrm>
          <a:prstGeom prst="rect">
            <a:avLst/>
          </a:prstGeom>
          <a:noFill/>
          <a:ln/>
        </p:spPr>
        <p:txBody>
          <a:bodyPr wrap="square" lIns="0" tIns="0" rIns="0" bIns="0" rtlCol="0" anchor="ctr"/>
          <a:lstStyle/>
          <a:p>
            <a:pPr algn="r" indent="0" marL="0">
              <a:buNone/>
            </a:pPr>
            <a:r>
              <a:rPr lang="en-US" sz="850" dirty="0">
                <a:solidFill>
                  <a:srgbClr val="8A94A6"/>
                </a:solidFill>
                <a:latin typeface="Trenda IG Text" pitchFamily="34" charset="0"/>
                <a:ea typeface="Trenda IG Text" pitchFamily="34" charset="-122"/>
                <a:cs typeface="Trenda IG Text" pitchFamily="34" charset="-120"/>
              </a:rPr>
              <a:t>1</a:t>
            </a:r>
            <a:endParaRPr lang="en-US" sz="85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0A0D14"/>
        </a:solidFill>
      </p:bgPr>
    </p:bg>
    <p:spTree>
      <p:nvGrpSpPr>
        <p:cNvPr id="1" name=""/>
        <p:cNvGrpSpPr/>
        <p:nvPr/>
      </p:nvGrpSpPr>
      <p:grpSpPr>
        <a:xfrm>
          <a:off x="0" y="0"/>
          <a:ext cx="0" cy="0"/>
          <a:chOff x="0" y="0"/>
          <a:chExt cx="0" cy="0"/>
        </a:xfrm>
      </p:grpSpPr>
      <p:sp>
        <p:nvSpPr>
          <p:cNvPr id="2" name="Text 0"/>
          <p:cNvSpPr txBox="1"/>
          <p:nvPr/>
        </p:nvSpPr>
        <p:spPr>
          <a:xfrm>
            <a:off x="502920" y="384048"/>
            <a:ext cx="11183112" cy="219456"/>
          </a:xfrm>
          <a:prstGeom prst="rect">
            <a:avLst/>
          </a:prstGeom>
          <a:noFill/>
          <a:ln/>
        </p:spPr>
        <p:txBody>
          <a:bodyPr wrap="square" lIns="0" tIns="0" rIns="0" bIns="0" rtlCol="0" anchor="ctr"/>
          <a:lstStyle/>
          <a:p>
            <a:pPr indent="0" marL="0">
              <a:buNone/>
            </a:pPr>
            <a:r>
              <a:rPr lang="en-US" sz="1000" b="1" spc="220" kern="0" dirty="0">
                <a:solidFill>
                  <a:srgbClr val="22D3EE"/>
                </a:solidFill>
                <a:latin typeface="Trenda IG Display" pitchFamily="34" charset="0"/>
                <a:ea typeface="Trenda IG Display" pitchFamily="34" charset="-122"/>
                <a:cs typeface="Trenda IG Display" pitchFamily="34" charset="-120"/>
              </a:rPr>
              <a:t>EXECUTIVE SUMMARY</a:t>
            </a:r>
            <a:endParaRPr lang="en-US" sz="1000" dirty="0"/>
          </a:p>
        </p:txBody>
      </p:sp>
      <p:sp>
        <p:nvSpPr>
          <p:cNvPr id="3" name="Text 1"/>
          <p:cNvSpPr txBox="1"/>
          <p:nvPr/>
        </p:nvSpPr>
        <p:spPr>
          <a:xfrm>
            <a:off x="502920" y="658368"/>
            <a:ext cx="11183112" cy="416052"/>
          </a:xfrm>
          <a:prstGeom prst="rect">
            <a:avLst/>
          </a:prstGeom>
          <a:noFill/>
          <a:ln/>
        </p:spPr>
        <p:txBody>
          <a:bodyPr wrap="square" lIns="0" tIns="0" rIns="0" bIns="0" rtlCol="0" anchor="ctr"/>
          <a:lstStyle/>
          <a:p>
            <a:pPr indent="0" marL="0">
              <a:lnSpc>
                <a:spcPts val="3016"/>
              </a:lnSpc>
              <a:buNone/>
            </a:pPr>
            <a:r>
              <a:rPr lang="en-US" sz="2600" b="1" spc="40" kern="0" dirty="0">
                <a:solidFill>
                  <a:srgbClr val="FFFFFF"/>
                </a:solidFill>
                <a:latin typeface="Trenda IG Display" pitchFamily="34" charset="0"/>
                <a:ea typeface="Trenda IG Display" pitchFamily="34" charset="-122"/>
                <a:cs typeface="Trenda IG Display" pitchFamily="34" charset="-120"/>
              </a:rPr>
              <a:t>THE SOLUTION ON ONE PAGE</a:t>
            </a:r>
            <a:endParaRPr lang="en-US" sz="2600" dirty="0"/>
          </a:p>
        </p:txBody>
      </p:sp>
      <p:sp>
        <p:nvSpPr>
          <p:cNvPr id="4" name="Text 2"/>
          <p:cNvSpPr txBox="1"/>
          <p:nvPr/>
        </p:nvSpPr>
        <p:spPr>
          <a:xfrm>
            <a:off x="502920" y="1156716"/>
            <a:ext cx="11183112" cy="384048"/>
          </a:xfrm>
          <a:prstGeom prst="rect">
            <a:avLst/>
          </a:prstGeom>
          <a:noFill/>
          <a:ln/>
        </p:spPr>
        <p:txBody>
          <a:bodyPr wrap="square" lIns="0" tIns="0" rIns="0" bIns="0" rtlCol="0" anchor="t"/>
          <a:lstStyle/>
          <a:p>
            <a:pPr indent="0" marL="0">
              <a:lnSpc>
                <a:spcPts val="1500"/>
              </a:lnSpc>
              <a:buNone/>
            </a:pPr>
            <a:r>
              <a:rPr lang="en-US" sz="1150" dirty="0">
                <a:solidFill>
                  <a:srgbClr val="8A94A6"/>
                </a:solidFill>
                <a:latin typeface="Trenda IG Text" pitchFamily="34" charset="0"/>
                <a:ea typeface="Trenda IG Text" pitchFamily="34" charset="-122"/>
                <a:cs typeface="Trenda IG Text" pitchFamily="34" charset="-120"/>
              </a:rPr>
              <a:t>Extended Care email moves inside a single governed workflow in McKesson Salesforce. Everything in the rest of this deck is detail underneath this picture.</a:t>
            </a:r>
            <a:endParaRPr lang="en-US" sz="1150" dirty="0"/>
          </a:p>
        </p:txBody>
      </p:sp>
      <p:sp>
        <p:nvSpPr>
          <p:cNvPr id="5" name="Text 3"/>
          <p:cNvSpPr txBox="1"/>
          <p:nvPr/>
        </p:nvSpPr>
        <p:spPr>
          <a:xfrm>
            <a:off x="502920" y="1796796"/>
            <a:ext cx="6967728" cy="201168"/>
          </a:xfrm>
          <a:prstGeom prst="rect">
            <a:avLst/>
          </a:prstGeom>
          <a:noFill/>
          <a:ln/>
        </p:spPr>
        <p:txBody>
          <a:bodyPr wrap="square" lIns="0" tIns="0" rIns="0" bIns="0" rtlCol="0" anchor="ctr"/>
          <a:lstStyle/>
          <a:p>
            <a:pPr indent="0" marL="0">
              <a:buNone/>
            </a:pPr>
            <a:r>
              <a:rPr lang="en-US" sz="1000" b="1" spc="140" kern="0" dirty="0">
                <a:solidFill>
                  <a:srgbClr val="FFFFFF"/>
                </a:solidFill>
                <a:latin typeface="Trenda IG Display" pitchFamily="34" charset="0"/>
                <a:ea typeface="Trenda IG Display" pitchFamily="34" charset="-122"/>
                <a:cs typeface="Trenda IG Display" pitchFamily="34" charset="-120"/>
              </a:rPr>
              <a:t>HOW IT WORKS</a:t>
            </a:r>
            <a:endParaRPr lang="en-US" sz="1000" dirty="0"/>
          </a:p>
        </p:txBody>
      </p:sp>
      <p:sp>
        <p:nvSpPr>
          <p:cNvPr id="6" name="Shape 4"/>
          <p:cNvSpPr/>
          <p:nvPr/>
        </p:nvSpPr>
        <p:spPr>
          <a:xfrm>
            <a:off x="502920" y="2071116"/>
            <a:ext cx="6967728" cy="420624"/>
          </a:xfrm>
          <a:prstGeom prst="roundRect">
            <a:avLst>
              <a:gd name="adj" fmla="val 8696"/>
            </a:avLst>
          </a:prstGeom>
          <a:solidFill>
            <a:srgbClr val="1A2130"/>
          </a:solidFill>
          <a:ln w="12700">
            <a:solidFill>
              <a:srgbClr val="252D3D"/>
            </a:solidFill>
            <a:prstDash val="solid"/>
          </a:ln>
        </p:spPr>
      </p:sp>
      <p:sp>
        <p:nvSpPr>
          <p:cNvPr id="7" name="Text 5"/>
          <p:cNvSpPr txBox="1"/>
          <p:nvPr/>
        </p:nvSpPr>
        <p:spPr>
          <a:xfrm>
            <a:off x="704088" y="2071116"/>
            <a:ext cx="6565392" cy="420624"/>
          </a:xfrm>
          <a:prstGeom prst="rect">
            <a:avLst/>
          </a:prstGeom>
          <a:noFill/>
          <a:ln/>
        </p:spPr>
        <p:txBody>
          <a:bodyPr wrap="square" lIns="0" tIns="0" rIns="0" bIns="0" rtlCol="0" anchor="ctr"/>
          <a:lstStyle/>
          <a:p>
            <a:pPr indent="0" marL="0">
              <a:buNone/>
            </a:pPr>
            <a:r>
              <a:rPr lang="en-US" sz="850" b="1" spc="120" kern="0" dirty="0">
                <a:solidFill>
                  <a:srgbClr val="22D3EE"/>
                </a:solidFill>
                <a:latin typeface="Trenda IG Text" pitchFamily="34" charset="0"/>
                <a:ea typeface="Trenda IG Text" pitchFamily="34" charset="-122"/>
                <a:cs typeface="Trenda IG Text" pitchFamily="34" charset="-120"/>
              </a:rPr>
              <a:t>INBOUND   </a:t>
            </a:r>
            <a:pPr indent="0" marL="0">
              <a:buNone/>
            </a:pPr>
            <a:r>
              <a:rPr lang="en-US" sz="900" dirty="0">
                <a:solidFill>
                  <a:srgbClr val="E6EAF2"/>
                </a:solidFill>
                <a:latin typeface="Trenda IG Text" pitchFamily="34" charset="0"/>
                <a:ea typeface="Trenda IG Text" pitchFamily="34" charset="-122"/>
                <a:cs typeface="Trenda IG Text" pitchFamily="34" charset="-120"/>
              </a:rPr>
              <a:t>Customer and vendor email arrives in the Extended Care mailboxes and becomes a Salesforce case</a:t>
            </a:r>
            <a:endParaRPr lang="en-US" sz="850" dirty="0"/>
          </a:p>
        </p:txBody>
      </p:sp>
      <p:sp>
        <p:nvSpPr>
          <p:cNvPr id="8" name="Shape 6"/>
          <p:cNvSpPr/>
          <p:nvPr/>
        </p:nvSpPr>
        <p:spPr>
          <a:xfrm>
            <a:off x="3895344" y="2528316"/>
            <a:ext cx="182880" cy="182880"/>
          </a:xfrm>
          <a:prstGeom prst="downArrow">
            <a:avLst/>
          </a:prstGeom>
          <a:solidFill>
            <a:srgbClr val="3A4459"/>
          </a:solidFill>
          <a:ln w="12700">
            <a:solidFill>
              <a:srgbClr val="3A4459"/>
            </a:solidFill>
            <a:prstDash val="solid"/>
          </a:ln>
        </p:spPr>
      </p:sp>
      <p:sp>
        <p:nvSpPr>
          <p:cNvPr id="9" name="Shape 7"/>
          <p:cNvSpPr/>
          <p:nvPr/>
        </p:nvSpPr>
        <p:spPr>
          <a:xfrm>
            <a:off x="502920" y="2766060"/>
            <a:ext cx="6967728" cy="2139696"/>
          </a:xfrm>
          <a:prstGeom prst="roundRect">
            <a:avLst>
              <a:gd name="adj" fmla="val 1709"/>
            </a:avLst>
          </a:prstGeom>
          <a:solidFill>
            <a:srgbClr val="151A24"/>
          </a:solidFill>
          <a:ln w="12700">
            <a:solidFill>
              <a:srgbClr val="2A5468"/>
            </a:solidFill>
            <a:prstDash val="solid"/>
          </a:ln>
        </p:spPr>
      </p:sp>
      <p:sp>
        <p:nvSpPr>
          <p:cNvPr id="10" name="Text 8"/>
          <p:cNvSpPr txBox="1"/>
          <p:nvPr/>
        </p:nvSpPr>
        <p:spPr>
          <a:xfrm>
            <a:off x="704088" y="2894076"/>
            <a:ext cx="6565392" cy="237744"/>
          </a:xfrm>
          <a:prstGeom prst="rect">
            <a:avLst/>
          </a:prstGeom>
          <a:noFill/>
          <a:ln/>
        </p:spPr>
        <p:txBody>
          <a:bodyPr wrap="square" lIns="0" tIns="0" rIns="0" bIns="0" rtlCol="0" anchor="ctr"/>
          <a:lstStyle/>
          <a:p>
            <a:pPr indent="0" marL="0">
              <a:buNone/>
            </a:pPr>
            <a:r>
              <a:rPr lang="en-US" sz="950" b="1" spc="140" kern="0" dirty="0">
                <a:solidFill>
                  <a:srgbClr val="22D3EE"/>
                </a:solidFill>
                <a:latin typeface="Trenda IG Display" pitchFamily="34" charset="0"/>
                <a:ea typeface="Trenda IG Display" pitchFamily="34" charset="-122"/>
                <a:cs typeface="Trenda IG Display" pitchFamily="34" charset="-120"/>
              </a:rPr>
              <a:t>ONE RECORD TRIGGERED FLOW</a:t>
            </a:r>
            <a:endParaRPr lang="en-US" sz="950" dirty="0"/>
          </a:p>
        </p:txBody>
      </p:sp>
      <p:sp>
        <p:nvSpPr>
          <p:cNvPr id="11" name="Shape 9"/>
          <p:cNvSpPr/>
          <p:nvPr/>
        </p:nvSpPr>
        <p:spPr>
          <a:xfrm>
            <a:off x="704088" y="3186684"/>
            <a:ext cx="2090928" cy="1572768"/>
          </a:xfrm>
          <a:prstGeom prst="roundRect">
            <a:avLst>
              <a:gd name="adj" fmla="val 2326"/>
            </a:avLst>
          </a:prstGeom>
          <a:solidFill>
            <a:srgbClr val="1A2130"/>
          </a:solidFill>
          <a:ln w="12700">
            <a:solidFill>
              <a:srgbClr val="252D3D"/>
            </a:solidFill>
            <a:prstDash val="solid"/>
          </a:ln>
        </p:spPr>
      </p:sp>
      <p:sp>
        <p:nvSpPr>
          <p:cNvPr id="12" name="Text 10"/>
          <p:cNvSpPr txBox="1"/>
          <p:nvPr/>
        </p:nvSpPr>
        <p:spPr>
          <a:xfrm>
            <a:off x="850392" y="3278124"/>
            <a:ext cx="1798320" cy="237744"/>
          </a:xfrm>
          <a:prstGeom prst="rect">
            <a:avLst/>
          </a:prstGeom>
          <a:noFill/>
          <a:ln/>
        </p:spPr>
        <p:txBody>
          <a:bodyPr wrap="square" lIns="0" tIns="0" rIns="0" bIns="0" rtlCol="0" anchor="ctr"/>
          <a:lstStyle/>
          <a:p>
            <a:pPr indent="0" marL="0">
              <a:buNone/>
            </a:pPr>
            <a:r>
              <a:rPr lang="en-US" sz="1200" b="1" dirty="0">
                <a:solidFill>
                  <a:srgbClr val="FFFFFF"/>
                </a:solidFill>
                <a:latin typeface="Trenda IG Display" pitchFamily="34" charset="0"/>
                <a:ea typeface="Trenda IG Display" pitchFamily="34" charset="-122"/>
                <a:cs typeface="Trenda IG Display" pitchFamily="34" charset="-120"/>
              </a:rPr>
              <a:t>Understand</a:t>
            </a:r>
            <a:endParaRPr lang="en-US" sz="1200" dirty="0"/>
          </a:p>
        </p:txBody>
      </p:sp>
      <p:sp>
        <p:nvSpPr>
          <p:cNvPr id="13" name="Text 11"/>
          <p:cNvSpPr txBox="1"/>
          <p:nvPr/>
        </p:nvSpPr>
        <p:spPr>
          <a:xfrm>
            <a:off x="850392" y="3515868"/>
            <a:ext cx="1798320" cy="164592"/>
          </a:xfrm>
          <a:prstGeom prst="rect">
            <a:avLst/>
          </a:prstGeom>
          <a:noFill/>
          <a:ln/>
        </p:spPr>
        <p:txBody>
          <a:bodyPr wrap="square" lIns="0" tIns="0" rIns="0" bIns="0" rtlCol="0" anchor="ctr"/>
          <a:lstStyle/>
          <a:p>
            <a:pPr indent="0" marL="0">
              <a:buNone/>
            </a:pPr>
            <a:r>
              <a:rPr lang="en-US" sz="700" b="1" spc="140" kern="0" dirty="0">
                <a:solidFill>
                  <a:srgbClr val="8A94A6"/>
                </a:solidFill>
                <a:latin typeface="Trenda IG Display" pitchFamily="34" charset="0"/>
                <a:ea typeface="Trenda IG Display" pitchFamily="34" charset="-122"/>
                <a:cs typeface="Trenda IG Display" pitchFamily="34" charset="-120"/>
              </a:rPr>
              <a:t>PROMPT TEMPLATE</a:t>
            </a:r>
            <a:endParaRPr lang="en-US" sz="700" dirty="0"/>
          </a:p>
        </p:txBody>
      </p:sp>
      <p:sp>
        <p:nvSpPr>
          <p:cNvPr id="14" name="Text 12"/>
          <p:cNvSpPr txBox="1"/>
          <p:nvPr/>
        </p:nvSpPr>
        <p:spPr>
          <a:xfrm>
            <a:off x="850392" y="3735324"/>
            <a:ext cx="1798320" cy="932688"/>
          </a:xfrm>
          <a:prstGeom prst="rect">
            <a:avLst/>
          </a:prstGeom>
          <a:noFill/>
          <a:ln/>
        </p:spPr>
        <p:txBody>
          <a:bodyPr wrap="square" lIns="0" tIns="0" rIns="0" bIns="0" rtlCol="0" anchor="t"/>
          <a:lstStyle/>
          <a:p>
            <a:pPr marL="152400" indent="-152400">
              <a:lnSpc>
                <a:spcPts val="1200"/>
              </a:lnSpc>
              <a:spcAft>
                <a:spcPts val="200"/>
              </a:spcAft>
              <a:buSzPct val="100000"/>
              <a:buChar char="•"/>
            </a:pPr>
            <a:r>
              <a:rPr lang="en-US" sz="800" dirty="0">
                <a:solidFill>
                  <a:srgbClr val="E6EAF2"/>
                </a:solidFill>
                <a:latin typeface="Trenda IG Text" pitchFamily="34" charset="0"/>
                <a:ea typeface="Trenda IG Text" pitchFamily="34" charset="-122"/>
                <a:cs typeface="Trenda IG Text" pitchFamily="34" charset="-120"/>
              </a:rPr>
              <a:t>Reads the whole thread</a:t>
            </a:r>
            <a:endParaRPr lang="en-US" sz="800" dirty="0"/>
          </a:p>
          <a:p>
            <a:pPr marL="152400" indent="-152400">
              <a:lnSpc>
                <a:spcPts val="1200"/>
              </a:lnSpc>
              <a:spcAft>
                <a:spcPts val="200"/>
              </a:spcAft>
              <a:buSzPct val="100000"/>
              <a:buChar char="•"/>
            </a:pPr>
            <a:r>
              <a:rPr lang="en-US" sz="800" dirty="0">
                <a:solidFill>
                  <a:srgbClr val="E6EAF2"/>
                </a:solidFill>
                <a:latin typeface="Trenda IG Text" pitchFamily="34" charset="0"/>
                <a:ea typeface="Trenda IG Text" pitchFamily="34" charset="-122"/>
                <a:cs typeface="Trenda IG Text" pitchFamily="34" charset="-120"/>
              </a:rPr>
              <a:t>Category and service family</a:t>
            </a:r>
            <a:endParaRPr lang="en-US" sz="800" dirty="0"/>
          </a:p>
          <a:p>
            <a:pPr marL="152400" indent="-152400">
              <a:lnSpc>
                <a:spcPts val="1200"/>
              </a:lnSpc>
              <a:spcAft>
                <a:spcPts val="200"/>
              </a:spcAft>
              <a:buSzPct val="100000"/>
              <a:buChar char="•"/>
            </a:pPr>
            <a:r>
              <a:rPr lang="en-US" sz="800" dirty="0">
                <a:solidFill>
                  <a:srgbClr val="E6EAF2"/>
                </a:solidFill>
                <a:latin typeface="Trenda IG Text" pitchFamily="34" charset="0"/>
                <a:ea typeface="Trenda IG Text" pitchFamily="34" charset="-122"/>
                <a:cs typeface="Trenda IG Text" pitchFamily="34" charset="-120"/>
              </a:rPr>
              <a:t>Order and invoice entities</a:t>
            </a:r>
            <a:endParaRPr lang="en-US" sz="800" dirty="0"/>
          </a:p>
          <a:p>
            <a:pPr marL="152400" indent="-152400">
              <a:lnSpc>
                <a:spcPts val="1200"/>
              </a:lnSpc>
              <a:spcAft>
                <a:spcPts val="200"/>
              </a:spcAft>
              <a:buSzPct val="100000"/>
              <a:buChar char="•"/>
            </a:pPr>
            <a:r>
              <a:rPr lang="en-US" sz="800" dirty="0">
                <a:solidFill>
                  <a:srgbClr val="E6EAF2"/>
                </a:solidFill>
                <a:latin typeface="Trenda IG Text" pitchFamily="34" charset="0"/>
                <a:ea typeface="Trenda IG Text" pitchFamily="34" charset="-122"/>
                <a:cs typeface="Trenda IG Text" pitchFamily="34" charset="-120"/>
              </a:rPr>
              <a:t>Sentiment, PHI flag, summary</a:t>
            </a:r>
            <a:endParaRPr lang="en-US" sz="800" dirty="0"/>
          </a:p>
        </p:txBody>
      </p:sp>
      <p:sp>
        <p:nvSpPr>
          <p:cNvPr id="15" name="Shape 13"/>
          <p:cNvSpPr/>
          <p:nvPr/>
        </p:nvSpPr>
        <p:spPr>
          <a:xfrm>
            <a:off x="2941320" y="3186684"/>
            <a:ext cx="2090928" cy="1572768"/>
          </a:xfrm>
          <a:prstGeom prst="roundRect">
            <a:avLst>
              <a:gd name="adj" fmla="val 2326"/>
            </a:avLst>
          </a:prstGeom>
          <a:solidFill>
            <a:srgbClr val="1A2130"/>
          </a:solidFill>
          <a:ln w="12700">
            <a:solidFill>
              <a:srgbClr val="252D3D"/>
            </a:solidFill>
            <a:prstDash val="solid"/>
          </a:ln>
        </p:spPr>
      </p:sp>
      <p:sp>
        <p:nvSpPr>
          <p:cNvPr id="16" name="Text 14"/>
          <p:cNvSpPr txBox="1"/>
          <p:nvPr/>
        </p:nvSpPr>
        <p:spPr>
          <a:xfrm>
            <a:off x="3087624" y="3278124"/>
            <a:ext cx="1798320" cy="237744"/>
          </a:xfrm>
          <a:prstGeom prst="rect">
            <a:avLst/>
          </a:prstGeom>
          <a:noFill/>
          <a:ln/>
        </p:spPr>
        <p:txBody>
          <a:bodyPr wrap="square" lIns="0" tIns="0" rIns="0" bIns="0" rtlCol="0" anchor="ctr"/>
          <a:lstStyle/>
          <a:p>
            <a:pPr indent="0" marL="0">
              <a:buNone/>
            </a:pPr>
            <a:r>
              <a:rPr lang="en-US" sz="1200" b="1" dirty="0">
                <a:solidFill>
                  <a:srgbClr val="FFFFFF"/>
                </a:solidFill>
                <a:latin typeface="Trenda IG Display" pitchFamily="34" charset="0"/>
                <a:ea typeface="Trenda IG Display" pitchFamily="34" charset="-122"/>
                <a:cs typeface="Trenda IG Display" pitchFamily="34" charset="-120"/>
              </a:rPr>
              <a:t>Decide</a:t>
            </a:r>
            <a:endParaRPr lang="en-US" sz="1200" dirty="0"/>
          </a:p>
        </p:txBody>
      </p:sp>
      <p:sp>
        <p:nvSpPr>
          <p:cNvPr id="17" name="Text 15"/>
          <p:cNvSpPr txBox="1"/>
          <p:nvPr/>
        </p:nvSpPr>
        <p:spPr>
          <a:xfrm>
            <a:off x="3087624" y="3515868"/>
            <a:ext cx="1798320" cy="164592"/>
          </a:xfrm>
          <a:prstGeom prst="rect">
            <a:avLst/>
          </a:prstGeom>
          <a:noFill/>
          <a:ln/>
        </p:spPr>
        <p:txBody>
          <a:bodyPr wrap="square" lIns="0" tIns="0" rIns="0" bIns="0" rtlCol="0" anchor="ctr"/>
          <a:lstStyle/>
          <a:p>
            <a:pPr indent="0" marL="0">
              <a:buNone/>
            </a:pPr>
            <a:r>
              <a:rPr lang="en-US" sz="700" b="1" spc="140" kern="0" dirty="0">
                <a:solidFill>
                  <a:srgbClr val="8A94A6"/>
                </a:solidFill>
                <a:latin typeface="Trenda IG Display" pitchFamily="34" charset="0"/>
                <a:ea typeface="Trenda IG Display" pitchFamily="34" charset="-122"/>
                <a:cs typeface="Trenda IG Display" pitchFamily="34" charset="-120"/>
              </a:rPr>
              <a:t>DETERMINISTIC RULES</a:t>
            </a:r>
            <a:endParaRPr lang="en-US" sz="700" dirty="0"/>
          </a:p>
        </p:txBody>
      </p:sp>
      <p:sp>
        <p:nvSpPr>
          <p:cNvPr id="18" name="Text 16"/>
          <p:cNvSpPr txBox="1"/>
          <p:nvPr/>
        </p:nvSpPr>
        <p:spPr>
          <a:xfrm>
            <a:off x="3087624" y="3735324"/>
            <a:ext cx="1798320" cy="932688"/>
          </a:xfrm>
          <a:prstGeom prst="rect">
            <a:avLst/>
          </a:prstGeom>
          <a:noFill/>
          <a:ln/>
        </p:spPr>
        <p:txBody>
          <a:bodyPr wrap="square" lIns="0" tIns="0" rIns="0" bIns="0" rtlCol="0" anchor="t"/>
          <a:lstStyle/>
          <a:p>
            <a:pPr marL="152400" indent="-152400">
              <a:lnSpc>
                <a:spcPts val="1200"/>
              </a:lnSpc>
              <a:spcAft>
                <a:spcPts val="200"/>
              </a:spcAft>
              <a:buSzPct val="100000"/>
              <a:buChar char="•"/>
            </a:pPr>
            <a:r>
              <a:rPr lang="en-US" sz="800" dirty="0">
                <a:solidFill>
                  <a:srgbClr val="E6EAF2"/>
                </a:solidFill>
                <a:latin typeface="Trenda IG Text" pitchFamily="34" charset="0"/>
                <a:ea typeface="Trenda IG Text" pitchFamily="34" charset="-122"/>
                <a:cs typeface="Trenda IG Text" pitchFamily="34" charset="-120"/>
              </a:rPr>
              <a:t>Priority from impact and risk</a:t>
            </a:r>
            <a:endParaRPr lang="en-US" sz="800" dirty="0"/>
          </a:p>
          <a:p>
            <a:pPr marL="152400" indent="-152400">
              <a:lnSpc>
                <a:spcPts val="1200"/>
              </a:lnSpc>
              <a:spcAft>
                <a:spcPts val="200"/>
              </a:spcAft>
              <a:buSzPct val="100000"/>
              <a:buChar char="•"/>
            </a:pPr>
            <a:r>
              <a:rPr lang="en-US" sz="800" dirty="0">
                <a:solidFill>
                  <a:srgbClr val="E6EAF2"/>
                </a:solidFill>
                <a:latin typeface="Trenda IG Text" pitchFamily="34" charset="0"/>
                <a:ea typeface="Trenda IG Text" pitchFamily="34" charset="-122"/>
                <a:cs typeface="Trenda IG Text" pitchFamily="34" charset="-120"/>
              </a:rPr>
              <a:t>Queue and required skill</a:t>
            </a:r>
            <a:endParaRPr lang="en-US" sz="800" dirty="0"/>
          </a:p>
          <a:p>
            <a:pPr marL="152400" indent="-152400">
              <a:lnSpc>
                <a:spcPts val="1200"/>
              </a:lnSpc>
              <a:spcAft>
                <a:spcPts val="200"/>
              </a:spcAft>
              <a:buSzPct val="100000"/>
              <a:buChar char="•"/>
            </a:pPr>
            <a:r>
              <a:rPr lang="en-US" sz="800" dirty="0">
                <a:solidFill>
                  <a:srgbClr val="E6EAF2"/>
                </a:solidFill>
                <a:latin typeface="Trenda IG Text" pitchFamily="34" charset="0"/>
                <a:ea typeface="Trenda IG Text" pitchFamily="34" charset="-122"/>
                <a:cs typeface="Trenda IG Text" pitchFamily="34" charset="-120"/>
              </a:rPr>
              <a:t>Which SLA clock applies</a:t>
            </a:r>
            <a:endParaRPr lang="en-US" sz="800" dirty="0"/>
          </a:p>
          <a:p>
            <a:pPr marL="152400" indent="-152400">
              <a:lnSpc>
                <a:spcPts val="1200"/>
              </a:lnSpc>
              <a:spcAft>
                <a:spcPts val="200"/>
              </a:spcAft>
              <a:buSzPct val="100000"/>
              <a:buChar char="•"/>
            </a:pPr>
            <a:r>
              <a:rPr lang="en-US" sz="800" dirty="0">
                <a:solidFill>
                  <a:srgbClr val="E6EAF2"/>
                </a:solidFill>
                <a:latin typeface="Trenda IG Text" pitchFamily="34" charset="0"/>
                <a:ea typeface="Trenda IG Text" pitchFamily="34" charset="-122"/>
                <a:cs typeface="Trenda IG Text" pitchFamily="34" charset="-120"/>
              </a:rPr>
              <a:t>When to escalate, and to whom</a:t>
            </a:r>
            <a:endParaRPr lang="en-US" sz="800" dirty="0"/>
          </a:p>
        </p:txBody>
      </p:sp>
      <p:sp>
        <p:nvSpPr>
          <p:cNvPr id="19" name="Shape 17"/>
          <p:cNvSpPr/>
          <p:nvPr/>
        </p:nvSpPr>
        <p:spPr>
          <a:xfrm>
            <a:off x="5178552" y="3186684"/>
            <a:ext cx="2090928" cy="1572768"/>
          </a:xfrm>
          <a:prstGeom prst="roundRect">
            <a:avLst>
              <a:gd name="adj" fmla="val 2326"/>
            </a:avLst>
          </a:prstGeom>
          <a:solidFill>
            <a:srgbClr val="1A2130"/>
          </a:solidFill>
          <a:ln w="12700">
            <a:solidFill>
              <a:srgbClr val="252D3D"/>
            </a:solidFill>
            <a:prstDash val="solid"/>
          </a:ln>
        </p:spPr>
      </p:sp>
      <p:sp>
        <p:nvSpPr>
          <p:cNvPr id="20" name="Text 18"/>
          <p:cNvSpPr txBox="1"/>
          <p:nvPr/>
        </p:nvSpPr>
        <p:spPr>
          <a:xfrm>
            <a:off x="5324856" y="3278124"/>
            <a:ext cx="1798320" cy="237744"/>
          </a:xfrm>
          <a:prstGeom prst="rect">
            <a:avLst/>
          </a:prstGeom>
          <a:noFill/>
          <a:ln/>
        </p:spPr>
        <p:txBody>
          <a:bodyPr wrap="square" lIns="0" tIns="0" rIns="0" bIns="0" rtlCol="0" anchor="ctr"/>
          <a:lstStyle/>
          <a:p>
            <a:pPr indent="0" marL="0">
              <a:buNone/>
            </a:pPr>
            <a:r>
              <a:rPr lang="en-US" sz="1200" b="1" dirty="0">
                <a:solidFill>
                  <a:srgbClr val="FFFFFF"/>
                </a:solidFill>
                <a:latin typeface="Trenda IG Display" pitchFamily="34" charset="0"/>
                <a:ea typeface="Trenda IG Display" pitchFamily="34" charset="-122"/>
                <a:cs typeface="Trenda IG Display" pitchFamily="34" charset="-120"/>
              </a:rPr>
              <a:t>Assist</a:t>
            </a:r>
            <a:endParaRPr lang="en-US" sz="1200" dirty="0"/>
          </a:p>
        </p:txBody>
      </p:sp>
      <p:sp>
        <p:nvSpPr>
          <p:cNvPr id="21" name="Text 19"/>
          <p:cNvSpPr txBox="1"/>
          <p:nvPr/>
        </p:nvSpPr>
        <p:spPr>
          <a:xfrm>
            <a:off x="5324856" y="3515868"/>
            <a:ext cx="1798320" cy="164592"/>
          </a:xfrm>
          <a:prstGeom prst="rect">
            <a:avLst/>
          </a:prstGeom>
          <a:noFill/>
          <a:ln/>
        </p:spPr>
        <p:txBody>
          <a:bodyPr wrap="square" lIns="0" tIns="0" rIns="0" bIns="0" rtlCol="0" anchor="ctr"/>
          <a:lstStyle/>
          <a:p>
            <a:pPr indent="0" marL="0">
              <a:buNone/>
            </a:pPr>
            <a:r>
              <a:rPr lang="en-US" sz="700" b="1" spc="140" kern="0" dirty="0">
                <a:solidFill>
                  <a:srgbClr val="8A94A6"/>
                </a:solidFill>
                <a:latin typeface="Trenda IG Display" pitchFamily="34" charset="0"/>
                <a:ea typeface="Trenda IG Display" pitchFamily="34" charset="-122"/>
                <a:cs typeface="Trenda IG Display" pitchFamily="34" charset="-120"/>
              </a:rPr>
              <a:t>PROMPT TEMPLATE</a:t>
            </a:r>
            <a:endParaRPr lang="en-US" sz="700" dirty="0"/>
          </a:p>
        </p:txBody>
      </p:sp>
      <p:sp>
        <p:nvSpPr>
          <p:cNvPr id="22" name="Text 20"/>
          <p:cNvSpPr txBox="1"/>
          <p:nvPr/>
        </p:nvSpPr>
        <p:spPr>
          <a:xfrm>
            <a:off x="5324856" y="3735324"/>
            <a:ext cx="1798320" cy="932688"/>
          </a:xfrm>
          <a:prstGeom prst="rect">
            <a:avLst/>
          </a:prstGeom>
          <a:noFill/>
          <a:ln/>
        </p:spPr>
        <p:txBody>
          <a:bodyPr wrap="square" lIns="0" tIns="0" rIns="0" bIns="0" rtlCol="0" anchor="t"/>
          <a:lstStyle/>
          <a:p>
            <a:pPr marL="152400" indent="-152400">
              <a:lnSpc>
                <a:spcPts val="1200"/>
              </a:lnSpc>
              <a:spcAft>
                <a:spcPts val="200"/>
              </a:spcAft>
              <a:buSzPct val="100000"/>
              <a:buChar char="•"/>
            </a:pPr>
            <a:r>
              <a:rPr lang="en-US" sz="800" dirty="0">
                <a:solidFill>
                  <a:srgbClr val="E6EAF2"/>
                </a:solidFill>
                <a:latin typeface="Trenda IG Text" pitchFamily="34" charset="0"/>
                <a:ea typeface="Trenda IG Text" pitchFamily="34" charset="-122"/>
                <a:cs typeface="Trenda IG Text" pitchFamily="34" charset="-120"/>
              </a:rPr>
              <a:t>Drafts the reply to send</a:t>
            </a:r>
            <a:endParaRPr lang="en-US" sz="800" dirty="0"/>
          </a:p>
          <a:p>
            <a:pPr marL="152400" indent="-152400">
              <a:lnSpc>
                <a:spcPts val="1200"/>
              </a:lnSpc>
              <a:spcAft>
                <a:spcPts val="200"/>
              </a:spcAft>
              <a:buSzPct val="100000"/>
              <a:buChar char="•"/>
            </a:pPr>
            <a:r>
              <a:rPr lang="en-US" sz="800" dirty="0">
                <a:solidFill>
                  <a:srgbClr val="E6EAF2"/>
                </a:solidFill>
                <a:latin typeface="Trenda IG Text" pitchFamily="34" charset="0"/>
                <a:ea typeface="Trenda IG Text" pitchFamily="34" charset="-122"/>
                <a:cs typeface="Trenda IG Text" pitchFamily="34" charset="-120"/>
              </a:rPr>
              <a:t>Grounded in Knowledge</a:t>
            </a:r>
            <a:endParaRPr lang="en-US" sz="800" dirty="0"/>
          </a:p>
          <a:p>
            <a:pPr marL="152400" indent="-152400">
              <a:lnSpc>
                <a:spcPts val="1200"/>
              </a:lnSpc>
              <a:spcAft>
                <a:spcPts val="200"/>
              </a:spcAft>
              <a:buSzPct val="100000"/>
              <a:buChar char="•"/>
            </a:pPr>
            <a:r>
              <a:rPr lang="en-US" sz="800" dirty="0">
                <a:solidFill>
                  <a:srgbClr val="E6EAF2"/>
                </a:solidFill>
                <a:latin typeface="Trenda IG Text" pitchFamily="34" charset="0"/>
                <a:ea typeface="Trenda IG Text" pitchFamily="34" charset="-122"/>
                <a:cs typeface="Trenda IG Text" pitchFamily="34" charset="-120"/>
              </a:rPr>
              <a:t>Pulls order and account data</a:t>
            </a:r>
            <a:endParaRPr lang="en-US" sz="800" dirty="0"/>
          </a:p>
          <a:p>
            <a:pPr marL="152400" indent="-152400">
              <a:lnSpc>
                <a:spcPts val="1200"/>
              </a:lnSpc>
              <a:spcAft>
                <a:spcPts val="200"/>
              </a:spcAft>
              <a:buSzPct val="100000"/>
              <a:buChar char="•"/>
            </a:pPr>
            <a:r>
              <a:rPr lang="en-US" sz="800" dirty="0">
                <a:solidFill>
                  <a:srgbClr val="E6EAF2"/>
                </a:solidFill>
                <a:latin typeface="Trenda IG Text" pitchFamily="34" charset="0"/>
                <a:ea typeface="Trenda IG Text" pitchFamily="34" charset="-122"/>
                <a:cs typeface="Trenda IG Text" pitchFamily="34" charset="-120"/>
              </a:rPr>
              <a:t>Writes the case summary</a:t>
            </a:r>
            <a:endParaRPr lang="en-US" sz="800" dirty="0"/>
          </a:p>
        </p:txBody>
      </p:sp>
      <p:sp>
        <p:nvSpPr>
          <p:cNvPr id="23" name="Shape 21"/>
          <p:cNvSpPr/>
          <p:nvPr/>
        </p:nvSpPr>
        <p:spPr>
          <a:xfrm>
            <a:off x="3895344" y="4951476"/>
            <a:ext cx="182880" cy="182880"/>
          </a:xfrm>
          <a:prstGeom prst="downArrow">
            <a:avLst/>
          </a:prstGeom>
          <a:solidFill>
            <a:srgbClr val="3A4459"/>
          </a:solidFill>
          <a:ln w="12700">
            <a:solidFill>
              <a:srgbClr val="3A4459"/>
            </a:solidFill>
            <a:prstDash val="solid"/>
          </a:ln>
        </p:spPr>
      </p:sp>
      <p:sp>
        <p:nvSpPr>
          <p:cNvPr id="24" name="Shape 22"/>
          <p:cNvSpPr/>
          <p:nvPr/>
        </p:nvSpPr>
        <p:spPr>
          <a:xfrm>
            <a:off x="502920" y="5180076"/>
            <a:ext cx="6967728" cy="475488"/>
          </a:xfrm>
          <a:prstGeom prst="roundRect">
            <a:avLst>
              <a:gd name="adj" fmla="val 7692"/>
            </a:avLst>
          </a:prstGeom>
          <a:solidFill>
            <a:srgbClr val="1A2130"/>
          </a:solidFill>
          <a:ln w="12700">
            <a:solidFill>
              <a:srgbClr val="252D3D"/>
            </a:solidFill>
            <a:prstDash val="solid"/>
          </a:ln>
        </p:spPr>
      </p:sp>
      <p:sp>
        <p:nvSpPr>
          <p:cNvPr id="25" name="Text 23"/>
          <p:cNvSpPr txBox="1"/>
          <p:nvPr/>
        </p:nvSpPr>
        <p:spPr>
          <a:xfrm>
            <a:off x="704088" y="5180076"/>
            <a:ext cx="6565392" cy="475488"/>
          </a:xfrm>
          <a:prstGeom prst="rect">
            <a:avLst/>
          </a:prstGeom>
          <a:noFill/>
          <a:ln/>
        </p:spPr>
        <p:txBody>
          <a:bodyPr wrap="square" lIns="0" tIns="0" rIns="0" bIns="0" rtlCol="0" anchor="ctr"/>
          <a:lstStyle/>
          <a:p>
            <a:pPr indent="0" marL="0">
              <a:lnSpc>
                <a:spcPts val="1200"/>
              </a:lnSpc>
              <a:buNone/>
            </a:pPr>
            <a:r>
              <a:rPr lang="en-US" sz="850" b="1" spc="120" kern="0" dirty="0">
                <a:solidFill>
                  <a:srgbClr val="22D3EE"/>
                </a:solidFill>
                <a:latin typeface="Trenda IG Text" pitchFamily="34" charset="0"/>
                <a:ea typeface="Trenda IG Text" pitchFamily="34" charset="-122"/>
                <a:cs typeface="Trenda IG Text" pitchFamily="34" charset="-120"/>
              </a:rPr>
              <a:t>OUTBOUND   </a:t>
            </a:r>
            <a:pPr indent="0" marL="0">
              <a:lnSpc>
                <a:spcPts val="1200"/>
              </a:lnSpc>
              <a:buNone/>
            </a:pPr>
            <a:r>
              <a:rPr lang="en-US" sz="900" dirty="0">
                <a:solidFill>
                  <a:srgbClr val="E6EAF2"/>
                </a:solidFill>
                <a:latin typeface="Trenda IG Text" pitchFamily="34" charset="0"/>
                <a:ea typeface="Trenda IG Text" pitchFamily="34" charset="-122"/>
                <a:cs typeface="Trenda IG Text" pitchFamily="34" charset="-120"/>
              </a:rPr>
              <a:t>The agent reviews the draft, corrects it and sends. Anything involving money, PHI or a judgement call always stops with a person.</a:t>
            </a:r>
            <a:endParaRPr lang="en-US" sz="850" dirty="0"/>
          </a:p>
        </p:txBody>
      </p:sp>
      <p:sp>
        <p:nvSpPr>
          <p:cNvPr id="26" name="Shape 24"/>
          <p:cNvSpPr/>
          <p:nvPr/>
        </p:nvSpPr>
        <p:spPr>
          <a:xfrm>
            <a:off x="502920" y="5801868"/>
            <a:ext cx="6967728" cy="512064"/>
          </a:xfrm>
          <a:prstGeom prst="roundRect">
            <a:avLst>
              <a:gd name="adj" fmla="val 7143"/>
            </a:avLst>
          </a:prstGeom>
          <a:solidFill>
            <a:srgbClr val="121A2A"/>
          </a:solidFill>
          <a:ln w="12700">
            <a:solidFill>
              <a:srgbClr val="252D3D"/>
            </a:solidFill>
            <a:prstDash val="solid"/>
          </a:ln>
        </p:spPr>
      </p:sp>
      <p:sp>
        <p:nvSpPr>
          <p:cNvPr id="27" name="Text 25"/>
          <p:cNvSpPr txBox="1"/>
          <p:nvPr/>
        </p:nvSpPr>
        <p:spPr>
          <a:xfrm>
            <a:off x="704088" y="5801868"/>
            <a:ext cx="6565392" cy="512064"/>
          </a:xfrm>
          <a:prstGeom prst="rect">
            <a:avLst/>
          </a:prstGeom>
          <a:noFill/>
          <a:ln/>
        </p:spPr>
        <p:txBody>
          <a:bodyPr wrap="square" lIns="0" tIns="0" rIns="0" bIns="0" rtlCol="0" anchor="ctr"/>
          <a:lstStyle/>
          <a:p>
            <a:pPr indent="0" marL="0">
              <a:lnSpc>
                <a:spcPts val="1150"/>
              </a:lnSpc>
              <a:buNone/>
            </a:pPr>
            <a:r>
              <a:rPr lang="en-US" sz="800" b="1" spc="120" kern="0" dirty="0">
                <a:solidFill>
                  <a:srgbClr val="8A94A6"/>
                </a:solidFill>
                <a:latin typeface="Trenda IG Text" pitchFamily="34" charset="0"/>
                <a:ea typeface="Trenda IG Text" pitchFamily="34" charset="-122"/>
                <a:cs typeface="Trenda IG Text" pitchFamily="34" charset="-120"/>
              </a:rPr>
              <a:t>RUNNING UNDERNEATH   </a:t>
            </a:r>
            <a:pPr indent="0" marL="0">
              <a:lnSpc>
                <a:spcPts val="1150"/>
              </a:lnSpc>
              <a:buNone/>
            </a:pPr>
            <a:r>
              <a:rPr lang="en-US" sz="850" dirty="0">
                <a:solidFill>
                  <a:srgbClr val="E6EAF2"/>
                </a:solidFill>
                <a:latin typeface="Trenda IG Text" pitchFamily="34" charset="0"/>
                <a:ea typeface="Trenda IG Text" pitchFamily="34" charset="-122"/>
                <a:cs typeface="Trenda IG Text" pitchFamily="34" charset="-120"/>
              </a:rPr>
              <a:t>Omni Channel routing  ·  Entitlements and Milestones for SLA  ·  Salesforce Knowledge  ·  Einstein Trust Layer for PHI masking, zero retention and full audit</a:t>
            </a:r>
            <a:endParaRPr lang="en-US" sz="800" dirty="0"/>
          </a:p>
        </p:txBody>
      </p:sp>
      <p:sp>
        <p:nvSpPr>
          <p:cNvPr id="28" name="Text 26"/>
          <p:cNvSpPr txBox="1"/>
          <p:nvPr/>
        </p:nvSpPr>
        <p:spPr>
          <a:xfrm>
            <a:off x="7690104" y="1796796"/>
            <a:ext cx="3995928" cy="201168"/>
          </a:xfrm>
          <a:prstGeom prst="rect">
            <a:avLst/>
          </a:prstGeom>
          <a:noFill/>
          <a:ln/>
        </p:spPr>
        <p:txBody>
          <a:bodyPr wrap="square" lIns="0" tIns="0" rIns="0" bIns="0" rtlCol="0" anchor="ctr"/>
          <a:lstStyle/>
          <a:p>
            <a:pPr indent="0" marL="0">
              <a:buNone/>
            </a:pPr>
            <a:r>
              <a:rPr lang="en-US" sz="1000" b="1" spc="140" kern="0" dirty="0">
                <a:solidFill>
                  <a:srgbClr val="FFFFFF"/>
                </a:solidFill>
                <a:latin typeface="Trenda IG Display" pitchFamily="34" charset="0"/>
                <a:ea typeface="Trenda IG Display" pitchFamily="34" charset="-122"/>
                <a:cs typeface="Trenda IG Display" pitchFamily="34" charset="-120"/>
              </a:rPr>
              <a:t>WHAT IT IS WORTH</a:t>
            </a:r>
            <a:endParaRPr lang="en-US" sz="1000" dirty="0"/>
          </a:p>
        </p:txBody>
      </p:sp>
      <p:sp>
        <p:nvSpPr>
          <p:cNvPr id="29" name="Shape 27"/>
          <p:cNvSpPr/>
          <p:nvPr/>
        </p:nvSpPr>
        <p:spPr>
          <a:xfrm>
            <a:off x="7690104" y="2071116"/>
            <a:ext cx="3995928" cy="1572768"/>
          </a:xfrm>
          <a:prstGeom prst="roundRect">
            <a:avLst>
              <a:gd name="adj" fmla="val 2326"/>
            </a:avLst>
          </a:prstGeom>
          <a:solidFill>
            <a:srgbClr val="151A24"/>
          </a:solidFill>
          <a:ln w="12700">
            <a:solidFill>
              <a:srgbClr val="2A5468"/>
            </a:solidFill>
            <a:prstDash val="solid"/>
          </a:ln>
        </p:spPr>
      </p:sp>
      <p:sp>
        <p:nvSpPr>
          <p:cNvPr id="30" name="Text 28"/>
          <p:cNvSpPr txBox="1"/>
          <p:nvPr/>
        </p:nvSpPr>
        <p:spPr>
          <a:xfrm>
            <a:off x="7891272" y="2199132"/>
            <a:ext cx="1097280" cy="310896"/>
          </a:xfrm>
          <a:prstGeom prst="rect">
            <a:avLst/>
          </a:prstGeom>
          <a:noFill/>
          <a:ln/>
        </p:spPr>
        <p:txBody>
          <a:bodyPr wrap="square" lIns="0" tIns="0" rIns="0" bIns="0" rtlCol="0" anchor="ctr"/>
          <a:lstStyle/>
          <a:p>
            <a:pPr indent="0" marL="0">
              <a:buNone/>
            </a:pPr>
            <a:r>
              <a:rPr lang="en-US" sz="1400" b="1" dirty="0">
                <a:solidFill>
                  <a:srgbClr val="22D3EE"/>
                </a:solidFill>
                <a:latin typeface="Trenda IG Display" pitchFamily="34" charset="0"/>
                <a:ea typeface="Trenda IG Display" pitchFamily="34" charset="-122"/>
                <a:cs typeface="Trenda IG Display" pitchFamily="34" charset="-120"/>
              </a:rPr>
              <a:t>~24%</a:t>
            </a:r>
            <a:endParaRPr lang="en-US" sz="1400" dirty="0"/>
          </a:p>
        </p:txBody>
      </p:sp>
      <p:sp>
        <p:nvSpPr>
          <p:cNvPr id="31" name="Text 29"/>
          <p:cNvSpPr txBox="1"/>
          <p:nvPr/>
        </p:nvSpPr>
        <p:spPr>
          <a:xfrm>
            <a:off x="9025128" y="2199132"/>
            <a:ext cx="2459736" cy="329184"/>
          </a:xfrm>
          <a:prstGeom prst="rect">
            <a:avLst/>
          </a:prstGeom>
          <a:noFill/>
          <a:ln/>
        </p:spPr>
        <p:txBody>
          <a:bodyPr wrap="square" lIns="0" tIns="0" rIns="0" bIns="0" rtlCol="0" anchor="ctr"/>
          <a:lstStyle/>
          <a:p>
            <a:pPr indent="0" marL="0">
              <a:lnSpc>
                <a:spcPts val="1050"/>
              </a:lnSpc>
              <a:buNone/>
            </a:pPr>
            <a:r>
              <a:rPr lang="en-US" sz="800" dirty="0">
                <a:solidFill>
                  <a:srgbClr val="8A94A6"/>
                </a:solidFill>
                <a:latin typeface="Trenda IG Text" pitchFamily="34" charset="0"/>
                <a:ea typeface="Trenda IG Text" pitchFamily="34" charset="-122"/>
                <a:cs typeface="Trenda IG Text" pitchFamily="34" charset="-120"/>
              </a:rPr>
              <a:t>Modelled reduction in average handling time</a:t>
            </a:r>
            <a:endParaRPr lang="en-US" sz="800" dirty="0"/>
          </a:p>
        </p:txBody>
      </p:sp>
      <p:sp>
        <p:nvSpPr>
          <p:cNvPr id="32" name="Text 30"/>
          <p:cNvSpPr txBox="1"/>
          <p:nvPr/>
        </p:nvSpPr>
        <p:spPr>
          <a:xfrm>
            <a:off x="7891272" y="2546604"/>
            <a:ext cx="1097280" cy="310896"/>
          </a:xfrm>
          <a:prstGeom prst="rect">
            <a:avLst/>
          </a:prstGeom>
          <a:noFill/>
          <a:ln/>
        </p:spPr>
        <p:txBody>
          <a:bodyPr wrap="square" lIns="0" tIns="0" rIns="0" bIns="0" rtlCol="0" anchor="ctr"/>
          <a:lstStyle/>
          <a:p>
            <a:pPr indent="0" marL="0">
              <a:buNone/>
            </a:pPr>
            <a:r>
              <a:rPr lang="en-US" sz="1400" b="1" dirty="0">
                <a:solidFill>
                  <a:srgbClr val="22D3EE"/>
                </a:solidFill>
                <a:latin typeface="Trenda IG Display" pitchFamily="34" charset="0"/>
                <a:ea typeface="Trenda IG Display" pitchFamily="34" charset="-122"/>
                <a:cs typeface="Trenda IG Display" pitchFamily="34" charset="-120"/>
              </a:rPr>
              <a:t>Under 60s</a:t>
            </a:r>
            <a:endParaRPr lang="en-US" sz="1400" dirty="0"/>
          </a:p>
        </p:txBody>
      </p:sp>
      <p:sp>
        <p:nvSpPr>
          <p:cNvPr id="33" name="Text 31"/>
          <p:cNvSpPr txBox="1"/>
          <p:nvPr/>
        </p:nvSpPr>
        <p:spPr>
          <a:xfrm>
            <a:off x="9025128" y="2546604"/>
            <a:ext cx="2459736" cy="329184"/>
          </a:xfrm>
          <a:prstGeom prst="rect">
            <a:avLst/>
          </a:prstGeom>
          <a:noFill/>
          <a:ln/>
        </p:spPr>
        <p:txBody>
          <a:bodyPr wrap="square" lIns="0" tIns="0" rIns="0" bIns="0" rtlCol="0" anchor="ctr"/>
          <a:lstStyle/>
          <a:p>
            <a:pPr indent="0" marL="0">
              <a:lnSpc>
                <a:spcPts val="1050"/>
              </a:lnSpc>
              <a:buNone/>
            </a:pPr>
            <a:r>
              <a:rPr lang="en-US" sz="800" dirty="0">
                <a:solidFill>
                  <a:srgbClr val="8A94A6"/>
                </a:solidFill>
                <a:latin typeface="Trenda IG Text" pitchFamily="34" charset="0"/>
                <a:ea typeface="Trenda IG Text" pitchFamily="34" charset="-122"/>
                <a:cs typeface="Trenda IG Text" pitchFamily="34" charset="-120"/>
              </a:rPr>
              <a:t>From arrival to a classified, routed, SLA timed case</a:t>
            </a:r>
            <a:endParaRPr lang="en-US" sz="800" dirty="0"/>
          </a:p>
        </p:txBody>
      </p:sp>
      <p:sp>
        <p:nvSpPr>
          <p:cNvPr id="34" name="Text 32"/>
          <p:cNvSpPr txBox="1"/>
          <p:nvPr/>
        </p:nvSpPr>
        <p:spPr>
          <a:xfrm>
            <a:off x="7891272" y="2894076"/>
            <a:ext cx="1097280" cy="310896"/>
          </a:xfrm>
          <a:prstGeom prst="rect">
            <a:avLst/>
          </a:prstGeom>
          <a:noFill/>
          <a:ln/>
        </p:spPr>
        <p:txBody>
          <a:bodyPr wrap="square" lIns="0" tIns="0" rIns="0" bIns="0" rtlCol="0" anchor="ctr"/>
          <a:lstStyle/>
          <a:p>
            <a:pPr indent="0" marL="0">
              <a:buNone/>
            </a:pPr>
            <a:r>
              <a:rPr lang="en-US" sz="1400" b="1" dirty="0">
                <a:solidFill>
                  <a:srgbClr val="22D3EE"/>
                </a:solidFill>
                <a:latin typeface="Trenda IG Display" pitchFamily="34" charset="0"/>
                <a:ea typeface="Trenda IG Display" pitchFamily="34" charset="-122"/>
                <a:cs typeface="Trenda IG Display" pitchFamily="34" charset="-120"/>
              </a:rPr>
              <a:t>100%</a:t>
            </a:r>
            <a:endParaRPr lang="en-US" sz="1400" dirty="0"/>
          </a:p>
        </p:txBody>
      </p:sp>
      <p:sp>
        <p:nvSpPr>
          <p:cNvPr id="35" name="Text 33"/>
          <p:cNvSpPr txBox="1"/>
          <p:nvPr/>
        </p:nvSpPr>
        <p:spPr>
          <a:xfrm>
            <a:off x="9025128" y="2894076"/>
            <a:ext cx="2459736" cy="329184"/>
          </a:xfrm>
          <a:prstGeom prst="rect">
            <a:avLst/>
          </a:prstGeom>
          <a:noFill/>
          <a:ln/>
        </p:spPr>
        <p:txBody>
          <a:bodyPr wrap="square" lIns="0" tIns="0" rIns="0" bIns="0" rtlCol="0" anchor="ctr"/>
          <a:lstStyle/>
          <a:p>
            <a:pPr indent="0" marL="0">
              <a:lnSpc>
                <a:spcPts val="1050"/>
              </a:lnSpc>
              <a:buNone/>
            </a:pPr>
            <a:r>
              <a:rPr lang="en-US" sz="800" dirty="0">
                <a:solidFill>
                  <a:srgbClr val="8A94A6"/>
                </a:solidFill>
                <a:latin typeface="Trenda IG Text" pitchFamily="34" charset="0"/>
                <a:ea typeface="Trenda IG Text" pitchFamily="34" charset="-122"/>
                <a:cs typeface="Trenda IG Text" pitchFamily="34" charset="-120"/>
              </a:rPr>
              <a:t>Of cases triaged and summarised, not a sample</a:t>
            </a:r>
            <a:endParaRPr lang="en-US" sz="800" dirty="0"/>
          </a:p>
        </p:txBody>
      </p:sp>
      <p:sp>
        <p:nvSpPr>
          <p:cNvPr id="36" name="Text 34"/>
          <p:cNvSpPr txBox="1"/>
          <p:nvPr/>
        </p:nvSpPr>
        <p:spPr>
          <a:xfrm>
            <a:off x="7891272" y="3241548"/>
            <a:ext cx="1097280" cy="310896"/>
          </a:xfrm>
          <a:prstGeom prst="rect">
            <a:avLst/>
          </a:prstGeom>
          <a:noFill/>
          <a:ln/>
        </p:spPr>
        <p:txBody>
          <a:bodyPr wrap="square" lIns="0" tIns="0" rIns="0" bIns="0" rtlCol="0" anchor="ctr"/>
          <a:lstStyle/>
          <a:p>
            <a:pPr indent="0" marL="0">
              <a:buNone/>
            </a:pPr>
            <a:r>
              <a:rPr lang="en-US" sz="1400" b="1" dirty="0">
                <a:solidFill>
                  <a:srgbClr val="22D3EE"/>
                </a:solidFill>
                <a:latin typeface="Trenda IG Display" pitchFamily="34" charset="0"/>
                <a:ea typeface="Trenda IG Display" pitchFamily="34" charset="-122"/>
                <a:cs typeface="Trenda IG Display" pitchFamily="34" charset="-120"/>
              </a:rPr>
              <a:t>Zero</a:t>
            </a:r>
            <a:endParaRPr lang="en-US" sz="1400" dirty="0"/>
          </a:p>
        </p:txBody>
      </p:sp>
      <p:sp>
        <p:nvSpPr>
          <p:cNvPr id="37" name="Text 35"/>
          <p:cNvSpPr txBox="1"/>
          <p:nvPr/>
        </p:nvSpPr>
        <p:spPr>
          <a:xfrm>
            <a:off x="9025128" y="3241548"/>
            <a:ext cx="2459736" cy="329184"/>
          </a:xfrm>
          <a:prstGeom prst="rect">
            <a:avLst/>
          </a:prstGeom>
          <a:noFill/>
          <a:ln/>
        </p:spPr>
        <p:txBody>
          <a:bodyPr wrap="square" lIns="0" tIns="0" rIns="0" bIns="0" rtlCol="0" anchor="ctr"/>
          <a:lstStyle/>
          <a:p>
            <a:pPr indent="0" marL="0">
              <a:lnSpc>
                <a:spcPts val="1050"/>
              </a:lnSpc>
              <a:buNone/>
            </a:pPr>
            <a:r>
              <a:rPr lang="en-US" sz="800" dirty="0">
                <a:solidFill>
                  <a:srgbClr val="8A94A6"/>
                </a:solidFill>
                <a:latin typeface="Trenda IG Text" pitchFamily="34" charset="0"/>
                <a:ea typeface="Trenda IG Text" pitchFamily="34" charset="-122"/>
                <a:cs typeface="Trenda IG Text" pitchFamily="34" charset="-120"/>
              </a:rPr>
              <a:t>New licences required for Phase 1</a:t>
            </a:r>
            <a:endParaRPr lang="en-US" sz="800" dirty="0"/>
          </a:p>
        </p:txBody>
      </p:sp>
      <p:sp>
        <p:nvSpPr>
          <p:cNvPr id="38" name="Text 36"/>
          <p:cNvSpPr txBox="1"/>
          <p:nvPr/>
        </p:nvSpPr>
        <p:spPr>
          <a:xfrm>
            <a:off x="7690104" y="3790188"/>
            <a:ext cx="3995928" cy="201168"/>
          </a:xfrm>
          <a:prstGeom prst="rect">
            <a:avLst/>
          </a:prstGeom>
          <a:noFill/>
          <a:ln/>
        </p:spPr>
        <p:txBody>
          <a:bodyPr wrap="square" lIns="0" tIns="0" rIns="0" bIns="0" rtlCol="0" anchor="ctr"/>
          <a:lstStyle/>
          <a:p>
            <a:pPr indent="0" marL="0">
              <a:buNone/>
            </a:pPr>
            <a:r>
              <a:rPr lang="en-US" sz="1000" b="1" spc="140" kern="0" dirty="0">
                <a:solidFill>
                  <a:srgbClr val="FFFFFF"/>
                </a:solidFill>
                <a:latin typeface="Trenda IG Display" pitchFamily="34" charset="0"/>
                <a:ea typeface="Trenda IG Display" pitchFamily="34" charset="-122"/>
                <a:cs typeface="Trenda IG Display" pitchFamily="34" charset="-120"/>
              </a:rPr>
              <a:t>WHAT IT RUNS ON</a:t>
            </a:r>
            <a:endParaRPr lang="en-US" sz="1000" dirty="0"/>
          </a:p>
        </p:txBody>
      </p:sp>
      <p:sp>
        <p:nvSpPr>
          <p:cNvPr id="39" name="Shape 37"/>
          <p:cNvSpPr/>
          <p:nvPr/>
        </p:nvSpPr>
        <p:spPr>
          <a:xfrm>
            <a:off x="7690104" y="4064508"/>
            <a:ext cx="3995928" cy="896112"/>
          </a:xfrm>
          <a:prstGeom prst="roundRect">
            <a:avLst>
              <a:gd name="adj" fmla="val 4082"/>
            </a:avLst>
          </a:prstGeom>
          <a:solidFill>
            <a:srgbClr val="151A24"/>
          </a:solidFill>
          <a:ln w="12700">
            <a:solidFill>
              <a:srgbClr val="252D3D"/>
            </a:solidFill>
            <a:prstDash val="solid"/>
          </a:ln>
        </p:spPr>
      </p:sp>
      <p:sp>
        <p:nvSpPr>
          <p:cNvPr id="40" name="Text 38"/>
          <p:cNvSpPr txBox="1"/>
          <p:nvPr/>
        </p:nvSpPr>
        <p:spPr>
          <a:xfrm>
            <a:off x="7891272" y="4192524"/>
            <a:ext cx="3593592" cy="731520"/>
          </a:xfrm>
          <a:prstGeom prst="rect">
            <a:avLst/>
          </a:prstGeom>
          <a:noFill/>
          <a:ln/>
        </p:spPr>
        <p:txBody>
          <a:bodyPr wrap="square" lIns="0" tIns="0" rIns="0" bIns="0" rtlCol="0" anchor="t"/>
          <a:lstStyle/>
          <a:p>
            <a:pPr indent="0" marL="0">
              <a:lnSpc>
                <a:spcPts val="1150"/>
              </a:lnSpc>
              <a:buNone/>
            </a:pPr>
            <a:r>
              <a:rPr lang="en-US" sz="850" b="1" dirty="0">
                <a:solidFill>
                  <a:srgbClr val="E6EAF2"/>
                </a:solidFill>
                <a:latin typeface="Trenda IG Text" pitchFamily="34" charset="0"/>
                <a:ea typeface="Trenda IG Text" pitchFamily="34" charset="-122"/>
                <a:cs typeface="Trenda IG Text" pitchFamily="34" charset="-120"/>
              </a:rPr>
              <a:t>Phase 1 uses only what Service Cloud already includes.</a:t>
            </a:r>
            <a:pPr indent="0" marL="0">
              <a:lnSpc>
                <a:spcPts val="1150"/>
              </a:lnSpc>
              <a:buNone/>
            </a:pPr>
            <a:r>
              <a:rPr lang="en-US" sz="850" dirty="0">
                <a:solidFill>
                  <a:srgbClr val="8A94A6"/>
                </a:solidFill>
                <a:latin typeface="Trenda IG Text" pitchFamily="34" charset="0"/>
                <a:ea typeface="Trenda IG Text" pitchFamily="34" charset="-122"/>
                <a:cs typeface="Trenda IG Text" pitchFamily="34" charset="-120"/>
              </a:rPr>
              <a:t> Prompt Templates and Agentforce in Phases 2 and 3 need Einstein or Agentforce licensing, which we confirm with McKesson before that phase begins.</a:t>
            </a:r>
            <a:endParaRPr lang="en-US" sz="850" dirty="0"/>
          </a:p>
        </p:txBody>
      </p:sp>
      <p:sp>
        <p:nvSpPr>
          <p:cNvPr id="41" name="Text 39"/>
          <p:cNvSpPr txBox="1"/>
          <p:nvPr/>
        </p:nvSpPr>
        <p:spPr>
          <a:xfrm>
            <a:off x="7690104" y="5106924"/>
            <a:ext cx="3995928" cy="201168"/>
          </a:xfrm>
          <a:prstGeom prst="rect">
            <a:avLst/>
          </a:prstGeom>
          <a:noFill/>
          <a:ln/>
        </p:spPr>
        <p:txBody>
          <a:bodyPr wrap="square" lIns="0" tIns="0" rIns="0" bIns="0" rtlCol="0" anchor="ctr"/>
          <a:lstStyle/>
          <a:p>
            <a:pPr indent="0" marL="0">
              <a:buNone/>
            </a:pPr>
            <a:r>
              <a:rPr lang="en-US" sz="1000" b="1" spc="140" kern="0" dirty="0">
                <a:solidFill>
                  <a:srgbClr val="FFFFFF"/>
                </a:solidFill>
                <a:latin typeface="Trenda IG Display" pitchFamily="34" charset="0"/>
                <a:ea typeface="Trenda IG Display" pitchFamily="34" charset="-122"/>
                <a:cs typeface="Trenda IG Display" pitchFamily="34" charset="-120"/>
              </a:rPr>
              <a:t>HOW IT LANDS</a:t>
            </a:r>
            <a:endParaRPr lang="en-US" sz="1000" dirty="0"/>
          </a:p>
        </p:txBody>
      </p:sp>
      <p:sp>
        <p:nvSpPr>
          <p:cNvPr id="42" name="Shape 40"/>
          <p:cNvSpPr/>
          <p:nvPr/>
        </p:nvSpPr>
        <p:spPr>
          <a:xfrm>
            <a:off x="7690104" y="5381244"/>
            <a:ext cx="3995928" cy="969264"/>
          </a:xfrm>
          <a:prstGeom prst="roundRect">
            <a:avLst>
              <a:gd name="adj" fmla="val 3774"/>
            </a:avLst>
          </a:prstGeom>
          <a:solidFill>
            <a:srgbClr val="151A24"/>
          </a:solidFill>
          <a:ln w="12700">
            <a:solidFill>
              <a:srgbClr val="252D3D"/>
            </a:solidFill>
            <a:prstDash val="solid"/>
          </a:ln>
        </p:spPr>
      </p:sp>
      <p:sp>
        <p:nvSpPr>
          <p:cNvPr id="43" name="Text 41"/>
          <p:cNvSpPr txBox="1"/>
          <p:nvPr/>
        </p:nvSpPr>
        <p:spPr>
          <a:xfrm>
            <a:off x="7891272" y="5509260"/>
            <a:ext cx="731520" cy="237744"/>
          </a:xfrm>
          <a:prstGeom prst="rect">
            <a:avLst/>
          </a:prstGeom>
          <a:noFill/>
          <a:ln/>
        </p:spPr>
        <p:txBody>
          <a:bodyPr wrap="square" lIns="0" tIns="0" rIns="0" bIns="0" rtlCol="0" anchor="ctr"/>
          <a:lstStyle/>
          <a:p>
            <a:pPr indent="0" marL="0">
              <a:buNone/>
            </a:pPr>
            <a:r>
              <a:rPr lang="en-US" sz="850" b="1" dirty="0">
                <a:solidFill>
                  <a:srgbClr val="22D3EE"/>
                </a:solidFill>
                <a:latin typeface="Trenda IG Text" pitchFamily="34" charset="0"/>
                <a:ea typeface="Trenda IG Text" pitchFamily="34" charset="-122"/>
                <a:cs typeface="Trenda IG Text" pitchFamily="34" charset="-120"/>
              </a:rPr>
              <a:t>Phase 1</a:t>
            </a:r>
            <a:endParaRPr lang="en-US" sz="850" dirty="0"/>
          </a:p>
        </p:txBody>
      </p:sp>
      <p:sp>
        <p:nvSpPr>
          <p:cNvPr id="44" name="Text 42"/>
          <p:cNvSpPr txBox="1"/>
          <p:nvPr/>
        </p:nvSpPr>
        <p:spPr>
          <a:xfrm>
            <a:off x="8659368" y="5509260"/>
            <a:ext cx="2825496" cy="237744"/>
          </a:xfrm>
          <a:prstGeom prst="rect">
            <a:avLst/>
          </a:prstGeom>
          <a:noFill/>
          <a:ln/>
        </p:spPr>
        <p:txBody>
          <a:bodyPr wrap="square" lIns="0" tIns="0" rIns="0" bIns="0" rtlCol="0" anchor="ctr"/>
          <a:lstStyle/>
          <a:p>
            <a:pPr indent="0" marL="0">
              <a:buNone/>
            </a:pPr>
            <a:r>
              <a:rPr lang="en-US" sz="850" dirty="0">
                <a:solidFill>
                  <a:srgbClr val="8A94A6"/>
                </a:solidFill>
                <a:latin typeface="Trenda IG Text" pitchFamily="34" charset="0"/>
                <a:ea typeface="Trenda IG Text" pitchFamily="34" charset="-122"/>
                <a:cs typeface="Trenda IG Text" pitchFamily="34" charset="-120"/>
              </a:rPr>
              <a:t>Routing, SLA, escalation, reporting</a:t>
            </a:r>
            <a:endParaRPr lang="en-US" sz="850" dirty="0"/>
          </a:p>
        </p:txBody>
      </p:sp>
      <p:sp>
        <p:nvSpPr>
          <p:cNvPr id="45" name="Text 43"/>
          <p:cNvSpPr txBox="1"/>
          <p:nvPr/>
        </p:nvSpPr>
        <p:spPr>
          <a:xfrm>
            <a:off x="7891272" y="5783580"/>
            <a:ext cx="731520" cy="237744"/>
          </a:xfrm>
          <a:prstGeom prst="rect">
            <a:avLst/>
          </a:prstGeom>
          <a:noFill/>
          <a:ln/>
        </p:spPr>
        <p:txBody>
          <a:bodyPr wrap="square" lIns="0" tIns="0" rIns="0" bIns="0" rtlCol="0" anchor="ctr"/>
          <a:lstStyle/>
          <a:p>
            <a:pPr indent="0" marL="0">
              <a:buNone/>
            </a:pPr>
            <a:r>
              <a:rPr lang="en-US" sz="850" b="1" dirty="0">
                <a:solidFill>
                  <a:srgbClr val="22D3EE"/>
                </a:solidFill>
                <a:latin typeface="Trenda IG Text" pitchFamily="34" charset="0"/>
                <a:ea typeface="Trenda IG Text" pitchFamily="34" charset="-122"/>
                <a:cs typeface="Trenda IG Text" pitchFamily="34" charset="-120"/>
              </a:rPr>
              <a:t>Phase 2</a:t>
            </a:r>
            <a:endParaRPr lang="en-US" sz="850" dirty="0"/>
          </a:p>
        </p:txBody>
      </p:sp>
      <p:sp>
        <p:nvSpPr>
          <p:cNvPr id="46" name="Text 44"/>
          <p:cNvSpPr txBox="1"/>
          <p:nvPr/>
        </p:nvSpPr>
        <p:spPr>
          <a:xfrm>
            <a:off x="8659368" y="5783580"/>
            <a:ext cx="2825496" cy="237744"/>
          </a:xfrm>
          <a:prstGeom prst="rect">
            <a:avLst/>
          </a:prstGeom>
          <a:noFill/>
          <a:ln/>
        </p:spPr>
        <p:txBody>
          <a:bodyPr wrap="square" lIns="0" tIns="0" rIns="0" bIns="0" rtlCol="0" anchor="ctr"/>
          <a:lstStyle/>
          <a:p>
            <a:pPr indent="0" marL="0">
              <a:buNone/>
            </a:pPr>
            <a:r>
              <a:rPr lang="en-US" sz="850" dirty="0">
                <a:solidFill>
                  <a:srgbClr val="8A94A6"/>
                </a:solidFill>
                <a:latin typeface="Trenda IG Text" pitchFamily="34" charset="0"/>
                <a:ea typeface="Trenda IG Text" pitchFamily="34" charset="-122"/>
                <a:cs typeface="Trenda IG Text" pitchFamily="34" charset="-120"/>
              </a:rPr>
              <a:t>Triage, summary and drafted replies</a:t>
            </a:r>
            <a:endParaRPr lang="en-US" sz="850" dirty="0"/>
          </a:p>
        </p:txBody>
      </p:sp>
      <p:sp>
        <p:nvSpPr>
          <p:cNvPr id="47" name="Text 45"/>
          <p:cNvSpPr txBox="1"/>
          <p:nvPr/>
        </p:nvSpPr>
        <p:spPr>
          <a:xfrm>
            <a:off x="7891272" y="6057900"/>
            <a:ext cx="731520" cy="237744"/>
          </a:xfrm>
          <a:prstGeom prst="rect">
            <a:avLst/>
          </a:prstGeom>
          <a:noFill/>
          <a:ln/>
        </p:spPr>
        <p:txBody>
          <a:bodyPr wrap="square" lIns="0" tIns="0" rIns="0" bIns="0" rtlCol="0" anchor="ctr"/>
          <a:lstStyle/>
          <a:p>
            <a:pPr indent="0" marL="0">
              <a:buNone/>
            </a:pPr>
            <a:r>
              <a:rPr lang="en-US" sz="850" b="1" dirty="0">
                <a:solidFill>
                  <a:srgbClr val="22D3EE"/>
                </a:solidFill>
                <a:latin typeface="Trenda IG Text" pitchFamily="34" charset="0"/>
                <a:ea typeface="Trenda IG Text" pitchFamily="34" charset="-122"/>
                <a:cs typeface="Trenda IG Text" pitchFamily="34" charset="-120"/>
              </a:rPr>
              <a:t>Phase 3</a:t>
            </a:r>
            <a:endParaRPr lang="en-US" sz="850" dirty="0"/>
          </a:p>
        </p:txBody>
      </p:sp>
      <p:sp>
        <p:nvSpPr>
          <p:cNvPr id="48" name="Text 46"/>
          <p:cNvSpPr txBox="1"/>
          <p:nvPr/>
        </p:nvSpPr>
        <p:spPr>
          <a:xfrm>
            <a:off x="8659368" y="6057900"/>
            <a:ext cx="2825496" cy="237744"/>
          </a:xfrm>
          <a:prstGeom prst="rect">
            <a:avLst/>
          </a:prstGeom>
          <a:noFill/>
          <a:ln/>
        </p:spPr>
        <p:txBody>
          <a:bodyPr wrap="square" lIns="0" tIns="0" rIns="0" bIns="0" rtlCol="0" anchor="ctr"/>
          <a:lstStyle/>
          <a:p>
            <a:pPr indent="0" marL="0">
              <a:buNone/>
            </a:pPr>
            <a:r>
              <a:rPr lang="en-US" sz="850" dirty="0">
                <a:solidFill>
                  <a:srgbClr val="8A94A6"/>
                </a:solidFill>
                <a:latin typeface="Trenda IG Text" pitchFamily="34" charset="0"/>
                <a:ea typeface="Trenda IG Text" pitchFamily="34" charset="-122"/>
                <a:cs typeface="Trenda IG Text" pitchFamily="34" charset="-120"/>
              </a:rPr>
              <a:t>Selected replies sent automatically</a:t>
            </a:r>
            <a:endParaRPr lang="en-US" sz="850" dirty="0"/>
          </a:p>
        </p:txBody>
      </p:sp>
      <p:pic>
        <p:nvPicPr>
          <p:cNvPr id="49" name="Image 0" descr="assets/ig-mark.png">    </p:cNvPr>
          <p:cNvPicPr>
            <a:picLocks noChangeAspect="1"/>
          </p:cNvPicPr>
          <p:nvPr/>
        </p:nvPicPr>
        <p:blipFill>
          <a:blip r:embed="rId1"/>
          <a:stretch>
            <a:fillRect/>
          </a:stretch>
        </p:blipFill>
        <p:spPr>
          <a:xfrm>
            <a:off x="502920" y="6455664"/>
            <a:ext cx="420624" cy="144475"/>
          </a:xfrm>
          <a:prstGeom prst="rect">
            <a:avLst/>
          </a:prstGeom>
        </p:spPr>
      </p:pic>
      <p:sp>
        <p:nvSpPr>
          <p:cNvPr id="50" name="Text 47"/>
          <p:cNvSpPr txBox="1"/>
          <p:nvPr/>
        </p:nvSpPr>
        <p:spPr>
          <a:xfrm>
            <a:off x="11201400" y="6400800"/>
            <a:ext cx="484632" cy="237744"/>
          </a:xfrm>
          <a:prstGeom prst="rect">
            <a:avLst/>
          </a:prstGeom>
          <a:noFill/>
          <a:ln/>
        </p:spPr>
        <p:txBody>
          <a:bodyPr wrap="square" lIns="0" tIns="0" rIns="0" bIns="0" rtlCol="0" anchor="ctr"/>
          <a:lstStyle/>
          <a:p>
            <a:pPr algn="r" indent="0" marL="0">
              <a:buNone/>
            </a:pPr>
            <a:r>
              <a:rPr lang="en-US" sz="850" dirty="0">
                <a:solidFill>
                  <a:srgbClr val="8A94A6"/>
                </a:solidFill>
                <a:latin typeface="Trenda IG Text" pitchFamily="34" charset="0"/>
                <a:ea typeface="Trenda IG Text" pitchFamily="34" charset="-122"/>
                <a:cs typeface="Trenda IG Text" pitchFamily="34" charset="-120"/>
              </a:rPr>
              <a:t>2</a:t>
            </a:r>
            <a:endParaRPr lang="en-US" sz="85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0A0D14"/>
        </a:solidFill>
      </p:bgPr>
    </p:bg>
    <p:spTree>
      <p:nvGrpSpPr>
        <p:cNvPr id="1" name=""/>
        <p:cNvGrpSpPr/>
        <p:nvPr/>
      </p:nvGrpSpPr>
      <p:grpSpPr>
        <a:xfrm>
          <a:off x="0" y="0"/>
          <a:ext cx="0" cy="0"/>
          <a:chOff x="0" y="0"/>
          <a:chExt cx="0" cy="0"/>
        </a:xfrm>
      </p:grpSpPr>
      <p:sp>
        <p:nvSpPr>
          <p:cNvPr id="2" name="Text 0"/>
          <p:cNvSpPr txBox="1"/>
          <p:nvPr/>
        </p:nvSpPr>
        <p:spPr>
          <a:xfrm>
            <a:off x="502920" y="384048"/>
            <a:ext cx="11183112" cy="219456"/>
          </a:xfrm>
          <a:prstGeom prst="rect">
            <a:avLst/>
          </a:prstGeom>
          <a:noFill/>
          <a:ln/>
        </p:spPr>
        <p:txBody>
          <a:bodyPr wrap="square" lIns="0" tIns="0" rIns="0" bIns="0" rtlCol="0" anchor="ctr"/>
          <a:lstStyle/>
          <a:p>
            <a:pPr indent="0" marL="0">
              <a:buNone/>
            </a:pPr>
            <a:r>
              <a:rPr lang="en-US" sz="1000" b="1" spc="220" kern="0" dirty="0">
                <a:solidFill>
                  <a:srgbClr val="22D3EE"/>
                </a:solidFill>
                <a:latin typeface="Trenda IG Display" pitchFamily="34" charset="0"/>
                <a:ea typeface="Trenda IG Display" pitchFamily="34" charset="-122"/>
                <a:cs typeface="Trenda IG Display" pitchFamily="34" charset="-120"/>
              </a:rPr>
              <a:t>THE CASE FOR CHANGE  |  01</a:t>
            </a:r>
            <a:endParaRPr lang="en-US" sz="1000" dirty="0"/>
          </a:p>
        </p:txBody>
      </p:sp>
      <p:sp>
        <p:nvSpPr>
          <p:cNvPr id="3" name="Text 1"/>
          <p:cNvSpPr txBox="1"/>
          <p:nvPr/>
        </p:nvSpPr>
        <p:spPr>
          <a:xfrm>
            <a:off x="502920" y="658368"/>
            <a:ext cx="11183112" cy="416052"/>
          </a:xfrm>
          <a:prstGeom prst="rect">
            <a:avLst/>
          </a:prstGeom>
          <a:noFill/>
          <a:ln/>
        </p:spPr>
        <p:txBody>
          <a:bodyPr wrap="square" lIns="0" tIns="0" rIns="0" bIns="0" rtlCol="0" anchor="ctr"/>
          <a:lstStyle/>
          <a:p>
            <a:pPr indent="0" marL="0">
              <a:lnSpc>
                <a:spcPts val="3016"/>
              </a:lnSpc>
              <a:buNone/>
            </a:pPr>
            <a:r>
              <a:rPr lang="en-US" sz="2600" b="1" spc="40" kern="0" dirty="0">
                <a:solidFill>
                  <a:srgbClr val="FFFFFF"/>
                </a:solidFill>
                <a:latin typeface="Trenda IG Display" pitchFamily="34" charset="0"/>
                <a:ea typeface="Trenda IG Display" pitchFamily="34" charset="-122"/>
                <a:cs typeface="Trenda IG Display" pitchFamily="34" charset="-120"/>
              </a:rPr>
              <a:t>WHERE THE EFFORT GOES TODAY</a:t>
            </a:r>
            <a:endParaRPr lang="en-US" sz="2600" dirty="0"/>
          </a:p>
        </p:txBody>
      </p:sp>
      <p:sp>
        <p:nvSpPr>
          <p:cNvPr id="4" name="Text 2"/>
          <p:cNvSpPr txBox="1"/>
          <p:nvPr/>
        </p:nvSpPr>
        <p:spPr>
          <a:xfrm>
            <a:off x="502920" y="1156716"/>
            <a:ext cx="11183112" cy="384048"/>
          </a:xfrm>
          <a:prstGeom prst="rect">
            <a:avLst/>
          </a:prstGeom>
          <a:noFill/>
          <a:ln/>
        </p:spPr>
        <p:txBody>
          <a:bodyPr wrap="square" lIns="0" tIns="0" rIns="0" bIns="0" rtlCol="0" anchor="t"/>
          <a:lstStyle/>
          <a:p>
            <a:pPr indent="0" marL="0">
              <a:lnSpc>
                <a:spcPts val="1500"/>
              </a:lnSpc>
              <a:buNone/>
            </a:pPr>
            <a:r>
              <a:rPr lang="en-US" sz="1150" dirty="0">
                <a:solidFill>
                  <a:srgbClr val="8A94A6"/>
                </a:solidFill>
                <a:latin typeface="Trenda IG Text" pitchFamily="34" charset="0"/>
                <a:ea typeface="Trenda IG Text" pitchFamily="34" charset="-122"/>
                <a:cs typeface="Trenda IG Text" pitchFamily="34" charset="-120"/>
              </a:rPr>
              <a:t>Every one of roughly 33,000 monthly email cases is read, classified, prioritised and answered by hand. Most of that effort is administration, not judgement.</a:t>
            </a:r>
            <a:endParaRPr lang="en-US" sz="1150" dirty="0"/>
          </a:p>
        </p:txBody>
      </p:sp>
      <p:sp>
        <p:nvSpPr>
          <p:cNvPr id="5" name="Shape 3"/>
          <p:cNvSpPr/>
          <p:nvPr/>
        </p:nvSpPr>
        <p:spPr>
          <a:xfrm>
            <a:off x="502920" y="1796796"/>
            <a:ext cx="2679192" cy="1152144"/>
          </a:xfrm>
          <a:prstGeom prst="roundRect">
            <a:avLst>
              <a:gd name="adj" fmla="val 3175"/>
            </a:avLst>
          </a:prstGeom>
          <a:solidFill>
            <a:srgbClr val="151A24"/>
          </a:solidFill>
          <a:ln w="12700">
            <a:solidFill>
              <a:srgbClr val="252D3D"/>
            </a:solidFill>
            <a:prstDash val="solid"/>
          </a:ln>
        </p:spPr>
      </p:sp>
      <p:sp>
        <p:nvSpPr>
          <p:cNvPr id="6" name="Text 4"/>
          <p:cNvSpPr txBox="1"/>
          <p:nvPr/>
        </p:nvSpPr>
        <p:spPr>
          <a:xfrm>
            <a:off x="667512" y="1906524"/>
            <a:ext cx="2350008" cy="475488"/>
          </a:xfrm>
          <a:prstGeom prst="rect">
            <a:avLst/>
          </a:prstGeom>
          <a:noFill/>
          <a:ln/>
        </p:spPr>
        <p:txBody>
          <a:bodyPr wrap="square" lIns="0" tIns="0" rIns="0" bIns="0" rtlCol="0" anchor="ctr"/>
          <a:lstStyle/>
          <a:p>
            <a:pPr indent="0" marL="0">
              <a:buNone/>
            </a:pPr>
            <a:r>
              <a:rPr lang="en-US" sz="2700" b="1" dirty="0">
                <a:solidFill>
                  <a:srgbClr val="22D3EE"/>
                </a:solidFill>
                <a:latin typeface="Trenda IG Display" pitchFamily="34" charset="0"/>
                <a:ea typeface="Trenda IG Display" pitchFamily="34" charset="-122"/>
                <a:cs typeface="Trenda IG Display" pitchFamily="34" charset="-120"/>
              </a:rPr>
              <a:t>33,480</a:t>
            </a:r>
            <a:endParaRPr lang="en-US" sz="2700" dirty="0"/>
          </a:p>
        </p:txBody>
      </p:sp>
      <p:sp>
        <p:nvSpPr>
          <p:cNvPr id="7" name="Text 5"/>
          <p:cNvSpPr txBox="1"/>
          <p:nvPr/>
        </p:nvSpPr>
        <p:spPr>
          <a:xfrm>
            <a:off x="667512" y="2382012"/>
            <a:ext cx="2350008" cy="457200"/>
          </a:xfrm>
          <a:prstGeom prst="rect">
            <a:avLst/>
          </a:prstGeom>
          <a:noFill/>
          <a:ln/>
        </p:spPr>
        <p:txBody>
          <a:bodyPr wrap="square" lIns="0" tIns="0" rIns="0" bIns="0" rtlCol="0" anchor="t"/>
          <a:lstStyle/>
          <a:p>
            <a:pPr indent="0" marL="0">
              <a:lnSpc>
                <a:spcPts val="1200"/>
              </a:lnSpc>
              <a:buNone/>
            </a:pPr>
            <a:r>
              <a:rPr lang="en-US" sz="900" dirty="0">
                <a:solidFill>
                  <a:srgbClr val="8A94A6"/>
                </a:solidFill>
                <a:latin typeface="Trenda IG Text" pitchFamily="34" charset="0"/>
                <a:ea typeface="Trenda IG Text" pitchFamily="34" charset="-122"/>
                <a:cs typeface="Trenda IG Text" pitchFamily="34" charset="-120"/>
              </a:rPr>
              <a:t>Email cases offered per month across the Extended Care queues</a:t>
            </a:r>
            <a:endParaRPr lang="en-US" sz="900" dirty="0"/>
          </a:p>
        </p:txBody>
      </p:sp>
      <p:sp>
        <p:nvSpPr>
          <p:cNvPr id="8" name="Shape 6"/>
          <p:cNvSpPr/>
          <p:nvPr/>
        </p:nvSpPr>
        <p:spPr>
          <a:xfrm>
            <a:off x="3346704" y="1796796"/>
            <a:ext cx="2679192" cy="1152144"/>
          </a:xfrm>
          <a:prstGeom prst="roundRect">
            <a:avLst>
              <a:gd name="adj" fmla="val 3175"/>
            </a:avLst>
          </a:prstGeom>
          <a:solidFill>
            <a:srgbClr val="151A24"/>
          </a:solidFill>
          <a:ln w="12700">
            <a:solidFill>
              <a:srgbClr val="252D3D"/>
            </a:solidFill>
            <a:prstDash val="solid"/>
          </a:ln>
        </p:spPr>
      </p:sp>
      <p:sp>
        <p:nvSpPr>
          <p:cNvPr id="9" name="Text 7"/>
          <p:cNvSpPr txBox="1"/>
          <p:nvPr/>
        </p:nvSpPr>
        <p:spPr>
          <a:xfrm>
            <a:off x="3511296" y="1906524"/>
            <a:ext cx="2350008" cy="475488"/>
          </a:xfrm>
          <a:prstGeom prst="rect">
            <a:avLst/>
          </a:prstGeom>
          <a:noFill/>
          <a:ln/>
        </p:spPr>
        <p:txBody>
          <a:bodyPr wrap="square" lIns="0" tIns="0" rIns="0" bIns="0" rtlCol="0" anchor="ctr"/>
          <a:lstStyle/>
          <a:p>
            <a:pPr indent="0" marL="0">
              <a:buNone/>
            </a:pPr>
            <a:r>
              <a:rPr lang="en-US" sz="2700" b="1" dirty="0">
                <a:solidFill>
                  <a:srgbClr val="22D3EE"/>
                </a:solidFill>
                <a:latin typeface="Trenda IG Display" pitchFamily="34" charset="0"/>
                <a:ea typeface="Trenda IG Display" pitchFamily="34" charset="-122"/>
                <a:cs typeface="Trenda IG Display" pitchFamily="34" charset="-120"/>
              </a:rPr>
              <a:t>8:15</a:t>
            </a:r>
            <a:endParaRPr lang="en-US" sz="2700" dirty="0"/>
          </a:p>
        </p:txBody>
      </p:sp>
      <p:sp>
        <p:nvSpPr>
          <p:cNvPr id="10" name="Text 8"/>
          <p:cNvSpPr txBox="1"/>
          <p:nvPr/>
        </p:nvSpPr>
        <p:spPr>
          <a:xfrm>
            <a:off x="3511296" y="2382012"/>
            <a:ext cx="2350008" cy="457200"/>
          </a:xfrm>
          <a:prstGeom prst="rect">
            <a:avLst/>
          </a:prstGeom>
          <a:noFill/>
          <a:ln/>
        </p:spPr>
        <p:txBody>
          <a:bodyPr wrap="square" lIns="0" tIns="0" rIns="0" bIns="0" rtlCol="0" anchor="t"/>
          <a:lstStyle/>
          <a:p>
            <a:pPr indent="0" marL="0">
              <a:lnSpc>
                <a:spcPts val="1200"/>
              </a:lnSpc>
              <a:buNone/>
            </a:pPr>
            <a:r>
              <a:rPr lang="en-US" sz="900" dirty="0">
                <a:solidFill>
                  <a:srgbClr val="8A94A6"/>
                </a:solidFill>
                <a:latin typeface="Trenda IG Text" pitchFamily="34" charset="0"/>
                <a:ea typeface="Trenda IG Text" pitchFamily="34" charset="-122"/>
                <a:cs typeface="Trenda IG Text" pitchFamily="34" charset="-120"/>
              </a:rPr>
              <a:t>Blended average handling time per case, all queues</a:t>
            </a:r>
            <a:endParaRPr lang="en-US" sz="900" dirty="0"/>
          </a:p>
        </p:txBody>
      </p:sp>
      <p:sp>
        <p:nvSpPr>
          <p:cNvPr id="11" name="Shape 9"/>
          <p:cNvSpPr/>
          <p:nvPr/>
        </p:nvSpPr>
        <p:spPr>
          <a:xfrm>
            <a:off x="6190488" y="1796796"/>
            <a:ext cx="2679192" cy="1152144"/>
          </a:xfrm>
          <a:prstGeom prst="roundRect">
            <a:avLst>
              <a:gd name="adj" fmla="val 3175"/>
            </a:avLst>
          </a:prstGeom>
          <a:solidFill>
            <a:srgbClr val="151A24"/>
          </a:solidFill>
          <a:ln w="12700">
            <a:solidFill>
              <a:srgbClr val="252D3D"/>
            </a:solidFill>
            <a:prstDash val="solid"/>
          </a:ln>
        </p:spPr>
      </p:sp>
      <p:sp>
        <p:nvSpPr>
          <p:cNvPr id="12" name="Text 10"/>
          <p:cNvSpPr txBox="1"/>
          <p:nvPr/>
        </p:nvSpPr>
        <p:spPr>
          <a:xfrm>
            <a:off x="6355080" y="1906524"/>
            <a:ext cx="2350008" cy="475488"/>
          </a:xfrm>
          <a:prstGeom prst="rect">
            <a:avLst/>
          </a:prstGeom>
          <a:noFill/>
          <a:ln/>
        </p:spPr>
        <p:txBody>
          <a:bodyPr wrap="square" lIns="0" tIns="0" rIns="0" bIns="0" rtlCol="0" anchor="ctr"/>
          <a:lstStyle/>
          <a:p>
            <a:pPr indent="0" marL="0">
              <a:buNone/>
            </a:pPr>
            <a:r>
              <a:rPr lang="en-US" sz="2700" b="1" dirty="0">
                <a:solidFill>
                  <a:srgbClr val="F59E0B"/>
                </a:solidFill>
                <a:latin typeface="Trenda IG Display" pitchFamily="34" charset="0"/>
                <a:ea typeface="Trenda IG Display" pitchFamily="34" charset="-122"/>
                <a:cs typeface="Trenda IG Display" pitchFamily="34" charset="-120"/>
              </a:rPr>
              <a:t>11:25</a:t>
            </a:r>
            <a:endParaRPr lang="en-US" sz="2700" dirty="0"/>
          </a:p>
        </p:txBody>
      </p:sp>
      <p:sp>
        <p:nvSpPr>
          <p:cNvPr id="13" name="Text 11"/>
          <p:cNvSpPr txBox="1"/>
          <p:nvPr/>
        </p:nvSpPr>
        <p:spPr>
          <a:xfrm>
            <a:off x="6355080" y="2382012"/>
            <a:ext cx="2350008" cy="457200"/>
          </a:xfrm>
          <a:prstGeom prst="rect">
            <a:avLst/>
          </a:prstGeom>
          <a:noFill/>
          <a:ln/>
        </p:spPr>
        <p:txBody>
          <a:bodyPr wrap="square" lIns="0" tIns="0" rIns="0" bIns="0" rtlCol="0" anchor="t"/>
          <a:lstStyle/>
          <a:p>
            <a:pPr indent="0" marL="0">
              <a:lnSpc>
                <a:spcPts val="1200"/>
              </a:lnSpc>
              <a:buNone/>
            </a:pPr>
            <a:r>
              <a:rPr lang="en-US" sz="900" dirty="0">
                <a:solidFill>
                  <a:srgbClr val="8A94A6"/>
                </a:solidFill>
                <a:latin typeface="Trenda IG Text" pitchFamily="34" charset="0"/>
                <a:ea typeface="Trenda IG Text" pitchFamily="34" charset="-122"/>
                <a:cs typeface="Trenda IG Text" pitchFamily="34" charset="-120"/>
              </a:rPr>
              <a:t>Average handling time on credits and disputes, against 6:40 for order placement</a:t>
            </a:r>
            <a:endParaRPr lang="en-US" sz="900" dirty="0"/>
          </a:p>
        </p:txBody>
      </p:sp>
      <p:sp>
        <p:nvSpPr>
          <p:cNvPr id="14" name="Shape 12"/>
          <p:cNvSpPr/>
          <p:nvPr/>
        </p:nvSpPr>
        <p:spPr>
          <a:xfrm>
            <a:off x="9034272" y="1796796"/>
            <a:ext cx="2679192" cy="1152144"/>
          </a:xfrm>
          <a:prstGeom prst="roundRect">
            <a:avLst>
              <a:gd name="adj" fmla="val 3175"/>
            </a:avLst>
          </a:prstGeom>
          <a:solidFill>
            <a:srgbClr val="151A24"/>
          </a:solidFill>
          <a:ln w="12700">
            <a:solidFill>
              <a:srgbClr val="252D3D"/>
            </a:solidFill>
            <a:prstDash val="solid"/>
          </a:ln>
        </p:spPr>
      </p:sp>
      <p:sp>
        <p:nvSpPr>
          <p:cNvPr id="15" name="Text 13"/>
          <p:cNvSpPr txBox="1"/>
          <p:nvPr/>
        </p:nvSpPr>
        <p:spPr>
          <a:xfrm>
            <a:off x="9198864" y="1906524"/>
            <a:ext cx="2350008" cy="475488"/>
          </a:xfrm>
          <a:prstGeom prst="rect">
            <a:avLst/>
          </a:prstGeom>
          <a:noFill/>
          <a:ln/>
        </p:spPr>
        <p:txBody>
          <a:bodyPr wrap="square" lIns="0" tIns="0" rIns="0" bIns="0" rtlCol="0" anchor="ctr"/>
          <a:lstStyle/>
          <a:p>
            <a:pPr indent="0" marL="0">
              <a:buNone/>
            </a:pPr>
            <a:r>
              <a:rPr lang="en-US" sz="2700" b="1" dirty="0">
                <a:solidFill>
                  <a:srgbClr val="FF0069"/>
                </a:solidFill>
                <a:latin typeface="Trenda IG Display" pitchFamily="34" charset="0"/>
                <a:ea typeface="Trenda IG Display" pitchFamily="34" charset="-122"/>
                <a:cs typeface="Trenda IG Display" pitchFamily="34" charset="-120"/>
              </a:rPr>
              <a:t>~29%</a:t>
            </a:r>
            <a:endParaRPr lang="en-US" sz="2700" dirty="0"/>
          </a:p>
        </p:txBody>
      </p:sp>
      <p:sp>
        <p:nvSpPr>
          <p:cNvPr id="16" name="Text 14"/>
          <p:cNvSpPr txBox="1"/>
          <p:nvPr/>
        </p:nvSpPr>
        <p:spPr>
          <a:xfrm>
            <a:off x="9198864" y="2382012"/>
            <a:ext cx="2350008" cy="457200"/>
          </a:xfrm>
          <a:prstGeom prst="rect">
            <a:avLst/>
          </a:prstGeom>
          <a:noFill/>
          <a:ln/>
        </p:spPr>
        <p:txBody>
          <a:bodyPr wrap="square" lIns="0" tIns="0" rIns="0" bIns="0" rtlCol="0" anchor="t"/>
          <a:lstStyle/>
          <a:p>
            <a:pPr indent="0" marL="0">
              <a:lnSpc>
                <a:spcPts val="1200"/>
              </a:lnSpc>
              <a:buNone/>
            </a:pPr>
            <a:r>
              <a:rPr lang="en-US" sz="900" dirty="0">
                <a:solidFill>
                  <a:srgbClr val="8A94A6"/>
                </a:solidFill>
                <a:latin typeface="Trenda IG Text" pitchFamily="34" charset="0"/>
                <a:ea typeface="Trenda IG Text" pitchFamily="34" charset="-122"/>
                <a:cs typeface="Trenda IG Text" pitchFamily="34" charset="-120"/>
              </a:rPr>
              <a:t>Share of email volume made up of credit requests and disputes</a:t>
            </a:r>
            <a:endParaRPr lang="en-US" sz="900" dirty="0"/>
          </a:p>
        </p:txBody>
      </p:sp>
      <p:sp>
        <p:nvSpPr>
          <p:cNvPr id="17" name="Shape 15"/>
          <p:cNvSpPr/>
          <p:nvPr/>
        </p:nvSpPr>
        <p:spPr>
          <a:xfrm>
            <a:off x="502920" y="3168396"/>
            <a:ext cx="6675120" cy="2487168"/>
          </a:xfrm>
          <a:prstGeom prst="roundRect">
            <a:avLst>
              <a:gd name="adj" fmla="val 1471"/>
            </a:avLst>
          </a:prstGeom>
          <a:solidFill>
            <a:srgbClr val="151A24"/>
          </a:solidFill>
          <a:ln w="12700">
            <a:solidFill>
              <a:srgbClr val="252D3D"/>
            </a:solidFill>
            <a:prstDash val="solid"/>
          </a:ln>
        </p:spPr>
      </p:sp>
      <p:sp>
        <p:nvSpPr>
          <p:cNvPr id="18" name="Text 16"/>
          <p:cNvSpPr txBox="1"/>
          <p:nvPr/>
        </p:nvSpPr>
        <p:spPr>
          <a:xfrm>
            <a:off x="740664" y="3369564"/>
            <a:ext cx="6217920" cy="201168"/>
          </a:xfrm>
          <a:prstGeom prst="rect">
            <a:avLst/>
          </a:prstGeom>
          <a:noFill/>
          <a:ln/>
        </p:spPr>
        <p:txBody>
          <a:bodyPr wrap="square" lIns="0" tIns="0" rIns="0" bIns="0" rtlCol="0" anchor="ctr"/>
          <a:lstStyle/>
          <a:p>
            <a:pPr indent="0" marL="0">
              <a:buNone/>
            </a:pPr>
            <a:r>
              <a:rPr lang="en-US" sz="1100" b="1" spc="140" kern="0" dirty="0">
                <a:solidFill>
                  <a:srgbClr val="FFFFFF"/>
                </a:solidFill>
                <a:latin typeface="Trenda IG Display" pitchFamily="34" charset="0"/>
                <a:ea typeface="Trenda IG Display" pitchFamily="34" charset="-122"/>
                <a:cs typeface="Trenda IG Display" pitchFamily="34" charset="-120"/>
              </a:rPr>
              <a:t>SIX MANUAL STEPS BEFORE THE CUSTOMER HEARS ANYTHING</a:t>
            </a:r>
            <a:endParaRPr lang="en-US" sz="1100" dirty="0"/>
          </a:p>
        </p:txBody>
      </p:sp>
      <p:sp>
        <p:nvSpPr>
          <p:cNvPr id="19" name="Shape 17"/>
          <p:cNvSpPr/>
          <p:nvPr/>
        </p:nvSpPr>
        <p:spPr>
          <a:xfrm>
            <a:off x="740664" y="3799332"/>
            <a:ext cx="237744" cy="237744"/>
          </a:xfrm>
          <a:prstGeom prst="roundRect">
            <a:avLst>
              <a:gd name="adj" fmla="val 19231"/>
            </a:avLst>
          </a:prstGeom>
          <a:solidFill>
            <a:srgbClr val="0A0D14"/>
          </a:solidFill>
          <a:ln w="12700">
            <a:solidFill>
              <a:srgbClr val="22D3EE"/>
            </a:solidFill>
            <a:prstDash val="solid"/>
          </a:ln>
        </p:spPr>
      </p:sp>
      <p:sp>
        <p:nvSpPr>
          <p:cNvPr id="20" name="Text 18"/>
          <p:cNvSpPr txBox="1"/>
          <p:nvPr/>
        </p:nvSpPr>
        <p:spPr>
          <a:xfrm>
            <a:off x="740664" y="3799332"/>
            <a:ext cx="237744" cy="237744"/>
          </a:xfrm>
          <a:prstGeom prst="rect">
            <a:avLst/>
          </a:prstGeom>
          <a:noFill/>
          <a:ln/>
        </p:spPr>
        <p:txBody>
          <a:bodyPr wrap="square" lIns="0" tIns="0" rIns="0" bIns="0" rtlCol="0" anchor="ctr"/>
          <a:lstStyle/>
          <a:p>
            <a:pPr algn="ctr" indent="0" marL="0">
              <a:buNone/>
            </a:pPr>
            <a:r>
              <a:rPr lang="en-US" sz="950" b="1" dirty="0">
                <a:solidFill>
                  <a:srgbClr val="22D3EE"/>
                </a:solidFill>
                <a:latin typeface="Trenda IG Display" pitchFamily="34" charset="0"/>
                <a:ea typeface="Trenda IG Display" pitchFamily="34" charset="-122"/>
                <a:cs typeface="Trenda IG Display" pitchFamily="34" charset="-120"/>
              </a:rPr>
              <a:t>1</a:t>
            </a:r>
            <a:endParaRPr lang="en-US" sz="950" dirty="0"/>
          </a:p>
        </p:txBody>
      </p:sp>
      <p:sp>
        <p:nvSpPr>
          <p:cNvPr id="21" name="Text 19"/>
          <p:cNvSpPr txBox="1"/>
          <p:nvPr/>
        </p:nvSpPr>
        <p:spPr>
          <a:xfrm>
            <a:off x="1069848" y="3771900"/>
            <a:ext cx="2697480" cy="201168"/>
          </a:xfrm>
          <a:prstGeom prst="rect">
            <a:avLst/>
          </a:prstGeom>
          <a:noFill/>
          <a:ln/>
        </p:spPr>
        <p:txBody>
          <a:bodyPr wrap="square" lIns="0" tIns="0" rIns="0" bIns="0" rtlCol="0" anchor="ctr"/>
          <a:lstStyle/>
          <a:p>
            <a:pPr indent="0" marL="0">
              <a:buNone/>
            </a:pPr>
            <a:r>
              <a:rPr lang="en-US" sz="1000" b="1" dirty="0">
                <a:solidFill>
                  <a:srgbClr val="E6EAF2"/>
                </a:solidFill>
                <a:latin typeface="Trenda IG Text" pitchFamily="34" charset="0"/>
                <a:ea typeface="Trenda IG Text" pitchFamily="34" charset="-122"/>
                <a:cs typeface="Trenda IG Text" pitchFamily="34" charset="-120"/>
              </a:rPr>
              <a:t>Read the thread</a:t>
            </a:r>
            <a:endParaRPr lang="en-US" sz="1000" dirty="0"/>
          </a:p>
        </p:txBody>
      </p:sp>
      <p:sp>
        <p:nvSpPr>
          <p:cNvPr id="22" name="Text 20"/>
          <p:cNvSpPr txBox="1"/>
          <p:nvPr/>
        </p:nvSpPr>
        <p:spPr>
          <a:xfrm>
            <a:off x="1069848" y="3973068"/>
            <a:ext cx="2697480" cy="329184"/>
          </a:xfrm>
          <a:prstGeom prst="rect">
            <a:avLst/>
          </a:prstGeom>
          <a:noFill/>
          <a:ln/>
        </p:spPr>
        <p:txBody>
          <a:bodyPr wrap="square" lIns="0" tIns="0" rIns="0" bIns="0" rtlCol="0" anchor="t"/>
          <a:lstStyle/>
          <a:p>
            <a:pPr indent="0" marL="0">
              <a:lnSpc>
                <a:spcPts val="1050"/>
              </a:lnSpc>
              <a:buNone/>
            </a:pPr>
            <a:r>
              <a:rPr lang="en-US" sz="800" dirty="0">
                <a:solidFill>
                  <a:srgbClr val="8A94A6"/>
                </a:solidFill>
                <a:latin typeface="Trenda IG Text" pitchFamily="34" charset="0"/>
                <a:ea typeface="Trenda IG Text" pitchFamily="34" charset="-122"/>
                <a:cs typeface="Trenda IG Text" pitchFamily="34" charset="-120"/>
              </a:rPr>
              <a:t>Work out what is actually being asked, across forwarded replies and attachments.</a:t>
            </a:r>
            <a:endParaRPr lang="en-US" sz="800" dirty="0"/>
          </a:p>
        </p:txBody>
      </p:sp>
      <p:sp>
        <p:nvSpPr>
          <p:cNvPr id="23" name="Shape 21"/>
          <p:cNvSpPr/>
          <p:nvPr/>
        </p:nvSpPr>
        <p:spPr>
          <a:xfrm>
            <a:off x="3904488" y="3799332"/>
            <a:ext cx="237744" cy="237744"/>
          </a:xfrm>
          <a:prstGeom prst="roundRect">
            <a:avLst>
              <a:gd name="adj" fmla="val 19231"/>
            </a:avLst>
          </a:prstGeom>
          <a:solidFill>
            <a:srgbClr val="0A0D14"/>
          </a:solidFill>
          <a:ln w="12700">
            <a:solidFill>
              <a:srgbClr val="22D3EE"/>
            </a:solidFill>
            <a:prstDash val="solid"/>
          </a:ln>
        </p:spPr>
      </p:sp>
      <p:sp>
        <p:nvSpPr>
          <p:cNvPr id="24" name="Text 22"/>
          <p:cNvSpPr txBox="1"/>
          <p:nvPr/>
        </p:nvSpPr>
        <p:spPr>
          <a:xfrm>
            <a:off x="3904488" y="3799332"/>
            <a:ext cx="237744" cy="237744"/>
          </a:xfrm>
          <a:prstGeom prst="rect">
            <a:avLst/>
          </a:prstGeom>
          <a:noFill/>
          <a:ln/>
        </p:spPr>
        <p:txBody>
          <a:bodyPr wrap="square" lIns="0" tIns="0" rIns="0" bIns="0" rtlCol="0" anchor="ctr"/>
          <a:lstStyle/>
          <a:p>
            <a:pPr algn="ctr" indent="0" marL="0">
              <a:buNone/>
            </a:pPr>
            <a:r>
              <a:rPr lang="en-US" sz="950" b="1" dirty="0">
                <a:solidFill>
                  <a:srgbClr val="22D3EE"/>
                </a:solidFill>
                <a:latin typeface="Trenda IG Display" pitchFamily="34" charset="0"/>
                <a:ea typeface="Trenda IG Display" pitchFamily="34" charset="-122"/>
                <a:cs typeface="Trenda IG Display" pitchFamily="34" charset="-120"/>
              </a:rPr>
              <a:t>2</a:t>
            </a:r>
            <a:endParaRPr lang="en-US" sz="950" dirty="0"/>
          </a:p>
        </p:txBody>
      </p:sp>
      <p:sp>
        <p:nvSpPr>
          <p:cNvPr id="25" name="Text 23"/>
          <p:cNvSpPr txBox="1"/>
          <p:nvPr/>
        </p:nvSpPr>
        <p:spPr>
          <a:xfrm>
            <a:off x="4233672" y="3771900"/>
            <a:ext cx="2697480" cy="201168"/>
          </a:xfrm>
          <a:prstGeom prst="rect">
            <a:avLst/>
          </a:prstGeom>
          <a:noFill/>
          <a:ln/>
        </p:spPr>
        <p:txBody>
          <a:bodyPr wrap="square" lIns="0" tIns="0" rIns="0" bIns="0" rtlCol="0" anchor="ctr"/>
          <a:lstStyle/>
          <a:p>
            <a:pPr indent="0" marL="0">
              <a:buNone/>
            </a:pPr>
            <a:r>
              <a:rPr lang="en-US" sz="1000" b="1" dirty="0">
                <a:solidFill>
                  <a:srgbClr val="E6EAF2"/>
                </a:solidFill>
                <a:latin typeface="Trenda IG Text" pitchFamily="34" charset="0"/>
                <a:ea typeface="Trenda IG Text" pitchFamily="34" charset="-122"/>
                <a:cs typeface="Trenda IG Text" pitchFamily="34" charset="-120"/>
              </a:rPr>
              <a:t>Classify and prioritise</a:t>
            </a:r>
            <a:endParaRPr lang="en-US" sz="1000" dirty="0"/>
          </a:p>
        </p:txBody>
      </p:sp>
      <p:sp>
        <p:nvSpPr>
          <p:cNvPr id="26" name="Text 24"/>
          <p:cNvSpPr txBox="1"/>
          <p:nvPr/>
        </p:nvSpPr>
        <p:spPr>
          <a:xfrm>
            <a:off x="4233672" y="3973068"/>
            <a:ext cx="2697480" cy="329184"/>
          </a:xfrm>
          <a:prstGeom prst="rect">
            <a:avLst/>
          </a:prstGeom>
          <a:noFill/>
          <a:ln/>
        </p:spPr>
        <p:txBody>
          <a:bodyPr wrap="square" lIns="0" tIns="0" rIns="0" bIns="0" rtlCol="0" anchor="t"/>
          <a:lstStyle/>
          <a:p>
            <a:pPr indent="0" marL="0">
              <a:lnSpc>
                <a:spcPts val="1050"/>
              </a:lnSpc>
              <a:buNone/>
            </a:pPr>
            <a:r>
              <a:rPr lang="en-US" sz="800" dirty="0">
                <a:solidFill>
                  <a:srgbClr val="8A94A6"/>
                </a:solidFill>
                <a:latin typeface="Trenda IG Text" pitchFamily="34" charset="0"/>
                <a:ea typeface="Trenda IG Text" pitchFamily="34" charset="-122"/>
                <a:cs typeface="Trenda IG Text" pitchFamily="34" charset="-120"/>
              </a:rPr>
              <a:t>Decide the case type and how urgent it is, by judgement rather than rule.</a:t>
            </a:r>
            <a:endParaRPr lang="en-US" sz="800" dirty="0"/>
          </a:p>
        </p:txBody>
      </p:sp>
      <p:sp>
        <p:nvSpPr>
          <p:cNvPr id="27" name="Shape 25"/>
          <p:cNvSpPr/>
          <p:nvPr/>
        </p:nvSpPr>
        <p:spPr>
          <a:xfrm>
            <a:off x="740664" y="4402836"/>
            <a:ext cx="237744" cy="237744"/>
          </a:xfrm>
          <a:prstGeom prst="roundRect">
            <a:avLst>
              <a:gd name="adj" fmla="val 19231"/>
            </a:avLst>
          </a:prstGeom>
          <a:solidFill>
            <a:srgbClr val="0A0D14"/>
          </a:solidFill>
          <a:ln w="12700">
            <a:solidFill>
              <a:srgbClr val="22D3EE"/>
            </a:solidFill>
            <a:prstDash val="solid"/>
          </a:ln>
        </p:spPr>
      </p:sp>
      <p:sp>
        <p:nvSpPr>
          <p:cNvPr id="28" name="Text 26"/>
          <p:cNvSpPr txBox="1"/>
          <p:nvPr/>
        </p:nvSpPr>
        <p:spPr>
          <a:xfrm>
            <a:off x="740664" y="4402836"/>
            <a:ext cx="237744" cy="237744"/>
          </a:xfrm>
          <a:prstGeom prst="rect">
            <a:avLst/>
          </a:prstGeom>
          <a:noFill/>
          <a:ln/>
        </p:spPr>
        <p:txBody>
          <a:bodyPr wrap="square" lIns="0" tIns="0" rIns="0" bIns="0" rtlCol="0" anchor="ctr"/>
          <a:lstStyle/>
          <a:p>
            <a:pPr algn="ctr" indent="0" marL="0">
              <a:buNone/>
            </a:pPr>
            <a:r>
              <a:rPr lang="en-US" sz="950" b="1" dirty="0">
                <a:solidFill>
                  <a:srgbClr val="22D3EE"/>
                </a:solidFill>
                <a:latin typeface="Trenda IG Display" pitchFamily="34" charset="0"/>
                <a:ea typeface="Trenda IG Display" pitchFamily="34" charset="-122"/>
                <a:cs typeface="Trenda IG Display" pitchFamily="34" charset="-120"/>
              </a:rPr>
              <a:t>3</a:t>
            </a:r>
            <a:endParaRPr lang="en-US" sz="950" dirty="0"/>
          </a:p>
        </p:txBody>
      </p:sp>
      <p:sp>
        <p:nvSpPr>
          <p:cNvPr id="29" name="Text 27"/>
          <p:cNvSpPr txBox="1"/>
          <p:nvPr/>
        </p:nvSpPr>
        <p:spPr>
          <a:xfrm>
            <a:off x="1069848" y="4375404"/>
            <a:ext cx="2697480" cy="201168"/>
          </a:xfrm>
          <a:prstGeom prst="rect">
            <a:avLst/>
          </a:prstGeom>
          <a:noFill/>
          <a:ln/>
        </p:spPr>
        <p:txBody>
          <a:bodyPr wrap="square" lIns="0" tIns="0" rIns="0" bIns="0" rtlCol="0" anchor="ctr"/>
          <a:lstStyle/>
          <a:p>
            <a:pPr indent="0" marL="0">
              <a:buNone/>
            </a:pPr>
            <a:r>
              <a:rPr lang="en-US" sz="1000" b="1" dirty="0">
                <a:solidFill>
                  <a:srgbClr val="E6EAF2"/>
                </a:solidFill>
                <a:latin typeface="Trenda IG Text" pitchFamily="34" charset="0"/>
                <a:ea typeface="Trenda IG Text" pitchFamily="34" charset="-122"/>
                <a:cs typeface="Trenda IG Text" pitchFamily="34" charset="-120"/>
              </a:rPr>
              <a:t>Find the owner</a:t>
            </a:r>
            <a:endParaRPr lang="en-US" sz="1000" dirty="0"/>
          </a:p>
        </p:txBody>
      </p:sp>
      <p:sp>
        <p:nvSpPr>
          <p:cNvPr id="30" name="Text 28"/>
          <p:cNvSpPr txBox="1"/>
          <p:nvPr/>
        </p:nvSpPr>
        <p:spPr>
          <a:xfrm>
            <a:off x="1069848" y="4576572"/>
            <a:ext cx="2697480" cy="329184"/>
          </a:xfrm>
          <a:prstGeom prst="rect">
            <a:avLst/>
          </a:prstGeom>
          <a:noFill/>
          <a:ln/>
        </p:spPr>
        <p:txBody>
          <a:bodyPr wrap="square" lIns="0" tIns="0" rIns="0" bIns="0" rtlCol="0" anchor="t"/>
          <a:lstStyle/>
          <a:p>
            <a:pPr indent="0" marL="0">
              <a:lnSpc>
                <a:spcPts val="1050"/>
              </a:lnSpc>
              <a:buNone/>
            </a:pPr>
            <a:r>
              <a:rPr lang="en-US" sz="800" dirty="0">
                <a:solidFill>
                  <a:srgbClr val="8A94A6"/>
                </a:solidFill>
                <a:latin typeface="Trenda IG Text" pitchFamily="34" charset="0"/>
                <a:ea typeface="Trenda IG Text" pitchFamily="34" charset="-122"/>
                <a:cs typeface="Trenda IG Text" pitchFamily="34" charset="-120"/>
              </a:rPr>
              <a:t>Work out which team or individual should hold it, and whether it needs pricing or AR.</a:t>
            </a:r>
            <a:endParaRPr lang="en-US" sz="800" dirty="0"/>
          </a:p>
        </p:txBody>
      </p:sp>
      <p:sp>
        <p:nvSpPr>
          <p:cNvPr id="31" name="Shape 29"/>
          <p:cNvSpPr/>
          <p:nvPr/>
        </p:nvSpPr>
        <p:spPr>
          <a:xfrm>
            <a:off x="3904488" y="4402836"/>
            <a:ext cx="237744" cy="237744"/>
          </a:xfrm>
          <a:prstGeom prst="roundRect">
            <a:avLst>
              <a:gd name="adj" fmla="val 19231"/>
            </a:avLst>
          </a:prstGeom>
          <a:solidFill>
            <a:srgbClr val="0A0D14"/>
          </a:solidFill>
          <a:ln w="12700">
            <a:solidFill>
              <a:srgbClr val="22D3EE"/>
            </a:solidFill>
            <a:prstDash val="solid"/>
          </a:ln>
        </p:spPr>
      </p:sp>
      <p:sp>
        <p:nvSpPr>
          <p:cNvPr id="32" name="Text 30"/>
          <p:cNvSpPr txBox="1"/>
          <p:nvPr/>
        </p:nvSpPr>
        <p:spPr>
          <a:xfrm>
            <a:off x="3904488" y="4402836"/>
            <a:ext cx="237744" cy="237744"/>
          </a:xfrm>
          <a:prstGeom prst="rect">
            <a:avLst/>
          </a:prstGeom>
          <a:noFill/>
          <a:ln/>
        </p:spPr>
        <p:txBody>
          <a:bodyPr wrap="square" lIns="0" tIns="0" rIns="0" bIns="0" rtlCol="0" anchor="ctr"/>
          <a:lstStyle/>
          <a:p>
            <a:pPr algn="ctr" indent="0" marL="0">
              <a:buNone/>
            </a:pPr>
            <a:r>
              <a:rPr lang="en-US" sz="950" b="1" dirty="0">
                <a:solidFill>
                  <a:srgbClr val="22D3EE"/>
                </a:solidFill>
                <a:latin typeface="Trenda IG Display" pitchFamily="34" charset="0"/>
                <a:ea typeface="Trenda IG Display" pitchFamily="34" charset="-122"/>
                <a:cs typeface="Trenda IG Display" pitchFamily="34" charset="-120"/>
              </a:rPr>
              <a:t>4</a:t>
            </a:r>
            <a:endParaRPr lang="en-US" sz="950" dirty="0"/>
          </a:p>
        </p:txBody>
      </p:sp>
      <p:sp>
        <p:nvSpPr>
          <p:cNvPr id="33" name="Text 31"/>
          <p:cNvSpPr txBox="1"/>
          <p:nvPr/>
        </p:nvSpPr>
        <p:spPr>
          <a:xfrm>
            <a:off x="4233672" y="4375404"/>
            <a:ext cx="2697480" cy="201168"/>
          </a:xfrm>
          <a:prstGeom prst="rect">
            <a:avLst/>
          </a:prstGeom>
          <a:noFill/>
          <a:ln/>
        </p:spPr>
        <p:txBody>
          <a:bodyPr wrap="square" lIns="0" tIns="0" rIns="0" bIns="0" rtlCol="0" anchor="ctr"/>
          <a:lstStyle/>
          <a:p>
            <a:pPr indent="0" marL="0">
              <a:buNone/>
            </a:pPr>
            <a:r>
              <a:rPr lang="en-US" sz="1000" b="1" dirty="0">
                <a:solidFill>
                  <a:srgbClr val="E6EAF2"/>
                </a:solidFill>
                <a:latin typeface="Trenda IG Text" pitchFamily="34" charset="0"/>
                <a:ea typeface="Trenda IG Text" pitchFamily="34" charset="-122"/>
                <a:cs typeface="Trenda IG Text" pitchFamily="34" charset="-120"/>
              </a:rPr>
              <a:t>Assemble the context</a:t>
            </a:r>
            <a:endParaRPr lang="en-US" sz="1000" dirty="0"/>
          </a:p>
        </p:txBody>
      </p:sp>
      <p:sp>
        <p:nvSpPr>
          <p:cNvPr id="34" name="Text 32"/>
          <p:cNvSpPr txBox="1"/>
          <p:nvPr/>
        </p:nvSpPr>
        <p:spPr>
          <a:xfrm>
            <a:off x="4233672" y="4576572"/>
            <a:ext cx="2697480" cy="329184"/>
          </a:xfrm>
          <a:prstGeom prst="rect">
            <a:avLst/>
          </a:prstGeom>
          <a:noFill/>
          <a:ln/>
        </p:spPr>
        <p:txBody>
          <a:bodyPr wrap="square" lIns="0" tIns="0" rIns="0" bIns="0" rtlCol="0" anchor="t"/>
          <a:lstStyle/>
          <a:p>
            <a:pPr indent="0" marL="0">
              <a:lnSpc>
                <a:spcPts val="1050"/>
              </a:lnSpc>
              <a:buNone/>
            </a:pPr>
            <a:r>
              <a:rPr lang="en-US" sz="800" dirty="0">
                <a:solidFill>
                  <a:srgbClr val="8A94A6"/>
                </a:solidFill>
                <a:latin typeface="Trenda IG Text" pitchFamily="34" charset="0"/>
                <a:ea typeface="Trenda IG Text" pitchFamily="34" charset="-122"/>
                <a:cs typeface="Trenda IG Text" pitchFamily="34" charset="-120"/>
              </a:rPr>
              <a:t>Open the account, the order, the invoice and any prior case history.</a:t>
            </a:r>
            <a:endParaRPr lang="en-US" sz="800" dirty="0"/>
          </a:p>
        </p:txBody>
      </p:sp>
      <p:sp>
        <p:nvSpPr>
          <p:cNvPr id="35" name="Shape 33"/>
          <p:cNvSpPr/>
          <p:nvPr/>
        </p:nvSpPr>
        <p:spPr>
          <a:xfrm>
            <a:off x="740664" y="5006340"/>
            <a:ext cx="237744" cy="237744"/>
          </a:xfrm>
          <a:prstGeom prst="roundRect">
            <a:avLst>
              <a:gd name="adj" fmla="val 19231"/>
            </a:avLst>
          </a:prstGeom>
          <a:solidFill>
            <a:srgbClr val="0A0D14"/>
          </a:solidFill>
          <a:ln w="12700">
            <a:solidFill>
              <a:srgbClr val="22D3EE"/>
            </a:solidFill>
            <a:prstDash val="solid"/>
          </a:ln>
        </p:spPr>
      </p:sp>
      <p:sp>
        <p:nvSpPr>
          <p:cNvPr id="36" name="Text 34"/>
          <p:cNvSpPr txBox="1"/>
          <p:nvPr/>
        </p:nvSpPr>
        <p:spPr>
          <a:xfrm>
            <a:off x="740664" y="5006340"/>
            <a:ext cx="237744" cy="237744"/>
          </a:xfrm>
          <a:prstGeom prst="rect">
            <a:avLst/>
          </a:prstGeom>
          <a:noFill/>
          <a:ln/>
        </p:spPr>
        <p:txBody>
          <a:bodyPr wrap="square" lIns="0" tIns="0" rIns="0" bIns="0" rtlCol="0" anchor="ctr"/>
          <a:lstStyle/>
          <a:p>
            <a:pPr algn="ctr" indent="0" marL="0">
              <a:buNone/>
            </a:pPr>
            <a:r>
              <a:rPr lang="en-US" sz="950" b="1" dirty="0">
                <a:solidFill>
                  <a:srgbClr val="22D3EE"/>
                </a:solidFill>
                <a:latin typeface="Trenda IG Display" pitchFamily="34" charset="0"/>
                <a:ea typeface="Trenda IG Display" pitchFamily="34" charset="-122"/>
                <a:cs typeface="Trenda IG Display" pitchFamily="34" charset="-120"/>
              </a:rPr>
              <a:t>5</a:t>
            </a:r>
            <a:endParaRPr lang="en-US" sz="950" dirty="0"/>
          </a:p>
        </p:txBody>
      </p:sp>
      <p:sp>
        <p:nvSpPr>
          <p:cNvPr id="37" name="Text 35"/>
          <p:cNvSpPr txBox="1"/>
          <p:nvPr/>
        </p:nvSpPr>
        <p:spPr>
          <a:xfrm>
            <a:off x="1069848" y="4978908"/>
            <a:ext cx="2697480" cy="201168"/>
          </a:xfrm>
          <a:prstGeom prst="rect">
            <a:avLst/>
          </a:prstGeom>
          <a:noFill/>
          <a:ln/>
        </p:spPr>
        <p:txBody>
          <a:bodyPr wrap="square" lIns="0" tIns="0" rIns="0" bIns="0" rtlCol="0" anchor="ctr"/>
          <a:lstStyle/>
          <a:p>
            <a:pPr indent="0" marL="0">
              <a:buNone/>
            </a:pPr>
            <a:r>
              <a:rPr lang="en-US" sz="1000" b="1" dirty="0">
                <a:solidFill>
                  <a:srgbClr val="E6EAF2"/>
                </a:solidFill>
                <a:latin typeface="Trenda IG Text" pitchFamily="34" charset="0"/>
                <a:ea typeface="Trenda IG Text" pitchFamily="34" charset="-122"/>
                <a:cs typeface="Trenda IG Text" pitchFamily="34" charset="-120"/>
              </a:rPr>
              <a:t>Find the policy</a:t>
            </a:r>
            <a:endParaRPr lang="en-US" sz="1000" dirty="0"/>
          </a:p>
        </p:txBody>
      </p:sp>
      <p:sp>
        <p:nvSpPr>
          <p:cNvPr id="38" name="Text 36"/>
          <p:cNvSpPr txBox="1"/>
          <p:nvPr/>
        </p:nvSpPr>
        <p:spPr>
          <a:xfrm>
            <a:off x="1069848" y="5180076"/>
            <a:ext cx="2697480" cy="329184"/>
          </a:xfrm>
          <a:prstGeom prst="rect">
            <a:avLst/>
          </a:prstGeom>
          <a:noFill/>
          <a:ln/>
        </p:spPr>
        <p:txBody>
          <a:bodyPr wrap="square" lIns="0" tIns="0" rIns="0" bIns="0" rtlCol="0" anchor="t"/>
          <a:lstStyle/>
          <a:p>
            <a:pPr indent="0" marL="0">
              <a:lnSpc>
                <a:spcPts val="1050"/>
              </a:lnSpc>
              <a:buNone/>
            </a:pPr>
            <a:r>
              <a:rPr lang="en-US" sz="800" dirty="0">
                <a:solidFill>
                  <a:srgbClr val="8A94A6"/>
                </a:solidFill>
                <a:latin typeface="Trenda IG Text" pitchFamily="34" charset="0"/>
                <a:ea typeface="Trenda IG Text" pitchFamily="34" charset="-122"/>
                <a:cs typeface="Trenda IG Text" pitchFamily="34" charset="-120"/>
              </a:rPr>
              <a:t>Search Knowledge or ask a colleague for the correct treatment.</a:t>
            </a:r>
            <a:endParaRPr lang="en-US" sz="800" dirty="0"/>
          </a:p>
        </p:txBody>
      </p:sp>
      <p:sp>
        <p:nvSpPr>
          <p:cNvPr id="39" name="Shape 37"/>
          <p:cNvSpPr/>
          <p:nvPr/>
        </p:nvSpPr>
        <p:spPr>
          <a:xfrm>
            <a:off x="3904488" y="5006340"/>
            <a:ext cx="237744" cy="237744"/>
          </a:xfrm>
          <a:prstGeom prst="roundRect">
            <a:avLst>
              <a:gd name="adj" fmla="val 19231"/>
            </a:avLst>
          </a:prstGeom>
          <a:solidFill>
            <a:srgbClr val="0A0D14"/>
          </a:solidFill>
          <a:ln w="12700">
            <a:solidFill>
              <a:srgbClr val="22D3EE"/>
            </a:solidFill>
            <a:prstDash val="solid"/>
          </a:ln>
        </p:spPr>
      </p:sp>
      <p:sp>
        <p:nvSpPr>
          <p:cNvPr id="40" name="Text 38"/>
          <p:cNvSpPr txBox="1"/>
          <p:nvPr/>
        </p:nvSpPr>
        <p:spPr>
          <a:xfrm>
            <a:off x="3904488" y="5006340"/>
            <a:ext cx="237744" cy="237744"/>
          </a:xfrm>
          <a:prstGeom prst="rect">
            <a:avLst/>
          </a:prstGeom>
          <a:noFill/>
          <a:ln/>
        </p:spPr>
        <p:txBody>
          <a:bodyPr wrap="square" lIns="0" tIns="0" rIns="0" bIns="0" rtlCol="0" anchor="ctr"/>
          <a:lstStyle/>
          <a:p>
            <a:pPr algn="ctr" indent="0" marL="0">
              <a:buNone/>
            </a:pPr>
            <a:r>
              <a:rPr lang="en-US" sz="950" b="1" dirty="0">
                <a:solidFill>
                  <a:srgbClr val="22D3EE"/>
                </a:solidFill>
                <a:latin typeface="Trenda IG Display" pitchFamily="34" charset="0"/>
                <a:ea typeface="Trenda IG Display" pitchFamily="34" charset="-122"/>
                <a:cs typeface="Trenda IG Display" pitchFamily="34" charset="-120"/>
              </a:rPr>
              <a:t>6</a:t>
            </a:r>
            <a:endParaRPr lang="en-US" sz="950" dirty="0"/>
          </a:p>
        </p:txBody>
      </p:sp>
      <p:sp>
        <p:nvSpPr>
          <p:cNvPr id="41" name="Text 39"/>
          <p:cNvSpPr txBox="1"/>
          <p:nvPr/>
        </p:nvSpPr>
        <p:spPr>
          <a:xfrm>
            <a:off x="4233672" y="4978908"/>
            <a:ext cx="2697480" cy="201168"/>
          </a:xfrm>
          <a:prstGeom prst="rect">
            <a:avLst/>
          </a:prstGeom>
          <a:noFill/>
          <a:ln/>
        </p:spPr>
        <p:txBody>
          <a:bodyPr wrap="square" lIns="0" tIns="0" rIns="0" bIns="0" rtlCol="0" anchor="ctr"/>
          <a:lstStyle/>
          <a:p>
            <a:pPr indent="0" marL="0">
              <a:buNone/>
            </a:pPr>
            <a:r>
              <a:rPr lang="en-US" sz="1000" b="1" dirty="0">
                <a:solidFill>
                  <a:srgbClr val="E6EAF2"/>
                </a:solidFill>
                <a:latin typeface="Trenda IG Text" pitchFamily="34" charset="0"/>
                <a:ea typeface="Trenda IG Text" pitchFamily="34" charset="-122"/>
                <a:cs typeface="Trenda IG Text" pitchFamily="34" charset="-120"/>
              </a:rPr>
              <a:t>Compose the reply</a:t>
            </a:r>
            <a:endParaRPr lang="en-US" sz="1000" dirty="0"/>
          </a:p>
        </p:txBody>
      </p:sp>
      <p:sp>
        <p:nvSpPr>
          <p:cNvPr id="42" name="Text 40"/>
          <p:cNvSpPr txBox="1"/>
          <p:nvPr/>
        </p:nvSpPr>
        <p:spPr>
          <a:xfrm>
            <a:off x="4233672" y="5180076"/>
            <a:ext cx="2697480" cy="329184"/>
          </a:xfrm>
          <a:prstGeom prst="rect">
            <a:avLst/>
          </a:prstGeom>
          <a:noFill/>
          <a:ln/>
        </p:spPr>
        <p:txBody>
          <a:bodyPr wrap="square" lIns="0" tIns="0" rIns="0" bIns="0" rtlCol="0" anchor="t"/>
          <a:lstStyle/>
          <a:p>
            <a:pPr indent="0" marL="0">
              <a:lnSpc>
                <a:spcPts val="1050"/>
              </a:lnSpc>
              <a:buNone/>
            </a:pPr>
            <a:r>
              <a:rPr lang="en-US" sz="800" dirty="0">
                <a:solidFill>
                  <a:srgbClr val="8A94A6"/>
                </a:solidFill>
                <a:latin typeface="Trenda IG Text" pitchFamily="34" charset="0"/>
                <a:ea typeface="Trenda IG Text" pitchFamily="34" charset="-122"/>
                <a:cs typeface="Trenda IG Text" pitchFamily="34" charset="-120"/>
              </a:rPr>
              <a:t>Write the response from scratch or adapt a template by hand.</a:t>
            </a:r>
            <a:endParaRPr lang="en-US" sz="800" dirty="0"/>
          </a:p>
        </p:txBody>
      </p:sp>
      <p:sp>
        <p:nvSpPr>
          <p:cNvPr id="43" name="Shape 41"/>
          <p:cNvSpPr/>
          <p:nvPr/>
        </p:nvSpPr>
        <p:spPr>
          <a:xfrm>
            <a:off x="7397496" y="3168396"/>
            <a:ext cx="4288536" cy="2487168"/>
          </a:xfrm>
          <a:prstGeom prst="roundRect">
            <a:avLst>
              <a:gd name="adj" fmla="val 1471"/>
            </a:avLst>
          </a:prstGeom>
          <a:solidFill>
            <a:srgbClr val="151A24"/>
          </a:solidFill>
          <a:ln w="12700">
            <a:solidFill>
              <a:srgbClr val="252D3D"/>
            </a:solidFill>
            <a:prstDash val="solid"/>
          </a:ln>
        </p:spPr>
      </p:sp>
      <p:sp>
        <p:nvSpPr>
          <p:cNvPr id="44" name="Text 42"/>
          <p:cNvSpPr txBox="1"/>
          <p:nvPr/>
        </p:nvSpPr>
        <p:spPr>
          <a:xfrm>
            <a:off x="7635240" y="3369564"/>
            <a:ext cx="3831336" cy="201168"/>
          </a:xfrm>
          <a:prstGeom prst="rect">
            <a:avLst/>
          </a:prstGeom>
          <a:noFill/>
          <a:ln/>
        </p:spPr>
        <p:txBody>
          <a:bodyPr wrap="square" lIns="0" tIns="0" rIns="0" bIns="0" rtlCol="0" anchor="ctr"/>
          <a:lstStyle/>
          <a:p>
            <a:pPr indent="0" marL="0">
              <a:buNone/>
            </a:pPr>
            <a:r>
              <a:rPr lang="en-US" sz="1100" b="1" spc="140" kern="0" dirty="0">
                <a:solidFill>
                  <a:srgbClr val="FFFFFF"/>
                </a:solidFill>
                <a:latin typeface="Trenda IG Display" pitchFamily="34" charset="0"/>
                <a:ea typeface="Trenda IG Display" pitchFamily="34" charset="-122"/>
                <a:cs typeface="Trenda IG Display" pitchFamily="34" charset="-120"/>
              </a:rPr>
              <a:t>WHAT IT COSTS</a:t>
            </a:r>
            <a:endParaRPr lang="en-US" sz="1100" dirty="0"/>
          </a:p>
        </p:txBody>
      </p:sp>
      <p:sp>
        <p:nvSpPr>
          <p:cNvPr id="45" name="Text 43"/>
          <p:cNvSpPr txBox="1"/>
          <p:nvPr/>
        </p:nvSpPr>
        <p:spPr>
          <a:xfrm>
            <a:off x="7635240" y="3717036"/>
            <a:ext cx="3831336" cy="1847088"/>
          </a:xfrm>
          <a:prstGeom prst="rect">
            <a:avLst/>
          </a:prstGeom>
          <a:noFill/>
          <a:ln/>
        </p:spPr>
        <p:txBody>
          <a:bodyPr wrap="square" lIns="0" tIns="0" rIns="0" bIns="0" rtlCol="0" anchor="t"/>
          <a:lstStyle/>
          <a:p>
            <a:pPr marL="152400" indent="-152400">
              <a:lnSpc>
                <a:spcPts val="1300"/>
              </a:lnSpc>
              <a:spcAft>
                <a:spcPts val="700"/>
              </a:spcAft>
              <a:buSzPct val="100000"/>
              <a:buChar char="•"/>
            </a:pPr>
            <a:r>
              <a:rPr lang="en-US" sz="900" dirty="0">
                <a:solidFill>
                  <a:srgbClr val="E6EAF2"/>
                </a:solidFill>
                <a:latin typeface="Trenda IG Text" pitchFamily="34" charset="0"/>
                <a:ea typeface="Trenda IG Text" pitchFamily="34" charset="-122"/>
                <a:cs typeface="Trenda IG Text" pitchFamily="34" charset="-120"/>
              </a:rPr>
              <a:t>Around two minutes per case is spent on triage that follows rules a system can apply.</a:t>
            </a:r>
            <a:endParaRPr lang="en-US" sz="900" dirty="0"/>
          </a:p>
          <a:p>
            <a:pPr marL="152400" indent="-152400">
              <a:lnSpc>
                <a:spcPts val="1300"/>
              </a:lnSpc>
              <a:spcAft>
                <a:spcPts val="700"/>
              </a:spcAft>
              <a:buSzPct val="100000"/>
              <a:buChar char="•"/>
            </a:pPr>
            <a:r>
              <a:rPr lang="en-US" sz="900" dirty="0">
                <a:solidFill>
                  <a:srgbClr val="E6EAF2"/>
                </a:solidFill>
                <a:latin typeface="Trenda IG Text" pitchFamily="34" charset="0"/>
                <a:ea typeface="Trenda IG Text" pitchFamily="34" charset="-122"/>
                <a:cs typeface="Trenda IG Text" pitchFamily="34" charset="-120"/>
              </a:rPr>
              <a:t>First response time is set by queue depth, not by urgency. A P1 waits behind routine status requests.</a:t>
            </a:r>
            <a:endParaRPr lang="en-US" sz="900" dirty="0"/>
          </a:p>
          <a:p>
            <a:pPr marL="152400" indent="-152400">
              <a:lnSpc>
                <a:spcPts val="1300"/>
              </a:lnSpc>
              <a:spcAft>
                <a:spcPts val="700"/>
              </a:spcAft>
              <a:buSzPct val="100000"/>
              <a:buChar char="•"/>
            </a:pPr>
            <a:r>
              <a:rPr lang="en-US" sz="900" dirty="0">
                <a:solidFill>
                  <a:srgbClr val="E6EAF2"/>
                </a:solidFill>
                <a:latin typeface="Trenda IG Text" pitchFamily="34" charset="0"/>
                <a:ea typeface="Trenda IG Text" pitchFamily="34" charset="-122"/>
                <a:cs typeface="Trenda IG Text" pitchFamily="34" charset="-120"/>
              </a:rPr>
              <a:t>Response quality varies with who picks the case up, because policy lives in people rather than in the workflow.</a:t>
            </a:r>
            <a:endParaRPr lang="en-US" sz="900" dirty="0"/>
          </a:p>
          <a:p>
            <a:pPr marL="152400" indent="-152400">
              <a:lnSpc>
                <a:spcPts val="1300"/>
              </a:lnSpc>
              <a:spcAft>
                <a:spcPts val="700"/>
              </a:spcAft>
              <a:buSzPct val="100000"/>
              <a:buChar char="•"/>
            </a:pPr>
            <a:r>
              <a:rPr lang="en-US" sz="900" dirty="0">
                <a:solidFill>
                  <a:srgbClr val="E6EAF2"/>
                </a:solidFill>
                <a:latin typeface="Trenda IG Text" pitchFamily="34" charset="0"/>
                <a:ea typeface="Trenda IG Text" pitchFamily="34" charset="-122"/>
                <a:cs typeface="Trenda IG Text" pitchFamily="34" charset="-120"/>
              </a:rPr>
              <a:t>SLA breaches are seen after the fact in reporting, not prevented while the clock is still running.</a:t>
            </a:r>
            <a:endParaRPr lang="en-US" sz="900" dirty="0"/>
          </a:p>
          <a:p>
            <a:pPr marL="152400" indent="-152400">
              <a:lnSpc>
                <a:spcPts val="1300"/>
              </a:lnSpc>
              <a:spcAft>
                <a:spcPts val="700"/>
              </a:spcAft>
              <a:buSzPct val="100000"/>
              <a:buChar char="•"/>
            </a:pPr>
            <a:r>
              <a:rPr lang="en-US" sz="900" dirty="0">
                <a:solidFill>
                  <a:srgbClr val="E6EAF2"/>
                </a:solidFill>
                <a:latin typeface="Trenda IG Text" pitchFamily="34" charset="0"/>
                <a:ea typeface="Trenda IG Text" pitchFamily="34" charset="-122"/>
                <a:cs typeface="Trenda IG Text" pitchFamily="34" charset="-120"/>
              </a:rPr>
              <a:t>Knowledge gaps stay invisible, because nobody records the article that was missing.</a:t>
            </a:r>
            <a:endParaRPr lang="en-US" sz="900" dirty="0"/>
          </a:p>
        </p:txBody>
      </p:sp>
      <p:sp>
        <p:nvSpPr>
          <p:cNvPr id="46" name="Text 44"/>
          <p:cNvSpPr txBox="1"/>
          <p:nvPr/>
        </p:nvSpPr>
        <p:spPr>
          <a:xfrm>
            <a:off x="502920" y="6035040"/>
            <a:ext cx="10085832" cy="347472"/>
          </a:xfrm>
          <a:prstGeom prst="rect">
            <a:avLst/>
          </a:prstGeom>
          <a:noFill/>
          <a:ln/>
        </p:spPr>
        <p:txBody>
          <a:bodyPr wrap="square" lIns="0" tIns="0" rIns="0" bIns="0" rtlCol="0" anchor="t"/>
          <a:lstStyle/>
          <a:p>
            <a:pPr indent="0" marL="0">
              <a:lnSpc>
                <a:spcPts val="1000"/>
              </a:lnSpc>
              <a:buNone/>
            </a:pPr>
            <a:r>
              <a:rPr lang="en-US" sz="750" i="1" dirty="0">
                <a:solidFill>
                  <a:srgbClr val="8A94A6"/>
                </a:solidFill>
                <a:latin typeface="Trenda IG Text" pitchFamily="34" charset="0"/>
                <a:ea typeface="Trenda IG Text" pitchFamily="34" charset="-122"/>
                <a:cs typeface="Trenda IG Text" pitchFamily="34" charset="-120"/>
              </a:rPr>
              <a:t>Volume, handling time and case mix taken from the Extended Care operations sample in the current proposal. Step level timings are Insight Global estimates, validated during the baseline period.</a:t>
            </a:r>
            <a:endParaRPr lang="en-US" sz="750" dirty="0"/>
          </a:p>
        </p:txBody>
      </p:sp>
      <p:pic>
        <p:nvPicPr>
          <p:cNvPr id="47" name="Image 0" descr="assets/ig-mark.png">    </p:cNvPr>
          <p:cNvPicPr>
            <a:picLocks noChangeAspect="1"/>
          </p:cNvPicPr>
          <p:nvPr/>
        </p:nvPicPr>
        <p:blipFill>
          <a:blip r:embed="rId1"/>
          <a:stretch>
            <a:fillRect/>
          </a:stretch>
        </p:blipFill>
        <p:spPr>
          <a:xfrm>
            <a:off x="502920" y="6455664"/>
            <a:ext cx="420624" cy="144475"/>
          </a:xfrm>
          <a:prstGeom prst="rect">
            <a:avLst/>
          </a:prstGeom>
        </p:spPr>
      </p:pic>
      <p:sp>
        <p:nvSpPr>
          <p:cNvPr id="48" name="Text 45"/>
          <p:cNvSpPr txBox="1"/>
          <p:nvPr/>
        </p:nvSpPr>
        <p:spPr>
          <a:xfrm>
            <a:off x="11201400" y="6400800"/>
            <a:ext cx="484632" cy="237744"/>
          </a:xfrm>
          <a:prstGeom prst="rect">
            <a:avLst/>
          </a:prstGeom>
          <a:noFill/>
          <a:ln/>
        </p:spPr>
        <p:txBody>
          <a:bodyPr wrap="square" lIns="0" tIns="0" rIns="0" bIns="0" rtlCol="0" anchor="ctr"/>
          <a:lstStyle/>
          <a:p>
            <a:pPr algn="r" indent="0" marL="0">
              <a:buNone/>
            </a:pPr>
            <a:r>
              <a:rPr lang="en-US" sz="850" dirty="0">
                <a:solidFill>
                  <a:srgbClr val="8A94A6"/>
                </a:solidFill>
                <a:latin typeface="Trenda IG Text" pitchFamily="34" charset="0"/>
                <a:ea typeface="Trenda IG Text" pitchFamily="34" charset="-122"/>
                <a:cs typeface="Trenda IG Text" pitchFamily="34" charset="-120"/>
              </a:rPr>
              <a:t>3</a:t>
            </a:r>
            <a:endParaRPr lang="en-US" sz="85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0A0D14"/>
        </a:solidFill>
      </p:bgPr>
    </p:bg>
    <p:spTree>
      <p:nvGrpSpPr>
        <p:cNvPr id="1" name=""/>
        <p:cNvGrpSpPr/>
        <p:nvPr/>
      </p:nvGrpSpPr>
      <p:grpSpPr>
        <a:xfrm>
          <a:off x="0" y="0"/>
          <a:ext cx="0" cy="0"/>
          <a:chOff x="0" y="0"/>
          <a:chExt cx="0" cy="0"/>
        </a:xfrm>
      </p:grpSpPr>
      <p:sp>
        <p:nvSpPr>
          <p:cNvPr id="2" name="Text 0"/>
          <p:cNvSpPr txBox="1"/>
          <p:nvPr/>
        </p:nvSpPr>
        <p:spPr>
          <a:xfrm>
            <a:off x="502920" y="384048"/>
            <a:ext cx="11183112" cy="219456"/>
          </a:xfrm>
          <a:prstGeom prst="rect">
            <a:avLst/>
          </a:prstGeom>
          <a:noFill/>
          <a:ln/>
        </p:spPr>
        <p:txBody>
          <a:bodyPr wrap="square" lIns="0" tIns="0" rIns="0" bIns="0" rtlCol="0" anchor="ctr"/>
          <a:lstStyle/>
          <a:p>
            <a:pPr indent="0" marL="0">
              <a:buNone/>
            </a:pPr>
            <a:r>
              <a:rPr lang="en-US" sz="1000" b="1" spc="220" kern="0" dirty="0">
                <a:solidFill>
                  <a:srgbClr val="22D3EE"/>
                </a:solidFill>
                <a:latin typeface="Trenda IG Display" pitchFamily="34" charset="0"/>
                <a:ea typeface="Trenda IG Display" pitchFamily="34" charset="-122"/>
                <a:cs typeface="Trenda IG Display" pitchFamily="34" charset="-120"/>
              </a:rPr>
              <a:t>THE CASE FOR CHANGE  |  02</a:t>
            </a:r>
            <a:endParaRPr lang="en-US" sz="1000" dirty="0"/>
          </a:p>
        </p:txBody>
      </p:sp>
      <p:sp>
        <p:nvSpPr>
          <p:cNvPr id="3" name="Text 1"/>
          <p:cNvSpPr txBox="1"/>
          <p:nvPr/>
        </p:nvSpPr>
        <p:spPr>
          <a:xfrm>
            <a:off x="502920" y="658368"/>
            <a:ext cx="11183112" cy="416052"/>
          </a:xfrm>
          <a:prstGeom prst="rect">
            <a:avLst/>
          </a:prstGeom>
          <a:noFill/>
          <a:ln/>
        </p:spPr>
        <p:txBody>
          <a:bodyPr wrap="square" lIns="0" tIns="0" rIns="0" bIns="0" rtlCol="0" anchor="ctr"/>
          <a:lstStyle/>
          <a:p>
            <a:pPr indent="0" marL="0">
              <a:lnSpc>
                <a:spcPts val="3016"/>
              </a:lnSpc>
              <a:buNone/>
            </a:pPr>
            <a:r>
              <a:rPr lang="en-US" sz="2600" b="1" spc="40" kern="0" dirty="0">
                <a:solidFill>
                  <a:srgbClr val="FFFFFF"/>
                </a:solidFill>
                <a:latin typeface="Trenda IG Display" pitchFamily="34" charset="0"/>
                <a:ea typeface="Trenda IG Display" pitchFamily="34" charset="-122"/>
                <a:cs typeface="Trenda IG Display" pitchFamily="34" charset="-120"/>
              </a:rPr>
              <a:t>FROM A MANUAL QUEUE TO INTELLIGENT CASE MANAGEMENT</a:t>
            </a:r>
            <a:endParaRPr lang="en-US" sz="2600" dirty="0"/>
          </a:p>
        </p:txBody>
      </p:sp>
      <p:sp>
        <p:nvSpPr>
          <p:cNvPr id="4" name="Text 2"/>
          <p:cNvSpPr txBox="1"/>
          <p:nvPr/>
        </p:nvSpPr>
        <p:spPr>
          <a:xfrm>
            <a:off x="502920" y="1156716"/>
            <a:ext cx="11183112" cy="384048"/>
          </a:xfrm>
          <a:prstGeom prst="rect">
            <a:avLst/>
          </a:prstGeom>
          <a:noFill/>
          <a:ln/>
        </p:spPr>
        <p:txBody>
          <a:bodyPr wrap="square" lIns="0" tIns="0" rIns="0" bIns="0" rtlCol="0" anchor="t"/>
          <a:lstStyle/>
          <a:p>
            <a:pPr indent="0" marL="0">
              <a:lnSpc>
                <a:spcPts val="1500"/>
              </a:lnSpc>
              <a:buNone/>
            </a:pPr>
            <a:r>
              <a:rPr lang="en-US" sz="1150" dirty="0">
                <a:solidFill>
                  <a:srgbClr val="8A94A6"/>
                </a:solidFill>
                <a:latin typeface="Trenda IG Text" pitchFamily="34" charset="0"/>
                <a:ea typeface="Trenda IG Text" pitchFamily="34" charset="-122"/>
                <a:cs typeface="Trenda IG Text" pitchFamily="34" charset="-120"/>
              </a:rPr>
              <a:t>The same team, the same Salesforce org, the same case types. What changes is how much of the case is already done when an agent opens it.</a:t>
            </a:r>
            <a:endParaRPr lang="en-US" sz="1150" dirty="0"/>
          </a:p>
        </p:txBody>
      </p:sp>
      <p:sp>
        <p:nvSpPr>
          <p:cNvPr id="5" name="Text 3"/>
          <p:cNvSpPr txBox="1"/>
          <p:nvPr/>
        </p:nvSpPr>
        <p:spPr>
          <a:xfrm>
            <a:off x="2798064" y="1796796"/>
            <a:ext cx="4434840" cy="201168"/>
          </a:xfrm>
          <a:prstGeom prst="rect">
            <a:avLst/>
          </a:prstGeom>
          <a:noFill/>
          <a:ln/>
        </p:spPr>
        <p:txBody>
          <a:bodyPr wrap="square" lIns="0" tIns="0" rIns="0" bIns="0" rtlCol="0" anchor="ctr"/>
          <a:lstStyle/>
          <a:p>
            <a:pPr indent="0" marL="0">
              <a:buNone/>
            </a:pPr>
            <a:r>
              <a:rPr lang="en-US" sz="950" b="1" spc="140" kern="0" dirty="0">
                <a:solidFill>
                  <a:srgbClr val="8A94A6"/>
                </a:solidFill>
                <a:latin typeface="Trenda IG Display" pitchFamily="34" charset="0"/>
                <a:ea typeface="Trenda IG Display" pitchFamily="34" charset="-122"/>
                <a:cs typeface="Trenda IG Display" pitchFamily="34" charset="-120"/>
              </a:rPr>
              <a:t>TODAY</a:t>
            </a:r>
            <a:endParaRPr lang="en-US" sz="950" dirty="0"/>
          </a:p>
        </p:txBody>
      </p:sp>
      <p:sp>
        <p:nvSpPr>
          <p:cNvPr id="6" name="Text 4"/>
          <p:cNvSpPr txBox="1"/>
          <p:nvPr/>
        </p:nvSpPr>
        <p:spPr>
          <a:xfrm>
            <a:off x="7232904" y="1796796"/>
            <a:ext cx="4599432" cy="201168"/>
          </a:xfrm>
          <a:prstGeom prst="rect">
            <a:avLst/>
          </a:prstGeom>
          <a:noFill/>
          <a:ln/>
        </p:spPr>
        <p:txBody>
          <a:bodyPr wrap="square" lIns="0" tIns="0" rIns="0" bIns="0" rtlCol="0" anchor="ctr"/>
          <a:lstStyle/>
          <a:p>
            <a:pPr indent="0" marL="0">
              <a:buNone/>
            </a:pPr>
            <a:r>
              <a:rPr lang="en-US" sz="950" b="1" spc="140" kern="0" dirty="0">
                <a:solidFill>
                  <a:srgbClr val="22D3EE"/>
                </a:solidFill>
                <a:latin typeface="Trenda IG Display" pitchFamily="34" charset="0"/>
                <a:ea typeface="Trenda IG Display" pitchFamily="34" charset="-122"/>
                <a:cs typeface="Trenda IG Display" pitchFamily="34" charset="-120"/>
              </a:rPr>
              <a:t>WITH INTELLIGENT CASE MANAGEMENT</a:t>
            </a:r>
            <a:endParaRPr lang="en-US" sz="950" dirty="0"/>
          </a:p>
        </p:txBody>
      </p:sp>
      <p:sp>
        <p:nvSpPr>
          <p:cNvPr id="7" name="Shape 5"/>
          <p:cNvSpPr/>
          <p:nvPr/>
        </p:nvSpPr>
        <p:spPr>
          <a:xfrm>
            <a:off x="7086600" y="2107692"/>
            <a:ext cx="4599432" cy="548640"/>
          </a:xfrm>
          <a:prstGeom prst="rect">
            <a:avLst/>
          </a:prstGeom>
          <a:solidFill>
            <a:srgbClr val="111826"/>
          </a:solidFill>
          <a:ln w="9525">
            <a:solidFill>
              <a:srgbClr val="252D3D"/>
            </a:solidFill>
            <a:prstDash val="solid"/>
          </a:ln>
        </p:spPr>
      </p:sp>
      <p:sp>
        <p:nvSpPr>
          <p:cNvPr id="8" name="Shape 6"/>
          <p:cNvSpPr/>
          <p:nvPr/>
        </p:nvSpPr>
        <p:spPr>
          <a:xfrm>
            <a:off x="2651760" y="2107692"/>
            <a:ext cx="4434840" cy="548640"/>
          </a:xfrm>
          <a:prstGeom prst="rect">
            <a:avLst/>
          </a:prstGeom>
          <a:solidFill>
            <a:srgbClr val="0A0D14"/>
          </a:solidFill>
          <a:ln w="9525">
            <a:solidFill>
              <a:srgbClr val="252D3D"/>
            </a:solidFill>
            <a:prstDash val="solid"/>
          </a:ln>
        </p:spPr>
      </p:sp>
      <p:sp>
        <p:nvSpPr>
          <p:cNvPr id="9" name="Text 7"/>
          <p:cNvSpPr txBox="1"/>
          <p:nvPr/>
        </p:nvSpPr>
        <p:spPr>
          <a:xfrm>
            <a:off x="502920" y="2107692"/>
            <a:ext cx="2020824" cy="548640"/>
          </a:xfrm>
          <a:prstGeom prst="rect">
            <a:avLst/>
          </a:prstGeom>
          <a:noFill/>
          <a:ln/>
        </p:spPr>
        <p:txBody>
          <a:bodyPr wrap="square" lIns="0" tIns="0" rIns="0" bIns="0" rtlCol="0" anchor="ctr"/>
          <a:lstStyle/>
          <a:p>
            <a:pPr indent="0" marL="0">
              <a:buNone/>
            </a:pPr>
            <a:r>
              <a:rPr lang="en-US" sz="1000" b="1" dirty="0">
                <a:solidFill>
                  <a:srgbClr val="FFFFFF"/>
                </a:solidFill>
                <a:latin typeface="Trenda IG Text" pitchFamily="34" charset="0"/>
                <a:ea typeface="Trenda IG Text" pitchFamily="34" charset="-122"/>
                <a:cs typeface="Trenda IG Text" pitchFamily="34" charset="-120"/>
              </a:rPr>
              <a:t>Case creation</a:t>
            </a:r>
            <a:endParaRPr lang="en-US" sz="1000" dirty="0"/>
          </a:p>
        </p:txBody>
      </p:sp>
      <p:sp>
        <p:nvSpPr>
          <p:cNvPr id="10" name="Text 8"/>
          <p:cNvSpPr txBox="1"/>
          <p:nvPr/>
        </p:nvSpPr>
        <p:spPr>
          <a:xfrm>
            <a:off x="2798064" y="2107692"/>
            <a:ext cx="4142232" cy="548640"/>
          </a:xfrm>
          <a:prstGeom prst="rect">
            <a:avLst/>
          </a:prstGeom>
          <a:noFill/>
          <a:ln/>
        </p:spPr>
        <p:txBody>
          <a:bodyPr wrap="square" lIns="0" tIns="0" rIns="0" bIns="0" rtlCol="0" anchor="ctr"/>
          <a:lstStyle/>
          <a:p>
            <a:pPr indent="0" marL="0">
              <a:lnSpc>
                <a:spcPts val="1200"/>
              </a:lnSpc>
              <a:buNone/>
            </a:pPr>
            <a:r>
              <a:rPr lang="en-US" sz="900" dirty="0">
                <a:solidFill>
                  <a:srgbClr val="8A94A6"/>
                </a:solidFill>
                <a:latin typeface="Trenda IG Text" pitchFamily="34" charset="0"/>
                <a:ea typeface="Trenda IG Text" pitchFamily="34" charset="-122"/>
                <a:cs typeface="Trenda IG Text" pitchFamily="34" charset="-120"/>
              </a:rPr>
              <a:t>Email lands in a shared queue and waits to be picked up in arrival order.</a:t>
            </a:r>
            <a:endParaRPr lang="en-US" sz="900" dirty="0"/>
          </a:p>
        </p:txBody>
      </p:sp>
      <p:sp>
        <p:nvSpPr>
          <p:cNvPr id="11" name="Text 9"/>
          <p:cNvSpPr txBox="1"/>
          <p:nvPr/>
        </p:nvSpPr>
        <p:spPr>
          <a:xfrm>
            <a:off x="7232904" y="2107692"/>
            <a:ext cx="4306824" cy="548640"/>
          </a:xfrm>
          <a:prstGeom prst="rect">
            <a:avLst/>
          </a:prstGeom>
          <a:noFill/>
          <a:ln/>
        </p:spPr>
        <p:txBody>
          <a:bodyPr wrap="square" lIns="0" tIns="0" rIns="0" bIns="0" rtlCol="0" anchor="ctr"/>
          <a:lstStyle/>
          <a:p>
            <a:pPr indent="0" marL="0">
              <a:lnSpc>
                <a:spcPts val="1200"/>
              </a:lnSpc>
              <a:buNone/>
            </a:pPr>
            <a:r>
              <a:rPr lang="en-US" sz="900" dirty="0">
                <a:solidFill>
                  <a:srgbClr val="E6EAF2"/>
                </a:solidFill>
                <a:latin typeface="Trenda IG Text" pitchFamily="34" charset="0"/>
                <a:ea typeface="Trenda IG Text" pitchFamily="34" charset="-122"/>
                <a:cs typeface="Trenda IG Text" pitchFamily="34" charset="-120"/>
              </a:rPr>
              <a:t>Email to Case creates the record, matches the thread and acknowledges the customer in seconds.</a:t>
            </a:r>
            <a:endParaRPr lang="en-US" sz="900" dirty="0"/>
          </a:p>
        </p:txBody>
      </p:sp>
      <p:sp>
        <p:nvSpPr>
          <p:cNvPr id="12" name="Shape 10"/>
          <p:cNvSpPr/>
          <p:nvPr/>
        </p:nvSpPr>
        <p:spPr>
          <a:xfrm>
            <a:off x="7086600" y="2656332"/>
            <a:ext cx="4599432" cy="548640"/>
          </a:xfrm>
          <a:prstGeom prst="rect">
            <a:avLst/>
          </a:prstGeom>
          <a:solidFill>
            <a:srgbClr val="141C28"/>
          </a:solidFill>
          <a:ln w="9525">
            <a:solidFill>
              <a:srgbClr val="252D3D"/>
            </a:solidFill>
            <a:prstDash val="solid"/>
          </a:ln>
        </p:spPr>
      </p:sp>
      <p:sp>
        <p:nvSpPr>
          <p:cNvPr id="13" name="Shape 11"/>
          <p:cNvSpPr/>
          <p:nvPr/>
        </p:nvSpPr>
        <p:spPr>
          <a:xfrm>
            <a:off x="2651760" y="2656332"/>
            <a:ext cx="4434840" cy="548640"/>
          </a:xfrm>
          <a:prstGeom prst="rect">
            <a:avLst/>
          </a:prstGeom>
          <a:solidFill>
            <a:srgbClr val="12151E"/>
          </a:solidFill>
          <a:ln w="9525">
            <a:solidFill>
              <a:srgbClr val="252D3D"/>
            </a:solidFill>
            <a:prstDash val="solid"/>
          </a:ln>
        </p:spPr>
      </p:sp>
      <p:sp>
        <p:nvSpPr>
          <p:cNvPr id="14" name="Text 12"/>
          <p:cNvSpPr txBox="1"/>
          <p:nvPr/>
        </p:nvSpPr>
        <p:spPr>
          <a:xfrm>
            <a:off x="502920" y="2656332"/>
            <a:ext cx="2020824" cy="548640"/>
          </a:xfrm>
          <a:prstGeom prst="rect">
            <a:avLst/>
          </a:prstGeom>
          <a:noFill/>
          <a:ln/>
        </p:spPr>
        <p:txBody>
          <a:bodyPr wrap="square" lIns="0" tIns="0" rIns="0" bIns="0" rtlCol="0" anchor="ctr"/>
          <a:lstStyle/>
          <a:p>
            <a:pPr indent="0" marL="0">
              <a:buNone/>
            </a:pPr>
            <a:r>
              <a:rPr lang="en-US" sz="1000" b="1" dirty="0">
                <a:solidFill>
                  <a:srgbClr val="FFFFFF"/>
                </a:solidFill>
                <a:latin typeface="Trenda IG Text" pitchFamily="34" charset="0"/>
                <a:ea typeface="Trenda IG Text" pitchFamily="34" charset="-122"/>
                <a:cs typeface="Trenda IG Text" pitchFamily="34" charset="-120"/>
              </a:rPr>
              <a:t>Classification</a:t>
            </a:r>
            <a:endParaRPr lang="en-US" sz="1000" dirty="0"/>
          </a:p>
        </p:txBody>
      </p:sp>
      <p:sp>
        <p:nvSpPr>
          <p:cNvPr id="15" name="Text 13"/>
          <p:cNvSpPr txBox="1"/>
          <p:nvPr/>
        </p:nvSpPr>
        <p:spPr>
          <a:xfrm>
            <a:off x="2798064" y="2656332"/>
            <a:ext cx="4142232" cy="548640"/>
          </a:xfrm>
          <a:prstGeom prst="rect">
            <a:avLst/>
          </a:prstGeom>
          <a:noFill/>
          <a:ln/>
        </p:spPr>
        <p:txBody>
          <a:bodyPr wrap="square" lIns="0" tIns="0" rIns="0" bIns="0" rtlCol="0" anchor="ctr"/>
          <a:lstStyle/>
          <a:p>
            <a:pPr indent="0" marL="0">
              <a:lnSpc>
                <a:spcPts val="1200"/>
              </a:lnSpc>
              <a:buNone/>
            </a:pPr>
            <a:r>
              <a:rPr lang="en-US" sz="900" dirty="0">
                <a:solidFill>
                  <a:srgbClr val="8A94A6"/>
                </a:solidFill>
                <a:latin typeface="Trenda IG Text" pitchFamily="34" charset="0"/>
                <a:ea typeface="Trenda IG Text" pitchFamily="34" charset="-122"/>
                <a:cs typeface="Trenda IG Text" pitchFamily="34" charset="-120"/>
              </a:rPr>
              <a:t>Agent reads the thread and chooses a case type from experience.</a:t>
            </a:r>
            <a:endParaRPr lang="en-US" sz="900" dirty="0"/>
          </a:p>
        </p:txBody>
      </p:sp>
      <p:sp>
        <p:nvSpPr>
          <p:cNvPr id="16" name="Text 14"/>
          <p:cNvSpPr txBox="1"/>
          <p:nvPr/>
        </p:nvSpPr>
        <p:spPr>
          <a:xfrm>
            <a:off x="7232904" y="2656332"/>
            <a:ext cx="4306824" cy="548640"/>
          </a:xfrm>
          <a:prstGeom prst="rect">
            <a:avLst/>
          </a:prstGeom>
          <a:noFill/>
          <a:ln/>
        </p:spPr>
        <p:txBody>
          <a:bodyPr wrap="square" lIns="0" tIns="0" rIns="0" bIns="0" rtlCol="0" anchor="ctr"/>
          <a:lstStyle/>
          <a:p>
            <a:pPr indent="0" marL="0">
              <a:lnSpc>
                <a:spcPts val="1200"/>
              </a:lnSpc>
              <a:buNone/>
            </a:pPr>
            <a:r>
              <a:rPr lang="en-US" sz="900" dirty="0">
                <a:solidFill>
                  <a:srgbClr val="E6EAF2"/>
                </a:solidFill>
                <a:latin typeface="Trenda IG Text" pitchFamily="34" charset="0"/>
                <a:ea typeface="Trenda IG Text" pitchFamily="34" charset="-122"/>
                <a:cs typeface="Trenda IG Text" pitchFamily="34" charset="-120"/>
              </a:rPr>
              <a:t>Category, service family and entities are extracted and written to the case automatically.</a:t>
            </a:r>
            <a:endParaRPr lang="en-US" sz="900" dirty="0"/>
          </a:p>
        </p:txBody>
      </p:sp>
      <p:sp>
        <p:nvSpPr>
          <p:cNvPr id="17" name="Shape 15"/>
          <p:cNvSpPr/>
          <p:nvPr/>
        </p:nvSpPr>
        <p:spPr>
          <a:xfrm>
            <a:off x="7086600" y="3204972"/>
            <a:ext cx="4599432" cy="548640"/>
          </a:xfrm>
          <a:prstGeom prst="rect">
            <a:avLst/>
          </a:prstGeom>
          <a:solidFill>
            <a:srgbClr val="111826"/>
          </a:solidFill>
          <a:ln w="9525">
            <a:solidFill>
              <a:srgbClr val="252D3D"/>
            </a:solidFill>
            <a:prstDash val="solid"/>
          </a:ln>
        </p:spPr>
      </p:sp>
      <p:sp>
        <p:nvSpPr>
          <p:cNvPr id="18" name="Shape 16"/>
          <p:cNvSpPr/>
          <p:nvPr/>
        </p:nvSpPr>
        <p:spPr>
          <a:xfrm>
            <a:off x="2651760" y="3204972"/>
            <a:ext cx="4434840" cy="548640"/>
          </a:xfrm>
          <a:prstGeom prst="rect">
            <a:avLst/>
          </a:prstGeom>
          <a:solidFill>
            <a:srgbClr val="0A0D14"/>
          </a:solidFill>
          <a:ln w="9525">
            <a:solidFill>
              <a:srgbClr val="252D3D"/>
            </a:solidFill>
            <a:prstDash val="solid"/>
          </a:ln>
        </p:spPr>
      </p:sp>
      <p:sp>
        <p:nvSpPr>
          <p:cNvPr id="19" name="Text 17"/>
          <p:cNvSpPr txBox="1"/>
          <p:nvPr/>
        </p:nvSpPr>
        <p:spPr>
          <a:xfrm>
            <a:off x="502920" y="3204972"/>
            <a:ext cx="2020824" cy="548640"/>
          </a:xfrm>
          <a:prstGeom prst="rect">
            <a:avLst/>
          </a:prstGeom>
          <a:noFill/>
          <a:ln/>
        </p:spPr>
        <p:txBody>
          <a:bodyPr wrap="square" lIns="0" tIns="0" rIns="0" bIns="0" rtlCol="0" anchor="ctr"/>
          <a:lstStyle/>
          <a:p>
            <a:pPr indent="0" marL="0">
              <a:buNone/>
            </a:pPr>
            <a:r>
              <a:rPr lang="en-US" sz="1000" b="1" dirty="0">
                <a:solidFill>
                  <a:srgbClr val="FFFFFF"/>
                </a:solidFill>
                <a:latin typeface="Trenda IG Text" pitchFamily="34" charset="0"/>
                <a:ea typeface="Trenda IG Text" pitchFamily="34" charset="-122"/>
                <a:cs typeface="Trenda IG Text" pitchFamily="34" charset="-120"/>
              </a:rPr>
              <a:t>Priority</a:t>
            </a:r>
            <a:endParaRPr lang="en-US" sz="1000" dirty="0"/>
          </a:p>
        </p:txBody>
      </p:sp>
      <p:sp>
        <p:nvSpPr>
          <p:cNvPr id="20" name="Text 18"/>
          <p:cNvSpPr txBox="1"/>
          <p:nvPr/>
        </p:nvSpPr>
        <p:spPr>
          <a:xfrm>
            <a:off x="2798064" y="3204972"/>
            <a:ext cx="4142232" cy="548640"/>
          </a:xfrm>
          <a:prstGeom prst="rect">
            <a:avLst/>
          </a:prstGeom>
          <a:noFill/>
          <a:ln/>
        </p:spPr>
        <p:txBody>
          <a:bodyPr wrap="square" lIns="0" tIns="0" rIns="0" bIns="0" rtlCol="0" anchor="ctr"/>
          <a:lstStyle/>
          <a:p>
            <a:pPr indent="0" marL="0">
              <a:lnSpc>
                <a:spcPts val="1200"/>
              </a:lnSpc>
              <a:buNone/>
            </a:pPr>
            <a:r>
              <a:rPr lang="en-US" sz="900" dirty="0">
                <a:solidFill>
                  <a:srgbClr val="8A94A6"/>
                </a:solidFill>
                <a:latin typeface="Trenda IG Text" pitchFamily="34" charset="0"/>
                <a:ea typeface="Trenda IG Text" pitchFamily="34" charset="-122"/>
                <a:cs typeface="Trenda IG Text" pitchFamily="34" charset="-120"/>
              </a:rPr>
              <a:t>Set by whoever opens the case, if it is set at all.</a:t>
            </a:r>
            <a:endParaRPr lang="en-US" sz="900" dirty="0"/>
          </a:p>
        </p:txBody>
      </p:sp>
      <p:sp>
        <p:nvSpPr>
          <p:cNvPr id="21" name="Text 19"/>
          <p:cNvSpPr txBox="1"/>
          <p:nvPr/>
        </p:nvSpPr>
        <p:spPr>
          <a:xfrm>
            <a:off x="7232904" y="3204972"/>
            <a:ext cx="4306824" cy="548640"/>
          </a:xfrm>
          <a:prstGeom prst="rect">
            <a:avLst/>
          </a:prstGeom>
          <a:noFill/>
          <a:ln/>
        </p:spPr>
        <p:txBody>
          <a:bodyPr wrap="square" lIns="0" tIns="0" rIns="0" bIns="0" rtlCol="0" anchor="ctr"/>
          <a:lstStyle/>
          <a:p>
            <a:pPr indent="0" marL="0">
              <a:lnSpc>
                <a:spcPts val="1200"/>
              </a:lnSpc>
              <a:buNone/>
            </a:pPr>
            <a:r>
              <a:rPr lang="en-US" sz="900" dirty="0">
                <a:solidFill>
                  <a:srgbClr val="E6EAF2"/>
                </a:solidFill>
                <a:latin typeface="Trenda IG Text" pitchFamily="34" charset="0"/>
                <a:ea typeface="Trenda IG Text" pitchFamily="34" charset="-122"/>
                <a:cs typeface="Trenda IG Text" pitchFamily="34" charset="-120"/>
              </a:rPr>
              <a:t>Recommended from impact, urgency, customer tier and risk, then enforced by rule.</a:t>
            </a:r>
            <a:endParaRPr lang="en-US" sz="900" dirty="0"/>
          </a:p>
        </p:txBody>
      </p:sp>
      <p:sp>
        <p:nvSpPr>
          <p:cNvPr id="22" name="Shape 20"/>
          <p:cNvSpPr/>
          <p:nvPr/>
        </p:nvSpPr>
        <p:spPr>
          <a:xfrm>
            <a:off x="7086600" y="3753612"/>
            <a:ext cx="4599432" cy="548640"/>
          </a:xfrm>
          <a:prstGeom prst="rect">
            <a:avLst/>
          </a:prstGeom>
          <a:solidFill>
            <a:srgbClr val="141C28"/>
          </a:solidFill>
          <a:ln w="9525">
            <a:solidFill>
              <a:srgbClr val="252D3D"/>
            </a:solidFill>
            <a:prstDash val="solid"/>
          </a:ln>
        </p:spPr>
      </p:sp>
      <p:sp>
        <p:nvSpPr>
          <p:cNvPr id="23" name="Shape 21"/>
          <p:cNvSpPr/>
          <p:nvPr/>
        </p:nvSpPr>
        <p:spPr>
          <a:xfrm>
            <a:off x="2651760" y="3753612"/>
            <a:ext cx="4434840" cy="548640"/>
          </a:xfrm>
          <a:prstGeom prst="rect">
            <a:avLst/>
          </a:prstGeom>
          <a:solidFill>
            <a:srgbClr val="12151E"/>
          </a:solidFill>
          <a:ln w="9525">
            <a:solidFill>
              <a:srgbClr val="252D3D"/>
            </a:solidFill>
            <a:prstDash val="solid"/>
          </a:ln>
        </p:spPr>
      </p:sp>
      <p:sp>
        <p:nvSpPr>
          <p:cNvPr id="24" name="Text 22"/>
          <p:cNvSpPr txBox="1"/>
          <p:nvPr/>
        </p:nvSpPr>
        <p:spPr>
          <a:xfrm>
            <a:off x="502920" y="3753612"/>
            <a:ext cx="2020824" cy="548640"/>
          </a:xfrm>
          <a:prstGeom prst="rect">
            <a:avLst/>
          </a:prstGeom>
          <a:noFill/>
          <a:ln/>
        </p:spPr>
        <p:txBody>
          <a:bodyPr wrap="square" lIns="0" tIns="0" rIns="0" bIns="0" rtlCol="0" anchor="ctr"/>
          <a:lstStyle/>
          <a:p>
            <a:pPr indent="0" marL="0">
              <a:buNone/>
            </a:pPr>
            <a:r>
              <a:rPr lang="en-US" sz="1000" b="1" dirty="0">
                <a:solidFill>
                  <a:srgbClr val="FFFFFF"/>
                </a:solidFill>
                <a:latin typeface="Trenda IG Text" pitchFamily="34" charset="0"/>
                <a:ea typeface="Trenda IG Text" pitchFamily="34" charset="-122"/>
                <a:cs typeface="Trenda IG Text" pitchFamily="34" charset="-120"/>
              </a:rPr>
              <a:t>Assignment</a:t>
            </a:r>
            <a:endParaRPr lang="en-US" sz="1000" dirty="0"/>
          </a:p>
        </p:txBody>
      </p:sp>
      <p:sp>
        <p:nvSpPr>
          <p:cNvPr id="25" name="Text 23"/>
          <p:cNvSpPr txBox="1"/>
          <p:nvPr/>
        </p:nvSpPr>
        <p:spPr>
          <a:xfrm>
            <a:off x="2798064" y="3753612"/>
            <a:ext cx="4142232" cy="548640"/>
          </a:xfrm>
          <a:prstGeom prst="rect">
            <a:avLst/>
          </a:prstGeom>
          <a:noFill/>
          <a:ln/>
        </p:spPr>
        <p:txBody>
          <a:bodyPr wrap="square" lIns="0" tIns="0" rIns="0" bIns="0" rtlCol="0" anchor="ctr"/>
          <a:lstStyle/>
          <a:p>
            <a:pPr indent="0" marL="0">
              <a:lnSpc>
                <a:spcPts val="1200"/>
              </a:lnSpc>
              <a:buNone/>
            </a:pPr>
            <a:r>
              <a:rPr lang="en-US" sz="900" dirty="0">
                <a:solidFill>
                  <a:srgbClr val="8A94A6"/>
                </a:solidFill>
                <a:latin typeface="Trenda IG Text" pitchFamily="34" charset="0"/>
                <a:ea typeface="Trenda IG Text" pitchFamily="34" charset="-122"/>
                <a:cs typeface="Trenda IG Text" pitchFamily="34" charset="-120"/>
              </a:rPr>
              <a:t>Manual pickup, or a flat assignment rule that ignores skill.</a:t>
            </a:r>
            <a:endParaRPr lang="en-US" sz="900" dirty="0"/>
          </a:p>
        </p:txBody>
      </p:sp>
      <p:sp>
        <p:nvSpPr>
          <p:cNvPr id="26" name="Text 24"/>
          <p:cNvSpPr txBox="1"/>
          <p:nvPr/>
        </p:nvSpPr>
        <p:spPr>
          <a:xfrm>
            <a:off x="7232904" y="3753612"/>
            <a:ext cx="4306824" cy="548640"/>
          </a:xfrm>
          <a:prstGeom prst="rect">
            <a:avLst/>
          </a:prstGeom>
          <a:noFill/>
          <a:ln/>
        </p:spPr>
        <p:txBody>
          <a:bodyPr wrap="square" lIns="0" tIns="0" rIns="0" bIns="0" rtlCol="0" anchor="ctr"/>
          <a:lstStyle/>
          <a:p>
            <a:pPr indent="0" marL="0">
              <a:lnSpc>
                <a:spcPts val="1200"/>
              </a:lnSpc>
              <a:buNone/>
            </a:pPr>
            <a:r>
              <a:rPr lang="en-US" sz="900" dirty="0">
                <a:solidFill>
                  <a:srgbClr val="E6EAF2"/>
                </a:solidFill>
                <a:latin typeface="Trenda IG Text" pitchFamily="34" charset="0"/>
                <a:ea typeface="Trenda IG Text" pitchFamily="34" charset="-122"/>
                <a:cs typeface="Trenda IG Text" pitchFamily="34" charset="-120"/>
              </a:rPr>
              <a:t>Skills based routing to the right queue and agent, with live capacity awareness.</a:t>
            </a:r>
            <a:endParaRPr lang="en-US" sz="900" dirty="0"/>
          </a:p>
        </p:txBody>
      </p:sp>
      <p:sp>
        <p:nvSpPr>
          <p:cNvPr id="27" name="Shape 25"/>
          <p:cNvSpPr/>
          <p:nvPr/>
        </p:nvSpPr>
        <p:spPr>
          <a:xfrm>
            <a:off x="7086600" y="4302252"/>
            <a:ext cx="4599432" cy="548640"/>
          </a:xfrm>
          <a:prstGeom prst="rect">
            <a:avLst/>
          </a:prstGeom>
          <a:solidFill>
            <a:srgbClr val="111826"/>
          </a:solidFill>
          <a:ln w="9525">
            <a:solidFill>
              <a:srgbClr val="252D3D"/>
            </a:solidFill>
            <a:prstDash val="solid"/>
          </a:ln>
        </p:spPr>
      </p:sp>
      <p:sp>
        <p:nvSpPr>
          <p:cNvPr id="28" name="Shape 26"/>
          <p:cNvSpPr/>
          <p:nvPr/>
        </p:nvSpPr>
        <p:spPr>
          <a:xfrm>
            <a:off x="2651760" y="4302252"/>
            <a:ext cx="4434840" cy="548640"/>
          </a:xfrm>
          <a:prstGeom prst="rect">
            <a:avLst/>
          </a:prstGeom>
          <a:solidFill>
            <a:srgbClr val="0A0D14"/>
          </a:solidFill>
          <a:ln w="9525">
            <a:solidFill>
              <a:srgbClr val="252D3D"/>
            </a:solidFill>
            <a:prstDash val="solid"/>
          </a:ln>
        </p:spPr>
      </p:sp>
      <p:sp>
        <p:nvSpPr>
          <p:cNvPr id="29" name="Text 27"/>
          <p:cNvSpPr txBox="1"/>
          <p:nvPr/>
        </p:nvSpPr>
        <p:spPr>
          <a:xfrm>
            <a:off x="502920" y="4302252"/>
            <a:ext cx="2020824" cy="548640"/>
          </a:xfrm>
          <a:prstGeom prst="rect">
            <a:avLst/>
          </a:prstGeom>
          <a:noFill/>
          <a:ln/>
        </p:spPr>
        <p:txBody>
          <a:bodyPr wrap="square" lIns="0" tIns="0" rIns="0" bIns="0" rtlCol="0" anchor="ctr"/>
          <a:lstStyle/>
          <a:p>
            <a:pPr indent="0" marL="0">
              <a:buNone/>
            </a:pPr>
            <a:r>
              <a:rPr lang="en-US" sz="1000" b="1" dirty="0">
                <a:solidFill>
                  <a:srgbClr val="FFFFFF"/>
                </a:solidFill>
                <a:latin typeface="Trenda IG Text" pitchFamily="34" charset="0"/>
                <a:ea typeface="Trenda IG Text" pitchFamily="34" charset="-122"/>
                <a:cs typeface="Trenda IG Text" pitchFamily="34" charset="-120"/>
              </a:rPr>
              <a:t>SLA</a:t>
            </a:r>
            <a:endParaRPr lang="en-US" sz="1000" dirty="0"/>
          </a:p>
        </p:txBody>
      </p:sp>
      <p:sp>
        <p:nvSpPr>
          <p:cNvPr id="30" name="Text 28"/>
          <p:cNvSpPr txBox="1"/>
          <p:nvPr/>
        </p:nvSpPr>
        <p:spPr>
          <a:xfrm>
            <a:off x="2798064" y="4302252"/>
            <a:ext cx="4142232" cy="548640"/>
          </a:xfrm>
          <a:prstGeom prst="rect">
            <a:avLst/>
          </a:prstGeom>
          <a:noFill/>
          <a:ln/>
        </p:spPr>
        <p:txBody>
          <a:bodyPr wrap="square" lIns="0" tIns="0" rIns="0" bIns="0" rtlCol="0" anchor="ctr"/>
          <a:lstStyle/>
          <a:p>
            <a:pPr indent="0" marL="0">
              <a:lnSpc>
                <a:spcPts val="1200"/>
              </a:lnSpc>
              <a:buNone/>
            </a:pPr>
            <a:r>
              <a:rPr lang="en-US" sz="900" dirty="0">
                <a:solidFill>
                  <a:srgbClr val="8A94A6"/>
                </a:solidFill>
                <a:latin typeface="Trenda IG Text" pitchFamily="34" charset="0"/>
                <a:ea typeface="Trenda IG Text" pitchFamily="34" charset="-122"/>
                <a:cs typeface="Trenda IG Text" pitchFamily="34" charset="-120"/>
              </a:rPr>
              <a:t>Measured in a report after the month has closed.</a:t>
            </a:r>
            <a:endParaRPr lang="en-US" sz="900" dirty="0"/>
          </a:p>
        </p:txBody>
      </p:sp>
      <p:sp>
        <p:nvSpPr>
          <p:cNvPr id="31" name="Text 29"/>
          <p:cNvSpPr txBox="1"/>
          <p:nvPr/>
        </p:nvSpPr>
        <p:spPr>
          <a:xfrm>
            <a:off x="7232904" y="4302252"/>
            <a:ext cx="4306824" cy="548640"/>
          </a:xfrm>
          <a:prstGeom prst="rect">
            <a:avLst/>
          </a:prstGeom>
          <a:noFill/>
          <a:ln/>
        </p:spPr>
        <p:txBody>
          <a:bodyPr wrap="square" lIns="0" tIns="0" rIns="0" bIns="0" rtlCol="0" anchor="ctr"/>
          <a:lstStyle/>
          <a:p>
            <a:pPr indent="0" marL="0">
              <a:lnSpc>
                <a:spcPts val="1200"/>
              </a:lnSpc>
              <a:buNone/>
            </a:pPr>
            <a:r>
              <a:rPr lang="en-US" sz="900" dirty="0">
                <a:solidFill>
                  <a:srgbClr val="E6EAF2"/>
                </a:solidFill>
                <a:latin typeface="Trenda IG Text" pitchFamily="34" charset="0"/>
                <a:ea typeface="Trenda IG Text" pitchFamily="34" charset="-122"/>
                <a:cs typeface="Trenda IG Text" pitchFamily="34" charset="-120"/>
              </a:rPr>
              <a:t>Two live clocks per case, with escalation fired at 50, 70, 85 and 100 percent consumed.</a:t>
            </a:r>
            <a:endParaRPr lang="en-US" sz="900" dirty="0"/>
          </a:p>
        </p:txBody>
      </p:sp>
      <p:sp>
        <p:nvSpPr>
          <p:cNvPr id="32" name="Shape 30"/>
          <p:cNvSpPr/>
          <p:nvPr/>
        </p:nvSpPr>
        <p:spPr>
          <a:xfrm>
            <a:off x="7086600" y="4850892"/>
            <a:ext cx="4599432" cy="548640"/>
          </a:xfrm>
          <a:prstGeom prst="rect">
            <a:avLst/>
          </a:prstGeom>
          <a:solidFill>
            <a:srgbClr val="141C28"/>
          </a:solidFill>
          <a:ln w="9525">
            <a:solidFill>
              <a:srgbClr val="252D3D"/>
            </a:solidFill>
            <a:prstDash val="solid"/>
          </a:ln>
        </p:spPr>
      </p:sp>
      <p:sp>
        <p:nvSpPr>
          <p:cNvPr id="33" name="Shape 31"/>
          <p:cNvSpPr/>
          <p:nvPr/>
        </p:nvSpPr>
        <p:spPr>
          <a:xfrm>
            <a:off x="2651760" y="4850892"/>
            <a:ext cx="4434840" cy="548640"/>
          </a:xfrm>
          <a:prstGeom prst="rect">
            <a:avLst/>
          </a:prstGeom>
          <a:solidFill>
            <a:srgbClr val="12151E"/>
          </a:solidFill>
          <a:ln w="9525">
            <a:solidFill>
              <a:srgbClr val="252D3D"/>
            </a:solidFill>
            <a:prstDash val="solid"/>
          </a:ln>
        </p:spPr>
      </p:sp>
      <p:sp>
        <p:nvSpPr>
          <p:cNvPr id="34" name="Text 32"/>
          <p:cNvSpPr txBox="1"/>
          <p:nvPr/>
        </p:nvSpPr>
        <p:spPr>
          <a:xfrm>
            <a:off x="502920" y="4850892"/>
            <a:ext cx="2020824" cy="548640"/>
          </a:xfrm>
          <a:prstGeom prst="rect">
            <a:avLst/>
          </a:prstGeom>
          <a:noFill/>
          <a:ln/>
        </p:spPr>
        <p:txBody>
          <a:bodyPr wrap="square" lIns="0" tIns="0" rIns="0" bIns="0" rtlCol="0" anchor="ctr"/>
          <a:lstStyle/>
          <a:p>
            <a:pPr indent="0" marL="0">
              <a:buNone/>
            </a:pPr>
            <a:r>
              <a:rPr lang="en-US" sz="1000" b="1" dirty="0">
                <a:solidFill>
                  <a:srgbClr val="FFFFFF"/>
                </a:solidFill>
                <a:latin typeface="Trenda IG Text" pitchFamily="34" charset="0"/>
                <a:ea typeface="Trenda IG Text" pitchFamily="34" charset="-122"/>
                <a:cs typeface="Trenda IG Text" pitchFamily="34" charset="-120"/>
              </a:rPr>
              <a:t>The response</a:t>
            </a:r>
            <a:endParaRPr lang="en-US" sz="1000" dirty="0"/>
          </a:p>
        </p:txBody>
      </p:sp>
      <p:sp>
        <p:nvSpPr>
          <p:cNvPr id="35" name="Text 33"/>
          <p:cNvSpPr txBox="1"/>
          <p:nvPr/>
        </p:nvSpPr>
        <p:spPr>
          <a:xfrm>
            <a:off x="2798064" y="4850892"/>
            <a:ext cx="4142232" cy="548640"/>
          </a:xfrm>
          <a:prstGeom prst="rect">
            <a:avLst/>
          </a:prstGeom>
          <a:noFill/>
          <a:ln/>
        </p:spPr>
        <p:txBody>
          <a:bodyPr wrap="square" lIns="0" tIns="0" rIns="0" bIns="0" rtlCol="0" anchor="ctr"/>
          <a:lstStyle/>
          <a:p>
            <a:pPr indent="0" marL="0">
              <a:lnSpc>
                <a:spcPts val="1200"/>
              </a:lnSpc>
              <a:buNone/>
            </a:pPr>
            <a:r>
              <a:rPr lang="en-US" sz="900" dirty="0">
                <a:solidFill>
                  <a:srgbClr val="8A94A6"/>
                </a:solidFill>
                <a:latin typeface="Trenda IG Text" pitchFamily="34" charset="0"/>
                <a:ea typeface="Trenda IG Text" pitchFamily="34" charset="-122"/>
                <a:cs typeface="Trenda IG Text" pitchFamily="34" charset="-120"/>
              </a:rPr>
              <a:t>Written from scratch or adapted from a template by hand.</a:t>
            </a:r>
            <a:endParaRPr lang="en-US" sz="900" dirty="0"/>
          </a:p>
        </p:txBody>
      </p:sp>
      <p:sp>
        <p:nvSpPr>
          <p:cNvPr id="36" name="Text 34"/>
          <p:cNvSpPr txBox="1"/>
          <p:nvPr/>
        </p:nvSpPr>
        <p:spPr>
          <a:xfrm>
            <a:off x="7232904" y="4850892"/>
            <a:ext cx="4306824" cy="548640"/>
          </a:xfrm>
          <a:prstGeom prst="rect">
            <a:avLst/>
          </a:prstGeom>
          <a:noFill/>
          <a:ln/>
        </p:spPr>
        <p:txBody>
          <a:bodyPr wrap="square" lIns="0" tIns="0" rIns="0" bIns="0" rtlCol="0" anchor="ctr"/>
          <a:lstStyle/>
          <a:p>
            <a:pPr indent="0" marL="0">
              <a:lnSpc>
                <a:spcPts val="1200"/>
              </a:lnSpc>
              <a:buNone/>
            </a:pPr>
            <a:r>
              <a:rPr lang="en-US" sz="900" dirty="0">
                <a:solidFill>
                  <a:srgbClr val="E6EAF2"/>
                </a:solidFill>
                <a:latin typeface="Trenda IG Text" pitchFamily="34" charset="0"/>
                <a:ea typeface="Trenda IG Text" pitchFamily="34" charset="-122"/>
                <a:cs typeface="Trenda IG Text" pitchFamily="34" charset="-120"/>
              </a:rPr>
              <a:t>A grounded draft is waiting, with the Knowledge article and order context attached.</a:t>
            </a:r>
            <a:endParaRPr lang="en-US" sz="900" dirty="0"/>
          </a:p>
        </p:txBody>
      </p:sp>
      <p:sp>
        <p:nvSpPr>
          <p:cNvPr id="37" name="Shape 35"/>
          <p:cNvSpPr/>
          <p:nvPr/>
        </p:nvSpPr>
        <p:spPr>
          <a:xfrm>
            <a:off x="7086600" y="5399532"/>
            <a:ext cx="4599432" cy="548640"/>
          </a:xfrm>
          <a:prstGeom prst="rect">
            <a:avLst/>
          </a:prstGeom>
          <a:solidFill>
            <a:srgbClr val="111826"/>
          </a:solidFill>
          <a:ln w="9525">
            <a:solidFill>
              <a:srgbClr val="252D3D"/>
            </a:solidFill>
            <a:prstDash val="solid"/>
          </a:ln>
        </p:spPr>
      </p:sp>
      <p:sp>
        <p:nvSpPr>
          <p:cNvPr id="38" name="Shape 36"/>
          <p:cNvSpPr/>
          <p:nvPr/>
        </p:nvSpPr>
        <p:spPr>
          <a:xfrm>
            <a:off x="2651760" y="5399532"/>
            <a:ext cx="4434840" cy="548640"/>
          </a:xfrm>
          <a:prstGeom prst="rect">
            <a:avLst/>
          </a:prstGeom>
          <a:solidFill>
            <a:srgbClr val="0A0D14"/>
          </a:solidFill>
          <a:ln w="9525">
            <a:solidFill>
              <a:srgbClr val="252D3D"/>
            </a:solidFill>
            <a:prstDash val="solid"/>
          </a:ln>
        </p:spPr>
      </p:sp>
      <p:sp>
        <p:nvSpPr>
          <p:cNvPr id="39" name="Text 37"/>
          <p:cNvSpPr txBox="1"/>
          <p:nvPr/>
        </p:nvSpPr>
        <p:spPr>
          <a:xfrm>
            <a:off x="502920" y="5399532"/>
            <a:ext cx="2020824" cy="548640"/>
          </a:xfrm>
          <a:prstGeom prst="rect">
            <a:avLst/>
          </a:prstGeom>
          <a:noFill/>
          <a:ln/>
        </p:spPr>
        <p:txBody>
          <a:bodyPr wrap="square" lIns="0" tIns="0" rIns="0" bIns="0" rtlCol="0" anchor="ctr"/>
          <a:lstStyle/>
          <a:p>
            <a:pPr indent="0" marL="0">
              <a:buNone/>
            </a:pPr>
            <a:r>
              <a:rPr lang="en-US" sz="1000" b="1" dirty="0">
                <a:solidFill>
                  <a:srgbClr val="FFFFFF"/>
                </a:solidFill>
                <a:latin typeface="Trenda IG Text" pitchFamily="34" charset="0"/>
                <a:ea typeface="Trenda IG Text" pitchFamily="34" charset="-122"/>
                <a:cs typeface="Trenda IG Text" pitchFamily="34" charset="-120"/>
              </a:rPr>
              <a:t>Handover</a:t>
            </a:r>
            <a:endParaRPr lang="en-US" sz="1000" dirty="0"/>
          </a:p>
        </p:txBody>
      </p:sp>
      <p:sp>
        <p:nvSpPr>
          <p:cNvPr id="40" name="Text 38"/>
          <p:cNvSpPr txBox="1"/>
          <p:nvPr/>
        </p:nvSpPr>
        <p:spPr>
          <a:xfrm>
            <a:off x="2798064" y="5399532"/>
            <a:ext cx="4142232" cy="548640"/>
          </a:xfrm>
          <a:prstGeom prst="rect">
            <a:avLst/>
          </a:prstGeom>
          <a:noFill/>
          <a:ln/>
        </p:spPr>
        <p:txBody>
          <a:bodyPr wrap="square" lIns="0" tIns="0" rIns="0" bIns="0" rtlCol="0" anchor="ctr"/>
          <a:lstStyle/>
          <a:p>
            <a:pPr indent="0" marL="0">
              <a:lnSpc>
                <a:spcPts val="1200"/>
              </a:lnSpc>
              <a:buNone/>
            </a:pPr>
            <a:r>
              <a:rPr lang="en-US" sz="900" dirty="0">
                <a:solidFill>
                  <a:srgbClr val="8A94A6"/>
                </a:solidFill>
                <a:latin typeface="Trenda IG Text" pitchFamily="34" charset="0"/>
                <a:ea typeface="Trenda IG Text" pitchFamily="34" charset="-122"/>
                <a:cs typeface="Trenda IG Text" pitchFamily="34" charset="-120"/>
              </a:rPr>
              <a:t>A free text note, if the outgoing agent has time to write one.</a:t>
            </a:r>
            <a:endParaRPr lang="en-US" sz="900" dirty="0"/>
          </a:p>
        </p:txBody>
      </p:sp>
      <p:sp>
        <p:nvSpPr>
          <p:cNvPr id="41" name="Text 39"/>
          <p:cNvSpPr txBox="1"/>
          <p:nvPr/>
        </p:nvSpPr>
        <p:spPr>
          <a:xfrm>
            <a:off x="7232904" y="5399532"/>
            <a:ext cx="4306824" cy="548640"/>
          </a:xfrm>
          <a:prstGeom prst="rect">
            <a:avLst/>
          </a:prstGeom>
          <a:noFill/>
          <a:ln/>
        </p:spPr>
        <p:txBody>
          <a:bodyPr wrap="square" lIns="0" tIns="0" rIns="0" bIns="0" rtlCol="0" anchor="ctr"/>
          <a:lstStyle/>
          <a:p>
            <a:pPr indent="0" marL="0">
              <a:lnSpc>
                <a:spcPts val="1200"/>
              </a:lnSpc>
              <a:buNone/>
            </a:pPr>
            <a:r>
              <a:rPr lang="en-US" sz="900" dirty="0">
                <a:solidFill>
                  <a:srgbClr val="E6EAF2"/>
                </a:solidFill>
                <a:latin typeface="Trenda IG Text" pitchFamily="34" charset="0"/>
                <a:ea typeface="Trenda IG Text" pitchFamily="34" charset="-122"/>
                <a:cs typeface="Trenda IG Text" pitchFamily="34" charset="-120"/>
              </a:rPr>
              <a:t>A generated case summary with owner, status, last action and next action.</a:t>
            </a:r>
            <a:endParaRPr lang="en-US" sz="900" dirty="0"/>
          </a:p>
        </p:txBody>
      </p:sp>
      <p:pic>
        <p:nvPicPr>
          <p:cNvPr id="42" name="Image 0" descr="assets/ig-mark.png">    </p:cNvPr>
          <p:cNvPicPr>
            <a:picLocks noChangeAspect="1"/>
          </p:cNvPicPr>
          <p:nvPr/>
        </p:nvPicPr>
        <p:blipFill>
          <a:blip r:embed="rId1"/>
          <a:stretch>
            <a:fillRect/>
          </a:stretch>
        </p:blipFill>
        <p:spPr>
          <a:xfrm>
            <a:off x="502920" y="6455664"/>
            <a:ext cx="420624" cy="144475"/>
          </a:xfrm>
          <a:prstGeom prst="rect">
            <a:avLst/>
          </a:prstGeom>
        </p:spPr>
      </p:pic>
      <p:sp>
        <p:nvSpPr>
          <p:cNvPr id="43" name="Text 40"/>
          <p:cNvSpPr txBox="1"/>
          <p:nvPr/>
        </p:nvSpPr>
        <p:spPr>
          <a:xfrm>
            <a:off x="11201400" y="6400800"/>
            <a:ext cx="484632" cy="237744"/>
          </a:xfrm>
          <a:prstGeom prst="rect">
            <a:avLst/>
          </a:prstGeom>
          <a:noFill/>
          <a:ln/>
        </p:spPr>
        <p:txBody>
          <a:bodyPr wrap="square" lIns="0" tIns="0" rIns="0" bIns="0" rtlCol="0" anchor="ctr"/>
          <a:lstStyle/>
          <a:p>
            <a:pPr algn="r" indent="0" marL="0">
              <a:buNone/>
            </a:pPr>
            <a:r>
              <a:rPr lang="en-US" sz="850" dirty="0">
                <a:solidFill>
                  <a:srgbClr val="8A94A6"/>
                </a:solidFill>
                <a:latin typeface="Trenda IG Text" pitchFamily="34" charset="0"/>
                <a:ea typeface="Trenda IG Text" pitchFamily="34" charset="-122"/>
                <a:cs typeface="Trenda IG Text" pitchFamily="34" charset="-120"/>
              </a:rPr>
              <a:t>4</a:t>
            </a:r>
            <a:endParaRPr lang="en-US" sz="85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0A0D14"/>
        </a:solidFill>
      </p:bgPr>
    </p:bg>
    <p:spTree>
      <p:nvGrpSpPr>
        <p:cNvPr id="1" name=""/>
        <p:cNvGrpSpPr/>
        <p:nvPr/>
      </p:nvGrpSpPr>
      <p:grpSpPr>
        <a:xfrm>
          <a:off x="0" y="0"/>
          <a:ext cx="0" cy="0"/>
          <a:chOff x="0" y="0"/>
          <a:chExt cx="0" cy="0"/>
        </a:xfrm>
      </p:grpSpPr>
      <p:sp>
        <p:nvSpPr>
          <p:cNvPr id="2" name="Text 0"/>
          <p:cNvSpPr txBox="1"/>
          <p:nvPr/>
        </p:nvSpPr>
        <p:spPr>
          <a:xfrm>
            <a:off x="502920" y="384048"/>
            <a:ext cx="11183112" cy="219456"/>
          </a:xfrm>
          <a:prstGeom prst="rect">
            <a:avLst/>
          </a:prstGeom>
          <a:noFill/>
          <a:ln/>
        </p:spPr>
        <p:txBody>
          <a:bodyPr wrap="square" lIns="0" tIns="0" rIns="0" bIns="0" rtlCol="0" anchor="ctr"/>
          <a:lstStyle/>
          <a:p>
            <a:pPr indent="0" marL="0">
              <a:buNone/>
            </a:pPr>
            <a:r>
              <a:rPr lang="en-US" sz="1000" b="1" spc="220" kern="0" dirty="0">
                <a:solidFill>
                  <a:srgbClr val="22D3EE"/>
                </a:solidFill>
                <a:latin typeface="Trenda IG Display" pitchFamily="34" charset="0"/>
                <a:ea typeface="Trenda IG Display" pitchFamily="34" charset="-122"/>
                <a:cs typeface="Trenda IG Display" pitchFamily="34" charset="-120"/>
              </a:rPr>
              <a:t>THE SOLUTION  |  01</a:t>
            </a:r>
            <a:endParaRPr lang="en-US" sz="1000" dirty="0"/>
          </a:p>
        </p:txBody>
      </p:sp>
      <p:sp>
        <p:nvSpPr>
          <p:cNvPr id="3" name="Text 1"/>
          <p:cNvSpPr txBox="1"/>
          <p:nvPr/>
        </p:nvSpPr>
        <p:spPr>
          <a:xfrm>
            <a:off x="502920" y="658368"/>
            <a:ext cx="11183112" cy="416052"/>
          </a:xfrm>
          <a:prstGeom prst="rect">
            <a:avLst/>
          </a:prstGeom>
          <a:noFill/>
          <a:ln/>
        </p:spPr>
        <p:txBody>
          <a:bodyPr wrap="square" lIns="0" tIns="0" rIns="0" bIns="0" rtlCol="0" anchor="ctr"/>
          <a:lstStyle/>
          <a:p>
            <a:pPr indent="0" marL="0">
              <a:lnSpc>
                <a:spcPts val="3016"/>
              </a:lnSpc>
              <a:buNone/>
            </a:pPr>
            <a:r>
              <a:rPr lang="en-US" sz="2600" b="1" spc="40" kern="0" dirty="0">
                <a:solidFill>
                  <a:srgbClr val="FFFFFF"/>
                </a:solidFill>
                <a:latin typeface="Trenda IG Display" pitchFamily="34" charset="0"/>
                <a:ea typeface="Trenda IG Display" pitchFamily="34" charset="-122"/>
                <a:cs typeface="Trenda IG Display" pitchFamily="34" charset="-120"/>
              </a:rPr>
              <a:t>SIX STAGES, ONE AUTOMATED CASE LIFECYCLE</a:t>
            </a:r>
            <a:endParaRPr lang="en-US" sz="2600" dirty="0"/>
          </a:p>
        </p:txBody>
      </p:sp>
      <p:sp>
        <p:nvSpPr>
          <p:cNvPr id="4" name="Text 2"/>
          <p:cNvSpPr txBox="1"/>
          <p:nvPr/>
        </p:nvSpPr>
        <p:spPr>
          <a:xfrm>
            <a:off x="502920" y="1156716"/>
            <a:ext cx="11183112" cy="384048"/>
          </a:xfrm>
          <a:prstGeom prst="rect">
            <a:avLst/>
          </a:prstGeom>
          <a:noFill/>
          <a:ln/>
        </p:spPr>
        <p:txBody>
          <a:bodyPr wrap="square" lIns="0" tIns="0" rIns="0" bIns="0" rtlCol="0" anchor="t"/>
          <a:lstStyle/>
          <a:p>
            <a:pPr indent="0" marL="0">
              <a:lnSpc>
                <a:spcPts val="1500"/>
              </a:lnSpc>
              <a:buNone/>
            </a:pPr>
            <a:r>
              <a:rPr lang="en-US" sz="1150" dirty="0">
                <a:solidFill>
                  <a:srgbClr val="8A94A6"/>
                </a:solidFill>
                <a:latin typeface="Trenda IG Text" pitchFamily="34" charset="0"/>
                <a:ea typeface="Trenda IG Text" pitchFamily="34" charset="-122"/>
                <a:cs typeface="Trenda IG Text" pitchFamily="34" charset="-120"/>
              </a:rPr>
              <a:t>Each stage is a defined Salesforce capability rather than a manual habit, so the behaviour is consistent on every case, on every shift, at every volume.</a:t>
            </a:r>
            <a:endParaRPr lang="en-US" sz="1150" dirty="0"/>
          </a:p>
        </p:txBody>
      </p:sp>
      <p:sp>
        <p:nvSpPr>
          <p:cNvPr id="5" name="Shape 3"/>
          <p:cNvSpPr/>
          <p:nvPr/>
        </p:nvSpPr>
        <p:spPr>
          <a:xfrm>
            <a:off x="502920" y="1796796"/>
            <a:ext cx="3593592" cy="1847088"/>
          </a:xfrm>
          <a:prstGeom prst="roundRect">
            <a:avLst>
              <a:gd name="adj" fmla="val 1980"/>
            </a:avLst>
          </a:prstGeom>
          <a:solidFill>
            <a:srgbClr val="151A24"/>
          </a:solidFill>
          <a:ln w="12700">
            <a:solidFill>
              <a:srgbClr val="252D3D"/>
            </a:solidFill>
            <a:prstDash val="solid"/>
          </a:ln>
        </p:spPr>
      </p:sp>
      <p:sp>
        <p:nvSpPr>
          <p:cNvPr id="6" name="Shape 4"/>
          <p:cNvSpPr/>
          <p:nvPr/>
        </p:nvSpPr>
        <p:spPr>
          <a:xfrm>
            <a:off x="722376" y="1997964"/>
            <a:ext cx="310896" cy="256032"/>
          </a:xfrm>
          <a:prstGeom prst="roundRect">
            <a:avLst>
              <a:gd name="adj" fmla="val 17857"/>
            </a:avLst>
          </a:prstGeom>
          <a:solidFill>
            <a:srgbClr val="0A0D14"/>
          </a:solidFill>
          <a:ln w="12700">
            <a:solidFill>
              <a:srgbClr val="22D3EE"/>
            </a:solidFill>
            <a:prstDash val="solid"/>
          </a:ln>
        </p:spPr>
      </p:sp>
      <p:sp>
        <p:nvSpPr>
          <p:cNvPr id="7" name="Text 5"/>
          <p:cNvSpPr txBox="1"/>
          <p:nvPr/>
        </p:nvSpPr>
        <p:spPr>
          <a:xfrm>
            <a:off x="722376" y="1997964"/>
            <a:ext cx="310896" cy="256032"/>
          </a:xfrm>
          <a:prstGeom prst="rect">
            <a:avLst/>
          </a:prstGeom>
          <a:noFill/>
          <a:ln/>
        </p:spPr>
        <p:txBody>
          <a:bodyPr wrap="square" lIns="0" tIns="0" rIns="0" bIns="0" rtlCol="0" anchor="ctr"/>
          <a:lstStyle/>
          <a:p>
            <a:pPr algn="ctr" indent="0" marL="0">
              <a:buNone/>
            </a:pPr>
            <a:r>
              <a:rPr lang="en-US" sz="1050" b="1" dirty="0">
                <a:solidFill>
                  <a:srgbClr val="22D3EE"/>
                </a:solidFill>
                <a:latin typeface="Trenda IG Display" pitchFamily="34" charset="0"/>
                <a:ea typeface="Trenda IG Display" pitchFamily="34" charset="-122"/>
                <a:cs typeface="Trenda IG Display" pitchFamily="34" charset="-120"/>
              </a:rPr>
              <a:t>01</a:t>
            </a:r>
            <a:endParaRPr lang="en-US" sz="1050" dirty="0"/>
          </a:p>
        </p:txBody>
      </p:sp>
      <p:sp>
        <p:nvSpPr>
          <p:cNvPr id="8" name="Text 6"/>
          <p:cNvSpPr txBox="1"/>
          <p:nvPr/>
        </p:nvSpPr>
        <p:spPr>
          <a:xfrm>
            <a:off x="1124712" y="1997964"/>
            <a:ext cx="2752344" cy="256032"/>
          </a:xfrm>
          <a:prstGeom prst="rect">
            <a:avLst/>
          </a:prstGeom>
          <a:noFill/>
          <a:ln/>
        </p:spPr>
        <p:txBody>
          <a:bodyPr wrap="square" lIns="0" tIns="0" rIns="0" bIns="0" rtlCol="0" anchor="ctr"/>
          <a:lstStyle/>
          <a:p>
            <a:pPr indent="0" marL="0">
              <a:buNone/>
            </a:pPr>
            <a:r>
              <a:rPr lang="en-US" sz="1400" b="1" dirty="0">
                <a:solidFill>
                  <a:srgbClr val="FFFFFF"/>
                </a:solidFill>
                <a:latin typeface="Trenda IG Text" pitchFamily="34" charset="0"/>
                <a:ea typeface="Trenda IG Text" pitchFamily="34" charset="-122"/>
                <a:cs typeface="Trenda IG Text" pitchFamily="34" charset="-120"/>
              </a:rPr>
              <a:t>Capture</a:t>
            </a:r>
            <a:endParaRPr lang="en-US" sz="1400" dirty="0"/>
          </a:p>
        </p:txBody>
      </p:sp>
      <p:sp>
        <p:nvSpPr>
          <p:cNvPr id="9" name="Text 7"/>
          <p:cNvSpPr txBox="1"/>
          <p:nvPr/>
        </p:nvSpPr>
        <p:spPr>
          <a:xfrm>
            <a:off x="722376" y="2382012"/>
            <a:ext cx="3154680" cy="603504"/>
          </a:xfrm>
          <a:prstGeom prst="rect">
            <a:avLst/>
          </a:prstGeom>
          <a:noFill/>
          <a:ln/>
        </p:spPr>
        <p:txBody>
          <a:bodyPr wrap="square" lIns="0" tIns="0" rIns="0" bIns="0" rtlCol="0" anchor="t"/>
          <a:lstStyle/>
          <a:p>
            <a:pPr indent="0" marL="0">
              <a:lnSpc>
                <a:spcPts val="1300"/>
              </a:lnSpc>
              <a:buNone/>
            </a:pPr>
            <a:r>
              <a:rPr lang="en-US" sz="950" dirty="0">
                <a:solidFill>
                  <a:srgbClr val="E6EAF2"/>
                </a:solidFill>
                <a:latin typeface="Trenda IG Text" pitchFamily="34" charset="0"/>
                <a:ea typeface="Trenda IG Text" pitchFamily="34" charset="-122"/>
                <a:cs typeface="Trenda IG Text" pitchFamily="34" charset="-120"/>
              </a:rPr>
              <a:t>The email becomes a case, threaded to its history and acknowledged immediately.</a:t>
            </a:r>
            <a:endParaRPr lang="en-US" sz="950" dirty="0"/>
          </a:p>
        </p:txBody>
      </p:sp>
      <p:sp>
        <p:nvSpPr>
          <p:cNvPr id="10" name="Shape 8"/>
          <p:cNvSpPr/>
          <p:nvPr/>
        </p:nvSpPr>
        <p:spPr>
          <a:xfrm>
            <a:off x="722376" y="3058668"/>
            <a:ext cx="3154680" cy="402336"/>
          </a:xfrm>
          <a:prstGeom prst="roundRect">
            <a:avLst>
              <a:gd name="adj" fmla="val 13636"/>
            </a:avLst>
          </a:prstGeom>
          <a:solidFill>
            <a:srgbClr val="1A2130"/>
          </a:solidFill>
          <a:ln w="12700">
            <a:solidFill>
              <a:srgbClr val="252D3D"/>
            </a:solidFill>
            <a:prstDash val="solid"/>
          </a:ln>
        </p:spPr>
      </p:sp>
      <p:sp>
        <p:nvSpPr>
          <p:cNvPr id="11" name="Text 9"/>
          <p:cNvSpPr txBox="1"/>
          <p:nvPr/>
        </p:nvSpPr>
        <p:spPr>
          <a:xfrm>
            <a:off x="804672" y="3058668"/>
            <a:ext cx="2990088" cy="402336"/>
          </a:xfrm>
          <a:prstGeom prst="rect">
            <a:avLst/>
          </a:prstGeom>
          <a:noFill/>
          <a:ln/>
        </p:spPr>
        <p:txBody>
          <a:bodyPr wrap="square" lIns="0" tIns="0" rIns="0" bIns="0" rtlCol="0" anchor="ctr"/>
          <a:lstStyle/>
          <a:p>
            <a:pPr indent="0" marL="0">
              <a:lnSpc>
                <a:spcPts val="1050"/>
              </a:lnSpc>
              <a:buNone/>
            </a:pPr>
            <a:r>
              <a:rPr lang="en-US" sz="800" dirty="0">
                <a:solidFill>
                  <a:srgbClr val="22D3EE"/>
                </a:solidFill>
                <a:latin typeface="Trenda IG Text" pitchFamily="34" charset="0"/>
                <a:ea typeface="Trenda IG Text" pitchFamily="34" charset="-122"/>
                <a:cs typeface="Trenda IG Text" pitchFamily="34" charset="-120"/>
              </a:rPr>
              <a:t>Email to Case  ·  Auto Response  ·  Thread matching</a:t>
            </a:r>
            <a:endParaRPr lang="en-US" sz="800" dirty="0"/>
          </a:p>
        </p:txBody>
      </p:sp>
      <p:sp>
        <p:nvSpPr>
          <p:cNvPr id="12" name="Shape 10"/>
          <p:cNvSpPr/>
          <p:nvPr/>
        </p:nvSpPr>
        <p:spPr>
          <a:xfrm>
            <a:off x="4297680" y="1796796"/>
            <a:ext cx="3593592" cy="1847088"/>
          </a:xfrm>
          <a:prstGeom prst="roundRect">
            <a:avLst>
              <a:gd name="adj" fmla="val 1980"/>
            </a:avLst>
          </a:prstGeom>
          <a:solidFill>
            <a:srgbClr val="151A24"/>
          </a:solidFill>
          <a:ln w="12700">
            <a:solidFill>
              <a:srgbClr val="252D3D"/>
            </a:solidFill>
            <a:prstDash val="solid"/>
          </a:ln>
        </p:spPr>
      </p:sp>
      <p:sp>
        <p:nvSpPr>
          <p:cNvPr id="13" name="Shape 11"/>
          <p:cNvSpPr/>
          <p:nvPr/>
        </p:nvSpPr>
        <p:spPr>
          <a:xfrm>
            <a:off x="4517136" y="1997964"/>
            <a:ext cx="310896" cy="256032"/>
          </a:xfrm>
          <a:prstGeom prst="roundRect">
            <a:avLst>
              <a:gd name="adj" fmla="val 17857"/>
            </a:avLst>
          </a:prstGeom>
          <a:solidFill>
            <a:srgbClr val="0A0D14"/>
          </a:solidFill>
          <a:ln w="12700">
            <a:solidFill>
              <a:srgbClr val="22D3EE"/>
            </a:solidFill>
            <a:prstDash val="solid"/>
          </a:ln>
        </p:spPr>
      </p:sp>
      <p:sp>
        <p:nvSpPr>
          <p:cNvPr id="14" name="Text 12"/>
          <p:cNvSpPr txBox="1"/>
          <p:nvPr/>
        </p:nvSpPr>
        <p:spPr>
          <a:xfrm>
            <a:off x="4517136" y="1997964"/>
            <a:ext cx="310896" cy="256032"/>
          </a:xfrm>
          <a:prstGeom prst="rect">
            <a:avLst/>
          </a:prstGeom>
          <a:noFill/>
          <a:ln/>
        </p:spPr>
        <p:txBody>
          <a:bodyPr wrap="square" lIns="0" tIns="0" rIns="0" bIns="0" rtlCol="0" anchor="ctr"/>
          <a:lstStyle/>
          <a:p>
            <a:pPr algn="ctr" indent="0" marL="0">
              <a:buNone/>
            </a:pPr>
            <a:r>
              <a:rPr lang="en-US" sz="1050" b="1" dirty="0">
                <a:solidFill>
                  <a:srgbClr val="22D3EE"/>
                </a:solidFill>
                <a:latin typeface="Trenda IG Display" pitchFamily="34" charset="0"/>
                <a:ea typeface="Trenda IG Display" pitchFamily="34" charset="-122"/>
                <a:cs typeface="Trenda IG Display" pitchFamily="34" charset="-120"/>
              </a:rPr>
              <a:t>02</a:t>
            </a:r>
            <a:endParaRPr lang="en-US" sz="1050" dirty="0"/>
          </a:p>
        </p:txBody>
      </p:sp>
      <p:sp>
        <p:nvSpPr>
          <p:cNvPr id="15" name="Text 13"/>
          <p:cNvSpPr txBox="1"/>
          <p:nvPr/>
        </p:nvSpPr>
        <p:spPr>
          <a:xfrm>
            <a:off x="4919472" y="1997964"/>
            <a:ext cx="2752344" cy="256032"/>
          </a:xfrm>
          <a:prstGeom prst="rect">
            <a:avLst/>
          </a:prstGeom>
          <a:noFill/>
          <a:ln/>
        </p:spPr>
        <p:txBody>
          <a:bodyPr wrap="square" lIns="0" tIns="0" rIns="0" bIns="0" rtlCol="0" anchor="ctr"/>
          <a:lstStyle/>
          <a:p>
            <a:pPr indent="0" marL="0">
              <a:buNone/>
            </a:pPr>
            <a:r>
              <a:rPr lang="en-US" sz="1400" b="1" dirty="0">
                <a:solidFill>
                  <a:srgbClr val="FFFFFF"/>
                </a:solidFill>
                <a:latin typeface="Trenda IG Text" pitchFamily="34" charset="0"/>
                <a:ea typeface="Trenda IG Text" pitchFamily="34" charset="-122"/>
                <a:cs typeface="Trenda IG Text" pitchFamily="34" charset="-120"/>
              </a:rPr>
              <a:t>Understand</a:t>
            </a:r>
            <a:endParaRPr lang="en-US" sz="1400" dirty="0"/>
          </a:p>
        </p:txBody>
      </p:sp>
      <p:sp>
        <p:nvSpPr>
          <p:cNvPr id="16" name="Text 14"/>
          <p:cNvSpPr txBox="1"/>
          <p:nvPr/>
        </p:nvSpPr>
        <p:spPr>
          <a:xfrm>
            <a:off x="4517136" y="2382012"/>
            <a:ext cx="3154680" cy="603504"/>
          </a:xfrm>
          <a:prstGeom prst="rect">
            <a:avLst/>
          </a:prstGeom>
          <a:noFill/>
          <a:ln/>
        </p:spPr>
        <p:txBody>
          <a:bodyPr wrap="square" lIns="0" tIns="0" rIns="0" bIns="0" rtlCol="0" anchor="t"/>
          <a:lstStyle/>
          <a:p>
            <a:pPr indent="0" marL="0">
              <a:lnSpc>
                <a:spcPts val="1300"/>
              </a:lnSpc>
              <a:buNone/>
            </a:pPr>
            <a:r>
              <a:rPr lang="en-US" sz="950" dirty="0">
                <a:solidFill>
                  <a:srgbClr val="E6EAF2"/>
                </a:solidFill>
                <a:latin typeface="Trenda IG Text" pitchFamily="34" charset="0"/>
                <a:ea typeface="Trenda IG Text" pitchFamily="34" charset="-122"/>
                <a:cs typeface="Trenda IG Text" pitchFamily="34" charset="-120"/>
              </a:rPr>
              <a:t>The thread is read, classified and summarised, with order and account entities extracted.</a:t>
            </a:r>
            <a:endParaRPr lang="en-US" sz="950" dirty="0"/>
          </a:p>
        </p:txBody>
      </p:sp>
      <p:sp>
        <p:nvSpPr>
          <p:cNvPr id="17" name="Shape 15"/>
          <p:cNvSpPr/>
          <p:nvPr/>
        </p:nvSpPr>
        <p:spPr>
          <a:xfrm>
            <a:off x="4517136" y="3058668"/>
            <a:ext cx="3154680" cy="402336"/>
          </a:xfrm>
          <a:prstGeom prst="roundRect">
            <a:avLst>
              <a:gd name="adj" fmla="val 13636"/>
            </a:avLst>
          </a:prstGeom>
          <a:solidFill>
            <a:srgbClr val="1A2130"/>
          </a:solidFill>
          <a:ln w="12700">
            <a:solidFill>
              <a:srgbClr val="252D3D"/>
            </a:solidFill>
            <a:prstDash val="solid"/>
          </a:ln>
        </p:spPr>
      </p:sp>
      <p:sp>
        <p:nvSpPr>
          <p:cNvPr id="18" name="Text 16"/>
          <p:cNvSpPr txBox="1"/>
          <p:nvPr/>
        </p:nvSpPr>
        <p:spPr>
          <a:xfrm>
            <a:off x="4599432" y="3058668"/>
            <a:ext cx="2990088" cy="402336"/>
          </a:xfrm>
          <a:prstGeom prst="rect">
            <a:avLst/>
          </a:prstGeom>
          <a:noFill/>
          <a:ln/>
        </p:spPr>
        <p:txBody>
          <a:bodyPr wrap="square" lIns="0" tIns="0" rIns="0" bIns="0" rtlCol="0" anchor="ctr"/>
          <a:lstStyle/>
          <a:p>
            <a:pPr indent="0" marL="0">
              <a:lnSpc>
                <a:spcPts val="1050"/>
              </a:lnSpc>
              <a:buNone/>
            </a:pPr>
            <a:r>
              <a:rPr lang="en-US" sz="800" dirty="0">
                <a:solidFill>
                  <a:srgbClr val="22D3EE"/>
                </a:solidFill>
                <a:latin typeface="Trenda IG Text" pitchFamily="34" charset="0"/>
                <a:ea typeface="Trenda IG Text" pitchFamily="34" charset="-122"/>
                <a:cs typeface="Trenda IG Text" pitchFamily="34" charset="-120"/>
              </a:rPr>
              <a:t>Record Triggered Flow  ·  Prompt Template: Triage</a:t>
            </a:r>
            <a:endParaRPr lang="en-US" sz="800" dirty="0"/>
          </a:p>
        </p:txBody>
      </p:sp>
      <p:sp>
        <p:nvSpPr>
          <p:cNvPr id="19" name="Shape 17"/>
          <p:cNvSpPr/>
          <p:nvPr/>
        </p:nvSpPr>
        <p:spPr>
          <a:xfrm>
            <a:off x="8092440" y="1796796"/>
            <a:ext cx="3593592" cy="1847088"/>
          </a:xfrm>
          <a:prstGeom prst="roundRect">
            <a:avLst>
              <a:gd name="adj" fmla="val 1980"/>
            </a:avLst>
          </a:prstGeom>
          <a:solidFill>
            <a:srgbClr val="151A24"/>
          </a:solidFill>
          <a:ln w="12700">
            <a:solidFill>
              <a:srgbClr val="252D3D"/>
            </a:solidFill>
            <a:prstDash val="solid"/>
          </a:ln>
        </p:spPr>
      </p:sp>
      <p:sp>
        <p:nvSpPr>
          <p:cNvPr id="20" name="Shape 18"/>
          <p:cNvSpPr/>
          <p:nvPr/>
        </p:nvSpPr>
        <p:spPr>
          <a:xfrm>
            <a:off x="8311896" y="1997964"/>
            <a:ext cx="310896" cy="256032"/>
          </a:xfrm>
          <a:prstGeom prst="roundRect">
            <a:avLst>
              <a:gd name="adj" fmla="val 17857"/>
            </a:avLst>
          </a:prstGeom>
          <a:solidFill>
            <a:srgbClr val="0A0D14"/>
          </a:solidFill>
          <a:ln w="12700">
            <a:solidFill>
              <a:srgbClr val="22D3EE"/>
            </a:solidFill>
            <a:prstDash val="solid"/>
          </a:ln>
        </p:spPr>
      </p:sp>
      <p:sp>
        <p:nvSpPr>
          <p:cNvPr id="21" name="Text 19"/>
          <p:cNvSpPr txBox="1"/>
          <p:nvPr/>
        </p:nvSpPr>
        <p:spPr>
          <a:xfrm>
            <a:off x="8311896" y="1997964"/>
            <a:ext cx="310896" cy="256032"/>
          </a:xfrm>
          <a:prstGeom prst="rect">
            <a:avLst/>
          </a:prstGeom>
          <a:noFill/>
          <a:ln/>
        </p:spPr>
        <p:txBody>
          <a:bodyPr wrap="square" lIns="0" tIns="0" rIns="0" bIns="0" rtlCol="0" anchor="ctr"/>
          <a:lstStyle/>
          <a:p>
            <a:pPr algn="ctr" indent="0" marL="0">
              <a:buNone/>
            </a:pPr>
            <a:r>
              <a:rPr lang="en-US" sz="1050" b="1" dirty="0">
                <a:solidFill>
                  <a:srgbClr val="22D3EE"/>
                </a:solidFill>
                <a:latin typeface="Trenda IG Display" pitchFamily="34" charset="0"/>
                <a:ea typeface="Trenda IG Display" pitchFamily="34" charset="-122"/>
                <a:cs typeface="Trenda IG Display" pitchFamily="34" charset="-120"/>
              </a:rPr>
              <a:t>03</a:t>
            </a:r>
            <a:endParaRPr lang="en-US" sz="1050" dirty="0"/>
          </a:p>
        </p:txBody>
      </p:sp>
      <p:sp>
        <p:nvSpPr>
          <p:cNvPr id="22" name="Text 20"/>
          <p:cNvSpPr txBox="1"/>
          <p:nvPr/>
        </p:nvSpPr>
        <p:spPr>
          <a:xfrm>
            <a:off x="8714232" y="1997964"/>
            <a:ext cx="2752344" cy="256032"/>
          </a:xfrm>
          <a:prstGeom prst="rect">
            <a:avLst/>
          </a:prstGeom>
          <a:noFill/>
          <a:ln/>
        </p:spPr>
        <p:txBody>
          <a:bodyPr wrap="square" lIns="0" tIns="0" rIns="0" bIns="0" rtlCol="0" anchor="ctr"/>
          <a:lstStyle/>
          <a:p>
            <a:pPr indent="0" marL="0">
              <a:buNone/>
            </a:pPr>
            <a:r>
              <a:rPr lang="en-US" sz="1400" b="1" dirty="0">
                <a:solidFill>
                  <a:srgbClr val="FFFFFF"/>
                </a:solidFill>
                <a:latin typeface="Trenda IG Text" pitchFamily="34" charset="0"/>
                <a:ea typeface="Trenda IG Text" pitchFamily="34" charset="-122"/>
                <a:cs typeface="Trenda IG Text" pitchFamily="34" charset="-120"/>
              </a:rPr>
              <a:t>Route</a:t>
            </a:r>
            <a:endParaRPr lang="en-US" sz="1400" dirty="0"/>
          </a:p>
        </p:txBody>
      </p:sp>
      <p:sp>
        <p:nvSpPr>
          <p:cNvPr id="23" name="Text 21"/>
          <p:cNvSpPr txBox="1"/>
          <p:nvPr/>
        </p:nvSpPr>
        <p:spPr>
          <a:xfrm>
            <a:off x="8311896" y="2382012"/>
            <a:ext cx="3154680" cy="603504"/>
          </a:xfrm>
          <a:prstGeom prst="rect">
            <a:avLst/>
          </a:prstGeom>
          <a:noFill/>
          <a:ln/>
        </p:spPr>
        <p:txBody>
          <a:bodyPr wrap="square" lIns="0" tIns="0" rIns="0" bIns="0" rtlCol="0" anchor="t"/>
          <a:lstStyle/>
          <a:p>
            <a:pPr indent="0" marL="0">
              <a:lnSpc>
                <a:spcPts val="1300"/>
              </a:lnSpc>
              <a:buNone/>
            </a:pPr>
            <a:r>
              <a:rPr lang="en-US" sz="950" dirty="0">
                <a:solidFill>
                  <a:srgbClr val="E6EAF2"/>
                </a:solidFill>
                <a:latin typeface="Trenda IG Text" pitchFamily="34" charset="0"/>
                <a:ea typeface="Trenda IG Text" pitchFamily="34" charset="-122"/>
                <a:cs typeface="Trenda IG Text" pitchFamily="34" charset="-120"/>
              </a:rPr>
              <a:t>The case reaches an agent with the right skill, in the right queue, with capacity to take it.</a:t>
            </a:r>
            <a:endParaRPr lang="en-US" sz="950" dirty="0"/>
          </a:p>
        </p:txBody>
      </p:sp>
      <p:sp>
        <p:nvSpPr>
          <p:cNvPr id="24" name="Shape 22"/>
          <p:cNvSpPr/>
          <p:nvPr/>
        </p:nvSpPr>
        <p:spPr>
          <a:xfrm>
            <a:off x="8311896" y="3058668"/>
            <a:ext cx="3154680" cy="402336"/>
          </a:xfrm>
          <a:prstGeom prst="roundRect">
            <a:avLst>
              <a:gd name="adj" fmla="val 13636"/>
            </a:avLst>
          </a:prstGeom>
          <a:solidFill>
            <a:srgbClr val="1A2130"/>
          </a:solidFill>
          <a:ln w="12700">
            <a:solidFill>
              <a:srgbClr val="252D3D"/>
            </a:solidFill>
            <a:prstDash val="solid"/>
          </a:ln>
        </p:spPr>
      </p:sp>
      <p:sp>
        <p:nvSpPr>
          <p:cNvPr id="25" name="Text 23"/>
          <p:cNvSpPr txBox="1"/>
          <p:nvPr/>
        </p:nvSpPr>
        <p:spPr>
          <a:xfrm>
            <a:off x="8394192" y="3058668"/>
            <a:ext cx="2990088" cy="402336"/>
          </a:xfrm>
          <a:prstGeom prst="rect">
            <a:avLst/>
          </a:prstGeom>
          <a:noFill/>
          <a:ln/>
        </p:spPr>
        <p:txBody>
          <a:bodyPr wrap="square" lIns="0" tIns="0" rIns="0" bIns="0" rtlCol="0" anchor="ctr"/>
          <a:lstStyle/>
          <a:p>
            <a:pPr indent="0" marL="0">
              <a:lnSpc>
                <a:spcPts val="1050"/>
              </a:lnSpc>
              <a:buNone/>
            </a:pPr>
            <a:r>
              <a:rPr lang="en-US" sz="800" dirty="0">
                <a:solidFill>
                  <a:srgbClr val="22D3EE"/>
                </a:solidFill>
                <a:latin typeface="Trenda IG Text" pitchFamily="34" charset="0"/>
                <a:ea typeface="Trenda IG Text" pitchFamily="34" charset="-122"/>
                <a:cs typeface="Trenda IG Text" pitchFamily="34" charset="-120"/>
              </a:rPr>
              <a:t>Omni Channel  ·  Skills based routing  ·  Queues</a:t>
            </a:r>
            <a:endParaRPr lang="en-US" sz="800" dirty="0"/>
          </a:p>
        </p:txBody>
      </p:sp>
      <p:sp>
        <p:nvSpPr>
          <p:cNvPr id="26" name="Shape 24"/>
          <p:cNvSpPr/>
          <p:nvPr/>
        </p:nvSpPr>
        <p:spPr>
          <a:xfrm>
            <a:off x="502920" y="3845052"/>
            <a:ext cx="3593592" cy="1847088"/>
          </a:xfrm>
          <a:prstGeom prst="roundRect">
            <a:avLst>
              <a:gd name="adj" fmla="val 1980"/>
            </a:avLst>
          </a:prstGeom>
          <a:solidFill>
            <a:srgbClr val="151A24"/>
          </a:solidFill>
          <a:ln w="12700">
            <a:solidFill>
              <a:srgbClr val="252D3D"/>
            </a:solidFill>
            <a:prstDash val="solid"/>
          </a:ln>
        </p:spPr>
      </p:sp>
      <p:sp>
        <p:nvSpPr>
          <p:cNvPr id="27" name="Shape 25"/>
          <p:cNvSpPr/>
          <p:nvPr/>
        </p:nvSpPr>
        <p:spPr>
          <a:xfrm>
            <a:off x="722376" y="4046220"/>
            <a:ext cx="310896" cy="256032"/>
          </a:xfrm>
          <a:prstGeom prst="roundRect">
            <a:avLst>
              <a:gd name="adj" fmla="val 17857"/>
            </a:avLst>
          </a:prstGeom>
          <a:solidFill>
            <a:srgbClr val="0A0D14"/>
          </a:solidFill>
          <a:ln w="12700">
            <a:solidFill>
              <a:srgbClr val="22D3EE"/>
            </a:solidFill>
            <a:prstDash val="solid"/>
          </a:ln>
        </p:spPr>
      </p:sp>
      <p:sp>
        <p:nvSpPr>
          <p:cNvPr id="28" name="Text 26"/>
          <p:cNvSpPr txBox="1"/>
          <p:nvPr/>
        </p:nvSpPr>
        <p:spPr>
          <a:xfrm>
            <a:off x="722376" y="4046220"/>
            <a:ext cx="310896" cy="256032"/>
          </a:xfrm>
          <a:prstGeom prst="rect">
            <a:avLst/>
          </a:prstGeom>
          <a:noFill/>
          <a:ln/>
        </p:spPr>
        <p:txBody>
          <a:bodyPr wrap="square" lIns="0" tIns="0" rIns="0" bIns="0" rtlCol="0" anchor="ctr"/>
          <a:lstStyle/>
          <a:p>
            <a:pPr algn="ctr" indent="0" marL="0">
              <a:buNone/>
            </a:pPr>
            <a:r>
              <a:rPr lang="en-US" sz="1050" b="1" dirty="0">
                <a:solidFill>
                  <a:srgbClr val="22D3EE"/>
                </a:solidFill>
                <a:latin typeface="Trenda IG Display" pitchFamily="34" charset="0"/>
                <a:ea typeface="Trenda IG Display" pitchFamily="34" charset="-122"/>
                <a:cs typeface="Trenda IG Display" pitchFamily="34" charset="-120"/>
              </a:rPr>
              <a:t>04</a:t>
            </a:r>
            <a:endParaRPr lang="en-US" sz="1050" dirty="0"/>
          </a:p>
        </p:txBody>
      </p:sp>
      <p:sp>
        <p:nvSpPr>
          <p:cNvPr id="29" name="Text 27"/>
          <p:cNvSpPr txBox="1"/>
          <p:nvPr/>
        </p:nvSpPr>
        <p:spPr>
          <a:xfrm>
            <a:off x="1124712" y="4046220"/>
            <a:ext cx="2752344" cy="256032"/>
          </a:xfrm>
          <a:prstGeom prst="rect">
            <a:avLst/>
          </a:prstGeom>
          <a:noFill/>
          <a:ln/>
        </p:spPr>
        <p:txBody>
          <a:bodyPr wrap="square" lIns="0" tIns="0" rIns="0" bIns="0" rtlCol="0" anchor="ctr"/>
          <a:lstStyle/>
          <a:p>
            <a:pPr indent="0" marL="0">
              <a:buNone/>
            </a:pPr>
            <a:r>
              <a:rPr lang="en-US" sz="1400" b="1" dirty="0">
                <a:solidFill>
                  <a:srgbClr val="FFFFFF"/>
                </a:solidFill>
                <a:latin typeface="Trenda IG Text" pitchFamily="34" charset="0"/>
                <a:ea typeface="Trenda IG Text" pitchFamily="34" charset="-122"/>
                <a:cs typeface="Trenda IG Text" pitchFamily="34" charset="-120"/>
              </a:rPr>
              <a:t>Time</a:t>
            </a:r>
            <a:endParaRPr lang="en-US" sz="1400" dirty="0"/>
          </a:p>
        </p:txBody>
      </p:sp>
      <p:sp>
        <p:nvSpPr>
          <p:cNvPr id="30" name="Text 28"/>
          <p:cNvSpPr txBox="1"/>
          <p:nvPr/>
        </p:nvSpPr>
        <p:spPr>
          <a:xfrm>
            <a:off x="722376" y="4430268"/>
            <a:ext cx="3154680" cy="603504"/>
          </a:xfrm>
          <a:prstGeom prst="rect">
            <a:avLst/>
          </a:prstGeom>
          <a:noFill/>
          <a:ln/>
        </p:spPr>
        <p:txBody>
          <a:bodyPr wrap="square" lIns="0" tIns="0" rIns="0" bIns="0" rtlCol="0" anchor="t"/>
          <a:lstStyle/>
          <a:p>
            <a:pPr indent="0" marL="0">
              <a:lnSpc>
                <a:spcPts val="1300"/>
              </a:lnSpc>
              <a:buNone/>
            </a:pPr>
            <a:r>
              <a:rPr lang="en-US" sz="950" dirty="0">
                <a:solidFill>
                  <a:srgbClr val="E6EAF2"/>
                </a:solidFill>
                <a:latin typeface="Trenda IG Text" pitchFamily="34" charset="0"/>
                <a:ea typeface="Trenda IG Text" pitchFamily="34" charset="-122"/>
                <a:cs typeface="Trenda IG Text" pitchFamily="34" charset="-120"/>
              </a:rPr>
              <a:t>Two SLA clocks start against business hours, with escalation staged before breach.</a:t>
            </a:r>
            <a:endParaRPr lang="en-US" sz="950" dirty="0"/>
          </a:p>
        </p:txBody>
      </p:sp>
      <p:sp>
        <p:nvSpPr>
          <p:cNvPr id="31" name="Shape 29"/>
          <p:cNvSpPr/>
          <p:nvPr/>
        </p:nvSpPr>
        <p:spPr>
          <a:xfrm>
            <a:off x="722376" y="5106924"/>
            <a:ext cx="3154680" cy="402336"/>
          </a:xfrm>
          <a:prstGeom prst="roundRect">
            <a:avLst>
              <a:gd name="adj" fmla="val 13636"/>
            </a:avLst>
          </a:prstGeom>
          <a:solidFill>
            <a:srgbClr val="1A2130"/>
          </a:solidFill>
          <a:ln w="12700">
            <a:solidFill>
              <a:srgbClr val="252D3D"/>
            </a:solidFill>
            <a:prstDash val="solid"/>
          </a:ln>
        </p:spPr>
      </p:sp>
      <p:sp>
        <p:nvSpPr>
          <p:cNvPr id="32" name="Text 30"/>
          <p:cNvSpPr txBox="1"/>
          <p:nvPr/>
        </p:nvSpPr>
        <p:spPr>
          <a:xfrm>
            <a:off x="804672" y="5106924"/>
            <a:ext cx="2990088" cy="402336"/>
          </a:xfrm>
          <a:prstGeom prst="rect">
            <a:avLst/>
          </a:prstGeom>
          <a:noFill/>
          <a:ln/>
        </p:spPr>
        <p:txBody>
          <a:bodyPr wrap="square" lIns="0" tIns="0" rIns="0" bIns="0" rtlCol="0" anchor="ctr"/>
          <a:lstStyle/>
          <a:p>
            <a:pPr indent="0" marL="0">
              <a:lnSpc>
                <a:spcPts val="1050"/>
              </a:lnSpc>
              <a:buNone/>
            </a:pPr>
            <a:r>
              <a:rPr lang="en-US" sz="800" dirty="0">
                <a:solidFill>
                  <a:srgbClr val="22D3EE"/>
                </a:solidFill>
                <a:latin typeface="Trenda IG Text" pitchFamily="34" charset="0"/>
                <a:ea typeface="Trenda IG Text" pitchFamily="34" charset="-122"/>
                <a:cs typeface="Trenda IG Text" pitchFamily="34" charset="-120"/>
              </a:rPr>
              <a:t>Entitlements  ·  Milestones  ·  Time triggers</a:t>
            </a:r>
            <a:endParaRPr lang="en-US" sz="800" dirty="0"/>
          </a:p>
        </p:txBody>
      </p:sp>
      <p:sp>
        <p:nvSpPr>
          <p:cNvPr id="33" name="Shape 31"/>
          <p:cNvSpPr/>
          <p:nvPr/>
        </p:nvSpPr>
        <p:spPr>
          <a:xfrm>
            <a:off x="4297680" y="3845052"/>
            <a:ext cx="3593592" cy="1847088"/>
          </a:xfrm>
          <a:prstGeom prst="roundRect">
            <a:avLst>
              <a:gd name="adj" fmla="val 1980"/>
            </a:avLst>
          </a:prstGeom>
          <a:solidFill>
            <a:srgbClr val="151A24"/>
          </a:solidFill>
          <a:ln w="12700">
            <a:solidFill>
              <a:srgbClr val="252D3D"/>
            </a:solidFill>
            <a:prstDash val="solid"/>
          </a:ln>
        </p:spPr>
      </p:sp>
      <p:sp>
        <p:nvSpPr>
          <p:cNvPr id="34" name="Shape 32"/>
          <p:cNvSpPr/>
          <p:nvPr/>
        </p:nvSpPr>
        <p:spPr>
          <a:xfrm>
            <a:off x="4517136" y="4046220"/>
            <a:ext cx="310896" cy="256032"/>
          </a:xfrm>
          <a:prstGeom prst="roundRect">
            <a:avLst>
              <a:gd name="adj" fmla="val 17857"/>
            </a:avLst>
          </a:prstGeom>
          <a:solidFill>
            <a:srgbClr val="0A0D14"/>
          </a:solidFill>
          <a:ln w="12700">
            <a:solidFill>
              <a:srgbClr val="22D3EE"/>
            </a:solidFill>
            <a:prstDash val="solid"/>
          </a:ln>
        </p:spPr>
      </p:sp>
      <p:sp>
        <p:nvSpPr>
          <p:cNvPr id="35" name="Text 33"/>
          <p:cNvSpPr txBox="1"/>
          <p:nvPr/>
        </p:nvSpPr>
        <p:spPr>
          <a:xfrm>
            <a:off x="4517136" y="4046220"/>
            <a:ext cx="310896" cy="256032"/>
          </a:xfrm>
          <a:prstGeom prst="rect">
            <a:avLst/>
          </a:prstGeom>
          <a:noFill/>
          <a:ln/>
        </p:spPr>
        <p:txBody>
          <a:bodyPr wrap="square" lIns="0" tIns="0" rIns="0" bIns="0" rtlCol="0" anchor="ctr"/>
          <a:lstStyle/>
          <a:p>
            <a:pPr algn="ctr" indent="0" marL="0">
              <a:buNone/>
            </a:pPr>
            <a:r>
              <a:rPr lang="en-US" sz="1050" b="1" dirty="0">
                <a:solidFill>
                  <a:srgbClr val="22D3EE"/>
                </a:solidFill>
                <a:latin typeface="Trenda IG Display" pitchFamily="34" charset="0"/>
                <a:ea typeface="Trenda IG Display" pitchFamily="34" charset="-122"/>
                <a:cs typeface="Trenda IG Display" pitchFamily="34" charset="-120"/>
              </a:rPr>
              <a:t>05</a:t>
            </a:r>
            <a:endParaRPr lang="en-US" sz="1050" dirty="0"/>
          </a:p>
        </p:txBody>
      </p:sp>
      <p:sp>
        <p:nvSpPr>
          <p:cNvPr id="36" name="Text 34"/>
          <p:cNvSpPr txBox="1"/>
          <p:nvPr/>
        </p:nvSpPr>
        <p:spPr>
          <a:xfrm>
            <a:off x="4919472" y="4046220"/>
            <a:ext cx="2752344" cy="256032"/>
          </a:xfrm>
          <a:prstGeom prst="rect">
            <a:avLst/>
          </a:prstGeom>
          <a:noFill/>
          <a:ln/>
        </p:spPr>
        <p:txBody>
          <a:bodyPr wrap="square" lIns="0" tIns="0" rIns="0" bIns="0" rtlCol="0" anchor="ctr"/>
          <a:lstStyle/>
          <a:p>
            <a:pPr indent="0" marL="0">
              <a:buNone/>
            </a:pPr>
            <a:r>
              <a:rPr lang="en-US" sz="1400" b="1" dirty="0">
                <a:solidFill>
                  <a:srgbClr val="FFFFFF"/>
                </a:solidFill>
                <a:latin typeface="Trenda IG Text" pitchFamily="34" charset="0"/>
                <a:ea typeface="Trenda IG Text" pitchFamily="34" charset="-122"/>
                <a:cs typeface="Trenda IG Text" pitchFamily="34" charset="-120"/>
              </a:rPr>
              <a:t>Assist</a:t>
            </a:r>
            <a:endParaRPr lang="en-US" sz="1400" dirty="0"/>
          </a:p>
        </p:txBody>
      </p:sp>
      <p:sp>
        <p:nvSpPr>
          <p:cNvPr id="37" name="Text 35"/>
          <p:cNvSpPr txBox="1"/>
          <p:nvPr/>
        </p:nvSpPr>
        <p:spPr>
          <a:xfrm>
            <a:off x="4517136" y="4430268"/>
            <a:ext cx="3154680" cy="603504"/>
          </a:xfrm>
          <a:prstGeom prst="rect">
            <a:avLst/>
          </a:prstGeom>
          <a:noFill/>
          <a:ln/>
        </p:spPr>
        <p:txBody>
          <a:bodyPr wrap="square" lIns="0" tIns="0" rIns="0" bIns="0" rtlCol="0" anchor="t"/>
          <a:lstStyle/>
          <a:p>
            <a:pPr indent="0" marL="0">
              <a:lnSpc>
                <a:spcPts val="1300"/>
              </a:lnSpc>
              <a:buNone/>
            </a:pPr>
            <a:r>
              <a:rPr lang="en-US" sz="950" dirty="0">
                <a:solidFill>
                  <a:srgbClr val="E6EAF2"/>
                </a:solidFill>
                <a:latin typeface="Trenda IG Text" pitchFamily="34" charset="0"/>
                <a:ea typeface="Trenda IG Text" pitchFamily="34" charset="-122"/>
                <a:cs typeface="Trenda IG Text" pitchFamily="34" charset="-120"/>
              </a:rPr>
              <a:t>A grounded draft reply and a case summary are waiting when the agent opens the record.</a:t>
            </a:r>
            <a:endParaRPr lang="en-US" sz="950" dirty="0"/>
          </a:p>
        </p:txBody>
      </p:sp>
      <p:sp>
        <p:nvSpPr>
          <p:cNvPr id="38" name="Shape 36"/>
          <p:cNvSpPr/>
          <p:nvPr/>
        </p:nvSpPr>
        <p:spPr>
          <a:xfrm>
            <a:off x="4517136" y="5106924"/>
            <a:ext cx="3154680" cy="402336"/>
          </a:xfrm>
          <a:prstGeom prst="roundRect">
            <a:avLst>
              <a:gd name="adj" fmla="val 13636"/>
            </a:avLst>
          </a:prstGeom>
          <a:solidFill>
            <a:srgbClr val="1A2130"/>
          </a:solidFill>
          <a:ln w="12700">
            <a:solidFill>
              <a:srgbClr val="252D3D"/>
            </a:solidFill>
            <a:prstDash val="solid"/>
          </a:ln>
        </p:spPr>
      </p:sp>
      <p:sp>
        <p:nvSpPr>
          <p:cNvPr id="39" name="Text 37"/>
          <p:cNvSpPr txBox="1"/>
          <p:nvPr/>
        </p:nvSpPr>
        <p:spPr>
          <a:xfrm>
            <a:off x="4599432" y="5106924"/>
            <a:ext cx="2990088" cy="402336"/>
          </a:xfrm>
          <a:prstGeom prst="rect">
            <a:avLst/>
          </a:prstGeom>
          <a:noFill/>
          <a:ln/>
        </p:spPr>
        <p:txBody>
          <a:bodyPr wrap="square" lIns="0" tIns="0" rIns="0" bIns="0" rtlCol="0" anchor="ctr"/>
          <a:lstStyle/>
          <a:p>
            <a:pPr indent="0" marL="0">
              <a:lnSpc>
                <a:spcPts val="1050"/>
              </a:lnSpc>
              <a:buNone/>
            </a:pPr>
            <a:r>
              <a:rPr lang="en-US" sz="800" dirty="0">
                <a:solidFill>
                  <a:srgbClr val="22D3EE"/>
                </a:solidFill>
                <a:latin typeface="Trenda IG Text" pitchFamily="34" charset="0"/>
                <a:ea typeface="Trenda IG Text" pitchFamily="34" charset="-122"/>
                <a:cs typeface="Trenda IG Text" pitchFamily="34" charset="-120"/>
              </a:rPr>
              <a:t>Prompt Template: Draft  ·  Knowledge grounding</a:t>
            </a:r>
            <a:endParaRPr lang="en-US" sz="800" dirty="0"/>
          </a:p>
        </p:txBody>
      </p:sp>
      <p:sp>
        <p:nvSpPr>
          <p:cNvPr id="40" name="Shape 38"/>
          <p:cNvSpPr/>
          <p:nvPr/>
        </p:nvSpPr>
        <p:spPr>
          <a:xfrm>
            <a:off x="8092440" y="3845052"/>
            <a:ext cx="3593592" cy="1847088"/>
          </a:xfrm>
          <a:prstGeom prst="roundRect">
            <a:avLst>
              <a:gd name="adj" fmla="val 1980"/>
            </a:avLst>
          </a:prstGeom>
          <a:solidFill>
            <a:srgbClr val="151A24"/>
          </a:solidFill>
          <a:ln w="12700">
            <a:solidFill>
              <a:srgbClr val="252D3D"/>
            </a:solidFill>
            <a:prstDash val="solid"/>
          </a:ln>
        </p:spPr>
      </p:sp>
      <p:sp>
        <p:nvSpPr>
          <p:cNvPr id="41" name="Shape 39"/>
          <p:cNvSpPr/>
          <p:nvPr/>
        </p:nvSpPr>
        <p:spPr>
          <a:xfrm>
            <a:off x="8311896" y="4046220"/>
            <a:ext cx="310896" cy="256032"/>
          </a:xfrm>
          <a:prstGeom prst="roundRect">
            <a:avLst>
              <a:gd name="adj" fmla="val 17857"/>
            </a:avLst>
          </a:prstGeom>
          <a:solidFill>
            <a:srgbClr val="0A0D14"/>
          </a:solidFill>
          <a:ln w="12700">
            <a:solidFill>
              <a:srgbClr val="22D3EE"/>
            </a:solidFill>
            <a:prstDash val="solid"/>
          </a:ln>
        </p:spPr>
      </p:sp>
      <p:sp>
        <p:nvSpPr>
          <p:cNvPr id="42" name="Text 40"/>
          <p:cNvSpPr txBox="1"/>
          <p:nvPr/>
        </p:nvSpPr>
        <p:spPr>
          <a:xfrm>
            <a:off x="8311896" y="4046220"/>
            <a:ext cx="310896" cy="256032"/>
          </a:xfrm>
          <a:prstGeom prst="rect">
            <a:avLst/>
          </a:prstGeom>
          <a:noFill/>
          <a:ln/>
        </p:spPr>
        <p:txBody>
          <a:bodyPr wrap="square" lIns="0" tIns="0" rIns="0" bIns="0" rtlCol="0" anchor="ctr"/>
          <a:lstStyle/>
          <a:p>
            <a:pPr algn="ctr" indent="0" marL="0">
              <a:buNone/>
            </a:pPr>
            <a:r>
              <a:rPr lang="en-US" sz="1050" b="1" dirty="0">
                <a:solidFill>
                  <a:srgbClr val="22D3EE"/>
                </a:solidFill>
                <a:latin typeface="Trenda IG Display" pitchFamily="34" charset="0"/>
                <a:ea typeface="Trenda IG Display" pitchFamily="34" charset="-122"/>
                <a:cs typeface="Trenda IG Display" pitchFamily="34" charset="-120"/>
              </a:rPr>
              <a:t>06</a:t>
            </a:r>
            <a:endParaRPr lang="en-US" sz="1050" dirty="0"/>
          </a:p>
        </p:txBody>
      </p:sp>
      <p:sp>
        <p:nvSpPr>
          <p:cNvPr id="43" name="Text 41"/>
          <p:cNvSpPr txBox="1"/>
          <p:nvPr/>
        </p:nvSpPr>
        <p:spPr>
          <a:xfrm>
            <a:off x="8714232" y="4046220"/>
            <a:ext cx="2752344" cy="256032"/>
          </a:xfrm>
          <a:prstGeom prst="rect">
            <a:avLst/>
          </a:prstGeom>
          <a:noFill/>
          <a:ln/>
        </p:spPr>
        <p:txBody>
          <a:bodyPr wrap="square" lIns="0" tIns="0" rIns="0" bIns="0" rtlCol="0" anchor="ctr"/>
          <a:lstStyle/>
          <a:p>
            <a:pPr indent="0" marL="0">
              <a:buNone/>
            </a:pPr>
            <a:r>
              <a:rPr lang="en-US" sz="1400" b="1" dirty="0">
                <a:solidFill>
                  <a:srgbClr val="FFFFFF"/>
                </a:solidFill>
                <a:latin typeface="Trenda IG Text" pitchFamily="34" charset="0"/>
                <a:ea typeface="Trenda IG Text" pitchFamily="34" charset="-122"/>
                <a:cs typeface="Trenda IG Text" pitchFamily="34" charset="-120"/>
              </a:rPr>
              <a:t>Learn</a:t>
            </a:r>
            <a:endParaRPr lang="en-US" sz="1400" dirty="0"/>
          </a:p>
        </p:txBody>
      </p:sp>
      <p:sp>
        <p:nvSpPr>
          <p:cNvPr id="44" name="Text 42"/>
          <p:cNvSpPr txBox="1"/>
          <p:nvPr/>
        </p:nvSpPr>
        <p:spPr>
          <a:xfrm>
            <a:off x="8311896" y="4430268"/>
            <a:ext cx="3154680" cy="603504"/>
          </a:xfrm>
          <a:prstGeom prst="rect">
            <a:avLst/>
          </a:prstGeom>
          <a:noFill/>
          <a:ln/>
        </p:spPr>
        <p:txBody>
          <a:bodyPr wrap="square" lIns="0" tIns="0" rIns="0" bIns="0" rtlCol="0" anchor="t"/>
          <a:lstStyle/>
          <a:p>
            <a:pPr indent="0" marL="0">
              <a:lnSpc>
                <a:spcPts val="1300"/>
              </a:lnSpc>
              <a:buNone/>
            </a:pPr>
            <a:r>
              <a:rPr lang="en-US" sz="950" dirty="0">
                <a:solidFill>
                  <a:srgbClr val="E6EAF2"/>
                </a:solidFill>
                <a:latin typeface="Trenda IG Text" pitchFamily="34" charset="0"/>
                <a:ea typeface="Trenda IG Text" pitchFamily="34" charset="-122"/>
                <a:cs typeface="Trenda IG Text" pitchFamily="34" charset="-120"/>
              </a:rPr>
              <a:t>Closure, feedback and quality findings feed the knowledge base and the prompt library.</a:t>
            </a:r>
            <a:endParaRPr lang="en-US" sz="950" dirty="0"/>
          </a:p>
        </p:txBody>
      </p:sp>
      <p:sp>
        <p:nvSpPr>
          <p:cNvPr id="45" name="Shape 43"/>
          <p:cNvSpPr/>
          <p:nvPr/>
        </p:nvSpPr>
        <p:spPr>
          <a:xfrm>
            <a:off x="8311896" y="5106924"/>
            <a:ext cx="3154680" cy="402336"/>
          </a:xfrm>
          <a:prstGeom prst="roundRect">
            <a:avLst>
              <a:gd name="adj" fmla="val 13636"/>
            </a:avLst>
          </a:prstGeom>
          <a:solidFill>
            <a:srgbClr val="1A2130"/>
          </a:solidFill>
          <a:ln w="12700">
            <a:solidFill>
              <a:srgbClr val="252D3D"/>
            </a:solidFill>
            <a:prstDash val="solid"/>
          </a:ln>
        </p:spPr>
      </p:sp>
      <p:sp>
        <p:nvSpPr>
          <p:cNvPr id="46" name="Text 44"/>
          <p:cNvSpPr txBox="1"/>
          <p:nvPr/>
        </p:nvSpPr>
        <p:spPr>
          <a:xfrm>
            <a:off x="8394192" y="5106924"/>
            <a:ext cx="2990088" cy="402336"/>
          </a:xfrm>
          <a:prstGeom prst="rect">
            <a:avLst/>
          </a:prstGeom>
          <a:noFill/>
          <a:ln/>
        </p:spPr>
        <p:txBody>
          <a:bodyPr wrap="square" lIns="0" tIns="0" rIns="0" bIns="0" rtlCol="0" anchor="ctr"/>
          <a:lstStyle/>
          <a:p>
            <a:pPr indent="0" marL="0">
              <a:lnSpc>
                <a:spcPts val="1050"/>
              </a:lnSpc>
              <a:buNone/>
            </a:pPr>
            <a:r>
              <a:rPr lang="en-US" sz="800" dirty="0">
                <a:solidFill>
                  <a:srgbClr val="22D3EE"/>
                </a:solidFill>
                <a:latin typeface="Trenda IG Text" pitchFamily="34" charset="0"/>
                <a:ea typeface="Trenda IG Text" pitchFamily="34" charset="-122"/>
                <a:cs typeface="Trenda IG Text" pitchFamily="34" charset="-120"/>
              </a:rPr>
              <a:t>Surveys  ·  Dashboards  ·  Improvement backlog</a:t>
            </a:r>
            <a:endParaRPr lang="en-US" sz="800" dirty="0"/>
          </a:p>
        </p:txBody>
      </p:sp>
      <p:pic>
        <p:nvPicPr>
          <p:cNvPr id="47" name="Image 0" descr="assets/ig-mark.png">    </p:cNvPr>
          <p:cNvPicPr>
            <a:picLocks noChangeAspect="1"/>
          </p:cNvPicPr>
          <p:nvPr/>
        </p:nvPicPr>
        <p:blipFill>
          <a:blip r:embed="rId1"/>
          <a:stretch>
            <a:fillRect/>
          </a:stretch>
        </p:blipFill>
        <p:spPr>
          <a:xfrm>
            <a:off x="502920" y="6455664"/>
            <a:ext cx="420624" cy="144475"/>
          </a:xfrm>
          <a:prstGeom prst="rect">
            <a:avLst/>
          </a:prstGeom>
        </p:spPr>
      </p:pic>
      <p:sp>
        <p:nvSpPr>
          <p:cNvPr id="48" name="Text 45"/>
          <p:cNvSpPr txBox="1"/>
          <p:nvPr/>
        </p:nvSpPr>
        <p:spPr>
          <a:xfrm>
            <a:off x="11201400" y="6400800"/>
            <a:ext cx="484632" cy="237744"/>
          </a:xfrm>
          <a:prstGeom prst="rect">
            <a:avLst/>
          </a:prstGeom>
          <a:noFill/>
          <a:ln/>
        </p:spPr>
        <p:txBody>
          <a:bodyPr wrap="square" lIns="0" tIns="0" rIns="0" bIns="0" rtlCol="0" anchor="ctr"/>
          <a:lstStyle/>
          <a:p>
            <a:pPr algn="r" indent="0" marL="0">
              <a:buNone/>
            </a:pPr>
            <a:r>
              <a:rPr lang="en-US" sz="850" dirty="0">
                <a:solidFill>
                  <a:srgbClr val="8A94A6"/>
                </a:solidFill>
                <a:latin typeface="Trenda IG Text" pitchFamily="34" charset="0"/>
                <a:ea typeface="Trenda IG Text" pitchFamily="34" charset="-122"/>
                <a:cs typeface="Trenda IG Text" pitchFamily="34" charset="-120"/>
              </a:rPr>
              <a:t>5</a:t>
            </a:r>
            <a:endParaRPr lang="en-US" sz="85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0A0D14"/>
        </a:solidFill>
      </p:bgPr>
    </p:bg>
    <p:spTree>
      <p:nvGrpSpPr>
        <p:cNvPr id="1" name=""/>
        <p:cNvGrpSpPr/>
        <p:nvPr/>
      </p:nvGrpSpPr>
      <p:grpSpPr>
        <a:xfrm>
          <a:off x="0" y="0"/>
          <a:ext cx="0" cy="0"/>
          <a:chOff x="0" y="0"/>
          <a:chExt cx="0" cy="0"/>
        </a:xfrm>
      </p:grpSpPr>
      <p:sp>
        <p:nvSpPr>
          <p:cNvPr id="2" name="Text 0"/>
          <p:cNvSpPr txBox="1"/>
          <p:nvPr/>
        </p:nvSpPr>
        <p:spPr>
          <a:xfrm>
            <a:off x="502920" y="384048"/>
            <a:ext cx="11183112" cy="219456"/>
          </a:xfrm>
          <a:prstGeom prst="rect">
            <a:avLst/>
          </a:prstGeom>
          <a:noFill/>
          <a:ln/>
        </p:spPr>
        <p:txBody>
          <a:bodyPr wrap="square" lIns="0" tIns="0" rIns="0" bIns="0" rtlCol="0" anchor="ctr"/>
          <a:lstStyle/>
          <a:p>
            <a:pPr indent="0" marL="0">
              <a:buNone/>
            </a:pPr>
            <a:r>
              <a:rPr lang="en-US" sz="1000" b="1" spc="220" kern="0" dirty="0">
                <a:solidFill>
                  <a:srgbClr val="22D3EE"/>
                </a:solidFill>
                <a:latin typeface="Trenda IG Display" pitchFamily="34" charset="0"/>
                <a:ea typeface="Trenda IG Display" pitchFamily="34" charset="-122"/>
                <a:cs typeface="Trenda IG Display" pitchFamily="34" charset="-120"/>
              </a:rPr>
              <a:t>THE SOLUTION  |  02</a:t>
            </a:r>
            <a:endParaRPr lang="en-US" sz="1000" dirty="0"/>
          </a:p>
        </p:txBody>
      </p:sp>
      <p:sp>
        <p:nvSpPr>
          <p:cNvPr id="3" name="Text 1"/>
          <p:cNvSpPr txBox="1"/>
          <p:nvPr/>
        </p:nvSpPr>
        <p:spPr>
          <a:xfrm>
            <a:off x="502920" y="658368"/>
            <a:ext cx="11183112" cy="416052"/>
          </a:xfrm>
          <a:prstGeom prst="rect">
            <a:avLst/>
          </a:prstGeom>
          <a:noFill/>
          <a:ln/>
        </p:spPr>
        <p:txBody>
          <a:bodyPr wrap="square" lIns="0" tIns="0" rIns="0" bIns="0" rtlCol="0" anchor="ctr"/>
          <a:lstStyle/>
          <a:p>
            <a:pPr indent="0" marL="0">
              <a:lnSpc>
                <a:spcPts val="3016"/>
              </a:lnSpc>
              <a:buNone/>
            </a:pPr>
            <a:r>
              <a:rPr lang="en-US" sz="2600" b="1" spc="40" kern="0" dirty="0">
                <a:solidFill>
                  <a:srgbClr val="FFFFFF"/>
                </a:solidFill>
                <a:latin typeface="Trenda IG Display" pitchFamily="34" charset="0"/>
                <a:ea typeface="Trenda IG Display" pitchFamily="34" charset="-122"/>
                <a:cs typeface="Trenda IG Display" pitchFamily="34" charset="-120"/>
              </a:rPr>
              <a:t>HOW IT WORKS INSIDE MCKESSON SALESFORCE</a:t>
            </a:r>
            <a:endParaRPr lang="en-US" sz="2600" dirty="0"/>
          </a:p>
        </p:txBody>
      </p:sp>
      <p:sp>
        <p:nvSpPr>
          <p:cNvPr id="4" name="Text 2"/>
          <p:cNvSpPr txBox="1"/>
          <p:nvPr/>
        </p:nvSpPr>
        <p:spPr>
          <a:xfrm>
            <a:off x="502920" y="1156716"/>
            <a:ext cx="11183112" cy="384048"/>
          </a:xfrm>
          <a:prstGeom prst="rect">
            <a:avLst/>
          </a:prstGeom>
          <a:noFill/>
          <a:ln/>
        </p:spPr>
        <p:txBody>
          <a:bodyPr wrap="square" lIns="0" tIns="0" rIns="0" bIns="0" rtlCol="0" anchor="t"/>
          <a:lstStyle/>
          <a:p>
            <a:pPr indent="0" marL="0">
              <a:lnSpc>
                <a:spcPts val="1500"/>
              </a:lnSpc>
              <a:buNone/>
            </a:pPr>
            <a:r>
              <a:rPr lang="en-US" sz="1150" dirty="0">
                <a:solidFill>
                  <a:srgbClr val="8A94A6"/>
                </a:solidFill>
                <a:latin typeface="Trenda IG Text" pitchFamily="34" charset="0"/>
                <a:ea typeface="Trenda IG Text" pitchFamily="34" charset="-122"/>
                <a:cs typeface="Trenda IG Text" pitchFamily="34" charset="-120"/>
              </a:rPr>
              <a:t>One record triggered Flow orchestrates the case from creation to closure, calling Prompt Templates where language understanding is needed and deterministic rules where policy must be certain.</a:t>
            </a:r>
            <a:endParaRPr lang="en-US" sz="1150" dirty="0"/>
          </a:p>
        </p:txBody>
      </p:sp>
      <p:sp>
        <p:nvSpPr>
          <p:cNvPr id="5" name="Shape 3"/>
          <p:cNvSpPr/>
          <p:nvPr/>
        </p:nvSpPr>
        <p:spPr>
          <a:xfrm>
            <a:off x="502920" y="1796796"/>
            <a:ext cx="11183112" cy="310896"/>
          </a:xfrm>
          <a:prstGeom prst="roundRect">
            <a:avLst>
              <a:gd name="adj" fmla="val 11765"/>
            </a:avLst>
          </a:prstGeom>
          <a:solidFill>
            <a:srgbClr val="121A2A"/>
          </a:solidFill>
          <a:ln w="12700">
            <a:solidFill>
              <a:srgbClr val="252D3D"/>
            </a:solidFill>
            <a:prstDash val="solid"/>
          </a:ln>
        </p:spPr>
      </p:sp>
      <p:sp>
        <p:nvSpPr>
          <p:cNvPr id="6" name="Text 4"/>
          <p:cNvSpPr txBox="1"/>
          <p:nvPr/>
        </p:nvSpPr>
        <p:spPr>
          <a:xfrm>
            <a:off x="685800" y="1796796"/>
            <a:ext cx="10817352" cy="310896"/>
          </a:xfrm>
          <a:prstGeom prst="rect">
            <a:avLst/>
          </a:prstGeom>
          <a:noFill/>
          <a:ln/>
        </p:spPr>
        <p:txBody>
          <a:bodyPr wrap="square" lIns="0" tIns="0" rIns="0" bIns="0" rtlCol="0" anchor="ctr"/>
          <a:lstStyle/>
          <a:p>
            <a:pPr indent="0" marL="0">
              <a:buNone/>
            </a:pPr>
            <a:r>
              <a:rPr lang="en-US" sz="850" b="1" spc="140" kern="0" dirty="0">
                <a:solidFill>
                  <a:srgbClr val="22D3EE"/>
                </a:solidFill>
                <a:latin typeface="Trenda IG Text" pitchFamily="34" charset="0"/>
                <a:ea typeface="Trenda IG Text" pitchFamily="34" charset="-122"/>
                <a:cs typeface="Trenda IG Text" pitchFamily="34" charset="-120"/>
              </a:rPr>
              <a:t>SALESFORCE SERVICE CLOUD  ·  McKesson org  ·  Extended Care email queues</a:t>
            </a:r>
            <a:endParaRPr lang="en-US" sz="850" dirty="0"/>
          </a:p>
        </p:txBody>
      </p:sp>
      <p:sp>
        <p:nvSpPr>
          <p:cNvPr id="7" name="Shape 5"/>
          <p:cNvSpPr/>
          <p:nvPr/>
        </p:nvSpPr>
        <p:spPr>
          <a:xfrm>
            <a:off x="502920" y="2253996"/>
            <a:ext cx="1944014" cy="2907792"/>
          </a:xfrm>
          <a:prstGeom prst="roundRect">
            <a:avLst>
              <a:gd name="adj" fmla="val 1881"/>
            </a:avLst>
          </a:prstGeom>
          <a:solidFill>
            <a:srgbClr val="151A24"/>
          </a:solidFill>
          <a:ln w="12700">
            <a:solidFill>
              <a:srgbClr val="252D3D"/>
            </a:solidFill>
            <a:prstDash val="solid"/>
          </a:ln>
        </p:spPr>
      </p:sp>
      <p:sp>
        <p:nvSpPr>
          <p:cNvPr id="8" name="Shape 6"/>
          <p:cNvSpPr/>
          <p:nvPr/>
        </p:nvSpPr>
        <p:spPr>
          <a:xfrm>
            <a:off x="649224" y="2400300"/>
            <a:ext cx="274320" cy="228600"/>
          </a:xfrm>
          <a:prstGeom prst="roundRect">
            <a:avLst>
              <a:gd name="adj" fmla="val 20000"/>
            </a:avLst>
          </a:prstGeom>
          <a:solidFill>
            <a:srgbClr val="0A0D14"/>
          </a:solidFill>
          <a:ln w="12700">
            <a:solidFill>
              <a:srgbClr val="22D3EE"/>
            </a:solidFill>
            <a:prstDash val="solid"/>
          </a:ln>
        </p:spPr>
      </p:sp>
      <p:sp>
        <p:nvSpPr>
          <p:cNvPr id="9" name="Text 7"/>
          <p:cNvSpPr txBox="1"/>
          <p:nvPr/>
        </p:nvSpPr>
        <p:spPr>
          <a:xfrm>
            <a:off x="649224" y="2400300"/>
            <a:ext cx="274320" cy="228600"/>
          </a:xfrm>
          <a:prstGeom prst="rect">
            <a:avLst/>
          </a:prstGeom>
          <a:noFill/>
          <a:ln/>
        </p:spPr>
        <p:txBody>
          <a:bodyPr wrap="square" lIns="0" tIns="0" rIns="0" bIns="0" rtlCol="0" anchor="ctr"/>
          <a:lstStyle/>
          <a:p>
            <a:pPr algn="ctr" indent="0" marL="0">
              <a:buNone/>
            </a:pPr>
            <a:r>
              <a:rPr lang="en-US" sz="900" b="1" dirty="0">
                <a:solidFill>
                  <a:srgbClr val="22D3EE"/>
                </a:solidFill>
                <a:latin typeface="Trenda IG Display" pitchFamily="34" charset="0"/>
                <a:ea typeface="Trenda IG Display" pitchFamily="34" charset="-122"/>
                <a:cs typeface="Trenda IG Display" pitchFamily="34" charset="-120"/>
              </a:rPr>
              <a:t>01</a:t>
            </a:r>
            <a:endParaRPr lang="en-US" sz="900" dirty="0"/>
          </a:p>
        </p:txBody>
      </p:sp>
      <p:sp>
        <p:nvSpPr>
          <p:cNvPr id="10" name="Text 8"/>
          <p:cNvSpPr txBox="1"/>
          <p:nvPr/>
        </p:nvSpPr>
        <p:spPr>
          <a:xfrm>
            <a:off x="978408" y="2400300"/>
            <a:ext cx="1322222" cy="228600"/>
          </a:xfrm>
          <a:prstGeom prst="rect">
            <a:avLst/>
          </a:prstGeom>
          <a:noFill/>
          <a:ln/>
        </p:spPr>
        <p:txBody>
          <a:bodyPr wrap="square" lIns="0" tIns="0" rIns="0" bIns="0" rtlCol="0" anchor="ctr"/>
          <a:lstStyle/>
          <a:p>
            <a:pPr indent="0" marL="0">
              <a:buNone/>
            </a:pPr>
            <a:r>
              <a:rPr lang="en-US" sz="950" b="1" spc="60" kern="0" dirty="0">
                <a:solidFill>
                  <a:srgbClr val="FFFFFF"/>
                </a:solidFill>
                <a:latin typeface="Trenda IG Text" pitchFamily="34" charset="0"/>
                <a:ea typeface="Trenda IG Text" pitchFamily="34" charset="-122"/>
                <a:cs typeface="Trenda IG Text" pitchFamily="34" charset="-120"/>
              </a:rPr>
              <a:t>CAPTURE</a:t>
            </a:r>
            <a:endParaRPr lang="en-US" sz="950" dirty="0"/>
          </a:p>
        </p:txBody>
      </p:sp>
      <p:sp>
        <p:nvSpPr>
          <p:cNvPr id="11" name="Shape 9"/>
          <p:cNvSpPr/>
          <p:nvPr/>
        </p:nvSpPr>
        <p:spPr>
          <a:xfrm>
            <a:off x="649224" y="2766060"/>
            <a:ext cx="1651406" cy="475488"/>
          </a:xfrm>
          <a:prstGeom prst="roundRect">
            <a:avLst>
              <a:gd name="adj" fmla="val 11538"/>
            </a:avLst>
          </a:prstGeom>
          <a:solidFill>
            <a:srgbClr val="1A2130"/>
          </a:solidFill>
          <a:ln w="12700">
            <a:solidFill>
              <a:srgbClr val="252D3D"/>
            </a:solidFill>
            <a:prstDash val="solid"/>
          </a:ln>
        </p:spPr>
      </p:sp>
      <p:sp>
        <p:nvSpPr>
          <p:cNvPr id="12" name="Text 10"/>
          <p:cNvSpPr txBox="1"/>
          <p:nvPr/>
        </p:nvSpPr>
        <p:spPr>
          <a:xfrm>
            <a:off x="731520" y="2766060"/>
            <a:ext cx="1486814" cy="475488"/>
          </a:xfrm>
          <a:prstGeom prst="rect">
            <a:avLst/>
          </a:prstGeom>
          <a:noFill/>
          <a:ln/>
        </p:spPr>
        <p:txBody>
          <a:bodyPr wrap="square" lIns="0" tIns="0" rIns="0" bIns="0" rtlCol="0" anchor="ctr"/>
          <a:lstStyle/>
          <a:p>
            <a:pPr indent="0" marL="0">
              <a:lnSpc>
                <a:spcPts val="1100"/>
              </a:lnSpc>
              <a:buNone/>
            </a:pPr>
            <a:r>
              <a:rPr lang="en-US" sz="850" dirty="0">
                <a:solidFill>
                  <a:srgbClr val="E6EAF2"/>
                </a:solidFill>
                <a:latin typeface="Trenda IG Text" pitchFamily="34" charset="0"/>
                <a:ea typeface="Trenda IG Text" pitchFamily="34" charset="-122"/>
                <a:cs typeface="Trenda IG Text" pitchFamily="34" charset="-120"/>
              </a:rPr>
              <a:t>Email to Case</a:t>
            </a:r>
            <a:endParaRPr lang="en-US" sz="850" dirty="0"/>
          </a:p>
        </p:txBody>
      </p:sp>
      <p:sp>
        <p:nvSpPr>
          <p:cNvPr id="13" name="Shape 11"/>
          <p:cNvSpPr/>
          <p:nvPr/>
        </p:nvSpPr>
        <p:spPr>
          <a:xfrm>
            <a:off x="649224" y="3332988"/>
            <a:ext cx="1651406" cy="475488"/>
          </a:xfrm>
          <a:prstGeom prst="roundRect">
            <a:avLst>
              <a:gd name="adj" fmla="val 11538"/>
            </a:avLst>
          </a:prstGeom>
          <a:solidFill>
            <a:srgbClr val="1A2130"/>
          </a:solidFill>
          <a:ln w="12700">
            <a:solidFill>
              <a:srgbClr val="252D3D"/>
            </a:solidFill>
            <a:prstDash val="solid"/>
          </a:ln>
        </p:spPr>
      </p:sp>
      <p:sp>
        <p:nvSpPr>
          <p:cNvPr id="14" name="Text 12"/>
          <p:cNvSpPr txBox="1"/>
          <p:nvPr/>
        </p:nvSpPr>
        <p:spPr>
          <a:xfrm>
            <a:off x="731520" y="3332988"/>
            <a:ext cx="1486814" cy="475488"/>
          </a:xfrm>
          <a:prstGeom prst="rect">
            <a:avLst/>
          </a:prstGeom>
          <a:noFill/>
          <a:ln/>
        </p:spPr>
        <p:txBody>
          <a:bodyPr wrap="square" lIns="0" tIns="0" rIns="0" bIns="0" rtlCol="0" anchor="ctr"/>
          <a:lstStyle/>
          <a:p>
            <a:pPr indent="0" marL="0">
              <a:lnSpc>
                <a:spcPts val="1100"/>
              </a:lnSpc>
              <a:buNone/>
            </a:pPr>
            <a:r>
              <a:rPr lang="en-US" sz="850" dirty="0">
                <a:solidFill>
                  <a:srgbClr val="E6EAF2"/>
                </a:solidFill>
                <a:latin typeface="Trenda IG Text" pitchFamily="34" charset="0"/>
                <a:ea typeface="Trenda IG Text" pitchFamily="34" charset="-122"/>
                <a:cs typeface="Trenda IG Text" pitchFamily="34" charset="-120"/>
              </a:rPr>
              <a:t>Thread ID matching</a:t>
            </a:r>
            <a:endParaRPr lang="en-US" sz="850" dirty="0"/>
          </a:p>
        </p:txBody>
      </p:sp>
      <p:sp>
        <p:nvSpPr>
          <p:cNvPr id="15" name="Shape 13"/>
          <p:cNvSpPr/>
          <p:nvPr/>
        </p:nvSpPr>
        <p:spPr>
          <a:xfrm>
            <a:off x="649224" y="3899916"/>
            <a:ext cx="1651406" cy="475488"/>
          </a:xfrm>
          <a:prstGeom prst="roundRect">
            <a:avLst>
              <a:gd name="adj" fmla="val 11538"/>
            </a:avLst>
          </a:prstGeom>
          <a:solidFill>
            <a:srgbClr val="1A2130"/>
          </a:solidFill>
          <a:ln w="12700">
            <a:solidFill>
              <a:srgbClr val="252D3D"/>
            </a:solidFill>
            <a:prstDash val="solid"/>
          </a:ln>
        </p:spPr>
      </p:sp>
      <p:sp>
        <p:nvSpPr>
          <p:cNvPr id="16" name="Text 14"/>
          <p:cNvSpPr txBox="1"/>
          <p:nvPr/>
        </p:nvSpPr>
        <p:spPr>
          <a:xfrm>
            <a:off x="731520" y="3899916"/>
            <a:ext cx="1486814" cy="475488"/>
          </a:xfrm>
          <a:prstGeom prst="rect">
            <a:avLst/>
          </a:prstGeom>
          <a:noFill/>
          <a:ln/>
        </p:spPr>
        <p:txBody>
          <a:bodyPr wrap="square" lIns="0" tIns="0" rIns="0" bIns="0" rtlCol="0" anchor="ctr"/>
          <a:lstStyle/>
          <a:p>
            <a:pPr indent="0" marL="0">
              <a:lnSpc>
                <a:spcPts val="1100"/>
              </a:lnSpc>
              <a:buNone/>
            </a:pPr>
            <a:r>
              <a:rPr lang="en-US" sz="850" dirty="0">
                <a:solidFill>
                  <a:srgbClr val="E6EAF2"/>
                </a:solidFill>
                <a:latin typeface="Trenda IG Text" pitchFamily="34" charset="0"/>
                <a:ea typeface="Trenda IG Text" pitchFamily="34" charset="-122"/>
                <a:cs typeface="Trenda IG Text" pitchFamily="34" charset="-120"/>
              </a:rPr>
              <a:t>Duplicate check</a:t>
            </a:r>
            <a:endParaRPr lang="en-US" sz="850" dirty="0"/>
          </a:p>
        </p:txBody>
      </p:sp>
      <p:sp>
        <p:nvSpPr>
          <p:cNvPr id="17" name="Shape 15"/>
          <p:cNvSpPr/>
          <p:nvPr/>
        </p:nvSpPr>
        <p:spPr>
          <a:xfrm>
            <a:off x="649224" y="4466844"/>
            <a:ext cx="1651406" cy="475488"/>
          </a:xfrm>
          <a:prstGeom prst="roundRect">
            <a:avLst>
              <a:gd name="adj" fmla="val 11538"/>
            </a:avLst>
          </a:prstGeom>
          <a:solidFill>
            <a:srgbClr val="1A2130"/>
          </a:solidFill>
          <a:ln w="12700">
            <a:solidFill>
              <a:srgbClr val="252D3D"/>
            </a:solidFill>
            <a:prstDash val="solid"/>
          </a:ln>
        </p:spPr>
      </p:sp>
      <p:sp>
        <p:nvSpPr>
          <p:cNvPr id="18" name="Text 16"/>
          <p:cNvSpPr txBox="1"/>
          <p:nvPr/>
        </p:nvSpPr>
        <p:spPr>
          <a:xfrm>
            <a:off x="731520" y="4466844"/>
            <a:ext cx="1486814" cy="475488"/>
          </a:xfrm>
          <a:prstGeom prst="rect">
            <a:avLst/>
          </a:prstGeom>
          <a:noFill/>
          <a:ln/>
        </p:spPr>
        <p:txBody>
          <a:bodyPr wrap="square" lIns="0" tIns="0" rIns="0" bIns="0" rtlCol="0" anchor="ctr"/>
          <a:lstStyle/>
          <a:p>
            <a:pPr indent="0" marL="0">
              <a:lnSpc>
                <a:spcPts val="1100"/>
              </a:lnSpc>
              <a:buNone/>
            </a:pPr>
            <a:r>
              <a:rPr lang="en-US" sz="850" dirty="0">
                <a:solidFill>
                  <a:srgbClr val="E6EAF2"/>
                </a:solidFill>
                <a:latin typeface="Trenda IG Text" pitchFamily="34" charset="0"/>
                <a:ea typeface="Trenda IG Text" pitchFamily="34" charset="-122"/>
                <a:cs typeface="Trenda IG Text" pitchFamily="34" charset="-120"/>
              </a:rPr>
              <a:t>Auto acknowledgement</a:t>
            </a:r>
            <a:endParaRPr lang="en-US" sz="850" dirty="0"/>
          </a:p>
        </p:txBody>
      </p:sp>
      <p:sp>
        <p:nvSpPr>
          <p:cNvPr id="19" name="Shape 17"/>
          <p:cNvSpPr/>
          <p:nvPr/>
        </p:nvSpPr>
        <p:spPr>
          <a:xfrm>
            <a:off x="2501798" y="3625596"/>
            <a:ext cx="256032" cy="164592"/>
          </a:xfrm>
          <a:prstGeom prst="rightArrow">
            <a:avLst/>
          </a:prstGeom>
          <a:solidFill>
            <a:srgbClr val="3A4459"/>
          </a:solidFill>
          <a:ln w="12700">
            <a:solidFill>
              <a:srgbClr val="3A4459"/>
            </a:solidFill>
            <a:prstDash val="solid"/>
          </a:ln>
        </p:spPr>
      </p:sp>
      <p:sp>
        <p:nvSpPr>
          <p:cNvPr id="20" name="Shape 18"/>
          <p:cNvSpPr/>
          <p:nvPr/>
        </p:nvSpPr>
        <p:spPr>
          <a:xfrm>
            <a:off x="2812694" y="2253996"/>
            <a:ext cx="1944014" cy="2907792"/>
          </a:xfrm>
          <a:prstGeom prst="roundRect">
            <a:avLst>
              <a:gd name="adj" fmla="val 1881"/>
            </a:avLst>
          </a:prstGeom>
          <a:solidFill>
            <a:srgbClr val="151A24"/>
          </a:solidFill>
          <a:ln w="12700">
            <a:solidFill>
              <a:srgbClr val="252D3D"/>
            </a:solidFill>
            <a:prstDash val="solid"/>
          </a:ln>
        </p:spPr>
      </p:sp>
      <p:sp>
        <p:nvSpPr>
          <p:cNvPr id="21" name="Shape 19"/>
          <p:cNvSpPr/>
          <p:nvPr/>
        </p:nvSpPr>
        <p:spPr>
          <a:xfrm>
            <a:off x="2958998" y="2400300"/>
            <a:ext cx="274320" cy="228600"/>
          </a:xfrm>
          <a:prstGeom prst="roundRect">
            <a:avLst>
              <a:gd name="adj" fmla="val 20000"/>
            </a:avLst>
          </a:prstGeom>
          <a:solidFill>
            <a:srgbClr val="0A0D14"/>
          </a:solidFill>
          <a:ln w="12700">
            <a:solidFill>
              <a:srgbClr val="22D3EE"/>
            </a:solidFill>
            <a:prstDash val="solid"/>
          </a:ln>
        </p:spPr>
      </p:sp>
      <p:sp>
        <p:nvSpPr>
          <p:cNvPr id="22" name="Text 20"/>
          <p:cNvSpPr txBox="1"/>
          <p:nvPr/>
        </p:nvSpPr>
        <p:spPr>
          <a:xfrm>
            <a:off x="2958998" y="2400300"/>
            <a:ext cx="274320" cy="228600"/>
          </a:xfrm>
          <a:prstGeom prst="rect">
            <a:avLst/>
          </a:prstGeom>
          <a:noFill/>
          <a:ln/>
        </p:spPr>
        <p:txBody>
          <a:bodyPr wrap="square" lIns="0" tIns="0" rIns="0" bIns="0" rtlCol="0" anchor="ctr"/>
          <a:lstStyle/>
          <a:p>
            <a:pPr algn="ctr" indent="0" marL="0">
              <a:buNone/>
            </a:pPr>
            <a:r>
              <a:rPr lang="en-US" sz="900" b="1" dirty="0">
                <a:solidFill>
                  <a:srgbClr val="22D3EE"/>
                </a:solidFill>
                <a:latin typeface="Trenda IG Display" pitchFamily="34" charset="0"/>
                <a:ea typeface="Trenda IG Display" pitchFamily="34" charset="-122"/>
                <a:cs typeface="Trenda IG Display" pitchFamily="34" charset="-120"/>
              </a:rPr>
              <a:t>02</a:t>
            </a:r>
            <a:endParaRPr lang="en-US" sz="900" dirty="0"/>
          </a:p>
        </p:txBody>
      </p:sp>
      <p:sp>
        <p:nvSpPr>
          <p:cNvPr id="23" name="Text 21"/>
          <p:cNvSpPr txBox="1"/>
          <p:nvPr/>
        </p:nvSpPr>
        <p:spPr>
          <a:xfrm>
            <a:off x="3288182" y="2400300"/>
            <a:ext cx="1322222" cy="228600"/>
          </a:xfrm>
          <a:prstGeom prst="rect">
            <a:avLst/>
          </a:prstGeom>
          <a:noFill/>
          <a:ln/>
        </p:spPr>
        <p:txBody>
          <a:bodyPr wrap="square" lIns="0" tIns="0" rIns="0" bIns="0" rtlCol="0" anchor="ctr"/>
          <a:lstStyle/>
          <a:p>
            <a:pPr indent="0" marL="0">
              <a:buNone/>
            </a:pPr>
            <a:r>
              <a:rPr lang="en-US" sz="950" b="1" spc="60" kern="0" dirty="0">
                <a:solidFill>
                  <a:srgbClr val="FFFFFF"/>
                </a:solidFill>
                <a:latin typeface="Trenda IG Text" pitchFamily="34" charset="0"/>
                <a:ea typeface="Trenda IG Text" pitchFamily="34" charset="-122"/>
                <a:cs typeface="Trenda IG Text" pitchFamily="34" charset="-120"/>
              </a:rPr>
              <a:t>UNDERSTAND</a:t>
            </a:r>
            <a:endParaRPr lang="en-US" sz="950" dirty="0"/>
          </a:p>
        </p:txBody>
      </p:sp>
      <p:sp>
        <p:nvSpPr>
          <p:cNvPr id="24" name="Shape 22"/>
          <p:cNvSpPr/>
          <p:nvPr/>
        </p:nvSpPr>
        <p:spPr>
          <a:xfrm>
            <a:off x="2958998" y="2766060"/>
            <a:ext cx="1651406" cy="475488"/>
          </a:xfrm>
          <a:prstGeom prst="roundRect">
            <a:avLst>
              <a:gd name="adj" fmla="val 11538"/>
            </a:avLst>
          </a:prstGeom>
          <a:solidFill>
            <a:srgbClr val="1A2130"/>
          </a:solidFill>
          <a:ln w="12700">
            <a:solidFill>
              <a:srgbClr val="252D3D"/>
            </a:solidFill>
            <a:prstDash val="solid"/>
          </a:ln>
        </p:spPr>
      </p:sp>
      <p:sp>
        <p:nvSpPr>
          <p:cNvPr id="25" name="Text 23"/>
          <p:cNvSpPr txBox="1"/>
          <p:nvPr/>
        </p:nvSpPr>
        <p:spPr>
          <a:xfrm>
            <a:off x="3041294" y="2766060"/>
            <a:ext cx="1486814" cy="475488"/>
          </a:xfrm>
          <a:prstGeom prst="rect">
            <a:avLst/>
          </a:prstGeom>
          <a:noFill/>
          <a:ln/>
        </p:spPr>
        <p:txBody>
          <a:bodyPr wrap="square" lIns="0" tIns="0" rIns="0" bIns="0" rtlCol="0" anchor="ctr"/>
          <a:lstStyle/>
          <a:p>
            <a:pPr indent="0" marL="0">
              <a:lnSpc>
                <a:spcPts val="1100"/>
              </a:lnSpc>
              <a:buNone/>
            </a:pPr>
            <a:r>
              <a:rPr lang="en-US" sz="850" dirty="0">
                <a:solidFill>
                  <a:srgbClr val="E6EAF2"/>
                </a:solidFill>
                <a:latin typeface="Trenda IG Text" pitchFamily="34" charset="0"/>
                <a:ea typeface="Trenda IG Text" pitchFamily="34" charset="-122"/>
                <a:cs typeface="Trenda IG Text" pitchFamily="34" charset="-120"/>
              </a:rPr>
              <a:t>Record Triggered Flow</a:t>
            </a:r>
            <a:endParaRPr lang="en-US" sz="850" dirty="0"/>
          </a:p>
        </p:txBody>
      </p:sp>
      <p:sp>
        <p:nvSpPr>
          <p:cNvPr id="26" name="Shape 24"/>
          <p:cNvSpPr/>
          <p:nvPr/>
        </p:nvSpPr>
        <p:spPr>
          <a:xfrm>
            <a:off x="2958998" y="3332988"/>
            <a:ext cx="1651406" cy="475488"/>
          </a:xfrm>
          <a:prstGeom prst="roundRect">
            <a:avLst>
              <a:gd name="adj" fmla="val 11538"/>
            </a:avLst>
          </a:prstGeom>
          <a:solidFill>
            <a:srgbClr val="1A2130"/>
          </a:solidFill>
          <a:ln w="12700">
            <a:solidFill>
              <a:srgbClr val="252D3D"/>
            </a:solidFill>
            <a:prstDash val="solid"/>
          </a:ln>
        </p:spPr>
      </p:sp>
      <p:sp>
        <p:nvSpPr>
          <p:cNvPr id="27" name="Text 25"/>
          <p:cNvSpPr txBox="1"/>
          <p:nvPr/>
        </p:nvSpPr>
        <p:spPr>
          <a:xfrm>
            <a:off x="3041294" y="3332988"/>
            <a:ext cx="1486814" cy="475488"/>
          </a:xfrm>
          <a:prstGeom prst="rect">
            <a:avLst/>
          </a:prstGeom>
          <a:noFill/>
          <a:ln/>
        </p:spPr>
        <p:txBody>
          <a:bodyPr wrap="square" lIns="0" tIns="0" rIns="0" bIns="0" rtlCol="0" anchor="ctr"/>
          <a:lstStyle/>
          <a:p>
            <a:pPr indent="0" marL="0">
              <a:lnSpc>
                <a:spcPts val="1100"/>
              </a:lnSpc>
              <a:buNone/>
            </a:pPr>
            <a:r>
              <a:rPr lang="en-US" sz="850" dirty="0">
                <a:solidFill>
                  <a:srgbClr val="E6EAF2"/>
                </a:solidFill>
                <a:latin typeface="Trenda IG Text" pitchFamily="34" charset="0"/>
                <a:ea typeface="Trenda IG Text" pitchFamily="34" charset="-122"/>
                <a:cs typeface="Trenda IG Text" pitchFamily="34" charset="-120"/>
              </a:rPr>
              <a:t>Prompt Template: Triage</a:t>
            </a:r>
            <a:endParaRPr lang="en-US" sz="850" dirty="0"/>
          </a:p>
        </p:txBody>
      </p:sp>
      <p:sp>
        <p:nvSpPr>
          <p:cNvPr id="28" name="Shape 26"/>
          <p:cNvSpPr/>
          <p:nvPr/>
        </p:nvSpPr>
        <p:spPr>
          <a:xfrm>
            <a:off x="2958998" y="3899916"/>
            <a:ext cx="1651406" cy="475488"/>
          </a:xfrm>
          <a:prstGeom prst="roundRect">
            <a:avLst>
              <a:gd name="adj" fmla="val 11538"/>
            </a:avLst>
          </a:prstGeom>
          <a:solidFill>
            <a:srgbClr val="1A2130"/>
          </a:solidFill>
          <a:ln w="12700">
            <a:solidFill>
              <a:srgbClr val="252D3D"/>
            </a:solidFill>
            <a:prstDash val="solid"/>
          </a:ln>
        </p:spPr>
      </p:sp>
      <p:sp>
        <p:nvSpPr>
          <p:cNvPr id="29" name="Text 27"/>
          <p:cNvSpPr txBox="1"/>
          <p:nvPr/>
        </p:nvSpPr>
        <p:spPr>
          <a:xfrm>
            <a:off x="3041294" y="3899916"/>
            <a:ext cx="1486814" cy="475488"/>
          </a:xfrm>
          <a:prstGeom prst="rect">
            <a:avLst/>
          </a:prstGeom>
          <a:noFill/>
          <a:ln/>
        </p:spPr>
        <p:txBody>
          <a:bodyPr wrap="square" lIns="0" tIns="0" rIns="0" bIns="0" rtlCol="0" anchor="ctr"/>
          <a:lstStyle/>
          <a:p>
            <a:pPr indent="0" marL="0">
              <a:lnSpc>
                <a:spcPts val="1100"/>
              </a:lnSpc>
              <a:buNone/>
            </a:pPr>
            <a:r>
              <a:rPr lang="en-US" sz="850" dirty="0">
                <a:solidFill>
                  <a:srgbClr val="E6EAF2"/>
                </a:solidFill>
                <a:latin typeface="Trenda IG Text" pitchFamily="34" charset="0"/>
                <a:ea typeface="Trenda IG Text" pitchFamily="34" charset="-122"/>
                <a:cs typeface="Trenda IG Text" pitchFamily="34" charset="-120"/>
              </a:rPr>
              <a:t>Deterministic guardrails</a:t>
            </a:r>
            <a:endParaRPr lang="en-US" sz="850" dirty="0"/>
          </a:p>
        </p:txBody>
      </p:sp>
      <p:sp>
        <p:nvSpPr>
          <p:cNvPr id="30" name="Shape 28"/>
          <p:cNvSpPr/>
          <p:nvPr/>
        </p:nvSpPr>
        <p:spPr>
          <a:xfrm>
            <a:off x="2958998" y="4466844"/>
            <a:ext cx="1651406" cy="475488"/>
          </a:xfrm>
          <a:prstGeom prst="roundRect">
            <a:avLst>
              <a:gd name="adj" fmla="val 11538"/>
            </a:avLst>
          </a:prstGeom>
          <a:solidFill>
            <a:srgbClr val="1A2130"/>
          </a:solidFill>
          <a:ln w="12700">
            <a:solidFill>
              <a:srgbClr val="252D3D"/>
            </a:solidFill>
            <a:prstDash val="solid"/>
          </a:ln>
        </p:spPr>
      </p:sp>
      <p:sp>
        <p:nvSpPr>
          <p:cNvPr id="31" name="Text 29"/>
          <p:cNvSpPr txBox="1"/>
          <p:nvPr/>
        </p:nvSpPr>
        <p:spPr>
          <a:xfrm>
            <a:off x="3041294" y="4466844"/>
            <a:ext cx="1486814" cy="475488"/>
          </a:xfrm>
          <a:prstGeom prst="rect">
            <a:avLst/>
          </a:prstGeom>
          <a:noFill/>
          <a:ln/>
        </p:spPr>
        <p:txBody>
          <a:bodyPr wrap="square" lIns="0" tIns="0" rIns="0" bIns="0" rtlCol="0" anchor="ctr"/>
          <a:lstStyle/>
          <a:p>
            <a:pPr indent="0" marL="0">
              <a:lnSpc>
                <a:spcPts val="1100"/>
              </a:lnSpc>
              <a:buNone/>
            </a:pPr>
            <a:r>
              <a:rPr lang="en-US" sz="850" dirty="0">
                <a:solidFill>
                  <a:srgbClr val="E6EAF2"/>
                </a:solidFill>
                <a:latin typeface="Trenda IG Text" pitchFamily="34" charset="0"/>
                <a:ea typeface="Trenda IG Text" pitchFamily="34" charset="-122"/>
                <a:cs typeface="Trenda IG Text" pitchFamily="34" charset="-120"/>
              </a:rPr>
              <a:t>Entity extraction</a:t>
            </a:r>
            <a:endParaRPr lang="en-US" sz="850" dirty="0"/>
          </a:p>
        </p:txBody>
      </p:sp>
      <p:sp>
        <p:nvSpPr>
          <p:cNvPr id="32" name="Shape 30"/>
          <p:cNvSpPr/>
          <p:nvPr/>
        </p:nvSpPr>
        <p:spPr>
          <a:xfrm>
            <a:off x="4811573" y="3625596"/>
            <a:ext cx="256032" cy="164592"/>
          </a:xfrm>
          <a:prstGeom prst="rightArrow">
            <a:avLst/>
          </a:prstGeom>
          <a:solidFill>
            <a:srgbClr val="3A4459"/>
          </a:solidFill>
          <a:ln w="12700">
            <a:solidFill>
              <a:srgbClr val="3A4459"/>
            </a:solidFill>
            <a:prstDash val="solid"/>
          </a:ln>
        </p:spPr>
      </p:sp>
      <p:sp>
        <p:nvSpPr>
          <p:cNvPr id="33" name="Shape 31"/>
          <p:cNvSpPr/>
          <p:nvPr/>
        </p:nvSpPr>
        <p:spPr>
          <a:xfrm>
            <a:off x="5122469" y="2253996"/>
            <a:ext cx="1944014" cy="2907792"/>
          </a:xfrm>
          <a:prstGeom prst="roundRect">
            <a:avLst>
              <a:gd name="adj" fmla="val 1881"/>
            </a:avLst>
          </a:prstGeom>
          <a:solidFill>
            <a:srgbClr val="151A24"/>
          </a:solidFill>
          <a:ln w="12700">
            <a:solidFill>
              <a:srgbClr val="252D3D"/>
            </a:solidFill>
            <a:prstDash val="solid"/>
          </a:ln>
        </p:spPr>
      </p:sp>
      <p:sp>
        <p:nvSpPr>
          <p:cNvPr id="34" name="Shape 32"/>
          <p:cNvSpPr/>
          <p:nvPr/>
        </p:nvSpPr>
        <p:spPr>
          <a:xfrm>
            <a:off x="5268773" y="2400300"/>
            <a:ext cx="274320" cy="228600"/>
          </a:xfrm>
          <a:prstGeom prst="roundRect">
            <a:avLst>
              <a:gd name="adj" fmla="val 20000"/>
            </a:avLst>
          </a:prstGeom>
          <a:solidFill>
            <a:srgbClr val="0A0D14"/>
          </a:solidFill>
          <a:ln w="12700">
            <a:solidFill>
              <a:srgbClr val="22D3EE"/>
            </a:solidFill>
            <a:prstDash val="solid"/>
          </a:ln>
        </p:spPr>
      </p:sp>
      <p:sp>
        <p:nvSpPr>
          <p:cNvPr id="35" name="Text 33"/>
          <p:cNvSpPr txBox="1"/>
          <p:nvPr/>
        </p:nvSpPr>
        <p:spPr>
          <a:xfrm>
            <a:off x="5268773" y="2400300"/>
            <a:ext cx="274320" cy="228600"/>
          </a:xfrm>
          <a:prstGeom prst="rect">
            <a:avLst/>
          </a:prstGeom>
          <a:noFill/>
          <a:ln/>
        </p:spPr>
        <p:txBody>
          <a:bodyPr wrap="square" lIns="0" tIns="0" rIns="0" bIns="0" rtlCol="0" anchor="ctr"/>
          <a:lstStyle/>
          <a:p>
            <a:pPr algn="ctr" indent="0" marL="0">
              <a:buNone/>
            </a:pPr>
            <a:r>
              <a:rPr lang="en-US" sz="900" b="1" dirty="0">
                <a:solidFill>
                  <a:srgbClr val="22D3EE"/>
                </a:solidFill>
                <a:latin typeface="Trenda IG Display" pitchFamily="34" charset="0"/>
                <a:ea typeface="Trenda IG Display" pitchFamily="34" charset="-122"/>
                <a:cs typeface="Trenda IG Display" pitchFamily="34" charset="-120"/>
              </a:rPr>
              <a:t>03</a:t>
            </a:r>
            <a:endParaRPr lang="en-US" sz="900" dirty="0"/>
          </a:p>
        </p:txBody>
      </p:sp>
      <p:sp>
        <p:nvSpPr>
          <p:cNvPr id="36" name="Text 34"/>
          <p:cNvSpPr txBox="1"/>
          <p:nvPr/>
        </p:nvSpPr>
        <p:spPr>
          <a:xfrm>
            <a:off x="5597957" y="2400300"/>
            <a:ext cx="1322222" cy="228600"/>
          </a:xfrm>
          <a:prstGeom prst="rect">
            <a:avLst/>
          </a:prstGeom>
          <a:noFill/>
          <a:ln/>
        </p:spPr>
        <p:txBody>
          <a:bodyPr wrap="square" lIns="0" tIns="0" rIns="0" bIns="0" rtlCol="0" anchor="ctr"/>
          <a:lstStyle/>
          <a:p>
            <a:pPr indent="0" marL="0">
              <a:buNone/>
            </a:pPr>
            <a:r>
              <a:rPr lang="en-US" sz="950" b="1" spc="60" kern="0" dirty="0">
                <a:solidFill>
                  <a:srgbClr val="FFFFFF"/>
                </a:solidFill>
                <a:latin typeface="Trenda IG Text" pitchFamily="34" charset="0"/>
                <a:ea typeface="Trenda IG Text" pitchFamily="34" charset="-122"/>
                <a:cs typeface="Trenda IG Text" pitchFamily="34" charset="-120"/>
              </a:rPr>
              <a:t>ROUTE &amp; TIME</a:t>
            </a:r>
            <a:endParaRPr lang="en-US" sz="950" dirty="0"/>
          </a:p>
        </p:txBody>
      </p:sp>
      <p:sp>
        <p:nvSpPr>
          <p:cNvPr id="37" name="Shape 35"/>
          <p:cNvSpPr/>
          <p:nvPr/>
        </p:nvSpPr>
        <p:spPr>
          <a:xfrm>
            <a:off x="5268773" y="2766060"/>
            <a:ext cx="1651406" cy="475488"/>
          </a:xfrm>
          <a:prstGeom prst="roundRect">
            <a:avLst>
              <a:gd name="adj" fmla="val 11538"/>
            </a:avLst>
          </a:prstGeom>
          <a:solidFill>
            <a:srgbClr val="1A2130"/>
          </a:solidFill>
          <a:ln w="12700">
            <a:solidFill>
              <a:srgbClr val="252D3D"/>
            </a:solidFill>
            <a:prstDash val="solid"/>
          </a:ln>
        </p:spPr>
      </p:sp>
      <p:sp>
        <p:nvSpPr>
          <p:cNvPr id="38" name="Text 36"/>
          <p:cNvSpPr txBox="1"/>
          <p:nvPr/>
        </p:nvSpPr>
        <p:spPr>
          <a:xfrm>
            <a:off x="5351069" y="2766060"/>
            <a:ext cx="1486814" cy="475488"/>
          </a:xfrm>
          <a:prstGeom prst="rect">
            <a:avLst/>
          </a:prstGeom>
          <a:noFill/>
          <a:ln/>
        </p:spPr>
        <p:txBody>
          <a:bodyPr wrap="square" lIns="0" tIns="0" rIns="0" bIns="0" rtlCol="0" anchor="ctr"/>
          <a:lstStyle/>
          <a:p>
            <a:pPr indent="0" marL="0">
              <a:lnSpc>
                <a:spcPts val="1100"/>
              </a:lnSpc>
              <a:buNone/>
            </a:pPr>
            <a:r>
              <a:rPr lang="en-US" sz="850" dirty="0">
                <a:solidFill>
                  <a:srgbClr val="E6EAF2"/>
                </a:solidFill>
                <a:latin typeface="Trenda IG Text" pitchFamily="34" charset="0"/>
                <a:ea typeface="Trenda IG Text" pitchFamily="34" charset="-122"/>
                <a:cs typeface="Trenda IG Text" pitchFamily="34" charset="-120"/>
              </a:rPr>
              <a:t>Omni Channel routing</a:t>
            </a:r>
            <a:endParaRPr lang="en-US" sz="850" dirty="0"/>
          </a:p>
        </p:txBody>
      </p:sp>
      <p:sp>
        <p:nvSpPr>
          <p:cNvPr id="39" name="Shape 37"/>
          <p:cNvSpPr/>
          <p:nvPr/>
        </p:nvSpPr>
        <p:spPr>
          <a:xfrm>
            <a:off x="5268773" y="3332988"/>
            <a:ext cx="1651406" cy="475488"/>
          </a:xfrm>
          <a:prstGeom prst="roundRect">
            <a:avLst>
              <a:gd name="adj" fmla="val 11538"/>
            </a:avLst>
          </a:prstGeom>
          <a:solidFill>
            <a:srgbClr val="1A2130"/>
          </a:solidFill>
          <a:ln w="12700">
            <a:solidFill>
              <a:srgbClr val="252D3D"/>
            </a:solidFill>
            <a:prstDash val="solid"/>
          </a:ln>
        </p:spPr>
      </p:sp>
      <p:sp>
        <p:nvSpPr>
          <p:cNvPr id="40" name="Text 38"/>
          <p:cNvSpPr txBox="1"/>
          <p:nvPr/>
        </p:nvSpPr>
        <p:spPr>
          <a:xfrm>
            <a:off x="5351069" y="3332988"/>
            <a:ext cx="1486814" cy="475488"/>
          </a:xfrm>
          <a:prstGeom prst="rect">
            <a:avLst/>
          </a:prstGeom>
          <a:noFill/>
          <a:ln/>
        </p:spPr>
        <p:txBody>
          <a:bodyPr wrap="square" lIns="0" tIns="0" rIns="0" bIns="0" rtlCol="0" anchor="ctr"/>
          <a:lstStyle/>
          <a:p>
            <a:pPr indent="0" marL="0">
              <a:lnSpc>
                <a:spcPts val="1100"/>
              </a:lnSpc>
              <a:buNone/>
            </a:pPr>
            <a:r>
              <a:rPr lang="en-US" sz="850" dirty="0">
                <a:solidFill>
                  <a:srgbClr val="E6EAF2"/>
                </a:solidFill>
                <a:latin typeface="Trenda IG Text" pitchFamily="34" charset="0"/>
                <a:ea typeface="Trenda IG Text" pitchFamily="34" charset="-122"/>
                <a:cs typeface="Trenda IG Text" pitchFamily="34" charset="-120"/>
              </a:rPr>
              <a:t>Skills and capacity</a:t>
            </a:r>
            <a:endParaRPr lang="en-US" sz="850" dirty="0"/>
          </a:p>
        </p:txBody>
      </p:sp>
      <p:sp>
        <p:nvSpPr>
          <p:cNvPr id="41" name="Shape 39"/>
          <p:cNvSpPr/>
          <p:nvPr/>
        </p:nvSpPr>
        <p:spPr>
          <a:xfrm>
            <a:off x="5268773" y="3899916"/>
            <a:ext cx="1651406" cy="475488"/>
          </a:xfrm>
          <a:prstGeom prst="roundRect">
            <a:avLst>
              <a:gd name="adj" fmla="val 11538"/>
            </a:avLst>
          </a:prstGeom>
          <a:solidFill>
            <a:srgbClr val="1A2130"/>
          </a:solidFill>
          <a:ln w="12700">
            <a:solidFill>
              <a:srgbClr val="252D3D"/>
            </a:solidFill>
            <a:prstDash val="solid"/>
          </a:ln>
        </p:spPr>
      </p:sp>
      <p:sp>
        <p:nvSpPr>
          <p:cNvPr id="42" name="Text 40"/>
          <p:cNvSpPr txBox="1"/>
          <p:nvPr/>
        </p:nvSpPr>
        <p:spPr>
          <a:xfrm>
            <a:off x="5351069" y="3899916"/>
            <a:ext cx="1486814" cy="475488"/>
          </a:xfrm>
          <a:prstGeom prst="rect">
            <a:avLst/>
          </a:prstGeom>
          <a:noFill/>
          <a:ln/>
        </p:spPr>
        <p:txBody>
          <a:bodyPr wrap="square" lIns="0" tIns="0" rIns="0" bIns="0" rtlCol="0" anchor="ctr"/>
          <a:lstStyle/>
          <a:p>
            <a:pPr indent="0" marL="0">
              <a:lnSpc>
                <a:spcPts val="1100"/>
              </a:lnSpc>
              <a:buNone/>
            </a:pPr>
            <a:r>
              <a:rPr lang="en-US" sz="850" dirty="0">
                <a:solidFill>
                  <a:srgbClr val="E6EAF2"/>
                </a:solidFill>
                <a:latin typeface="Trenda IG Text" pitchFamily="34" charset="0"/>
                <a:ea typeface="Trenda IG Text" pitchFamily="34" charset="-122"/>
                <a:cs typeface="Trenda IG Text" pitchFamily="34" charset="-120"/>
              </a:rPr>
              <a:t>Entitlement Process</a:t>
            </a:r>
            <a:endParaRPr lang="en-US" sz="850" dirty="0"/>
          </a:p>
        </p:txBody>
      </p:sp>
      <p:sp>
        <p:nvSpPr>
          <p:cNvPr id="43" name="Shape 41"/>
          <p:cNvSpPr/>
          <p:nvPr/>
        </p:nvSpPr>
        <p:spPr>
          <a:xfrm>
            <a:off x="5268773" y="4466844"/>
            <a:ext cx="1651406" cy="475488"/>
          </a:xfrm>
          <a:prstGeom prst="roundRect">
            <a:avLst>
              <a:gd name="adj" fmla="val 11538"/>
            </a:avLst>
          </a:prstGeom>
          <a:solidFill>
            <a:srgbClr val="1A2130"/>
          </a:solidFill>
          <a:ln w="12700">
            <a:solidFill>
              <a:srgbClr val="252D3D"/>
            </a:solidFill>
            <a:prstDash val="solid"/>
          </a:ln>
        </p:spPr>
      </p:sp>
      <p:sp>
        <p:nvSpPr>
          <p:cNvPr id="44" name="Text 42"/>
          <p:cNvSpPr txBox="1"/>
          <p:nvPr/>
        </p:nvSpPr>
        <p:spPr>
          <a:xfrm>
            <a:off x="5351069" y="4466844"/>
            <a:ext cx="1486814" cy="475488"/>
          </a:xfrm>
          <a:prstGeom prst="rect">
            <a:avLst/>
          </a:prstGeom>
          <a:noFill/>
          <a:ln/>
        </p:spPr>
        <p:txBody>
          <a:bodyPr wrap="square" lIns="0" tIns="0" rIns="0" bIns="0" rtlCol="0" anchor="ctr"/>
          <a:lstStyle/>
          <a:p>
            <a:pPr indent="0" marL="0">
              <a:lnSpc>
                <a:spcPts val="1100"/>
              </a:lnSpc>
              <a:buNone/>
            </a:pPr>
            <a:r>
              <a:rPr lang="en-US" sz="850" dirty="0">
                <a:solidFill>
                  <a:srgbClr val="E6EAF2"/>
                </a:solidFill>
                <a:latin typeface="Trenda IG Text" pitchFamily="34" charset="0"/>
                <a:ea typeface="Trenda IG Text" pitchFamily="34" charset="-122"/>
                <a:cs typeface="Trenda IG Text" pitchFamily="34" charset="-120"/>
              </a:rPr>
              <a:t>First response + resolution</a:t>
            </a:r>
            <a:endParaRPr lang="en-US" sz="850" dirty="0"/>
          </a:p>
        </p:txBody>
      </p:sp>
      <p:sp>
        <p:nvSpPr>
          <p:cNvPr id="45" name="Shape 43"/>
          <p:cNvSpPr/>
          <p:nvPr/>
        </p:nvSpPr>
        <p:spPr>
          <a:xfrm>
            <a:off x="7121347" y="3625596"/>
            <a:ext cx="256032" cy="164592"/>
          </a:xfrm>
          <a:prstGeom prst="rightArrow">
            <a:avLst/>
          </a:prstGeom>
          <a:solidFill>
            <a:srgbClr val="3A4459"/>
          </a:solidFill>
          <a:ln w="12700">
            <a:solidFill>
              <a:srgbClr val="3A4459"/>
            </a:solidFill>
            <a:prstDash val="solid"/>
          </a:ln>
        </p:spPr>
      </p:sp>
      <p:sp>
        <p:nvSpPr>
          <p:cNvPr id="46" name="Shape 44"/>
          <p:cNvSpPr/>
          <p:nvPr/>
        </p:nvSpPr>
        <p:spPr>
          <a:xfrm>
            <a:off x="7432243" y="2253996"/>
            <a:ext cx="1944014" cy="2907792"/>
          </a:xfrm>
          <a:prstGeom prst="roundRect">
            <a:avLst>
              <a:gd name="adj" fmla="val 1881"/>
            </a:avLst>
          </a:prstGeom>
          <a:solidFill>
            <a:srgbClr val="151A24"/>
          </a:solidFill>
          <a:ln w="12700">
            <a:solidFill>
              <a:srgbClr val="252D3D"/>
            </a:solidFill>
            <a:prstDash val="solid"/>
          </a:ln>
        </p:spPr>
      </p:sp>
      <p:sp>
        <p:nvSpPr>
          <p:cNvPr id="47" name="Shape 45"/>
          <p:cNvSpPr/>
          <p:nvPr/>
        </p:nvSpPr>
        <p:spPr>
          <a:xfrm>
            <a:off x="7578547" y="2400300"/>
            <a:ext cx="274320" cy="228600"/>
          </a:xfrm>
          <a:prstGeom prst="roundRect">
            <a:avLst>
              <a:gd name="adj" fmla="val 20000"/>
            </a:avLst>
          </a:prstGeom>
          <a:solidFill>
            <a:srgbClr val="0A0D14"/>
          </a:solidFill>
          <a:ln w="12700">
            <a:solidFill>
              <a:srgbClr val="22D3EE"/>
            </a:solidFill>
            <a:prstDash val="solid"/>
          </a:ln>
        </p:spPr>
      </p:sp>
      <p:sp>
        <p:nvSpPr>
          <p:cNvPr id="48" name="Text 46"/>
          <p:cNvSpPr txBox="1"/>
          <p:nvPr/>
        </p:nvSpPr>
        <p:spPr>
          <a:xfrm>
            <a:off x="7578547" y="2400300"/>
            <a:ext cx="274320" cy="228600"/>
          </a:xfrm>
          <a:prstGeom prst="rect">
            <a:avLst/>
          </a:prstGeom>
          <a:noFill/>
          <a:ln/>
        </p:spPr>
        <p:txBody>
          <a:bodyPr wrap="square" lIns="0" tIns="0" rIns="0" bIns="0" rtlCol="0" anchor="ctr"/>
          <a:lstStyle/>
          <a:p>
            <a:pPr algn="ctr" indent="0" marL="0">
              <a:buNone/>
            </a:pPr>
            <a:r>
              <a:rPr lang="en-US" sz="900" b="1" dirty="0">
                <a:solidFill>
                  <a:srgbClr val="22D3EE"/>
                </a:solidFill>
                <a:latin typeface="Trenda IG Display" pitchFamily="34" charset="0"/>
                <a:ea typeface="Trenda IG Display" pitchFamily="34" charset="-122"/>
                <a:cs typeface="Trenda IG Display" pitchFamily="34" charset="-120"/>
              </a:rPr>
              <a:t>04</a:t>
            </a:r>
            <a:endParaRPr lang="en-US" sz="900" dirty="0"/>
          </a:p>
        </p:txBody>
      </p:sp>
      <p:sp>
        <p:nvSpPr>
          <p:cNvPr id="49" name="Text 47"/>
          <p:cNvSpPr txBox="1"/>
          <p:nvPr/>
        </p:nvSpPr>
        <p:spPr>
          <a:xfrm>
            <a:off x="7907731" y="2400300"/>
            <a:ext cx="1322222" cy="228600"/>
          </a:xfrm>
          <a:prstGeom prst="rect">
            <a:avLst/>
          </a:prstGeom>
          <a:noFill/>
          <a:ln/>
        </p:spPr>
        <p:txBody>
          <a:bodyPr wrap="square" lIns="0" tIns="0" rIns="0" bIns="0" rtlCol="0" anchor="ctr"/>
          <a:lstStyle/>
          <a:p>
            <a:pPr indent="0" marL="0">
              <a:buNone/>
            </a:pPr>
            <a:r>
              <a:rPr lang="en-US" sz="950" b="1" spc="60" kern="0" dirty="0">
                <a:solidFill>
                  <a:srgbClr val="FFFFFF"/>
                </a:solidFill>
                <a:latin typeface="Trenda IG Text" pitchFamily="34" charset="0"/>
                <a:ea typeface="Trenda IG Text" pitchFamily="34" charset="-122"/>
                <a:cs typeface="Trenda IG Text" pitchFamily="34" charset="-120"/>
              </a:rPr>
              <a:t>ASSIST</a:t>
            </a:r>
            <a:endParaRPr lang="en-US" sz="950" dirty="0"/>
          </a:p>
        </p:txBody>
      </p:sp>
      <p:sp>
        <p:nvSpPr>
          <p:cNvPr id="50" name="Shape 48"/>
          <p:cNvSpPr/>
          <p:nvPr/>
        </p:nvSpPr>
        <p:spPr>
          <a:xfrm>
            <a:off x="7578547" y="2766060"/>
            <a:ext cx="1651406" cy="475488"/>
          </a:xfrm>
          <a:prstGeom prst="roundRect">
            <a:avLst>
              <a:gd name="adj" fmla="val 11538"/>
            </a:avLst>
          </a:prstGeom>
          <a:solidFill>
            <a:srgbClr val="1A2130"/>
          </a:solidFill>
          <a:ln w="12700">
            <a:solidFill>
              <a:srgbClr val="252D3D"/>
            </a:solidFill>
            <a:prstDash val="solid"/>
          </a:ln>
        </p:spPr>
      </p:sp>
      <p:sp>
        <p:nvSpPr>
          <p:cNvPr id="51" name="Text 49"/>
          <p:cNvSpPr txBox="1"/>
          <p:nvPr/>
        </p:nvSpPr>
        <p:spPr>
          <a:xfrm>
            <a:off x="7660843" y="2766060"/>
            <a:ext cx="1486814" cy="475488"/>
          </a:xfrm>
          <a:prstGeom prst="rect">
            <a:avLst/>
          </a:prstGeom>
          <a:noFill/>
          <a:ln/>
        </p:spPr>
        <p:txBody>
          <a:bodyPr wrap="square" lIns="0" tIns="0" rIns="0" bIns="0" rtlCol="0" anchor="ctr"/>
          <a:lstStyle/>
          <a:p>
            <a:pPr indent="0" marL="0">
              <a:lnSpc>
                <a:spcPts val="1100"/>
              </a:lnSpc>
              <a:buNone/>
            </a:pPr>
            <a:r>
              <a:rPr lang="en-US" sz="850" dirty="0">
                <a:solidFill>
                  <a:srgbClr val="E6EAF2"/>
                </a:solidFill>
                <a:latin typeface="Trenda IG Text" pitchFamily="34" charset="0"/>
                <a:ea typeface="Trenda IG Text" pitchFamily="34" charset="-122"/>
                <a:cs typeface="Trenda IG Text" pitchFamily="34" charset="-120"/>
              </a:rPr>
              <a:t>Prompt Template: Draft</a:t>
            </a:r>
            <a:endParaRPr lang="en-US" sz="850" dirty="0"/>
          </a:p>
        </p:txBody>
      </p:sp>
      <p:sp>
        <p:nvSpPr>
          <p:cNvPr id="52" name="Shape 50"/>
          <p:cNvSpPr/>
          <p:nvPr/>
        </p:nvSpPr>
        <p:spPr>
          <a:xfrm>
            <a:off x="7578547" y="3332988"/>
            <a:ext cx="1651406" cy="475488"/>
          </a:xfrm>
          <a:prstGeom prst="roundRect">
            <a:avLst>
              <a:gd name="adj" fmla="val 11538"/>
            </a:avLst>
          </a:prstGeom>
          <a:solidFill>
            <a:srgbClr val="1A2130"/>
          </a:solidFill>
          <a:ln w="12700">
            <a:solidFill>
              <a:srgbClr val="252D3D"/>
            </a:solidFill>
            <a:prstDash val="solid"/>
          </a:ln>
        </p:spPr>
      </p:sp>
      <p:sp>
        <p:nvSpPr>
          <p:cNvPr id="53" name="Text 51"/>
          <p:cNvSpPr txBox="1"/>
          <p:nvPr/>
        </p:nvSpPr>
        <p:spPr>
          <a:xfrm>
            <a:off x="7660843" y="3332988"/>
            <a:ext cx="1486814" cy="475488"/>
          </a:xfrm>
          <a:prstGeom prst="rect">
            <a:avLst/>
          </a:prstGeom>
          <a:noFill/>
          <a:ln/>
        </p:spPr>
        <p:txBody>
          <a:bodyPr wrap="square" lIns="0" tIns="0" rIns="0" bIns="0" rtlCol="0" anchor="ctr"/>
          <a:lstStyle/>
          <a:p>
            <a:pPr indent="0" marL="0">
              <a:lnSpc>
                <a:spcPts val="1100"/>
              </a:lnSpc>
              <a:buNone/>
            </a:pPr>
            <a:r>
              <a:rPr lang="en-US" sz="850" dirty="0">
                <a:solidFill>
                  <a:srgbClr val="E6EAF2"/>
                </a:solidFill>
                <a:latin typeface="Trenda IG Text" pitchFamily="34" charset="0"/>
                <a:ea typeface="Trenda IG Text" pitchFamily="34" charset="-122"/>
                <a:cs typeface="Trenda IG Text" pitchFamily="34" charset="-120"/>
              </a:rPr>
              <a:t>Prompt Template: Summary</a:t>
            </a:r>
            <a:endParaRPr lang="en-US" sz="850" dirty="0"/>
          </a:p>
        </p:txBody>
      </p:sp>
      <p:sp>
        <p:nvSpPr>
          <p:cNvPr id="54" name="Shape 52"/>
          <p:cNvSpPr/>
          <p:nvPr/>
        </p:nvSpPr>
        <p:spPr>
          <a:xfrm>
            <a:off x="7578547" y="3899916"/>
            <a:ext cx="1651406" cy="475488"/>
          </a:xfrm>
          <a:prstGeom prst="roundRect">
            <a:avLst>
              <a:gd name="adj" fmla="val 11538"/>
            </a:avLst>
          </a:prstGeom>
          <a:solidFill>
            <a:srgbClr val="1A2130"/>
          </a:solidFill>
          <a:ln w="12700">
            <a:solidFill>
              <a:srgbClr val="252D3D"/>
            </a:solidFill>
            <a:prstDash val="solid"/>
          </a:ln>
        </p:spPr>
      </p:sp>
      <p:sp>
        <p:nvSpPr>
          <p:cNvPr id="55" name="Text 53"/>
          <p:cNvSpPr txBox="1"/>
          <p:nvPr/>
        </p:nvSpPr>
        <p:spPr>
          <a:xfrm>
            <a:off x="7660843" y="3899916"/>
            <a:ext cx="1486814" cy="475488"/>
          </a:xfrm>
          <a:prstGeom prst="rect">
            <a:avLst/>
          </a:prstGeom>
          <a:noFill/>
          <a:ln/>
        </p:spPr>
        <p:txBody>
          <a:bodyPr wrap="square" lIns="0" tIns="0" rIns="0" bIns="0" rtlCol="0" anchor="ctr"/>
          <a:lstStyle/>
          <a:p>
            <a:pPr indent="0" marL="0">
              <a:lnSpc>
                <a:spcPts val="1100"/>
              </a:lnSpc>
              <a:buNone/>
            </a:pPr>
            <a:r>
              <a:rPr lang="en-US" sz="850" dirty="0">
                <a:solidFill>
                  <a:srgbClr val="E6EAF2"/>
                </a:solidFill>
                <a:latin typeface="Trenda IG Text" pitchFamily="34" charset="0"/>
                <a:ea typeface="Trenda IG Text" pitchFamily="34" charset="-122"/>
                <a:cs typeface="Trenda IG Text" pitchFamily="34" charset="-120"/>
              </a:rPr>
              <a:t>Knowledge grounding</a:t>
            </a:r>
            <a:endParaRPr lang="en-US" sz="850" dirty="0"/>
          </a:p>
        </p:txBody>
      </p:sp>
      <p:sp>
        <p:nvSpPr>
          <p:cNvPr id="56" name="Shape 54"/>
          <p:cNvSpPr/>
          <p:nvPr/>
        </p:nvSpPr>
        <p:spPr>
          <a:xfrm>
            <a:off x="7578547" y="4466844"/>
            <a:ext cx="1651406" cy="475488"/>
          </a:xfrm>
          <a:prstGeom prst="roundRect">
            <a:avLst>
              <a:gd name="adj" fmla="val 11538"/>
            </a:avLst>
          </a:prstGeom>
          <a:solidFill>
            <a:srgbClr val="1A2130"/>
          </a:solidFill>
          <a:ln w="12700">
            <a:solidFill>
              <a:srgbClr val="252D3D"/>
            </a:solidFill>
            <a:prstDash val="solid"/>
          </a:ln>
        </p:spPr>
      </p:sp>
      <p:sp>
        <p:nvSpPr>
          <p:cNvPr id="57" name="Text 55"/>
          <p:cNvSpPr txBox="1"/>
          <p:nvPr/>
        </p:nvSpPr>
        <p:spPr>
          <a:xfrm>
            <a:off x="7660843" y="4466844"/>
            <a:ext cx="1486814" cy="475488"/>
          </a:xfrm>
          <a:prstGeom prst="rect">
            <a:avLst/>
          </a:prstGeom>
          <a:noFill/>
          <a:ln/>
        </p:spPr>
        <p:txBody>
          <a:bodyPr wrap="square" lIns="0" tIns="0" rIns="0" bIns="0" rtlCol="0" anchor="ctr"/>
          <a:lstStyle/>
          <a:p>
            <a:pPr indent="0" marL="0">
              <a:lnSpc>
                <a:spcPts val="1100"/>
              </a:lnSpc>
              <a:buNone/>
            </a:pPr>
            <a:r>
              <a:rPr lang="en-US" sz="850" dirty="0">
                <a:solidFill>
                  <a:srgbClr val="E6EAF2"/>
                </a:solidFill>
                <a:latin typeface="Trenda IG Text" pitchFamily="34" charset="0"/>
                <a:ea typeface="Trenda IG Text" pitchFamily="34" charset="-122"/>
                <a:cs typeface="Trenda IG Text" pitchFamily="34" charset="-120"/>
              </a:rPr>
              <a:t>Quick Text and Macros</a:t>
            </a:r>
            <a:endParaRPr lang="en-US" sz="850" dirty="0"/>
          </a:p>
        </p:txBody>
      </p:sp>
      <p:sp>
        <p:nvSpPr>
          <p:cNvPr id="58" name="Shape 56"/>
          <p:cNvSpPr/>
          <p:nvPr/>
        </p:nvSpPr>
        <p:spPr>
          <a:xfrm>
            <a:off x="9431122" y="3625596"/>
            <a:ext cx="256032" cy="164592"/>
          </a:xfrm>
          <a:prstGeom prst="rightArrow">
            <a:avLst/>
          </a:prstGeom>
          <a:solidFill>
            <a:srgbClr val="3A4459"/>
          </a:solidFill>
          <a:ln w="12700">
            <a:solidFill>
              <a:srgbClr val="3A4459"/>
            </a:solidFill>
            <a:prstDash val="solid"/>
          </a:ln>
        </p:spPr>
      </p:sp>
      <p:sp>
        <p:nvSpPr>
          <p:cNvPr id="59" name="Shape 57"/>
          <p:cNvSpPr/>
          <p:nvPr/>
        </p:nvSpPr>
        <p:spPr>
          <a:xfrm>
            <a:off x="9742018" y="2253996"/>
            <a:ext cx="1944014" cy="2907792"/>
          </a:xfrm>
          <a:prstGeom prst="roundRect">
            <a:avLst>
              <a:gd name="adj" fmla="val 1881"/>
            </a:avLst>
          </a:prstGeom>
          <a:solidFill>
            <a:srgbClr val="151A24"/>
          </a:solidFill>
          <a:ln w="12700">
            <a:solidFill>
              <a:srgbClr val="252D3D"/>
            </a:solidFill>
            <a:prstDash val="solid"/>
          </a:ln>
        </p:spPr>
      </p:sp>
      <p:sp>
        <p:nvSpPr>
          <p:cNvPr id="60" name="Shape 58"/>
          <p:cNvSpPr/>
          <p:nvPr/>
        </p:nvSpPr>
        <p:spPr>
          <a:xfrm>
            <a:off x="9888322" y="2400300"/>
            <a:ext cx="274320" cy="228600"/>
          </a:xfrm>
          <a:prstGeom prst="roundRect">
            <a:avLst>
              <a:gd name="adj" fmla="val 20000"/>
            </a:avLst>
          </a:prstGeom>
          <a:solidFill>
            <a:srgbClr val="0A0D14"/>
          </a:solidFill>
          <a:ln w="12700">
            <a:solidFill>
              <a:srgbClr val="22D3EE"/>
            </a:solidFill>
            <a:prstDash val="solid"/>
          </a:ln>
        </p:spPr>
      </p:sp>
      <p:sp>
        <p:nvSpPr>
          <p:cNvPr id="61" name="Text 59"/>
          <p:cNvSpPr txBox="1"/>
          <p:nvPr/>
        </p:nvSpPr>
        <p:spPr>
          <a:xfrm>
            <a:off x="9888322" y="2400300"/>
            <a:ext cx="274320" cy="228600"/>
          </a:xfrm>
          <a:prstGeom prst="rect">
            <a:avLst/>
          </a:prstGeom>
          <a:noFill/>
          <a:ln/>
        </p:spPr>
        <p:txBody>
          <a:bodyPr wrap="square" lIns="0" tIns="0" rIns="0" bIns="0" rtlCol="0" anchor="ctr"/>
          <a:lstStyle/>
          <a:p>
            <a:pPr algn="ctr" indent="0" marL="0">
              <a:buNone/>
            </a:pPr>
            <a:r>
              <a:rPr lang="en-US" sz="900" b="1" dirty="0">
                <a:solidFill>
                  <a:srgbClr val="22D3EE"/>
                </a:solidFill>
                <a:latin typeface="Trenda IG Display" pitchFamily="34" charset="0"/>
                <a:ea typeface="Trenda IG Display" pitchFamily="34" charset="-122"/>
                <a:cs typeface="Trenda IG Display" pitchFamily="34" charset="-120"/>
              </a:rPr>
              <a:t>05</a:t>
            </a:r>
            <a:endParaRPr lang="en-US" sz="900" dirty="0"/>
          </a:p>
        </p:txBody>
      </p:sp>
      <p:sp>
        <p:nvSpPr>
          <p:cNvPr id="62" name="Text 60"/>
          <p:cNvSpPr txBox="1"/>
          <p:nvPr/>
        </p:nvSpPr>
        <p:spPr>
          <a:xfrm>
            <a:off x="10217506" y="2400300"/>
            <a:ext cx="1322222" cy="228600"/>
          </a:xfrm>
          <a:prstGeom prst="rect">
            <a:avLst/>
          </a:prstGeom>
          <a:noFill/>
          <a:ln/>
        </p:spPr>
        <p:txBody>
          <a:bodyPr wrap="square" lIns="0" tIns="0" rIns="0" bIns="0" rtlCol="0" anchor="ctr"/>
          <a:lstStyle/>
          <a:p>
            <a:pPr indent="0" marL="0">
              <a:buNone/>
            </a:pPr>
            <a:r>
              <a:rPr lang="en-US" sz="950" b="1" spc="60" kern="0" dirty="0">
                <a:solidFill>
                  <a:srgbClr val="FFFFFF"/>
                </a:solidFill>
                <a:latin typeface="Trenda IG Text" pitchFamily="34" charset="0"/>
                <a:ea typeface="Trenda IG Text" pitchFamily="34" charset="-122"/>
                <a:cs typeface="Trenda IG Text" pitchFamily="34" charset="-120"/>
              </a:rPr>
              <a:t>CLOSE &amp; LEARN</a:t>
            </a:r>
            <a:endParaRPr lang="en-US" sz="950" dirty="0"/>
          </a:p>
        </p:txBody>
      </p:sp>
      <p:sp>
        <p:nvSpPr>
          <p:cNvPr id="63" name="Shape 61"/>
          <p:cNvSpPr/>
          <p:nvPr/>
        </p:nvSpPr>
        <p:spPr>
          <a:xfrm>
            <a:off x="9888322" y="2766060"/>
            <a:ext cx="1651406" cy="475488"/>
          </a:xfrm>
          <a:prstGeom prst="roundRect">
            <a:avLst>
              <a:gd name="adj" fmla="val 11538"/>
            </a:avLst>
          </a:prstGeom>
          <a:solidFill>
            <a:srgbClr val="1A2130"/>
          </a:solidFill>
          <a:ln w="12700">
            <a:solidFill>
              <a:srgbClr val="252D3D"/>
            </a:solidFill>
            <a:prstDash val="solid"/>
          </a:ln>
        </p:spPr>
      </p:sp>
      <p:sp>
        <p:nvSpPr>
          <p:cNvPr id="64" name="Text 62"/>
          <p:cNvSpPr txBox="1"/>
          <p:nvPr/>
        </p:nvSpPr>
        <p:spPr>
          <a:xfrm>
            <a:off x="9970618" y="2766060"/>
            <a:ext cx="1486814" cy="475488"/>
          </a:xfrm>
          <a:prstGeom prst="rect">
            <a:avLst/>
          </a:prstGeom>
          <a:noFill/>
          <a:ln/>
        </p:spPr>
        <p:txBody>
          <a:bodyPr wrap="square" lIns="0" tIns="0" rIns="0" bIns="0" rtlCol="0" anchor="ctr"/>
          <a:lstStyle/>
          <a:p>
            <a:pPr indent="0" marL="0">
              <a:lnSpc>
                <a:spcPts val="1100"/>
              </a:lnSpc>
              <a:buNone/>
            </a:pPr>
            <a:r>
              <a:rPr lang="en-US" sz="850" dirty="0">
                <a:solidFill>
                  <a:srgbClr val="E6EAF2"/>
                </a:solidFill>
                <a:latin typeface="Trenda IG Text" pitchFamily="34" charset="0"/>
                <a:ea typeface="Trenda IG Text" pitchFamily="34" charset="-122"/>
                <a:cs typeface="Trenda IG Text" pitchFamily="34" charset="-120"/>
              </a:rPr>
              <a:t>Agent reviews and sends</a:t>
            </a:r>
            <a:endParaRPr lang="en-US" sz="850" dirty="0"/>
          </a:p>
        </p:txBody>
      </p:sp>
      <p:sp>
        <p:nvSpPr>
          <p:cNvPr id="65" name="Shape 63"/>
          <p:cNvSpPr/>
          <p:nvPr/>
        </p:nvSpPr>
        <p:spPr>
          <a:xfrm>
            <a:off x="9888322" y="3332988"/>
            <a:ext cx="1651406" cy="475488"/>
          </a:xfrm>
          <a:prstGeom prst="roundRect">
            <a:avLst>
              <a:gd name="adj" fmla="val 11538"/>
            </a:avLst>
          </a:prstGeom>
          <a:solidFill>
            <a:srgbClr val="1A2130"/>
          </a:solidFill>
          <a:ln w="12700">
            <a:solidFill>
              <a:srgbClr val="252D3D"/>
            </a:solidFill>
            <a:prstDash val="solid"/>
          </a:ln>
        </p:spPr>
      </p:sp>
      <p:sp>
        <p:nvSpPr>
          <p:cNvPr id="66" name="Text 64"/>
          <p:cNvSpPr txBox="1"/>
          <p:nvPr/>
        </p:nvSpPr>
        <p:spPr>
          <a:xfrm>
            <a:off x="9970618" y="3332988"/>
            <a:ext cx="1486814" cy="475488"/>
          </a:xfrm>
          <a:prstGeom prst="rect">
            <a:avLst/>
          </a:prstGeom>
          <a:noFill/>
          <a:ln/>
        </p:spPr>
        <p:txBody>
          <a:bodyPr wrap="square" lIns="0" tIns="0" rIns="0" bIns="0" rtlCol="0" anchor="ctr"/>
          <a:lstStyle/>
          <a:p>
            <a:pPr indent="0" marL="0">
              <a:lnSpc>
                <a:spcPts val="1100"/>
              </a:lnSpc>
              <a:buNone/>
            </a:pPr>
            <a:r>
              <a:rPr lang="en-US" sz="850" dirty="0">
                <a:solidFill>
                  <a:srgbClr val="E6EAF2"/>
                </a:solidFill>
                <a:latin typeface="Trenda IG Text" pitchFamily="34" charset="0"/>
                <a:ea typeface="Trenda IG Text" pitchFamily="34" charset="-122"/>
                <a:cs typeface="Trenda IG Text" pitchFamily="34" charset="-120"/>
              </a:rPr>
              <a:t>Survey on closure</a:t>
            </a:r>
            <a:endParaRPr lang="en-US" sz="850" dirty="0"/>
          </a:p>
        </p:txBody>
      </p:sp>
      <p:sp>
        <p:nvSpPr>
          <p:cNvPr id="67" name="Shape 65"/>
          <p:cNvSpPr/>
          <p:nvPr/>
        </p:nvSpPr>
        <p:spPr>
          <a:xfrm>
            <a:off x="9888322" y="3899916"/>
            <a:ext cx="1651406" cy="475488"/>
          </a:xfrm>
          <a:prstGeom prst="roundRect">
            <a:avLst>
              <a:gd name="adj" fmla="val 11538"/>
            </a:avLst>
          </a:prstGeom>
          <a:solidFill>
            <a:srgbClr val="1A2130"/>
          </a:solidFill>
          <a:ln w="12700">
            <a:solidFill>
              <a:srgbClr val="252D3D"/>
            </a:solidFill>
            <a:prstDash val="solid"/>
          </a:ln>
        </p:spPr>
      </p:sp>
      <p:sp>
        <p:nvSpPr>
          <p:cNvPr id="68" name="Text 66"/>
          <p:cNvSpPr txBox="1"/>
          <p:nvPr/>
        </p:nvSpPr>
        <p:spPr>
          <a:xfrm>
            <a:off x="9970618" y="3899916"/>
            <a:ext cx="1486814" cy="475488"/>
          </a:xfrm>
          <a:prstGeom prst="rect">
            <a:avLst/>
          </a:prstGeom>
          <a:noFill/>
          <a:ln/>
        </p:spPr>
        <p:txBody>
          <a:bodyPr wrap="square" lIns="0" tIns="0" rIns="0" bIns="0" rtlCol="0" anchor="ctr"/>
          <a:lstStyle/>
          <a:p>
            <a:pPr indent="0" marL="0">
              <a:lnSpc>
                <a:spcPts val="1100"/>
              </a:lnSpc>
              <a:buNone/>
            </a:pPr>
            <a:r>
              <a:rPr lang="en-US" sz="850" dirty="0">
                <a:solidFill>
                  <a:srgbClr val="E6EAF2"/>
                </a:solidFill>
                <a:latin typeface="Trenda IG Text" pitchFamily="34" charset="0"/>
                <a:ea typeface="Trenda IG Text" pitchFamily="34" charset="-122"/>
                <a:cs typeface="Trenda IG Text" pitchFamily="34" charset="-120"/>
              </a:rPr>
              <a:t>Milestone dashboards</a:t>
            </a:r>
            <a:endParaRPr lang="en-US" sz="850" dirty="0"/>
          </a:p>
        </p:txBody>
      </p:sp>
      <p:sp>
        <p:nvSpPr>
          <p:cNvPr id="69" name="Shape 67"/>
          <p:cNvSpPr/>
          <p:nvPr/>
        </p:nvSpPr>
        <p:spPr>
          <a:xfrm>
            <a:off x="9888322" y="4466844"/>
            <a:ext cx="1651406" cy="475488"/>
          </a:xfrm>
          <a:prstGeom prst="roundRect">
            <a:avLst>
              <a:gd name="adj" fmla="val 11538"/>
            </a:avLst>
          </a:prstGeom>
          <a:solidFill>
            <a:srgbClr val="1A2130"/>
          </a:solidFill>
          <a:ln w="12700">
            <a:solidFill>
              <a:srgbClr val="252D3D"/>
            </a:solidFill>
            <a:prstDash val="solid"/>
          </a:ln>
        </p:spPr>
      </p:sp>
      <p:sp>
        <p:nvSpPr>
          <p:cNvPr id="70" name="Text 68"/>
          <p:cNvSpPr txBox="1"/>
          <p:nvPr/>
        </p:nvSpPr>
        <p:spPr>
          <a:xfrm>
            <a:off x="9970618" y="4466844"/>
            <a:ext cx="1486814" cy="475488"/>
          </a:xfrm>
          <a:prstGeom prst="rect">
            <a:avLst/>
          </a:prstGeom>
          <a:noFill/>
          <a:ln/>
        </p:spPr>
        <p:txBody>
          <a:bodyPr wrap="square" lIns="0" tIns="0" rIns="0" bIns="0" rtlCol="0" anchor="ctr"/>
          <a:lstStyle/>
          <a:p>
            <a:pPr indent="0" marL="0">
              <a:lnSpc>
                <a:spcPts val="1100"/>
              </a:lnSpc>
              <a:buNone/>
            </a:pPr>
            <a:r>
              <a:rPr lang="en-US" sz="850" dirty="0">
                <a:solidFill>
                  <a:srgbClr val="E6EAF2"/>
                </a:solidFill>
                <a:latin typeface="Trenda IG Text" pitchFamily="34" charset="0"/>
                <a:ea typeface="Trenda IG Text" pitchFamily="34" charset="-122"/>
                <a:cs typeface="Trenda IG Text" pitchFamily="34" charset="-120"/>
              </a:rPr>
              <a:t>Improvement backlog</a:t>
            </a:r>
            <a:endParaRPr lang="en-US" sz="850" dirty="0"/>
          </a:p>
        </p:txBody>
      </p:sp>
      <p:sp>
        <p:nvSpPr>
          <p:cNvPr id="71" name="Shape 69"/>
          <p:cNvSpPr/>
          <p:nvPr/>
        </p:nvSpPr>
        <p:spPr>
          <a:xfrm>
            <a:off x="502920" y="5344668"/>
            <a:ext cx="11183112" cy="512064"/>
          </a:xfrm>
          <a:prstGeom prst="roundRect">
            <a:avLst>
              <a:gd name="adj" fmla="val 7143"/>
            </a:avLst>
          </a:prstGeom>
          <a:solidFill>
            <a:srgbClr val="1A1226"/>
          </a:solidFill>
          <a:ln w="12700">
            <a:solidFill>
              <a:srgbClr val="3D2A4E"/>
            </a:solidFill>
            <a:prstDash val="solid"/>
          </a:ln>
        </p:spPr>
      </p:sp>
      <p:sp>
        <p:nvSpPr>
          <p:cNvPr id="72" name="Text 70"/>
          <p:cNvSpPr txBox="1"/>
          <p:nvPr/>
        </p:nvSpPr>
        <p:spPr>
          <a:xfrm>
            <a:off x="685800" y="5344668"/>
            <a:ext cx="10817352" cy="512064"/>
          </a:xfrm>
          <a:prstGeom prst="rect">
            <a:avLst/>
          </a:prstGeom>
          <a:noFill/>
          <a:ln/>
        </p:spPr>
        <p:txBody>
          <a:bodyPr wrap="square" lIns="0" tIns="0" rIns="0" bIns="0" rtlCol="0" anchor="ctr"/>
          <a:lstStyle/>
          <a:p>
            <a:pPr indent="0" marL="0">
              <a:buNone/>
            </a:pPr>
            <a:r>
              <a:rPr lang="en-US" sz="900" b="1" spc="140" kern="0" dirty="0">
                <a:solidFill>
                  <a:srgbClr val="FF0069"/>
                </a:solidFill>
                <a:latin typeface="Trenda IG Text" pitchFamily="34" charset="0"/>
                <a:ea typeface="Trenda IG Text" pitchFamily="34" charset="-122"/>
                <a:cs typeface="Trenda IG Text" pitchFamily="34" charset="-120"/>
              </a:rPr>
              <a:t>EINSTEIN TRUST LAYER   </a:t>
            </a:r>
            <a:pPr indent="0" marL="0">
              <a:buNone/>
            </a:pPr>
            <a:r>
              <a:rPr lang="en-US" sz="900" dirty="0">
                <a:solidFill>
                  <a:srgbClr val="E6EAF2"/>
                </a:solidFill>
                <a:latin typeface="Trenda IG Text" pitchFamily="34" charset="0"/>
                <a:ea typeface="Trenda IG Text" pitchFamily="34" charset="-122"/>
                <a:cs typeface="Trenda IG Text" pitchFamily="34" charset="-120"/>
              </a:rPr>
              <a:t>Zero data retention  ·  PHI and PII masking  ·  Dynamic grounding  ·  Prompt injection defence  ·  Toxicity scoring  ·  Full audit trail on every generated output</a:t>
            </a:r>
            <a:endParaRPr lang="en-US" sz="900" dirty="0"/>
          </a:p>
        </p:txBody>
      </p:sp>
      <p:sp>
        <p:nvSpPr>
          <p:cNvPr id="73" name="Text 71"/>
          <p:cNvSpPr txBox="1"/>
          <p:nvPr/>
        </p:nvSpPr>
        <p:spPr>
          <a:xfrm>
            <a:off x="502920" y="6035040"/>
            <a:ext cx="10085832" cy="347472"/>
          </a:xfrm>
          <a:prstGeom prst="rect">
            <a:avLst/>
          </a:prstGeom>
          <a:noFill/>
          <a:ln/>
        </p:spPr>
        <p:txBody>
          <a:bodyPr wrap="square" lIns="0" tIns="0" rIns="0" bIns="0" rtlCol="0" anchor="t"/>
          <a:lstStyle/>
          <a:p>
            <a:pPr indent="0" marL="0">
              <a:lnSpc>
                <a:spcPts val="1000"/>
              </a:lnSpc>
              <a:buNone/>
            </a:pPr>
            <a:r>
              <a:rPr lang="en-US" sz="750" i="1" dirty="0">
                <a:solidFill>
                  <a:srgbClr val="8A94A6"/>
                </a:solidFill>
                <a:latin typeface="Trenda IG Text" pitchFamily="34" charset="0"/>
                <a:ea typeface="Trenda IG Text" pitchFamily="34" charset="-122"/>
                <a:cs typeface="Trenda IG Text" pitchFamily="34" charset="-120"/>
              </a:rPr>
              <a:t>Stages 01, 03 and 05 use capability included in Service Cloud. The Prompt Template components in stages 02 and 04 require Einstein or Agentforce licensing, confirmed with McKesson before Phase 2.</a:t>
            </a:r>
            <a:endParaRPr lang="en-US" sz="750" dirty="0"/>
          </a:p>
        </p:txBody>
      </p:sp>
      <p:pic>
        <p:nvPicPr>
          <p:cNvPr id="74" name="Image 0" descr="assets/ig-mark.png">    </p:cNvPr>
          <p:cNvPicPr>
            <a:picLocks noChangeAspect="1"/>
          </p:cNvPicPr>
          <p:nvPr/>
        </p:nvPicPr>
        <p:blipFill>
          <a:blip r:embed="rId1"/>
          <a:stretch>
            <a:fillRect/>
          </a:stretch>
        </p:blipFill>
        <p:spPr>
          <a:xfrm>
            <a:off x="502920" y="6455664"/>
            <a:ext cx="420624" cy="144475"/>
          </a:xfrm>
          <a:prstGeom prst="rect">
            <a:avLst/>
          </a:prstGeom>
        </p:spPr>
      </p:pic>
      <p:sp>
        <p:nvSpPr>
          <p:cNvPr id="75" name="Text 72"/>
          <p:cNvSpPr txBox="1"/>
          <p:nvPr/>
        </p:nvSpPr>
        <p:spPr>
          <a:xfrm>
            <a:off x="11201400" y="6400800"/>
            <a:ext cx="484632" cy="237744"/>
          </a:xfrm>
          <a:prstGeom prst="rect">
            <a:avLst/>
          </a:prstGeom>
          <a:noFill/>
          <a:ln/>
        </p:spPr>
        <p:txBody>
          <a:bodyPr wrap="square" lIns="0" tIns="0" rIns="0" bIns="0" rtlCol="0" anchor="ctr"/>
          <a:lstStyle/>
          <a:p>
            <a:pPr algn="r" indent="0" marL="0">
              <a:buNone/>
            </a:pPr>
            <a:r>
              <a:rPr lang="en-US" sz="850" dirty="0">
                <a:solidFill>
                  <a:srgbClr val="8A94A6"/>
                </a:solidFill>
                <a:latin typeface="Trenda IG Text" pitchFamily="34" charset="0"/>
                <a:ea typeface="Trenda IG Text" pitchFamily="34" charset="-122"/>
                <a:cs typeface="Trenda IG Text" pitchFamily="34" charset="-120"/>
              </a:rPr>
              <a:t>6</a:t>
            </a:r>
            <a:endParaRPr lang="en-US" sz="85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0A0D14"/>
        </a:solidFill>
      </p:bgPr>
    </p:bg>
    <p:spTree>
      <p:nvGrpSpPr>
        <p:cNvPr id="1" name=""/>
        <p:cNvGrpSpPr/>
        <p:nvPr/>
      </p:nvGrpSpPr>
      <p:grpSpPr>
        <a:xfrm>
          <a:off x="0" y="0"/>
          <a:ext cx="0" cy="0"/>
          <a:chOff x="0" y="0"/>
          <a:chExt cx="0" cy="0"/>
        </a:xfrm>
      </p:grpSpPr>
      <p:sp>
        <p:nvSpPr>
          <p:cNvPr id="2" name="Text 0"/>
          <p:cNvSpPr txBox="1"/>
          <p:nvPr/>
        </p:nvSpPr>
        <p:spPr>
          <a:xfrm>
            <a:off x="502920" y="384048"/>
            <a:ext cx="11183112" cy="219456"/>
          </a:xfrm>
          <a:prstGeom prst="rect">
            <a:avLst/>
          </a:prstGeom>
          <a:noFill/>
          <a:ln/>
        </p:spPr>
        <p:txBody>
          <a:bodyPr wrap="square" lIns="0" tIns="0" rIns="0" bIns="0" rtlCol="0" anchor="ctr"/>
          <a:lstStyle/>
          <a:p>
            <a:pPr indent="0" marL="0">
              <a:buNone/>
            </a:pPr>
            <a:r>
              <a:rPr lang="en-US" sz="1000" b="1" spc="220" kern="0" dirty="0">
                <a:solidFill>
                  <a:srgbClr val="22D3EE"/>
                </a:solidFill>
                <a:latin typeface="Trenda IG Display" pitchFamily="34" charset="0"/>
                <a:ea typeface="Trenda IG Display" pitchFamily="34" charset="-122"/>
                <a:cs typeface="Trenda IG Display" pitchFamily="34" charset="-120"/>
              </a:rPr>
              <a:t>STAGES 01 AND 02</a:t>
            </a:r>
            <a:endParaRPr lang="en-US" sz="1000" dirty="0"/>
          </a:p>
        </p:txBody>
      </p:sp>
      <p:sp>
        <p:nvSpPr>
          <p:cNvPr id="3" name="Text 1"/>
          <p:cNvSpPr txBox="1"/>
          <p:nvPr/>
        </p:nvSpPr>
        <p:spPr>
          <a:xfrm>
            <a:off x="502920" y="658368"/>
            <a:ext cx="11183112" cy="416052"/>
          </a:xfrm>
          <a:prstGeom prst="rect">
            <a:avLst/>
          </a:prstGeom>
          <a:noFill/>
          <a:ln/>
        </p:spPr>
        <p:txBody>
          <a:bodyPr wrap="square" lIns="0" tIns="0" rIns="0" bIns="0" rtlCol="0" anchor="ctr"/>
          <a:lstStyle/>
          <a:p>
            <a:pPr indent="0" marL="0">
              <a:lnSpc>
                <a:spcPts val="3016"/>
              </a:lnSpc>
              <a:buNone/>
            </a:pPr>
            <a:r>
              <a:rPr lang="en-US" sz="2600" b="1" spc="40" kern="0" dirty="0">
                <a:solidFill>
                  <a:srgbClr val="FFFFFF"/>
                </a:solidFill>
                <a:latin typeface="Trenda IG Display" pitchFamily="34" charset="0"/>
                <a:ea typeface="Trenda IG Display" pitchFamily="34" charset="-122"/>
                <a:cs typeface="Trenda IG Display" pitchFamily="34" charset="-120"/>
              </a:rPr>
              <a:t>CAPTURE THE EMAIL, THEN UNDERSTAND IT</a:t>
            </a:r>
            <a:endParaRPr lang="en-US" sz="2600" dirty="0"/>
          </a:p>
        </p:txBody>
      </p:sp>
      <p:sp>
        <p:nvSpPr>
          <p:cNvPr id="4" name="Text 2"/>
          <p:cNvSpPr txBox="1"/>
          <p:nvPr/>
        </p:nvSpPr>
        <p:spPr>
          <a:xfrm>
            <a:off x="502920" y="1156716"/>
            <a:ext cx="11183112" cy="384048"/>
          </a:xfrm>
          <a:prstGeom prst="rect">
            <a:avLst/>
          </a:prstGeom>
          <a:noFill/>
          <a:ln/>
        </p:spPr>
        <p:txBody>
          <a:bodyPr wrap="square" lIns="0" tIns="0" rIns="0" bIns="0" rtlCol="0" anchor="t"/>
          <a:lstStyle/>
          <a:p>
            <a:pPr indent="0" marL="0">
              <a:lnSpc>
                <a:spcPts val="1500"/>
              </a:lnSpc>
              <a:buNone/>
            </a:pPr>
            <a:r>
              <a:rPr lang="en-US" sz="1150" dirty="0">
                <a:solidFill>
                  <a:srgbClr val="8A94A6"/>
                </a:solidFill>
                <a:latin typeface="Trenda IG Text" pitchFamily="34" charset="0"/>
                <a:ea typeface="Trenda IG Text" pitchFamily="34" charset="-122"/>
                <a:cs typeface="Trenda IG Text" pitchFamily="34" charset="-120"/>
              </a:rPr>
              <a:t>Email to Case turns the message into a record. A record triggered Flow then calls the triage Prompt Template, which reads the whole thread and returns structured values the rest of the process can act on.</a:t>
            </a:r>
            <a:endParaRPr lang="en-US" sz="1150" dirty="0"/>
          </a:p>
        </p:txBody>
      </p:sp>
      <p:sp>
        <p:nvSpPr>
          <p:cNvPr id="5" name="Shape 3"/>
          <p:cNvSpPr/>
          <p:nvPr/>
        </p:nvSpPr>
        <p:spPr>
          <a:xfrm>
            <a:off x="502920" y="1796796"/>
            <a:ext cx="5481828" cy="2377440"/>
          </a:xfrm>
          <a:prstGeom prst="roundRect">
            <a:avLst>
              <a:gd name="adj" fmla="val 1538"/>
            </a:avLst>
          </a:prstGeom>
          <a:solidFill>
            <a:srgbClr val="151A24"/>
          </a:solidFill>
          <a:ln w="12700">
            <a:solidFill>
              <a:srgbClr val="252D3D"/>
            </a:solidFill>
            <a:prstDash val="solid"/>
          </a:ln>
        </p:spPr>
      </p:sp>
      <p:sp>
        <p:nvSpPr>
          <p:cNvPr id="6" name="Shape 4"/>
          <p:cNvSpPr/>
          <p:nvPr/>
        </p:nvSpPr>
        <p:spPr>
          <a:xfrm>
            <a:off x="740664" y="2016252"/>
            <a:ext cx="310896" cy="256032"/>
          </a:xfrm>
          <a:prstGeom prst="roundRect">
            <a:avLst>
              <a:gd name="adj" fmla="val 17857"/>
            </a:avLst>
          </a:prstGeom>
          <a:solidFill>
            <a:srgbClr val="0A0D14"/>
          </a:solidFill>
          <a:ln w="12700">
            <a:solidFill>
              <a:srgbClr val="22D3EE"/>
            </a:solidFill>
            <a:prstDash val="solid"/>
          </a:ln>
        </p:spPr>
      </p:sp>
      <p:sp>
        <p:nvSpPr>
          <p:cNvPr id="7" name="Text 5"/>
          <p:cNvSpPr txBox="1"/>
          <p:nvPr/>
        </p:nvSpPr>
        <p:spPr>
          <a:xfrm>
            <a:off x="740664" y="2016252"/>
            <a:ext cx="310896" cy="256032"/>
          </a:xfrm>
          <a:prstGeom prst="rect">
            <a:avLst/>
          </a:prstGeom>
          <a:noFill/>
          <a:ln/>
        </p:spPr>
        <p:txBody>
          <a:bodyPr wrap="square" lIns="0" tIns="0" rIns="0" bIns="0" rtlCol="0" anchor="ctr"/>
          <a:lstStyle/>
          <a:p>
            <a:pPr algn="ctr" indent="0" marL="0">
              <a:buNone/>
            </a:pPr>
            <a:r>
              <a:rPr lang="en-US" sz="1050" b="1" dirty="0">
                <a:solidFill>
                  <a:srgbClr val="22D3EE"/>
                </a:solidFill>
                <a:latin typeface="Trenda IG Display" pitchFamily="34" charset="0"/>
                <a:ea typeface="Trenda IG Display" pitchFamily="34" charset="-122"/>
                <a:cs typeface="Trenda IG Display" pitchFamily="34" charset="-120"/>
              </a:rPr>
              <a:t>01</a:t>
            </a:r>
            <a:endParaRPr lang="en-US" sz="1050" dirty="0"/>
          </a:p>
        </p:txBody>
      </p:sp>
      <p:sp>
        <p:nvSpPr>
          <p:cNvPr id="8" name="Text 6"/>
          <p:cNvSpPr txBox="1"/>
          <p:nvPr/>
        </p:nvSpPr>
        <p:spPr>
          <a:xfrm>
            <a:off x="1143000" y="2016252"/>
            <a:ext cx="4567428" cy="256032"/>
          </a:xfrm>
          <a:prstGeom prst="rect">
            <a:avLst/>
          </a:prstGeom>
          <a:noFill/>
          <a:ln/>
        </p:spPr>
        <p:txBody>
          <a:bodyPr wrap="square" lIns="0" tIns="0" rIns="0" bIns="0" rtlCol="0" anchor="ctr"/>
          <a:lstStyle/>
          <a:p>
            <a:pPr indent="0" marL="0">
              <a:buNone/>
            </a:pPr>
            <a:r>
              <a:rPr lang="en-US" sz="1400" b="1" dirty="0">
                <a:solidFill>
                  <a:srgbClr val="FFFFFF"/>
                </a:solidFill>
                <a:latin typeface="Trenda IG Text" pitchFamily="34" charset="0"/>
                <a:ea typeface="Trenda IG Text" pitchFamily="34" charset="-122"/>
                <a:cs typeface="Trenda IG Text" pitchFamily="34" charset="-120"/>
              </a:rPr>
              <a:t>Capture</a:t>
            </a:r>
            <a:endParaRPr lang="en-US" sz="1400" dirty="0"/>
          </a:p>
        </p:txBody>
      </p:sp>
      <p:sp>
        <p:nvSpPr>
          <p:cNvPr id="9" name="Text 7"/>
          <p:cNvSpPr txBox="1"/>
          <p:nvPr/>
        </p:nvSpPr>
        <p:spPr>
          <a:xfrm>
            <a:off x="740664" y="2436876"/>
            <a:ext cx="5006340" cy="1444752"/>
          </a:xfrm>
          <a:prstGeom prst="rect">
            <a:avLst/>
          </a:prstGeom>
          <a:noFill/>
          <a:ln/>
        </p:spPr>
        <p:txBody>
          <a:bodyPr wrap="square" lIns="0" tIns="0" rIns="0" bIns="0" rtlCol="0" anchor="t"/>
          <a:lstStyle/>
          <a:p>
            <a:pPr marL="152400" indent="-152400">
              <a:lnSpc>
                <a:spcPts val="1300"/>
              </a:lnSpc>
              <a:spcAft>
                <a:spcPts val="600"/>
              </a:spcAft>
              <a:buSzPct val="100000"/>
              <a:buChar char="•"/>
            </a:pPr>
            <a:r>
              <a:rPr lang="en-US" sz="900" dirty="0">
                <a:solidFill>
                  <a:srgbClr val="E6EAF2"/>
                </a:solidFill>
                <a:latin typeface="Trenda IG Text" pitchFamily="34" charset="0"/>
                <a:ea typeface="Trenda IG Text" pitchFamily="34" charset="-122"/>
                <a:cs typeface="Trenda IG Text" pitchFamily="34" charset="-120"/>
              </a:rPr>
              <a:t>Email to Case creates the case from the Extended Care mailboxes for both customers and vendors.</a:t>
            </a:r>
            <a:endParaRPr lang="en-US" sz="900" dirty="0"/>
          </a:p>
          <a:p>
            <a:pPr marL="152400" indent="-152400">
              <a:lnSpc>
                <a:spcPts val="1300"/>
              </a:lnSpc>
              <a:spcAft>
                <a:spcPts val="600"/>
              </a:spcAft>
              <a:buSzPct val="100000"/>
              <a:buChar char="•"/>
            </a:pPr>
            <a:r>
              <a:rPr lang="en-US" sz="900" dirty="0">
                <a:solidFill>
                  <a:srgbClr val="E6EAF2"/>
                </a:solidFill>
                <a:latin typeface="Trenda IG Text" pitchFamily="34" charset="0"/>
                <a:ea typeface="Trenda IG Text" pitchFamily="34" charset="-122"/>
                <a:cs typeface="Trenda IG Text" pitchFamily="34" charset="-120"/>
              </a:rPr>
              <a:t>Thread ID matching appends a reply to its existing case instead of opening a duplicate, and reopens a closed case where the customer says the issue remains.</a:t>
            </a:r>
            <a:endParaRPr lang="en-US" sz="900" dirty="0"/>
          </a:p>
          <a:p>
            <a:pPr marL="152400" indent="-152400">
              <a:lnSpc>
                <a:spcPts val="1300"/>
              </a:lnSpc>
              <a:spcAft>
                <a:spcPts val="600"/>
              </a:spcAft>
              <a:buSzPct val="100000"/>
              <a:buChar char="•"/>
            </a:pPr>
            <a:r>
              <a:rPr lang="en-US" sz="900" dirty="0">
                <a:solidFill>
                  <a:srgbClr val="E6EAF2"/>
                </a:solidFill>
                <a:latin typeface="Trenda IG Text" pitchFamily="34" charset="0"/>
                <a:ea typeface="Trenda IG Text" pitchFamily="34" charset="-122"/>
                <a:cs typeface="Trenda IG Text" pitchFamily="34" charset="-120"/>
              </a:rPr>
              <a:t>A Flow duplicate check compares sender, account and subject against recent cases and links rather than creates.</a:t>
            </a:r>
            <a:endParaRPr lang="en-US" sz="900" dirty="0"/>
          </a:p>
          <a:p>
            <a:pPr marL="152400" indent="-152400">
              <a:lnSpc>
                <a:spcPts val="1300"/>
              </a:lnSpc>
              <a:spcAft>
                <a:spcPts val="600"/>
              </a:spcAft>
              <a:buSzPct val="100000"/>
              <a:buChar char="•"/>
            </a:pPr>
            <a:r>
              <a:rPr lang="en-US" sz="900" dirty="0">
                <a:solidFill>
                  <a:srgbClr val="E6EAF2"/>
                </a:solidFill>
                <a:latin typeface="Trenda IG Text" pitchFamily="34" charset="0"/>
                <a:ea typeface="Trenda IG Text" pitchFamily="34" charset="-122"/>
                <a:cs typeface="Trenda IG Text" pitchFamily="34" charset="-120"/>
              </a:rPr>
              <a:t>An auto response confirms receipt with the case number and the expected turnaround, within seconds of arrival.</a:t>
            </a:r>
            <a:endParaRPr lang="en-US" sz="900" dirty="0"/>
          </a:p>
        </p:txBody>
      </p:sp>
      <p:sp>
        <p:nvSpPr>
          <p:cNvPr id="10" name="Shape 8"/>
          <p:cNvSpPr/>
          <p:nvPr/>
        </p:nvSpPr>
        <p:spPr>
          <a:xfrm>
            <a:off x="6204204" y="1796796"/>
            <a:ext cx="5481828" cy="2377440"/>
          </a:xfrm>
          <a:prstGeom prst="roundRect">
            <a:avLst>
              <a:gd name="adj" fmla="val 1538"/>
            </a:avLst>
          </a:prstGeom>
          <a:solidFill>
            <a:srgbClr val="151A24"/>
          </a:solidFill>
          <a:ln w="12700">
            <a:solidFill>
              <a:srgbClr val="252D3D"/>
            </a:solidFill>
            <a:prstDash val="solid"/>
          </a:ln>
        </p:spPr>
      </p:sp>
      <p:sp>
        <p:nvSpPr>
          <p:cNvPr id="11" name="Shape 9"/>
          <p:cNvSpPr/>
          <p:nvPr/>
        </p:nvSpPr>
        <p:spPr>
          <a:xfrm>
            <a:off x="6441948" y="2016252"/>
            <a:ext cx="310896" cy="256032"/>
          </a:xfrm>
          <a:prstGeom prst="roundRect">
            <a:avLst>
              <a:gd name="adj" fmla="val 17857"/>
            </a:avLst>
          </a:prstGeom>
          <a:solidFill>
            <a:srgbClr val="0A0D14"/>
          </a:solidFill>
          <a:ln w="12700">
            <a:solidFill>
              <a:srgbClr val="22D3EE"/>
            </a:solidFill>
            <a:prstDash val="solid"/>
          </a:ln>
        </p:spPr>
      </p:sp>
      <p:sp>
        <p:nvSpPr>
          <p:cNvPr id="12" name="Text 10"/>
          <p:cNvSpPr txBox="1"/>
          <p:nvPr/>
        </p:nvSpPr>
        <p:spPr>
          <a:xfrm>
            <a:off x="6441948" y="2016252"/>
            <a:ext cx="310896" cy="256032"/>
          </a:xfrm>
          <a:prstGeom prst="rect">
            <a:avLst/>
          </a:prstGeom>
          <a:noFill/>
          <a:ln/>
        </p:spPr>
        <p:txBody>
          <a:bodyPr wrap="square" lIns="0" tIns="0" rIns="0" bIns="0" rtlCol="0" anchor="ctr"/>
          <a:lstStyle/>
          <a:p>
            <a:pPr algn="ctr" indent="0" marL="0">
              <a:buNone/>
            </a:pPr>
            <a:r>
              <a:rPr lang="en-US" sz="1050" b="1" dirty="0">
                <a:solidFill>
                  <a:srgbClr val="22D3EE"/>
                </a:solidFill>
                <a:latin typeface="Trenda IG Display" pitchFamily="34" charset="0"/>
                <a:ea typeface="Trenda IG Display" pitchFamily="34" charset="-122"/>
                <a:cs typeface="Trenda IG Display" pitchFamily="34" charset="-120"/>
              </a:rPr>
              <a:t>02</a:t>
            </a:r>
            <a:endParaRPr lang="en-US" sz="1050" dirty="0"/>
          </a:p>
        </p:txBody>
      </p:sp>
      <p:sp>
        <p:nvSpPr>
          <p:cNvPr id="13" name="Text 11"/>
          <p:cNvSpPr txBox="1"/>
          <p:nvPr/>
        </p:nvSpPr>
        <p:spPr>
          <a:xfrm>
            <a:off x="6844284" y="2016252"/>
            <a:ext cx="4384548" cy="256032"/>
          </a:xfrm>
          <a:prstGeom prst="rect">
            <a:avLst/>
          </a:prstGeom>
          <a:noFill/>
          <a:ln/>
        </p:spPr>
        <p:txBody>
          <a:bodyPr wrap="square" lIns="0" tIns="0" rIns="0" bIns="0" rtlCol="0" anchor="ctr"/>
          <a:lstStyle/>
          <a:p>
            <a:pPr indent="0" marL="0">
              <a:buNone/>
            </a:pPr>
            <a:r>
              <a:rPr lang="en-US" sz="1400" b="1" dirty="0">
                <a:solidFill>
                  <a:srgbClr val="FFFFFF"/>
                </a:solidFill>
                <a:latin typeface="Trenda IG Text" pitchFamily="34" charset="0"/>
                <a:ea typeface="Trenda IG Text" pitchFamily="34" charset="-122"/>
                <a:cs typeface="Trenda IG Text" pitchFamily="34" charset="-120"/>
              </a:rPr>
              <a:t>Understand</a:t>
            </a:r>
            <a:endParaRPr lang="en-US" sz="1400" dirty="0"/>
          </a:p>
        </p:txBody>
      </p:sp>
      <p:sp>
        <p:nvSpPr>
          <p:cNvPr id="14" name="Text 12"/>
          <p:cNvSpPr txBox="1"/>
          <p:nvPr/>
        </p:nvSpPr>
        <p:spPr>
          <a:xfrm>
            <a:off x="6441948" y="2436876"/>
            <a:ext cx="5006340" cy="1444752"/>
          </a:xfrm>
          <a:prstGeom prst="rect">
            <a:avLst/>
          </a:prstGeom>
          <a:noFill/>
          <a:ln/>
        </p:spPr>
        <p:txBody>
          <a:bodyPr wrap="square" lIns="0" tIns="0" rIns="0" bIns="0" rtlCol="0" anchor="t"/>
          <a:lstStyle/>
          <a:p>
            <a:pPr marL="152400" indent="-152400">
              <a:lnSpc>
                <a:spcPts val="1300"/>
              </a:lnSpc>
              <a:spcAft>
                <a:spcPts val="600"/>
              </a:spcAft>
              <a:buSzPct val="100000"/>
              <a:buChar char="•"/>
            </a:pPr>
            <a:r>
              <a:rPr lang="en-US" sz="900" dirty="0">
                <a:solidFill>
                  <a:srgbClr val="E6EAF2"/>
                </a:solidFill>
                <a:latin typeface="Trenda IG Text" pitchFamily="34" charset="0"/>
                <a:ea typeface="Trenda IG Text" pitchFamily="34" charset="-122"/>
                <a:cs typeface="Trenda IG Text" pitchFamily="34" charset="-120"/>
              </a:rPr>
              <a:t>A Flex Prompt Template reads the full thread, grounded on the case, the email messages, the account, the contact and prior cases on that account.</a:t>
            </a:r>
            <a:endParaRPr lang="en-US" sz="900" dirty="0"/>
          </a:p>
          <a:p>
            <a:pPr marL="152400" indent="-152400">
              <a:lnSpc>
                <a:spcPts val="1300"/>
              </a:lnSpc>
              <a:spcAft>
                <a:spcPts val="600"/>
              </a:spcAft>
              <a:buSzPct val="100000"/>
              <a:buChar char="•"/>
            </a:pPr>
            <a:r>
              <a:rPr lang="en-US" sz="900" dirty="0">
                <a:solidFill>
                  <a:srgbClr val="E6EAF2"/>
                </a:solidFill>
                <a:latin typeface="Trenda IG Text" pitchFamily="34" charset="0"/>
                <a:ea typeface="Trenda IG Text" pitchFamily="34" charset="-122"/>
                <a:cs typeface="Trenda IG Text" pitchFamily="34" charset="-120"/>
              </a:rPr>
              <a:t>Field Generation templates write the returned values straight onto case fields, so no free text parsing is needed for the simple ones.</a:t>
            </a:r>
            <a:endParaRPr lang="en-US" sz="900" dirty="0"/>
          </a:p>
          <a:p>
            <a:pPr marL="152400" indent="-152400">
              <a:lnSpc>
                <a:spcPts val="1300"/>
              </a:lnSpc>
              <a:spcAft>
                <a:spcPts val="600"/>
              </a:spcAft>
              <a:buSzPct val="100000"/>
              <a:buChar char="•"/>
            </a:pPr>
            <a:r>
              <a:rPr lang="en-US" sz="900" dirty="0">
                <a:solidFill>
                  <a:srgbClr val="E6EAF2"/>
                </a:solidFill>
                <a:latin typeface="Trenda IG Text" pitchFamily="34" charset="0"/>
                <a:ea typeface="Trenda IG Text" pitchFamily="34" charset="-122"/>
                <a:cs typeface="Trenda IG Text" pitchFamily="34" charset="-120"/>
              </a:rPr>
              <a:t>Deterministic Flow rules sit over the top. Where policy is unambiguous the rule wins, not the model.</a:t>
            </a:r>
            <a:endParaRPr lang="en-US" sz="900" dirty="0"/>
          </a:p>
          <a:p>
            <a:pPr marL="152400" indent="-152400">
              <a:lnSpc>
                <a:spcPts val="1300"/>
              </a:lnSpc>
              <a:spcAft>
                <a:spcPts val="600"/>
              </a:spcAft>
              <a:buSzPct val="100000"/>
              <a:buChar char="•"/>
            </a:pPr>
            <a:r>
              <a:rPr lang="en-US" sz="900" dirty="0">
                <a:solidFill>
                  <a:srgbClr val="E6EAF2"/>
                </a:solidFill>
                <a:latin typeface="Trenda IG Text" pitchFamily="34" charset="0"/>
                <a:ea typeface="Trenda IG Text" pitchFamily="34" charset="-122"/>
                <a:cs typeface="Trenda IG Text" pitchFamily="34" charset="-120"/>
              </a:rPr>
              <a:t>Where generative licensing is not available, Einstein Case Classification predicts the same fields from case history.</a:t>
            </a:r>
            <a:endParaRPr lang="en-US" sz="900" dirty="0"/>
          </a:p>
        </p:txBody>
      </p:sp>
      <p:sp>
        <p:nvSpPr>
          <p:cNvPr id="15" name="Text 13"/>
          <p:cNvSpPr txBox="1"/>
          <p:nvPr/>
        </p:nvSpPr>
        <p:spPr>
          <a:xfrm>
            <a:off x="502920" y="4393692"/>
            <a:ext cx="11183112" cy="201168"/>
          </a:xfrm>
          <a:prstGeom prst="rect">
            <a:avLst/>
          </a:prstGeom>
          <a:noFill/>
          <a:ln/>
        </p:spPr>
        <p:txBody>
          <a:bodyPr wrap="square" lIns="0" tIns="0" rIns="0" bIns="0" rtlCol="0" anchor="ctr"/>
          <a:lstStyle/>
          <a:p>
            <a:pPr indent="0" marL="0">
              <a:buNone/>
            </a:pPr>
            <a:r>
              <a:rPr lang="en-US" sz="1050" b="1" spc="140" kern="0" dirty="0">
                <a:solidFill>
                  <a:srgbClr val="FFFFFF"/>
                </a:solidFill>
                <a:latin typeface="Trenda IG Display" pitchFamily="34" charset="0"/>
                <a:ea typeface="Trenda IG Display" pitchFamily="34" charset="-122"/>
                <a:cs typeface="Trenda IG Display" pitchFamily="34" charset="-120"/>
              </a:rPr>
              <a:t>WHAT THE TRIAGE TEMPLATE RETURNS ON EVERY CASE</a:t>
            </a:r>
            <a:endParaRPr lang="en-US" sz="1050" dirty="0"/>
          </a:p>
        </p:txBody>
      </p:sp>
      <p:sp>
        <p:nvSpPr>
          <p:cNvPr id="16" name="Shape 14"/>
          <p:cNvSpPr/>
          <p:nvPr/>
        </p:nvSpPr>
        <p:spPr>
          <a:xfrm>
            <a:off x="502920" y="4704588"/>
            <a:ext cx="2672334" cy="658368"/>
          </a:xfrm>
          <a:prstGeom prst="roundRect">
            <a:avLst>
              <a:gd name="adj" fmla="val 5556"/>
            </a:avLst>
          </a:prstGeom>
          <a:solidFill>
            <a:srgbClr val="1A2130"/>
          </a:solidFill>
          <a:ln w="12700">
            <a:solidFill>
              <a:srgbClr val="252D3D"/>
            </a:solidFill>
            <a:prstDash val="solid"/>
          </a:ln>
        </p:spPr>
      </p:sp>
      <p:sp>
        <p:nvSpPr>
          <p:cNvPr id="17" name="Text 15"/>
          <p:cNvSpPr txBox="1"/>
          <p:nvPr/>
        </p:nvSpPr>
        <p:spPr>
          <a:xfrm>
            <a:off x="649224" y="4786884"/>
            <a:ext cx="2379726" cy="219456"/>
          </a:xfrm>
          <a:prstGeom prst="rect">
            <a:avLst/>
          </a:prstGeom>
          <a:noFill/>
          <a:ln/>
        </p:spPr>
        <p:txBody>
          <a:bodyPr wrap="square" lIns="0" tIns="0" rIns="0" bIns="0" rtlCol="0" anchor="ctr"/>
          <a:lstStyle/>
          <a:p>
            <a:pPr indent="0" marL="0">
              <a:buNone/>
            </a:pPr>
            <a:r>
              <a:rPr lang="en-US" sz="950" b="1" dirty="0">
                <a:solidFill>
                  <a:srgbClr val="22D3EE"/>
                </a:solidFill>
                <a:latin typeface="Trenda IG Text" pitchFamily="34" charset="0"/>
                <a:ea typeface="Trenda IG Text" pitchFamily="34" charset="-122"/>
                <a:cs typeface="Trenda IG Text" pitchFamily="34" charset="-120"/>
              </a:rPr>
              <a:t>Category</a:t>
            </a:r>
            <a:endParaRPr lang="en-US" sz="950" dirty="0"/>
          </a:p>
        </p:txBody>
      </p:sp>
      <p:sp>
        <p:nvSpPr>
          <p:cNvPr id="18" name="Text 16"/>
          <p:cNvSpPr txBox="1"/>
          <p:nvPr/>
        </p:nvSpPr>
        <p:spPr>
          <a:xfrm>
            <a:off x="649224" y="5006340"/>
            <a:ext cx="2379726" cy="292608"/>
          </a:xfrm>
          <a:prstGeom prst="rect">
            <a:avLst/>
          </a:prstGeom>
          <a:noFill/>
          <a:ln/>
        </p:spPr>
        <p:txBody>
          <a:bodyPr wrap="square" lIns="0" tIns="0" rIns="0" bIns="0" rtlCol="0" anchor="t"/>
          <a:lstStyle/>
          <a:p>
            <a:pPr indent="0" marL="0">
              <a:lnSpc>
                <a:spcPts val="1050"/>
              </a:lnSpc>
              <a:buNone/>
            </a:pPr>
            <a:r>
              <a:rPr lang="en-US" sz="800" dirty="0">
                <a:solidFill>
                  <a:srgbClr val="8A94A6"/>
                </a:solidFill>
                <a:latin typeface="Trenda IG Text" pitchFamily="34" charset="0"/>
                <a:ea typeface="Trenda IG Text" pitchFamily="34" charset="-122"/>
                <a:cs typeface="Trenda IG Text" pitchFamily="34" charset="-120"/>
              </a:rPr>
              <a:t>Request, Inquiry, Issue, Dispute, System, Duplicate</a:t>
            </a:r>
            <a:endParaRPr lang="en-US" sz="800" dirty="0"/>
          </a:p>
        </p:txBody>
      </p:sp>
      <p:sp>
        <p:nvSpPr>
          <p:cNvPr id="19" name="Shape 17"/>
          <p:cNvSpPr/>
          <p:nvPr/>
        </p:nvSpPr>
        <p:spPr>
          <a:xfrm>
            <a:off x="3339846" y="4704588"/>
            <a:ext cx="2672334" cy="658368"/>
          </a:xfrm>
          <a:prstGeom prst="roundRect">
            <a:avLst>
              <a:gd name="adj" fmla="val 5556"/>
            </a:avLst>
          </a:prstGeom>
          <a:solidFill>
            <a:srgbClr val="1A2130"/>
          </a:solidFill>
          <a:ln w="12700">
            <a:solidFill>
              <a:srgbClr val="252D3D"/>
            </a:solidFill>
            <a:prstDash val="solid"/>
          </a:ln>
        </p:spPr>
      </p:sp>
      <p:sp>
        <p:nvSpPr>
          <p:cNvPr id="20" name="Text 18"/>
          <p:cNvSpPr txBox="1"/>
          <p:nvPr/>
        </p:nvSpPr>
        <p:spPr>
          <a:xfrm>
            <a:off x="3486150" y="4786884"/>
            <a:ext cx="2379726" cy="219456"/>
          </a:xfrm>
          <a:prstGeom prst="rect">
            <a:avLst/>
          </a:prstGeom>
          <a:noFill/>
          <a:ln/>
        </p:spPr>
        <p:txBody>
          <a:bodyPr wrap="square" lIns="0" tIns="0" rIns="0" bIns="0" rtlCol="0" anchor="ctr"/>
          <a:lstStyle/>
          <a:p>
            <a:pPr indent="0" marL="0">
              <a:buNone/>
            </a:pPr>
            <a:r>
              <a:rPr lang="en-US" sz="950" b="1" dirty="0">
                <a:solidFill>
                  <a:srgbClr val="22D3EE"/>
                </a:solidFill>
                <a:latin typeface="Trenda IG Text" pitchFamily="34" charset="0"/>
                <a:ea typeface="Trenda IG Text" pitchFamily="34" charset="-122"/>
                <a:cs typeface="Trenda IG Text" pitchFamily="34" charset="-120"/>
              </a:rPr>
              <a:t>Service family</a:t>
            </a:r>
            <a:endParaRPr lang="en-US" sz="950" dirty="0"/>
          </a:p>
        </p:txBody>
      </p:sp>
      <p:sp>
        <p:nvSpPr>
          <p:cNvPr id="21" name="Text 19"/>
          <p:cNvSpPr txBox="1"/>
          <p:nvPr/>
        </p:nvSpPr>
        <p:spPr>
          <a:xfrm>
            <a:off x="3486150" y="5006340"/>
            <a:ext cx="2379726" cy="292608"/>
          </a:xfrm>
          <a:prstGeom prst="rect">
            <a:avLst/>
          </a:prstGeom>
          <a:noFill/>
          <a:ln/>
        </p:spPr>
        <p:txBody>
          <a:bodyPr wrap="square" lIns="0" tIns="0" rIns="0" bIns="0" rtlCol="0" anchor="t"/>
          <a:lstStyle/>
          <a:p>
            <a:pPr indent="0" marL="0">
              <a:lnSpc>
                <a:spcPts val="1050"/>
              </a:lnSpc>
              <a:buNone/>
            </a:pPr>
            <a:r>
              <a:rPr lang="en-US" sz="800" dirty="0">
                <a:solidFill>
                  <a:srgbClr val="8A94A6"/>
                </a:solidFill>
                <a:latin typeface="Trenda IG Text" pitchFamily="34" charset="0"/>
                <a:ea typeface="Trenda IG Text" pitchFamily="34" charset="-122"/>
                <a:cs typeface="Trenda IG Text" pitchFamily="34" charset="-120"/>
              </a:rPr>
              <a:t>Orders, Status, Backorders, Credits, Pricing, Billing</a:t>
            </a:r>
            <a:endParaRPr lang="en-US" sz="800" dirty="0"/>
          </a:p>
        </p:txBody>
      </p:sp>
      <p:sp>
        <p:nvSpPr>
          <p:cNvPr id="22" name="Shape 20"/>
          <p:cNvSpPr/>
          <p:nvPr/>
        </p:nvSpPr>
        <p:spPr>
          <a:xfrm>
            <a:off x="6176772" y="4704588"/>
            <a:ext cx="2672334" cy="658368"/>
          </a:xfrm>
          <a:prstGeom prst="roundRect">
            <a:avLst>
              <a:gd name="adj" fmla="val 5556"/>
            </a:avLst>
          </a:prstGeom>
          <a:solidFill>
            <a:srgbClr val="1A2130"/>
          </a:solidFill>
          <a:ln w="12700">
            <a:solidFill>
              <a:srgbClr val="252D3D"/>
            </a:solidFill>
            <a:prstDash val="solid"/>
          </a:ln>
        </p:spPr>
      </p:sp>
      <p:sp>
        <p:nvSpPr>
          <p:cNvPr id="23" name="Text 21"/>
          <p:cNvSpPr txBox="1"/>
          <p:nvPr/>
        </p:nvSpPr>
        <p:spPr>
          <a:xfrm>
            <a:off x="6323076" y="4786884"/>
            <a:ext cx="2379726" cy="219456"/>
          </a:xfrm>
          <a:prstGeom prst="rect">
            <a:avLst/>
          </a:prstGeom>
          <a:noFill/>
          <a:ln/>
        </p:spPr>
        <p:txBody>
          <a:bodyPr wrap="square" lIns="0" tIns="0" rIns="0" bIns="0" rtlCol="0" anchor="ctr"/>
          <a:lstStyle/>
          <a:p>
            <a:pPr indent="0" marL="0">
              <a:buNone/>
            </a:pPr>
            <a:r>
              <a:rPr lang="en-US" sz="950" b="1" dirty="0">
                <a:solidFill>
                  <a:srgbClr val="22D3EE"/>
                </a:solidFill>
                <a:latin typeface="Trenda IG Text" pitchFamily="34" charset="0"/>
                <a:ea typeface="Trenda IG Text" pitchFamily="34" charset="-122"/>
                <a:cs typeface="Trenda IG Text" pitchFamily="34" charset="-120"/>
              </a:rPr>
              <a:t>Recommended priority</a:t>
            </a:r>
            <a:endParaRPr lang="en-US" sz="950" dirty="0"/>
          </a:p>
        </p:txBody>
      </p:sp>
      <p:sp>
        <p:nvSpPr>
          <p:cNvPr id="24" name="Text 22"/>
          <p:cNvSpPr txBox="1"/>
          <p:nvPr/>
        </p:nvSpPr>
        <p:spPr>
          <a:xfrm>
            <a:off x="6323076" y="5006340"/>
            <a:ext cx="2379726" cy="292608"/>
          </a:xfrm>
          <a:prstGeom prst="rect">
            <a:avLst/>
          </a:prstGeom>
          <a:noFill/>
          <a:ln/>
        </p:spPr>
        <p:txBody>
          <a:bodyPr wrap="square" lIns="0" tIns="0" rIns="0" bIns="0" rtlCol="0" anchor="t"/>
          <a:lstStyle/>
          <a:p>
            <a:pPr indent="0" marL="0">
              <a:lnSpc>
                <a:spcPts val="1050"/>
              </a:lnSpc>
              <a:buNone/>
            </a:pPr>
            <a:r>
              <a:rPr lang="en-US" sz="800" dirty="0">
                <a:solidFill>
                  <a:srgbClr val="8A94A6"/>
                </a:solidFill>
                <a:latin typeface="Trenda IG Text" pitchFamily="34" charset="0"/>
                <a:ea typeface="Trenda IG Text" pitchFamily="34" charset="-122"/>
                <a:cs typeface="Trenda IG Text" pitchFamily="34" charset="-120"/>
              </a:rPr>
              <a:t>P1 to P4, with the reason recorded</a:t>
            </a:r>
            <a:endParaRPr lang="en-US" sz="800" dirty="0"/>
          </a:p>
        </p:txBody>
      </p:sp>
      <p:sp>
        <p:nvSpPr>
          <p:cNvPr id="25" name="Shape 23"/>
          <p:cNvSpPr/>
          <p:nvPr/>
        </p:nvSpPr>
        <p:spPr>
          <a:xfrm>
            <a:off x="9013698" y="4704588"/>
            <a:ext cx="2672334" cy="658368"/>
          </a:xfrm>
          <a:prstGeom prst="roundRect">
            <a:avLst>
              <a:gd name="adj" fmla="val 5556"/>
            </a:avLst>
          </a:prstGeom>
          <a:solidFill>
            <a:srgbClr val="1A2130"/>
          </a:solidFill>
          <a:ln w="12700">
            <a:solidFill>
              <a:srgbClr val="252D3D"/>
            </a:solidFill>
            <a:prstDash val="solid"/>
          </a:ln>
        </p:spPr>
      </p:sp>
      <p:sp>
        <p:nvSpPr>
          <p:cNvPr id="26" name="Text 24"/>
          <p:cNvSpPr txBox="1"/>
          <p:nvPr/>
        </p:nvSpPr>
        <p:spPr>
          <a:xfrm>
            <a:off x="9160002" y="4786884"/>
            <a:ext cx="2379726" cy="219456"/>
          </a:xfrm>
          <a:prstGeom prst="rect">
            <a:avLst/>
          </a:prstGeom>
          <a:noFill/>
          <a:ln/>
        </p:spPr>
        <p:txBody>
          <a:bodyPr wrap="square" lIns="0" tIns="0" rIns="0" bIns="0" rtlCol="0" anchor="ctr"/>
          <a:lstStyle/>
          <a:p>
            <a:pPr indent="0" marL="0">
              <a:buNone/>
            </a:pPr>
            <a:r>
              <a:rPr lang="en-US" sz="950" b="1" dirty="0">
                <a:solidFill>
                  <a:srgbClr val="22D3EE"/>
                </a:solidFill>
                <a:latin typeface="Trenda IG Text" pitchFamily="34" charset="0"/>
                <a:ea typeface="Trenda IG Text" pitchFamily="34" charset="-122"/>
                <a:cs typeface="Trenda IG Text" pitchFamily="34" charset="-120"/>
              </a:rPr>
              <a:t>Extracted entities</a:t>
            </a:r>
            <a:endParaRPr lang="en-US" sz="950" dirty="0"/>
          </a:p>
        </p:txBody>
      </p:sp>
      <p:sp>
        <p:nvSpPr>
          <p:cNvPr id="27" name="Text 25"/>
          <p:cNvSpPr txBox="1"/>
          <p:nvPr/>
        </p:nvSpPr>
        <p:spPr>
          <a:xfrm>
            <a:off x="9160002" y="5006340"/>
            <a:ext cx="2379726" cy="292608"/>
          </a:xfrm>
          <a:prstGeom prst="rect">
            <a:avLst/>
          </a:prstGeom>
          <a:noFill/>
          <a:ln/>
        </p:spPr>
        <p:txBody>
          <a:bodyPr wrap="square" lIns="0" tIns="0" rIns="0" bIns="0" rtlCol="0" anchor="t"/>
          <a:lstStyle/>
          <a:p>
            <a:pPr indent="0" marL="0">
              <a:lnSpc>
                <a:spcPts val="1050"/>
              </a:lnSpc>
              <a:buNone/>
            </a:pPr>
            <a:r>
              <a:rPr lang="en-US" sz="800" dirty="0">
                <a:solidFill>
                  <a:srgbClr val="8A94A6"/>
                </a:solidFill>
                <a:latin typeface="Trenda IG Text" pitchFamily="34" charset="0"/>
                <a:ea typeface="Trenda IG Text" pitchFamily="34" charset="-122"/>
                <a:cs typeface="Trenda IG Text" pitchFamily="34" charset="-120"/>
              </a:rPr>
              <a:t>Order, invoice, PO, account, product, quantity</a:t>
            </a:r>
            <a:endParaRPr lang="en-US" sz="800" dirty="0"/>
          </a:p>
        </p:txBody>
      </p:sp>
      <p:sp>
        <p:nvSpPr>
          <p:cNvPr id="28" name="Shape 26"/>
          <p:cNvSpPr/>
          <p:nvPr/>
        </p:nvSpPr>
        <p:spPr>
          <a:xfrm>
            <a:off x="502920" y="5509260"/>
            <a:ext cx="2672334" cy="658368"/>
          </a:xfrm>
          <a:prstGeom prst="roundRect">
            <a:avLst>
              <a:gd name="adj" fmla="val 5556"/>
            </a:avLst>
          </a:prstGeom>
          <a:solidFill>
            <a:srgbClr val="1A2130"/>
          </a:solidFill>
          <a:ln w="12700">
            <a:solidFill>
              <a:srgbClr val="252D3D"/>
            </a:solidFill>
            <a:prstDash val="solid"/>
          </a:ln>
        </p:spPr>
      </p:sp>
      <p:sp>
        <p:nvSpPr>
          <p:cNvPr id="29" name="Text 27"/>
          <p:cNvSpPr txBox="1"/>
          <p:nvPr/>
        </p:nvSpPr>
        <p:spPr>
          <a:xfrm>
            <a:off x="649224" y="5591556"/>
            <a:ext cx="2379726" cy="219456"/>
          </a:xfrm>
          <a:prstGeom prst="rect">
            <a:avLst/>
          </a:prstGeom>
          <a:noFill/>
          <a:ln/>
        </p:spPr>
        <p:txBody>
          <a:bodyPr wrap="square" lIns="0" tIns="0" rIns="0" bIns="0" rtlCol="0" anchor="ctr"/>
          <a:lstStyle/>
          <a:p>
            <a:pPr indent="0" marL="0">
              <a:buNone/>
            </a:pPr>
            <a:r>
              <a:rPr lang="en-US" sz="950" b="1" dirty="0">
                <a:solidFill>
                  <a:srgbClr val="22D3EE"/>
                </a:solidFill>
                <a:latin typeface="Trenda IG Text" pitchFamily="34" charset="0"/>
                <a:ea typeface="Trenda IG Text" pitchFamily="34" charset="-122"/>
                <a:cs typeface="Trenda IG Text" pitchFamily="34" charset="-120"/>
              </a:rPr>
              <a:t>Customer sentiment</a:t>
            </a:r>
            <a:endParaRPr lang="en-US" sz="950" dirty="0"/>
          </a:p>
        </p:txBody>
      </p:sp>
      <p:sp>
        <p:nvSpPr>
          <p:cNvPr id="30" name="Text 28"/>
          <p:cNvSpPr txBox="1"/>
          <p:nvPr/>
        </p:nvSpPr>
        <p:spPr>
          <a:xfrm>
            <a:off x="649224" y="5811012"/>
            <a:ext cx="2379726" cy="292608"/>
          </a:xfrm>
          <a:prstGeom prst="rect">
            <a:avLst/>
          </a:prstGeom>
          <a:noFill/>
          <a:ln/>
        </p:spPr>
        <p:txBody>
          <a:bodyPr wrap="square" lIns="0" tIns="0" rIns="0" bIns="0" rtlCol="0" anchor="t"/>
          <a:lstStyle/>
          <a:p>
            <a:pPr indent="0" marL="0">
              <a:lnSpc>
                <a:spcPts val="1050"/>
              </a:lnSpc>
              <a:buNone/>
            </a:pPr>
            <a:r>
              <a:rPr lang="en-US" sz="800" dirty="0">
                <a:solidFill>
                  <a:srgbClr val="8A94A6"/>
                </a:solidFill>
                <a:latin typeface="Trenda IG Text" pitchFamily="34" charset="0"/>
                <a:ea typeface="Trenda IG Text" pitchFamily="34" charset="-122"/>
                <a:cs typeface="Trenda IG Text" pitchFamily="34" charset="-120"/>
              </a:rPr>
              <a:t>Tone and escalation risk on the thread</a:t>
            </a:r>
            <a:endParaRPr lang="en-US" sz="800" dirty="0"/>
          </a:p>
        </p:txBody>
      </p:sp>
      <p:sp>
        <p:nvSpPr>
          <p:cNvPr id="31" name="Shape 29"/>
          <p:cNvSpPr/>
          <p:nvPr/>
        </p:nvSpPr>
        <p:spPr>
          <a:xfrm>
            <a:off x="3339846" y="5509260"/>
            <a:ext cx="2672334" cy="658368"/>
          </a:xfrm>
          <a:prstGeom prst="roundRect">
            <a:avLst>
              <a:gd name="adj" fmla="val 5556"/>
            </a:avLst>
          </a:prstGeom>
          <a:solidFill>
            <a:srgbClr val="1A2130"/>
          </a:solidFill>
          <a:ln w="12700">
            <a:solidFill>
              <a:srgbClr val="252D3D"/>
            </a:solidFill>
            <a:prstDash val="solid"/>
          </a:ln>
        </p:spPr>
      </p:sp>
      <p:sp>
        <p:nvSpPr>
          <p:cNvPr id="32" name="Text 30"/>
          <p:cNvSpPr txBox="1"/>
          <p:nvPr/>
        </p:nvSpPr>
        <p:spPr>
          <a:xfrm>
            <a:off x="3486150" y="5591556"/>
            <a:ext cx="2379726" cy="219456"/>
          </a:xfrm>
          <a:prstGeom prst="rect">
            <a:avLst/>
          </a:prstGeom>
          <a:noFill/>
          <a:ln/>
        </p:spPr>
        <p:txBody>
          <a:bodyPr wrap="square" lIns="0" tIns="0" rIns="0" bIns="0" rtlCol="0" anchor="ctr"/>
          <a:lstStyle/>
          <a:p>
            <a:pPr indent="0" marL="0">
              <a:buNone/>
            </a:pPr>
            <a:r>
              <a:rPr lang="en-US" sz="950" b="1" dirty="0">
                <a:solidFill>
                  <a:srgbClr val="22D3EE"/>
                </a:solidFill>
                <a:latin typeface="Trenda IG Text" pitchFamily="34" charset="0"/>
                <a:ea typeface="Trenda IG Text" pitchFamily="34" charset="-122"/>
                <a:cs typeface="Trenda IG Text" pitchFamily="34" charset="-120"/>
              </a:rPr>
              <a:t>Case summary</a:t>
            </a:r>
            <a:endParaRPr lang="en-US" sz="950" dirty="0"/>
          </a:p>
        </p:txBody>
      </p:sp>
      <p:sp>
        <p:nvSpPr>
          <p:cNvPr id="33" name="Text 31"/>
          <p:cNvSpPr txBox="1"/>
          <p:nvPr/>
        </p:nvSpPr>
        <p:spPr>
          <a:xfrm>
            <a:off x="3486150" y="5811012"/>
            <a:ext cx="2379726" cy="292608"/>
          </a:xfrm>
          <a:prstGeom prst="rect">
            <a:avLst/>
          </a:prstGeom>
          <a:noFill/>
          <a:ln/>
        </p:spPr>
        <p:txBody>
          <a:bodyPr wrap="square" lIns="0" tIns="0" rIns="0" bIns="0" rtlCol="0" anchor="t"/>
          <a:lstStyle/>
          <a:p>
            <a:pPr indent="0" marL="0">
              <a:lnSpc>
                <a:spcPts val="1050"/>
              </a:lnSpc>
              <a:buNone/>
            </a:pPr>
            <a:r>
              <a:rPr lang="en-US" sz="800" dirty="0">
                <a:solidFill>
                  <a:srgbClr val="8A94A6"/>
                </a:solidFill>
                <a:latin typeface="Trenda IG Text" pitchFamily="34" charset="0"/>
                <a:ea typeface="Trenda IG Text" pitchFamily="34" charset="-122"/>
                <a:cs typeface="Trenda IG Text" pitchFamily="34" charset="-120"/>
              </a:rPr>
              <a:t>A short factual summary of what is being asked</a:t>
            </a:r>
            <a:endParaRPr lang="en-US" sz="800" dirty="0"/>
          </a:p>
        </p:txBody>
      </p:sp>
      <p:sp>
        <p:nvSpPr>
          <p:cNvPr id="34" name="Shape 32"/>
          <p:cNvSpPr/>
          <p:nvPr/>
        </p:nvSpPr>
        <p:spPr>
          <a:xfrm>
            <a:off x="6176772" y="5509260"/>
            <a:ext cx="2672334" cy="658368"/>
          </a:xfrm>
          <a:prstGeom prst="roundRect">
            <a:avLst>
              <a:gd name="adj" fmla="val 5556"/>
            </a:avLst>
          </a:prstGeom>
          <a:solidFill>
            <a:srgbClr val="1A2130"/>
          </a:solidFill>
          <a:ln w="12700">
            <a:solidFill>
              <a:srgbClr val="252D3D"/>
            </a:solidFill>
            <a:prstDash val="solid"/>
          </a:ln>
        </p:spPr>
      </p:sp>
      <p:sp>
        <p:nvSpPr>
          <p:cNvPr id="35" name="Text 33"/>
          <p:cNvSpPr txBox="1"/>
          <p:nvPr/>
        </p:nvSpPr>
        <p:spPr>
          <a:xfrm>
            <a:off x="6323076" y="5591556"/>
            <a:ext cx="2379726" cy="219456"/>
          </a:xfrm>
          <a:prstGeom prst="rect">
            <a:avLst/>
          </a:prstGeom>
          <a:noFill/>
          <a:ln/>
        </p:spPr>
        <p:txBody>
          <a:bodyPr wrap="square" lIns="0" tIns="0" rIns="0" bIns="0" rtlCol="0" anchor="ctr"/>
          <a:lstStyle/>
          <a:p>
            <a:pPr indent="0" marL="0">
              <a:buNone/>
            </a:pPr>
            <a:r>
              <a:rPr lang="en-US" sz="950" b="1" dirty="0">
                <a:solidFill>
                  <a:srgbClr val="22D3EE"/>
                </a:solidFill>
                <a:latin typeface="Trenda IG Text" pitchFamily="34" charset="0"/>
                <a:ea typeface="Trenda IG Text" pitchFamily="34" charset="-122"/>
                <a:cs typeface="Trenda IG Text" pitchFamily="34" charset="-120"/>
              </a:rPr>
              <a:t>PHI indicator</a:t>
            </a:r>
            <a:endParaRPr lang="en-US" sz="950" dirty="0"/>
          </a:p>
        </p:txBody>
      </p:sp>
      <p:sp>
        <p:nvSpPr>
          <p:cNvPr id="36" name="Text 34"/>
          <p:cNvSpPr txBox="1"/>
          <p:nvPr/>
        </p:nvSpPr>
        <p:spPr>
          <a:xfrm>
            <a:off x="6323076" y="5811012"/>
            <a:ext cx="2379726" cy="292608"/>
          </a:xfrm>
          <a:prstGeom prst="rect">
            <a:avLst/>
          </a:prstGeom>
          <a:noFill/>
          <a:ln/>
        </p:spPr>
        <p:txBody>
          <a:bodyPr wrap="square" lIns="0" tIns="0" rIns="0" bIns="0" rtlCol="0" anchor="t"/>
          <a:lstStyle/>
          <a:p>
            <a:pPr indent="0" marL="0">
              <a:lnSpc>
                <a:spcPts val="1050"/>
              </a:lnSpc>
              <a:buNone/>
            </a:pPr>
            <a:r>
              <a:rPr lang="en-US" sz="800" dirty="0">
                <a:solidFill>
                  <a:srgbClr val="8A94A6"/>
                </a:solidFill>
                <a:latin typeface="Trenda IG Text" pitchFamily="34" charset="0"/>
                <a:ea typeface="Trenda IG Text" pitchFamily="34" charset="-122"/>
                <a:cs typeface="Trenda IG Text" pitchFamily="34" charset="-120"/>
              </a:rPr>
              <a:t>Flags patient identifiable content for handling</a:t>
            </a:r>
            <a:endParaRPr lang="en-US" sz="800" dirty="0"/>
          </a:p>
        </p:txBody>
      </p:sp>
      <p:sp>
        <p:nvSpPr>
          <p:cNvPr id="37" name="Shape 35"/>
          <p:cNvSpPr/>
          <p:nvPr/>
        </p:nvSpPr>
        <p:spPr>
          <a:xfrm>
            <a:off x="9013698" y="5509260"/>
            <a:ext cx="2672334" cy="658368"/>
          </a:xfrm>
          <a:prstGeom prst="roundRect">
            <a:avLst>
              <a:gd name="adj" fmla="val 5556"/>
            </a:avLst>
          </a:prstGeom>
          <a:solidFill>
            <a:srgbClr val="1A2130"/>
          </a:solidFill>
          <a:ln w="12700">
            <a:solidFill>
              <a:srgbClr val="252D3D"/>
            </a:solidFill>
            <a:prstDash val="solid"/>
          </a:ln>
        </p:spPr>
      </p:sp>
      <p:sp>
        <p:nvSpPr>
          <p:cNvPr id="38" name="Text 36"/>
          <p:cNvSpPr txBox="1"/>
          <p:nvPr/>
        </p:nvSpPr>
        <p:spPr>
          <a:xfrm>
            <a:off x="9160002" y="5591556"/>
            <a:ext cx="2379726" cy="219456"/>
          </a:xfrm>
          <a:prstGeom prst="rect">
            <a:avLst/>
          </a:prstGeom>
          <a:noFill/>
          <a:ln/>
        </p:spPr>
        <p:txBody>
          <a:bodyPr wrap="square" lIns="0" tIns="0" rIns="0" bIns="0" rtlCol="0" anchor="ctr"/>
          <a:lstStyle/>
          <a:p>
            <a:pPr indent="0" marL="0">
              <a:buNone/>
            </a:pPr>
            <a:r>
              <a:rPr lang="en-US" sz="950" b="1" dirty="0">
                <a:solidFill>
                  <a:srgbClr val="22D3EE"/>
                </a:solidFill>
                <a:latin typeface="Trenda IG Text" pitchFamily="34" charset="0"/>
                <a:ea typeface="Trenda IG Text" pitchFamily="34" charset="-122"/>
                <a:cs typeface="Trenda IG Text" pitchFamily="34" charset="-120"/>
              </a:rPr>
              <a:t>Suggested queue</a:t>
            </a:r>
            <a:endParaRPr lang="en-US" sz="950" dirty="0"/>
          </a:p>
        </p:txBody>
      </p:sp>
      <p:sp>
        <p:nvSpPr>
          <p:cNvPr id="39" name="Text 37"/>
          <p:cNvSpPr txBox="1"/>
          <p:nvPr/>
        </p:nvSpPr>
        <p:spPr>
          <a:xfrm>
            <a:off x="9160002" y="5811012"/>
            <a:ext cx="2379726" cy="292608"/>
          </a:xfrm>
          <a:prstGeom prst="rect">
            <a:avLst/>
          </a:prstGeom>
          <a:noFill/>
          <a:ln/>
        </p:spPr>
        <p:txBody>
          <a:bodyPr wrap="square" lIns="0" tIns="0" rIns="0" bIns="0" rtlCol="0" anchor="t"/>
          <a:lstStyle/>
          <a:p>
            <a:pPr indent="0" marL="0">
              <a:lnSpc>
                <a:spcPts val="1050"/>
              </a:lnSpc>
              <a:buNone/>
            </a:pPr>
            <a:r>
              <a:rPr lang="en-US" sz="800" dirty="0">
                <a:solidFill>
                  <a:srgbClr val="8A94A6"/>
                </a:solidFill>
                <a:latin typeface="Trenda IG Text" pitchFamily="34" charset="0"/>
                <a:ea typeface="Trenda IG Text" pitchFamily="34" charset="-122"/>
                <a:cs typeface="Trenda IG Text" pitchFamily="34" charset="-120"/>
              </a:rPr>
              <a:t>The routing destination and skills required</a:t>
            </a:r>
            <a:endParaRPr lang="en-US" sz="800" dirty="0"/>
          </a:p>
        </p:txBody>
      </p:sp>
      <p:pic>
        <p:nvPicPr>
          <p:cNvPr id="40" name="Image 0" descr="assets/ig-mark.png">    </p:cNvPr>
          <p:cNvPicPr>
            <a:picLocks noChangeAspect="1"/>
          </p:cNvPicPr>
          <p:nvPr/>
        </p:nvPicPr>
        <p:blipFill>
          <a:blip r:embed="rId1"/>
          <a:stretch>
            <a:fillRect/>
          </a:stretch>
        </p:blipFill>
        <p:spPr>
          <a:xfrm>
            <a:off x="502920" y="6455664"/>
            <a:ext cx="420624" cy="144475"/>
          </a:xfrm>
          <a:prstGeom prst="rect">
            <a:avLst/>
          </a:prstGeom>
        </p:spPr>
      </p:pic>
      <p:sp>
        <p:nvSpPr>
          <p:cNvPr id="41" name="Text 38"/>
          <p:cNvSpPr txBox="1"/>
          <p:nvPr/>
        </p:nvSpPr>
        <p:spPr>
          <a:xfrm>
            <a:off x="11201400" y="6400800"/>
            <a:ext cx="484632" cy="237744"/>
          </a:xfrm>
          <a:prstGeom prst="rect">
            <a:avLst/>
          </a:prstGeom>
          <a:noFill/>
          <a:ln/>
        </p:spPr>
        <p:txBody>
          <a:bodyPr wrap="square" lIns="0" tIns="0" rIns="0" bIns="0" rtlCol="0" anchor="ctr"/>
          <a:lstStyle/>
          <a:p>
            <a:pPr algn="r" indent="0" marL="0">
              <a:buNone/>
            </a:pPr>
            <a:r>
              <a:rPr lang="en-US" sz="850" dirty="0">
                <a:solidFill>
                  <a:srgbClr val="8A94A6"/>
                </a:solidFill>
                <a:latin typeface="Trenda IG Text" pitchFamily="34" charset="0"/>
                <a:ea typeface="Trenda IG Text" pitchFamily="34" charset="-122"/>
                <a:cs typeface="Trenda IG Text" pitchFamily="34" charset="-120"/>
              </a:rPr>
              <a:t>7</a:t>
            </a:r>
            <a:endParaRPr lang="en-US" sz="85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0A0D14"/>
        </a:solidFill>
      </p:bgPr>
    </p:bg>
    <p:spTree>
      <p:nvGrpSpPr>
        <p:cNvPr id="1" name=""/>
        <p:cNvGrpSpPr/>
        <p:nvPr/>
      </p:nvGrpSpPr>
      <p:grpSpPr>
        <a:xfrm>
          <a:off x="0" y="0"/>
          <a:ext cx="0" cy="0"/>
          <a:chOff x="0" y="0"/>
          <a:chExt cx="0" cy="0"/>
        </a:xfrm>
      </p:grpSpPr>
      <p:sp>
        <p:nvSpPr>
          <p:cNvPr id="2" name="Text 0"/>
          <p:cNvSpPr txBox="1"/>
          <p:nvPr/>
        </p:nvSpPr>
        <p:spPr>
          <a:xfrm>
            <a:off x="502920" y="384048"/>
            <a:ext cx="11183112" cy="219456"/>
          </a:xfrm>
          <a:prstGeom prst="rect">
            <a:avLst/>
          </a:prstGeom>
          <a:noFill/>
          <a:ln/>
        </p:spPr>
        <p:txBody>
          <a:bodyPr wrap="square" lIns="0" tIns="0" rIns="0" bIns="0" rtlCol="0" anchor="ctr"/>
          <a:lstStyle/>
          <a:p>
            <a:pPr indent="0" marL="0">
              <a:buNone/>
            </a:pPr>
            <a:r>
              <a:rPr lang="en-US" sz="1000" b="1" spc="220" kern="0" dirty="0">
                <a:solidFill>
                  <a:srgbClr val="22D3EE"/>
                </a:solidFill>
                <a:latin typeface="Trenda IG Display" pitchFamily="34" charset="0"/>
                <a:ea typeface="Trenda IG Display" pitchFamily="34" charset="-122"/>
                <a:cs typeface="Trenda IG Display" pitchFamily="34" charset="-120"/>
              </a:rPr>
              <a:t>CLASSIFICATION  |  01</a:t>
            </a:r>
            <a:endParaRPr lang="en-US" sz="1000" dirty="0"/>
          </a:p>
        </p:txBody>
      </p:sp>
      <p:sp>
        <p:nvSpPr>
          <p:cNvPr id="3" name="Text 1"/>
          <p:cNvSpPr txBox="1"/>
          <p:nvPr/>
        </p:nvSpPr>
        <p:spPr>
          <a:xfrm>
            <a:off x="502920" y="658368"/>
            <a:ext cx="11183112" cy="416052"/>
          </a:xfrm>
          <a:prstGeom prst="rect">
            <a:avLst/>
          </a:prstGeom>
          <a:noFill/>
          <a:ln/>
        </p:spPr>
        <p:txBody>
          <a:bodyPr wrap="square" lIns="0" tIns="0" rIns="0" bIns="0" rtlCol="0" anchor="ctr"/>
          <a:lstStyle/>
          <a:p>
            <a:pPr indent="0" marL="0">
              <a:lnSpc>
                <a:spcPts val="3016"/>
              </a:lnSpc>
              <a:buNone/>
            </a:pPr>
            <a:r>
              <a:rPr lang="en-US" sz="2600" b="1" spc="40" kern="0" dirty="0">
                <a:solidFill>
                  <a:srgbClr val="FFFFFF"/>
                </a:solidFill>
                <a:latin typeface="Trenda IG Display" pitchFamily="34" charset="0"/>
                <a:ea typeface="Trenda IG Display" pitchFamily="34" charset="-122"/>
                <a:cs typeface="Trenda IG Display" pitchFamily="34" charset="-120"/>
              </a:rPr>
              <a:t>A CASE TAXONOMY BUILT FOR CUSTOMER SERVICE</a:t>
            </a:r>
            <a:endParaRPr lang="en-US" sz="2600" dirty="0"/>
          </a:p>
        </p:txBody>
      </p:sp>
      <p:sp>
        <p:nvSpPr>
          <p:cNvPr id="4" name="Text 2"/>
          <p:cNvSpPr txBox="1"/>
          <p:nvPr/>
        </p:nvSpPr>
        <p:spPr>
          <a:xfrm>
            <a:off x="502920" y="1156716"/>
            <a:ext cx="11183112" cy="384048"/>
          </a:xfrm>
          <a:prstGeom prst="rect">
            <a:avLst/>
          </a:prstGeom>
          <a:noFill/>
          <a:ln/>
        </p:spPr>
        <p:txBody>
          <a:bodyPr wrap="square" lIns="0" tIns="0" rIns="0" bIns="0" rtlCol="0" anchor="t"/>
          <a:lstStyle/>
          <a:p>
            <a:pPr indent="0" marL="0">
              <a:lnSpc>
                <a:spcPts val="1500"/>
              </a:lnSpc>
              <a:buNone/>
            </a:pPr>
            <a:r>
              <a:rPr lang="en-US" sz="1150" dirty="0">
                <a:solidFill>
                  <a:srgbClr val="8A94A6"/>
                </a:solidFill>
                <a:latin typeface="Trenda IG Text" pitchFamily="34" charset="0"/>
                <a:ea typeface="Trenda IG Text" pitchFamily="34" charset="-122"/>
                <a:cs typeface="Trenda IG Text" pitchFamily="34" charset="-120"/>
              </a:rPr>
              <a:t>Software terms such as story and defect do not describe what an Extended Care customer is asking for. These six categories do, and they map cleanly onto how the work is actually handled.</a:t>
            </a:r>
            <a:endParaRPr lang="en-US" sz="1150" dirty="0"/>
          </a:p>
        </p:txBody>
      </p:sp>
      <p:graphicFrame>
        <p:nvGraphicFramePr>
          <p:cNvPr id="10" name="Table 0"/>
          <p:cNvGraphicFramePr>
            <a:graphicFrameLocks noGrp="1"/>
          </p:cNvGraphicFramePr>
          <p:nvPr>
            <p:extLst>
              <p:ext uri="{D42A27DB-BD31-4B8C-83A1-F6EECF244321}">
                <p14:modId xmlns:p14="http://schemas.microsoft.com/office/powerpoint/2010/main" val="1579011935"/>
              </p:ext>
            </p:extLst>
          </p:nvPr>
        </p:nvGraphicFramePr>
        <p:xfrm>
          <a:off x="502920" y="1796796"/>
          <a:ext cx="8001000" cy="914400"/>
        </p:xfrm>
        <a:graphic>
          <a:graphicData uri="http://schemas.openxmlformats.org/drawingml/2006/table">
            <a:tbl>
              <a:tblPr/>
              <a:tblGrid>
                <a:gridCol w="1874520"/>
                <a:gridCol w="2743200"/>
                <a:gridCol w="3383280"/>
              </a:tblGrid>
              <a:tr h="475488">
                <a:tc>
                  <a:txBody>
                    <a:bodyPr/>
                    <a:lstStyle/>
                    <a:p>
                      <a:pPr indent="0" marL="0">
                        <a:buNone/>
                      </a:pPr>
                      <a:r>
                        <a:rPr lang="en-US" sz="850" b="1" spc="100" kern="0" dirty="0">
                          <a:solidFill>
                            <a:srgbClr val="22D3EE"/>
                          </a:solidFill>
                          <a:latin typeface="Trenda IG Text" pitchFamily="34" charset="0"/>
                          <a:ea typeface="Trenda IG Text" pitchFamily="34" charset="-122"/>
                          <a:cs typeface="Trenda IG Text" pitchFamily="34" charset="-120"/>
                        </a:rPr>
                        <a:t>Primary category</a:t>
                      </a:r>
                      <a:endParaRPr lang="en-US" sz="850" dirty="0">
                        <a:latin typeface="Trenda IG Text" charset="0"/>
                        <a:ea typeface="Trenda IG Text" charset="0"/>
                        <a:cs typeface="Trenda IG Text" charset="0"/>
                      </a:endParaRPr>
                    </a:p>
                  </a:txBody>
                  <a:tcPr marL="88900" marR="88900" marT="50800" marB="50800" anchor="ctr">
                    <a:lnL w="12700" cap="flat" cmpd="sng" algn="ctr">
                      <a:solidFill>
                        <a:srgbClr val="252D3D"/>
                      </a:solidFill>
                      <a:prstDash val="solid"/>
                      <a:round/>
                      <a:headEnd type="none" w="med" len="med"/>
                      <a:tailEnd type="none" w="med" len="med"/>
                    </a:lnL>
                    <a:lnR w="12700" cap="flat" cmpd="sng" algn="ctr">
                      <a:solidFill>
                        <a:srgbClr val="252D3D"/>
                      </a:solidFill>
                      <a:prstDash val="solid"/>
                      <a:round/>
                      <a:headEnd type="none" w="med" len="med"/>
                      <a:tailEnd type="none" w="med" len="med"/>
                    </a:lnR>
                    <a:lnT w="12700" cap="flat" cmpd="sng" algn="ctr">
                      <a:solidFill>
                        <a:srgbClr val="252D3D"/>
                      </a:solidFill>
                      <a:prstDash val="solid"/>
                      <a:round/>
                      <a:headEnd type="none" w="med" len="med"/>
                      <a:tailEnd type="none" w="med" len="med"/>
                    </a:lnT>
                    <a:lnB w="12700" cap="flat" cmpd="sng" algn="ctr">
                      <a:solidFill>
                        <a:srgbClr val="252D3D"/>
                      </a:solidFill>
                      <a:prstDash val="solid"/>
                      <a:round/>
                      <a:headEnd type="none" w="med" len="med"/>
                      <a:tailEnd type="none" w="med" len="med"/>
                    </a:lnB>
                    <a:solidFill>
                      <a:srgbClr val="1A2130"/>
                    </a:solidFill>
                  </a:tcPr>
                </a:tc>
                <a:tc>
                  <a:txBody>
                    <a:bodyPr/>
                    <a:lstStyle/>
                    <a:p>
                      <a:pPr indent="0" marL="0">
                        <a:buNone/>
                      </a:pPr>
                      <a:r>
                        <a:rPr lang="en-US" sz="850" b="1" spc="100" kern="0" dirty="0">
                          <a:solidFill>
                            <a:srgbClr val="22D3EE"/>
                          </a:solidFill>
                          <a:latin typeface="Trenda IG Text" pitchFamily="34" charset="0"/>
                          <a:ea typeface="Trenda IG Text" pitchFamily="34" charset="-122"/>
                          <a:cs typeface="Trenda IG Text" pitchFamily="34" charset="-120"/>
                        </a:rPr>
                        <a:t>What it means</a:t>
                      </a:r>
                      <a:endParaRPr lang="en-US" sz="850" dirty="0">
                        <a:latin typeface="Trenda IG Text" charset="0"/>
                        <a:ea typeface="Trenda IG Text" charset="0"/>
                        <a:cs typeface="Trenda IG Text" charset="0"/>
                      </a:endParaRPr>
                    </a:p>
                  </a:txBody>
                  <a:tcPr marL="88900" marR="88900" marT="50800" marB="50800" anchor="ctr">
                    <a:lnL w="12700" cap="flat" cmpd="sng" algn="ctr">
                      <a:solidFill>
                        <a:srgbClr val="252D3D"/>
                      </a:solidFill>
                      <a:prstDash val="solid"/>
                      <a:round/>
                      <a:headEnd type="none" w="med" len="med"/>
                      <a:tailEnd type="none" w="med" len="med"/>
                    </a:lnL>
                    <a:lnR w="12700" cap="flat" cmpd="sng" algn="ctr">
                      <a:solidFill>
                        <a:srgbClr val="252D3D"/>
                      </a:solidFill>
                      <a:prstDash val="solid"/>
                      <a:round/>
                      <a:headEnd type="none" w="med" len="med"/>
                      <a:tailEnd type="none" w="med" len="med"/>
                    </a:lnR>
                    <a:lnT w="12700" cap="flat" cmpd="sng" algn="ctr">
                      <a:solidFill>
                        <a:srgbClr val="252D3D"/>
                      </a:solidFill>
                      <a:prstDash val="solid"/>
                      <a:round/>
                      <a:headEnd type="none" w="med" len="med"/>
                      <a:tailEnd type="none" w="med" len="med"/>
                    </a:lnT>
                    <a:lnB w="12700" cap="flat" cmpd="sng" algn="ctr">
                      <a:solidFill>
                        <a:srgbClr val="252D3D"/>
                      </a:solidFill>
                      <a:prstDash val="solid"/>
                      <a:round/>
                      <a:headEnd type="none" w="med" len="med"/>
                      <a:tailEnd type="none" w="med" len="med"/>
                    </a:lnB>
                    <a:solidFill>
                      <a:srgbClr val="1A2130"/>
                    </a:solidFill>
                  </a:tcPr>
                </a:tc>
                <a:tc>
                  <a:txBody>
                    <a:bodyPr/>
                    <a:lstStyle/>
                    <a:p>
                      <a:pPr indent="0" marL="0">
                        <a:buNone/>
                      </a:pPr>
                      <a:r>
                        <a:rPr lang="en-US" sz="850" b="1" spc="100" kern="0" dirty="0">
                          <a:solidFill>
                            <a:srgbClr val="22D3EE"/>
                          </a:solidFill>
                          <a:latin typeface="Trenda IG Text" pitchFamily="34" charset="0"/>
                          <a:ea typeface="Trenda IG Text" pitchFamily="34" charset="-122"/>
                          <a:cs typeface="Trenda IG Text" pitchFamily="34" charset="-120"/>
                        </a:rPr>
                        <a:t>Extended Care examples</a:t>
                      </a:r>
                      <a:endParaRPr lang="en-US" sz="850" dirty="0">
                        <a:latin typeface="Trenda IG Text" charset="0"/>
                        <a:ea typeface="Trenda IG Text" charset="0"/>
                        <a:cs typeface="Trenda IG Text" charset="0"/>
                      </a:endParaRPr>
                    </a:p>
                  </a:txBody>
                  <a:tcPr marL="88900" marR="88900" marT="50800" marB="50800" anchor="ctr">
                    <a:lnL w="12700" cap="flat" cmpd="sng" algn="ctr">
                      <a:solidFill>
                        <a:srgbClr val="252D3D"/>
                      </a:solidFill>
                      <a:prstDash val="solid"/>
                      <a:round/>
                      <a:headEnd type="none" w="med" len="med"/>
                      <a:tailEnd type="none" w="med" len="med"/>
                    </a:lnL>
                    <a:lnR w="12700" cap="flat" cmpd="sng" algn="ctr">
                      <a:solidFill>
                        <a:srgbClr val="252D3D"/>
                      </a:solidFill>
                      <a:prstDash val="solid"/>
                      <a:round/>
                      <a:headEnd type="none" w="med" len="med"/>
                      <a:tailEnd type="none" w="med" len="med"/>
                    </a:lnR>
                    <a:lnT w="12700" cap="flat" cmpd="sng" algn="ctr">
                      <a:solidFill>
                        <a:srgbClr val="252D3D"/>
                      </a:solidFill>
                      <a:prstDash val="solid"/>
                      <a:round/>
                      <a:headEnd type="none" w="med" len="med"/>
                      <a:tailEnd type="none" w="med" len="med"/>
                    </a:lnT>
                    <a:lnB w="12700" cap="flat" cmpd="sng" algn="ctr">
                      <a:solidFill>
                        <a:srgbClr val="252D3D"/>
                      </a:solidFill>
                      <a:prstDash val="solid"/>
                      <a:round/>
                      <a:headEnd type="none" w="med" len="med"/>
                      <a:tailEnd type="none" w="med" len="med"/>
                    </a:lnB>
                    <a:solidFill>
                      <a:srgbClr val="1A2130"/>
                    </a:solidFill>
                  </a:tcPr>
                </a:tc>
              </a:tr>
              <a:tr h="475488">
                <a:tc>
                  <a:txBody>
                    <a:bodyPr/>
                    <a:lstStyle/>
                    <a:p>
                      <a:pPr indent="0" marL="0">
                        <a:buNone/>
                      </a:pPr>
                      <a:r>
                        <a:rPr lang="en-US" sz="850" b="1" dirty="0">
                          <a:solidFill>
                            <a:srgbClr val="FFFFFF"/>
                          </a:solidFill>
                          <a:latin typeface="Trenda IG Text" pitchFamily="34" charset="0"/>
                          <a:ea typeface="Trenda IG Text" pitchFamily="34" charset="-122"/>
                          <a:cs typeface="Trenda IG Text" pitchFamily="34" charset="-120"/>
                        </a:rPr>
                        <a:t>Request or Transaction</a:t>
                      </a:r>
                      <a:endParaRPr lang="en-US" sz="850" dirty="0">
                        <a:latin typeface="Trenda IG Text" charset="0"/>
                        <a:ea typeface="Trenda IG Text" charset="0"/>
                        <a:cs typeface="Trenda IG Text" charset="0"/>
                      </a:endParaRPr>
                    </a:p>
                  </a:txBody>
                  <a:tcPr marL="88900" marR="88900" marT="50800" marB="50800" anchor="ctr">
                    <a:lnL w="12700" cap="flat" cmpd="sng" algn="ctr">
                      <a:solidFill>
                        <a:srgbClr val="252D3D"/>
                      </a:solidFill>
                      <a:prstDash val="solid"/>
                      <a:round/>
                      <a:headEnd type="none" w="med" len="med"/>
                      <a:tailEnd type="none" w="med" len="med"/>
                    </a:lnL>
                    <a:lnR w="12700" cap="flat" cmpd="sng" algn="ctr">
                      <a:solidFill>
                        <a:srgbClr val="252D3D"/>
                      </a:solidFill>
                      <a:prstDash val="solid"/>
                      <a:round/>
                      <a:headEnd type="none" w="med" len="med"/>
                      <a:tailEnd type="none" w="med" len="med"/>
                    </a:lnR>
                    <a:lnT w="12700" cap="flat" cmpd="sng" algn="ctr">
                      <a:solidFill>
                        <a:srgbClr val="252D3D"/>
                      </a:solidFill>
                      <a:prstDash val="solid"/>
                      <a:round/>
                      <a:headEnd type="none" w="med" len="med"/>
                      <a:tailEnd type="none" w="med" len="med"/>
                    </a:lnT>
                    <a:lnB w="12700" cap="flat" cmpd="sng" algn="ctr">
                      <a:solidFill>
                        <a:srgbClr val="252D3D"/>
                      </a:solidFill>
                      <a:prstDash val="solid"/>
                      <a:round/>
                      <a:headEnd type="none" w="med" len="med"/>
                      <a:tailEnd type="none" w="med" len="med"/>
                    </a:lnB>
                    <a:solidFill>
                      <a:srgbClr val="151A24"/>
                    </a:solidFill>
                  </a:tcPr>
                </a:tc>
                <a:tc>
                  <a:txBody>
                    <a:bodyPr/>
                    <a:lstStyle/>
                    <a:p>
                      <a:pPr indent="0" marL="0">
                        <a:buNone/>
                      </a:pPr>
                      <a:r>
                        <a:rPr lang="en-US" sz="850" dirty="0">
                          <a:solidFill>
                            <a:srgbClr val="8A94A6"/>
                          </a:solidFill>
                          <a:latin typeface="Trenda IG Text" pitchFamily="34" charset="0"/>
                          <a:ea typeface="Trenda IG Text" pitchFamily="34" charset="-122"/>
                          <a:cs typeface="Trenda IG Text" pitchFamily="34" charset="-120"/>
                        </a:rPr>
                        <a:t>The customer asks the team to carry out an action</a:t>
                      </a:r>
                      <a:endParaRPr lang="en-US" sz="850" dirty="0">
                        <a:latin typeface="Trenda IG Text" charset="0"/>
                        <a:ea typeface="Trenda IG Text" charset="0"/>
                        <a:cs typeface="Trenda IG Text" charset="0"/>
                      </a:endParaRPr>
                    </a:p>
                  </a:txBody>
                  <a:tcPr marL="88900" marR="88900" marT="50800" marB="50800" anchor="ctr">
                    <a:lnL w="12700" cap="flat" cmpd="sng" algn="ctr">
                      <a:solidFill>
                        <a:srgbClr val="252D3D"/>
                      </a:solidFill>
                      <a:prstDash val="solid"/>
                      <a:round/>
                      <a:headEnd type="none" w="med" len="med"/>
                      <a:tailEnd type="none" w="med" len="med"/>
                    </a:lnL>
                    <a:lnR w="12700" cap="flat" cmpd="sng" algn="ctr">
                      <a:solidFill>
                        <a:srgbClr val="252D3D"/>
                      </a:solidFill>
                      <a:prstDash val="solid"/>
                      <a:round/>
                      <a:headEnd type="none" w="med" len="med"/>
                      <a:tailEnd type="none" w="med" len="med"/>
                    </a:lnR>
                    <a:lnT w="12700" cap="flat" cmpd="sng" algn="ctr">
                      <a:solidFill>
                        <a:srgbClr val="252D3D"/>
                      </a:solidFill>
                      <a:prstDash val="solid"/>
                      <a:round/>
                      <a:headEnd type="none" w="med" len="med"/>
                      <a:tailEnd type="none" w="med" len="med"/>
                    </a:lnT>
                    <a:lnB w="12700" cap="flat" cmpd="sng" algn="ctr">
                      <a:solidFill>
                        <a:srgbClr val="252D3D"/>
                      </a:solidFill>
                      <a:prstDash val="solid"/>
                      <a:round/>
                      <a:headEnd type="none" w="med" len="med"/>
                      <a:tailEnd type="none" w="med" len="med"/>
                    </a:lnB>
                    <a:solidFill>
                      <a:srgbClr val="151A24"/>
                    </a:solidFill>
                  </a:tcPr>
                </a:tc>
                <a:tc>
                  <a:txBody>
                    <a:bodyPr/>
                    <a:lstStyle/>
                    <a:p>
                      <a:pPr indent="0" marL="0">
                        <a:buNone/>
                      </a:pPr>
                      <a:r>
                        <a:rPr lang="en-US" sz="850" dirty="0">
                          <a:solidFill>
                            <a:srgbClr val="E6EAF2"/>
                          </a:solidFill>
                          <a:latin typeface="Trenda IG Text" pitchFamily="34" charset="0"/>
                          <a:ea typeface="Trenda IG Text" pitchFamily="34" charset="-122"/>
                          <a:cs typeface="Trenda IG Text" pitchFamily="34" charset="-120"/>
                        </a:rPr>
                        <a:t>Place an order, modify an order, raise a return, request a document</a:t>
                      </a:r>
                      <a:endParaRPr lang="en-US" sz="850" dirty="0">
                        <a:latin typeface="Trenda IG Text" charset="0"/>
                        <a:ea typeface="Trenda IG Text" charset="0"/>
                        <a:cs typeface="Trenda IG Text" charset="0"/>
                      </a:endParaRPr>
                    </a:p>
                  </a:txBody>
                  <a:tcPr marL="88900" marR="88900" marT="50800" marB="50800" anchor="ctr">
                    <a:lnL w="12700" cap="flat" cmpd="sng" algn="ctr">
                      <a:solidFill>
                        <a:srgbClr val="252D3D"/>
                      </a:solidFill>
                      <a:prstDash val="solid"/>
                      <a:round/>
                      <a:headEnd type="none" w="med" len="med"/>
                      <a:tailEnd type="none" w="med" len="med"/>
                    </a:lnL>
                    <a:lnR w="12700" cap="flat" cmpd="sng" algn="ctr">
                      <a:solidFill>
                        <a:srgbClr val="252D3D"/>
                      </a:solidFill>
                      <a:prstDash val="solid"/>
                      <a:round/>
                      <a:headEnd type="none" w="med" len="med"/>
                      <a:tailEnd type="none" w="med" len="med"/>
                    </a:lnR>
                    <a:lnT w="12700" cap="flat" cmpd="sng" algn="ctr">
                      <a:solidFill>
                        <a:srgbClr val="252D3D"/>
                      </a:solidFill>
                      <a:prstDash val="solid"/>
                      <a:round/>
                      <a:headEnd type="none" w="med" len="med"/>
                      <a:tailEnd type="none" w="med" len="med"/>
                    </a:lnT>
                    <a:lnB w="12700" cap="flat" cmpd="sng" algn="ctr">
                      <a:solidFill>
                        <a:srgbClr val="252D3D"/>
                      </a:solidFill>
                      <a:prstDash val="solid"/>
                      <a:round/>
                      <a:headEnd type="none" w="med" len="med"/>
                      <a:tailEnd type="none" w="med" len="med"/>
                    </a:lnB>
                    <a:solidFill>
                      <a:srgbClr val="151A24"/>
                    </a:solidFill>
                  </a:tcPr>
                </a:tc>
              </a:tr>
              <a:tr h="475488">
                <a:tc>
                  <a:txBody>
                    <a:bodyPr/>
                    <a:lstStyle/>
                    <a:p>
                      <a:pPr indent="0" marL="0">
                        <a:buNone/>
                      </a:pPr>
                      <a:r>
                        <a:rPr lang="en-US" sz="850" b="1" dirty="0">
                          <a:solidFill>
                            <a:srgbClr val="FFFFFF"/>
                          </a:solidFill>
                          <a:latin typeface="Trenda IG Text" pitchFamily="34" charset="0"/>
                          <a:ea typeface="Trenda IG Text" pitchFamily="34" charset="-122"/>
                          <a:cs typeface="Trenda IG Text" pitchFamily="34" charset="-120"/>
                        </a:rPr>
                        <a:t>Inquiry</a:t>
                      </a:r>
                      <a:endParaRPr lang="en-US" sz="850" dirty="0">
                        <a:latin typeface="Trenda IG Text" charset="0"/>
                        <a:ea typeface="Trenda IG Text" charset="0"/>
                        <a:cs typeface="Trenda IG Text" charset="0"/>
                      </a:endParaRPr>
                    </a:p>
                  </a:txBody>
                  <a:tcPr marL="88900" marR="88900" marT="50800" marB="50800" anchor="ctr">
                    <a:lnL w="12700" cap="flat" cmpd="sng" algn="ctr">
                      <a:solidFill>
                        <a:srgbClr val="252D3D"/>
                      </a:solidFill>
                      <a:prstDash val="solid"/>
                      <a:round/>
                      <a:headEnd type="none" w="med" len="med"/>
                      <a:tailEnd type="none" w="med" len="med"/>
                    </a:lnL>
                    <a:lnR w="12700" cap="flat" cmpd="sng" algn="ctr">
                      <a:solidFill>
                        <a:srgbClr val="252D3D"/>
                      </a:solidFill>
                      <a:prstDash val="solid"/>
                      <a:round/>
                      <a:headEnd type="none" w="med" len="med"/>
                      <a:tailEnd type="none" w="med" len="med"/>
                    </a:lnR>
                    <a:lnT w="12700" cap="flat" cmpd="sng" algn="ctr">
                      <a:solidFill>
                        <a:srgbClr val="252D3D"/>
                      </a:solidFill>
                      <a:prstDash val="solid"/>
                      <a:round/>
                      <a:headEnd type="none" w="med" len="med"/>
                      <a:tailEnd type="none" w="med" len="med"/>
                    </a:lnT>
                    <a:lnB w="12700" cap="flat" cmpd="sng" algn="ctr">
                      <a:solidFill>
                        <a:srgbClr val="252D3D"/>
                      </a:solidFill>
                      <a:prstDash val="solid"/>
                      <a:round/>
                      <a:headEnd type="none" w="med" len="med"/>
                      <a:tailEnd type="none" w="med" len="med"/>
                    </a:lnB>
                    <a:solidFill>
                      <a:srgbClr val="151A24"/>
                    </a:solidFill>
                  </a:tcPr>
                </a:tc>
                <a:tc>
                  <a:txBody>
                    <a:bodyPr/>
                    <a:lstStyle/>
                    <a:p>
                      <a:pPr indent="0" marL="0">
                        <a:buNone/>
                      </a:pPr>
                      <a:r>
                        <a:rPr lang="en-US" sz="850" dirty="0">
                          <a:solidFill>
                            <a:srgbClr val="8A94A6"/>
                          </a:solidFill>
                          <a:latin typeface="Trenda IG Text" pitchFamily="34" charset="0"/>
                          <a:ea typeface="Trenda IG Text" pitchFamily="34" charset="-122"/>
                          <a:cs typeface="Trenda IG Text" pitchFamily="34" charset="-120"/>
                        </a:rPr>
                        <a:t>The customer asks for information</a:t>
                      </a:r>
                      <a:endParaRPr lang="en-US" sz="850" dirty="0">
                        <a:latin typeface="Trenda IG Text" charset="0"/>
                        <a:ea typeface="Trenda IG Text" charset="0"/>
                        <a:cs typeface="Trenda IG Text" charset="0"/>
                      </a:endParaRPr>
                    </a:p>
                  </a:txBody>
                  <a:tcPr marL="88900" marR="88900" marT="50800" marB="50800" anchor="ctr">
                    <a:lnL w="12700" cap="flat" cmpd="sng" algn="ctr">
                      <a:solidFill>
                        <a:srgbClr val="252D3D"/>
                      </a:solidFill>
                      <a:prstDash val="solid"/>
                      <a:round/>
                      <a:headEnd type="none" w="med" len="med"/>
                      <a:tailEnd type="none" w="med" len="med"/>
                    </a:lnL>
                    <a:lnR w="12700" cap="flat" cmpd="sng" algn="ctr">
                      <a:solidFill>
                        <a:srgbClr val="252D3D"/>
                      </a:solidFill>
                      <a:prstDash val="solid"/>
                      <a:round/>
                      <a:headEnd type="none" w="med" len="med"/>
                      <a:tailEnd type="none" w="med" len="med"/>
                    </a:lnR>
                    <a:lnT w="12700" cap="flat" cmpd="sng" algn="ctr">
                      <a:solidFill>
                        <a:srgbClr val="252D3D"/>
                      </a:solidFill>
                      <a:prstDash val="solid"/>
                      <a:round/>
                      <a:headEnd type="none" w="med" len="med"/>
                      <a:tailEnd type="none" w="med" len="med"/>
                    </a:lnT>
                    <a:lnB w="12700" cap="flat" cmpd="sng" algn="ctr">
                      <a:solidFill>
                        <a:srgbClr val="252D3D"/>
                      </a:solidFill>
                      <a:prstDash val="solid"/>
                      <a:round/>
                      <a:headEnd type="none" w="med" len="med"/>
                      <a:tailEnd type="none" w="med" len="med"/>
                    </a:lnB>
                    <a:solidFill>
                      <a:srgbClr val="151A24"/>
                    </a:solidFill>
                  </a:tcPr>
                </a:tc>
                <a:tc>
                  <a:txBody>
                    <a:bodyPr/>
                    <a:lstStyle/>
                    <a:p>
                      <a:pPr indent="0" marL="0">
                        <a:buNone/>
                      </a:pPr>
                      <a:r>
                        <a:rPr lang="en-US" sz="850" dirty="0">
                          <a:solidFill>
                            <a:srgbClr val="E6EAF2"/>
                          </a:solidFill>
                          <a:latin typeface="Trenda IG Text" pitchFamily="34" charset="0"/>
                          <a:ea typeface="Trenda IG Text" pitchFamily="34" charset="-122"/>
                          <a:cs typeface="Trenda IG Text" pitchFamily="34" charset="-120"/>
                        </a:rPr>
                        <a:t>Order status, tracking, price, product availability, account question</a:t>
                      </a:r>
                      <a:endParaRPr lang="en-US" sz="850" dirty="0">
                        <a:latin typeface="Trenda IG Text" charset="0"/>
                        <a:ea typeface="Trenda IG Text" charset="0"/>
                        <a:cs typeface="Trenda IG Text" charset="0"/>
                      </a:endParaRPr>
                    </a:p>
                  </a:txBody>
                  <a:tcPr marL="88900" marR="88900" marT="50800" marB="50800" anchor="ctr">
                    <a:lnL w="12700" cap="flat" cmpd="sng" algn="ctr">
                      <a:solidFill>
                        <a:srgbClr val="252D3D"/>
                      </a:solidFill>
                      <a:prstDash val="solid"/>
                      <a:round/>
                      <a:headEnd type="none" w="med" len="med"/>
                      <a:tailEnd type="none" w="med" len="med"/>
                    </a:lnL>
                    <a:lnR w="12700" cap="flat" cmpd="sng" algn="ctr">
                      <a:solidFill>
                        <a:srgbClr val="252D3D"/>
                      </a:solidFill>
                      <a:prstDash val="solid"/>
                      <a:round/>
                      <a:headEnd type="none" w="med" len="med"/>
                      <a:tailEnd type="none" w="med" len="med"/>
                    </a:lnR>
                    <a:lnT w="12700" cap="flat" cmpd="sng" algn="ctr">
                      <a:solidFill>
                        <a:srgbClr val="252D3D"/>
                      </a:solidFill>
                      <a:prstDash val="solid"/>
                      <a:round/>
                      <a:headEnd type="none" w="med" len="med"/>
                      <a:tailEnd type="none" w="med" len="med"/>
                    </a:lnT>
                    <a:lnB w="12700" cap="flat" cmpd="sng" algn="ctr">
                      <a:solidFill>
                        <a:srgbClr val="252D3D"/>
                      </a:solidFill>
                      <a:prstDash val="solid"/>
                      <a:round/>
                      <a:headEnd type="none" w="med" len="med"/>
                      <a:tailEnd type="none" w="med" len="med"/>
                    </a:lnB>
                    <a:solidFill>
                      <a:srgbClr val="151A24"/>
                    </a:solidFill>
                  </a:tcPr>
                </a:tc>
              </a:tr>
              <a:tr h="475488">
                <a:tc>
                  <a:txBody>
                    <a:bodyPr/>
                    <a:lstStyle/>
                    <a:p>
                      <a:pPr indent="0" marL="0">
                        <a:buNone/>
                      </a:pPr>
                      <a:r>
                        <a:rPr lang="en-US" sz="850" b="1" dirty="0">
                          <a:solidFill>
                            <a:srgbClr val="FFFFFF"/>
                          </a:solidFill>
                          <a:latin typeface="Trenda IG Text" pitchFamily="34" charset="0"/>
                          <a:ea typeface="Trenda IG Text" pitchFamily="34" charset="-122"/>
                          <a:cs typeface="Trenda IG Text" pitchFamily="34" charset="-120"/>
                        </a:rPr>
                        <a:t>Issue or Exception</a:t>
                      </a:r>
                      <a:endParaRPr lang="en-US" sz="850" dirty="0">
                        <a:latin typeface="Trenda IG Text" charset="0"/>
                        <a:ea typeface="Trenda IG Text" charset="0"/>
                        <a:cs typeface="Trenda IG Text" charset="0"/>
                      </a:endParaRPr>
                    </a:p>
                  </a:txBody>
                  <a:tcPr marL="88900" marR="88900" marT="50800" marB="50800" anchor="ctr">
                    <a:lnL w="12700" cap="flat" cmpd="sng" algn="ctr">
                      <a:solidFill>
                        <a:srgbClr val="252D3D"/>
                      </a:solidFill>
                      <a:prstDash val="solid"/>
                      <a:round/>
                      <a:headEnd type="none" w="med" len="med"/>
                      <a:tailEnd type="none" w="med" len="med"/>
                    </a:lnL>
                    <a:lnR w="12700" cap="flat" cmpd="sng" algn="ctr">
                      <a:solidFill>
                        <a:srgbClr val="252D3D"/>
                      </a:solidFill>
                      <a:prstDash val="solid"/>
                      <a:round/>
                      <a:headEnd type="none" w="med" len="med"/>
                      <a:tailEnd type="none" w="med" len="med"/>
                    </a:lnR>
                    <a:lnT w="12700" cap="flat" cmpd="sng" algn="ctr">
                      <a:solidFill>
                        <a:srgbClr val="252D3D"/>
                      </a:solidFill>
                      <a:prstDash val="solid"/>
                      <a:round/>
                      <a:headEnd type="none" w="med" len="med"/>
                      <a:tailEnd type="none" w="med" len="med"/>
                    </a:lnT>
                    <a:lnB w="12700" cap="flat" cmpd="sng" algn="ctr">
                      <a:solidFill>
                        <a:srgbClr val="252D3D"/>
                      </a:solidFill>
                      <a:prstDash val="solid"/>
                      <a:round/>
                      <a:headEnd type="none" w="med" len="med"/>
                      <a:tailEnd type="none" w="med" len="med"/>
                    </a:lnB>
                    <a:solidFill>
                      <a:srgbClr val="151A24"/>
                    </a:solidFill>
                  </a:tcPr>
                </a:tc>
                <a:tc>
                  <a:txBody>
                    <a:bodyPr/>
                    <a:lstStyle/>
                    <a:p>
                      <a:pPr indent="0" marL="0">
                        <a:buNone/>
                      </a:pPr>
                      <a:r>
                        <a:rPr lang="en-US" sz="850" dirty="0">
                          <a:solidFill>
                            <a:srgbClr val="8A94A6"/>
                          </a:solidFill>
                          <a:latin typeface="Trenda IG Text" pitchFamily="34" charset="0"/>
                          <a:ea typeface="Trenda IG Text" pitchFamily="34" charset="-122"/>
                          <a:cs typeface="Trenda IG Text" pitchFamily="34" charset="-120"/>
                        </a:rPr>
                        <a:t>An expected service or transaction has failed</a:t>
                      </a:r>
                      <a:endParaRPr lang="en-US" sz="850" dirty="0">
                        <a:latin typeface="Trenda IG Text" charset="0"/>
                        <a:ea typeface="Trenda IG Text" charset="0"/>
                        <a:cs typeface="Trenda IG Text" charset="0"/>
                      </a:endParaRPr>
                    </a:p>
                  </a:txBody>
                  <a:tcPr marL="88900" marR="88900" marT="50800" marB="50800" anchor="ctr">
                    <a:lnL w="12700" cap="flat" cmpd="sng" algn="ctr">
                      <a:solidFill>
                        <a:srgbClr val="252D3D"/>
                      </a:solidFill>
                      <a:prstDash val="solid"/>
                      <a:round/>
                      <a:headEnd type="none" w="med" len="med"/>
                      <a:tailEnd type="none" w="med" len="med"/>
                    </a:lnL>
                    <a:lnR w="12700" cap="flat" cmpd="sng" algn="ctr">
                      <a:solidFill>
                        <a:srgbClr val="252D3D"/>
                      </a:solidFill>
                      <a:prstDash val="solid"/>
                      <a:round/>
                      <a:headEnd type="none" w="med" len="med"/>
                      <a:tailEnd type="none" w="med" len="med"/>
                    </a:lnR>
                    <a:lnT w="12700" cap="flat" cmpd="sng" algn="ctr">
                      <a:solidFill>
                        <a:srgbClr val="252D3D"/>
                      </a:solidFill>
                      <a:prstDash val="solid"/>
                      <a:round/>
                      <a:headEnd type="none" w="med" len="med"/>
                      <a:tailEnd type="none" w="med" len="med"/>
                    </a:lnT>
                    <a:lnB w="12700" cap="flat" cmpd="sng" algn="ctr">
                      <a:solidFill>
                        <a:srgbClr val="252D3D"/>
                      </a:solidFill>
                      <a:prstDash val="solid"/>
                      <a:round/>
                      <a:headEnd type="none" w="med" len="med"/>
                      <a:tailEnd type="none" w="med" len="med"/>
                    </a:lnB>
                    <a:solidFill>
                      <a:srgbClr val="151A24"/>
                    </a:solidFill>
                  </a:tcPr>
                </a:tc>
                <a:tc>
                  <a:txBody>
                    <a:bodyPr/>
                    <a:lstStyle/>
                    <a:p>
                      <a:pPr indent="0" marL="0">
                        <a:buNone/>
                      </a:pPr>
                      <a:r>
                        <a:rPr lang="en-US" sz="850" dirty="0">
                          <a:solidFill>
                            <a:srgbClr val="E6EAF2"/>
                          </a:solidFill>
                          <a:latin typeface="Trenda IG Text" pitchFamily="34" charset="0"/>
                          <a:ea typeface="Trenda IG Text" pitchFamily="34" charset="-122"/>
                          <a:cs typeface="Trenda IG Text" pitchFamily="34" charset="-120"/>
                        </a:rPr>
                        <a:t>Delivery failure, incorrect order, delayed shipment, billing error</a:t>
                      </a:r>
                      <a:endParaRPr lang="en-US" sz="850" dirty="0">
                        <a:latin typeface="Trenda IG Text" charset="0"/>
                        <a:ea typeface="Trenda IG Text" charset="0"/>
                        <a:cs typeface="Trenda IG Text" charset="0"/>
                      </a:endParaRPr>
                    </a:p>
                  </a:txBody>
                  <a:tcPr marL="88900" marR="88900" marT="50800" marB="50800" anchor="ctr">
                    <a:lnL w="12700" cap="flat" cmpd="sng" algn="ctr">
                      <a:solidFill>
                        <a:srgbClr val="252D3D"/>
                      </a:solidFill>
                      <a:prstDash val="solid"/>
                      <a:round/>
                      <a:headEnd type="none" w="med" len="med"/>
                      <a:tailEnd type="none" w="med" len="med"/>
                    </a:lnL>
                    <a:lnR w="12700" cap="flat" cmpd="sng" algn="ctr">
                      <a:solidFill>
                        <a:srgbClr val="252D3D"/>
                      </a:solidFill>
                      <a:prstDash val="solid"/>
                      <a:round/>
                      <a:headEnd type="none" w="med" len="med"/>
                      <a:tailEnd type="none" w="med" len="med"/>
                    </a:lnR>
                    <a:lnT w="12700" cap="flat" cmpd="sng" algn="ctr">
                      <a:solidFill>
                        <a:srgbClr val="252D3D"/>
                      </a:solidFill>
                      <a:prstDash val="solid"/>
                      <a:round/>
                      <a:headEnd type="none" w="med" len="med"/>
                      <a:tailEnd type="none" w="med" len="med"/>
                    </a:lnT>
                    <a:lnB w="12700" cap="flat" cmpd="sng" algn="ctr">
                      <a:solidFill>
                        <a:srgbClr val="252D3D"/>
                      </a:solidFill>
                      <a:prstDash val="solid"/>
                      <a:round/>
                      <a:headEnd type="none" w="med" len="med"/>
                      <a:tailEnd type="none" w="med" len="med"/>
                    </a:lnB>
                    <a:solidFill>
                      <a:srgbClr val="151A24"/>
                    </a:solidFill>
                  </a:tcPr>
                </a:tc>
              </a:tr>
              <a:tr h="475488">
                <a:tc>
                  <a:txBody>
                    <a:bodyPr/>
                    <a:lstStyle/>
                    <a:p>
                      <a:pPr indent="0" marL="0">
                        <a:buNone/>
                      </a:pPr>
                      <a:r>
                        <a:rPr lang="en-US" sz="850" b="1" dirty="0">
                          <a:solidFill>
                            <a:srgbClr val="FFFFFF"/>
                          </a:solidFill>
                          <a:latin typeface="Trenda IG Text" pitchFamily="34" charset="0"/>
                          <a:ea typeface="Trenda IG Text" pitchFamily="34" charset="-122"/>
                          <a:cs typeface="Trenda IG Text" pitchFamily="34" charset="-120"/>
                        </a:rPr>
                        <a:t>Dispute or Financial Case</a:t>
                      </a:r>
                      <a:endParaRPr lang="en-US" sz="850" dirty="0">
                        <a:latin typeface="Trenda IG Text" charset="0"/>
                        <a:ea typeface="Trenda IG Text" charset="0"/>
                        <a:cs typeface="Trenda IG Text" charset="0"/>
                      </a:endParaRPr>
                    </a:p>
                  </a:txBody>
                  <a:tcPr marL="88900" marR="88900" marT="50800" marB="50800" anchor="ctr">
                    <a:lnL w="12700" cap="flat" cmpd="sng" algn="ctr">
                      <a:solidFill>
                        <a:srgbClr val="252D3D"/>
                      </a:solidFill>
                      <a:prstDash val="solid"/>
                      <a:round/>
                      <a:headEnd type="none" w="med" len="med"/>
                      <a:tailEnd type="none" w="med" len="med"/>
                    </a:lnL>
                    <a:lnR w="12700" cap="flat" cmpd="sng" algn="ctr">
                      <a:solidFill>
                        <a:srgbClr val="252D3D"/>
                      </a:solidFill>
                      <a:prstDash val="solid"/>
                      <a:round/>
                      <a:headEnd type="none" w="med" len="med"/>
                      <a:tailEnd type="none" w="med" len="med"/>
                    </a:lnR>
                    <a:lnT w="12700" cap="flat" cmpd="sng" algn="ctr">
                      <a:solidFill>
                        <a:srgbClr val="252D3D"/>
                      </a:solidFill>
                      <a:prstDash val="solid"/>
                      <a:round/>
                      <a:headEnd type="none" w="med" len="med"/>
                      <a:tailEnd type="none" w="med" len="med"/>
                    </a:lnT>
                    <a:lnB w="12700" cap="flat" cmpd="sng" algn="ctr">
                      <a:solidFill>
                        <a:srgbClr val="252D3D"/>
                      </a:solidFill>
                      <a:prstDash val="solid"/>
                      <a:round/>
                      <a:headEnd type="none" w="med" len="med"/>
                      <a:tailEnd type="none" w="med" len="med"/>
                    </a:lnB>
                    <a:solidFill>
                      <a:srgbClr val="151A24"/>
                    </a:solidFill>
                  </a:tcPr>
                </a:tc>
                <a:tc>
                  <a:txBody>
                    <a:bodyPr/>
                    <a:lstStyle/>
                    <a:p>
                      <a:pPr indent="0" marL="0">
                        <a:buNone/>
                      </a:pPr>
                      <a:r>
                        <a:rPr lang="en-US" sz="850" dirty="0">
                          <a:solidFill>
                            <a:srgbClr val="8A94A6"/>
                          </a:solidFill>
                          <a:latin typeface="Trenda IG Text" pitchFamily="34" charset="0"/>
                          <a:ea typeface="Trenda IG Text" pitchFamily="34" charset="-122"/>
                          <a:cs typeface="Trenda IG Text" pitchFamily="34" charset="-120"/>
                        </a:rPr>
                        <a:t>Financial investigation or authorisation is required</a:t>
                      </a:r>
                      <a:endParaRPr lang="en-US" sz="850" dirty="0">
                        <a:latin typeface="Trenda IG Text" charset="0"/>
                        <a:ea typeface="Trenda IG Text" charset="0"/>
                        <a:cs typeface="Trenda IG Text" charset="0"/>
                      </a:endParaRPr>
                    </a:p>
                  </a:txBody>
                  <a:tcPr marL="88900" marR="88900" marT="50800" marB="50800" anchor="ctr">
                    <a:lnL w="12700" cap="flat" cmpd="sng" algn="ctr">
                      <a:solidFill>
                        <a:srgbClr val="252D3D"/>
                      </a:solidFill>
                      <a:prstDash val="solid"/>
                      <a:round/>
                      <a:headEnd type="none" w="med" len="med"/>
                      <a:tailEnd type="none" w="med" len="med"/>
                    </a:lnL>
                    <a:lnR w="12700" cap="flat" cmpd="sng" algn="ctr">
                      <a:solidFill>
                        <a:srgbClr val="252D3D"/>
                      </a:solidFill>
                      <a:prstDash val="solid"/>
                      <a:round/>
                      <a:headEnd type="none" w="med" len="med"/>
                      <a:tailEnd type="none" w="med" len="med"/>
                    </a:lnR>
                    <a:lnT w="12700" cap="flat" cmpd="sng" algn="ctr">
                      <a:solidFill>
                        <a:srgbClr val="252D3D"/>
                      </a:solidFill>
                      <a:prstDash val="solid"/>
                      <a:round/>
                      <a:headEnd type="none" w="med" len="med"/>
                      <a:tailEnd type="none" w="med" len="med"/>
                    </a:lnT>
                    <a:lnB w="12700" cap="flat" cmpd="sng" algn="ctr">
                      <a:solidFill>
                        <a:srgbClr val="252D3D"/>
                      </a:solidFill>
                      <a:prstDash val="solid"/>
                      <a:round/>
                      <a:headEnd type="none" w="med" len="med"/>
                      <a:tailEnd type="none" w="med" len="med"/>
                    </a:lnB>
                    <a:solidFill>
                      <a:srgbClr val="151A24"/>
                    </a:solidFill>
                  </a:tcPr>
                </a:tc>
                <a:tc>
                  <a:txBody>
                    <a:bodyPr/>
                    <a:lstStyle/>
                    <a:p>
                      <a:pPr indent="0" marL="0">
                        <a:buNone/>
                      </a:pPr>
                      <a:r>
                        <a:rPr lang="en-US" sz="850" dirty="0">
                          <a:solidFill>
                            <a:srgbClr val="E6EAF2"/>
                          </a:solidFill>
                          <a:latin typeface="Trenda IG Text" pitchFamily="34" charset="0"/>
                          <a:ea typeface="Trenda IG Text" pitchFamily="34" charset="-122"/>
                          <a:cs typeface="Trenda IG Text" pitchFamily="34" charset="-120"/>
                        </a:rPr>
                        <a:t>Credit, return dispute, price dispute, rebill, accounts receivable query</a:t>
                      </a:r>
                      <a:endParaRPr lang="en-US" sz="850" dirty="0">
                        <a:latin typeface="Trenda IG Text" charset="0"/>
                        <a:ea typeface="Trenda IG Text" charset="0"/>
                        <a:cs typeface="Trenda IG Text" charset="0"/>
                      </a:endParaRPr>
                    </a:p>
                  </a:txBody>
                  <a:tcPr marL="88900" marR="88900" marT="50800" marB="50800" anchor="ctr">
                    <a:lnL w="12700" cap="flat" cmpd="sng" algn="ctr">
                      <a:solidFill>
                        <a:srgbClr val="252D3D"/>
                      </a:solidFill>
                      <a:prstDash val="solid"/>
                      <a:round/>
                      <a:headEnd type="none" w="med" len="med"/>
                      <a:tailEnd type="none" w="med" len="med"/>
                    </a:lnL>
                    <a:lnR w="12700" cap="flat" cmpd="sng" algn="ctr">
                      <a:solidFill>
                        <a:srgbClr val="252D3D"/>
                      </a:solidFill>
                      <a:prstDash val="solid"/>
                      <a:round/>
                      <a:headEnd type="none" w="med" len="med"/>
                      <a:tailEnd type="none" w="med" len="med"/>
                    </a:lnR>
                    <a:lnT w="12700" cap="flat" cmpd="sng" algn="ctr">
                      <a:solidFill>
                        <a:srgbClr val="252D3D"/>
                      </a:solidFill>
                      <a:prstDash val="solid"/>
                      <a:round/>
                      <a:headEnd type="none" w="med" len="med"/>
                      <a:tailEnd type="none" w="med" len="med"/>
                    </a:lnT>
                    <a:lnB w="12700" cap="flat" cmpd="sng" algn="ctr">
                      <a:solidFill>
                        <a:srgbClr val="252D3D"/>
                      </a:solidFill>
                      <a:prstDash val="solid"/>
                      <a:round/>
                      <a:headEnd type="none" w="med" len="med"/>
                      <a:tailEnd type="none" w="med" len="med"/>
                    </a:lnB>
                    <a:solidFill>
                      <a:srgbClr val="151A24"/>
                    </a:solidFill>
                  </a:tcPr>
                </a:tc>
              </a:tr>
              <a:tr h="475488">
                <a:tc>
                  <a:txBody>
                    <a:bodyPr/>
                    <a:lstStyle/>
                    <a:p>
                      <a:pPr indent="0" marL="0">
                        <a:buNone/>
                      </a:pPr>
                      <a:r>
                        <a:rPr lang="en-US" sz="850" b="1" dirty="0">
                          <a:solidFill>
                            <a:srgbClr val="FFFFFF"/>
                          </a:solidFill>
                          <a:latin typeface="Trenda IG Text" pitchFamily="34" charset="0"/>
                          <a:ea typeface="Trenda IG Text" pitchFamily="34" charset="-122"/>
                          <a:cs typeface="Trenda IG Text" pitchFamily="34" charset="-120"/>
                        </a:rPr>
                        <a:t>System or Access Issue</a:t>
                      </a:r>
                      <a:endParaRPr lang="en-US" sz="850" dirty="0">
                        <a:latin typeface="Trenda IG Text" charset="0"/>
                        <a:ea typeface="Trenda IG Text" charset="0"/>
                        <a:cs typeface="Trenda IG Text" charset="0"/>
                      </a:endParaRPr>
                    </a:p>
                  </a:txBody>
                  <a:tcPr marL="88900" marR="88900" marT="50800" marB="50800" anchor="ctr">
                    <a:lnL w="12700" cap="flat" cmpd="sng" algn="ctr">
                      <a:solidFill>
                        <a:srgbClr val="252D3D"/>
                      </a:solidFill>
                      <a:prstDash val="solid"/>
                      <a:round/>
                      <a:headEnd type="none" w="med" len="med"/>
                      <a:tailEnd type="none" w="med" len="med"/>
                    </a:lnL>
                    <a:lnR w="12700" cap="flat" cmpd="sng" algn="ctr">
                      <a:solidFill>
                        <a:srgbClr val="252D3D"/>
                      </a:solidFill>
                      <a:prstDash val="solid"/>
                      <a:round/>
                      <a:headEnd type="none" w="med" len="med"/>
                      <a:tailEnd type="none" w="med" len="med"/>
                    </a:lnR>
                    <a:lnT w="12700" cap="flat" cmpd="sng" algn="ctr">
                      <a:solidFill>
                        <a:srgbClr val="252D3D"/>
                      </a:solidFill>
                      <a:prstDash val="solid"/>
                      <a:round/>
                      <a:headEnd type="none" w="med" len="med"/>
                      <a:tailEnd type="none" w="med" len="med"/>
                    </a:lnT>
                    <a:lnB w="12700" cap="flat" cmpd="sng" algn="ctr">
                      <a:solidFill>
                        <a:srgbClr val="252D3D"/>
                      </a:solidFill>
                      <a:prstDash val="solid"/>
                      <a:round/>
                      <a:headEnd type="none" w="med" len="med"/>
                      <a:tailEnd type="none" w="med" len="med"/>
                    </a:lnB>
                    <a:solidFill>
                      <a:srgbClr val="151A24"/>
                    </a:solidFill>
                  </a:tcPr>
                </a:tc>
                <a:tc>
                  <a:txBody>
                    <a:bodyPr/>
                    <a:lstStyle/>
                    <a:p>
                      <a:pPr indent="0" marL="0">
                        <a:buNone/>
                      </a:pPr>
                      <a:r>
                        <a:rPr lang="en-US" sz="850" dirty="0">
                          <a:solidFill>
                            <a:srgbClr val="8A94A6"/>
                          </a:solidFill>
                          <a:latin typeface="Trenda IG Text" pitchFamily="34" charset="0"/>
                          <a:ea typeface="Trenda IG Text" pitchFamily="34" charset="-122"/>
                          <a:cs typeface="Trenda IG Text" pitchFamily="34" charset="-120"/>
                        </a:rPr>
                        <a:t>The customer is blocked from using a system or completing an action</a:t>
                      </a:r>
                      <a:endParaRPr lang="en-US" sz="850" dirty="0">
                        <a:latin typeface="Trenda IG Text" charset="0"/>
                        <a:ea typeface="Trenda IG Text" charset="0"/>
                        <a:cs typeface="Trenda IG Text" charset="0"/>
                      </a:endParaRPr>
                    </a:p>
                  </a:txBody>
                  <a:tcPr marL="88900" marR="88900" marT="50800" marB="50800" anchor="ctr">
                    <a:lnL w="12700" cap="flat" cmpd="sng" algn="ctr">
                      <a:solidFill>
                        <a:srgbClr val="252D3D"/>
                      </a:solidFill>
                      <a:prstDash val="solid"/>
                      <a:round/>
                      <a:headEnd type="none" w="med" len="med"/>
                      <a:tailEnd type="none" w="med" len="med"/>
                    </a:lnL>
                    <a:lnR w="12700" cap="flat" cmpd="sng" algn="ctr">
                      <a:solidFill>
                        <a:srgbClr val="252D3D"/>
                      </a:solidFill>
                      <a:prstDash val="solid"/>
                      <a:round/>
                      <a:headEnd type="none" w="med" len="med"/>
                      <a:tailEnd type="none" w="med" len="med"/>
                    </a:lnR>
                    <a:lnT w="12700" cap="flat" cmpd="sng" algn="ctr">
                      <a:solidFill>
                        <a:srgbClr val="252D3D"/>
                      </a:solidFill>
                      <a:prstDash val="solid"/>
                      <a:round/>
                      <a:headEnd type="none" w="med" len="med"/>
                      <a:tailEnd type="none" w="med" len="med"/>
                    </a:lnT>
                    <a:lnB w="12700" cap="flat" cmpd="sng" algn="ctr">
                      <a:solidFill>
                        <a:srgbClr val="252D3D"/>
                      </a:solidFill>
                      <a:prstDash val="solid"/>
                      <a:round/>
                      <a:headEnd type="none" w="med" len="med"/>
                      <a:tailEnd type="none" w="med" len="med"/>
                    </a:lnB>
                    <a:solidFill>
                      <a:srgbClr val="151A24"/>
                    </a:solidFill>
                  </a:tcPr>
                </a:tc>
                <a:tc>
                  <a:txBody>
                    <a:bodyPr/>
                    <a:lstStyle/>
                    <a:p>
                      <a:pPr indent="0" marL="0">
                        <a:buNone/>
                      </a:pPr>
                      <a:r>
                        <a:rPr lang="en-US" sz="850" dirty="0">
                          <a:solidFill>
                            <a:srgbClr val="E6EAF2"/>
                          </a:solidFill>
                          <a:latin typeface="Trenda IG Text" pitchFamily="34" charset="0"/>
                          <a:ea typeface="Trenda IG Text" pitchFamily="34" charset="-122"/>
                          <a:cs typeface="Trenda IG Text" pitchFamily="34" charset="-120"/>
                        </a:rPr>
                        <a:t>Login failure, ordering platform error, account access, data problem</a:t>
                      </a:r>
                      <a:endParaRPr lang="en-US" sz="850" dirty="0">
                        <a:latin typeface="Trenda IG Text" charset="0"/>
                        <a:ea typeface="Trenda IG Text" charset="0"/>
                        <a:cs typeface="Trenda IG Text" charset="0"/>
                      </a:endParaRPr>
                    </a:p>
                  </a:txBody>
                  <a:tcPr marL="88900" marR="88900" marT="50800" marB="50800" anchor="ctr">
                    <a:lnL w="12700" cap="flat" cmpd="sng" algn="ctr">
                      <a:solidFill>
                        <a:srgbClr val="252D3D"/>
                      </a:solidFill>
                      <a:prstDash val="solid"/>
                      <a:round/>
                      <a:headEnd type="none" w="med" len="med"/>
                      <a:tailEnd type="none" w="med" len="med"/>
                    </a:lnL>
                    <a:lnR w="12700" cap="flat" cmpd="sng" algn="ctr">
                      <a:solidFill>
                        <a:srgbClr val="252D3D"/>
                      </a:solidFill>
                      <a:prstDash val="solid"/>
                      <a:round/>
                      <a:headEnd type="none" w="med" len="med"/>
                      <a:tailEnd type="none" w="med" len="med"/>
                    </a:lnR>
                    <a:lnT w="12700" cap="flat" cmpd="sng" algn="ctr">
                      <a:solidFill>
                        <a:srgbClr val="252D3D"/>
                      </a:solidFill>
                      <a:prstDash val="solid"/>
                      <a:round/>
                      <a:headEnd type="none" w="med" len="med"/>
                      <a:tailEnd type="none" w="med" len="med"/>
                    </a:lnT>
                    <a:lnB w="12700" cap="flat" cmpd="sng" algn="ctr">
                      <a:solidFill>
                        <a:srgbClr val="252D3D"/>
                      </a:solidFill>
                      <a:prstDash val="solid"/>
                      <a:round/>
                      <a:headEnd type="none" w="med" len="med"/>
                      <a:tailEnd type="none" w="med" len="med"/>
                    </a:lnB>
                    <a:solidFill>
                      <a:srgbClr val="151A24"/>
                    </a:solidFill>
                  </a:tcPr>
                </a:tc>
              </a:tr>
              <a:tr h="475488">
                <a:tc>
                  <a:txBody>
                    <a:bodyPr/>
                    <a:lstStyle/>
                    <a:p>
                      <a:pPr indent="0" marL="0">
                        <a:buNone/>
                      </a:pPr>
                      <a:r>
                        <a:rPr lang="en-US" sz="850" b="1" dirty="0">
                          <a:solidFill>
                            <a:srgbClr val="FFFFFF"/>
                          </a:solidFill>
                          <a:latin typeface="Trenda IG Text" pitchFamily="34" charset="0"/>
                          <a:ea typeface="Trenda IG Text" pitchFamily="34" charset="-122"/>
                          <a:cs typeface="Trenda IG Text" pitchFamily="34" charset="-120"/>
                        </a:rPr>
                        <a:t>Duplicate or No Action</a:t>
                      </a:r>
                      <a:endParaRPr lang="en-US" sz="850" dirty="0">
                        <a:latin typeface="Trenda IG Text" charset="0"/>
                        <a:ea typeface="Trenda IG Text" charset="0"/>
                        <a:cs typeface="Trenda IG Text" charset="0"/>
                      </a:endParaRPr>
                    </a:p>
                  </a:txBody>
                  <a:tcPr marL="88900" marR="88900" marT="50800" marB="50800" anchor="ctr">
                    <a:lnL w="12700" cap="flat" cmpd="sng" algn="ctr">
                      <a:solidFill>
                        <a:srgbClr val="252D3D"/>
                      </a:solidFill>
                      <a:prstDash val="solid"/>
                      <a:round/>
                      <a:headEnd type="none" w="med" len="med"/>
                      <a:tailEnd type="none" w="med" len="med"/>
                    </a:lnL>
                    <a:lnR w="12700" cap="flat" cmpd="sng" algn="ctr">
                      <a:solidFill>
                        <a:srgbClr val="252D3D"/>
                      </a:solidFill>
                      <a:prstDash val="solid"/>
                      <a:round/>
                      <a:headEnd type="none" w="med" len="med"/>
                      <a:tailEnd type="none" w="med" len="med"/>
                    </a:lnR>
                    <a:lnT w="12700" cap="flat" cmpd="sng" algn="ctr">
                      <a:solidFill>
                        <a:srgbClr val="252D3D"/>
                      </a:solidFill>
                      <a:prstDash val="solid"/>
                      <a:round/>
                      <a:headEnd type="none" w="med" len="med"/>
                      <a:tailEnd type="none" w="med" len="med"/>
                    </a:lnT>
                    <a:lnB w="12700" cap="flat" cmpd="sng" algn="ctr">
                      <a:solidFill>
                        <a:srgbClr val="252D3D"/>
                      </a:solidFill>
                      <a:prstDash val="solid"/>
                      <a:round/>
                      <a:headEnd type="none" w="med" len="med"/>
                      <a:tailEnd type="none" w="med" len="med"/>
                    </a:lnB>
                    <a:solidFill>
                      <a:srgbClr val="151A24"/>
                    </a:solidFill>
                  </a:tcPr>
                </a:tc>
                <a:tc>
                  <a:txBody>
                    <a:bodyPr/>
                    <a:lstStyle/>
                    <a:p>
                      <a:pPr indent="0" marL="0">
                        <a:buNone/>
                      </a:pPr>
                      <a:r>
                        <a:rPr lang="en-US" sz="850" dirty="0">
                          <a:solidFill>
                            <a:srgbClr val="8A94A6"/>
                          </a:solidFill>
                          <a:latin typeface="Trenda IG Text" pitchFamily="34" charset="0"/>
                          <a:ea typeface="Trenda IG Text" pitchFamily="34" charset="-122"/>
                          <a:cs typeface="Trenda IG Text" pitchFamily="34" charset="-120"/>
                        </a:rPr>
                        <a:t>The case needs validation but no processing</a:t>
                      </a:r>
                      <a:endParaRPr lang="en-US" sz="850" dirty="0">
                        <a:latin typeface="Trenda IG Text" charset="0"/>
                        <a:ea typeface="Trenda IG Text" charset="0"/>
                        <a:cs typeface="Trenda IG Text" charset="0"/>
                      </a:endParaRPr>
                    </a:p>
                  </a:txBody>
                  <a:tcPr marL="88900" marR="88900" marT="50800" marB="50800" anchor="ctr">
                    <a:lnL w="12700" cap="flat" cmpd="sng" algn="ctr">
                      <a:solidFill>
                        <a:srgbClr val="252D3D"/>
                      </a:solidFill>
                      <a:prstDash val="solid"/>
                      <a:round/>
                      <a:headEnd type="none" w="med" len="med"/>
                      <a:tailEnd type="none" w="med" len="med"/>
                    </a:lnL>
                    <a:lnR w="12700" cap="flat" cmpd="sng" algn="ctr">
                      <a:solidFill>
                        <a:srgbClr val="252D3D"/>
                      </a:solidFill>
                      <a:prstDash val="solid"/>
                      <a:round/>
                      <a:headEnd type="none" w="med" len="med"/>
                      <a:tailEnd type="none" w="med" len="med"/>
                    </a:lnR>
                    <a:lnT w="12700" cap="flat" cmpd="sng" algn="ctr">
                      <a:solidFill>
                        <a:srgbClr val="252D3D"/>
                      </a:solidFill>
                      <a:prstDash val="solid"/>
                      <a:round/>
                      <a:headEnd type="none" w="med" len="med"/>
                      <a:tailEnd type="none" w="med" len="med"/>
                    </a:lnT>
                    <a:lnB w="12700" cap="flat" cmpd="sng" algn="ctr">
                      <a:solidFill>
                        <a:srgbClr val="252D3D"/>
                      </a:solidFill>
                      <a:prstDash val="solid"/>
                      <a:round/>
                      <a:headEnd type="none" w="med" len="med"/>
                      <a:tailEnd type="none" w="med" len="med"/>
                    </a:lnB>
                    <a:solidFill>
                      <a:srgbClr val="151A24"/>
                    </a:solidFill>
                  </a:tcPr>
                </a:tc>
                <a:tc>
                  <a:txBody>
                    <a:bodyPr/>
                    <a:lstStyle/>
                    <a:p>
                      <a:pPr indent="0" marL="0">
                        <a:buNone/>
                      </a:pPr>
                      <a:r>
                        <a:rPr lang="en-US" sz="850" dirty="0">
                          <a:solidFill>
                            <a:srgbClr val="E6EAF2"/>
                          </a:solidFill>
                          <a:latin typeface="Trenda IG Text" pitchFamily="34" charset="0"/>
                          <a:ea typeface="Trenda IG Text" pitchFamily="34" charset="-122"/>
                          <a:cs typeface="Trenda IG Text" pitchFamily="34" charset="-120"/>
                        </a:rPr>
                        <a:t>Duplicate request, already resolved, insufficient information supplied</a:t>
                      </a:r>
                      <a:endParaRPr lang="en-US" sz="850" dirty="0">
                        <a:latin typeface="Trenda IG Text" charset="0"/>
                        <a:ea typeface="Trenda IG Text" charset="0"/>
                        <a:cs typeface="Trenda IG Text" charset="0"/>
                      </a:endParaRPr>
                    </a:p>
                  </a:txBody>
                  <a:tcPr marL="88900" marR="88900" marT="50800" marB="50800" anchor="ctr">
                    <a:lnL w="12700" cap="flat" cmpd="sng" algn="ctr">
                      <a:solidFill>
                        <a:srgbClr val="252D3D"/>
                      </a:solidFill>
                      <a:prstDash val="solid"/>
                      <a:round/>
                      <a:headEnd type="none" w="med" len="med"/>
                      <a:tailEnd type="none" w="med" len="med"/>
                    </a:lnL>
                    <a:lnR w="12700" cap="flat" cmpd="sng" algn="ctr">
                      <a:solidFill>
                        <a:srgbClr val="252D3D"/>
                      </a:solidFill>
                      <a:prstDash val="solid"/>
                      <a:round/>
                      <a:headEnd type="none" w="med" len="med"/>
                      <a:tailEnd type="none" w="med" len="med"/>
                    </a:lnR>
                    <a:lnT w="12700" cap="flat" cmpd="sng" algn="ctr">
                      <a:solidFill>
                        <a:srgbClr val="252D3D"/>
                      </a:solidFill>
                      <a:prstDash val="solid"/>
                      <a:round/>
                      <a:headEnd type="none" w="med" len="med"/>
                      <a:tailEnd type="none" w="med" len="med"/>
                    </a:lnT>
                    <a:lnB w="12700" cap="flat" cmpd="sng" algn="ctr">
                      <a:solidFill>
                        <a:srgbClr val="252D3D"/>
                      </a:solidFill>
                      <a:prstDash val="solid"/>
                      <a:round/>
                      <a:headEnd type="none" w="med" len="med"/>
                      <a:tailEnd type="none" w="med" len="med"/>
                    </a:lnB>
                    <a:solidFill>
                      <a:srgbClr val="151A24"/>
                    </a:solidFill>
                  </a:tcPr>
                </a:tc>
              </a:tr>
            </a:tbl>
          </a:graphicData>
        </a:graphic>
      </p:graphicFrame>
      <p:sp>
        <p:nvSpPr>
          <p:cNvPr id="6" name="Shape 3"/>
          <p:cNvSpPr/>
          <p:nvPr/>
        </p:nvSpPr>
        <p:spPr>
          <a:xfrm>
            <a:off x="8723376" y="1796796"/>
            <a:ext cx="2962656" cy="3547872"/>
          </a:xfrm>
          <a:prstGeom prst="roundRect">
            <a:avLst>
              <a:gd name="adj" fmla="val 1235"/>
            </a:avLst>
          </a:prstGeom>
          <a:solidFill>
            <a:srgbClr val="151A24"/>
          </a:solidFill>
          <a:ln w="12700">
            <a:solidFill>
              <a:srgbClr val="252D3D"/>
            </a:solidFill>
            <a:prstDash val="solid"/>
          </a:ln>
        </p:spPr>
      </p:sp>
      <p:sp>
        <p:nvSpPr>
          <p:cNvPr id="7" name="Text 4"/>
          <p:cNvSpPr txBox="1"/>
          <p:nvPr/>
        </p:nvSpPr>
        <p:spPr>
          <a:xfrm>
            <a:off x="8942832" y="1979676"/>
            <a:ext cx="2523744" cy="201168"/>
          </a:xfrm>
          <a:prstGeom prst="rect">
            <a:avLst/>
          </a:prstGeom>
          <a:noFill/>
          <a:ln/>
        </p:spPr>
        <p:txBody>
          <a:bodyPr wrap="square" lIns="0" tIns="0" rIns="0" bIns="0" rtlCol="0" anchor="ctr"/>
          <a:lstStyle/>
          <a:p>
            <a:pPr indent="0" marL="0">
              <a:buNone/>
            </a:pPr>
            <a:r>
              <a:rPr lang="en-US" sz="1000" b="1" spc="140" kern="0" dirty="0">
                <a:solidFill>
                  <a:srgbClr val="FFFFFF"/>
                </a:solidFill>
                <a:latin typeface="Trenda IG Display" pitchFamily="34" charset="0"/>
                <a:ea typeface="Trenda IG Display" pitchFamily="34" charset="-122"/>
                <a:cs typeface="Trenda IG Display" pitchFamily="34" charset="-120"/>
              </a:rPr>
              <a:t>A SECOND FIELD CARRIES THE SERVICE FAMILY</a:t>
            </a:r>
            <a:endParaRPr lang="en-US" sz="1000" dirty="0"/>
          </a:p>
        </p:txBody>
      </p:sp>
      <p:sp>
        <p:nvSpPr>
          <p:cNvPr id="8" name="Text 5"/>
          <p:cNvSpPr txBox="1"/>
          <p:nvPr/>
        </p:nvSpPr>
        <p:spPr>
          <a:xfrm>
            <a:off x="8942832" y="2253996"/>
            <a:ext cx="2523744" cy="530352"/>
          </a:xfrm>
          <a:prstGeom prst="rect">
            <a:avLst/>
          </a:prstGeom>
          <a:noFill/>
          <a:ln/>
        </p:spPr>
        <p:txBody>
          <a:bodyPr wrap="square" lIns="0" tIns="0" rIns="0" bIns="0" rtlCol="0" anchor="t"/>
          <a:lstStyle/>
          <a:p>
            <a:pPr indent="0" marL="0">
              <a:lnSpc>
                <a:spcPts val="1150"/>
              </a:lnSpc>
              <a:buNone/>
            </a:pPr>
            <a:r>
              <a:rPr lang="en-US" sz="850" dirty="0">
                <a:solidFill>
                  <a:srgbClr val="8A94A6"/>
                </a:solidFill>
                <a:latin typeface="Trenda IG Text" pitchFamily="34" charset="0"/>
                <a:ea typeface="Trenda IG Text" pitchFamily="34" charset="-122"/>
                <a:cs typeface="Trenda IG Text" pitchFamily="34" charset="-120"/>
              </a:rPr>
              <a:t>Category says what kind of work it is. Service family says which part of the operation owns it. Routing, reporting and knowledge all key off the pair.</a:t>
            </a:r>
            <a:endParaRPr lang="en-US" sz="850" dirty="0"/>
          </a:p>
        </p:txBody>
      </p:sp>
      <p:sp>
        <p:nvSpPr>
          <p:cNvPr id="9" name="Shape 6"/>
          <p:cNvSpPr/>
          <p:nvPr/>
        </p:nvSpPr>
        <p:spPr>
          <a:xfrm>
            <a:off x="8942832" y="2894076"/>
            <a:ext cx="2523744" cy="205740"/>
          </a:xfrm>
          <a:prstGeom prst="roundRect">
            <a:avLst>
              <a:gd name="adj" fmla="val 26667"/>
            </a:avLst>
          </a:prstGeom>
          <a:solidFill>
            <a:srgbClr val="1A2130"/>
          </a:solidFill>
          <a:ln w="12700">
            <a:solidFill>
              <a:srgbClr val="252D3D"/>
            </a:solidFill>
            <a:prstDash val="solid"/>
          </a:ln>
        </p:spPr>
      </p:sp>
      <p:sp>
        <p:nvSpPr>
          <p:cNvPr id="10" name="Text 7"/>
          <p:cNvSpPr txBox="1"/>
          <p:nvPr/>
        </p:nvSpPr>
        <p:spPr>
          <a:xfrm>
            <a:off x="9025128" y="2894076"/>
            <a:ext cx="2359152" cy="205740"/>
          </a:xfrm>
          <a:prstGeom prst="rect">
            <a:avLst/>
          </a:prstGeom>
          <a:noFill/>
          <a:ln/>
        </p:spPr>
        <p:txBody>
          <a:bodyPr wrap="square" lIns="0" tIns="0" rIns="0" bIns="0" rtlCol="0" anchor="ctr"/>
          <a:lstStyle/>
          <a:p>
            <a:pPr indent="0" marL="0">
              <a:lnSpc>
                <a:spcPts val="1050"/>
              </a:lnSpc>
              <a:buNone/>
            </a:pPr>
            <a:r>
              <a:rPr lang="en-US" sz="800" dirty="0">
                <a:solidFill>
                  <a:srgbClr val="E6EAF2"/>
                </a:solidFill>
                <a:latin typeface="Trenda IG Text" pitchFamily="34" charset="0"/>
                <a:ea typeface="Trenda IG Text" pitchFamily="34" charset="-122"/>
                <a:cs typeface="Trenda IG Text" pitchFamily="34" charset="-120"/>
              </a:rPr>
              <a:t>Order management</a:t>
            </a:r>
            <a:endParaRPr lang="en-US" sz="800" dirty="0"/>
          </a:p>
        </p:txBody>
      </p:sp>
      <p:sp>
        <p:nvSpPr>
          <p:cNvPr id="11" name="Shape 8"/>
          <p:cNvSpPr/>
          <p:nvPr/>
        </p:nvSpPr>
        <p:spPr>
          <a:xfrm>
            <a:off x="8942832" y="3118104"/>
            <a:ext cx="2523744" cy="205740"/>
          </a:xfrm>
          <a:prstGeom prst="roundRect">
            <a:avLst>
              <a:gd name="adj" fmla="val 26667"/>
            </a:avLst>
          </a:prstGeom>
          <a:solidFill>
            <a:srgbClr val="1A2130"/>
          </a:solidFill>
          <a:ln w="12700">
            <a:solidFill>
              <a:srgbClr val="252D3D"/>
            </a:solidFill>
            <a:prstDash val="solid"/>
          </a:ln>
        </p:spPr>
      </p:sp>
      <p:sp>
        <p:nvSpPr>
          <p:cNvPr id="12" name="Text 9"/>
          <p:cNvSpPr txBox="1"/>
          <p:nvPr/>
        </p:nvSpPr>
        <p:spPr>
          <a:xfrm>
            <a:off x="9025128" y="3118104"/>
            <a:ext cx="2359152" cy="205740"/>
          </a:xfrm>
          <a:prstGeom prst="rect">
            <a:avLst/>
          </a:prstGeom>
          <a:noFill/>
          <a:ln/>
        </p:spPr>
        <p:txBody>
          <a:bodyPr wrap="square" lIns="0" tIns="0" rIns="0" bIns="0" rtlCol="0" anchor="ctr"/>
          <a:lstStyle/>
          <a:p>
            <a:pPr indent="0" marL="0">
              <a:lnSpc>
                <a:spcPts val="1050"/>
              </a:lnSpc>
              <a:buNone/>
            </a:pPr>
            <a:r>
              <a:rPr lang="en-US" sz="800" dirty="0">
                <a:solidFill>
                  <a:srgbClr val="E6EAF2"/>
                </a:solidFill>
                <a:latin typeface="Trenda IG Text" pitchFamily="34" charset="0"/>
                <a:ea typeface="Trenda IG Text" pitchFamily="34" charset="-122"/>
                <a:cs typeface="Trenda IG Text" pitchFamily="34" charset="-120"/>
              </a:rPr>
              <a:t>Order status and shipment</a:t>
            </a:r>
            <a:endParaRPr lang="en-US" sz="800" dirty="0"/>
          </a:p>
        </p:txBody>
      </p:sp>
      <p:sp>
        <p:nvSpPr>
          <p:cNvPr id="13" name="Shape 10"/>
          <p:cNvSpPr/>
          <p:nvPr/>
        </p:nvSpPr>
        <p:spPr>
          <a:xfrm>
            <a:off x="8942832" y="3342132"/>
            <a:ext cx="2523744" cy="205740"/>
          </a:xfrm>
          <a:prstGeom prst="roundRect">
            <a:avLst>
              <a:gd name="adj" fmla="val 26667"/>
            </a:avLst>
          </a:prstGeom>
          <a:solidFill>
            <a:srgbClr val="1A2130"/>
          </a:solidFill>
          <a:ln w="12700">
            <a:solidFill>
              <a:srgbClr val="252D3D"/>
            </a:solidFill>
            <a:prstDash val="solid"/>
          </a:ln>
        </p:spPr>
      </p:sp>
      <p:sp>
        <p:nvSpPr>
          <p:cNvPr id="14" name="Text 11"/>
          <p:cNvSpPr txBox="1"/>
          <p:nvPr/>
        </p:nvSpPr>
        <p:spPr>
          <a:xfrm>
            <a:off x="9025128" y="3342132"/>
            <a:ext cx="2359152" cy="205740"/>
          </a:xfrm>
          <a:prstGeom prst="rect">
            <a:avLst/>
          </a:prstGeom>
          <a:noFill/>
          <a:ln/>
        </p:spPr>
        <p:txBody>
          <a:bodyPr wrap="square" lIns="0" tIns="0" rIns="0" bIns="0" rtlCol="0" anchor="ctr"/>
          <a:lstStyle/>
          <a:p>
            <a:pPr indent="0" marL="0">
              <a:lnSpc>
                <a:spcPts val="1050"/>
              </a:lnSpc>
              <a:buNone/>
            </a:pPr>
            <a:r>
              <a:rPr lang="en-US" sz="800" dirty="0">
                <a:solidFill>
                  <a:srgbClr val="E6EAF2"/>
                </a:solidFill>
                <a:latin typeface="Trenda IG Text" pitchFamily="34" charset="0"/>
                <a:ea typeface="Trenda IG Text" pitchFamily="34" charset="-122"/>
                <a:cs typeface="Trenda IG Text" pitchFamily="34" charset="-120"/>
              </a:rPr>
              <a:t>Backorders and availability</a:t>
            </a:r>
            <a:endParaRPr lang="en-US" sz="800" dirty="0"/>
          </a:p>
        </p:txBody>
      </p:sp>
      <p:sp>
        <p:nvSpPr>
          <p:cNvPr id="15" name="Shape 12"/>
          <p:cNvSpPr/>
          <p:nvPr/>
        </p:nvSpPr>
        <p:spPr>
          <a:xfrm>
            <a:off x="8942832" y="3566160"/>
            <a:ext cx="2523744" cy="205740"/>
          </a:xfrm>
          <a:prstGeom prst="roundRect">
            <a:avLst>
              <a:gd name="adj" fmla="val 26667"/>
            </a:avLst>
          </a:prstGeom>
          <a:solidFill>
            <a:srgbClr val="1A2130"/>
          </a:solidFill>
          <a:ln w="12700">
            <a:solidFill>
              <a:srgbClr val="252D3D"/>
            </a:solidFill>
            <a:prstDash val="solid"/>
          </a:ln>
        </p:spPr>
      </p:sp>
      <p:sp>
        <p:nvSpPr>
          <p:cNvPr id="16" name="Text 13"/>
          <p:cNvSpPr txBox="1"/>
          <p:nvPr/>
        </p:nvSpPr>
        <p:spPr>
          <a:xfrm>
            <a:off x="9025128" y="3566160"/>
            <a:ext cx="2359152" cy="205740"/>
          </a:xfrm>
          <a:prstGeom prst="rect">
            <a:avLst/>
          </a:prstGeom>
          <a:noFill/>
          <a:ln/>
        </p:spPr>
        <p:txBody>
          <a:bodyPr wrap="square" lIns="0" tIns="0" rIns="0" bIns="0" rtlCol="0" anchor="ctr"/>
          <a:lstStyle/>
          <a:p>
            <a:pPr indent="0" marL="0">
              <a:lnSpc>
                <a:spcPts val="1050"/>
              </a:lnSpc>
              <a:buNone/>
            </a:pPr>
            <a:r>
              <a:rPr lang="en-US" sz="800" dirty="0">
                <a:solidFill>
                  <a:srgbClr val="E6EAF2"/>
                </a:solidFill>
                <a:latin typeface="Trenda IG Text" pitchFamily="34" charset="0"/>
                <a:ea typeface="Trenda IG Text" pitchFamily="34" charset="-122"/>
                <a:cs typeface="Trenda IG Text" pitchFamily="34" charset="-120"/>
              </a:rPr>
              <a:t>Credits and returns</a:t>
            </a:r>
            <a:endParaRPr lang="en-US" sz="800" dirty="0"/>
          </a:p>
        </p:txBody>
      </p:sp>
      <p:sp>
        <p:nvSpPr>
          <p:cNvPr id="17" name="Shape 14"/>
          <p:cNvSpPr/>
          <p:nvPr/>
        </p:nvSpPr>
        <p:spPr>
          <a:xfrm>
            <a:off x="8942832" y="3790188"/>
            <a:ext cx="2523744" cy="205740"/>
          </a:xfrm>
          <a:prstGeom prst="roundRect">
            <a:avLst>
              <a:gd name="adj" fmla="val 26667"/>
            </a:avLst>
          </a:prstGeom>
          <a:solidFill>
            <a:srgbClr val="1A2130"/>
          </a:solidFill>
          <a:ln w="12700">
            <a:solidFill>
              <a:srgbClr val="252D3D"/>
            </a:solidFill>
            <a:prstDash val="solid"/>
          </a:ln>
        </p:spPr>
      </p:sp>
      <p:sp>
        <p:nvSpPr>
          <p:cNvPr id="18" name="Text 15"/>
          <p:cNvSpPr txBox="1"/>
          <p:nvPr/>
        </p:nvSpPr>
        <p:spPr>
          <a:xfrm>
            <a:off x="9025128" y="3790188"/>
            <a:ext cx="2359152" cy="205740"/>
          </a:xfrm>
          <a:prstGeom prst="rect">
            <a:avLst/>
          </a:prstGeom>
          <a:noFill/>
          <a:ln/>
        </p:spPr>
        <p:txBody>
          <a:bodyPr wrap="square" lIns="0" tIns="0" rIns="0" bIns="0" rtlCol="0" anchor="ctr"/>
          <a:lstStyle/>
          <a:p>
            <a:pPr indent="0" marL="0">
              <a:lnSpc>
                <a:spcPts val="1050"/>
              </a:lnSpc>
              <a:buNone/>
            </a:pPr>
            <a:r>
              <a:rPr lang="en-US" sz="800" dirty="0">
                <a:solidFill>
                  <a:srgbClr val="E6EAF2"/>
                </a:solidFill>
                <a:latin typeface="Trenda IG Text" pitchFamily="34" charset="0"/>
                <a:ea typeface="Trenda IG Text" pitchFamily="34" charset="-122"/>
                <a:cs typeface="Trenda IG Text" pitchFamily="34" charset="-120"/>
              </a:rPr>
              <a:t>Pricing and quotes</a:t>
            </a:r>
            <a:endParaRPr lang="en-US" sz="800" dirty="0"/>
          </a:p>
        </p:txBody>
      </p:sp>
      <p:sp>
        <p:nvSpPr>
          <p:cNvPr id="19" name="Shape 16"/>
          <p:cNvSpPr/>
          <p:nvPr/>
        </p:nvSpPr>
        <p:spPr>
          <a:xfrm>
            <a:off x="8942832" y="4014216"/>
            <a:ext cx="2523744" cy="205740"/>
          </a:xfrm>
          <a:prstGeom prst="roundRect">
            <a:avLst>
              <a:gd name="adj" fmla="val 26667"/>
            </a:avLst>
          </a:prstGeom>
          <a:solidFill>
            <a:srgbClr val="1A2130"/>
          </a:solidFill>
          <a:ln w="12700">
            <a:solidFill>
              <a:srgbClr val="252D3D"/>
            </a:solidFill>
            <a:prstDash val="solid"/>
          </a:ln>
        </p:spPr>
      </p:sp>
      <p:sp>
        <p:nvSpPr>
          <p:cNvPr id="20" name="Text 17"/>
          <p:cNvSpPr txBox="1"/>
          <p:nvPr/>
        </p:nvSpPr>
        <p:spPr>
          <a:xfrm>
            <a:off x="9025128" y="4014216"/>
            <a:ext cx="2359152" cy="205740"/>
          </a:xfrm>
          <a:prstGeom prst="rect">
            <a:avLst/>
          </a:prstGeom>
          <a:noFill/>
          <a:ln/>
        </p:spPr>
        <p:txBody>
          <a:bodyPr wrap="square" lIns="0" tIns="0" rIns="0" bIns="0" rtlCol="0" anchor="ctr"/>
          <a:lstStyle/>
          <a:p>
            <a:pPr indent="0" marL="0">
              <a:lnSpc>
                <a:spcPts val="1050"/>
              </a:lnSpc>
              <a:buNone/>
            </a:pPr>
            <a:r>
              <a:rPr lang="en-US" sz="800" dirty="0">
                <a:solidFill>
                  <a:srgbClr val="E6EAF2"/>
                </a:solidFill>
                <a:latin typeface="Trenda IG Text" pitchFamily="34" charset="0"/>
                <a:ea typeface="Trenda IG Text" pitchFamily="34" charset="-122"/>
                <a:cs typeface="Trenda IG Text" pitchFamily="34" charset="-120"/>
              </a:rPr>
              <a:t>Account and billing</a:t>
            </a:r>
            <a:endParaRPr lang="en-US" sz="800" dirty="0"/>
          </a:p>
        </p:txBody>
      </p:sp>
      <p:sp>
        <p:nvSpPr>
          <p:cNvPr id="21" name="Shape 18"/>
          <p:cNvSpPr/>
          <p:nvPr/>
        </p:nvSpPr>
        <p:spPr>
          <a:xfrm>
            <a:off x="8942832" y="4238244"/>
            <a:ext cx="2523744" cy="205740"/>
          </a:xfrm>
          <a:prstGeom prst="roundRect">
            <a:avLst>
              <a:gd name="adj" fmla="val 26667"/>
            </a:avLst>
          </a:prstGeom>
          <a:solidFill>
            <a:srgbClr val="1A2130"/>
          </a:solidFill>
          <a:ln w="12700">
            <a:solidFill>
              <a:srgbClr val="252D3D"/>
            </a:solidFill>
            <a:prstDash val="solid"/>
          </a:ln>
        </p:spPr>
      </p:sp>
      <p:sp>
        <p:nvSpPr>
          <p:cNvPr id="22" name="Text 19"/>
          <p:cNvSpPr txBox="1"/>
          <p:nvPr/>
        </p:nvSpPr>
        <p:spPr>
          <a:xfrm>
            <a:off x="9025128" y="4238244"/>
            <a:ext cx="2359152" cy="205740"/>
          </a:xfrm>
          <a:prstGeom prst="rect">
            <a:avLst/>
          </a:prstGeom>
          <a:noFill/>
          <a:ln/>
        </p:spPr>
        <p:txBody>
          <a:bodyPr wrap="square" lIns="0" tIns="0" rIns="0" bIns="0" rtlCol="0" anchor="ctr"/>
          <a:lstStyle/>
          <a:p>
            <a:pPr indent="0" marL="0">
              <a:lnSpc>
                <a:spcPts val="1050"/>
              </a:lnSpc>
              <a:buNone/>
            </a:pPr>
            <a:r>
              <a:rPr lang="en-US" sz="800" dirty="0">
                <a:solidFill>
                  <a:srgbClr val="E6EAF2"/>
                </a:solidFill>
                <a:latin typeface="Trenda IG Text" pitchFamily="34" charset="0"/>
                <a:ea typeface="Trenda IG Text" pitchFamily="34" charset="-122"/>
                <a:cs typeface="Trenda IG Text" pitchFamily="34" charset="-120"/>
              </a:rPr>
              <a:t>Product research</a:t>
            </a:r>
            <a:endParaRPr lang="en-US" sz="800" dirty="0"/>
          </a:p>
        </p:txBody>
      </p:sp>
      <p:sp>
        <p:nvSpPr>
          <p:cNvPr id="23" name="Shape 20"/>
          <p:cNvSpPr/>
          <p:nvPr/>
        </p:nvSpPr>
        <p:spPr>
          <a:xfrm>
            <a:off x="8942832" y="4462272"/>
            <a:ext cx="2523744" cy="205740"/>
          </a:xfrm>
          <a:prstGeom prst="roundRect">
            <a:avLst>
              <a:gd name="adj" fmla="val 26667"/>
            </a:avLst>
          </a:prstGeom>
          <a:solidFill>
            <a:srgbClr val="1A2130"/>
          </a:solidFill>
          <a:ln w="12700">
            <a:solidFill>
              <a:srgbClr val="252D3D"/>
            </a:solidFill>
            <a:prstDash val="solid"/>
          </a:ln>
        </p:spPr>
      </p:sp>
      <p:sp>
        <p:nvSpPr>
          <p:cNvPr id="24" name="Text 21"/>
          <p:cNvSpPr txBox="1"/>
          <p:nvPr/>
        </p:nvSpPr>
        <p:spPr>
          <a:xfrm>
            <a:off x="9025128" y="4462272"/>
            <a:ext cx="2359152" cy="205740"/>
          </a:xfrm>
          <a:prstGeom prst="rect">
            <a:avLst/>
          </a:prstGeom>
          <a:noFill/>
          <a:ln/>
        </p:spPr>
        <p:txBody>
          <a:bodyPr wrap="square" lIns="0" tIns="0" rIns="0" bIns="0" rtlCol="0" anchor="ctr"/>
          <a:lstStyle/>
          <a:p>
            <a:pPr indent="0" marL="0">
              <a:lnSpc>
                <a:spcPts val="1050"/>
              </a:lnSpc>
              <a:buNone/>
            </a:pPr>
            <a:r>
              <a:rPr lang="en-US" sz="800" dirty="0">
                <a:solidFill>
                  <a:srgbClr val="E6EAF2"/>
                </a:solidFill>
                <a:latin typeface="Trenda IG Text" pitchFamily="34" charset="0"/>
                <a:ea typeface="Trenda IG Text" pitchFamily="34" charset="-122"/>
                <a:cs typeface="Trenda IG Text" pitchFamily="34" charset="-120"/>
              </a:rPr>
              <a:t>Documentation</a:t>
            </a:r>
            <a:endParaRPr lang="en-US" sz="800" dirty="0"/>
          </a:p>
        </p:txBody>
      </p:sp>
      <p:sp>
        <p:nvSpPr>
          <p:cNvPr id="25" name="Shape 22"/>
          <p:cNvSpPr/>
          <p:nvPr/>
        </p:nvSpPr>
        <p:spPr>
          <a:xfrm>
            <a:off x="8942832" y="4686300"/>
            <a:ext cx="2523744" cy="205740"/>
          </a:xfrm>
          <a:prstGeom prst="roundRect">
            <a:avLst>
              <a:gd name="adj" fmla="val 26667"/>
            </a:avLst>
          </a:prstGeom>
          <a:solidFill>
            <a:srgbClr val="1A2130"/>
          </a:solidFill>
          <a:ln w="12700">
            <a:solidFill>
              <a:srgbClr val="252D3D"/>
            </a:solidFill>
            <a:prstDash val="solid"/>
          </a:ln>
        </p:spPr>
      </p:sp>
      <p:sp>
        <p:nvSpPr>
          <p:cNvPr id="26" name="Text 23"/>
          <p:cNvSpPr txBox="1"/>
          <p:nvPr/>
        </p:nvSpPr>
        <p:spPr>
          <a:xfrm>
            <a:off x="9025128" y="4686300"/>
            <a:ext cx="2359152" cy="205740"/>
          </a:xfrm>
          <a:prstGeom prst="rect">
            <a:avLst/>
          </a:prstGeom>
          <a:noFill/>
          <a:ln/>
        </p:spPr>
        <p:txBody>
          <a:bodyPr wrap="square" lIns="0" tIns="0" rIns="0" bIns="0" rtlCol="0" anchor="ctr"/>
          <a:lstStyle/>
          <a:p>
            <a:pPr indent="0" marL="0">
              <a:lnSpc>
                <a:spcPts val="1050"/>
              </a:lnSpc>
              <a:buNone/>
            </a:pPr>
            <a:r>
              <a:rPr lang="en-US" sz="800" dirty="0">
                <a:solidFill>
                  <a:srgbClr val="E6EAF2"/>
                </a:solidFill>
                <a:latin typeface="Trenda IG Text" pitchFamily="34" charset="0"/>
                <a:ea typeface="Trenda IG Text" pitchFamily="34" charset="-122"/>
                <a:cs typeface="Trenda IG Text" pitchFamily="34" charset="-120"/>
              </a:rPr>
              <a:t>System or access</a:t>
            </a:r>
            <a:endParaRPr lang="en-US" sz="800" dirty="0"/>
          </a:p>
        </p:txBody>
      </p:sp>
      <p:sp>
        <p:nvSpPr>
          <p:cNvPr id="27" name="Shape 24"/>
          <p:cNvSpPr/>
          <p:nvPr/>
        </p:nvSpPr>
        <p:spPr>
          <a:xfrm>
            <a:off x="8942832" y="4910328"/>
            <a:ext cx="2523744" cy="205740"/>
          </a:xfrm>
          <a:prstGeom prst="roundRect">
            <a:avLst>
              <a:gd name="adj" fmla="val 26667"/>
            </a:avLst>
          </a:prstGeom>
          <a:solidFill>
            <a:srgbClr val="1A2130"/>
          </a:solidFill>
          <a:ln w="12700">
            <a:solidFill>
              <a:srgbClr val="252D3D"/>
            </a:solidFill>
            <a:prstDash val="solid"/>
          </a:ln>
        </p:spPr>
      </p:sp>
      <p:sp>
        <p:nvSpPr>
          <p:cNvPr id="28" name="Text 25"/>
          <p:cNvSpPr txBox="1"/>
          <p:nvPr/>
        </p:nvSpPr>
        <p:spPr>
          <a:xfrm>
            <a:off x="9025128" y="4910328"/>
            <a:ext cx="2359152" cy="205740"/>
          </a:xfrm>
          <a:prstGeom prst="rect">
            <a:avLst/>
          </a:prstGeom>
          <a:noFill/>
          <a:ln/>
        </p:spPr>
        <p:txBody>
          <a:bodyPr wrap="square" lIns="0" tIns="0" rIns="0" bIns="0" rtlCol="0" anchor="ctr"/>
          <a:lstStyle/>
          <a:p>
            <a:pPr indent="0" marL="0">
              <a:lnSpc>
                <a:spcPts val="1050"/>
              </a:lnSpc>
              <a:buNone/>
            </a:pPr>
            <a:r>
              <a:rPr lang="en-US" sz="800" dirty="0">
                <a:solidFill>
                  <a:srgbClr val="E6EAF2"/>
                </a:solidFill>
                <a:latin typeface="Trenda IG Text" pitchFamily="34" charset="0"/>
                <a:ea typeface="Trenda IG Text" pitchFamily="34" charset="-122"/>
                <a:cs typeface="Trenda IG Text" pitchFamily="34" charset="-120"/>
              </a:rPr>
              <a:t>Other, uncategorised</a:t>
            </a:r>
            <a:endParaRPr lang="en-US" sz="800" dirty="0"/>
          </a:p>
        </p:txBody>
      </p:sp>
      <p:sp>
        <p:nvSpPr>
          <p:cNvPr id="29" name="Text 26"/>
          <p:cNvSpPr txBox="1"/>
          <p:nvPr/>
        </p:nvSpPr>
        <p:spPr>
          <a:xfrm>
            <a:off x="502920" y="6035040"/>
            <a:ext cx="10085832" cy="347472"/>
          </a:xfrm>
          <a:prstGeom prst="rect">
            <a:avLst/>
          </a:prstGeom>
          <a:noFill/>
          <a:ln/>
        </p:spPr>
        <p:txBody>
          <a:bodyPr wrap="square" lIns="0" tIns="0" rIns="0" bIns="0" rtlCol="0" anchor="t"/>
          <a:lstStyle/>
          <a:p>
            <a:pPr indent="0" marL="0">
              <a:lnSpc>
                <a:spcPts val="1000"/>
              </a:lnSpc>
              <a:buNone/>
            </a:pPr>
            <a:r>
              <a:rPr lang="en-US" sz="750" i="1" dirty="0">
                <a:solidFill>
                  <a:srgbClr val="8A94A6"/>
                </a:solidFill>
                <a:latin typeface="Trenda IG Text" pitchFamily="34" charset="0"/>
                <a:ea typeface="Trenda IG Text" pitchFamily="34" charset="-122"/>
                <a:cs typeface="Trenda IG Text" pitchFamily="34" charset="-120"/>
              </a:rPr>
              <a:t>Duplicate and no action cases are excluded from operational SLA calculation under a disposition code agreed with McKesson, so they do not distort performance either way.</a:t>
            </a:r>
            <a:endParaRPr lang="en-US" sz="750" dirty="0"/>
          </a:p>
        </p:txBody>
      </p:sp>
      <p:pic>
        <p:nvPicPr>
          <p:cNvPr id="30" name="Image 0" descr="assets/ig-mark.png">    </p:cNvPr>
          <p:cNvPicPr>
            <a:picLocks noChangeAspect="1"/>
          </p:cNvPicPr>
          <p:nvPr/>
        </p:nvPicPr>
        <p:blipFill>
          <a:blip r:embed="rId1"/>
          <a:stretch>
            <a:fillRect/>
          </a:stretch>
        </p:blipFill>
        <p:spPr>
          <a:xfrm>
            <a:off x="502920" y="6455664"/>
            <a:ext cx="420624" cy="144475"/>
          </a:xfrm>
          <a:prstGeom prst="rect">
            <a:avLst/>
          </a:prstGeom>
        </p:spPr>
      </p:pic>
      <p:sp>
        <p:nvSpPr>
          <p:cNvPr id="31" name="Text 27"/>
          <p:cNvSpPr txBox="1"/>
          <p:nvPr/>
        </p:nvSpPr>
        <p:spPr>
          <a:xfrm>
            <a:off x="11201400" y="6400800"/>
            <a:ext cx="484632" cy="237744"/>
          </a:xfrm>
          <a:prstGeom prst="rect">
            <a:avLst/>
          </a:prstGeom>
          <a:noFill/>
          <a:ln/>
        </p:spPr>
        <p:txBody>
          <a:bodyPr wrap="square" lIns="0" tIns="0" rIns="0" bIns="0" rtlCol="0" anchor="ctr"/>
          <a:lstStyle/>
          <a:p>
            <a:pPr algn="r" indent="0" marL="0">
              <a:buNone/>
            </a:pPr>
            <a:r>
              <a:rPr lang="en-US" sz="850" dirty="0">
                <a:solidFill>
                  <a:srgbClr val="8A94A6"/>
                </a:solidFill>
                <a:latin typeface="Trenda IG Text" pitchFamily="34" charset="0"/>
                <a:ea typeface="Trenda IG Text" pitchFamily="34" charset="-122"/>
                <a:cs typeface="Trenda IG Text" pitchFamily="34" charset="-120"/>
              </a:rPr>
              <a:t>8</a:t>
            </a:r>
            <a:endParaRPr lang="en-US" sz="85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0A0D14"/>
        </a:solidFill>
      </p:bgPr>
    </p:bg>
    <p:spTree>
      <p:nvGrpSpPr>
        <p:cNvPr id="1" name=""/>
        <p:cNvGrpSpPr/>
        <p:nvPr/>
      </p:nvGrpSpPr>
      <p:grpSpPr>
        <a:xfrm>
          <a:off x="0" y="0"/>
          <a:ext cx="0" cy="0"/>
          <a:chOff x="0" y="0"/>
          <a:chExt cx="0" cy="0"/>
        </a:xfrm>
      </p:grpSpPr>
      <p:sp>
        <p:nvSpPr>
          <p:cNvPr id="2" name="Text 0"/>
          <p:cNvSpPr txBox="1"/>
          <p:nvPr/>
        </p:nvSpPr>
        <p:spPr>
          <a:xfrm>
            <a:off x="502920" y="384048"/>
            <a:ext cx="11183112" cy="219456"/>
          </a:xfrm>
          <a:prstGeom prst="rect">
            <a:avLst/>
          </a:prstGeom>
          <a:noFill/>
          <a:ln/>
        </p:spPr>
        <p:txBody>
          <a:bodyPr wrap="square" lIns="0" tIns="0" rIns="0" bIns="0" rtlCol="0" anchor="ctr"/>
          <a:lstStyle/>
          <a:p>
            <a:pPr indent="0" marL="0">
              <a:buNone/>
            </a:pPr>
            <a:r>
              <a:rPr lang="en-US" sz="1000" b="1" spc="220" kern="0" dirty="0">
                <a:solidFill>
                  <a:srgbClr val="22D3EE"/>
                </a:solidFill>
                <a:latin typeface="Trenda IG Display" pitchFamily="34" charset="0"/>
                <a:ea typeface="Trenda IG Display" pitchFamily="34" charset="-122"/>
                <a:cs typeface="Trenda IG Display" pitchFamily="34" charset="-120"/>
              </a:rPr>
              <a:t>CLASSIFICATION  |  02</a:t>
            </a:r>
            <a:endParaRPr lang="en-US" sz="1000" dirty="0"/>
          </a:p>
        </p:txBody>
      </p:sp>
      <p:sp>
        <p:nvSpPr>
          <p:cNvPr id="3" name="Text 1"/>
          <p:cNvSpPr txBox="1"/>
          <p:nvPr/>
        </p:nvSpPr>
        <p:spPr>
          <a:xfrm>
            <a:off x="502920" y="658368"/>
            <a:ext cx="11183112" cy="416052"/>
          </a:xfrm>
          <a:prstGeom prst="rect">
            <a:avLst/>
          </a:prstGeom>
          <a:noFill/>
          <a:ln/>
        </p:spPr>
        <p:txBody>
          <a:bodyPr wrap="square" lIns="0" tIns="0" rIns="0" bIns="0" rtlCol="0" anchor="ctr"/>
          <a:lstStyle/>
          <a:p>
            <a:pPr indent="0" marL="0">
              <a:lnSpc>
                <a:spcPts val="3016"/>
              </a:lnSpc>
              <a:buNone/>
            </a:pPr>
            <a:r>
              <a:rPr lang="en-US" sz="2600" b="1" spc="40" kern="0" dirty="0">
                <a:solidFill>
                  <a:srgbClr val="FFFFFF"/>
                </a:solidFill>
                <a:latin typeface="Trenda IG Display" pitchFamily="34" charset="0"/>
                <a:ea typeface="Trenda IG Display" pitchFamily="34" charset="-122"/>
                <a:cs typeface="Trenda IG Display" pitchFamily="34" charset="-120"/>
              </a:rPr>
              <a:t>PRIORITY IS DERIVED, NOT GUESSED</a:t>
            </a:r>
            <a:endParaRPr lang="en-US" sz="2600" dirty="0"/>
          </a:p>
        </p:txBody>
      </p:sp>
      <p:sp>
        <p:nvSpPr>
          <p:cNvPr id="4" name="Text 2"/>
          <p:cNvSpPr txBox="1"/>
          <p:nvPr/>
        </p:nvSpPr>
        <p:spPr>
          <a:xfrm>
            <a:off x="502920" y="1156716"/>
            <a:ext cx="11183112" cy="384048"/>
          </a:xfrm>
          <a:prstGeom prst="rect">
            <a:avLst/>
          </a:prstGeom>
          <a:noFill/>
          <a:ln/>
        </p:spPr>
        <p:txBody>
          <a:bodyPr wrap="square" lIns="0" tIns="0" rIns="0" bIns="0" rtlCol="0" anchor="t"/>
          <a:lstStyle/>
          <a:p>
            <a:pPr indent="0" marL="0">
              <a:lnSpc>
                <a:spcPts val="1500"/>
              </a:lnSpc>
              <a:buNone/>
            </a:pPr>
            <a:r>
              <a:rPr lang="en-US" sz="1150" dirty="0">
                <a:solidFill>
                  <a:srgbClr val="8A94A6"/>
                </a:solidFill>
                <a:latin typeface="Trenda IG Text" pitchFamily="34" charset="0"/>
                <a:ea typeface="Trenda IG Text" pitchFamily="34" charset="-122"/>
                <a:cs typeface="Trenda IG Text" pitchFamily="34" charset="-120"/>
              </a:rPr>
              <a:t>Category alone does not tell you how urgent a case is. Priority is recommended from four inputs, then enforced by Flow so the same case always attracts the same treatment.</a:t>
            </a:r>
            <a:endParaRPr lang="en-US" sz="1150" dirty="0"/>
          </a:p>
        </p:txBody>
      </p:sp>
      <p:sp>
        <p:nvSpPr>
          <p:cNvPr id="5" name="Shape 3"/>
          <p:cNvSpPr/>
          <p:nvPr/>
        </p:nvSpPr>
        <p:spPr>
          <a:xfrm>
            <a:off x="502920" y="1796796"/>
            <a:ext cx="11183112" cy="420624"/>
          </a:xfrm>
          <a:prstGeom prst="roundRect">
            <a:avLst>
              <a:gd name="adj" fmla="val 8696"/>
            </a:avLst>
          </a:prstGeom>
          <a:solidFill>
            <a:srgbClr val="1A2130"/>
          </a:solidFill>
          <a:ln w="12700">
            <a:solidFill>
              <a:srgbClr val="252D3D"/>
            </a:solidFill>
            <a:prstDash val="solid"/>
          </a:ln>
        </p:spPr>
      </p:sp>
      <p:sp>
        <p:nvSpPr>
          <p:cNvPr id="6" name="Text 4"/>
          <p:cNvSpPr txBox="1"/>
          <p:nvPr/>
        </p:nvSpPr>
        <p:spPr>
          <a:xfrm>
            <a:off x="722376" y="1796796"/>
            <a:ext cx="10744200" cy="420624"/>
          </a:xfrm>
          <a:prstGeom prst="rect">
            <a:avLst/>
          </a:prstGeom>
          <a:noFill/>
          <a:ln/>
        </p:spPr>
        <p:txBody>
          <a:bodyPr wrap="square" lIns="0" tIns="0" rIns="0" bIns="0" rtlCol="0" anchor="ctr"/>
          <a:lstStyle/>
          <a:p>
            <a:pPr indent="0" marL="0">
              <a:buNone/>
            </a:pPr>
            <a:r>
              <a:rPr lang="en-US" sz="1100" b="1" spc="120" kern="0" dirty="0">
                <a:solidFill>
                  <a:srgbClr val="22D3EE"/>
                </a:solidFill>
                <a:latin typeface="Trenda IG Text" pitchFamily="34" charset="0"/>
                <a:ea typeface="Trenda IG Text" pitchFamily="34" charset="-122"/>
                <a:cs typeface="Trenda IG Text" pitchFamily="34" charset="-120"/>
              </a:rPr>
              <a:t>PRIORITY  =  </a:t>
            </a:r>
            <a:pPr indent="0" marL="0">
              <a:buNone/>
            </a:pPr>
            <a:r>
              <a:rPr lang="en-US" sz="1100" b="1" dirty="0">
                <a:solidFill>
                  <a:srgbClr val="FFFFFF"/>
                </a:solidFill>
                <a:latin typeface="Trenda IG Text" pitchFamily="34" charset="0"/>
                <a:ea typeface="Trenda IG Text" pitchFamily="34" charset="-122"/>
                <a:cs typeface="Trenda IG Text" pitchFamily="34" charset="-120"/>
              </a:rPr>
              <a:t>business impact</a:t>
            </a:r>
            <a:pPr indent="0" marL="0">
              <a:buNone/>
            </a:pPr>
            <a:r>
              <a:rPr lang="en-US" sz="1100" dirty="0">
                <a:solidFill>
                  <a:srgbClr val="8A94A6"/>
                </a:solidFill>
                <a:latin typeface="Trenda IG Text" pitchFamily="34" charset="0"/>
                <a:ea typeface="Trenda IG Text" pitchFamily="34" charset="-122"/>
                <a:cs typeface="Trenda IG Text" pitchFamily="34" charset="-120"/>
              </a:rPr>
              <a:t>   +   </a:t>
            </a:r>
            <a:pPr indent="0" marL="0">
              <a:buNone/>
            </a:pPr>
            <a:r>
              <a:rPr lang="en-US" sz="1100" b="1" dirty="0">
                <a:solidFill>
                  <a:srgbClr val="FFFFFF"/>
                </a:solidFill>
                <a:latin typeface="Trenda IG Text" pitchFamily="34" charset="0"/>
                <a:ea typeface="Trenda IG Text" pitchFamily="34" charset="-122"/>
                <a:cs typeface="Trenda IG Text" pitchFamily="34" charset="-120"/>
              </a:rPr>
              <a:t>urgency</a:t>
            </a:r>
            <a:pPr indent="0" marL="0">
              <a:buNone/>
            </a:pPr>
            <a:r>
              <a:rPr lang="en-US" sz="1100" dirty="0">
                <a:solidFill>
                  <a:srgbClr val="8A94A6"/>
                </a:solidFill>
                <a:latin typeface="Trenda IG Text" pitchFamily="34" charset="0"/>
                <a:ea typeface="Trenda IG Text" pitchFamily="34" charset="-122"/>
                <a:cs typeface="Trenda IG Text" pitchFamily="34" charset="-120"/>
              </a:rPr>
              <a:t>   +   </a:t>
            </a:r>
            <a:pPr indent="0" marL="0">
              <a:buNone/>
            </a:pPr>
            <a:r>
              <a:rPr lang="en-US" sz="1100" b="1" dirty="0">
                <a:solidFill>
                  <a:srgbClr val="FFFFFF"/>
                </a:solidFill>
                <a:latin typeface="Trenda IG Text" pitchFamily="34" charset="0"/>
                <a:ea typeface="Trenda IG Text" pitchFamily="34" charset="-122"/>
                <a:cs typeface="Trenda IG Text" pitchFamily="34" charset="-120"/>
              </a:rPr>
              <a:t>customer criticality</a:t>
            </a:r>
            <a:pPr indent="0" marL="0">
              <a:buNone/>
            </a:pPr>
            <a:r>
              <a:rPr lang="en-US" sz="1100" dirty="0">
                <a:solidFill>
                  <a:srgbClr val="8A94A6"/>
                </a:solidFill>
                <a:latin typeface="Trenda IG Text" pitchFamily="34" charset="0"/>
                <a:ea typeface="Trenda IG Text" pitchFamily="34" charset="-122"/>
                <a:cs typeface="Trenda IG Text" pitchFamily="34" charset="-120"/>
              </a:rPr>
              <a:t>   +   </a:t>
            </a:r>
            <a:pPr indent="0" marL="0">
              <a:buNone/>
            </a:pPr>
            <a:r>
              <a:rPr lang="en-US" sz="1100" b="1" dirty="0">
                <a:solidFill>
                  <a:srgbClr val="FFFFFF"/>
                </a:solidFill>
                <a:latin typeface="Trenda IG Text" pitchFamily="34" charset="0"/>
                <a:ea typeface="Trenda IG Text" pitchFamily="34" charset="-122"/>
                <a:cs typeface="Trenda IG Text" pitchFamily="34" charset="-120"/>
              </a:rPr>
              <a:t>regulatory or financial risk</a:t>
            </a:r>
            <a:endParaRPr lang="en-US" sz="1100" dirty="0"/>
          </a:p>
        </p:txBody>
      </p:sp>
      <p:sp>
        <p:nvSpPr>
          <p:cNvPr id="7" name="Shape 5"/>
          <p:cNvSpPr/>
          <p:nvPr/>
        </p:nvSpPr>
        <p:spPr>
          <a:xfrm>
            <a:off x="502920" y="2418588"/>
            <a:ext cx="2658618" cy="1993392"/>
          </a:xfrm>
          <a:prstGeom prst="roundRect">
            <a:avLst>
              <a:gd name="adj" fmla="val 1835"/>
            </a:avLst>
          </a:prstGeom>
          <a:solidFill>
            <a:srgbClr val="151A24"/>
          </a:solidFill>
          <a:ln w="12700">
            <a:solidFill>
              <a:srgbClr val="252D3D"/>
            </a:solidFill>
            <a:prstDash val="solid"/>
          </a:ln>
        </p:spPr>
      </p:sp>
      <p:sp>
        <p:nvSpPr>
          <p:cNvPr id="8" name="Shape 6"/>
          <p:cNvSpPr/>
          <p:nvPr/>
        </p:nvSpPr>
        <p:spPr>
          <a:xfrm>
            <a:off x="704088" y="2619756"/>
            <a:ext cx="402336" cy="274320"/>
          </a:xfrm>
          <a:prstGeom prst="roundRect">
            <a:avLst>
              <a:gd name="adj" fmla="val 16667"/>
            </a:avLst>
          </a:prstGeom>
          <a:solidFill>
            <a:srgbClr val="0A0D14"/>
          </a:solidFill>
          <a:ln w="12700">
            <a:solidFill>
              <a:srgbClr val="FF0069"/>
            </a:solidFill>
            <a:prstDash val="solid"/>
          </a:ln>
        </p:spPr>
      </p:sp>
      <p:sp>
        <p:nvSpPr>
          <p:cNvPr id="9" name="Text 7"/>
          <p:cNvSpPr txBox="1"/>
          <p:nvPr/>
        </p:nvSpPr>
        <p:spPr>
          <a:xfrm>
            <a:off x="704088" y="2619756"/>
            <a:ext cx="402336" cy="274320"/>
          </a:xfrm>
          <a:prstGeom prst="rect">
            <a:avLst/>
          </a:prstGeom>
          <a:noFill/>
          <a:ln/>
        </p:spPr>
        <p:txBody>
          <a:bodyPr wrap="square" lIns="0" tIns="0" rIns="0" bIns="0" rtlCol="0" anchor="ctr"/>
          <a:lstStyle/>
          <a:p>
            <a:pPr algn="ctr" indent="0" marL="0">
              <a:buNone/>
            </a:pPr>
            <a:r>
              <a:rPr lang="en-US" sz="1150" b="1" dirty="0">
                <a:solidFill>
                  <a:srgbClr val="FF0069"/>
                </a:solidFill>
                <a:latin typeface="Trenda IG Display" pitchFamily="34" charset="0"/>
                <a:ea typeface="Trenda IG Display" pitchFamily="34" charset="-122"/>
                <a:cs typeface="Trenda IG Display" pitchFamily="34" charset="-120"/>
              </a:rPr>
              <a:t>P1</a:t>
            </a:r>
            <a:endParaRPr lang="en-US" sz="1150" dirty="0"/>
          </a:p>
        </p:txBody>
      </p:sp>
      <p:sp>
        <p:nvSpPr>
          <p:cNvPr id="10" name="Text 8"/>
          <p:cNvSpPr txBox="1"/>
          <p:nvPr/>
        </p:nvSpPr>
        <p:spPr>
          <a:xfrm>
            <a:off x="1179576" y="2619756"/>
            <a:ext cx="1780794" cy="274320"/>
          </a:xfrm>
          <a:prstGeom prst="rect">
            <a:avLst/>
          </a:prstGeom>
          <a:noFill/>
          <a:ln/>
        </p:spPr>
        <p:txBody>
          <a:bodyPr wrap="square" lIns="0" tIns="0" rIns="0" bIns="0" rtlCol="0" anchor="ctr"/>
          <a:lstStyle/>
          <a:p>
            <a:pPr indent="0" marL="0">
              <a:buNone/>
            </a:pPr>
            <a:r>
              <a:rPr lang="en-US" sz="1250" b="1" dirty="0">
                <a:solidFill>
                  <a:srgbClr val="FF0069"/>
                </a:solidFill>
                <a:latin typeface="Trenda IG Text" pitchFamily="34" charset="0"/>
                <a:ea typeface="Trenda IG Text" pitchFamily="34" charset="-122"/>
                <a:cs typeface="Trenda IG Text" pitchFamily="34" charset="-120"/>
              </a:rPr>
              <a:t>Critical</a:t>
            </a:r>
            <a:endParaRPr lang="en-US" sz="1250" dirty="0"/>
          </a:p>
        </p:txBody>
      </p:sp>
      <p:sp>
        <p:nvSpPr>
          <p:cNvPr id="11" name="Text 9"/>
          <p:cNvSpPr txBox="1"/>
          <p:nvPr/>
        </p:nvSpPr>
        <p:spPr>
          <a:xfrm>
            <a:off x="704088" y="3022092"/>
            <a:ext cx="2256282" cy="585216"/>
          </a:xfrm>
          <a:prstGeom prst="rect">
            <a:avLst/>
          </a:prstGeom>
          <a:noFill/>
          <a:ln/>
        </p:spPr>
        <p:txBody>
          <a:bodyPr wrap="square" lIns="0" tIns="0" rIns="0" bIns="0" rtlCol="0" anchor="t"/>
          <a:lstStyle/>
          <a:p>
            <a:pPr indent="0" marL="0">
              <a:lnSpc>
                <a:spcPts val="1200"/>
              </a:lnSpc>
              <a:buNone/>
            </a:pPr>
            <a:r>
              <a:rPr lang="en-US" sz="900" dirty="0">
                <a:solidFill>
                  <a:srgbClr val="E6EAF2"/>
                </a:solidFill>
                <a:latin typeface="Trenda IG Text" pitchFamily="34" charset="0"/>
                <a:ea typeface="Trenda IG Text" pitchFamily="34" charset="-122"/>
                <a:cs typeface="Trenda IG Text" pitchFamily="34" charset="-120"/>
              </a:rPr>
              <a:t>Immediate business, patient service, compliance or widespread operational impact.</a:t>
            </a:r>
            <a:endParaRPr lang="en-US" sz="900" dirty="0"/>
          </a:p>
        </p:txBody>
      </p:sp>
      <p:sp>
        <p:nvSpPr>
          <p:cNvPr id="12" name="Text 10"/>
          <p:cNvSpPr txBox="1"/>
          <p:nvPr/>
        </p:nvSpPr>
        <p:spPr>
          <a:xfrm>
            <a:off x="704088" y="3643884"/>
            <a:ext cx="2256282" cy="164592"/>
          </a:xfrm>
          <a:prstGeom prst="rect">
            <a:avLst/>
          </a:prstGeom>
          <a:noFill/>
          <a:ln/>
        </p:spPr>
        <p:txBody>
          <a:bodyPr wrap="square" lIns="0" tIns="0" rIns="0" bIns="0" rtlCol="0" anchor="ctr"/>
          <a:lstStyle/>
          <a:p>
            <a:pPr indent="0" marL="0">
              <a:buNone/>
            </a:pPr>
            <a:r>
              <a:rPr lang="en-US" sz="750" b="1" spc="140" kern="0" dirty="0">
                <a:solidFill>
                  <a:srgbClr val="8A94A6"/>
                </a:solidFill>
                <a:latin typeface="Trenda IG Display" pitchFamily="34" charset="0"/>
                <a:ea typeface="Trenda IG Display" pitchFamily="34" charset="-122"/>
                <a:cs typeface="Trenda IG Display" pitchFamily="34" charset="-120"/>
              </a:rPr>
              <a:t>TYPICAL CONDITIONS</a:t>
            </a:r>
            <a:endParaRPr lang="en-US" sz="750" dirty="0"/>
          </a:p>
        </p:txBody>
      </p:sp>
      <p:sp>
        <p:nvSpPr>
          <p:cNvPr id="13" name="Text 11"/>
          <p:cNvSpPr txBox="1"/>
          <p:nvPr/>
        </p:nvSpPr>
        <p:spPr>
          <a:xfrm>
            <a:off x="704088" y="3845052"/>
            <a:ext cx="2256282" cy="493776"/>
          </a:xfrm>
          <a:prstGeom prst="rect">
            <a:avLst/>
          </a:prstGeom>
          <a:noFill/>
          <a:ln/>
        </p:spPr>
        <p:txBody>
          <a:bodyPr wrap="square" lIns="0" tIns="0" rIns="0" bIns="0" rtlCol="0" anchor="t"/>
          <a:lstStyle/>
          <a:p>
            <a:pPr indent="0" marL="0">
              <a:lnSpc>
                <a:spcPts val="1050"/>
              </a:lnSpc>
              <a:buNone/>
            </a:pPr>
            <a:r>
              <a:rPr lang="en-US" sz="800" dirty="0">
                <a:solidFill>
                  <a:srgbClr val="8A94A6"/>
                </a:solidFill>
                <a:latin typeface="Trenda IG Text" pitchFamily="34" charset="0"/>
                <a:ea typeface="Trenda IG Text" pitchFamily="34" charset="-122"/>
                <a:cs typeface="Trenda IG Text" pitchFamily="34" charset="-120"/>
              </a:rPr>
              <a:t>Ordering unavailable for multiple customers, critical patient delivery risk, PHI or security concern</a:t>
            </a:r>
            <a:endParaRPr lang="en-US" sz="800" dirty="0"/>
          </a:p>
        </p:txBody>
      </p:sp>
      <p:sp>
        <p:nvSpPr>
          <p:cNvPr id="14" name="Shape 12"/>
          <p:cNvSpPr/>
          <p:nvPr/>
        </p:nvSpPr>
        <p:spPr>
          <a:xfrm>
            <a:off x="3344418" y="2418588"/>
            <a:ext cx="2658618" cy="1993392"/>
          </a:xfrm>
          <a:prstGeom prst="roundRect">
            <a:avLst>
              <a:gd name="adj" fmla="val 1835"/>
            </a:avLst>
          </a:prstGeom>
          <a:solidFill>
            <a:srgbClr val="151A24"/>
          </a:solidFill>
          <a:ln w="12700">
            <a:solidFill>
              <a:srgbClr val="252D3D"/>
            </a:solidFill>
            <a:prstDash val="solid"/>
          </a:ln>
        </p:spPr>
      </p:sp>
      <p:sp>
        <p:nvSpPr>
          <p:cNvPr id="15" name="Shape 13"/>
          <p:cNvSpPr/>
          <p:nvPr/>
        </p:nvSpPr>
        <p:spPr>
          <a:xfrm>
            <a:off x="3545586" y="2619756"/>
            <a:ext cx="402336" cy="274320"/>
          </a:xfrm>
          <a:prstGeom prst="roundRect">
            <a:avLst>
              <a:gd name="adj" fmla="val 16667"/>
            </a:avLst>
          </a:prstGeom>
          <a:solidFill>
            <a:srgbClr val="0A0D14"/>
          </a:solidFill>
          <a:ln w="12700">
            <a:solidFill>
              <a:srgbClr val="F59E0B"/>
            </a:solidFill>
            <a:prstDash val="solid"/>
          </a:ln>
        </p:spPr>
      </p:sp>
      <p:sp>
        <p:nvSpPr>
          <p:cNvPr id="16" name="Text 14"/>
          <p:cNvSpPr txBox="1"/>
          <p:nvPr/>
        </p:nvSpPr>
        <p:spPr>
          <a:xfrm>
            <a:off x="3545586" y="2619756"/>
            <a:ext cx="402336" cy="274320"/>
          </a:xfrm>
          <a:prstGeom prst="rect">
            <a:avLst/>
          </a:prstGeom>
          <a:noFill/>
          <a:ln/>
        </p:spPr>
        <p:txBody>
          <a:bodyPr wrap="square" lIns="0" tIns="0" rIns="0" bIns="0" rtlCol="0" anchor="ctr"/>
          <a:lstStyle/>
          <a:p>
            <a:pPr algn="ctr" indent="0" marL="0">
              <a:buNone/>
            </a:pPr>
            <a:r>
              <a:rPr lang="en-US" sz="1150" b="1" dirty="0">
                <a:solidFill>
                  <a:srgbClr val="F59E0B"/>
                </a:solidFill>
                <a:latin typeface="Trenda IG Display" pitchFamily="34" charset="0"/>
                <a:ea typeface="Trenda IG Display" pitchFamily="34" charset="-122"/>
                <a:cs typeface="Trenda IG Display" pitchFamily="34" charset="-120"/>
              </a:rPr>
              <a:t>P2</a:t>
            </a:r>
            <a:endParaRPr lang="en-US" sz="1150" dirty="0"/>
          </a:p>
        </p:txBody>
      </p:sp>
      <p:sp>
        <p:nvSpPr>
          <p:cNvPr id="17" name="Text 15"/>
          <p:cNvSpPr txBox="1"/>
          <p:nvPr/>
        </p:nvSpPr>
        <p:spPr>
          <a:xfrm>
            <a:off x="4021074" y="2619756"/>
            <a:ext cx="1780794" cy="274320"/>
          </a:xfrm>
          <a:prstGeom prst="rect">
            <a:avLst/>
          </a:prstGeom>
          <a:noFill/>
          <a:ln/>
        </p:spPr>
        <p:txBody>
          <a:bodyPr wrap="square" lIns="0" tIns="0" rIns="0" bIns="0" rtlCol="0" anchor="ctr"/>
          <a:lstStyle/>
          <a:p>
            <a:pPr indent="0" marL="0">
              <a:buNone/>
            </a:pPr>
            <a:r>
              <a:rPr lang="en-US" sz="1250" b="1" dirty="0">
                <a:solidFill>
                  <a:srgbClr val="F59E0B"/>
                </a:solidFill>
                <a:latin typeface="Trenda IG Text" pitchFamily="34" charset="0"/>
                <a:ea typeface="Trenda IG Text" pitchFamily="34" charset="-122"/>
                <a:cs typeface="Trenda IG Text" pitchFamily="34" charset="-120"/>
              </a:rPr>
              <a:t>High</a:t>
            </a:r>
            <a:endParaRPr lang="en-US" sz="1250" dirty="0"/>
          </a:p>
        </p:txBody>
      </p:sp>
      <p:sp>
        <p:nvSpPr>
          <p:cNvPr id="18" name="Text 16"/>
          <p:cNvSpPr txBox="1"/>
          <p:nvPr/>
        </p:nvSpPr>
        <p:spPr>
          <a:xfrm>
            <a:off x="3545586" y="3022092"/>
            <a:ext cx="2256282" cy="585216"/>
          </a:xfrm>
          <a:prstGeom prst="rect">
            <a:avLst/>
          </a:prstGeom>
          <a:noFill/>
          <a:ln/>
        </p:spPr>
        <p:txBody>
          <a:bodyPr wrap="square" lIns="0" tIns="0" rIns="0" bIns="0" rtlCol="0" anchor="t"/>
          <a:lstStyle/>
          <a:p>
            <a:pPr indent="0" marL="0">
              <a:lnSpc>
                <a:spcPts val="1200"/>
              </a:lnSpc>
              <a:buNone/>
            </a:pPr>
            <a:r>
              <a:rPr lang="en-US" sz="900" dirty="0">
                <a:solidFill>
                  <a:srgbClr val="E6EAF2"/>
                </a:solidFill>
                <a:latin typeface="Trenda IG Text" pitchFamily="34" charset="0"/>
                <a:ea typeface="Trenda IG Text" pitchFamily="34" charset="-122"/>
                <a:cs typeface="Trenda IG Text" pitchFamily="34" charset="-120"/>
              </a:rPr>
              <a:t>Significant customer impact requiring rapid action.</a:t>
            </a:r>
            <a:endParaRPr lang="en-US" sz="900" dirty="0"/>
          </a:p>
        </p:txBody>
      </p:sp>
      <p:sp>
        <p:nvSpPr>
          <p:cNvPr id="19" name="Text 17"/>
          <p:cNvSpPr txBox="1"/>
          <p:nvPr/>
        </p:nvSpPr>
        <p:spPr>
          <a:xfrm>
            <a:off x="3545586" y="3643884"/>
            <a:ext cx="2256282" cy="164592"/>
          </a:xfrm>
          <a:prstGeom prst="rect">
            <a:avLst/>
          </a:prstGeom>
          <a:noFill/>
          <a:ln/>
        </p:spPr>
        <p:txBody>
          <a:bodyPr wrap="square" lIns="0" tIns="0" rIns="0" bIns="0" rtlCol="0" anchor="ctr"/>
          <a:lstStyle/>
          <a:p>
            <a:pPr indent="0" marL="0">
              <a:buNone/>
            </a:pPr>
            <a:r>
              <a:rPr lang="en-US" sz="750" b="1" spc="140" kern="0" dirty="0">
                <a:solidFill>
                  <a:srgbClr val="8A94A6"/>
                </a:solidFill>
                <a:latin typeface="Trenda IG Display" pitchFamily="34" charset="0"/>
                <a:ea typeface="Trenda IG Display" pitchFamily="34" charset="-122"/>
                <a:cs typeface="Trenda IG Display" pitchFamily="34" charset="-120"/>
              </a:rPr>
              <a:t>TYPICAL CONDITIONS</a:t>
            </a:r>
            <a:endParaRPr lang="en-US" sz="750" dirty="0"/>
          </a:p>
        </p:txBody>
      </p:sp>
      <p:sp>
        <p:nvSpPr>
          <p:cNvPr id="20" name="Text 18"/>
          <p:cNvSpPr txBox="1"/>
          <p:nvPr/>
        </p:nvSpPr>
        <p:spPr>
          <a:xfrm>
            <a:off x="3545586" y="3845052"/>
            <a:ext cx="2256282" cy="493776"/>
          </a:xfrm>
          <a:prstGeom prst="rect">
            <a:avLst/>
          </a:prstGeom>
          <a:noFill/>
          <a:ln/>
        </p:spPr>
        <p:txBody>
          <a:bodyPr wrap="square" lIns="0" tIns="0" rIns="0" bIns="0" rtlCol="0" anchor="t"/>
          <a:lstStyle/>
          <a:p>
            <a:pPr indent="0" marL="0">
              <a:lnSpc>
                <a:spcPts val="1050"/>
              </a:lnSpc>
              <a:buNone/>
            </a:pPr>
            <a:r>
              <a:rPr lang="en-US" sz="800" dirty="0">
                <a:solidFill>
                  <a:srgbClr val="8A94A6"/>
                </a:solidFill>
                <a:latin typeface="Trenda IG Text" pitchFamily="34" charset="0"/>
                <a:ea typeface="Trenda IG Text" pitchFamily="34" charset="-122"/>
                <a:cs typeface="Trenda IG Text" pitchFamily="34" charset="-120"/>
              </a:rPr>
              <a:t>Urgent order placement, time sensitive modification, major delivery exception</a:t>
            </a:r>
            <a:endParaRPr lang="en-US" sz="800" dirty="0"/>
          </a:p>
        </p:txBody>
      </p:sp>
      <p:sp>
        <p:nvSpPr>
          <p:cNvPr id="21" name="Shape 19"/>
          <p:cNvSpPr/>
          <p:nvPr/>
        </p:nvSpPr>
        <p:spPr>
          <a:xfrm>
            <a:off x="6185916" y="2418588"/>
            <a:ext cx="2658618" cy="1993392"/>
          </a:xfrm>
          <a:prstGeom prst="roundRect">
            <a:avLst>
              <a:gd name="adj" fmla="val 1835"/>
            </a:avLst>
          </a:prstGeom>
          <a:solidFill>
            <a:srgbClr val="151A24"/>
          </a:solidFill>
          <a:ln w="12700">
            <a:solidFill>
              <a:srgbClr val="252D3D"/>
            </a:solidFill>
            <a:prstDash val="solid"/>
          </a:ln>
        </p:spPr>
      </p:sp>
      <p:sp>
        <p:nvSpPr>
          <p:cNvPr id="22" name="Shape 20"/>
          <p:cNvSpPr/>
          <p:nvPr/>
        </p:nvSpPr>
        <p:spPr>
          <a:xfrm>
            <a:off x="6387084" y="2619756"/>
            <a:ext cx="402336" cy="274320"/>
          </a:xfrm>
          <a:prstGeom prst="roundRect">
            <a:avLst>
              <a:gd name="adj" fmla="val 16667"/>
            </a:avLst>
          </a:prstGeom>
          <a:solidFill>
            <a:srgbClr val="0A0D14"/>
          </a:solidFill>
          <a:ln w="12700">
            <a:solidFill>
              <a:srgbClr val="22D3EE"/>
            </a:solidFill>
            <a:prstDash val="solid"/>
          </a:ln>
        </p:spPr>
      </p:sp>
      <p:sp>
        <p:nvSpPr>
          <p:cNvPr id="23" name="Text 21"/>
          <p:cNvSpPr txBox="1"/>
          <p:nvPr/>
        </p:nvSpPr>
        <p:spPr>
          <a:xfrm>
            <a:off x="6387084" y="2619756"/>
            <a:ext cx="402336" cy="274320"/>
          </a:xfrm>
          <a:prstGeom prst="rect">
            <a:avLst/>
          </a:prstGeom>
          <a:noFill/>
          <a:ln/>
        </p:spPr>
        <p:txBody>
          <a:bodyPr wrap="square" lIns="0" tIns="0" rIns="0" bIns="0" rtlCol="0" anchor="ctr"/>
          <a:lstStyle/>
          <a:p>
            <a:pPr algn="ctr" indent="0" marL="0">
              <a:buNone/>
            </a:pPr>
            <a:r>
              <a:rPr lang="en-US" sz="1150" b="1" dirty="0">
                <a:solidFill>
                  <a:srgbClr val="22D3EE"/>
                </a:solidFill>
                <a:latin typeface="Trenda IG Display" pitchFamily="34" charset="0"/>
                <a:ea typeface="Trenda IG Display" pitchFamily="34" charset="-122"/>
                <a:cs typeface="Trenda IG Display" pitchFamily="34" charset="-120"/>
              </a:rPr>
              <a:t>P3</a:t>
            </a:r>
            <a:endParaRPr lang="en-US" sz="1150" dirty="0"/>
          </a:p>
        </p:txBody>
      </p:sp>
      <p:sp>
        <p:nvSpPr>
          <p:cNvPr id="24" name="Text 22"/>
          <p:cNvSpPr txBox="1"/>
          <p:nvPr/>
        </p:nvSpPr>
        <p:spPr>
          <a:xfrm>
            <a:off x="6862572" y="2619756"/>
            <a:ext cx="1780794" cy="274320"/>
          </a:xfrm>
          <a:prstGeom prst="rect">
            <a:avLst/>
          </a:prstGeom>
          <a:noFill/>
          <a:ln/>
        </p:spPr>
        <p:txBody>
          <a:bodyPr wrap="square" lIns="0" tIns="0" rIns="0" bIns="0" rtlCol="0" anchor="ctr"/>
          <a:lstStyle/>
          <a:p>
            <a:pPr indent="0" marL="0">
              <a:buNone/>
            </a:pPr>
            <a:r>
              <a:rPr lang="en-US" sz="1250" b="1" dirty="0">
                <a:solidFill>
                  <a:srgbClr val="22D3EE"/>
                </a:solidFill>
                <a:latin typeface="Trenda IG Text" pitchFamily="34" charset="0"/>
                <a:ea typeface="Trenda IG Text" pitchFamily="34" charset="-122"/>
                <a:cs typeface="Trenda IG Text" pitchFamily="34" charset="-120"/>
              </a:rPr>
              <a:t>Standard</a:t>
            </a:r>
            <a:endParaRPr lang="en-US" sz="1250" dirty="0"/>
          </a:p>
        </p:txBody>
      </p:sp>
      <p:sp>
        <p:nvSpPr>
          <p:cNvPr id="25" name="Text 23"/>
          <p:cNvSpPr txBox="1"/>
          <p:nvPr/>
        </p:nvSpPr>
        <p:spPr>
          <a:xfrm>
            <a:off x="6387084" y="3022092"/>
            <a:ext cx="2256282" cy="585216"/>
          </a:xfrm>
          <a:prstGeom prst="rect">
            <a:avLst/>
          </a:prstGeom>
          <a:noFill/>
          <a:ln/>
        </p:spPr>
        <p:txBody>
          <a:bodyPr wrap="square" lIns="0" tIns="0" rIns="0" bIns="0" rtlCol="0" anchor="t"/>
          <a:lstStyle/>
          <a:p>
            <a:pPr indent="0" marL="0">
              <a:lnSpc>
                <a:spcPts val="1200"/>
              </a:lnSpc>
              <a:buNone/>
            </a:pPr>
            <a:r>
              <a:rPr lang="en-US" sz="900" dirty="0">
                <a:solidFill>
                  <a:srgbClr val="E6EAF2"/>
                </a:solidFill>
                <a:latin typeface="Trenda IG Text" pitchFamily="34" charset="0"/>
                <a:ea typeface="Trenda IG Text" pitchFamily="34" charset="-122"/>
                <a:cs typeface="Trenda IG Text" pitchFamily="34" charset="-120"/>
              </a:rPr>
              <a:t>Normal operational request or question.</a:t>
            </a:r>
            <a:endParaRPr lang="en-US" sz="900" dirty="0"/>
          </a:p>
        </p:txBody>
      </p:sp>
      <p:sp>
        <p:nvSpPr>
          <p:cNvPr id="26" name="Text 24"/>
          <p:cNvSpPr txBox="1"/>
          <p:nvPr/>
        </p:nvSpPr>
        <p:spPr>
          <a:xfrm>
            <a:off x="6387084" y="3643884"/>
            <a:ext cx="2256282" cy="164592"/>
          </a:xfrm>
          <a:prstGeom prst="rect">
            <a:avLst/>
          </a:prstGeom>
          <a:noFill/>
          <a:ln/>
        </p:spPr>
        <p:txBody>
          <a:bodyPr wrap="square" lIns="0" tIns="0" rIns="0" bIns="0" rtlCol="0" anchor="ctr"/>
          <a:lstStyle/>
          <a:p>
            <a:pPr indent="0" marL="0">
              <a:buNone/>
            </a:pPr>
            <a:r>
              <a:rPr lang="en-US" sz="750" b="1" spc="140" kern="0" dirty="0">
                <a:solidFill>
                  <a:srgbClr val="8A94A6"/>
                </a:solidFill>
                <a:latin typeface="Trenda IG Display" pitchFamily="34" charset="0"/>
                <a:ea typeface="Trenda IG Display" pitchFamily="34" charset="-122"/>
                <a:cs typeface="Trenda IG Display" pitchFamily="34" charset="-120"/>
              </a:rPr>
              <a:t>TYPICAL CONDITIONS</a:t>
            </a:r>
            <a:endParaRPr lang="en-US" sz="750" dirty="0"/>
          </a:p>
        </p:txBody>
      </p:sp>
      <p:sp>
        <p:nvSpPr>
          <p:cNvPr id="27" name="Text 25"/>
          <p:cNvSpPr txBox="1"/>
          <p:nvPr/>
        </p:nvSpPr>
        <p:spPr>
          <a:xfrm>
            <a:off x="6387084" y="3845052"/>
            <a:ext cx="2256282" cy="493776"/>
          </a:xfrm>
          <a:prstGeom prst="rect">
            <a:avLst/>
          </a:prstGeom>
          <a:noFill/>
          <a:ln/>
        </p:spPr>
        <p:txBody>
          <a:bodyPr wrap="square" lIns="0" tIns="0" rIns="0" bIns="0" rtlCol="0" anchor="t"/>
          <a:lstStyle/>
          <a:p>
            <a:pPr indent="0" marL="0">
              <a:lnSpc>
                <a:spcPts val="1050"/>
              </a:lnSpc>
              <a:buNone/>
            </a:pPr>
            <a:r>
              <a:rPr lang="en-US" sz="800" dirty="0">
                <a:solidFill>
                  <a:srgbClr val="8A94A6"/>
                </a:solidFill>
                <a:latin typeface="Trenda IG Text" pitchFamily="34" charset="0"/>
                <a:ea typeface="Trenda IG Text" pitchFamily="34" charset="-122"/>
                <a:cs typeface="Trenda IG Text" pitchFamily="34" charset="-120"/>
              </a:rPr>
              <a:t>Routine order status, product availability, standard account inquiry</a:t>
            </a:r>
            <a:endParaRPr lang="en-US" sz="800" dirty="0"/>
          </a:p>
        </p:txBody>
      </p:sp>
      <p:sp>
        <p:nvSpPr>
          <p:cNvPr id="28" name="Shape 26"/>
          <p:cNvSpPr/>
          <p:nvPr/>
        </p:nvSpPr>
        <p:spPr>
          <a:xfrm>
            <a:off x="9027414" y="2418588"/>
            <a:ext cx="2658618" cy="1993392"/>
          </a:xfrm>
          <a:prstGeom prst="roundRect">
            <a:avLst>
              <a:gd name="adj" fmla="val 1835"/>
            </a:avLst>
          </a:prstGeom>
          <a:solidFill>
            <a:srgbClr val="151A24"/>
          </a:solidFill>
          <a:ln w="12700">
            <a:solidFill>
              <a:srgbClr val="252D3D"/>
            </a:solidFill>
            <a:prstDash val="solid"/>
          </a:ln>
        </p:spPr>
      </p:sp>
      <p:sp>
        <p:nvSpPr>
          <p:cNvPr id="29" name="Shape 27"/>
          <p:cNvSpPr/>
          <p:nvPr/>
        </p:nvSpPr>
        <p:spPr>
          <a:xfrm>
            <a:off x="9228582" y="2619756"/>
            <a:ext cx="402336" cy="274320"/>
          </a:xfrm>
          <a:prstGeom prst="roundRect">
            <a:avLst>
              <a:gd name="adj" fmla="val 16667"/>
            </a:avLst>
          </a:prstGeom>
          <a:solidFill>
            <a:srgbClr val="0A0D14"/>
          </a:solidFill>
          <a:ln w="12700">
            <a:solidFill>
              <a:srgbClr val="8A94A6"/>
            </a:solidFill>
            <a:prstDash val="solid"/>
          </a:ln>
        </p:spPr>
      </p:sp>
      <p:sp>
        <p:nvSpPr>
          <p:cNvPr id="30" name="Text 28"/>
          <p:cNvSpPr txBox="1"/>
          <p:nvPr/>
        </p:nvSpPr>
        <p:spPr>
          <a:xfrm>
            <a:off x="9228582" y="2619756"/>
            <a:ext cx="402336" cy="274320"/>
          </a:xfrm>
          <a:prstGeom prst="rect">
            <a:avLst/>
          </a:prstGeom>
          <a:noFill/>
          <a:ln/>
        </p:spPr>
        <p:txBody>
          <a:bodyPr wrap="square" lIns="0" tIns="0" rIns="0" bIns="0" rtlCol="0" anchor="ctr"/>
          <a:lstStyle/>
          <a:p>
            <a:pPr algn="ctr" indent="0" marL="0">
              <a:buNone/>
            </a:pPr>
            <a:r>
              <a:rPr lang="en-US" sz="1150" b="1" dirty="0">
                <a:solidFill>
                  <a:srgbClr val="8A94A6"/>
                </a:solidFill>
                <a:latin typeface="Trenda IG Display" pitchFamily="34" charset="0"/>
                <a:ea typeface="Trenda IG Display" pitchFamily="34" charset="-122"/>
                <a:cs typeface="Trenda IG Display" pitchFamily="34" charset="-120"/>
              </a:rPr>
              <a:t>P4</a:t>
            </a:r>
            <a:endParaRPr lang="en-US" sz="1150" dirty="0"/>
          </a:p>
        </p:txBody>
      </p:sp>
      <p:sp>
        <p:nvSpPr>
          <p:cNvPr id="31" name="Text 29"/>
          <p:cNvSpPr txBox="1"/>
          <p:nvPr/>
        </p:nvSpPr>
        <p:spPr>
          <a:xfrm>
            <a:off x="9704070" y="2619756"/>
            <a:ext cx="1780794" cy="274320"/>
          </a:xfrm>
          <a:prstGeom prst="rect">
            <a:avLst/>
          </a:prstGeom>
          <a:noFill/>
          <a:ln/>
        </p:spPr>
        <p:txBody>
          <a:bodyPr wrap="square" lIns="0" tIns="0" rIns="0" bIns="0" rtlCol="0" anchor="ctr"/>
          <a:lstStyle/>
          <a:p>
            <a:pPr indent="0" marL="0">
              <a:buNone/>
            </a:pPr>
            <a:r>
              <a:rPr lang="en-US" sz="1250" b="1" dirty="0">
                <a:solidFill>
                  <a:srgbClr val="8A94A6"/>
                </a:solidFill>
                <a:latin typeface="Trenda IG Text" pitchFamily="34" charset="0"/>
                <a:ea typeface="Trenda IG Text" pitchFamily="34" charset="-122"/>
                <a:cs typeface="Trenda IG Text" pitchFamily="34" charset="-120"/>
              </a:rPr>
              <a:t>Low</a:t>
            </a:r>
            <a:endParaRPr lang="en-US" sz="1250" dirty="0"/>
          </a:p>
        </p:txBody>
      </p:sp>
      <p:sp>
        <p:nvSpPr>
          <p:cNvPr id="32" name="Text 30"/>
          <p:cNvSpPr txBox="1"/>
          <p:nvPr/>
        </p:nvSpPr>
        <p:spPr>
          <a:xfrm>
            <a:off x="9228582" y="3022092"/>
            <a:ext cx="2256282" cy="585216"/>
          </a:xfrm>
          <a:prstGeom prst="rect">
            <a:avLst/>
          </a:prstGeom>
          <a:noFill/>
          <a:ln/>
        </p:spPr>
        <p:txBody>
          <a:bodyPr wrap="square" lIns="0" tIns="0" rIns="0" bIns="0" rtlCol="0" anchor="t"/>
          <a:lstStyle/>
          <a:p>
            <a:pPr indent="0" marL="0">
              <a:lnSpc>
                <a:spcPts val="1200"/>
              </a:lnSpc>
              <a:buNone/>
            </a:pPr>
            <a:r>
              <a:rPr lang="en-US" sz="900" dirty="0">
                <a:solidFill>
                  <a:srgbClr val="E6EAF2"/>
                </a:solidFill>
                <a:latin typeface="Trenda IG Text" pitchFamily="34" charset="0"/>
                <a:ea typeface="Trenda IG Text" pitchFamily="34" charset="-122"/>
                <a:cs typeface="Trenda IG Text" pitchFamily="34" charset="-120"/>
              </a:rPr>
              <a:t>Low impact administrative or research work.</a:t>
            </a:r>
            <a:endParaRPr lang="en-US" sz="900" dirty="0"/>
          </a:p>
        </p:txBody>
      </p:sp>
      <p:sp>
        <p:nvSpPr>
          <p:cNvPr id="33" name="Text 31"/>
          <p:cNvSpPr txBox="1"/>
          <p:nvPr/>
        </p:nvSpPr>
        <p:spPr>
          <a:xfrm>
            <a:off x="9228582" y="3643884"/>
            <a:ext cx="2256282" cy="164592"/>
          </a:xfrm>
          <a:prstGeom prst="rect">
            <a:avLst/>
          </a:prstGeom>
          <a:noFill/>
          <a:ln/>
        </p:spPr>
        <p:txBody>
          <a:bodyPr wrap="square" lIns="0" tIns="0" rIns="0" bIns="0" rtlCol="0" anchor="ctr"/>
          <a:lstStyle/>
          <a:p>
            <a:pPr indent="0" marL="0">
              <a:buNone/>
            </a:pPr>
            <a:r>
              <a:rPr lang="en-US" sz="750" b="1" spc="140" kern="0" dirty="0">
                <a:solidFill>
                  <a:srgbClr val="8A94A6"/>
                </a:solidFill>
                <a:latin typeface="Trenda IG Display" pitchFamily="34" charset="0"/>
                <a:ea typeface="Trenda IG Display" pitchFamily="34" charset="-122"/>
                <a:cs typeface="Trenda IG Display" pitchFamily="34" charset="-120"/>
              </a:rPr>
              <a:t>TYPICAL CONDITIONS</a:t>
            </a:r>
            <a:endParaRPr lang="en-US" sz="750" dirty="0"/>
          </a:p>
        </p:txBody>
      </p:sp>
      <p:sp>
        <p:nvSpPr>
          <p:cNvPr id="34" name="Text 32"/>
          <p:cNvSpPr txBox="1"/>
          <p:nvPr/>
        </p:nvSpPr>
        <p:spPr>
          <a:xfrm>
            <a:off x="9228582" y="3845052"/>
            <a:ext cx="2256282" cy="493776"/>
          </a:xfrm>
          <a:prstGeom prst="rect">
            <a:avLst/>
          </a:prstGeom>
          <a:noFill/>
          <a:ln/>
        </p:spPr>
        <p:txBody>
          <a:bodyPr wrap="square" lIns="0" tIns="0" rIns="0" bIns="0" rtlCol="0" anchor="t"/>
          <a:lstStyle/>
          <a:p>
            <a:pPr indent="0" marL="0">
              <a:lnSpc>
                <a:spcPts val="1050"/>
              </a:lnSpc>
              <a:buNone/>
            </a:pPr>
            <a:r>
              <a:rPr lang="en-US" sz="800" dirty="0">
                <a:solidFill>
                  <a:srgbClr val="8A94A6"/>
                </a:solidFill>
                <a:latin typeface="Trenda IG Text" pitchFamily="34" charset="0"/>
                <a:ea typeface="Trenda IG Text" pitchFamily="34" charset="-122"/>
                <a:cs typeface="Trenda IG Text" pitchFamily="34" charset="-120"/>
              </a:rPr>
              <a:t>General information, document request, non urgent product research</a:t>
            </a:r>
            <a:endParaRPr lang="en-US" sz="800" dirty="0"/>
          </a:p>
        </p:txBody>
      </p:sp>
      <p:sp>
        <p:nvSpPr>
          <p:cNvPr id="35" name="Shape 33"/>
          <p:cNvSpPr/>
          <p:nvPr/>
        </p:nvSpPr>
        <p:spPr>
          <a:xfrm>
            <a:off x="502920" y="4613148"/>
            <a:ext cx="11183112" cy="987552"/>
          </a:xfrm>
          <a:prstGeom prst="roundRect">
            <a:avLst>
              <a:gd name="adj" fmla="val 3704"/>
            </a:avLst>
          </a:prstGeom>
          <a:solidFill>
            <a:srgbClr val="151A24"/>
          </a:solidFill>
          <a:ln w="12700">
            <a:solidFill>
              <a:srgbClr val="252D3D"/>
            </a:solidFill>
            <a:prstDash val="solid"/>
          </a:ln>
        </p:spPr>
      </p:sp>
      <p:sp>
        <p:nvSpPr>
          <p:cNvPr id="36" name="Text 34"/>
          <p:cNvSpPr txBox="1"/>
          <p:nvPr/>
        </p:nvSpPr>
        <p:spPr>
          <a:xfrm>
            <a:off x="722376" y="4741164"/>
            <a:ext cx="5486400" cy="201168"/>
          </a:xfrm>
          <a:prstGeom prst="rect">
            <a:avLst/>
          </a:prstGeom>
          <a:noFill/>
          <a:ln/>
        </p:spPr>
        <p:txBody>
          <a:bodyPr wrap="square" lIns="0" tIns="0" rIns="0" bIns="0" rtlCol="0" anchor="ctr"/>
          <a:lstStyle/>
          <a:p>
            <a:pPr indent="0" marL="0">
              <a:buNone/>
            </a:pPr>
            <a:r>
              <a:rPr lang="en-US" sz="1000" b="1" spc="140" kern="0" dirty="0">
                <a:solidFill>
                  <a:srgbClr val="FFFFFF"/>
                </a:solidFill>
                <a:latin typeface="Trenda IG Display" pitchFamily="34" charset="0"/>
                <a:ea typeface="Trenda IG Display" pitchFamily="34" charset="-122"/>
                <a:cs typeface="Trenda IG Display" pitchFamily="34" charset="-120"/>
              </a:rPr>
              <a:t>CONTROLS THAT KEEP PRIORITY HONEST</a:t>
            </a:r>
            <a:endParaRPr lang="en-US" sz="1000" dirty="0"/>
          </a:p>
        </p:txBody>
      </p:sp>
      <p:sp>
        <p:nvSpPr>
          <p:cNvPr id="37" name="Text 35"/>
          <p:cNvSpPr txBox="1"/>
          <p:nvPr/>
        </p:nvSpPr>
        <p:spPr>
          <a:xfrm>
            <a:off x="722376" y="5015484"/>
            <a:ext cx="3520440" cy="237744"/>
          </a:xfrm>
          <a:prstGeom prst="rect">
            <a:avLst/>
          </a:prstGeom>
          <a:noFill/>
          <a:ln/>
        </p:spPr>
        <p:txBody>
          <a:bodyPr wrap="square" lIns="0" tIns="0" rIns="0" bIns="0" rtlCol="0" anchor="ctr"/>
          <a:lstStyle/>
          <a:p>
            <a:pPr indent="0" marL="0">
              <a:buNone/>
            </a:pPr>
            <a:r>
              <a:rPr lang="en-US" sz="850" dirty="0">
                <a:solidFill>
                  <a:srgbClr val="8A94A6"/>
                </a:solidFill>
                <a:latin typeface="Trenda IG Text" pitchFamily="34" charset="0"/>
                <a:ea typeface="Trenda IG Text" pitchFamily="34" charset="-122"/>
                <a:cs typeface="Trenda IG Text" pitchFamily="34" charset="-120"/>
              </a:rPr>
              <a:t>Priority is recommended by the template and set by Flow, never left blank.</a:t>
            </a:r>
            <a:endParaRPr lang="en-US" sz="850" dirty="0"/>
          </a:p>
        </p:txBody>
      </p:sp>
      <p:sp>
        <p:nvSpPr>
          <p:cNvPr id="38" name="Text 36"/>
          <p:cNvSpPr txBox="1"/>
          <p:nvPr/>
        </p:nvSpPr>
        <p:spPr>
          <a:xfrm>
            <a:off x="4379976" y="5015484"/>
            <a:ext cx="3520440" cy="237744"/>
          </a:xfrm>
          <a:prstGeom prst="rect">
            <a:avLst/>
          </a:prstGeom>
          <a:noFill/>
          <a:ln/>
        </p:spPr>
        <p:txBody>
          <a:bodyPr wrap="square" lIns="0" tIns="0" rIns="0" bIns="0" rtlCol="0" anchor="ctr"/>
          <a:lstStyle/>
          <a:p>
            <a:pPr indent="0" marL="0">
              <a:buNone/>
            </a:pPr>
            <a:r>
              <a:rPr lang="en-US" sz="850" dirty="0">
                <a:solidFill>
                  <a:srgbClr val="8A94A6"/>
                </a:solidFill>
                <a:latin typeface="Trenda IG Text" pitchFamily="34" charset="0"/>
                <a:ea typeface="Trenda IG Text" pitchFamily="34" charset="-122"/>
                <a:cs typeface="Trenda IG Text" pitchFamily="34" charset="-120"/>
              </a:rPr>
              <a:t>An agent may change priority only with a recorded reason.</a:t>
            </a:r>
            <a:endParaRPr lang="en-US" sz="850" dirty="0"/>
          </a:p>
        </p:txBody>
      </p:sp>
      <p:sp>
        <p:nvSpPr>
          <p:cNvPr id="39" name="Text 37"/>
          <p:cNvSpPr txBox="1"/>
          <p:nvPr/>
        </p:nvSpPr>
        <p:spPr>
          <a:xfrm>
            <a:off x="8037576" y="5015484"/>
            <a:ext cx="3520440" cy="237744"/>
          </a:xfrm>
          <a:prstGeom prst="rect">
            <a:avLst/>
          </a:prstGeom>
          <a:noFill/>
          <a:ln/>
        </p:spPr>
        <p:txBody>
          <a:bodyPr wrap="square" lIns="0" tIns="0" rIns="0" bIns="0" rtlCol="0" anchor="ctr"/>
          <a:lstStyle/>
          <a:p>
            <a:pPr indent="0" marL="0">
              <a:buNone/>
            </a:pPr>
            <a:r>
              <a:rPr lang="en-US" sz="850" dirty="0">
                <a:solidFill>
                  <a:srgbClr val="8A94A6"/>
                </a:solidFill>
                <a:latin typeface="Trenda IG Text" pitchFamily="34" charset="0"/>
                <a:ea typeface="Trenda IG Text" pitchFamily="34" charset="-122"/>
                <a:cs typeface="Trenda IG Text" pitchFamily="34" charset="-120"/>
              </a:rPr>
              <a:t>P1 and P2 downgrades require Shift Lead approval.</a:t>
            </a:r>
            <a:endParaRPr lang="en-US" sz="850" dirty="0"/>
          </a:p>
        </p:txBody>
      </p:sp>
      <p:sp>
        <p:nvSpPr>
          <p:cNvPr id="40" name="Text 38"/>
          <p:cNvSpPr txBox="1"/>
          <p:nvPr/>
        </p:nvSpPr>
        <p:spPr>
          <a:xfrm>
            <a:off x="722376" y="5271516"/>
            <a:ext cx="3520440" cy="237744"/>
          </a:xfrm>
          <a:prstGeom prst="rect">
            <a:avLst/>
          </a:prstGeom>
          <a:noFill/>
          <a:ln/>
        </p:spPr>
        <p:txBody>
          <a:bodyPr wrap="square" lIns="0" tIns="0" rIns="0" bIns="0" rtlCol="0" anchor="ctr"/>
          <a:lstStyle/>
          <a:p>
            <a:pPr indent="0" marL="0">
              <a:buNone/>
            </a:pPr>
            <a:r>
              <a:rPr lang="en-US" sz="850" dirty="0">
                <a:solidFill>
                  <a:srgbClr val="8A94A6"/>
                </a:solidFill>
                <a:latin typeface="Trenda IG Text" pitchFamily="34" charset="0"/>
                <a:ea typeface="Trenda IG Text" pitchFamily="34" charset="-122"/>
                <a:cs typeface="Trenda IG Text" pitchFamily="34" charset="-120"/>
              </a:rPr>
              <a:t>Premium and VIP accounts carry a separately defined uplift rule.</a:t>
            </a:r>
            <a:endParaRPr lang="en-US" sz="850" dirty="0"/>
          </a:p>
        </p:txBody>
      </p:sp>
      <p:sp>
        <p:nvSpPr>
          <p:cNvPr id="41" name="Text 39"/>
          <p:cNvSpPr txBox="1"/>
          <p:nvPr/>
        </p:nvSpPr>
        <p:spPr>
          <a:xfrm>
            <a:off x="4379976" y="5271516"/>
            <a:ext cx="3520440" cy="237744"/>
          </a:xfrm>
          <a:prstGeom prst="rect">
            <a:avLst/>
          </a:prstGeom>
          <a:noFill/>
          <a:ln/>
        </p:spPr>
        <p:txBody>
          <a:bodyPr wrap="square" lIns="0" tIns="0" rIns="0" bIns="0" rtlCol="0" anchor="ctr"/>
          <a:lstStyle/>
          <a:p>
            <a:pPr indent="0" marL="0">
              <a:buNone/>
            </a:pPr>
            <a:r>
              <a:rPr lang="en-US" sz="850" dirty="0">
                <a:solidFill>
                  <a:srgbClr val="8A94A6"/>
                </a:solidFill>
                <a:latin typeface="Trenda IG Text" pitchFamily="34" charset="0"/>
                <a:ea typeface="Trenda IG Text" pitchFamily="34" charset="-122"/>
                <a:cs typeface="Trenda IG Text" pitchFamily="34" charset="-120"/>
              </a:rPr>
              <a:t>Every priority change is written to the case audit history.</a:t>
            </a:r>
            <a:endParaRPr lang="en-US" sz="850" dirty="0"/>
          </a:p>
        </p:txBody>
      </p:sp>
      <p:sp>
        <p:nvSpPr>
          <p:cNvPr id="42" name="Text 40"/>
          <p:cNvSpPr txBox="1"/>
          <p:nvPr/>
        </p:nvSpPr>
        <p:spPr>
          <a:xfrm>
            <a:off x="8037576" y="5271516"/>
            <a:ext cx="3520440" cy="237744"/>
          </a:xfrm>
          <a:prstGeom prst="rect">
            <a:avLst/>
          </a:prstGeom>
          <a:noFill/>
          <a:ln/>
        </p:spPr>
        <p:txBody>
          <a:bodyPr wrap="square" lIns="0" tIns="0" rIns="0" bIns="0" rtlCol="0" anchor="ctr"/>
          <a:lstStyle/>
          <a:p>
            <a:pPr indent="0" marL="0">
              <a:buNone/>
            </a:pPr>
            <a:r>
              <a:rPr lang="en-US" sz="850" dirty="0">
                <a:solidFill>
                  <a:srgbClr val="8A94A6"/>
                </a:solidFill>
                <a:latin typeface="Trenda IG Text" pitchFamily="34" charset="0"/>
                <a:ea typeface="Trenda IG Text" pitchFamily="34" charset="-122"/>
                <a:cs typeface="Trenda IG Text" pitchFamily="34" charset="-120"/>
              </a:rPr>
              <a:t>Ageing alone can raise priority once a case passes an agreed threshold.</a:t>
            </a:r>
            <a:endParaRPr lang="en-US" sz="850" dirty="0"/>
          </a:p>
        </p:txBody>
      </p:sp>
      <p:pic>
        <p:nvPicPr>
          <p:cNvPr id="43" name="Image 0" descr="assets/ig-mark.png">    </p:cNvPr>
          <p:cNvPicPr>
            <a:picLocks noChangeAspect="1"/>
          </p:cNvPicPr>
          <p:nvPr/>
        </p:nvPicPr>
        <p:blipFill>
          <a:blip r:embed="rId1"/>
          <a:stretch>
            <a:fillRect/>
          </a:stretch>
        </p:blipFill>
        <p:spPr>
          <a:xfrm>
            <a:off x="502920" y="6455664"/>
            <a:ext cx="420624" cy="144475"/>
          </a:xfrm>
          <a:prstGeom prst="rect">
            <a:avLst/>
          </a:prstGeom>
        </p:spPr>
      </p:pic>
      <p:sp>
        <p:nvSpPr>
          <p:cNvPr id="44" name="Text 41"/>
          <p:cNvSpPr txBox="1"/>
          <p:nvPr/>
        </p:nvSpPr>
        <p:spPr>
          <a:xfrm>
            <a:off x="11201400" y="6400800"/>
            <a:ext cx="484632" cy="237744"/>
          </a:xfrm>
          <a:prstGeom prst="rect">
            <a:avLst/>
          </a:prstGeom>
          <a:noFill/>
          <a:ln/>
        </p:spPr>
        <p:txBody>
          <a:bodyPr wrap="square" lIns="0" tIns="0" rIns="0" bIns="0" rtlCol="0" anchor="ctr"/>
          <a:lstStyle/>
          <a:p>
            <a:pPr algn="r" indent="0" marL="0">
              <a:buNone/>
            </a:pPr>
            <a:r>
              <a:rPr lang="en-US" sz="850" dirty="0">
                <a:solidFill>
                  <a:srgbClr val="8A94A6"/>
                </a:solidFill>
                <a:latin typeface="Trenda IG Text" pitchFamily="34" charset="0"/>
                <a:ea typeface="Trenda IG Text" pitchFamily="34" charset="-122"/>
                <a:cs typeface="Trenda IG Text" pitchFamily="34" charset="-120"/>
              </a:rPr>
              <a:t>9</a:t>
            </a:r>
            <a:endParaRPr lang="en-US" sz="85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0A0D14"/>
        </a:solidFill>
      </p:bgPr>
    </p:bg>
    <p:spTree>
      <p:nvGrpSpPr>
        <p:cNvPr id="1" name=""/>
        <p:cNvGrpSpPr/>
        <p:nvPr/>
      </p:nvGrpSpPr>
      <p:grpSpPr>
        <a:xfrm>
          <a:off x="0" y="0"/>
          <a:ext cx="0" cy="0"/>
          <a:chOff x="0" y="0"/>
          <a:chExt cx="0" cy="0"/>
        </a:xfrm>
      </p:grpSpPr>
      <p:sp>
        <p:nvSpPr>
          <p:cNvPr id="2" name="Text 0"/>
          <p:cNvSpPr txBox="1"/>
          <p:nvPr/>
        </p:nvSpPr>
        <p:spPr>
          <a:xfrm>
            <a:off x="502920" y="384048"/>
            <a:ext cx="11183112" cy="219456"/>
          </a:xfrm>
          <a:prstGeom prst="rect">
            <a:avLst/>
          </a:prstGeom>
          <a:noFill/>
          <a:ln/>
        </p:spPr>
        <p:txBody>
          <a:bodyPr wrap="square" lIns="0" tIns="0" rIns="0" bIns="0" rtlCol="0" anchor="ctr"/>
          <a:lstStyle/>
          <a:p>
            <a:pPr indent="0" marL="0">
              <a:buNone/>
            </a:pPr>
            <a:r>
              <a:rPr lang="en-US" sz="1000" b="1" spc="220" kern="0" dirty="0">
                <a:solidFill>
                  <a:srgbClr val="22D3EE"/>
                </a:solidFill>
                <a:latin typeface="Trenda IG Display" pitchFamily="34" charset="0"/>
                <a:ea typeface="Trenda IG Display" pitchFamily="34" charset="-122"/>
                <a:cs typeface="Trenda IG Display" pitchFamily="34" charset="-120"/>
              </a:rPr>
              <a:t>STAGE 03</a:t>
            </a:r>
            <a:endParaRPr lang="en-US" sz="1000" dirty="0"/>
          </a:p>
        </p:txBody>
      </p:sp>
      <p:sp>
        <p:nvSpPr>
          <p:cNvPr id="3" name="Text 1"/>
          <p:cNvSpPr txBox="1"/>
          <p:nvPr/>
        </p:nvSpPr>
        <p:spPr>
          <a:xfrm>
            <a:off x="502920" y="658368"/>
            <a:ext cx="11183112" cy="416052"/>
          </a:xfrm>
          <a:prstGeom prst="rect">
            <a:avLst/>
          </a:prstGeom>
          <a:noFill/>
          <a:ln/>
        </p:spPr>
        <p:txBody>
          <a:bodyPr wrap="square" lIns="0" tIns="0" rIns="0" bIns="0" rtlCol="0" anchor="ctr"/>
          <a:lstStyle/>
          <a:p>
            <a:pPr indent="0" marL="0">
              <a:lnSpc>
                <a:spcPts val="3016"/>
              </a:lnSpc>
              <a:buNone/>
            </a:pPr>
            <a:r>
              <a:rPr lang="en-US" sz="2600" b="1" spc="40" kern="0" dirty="0">
                <a:solidFill>
                  <a:srgbClr val="FFFFFF"/>
                </a:solidFill>
                <a:latin typeface="Trenda IG Display" pitchFamily="34" charset="0"/>
                <a:ea typeface="Trenda IG Display" pitchFamily="34" charset="-122"/>
                <a:cs typeface="Trenda IG Display" pitchFamily="34" charset="-120"/>
              </a:rPr>
              <a:t>ROUTED TO THE RIGHT TEAM, NOT THE NEXT FREE AGENT</a:t>
            </a:r>
            <a:endParaRPr lang="en-US" sz="2600" dirty="0"/>
          </a:p>
        </p:txBody>
      </p:sp>
      <p:sp>
        <p:nvSpPr>
          <p:cNvPr id="4" name="Text 2"/>
          <p:cNvSpPr txBox="1"/>
          <p:nvPr/>
        </p:nvSpPr>
        <p:spPr>
          <a:xfrm>
            <a:off x="502920" y="1156716"/>
            <a:ext cx="11183112" cy="384048"/>
          </a:xfrm>
          <a:prstGeom prst="rect">
            <a:avLst/>
          </a:prstGeom>
          <a:noFill/>
          <a:ln/>
        </p:spPr>
        <p:txBody>
          <a:bodyPr wrap="square" lIns="0" tIns="0" rIns="0" bIns="0" rtlCol="0" anchor="t"/>
          <a:lstStyle/>
          <a:p>
            <a:pPr indent="0" marL="0">
              <a:lnSpc>
                <a:spcPts val="1500"/>
              </a:lnSpc>
              <a:buNone/>
            </a:pPr>
            <a:r>
              <a:rPr lang="en-US" sz="1150" dirty="0">
                <a:solidFill>
                  <a:srgbClr val="8A94A6"/>
                </a:solidFill>
                <a:latin typeface="Trenda IG Text" pitchFamily="34" charset="0"/>
                <a:ea typeface="Trenda IG Text" pitchFamily="34" charset="-122"/>
                <a:cs typeface="Trenda IG Text" pitchFamily="34" charset="-120"/>
              </a:rPr>
              <a:t>Omni Channel takes the category, service family and priority set in stage 02 and pushes the case to an agent who holds the skill and has the capacity to work it now.</a:t>
            </a:r>
            <a:endParaRPr lang="en-US" sz="1150" dirty="0"/>
          </a:p>
        </p:txBody>
      </p:sp>
      <p:sp>
        <p:nvSpPr>
          <p:cNvPr id="5" name="Shape 3"/>
          <p:cNvSpPr/>
          <p:nvPr/>
        </p:nvSpPr>
        <p:spPr>
          <a:xfrm>
            <a:off x="502920" y="1796796"/>
            <a:ext cx="5120640" cy="3584448"/>
          </a:xfrm>
          <a:prstGeom prst="roundRect">
            <a:avLst>
              <a:gd name="adj" fmla="val 1020"/>
            </a:avLst>
          </a:prstGeom>
          <a:solidFill>
            <a:srgbClr val="151A24"/>
          </a:solidFill>
          <a:ln w="12700">
            <a:solidFill>
              <a:srgbClr val="252D3D"/>
            </a:solidFill>
            <a:prstDash val="solid"/>
          </a:ln>
        </p:spPr>
      </p:sp>
      <p:sp>
        <p:nvSpPr>
          <p:cNvPr id="6" name="Text 4"/>
          <p:cNvSpPr txBox="1"/>
          <p:nvPr/>
        </p:nvSpPr>
        <p:spPr>
          <a:xfrm>
            <a:off x="740664" y="1997964"/>
            <a:ext cx="4663440" cy="201168"/>
          </a:xfrm>
          <a:prstGeom prst="rect">
            <a:avLst/>
          </a:prstGeom>
          <a:noFill/>
          <a:ln/>
        </p:spPr>
        <p:txBody>
          <a:bodyPr wrap="square" lIns="0" tIns="0" rIns="0" bIns="0" rtlCol="0" anchor="ctr"/>
          <a:lstStyle/>
          <a:p>
            <a:pPr indent="0" marL="0">
              <a:buNone/>
            </a:pPr>
            <a:r>
              <a:rPr lang="en-US" sz="1050" b="1" spc="140" kern="0" dirty="0">
                <a:solidFill>
                  <a:srgbClr val="FFFFFF"/>
                </a:solidFill>
                <a:latin typeface="Trenda IG Display" pitchFamily="34" charset="0"/>
                <a:ea typeface="Trenda IG Display" pitchFamily="34" charset="-122"/>
                <a:cs typeface="Trenda IG Display" pitchFamily="34" charset="-120"/>
              </a:rPr>
              <a:t>HOW ASSIGNMENT IS DECIDED</a:t>
            </a:r>
            <a:endParaRPr lang="en-US" sz="1050" dirty="0"/>
          </a:p>
        </p:txBody>
      </p:sp>
      <p:sp>
        <p:nvSpPr>
          <p:cNvPr id="7" name="Shape 5"/>
          <p:cNvSpPr/>
          <p:nvPr/>
        </p:nvSpPr>
        <p:spPr>
          <a:xfrm>
            <a:off x="740664" y="2482596"/>
            <a:ext cx="237744" cy="237744"/>
          </a:xfrm>
          <a:prstGeom prst="roundRect">
            <a:avLst>
              <a:gd name="adj" fmla="val 19231"/>
            </a:avLst>
          </a:prstGeom>
          <a:solidFill>
            <a:srgbClr val="0A0D14"/>
          </a:solidFill>
          <a:ln w="12700">
            <a:solidFill>
              <a:srgbClr val="22D3EE"/>
            </a:solidFill>
            <a:prstDash val="solid"/>
          </a:ln>
        </p:spPr>
      </p:sp>
      <p:sp>
        <p:nvSpPr>
          <p:cNvPr id="8" name="Text 6"/>
          <p:cNvSpPr txBox="1"/>
          <p:nvPr/>
        </p:nvSpPr>
        <p:spPr>
          <a:xfrm>
            <a:off x="740664" y="2482596"/>
            <a:ext cx="237744" cy="237744"/>
          </a:xfrm>
          <a:prstGeom prst="rect">
            <a:avLst/>
          </a:prstGeom>
          <a:noFill/>
          <a:ln/>
        </p:spPr>
        <p:txBody>
          <a:bodyPr wrap="square" lIns="0" tIns="0" rIns="0" bIns="0" rtlCol="0" anchor="ctr"/>
          <a:lstStyle/>
          <a:p>
            <a:pPr algn="ctr" indent="0" marL="0">
              <a:buNone/>
            </a:pPr>
            <a:r>
              <a:rPr lang="en-US" sz="950" b="1" dirty="0">
                <a:solidFill>
                  <a:srgbClr val="22D3EE"/>
                </a:solidFill>
                <a:latin typeface="Trenda IG Display" pitchFamily="34" charset="0"/>
                <a:ea typeface="Trenda IG Display" pitchFamily="34" charset="-122"/>
                <a:cs typeface="Trenda IG Display" pitchFamily="34" charset="-120"/>
              </a:rPr>
              <a:t>1</a:t>
            </a:r>
            <a:endParaRPr lang="en-US" sz="950" dirty="0"/>
          </a:p>
        </p:txBody>
      </p:sp>
      <p:sp>
        <p:nvSpPr>
          <p:cNvPr id="9" name="Text 7"/>
          <p:cNvSpPr txBox="1"/>
          <p:nvPr/>
        </p:nvSpPr>
        <p:spPr>
          <a:xfrm>
            <a:off x="1069848" y="2418588"/>
            <a:ext cx="1051560" cy="310896"/>
          </a:xfrm>
          <a:prstGeom prst="rect">
            <a:avLst/>
          </a:prstGeom>
          <a:noFill/>
          <a:ln/>
        </p:spPr>
        <p:txBody>
          <a:bodyPr wrap="square" lIns="0" tIns="0" rIns="0" bIns="0" rtlCol="0" anchor="ctr"/>
          <a:lstStyle/>
          <a:p>
            <a:pPr indent="0" marL="0">
              <a:buNone/>
            </a:pPr>
            <a:r>
              <a:rPr lang="en-US" sz="950" b="1" dirty="0">
                <a:solidFill>
                  <a:srgbClr val="22D3EE"/>
                </a:solidFill>
                <a:latin typeface="Trenda IG Text" pitchFamily="34" charset="0"/>
                <a:ea typeface="Trenda IG Text" pitchFamily="34" charset="-122"/>
                <a:cs typeface="Trenda IG Text" pitchFamily="34" charset="-120"/>
              </a:rPr>
              <a:t>Queue</a:t>
            </a:r>
            <a:endParaRPr lang="en-US" sz="950" dirty="0"/>
          </a:p>
        </p:txBody>
      </p:sp>
      <p:sp>
        <p:nvSpPr>
          <p:cNvPr id="10" name="Text 8"/>
          <p:cNvSpPr txBox="1"/>
          <p:nvPr/>
        </p:nvSpPr>
        <p:spPr>
          <a:xfrm>
            <a:off x="2148840" y="2418588"/>
            <a:ext cx="3236976" cy="420624"/>
          </a:xfrm>
          <a:prstGeom prst="rect">
            <a:avLst/>
          </a:prstGeom>
          <a:noFill/>
          <a:ln/>
        </p:spPr>
        <p:txBody>
          <a:bodyPr wrap="square" lIns="0" tIns="0" rIns="0" bIns="0" rtlCol="0" anchor="ctr"/>
          <a:lstStyle/>
          <a:p>
            <a:pPr indent="0" marL="0">
              <a:lnSpc>
                <a:spcPts val="1100"/>
              </a:lnSpc>
              <a:buNone/>
            </a:pPr>
            <a:r>
              <a:rPr lang="en-US" sz="850" dirty="0">
                <a:solidFill>
                  <a:srgbClr val="8A94A6"/>
                </a:solidFill>
                <a:latin typeface="Trenda IG Text" pitchFamily="34" charset="0"/>
                <a:ea typeface="Trenda IG Text" pitchFamily="34" charset="-122"/>
                <a:cs typeface="Trenda IG Text" pitchFamily="34" charset="-120"/>
              </a:rPr>
              <a:t>The service family selects the queue. Credits never lands in the order placement queue by accident.</a:t>
            </a:r>
            <a:endParaRPr lang="en-US" sz="850" dirty="0"/>
          </a:p>
        </p:txBody>
      </p:sp>
      <p:sp>
        <p:nvSpPr>
          <p:cNvPr id="11" name="Shape 9"/>
          <p:cNvSpPr/>
          <p:nvPr/>
        </p:nvSpPr>
        <p:spPr>
          <a:xfrm>
            <a:off x="740664" y="2967228"/>
            <a:ext cx="237744" cy="237744"/>
          </a:xfrm>
          <a:prstGeom prst="roundRect">
            <a:avLst>
              <a:gd name="adj" fmla="val 19231"/>
            </a:avLst>
          </a:prstGeom>
          <a:solidFill>
            <a:srgbClr val="0A0D14"/>
          </a:solidFill>
          <a:ln w="12700">
            <a:solidFill>
              <a:srgbClr val="22D3EE"/>
            </a:solidFill>
            <a:prstDash val="solid"/>
          </a:ln>
        </p:spPr>
      </p:sp>
      <p:sp>
        <p:nvSpPr>
          <p:cNvPr id="12" name="Text 10"/>
          <p:cNvSpPr txBox="1"/>
          <p:nvPr/>
        </p:nvSpPr>
        <p:spPr>
          <a:xfrm>
            <a:off x="740664" y="2967228"/>
            <a:ext cx="237744" cy="237744"/>
          </a:xfrm>
          <a:prstGeom prst="rect">
            <a:avLst/>
          </a:prstGeom>
          <a:noFill/>
          <a:ln/>
        </p:spPr>
        <p:txBody>
          <a:bodyPr wrap="square" lIns="0" tIns="0" rIns="0" bIns="0" rtlCol="0" anchor="ctr"/>
          <a:lstStyle/>
          <a:p>
            <a:pPr algn="ctr" indent="0" marL="0">
              <a:buNone/>
            </a:pPr>
            <a:r>
              <a:rPr lang="en-US" sz="950" b="1" dirty="0">
                <a:solidFill>
                  <a:srgbClr val="22D3EE"/>
                </a:solidFill>
                <a:latin typeface="Trenda IG Display" pitchFamily="34" charset="0"/>
                <a:ea typeface="Trenda IG Display" pitchFamily="34" charset="-122"/>
                <a:cs typeface="Trenda IG Display" pitchFamily="34" charset="-120"/>
              </a:rPr>
              <a:t>2</a:t>
            </a:r>
            <a:endParaRPr lang="en-US" sz="950" dirty="0"/>
          </a:p>
        </p:txBody>
      </p:sp>
      <p:sp>
        <p:nvSpPr>
          <p:cNvPr id="13" name="Text 11"/>
          <p:cNvSpPr txBox="1"/>
          <p:nvPr/>
        </p:nvSpPr>
        <p:spPr>
          <a:xfrm>
            <a:off x="1069848" y="2903220"/>
            <a:ext cx="1051560" cy="310896"/>
          </a:xfrm>
          <a:prstGeom prst="rect">
            <a:avLst/>
          </a:prstGeom>
          <a:noFill/>
          <a:ln/>
        </p:spPr>
        <p:txBody>
          <a:bodyPr wrap="square" lIns="0" tIns="0" rIns="0" bIns="0" rtlCol="0" anchor="ctr"/>
          <a:lstStyle/>
          <a:p>
            <a:pPr indent="0" marL="0">
              <a:buNone/>
            </a:pPr>
            <a:r>
              <a:rPr lang="en-US" sz="950" b="1" dirty="0">
                <a:solidFill>
                  <a:srgbClr val="22D3EE"/>
                </a:solidFill>
                <a:latin typeface="Trenda IG Text" pitchFamily="34" charset="0"/>
                <a:ea typeface="Trenda IG Text" pitchFamily="34" charset="-122"/>
                <a:cs typeface="Trenda IG Text" pitchFamily="34" charset="-120"/>
              </a:rPr>
              <a:t>Skill</a:t>
            </a:r>
            <a:endParaRPr lang="en-US" sz="950" dirty="0"/>
          </a:p>
        </p:txBody>
      </p:sp>
      <p:sp>
        <p:nvSpPr>
          <p:cNvPr id="14" name="Text 12"/>
          <p:cNvSpPr txBox="1"/>
          <p:nvPr/>
        </p:nvSpPr>
        <p:spPr>
          <a:xfrm>
            <a:off x="2148840" y="2903220"/>
            <a:ext cx="3236976" cy="420624"/>
          </a:xfrm>
          <a:prstGeom prst="rect">
            <a:avLst/>
          </a:prstGeom>
          <a:noFill/>
          <a:ln/>
        </p:spPr>
        <p:txBody>
          <a:bodyPr wrap="square" lIns="0" tIns="0" rIns="0" bIns="0" rtlCol="0" anchor="ctr"/>
          <a:lstStyle/>
          <a:p>
            <a:pPr indent="0" marL="0">
              <a:lnSpc>
                <a:spcPts val="1100"/>
              </a:lnSpc>
              <a:buNone/>
            </a:pPr>
            <a:r>
              <a:rPr lang="en-US" sz="850" dirty="0">
                <a:solidFill>
                  <a:srgbClr val="8A94A6"/>
                </a:solidFill>
                <a:latin typeface="Trenda IG Text" pitchFamily="34" charset="0"/>
                <a:ea typeface="Trenda IG Text" pitchFamily="34" charset="-122"/>
                <a:cs typeface="Trenda IG Text" pitchFamily="34" charset="-120"/>
              </a:rPr>
              <a:t>Skills based routing requires the matching competency, so complex credits reach senior agents.</a:t>
            </a:r>
            <a:endParaRPr lang="en-US" sz="850" dirty="0"/>
          </a:p>
        </p:txBody>
      </p:sp>
      <p:sp>
        <p:nvSpPr>
          <p:cNvPr id="15" name="Shape 13"/>
          <p:cNvSpPr/>
          <p:nvPr/>
        </p:nvSpPr>
        <p:spPr>
          <a:xfrm>
            <a:off x="740664" y="3451860"/>
            <a:ext cx="237744" cy="237744"/>
          </a:xfrm>
          <a:prstGeom prst="roundRect">
            <a:avLst>
              <a:gd name="adj" fmla="val 19231"/>
            </a:avLst>
          </a:prstGeom>
          <a:solidFill>
            <a:srgbClr val="0A0D14"/>
          </a:solidFill>
          <a:ln w="12700">
            <a:solidFill>
              <a:srgbClr val="22D3EE"/>
            </a:solidFill>
            <a:prstDash val="solid"/>
          </a:ln>
        </p:spPr>
      </p:sp>
      <p:sp>
        <p:nvSpPr>
          <p:cNvPr id="16" name="Text 14"/>
          <p:cNvSpPr txBox="1"/>
          <p:nvPr/>
        </p:nvSpPr>
        <p:spPr>
          <a:xfrm>
            <a:off x="740664" y="3451860"/>
            <a:ext cx="237744" cy="237744"/>
          </a:xfrm>
          <a:prstGeom prst="rect">
            <a:avLst/>
          </a:prstGeom>
          <a:noFill/>
          <a:ln/>
        </p:spPr>
        <p:txBody>
          <a:bodyPr wrap="square" lIns="0" tIns="0" rIns="0" bIns="0" rtlCol="0" anchor="ctr"/>
          <a:lstStyle/>
          <a:p>
            <a:pPr algn="ctr" indent="0" marL="0">
              <a:buNone/>
            </a:pPr>
            <a:r>
              <a:rPr lang="en-US" sz="950" b="1" dirty="0">
                <a:solidFill>
                  <a:srgbClr val="22D3EE"/>
                </a:solidFill>
                <a:latin typeface="Trenda IG Display" pitchFamily="34" charset="0"/>
                <a:ea typeface="Trenda IG Display" pitchFamily="34" charset="-122"/>
                <a:cs typeface="Trenda IG Display" pitchFamily="34" charset="-120"/>
              </a:rPr>
              <a:t>3</a:t>
            </a:r>
            <a:endParaRPr lang="en-US" sz="950" dirty="0"/>
          </a:p>
        </p:txBody>
      </p:sp>
      <p:sp>
        <p:nvSpPr>
          <p:cNvPr id="17" name="Text 15"/>
          <p:cNvSpPr txBox="1"/>
          <p:nvPr/>
        </p:nvSpPr>
        <p:spPr>
          <a:xfrm>
            <a:off x="1069848" y="3387852"/>
            <a:ext cx="1051560" cy="310896"/>
          </a:xfrm>
          <a:prstGeom prst="rect">
            <a:avLst/>
          </a:prstGeom>
          <a:noFill/>
          <a:ln/>
        </p:spPr>
        <p:txBody>
          <a:bodyPr wrap="square" lIns="0" tIns="0" rIns="0" bIns="0" rtlCol="0" anchor="ctr"/>
          <a:lstStyle/>
          <a:p>
            <a:pPr indent="0" marL="0">
              <a:buNone/>
            </a:pPr>
            <a:r>
              <a:rPr lang="en-US" sz="950" b="1" dirty="0">
                <a:solidFill>
                  <a:srgbClr val="22D3EE"/>
                </a:solidFill>
                <a:latin typeface="Trenda IG Text" pitchFamily="34" charset="0"/>
                <a:ea typeface="Trenda IG Text" pitchFamily="34" charset="-122"/>
                <a:cs typeface="Trenda IG Text" pitchFamily="34" charset="-120"/>
              </a:rPr>
              <a:t>Capacity</a:t>
            </a:r>
            <a:endParaRPr lang="en-US" sz="950" dirty="0"/>
          </a:p>
        </p:txBody>
      </p:sp>
      <p:sp>
        <p:nvSpPr>
          <p:cNvPr id="18" name="Text 16"/>
          <p:cNvSpPr txBox="1"/>
          <p:nvPr/>
        </p:nvSpPr>
        <p:spPr>
          <a:xfrm>
            <a:off x="2148840" y="3387852"/>
            <a:ext cx="3236976" cy="420624"/>
          </a:xfrm>
          <a:prstGeom prst="rect">
            <a:avLst/>
          </a:prstGeom>
          <a:noFill/>
          <a:ln/>
        </p:spPr>
        <p:txBody>
          <a:bodyPr wrap="square" lIns="0" tIns="0" rIns="0" bIns="0" rtlCol="0" anchor="ctr"/>
          <a:lstStyle/>
          <a:p>
            <a:pPr indent="0" marL="0">
              <a:lnSpc>
                <a:spcPts val="1100"/>
              </a:lnSpc>
              <a:buNone/>
            </a:pPr>
            <a:r>
              <a:rPr lang="en-US" sz="850" dirty="0">
                <a:solidFill>
                  <a:srgbClr val="8A94A6"/>
                </a:solidFill>
                <a:latin typeface="Trenda IG Text" pitchFamily="34" charset="0"/>
                <a:ea typeface="Trenda IG Text" pitchFamily="34" charset="-122"/>
                <a:cs typeface="Trenda IG Text" pitchFamily="34" charset="-120"/>
              </a:rPr>
              <a:t>Each agent carries a work item capacity, so a case is only pushed to someone able to start it.</a:t>
            </a:r>
            <a:endParaRPr lang="en-US" sz="850" dirty="0"/>
          </a:p>
        </p:txBody>
      </p:sp>
      <p:sp>
        <p:nvSpPr>
          <p:cNvPr id="19" name="Shape 17"/>
          <p:cNvSpPr/>
          <p:nvPr/>
        </p:nvSpPr>
        <p:spPr>
          <a:xfrm>
            <a:off x="740664" y="3936492"/>
            <a:ext cx="237744" cy="237744"/>
          </a:xfrm>
          <a:prstGeom prst="roundRect">
            <a:avLst>
              <a:gd name="adj" fmla="val 19231"/>
            </a:avLst>
          </a:prstGeom>
          <a:solidFill>
            <a:srgbClr val="0A0D14"/>
          </a:solidFill>
          <a:ln w="12700">
            <a:solidFill>
              <a:srgbClr val="22D3EE"/>
            </a:solidFill>
            <a:prstDash val="solid"/>
          </a:ln>
        </p:spPr>
      </p:sp>
      <p:sp>
        <p:nvSpPr>
          <p:cNvPr id="20" name="Text 18"/>
          <p:cNvSpPr txBox="1"/>
          <p:nvPr/>
        </p:nvSpPr>
        <p:spPr>
          <a:xfrm>
            <a:off x="740664" y="3936492"/>
            <a:ext cx="237744" cy="237744"/>
          </a:xfrm>
          <a:prstGeom prst="rect">
            <a:avLst/>
          </a:prstGeom>
          <a:noFill/>
          <a:ln/>
        </p:spPr>
        <p:txBody>
          <a:bodyPr wrap="square" lIns="0" tIns="0" rIns="0" bIns="0" rtlCol="0" anchor="ctr"/>
          <a:lstStyle/>
          <a:p>
            <a:pPr algn="ctr" indent="0" marL="0">
              <a:buNone/>
            </a:pPr>
            <a:r>
              <a:rPr lang="en-US" sz="950" b="1" dirty="0">
                <a:solidFill>
                  <a:srgbClr val="22D3EE"/>
                </a:solidFill>
                <a:latin typeface="Trenda IG Display" pitchFamily="34" charset="0"/>
                <a:ea typeface="Trenda IG Display" pitchFamily="34" charset="-122"/>
                <a:cs typeface="Trenda IG Display" pitchFamily="34" charset="-120"/>
              </a:rPr>
              <a:t>4</a:t>
            </a:r>
            <a:endParaRPr lang="en-US" sz="950" dirty="0"/>
          </a:p>
        </p:txBody>
      </p:sp>
      <p:sp>
        <p:nvSpPr>
          <p:cNvPr id="21" name="Text 19"/>
          <p:cNvSpPr txBox="1"/>
          <p:nvPr/>
        </p:nvSpPr>
        <p:spPr>
          <a:xfrm>
            <a:off x="1069848" y="3872484"/>
            <a:ext cx="1051560" cy="310896"/>
          </a:xfrm>
          <a:prstGeom prst="rect">
            <a:avLst/>
          </a:prstGeom>
          <a:noFill/>
          <a:ln/>
        </p:spPr>
        <p:txBody>
          <a:bodyPr wrap="square" lIns="0" tIns="0" rIns="0" bIns="0" rtlCol="0" anchor="ctr"/>
          <a:lstStyle/>
          <a:p>
            <a:pPr indent="0" marL="0">
              <a:buNone/>
            </a:pPr>
            <a:r>
              <a:rPr lang="en-US" sz="950" b="1" dirty="0">
                <a:solidFill>
                  <a:srgbClr val="22D3EE"/>
                </a:solidFill>
                <a:latin typeface="Trenda IG Text" pitchFamily="34" charset="0"/>
                <a:ea typeface="Trenda IG Text" pitchFamily="34" charset="-122"/>
                <a:cs typeface="Trenda IG Text" pitchFamily="34" charset="-120"/>
              </a:rPr>
              <a:t>Priority</a:t>
            </a:r>
            <a:endParaRPr lang="en-US" sz="950" dirty="0"/>
          </a:p>
        </p:txBody>
      </p:sp>
      <p:sp>
        <p:nvSpPr>
          <p:cNvPr id="22" name="Text 20"/>
          <p:cNvSpPr txBox="1"/>
          <p:nvPr/>
        </p:nvSpPr>
        <p:spPr>
          <a:xfrm>
            <a:off x="2148840" y="3872484"/>
            <a:ext cx="3236976" cy="420624"/>
          </a:xfrm>
          <a:prstGeom prst="rect">
            <a:avLst/>
          </a:prstGeom>
          <a:noFill/>
          <a:ln/>
        </p:spPr>
        <p:txBody>
          <a:bodyPr wrap="square" lIns="0" tIns="0" rIns="0" bIns="0" rtlCol="0" anchor="ctr"/>
          <a:lstStyle/>
          <a:p>
            <a:pPr indent="0" marL="0">
              <a:lnSpc>
                <a:spcPts val="1100"/>
              </a:lnSpc>
              <a:buNone/>
            </a:pPr>
            <a:r>
              <a:rPr lang="en-US" sz="850" dirty="0">
                <a:solidFill>
                  <a:srgbClr val="8A94A6"/>
                </a:solidFill>
                <a:latin typeface="Trenda IG Text" pitchFamily="34" charset="0"/>
                <a:ea typeface="Trenda IG Text" pitchFamily="34" charset="-122"/>
                <a:cs typeface="Trenda IG Text" pitchFamily="34" charset="-120"/>
              </a:rPr>
              <a:t>Higher priority work is presented first, so a P1 does not sit behind routine status requests.</a:t>
            </a:r>
            <a:endParaRPr lang="en-US" sz="850" dirty="0"/>
          </a:p>
        </p:txBody>
      </p:sp>
      <p:sp>
        <p:nvSpPr>
          <p:cNvPr id="23" name="Shape 21"/>
          <p:cNvSpPr/>
          <p:nvPr/>
        </p:nvSpPr>
        <p:spPr>
          <a:xfrm>
            <a:off x="740664" y="4421124"/>
            <a:ext cx="237744" cy="237744"/>
          </a:xfrm>
          <a:prstGeom prst="roundRect">
            <a:avLst>
              <a:gd name="adj" fmla="val 19231"/>
            </a:avLst>
          </a:prstGeom>
          <a:solidFill>
            <a:srgbClr val="0A0D14"/>
          </a:solidFill>
          <a:ln w="12700">
            <a:solidFill>
              <a:srgbClr val="22D3EE"/>
            </a:solidFill>
            <a:prstDash val="solid"/>
          </a:ln>
        </p:spPr>
      </p:sp>
      <p:sp>
        <p:nvSpPr>
          <p:cNvPr id="24" name="Text 22"/>
          <p:cNvSpPr txBox="1"/>
          <p:nvPr/>
        </p:nvSpPr>
        <p:spPr>
          <a:xfrm>
            <a:off x="740664" y="4421124"/>
            <a:ext cx="237744" cy="237744"/>
          </a:xfrm>
          <a:prstGeom prst="rect">
            <a:avLst/>
          </a:prstGeom>
          <a:noFill/>
          <a:ln/>
        </p:spPr>
        <p:txBody>
          <a:bodyPr wrap="square" lIns="0" tIns="0" rIns="0" bIns="0" rtlCol="0" anchor="ctr"/>
          <a:lstStyle/>
          <a:p>
            <a:pPr algn="ctr" indent="0" marL="0">
              <a:buNone/>
            </a:pPr>
            <a:r>
              <a:rPr lang="en-US" sz="950" b="1" dirty="0">
                <a:solidFill>
                  <a:srgbClr val="22D3EE"/>
                </a:solidFill>
                <a:latin typeface="Trenda IG Display" pitchFamily="34" charset="0"/>
                <a:ea typeface="Trenda IG Display" pitchFamily="34" charset="-122"/>
                <a:cs typeface="Trenda IG Display" pitchFamily="34" charset="-120"/>
              </a:rPr>
              <a:t>5</a:t>
            </a:r>
            <a:endParaRPr lang="en-US" sz="950" dirty="0"/>
          </a:p>
        </p:txBody>
      </p:sp>
      <p:sp>
        <p:nvSpPr>
          <p:cNvPr id="25" name="Text 23"/>
          <p:cNvSpPr txBox="1"/>
          <p:nvPr/>
        </p:nvSpPr>
        <p:spPr>
          <a:xfrm>
            <a:off x="1069848" y="4357116"/>
            <a:ext cx="1051560" cy="310896"/>
          </a:xfrm>
          <a:prstGeom prst="rect">
            <a:avLst/>
          </a:prstGeom>
          <a:noFill/>
          <a:ln/>
        </p:spPr>
        <p:txBody>
          <a:bodyPr wrap="square" lIns="0" tIns="0" rIns="0" bIns="0" rtlCol="0" anchor="ctr"/>
          <a:lstStyle/>
          <a:p>
            <a:pPr indent="0" marL="0">
              <a:buNone/>
            </a:pPr>
            <a:r>
              <a:rPr lang="en-US" sz="950" b="1" dirty="0">
                <a:solidFill>
                  <a:srgbClr val="22D3EE"/>
                </a:solidFill>
                <a:latin typeface="Trenda IG Text" pitchFamily="34" charset="0"/>
                <a:ea typeface="Trenda IG Text" pitchFamily="34" charset="-122"/>
                <a:cs typeface="Trenda IG Text" pitchFamily="34" charset="-120"/>
              </a:rPr>
              <a:t>Coverage</a:t>
            </a:r>
            <a:endParaRPr lang="en-US" sz="950" dirty="0"/>
          </a:p>
        </p:txBody>
      </p:sp>
      <p:sp>
        <p:nvSpPr>
          <p:cNvPr id="26" name="Text 24"/>
          <p:cNvSpPr txBox="1"/>
          <p:nvPr/>
        </p:nvSpPr>
        <p:spPr>
          <a:xfrm>
            <a:off x="2148840" y="4357116"/>
            <a:ext cx="3236976" cy="420624"/>
          </a:xfrm>
          <a:prstGeom prst="rect">
            <a:avLst/>
          </a:prstGeom>
          <a:noFill/>
          <a:ln/>
        </p:spPr>
        <p:txBody>
          <a:bodyPr wrap="square" lIns="0" tIns="0" rIns="0" bIns="0" rtlCol="0" anchor="ctr"/>
          <a:lstStyle/>
          <a:p>
            <a:pPr indent="0" marL="0">
              <a:lnSpc>
                <a:spcPts val="1100"/>
              </a:lnSpc>
              <a:buNone/>
            </a:pPr>
            <a:r>
              <a:rPr lang="en-US" sz="850" dirty="0">
                <a:solidFill>
                  <a:srgbClr val="8A94A6"/>
                </a:solidFill>
                <a:latin typeface="Trenda IG Text" pitchFamily="34" charset="0"/>
                <a:ea typeface="Trenda IG Text" pitchFamily="34" charset="-122"/>
                <a:cs typeface="Trenda IG Text" pitchFamily="34" charset="-120"/>
              </a:rPr>
              <a:t>Routing is business hours aware, so late arrivals go to agents who are actually on shift.</a:t>
            </a:r>
            <a:endParaRPr lang="en-US" sz="850" dirty="0"/>
          </a:p>
        </p:txBody>
      </p:sp>
      <p:sp>
        <p:nvSpPr>
          <p:cNvPr id="27" name="Shape 25"/>
          <p:cNvSpPr/>
          <p:nvPr/>
        </p:nvSpPr>
        <p:spPr>
          <a:xfrm>
            <a:off x="740664" y="4905756"/>
            <a:ext cx="237744" cy="237744"/>
          </a:xfrm>
          <a:prstGeom prst="roundRect">
            <a:avLst>
              <a:gd name="adj" fmla="val 19231"/>
            </a:avLst>
          </a:prstGeom>
          <a:solidFill>
            <a:srgbClr val="0A0D14"/>
          </a:solidFill>
          <a:ln w="12700">
            <a:solidFill>
              <a:srgbClr val="22D3EE"/>
            </a:solidFill>
            <a:prstDash val="solid"/>
          </a:ln>
        </p:spPr>
      </p:sp>
      <p:sp>
        <p:nvSpPr>
          <p:cNvPr id="28" name="Text 26"/>
          <p:cNvSpPr txBox="1"/>
          <p:nvPr/>
        </p:nvSpPr>
        <p:spPr>
          <a:xfrm>
            <a:off x="740664" y="4905756"/>
            <a:ext cx="237744" cy="237744"/>
          </a:xfrm>
          <a:prstGeom prst="rect">
            <a:avLst/>
          </a:prstGeom>
          <a:noFill/>
          <a:ln/>
        </p:spPr>
        <p:txBody>
          <a:bodyPr wrap="square" lIns="0" tIns="0" rIns="0" bIns="0" rtlCol="0" anchor="ctr"/>
          <a:lstStyle/>
          <a:p>
            <a:pPr algn="ctr" indent="0" marL="0">
              <a:buNone/>
            </a:pPr>
            <a:r>
              <a:rPr lang="en-US" sz="950" b="1" dirty="0">
                <a:solidFill>
                  <a:srgbClr val="22D3EE"/>
                </a:solidFill>
                <a:latin typeface="Trenda IG Display" pitchFamily="34" charset="0"/>
                <a:ea typeface="Trenda IG Display" pitchFamily="34" charset="-122"/>
                <a:cs typeface="Trenda IG Display" pitchFamily="34" charset="-120"/>
              </a:rPr>
              <a:t>6</a:t>
            </a:r>
            <a:endParaRPr lang="en-US" sz="950" dirty="0"/>
          </a:p>
        </p:txBody>
      </p:sp>
      <p:sp>
        <p:nvSpPr>
          <p:cNvPr id="29" name="Text 27"/>
          <p:cNvSpPr txBox="1"/>
          <p:nvPr/>
        </p:nvSpPr>
        <p:spPr>
          <a:xfrm>
            <a:off x="1069848" y="4841748"/>
            <a:ext cx="1051560" cy="310896"/>
          </a:xfrm>
          <a:prstGeom prst="rect">
            <a:avLst/>
          </a:prstGeom>
          <a:noFill/>
          <a:ln/>
        </p:spPr>
        <p:txBody>
          <a:bodyPr wrap="square" lIns="0" tIns="0" rIns="0" bIns="0" rtlCol="0" anchor="ctr"/>
          <a:lstStyle/>
          <a:p>
            <a:pPr indent="0" marL="0">
              <a:buNone/>
            </a:pPr>
            <a:r>
              <a:rPr lang="en-US" sz="950" b="1" dirty="0">
                <a:solidFill>
                  <a:srgbClr val="22D3EE"/>
                </a:solidFill>
                <a:latin typeface="Trenda IG Text" pitchFamily="34" charset="0"/>
                <a:ea typeface="Trenda IG Text" pitchFamily="34" charset="-122"/>
                <a:cs typeface="Trenda IG Text" pitchFamily="34" charset="-120"/>
              </a:rPr>
              <a:t>Fallback</a:t>
            </a:r>
            <a:endParaRPr lang="en-US" sz="950" dirty="0"/>
          </a:p>
        </p:txBody>
      </p:sp>
      <p:sp>
        <p:nvSpPr>
          <p:cNvPr id="30" name="Text 28"/>
          <p:cNvSpPr txBox="1"/>
          <p:nvPr/>
        </p:nvSpPr>
        <p:spPr>
          <a:xfrm>
            <a:off x="2148840" y="4841748"/>
            <a:ext cx="3236976" cy="420624"/>
          </a:xfrm>
          <a:prstGeom prst="rect">
            <a:avLst/>
          </a:prstGeom>
          <a:noFill/>
          <a:ln/>
        </p:spPr>
        <p:txBody>
          <a:bodyPr wrap="square" lIns="0" tIns="0" rIns="0" bIns="0" rtlCol="0" anchor="ctr"/>
          <a:lstStyle/>
          <a:p>
            <a:pPr indent="0" marL="0">
              <a:lnSpc>
                <a:spcPts val="1100"/>
              </a:lnSpc>
              <a:buNone/>
            </a:pPr>
            <a:r>
              <a:rPr lang="en-US" sz="850" dirty="0">
                <a:solidFill>
                  <a:srgbClr val="8A94A6"/>
                </a:solidFill>
                <a:latin typeface="Trenda IG Text" pitchFamily="34" charset="0"/>
                <a:ea typeface="Trenda IG Text" pitchFamily="34" charset="-122"/>
                <a:cs typeface="Trenda IG Text" pitchFamily="34" charset="-120"/>
              </a:rPr>
              <a:t>Anything unrouted past a defined threshold alerts the Shift Lead rather than sitting unowned.</a:t>
            </a:r>
            <a:endParaRPr lang="en-US" sz="850" dirty="0"/>
          </a:p>
        </p:txBody>
      </p:sp>
      <p:sp>
        <p:nvSpPr>
          <p:cNvPr id="31" name="Text 29"/>
          <p:cNvSpPr txBox="1"/>
          <p:nvPr/>
        </p:nvSpPr>
        <p:spPr>
          <a:xfrm>
            <a:off x="5843016" y="1796796"/>
            <a:ext cx="5843016" cy="201168"/>
          </a:xfrm>
          <a:prstGeom prst="rect">
            <a:avLst/>
          </a:prstGeom>
          <a:noFill/>
          <a:ln/>
        </p:spPr>
        <p:txBody>
          <a:bodyPr wrap="square" lIns="0" tIns="0" rIns="0" bIns="0" rtlCol="0" anchor="ctr"/>
          <a:lstStyle/>
          <a:p>
            <a:pPr indent="0" marL="0">
              <a:buNone/>
            </a:pPr>
            <a:r>
              <a:rPr lang="en-US" sz="1050" b="1" spc="140" kern="0" dirty="0">
                <a:solidFill>
                  <a:srgbClr val="FFFFFF"/>
                </a:solidFill>
                <a:latin typeface="Trenda IG Display" pitchFamily="34" charset="0"/>
                <a:ea typeface="Trenda IG Display" pitchFamily="34" charset="-122"/>
                <a:cs typeface="Trenda IG Display" pitchFamily="34" charset="-120"/>
              </a:rPr>
              <a:t>THE EXTENDED CARE QUEUE MAP</a:t>
            </a:r>
            <a:endParaRPr lang="en-US" sz="1050" dirty="0"/>
          </a:p>
        </p:txBody>
      </p:sp>
      <p:sp>
        <p:nvSpPr>
          <p:cNvPr id="32" name="Shape 30"/>
          <p:cNvSpPr/>
          <p:nvPr/>
        </p:nvSpPr>
        <p:spPr>
          <a:xfrm>
            <a:off x="5843016" y="2125980"/>
            <a:ext cx="5843016" cy="475488"/>
          </a:xfrm>
          <a:prstGeom prst="roundRect">
            <a:avLst>
              <a:gd name="adj" fmla="val 7692"/>
            </a:avLst>
          </a:prstGeom>
          <a:solidFill>
            <a:srgbClr val="1A2130"/>
          </a:solidFill>
          <a:ln w="12700">
            <a:solidFill>
              <a:srgbClr val="252D3D"/>
            </a:solidFill>
            <a:prstDash val="solid"/>
          </a:ln>
        </p:spPr>
      </p:sp>
      <p:sp>
        <p:nvSpPr>
          <p:cNvPr id="33" name="Text 31"/>
          <p:cNvSpPr txBox="1"/>
          <p:nvPr/>
        </p:nvSpPr>
        <p:spPr>
          <a:xfrm>
            <a:off x="6007608" y="2125980"/>
            <a:ext cx="1965960" cy="475488"/>
          </a:xfrm>
          <a:prstGeom prst="rect">
            <a:avLst/>
          </a:prstGeom>
          <a:noFill/>
          <a:ln/>
        </p:spPr>
        <p:txBody>
          <a:bodyPr wrap="square" lIns="0" tIns="0" rIns="0" bIns="0" rtlCol="0" anchor="ctr"/>
          <a:lstStyle/>
          <a:p>
            <a:pPr indent="0" marL="0">
              <a:buNone/>
            </a:pPr>
            <a:r>
              <a:rPr lang="en-US" sz="900" b="1" dirty="0">
                <a:solidFill>
                  <a:srgbClr val="22D3EE"/>
                </a:solidFill>
                <a:latin typeface="Trenda IG Text" pitchFamily="34" charset="0"/>
                <a:ea typeface="Trenda IG Text" pitchFamily="34" charset="-122"/>
                <a:cs typeface="Trenda IG Text" pitchFamily="34" charset="-120"/>
              </a:rPr>
              <a:t>Order management</a:t>
            </a:r>
            <a:endParaRPr lang="en-US" sz="900" dirty="0"/>
          </a:p>
        </p:txBody>
      </p:sp>
      <p:sp>
        <p:nvSpPr>
          <p:cNvPr id="34" name="Text 32"/>
          <p:cNvSpPr txBox="1"/>
          <p:nvPr/>
        </p:nvSpPr>
        <p:spPr>
          <a:xfrm>
            <a:off x="8019288" y="2125980"/>
            <a:ext cx="1965960" cy="475488"/>
          </a:xfrm>
          <a:prstGeom prst="rect">
            <a:avLst/>
          </a:prstGeom>
          <a:noFill/>
          <a:ln/>
        </p:spPr>
        <p:txBody>
          <a:bodyPr wrap="square" lIns="0" tIns="0" rIns="0" bIns="0" rtlCol="0" anchor="ctr"/>
          <a:lstStyle/>
          <a:p>
            <a:pPr indent="0" marL="0">
              <a:lnSpc>
                <a:spcPts val="1050"/>
              </a:lnSpc>
              <a:buNone/>
            </a:pPr>
            <a:r>
              <a:rPr lang="en-US" sz="800" dirty="0">
                <a:solidFill>
                  <a:srgbClr val="E6EAF2"/>
                </a:solidFill>
                <a:latin typeface="Trenda IG Text" pitchFamily="34" charset="0"/>
                <a:ea typeface="Trenda IG Text" pitchFamily="34" charset="-122"/>
                <a:cs typeface="Trenda IG Text" pitchFamily="34" charset="-120"/>
              </a:rPr>
              <a:t>Place and modify order, returns initiation</a:t>
            </a:r>
            <a:endParaRPr lang="en-US" sz="800" dirty="0"/>
          </a:p>
        </p:txBody>
      </p:sp>
      <p:sp>
        <p:nvSpPr>
          <p:cNvPr id="35" name="Text 33"/>
          <p:cNvSpPr txBox="1"/>
          <p:nvPr/>
        </p:nvSpPr>
        <p:spPr>
          <a:xfrm>
            <a:off x="10049256" y="2125980"/>
            <a:ext cx="1472184" cy="475488"/>
          </a:xfrm>
          <a:prstGeom prst="rect">
            <a:avLst/>
          </a:prstGeom>
          <a:noFill/>
          <a:ln/>
        </p:spPr>
        <p:txBody>
          <a:bodyPr wrap="square" lIns="0" tIns="0" rIns="0" bIns="0" rtlCol="0" anchor="ctr"/>
          <a:lstStyle/>
          <a:p>
            <a:pPr indent="0" marL="0">
              <a:lnSpc>
                <a:spcPts val="1050"/>
              </a:lnSpc>
              <a:buNone/>
            </a:pPr>
            <a:r>
              <a:rPr lang="en-US" sz="800" dirty="0">
                <a:solidFill>
                  <a:srgbClr val="8A94A6"/>
                </a:solidFill>
                <a:latin typeface="Trenda IG Text" pitchFamily="34" charset="0"/>
                <a:ea typeface="Trenda IG Text" pitchFamily="34" charset="-122"/>
                <a:cs typeface="Trenda IG Text" pitchFamily="34" charset="-120"/>
              </a:rPr>
              <a:t>Order entry, SupplyManager, JD Edwards</a:t>
            </a:r>
            <a:endParaRPr lang="en-US" sz="800" dirty="0"/>
          </a:p>
        </p:txBody>
      </p:sp>
      <p:sp>
        <p:nvSpPr>
          <p:cNvPr id="36" name="Shape 34"/>
          <p:cNvSpPr/>
          <p:nvPr/>
        </p:nvSpPr>
        <p:spPr>
          <a:xfrm>
            <a:off x="5843016" y="2674620"/>
            <a:ext cx="5843016" cy="475488"/>
          </a:xfrm>
          <a:prstGeom prst="roundRect">
            <a:avLst>
              <a:gd name="adj" fmla="val 7692"/>
            </a:avLst>
          </a:prstGeom>
          <a:solidFill>
            <a:srgbClr val="1A2130"/>
          </a:solidFill>
          <a:ln w="12700">
            <a:solidFill>
              <a:srgbClr val="252D3D"/>
            </a:solidFill>
            <a:prstDash val="solid"/>
          </a:ln>
        </p:spPr>
      </p:sp>
      <p:sp>
        <p:nvSpPr>
          <p:cNvPr id="37" name="Text 35"/>
          <p:cNvSpPr txBox="1"/>
          <p:nvPr/>
        </p:nvSpPr>
        <p:spPr>
          <a:xfrm>
            <a:off x="6007608" y="2674620"/>
            <a:ext cx="1965960" cy="475488"/>
          </a:xfrm>
          <a:prstGeom prst="rect">
            <a:avLst/>
          </a:prstGeom>
          <a:noFill/>
          <a:ln/>
        </p:spPr>
        <p:txBody>
          <a:bodyPr wrap="square" lIns="0" tIns="0" rIns="0" bIns="0" rtlCol="0" anchor="ctr"/>
          <a:lstStyle/>
          <a:p>
            <a:pPr indent="0" marL="0">
              <a:buNone/>
            </a:pPr>
            <a:r>
              <a:rPr lang="en-US" sz="900" b="1" dirty="0">
                <a:solidFill>
                  <a:srgbClr val="22D3EE"/>
                </a:solidFill>
                <a:latin typeface="Trenda IG Text" pitchFamily="34" charset="0"/>
                <a:ea typeface="Trenda IG Text" pitchFamily="34" charset="-122"/>
                <a:cs typeface="Trenda IG Text" pitchFamily="34" charset="-120"/>
              </a:rPr>
              <a:t>Order status and shipment</a:t>
            </a:r>
            <a:endParaRPr lang="en-US" sz="900" dirty="0"/>
          </a:p>
        </p:txBody>
      </p:sp>
      <p:sp>
        <p:nvSpPr>
          <p:cNvPr id="38" name="Text 36"/>
          <p:cNvSpPr txBox="1"/>
          <p:nvPr/>
        </p:nvSpPr>
        <p:spPr>
          <a:xfrm>
            <a:off x="8019288" y="2674620"/>
            <a:ext cx="1965960" cy="475488"/>
          </a:xfrm>
          <a:prstGeom prst="rect">
            <a:avLst/>
          </a:prstGeom>
          <a:noFill/>
          <a:ln/>
        </p:spPr>
        <p:txBody>
          <a:bodyPr wrap="square" lIns="0" tIns="0" rIns="0" bIns="0" rtlCol="0" anchor="ctr"/>
          <a:lstStyle/>
          <a:p>
            <a:pPr indent="0" marL="0">
              <a:lnSpc>
                <a:spcPts val="1050"/>
              </a:lnSpc>
              <a:buNone/>
            </a:pPr>
            <a:r>
              <a:rPr lang="en-US" sz="800" dirty="0">
                <a:solidFill>
                  <a:srgbClr val="E6EAF2"/>
                </a:solidFill>
                <a:latin typeface="Trenda IG Text" pitchFamily="34" charset="0"/>
                <a:ea typeface="Trenda IG Text" pitchFamily="34" charset="-122"/>
                <a:cs typeface="Trenda IG Text" pitchFamily="34" charset="-120"/>
              </a:rPr>
              <a:t>Status, tracking, proof of delivery</a:t>
            </a:r>
            <a:endParaRPr lang="en-US" sz="800" dirty="0"/>
          </a:p>
        </p:txBody>
      </p:sp>
      <p:sp>
        <p:nvSpPr>
          <p:cNvPr id="39" name="Text 37"/>
          <p:cNvSpPr txBox="1"/>
          <p:nvPr/>
        </p:nvSpPr>
        <p:spPr>
          <a:xfrm>
            <a:off x="10049256" y="2674620"/>
            <a:ext cx="1472184" cy="475488"/>
          </a:xfrm>
          <a:prstGeom prst="rect">
            <a:avLst/>
          </a:prstGeom>
          <a:noFill/>
          <a:ln/>
        </p:spPr>
        <p:txBody>
          <a:bodyPr wrap="square" lIns="0" tIns="0" rIns="0" bIns="0" rtlCol="0" anchor="ctr"/>
          <a:lstStyle/>
          <a:p>
            <a:pPr indent="0" marL="0">
              <a:lnSpc>
                <a:spcPts val="1050"/>
              </a:lnSpc>
              <a:buNone/>
            </a:pPr>
            <a:r>
              <a:rPr lang="en-US" sz="800" dirty="0">
                <a:solidFill>
                  <a:srgbClr val="8A94A6"/>
                </a:solidFill>
                <a:latin typeface="Trenda IG Text" pitchFamily="34" charset="0"/>
                <a:ea typeface="Trenda IG Text" pitchFamily="34" charset="-122"/>
                <a:cs typeface="Trenda IG Text" pitchFamily="34" charset="-120"/>
              </a:rPr>
              <a:t>Order lookup, carrier tracking</a:t>
            </a:r>
            <a:endParaRPr lang="en-US" sz="800" dirty="0"/>
          </a:p>
        </p:txBody>
      </p:sp>
      <p:sp>
        <p:nvSpPr>
          <p:cNvPr id="40" name="Shape 38"/>
          <p:cNvSpPr/>
          <p:nvPr/>
        </p:nvSpPr>
        <p:spPr>
          <a:xfrm>
            <a:off x="5843016" y="3223260"/>
            <a:ext cx="5843016" cy="475488"/>
          </a:xfrm>
          <a:prstGeom prst="roundRect">
            <a:avLst>
              <a:gd name="adj" fmla="val 7692"/>
            </a:avLst>
          </a:prstGeom>
          <a:solidFill>
            <a:srgbClr val="1A2130"/>
          </a:solidFill>
          <a:ln w="12700">
            <a:solidFill>
              <a:srgbClr val="252D3D"/>
            </a:solidFill>
            <a:prstDash val="solid"/>
          </a:ln>
        </p:spPr>
      </p:sp>
      <p:sp>
        <p:nvSpPr>
          <p:cNvPr id="41" name="Text 39"/>
          <p:cNvSpPr txBox="1"/>
          <p:nvPr/>
        </p:nvSpPr>
        <p:spPr>
          <a:xfrm>
            <a:off x="6007608" y="3223260"/>
            <a:ext cx="1965960" cy="475488"/>
          </a:xfrm>
          <a:prstGeom prst="rect">
            <a:avLst/>
          </a:prstGeom>
          <a:noFill/>
          <a:ln/>
        </p:spPr>
        <p:txBody>
          <a:bodyPr wrap="square" lIns="0" tIns="0" rIns="0" bIns="0" rtlCol="0" anchor="ctr"/>
          <a:lstStyle/>
          <a:p>
            <a:pPr indent="0" marL="0">
              <a:buNone/>
            </a:pPr>
            <a:r>
              <a:rPr lang="en-US" sz="900" b="1" dirty="0">
                <a:solidFill>
                  <a:srgbClr val="22D3EE"/>
                </a:solidFill>
                <a:latin typeface="Trenda IG Text" pitchFamily="34" charset="0"/>
                <a:ea typeface="Trenda IG Text" pitchFamily="34" charset="-122"/>
                <a:cs typeface="Trenda IG Text" pitchFamily="34" charset="-120"/>
              </a:rPr>
              <a:t>Backorders and availability</a:t>
            </a:r>
            <a:endParaRPr lang="en-US" sz="900" dirty="0"/>
          </a:p>
        </p:txBody>
      </p:sp>
      <p:sp>
        <p:nvSpPr>
          <p:cNvPr id="42" name="Text 40"/>
          <p:cNvSpPr txBox="1"/>
          <p:nvPr/>
        </p:nvSpPr>
        <p:spPr>
          <a:xfrm>
            <a:off x="8019288" y="3223260"/>
            <a:ext cx="1965960" cy="475488"/>
          </a:xfrm>
          <a:prstGeom prst="rect">
            <a:avLst/>
          </a:prstGeom>
          <a:noFill/>
          <a:ln/>
        </p:spPr>
        <p:txBody>
          <a:bodyPr wrap="square" lIns="0" tIns="0" rIns="0" bIns="0" rtlCol="0" anchor="ctr"/>
          <a:lstStyle/>
          <a:p>
            <a:pPr indent="0" marL="0">
              <a:lnSpc>
                <a:spcPts val="1050"/>
              </a:lnSpc>
              <a:buNone/>
            </a:pPr>
            <a:r>
              <a:rPr lang="en-US" sz="800" dirty="0">
                <a:solidFill>
                  <a:srgbClr val="E6EAF2"/>
                </a:solidFill>
                <a:latin typeface="Trenda IG Text" pitchFamily="34" charset="0"/>
                <a:ea typeface="Trenda IG Text" pitchFamily="34" charset="-122"/>
                <a:cs typeface="Trenda IG Text" pitchFamily="34" charset="-120"/>
              </a:rPr>
              <a:t>Stock position, substitutions, ETAs</a:t>
            </a:r>
            <a:endParaRPr lang="en-US" sz="800" dirty="0"/>
          </a:p>
        </p:txBody>
      </p:sp>
      <p:sp>
        <p:nvSpPr>
          <p:cNvPr id="43" name="Text 41"/>
          <p:cNvSpPr txBox="1"/>
          <p:nvPr/>
        </p:nvSpPr>
        <p:spPr>
          <a:xfrm>
            <a:off x="10049256" y="3223260"/>
            <a:ext cx="1472184" cy="475488"/>
          </a:xfrm>
          <a:prstGeom prst="rect">
            <a:avLst/>
          </a:prstGeom>
          <a:noFill/>
          <a:ln/>
        </p:spPr>
        <p:txBody>
          <a:bodyPr wrap="square" lIns="0" tIns="0" rIns="0" bIns="0" rtlCol="0" anchor="ctr"/>
          <a:lstStyle/>
          <a:p>
            <a:pPr indent="0" marL="0">
              <a:lnSpc>
                <a:spcPts val="1050"/>
              </a:lnSpc>
              <a:buNone/>
            </a:pPr>
            <a:r>
              <a:rPr lang="en-US" sz="800" dirty="0">
                <a:solidFill>
                  <a:srgbClr val="8A94A6"/>
                </a:solidFill>
                <a:latin typeface="Trenda IG Text" pitchFamily="34" charset="0"/>
                <a:ea typeface="Trenda IG Text" pitchFamily="34" charset="-122"/>
                <a:cs typeface="Trenda IG Text" pitchFamily="34" charset="-120"/>
              </a:rPr>
              <a:t>Inventory, product data</a:t>
            </a:r>
            <a:endParaRPr lang="en-US" sz="800" dirty="0"/>
          </a:p>
        </p:txBody>
      </p:sp>
      <p:sp>
        <p:nvSpPr>
          <p:cNvPr id="44" name="Shape 42"/>
          <p:cNvSpPr/>
          <p:nvPr/>
        </p:nvSpPr>
        <p:spPr>
          <a:xfrm>
            <a:off x="5843016" y="3771900"/>
            <a:ext cx="5843016" cy="475488"/>
          </a:xfrm>
          <a:prstGeom prst="roundRect">
            <a:avLst>
              <a:gd name="adj" fmla="val 7692"/>
            </a:avLst>
          </a:prstGeom>
          <a:solidFill>
            <a:srgbClr val="1A2130"/>
          </a:solidFill>
          <a:ln w="12700">
            <a:solidFill>
              <a:srgbClr val="252D3D"/>
            </a:solidFill>
            <a:prstDash val="solid"/>
          </a:ln>
        </p:spPr>
      </p:sp>
      <p:sp>
        <p:nvSpPr>
          <p:cNvPr id="45" name="Text 43"/>
          <p:cNvSpPr txBox="1"/>
          <p:nvPr/>
        </p:nvSpPr>
        <p:spPr>
          <a:xfrm>
            <a:off x="6007608" y="3771900"/>
            <a:ext cx="1965960" cy="475488"/>
          </a:xfrm>
          <a:prstGeom prst="rect">
            <a:avLst/>
          </a:prstGeom>
          <a:noFill/>
          <a:ln/>
        </p:spPr>
        <p:txBody>
          <a:bodyPr wrap="square" lIns="0" tIns="0" rIns="0" bIns="0" rtlCol="0" anchor="ctr"/>
          <a:lstStyle/>
          <a:p>
            <a:pPr indent="0" marL="0">
              <a:buNone/>
            </a:pPr>
            <a:r>
              <a:rPr lang="en-US" sz="900" b="1" dirty="0">
                <a:solidFill>
                  <a:srgbClr val="F59E0B"/>
                </a:solidFill>
                <a:latin typeface="Trenda IG Text" pitchFamily="34" charset="0"/>
                <a:ea typeface="Trenda IG Text" pitchFamily="34" charset="-122"/>
                <a:cs typeface="Trenda IG Text" pitchFamily="34" charset="-120"/>
              </a:rPr>
              <a:t>Credits and disputes</a:t>
            </a:r>
            <a:endParaRPr lang="en-US" sz="900" dirty="0"/>
          </a:p>
        </p:txBody>
      </p:sp>
      <p:sp>
        <p:nvSpPr>
          <p:cNvPr id="46" name="Text 44"/>
          <p:cNvSpPr txBox="1"/>
          <p:nvPr/>
        </p:nvSpPr>
        <p:spPr>
          <a:xfrm>
            <a:off x="8019288" y="3771900"/>
            <a:ext cx="1965960" cy="475488"/>
          </a:xfrm>
          <a:prstGeom prst="rect">
            <a:avLst/>
          </a:prstGeom>
          <a:noFill/>
          <a:ln/>
        </p:spPr>
        <p:txBody>
          <a:bodyPr wrap="square" lIns="0" tIns="0" rIns="0" bIns="0" rtlCol="0" anchor="ctr"/>
          <a:lstStyle/>
          <a:p>
            <a:pPr indent="0" marL="0">
              <a:lnSpc>
                <a:spcPts val="1050"/>
              </a:lnSpc>
              <a:buNone/>
            </a:pPr>
            <a:r>
              <a:rPr lang="en-US" sz="800" dirty="0">
                <a:solidFill>
                  <a:srgbClr val="E6EAF2"/>
                </a:solidFill>
                <a:latin typeface="Trenda IG Text" pitchFamily="34" charset="0"/>
                <a:ea typeface="Trenda IG Text" pitchFamily="34" charset="-122"/>
                <a:cs typeface="Trenda IG Text" pitchFamily="34" charset="-120"/>
              </a:rPr>
              <a:t>Credits, returns, rebills, price disputes</a:t>
            </a:r>
            <a:endParaRPr lang="en-US" sz="800" dirty="0"/>
          </a:p>
        </p:txBody>
      </p:sp>
      <p:sp>
        <p:nvSpPr>
          <p:cNvPr id="47" name="Text 45"/>
          <p:cNvSpPr txBox="1"/>
          <p:nvPr/>
        </p:nvSpPr>
        <p:spPr>
          <a:xfrm>
            <a:off x="10049256" y="3771900"/>
            <a:ext cx="1472184" cy="475488"/>
          </a:xfrm>
          <a:prstGeom prst="rect">
            <a:avLst/>
          </a:prstGeom>
          <a:noFill/>
          <a:ln/>
        </p:spPr>
        <p:txBody>
          <a:bodyPr wrap="square" lIns="0" tIns="0" rIns="0" bIns="0" rtlCol="0" anchor="ctr"/>
          <a:lstStyle/>
          <a:p>
            <a:pPr indent="0" marL="0">
              <a:lnSpc>
                <a:spcPts val="1050"/>
              </a:lnSpc>
              <a:buNone/>
            </a:pPr>
            <a:r>
              <a:rPr lang="en-US" sz="800" dirty="0">
                <a:solidFill>
                  <a:srgbClr val="8A94A6"/>
                </a:solidFill>
                <a:latin typeface="Trenda IG Text" pitchFamily="34" charset="0"/>
                <a:ea typeface="Trenda IG Text" pitchFamily="34" charset="-122"/>
                <a:cs typeface="Trenda IG Text" pitchFamily="34" charset="-120"/>
              </a:rPr>
              <a:t>Senior only, financial policy, AR liaison</a:t>
            </a:r>
            <a:endParaRPr lang="en-US" sz="800" dirty="0"/>
          </a:p>
        </p:txBody>
      </p:sp>
      <p:sp>
        <p:nvSpPr>
          <p:cNvPr id="48" name="Shape 46"/>
          <p:cNvSpPr/>
          <p:nvPr/>
        </p:nvSpPr>
        <p:spPr>
          <a:xfrm>
            <a:off x="5843016" y="4320540"/>
            <a:ext cx="5843016" cy="475488"/>
          </a:xfrm>
          <a:prstGeom prst="roundRect">
            <a:avLst>
              <a:gd name="adj" fmla="val 7692"/>
            </a:avLst>
          </a:prstGeom>
          <a:solidFill>
            <a:srgbClr val="1A2130"/>
          </a:solidFill>
          <a:ln w="12700">
            <a:solidFill>
              <a:srgbClr val="252D3D"/>
            </a:solidFill>
            <a:prstDash val="solid"/>
          </a:ln>
        </p:spPr>
      </p:sp>
      <p:sp>
        <p:nvSpPr>
          <p:cNvPr id="49" name="Text 47"/>
          <p:cNvSpPr txBox="1"/>
          <p:nvPr/>
        </p:nvSpPr>
        <p:spPr>
          <a:xfrm>
            <a:off x="6007608" y="4320540"/>
            <a:ext cx="1965960" cy="475488"/>
          </a:xfrm>
          <a:prstGeom prst="rect">
            <a:avLst/>
          </a:prstGeom>
          <a:noFill/>
          <a:ln/>
        </p:spPr>
        <p:txBody>
          <a:bodyPr wrap="square" lIns="0" tIns="0" rIns="0" bIns="0" rtlCol="0" anchor="ctr"/>
          <a:lstStyle/>
          <a:p>
            <a:pPr indent="0" marL="0">
              <a:buNone/>
            </a:pPr>
            <a:r>
              <a:rPr lang="en-US" sz="900" b="1" dirty="0">
                <a:solidFill>
                  <a:srgbClr val="22D3EE"/>
                </a:solidFill>
                <a:latin typeface="Trenda IG Text" pitchFamily="34" charset="0"/>
                <a:ea typeface="Trenda IG Text" pitchFamily="34" charset="-122"/>
                <a:cs typeface="Trenda IG Text" pitchFamily="34" charset="-120"/>
              </a:rPr>
              <a:t>Account and billing</a:t>
            </a:r>
            <a:endParaRPr lang="en-US" sz="900" dirty="0"/>
          </a:p>
        </p:txBody>
      </p:sp>
      <p:sp>
        <p:nvSpPr>
          <p:cNvPr id="50" name="Text 48"/>
          <p:cNvSpPr txBox="1"/>
          <p:nvPr/>
        </p:nvSpPr>
        <p:spPr>
          <a:xfrm>
            <a:off x="8019288" y="4320540"/>
            <a:ext cx="1965960" cy="475488"/>
          </a:xfrm>
          <a:prstGeom prst="rect">
            <a:avLst/>
          </a:prstGeom>
          <a:noFill/>
          <a:ln/>
        </p:spPr>
        <p:txBody>
          <a:bodyPr wrap="square" lIns="0" tIns="0" rIns="0" bIns="0" rtlCol="0" anchor="ctr"/>
          <a:lstStyle/>
          <a:p>
            <a:pPr indent="0" marL="0">
              <a:lnSpc>
                <a:spcPts val="1050"/>
              </a:lnSpc>
              <a:buNone/>
            </a:pPr>
            <a:r>
              <a:rPr lang="en-US" sz="800" dirty="0">
                <a:solidFill>
                  <a:srgbClr val="E6EAF2"/>
                </a:solidFill>
                <a:latin typeface="Trenda IG Text" pitchFamily="34" charset="0"/>
                <a:ea typeface="Trenda IG Text" pitchFamily="34" charset="-122"/>
                <a:cs typeface="Trenda IG Text" pitchFamily="34" charset="-120"/>
              </a:rPr>
              <a:t>Invoices, statements, account admin</a:t>
            </a:r>
            <a:endParaRPr lang="en-US" sz="800" dirty="0"/>
          </a:p>
        </p:txBody>
      </p:sp>
      <p:sp>
        <p:nvSpPr>
          <p:cNvPr id="51" name="Text 49"/>
          <p:cNvSpPr txBox="1"/>
          <p:nvPr/>
        </p:nvSpPr>
        <p:spPr>
          <a:xfrm>
            <a:off x="10049256" y="4320540"/>
            <a:ext cx="1472184" cy="475488"/>
          </a:xfrm>
          <a:prstGeom prst="rect">
            <a:avLst/>
          </a:prstGeom>
          <a:noFill/>
          <a:ln/>
        </p:spPr>
        <p:txBody>
          <a:bodyPr wrap="square" lIns="0" tIns="0" rIns="0" bIns="0" rtlCol="0" anchor="ctr"/>
          <a:lstStyle/>
          <a:p>
            <a:pPr indent="0" marL="0">
              <a:lnSpc>
                <a:spcPts val="1050"/>
              </a:lnSpc>
              <a:buNone/>
            </a:pPr>
            <a:r>
              <a:rPr lang="en-US" sz="800" dirty="0">
                <a:solidFill>
                  <a:srgbClr val="8A94A6"/>
                </a:solidFill>
                <a:latin typeface="Trenda IG Text" pitchFamily="34" charset="0"/>
                <a:ea typeface="Trenda IG Text" pitchFamily="34" charset="-122"/>
                <a:cs typeface="Trenda IG Text" pitchFamily="34" charset="-120"/>
              </a:rPr>
              <a:t>Billing, account maintenance</a:t>
            </a:r>
            <a:endParaRPr lang="en-US" sz="800" dirty="0"/>
          </a:p>
        </p:txBody>
      </p:sp>
      <p:sp>
        <p:nvSpPr>
          <p:cNvPr id="52" name="Shape 50"/>
          <p:cNvSpPr/>
          <p:nvPr/>
        </p:nvSpPr>
        <p:spPr>
          <a:xfrm>
            <a:off x="5843016" y="4869180"/>
            <a:ext cx="5843016" cy="475488"/>
          </a:xfrm>
          <a:prstGeom prst="roundRect">
            <a:avLst>
              <a:gd name="adj" fmla="val 7692"/>
            </a:avLst>
          </a:prstGeom>
          <a:solidFill>
            <a:srgbClr val="1A2130"/>
          </a:solidFill>
          <a:ln w="12700">
            <a:solidFill>
              <a:srgbClr val="252D3D"/>
            </a:solidFill>
            <a:prstDash val="solid"/>
          </a:ln>
        </p:spPr>
      </p:sp>
      <p:sp>
        <p:nvSpPr>
          <p:cNvPr id="53" name="Text 51"/>
          <p:cNvSpPr txBox="1"/>
          <p:nvPr/>
        </p:nvSpPr>
        <p:spPr>
          <a:xfrm>
            <a:off x="6007608" y="4869180"/>
            <a:ext cx="1965960" cy="475488"/>
          </a:xfrm>
          <a:prstGeom prst="rect">
            <a:avLst/>
          </a:prstGeom>
          <a:noFill/>
          <a:ln/>
        </p:spPr>
        <p:txBody>
          <a:bodyPr wrap="square" lIns="0" tIns="0" rIns="0" bIns="0" rtlCol="0" anchor="ctr"/>
          <a:lstStyle/>
          <a:p>
            <a:pPr indent="0" marL="0">
              <a:buNone/>
            </a:pPr>
            <a:r>
              <a:rPr lang="en-US" sz="900" b="1" dirty="0">
                <a:solidFill>
                  <a:srgbClr val="FF0069"/>
                </a:solidFill>
                <a:latin typeface="Trenda IG Text" pitchFamily="34" charset="0"/>
                <a:ea typeface="Trenda IG Text" pitchFamily="34" charset="-122"/>
                <a:cs typeface="Trenda IG Text" pitchFamily="34" charset="-120"/>
              </a:rPr>
              <a:t>Escalation and exceptions</a:t>
            </a:r>
            <a:endParaRPr lang="en-US" sz="900" dirty="0"/>
          </a:p>
        </p:txBody>
      </p:sp>
      <p:sp>
        <p:nvSpPr>
          <p:cNvPr id="54" name="Text 52"/>
          <p:cNvSpPr txBox="1"/>
          <p:nvPr/>
        </p:nvSpPr>
        <p:spPr>
          <a:xfrm>
            <a:off x="8019288" y="4869180"/>
            <a:ext cx="1965960" cy="475488"/>
          </a:xfrm>
          <a:prstGeom prst="rect">
            <a:avLst/>
          </a:prstGeom>
          <a:noFill/>
          <a:ln/>
        </p:spPr>
        <p:txBody>
          <a:bodyPr wrap="square" lIns="0" tIns="0" rIns="0" bIns="0" rtlCol="0" anchor="ctr"/>
          <a:lstStyle/>
          <a:p>
            <a:pPr indent="0" marL="0">
              <a:lnSpc>
                <a:spcPts val="1050"/>
              </a:lnSpc>
              <a:buNone/>
            </a:pPr>
            <a:r>
              <a:rPr lang="en-US" sz="800" dirty="0">
                <a:solidFill>
                  <a:srgbClr val="E6EAF2"/>
                </a:solidFill>
                <a:latin typeface="Trenda IG Text" pitchFamily="34" charset="0"/>
                <a:ea typeface="Trenda IG Text" pitchFamily="34" charset="-122"/>
                <a:cs typeface="Trenda IG Text" pitchFamily="34" charset="-120"/>
              </a:rPr>
              <a:t>Anything needing McKesson pricing or AR</a:t>
            </a:r>
            <a:endParaRPr lang="en-US" sz="800" dirty="0"/>
          </a:p>
        </p:txBody>
      </p:sp>
      <p:sp>
        <p:nvSpPr>
          <p:cNvPr id="55" name="Text 53"/>
          <p:cNvSpPr txBox="1"/>
          <p:nvPr/>
        </p:nvSpPr>
        <p:spPr>
          <a:xfrm>
            <a:off x="10049256" y="4869180"/>
            <a:ext cx="1472184" cy="475488"/>
          </a:xfrm>
          <a:prstGeom prst="rect">
            <a:avLst/>
          </a:prstGeom>
          <a:noFill/>
          <a:ln/>
        </p:spPr>
        <p:txBody>
          <a:bodyPr wrap="square" lIns="0" tIns="0" rIns="0" bIns="0" rtlCol="0" anchor="ctr"/>
          <a:lstStyle/>
          <a:p>
            <a:pPr indent="0" marL="0">
              <a:lnSpc>
                <a:spcPts val="1050"/>
              </a:lnSpc>
              <a:buNone/>
            </a:pPr>
            <a:r>
              <a:rPr lang="en-US" sz="800" dirty="0">
                <a:solidFill>
                  <a:srgbClr val="8A94A6"/>
                </a:solidFill>
                <a:latin typeface="Trenda IG Text" pitchFamily="34" charset="0"/>
                <a:ea typeface="Trenda IG Text" pitchFamily="34" charset="-122"/>
                <a:cs typeface="Trenda IG Text" pitchFamily="34" charset="-120"/>
              </a:rPr>
              <a:t>Routed out under a defined escalation path</a:t>
            </a:r>
            <a:endParaRPr lang="en-US" sz="800" dirty="0"/>
          </a:p>
        </p:txBody>
      </p:sp>
      <p:sp>
        <p:nvSpPr>
          <p:cNvPr id="56" name="Text 54"/>
          <p:cNvSpPr txBox="1"/>
          <p:nvPr/>
        </p:nvSpPr>
        <p:spPr>
          <a:xfrm>
            <a:off x="502920" y="6035040"/>
            <a:ext cx="10085832" cy="347472"/>
          </a:xfrm>
          <a:prstGeom prst="rect">
            <a:avLst/>
          </a:prstGeom>
          <a:noFill/>
          <a:ln/>
        </p:spPr>
        <p:txBody>
          <a:bodyPr wrap="square" lIns="0" tIns="0" rIns="0" bIns="0" rtlCol="0" anchor="t"/>
          <a:lstStyle/>
          <a:p>
            <a:pPr indent="0" marL="0">
              <a:lnSpc>
                <a:spcPts val="1000"/>
              </a:lnSpc>
              <a:buNone/>
            </a:pPr>
            <a:r>
              <a:rPr lang="en-US" sz="750" i="1" dirty="0">
                <a:solidFill>
                  <a:srgbClr val="8A94A6"/>
                </a:solidFill>
                <a:latin typeface="Trenda IG Text" pitchFamily="34" charset="0"/>
                <a:ea typeface="Trenda IG Text" pitchFamily="34" charset="-122"/>
                <a:cs typeface="Trenda IG Text" pitchFamily="34" charset="-120"/>
              </a:rPr>
              <a:t>Queue names, skill definitions and capacity weightings are confirmed with McKesson during discovery and configured before the readiness gate.</a:t>
            </a:r>
            <a:endParaRPr lang="en-US" sz="750" dirty="0"/>
          </a:p>
        </p:txBody>
      </p:sp>
      <p:pic>
        <p:nvPicPr>
          <p:cNvPr id="57" name="Image 0" descr="assets/ig-mark.png">    </p:cNvPr>
          <p:cNvPicPr>
            <a:picLocks noChangeAspect="1"/>
          </p:cNvPicPr>
          <p:nvPr/>
        </p:nvPicPr>
        <p:blipFill>
          <a:blip r:embed="rId1"/>
          <a:stretch>
            <a:fillRect/>
          </a:stretch>
        </p:blipFill>
        <p:spPr>
          <a:xfrm>
            <a:off x="502920" y="6455664"/>
            <a:ext cx="420624" cy="144475"/>
          </a:xfrm>
          <a:prstGeom prst="rect">
            <a:avLst/>
          </a:prstGeom>
        </p:spPr>
      </p:pic>
      <p:sp>
        <p:nvSpPr>
          <p:cNvPr id="58" name="Text 55"/>
          <p:cNvSpPr txBox="1"/>
          <p:nvPr/>
        </p:nvSpPr>
        <p:spPr>
          <a:xfrm>
            <a:off x="11201400" y="6400800"/>
            <a:ext cx="484632" cy="237744"/>
          </a:xfrm>
          <a:prstGeom prst="rect">
            <a:avLst/>
          </a:prstGeom>
          <a:noFill/>
          <a:ln/>
        </p:spPr>
        <p:txBody>
          <a:bodyPr wrap="square" lIns="0" tIns="0" rIns="0" bIns="0" rtlCol="0" anchor="ctr"/>
          <a:lstStyle/>
          <a:p>
            <a:pPr algn="r" indent="0" marL="0">
              <a:buNone/>
            </a:pPr>
            <a:r>
              <a:rPr lang="en-US" sz="850" dirty="0">
                <a:solidFill>
                  <a:srgbClr val="8A94A6"/>
                </a:solidFill>
                <a:latin typeface="Trenda IG Text" pitchFamily="34" charset="0"/>
                <a:ea typeface="Trenda IG Text" pitchFamily="34" charset="-122"/>
                <a:cs typeface="Trenda IG Text" pitchFamily="34" charset="-120"/>
              </a:rPr>
              <a:t>10</a:t>
            </a:r>
            <a:endParaRPr lang="en-US" sz="85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0A0D14"/>
        </a:solidFill>
      </p:bgPr>
    </p:bg>
    <p:spTree>
      <p:nvGrpSpPr>
        <p:cNvPr id="1" name=""/>
        <p:cNvGrpSpPr/>
        <p:nvPr/>
      </p:nvGrpSpPr>
      <p:grpSpPr>
        <a:xfrm>
          <a:off x="0" y="0"/>
          <a:ext cx="0" cy="0"/>
          <a:chOff x="0" y="0"/>
          <a:chExt cx="0" cy="0"/>
        </a:xfrm>
      </p:grpSpPr>
      <p:sp>
        <p:nvSpPr>
          <p:cNvPr id="2" name="Text 0"/>
          <p:cNvSpPr txBox="1"/>
          <p:nvPr/>
        </p:nvSpPr>
        <p:spPr>
          <a:xfrm>
            <a:off x="502920" y="384048"/>
            <a:ext cx="11183112" cy="219456"/>
          </a:xfrm>
          <a:prstGeom prst="rect">
            <a:avLst/>
          </a:prstGeom>
          <a:noFill/>
          <a:ln/>
        </p:spPr>
        <p:txBody>
          <a:bodyPr wrap="square" lIns="0" tIns="0" rIns="0" bIns="0" rtlCol="0" anchor="ctr"/>
          <a:lstStyle/>
          <a:p>
            <a:pPr indent="0" marL="0">
              <a:buNone/>
            </a:pPr>
            <a:r>
              <a:rPr lang="en-US" sz="1000" b="1" spc="220" kern="0" dirty="0">
                <a:solidFill>
                  <a:srgbClr val="22D3EE"/>
                </a:solidFill>
                <a:latin typeface="Trenda IG Display" pitchFamily="34" charset="0"/>
                <a:ea typeface="Trenda IG Display" pitchFamily="34" charset="-122"/>
                <a:cs typeface="Trenda IG Display" pitchFamily="34" charset="-120"/>
              </a:rPr>
              <a:t>STAGE 04</a:t>
            </a:r>
            <a:endParaRPr lang="en-US" sz="1000" dirty="0"/>
          </a:p>
        </p:txBody>
      </p:sp>
      <p:sp>
        <p:nvSpPr>
          <p:cNvPr id="3" name="Text 1"/>
          <p:cNvSpPr txBox="1"/>
          <p:nvPr/>
        </p:nvSpPr>
        <p:spPr>
          <a:xfrm>
            <a:off x="502920" y="658368"/>
            <a:ext cx="11183112" cy="416052"/>
          </a:xfrm>
          <a:prstGeom prst="rect">
            <a:avLst/>
          </a:prstGeom>
          <a:noFill/>
          <a:ln/>
        </p:spPr>
        <p:txBody>
          <a:bodyPr wrap="square" lIns="0" tIns="0" rIns="0" bIns="0" rtlCol="0" anchor="ctr"/>
          <a:lstStyle/>
          <a:p>
            <a:pPr indent="0" marL="0">
              <a:lnSpc>
                <a:spcPts val="3016"/>
              </a:lnSpc>
              <a:buNone/>
            </a:pPr>
            <a:r>
              <a:rPr lang="en-US" sz="2600" b="1" spc="40" kern="0" dirty="0">
                <a:solidFill>
                  <a:srgbClr val="FFFFFF"/>
                </a:solidFill>
                <a:latin typeface="Trenda IG Display" pitchFamily="34" charset="0"/>
                <a:ea typeface="Trenda IG Display" pitchFamily="34" charset="-122"/>
                <a:cs typeface="Trenda IG Display" pitchFamily="34" charset="-120"/>
              </a:rPr>
              <a:t>TWO SLA CLOCKS, ENFORCED BY THE PLATFORM</a:t>
            </a:r>
            <a:endParaRPr lang="en-US" sz="2600" dirty="0"/>
          </a:p>
        </p:txBody>
      </p:sp>
      <p:sp>
        <p:nvSpPr>
          <p:cNvPr id="4" name="Text 2"/>
          <p:cNvSpPr txBox="1"/>
          <p:nvPr/>
        </p:nvSpPr>
        <p:spPr>
          <a:xfrm>
            <a:off x="502920" y="1156716"/>
            <a:ext cx="11183112" cy="384048"/>
          </a:xfrm>
          <a:prstGeom prst="rect">
            <a:avLst/>
          </a:prstGeom>
          <a:noFill/>
          <a:ln/>
        </p:spPr>
        <p:txBody>
          <a:bodyPr wrap="square" lIns="0" tIns="0" rIns="0" bIns="0" rtlCol="0" anchor="t"/>
          <a:lstStyle/>
          <a:p>
            <a:pPr indent="0" marL="0">
              <a:lnSpc>
                <a:spcPts val="1500"/>
              </a:lnSpc>
              <a:buNone/>
            </a:pPr>
            <a:r>
              <a:rPr lang="en-US" sz="1150" dirty="0">
                <a:solidFill>
                  <a:srgbClr val="8A94A6"/>
                </a:solidFill>
                <a:latin typeface="Trenda IG Text" pitchFamily="34" charset="0"/>
                <a:ea typeface="Trenda IG Text" pitchFamily="34" charset="-122"/>
                <a:cs typeface="Trenda IG Text" pitchFamily="34" charset="-120"/>
              </a:rPr>
              <a:t>Entitlements and Milestones run the SLA inside Salesforce against the Extended Care business hours. The clock is a record, not a report, so it can be acted on while it is still running.</a:t>
            </a:r>
            <a:endParaRPr lang="en-US" sz="1150" dirty="0"/>
          </a:p>
        </p:txBody>
      </p:sp>
      <p:sp>
        <p:nvSpPr>
          <p:cNvPr id="5" name="Shape 3"/>
          <p:cNvSpPr/>
          <p:nvPr/>
        </p:nvSpPr>
        <p:spPr>
          <a:xfrm>
            <a:off x="502920" y="1796796"/>
            <a:ext cx="5481828" cy="1700784"/>
          </a:xfrm>
          <a:prstGeom prst="roundRect">
            <a:avLst>
              <a:gd name="adj" fmla="val 2151"/>
            </a:avLst>
          </a:prstGeom>
          <a:solidFill>
            <a:srgbClr val="151A24"/>
          </a:solidFill>
          <a:ln w="12700">
            <a:solidFill>
              <a:srgbClr val="252D3D"/>
            </a:solidFill>
            <a:prstDash val="solid"/>
          </a:ln>
        </p:spPr>
      </p:sp>
      <p:sp>
        <p:nvSpPr>
          <p:cNvPr id="6" name="Text 4"/>
          <p:cNvSpPr txBox="1"/>
          <p:nvPr/>
        </p:nvSpPr>
        <p:spPr>
          <a:xfrm>
            <a:off x="740664" y="1961388"/>
            <a:ext cx="5006340" cy="256032"/>
          </a:xfrm>
          <a:prstGeom prst="rect">
            <a:avLst/>
          </a:prstGeom>
          <a:noFill/>
          <a:ln/>
        </p:spPr>
        <p:txBody>
          <a:bodyPr wrap="square" lIns="0" tIns="0" rIns="0" bIns="0" rtlCol="0" anchor="ctr"/>
          <a:lstStyle/>
          <a:p>
            <a:pPr indent="0" marL="0">
              <a:buNone/>
            </a:pPr>
            <a:r>
              <a:rPr lang="en-US" sz="1300" b="1" dirty="0">
                <a:solidFill>
                  <a:srgbClr val="22D3EE"/>
                </a:solidFill>
                <a:latin typeface="Trenda IG Text" pitchFamily="34" charset="0"/>
                <a:ea typeface="Trenda IG Text" pitchFamily="34" charset="-122"/>
                <a:cs typeface="Trenda IG Text" pitchFamily="34" charset="-120"/>
              </a:rPr>
              <a:t>First response SLA</a:t>
            </a:r>
            <a:endParaRPr lang="en-US" sz="1300" dirty="0"/>
          </a:p>
        </p:txBody>
      </p:sp>
      <p:sp>
        <p:nvSpPr>
          <p:cNvPr id="7" name="Text 5"/>
          <p:cNvSpPr txBox="1"/>
          <p:nvPr/>
        </p:nvSpPr>
        <p:spPr>
          <a:xfrm>
            <a:off x="740664" y="2235708"/>
            <a:ext cx="5006340" cy="237744"/>
          </a:xfrm>
          <a:prstGeom prst="rect">
            <a:avLst/>
          </a:prstGeom>
          <a:noFill/>
          <a:ln/>
        </p:spPr>
        <p:txBody>
          <a:bodyPr wrap="square" lIns="0" tIns="0" rIns="0" bIns="0" rtlCol="0" anchor="ctr"/>
          <a:lstStyle/>
          <a:p>
            <a:pPr indent="0" marL="0">
              <a:buNone/>
            </a:pPr>
            <a:r>
              <a:rPr lang="en-US" sz="900" dirty="0">
                <a:solidFill>
                  <a:srgbClr val="8A94A6"/>
                </a:solidFill>
                <a:latin typeface="Trenda IG Text" pitchFamily="34" charset="0"/>
                <a:ea typeface="Trenda IG Text" pitchFamily="34" charset="-122"/>
                <a:cs typeface="Trenda IG Text" pitchFamily="34" charset="-120"/>
              </a:rPr>
              <a:t>Time from case creation to the first meaningful reply to the customer.</a:t>
            </a:r>
            <a:endParaRPr lang="en-US" sz="900" dirty="0"/>
          </a:p>
        </p:txBody>
      </p:sp>
      <p:sp>
        <p:nvSpPr>
          <p:cNvPr id="8" name="Text 6"/>
          <p:cNvSpPr txBox="1"/>
          <p:nvPr/>
        </p:nvSpPr>
        <p:spPr>
          <a:xfrm>
            <a:off x="740664" y="2528316"/>
            <a:ext cx="5006340" cy="877824"/>
          </a:xfrm>
          <a:prstGeom prst="rect">
            <a:avLst/>
          </a:prstGeom>
          <a:noFill/>
          <a:ln/>
        </p:spPr>
        <p:txBody>
          <a:bodyPr wrap="square" lIns="0" tIns="0" rIns="0" bIns="0" rtlCol="0" anchor="t"/>
          <a:lstStyle/>
          <a:p>
            <a:pPr marL="152400" indent="-152400">
              <a:lnSpc>
                <a:spcPts val="1250"/>
              </a:lnSpc>
              <a:spcAft>
                <a:spcPts val="400"/>
              </a:spcAft>
              <a:buSzPct val="100000"/>
              <a:buChar char="•"/>
            </a:pPr>
            <a:r>
              <a:rPr lang="en-US" sz="850" dirty="0">
                <a:solidFill>
                  <a:srgbClr val="E6EAF2"/>
                </a:solidFill>
                <a:latin typeface="Trenda IG Text" pitchFamily="34" charset="0"/>
                <a:ea typeface="Trenda IG Text" pitchFamily="34" charset="-122"/>
                <a:cs typeface="Trenda IG Text" pitchFamily="34" charset="-120"/>
              </a:rPr>
              <a:t>An automated acknowledgement does not close this clock unless McKesson explicitly agrees that it should.</a:t>
            </a:r>
            <a:endParaRPr lang="en-US" sz="850" dirty="0"/>
          </a:p>
          <a:p>
            <a:pPr marL="152400" indent="-152400">
              <a:lnSpc>
                <a:spcPts val="1250"/>
              </a:lnSpc>
              <a:spcAft>
                <a:spcPts val="400"/>
              </a:spcAft>
              <a:buSzPct val="100000"/>
              <a:buChar char="•"/>
            </a:pPr>
            <a:r>
              <a:rPr lang="en-US" sz="850" dirty="0">
                <a:solidFill>
                  <a:srgbClr val="E6EAF2"/>
                </a:solidFill>
                <a:latin typeface="Trenda IG Text" pitchFamily="34" charset="0"/>
                <a:ea typeface="Trenda IG Text" pitchFamily="34" charset="-122"/>
                <a:cs typeface="Trenda IG Text" pitchFamily="34" charset="-120"/>
              </a:rPr>
              <a:t>Stops when the agent sends a substantive response, not when the case is opened or assigned.</a:t>
            </a:r>
            <a:endParaRPr lang="en-US" sz="850" dirty="0"/>
          </a:p>
          <a:p>
            <a:pPr marL="152400" indent="-152400">
              <a:lnSpc>
                <a:spcPts val="1250"/>
              </a:lnSpc>
              <a:spcAft>
                <a:spcPts val="400"/>
              </a:spcAft>
              <a:buSzPct val="100000"/>
              <a:buChar char="•"/>
            </a:pPr>
            <a:r>
              <a:rPr lang="en-US" sz="850" dirty="0">
                <a:solidFill>
                  <a:srgbClr val="E6EAF2"/>
                </a:solidFill>
                <a:latin typeface="Trenda IG Text" pitchFamily="34" charset="0"/>
                <a:ea typeface="Trenda IG Text" pitchFamily="34" charset="-122"/>
                <a:cs typeface="Trenda IG Text" pitchFamily="34" charset="-120"/>
              </a:rPr>
              <a:t>Runs against business hours, so an 7pm arrival is not judged against overnight time.</a:t>
            </a:r>
            <a:endParaRPr lang="en-US" sz="850" dirty="0"/>
          </a:p>
        </p:txBody>
      </p:sp>
      <p:sp>
        <p:nvSpPr>
          <p:cNvPr id="9" name="Shape 7"/>
          <p:cNvSpPr/>
          <p:nvPr/>
        </p:nvSpPr>
        <p:spPr>
          <a:xfrm>
            <a:off x="6204204" y="1796796"/>
            <a:ext cx="5481828" cy="1700784"/>
          </a:xfrm>
          <a:prstGeom prst="roundRect">
            <a:avLst>
              <a:gd name="adj" fmla="val 2151"/>
            </a:avLst>
          </a:prstGeom>
          <a:solidFill>
            <a:srgbClr val="151A24"/>
          </a:solidFill>
          <a:ln w="12700">
            <a:solidFill>
              <a:srgbClr val="252D3D"/>
            </a:solidFill>
            <a:prstDash val="solid"/>
          </a:ln>
        </p:spPr>
      </p:sp>
      <p:sp>
        <p:nvSpPr>
          <p:cNvPr id="10" name="Text 8"/>
          <p:cNvSpPr txBox="1"/>
          <p:nvPr/>
        </p:nvSpPr>
        <p:spPr>
          <a:xfrm>
            <a:off x="6441948" y="1961388"/>
            <a:ext cx="5006340" cy="256032"/>
          </a:xfrm>
          <a:prstGeom prst="rect">
            <a:avLst/>
          </a:prstGeom>
          <a:noFill/>
          <a:ln/>
        </p:spPr>
        <p:txBody>
          <a:bodyPr wrap="square" lIns="0" tIns="0" rIns="0" bIns="0" rtlCol="0" anchor="ctr"/>
          <a:lstStyle/>
          <a:p>
            <a:pPr indent="0" marL="0">
              <a:buNone/>
            </a:pPr>
            <a:r>
              <a:rPr lang="en-US" sz="1300" b="1" dirty="0">
                <a:solidFill>
                  <a:srgbClr val="22D3EE"/>
                </a:solidFill>
                <a:latin typeface="Trenda IG Text" pitchFamily="34" charset="0"/>
                <a:ea typeface="Trenda IG Text" pitchFamily="34" charset="-122"/>
                <a:cs typeface="Trenda IG Text" pitchFamily="34" charset="-120"/>
              </a:rPr>
              <a:t>Resolution SLA</a:t>
            </a:r>
            <a:endParaRPr lang="en-US" sz="1300" dirty="0"/>
          </a:p>
        </p:txBody>
      </p:sp>
      <p:sp>
        <p:nvSpPr>
          <p:cNvPr id="11" name="Text 9"/>
          <p:cNvSpPr txBox="1"/>
          <p:nvPr/>
        </p:nvSpPr>
        <p:spPr>
          <a:xfrm>
            <a:off x="6441948" y="2235708"/>
            <a:ext cx="5006340" cy="237744"/>
          </a:xfrm>
          <a:prstGeom prst="rect">
            <a:avLst/>
          </a:prstGeom>
          <a:noFill/>
          <a:ln/>
        </p:spPr>
        <p:txBody>
          <a:bodyPr wrap="square" lIns="0" tIns="0" rIns="0" bIns="0" rtlCol="0" anchor="ctr"/>
          <a:lstStyle/>
          <a:p>
            <a:pPr indent="0" marL="0">
              <a:buNone/>
            </a:pPr>
            <a:r>
              <a:rPr lang="en-US" sz="900" dirty="0">
                <a:solidFill>
                  <a:srgbClr val="8A94A6"/>
                </a:solidFill>
                <a:latin typeface="Trenda IG Text" pitchFamily="34" charset="0"/>
                <a:ea typeface="Trenda IG Text" pitchFamily="34" charset="-122"/>
                <a:cs typeface="Trenda IG Text" pitchFamily="34" charset="-120"/>
              </a:rPr>
              <a:t>Time from creation to resolution, subject to agreed pause conditions.</a:t>
            </a:r>
            <a:endParaRPr lang="en-US" sz="900" dirty="0"/>
          </a:p>
        </p:txBody>
      </p:sp>
      <p:sp>
        <p:nvSpPr>
          <p:cNvPr id="12" name="Text 10"/>
          <p:cNvSpPr txBox="1"/>
          <p:nvPr/>
        </p:nvSpPr>
        <p:spPr>
          <a:xfrm>
            <a:off x="6441948" y="2528316"/>
            <a:ext cx="5006340" cy="877824"/>
          </a:xfrm>
          <a:prstGeom prst="rect">
            <a:avLst/>
          </a:prstGeom>
          <a:noFill/>
          <a:ln/>
        </p:spPr>
        <p:txBody>
          <a:bodyPr wrap="square" lIns="0" tIns="0" rIns="0" bIns="0" rtlCol="0" anchor="t"/>
          <a:lstStyle/>
          <a:p>
            <a:pPr marL="152400" indent="-152400">
              <a:lnSpc>
                <a:spcPts val="1250"/>
              </a:lnSpc>
              <a:spcAft>
                <a:spcPts val="400"/>
              </a:spcAft>
              <a:buSzPct val="100000"/>
              <a:buChar char="•"/>
            </a:pPr>
            <a:r>
              <a:rPr lang="en-US" sz="850" dirty="0">
                <a:solidFill>
                  <a:srgbClr val="E6EAF2"/>
                </a:solidFill>
                <a:latin typeface="Trenda IG Text" pitchFamily="34" charset="0"/>
                <a:ea typeface="Trenda IG Text" pitchFamily="34" charset="-122"/>
                <a:cs typeface="Trenda IG Text" pitchFamily="34" charset="-120"/>
              </a:rPr>
              <a:t>Pauses only while waiting on the customer, and only after a valid information request has gone out.</a:t>
            </a:r>
            <a:endParaRPr lang="en-US" sz="850" dirty="0"/>
          </a:p>
          <a:p>
            <a:pPr marL="152400" indent="-152400">
              <a:lnSpc>
                <a:spcPts val="1250"/>
              </a:lnSpc>
              <a:spcAft>
                <a:spcPts val="400"/>
              </a:spcAft>
              <a:buSzPct val="100000"/>
              <a:buChar char="•"/>
            </a:pPr>
            <a:r>
              <a:rPr lang="en-US" sz="850" dirty="0">
                <a:solidFill>
                  <a:srgbClr val="E6EAF2"/>
                </a:solidFill>
                <a:latin typeface="Trenda IG Text" pitchFamily="34" charset="0"/>
                <a:ea typeface="Trenda IG Text" pitchFamily="34" charset="-122"/>
                <a:cs typeface="Trenda IG Text" pitchFamily="34" charset="-120"/>
              </a:rPr>
              <a:t>Keeps running while waiting on an internal McKesson team, with dependency time measured separately.</a:t>
            </a:r>
            <a:endParaRPr lang="en-US" sz="850" dirty="0"/>
          </a:p>
          <a:p>
            <a:pPr marL="152400" indent="-152400">
              <a:lnSpc>
                <a:spcPts val="1250"/>
              </a:lnSpc>
              <a:spcAft>
                <a:spcPts val="400"/>
              </a:spcAft>
              <a:buSzPct val="100000"/>
              <a:buChar char="•"/>
            </a:pPr>
            <a:r>
              <a:rPr lang="en-US" sz="850" dirty="0">
                <a:solidFill>
                  <a:srgbClr val="E6EAF2"/>
                </a:solidFill>
                <a:latin typeface="Trenda IG Text" pitchFamily="34" charset="0"/>
                <a:ea typeface="Trenda IG Text" pitchFamily="34" charset="-122"/>
                <a:cs typeface="Trenda IG Text" pitchFamily="34" charset="-120"/>
              </a:rPr>
              <a:t>Stops on resolution and is not restarted by an administrative closure.</a:t>
            </a:r>
            <a:endParaRPr lang="en-US" sz="850" dirty="0"/>
          </a:p>
        </p:txBody>
      </p:sp>
      <p:sp>
        <p:nvSpPr>
          <p:cNvPr id="13" name="Text 11"/>
          <p:cNvSpPr txBox="1"/>
          <p:nvPr/>
        </p:nvSpPr>
        <p:spPr>
          <a:xfrm>
            <a:off x="502920" y="3717036"/>
            <a:ext cx="6400800" cy="201168"/>
          </a:xfrm>
          <a:prstGeom prst="rect">
            <a:avLst/>
          </a:prstGeom>
          <a:noFill/>
          <a:ln/>
        </p:spPr>
        <p:txBody>
          <a:bodyPr wrap="square" lIns="0" tIns="0" rIns="0" bIns="0" rtlCol="0" anchor="ctr"/>
          <a:lstStyle/>
          <a:p>
            <a:pPr indent="0" marL="0">
              <a:buNone/>
            </a:pPr>
            <a:r>
              <a:rPr lang="en-US" sz="1050" b="1" spc="140" kern="0" dirty="0">
                <a:solidFill>
                  <a:srgbClr val="FFFFFF"/>
                </a:solidFill>
                <a:latin typeface="Trenda IG Display" pitchFamily="34" charset="0"/>
                <a:ea typeface="Trenda IG Display" pitchFamily="34" charset="-122"/>
                <a:cs typeface="Trenda IG Display" pitchFamily="34" charset="-120"/>
              </a:rPr>
              <a:t>PROPOSED TARGETS BY PRIORITY</a:t>
            </a:r>
            <a:endParaRPr lang="en-US" sz="1050" dirty="0"/>
          </a:p>
        </p:txBody>
      </p:sp>
      <p:graphicFrame>
        <p:nvGraphicFramePr>
          <p:cNvPr id="13" name="Table 0"/>
          <p:cNvGraphicFramePr>
            <a:graphicFrameLocks noGrp="1"/>
          </p:cNvGraphicFramePr>
          <p:nvPr>
            <p:extLst>
              <p:ext uri="{D42A27DB-BD31-4B8C-83A1-F6EECF244321}">
                <p14:modId xmlns:p14="http://schemas.microsoft.com/office/powerpoint/2010/main" val="1579011935"/>
              </p:ext>
            </p:extLst>
          </p:nvPr>
        </p:nvGraphicFramePr>
        <p:xfrm>
          <a:off x="502920" y="3991356"/>
          <a:ext cx="6675120" cy="914400"/>
        </p:xfrm>
        <a:graphic>
          <a:graphicData uri="http://schemas.openxmlformats.org/drawingml/2006/table">
            <a:tbl>
              <a:tblPr/>
              <a:tblGrid>
                <a:gridCol w="1920240"/>
                <a:gridCol w="2286000"/>
                <a:gridCol w="2468880"/>
              </a:tblGrid>
              <a:tr h="384048">
                <a:tc>
                  <a:txBody>
                    <a:bodyPr/>
                    <a:lstStyle/>
                    <a:p>
                      <a:pPr indent="0" marL="0">
                        <a:buNone/>
                      </a:pPr>
                      <a:r>
                        <a:rPr lang="en-US" sz="850" b="1" spc="100" kern="0" dirty="0">
                          <a:solidFill>
                            <a:srgbClr val="22D3EE"/>
                          </a:solidFill>
                          <a:latin typeface="Trenda IG Text" pitchFamily="34" charset="0"/>
                          <a:ea typeface="Trenda IG Text" pitchFamily="34" charset="-122"/>
                          <a:cs typeface="Trenda IG Text" pitchFamily="34" charset="-120"/>
                        </a:rPr>
                        <a:t>Priority</a:t>
                      </a:r>
                      <a:endParaRPr lang="en-US" sz="850" dirty="0">
                        <a:latin typeface="Trenda IG Text" charset="0"/>
                        <a:ea typeface="Trenda IG Text" charset="0"/>
                        <a:cs typeface="Trenda IG Text" charset="0"/>
                      </a:endParaRPr>
                    </a:p>
                  </a:txBody>
                  <a:tcPr marL="88900" marR="88900" marT="50800" marB="50800" anchor="ctr">
                    <a:lnL w="12700" cap="flat" cmpd="sng" algn="ctr">
                      <a:solidFill>
                        <a:srgbClr val="252D3D"/>
                      </a:solidFill>
                      <a:prstDash val="solid"/>
                      <a:round/>
                      <a:headEnd type="none" w="med" len="med"/>
                      <a:tailEnd type="none" w="med" len="med"/>
                    </a:lnL>
                    <a:lnR w="12700" cap="flat" cmpd="sng" algn="ctr">
                      <a:solidFill>
                        <a:srgbClr val="252D3D"/>
                      </a:solidFill>
                      <a:prstDash val="solid"/>
                      <a:round/>
                      <a:headEnd type="none" w="med" len="med"/>
                      <a:tailEnd type="none" w="med" len="med"/>
                    </a:lnR>
                    <a:lnT w="12700" cap="flat" cmpd="sng" algn="ctr">
                      <a:solidFill>
                        <a:srgbClr val="252D3D"/>
                      </a:solidFill>
                      <a:prstDash val="solid"/>
                      <a:round/>
                      <a:headEnd type="none" w="med" len="med"/>
                      <a:tailEnd type="none" w="med" len="med"/>
                    </a:lnT>
                    <a:lnB w="12700" cap="flat" cmpd="sng" algn="ctr">
                      <a:solidFill>
                        <a:srgbClr val="252D3D"/>
                      </a:solidFill>
                      <a:prstDash val="solid"/>
                      <a:round/>
                      <a:headEnd type="none" w="med" len="med"/>
                      <a:tailEnd type="none" w="med" len="med"/>
                    </a:lnB>
                    <a:solidFill>
                      <a:srgbClr val="1A2130"/>
                    </a:solidFill>
                  </a:tcPr>
                </a:tc>
                <a:tc>
                  <a:txBody>
                    <a:bodyPr/>
                    <a:lstStyle/>
                    <a:p>
                      <a:pPr indent="0" marL="0">
                        <a:buNone/>
                      </a:pPr>
                      <a:r>
                        <a:rPr lang="en-US" sz="850" b="1" spc="100" kern="0" dirty="0">
                          <a:solidFill>
                            <a:srgbClr val="22D3EE"/>
                          </a:solidFill>
                          <a:latin typeface="Trenda IG Text" pitchFamily="34" charset="0"/>
                          <a:ea typeface="Trenda IG Text" pitchFamily="34" charset="-122"/>
                          <a:cs typeface="Trenda IG Text" pitchFamily="34" charset="-120"/>
                        </a:rPr>
                        <a:t>First meaningful response</a:t>
                      </a:r>
                      <a:endParaRPr lang="en-US" sz="850" dirty="0">
                        <a:latin typeface="Trenda IG Text" charset="0"/>
                        <a:ea typeface="Trenda IG Text" charset="0"/>
                        <a:cs typeface="Trenda IG Text" charset="0"/>
                      </a:endParaRPr>
                    </a:p>
                  </a:txBody>
                  <a:tcPr marL="88900" marR="88900" marT="50800" marB="50800" anchor="ctr">
                    <a:lnL w="12700" cap="flat" cmpd="sng" algn="ctr">
                      <a:solidFill>
                        <a:srgbClr val="252D3D"/>
                      </a:solidFill>
                      <a:prstDash val="solid"/>
                      <a:round/>
                      <a:headEnd type="none" w="med" len="med"/>
                      <a:tailEnd type="none" w="med" len="med"/>
                    </a:lnL>
                    <a:lnR w="12700" cap="flat" cmpd="sng" algn="ctr">
                      <a:solidFill>
                        <a:srgbClr val="252D3D"/>
                      </a:solidFill>
                      <a:prstDash val="solid"/>
                      <a:round/>
                      <a:headEnd type="none" w="med" len="med"/>
                      <a:tailEnd type="none" w="med" len="med"/>
                    </a:lnR>
                    <a:lnT w="12700" cap="flat" cmpd="sng" algn="ctr">
                      <a:solidFill>
                        <a:srgbClr val="252D3D"/>
                      </a:solidFill>
                      <a:prstDash val="solid"/>
                      <a:round/>
                      <a:headEnd type="none" w="med" len="med"/>
                      <a:tailEnd type="none" w="med" len="med"/>
                    </a:lnT>
                    <a:lnB w="12700" cap="flat" cmpd="sng" algn="ctr">
                      <a:solidFill>
                        <a:srgbClr val="252D3D"/>
                      </a:solidFill>
                      <a:prstDash val="solid"/>
                      <a:round/>
                      <a:headEnd type="none" w="med" len="med"/>
                      <a:tailEnd type="none" w="med" len="med"/>
                    </a:lnB>
                    <a:solidFill>
                      <a:srgbClr val="1A2130"/>
                    </a:solidFill>
                  </a:tcPr>
                </a:tc>
                <a:tc>
                  <a:txBody>
                    <a:bodyPr/>
                    <a:lstStyle/>
                    <a:p>
                      <a:pPr indent="0" marL="0">
                        <a:buNone/>
                      </a:pPr>
                      <a:r>
                        <a:rPr lang="en-US" sz="850" b="1" spc="100" kern="0" dirty="0">
                          <a:solidFill>
                            <a:srgbClr val="22D3EE"/>
                          </a:solidFill>
                          <a:latin typeface="Trenda IG Text" pitchFamily="34" charset="0"/>
                          <a:ea typeface="Trenda IG Text" pitchFamily="34" charset="-122"/>
                          <a:cs typeface="Trenda IG Text" pitchFamily="34" charset="-120"/>
                        </a:rPr>
                        <a:t>Resolution target</a:t>
                      </a:r>
                      <a:endParaRPr lang="en-US" sz="850" dirty="0">
                        <a:latin typeface="Trenda IG Text" charset="0"/>
                        <a:ea typeface="Trenda IG Text" charset="0"/>
                        <a:cs typeface="Trenda IG Text" charset="0"/>
                      </a:endParaRPr>
                    </a:p>
                  </a:txBody>
                  <a:tcPr marL="88900" marR="88900" marT="50800" marB="50800" anchor="ctr">
                    <a:lnL w="12700" cap="flat" cmpd="sng" algn="ctr">
                      <a:solidFill>
                        <a:srgbClr val="252D3D"/>
                      </a:solidFill>
                      <a:prstDash val="solid"/>
                      <a:round/>
                      <a:headEnd type="none" w="med" len="med"/>
                      <a:tailEnd type="none" w="med" len="med"/>
                    </a:lnL>
                    <a:lnR w="12700" cap="flat" cmpd="sng" algn="ctr">
                      <a:solidFill>
                        <a:srgbClr val="252D3D"/>
                      </a:solidFill>
                      <a:prstDash val="solid"/>
                      <a:round/>
                      <a:headEnd type="none" w="med" len="med"/>
                      <a:tailEnd type="none" w="med" len="med"/>
                    </a:lnR>
                    <a:lnT w="12700" cap="flat" cmpd="sng" algn="ctr">
                      <a:solidFill>
                        <a:srgbClr val="252D3D"/>
                      </a:solidFill>
                      <a:prstDash val="solid"/>
                      <a:round/>
                      <a:headEnd type="none" w="med" len="med"/>
                      <a:tailEnd type="none" w="med" len="med"/>
                    </a:lnT>
                    <a:lnB w="12700" cap="flat" cmpd="sng" algn="ctr">
                      <a:solidFill>
                        <a:srgbClr val="252D3D"/>
                      </a:solidFill>
                      <a:prstDash val="solid"/>
                      <a:round/>
                      <a:headEnd type="none" w="med" len="med"/>
                      <a:tailEnd type="none" w="med" len="med"/>
                    </a:lnB>
                    <a:solidFill>
                      <a:srgbClr val="1A2130"/>
                    </a:solidFill>
                  </a:tcPr>
                </a:tc>
              </a:tr>
              <a:tr h="384048">
                <a:tc>
                  <a:txBody>
                    <a:bodyPr/>
                    <a:lstStyle/>
                    <a:p>
                      <a:pPr indent="0" marL="0">
                        <a:buNone/>
                      </a:pPr>
                      <a:r>
                        <a:rPr lang="en-US" sz="900" b="1" dirty="0">
                          <a:solidFill>
                            <a:srgbClr val="FF0069"/>
                          </a:solidFill>
                          <a:latin typeface="Trenda IG Text" pitchFamily="34" charset="0"/>
                          <a:ea typeface="Trenda IG Text" pitchFamily="34" charset="-122"/>
                          <a:cs typeface="Trenda IG Text" pitchFamily="34" charset="-120"/>
                        </a:rPr>
                        <a:t>P1  Critical</a:t>
                      </a:r>
                      <a:endParaRPr lang="en-US" sz="900" dirty="0">
                        <a:latin typeface="Trenda IG Text" charset="0"/>
                        <a:ea typeface="Trenda IG Text" charset="0"/>
                        <a:cs typeface="Trenda IG Text" charset="0"/>
                      </a:endParaRPr>
                    </a:p>
                  </a:txBody>
                  <a:tcPr marL="88900" marR="88900" marT="50800" marB="50800" anchor="ctr">
                    <a:lnL w="12700" cap="flat" cmpd="sng" algn="ctr">
                      <a:solidFill>
                        <a:srgbClr val="252D3D"/>
                      </a:solidFill>
                      <a:prstDash val="solid"/>
                      <a:round/>
                      <a:headEnd type="none" w="med" len="med"/>
                      <a:tailEnd type="none" w="med" len="med"/>
                    </a:lnL>
                    <a:lnR w="12700" cap="flat" cmpd="sng" algn="ctr">
                      <a:solidFill>
                        <a:srgbClr val="252D3D"/>
                      </a:solidFill>
                      <a:prstDash val="solid"/>
                      <a:round/>
                      <a:headEnd type="none" w="med" len="med"/>
                      <a:tailEnd type="none" w="med" len="med"/>
                    </a:lnR>
                    <a:lnT w="12700" cap="flat" cmpd="sng" algn="ctr">
                      <a:solidFill>
                        <a:srgbClr val="252D3D"/>
                      </a:solidFill>
                      <a:prstDash val="solid"/>
                      <a:round/>
                      <a:headEnd type="none" w="med" len="med"/>
                      <a:tailEnd type="none" w="med" len="med"/>
                    </a:lnT>
                    <a:lnB w="12700" cap="flat" cmpd="sng" algn="ctr">
                      <a:solidFill>
                        <a:srgbClr val="252D3D"/>
                      </a:solidFill>
                      <a:prstDash val="solid"/>
                      <a:round/>
                      <a:headEnd type="none" w="med" len="med"/>
                      <a:tailEnd type="none" w="med" len="med"/>
                    </a:lnB>
                    <a:solidFill>
                      <a:srgbClr val="151A24"/>
                    </a:solidFill>
                  </a:tcPr>
                </a:tc>
                <a:tc>
                  <a:txBody>
                    <a:bodyPr/>
                    <a:lstStyle/>
                    <a:p>
                      <a:pPr indent="0" marL="0">
                        <a:buNone/>
                      </a:pPr>
                      <a:r>
                        <a:rPr lang="en-US" sz="900" dirty="0">
                          <a:solidFill>
                            <a:srgbClr val="E6EAF2"/>
                          </a:solidFill>
                          <a:latin typeface="Trenda IG Text" pitchFamily="34" charset="0"/>
                          <a:ea typeface="Trenda IG Text" pitchFamily="34" charset="-122"/>
                          <a:cs typeface="Trenda IG Text" pitchFamily="34" charset="-120"/>
                        </a:rPr>
                        <a:t>15 minutes</a:t>
                      </a:r>
                      <a:endParaRPr lang="en-US" sz="900" dirty="0">
                        <a:latin typeface="Trenda IG Text" charset="0"/>
                        <a:ea typeface="Trenda IG Text" charset="0"/>
                        <a:cs typeface="Trenda IG Text" charset="0"/>
                      </a:endParaRPr>
                    </a:p>
                  </a:txBody>
                  <a:tcPr marL="88900" marR="88900" marT="50800" marB="50800" anchor="ctr">
                    <a:lnL w="12700" cap="flat" cmpd="sng" algn="ctr">
                      <a:solidFill>
                        <a:srgbClr val="252D3D"/>
                      </a:solidFill>
                      <a:prstDash val="solid"/>
                      <a:round/>
                      <a:headEnd type="none" w="med" len="med"/>
                      <a:tailEnd type="none" w="med" len="med"/>
                    </a:lnL>
                    <a:lnR w="12700" cap="flat" cmpd="sng" algn="ctr">
                      <a:solidFill>
                        <a:srgbClr val="252D3D"/>
                      </a:solidFill>
                      <a:prstDash val="solid"/>
                      <a:round/>
                      <a:headEnd type="none" w="med" len="med"/>
                      <a:tailEnd type="none" w="med" len="med"/>
                    </a:lnR>
                    <a:lnT w="12700" cap="flat" cmpd="sng" algn="ctr">
                      <a:solidFill>
                        <a:srgbClr val="252D3D"/>
                      </a:solidFill>
                      <a:prstDash val="solid"/>
                      <a:round/>
                      <a:headEnd type="none" w="med" len="med"/>
                      <a:tailEnd type="none" w="med" len="med"/>
                    </a:lnT>
                    <a:lnB w="12700" cap="flat" cmpd="sng" algn="ctr">
                      <a:solidFill>
                        <a:srgbClr val="252D3D"/>
                      </a:solidFill>
                      <a:prstDash val="solid"/>
                      <a:round/>
                      <a:headEnd type="none" w="med" len="med"/>
                      <a:tailEnd type="none" w="med" len="med"/>
                    </a:lnB>
                    <a:solidFill>
                      <a:srgbClr val="151A24"/>
                    </a:solidFill>
                  </a:tcPr>
                </a:tc>
                <a:tc>
                  <a:txBody>
                    <a:bodyPr/>
                    <a:lstStyle/>
                    <a:p>
                      <a:pPr indent="0" marL="0">
                        <a:buNone/>
                      </a:pPr>
                      <a:r>
                        <a:rPr lang="en-US" sz="900" dirty="0">
                          <a:solidFill>
                            <a:srgbClr val="E6EAF2"/>
                          </a:solidFill>
                          <a:latin typeface="Trenda IG Text" pitchFamily="34" charset="0"/>
                          <a:ea typeface="Trenda IG Text" pitchFamily="34" charset="-122"/>
                          <a:cs typeface="Trenda IG Text" pitchFamily="34" charset="-120"/>
                        </a:rPr>
                        <a:t>1 hour, or continuous active ownership</a:t>
                      </a:r>
                      <a:endParaRPr lang="en-US" sz="900" dirty="0">
                        <a:latin typeface="Trenda IG Text" charset="0"/>
                        <a:ea typeface="Trenda IG Text" charset="0"/>
                        <a:cs typeface="Trenda IG Text" charset="0"/>
                      </a:endParaRPr>
                    </a:p>
                  </a:txBody>
                  <a:tcPr marL="88900" marR="88900" marT="50800" marB="50800" anchor="ctr">
                    <a:lnL w="12700" cap="flat" cmpd="sng" algn="ctr">
                      <a:solidFill>
                        <a:srgbClr val="252D3D"/>
                      </a:solidFill>
                      <a:prstDash val="solid"/>
                      <a:round/>
                      <a:headEnd type="none" w="med" len="med"/>
                      <a:tailEnd type="none" w="med" len="med"/>
                    </a:lnL>
                    <a:lnR w="12700" cap="flat" cmpd="sng" algn="ctr">
                      <a:solidFill>
                        <a:srgbClr val="252D3D"/>
                      </a:solidFill>
                      <a:prstDash val="solid"/>
                      <a:round/>
                      <a:headEnd type="none" w="med" len="med"/>
                      <a:tailEnd type="none" w="med" len="med"/>
                    </a:lnR>
                    <a:lnT w="12700" cap="flat" cmpd="sng" algn="ctr">
                      <a:solidFill>
                        <a:srgbClr val="252D3D"/>
                      </a:solidFill>
                      <a:prstDash val="solid"/>
                      <a:round/>
                      <a:headEnd type="none" w="med" len="med"/>
                      <a:tailEnd type="none" w="med" len="med"/>
                    </a:lnT>
                    <a:lnB w="12700" cap="flat" cmpd="sng" algn="ctr">
                      <a:solidFill>
                        <a:srgbClr val="252D3D"/>
                      </a:solidFill>
                      <a:prstDash val="solid"/>
                      <a:round/>
                      <a:headEnd type="none" w="med" len="med"/>
                      <a:tailEnd type="none" w="med" len="med"/>
                    </a:lnB>
                    <a:solidFill>
                      <a:srgbClr val="151A24"/>
                    </a:solidFill>
                  </a:tcPr>
                </a:tc>
              </a:tr>
              <a:tr h="384048">
                <a:tc>
                  <a:txBody>
                    <a:bodyPr/>
                    <a:lstStyle/>
                    <a:p>
                      <a:pPr indent="0" marL="0">
                        <a:buNone/>
                      </a:pPr>
                      <a:r>
                        <a:rPr lang="en-US" sz="900" b="1" dirty="0">
                          <a:solidFill>
                            <a:srgbClr val="F59E0B"/>
                          </a:solidFill>
                          <a:latin typeface="Trenda IG Text" pitchFamily="34" charset="0"/>
                          <a:ea typeface="Trenda IG Text" pitchFamily="34" charset="-122"/>
                          <a:cs typeface="Trenda IG Text" pitchFamily="34" charset="-120"/>
                        </a:rPr>
                        <a:t>P2  High</a:t>
                      </a:r>
                      <a:endParaRPr lang="en-US" sz="900" dirty="0">
                        <a:latin typeface="Trenda IG Text" charset="0"/>
                        <a:ea typeface="Trenda IG Text" charset="0"/>
                        <a:cs typeface="Trenda IG Text" charset="0"/>
                      </a:endParaRPr>
                    </a:p>
                  </a:txBody>
                  <a:tcPr marL="88900" marR="88900" marT="50800" marB="50800" anchor="ctr">
                    <a:lnL w="12700" cap="flat" cmpd="sng" algn="ctr">
                      <a:solidFill>
                        <a:srgbClr val="252D3D"/>
                      </a:solidFill>
                      <a:prstDash val="solid"/>
                      <a:round/>
                      <a:headEnd type="none" w="med" len="med"/>
                      <a:tailEnd type="none" w="med" len="med"/>
                    </a:lnL>
                    <a:lnR w="12700" cap="flat" cmpd="sng" algn="ctr">
                      <a:solidFill>
                        <a:srgbClr val="252D3D"/>
                      </a:solidFill>
                      <a:prstDash val="solid"/>
                      <a:round/>
                      <a:headEnd type="none" w="med" len="med"/>
                      <a:tailEnd type="none" w="med" len="med"/>
                    </a:lnR>
                    <a:lnT w="12700" cap="flat" cmpd="sng" algn="ctr">
                      <a:solidFill>
                        <a:srgbClr val="252D3D"/>
                      </a:solidFill>
                      <a:prstDash val="solid"/>
                      <a:round/>
                      <a:headEnd type="none" w="med" len="med"/>
                      <a:tailEnd type="none" w="med" len="med"/>
                    </a:lnT>
                    <a:lnB w="12700" cap="flat" cmpd="sng" algn="ctr">
                      <a:solidFill>
                        <a:srgbClr val="252D3D"/>
                      </a:solidFill>
                      <a:prstDash val="solid"/>
                      <a:round/>
                      <a:headEnd type="none" w="med" len="med"/>
                      <a:tailEnd type="none" w="med" len="med"/>
                    </a:lnB>
                    <a:solidFill>
                      <a:srgbClr val="151A24"/>
                    </a:solidFill>
                  </a:tcPr>
                </a:tc>
                <a:tc>
                  <a:txBody>
                    <a:bodyPr/>
                    <a:lstStyle/>
                    <a:p>
                      <a:pPr indent="0" marL="0">
                        <a:buNone/>
                      </a:pPr>
                      <a:r>
                        <a:rPr lang="en-US" sz="900" dirty="0">
                          <a:solidFill>
                            <a:srgbClr val="E6EAF2"/>
                          </a:solidFill>
                          <a:latin typeface="Trenda IG Text" pitchFamily="34" charset="0"/>
                          <a:ea typeface="Trenda IG Text" pitchFamily="34" charset="-122"/>
                          <a:cs typeface="Trenda IG Text" pitchFamily="34" charset="-120"/>
                        </a:rPr>
                        <a:t>30 minutes</a:t>
                      </a:r>
                      <a:endParaRPr lang="en-US" sz="900" dirty="0">
                        <a:latin typeface="Trenda IG Text" charset="0"/>
                        <a:ea typeface="Trenda IG Text" charset="0"/>
                        <a:cs typeface="Trenda IG Text" charset="0"/>
                      </a:endParaRPr>
                    </a:p>
                  </a:txBody>
                  <a:tcPr marL="88900" marR="88900" marT="50800" marB="50800" anchor="ctr">
                    <a:lnL w="12700" cap="flat" cmpd="sng" algn="ctr">
                      <a:solidFill>
                        <a:srgbClr val="252D3D"/>
                      </a:solidFill>
                      <a:prstDash val="solid"/>
                      <a:round/>
                      <a:headEnd type="none" w="med" len="med"/>
                      <a:tailEnd type="none" w="med" len="med"/>
                    </a:lnL>
                    <a:lnR w="12700" cap="flat" cmpd="sng" algn="ctr">
                      <a:solidFill>
                        <a:srgbClr val="252D3D"/>
                      </a:solidFill>
                      <a:prstDash val="solid"/>
                      <a:round/>
                      <a:headEnd type="none" w="med" len="med"/>
                      <a:tailEnd type="none" w="med" len="med"/>
                    </a:lnR>
                    <a:lnT w="12700" cap="flat" cmpd="sng" algn="ctr">
                      <a:solidFill>
                        <a:srgbClr val="252D3D"/>
                      </a:solidFill>
                      <a:prstDash val="solid"/>
                      <a:round/>
                      <a:headEnd type="none" w="med" len="med"/>
                      <a:tailEnd type="none" w="med" len="med"/>
                    </a:lnT>
                    <a:lnB w="12700" cap="flat" cmpd="sng" algn="ctr">
                      <a:solidFill>
                        <a:srgbClr val="252D3D"/>
                      </a:solidFill>
                      <a:prstDash val="solid"/>
                      <a:round/>
                      <a:headEnd type="none" w="med" len="med"/>
                      <a:tailEnd type="none" w="med" len="med"/>
                    </a:lnB>
                    <a:solidFill>
                      <a:srgbClr val="151A24"/>
                    </a:solidFill>
                  </a:tcPr>
                </a:tc>
                <a:tc>
                  <a:txBody>
                    <a:bodyPr/>
                    <a:lstStyle/>
                    <a:p>
                      <a:pPr indent="0" marL="0">
                        <a:buNone/>
                      </a:pPr>
                      <a:r>
                        <a:rPr lang="en-US" sz="900" dirty="0">
                          <a:solidFill>
                            <a:srgbClr val="E6EAF2"/>
                          </a:solidFill>
                          <a:latin typeface="Trenda IG Text" pitchFamily="34" charset="0"/>
                          <a:ea typeface="Trenda IG Text" pitchFamily="34" charset="-122"/>
                          <a:cs typeface="Trenda IG Text" pitchFamily="34" charset="-120"/>
                        </a:rPr>
                        <a:t>4 business hours</a:t>
                      </a:r>
                      <a:endParaRPr lang="en-US" sz="900" dirty="0">
                        <a:latin typeface="Trenda IG Text" charset="0"/>
                        <a:ea typeface="Trenda IG Text" charset="0"/>
                        <a:cs typeface="Trenda IG Text" charset="0"/>
                      </a:endParaRPr>
                    </a:p>
                  </a:txBody>
                  <a:tcPr marL="88900" marR="88900" marT="50800" marB="50800" anchor="ctr">
                    <a:lnL w="12700" cap="flat" cmpd="sng" algn="ctr">
                      <a:solidFill>
                        <a:srgbClr val="252D3D"/>
                      </a:solidFill>
                      <a:prstDash val="solid"/>
                      <a:round/>
                      <a:headEnd type="none" w="med" len="med"/>
                      <a:tailEnd type="none" w="med" len="med"/>
                    </a:lnL>
                    <a:lnR w="12700" cap="flat" cmpd="sng" algn="ctr">
                      <a:solidFill>
                        <a:srgbClr val="252D3D"/>
                      </a:solidFill>
                      <a:prstDash val="solid"/>
                      <a:round/>
                      <a:headEnd type="none" w="med" len="med"/>
                      <a:tailEnd type="none" w="med" len="med"/>
                    </a:lnR>
                    <a:lnT w="12700" cap="flat" cmpd="sng" algn="ctr">
                      <a:solidFill>
                        <a:srgbClr val="252D3D"/>
                      </a:solidFill>
                      <a:prstDash val="solid"/>
                      <a:round/>
                      <a:headEnd type="none" w="med" len="med"/>
                      <a:tailEnd type="none" w="med" len="med"/>
                    </a:lnT>
                    <a:lnB w="12700" cap="flat" cmpd="sng" algn="ctr">
                      <a:solidFill>
                        <a:srgbClr val="252D3D"/>
                      </a:solidFill>
                      <a:prstDash val="solid"/>
                      <a:round/>
                      <a:headEnd type="none" w="med" len="med"/>
                      <a:tailEnd type="none" w="med" len="med"/>
                    </a:lnB>
                    <a:solidFill>
                      <a:srgbClr val="151A24"/>
                    </a:solidFill>
                  </a:tcPr>
                </a:tc>
              </a:tr>
              <a:tr h="384048">
                <a:tc>
                  <a:txBody>
                    <a:bodyPr/>
                    <a:lstStyle/>
                    <a:p>
                      <a:pPr indent="0" marL="0">
                        <a:buNone/>
                      </a:pPr>
                      <a:r>
                        <a:rPr lang="en-US" sz="900" b="1" dirty="0">
                          <a:solidFill>
                            <a:srgbClr val="22D3EE"/>
                          </a:solidFill>
                          <a:latin typeface="Trenda IG Text" pitchFamily="34" charset="0"/>
                          <a:ea typeface="Trenda IG Text" pitchFamily="34" charset="-122"/>
                          <a:cs typeface="Trenda IG Text" pitchFamily="34" charset="-120"/>
                        </a:rPr>
                        <a:t>P3  Standard</a:t>
                      </a:r>
                      <a:endParaRPr lang="en-US" sz="900" dirty="0">
                        <a:latin typeface="Trenda IG Text" charset="0"/>
                        <a:ea typeface="Trenda IG Text" charset="0"/>
                        <a:cs typeface="Trenda IG Text" charset="0"/>
                      </a:endParaRPr>
                    </a:p>
                  </a:txBody>
                  <a:tcPr marL="88900" marR="88900" marT="50800" marB="50800" anchor="ctr">
                    <a:lnL w="12700" cap="flat" cmpd="sng" algn="ctr">
                      <a:solidFill>
                        <a:srgbClr val="252D3D"/>
                      </a:solidFill>
                      <a:prstDash val="solid"/>
                      <a:round/>
                      <a:headEnd type="none" w="med" len="med"/>
                      <a:tailEnd type="none" w="med" len="med"/>
                    </a:lnL>
                    <a:lnR w="12700" cap="flat" cmpd="sng" algn="ctr">
                      <a:solidFill>
                        <a:srgbClr val="252D3D"/>
                      </a:solidFill>
                      <a:prstDash val="solid"/>
                      <a:round/>
                      <a:headEnd type="none" w="med" len="med"/>
                      <a:tailEnd type="none" w="med" len="med"/>
                    </a:lnR>
                    <a:lnT w="12700" cap="flat" cmpd="sng" algn="ctr">
                      <a:solidFill>
                        <a:srgbClr val="252D3D"/>
                      </a:solidFill>
                      <a:prstDash val="solid"/>
                      <a:round/>
                      <a:headEnd type="none" w="med" len="med"/>
                      <a:tailEnd type="none" w="med" len="med"/>
                    </a:lnT>
                    <a:lnB w="12700" cap="flat" cmpd="sng" algn="ctr">
                      <a:solidFill>
                        <a:srgbClr val="252D3D"/>
                      </a:solidFill>
                      <a:prstDash val="solid"/>
                      <a:round/>
                      <a:headEnd type="none" w="med" len="med"/>
                      <a:tailEnd type="none" w="med" len="med"/>
                    </a:lnB>
                    <a:solidFill>
                      <a:srgbClr val="151A24"/>
                    </a:solidFill>
                  </a:tcPr>
                </a:tc>
                <a:tc>
                  <a:txBody>
                    <a:bodyPr/>
                    <a:lstStyle/>
                    <a:p>
                      <a:pPr indent="0" marL="0">
                        <a:buNone/>
                      </a:pPr>
                      <a:r>
                        <a:rPr lang="en-US" sz="900" dirty="0">
                          <a:solidFill>
                            <a:srgbClr val="E6EAF2"/>
                          </a:solidFill>
                          <a:latin typeface="Trenda IG Text" pitchFamily="34" charset="0"/>
                          <a:ea typeface="Trenda IG Text" pitchFamily="34" charset="-122"/>
                          <a:cs typeface="Trenda IG Text" pitchFamily="34" charset="-120"/>
                        </a:rPr>
                        <a:t>2 business hours</a:t>
                      </a:r>
                      <a:endParaRPr lang="en-US" sz="900" dirty="0">
                        <a:latin typeface="Trenda IG Text" charset="0"/>
                        <a:ea typeface="Trenda IG Text" charset="0"/>
                        <a:cs typeface="Trenda IG Text" charset="0"/>
                      </a:endParaRPr>
                    </a:p>
                  </a:txBody>
                  <a:tcPr marL="88900" marR="88900" marT="50800" marB="50800" anchor="ctr">
                    <a:lnL w="12700" cap="flat" cmpd="sng" algn="ctr">
                      <a:solidFill>
                        <a:srgbClr val="252D3D"/>
                      </a:solidFill>
                      <a:prstDash val="solid"/>
                      <a:round/>
                      <a:headEnd type="none" w="med" len="med"/>
                      <a:tailEnd type="none" w="med" len="med"/>
                    </a:lnL>
                    <a:lnR w="12700" cap="flat" cmpd="sng" algn="ctr">
                      <a:solidFill>
                        <a:srgbClr val="252D3D"/>
                      </a:solidFill>
                      <a:prstDash val="solid"/>
                      <a:round/>
                      <a:headEnd type="none" w="med" len="med"/>
                      <a:tailEnd type="none" w="med" len="med"/>
                    </a:lnR>
                    <a:lnT w="12700" cap="flat" cmpd="sng" algn="ctr">
                      <a:solidFill>
                        <a:srgbClr val="252D3D"/>
                      </a:solidFill>
                      <a:prstDash val="solid"/>
                      <a:round/>
                      <a:headEnd type="none" w="med" len="med"/>
                      <a:tailEnd type="none" w="med" len="med"/>
                    </a:lnT>
                    <a:lnB w="12700" cap="flat" cmpd="sng" algn="ctr">
                      <a:solidFill>
                        <a:srgbClr val="252D3D"/>
                      </a:solidFill>
                      <a:prstDash val="solid"/>
                      <a:round/>
                      <a:headEnd type="none" w="med" len="med"/>
                      <a:tailEnd type="none" w="med" len="med"/>
                    </a:lnB>
                    <a:solidFill>
                      <a:srgbClr val="151A24"/>
                    </a:solidFill>
                  </a:tcPr>
                </a:tc>
                <a:tc>
                  <a:txBody>
                    <a:bodyPr/>
                    <a:lstStyle/>
                    <a:p>
                      <a:pPr indent="0" marL="0">
                        <a:buNone/>
                      </a:pPr>
                      <a:r>
                        <a:rPr lang="en-US" sz="900" dirty="0">
                          <a:solidFill>
                            <a:srgbClr val="E6EAF2"/>
                          </a:solidFill>
                          <a:latin typeface="Trenda IG Text" pitchFamily="34" charset="0"/>
                          <a:ea typeface="Trenda IG Text" pitchFamily="34" charset="-122"/>
                          <a:cs typeface="Trenda IG Text" pitchFamily="34" charset="-120"/>
                        </a:rPr>
                        <a:t>1 business day</a:t>
                      </a:r>
                      <a:endParaRPr lang="en-US" sz="900" dirty="0">
                        <a:latin typeface="Trenda IG Text" charset="0"/>
                        <a:ea typeface="Trenda IG Text" charset="0"/>
                        <a:cs typeface="Trenda IG Text" charset="0"/>
                      </a:endParaRPr>
                    </a:p>
                  </a:txBody>
                  <a:tcPr marL="88900" marR="88900" marT="50800" marB="50800" anchor="ctr">
                    <a:lnL w="12700" cap="flat" cmpd="sng" algn="ctr">
                      <a:solidFill>
                        <a:srgbClr val="252D3D"/>
                      </a:solidFill>
                      <a:prstDash val="solid"/>
                      <a:round/>
                      <a:headEnd type="none" w="med" len="med"/>
                      <a:tailEnd type="none" w="med" len="med"/>
                    </a:lnL>
                    <a:lnR w="12700" cap="flat" cmpd="sng" algn="ctr">
                      <a:solidFill>
                        <a:srgbClr val="252D3D"/>
                      </a:solidFill>
                      <a:prstDash val="solid"/>
                      <a:round/>
                      <a:headEnd type="none" w="med" len="med"/>
                      <a:tailEnd type="none" w="med" len="med"/>
                    </a:lnR>
                    <a:lnT w="12700" cap="flat" cmpd="sng" algn="ctr">
                      <a:solidFill>
                        <a:srgbClr val="252D3D"/>
                      </a:solidFill>
                      <a:prstDash val="solid"/>
                      <a:round/>
                      <a:headEnd type="none" w="med" len="med"/>
                      <a:tailEnd type="none" w="med" len="med"/>
                    </a:lnT>
                    <a:lnB w="12700" cap="flat" cmpd="sng" algn="ctr">
                      <a:solidFill>
                        <a:srgbClr val="252D3D"/>
                      </a:solidFill>
                      <a:prstDash val="solid"/>
                      <a:round/>
                      <a:headEnd type="none" w="med" len="med"/>
                      <a:tailEnd type="none" w="med" len="med"/>
                    </a:lnB>
                    <a:solidFill>
                      <a:srgbClr val="151A24"/>
                    </a:solidFill>
                  </a:tcPr>
                </a:tc>
              </a:tr>
              <a:tr h="384048">
                <a:tc>
                  <a:txBody>
                    <a:bodyPr/>
                    <a:lstStyle/>
                    <a:p>
                      <a:pPr indent="0" marL="0">
                        <a:buNone/>
                      </a:pPr>
                      <a:r>
                        <a:rPr lang="en-US" sz="900" b="1" dirty="0">
                          <a:solidFill>
                            <a:srgbClr val="8A94A6"/>
                          </a:solidFill>
                          <a:latin typeface="Trenda IG Text" pitchFamily="34" charset="0"/>
                          <a:ea typeface="Trenda IG Text" pitchFamily="34" charset="-122"/>
                          <a:cs typeface="Trenda IG Text" pitchFamily="34" charset="-120"/>
                        </a:rPr>
                        <a:t>P4  Low</a:t>
                      </a:r>
                      <a:endParaRPr lang="en-US" sz="900" dirty="0">
                        <a:latin typeface="Trenda IG Text" charset="0"/>
                        <a:ea typeface="Trenda IG Text" charset="0"/>
                        <a:cs typeface="Trenda IG Text" charset="0"/>
                      </a:endParaRPr>
                    </a:p>
                  </a:txBody>
                  <a:tcPr marL="88900" marR="88900" marT="50800" marB="50800" anchor="ctr">
                    <a:lnL w="12700" cap="flat" cmpd="sng" algn="ctr">
                      <a:solidFill>
                        <a:srgbClr val="252D3D"/>
                      </a:solidFill>
                      <a:prstDash val="solid"/>
                      <a:round/>
                      <a:headEnd type="none" w="med" len="med"/>
                      <a:tailEnd type="none" w="med" len="med"/>
                    </a:lnL>
                    <a:lnR w="12700" cap="flat" cmpd="sng" algn="ctr">
                      <a:solidFill>
                        <a:srgbClr val="252D3D"/>
                      </a:solidFill>
                      <a:prstDash val="solid"/>
                      <a:round/>
                      <a:headEnd type="none" w="med" len="med"/>
                      <a:tailEnd type="none" w="med" len="med"/>
                    </a:lnR>
                    <a:lnT w="12700" cap="flat" cmpd="sng" algn="ctr">
                      <a:solidFill>
                        <a:srgbClr val="252D3D"/>
                      </a:solidFill>
                      <a:prstDash val="solid"/>
                      <a:round/>
                      <a:headEnd type="none" w="med" len="med"/>
                      <a:tailEnd type="none" w="med" len="med"/>
                    </a:lnT>
                    <a:lnB w="12700" cap="flat" cmpd="sng" algn="ctr">
                      <a:solidFill>
                        <a:srgbClr val="252D3D"/>
                      </a:solidFill>
                      <a:prstDash val="solid"/>
                      <a:round/>
                      <a:headEnd type="none" w="med" len="med"/>
                      <a:tailEnd type="none" w="med" len="med"/>
                    </a:lnB>
                    <a:solidFill>
                      <a:srgbClr val="151A24"/>
                    </a:solidFill>
                  </a:tcPr>
                </a:tc>
                <a:tc>
                  <a:txBody>
                    <a:bodyPr/>
                    <a:lstStyle/>
                    <a:p>
                      <a:pPr indent="0" marL="0">
                        <a:buNone/>
                      </a:pPr>
                      <a:r>
                        <a:rPr lang="en-US" sz="900" dirty="0">
                          <a:solidFill>
                            <a:srgbClr val="E6EAF2"/>
                          </a:solidFill>
                          <a:latin typeface="Trenda IG Text" pitchFamily="34" charset="0"/>
                          <a:ea typeface="Trenda IG Text" pitchFamily="34" charset="-122"/>
                          <a:cs typeface="Trenda IG Text" pitchFamily="34" charset="-120"/>
                        </a:rPr>
                        <a:t>4 business hours</a:t>
                      </a:r>
                      <a:endParaRPr lang="en-US" sz="900" dirty="0">
                        <a:latin typeface="Trenda IG Text" charset="0"/>
                        <a:ea typeface="Trenda IG Text" charset="0"/>
                        <a:cs typeface="Trenda IG Text" charset="0"/>
                      </a:endParaRPr>
                    </a:p>
                  </a:txBody>
                  <a:tcPr marL="88900" marR="88900" marT="50800" marB="50800" anchor="ctr">
                    <a:lnL w="12700" cap="flat" cmpd="sng" algn="ctr">
                      <a:solidFill>
                        <a:srgbClr val="252D3D"/>
                      </a:solidFill>
                      <a:prstDash val="solid"/>
                      <a:round/>
                      <a:headEnd type="none" w="med" len="med"/>
                      <a:tailEnd type="none" w="med" len="med"/>
                    </a:lnL>
                    <a:lnR w="12700" cap="flat" cmpd="sng" algn="ctr">
                      <a:solidFill>
                        <a:srgbClr val="252D3D"/>
                      </a:solidFill>
                      <a:prstDash val="solid"/>
                      <a:round/>
                      <a:headEnd type="none" w="med" len="med"/>
                      <a:tailEnd type="none" w="med" len="med"/>
                    </a:lnR>
                    <a:lnT w="12700" cap="flat" cmpd="sng" algn="ctr">
                      <a:solidFill>
                        <a:srgbClr val="252D3D"/>
                      </a:solidFill>
                      <a:prstDash val="solid"/>
                      <a:round/>
                      <a:headEnd type="none" w="med" len="med"/>
                      <a:tailEnd type="none" w="med" len="med"/>
                    </a:lnT>
                    <a:lnB w="12700" cap="flat" cmpd="sng" algn="ctr">
                      <a:solidFill>
                        <a:srgbClr val="252D3D"/>
                      </a:solidFill>
                      <a:prstDash val="solid"/>
                      <a:round/>
                      <a:headEnd type="none" w="med" len="med"/>
                      <a:tailEnd type="none" w="med" len="med"/>
                    </a:lnB>
                    <a:solidFill>
                      <a:srgbClr val="151A24"/>
                    </a:solidFill>
                  </a:tcPr>
                </a:tc>
                <a:tc>
                  <a:txBody>
                    <a:bodyPr/>
                    <a:lstStyle/>
                    <a:p>
                      <a:pPr indent="0" marL="0">
                        <a:buNone/>
                      </a:pPr>
                      <a:r>
                        <a:rPr lang="en-US" sz="900" dirty="0">
                          <a:solidFill>
                            <a:srgbClr val="E6EAF2"/>
                          </a:solidFill>
                          <a:latin typeface="Trenda IG Text" pitchFamily="34" charset="0"/>
                          <a:ea typeface="Trenda IG Text" pitchFamily="34" charset="-122"/>
                          <a:cs typeface="Trenda IG Text" pitchFamily="34" charset="-120"/>
                        </a:rPr>
                        <a:t>2 to 3 business days</a:t>
                      </a:r>
                      <a:endParaRPr lang="en-US" sz="900" dirty="0">
                        <a:latin typeface="Trenda IG Text" charset="0"/>
                        <a:ea typeface="Trenda IG Text" charset="0"/>
                        <a:cs typeface="Trenda IG Text" charset="0"/>
                      </a:endParaRPr>
                    </a:p>
                  </a:txBody>
                  <a:tcPr marL="88900" marR="88900" marT="50800" marB="50800" anchor="ctr">
                    <a:lnL w="12700" cap="flat" cmpd="sng" algn="ctr">
                      <a:solidFill>
                        <a:srgbClr val="252D3D"/>
                      </a:solidFill>
                      <a:prstDash val="solid"/>
                      <a:round/>
                      <a:headEnd type="none" w="med" len="med"/>
                      <a:tailEnd type="none" w="med" len="med"/>
                    </a:lnL>
                    <a:lnR w="12700" cap="flat" cmpd="sng" algn="ctr">
                      <a:solidFill>
                        <a:srgbClr val="252D3D"/>
                      </a:solidFill>
                      <a:prstDash val="solid"/>
                      <a:round/>
                      <a:headEnd type="none" w="med" len="med"/>
                      <a:tailEnd type="none" w="med" len="med"/>
                    </a:lnR>
                    <a:lnT w="12700" cap="flat" cmpd="sng" algn="ctr">
                      <a:solidFill>
                        <a:srgbClr val="252D3D"/>
                      </a:solidFill>
                      <a:prstDash val="solid"/>
                      <a:round/>
                      <a:headEnd type="none" w="med" len="med"/>
                      <a:tailEnd type="none" w="med" len="med"/>
                    </a:lnT>
                    <a:lnB w="12700" cap="flat" cmpd="sng" algn="ctr">
                      <a:solidFill>
                        <a:srgbClr val="252D3D"/>
                      </a:solidFill>
                      <a:prstDash val="solid"/>
                      <a:round/>
                      <a:headEnd type="none" w="med" len="med"/>
                      <a:tailEnd type="none" w="med" len="med"/>
                    </a:lnB>
                    <a:solidFill>
                      <a:srgbClr val="151A24"/>
                    </a:solidFill>
                  </a:tcPr>
                </a:tc>
              </a:tr>
            </a:tbl>
          </a:graphicData>
        </a:graphic>
      </p:graphicFrame>
      <p:sp>
        <p:nvSpPr>
          <p:cNvPr id="15" name="Shape 12"/>
          <p:cNvSpPr/>
          <p:nvPr/>
        </p:nvSpPr>
        <p:spPr>
          <a:xfrm>
            <a:off x="7397496" y="3991356"/>
            <a:ext cx="4288536" cy="2194560"/>
          </a:xfrm>
          <a:prstGeom prst="roundRect">
            <a:avLst>
              <a:gd name="adj" fmla="val 1667"/>
            </a:avLst>
          </a:prstGeom>
          <a:solidFill>
            <a:srgbClr val="151A24"/>
          </a:solidFill>
          <a:ln w="12700">
            <a:solidFill>
              <a:srgbClr val="252D3D"/>
            </a:solidFill>
            <a:prstDash val="solid"/>
          </a:ln>
        </p:spPr>
      </p:sp>
      <p:sp>
        <p:nvSpPr>
          <p:cNvPr id="16" name="Text 13"/>
          <p:cNvSpPr txBox="1"/>
          <p:nvPr/>
        </p:nvSpPr>
        <p:spPr>
          <a:xfrm>
            <a:off x="7616952" y="4155948"/>
            <a:ext cx="3849624" cy="201168"/>
          </a:xfrm>
          <a:prstGeom prst="rect">
            <a:avLst/>
          </a:prstGeom>
          <a:noFill/>
          <a:ln/>
        </p:spPr>
        <p:txBody>
          <a:bodyPr wrap="square" lIns="0" tIns="0" rIns="0" bIns="0" rtlCol="0" anchor="ctr"/>
          <a:lstStyle/>
          <a:p>
            <a:pPr indent="0" marL="0">
              <a:buNone/>
            </a:pPr>
            <a:r>
              <a:rPr lang="en-US" sz="1000" b="1" spc="140" kern="0" dirty="0">
                <a:solidFill>
                  <a:srgbClr val="FFFFFF"/>
                </a:solidFill>
                <a:latin typeface="Trenda IG Display" pitchFamily="34" charset="0"/>
                <a:ea typeface="Trenda IG Display" pitchFamily="34" charset="-122"/>
                <a:cs typeface="Trenda IG Display" pitchFamily="34" charset="-120"/>
              </a:rPr>
              <a:t>RECONCILED TO THE CASE TYPE TARGETS</a:t>
            </a:r>
            <a:endParaRPr lang="en-US" sz="1000" dirty="0"/>
          </a:p>
        </p:txBody>
      </p:sp>
      <p:sp>
        <p:nvSpPr>
          <p:cNvPr id="17" name="Text 14"/>
          <p:cNvSpPr txBox="1"/>
          <p:nvPr/>
        </p:nvSpPr>
        <p:spPr>
          <a:xfrm>
            <a:off x="7616952" y="4411980"/>
            <a:ext cx="3849624" cy="475488"/>
          </a:xfrm>
          <a:prstGeom prst="rect">
            <a:avLst/>
          </a:prstGeom>
          <a:noFill/>
          <a:ln/>
        </p:spPr>
        <p:txBody>
          <a:bodyPr wrap="square" lIns="0" tIns="0" rIns="0" bIns="0" rtlCol="0" anchor="t"/>
          <a:lstStyle/>
          <a:p>
            <a:pPr indent="0" marL="0">
              <a:lnSpc>
                <a:spcPts val="1150"/>
              </a:lnSpc>
              <a:buNone/>
            </a:pPr>
            <a:r>
              <a:rPr lang="en-US" sz="850" dirty="0">
                <a:solidFill>
                  <a:srgbClr val="8A94A6"/>
                </a:solidFill>
                <a:latin typeface="Trenda IG Text" pitchFamily="34" charset="0"/>
                <a:ea typeface="Trenda IG Text" pitchFamily="34" charset="-122"/>
                <a:cs typeface="Trenda IG Text" pitchFamily="34" charset="-120"/>
              </a:rPr>
              <a:t>The turnaround goals McKesson has already set remain the operating commitment. Priority tiers sit over them to decide what gets attention first when both are in play.</a:t>
            </a:r>
            <a:endParaRPr lang="en-US" sz="850" dirty="0"/>
          </a:p>
        </p:txBody>
      </p:sp>
      <p:sp>
        <p:nvSpPr>
          <p:cNvPr id="18" name="Text 15"/>
          <p:cNvSpPr txBox="1"/>
          <p:nvPr/>
        </p:nvSpPr>
        <p:spPr>
          <a:xfrm>
            <a:off x="7616952" y="4942332"/>
            <a:ext cx="2734056" cy="228600"/>
          </a:xfrm>
          <a:prstGeom prst="rect">
            <a:avLst/>
          </a:prstGeom>
          <a:noFill/>
          <a:ln/>
        </p:spPr>
        <p:txBody>
          <a:bodyPr wrap="square" lIns="0" tIns="0" rIns="0" bIns="0" rtlCol="0" anchor="ctr"/>
          <a:lstStyle/>
          <a:p>
            <a:pPr indent="0" marL="0">
              <a:buNone/>
            </a:pPr>
            <a:r>
              <a:rPr lang="en-US" sz="850" dirty="0">
                <a:solidFill>
                  <a:srgbClr val="E6EAF2"/>
                </a:solidFill>
                <a:latin typeface="Trenda IG Text" pitchFamily="34" charset="0"/>
                <a:ea typeface="Trenda IG Text" pitchFamily="34" charset="-122"/>
                <a:cs typeface="Trenda IG Text" pitchFamily="34" charset="-120"/>
              </a:rPr>
              <a:t>Place or modify order</a:t>
            </a:r>
            <a:endParaRPr lang="en-US" sz="850" dirty="0"/>
          </a:p>
        </p:txBody>
      </p:sp>
      <p:sp>
        <p:nvSpPr>
          <p:cNvPr id="19" name="Text 16"/>
          <p:cNvSpPr txBox="1"/>
          <p:nvPr/>
        </p:nvSpPr>
        <p:spPr>
          <a:xfrm>
            <a:off x="10222992" y="4942332"/>
            <a:ext cx="1243584" cy="228600"/>
          </a:xfrm>
          <a:prstGeom prst="rect">
            <a:avLst/>
          </a:prstGeom>
          <a:noFill/>
          <a:ln/>
        </p:spPr>
        <p:txBody>
          <a:bodyPr wrap="square" lIns="0" tIns="0" rIns="0" bIns="0" rtlCol="0" anchor="ctr"/>
          <a:lstStyle/>
          <a:p>
            <a:pPr algn="r" indent="0" marL="0">
              <a:buNone/>
            </a:pPr>
            <a:r>
              <a:rPr lang="en-US" sz="850" b="1" dirty="0">
                <a:solidFill>
                  <a:srgbClr val="22D3EE"/>
                </a:solidFill>
                <a:latin typeface="Trenda IG Text" pitchFamily="34" charset="0"/>
                <a:ea typeface="Trenda IG Text" pitchFamily="34" charset="-122"/>
                <a:cs typeface="Trenda IG Text" pitchFamily="34" charset="-120"/>
              </a:rPr>
              <a:t>1 hour</a:t>
            </a:r>
            <a:endParaRPr lang="en-US" sz="850" dirty="0"/>
          </a:p>
        </p:txBody>
      </p:sp>
      <p:sp>
        <p:nvSpPr>
          <p:cNvPr id="20" name="Text 17"/>
          <p:cNvSpPr txBox="1"/>
          <p:nvPr/>
        </p:nvSpPr>
        <p:spPr>
          <a:xfrm>
            <a:off x="7616952" y="5189220"/>
            <a:ext cx="2734056" cy="228600"/>
          </a:xfrm>
          <a:prstGeom prst="rect">
            <a:avLst/>
          </a:prstGeom>
          <a:noFill/>
          <a:ln/>
        </p:spPr>
        <p:txBody>
          <a:bodyPr wrap="square" lIns="0" tIns="0" rIns="0" bIns="0" rtlCol="0" anchor="ctr"/>
          <a:lstStyle/>
          <a:p>
            <a:pPr indent="0" marL="0">
              <a:buNone/>
            </a:pPr>
            <a:r>
              <a:rPr lang="en-US" sz="850" dirty="0">
                <a:solidFill>
                  <a:srgbClr val="E6EAF2"/>
                </a:solidFill>
                <a:latin typeface="Trenda IG Text" pitchFamily="34" charset="0"/>
                <a:ea typeface="Trenda IG Text" pitchFamily="34" charset="-122"/>
                <a:cs typeface="Trenda IG Text" pitchFamily="34" charset="-120"/>
              </a:rPr>
              <a:t>Order status or tracking</a:t>
            </a:r>
            <a:endParaRPr lang="en-US" sz="850" dirty="0"/>
          </a:p>
        </p:txBody>
      </p:sp>
      <p:sp>
        <p:nvSpPr>
          <p:cNvPr id="21" name="Text 18"/>
          <p:cNvSpPr txBox="1"/>
          <p:nvPr/>
        </p:nvSpPr>
        <p:spPr>
          <a:xfrm>
            <a:off x="10222992" y="5189220"/>
            <a:ext cx="1243584" cy="228600"/>
          </a:xfrm>
          <a:prstGeom prst="rect">
            <a:avLst/>
          </a:prstGeom>
          <a:noFill/>
          <a:ln/>
        </p:spPr>
        <p:txBody>
          <a:bodyPr wrap="square" lIns="0" tIns="0" rIns="0" bIns="0" rtlCol="0" anchor="ctr"/>
          <a:lstStyle/>
          <a:p>
            <a:pPr algn="r" indent="0" marL="0">
              <a:buNone/>
            </a:pPr>
            <a:r>
              <a:rPr lang="en-US" sz="850" b="1" dirty="0">
                <a:solidFill>
                  <a:srgbClr val="22D3EE"/>
                </a:solidFill>
                <a:latin typeface="Trenda IG Text" pitchFamily="34" charset="0"/>
                <a:ea typeface="Trenda IG Text" pitchFamily="34" charset="-122"/>
                <a:cs typeface="Trenda IG Text" pitchFamily="34" charset="-120"/>
              </a:rPr>
              <a:t>4 hours</a:t>
            </a:r>
            <a:endParaRPr lang="en-US" sz="850" dirty="0"/>
          </a:p>
        </p:txBody>
      </p:sp>
      <p:sp>
        <p:nvSpPr>
          <p:cNvPr id="22" name="Text 19"/>
          <p:cNvSpPr txBox="1"/>
          <p:nvPr/>
        </p:nvSpPr>
        <p:spPr>
          <a:xfrm>
            <a:off x="7616952" y="5436108"/>
            <a:ext cx="2734056" cy="228600"/>
          </a:xfrm>
          <a:prstGeom prst="rect">
            <a:avLst/>
          </a:prstGeom>
          <a:noFill/>
          <a:ln/>
        </p:spPr>
        <p:txBody>
          <a:bodyPr wrap="square" lIns="0" tIns="0" rIns="0" bIns="0" rtlCol="0" anchor="ctr"/>
          <a:lstStyle/>
          <a:p>
            <a:pPr indent="0" marL="0">
              <a:buNone/>
            </a:pPr>
            <a:r>
              <a:rPr lang="en-US" sz="850" dirty="0">
                <a:solidFill>
                  <a:srgbClr val="E6EAF2"/>
                </a:solidFill>
                <a:latin typeface="Trenda IG Text" pitchFamily="34" charset="0"/>
                <a:ea typeface="Trenda IG Text" pitchFamily="34" charset="-122"/>
                <a:cs typeface="Trenda IG Text" pitchFamily="34" charset="-120"/>
              </a:rPr>
              <a:t>Credit requests or returns</a:t>
            </a:r>
            <a:endParaRPr lang="en-US" sz="850" dirty="0"/>
          </a:p>
        </p:txBody>
      </p:sp>
      <p:sp>
        <p:nvSpPr>
          <p:cNvPr id="23" name="Text 20"/>
          <p:cNvSpPr txBox="1"/>
          <p:nvPr/>
        </p:nvSpPr>
        <p:spPr>
          <a:xfrm>
            <a:off x="10222992" y="5436108"/>
            <a:ext cx="1243584" cy="228600"/>
          </a:xfrm>
          <a:prstGeom prst="rect">
            <a:avLst/>
          </a:prstGeom>
          <a:noFill/>
          <a:ln/>
        </p:spPr>
        <p:txBody>
          <a:bodyPr wrap="square" lIns="0" tIns="0" rIns="0" bIns="0" rtlCol="0" anchor="ctr"/>
          <a:lstStyle/>
          <a:p>
            <a:pPr algn="r" indent="0" marL="0">
              <a:buNone/>
            </a:pPr>
            <a:r>
              <a:rPr lang="en-US" sz="850" b="1" dirty="0">
                <a:solidFill>
                  <a:srgbClr val="22D3EE"/>
                </a:solidFill>
                <a:latin typeface="Trenda IG Text" pitchFamily="34" charset="0"/>
                <a:ea typeface="Trenda IG Text" pitchFamily="34" charset="-122"/>
                <a:cs typeface="Trenda IG Text" pitchFamily="34" charset="-120"/>
              </a:rPr>
              <a:t>72 hours</a:t>
            </a:r>
            <a:endParaRPr lang="en-US" sz="850" dirty="0"/>
          </a:p>
        </p:txBody>
      </p:sp>
      <p:sp>
        <p:nvSpPr>
          <p:cNvPr id="24" name="Text 21"/>
          <p:cNvSpPr txBox="1"/>
          <p:nvPr/>
        </p:nvSpPr>
        <p:spPr>
          <a:xfrm>
            <a:off x="7616952" y="5682996"/>
            <a:ext cx="2734056" cy="228600"/>
          </a:xfrm>
          <a:prstGeom prst="rect">
            <a:avLst/>
          </a:prstGeom>
          <a:noFill/>
          <a:ln/>
        </p:spPr>
        <p:txBody>
          <a:bodyPr wrap="square" lIns="0" tIns="0" rIns="0" bIns="0" rtlCol="0" anchor="ctr"/>
          <a:lstStyle/>
          <a:p>
            <a:pPr indent="0" marL="0">
              <a:buNone/>
            </a:pPr>
            <a:r>
              <a:rPr lang="en-US" sz="850" dirty="0">
                <a:solidFill>
                  <a:srgbClr val="E6EAF2"/>
                </a:solidFill>
                <a:latin typeface="Trenda IG Text" pitchFamily="34" charset="0"/>
                <a:ea typeface="Trenda IG Text" pitchFamily="34" charset="-122"/>
                <a:cs typeface="Trenda IG Text" pitchFamily="34" charset="-120"/>
              </a:rPr>
              <a:t>First pass resolution</a:t>
            </a:r>
            <a:endParaRPr lang="en-US" sz="850" dirty="0"/>
          </a:p>
        </p:txBody>
      </p:sp>
      <p:sp>
        <p:nvSpPr>
          <p:cNvPr id="25" name="Text 22"/>
          <p:cNvSpPr txBox="1"/>
          <p:nvPr/>
        </p:nvSpPr>
        <p:spPr>
          <a:xfrm>
            <a:off x="10222992" y="5682996"/>
            <a:ext cx="1243584" cy="228600"/>
          </a:xfrm>
          <a:prstGeom prst="rect">
            <a:avLst/>
          </a:prstGeom>
          <a:noFill/>
          <a:ln/>
        </p:spPr>
        <p:txBody>
          <a:bodyPr wrap="square" lIns="0" tIns="0" rIns="0" bIns="0" rtlCol="0" anchor="ctr"/>
          <a:lstStyle/>
          <a:p>
            <a:pPr algn="r" indent="0" marL="0">
              <a:buNone/>
            </a:pPr>
            <a:r>
              <a:rPr lang="en-US" sz="850" b="1" dirty="0">
                <a:solidFill>
                  <a:srgbClr val="22D3EE"/>
                </a:solidFill>
                <a:latin typeface="Trenda IG Text" pitchFamily="34" charset="0"/>
                <a:ea typeface="Trenda IG Text" pitchFamily="34" charset="-122"/>
                <a:cs typeface="Trenda IG Text" pitchFamily="34" charset="-120"/>
              </a:rPr>
              <a:t>Baselined in transition</a:t>
            </a:r>
            <a:endParaRPr lang="en-US" sz="850" dirty="0"/>
          </a:p>
        </p:txBody>
      </p:sp>
      <p:sp>
        <p:nvSpPr>
          <p:cNvPr id="26" name="Text 23"/>
          <p:cNvSpPr txBox="1"/>
          <p:nvPr/>
        </p:nvSpPr>
        <p:spPr>
          <a:xfrm>
            <a:off x="502920" y="6035040"/>
            <a:ext cx="10085832" cy="347472"/>
          </a:xfrm>
          <a:prstGeom prst="rect">
            <a:avLst/>
          </a:prstGeom>
          <a:noFill/>
          <a:ln/>
        </p:spPr>
        <p:txBody>
          <a:bodyPr wrap="square" lIns="0" tIns="0" rIns="0" bIns="0" rtlCol="0" anchor="t"/>
          <a:lstStyle/>
          <a:p>
            <a:pPr indent="0" marL="0">
              <a:lnSpc>
                <a:spcPts val="1000"/>
              </a:lnSpc>
              <a:buNone/>
            </a:pPr>
            <a:r>
              <a:rPr lang="en-US" sz="750" i="1" dirty="0">
                <a:solidFill>
                  <a:srgbClr val="8A94A6"/>
                </a:solidFill>
                <a:latin typeface="Trenda IG Text" pitchFamily="34" charset="0"/>
                <a:ea typeface="Trenda IG Text" pitchFamily="34" charset="-122"/>
                <a:cs typeface="Trenda IG Text" pitchFamily="34" charset="-120"/>
              </a:rPr>
              <a:t>Targets shown are design proposals for discussion. Final thresholds, pause conditions and measurement definitions are agreed jointly and configured in the Entitlement Process before go live.</a:t>
            </a:r>
            <a:endParaRPr lang="en-US" sz="750" dirty="0"/>
          </a:p>
        </p:txBody>
      </p:sp>
      <p:pic>
        <p:nvPicPr>
          <p:cNvPr id="27" name="Image 0" descr="assets/ig-mark.png">    </p:cNvPr>
          <p:cNvPicPr>
            <a:picLocks noChangeAspect="1"/>
          </p:cNvPicPr>
          <p:nvPr/>
        </p:nvPicPr>
        <p:blipFill>
          <a:blip r:embed="rId1"/>
          <a:stretch>
            <a:fillRect/>
          </a:stretch>
        </p:blipFill>
        <p:spPr>
          <a:xfrm>
            <a:off x="502920" y="6455664"/>
            <a:ext cx="420624" cy="144475"/>
          </a:xfrm>
          <a:prstGeom prst="rect">
            <a:avLst/>
          </a:prstGeom>
        </p:spPr>
      </p:pic>
      <p:sp>
        <p:nvSpPr>
          <p:cNvPr id="28" name="Text 24"/>
          <p:cNvSpPr txBox="1"/>
          <p:nvPr/>
        </p:nvSpPr>
        <p:spPr>
          <a:xfrm>
            <a:off x="11201400" y="6400800"/>
            <a:ext cx="484632" cy="237744"/>
          </a:xfrm>
          <a:prstGeom prst="rect">
            <a:avLst/>
          </a:prstGeom>
          <a:noFill/>
          <a:ln/>
        </p:spPr>
        <p:txBody>
          <a:bodyPr wrap="square" lIns="0" tIns="0" rIns="0" bIns="0" rtlCol="0" anchor="ctr"/>
          <a:lstStyle/>
          <a:p>
            <a:pPr algn="r" indent="0" marL="0">
              <a:buNone/>
            </a:pPr>
            <a:r>
              <a:rPr lang="en-US" sz="850" dirty="0">
                <a:solidFill>
                  <a:srgbClr val="8A94A6"/>
                </a:solidFill>
                <a:latin typeface="Trenda IG Text" pitchFamily="34" charset="0"/>
                <a:ea typeface="Trenda IG Text" pitchFamily="34" charset="-122"/>
                <a:cs typeface="Trenda IG Text" pitchFamily="34" charset="-120"/>
              </a:rPr>
              <a:t>11</a:t>
            </a:r>
            <a:endParaRPr lang="en-US" sz="85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0A0D14"/>
        </a:solidFill>
      </p:bgPr>
    </p:bg>
    <p:spTree>
      <p:nvGrpSpPr>
        <p:cNvPr id="1" name=""/>
        <p:cNvGrpSpPr/>
        <p:nvPr/>
      </p:nvGrpSpPr>
      <p:grpSpPr>
        <a:xfrm>
          <a:off x="0" y="0"/>
          <a:ext cx="0" cy="0"/>
          <a:chOff x="0" y="0"/>
          <a:chExt cx="0" cy="0"/>
        </a:xfrm>
      </p:grpSpPr>
      <p:sp>
        <p:nvSpPr>
          <p:cNvPr id="2" name="Text 0"/>
          <p:cNvSpPr txBox="1"/>
          <p:nvPr/>
        </p:nvSpPr>
        <p:spPr>
          <a:xfrm>
            <a:off x="502920" y="384048"/>
            <a:ext cx="11183112" cy="219456"/>
          </a:xfrm>
          <a:prstGeom prst="rect">
            <a:avLst/>
          </a:prstGeom>
          <a:noFill/>
          <a:ln/>
        </p:spPr>
        <p:txBody>
          <a:bodyPr wrap="square" lIns="0" tIns="0" rIns="0" bIns="0" rtlCol="0" anchor="ctr"/>
          <a:lstStyle/>
          <a:p>
            <a:pPr indent="0" marL="0">
              <a:buNone/>
            </a:pPr>
            <a:r>
              <a:rPr lang="en-US" sz="1000" b="1" spc="220" kern="0" dirty="0">
                <a:solidFill>
                  <a:srgbClr val="22D3EE"/>
                </a:solidFill>
                <a:latin typeface="Trenda IG Display" pitchFamily="34" charset="0"/>
                <a:ea typeface="Trenda IG Display" pitchFamily="34" charset="-122"/>
                <a:cs typeface="Trenda IG Display" pitchFamily="34" charset="-120"/>
              </a:rPr>
              <a:t>STAGE 04  |  ESCALATION</a:t>
            </a:r>
            <a:endParaRPr lang="en-US" sz="1000" dirty="0"/>
          </a:p>
        </p:txBody>
      </p:sp>
      <p:sp>
        <p:nvSpPr>
          <p:cNvPr id="3" name="Text 1"/>
          <p:cNvSpPr txBox="1"/>
          <p:nvPr/>
        </p:nvSpPr>
        <p:spPr>
          <a:xfrm>
            <a:off x="502920" y="658368"/>
            <a:ext cx="11183112" cy="416052"/>
          </a:xfrm>
          <a:prstGeom prst="rect">
            <a:avLst/>
          </a:prstGeom>
          <a:noFill/>
          <a:ln/>
        </p:spPr>
        <p:txBody>
          <a:bodyPr wrap="square" lIns="0" tIns="0" rIns="0" bIns="0" rtlCol="0" anchor="ctr"/>
          <a:lstStyle/>
          <a:p>
            <a:pPr indent="0" marL="0">
              <a:lnSpc>
                <a:spcPts val="3016"/>
              </a:lnSpc>
              <a:buNone/>
            </a:pPr>
            <a:r>
              <a:rPr lang="en-US" sz="2600" b="1" spc="40" kern="0" dirty="0">
                <a:solidFill>
                  <a:srgbClr val="FFFFFF"/>
                </a:solidFill>
                <a:latin typeface="Trenda IG Display" pitchFamily="34" charset="0"/>
                <a:ea typeface="Trenda IG Display" pitchFamily="34" charset="-122"/>
                <a:cs typeface="Trenda IG Display" pitchFamily="34" charset="-120"/>
              </a:rPr>
              <a:t>ESCALATION FIRES ON PERCENTAGE OF SLA CONSUMED</a:t>
            </a:r>
            <a:endParaRPr lang="en-US" sz="2600" dirty="0"/>
          </a:p>
        </p:txBody>
      </p:sp>
      <p:sp>
        <p:nvSpPr>
          <p:cNvPr id="4" name="Text 2"/>
          <p:cNvSpPr txBox="1"/>
          <p:nvPr/>
        </p:nvSpPr>
        <p:spPr>
          <a:xfrm>
            <a:off x="502920" y="1156716"/>
            <a:ext cx="11183112" cy="384048"/>
          </a:xfrm>
          <a:prstGeom prst="rect">
            <a:avLst/>
          </a:prstGeom>
          <a:noFill/>
          <a:ln/>
        </p:spPr>
        <p:txBody>
          <a:bodyPr wrap="square" lIns="0" tIns="0" rIns="0" bIns="0" rtlCol="0" anchor="t"/>
          <a:lstStyle/>
          <a:p>
            <a:pPr indent="0" marL="0">
              <a:lnSpc>
                <a:spcPts val="1500"/>
              </a:lnSpc>
              <a:buNone/>
            </a:pPr>
            <a:r>
              <a:rPr lang="en-US" sz="1150" dirty="0">
                <a:solidFill>
                  <a:srgbClr val="8A94A6"/>
                </a:solidFill>
                <a:latin typeface="Trenda IG Text" pitchFamily="34" charset="0"/>
                <a:ea typeface="Trenda IG Text" pitchFamily="34" charset="-122"/>
                <a:cs typeface="Trenda IG Text" pitchFamily="34" charset="-120"/>
              </a:rPr>
              <a:t>A fixed one hour rule is too slow for a P1 and too noisy for a 72 hour credit. Milestone time triggers escalate in proportion to the clock the case is actually running against.</a:t>
            </a:r>
            <a:endParaRPr lang="en-US" sz="1150" dirty="0"/>
          </a:p>
        </p:txBody>
      </p:sp>
      <p:sp>
        <p:nvSpPr>
          <p:cNvPr id="5" name="Shape 3"/>
          <p:cNvSpPr/>
          <p:nvPr/>
        </p:nvSpPr>
        <p:spPr>
          <a:xfrm>
            <a:off x="502920" y="1796796"/>
            <a:ext cx="2658618" cy="1591056"/>
          </a:xfrm>
          <a:prstGeom prst="roundRect">
            <a:avLst>
              <a:gd name="adj" fmla="val 2299"/>
            </a:avLst>
          </a:prstGeom>
          <a:solidFill>
            <a:srgbClr val="151A24"/>
          </a:solidFill>
          <a:ln w="12700">
            <a:solidFill>
              <a:srgbClr val="252D3D"/>
            </a:solidFill>
            <a:prstDash val="solid"/>
          </a:ln>
        </p:spPr>
      </p:sp>
      <p:sp>
        <p:nvSpPr>
          <p:cNvPr id="6" name="Text 4"/>
          <p:cNvSpPr txBox="1"/>
          <p:nvPr/>
        </p:nvSpPr>
        <p:spPr>
          <a:xfrm>
            <a:off x="722376" y="1961388"/>
            <a:ext cx="2219706" cy="420624"/>
          </a:xfrm>
          <a:prstGeom prst="rect">
            <a:avLst/>
          </a:prstGeom>
          <a:noFill/>
          <a:ln/>
        </p:spPr>
        <p:txBody>
          <a:bodyPr wrap="square" lIns="0" tIns="0" rIns="0" bIns="0" rtlCol="0" anchor="ctr"/>
          <a:lstStyle/>
          <a:p>
            <a:pPr indent="0" marL="0">
              <a:buNone/>
            </a:pPr>
            <a:r>
              <a:rPr lang="en-US" sz="2400" b="1" dirty="0">
                <a:solidFill>
                  <a:srgbClr val="22D3EE"/>
                </a:solidFill>
                <a:latin typeface="Trenda IG Display" pitchFamily="34" charset="0"/>
                <a:ea typeface="Trenda IG Display" pitchFamily="34" charset="-122"/>
                <a:cs typeface="Trenda IG Display" pitchFamily="34" charset="-120"/>
              </a:rPr>
              <a:t>50%</a:t>
            </a:r>
            <a:endParaRPr lang="en-US" sz="2400" dirty="0"/>
          </a:p>
        </p:txBody>
      </p:sp>
      <p:sp>
        <p:nvSpPr>
          <p:cNvPr id="7" name="Text 5"/>
          <p:cNvSpPr txBox="1"/>
          <p:nvPr/>
        </p:nvSpPr>
        <p:spPr>
          <a:xfrm>
            <a:off x="722376" y="2363724"/>
            <a:ext cx="2219706" cy="164592"/>
          </a:xfrm>
          <a:prstGeom prst="rect">
            <a:avLst/>
          </a:prstGeom>
          <a:noFill/>
          <a:ln/>
        </p:spPr>
        <p:txBody>
          <a:bodyPr wrap="square" lIns="0" tIns="0" rIns="0" bIns="0" rtlCol="0" anchor="ctr"/>
          <a:lstStyle/>
          <a:p>
            <a:pPr indent="0" marL="0">
              <a:buNone/>
            </a:pPr>
            <a:r>
              <a:rPr lang="en-US" sz="750" b="1" spc="140" kern="0" dirty="0">
                <a:solidFill>
                  <a:srgbClr val="8A94A6"/>
                </a:solidFill>
                <a:latin typeface="Trenda IG Display" pitchFamily="34" charset="0"/>
                <a:ea typeface="Trenda IG Display" pitchFamily="34" charset="-122"/>
                <a:cs typeface="Trenda IG Display" pitchFamily="34" charset="-120"/>
              </a:rPr>
              <a:t>OF SLA CONSUMED</a:t>
            </a:r>
            <a:endParaRPr lang="en-US" sz="750" dirty="0"/>
          </a:p>
        </p:txBody>
      </p:sp>
      <p:sp>
        <p:nvSpPr>
          <p:cNvPr id="8" name="Text 6"/>
          <p:cNvSpPr txBox="1"/>
          <p:nvPr/>
        </p:nvSpPr>
        <p:spPr>
          <a:xfrm>
            <a:off x="722376" y="2583180"/>
            <a:ext cx="2219706" cy="365760"/>
          </a:xfrm>
          <a:prstGeom prst="rect">
            <a:avLst/>
          </a:prstGeom>
          <a:noFill/>
          <a:ln/>
        </p:spPr>
        <p:txBody>
          <a:bodyPr wrap="square" lIns="0" tIns="0" rIns="0" bIns="0" rtlCol="0" anchor="t"/>
          <a:lstStyle/>
          <a:p>
            <a:pPr indent="0" marL="0">
              <a:lnSpc>
                <a:spcPts val="1300"/>
              </a:lnSpc>
              <a:buNone/>
            </a:pPr>
            <a:r>
              <a:rPr lang="en-US" sz="1000" b="1" dirty="0">
                <a:solidFill>
                  <a:srgbClr val="FFFFFF"/>
                </a:solidFill>
                <a:latin typeface="Trenda IG Text" pitchFamily="34" charset="0"/>
                <a:ea typeface="Trenda IG Text" pitchFamily="34" charset="-122"/>
                <a:cs typeface="Trenda IG Text" pitchFamily="34" charset="-120"/>
              </a:rPr>
              <a:t>Notify the case owner</a:t>
            </a:r>
            <a:endParaRPr lang="en-US" sz="1000" dirty="0"/>
          </a:p>
        </p:txBody>
      </p:sp>
      <p:sp>
        <p:nvSpPr>
          <p:cNvPr id="9" name="Text 7"/>
          <p:cNvSpPr txBox="1"/>
          <p:nvPr/>
        </p:nvSpPr>
        <p:spPr>
          <a:xfrm>
            <a:off x="722376" y="2948940"/>
            <a:ext cx="2219706" cy="384048"/>
          </a:xfrm>
          <a:prstGeom prst="rect">
            <a:avLst/>
          </a:prstGeom>
          <a:noFill/>
          <a:ln/>
        </p:spPr>
        <p:txBody>
          <a:bodyPr wrap="square" lIns="0" tIns="0" rIns="0" bIns="0" rtlCol="0" anchor="t"/>
          <a:lstStyle/>
          <a:p>
            <a:pPr indent="0" marL="0">
              <a:lnSpc>
                <a:spcPts val="1050"/>
              </a:lnSpc>
              <a:buNone/>
            </a:pPr>
            <a:r>
              <a:rPr lang="en-US" sz="800" dirty="0">
                <a:solidFill>
                  <a:srgbClr val="8A94A6"/>
                </a:solidFill>
                <a:latin typeface="Trenda IG Text" pitchFamily="34" charset="0"/>
                <a:ea typeface="Trenda IG Text" pitchFamily="34" charset="-122"/>
                <a:cs typeface="Trenda IG Text" pitchFamily="34" charset="-120"/>
              </a:rPr>
              <a:t>A reminder on the record and in the agent queue view. No management involvement yet.</a:t>
            </a:r>
            <a:endParaRPr lang="en-US" sz="800" dirty="0"/>
          </a:p>
        </p:txBody>
      </p:sp>
      <p:sp>
        <p:nvSpPr>
          <p:cNvPr id="10" name="Shape 8"/>
          <p:cNvSpPr/>
          <p:nvPr/>
        </p:nvSpPr>
        <p:spPr>
          <a:xfrm>
            <a:off x="3179826" y="2546604"/>
            <a:ext cx="146304" cy="128016"/>
          </a:xfrm>
          <a:prstGeom prst="rightArrow">
            <a:avLst/>
          </a:prstGeom>
          <a:solidFill>
            <a:srgbClr val="3A4459"/>
          </a:solidFill>
          <a:ln w="12700">
            <a:solidFill>
              <a:srgbClr val="3A4459"/>
            </a:solidFill>
            <a:prstDash val="solid"/>
          </a:ln>
        </p:spPr>
      </p:sp>
      <p:sp>
        <p:nvSpPr>
          <p:cNvPr id="11" name="Shape 9"/>
          <p:cNvSpPr/>
          <p:nvPr/>
        </p:nvSpPr>
        <p:spPr>
          <a:xfrm>
            <a:off x="3344418" y="1796796"/>
            <a:ext cx="2658618" cy="1591056"/>
          </a:xfrm>
          <a:prstGeom prst="roundRect">
            <a:avLst>
              <a:gd name="adj" fmla="val 2299"/>
            </a:avLst>
          </a:prstGeom>
          <a:solidFill>
            <a:srgbClr val="151A24"/>
          </a:solidFill>
          <a:ln w="12700">
            <a:solidFill>
              <a:srgbClr val="252D3D"/>
            </a:solidFill>
            <a:prstDash val="solid"/>
          </a:ln>
        </p:spPr>
      </p:sp>
      <p:sp>
        <p:nvSpPr>
          <p:cNvPr id="12" name="Text 10"/>
          <p:cNvSpPr txBox="1"/>
          <p:nvPr/>
        </p:nvSpPr>
        <p:spPr>
          <a:xfrm>
            <a:off x="3563874" y="1961388"/>
            <a:ext cx="2219706" cy="420624"/>
          </a:xfrm>
          <a:prstGeom prst="rect">
            <a:avLst/>
          </a:prstGeom>
          <a:noFill/>
          <a:ln/>
        </p:spPr>
        <p:txBody>
          <a:bodyPr wrap="square" lIns="0" tIns="0" rIns="0" bIns="0" rtlCol="0" anchor="ctr"/>
          <a:lstStyle/>
          <a:p>
            <a:pPr indent="0" marL="0">
              <a:buNone/>
            </a:pPr>
            <a:r>
              <a:rPr lang="en-US" sz="2400" b="1" dirty="0">
                <a:solidFill>
                  <a:srgbClr val="F59E0B"/>
                </a:solidFill>
                <a:latin typeface="Trenda IG Display" pitchFamily="34" charset="0"/>
                <a:ea typeface="Trenda IG Display" pitchFamily="34" charset="-122"/>
                <a:cs typeface="Trenda IG Display" pitchFamily="34" charset="-120"/>
              </a:rPr>
              <a:t>70%</a:t>
            </a:r>
            <a:endParaRPr lang="en-US" sz="2400" dirty="0"/>
          </a:p>
        </p:txBody>
      </p:sp>
      <p:sp>
        <p:nvSpPr>
          <p:cNvPr id="13" name="Text 11"/>
          <p:cNvSpPr txBox="1"/>
          <p:nvPr/>
        </p:nvSpPr>
        <p:spPr>
          <a:xfrm>
            <a:off x="3563874" y="2363724"/>
            <a:ext cx="2219706" cy="164592"/>
          </a:xfrm>
          <a:prstGeom prst="rect">
            <a:avLst/>
          </a:prstGeom>
          <a:noFill/>
          <a:ln/>
        </p:spPr>
        <p:txBody>
          <a:bodyPr wrap="square" lIns="0" tIns="0" rIns="0" bIns="0" rtlCol="0" anchor="ctr"/>
          <a:lstStyle/>
          <a:p>
            <a:pPr indent="0" marL="0">
              <a:buNone/>
            </a:pPr>
            <a:r>
              <a:rPr lang="en-US" sz="750" b="1" spc="140" kern="0" dirty="0">
                <a:solidFill>
                  <a:srgbClr val="8A94A6"/>
                </a:solidFill>
                <a:latin typeface="Trenda IG Display" pitchFamily="34" charset="0"/>
                <a:ea typeface="Trenda IG Display" pitchFamily="34" charset="-122"/>
                <a:cs typeface="Trenda IG Display" pitchFamily="34" charset="-120"/>
              </a:rPr>
              <a:t>OF SLA CONSUMED</a:t>
            </a:r>
            <a:endParaRPr lang="en-US" sz="750" dirty="0"/>
          </a:p>
        </p:txBody>
      </p:sp>
      <p:sp>
        <p:nvSpPr>
          <p:cNvPr id="14" name="Text 12"/>
          <p:cNvSpPr txBox="1"/>
          <p:nvPr/>
        </p:nvSpPr>
        <p:spPr>
          <a:xfrm>
            <a:off x="3563874" y="2583180"/>
            <a:ext cx="2219706" cy="365760"/>
          </a:xfrm>
          <a:prstGeom prst="rect">
            <a:avLst/>
          </a:prstGeom>
          <a:noFill/>
          <a:ln/>
        </p:spPr>
        <p:txBody>
          <a:bodyPr wrap="square" lIns="0" tIns="0" rIns="0" bIns="0" rtlCol="0" anchor="t"/>
          <a:lstStyle/>
          <a:p>
            <a:pPr indent="0" marL="0">
              <a:lnSpc>
                <a:spcPts val="1300"/>
              </a:lnSpc>
              <a:buNone/>
            </a:pPr>
            <a:r>
              <a:rPr lang="en-US" sz="1000" b="1" dirty="0">
                <a:solidFill>
                  <a:srgbClr val="FFFFFF"/>
                </a:solidFill>
                <a:latin typeface="Trenda IG Text" pitchFamily="34" charset="0"/>
                <a:ea typeface="Trenda IG Text" pitchFamily="34" charset="-122"/>
                <a:cs typeface="Trenda IG Text" pitchFamily="34" charset="-120"/>
              </a:rPr>
              <a:t>Notify owner and Shift Lead</a:t>
            </a:r>
            <a:endParaRPr lang="en-US" sz="1000" dirty="0"/>
          </a:p>
        </p:txBody>
      </p:sp>
      <p:sp>
        <p:nvSpPr>
          <p:cNvPr id="15" name="Text 13"/>
          <p:cNvSpPr txBox="1"/>
          <p:nvPr/>
        </p:nvSpPr>
        <p:spPr>
          <a:xfrm>
            <a:off x="3563874" y="2948940"/>
            <a:ext cx="2219706" cy="384048"/>
          </a:xfrm>
          <a:prstGeom prst="rect">
            <a:avLst/>
          </a:prstGeom>
          <a:noFill/>
          <a:ln/>
        </p:spPr>
        <p:txBody>
          <a:bodyPr wrap="square" lIns="0" tIns="0" rIns="0" bIns="0" rtlCol="0" anchor="t"/>
          <a:lstStyle/>
          <a:p>
            <a:pPr indent="0" marL="0">
              <a:lnSpc>
                <a:spcPts val="1050"/>
              </a:lnSpc>
              <a:buNone/>
            </a:pPr>
            <a:r>
              <a:rPr lang="en-US" sz="800" dirty="0">
                <a:solidFill>
                  <a:srgbClr val="8A94A6"/>
                </a:solidFill>
                <a:latin typeface="Trenda IG Text" pitchFamily="34" charset="0"/>
                <a:ea typeface="Trenda IG Text" pitchFamily="34" charset="-122"/>
                <a:cs typeface="Trenda IG Text" pitchFamily="34" charset="-120"/>
              </a:rPr>
              <a:t>The Shift Lead can rebalance the queue or reassign before the case is at risk.</a:t>
            </a:r>
            <a:endParaRPr lang="en-US" sz="800" dirty="0"/>
          </a:p>
        </p:txBody>
      </p:sp>
      <p:sp>
        <p:nvSpPr>
          <p:cNvPr id="16" name="Shape 14"/>
          <p:cNvSpPr/>
          <p:nvPr/>
        </p:nvSpPr>
        <p:spPr>
          <a:xfrm>
            <a:off x="6021324" y="2546604"/>
            <a:ext cx="146304" cy="128016"/>
          </a:xfrm>
          <a:prstGeom prst="rightArrow">
            <a:avLst/>
          </a:prstGeom>
          <a:solidFill>
            <a:srgbClr val="3A4459"/>
          </a:solidFill>
          <a:ln w="12700">
            <a:solidFill>
              <a:srgbClr val="3A4459"/>
            </a:solidFill>
            <a:prstDash val="solid"/>
          </a:ln>
        </p:spPr>
      </p:sp>
      <p:sp>
        <p:nvSpPr>
          <p:cNvPr id="17" name="Shape 15"/>
          <p:cNvSpPr/>
          <p:nvPr/>
        </p:nvSpPr>
        <p:spPr>
          <a:xfrm>
            <a:off x="6185916" y="1796796"/>
            <a:ext cx="2658618" cy="1591056"/>
          </a:xfrm>
          <a:prstGeom prst="roundRect">
            <a:avLst>
              <a:gd name="adj" fmla="val 2299"/>
            </a:avLst>
          </a:prstGeom>
          <a:solidFill>
            <a:srgbClr val="151A24"/>
          </a:solidFill>
          <a:ln w="12700">
            <a:solidFill>
              <a:srgbClr val="252D3D"/>
            </a:solidFill>
            <a:prstDash val="solid"/>
          </a:ln>
        </p:spPr>
      </p:sp>
      <p:sp>
        <p:nvSpPr>
          <p:cNvPr id="18" name="Text 16"/>
          <p:cNvSpPr txBox="1"/>
          <p:nvPr/>
        </p:nvSpPr>
        <p:spPr>
          <a:xfrm>
            <a:off x="6405372" y="1961388"/>
            <a:ext cx="2219706" cy="420624"/>
          </a:xfrm>
          <a:prstGeom prst="rect">
            <a:avLst/>
          </a:prstGeom>
          <a:noFill/>
          <a:ln/>
        </p:spPr>
        <p:txBody>
          <a:bodyPr wrap="square" lIns="0" tIns="0" rIns="0" bIns="0" rtlCol="0" anchor="ctr"/>
          <a:lstStyle/>
          <a:p>
            <a:pPr indent="0" marL="0">
              <a:buNone/>
            </a:pPr>
            <a:r>
              <a:rPr lang="en-US" sz="2400" b="1" dirty="0">
                <a:solidFill>
                  <a:srgbClr val="F97316"/>
                </a:solidFill>
                <a:latin typeface="Trenda IG Display" pitchFamily="34" charset="0"/>
                <a:ea typeface="Trenda IG Display" pitchFamily="34" charset="-122"/>
                <a:cs typeface="Trenda IG Display" pitchFamily="34" charset="-120"/>
              </a:rPr>
              <a:t>85%</a:t>
            </a:r>
            <a:endParaRPr lang="en-US" sz="2400" dirty="0"/>
          </a:p>
        </p:txBody>
      </p:sp>
      <p:sp>
        <p:nvSpPr>
          <p:cNvPr id="19" name="Text 17"/>
          <p:cNvSpPr txBox="1"/>
          <p:nvPr/>
        </p:nvSpPr>
        <p:spPr>
          <a:xfrm>
            <a:off x="6405372" y="2363724"/>
            <a:ext cx="2219706" cy="164592"/>
          </a:xfrm>
          <a:prstGeom prst="rect">
            <a:avLst/>
          </a:prstGeom>
          <a:noFill/>
          <a:ln/>
        </p:spPr>
        <p:txBody>
          <a:bodyPr wrap="square" lIns="0" tIns="0" rIns="0" bIns="0" rtlCol="0" anchor="ctr"/>
          <a:lstStyle/>
          <a:p>
            <a:pPr indent="0" marL="0">
              <a:buNone/>
            </a:pPr>
            <a:r>
              <a:rPr lang="en-US" sz="750" b="1" spc="140" kern="0" dirty="0">
                <a:solidFill>
                  <a:srgbClr val="8A94A6"/>
                </a:solidFill>
                <a:latin typeface="Trenda IG Display" pitchFamily="34" charset="0"/>
                <a:ea typeface="Trenda IG Display" pitchFamily="34" charset="-122"/>
                <a:cs typeface="Trenda IG Display" pitchFamily="34" charset="-120"/>
              </a:rPr>
              <a:t>OF SLA CONSUMED</a:t>
            </a:r>
            <a:endParaRPr lang="en-US" sz="750" dirty="0"/>
          </a:p>
        </p:txBody>
      </p:sp>
      <p:sp>
        <p:nvSpPr>
          <p:cNvPr id="20" name="Text 18"/>
          <p:cNvSpPr txBox="1"/>
          <p:nvPr/>
        </p:nvSpPr>
        <p:spPr>
          <a:xfrm>
            <a:off x="6405372" y="2583180"/>
            <a:ext cx="2219706" cy="365760"/>
          </a:xfrm>
          <a:prstGeom prst="rect">
            <a:avLst/>
          </a:prstGeom>
          <a:noFill/>
          <a:ln/>
        </p:spPr>
        <p:txBody>
          <a:bodyPr wrap="square" lIns="0" tIns="0" rIns="0" bIns="0" rtlCol="0" anchor="t"/>
          <a:lstStyle/>
          <a:p>
            <a:pPr indent="0" marL="0">
              <a:lnSpc>
                <a:spcPts val="1300"/>
              </a:lnSpc>
              <a:buNone/>
            </a:pPr>
            <a:r>
              <a:rPr lang="en-US" sz="1000" b="1" dirty="0">
                <a:solidFill>
                  <a:srgbClr val="FFFFFF"/>
                </a:solidFill>
                <a:latin typeface="Trenda IG Text" pitchFamily="34" charset="0"/>
                <a:ea typeface="Trenda IG Text" pitchFamily="34" charset="-122"/>
                <a:cs typeface="Trenda IG Text" pitchFamily="34" charset="-120"/>
              </a:rPr>
              <a:t>Escalate to Team Lead, flag on dashboard</a:t>
            </a:r>
            <a:endParaRPr lang="en-US" sz="1000" dirty="0"/>
          </a:p>
        </p:txBody>
      </p:sp>
      <p:sp>
        <p:nvSpPr>
          <p:cNvPr id="21" name="Text 19"/>
          <p:cNvSpPr txBox="1"/>
          <p:nvPr/>
        </p:nvSpPr>
        <p:spPr>
          <a:xfrm>
            <a:off x="6405372" y="2948940"/>
            <a:ext cx="2219706" cy="384048"/>
          </a:xfrm>
          <a:prstGeom prst="rect">
            <a:avLst/>
          </a:prstGeom>
          <a:noFill/>
          <a:ln/>
        </p:spPr>
        <p:txBody>
          <a:bodyPr wrap="square" lIns="0" tIns="0" rIns="0" bIns="0" rtlCol="0" anchor="t"/>
          <a:lstStyle/>
          <a:p>
            <a:pPr indent="0" marL="0">
              <a:lnSpc>
                <a:spcPts val="1050"/>
              </a:lnSpc>
              <a:buNone/>
            </a:pPr>
            <a:r>
              <a:rPr lang="en-US" sz="800" dirty="0">
                <a:solidFill>
                  <a:srgbClr val="8A94A6"/>
                </a:solidFill>
                <a:latin typeface="Trenda IG Text" pitchFamily="34" charset="0"/>
                <a:ea typeface="Trenda IG Text" pitchFamily="34" charset="-122"/>
                <a:cs typeface="Trenda IG Text" pitchFamily="34" charset="-120"/>
              </a:rPr>
              <a:t>The case appears in the at risk panel on the operations control tower.</a:t>
            </a:r>
            <a:endParaRPr lang="en-US" sz="800" dirty="0"/>
          </a:p>
        </p:txBody>
      </p:sp>
      <p:sp>
        <p:nvSpPr>
          <p:cNvPr id="22" name="Shape 20"/>
          <p:cNvSpPr/>
          <p:nvPr/>
        </p:nvSpPr>
        <p:spPr>
          <a:xfrm>
            <a:off x="8862822" y="2546604"/>
            <a:ext cx="146304" cy="128016"/>
          </a:xfrm>
          <a:prstGeom prst="rightArrow">
            <a:avLst/>
          </a:prstGeom>
          <a:solidFill>
            <a:srgbClr val="3A4459"/>
          </a:solidFill>
          <a:ln w="12700">
            <a:solidFill>
              <a:srgbClr val="3A4459"/>
            </a:solidFill>
            <a:prstDash val="solid"/>
          </a:ln>
        </p:spPr>
      </p:sp>
      <p:sp>
        <p:nvSpPr>
          <p:cNvPr id="23" name="Shape 21"/>
          <p:cNvSpPr/>
          <p:nvPr/>
        </p:nvSpPr>
        <p:spPr>
          <a:xfrm>
            <a:off x="9027414" y="1796796"/>
            <a:ext cx="2658618" cy="1591056"/>
          </a:xfrm>
          <a:prstGeom prst="roundRect">
            <a:avLst>
              <a:gd name="adj" fmla="val 2299"/>
            </a:avLst>
          </a:prstGeom>
          <a:solidFill>
            <a:srgbClr val="151A24"/>
          </a:solidFill>
          <a:ln w="12700">
            <a:solidFill>
              <a:srgbClr val="252D3D"/>
            </a:solidFill>
            <a:prstDash val="solid"/>
          </a:ln>
        </p:spPr>
      </p:sp>
      <p:sp>
        <p:nvSpPr>
          <p:cNvPr id="24" name="Text 22"/>
          <p:cNvSpPr txBox="1"/>
          <p:nvPr/>
        </p:nvSpPr>
        <p:spPr>
          <a:xfrm>
            <a:off x="9246870" y="1961388"/>
            <a:ext cx="2219706" cy="420624"/>
          </a:xfrm>
          <a:prstGeom prst="rect">
            <a:avLst/>
          </a:prstGeom>
          <a:noFill/>
          <a:ln/>
        </p:spPr>
        <p:txBody>
          <a:bodyPr wrap="square" lIns="0" tIns="0" rIns="0" bIns="0" rtlCol="0" anchor="ctr"/>
          <a:lstStyle/>
          <a:p>
            <a:pPr indent="0" marL="0">
              <a:buNone/>
            </a:pPr>
            <a:r>
              <a:rPr lang="en-US" sz="2400" b="1" dirty="0">
                <a:solidFill>
                  <a:srgbClr val="FF0069"/>
                </a:solidFill>
                <a:latin typeface="Trenda IG Display" pitchFamily="34" charset="0"/>
                <a:ea typeface="Trenda IG Display" pitchFamily="34" charset="-122"/>
                <a:cs typeface="Trenda IG Display" pitchFamily="34" charset="-120"/>
              </a:rPr>
              <a:t>100%</a:t>
            </a:r>
            <a:endParaRPr lang="en-US" sz="2400" dirty="0"/>
          </a:p>
        </p:txBody>
      </p:sp>
      <p:sp>
        <p:nvSpPr>
          <p:cNvPr id="25" name="Text 23"/>
          <p:cNvSpPr txBox="1"/>
          <p:nvPr/>
        </p:nvSpPr>
        <p:spPr>
          <a:xfrm>
            <a:off x="9246870" y="2363724"/>
            <a:ext cx="2219706" cy="164592"/>
          </a:xfrm>
          <a:prstGeom prst="rect">
            <a:avLst/>
          </a:prstGeom>
          <a:noFill/>
          <a:ln/>
        </p:spPr>
        <p:txBody>
          <a:bodyPr wrap="square" lIns="0" tIns="0" rIns="0" bIns="0" rtlCol="0" anchor="ctr"/>
          <a:lstStyle/>
          <a:p>
            <a:pPr indent="0" marL="0">
              <a:buNone/>
            </a:pPr>
            <a:r>
              <a:rPr lang="en-US" sz="750" b="1" spc="140" kern="0" dirty="0">
                <a:solidFill>
                  <a:srgbClr val="8A94A6"/>
                </a:solidFill>
                <a:latin typeface="Trenda IG Display" pitchFamily="34" charset="0"/>
                <a:ea typeface="Trenda IG Display" pitchFamily="34" charset="-122"/>
                <a:cs typeface="Trenda IG Display" pitchFamily="34" charset="-120"/>
              </a:rPr>
              <a:t>OF SLA CONSUMED</a:t>
            </a:r>
            <a:endParaRPr lang="en-US" sz="750" dirty="0"/>
          </a:p>
        </p:txBody>
      </p:sp>
      <p:sp>
        <p:nvSpPr>
          <p:cNvPr id="26" name="Text 24"/>
          <p:cNvSpPr txBox="1"/>
          <p:nvPr/>
        </p:nvSpPr>
        <p:spPr>
          <a:xfrm>
            <a:off x="9246870" y="2583180"/>
            <a:ext cx="2219706" cy="365760"/>
          </a:xfrm>
          <a:prstGeom prst="rect">
            <a:avLst/>
          </a:prstGeom>
          <a:noFill/>
          <a:ln/>
        </p:spPr>
        <p:txBody>
          <a:bodyPr wrap="square" lIns="0" tIns="0" rIns="0" bIns="0" rtlCol="0" anchor="t"/>
          <a:lstStyle/>
          <a:p>
            <a:pPr indent="0" marL="0">
              <a:lnSpc>
                <a:spcPts val="1300"/>
              </a:lnSpc>
              <a:buNone/>
            </a:pPr>
            <a:r>
              <a:rPr lang="en-US" sz="1000" b="1" dirty="0">
                <a:solidFill>
                  <a:srgbClr val="FFFFFF"/>
                </a:solidFill>
                <a:latin typeface="Trenda IG Text" pitchFamily="34" charset="0"/>
                <a:ea typeface="Trenda IG Text" pitchFamily="34" charset="-122"/>
                <a:cs typeface="Trenda IG Text" pitchFamily="34" charset="-120"/>
              </a:rPr>
              <a:t>Escalate to Operations Manager</a:t>
            </a:r>
            <a:endParaRPr lang="en-US" sz="1000" dirty="0"/>
          </a:p>
        </p:txBody>
      </p:sp>
      <p:sp>
        <p:nvSpPr>
          <p:cNvPr id="27" name="Text 25"/>
          <p:cNvSpPr txBox="1"/>
          <p:nvPr/>
        </p:nvSpPr>
        <p:spPr>
          <a:xfrm>
            <a:off x="9246870" y="2948940"/>
            <a:ext cx="2219706" cy="384048"/>
          </a:xfrm>
          <a:prstGeom prst="rect">
            <a:avLst/>
          </a:prstGeom>
          <a:noFill/>
          <a:ln/>
        </p:spPr>
        <p:txBody>
          <a:bodyPr wrap="square" lIns="0" tIns="0" rIns="0" bIns="0" rtlCol="0" anchor="t"/>
          <a:lstStyle/>
          <a:p>
            <a:pPr indent="0" marL="0">
              <a:lnSpc>
                <a:spcPts val="1050"/>
              </a:lnSpc>
              <a:buNone/>
            </a:pPr>
            <a:r>
              <a:rPr lang="en-US" sz="800" dirty="0">
                <a:solidFill>
                  <a:srgbClr val="8A94A6"/>
                </a:solidFill>
                <a:latin typeface="Trenda IG Text" pitchFamily="34" charset="0"/>
                <a:ea typeface="Trenda IG Text" pitchFamily="34" charset="-122"/>
                <a:cs typeface="Trenda IG Text" pitchFamily="34" charset="-120"/>
              </a:rPr>
              <a:t>Breach is recorded with reason and root cause, and reviewed in the daily cadence.</a:t>
            </a:r>
            <a:endParaRPr lang="en-US" sz="800" dirty="0"/>
          </a:p>
        </p:txBody>
      </p:sp>
      <p:sp>
        <p:nvSpPr>
          <p:cNvPr id="28" name="Shape 26"/>
          <p:cNvSpPr/>
          <p:nvPr/>
        </p:nvSpPr>
        <p:spPr>
          <a:xfrm>
            <a:off x="502920" y="3607308"/>
            <a:ext cx="5481828" cy="2103120"/>
          </a:xfrm>
          <a:prstGeom prst="roundRect">
            <a:avLst>
              <a:gd name="adj" fmla="val 1739"/>
            </a:avLst>
          </a:prstGeom>
          <a:solidFill>
            <a:srgbClr val="151A24"/>
          </a:solidFill>
          <a:ln w="12700">
            <a:solidFill>
              <a:srgbClr val="252D3D"/>
            </a:solidFill>
            <a:prstDash val="solid"/>
          </a:ln>
        </p:spPr>
      </p:sp>
      <p:sp>
        <p:nvSpPr>
          <p:cNvPr id="29" name="Text 27"/>
          <p:cNvSpPr txBox="1"/>
          <p:nvPr/>
        </p:nvSpPr>
        <p:spPr>
          <a:xfrm>
            <a:off x="740664" y="3790188"/>
            <a:ext cx="5006340" cy="201168"/>
          </a:xfrm>
          <a:prstGeom prst="rect">
            <a:avLst/>
          </a:prstGeom>
          <a:noFill/>
          <a:ln/>
        </p:spPr>
        <p:txBody>
          <a:bodyPr wrap="square" lIns="0" tIns="0" rIns="0" bIns="0" rtlCol="0" anchor="ctr"/>
          <a:lstStyle/>
          <a:p>
            <a:pPr indent="0" marL="0">
              <a:buNone/>
            </a:pPr>
            <a:r>
              <a:rPr lang="en-US" sz="1000" b="1" spc="140" kern="0" dirty="0">
                <a:solidFill>
                  <a:srgbClr val="FFFFFF"/>
                </a:solidFill>
                <a:latin typeface="Trenda IG Display" pitchFamily="34" charset="0"/>
                <a:ea typeface="Trenda IG Display" pitchFamily="34" charset="-122"/>
                <a:cs typeface="Trenda IG Display" pitchFamily="34" charset="-120"/>
              </a:rPr>
              <a:t>ADDITIONAL ESCALATION TRIGGERS</a:t>
            </a:r>
            <a:endParaRPr lang="en-US" sz="1000" dirty="0"/>
          </a:p>
        </p:txBody>
      </p:sp>
      <p:sp>
        <p:nvSpPr>
          <p:cNvPr id="30" name="Text 28"/>
          <p:cNvSpPr txBox="1"/>
          <p:nvPr/>
        </p:nvSpPr>
        <p:spPr>
          <a:xfrm>
            <a:off x="740664" y="4119372"/>
            <a:ext cx="5006340" cy="1481328"/>
          </a:xfrm>
          <a:prstGeom prst="rect">
            <a:avLst/>
          </a:prstGeom>
          <a:noFill/>
          <a:ln/>
        </p:spPr>
        <p:txBody>
          <a:bodyPr wrap="square" lIns="0" tIns="0" rIns="0" bIns="0" rtlCol="0" anchor="t"/>
          <a:lstStyle/>
          <a:p>
            <a:pPr marL="152400" indent="-152400">
              <a:lnSpc>
                <a:spcPts val="1250"/>
              </a:lnSpc>
              <a:spcAft>
                <a:spcPts val="500"/>
              </a:spcAft>
              <a:buSzPct val="100000"/>
              <a:buChar char="•"/>
            </a:pPr>
            <a:r>
              <a:rPr lang="en-US" sz="850" dirty="0">
                <a:solidFill>
                  <a:srgbClr val="E6EAF2"/>
                </a:solidFill>
                <a:latin typeface="Trenda IG Text" pitchFamily="34" charset="0"/>
                <a:ea typeface="Trenda IG Text" pitchFamily="34" charset="-122"/>
                <a:cs typeface="Trenda IG Text" pitchFamily="34" charset="-120"/>
              </a:rPr>
              <a:t>A P1 case is created, or any case is raised to P1 or P2.</a:t>
            </a:r>
            <a:endParaRPr lang="en-US" sz="850" dirty="0"/>
          </a:p>
          <a:p>
            <a:pPr marL="152400" indent="-152400">
              <a:lnSpc>
                <a:spcPts val="1250"/>
              </a:lnSpc>
              <a:spcAft>
                <a:spcPts val="500"/>
              </a:spcAft>
              <a:buSzPct val="100000"/>
              <a:buChar char="•"/>
            </a:pPr>
            <a:r>
              <a:rPr lang="en-US" sz="850" dirty="0">
                <a:solidFill>
                  <a:srgbClr val="E6EAF2"/>
                </a:solidFill>
                <a:latin typeface="Trenda IG Text" pitchFamily="34" charset="0"/>
                <a:ea typeface="Trenda IG Text" pitchFamily="34" charset="-122"/>
                <a:cs typeface="Trenda IG Text" pitchFamily="34" charset="-120"/>
              </a:rPr>
              <a:t>A case remains unassigned beyond the agreed threshold.</a:t>
            </a:r>
            <a:endParaRPr lang="en-US" sz="850" dirty="0"/>
          </a:p>
          <a:p>
            <a:pPr marL="152400" indent="-152400">
              <a:lnSpc>
                <a:spcPts val="1250"/>
              </a:lnSpc>
              <a:spcAft>
                <a:spcPts val="500"/>
              </a:spcAft>
              <a:buSzPct val="100000"/>
              <a:buChar char="•"/>
            </a:pPr>
            <a:r>
              <a:rPr lang="en-US" sz="850" dirty="0">
                <a:solidFill>
                  <a:srgbClr val="E6EAF2"/>
                </a:solidFill>
                <a:latin typeface="Trenda IG Text" pitchFamily="34" charset="0"/>
                <a:ea typeface="Trenda IG Text" pitchFamily="34" charset="-122"/>
                <a:cs typeface="Trenda IG Text" pitchFamily="34" charset="-120"/>
              </a:rPr>
              <a:t>A case is reopened, or transferred more than once.</a:t>
            </a:r>
            <a:endParaRPr lang="en-US" sz="850" dirty="0"/>
          </a:p>
          <a:p>
            <a:pPr marL="152400" indent="-152400">
              <a:lnSpc>
                <a:spcPts val="1250"/>
              </a:lnSpc>
              <a:spcAft>
                <a:spcPts val="500"/>
              </a:spcAft>
              <a:buSzPct val="100000"/>
              <a:buChar char="•"/>
            </a:pPr>
            <a:r>
              <a:rPr lang="en-US" sz="850" dirty="0">
                <a:solidFill>
                  <a:srgbClr val="E6EAF2"/>
                </a:solidFill>
                <a:latin typeface="Trenda IG Text" pitchFamily="34" charset="0"/>
                <a:ea typeface="Trenda IG Text" pitchFamily="34" charset="-122"/>
                <a:cs typeface="Trenda IG Text" pitchFamily="34" charset="-120"/>
              </a:rPr>
              <a:t>The customer sends repeated follow ups on an open case.</a:t>
            </a:r>
            <a:endParaRPr lang="en-US" sz="850" dirty="0"/>
          </a:p>
          <a:p>
            <a:pPr marL="152400" indent="-152400">
              <a:lnSpc>
                <a:spcPts val="1250"/>
              </a:lnSpc>
              <a:spcAft>
                <a:spcPts val="500"/>
              </a:spcAft>
              <a:buSzPct val="100000"/>
              <a:buChar char="•"/>
            </a:pPr>
            <a:r>
              <a:rPr lang="en-US" sz="850" dirty="0">
                <a:solidFill>
                  <a:srgbClr val="E6EAF2"/>
                </a:solidFill>
                <a:latin typeface="Trenda IG Text" pitchFamily="34" charset="0"/>
                <a:ea typeface="Trenda IG Text" pitchFamily="34" charset="-122"/>
                <a:cs typeface="Trenda IG Text" pitchFamily="34" charset="-120"/>
              </a:rPr>
              <a:t>An internal dependency exceeds its agreed turnaround.</a:t>
            </a:r>
            <a:endParaRPr lang="en-US" sz="850" dirty="0"/>
          </a:p>
          <a:p>
            <a:pPr marL="152400" indent="-152400">
              <a:lnSpc>
                <a:spcPts val="1250"/>
              </a:lnSpc>
              <a:spcAft>
                <a:spcPts val="500"/>
              </a:spcAft>
              <a:buSzPct val="100000"/>
              <a:buChar char="•"/>
            </a:pPr>
            <a:r>
              <a:rPr lang="en-US" sz="850" dirty="0">
                <a:solidFill>
                  <a:srgbClr val="E6EAF2"/>
                </a:solidFill>
                <a:latin typeface="Trenda IG Text" pitchFamily="34" charset="0"/>
                <a:ea typeface="Trenda IG Text" pitchFamily="34" charset="-122"/>
                <a:cs typeface="Trenda IG Text" pitchFamily="34" charset="-120"/>
              </a:rPr>
              <a:t>Negative customer feedback is received on a closed case.</a:t>
            </a:r>
            <a:endParaRPr lang="en-US" sz="850" dirty="0"/>
          </a:p>
        </p:txBody>
      </p:sp>
      <p:sp>
        <p:nvSpPr>
          <p:cNvPr id="31" name="Shape 29"/>
          <p:cNvSpPr/>
          <p:nvPr/>
        </p:nvSpPr>
        <p:spPr>
          <a:xfrm>
            <a:off x="6204204" y="3607308"/>
            <a:ext cx="5481828" cy="2103120"/>
          </a:xfrm>
          <a:prstGeom prst="roundRect">
            <a:avLst>
              <a:gd name="adj" fmla="val 1739"/>
            </a:avLst>
          </a:prstGeom>
          <a:solidFill>
            <a:srgbClr val="151A24"/>
          </a:solidFill>
          <a:ln w="12700">
            <a:solidFill>
              <a:srgbClr val="252D3D"/>
            </a:solidFill>
            <a:prstDash val="solid"/>
          </a:ln>
        </p:spPr>
      </p:sp>
      <p:sp>
        <p:nvSpPr>
          <p:cNvPr id="32" name="Text 30"/>
          <p:cNvSpPr txBox="1"/>
          <p:nvPr/>
        </p:nvSpPr>
        <p:spPr>
          <a:xfrm>
            <a:off x="6441948" y="3790188"/>
            <a:ext cx="5006340" cy="201168"/>
          </a:xfrm>
          <a:prstGeom prst="rect">
            <a:avLst/>
          </a:prstGeom>
          <a:noFill/>
          <a:ln/>
        </p:spPr>
        <p:txBody>
          <a:bodyPr wrap="square" lIns="0" tIns="0" rIns="0" bIns="0" rtlCol="0" anchor="ctr"/>
          <a:lstStyle/>
          <a:p>
            <a:pPr indent="0" marL="0">
              <a:buNone/>
            </a:pPr>
            <a:r>
              <a:rPr lang="en-US" sz="1000" b="1" spc="140" kern="0" dirty="0">
                <a:solidFill>
                  <a:srgbClr val="FFFFFF"/>
                </a:solidFill>
                <a:latin typeface="Trenda IG Display" pitchFamily="34" charset="0"/>
                <a:ea typeface="Trenda IG Display" pitchFamily="34" charset="-122"/>
                <a:cs typeface="Trenda IG Display" pitchFamily="34" charset="-120"/>
              </a:rPr>
              <a:t>WHY PROPORTIONAL BEATS FIXED</a:t>
            </a:r>
            <a:endParaRPr lang="en-US" sz="1000" dirty="0"/>
          </a:p>
        </p:txBody>
      </p:sp>
      <p:sp>
        <p:nvSpPr>
          <p:cNvPr id="33" name="Text 31"/>
          <p:cNvSpPr txBox="1"/>
          <p:nvPr/>
        </p:nvSpPr>
        <p:spPr>
          <a:xfrm>
            <a:off x="6441948" y="4119372"/>
            <a:ext cx="5006340" cy="1481328"/>
          </a:xfrm>
          <a:prstGeom prst="rect">
            <a:avLst/>
          </a:prstGeom>
          <a:noFill/>
          <a:ln/>
        </p:spPr>
        <p:txBody>
          <a:bodyPr wrap="square" lIns="0" tIns="0" rIns="0" bIns="0" rtlCol="0" anchor="t"/>
          <a:lstStyle/>
          <a:p>
            <a:pPr indent="0" marL="0">
              <a:lnSpc>
                <a:spcPts val="1300"/>
              </a:lnSpc>
              <a:buNone/>
            </a:pPr>
            <a:r>
              <a:rPr lang="en-US" sz="900" dirty="0">
                <a:solidFill>
                  <a:srgbClr val="E6EAF2"/>
                </a:solidFill>
                <a:latin typeface="Trenda IG Text" pitchFamily="34" charset="0"/>
                <a:ea typeface="Trenda IG Text" pitchFamily="34" charset="-122"/>
                <a:cs typeface="Trenda IG Text" pitchFamily="34" charset="-120"/>
              </a:rPr>
              <a:t>A P1 carries a 15 minute first response target. Half of that clock is seven and a half minutes, so the owner is prompted while there is still time to act. A 72 hour credit case reaches the same 50 percent mark at 36 hours, which is when a nudge is genuinely useful rather than noise.</a:t>
            </a:r>
            <a:endParaRPr lang="en-US" sz="900" dirty="0"/>
          </a:p>
          <a:p>
            <a:pPr indent="0" marL="0">
              <a:lnSpc>
                <a:spcPts val="1300"/>
              </a:lnSpc>
              <a:buNone/>
            </a:pPr>
            <a:endParaRPr lang="en-US" sz="900" dirty="0"/>
          </a:p>
          <a:p>
            <a:pPr indent="0" marL="0">
              <a:lnSpc>
                <a:spcPts val="1300"/>
              </a:lnSpc>
              <a:buNone/>
            </a:pPr>
            <a:r>
              <a:rPr lang="en-US" sz="900" dirty="0">
                <a:solidFill>
                  <a:srgbClr val="E6EAF2"/>
                </a:solidFill>
                <a:latin typeface="Trenda IG Text" pitchFamily="34" charset="0"/>
                <a:ea typeface="Trenda IG Text" pitchFamily="34" charset="-122"/>
                <a:cs typeface="Trenda IG Text" pitchFamily="34" charset="-120"/>
              </a:rPr>
              <a:t>The result is that the escalation load scales with risk. Agents are interrupted when it matters and left alone when it does not, and leadership sees the cases that are genuinely drifting rather than a flat alert stream.</a:t>
            </a:r>
            <a:endParaRPr lang="en-US" sz="900" dirty="0"/>
          </a:p>
        </p:txBody>
      </p:sp>
      <p:pic>
        <p:nvPicPr>
          <p:cNvPr id="34" name="Image 0" descr="assets/ig-mark.png">    </p:cNvPr>
          <p:cNvPicPr>
            <a:picLocks noChangeAspect="1"/>
          </p:cNvPicPr>
          <p:nvPr/>
        </p:nvPicPr>
        <p:blipFill>
          <a:blip r:embed="rId1"/>
          <a:stretch>
            <a:fillRect/>
          </a:stretch>
        </p:blipFill>
        <p:spPr>
          <a:xfrm>
            <a:off x="502920" y="6455664"/>
            <a:ext cx="420624" cy="144475"/>
          </a:xfrm>
          <a:prstGeom prst="rect">
            <a:avLst/>
          </a:prstGeom>
        </p:spPr>
      </p:pic>
      <p:sp>
        <p:nvSpPr>
          <p:cNvPr id="35" name="Text 32"/>
          <p:cNvSpPr txBox="1"/>
          <p:nvPr/>
        </p:nvSpPr>
        <p:spPr>
          <a:xfrm>
            <a:off x="11201400" y="6400800"/>
            <a:ext cx="484632" cy="237744"/>
          </a:xfrm>
          <a:prstGeom prst="rect">
            <a:avLst/>
          </a:prstGeom>
          <a:noFill/>
          <a:ln/>
        </p:spPr>
        <p:txBody>
          <a:bodyPr wrap="square" lIns="0" tIns="0" rIns="0" bIns="0" rtlCol="0" anchor="ctr"/>
          <a:lstStyle/>
          <a:p>
            <a:pPr algn="r" indent="0" marL="0">
              <a:buNone/>
            </a:pPr>
            <a:r>
              <a:rPr lang="en-US" sz="850" dirty="0">
                <a:solidFill>
                  <a:srgbClr val="8A94A6"/>
                </a:solidFill>
                <a:latin typeface="Trenda IG Text" pitchFamily="34" charset="0"/>
                <a:ea typeface="Trenda IG Text" pitchFamily="34" charset="-122"/>
                <a:cs typeface="Trenda IG Text" pitchFamily="34" charset="-120"/>
              </a:rPr>
              <a:t>12</a:t>
            </a:r>
            <a:endParaRPr lang="en-US" sz="85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bg>
      <p:bgPr>
        <a:solidFill>
          <a:srgbClr val="0A0D14"/>
        </a:solidFill>
      </p:bgPr>
    </p:bg>
    <p:spTree>
      <p:nvGrpSpPr>
        <p:cNvPr id="1" name=""/>
        <p:cNvGrpSpPr/>
        <p:nvPr/>
      </p:nvGrpSpPr>
      <p:grpSpPr>
        <a:xfrm>
          <a:off x="0" y="0"/>
          <a:ext cx="0" cy="0"/>
          <a:chOff x="0" y="0"/>
          <a:chExt cx="0" cy="0"/>
        </a:xfrm>
      </p:grpSpPr>
      <p:sp>
        <p:nvSpPr>
          <p:cNvPr id="2" name="Text 0"/>
          <p:cNvSpPr txBox="1"/>
          <p:nvPr/>
        </p:nvSpPr>
        <p:spPr>
          <a:xfrm>
            <a:off x="502920" y="384048"/>
            <a:ext cx="11183112" cy="219456"/>
          </a:xfrm>
          <a:prstGeom prst="rect">
            <a:avLst/>
          </a:prstGeom>
          <a:noFill/>
          <a:ln/>
        </p:spPr>
        <p:txBody>
          <a:bodyPr wrap="square" lIns="0" tIns="0" rIns="0" bIns="0" rtlCol="0" anchor="ctr"/>
          <a:lstStyle/>
          <a:p>
            <a:pPr indent="0" marL="0">
              <a:buNone/>
            </a:pPr>
            <a:r>
              <a:rPr lang="en-US" sz="1000" b="1" spc="220" kern="0" dirty="0">
                <a:solidFill>
                  <a:srgbClr val="22D3EE"/>
                </a:solidFill>
                <a:latin typeface="Trenda IG Display" pitchFamily="34" charset="0"/>
                <a:ea typeface="Trenda IG Display" pitchFamily="34" charset="-122"/>
                <a:cs typeface="Trenda IG Display" pitchFamily="34" charset="-120"/>
              </a:rPr>
              <a:t>STAGE 05  |  THE WORKLOAD REDUCER</a:t>
            </a:r>
            <a:endParaRPr lang="en-US" sz="1000" dirty="0"/>
          </a:p>
        </p:txBody>
      </p:sp>
      <p:sp>
        <p:nvSpPr>
          <p:cNvPr id="3" name="Text 1"/>
          <p:cNvSpPr txBox="1"/>
          <p:nvPr/>
        </p:nvSpPr>
        <p:spPr>
          <a:xfrm>
            <a:off x="502920" y="658368"/>
            <a:ext cx="11183112" cy="416052"/>
          </a:xfrm>
          <a:prstGeom prst="rect">
            <a:avLst/>
          </a:prstGeom>
          <a:noFill/>
          <a:ln/>
        </p:spPr>
        <p:txBody>
          <a:bodyPr wrap="square" lIns="0" tIns="0" rIns="0" bIns="0" rtlCol="0" anchor="ctr"/>
          <a:lstStyle/>
          <a:p>
            <a:pPr indent="0" marL="0">
              <a:lnSpc>
                <a:spcPts val="3016"/>
              </a:lnSpc>
              <a:buNone/>
            </a:pPr>
            <a:r>
              <a:rPr lang="en-US" sz="2600" b="1" spc="40" kern="0" dirty="0">
                <a:solidFill>
                  <a:srgbClr val="FFFFFF"/>
                </a:solidFill>
                <a:latin typeface="Trenda IG Display" pitchFamily="34" charset="0"/>
                <a:ea typeface="Trenda IG Display" pitchFamily="34" charset="-122"/>
                <a:cs typeface="Trenda IG Display" pitchFamily="34" charset="-120"/>
              </a:rPr>
              <a:t>THE DRAFT IS WAITING WHEN THE AGENT OPENS THE CASE</a:t>
            </a:r>
            <a:endParaRPr lang="en-US" sz="2600" dirty="0"/>
          </a:p>
        </p:txBody>
      </p:sp>
      <p:sp>
        <p:nvSpPr>
          <p:cNvPr id="4" name="Text 2"/>
          <p:cNvSpPr txBox="1"/>
          <p:nvPr/>
        </p:nvSpPr>
        <p:spPr>
          <a:xfrm>
            <a:off x="502920" y="1156716"/>
            <a:ext cx="11183112" cy="384048"/>
          </a:xfrm>
          <a:prstGeom prst="rect">
            <a:avLst/>
          </a:prstGeom>
          <a:noFill/>
          <a:ln/>
        </p:spPr>
        <p:txBody>
          <a:bodyPr wrap="square" lIns="0" tIns="0" rIns="0" bIns="0" rtlCol="0" anchor="t"/>
          <a:lstStyle/>
          <a:p>
            <a:pPr indent="0" marL="0">
              <a:lnSpc>
                <a:spcPts val="1500"/>
              </a:lnSpc>
              <a:buNone/>
            </a:pPr>
            <a:r>
              <a:rPr lang="en-US" sz="1150" dirty="0">
                <a:solidFill>
                  <a:srgbClr val="8A94A6"/>
                </a:solidFill>
                <a:latin typeface="Trenda IG Text" pitchFamily="34" charset="0"/>
                <a:ea typeface="Trenda IG Text" pitchFamily="34" charset="-122"/>
                <a:cs typeface="Trenda IG Text" pitchFamily="34" charset="-120"/>
              </a:rPr>
              <a:t>This is where the handling time comes out. The agent stops composing from a blank box and starts reviewing, correcting and sending, with the policy and the order context already on the record.</a:t>
            </a:r>
            <a:endParaRPr lang="en-US" sz="1150" dirty="0"/>
          </a:p>
        </p:txBody>
      </p:sp>
      <p:sp>
        <p:nvSpPr>
          <p:cNvPr id="5" name="Shape 3"/>
          <p:cNvSpPr/>
          <p:nvPr/>
        </p:nvSpPr>
        <p:spPr>
          <a:xfrm>
            <a:off x="502920" y="1796796"/>
            <a:ext cx="3593592" cy="2779776"/>
          </a:xfrm>
          <a:prstGeom prst="roundRect">
            <a:avLst>
              <a:gd name="adj" fmla="val 1316"/>
            </a:avLst>
          </a:prstGeom>
          <a:solidFill>
            <a:srgbClr val="151A24"/>
          </a:solidFill>
          <a:ln w="12700">
            <a:solidFill>
              <a:srgbClr val="252D3D"/>
            </a:solidFill>
            <a:prstDash val="solid"/>
          </a:ln>
        </p:spPr>
      </p:sp>
      <p:sp>
        <p:nvSpPr>
          <p:cNvPr id="6" name="Text 4"/>
          <p:cNvSpPr txBox="1"/>
          <p:nvPr/>
        </p:nvSpPr>
        <p:spPr>
          <a:xfrm>
            <a:off x="740664" y="1979676"/>
            <a:ext cx="3118104" cy="274320"/>
          </a:xfrm>
          <a:prstGeom prst="rect">
            <a:avLst/>
          </a:prstGeom>
          <a:noFill/>
          <a:ln/>
        </p:spPr>
        <p:txBody>
          <a:bodyPr wrap="square" lIns="0" tIns="0" rIns="0" bIns="0" rtlCol="0" anchor="ctr"/>
          <a:lstStyle/>
          <a:p>
            <a:pPr indent="0" marL="0">
              <a:buNone/>
            </a:pPr>
            <a:r>
              <a:rPr lang="en-US" sz="1300" b="1" dirty="0">
                <a:solidFill>
                  <a:srgbClr val="22D3EE"/>
                </a:solidFill>
                <a:latin typeface="Trenda IG Text" pitchFamily="34" charset="0"/>
                <a:ea typeface="Trenda IG Text" pitchFamily="34" charset="-122"/>
                <a:cs typeface="Trenda IG Text" pitchFamily="34" charset="-120"/>
              </a:rPr>
              <a:t>Draft email response</a:t>
            </a:r>
            <a:endParaRPr lang="en-US" sz="1300" dirty="0"/>
          </a:p>
        </p:txBody>
      </p:sp>
      <p:sp>
        <p:nvSpPr>
          <p:cNvPr id="7" name="Text 5"/>
          <p:cNvSpPr txBox="1"/>
          <p:nvPr/>
        </p:nvSpPr>
        <p:spPr>
          <a:xfrm>
            <a:off x="740664" y="2272284"/>
            <a:ext cx="3118104" cy="182880"/>
          </a:xfrm>
          <a:prstGeom prst="rect">
            <a:avLst/>
          </a:prstGeom>
          <a:noFill/>
          <a:ln/>
        </p:spPr>
        <p:txBody>
          <a:bodyPr wrap="square" lIns="0" tIns="0" rIns="0" bIns="0" rtlCol="0" anchor="ctr"/>
          <a:lstStyle/>
          <a:p>
            <a:pPr indent="0" marL="0">
              <a:buNone/>
            </a:pPr>
            <a:r>
              <a:rPr lang="en-US" sz="750" b="1" spc="140" kern="0" dirty="0">
                <a:solidFill>
                  <a:srgbClr val="8A94A6"/>
                </a:solidFill>
                <a:latin typeface="Trenda IG Display" pitchFamily="34" charset="0"/>
                <a:ea typeface="Trenda IG Display" pitchFamily="34" charset="-122"/>
                <a:cs typeface="Trenda IG Display" pitchFamily="34" charset="-120"/>
              </a:rPr>
              <a:t>SALES EMAIL OR FLEX PROMPT TEMPLATE</a:t>
            </a:r>
            <a:endParaRPr lang="en-US" sz="750" dirty="0"/>
          </a:p>
        </p:txBody>
      </p:sp>
      <p:sp>
        <p:nvSpPr>
          <p:cNvPr id="8" name="Text 6"/>
          <p:cNvSpPr txBox="1"/>
          <p:nvPr/>
        </p:nvSpPr>
        <p:spPr>
          <a:xfrm>
            <a:off x="740664" y="2564892"/>
            <a:ext cx="3118104" cy="1883664"/>
          </a:xfrm>
          <a:prstGeom prst="rect">
            <a:avLst/>
          </a:prstGeom>
          <a:noFill/>
          <a:ln/>
        </p:spPr>
        <p:txBody>
          <a:bodyPr wrap="square" lIns="0" tIns="0" rIns="0" bIns="0" rtlCol="0" anchor="t"/>
          <a:lstStyle/>
          <a:p>
            <a:pPr marL="152400" indent="-152400">
              <a:lnSpc>
                <a:spcPts val="1300"/>
              </a:lnSpc>
              <a:spcAft>
                <a:spcPts val="700"/>
              </a:spcAft>
              <a:buSzPct val="100000"/>
              <a:buChar char="•"/>
            </a:pPr>
            <a:r>
              <a:rPr lang="en-US" sz="900" dirty="0">
                <a:solidFill>
                  <a:srgbClr val="E6EAF2"/>
                </a:solidFill>
                <a:latin typeface="Trenda IG Text" pitchFamily="34" charset="0"/>
                <a:ea typeface="Trenda IG Text" pitchFamily="34" charset="-122"/>
                <a:cs typeface="Trenda IG Text" pitchFamily="34" charset="-120"/>
              </a:rPr>
              <a:t>Written in the approved Extended Care tone and structure, from the standard response library.</a:t>
            </a:r>
            <a:endParaRPr lang="en-US" sz="900" dirty="0"/>
          </a:p>
          <a:p>
            <a:pPr marL="152400" indent="-152400">
              <a:lnSpc>
                <a:spcPts val="1300"/>
              </a:lnSpc>
              <a:spcAft>
                <a:spcPts val="700"/>
              </a:spcAft>
              <a:buSzPct val="100000"/>
              <a:buChar char="•"/>
            </a:pPr>
            <a:r>
              <a:rPr lang="en-US" sz="900" dirty="0">
                <a:solidFill>
                  <a:srgbClr val="E6EAF2"/>
                </a:solidFill>
                <a:latin typeface="Trenda IG Text" pitchFamily="34" charset="0"/>
                <a:ea typeface="Trenda IG Text" pitchFamily="34" charset="-122"/>
                <a:cs typeface="Trenda IG Text" pitchFamily="34" charset="-120"/>
              </a:rPr>
              <a:t>Grounded on the case, the contact, the account, the retrieved Knowledge article and the order record.</a:t>
            </a:r>
            <a:endParaRPr lang="en-US" sz="900" dirty="0"/>
          </a:p>
          <a:p>
            <a:pPr marL="152400" indent="-152400">
              <a:lnSpc>
                <a:spcPts val="1300"/>
              </a:lnSpc>
              <a:spcAft>
                <a:spcPts val="700"/>
              </a:spcAft>
              <a:buSzPct val="100000"/>
              <a:buChar char="•"/>
            </a:pPr>
            <a:r>
              <a:rPr lang="en-US" sz="900" dirty="0">
                <a:solidFill>
                  <a:srgbClr val="E6EAF2"/>
                </a:solidFill>
                <a:latin typeface="Trenda IG Text" pitchFamily="34" charset="0"/>
                <a:ea typeface="Trenda IG Text" pitchFamily="34" charset="-122"/>
                <a:cs typeface="Trenda IG Text" pitchFamily="34" charset="-120"/>
              </a:rPr>
              <a:t>Inserts live order, shipment and availability values where the connected system exposes them.</a:t>
            </a:r>
            <a:endParaRPr lang="en-US" sz="900" dirty="0"/>
          </a:p>
          <a:p>
            <a:pPr marL="152400" indent="-152400">
              <a:lnSpc>
                <a:spcPts val="1300"/>
              </a:lnSpc>
              <a:spcAft>
                <a:spcPts val="700"/>
              </a:spcAft>
              <a:buSzPct val="100000"/>
              <a:buChar char="•"/>
            </a:pPr>
            <a:r>
              <a:rPr lang="en-US" sz="900" dirty="0">
                <a:solidFill>
                  <a:srgbClr val="E6EAF2"/>
                </a:solidFill>
                <a:latin typeface="Trenda IG Text" pitchFamily="34" charset="0"/>
                <a:ea typeface="Trenda IG Text" pitchFamily="34" charset="-122"/>
                <a:cs typeface="Trenda IG Text" pitchFamily="34" charset="-120"/>
              </a:rPr>
              <a:t>Never sends on its own. The agent reviews, edits and sends, and that action is what stops the SLA clock.</a:t>
            </a:r>
            <a:endParaRPr lang="en-US" sz="900" dirty="0"/>
          </a:p>
        </p:txBody>
      </p:sp>
      <p:sp>
        <p:nvSpPr>
          <p:cNvPr id="9" name="Shape 7"/>
          <p:cNvSpPr/>
          <p:nvPr/>
        </p:nvSpPr>
        <p:spPr>
          <a:xfrm>
            <a:off x="4297680" y="1796796"/>
            <a:ext cx="3593592" cy="2779776"/>
          </a:xfrm>
          <a:prstGeom prst="roundRect">
            <a:avLst>
              <a:gd name="adj" fmla="val 1316"/>
            </a:avLst>
          </a:prstGeom>
          <a:solidFill>
            <a:srgbClr val="151A24"/>
          </a:solidFill>
          <a:ln w="12700">
            <a:solidFill>
              <a:srgbClr val="252D3D"/>
            </a:solidFill>
            <a:prstDash val="solid"/>
          </a:ln>
        </p:spPr>
      </p:sp>
      <p:sp>
        <p:nvSpPr>
          <p:cNvPr id="10" name="Text 8"/>
          <p:cNvSpPr txBox="1"/>
          <p:nvPr/>
        </p:nvSpPr>
        <p:spPr>
          <a:xfrm>
            <a:off x="4535424" y="1979676"/>
            <a:ext cx="3118104" cy="274320"/>
          </a:xfrm>
          <a:prstGeom prst="rect">
            <a:avLst/>
          </a:prstGeom>
          <a:noFill/>
          <a:ln/>
        </p:spPr>
        <p:txBody>
          <a:bodyPr wrap="square" lIns="0" tIns="0" rIns="0" bIns="0" rtlCol="0" anchor="ctr"/>
          <a:lstStyle/>
          <a:p>
            <a:pPr indent="0" marL="0">
              <a:buNone/>
            </a:pPr>
            <a:r>
              <a:rPr lang="en-US" sz="1300" b="1" dirty="0">
                <a:solidFill>
                  <a:srgbClr val="22D3EE"/>
                </a:solidFill>
                <a:latin typeface="Trenda IG Text" pitchFamily="34" charset="0"/>
                <a:ea typeface="Trenda IG Text" pitchFamily="34" charset="-122"/>
                <a:cs typeface="Trenda IG Text" pitchFamily="34" charset="-120"/>
              </a:rPr>
              <a:t>Case and thread summary</a:t>
            </a:r>
            <a:endParaRPr lang="en-US" sz="1300" dirty="0"/>
          </a:p>
        </p:txBody>
      </p:sp>
      <p:sp>
        <p:nvSpPr>
          <p:cNvPr id="11" name="Text 9"/>
          <p:cNvSpPr txBox="1"/>
          <p:nvPr/>
        </p:nvSpPr>
        <p:spPr>
          <a:xfrm>
            <a:off x="4535424" y="2272284"/>
            <a:ext cx="3118104" cy="182880"/>
          </a:xfrm>
          <a:prstGeom prst="rect">
            <a:avLst/>
          </a:prstGeom>
          <a:noFill/>
          <a:ln/>
        </p:spPr>
        <p:txBody>
          <a:bodyPr wrap="square" lIns="0" tIns="0" rIns="0" bIns="0" rtlCol="0" anchor="ctr"/>
          <a:lstStyle/>
          <a:p>
            <a:pPr indent="0" marL="0">
              <a:buNone/>
            </a:pPr>
            <a:r>
              <a:rPr lang="en-US" sz="750" b="1" spc="140" kern="0" dirty="0">
                <a:solidFill>
                  <a:srgbClr val="8A94A6"/>
                </a:solidFill>
                <a:latin typeface="Trenda IG Display" pitchFamily="34" charset="0"/>
                <a:ea typeface="Trenda IG Display" pitchFamily="34" charset="-122"/>
                <a:cs typeface="Trenda IG Display" pitchFamily="34" charset="-120"/>
              </a:rPr>
              <a:t>RECORD SUMMARY OR FLEX PROMPT TEMPLATE</a:t>
            </a:r>
            <a:endParaRPr lang="en-US" sz="750" dirty="0"/>
          </a:p>
        </p:txBody>
      </p:sp>
      <p:sp>
        <p:nvSpPr>
          <p:cNvPr id="12" name="Text 10"/>
          <p:cNvSpPr txBox="1"/>
          <p:nvPr/>
        </p:nvSpPr>
        <p:spPr>
          <a:xfrm>
            <a:off x="4535424" y="2564892"/>
            <a:ext cx="3118104" cy="1883664"/>
          </a:xfrm>
          <a:prstGeom prst="rect">
            <a:avLst/>
          </a:prstGeom>
          <a:noFill/>
          <a:ln/>
        </p:spPr>
        <p:txBody>
          <a:bodyPr wrap="square" lIns="0" tIns="0" rIns="0" bIns="0" rtlCol="0" anchor="t"/>
          <a:lstStyle/>
          <a:p>
            <a:pPr marL="152400" indent="-152400">
              <a:lnSpc>
                <a:spcPts val="1300"/>
              </a:lnSpc>
              <a:spcAft>
                <a:spcPts val="700"/>
              </a:spcAft>
              <a:buSzPct val="100000"/>
              <a:buChar char="•"/>
            </a:pPr>
            <a:r>
              <a:rPr lang="en-US" sz="900" dirty="0">
                <a:solidFill>
                  <a:srgbClr val="E6EAF2"/>
                </a:solidFill>
                <a:latin typeface="Trenda IG Text" pitchFamily="34" charset="0"/>
                <a:ea typeface="Trenda IG Text" pitchFamily="34" charset="-122"/>
                <a:cs typeface="Trenda IG Text" pitchFamily="34" charset="-120"/>
              </a:rPr>
              <a:t>A short factual summary of what the customer asked, written to the case on creation.</a:t>
            </a:r>
            <a:endParaRPr lang="en-US" sz="900" dirty="0"/>
          </a:p>
          <a:p>
            <a:pPr marL="152400" indent="-152400">
              <a:lnSpc>
                <a:spcPts val="1300"/>
              </a:lnSpc>
              <a:spcAft>
                <a:spcPts val="700"/>
              </a:spcAft>
              <a:buSzPct val="100000"/>
              <a:buChar char="•"/>
            </a:pPr>
            <a:r>
              <a:rPr lang="en-US" sz="900" dirty="0">
                <a:solidFill>
                  <a:srgbClr val="E6EAF2"/>
                </a:solidFill>
                <a:latin typeface="Trenda IG Text" pitchFamily="34" charset="0"/>
                <a:ea typeface="Trenda IG Text" pitchFamily="34" charset="-122"/>
                <a:cs typeface="Trenda IG Text" pitchFamily="34" charset="-120"/>
              </a:rPr>
              <a:t>A running thread summary so a second agent can pick the case up without reading every reply.</a:t>
            </a:r>
            <a:endParaRPr lang="en-US" sz="900" dirty="0"/>
          </a:p>
          <a:p>
            <a:pPr marL="152400" indent="-152400">
              <a:lnSpc>
                <a:spcPts val="1300"/>
              </a:lnSpc>
              <a:spcAft>
                <a:spcPts val="700"/>
              </a:spcAft>
              <a:buSzPct val="100000"/>
              <a:buChar char="•"/>
            </a:pPr>
            <a:r>
              <a:rPr lang="en-US" sz="900" dirty="0">
                <a:solidFill>
                  <a:srgbClr val="E6EAF2"/>
                </a:solidFill>
                <a:latin typeface="Trenda IG Text" pitchFamily="34" charset="0"/>
                <a:ea typeface="Trenda IG Text" pitchFamily="34" charset="-122"/>
                <a:cs typeface="Trenda IG Text" pitchFamily="34" charset="-120"/>
              </a:rPr>
              <a:t>A structured handover note carrying owner, status, priority, last action, next action and remaining SLA.</a:t>
            </a:r>
            <a:endParaRPr lang="en-US" sz="900" dirty="0"/>
          </a:p>
          <a:p>
            <a:pPr marL="152400" indent="-152400">
              <a:lnSpc>
                <a:spcPts val="1300"/>
              </a:lnSpc>
              <a:spcAft>
                <a:spcPts val="700"/>
              </a:spcAft>
              <a:buSzPct val="100000"/>
              <a:buChar char="•"/>
            </a:pPr>
            <a:r>
              <a:rPr lang="en-US" sz="900" dirty="0">
                <a:solidFill>
                  <a:srgbClr val="E6EAF2"/>
                </a:solidFill>
                <a:latin typeface="Trenda IG Text" pitchFamily="34" charset="0"/>
                <a:ea typeface="Trenda IG Text" pitchFamily="34" charset="-122"/>
                <a:cs typeface="Trenda IG Text" pitchFamily="34" charset="-120"/>
              </a:rPr>
              <a:t>Feeds the shift report and the daily operations summary, generated from case fields rather than typed by agents.</a:t>
            </a:r>
            <a:endParaRPr lang="en-US" sz="900" dirty="0"/>
          </a:p>
        </p:txBody>
      </p:sp>
      <p:sp>
        <p:nvSpPr>
          <p:cNvPr id="13" name="Shape 11"/>
          <p:cNvSpPr/>
          <p:nvPr/>
        </p:nvSpPr>
        <p:spPr>
          <a:xfrm>
            <a:off x="8092440" y="1796796"/>
            <a:ext cx="3593592" cy="2779776"/>
          </a:xfrm>
          <a:prstGeom prst="roundRect">
            <a:avLst>
              <a:gd name="adj" fmla="val 1316"/>
            </a:avLst>
          </a:prstGeom>
          <a:solidFill>
            <a:srgbClr val="151A24"/>
          </a:solidFill>
          <a:ln w="12700">
            <a:solidFill>
              <a:srgbClr val="4A2740"/>
            </a:solidFill>
            <a:prstDash val="solid"/>
          </a:ln>
        </p:spPr>
      </p:sp>
      <p:sp>
        <p:nvSpPr>
          <p:cNvPr id="14" name="Text 12"/>
          <p:cNvSpPr txBox="1"/>
          <p:nvPr/>
        </p:nvSpPr>
        <p:spPr>
          <a:xfrm>
            <a:off x="8330184" y="1979676"/>
            <a:ext cx="3118104" cy="274320"/>
          </a:xfrm>
          <a:prstGeom prst="rect">
            <a:avLst/>
          </a:prstGeom>
          <a:noFill/>
          <a:ln/>
        </p:spPr>
        <p:txBody>
          <a:bodyPr wrap="square" lIns="0" tIns="0" rIns="0" bIns="0" rtlCol="0" anchor="ctr"/>
          <a:lstStyle/>
          <a:p>
            <a:pPr indent="0" marL="0">
              <a:buNone/>
            </a:pPr>
            <a:r>
              <a:rPr lang="en-US" sz="1300" b="1" dirty="0">
                <a:solidFill>
                  <a:srgbClr val="FF0069"/>
                </a:solidFill>
                <a:latin typeface="Trenda IG Text" pitchFamily="34" charset="0"/>
                <a:ea typeface="Trenda IG Text" pitchFamily="34" charset="-122"/>
                <a:cs typeface="Trenda IG Text" pitchFamily="34" charset="-120"/>
              </a:rPr>
              <a:t>What stays with the agent</a:t>
            </a:r>
            <a:endParaRPr lang="en-US" sz="1300" dirty="0"/>
          </a:p>
        </p:txBody>
      </p:sp>
      <p:sp>
        <p:nvSpPr>
          <p:cNvPr id="15" name="Text 13"/>
          <p:cNvSpPr txBox="1"/>
          <p:nvPr/>
        </p:nvSpPr>
        <p:spPr>
          <a:xfrm>
            <a:off x="8330184" y="2272284"/>
            <a:ext cx="3118104" cy="182880"/>
          </a:xfrm>
          <a:prstGeom prst="rect">
            <a:avLst/>
          </a:prstGeom>
          <a:noFill/>
          <a:ln/>
        </p:spPr>
        <p:txBody>
          <a:bodyPr wrap="square" lIns="0" tIns="0" rIns="0" bIns="0" rtlCol="0" anchor="ctr"/>
          <a:lstStyle/>
          <a:p>
            <a:pPr indent="0" marL="0">
              <a:buNone/>
            </a:pPr>
            <a:r>
              <a:rPr lang="en-US" sz="750" b="1" spc="140" kern="0" dirty="0">
                <a:solidFill>
                  <a:srgbClr val="8A94A6"/>
                </a:solidFill>
                <a:latin typeface="Trenda IG Display" pitchFamily="34" charset="0"/>
                <a:ea typeface="Trenda IG Display" pitchFamily="34" charset="-122"/>
                <a:cs typeface="Trenda IG Display" pitchFamily="34" charset="-120"/>
              </a:rPr>
              <a:t>THE HUMAN BOUNDARY, BY DESIGN</a:t>
            </a:r>
            <a:endParaRPr lang="en-US" sz="750" dirty="0"/>
          </a:p>
        </p:txBody>
      </p:sp>
      <p:sp>
        <p:nvSpPr>
          <p:cNvPr id="16" name="Text 14"/>
          <p:cNvSpPr txBox="1"/>
          <p:nvPr/>
        </p:nvSpPr>
        <p:spPr>
          <a:xfrm>
            <a:off x="8330184" y="2564892"/>
            <a:ext cx="3118104" cy="1883664"/>
          </a:xfrm>
          <a:prstGeom prst="rect">
            <a:avLst/>
          </a:prstGeom>
          <a:noFill/>
          <a:ln/>
        </p:spPr>
        <p:txBody>
          <a:bodyPr wrap="square" lIns="0" tIns="0" rIns="0" bIns="0" rtlCol="0" anchor="t"/>
          <a:lstStyle/>
          <a:p>
            <a:pPr marL="152400" indent="-152400">
              <a:lnSpc>
                <a:spcPts val="1300"/>
              </a:lnSpc>
              <a:spcAft>
                <a:spcPts val="700"/>
              </a:spcAft>
              <a:buSzPct val="100000"/>
              <a:buChar char="•"/>
            </a:pPr>
            <a:r>
              <a:rPr lang="en-US" sz="900" dirty="0">
                <a:solidFill>
                  <a:srgbClr val="E6EAF2"/>
                </a:solidFill>
                <a:latin typeface="Trenda IG Text" pitchFamily="34" charset="0"/>
                <a:ea typeface="Trenda IG Text" pitchFamily="34" charset="-122"/>
                <a:cs typeface="Trenda IG Text" pitchFamily="34" charset="-120"/>
              </a:rPr>
              <a:t>Judgement on whether the draft is right, complete and appropriate for this customer.</a:t>
            </a:r>
            <a:endParaRPr lang="en-US" sz="900" dirty="0"/>
          </a:p>
          <a:p>
            <a:pPr marL="152400" indent="-152400">
              <a:lnSpc>
                <a:spcPts val="1300"/>
              </a:lnSpc>
              <a:spcAft>
                <a:spcPts val="700"/>
              </a:spcAft>
              <a:buSzPct val="100000"/>
              <a:buChar char="•"/>
            </a:pPr>
            <a:r>
              <a:rPr lang="en-US" sz="900" dirty="0">
                <a:solidFill>
                  <a:srgbClr val="E6EAF2"/>
                </a:solidFill>
                <a:latin typeface="Trenda IG Text" pitchFamily="34" charset="0"/>
                <a:ea typeface="Trenda IG Text" pitchFamily="34" charset="-122"/>
                <a:cs typeface="Trenda IG Text" pitchFamily="34" charset="-120"/>
              </a:rPr>
              <a:t>Every credit, return, pricing adjustment, account hold and billing dispute.</a:t>
            </a:r>
            <a:endParaRPr lang="en-US" sz="900" dirty="0"/>
          </a:p>
          <a:p>
            <a:pPr marL="152400" indent="-152400">
              <a:lnSpc>
                <a:spcPts val="1300"/>
              </a:lnSpc>
              <a:spcAft>
                <a:spcPts val="700"/>
              </a:spcAft>
              <a:buSzPct val="100000"/>
              <a:buChar char="•"/>
            </a:pPr>
            <a:r>
              <a:rPr lang="en-US" sz="900" dirty="0">
                <a:solidFill>
                  <a:srgbClr val="E6EAF2"/>
                </a:solidFill>
                <a:latin typeface="Trenda IG Text" pitchFamily="34" charset="0"/>
                <a:ea typeface="Trenda IG Text" pitchFamily="34" charset="-122"/>
                <a:cs typeface="Trenda IG Text" pitchFamily="34" charset="-120"/>
              </a:rPr>
              <a:t>Any case flagged as PHI sensitive, or where grounding data is missing or conflicting.</a:t>
            </a:r>
            <a:endParaRPr lang="en-US" sz="900" dirty="0"/>
          </a:p>
          <a:p>
            <a:pPr marL="152400" indent="-152400">
              <a:lnSpc>
                <a:spcPts val="1300"/>
              </a:lnSpc>
              <a:spcAft>
                <a:spcPts val="700"/>
              </a:spcAft>
              <a:buSzPct val="100000"/>
              <a:buChar char="•"/>
            </a:pPr>
            <a:r>
              <a:rPr lang="en-US" sz="900" dirty="0">
                <a:solidFill>
                  <a:srgbClr val="E6EAF2"/>
                </a:solidFill>
                <a:latin typeface="Trenda IG Text" pitchFamily="34" charset="0"/>
                <a:ea typeface="Trenda IG Text" pitchFamily="34" charset="-122"/>
                <a:cs typeface="Trenda IG Text" pitchFamily="34" charset="-120"/>
              </a:rPr>
              <a:t>Complaints, financial authorisation and any case the customer has escalated.</a:t>
            </a:r>
            <a:endParaRPr lang="en-US" sz="900" dirty="0"/>
          </a:p>
        </p:txBody>
      </p:sp>
      <p:sp>
        <p:nvSpPr>
          <p:cNvPr id="17" name="Shape 15"/>
          <p:cNvSpPr/>
          <p:nvPr/>
        </p:nvSpPr>
        <p:spPr>
          <a:xfrm>
            <a:off x="502920" y="4796028"/>
            <a:ext cx="11183112" cy="457200"/>
          </a:xfrm>
          <a:prstGeom prst="roundRect">
            <a:avLst>
              <a:gd name="adj" fmla="val 8000"/>
            </a:avLst>
          </a:prstGeom>
          <a:solidFill>
            <a:srgbClr val="1A1226"/>
          </a:solidFill>
          <a:ln w="12700">
            <a:solidFill>
              <a:srgbClr val="4A2740"/>
            </a:solidFill>
            <a:prstDash val="solid"/>
          </a:ln>
        </p:spPr>
      </p:sp>
      <p:sp>
        <p:nvSpPr>
          <p:cNvPr id="18" name="Text 16"/>
          <p:cNvSpPr txBox="1"/>
          <p:nvPr/>
        </p:nvSpPr>
        <p:spPr>
          <a:xfrm>
            <a:off x="704088" y="4796028"/>
            <a:ext cx="10780776" cy="457200"/>
          </a:xfrm>
          <a:prstGeom prst="rect">
            <a:avLst/>
          </a:prstGeom>
          <a:noFill/>
          <a:ln/>
        </p:spPr>
        <p:txBody>
          <a:bodyPr wrap="square" lIns="0" tIns="0" rIns="0" bIns="0" rtlCol="0" anchor="ctr"/>
          <a:lstStyle/>
          <a:p>
            <a:pPr indent="0" marL="0">
              <a:buNone/>
            </a:pPr>
            <a:r>
              <a:rPr lang="en-US" sz="900" b="1" spc="140" kern="0" dirty="0">
                <a:solidFill>
                  <a:srgbClr val="FF0069"/>
                </a:solidFill>
                <a:latin typeface="Trenda IG Text" pitchFamily="34" charset="0"/>
                <a:ea typeface="Trenda IG Text" pitchFamily="34" charset="-122"/>
                <a:cs typeface="Trenda IG Text" pitchFamily="34" charset="-120"/>
              </a:rPr>
              <a:t>HUMAN IN THE LOOP   </a:t>
            </a:r>
            <a:pPr indent="0" marL="0">
              <a:buNone/>
            </a:pPr>
            <a:r>
              <a:rPr lang="en-US" sz="900" dirty="0">
                <a:solidFill>
                  <a:srgbClr val="E6EAF2"/>
                </a:solidFill>
                <a:latin typeface="Trenda IG Text" pitchFamily="34" charset="0"/>
                <a:ea typeface="Trenda IG Text" pitchFamily="34" charset="-122"/>
                <a:cs typeface="Trenda IG Text" pitchFamily="34" charset="-120"/>
              </a:rPr>
              <a:t>In Phase 2 no generated response reaches a customer without an agent approving it. Every draft, the prompt that produced it and the agent edit that followed are retained in the case audit trail.</a:t>
            </a:r>
            <a:endParaRPr lang="en-US" sz="900" dirty="0"/>
          </a:p>
        </p:txBody>
      </p:sp>
      <p:pic>
        <p:nvPicPr>
          <p:cNvPr id="19" name="Image 0" descr="assets/ig-mark.png">    </p:cNvPr>
          <p:cNvPicPr>
            <a:picLocks noChangeAspect="1"/>
          </p:cNvPicPr>
          <p:nvPr/>
        </p:nvPicPr>
        <p:blipFill>
          <a:blip r:embed="rId1"/>
          <a:stretch>
            <a:fillRect/>
          </a:stretch>
        </p:blipFill>
        <p:spPr>
          <a:xfrm>
            <a:off x="502920" y="6455664"/>
            <a:ext cx="420624" cy="144475"/>
          </a:xfrm>
          <a:prstGeom prst="rect">
            <a:avLst/>
          </a:prstGeom>
        </p:spPr>
      </p:pic>
      <p:sp>
        <p:nvSpPr>
          <p:cNvPr id="20" name="Text 17"/>
          <p:cNvSpPr txBox="1"/>
          <p:nvPr/>
        </p:nvSpPr>
        <p:spPr>
          <a:xfrm>
            <a:off x="11201400" y="6400800"/>
            <a:ext cx="484632" cy="237744"/>
          </a:xfrm>
          <a:prstGeom prst="rect">
            <a:avLst/>
          </a:prstGeom>
          <a:noFill/>
          <a:ln/>
        </p:spPr>
        <p:txBody>
          <a:bodyPr wrap="square" lIns="0" tIns="0" rIns="0" bIns="0" rtlCol="0" anchor="ctr"/>
          <a:lstStyle/>
          <a:p>
            <a:pPr algn="r" indent="0" marL="0">
              <a:buNone/>
            </a:pPr>
            <a:r>
              <a:rPr lang="en-US" sz="850" dirty="0">
                <a:solidFill>
                  <a:srgbClr val="8A94A6"/>
                </a:solidFill>
                <a:latin typeface="Trenda IG Text" pitchFamily="34" charset="0"/>
                <a:ea typeface="Trenda IG Text" pitchFamily="34" charset="-122"/>
                <a:cs typeface="Trenda IG Text" pitchFamily="34" charset="-120"/>
              </a:rPr>
              <a:t>13</a:t>
            </a:r>
            <a:endParaRPr lang="en-US" sz="85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bg>
      <p:bgPr>
        <a:solidFill>
          <a:srgbClr val="0A0D14"/>
        </a:solidFill>
      </p:bgPr>
    </p:bg>
    <p:spTree>
      <p:nvGrpSpPr>
        <p:cNvPr id="1" name=""/>
        <p:cNvGrpSpPr/>
        <p:nvPr/>
      </p:nvGrpSpPr>
      <p:grpSpPr>
        <a:xfrm>
          <a:off x="0" y="0"/>
          <a:ext cx="0" cy="0"/>
          <a:chOff x="0" y="0"/>
          <a:chExt cx="0" cy="0"/>
        </a:xfrm>
      </p:grpSpPr>
      <p:sp>
        <p:nvSpPr>
          <p:cNvPr id="2" name="Text 0"/>
          <p:cNvSpPr txBox="1"/>
          <p:nvPr/>
        </p:nvSpPr>
        <p:spPr>
          <a:xfrm>
            <a:off x="502920" y="384048"/>
            <a:ext cx="11183112" cy="219456"/>
          </a:xfrm>
          <a:prstGeom prst="rect">
            <a:avLst/>
          </a:prstGeom>
          <a:noFill/>
          <a:ln/>
        </p:spPr>
        <p:txBody>
          <a:bodyPr wrap="square" lIns="0" tIns="0" rIns="0" bIns="0" rtlCol="0" anchor="ctr"/>
          <a:lstStyle/>
          <a:p>
            <a:pPr indent="0" marL="0">
              <a:buNone/>
            </a:pPr>
            <a:r>
              <a:rPr lang="en-US" sz="1000" b="1" spc="220" kern="0" dirty="0">
                <a:solidFill>
                  <a:srgbClr val="22D3EE"/>
                </a:solidFill>
                <a:latin typeface="Trenda IG Display" pitchFamily="34" charset="0"/>
                <a:ea typeface="Trenda IG Display" pitchFamily="34" charset="-122"/>
                <a:cs typeface="Trenda IG Display" pitchFamily="34" charset="-120"/>
              </a:rPr>
              <a:t>GROUNDING</a:t>
            </a:r>
            <a:endParaRPr lang="en-US" sz="1000" dirty="0"/>
          </a:p>
        </p:txBody>
      </p:sp>
      <p:sp>
        <p:nvSpPr>
          <p:cNvPr id="3" name="Text 1"/>
          <p:cNvSpPr txBox="1"/>
          <p:nvPr/>
        </p:nvSpPr>
        <p:spPr>
          <a:xfrm>
            <a:off x="502920" y="658368"/>
            <a:ext cx="11183112" cy="416052"/>
          </a:xfrm>
          <a:prstGeom prst="rect">
            <a:avLst/>
          </a:prstGeom>
          <a:noFill/>
          <a:ln/>
        </p:spPr>
        <p:txBody>
          <a:bodyPr wrap="square" lIns="0" tIns="0" rIns="0" bIns="0" rtlCol="0" anchor="ctr"/>
          <a:lstStyle/>
          <a:p>
            <a:pPr indent="0" marL="0">
              <a:lnSpc>
                <a:spcPts val="3016"/>
              </a:lnSpc>
              <a:buNone/>
            </a:pPr>
            <a:r>
              <a:rPr lang="en-US" sz="2600" b="1" spc="40" kern="0" dirty="0">
                <a:solidFill>
                  <a:srgbClr val="FFFFFF"/>
                </a:solidFill>
                <a:latin typeface="Trenda IG Display" pitchFamily="34" charset="0"/>
                <a:ea typeface="Trenda IG Display" pitchFamily="34" charset="-122"/>
                <a:cs typeface="Trenda IG Display" pitchFamily="34" charset="-120"/>
              </a:rPr>
              <a:t>KNOWLEDGE ARTICLES ARE WHAT MAKE THE ANSWER CORRECT</a:t>
            </a:r>
            <a:endParaRPr lang="en-US" sz="2600" dirty="0"/>
          </a:p>
        </p:txBody>
      </p:sp>
      <p:sp>
        <p:nvSpPr>
          <p:cNvPr id="4" name="Text 2"/>
          <p:cNvSpPr txBox="1"/>
          <p:nvPr/>
        </p:nvSpPr>
        <p:spPr>
          <a:xfrm>
            <a:off x="502920" y="1156716"/>
            <a:ext cx="11183112" cy="384048"/>
          </a:xfrm>
          <a:prstGeom prst="rect">
            <a:avLst/>
          </a:prstGeom>
          <a:noFill/>
          <a:ln/>
        </p:spPr>
        <p:txBody>
          <a:bodyPr wrap="square" lIns="0" tIns="0" rIns="0" bIns="0" rtlCol="0" anchor="t"/>
          <a:lstStyle/>
          <a:p>
            <a:pPr indent="0" marL="0">
              <a:lnSpc>
                <a:spcPts val="1500"/>
              </a:lnSpc>
              <a:buNone/>
            </a:pPr>
            <a:r>
              <a:rPr lang="en-US" sz="1150" dirty="0">
                <a:solidFill>
                  <a:srgbClr val="8A94A6"/>
                </a:solidFill>
                <a:latin typeface="Trenda IG Text" pitchFamily="34" charset="0"/>
                <a:ea typeface="Trenda IG Text" pitchFamily="34" charset="-122"/>
                <a:cs typeface="Trenda IG Text" pitchFamily="34" charset="-120"/>
              </a:rPr>
              <a:t>A draft is only as good as what it is grounded in. Salesforce Knowledge is the source of truth for both the agent and the template, which means improving an article improves every future response.</a:t>
            </a:r>
            <a:endParaRPr lang="en-US" sz="1150" dirty="0"/>
          </a:p>
        </p:txBody>
      </p:sp>
      <p:sp>
        <p:nvSpPr>
          <p:cNvPr id="5" name="Shape 3"/>
          <p:cNvSpPr/>
          <p:nvPr/>
        </p:nvSpPr>
        <p:spPr>
          <a:xfrm>
            <a:off x="502920" y="1796796"/>
            <a:ext cx="6858000" cy="3310128"/>
          </a:xfrm>
          <a:prstGeom prst="roundRect">
            <a:avLst>
              <a:gd name="adj" fmla="val 1105"/>
            </a:avLst>
          </a:prstGeom>
          <a:solidFill>
            <a:srgbClr val="151A24"/>
          </a:solidFill>
          <a:ln w="12700">
            <a:solidFill>
              <a:srgbClr val="252D3D"/>
            </a:solidFill>
            <a:prstDash val="solid"/>
          </a:ln>
        </p:spPr>
      </p:sp>
      <p:sp>
        <p:nvSpPr>
          <p:cNvPr id="6" name="Text 4"/>
          <p:cNvSpPr txBox="1"/>
          <p:nvPr/>
        </p:nvSpPr>
        <p:spPr>
          <a:xfrm>
            <a:off x="740664" y="1997964"/>
            <a:ext cx="6382512" cy="201168"/>
          </a:xfrm>
          <a:prstGeom prst="rect">
            <a:avLst/>
          </a:prstGeom>
          <a:noFill/>
          <a:ln/>
        </p:spPr>
        <p:txBody>
          <a:bodyPr wrap="square" lIns="0" tIns="0" rIns="0" bIns="0" rtlCol="0" anchor="ctr"/>
          <a:lstStyle/>
          <a:p>
            <a:pPr indent="0" marL="0">
              <a:buNone/>
            </a:pPr>
            <a:r>
              <a:rPr lang="en-US" sz="1050" b="1" spc="140" kern="0" dirty="0">
                <a:solidFill>
                  <a:srgbClr val="FFFFFF"/>
                </a:solidFill>
                <a:latin typeface="Trenda IG Display" pitchFamily="34" charset="0"/>
                <a:ea typeface="Trenda IG Display" pitchFamily="34" charset="-122"/>
                <a:cs typeface="Trenda IG Display" pitchFamily="34" charset="-120"/>
              </a:rPr>
              <a:t>THE GROUNDING AND IMPROVEMENT LOOP</a:t>
            </a:r>
            <a:endParaRPr lang="en-US" sz="1050" dirty="0"/>
          </a:p>
        </p:txBody>
      </p:sp>
      <p:sp>
        <p:nvSpPr>
          <p:cNvPr id="7" name="Shape 5"/>
          <p:cNvSpPr/>
          <p:nvPr/>
        </p:nvSpPr>
        <p:spPr>
          <a:xfrm>
            <a:off x="740664" y="2464308"/>
            <a:ext cx="237744" cy="237744"/>
          </a:xfrm>
          <a:prstGeom prst="roundRect">
            <a:avLst>
              <a:gd name="adj" fmla="val 19231"/>
            </a:avLst>
          </a:prstGeom>
          <a:solidFill>
            <a:srgbClr val="0A0D14"/>
          </a:solidFill>
          <a:ln w="12700">
            <a:solidFill>
              <a:srgbClr val="22D3EE"/>
            </a:solidFill>
            <a:prstDash val="solid"/>
          </a:ln>
        </p:spPr>
      </p:sp>
      <p:sp>
        <p:nvSpPr>
          <p:cNvPr id="8" name="Text 6"/>
          <p:cNvSpPr txBox="1"/>
          <p:nvPr/>
        </p:nvSpPr>
        <p:spPr>
          <a:xfrm>
            <a:off x="740664" y="2464308"/>
            <a:ext cx="237744" cy="237744"/>
          </a:xfrm>
          <a:prstGeom prst="rect">
            <a:avLst/>
          </a:prstGeom>
          <a:noFill/>
          <a:ln/>
        </p:spPr>
        <p:txBody>
          <a:bodyPr wrap="square" lIns="0" tIns="0" rIns="0" bIns="0" rtlCol="0" anchor="ctr"/>
          <a:lstStyle/>
          <a:p>
            <a:pPr algn="ctr" indent="0" marL="0">
              <a:buNone/>
            </a:pPr>
            <a:r>
              <a:rPr lang="en-US" sz="950" b="1" dirty="0">
                <a:solidFill>
                  <a:srgbClr val="22D3EE"/>
                </a:solidFill>
                <a:latin typeface="Trenda IG Display" pitchFamily="34" charset="0"/>
                <a:ea typeface="Trenda IG Display" pitchFamily="34" charset="-122"/>
                <a:cs typeface="Trenda IG Display" pitchFamily="34" charset="-120"/>
              </a:rPr>
              <a:t>1</a:t>
            </a:r>
            <a:endParaRPr lang="en-US" sz="950" dirty="0"/>
          </a:p>
        </p:txBody>
      </p:sp>
      <p:sp>
        <p:nvSpPr>
          <p:cNvPr id="9" name="Text 7"/>
          <p:cNvSpPr txBox="1"/>
          <p:nvPr/>
        </p:nvSpPr>
        <p:spPr>
          <a:xfrm>
            <a:off x="1069848" y="2418588"/>
            <a:ext cx="1325880" cy="292608"/>
          </a:xfrm>
          <a:prstGeom prst="rect">
            <a:avLst/>
          </a:prstGeom>
          <a:noFill/>
          <a:ln/>
        </p:spPr>
        <p:txBody>
          <a:bodyPr wrap="square" lIns="0" tIns="0" rIns="0" bIns="0" rtlCol="0" anchor="ctr"/>
          <a:lstStyle/>
          <a:p>
            <a:pPr indent="0" marL="0">
              <a:buNone/>
            </a:pPr>
            <a:r>
              <a:rPr lang="en-US" sz="950" b="1" dirty="0">
                <a:solidFill>
                  <a:srgbClr val="22D3EE"/>
                </a:solidFill>
                <a:latin typeface="Trenda IG Text" pitchFamily="34" charset="0"/>
                <a:ea typeface="Trenda IG Text" pitchFamily="34" charset="-122"/>
                <a:cs typeface="Trenda IG Text" pitchFamily="34" charset="-120"/>
              </a:rPr>
              <a:t>Retrieve</a:t>
            </a:r>
            <a:endParaRPr lang="en-US" sz="950" dirty="0"/>
          </a:p>
        </p:txBody>
      </p:sp>
      <p:sp>
        <p:nvSpPr>
          <p:cNvPr id="10" name="Text 8"/>
          <p:cNvSpPr txBox="1"/>
          <p:nvPr/>
        </p:nvSpPr>
        <p:spPr>
          <a:xfrm>
            <a:off x="2404872" y="2418588"/>
            <a:ext cx="4718304" cy="365760"/>
          </a:xfrm>
          <a:prstGeom prst="rect">
            <a:avLst/>
          </a:prstGeom>
          <a:noFill/>
          <a:ln/>
        </p:spPr>
        <p:txBody>
          <a:bodyPr wrap="square" lIns="0" tIns="0" rIns="0" bIns="0" rtlCol="0" anchor="ctr"/>
          <a:lstStyle/>
          <a:p>
            <a:pPr indent="0" marL="0">
              <a:lnSpc>
                <a:spcPts val="1100"/>
              </a:lnSpc>
              <a:buNone/>
            </a:pPr>
            <a:r>
              <a:rPr lang="en-US" sz="850" dirty="0">
                <a:solidFill>
                  <a:srgbClr val="8A94A6"/>
                </a:solidFill>
                <a:latin typeface="Trenda IG Text" pitchFamily="34" charset="0"/>
                <a:ea typeface="Trenda IG Text" pitchFamily="34" charset="-122"/>
                <a:cs typeface="Trenda IG Text" pitchFamily="34" charset="-120"/>
              </a:rPr>
              <a:t>The case category and service family map onto Knowledge data categories, so the search is scoped before it starts.</a:t>
            </a:r>
            <a:endParaRPr lang="en-US" sz="850" dirty="0"/>
          </a:p>
        </p:txBody>
      </p:sp>
      <p:sp>
        <p:nvSpPr>
          <p:cNvPr id="11" name="Shape 9"/>
          <p:cNvSpPr/>
          <p:nvPr/>
        </p:nvSpPr>
        <p:spPr>
          <a:xfrm>
            <a:off x="740664" y="2912364"/>
            <a:ext cx="237744" cy="237744"/>
          </a:xfrm>
          <a:prstGeom prst="roundRect">
            <a:avLst>
              <a:gd name="adj" fmla="val 19231"/>
            </a:avLst>
          </a:prstGeom>
          <a:solidFill>
            <a:srgbClr val="0A0D14"/>
          </a:solidFill>
          <a:ln w="12700">
            <a:solidFill>
              <a:srgbClr val="22D3EE"/>
            </a:solidFill>
            <a:prstDash val="solid"/>
          </a:ln>
        </p:spPr>
      </p:sp>
      <p:sp>
        <p:nvSpPr>
          <p:cNvPr id="12" name="Text 10"/>
          <p:cNvSpPr txBox="1"/>
          <p:nvPr/>
        </p:nvSpPr>
        <p:spPr>
          <a:xfrm>
            <a:off x="740664" y="2912364"/>
            <a:ext cx="237744" cy="237744"/>
          </a:xfrm>
          <a:prstGeom prst="rect">
            <a:avLst/>
          </a:prstGeom>
          <a:noFill/>
          <a:ln/>
        </p:spPr>
        <p:txBody>
          <a:bodyPr wrap="square" lIns="0" tIns="0" rIns="0" bIns="0" rtlCol="0" anchor="ctr"/>
          <a:lstStyle/>
          <a:p>
            <a:pPr algn="ctr" indent="0" marL="0">
              <a:buNone/>
            </a:pPr>
            <a:r>
              <a:rPr lang="en-US" sz="950" b="1" dirty="0">
                <a:solidFill>
                  <a:srgbClr val="22D3EE"/>
                </a:solidFill>
                <a:latin typeface="Trenda IG Display" pitchFamily="34" charset="0"/>
                <a:ea typeface="Trenda IG Display" pitchFamily="34" charset="-122"/>
                <a:cs typeface="Trenda IG Display" pitchFamily="34" charset="-120"/>
              </a:rPr>
              <a:t>2</a:t>
            </a:r>
            <a:endParaRPr lang="en-US" sz="950" dirty="0"/>
          </a:p>
        </p:txBody>
      </p:sp>
      <p:sp>
        <p:nvSpPr>
          <p:cNvPr id="13" name="Text 11"/>
          <p:cNvSpPr txBox="1"/>
          <p:nvPr/>
        </p:nvSpPr>
        <p:spPr>
          <a:xfrm>
            <a:off x="1069848" y="2866644"/>
            <a:ext cx="1325880" cy="292608"/>
          </a:xfrm>
          <a:prstGeom prst="rect">
            <a:avLst/>
          </a:prstGeom>
          <a:noFill/>
          <a:ln/>
        </p:spPr>
        <p:txBody>
          <a:bodyPr wrap="square" lIns="0" tIns="0" rIns="0" bIns="0" rtlCol="0" anchor="ctr"/>
          <a:lstStyle/>
          <a:p>
            <a:pPr indent="0" marL="0">
              <a:buNone/>
            </a:pPr>
            <a:r>
              <a:rPr lang="en-US" sz="950" b="1" dirty="0">
                <a:solidFill>
                  <a:srgbClr val="22D3EE"/>
                </a:solidFill>
                <a:latin typeface="Trenda IG Text" pitchFamily="34" charset="0"/>
                <a:ea typeface="Trenda IG Text" pitchFamily="34" charset="-122"/>
                <a:cs typeface="Trenda IG Text" pitchFamily="34" charset="-120"/>
              </a:rPr>
              <a:t>Recommend</a:t>
            </a:r>
            <a:endParaRPr lang="en-US" sz="950" dirty="0"/>
          </a:p>
        </p:txBody>
      </p:sp>
      <p:sp>
        <p:nvSpPr>
          <p:cNvPr id="14" name="Text 12"/>
          <p:cNvSpPr txBox="1"/>
          <p:nvPr/>
        </p:nvSpPr>
        <p:spPr>
          <a:xfrm>
            <a:off x="2404872" y="2866644"/>
            <a:ext cx="4718304" cy="365760"/>
          </a:xfrm>
          <a:prstGeom prst="rect">
            <a:avLst/>
          </a:prstGeom>
          <a:noFill/>
          <a:ln/>
        </p:spPr>
        <p:txBody>
          <a:bodyPr wrap="square" lIns="0" tIns="0" rIns="0" bIns="0" rtlCol="0" anchor="ctr"/>
          <a:lstStyle/>
          <a:p>
            <a:pPr indent="0" marL="0">
              <a:lnSpc>
                <a:spcPts val="1100"/>
              </a:lnSpc>
              <a:buNone/>
            </a:pPr>
            <a:r>
              <a:rPr lang="en-US" sz="850" dirty="0">
                <a:solidFill>
                  <a:srgbClr val="8A94A6"/>
                </a:solidFill>
                <a:latin typeface="Trenda IG Text" pitchFamily="34" charset="0"/>
                <a:ea typeface="Trenda IG Text" pitchFamily="34" charset="-122"/>
                <a:cs typeface="Trenda IG Text" pitchFamily="34" charset="-120"/>
              </a:rPr>
              <a:t>Einstein Article Recommendations surface the likely articles on the case record for the agent to confirm.</a:t>
            </a:r>
            <a:endParaRPr lang="en-US" sz="850" dirty="0"/>
          </a:p>
        </p:txBody>
      </p:sp>
      <p:sp>
        <p:nvSpPr>
          <p:cNvPr id="15" name="Shape 13"/>
          <p:cNvSpPr/>
          <p:nvPr/>
        </p:nvSpPr>
        <p:spPr>
          <a:xfrm>
            <a:off x="740664" y="3360420"/>
            <a:ext cx="237744" cy="237744"/>
          </a:xfrm>
          <a:prstGeom prst="roundRect">
            <a:avLst>
              <a:gd name="adj" fmla="val 19231"/>
            </a:avLst>
          </a:prstGeom>
          <a:solidFill>
            <a:srgbClr val="0A0D14"/>
          </a:solidFill>
          <a:ln w="12700">
            <a:solidFill>
              <a:srgbClr val="22D3EE"/>
            </a:solidFill>
            <a:prstDash val="solid"/>
          </a:ln>
        </p:spPr>
      </p:sp>
      <p:sp>
        <p:nvSpPr>
          <p:cNvPr id="16" name="Text 14"/>
          <p:cNvSpPr txBox="1"/>
          <p:nvPr/>
        </p:nvSpPr>
        <p:spPr>
          <a:xfrm>
            <a:off x="740664" y="3360420"/>
            <a:ext cx="237744" cy="237744"/>
          </a:xfrm>
          <a:prstGeom prst="rect">
            <a:avLst/>
          </a:prstGeom>
          <a:noFill/>
          <a:ln/>
        </p:spPr>
        <p:txBody>
          <a:bodyPr wrap="square" lIns="0" tIns="0" rIns="0" bIns="0" rtlCol="0" anchor="ctr"/>
          <a:lstStyle/>
          <a:p>
            <a:pPr algn="ctr" indent="0" marL="0">
              <a:buNone/>
            </a:pPr>
            <a:r>
              <a:rPr lang="en-US" sz="950" b="1" dirty="0">
                <a:solidFill>
                  <a:srgbClr val="22D3EE"/>
                </a:solidFill>
                <a:latin typeface="Trenda IG Display" pitchFamily="34" charset="0"/>
                <a:ea typeface="Trenda IG Display" pitchFamily="34" charset="-122"/>
                <a:cs typeface="Trenda IG Display" pitchFamily="34" charset="-120"/>
              </a:rPr>
              <a:t>3</a:t>
            </a:r>
            <a:endParaRPr lang="en-US" sz="950" dirty="0"/>
          </a:p>
        </p:txBody>
      </p:sp>
      <p:sp>
        <p:nvSpPr>
          <p:cNvPr id="17" name="Text 15"/>
          <p:cNvSpPr txBox="1"/>
          <p:nvPr/>
        </p:nvSpPr>
        <p:spPr>
          <a:xfrm>
            <a:off x="1069848" y="3314700"/>
            <a:ext cx="1325880" cy="292608"/>
          </a:xfrm>
          <a:prstGeom prst="rect">
            <a:avLst/>
          </a:prstGeom>
          <a:noFill/>
          <a:ln/>
        </p:spPr>
        <p:txBody>
          <a:bodyPr wrap="square" lIns="0" tIns="0" rIns="0" bIns="0" rtlCol="0" anchor="ctr"/>
          <a:lstStyle/>
          <a:p>
            <a:pPr indent="0" marL="0">
              <a:buNone/>
            </a:pPr>
            <a:r>
              <a:rPr lang="en-US" sz="950" b="1" dirty="0">
                <a:solidFill>
                  <a:srgbClr val="22D3EE"/>
                </a:solidFill>
                <a:latin typeface="Trenda IG Text" pitchFamily="34" charset="0"/>
                <a:ea typeface="Trenda IG Text" pitchFamily="34" charset="-122"/>
                <a:cs typeface="Trenda IG Text" pitchFamily="34" charset="-120"/>
              </a:rPr>
              <a:t>Ground</a:t>
            </a:r>
            <a:endParaRPr lang="en-US" sz="950" dirty="0"/>
          </a:p>
        </p:txBody>
      </p:sp>
      <p:sp>
        <p:nvSpPr>
          <p:cNvPr id="18" name="Text 16"/>
          <p:cNvSpPr txBox="1"/>
          <p:nvPr/>
        </p:nvSpPr>
        <p:spPr>
          <a:xfrm>
            <a:off x="2404872" y="3314700"/>
            <a:ext cx="4718304" cy="365760"/>
          </a:xfrm>
          <a:prstGeom prst="rect">
            <a:avLst/>
          </a:prstGeom>
          <a:noFill/>
          <a:ln/>
        </p:spPr>
        <p:txBody>
          <a:bodyPr wrap="square" lIns="0" tIns="0" rIns="0" bIns="0" rtlCol="0" anchor="ctr"/>
          <a:lstStyle/>
          <a:p>
            <a:pPr indent="0" marL="0">
              <a:lnSpc>
                <a:spcPts val="1100"/>
              </a:lnSpc>
              <a:buNone/>
            </a:pPr>
            <a:r>
              <a:rPr lang="en-US" sz="850" dirty="0">
                <a:solidFill>
                  <a:srgbClr val="8A94A6"/>
                </a:solidFill>
                <a:latin typeface="Trenda IG Text" pitchFamily="34" charset="0"/>
                <a:ea typeface="Trenda IG Text" pitchFamily="34" charset="-122"/>
                <a:cs typeface="Trenda IG Text" pitchFamily="34" charset="-120"/>
              </a:rPr>
              <a:t>The confirmed article is passed to the draft template as grounding, so the response reflects current policy.</a:t>
            </a:r>
            <a:endParaRPr lang="en-US" sz="850" dirty="0"/>
          </a:p>
        </p:txBody>
      </p:sp>
      <p:sp>
        <p:nvSpPr>
          <p:cNvPr id="19" name="Shape 17"/>
          <p:cNvSpPr/>
          <p:nvPr/>
        </p:nvSpPr>
        <p:spPr>
          <a:xfrm>
            <a:off x="740664" y="3808476"/>
            <a:ext cx="237744" cy="237744"/>
          </a:xfrm>
          <a:prstGeom prst="roundRect">
            <a:avLst>
              <a:gd name="adj" fmla="val 19231"/>
            </a:avLst>
          </a:prstGeom>
          <a:solidFill>
            <a:srgbClr val="0A0D14"/>
          </a:solidFill>
          <a:ln w="12700">
            <a:solidFill>
              <a:srgbClr val="22D3EE"/>
            </a:solidFill>
            <a:prstDash val="solid"/>
          </a:ln>
        </p:spPr>
      </p:sp>
      <p:sp>
        <p:nvSpPr>
          <p:cNvPr id="20" name="Text 18"/>
          <p:cNvSpPr txBox="1"/>
          <p:nvPr/>
        </p:nvSpPr>
        <p:spPr>
          <a:xfrm>
            <a:off x="740664" y="3808476"/>
            <a:ext cx="237744" cy="237744"/>
          </a:xfrm>
          <a:prstGeom prst="rect">
            <a:avLst/>
          </a:prstGeom>
          <a:noFill/>
          <a:ln/>
        </p:spPr>
        <p:txBody>
          <a:bodyPr wrap="square" lIns="0" tIns="0" rIns="0" bIns="0" rtlCol="0" anchor="ctr"/>
          <a:lstStyle/>
          <a:p>
            <a:pPr algn="ctr" indent="0" marL="0">
              <a:buNone/>
            </a:pPr>
            <a:r>
              <a:rPr lang="en-US" sz="950" b="1" dirty="0">
                <a:solidFill>
                  <a:srgbClr val="22D3EE"/>
                </a:solidFill>
                <a:latin typeface="Trenda IG Display" pitchFamily="34" charset="0"/>
                <a:ea typeface="Trenda IG Display" pitchFamily="34" charset="-122"/>
                <a:cs typeface="Trenda IG Display" pitchFamily="34" charset="-120"/>
              </a:rPr>
              <a:t>4</a:t>
            </a:r>
            <a:endParaRPr lang="en-US" sz="950" dirty="0"/>
          </a:p>
        </p:txBody>
      </p:sp>
      <p:sp>
        <p:nvSpPr>
          <p:cNvPr id="21" name="Text 19"/>
          <p:cNvSpPr txBox="1"/>
          <p:nvPr/>
        </p:nvSpPr>
        <p:spPr>
          <a:xfrm>
            <a:off x="1069848" y="3762756"/>
            <a:ext cx="1325880" cy="292608"/>
          </a:xfrm>
          <a:prstGeom prst="rect">
            <a:avLst/>
          </a:prstGeom>
          <a:noFill/>
          <a:ln/>
        </p:spPr>
        <p:txBody>
          <a:bodyPr wrap="square" lIns="0" tIns="0" rIns="0" bIns="0" rtlCol="0" anchor="ctr"/>
          <a:lstStyle/>
          <a:p>
            <a:pPr indent="0" marL="0">
              <a:buNone/>
            </a:pPr>
            <a:r>
              <a:rPr lang="en-US" sz="950" b="1" dirty="0">
                <a:solidFill>
                  <a:srgbClr val="22D3EE"/>
                </a:solidFill>
                <a:latin typeface="Trenda IG Text" pitchFamily="34" charset="0"/>
                <a:ea typeface="Trenda IG Text" pitchFamily="34" charset="-122"/>
                <a:cs typeface="Trenda IG Text" pitchFamily="34" charset="-120"/>
              </a:rPr>
              <a:t>Attach</a:t>
            </a:r>
            <a:endParaRPr lang="en-US" sz="950" dirty="0"/>
          </a:p>
        </p:txBody>
      </p:sp>
      <p:sp>
        <p:nvSpPr>
          <p:cNvPr id="22" name="Text 20"/>
          <p:cNvSpPr txBox="1"/>
          <p:nvPr/>
        </p:nvSpPr>
        <p:spPr>
          <a:xfrm>
            <a:off x="2404872" y="3762756"/>
            <a:ext cx="4718304" cy="365760"/>
          </a:xfrm>
          <a:prstGeom prst="rect">
            <a:avLst/>
          </a:prstGeom>
          <a:noFill/>
          <a:ln/>
        </p:spPr>
        <p:txBody>
          <a:bodyPr wrap="square" lIns="0" tIns="0" rIns="0" bIns="0" rtlCol="0" anchor="ctr"/>
          <a:lstStyle/>
          <a:p>
            <a:pPr indent="0" marL="0">
              <a:lnSpc>
                <a:spcPts val="1100"/>
              </a:lnSpc>
              <a:buNone/>
            </a:pPr>
            <a:r>
              <a:rPr lang="en-US" sz="850" dirty="0">
                <a:solidFill>
                  <a:srgbClr val="8A94A6"/>
                </a:solidFill>
                <a:latin typeface="Trenda IG Text" pitchFamily="34" charset="0"/>
                <a:ea typeface="Trenda IG Text" pitchFamily="34" charset="-122"/>
                <a:cs typeface="Trenda IG Text" pitchFamily="34" charset="-120"/>
              </a:rPr>
              <a:t>The article used is attached to the case, which gives a measurable view of which content actually resolves cases.</a:t>
            </a:r>
            <a:endParaRPr lang="en-US" sz="850" dirty="0"/>
          </a:p>
        </p:txBody>
      </p:sp>
      <p:sp>
        <p:nvSpPr>
          <p:cNvPr id="23" name="Shape 21"/>
          <p:cNvSpPr/>
          <p:nvPr/>
        </p:nvSpPr>
        <p:spPr>
          <a:xfrm>
            <a:off x="740664" y="4256532"/>
            <a:ext cx="237744" cy="237744"/>
          </a:xfrm>
          <a:prstGeom prst="roundRect">
            <a:avLst>
              <a:gd name="adj" fmla="val 19231"/>
            </a:avLst>
          </a:prstGeom>
          <a:solidFill>
            <a:srgbClr val="0A0D14"/>
          </a:solidFill>
          <a:ln w="12700">
            <a:solidFill>
              <a:srgbClr val="22D3EE"/>
            </a:solidFill>
            <a:prstDash val="solid"/>
          </a:ln>
        </p:spPr>
      </p:sp>
      <p:sp>
        <p:nvSpPr>
          <p:cNvPr id="24" name="Text 22"/>
          <p:cNvSpPr txBox="1"/>
          <p:nvPr/>
        </p:nvSpPr>
        <p:spPr>
          <a:xfrm>
            <a:off x="740664" y="4256532"/>
            <a:ext cx="237744" cy="237744"/>
          </a:xfrm>
          <a:prstGeom prst="rect">
            <a:avLst/>
          </a:prstGeom>
          <a:noFill/>
          <a:ln/>
        </p:spPr>
        <p:txBody>
          <a:bodyPr wrap="square" lIns="0" tIns="0" rIns="0" bIns="0" rtlCol="0" anchor="ctr"/>
          <a:lstStyle/>
          <a:p>
            <a:pPr algn="ctr" indent="0" marL="0">
              <a:buNone/>
            </a:pPr>
            <a:r>
              <a:rPr lang="en-US" sz="950" b="1" dirty="0">
                <a:solidFill>
                  <a:srgbClr val="22D3EE"/>
                </a:solidFill>
                <a:latin typeface="Trenda IG Display" pitchFamily="34" charset="0"/>
                <a:ea typeface="Trenda IG Display" pitchFamily="34" charset="-122"/>
                <a:cs typeface="Trenda IG Display" pitchFamily="34" charset="-120"/>
              </a:rPr>
              <a:t>5</a:t>
            </a:r>
            <a:endParaRPr lang="en-US" sz="950" dirty="0"/>
          </a:p>
        </p:txBody>
      </p:sp>
      <p:sp>
        <p:nvSpPr>
          <p:cNvPr id="25" name="Text 23"/>
          <p:cNvSpPr txBox="1"/>
          <p:nvPr/>
        </p:nvSpPr>
        <p:spPr>
          <a:xfrm>
            <a:off x="1069848" y="4210812"/>
            <a:ext cx="1325880" cy="292608"/>
          </a:xfrm>
          <a:prstGeom prst="rect">
            <a:avLst/>
          </a:prstGeom>
          <a:noFill/>
          <a:ln/>
        </p:spPr>
        <p:txBody>
          <a:bodyPr wrap="square" lIns="0" tIns="0" rIns="0" bIns="0" rtlCol="0" anchor="ctr"/>
          <a:lstStyle/>
          <a:p>
            <a:pPr indent="0" marL="0">
              <a:buNone/>
            </a:pPr>
            <a:r>
              <a:rPr lang="en-US" sz="950" b="1" dirty="0">
                <a:solidFill>
                  <a:srgbClr val="22D3EE"/>
                </a:solidFill>
                <a:latin typeface="Trenda IG Text" pitchFamily="34" charset="0"/>
                <a:ea typeface="Trenda IG Text" pitchFamily="34" charset="-122"/>
                <a:cs typeface="Trenda IG Text" pitchFamily="34" charset="-120"/>
              </a:rPr>
              <a:t>Capture the gap</a:t>
            </a:r>
            <a:endParaRPr lang="en-US" sz="950" dirty="0"/>
          </a:p>
        </p:txBody>
      </p:sp>
      <p:sp>
        <p:nvSpPr>
          <p:cNvPr id="26" name="Text 24"/>
          <p:cNvSpPr txBox="1"/>
          <p:nvPr/>
        </p:nvSpPr>
        <p:spPr>
          <a:xfrm>
            <a:off x="2404872" y="4210812"/>
            <a:ext cx="4718304" cy="365760"/>
          </a:xfrm>
          <a:prstGeom prst="rect">
            <a:avLst/>
          </a:prstGeom>
          <a:noFill/>
          <a:ln/>
        </p:spPr>
        <p:txBody>
          <a:bodyPr wrap="square" lIns="0" tIns="0" rIns="0" bIns="0" rtlCol="0" anchor="ctr"/>
          <a:lstStyle/>
          <a:p>
            <a:pPr indent="0" marL="0">
              <a:lnSpc>
                <a:spcPts val="1100"/>
              </a:lnSpc>
              <a:buNone/>
            </a:pPr>
            <a:r>
              <a:rPr lang="en-US" sz="850" dirty="0">
                <a:solidFill>
                  <a:srgbClr val="8A94A6"/>
                </a:solidFill>
                <a:latin typeface="Trenda IG Text" pitchFamily="34" charset="0"/>
                <a:ea typeface="Trenda IG Text" pitchFamily="34" charset="-122"/>
                <a:cs typeface="Trenda IG Text" pitchFamily="34" charset="-120"/>
              </a:rPr>
              <a:t>Where no article fits, the agent raises a gap in one click. That becomes a Knowledge backlog item with an owner.</a:t>
            </a:r>
            <a:endParaRPr lang="en-US" sz="850" dirty="0"/>
          </a:p>
        </p:txBody>
      </p:sp>
      <p:sp>
        <p:nvSpPr>
          <p:cNvPr id="27" name="Shape 25"/>
          <p:cNvSpPr/>
          <p:nvPr/>
        </p:nvSpPr>
        <p:spPr>
          <a:xfrm>
            <a:off x="740664" y="4704588"/>
            <a:ext cx="237744" cy="237744"/>
          </a:xfrm>
          <a:prstGeom prst="roundRect">
            <a:avLst>
              <a:gd name="adj" fmla="val 19231"/>
            </a:avLst>
          </a:prstGeom>
          <a:solidFill>
            <a:srgbClr val="0A0D14"/>
          </a:solidFill>
          <a:ln w="12700">
            <a:solidFill>
              <a:srgbClr val="22D3EE"/>
            </a:solidFill>
            <a:prstDash val="solid"/>
          </a:ln>
        </p:spPr>
      </p:sp>
      <p:sp>
        <p:nvSpPr>
          <p:cNvPr id="28" name="Text 26"/>
          <p:cNvSpPr txBox="1"/>
          <p:nvPr/>
        </p:nvSpPr>
        <p:spPr>
          <a:xfrm>
            <a:off x="740664" y="4704588"/>
            <a:ext cx="237744" cy="237744"/>
          </a:xfrm>
          <a:prstGeom prst="rect">
            <a:avLst/>
          </a:prstGeom>
          <a:noFill/>
          <a:ln/>
        </p:spPr>
        <p:txBody>
          <a:bodyPr wrap="square" lIns="0" tIns="0" rIns="0" bIns="0" rtlCol="0" anchor="ctr"/>
          <a:lstStyle/>
          <a:p>
            <a:pPr algn="ctr" indent="0" marL="0">
              <a:buNone/>
            </a:pPr>
            <a:r>
              <a:rPr lang="en-US" sz="950" b="1" dirty="0">
                <a:solidFill>
                  <a:srgbClr val="22D3EE"/>
                </a:solidFill>
                <a:latin typeface="Trenda IG Display" pitchFamily="34" charset="0"/>
                <a:ea typeface="Trenda IG Display" pitchFamily="34" charset="-122"/>
                <a:cs typeface="Trenda IG Display" pitchFamily="34" charset="-120"/>
              </a:rPr>
              <a:t>6</a:t>
            </a:r>
            <a:endParaRPr lang="en-US" sz="950" dirty="0"/>
          </a:p>
        </p:txBody>
      </p:sp>
      <p:sp>
        <p:nvSpPr>
          <p:cNvPr id="29" name="Text 27"/>
          <p:cNvSpPr txBox="1"/>
          <p:nvPr/>
        </p:nvSpPr>
        <p:spPr>
          <a:xfrm>
            <a:off x="1069848" y="4658868"/>
            <a:ext cx="1325880" cy="292608"/>
          </a:xfrm>
          <a:prstGeom prst="rect">
            <a:avLst/>
          </a:prstGeom>
          <a:noFill/>
          <a:ln/>
        </p:spPr>
        <p:txBody>
          <a:bodyPr wrap="square" lIns="0" tIns="0" rIns="0" bIns="0" rtlCol="0" anchor="ctr"/>
          <a:lstStyle/>
          <a:p>
            <a:pPr indent="0" marL="0">
              <a:buNone/>
            </a:pPr>
            <a:r>
              <a:rPr lang="en-US" sz="950" b="1" dirty="0">
                <a:solidFill>
                  <a:srgbClr val="22D3EE"/>
                </a:solidFill>
                <a:latin typeface="Trenda IG Text" pitchFamily="34" charset="0"/>
                <a:ea typeface="Trenda IG Text" pitchFamily="34" charset="-122"/>
                <a:cs typeface="Trenda IG Text" pitchFamily="34" charset="-120"/>
              </a:rPr>
              <a:t>Publish and reuse</a:t>
            </a:r>
            <a:endParaRPr lang="en-US" sz="950" dirty="0"/>
          </a:p>
        </p:txBody>
      </p:sp>
      <p:sp>
        <p:nvSpPr>
          <p:cNvPr id="30" name="Text 28"/>
          <p:cNvSpPr txBox="1"/>
          <p:nvPr/>
        </p:nvSpPr>
        <p:spPr>
          <a:xfrm>
            <a:off x="2404872" y="4658868"/>
            <a:ext cx="4718304" cy="365760"/>
          </a:xfrm>
          <a:prstGeom prst="rect">
            <a:avLst/>
          </a:prstGeom>
          <a:noFill/>
          <a:ln/>
        </p:spPr>
        <p:txBody>
          <a:bodyPr wrap="square" lIns="0" tIns="0" rIns="0" bIns="0" rtlCol="0" anchor="ctr"/>
          <a:lstStyle/>
          <a:p>
            <a:pPr indent="0" marL="0">
              <a:lnSpc>
                <a:spcPts val="1100"/>
              </a:lnSpc>
              <a:buNone/>
            </a:pPr>
            <a:r>
              <a:rPr lang="en-US" sz="850" dirty="0">
                <a:solidFill>
                  <a:srgbClr val="8A94A6"/>
                </a:solidFill>
                <a:latin typeface="Trenda IG Text" pitchFamily="34" charset="0"/>
                <a:ea typeface="Trenda IG Text" pitchFamily="34" charset="-122"/>
                <a:cs typeface="Trenda IG Text" pitchFamily="34" charset="-120"/>
              </a:rPr>
              <a:t>The new or corrected article is reviewed, approved and published, and the next case is answered from it.</a:t>
            </a:r>
            <a:endParaRPr lang="en-US" sz="850" dirty="0"/>
          </a:p>
        </p:txBody>
      </p:sp>
      <p:sp>
        <p:nvSpPr>
          <p:cNvPr id="31" name="Shape 29"/>
          <p:cNvSpPr/>
          <p:nvPr/>
        </p:nvSpPr>
        <p:spPr>
          <a:xfrm>
            <a:off x="7580376" y="1796796"/>
            <a:ext cx="4105656" cy="1609344"/>
          </a:xfrm>
          <a:prstGeom prst="roundRect">
            <a:avLst>
              <a:gd name="adj" fmla="val 2273"/>
            </a:avLst>
          </a:prstGeom>
          <a:solidFill>
            <a:srgbClr val="151A24"/>
          </a:solidFill>
          <a:ln w="12700">
            <a:solidFill>
              <a:srgbClr val="252D3D"/>
            </a:solidFill>
            <a:prstDash val="solid"/>
          </a:ln>
        </p:spPr>
      </p:sp>
      <p:sp>
        <p:nvSpPr>
          <p:cNvPr id="32" name="Text 30"/>
          <p:cNvSpPr txBox="1"/>
          <p:nvPr/>
        </p:nvSpPr>
        <p:spPr>
          <a:xfrm>
            <a:off x="7799832" y="1961388"/>
            <a:ext cx="3666744" cy="201168"/>
          </a:xfrm>
          <a:prstGeom prst="rect">
            <a:avLst/>
          </a:prstGeom>
          <a:noFill/>
          <a:ln/>
        </p:spPr>
        <p:txBody>
          <a:bodyPr wrap="square" lIns="0" tIns="0" rIns="0" bIns="0" rtlCol="0" anchor="ctr"/>
          <a:lstStyle/>
          <a:p>
            <a:pPr indent="0" marL="0">
              <a:buNone/>
            </a:pPr>
            <a:r>
              <a:rPr lang="en-US" sz="1000" b="1" spc="140" kern="0" dirty="0">
                <a:solidFill>
                  <a:srgbClr val="FFFFFF"/>
                </a:solidFill>
                <a:latin typeface="Trenda IG Display" pitchFamily="34" charset="0"/>
                <a:ea typeface="Trenda IG Display" pitchFamily="34" charset="-122"/>
                <a:cs typeface="Trenda IG Display" pitchFamily="34" charset="-120"/>
              </a:rPr>
              <a:t>KNOWLEDGE GOVERNANCE</a:t>
            </a:r>
            <a:endParaRPr lang="en-US" sz="1000" dirty="0"/>
          </a:p>
        </p:txBody>
      </p:sp>
      <p:sp>
        <p:nvSpPr>
          <p:cNvPr id="33" name="Text 31"/>
          <p:cNvSpPr txBox="1"/>
          <p:nvPr/>
        </p:nvSpPr>
        <p:spPr>
          <a:xfrm>
            <a:off x="7799832" y="2253996"/>
            <a:ext cx="3666744" cy="877824"/>
          </a:xfrm>
          <a:prstGeom prst="rect">
            <a:avLst/>
          </a:prstGeom>
          <a:noFill/>
          <a:ln/>
        </p:spPr>
        <p:txBody>
          <a:bodyPr wrap="square" lIns="0" tIns="0" rIns="0" bIns="0" rtlCol="0" anchor="t"/>
          <a:lstStyle/>
          <a:p>
            <a:pPr indent="0" marL="0">
              <a:lnSpc>
                <a:spcPts val="1250"/>
              </a:lnSpc>
              <a:buNone/>
            </a:pPr>
            <a:r>
              <a:rPr lang="en-US" sz="900" dirty="0">
                <a:solidFill>
                  <a:srgbClr val="E6EAF2"/>
                </a:solidFill>
                <a:latin typeface="Trenda IG Text" pitchFamily="34" charset="0"/>
                <a:ea typeface="Trenda IG Text" pitchFamily="34" charset="-122"/>
                <a:cs typeface="Trenda IG Text" pitchFamily="34" charset="-120"/>
              </a:rPr>
              <a:t>Every article carries an owner, a version, an approval state, a review date and the case types it serves. Articles that pass their review date are flagged rather than left to quietly go stale.</a:t>
            </a:r>
            <a:endParaRPr lang="en-US" sz="900" dirty="0"/>
          </a:p>
        </p:txBody>
      </p:sp>
      <p:sp>
        <p:nvSpPr>
          <p:cNvPr id="34" name="Shape 32"/>
          <p:cNvSpPr/>
          <p:nvPr/>
        </p:nvSpPr>
        <p:spPr>
          <a:xfrm>
            <a:off x="7580376" y="3607308"/>
            <a:ext cx="4105656" cy="1499616"/>
          </a:xfrm>
          <a:prstGeom prst="roundRect">
            <a:avLst>
              <a:gd name="adj" fmla="val 2439"/>
            </a:avLst>
          </a:prstGeom>
          <a:solidFill>
            <a:srgbClr val="151A24"/>
          </a:solidFill>
          <a:ln w="12700">
            <a:solidFill>
              <a:srgbClr val="252D3D"/>
            </a:solidFill>
            <a:prstDash val="solid"/>
          </a:ln>
        </p:spPr>
      </p:sp>
      <p:sp>
        <p:nvSpPr>
          <p:cNvPr id="35" name="Text 33"/>
          <p:cNvSpPr txBox="1"/>
          <p:nvPr/>
        </p:nvSpPr>
        <p:spPr>
          <a:xfrm>
            <a:off x="7799832" y="3771900"/>
            <a:ext cx="3666744" cy="201168"/>
          </a:xfrm>
          <a:prstGeom prst="rect">
            <a:avLst/>
          </a:prstGeom>
          <a:noFill/>
          <a:ln/>
        </p:spPr>
        <p:txBody>
          <a:bodyPr wrap="square" lIns="0" tIns="0" rIns="0" bIns="0" rtlCol="0" anchor="ctr"/>
          <a:lstStyle/>
          <a:p>
            <a:pPr indent="0" marL="0">
              <a:buNone/>
            </a:pPr>
            <a:r>
              <a:rPr lang="en-US" sz="1000" b="1" spc="140" kern="0" dirty="0">
                <a:solidFill>
                  <a:srgbClr val="FFFFFF"/>
                </a:solidFill>
                <a:latin typeface="Trenda IG Display" pitchFamily="34" charset="0"/>
                <a:ea typeface="Trenda IG Display" pitchFamily="34" charset="-122"/>
                <a:cs typeface="Trenda IG Display" pitchFamily="34" charset="-120"/>
              </a:rPr>
              <a:t>WHY THIS COMPOUNDS</a:t>
            </a:r>
            <a:endParaRPr lang="en-US" sz="1000" dirty="0"/>
          </a:p>
        </p:txBody>
      </p:sp>
      <p:sp>
        <p:nvSpPr>
          <p:cNvPr id="36" name="Text 34"/>
          <p:cNvSpPr txBox="1"/>
          <p:nvPr/>
        </p:nvSpPr>
        <p:spPr>
          <a:xfrm>
            <a:off x="7799832" y="4064508"/>
            <a:ext cx="3666744" cy="932688"/>
          </a:xfrm>
          <a:prstGeom prst="rect">
            <a:avLst/>
          </a:prstGeom>
          <a:noFill/>
          <a:ln/>
        </p:spPr>
        <p:txBody>
          <a:bodyPr wrap="square" lIns="0" tIns="0" rIns="0" bIns="0" rtlCol="0" anchor="t"/>
          <a:lstStyle/>
          <a:p>
            <a:pPr indent="0" marL="0">
              <a:lnSpc>
                <a:spcPts val="1250"/>
              </a:lnSpc>
              <a:buNone/>
            </a:pPr>
            <a:r>
              <a:rPr lang="en-US" sz="900" dirty="0">
                <a:solidFill>
                  <a:srgbClr val="E6EAF2"/>
                </a:solidFill>
                <a:latin typeface="Trenda IG Text" pitchFamily="34" charset="0"/>
                <a:ea typeface="Trenda IG Text" pitchFamily="34" charset="-122"/>
                <a:cs typeface="Trenda IG Text" pitchFamily="34" charset="-120"/>
              </a:rPr>
              <a:t>Today a good answer helps one customer. Under this model a good answer is written once into an article, then grounds every future draft on that case type. Knowledge quality becomes the lever on response quality across the whole operation.</a:t>
            </a:r>
            <a:endParaRPr lang="en-US" sz="900" dirty="0"/>
          </a:p>
        </p:txBody>
      </p:sp>
      <p:sp>
        <p:nvSpPr>
          <p:cNvPr id="37" name="Text 35"/>
          <p:cNvSpPr txBox="1"/>
          <p:nvPr/>
        </p:nvSpPr>
        <p:spPr>
          <a:xfrm>
            <a:off x="502920" y="6035040"/>
            <a:ext cx="10085832" cy="347472"/>
          </a:xfrm>
          <a:prstGeom prst="rect">
            <a:avLst/>
          </a:prstGeom>
          <a:noFill/>
          <a:ln/>
        </p:spPr>
        <p:txBody>
          <a:bodyPr wrap="square" lIns="0" tIns="0" rIns="0" bIns="0" rtlCol="0" anchor="t"/>
          <a:lstStyle/>
          <a:p>
            <a:pPr indent="0" marL="0">
              <a:lnSpc>
                <a:spcPts val="1000"/>
              </a:lnSpc>
              <a:buNone/>
            </a:pPr>
            <a:r>
              <a:rPr lang="en-US" sz="750" i="1" dirty="0">
                <a:solidFill>
                  <a:srgbClr val="8A94A6"/>
                </a:solidFill>
                <a:latin typeface="Trenda IG Text" pitchFamily="34" charset="0"/>
                <a:ea typeface="Trenda IG Text" pitchFamily="34" charset="-122"/>
                <a:cs typeface="Trenda IG Text" pitchFamily="34" charset="-120"/>
              </a:rPr>
              <a:t>Knowledge base development and standardised response content are already committed in the current proposal. This design makes that content the grounding source for automation rather than a reference library alongside it.</a:t>
            </a:r>
            <a:endParaRPr lang="en-US" sz="750" dirty="0"/>
          </a:p>
        </p:txBody>
      </p:sp>
      <p:pic>
        <p:nvPicPr>
          <p:cNvPr id="38" name="Image 0" descr="assets/ig-mark.png">    </p:cNvPr>
          <p:cNvPicPr>
            <a:picLocks noChangeAspect="1"/>
          </p:cNvPicPr>
          <p:nvPr/>
        </p:nvPicPr>
        <p:blipFill>
          <a:blip r:embed="rId1"/>
          <a:stretch>
            <a:fillRect/>
          </a:stretch>
        </p:blipFill>
        <p:spPr>
          <a:xfrm>
            <a:off x="502920" y="6455664"/>
            <a:ext cx="420624" cy="144475"/>
          </a:xfrm>
          <a:prstGeom prst="rect">
            <a:avLst/>
          </a:prstGeom>
        </p:spPr>
      </p:pic>
      <p:sp>
        <p:nvSpPr>
          <p:cNvPr id="39" name="Text 36"/>
          <p:cNvSpPr txBox="1"/>
          <p:nvPr/>
        </p:nvSpPr>
        <p:spPr>
          <a:xfrm>
            <a:off x="11201400" y="6400800"/>
            <a:ext cx="484632" cy="237744"/>
          </a:xfrm>
          <a:prstGeom prst="rect">
            <a:avLst/>
          </a:prstGeom>
          <a:noFill/>
          <a:ln/>
        </p:spPr>
        <p:txBody>
          <a:bodyPr wrap="square" lIns="0" tIns="0" rIns="0" bIns="0" rtlCol="0" anchor="ctr"/>
          <a:lstStyle/>
          <a:p>
            <a:pPr algn="r" indent="0" marL="0">
              <a:buNone/>
            </a:pPr>
            <a:r>
              <a:rPr lang="en-US" sz="850" dirty="0">
                <a:solidFill>
                  <a:srgbClr val="8A94A6"/>
                </a:solidFill>
                <a:latin typeface="Trenda IG Text" pitchFamily="34" charset="0"/>
                <a:ea typeface="Trenda IG Text" pitchFamily="34" charset="-122"/>
                <a:cs typeface="Trenda IG Text" pitchFamily="34" charset="-120"/>
              </a:rPr>
              <a:t>14</a:t>
            </a:r>
            <a:endParaRPr lang="en-US" sz="850"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bg>
      <p:bgPr>
        <a:solidFill>
          <a:srgbClr val="0A0D14"/>
        </a:solidFill>
      </p:bgPr>
    </p:bg>
    <p:spTree>
      <p:nvGrpSpPr>
        <p:cNvPr id="1" name=""/>
        <p:cNvGrpSpPr/>
        <p:nvPr/>
      </p:nvGrpSpPr>
      <p:grpSpPr>
        <a:xfrm>
          <a:off x="0" y="0"/>
          <a:ext cx="0" cy="0"/>
          <a:chOff x="0" y="0"/>
          <a:chExt cx="0" cy="0"/>
        </a:xfrm>
      </p:grpSpPr>
      <p:sp>
        <p:nvSpPr>
          <p:cNvPr id="2" name="Text 0"/>
          <p:cNvSpPr txBox="1"/>
          <p:nvPr/>
        </p:nvSpPr>
        <p:spPr>
          <a:xfrm>
            <a:off x="502920" y="384048"/>
            <a:ext cx="11183112" cy="219456"/>
          </a:xfrm>
          <a:prstGeom prst="rect">
            <a:avLst/>
          </a:prstGeom>
          <a:noFill/>
          <a:ln/>
        </p:spPr>
        <p:txBody>
          <a:bodyPr wrap="square" lIns="0" tIns="0" rIns="0" bIns="0" rtlCol="0" anchor="ctr"/>
          <a:lstStyle/>
          <a:p>
            <a:pPr indent="0" marL="0">
              <a:buNone/>
            </a:pPr>
            <a:r>
              <a:rPr lang="en-US" sz="1000" b="1" spc="220" kern="0" dirty="0">
                <a:solidFill>
                  <a:srgbClr val="22D3EE"/>
                </a:solidFill>
                <a:latin typeface="Trenda IG Display" pitchFamily="34" charset="0"/>
                <a:ea typeface="Trenda IG Display" pitchFamily="34" charset="-122"/>
                <a:cs typeface="Trenda IG Display" pitchFamily="34" charset="-120"/>
              </a:rPr>
              <a:t>CASE LIFECYCLE</a:t>
            </a:r>
            <a:endParaRPr lang="en-US" sz="1000" dirty="0"/>
          </a:p>
        </p:txBody>
      </p:sp>
      <p:sp>
        <p:nvSpPr>
          <p:cNvPr id="3" name="Text 1"/>
          <p:cNvSpPr txBox="1"/>
          <p:nvPr/>
        </p:nvSpPr>
        <p:spPr>
          <a:xfrm>
            <a:off x="502920" y="658368"/>
            <a:ext cx="11183112" cy="416052"/>
          </a:xfrm>
          <a:prstGeom prst="rect">
            <a:avLst/>
          </a:prstGeom>
          <a:noFill/>
          <a:ln/>
        </p:spPr>
        <p:txBody>
          <a:bodyPr wrap="square" lIns="0" tIns="0" rIns="0" bIns="0" rtlCol="0" anchor="ctr"/>
          <a:lstStyle/>
          <a:p>
            <a:pPr indent="0" marL="0">
              <a:lnSpc>
                <a:spcPts val="3016"/>
              </a:lnSpc>
              <a:buNone/>
            </a:pPr>
            <a:r>
              <a:rPr lang="en-US" sz="2600" b="1" spc="40" kern="0" dirty="0">
                <a:solidFill>
                  <a:srgbClr val="FFFFFF"/>
                </a:solidFill>
                <a:latin typeface="Trenda IG Display" pitchFamily="34" charset="0"/>
                <a:ea typeface="Trenda IG Display" pitchFamily="34" charset="-122"/>
                <a:cs typeface="Trenda IG Display" pitchFamily="34" charset="-120"/>
              </a:rPr>
              <a:t>STANDARD STATUSES, AND WHAT EACH DOES TO THE CLOCK</a:t>
            </a:r>
            <a:endParaRPr lang="en-US" sz="2600" dirty="0"/>
          </a:p>
        </p:txBody>
      </p:sp>
      <p:sp>
        <p:nvSpPr>
          <p:cNvPr id="4" name="Text 2"/>
          <p:cNvSpPr txBox="1"/>
          <p:nvPr/>
        </p:nvSpPr>
        <p:spPr>
          <a:xfrm>
            <a:off x="502920" y="1156716"/>
            <a:ext cx="11183112" cy="384048"/>
          </a:xfrm>
          <a:prstGeom prst="rect">
            <a:avLst/>
          </a:prstGeom>
          <a:noFill/>
          <a:ln/>
        </p:spPr>
        <p:txBody>
          <a:bodyPr wrap="square" lIns="0" tIns="0" rIns="0" bIns="0" rtlCol="0" anchor="t"/>
          <a:lstStyle/>
          <a:p>
            <a:pPr indent="0" marL="0">
              <a:lnSpc>
                <a:spcPts val="1500"/>
              </a:lnSpc>
              <a:buNone/>
            </a:pPr>
            <a:r>
              <a:rPr lang="en-US" sz="1150" dirty="0">
                <a:solidFill>
                  <a:srgbClr val="8A94A6"/>
                </a:solidFill>
                <a:latin typeface="Trenda IG Text" pitchFamily="34" charset="0"/>
                <a:ea typeface="Trenda IG Text" pitchFamily="34" charset="-122"/>
                <a:cs typeface="Trenda IG Text" pitchFamily="34" charset="-120"/>
              </a:rPr>
              <a:t>Ambiguous statuses are how SLA reporting loses credibility. Each status below has one meaning and a defined effect on both clocks, configured in the Entitlement Process.</a:t>
            </a:r>
            <a:endParaRPr lang="en-US" sz="1150" dirty="0"/>
          </a:p>
        </p:txBody>
      </p:sp>
      <p:graphicFrame>
        <p:nvGraphicFramePr>
          <p:cNvPr id="17" name="Table 0"/>
          <p:cNvGraphicFramePr>
            <a:graphicFrameLocks noGrp="1"/>
          </p:cNvGraphicFramePr>
          <p:nvPr>
            <p:extLst>
              <p:ext uri="{D42A27DB-BD31-4B8C-83A1-F6EECF244321}">
                <p14:modId xmlns:p14="http://schemas.microsoft.com/office/powerpoint/2010/main" val="1579011935"/>
              </p:ext>
            </p:extLst>
          </p:nvPr>
        </p:nvGraphicFramePr>
        <p:xfrm>
          <a:off x="502920" y="1796796"/>
          <a:ext cx="11183112" cy="914400"/>
        </p:xfrm>
        <a:graphic>
          <a:graphicData uri="http://schemas.openxmlformats.org/drawingml/2006/table">
            <a:tbl>
              <a:tblPr/>
              <a:tblGrid>
                <a:gridCol w="2148840"/>
                <a:gridCol w="3977640"/>
                <a:gridCol w="2331720"/>
                <a:gridCol w="2724912"/>
              </a:tblGrid>
              <a:tr h="315468">
                <a:tc>
                  <a:txBody>
                    <a:bodyPr/>
                    <a:lstStyle/>
                    <a:p>
                      <a:pPr indent="0" marL="0">
                        <a:buNone/>
                      </a:pPr>
                      <a:r>
                        <a:rPr lang="en-US" sz="850" b="1" spc="100" kern="0" dirty="0">
                          <a:solidFill>
                            <a:srgbClr val="22D3EE"/>
                          </a:solidFill>
                          <a:latin typeface="Trenda IG Text" pitchFamily="34" charset="0"/>
                          <a:ea typeface="Trenda IG Text" pitchFamily="34" charset="-122"/>
                          <a:cs typeface="Trenda IG Text" pitchFamily="34" charset="-120"/>
                        </a:rPr>
                        <a:t>Status</a:t>
                      </a:r>
                      <a:endParaRPr lang="en-US" sz="850" dirty="0">
                        <a:latin typeface="Trenda IG Text" charset="0"/>
                        <a:ea typeface="Trenda IG Text" charset="0"/>
                        <a:cs typeface="Trenda IG Text" charset="0"/>
                      </a:endParaRPr>
                    </a:p>
                  </a:txBody>
                  <a:tcPr marL="88900" marR="88900" marT="50800" marB="50800" anchor="ctr">
                    <a:lnL w="12700" cap="flat" cmpd="sng" algn="ctr">
                      <a:solidFill>
                        <a:srgbClr val="252D3D"/>
                      </a:solidFill>
                      <a:prstDash val="solid"/>
                      <a:round/>
                      <a:headEnd type="none" w="med" len="med"/>
                      <a:tailEnd type="none" w="med" len="med"/>
                    </a:lnL>
                    <a:lnR w="12700" cap="flat" cmpd="sng" algn="ctr">
                      <a:solidFill>
                        <a:srgbClr val="252D3D"/>
                      </a:solidFill>
                      <a:prstDash val="solid"/>
                      <a:round/>
                      <a:headEnd type="none" w="med" len="med"/>
                      <a:tailEnd type="none" w="med" len="med"/>
                    </a:lnR>
                    <a:lnT w="12700" cap="flat" cmpd="sng" algn="ctr">
                      <a:solidFill>
                        <a:srgbClr val="252D3D"/>
                      </a:solidFill>
                      <a:prstDash val="solid"/>
                      <a:round/>
                      <a:headEnd type="none" w="med" len="med"/>
                      <a:tailEnd type="none" w="med" len="med"/>
                    </a:lnT>
                    <a:lnB w="12700" cap="flat" cmpd="sng" algn="ctr">
                      <a:solidFill>
                        <a:srgbClr val="252D3D"/>
                      </a:solidFill>
                      <a:prstDash val="solid"/>
                      <a:round/>
                      <a:headEnd type="none" w="med" len="med"/>
                      <a:tailEnd type="none" w="med" len="med"/>
                    </a:lnB>
                    <a:solidFill>
                      <a:srgbClr val="1A2130"/>
                    </a:solidFill>
                  </a:tcPr>
                </a:tc>
                <a:tc>
                  <a:txBody>
                    <a:bodyPr/>
                    <a:lstStyle/>
                    <a:p>
                      <a:pPr indent="0" marL="0">
                        <a:buNone/>
                      </a:pPr>
                      <a:r>
                        <a:rPr lang="en-US" sz="850" b="1" spc="100" kern="0" dirty="0">
                          <a:solidFill>
                            <a:srgbClr val="22D3EE"/>
                          </a:solidFill>
                          <a:latin typeface="Trenda IG Text" pitchFamily="34" charset="0"/>
                          <a:ea typeface="Trenda IG Text" pitchFamily="34" charset="-122"/>
                          <a:cs typeface="Trenda IG Text" pitchFamily="34" charset="-120"/>
                        </a:rPr>
                        <a:t>What it means</a:t>
                      </a:r>
                      <a:endParaRPr lang="en-US" sz="850" dirty="0">
                        <a:latin typeface="Trenda IG Text" charset="0"/>
                        <a:ea typeface="Trenda IG Text" charset="0"/>
                        <a:cs typeface="Trenda IG Text" charset="0"/>
                      </a:endParaRPr>
                    </a:p>
                  </a:txBody>
                  <a:tcPr marL="88900" marR="88900" marT="50800" marB="50800" anchor="ctr">
                    <a:lnL w="12700" cap="flat" cmpd="sng" algn="ctr">
                      <a:solidFill>
                        <a:srgbClr val="252D3D"/>
                      </a:solidFill>
                      <a:prstDash val="solid"/>
                      <a:round/>
                      <a:headEnd type="none" w="med" len="med"/>
                      <a:tailEnd type="none" w="med" len="med"/>
                    </a:lnL>
                    <a:lnR w="12700" cap="flat" cmpd="sng" algn="ctr">
                      <a:solidFill>
                        <a:srgbClr val="252D3D"/>
                      </a:solidFill>
                      <a:prstDash val="solid"/>
                      <a:round/>
                      <a:headEnd type="none" w="med" len="med"/>
                      <a:tailEnd type="none" w="med" len="med"/>
                    </a:lnR>
                    <a:lnT w="12700" cap="flat" cmpd="sng" algn="ctr">
                      <a:solidFill>
                        <a:srgbClr val="252D3D"/>
                      </a:solidFill>
                      <a:prstDash val="solid"/>
                      <a:round/>
                      <a:headEnd type="none" w="med" len="med"/>
                      <a:tailEnd type="none" w="med" len="med"/>
                    </a:lnT>
                    <a:lnB w="12700" cap="flat" cmpd="sng" algn="ctr">
                      <a:solidFill>
                        <a:srgbClr val="252D3D"/>
                      </a:solidFill>
                      <a:prstDash val="solid"/>
                      <a:round/>
                      <a:headEnd type="none" w="med" len="med"/>
                      <a:tailEnd type="none" w="med" len="med"/>
                    </a:lnB>
                    <a:solidFill>
                      <a:srgbClr val="1A2130"/>
                    </a:solidFill>
                  </a:tcPr>
                </a:tc>
                <a:tc>
                  <a:txBody>
                    <a:bodyPr/>
                    <a:lstStyle/>
                    <a:p>
                      <a:pPr indent="0" marL="0">
                        <a:buNone/>
                      </a:pPr>
                      <a:r>
                        <a:rPr lang="en-US" sz="850" b="1" spc="100" kern="0" dirty="0">
                          <a:solidFill>
                            <a:srgbClr val="22D3EE"/>
                          </a:solidFill>
                          <a:latin typeface="Trenda IG Text" pitchFamily="34" charset="0"/>
                          <a:ea typeface="Trenda IG Text" pitchFamily="34" charset="-122"/>
                          <a:cs typeface="Trenda IG Text" pitchFamily="34" charset="-120"/>
                        </a:rPr>
                        <a:t>First response clock</a:t>
                      </a:r>
                      <a:endParaRPr lang="en-US" sz="850" dirty="0">
                        <a:latin typeface="Trenda IG Text" charset="0"/>
                        <a:ea typeface="Trenda IG Text" charset="0"/>
                        <a:cs typeface="Trenda IG Text" charset="0"/>
                      </a:endParaRPr>
                    </a:p>
                  </a:txBody>
                  <a:tcPr marL="88900" marR="88900" marT="50800" marB="50800" anchor="ctr">
                    <a:lnL w="12700" cap="flat" cmpd="sng" algn="ctr">
                      <a:solidFill>
                        <a:srgbClr val="252D3D"/>
                      </a:solidFill>
                      <a:prstDash val="solid"/>
                      <a:round/>
                      <a:headEnd type="none" w="med" len="med"/>
                      <a:tailEnd type="none" w="med" len="med"/>
                    </a:lnL>
                    <a:lnR w="12700" cap="flat" cmpd="sng" algn="ctr">
                      <a:solidFill>
                        <a:srgbClr val="252D3D"/>
                      </a:solidFill>
                      <a:prstDash val="solid"/>
                      <a:round/>
                      <a:headEnd type="none" w="med" len="med"/>
                      <a:tailEnd type="none" w="med" len="med"/>
                    </a:lnR>
                    <a:lnT w="12700" cap="flat" cmpd="sng" algn="ctr">
                      <a:solidFill>
                        <a:srgbClr val="252D3D"/>
                      </a:solidFill>
                      <a:prstDash val="solid"/>
                      <a:round/>
                      <a:headEnd type="none" w="med" len="med"/>
                      <a:tailEnd type="none" w="med" len="med"/>
                    </a:lnT>
                    <a:lnB w="12700" cap="flat" cmpd="sng" algn="ctr">
                      <a:solidFill>
                        <a:srgbClr val="252D3D"/>
                      </a:solidFill>
                      <a:prstDash val="solid"/>
                      <a:round/>
                      <a:headEnd type="none" w="med" len="med"/>
                      <a:tailEnd type="none" w="med" len="med"/>
                    </a:lnB>
                    <a:solidFill>
                      <a:srgbClr val="1A2130"/>
                    </a:solidFill>
                  </a:tcPr>
                </a:tc>
                <a:tc>
                  <a:txBody>
                    <a:bodyPr/>
                    <a:lstStyle/>
                    <a:p>
                      <a:pPr indent="0" marL="0">
                        <a:buNone/>
                      </a:pPr>
                      <a:r>
                        <a:rPr lang="en-US" sz="850" b="1" spc="100" kern="0" dirty="0">
                          <a:solidFill>
                            <a:srgbClr val="22D3EE"/>
                          </a:solidFill>
                          <a:latin typeface="Trenda IG Text" pitchFamily="34" charset="0"/>
                          <a:ea typeface="Trenda IG Text" pitchFamily="34" charset="-122"/>
                          <a:cs typeface="Trenda IG Text" pitchFamily="34" charset="-120"/>
                        </a:rPr>
                        <a:t>Resolution clock</a:t>
                      </a:r>
                      <a:endParaRPr lang="en-US" sz="850" dirty="0">
                        <a:latin typeface="Trenda IG Text" charset="0"/>
                        <a:ea typeface="Trenda IG Text" charset="0"/>
                        <a:cs typeface="Trenda IG Text" charset="0"/>
                      </a:endParaRPr>
                    </a:p>
                  </a:txBody>
                  <a:tcPr marL="88900" marR="88900" marT="50800" marB="50800" anchor="ctr">
                    <a:lnL w="12700" cap="flat" cmpd="sng" algn="ctr">
                      <a:solidFill>
                        <a:srgbClr val="252D3D"/>
                      </a:solidFill>
                      <a:prstDash val="solid"/>
                      <a:round/>
                      <a:headEnd type="none" w="med" len="med"/>
                      <a:tailEnd type="none" w="med" len="med"/>
                    </a:lnL>
                    <a:lnR w="12700" cap="flat" cmpd="sng" algn="ctr">
                      <a:solidFill>
                        <a:srgbClr val="252D3D"/>
                      </a:solidFill>
                      <a:prstDash val="solid"/>
                      <a:round/>
                      <a:headEnd type="none" w="med" len="med"/>
                      <a:tailEnd type="none" w="med" len="med"/>
                    </a:lnR>
                    <a:lnT w="12700" cap="flat" cmpd="sng" algn="ctr">
                      <a:solidFill>
                        <a:srgbClr val="252D3D"/>
                      </a:solidFill>
                      <a:prstDash val="solid"/>
                      <a:round/>
                      <a:headEnd type="none" w="med" len="med"/>
                      <a:tailEnd type="none" w="med" len="med"/>
                    </a:lnT>
                    <a:lnB w="12700" cap="flat" cmpd="sng" algn="ctr">
                      <a:solidFill>
                        <a:srgbClr val="252D3D"/>
                      </a:solidFill>
                      <a:prstDash val="solid"/>
                      <a:round/>
                      <a:headEnd type="none" w="med" len="med"/>
                      <a:tailEnd type="none" w="med" len="med"/>
                    </a:lnB>
                    <a:solidFill>
                      <a:srgbClr val="1A2130"/>
                    </a:solidFill>
                  </a:tcPr>
                </a:tc>
              </a:tr>
              <a:tr h="315468">
                <a:tc>
                  <a:txBody>
                    <a:bodyPr/>
                    <a:lstStyle/>
                    <a:p>
                      <a:pPr indent="0" marL="0">
                        <a:buNone/>
                      </a:pPr>
                      <a:r>
                        <a:rPr lang="en-US" sz="850" b="1" dirty="0">
                          <a:solidFill>
                            <a:srgbClr val="FFFFFF"/>
                          </a:solidFill>
                          <a:latin typeface="Trenda IG Text" pitchFamily="34" charset="0"/>
                          <a:ea typeface="Trenda IG Text" pitchFamily="34" charset="-122"/>
                          <a:cs typeface="Trenda IG Text" pitchFamily="34" charset="-120"/>
                        </a:rPr>
                        <a:t>New or Open</a:t>
                      </a:r>
                      <a:endParaRPr lang="en-US" sz="850" dirty="0">
                        <a:latin typeface="Trenda IG Text" charset="0"/>
                        <a:ea typeface="Trenda IG Text" charset="0"/>
                        <a:cs typeface="Trenda IG Text" charset="0"/>
                      </a:endParaRPr>
                    </a:p>
                  </a:txBody>
                  <a:tcPr marL="88900" marR="88900" marT="50800" marB="50800" anchor="ctr">
                    <a:lnL w="12700" cap="flat" cmpd="sng" algn="ctr">
                      <a:solidFill>
                        <a:srgbClr val="252D3D"/>
                      </a:solidFill>
                      <a:prstDash val="solid"/>
                      <a:round/>
                      <a:headEnd type="none" w="med" len="med"/>
                      <a:tailEnd type="none" w="med" len="med"/>
                    </a:lnL>
                    <a:lnR w="12700" cap="flat" cmpd="sng" algn="ctr">
                      <a:solidFill>
                        <a:srgbClr val="252D3D"/>
                      </a:solidFill>
                      <a:prstDash val="solid"/>
                      <a:round/>
                      <a:headEnd type="none" w="med" len="med"/>
                      <a:tailEnd type="none" w="med" len="med"/>
                    </a:lnR>
                    <a:lnT w="12700" cap="flat" cmpd="sng" algn="ctr">
                      <a:solidFill>
                        <a:srgbClr val="252D3D"/>
                      </a:solidFill>
                      <a:prstDash val="solid"/>
                      <a:round/>
                      <a:headEnd type="none" w="med" len="med"/>
                      <a:tailEnd type="none" w="med" len="med"/>
                    </a:lnT>
                    <a:lnB w="12700" cap="flat" cmpd="sng" algn="ctr">
                      <a:solidFill>
                        <a:srgbClr val="252D3D"/>
                      </a:solidFill>
                      <a:prstDash val="solid"/>
                      <a:round/>
                      <a:headEnd type="none" w="med" len="med"/>
                      <a:tailEnd type="none" w="med" len="med"/>
                    </a:lnB>
                    <a:solidFill>
                      <a:srgbClr val="151A24"/>
                    </a:solidFill>
                  </a:tcPr>
                </a:tc>
                <a:tc>
                  <a:txBody>
                    <a:bodyPr/>
                    <a:lstStyle/>
                    <a:p>
                      <a:pPr indent="0" marL="0">
                        <a:buNone/>
                      </a:pPr>
                      <a:r>
                        <a:rPr lang="en-US" sz="850" dirty="0">
                          <a:solidFill>
                            <a:srgbClr val="8A94A6"/>
                          </a:solidFill>
                          <a:latin typeface="Trenda IG Text" pitchFamily="34" charset="0"/>
                          <a:ea typeface="Trenda IG Text" pitchFamily="34" charset="-122"/>
                          <a:cs typeface="Trenda IG Text" pitchFamily="34" charset="-120"/>
                        </a:rPr>
                        <a:t>Received but not yet accepted by an agent</a:t>
                      </a:r>
                      <a:endParaRPr lang="en-US" sz="850" dirty="0">
                        <a:latin typeface="Trenda IG Text" charset="0"/>
                        <a:ea typeface="Trenda IG Text" charset="0"/>
                        <a:cs typeface="Trenda IG Text" charset="0"/>
                      </a:endParaRPr>
                    </a:p>
                  </a:txBody>
                  <a:tcPr marL="88900" marR="88900" marT="50800" marB="50800" anchor="ctr">
                    <a:lnL w="12700" cap="flat" cmpd="sng" algn="ctr">
                      <a:solidFill>
                        <a:srgbClr val="252D3D"/>
                      </a:solidFill>
                      <a:prstDash val="solid"/>
                      <a:round/>
                      <a:headEnd type="none" w="med" len="med"/>
                      <a:tailEnd type="none" w="med" len="med"/>
                    </a:lnL>
                    <a:lnR w="12700" cap="flat" cmpd="sng" algn="ctr">
                      <a:solidFill>
                        <a:srgbClr val="252D3D"/>
                      </a:solidFill>
                      <a:prstDash val="solid"/>
                      <a:round/>
                      <a:headEnd type="none" w="med" len="med"/>
                      <a:tailEnd type="none" w="med" len="med"/>
                    </a:lnR>
                    <a:lnT w="12700" cap="flat" cmpd="sng" algn="ctr">
                      <a:solidFill>
                        <a:srgbClr val="252D3D"/>
                      </a:solidFill>
                      <a:prstDash val="solid"/>
                      <a:round/>
                      <a:headEnd type="none" w="med" len="med"/>
                      <a:tailEnd type="none" w="med" len="med"/>
                    </a:lnT>
                    <a:lnB w="12700" cap="flat" cmpd="sng" algn="ctr">
                      <a:solidFill>
                        <a:srgbClr val="252D3D"/>
                      </a:solidFill>
                      <a:prstDash val="solid"/>
                      <a:round/>
                      <a:headEnd type="none" w="med" len="med"/>
                      <a:tailEnd type="none" w="med" len="med"/>
                    </a:lnB>
                    <a:solidFill>
                      <a:srgbClr val="151A24"/>
                    </a:solidFill>
                  </a:tcPr>
                </a:tc>
                <a:tc>
                  <a:txBody>
                    <a:bodyPr/>
                    <a:lstStyle/>
                    <a:p>
                      <a:pPr indent="0" marL="0">
                        <a:buNone/>
                      </a:pPr>
                      <a:r>
                        <a:rPr lang="en-US" sz="850" dirty="0">
                          <a:solidFill>
                            <a:srgbClr val="F59E0B"/>
                          </a:solidFill>
                          <a:latin typeface="Trenda IG Text" pitchFamily="34" charset="0"/>
                          <a:ea typeface="Trenda IG Text" pitchFamily="34" charset="-122"/>
                          <a:cs typeface="Trenda IG Text" pitchFamily="34" charset="-120"/>
                        </a:rPr>
                        <a:t>Runs</a:t>
                      </a:r>
                      <a:endParaRPr lang="en-US" sz="850" dirty="0">
                        <a:latin typeface="Trenda IG Text" charset="0"/>
                        <a:ea typeface="Trenda IG Text" charset="0"/>
                        <a:cs typeface="Trenda IG Text" charset="0"/>
                      </a:endParaRPr>
                    </a:p>
                  </a:txBody>
                  <a:tcPr marL="88900" marR="88900" marT="50800" marB="50800" anchor="ctr">
                    <a:lnL w="12700" cap="flat" cmpd="sng" algn="ctr">
                      <a:solidFill>
                        <a:srgbClr val="252D3D"/>
                      </a:solidFill>
                      <a:prstDash val="solid"/>
                      <a:round/>
                      <a:headEnd type="none" w="med" len="med"/>
                      <a:tailEnd type="none" w="med" len="med"/>
                    </a:lnL>
                    <a:lnR w="12700" cap="flat" cmpd="sng" algn="ctr">
                      <a:solidFill>
                        <a:srgbClr val="252D3D"/>
                      </a:solidFill>
                      <a:prstDash val="solid"/>
                      <a:round/>
                      <a:headEnd type="none" w="med" len="med"/>
                      <a:tailEnd type="none" w="med" len="med"/>
                    </a:lnR>
                    <a:lnT w="12700" cap="flat" cmpd="sng" algn="ctr">
                      <a:solidFill>
                        <a:srgbClr val="252D3D"/>
                      </a:solidFill>
                      <a:prstDash val="solid"/>
                      <a:round/>
                      <a:headEnd type="none" w="med" len="med"/>
                      <a:tailEnd type="none" w="med" len="med"/>
                    </a:lnT>
                    <a:lnB w="12700" cap="flat" cmpd="sng" algn="ctr">
                      <a:solidFill>
                        <a:srgbClr val="252D3D"/>
                      </a:solidFill>
                      <a:prstDash val="solid"/>
                      <a:round/>
                      <a:headEnd type="none" w="med" len="med"/>
                      <a:tailEnd type="none" w="med" len="med"/>
                    </a:lnB>
                    <a:solidFill>
                      <a:srgbClr val="151A24"/>
                    </a:solidFill>
                  </a:tcPr>
                </a:tc>
                <a:tc>
                  <a:txBody>
                    <a:bodyPr/>
                    <a:lstStyle/>
                    <a:p>
                      <a:pPr indent="0" marL="0">
                        <a:buNone/>
                      </a:pPr>
                      <a:r>
                        <a:rPr lang="en-US" sz="850" dirty="0">
                          <a:solidFill>
                            <a:srgbClr val="F59E0B"/>
                          </a:solidFill>
                          <a:latin typeface="Trenda IG Text" pitchFamily="34" charset="0"/>
                          <a:ea typeface="Trenda IG Text" pitchFamily="34" charset="-122"/>
                          <a:cs typeface="Trenda IG Text" pitchFamily="34" charset="-120"/>
                        </a:rPr>
                        <a:t>Runs</a:t>
                      </a:r>
                      <a:endParaRPr lang="en-US" sz="850" dirty="0">
                        <a:latin typeface="Trenda IG Text" charset="0"/>
                        <a:ea typeface="Trenda IG Text" charset="0"/>
                        <a:cs typeface="Trenda IG Text" charset="0"/>
                      </a:endParaRPr>
                    </a:p>
                  </a:txBody>
                  <a:tcPr marL="88900" marR="88900" marT="50800" marB="50800" anchor="ctr">
                    <a:lnL w="12700" cap="flat" cmpd="sng" algn="ctr">
                      <a:solidFill>
                        <a:srgbClr val="252D3D"/>
                      </a:solidFill>
                      <a:prstDash val="solid"/>
                      <a:round/>
                      <a:headEnd type="none" w="med" len="med"/>
                      <a:tailEnd type="none" w="med" len="med"/>
                    </a:lnL>
                    <a:lnR w="12700" cap="flat" cmpd="sng" algn="ctr">
                      <a:solidFill>
                        <a:srgbClr val="252D3D"/>
                      </a:solidFill>
                      <a:prstDash val="solid"/>
                      <a:round/>
                      <a:headEnd type="none" w="med" len="med"/>
                      <a:tailEnd type="none" w="med" len="med"/>
                    </a:lnR>
                    <a:lnT w="12700" cap="flat" cmpd="sng" algn="ctr">
                      <a:solidFill>
                        <a:srgbClr val="252D3D"/>
                      </a:solidFill>
                      <a:prstDash val="solid"/>
                      <a:round/>
                      <a:headEnd type="none" w="med" len="med"/>
                      <a:tailEnd type="none" w="med" len="med"/>
                    </a:lnT>
                    <a:lnB w="12700" cap="flat" cmpd="sng" algn="ctr">
                      <a:solidFill>
                        <a:srgbClr val="252D3D"/>
                      </a:solidFill>
                      <a:prstDash val="solid"/>
                      <a:round/>
                      <a:headEnd type="none" w="med" len="med"/>
                      <a:tailEnd type="none" w="med" len="med"/>
                    </a:lnB>
                    <a:solidFill>
                      <a:srgbClr val="151A24"/>
                    </a:solidFill>
                  </a:tcPr>
                </a:tc>
              </a:tr>
              <a:tr h="315468">
                <a:tc>
                  <a:txBody>
                    <a:bodyPr/>
                    <a:lstStyle/>
                    <a:p>
                      <a:pPr indent="0" marL="0">
                        <a:buNone/>
                      </a:pPr>
                      <a:r>
                        <a:rPr lang="en-US" sz="850" b="1" dirty="0">
                          <a:solidFill>
                            <a:srgbClr val="FFFFFF"/>
                          </a:solidFill>
                          <a:latin typeface="Trenda IG Text" pitchFamily="34" charset="0"/>
                          <a:ea typeface="Trenda IG Text" pitchFamily="34" charset="-122"/>
                          <a:cs typeface="Trenda IG Text" pitchFamily="34" charset="-120"/>
                        </a:rPr>
                        <a:t>Assigned</a:t>
                      </a:r>
                      <a:endParaRPr lang="en-US" sz="850" dirty="0">
                        <a:latin typeface="Trenda IG Text" charset="0"/>
                        <a:ea typeface="Trenda IG Text" charset="0"/>
                        <a:cs typeface="Trenda IG Text" charset="0"/>
                      </a:endParaRPr>
                    </a:p>
                  </a:txBody>
                  <a:tcPr marL="88900" marR="88900" marT="50800" marB="50800" anchor="ctr">
                    <a:lnL w="12700" cap="flat" cmpd="sng" algn="ctr">
                      <a:solidFill>
                        <a:srgbClr val="252D3D"/>
                      </a:solidFill>
                      <a:prstDash val="solid"/>
                      <a:round/>
                      <a:headEnd type="none" w="med" len="med"/>
                      <a:tailEnd type="none" w="med" len="med"/>
                    </a:lnL>
                    <a:lnR w="12700" cap="flat" cmpd="sng" algn="ctr">
                      <a:solidFill>
                        <a:srgbClr val="252D3D"/>
                      </a:solidFill>
                      <a:prstDash val="solid"/>
                      <a:round/>
                      <a:headEnd type="none" w="med" len="med"/>
                      <a:tailEnd type="none" w="med" len="med"/>
                    </a:lnR>
                    <a:lnT w="12700" cap="flat" cmpd="sng" algn="ctr">
                      <a:solidFill>
                        <a:srgbClr val="252D3D"/>
                      </a:solidFill>
                      <a:prstDash val="solid"/>
                      <a:round/>
                      <a:headEnd type="none" w="med" len="med"/>
                      <a:tailEnd type="none" w="med" len="med"/>
                    </a:lnT>
                    <a:lnB w="12700" cap="flat" cmpd="sng" algn="ctr">
                      <a:solidFill>
                        <a:srgbClr val="252D3D"/>
                      </a:solidFill>
                      <a:prstDash val="solid"/>
                      <a:round/>
                      <a:headEnd type="none" w="med" len="med"/>
                      <a:tailEnd type="none" w="med" len="med"/>
                    </a:lnB>
                    <a:solidFill>
                      <a:srgbClr val="151A24"/>
                    </a:solidFill>
                  </a:tcPr>
                </a:tc>
                <a:tc>
                  <a:txBody>
                    <a:bodyPr/>
                    <a:lstStyle/>
                    <a:p>
                      <a:pPr indent="0" marL="0">
                        <a:buNone/>
                      </a:pPr>
                      <a:r>
                        <a:rPr lang="en-US" sz="850" dirty="0">
                          <a:solidFill>
                            <a:srgbClr val="8A94A6"/>
                          </a:solidFill>
                          <a:latin typeface="Trenda IG Text" pitchFamily="34" charset="0"/>
                          <a:ea typeface="Trenda IG Text" pitchFamily="34" charset="-122"/>
                          <a:cs typeface="Trenda IG Text" pitchFamily="34" charset="-120"/>
                        </a:rPr>
                        <a:t>Owner assigned, work not yet started</a:t>
                      </a:r>
                      <a:endParaRPr lang="en-US" sz="850" dirty="0">
                        <a:latin typeface="Trenda IG Text" charset="0"/>
                        <a:ea typeface="Trenda IG Text" charset="0"/>
                        <a:cs typeface="Trenda IG Text" charset="0"/>
                      </a:endParaRPr>
                    </a:p>
                  </a:txBody>
                  <a:tcPr marL="88900" marR="88900" marT="50800" marB="50800" anchor="ctr">
                    <a:lnL w="12700" cap="flat" cmpd="sng" algn="ctr">
                      <a:solidFill>
                        <a:srgbClr val="252D3D"/>
                      </a:solidFill>
                      <a:prstDash val="solid"/>
                      <a:round/>
                      <a:headEnd type="none" w="med" len="med"/>
                      <a:tailEnd type="none" w="med" len="med"/>
                    </a:lnL>
                    <a:lnR w="12700" cap="flat" cmpd="sng" algn="ctr">
                      <a:solidFill>
                        <a:srgbClr val="252D3D"/>
                      </a:solidFill>
                      <a:prstDash val="solid"/>
                      <a:round/>
                      <a:headEnd type="none" w="med" len="med"/>
                      <a:tailEnd type="none" w="med" len="med"/>
                    </a:lnR>
                    <a:lnT w="12700" cap="flat" cmpd="sng" algn="ctr">
                      <a:solidFill>
                        <a:srgbClr val="252D3D"/>
                      </a:solidFill>
                      <a:prstDash val="solid"/>
                      <a:round/>
                      <a:headEnd type="none" w="med" len="med"/>
                      <a:tailEnd type="none" w="med" len="med"/>
                    </a:lnT>
                    <a:lnB w="12700" cap="flat" cmpd="sng" algn="ctr">
                      <a:solidFill>
                        <a:srgbClr val="252D3D"/>
                      </a:solidFill>
                      <a:prstDash val="solid"/>
                      <a:round/>
                      <a:headEnd type="none" w="med" len="med"/>
                      <a:tailEnd type="none" w="med" len="med"/>
                    </a:lnB>
                    <a:solidFill>
                      <a:srgbClr val="151A24"/>
                    </a:solidFill>
                  </a:tcPr>
                </a:tc>
                <a:tc>
                  <a:txBody>
                    <a:bodyPr/>
                    <a:lstStyle/>
                    <a:p>
                      <a:pPr indent="0" marL="0">
                        <a:buNone/>
                      </a:pPr>
                      <a:r>
                        <a:rPr lang="en-US" sz="850" dirty="0">
                          <a:solidFill>
                            <a:srgbClr val="F59E0B"/>
                          </a:solidFill>
                          <a:latin typeface="Trenda IG Text" pitchFamily="34" charset="0"/>
                          <a:ea typeface="Trenda IG Text" pitchFamily="34" charset="-122"/>
                          <a:cs typeface="Trenda IG Text" pitchFamily="34" charset="-120"/>
                        </a:rPr>
                        <a:t>Runs</a:t>
                      </a:r>
                      <a:endParaRPr lang="en-US" sz="850" dirty="0">
                        <a:latin typeface="Trenda IG Text" charset="0"/>
                        <a:ea typeface="Trenda IG Text" charset="0"/>
                        <a:cs typeface="Trenda IG Text" charset="0"/>
                      </a:endParaRPr>
                    </a:p>
                  </a:txBody>
                  <a:tcPr marL="88900" marR="88900" marT="50800" marB="50800" anchor="ctr">
                    <a:lnL w="12700" cap="flat" cmpd="sng" algn="ctr">
                      <a:solidFill>
                        <a:srgbClr val="252D3D"/>
                      </a:solidFill>
                      <a:prstDash val="solid"/>
                      <a:round/>
                      <a:headEnd type="none" w="med" len="med"/>
                      <a:tailEnd type="none" w="med" len="med"/>
                    </a:lnL>
                    <a:lnR w="12700" cap="flat" cmpd="sng" algn="ctr">
                      <a:solidFill>
                        <a:srgbClr val="252D3D"/>
                      </a:solidFill>
                      <a:prstDash val="solid"/>
                      <a:round/>
                      <a:headEnd type="none" w="med" len="med"/>
                      <a:tailEnd type="none" w="med" len="med"/>
                    </a:lnR>
                    <a:lnT w="12700" cap="flat" cmpd="sng" algn="ctr">
                      <a:solidFill>
                        <a:srgbClr val="252D3D"/>
                      </a:solidFill>
                      <a:prstDash val="solid"/>
                      <a:round/>
                      <a:headEnd type="none" w="med" len="med"/>
                      <a:tailEnd type="none" w="med" len="med"/>
                    </a:lnT>
                    <a:lnB w="12700" cap="flat" cmpd="sng" algn="ctr">
                      <a:solidFill>
                        <a:srgbClr val="252D3D"/>
                      </a:solidFill>
                      <a:prstDash val="solid"/>
                      <a:round/>
                      <a:headEnd type="none" w="med" len="med"/>
                      <a:tailEnd type="none" w="med" len="med"/>
                    </a:lnB>
                    <a:solidFill>
                      <a:srgbClr val="151A24"/>
                    </a:solidFill>
                  </a:tcPr>
                </a:tc>
                <a:tc>
                  <a:txBody>
                    <a:bodyPr/>
                    <a:lstStyle/>
                    <a:p>
                      <a:pPr indent="0" marL="0">
                        <a:buNone/>
                      </a:pPr>
                      <a:r>
                        <a:rPr lang="en-US" sz="850" dirty="0">
                          <a:solidFill>
                            <a:srgbClr val="F59E0B"/>
                          </a:solidFill>
                          <a:latin typeface="Trenda IG Text" pitchFamily="34" charset="0"/>
                          <a:ea typeface="Trenda IG Text" pitchFamily="34" charset="-122"/>
                          <a:cs typeface="Trenda IG Text" pitchFamily="34" charset="-120"/>
                        </a:rPr>
                        <a:t>Runs</a:t>
                      </a:r>
                      <a:endParaRPr lang="en-US" sz="850" dirty="0">
                        <a:latin typeface="Trenda IG Text" charset="0"/>
                        <a:ea typeface="Trenda IG Text" charset="0"/>
                        <a:cs typeface="Trenda IG Text" charset="0"/>
                      </a:endParaRPr>
                    </a:p>
                  </a:txBody>
                  <a:tcPr marL="88900" marR="88900" marT="50800" marB="50800" anchor="ctr">
                    <a:lnL w="12700" cap="flat" cmpd="sng" algn="ctr">
                      <a:solidFill>
                        <a:srgbClr val="252D3D"/>
                      </a:solidFill>
                      <a:prstDash val="solid"/>
                      <a:round/>
                      <a:headEnd type="none" w="med" len="med"/>
                      <a:tailEnd type="none" w="med" len="med"/>
                    </a:lnL>
                    <a:lnR w="12700" cap="flat" cmpd="sng" algn="ctr">
                      <a:solidFill>
                        <a:srgbClr val="252D3D"/>
                      </a:solidFill>
                      <a:prstDash val="solid"/>
                      <a:round/>
                      <a:headEnd type="none" w="med" len="med"/>
                      <a:tailEnd type="none" w="med" len="med"/>
                    </a:lnR>
                    <a:lnT w="12700" cap="flat" cmpd="sng" algn="ctr">
                      <a:solidFill>
                        <a:srgbClr val="252D3D"/>
                      </a:solidFill>
                      <a:prstDash val="solid"/>
                      <a:round/>
                      <a:headEnd type="none" w="med" len="med"/>
                      <a:tailEnd type="none" w="med" len="med"/>
                    </a:lnT>
                    <a:lnB w="12700" cap="flat" cmpd="sng" algn="ctr">
                      <a:solidFill>
                        <a:srgbClr val="252D3D"/>
                      </a:solidFill>
                      <a:prstDash val="solid"/>
                      <a:round/>
                      <a:headEnd type="none" w="med" len="med"/>
                      <a:tailEnd type="none" w="med" len="med"/>
                    </a:lnB>
                    <a:solidFill>
                      <a:srgbClr val="151A24"/>
                    </a:solidFill>
                  </a:tcPr>
                </a:tc>
              </a:tr>
              <a:tr h="315468">
                <a:tc>
                  <a:txBody>
                    <a:bodyPr/>
                    <a:lstStyle/>
                    <a:p>
                      <a:pPr indent="0" marL="0">
                        <a:buNone/>
                      </a:pPr>
                      <a:r>
                        <a:rPr lang="en-US" sz="850" b="1" dirty="0">
                          <a:solidFill>
                            <a:srgbClr val="FFFFFF"/>
                          </a:solidFill>
                          <a:latin typeface="Trenda IG Text" pitchFamily="34" charset="0"/>
                          <a:ea typeface="Trenda IG Text" pitchFamily="34" charset="-122"/>
                          <a:cs typeface="Trenda IG Text" pitchFamily="34" charset="-120"/>
                        </a:rPr>
                        <a:t>In Progress</a:t>
                      </a:r>
                      <a:endParaRPr lang="en-US" sz="850" dirty="0">
                        <a:latin typeface="Trenda IG Text" charset="0"/>
                        <a:ea typeface="Trenda IG Text" charset="0"/>
                        <a:cs typeface="Trenda IG Text" charset="0"/>
                      </a:endParaRPr>
                    </a:p>
                  </a:txBody>
                  <a:tcPr marL="88900" marR="88900" marT="50800" marB="50800" anchor="ctr">
                    <a:lnL w="12700" cap="flat" cmpd="sng" algn="ctr">
                      <a:solidFill>
                        <a:srgbClr val="252D3D"/>
                      </a:solidFill>
                      <a:prstDash val="solid"/>
                      <a:round/>
                      <a:headEnd type="none" w="med" len="med"/>
                      <a:tailEnd type="none" w="med" len="med"/>
                    </a:lnL>
                    <a:lnR w="12700" cap="flat" cmpd="sng" algn="ctr">
                      <a:solidFill>
                        <a:srgbClr val="252D3D"/>
                      </a:solidFill>
                      <a:prstDash val="solid"/>
                      <a:round/>
                      <a:headEnd type="none" w="med" len="med"/>
                      <a:tailEnd type="none" w="med" len="med"/>
                    </a:lnR>
                    <a:lnT w="12700" cap="flat" cmpd="sng" algn="ctr">
                      <a:solidFill>
                        <a:srgbClr val="252D3D"/>
                      </a:solidFill>
                      <a:prstDash val="solid"/>
                      <a:round/>
                      <a:headEnd type="none" w="med" len="med"/>
                      <a:tailEnd type="none" w="med" len="med"/>
                    </a:lnT>
                    <a:lnB w="12700" cap="flat" cmpd="sng" algn="ctr">
                      <a:solidFill>
                        <a:srgbClr val="252D3D"/>
                      </a:solidFill>
                      <a:prstDash val="solid"/>
                      <a:round/>
                      <a:headEnd type="none" w="med" len="med"/>
                      <a:tailEnd type="none" w="med" len="med"/>
                    </a:lnB>
                    <a:solidFill>
                      <a:srgbClr val="151A24"/>
                    </a:solidFill>
                  </a:tcPr>
                </a:tc>
                <a:tc>
                  <a:txBody>
                    <a:bodyPr/>
                    <a:lstStyle/>
                    <a:p>
                      <a:pPr indent="0" marL="0">
                        <a:buNone/>
                      </a:pPr>
                      <a:r>
                        <a:rPr lang="en-US" sz="850" dirty="0">
                          <a:solidFill>
                            <a:srgbClr val="8A94A6"/>
                          </a:solidFill>
                          <a:latin typeface="Trenda IG Text" pitchFamily="34" charset="0"/>
                          <a:ea typeface="Trenda IG Text" pitchFamily="34" charset="-122"/>
                          <a:cs typeface="Trenda IG Text" pitchFamily="34" charset="-120"/>
                        </a:rPr>
                        <a:t>Agent actively investigating or responding</a:t>
                      </a:r>
                      <a:endParaRPr lang="en-US" sz="850" dirty="0">
                        <a:latin typeface="Trenda IG Text" charset="0"/>
                        <a:ea typeface="Trenda IG Text" charset="0"/>
                        <a:cs typeface="Trenda IG Text" charset="0"/>
                      </a:endParaRPr>
                    </a:p>
                  </a:txBody>
                  <a:tcPr marL="88900" marR="88900" marT="50800" marB="50800" anchor="ctr">
                    <a:lnL w="12700" cap="flat" cmpd="sng" algn="ctr">
                      <a:solidFill>
                        <a:srgbClr val="252D3D"/>
                      </a:solidFill>
                      <a:prstDash val="solid"/>
                      <a:round/>
                      <a:headEnd type="none" w="med" len="med"/>
                      <a:tailEnd type="none" w="med" len="med"/>
                    </a:lnL>
                    <a:lnR w="12700" cap="flat" cmpd="sng" algn="ctr">
                      <a:solidFill>
                        <a:srgbClr val="252D3D"/>
                      </a:solidFill>
                      <a:prstDash val="solid"/>
                      <a:round/>
                      <a:headEnd type="none" w="med" len="med"/>
                      <a:tailEnd type="none" w="med" len="med"/>
                    </a:lnR>
                    <a:lnT w="12700" cap="flat" cmpd="sng" algn="ctr">
                      <a:solidFill>
                        <a:srgbClr val="252D3D"/>
                      </a:solidFill>
                      <a:prstDash val="solid"/>
                      <a:round/>
                      <a:headEnd type="none" w="med" len="med"/>
                      <a:tailEnd type="none" w="med" len="med"/>
                    </a:lnT>
                    <a:lnB w="12700" cap="flat" cmpd="sng" algn="ctr">
                      <a:solidFill>
                        <a:srgbClr val="252D3D"/>
                      </a:solidFill>
                      <a:prstDash val="solid"/>
                      <a:round/>
                      <a:headEnd type="none" w="med" len="med"/>
                      <a:tailEnd type="none" w="med" len="med"/>
                    </a:lnB>
                    <a:solidFill>
                      <a:srgbClr val="151A24"/>
                    </a:solidFill>
                  </a:tcPr>
                </a:tc>
                <a:tc>
                  <a:txBody>
                    <a:bodyPr/>
                    <a:lstStyle/>
                    <a:p>
                      <a:pPr indent="0" marL="0">
                        <a:buNone/>
                      </a:pPr>
                      <a:r>
                        <a:rPr lang="en-US" sz="850" dirty="0">
                          <a:solidFill>
                            <a:srgbClr val="F59E0B"/>
                          </a:solidFill>
                          <a:latin typeface="Trenda IG Text" pitchFamily="34" charset="0"/>
                          <a:ea typeface="Trenda IG Text" pitchFamily="34" charset="-122"/>
                          <a:cs typeface="Trenda IG Text" pitchFamily="34" charset="-120"/>
                        </a:rPr>
                        <a:t>Runs until the response is sent</a:t>
                      </a:r>
                      <a:endParaRPr lang="en-US" sz="850" dirty="0">
                        <a:latin typeface="Trenda IG Text" charset="0"/>
                        <a:ea typeface="Trenda IG Text" charset="0"/>
                        <a:cs typeface="Trenda IG Text" charset="0"/>
                      </a:endParaRPr>
                    </a:p>
                  </a:txBody>
                  <a:tcPr marL="88900" marR="88900" marT="50800" marB="50800" anchor="ctr">
                    <a:lnL w="12700" cap="flat" cmpd="sng" algn="ctr">
                      <a:solidFill>
                        <a:srgbClr val="252D3D"/>
                      </a:solidFill>
                      <a:prstDash val="solid"/>
                      <a:round/>
                      <a:headEnd type="none" w="med" len="med"/>
                      <a:tailEnd type="none" w="med" len="med"/>
                    </a:lnL>
                    <a:lnR w="12700" cap="flat" cmpd="sng" algn="ctr">
                      <a:solidFill>
                        <a:srgbClr val="252D3D"/>
                      </a:solidFill>
                      <a:prstDash val="solid"/>
                      <a:round/>
                      <a:headEnd type="none" w="med" len="med"/>
                      <a:tailEnd type="none" w="med" len="med"/>
                    </a:lnR>
                    <a:lnT w="12700" cap="flat" cmpd="sng" algn="ctr">
                      <a:solidFill>
                        <a:srgbClr val="252D3D"/>
                      </a:solidFill>
                      <a:prstDash val="solid"/>
                      <a:round/>
                      <a:headEnd type="none" w="med" len="med"/>
                      <a:tailEnd type="none" w="med" len="med"/>
                    </a:lnT>
                    <a:lnB w="12700" cap="flat" cmpd="sng" algn="ctr">
                      <a:solidFill>
                        <a:srgbClr val="252D3D"/>
                      </a:solidFill>
                      <a:prstDash val="solid"/>
                      <a:round/>
                      <a:headEnd type="none" w="med" len="med"/>
                      <a:tailEnd type="none" w="med" len="med"/>
                    </a:lnB>
                    <a:solidFill>
                      <a:srgbClr val="151A24"/>
                    </a:solidFill>
                  </a:tcPr>
                </a:tc>
                <a:tc>
                  <a:txBody>
                    <a:bodyPr/>
                    <a:lstStyle/>
                    <a:p>
                      <a:pPr indent="0" marL="0">
                        <a:buNone/>
                      </a:pPr>
                      <a:r>
                        <a:rPr lang="en-US" sz="850" dirty="0">
                          <a:solidFill>
                            <a:srgbClr val="F59E0B"/>
                          </a:solidFill>
                          <a:latin typeface="Trenda IG Text" pitchFamily="34" charset="0"/>
                          <a:ea typeface="Trenda IG Text" pitchFamily="34" charset="-122"/>
                          <a:cs typeface="Trenda IG Text" pitchFamily="34" charset="-120"/>
                        </a:rPr>
                        <a:t>Runs</a:t>
                      </a:r>
                      <a:endParaRPr lang="en-US" sz="850" dirty="0">
                        <a:latin typeface="Trenda IG Text" charset="0"/>
                        <a:ea typeface="Trenda IG Text" charset="0"/>
                        <a:cs typeface="Trenda IG Text" charset="0"/>
                      </a:endParaRPr>
                    </a:p>
                  </a:txBody>
                  <a:tcPr marL="88900" marR="88900" marT="50800" marB="50800" anchor="ctr">
                    <a:lnL w="12700" cap="flat" cmpd="sng" algn="ctr">
                      <a:solidFill>
                        <a:srgbClr val="252D3D"/>
                      </a:solidFill>
                      <a:prstDash val="solid"/>
                      <a:round/>
                      <a:headEnd type="none" w="med" len="med"/>
                      <a:tailEnd type="none" w="med" len="med"/>
                    </a:lnL>
                    <a:lnR w="12700" cap="flat" cmpd="sng" algn="ctr">
                      <a:solidFill>
                        <a:srgbClr val="252D3D"/>
                      </a:solidFill>
                      <a:prstDash val="solid"/>
                      <a:round/>
                      <a:headEnd type="none" w="med" len="med"/>
                      <a:tailEnd type="none" w="med" len="med"/>
                    </a:lnR>
                    <a:lnT w="12700" cap="flat" cmpd="sng" algn="ctr">
                      <a:solidFill>
                        <a:srgbClr val="252D3D"/>
                      </a:solidFill>
                      <a:prstDash val="solid"/>
                      <a:round/>
                      <a:headEnd type="none" w="med" len="med"/>
                      <a:tailEnd type="none" w="med" len="med"/>
                    </a:lnT>
                    <a:lnB w="12700" cap="flat" cmpd="sng" algn="ctr">
                      <a:solidFill>
                        <a:srgbClr val="252D3D"/>
                      </a:solidFill>
                      <a:prstDash val="solid"/>
                      <a:round/>
                      <a:headEnd type="none" w="med" len="med"/>
                      <a:tailEnd type="none" w="med" len="med"/>
                    </a:lnB>
                    <a:solidFill>
                      <a:srgbClr val="151A24"/>
                    </a:solidFill>
                  </a:tcPr>
                </a:tc>
              </a:tr>
              <a:tr h="315468">
                <a:tc>
                  <a:txBody>
                    <a:bodyPr/>
                    <a:lstStyle/>
                    <a:p>
                      <a:pPr indent="0" marL="0">
                        <a:buNone/>
                      </a:pPr>
                      <a:r>
                        <a:rPr lang="en-US" sz="850" b="1" dirty="0">
                          <a:solidFill>
                            <a:srgbClr val="FFFFFF"/>
                          </a:solidFill>
                          <a:latin typeface="Trenda IG Text" pitchFamily="34" charset="0"/>
                          <a:ea typeface="Trenda IG Text" pitchFamily="34" charset="-122"/>
                          <a:cs typeface="Trenda IG Text" pitchFamily="34" charset="-120"/>
                        </a:rPr>
                        <a:t>Pending Internal Team</a:t>
                      </a:r>
                      <a:endParaRPr lang="en-US" sz="850" dirty="0">
                        <a:latin typeface="Trenda IG Text" charset="0"/>
                        <a:ea typeface="Trenda IG Text" charset="0"/>
                        <a:cs typeface="Trenda IG Text" charset="0"/>
                      </a:endParaRPr>
                    </a:p>
                  </a:txBody>
                  <a:tcPr marL="88900" marR="88900" marT="50800" marB="50800" anchor="ctr">
                    <a:lnL w="12700" cap="flat" cmpd="sng" algn="ctr">
                      <a:solidFill>
                        <a:srgbClr val="252D3D"/>
                      </a:solidFill>
                      <a:prstDash val="solid"/>
                      <a:round/>
                      <a:headEnd type="none" w="med" len="med"/>
                      <a:tailEnd type="none" w="med" len="med"/>
                    </a:lnL>
                    <a:lnR w="12700" cap="flat" cmpd="sng" algn="ctr">
                      <a:solidFill>
                        <a:srgbClr val="252D3D"/>
                      </a:solidFill>
                      <a:prstDash val="solid"/>
                      <a:round/>
                      <a:headEnd type="none" w="med" len="med"/>
                      <a:tailEnd type="none" w="med" len="med"/>
                    </a:lnR>
                    <a:lnT w="12700" cap="flat" cmpd="sng" algn="ctr">
                      <a:solidFill>
                        <a:srgbClr val="252D3D"/>
                      </a:solidFill>
                      <a:prstDash val="solid"/>
                      <a:round/>
                      <a:headEnd type="none" w="med" len="med"/>
                      <a:tailEnd type="none" w="med" len="med"/>
                    </a:lnT>
                    <a:lnB w="12700" cap="flat" cmpd="sng" algn="ctr">
                      <a:solidFill>
                        <a:srgbClr val="252D3D"/>
                      </a:solidFill>
                      <a:prstDash val="solid"/>
                      <a:round/>
                      <a:headEnd type="none" w="med" len="med"/>
                      <a:tailEnd type="none" w="med" len="med"/>
                    </a:lnB>
                    <a:solidFill>
                      <a:srgbClr val="151A24"/>
                    </a:solidFill>
                  </a:tcPr>
                </a:tc>
                <a:tc>
                  <a:txBody>
                    <a:bodyPr/>
                    <a:lstStyle/>
                    <a:p>
                      <a:pPr indent="0" marL="0">
                        <a:buNone/>
                      </a:pPr>
                      <a:r>
                        <a:rPr lang="en-US" sz="850" dirty="0">
                          <a:solidFill>
                            <a:srgbClr val="8A94A6"/>
                          </a:solidFill>
                          <a:latin typeface="Trenda IG Text" pitchFamily="34" charset="0"/>
                          <a:ea typeface="Trenda IG Text" pitchFamily="34" charset="-122"/>
                          <a:cs typeface="Trenda IG Text" pitchFamily="34" charset="-120"/>
                        </a:rPr>
                        <a:t>Waiting on pricing, AR, warehouse or another McKesson dependency</a:t>
                      </a:r>
                      <a:endParaRPr lang="en-US" sz="850" dirty="0">
                        <a:latin typeface="Trenda IG Text" charset="0"/>
                        <a:ea typeface="Trenda IG Text" charset="0"/>
                        <a:cs typeface="Trenda IG Text" charset="0"/>
                      </a:endParaRPr>
                    </a:p>
                  </a:txBody>
                  <a:tcPr marL="88900" marR="88900" marT="50800" marB="50800" anchor="ctr">
                    <a:lnL w="12700" cap="flat" cmpd="sng" algn="ctr">
                      <a:solidFill>
                        <a:srgbClr val="252D3D"/>
                      </a:solidFill>
                      <a:prstDash val="solid"/>
                      <a:round/>
                      <a:headEnd type="none" w="med" len="med"/>
                      <a:tailEnd type="none" w="med" len="med"/>
                    </a:lnL>
                    <a:lnR w="12700" cap="flat" cmpd="sng" algn="ctr">
                      <a:solidFill>
                        <a:srgbClr val="252D3D"/>
                      </a:solidFill>
                      <a:prstDash val="solid"/>
                      <a:round/>
                      <a:headEnd type="none" w="med" len="med"/>
                      <a:tailEnd type="none" w="med" len="med"/>
                    </a:lnR>
                    <a:lnT w="12700" cap="flat" cmpd="sng" algn="ctr">
                      <a:solidFill>
                        <a:srgbClr val="252D3D"/>
                      </a:solidFill>
                      <a:prstDash val="solid"/>
                      <a:round/>
                      <a:headEnd type="none" w="med" len="med"/>
                      <a:tailEnd type="none" w="med" len="med"/>
                    </a:lnT>
                    <a:lnB w="12700" cap="flat" cmpd="sng" algn="ctr">
                      <a:solidFill>
                        <a:srgbClr val="252D3D"/>
                      </a:solidFill>
                      <a:prstDash val="solid"/>
                      <a:round/>
                      <a:headEnd type="none" w="med" len="med"/>
                      <a:tailEnd type="none" w="med" len="med"/>
                    </a:lnB>
                    <a:solidFill>
                      <a:srgbClr val="151A24"/>
                    </a:solidFill>
                  </a:tcPr>
                </a:tc>
                <a:tc>
                  <a:txBody>
                    <a:bodyPr/>
                    <a:lstStyle/>
                    <a:p>
                      <a:pPr indent="0" marL="0">
                        <a:buNone/>
                      </a:pPr>
                      <a:r>
                        <a:rPr lang="en-US" sz="850" dirty="0">
                          <a:solidFill>
                            <a:srgbClr val="22C55E"/>
                          </a:solidFill>
                          <a:latin typeface="Trenda IG Text" pitchFamily="34" charset="0"/>
                          <a:ea typeface="Trenda IG Text" pitchFamily="34" charset="-122"/>
                          <a:cs typeface="Trenda IG Text" pitchFamily="34" charset="-120"/>
                        </a:rPr>
                        <a:t>Completed</a:t>
                      </a:r>
                      <a:endParaRPr lang="en-US" sz="850" dirty="0">
                        <a:latin typeface="Trenda IG Text" charset="0"/>
                        <a:ea typeface="Trenda IG Text" charset="0"/>
                        <a:cs typeface="Trenda IG Text" charset="0"/>
                      </a:endParaRPr>
                    </a:p>
                  </a:txBody>
                  <a:tcPr marL="88900" marR="88900" marT="50800" marB="50800" anchor="ctr">
                    <a:lnL w="12700" cap="flat" cmpd="sng" algn="ctr">
                      <a:solidFill>
                        <a:srgbClr val="252D3D"/>
                      </a:solidFill>
                      <a:prstDash val="solid"/>
                      <a:round/>
                      <a:headEnd type="none" w="med" len="med"/>
                      <a:tailEnd type="none" w="med" len="med"/>
                    </a:lnL>
                    <a:lnR w="12700" cap="flat" cmpd="sng" algn="ctr">
                      <a:solidFill>
                        <a:srgbClr val="252D3D"/>
                      </a:solidFill>
                      <a:prstDash val="solid"/>
                      <a:round/>
                      <a:headEnd type="none" w="med" len="med"/>
                      <a:tailEnd type="none" w="med" len="med"/>
                    </a:lnR>
                    <a:lnT w="12700" cap="flat" cmpd="sng" algn="ctr">
                      <a:solidFill>
                        <a:srgbClr val="252D3D"/>
                      </a:solidFill>
                      <a:prstDash val="solid"/>
                      <a:round/>
                      <a:headEnd type="none" w="med" len="med"/>
                      <a:tailEnd type="none" w="med" len="med"/>
                    </a:lnT>
                    <a:lnB w="12700" cap="flat" cmpd="sng" algn="ctr">
                      <a:solidFill>
                        <a:srgbClr val="252D3D"/>
                      </a:solidFill>
                      <a:prstDash val="solid"/>
                      <a:round/>
                      <a:headEnd type="none" w="med" len="med"/>
                      <a:tailEnd type="none" w="med" len="med"/>
                    </a:lnB>
                    <a:solidFill>
                      <a:srgbClr val="151A24"/>
                    </a:solidFill>
                  </a:tcPr>
                </a:tc>
                <a:tc>
                  <a:txBody>
                    <a:bodyPr/>
                    <a:lstStyle/>
                    <a:p>
                      <a:pPr indent="0" marL="0">
                        <a:buNone/>
                      </a:pPr>
                      <a:r>
                        <a:rPr lang="en-US" sz="850" dirty="0">
                          <a:solidFill>
                            <a:srgbClr val="F59E0B"/>
                          </a:solidFill>
                          <a:latin typeface="Trenda IG Text" pitchFamily="34" charset="0"/>
                          <a:ea typeface="Trenda IG Text" pitchFamily="34" charset="-122"/>
                          <a:cs typeface="Trenda IG Text" pitchFamily="34" charset="-120"/>
                        </a:rPr>
                        <a:t>Continues to run, with dependency time measured separately</a:t>
                      </a:r>
                      <a:endParaRPr lang="en-US" sz="850" dirty="0">
                        <a:latin typeface="Trenda IG Text" charset="0"/>
                        <a:ea typeface="Trenda IG Text" charset="0"/>
                        <a:cs typeface="Trenda IG Text" charset="0"/>
                      </a:endParaRPr>
                    </a:p>
                  </a:txBody>
                  <a:tcPr marL="88900" marR="88900" marT="50800" marB="50800" anchor="ctr">
                    <a:lnL w="12700" cap="flat" cmpd="sng" algn="ctr">
                      <a:solidFill>
                        <a:srgbClr val="252D3D"/>
                      </a:solidFill>
                      <a:prstDash val="solid"/>
                      <a:round/>
                      <a:headEnd type="none" w="med" len="med"/>
                      <a:tailEnd type="none" w="med" len="med"/>
                    </a:lnL>
                    <a:lnR w="12700" cap="flat" cmpd="sng" algn="ctr">
                      <a:solidFill>
                        <a:srgbClr val="252D3D"/>
                      </a:solidFill>
                      <a:prstDash val="solid"/>
                      <a:round/>
                      <a:headEnd type="none" w="med" len="med"/>
                      <a:tailEnd type="none" w="med" len="med"/>
                    </a:lnR>
                    <a:lnT w="12700" cap="flat" cmpd="sng" algn="ctr">
                      <a:solidFill>
                        <a:srgbClr val="252D3D"/>
                      </a:solidFill>
                      <a:prstDash val="solid"/>
                      <a:round/>
                      <a:headEnd type="none" w="med" len="med"/>
                      <a:tailEnd type="none" w="med" len="med"/>
                    </a:lnT>
                    <a:lnB w="12700" cap="flat" cmpd="sng" algn="ctr">
                      <a:solidFill>
                        <a:srgbClr val="252D3D"/>
                      </a:solidFill>
                      <a:prstDash val="solid"/>
                      <a:round/>
                      <a:headEnd type="none" w="med" len="med"/>
                      <a:tailEnd type="none" w="med" len="med"/>
                    </a:lnB>
                    <a:solidFill>
                      <a:srgbClr val="151A24"/>
                    </a:solidFill>
                  </a:tcPr>
                </a:tc>
              </a:tr>
              <a:tr h="315468">
                <a:tc>
                  <a:txBody>
                    <a:bodyPr/>
                    <a:lstStyle/>
                    <a:p>
                      <a:pPr indent="0" marL="0">
                        <a:buNone/>
                      </a:pPr>
                      <a:r>
                        <a:rPr lang="en-US" sz="850" b="1" dirty="0">
                          <a:solidFill>
                            <a:srgbClr val="FFFFFF"/>
                          </a:solidFill>
                          <a:latin typeface="Trenda IG Text" pitchFamily="34" charset="0"/>
                          <a:ea typeface="Trenda IG Text" pitchFamily="34" charset="-122"/>
                          <a:cs typeface="Trenda IG Text" pitchFamily="34" charset="-120"/>
                        </a:rPr>
                        <a:t>Waiting for Customer</a:t>
                      </a:r>
                      <a:endParaRPr lang="en-US" sz="850" dirty="0">
                        <a:latin typeface="Trenda IG Text" charset="0"/>
                        <a:ea typeface="Trenda IG Text" charset="0"/>
                        <a:cs typeface="Trenda IG Text" charset="0"/>
                      </a:endParaRPr>
                    </a:p>
                  </a:txBody>
                  <a:tcPr marL="88900" marR="88900" marT="50800" marB="50800" anchor="ctr">
                    <a:lnL w="12700" cap="flat" cmpd="sng" algn="ctr">
                      <a:solidFill>
                        <a:srgbClr val="252D3D"/>
                      </a:solidFill>
                      <a:prstDash val="solid"/>
                      <a:round/>
                      <a:headEnd type="none" w="med" len="med"/>
                      <a:tailEnd type="none" w="med" len="med"/>
                    </a:lnL>
                    <a:lnR w="12700" cap="flat" cmpd="sng" algn="ctr">
                      <a:solidFill>
                        <a:srgbClr val="252D3D"/>
                      </a:solidFill>
                      <a:prstDash val="solid"/>
                      <a:round/>
                      <a:headEnd type="none" w="med" len="med"/>
                      <a:tailEnd type="none" w="med" len="med"/>
                    </a:lnR>
                    <a:lnT w="12700" cap="flat" cmpd="sng" algn="ctr">
                      <a:solidFill>
                        <a:srgbClr val="252D3D"/>
                      </a:solidFill>
                      <a:prstDash val="solid"/>
                      <a:round/>
                      <a:headEnd type="none" w="med" len="med"/>
                      <a:tailEnd type="none" w="med" len="med"/>
                    </a:lnT>
                    <a:lnB w="12700" cap="flat" cmpd="sng" algn="ctr">
                      <a:solidFill>
                        <a:srgbClr val="252D3D"/>
                      </a:solidFill>
                      <a:prstDash val="solid"/>
                      <a:round/>
                      <a:headEnd type="none" w="med" len="med"/>
                      <a:tailEnd type="none" w="med" len="med"/>
                    </a:lnB>
                    <a:solidFill>
                      <a:srgbClr val="151A24"/>
                    </a:solidFill>
                  </a:tcPr>
                </a:tc>
                <a:tc>
                  <a:txBody>
                    <a:bodyPr/>
                    <a:lstStyle/>
                    <a:p>
                      <a:pPr indent="0" marL="0">
                        <a:buNone/>
                      </a:pPr>
                      <a:r>
                        <a:rPr lang="en-US" sz="850" dirty="0">
                          <a:solidFill>
                            <a:srgbClr val="8A94A6"/>
                          </a:solidFill>
                          <a:latin typeface="Trenda IG Text" pitchFamily="34" charset="0"/>
                          <a:ea typeface="Trenda IG Text" pitchFamily="34" charset="-122"/>
                          <a:cs typeface="Trenda IG Text" pitchFamily="34" charset="-120"/>
                        </a:rPr>
                        <a:t>Customer information or action is required</a:t>
                      </a:r>
                      <a:endParaRPr lang="en-US" sz="850" dirty="0">
                        <a:latin typeface="Trenda IG Text" charset="0"/>
                        <a:ea typeface="Trenda IG Text" charset="0"/>
                        <a:cs typeface="Trenda IG Text" charset="0"/>
                      </a:endParaRPr>
                    </a:p>
                  </a:txBody>
                  <a:tcPr marL="88900" marR="88900" marT="50800" marB="50800" anchor="ctr">
                    <a:lnL w="12700" cap="flat" cmpd="sng" algn="ctr">
                      <a:solidFill>
                        <a:srgbClr val="252D3D"/>
                      </a:solidFill>
                      <a:prstDash val="solid"/>
                      <a:round/>
                      <a:headEnd type="none" w="med" len="med"/>
                      <a:tailEnd type="none" w="med" len="med"/>
                    </a:lnL>
                    <a:lnR w="12700" cap="flat" cmpd="sng" algn="ctr">
                      <a:solidFill>
                        <a:srgbClr val="252D3D"/>
                      </a:solidFill>
                      <a:prstDash val="solid"/>
                      <a:round/>
                      <a:headEnd type="none" w="med" len="med"/>
                      <a:tailEnd type="none" w="med" len="med"/>
                    </a:lnR>
                    <a:lnT w="12700" cap="flat" cmpd="sng" algn="ctr">
                      <a:solidFill>
                        <a:srgbClr val="252D3D"/>
                      </a:solidFill>
                      <a:prstDash val="solid"/>
                      <a:round/>
                      <a:headEnd type="none" w="med" len="med"/>
                      <a:tailEnd type="none" w="med" len="med"/>
                    </a:lnT>
                    <a:lnB w="12700" cap="flat" cmpd="sng" algn="ctr">
                      <a:solidFill>
                        <a:srgbClr val="252D3D"/>
                      </a:solidFill>
                      <a:prstDash val="solid"/>
                      <a:round/>
                      <a:headEnd type="none" w="med" len="med"/>
                      <a:tailEnd type="none" w="med" len="med"/>
                    </a:lnB>
                    <a:solidFill>
                      <a:srgbClr val="151A24"/>
                    </a:solidFill>
                  </a:tcPr>
                </a:tc>
                <a:tc>
                  <a:txBody>
                    <a:bodyPr/>
                    <a:lstStyle/>
                    <a:p>
                      <a:pPr indent="0" marL="0">
                        <a:buNone/>
                      </a:pPr>
                      <a:r>
                        <a:rPr lang="en-US" sz="850" dirty="0">
                          <a:solidFill>
                            <a:srgbClr val="22C55E"/>
                          </a:solidFill>
                          <a:latin typeface="Trenda IG Text" pitchFamily="34" charset="0"/>
                          <a:ea typeface="Trenda IG Text" pitchFamily="34" charset="-122"/>
                          <a:cs typeface="Trenda IG Text" pitchFamily="34" charset="-120"/>
                        </a:rPr>
                        <a:t>Completed</a:t>
                      </a:r>
                      <a:endParaRPr lang="en-US" sz="850" dirty="0">
                        <a:latin typeface="Trenda IG Text" charset="0"/>
                        <a:ea typeface="Trenda IG Text" charset="0"/>
                        <a:cs typeface="Trenda IG Text" charset="0"/>
                      </a:endParaRPr>
                    </a:p>
                  </a:txBody>
                  <a:tcPr marL="88900" marR="88900" marT="50800" marB="50800" anchor="ctr">
                    <a:lnL w="12700" cap="flat" cmpd="sng" algn="ctr">
                      <a:solidFill>
                        <a:srgbClr val="252D3D"/>
                      </a:solidFill>
                      <a:prstDash val="solid"/>
                      <a:round/>
                      <a:headEnd type="none" w="med" len="med"/>
                      <a:tailEnd type="none" w="med" len="med"/>
                    </a:lnL>
                    <a:lnR w="12700" cap="flat" cmpd="sng" algn="ctr">
                      <a:solidFill>
                        <a:srgbClr val="252D3D"/>
                      </a:solidFill>
                      <a:prstDash val="solid"/>
                      <a:round/>
                      <a:headEnd type="none" w="med" len="med"/>
                      <a:tailEnd type="none" w="med" len="med"/>
                    </a:lnR>
                    <a:lnT w="12700" cap="flat" cmpd="sng" algn="ctr">
                      <a:solidFill>
                        <a:srgbClr val="252D3D"/>
                      </a:solidFill>
                      <a:prstDash val="solid"/>
                      <a:round/>
                      <a:headEnd type="none" w="med" len="med"/>
                      <a:tailEnd type="none" w="med" len="med"/>
                    </a:lnT>
                    <a:lnB w="12700" cap="flat" cmpd="sng" algn="ctr">
                      <a:solidFill>
                        <a:srgbClr val="252D3D"/>
                      </a:solidFill>
                      <a:prstDash val="solid"/>
                      <a:round/>
                      <a:headEnd type="none" w="med" len="med"/>
                      <a:tailEnd type="none" w="med" len="med"/>
                    </a:lnB>
                    <a:solidFill>
                      <a:srgbClr val="151A24"/>
                    </a:solidFill>
                  </a:tcPr>
                </a:tc>
                <a:tc>
                  <a:txBody>
                    <a:bodyPr/>
                    <a:lstStyle/>
                    <a:p>
                      <a:pPr indent="0" marL="0">
                        <a:buNone/>
                      </a:pPr>
                      <a:r>
                        <a:rPr lang="en-US" sz="850" dirty="0">
                          <a:solidFill>
                            <a:srgbClr val="E6EAF2"/>
                          </a:solidFill>
                          <a:latin typeface="Trenda IG Text" pitchFamily="34" charset="0"/>
                          <a:ea typeface="Trenda IG Text" pitchFamily="34" charset="-122"/>
                          <a:cs typeface="Trenda IG Text" pitchFamily="34" charset="-120"/>
                        </a:rPr>
                        <a:t>Pauses, once a valid request has been sent</a:t>
                      </a:r>
                      <a:endParaRPr lang="en-US" sz="850" dirty="0">
                        <a:latin typeface="Trenda IG Text" charset="0"/>
                        <a:ea typeface="Trenda IG Text" charset="0"/>
                        <a:cs typeface="Trenda IG Text" charset="0"/>
                      </a:endParaRPr>
                    </a:p>
                  </a:txBody>
                  <a:tcPr marL="88900" marR="88900" marT="50800" marB="50800" anchor="ctr">
                    <a:lnL w="12700" cap="flat" cmpd="sng" algn="ctr">
                      <a:solidFill>
                        <a:srgbClr val="252D3D"/>
                      </a:solidFill>
                      <a:prstDash val="solid"/>
                      <a:round/>
                      <a:headEnd type="none" w="med" len="med"/>
                      <a:tailEnd type="none" w="med" len="med"/>
                    </a:lnL>
                    <a:lnR w="12700" cap="flat" cmpd="sng" algn="ctr">
                      <a:solidFill>
                        <a:srgbClr val="252D3D"/>
                      </a:solidFill>
                      <a:prstDash val="solid"/>
                      <a:round/>
                      <a:headEnd type="none" w="med" len="med"/>
                      <a:tailEnd type="none" w="med" len="med"/>
                    </a:lnR>
                    <a:lnT w="12700" cap="flat" cmpd="sng" algn="ctr">
                      <a:solidFill>
                        <a:srgbClr val="252D3D"/>
                      </a:solidFill>
                      <a:prstDash val="solid"/>
                      <a:round/>
                      <a:headEnd type="none" w="med" len="med"/>
                      <a:tailEnd type="none" w="med" len="med"/>
                    </a:lnT>
                    <a:lnB w="12700" cap="flat" cmpd="sng" algn="ctr">
                      <a:solidFill>
                        <a:srgbClr val="252D3D"/>
                      </a:solidFill>
                      <a:prstDash val="solid"/>
                      <a:round/>
                      <a:headEnd type="none" w="med" len="med"/>
                      <a:tailEnd type="none" w="med" len="med"/>
                    </a:lnB>
                    <a:solidFill>
                      <a:srgbClr val="151A24"/>
                    </a:solidFill>
                  </a:tcPr>
                </a:tc>
              </a:tr>
              <a:tr h="315468">
                <a:tc>
                  <a:txBody>
                    <a:bodyPr/>
                    <a:lstStyle/>
                    <a:p>
                      <a:pPr indent="0" marL="0">
                        <a:buNone/>
                      </a:pPr>
                      <a:r>
                        <a:rPr lang="en-US" sz="850" b="1" dirty="0">
                          <a:solidFill>
                            <a:srgbClr val="FFFFFF"/>
                          </a:solidFill>
                          <a:latin typeface="Trenda IG Text" pitchFamily="34" charset="0"/>
                          <a:ea typeface="Trenda IG Text" pitchFamily="34" charset="-122"/>
                          <a:cs typeface="Trenda IG Text" pitchFamily="34" charset="-120"/>
                        </a:rPr>
                        <a:t>Waiting for Closure Confirmation</a:t>
                      </a:r>
                      <a:endParaRPr lang="en-US" sz="850" dirty="0">
                        <a:latin typeface="Trenda IG Text" charset="0"/>
                        <a:ea typeface="Trenda IG Text" charset="0"/>
                        <a:cs typeface="Trenda IG Text" charset="0"/>
                      </a:endParaRPr>
                    </a:p>
                  </a:txBody>
                  <a:tcPr marL="88900" marR="88900" marT="50800" marB="50800" anchor="ctr">
                    <a:lnL w="12700" cap="flat" cmpd="sng" algn="ctr">
                      <a:solidFill>
                        <a:srgbClr val="252D3D"/>
                      </a:solidFill>
                      <a:prstDash val="solid"/>
                      <a:round/>
                      <a:headEnd type="none" w="med" len="med"/>
                      <a:tailEnd type="none" w="med" len="med"/>
                    </a:lnL>
                    <a:lnR w="12700" cap="flat" cmpd="sng" algn="ctr">
                      <a:solidFill>
                        <a:srgbClr val="252D3D"/>
                      </a:solidFill>
                      <a:prstDash val="solid"/>
                      <a:round/>
                      <a:headEnd type="none" w="med" len="med"/>
                      <a:tailEnd type="none" w="med" len="med"/>
                    </a:lnR>
                    <a:lnT w="12700" cap="flat" cmpd="sng" algn="ctr">
                      <a:solidFill>
                        <a:srgbClr val="252D3D"/>
                      </a:solidFill>
                      <a:prstDash val="solid"/>
                      <a:round/>
                      <a:headEnd type="none" w="med" len="med"/>
                      <a:tailEnd type="none" w="med" len="med"/>
                    </a:lnT>
                    <a:lnB w="12700" cap="flat" cmpd="sng" algn="ctr">
                      <a:solidFill>
                        <a:srgbClr val="252D3D"/>
                      </a:solidFill>
                      <a:prstDash val="solid"/>
                      <a:round/>
                      <a:headEnd type="none" w="med" len="med"/>
                      <a:tailEnd type="none" w="med" len="med"/>
                    </a:lnB>
                    <a:solidFill>
                      <a:srgbClr val="151A24"/>
                    </a:solidFill>
                  </a:tcPr>
                </a:tc>
                <a:tc>
                  <a:txBody>
                    <a:bodyPr/>
                    <a:lstStyle/>
                    <a:p>
                      <a:pPr indent="0" marL="0">
                        <a:buNone/>
                      </a:pPr>
                      <a:r>
                        <a:rPr lang="en-US" sz="850" dirty="0">
                          <a:solidFill>
                            <a:srgbClr val="8A94A6"/>
                          </a:solidFill>
                          <a:latin typeface="Trenda IG Text" pitchFamily="34" charset="0"/>
                          <a:ea typeface="Trenda IG Text" pitchFamily="34" charset="-122"/>
                          <a:cs typeface="Trenda IG Text" pitchFamily="34" charset="-120"/>
                        </a:rPr>
                        <a:t>Resolution supplied, customer confirmation outstanding</a:t>
                      </a:r>
                      <a:endParaRPr lang="en-US" sz="850" dirty="0">
                        <a:latin typeface="Trenda IG Text" charset="0"/>
                        <a:ea typeface="Trenda IG Text" charset="0"/>
                        <a:cs typeface="Trenda IG Text" charset="0"/>
                      </a:endParaRPr>
                    </a:p>
                  </a:txBody>
                  <a:tcPr marL="88900" marR="88900" marT="50800" marB="50800" anchor="ctr">
                    <a:lnL w="12700" cap="flat" cmpd="sng" algn="ctr">
                      <a:solidFill>
                        <a:srgbClr val="252D3D"/>
                      </a:solidFill>
                      <a:prstDash val="solid"/>
                      <a:round/>
                      <a:headEnd type="none" w="med" len="med"/>
                      <a:tailEnd type="none" w="med" len="med"/>
                    </a:lnL>
                    <a:lnR w="12700" cap="flat" cmpd="sng" algn="ctr">
                      <a:solidFill>
                        <a:srgbClr val="252D3D"/>
                      </a:solidFill>
                      <a:prstDash val="solid"/>
                      <a:round/>
                      <a:headEnd type="none" w="med" len="med"/>
                      <a:tailEnd type="none" w="med" len="med"/>
                    </a:lnR>
                    <a:lnT w="12700" cap="flat" cmpd="sng" algn="ctr">
                      <a:solidFill>
                        <a:srgbClr val="252D3D"/>
                      </a:solidFill>
                      <a:prstDash val="solid"/>
                      <a:round/>
                      <a:headEnd type="none" w="med" len="med"/>
                      <a:tailEnd type="none" w="med" len="med"/>
                    </a:lnT>
                    <a:lnB w="12700" cap="flat" cmpd="sng" algn="ctr">
                      <a:solidFill>
                        <a:srgbClr val="252D3D"/>
                      </a:solidFill>
                      <a:prstDash val="solid"/>
                      <a:round/>
                      <a:headEnd type="none" w="med" len="med"/>
                      <a:tailEnd type="none" w="med" len="med"/>
                    </a:lnB>
                    <a:solidFill>
                      <a:srgbClr val="151A24"/>
                    </a:solidFill>
                  </a:tcPr>
                </a:tc>
                <a:tc>
                  <a:txBody>
                    <a:bodyPr/>
                    <a:lstStyle/>
                    <a:p>
                      <a:pPr indent="0" marL="0">
                        <a:buNone/>
                      </a:pPr>
                      <a:r>
                        <a:rPr lang="en-US" sz="850" dirty="0">
                          <a:solidFill>
                            <a:srgbClr val="22C55E"/>
                          </a:solidFill>
                          <a:latin typeface="Trenda IG Text" pitchFamily="34" charset="0"/>
                          <a:ea typeface="Trenda IG Text" pitchFamily="34" charset="-122"/>
                          <a:cs typeface="Trenda IG Text" pitchFamily="34" charset="-120"/>
                        </a:rPr>
                        <a:t>Completed</a:t>
                      </a:r>
                      <a:endParaRPr lang="en-US" sz="850" dirty="0">
                        <a:latin typeface="Trenda IG Text" charset="0"/>
                        <a:ea typeface="Trenda IG Text" charset="0"/>
                        <a:cs typeface="Trenda IG Text" charset="0"/>
                      </a:endParaRPr>
                    </a:p>
                  </a:txBody>
                  <a:tcPr marL="88900" marR="88900" marT="50800" marB="50800" anchor="ctr">
                    <a:lnL w="12700" cap="flat" cmpd="sng" algn="ctr">
                      <a:solidFill>
                        <a:srgbClr val="252D3D"/>
                      </a:solidFill>
                      <a:prstDash val="solid"/>
                      <a:round/>
                      <a:headEnd type="none" w="med" len="med"/>
                      <a:tailEnd type="none" w="med" len="med"/>
                    </a:lnL>
                    <a:lnR w="12700" cap="flat" cmpd="sng" algn="ctr">
                      <a:solidFill>
                        <a:srgbClr val="252D3D"/>
                      </a:solidFill>
                      <a:prstDash val="solid"/>
                      <a:round/>
                      <a:headEnd type="none" w="med" len="med"/>
                      <a:tailEnd type="none" w="med" len="med"/>
                    </a:lnR>
                    <a:lnT w="12700" cap="flat" cmpd="sng" algn="ctr">
                      <a:solidFill>
                        <a:srgbClr val="252D3D"/>
                      </a:solidFill>
                      <a:prstDash val="solid"/>
                      <a:round/>
                      <a:headEnd type="none" w="med" len="med"/>
                      <a:tailEnd type="none" w="med" len="med"/>
                    </a:lnT>
                    <a:lnB w="12700" cap="flat" cmpd="sng" algn="ctr">
                      <a:solidFill>
                        <a:srgbClr val="252D3D"/>
                      </a:solidFill>
                      <a:prstDash val="solid"/>
                      <a:round/>
                      <a:headEnd type="none" w="med" len="med"/>
                      <a:tailEnd type="none" w="med" len="med"/>
                    </a:lnB>
                    <a:solidFill>
                      <a:srgbClr val="151A24"/>
                    </a:solidFill>
                  </a:tcPr>
                </a:tc>
                <a:tc>
                  <a:txBody>
                    <a:bodyPr/>
                    <a:lstStyle/>
                    <a:p>
                      <a:pPr indent="0" marL="0">
                        <a:buNone/>
                      </a:pPr>
                      <a:r>
                        <a:rPr lang="en-US" sz="850" dirty="0">
                          <a:solidFill>
                            <a:srgbClr val="E6EAF2"/>
                          </a:solidFill>
                          <a:latin typeface="Trenda IG Text" pitchFamily="34" charset="0"/>
                          <a:ea typeface="Trenda IG Text" pitchFamily="34" charset="-122"/>
                          <a:cs typeface="Trenda IG Text" pitchFamily="34" charset="-120"/>
                        </a:rPr>
                        <a:t>Pauses</a:t>
                      </a:r>
                      <a:endParaRPr lang="en-US" sz="850" dirty="0">
                        <a:latin typeface="Trenda IG Text" charset="0"/>
                        <a:ea typeface="Trenda IG Text" charset="0"/>
                        <a:cs typeface="Trenda IG Text" charset="0"/>
                      </a:endParaRPr>
                    </a:p>
                  </a:txBody>
                  <a:tcPr marL="88900" marR="88900" marT="50800" marB="50800" anchor="ctr">
                    <a:lnL w="12700" cap="flat" cmpd="sng" algn="ctr">
                      <a:solidFill>
                        <a:srgbClr val="252D3D"/>
                      </a:solidFill>
                      <a:prstDash val="solid"/>
                      <a:round/>
                      <a:headEnd type="none" w="med" len="med"/>
                      <a:tailEnd type="none" w="med" len="med"/>
                    </a:lnL>
                    <a:lnR w="12700" cap="flat" cmpd="sng" algn="ctr">
                      <a:solidFill>
                        <a:srgbClr val="252D3D"/>
                      </a:solidFill>
                      <a:prstDash val="solid"/>
                      <a:round/>
                      <a:headEnd type="none" w="med" len="med"/>
                      <a:tailEnd type="none" w="med" len="med"/>
                    </a:lnR>
                    <a:lnT w="12700" cap="flat" cmpd="sng" algn="ctr">
                      <a:solidFill>
                        <a:srgbClr val="252D3D"/>
                      </a:solidFill>
                      <a:prstDash val="solid"/>
                      <a:round/>
                      <a:headEnd type="none" w="med" len="med"/>
                      <a:tailEnd type="none" w="med" len="med"/>
                    </a:lnT>
                    <a:lnB w="12700" cap="flat" cmpd="sng" algn="ctr">
                      <a:solidFill>
                        <a:srgbClr val="252D3D"/>
                      </a:solidFill>
                      <a:prstDash val="solid"/>
                      <a:round/>
                      <a:headEnd type="none" w="med" len="med"/>
                      <a:tailEnd type="none" w="med" len="med"/>
                    </a:lnB>
                    <a:solidFill>
                      <a:srgbClr val="151A24"/>
                    </a:solidFill>
                  </a:tcPr>
                </a:tc>
              </a:tr>
              <a:tr h="315468">
                <a:tc>
                  <a:txBody>
                    <a:bodyPr/>
                    <a:lstStyle/>
                    <a:p>
                      <a:pPr indent="0" marL="0">
                        <a:buNone/>
                      </a:pPr>
                      <a:r>
                        <a:rPr lang="en-US" sz="850" b="1" dirty="0">
                          <a:solidFill>
                            <a:srgbClr val="FFFFFF"/>
                          </a:solidFill>
                          <a:latin typeface="Trenda IG Text" pitchFamily="34" charset="0"/>
                          <a:ea typeface="Trenda IG Text" pitchFamily="34" charset="-122"/>
                          <a:cs typeface="Trenda IG Text" pitchFamily="34" charset="-120"/>
                        </a:rPr>
                        <a:t>Resolved</a:t>
                      </a:r>
                      <a:endParaRPr lang="en-US" sz="850" dirty="0">
                        <a:latin typeface="Trenda IG Text" charset="0"/>
                        <a:ea typeface="Trenda IG Text" charset="0"/>
                        <a:cs typeface="Trenda IG Text" charset="0"/>
                      </a:endParaRPr>
                    </a:p>
                  </a:txBody>
                  <a:tcPr marL="88900" marR="88900" marT="50800" marB="50800" anchor="ctr">
                    <a:lnL w="12700" cap="flat" cmpd="sng" algn="ctr">
                      <a:solidFill>
                        <a:srgbClr val="252D3D"/>
                      </a:solidFill>
                      <a:prstDash val="solid"/>
                      <a:round/>
                      <a:headEnd type="none" w="med" len="med"/>
                      <a:tailEnd type="none" w="med" len="med"/>
                    </a:lnL>
                    <a:lnR w="12700" cap="flat" cmpd="sng" algn="ctr">
                      <a:solidFill>
                        <a:srgbClr val="252D3D"/>
                      </a:solidFill>
                      <a:prstDash val="solid"/>
                      <a:round/>
                      <a:headEnd type="none" w="med" len="med"/>
                      <a:tailEnd type="none" w="med" len="med"/>
                    </a:lnR>
                    <a:lnT w="12700" cap="flat" cmpd="sng" algn="ctr">
                      <a:solidFill>
                        <a:srgbClr val="252D3D"/>
                      </a:solidFill>
                      <a:prstDash val="solid"/>
                      <a:round/>
                      <a:headEnd type="none" w="med" len="med"/>
                      <a:tailEnd type="none" w="med" len="med"/>
                    </a:lnT>
                    <a:lnB w="12700" cap="flat" cmpd="sng" algn="ctr">
                      <a:solidFill>
                        <a:srgbClr val="252D3D"/>
                      </a:solidFill>
                      <a:prstDash val="solid"/>
                      <a:round/>
                      <a:headEnd type="none" w="med" len="med"/>
                      <a:tailEnd type="none" w="med" len="med"/>
                    </a:lnB>
                    <a:solidFill>
                      <a:srgbClr val="151A24"/>
                    </a:solidFill>
                  </a:tcPr>
                </a:tc>
                <a:tc>
                  <a:txBody>
                    <a:bodyPr/>
                    <a:lstStyle/>
                    <a:p>
                      <a:pPr indent="0" marL="0">
                        <a:buNone/>
                      </a:pPr>
                      <a:r>
                        <a:rPr lang="en-US" sz="850" dirty="0">
                          <a:solidFill>
                            <a:srgbClr val="8A94A6"/>
                          </a:solidFill>
                          <a:latin typeface="Trenda IG Text" pitchFamily="34" charset="0"/>
                          <a:ea typeface="Trenda IG Text" pitchFamily="34" charset="-122"/>
                          <a:cs typeface="Trenda IG Text" pitchFamily="34" charset="-120"/>
                        </a:rPr>
                        <a:t>Solution provided, no further operational action required</a:t>
                      </a:r>
                      <a:endParaRPr lang="en-US" sz="850" dirty="0">
                        <a:latin typeface="Trenda IG Text" charset="0"/>
                        <a:ea typeface="Trenda IG Text" charset="0"/>
                        <a:cs typeface="Trenda IG Text" charset="0"/>
                      </a:endParaRPr>
                    </a:p>
                  </a:txBody>
                  <a:tcPr marL="88900" marR="88900" marT="50800" marB="50800" anchor="ctr">
                    <a:lnL w="12700" cap="flat" cmpd="sng" algn="ctr">
                      <a:solidFill>
                        <a:srgbClr val="252D3D"/>
                      </a:solidFill>
                      <a:prstDash val="solid"/>
                      <a:round/>
                      <a:headEnd type="none" w="med" len="med"/>
                      <a:tailEnd type="none" w="med" len="med"/>
                    </a:lnL>
                    <a:lnR w="12700" cap="flat" cmpd="sng" algn="ctr">
                      <a:solidFill>
                        <a:srgbClr val="252D3D"/>
                      </a:solidFill>
                      <a:prstDash val="solid"/>
                      <a:round/>
                      <a:headEnd type="none" w="med" len="med"/>
                      <a:tailEnd type="none" w="med" len="med"/>
                    </a:lnR>
                    <a:lnT w="12700" cap="flat" cmpd="sng" algn="ctr">
                      <a:solidFill>
                        <a:srgbClr val="252D3D"/>
                      </a:solidFill>
                      <a:prstDash val="solid"/>
                      <a:round/>
                      <a:headEnd type="none" w="med" len="med"/>
                      <a:tailEnd type="none" w="med" len="med"/>
                    </a:lnT>
                    <a:lnB w="12700" cap="flat" cmpd="sng" algn="ctr">
                      <a:solidFill>
                        <a:srgbClr val="252D3D"/>
                      </a:solidFill>
                      <a:prstDash val="solid"/>
                      <a:round/>
                      <a:headEnd type="none" w="med" len="med"/>
                      <a:tailEnd type="none" w="med" len="med"/>
                    </a:lnB>
                    <a:solidFill>
                      <a:srgbClr val="151A24"/>
                    </a:solidFill>
                  </a:tcPr>
                </a:tc>
                <a:tc>
                  <a:txBody>
                    <a:bodyPr/>
                    <a:lstStyle/>
                    <a:p>
                      <a:pPr indent="0" marL="0">
                        <a:buNone/>
                      </a:pPr>
                      <a:r>
                        <a:rPr lang="en-US" sz="850" dirty="0">
                          <a:solidFill>
                            <a:srgbClr val="22C55E"/>
                          </a:solidFill>
                          <a:latin typeface="Trenda IG Text" pitchFamily="34" charset="0"/>
                          <a:ea typeface="Trenda IG Text" pitchFamily="34" charset="-122"/>
                          <a:cs typeface="Trenda IG Text" pitchFamily="34" charset="-120"/>
                        </a:rPr>
                        <a:t>Completed</a:t>
                      </a:r>
                      <a:endParaRPr lang="en-US" sz="850" dirty="0">
                        <a:latin typeface="Trenda IG Text" charset="0"/>
                        <a:ea typeface="Trenda IG Text" charset="0"/>
                        <a:cs typeface="Trenda IG Text" charset="0"/>
                      </a:endParaRPr>
                    </a:p>
                  </a:txBody>
                  <a:tcPr marL="88900" marR="88900" marT="50800" marB="50800" anchor="ctr">
                    <a:lnL w="12700" cap="flat" cmpd="sng" algn="ctr">
                      <a:solidFill>
                        <a:srgbClr val="252D3D"/>
                      </a:solidFill>
                      <a:prstDash val="solid"/>
                      <a:round/>
                      <a:headEnd type="none" w="med" len="med"/>
                      <a:tailEnd type="none" w="med" len="med"/>
                    </a:lnL>
                    <a:lnR w="12700" cap="flat" cmpd="sng" algn="ctr">
                      <a:solidFill>
                        <a:srgbClr val="252D3D"/>
                      </a:solidFill>
                      <a:prstDash val="solid"/>
                      <a:round/>
                      <a:headEnd type="none" w="med" len="med"/>
                      <a:tailEnd type="none" w="med" len="med"/>
                    </a:lnR>
                    <a:lnT w="12700" cap="flat" cmpd="sng" algn="ctr">
                      <a:solidFill>
                        <a:srgbClr val="252D3D"/>
                      </a:solidFill>
                      <a:prstDash val="solid"/>
                      <a:round/>
                      <a:headEnd type="none" w="med" len="med"/>
                      <a:tailEnd type="none" w="med" len="med"/>
                    </a:lnT>
                    <a:lnB w="12700" cap="flat" cmpd="sng" algn="ctr">
                      <a:solidFill>
                        <a:srgbClr val="252D3D"/>
                      </a:solidFill>
                      <a:prstDash val="solid"/>
                      <a:round/>
                      <a:headEnd type="none" w="med" len="med"/>
                      <a:tailEnd type="none" w="med" len="med"/>
                    </a:lnB>
                    <a:solidFill>
                      <a:srgbClr val="151A24"/>
                    </a:solidFill>
                  </a:tcPr>
                </a:tc>
                <a:tc>
                  <a:txBody>
                    <a:bodyPr/>
                    <a:lstStyle/>
                    <a:p>
                      <a:pPr indent="0" marL="0">
                        <a:buNone/>
                      </a:pPr>
                      <a:r>
                        <a:rPr lang="en-US" sz="850" dirty="0">
                          <a:solidFill>
                            <a:srgbClr val="E6EAF2"/>
                          </a:solidFill>
                          <a:latin typeface="Trenda IG Text" pitchFamily="34" charset="0"/>
                          <a:ea typeface="Trenda IG Text" pitchFamily="34" charset="-122"/>
                          <a:cs typeface="Trenda IG Text" pitchFamily="34" charset="-120"/>
                        </a:rPr>
                        <a:t>Stops</a:t>
                      </a:r>
                      <a:endParaRPr lang="en-US" sz="850" dirty="0">
                        <a:latin typeface="Trenda IG Text" charset="0"/>
                        <a:ea typeface="Trenda IG Text" charset="0"/>
                        <a:cs typeface="Trenda IG Text" charset="0"/>
                      </a:endParaRPr>
                    </a:p>
                  </a:txBody>
                  <a:tcPr marL="88900" marR="88900" marT="50800" marB="50800" anchor="ctr">
                    <a:lnL w="12700" cap="flat" cmpd="sng" algn="ctr">
                      <a:solidFill>
                        <a:srgbClr val="252D3D"/>
                      </a:solidFill>
                      <a:prstDash val="solid"/>
                      <a:round/>
                      <a:headEnd type="none" w="med" len="med"/>
                      <a:tailEnd type="none" w="med" len="med"/>
                    </a:lnL>
                    <a:lnR w="12700" cap="flat" cmpd="sng" algn="ctr">
                      <a:solidFill>
                        <a:srgbClr val="252D3D"/>
                      </a:solidFill>
                      <a:prstDash val="solid"/>
                      <a:round/>
                      <a:headEnd type="none" w="med" len="med"/>
                      <a:tailEnd type="none" w="med" len="med"/>
                    </a:lnR>
                    <a:lnT w="12700" cap="flat" cmpd="sng" algn="ctr">
                      <a:solidFill>
                        <a:srgbClr val="252D3D"/>
                      </a:solidFill>
                      <a:prstDash val="solid"/>
                      <a:round/>
                      <a:headEnd type="none" w="med" len="med"/>
                      <a:tailEnd type="none" w="med" len="med"/>
                    </a:lnT>
                    <a:lnB w="12700" cap="flat" cmpd="sng" algn="ctr">
                      <a:solidFill>
                        <a:srgbClr val="252D3D"/>
                      </a:solidFill>
                      <a:prstDash val="solid"/>
                      <a:round/>
                      <a:headEnd type="none" w="med" len="med"/>
                      <a:tailEnd type="none" w="med" len="med"/>
                    </a:lnB>
                    <a:solidFill>
                      <a:srgbClr val="151A24"/>
                    </a:solidFill>
                  </a:tcPr>
                </a:tc>
              </a:tr>
              <a:tr h="315468">
                <a:tc>
                  <a:txBody>
                    <a:bodyPr/>
                    <a:lstStyle/>
                    <a:p>
                      <a:pPr indent="0" marL="0">
                        <a:buNone/>
                      </a:pPr>
                      <a:r>
                        <a:rPr lang="en-US" sz="850" b="1" dirty="0">
                          <a:solidFill>
                            <a:srgbClr val="FFFFFF"/>
                          </a:solidFill>
                          <a:latin typeface="Trenda IG Text" pitchFamily="34" charset="0"/>
                          <a:ea typeface="Trenda IG Text" pitchFamily="34" charset="-122"/>
                          <a:cs typeface="Trenda IG Text" pitchFamily="34" charset="-120"/>
                        </a:rPr>
                        <a:t>Closed</a:t>
                      </a:r>
                      <a:endParaRPr lang="en-US" sz="850" dirty="0">
                        <a:latin typeface="Trenda IG Text" charset="0"/>
                        <a:ea typeface="Trenda IG Text" charset="0"/>
                        <a:cs typeface="Trenda IG Text" charset="0"/>
                      </a:endParaRPr>
                    </a:p>
                  </a:txBody>
                  <a:tcPr marL="88900" marR="88900" marT="50800" marB="50800" anchor="ctr">
                    <a:lnL w="12700" cap="flat" cmpd="sng" algn="ctr">
                      <a:solidFill>
                        <a:srgbClr val="252D3D"/>
                      </a:solidFill>
                      <a:prstDash val="solid"/>
                      <a:round/>
                      <a:headEnd type="none" w="med" len="med"/>
                      <a:tailEnd type="none" w="med" len="med"/>
                    </a:lnL>
                    <a:lnR w="12700" cap="flat" cmpd="sng" algn="ctr">
                      <a:solidFill>
                        <a:srgbClr val="252D3D"/>
                      </a:solidFill>
                      <a:prstDash val="solid"/>
                      <a:round/>
                      <a:headEnd type="none" w="med" len="med"/>
                      <a:tailEnd type="none" w="med" len="med"/>
                    </a:lnR>
                    <a:lnT w="12700" cap="flat" cmpd="sng" algn="ctr">
                      <a:solidFill>
                        <a:srgbClr val="252D3D"/>
                      </a:solidFill>
                      <a:prstDash val="solid"/>
                      <a:round/>
                      <a:headEnd type="none" w="med" len="med"/>
                      <a:tailEnd type="none" w="med" len="med"/>
                    </a:lnT>
                    <a:lnB w="12700" cap="flat" cmpd="sng" algn="ctr">
                      <a:solidFill>
                        <a:srgbClr val="252D3D"/>
                      </a:solidFill>
                      <a:prstDash val="solid"/>
                      <a:round/>
                      <a:headEnd type="none" w="med" len="med"/>
                      <a:tailEnd type="none" w="med" len="med"/>
                    </a:lnB>
                    <a:solidFill>
                      <a:srgbClr val="151A24"/>
                    </a:solidFill>
                  </a:tcPr>
                </a:tc>
                <a:tc>
                  <a:txBody>
                    <a:bodyPr/>
                    <a:lstStyle/>
                    <a:p>
                      <a:pPr indent="0" marL="0">
                        <a:buNone/>
                      </a:pPr>
                      <a:r>
                        <a:rPr lang="en-US" sz="850" dirty="0">
                          <a:solidFill>
                            <a:srgbClr val="8A94A6"/>
                          </a:solidFill>
                          <a:latin typeface="Trenda IG Text" pitchFamily="34" charset="0"/>
                          <a:ea typeface="Trenda IG Text" pitchFamily="34" charset="-122"/>
                          <a:cs typeface="Trenda IG Text" pitchFamily="34" charset="-120"/>
                        </a:rPr>
                        <a:t>Closure confirmed, or the auto closure rule has completed</a:t>
                      </a:r>
                      <a:endParaRPr lang="en-US" sz="850" dirty="0">
                        <a:latin typeface="Trenda IG Text" charset="0"/>
                        <a:ea typeface="Trenda IG Text" charset="0"/>
                        <a:cs typeface="Trenda IG Text" charset="0"/>
                      </a:endParaRPr>
                    </a:p>
                  </a:txBody>
                  <a:tcPr marL="88900" marR="88900" marT="50800" marB="50800" anchor="ctr">
                    <a:lnL w="12700" cap="flat" cmpd="sng" algn="ctr">
                      <a:solidFill>
                        <a:srgbClr val="252D3D"/>
                      </a:solidFill>
                      <a:prstDash val="solid"/>
                      <a:round/>
                      <a:headEnd type="none" w="med" len="med"/>
                      <a:tailEnd type="none" w="med" len="med"/>
                    </a:lnL>
                    <a:lnR w="12700" cap="flat" cmpd="sng" algn="ctr">
                      <a:solidFill>
                        <a:srgbClr val="252D3D"/>
                      </a:solidFill>
                      <a:prstDash val="solid"/>
                      <a:round/>
                      <a:headEnd type="none" w="med" len="med"/>
                      <a:tailEnd type="none" w="med" len="med"/>
                    </a:lnR>
                    <a:lnT w="12700" cap="flat" cmpd="sng" algn="ctr">
                      <a:solidFill>
                        <a:srgbClr val="252D3D"/>
                      </a:solidFill>
                      <a:prstDash val="solid"/>
                      <a:round/>
                      <a:headEnd type="none" w="med" len="med"/>
                      <a:tailEnd type="none" w="med" len="med"/>
                    </a:lnT>
                    <a:lnB w="12700" cap="flat" cmpd="sng" algn="ctr">
                      <a:solidFill>
                        <a:srgbClr val="252D3D"/>
                      </a:solidFill>
                      <a:prstDash val="solid"/>
                      <a:round/>
                      <a:headEnd type="none" w="med" len="med"/>
                      <a:tailEnd type="none" w="med" len="med"/>
                    </a:lnB>
                    <a:solidFill>
                      <a:srgbClr val="151A24"/>
                    </a:solidFill>
                  </a:tcPr>
                </a:tc>
                <a:tc>
                  <a:txBody>
                    <a:bodyPr/>
                    <a:lstStyle/>
                    <a:p>
                      <a:pPr indent="0" marL="0">
                        <a:buNone/>
                      </a:pPr>
                      <a:r>
                        <a:rPr lang="en-US" sz="850" dirty="0">
                          <a:solidFill>
                            <a:srgbClr val="22C55E"/>
                          </a:solidFill>
                          <a:latin typeface="Trenda IG Text" pitchFamily="34" charset="0"/>
                          <a:ea typeface="Trenda IG Text" pitchFamily="34" charset="-122"/>
                          <a:cs typeface="Trenda IG Text" pitchFamily="34" charset="-120"/>
                        </a:rPr>
                        <a:t>Completed</a:t>
                      </a:r>
                      <a:endParaRPr lang="en-US" sz="850" dirty="0">
                        <a:latin typeface="Trenda IG Text" charset="0"/>
                        <a:ea typeface="Trenda IG Text" charset="0"/>
                        <a:cs typeface="Trenda IG Text" charset="0"/>
                      </a:endParaRPr>
                    </a:p>
                  </a:txBody>
                  <a:tcPr marL="88900" marR="88900" marT="50800" marB="50800" anchor="ctr">
                    <a:lnL w="12700" cap="flat" cmpd="sng" algn="ctr">
                      <a:solidFill>
                        <a:srgbClr val="252D3D"/>
                      </a:solidFill>
                      <a:prstDash val="solid"/>
                      <a:round/>
                      <a:headEnd type="none" w="med" len="med"/>
                      <a:tailEnd type="none" w="med" len="med"/>
                    </a:lnL>
                    <a:lnR w="12700" cap="flat" cmpd="sng" algn="ctr">
                      <a:solidFill>
                        <a:srgbClr val="252D3D"/>
                      </a:solidFill>
                      <a:prstDash val="solid"/>
                      <a:round/>
                      <a:headEnd type="none" w="med" len="med"/>
                      <a:tailEnd type="none" w="med" len="med"/>
                    </a:lnR>
                    <a:lnT w="12700" cap="flat" cmpd="sng" algn="ctr">
                      <a:solidFill>
                        <a:srgbClr val="252D3D"/>
                      </a:solidFill>
                      <a:prstDash val="solid"/>
                      <a:round/>
                      <a:headEnd type="none" w="med" len="med"/>
                      <a:tailEnd type="none" w="med" len="med"/>
                    </a:lnT>
                    <a:lnB w="12700" cap="flat" cmpd="sng" algn="ctr">
                      <a:solidFill>
                        <a:srgbClr val="252D3D"/>
                      </a:solidFill>
                      <a:prstDash val="solid"/>
                      <a:round/>
                      <a:headEnd type="none" w="med" len="med"/>
                      <a:tailEnd type="none" w="med" len="med"/>
                    </a:lnB>
                    <a:solidFill>
                      <a:srgbClr val="151A24"/>
                    </a:solidFill>
                  </a:tcPr>
                </a:tc>
                <a:tc>
                  <a:txBody>
                    <a:bodyPr/>
                    <a:lstStyle/>
                    <a:p>
                      <a:pPr indent="0" marL="0">
                        <a:buNone/>
                      </a:pPr>
                      <a:r>
                        <a:rPr lang="en-US" sz="850" dirty="0">
                          <a:solidFill>
                            <a:srgbClr val="E6EAF2"/>
                          </a:solidFill>
                          <a:latin typeface="Trenda IG Text" pitchFamily="34" charset="0"/>
                          <a:ea typeface="Trenda IG Text" pitchFamily="34" charset="-122"/>
                          <a:cs typeface="Trenda IG Text" pitchFamily="34" charset="-120"/>
                        </a:rPr>
                        <a:t>Completed</a:t>
                      </a:r>
                      <a:endParaRPr lang="en-US" sz="850" dirty="0">
                        <a:latin typeface="Trenda IG Text" charset="0"/>
                        <a:ea typeface="Trenda IG Text" charset="0"/>
                        <a:cs typeface="Trenda IG Text" charset="0"/>
                      </a:endParaRPr>
                    </a:p>
                  </a:txBody>
                  <a:tcPr marL="88900" marR="88900" marT="50800" marB="50800" anchor="ctr">
                    <a:lnL w="12700" cap="flat" cmpd="sng" algn="ctr">
                      <a:solidFill>
                        <a:srgbClr val="252D3D"/>
                      </a:solidFill>
                      <a:prstDash val="solid"/>
                      <a:round/>
                      <a:headEnd type="none" w="med" len="med"/>
                      <a:tailEnd type="none" w="med" len="med"/>
                    </a:lnL>
                    <a:lnR w="12700" cap="flat" cmpd="sng" algn="ctr">
                      <a:solidFill>
                        <a:srgbClr val="252D3D"/>
                      </a:solidFill>
                      <a:prstDash val="solid"/>
                      <a:round/>
                      <a:headEnd type="none" w="med" len="med"/>
                      <a:tailEnd type="none" w="med" len="med"/>
                    </a:lnR>
                    <a:lnT w="12700" cap="flat" cmpd="sng" algn="ctr">
                      <a:solidFill>
                        <a:srgbClr val="252D3D"/>
                      </a:solidFill>
                      <a:prstDash val="solid"/>
                      <a:round/>
                      <a:headEnd type="none" w="med" len="med"/>
                      <a:tailEnd type="none" w="med" len="med"/>
                    </a:lnT>
                    <a:lnB w="12700" cap="flat" cmpd="sng" algn="ctr">
                      <a:solidFill>
                        <a:srgbClr val="252D3D"/>
                      </a:solidFill>
                      <a:prstDash val="solid"/>
                      <a:round/>
                      <a:headEnd type="none" w="med" len="med"/>
                      <a:tailEnd type="none" w="med" len="med"/>
                    </a:lnB>
                    <a:solidFill>
                      <a:srgbClr val="151A24"/>
                    </a:solidFill>
                  </a:tcPr>
                </a:tc>
              </a:tr>
              <a:tr h="315468">
                <a:tc>
                  <a:txBody>
                    <a:bodyPr/>
                    <a:lstStyle/>
                    <a:p>
                      <a:pPr indent="0" marL="0">
                        <a:buNone/>
                      </a:pPr>
                      <a:r>
                        <a:rPr lang="en-US" sz="850" b="1" dirty="0">
                          <a:solidFill>
                            <a:srgbClr val="FFFFFF"/>
                          </a:solidFill>
                          <a:latin typeface="Trenda IG Text" pitchFamily="34" charset="0"/>
                          <a:ea typeface="Trenda IG Text" pitchFamily="34" charset="-122"/>
                          <a:cs typeface="Trenda IG Text" pitchFamily="34" charset="-120"/>
                        </a:rPr>
                        <a:t>Reopened</a:t>
                      </a:r>
                      <a:endParaRPr lang="en-US" sz="850" dirty="0">
                        <a:latin typeface="Trenda IG Text" charset="0"/>
                        <a:ea typeface="Trenda IG Text" charset="0"/>
                        <a:cs typeface="Trenda IG Text" charset="0"/>
                      </a:endParaRPr>
                    </a:p>
                  </a:txBody>
                  <a:tcPr marL="88900" marR="88900" marT="50800" marB="50800" anchor="ctr">
                    <a:lnL w="12700" cap="flat" cmpd="sng" algn="ctr">
                      <a:solidFill>
                        <a:srgbClr val="252D3D"/>
                      </a:solidFill>
                      <a:prstDash val="solid"/>
                      <a:round/>
                      <a:headEnd type="none" w="med" len="med"/>
                      <a:tailEnd type="none" w="med" len="med"/>
                    </a:lnL>
                    <a:lnR w="12700" cap="flat" cmpd="sng" algn="ctr">
                      <a:solidFill>
                        <a:srgbClr val="252D3D"/>
                      </a:solidFill>
                      <a:prstDash val="solid"/>
                      <a:round/>
                      <a:headEnd type="none" w="med" len="med"/>
                      <a:tailEnd type="none" w="med" len="med"/>
                    </a:lnR>
                    <a:lnT w="12700" cap="flat" cmpd="sng" algn="ctr">
                      <a:solidFill>
                        <a:srgbClr val="252D3D"/>
                      </a:solidFill>
                      <a:prstDash val="solid"/>
                      <a:round/>
                      <a:headEnd type="none" w="med" len="med"/>
                      <a:tailEnd type="none" w="med" len="med"/>
                    </a:lnT>
                    <a:lnB w="12700" cap="flat" cmpd="sng" algn="ctr">
                      <a:solidFill>
                        <a:srgbClr val="252D3D"/>
                      </a:solidFill>
                      <a:prstDash val="solid"/>
                      <a:round/>
                      <a:headEnd type="none" w="med" len="med"/>
                      <a:tailEnd type="none" w="med" len="med"/>
                    </a:lnB>
                    <a:solidFill>
                      <a:srgbClr val="151A24"/>
                    </a:solidFill>
                  </a:tcPr>
                </a:tc>
                <a:tc>
                  <a:txBody>
                    <a:bodyPr/>
                    <a:lstStyle/>
                    <a:p>
                      <a:pPr indent="0" marL="0">
                        <a:buNone/>
                      </a:pPr>
                      <a:r>
                        <a:rPr lang="en-US" sz="850" dirty="0">
                          <a:solidFill>
                            <a:srgbClr val="8A94A6"/>
                          </a:solidFill>
                          <a:latin typeface="Trenda IG Text" pitchFamily="34" charset="0"/>
                          <a:ea typeface="Trenda IG Text" pitchFamily="34" charset="-122"/>
                          <a:cs typeface="Trenda IG Text" pitchFamily="34" charset="-120"/>
                        </a:rPr>
                        <a:t>Customer indicates the issue is not resolved</a:t>
                      </a:r>
                      <a:endParaRPr lang="en-US" sz="850" dirty="0">
                        <a:latin typeface="Trenda IG Text" charset="0"/>
                        <a:ea typeface="Trenda IG Text" charset="0"/>
                        <a:cs typeface="Trenda IG Text" charset="0"/>
                      </a:endParaRPr>
                    </a:p>
                  </a:txBody>
                  <a:tcPr marL="88900" marR="88900" marT="50800" marB="50800" anchor="ctr">
                    <a:lnL w="12700" cap="flat" cmpd="sng" algn="ctr">
                      <a:solidFill>
                        <a:srgbClr val="252D3D"/>
                      </a:solidFill>
                      <a:prstDash val="solid"/>
                      <a:round/>
                      <a:headEnd type="none" w="med" len="med"/>
                      <a:tailEnd type="none" w="med" len="med"/>
                    </a:lnL>
                    <a:lnR w="12700" cap="flat" cmpd="sng" algn="ctr">
                      <a:solidFill>
                        <a:srgbClr val="252D3D"/>
                      </a:solidFill>
                      <a:prstDash val="solid"/>
                      <a:round/>
                      <a:headEnd type="none" w="med" len="med"/>
                      <a:tailEnd type="none" w="med" len="med"/>
                    </a:lnR>
                    <a:lnT w="12700" cap="flat" cmpd="sng" algn="ctr">
                      <a:solidFill>
                        <a:srgbClr val="252D3D"/>
                      </a:solidFill>
                      <a:prstDash val="solid"/>
                      <a:round/>
                      <a:headEnd type="none" w="med" len="med"/>
                      <a:tailEnd type="none" w="med" len="med"/>
                    </a:lnT>
                    <a:lnB w="12700" cap="flat" cmpd="sng" algn="ctr">
                      <a:solidFill>
                        <a:srgbClr val="252D3D"/>
                      </a:solidFill>
                      <a:prstDash val="solid"/>
                      <a:round/>
                      <a:headEnd type="none" w="med" len="med"/>
                      <a:tailEnd type="none" w="med" len="med"/>
                    </a:lnB>
                    <a:solidFill>
                      <a:srgbClr val="151A24"/>
                    </a:solidFill>
                  </a:tcPr>
                </a:tc>
                <a:tc>
                  <a:txBody>
                    <a:bodyPr/>
                    <a:lstStyle/>
                    <a:p>
                      <a:pPr indent="0" marL="0">
                        <a:buNone/>
                      </a:pPr>
                      <a:r>
                        <a:rPr lang="en-US" sz="850" dirty="0">
                          <a:solidFill>
                            <a:srgbClr val="22C55E"/>
                          </a:solidFill>
                          <a:latin typeface="Trenda IG Text" pitchFamily="34" charset="0"/>
                          <a:ea typeface="Trenda IG Text" pitchFamily="34" charset="-122"/>
                          <a:cs typeface="Trenda IG Text" pitchFamily="34" charset="-120"/>
                        </a:rPr>
                        <a:t>Completed</a:t>
                      </a:r>
                      <a:endParaRPr lang="en-US" sz="850" dirty="0">
                        <a:latin typeface="Trenda IG Text" charset="0"/>
                        <a:ea typeface="Trenda IG Text" charset="0"/>
                        <a:cs typeface="Trenda IG Text" charset="0"/>
                      </a:endParaRPr>
                    </a:p>
                  </a:txBody>
                  <a:tcPr marL="88900" marR="88900" marT="50800" marB="50800" anchor="ctr">
                    <a:lnL w="12700" cap="flat" cmpd="sng" algn="ctr">
                      <a:solidFill>
                        <a:srgbClr val="252D3D"/>
                      </a:solidFill>
                      <a:prstDash val="solid"/>
                      <a:round/>
                      <a:headEnd type="none" w="med" len="med"/>
                      <a:tailEnd type="none" w="med" len="med"/>
                    </a:lnL>
                    <a:lnR w="12700" cap="flat" cmpd="sng" algn="ctr">
                      <a:solidFill>
                        <a:srgbClr val="252D3D"/>
                      </a:solidFill>
                      <a:prstDash val="solid"/>
                      <a:round/>
                      <a:headEnd type="none" w="med" len="med"/>
                      <a:tailEnd type="none" w="med" len="med"/>
                    </a:lnR>
                    <a:lnT w="12700" cap="flat" cmpd="sng" algn="ctr">
                      <a:solidFill>
                        <a:srgbClr val="252D3D"/>
                      </a:solidFill>
                      <a:prstDash val="solid"/>
                      <a:round/>
                      <a:headEnd type="none" w="med" len="med"/>
                      <a:tailEnd type="none" w="med" len="med"/>
                    </a:lnT>
                    <a:lnB w="12700" cap="flat" cmpd="sng" algn="ctr">
                      <a:solidFill>
                        <a:srgbClr val="252D3D"/>
                      </a:solidFill>
                      <a:prstDash val="solid"/>
                      <a:round/>
                      <a:headEnd type="none" w="med" len="med"/>
                      <a:tailEnd type="none" w="med" len="med"/>
                    </a:lnB>
                    <a:solidFill>
                      <a:srgbClr val="151A24"/>
                    </a:solidFill>
                  </a:tcPr>
                </a:tc>
                <a:tc>
                  <a:txBody>
                    <a:bodyPr/>
                    <a:lstStyle/>
                    <a:p>
                      <a:pPr indent="0" marL="0">
                        <a:buNone/>
                      </a:pPr>
                      <a:r>
                        <a:rPr lang="en-US" sz="850" dirty="0">
                          <a:solidFill>
                            <a:srgbClr val="F59E0B"/>
                          </a:solidFill>
                          <a:latin typeface="Trenda IG Text" pitchFamily="34" charset="0"/>
                          <a:ea typeface="Trenda IG Text" pitchFamily="34" charset="-122"/>
                          <a:cs typeface="Trenda IG Text" pitchFamily="34" charset="-120"/>
                        </a:rPr>
                        <a:t>Resumes, and the reopen is tracked</a:t>
                      </a:r>
                      <a:endParaRPr lang="en-US" sz="850" dirty="0">
                        <a:latin typeface="Trenda IG Text" charset="0"/>
                        <a:ea typeface="Trenda IG Text" charset="0"/>
                        <a:cs typeface="Trenda IG Text" charset="0"/>
                      </a:endParaRPr>
                    </a:p>
                  </a:txBody>
                  <a:tcPr marL="88900" marR="88900" marT="50800" marB="50800" anchor="ctr">
                    <a:lnL w="12700" cap="flat" cmpd="sng" algn="ctr">
                      <a:solidFill>
                        <a:srgbClr val="252D3D"/>
                      </a:solidFill>
                      <a:prstDash val="solid"/>
                      <a:round/>
                      <a:headEnd type="none" w="med" len="med"/>
                      <a:tailEnd type="none" w="med" len="med"/>
                    </a:lnL>
                    <a:lnR w="12700" cap="flat" cmpd="sng" algn="ctr">
                      <a:solidFill>
                        <a:srgbClr val="252D3D"/>
                      </a:solidFill>
                      <a:prstDash val="solid"/>
                      <a:round/>
                      <a:headEnd type="none" w="med" len="med"/>
                      <a:tailEnd type="none" w="med" len="med"/>
                    </a:lnR>
                    <a:lnT w="12700" cap="flat" cmpd="sng" algn="ctr">
                      <a:solidFill>
                        <a:srgbClr val="252D3D"/>
                      </a:solidFill>
                      <a:prstDash val="solid"/>
                      <a:round/>
                      <a:headEnd type="none" w="med" len="med"/>
                      <a:tailEnd type="none" w="med" len="med"/>
                    </a:lnT>
                    <a:lnB w="12700" cap="flat" cmpd="sng" algn="ctr">
                      <a:solidFill>
                        <a:srgbClr val="252D3D"/>
                      </a:solidFill>
                      <a:prstDash val="solid"/>
                      <a:round/>
                      <a:headEnd type="none" w="med" len="med"/>
                      <a:tailEnd type="none" w="med" len="med"/>
                    </a:lnB>
                    <a:solidFill>
                      <a:srgbClr val="151A24"/>
                    </a:solidFill>
                  </a:tcPr>
                </a:tc>
              </a:tr>
              <a:tr h="315468">
                <a:tc>
                  <a:txBody>
                    <a:bodyPr/>
                    <a:lstStyle/>
                    <a:p>
                      <a:pPr indent="0" marL="0">
                        <a:buNone/>
                      </a:pPr>
                      <a:r>
                        <a:rPr lang="en-US" sz="850" b="1" dirty="0">
                          <a:solidFill>
                            <a:srgbClr val="FFFFFF"/>
                          </a:solidFill>
                          <a:latin typeface="Trenda IG Text" pitchFamily="34" charset="0"/>
                          <a:ea typeface="Trenda IG Text" pitchFamily="34" charset="-122"/>
                          <a:cs typeface="Trenda IG Text" pitchFamily="34" charset="-120"/>
                        </a:rPr>
                        <a:t>Cancelled or Duplicate</a:t>
                      </a:r>
                      <a:endParaRPr lang="en-US" sz="850" dirty="0">
                        <a:latin typeface="Trenda IG Text" charset="0"/>
                        <a:ea typeface="Trenda IG Text" charset="0"/>
                        <a:cs typeface="Trenda IG Text" charset="0"/>
                      </a:endParaRPr>
                    </a:p>
                  </a:txBody>
                  <a:tcPr marL="88900" marR="88900" marT="50800" marB="50800" anchor="ctr">
                    <a:lnL w="12700" cap="flat" cmpd="sng" algn="ctr">
                      <a:solidFill>
                        <a:srgbClr val="252D3D"/>
                      </a:solidFill>
                      <a:prstDash val="solid"/>
                      <a:round/>
                      <a:headEnd type="none" w="med" len="med"/>
                      <a:tailEnd type="none" w="med" len="med"/>
                    </a:lnL>
                    <a:lnR w="12700" cap="flat" cmpd="sng" algn="ctr">
                      <a:solidFill>
                        <a:srgbClr val="252D3D"/>
                      </a:solidFill>
                      <a:prstDash val="solid"/>
                      <a:round/>
                      <a:headEnd type="none" w="med" len="med"/>
                      <a:tailEnd type="none" w="med" len="med"/>
                    </a:lnR>
                    <a:lnT w="12700" cap="flat" cmpd="sng" algn="ctr">
                      <a:solidFill>
                        <a:srgbClr val="252D3D"/>
                      </a:solidFill>
                      <a:prstDash val="solid"/>
                      <a:round/>
                      <a:headEnd type="none" w="med" len="med"/>
                      <a:tailEnd type="none" w="med" len="med"/>
                    </a:lnT>
                    <a:lnB w="12700" cap="flat" cmpd="sng" algn="ctr">
                      <a:solidFill>
                        <a:srgbClr val="252D3D"/>
                      </a:solidFill>
                      <a:prstDash val="solid"/>
                      <a:round/>
                      <a:headEnd type="none" w="med" len="med"/>
                      <a:tailEnd type="none" w="med" len="med"/>
                    </a:lnB>
                    <a:solidFill>
                      <a:srgbClr val="151A24"/>
                    </a:solidFill>
                  </a:tcPr>
                </a:tc>
                <a:tc>
                  <a:txBody>
                    <a:bodyPr/>
                    <a:lstStyle/>
                    <a:p>
                      <a:pPr indent="0" marL="0">
                        <a:buNone/>
                      </a:pPr>
                      <a:r>
                        <a:rPr lang="en-US" sz="850" dirty="0">
                          <a:solidFill>
                            <a:srgbClr val="8A94A6"/>
                          </a:solidFill>
                          <a:latin typeface="Trenda IG Text" pitchFamily="34" charset="0"/>
                          <a:ea typeface="Trenda IG Text" pitchFamily="34" charset="-122"/>
                          <a:cs typeface="Trenda IG Text" pitchFamily="34" charset="-120"/>
                        </a:rPr>
                        <a:t>Invalid or duplicate case</a:t>
                      </a:r>
                      <a:endParaRPr lang="en-US" sz="850" dirty="0">
                        <a:latin typeface="Trenda IG Text" charset="0"/>
                        <a:ea typeface="Trenda IG Text" charset="0"/>
                        <a:cs typeface="Trenda IG Text" charset="0"/>
                      </a:endParaRPr>
                    </a:p>
                  </a:txBody>
                  <a:tcPr marL="88900" marR="88900" marT="50800" marB="50800" anchor="ctr">
                    <a:lnL w="12700" cap="flat" cmpd="sng" algn="ctr">
                      <a:solidFill>
                        <a:srgbClr val="252D3D"/>
                      </a:solidFill>
                      <a:prstDash val="solid"/>
                      <a:round/>
                      <a:headEnd type="none" w="med" len="med"/>
                      <a:tailEnd type="none" w="med" len="med"/>
                    </a:lnL>
                    <a:lnR w="12700" cap="flat" cmpd="sng" algn="ctr">
                      <a:solidFill>
                        <a:srgbClr val="252D3D"/>
                      </a:solidFill>
                      <a:prstDash val="solid"/>
                      <a:round/>
                      <a:headEnd type="none" w="med" len="med"/>
                      <a:tailEnd type="none" w="med" len="med"/>
                    </a:lnR>
                    <a:lnT w="12700" cap="flat" cmpd="sng" algn="ctr">
                      <a:solidFill>
                        <a:srgbClr val="252D3D"/>
                      </a:solidFill>
                      <a:prstDash val="solid"/>
                      <a:round/>
                      <a:headEnd type="none" w="med" len="med"/>
                      <a:tailEnd type="none" w="med" len="med"/>
                    </a:lnT>
                    <a:lnB w="12700" cap="flat" cmpd="sng" algn="ctr">
                      <a:solidFill>
                        <a:srgbClr val="252D3D"/>
                      </a:solidFill>
                      <a:prstDash val="solid"/>
                      <a:round/>
                      <a:headEnd type="none" w="med" len="med"/>
                      <a:tailEnd type="none" w="med" len="med"/>
                    </a:lnB>
                    <a:solidFill>
                      <a:srgbClr val="151A24"/>
                    </a:solidFill>
                  </a:tcPr>
                </a:tc>
                <a:tc>
                  <a:txBody>
                    <a:bodyPr/>
                    <a:lstStyle/>
                    <a:p>
                      <a:pPr indent="0" marL="0">
                        <a:buNone/>
                      </a:pPr>
                      <a:r>
                        <a:rPr lang="en-US" sz="850" dirty="0">
                          <a:solidFill>
                            <a:srgbClr val="8A94A6"/>
                          </a:solidFill>
                          <a:latin typeface="Trenda IG Text" pitchFamily="34" charset="0"/>
                          <a:ea typeface="Trenda IG Text" pitchFamily="34" charset="-122"/>
                          <a:cs typeface="Trenda IG Text" pitchFamily="34" charset="-120"/>
                        </a:rPr>
                        <a:t>Excluded under agreed rules</a:t>
                      </a:r>
                      <a:endParaRPr lang="en-US" sz="850" dirty="0">
                        <a:latin typeface="Trenda IG Text" charset="0"/>
                        <a:ea typeface="Trenda IG Text" charset="0"/>
                        <a:cs typeface="Trenda IG Text" charset="0"/>
                      </a:endParaRPr>
                    </a:p>
                  </a:txBody>
                  <a:tcPr marL="88900" marR="88900" marT="50800" marB="50800" anchor="ctr">
                    <a:lnL w="12700" cap="flat" cmpd="sng" algn="ctr">
                      <a:solidFill>
                        <a:srgbClr val="252D3D"/>
                      </a:solidFill>
                      <a:prstDash val="solid"/>
                      <a:round/>
                      <a:headEnd type="none" w="med" len="med"/>
                      <a:tailEnd type="none" w="med" len="med"/>
                    </a:lnL>
                    <a:lnR w="12700" cap="flat" cmpd="sng" algn="ctr">
                      <a:solidFill>
                        <a:srgbClr val="252D3D"/>
                      </a:solidFill>
                      <a:prstDash val="solid"/>
                      <a:round/>
                      <a:headEnd type="none" w="med" len="med"/>
                      <a:tailEnd type="none" w="med" len="med"/>
                    </a:lnR>
                    <a:lnT w="12700" cap="flat" cmpd="sng" algn="ctr">
                      <a:solidFill>
                        <a:srgbClr val="252D3D"/>
                      </a:solidFill>
                      <a:prstDash val="solid"/>
                      <a:round/>
                      <a:headEnd type="none" w="med" len="med"/>
                      <a:tailEnd type="none" w="med" len="med"/>
                    </a:lnT>
                    <a:lnB w="12700" cap="flat" cmpd="sng" algn="ctr">
                      <a:solidFill>
                        <a:srgbClr val="252D3D"/>
                      </a:solidFill>
                      <a:prstDash val="solid"/>
                      <a:round/>
                      <a:headEnd type="none" w="med" len="med"/>
                      <a:tailEnd type="none" w="med" len="med"/>
                    </a:lnB>
                    <a:solidFill>
                      <a:srgbClr val="151A24"/>
                    </a:solidFill>
                  </a:tcPr>
                </a:tc>
                <a:tc>
                  <a:txBody>
                    <a:bodyPr/>
                    <a:lstStyle/>
                    <a:p>
                      <a:pPr indent="0" marL="0">
                        <a:buNone/>
                      </a:pPr>
                      <a:r>
                        <a:rPr lang="en-US" sz="850" dirty="0">
                          <a:solidFill>
                            <a:srgbClr val="8A94A6"/>
                          </a:solidFill>
                          <a:latin typeface="Trenda IG Text" pitchFamily="34" charset="0"/>
                          <a:ea typeface="Trenda IG Text" pitchFamily="34" charset="-122"/>
                          <a:cs typeface="Trenda IG Text" pitchFamily="34" charset="-120"/>
                        </a:rPr>
                        <a:t>Excluded under agreed rules</a:t>
                      </a:r>
                      <a:endParaRPr lang="en-US" sz="850" dirty="0">
                        <a:latin typeface="Trenda IG Text" charset="0"/>
                        <a:ea typeface="Trenda IG Text" charset="0"/>
                        <a:cs typeface="Trenda IG Text" charset="0"/>
                      </a:endParaRPr>
                    </a:p>
                  </a:txBody>
                  <a:tcPr marL="88900" marR="88900" marT="50800" marB="50800" anchor="ctr">
                    <a:lnL w="12700" cap="flat" cmpd="sng" algn="ctr">
                      <a:solidFill>
                        <a:srgbClr val="252D3D"/>
                      </a:solidFill>
                      <a:prstDash val="solid"/>
                      <a:round/>
                      <a:headEnd type="none" w="med" len="med"/>
                      <a:tailEnd type="none" w="med" len="med"/>
                    </a:lnL>
                    <a:lnR w="12700" cap="flat" cmpd="sng" algn="ctr">
                      <a:solidFill>
                        <a:srgbClr val="252D3D"/>
                      </a:solidFill>
                      <a:prstDash val="solid"/>
                      <a:round/>
                      <a:headEnd type="none" w="med" len="med"/>
                      <a:tailEnd type="none" w="med" len="med"/>
                    </a:lnR>
                    <a:lnT w="12700" cap="flat" cmpd="sng" algn="ctr">
                      <a:solidFill>
                        <a:srgbClr val="252D3D"/>
                      </a:solidFill>
                      <a:prstDash val="solid"/>
                      <a:round/>
                      <a:headEnd type="none" w="med" len="med"/>
                      <a:tailEnd type="none" w="med" len="med"/>
                    </a:lnT>
                    <a:lnB w="12700" cap="flat" cmpd="sng" algn="ctr">
                      <a:solidFill>
                        <a:srgbClr val="252D3D"/>
                      </a:solidFill>
                      <a:prstDash val="solid"/>
                      <a:round/>
                      <a:headEnd type="none" w="med" len="med"/>
                      <a:tailEnd type="none" w="med" len="med"/>
                    </a:lnB>
                    <a:solidFill>
                      <a:srgbClr val="151A24"/>
                    </a:solidFill>
                  </a:tcPr>
                </a:tc>
              </a:tr>
            </a:tbl>
          </a:graphicData>
        </a:graphic>
      </p:graphicFrame>
      <p:sp>
        <p:nvSpPr>
          <p:cNvPr id="6" name="Shape 3"/>
          <p:cNvSpPr/>
          <p:nvPr/>
        </p:nvSpPr>
        <p:spPr>
          <a:xfrm>
            <a:off x="502920" y="5317236"/>
            <a:ext cx="11183112" cy="512064"/>
          </a:xfrm>
          <a:prstGeom prst="roundRect">
            <a:avLst>
              <a:gd name="adj" fmla="val 7143"/>
            </a:avLst>
          </a:prstGeom>
          <a:solidFill>
            <a:srgbClr val="1A2130"/>
          </a:solidFill>
          <a:ln w="12700">
            <a:solidFill>
              <a:srgbClr val="252D3D"/>
            </a:solidFill>
            <a:prstDash val="solid"/>
          </a:ln>
        </p:spPr>
      </p:sp>
      <p:sp>
        <p:nvSpPr>
          <p:cNvPr id="7" name="Text 4"/>
          <p:cNvSpPr txBox="1"/>
          <p:nvPr/>
        </p:nvSpPr>
        <p:spPr>
          <a:xfrm>
            <a:off x="704088" y="5317236"/>
            <a:ext cx="10780776" cy="512064"/>
          </a:xfrm>
          <a:prstGeom prst="rect">
            <a:avLst/>
          </a:prstGeom>
          <a:noFill/>
          <a:ln/>
        </p:spPr>
        <p:txBody>
          <a:bodyPr wrap="square" lIns="0" tIns="0" rIns="0" bIns="0" rtlCol="0" anchor="ctr"/>
          <a:lstStyle/>
          <a:p>
            <a:pPr indent="0" marL="0">
              <a:lnSpc>
                <a:spcPts val="1200"/>
              </a:lnSpc>
              <a:buNone/>
            </a:pPr>
            <a:r>
              <a:rPr lang="en-US" sz="900" b="1" spc="140" kern="0" dirty="0">
                <a:solidFill>
                  <a:srgbClr val="22D3EE"/>
                </a:solidFill>
                <a:latin typeface="Trenda IG Text" pitchFamily="34" charset="0"/>
                <a:ea typeface="Trenda IG Text" pitchFamily="34" charset="-122"/>
                <a:cs typeface="Trenda IG Text" pitchFamily="34" charset="-120"/>
              </a:rPr>
              <a:t>DESIGN DECISION   </a:t>
            </a:r>
            <a:pPr indent="0" marL="0">
              <a:lnSpc>
                <a:spcPts val="1200"/>
              </a:lnSpc>
              <a:buNone/>
            </a:pPr>
            <a:r>
              <a:rPr lang="en-US" sz="900" dirty="0">
                <a:solidFill>
                  <a:srgbClr val="E6EAF2"/>
                </a:solidFill>
                <a:latin typeface="Trenda IG Text" pitchFamily="34" charset="0"/>
                <a:ea typeface="Trenda IG Text" pitchFamily="34" charset="-122"/>
                <a:cs typeface="Trenda IG Text" pitchFamily="34" charset="-120"/>
              </a:rPr>
              <a:t>The resolution clock is not paused simply because another internal team is involved. Pausing it would hide the real customer experience. Instead four times are measured on every case: end to end closure time, controllable Insight Global processing time, dependency time awaiting a McKesson team, and customer wait time.</a:t>
            </a:r>
            <a:endParaRPr lang="en-US" sz="900" dirty="0"/>
          </a:p>
        </p:txBody>
      </p:sp>
      <p:pic>
        <p:nvPicPr>
          <p:cNvPr id="8" name="Image 0" descr="assets/ig-mark.png">    </p:cNvPr>
          <p:cNvPicPr>
            <a:picLocks noChangeAspect="1"/>
          </p:cNvPicPr>
          <p:nvPr/>
        </p:nvPicPr>
        <p:blipFill>
          <a:blip r:embed="rId1"/>
          <a:stretch>
            <a:fillRect/>
          </a:stretch>
        </p:blipFill>
        <p:spPr>
          <a:xfrm>
            <a:off x="502920" y="6455664"/>
            <a:ext cx="420624" cy="144475"/>
          </a:xfrm>
          <a:prstGeom prst="rect">
            <a:avLst/>
          </a:prstGeom>
        </p:spPr>
      </p:pic>
      <p:sp>
        <p:nvSpPr>
          <p:cNvPr id="9" name="Text 5"/>
          <p:cNvSpPr txBox="1"/>
          <p:nvPr/>
        </p:nvSpPr>
        <p:spPr>
          <a:xfrm>
            <a:off x="11201400" y="6400800"/>
            <a:ext cx="484632" cy="237744"/>
          </a:xfrm>
          <a:prstGeom prst="rect">
            <a:avLst/>
          </a:prstGeom>
          <a:noFill/>
          <a:ln/>
        </p:spPr>
        <p:txBody>
          <a:bodyPr wrap="square" lIns="0" tIns="0" rIns="0" bIns="0" rtlCol="0" anchor="ctr"/>
          <a:lstStyle/>
          <a:p>
            <a:pPr algn="r" indent="0" marL="0">
              <a:buNone/>
            </a:pPr>
            <a:r>
              <a:rPr lang="en-US" sz="850" dirty="0">
                <a:solidFill>
                  <a:srgbClr val="8A94A6"/>
                </a:solidFill>
                <a:latin typeface="Trenda IG Text" pitchFamily="34" charset="0"/>
                <a:ea typeface="Trenda IG Text" pitchFamily="34" charset="-122"/>
                <a:cs typeface="Trenda IG Text" pitchFamily="34" charset="-120"/>
              </a:rPr>
              <a:t>15</a:t>
            </a:r>
            <a:endParaRPr lang="en-US" sz="850" dirty="0"/>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bg>
      <p:bgPr>
        <a:solidFill>
          <a:srgbClr val="0A0D14"/>
        </a:solidFill>
      </p:bgPr>
    </p:bg>
    <p:spTree>
      <p:nvGrpSpPr>
        <p:cNvPr id="1" name=""/>
        <p:cNvGrpSpPr/>
        <p:nvPr/>
      </p:nvGrpSpPr>
      <p:grpSpPr>
        <a:xfrm>
          <a:off x="0" y="0"/>
          <a:ext cx="0" cy="0"/>
          <a:chOff x="0" y="0"/>
          <a:chExt cx="0" cy="0"/>
        </a:xfrm>
      </p:grpSpPr>
      <p:sp>
        <p:nvSpPr>
          <p:cNvPr id="2" name="Text 0"/>
          <p:cNvSpPr txBox="1"/>
          <p:nvPr/>
        </p:nvSpPr>
        <p:spPr>
          <a:xfrm>
            <a:off x="502920" y="384048"/>
            <a:ext cx="11183112" cy="219456"/>
          </a:xfrm>
          <a:prstGeom prst="rect">
            <a:avLst/>
          </a:prstGeom>
          <a:noFill/>
          <a:ln/>
        </p:spPr>
        <p:txBody>
          <a:bodyPr wrap="square" lIns="0" tIns="0" rIns="0" bIns="0" rtlCol="0" anchor="ctr"/>
          <a:lstStyle/>
          <a:p>
            <a:pPr indent="0" marL="0">
              <a:buNone/>
            </a:pPr>
            <a:r>
              <a:rPr lang="en-US" sz="1000" b="1" spc="220" kern="0" dirty="0">
                <a:solidFill>
                  <a:srgbClr val="22D3EE"/>
                </a:solidFill>
                <a:latin typeface="Trenda IG Display" pitchFamily="34" charset="0"/>
                <a:ea typeface="Trenda IG Display" pitchFamily="34" charset="-122"/>
                <a:cs typeface="Trenda IG Display" pitchFamily="34" charset="-120"/>
              </a:rPr>
              <a:t>TRUST AND CONTROL</a:t>
            </a:r>
            <a:endParaRPr lang="en-US" sz="1000" dirty="0"/>
          </a:p>
        </p:txBody>
      </p:sp>
      <p:sp>
        <p:nvSpPr>
          <p:cNvPr id="3" name="Text 1"/>
          <p:cNvSpPr txBox="1"/>
          <p:nvPr/>
        </p:nvSpPr>
        <p:spPr>
          <a:xfrm>
            <a:off x="502920" y="658368"/>
            <a:ext cx="11183112" cy="416052"/>
          </a:xfrm>
          <a:prstGeom prst="rect">
            <a:avLst/>
          </a:prstGeom>
          <a:noFill/>
          <a:ln/>
        </p:spPr>
        <p:txBody>
          <a:bodyPr wrap="square" lIns="0" tIns="0" rIns="0" bIns="0" rtlCol="0" anchor="ctr"/>
          <a:lstStyle/>
          <a:p>
            <a:pPr indent="0" marL="0">
              <a:lnSpc>
                <a:spcPts val="3016"/>
              </a:lnSpc>
              <a:buNone/>
            </a:pPr>
            <a:r>
              <a:rPr lang="en-US" sz="2600" b="1" spc="40" kern="0" dirty="0">
                <a:solidFill>
                  <a:srgbClr val="FFFFFF"/>
                </a:solidFill>
                <a:latin typeface="Trenda IG Display" pitchFamily="34" charset="0"/>
                <a:ea typeface="Trenda IG Display" pitchFamily="34" charset="-122"/>
                <a:cs typeface="Trenda IG Display" pitchFamily="34" charset="-120"/>
              </a:rPr>
              <a:t>BUILT FOR A PHI SENSITIVE ENVIRONMENT</a:t>
            </a:r>
            <a:endParaRPr lang="en-US" sz="2600" dirty="0"/>
          </a:p>
        </p:txBody>
      </p:sp>
      <p:sp>
        <p:nvSpPr>
          <p:cNvPr id="4" name="Text 2"/>
          <p:cNvSpPr txBox="1"/>
          <p:nvPr/>
        </p:nvSpPr>
        <p:spPr>
          <a:xfrm>
            <a:off x="502920" y="1156716"/>
            <a:ext cx="11183112" cy="384048"/>
          </a:xfrm>
          <a:prstGeom prst="rect">
            <a:avLst/>
          </a:prstGeom>
          <a:noFill/>
          <a:ln/>
        </p:spPr>
        <p:txBody>
          <a:bodyPr wrap="square" lIns="0" tIns="0" rIns="0" bIns="0" rtlCol="0" anchor="t"/>
          <a:lstStyle/>
          <a:p>
            <a:pPr indent="0" marL="0">
              <a:lnSpc>
                <a:spcPts val="1500"/>
              </a:lnSpc>
              <a:buNone/>
            </a:pPr>
            <a:r>
              <a:rPr lang="en-US" sz="1150" dirty="0">
                <a:solidFill>
                  <a:srgbClr val="8A94A6"/>
                </a:solidFill>
                <a:latin typeface="Trenda IG Text" pitchFamily="34" charset="0"/>
                <a:ea typeface="Trenda IG Text" pitchFamily="34" charset="-122"/>
                <a:cs typeface="Trenda IG Text" pitchFamily="34" charset="-120"/>
              </a:rPr>
              <a:t>Generative capability in this design runs through the Einstein Trust Layer inside McKesson tenancy. Nothing is trained on McKesson data and nothing is retained by a model provider.</a:t>
            </a:r>
            <a:endParaRPr lang="en-US" sz="1150" dirty="0"/>
          </a:p>
        </p:txBody>
      </p:sp>
      <p:sp>
        <p:nvSpPr>
          <p:cNvPr id="5" name="Shape 3"/>
          <p:cNvSpPr/>
          <p:nvPr/>
        </p:nvSpPr>
        <p:spPr>
          <a:xfrm>
            <a:off x="502920" y="1796796"/>
            <a:ext cx="3593592" cy="1078992"/>
          </a:xfrm>
          <a:prstGeom prst="roundRect">
            <a:avLst>
              <a:gd name="adj" fmla="val 3390"/>
            </a:avLst>
          </a:prstGeom>
          <a:solidFill>
            <a:srgbClr val="151A24"/>
          </a:solidFill>
          <a:ln w="12700">
            <a:solidFill>
              <a:srgbClr val="252D3D"/>
            </a:solidFill>
            <a:prstDash val="solid"/>
          </a:ln>
        </p:spPr>
      </p:sp>
      <p:sp>
        <p:nvSpPr>
          <p:cNvPr id="6" name="Text 4"/>
          <p:cNvSpPr txBox="1"/>
          <p:nvPr/>
        </p:nvSpPr>
        <p:spPr>
          <a:xfrm>
            <a:off x="722376" y="1943100"/>
            <a:ext cx="3154680" cy="237744"/>
          </a:xfrm>
          <a:prstGeom prst="rect">
            <a:avLst/>
          </a:prstGeom>
          <a:noFill/>
          <a:ln/>
        </p:spPr>
        <p:txBody>
          <a:bodyPr wrap="square" lIns="0" tIns="0" rIns="0" bIns="0" rtlCol="0" anchor="ctr"/>
          <a:lstStyle/>
          <a:p>
            <a:pPr indent="0" marL="0">
              <a:buNone/>
            </a:pPr>
            <a:r>
              <a:rPr lang="en-US" sz="1100" b="1" dirty="0">
                <a:solidFill>
                  <a:srgbClr val="22D3EE"/>
                </a:solidFill>
                <a:latin typeface="Trenda IG Text" pitchFamily="34" charset="0"/>
                <a:ea typeface="Trenda IG Text" pitchFamily="34" charset="-122"/>
                <a:cs typeface="Trenda IG Text" pitchFamily="34" charset="-120"/>
              </a:rPr>
              <a:t>Zero data retention</a:t>
            </a:r>
            <a:endParaRPr lang="en-US" sz="1100" dirty="0"/>
          </a:p>
        </p:txBody>
      </p:sp>
      <p:sp>
        <p:nvSpPr>
          <p:cNvPr id="7" name="Text 5"/>
          <p:cNvSpPr txBox="1"/>
          <p:nvPr/>
        </p:nvSpPr>
        <p:spPr>
          <a:xfrm>
            <a:off x="722376" y="2217420"/>
            <a:ext cx="3154680" cy="566928"/>
          </a:xfrm>
          <a:prstGeom prst="rect">
            <a:avLst/>
          </a:prstGeom>
          <a:noFill/>
          <a:ln/>
        </p:spPr>
        <p:txBody>
          <a:bodyPr wrap="square" lIns="0" tIns="0" rIns="0" bIns="0" rtlCol="0" anchor="t"/>
          <a:lstStyle/>
          <a:p>
            <a:pPr indent="0" marL="0">
              <a:lnSpc>
                <a:spcPts val="1150"/>
              </a:lnSpc>
              <a:buNone/>
            </a:pPr>
            <a:r>
              <a:rPr lang="en-US" sz="850" dirty="0">
                <a:solidFill>
                  <a:srgbClr val="8A94A6"/>
                </a:solidFill>
                <a:latin typeface="Trenda IG Text" pitchFamily="34" charset="0"/>
                <a:ea typeface="Trenda IG Text" pitchFamily="34" charset="-122"/>
                <a:cs typeface="Trenda IG Text" pitchFamily="34" charset="-120"/>
              </a:rPr>
              <a:t>Prompts and responses are not stored or used for training by the model provider. They exist only in the Salesforce audit record.</a:t>
            </a:r>
            <a:endParaRPr lang="en-US" sz="850" dirty="0"/>
          </a:p>
        </p:txBody>
      </p:sp>
      <p:sp>
        <p:nvSpPr>
          <p:cNvPr id="8" name="Shape 6"/>
          <p:cNvSpPr/>
          <p:nvPr/>
        </p:nvSpPr>
        <p:spPr>
          <a:xfrm>
            <a:off x="4297680" y="1796796"/>
            <a:ext cx="3593592" cy="1078992"/>
          </a:xfrm>
          <a:prstGeom prst="roundRect">
            <a:avLst>
              <a:gd name="adj" fmla="val 3390"/>
            </a:avLst>
          </a:prstGeom>
          <a:solidFill>
            <a:srgbClr val="151A24"/>
          </a:solidFill>
          <a:ln w="12700">
            <a:solidFill>
              <a:srgbClr val="252D3D"/>
            </a:solidFill>
            <a:prstDash val="solid"/>
          </a:ln>
        </p:spPr>
      </p:sp>
      <p:sp>
        <p:nvSpPr>
          <p:cNvPr id="9" name="Text 7"/>
          <p:cNvSpPr txBox="1"/>
          <p:nvPr/>
        </p:nvSpPr>
        <p:spPr>
          <a:xfrm>
            <a:off x="4517136" y="1943100"/>
            <a:ext cx="3154680" cy="237744"/>
          </a:xfrm>
          <a:prstGeom prst="rect">
            <a:avLst/>
          </a:prstGeom>
          <a:noFill/>
          <a:ln/>
        </p:spPr>
        <p:txBody>
          <a:bodyPr wrap="square" lIns="0" tIns="0" rIns="0" bIns="0" rtlCol="0" anchor="ctr"/>
          <a:lstStyle/>
          <a:p>
            <a:pPr indent="0" marL="0">
              <a:buNone/>
            </a:pPr>
            <a:r>
              <a:rPr lang="en-US" sz="1100" b="1" dirty="0">
                <a:solidFill>
                  <a:srgbClr val="22D3EE"/>
                </a:solidFill>
                <a:latin typeface="Trenda IG Text" pitchFamily="34" charset="0"/>
                <a:ea typeface="Trenda IG Text" pitchFamily="34" charset="-122"/>
                <a:cs typeface="Trenda IG Text" pitchFamily="34" charset="-120"/>
              </a:rPr>
              <a:t>Data masking</a:t>
            </a:r>
            <a:endParaRPr lang="en-US" sz="1100" dirty="0"/>
          </a:p>
        </p:txBody>
      </p:sp>
      <p:sp>
        <p:nvSpPr>
          <p:cNvPr id="10" name="Text 8"/>
          <p:cNvSpPr txBox="1"/>
          <p:nvPr/>
        </p:nvSpPr>
        <p:spPr>
          <a:xfrm>
            <a:off x="4517136" y="2217420"/>
            <a:ext cx="3154680" cy="566928"/>
          </a:xfrm>
          <a:prstGeom prst="rect">
            <a:avLst/>
          </a:prstGeom>
          <a:noFill/>
          <a:ln/>
        </p:spPr>
        <p:txBody>
          <a:bodyPr wrap="square" lIns="0" tIns="0" rIns="0" bIns="0" rtlCol="0" anchor="t"/>
          <a:lstStyle/>
          <a:p>
            <a:pPr indent="0" marL="0">
              <a:lnSpc>
                <a:spcPts val="1150"/>
              </a:lnSpc>
              <a:buNone/>
            </a:pPr>
            <a:r>
              <a:rPr lang="en-US" sz="850" dirty="0">
                <a:solidFill>
                  <a:srgbClr val="8A94A6"/>
                </a:solidFill>
                <a:latin typeface="Trenda IG Text" pitchFamily="34" charset="0"/>
                <a:ea typeface="Trenda IG Text" pitchFamily="34" charset="-122"/>
                <a:cs typeface="Trenda IG Text" pitchFamily="34" charset="-120"/>
              </a:rPr>
              <a:t>PHI and PII are masked before the prompt leaves the org and rehydrated in the response, so identifiable data is not exposed to the model.</a:t>
            </a:r>
            <a:endParaRPr lang="en-US" sz="850" dirty="0"/>
          </a:p>
        </p:txBody>
      </p:sp>
      <p:sp>
        <p:nvSpPr>
          <p:cNvPr id="11" name="Shape 9"/>
          <p:cNvSpPr/>
          <p:nvPr/>
        </p:nvSpPr>
        <p:spPr>
          <a:xfrm>
            <a:off x="8092440" y="1796796"/>
            <a:ext cx="3593592" cy="1078992"/>
          </a:xfrm>
          <a:prstGeom prst="roundRect">
            <a:avLst>
              <a:gd name="adj" fmla="val 3390"/>
            </a:avLst>
          </a:prstGeom>
          <a:solidFill>
            <a:srgbClr val="151A24"/>
          </a:solidFill>
          <a:ln w="12700">
            <a:solidFill>
              <a:srgbClr val="252D3D"/>
            </a:solidFill>
            <a:prstDash val="solid"/>
          </a:ln>
        </p:spPr>
      </p:sp>
      <p:sp>
        <p:nvSpPr>
          <p:cNvPr id="12" name="Text 10"/>
          <p:cNvSpPr txBox="1"/>
          <p:nvPr/>
        </p:nvSpPr>
        <p:spPr>
          <a:xfrm>
            <a:off x="8311896" y="1943100"/>
            <a:ext cx="3154680" cy="237744"/>
          </a:xfrm>
          <a:prstGeom prst="rect">
            <a:avLst/>
          </a:prstGeom>
          <a:noFill/>
          <a:ln/>
        </p:spPr>
        <p:txBody>
          <a:bodyPr wrap="square" lIns="0" tIns="0" rIns="0" bIns="0" rtlCol="0" anchor="ctr"/>
          <a:lstStyle/>
          <a:p>
            <a:pPr indent="0" marL="0">
              <a:buNone/>
            </a:pPr>
            <a:r>
              <a:rPr lang="en-US" sz="1100" b="1" dirty="0">
                <a:solidFill>
                  <a:srgbClr val="22D3EE"/>
                </a:solidFill>
                <a:latin typeface="Trenda IG Text" pitchFamily="34" charset="0"/>
                <a:ea typeface="Trenda IG Text" pitchFamily="34" charset="-122"/>
                <a:cs typeface="Trenda IG Text" pitchFamily="34" charset="-120"/>
              </a:rPr>
              <a:t>Dynamic grounding</a:t>
            </a:r>
            <a:endParaRPr lang="en-US" sz="1100" dirty="0"/>
          </a:p>
        </p:txBody>
      </p:sp>
      <p:sp>
        <p:nvSpPr>
          <p:cNvPr id="13" name="Text 11"/>
          <p:cNvSpPr txBox="1"/>
          <p:nvPr/>
        </p:nvSpPr>
        <p:spPr>
          <a:xfrm>
            <a:off x="8311896" y="2217420"/>
            <a:ext cx="3154680" cy="566928"/>
          </a:xfrm>
          <a:prstGeom prst="rect">
            <a:avLst/>
          </a:prstGeom>
          <a:noFill/>
          <a:ln/>
        </p:spPr>
        <p:txBody>
          <a:bodyPr wrap="square" lIns="0" tIns="0" rIns="0" bIns="0" rtlCol="0" anchor="t"/>
          <a:lstStyle/>
          <a:p>
            <a:pPr indent="0" marL="0">
              <a:lnSpc>
                <a:spcPts val="1150"/>
              </a:lnSpc>
              <a:buNone/>
            </a:pPr>
            <a:r>
              <a:rPr lang="en-US" sz="850" dirty="0">
                <a:solidFill>
                  <a:srgbClr val="8A94A6"/>
                </a:solidFill>
                <a:latin typeface="Trenda IG Text" pitchFamily="34" charset="0"/>
                <a:ea typeface="Trenda IG Text" pitchFamily="34" charset="-122"/>
                <a:cs typeface="Trenda IG Text" pitchFamily="34" charset="-120"/>
              </a:rPr>
              <a:t>The template receives only the specific records it is authorised to see, under the running user permissions.</a:t>
            </a:r>
            <a:endParaRPr lang="en-US" sz="850" dirty="0"/>
          </a:p>
        </p:txBody>
      </p:sp>
      <p:sp>
        <p:nvSpPr>
          <p:cNvPr id="14" name="Shape 12"/>
          <p:cNvSpPr/>
          <p:nvPr/>
        </p:nvSpPr>
        <p:spPr>
          <a:xfrm>
            <a:off x="502920" y="3058668"/>
            <a:ext cx="3593592" cy="1078992"/>
          </a:xfrm>
          <a:prstGeom prst="roundRect">
            <a:avLst>
              <a:gd name="adj" fmla="val 3390"/>
            </a:avLst>
          </a:prstGeom>
          <a:solidFill>
            <a:srgbClr val="151A24"/>
          </a:solidFill>
          <a:ln w="12700">
            <a:solidFill>
              <a:srgbClr val="252D3D"/>
            </a:solidFill>
            <a:prstDash val="solid"/>
          </a:ln>
        </p:spPr>
      </p:sp>
      <p:sp>
        <p:nvSpPr>
          <p:cNvPr id="15" name="Text 13"/>
          <p:cNvSpPr txBox="1"/>
          <p:nvPr/>
        </p:nvSpPr>
        <p:spPr>
          <a:xfrm>
            <a:off x="722376" y="3204972"/>
            <a:ext cx="3154680" cy="237744"/>
          </a:xfrm>
          <a:prstGeom prst="rect">
            <a:avLst/>
          </a:prstGeom>
          <a:noFill/>
          <a:ln/>
        </p:spPr>
        <p:txBody>
          <a:bodyPr wrap="square" lIns="0" tIns="0" rIns="0" bIns="0" rtlCol="0" anchor="ctr"/>
          <a:lstStyle/>
          <a:p>
            <a:pPr indent="0" marL="0">
              <a:buNone/>
            </a:pPr>
            <a:r>
              <a:rPr lang="en-US" sz="1100" b="1" dirty="0">
                <a:solidFill>
                  <a:srgbClr val="22D3EE"/>
                </a:solidFill>
                <a:latin typeface="Trenda IG Text" pitchFamily="34" charset="0"/>
                <a:ea typeface="Trenda IG Text" pitchFamily="34" charset="-122"/>
                <a:cs typeface="Trenda IG Text" pitchFamily="34" charset="-120"/>
              </a:rPr>
              <a:t>Prompt injection defence</a:t>
            </a:r>
            <a:endParaRPr lang="en-US" sz="1100" dirty="0"/>
          </a:p>
        </p:txBody>
      </p:sp>
      <p:sp>
        <p:nvSpPr>
          <p:cNvPr id="16" name="Text 14"/>
          <p:cNvSpPr txBox="1"/>
          <p:nvPr/>
        </p:nvSpPr>
        <p:spPr>
          <a:xfrm>
            <a:off x="722376" y="3479292"/>
            <a:ext cx="3154680" cy="566928"/>
          </a:xfrm>
          <a:prstGeom prst="rect">
            <a:avLst/>
          </a:prstGeom>
          <a:noFill/>
          <a:ln/>
        </p:spPr>
        <p:txBody>
          <a:bodyPr wrap="square" lIns="0" tIns="0" rIns="0" bIns="0" rtlCol="0" anchor="t"/>
          <a:lstStyle/>
          <a:p>
            <a:pPr indent="0" marL="0">
              <a:lnSpc>
                <a:spcPts val="1150"/>
              </a:lnSpc>
              <a:buNone/>
            </a:pPr>
            <a:r>
              <a:rPr lang="en-US" sz="850" dirty="0">
                <a:solidFill>
                  <a:srgbClr val="8A94A6"/>
                </a:solidFill>
                <a:latin typeface="Trenda IG Text" pitchFamily="34" charset="0"/>
                <a:ea typeface="Trenda IG Text" pitchFamily="34" charset="-122"/>
                <a:cs typeface="Trenda IG Text" pitchFamily="34" charset="-120"/>
              </a:rPr>
              <a:t>Instructions embedded in an inbound customer email are treated as content, not as commands to the system.</a:t>
            </a:r>
            <a:endParaRPr lang="en-US" sz="850" dirty="0"/>
          </a:p>
        </p:txBody>
      </p:sp>
      <p:sp>
        <p:nvSpPr>
          <p:cNvPr id="17" name="Shape 15"/>
          <p:cNvSpPr/>
          <p:nvPr/>
        </p:nvSpPr>
        <p:spPr>
          <a:xfrm>
            <a:off x="4297680" y="3058668"/>
            <a:ext cx="3593592" cy="1078992"/>
          </a:xfrm>
          <a:prstGeom prst="roundRect">
            <a:avLst>
              <a:gd name="adj" fmla="val 3390"/>
            </a:avLst>
          </a:prstGeom>
          <a:solidFill>
            <a:srgbClr val="151A24"/>
          </a:solidFill>
          <a:ln w="12700">
            <a:solidFill>
              <a:srgbClr val="252D3D"/>
            </a:solidFill>
            <a:prstDash val="solid"/>
          </a:ln>
        </p:spPr>
      </p:sp>
      <p:sp>
        <p:nvSpPr>
          <p:cNvPr id="18" name="Text 16"/>
          <p:cNvSpPr txBox="1"/>
          <p:nvPr/>
        </p:nvSpPr>
        <p:spPr>
          <a:xfrm>
            <a:off x="4517136" y="3204972"/>
            <a:ext cx="3154680" cy="237744"/>
          </a:xfrm>
          <a:prstGeom prst="rect">
            <a:avLst/>
          </a:prstGeom>
          <a:noFill/>
          <a:ln/>
        </p:spPr>
        <p:txBody>
          <a:bodyPr wrap="square" lIns="0" tIns="0" rIns="0" bIns="0" rtlCol="0" anchor="ctr"/>
          <a:lstStyle/>
          <a:p>
            <a:pPr indent="0" marL="0">
              <a:buNone/>
            </a:pPr>
            <a:r>
              <a:rPr lang="en-US" sz="1100" b="1" dirty="0">
                <a:solidFill>
                  <a:srgbClr val="22D3EE"/>
                </a:solidFill>
                <a:latin typeface="Trenda IG Text" pitchFamily="34" charset="0"/>
                <a:ea typeface="Trenda IG Text" pitchFamily="34" charset="-122"/>
                <a:cs typeface="Trenda IG Text" pitchFamily="34" charset="-120"/>
              </a:rPr>
              <a:t>Toxicity scoring</a:t>
            </a:r>
            <a:endParaRPr lang="en-US" sz="1100" dirty="0"/>
          </a:p>
        </p:txBody>
      </p:sp>
      <p:sp>
        <p:nvSpPr>
          <p:cNvPr id="19" name="Text 17"/>
          <p:cNvSpPr txBox="1"/>
          <p:nvPr/>
        </p:nvSpPr>
        <p:spPr>
          <a:xfrm>
            <a:off x="4517136" y="3479292"/>
            <a:ext cx="3154680" cy="566928"/>
          </a:xfrm>
          <a:prstGeom prst="rect">
            <a:avLst/>
          </a:prstGeom>
          <a:noFill/>
          <a:ln/>
        </p:spPr>
        <p:txBody>
          <a:bodyPr wrap="square" lIns="0" tIns="0" rIns="0" bIns="0" rtlCol="0" anchor="t"/>
          <a:lstStyle/>
          <a:p>
            <a:pPr indent="0" marL="0">
              <a:lnSpc>
                <a:spcPts val="1150"/>
              </a:lnSpc>
              <a:buNone/>
            </a:pPr>
            <a:r>
              <a:rPr lang="en-US" sz="850" dirty="0">
                <a:solidFill>
                  <a:srgbClr val="8A94A6"/>
                </a:solidFill>
                <a:latin typeface="Trenda IG Text" pitchFamily="34" charset="0"/>
                <a:ea typeface="Trenda IG Text" pitchFamily="34" charset="-122"/>
                <a:cs typeface="Trenda IG Text" pitchFamily="34" charset="-120"/>
              </a:rPr>
              <a:t>Generated output is scored before it is presented, and flagged output is withheld from the agent.</a:t>
            </a:r>
            <a:endParaRPr lang="en-US" sz="850" dirty="0"/>
          </a:p>
        </p:txBody>
      </p:sp>
      <p:sp>
        <p:nvSpPr>
          <p:cNvPr id="20" name="Shape 18"/>
          <p:cNvSpPr/>
          <p:nvPr/>
        </p:nvSpPr>
        <p:spPr>
          <a:xfrm>
            <a:off x="8092440" y="3058668"/>
            <a:ext cx="3593592" cy="1078992"/>
          </a:xfrm>
          <a:prstGeom prst="roundRect">
            <a:avLst>
              <a:gd name="adj" fmla="val 3390"/>
            </a:avLst>
          </a:prstGeom>
          <a:solidFill>
            <a:srgbClr val="151A24"/>
          </a:solidFill>
          <a:ln w="12700">
            <a:solidFill>
              <a:srgbClr val="252D3D"/>
            </a:solidFill>
            <a:prstDash val="solid"/>
          </a:ln>
        </p:spPr>
      </p:sp>
      <p:sp>
        <p:nvSpPr>
          <p:cNvPr id="21" name="Text 19"/>
          <p:cNvSpPr txBox="1"/>
          <p:nvPr/>
        </p:nvSpPr>
        <p:spPr>
          <a:xfrm>
            <a:off x="8311896" y="3204972"/>
            <a:ext cx="3154680" cy="237744"/>
          </a:xfrm>
          <a:prstGeom prst="rect">
            <a:avLst/>
          </a:prstGeom>
          <a:noFill/>
          <a:ln/>
        </p:spPr>
        <p:txBody>
          <a:bodyPr wrap="square" lIns="0" tIns="0" rIns="0" bIns="0" rtlCol="0" anchor="ctr"/>
          <a:lstStyle/>
          <a:p>
            <a:pPr indent="0" marL="0">
              <a:buNone/>
            </a:pPr>
            <a:r>
              <a:rPr lang="en-US" sz="1100" b="1" dirty="0">
                <a:solidFill>
                  <a:srgbClr val="22D3EE"/>
                </a:solidFill>
                <a:latin typeface="Trenda IG Text" pitchFamily="34" charset="0"/>
                <a:ea typeface="Trenda IG Text" pitchFamily="34" charset="-122"/>
                <a:cs typeface="Trenda IG Text" pitchFamily="34" charset="-120"/>
              </a:rPr>
              <a:t>Audit trail</a:t>
            </a:r>
            <a:endParaRPr lang="en-US" sz="1100" dirty="0"/>
          </a:p>
        </p:txBody>
      </p:sp>
      <p:sp>
        <p:nvSpPr>
          <p:cNvPr id="22" name="Text 20"/>
          <p:cNvSpPr txBox="1"/>
          <p:nvPr/>
        </p:nvSpPr>
        <p:spPr>
          <a:xfrm>
            <a:off x="8311896" y="3479292"/>
            <a:ext cx="3154680" cy="566928"/>
          </a:xfrm>
          <a:prstGeom prst="rect">
            <a:avLst/>
          </a:prstGeom>
          <a:noFill/>
          <a:ln/>
        </p:spPr>
        <p:txBody>
          <a:bodyPr wrap="square" lIns="0" tIns="0" rIns="0" bIns="0" rtlCol="0" anchor="t"/>
          <a:lstStyle/>
          <a:p>
            <a:pPr indent="0" marL="0">
              <a:lnSpc>
                <a:spcPts val="1150"/>
              </a:lnSpc>
              <a:buNone/>
            </a:pPr>
            <a:r>
              <a:rPr lang="en-US" sz="850" dirty="0">
                <a:solidFill>
                  <a:srgbClr val="8A94A6"/>
                </a:solidFill>
                <a:latin typeface="Trenda IG Text" pitchFamily="34" charset="0"/>
                <a:ea typeface="Trenda IG Text" pitchFamily="34" charset="-122"/>
                <a:cs typeface="Trenda IG Text" pitchFamily="34" charset="-120"/>
              </a:rPr>
              <a:t>Every prompt, response, agent edit and send is retained and reportable, so any customer reply can be reconstructed.</a:t>
            </a:r>
            <a:endParaRPr lang="en-US" sz="850" dirty="0"/>
          </a:p>
        </p:txBody>
      </p:sp>
      <p:sp>
        <p:nvSpPr>
          <p:cNvPr id="23" name="Shape 21"/>
          <p:cNvSpPr/>
          <p:nvPr/>
        </p:nvSpPr>
        <p:spPr>
          <a:xfrm>
            <a:off x="502920" y="4375404"/>
            <a:ext cx="11183112" cy="1115568"/>
          </a:xfrm>
          <a:prstGeom prst="roundRect">
            <a:avLst>
              <a:gd name="adj" fmla="val 3279"/>
            </a:avLst>
          </a:prstGeom>
          <a:solidFill>
            <a:srgbClr val="1A1226"/>
          </a:solidFill>
          <a:ln w="12700">
            <a:solidFill>
              <a:srgbClr val="4A2740"/>
            </a:solidFill>
            <a:prstDash val="solid"/>
          </a:ln>
        </p:spPr>
      </p:sp>
      <p:sp>
        <p:nvSpPr>
          <p:cNvPr id="24" name="Text 22"/>
          <p:cNvSpPr txBox="1"/>
          <p:nvPr/>
        </p:nvSpPr>
        <p:spPr>
          <a:xfrm>
            <a:off x="740664" y="4521708"/>
            <a:ext cx="7315200" cy="201168"/>
          </a:xfrm>
          <a:prstGeom prst="rect">
            <a:avLst/>
          </a:prstGeom>
          <a:noFill/>
          <a:ln/>
        </p:spPr>
        <p:txBody>
          <a:bodyPr wrap="square" lIns="0" tIns="0" rIns="0" bIns="0" rtlCol="0" anchor="ctr"/>
          <a:lstStyle/>
          <a:p>
            <a:pPr indent="0" marL="0">
              <a:buNone/>
            </a:pPr>
            <a:r>
              <a:rPr lang="en-US" sz="1000" b="1" spc="140" kern="0" dirty="0">
                <a:solidFill>
                  <a:srgbClr val="FF0069"/>
                </a:solidFill>
                <a:latin typeface="Trenda IG Display" pitchFamily="34" charset="0"/>
                <a:ea typeface="Trenda IG Display" pitchFamily="34" charset="-122"/>
                <a:cs typeface="Trenda IG Display" pitchFamily="34" charset="-120"/>
              </a:rPr>
              <a:t>HUMAN APPROVAL REMAINS MANDATORY, AT EVERY PHASE</a:t>
            </a:r>
            <a:endParaRPr lang="en-US" sz="1000" dirty="0"/>
          </a:p>
        </p:txBody>
      </p:sp>
      <p:sp>
        <p:nvSpPr>
          <p:cNvPr id="25" name="Shape 23"/>
          <p:cNvSpPr/>
          <p:nvPr/>
        </p:nvSpPr>
        <p:spPr>
          <a:xfrm>
            <a:off x="740664" y="4832604"/>
            <a:ext cx="2560320" cy="246888"/>
          </a:xfrm>
          <a:prstGeom prst="roundRect">
            <a:avLst>
              <a:gd name="adj" fmla="val 18519"/>
            </a:avLst>
          </a:prstGeom>
          <a:solidFill>
            <a:srgbClr val="241733"/>
          </a:solidFill>
          <a:ln w="12700">
            <a:solidFill>
              <a:srgbClr val="4A2740"/>
            </a:solidFill>
            <a:prstDash val="solid"/>
          </a:ln>
        </p:spPr>
      </p:sp>
      <p:sp>
        <p:nvSpPr>
          <p:cNvPr id="26" name="Text 24"/>
          <p:cNvSpPr txBox="1"/>
          <p:nvPr/>
        </p:nvSpPr>
        <p:spPr>
          <a:xfrm>
            <a:off x="850392" y="4832604"/>
            <a:ext cx="2340864" cy="246888"/>
          </a:xfrm>
          <a:prstGeom prst="rect">
            <a:avLst/>
          </a:prstGeom>
          <a:noFill/>
          <a:ln/>
        </p:spPr>
        <p:txBody>
          <a:bodyPr wrap="square" lIns="0" tIns="0" rIns="0" bIns="0" rtlCol="0" anchor="ctr"/>
          <a:lstStyle/>
          <a:p>
            <a:pPr indent="0" marL="0">
              <a:buNone/>
            </a:pPr>
            <a:r>
              <a:rPr lang="en-US" sz="850" dirty="0">
                <a:solidFill>
                  <a:srgbClr val="E6EAF2"/>
                </a:solidFill>
                <a:latin typeface="Trenda IG Text" pitchFamily="34" charset="0"/>
                <a:ea typeface="Trenda IG Text" pitchFamily="34" charset="-122"/>
                <a:cs typeface="Trenda IG Text" pitchFamily="34" charset="-120"/>
              </a:rPr>
              <a:t>Credits and returns</a:t>
            </a:r>
            <a:endParaRPr lang="en-US" sz="850" dirty="0"/>
          </a:p>
        </p:txBody>
      </p:sp>
      <p:sp>
        <p:nvSpPr>
          <p:cNvPr id="27" name="Shape 25"/>
          <p:cNvSpPr/>
          <p:nvPr/>
        </p:nvSpPr>
        <p:spPr>
          <a:xfrm>
            <a:off x="3465576" y="4832604"/>
            <a:ext cx="2560320" cy="246888"/>
          </a:xfrm>
          <a:prstGeom prst="roundRect">
            <a:avLst>
              <a:gd name="adj" fmla="val 18519"/>
            </a:avLst>
          </a:prstGeom>
          <a:solidFill>
            <a:srgbClr val="241733"/>
          </a:solidFill>
          <a:ln w="12700">
            <a:solidFill>
              <a:srgbClr val="4A2740"/>
            </a:solidFill>
            <a:prstDash val="solid"/>
          </a:ln>
        </p:spPr>
      </p:sp>
      <p:sp>
        <p:nvSpPr>
          <p:cNvPr id="28" name="Text 26"/>
          <p:cNvSpPr txBox="1"/>
          <p:nvPr/>
        </p:nvSpPr>
        <p:spPr>
          <a:xfrm>
            <a:off x="3575304" y="4832604"/>
            <a:ext cx="2340864" cy="246888"/>
          </a:xfrm>
          <a:prstGeom prst="rect">
            <a:avLst/>
          </a:prstGeom>
          <a:noFill/>
          <a:ln/>
        </p:spPr>
        <p:txBody>
          <a:bodyPr wrap="square" lIns="0" tIns="0" rIns="0" bIns="0" rtlCol="0" anchor="ctr"/>
          <a:lstStyle/>
          <a:p>
            <a:pPr indent="0" marL="0">
              <a:buNone/>
            </a:pPr>
            <a:r>
              <a:rPr lang="en-US" sz="850" dirty="0">
                <a:solidFill>
                  <a:srgbClr val="E6EAF2"/>
                </a:solidFill>
                <a:latin typeface="Trenda IG Text" pitchFamily="34" charset="0"/>
                <a:ea typeface="Trenda IG Text" pitchFamily="34" charset="-122"/>
                <a:cs typeface="Trenda IG Text" pitchFamily="34" charset="-120"/>
              </a:rPr>
              <a:t>Pricing adjustments</a:t>
            </a:r>
            <a:endParaRPr lang="en-US" sz="850" dirty="0"/>
          </a:p>
        </p:txBody>
      </p:sp>
      <p:sp>
        <p:nvSpPr>
          <p:cNvPr id="29" name="Shape 27"/>
          <p:cNvSpPr/>
          <p:nvPr/>
        </p:nvSpPr>
        <p:spPr>
          <a:xfrm>
            <a:off x="6190488" y="4832604"/>
            <a:ext cx="2560320" cy="246888"/>
          </a:xfrm>
          <a:prstGeom prst="roundRect">
            <a:avLst>
              <a:gd name="adj" fmla="val 18519"/>
            </a:avLst>
          </a:prstGeom>
          <a:solidFill>
            <a:srgbClr val="241733"/>
          </a:solidFill>
          <a:ln w="12700">
            <a:solidFill>
              <a:srgbClr val="4A2740"/>
            </a:solidFill>
            <a:prstDash val="solid"/>
          </a:ln>
        </p:spPr>
      </p:sp>
      <p:sp>
        <p:nvSpPr>
          <p:cNvPr id="30" name="Text 28"/>
          <p:cNvSpPr txBox="1"/>
          <p:nvPr/>
        </p:nvSpPr>
        <p:spPr>
          <a:xfrm>
            <a:off x="6300216" y="4832604"/>
            <a:ext cx="2340864" cy="246888"/>
          </a:xfrm>
          <a:prstGeom prst="rect">
            <a:avLst/>
          </a:prstGeom>
          <a:noFill/>
          <a:ln/>
        </p:spPr>
        <p:txBody>
          <a:bodyPr wrap="square" lIns="0" tIns="0" rIns="0" bIns="0" rtlCol="0" anchor="ctr"/>
          <a:lstStyle/>
          <a:p>
            <a:pPr indent="0" marL="0">
              <a:buNone/>
            </a:pPr>
            <a:r>
              <a:rPr lang="en-US" sz="850" dirty="0">
                <a:solidFill>
                  <a:srgbClr val="E6EAF2"/>
                </a:solidFill>
                <a:latin typeface="Trenda IG Text" pitchFamily="34" charset="0"/>
                <a:ea typeface="Trenda IG Text" pitchFamily="34" charset="-122"/>
                <a:cs typeface="Trenda IG Text" pitchFamily="34" charset="-120"/>
              </a:rPr>
              <a:t>Account holds</a:t>
            </a:r>
            <a:endParaRPr lang="en-US" sz="850" dirty="0"/>
          </a:p>
        </p:txBody>
      </p:sp>
      <p:sp>
        <p:nvSpPr>
          <p:cNvPr id="31" name="Shape 29"/>
          <p:cNvSpPr/>
          <p:nvPr/>
        </p:nvSpPr>
        <p:spPr>
          <a:xfrm>
            <a:off x="8915400" y="4832604"/>
            <a:ext cx="2560320" cy="246888"/>
          </a:xfrm>
          <a:prstGeom prst="roundRect">
            <a:avLst>
              <a:gd name="adj" fmla="val 18519"/>
            </a:avLst>
          </a:prstGeom>
          <a:solidFill>
            <a:srgbClr val="241733"/>
          </a:solidFill>
          <a:ln w="12700">
            <a:solidFill>
              <a:srgbClr val="4A2740"/>
            </a:solidFill>
            <a:prstDash val="solid"/>
          </a:ln>
        </p:spPr>
      </p:sp>
      <p:sp>
        <p:nvSpPr>
          <p:cNvPr id="32" name="Text 30"/>
          <p:cNvSpPr txBox="1"/>
          <p:nvPr/>
        </p:nvSpPr>
        <p:spPr>
          <a:xfrm>
            <a:off x="9025128" y="4832604"/>
            <a:ext cx="2340864" cy="246888"/>
          </a:xfrm>
          <a:prstGeom prst="rect">
            <a:avLst/>
          </a:prstGeom>
          <a:noFill/>
          <a:ln/>
        </p:spPr>
        <p:txBody>
          <a:bodyPr wrap="square" lIns="0" tIns="0" rIns="0" bIns="0" rtlCol="0" anchor="ctr"/>
          <a:lstStyle/>
          <a:p>
            <a:pPr indent="0" marL="0">
              <a:buNone/>
            </a:pPr>
            <a:r>
              <a:rPr lang="en-US" sz="850" dirty="0">
                <a:solidFill>
                  <a:srgbClr val="E6EAF2"/>
                </a:solidFill>
                <a:latin typeface="Trenda IG Text" pitchFamily="34" charset="0"/>
                <a:ea typeface="Trenda IG Text" pitchFamily="34" charset="-122"/>
                <a:cs typeface="Trenda IG Text" pitchFamily="34" charset="-120"/>
              </a:rPr>
              <a:t>Billing disputes</a:t>
            </a:r>
            <a:endParaRPr lang="en-US" sz="850" dirty="0"/>
          </a:p>
        </p:txBody>
      </p:sp>
      <p:sp>
        <p:nvSpPr>
          <p:cNvPr id="33" name="Shape 31"/>
          <p:cNvSpPr/>
          <p:nvPr/>
        </p:nvSpPr>
        <p:spPr>
          <a:xfrm>
            <a:off x="740664" y="5125212"/>
            <a:ext cx="2560320" cy="246888"/>
          </a:xfrm>
          <a:prstGeom prst="roundRect">
            <a:avLst>
              <a:gd name="adj" fmla="val 18519"/>
            </a:avLst>
          </a:prstGeom>
          <a:solidFill>
            <a:srgbClr val="241733"/>
          </a:solidFill>
          <a:ln w="12700">
            <a:solidFill>
              <a:srgbClr val="4A2740"/>
            </a:solidFill>
            <a:prstDash val="solid"/>
          </a:ln>
        </p:spPr>
      </p:sp>
      <p:sp>
        <p:nvSpPr>
          <p:cNvPr id="34" name="Text 32"/>
          <p:cNvSpPr txBox="1"/>
          <p:nvPr/>
        </p:nvSpPr>
        <p:spPr>
          <a:xfrm>
            <a:off x="850392" y="5125212"/>
            <a:ext cx="2340864" cy="246888"/>
          </a:xfrm>
          <a:prstGeom prst="rect">
            <a:avLst/>
          </a:prstGeom>
          <a:noFill/>
          <a:ln/>
        </p:spPr>
        <p:txBody>
          <a:bodyPr wrap="square" lIns="0" tIns="0" rIns="0" bIns="0" rtlCol="0" anchor="ctr"/>
          <a:lstStyle/>
          <a:p>
            <a:pPr indent="0" marL="0">
              <a:buNone/>
            </a:pPr>
            <a:r>
              <a:rPr lang="en-US" sz="850" dirty="0">
                <a:solidFill>
                  <a:srgbClr val="E6EAF2"/>
                </a:solidFill>
                <a:latin typeface="Trenda IG Text" pitchFamily="34" charset="0"/>
                <a:ea typeface="Trenda IG Text" pitchFamily="34" charset="-122"/>
                <a:cs typeface="Trenda IG Text" pitchFamily="34" charset="-120"/>
              </a:rPr>
              <a:t>PHI sensitive exceptions</a:t>
            </a:r>
            <a:endParaRPr lang="en-US" sz="850" dirty="0"/>
          </a:p>
        </p:txBody>
      </p:sp>
      <p:sp>
        <p:nvSpPr>
          <p:cNvPr id="35" name="Shape 33"/>
          <p:cNvSpPr/>
          <p:nvPr/>
        </p:nvSpPr>
        <p:spPr>
          <a:xfrm>
            <a:off x="3465576" y="5125212"/>
            <a:ext cx="2560320" cy="246888"/>
          </a:xfrm>
          <a:prstGeom prst="roundRect">
            <a:avLst>
              <a:gd name="adj" fmla="val 18519"/>
            </a:avLst>
          </a:prstGeom>
          <a:solidFill>
            <a:srgbClr val="241733"/>
          </a:solidFill>
          <a:ln w="12700">
            <a:solidFill>
              <a:srgbClr val="4A2740"/>
            </a:solidFill>
            <a:prstDash val="solid"/>
          </a:ln>
        </p:spPr>
      </p:sp>
      <p:sp>
        <p:nvSpPr>
          <p:cNvPr id="36" name="Text 34"/>
          <p:cNvSpPr txBox="1"/>
          <p:nvPr/>
        </p:nvSpPr>
        <p:spPr>
          <a:xfrm>
            <a:off x="3575304" y="5125212"/>
            <a:ext cx="2340864" cy="246888"/>
          </a:xfrm>
          <a:prstGeom prst="rect">
            <a:avLst/>
          </a:prstGeom>
          <a:noFill/>
          <a:ln/>
        </p:spPr>
        <p:txBody>
          <a:bodyPr wrap="square" lIns="0" tIns="0" rIns="0" bIns="0" rtlCol="0" anchor="ctr"/>
          <a:lstStyle/>
          <a:p>
            <a:pPr indent="0" marL="0">
              <a:buNone/>
            </a:pPr>
            <a:r>
              <a:rPr lang="en-US" sz="850" dirty="0">
                <a:solidFill>
                  <a:srgbClr val="E6EAF2"/>
                </a:solidFill>
                <a:latin typeface="Trenda IG Text" pitchFamily="34" charset="0"/>
                <a:ea typeface="Trenda IG Text" pitchFamily="34" charset="-122"/>
                <a:cs typeface="Trenda IG Text" pitchFamily="34" charset="-120"/>
              </a:rPr>
              <a:t>Customer complaints</a:t>
            </a:r>
            <a:endParaRPr lang="en-US" sz="850" dirty="0"/>
          </a:p>
        </p:txBody>
      </p:sp>
      <p:sp>
        <p:nvSpPr>
          <p:cNvPr id="37" name="Shape 35"/>
          <p:cNvSpPr/>
          <p:nvPr/>
        </p:nvSpPr>
        <p:spPr>
          <a:xfrm>
            <a:off x="6190488" y="5125212"/>
            <a:ext cx="2560320" cy="246888"/>
          </a:xfrm>
          <a:prstGeom prst="roundRect">
            <a:avLst>
              <a:gd name="adj" fmla="val 18519"/>
            </a:avLst>
          </a:prstGeom>
          <a:solidFill>
            <a:srgbClr val="241733"/>
          </a:solidFill>
          <a:ln w="12700">
            <a:solidFill>
              <a:srgbClr val="4A2740"/>
            </a:solidFill>
            <a:prstDash val="solid"/>
          </a:ln>
        </p:spPr>
      </p:sp>
      <p:sp>
        <p:nvSpPr>
          <p:cNvPr id="38" name="Text 36"/>
          <p:cNvSpPr txBox="1"/>
          <p:nvPr/>
        </p:nvSpPr>
        <p:spPr>
          <a:xfrm>
            <a:off x="6300216" y="5125212"/>
            <a:ext cx="2340864" cy="246888"/>
          </a:xfrm>
          <a:prstGeom prst="rect">
            <a:avLst/>
          </a:prstGeom>
          <a:noFill/>
          <a:ln/>
        </p:spPr>
        <p:txBody>
          <a:bodyPr wrap="square" lIns="0" tIns="0" rIns="0" bIns="0" rtlCol="0" anchor="ctr"/>
          <a:lstStyle/>
          <a:p>
            <a:pPr indent="0" marL="0">
              <a:buNone/>
            </a:pPr>
            <a:r>
              <a:rPr lang="en-US" sz="850" dirty="0">
                <a:solidFill>
                  <a:srgbClr val="E6EAF2"/>
                </a:solidFill>
                <a:latin typeface="Trenda IG Text" pitchFamily="34" charset="0"/>
                <a:ea typeface="Trenda IG Text" pitchFamily="34" charset="-122"/>
                <a:cs typeface="Trenda IG Text" pitchFamily="34" charset="-120"/>
              </a:rPr>
              <a:t>Financial authorisation</a:t>
            </a:r>
            <a:endParaRPr lang="en-US" sz="850" dirty="0"/>
          </a:p>
        </p:txBody>
      </p:sp>
      <p:sp>
        <p:nvSpPr>
          <p:cNvPr id="39" name="Shape 37"/>
          <p:cNvSpPr/>
          <p:nvPr/>
        </p:nvSpPr>
        <p:spPr>
          <a:xfrm>
            <a:off x="8915400" y="5125212"/>
            <a:ext cx="2560320" cy="246888"/>
          </a:xfrm>
          <a:prstGeom prst="roundRect">
            <a:avLst>
              <a:gd name="adj" fmla="val 18519"/>
            </a:avLst>
          </a:prstGeom>
          <a:solidFill>
            <a:srgbClr val="241733"/>
          </a:solidFill>
          <a:ln w="12700">
            <a:solidFill>
              <a:srgbClr val="4A2740"/>
            </a:solidFill>
            <a:prstDash val="solid"/>
          </a:ln>
        </p:spPr>
      </p:sp>
      <p:sp>
        <p:nvSpPr>
          <p:cNvPr id="40" name="Text 38"/>
          <p:cNvSpPr txBox="1"/>
          <p:nvPr/>
        </p:nvSpPr>
        <p:spPr>
          <a:xfrm>
            <a:off x="9025128" y="5125212"/>
            <a:ext cx="2340864" cy="246888"/>
          </a:xfrm>
          <a:prstGeom prst="rect">
            <a:avLst/>
          </a:prstGeom>
          <a:noFill/>
          <a:ln/>
        </p:spPr>
        <p:txBody>
          <a:bodyPr wrap="square" lIns="0" tIns="0" rIns="0" bIns="0" rtlCol="0" anchor="ctr"/>
          <a:lstStyle/>
          <a:p>
            <a:pPr indent="0" marL="0">
              <a:buNone/>
            </a:pPr>
            <a:r>
              <a:rPr lang="en-US" sz="850" dirty="0">
                <a:solidFill>
                  <a:srgbClr val="E6EAF2"/>
                </a:solidFill>
                <a:latin typeface="Trenda IG Text" pitchFamily="34" charset="0"/>
                <a:ea typeface="Trenda IG Text" pitchFamily="34" charset="-122"/>
                <a:cs typeface="Trenda IG Text" pitchFamily="34" charset="-120"/>
              </a:rPr>
              <a:t>Conflicting or missing data</a:t>
            </a:r>
            <a:endParaRPr lang="en-US" sz="850" dirty="0"/>
          </a:p>
        </p:txBody>
      </p:sp>
      <p:sp>
        <p:nvSpPr>
          <p:cNvPr id="41" name="Text 39"/>
          <p:cNvSpPr txBox="1"/>
          <p:nvPr/>
        </p:nvSpPr>
        <p:spPr>
          <a:xfrm>
            <a:off x="502920" y="6035040"/>
            <a:ext cx="10085832" cy="347472"/>
          </a:xfrm>
          <a:prstGeom prst="rect">
            <a:avLst/>
          </a:prstGeom>
          <a:noFill/>
          <a:ln/>
        </p:spPr>
        <p:txBody>
          <a:bodyPr wrap="square" lIns="0" tIns="0" rIns="0" bIns="0" rtlCol="0" anchor="t"/>
          <a:lstStyle/>
          <a:p>
            <a:pPr indent="0" marL="0">
              <a:lnSpc>
                <a:spcPts val="1000"/>
              </a:lnSpc>
              <a:buNone/>
            </a:pPr>
            <a:r>
              <a:rPr lang="en-US" sz="750" i="1" dirty="0">
                <a:solidFill>
                  <a:srgbClr val="8A94A6"/>
                </a:solidFill>
                <a:latin typeface="Trenda IG Text" pitchFamily="34" charset="0"/>
                <a:ea typeface="Trenda IG Text" pitchFamily="34" charset="-122"/>
                <a:cs typeface="Trenda IG Text" pitchFamily="34" charset="-120"/>
              </a:rPr>
              <a:t>Einstein Trust Layer controls apply to Prompt Builder and Agentforce features and require the corresponding licensing. Phase 1 uses no generative capability and therefore introduces no new data handling surface.</a:t>
            </a:r>
            <a:endParaRPr lang="en-US" sz="750" dirty="0"/>
          </a:p>
        </p:txBody>
      </p:sp>
      <p:pic>
        <p:nvPicPr>
          <p:cNvPr id="42" name="Image 0" descr="assets/ig-mark.png">    </p:cNvPr>
          <p:cNvPicPr>
            <a:picLocks noChangeAspect="1"/>
          </p:cNvPicPr>
          <p:nvPr/>
        </p:nvPicPr>
        <p:blipFill>
          <a:blip r:embed="rId1"/>
          <a:stretch>
            <a:fillRect/>
          </a:stretch>
        </p:blipFill>
        <p:spPr>
          <a:xfrm>
            <a:off x="502920" y="6455664"/>
            <a:ext cx="420624" cy="144475"/>
          </a:xfrm>
          <a:prstGeom prst="rect">
            <a:avLst/>
          </a:prstGeom>
        </p:spPr>
      </p:pic>
      <p:sp>
        <p:nvSpPr>
          <p:cNvPr id="43" name="Text 40"/>
          <p:cNvSpPr txBox="1"/>
          <p:nvPr/>
        </p:nvSpPr>
        <p:spPr>
          <a:xfrm>
            <a:off x="11201400" y="6400800"/>
            <a:ext cx="484632" cy="237744"/>
          </a:xfrm>
          <a:prstGeom prst="rect">
            <a:avLst/>
          </a:prstGeom>
          <a:noFill/>
          <a:ln/>
        </p:spPr>
        <p:txBody>
          <a:bodyPr wrap="square" lIns="0" tIns="0" rIns="0" bIns="0" rtlCol="0" anchor="ctr"/>
          <a:lstStyle/>
          <a:p>
            <a:pPr algn="r" indent="0" marL="0">
              <a:buNone/>
            </a:pPr>
            <a:r>
              <a:rPr lang="en-US" sz="850" dirty="0">
                <a:solidFill>
                  <a:srgbClr val="8A94A6"/>
                </a:solidFill>
                <a:latin typeface="Trenda IG Text" pitchFamily="34" charset="0"/>
                <a:ea typeface="Trenda IG Text" pitchFamily="34" charset="-122"/>
                <a:cs typeface="Trenda IG Text" pitchFamily="34" charset="-120"/>
              </a:rPr>
              <a:t>16</a:t>
            </a:r>
            <a:endParaRPr lang="en-US" sz="850" dirty="0"/>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bg>
      <p:bgPr>
        <a:solidFill>
          <a:srgbClr val="0A0D14"/>
        </a:solidFill>
      </p:bgPr>
    </p:bg>
    <p:spTree>
      <p:nvGrpSpPr>
        <p:cNvPr id="1" name=""/>
        <p:cNvGrpSpPr/>
        <p:nvPr/>
      </p:nvGrpSpPr>
      <p:grpSpPr>
        <a:xfrm>
          <a:off x="0" y="0"/>
          <a:ext cx="0" cy="0"/>
          <a:chOff x="0" y="0"/>
          <a:chExt cx="0" cy="0"/>
        </a:xfrm>
      </p:grpSpPr>
      <p:sp>
        <p:nvSpPr>
          <p:cNvPr id="2" name="Text 0"/>
          <p:cNvSpPr txBox="1"/>
          <p:nvPr/>
        </p:nvSpPr>
        <p:spPr>
          <a:xfrm>
            <a:off x="502920" y="384048"/>
            <a:ext cx="11183112" cy="219456"/>
          </a:xfrm>
          <a:prstGeom prst="rect">
            <a:avLst/>
          </a:prstGeom>
          <a:noFill/>
          <a:ln/>
        </p:spPr>
        <p:txBody>
          <a:bodyPr wrap="square" lIns="0" tIns="0" rIns="0" bIns="0" rtlCol="0" anchor="ctr"/>
          <a:lstStyle/>
          <a:p>
            <a:pPr indent="0" marL="0">
              <a:buNone/>
            </a:pPr>
            <a:r>
              <a:rPr lang="en-US" sz="1000" b="1" spc="220" kern="0" dirty="0">
                <a:solidFill>
                  <a:srgbClr val="22D3EE"/>
                </a:solidFill>
                <a:latin typeface="Trenda IG Display" pitchFamily="34" charset="0"/>
                <a:ea typeface="Trenda IG Display" pitchFamily="34" charset="-122"/>
                <a:cs typeface="Trenda IG Display" pitchFamily="34" charset="-120"/>
              </a:rPr>
              <a:t>DELIVERY</a:t>
            </a:r>
            <a:endParaRPr lang="en-US" sz="1000" dirty="0"/>
          </a:p>
        </p:txBody>
      </p:sp>
      <p:sp>
        <p:nvSpPr>
          <p:cNvPr id="3" name="Text 1"/>
          <p:cNvSpPr txBox="1"/>
          <p:nvPr/>
        </p:nvSpPr>
        <p:spPr>
          <a:xfrm>
            <a:off x="502920" y="658368"/>
            <a:ext cx="11183112" cy="416052"/>
          </a:xfrm>
          <a:prstGeom prst="rect">
            <a:avLst/>
          </a:prstGeom>
          <a:noFill/>
          <a:ln/>
        </p:spPr>
        <p:txBody>
          <a:bodyPr wrap="square" lIns="0" tIns="0" rIns="0" bIns="0" rtlCol="0" anchor="ctr"/>
          <a:lstStyle/>
          <a:p>
            <a:pPr indent="0" marL="0">
              <a:lnSpc>
                <a:spcPts val="3016"/>
              </a:lnSpc>
              <a:buNone/>
            </a:pPr>
            <a:r>
              <a:rPr lang="en-US" sz="2600" b="1" spc="40" kern="0" dirty="0">
                <a:solidFill>
                  <a:srgbClr val="FFFFFF"/>
                </a:solidFill>
                <a:latin typeface="Trenda IG Display" pitchFamily="34" charset="0"/>
                <a:ea typeface="Trenda IG Display" pitchFamily="34" charset="-122"/>
                <a:cs typeface="Trenda IG Display" pitchFamily="34" charset="-120"/>
              </a:rPr>
              <a:t>THREE PHASES, AND VALUE BEFORE ANY NEW LICENCE</a:t>
            </a:r>
            <a:endParaRPr lang="en-US" sz="2600" dirty="0"/>
          </a:p>
        </p:txBody>
      </p:sp>
      <p:sp>
        <p:nvSpPr>
          <p:cNvPr id="4" name="Text 2"/>
          <p:cNvSpPr txBox="1"/>
          <p:nvPr/>
        </p:nvSpPr>
        <p:spPr>
          <a:xfrm>
            <a:off x="502920" y="1156716"/>
            <a:ext cx="11183112" cy="384048"/>
          </a:xfrm>
          <a:prstGeom prst="rect">
            <a:avLst/>
          </a:prstGeom>
          <a:noFill/>
          <a:ln/>
        </p:spPr>
        <p:txBody>
          <a:bodyPr wrap="square" lIns="0" tIns="0" rIns="0" bIns="0" rtlCol="0" anchor="t"/>
          <a:lstStyle/>
          <a:p>
            <a:pPr indent="0" marL="0">
              <a:lnSpc>
                <a:spcPts val="1500"/>
              </a:lnSpc>
              <a:buNone/>
            </a:pPr>
            <a:r>
              <a:rPr lang="en-US" sz="1150" dirty="0">
                <a:solidFill>
                  <a:srgbClr val="8A94A6"/>
                </a:solidFill>
                <a:latin typeface="Trenda IG Text" pitchFamily="34" charset="0"/>
                <a:ea typeface="Trenda IG Text" pitchFamily="34" charset="-122"/>
                <a:cs typeface="Trenda IG Text" pitchFamily="34" charset="-120"/>
              </a:rPr>
              <a:t>Phase 1 is built entirely from capability McKesson already owns in Service Cloud. Generative features are introduced only once licensing, data access and security approval are confirmed.</a:t>
            </a:r>
            <a:endParaRPr lang="en-US" sz="1150" dirty="0"/>
          </a:p>
        </p:txBody>
      </p:sp>
      <p:sp>
        <p:nvSpPr>
          <p:cNvPr id="5" name="Shape 3"/>
          <p:cNvSpPr/>
          <p:nvPr/>
        </p:nvSpPr>
        <p:spPr>
          <a:xfrm>
            <a:off x="502920" y="1796796"/>
            <a:ext cx="3581400" cy="3913632"/>
          </a:xfrm>
          <a:prstGeom prst="roundRect">
            <a:avLst>
              <a:gd name="adj" fmla="val 1021"/>
            </a:avLst>
          </a:prstGeom>
          <a:solidFill>
            <a:srgbClr val="151A24"/>
          </a:solidFill>
          <a:ln w="12700">
            <a:solidFill>
              <a:srgbClr val="252D3D"/>
            </a:solidFill>
            <a:prstDash val="solid"/>
          </a:ln>
        </p:spPr>
      </p:sp>
      <p:sp>
        <p:nvSpPr>
          <p:cNvPr id="6" name="Text 4"/>
          <p:cNvSpPr txBox="1"/>
          <p:nvPr/>
        </p:nvSpPr>
        <p:spPr>
          <a:xfrm>
            <a:off x="740664" y="1979676"/>
            <a:ext cx="3105912" cy="219456"/>
          </a:xfrm>
          <a:prstGeom prst="rect">
            <a:avLst/>
          </a:prstGeom>
          <a:noFill/>
          <a:ln/>
        </p:spPr>
        <p:txBody>
          <a:bodyPr wrap="square" lIns="0" tIns="0" rIns="0" bIns="0" rtlCol="0" anchor="ctr"/>
          <a:lstStyle/>
          <a:p>
            <a:pPr indent="0" marL="0">
              <a:buNone/>
            </a:pPr>
            <a:r>
              <a:rPr lang="en-US" sz="950" b="1" spc="160" kern="0" dirty="0">
                <a:solidFill>
                  <a:srgbClr val="22D3EE"/>
                </a:solidFill>
                <a:latin typeface="Trenda IG Text" pitchFamily="34" charset="0"/>
                <a:ea typeface="Trenda IG Text" pitchFamily="34" charset="-122"/>
                <a:cs typeface="Trenda IG Text" pitchFamily="34" charset="-120"/>
              </a:rPr>
              <a:t>PHASE 1</a:t>
            </a:r>
            <a:endParaRPr lang="en-US" sz="950" dirty="0"/>
          </a:p>
        </p:txBody>
      </p:sp>
      <p:sp>
        <p:nvSpPr>
          <p:cNvPr id="7" name="Text 5"/>
          <p:cNvSpPr txBox="1"/>
          <p:nvPr/>
        </p:nvSpPr>
        <p:spPr>
          <a:xfrm>
            <a:off x="740664" y="2217420"/>
            <a:ext cx="3105912" cy="274320"/>
          </a:xfrm>
          <a:prstGeom prst="rect">
            <a:avLst/>
          </a:prstGeom>
          <a:noFill/>
          <a:ln/>
        </p:spPr>
        <p:txBody>
          <a:bodyPr wrap="square" lIns="0" tIns="0" rIns="0" bIns="0" rtlCol="0" anchor="ctr"/>
          <a:lstStyle/>
          <a:p>
            <a:pPr indent="0" marL="0">
              <a:buNone/>
            </a:pPr>
            <a:r>
              <a:rPr lang="en-US" sz="1350" b="1" dirty="0">
                <a:solidFill>
                  <a:srgbClr val="FFFFFF"/>
                </a:solidFill>
                <a:latin typeface="Trenda IG Text" pitchFamily="34" charset="0"/>
                <a:ea typeface="Trenda IG Text" pitchFamily="34" charset="-122"/>
                <a:cs typeface="Trenda IG Text" pitchFamily="34" charset="-120"/>
              </a:rPr>
              <a:t>Safe workflow automation</a:t>
            </a:r>
            <a:endParaRPr lang="en-US" sz="1350" dirty="0"/>
          </a:p>
        </p:txBody>
      </p:sp>
      <p:sp>
        <p:nvSpPr>
          <p:cNvPr id="8" name="Shape 6"/>
          <p:cNvSpPr/>
          <p:nvPr/>
        </p:nvSpPr>
        <p:spPr>
          <a:xfrm>
            <a:off x="740664" y="2546604"/>
            <a:ext cx="3105912" cy="274320"/>
          </a:xfrm>
          <a:prstGeom prst="roundRect">
            <a:avLst>
              <a:gd name="adj" fmla="val 16667"/>
            </a:avLst>
          </a:prstGeom>
          <a:solidFill>
            <a:srgbClr val="1A2130"/>
          </a:solidFill>
          <a:ln w="12700">
            <a:solidFill>
              <a:srgbClr val="22D3EE"/>
            </a:solidFill>
            <a:prstDash val="solid"/>
          </a:ln>
        </p:spPr>
      </p:sp>
      <p:sp>
        <p:nvSpPr>
          <p:cNvPr id="9" name="Text 7"/>
          <p:cNvSpPr txBox="1"/>
          <p:nvPr/>
        </p:nvSpPr>
        <p:spPr>
          <a:xfrm>
            <a:off x="850392" y="2546604"/>
            <a:ext cx="2886456" cy="274320"/>
          </a:xfrm>
          <a:prstGeom prst="rect">
            <a:avLst/>
          </a:prstGeom>
          <a:noFill/>
          <a:ln/>
        </p:spPr>
        <p:txBody>
          <a:bodyPr wrap="square" lIns="0" tIns="0" rIns="0" bIns="0" rtlCol="0" anchor="ctr"/>
          <a:lstStyle/>
          <a:p>
            <a:pPr indent="0" marL="0">
              <a:buNone/>
            </a:pPr>
            <a:r>
              <a:rPr lang="en-US" sz="800" b="1" dirty="0">
                <a:solidFill>
                  <a:srgbClr val="22D3EE"/>
                </a:solidFill>
                <a:latin typeface="Trenda IG Text" pitchFamily="34" charset="0"/>
                <a:ea typeface="Trenda IG Text" pitchFamily="34" charset="-122"/>
                <a:cs typeface="Trenda IG Text" pitchFamily="34" charset="-120"/>
              </a:rPr>
              <a:t>No new licensing required</a:t>
            </a:r>
            <a:endParaRPr lang="en-US" sz="800" dirty="0"/>
          </a:p>
        </p:txBody>
      </p:sp>
      <p:sp>
        <p:nvSpPr>
          <p:cNvPr id="10" name="Text 8"/>
          <p:cNvSpPr txBox="1"/>
          <p:nvPr/>
        </p:nvSpPr>
        <p:spPr>
          <a:xfrm>
            <a:off x="740664" y="2948940"/>
            <a:ext cx="3105912" cy="1956816"/>
          </a:xfrm>
          <a:prstGeom prst="rect">
            <a:avLst/>
          </a:prstGeom>
          <a:noFill/>
          <a:ln/>
        </p:spPr>
        <p:txBody>
          <a:bodyPr wrap="square" lIns="0" tIns="0" rIns="0" bIns="0" rtlCol="0" anchor="t"/>
          <a:lstStyle/>
          <a:p>
            <a:pPr marL="152400" indent="-152400">
              <a:lnSpc>
                <a:spcPts val="1250"/>
              </a:lnSpc>
              <a:spcAft>
                <a:spcPts val="400"/>
              </a:spcAft>
              <a:buSzPct val="100000"/>
              <a:buChar char="•"/>
            </a:pPr>
            <a:r>
              <a:rPr lang="en-US" sz="850" dirty="0">
                <a:solidFill>
                  <a:srgbClr val="E6EAF2"/>
                </a:solidFill>
                <a:latin typeface="Trenda IG Text" pitchFamily="34" charset="0"/>
                <a:ea typeface="Trenda IG Text" pitchFamily="34" charset="-122"/>
                <a:cs typeface="Trenda IG Text" pitchFamily="34" charset="-120"/>
              </a:rPr>
              <a:t>Email to Case, thread matching and duplicate handling</a:t>
            </a:r>
            <a:endParaRPr lang="en-US" sz="850" dirty="0"/>
          </a:p>
          <a:p>
            <a:pPr marL="152400" indent="-152400">
              <a:lnSpc>
                <a:spcPts val="1250"/>
              </a:lnSpc>
              <a:spcAft>
                <a:spcPts val="400"/>
              </a:spcAft>
              <a:buSzPct val="100000"/>
              <a:buChar char="•"/>
            </a:pPr>
            <a:r>
              <a:rPr lang="en-US" sz="850" dirty="0">
                <a:solidFill>
                  <a:srgbClr val="E6EAF2"/>
                </a:solidFill>
                <a:latin typeface="Trenda IG Text" pitchFamily="34" charset="0"/>
                <a:ea typeface="Trenda IG Text" pitchFamily="34" charset="-122"/>
                <a:cs typeface="Trenda IG Text" pitchFamily="34" charset="-120"/>
              </a:rPr>
              <a:t>Record triggered Flow orchestration across the case lifecycle</a:t>
            </a:r>
            <a:endParaRPr lang="en-US" sz="850" dirty="0"/>
          </a:p>
          <a:p>
            <a:pPr marL="152400" indent="-152400">
              <a:lnSpc>
                <a:spcPts val="1250"/>
              </a:lnSpc>
              <a:spcAft>
                <a:spcPts val="400"/>
              </a:spcAft>
              <a:buSzPct val="100000"/>
              <a:buChar char="•"/>
            </a:pPr>
            <a:r>
              <a:rPr lang="en-US" sz="850" dirty="0">
                <a:solidFill>
                  <a:srgbClr val="E6EAF2"/>
                </a:solidFill>
                <a:latin typeface="Trenda IG Text" pitchFamily="34" charset="0"/>
                <a:ea typeface="Trenda IG Text" pitchFamily="34" charset="-122"/>
                <a:cs typeface="Trenda IG Text" pitchFamily="34" charset="-120"/>
              </a:rPr>
              <a:t>Rule based category and priority recommendation</a:t>
            </a:r>
            <a:endParaRPr lang="en-US" sz="850" dirty="0"/>
          </a:p>
          <a:p>
            <a:pPr marL="152400" indent="-152400">
              <a:lnSpc>
                <a:spcPts val="1250"/>
              </a:lnSpc>
              <a:spcAft>
                <a:spcPts val="400"/>
              </a:spcAft>
              <a:buSzPct val="100000"/>
              <a:buChar char="•"/>
            </a:pPr>
            <a:r>
              <a:rPr lang="en-US" sz="850" dirty="0">
                <a:solidFill>
                  <a:srgbClr val="E6EAF2"/>
                </a:solidFill>
                <a:latin typeface="Trenda IG Text" pitchFamily="34" charset="0"/>
                <a:ea typeface="Trenda IG Text" pitchFamily="34" charset="-122"/>
                <a:cs typeface="Trenda IG Text" pitchFamily="34" charset="-120"/>
              </a:rPr>
              <a:t>Omni Channel skills based routing and capacity management</a:t>
            </a:r>
            <a:endParaRPr lang="en-US" sz="850" dirty="0"/>
          </a:p>
          <a:p>
            <a:pPr marL="152400" indent="-152400">
              <a:lnSpc>
                <a:spcPts val="1250"/>
              </a:lnSpc>
              <a:spcAft>
                <a:spcPts val="400"/>
              </a:spcAft>
              <a:buSzPct val="100000"/>
              <a:buChar char="•"/>
            </a:pPr>
            <a:r>
              <a:rPr lang="en-US" sz="850" dirty="0">
                <a:solidFill>
                  <a:srgbClr val="E6EAF2"/>
                </a:solidFill>
                <a:latin typeface="Trenda IG Text" pitchFamily="34" charset="0"/>
                <a:ea typeface="Trenda IG Text" pitchFamily="34" charset="-122"/>
                <a:cs typeface="Trenda IG Text" pitchFamily="34" charset="-120"/>
              </a:rPr>
              <a:t>Entitlements, Milestones and proportional escalation</a:t>
            </a:r>
            <a:endParaRPr lang="en-US" sz="850" dirty="0"/>
          </a:p>
          <a:p>
            <a:pPr marL="152400" indent="-152400">
              <a:lnSpc>
                <a:spcPts val="1250"/>
              </a:lnSpc>
              <a:spcAft>
                <a:spcPts val="400"/>
              </a:spcAft>
              <a:buSzPct val="100000"/>
              <a:buChar char="•"/>
            </a:pPr>
            <a:r>
              <a:rPr lang="en-US" sz="850" dirty="0">
                <a:solidFill>
                  <a:srgbClr val="E6EAF2"/>
                </a:solidFill>
                <a:latin typeface="Trenda IG Text" pitchFamily="34" charset="0"/>
                <a:ea typeface="Trenda IG Text" pitchFamily="34" charset="-122"/>
                <a:cs typeface="Trenda IG Text" pitchFamily="34" charset="-120"/>
              </a:rPr>
              <a:t>Knowledge structure, Quick Text, Macros and the response library</a:t>
            </a:r>
            <a:endParaRPr lang="en-US" sz="850" dirty="0"/>
          </a:p>
          <a:p>
            <a:pPr marL="152400" indent="-152400">
              <a:lnSpc>
                <a:spcPts val="1250"/>
              </a:lnSpc>
              <a:spcAft>
                <a:spcPts val="400"/>
              </a:spcAft>
              <a:buSzPct val="100000"/>
              <a:buChar char="•"/>
            </a:pPr>
            <a:r>
              <a:rPr lang="en-US" sz="850" dirty="0">
                <a:solidFill>
                  <a:srgbClr val="E6EAF2"/>
                </a:solidFill>
                <a:latin typeface="Trenda IG Text" pitchFamily="34" charset="0"/>
                <a:ea typeface="Trenda IG Text" pitchFamily="34" charset="-122"/>
                <a:cs typeface="Trenda IG Text" pitchFamily="34" charset="-120"/>
              </a:rPr>
              <a:t>Auto acknowledgement, reminders and closure confirmation</a:t>
            </a:r>
            <a:endParaRPr lang="en-US" sz="850" dirty="0"/>
          </a:p>
          <a:p>
            <a:pPr marL="152400" indent="-152400">
              <a:lnSpc>
                <a:spcPts val="1250"/>
              </a:lnSpc>
              <a:spcAft>
                <a:spcPts val="400"/>
              </a:spcAft>
              <a:buSzPct val="100000"/>
              <a:buChar char="•"/>
            </a:pPr>
            <a:r>
              <a:rPr lang="en-US" sz="850" dirty="0">
                <a:solidFill>
                  <a:srgbClr val="E6EAF2"/>
                </a:solidFill>
                <a:latin typeface="Trenda IG Text" pitchFamily="34" charset="0"/>
                <a:ea typeface="Trenda IG Text" pitchFamily="34" charset="-122"/>
                <a:cs typeface="Trenda IG Text" pitchFamily="34" charset="-120"/>
              </a:rPr>
              <a:t>Operations dashboards and automated shift reporting</a:t>
            </a:r>
            <a:endParaRPr lang="en-US" sz="850" dirty="0"/>
          </a:p>
        </p:txBody>
      </p:sp>
      <p:sp>
        <p:nvSpPr>
          <p:cNvPr id="11" name="Shape 9"/>
          <p:cNvSpPr/>
          <p:nvPr/>
        </p:nvSpPr>
        <p:spPr>
          <a:xfrm>
            <a:off x="740664" y="4960620"/>
            <a:ext cx="3105912" cy="0"/>
          </a:xfrm>
          <a:prstGeom prst="line">
            <a:avLst/>
          </a:prstGeom>
          <a:noFill/>
          <a:ln w="12700">
            <a:solidFill>
              <a:srgbClr val="252D3D"/>
            </a:solidFill>
            <a:prstDash val="solid"/>
          </a:ln>
        </p:spPr>
      </p:sp>
      <p:sp>
        <p:nvSpPr>
          <p:cNvPr id="12" name="Text 10"/>
          <p:cNvSpPr txBox="1"/>
          <p:nvPr/>
        </p:nvSpPr>
        <p:spPr>
          <a:xfrm>
            <a:off x="740664" y="5052060"/>
            <a:ext cx="3105912" cy="566928"/>
          </a:xfrm>
          <a:prstGeom prst="rect">
            <a:avLst/>
          </a:prstGeom>
          <a:noFill/>
          <a:ln/>
        </p:spPr>
        <p:txBody>
          <a:bodyPr wrap="square" lIns="0" tIns="0" rIns="0" bIns="0" rtlCol="0" anchor="t"/>
          <a:lstStyle/>
          <a:p>
            <a:pPr indent="0" marL="0">
              <a:lnSpc>
                <a:spcPts val="1050"/>
              </a:lnSpc>
              <a:buNone/>
            </a:pPr>
            <a:r>
              <a:rPr lang="en-US" sz="800" i="1" dirty="0">
                <a:solidFill>
                  <a:srgbClr val="8A94A6"/>
                </a:solidFill>
                <a:latin typeface="Trenda IG Text" pitchFamily="34" charset="0"/>
                <a:ea typeface="Trenda IG Text" pitchFamily="34" charset="-122"/>
                <a:cs typeface="Trenda IG Text" pitchFamily="34" charset="-120"/>
              </a:rPr>
              <a:t>Delivered with Service Cloud configuration. Einstein Case Classification may be added here where it is already licensed.</a:t>
            </a:r>
            <a:endParaRPr lang="en-US" sz="800" dirty="0"/>
          </a:p>
        </p:txBody>
      </p:sp>
      <p:sp>
        <p:nvSpPr>
          <p:cNvPr id="13" name="Shape 11"/>
          <p:cNvSpPr/>
          <p:nvPr/>
        </p:nvSpPr>
        <p:spPr>
          <a:xfrm>
            <a:off x="4303776" y="1796796"/>
            <a:ext cx="3581400" cy="3913632"/>
          </a:xfrm>
          <a:prstGeom prst="roundRect">
            <a:avLst>
              <a:gd name="adj" fmla="val 1021"/>
            </a:avLst>
          </a:prstGeom>
          <a:solidFill>
            <a:srgbClr val="151A24"/>
          </a:solidFill>
          <a:ln w="12700">
            <a:solidFill>
              <a:srgbClr val="252D3D"/>
            </a:solidFill>
            <a:prstDash val="solid"/>
          </a:ln>
        </p:spPr>
      </p:sp>
      <p:sp>
        <p:nvSpPr>
          <p:cNvPr id="14" name="Text 12"/>
          <p:cNvSpPr txBox="1"/>
          <p:nvPr/>
        </p:nvSpPr>
        <p:spPr>
          <a:xfrm>
            <a:off x="4541520" y="1979676"/>
            <a:ext cx="3105912" cy="219456"/>
          </a:xfrm>
          <a:prstGeom prst="rect">
            <a:avLst/>
          </a:prstGeom>
          <a:noFill/>
          <a:ln/>
        </p:spPr>
        <p:txBody>
          <a:bodyPr wrap="square" lIns="0" tIns="0" rIns="0" bIns="0" rtlCol="0" anchor="ctr"/>
          <a:lstStyle/>
          <a:p>
            <a:pPr indent="0" marL="0">
              <a:buNone/>
            </a:pPr>
            <a:r>
              <a:rPr lang="en-US" sz="950" b="1" spc="160" kern="0" dirty="0">
                <a:solidFill>
                  <a:srgbClr val="F59E0B"/>
                </a:solidFill>
                <a:latin typeface="Trenda IG Text" pitchFamily="34" charset="0"/>
                <a:ea typeface="Trenda IG Text" pitchFamily="34" charset="-122"/>
                <a:cs typeface="Trenda IG Text" pitchFamily="34" charset="-120"/>
              </a:rPr>
              <a:t>PHASE 2</a:t>
            </a:r>
            <a:endParaRPr lang="en-US" sz="950" dirty="0"/>
          </a:p>
        </p:txBody>
      </p:sp>
      <p:sp>
        <p:nvSpPr>
          <p:cNvPr id="15" name="Text 13"/>
          <p:cNvSpPr txBox="1"/>
          <p:nvPr/>
        </p:nvSpPr>
        <p:spPr>
          <a:xfrm>
            <a:off x="4541520" y="2217420"/>
            <a:ext cx="3105912" cy="274320"/>
          </a:xfrm>
          <a:prstGeom prst="rect">
            <a:avLst/>
          </a:prstGeom>
          <a:noFill/>
          <a:ln/>
        </p:spPr>
        <p:txBody>
          <a:bodyPr wrap="square" lIns="0" tIns="0" rIns="0" bIns="0" rtlCol="0" anchor="ctr"/>
          <a:lstStyle/>
          <a:p>
            <a:pPr indent="0" marL="0">
              <a:buNone/>
            </a:pPr>
            <a:r>
              <a:rPr lang="en-US" sz="1350" b="1" dirty="0">
                <a:solidFill>
                  <a:srgbClr val="FFFFFF"/>
                </a:solidFill>
                <a:latin typeface="Trenda IG Text" pitchFamily="34" charset="0"/>
                <a:ea typeface="Trenda IG Text" pitchFamily="34" charset="-122"/>
                <a:cs typeface="Trenda IG Text" pitchFamily="34" charset="-120"/>
              </a:rPr>
              <a:t>Assisted agent responses</a:t>
            </a:r>
            <a:endParaRPr lang="en-US" sz="1350" dirty="0"/>
          </a:p>
        </p:txBody>
      </p:sp>
      <p:sp>
        <p:nvSpPr>
          <p:cNvPr id="16" name="Shape 14"/>
          <p:cNvSpPr/>
          <p:nvPr/>
        </p:nvSpPr>
        <p:spPr>
          <a:xfrm>
            <a:off x="4541520" y="2546604"/>
            <a:ext cx="3105912" cy="274320"/>
          </a:xfrm>
          <a:prstGeom prst="roundRect">
            <a:avLst>
              <a:gd name="adj" fmla="val 16667"/>
            </a:avLst>
          </a:prstGeom>
          <a:solidFill>
            <a:srgbClr val="1A2130"/>
          </a:solidFill>
          <a:ln w="12700">
            <a:solidFill>
              <a:srgbClr val="F59E0B"/>
            </a:solidFill>
            <a:prstDash val="solid"/>
          </a:ln>
        </p:spPr>
      </p:sp>
      <p:sp>
        <p:nvSpPr>
          <p:cNvPr id="17" name="Text 15"/>
          <p:cNvSpPr txBox="1"/>
          <p:nvPr/>
        </p:nvSpPr>
        <p:spPr>
          <a:xfrm>
            <a:off x="4651248" y="2546604"/>
            <a:ext cx="2886456" cy="274320"/>
          </a:xfrm>
          <a:prstGeom prst="rect">
            <a:avLst/>
          </a:prstGeom>
          <a:noFill/>
          <a:ln/>
        </p:spPr>
        <p:txBody>
          <a:bodyPr wrap="square" lIns="0" tIns="0" rIns="0" bIns="0" rtlCol="0" anchor="ctr"/>
          <a:lstStyle/>
          <a:p>
            <a:pPr indent="0" marL="0">
              <a:buNone/>
            </a:pPr>
            <a:r>
              <a:rPr lang="en-US" sz="800" b="1" dirty="0">
                <a:solidFill>
                  <a:srgbClr val="F59E0B"/>
                </a:solidFill>
                <a:latin typeface="Trenda IG Text" pitchFamily="34" charset="0"/>
                <a:ea typeface="Trenda IG Text" pitchFamily="34" charset="-122"/>
                <a:cs typeface="Trenda IG Text" pitchFamily="34" charset="-120"/>
              </a:rPr>
              <a:t>Requires Einstein or Agentforce licensing</a:t>
            </a:r>
            <a:endParaRPr lang="en-US" sz="800" dirty="0"/>
          </a:p>
        </p:txBody>
      </p:sp>
      <p:sp>
        <p:nvSpPr>
          <p:cNvPr id="18" name="Text 16"/>
          <p:cNvSpPr txBox="1"/>
          <p:nvPr/>
        </p:nvSpPr>
        <p:spPr>
          <a:xfrm>
            <a:off x="4541520" y="2948940"/>
            <a:ext cx="3105912" cy="1956816"/>
          </a:xfrm>
          <a:prstGeom prst="rect">
            <a:avLst/>
          </a:prstGeom>
          <a:noFill/>
          <a:ln/>
        </p:spPr>
        <p:txBody>
          <a:bodyPr wrap="square" lIns="0" tIns="0" rIns="0" bIns="0" rtlCol="0" anchor="t"/>
          <a:lstStyle/>
          <a:p>
            <a:pPr marL="152400" indent="-152400">
              <a:lnSpc>
                <a:spcPts val="1250"/>
              </a:lnSpc>
              <a:spcAft>
                <a:spcPts val="400"/>
              </a:spcAft>
              <a:buSzPct val="100000"/>
              <a:buChar char="•"/>
            </a:pPr>
            <a:r>
              <a:rPr lang="en-US" sz="850" dirty="0">
                <a:solidFill>
                  <a:srgbClr val="E6EAF2"/>
                </a:solidFill>
                <a:latin typeface="Trenda IG Text" pitchFamily="34" charset="0"/>
                <a:ea typeface="Trenda IG Text" pitchFamily="34" charset="-122"/>
                <a:cs typeface="Trenda IG Text" pitchFamily="34" charset="-120"/>
              </a:rPr>
              <a:t>Prompt Template: case triage, classification and entity extraction</a:t>
            </a:r>
            <a:endParaRPr lang="en-US" sz="850" dirty="0"/>
          </a:p>
          <a:p>
            <a:pPr marL="152400" indent="-152400">
              <a:lnSpc>
                <a:spcPts val="1250"/>
              </a:lnSpc>
              <a:spcAft>
                <a:spcPts val="400"/>
              </a:spcAft>
              <a:buSzPct val="100000"/>
              <a:buChar char="•"/>
            </a:pPr>
            <a:r>
              <a:rPr lang="en-US" sz="850" dirty="0">
                <a:solidFill>
                  <a:srgbClr val="E6EAF2"/>
                </a:solidFill>
                <a:latin typeface="Trenda IG Text" pitchFamily="34" charset="0"/>
                <a:ea typeface="Trenda IG Text" pitchFamily="34" charset="-122"/>
                <a:cs typeface="Trenda IG Text" pitchFamily="34" charset="-120"/>
              </a:rPr>
              <a:t>Prompt Template: case and thread summarisation</a:t>
            </a:r>
            <a:endParaRPr lang="en-US" sz="850" dirty="0"/>
          </a:p>
          <a:p>
            <a:pPr marL="152400" indent="-152400">
              <a:lnSpc>
                <a:spcPts val="1250"/>
              </a:lnSpc>
              <a:spcAft>
                <a:spcPts val="400"/>
              </a:spcAft>
              <a:buSzPct val="100000"/>
              <a:buChar char="•"/>
            </a:pPr>
            <a:r>
              <a:rPr lang="en-US" sz="850" dirty="0">
                <a:solidFill>
                  <a:srgbClr val="E6EAF2"/>
                </a:solidFill>
                <a:latin typeface="Trenda IG Text" pitchFamily="34" charset="0"/>
                <a:ea typeface="Trenda IG Text" pitchFamily="34" charset="-122"/>
                <a:cs typeface="Trenda IG Text" pitchFamily="34" charset="-120"/>
              </a:rPr>
              <a:t>Prompt Template: drafted email response for agent review</a:t>
            </a:r>
            <a:endParaRPr lang="en-US" sz="850" dirty="0"/>
          </a:p>
          <a:p>
            <a:pPr marL="152400" indent="-152400">
              <a:lnSpc>
                <a:spcPts val="1250"/>
              </a:lnSpc>
              <a:spcAft>
                <a:spcPts val="400"/>
              </a:spcAft>
              <a:buSzPct val="100000"/>
              <a:buChar char="•"/>
            </a:pPr>
            <a:r>
              <a:rPr lang="en-US" sz="850" dirty="0">
                <a:solidFill>
                  <a:srgbClr val="E6EAF2"/>
                </a:solidFill>
                <a:latin typeface="Trenda IG Text" pitchFamily="34" charset="0"/>
                <a:ea typeface="Trenda IG Text" pitchFamily="34" charset="-122"/>
                <a:cs typeface="Trenda IG Text" pitchFamily="34" charset="-120"/>
              </a:rPr>
              <a:t>Knowledge article retrieval and grounding on the draft</a:t>
            </a:r>
            <a:endParaRPr lang="en-US" sz="850" dirty="0"/>
          </a:p>
          <a:p>
            <a:pPr marL="152400" indent="-152400">
              <a:lnSpc>
                <a:spcPts val="1250"/>
              </a:lnSpc>
              <a:spcAft>
                <a:spcPts val="400"/>
              </a:spcAft>
              <a:buSzPct val="100000"/>
              <a:buChar char="•"/>
            </a:pPr>
            <a:r>
              <a:rPr lang="en-US" sz="850" dirty="0">
                <a:solidFill>
                  <a:srgbClr val="E6EAF2"/>
                </a:solidFill>
                <a:latin typeface="Trenda IG Text" pitchFamily="34" charset="0"/>
                <a:ea typeface="Trenda IG Text" pitchFamily="34" charset="-122"/>
                <a:cs typeface="Trenda IG Text" pitchFamily="34" charset="-120"/>
              </a:rPr>
              <a:t>Order, shipment and availability data inserted from connected systems</a:t>
            </a:r>
            <a:endParaRPr lang="en-US" sz="850" dirty="0"/>
          </a:p>
          <a:p>
            <a:pPr marL="152400" indent="-152400">
              <a:lnSpc>
                <a:spcPts val="1250"/>
              </a:lnSpc>
              <a:spcAft>
                <a:spcPts val="400"/>
              </a:spcAft>
              <a:buSzPct val="100000"/>
              <a:buChar char="•"/>
            </a:pPr>
            <a:r>
              <a:rPr lang="en-US" sz="850" dirty="0">
                <a:solidFill>
                  <a:srgbClr val="E6EAF2"/>
                </a:solidFill>
                <a:latin typeface="Trenda IG Text" pitchFamily="34" charset="0"/>
                <a:ea typeface="Trenda IG Text" pitchFamily="34" charset="-122"/>
                <a:cs typeface="Trenda IG Text" pitchFamily="34" charset="-120"/>
              </a:rPr>
              <a:t>Recommended next action on the case record</a:t>
            </a:r>
            <a:endParaRPr lang="en-US" sz="850" dirty="0"/>
          </a:p>
          <a:p>
            <a:pPr marL="152400" indent="-152400">
              <a:lnSpc>
                <a:spcPts val="1250"/>
              </a:lnSpc>
              <a:spcAft>
                <a:spcPts val="400"/>
              </a:spcAft>
              <a:buSzPct val="100000"/>
              <a:buChar char="•"/>
            </a:pPr>
            <a:r>
              <a:rPr lang="en-US" sz="850" dirty="0">
                <a:solidFill>
                  <a:srgbClr val="E6EAF2"/>
                </a:solidFill>
                <a:latin typeface="Trenda IG Text" pitchFamily="34" charset="0"/>
                <a:ea typeface="Trenda IG Text" pitchFamily="34" charset="-122"/>
                <a:cs typeface="Trenda IG Text" pitchFamily="34" charset="-120"/>
              </a:rPr>
              <a:t>Quality, completeness and tone checks before the agent sends</a:t>
            </a:r>
            <a:endParaRPr lang="en-US" sz="850" dirty="0"/>
          </a:p>
          <a:p>
            <a:pPr marL="152400" indent="-152400">
              <a:lnSpc>
                <a:spcPts val="1250"/>
              </a:lnSpc>
              <a:spcAft>
                <a:spcPts val="400"/>
              </a:spcAft>
              <a:buSzPct val="100000"/>
              <a:buChar char="•"/>
            </a:pPr>
            <a:r>
              <a:rPr lang="en-US" sz="850" dirty="0">
                <a:solidFill>
                  <a:srgbClr val="E6EAF2"/>
                </a:solidFill>
                <a:latin typeface="Trenda IG Text" pitchFamily="34" charset="0"/>
                <a:ea typeface="Trenda IG Text" pitchFamily="34" charset="-122"/>
                <a:cs typeface="Trenda IG Text" pitchFamily="34" charset="-120"/>
              </a:rPr>
              <a:t>Prompt performance monitoring and template tuning</a:t>
            </a:r>
            <a:endParaRPr lang="en-US" sz="850" dirty="0"/>
          </a:p>
        </p:txBody>
      </p:sp>
      <p:sp>
        <p:nvSpPr>
          <p:cNvPr id="19" name="Shape 17"/>
          <p:cNvSpPr/>
          <p:nvPr/>
        </p:nvSpPr>
        <p:spPr>
          <a:xfrm>
            <a:off x="4541520" y="4960620"/>
            <a:ext cx="3105912" cy="0"/>
          </a:xfrm>
          <a:prstGeom prst="line">
            <a:avLst/>
          </a:prstGeom>
          <a:noFill/>
          <a:ln w="12700">
            <a:solidFill>
              <a:srgbClr val="252D3D"/>
            </a:solidFill>
            <a:prstDash val="solid"/>
          </a:ln>
        </p:spPr>
      </p:sp>
      <p:sp>
        <p:nvSpPr>
          <p:cNvPr id="20" name="Text 18"/>
          <p:cNvSpPr txBox="1"/>
          <p:nvPr/>
        </p:nvSpPr>
        <p:spPr>
          <a:xfrm>
            <a:off x="4541520" y="5052060"/>
            <a:ext cx="3105912" cy="566928"/>
          </a:xfrm>
          <a:prstGeom prst="rect">
            <a:avLst/>
          </a:prstGeom>
          <a:noFill/>
          <a:ln/>
        </p:spPr>
        <p:txBody>
          <a:bodyPr wrap="square" lIns="0" tIns="0" rIns="0" bIns="0" rtlCol="0" anchor="t"/>
          <a:lstStyle/>
          <a:p>
            <a:pPr indent="0" marL="0">
              <a:lnSpc>
                <a:spcPts val="1050"/>
              </a:lnSpc>
              <a:buNone/>
            </a:pPr>
            <a:r>
              <a:rPr lang="en-US" sz="800" i="1" dirty="0">
                <a:solidFill>
                  <a:srgbClr val="8A94A6"/>
                </a:solidFill>
                <a:latin typeface="Trenda IG Text" pitchFamily="34" charset="0"/>
                <a:ea typeface="Trenda IG Text" pitchFamily="34" charset="-122"/>
                <a:cs typeface="Trenda IG Text" pitchFamily="34" charset="-120"/>
              </a:rPr>
              <a:t>Gated on licensing confirmation, security approval, Knowledge readiness and a supervised accuracy threshold agreed with McKesson.</a:t>
            </a:r>
            <a:endParaRPr lang="en-US" sz="800" dirty="0"/>
          </a:p>
        </p:txBody>
      </p:sp>
      <p:sp>
        <p:nvSpPr>
          <p:cNvPr id="21" name="Shape 19"/>
          <p:cNvSpPr/>
          <p:nvPr/>
        </p:nvSpPr>
        <p:spPr>
          <a:xfrm>
            <a:off x="8104632" y="1796796"/>
            <a:ext cx="3581400" cy="3913632"/>
          </a:xfrm>
          <a:prstGeom prst="roundRect">
            <a:avLst>
              <a:gd name="adj" fmla="val 1021"/>
            </a:avLst>
          </a:prstGeom>
          <a:solidFill>
            <a:srgbClr val="151A24"/>
          </a:solidFill>
          <a:ln w="12700">
            <a:solidFill>
              <a:srgbClr val="252D3D"/>
            </a:solidFill>
            <a:prstDash val="solid"/>
          </a:ln>
        </p:spPr>
      </p:sp>
      <p:sp>
        <p:nvSpPr>
          <p:cNvPr id="22" name="Text 20"/>
          <p:cNvSpPr txBox="1"/>
          <p:nvPr/>
        </p:nvSpPr>
        <p:spPr>
          <a:xfrm>
            <a:off x="8342376" y="1979676"/>
            <a:ext cx="3105912" cy="219456"/>
          </a:xfrm>
          <a:prstGeom prst="rect">
            <a:avLst/>
          </a:prstGeom>
          <a:noFill/>
          <a:ln/>
        </p:spPr>
        <p:txBody>
          <a:bodyPr wrap="square" lIns="0" tIns="0" rIns="0" bIns="0" rtlCol="0" anchor="ctr"/>
          <a:lstStyle/>
          <a:p>
            <a:pPr indent="0" marL="0">
              <a:buNone/>
            </a:pPr>
            <a:r>
              <a:rPr lang="en-US" sz="950" b="1" spc="160" kern="0" dirty="0">
                <a:solidFill>
                  <a:srgbClr val="FF0069"/>
                </a:solidFill>
                <a:latin typeface="Trenda IG Text" pitchFamily="34" charset="0"/>
                <a:ea typeface="Trenda IG Text" pitchFamily="34" charset="-122"/>
                <a:cs typeface="Trenda IG Text" pitchFamily="34" charset="-120"/>
              </a:rPr>
              <a:t>PHASE 3</a:t>
            </a:r>
            <a:endParaRPr lang="en-US" sz="950" dirty="0"/>
          </a:p>
        </p:txBody>
      </p:sp>
      <p:sp>
        <p:nvSpPr>
          <p:cNvPr id="23" name="Text 21"/>
          <p:cNvSpPr txBox="1"/>
          <p:nvPr/>
        </p:nvSpPr>
        <p:spPr>
          <a:xfrm>
            <a:off x="8342376" y="2217420"/>
            <a:ext cx="3105912" cy="274320"/>
          </a:xfrm>
          <a:prstGeom prst="rect">
            <a:avLst/>
          </a:prstGeom>
          <a:noFill/>
          <a:ln/>
        </p:spPr>
        <p:txBody>
          <a:bodyPr wrap="square" lIns="0" tIns="0" rIns="0" bIns="0" rtlCol="0" anchor="ctr"/>
          <a:lstStyle/>
          <a:p>
            <a:pPr indent="0" marL="0">
              <a:buNone/>
            </a:pPr>
            <a:r>
              <a:rPr lang="en-US" sz="1350" b="1" dirty="0">
                <a:solidFill>
                  <a:srgbClr val="FFFFFF"/>
                </a:solidFill>
                <a:latin typeface="Trenda IG Text" pitchFamily="34" charset="0"/>
                <a:ea typeface="Trenda IG Text" pitchFamily="34" charset="-122"/>
                <a:cs typeface="Trenda IG Text" pitchFamily="34" charset="-120"/>
              </a:rPr>
              <a:t>Controlled autonomous responses</a:t>
            </a:r>
            <a:endParaRPr lang="en-US" sz="1350" dirty="0"/>
          </a:p>
        </p:txBody>
      </p:sp>
      <p:sp>
        <p:nvSpPr>
          <p:cNvPr id="24" name="Shape 22"/>
          <p:cNvSpPr/>
          <p:nvPr/>
        </p:nvSpPr>
        <p:spPr>
          <a:xfrm>
            <a:off x="8342376" y="2546604"/>
            <a:ext cx="3105912" cy="274320"/>
          </a:xfrm>
          <a:prstGeom prst="roundRect">
            <a:avLst>
              <a:gd name="adj" fmla="val 16667"/>
            </a:avLst>
          </a:prstGeom>
          <a:solidFill>
            <a:srgbClr val="1A2130"/>
          </a:solidFill>
          <a:ln w="12700">
            <a:solidFill>
              <a:srgbClr val="FF0069"/>
            </a:solidFill>
            <a:prstDash val="solid"/>
          </a:ln>
        </p:spPr>
      </p:sp>
      <p:sp>
        <p:nvSpPr>
          <p:cNvPr id="25" name="Text 23"/>
          <p:cNvSpPr txBox="1"/>
          <p:nvPr/>
        </p:nvSpPr>
        <p:spPr>
          <a:xfrm>
            <a:off x="8452104" y="2546604"/>
            <a:ext cx="2886456" cy="274320"/>
          </a:xfrm>
          <a:prstGeom prst="rect">
            <a:avLst/>
          </a:prstGeom>
          <a:noFill/>
          <a:ln/>
        </p:spPr>
        <p:txBody>
          <a:bodyPr wrap="square" lIns="0" tIns="0" rIns="0" bIns="0" rtlCol="0" anchor="ctr"/>
          <a:lstStyle/>
          <a:p>
            <a:pPr indent="0" marL="0">
              <a:buNone/>
            </a:pPr>
            <a:r>
              <a:rPr lang="en-US" sz="800" b="1" dirty="0">
                <a:solidFill>
                  <a:srgbClr val="FF0069"/>
                </a:solidFill>
                <a:latin typeface="Trenda IG Text" pitchFamily="34" charset="0"/>
                <a:ea typeface="Trenda IG Text" pitchFamily="34" charset="-122"/>
                <a:cs typeface="Trenda IG Text" pitchFamily="34" charset="-120"/>
              </a:rPr>
              <a:t>Requires Agentforce, scoped separately</a:t>
            </a:r>
            <a:endParaRPr lang="en-US" sz="800" dirty="0"/>
          </a:p>
        </p:txBody>
      </p:sp>
      <p:sp>
        <p:nvSpPr>
          <p:cNvPr id="26" name="Text 24"/>
          <p:cNvSpPr txBox="1"/>
          <p:nvPr/>
        </p:nvSpPr>
        <p:spPr>
          <a:xfrm>
            <a:off x="8342376" y="2948940"/>
            <a:ext cx="3105912" cy="1956816"/>
          </a:xfrm>
          <a:prstGeom prst="rect">
            <a:avLst/>
          </a:prstGeom>
          <a:noFill/>
          <a:ln/>
        </p:spPr>
        <p:txBody>
          <a:bodyPr wrap="square" lIns="0" tIns="0" rIns="0" bIns="0" rtlCol="0" anchor="t"/>
          <a:lstStyle/>
          <a:p>
            <a:pPr marL="152400" indent="-152400">
              <a:lnSpc>
                <a:spcPts val="1250"/>
              </a:lnSpc>
              <a:spcAft>
                <a:spcPts val="400"/>
              </a:spcAft>
              <a:buSzPct val="100000"/>
              <a:buChar char="•"/>
            </a:pPr>
            <a:r>
              <a:rPr lang="en-US" sz="850" dirty="0">
                <a:solidFill>
                  <a:srgbClr val="E6EAF2"/>
                </a:solidFill>
                <a:latin typeface="Trenda IG Text" pitchFamily="34" charset="0"/>
                <a:ea typeface="Trenda IG Text" pitchFamily="34" charset="-122"/>
                <a:cs typeface="Trenda IG Text" pitchFamily="34" charset="-120"/>
              </a:rPr>
              <a:t>Order receipt confirmation</a:t>
            </a:r>
            <a:endParaRPr lang="en-US" sz="850" dirty="0"/>
          </a:p>
          <a:p>
            <a:pPr marL="152400" indent="-152400">
              <a:lnSpc>
                <a:spcPts val="1250"/>
              </a:lnSpc>
              <a:spcAft>
                <a:spcPts val="400"/>
              </a:spcAft>
              <a:buSzPct val="100000"/>
              <a:buChar char="•"/>
            </a:pPr>
            <a:r>
              <a:rPr lang="en-US" sz="850" dirty="0">
                <a:solidFill>
                  <a:srgbClr val="E6EAF2"/>
                </a:solidFill>
                <a:latin typeface="Trenda IG Text" pitchFamily="34" charset="0"/>
                <a:ea typeface="Trenda IG Text" pitchFamily="34" charset="-122"/>
                <a:cs typeface="Trenda IG Text" pitchFamily="34" charset="-120"/>
              </a:rPr>
              <a:t>Standard order status response</a:t>
            </a:r>
            <a:endParaRPr lang="en-US" sz="850" dirty="0"/>
          </a:p>
          <a:p>
            <a:pPr marL="152400" indent="-152400">
              <a:lnSpc>
                <a:spcPts val="1250"/>
              </a:lnSpc>
              <a:spcAft>
                <a:spcPts val="400"/>
              </a:spcAft>
              <a:buSzPct val="100000"/>
              <a:buChar char="•"/>
            </a:pPr>
            <a:r>
              <a:rPr lang="en-US" sz="850" dirty="0">
                <a:solidFill>
                  <a:srgbClr val="E6EAF2"/>
                </a:solidFill>
                <a:latin typeface="Trenda IG Text" pitchFamily="34" charset="0"/>
                <a:ea typeface="Trenda IG Text" pitchFamily="34" charset="-122"/>
                <a:cs typeface="Trenda IG Text" pitchFamily="34" charset="-120"/>
              </a:rPr>
              <a:t>Shipment tracking response</a:t>
            </a:r>
            <a:endParaRPr lang="en-US" sz="850" dirty="0"/>
          </a:p>
          <a:p>
            <a:pPr marL="152400" indent="-152400">
              <a:lnSpc>
                <a:spcPts val="1250"/>
              </a:lnSpc>
              <a:spcAft>
                <a:spcPts val="400"/>
              </a:spcAft>
              <a:buSzPct val="100000"/>
              <a:buChar char="•"/>
            </a:pPr>
            <a:r>
              <a:rPr lang="en-US" sz="850" dirty="0">
                <a:solidFill>
                  <a:srgbClr val="E6EAF2"/>
                </a:solidFill>
                <a:latin typeface="Trenda IG Text" pitchFamily="34" charset="0"/>
                <a:ea typeface="Trenda IG Text" pitchFamily="34" charset="-122"/>
                <a:cs typeface="Trenda IG Text" pitchFamily="34" charset="-120"/>
              </a:rPr>
              <a:t>Published backorder and availability information</a:t>
            </a:r>
            <a:endParaRPr lang="en-US" sz="850" dirty="0"/>
          </a:p>
          <a:p>
            <a:pPr marL="152400" indent="-152400">
              <a:lnSpc>
                <a:spcPts val="1250"/>
              </a:lnSpc>
              <a:spcAft>
                <a:spcPts val="400"/>
              </a:spcAft>
              <a:buSzPct val="100000"/>
              <a:buChar char="•"/>
            </a:pPr>
            <a:r>
              <a:rPr lang="en-US" sz="850" dirty="0">
                <a:solidFill>
                  <a:srgbClr val="E6EAF2"/>
                </a:solidFill>
                <a:latin typeface="Trenda IG Text" pitchFamily="34" charset="0"/>
                <a:ea typeface="Trenda IG Text" pitchFamily="34" charset="-122"/>
                <a:cs typeface="Trenda IG Text" pitchFamily="34" charset="-120"/>
              </a:rPr>
              <a:t>Document and copy requests</a:t>
            </a:r>
            <a:endParaRPr lang="en-US" sz="850" dirty="0"/>
          </a:p>
          <a:p>
            <a:pPr marL="152400" indent="-152400">
              <a:lnSpc>
                <a:spcPts val="1250"/>
              </a:lnSpc>
              <a:spcAft>
                <a:spcPts val="400"/>
              </a:spcAft>
              <a:buSzPct val="100000"/>
              <a:buChar char="•"/>
            </a:pPr>
            <a:r>
              <a:rPr lang="en-US" sz="850" dirty="0">
                <a:solidFill>
                  <a:srgbClr val="E6EAF2"/>
                </a:solidFill>
                <a:latin typeface="Trenda IG Text" pitchFamily="34" charset="0"/>
                <a:ea typeface="Trenda IG Text" pitchFamily="34" charset="-122"/>
                <a:cs typeface="Trenda IG Text" pitchFamily="34" charset="-120"/>
              </a:rPr>
              <a:t>Requests for missing required information</a:t>
            </a:r>
            <a:endParaRPr lang="en-US" sz="850" dirty="0"/>
          </a:p>
          <a:p>
            <a:pPr marL="152400" indent="-152400">
              <a:lnSpc>
                <a:spcPts val="1250"/>
              </a:lnSpc>
              <a:spcAft>
                <a:spcPts val="400"/>
              </a:spcAft>
              <a:buSzPct val="100000"/>
              <a:buChar char="•"/>
            </a:pPr>
            <a:r>
              <a:rPr lang="en-US" sz="850" dirty="0">
                <a:solidFill>
                  <a:srgbClr val="E6EAF2"/>
                </a:solidFill>
                <a:latin typeface="Trenda IG Text" pitchFamily="34" charset="0"/>
                <a:ea typeface="Trenda IG Text" pitchFamily="34" charset="-122"/>
                <a:cs typeface="Trenda IG Text" pitchFamily="34" charset="-120"/>
              </a:rPr>
              <a:t>Closure confirmation and follow up</a:t>
            </a:r>
            <a:endParaRPr lang="en-US" sz="850" dirty="0"/>
          </a:p>
          <a:p>
            <a:pPr marL="152400" indent="-152400">
              <a:lnSpc>
                <a:spcPts val="1250"/>
              </a:lnSpc>
              <a:spcAft>
                <a:spcPts val="400"/>
              </a:spcAft>
              <a:buSzPct val="100000"/>
              <a:buChar char="•"/>
            </a:pPr>
            <a:r>
              <a:rPr lang="en-US" sz="850" dirty="0">
                <a:solidFill>
                  <a:srgbClr val="E6EAF2"/>
                </a:solidFill>
                <a:latin typeface="Trenda IG Text" pitchFamily="34" charset="0"/>
                <a:ea typeface="Trenda IG Text" pitchFamily="34" charset="-122"/>
                <a:cs typeface="Trenda IG Text" pitchFamily="34" charset="-120"/>
              </a:rPr>
              <a:t>Everything else continues to route to a human</a:t>
            </a:r>
            <a:endParaRPr lang="en-US" sz="850" dirty="0"/>
          </a:p>
        </p:txBody>
      </p:sp>
      <p:sp>
        <p:nvSpPr>
          <p:cNvPr id="27" name="Shape 25"/>
          <p:cNvSpPr/>
          <p:nvPr/>
        </p:nvSpPr>
        <p:spPr>
          <a:xfrm>
            <a:off x="8342376" y="4960620"/>
            <a:ext cx="3105912" cy="0"/>
          </a:xfrm>
          <a:prstGeom prst="line">
            <a:avLst/>
          </a:prstGeom>
          <a:noFill/>
          <a:ln w="12700">
            <a:solidFill>
              <a:srgbClr val="252D3D"/>
            </a:solidFill>
            <a:prstDash val="solid"/>
          </a:ln>
        </p:spPr>
      </p:sp>
      <p:sp>
        <p:nvSpPr>
          <p:cNvPr id="28" name="Text 26"/>
          <p:cNvSpPr txBox="1"/>
          <p:nvPr/>
        </p:nvSpPr>
        <p:spPr>
          <a:xfrm>
            <a:off x="8342376" y="5052060"/>
            <a:ext cx="3105912" cy="566928"/>
          </a:xfrm>
          <a:prstGeom prst="rect">
            <a:avLst/>
          </a:prstGeom>
          <a:noFill/>
          <a:ln/>
        </p:spPr>
        <p:txBody>
          <a:bodyPr wrap="square" lIns="0" tIns="0" rIns="0" bIns="0" rtlCol="0" anchor="t"/>
          <a:lstStyle/>
          <a:p>
            <a:pPr indent="0" marL="0">
              <a:lnSpc>
                <a:spcPts val="1050"/>
              </a:lnSpc>
              <a:buNone/>
            </a:pPr>
            <a:r>
              <a:rPr lang="en-US" sz="800" i="1" dirty="0">
                <a:solidFill>
                  <a:srgbClr val="8A94A6"/>
                </a:solidFill>
                <a:latin typeface="Trenda IG Text" pitchFamily="34" charset="0"/>
                <a:ea typeface="Trenda IG Text" pitchFamily="34" charset="-122"/>
                <a:cs typeface="Trenda IG Text" pitchFamily="34" charset="-120"/>
              </a:rPr>
              <a:t>Positioned as discovery and pilot. Each candidate case type is proven in supervised mode and released individually, with confidence thresholds and exception routing.</a:t>
            </a:r>
            <a:endParaRPr lang="en-US" sz="800" dirty="0"/>
          </a:p>
        </p:txBody>
      </p:sp>
      <p:pic>
        <p:nvPicPr>
          <p:cNvPr id="29" name="Image 0" descr="assets/ig-mark.png">    </p:cNvPr>
          <p:cNvPicPr>
            <a:picLocks noChangeAspect="1"/>
          </p:cNvPicPr>
          <p:nvPr/>
        </p:nvPicPr>
        <p:blipFill>
          <a:blip r:embed="rId1"/>
          <a:stretch>
            <a:fillRect/>
          </a:stretch>
        </p:blipFill>
        <p:spPr>
          <a:xfrm>
            <a:off x="502920" y="6455664"/>
            <a:ext cx="420624" cy="144475"/>
          </a:xfrm>
          <a:prstGeom prst="rect">
            <a:avLst/>
          </a:prstGeom>
        </p:spPr>
      </p:pic>
      <p:sp>
        <p:nvSpPr>
          <p:cNvPr id="30" name="Text 27"/>
          <p:cNvSpPr txBox="1"/>
          <p:nvPr/>
        </p:nvSpPr>
        <p:spPr>
          <a:xfrm>
            <a:off x="11201400" y="6400800"/>
            <a:ext cx="484632" cy="237744"/>
          </a:xfrm>
          <a:prstGeom prst="rect">
            <a:avLst/>
          </a:prstGeom>
          <a:noFill/>
          <a:ln/>
        </p:spPr>
        <p:txBody>
          <a:bodyPr wrap="square" lIns="0" tIns="0" rIns="0" bIns="0" rtlCol="0" anchor="ctr"/>
          <a:lstStyle/>
          <a:p>
            <a:pPr algn="r" indent="0" marL="0">
              <a:buNone/>
            </a:pPr>
            <a:r>
              <a:rPr lang="en-US" sz="850" dirty="0">
                <a:solidFill>
                  <a:srgbClr val="8A94A6"/>
                </a:solidFill>
                <a:latin typeface="Trenda IG Text" pitchFamily="34" charset="0"/>
                <a:ea typeface="Trenda IG Text" pitchFamily="34" charset="-122"/>
                <a:cs typeface="Trenda IG Text" pitchFamily="34" charset="-120"/>
              </a:rPr>
              <a:t>17</a:t>
            </a:r>
            <a:endParaRPr lang="en-US" sz="850" dirty="0"/>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9">
    <p:bg>
      <p:bgPr>
        <a:solidFill>
          <a:srgbClr val="0A0D14"/>
        </a:solidFill>
      </p:bgPr>
    </p:bg>
    <p:spTree>
      <p:nvGrpSpPr>
        <p:cNvPr id="1" name=""/>
        <p:cNvGrpSpPr/>
        <p:nvPr/>
      </p:nvGrpSpPr>
      <p:grpSpPr>
        <a:xfrm>
          <a:off x="0" y="0"/>
          <a:ext cx="0" cy="0"/>
          <a:chOff x="0" y="0"/>
          <a:chExt cx="0" cy="0"/>
        </a:xfrm>
      </p:grpSpPr>
      <p:sp>
        <p:nvSpPr>
          <p:cNvPr id="2" name="Text 0"/>
          <p:cNvSpPr txBox="1"/>
          <p:nvPr/>
        </p:nvSpPr>
        <p:spPr>
          <a:xfrm>
            <a:off x="502920" y="384048"/>
            <a:ext cx="11183112" cy="219456"/>
          </a:xfrm>
          <a:prstGeom prst="rect">
            <a:avLst/>
          </a:prstGeom>
          <a:noFill/>
          <a:ln/>
        </p:spPr>
        <p:txBody>
          <a:bodyPr wrap="square" lIns="0" tIns="0" rIns="0" bIns="0" rtlCol="0" anchor="ctr"/>
          <a:lstStyle/>
          <a:p>
            <a:pPr indent="0" marL="0">
              <a:buNone/>
            </a:pPr>
            <a:r>
              <a:rPr lang="en-US" sz="1000" b="1" spc="220" kern="0" dirty="0">
                <a:solidFill>
                  <a:srgbClr val="22D3EE"/>
                </a:solidFill>
                <a:latin typeface="Trenda IG Display" pitchFamily="34" charset="0"/>
                <a:ea typeface="Trenda IG Display" pitchFamily="34" charset="-122"/>
                <a:cs typeface="Trenda IG Display" pitchFamily="34" charset="-120"/>
              </a:rPr>
              <a:t>VISIBILITY</a:t>
            </a:r>
            <a:endParaRPr lang="en-US" sz="1000" dirty="0"/>
          </a:p>
        </p:txBody>
      </p:sp>
      <p:sp>
        <p:nvSpPr>
          <p:cNvPr id="3" name="Text 1"/>
          <p:cNvSpPr txBox="1"/>
          <p:nvPr/>
        </p:nvSpPr>
        <p:spPr>
          <a:xfrm>
            <a:off x="502920" y="658368"/>
            <a:ext cx="11183112" cy="416052"/>
          </a:xfrm>
          <a:prstGeom prst="rect">
            <a:avLst/>
          </a:prstGeom>
          <a:noFill/>
          <a:ln/>
        </p:spPr>
        <p:txBody>
          <a:bodyPr wrap="square" lIns="0" tIns="0" rIns="0" bIns="0" rtlCol="0" anchor="ctr"/>
          <a:lstStyle/>
          <a:p>
            <a:pPr indent="0" marL="0">
              <a:lnSpc>
                <a:spcPts val="3016"/>
              </a:lnSpc>
              <a:buNone/>
            </a:pPr>
            <a:r>
              <a:rPr lang="en-US" sz="2600" b="1" spc="40" kern="0" dirty="0">
                <a:solidFill>
                  <a:srgbClr val="FFFFFF"/>
                </a:solidFill>
                <a:latin typeface="Trenda IG Display" pitchFamily="34" charset="0"/>
                <a:ea typeface="Trenda IG Display" pitchFamily="34" charset="-122"/>
                <a:cs typeface="Trenda IG Display" pitchFamily="34" charset="-120"/>
              </a:rPr>
              <a:t>WHAT MCKESSON AND THE TEAM CAN SEE, LIVE</a:t>
            </a:r>
            <a:endParaRPr lang="en-US" sz="2600" dirty="0"/>
          </a:p>
        </p:txBody>
      </p:sp>
      <p:sp>
        <p:nvSpPr>
          <p:cNvPr id="4" name="Text 2"/>
          <p:cNvSpPr txBox="1"/>
          <p:nvPr/>
        </p:nvSpPr>
        <p:spPr>
          <a:xfrm>
            <a:off x="502920" y="1156716"/>
            <a:ext cx="11183112" cy="384048"/>
          </a:xfrm>
          <a:prstGeom prst="rect">
            <a:avLst/>
          </a:prstGeom>
          <a:noFill/>
          <a:ln/>
        </p:spPr>
        <p:txBody>
          <a:bodyPr wrap="square" lIns="0" tIns="0" rIns="0" bIns="0" rtlCol="0" anchor="t"/>
          <a:lstStyle/>
          <a:p>
            <a:pPr indent="0" marL="0">
              <a:lnSpc>
                <a:spcPts val="1500"/>
              </a:lnSpc>
              <a:buNone/>
            </a:pPr>
            <a:r>
              <a:rPr lang="en-US" sz="1150" dirty="0">
                <a:solidFill>
                  <a:srgbClr val="8A94A6"/>
                </a:solidFill>
                <a:latin typeface="Trenda IG Text" pitchFamily="34" charset="0"/>
                <a:ea typeface="Trenda IG Text" pitchFamily="34" charset="-122"/>
                <a:cs typeface="Trenda IG Text" pitchFamily="34" charset="-120"/>
              </a:rPr>
              <a:t>Because classification, priority and SLA are now structured fields rather than judgement calls, they can be reported on reliably. Dashboards are generated from the case record, not assembled by hand.</a:t>
            </a:r>
            <a:endParaRPr lang="en-US" sz="1150" dirty="0"/>
          </a:p>
        </p:txBody>
      </p:sp>
      <p:sp>
        <p:nvSpPr>
          <p:cNvPr id="5" name="Shape 3"/>
          <p:cNvSpPr/>
          <p:nvPr/>
        </p:nvSpPr>
        <p:spPr>
          <a:xfrm>
            <a:off x="502920" y="1796796"/>
            <a:ext cx="5481828" cy="2944368"/>
          </a:xfrm>
          <a:prstGeom prst="roundRect">
            <a:avLst>
              <a:gd name="adj" fmla="val 1242"/>
            </a:avLst>
          </a:prstGeom>
          <a:solidFill>
            <a:srgbClr val="151A24"/>
          </a:solidFill>
          <a:ln w="12700">
            <a:solidFill>
              <a:srgbClr val="252D3D"/>
            </a:solidFill>
            <a:prstDash val="solid"/>
          </a:ln>
        </p:spPr>
      </p:sp>
      <p:sp>
        <p:nvSpPr>
          <p:cNvPr id="6" name="Text 4"/>
          <p:cNvSpPr txBox="1"/>
          <p:nvPr/>
        </p:nvSpPr>
        <p:spPr>
          <a:xfrm>
            <a:off x="740664" y="1979676"/>
            <a:ext cx="5006340" cy="274320"/>
          </a:xfrm>
          <a:prstGeom prst="rect">
            <a:avLst/>
          </a:prstGeom>
          <a:noFill/>
          <a:ln/>
        </p:spPr>
        <p:txBody>
          <a:bodyPr wrap="square" lIns="0" tIns="0" rIns="0" bIns="0" rtlCol="0" anchor="ctr"/>
          <a:lstStyle/>
          <a:p>
            <a:pPr indent="0" marL="0">
              <a:buNone/>
            </a:pPr>
            <a:r>
              <a:rPr lang="en-US" sz="1300" b="1" dirty="0">
                <a:solidFill>
                  <a:srgbClr val="22D3EE"/>
                </a:solidFill>
                <a:latin typeface="Trenda IG Text" pitchFamily="34" charset="0"/>
                <a:ea typeface="Trenda IG Text" pitchFamily="34" charset="-122"/>
                <a:cs typeface="Trenda IG Text" pitchFamily="34" charset="-120"/>
              </a:rPr>
              <a:t>Operations control tower</a:t>
            </a:r>
            <a:endParaRPr lang="en-US" sz="1300" dirty="0"/>
          </a:p>
        </p:txBody>
      </p:sp>
      <p:sp>
        <p:nvSpPr>
          <p:cNvPr id="7" name="Text 5"/>
          <p:cNvSpPr txBox="1"/>
          <p:nvPr/>
        </p:nvSpPr>
        <p:spPr>
          <a:xfrm>
            <a:off x="740664" y="2272284"/>
            <a:ext cx="5006340" cy="182880"/>
          </a:xfrm>
          <a:prstGeom prst="rect">
            <a:avLst/>
          </a:prstGeom>
          <a:noFill/>
          <a:ln/>
        </p:spPr>
        <p:txBody>
          <a:bodyPr wrap="square" lIns="0" tIns="0" rIns="0" bIns="0" rtlCol="0" anchor="ctr"/>
          <a:lstStyle/>
          <a:p>
            <a:pPr indent="0" marL="0">
              <a:buNone/>
            </a:pPr>
            <a:r>
              <a:rPr lang="en-US" sz="750" b="1" spc="140" kern="0" dirty="0">
                <a:solidFill>
                  <a:srgbClr val="8A94A6"/>
                </a:solidFill>
                <a:latin typeface="Trenda IG Display" pitchFamily="34" charset="0"/>
                <a:ea typeface="Trenda IG Display" pitchFamily="34" charset="-122"/>
                <a:cs typeface="Trenda IG Display" pitchFamily="34" charset="-120"/>
              </a:rPr>
              <a:t>FOR THE SHIFT LEADS, THE OPERATIONS MANAGER AND MCKESSON</a:t>
            </a:r>
            <a:endParaRPr lang="en-US" sz="750" dirty="0"/>
          </a:p>
        </p:txBody>
      </p:sp>
      <p:sp>
        <p:nvSpPr>
          <p:cNvPr id="8" name="Text 6"/>
          <p:cNvSpPr txBox="1"/>
          <p:nvPr/>
        </p:nvSpPr>
        <p:spPr>
          <a:xfrm>
            <a:off x="740664" y="2564892"/>
            <a:ext cx="5006340" cy="2048256"/>
          </a:xfrm>
          <a:prstGeom prst="rect">
            <a:avLst/>
          </a:prstGeom>
          <a:noFill/>
          <a:ln/>
        </p:spPr>
        <p:txBody>
          <a:bodyPr wrap="square" lIns="0" tIns="0" rIns="0" bIns="0" rtlCol="0" anchor="t"/>
          <a:lstStyle/>
          <a:p>
            <a:pPr marL="152400" indent="-152400">
              <a:lnSpc>
                <a:spcPts val="1300"/>
              </a:lnSpc>
              <a:spcAft>
                <a:spcPts val="500"/>
              </a:spcAft>
              <a:buSzPct val="100000"/>
              <a:buChar char="•"/>
            </a:pPr>
            <a:r>
              <a:rPr lang="en-US" sz="900" dirty="0">
                <a:solidFill>
                  <a:srgbClr val="E6EAF2"/>
                </a:solidFill>
                <a:latin typeface="Trenda IG Text" pitchFamily="34" charset="0"/>
                <a:ea typeface="Trenda IG Text" pitchFamily="34" charset="-122"/>
                <a:cs typeface="Trenda IG Text" pitchFamily="34" charset="-120"/>
              </a:rPr>
              <a:t>Open cases by status, category, priority, owner and shift</a:t>
            </a:r>
            <a:endParaRPr lang="en-US" sz="900" dirty="0"/>
          </a:p>
          <a:p>
            <a:pPr marL="152400" indent="-152400">
              <a:lnSpc>
                <a:spcPts val="1300"/>
              </a:lnSpc>
              <a:spcAft>
                <a:spcPts val="500"/>
              </a:spcAft>
              <a:buSzPct val="100000"/>
              <a:buChar char="•"/>
            </a:pPr>
            <a:r>
              <a:rPr lang="en-US" sz="900" dirty="0">
                <a:solidFill>
                  <a:srgbClr val="E6EAF2"/>
                </a:solidFill>
                <a:latin typeface="Trenda IG Text" pitchFamily="34" charset="0"/>
                <a:ea typeface="Trenda IG Text" pitchFamily="34" charset="-122"/>
                <a:cs typeface="Trenda IG Text" pitchFamily="34" charset="-120"/>
              </a:rPr>
              <a:t>First response and resolution SLA at risk, and breached</a:t>
            </a:r>
            <a:endParaRPr lang="en-US" sz="900" dirty="0"/>
          </a:p>
          <a:p>
            <a:pPr marL="152400" indent="-152400">
              <a:lnSpc>
                <a:spcPts val="1300"/>
              </a:lnSpc>
              <a:spcAft>
                <a:spcPts val="500"/>
              </a:spcAft>
              <a:buSzPct val="100000"/>
              <a:buChar char="•"/>
            </a:pPr>
            <a:r>
              <a:rPr lang="en-US" sz="900" dirty="0">
                <a:solidFill>
                  <a:srgbClr val="E6EAF2"/>
                </a:solidFill>
                <a:latin typeface="Trenda IG Text" pitchFamily="34" charset="0"/>
                <a:ea typeface="Trenda IG Text" pitchFamily="34" charset="-122"/>
                <a:cs typeface="Trenda IG Text" pitchFamily="34" charset="-120"/>
              </a:rPr>
              <a:t>Backlog volume and ageing profile by queue</a:t>
            </a:r>
            <a:endParaRPr lang="en-US" sz="900" dirty="0"/>
          </a:p>
          <a:p>
            <a:pPr marL="152400" indent="-152400">
              <a:lnSpc>
                <a:spcPts val="1300"/>
              </a:lnSpc>
              <a:spcAft>
                <a:spcPts val="500"/>
              </a:spcAft>
              <a:buSzPct val="100000"/>
              <a:buChar char="•"/>
            </a:pPr>
            <a:r>
              <a:rPr lang="en-US" sz="900" dirty="0">
                <a:solidFill>
                  <a:srgbClr val="E6EAF2"/>
                </a:solidFill>
                <a:latin typeface="Trenda IG Text" pitchFamily="34" charset="0"/>
                <a:ea typeface="Trenda IG Text" pitchFamily="34" charset="-122"/>
                <a:cs typeface="Trenda IG Text" pitchFamily="34" charset="-120"/>
              </a:rPr>
              <a:t>Unassigned cases, and cases transferred more than once</a:t>
            </a:r>
            <a:endParaRPr lang="en-US" sz="900" dirty="0"/>
          </a:p>
          <a:p>
            <a:pPr marL="152400" indent="-152400">
              <a:lnSpc>
                <a:spcPts val="1300"/>
              </a:lnSpc>
              <a:spcAft>
                <a:spcPts val="500"/>
              </a:spcAft>
              <a:buSzPct val="100000"/>
              <a:buChar char="•"/>
            </a:pPr>
            <a:r>
              <a:rPr lang="en-US" sz="900" dirty="0">
                <a:solidFill>
                  <a:srgbClr val="E6EAF2"/>
                </a:solidFill>
                <a:latin typeface="Trenda IG Text" pitchFamily="34" charset="0"/>
                <a:ea typeface="Trenda IG Text" pitchFamily="34" charset="-122"/>
                <a:cs typeface="Trenda IG Text" pitchFamily="34" charset="-120"/>
              </a:rPr>
              <a:t>Cases waiting on the customer, and on an internal McKesson team</a:t>
            </a:r>
            <a:endParaRPr lang="en-US" sz="900" dirty="0"/>
          </a:p>
          <a:p>
            <a:pPr marL="152400" indent="-152400">
              <a:lnSpc>
                <a:spcPts val="1300"/>
              </a:lnSpc>
              <a:spcAft>
                <a:spcPts val="500"/>
              </a:spcAft>
              <a:buSzPct val="100000"/>
              <a:buChar char="•"/>
            </a:pPr>
            <a:r>
              <a:rPr lang="en-US" sz="900" dirty="0">
                <a:solidFill>
                  <a:srgbClr val="E6EAF2"/>
                </a:solidFill>
                <a:latin typeface="Trenda IG Text" pitchFamily="34" charset="0"/>
                <a:ea typeface="Trenda IG Text" pitchFamily="34" charset="-122"/>
                <a:cs typeface="Trenda IG Text" pitchFamily="34" charset="-120"/>
              </a:rPr>
              <a:t>Reopened cases and escalations by destination</a:t>
            </a:r>
            <a:endParaRPr lang="en-US" sz="900" dirty="0"/>
          </a:p>
          <a:p>
            <a:pPr marL="152400" indent="-152400">
              <a:lnSpc>
                <a:spcPts val="1300"/>
              </a:lnSpc>
              <a:spcAft>
                <a:spcPts val="500"/>
              </a:spcAft>
              <a:buSzPct val="100000"/>
              <a:buChar char="•"/>
            </a:pPr>
            <a:r>
              <a:rPr lang="en-US" sz="900" dirty="0">
                <a:solidFill>
                  <a:srgbClr val="E6EAF2"/>
                </a:solidFill>
                <a:latin typeface="Trenda IG Text" pitchFamily="34" charset="0"/>
                <a:ea typeface="Trenda IG Text" pitchFamily="34" charset="-122"/>
                <a:cs typeface="Trenda IG Text" pitchFamily="34" charset="-120"/>
              </a:rPr>
              <a:t>Daily intake against daily closure, and queue balance</a:t>
            </a:r>
            <a:endParaRPr lang="en-US" sz="900" dirty="0"/>
          </a:p>
          <a:p>
            <a:pPr marL="152400" indent="-152400">
              <a:lnSpc>
                <a:spcPts val="1300"/>
              </a:lnSpc>
              <a:spcAft>
                <a:spcPts val="500"/>
              </a:spcAft>
              <a:buSzPct val="100000"/>
              <a:buChar char="•"/>
            </a:pPr>
            <a:r>
              <a:rPr lang="en-US" sz="900" dirty="0">
                <a:solidFill>
                  <a:srgbClr val="E6EAF2"/>
                </a:solidFill>
                <a:latin typeface="Trenda IG Text" pitchFamily="34" charset="0"/>
                <a:ea typeface="Trenda IG Text" pitchFamily="34" charset="-122"/>
                <a:cs typeface="Trenda IG Text" pitchFamily="34" charset="-120"/>
              </a:rPr>
              <a:t>Automation coverage: cases auto classified, drafts accepted or rewritten</a:t>
            </a:r>
            <a:endParaRPr lang="en-US" sz="900" dirty="0"/>
          </a:p>
        </p:txBody>
      </p:sp>
      <p:sp>
        <p:nvSpPr>
          <p:cNvPr id="9" name="Shape 7"/>
          <p:cNvSpPr/>
          <p:nvPr/>
        </p:nvSpPr>
        <p:spPr>
          <a:xfrm>
            <a:off x="6204204" y="1796796"/>
            <a:ext cx="5481828" cy="2944368"/>
          </a:xfrm>
          <a:prstGeom prst="roundRect">
            <a:avLst>
              <a:gd name="adj" fmla="val 1242"/>
            </a:avLst>
          </a:prstGeom>
          <a:solidFill>
            <a:srgbClr val="151A24"/>
          </a:solidFill>
          <a:ln w="12700">
            <a:solidFill>
              <a:srgbClr val="252D3D"/>
            </a:solidFill>
            <a:prstDash val="solid"/>
          </a:ln>
        </p:spPr>
      </p:sp>
      <p:sp>
        <p:nvSpPr>
          <p:cNvPr id="10" name="Text 8"/>
          <p:cNvSpPr txBox="1"/>
          <p:nvPr/>
        </p:nvSpPr>
        <p:spPr>
          <a:xfrm>
            <a:off x="6441948" y="1979676"/>
            <a:ext cx="5006340" cy="274320"/>
          </a:xfrm>
          <a:prstGeom prst="rect">
            <a:avLst/>
          </a:prstGeom>
          <a:noFill/>
          <a:ln/>
        </p:spPr>
        <p:txBody>
          <a:bodyPr wrap="square" lIns="0" tIns="0" rIns="0" bIns="0" rtlCol="0" anchor="ctr"/>
          <a:lstStyle/>
          <a:p>
            <a:pPr indent="0" marL="0">
              <a:buNone/>
            </a:pPr>
            <a:r>
              <a:rPr lang="en-US" sz="1300" b="1" dirty="0">
                <a:solidFill>
                  <a:srgbClr val="22D3EE"/>
                </a:solidFill>
                <a:latin typeface="Trenda IG Text" pitchFamily="34" charset="0"/>
                <a:ea typeface="Trenda IG Text" pitchFamily="34" charset="-122"/>
                <a:cs typeface="Trenda IG Text" pitchFamily="34" charset="-120"/>
              </a:rPr>
              <a:t>Individual agent view</a:t>
            </a:r>
            <a:endParaRPr lang="en-US" sz="1300" dirty="0"/>
          </a:p>
        </p:txBody>
      </p:sp>
      <p:sp>
        <p:nvSpPr>
          <p:cNvPr id="11" name="Text 9"/>
          <p:cNvSpPr txBox="1"/>
          <p:nvPr/>
        </p:nvSpPr>
        <p:spPr>
          <a:xfrm>
            <a:off x="6441948" y="2272284"/>
            <a:ext cx="5006340" cy="182880"/>
          </a:xfrm>
          <a:prstGeom prst="rect">
            <a:avLst/>
          </a:prstGeom>
          <a:noFill/>
          <a:ln/>
        </p:spPr>
        <p:txBody>
          <a:bodyPr wrap="square" lIns="0" tIns="0" rIns="0" bIns="0" rtlCol="0" anchor="ctr"/>
          <a:lstStyle/>
          <a:p>
            <a:pPr indent="0" marL="0">
              <a:buNone/>
            </a:pPr>
            <a:r>
              <a:rPr lang="en-US" sz="750" b="1" spc="140" kern="0" dirty="0">
                <a:solidFill>
                  <a:srgbClr val="8A94A6"/>
                </a:solidFill>
                <a:latin typeface="Trenda IG Display" pitchFamily="34" charset="0"/>
                <a:ea typeface="Trenda IG Display" pitchFamily="34" charset="-122"/>
                <a:cs typeface="Trenda IG Display" pitchFamily="34" charset="-120"/>
              </a:rPr>
              <a:t>FOR THE AGENT AND THEIR TEAM LEAD</a:t>
            </a:r>
            <a:endParaRPr lang="en-US" sz="750" dirty="0"/>
          </a:p>
        </p:txBody>
      </p:sp>
      <p:sp>
        <p:nvSpPr>
          <p:cNvPr id="12" name="Text 10"/>
          <p:cNvSpPr txBox="1"/>
          <p:nvPr/>
        </p:nvSpPr>
        <p:spPr>
          <a:xfrm>
            <a:off x="6441948" y="2564892"/>
            <a:ext cx="5006340" cy="2048256"/>
          </a:xfrm>
          <a:prstGeom prst="rect">
            <a:avLst/>
          </a:prstGeom>
          <a:noFill/>
          <a:ln/>
        </p:spPr>
        <p:txBody>
          <a:bodyPr wrap="square" lIns="0" tIns="0" rIns="0" bIns="0" rtlCol="0" anchor="t"/>
          <a:lstStyle/>
          <a:p>
            <a:pPr marL="152400" indent="-152400">
              <a:lnSpc>
                <a:spcPts val="1300"/>
              </a:lnSpc>
              <a:spcAft>
                <a:spcPts val="500"/>
              </a:spcAft>
              <a:buSzPct val="100000"/>
              <a:buChar char="•"/>
            </a:pPr>
            <a:r>
              <a:rPr lang="en-US" sz="900" dirty="0">
                <a:solidFill>
                  <a:srgbClr val="E6EAF2"/>
                </a:solidFill>
                <a:latin typeface="Trenda IG Text" pitchFamily="34" charset="0"/>
                <a:ea typeface="Trenda IG Text" pitchFamily="34" charset="-122"/>
                <a:cs typeface="Trenda IG Text" pitchFamily="34" charset="-120"/>
              </a:rPr>
              <a:t>Assigned cases, and cases awaiting an action from them</a:t>
            </a:r>
            <a:endParaRPr lang="en-US" sz="900" dirty="0"/>
          </a:p>
          <a:p>
            <a:pPr marL="152400" indent="-152400">
              <a:lnSpc>
                <a:spcPts val="1300"/>
              </a:lnSpc>
              <a:spcAft>
                <a:spcPts val="500"/>
              </a:spcAft>
              <a:buSzPct val="100000"/>
              <a:buChar char="•"/>
            </a:pPr>
            <a:r>
              <a:rPr lang="en-US" sz="900" dirty="0">
                <a:solidFill>
                  <a:srgbClr val="E6EAF2"/>
                </a:solidFill>
                <a:latin typeface="Trenda IG Text" pitchFamily="34" charset="0"/>
                <a:ea typeface="Trenda IG Text" pitchFamily="34" charset="-122"/>
                <a:cs typeface="Trenda IG Text" pitchFamily="34" charset="-120"/>
              </a:rPr>
              <a:t>First response and resolution compliance on their own work</a:t>
            </a:r>
            <a:endParaRPr lang="en-US" sz="900" dirty="0"/>
          </a:p>
          <a:p>
            <a:pPr marL="152400" indent="-152400">
              <a:lnSpc>
                <a:spcPts val="1300"/>
              </a:lnSpc>
              <a:spcAft>
                <a:spcPts val="500"/>
              </a:spcAft>
              <a:buSzPct val="100000"/>
              <a:buChar char="•"/>
            </a:pPr>
            <a:r>
              <a:rPr lang="en-US" sz="900" dirty="0">
                <a:solidFill>
                  <a:srgbClr val="E6EAF2"/>
                </a:solidFill>
                <a:latin typeface="Trenda IG Text" pitchFamily="34" charset="0"/>
                <a:ea typeface="Trenda IG Text" pitchFamily="34" charset="-122"/>
                <a:cs typeface="Trenda IG Text" pitchFamily="34" charset="-120"/>
              </a:rPr>
              <a:t>First pass resolution rate and reopen rate</a:t>
            </a:r>
            <a:endParaRPr lang="en-US" sz="900" dirty="0"/>
          </a:p>
          <a:p>
            <a:pPr marL="152400" indent="-152400">
              <a:lnSpc>
                <a:spcPts val="1300"/>
              </a:lnSpc>
              <a:spcAft>
                <a:spcPts val="500"/>
              </a:spcAft>
              <a:buSzPct val="100000"/>
              <a:buChar char="•"/>
            </a:pPr>
            <a:r>
              <a:rPr lang="en-US" sz="900" dirty="0">
                <a:solidFill>
                  <a:srgbClr val="E6EAF2"/>
                </a:solidFill>
                <a:latin typeface="Trenda IG Text" pitchFamily="34" charset="0"/>
                <a:ea typeface="Trenda IG Text" pitchFamily="34" charset="-122"/>
                <a:cs typeface="Trenda IG Text" pitchFamily="34" charset="-120"/>
              </a:rPr>
              <a:t>Quality assurance results and customer feedback received</a:t>
            </a:r>
            <a:endParaRPr lang="en-US" sz="900" dirty="0"/>
          </a:p>
          <a:p>
            <a:pPr marL="152400" indent="-152400">
              <a:lnSpc>
                <a:spcPts val="1300"/>
              </a:lnSpc>
              <a:spcAft>
                <a:spcPts val="500"/>
              </a:spcAft>
              <a:buSzPct val="100000"/>
              <a:buChar char="•"/>
            </a:pPr>
            <a:r>
              <a:rPr lang="en-US" sz="900" dirty="0">
                <a:solidFill>
                  <a:srgbClr val="E6EAF2"/>
                </a:solidFill>
                <a:latin typeface="Trenda IG Text" pitchFamily="34" charset="0"/>
                <a:ea typeface="Trenda IG Text" pitchFamily="34" charset="-122"/>
                <a:cs typeface="Trenda IG Text" pitchFamily="34" charset="-120"/>
              </a:rPr>
              <a:t>Ageing workload and cases approaching an SLA threshold</a:t>
            </a:r>
            <a:endParaRPr lang="en-US" sz="900" dirty="0"/>
          </a:p>
          <a:p>
            <a:pPr marL="152400" indent="-152400">
              <a:lnSpc>
                <a:spcPts val="1300"/>
              </a:lnSpc>
              <a:spcAft>
                <a:spcPts val="500"/>
              </a:spcAft>
              <a:buSzPct val="100000"/>
              <a:buChar char="•"/>
            </a:pPr>
            <a:r>
              <a:rPr lang="en-US" sz="900" dirty="0">
                <a:solidFill>
                  <a:srgbClr val="E6EAF2"/>
                </a:solidFill>
                <a:latin typeface="Trenda IG Text" pitchFamily="34" charset="0"/>
                <a:ea typeface="Trenda IG Text" pitchFamily="34" charset="-122"/>
                <a:cs typeface="Trenda IG Text" pitchFamily="34" charset="-120"/>
              </a:rPr>
              <a:t>Draft acceptance rate, as a coaching signal rather than a target</a:t>
            </a:r>
            <a:endParaRPr lang="en-US" sz="900" dirty="0"/>
          </a:p>
          <a:p>
            <a:pPr marL="152400" indent="-152400">
              <a:lnSpc>
                <a:spcPts val="1300"/>
              </a:lnSpc>
              <a:spcAft>
                <a:spcPts val="500"/>
              </a:spcAft>
              <a:buSzPct val="100000"/>
              <a:buChar char="•"/>
            </a:pPr>
            <a:r>
              <a:rPr lang="en-US" sz="900" dirty="0">
                <a:solidFill>
                  <a:srgbClr val="E6EAF2"/>
                </a:solidFill>
                <a:latin typeface="Trenda IG Text" pitchFamily="34" charset="0"/>
                <a:ea typeface="Trenda IG Text" pitchFamily="34" charset="-122"/>
                <a:cs typeface="Trenda IG Text" pitchFamily="34" charset="-120"/>
              </a:rPr>
              <a:t>Knowledge gaps raised and articles contributed</a:t>
            </a:r>
            <a:endParaRPr lang="en-US" sz="900" dirty="0"/>
          </a:p>
          <a:p>
            <a:pPr marL="152400" indent="-152400">
              <a:lnSpc>
                <a:spcPts val="1300"/>
              </a:lnSpc>
              <a:spcAft>
                <a:spcPts val="500"/>
              </a:spcAft>
              <a:buSzPct val="100000"/>
              <a:buChar char="•"/>
            </a:pPr>
            <a:r>
              <a:rPr lang="en-US" sz="900" dirty="0">
                <a:solidFill>
                  <a:srgbClr val="E6EAF2"/>
                </a:solidFill>
                <a:latin typeface="Trenda IG Text" pitchFamily="34" charset="0"/>
                <a:ea typeface="Trenda IG Text" pitchFamily="34" charset="-122"/>
                <a:cs typeface="Trenda IG Text" pitchFamily="34" charset="-120"/>
              </a:rPr>
              <a:t>Coaching and training actions outstanding</a:t>
            </a:r>
            <a:endParaRPr lang="en-US" sz="900" dirty="0"/>
          </a:p>
        </p:txBody>
      </p:sp>
      <p:sp>
        <p:nvSpPr>
          <p:cNvPr id="13" name="Shape 11"/>
          <p:cNvSpPr/>
          <p:nvPr/>
        </p:nvSpPr>
        <p:spPr>
          <a:xfrm>
            <a:off x="502920" y="4960620"/>
            <a:ext cx="11183112" cy="512064"/>
          </a:xfrm>
          <a:prstGeom prst="roundRect">
            <a:avLst>
              <a:gd name="adj" fmla="val 7143"/>
            </a:avLst>
          </a:prstGeom>
          <a:solidFill>
            <a:srgbClr val="1A2130"/>
          </a:solidFill>
          <a:ln w="12700">
            <a:solidFill>
              <a:srgbClr val="252D3D"/>
            </a:solidFill>
            <a:prstDash val="solid"/>
          </a:ln>
        </p:spPr>
      </p:sp>
      <p:sp>
        <p:nvSpPr>
          <p:cNvPr id="14" name="Text 12"/>
          <p:cNvSpPr txBox="1"/>
          <p:nvPr/>
        </p:nvSpPr>
        <p:spPr>
          <a:xfrm>
            <a:off x="704088" y="4960620"/>
            <a:ext cx="10780776" cy="512064"/>
          </a:xfrm>
          <a:prstGeom prst="rect">
            <a:avLst/>
          </a:prstGeom>
          <a:noFill/>
          <a:ln/>
        </p:spPr>
        <p:txBody>
          <a:bodyPr wrap="square" lIns="0" tIns="0" rIns="0" bIns="0" rtlCol="0" anchor="ctr"/>
          <a:lstStyle/>
          <a:p>
            <a:pPr indent="0" marL="0">
              <a:lnSpc>
                <a:spcPts val="1200"/>
              </a:lnSpc>
              <a:buNone/>
            </a:pPr>
            <a:r>
              <a:rPr lang="en-US" sz="900" b="1" spc="140" kern="0" dirty="0">
                <a:solidFill>
                  <a:srgbClr val="22D3EE"/>
                </a:solidFill>
                <a:latin typeface="Trenda IG Text" pitchFamily="34" charset="0"/>
                <a:ea typeface="Trenda IG Text" pitchFamily="34" charset="-122"/>
                <a:cs typeface="Trenda IG Text" pitchFamily="34" charset="-120"/>
              </a:rPr>
              <a:t>REPORTING PRINCIPLE   </a:t>
            </a:r>
            <a:pPr indent="0" marL="0">
              <a:lnSpc>
                <a:spcPts val="1200"/>
              </a:lnSpc>
              <a:buNone/>
            </a:pPr>
            <a:r>
              <a:rPr lang="en-US" sz="900" dirty="0">
                <a:solidFill>
                  <a:srgbClr val="E6EAF2"/>
                </a:solidFill>
                <a:latin typeface="Trenda IG Text" pitchFamily="34" charset="0"/>
                <a:ea typeface="Trenda IG Text" pitchFamily="34" charset="-122"/>
                <a:cs typeface="Trenda IG Text" pitchFamily="34" charset="-120"/>
              </a:rPr>
              <a:t>Shift and end of day reports are generated from trusted case fields, not written by each agent. That removes manual reporting effort from the floor and makes every number traceable to the record it came from.</a:t>
            </a:r>
            <a:endParaRPr lang="en-US" sz="900" dirty="0"/>
          </a:p>
        </p:txBody>
      </p:sp>
      <p:pic>
        <p:nvPicPr>
          <p:cNvPr id="15" name="Image 0" descr="assets/ig-mark.png">    </p:cNvPr>
          <p:cNvPicPr>
            <a:picLocks noChangeAspect="1"/>
          </p:cNvPicPr>
          <p:nvPr/>
        </p:nvPicPr>
        <p:blipFill>
          <a:blip r:embed="rId1"/>
          <a:stretch>
            <a:fillRect/>
          </a:stretch>
        </p:blipFill>
        <p:spPr>
          <a:xfrm>
            <a:off x="502920" y="6455664"/>
            <a:ext cx="420624" cy="144475"/>
          </a:xfrm>
          <a:prstGeom prst="rect">
            <a:avLst/>
          </a:prstGeom>
        </p:spPr>
      </p:pic>
      <p:sp>
        <p:nvSpPr>
          <p:cNvPr id="16" name="Text 13"/>
          <p:cNvSpPr txBox="1"/>
          <p:nvPr/>
        </p:nvSpPr>
        <p:spPr>
          <a:xfrm>
            <a:off x="11201400" y="6400800"/>
            <a:ext cx="484632" cy="237744"/>
          </a:xfrm>
          <a:prstGeom prst="rect">
            <a:avLst/>
          </a:prstGeom>
          <a:noFill/>
          <a:ln/>
        </p:spPr>
        <p:txBody>
          <a:bodyPr wrap="square" lIns="0" tIns="0" rIns="0" bIns="0" rtlCol="0" anchor="ctr"/>
          <a:lstStyle/>
          <a:p>
            <a:pPr algn="r" indent="0" marL="0">
              <a:buNone/>
            </a:pPr>
            <a:r>
              <a:rPr lang="en-US" sz="850" dirty="0">
                <a:solidFill>
                  <a:srgbClr val="8A94A6"/>
                </a:solidFill>
                <a:latin typeface="Trenda IG Text" pitchFamily="34" charset="0"/>
                <a:ea typeface="Trenda IG Text" pitchFamily="34" charset="-122"/>
                <a:cs typeface="Trenda IG Text" pitchFamily="34" charset="-120"/>
              </a:rPr>
              <a:t>18</a:t>
            </a:r>
            <a:endParaRPr lang="en-US" sz="850" dirty="0"/>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20">
    <p:bg>
      <p:bgPr>
        <a:solidFill>
          <a:srgbClr val="0A0D14"/>
        </a:solidFill>
      </p:bgPr>
    </p:bg>
    <p:spTree>
      <p:nvGrpSpPr>
        <p:cNvPr id="1" name=""/>
        <p:cNvGrpSpPr/>
        <p:nvPr/>
      </p:nvGrpSpPr>
      <p:grpSpPr>
        <a:xfrm>
          <a:off x="0" y="0"/>
          <a:ext cx="0" cy="0"/>
          <a:chOff x="0" y="0"/>
          <a:chExt cx="0" cy="0"/>
        </a:xfrm>
      </p:grpSpPr>
      <p:sp>
        <p:nvSpPr>
          <p:cNvPr id="2" name="Text 0"/>
          <p:cNvSpPr txBox="1"/>
          <p:nvPr/>
        </p:nvSpPr>
        <p:spPr>
          <a:xfrm>
            <a:off x="502920" y="384048"/>
            <a:ext cx="11183112" cy="219456"/>
          </a:xfrm>
          <a:prstGeom prst="rect">
            <a:avLst/>
          </a:prstGeom>
          <a:noFill/>
          <a:ln/>
        </p:spPr>
        <p:txBody>
          <a:bodyPr wrap="square" lIns="0" tIns="0" rIns="0" bIns="0" rtlCol="0" anchor="ctr"/>
          <a:lstStyle/>
          <a:p>
            <a:pPr indent="0" marL="0">
              <a:buNone/>
            </a:pPr>
            <a:r>
              <a:rPr lang="en-US" sz="1000" b="1" spc="220" kern="0" dirty="0">
                <a:solidFill>
                  <a:srgbClr val="22D3EE"/>
                </a:solidFill>
                <a:latin typeface="Trenda IG Display" pitchFamily="34" charset="0"/>
                <a:ea typeface="Trenda IG Display" pitchFamily="34" charset="-122"/>
                <a:cs typeface="Trenda IG Display" pitchFamily="34" charset="-120"/>
              </a:rPr>
              <a:t>IMPROVEMENT</a:t>
            </a:r>
            <a:endParaRPr lang="en-US" sz="1000" dirty="0"/>
          </a:p>
        </p:txBody>
      </p:sp>
      <p:sp>
        <p:nvSpPr>
          <p:cNvPr id="3" name="Text 1"/>
          <p:cNvSpPr txBox="1"/>
          <p:nvPr/>
        </p:nvSpPr>
        <p:spPr>
          <a:xfrm>
            <a:off x="502920" y="658368"/>
            <a:ext cx="11183112" cy="416052"/>
          </a:xfrm>
          <a:prstGeom prst="rect">
            <a:avLst/>
          </a:prstGeom>
          <a:noFill/>
          <a:ln/>
        </p:spPr>
        <p:txBody>
          <a:bodyPr wrap="square" lIns="0" tIns="0" rIns="0" bIns="0" rtlCol="0" anchor="ctr"/>
          <a:lstStyle/>
          <a:p>
            <a:pPr indent="0" marL="0">
              <a:lnSpc>
                <a:spcPts val="3016"/>
              </a:lnSpc>
              <a:buNone/>
            </a:pPr>
            <a:r>
              <a:rPr lang="en-US" sz="2600" b="1" spc="40" kern="0" dirty="0">
                <a:solidFill>
                  <a:srgbClr val="FFFFFF"/>
                </a:solidFill>
                <a:latin typeface="Trenda IG Display" pitchFamily="34" charset="0"/>
                <a:ea typeface="Trenda IG Display" pitchFamily="34" charset="-122"/>
                <a:cs typeface="Trenda IG Display" pitchFamily="34" charset="-120"/>
              </a:rPr>
              <a:t>EVERY CLOSED CASE FEEDS THE NEXT ONE</a:t>
            </a:r>
            <a:endParaRPr lang="en-US" sz="2600" dirty="0"/>
          </a:p>
        </p:txBody>
      </p:sp>
      <p:sp>
        <p:nvSpPr>
          <p:cNvPr id="4" name="Text 2"/>
          <p:cNvSpPr txBox="1"/>
          <p:nvPr/>
        </p:nvSpPr>
        <p:spPr>
          <a:xfrm>
            <a:off x="502920" y="1156716"/>
            <a:ext cx="11183112" cy="384048"/>
          </a:xfrm>
          <a:prstGeom prst="rect">
            <a:avLst/>
          </a:prstGeom>
          <a:noFill/>
          <a:ln/>
        </p:spPr>
        <p:txBody>
          <a:bodyPr wrap="square" lIns="0" tIns="0" rIns="0" bIns="0" rtlCol="0" anchor="t"/>
          <a:lstStyle/>
          <a:p>
            <a:pPr indent="0" marL="0">
              <a:lnSpc>
                <a:spcPts val="1500"/>
              </a:lnSpc>
              <a:buNone/>
            </a:pPr>
            <a:r>
              <a:rPr lang="en-US" sz="1150" dirty="0">
                <a:solidFill>
                  <a:srgbClr val="8A94A6"/>
                </a:solidFill>
                <a:latin typeface="Trenda IG Text" pitchFamily="34" charset="0"/>
                <a:ea typeface="Trenda IG Text" pitchFamily="34" charset="-122"/>
                <a:cs typeface="Trenda IG Text" pitchFamily="34" charset="-120"/>
              </a:rPr>
              <a:t>Feedback, quality findings and draft performance all land in one backlog with an owner and a target date, so improvement is a managed process rather than an intention.</a:t>
            </a:r>
            <a:endParaRPr lang="en-US" sz="1150" dirty="0"/>
          </a:p>
        </p:txBody>
      </p:sp>
      <p:sp>
        <p:nvSpPr>
          <p:cNvPr id="5" name="Shape 3"/>
          <p:cNvSpPr/>
          <p:nvPr/>
        </p:nvSpPr>
        <p:spPr>
          <a:xfrm>
            <a:off x="502920" y="1796796"/>
            <a:ext cx="2090318" cy="2103120"/>
          </a:xfrm>
          <a:prstGeom prst="roundRect">
            <a:avLst>
              <a:gd name="adj" fmla="val 1750"/>
            </a:avLst>
          </a:prstGeom>
          <a:solidFill>
            <a:srgbClr val="151A24"/>
          </a:solidFill>
          <a:ln w="12700">
            <a:solidFill>
              <a:srgbClr val="252D3D"/>
            </a:solidFill>
            <a:prstDash val="solid"/>
          </a:ln>
        </p:spPr>
      </p:sp>
      <p:sp>
        <p:nvSpPr>
          <p:cNvPr id="6" name="Shape 4"/>
          <p:cNvSpPr/>
          <p:nvPr/>
        </p:nvSpPr>
        <p:spPr>
          <a:xfrm>
            <a:off x="704088" y="1979676"/>
            <a:ext cx="310896" cy="256032"/>
          </a:xfrm>
          <a:prstGeom prst="roundRect">
            <a:avLst>
              <a:gd name="adj" fmla="val 17857"/>
            </a:avLst>
          </a:prstGeom>
          <a:solidFill>
            <a:srgbClr val="0A0D14"/>
          </a:solidFill>
          <a:ln w="12700">
            <a:solidFill>
              <a:srgbClr val="22D3EE"/>
            </a:solidFill>
            <a:prstDash val="solid"/>
          </a:ln>
        </p:spPr>
      </p:sp>
      <p:sp>
        <p:nvSpPr>
          <p:cNvPr id="7" name="Text 5"/>
          <p:cNvSpPr txBox="1"/>
          <p:nvPr/>
        </p:nvSpPr>
        <p:spPr>
          <a:xfrm>
            <a:off x="704088" y="1979676"/>
            <a:ext cx="310896" cy="256032"/>
          </a:xfrm>
          <a:prstGeom prst="rect">
            <a:avLst/>
          </a:prstGeom>
          <a:noFill/>
          <a:ln/>
        </p:spPr>
        <p:txBody>
          <a:bodyPr wrap="square" lIns="0" tIns="0" rIns="0" bIns="0" rtlCol="0" anchor="ctr"/>
          <a:lstStyle/>
          <a:p>
            <a:pPr algn="ctr" indent="0" marL="0">
              <a:buNone/>
            </a:pPr>
            <a:r>
              <a:rPr lang="en-US" sz="1050" b="1" dirty="0">
                <a:solidFill>
                  <a:srgbClr val="22D3EE"/>
                </a:solidFill>
                <a:latin typeface="Trenda IG Display" pitchFamily="34" charset="0"/>
                <a:ea typeface="Trenda IG Display" pitchFamily="34" charset="-122"/>
                <a:cs typeface="Trenda IG Display" pitchFamily="34" charset="-120"/>
              </a:rPr>
              <a:t>01</a:t>
            </a:r>
            <a:endParaRPr lang="en-US" sz="1050" dirty="0"/>
          </a:p>
        </p:txBody>
      </p:sp>
      <p:sp>
        <p:nvSpPr>
          <p:cNvPr id="8" name="Text 6"/>
          <p:cNvSpPr txBox="1"/>
          <p:nvPr/>
        </p:nvSpPr>
        <p:spPr>
          <a:xfrm>
            <a:off x="704088" y="2327148"/>
            <a:ext cx="1687982" cy="292608"/>
          </a:xfrm>
          <a:prstGeom prst="rect">
            <a:avLst/>
          </a:prstGeom>
          <a:noFill/>
          <a:ln/>
        </p:spPr>
        <p:txBody>
          <a:bodyPr wrap="square" lIns="0" tIns="0" rIns="0" bIns="0" rtlCol="0" anchor="ctr"/>
          <a:lstStyle/>
          <a:p>
            <a:pPr indent="0" marL="0">
              <a:buNone/>
            </a:pPr>
            <a:r>
              <a:rPr lang="en-US" sz="1150" b="1" dirty="0">
                <a:solidFill>
                  <a:srgbClr val="FFFFFF"/>
                </a:solidFill>
                <a:latin typeface="Trenda IG Text" pitchFamily="34" charset="0"/>
                <a:ea typeface="Trenda IG Text" pitchFamily="34" charset="-122"/>
                <a:cs typeface="Trenda IG Text" pitchFamily="34" charset="-120"/>
              </a:rPr>
              <a:t>Close and ask</a:t>
            </a:r>
            <a:endParaRPr lang="en-US" sz="1150" dirty="0"/>
          </a:p>
        </p:txBody>
      </p:sp>
      <p:sp>
        <p:nvSpPr>
          <p:cNvPr id="9" name="Text 7"/>
          <p:cNvSpPr txBox="1"/>
          <p:nvPr/>
        </p:nvSpPr>
        <p:spPr>
          <a:xfrm>
            <a:off x="704088" y="2674620"/>
            <a:ext cx="1687982" cy="1078992"/>
          </a:xfrm>
          <a:prstGeom prst="rect">
            <a:avLst/>
          </a:prstGeom>
          <a:noFill/>
          <a:ln/>
        </p:spPr>
        <p:txBody>
          <a:bodyPr wrap="square" lIns="0" tIns="0" rIns="0" bIns="0" rtlCol="0" anchor="t"/>
          <a:lstStyle/>
          <a:p>
            <a:pPr indent="0" marL="0">
              <a:lnSpc>
                <a:spcPts val="1150"/>
              </a:lnSpc>
              <a:buNone/>
            </a:pPr>
            <a:r>
              <a:rPr lang="en-US" sz="850" dirty="0">
                <a:solidFill>
                  <a:srgbClr val="8A94A6"/>
                </a:solidFill>
                <a:latin typeface="Trenda IG Text" pitchFamily="34" charset="0"/>
                <a:ea typeface="Trenda IG Text" pitchFamily="34" charset="-122"/>
                <a:cs typeface="Trenda IG Text" pitchFamily="34" charset="-120"/>
              </a:rPr>
              <a:t>A short survey goes out on closure: was it resolved, was the response clear, was the turnaround acceptable, overall satisfaction, optional comment.</a:t>
            </a:r>
            <a:endParaRPr lang="en-US" sz="850" dirty="0"/>
          </a:p>
        </p:txBody>
      </p:sp>
      <p:sp>
        <p:nvSpPr>
          <p:cNvPr id="10" name="Shape 8"/>
          <p:cNvSpPr/>
          <p:nvPr/>
        </p:nvSpPr>
        <p:spPr>
          <a:xfrm>
            <a:off x="2611526" y="2784348"/>
            <a:ext cx="146304" cy="128016"/>
          </a:xfrm>
          <a:prstGeom prst="rightArrow">
            <a:avLst/>
          </a:prstGeom>
          <a:solidFill>
            <a:srgbClr val="3A4459"/>
          </a:solidFill>
          <a:ln w="12700">
            <a:solidFill>
              <a:srgbClr val="3A4459"/>
            </a:solidFill>
            <a:prstDash val="solid"/>
          </a:ln>
        </p:spPr>
      </p:sp>
      <p:sp>
        <p:nvSpPr>
          <p:cNvPr id="11" name="Shape 9"/>
          <p:cNvSpPr/>
          <p:nvPr/>
        </p:nvSpPr>
        <p:spPr>
          <a:xfrm>
            <a:off x="2776118" y="1796796"/>
            <a:ext cx="2090318" cy="2103120"/>
          </a:xfrm>
          <a:prstGeom prst="roundRect">
            <a:avLst>
              <a:gd name="adj" fmla="val 1750"/>
            </a:avLst>
          </a:prstGeom>
          <a:solidFill>
            <a:srgbClr val="151A24"/>
          </a:solidFill>
          <a:ln w="12700">
            <a:solidFill>
              <a:srgbClr val="252D3D"/>
            </a:solidFill>
            <a:prstDash val="solid"/>
          </a:ln>
        </p:spPr>
      </p:sp>
      <p:sp>
        <p:nvSpPr>
          <p:cNvPr id="12" name="Shape 10"/>
          <p:cNvSpPr/>
          <p:nvPr/>
        </p:nvSpPr>
        <p:spPr>
          <a:xfrm>
            <a:off x="2977286" y="1979676"/>
            <a:ext cx="310896" cy="256032"/>
          </a:xfrm>
          <a:prstGeom prst="roundRect">
            <a:avLst>
              <a:gd name="adj" fmla="val 17857"/>
            </a:avLst>
          </a:prstGeom>
          <a:solidFill>
            <a:srgbClr val="0A0D14"/>
          </a:solidFill>
          <a:ln w="12700">
            <a:solidFill>
              <a:srgbClr val="22D3EE"/>
            </a:solidFill>
            <a:prstDash val="solid"/>
          </a:ln>
        </p:spPr>
      </p:sp>
      <p:sp>
        <p:nvSpPr>
          <p:cNvPr id="13" name="Text 11"/>
          <p:cNvSpPr txBox="1"/>
          <p:nvPr/>
        </p:nvSpPr>
        <p:spPr>
          <a:xfrm>
            <a:off x="2977286" y="1979676"/>
            <a:ext cx="310896" cy="256032"/>
          </a:xfrm>
          <a:prstGeom prst="rect">
            <a:avLst/>
          </a:prstGeom>
          <a:noFill/>
          <a:ln/>
        </p:spPr>
        <p:txBody>
          <a:bodyPr wrap="square" lIns="0" tIns="0" rIns="0" bIns="0" rtlCol="0" anchor="ctr"/>
          <a:lstStyle/>
          <a:p>
            <a:pPr algn="ctr" indent="0" marL="0">
              <a:buNone/>
            </a:pPr>
            <a:r>
              <a:rPr lang="en-US" sz="1050" b="1" dirty="0">
                <a:solidFill>
                  <a:srgbClr val="22D3EE"/>
                </a:solidFill>
                <a:latin typeface="Trenda IG Display" pitchFamily="34" charset="0"/>
                <a:ea typeface="Trenda IG Display" pitchFamily="34" charset="-122"/>
                <a:cs typeface="Trenda IG Display" pitchFamily="34" charset="-120"/>
              </a:rPr>
              <a:t>02</a:t>
            </a:r>
            <a:endParaRPr lang="en-US" sz="1050" dirty="0"/>
          </a:p>
        </p:txBody>
      </p:sp>
      <p:sp>
        <p:nvSpPr>
          <p:cNvPr id="14" name="Text 12"/>
          <p:cNvSpPr txBox="1"/>
          <p:nvPr/>
        </p:nvSpPr>
        <p:spPr>
          <a:xfrm>
            <a:off x="2977286" y="2327148"/>
            <a:ext cx="1687982" cy="292608"/>
          </a:xfrm>
          <a:prstGeom prst="rect">
            <a:avLst/>
          </a:prstGeom>
          <a:noFill/>
          <a:ln/>
        </p:spPr>
        <p:txBody>
          <a:bodyPr wrap="square" lIns="0" tIns="0" rIns="0" bIns="0" rtlCol="0" anchor="ctr"/>
          <a:lstStyle/>
          <a:p>
            <a:pPr indent="0" marL="0">
              <a:buNone/>
            </a:pPr>
            <a:r>
              <a:rPr lang="en-US" sz="1150" b="1" dirty="0">
                <a:solidFill>
                  <a:srgbClr val="FFFFFF"/>
                </a:solidFill>
                <a:latin typeface="Trenda IG Text" pitchFamily="34" charset="0"/>
                <a:ea typeface="Trenda IG Text" pitchFamily="34" charset="-122"/>
                <a:cs typeface="Trenda IG Text" pitchFamily="34" charset="-120"/>
              </a:rPr>
              <a:t>Link and triage</a:t>
            </a:r>
            <a:endParaRPr lang="en-US" sz="1150" dirty="0"/>
          </a:p>
        </p:txBody>
      </p:sp>
      <p:sp>
        <p:nvSpPr>
          <p:cNvPr id="15" name="Text 13"/>
          <p:cNvSpPr txBox="1"/>
          <p:nvPr/>
        </p:nvSpPr>
        <p:spPr>
          <a:xfrm>
            <a:off x="2977286" y="2674620"/>
            <a:ext cx="1687982" cy="1078992"/>
          </a:xfrm>
          <a:prstGeom prst="rect">
            <a:avLst/>
          </a:prstGeom>
          <a:noFill/>
          <a:ln/>
        </p:spPr>
        <p:txBody>
          <a:bodyPr wrap="square" lIns="0" tIns="0" rIns="0" bIns="0" rtlCol="0" anchor="t"/>
          <a:lstStyle/>
          <a:p>
            <a:pPr indent="0" marL="0">
              <a:lnSpc>
                <a:spcPts val="1150"/>
              </a:lnSpc>
              <a:buNone/>
            </a:pPr>
            <a:r>
              <a:rPr lang="en-US" sz="850" dirty="0">
                <a:solidFill>
                  <a:srgbClr val="8A94A6"/>
                </a:solidFill>
                <a:latin typeface="Trenda IG Text" pitchFamily="34" charset="0"/>
                <a:ea typeface="Trenda IG Text" pitchFamily="34" charset="-122"/>
                <a:cs typeface="Trenda IG Text" pitchFamily="34" charset="-120"/>
              </a:rPr>
              <a:t>Feedback is linked to the originating case. Negative feedback automatically raises a service recovery action and is reviewed by the Shift Lead.</a:t>
            </a:r>
            <a:endParaRPr lang="en-US" sz="850" dirty="0"/>
          </a:p>
        </p:txBody>
      </p:sp>
      <p:sp>
        <p:nvSpPr>
          <p:cNvPr id="16" name="Shape 14"/>
          <p:cNvSpPr/>
          <p:nvPr/>
        </p:nvSpPr>
        <p:spPr>
          <a:xfrm>
            <a:off x="4884725" y="2784348"/>
            <a:ext cx="146304" cy="128016"/>
          </a:xfrm>
          <a:prstGeom prst="rightArrow">
            <a:avLst/>
          </a:prstGeom>
          <a:solidFill>
            <a:srgbClr val="3A4459"/>
          </a:solidFill>
          <a:ln w="12700">
            <a:solidFill>
              <a:srgbClr val="3A4459"/>
            </a:solidFill>
            <a:prstDash val="solid"/>
          </a:ln>
        </p:spPr>
      </p:sp>
      <p:sp>
        <p:nvSpPr>
          <p:cNvPr id="17" name="Shape 15"/>
          <p:cNvSpPr/>
          <p:nvPr/>
        </p:nvSpPr>
        <p:spPr>
          <a:xfrm>
            <a:off x="5049317" y="1796796"/>
            <a:ext cx="2090318" cy="2103120"/>
          </a:xfrm>
          <a:prstGeom prst="roundRect">
            <a:avLst>
              <a:gd name="adj" fmla="val 1750"/>
            </a:avLst>
          </a:prstGeom>
          <a:solidFill>
            <a:srgbClr val="151A24"/>
          </a:solidFill>
          <a:ln w="12700">
            <a:solidFill>
              <a:srgbClr val="252D3D"/>
            </a:solidFill>
            <a:prstDash val="solid"/>
          </a:ln>
        </p:spPr>
      </p:sp>
      <p:sp>
        <p:nvSpPr>
          <p:cNvPr id="18" name="Shape 16"/>
          <p:cNvSpPr/>
          <p:nvPr/>
        </p:nvSpPr>
        <p:spPr>
          <a:xfrm>
            <a:off x="5250485" y="1979676"/>
            <a:ext cx="310896" cy="256032"/>
          </a:xfrm>
          <a:prstGeom prst="roundRect">
            <a:avLst>
              <a:gd name="adj" fmla="val 17857"/>
            </a:avLst>
          </a:prstGeom>
          <a:solidFill>
            <a:srgbClr val="0A0D14"/>
          </a:solidFill>
          <a:ln w="12700">
            <a:solidFill>
              <a:srgbClr val="22D3EE"/>
            </a:solidFill>
            <a:prstDash val="solid"/>
          </a:ln>
        </p:spPr>
      </p:sp>
      <p:sp>
        <p:nvSpPr>
          <p:cNvPr id="19" name="Text 17"/>
          <p:cNvSpPr txBox="1"/>
          <p:nvPr/>
        </p:nvSpPr>
        <p:spPr>
          <a:xfrm>
            <a:off x="5250485" y="1979676"/>
            <a:ext cx="310896" cy="256032"/>
          </a:xfrm>
          <a:prstGeom prst="rect">
            <a:avLst/>
          </a:prstGeom>
          <a:noFill/>
          <a:ln/>
        </p:spPr>
        <p:txBody>
          <a:bodyPr wrap="square" lIns="0" tIns="0" rIns="0" bIns="0" rtlCol="0" anchor="ctr"/>
          <a:lstStyle/>
          <a:p>
            <a:pPr algn="ctr" indent="0" marL="0">
              <a:buNone/>
            </a:pPr>
            <a:r>
              <a:rPr lang="en-US" sz="1050" b="1" dirty="0">
                <a:solidFill>
                  <a:srgbClr val="22D3EE"/>
                </a:solidFill>
                <a:latin typeface="Trenda IG Display" pitchFamily="34" charset="0"/>
                <a:ea typeface="Trenda IG Display" pitchFamily="34" charset="-122"/>
                <a:cs typeface="Trenda IG Display" pitchFamily="34" charset="-120"/>
              </a:rPr>
              <a:t>03</a:t>
            </a:r>
            <a:endParaRPr lang="en-US" sz="1050" dirty="0"/>
          </a:p>
        </p:txBody>
      </p:sp>
      <p:sp>
        <p:nvSpPr>
          <p:cNvPr id="20" name="Text 18"/>
          <p:cNvSpPr txBox="1"/>
          <p:nvPr/>
        </p:nvSpPr>
        <p:spPr>
          <a:xfrm>
            <a:off x="5250485" y="2327148"/>
            <a:ext cx="1687982" cy="292608"/>
          </a:xfrm>
          <a:prstGeom prst="rect">
            <a:avLst/>
          </a:prstGeom>
          <a:noFill/>
          <a:ln/>
        </p:spPr>
        <p:txBody>
          <a:bodyPr wrap="square" lIns="0" tIns="0" rIns="0" bIns="0" rtlCol="0" anchor="ctr"/>
          <a:lstStyle/>
          <a:p>
            <a:pPr indent="0" marL="0">
              <a:buNone/>
            </a:pPr>
            <a:r>
              <a:rPr lang="en-US" sz="1150" b="1" dirty="0">
                <a:solidFill>
                  <a:srgbClr val="FFFFFF"/>
                </a:solidFill>
                <a:latin typeface="Trenda IG Text" pitchFamily="34" charset="0"/>
                <a:ea typeface="Trenda IG Text" pitchFamily="34" charset="-122"/>
                <a:cs typeface="Trenda IG Text" pitchFamily="34" charset="-120"/>
              </a:rPr>
              <a:t>Find the cause</a:t>
            </a:r>
            <a:endParaRPr lang="en-US" sz="1150" dirty="0"/>
          </a:p>
        </p:txBody>
      </p:sp>
      <p:sp>
        <p:nvSpPr>
          <p:cNvPr id="21" name="Text 19"/>
          <p:cNvSpPr txBox="1"/>
          <p:nvPr/>
        </p:nvSpPr>
        <p:spPr>
          <a:xfrm>
            <a:off x="5250485" y="2674620"/>
            <a:ext cx="1687982" cy="1078992"/>
          </a:xfrm>
          <a:prstGeom prst="rect">
            <a:avLst/>
          </a:prstGeom>
          <a:noFill/>
          <a:ln/>
        </p:spPr>
        <p:txBody>
          <a:bodyPr wrap="square" lIns="0" tIns="0" rIns="0" bIns="0" rtlCol="0" anchor="t"/>
          <a:lstStyle/>
          <a:p>
            <a:pPr indent="0" marL="0">
              <a:lnSpc>
                <a:spcPts val="1150"/>
              </a:lnSpc>
              <a:buNone/>
            </a:pPr>
            <a:r>
              <a:rPr lang="en-US" sz="850" dirty="0">
                <a:solidFill>
                  <a:srgbClr val="8A94A6"/>
                </a:solidFill>
                <a:latin typeface="Trenda IG Text" pitchFamily="34" charset="0"/>
                <a:ea typeface="Trenda IG Text" pitchFamily="34" charset="-122"/>
                <a:cs typeface="Trenda IG Text" pitchFamily="34" charset="-120"/>
              </a:rPr>
              <a:t>Quality Assurance determines whether the cause is the agent, the process, the knowledge article, the system, a dependency or the policy itself.</a:t>
            </a:r>
            <a:endParaRPr lang="en-US" sz="850" dirty="0"/>
          </a:p>
        </p:txBody>
      </p:sp>
      <p:sp>
        <p:nvSpPr>
          <p:cNvPr id="22" name="Shape 20"/>
          <p:cNvSpPr/>
          <p:nvPr/>
        </p:nvSpPr>
        <p:spPr>
          <a:xfrm>
            <a:off x="7157923" y="2784348"/>
            <a:ext cx="146304" cy="128016"/>
          </a:xfrm>
          <a:prstGeom prst="rightArrow">
            <a:avLst/>
          </a:prstGeom>
          <a:solidFill>
            <a:srgbClr val="3A4459"/>
          </a:solidFill>
          <a:ln w="12700">
            <a:solidFill>
              <a:srgbClr val="3A4459"/>
            </a:solidFill>
            <a:prstDash val="solid"/>
          </a:ln>
        </p:spPr>
      </p:sp>
      <p:sp>
        <p:nvSpPr>
          <p:cNvPr id="23" name="Shape 21"/>
          <p:cNvSpPr/>
          <p:nvPr/>
        </p:nvSpPr>
        <p:spPr>
          <a:xfrm>
            <a:off x="7322515" y="1796796"/>
            <a:ext cx="2090318" cy="2103120"/>
          </a:xfrm>
          <a:prstGeom prst="roundRect">
            <a:avLst>
              <a:gd name="adj" fmla="val 1750"/>
            </a:avLst>
          </a:prstGeom>
          <a:solidFill>
            <a:srgbClr val="151A24"/>
          </a:solidFill>
          <a:ln w="12700">
            <a:solidFill>
              <a:srgbClr val="252D3D"/>
            </a:solidFill>
            <a:prstDash val="solid"/>
          </a:ln>
        </p:spPr>
      </p:sp>
      <p:sp>
        <p:nvSpPr>
          <p:cNvPr id="24" name="Shape 22"/>
          <p:cNvSpPr/>
          <p:nvPr/>
        </p:nvSpPr>
        <p:spPr>
          <a:xfrm>
            <a:off x="7523683" y="1979676"/>
            <a:ext cx="310896" cy="256032"/>
          </a:xfrm>
          <a:prstGeom prst="roundRect">
            <a:avLst>
              <a:gd name="adj" fmla="val 17857"/>
            </a:avLst>
          </a:prstGeom>
          <a:solidFill>
            <a:srgbClr val="0A0D14"/>
          </a:solidFill>
          <a:ln w="12700">
            <a:solidFill>
              <a:srgbClr val="22D3EE"/>
            </a:solidFill>
            <a:prstDash val="solid"/>
          </a:ln>
        </p:spPr>
      </p:sp>
      <p:sp>
        <p:nvSpPr>
          <p:cNvPr id="25" name="Text 23"/>
          <p:cNvSpPr txBox="1"/>
          <p:nvPr/>
        </p:nvSpPr>
        <p:spPr>
          <a:xfrm>
            <a:off x="7523683" y="1979676"/>
            <a:ext cx="310896" cy="256032"/>
          </a:xfrm>
          <a:prstGeom prst="rect">
            <a:avLst/>
          </a:prstGeom>
          <a:noFill/>
          <a:ln/>
        </p:spPr>
        <p:txBody>
          <a:bodyPr wrap="square" lIns="0" tIns="0" rIns="0" bIns="0" rtlCol="0" anchor="ctr"/>
          <a:lstStyle/>
          <a:p>
            <a:pPr algn="ctr" indent="0" marL="0">
              <a:buNone/>
            </a:pPr>
            <a:r>
              <a:rPr lang="en-US" sz="1050" b="1" dirty="0">
                <a:solidFill>
                  <a:srgbClr val="22D3EE"/>
                </a:solidFill>
                <a:latin typeface="Trenda IG Display" pitchFamily="34" charset="0"/>
                <a:ea typeface="Trenda IG Display" pitchFamily="34" charset="-122"/>
                <a:cs typeface="Trenda IG Display" pitchFamily="34" charset="-120"/>
              </a:rPr>
              <a:t>04</a:t>
            </a:r>
            <a:endParaRPr lang="en-US" sz="1050" dirty="0"/>
          </a:p>
        </p:txBody>
      </p:sp>
      <p:sp>
        <p:nvSpPr>
          <p:cNvPr id="26" name="Text 24"/>
          <p:cNvSpPr txBox="1"/>
          <p:nvPr/>
        </p:nvSpPr>
        <p:spPr>
          <a:xfrm>
            <a:off x="7523683" y="2327148"/>
            <a:ext cx="1687982" cy="292608"/>
          </a:xfrm>
          <a:prstGeom prst="rect">
            <a:avLst/>
          </a:prstGeom>
          <a:noFill/>
          <a:ln/>
        </p:spPr>
        <p:txBody>
          <a:bodyPr wrap="square" lIns="0" tIns="0" rIns="0" bIns="0" rtlCol="0" anchor="ctr"/>
          <a:lstStyle/>
          <a:p>
            <a:pPr indent="0" marL="0">
              <a:buNone/>
            </a:pPr>
            <a:r>
              <a:rPr lang="en-US" sz="1150" b="1" dirty="0">
                <a:solidFill>
                  <a:srgbClr val="FFFFFF"/>
                </a:solidFill>
                <a:latin typeface="Trenda IG Text" pitchFamily="34" charset="0"/>
                <a:ea typeface="Trenda IG Text" pitchFamily="34" charset="-122"/>
                <a:cs typeface="Trenda IG Text" pitchFamily="34" charset="-120"/>
              </a:rPr>
              <a:t>Fix the right thing</a:t>
            </a:r>
            <a:endParaRPr lang="en-US" sz="1150" dirty="0"/>
          </a:p>
        </p:txBody>
      </p:sp>
      <p:sp>
        <p:nvSpPr>
          <p:cNvPr id="27" name="Text 25"/>
          <p:cNvSpPr txBox="1"/>
          <p:nvPr/>
        </p:nvSpPr>
        <p:spPr>
          <a:xfrm>
            <a:off x="7523683" y="2674620"/>
            <a:ext cx="1687982" cy="1078992"/>
          </a:xfrm>
          <a:prstGeom prst="rect">
            <a:avLst/>
          </a:prstGeom>
          <a:noFill/>
          <a:ln/>
        </p:spPr>
        <p:txBody>
          <a:bodyPr wrap="square" lIns="0" tIns="0" rIns="0" bIns="0" rtlCol="0" anchor="t"/>
          <a:lstStyle/>
          <a:p>
            <a:pPr indent="0" marL="0">
              <a:lnSpc>
                <a:spcPts val="1150"/>
              </a:lnSpc>
              <a:buNone/>
            </a:pPr>
            <a:r>
              <a:rPr lang="en-US" sz="850" dirty="0">
                <a:solidFill>
                  <a:srgbClr val="8A94A6"/>
                </a:solidFill>
                <a:latin typeface="Trenda IG Text" pitchFamily="34" charset="0"/>
                <a:ea typeface="Trenda IG Text" pitchFamily="34" charset="-122"/>
                <a:cs typeface="Trenda IG Text" pitchFamily="34" charset="-120"/>
              </a:rPr>
              <a:t>Agent causes go to coaching. Knowledge causes go to the article. Template causes go to prompt tuning. Process causes go to the workflow.</a:t>
            </a:r>
            <a:endParaRPr lang="en-US" sz="850" dirty="0"/>
          </a:p>
        </p:txBody>
      </p:sp>
      <p:sp>
        <p:nvSpPr>
          <p:cNvPr id="28" name="Shape 26"/>
          <p:cNvSpPr/>
          <p:nvPr/>
        </p:nvSpPr>
        <p:spPr>
          <a:xfrm>
            <a:off x="9431122" y="2784348"/>
            <a:ext cx="146304" cy="128016"/>
          </a:xfrm>
          <a:prstGeom prst="rightArrow">
            <a:avLst/>
          </a:prstGeom>
          <a:solidFill>
            <a:srgbClr val="3A4459"/>
          </a:solidFill>
          <a:ln w="12700">
            <a:solidFill>
              <a:srgbClr val="3A4459"/>
            </a:solidFill>
            <a:prstDash val="solid"/>
          </a:ln>
        </p:spPr>
      </p:sp>
      <p:sp>
        <p:nvSpPr>
          <p:cNvPr id="29" name="Shape 27"/>
          <p:cNvSpPr/>
          <p:nvPr/>
        </p:nvSpPr>
        <p:spPr>
          <a:xfrm>
            <a:off x="9595714" y="1796796"/>
            <a:ext cx="2090318" cy="2103120"/>
          </a:xfrm>
          <a:prstGeom prst="roundRect">
            <a:avLst>
              <a:gd name="adj" fmla="val 1750"/>
            </a:avLst>
          </a:prstGeom>
          <a:solidFill>
            <a:srgbClr val="151A24"/>
          </a:solidFill>
          <a:ln w="12700">
            <a:solidFill>
              <a:srgbClr val="252D3D"/>
            </a:solidFill>
            <a:prstDash val="solid"/>
          </a:ln>
        </p:spPr>
      </p:sp>
      <p:sp>
        <p:nvSpPr>
          <p:cNvPr id="30" name="Shape 28"/>
          <p:cNvSpPr/>
          <p:nvPr/>
        </p:nvSpPr>
        <p:spPr>
          <a:xfrm>
            <a:off x="9796882" y="1979676"/>
            <a:ext cx="310896" cy="256032"/>
          </a:xfrm>
          <a:prstGeom prst="roundRect">
            <a:avLst>
              <a:gd name="adj" fmla="val 17857"/>
            </a:avLst>
          </a:prstGeom>
          <a:solidFill>
            <a:srgbClr val="0A0D14"/>
          </a:solidFill>
          <a:ln w="12700">
            <a:solidFill>
              <a:srgbClr val="22D3EE"/>
            </a:solidFill>
            <a:prstDash val="solid"/>
          </a:ln>
        </p:spPr>
      </p:sp>
      <p:sp>
        <p:nvSpPr>
          <p:cNvPr id="31" name="Text 29"/>
          <p:cNvSpPr txBox="1"/>
          <p:nvPr/>
        </p:nvSpPr>
        <p:spPr>
          <a:xfrm>
            <a:off x="9796882" y="1979676"/>
            <a:ext cx="310896" cy="256032"/>
          </a:xfrm>
          <a:prstGeom prst="rect">
            <a:avLst/>
          </a:prstGeom>
          <a:noFill/>
          <a:ln/>
        </p:spPr>
        <p:txBody>
          <a:bodyPr wrap="square" lIns="0" tIns="0" rIns="0" bIns="0" rtlCol="0" anchor="ctr"/>
          <a:lstStyle/>
          <a:p>
            <a:pPr algn="ctr" indent="0" marL="0">
              <a:buNone/>
            </a:pPr>
            <a:r>
              <a:rPr lang="en-US" sz="1050" b="1" dirty="0">
                <a:solidFill>
                  <a:srgbClr val="22D3EE"/>
                </a:solidFill>
                <a:latin typeface="Trenda IG Display" pitchFamily="34" charset="0"/>
                <a:ea typeface="Trenda IG Display" pitchFamily="34" charset="-122"/>
                <a:cs typeface="Trenda IG Display" pitchFamily="34" charset="-120"/>
              </a:rPr>
              <a:t>05</a:t>
            </a:r>
            <a:endParaRPr lang="en-US" sz="1050" dirty="0"/>
          </a:p>
        </p:txBody>
      </p:sp>
      <p:sp>
        <p:nvSpPr>
          <p:cNvPr id="32" name="Text 30"/>
          <p:cNvSpPr txBox="1"/>
          <p:nvPr/>
        </p:nvSpPr>
        <p:spPr>
          <a:xfrm>
            <a:off x="9796882" y="2327148"/>
            <a:ext cx="1687982" cy="292608"/>
          </a:xfrm>
          <a:prstGeom prst="rect">
            <a:avLst/>
          </a:prstGeom>
          <a:noFill/>
          <a:ln/>
        </p:spPr>
        <p:txBody>
          <a:bodyPr wrap="square" lIns="0" tIns="0" rIns="0" bIns="0" rtlCol="0" anchor="ctr"/>
          <a:lstStyle/>
          <a:p>
            <a:pPr indent="0" marL="0">
              <a:buNone/>
            </a:pPr>
            <a:r>
              <a:rPr lang="en-US" sz="1150" b="1" dirty="0">
                <a:solidFill>
                  <a:srgbClr val="FFFFFF"/>
                </a:solidFill>
                <a:latin typeface="Trenda IG Text" pitchFamily="34" charset="0"/>
                <a:ea typeface="Trenda IG Text" pitchFamily="34" charset="-122"/>
                <a:cs typeface="Trenda IG Text" pitchFamily="34" charset="-120"/>
              </a:rPr>
              <a:t>Track and review</a:t>
            </a:r>
            <a:endParaRPr lang="en-US" sz="1150" dirty="0"/>
          </a:p>
        </p:txBody>
      </p:sp>
      <p:sp>
        <p:nvSpPr>
          <p:cNvPr id="33" name="Text 31"/>
          <p:cNvSpPr txBox="1"/>
          <p:nvPr/>
        </p:nvSpPr>
        <p:spPr>
          <a:xfrm>
            <a:off x="9796882" y="2674620"/>
            <a:ext cx="1687982" cy="1078992"/>
          </a:xfrm>
          <a:prstGeom prst="rect">
            <a:avLst/>
          </a:prstGeom>
          <a:noFill/>
          <a:ln/>
        </p:spPr>
        <p:txBody>
          <a:bodyPr wrap="square" lIns="0" tIns="0" rIns="0" bIns="0" rtlCol="0" anchor="t"/>
          <a:lstStyle/>
          <a:p>
            <a:pPr indent="0" marL="0">
              <a:lnSpc>
                <a:spcPts val="1150"/>
              </a:lnSpc>
              <a:buNone/>
            </a:pPr>
            <a:r>
              <a:rPr lang="en-US" sz="850" dirty="0">
                <a:solidFill>
                  <a:srgbClr val="8A94A6"/>
                </a:solidFill>
                <a:latin typeface="Trenda IG Text" pitchFamily="34" charset="0"/>
                <a:ea typeface="Trenda IG Text" pitchFamily="34" charset="-122"/>
                <a:cs typeface="Trenda IG Text" pitchFamily="34" charset="-120"/>
              </a:rPr>
              <a:t>Each action carries an owner, a target date, a status and an expected benefit, and trends are reviewed with McKesson in the monthly cadence.</a:t>
            </a:r>
            <a:endParaRPr lang="en-US" sz="850" dirty="0"/>
          </a:p>
        </p:txBody>
      </p:sp>
      <p:sp>
        <p:nvSpPr>
          <p:cNvPr id="34" name="Shape 32"/>
          <p:cNvSpPr/>
          <p:nvPr/>
        </p:nvSpPr>
        <p:spPr>
          <a:xfrm>
            <a:off x="502920" y="4119372"/>
            <a:ext cx="5481828" cy="1463040"/>
          </a:xfrm>
          <a:prstGeom prst="roundRect">
            <a:avLst>
              <a:gd name="adj" fmla="val 2500"/>
            </a:avLst>
          </a:prstGeom>
          <a:solidFill>
            <a:srgbClr val="151A24"/>
          </a:solidFill>
          <a:ln w="12700">
            <a:solidFill>
              <a:srgbClr val="252D3D"/>
            </a:solidFill>
            <a:prstDash val="solid"/>
          </a:ln>
        </p:spPr>
      </p:sp>
      <p:sp>
        <p:nvSpPr>
          <p:cNvPr id="35" name="Text 33"/>
          <p:cNvSpPr txBox="1"/>
          <p:nvPr/>
        </p:nvSpPr>
        <p:spPr>
          <a:xfrm>
            <a:off x="740664" y="4283964"/>
            <a:ext cx="5006340" cy="201168"/>
          </a:xfrm>
          <a:prstGeom prst="rect">
            <a:avLst/>
          </a:prstGeom>
          <a:noFill/>
          <a:ln/>
        </p:spPr>
        <p:txBody>
          <a:bodyPr wrap="square" lIns="0" tIns="0" rIns="0" bIns="0" rtlCol="0" anchor="ctr"/>
          <a:lstStyle/>
          <a:p>
            <a:pPr indent="0" marL="0">
              <a:buNone/>
            </a:pPr>
            <a:r>
              <a:rPr lang="en-US" sz="1000" b="1" spc="140" kern="0" dirty="0">
                <a:solidFill>
                  <a:srgbClr val="FFFFFF"/>
                </a:solidFill>
                <a:latin typeface="Trenda IG Display" pitchFamily="34" charset="0"/>
                <a:ea typeface="Trenda IG Display" pitchFamily="34" charset="-122"/>
                <a:cs typeface="Trenda IG Display" pitchFamily="34" charset="-120"/>
              </a:rPr>
              <a:t>WHAT THE AUTOMATION ADDS TO THIS LOOP</a:t>
            </a:r>
            <a:endParaRPr lang="en-US" sz="1000" dirty="0"/>
          </a:p>
        </p:txBody>
      </p:sp>
      <p:sp>
        <p:nvSpPr>
          <p:cNvPr id="36" name="Text 34"/>
          <p:cNvSpPr txBox="1"/>
          <p:nvPr/>
        </p:nvSpPr>
        <p:spPr>
          <a:xfrm>
            <a:off x="740664" y="4594860"/>
            <a:ext cx="5006340" cy="877824"/>
          </a:xfrm>
          <a:prstGeom prst="rect">
            <a:avLst/>
          </a:prstGeom>
          <a:noFill/>
          <a:ln/>
        </p:spPr>
        <p:txBody>
          <a:bodyPr wrap="square" lIns="0" tIns="0" rIns="0" bIns="0" rtlCol="0" anchor="t"/>
          <a:lstStyle/>
          <a:p>
            <a:pPr marL="152400" indent="-152400">
              <a:lnSpc>
                <a:spcPts val="1250"/>
              </a:lnSpc>
              <a:spcAft>
                <a:spcPts val="500"/>
              </a:spcAft>
              <a:buSzPct val="100000"/>
              <a:buChar char="•"/>
            </a:pPr>
            <a:r>
              <a:rPr lang="en-US" sz="850" dirty="0">
                <a:solidFill>
                  <a:srgbClr val="E6EAF2"/>
                </a:solidFill>
                <a:latin typeface="Trenda IG Text" pitchFamily="34" charset="0"/>
                <a:ea typeface="Trenda IG Text" pitchFamily="34" charset="-122"/>
                <a:cs typeface="Trenda IG Text" pitchFamily="34" charset="-120"/>
              </a:rPr>
              <a:t>Draft acceptance and edit distance show which case types the templates handle well and which need work.</a:t>
            </a:r>
            <a:endParaRPr lang="en-US" sz="850" dirty="0"/>
          </a:p>
          <a:p>
            <a:pPr marL="152400" indent="-152400">
              <a:lnSpc>
                <a:spcPts val="1250"/>
              </a:lnSpc>
              <a:spcAft>
                <a:spcPts val="500"/>
              </a:spcAft>
              <a:buSzPct val="100000"/>
              <a:buChar char="•"/>
            </a:pPr>
            <a:r>
              <a:rPr lang="en-US" sz="850" dirty="0">
                <a:solidFill>
                  <a:srgbClr val="E6EAF2"/>
                </a:solidFill>
                <a:latin typeface="Trenda IG Text" pitchFamily="34" charset="0"/>
                <a:ea typeface="Trenda IG Text" pitchFamily="34" charset="-122"/>
                <a:cs typeface="Trenda IG Text" pitchFamily="34" charset="-120"/>
              </a:rPr>
              <a:t>Knowledge gaps are captured at the moment the agent hits one, not recalled weeks later.</a:t>
            </a:r>
            <a:endParaRPr lang="en-US" sz="850" dirty="0"/>
          </a:p>
          <a:p>
            <a:pPr marL="152400" indent="-152400">
              <a:lnSpc>
                <a:spcPts val="1250"/>
              </a:lnSpc>
              <a:spcAft>
                <a:spcPts val="500"/>
              </a:spcAft>
              <a:buSzPct val="100000"/>
              <a:buChar char="•"/>
            </a:pPr>
            <a:r>
              <a:rPr lang="en-US" sz="850" dirty="0">
                <a:solidFill>
                  <a:srgbClr val="E6EAF2"/>
                </a:solidFill>
                <a:latin typeface="Trenda IG Text" pitchFamily="34" charset="0"/>
                <a:ea typeface="Trenda IG Text" pitchFamily="34" charset="-122"/>
                <a:cs typeface="Trenda IG Text" pitchFamily="34" charset="-120"/>
              </a:rPr>
              <a:t>Because every case is classified, recurring demand drivers become visible and can be designed out.</a:t>
            </a:r>
            <a:endParaRPr lang="en-US" sz="850" dirty="0"/>
          </a:p>
        </p:txBody>
      </p:sp>
      <p:sp>
        <p:nvSpPr>
          <p:cNvPr id="37" name="Shape 35"/>
          <p:cNvSpPr/>
          <p:nvPr/>
        </p:nvSpPr>
        <p:spPr>
          <a:xfrm>
            <a:off x="6204204" y="4119372"/>
            <a:ext cx="5481828" cy="1463040"/>
          </a:xfrm>
          <a:prstGeom prst="roundRect">
            <a:avLst>
              <a:gd name="adj" fmla="val 2500"/>
            </a:avLst>
          </a:prstGeom>
          <a:solidFill>
            <a:srgbClr val="151A24"/>
          </a:solidFill>
          <a:ln w="12700">
            <a:solidFill>
              <a:srgbClr val="252D3D"/>
            </a:solidFill>
            <a:prstDash val="solid"/>
          </a:ln>
        </p:spPr>
      </p:sp>
      <p:sp>
        <p:nvSpPr>
          <p:cNvPr id="38" name="Text 36"/>
          <p:cNvSpPr txBox="1"/>
          <p:nvPr/>
        </p:nvSpPr>
        <p:spPr>
          <a:xfrm>
            <a:off x="6441948" y="4283964"/>
            <a:ext cx="5006340" cy="201168"/>
          </a:xfrm>
          <a:prstGeom prst="rect">
            <a:avLst/>
          </a:prstGeom>
          <a:noFill/>
          <a:ln/>
        </p:spPr>
        <p:txBody>
          <a:bodyPr wrap="square" lIns="0" tIns="0" rIns="0" bIns="0" rtlCol="0" anchor="ctr"/>
          <a:lstStyle/>
          <a:p>
            <a:pPr indent="0" marL="0">
              <a:buNone/>
            </a:pPr>
            <a:r>
              <a:rPr lang="en-US" sz="1000" b="1" spc="140" kern="0" dirty="0">
                <a:solidFill>
                  <a:srgbClr val="FFFFFF"/>
                </a:solidFill>
                <a:latin typeface="Trenda IG Display" pitchFamily="34" charset="0"/>
                <a:ea typeface="Trenda IG Display" pitchFamily="34" charset="-122"/>
                <a:cs typeface="Trenda IG Display" pitchFamily="34" charset="-120"/>
              </a:rPr>
              <a:t>GOVERNANCE CADENCE</a:t>
            </a:r>
            <a:endParaRPr lang="en-US" sz="1000" dirty="0"/>
          </a:p>
        </p:txBody>
      </p:sp>
      <p:sp>
        <p:nvSpPr>
          <p:cNvPr id="39" name="Text 37"/>
          <p:cNvSpPr txBox="1"/>
          <p:nvPr/>
        </p:nvSpPr>
        <p:spPr>
          <a:xfrm>
            <a:off x="6441948" y="4594860"/>
            <a:ext cx="777240" cy="219456"/>
          </a:xfrm>
          <a:prstGeom prst="rect">
            <a:avLst/>
          </a:prstGeom>
          <a:noFill/>
          <a:ln/>
        </p:spPr>
        <p:txBody>
          <a:bodyPr wrap="square" lIns="0" tIns="0" rIns="0" bIns="0" rtlCol="0" anchor="ctr"/>
          <a:lstStyle/>
          <a:p>
            <a:pPr indent="0" marL="0">
              <a:buNone/>
            </a:pPr>
            <a:r>
              <a:rPr lang="en-US" sz="850" b="1" dirty="0">
                <a:solidFill>
                  <a:srgbClr val="22D3EE"/>
                </a:solidFill>
                <a:latin typeface="Trenda IG Text" pitchFamily="34" charset="0"/>
                <a:ea typeface="Trenda IG Text" pitchFamily="34" charset="-122"/>
                <a:cs typeface="Trenda IG Text" pitchFamily="34" charset="-120"/>
              </a:rPr>
              <a:t>Daily</a:t>
            </a:r>
            <a:endParaRPr lang="en-US" sz="850" dirty="0"/>
          </a:p>
        </p:txBody>
      </p:sp>
      <p:sp>
        <p:nvSpPr>
          <p:cNvPr id="40" name="Text 38"/>
          <p:cNvSpPr txBox="1"/>
          <p:nvPr/>
        </p:nvSpPr>
        <p:spPr>
          <a:xfrm>
            <a:off x="7246620" y="4594860"/>
            <a:ext cx="3982212" cy="219456"/>
          </a:xfrm>
          <a:prstGeom prst="rect">
            <a:avLst/>
          </a:prstGeom>
          <a:noFill/>
          <a:ln/>
        </p:spPr>
        <p:txBody>
          <a:bodyPr wrap="square" lIns="0" tIns="0" rIns="0" bIns="0" rtlCol="0" anchor="ctr"/>
          <a:lstStyle/>
          <a:p>
            <a:pPr indent="0" marL="0">
              <a:buNone/>
            </a:pPr>
            <a:r>
              <a:rPr lang="en-US" sz="800" dirty="0">
                <a:solidFill>
                  <a:srgbClr val="8A94A6"/>
                </a:solidFill>
                <a:latin typeface="Trenda IG Text" pitchFamily="34" charset="0"/>
                <a:ea typeface="Trenda IG Text" pitchFamily="34" charset="-122"/>
                <a:cs typeface="Trenda IG Text" pitchFamily="34" charset="-120"/>
              </a:rPr>
              <a:t>Queue review at shift start, handover, SLA risk and aged case review, end of day closure report</a:t>
            </a:r>
            <a:endParaRPr lang="en-US" sz="800" dirty="0"/>
          </a:p>
        </p:txBody>
      </p:sp>
      <p:sp>
        <p:nvSpPr>
          <p:cNvPr id="41" name="Text 39"/>
          <p:cNvSpPr txBox="1"/>
          <p:nvPr/>
        </p:nvSpPr>
        <p:spPr>
          <a:xfrm>
            <a:off x="6441948" y="4832604"/>
            <a:ext cx="777240" cy="219456"/>
          </a:xfrm>
          <a:prstGeom prst="rect">
            <a:avLst/>
          </a:prstGeom>
          <a:noFill/>
          <a:ln/>
        </p:spPr>
        <p:txBody>
          <a:bodyPr wrap="square" lIns="0" tIns="0" rIns="0" bIns="0" rtlCol="0" anchor="ctr"/>
          <a:lstStyle/>
          <a:p>
            <a:pPr indent="0" marL="0">
              <a:buNone/>
            </a:pPr>
            <a:r>
              <a:rPr lang="en-US" sz="850" b="1" dirty="0">
                <a:solidFill>
                  <a:srgbClr val="22D3EE"/>
                </a:solidFill>
                <a:latin typeface="Trenda IG Text" pitchFamily="34" charset="0"/>
                <a:ea typeface="Trenda IG Text" pitchFamily="34" charset="-122"/>
                <a:cs typeface="Trenda IG Text" pitchFamily="34" charset="-120"/>
              </a:rPr>
              <a:t>Weekly</a:t>
            </a:r>
            <a:endParaRPr lang="en-US" sz="850" dirty="0"/>
          </a:p>
        </p:txBody>
      </p:sp>
      <p:sp>
        <p:nvSpPr>
          <p:cNvPr id="42" name="Text 40"/>
          <p:cNvSpPr txBox="1"/>
          <p:nvPr/>
        </p:nvSpPr>
        <p:spPr>
          <a:xfrm>
            <a:off x="7246620" y="4832604"/>
            <a:ext cx="3982212" cy="219456"/>
          </a:xfrm>
          <a:prstGeom prst="rect">
            <a:avLst/>
          </a:prstGeom>
          <a:noFill/>
          <a:ln/>
        </p:spPr>
        <p:txBody>
          <a:bodyPr wrap="square" lIns="0" tIns="0" rIns="0" bIns="0" rtlCol="0" anchor="ctr"/>
          <a:lstStyle/>
          <a:p>
            <a:pPr indent="0" marL="0">
              <a:buNone/>
            </a:pPr>
            <a:r>
              <a:rPr lang="en-US" sz="800" dirty="0">
                <a:solidFill>
                  <a:srgbClr val="8A94A6"/>
                </a:solidFill>
                <a:latin typeface="Trenda IG Text" pitchFamily="34" charset="0"/>
                <a:ea typeface="Trenda IG Text" pitchFamily="34" charset="-122"/>
                <a:cs typeface="Trenda IG Text" pitchFamily="34" charset="-120"/>
              </a:rPr>
              <a:t>Operations review, volume and backlog trends, quality calibration, knowledge gaps, automation candidates</a:t>
            </a:r>
            <a:endParaRPr lang="en-US" sz="800" dirty="0"/>
          </a:p>
        </p:txBody>
      </p:sp>
      <p:sp>
        <p:nvSpPr>
          <p:cNvPr id="43" name="Text 41"/>
          <p:cNvSpPr txBox="1"/>
          <p:nvPr/>
        </p:nvSpPr>
        <p:spPr>
          <a:xfrm>
            <a:off x="6441948" y="5070348"/>
            <a:ext cx="777240" cy="219456"/>
          </a:xfrm>
          <a:prstGeom prst="rect">
            <a:avLst/>
          </a:prstGeom>
          <a:noFill/>
          <a:ln/>
        </p:spPr>
        <p:txBody>
          <a:bodyPr wrap="square" lIns="0" tIns="0" rIns="0" bIns="0" rtlCol="0" anchor="ctr"/>
          <a:lstStyle/>
          <a:p>
            <a:pPr indent="0" marL="0">
              <a:buNone/>
            </a:pPr>
            <a:r>
              <a:rPr lang="en-US" sz="850" b="1" dirty="0">
                <a:solidFill>
                  <a:srgbClr val="22D3EE"/>
                </a:solidFill>
                <a:latin typeface="Trenda IG Text" pitchFamily="34" charset="0"/>
                <a:ea typeface="Trenda IG Text" pitchFamily="34" charset="-122"/>
                <a:cs typeface="Trenda IG Text" pitchFamily="34" charset="-120"/>
              </a:rPr>
              <a:t>Monthly</a:t>
            </a:r>
            <a:endParaRPr lang="en-US" sz="850" dirty="0"/>
          </a:p>
        </p:txBody>
      </p:sp>
      <p:sp>
        <p:nvSpPr>
          <p:cNvPr id="44" name="Text 42"/>
          <p:cNvSpPr txBox="1"/>
          <p:nvPr/>
        </p:nvSpPr>
        <p:spPr>
          <a:xfrm>
            <a:off x="7246620" y="5070348"/>
            <a:ext cx="3982212" cy="219456"/>
          </a:xfrm>
          <a:prstGeom prst="rect">
            <a:avLst/>
          </a:prstGeom>
          <a:noFill/>
          <a:ln/>
        </p:spPr>
        <p:txBody>
          <a:bodyPr wrap="square" lIns="0" tIns="0" rIns="0" bIns="0" rtlCol="0" anchor="ctr"/>
          <a:lstStyle/>
          <a:p>
            <a:pPr indent="0" marL="0">
              <a:buNone/>
            </a:pPr>
            <a:r>
              <a:rPr lang="en-US" sz="800" dirty="0">
                <a:solidFill>
                  <a:srgbClr val="8A94A6"/>
                </a:solidFill>
                <a:latin typeface="Trenda IG Text" pitchFamily="34" charset="0"/>
                <a:ea typeface="Trenda IG Text" pitchFamily="34" charset="-122"/>
                <a:cs typeface="Trenda IG Text" pitchFamily="34" charset="-120"/>
              </a:rPr>
              <a:t>Business review: SLA attainment, first pass resolution, reopens, QA, feedback, automation progress</a:t>
            </a:r>
            <a:endParaRPr lang="en-US" sz="800" dirty="0"/>
          </a:p>
        </p:txBody>
      </p:sp>
      <p:sp>
        <p:nvSpPr>
          <p:cNvPr id="45" name="Text 43"/>
          <p:cNvSpPr txBox="1"/>
          <p:nvPr/>
        </p:nvSpPr>
        <p:spPr>
          <a:xfrm>
            <a:off x="6441948" y="5308092"/>
            <a:ext cx="777240" cy="219456"/>
          </a:xfrm>
          <a:prstGeom prst="rect">
            <a:avLst/>
          </a:prstGeom>
          <a:noFill/>
          <a:ln/>
        </p:spPr>
        <p:txBody>
          <a:bodyPr wrap="square" lIns="0" tIns="0" rIns="0" bIns="0" rtlCol="0" anchor="ctr"/>
          <a:lstStyle/>
          <a:p>
            <a:pPr indent="0" marL="0">
              <a:buNone/>
            </a:pPr>
            <a:r>
              <a:rPr lang="en-US" sz="850" b="1" dirty="0">
                <a:solidFill>
                  <a:srgbClr val="22D3EE"/>
                </a:solidFill>
                <a:latin typeface="Trenda IG Text" pitchFamily="34" charset="0"/>
                <a:ea typeface="Trenda IG Text" pitchFamily="34" charset="-122"/>
                <a:cs typeface="Trenda IG Text" pitchFamily="34" charset="-120"/>
              </a:rPr>
              <a:t>Quarterly</a:t>
            </a:r>
            <a:endParaRPr lang="en-US" sz="850" dirty="0"/>
          </a:p>
        </p:txBody>
      </p:sp>
      <p:sp>
        <p:nvSpPr>
          <p:cNvPr id="46" name="Text 44"/>
          <p:cNvSpPr txBox="1"/>
          <p:nvPr/>
        </p:nvSpPr>
        <p:spPr>
          <a:xfrm>
            <a:off x="7246620" y="5308092"/>
            <a:ext cx="3982212" cy="219456"/>
          </a:xfrm>
          <a:prstGeom prst="rect">
            <a:avLst/>
          </a:prstGeom>
          <a:noFill/>
          <a:ln/>
        </p:spPr>
        <p:txBody>
          <a:bodyPr wrap="square" lIns="0" tIns="0" rIns="0" bIns="0" rtlCol="0" anchor="ctr"/>
          <a:lstStyle/>
          <a:p>
            <a:pPr indent="0" marL="0">
              <a:buNone/>
            </a:pPr>
            <a:r>
              <a:rPr lang="en-US" sz="800" dirty="0">
                <a:solidFill>
                  <a:srgbClr val="8A94A6"/>
                </a:solidFill>
                <a:latin typeface="Trenda IG Text" pitchFamily="34" charset="0"/>
                <a:ea typeface="Trenda IG Text" pitchFamily="34" charset="-122"/>
                <a:cs typeface="Trenda IG Text" pitchFamily="34" charset="-120"/>
              </a:rPr>
              <a:t>Strategic review: capacity and forecast, risks, customer experience trends, next quarter roadmap</a:t>
            </a:r>
            <a:endParaRPr lang="en-US" sz="800" dirty="0"/>
          </a:p>
        </p:txBody>
      </p:sp>
      <p:pic>
        <p:nvPicPr>
          <p:cNvPr id="47" name="Image 0" descr="assets/ig-mark.png">    </p:cNvPr>
          <p:cNvPicPr>
            <a:picLocks noChangeAspect="1"/>
          </p:cNvPicPr>
          <p:nvPr/>
        </p:nvPicPr>
        <p:blipFill>
          <a:blip r:embed="rId1"/>
          <a:stretch>
            <a:fillRect/>
          </a:stretch>
        </p:blipFill>
        <p:spPr>
          <a:xfrm>
            <a:off x="502920" y="6455664"/>
            <a:ext cx="420624" cy="144475"/>
          </a:xfrm>
          <a:prstGeom prst="rect">
            <a:avLst/>
          </a:prstGeom>
        </p:spPr>
      </p:pic>
      <p:sp>
        <p:nvSpPr>
          <p:cNvPr id="48" name="Text 45"/>
          <p:cNvSpPr txBox="1"/>
          <p:nvPr/>
        </p:nvSpPr>
        <p:spPr>
          <a:xfrm>
            <a:off x="11201400" y="6400800"/>
            <a:ext cx="484632" cy="237744"/>
          </a:xfrm>
          <a:prstGeom prst="rect">
            <a:avLst/>
          </a:prstGeom>
          <a:noFill/>
          <a:ln/>
        </p:spPr>
        <p:txBody>
          <a:bodyPr wrap="square" lIns="0" tIns="0" rIns="0" bIns="0" rtlCol="0" anchor="ctr"/>
          <a:lstStyle/>
          <a:p>
            <a:pPr algn="r" indent="0" marL="0">
              <a:buNone/>
            </a:pPr>
            <a:r>
              <a:rPr lang="en-US" sz="850" dirty="0">
                <a:solidFill>
                  <a:srgbClr val="8A94A6"/>
                </a:solidFill>
                <a:latin typeface="Trenda IG Text" pitchFamily="34" charset="0"/>
                <a:ea typeface="Trenda IG Text" pitchFamily="34" charset="-122"/>
                <a:cs typeface="Trenda IG Text" pitchFamily="34" charset="-120"/>
              </a:rPr>
              <a:t>19</a:t>
            </a:r>
            <a:endParaRPr lang="en-US" sz="850" dirty="0"/>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name="Slide 21">
    <p:bg>
      <p:bgPr>
        <a:solidFill>
          <a:srgbClr val="0A0D14"/>
        </a:solidFill>
      </p:bgPr>
    </p:bg>
    <p:spTree>
      <p:nvGrpSpPr>
        <p:cNvPr id="1" name=""/>
        <p:cNvGrpSpPr/>
        <p:nvPr/>
      </p:nvGrpSpPr>
      <p:grpSpPr>
        <a:xfrm>
          <a:off x="0" y="0"/>
          <a:ext cx="0" cy="0"/>
          <a:chOff x="0" y="0"/>
          <a:chExt cx="0" cy="0"/>
        </a:xfrm>
      </p:grpSpPr>
      <p:sp>
        <p:nvSpPr>
          <p:cNvPr id="2" name="Text 0"/>
          <p:cNvSpPr txBox="1"/>
          <p:nvPr/>
        </p:nvSpPr>
        <p:spPr>
          <a:xfrm>
            <a:off x="502920" y="384048"/>
            <a:ext cx="11183112" cy="219456"/>
          </a:xfrm>
          <a:prstGeom prst="rect">
            <a:avLst/>
          </a:prstGeom>
          <a:noFill/>
          <a:ln/>
        </p:spPr>
        <p:txBody>
          <a:bodyPr wrap="square" lIns="0" tIns="0" rIns="0" bIns="0" rtlCol="0" anchor="ctr"/>
          <a:lstStyle/>
          <a:p>
            <a:pPr indent="0" marL="0">
              <a:buNone/>
            </a:pPr>
            <a:r>
              <a:rPr lang="en-US" sz="1000" b="1" spc="220" kern="0" dirty="0">
                <a:solidFill>
                  <a:srgbClr val="22D3EE"/>
                </a:solidFill>
                <a:latin typeface="Trenda IG Display" pitchFamily="34" charset="0"/>
                <a:ea typeface="Trenda IG Display" pitchFamily="34" charset="-122"/>
                <a:cs typeface="Trenda IG Display" pitchFamily="34" charset="-120"/>
              </a:rPr>
              <a:t>BUSINESS VALUE  |  01</a:t>
            </a:r>
            <a:endParaRPr lang="en-US" sz="1000" dirty="0"/>
          </a:p>
        </p:txBody>
      </p:sp>
      <p:sp>
        <p:nvSpPr>
          <p:cNvPr id="3" name="Text 1"/>
          <p:cNvSpPr txBox="1"/>
          <p:nvPr/>
        </p:nvSpPr>
        <p:spPr>
          <a:xfrm>
            <a:off x="502920" y="658368"/>
            <a:ext cx="11183112" cy="416052"/>
          </a:xfrm>
          <a:prstGeom prst="rect">
            <a:avLst/>
          </a:prstGeom>
          <a:noFill/>
          <a:ln/>
        </p:spPr>
        <p:txBody>
          <a:bodyPr wrap="square" lIns="0" tIns="0" rIns="0" bIns="0" rtlCol="0" anchor="ctr"/>
          <a:lstStyle/>
          <a:p>
            <a:pPr indent="0" marL="0">
              <a:lnSpc>
                <a:spcPts val="3016"/>
              </a:lnSpc>
              <a:buNone/>
            </a:pPr>
            <a:r>
              <a:rPr lang="en-US" sz="2600" b="1" spc="40" kern="0" dirty="0">
                <a:solidFill>
                  <a:srgbClr val="FFFFFF"/>
                </a:solidFill>
                <a:latin typeface="Trenda IG Display" pitchFamily="34" charset="0"/>
                <a:ea typeface="Trenda IG Display" pitchFamily="34" charset="-122"/>
                <a:cs typeface="Trenda IG Display" pitchFamily="34" charset="-120"/>
              </a:rPr>
              <a:t>WHERE THE MINUTES ACTUALLY COME FROM</a:t>
            </a:r>
            <a:endParaRPr lang="en-US" sz="2600" dirty="0"/>
          </a:p>
        </p:txBody>
      </p:sp>
      <p:sp>
        <p:nvSpPr>
          <p:cNvPr id="4" name="Text 2"/>
          <p:cNvSpPr txBox="1"/>
          <p:nvPr/>
        </p:nvSpPr>
        <p:spPr>
          <a:xfrm>
            <a:off x="502920" y="1156716"/>
            <a:ext cx="11183112" cy="384048"/>
          </a:xfrm>
          <a:prstGeom prst="rect">
            <a:avLst/>
          </a:prstGeom>
          <a:noFill/>
          <a:ln/>
        </p:spPr>
        <p:txBody>
          <a:bodyPr wrap="square" lIns="0" tIns="0" rIns="0" bIns="0" rtlCol="0" anchor="t"/>
          <a:lstStyle/>
          <a:p>
            <a:pPr indent="0" marL="0">
              <a:lnSpc>
                <a:spcPts val="1500"/>
              </a:lnSpc>
              <a:buNone/>
            </a:pPr>
            <a:r>
              <a:rPr lang="en-US" sz="1150" dirty="0">
                <a:solidFill>
                  <a:srgbClr val="8A94A6"/>
                </a:solidFill>
                <a:latin typeface="Trenda IG Text" pitchFamily="34" charset="0"/>
                <a:ea typeface="Trenda IG Text" pitchFamily="34" charset="-122"/>
                <a:cs typeface="Trenda IG Text" pitchFamily="34" charset="-120"/>
              </a:rPr>
              <a:t>Handling time is not reduced by asking agents to work faster. It is reduced by removing steps that do not need a person, and shortening the ones that do.</a:t>
            </a:r>
            <a:endParaRPr lang="en-US" sz="1150" dirty="0"/>
          </a:p>
        </p:txBody>
      </p:sp>
      <p:graphicFrame>
        <p:nvGraphicFramePr>
          <p:cNvPr id="22" name="Table 0"/>
          <p:cNvGraphicFramePr>
            <a:graphicFrameLocks noGrp="1"/>
          </p:cNvGraphicFramePr>
          <p:nvPr>
            <p:extLst>
              <p:ext uri="{D42A27DB-BD31-4B8C-83A1-F6EECF244321}">
                <p14:modId xmlns:p14="http://schemas.microsoft.com/office/powerpoint/2010/main" val="1579011935"/>
              </p:ext>
            </p:extLst>
          </p:nvPr>
        </p:nvGraphicFramePr>
        <p:xfrm>
          <a:off x="502920" y="1796796"/>
          <a:ext cx="11183112" cy="914400"/>
        </p:xfrm>
        <a:graphic>
          <a:graphicData uri="http://schemas.openxmlformats.org/drawingml/2006/table">
            <a:tbl>
              <a:tblPr/>
              <a:tblGrid>
                <a:gridCol w="3337560"/>
                <a:gridCol w="1143000"/>
                <a:gridCol w="1234440"/>
                <a:gridCol w="1143000"/>
                <a:gridCol w="4325112"/>
              </a:tblGrid>
              <a:tr h="384048">
                <a:tc>
                  <a:txBody>
                    <a:bodyPr/>
                    <a:lstStyle/>
                    <a:p>
                      <a:pPr indent="0" marL="0">
                        <a:buNone/>
                      </a:pPr>
                      <a:r>
                        <a:rPr lang="en-US" sz="850" b="1" spc="100" kern="0" dirty="0">
                          <a:solidFill>
                            <a:srgbClr val="22D3EE"/>
                          </a:solidFill>
                          <a:latin typeface="Trenda IG Text" pitchFamily="34" charset="0"/>
                          <a:ea typeface="Trenda IG Text" pitchFamily="34" charset="-122"/>
                          <a:cs typeface="Trenda IG Text" pitchFamily="34" charset="-120"/>
                        </a:rPr>
                        <a:t>Step in handling a case</a:t>
                      </a:r>
                      <a:endParaRPr lang="en-US" sz="850" dirty="0">
                        <a:latin typeface="Trenda IG Text" charset="0"/>
                        <a:ea typeface="Trenda IG Text" charset="0"/>
                        <a:cs typeface="Trenda IG Text" charset="0"/>
                      </a:endParaRPr>
                    </a:p>
                  </a:txBody>
                  <a:tcPr marL="88900" marR="88900" marT="50800" marB="50800" anchor="ctr">
                    <a:lnL w="12700" cap="flat" cmpd="sng" algn="ctr">
                      <a:solidFill>
                        <a:srgbClr val="252D3D"/>
                      </a:solidFill>
                      <a:prstDash val="solid"/>
                      <a:round/>
                      <a:headEnd type="none" w="med" len="med"/>
                      <a:tailEnd type="none" w="med" len="med"/>
                    </a:lnL>
                    <a:lnR w="12700" cap="flat" cmpd="sng" algn="ctr">
                      <a:solidFill>
                        <a:srgbClr val="252D3D"/>
                      </a:solidFill>
                      <a:prstDash val="solid"/>
                      <a:round/>
                      <a:headEnd type="none" w="med" len="med"/>
                      <a:tailEnd type="none" w="med" len="med"/>
                    </a:lnR>
                    <a:lnT w="12700" cap="flat" cmpd="sng" algn="ctr">
                      <a:solidFill>
                        <a:srgbClr val="252D3D"/>
                      </a:solidFill>
                      <a:prstDash val="solid"/>
                      <a:round/>
                      <a:headEnd type="none" w="med" len="med"/>
                      <a:tailEnd type="none" w="med" len="med"/>
                    </a:lnT>
                    <a:lnB w="12700" cap="flat" cmpd="sng" algn="ctr">
                      <a:solidFill>
                        <a:srgbClr val="252D3D"/>
                      </a:solidFill>
                      <a:prstDash val="solid"/>
                      <a:round/>
                      <a:headEnd type="none" w="med" len="med"/>
                      <a:tailEnd type="none" w="med" len="med"/>
                    </a:lnB>
                    <a:solidFill>
                      <a:srgbClr val="1A2130"/>
                    </a:solidFill>
                  </a:tcPr>
                </a:tc>
                <a:tc>
                  <a:txBody>
                    <a:bodyPr/>
                    <a:lstStyle/>
                    <a:p>
                      <a:pPr indent="0" marL="0">
                        <a:buNone/>
                      </a:pPr>
                      <a:r>
                        <a:rPr lang="en-US" sz="850" b="1" spc="100" kern="0" dirty="0">
                          <a:solidFill>
                            <a:srgbClr val="22D3EE"/>
                          </a:solidFill>
                          <a:latin typeface="Trenda IG Text" pitchFamily="34" charset="0"/>
                          <a:ea typeface="Trenda IG Text" pitchFamily="34" charset="-122"/>
                          <a:cs typeface="Trenda IG Text" pitchFamily="34" charset="-120"/>
                        </a:rPr>
                        <a:t>Today</a:t>
                      </a:r>
                      <a:endParaRPr lang="en-US" sz="850" dirty="0">
                        <a:latin typeface="Trenda IG Text" charset="0"/>
                        <a:ea typeface="Trenda IG Text" charset="0"/>
                        <a:cs typeface="Trenda IG Text" charset="0"/>
                      </a:endParaRPr>
                    </a:p>
                  </a:txBody>
                  <a:tcPr marL="88900" marR="88900" marT="50800" marB="50800" anchor="ctr">
                    <a:lnL w="12700" cap="flat" cmpd="sng" algn="ctr">
                      <a:solidFill>
                        <a:srgbClr val="252D3D"/>
                      </a:solidFill>
                      <a:prstDash val="solid"/>
                      <a:round/>
                      <a:headEnd type="none" w="med" len="med"/>
                      <a:tailEnd type="none" w="med" len="med"/>
                    </a:lnL>
                    <a:lnR w="12700" cap="flat" cmpd="sng" algn="ctr">
                      <a:solidFill>
                        <a:srgbClr val="252D3D"/>
                      </a:solidFill>
                      <a:prstDash val="solid"/>
                      <a:round/>
                      <a:headEnd type="none" w="med" len="med"/>
                      <a:tailEnd type="none" w="med" len="med"/>
                    </a:lnR>
                    <a:lnT w="12700" cap="flat" cmpd="sng" algn="ctr">
                      <a:solidFill>
                        <a:srgbClr val="252D3D"/>
                      </a:solidFill>
                      <a:prstDash val="solid"/>
                      <a:round/>
                      <a:headEnd type="none" w="med" len="med"/>
                      <a:tailEnd type="none" w="med" len="med"/>
                    </a:lnT>
                    <a:lnB w="12700" cap="flat" cmpd="sng" algn="ctr">
                      <a:solidFill>
                        <a:srgbClr val="252D3D"/>
                      </a:solidFill>
                      <a:prstDash val="solid"/>
                      <a:round/>
                      <a:headEnd type="none" w="med" len="med"/>
                      <a:tailEnd type="none" w="med" len="med"/>
                    </a:lnB>
                    <a:solidFill>
                      <a:srgbClr val="1A2130"/>
                    </a:solidFill>
                  </a:tcPr>
                </a:tc>
                <a:tc>
                  <a:txBody>
                    <a:bodyPr/>
                    <a:lstStyle/>
                    <a:p>
                      <a:pPr indent="0" marL="0">
                        <a:buNone/>
                      </a:pPr>
                      <a:r>
                        <a:rPr lang="en-US" sz="850" b="1" spc="100" kern="0" dirty="0">
                          <a:solidFill>
                            <a:srgbClr val="22D3EE"/>
                          </a:solidFill>
                          <a:latin typeface="Trenda IG Text" pitchFamily="34" charset="0"/>
                          <a:ea typeface="Trenda IG Text" pitchFamily="34" charset="-122"/>
                          <a:cs typeface="Trenda IG Text" pitchFamily="34" charset="-120"/>
                        </a:rPr>
                        <a:t>Modelled</a:t>
                      </a:r>
                      <a:endParaRPr lang="en-US" sz="850" dirty="0">
                        <a:latin typeface="Trenda IG Text" charset="0"/>
                        <a:ea typeface="Trenda IG Text" charset="0"/>
                        <a:cs typeface="Trenda IG Text" charset="0"/>
                      </a:endParaRPr>
                    </a:p>
                  </a:txBody>
                  <a:tcPr marL="88900" marR="88900" marT="50800" marB="50800" anchor="ctr">
                    <a:lnL w="12700" cap="flat" cmpd="sng" algn="ctr">
                      <a:solidFill>
                        <a:srgbClr val="252D3D"/>
                      </a:solidFill>
                      <a:prstDash val="solid"/>
                      <a:round/>
                      <a:headEnd type="none" w="med" len="med"/>
                      <a:tailEnd type="none" w="med" len="med"/>
                    </a:lnL>
                    <a:lnR w="12700" cap="flat" cmpd="sng" algn="ctr">
                      <a:solidFill>
                        <a:srgbClr val="252D3D"/>
                      </a:solidFill>
                      <a:prstDash val="solid"/>
                      <a:round/>
                      <a:headEnd type="none" w="med" len="med"/>
                      <a:tailEnd type="none" w="med" len="med"/>
                    </a:lnR>
                    <a:lnT w="12700" cap="flat" cmpd="sng" algn="ctr">
                      <a:solidFill>
                        <a:srgbClr val="252D3D"/>
                      </a:solidFill>
                      <a:prstDash val="solid"/>
                      <a:round/>
                      <a:headEnd type="none" w="med" len="med"/>
                      <a:tailEnd type="none" w="med" len="med"/>
                    </a:lnT>
                    <a:lnB w="12700" cap="flat" cmpd="sng" algn="ctr">
                      <a:solidFill>
                        <a:srgbClr val="252D3D"/>
                      </a:solidFill>
                      <a:prstDash val="solid"/>
                      <a:round/>
                      <a:headEnd type="none" w="med" len="med"/>
                      <a:tailEnd type="none" w="med" len="med"/>
                    </a:lnB>
                    <a:solidFill>
                      <a:srgbClr val="1A2130"/>
                    </a:solidFill>
                  </a:tcPr>
                </a:tc>
                <a:tc>
                  <a:txBody>
                    <a:bodyPr/>
                    <a:lstStyle/>
                    <a:p>
                      <a:pPr indent="0" marL="0">
                        <a:buNone/>
                      </a:pPr>
                      <a:r>
                        <a:rPr lang="en-US" sz="850" b="1" spc="100" kern="0" dirty="0">
                          <a:solidFill>
                            <a:srgbClr val="22D3EE"/>
                          </a:solidFill>
                          <a:latin typeface="Trenda IG Text" pitchFamily="34" charset="0"/>
                          <a:ea typeface="Trenda IG Text" pitchFamily="34" charset="-122"/>
                          <a:cs typeface="Trenda IG Text" pitchFamily="34" charset="-120"/>
                        </a:rPr>
                        <a:t>Saved</a:t>
                      </a:r>
                      <a:endParaRPr lang="en-US" sz="850" dirty="0">
                        <a:latin typeface="Trenda IG Text" charset="0"/>
                        <a:ea typeface="Trenda IG Text" charset="0"/>
                        <a:cs typeface="Trenda IG Text" charset="0"/>
                      </a:endParaRPr>
                    </a:p>
                  </a:txBody>
                  <a:tcPr marL="88900" marR="88900" marT="50800" marB="50800" anchor="ctr">
                    <a:lnL w="12700" cap="flat" cmpd="sng" algn="ctr">
                      <a:solidFill>
                        <a:srgbClr val="252D3D"/>
                      </a:solidFill>
                      <a:prstDash val="solid"/>
                      <a:round/>
                      <a:headEnd type="none" w="med" len="med"/>
                      <a:tailEnd type="none" w="med" len="med"/>
                    </a:lnL>
                    <a:lnR w="12700" cap="flat" cmpd="sng" algn="ctr">
                      <a:solidFill>
                        <a:srgbClr val="252D3D"/>
                      </a:solidFill>
                      <a:prstDash val="solid"/>
                      <a:round/>
                      <a:headEnd type="none" w="med" len="med"/>
                      <a:tailEnd type="none" w="med" len="med"/>
                    </a:lnR>
                    <a:lnT w="12700" cap="flat" cmpd="sng" algn="ctr">
                      <a:solidFill>
                        <a:srgbClr val="252D3D"/>
                      </a:solidFill>
                      <a:prstDash val="solid"/>
                      <a:round/>
                      <a:headEnd type="none" w="med" len="med"/>
                      <a:tailEnd type="none" w="med" len="med"/>
                    </a:lnT>
                    <a:lnB w="12700" cap="flat" cmpd="sng" algn="ctr">
                      <a:solidFill>
                        <a:srgbClr val="252D3D"/>
                      </a:solidFill>
                      <a:prstDash val="solid"/>
                      <a:round/>
                      <a:headEnd type="none" w="med" len="med"/>
                      <a:tailEnd type="none" w="med" len="med"/>
                    </a:lnB>
                    <a:solidFill>
                      <a:srgbClr val="1A2130"/>
                    </a:solidFill>
                  </a:tcPr>
                </a:tc>
                <a:tc>
                  <a:txBody>
                    <a:bodyPr/>
                    <a:lstStyle/>
                    <a:p>
                      <a:pPr indent="0" marL="0">
                        <a:buNone/>
                      </a:pPr>
                      <a:r>
                        <a:rPr lang="en-US" sz="850" b="1" spc="100" kern="0" dirty="0">
                          <a:solidFill>
                            <a:srgbClr val="22D3EE"/>
                          </a:solidFill>
                          <a:latin typeface="Trenda IG Text" pitchFamily="34" charset="0"/>
                          <a:ea typeface="Trenda IG Text" pitchFamily="34" charset="-122"/>
                          <a:cs typeface="Trenda IG Text" pitchFamily="34" charset="-120"/>
                        </a:rPr>
                        <a:t>What removes the time</a:t>
                      </a:r>
                      <a:endParaRPr lang="en-US" sz="850" dirty="0">
                        <a:latin typeface="Trenda IG Text" charset="0"/>
                        <a:ea typeface="Trenda IG Text" charset="0"/>
                        <a:cs typeface="Trenda IG Text" charset="0"/>
                      </a:endParaRPr>
                    </a:p>
                  </a:txBody>
                  <a:tcPr marL="88900" marR="88900" marT="50800" marB="50800" anchor="ctr">
                    <a:lnL w="12700" cap="flat" cmpd="sng" algn="ctr">
                      <a:solidFill>
                        <a:srgbClr val="252D3D"/>
                      </a:solidFill>
                      <a:prstDash val="solid"/>
                      <a:round/>
                      <a:headEnd type="none" w="med" len="med"/>
                      <a:tailEnd type="none" w="med" len="med"/>
                    </a:lnL>
                    <a:lnR w="12700" cap="flat" cmpd="sng" algn="ctr">
                      <a:solidFill>
                        <a:srgbClr val="252D3D"/>
                      </a:solidFill>
                      <a:prstDash val="solid"/>
                      <a:round/>
                      <a:headEnd type="none" w="med" len="med"/>
                      <a:tailEnd type="none" w="med" len="med"/>
                    </a:lnR>
                    <a:lnT w="12700" cap="flat" cmpd="sng" algn="ctr">
                      <a:solidFill>
                        <a:srgbClr val="252D3D"/>
                      </a:solidFill>
                      <a:prstDash val="solid"/>
                      <a:round/>
                      <a:headEnd type="none" w="med" len="med"/>
                      <a:tailEnd type="none" w="med" len="med"/>
                    </a:lnT>
                    <a:lnB w="12700" cap="flat" cmpd="sng" algn="ctr">
                      <a:solidFill>
                        <a:srgbClr val="252D3D"/>
                      </a:solidFill>
                      <a:prstDash val="solid"/>
                      <a:round/>
                      <a:headEnd type="none" w="med" len="med"/>
                      <a:tailEnd type="none" w="med" len="med"/>
                    </a:lnB>
                    <a:solidFill>
                      <a:srgbClr val="1A2130"/>
                    </a:solidFill>
                  </a:tcPr>
                </a:tc>
              </a:tr>
              <a:tr h="384048">
                <a:tc>
                  <a:txBody>
                    <a:bodyPr/>
                    <a:lstStyle/>
                    <a:p>
                      <a:pPr indent="0" marL="0">
                        <a:buNone/>
                      </a:pPr>
                      <a:r>
                        <a:rPr lang="en-US" sz="900" dirty="0">
                          <a:solidFill>
                            <a:srgbClr val="E6EAF2"/>
                          </a:solidFill>
                          <a:latin typeface="Trenda IG Text" pitchFamily="34" charset="0"/>
                          <a:ea typeface="Trenda IG Text" pitchFamily="34" charset="-122"/>
                          <a:cs typeface="Trenda IG Text" pitchFamily="34" charset="-120"/>
                        </a:rPr>
                        <a:t>Read and comprehend the thread</a:t>
                      </a:r>
                      <a:endParaRPr lang="en-US" sz="900" dirty="0">
                        <a:latin typeface="Trenda IG Text" charset="0"/>
                        <a:ea typeface="Trenda IG Text" charset="0"/>
                        <a:cs typeface="Trenda IG Text" charset="0"/>
                      </a:endParaRPr>
                    </a:p>
                  </a:txBody>
                  <a:tcPr marL="88900" marR="88900" marT="50800" marB="50800" anchor="ctr">
                    <a:lnL w="12700" cap="flat" cmpd="sng" algn="ctr">
                      <a:solidFill>
                        <a:srgbClr val="252D3D"/>
                      </a:solidFill>
                      <a:prstDash val="solid"/>
                      <a:round/>
                      <a:headEnd type="none" w="med" len="med"/>
                      <a:tailEnd type="none" w="med" len="med"/>
                    </a:lnL>
                    <a:lnR w="12700" cap="flat" cmpd="sng" algn="ctr">
                      <a:solidFill>
                        <a:srgbClr val="252D3D"/>
                      </a:solidFill>
                      <a:prstDash val="solid"/>
                      <a:round/>
                      <a:headEnd type="none" w="med" len="med"/>
                      <a:tailEnd type="none" w="med" len="med"/>
                    </a:lnR>
                    <a:lnT w="12700" cap="flat" cmpd="sng" algn="ctr">
                      <a:solidFill>
                        <a:srgbClr val="252D3D"/>
                      </a:solidFill>
                      <a:prstDash val="solid"/>
                      <a:round/>
                      <a:headEnd type="none" w="med" len="med"/>
                      <a:tailEnd type="none" w="med" len="med"/>
                    </a:lnT>
                    <a:lnB w="12700" cap="flat" cmpd="sng" algn="ctr">
                      <a:solidFill>
                        <a:srgbClr val="252D3D"/>
                      </a:solidFill>
                      <a:prstDash val="solid"/>
                      <a:round/>
                      <a:headEnd type="none" w="med" len="med"/>
                      <a:tailEnd type="none" w="med" len="med"/>
                    </a:lnB>
                    <a:solidFill>
                      <a:srgbClr val="151A24"/>
                    </a:solidFill>
                  </a:tcPr>
                </a:tc>
                <a:tc>
                  <a:txBody>
                    <a:bodyPr/>
                    <a:lstStyle/>
                    <a:p>
                      <a:pPr algn="ctr" indent="0" marL="0">
                        <a:buNone/>
                      </a:pPr>
                      <a:r>
                        <a:rPr lang="en-US" sz="900" dirty="0">
                          <a:solidFill>
                            <a:srgbClr val="8A94A6"/>
                          </a:solidFill>
                          <a:latin typeface="Trenda IG Text" pitchFamily="34" charset="0"/>
                          <a:ea typeface="Trenda IG Text" pitchFamily="34" charset="-122"/>
                          <a:cs typeface="Trenda IG Text" pitchFamily="34" charset="-120"/>
                        </a:rPr>
                        <a:t>1:15</a:t>
                      </a:r>
                      <a:endParaRPr lang="en-US" sz="900" dirty="0">
                        <a:latin typeface="Trenda IG Text" charset="0"/>
                        <a:ea typeface="Trenda IG Text" charset="0"/>
                        <a:cs typeface="Trenda IG Text" charset="0"/>
                      </a:endParaRPr>
                    </a:p>
                  </a:txBody>
                  <a:tcPr marL="88900" marR="88900" marT="50800" marB="50800" anchor="ctr">
                    <a:lnL w="12700" cap="flat" cmpd="sng" algn="ctr">
                      <a:solidFill>
                        <a:srgbClr val="252D3D"/>
                      </a:solidFill>
                      <a:prstDash val="solid"/>
                      <a:round/>
                      <a:headEnd type="none" w="med" len="med"/>
                      <a:tailEnd type="none" w="med" len="med"/>
                    </a:lnL>
                    <a:lnR w="12700" cap="flat" cmpd="sng" algn="ctr">
                      <a:solidFill>
                        <a:srgbClr val="252D3D"/>
                      </a:solidFill>
                      <a:prstDash val="solid"/>
                      <a:round/>
                      <a:headEnd type="none" w="med" len="med"/>
                      <a:tailEnd type="none" w="med" len="med"/>
                    </a:lnR>
                    <a:lnT w="12700" cap="flat" cmpd="sng" algn="ctr">
                      <a:solidFill>
                        <a:srgbClr val="252D3D"/>
                      </a:solidFill>
                      <a:prstDash val="solid"/>
                      <a:round/>
                      <a:headEnd type="none" w="med" len="med"/>
                      <a:tailEnd type="none" w="med" len="med"/>
                    </a:lnT>
                    <a:lnB w="12700" cap="flat" cmpd="sng" algn="ctr">
                      <a:solidFill>
                        <a:srgbClr val="252D3D"/>
                      </a:solidFill>
                      <a:prstDash val="solid"/>
                      <a:round/>
                      <a:headEnd type="none" w="med" len="med"/>
                      <a:tailEnd type="none" w="med" len="med"/>
                    </a:lnB>
                    <a:solidFill>
                      <a:srgbClr val="151A24"/>
                    </a:solidFill>
                  </a:tcPr>
                </a:tc>
                <a:tc>
                  <a:txBody>
                    <a:bodyPr/>
                    <a:lstStyle/>
                    <a:p>
                      <a:pPr algn="ctr" indent="0" marL="0">
                        <a:buNone/>
                      </a:pPr>
                      <a:r>
                        <a:rPr lang="en-US" sz="900" b="1" dirty="0">
                          <a:solidFill>
                            <a:srgbClr val="FFFFFF"/>
                          </a:solidFill>
                          <a:latin typeface="Trenda IG Text" pitchFamily="34" charset="0"/>
                          <a:ea typeface="Trenda IG Text" pitchFamily="34" charset="-122"/>
                          <a:cs typeface="Trenda IG Text" pitchFamily="34" charset="-120"/>
                        </a:rPr>
                        <a:t>0:45</a:t>
                      </a:r>
                      <a:endParaRPr lang="en-US" sz="900" dirty="0">
                        <a:latin typeface="Trenda IG Text" charset="0"/>
                        <a:ea typeface="Trenda IG Text" charset="0"/>
                        <a:cs typeface="Trenda IG Text" charset="0"/>
                      </a:endParaRPr>
                    </a:p>
                  </a:txBody>
                  <a:tcPr marL="88900" marR="88900" marT="50800" marB="50800" anchor="ctr">
                    <a:lnL w="12700" cap="flat" cmpd="sng" algn="ctr">
                      <a:solidFill>
                        <a:srgbClr val="252D3D"/>
                      </a:solidFill>
                      <a:prstDash val="solid"/>
                      <a:round/>
                      <a:headEnd type="none" w="med" len="med"/>
                      <a:tailEnd type="none" w="med" len="med"/>
                    </a:lnL>
                    <a:lnR w="12700" cap="flat" cmpd="sng" algn="ctr">
                      <a:solidFill>
                        <a:srgbClr val="252D3D"/>
                      </a:solidFill>
                      <a:prstDash val="solid"/>
                      <a:round/>
                      <a:headEnd type="none" w="med" len="med"/>
                      <a:tailEnd type="none" w="med" len="med"/>
                    </a:lnR>
                    <a:lnT w="12700" cap="flat" cmpd="sng" algn="ctr">
                      <a:solidFill>
                        <a:srgbClr val="252D3D"/>
                      </a:solidFill>
                      <a:prstDash val="solid"/>
                      <a:round/>
                      <a:headEnd type="none" w="med" len="med"/>
                      <a:tailEnd type="none" w="med" len="med"/>
                    </a:lnT>
                    <a:lnB w="12700" cap="flat" cmpd="sng" algn="ctr">
                      <a:solidFill>
                        <a:srgbClr val="252D3D"/>
                      </a:solidFill>
                      <a:prstDash val="solid"/>
                      <a:round/>
                      <a:headEnd type="none" w="med" len="med"/>
                      <a:tailEnd type="none" w="med" len="med"/>
                    </a:lnB>
                    <a:solidFill>
                      <a:srgbClr val="151A24"/>
                    </a:solidFill>
                  </a:tcPr>
                </a:tc>
                <a:tc>
                  <a:txBody>
                    <a:bodyPr/>
                    <a:lstStyle/>
                    <a:p>
                      <a:pPr algn="ctr" indent="0" marL="0">
                        <a:buNone/>
                      </a:pPr>
                      <a:r>
                        <a:rPr lang="en-US" sz="900" b="1" dirty="0">
                          <a:solidFill>
                            <a:srgbClr val="22C55E"/>
                          </a:solidFill>
                          <a:latin typeface="Trenda IG Text" pitchFamily="34" charset="0"/>
                          <a:ea typeface="Trenda IG Text" pitchFamily="34" charset="-122"/>
                          <a:cs typeface="Trenda IG Text" pitchFamily="34" charset="-120"/>
                        </a:rPr>
                        <a:t>0:30</a:t>
                      </a:r>
                      <a:endParaRPr lang="en-US" sz="900" dirty="0">
                        <a:latin typeface="Trenda IG Text" charset="0"/>
                        <a:ea typeface="Trenda IG Text" charset="0"/>
                        <a:cs typeface="Trenda IG Text" charset="0"/>
                      </a:endParaRPr>
                    </a:p>
                  </a:txBody>
                  <a:tcPr marL="88900" marR="88900" marT="50800" marB="50800" anchor="ctr">
                    <a:lnL w="12700" cap="flat" cmpd="sng" algn="ctr">
                      <a:solidFill>
                        <a:srgbClr val="252D3D"/>
                      </a:solidFill>
                      <a:prstDash val="solid"/>
                      <a:round/>
                      <a:headEnd type="none" w="med" len="med"/>
                      <a:tailEnd type="none" w="med" len="med"/>
                    </a:lnL>
                    <a:lnR w="12700" cap="flat" cmpd="sng" algn="ctr">
                      <a:solidFill>
                        <a:srgbClr val="252D3D"/>
                      </a:solidFill>
                      <a:prstDash val="solid"/>
                      <a:round/>
                      <a:headEnd type="none" w="med" len="med"/>
                      <a:tailEnd type="none" w="med" len="med"/>
                    </a:lnR>
                    <a:lnT w="12700" cap="flat" cmpd="sng" algn="ctr">
                      <a:solidFill>
                        <a:srgbClr val="252D3D"/>
                      </a:solidFill>
                      <a:prstDash val="solid"/>
                      <a:round/>
                      <a:headEnd type="none" w="med" len="med"/>
                      <a:tailEnd type="none" w="med" len="med"/>
                    </a:lnT>
                    <a:lnB w="12700" cap="flat" cmpd="sng" algn="ctr">
                      <a:solidFill>
                        <a:srgbClr val="252D3D"/>
                      </a:solidFill>
                      <a:prstDash val="solid"/>
                      <a:round/>
                      <a:headEnd type="none" w="med" len="med"/>
                      <a:tailEnd type="none" w="med" len="med"/>
                    </a:lnB>
                    <a:solidFill>
                      <a:srgbClr val="151A24"/>
                    </a:solidFill>
                  </a:tcPr>
                </a:tc>
                <a:tc>
                  <a:txBody>
                    <a:bodyPr/>
                    <a:lstStyle/>
                    <a:p>
                      <a:pPr indent="0" marL="0">
                        <a:buNone/>
                      </a:pPr>
                      <a:r>
                        <a:rPr lang="en-US" sz="850" dirty="0">
                          <a:solidFill>
                            <a:srgbClr val="8A94A6"/>
                          </a:solidFill>
                          <a:latin typeface="Trenda IG Text" pitchFamily="34" charset="0"/>
                          <a:ea typeface="Trenda IG Text" pitchFamily="34" charset="-122"/>
                          <a:cs typeface="Trenda IG Text" pitchFamily="34" charset="-120"/>
                        </a:rPr>
                        <a:t>A factual summary is on the case before the agent opens it</a:t>
                      </a:r>
                      <a:endParaRPr lang="en-US" sz="850" dirty="0">
                        <a:latin typeface="Trenda IG Text" charset="0"/>
                        <a:ea typeface="Trenda IG Text" charset="0"/>
                        <a:cs typeface="Trenda IG Text" charset="0"/>
                      </a:endParaRPr>
                    </a:p>
                  </a:txBody>
                  <a:tcPr marL="88900" marR="88900" marT="50800" marB="50800" anchor="ctr">
                    <a:lnL w="12700" cap="flat" cmpd="sng" algn="ctr">
                      <a:solidFill>
                        <a:srgbClr val="252D3D"/>
                      </a:solidFill>
                      <a:prstDash val="solid"/>
                      <a:round/>
                      <a:headEnd type="none" w="med" len="med"/>
                      <a:tailEnd type="none" w="med" len="med"/>
                    </a:lnL>
                    <a:lnR w="12700" cap="flat" cmpd="sng" algn="ctr">
                      <a:solidFill>
                        <a:srgbClr val="252D3D"/>
                      </a:solidFill>
                      <a:prstDash val="solid"/>
                      <a:round/>
                      <a:headEnd type="none" w="med" len="med"/>
                      <a:tailEnd type="none" w="med" len="med"/>
                    </a:lnR>
                    <a:lnT w="12700" cap="flat" cmpd="sng" algn="ctr">
                      <a:solidFill>
                        <a:srgbClr val="252D3D"/>
                      </a:solidFill>
                      <a:prstDash val="solid"/>
                      <a:round/>
                      <a:headEnd type="none" w="med" len="med"/>
                      <a:tailEnd type="none" w="med" len="med"/>
                    </a:lnT>
                    <a:lnB w="12700" cap="flat" cmpd="sng" algn="ctr">
                      <a:solidFill>
                        <a:srgbClr val="252D3D"/>
                      </a:solidFill>
                      <a:prstDash val="solid"/>
                      <a:round/>
                      <a:headEnd type="none" w="med" len="med"/>
                      <a:tailEnd type="none" w="med" len="med"/>
                    </a:lnB>
                    <a:solidFill>
                      <a:srgbClr val="151A24"/>
                    </a:solidFill>
                  </a:tcPr>
                </a:tc>
              </a:tr>
              <a:tr h="384048">
                <a:tc>
                  <a:txBody>
                    <a:bodyPr/>
                    <a:lstStyle/>
                    <a:p>
                      <a:pPr indent="0" marL="0">
                        <a:buNone/>
                      </a:pPr>
                      <a:r>
                        <a:rPr lang="en-US" sz="900" dirty="0">
                          <a:solidFill>
                            <a:srgbClr val="E6EAF2"/>
                          </a:solidFill>
                          <a:latin typeface="Trenda IG Text" pitchFamily="34" charset="0"/>
                          <a:ea typeface="Trenda IG Text" pitchFamily="34" charset="-122"/>
                          <a:cs typeface="Trenda IG Text" pitchFamily="34" charset="-120"/>
                        </a:rPr>
                        <a:t>Classify, prioritise and assign</a:t>
                      </a:r>
                      <a:endParaRPr lang="en-US" sz="900" dirty="0">
                        <a:latin typeface="Trenda IG Text" charset="0"/>
                        <a:ea typeface="Trenda IG Text" charset="0"/>
                        <a:cs typeface="Trenda IG Text" charset="0"/>
                      </a:endParaRPr>
                    </a:p>
                  </a:txBody>
                  <a:tcPr marL="88900" marR="88900" marT="50800" marB="50800" anchor="ctr">
                    <a:lnL w="12700" cap="flat" cmpd="sng" algn="ctr">
                      <a:solidFill>
                        <a:srgbClr val="252D3D"/>
                      </a:solidFill>
                      <a:prstDash val="solid"/>
                      <a:round/>
                      <a:headEnd type="none" w="med" len="med"/>
                      <a:tailEnd type="none" w="med" len="med"/>
                    </a:lnL>
                    <a:lnR w="12700" cap="flat" cmpd="sng" algn="ctr">
                      <a:solidFill>
                        <a:srgbClr val="252D3D"/>
                      </a:solidFill>
                      <a:prstDash val="solid"/>
                      <a:round/>
                      <a:headEnd type="none" w="med" len="med"/>
                      <a:tailEnd type="none" w="med" len="med"/>
                    </a:lnR>
                    <a:lnT w="12700" cap="flat" cmpd="sng" algn="ctr">
                      <a:solidFill>
                        <a:srgbClr val="252D3D"/>
                      </a:solidFill>
                      <a:prstDash val="solid"/>
                      <a:round/>
                      <a:headEnd type="none" w="med" len="med"/>
                      <a:tailEnd type="none" w="med" len="med"/>
                    </a:lnT>
                    <a:lnB w="12700" cap="flat" cmpd="sng" algn="ctr">
                      <a:solidFill>
                        <a:srgbClr val="252D3D"/>
                      </a:solidFill>
                      <a:prstDash val="solid"/>
                      <a:round/>
                      <a:headEnd type="none" w="med" len="med"/>
                      <a:tailEnd type="none" w="med" len="med"/>
                    </a:lnB>
                    <a:solidFill>
                      <a:srgbClr val="151A24"/>
                    </a:solidFill>
                  </a:tcPr>
                </a:tc>
                <a:tc>
                  <a:txBody>
                    <a:bodyPr/>
                    <a:lstStyle/>
                    <a:p>
                      <a:pPr algn="ctr" indent="0" marL="0">
                        <a:buNone/>
                      </a:pPr>
                      <a:r>
                        <a:rPr lang="en-US" sz="900" dirty="0">
                          <a:solidFill>
                            <a:srgbClr val="8A94A6"/>
                          </a:solidFill>
                          <a:latin typeface="Trenda IG Text" pitchFamily="34" charset="0"/>
                          <a:ea typeface="Trenda IG Text" pitchFamily="34" charset="-122"/>
                          <a:cs typeface="Trenda IG Text" pitchFamily="34" charset="-120"/>
                        </a:rPr>
                        <a:t>1:00</a:t>
                      </a:r>
                      <a:endParaRPr lang="en-US" sz="900" dirty="0">
                        <a:latin typeface="Trenda IG Text" charset="0"/>
                        <a:ea typeface="Trenda IG Text" charset="0"/>
                        <a:cs typeface="Trenda IG Text" charset="0"/>
                      </a:endParaRPr>
                    </a:p>
                  </a:txBody>
                  <a:tcPr marL="88900" marR="88900" marT="50800" marB="50800" anchor="ctr">
                    <a:lnL w="12700" cap="flat" cmpd="sng" algn="ctr">
                      <a:solidFill>
                        <a:srgbClr val="252D3D"/>
                      </a:solidFill>
                      <a:prstDash val="solid"/>
                      <a:round/>
                      <a:headEnd type="none" w="med" len="med"/>
                      <a:tailEnd type="none" w="med" len="med"/>
                    </a:lnL>
                    <a:lnR w="12700" cap="flat" cmpd="sng" algn="ctr">
                      <a:solidFill>
                        <a:srgbClr val="252D3D"/>
                      </a:solidFill>
                      <a:prstDash val="solid"/>
                      <a:round/>
                      <a:headEnd type="none" w="med" len="med"/>
                      <a:tailEnd type="none" w="med" len="med"/>
                    </a:lnR>
                    <a:lnT w="12700" cap="flat" cmpd="sng" algn="ctr">
                      <a:solidFill>
                        <a:srgbClr val="252D3D"/>
                      </a:solidFill>
                      <a:prstDash val="solid"/>
                      <a:round/>
                      <a:headEnd type="none" w="med" len="med"/>
                      <a:tailEnd type="none" w="med" len="med"/>
                    </a:lnT>
                    <a:lnB w="12700" cap="flat" cmpd="sng" algn="ctr">
                      <a:solidFill>
                        <a:srgbClr val="252D3D"/>
                      </a:solidFill>
                      <a:prstDash val="solid"/>
                      <a:round/>
                      <a:headEnd type="none" w="med" len="med"/>
                      <a:tailEnd type="none" w="med" len="med"/>
                    </a:lnB>
                    <a:solidFill>
                      <a:srgbClr val="151A24"/>
                    </a:solidFill>
                  </a:tcPr>
                </a:tc>
                <a:tc>
                  <a:txBody>
                    <a:bodyPr/>
                    <a:lstStyle/>
                    <a:p>
                      <a:pPr algn="ctr" indent="0" marL="0">
                        <a:buNone/>
                      </a:pPr>
                      <a:r>
                        <a:rPr lang="en-US" sz="900" b="1" dirty="0">
                          <a:solidFill>
                            <a:srgbClr val="FFFFFF"/>
                          </a:solidFill>
                          <a:latin typeface="Trenda IG Text" pitchFamily="34" charset="0"/>
                          <a:ea typeface="Trenda IG Text" pitchFamily="34" charset="-122"/>
                          <a:cs typeface="Trenda IG Text" pitchFamily="34" charset="-120"/>
                        </a:rPr>
                        <a:t>0:20</a:t>
                      </a:r>
                      <a:endParaRPr lang="en-US" sz="900" dirty="0">
                        <a:latin typeface="Trenda IG Text" charset="0"/>
                        <a:ea typeface="Trenda IG Text" charset="0"/>
                        <a:cs typeface="Trenda IG Text" charset="0"/>
                      </a:endParaRPr>
                    </a:p>
                  </a:txBody>
                  <a:tcPr marL="88900" marR="88900" marT="50800" marB="50800" anchor="ctr">
                    <a:lnL w="12700" cap="flat" cmpd="sng" algn="ctr">
                      <a:solidFill>
                        <a:srgbClr val="252D3D"/>
                      </a:solidFill>
                      <a:prstDash val="solid"/>
                      <a:round/>
                      <a:headEnd type="none" w="med" len="med"/>
                      <a:tailEnd type="none" w="med" len="med"/>
                    </a:lnL>
                    <a:lnR w="12700" cap="flat" cmpd="sng" algn="ctr">
                      <a:solidFill>
                        <a:srgbClr val="252D3D"/>
                      </a:solidFill>
                      <a:prstDash val="solid"/>
                      <a:round/>
                      <a:headEnd type="none" w="med" len="med"/>
                      <a:tailEnd type="none" w="med" len="med"/>
                    </a:lnR>
                    <a:lnT w="12700" cap="flat" cmpd="sng" algn="ctr">
                      <a:solidFill>
                        <a:srgbClr val="252D3D"/>
                      </a:solidFill>
                      <a:prstDash val="solid"/>
                      <a:round/>
                      <a:headEnd type="none" w="med" len="med"/>
                      <a:tailEnd type="none" w="med" len="med"/>
                    </a:lnT>
                    <a:lnB w="12700" cap="flat" cmpd="sng" algn="ctr">
                      <a:solidFill>
                        <a:srgbClr val="252D3D"/>
                      </a:solidFill>
                      <a:prstDash val="solid"/>
                      <a:round/>
                      <a:headEnd type="none" w="med" len="med"/>
                      <a:tailEnd type="none" w="med" len="med"/>
                    </a:lnB>
                    <a:solidFill>
                      <a:srgbClr val="151A24"/>
                    </a:solidFill>
                  </a:tcPr>
                </a:tc>
                <a:tc>
                  <a:txBody>
                    <a:bodyPr/>
                    <a:lstStyle/>
                    <a:p>
                      <a:pPr algn="ctr" indent="0" marL="0">
                        <a:buNone/>
                      </a:pPr>
                      <a:r>
                        <a:rPr lang="en-US" sz="900" b="1" dirty="0">
                          <a:solidFill>
                            <a:srgbClr val="22C55E"/>
                          </a:solidFill>
                          <a:latin typeface="Trenda IG Text" pitchFamily="34" charset="0"/>
                          <a:ea typeface="Trenda IG Text" pitchFamily="34" charset="-122"/>
                          <a:cs typeface="Trenda IG Text" pitchFamily="34" charset="-120"/>
                        </a:rPr>
                        <a:t>0:40</a:t>
                      </a:r>
                      <a:endParaRPr lang="en-US" sz="900" dirty="0">
                        <a:latin typeface="Trenda IG Text" charset="0"/>
                        <a:ea typeface="Trenda IG Text" charset="0"/>
                        <a:cs typeface="Trenda IG Text" charset="0"/>
                      </a:endParaRPr>
                    </a:p>
                  </a:txBody>
                  <a:tcPr marL="88900" marR="88900" marT="50800" marB="50800" anchor="ctr">
                    <a:lnL w="12700" cap="flat" cmpd="sng" algn="ctr">
                      <a:solidFill>
                        <a:srgbClr val="252D3D"/>
                      </a:solidFill>
                      <a:prstDash val="solid"/>
                      <a:round/>
                      <a:headEnd type="none" w="med" len="med"/>
                      <a:tailEnd type="none" w="med" len="med"/>
                    </a:lnL>
                    <a:lnR w="12700" cap="flat" cmpd="sng" algn="ctr">
                      <a:solidFill>
                        <a:srgbClr val="252D3D"/>
                      </a:solidFill>
                      <a:prstDash val="solid"/>
                      <a:round/>
                      <a:headEnd type="none" w="med" len="med"/>
                      <a:tailEnd type="none" w="med" len="med"/>
                    </a:lnR>
                    <a:lnT w="12700" cap="flat" cmpd="sng" algn="ctr">
                      <a:solidFill>
                        <a:srgbClr val="252D3D"/>
                      </a:solidFill>
                      <a:prstDash val="solid"/>
                      <a:round/>
                      <a:headEnd type="none" w="med" len="med"/>
                      <a:tailEnd type="none" w="med" len="med"/>
                    </a:lnT>
                    <a:lnB w="12700" cap="flat" cmpd="sng" algn="ctr">
                      <a:solidFill>
                        <a:srgbClr val="252D3D"/>
                      </a:solidFill>
                      <a:prstDash val="solid"/>
                      <a:round/>
                      <a:headEnd type="none" w="med" len="med"/>
                      <a:tailEnd type="none" w="med" len="med"/>
                    </a:lnB>
                    <a:solidFill>
                      <a:srgbClr val="151A24"/>
                    </a:solidFill>
                  </a:tcPr>
                </a:tc>
                <a:tc>
                  <a:txBody>
                    <a:bodyPr/>
                    <a:lstStyle/>
                    <a:p>
                      <a:pPr indent="0" marL="0">
                        <a:buNone/>
                      </a:pPr>
                      <a:r>
                        <a:rPr lang="en-US" sz="850" dirty="0">
                          <a:solidFill>
                            <a:srgbClr val="8A94A6"/>
                          </a:solidFill>
                          <a:latin typeface="Trenda IG Text" pitchFamily="34" charset="0"/>
                          <a:ea typeface="Trenda IG Text" pitchFamily="34" charset="-122"/>
                          <a:cs typeface="Trenda IG Text" pitchFamily="34" charset="-120"/>
                        </a:rPr>
                        <a:t>Category, priority and queue are set automatically, the agent verifies</a:t>
                      </a:r>
                      <a:endParaRPr lang="en-US" sz="850" dirty="0">
                        <a:latin typeface="Trenda IG Text" charset="0"/>
                        <a:ea typeface="Trenda IG Text" charset="0"/>
                        <a:cs typeface="Trenda IG Text" charset="0"/>
                      </a:endParaRPr>
                    </a:p>
                  </a:txBody>
                  <a:tcPr marL="88900" marR="88900" marT="50800" marB="50800" anchor="ctr">
                    <a:lnL w="12700" cap="flat" cmpd="sng" algn="ctr">
                      <a:solidFill>
                        <a:srgbClr val="252D3D"/>
                      </a:solidFill>
                      <a:prstDash val="solid"/>
                      <a:round/>
                      <a:headEnd type="none" w="med" len="med"/>
                      <a:tailEnd type="none" w="med" len="med"/>
                    </a:lnL>
                    <a:lnR w="12700" cap="flat" cmpd="sng" algn="ctr">
                      <a:solidFill>
                        <a:srgbClr val="252D3D"/>
                      </a:solidFill>
                      <a:prstDash val="solid"/>
                      <a:round/>
                      <a:headEnd type="none" w="med" len="med"/>
                      <a:tailEnd type="none" w="med" len="med"/>
                    </a:lnR>
                    <a:lnT w="12700" cap="flat" cmpd="sng" algn="ctr">
                      <a:solidFill>
                        <a:srgbClr val="252D3D"/>
                      </a:solidFill>
                      <a:prstDash val="solid"/>
                      <a:round/>
                      <a:headEnd type="none" w="med" len="med"/>
                      <a:tailEnd type="none" w="med" len="med"/>
                    </a:lnT>
                    <a:lnB w="12700" cap="flat" cmpd="sng" algn="ctr">
                      <a:solidFill>
                        <a:srgbClr val="252D3D"/>
                      </a:solidFill>
                      <a:prstDash val="solid"/>
                      <a:round/>
                      <a:headEnd type="none" w="med" len="med"/>
                      <a:tailEnd type="none" w="med" len="med"/>
                    </a:lnB>
                    <a:solidFill>
                      <a:srgbClr val="151A24"/>
                    </a:solidFill>
                  </a:tcPr>
                </a:tc>
              </a:tr>
              <a:tr h="384048">
                <a:tc>
                  <a:txBody>
                    <a:bodyPr/>
                    <a:lstStyle/>
                    <a:p>
                      <a:pPr indent="0" marL="0">
                        <a:buNone/>
                      </a:pPr>
                      <a:r>
                        <a:rPr lang="en-US" sz="900" dirty="0">
                          <a:solidFill>
                            <a:srgbClr val="E6EAF2"/>
                          </a:solidFill>
                          <a:latin typeface="Trenda IG Text" pitchFamily="34" charset="0"/>
                          <a:ea typeface="Trenda IG Text" pitchFamily="34" charset="-122"/>
                          <a:cs typeface="Trenda IG Text" pitchFamily="34" charset="-120"/>
                        </a:rPr>
                        <a:t>Assemble account and order context</a:t>
                      </a:r>
                      <a:endParaRPr lang="en-US" sz="900" dirty="0">
                        <a:latin typeface="Trenda IG Text" charset="0"/>
                        <a:ea typeface="Trenda IG Text" charset="0"/>
                        <a:cs typeface="Trenda IG Text" charset="0"/>
                      </a:endParaRPr>
                    </a:p>
                  </a:txBody>
                  <a:tcPr marL="88900" marR="88900" marT="50800" marB="50800" anchor="ctr">
                    <a:lnL w="12700" cap="flat" cmpd="sng" algn="ctr">
                      <a:solidFill>
                        <a:srgbClr val="252D3D"/>
                      </a:solidFill>
                      <a:prstDash val="solid"/>
                      <a:round/>
                      <a:headEnd type="none" w="med" len="med"/>
                      <a:tailEnd type="none" w="med" len="med"/>
                    </a:lnL>
                    <a:lnR w="12700" cap="flat" cmpd="sng" algn="ctr">
                      <a:solidFill>
                        <a:srgbClr val="252D3D"/>
                      </a:solidFill>
                      <a:prstDash val="solid"/>
                      <a:round/>
                      <a:headEnd type="none" w="med" len="med"/>
                      <a:tailEnd type="none" w="med" len="med"/>
                    </a:lnR>
                    <a:lnT w="12700" cap="flat" cmpd="sng" algn="ctr">
                      <a:solidFill>
                        <a:srgbClr val="252D3D"/>
                      </a:solidFill>
                      <a:prstDash val="solid"/>
                      <a:round/>
                      <a:headEnd type="none" w="med" len="med"/>
                      <a:tailEnd type="none" w="med" len="med"/>
                    </a:lnT>
                    <a:lnB w="12700" cap="flat" cmpd="sng" algn="ctr">
                      <a:solidFill>
                        <a:srgbClr val="252D3D"/>
                      </a:solidFill>
                      <a:prstDash val="solid"/>
                      <a:round/>
                      <a:headEnd type="none" w="med" len="med"/>
                      <a:tailEnd type="none" w="med" len="med"/>
                    </a:lnB>
                    <a:solidFill>
                      <a:srgbClr val="151A24"/>
                    </a:solidFill>
                  </a:tcPr>
                </a:tc>
                <a:tc>
                  <a:txBody>
                    <a:bodyPr/>
                    <a:lstStyle/>
                    <a:p>
                      <a:pPr algn="ctr" indent="0" marL="0">
                        <a:buNone/>
                      </a:pPr>
                      <a:r>
                        <a:rPr lang="en-US" sz="900" dirty="0">
                          <a:solidFill>
                            <a:srgbClr val="8A94A6"/>
                          </a:solidFill>
                          <a:latin typeface="Trenda IG Text" pitchFamily="34" charset="0"/>
                          <a:ea typeface="Trenda IG Text" pitchFamily="34" charset="-122"/>
                          <a:cs typeface="Trenda IG Text" pitchFamily="34" charset="-120"/>
                        </a:rPr>
                        <a:t>1:30</a:t>
                      </a:r>
                      <a:endParaRPr lang="en-US" sz="900" dirty="0">
                        <a:latin typeface="Trenda IG Text" charset="0"/>
                        <a:ea typeface="Trenda IG Text" charset="0"/>
                        <a:cs typeface="Trenda IG Text" charset="0"/>
                      </a:endParaRPr>
                    </a:p>
                  </a:txBody>
                  <a:tcPr marL="88900" marR="88900" marT="50800" marB="50800" anchor="ctr">
                    <a:lnL w="12700" cap="flat" cmpd="sng" algn="ctr">
                      <a:solidFill>
                        <a:srgbClr val="252D3D"/>
                      </a:solidFill>
                      <a:prstDash val="solid"/>
                      <a:round/>
                      <a:headEnd type="none" w="med" len="med"/>
                      <a:tailEnd type="none" w="med" len="med"/>
                    </a:lnL>
                    <a:lnR w="12700" cap="flat" cmpd="sng" algn="ctr">
                      <a:solidFill>
                        <a:srgbClr val="252D3D"/>
                      </a:solidFill>
                      <a:prstDash val="solid"/>
                      <a:round/>
                      <a:headEnd type="none" w="med" len="med"/>
                      <a:tailEnd type="none" w="med" len="med"/>
                    </a:lnR>
                    <a:lnT w="12700" cap="flat" cmpd="sng" algn="ctr">
                      <a:solidFill>
                        <a:srgbClr val="252D3D"/>
                      </a:solidFill>
                      <a:prstDash val="solid"/>
                      <a:round/>
                      <a:headEnd type="none" w="med" len="med"/>
                      <a:tailEnd type="none" w="med" len="med"/>
                    </a:lnT>
                    <a:lnB w="12700" cap="flat" cmpd="sng" algn="ctr">
                      <a:solidFill>
                        <a:srgbClr val="252D3D"/>
                      </a:solidFill>
                      <a:prstDash val="solid"/>
                      <a:round/>
                      <a:headEnd type="none" w="med" len="med"/>
                      <a:tailEnd type="none" w="med" len="med"/>
                    </a:lnB>
                    <a:solidFill>
                      <a:srgbClr val="151A24"/>
                    </a:solidFill>
                  </a:tcPr>
                </a:tc>
                <a:tc>
                  <a:txBody>
                    <a:bodyPr/>
                    <a:lstStyle/>
                    <a:p>
                      <a:pPr algn="ctr" indent="0" marL="0">
                        <a:buNone/>
                      </a:pPr>
                      <a:r>
                        <a:rPr lang="en-US" sz="900" b="1" dirty="0">
                          <a:solidFill>
                            <a:srgbClr val="FFFFFF"/>
                          </a:solidFill>
                          <a:latin typeface="Trenda IG Text" pitchFamily="34" charset="0"/>
                          <a:ea typeface="Trenda IG Text" pitchFamily="34" charset="-122"/>
                          <a:cs typeface="Trenda IG Text" pitchFamily="34" charset="-120"/>
                        </a:rPr>
                        <a:t>1:20</a:t>
                      </a:r>
                      <a:endParaRPr lang="en-US" sz="900" dirty="0">
                        <a:latin typeface="Trenda IG Text" charset="0"/>
                        <a:ea typeface="Trenda IG Text" charset="0"/>
                        <a:cs typeface="Trenda IG Text" charset="0"/>
                      </a:endParaRPr>
                    </a:p>
                  </a:txBody>
                  <a:tcPr marL="88900" marR="88900" marT="50800" marB="50800" anchor="ctr">
                    <a:lnL w="12700" cap="flat" cmpd="sng" algn="ctr">
                      <a:solidFill>
                        <a:srgbClr val="252D3D"/>
                      </a:solidFill>
                      <a:prstDash val="solid"/>
                      <a:round/>
                      <a:headEnd type="none" w="med" len="med"/>
                      <a:tailEnd type="none" w="med" len="med"/>
                    </a:lnL>
                    <a:lnR w="12700" cap="flat" cmpd="sng" algn="ctr">
                      <a:solidFill>
                        <a:srgbClr val="252D3D"/>
                      </a:solidFill>
                      <a:prstDash val="solid"/>
                      <a:round/>
                      <a:headEnd type="none" w="med" len="med"/>
                      <a:tailEnd type="none" w="med" len="med"/>
                    </a:lnR>
                    <a:lnT w="12700" cap="flat" cmpd="sng" algn="ctr">
                      <a:solidFill>
                        <a:srgbClr val="252D3D"/>
                      </a:solidFill>
                      <a:prstDash val="solid"/>
                      <a:round/>
                      <a:headEnd type="none" w="med" len="med"/>
                      <a:tailEnd type="none" w="med" len="med"/>
                    </a:lnT>
                    <a:lnB w="12700" cap="flat" cmpd="sng" algn="ctr">
                      <a:solidFill>
                        <a:srgbClr val="252D3D"/>
                      </a:solidFill>
                      <a:prstDash val="solid"/>
                      <a:round/>
                      <a:headEnd type="none" w="med" len="med"/>
                      <a:tailEnd type="none" w="med" len="med"/>
                    </a:lnB>
                    <a:solidFill>
                      <a:srgbClr val="151A24"/>
                    </a:solidFill>
                  </a:tcPr>
                </a:tc>
                <a:tc>
                  <a:txBody>
                    <a:bodyPr/>
                    <a:lstStyle/>
                    <a:p>
                      <a:pPr algn="ctr" indent="0" marL="0">
                        <a:buNone/>
                      </a:pPr>
                      <a:r>
                        <a:rPr lang="en-US" sz="900" b="1" dirty="0">
                          <a:solidFill>
                            <a:srgbClr val="22C55E"/>
                          </a:solidFill>
                          <a:latin typeface="Trenda IG Text" pitchFamily="34" charset="0"/>
                          <a:ea typeface="Trenda IG Text" pitchFamily="34" charset="-122"/>
                          <a:cs typeface="Trenda IG Text" pitchFamily="34" charset="-120"/>
                        </a:rPr>
                        <a:t>0:10</a:t>
                      </a:r>
                      <a:endParaRPr lang="en-US" sz="900" dirty="0">
                        <a:latin typeface="Trenda IG Text" charset="0"/>
                        <a:ea typeface="Trenda IG Text" charset="0"/>
                        <a:cs typeface="Trenda IG Text" charset="0"/>
                      </a:endParaRPr>
                    </a:p>
                  </a:txBody>
                  <a:tcPr marL="88900" marR="88900" marT="50800" marB="50800" anchor="ctr">
                    <a:lnL w="12700" cap="flat" cmpd="sng" algn="ctr">
                      <a:solidFill>
                        <a:srgbClr val="252D3D"/>
                      </a:solidFill>
                      <a:prstDash val="solid"/>
                      <a:round/>
                      <a:headEnd type="none" w="med" len="med"/>
                      <a:tailEnd type="none" w="med" len="med"/>
                    </a:lnL>
                    <a:lnR w="12700" cap="flat" cmpd="sng" algn="ctr">
                      <a:solidFill>
                        <a:srgbClr val="252D3D"/>
                      </a:solidFill>
                      <a:prstDash val="solid"/>
                      <a:round/>
                      <a:headEnd type="none" w="med" len="med"/>
                      <a:tailEnd type="none" w="med" len="med"/>
                    </a:lnR>
                    <a:lnT w="12700" cap="flat" cmpd="sng" algn="ctr">
                      <a:solidFill>
                        <a:srgbClr val="252D3D"/>
                      </a:solidFill>
                      <a:prstDash val="solid"/>
                      <a:round/>
                      <a:headEnd type="none" w="med" len="med"/>
                      <a:tailEnd type="none" w="med" len="med"/>
                    </a:lnT>
                    <a:lnB w="12700" cap="flat" cmpd="sng" algn="ctr">
                      <a:solidFill>
                        <a:srgbClr val="252D3D"/>
                      </a:solidFill>
                      <a:prstDash val="solid"/>
                      <a:round/>
                      <a:headEnd type="none" w="med" len="med"/>
                      <a:tailEnd type="none" w="med" len="med"/>
                    </a:lnB>
                    <a:solidFill>
                      <a:srgbClr val="151A24"/>
                    </a:solidFill>
                  </a:tcPr>
                </a:tc>
                <a:tc>
                  <a:txBody>
                    <a:bodyPr/>
                    <a:lstStyle/>
                    <a:p>
                      <a:pPr indent="0" marL="0">
                        <a:buNone/>
                      </a:pPr>
                      <a:r>
                        <a:rPr lang="en-US" sz="850" dirty="0">
                          <a:solidFill>
                            <a:srgbClr val="8A94A6"/>
                          </a:solidFill>
                          <a:latin typeface="Trenda IG Text" pitchFamily="34" charset="0"/>
                          <a:ea typeface="Trenda IG Text" pitchFamily="34" charset="-122"/>
                          <a:cs typeface="Trenda IG Text" pitchFamily="34" charset="-120"/>
                        </a:rPr>
                        <a:t>Extracted entities link the order, invoice and account to the case</a:t>
                      </a:r>
                      <a:endParaRPr lang="en-US" sz="850" dirty="0">
                        <a:latin typeface="Trenda IG Text" charset="0"/>
                        <a:ea typeface="Trenda IG Text" charset="0"/>
                        <a:cs typeface="Trenda IG Text" charset="0"/>
                      </a:endParaRPr>
                    </a:p>
                  </a:txBody>
                  <a:tcPr marL="88900" marR="88900" marT="50800" marB="50800" anchor="ctr">
                    <a:lnL w="12700" cap="flat" cmpd="sng" algn="ctr">
                      <a:solidFill>
                        <a:srgbClr val="252D3D"/>
                      </a:solidFill>
                      <a:prstDash val="solid"/>
                      <a:round/>
                      <a:headEnd type="none" w="med" len="med"/>
                      <a:tailEnd type="none" w="med" len="med"/>
                    </a:lnL>
                    <a:lnR w="12700" cap="flat" cmpd="sng" algn="ctr">
                      <a:solidFill>
                        <a:srgbClr val="252D3D"/>
                      </a:solidFill>
                      <a:prstDash val="solid"/>
                      <a:round/>
                      <a:headEnd type="none" w="med" len="med"/>
                      <a:tailEnd type="none" w="med" len="med"/>
                    </a:lnR>
                    <a:lnT w="12700" cap="flat" cmpd="sng" algn="ctr">
                      <a:solidFill>
                        <a:srgbClr val="252D3D"/>
                      </a:solidFill>
                      <a:prstDash val="solid"/>
                      <a:round/>
                      <a:headEnd type="none" w="med" len="med"/>
                      <a:tailEnd type="none" w="med" len="med"/>
                    </a:lnT>
                    <a:lnB w="12700" cap="flat" cmpd="sng" algn="ctr">
                      <a:solidFill>
                        <a:srgbClr val="252D3D"/>
                      </a:solidFill>
                      <a:prstDash val="solid"/>
                      <a:round/>
                      <a:headEnd type="none" w="med" len="med"/>
                      <a:tailEnd type="none" w="med" len="med"/>
                    </a:lnB>
                    <a:solidFill>
                      <a:srgbClr val="151A24"/>
                    </a:solidFill>
                  </a:tcPr>
                </a:tc>
              </a:tr>
              <a:tr h="384048">
                <a:tc>
                  <a:txBody>
                    <a:bodyPr/>
                    <a:lstStyle/>
                    <a:p>
                      <a:pPr indent="0" marL="0">
                        <a:buNone/>
                      </a:pPr>
                      <a:r>
                        <a:rPr lang="en-US" sz="900" dirty="0">
                          <a:solidFill>
                            <a:srgbClr val="E6EAF2"/>
                          </a:solidFill>
                          <a:latin typeface="Trenda IG Text" pitchFamily="34" charset="0"/>
                          <a:ea typeface="Trenda IG Text" pitchFamily="34" charset="-122"/>
                          <a:cs typeface="Trenda IG Text" pitchFamily="34" charset="-120"/>
                        </a:rPr>
                        <a:t>Find the right policy or article</a:t>
                      </a:r>
                      <a:endParaRPr lang="en-US" sz="900" dirty="0">
                        <a:latin typeface="Trenda IG Text" charset="0"/>
                        <a:ea typeface="Trenda IG Text" charset="0"/>
                        <a:cs typeface="Trenda IG Text" charset="0"/>
                      </a:endParaRPr>
                    </a:p>
                  </a:txBody>
                  <a:tcPr marL="88900" marR="88900" marT="50800" marB="50800" anchor="ctr">
                    <a:lnL w="12700" cap="flat" cmpd="sng" algn="ctr">
                      <a:solidFill>
                        <a:srgbClr val="252D3D"/>
                      </a:solidFill>
                      <a:prstDash val="solid"/>
                      <a:round/>
                      <a:headEnd type="none" w="med" len="med"/>
                      <a:tailEnd type="none" w="med" len="med"/>
                    </a:lnL>
                    <a:lnR w="12700" cap="flat" cmpd="sng" algn="ctr">
                      <a:solidFill>
                        <a:srgbClr val="252D3D"/>
                      </a:solidFill>
                      <a:prstDash val="solid"/>
                      <a:round/>
                      <a:headEnd type="none" w="med" len="med"/>
                      <a:tailEnd type="none" w="med" len="med"/>
                    </a:lnR>
                    <a:lnT w="12700" cap="flat" cmpd="sng" algn="ctr">
                      <a:solidFill>
                        <a:srgbClr val="252D3D"/>
                      </a:solidFill>
                      <a:prstDash val="solid"/>
                      <a:round/>
                      <a:headEnd type="none" w="med" len="med"/>
                      <a:tailEnd type="none" w="med" len="med"/>
                    </a:lnT>
                    <a:lnB w="12700" cap="flat" cmpd="sng" algn="ctr">
                      <a:solidFill>
                        <a:srgbClr val="252D3D"/>
                      </a:solidFill>
                      <a:prstDash val="solid"/>
                      <a:round/>
                      <a:headEnd type="none" w="med" len="med"/>
                      <a:tailEnd type="none" w="med" len="med"/>
                    </a:lnB>
                    <a:solidFill>
                      <a:srgbClr val="151A24"/>
                    </a:solidFill>
                  </a:tcPr>
                </a:tc>
                <a:tc>
                  <a:txBody>
                    <a:bodyPr/>
                    <a:lstStyle/>
                    <a:p>
                      <a:pPr algn="ctr" indent="0" marL="0">
                        <a:buNone/>
                      </a:pPr>
                      <a:r>
                        <a:rPr lang="en-US" sz="900" dirty="0">
                          <a:solidFill>
                            <a:srgbClr val="8A94A6"/>
                          </a:solidFill>
                          <a:latin typeface="Trenda IG Text" pitchFamily="34" charset="0"/>
                          <a:ea typeface="Trenda IG Text" pitchFamily="34" charset="-122"/>
                          <a:cs typeface="Trenda IG Text" pitchFamily="34" charset="-120"/>
                        </a:rPr>
                        <a:t>1:10</a:t>
                      </a:r>
                      <a:endParaRPr lang="en-US" sz="900" dirty="0">
                        <a:latin typeface="Trenda IG Text" charset="0"/>
                        <a:ea typeface="Trenda IG Text" charset="0"/>
                        <a:cs typeface="Trenda IG Text" charset="0"/>
                      </a:endParaRPr>
                    </a:p>
                  </a:txBody>
                  <a:tcPr marL="88900" marR="88900" marT="50800" marB="50800" anchor="ctr">
                    <a:lnL w="12700" cap="flat" cmpd="sng" algn="ctr">
                      <a:solidFill>
                        <a:srgbClr val="252D3D"/>
                      </a:solidFill>
                      <a:prstDash val="solid"/>
                      <a:round/>
                      <a:headEnd type="none" w="med" len="med"/>
                      <a:tailEnd type="none" w="med" len="med"/>
                    </a:lnL>
                    <a:lnR w="12700" cap="flat" cmpd="sng" algn="ctr">
                      <a:solidFill>
                        <a:srgbClr val="252D3D"/>
                      </a:solidFill>
                      <a:prstDash val="solid"/>
                      <a:round/>
                      <a:headEnd type="none" w="med" len="med"/>
                      <a:tailEnd type="none" w="med" len="med"/>
                    </a:lnR>
                    <a:lnT w="12700" cap="flat" cmpd="sng" algn="ctr">
                      <a:solidFill>
                        <a:srgbClr val="252D3D"/>
                      </a:solidFill>
                      <a:prstDash val="solid"/>
                      <a:round/>
                      <a:headEnd type="none" w="med" len="med"/>
                      <a:tailEnd type="none" w="med" len="med"/>
                    </a:lnT>
                    <a:lnB w="12700" cap="flat" cmpd="sng" algn="ctr">
                      <a:solidFill>
                        <a:srgbClr val="252D3D"/>
                      </a:solidFill>
                      <a:prstDash val="solid"/>
                      <a:round/>
                      <a:headEnd type="none" w="med" len="med"/>
                      <a:tailEnd type="none" w="med" len="med"/>
                    </a:lnB>
                    <a:solidFill>
                      <a:srgbClr val="151A24"/>
                    </a:solidFill>
                  </a:tcPr>
                </a:tc>
                <a:tc>
                  <a:txBody>
                    <a:bodyPr/>
                    <a:lstStyle/>
                    <a:p>
                      <a:pPr algn="ctr" indent="0" marL="0">
                        <a:buNone/>
                      </a:pPr>
                      <a:r>
                        <a:rPr lang="en-US" sz="900" b="1" dirty="0">
                          <a:solidFill>
                            <a:srgbClr val="FFFFFF"/>
                          </a:solidFill>
                          <a:latin typeface="Trenda IG Text" pitchFamily="34" charset="0"/>
                          <a:ea typeface="Trenda IG Text" pitchFamily="34" charset="-122"/>
                          <a:cs typeface="Trenda IG Text" pitchFamily="34" charset="-120"/>
                        </a:rPr>
                        <a:t>1:00</a:t>
                      </a:r>
                      <a:endParaRPr lang="en-US" sz="900" dirty="0">
                        <a:latin typeface="Trenda IG Text" charset="0"/>
                        <a:ea typeface="Trenda IG Text" charset="0"/>
                        <a:cs typeface="Trenda IG Text" charset="0"/>
                      </a:endParaRPr>
                    </a:p>
                  </a:txBody>
                  <a:tcPr marL="88900" marR="88900" marT="50800" marB="50800" anchor="ctr">
                    <a:lnL w="12700" cap="flat" cmpd="sng" algn="ctr">
                      <a:solidFill>
                        <a:srgbClr val="252D3D"/>
                      </a:solidFill>
                      <a:prstDash val="solid"/>
                      <a:round/>
                      <a:headEnd type="none" w="med" len="med"/>
                      <a:tailEnd type="none" w="med" len="med"/>
                    </a:lnL>
                    <a:lnR w="12700" cap="flat" cmpd="sng" algn="ctr">
                      <a:solidFill>
                        <a:srgbClr val="252D3D"/>
                      </a:solidFill>
                      <a:prstDash val="solid"/>
                      <a:round/>
                      <a:headEnd type="none" w="med" len="med"/>
                      <a:tailEnd type="none" w="med" len="med"/>
                    </a:lnR>
                    <a:lnT w="12700" cap="flat" cmpd="sng" algn="ctr">
                      <a:solidFill>
                        <a:srgbClr val="252D3D"/>
                      </a:solidFill>
                      <a:prstDash val="solid"/>
                      <a:round/>
                      <a:headEnd type="none" w="med" len="med"/>
                      <a:tailEnd type="none" w="med" len="med"/>
                    </a:lnT>
                    <a:lnB w="12700" cap="flat" cmpd="sng" algn="ctr">
                      <a:solidFill>
                        <a:srgbClr val="252D3D"/>
                      </a:solidFill>
                      <a:prstDash val="solid"/>
                      <a:round/>
                      <a:headEnd type="none" w="med" len="med"/>
                      <a:tailEnd type="none" w="med" len="med"/>
                    </a:lnB>
                    <a:solidFill>
                      <a:srgbClr val="151A24"/>
                    </a:solidFill>
                  </a:tcPr>
                </a:tc>
                <a:tc>
                  <a:txBody>
                    <a:bodyPr/>
                    <a:lstStyle/>
                    <a:p>
                      <a:pPr algn="ctr" indent="0" marL="0">
                        <a:buNone/>
                      </a:pPr>
                      <a:r>
                        <a:rPr lang="en-US" sz="900" b="1" dirty="0">
                          <a:solidFill>
                            <a:srgbClr val="22C55E"/>
                          </a:solidFill>
                          <a:latin typeface="Trenda IG Text" pitchFamily="34" charset="0"/>
                          <a:ea typeface="Trenda IG Text" pitchFamily="34" charset="-122"/>
                          <a:cs typeface="Trenda IG Text" pitchFamily="34" charset="-120"/>
                        </a:rPr>
                        <a:t>0:10</a:t>
                      </a:r>
                      <a:endParaRPr lang="en-US" sz="900" dirty="0">
                        <a:latin typeface="Trenda IG Text" charset="0"/>
                        <a:ea typeface="Trenda IG Text" charset="0"/>
                        <a:cs typeface="Trenda IG Text" charset="0"/>
                      </a:endParaRPr>
                    </a:p>
                  </a:txBody>
                  <a:tcPr marL="88900" marR="88900" marT="50800" marB="50800" anchor="ctr">
                    <a:lnL w="12700" cap="flat" cmpd="sng" algn="ctr">
                      <a:solidFill>
                        <a:srgbClr val="252D3D"/>
                      </a:solidFill>
                      <a:prstDash val="solid"/>
                      <a:round/>
                      <a:headEnd type="none" w="med" len="med"/>
                      <a:tailEnd type="none" w="med" len="med"/>
                    </a:lnL>
                    <a:lnR w="12700" cap="flat" cmpd="sng" algn="ctr">
                      <a:solidFill>
                        <a:srgbClr val="252D3D"/>
                      </a:solidFill>
                      <a:prstDash val="solid"/>
                      <a:round/>
                      <a:headEnd type="none" w="med" len="med"/>
                      <a:tailEnd type="none" w="med" len="med"/>
                    </a:lnR>
                    <a:lnT w="12700" cap="flat" cmpd="sng" algn="ctr">
                      <a:solidFill>
                        <a:srgbClr val="252D3D"/>
                      </a:solidFill>
                      <a:prstDash val="solid"/>
                      <a:round/>
                      <a:headEnd type="none" w="med" len="med"/>
                      <a:tailEnd type="none" w="med" len="med"/>
                    </a:lnT>
                    <a:lnB w="12700" cap="flat" cmpd="sng" algn="ctr">
                      <a:solidFill>
                        <a:srgbClr val="252D3D"/>
                      </a:solidFill>
                      <a:prstDash val="solid"/>
                      <a:round/>
                      <a:headEnd type="none" w="med" len="med"/>
                      <a:tailEnd type="none" w="med" len="med"/>
                    </a:lnB>
                    <a:solidFill>
                      <a:srgbClr val="151A24"/>
                    </a:solidFill>
                  </a:tcPr>
                </a:tc>
                <a:tc>
                  <a:txBody>
                    <a:bodyPr/>
                    <a:lstStyle/>
                    <a:p>
                      <a:pPr indent="0" marL="0">
                        <a:buNone/>
                      </a:pPr>
                      <a:r>
                        <a:rPr lang="en-US" sz="850" dirty="0">
                          <a:solidFill>
                            <a:srgbClr val="8A94A6"/>
                          </a:solidFill>
                          <a:latin typeface="Trenda IG Text" pitchFamily="34" charset="0"/>
                          <a:ea typeface="Trenda IG Text" pitchFamily="34" charset="-122"/>
                          <a:cs typeface="Trenda IG Text" pitchFamily="34" charset="-120"/>
                        </a:rPr>
                        <a:t>The matching Knowledge article is surfaced and attached</a:t>
                      </a:r>
                      <a:endParaRPr lang="en-US" sz="850" dirty="0">
                        <a:latin typeface="Trenda IG Text" charset="0"/>
                        <a:ea typeface="Trenda IG Text" charset="0"/>
                        <a:cs typeface="Trenda IG Text" charset="0"/>
                      </a:endParaRPr>
                    </a:p>
                  </a:txBody>
                  <a:tcPr marL="88900" marR="88900" marT="50800" marB="50800" anchor="ctr">
                    <a:lnL w="12700" cap="flat" cmpd="sng" algn="ctr">
                      <a:solidFill>
                        <a:srgbClr val="252D3D"/>
                      </a:solidFill>
                      <a:prstDash val="solid"/>
                      <a:round/>
                      <a:headEnd type="none" w="med" len="med"/>
                      <a:tailEnd type="none" w="med" len="med"/>
                    </a:lnL>
                    <a:lnR w="12700" cap="flat" cmpd="sng" algn="ctr">
                      <a:solidFill>
                        <a:srgbClr val="252D3D"/>
                      </a:solidFill>
                      <a:prstDash val="solid"/>
                      <a:round/>
                      <a:headEnd type="none" w="med" len="med"/>
                      <a:tailEnd type="none" w="med" len="med"/>
                    </a:lnR>
                    <a:lnT w="12700" cap="flat" cmpd="sng" algn="ctr">
                      <a:solidFill>
                        <a:srgbClr val="252D3D"/>
                      </a:solidFill>
                      <a:prstDash val="solid"/>
                      <a:round/>
                      <a:headEnd type="none" w="med" len="med"/>
                      <a:tailEnd type="none" w="med" len="med"/>
                    </a:lnT>
                    <a:lnB w="12700" cap="flat" cmpd="sng" algn="ctr">
                      <a:solidFill>
                        <a:srgbClr val="252D3D"/>
                      </a:solidFill>
                      <a:prstDash val="solid"/>
                      <a:round/>
                      <a:headEnd type="none" w="med" len="med"/>
                      <a:tailEnd type="none" w="med" len="med"/>
                    </a:lnB>
                    <a:solidFill>
                      <a:srgbClr val="151A24"/>
                    </a:solidFill>
                  </a:tcPr>
                </a:tc>
              </a:tr>
              <a:tr h="384048">
                <a:tc>
                  <a:txBody>
                    <a:bodyPr/>
                    <a:lstStyle/>
                    <a:p>
                      <a:pPr indent="0" marL="0">
                        <a:buNone/>
                      </a:pPr>
                      <a:r>
                        <a:rPr lang="en-US" sz="900" dirty="0">
                          <a:solidFill>
                            <a:srgbClr val="E6EAF2"/>
                          </a:solidFill>
                          <a:latin typeface="Trenda IG Text" pitchFamily="34" charset="0"/>
                          <a:ea typeface="Trenda IG Text" pitchFamily="34" charset="-122"/>
                          <a:cs typeface="Trenda IG Text" pitchFamily="34" charset="-120"/>
                        </a:rPr>
                        <a:t>Compose the response</a:t>
                      </a:r>
                      <a:endParaRPr lang="en-US" sz="900" dirty="0">
                        <a:latin typeface="Trenda IG Text" charset="0"/>
                        <a:ea typeface="Trenda IG Text" charset="0"/>
                        <a:cs typeface="Trenda IG Text" charset="0"/>
                      </a:endParaRPr>
                    </a:p>
                  </a:txBody>
                  <a:tcPr marL="88900" marR="88900" marT="50800" marB="50800" anchor="ctr">
                    <a:lnL w="12700" cap="flat" cmpd="sng" algn="ctr">
                      <a:solidFill>
                        <a:srgbClr val="252D3D"/>
                      </a:solidFill>
                      <a:prstDash val="solid"/>
                      <a:round/>
                      <a:headEnd type="none" w="med" len="med"/>
                      <a:tailEnd type="none" w="med" len="med"/>
                    </a:lnL>
                    <a:lnR w="12700" cap="flat" cmpd="sng" algn="ctr">
                      <a:solidFill>
                        <a:srgbClr val="252D3D"/>
                      </a:solidFill>
                      <a:prstDash val="solid"/>
                      <a:round/>
                      <a:headEnd type="none" w="med" len="med"/>
                      <a:tailEnd type="none" w="med" len="med"/>
                    </a:lnR>
                    <a:lnT w="12700" cap="flat" cmpd="sng" algn="ctr">
                      <a:solidFill>
                        <a:srgbClr val="252D3D"/>
                      </a:solidFill>
                      <a:prstDash val="solid"/>
                      <a:round/>
                      <a:headEnd type="none" w="med" len="med"/>
                      <a:tailEnd type="none" w="med" len="med"/>
                    </a:lnT>
                    <a:lnB w="12700" cap="flat" cmpd="sng" algn="ctr">
                      <a:solidFill>
                        <a:srgbClr val="252D3D"/>
                      </a:solidFill>
                      <a:prstDash val="solid"/>
                      <a:round/>
                      <a:headEnd type="none" w="med" len="med"/>
                      <a:tailEnd type="none" w="med" len="med"/>
                    </a:lnB>
                    <a:solidFill>
                      <a:srgbClr val="151A24"/>
                    </a:solidFill>
                  </a:tcPr>
                </a:tc>
                <a:tc>
                  <a:txBody>
                    <a:bodyPr/>
                    <a:lstStyle/>
                    <a:p>
                      <a:pPr algn="ctr" indent="0" marL="0">
                        <a:buNone/>
                      </a:pPr>
                      <a:r>
                        <a:rPr lang="en-US" sz="900" dirty="0">
                          <a:solidFill>
                            <a:srgbClr val="8A94A6"/>
                          </a:solidFill>
                          <a:latin typeface="Trenda IG Text" pitchFamily="34" charset="0"/>
                          <a:ea typeface="Trenda IG Text" pitchFamily="34" charset="-122"/>
                          <a:cs typeface="Trenda IG Text" pitchFamily="34" charset="-120"/>
                        </a:rPr>
                        <a:t>2:30</a:t>
                      </a:r>
                      <a:endParaRPr lang="en-US" sz="900" dirty="0">
                        <a:latin typeface="Trenda IG Text" charset="0"/>
                        <a:ea typeface="Trenda IG Text" charset="0"/>
                        <a:cs typeface="Trenda IG Text" charset="0"/>
                      </a:endParaRPr>
                    </a:p>
                  </a:txBody>
                  <a:tcPr marL="88900" marR="88900" marT="50800" marB="50800" anchor="ctr">
                    <a:lnL w="12700" cap="flat" cmpd="sng" algn="ctr">
                      <a:solidFill>
                        <a:srgbClr val="252D3D"/>
                      </a:solidFill>
                      <a:prstDash val="solid"/>
                      <a:round/>
                      <a:headEnd type="none" w="med" len="med"/>
                      <a:tailEnd type="none" w="med" len="med"/>
                    </a:lnL>
                    <a:lnR w="12700" cap="flat" cmpd="sng" algn="ctr">
                      <a:solidFill>
                        <a:srgbClr val="252D3D"/>
                      </a:solidFill>
                      <a:prstDash val="solid"/>
                      <a:round/>
                      <a:headEnd type="none" w="med" len="med"/>
                      <a:tailEnd type="none" w="med" len="med"/>
                    </a:lnR>
                    <a:lnT w="12700" cap="flat" cmpd="sng" algn="ctr">
                      <a:solidFill>
                        <a:srgbClr val="252D3D"/>
                      </a:solidFill>
                      <a:prstDash val="solid"/>
                      <a:round/>
                      <a:headEnd type="none" w="med" len="med"/>
                      <a:tailEnd type="none" w="med" len="med"/>
                    </a:lnT>
                    <a:lnB w="12700" cap="flat" cmpd="sng" algn="ctr">
                      <a:solidFill>
                        <a:srgbClr val="252D3D"/>
                      </a:solidFill>
                      <a:prstDash val="solid"/>
                      <a:round/>
                      <a:headEnd type="none" w="med" len="med"/>
                      <a:tailEnd type="none" w="med" len="med"/>
                    </a:lnB>
                    <a:solidFill>
                      <a:srgbClr val="151A24"/>
                    </a:solidFill>
                  </a:tcPr>
                </a:tc>
                <a:tc>
                  <a:txBody>
                    <a:bodyPr/>
                    <a:lstStyle/>
                    <a:p>
                      <a:pPr algn="ctr" indent="0" marL="0">
                        <a:buNone/>
                      </a:pPr>
                      <a:r>
                        <a:rPr lang="en-US" sz="900" b="1" dirty="0">
                          <a:solidFill>
                            <a:srgbClr val="FFFFFF"/>
                          </a:solidFill>
                          <a:latin typeface="Trenda IG Text" pitchFamily="34" charset="0"/>
                          <a:ea typeface="Trenda IG Text" pitchFamily="34" charset="-122"/>
                          <a:cs typeface="Trenda IG Text" pitchFamily="34" charset="-120"/>
                        </a:rPr>
                        <a:t>2:05</a:t>
                      </a:r>
                      <a:endParaRPr lang="en-US" sz="900" dirty="0">
                        <a:latin typeface="Trenda IG Text" charset="0"/>
                        <a:ea typeface="Trenda IG Text" charset="0"/>
                        <a:cs typeface="Trenda IG Text" charset="0"/>
                      </a:endParaRPr>
                    </a:p>
                  </a:txBody>
                  <a:tcPr marL="88900" marR="88900" marT="50800" marB="50800" anchor="ctr">
                    <a:lnL w="12700" cap="flat" cmpd="sng" algn="ctr">
                      <a:solidFill>
                        <a:srgbClr val="252D3D"/>
                      </a:solidFill>
                      <a:prstDash val="solid"/>
                      <a:round/>
                      <a:headEnd type="none" w="med" len="med"/>
                      <a:tailEnd type="none" w="med" len="med"/>
                    </a:lnL>
                    <a:lnR w="12700" cap="flat" cmpd="sng" algn="ctr">
                      <a:solidFill>
                        <a:srgbClr val="252D3D"/>
                      </a:solidFill>
                      <a:prstDash val="solid"/>
                      <a:round/>
                      <a:headEnd type="none" w="med" len="med"/>
                      <a:tailEnd type="none" w="med" len="med"/>
                    </a:lnR>
                    <a:lnT w="12700" cap="flat" cmpd="sng" algn="ctr">
                      <a:solidFill>
                        <a:srgbClr val="252D3D"/>
                      </a:solidFill>
                      <a:prstDash val="solid"/>
                      <a:round/>
                      <a:headEnd type="none" w="med" len="med"/>
                      <a:tailEnd type="none" w="med" len="med"/>
                    </a:lnT>
                    <a:lnB w="12700" cap="flat" cmpd="sng" algn="ctr">
                      <a:solidFill>
                        <a:srgbClr val="252D3D"/>
                      </a:solidFill>
                      <a:prstDash val="solid"/>
                      <a:round/>
                      <a:headEnd type="none" w="med" len="med"/>
                      <a:tailEnd type="none" w="med" len="med"/>
                    </a:lnB>
                    <a:solidFill>
                      <a:srgbClr val="151A24"/>
                    </a:solidFill>
                  </a:tcPr>
                </a:tc>
                <a:tc>
                  <a:txBody>
                    <a:bodyPr/>
                    <a:lstStyle/>
                    <a:p>
                      <a:pPr algn="ctr" indent="0" marL="0">
                        <a:buNone/>
                      </a:pPr>
                      <a:r>
                        <a:rPr lang="en-US" sz="900" b="1" dirty="0">
                          <a:solidFill>
                            <a:srgbClr val="22C55E"/>
                          </a:solidFill>
                          <a:latin typeface="Trenda IG Text" pitchFamily="34" charset="0"/>
                          <a:ea typeface="Trenda IG Text" pitchFamily="34" charset="-122"/>
                          <a:cs typeface="Trenda IG Text" pitchFamily="34" charset="-120"/>
                        </a:rPr>
                        <a:t>0:25</a:t>
                      </a:r>
                      <a:endParaRPr lang="en-US" sz="900" dirty="0">
                        <a:latin typeface="Trenda IG Text" charset="0"/>
                        <a:ea typeface="Trenda IG Text" charset="0"/>
                        <a:cs typeface="Trenda IG Text" charset="0"/>
                      </a:endParaRPr>
                    </a:p>
                  </a:txBody>
                  <a:tcPr marL="88900" marR="88900" marT="50800" marB="50800" anchor="ctr">
                    <a:lnL w="12700" cap="flat" cmpd="sng" algn="ctr">
                      <a:solidFill>
                        <a:srgbClr val="252D3D"/>
                      </a:solidFill>
                      <a:prstDash val="solid"/>
                      <a:round/>
                      <a:headEnd type="none" w="med" len="med"/>
                      <a:tailEnd type="none" w="med" len="med"/>
                    </a:lnL>
                    <a:lnR w="12700" cap="flat" cmpd="sng" algn="ctr">
                      <a:solidFill>
                        <a:srgbClr val="252D3D"/>
                      </a:solidFill>
                      <a:prstDash val="solid"/>
                      <a:round/>
                      <a:headEnd type="none" w="med" len="med"/>
                      <a:tailEnd type="none" w="med" len="med"/>
                    </a:lnR>
                    <a:lnT w="12700" cap="flat" cmpd="sng" algn="ctr">
                      <a:solidFill>
                        <a:srgbClr val="252D3D"/>
                      </a:solidFill>
                      <a:prstDash val="solid"/>
                      <a:round/>
                      <a:headEnd type="none" w="med" len="med"/>
                      <a:tailEnd type="none" w="med" len="med"/>
                    </a:lnT>
                    <a:lnB w="12700" cap="flat" cmpd="sng" algn="ctr">
                      <a:solidFill>
                        <a:srgbClr val="252D3D"/>
                      </a:solidFill>
                      <a:prstDash val="solid"/>
                      <a:round/>
                      <a:headEnd type="none" w="med" len="med"/>
                      <a:tailEnd type="none" w="med" len="med"/>
                    </a:lnB>
                    <a:solidFill>
                      <a:srgbClr val="151A24"/>
                    </a:solidFill>
                  </a:tcPr>
                </a:tc>
                <a:tc>
                  <a:txBody>
                    <a:bodyPr/>
                    <a:lstStyle/>
                    <a:p>
                      <a:pPr indent="0" marL="0">
                        <a:buNone/>
                      </a:pPr>
                      <a:r>
                        <a:rPr lang="en-US" sz="850" dirty="0">
                          <a:solidFill>
                            <a:srgbClr val="8A94A6"/>
                          </a:solidFill>
                          <a:latin typeface="Trenda IG Text" pitchFamily="34" charset="0"/>
                          <a:ea typeface="Trenda IG Text" pitchFamily="34" charset="-122"/>
                          <a:cs typeface="Trenda IG Text" pitchFamily="34" charset="-120"/>
                        </a:rPr>
                        <a:t>A grounded draft replaces the blank box, the agent reviews and edits</a:t>
                      </a:r>
                      <a:endParaRPr lang="en-US" sz="850" dirty="0">
                        <a:latin typeface="Trenda IG Text" charset="0"/>
                        <a:ea typeface="Trenda IG Text" charset="0"/>
                        <a:cs typeface="Trenda IG Text" charset="0"/>
                      </a:endParaRPr>
                    </a:p>
                  </a:txBody>
                  <a:tcPr marL="88900" marR="88900" marT="50800" marB="50800" anchor="ctr">
                    <a:lnL w="12700" cap="flat" cmpd="sng" algn="ctr">
                      <a:solidFill>
                        <a:srgbClr val="252D3D"/>
                      </a:solidFill>
                      <a:prstDash val="solid"/>
                      <a:round/>
                      <a:headEnd type="none" w="med" len="med"/>
                      <a:tailEnd type="none" w="med" len="med"/>
                    </a:lnL>
                    <a:lnR w="12700" cap="flat" cmpd="sng" algn="ctr">
                      <a:solidFill>
                        <a:srgbClr val="252D3D"/>
                      </a:solidFill>
                      <a:prstDash val="solid"/>
                      <a:round/>
                      <a:headEnd type="none" w="med" len="med"/>
                      <a:tailEnd type="none" w="med" len="med"/>
                    </a:lnR>
                    <a:lnT w="12700" cap="flat" cmpd="sng" algn="ctr">
                      <a:solidFill>
                        <a:srgbClr val="252D3D"/>
                      </a:solidFill>
                      <a:prstDash val="solid"/>
                      <a:round/>
                      <a:headEnd type="none" w="med" len="med"/>
                      <a:tailEnd type="none" w="med" len="med"/>
                    </a:lnT>
                    <a:lnB w="12700" cap="flat" cmpd="sng" algn="ctr">
                      <a:solidFill>
                        <a:srgbClr val="252D3D"/>
                      </a:solidFill>
                      <a:prstDash val="solid"/>
                      <a:round/>
                      <a:headEnd type="none" w="med" len="med"/>
                      <a:tailEnd type="none" w="med" len="med"/>
                    </a:lnB>
                    <a:solidFill>
                      <a:srgbClr val="151A24"/>
                    </a:solidFill>
                  </a:tcPr>
                </a:tc>
              </a:tr>
              <a:tr h="384048">
                <a:tc>
                  <a:txBody>
                    <a:bodyPr/>
                    <a:lstStyle/>
                    <a:p>
                      <a:pPr indent="0" marL="0">
                        <a:buNone/>
                      </a:pPr>
                      <a:r>
                        <a:rPr lang="en-US" sz="900" dirty="0">
                          <a:solidFill>
                            <a:srgbClr val="E6EAF2"/>
                          </a:solidFill>
                          <a:latin typeface="Trenda IG Text" pitchFamily="34" charset="0"/>
                          <a:ea typeface="Trenda IG Text" pitchFamily="34" charset="-122"/>
                          <a:cs typeface="Trenda IG Text" pitchFamily="34" charset="-120"/>
                        </a:rPr>
                        <a:t>Update, log and close</a:t>
                      </a:r>
                      <a:endParaRPr lang="en-US" sz="900" dirty="0">
                        <a:latin typeface="Trenda IG Text" charset="0"/>
                        <a:ea typeface="Trenda IG Text" charset="0"/>
                        <a:cs typeface="Trenda IG Text" charset="0"/>
                      </a:endParaRPr>
                    </a:p>
                  </a:txBody>
                  <a:tcPr marL="88900" marR="88900" marT="50800" marB="50800" anchor="ctr">
                    <a:lnL w="12700" cap="flat" cmpd="sng" algn="ctr">
                      <a:solidFill>
                        <a:srgbClr val="252D3D"/>
                      </a:solidFill>
                      <a:prstDash val="solid"/>
                      <a:round/>
                      <a:headEnd type="none" w="med" len="med"/>
                      <a:tailEnd type="none" w="med" len="med"/>
                    </a:lnL>
                    <a:lnR w="12700" cap="flat" cmpd="sng" algn="ctr">
                      <a:solidFill>
                        <a:srgbClr val="252D3D"/>
                      </a:solidFill>
                      <a:prstDash val="solid"/>
                      <a:round/>
                      <a:headEnd type="none" w="med" len="med"/>
                      <a:tailEnd type="none" w="med" len="med"/>
                    </a:lnR>
                    <a:lnT w="12700" cap="flat" cmpd="sng" algn="ctr">
                      <a:solidFill>
                        <a:srgbClr val="252D3D"/>
                      </a:solidFill>
                      <a:prstDash val="solid"/>
                      <a:round/>
                      <a:headEnd type="none" w="med" len="med"/>
                      <a:tailEnd type="none" w="med" len="med"/>
                    </a:lnT>
                    <a:lnB w="12700" cap="flat" cmpd="sng" algn="ctr">
                      <a:solidFill>
                        <a:srgbClr val="252D3D"/>
                      </a:solidFill>
                      <a:prstDash val="solid"/>
                      <a:round/>
                      <a:headEnd type="none" w="med" len="med"/>
                      <a:tailEnd type="none" w="med" len="med"/>
                    </a:lnB>
                    <a:solidFill>
                      <a:srgbClr val="151A24"/>
                    </a:solidFill>
                  </a:tcPr>
                </a:tc>
                <a:tc>
                  <a:txBody>
                    <a:bodyPr/>
                    <a:lstStyle/>
                    <a:p>
                      <a:pPr algn="ctr" indent="0" marL="0">
                        <a:buNone/>
                      </a:pPr>
                      <a:r>
                        <a:rPr lang="en-US" sz="900" dirty="0">
                          <a:solidFill>
                            <a:srgbClr val="8A94A6"/>
                          </a:solidFill>
                          <a:latin typeface="Trenda IG Text" pitchFamily="34" charset="0"/>
                          <a:ea typeface="Trenda IG Text" pitchFamily="34" charset="-122"/>
                          <a:cs typeface="Trenda IG Text" pitchFamily="34" charset="-120"/>
                        </a:rPr>
                        <a:t>0:50</a:t>
                      </a:r>
                      <a:endParaRPr lang="en-US" sz="900" dirty="0">
                        <a:latin typeface="Trenda IG Text" charset="0"/>
                        <a:ea typeface="Trenda IG Text" charset="0"/>
                        <a:cs typeface="Trenda IG Text" charset="0"/>
                      </a:endParaRPr>
                    </a:p>
                  </a:txBody>
                  <a:tcPr marL="88900" marR="88900" marT="50800" marB="50800" anchor="ctr">
                    <a:lnL w="12700" cap="flat" cmpd="sng" algn="ctr">
                      <a:solidFill>
                        <a:srgbClr val="252D3D"/>
                      </a:solidFill>
                      <a:prstDash val="solid"/>
                      <a:round/>
                      <a:headEnd type="none" w="med" len="med"/>
                      <a:tailEnd type="none" w="med" len="med"/>
                    </a:lnL>
                    <a:lnR w="12700" cap="flat" cmpd="sng" algn="ctr">
                      <a:solidFill>
                        <a:srgbClr val="252D3D"/>
                      </a:solidFill>
                      <a:prstDash val="solid"/>
                      <a:round/>
                      <a:headEnd type="none" w="med" len="med"/>
                      <a:tailEnd type="none" w="med" len="med"/>
                    </a:lnR>
                    <a:lnT w="12700" cap="flat" cmpd="sng" algn="ctr">
                      <a:solidFill>
                        <a:srgbClr val="252D3D"/>
                      </a:solidFill>
                      <a:prstDash val="solid"/>
                      <a:round/>
                      <a:headEnd type="none" w="med" len="med"/>
                      <a:tailEnd type="none" w="med" len="med"/>
                    </a:lnT>
                    <a:lnB w="12700" cap="flat" cmpd="sng" algn="ctr">
                      <a:solidFill>
                        <a:srgbClr val="252D3D"/>
                      </a:solidFill>
                      <a:prstDash val="solid"/>
                      <a:round/>
                      <a:headEnd type="none" w="med" len="med"/>
                      <a:tailEnd type="none" w="med" len="med"/>
                    </a:lnB>
                    <a:solidFill>
                      <a:srgbClr val="151A24"/>
                    </a:solidFill>
                  </a:tcPr>
                </a:tc>
                <a:tc>
                  <a:txBody>
                    <a:bodyPr/>
                    <a:lstStyle/>
                    <a:p>
                      <a:pPr algn="ctr" indent="0" marL="0">
                        <a:buNone/>
                      </a:pPr>
                      <a:r>
                        <a:rPr lang="en-US" sz="900" b="1" dirty="0">
                          <a:solidFill>
                            <a:srgbClr val="FFFFFF"/>
                          </a:solidFill>
                          <a:latin typeface="Trenda IG Text" pitchFamily="34" charset="0"/>
                          <a:ea typeface="Trenda IG Text" pitchFamily="34" charset="-122"/>
                          <a:cs typeface="Trenda IG Text" pitchFamily="34" charset="-120"/>
                        </a:rPr>
                        <a:t>0:45</a:t>
                      </a:r>
                      <a:endParaRPr lang="en-US" sz="900" dirty="0">
                        <a:latin typeface="Trenda IG Text" charset="0"/>
                        <a:ea typeface="Trenda IG Text" charset="0"/>
                        <a:cs typeface="Trenda IG Text" charset="0"/>
                      </a:endParaRPr>
                    </a:p>
                  </a:txBody>
                  <a:tcPr marL="88900" marR="88900" marT="50800" marB="50800" anchor="ctr">
                    <a:lnL w="12700" cap="flat" cmpd="sng" algn="ctr">
                      <a:solidFill>
                        <a:srgbClr val="252D3D"/>
                      </a:solidFill>
                      <a:prstDash val="solid"/>
                      <a:round/>
                      <a:headEnd type="none" w="med" len="med"/>
                      <a:tailEnd type="none" w="med" len="med"/>
                    </a:lnL>
                    <a:lnR w="12700" cap="flat" cmpd="sng" algn="ctr">
                      <a:solidFill>
                        <a:srgbClr val="252D3D"/>
                      </a:solidFill>
                      <a:prstDash val="solid"/>
                      <a:round/>
                      <a:headEnd type="none" w="med" len="med"/>
                      <a:tailEnd type="none" w="med" len="med"/>
                    </a:lnR>
                    <a:lnT w="12700" cap="flat" cmpd="sng" algn="ctr">
                      <a:solidFill>
                        <a:srgbClr val="252D3D"/>
                      </a:solidFill>
                      <a:prstDash val="solid"/>
                      <a:round/>
                      <a:headEnd type="none" w="med" len="med"/>
                      <a:tailEnd type="none" w="med" len="med"/>
                    </a:lnT>
                    <a:lnB w="12700" cap="flat" cmpd="sng" algn="ctr">
                      <a:solidFill>
                        <a:srgbClr val="252D3D"/>
                      </a:solidFill>
                      <a:prstDash val="solid"/>
                      <a:round/>
                      <a:headEnd type="none" w="med" len="med"/>
                      <a:tailEnd type="none" w="med" len="med"/>
                    </a:lnB>
                    <a:solidFill>
                      <a:srgbClr val="151A24"/>
                    </a:solidFill>
                  </a:tcPr>
                </a:tc>
                <a:tc>
                  <a:txBody>
                    <a:bodyPr/>
                    <a:lstStyle/>
                    <a:p>
                      <a:pPr algn="ctr" indent="0" marL="0">
                        <a:buNone/>
                      </a:pPr>
                      <a:r>
                        <a:rPr lang="en-US" sz="900" b="1" dirty="0">
                          <a:solidFill>
                            <a:srgbClr val="22C55E"/>
                          </a:solidFill>
                          <a:latin typeface="Trenda IG Text" pitchFamily="34" charset="0"/>
                          <a:ea typeface="Trenda IG Text" pitchFamily="34" charset="-122"/>
                          <a:cs typeface="Trenda IG Text" pitchFamily="34" charset="-120"/>
                        </a:rPr>
                        <a:t>0:05</a:t>
                      </a:r>
                      <a:endParaRPr lang="en-US" sz="900" dirty="0">
                        <a:latin typeface="Trenda IG Text" charset="0"/>
                        <a:ea typeface="Trenda IG Text" charset="0"/>
                        <a:cs typeface="Trenda IG Text" charset="0"/>
                      </a:endParaRPr>
                    </a:p>
                  </a:txBody>
                  <a:tcPr marL="88900" marR="88900" marT="50800" marB="50800" anchor="ctr">
                    <a:lnL w="12700" cap="flat" cmpd="sng" algn="ctr">
                      <a:solidFill>
                        <a:srgbClr val="252D3D"/>
                      </a:solidFill>
                      <a:prstDash val="solid"/>
                      <a:round/>
                      <a:headEnd type="none" w="med" len="med"/>
                      <a:tailEnd type="none" w="med" len="med"/>
                    </a:lnL>
                    <a:lnR w="12700" cap="flat" cmpd="sng" algn="ctr">
                      <a:solidFill>
                        <a:srgbClr val="252D3D"/>
                      </a:solidFill>
                      <a:prstDash val="solid"/>
                      <a:round/>
                      <a:headEnd type="none" w="med" len="med"/>
                      <a:tailEnd type="none" w="med" len="med"/>
                    </a:lnR>
                    <a:lnT w="12700" cap="flat" cmpd="sng" algn="ctr">
                      <a:solidFill>
                        <a:srgbClr val="252D3D"/>
                      </a:solidFill>
                      <a:prstDash val="solid"/>
                      <a:round/>
                      <a:headEnd type="none" w="med" len="med"/>
                      <a:tailEnd type="none" w="med" len="med"/>
                    </a:lnT>
                    <a:lnB w="12700" cap="flat" cmpd="sng" algn="ctr">
                      <a:solidFill>
                        <a:srgbClr val="252D3D"/>
                      </a:solidFill>
                      <a:prstDash val="solid"/>
                      <a:round/>
                      <a:headEnd type="none" w="med" len="med"/>
                      <a:tailEnd type="none" w="med" len="med"/>
                    </a:lnB>
                    <a:solidFill>
                      <a:srgbClr val="151A24"/>
                    </a:solidFill>
                  </a:tcPr>
                </a:tc>
                <a:tc>
                  <a:txBody>
                    <a:bodyPr/>
                    <a:lstStyle/>
                    <a:p>
                      <a:pPr indent="0" marL="0">
                        <a:buNone/>
                      </a:pPr>
                      <a:r>
                        <a:rPr lang="en-US" sz="850" dirty="0">
                          <a:solidFill>
                            <a:srgbClr val="8A94A6"/>
                          </a:solidFill>
                          <a:latin typeface="Trenda IG Text" pitchFamily="34" charset="0"/>
                          <a:ea typeface="Trenda IG Text" pitchFamily="34" charset="-122"/>
                          <a:cs typeface="Trenda IG Text" pitchFamily="34" charset="-120"/>
                        </a:rPr>
                        <a:t>Case fields, summary and disposition are already populated</a:t>
                      </a:r>
                      <a:endParaRPr lang="en-US" sz="850" dirty="0">
                        <a:latin typeface="Trenda IG Text" charset="0"/>
                        <a:ea typeface="Trenda IG Text" charset="0"/>
                        <a:cs typeface="Trenda IG Text" charset="0"/>
                      </a:endParaRPr>
                    </a:p>
                  </a:txBody>
                  <a:tcPr marL="88900" marR="88900" marT="50800" marB="50800" anchor="ctr">
                    <a:lnL w="12700" cap="flat" cmpd="sng" algn="ctr">
                      <a:solidFill>
                        <a:srgbClr val="252D3D"/>
                      </a:solidFill>
                      <a:prstDash val="solid"/>
                      <a:round/>
                      <a:headEnd type="none" w="med" len="med"/>
                      <a:tailEnd type="none" w="med" len="med"/>
                    </a:lnL>
                    <a:lnR w="12700" cap="flat" cmpd="sng" algn="ctr">
                      <a:solidFill>
                        <a:srgbClr val="252D3D"/>
                      </a:solidFill>
                      <a:prstDash val="solid"/>
                      <a:round/>
                      <a:headEnd type="none" w="med" len="med"/>
                      <a:tailEnd type="none" w="med" len="med"/>
                    </a:lnR>
                    <a:lnT w="12700" cap="flat" cmpd="sng" algn="ctr">
                      <a:solidFill>
                        <a:srgbClr val="252D3D"/>
                      </a:solidFill>
                      <a:prstDash val="solid"/>
                      <a:round/>
                      <a:headEnd type="none" w="med" len="med"/>
                      <a:tailEnd type="none" w="med" len="med"/>
                    </a:lnT>
                    <a:lnB w="12700" cap="flat" cmpd="sng" algn="ctr">
                      <a:solidFill>
                        <a:srgbClr val="252D3D"/>
                      </a:solidFill>
                      <a:prstDash val="solid"/>
                      <a:round/>
                      <a:headEnd type="none" w="med" len="med"/>
                      <a:tailEnd type="none" w="med" len="med"/>
                    </a:lnB>
                    <a:solidFill>
                      <a:srgbClr val="151A24"/>
                    </a:solidFill>
                  </a:tcPr>
                </a:tc>
              </a:tr>
              <a:tr h="384048">
                <a:tc>
                  <a:txBody>
                    <a:bodyPr/>
                    <a:lstStyle/>
                    <a:p>
                      <a:pPr indent="0" marL="0">
                        <a:buNone/>
                      </a:pPr>
                      <a:r>
                        <a:rPr lang="en-US" sz="950" b="1" dirty="0">
                          <a:solidFill>
                            <a:srgbClr val="FFFFFF"/>
                          </a:solidFill>
                          <a:latin typeface="Trenda IG Text" pitchFamily="34" charset="0"/>
                          <a:ea typeface="Trenda IG Text" pitchFamily="34" charset="-122"/>
                          <a:cs typeface="Trenda IG Text" pitchFamily="34" charset="-120"/>
                        </a:rPr>
                        <a:t>BLENDED AVERAGE HANDLING TIME</a:t>
                      </a:r>
                      <a:endParaRPr lang="en-US" sz="950" dirty="0">
                        <a:latin typeface="Trenda IG Text" charset="0"/>
                        <a:ea typeface="Trenda IG Text" charset="0"/>
                        <a:cs typeface="Trenda IG Text" charset="0"/>
                      </a:endParaRPr>
                    </a:p>
                  </a:txBody>
                  <a:tcPr marL="88900" marR="88900" marT="50800" marB="50800" anchor="ctr">
                    <a:lnL w="12700" cap="flat" cmpd="sng" algn="ctr">
                      <a:solidFill>
                        <a:srgbClr val="252D3D"/>
                      </a:solidFill>
                      <a:prstDash val="solid"/>
                      <a:round/>
                      <a:headEnd type="none" w="med" len="med"/>
                      <a:tailEnd type="none" w="med" len="med"/>
                    </a:lnL>
                    <a:lnR w="12700" cap="flat" cmpd="sng" algn="ctr">
                      <a:solidFill>
                        <a:srgbClr val="252D3D"/>
                      </a:solidFill>
                      <a:prstDash val="solid"/>
                      <a:round/>
                      <a:headEnd type="none" w="med" len="med"/>
                      <a:tailEnd type="none" w="med" len="med"/>
                    </a:lnR>
                    <a:lnT w="12700" cap="flat" cmpd="sng" algn="ctr">
                      <a:solidFill>
                        <a:srgbClr val="252D3D"/>
                      </a:solidFill>
                      <a:prstDash val="solid"/>
                      <a:round/>
                      <a:headEnd type="none" w="med" len="med"/>
                      <a:tailEnd type="none" w="med" len="med"/>
                    </a:lnT>
                    <a:lnB w="12700" cap="flat" cmpd="sng" algn="ctr">
                      <a:solidFill>
                        <a:srgbClr val="252D3D"/>
                      </a:solidFill>
                      <a:prstDash val="solid"/>
                      <a:round/>
                      <a:headEnd type="none" w="med" len="med"/>
                      <a:tailEnd type="none" w="med" len="med"/>
                    </a:lnB>
                    <a:solidFill>
                      <a:srgbClr val="17222E"/>
                    </a:solidFill>
                  </a:tcPr>
                </a:tc>
                <a:tc>
                  <a:txBody>
                    <a:bodyPr/>
                    <a:lstStyle/>
                    <a:p>
                      <a:pPr algn="ctr" indent="0" marL="0">
                        <a:buNone/>
                      </a:pPr>
                      <a:r>
                        <a:rPr lang="en-US" sz="1100" b="1" dirty="0">
                          <a:solidFill>
                            <a:srgbClr val="8A94A6"/>
                          </a:solidFill>
                          <a:latin typeface="Trenda IG Text" pitchFamily="34" charset="0"/>
                          <a:ea typeface="Trenda IG Text" pitchFamily="34" charset="-122"/>
                          <a:cs typeface="Trenda IG Text" pitchFamily="34" charset="-120"/>
                        </a:rPr>
                        <a:t>8:15</a:t>
                      </a:r>
                      <a:endParaRPr lang="en-US" sz="1100" dirty="0">
                        <a:latin typeface="Trenda IG Text" charset="0"/>
                        <a:ea typeface="Trenda IG Text" charset="0"/>
                        <a:cs typeface="Trenda IG Text" charset="0"/>
                      </a:endParaRPr>
                    </a:p>
                  </a:txBody>
                  <a:tcPr marL="88900" marR="88900" marT="50800" marB="50800" anchor="ctr">
                    <a:lnL w="12700" cap="flat" cmpd="sng" algn="ctr">
                      <a:solidFill>
                        <a:srgbClr val="252D3D"/>
                      </a:solidFill>
                      <a:prstDash val="solid"/>
                      <a:round/>
                      <a:headEnd type="none" w="med" len="med"/>
                      <a:tailEnd type="none" w="med" len="med"/>
                    </a:lnL>
                    <a:lnR w="12700" cap="flat" cmpd="sng" algn="ctr">
                      <a:solidFill>
                        <a:srgbClr val="252D3D"/>
                      </a:solidFill>
                      <a:prstDash val="solid"/>
                      <a:round/>
                      <a:headEnd type="none" w="med" len="med"/>
                      <a:tailEnd type="none" w="med" len="med"/>
                    </a:lnR>
                    <a:lnT w="12700" cap="flat" cmpd="sng" algn="ctr">
                      <a:solidFill>
                        <a:srgbClr val="252D3D"/>
                      </a:solidFill>
                      <a:prstDash val="solid"/>
                      <a:round/>
                      <a:headEnd type="none" w="med" len="med"/>
                      <a:tailEnd type="none" w="med" len="med"/>
                    </a:lnT>
                    <a:lnB w="12700" cap="flat" cmpd="sng" algn="ctr">
                      <a:solidFill>
                        <a:srgbClr val="252D3D"/>
                      </a:solidFill>
                      <a:prstDash val="solid"/>
                      <a:round/>
                      <a:headEnd type="none" w="med" len="med"/>
                      <a:tailEnd type="none" w="med" len="med"/>
                    </a:lnB>
                    <a:solidFill>
                      <a:srgbClr val="17222E"/>
                    </a:solidFill>
                  </a:tcPr>
                </a:tc>
                <a:tc>
                  <a:txBody>
                    <a:bodyPr/>
                    <a:lstStyle/>
                    <a:p>
                      <a:pPr algn="ctr" indent="0" marL="0">
                        <a:buNone/>
                      </a:pPr>
                      <a:r>
                        <a:rPr lang="en-US" sz="1100" b="1" dirty="0">
                          <a:solidFill>
                            <a:srgbClr val="22D3EE"/>
                          </a:solidFill>
                          <a:latin typeface="Trenda IG Text" pitchFamily="34" charset="0"/>
                          <a:ea typeface="Trenda IG Text" pitchFamily="34" charset="-122"/>
                          <a:cs typeface="Trenda IG Text" pitchFamily="34" charset="-120"/>
                        </a:rPr>
                        <a:t>6:15</a:t>
                      </a:r>
                      <a:endParaRPr lang="en-US" sz="1100" dirty="0">
                        <a:latin typeface="Trenda IG Text" charset="0"/>
                        <a:ea typeface="Trenda IG Text" charset="0"/>
                        <a:cs typeface="Trenda IG Text" charset="0"/>
                      </a:endParaRPr>
                    </a:p>
                  </a:txBody>
                  <a:tcPr marL="88900" marR="88900" marT="50800" marB="50800" anchor="ctr">
                    <a:lnL w="12700" cap="flat" cmpd="sng" algn="ctr">
                      <a:solidFill>
                        <a:srgbClr val="252D3D"/>
                      </a:solidFill>
                      <a:prstDash val="solid"/>
                      <a:round/>
                      <a:headEnd type="none" w="med" len="med"/>
                      <a:tailEnd type="none" w="med" len="med"/>
                    </a:lnL>
                    <a:lnR w="12700" cap="flat" cmpd="sng" algn="ctr">
                      <a:solidFill>
                        <a:srgbClr val="252D3D"/>
                      </a:solidFill>
                      <a:prstDash val="solid"/>
                      <a:round/>
                      <a:headEnd type="none" w="med" len="med"/>
                      <a:tailEnd type="none" w="med" len="med"/>
                    </a:lnR>
                    <a:lnT w="12700" cap="flat" cmpd="sng" algn="ctr">
                      <a:solidFill>
                        <a:srgbClr val="252D3D"/>
                      </a:solidFill>
                      <a:prstDash val="solid"/>
                      <a:round/>
                      <a:headEnd type="none" w="med" len="med"/>
                      <a:tailEnd type="none" w="med" len="med"/>
                    </a:lnT>
                    <a:lnB w="12700" cap="flat" cmpd="sng" algn="ctr">
                      <a:solidFill>
                        <a:srgbClr val="252D3D"/>
                      </a:solidFill>
                      <a:prstDash val="solid"/>
                      <a:round/>
                      <a:headEnd type="none" w="med" len="med"/>
                      <a:tailEnd type="none" w="med" len="med"/>
                    </a:lnB>
                    <a:solidFill>
                      <a:srgbClr val="17222E"/>
                    </a:solidFill>
                  </a:tcPr>
                </a:tc>
                <a:tc>
                  <a:txBody>
                    <a:bodyPr/>
                    <a:lstStyle/>
                    <a:p>
                      <a:pPr algn="ctr" indent="0" marL="0">
                        <a:buNone/>
                      </a:pPr>
                      <a:r>
                        <a:rPr lang="en-US" sz="1100" b="1" dirty="0">
                          <a:solidFill>
                            <a:srgbClr val="22C55E"/>
                          </a:solidFill>
                          <a:latin typeface="Trenda IG Text" pitchFamily="34" charset="0"/>
                          <a:ea typeface="Trenda IG Text" pitchFamily="34" charset="-122"/>
                          <a:cs typeface="Trenda IG Text" pitchFamily="34" charset="-120"/>
                        </a:rPr>
                        <a:t>2:00</a:t>
                      </a:r>
                      <a:endParaRPr lang="en-US" sz="1100" dirty="0">
                        <a:latin typeface="Trenda IG Text" charset="0"/>
                        <a:ea typeface="Trenda IG Text" charset="0"/>
                        <a:cs typeface="Trenda IG Text" charset="0"/>
                      </a:endParaRPr>
                    </a:p>
                  </a:txBody>
                  <a:tcPr marL="88900" marR="88900" marT="50800" marB="50800" anchor="ctr">
                    <a:lnL w="12700" cap="flat" cmpd="sng" algn="ctr">
                      <a:solidFill>
                        <a:srgbClr val="252D3D"/>
                      </a:solidFill>
                      <a:prstDash val="solid"/>
                      <a:round/>
                      <a:headEnd type="none" w="med" len="med"/>
                      <a:tailEnd type="none" w="med" len="med"/>
                    </a:lnL>
                    <a:lnR w="12700" cap="flat" cmpd="sng" algn="ctr">
                      <a:solidFill>
                        <a:srgbClr val="252D3D"/>
                      </a:solidFill>
                      <a:prstDash val="solid"/>
                      <a:round/>
                      <a:headEnd type="none" w="med" len="med"/>
                      <a:tailEnd type="none" w="med" len="med"/>
                    </a:lnR>
                    <a:lnT w="12700" cap="flat" cmpd="sng" algn="ctr">
                      <a:solidFill>
                        <a:srgbClr val="252D3D"/>
                      </a:solidFill>
                      <a:prstDash val="solid"/>
                      <a:round/>
                      <a:headEnd type="none" w="med" len="med"/>
                      <a:tailEnd type="none" w="med" len="med"/>
                    </a:lnT>
                    <a:lnB w="12700" cap="flat" cmpd="sng" algn="ctr">
                      <a:solidFill>
                        <a:srgbClr val="252D3D"/>
                      </a:solidFill>
                      <a:prstDash val="solid"/>
                      <a:round/>
                      <a:headEnd type="none" w="med" len="med"/>
                      <a:tailEnd type="none" w="med" len="med"/>
                    </a:lnB>
                    <a:solidFill>
                      <a:srgbClr val="17222E"/>
                    </a:solidFill>
                  </a:tcPr>
                </a:tc>
                <a:tc>
                  <a:txBody>
                    <a:bodyPr/>
                    <a:lstStyle/>
                    <a:p>
                      <a:pPr indent="0" marL="0">
                        <a:buNone/>
                      </a:pPr>
                      <a:r>
                        <a:rPr lang="en-US" sz="850" b="1" dirty="0">
                          <a:solidFill>
                            <a:srgbClr val="E6EAF2"/>
                          </a:solidFill>
                          <a:latin typeface="Trenda IG Text" pitchFamily="34" charset="0"/>
                          <a:ea typeface="Trenda IG Text" pitchFamily="34" charset="-122"/>
                          <a:cs typeface="Trenda IG Text" pitchFamily="34" charset="-120"/>
                        </a:rPr>
                        <a:t>A 24 percent reduction, modelled and validated at baseline</a:t>
                      </a:r>
                      <a:endParaRPr lang="en-US" sz="850" dirty="0">
                        <a:latin typeface="Trenda IG Text" charset="0"/>
                        <a:ea typeface="Trenda IG Text" charset="0"/>
                        <a:cs typeface="Trenda IG Text" charset="0"/>
                      </a:endParaRPr>
                    </a:p>
                  </a:txBody>
                  <a:tcPr marL="88900" marR="88900" marT="50800" marB="50800" anchor="ctr">
                    <a:lnL w="12700" cap="flat" cmpd="sng" algn="ctr">
                      <a:solidFill>
                        <a:srgbClr val="252D3D"/>
                      </a:solidFill>
                      <a:prstDash val="solid"/>
                      <a:round/>
                      <a:headEnd type="none" w="med" len="med"/>
                      <a:tailEnd type="none" w="med" len="med"/>
                    </a:lnL>
                    <a:lnR w="12700" cap="flat" cmpd="sng" algn="ctr">
                      <a:solidFill>
                        <a:srgbClr val="252D3D"/>
                      </a:solidFill>
                      <a:prstDash val="solid"/>
                      <a:round/>
                      <a:headEnd type="none" w="med" len="med"/>
                      <a:tailEnd type="none" w="med" len="med"/>
                    </a:lnR>
                    <a:lnT w="12700" cap="flat" cmpd="sng" algn="ctr">
                      <a:solidFill>
                        <a:srgbClr val="252D3D"/>
                      </a:solidFill>
                      <a:prstDash val="solid"/>
                      <a:round/>
                      <a:headEnd type="none" w="med" len="med"/>
                      <a:tailEnd type="none" w="med" len="med"/>
                    </a:lnT>
                    <a:lnB w="12700" cap="flat" cmpd="sng" algn="ctr">
                      <a:solidFill>
                        <a:srgbClr val="252D3D"/>
                      </a:solidFill>
                      <a:prstDash val="solid"/>
                      <a:round/>
                      <a:headEnd type="none" w="med" len="med"/>
                      <a:tailEnd type="none" w="med" len="med"/>
                    </a:lnB>
                    <a:solidFill>
                      <a:srgbClr val="17222E"/>
                    </a:solidFill>
                  </a:tcPr>
                </a:tc>
              </a:tr>
            </a:tbl>
          </a:graphicData>
        </a:graphic>
      </p:graphicFrame>
      <p:sp>
        <p:nvSpPr>
          <p:cNvPr id="6" name="Shape 3"/>
          <p:cNvSpPr/>
          <p:nvPr/>
        </p:nvSpPr>
        <p:spPr>
          <a:xfrm>
            <a:off x="502920" y="4960620"/>
            <a:ext cx="3593592" cy="932688"/>
          </a:xfrm>
          <a:prstGeom prst="roundRect">
            <a:avLst>
              <a:gd name="adj" fmla="val 3922"/>
            </a:avLst>
          </a:prstGeom>
          <a:solidFill>
            <a:srgbClr val="151A24"/>
          </a:solidFill>
          <a:ln w="12700">
            <a:solidFill>
              <a:srgbClr val="252D3D"/>
            </a:solidFill>
            <a:prstDash val="solid"/>
          </a:ln>
        </p:spPr>
      </p:sp>
      <p:sp>
        <p:nvSpPr>
          <p:cNvPr id="7" name="Text 4"/>
          <p:cNvSpPr txBox="1"/>
          <p:nvPr/>
        </p:nvSpPr>
        <p:spPr>
          <a:xfrm>
            <a:off x="722376" y="5106924"/>
            <a:ext cx="3154680" cy="237744"/>
          </a:xfrm>
          <a:prstGeom prst="rect">
            <a:avLst/>
          </a:prstGeom>
          <a:noFill/>
          <a:ln/>
        </p:spPr>
        <p:txBody>
          <a:bodyPr wrap="square" lIns="0" tIns="0" rIns="0" bIns="0" rtlCol="0" anchor="ctr"/>
          <a:lstStyle/>
          <a:p>
            <a:pPr indent="0" marL="0">
              <a:buNone/>
            </a:pPr>
            <a:r>
              <a:rPr lang="en-US" sz="1050" b="1" dirty="0">
                <a:solidFill>
                  <a:srgbClr val="22D3EE"/>
                </a:solidFill>
                <a:latin typeface="Trenda IG Text" pitchFamily="34" charset="0"/>
                <a:ea typeface="Trenda IG Text" pitchFamily="34" charset="-122"/>
                <a:cs typeface="Trenda IG Text" pitchFamily="34" charset="-120"/>
              </a:rPr>
              <a:t>Compounding across volume</a:t>
            </a:r>
            <a:endParaRPr lang="en-US" sz="1050" dirty="0"/>
          </a:p>
        </p:txBody>
      </p:sp>
      <p:sp>
        <p:nvSpPr>
          <p:cNvPr id="8" name="Text 5"/>
          <p:cNvSpPr txBox="1"/>
          <p:nvPr/>
        </p:nvSpPr>
        <p:spPr>
          <a:xfrm>
            <a:off x="722376" y="5362956"/>
            <a:ext cx="3154680" cy="493776"/>
          </a:xfrm>
          <a:prstGeom prst="rect">
            <a:avLst/>
          </a:prstGeom>
          <a:noFill/>
          <a:ln/>
        </p:spPr>
        <p:txBody>
          <a:bodyPr wrap="square" lIns="0" tIns="0" rIns="0" bIns="0" rtlCol="0" anchor="t"/>
          <a:lstStyle/>
          <a:p>
            <a:pPr indent="0" marL="0">
              <a:lnSpc>
                <a:spcPts val="1100"/>
              </a:lnSpc>
              <a:buNone/>
            </a:pPr>
            <a:r>
              <a:rPr lang="en-US" sz="850" dirty="0">
                <a:solidFill>
                  <a:srgbClr val="8A94A6"/>
                </a:solidFill>
                <a:latin typeface="Trenda IG Text" pitchFamily="34" charset="0"/>
                <a:ea typeface="Trenda IG Text" pitchFamily="34" charset="-122"/>
                <a:cs typeface="Trenda IG Text" pitchFamily="34" charset="-120"/>
              </a:rPr>
              <a:t>Two minutes on 33,480 cases a month is roughly 1,100 hours of handling effort returned every month, or about 13,000 hours a year.</a:t>
            </a:r>
            <a:endParaRPr lang="en-US" sz="850" dirty="0"/>
          </a:p>
        </p:txBody>
      </p:sp>
      <p:sp>
        <p:nvSpPr>
          <p:cNvPr id="9" name="Shape 6"/>
          <p:cNvSpPr/>
          <p:nvPr/>
        </p:nvSpPr>
        <p:spPr>
          <a:xfrm>
            <a:off x="4297680" y="4960620"/>
            <a:ext cx="3593592" cy="932688"/>
          </a:xfrm>
          <a:prstGeom prst="roundRect">
            <a:avLst>
              <a:gd name="adj" fmla="val 3922"/>
            </a:avLst>
          </a:prstGeom>
          <a:solidFill>
            <a:srgbClr val="151A24"/>
          </a:solidFill>
          <a:ln w="12700">
            <a:solidFill>
              <a:srgbClr val="252D3D"/>
            </a:solidFill>
            <a:prstDash val="solid"/>
          </a:ln>
        </p:spPr>
      </p:sp>
      <p:sp>
        <p:nvSpPr>
          <p:cNvPr id="10" name="Text 7"/>
          <p:cNvSpPr txBox="1"/>
          <p:nvPr/>
        </p:nvSpPr>
        <p:spPr>
          <a:xfrm>
            <a:off x="4517136" y="5106924"/>
            <a:ext cx="3154680" cy="237744"/>
          </a:xfrm>
          <a:prstGeom prst="rect">
            <a:avLst/>
          </a:prstGeom>
          <a:noFill/>
          <a:ln/>
        </p:spPr>
        <p:txBody>
          <a:bodyPr wrap="square" lIns="0" tIns="0" rIns="0" bIns="0" rtlCol="0" anchor="ctr"/>
          <a:lstStyle/>
          <a:p>
            <a:pPr indent="0" marL="0">
              <a:buNone/>
            </a:pPr>
            <a:r>
              <a:rPr lang="en-US" sz="1050" b="1" dirty="0">
                <a:solidFill>
                  <a:srgbClr val="22D3EE"/>
                </a:solidFill>
                <a:latin typeface="Trenda IG Text" pitchFamily="34" charset="0"/>
                <a:ea typeface="Trenda IG Text" pitchFamily="34" charset="-122"/>
                <a:cs typeface="Trenda IG Text" pitchFamily="34" charset="-120"/>
              </a:rPr>
              <a:t>Triage is the cleanest win</a:t>
            </a:r>
            <a:endParaRPr lang="en-US" sz="1050" dirty="0"/>
          </a:p>
        </p:txBody>
      </p:sp>
      <p:sp>
        <p:nvSpPr>
          <p:cNvPr id="11" name="Text 8"/>
          <p:cNvSpPr txBox="1"/>
          <p:nvPr/>
        </p:nvSpPr>
        <p:spPr>
          <a:xfrm>
            <a:off x="4517136" y="5362956"/>
            <a:ext cx="3154680" cy="493776"/>
          </a:xfrm>
          <a:prstGeom prst="rect">
            <a:avLst/>
          </a:prstGeom>
          <a:noFill/>
          <a:ln/>
        </p:spPr>
        <p:txBody>
          <a:bodyPr wrap="square" lIns="0" tIns="0" rIns="0" bIns="0" rtlCol="0" anchor="t"/>
          <a:lstStyle/>
          <a:p>
            <a:pPr indent="0" marL="0">
              <a:lnSpc>
                <a:spcPts val="1100"/>
              </a:lnSpc>
              <a:buNone/>
            </a:pPr>
            <a:r>
              <a:rPr lang="en-US" sz="850" dirty="0">
                <a:solidFill>
                  <a:srgbClr val="8A94A6"/>
                </a:solidFill>
                <a:latin typeface="Trenda IG Text" pitchFamily="34" charset="0"/>
                <a:ea typeface="Trenda IG Text" pitchFamily="34" charset="-122"/>
                <a:cs typeface="Trenda IG Text" pitchFamily="34" charset="-120"/>
              </a:rPr>
              <a:t>The classify and assign step alone removes over 370 hours a month, and it is fully automated rather than assisted.</a:t>
            </a:r>
            <a:endParaRPr lang="en-US" sz="850" dirty="0"/>
          </a:p>
        </p:txBody>
      </p:sp>
      <p:sp>
        <p:nvSpPr>
          <p:cNvPr id="12" name="Shape 9"/>
          <p:cNvSpPr/>
          <p:nvPr/>
        </p:nvSpPr>
        <p:spPr>
          <a:xfrm>
            <a:off x="8092440" y="4960620"/>
            <a:ext cx="3593592" cy="932688"/>
          </a:xfrm>
          <a:prstGeom prst="roundRect">
            <a:avLst>
              <a:gd name="adj" fmla="val 3922"/>
            </a:avLst>
          </a:prstGeom>
          <a:solidFill>
            <a:srgbClr val="151A24"/>
          </a:solidFill>
          <a:ln w="12700">
            <a:solidFill>
              <a:srgbClr val="252D3D"/>
            </a:solidFill>
            <a:prstDash val="solid"/>
          </a:ln>
        </p:spPr>
      </p:sp>
      <p:sp>
        <p:nvSpPr>
          <p:cNvPr id="13" name="Text 10"/>
          <p:cNvSpPr txBox="1"/>
          <p:nvPr/>
        </p:nvSpPr>
        <p:spPr>
          <a:xfrm>
            <a:off x="8311896" y="5106924"/>
            <a:ext cx="3154680" cy="237744"/>
          </a:xfrm>
          <a:prstGeom prst="rect">
            <a:avLst/>
          </a:prstGeom>
          <a:noFill/>
          <a:ln/>
        </p:spPr>
        <p:txBody>
          <a:bodyPr wrap="square" lIns="0" tIns="0" rIns="0" bIns="0" rtlCol="0" anchor="ctr"/>
          <a:lstStyle/>
          <a:p>
            <a:pPr indent="0" marL="0">
              <a:buNone/>
            </a:pPr>
            <a:r>
              <a:rPr lang="en-US" sz="1050" b="1" dirty="0">
                <a:solidFill>
                  <a:srgbClr val="8A94A6"/>
                </a:solidFill>
                <a:latin typeface="Trenda IG Text" pitchFamily="34" charset="0"/>
                <a:ea typeface="Trenda IG Text" pitchFamily="34" charset="-122"/>
                <a:cs typeface="Trenda IG Text" pitchFamily="34" charset="-120"/>
              </a:rPr>
              <a:t>Deliberately conservative</a:t>
            </a:r>
            <a:endParaRPr lang="en-US" sz="1050" dirty="0"/>
          </a:p>
        </p:txBody>
      </p:sp>
      <p:sp>
        <p:nvSpPr>
          <p:cNvPr id="14" name="Text 11"/>
          <p:cNvSpPr txBox="1"/>
          <p:nvPr/>
        </p:nvSpPr>
        <p:spPr>
          <a:xfrm>
            <a:off x="8311896" y="5362956"/>
            <a:ext cx="3154680" cy="493776"/>
          </a:xfrm>
          <a:prstGeom prst="rect">
            <a:avLst/>
          </a:prstGeom>
          <a:noFill/>
          <a:ln/>
        </p:spPr>
        <p:txBody>
          <a:bodyPr wrap="square" lIns="0" tIns="0" rIns="0" bIns="0" rtlCol="0" anchor="t"/>
          <a:lstStyle/>
          <a:p>
            <a:pPr indent="0" marL="0">
              <a:lnSpc>
                <a:spcPts val="1100"/>
              </a:lnSpc>
              <a:buNone/>
            </a:pPr>
            <a:r>
              <a:rPr lang="en-US" sz="850" dirty="0">
                <a:solidFill>
                  <a:srgbClr val="8A94A6"/>
                </a:solidFill>
                <a:latin typeface="Trenda IG Text" pitchFamily="34" charset="0"/>
                <a:ea typeface="Trenda IG Text" pitchFamily="34" charset="-122"/>
                <a:cs typeface="Trenda IG Text" pitchFamily="34" charset="-120"/>
              </a:rPr>
              <a:t>Assisted drafting typically saves more than 25 seconds per case on templated types. The model assumes review and editing on every draft.</a:t>
            </a:r>
            <a:endParaRPr lang="en-US" sz="850" dirty="0"/>
          </a:p>
        </p:txBody>
      </p:sp>
      <p:sp>
        <p:nvSpPr>
          <p:cNvPr id="15" name="Text 12"/>
          <p:cNvSpPr txBox="1"/>
          <p:nvPr/>
        </p:nvSpPr>
        <p:spPr>
          <a:xfrm>
            <a:off x="502920" y="6035040"/>
            <a:ext cx="10085832" cy="347472"/>
          </a:xfrm>
          <a:prstGeom prst="rect">
            <a:avLst/>
          </a:prstGeom>
          <a:noFill/>
          <a:ln/>
        </p:spPr>
        <p:txBody>
          <a:bodyPr wrap="square" lIns="0" tIns="0" rIns="0" bIns="0" rtlCol="0" anchor="t"/>
          <a:lstStyle/>
          <a:p>
            <a:pPr indent="0" marL="0">
              <a:lnSpc>
                <a:spcPts val="1000"/>
              </a:lnSpc>
              <a:buNone/>
            </a:pPr>
            <a:r>
              <a:rPr lang="en-US" sz="750" i="1" dirty="0">
                <a:solidFill>
                  <a:srgbClr val="8A94A6"/>
                </a:solidFill>
                <a:latin typeface="Trenda IG Text" pitchFamily="34" charset="0"/>
                <a:ea typeface="Trenda IG Text" pitchFamily="34" charset="-122"/>
                <a:cs typeface="Trenda IG Text" pitchFamily="34" charset="-120"/>
              </a:rPr>
              <a:t>Step level timings are Insight Global estimates decomposing the 8:15 blended handling time in the current operations sample. They are a design model, not a committed target, and are validated during the baseline period.</a:t>
            </a:r>
            <a:endParaRPr lang="en-US" sz="750" dirty="0"/>
          </a:p>
        </p:txBody>
      </p:sp>
      <p:pic>
        <p:nvPicPr>
          <p:cNvPr id="16" name="Image 0" descr="assets/ig-mark.png">    </p:cNvPr>
          <p:cNvPicPr>
            <a:picLocks noChangeAspect="1"/>
          </p:cNvPicPr>
          <p:nvPr/>
        </p:nvPicPr>
        <p:blipFill>
          <a:blip r:embed="rId1"/>
          <a:stretch>
            <a:fillRect/>
          </a:stretch>
        </p:blipFill>
        <p:spPr>
          <a:xfrm>
            <a:off x="502920" y="6455664"/>
            <a:ext cx="420624" cy="144475"/>
          </a:xfrm>
          <a:prstGeom prst="rect">
            <a:avLst/>
          </a:prstGeom>
        </p:spPr>
      </p:pic>
      <p:sp>
        <p:nvSpPr>
          <p:cNvPr id="17" name="Text 13"/>
          <p:cNvSpPr txBox="1"/>
          <p:nvPr/>
        </p:nvSpPr>
        <p:spPr>
          <a:xfrm>
            <a:off x="11201400" y="6400800"/>
            <a:ext cx="484632" cy="237744"/>
          </a:xfrm>
          <a:prstGeom prst="rect">
            <a:avLst/>
          </a:prstGeom>
          <a:noFill/>
          <a:ln/>
        </p:spPr>
        <p:txBody>
          <a:bodyPr wrap="square" lIns="0" tIns="0" rIns="0" bIns="0" rtlCol="0" anchor="ctr"/>
          <a:lstStyle/>
          <a:p>
            <a:pPr algn="r" indent="0" marL="0">
              <a:buNone/>
            </a:pPr>
            <a:r>
              <a:rPr lang="en-US" sz="850" dirty="0">
                <a:solidFill>
                  <a:srgbClr val="8A94A6"/>
                </a:solidFill>
                <a:latin typeface="Trenda IG Text" pitchFamily="34" charset="0"/>
                <a:ea typeface="Trenda IG Text" pitchFamily="34" charset="-122"/>
                <a:cs typeface="Trenda IG Text" pitchFamily="34" charset="-120"/>
              </a:rPr>
              <a:t>20</a:t>
            </a:r>
            <a:endParaRPr lang="en-US" sz="850" dirty="0"/>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name="Slide 22">
    <p:bg>
      <p:bgPr>
        <a:solidFill>
          <a:srgbClr val="0A0D14"/>
        </a:solidFill>
      </p:bgPr>
    </p:bg>
    <p:spTree>
      <p:nvGrpSpPr>
        <p:cNvPr id="1" name=""/>
        <p:cNvGrpSpPr/>
        <p:nvPr/>
      </p:nvGrpSpPr>
      <p:grpSpPr>
        <a:xfrm>
          <a:off x="0" y="0"/>
          <a:ext cx="0" cy="0"/>
          <a:chOff x="0" y="0"/>
          <a:chExt cx="0" cy="0"/>
        </a:xfrm>
      </p:grpSpPr>
      <p:sp>
        <p:nvSpPr>
          <p:cNvPr id="2" name="Text 0"/>
          <p:cNvSpPr txBox="1"/>
          <p:nvPr/>
        </p:nvSpPr>
        <p:spPr>
          <a:xfrm>
            <a:off x="502920" y="384048"/>
            <a:ext cx="11183112" cy="219456"/>
          </a:xfrm>
          <a:prstGeom prst="rect">
            <a:avLst/>
          </a:prstGeom>
          <a:noFill/>
          <a:ln/>
        </p:spPr>
        <p:txBody>
          <a:bodyPr wrap="square" lIns="0" tIns="0" rIns="0" bIns="0" rtlCol="0" anchor="ctr"/>
          <a:lstStyle/>
          <a:p>
            <a:pPr indent="0" marL="0">
              <a:buNone/>
            </a:pPr>
            <a:r>
              <a:rPr lang="en-US" sz="1000" b="1" spc="220" kern="0" dirty="0">
                <a:solidFill>
                  <a:srgbClr val="22D3EE"/>
                </a:solidFill>
                <a:latin typeface="Trenda IG Display" pitchFamily="34" charset="0"/>
                <a:ea typeface="Trenda IG Display" pitchFamily="34" charset="-122"/>
                <a:cs typeface="Trenda IG Display" pitchFamily="34" charset="-120"/>
              </a:rPr>
              <a:t>BUSINESS VALUE  |  02</a:t>
            </a:r>
            <a:endParaRPr lang="en-US" sz="1000" dirty="0"/>
          </a:p>
        </p:txBody>
      </p:sp>
      <p:sp>
        <p:nvSpPr>
          <p:cNvPr id="3" name="Text 1"/>
          <p:cNvSpPr txBox="1"/>
          <p:nvPr/>
        </p:nvSpPr>
        <p:spPr>
          <a:xfrm>
            <a:off x="502920" y="658368"/>
            <a:ext cx="11183112" cy="416052"/>
          </a:xfrm>
          <a:prstGeom prst="rect">
            <a:avLst/>
          </a:prstGeom>
          <a:noFill/>
          <a:ln/>
        </p:spPr>
        <p:txBody>
          <a:bodyPr wrap="square" lIns="0" tIns="0" rIns="0" bIns="0" rtlCol="0" anchor="ctr"/>
          <a:lstStyle/>
          <a:p>
            <a:pPr indent="0" marL="0">
              <a:lnSpc>
                <a:spcPts val="3016"/>
              </a:lnSpc>
              <a:buNone/>
            </a:pPr>
            <a:r>
              <a:rPr lang="en-US" sz="2600" b="1" spc="40" kern="0" dirty="0">
                <a:solidFill>
                  <a:srgbClr val="FFFFFF"/>
                </a:solidFill>
                <a:latin typeface="Trenda IG Display" pitchFamily="34" charset="0"/>
                <a:ea typeface="Trenda IG Display" pitchFamily="34" charset="-122"/>
                <a:cs typeface="Trenda IG Display" pitchFamily="34" charset="-120"/>
              </a:rPr>
              <a:t>EFFICIENCY AND RESPONSE TIME, THE TWO TARGETS</a:t>
            </a:r>
            <a:endParaRPr lang="en-US" sz="2600" dirty="0"/>
          </a:p>
        </p:txBody>
      </p:sp>
      <p:sp>
        <p:nvSpPr>
          <p:cNvPr id="4" name="Text 2"/>
          <p:cNvSpPr txBox="1"/>
          <p:nvPr/>
        </p:nvSpPr>
        <p:spPr>
          <a:xfrm>
            <a:off x="502920" y="1156716"/>
            <a:ext cx="11183112" cy="384048"/>
          </a:xfrm>
          <a:prstGeom prst="rect">
            <a:avLst/>
          </a:prstGeom>
          <a:noFill/>
          <a:ln/>
        </p:spPr>
        <p:txBody>
          <a:bodyPr wrap="square" lIns="0" tIns="0" rIns="0" bIns="0" rtlCol="0" anchor="t"/>
          <a:lstStyle/>
          <a:p>
            <a:pPr indent="0" marL="0">
              <a:lnSpc>
                <a:spcPts val="1500"/>
              </a:lnSpc>
              <a:buNone/>
            </a:pPr>
            <a:r>
              <a:rPr lang="en-US" sz="1150" dirty="0">
                <a:solidFill>
                  <a:srgbClr val="8A94A6"/>
                </a:solidFill>
                <a:latin typeface="Trenda IG Text" pitchFamily="34" charset="0"/>
                <a:ea typeface="Trenda IG Text" pitchFamily="34" charset="-122"/>
                <a:cs typeface="Trenda IG Text" pitchFamily="34" charset="-120"/>
              </a:rPr>
              <a:t>Handling time reduction gives back capacity. Automated triage and routing are what actually cut response time, because a case no longer waits its turn to be understood.</a:t>
            </a:r>
            <a:endParaRPr lang="en-US" sz="1150" dirty="0"/>
          </a:p>
        </p:txBody>
      </p:sp>
      <p:sp>
        <p:nvSpPr>
          <p:cNvPr id="5" name="Shape 3"/>
          <p:cNvSpPr/>
          <p:nvPr/>
        </p:nvSpPr>
        <p:spPr>
          <a:xfrm>
            <a:off x="502920" y="1796796"/>
            <a:ext cx="2658618" cy="1115568"/>
          </a:xfrm>
          <a:prstGeom prst="roundRect">
            <a:avLst>
              <a:gd name="adj" fmla="val 3279"/>
            </a:avLst>
          </a:prstGeom>
          <a:solidFill>
            <a:srgbClr val="151A24"/>
          </a:solidFill>
          <a:ln w="12700">
            <a:solidFill>
              <a:srgbClr val="252D3D"/>
            </a:solidFill>
            <a:prstDash val="solid"/>
          </a:ln>
        </p:spPr>
      </p:sp>
      <p:sp>
        <p:nvSpPr>
          <p:cNvPr id="6" name="Text 4"/>
          <p:cNvSpPr txBox="1"/>
          <p:nvPr/>
        </p:nvSpPr>
        <p:spPr>
          <a:xfrm>
            <a:off x="667512" y="1906524"/>
            <a:ext cx="2329434" cy="475488"/>
          </a:xfrm>
          <a:prstGeom prst="rect">
            <a:avLst/>
          </a:prstGeom>
          <a:noFill/>
          <a:ln/>
        </p:spPr>
        <p:txBody>
          <a:bodyPr wrap="square" lIns="0" tIns="0" rIns="0" bIns="0" rtlCol="0" anchor="ctr"/>
          <a:lstStyle/>
          <a:p>
            <a:pPr indent="0" marL="0">
              <a:buNone/>
            </a:pPr>
            <a:r>
              <a:rPr lang="en-US" sz="2600" b="1" dirty="0">
                <a:solidFill>
                  <a:srgbClr val="22D3EE"/>
                </a:solidFill>
                <a:latin typeface="Trenda IG Display" pitchFamily="34" charset="0"/>
                <a:ea typeface="Trenda IG Display" pitchFamily="34" charset="-122"/>
                <a:cs typeface="Trenda IG Display" pitchFamily="34" charset="-120"/>
              </a:rPr>
              <a:t>~24%</a:t>
            </a:r>
            <a:endParaRPr lang="en-US" sz="2600" dirty="0"/>
          </a:p>
        </p:txBody>
      </p:sp>
      <p:sp>
        <p:nvSpPr>
          <p:cNvPr id="7" name="Text 5"/>
          <p:cNvSpPr txBox="1"/>
          <p:nvPr/>
        </p:nvSpPr>
        <p:spPr>
          <a:xfrm>
            <a:off x="667512" y="2382012"/>
            <a:ext cx="2329434" cy="420624"/>
          </a:xfrm>
          <a:prstGeom prst="rect">
            <a:avLst/>
          </a:prstGeom>
          <a:noFill/>
          <a:ln/>
        </p:spPr>
        <p:txBody>
          <a:bodyPr wrap="square" lIns="0" tIns="0" rIns="0" bIns="0" rtlCol="0" anchor="t"/>
          <a:lstStyle/>
          <a:p>
            <a:pPr indent="0" marL="0">
              <a:lnSpc>
                <a:spcPts val="1200"/>
              </a:lnSpc>
              <a:buNone/>
            </a:pPr>
            <a:r>
              <a:rPr lang="en-US" sz="900" dirty="0">
                <a:solidFill>
                  <a:srgbClr val="8A94A6"/>
                </a:solidFill>
                <a:latin typeface="Trenda IG Text" pitchFamily="34" charset="0"/>
                <a:ea typeface="Trenda IG Text" pitchFamily="34" charset="-122"/>
                <a:cs typeface="Trenda IG Text" pitchFamily="34" charset="-120"/>
              </a:rPr>
              <a:t>Modelled reduction in blended average handling time, from 8:15 to 6:15</a:t>
            </a:r>
            <a:endParaRPr lang="en-US" sz="900" dirty="0"/>
          </a:p>
        </p:txBody>
      </p:sp>
      <p:sp>
        <p:nvSpPr>
          <p:cNvPr id="8" name="Shape 6"/>
          <p:cNvSpPr/>
          <p:nvPr/>
        </p:nvSpPr>
        <p:spPr>
          <a:xfrm>
            <a:off x="3344418" y="1796796"/>
            <a:ext cx="2658618" cy="1115568"/>
          </a:xfrm>
          <a:prstGeom prst="roundRect">
            <a:avLst>
              <a:gd name="adj" fmla="val 3279"/>
            </a:avLst>
          </a:prstGeom>
          <a:solidFill>
            <a:srgbClr val="151A24"/>
          </a:solidFill>
          <a:ln w="12700">
            <a:solidFill>
              <a:srgbClr val="252D3D"/>
            </a:solidFill>
            <a:prstDash val="solid"/>
          </a:ln>
        </p:spPr>
      </p:sp>
      <p:sp>
        <p:nvSpPr>
          <p:cNvPr id="9" name="Text 7"/>
          <p:cNvSpPr txBox="1"/>
          <p:nvPr/>
        </p:nvSpPr>
        <p:spPr>
          <a:xfrm>
            <a:off x="3509010" y="1906524"/>
            <a:ext cx="2329434" cy="475488"/>
          </a:xfrm>
          <a:prstGeom prst="rect">
            <a:avLst/>
          </a:prstGeom>
          <a:noFill/>
          <a:ln/>
        </p:spPr>
        <p:txBody>
          <a:bodyPr wrap="square" lIns="0" tIns="0" rIns="0" bIns="0" rtlCol="0" anchor="ctr"/>
          <a:lstStyle/>
          <a:p>
            <a:pPr indent="0" marL="0">
              <a:buNone/>
            </a:pPr>
            <a:r>
              <a:rPr lang="en-US" sz="2600" b="1" dirty="0">
                <a:solidFill>
                  <a:srgbClr val="22D3EE"/>
                </a:solidFill>
                <a:latin typeface="Trenda IG Display" pitchFamily="34" charset="0"/>
                <a:ea typeface="Trenda IG Display" pitchFamily="34" charset="-122"/>
                <a:cs typeface="Trenda IG Display" pitchFamily="34" charset="-120"/>
              </a:rPr>
              <a:t>~1,100</a:t>
            </a:r>
            <a:endParaRPr lang="en-US" sz="2600" dirty="0"/>
          </a:p>
        </p:txBody>
      </p:sp>
      <p:sp>
        <p:nvSpPr>
          <p:cNvPr id="10" name="Text 8"/>
          <p:cNvSpPr txBox="1"/>
          <p:nvPr/>
        </p:nvSpPr>
        <p:spPr>
          <a:xfrm>
            <a:off x="3509010" y="2382012"/>
            <a:ext cx="2329434" cy="420624"/>
          </a:xfrm>
          <a:prstGeom prst="rect">
            <a:avLst/>
          </a:prstGeom>
          <a:noFill/>
          <a:ln/>
        </p:spPr>
        <p:txBody>
          <a:bodyPr wrap="square" lIns="0" tIns="0" rIns="0" bIns="0" rtlCol="0" anchor="t"/>
          <a:lstStyle/>
          <a:p>
            <a:pPr indent="0" marL="0">
              <a:lnSpc>
                <a:spcPts val="1200"/>
              </a:lnSpc>
              <a:buNone/>
            </a:pPr>
            <a:r>
              <a:rPr lang="en-US" sz="900" dirty="0">
                <a:solidFill>
                  <a:srgbClr val="8A94A6"/>
                </a:solidFill>
                <a:latin typeface="Trenda IG Text" pitchFamily="34" charset="0"/>
                <a:ea typeface="Trenda IG Text" pitchFamily="34" charset="-122"/>
                <a:cs typeface="Trenda IG Text" pitchFamily="34" charset="-120"/>
              </a:rPr>
              <a:t>Hours of handling effort returned per month at current volume</a:t>
            </a:r>
            <a:endParaRPr lang="en-US" sz="900" dirty="0"/>
          </a:p>
        </p:txBody>
      </p:sp>
      <p:sp>
        <p:nvSpPr>
          <p:cNvPr id="11" name="Shape 9"/>
          <p:cNvSpPr/>
          <p:nvPr/>
        </p:nvSpPr>
        <p:spPr>
          <a:xfrm>
            <a:off x="6185916" y="1796796"/>
            <a:ext cx="2658618" cy="1115568"/>
          </a:xfrm>
          <a:prstGeom prst="roundRect">
            <a:avLst>
              <a:gd name="adj" fmla="val 3279"/>
            </a:avLst>
          </a:prstGeom>
          <a:solidFill>
            <a:srgbClr val="151A24"/>
          </a:solidFill>
          <a:ln w="12700">
            <a:solidFill>
              <a:srgbClr val="252D3D"/>
            </a:solidFill>
            <a:prstDash val="solid"/>
          </a:ln>
        </p:spPr>
      </p:sp>
      <p:sp>
        <p:nvSpPr>
          <p:cNvPr id="12" name="Text 10"/>
          <p:cNvSpPr txBox="1"/>
          <p:nvPr/>
        </p:nvSpPr>
        <p:spPr>
          <a:xfrm>
            <a:off x="6350508" y="1906524"/>
            <a:ext cx="2329434" cy="475488"/>
          </a:xfrm>
          <a:prstGeom prst="rect">
            <a:avLst/>
          </a:prstGeom>
          <a:noFill/>
          <a:ln/>
        </p:spPr>
        <p:txBody>
          <a:bodyPr wrap="square" lIns="0" tIns="0" rIns="0" bIns="0" rtlCol="0" anchor="ctr"/>
          <a:lstStyle/>
          <a:p>
            <a:pPr indent="0" marL="0">
              <a:buNone/>
            </a:pPr>
            <a:r>
              <a:rPr lang="en-US" sz="2600" b="1" dirty="0">
                <a:solidFill>
                  <a:srgbClr val="22C55E"/>
                </a:solidFill>
                <a:latin typeface="Trenda IG Display" pitchFamily="34" charset="0"/>
                <a:ea typeface="Trenda IG Display" pitchFamily="34" charset="-122"/>
                <a:cs typeface="Trenda IG Display" pitchFamily="34" charset="-120"/>
              </a:rPr>
              <a:t>Under 60s</a:t>
            </a:r>
            <a:endParaRPr lang="en-US" sz="2600" dirty="0"/>
          </a:p>
        </p:txBody>
      </p:sp>
      <p:sp>
        <p:nvSpPr>
          <p:cNvPr id="13" name="Text 11"/>
          <p:cNvSpPr txBox="1"/>
          <p:nvPr/>
        </p:nvSpPr>
        <p:spPr>
          <a:xfrm>
            <a:off x="6350508" y="2382012"/>
            <a:ext cx="2329434" cy="420624"/>
          </a:xfrm>
          <a:prstGeom prst="rect">
            <a:avLst/>
          </a:prstGeom>
          <a:noFill/>
          <a:ln/>
        </p:spPr>
        <p:txBody>
          <a:bodyPr wrap="square" lIns="0" tIns="0" rIns="0" bIns="0" rtlCol="0" anchor="t"/>
          <a:lstStyle/>
          <a:p>
            <a:pPr indent="0" marL="0">
              <a:lnSpc>
                <a:spcPts val="1200"/>
              </a:lnSpc>
              <a:buNone/>
            </a:pPr>
            <a:r>
              <a:rPr lang="en-US" sz="900" dirty="0">
                <a:solidFill>
                  <a:srgbClr val="8A94A6"/>
                </a:solidFill>
                <a:latin typeface="Trenda IG Text" pitchFamily="34" charset="0"/>
                <a:ea typeface="Trenda IG Text" pitchFamily="34" charset="-122"/>
                <a:cs typeface="Trenda IG Text" pitchFamily="34" charset="-120"/>
              </a:rPr>
              <a:t>From email arrival to a classified, prioritised, routed and SLA timed case</a:t>
            </a:r>
            <a:endParaRPr lang="en-US" sz="900" dirty="0"/>
          </a:p>
        </p:txBody>
      </p:sp>
      <p:sp>
        <p:nvSpPr>
          <p:cNvPr id="14" name="Shape 12"/>
          <p:cNvSpPr/>
          <p:nvPr/>
        </p:nvSpPr>
        <p:spPr>
          <a:xfrm>
            <a:off x="9027414" y="1796796"/>
            <a:ext cx="2658618" cy="1115568"/>
          </a:xfrm>
          <a:prstGeom prst="roundRect">
            <a:avLst>
              <a:gd name="adj" fmla="val 3279"/>
            </a:avLst>
          </a:prstGeom>
          <a:solidFill>
            <a:srgbClr val="151A24"/>
          </a:solidFill>
          <a:ln w="12700">
            <a:solidFill>
              <a:srgbClr val="252D3D"/>
            </a:solidFill>
            <a:prstDash val="solid"/>
          </a:ln>
        </p:spPr>
      </p:sp>
      <p:sp>
        <p:nvSpPr>
          <p:cNvPr id="15" name="Text 13"/>
          <p:cNvSpPr txBox="1"/>
          <p:nvPr/>
        </p:nvSpPr>
        <p:spPr>
          <a:xfrm>
            <a:off x="9192006" y="1906524"/>
            <a:ext cx="2329434" cy="475488"/>
          </a:xfrm>
          <a:prstGeom prst="rect">
            <a:avLst/>
          </a:prstGeom>
          <a:noFill/>
          <a:ln/>
        </p:spPr>
        <p:txBody>
          <a:bodyPr wrap="square" lIns="0" tIns="0" rIns="0" bIns="0" rtlCol="0" anchor="ctr"/>
          <a:lstStyle/>
          <a:p>
            <a:pPr indent="0" marL="0">
              <a:buNone/>
            </a:pPr>
            <a:r>
              <a:rPr lang="en-US" sz="2600" b="1" dirty="0">
                <a:solidFill>
                  <a:srgbClr val="22C55E"/>
                </a:solidFill>
                <a:latin typeface="Trenda IG Display" pitchFamily="34" charset="0"/>
                <a:ea typeface="Trenda IG Display" pitchFamily="34" charset="-122"/>
                <a:cs typeface="Trenda IG Display" pitchFamily="34" charset="-120"/>
              </a:rPr>
              <a:t>100%</a:t>
            </a:r>
            <a:endParaRPr lang="en-US" sz="2600" dirty="0"/>
          </a:p>
        </p:txBody>
      </p:sp>
      <p:sp>
        <p:nvSpPr>
          <p:cNvPr id="16" name="Text 14"/>
          <p:cNvSpPr txBox="1"/>
          <p:nvPr/>
        </p:nvSpPr>
        <p:spPr>
          <a:xfrm>
            <a:off x="9192006" y="2382012"/>
            <a:ext cx="2329434" cy="420624"/>
          </a:xfrm>
          <a:prstGeom prst="rect">
            <a:avLst/>
          </a:prstGeom>
          <a:noFill/>
          <a:ln/>
        </p:spPr>
        <p:txBody>
          <a:bodyPr wrap="square" lIns="0" tIns="0" rIns="0" bIns="0" rtlCol="0" anchor="t"/>
          <a:lstStyle/>
          <a:p>
            <a:pPr indent="0" marL="0">
              <a:lnSpc>
                <a:spcPts val="1200"/>
              </a:lnSpc>
              <a:buNone/>
            </a:pPr>
            <a:r>
              <a:rPr lang="en-US" sz="900" dirty="0">
                <a:solidFill>
                  <a:srgbClr val="8A94A6"/>
                </a:solidFill>
                <a:latin typeface="Trenda IG Text" pitchFamily="34" charset="0"/>
                <a:ea typeface="Trenda IG Text" pitchFamily="34" charset="-122"/>
                <a:cs typeface="Trenda IG Text" pitchFamily="34" charset="-120"/>
              </a:rPr>
              <a:t>Of cases triaged and summarised, rather than a quality sample</a:t>
            </a:r>
            <a:endParaRPr lang="en-US" sz="900" dirty="0"/>
          </a:p>
        </p:txBody>
      </p:sp>
      <p:sp>
        <p:nvSpPr>
          <p:cNvPr id="17" name="Shape 15"/>
          <p:cNvSpPr/>
          <p:nvPr/>
        </p:nvSpPr>
        <p:spPr>
          <a:xfrm>
            <a:off x="502920" y="3131820"/>
            <a:ext cx="5481828" cy="2414016"/>
          </a:xfrm>
          <a:prstGeom prst="roundRect">
            <a:avLst>
              <a:gd name="adj" fmla="val 1515"/>
            </a:avLst>
          </a:prstGeom>
          <a:solidFill>
            <a:srgbClr val="151A24"/>
          </a:solidFill>
          <a:ln w="12700">
            <a:solidFill>
              <a:srgbClr val="252D3D"/>
            </a:solidFill>
            <a:prstDash val="solid"/>
          </a:ln>
        </p:spPr>
      </p:sp>
      <p:sp>
        <p:nvSpPr>
          <p:cNvPr id="18" name="Text 16"/>
          <p:cNvSpPr txBox="1"/>
          <p:nvPr/>
        </p:nvSpPr>
        <p:spPr>
          <a:xfrm>
            <a:off x="740664" y="3314700"/>
            <a:ext cx="5006340" cy="201168"/>
          </a:xfrm>
          <a:prstGeom prst="rect">
            <a:avLst/>
          </a:prstGeom>
          <a:noFill/>
          <a:ln/>
        </p:spPr>
        <p:txBody>
          <a:bodyPr wrap="square" lIns="0" tIns="0" rIns="0" bIns="0" rtlCol="0" anchor="ctr"/>
          <a:lstStyle/>
          <a:p>
            <a:pPr indent="0" marL="0">
              <a:buNone/>
            </a:pPr>
            <a:r>
              <a:rPr lang="en-US" sz="1050" b="1" spc="140" kern="0" dirty="0">
                <a:solidFill>
                  <a:srgbClr val="FFFFFF"/>
                </a:solidFill>
                <a:latin typeface="Trenda IG Display" pitchFamily="34" charset="0"/>
                <a:ea typeface="Trenda IG Display" pitchFamily="34" charset="-122"/>
                <a:cs typeface="Trenda IG Display" pitchFamily="34" charset="-120"/>
              </a:rPr>
              <a:t>WHY RESPONSE TIME FALLS FURTHER THAN HANDLING TIME</a:t>
            </a:r>
            <a:endParaRPr lang="en-US" sz="1050" dirty="0"/>
          </a:p>
        </p:txBody>
      </p:sp>
      <p:sp>
        <p:nvSpPr>
          <p:cNvPr id="19" name="Text 17"/>
          <p:cNvSpPr txBox="1"/>
          <p:nvPr/>
        </p:nvSpPr>
        <p:spPr>
          <a:xfrm>
            <a:off x="740664" y="3662172"/>
            <a:ext cx="5006340" cy="1755648"/>
          </a:xfrm>
          <a:prstGeom prst="rect">
            <a:avLst/>
          </a:prstGeom>
          <a:noFill/>
          <a:ln/>
        </p:spPr>
        <p:txBody>
          <a:bodyPr wrap="square" lIns="0" tIns="0" rIns="0" bIns="0" rtlCol="0" anchor="t"/>
          <a:lstStyle/>
          <a:p>
            <a:pPr marL="152400" indent="-152400">
              <a:lnSpc>
                <a:spcPts val="1250"/>
              </a:lnSpc>
              <a:spcAft>
                <a:spcPts val="600"/>
              </a:spcAft>
              <a:buSzPct val="100000"/>
              <a:buChar char="•"/>
            </a:pPr>
            <a:r>
              <a:rPr lang="en-US" sz="850" dirty="0">
                <a:solidFill>
                  <a:srgbClr val="E6EAF2"/>
                </a:solidFill>
                <a:latin typeface="Trenda IG Text" pitchFamily="34" charset="0"/>
                <a:ea typeface="Trenda IG Text" pitchFamily="34" charset="-122"/>
                <a:cs typeface="Trenda IG Text" pitchFamily="34" charset="-120"/>
              </a:rPr>
              <a:t>Today, first response time is mostly queue wait. A case is understood only when an agent reaches it, so an urgent request sits behind routine ones.</a:t>
            </a:r>
            <a:endParaRPr lang="en-US" sz="850" dirty="0"/>
          </a:p>
          <a:p>
            <a:pPr marL="152400" indent="-152400">
              <a:lnSpc>
                <a:spcPts val="1250"/>
              </a:lnSpc>
              <a:spcAft>
                <a:spcPts val="600"/>
              </a:spcAft>
              <a:buSzPct val="100000"/>
              <a:buChar char="•"/>
            </a:pPr>
            <a:r>
              <a:rPr lang="en-US" sz="850" dirty="0">
                <a:solidFill>
                  <a:srgbClr val="E6EAF2"/>
                </a:solidFill>
                <a:latin typeface="Trenda IG Text" pitchFamily="34" charset="0"/>
                <a:ea typeface="Trenda IG Text" pitchFamily="34" charset="-122"/>
                <a:cs typeface="Trenda IG Text" pitchFamily="34" charset="-120"/>
              </a:rPr>
              <a:t>Under this model the case is understood in seconds, so a P1 or P2 is surfaced at the top of the queue immediately rather than on discovery.</a:t>
            </a:r>
            <a:endParaRPr lang="en-US" sz="850" dirty="0"/>
          </a:p>
          <a:p>
            <a:pPr marL="152400" indent="-152400">
              <a:lnSpc>
                <a:spcPts val="1250"/>
              </a:lnSpc>
              <a:spcAft>
                <a:spcPts val="600"/>
              </a:spcAft>
              <a:buSzPct val="100000"/>
              <a:buChar char="•"/>
            </a:pPr>
            <a:r>
              <a:rPr lang="en-US" sz="850" dirty="0">
                <a:solidFill>
                  <a:srgbClr val="E6EAF2"/>
                </a:solidFill>
                <a:latin typeface="Trenda IG Text" pitchFamily="34" charset="0"/>
                <a:ea typeface="Trenda IG Text" pitchFamily="34" charset="-122"/>
                <a:cs typeface="Trenda IG Text" pitchFamily="34" charset="-120"/>
              </a:rPr>
              <a:t>Every customer receives an acknowledgement with a case number and expected turnaround within seconds, which is itself a response time improvement.</a:t>
            </a:r>
            <a:endParaRPr lang="en-US" sz="850" dirty="0"/>
          </a:p>
          <a:p>
            <a:pPr marL="152400" indent="-152400">
              <a:lnSpc>
                <a:spcPts val="1250"/>
              </a:lnSpc>
              <a:spcAft>
                <a:spcPts val="600"/>
              </a:spcAft>
              <a:buSzPct val="100000"/>
              <a:buChar char="•"/>
            </a:pPr>
            <a:r>
              <a:rPr lang="en-US" sz="850" dirty="0">
                <a:solidFill>
                  <a:srgbClr val="E6EAF2"/>
                </a:solidFill>
                <a:latin typeface="Trenda IG Text" pitchFamily="34" charset="0"/>
                <a:ea typeface="Trenda IG Text" pitchFamily="34" charset="-122"/>
                <a:cs typeface="Trenda IG Text" pitchFamily="34" charset="-120"/>
              </a:rPr>
              <a:t>Escalation at 50, 70 and 85 percent of the clock means cases are recovered before breach rather than counted after it.</a:t>
            </a:r>
            <a:endParaRPr lang="en-US" sz="850" dirty="0"/>
          </a:p>
          <a:p>
            <a:pPr marL="152400" indent="-152400">
              <a:lnSpc>
                <a:spcPts val="1250"/>
              </a:lnSpc>
              <a:spcAft>
                <a:spcPts val="600"/>
              </a:spcAft>
              <a:buSzPct val="100000"/>
              <a:buChar char="•"/>
            </a:pPr>
            <a:r>
              <a:rPr lang="en-US" sz="850" dirty="0">
                <a:solidFill>
                  <a:srgbClr val="E6EAF2"/>
                </a:solidFill>
                <a:latin typeface="Trenda IG Text" pitchFamily="34" charset="0"/>
                <a:ea typeface="Trenda IG Text" pitchFamily="34" charset="-122"/>
                <a:cs typeface="Trenda IG Text" pitchFamily="34" charset="-120"/>
              </a:rPr>
              <a:t>The draft being ready means the agent first action is review and send, not open, research and compose.</a:t>
            </a:r>
            <a:endParaRPr lang="en-US" sz="850" dirty="0"/>
          </a:p>
        </p:txBody>
      </p:sp>
      <p:sp>
        <p:nvSpPr>
          <p:cNvPr id="20" name="Shape 18"/>
          <p:cNvSpPr/>
          <p:nvPr/>
        </p:nvSpPr>
        <p:spPr>
          <a:xfrm>
            <a:off x="6204204" y="3131820"/>
            <a:ext cx="5481828" cy="2414016"/>
          </a:xfrm>
          <a:prstGeom prst="roundRect">
            <a:avLst>
              <a:gd name="adj" fmla="val 1515"/>
            </a:avLst>
          </a:prstGeom>
          <a:solidFill>
            <a:srgbClr val="151A24"/>
          </a:solidFill>
          <a:ln w="12700">
            <a:solidFill>
              <a:srgbClr val="252D3D"/>
            </a:solidFill>
            <a:prstDash val="solid"/>
          </a:ln>
        </p:spPr>
      </p:sp>
      <p:sp>
        <p:nvSpPr>
          <p:cNvPr id="21" name="Text 19"/>
          <p:cNvSpPr txBox="1"/>
          <p:nvPr/>
        </p:nvSpPr>
        <p:spPr>
          <a:xfrm>
            <a:off x="6441948" y="3314700"/>
            <a:ext cx="5006340" cy="201168"/>
          </a:xfrm>
          <a:prstGeom prst="rect">
            <a:avLst/>
          </a:prstGeom>
          <a:noFill/>
          <a:ln/>
        </p:spPr>
        <p:txBody>
          <a:bodyPr wrap="square" lIns="0" tIns="0" rIns="0" bIns="0" rtlCol="0" anchor="ctr"/>
          <a:lstStyle/>
          <a:p>
            <a:pPr indent="0" marL="0">
              <a:buNone/>
            </a:pPr>
            <a:r>
              <a:rPr lang="en-US" sz="1050" b="1" spc="140" kern="0" dirty="0">
                <a:solidFill>
                  <a:srgbClr val="FFFFFF"/>
                </a:solidFill>
                <a:latin typeface="Trenda IG Display" pitchFamily="34" charset="0"/>
                <a:ea typeface="Trenda IG Display" pitchFamily="34" charset="-122"/>
                <a:cs typeface="Trenda IG Display" pitchFamily="34" charset="-120"/>
              </a:rPr>
              <a:t>WHAT THIS IS WORTH BEYOND THE NUMBERS</a:t>
            </a:r>
            <a:endParaRPr lang="en-US" sz="1050" dirty="0"/>
          </a:p>
        </p:txBody>
      </p:sp>
      <p:sp>
        <p:nvSpPr>
          <p:cNvPr id="22" name="Text 20"/>
          <p:cNvSpPr txBox="1"/>
          <p:nvPr/>
        </p:nvSpPr>
        <p:spPr>
          <a:xfrm>
            <a:off x="6441948" y="3662172"/>
            <a:ext cx="1234440" cy="329184"/>
          </a:xfrm>
          <a:prstGeom prst="rect">
            <a:avLst/>
          </a:prstGeom>
          <a:noFill/>
          <a:ln/>
        </p:spPr>
        <p:txBody>
          <a:bodyPr wrap="square" lIns="0" tIns="0" rIns="0" bIns="0" rtlCol="0" anchor="ctr"/>
          <a:lstStyle/>
          <a:p>
            <a:pPr indent="0" marL="0">
              <a:buNone/>
            </a:pPr>
            <a:r>
              <a:rPr lang="en-US" sz="900" b="1" dirty="0">
                <a:solidFill>
                  <a:srgbClr val="22D3EE"/>
                </a:solidFill>
                <a:latin typeface="Trenda IG Text" pitchFamily="34" charset="0"/>
                <a:ea typeface="Trenda IG Text" pitchFamily="34" charset="-122"/>
                <a:cs typeface="Trenda IG Text" pitchFamily="34" charset="-120"/>
              </a:rPr>
              <a:t>Consistency</a:t>
            </a:r>
            <a:endParaRPr lang="en-US" sz="900" dirty="0"/>
          </a:p>
        </p:txBody>
      </p:sp>
      <p:sp>
        <p:nvSpPr>
          <p:cNvPr id="23" name="Text 21"/>
          <p:cNvSpPr txBox="1"/>
          <p:nvPr/>
        </p:nvSpPr>
        <p:spPr>
          <a:xfrm>
            <a:off x="7703820" y="3662172"/>
            <a:ext cx="3525012" cy="347472"/>
          </a:xfrm>
          <a:prstGeom prst="rect">
            <a:avLst/>
          </a:prstGeom>
          <a:noFill/>
          <a:ln/>
        </p:spPr>
        <p:txBody>
          <a:bodyPr wrap="square" lIns="0" tIns="0" rIns="0" bIns="0" rtlCol="0" anchor="ctr"/>
          <a:lstStyle/>
          <a:p>
            <a:pPr indent="0" marL="0">
              <a:lnSpc>
                <a:spcPts val="1100"/>
              </a:lnSpc>
              <a:buNone/>
            </a:pPr>
            <a:r>
              <a:rPr lang="en-US" sz="850" dirty="0">
                <a:solidFill>
                  <a:srgbClr val="8A94A6"/>
                </a:solidFill>
                <a:latin typeface="Trenda IG Text" pitchFamily="34" charset="0"/>
                <a:ea typeface="Trenda IG Text" pitchFamily="34" charset="-122"/>
                <a:cs typeface="Trenda IG Text" pitchFamily="34" charset="-120"/>
              </a:rPr>
              <a:t>The same case type gets the same treatment on every shift, because the policy is in the workflow rather than in the individual.</a:t>
            </a:r>
            <a:endParaRPr lang="en-US" sz="850" dirty="0"/>
          </a:p>
        </p:txBody>
      </p:sp>
      <p:sp>
        <p:nvSpPr>
          <p:cNvPr id="24" name="Text 22"/>
          <p:cNvSpPr txBox="1"/>
          <p:nvPr/>
        </p:nvSpPr>
        <p:spPr>
          <a:xfrm>
            <a:off x="6441948" y="4027932"/>
            <a:ext cx="1234440" cy="329184"/>
          </a:xfrm>
          <a:prstGeom prst="rect">
            <a:avLst/>
          </a:prstGeom>
          <a:noFill/>
          <a:ln/>
        </p:spPr>
        <p:txBody>
          <a:bodyPr wrap="square" lIns="0" tIns="0" rIns="0" bIns="0" rtlCol="0" anchor="ctr"/>
          <a:lstStyle/>
          <a:p>
            <a:pPr indent="0" marL="0">
              <a:buNone/>
            </a:pPr>
            <a:r>
              <a:rPr lang="en-US" sz="900" b="1" dirty="0">
                <a:solidFill>
                  <a:srgbClr val="22D3EE"/>
                </a:solidFill>
                <a:latin typeface="Trenda IG Text" pitchFamily="34" charset="0"/>
                <a:ea typeface="Trenda IG Text" pitchFamily="34" charset="-122"/>
                <a:cs typeface="Trenda IG Text" pitchFamily="34" charset="-120"/>
              </a:rPr>
              <a:t>Faster competence</a:t>
            </a:r>
            <a:endParaRPr lang="en-US" sz="900" dirty="0"/>
          </a:p>
        </p:txBody>
      </p:sp>
      <p:sp>
        <p:nvSpPr>
          <p:cNvPr id="25" name="Text 23"/>
          <p:cNvSpPr txBox="1"/>
          <p:nvPr/>
        </p:nvSpPr>
        <p:spPr>
          <a:xfrm>
            <a:off x="7703820" y="4027932"/>
            <a:ext cx="3525012" cy="347472"/>
          </a:xfrm>
          <a:prstGeom prst="rect">
            <a:avLst/>
          </a:prstGeom>
          <a:noFill/>
          <a:ln/>
        </p:spPr>
        <p:txBody>
          <a:bodyPr wrap="square" lIns="0" tIns="0" rIns="0" bIns="0" rtlCol="0" anchor="ctr"/>
          <a:lstStyle/>
          <a:p>
            <a:pPr indent="0" marL="0">
              <a:lnSpc>
                <a:spcPts val="1100"/>
              </a:lnSpc>
              <a:buNone/>
            </a:pPr>
            <a:r>
              <a:rPr lang="en-US" sz="850" dirty="0">
                <a:solidFill>
                  <a:srgbClr val="8A94A6"/>
                </a:solidFill>
                <a:latin typeface="Trenda IG Text" pitchFamily="34" charset="0"/>
                <a:ea typeface="Trenda IG Text" pitchFamily="34" charset="-122"/>
                <a:cs typeface="Trenda IG Text" pitchFamily="34" charset="-120"/>
              </a:rPr>
              <a:t>A new agent is productive sooner, because triage, context and a grounded draft compensate for experience they have not built yet.</a:t>
            </a:r>
            <a:endParaRPr lang="en-US" sz="850" dirty="0"/>
          </a:p>
        </p:txBody>
      </p:sp>
      <p:sp>
        <p:nvSpPr>
          <p:cNvPr id="26" name="Text 24"/>
          <p:cNvSpPr txBox="1"/>
          <p:nvPr/>
        </p:nvSpPr>
        <p:spPr>
          <a:xfrm>
            <a:off x="6441948" y="4393692"/>
            <a:ext cx="1234440" cy="329184"/>
          </a:xfrm>
          <a:prstGeom prst="rect">
            <a:avLst/>
          </a:prstGeom>
          <a:noFill/>
          <a:ln/>
        </p:spPr>
        <p:txBody>
          <a:bodyPr wrap="square" lIns="0" tIns="0" rIns="0" bIns="0" rtlCol="0" anchor="ctr"/>
          <a:lstStyle/>
          <a:p>
            <a:pPr indent="0" marL="0">
              <a:buNone/>
            </a:pPr>
            <a:r>
              <a:rPr lang="en-US" sz="900" b="1" dirty="0">
                <a:solidFill>
                  <a:srgbClr val="22D3EE"/>
                </a:solidFill>
                <a:latin typeface="Trenda IG Text" pitchFamily="34" charset="0"/>
                <a:ea typeface="Trenda IG Text" pitchFamily="34" charset="-122"/>
                <a:cs typeface="Trenda IG Text" pitchFamily="34" charset="-120"/>
              </a:rPr>
              <a:t>Capacity headroom</a:t>
            </a:r>
            <a:endParaRPr lang="en-US" sz="900" dirty="0"/>
          </a:p>
        </p:txBody>
      </p:sp>
      <p:sp>
        <p:nvSpPr>
          <p:cNvPr id="27" name="Text 25"/>
          <p:cNvSpPr txBox="1"/>
          <p:nvPr/>
        </p:nvSpPr>
        <p:spPr>
          <a:xfrm>
            <a:off x="7703820" y="4393692"/>
            <a:ext cx="3525012" cy="347472"/>
          </a:xfrm>
          <a:prstGeom prst="rect">
            <a:avLst/>
          </a:prstGeom>
          <a:noFill/>
          <a:ln/>
        </p:spPr>
        <p:txBody>
          <a:bodyPr wrap="square" lIns="0" tIns="0" rIns="0" bIns="0" rtlCol="0" anchor="ctr"/>
          <a:lstStyle/>
          <a:p>
            <a:pPr indent="0" marL="0">
              <a:lnSpc>
                <a:spcPts val="1100"/>
              </a:lnSpc>
              <a:buNone/>
            </a:pPr>
            <a:r>
              <a:rPr lang="en-US" sz="850" dirty="0">
                <a:solidFill>
                  <a:srgbClr val="8A94A6"/>
                </a:solidFill>
                <a:latin typeface="Trenda IG Text" pitchFamily="34" charset="0"/>
                <a:ea typeface="Trenda IG Text" pitchFamily="34" charset="-122"/>
                <a:cs typeface="Trenda IG Text" pitchFamily="34" charset="-120"/>
              </a:rPr>
              <a:t>Released hours absorb volume growth and peak days without the service degrading.</a:t>
            </a:r>
            <a:endParaRPr lang="en-US" sz="850" dirty="0"/>
          </a:p>
        </p:txBody>
      </p:sp>
      <p:sp>
        <p:nvSpPr>
          <p:cNvPr id="28" name="Text 26"/>
          <p:cNvSpPr txBox="1"/>
          <p:nvPr/>
        </p:nvSpPr>
        <p:spPr>
          <a:xfrm>
            <a:off x="6441948" y="4759452"/>
            <a:ext cx="1234440" cy="329184"/>
          </a:xfrm>
          <a:prstGeom prst="rect">
            <a:avLst/>
          </a:prstGeom>
          <a:noFill/>
          <a:ln/>
        </p:spPr>
        <p:txBody>
          <a:bodyPr wrap="square" lIns="0" tIns="0" rIns="0" bIns="0" rtlCol="0" anchor="ctr"/>
          <a:lstStyle/>
          <a:p>
            <a:pPr indent="0" marL="0">
              <a:buNone/>
            </a:pPr>
            <a:r>
              <a:rPr lang="en-US" sz="900" b="1" dirty="0">
                <a:solidFill>
                  <a:srgbClr val="22D3EE"/>
                </a:solidFill>
                <a:latin typeface="Trenda IG Text" pitchFamily="34" charset="0"/>
                <a:ea typeface="Trenda IG Text" pitchFamily="34" charset="-122"/>
                <a:cs typeface="Trenda IG Text" pitchFamily="34" charset="-120"/>
              </a:rPr>
              <a:t>Senior time protected</a:t>
            </a:r>
            <a:endParaRPr lang="en-US" sz="900" dirty="0"/>
          </a:p>
        </p:txBody>
      </p:sp>
      <p:sp>
        <p:nvSpPr>
          <p:cNvPr id="29" name="Text 27"/>
          <p:cNvSpPr txBox="1"/>
          <p:nvPr/>
        </p:nvSpPr>
        <p:spPr>
          <a:xfrm>
            <a:off x="7703820" y="4759452"/>
            <a:ext cx="3525012" cy="347472"/>
          </a:xfrm>
          <a:prstGeom prst="rect">
            <a:avLst/>
          </a:prstGeom>
          <a:noFill/>
          <a:ln/>
        </p:spPr>
        <p:txBody>
          <a:bodyPr wrap="square" lIns="0" tIns="0" rIns="0" bIns="0" rtlCol="0" anchor="ctr"/>
          <a:lstStyle/>
          <a:p>
            <a:pPr indent="0" marL="0">
              <a:lnSpc>
                <a:spcPts val="1100"/>
              </a:lnSpc>
              <a:buNone/>
            </a:pPr>
            <a:r>
              <a:rPr lang="en-US" sz="850" dirty="0">
                <a:solidFill>
                  <a:srgbClr val="8A94A6"/>
                </a:solidFill>
                <a:latin typeface="Trenda IG Text" pitchFamily="34" charset="0"/>
                <a:ea typeface="Trenda IG Text" pitchFamily="34" charset="-122"/>
                <a:cs typeface="Trenda IG Text" pitchFamily="34" charset="-120"/>
              </a:rPr>
              <a:t>Automation carries the routine, so senior agents spend their time on credits, disputes and exceptions.</a:t>
            </a:r>
            <a:endParaRPr lang="en-US" sz="850" dirty="0"/>
          </a:p>
        </p:txBody>
      </p:sp>
      <p:sp>
        <p:nvSpPr>
          <p:cNvPr id="30" name="Text 28"/>
          <p:cNvSpPr txBox="1"/>
          <p:nvPr/>
        </p:nvSpPr>
        <p:spPr>
          <a:xfrm>
            <a:off x="6441948" y="5125212"/>
            <a:ext cx="1234440" cy="329184"/>
          </a:xfrm>
          <a:prstGeom prst="rect">
            <a:avLst/>
          </a:prstGeom>
          <a:noFill/>
          <a:ln/>
        </p:spPr>
        <p:txBody>
          <a:bodyPr wrap="square" lIns="0" tIns="0" rIns="0" bIns="0" rtlCol="0" anchor="ctr"/>
          <a:lstStyle/>
          <a:p>
            <a:pPr indent="0" marL="0">
              <a:buNone/>
            </a:pPr>
            <a:r>
              <a:rPr lang="en-US" sz="900" b="1" dirty="0">
                <a:solidFill>
                  <a:srgbClr val="22D3EE"/>
                </a:solidFill>
                <a:latin typeface="Trenda IG Text" pitchFamily="34" charset="0"/>
                <a:ea typeface="Trenda IG Text" pitchFamily="34" charset="-122"/>
                <a:cs typeface="Trenda IG Text" pitchFamily="34" charset="-120"/>
              </a:rPr>
              <a:t>Defensible reporting</a:t>
            </a:r>
            <a:endParaRPr lang="en-US" sz="900" dirty="0"/>
          </a:p>
        </p:txBody>
      </p:sp>
      <p:sp>
        <p:nvSpPr>
          <p:cNvPr id="31" name="Text 29"/>
          <p:cNvSpPr txBox="1"/>
          <p:nvPr/>
        </p:nvSpPr>
        <p:spPr>
          <a:xfrm>
            <a:off x="7703820" y="5125212"/>
            <a:ext cx="3525012" cy="347472"/>
          </a:xfrm>
          <a:prstGeom prst="rect">
            <a:avLst/>
          </a:prstGeom>
          <a:noFill/>
          <a:ln/>
        </p:spPr>
        <p:txBody>
          <a:bodyPr wrap="square" lIns="0" tIns="0" rIns="0" bIns="0" rtlCol="0" anchor="ctr"/>
          <a:lstStyle/>
          <a:p>
            <a:pPr indent="0" marL="0">
              <a:lnSpc>
                <a:spcPts val="1100"/>
              </a:lnSpc>
              <a:buNone/>
            </a:pPr>
            <a:r>
              <a:rPr lang="en-US" sz="850" dirty="0">
                <a:solidFill>
                  <a:srgbClr val="8A94A6"/>
                </a:solidFill>
                <a:latin typeface="Trenda IG Text" pitchFamily="34" charset="0"/>
                <a:ea typeface="Trenda IG Text" pitchFamily="34" charset="-122"/>
                <a:cs typeface="Trenda IG Text" pitchFamily="34" charset="-120"/>
              </a:rPr>
              <a:t>Because classification and SLA are structured data, performance conversations start from evidence.</a:t>
            </a:r>
            <a:endParaRPr lang="en-US" sz="850" dirty="0"/>
          </a:p>
        </p:txBody>
      </p:sp>
      <p:sp>
        <p:nvSpPr>
          <p:cNvPr id="32" name="Text 30"/>
          <p:cNvSpPr txBox="1"/>
          <p:nvPr/>
        </p:nvSpPr>
        <p:spPr>
          <a:xfrm>
            <a:off x="502920" y="6035040"/>
            <a:ext cx="10085832" cy="347472"/>
          </a:xfrm>
          <a:prstGeom prst="rect">
            <a:avLst/>
          </a:prstGeom>
          <a:noFill/>
          <a:ln/>
        </p:spPr>
        <p:txBody>
          <a:bodyPr wrap="square" lIns="0" tIns="0" rIns="0" bIns="0" rtlCol="0" anchor="t"/>
          <a:lstStyle/>
          <a:p>
            <a:pPr indent="0" marL="0">
              <a:lnSpc>
                <a:spcPts val="1000"/>
              </a:lnSpc>
              <a:buNone/>
            </a:pPr>
            <a:r>
              <a:rPr lang="en-US" sz="750" i="1" dirty="0">
                <a:solidFill>
                  <a:srgbClr val="8A94A6"/>
                </a:solidFill>
                <a:latin typeface="Trenda IG Text" pitchFamily="34" charset="0"/>
                <a:ea typeface="Trenda IG Text" pitchFamily="34" charset="-122"/>
                <a:cs typeface="Trenda IG Text" pitchFamily="34" charset="-120"/>
              </a:rPr>
              <a:t>All figures are modelled design targets derived from the current operations sample. They are validated during the baseline period and only then proposed as commitments.</a:t>
            </a:r>
            <a:endParaRPr lang="en-US" sz="750" dirty="0"/>
          </a:p>
        </p:txBody>
      </p:sp>
      <p:pic>
        <p:nvPicPr>
          <p:cNvPr id="33" name="Image 0" descr="assets/ig-mark.png">    </p:cNvPr>
          <p:cNvPicPr>
            <a:picLocks noChangeAspect="1"/>
          </p:cNvPicPr>
          <p:nvPr/>
        </p:nvPicPr>
        <p:blipFill>
          <a:blip r:embed="rId1"/>
          <a:stretch>
            <a:fillRect/>
          </a:stretch>
        </p:blipFill>
        <p:spPr>
          <a:xfrm>
            <a:off x="502920" y="6455664"/>
            <a:ext cx="420624" cy="144475"/>
          </a:xfrm>
          <a:prstGeom prst="rect">
            <a:avLst/>
          </a:prstGeom>
        </p:spPr>
      </p:pic>
      <p:sp>
        <p:nvSpPr>
          <p:cNvPr id="34" name="Text 31"/>
          <p:cNvSpPr txBox="1"/>
          <p:nvPr/>
        </p:nvSpPr>
        <p:spPr>
          <a:xfrm>
            <a:off x="11201400" y="6400800"/>
            <a:ext cx="484632" cy="237744"/>
          </a:xfrm>
          <a:prstGeom prst="rect">
            <a:avLst/>
          </a:prstGeom>
          <a:noFill/>
          <a:ln/>
        </p:spPr>
        <p:txBody>
          <a:bodyPr wrap="square" lIns="0" tIns="0" rIns="0" bIns="0" rtlCol="0" anchor="ctr"/>
          <a:lstStyle/>
          <a:p>
            <a:pPr algn="r" indent="0" marL="0">
              <a:buNone/>
            </a:pPr>
            <a:r>
              <a:rPr lang="en-US" sz="850" dirty="0">
                <a:solidFill>
                  <a:srgbClr val="8A94A6"/>
                </a:solidFill>
                <a:latin typeface="Trenda IG Text" pitchFamily="34" charset="0"/>
                <a:ea typeface="Trenda IG Text" pitchFamily="34" charset="-122"/>
                <a:cs typeface="Trenda IG Text" pitchFamily="34" charset="-120"/>
              </a:rPr>
              <a:t>21</a:t>
            </a:r>
            <a:endParaRPr lang="en-US" sz="850" dirty="0"/>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name="Slide 23">
    <p:bg>
      <p:bgPr>
        <a:solidFill>
          <a:srgbClr val="0A0D14"/>
        </a:solidFill>
      </p:bgPr>
    </p:bg>
    <p:spTree>
      <p:nvGrpSpPr>
        <p:cNvPr id="1" name=""/>
        <p:cNvGrpSpPr/>
        <p:nvPr/>
      </p:nvGrpSpPr>
      <p:grpSpPr>
        <a:xfrm>
          <a:off x="0" y="0"/>
          <a:ext cx="0" cy="0"/>
          <a:chOff x="0" y="0"/>
          <a:chExt cx="0" cy="0"/>
        </a:xfrm>
      </p:grpSpPr>
      <p:sp>
        <p:nvSpPr>
          <p:cNvPr id="2" name="Text 0"/>
          <p:cNvSpPr txBox="1"/>
          <p:nvPr/>
        </p:nvSpPr>
        <p:spPr>
          <a:xfrm>
            <a:off x="502920" y="384048"/>
            <a:ext cx="11183112" cy="219456"/>
          </a:xfrm>
          <a:prstGeom prst="rect">
            <a:avLst/>
          </a:prstGeom>
          <a:noFill/>
          <a:ln/>
        </p:spPr>
        <p:txBody>
          <a:bodyPr wrap="square" lIns="0" tIns="0" rIns="0" bIns="0" rtlCol="0" anchor="ctr"/>
          <a:lstStyle/>
          <a:p>
            <a:pPr indent="0" marL="0">
              <a:buNone/>
            </a:pPr>
            <a:r>
              <a:rPr lang="en-US" sz="1000" b="1" spc="220" kern="0" dirty="0">
                <a:solidFill>
                  <a:srgbClr val="22D3EE"/>
                </a:solidFill>
                <a:latin typeface="Trenda IG Display" pitchFamily="34" charset="0"/>
                <a:ea typeface="Trenda IG Display" pitchFamily="34" charset="-122"/>
                <a:cs typeface="Trenda IG Display" pitchFamily="34" charset="-120"/>
              </a:rPr>
              <a:t>NEXT STEPS</a:t>
            </a:r>
            <a:endParaRPr lang="en-US" sz="1000" dirty="0"/>
          </a:p>
        </p:txBody>
      </p:sp>
      <p:sp>
        <p:nvSpPr>
          <p:cNvPr id="3" name="Text 1"/>
          <p:cNvSpPr txBox="1"/>
          <p:nvPr/>
        </p:nvSpPr>
        <p:spPr>
          <a:xfrm>
            <a:off x="502920" y="658368"/>
            <a:ext cx="11183112" cy="416052"/>
          </a:xfrm>
          <a:prstGeom prst="rect">
            <a:avLst/>
          </a:prstGeom>
          <a:noFill/>
          <a:ln/>
        </p:spPr>
        <p:txBody>
          <a:bodyPr wrap="square" lIns="0" tIns="0" rIns="0" bIns="0" rtlCol="0" anchor="ctr"/>
          <a:lstStyle/>
          <a:p>
            <a:pPr indent="0" marL="0">
              <a:lnSpc>
                <a:spcPts val="3016"/>
              </a:lnSpc>
              <a:buNone/>
            </a:pPr>
            <a:r>
              <a:rPr lang="en-US" sz="2600" b="1" spc="40" kern="0" dirty="0">
                <a:solidFill>
                  <a:srgbClr val="FFFFFF"/>
                </a:solidFill>
                <a:latin typeface="Trenda IG Display" pitchFamily="34" charset="0"/>
                <a:ea typeface="Trenda IG Display" pitchFamily="34" charset="-122"/>
                <a:cs typeface="Trenda IG Display" pitchFamily="34" charset="-120"/>
              </a:rPr>
              <a:t>WHAT WE NEED FROM MCKESSON TO BUILD THIS</a:t>
            </a:r>
            <a:endParaRPr lang="en-US" sz="2600" dirty="0"/>
          </a:p>
        </p:txBody>
      </p:sp>
      <p:sp>
        <p:nvSpPr>
          <p:cNvPr id="4" name="Text 2"/>
          <p:cNvSpPr txBox="1"/>
          <p:nvPr/>
        </p:nvSpPr>
        <p:spPr>
          <a:xfrm>
            <a:off x="502920" y="1156716"/>
            <a:ext cx="11183112" cy="384048"/>
          </a:xfrm>
          <a:prstGeom prst="rect">
            <a:avLst/>
          </a:prstGeom>
          <a:noFill/>
          <a:ln/>
        </p:spPr>
        <p:txBody>
          <a:bodyPr wrap="square" lIns="0" tIns="0" rIns="0" bIns="0" rtlCol="0" anchor="t"/>
          <a:lstStyle/>
          <a:p>
            <a:pPr indent="0" marL="0">
              <a:lnSpc>
                <a:spcPts val="1500"/>
              </a:lnSpc>
              <a:buNone/>
            </a:pPr>
            <a:r>
              <a:rPr lang="en-US" sz="1150" dirty="0">
                <a:solidFill>
                  <a:srgbClr val="8A94A6"/>
                </a:solidFill>
                <a:latin typeface="Trenda IG Text" pitchFamily="34" charset="0"/>
                <a:ea typeface="Trenda IG Text" pitchFamily="34" charset="-122"/>
                <a:cs typeface="Trenda IG Text" pitchFamily="34" charset="-120"/>
              </a:rPr>
              <a:t>Phase 1 can begin with access and discovery alone. The licensing question only becomes a decision point at the Phase 2 gate.</a:t>
            </a:r>
            <a:endParaRPr lang="en-US" sz="1150" dirty="0"/>
          </a:p>
        </p:txBody>
      </p:sp>
      <p:sp>
        <p:nvSpPr>
          <p:cNvPr id="5" name="Shape 3"/>
          <p:cNvSpPr/>
          <p:nvPr/>
        </p:nvSpPr>
        <p:spPr>
          <a:xfrm>
            <a:off x="502920" y="1796796"/>
            <a:ext cx="5490972" cy="1700784"/>
          </a:xfrm>
          <a:prstGeom prst="roundRect">
            <a:avLst>
              <a:gd name="adj" fmla="val 2151"/>
            </a:avLst>
          </a:prstGeom>
          <a:solidFill>
            <a:srgbClr val="151A24"/>
          </a:solidFill>
          <a:ln w="12700">
            <a:solidFill>
              <a:srgbClr val="252D3D"/>
            </a:solidFill>
            <a:prstDash val="solid"/>
          </a:ln>
        </p:spPr>
      </p:sp>
      <p:sp>
        <p:nvSpPr>
          <p:cNvPr id="6" name="Text 4"/>
          <p:cNvSpPr txBox="1"/>
          <p:nvPr/>
        </p:nvSpPr>
        <p:spPr>
          <a:xfrm>
            <a:off x="740664" y="1961388"/>
            <a:ext cx="5015484" cy="256032"/>
          </a:xfrm>
          <a:prstGeom prst="rect">
            <a:avLst/>
          </a:prstGeom>
          <a:noFill/>
          <a:ln/>
        </p:spPr>
        <p:txBody>
          <a:bodyPr wrap="square" lIns="0" tIns="0" rIns="0" bIns="0" rtlCol="0" anchor="ctr"/>
          <a:lstStyle/>
          <a:p>
            <a:pPr indent="0" marL="0">
              <a:buNone/>
            </a:pPr>
            <a:r>
              <a:rPr lang="en-US" sz="1200" b="1" dirty="0">
                <a:solidFill>
                  <a:srgbClr val="22D3EE"/>
                </a:solidFill>
                <a:latin typeface="Trenda IG Text" pitchFamily="34" charset="0"/>
                <a:ea typeface="Trenda IG Text" pitchFamily="34" charset="-122"/>
                <a:cs typeface="Trenda IG Text" pitchFamily="34" charset="-120"/>
              </a:rPr>
              <a:t>Access and environment</a:t>
            </a:r>
            <a:endParaRPr lang="en-US" sz="1200" dirty="0"/>
          </a:p>
        </p:txBody>
      </p:sp>
      <p:sp>
        <p:nvSpPr>
          <p:cNvPr id="7" name="Text 5"/>
          <p:cNvSpPr txBox="1"/>
          <p:nvPr/>
        </p:nvSpPr>
        <p:spPr>
          <a:xfrm>
            <a:off x="740664" y="2290572"/>
            <a:ext cx="5015484" cy="1115568"/>
          </a:xfrm>
          <a:prstGeom prst="rect">
            <a:avLst/>
          </a:prstGeom>
          <a:noFill/>
          <a:ln/>
        </p:spPr>
        <p:txBody>
          <a:bodyPr wrap="square" lIns="0" tIns="0" rIns="0" bIns="0" rtlCol="0" anchor="t"/>
          <a:lstStyle/>
          <a:p>
            <a:pPr marL="152400" indent="-152400">
              <a:lnSpc>
                <a:spcPts val="1300"/>
              </a:lnSpc>
              <a:spcAft>
                <a:spcPts val="500"/>
              </a:spcAft>
              <a:buSzPct val="100000"/>
              <a:buChar char="•"/>
            </a:pPr>
            <a:r>
              <a:rPr lang="en-US" sz="900" dirty="0">
                <a:solidFill>
                  <a:srgbClr val="E6EAF2"/>
                </a:solidFill>
                <a:latin typeface="Trenda IG Text" pitchFamily="34" charset="0"/>
                <a:ea typeface="Trenda IG Text" pitchFamily="34" charset="-122"/>
                <a:cs typeface="Trenda IG Text" pitchFamily="34" charset="-120"/>
              </a:rPr>
              <a:t>Salesforce access and permissions for the delivery team</a:t>
            </a:r>
            <a:endParaRPr lang="en-US" sz="900" dirty="0"/>
          </a:p>
          <a:p>
            <a:pPr marL="152400" indent="-152400">
              <a:lnSpc>
                <a:spcPts val="1300"/>
              </a:lnSpc>
              <a:spcAft>
                <a:spcPts val="500"/>
              </a:spcAft>
              <a:buSzPct val="100000"/>
              <a:buChar char="•"/>
            </a:pPr>
            <a:r>
              <a:rPr lang="en-US" sz="900" dirty="0">
                <a:solidFill>
                  <a:srgbClr val="E6EAF2"/>
                </a:solidFill>
                <a:latin typeface="Trenda IG Text" pitchFamily="34" charset="0"/>
                <a:ea typeface="Trenda IG Text" pitchFamily="34" charset="-122"/>
                <a:cs typeface="Trenda IG Text" pitchFamily="34" charset="-120"/>
              </a:rPr>
              <a:t>Sandbox for configuration, testing and the supervised dry run</a:t>
            </a:r>
            <a:endParaRPr lang="en-US" sz="900" dirty="0"/>
          </a:p>
          <a:p>
            <a:pPr marL="152400" indent="-152400">
              <a:lnSpc>
                <a:spcPts val="1300"/>
              </a:lnSpc>
              <a:spcAft>
                <a:spcPts val="500"/>
              </a:spcAft>
              <a:buSzPct val="100000"/>
              <a:buChar char="•"/>
            </a:pPr>
            <a:r>
              <a:rPr lang="en-US" sz="900" dirty="0">
                <a:solidFill>
                  <a:srgbClr val="E6EAF2"/>
                </a:solidFill>
                <a:latin typeface="Trenda IG Text" pitchFamily="34" charset="0"/>
                <a:ea typeface="Trenda IG Text" pitchFamily="34" charset="-122"/>
                <a:cs typeface="Trenda IG Text" pitchFamily="34" charset="-120"/>
              </a:rPr>
              <a:t>Confirmation of the Extended Care mailboxes in scope</a:t>
            </a:r>
            <a:endParaRPr lang="en-US" sz="900" dirty="0"/>
          </a:p>
          <a:p>
            <a:pPr marL="152400" indent="-152400">
              <a:lnSpc>
                <a:spcPts val="1300"/>
              </a:lnSpc>
              <a:spcAft>
                <a:spcPts val="500"/>
              </a:spcAft>
              <a:buSzPct val="100000"/>
              <a:buChar char="•"/>
            </a:pPr>
            <a:r>
              <a:rPr lang="en-US" sz="900" dirty="0">
                <a:solidFill>
                  <a:srgbClr val="E6EAF2"/>
                </a:solidFill>
                <a:latin typeface="Trenda IG Text" pitchFamily="34" charset="0"/>
                <a:ea typeface="Trenda IG Text" pitchFamily="34" charset="-122"/>
                <a:cs typeface="Trenda IG Text" pitchFamily="34" charset="-120"/>
              </a:rPr>
              <a:t>Change control route for Flow, routing and Entitlement deployment</a:t>
            </a:r>
            <a:endParaRPr lang="en-US" sz="900" dirty="0"/>
          </a:p>
        </p:txBody>
      </p:sp>
      <p:sp>
        <p:nvSpPr>
          <p:cNvPr id="8" name="Shape 6"/>
          <p:cNvSpPr/>
          <p:nvPr/>
        </p:nvSpPr>
        <p:spPr>
          <a:xfrm>
            <a:off x="6195060" y="1796796"/>
            <a:ext cx="5490972" cy="1700784"/>
          </a:xfrm>
          <a:prstGeom prst="roundRect">
            <a:avLst>
              <a:gd name="adj" fmla="val 2151"/>
            </a:avLst>
          </a:prstGeom>
          <a:solidFill>
            <a:srgbClr val="151A24"/>
          </a:solidFill>
          <a:ln w="12700">
            <a:solidFill>
              <a:srgbClr val="252D3D"/>
            </a:solidFill>
            <a:prstDash val="solid"/>
          </a:ln>
        </p:spPr>
      </p:sp>
      <p:sp>
        <p:nvSpPr>
          <p:cNvPr id="9" name="Text 7"/>
          <p:cNvSpPr txBox="1"/>
          <p:nvPr/>
        </p:nvSpPr>
        <p:spPr>
          <a:xfrm>
            <a:off x="6432804" y="1961388"/>
            <a:ext cx="5015484" cy="256032"/>
          </a:xfrm>
          <a:prstGeom prst="rect">
            <a:avLst/>
          </a:prstGeom>
          <a:noFill/>
          <a:ln/>
        </p:spPr>
        <p:txBody>
          <a:bodyPr wrap="square" lIns="0" tIns="0" rIns="0" bIns="0" rtlCol="0" anchor="ctr"/>
          <a:lstStyle/>
          <a:p>
            <a:pPr indent="0" marL="0">
              <a:buNone/>
            </a:pPr>
            <a:r>
              <a:rPr lang="en-US" sz="1200" b="1" dirty="0">
                <a:solidFill>
                  <a:srgbClr val="F59E0B"/>
                </a:solidFill>
                <a:latin typeface="Trenda IG Text" pitchFamily="34" charset="0"/>
                <a:ea typeface="Trenda IG Text" pitchFamily="34" charset="-122"/>
                <a:cs typeface="Trenda IG Text" pitchFamily="34" charset="-120"/>
              </a:rPr>
              <a:t>Licensing decision</a:t>
            </a:r>
            <a:endParaRPr lang="en-US" sz="1200" dirty="0"/>
          </a:p>
        </p:txBody>
      </p:sp>
      <p:sp>
        <p:nvSpPr>
          <p:cNvPr id="10" name="Text 8"/>
          <p:cNvSpPr txBox="1"/>
          <p:nvPr/>
        </p:nvSpPr>
        <p:spPr>
          <a:xfrm>
            <a:off x="6432804" y="2290572"/>
            <a:ext cx="5015484" cy="1115568"/>
          </a:xfrm>
          <a:prstGeom prst="rect">
            <a:avLst/>
          </a:prstGeom>
          <a:noFill/>
          <a:ln/>
        </p:spPr>
        <p:txBody>
          <a:bodyPr wrap="square" lIns="0" tIns="0" rIns="0" bIns="0" rtlCol="0" anchor="t"/>
          <a:lstStyle/>
          <a:p>
            <a:pPr marL="152400" indent="-152400">
              <a:lnSpc>
                <a:spcPts val="1300"/>
              </a:lnSpc>
              <a:spcAft>
                <a:spcPts val="500"/>
              </a:spcAft>
              <a:buSzPct val="100000"/>
              <a:buChar char="•"/>
            </a:pPr>
            <a:r>
              <a:rPr lang="en-US" sz="900" dirty="0">
                <a:solidFill>
                  <a:srgbClr val="E6EAF2"/>
                </a:solidFill>
                <a:latin typeface="Trenda IG Text" pitchFamily="34" charset="0"/>
                <a:ea typeface="Trenda IG Text" pitchFamily="34" charset="-122"/>
                <a:cs typeface="Trenda IG Text" pitchFamily="34" charset="-120"/>
              </a:rPr>
              <a:t>Confirmation of current Einstein and Agentforce entitlement</a:t>
            </a:r>
            <a:endParaRPr lang="en-US" sz="900" dirty="0"/>
          </a:p>
          <a:p>
            <a:pPr marL="152400" indent="-152400">
              <a:lnSpc>
                <a:spcPts val="1300"/>
              </a:lnSpc>
              <a:spcAft>
                <a:spcPts val="500"/>
              </a:spcAft>
              <a:buSzPct val="100000"/>
              <a:buChar char="•"/>
            </a:pPr>
            <a:r>
              <a:rPr lang="en-US" sz="900" dirty="0">
                <a:solidFill>
                  <a:srgbClr val="E6EAF2"/>
                </a:solidFill>
                <a:latin typeface="Trenda IG Text" pitchFamily="34" charset="0"/>
                <a:ea typeface="Trenda IG Text" pitchFamily="34" charset="-122"/>
                <a:cs typeface="Trenda IG Text" pitchFamily="34" charset="-120"/>
              </a:rPr>
              <a:t>Whether Prompt Builder is available in the McKesson org today</a:t>
            </a:r>
            <a:endParaRPr lang="en-US" sz="900" dirty="0"/>
          </a:p>
          <a:p>
            <a:pPr marL="152400" indent="-152400">
              <a:lnSpc>
                <a:spcPts val="1300"/>
              </a:lnSpc>
              <a:spcAft>
                <a:spcPts val="500"/>
              </a:spcAft>
              <a:buSzPct val="100000"/>
              <a:buChar char="•"/>
            </a:pPr>
            <a:r>
              <a:rPr lang="en-US" sz="900" dirty="0">
                <a:solidFill>
                  <a:srgbClr val="E6EAF2"/>
                </a:solidFill>
                <a:latin typeface="Trenda IG Text" pitchFamily="34" charset="0"/>
                <a:ea typeface="Trenda IG Text" pitchFamily="34" charset="-122"/>
                <a:cs typeface="Trenda IG Text" pitchFamily="34" charset="-120"/>
              </a:rPr>
              <a:t>Appetite to pilot Agentforce on a narrow case type in Phase 3</a:t>
            </a:r>
            <a:endParaRPr lang="en-US" sz="900" dirty="0"/>
          </a:p>
          <a:p>
            <a:pPr marL="152400" indent="-152400">
              <a:lnSpc>
                <a:spcPts val="1300"/>
              </a:lnSpc>
              <a:spcAft>
                <a:spcPts val="500"/>
              </a:spcAft>
              <a:buSzPct val="100000"/>
              <a:buChar char="•"/>
            </a:pPr>
            <a:r>
              <a:rPr lang="en-US" sz="900" dirty="0">
                <a:solidFill>
                  <a:srgbClr val="E6EAF2"/>
                </a:solidFill>
                <a:latin typeface="Trenda IG Text" pitchFamily="34" charset="0"/>
                <a:ea typeface="Trenda IG Text" pitchFamily="34" charset="-122"/>
                <a:cs typeface="Trenda IG Text" pitchFamily="34" charset="-120"/>
              </a:rPr>
              <a:t>Security approval for generative features on PHI adjacent data</a:t>
            </a:r>
            <a:endParaRPr lang="en-US" sz="900" dirty="0"/>
          </a:p>
        </p:txBody>
      </p:sp>
      <p:sp>
        <p:nvSpPr>
          <p:cNvPr id="11" name="Shape 9"/>
          <p:cNvSpPr/>
          <p:nvPr/>
        </p:nvSpPr>
        <p:spPr>
          <a:xfrm>
            <a:off x="502920" y="3698748"/>
            <a:ext cx="5490972" cy="1700784"/>
          </a:xfrm>
          <a:prstGeom prst="roundRect">
            <a:avLst>
              <a:gd name="adj" fmla="val 2151"/>
            </a:avLst>
          </a:prstGeom>
          <a:solidFill>
            <a:srgbClr val="151A24"/>
          </a:solidFill>
          <a:ln w="12700">
            <a:solidFill>
              <a:srgbClr val="252D3D"/>
            </a:solidFill>
            <a:prstDash val="solid"/>
          </a:ln>
        </p:spPr>
      </p:sp>
      <p:sp>
        <p:nvSpPr>
          <p:cNvPr id="12" name="Text 10"/>
          <p:cNvSpPr txBox="1"/>
          <p:nvPr/>
        </p:nvSpPr>
        <p:spPr>
          <a:xfrm>
            <a:off x="740664" y="3863340"/>
            <a:ext cx="5015484" cy="256032"/>
          </a:xfrm>
          <a:prstGeom prst="rect">
            <a:avLst/>
          </a:prstGeom>
          <a:noFill/>
          <a:ln/>
        </p:spPr>
        <p:txBody>
          <a:bodyPr wrap="square" lIns="0" tIns="0" rIns="0" bIns="0" rtlCol="0" anchor="ctr"/>
          <a:lstStyle/>
          <a:p>
            <a:pPr indent="0" marL="0">
              <a:buNone/>
            </a:pPr>
            <a:r>
              <a:rPr lang="en-US" sz="1200" b="1" dirty="0">
                <a:solidFill>
                  <a:srgbClr val="22D3EE"/>
                </a:solidFill>
                <a:latin typeface="Trenda IG Text" pitchFamily="34" charset="0"/>
                <a:ea typeface="Trenda IG Text" pitchFamily="34" charset="-122"/>
                <a:cs typeface="Trenda IG Text" pitchFamily="34" charset="-120"/>
              </a:rPr>
              <a:t>Data and systems</a:t>
            </a:r>
            <a:endParaRPr lang="en-US" sz="1200" dirty="0"/>
          </a:p>
        </p:txBody>
      </p:sp>
      <p:sp>
        <p:nvSpPr>
          <p:cNvPr id="13" name="Text 11"/>
          <p:cNvSpPr txBox="1"/>
          <p:nvPr/>
        </p:nvSpPr>
        <p:spPr>
          <a:xfrm>
            <a:off x="740664" y="4192524"/>
            <a:ext cx="5015484" cy="1115568"/>
          </a:xfrm>
          <a:prstGeom prst="rect">
            <a:avLst/>
          </a:prstGeom>
          <a:noFill/>
          <a:ln/>
        </p:spPr>
        <p:txBody>
          <a:bodyPr wrap="square" lIns="0" tIns="0" rIns="0" bIns="0" rtlCol="0" anchor="t"/>
          <a:lstStyle/>
          <a:p>
            <a:pPr marL="152400" indent="-152400">
              <a:lnSpc>
                <a:spcPts val="1300"/>
              </a:lnSpc>
              <a:spcAft>
                <a:spcPts val="500"/>
              </a:spcAft>
              <a:buSzPct val="100000"/>
              <a:buChar char="•"/>
            </a:pPr>
            <a:r>
              <a:rPr lang="en-US" sz="900" dirty="0">
                <a:solidFill>
                  <a:srgbClr val="E6EAF2"/>
                </a:solidFill>
                <a:latin typeface="Trenda IG Text" pitchFamily="34" charset="0"/>
                <a:ea typeface="Trenda IG Text" pitchFamily="34" charset="-122"/>
                <a:cs typeface="Trenda IG Text" pitchFamily="34" charset="-120"/>
              </a:rPr>
              <a:t>Historical case data to baseline categories, mix and handling time</a:t>
            </a:r>
            <a:endParaRPr lang="en-US" sz="900" dirty="0"/>
          </a:p>
          <a:p>
            <a:pPr marL="152400" indent="-152400">
              <a:lnSpc>
                <a:spcPts val="1300"/>
              </a:lnSpc>
              <a:spcAft>
                <a:spcPts val="500"/>
              </a:spcAft>
              <a:buSzPct val="100000"/>
              <a:buChar char="•"/>
            </a:pPr>
            <a:r>
              <a:rPr lang="en-US" sz="900" dirty="0">
                <a:solidFill>
                  <a:srgbClr val="E6EAF2"/>
                </a:solidFill>
                <a:latin typeface="Trenda IG Text" pitchFamily="34" charset="0"/>
                <a:ea typeface="Trenda IG Text" pitchFamily="34" charset="-122"/>
                <a:cs typeface="Trenda IG Text" pitchFamily="34" charset="-120"/>
              </a:rPr>
              <a:t>Existing Knowledge articles, SOPs and email templates</a:t>
            </a:r>
            <a:endParaRPr lang="en-US" sz="900" dirty="0"/>
          </a:p>
          <a:p>
            <a:pPr marL="152400" indent="-152400">
              <a:lnSpc>
                <a:spcPts val="1300"/>
              </a:lnSpc>
              <a:spcAft>
                <a:spcPts val="500"/>
              </a:spcAft>
              <a:buSzPct val="100000"/>
              <a:buChar char="•"/>
            </a:pPr>
            <a:r>
              <a:rPr lang="en-US" sz="900" dirty="0">
                <a:solidFill>
                  <a:srgbClr val="E6EAF2"/>
                </a:solidFill>
                <a:latin typeface="Trenda IG Text" pitchFamily="34" charset="0"/>
                <a:ea typeface="Trenda IG Text" pitchFamily="34" charset="-122"/>
                <a:cs typeface="Trenda IG Text" pitchFamily="34" charset="-120"/>
              </a:rPr>
              <a:t>Read access to order and shipment data for grounding</a:t>
            </a:r>
            <a:endParaRPr lang="en-US" sz="900" dirty="0"/>
          </a:p>
          <a:p>
            <a:pPr marL="152400" indent="-152400">
              <a:lnSpc>
                <a:spcPts val="1300"/>
              </a:lnSpc>
              <a:spcAft>
                <a:spcPts val="500"/>
              </a:spcAft>
              <a:buSzPct val="100000"/>
              <a:buChar char="•"/>
            </a:pPr>
            <a:r>
              <a:rPr lang="en-US" sz="900" dirty="0">
                <a:solidFill>
                  <a:srgbClr val="E6EAF2"/>
                </a:solidFill>
                <a:latin typeface="Trenda IG Text" pitchFamily="34" charset="0"/>
                <a:ea typeface="Trenda IG Text" pitchFamily="34" charset="-122"/>
                <a:cs typeface="Trenda IG Text" pitchFamily="34" charset="-120"/>
              </a:rPr>
              <a:t>Definition of premium and VIP account treatment</a:t>
            </a:r>
            <a:endParaRPr lang="en-US" sz="900" dirty="0"/>
          </a:p>
        </p:txBody>
      </p:sp>
      <p:sp>
        <p:nvSpPr>
          <p:cNvPr id="14" name="Shape 12"/>
          <p:cNvSpPr/>
          <p:nvPr/>
        </p:nvSpPr>
        <p:spPr>
          <a:xfrm>
            <a:off x="6195060" y="3698748"/>
            <a:ext cx="5490972" cy="1700784"/>
          </a:xfrm>
          <a:prstGeom prst="roundRect">
            <a:avLst>
              <a:gd name="adj" fmla="val 2151"/>
            </a:avLst>
          </a:prstGeom>
          <a:solidFill>
            <a:srgbClr val="151A24"/>
          </a:solidFill>
          <a:ln w="12700">
            <a:solidFill>
              <a:srgbClr val="252D3D"/>
            </a:solidFill>
            <a:prstDash val="solid"/>
          </a:ln>
        </p:spPr>
      </p:sp>
      <p:sp>
        <p:nvSpPr>
          <p:cNvPr id="15" name="Text 13"/>
          <p:cNvSpPr txBox="1"/>
          <p:nvPr/>
        </p:nvSpPr>
        <p:spPr>
          <a:xfrm>
            <a:off x="6432804" y="3863340"/>
            <a:ext cx="5015484" cy="256032"/>
          </a:xfrm>
          <a:prstGeom prst="rect">
            <a:avLst/>
          </a:prstGeom>
          <a:noFill/>
          <a:ln/>
        </p:spPr>
        <p:txBody>
          <a:bodyPr wrap="square" lIns="0" tIns="0" rIns="0" bIns="0" rtlCol="0" anchor="ctr"/>
          <a:lstStyle/>
          <a:p>
            <a:pPr indent="0" marL="0">
              <a:buNone/>
            </a:pPr>
            <a:r>
              <a:rPr lang="en-US" sz="1200" b="1" dirty="0">
                <a:solidFill>
                  <a:srgbClr val="22D3EE"/>
                </a:solidFill>
                <a:latin typeface="Trenda IG Text" pitchFamily="34" charset="0"/>
                <a:ea typeface="Trenda IG Text" pitchFamily="34" charset="-122"/>
                <a:cs typeface="Trenda IG Text" pitchFamily="34" charset="-120"/>
              </a:rPr>
              <a:t>People and decisions</a:t>
            </a:r>
            <a:endParaRPr lang="en-US" sz="1200" dirty="0"/>
          </a:p>
        </p:txBody>
      </p:sp>
      <p:sp>
        <p:nvSpPr>
          <p:cNvPr id="16" name="Text 14"/>
          <p:cNvSpPr txBox="1"/>
          <p:nvPr/>
        </p:nvSpPr>
        <p:spPr>
          <a:xfrm>
            <a:off x="6432804" y="4192524"/>
            <a:ext cx="5015484" cy="1115568"/>
          </a:xfrm>
          <a:prstGeom prst="rect">
            <a:avLst/>
          </a:prstGeom>
          <a:noFill/>
          <a:ln/>
        </p:spPr>
        <p:txBody>
          <a:bodyPr wrap="square" lIns="0" tIns="0" rIns="0" bIns="0" rtlCol="0" anchor="t"/>
          <a:lstStyle/>
          <a:p>
            <a:pPr marL="152400" indent="-152400">
              <a:lnSpc>
                <a:spcPts val="1300"/>
              </a:lnSpc>
              <a:spcAft>
                <a:spcPts val="500"/>
              </a:spcAft>
              <a:buSzPct val="100000"/>
              <a:buChar char="•"/>
            </a:pPr>
            <a:r>
              <a:rPr lang="en-US" sz="900" dirty="0">
                <a:solidFill>
                  <a:srgbClr val="E6EAF2"/>
                </a:solidFill>
                <a:latin typeface="Trenda IG Text" pitchFamily="34" charset="0"/>
                <a:ea typeface="Trenda IG Text" pitchFamily="34" charset="-122"/>
                <a:cs typeface="Trenda IG Text" pitchFamily="34" charset="-120"/>
              </a:rPr>
              <a:t>Process owners and subject matter experts for discovery</a:t>
            </a:r>
            <a:endParaRPr lang="en-US" sz="900" dirty="0"/>
          </a:p>
          <a:p>
            <a:pPr marL="152400" indent="-152400">
              <a:lnSpc>
                <a:spcPts val="1300"/>
              </a:lnSpc>
              <a:spcAft>
                <a:spcPts val="500"/>
              </a:spcAft>
              <a:buSzPct val="100000"/>
              <a:buChar char="•"/>
            </a:pPr>
            <a:r>
              <a:rPr lang="en-US" sz="900" dirty="0">
                <a:solidFill>
                  <a:srgbClr val="E6EAF2"/>
                </a:solidFill>
                <a:latin typeface="Trenda IG Text" pitchFamily="34" charset="0"/>
                <a:ea typeface="Trenda IG Text" pitchFamily="34" charset="-122"/>
                <a:cs typeface="Trenda IG Text" pitchFamily="34" charset="-120"/>
              </a:rPr>
              <a:t>Sign off on the case taxonomy, priority rules and SLA targets</a:t>
            </a:r>
            <a:endParaRPr lang="en-US" sz="900" dirty="0"/>
          </a:p>
          <a:p>
            <a:pPr marL="152400" indent="-152400">
              <a:lnSpc>
                <a:spcPts val="1300"/>
              </a:lnSpc>
              <a:spcAft>
                <a:spcPts val="500"/>
              </a:spcAft>
              <a:buSzPct val="100000"/>
              <a:buChar char="•"/>
            </a:pPr>
            <a:r>
              <a:rPr lang="en-US" sz="900" dirty="0">
                <a:solidFill>
                  <a:srgbClr val="E6EAF2"/>
                </a:solidFill>
                <a:latin typeface="Trenda IG Text" pitchFamily="34" charset="0"/>
                <a:ea typeface="Trenda IG Text" pitchFamily="34" charset="-122"/>
                <a:cs typeface="Trenda IG Text" pitchFamily="34" charset="-120"/>
              </a:rPr>
              <a:t>Named owners for pricing, AR and other dependency escalation paths</a:t>
            </a:r>
            <a:endParaRPr lang="en-US" sz="900" dirty="0"/>
          </a:p>
          <a:p>
            <a:pPr marL="152400" indent="-152400">
              <a:lnSpc>
                <a:spcPts val="1300"/>
              </a:lnSpc>
              <a:spcAft>
                <a:spcPts val="500"/>
              </a:spcAft>
              <a:buSzPct val="100000"/>
              <a:buChar char="•"/>
            </a:pPr>
            <a:r>
              <a:rPr lang="en-US" sz="900" dirty="0">
                <a:solidFill>
                  <a:srgbClr val="E6EAF2"/>
                </a:solidFill>
                <a:latin typeface="Trenda IG Text" pitchFamily="34" charset="0"/>
                <a:ea typeface="Trenda IG Text" pitchFamily="34" charset="-122"/>
                <a:cs typeface="Trenda IG Text" pitchFamily="34" charset="-120"/>
              </a:rPr>
              <a:t>A McKesson service owner for the governance cadence</a:t>
            </a:r>
            <a:endParaRPr lang="en-US" sz="900" dirty="0"/>
          </a:p>
        </p:txBody>
      </p:sp>
      <p:sp>
        <p:nvSpPr>
          <p:cNvPr id="17" name="Shape 15"/>
          <p:cNvSpPr/>
          <p:nvPr/>
        </p:nvSpPr>
        <p:spPr>
          <a:xfrm>
            <a:off x="502920" y="5637276"/>
            <a:ext cx="11183112" cy="512064"/>
          </a:xfrm>
          <a:prstGeom prst="roundRect">
            <a:avLst>
              <a:gd name="adj" fmla="val 7143"/>
            </a:avLst>
          </a:prstGeom>
          <a:solidFill>
            <a:srgbClr val="1A2130"/>
          </a:solidFill>
          <a:ln w="12700">
            <a:solidFill>
              <a:srgbClr val="22D3EE"/>
            </a:solidFill>
            <a:prstDash val="solid"/>
          </a:ln>
        </p:spPr>
      </p:sp>
      <p:sp>
        <p:nvSpPr>
          <p:cNvPr id="18" name="Text 16"/>
          <p:cNvSpPr txBox="1"/>
          <p:nvPr/>
        </p:nvSpPr>
        <p:spPr>
          <a:xfrm>
            <a:off x="704088" y="5637276"/>
            <a:ext cx="10780776" cy="512064"/>
          </a:xfrm>
          <a:prstGeom prst="rect">
            <a:avLst/>
          </a:prstGeom>
          <a:noFill/>
          <a:ln/>
        </p:spPr>
        <p:txBody>
          <a:bodyPr wrap="square" lIns="0" tIns="0" rIns="0" bIns="0" rtlCol="0" anchor="ctr"/>
          <a:lstStyle/>
          <a:p>
            <a:pPr indent="0" marL="0">
              <a:lnSpc>
                <a:spcPts val="1200"/>
              </a:lnSpc>
              <a:buNone/>
            </a:pPr>
            <a:r>
              <a:rPr lang="en-US" sz="900" b="1" spc="140" kern="0" dirty="0">
                <a:solidFill>
                  <a:srgbClr val="22D3EE"/>
                </a:solidFill>
                <a:latin typeface="Trenda IG Text" pitchFamily="34" charset="0"/>
                <a:ea typeface="Trenda IG Text" pitchFamily="34" charset="-122"/>
                <a:cs typeface="Trenda IG Text" pitchFamily="34" charset="-120"/>
              </a:rPr>
              <a:t>PROPOSED NEXT STEP   </a:t>
            </a:r>
            <a:pPr indent="0" marL="0">
              <a:lnSpc>
                <a:spcPts val="1200"/>
              </a:lnSpc>
              <a:buNone/>
            </a:pPr>
            <a:r>
              <a:rPr lang="en-US" sz="900" dirty="0">
                <a:solidFill>
                  <a:srgbClr val="E6EAF2"/>
                </a:solidFill>
                <a:latin typeface="Trenda IG Text" pitchFamily="34" charset="0"/>
                <a:ea typeface="Trenda IG Text" pitchFamily="34" charset="-122"/>
                <a:cs typeface="Trenda IG Text" pitchFamily="34" charset="-120"/>
              </a:rPr>
              <a:t>A joint design workshop on the case taxonomy, priority rules and SLA definitions, run alongside a technical discovery session on the McKesson Salesforce configuration and current Einstein entitlement.</a:t>
            </a:r>
            <a:endParaRPr lang="en-US" sz="900" dirty="0"/>
          </a:p>
        </p:txBody>
      </p:sp>
      <p:pic>
        <p:nvPicPr>
          <p:cNvPr id="19" name="Image 0" descr="assets/ig-mark.png">    </p:cNvPr>
          <p:cNvPicPr>
            <a:picLocks noChangeAspect="1"/>
          </p:cNvPicPr>
          <p:nvPr/>
        </p:nvPicPr>
        <p:blipFill>
          <a:blip r:embed="rId1"/>
          <a:stretch>
            <a:fillRect/>
          </a:stretch>
        </p:blipFill>
        <p:spPr>
          <a:xfrm>
            <a:off x="502920" y="6455664"/>
            <a:ext cx="420624" cy="144475"/>
          </a:xfrm>
          <a:prstGeom prst="rect">
            <a:avLst/>
          </a:prstGeom>
        </p:spPr>
      </p:pic>
      <p:sp>
        <p:nvSpPr>
          <p:cNvPr id="20" name="Text 17"/>
          <p:cNvSpPr txBox="1"/>
          <p:nvPr/>
        </p:nvSpPr>
        <p:spPr>
          <a:xfrm>
            <a:off x="11201400" y="6400800"/>
            <a:ext cx="484632" cy="237744"/>
          </a:xfrm>
          <a:prstGeom prst="rect">
            <a:avLst/>
          </a:prstGeom>
          <a:noFill/>
          <a:ln/>
        </p:spPr>
        <p:txBody>
          <a:bodyPr wrap="square" lIns="0" tIns="0" rIns="0" bIns="0" rtlCol="0" anchor="ctr"/>
          <a:lstStyle/>
          <a:p>
            <a:pPr algn="r" indent="0" marL="0">
              <a:buNone/>
            </a:pPr>
            <a:r>
              <a:rPr lang="en-US" sz="850" dirty="0">
                <a:solidFill>
                  <a:srgbClr val="8A94A6"/>
                </a:solidFill>
                <a:latin typeface="Trenda IG Text" pitchFamily="34" charset="0"/>
                <a:ea typeface="Trenda IG Text" pitchFamily="34" charset="-122"/>
                <a:cs typeface="Trenda IG Text" pitchFamily="34" charset="-120"/>
              </a:rPr>
              <a:t>22</a:t>
            </a:r>
            <a:endParaRPr lang="en-US" sz="850" dirty="0"/>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name="Slide 24">
    <p:bg>
      <p:bgPr>
        <a:solidFill>
          <a:srgbClr val="0A0D14"/>
        </a:solidFill>
      </p:bgPr>
    </p:bg>
    <p:spTree>
      <p:nvGrpSpPr>
        <p:cNvPr id="1" name=""/>
        <p:cNvGrpSpPr/>
        <p:nvPr/>
      </p:nvGrpSpPr>
      <p:grpSpPr>
        <a:xfrm>
          <a:off x="0" y="0"/>
          <a:ext cx="0" cy="0"/>
          <a:chOff x="0" y="0"/>
          <a:chExt cx="0" cy="0"/>
        </a:xfrm>
      </p:grpSpPr>
      <p:sp>
        <p:nvSpPr>
          <p:cNvPr id="2" name="Shape 0"/>
          <p:cNvSpPr/>
          <p:nvPr/>
        </p:nvSpPr>
        <p:spPr>
          <a:xfrm>
            <a:off x="8275320" y="2103120"/>
            <a:ext cx="2423160" cy="2423160"/>
          </a:xfrm>
          <a:prstGeom prst="ellipse">
            <a:avLst/>
          </a:prstGeom>
          <a:solidFill>
            <a:srgbClr val="22D3EE">
              <a:alpha val="14000"/>
            </a:srgbClr>
          </a:solidFill>
          <a:ln w="12700">
            <a:solidFill>
              <a:srgbClr val="22D3EE"/>
            </a:solidFill>
            <a:prstDash val="solid"/>
          </a:ln>
        </p:spPr>
      </p:sp>
      <p:sp>
        <p:nvSpPr>
          <p:cNvPr id="3" name="Shape 1"/>
          <p:cNvSpPr/>
          <p:nvPr/>
        </p:nvSpPr>
        <p:spPr>
          <a:xfrm>
            <a:off x="9535363" y="2103120"/>
            <a:ext cx="2423160" cy="2423160"/>
          </a:xfrm>
          <a:prstGeom prst="ellipse">
            <a:avLst/>
          </a:prstGeom>
          <a:solidFill>
            <a:srgbClr val="FFC72C">
              <a:alpha val="14000"/>
            </a:srgbClr>
          </a:solidFill>
          <a:ln w="12700">
            <a:solidFill>
              <a:srgbClr val="FFC72C"/>
            </a:solidFill>
            <a:prstDash val="solid"/>
          </a:ln>
        </p:spPr>
      </p:sp>
      <p:sp>
        <p:nvSpPr>
          <p:cNvPr id="4" name="Shape 2"/>
          <p:cNvSpPr/>
          <p:nvPr/>
        </p:nvSpPr>
        <p:spPr>
          <a:xfrm>
            <a:off x="8905342" y="3193542"/>
            <a:ext cx="2423160" cy="2423160"/>
          </a:xfrm>
          <a:prstGeom prst="ellipse">
            <a:avLst/>
          </a:prstGeom>
          <a:solidFill>
            <a:srgbClr val="FF0069">
              <a:alpha val="14000"/>
            </a:srgbClr>
          </a:solidFill>
          <a:ln w="12700">
            <a:solidFill>
              <a:srgbClr val="FF0069"/>
            </a:solidFill>
            <a:prstDash val="solid"/>
          </a:ln>
        </p:spPr>
      </p:sp>
      <p:pic>
        <p:nvPicPr>
          <p:cNvPr id="5" name="Image 0" descr="assets/ig-wordmark.png">    </p:cNvPr>
          <p:cNvPicPr>
            <a:picLocks noChangeAspect="1"/>
          </p:cNvPicPr>
          <p:nvPr/>
        </p:nvPicPr>
        <p:blipFill>
          <a:blip r:embed="rId1"/>
          <a:stretch>
            <a:fillRect/>
          </a:stretch>
        </p:blipFill>
        <p:spPr>
          <a:xfrm>
            <a:off x="502920" y="502920"/>
            <a:ext cx="1965960" cy="491033"/>
          </a:xfrm>
          <a:prstGeom prst="rect">
            <a:avLst/>
          </a:prstGeom>
        </p:spPr>
      </p:pic>
      <p:sp>
        <p:nvSpPr>
          <p:cNvPr id="6" name="Shape 3"/>
          <p:cNvSpPr/>
          <p:nvPr/>
        </p:nvSpPr>
        <p:spPr>
          <a:xfrm>
            <a:off x="502920" y="2395728"/>
            <a:ext cx="173736" cy="173736"/>
          </a:xfrm>
          <a:prstGeom prst="ellipse">
            <a:avLst/>
          </a:prstGeom>
          <a:solidFill>
            <a:srgbClr val="22D3EE"/>
          </a:solidFill>
          <a:ln w="12700">
            <a:solidFill>
              <a:srgbClr val="22D3EE"/>
            </a:solidFill>
            <a:prstDash val="solid"/>
          </a:ln>
        </p:spPr>
      </p:sp>
      <p:sp>
        <p:nvSpPr>
          <p:cNvPr id="7" name="Shape 4"/>
          <p:cNvSpPr/>
          <p:nvPr/>
        </p:nvSpPr>
        <p:spPr>
          <a:xfrm>
            <a:off x="768096" y="2395728"/>
            <a:ext cx="173736" cy="173736"/>
          </a:xfrm>
          <a:prstGeom prst="ellipse">
            <a:avLst/>
          </a:prstGeom>
          <a:solidFill>
            <a:srgbClr val="FFC72C"/>
          </a:solidFill>
          <a:ln w="12700">
            <a:solidFill>
              <a:srgbClr val="FFC72C"/>
            </a:solidFill>
            <a:prstDash val="solid"/>
          </a:ln>
        </p:spPr>
      </p:sp>
      <p:sp>
        <p:nvSpPr>
          <p:cNvPr id="8" name="Shape 5"/>
          <p:cNvSpPr/>
          <p:nvPr/>
        </p:nvSpPr>
        <p:spPr>
          <a:xfrm>
            <a:off x="1033272" y="2395728"/>
            <a:ext cx="173736" cy="173736"/>
          </a:xfrm>
          <a:prstGeom prst="ellipse">
            <a:avLst/>
          </a:prstGeom>
          <a:solidFill>
            <a:srgbClr val="FF0069"/>
          </a:solidFill>
          <a:ln w="12700">
            <a:solidFill>
              <a:srgbClr val="FF0069"/>
            </a:solidFill>
            <a:prstDash val="solid"/>
          </a:ln>
        </p:spPr>
      </p:sp>
      <p:sp>
        <p:nvSpPr>
          <p:cNvPr id="9" name="Text 6"/>
          <p:cNvSpPr txBox="1"/>
          <p:nvPr/>
        </p:nvSpPr>
        <p:spPr>
          <a:xfrm>
            <a:off x="502920" y="2798064"/>
            <a:ext cx="9144000" cy="274320"/>
          </a:xfrm>
          <a:prstGeom prst="rect">
            <a:avLst/>
          </a:prstGeom>
          <a:noFill/>
          <a:ln/>
        </p:spPr>
        <p:txBody>
          <a:bodyPr wrap="square" lIns="0" tIns="0" rIns="0" bIns="0" rtlCol="0" anchor="ctr"/>
          <a:lstStyle/>
          <a:p>
            <a:pPr indent="0" marL="0">
              <a:buNone/>
            </a:pPr>
            <a:r>
              <a:rPr lang="en-US" sz="1100" b="1" spc="240" kern="0" dirty="0">
                <a:solidFill>
                  <a:srgbClr val="22D3EE"/>
                </a:solidFill>
                <a:latin typeface="Trenda IG Display" pitchFamily="34" charset="0"/>
                <a:ea typeface="Trenda IG Display" pitchFamily="34" charset="-122"/>
                <a:cs typeface="Trenda IG Display" pitchFamily="34" charset="-120"/>
              </a:rPr>
              <a:t>INTELLIGENT CASE MANAGEMENT</a:t>
            </a:r>
            <a:endParaRPr lang="en-US" sz="1100" dirty="0"/>
          </a:p>
        </p:txBody>
      </p:sp>
      <p:sp>
        <p:nvSpPr>
          <p:cNvPr id="10" name="Text 7"/>
          <p:cNvSpPr txBox="1"/>
          <p:nvPr/>
        </p:nvSpPr>
        <p:spPr>
          <a:xfrm>
            <a:off x="502920" y="3145536"/>
            <a:ext cx="9601200" cy="1280160"/>
          </a:xfrm>
          <a:prstGeom prst="rect">
            <a:avLst/>
          </a:prstGeom>
          <a:noFill/>
          <a:ln/>
        </p:spPr>
        <p:txBody>
          <a:bodyPr wrap="square" lIns="0" tIns="0" rIns="0" bIns="0" rtlCol="0" anchor="t"/>
          <a:lstStyle/>
          <a:p>
            <a:pPr indent="0" marL="0">
              <a:lnSpc>
                <a:spcPts val="4200"/>
              </a:lnSpc>
              <a:buNone/>
            </a:pPr>
            <a:r>
              <a:rPr lang="en-US" sz="3400" b="1" dirty="0">
                <a:solidFill>
                  <a:srgbClr val="FFFFFF"/>
                </a:solidFill>
                <a:latin typeface="Trenda IG Display" pitchFamily="34" charset="0"/>
                <a:ea typeface="Trenda IG Display" pitchFamily="34" charset="-122"/>
                <a:cs typeface="Trenda IG Display" pitchFamily="34" charset="-120"/>
              </a:rPr>
              <a:t>Agents spend their time on the</a:t>
            </a:r>
            <a:endParaRPr lang="en-US" sz="3400" dirty="0"/>
          </a:p>
          <a:p>
            <a:pPr indent="0" marL="0">
              <a:lnSpc>
                <a:spcPts val="4200"/>
              </a:lnSpc>
              <a:buNone/>
            </a:pPr>
            <a:r>
              <a:rPr lang="en-US" sz="3400" b="1" dirty="0">
                <a:solidFill>
                  <a:srgbClr val="FFFFFF"/>
                </a:solidFill>
                <a:latin typeface="Trenda IG Display" pitchFamily="34" charset="0"/>
                <a:ea typeface="Trenda IG Display" pitchFamily="34" charset="-122"/>
                <a:cs typeface="Trenda IG Display" pitchFamily="34" charset="-120"/>
              </a:rPr>
              <a:t>cases that need judgement.</a:t>
            </a:r>
            <a:endParaRPr lang="en-US" sz="3400" dirty="0"/>
          </a:p>
        </p:txBody>
      </p:sp>
      <p:sp>
        <p:nvSpPr>
          <p:cNvPr id="11" name="Text 8"/>
          <p:cNvSpPr txBox="1"/>
          <p:nvPr/>
        </p:nvSpPr>
        <p:spPr>
          <a:xfrm>
            <a:off x="502920" y="4590288"/>
            <a:ext cx="7863840" cy="585216"/>
          </a:xfrm>
          <a:prstGeom prst="rect">
            <a:avLst/>
          </a:prstGeom>
          <a:noFill/>
          <a:ln/>
        </p:spPr>
        <p:txBody>
          <a:bodyPr wrap="square" lIns="0" tIns="0" rIns="0" bIns="0" rtlCol="0" anchor="t"/>
          <a:lstStyle/>
          <a:p>
            <a:pPr indent="0" marL="0">
              <a:lnSpc>
                <a:spcPts val="1800"/>
              </a:lnSpc>
              <a:buNone/>
            </a:pPr>
            <a:r>
              <a:rPr lang="en-US" sz="1250" dirty="0">
                <a:solidFill>
                  <a:srgbClr val="8A94A6"/>
                </a:solidFill>
                <a:latin typeface="Trenda IG Text" pitchFamily="34" charset="0"/>
                <a:ea typeface="Trenda IG Text" pitchFamily="34" charset="-122"/>
                <a:cs typeface="Trenda IG Text" pitchFamily="34" charset="-120"/>
              </a:rPr>
              <a:t>Salesforce reads, classifies, prioritises, routes, times, summarises and drafts. Insight Global owns the operation, the quality and the outcome.</a:t>
            </a:r>
            <a:endParaRPr lang="en-US" sz="1250" dirty="0"/>
          </a:p>
        </p:txBody>
      </p:sp>
      <p:sp>
        <p:nvSpPr>
          <p:cNvPr id="12" name="Text 9"/>
          <p:cNvSpPr txBox="1"/>
          <p:nvPr/>
        </p:nvSpPr>
        <p:spPr>
          <a:xfrm>
            <a:off x="502920" y="5961888"/>
            <a:ext cx="5486400" cy="292608"/>
          </a:xfrm>
          <a:prstGeom prst="rect">
            <a:avLst/>
          </a:prstGeom>
          <a:noFill/>
          <a:ln/>
        </p:spPr>
        <p:txBody>
          <a:bodyPr wrap="square" lIns="0" tIns="0" rIns="0" bIns="0" rtlCol="0" anchor="ctr"/>
          <a:lstStyle/>
          <a:p>
            <a:pPr indent="0" marL="0">
              <a:buNone/>
            </a:pPr>
            <a:r>
              <a:rPr lang="en-US" sz="1300" b="1" dirty="0">
                <a:solidFill>
                  <a:srgbClr val="E6EAF2"/>
                </a:solidFill>
                <a:latin typeface="Trenda IG Text" pitchFamily="34" charset="0"/>
                <a:ea typeface="Trenda IG Text" pitchFamily="34" charset="-122"/>
                <a:cs typeface="Trenda IG Text" pitchFamily="34" charset="-120"/>
              </a:rPr>
              <a:t>Thank you</a:t>
            </a:r>
            <a:endParaRPr lang="en-US" sz="13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24</Slides>
  <Notes>24</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24</vt:i4>
      </vt:variant>
    </vt:vector>
  </HeadingPairs>
  <TitlesOfParts>
    <vt:vector size="27"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lpstr>Slide 19</vt:lpstr>
      <vt:lpstr>Slide 20</vt:lpstr>
      <vt:lpstr>Slide 21</vt:lpstr>
      <vt:lpstr>Slide 22</vt:lpstr>
      <vt:lpstr>Slide 23</vt:lpstr>
      <vt:lpstr>Slide 24</vt:lpstr>
    </vt:vector>
  </TitlesOfParts>
  <Company>Insight Global</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Intelligent Case Management for McKesson Extended Care</dc:title>
  <dc:subject>PptxGenJS Presentation</dc:subject>
  <dc:creator>Insight Global</dc:creator>
  <cp:lastModifiedBy>Insight Global</cp:lastModifiedBy>
  <cp:revision>1</cp:revision>
  <dcterms:created xsi:type="dcterms:W3CDTF">2026-09-15T11:12:53Z</dcterms:created>
  <dcterms:modified xsi:type="dcterms:W3CDTF">2026-09-15T11:12:53Z</dcterms:modified>
</cp:coreProperties>
</file>