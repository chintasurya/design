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is a solution and business value proposal. Commercials are handled separately. The single message: the work of reading, classifying, prioritising, routing and drafting is moved into Salesforce, so agent time goes to judgement rather than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Sections 1 and 6 are the business case. Sections 2 to 5 are the solution. If time is short, run 3, 5, 6, 13, 17, 21 and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business case in their own numbers. The point of the six steps is that five of them are administration. Only step six needs an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line by line. Land the shape of it: every row moves work from the agent to the platform, and the right hand column is all standard Salesforce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 frame is used consistently for the rest of the deck. Stages 1, 3, 4 and 6 need no new licensing. Stages 2 and 5 are where Prompt Templates and Agentforce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architectural point: one Flow is the spine. Prompt Templates are called by the Flow, they do not own the process. That is what keeps policy deterministic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returned values are the whole point. Everything downstream, routing, SLA, drafting and reporting, keys off these fields. Stress that the model recommends and the Flow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corrects the earlier draft that used story and defect. Those are engineering words. Agents and McKesson reviewers both read these six categories without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controls matter more than the four levels. Without them, priority drifts and the SLA numbers stop meaning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is included in Service Cloud. No AI licensing needed for this stage. The value is that skill and capacity are respected, which is what protects the credits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Entitlements and Milestones are standard Service Cloud. The design decision worth flagging: the resolution clock keeps running during internal McKesson dependencies, because pausing it would hide the real customer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 time triggers do this natively. Each trigger can fire a task, an email alert, a field update or a Slack or Chatter post. No custom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land one slide, land this one. The draft plus summary combination is where the 25 percent handling time reduction comes from, and the third column is what makes it safe to say yes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obvious objection, that generated answers might be wrong. They are grounded in McKesson approved articles, and the gap capture step means the base gets better rather than drifting.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conversation on the Pending Internal Team row. The four way time split is the answer: McKesson can see what is ours and what is theirs, without either of us gaming the headline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will ask about this. The three answers that matter: it runs in McKesson tenancy, PHI is masked before it leaves the org, and nothing is retained or trained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point without talking commercials: Phase 1 is real value at zero licensing risk. That is what lets McKesson start without resolving the Agentforce question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automation coverage metrics on the left. Draft acceptance rate is how we prove the AI is actually helping, and it is a coaching signal, never an agent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worth making: today improvement depends on someone remembering. Here the signal is captured automatically at the point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that these are modelled. The credibility comes from showing the decomposition rather than asserting a headline percentage. If challenged, the classify and assign row is the one to defend hardest, because it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sponsor remembers. Handling time is the efficiency story, sub 60 second triage is the response time story. Both are stated as modelled, which is what makes them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licensing box is deliberately amber: it is the only open question, and Phase 1 does not wait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one line to leave in the room: agents spend their time on the cases that need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4"/>
        </a:solidFill>
      </p:bgPr>
    </p:bg>
    <p:spTree>
      <p:nvGrpSpPr>
        <p:cNvPr id="1" name=""/>
        <p:cNvGrpSpPr/>
        <p:nvPr/>
      </p:nvGrpSpPr>
      <p:grpSpPr>
        <a:xfrm>
          <a:off x="0" y="0"/>
          <a:ext cx="0" cy="0"/>
          <a:chOff x="0" y="0"/>
          <a:chExt cx="0" cy="0"/>
        </a:xfrm>
      </p:grpSpPr>
      <p:sp>
        <p:nvSpPr>
          <p:cNvPr id="2" name="Shape 0"/>
          <p:cNvSpPr/>
          <p:nvPr/>
        </p:nvSpPr>
        <p:spPr>
          <a:xfrm>
            <a:off x="7818120" y="1691640"/>
            <a:ext cx="2697480" cy="2697480"/>
          </a:xfrm>
          <a:prstGeom prst="ellipse">
            <a:avLst/>
          </a:prstGeom>
          <a:solidFill>
            <a:srgbClr val="22D3EE">
              <a:alpha val="14000"/>
            </a:srgbClr>
          </a:solidFill>
          <a:ln w="12700">
            <a:solidFill>
              <a:srgbClr val="22D3EE"/>
            </a:solidFill>
            <a:prstDash val="solid"/>
          </a:ln>
        </p:spPr>
      </p:sp>
      <p:sp>
        <p:nvSpPr>
          <p:cNvPr id="3" name="Shape 1"/>
          <p:cNvSpPr/>
          <p:nvPr/>
        </p:nvSpPr>
        <p:spPr>
          <a:xfrm>
            <a:off x="9220810" y="1691640"/>
            <a:ext cx="2697480" cy="2697480"/>
          </a:xfrm>
          <a:prstGeom prst="ellipse">
            <a:avLst/>
          </a:prstGeom>
          <a:solidFill>
            <a:srgbClr val="FFC72C">
              <a:alpha val="14000"/>
            </a:srgbClr>
          </a:solidFill>
          <a:ln w="12700">
            <a:solidFill>
              <a:srgbClr val="FFC72C"/>
            </a:solidFill>
            <a:prstDash val="solid"/>
          </a:ln>
        </p:spPr>
      </p:sp>
      <p:sp>
        <p:nvSpPr>
          <p:cNvPr id="4" name="Shape 2"/>
          <p:cNvSpPr/>
          <p:nvPr/>
        </p:nvSpPr>
        <p:spPr>
          <a:xfrm>
            <a:off x="8519465" y="2905506"/>
            <a:ext cx="2697480" cy="2697480"/>
          </a:xfrm>
          <a:prstGeom prst="ellipse">
            <a:avLst/>
          </a:prstGeom>
          <a:solidFill>
            <a:srgbClr val="FF0069">
              <a:alpha val="14000"/>
            </a:srgbClr>
          </a:solidFill>
          <a:ln w="12700">
            <a:solidFill>
              <a:srgbClr val="FF0069"/>
            </a:solidFill>
            <a:prstDash val="solid"/>
          </a:ln>
        </p:spPr>
      </p:sp>
      <p:pic>
        <p:nvPicPr>
          <p:cNvPr id="5" name="Image 0" descr="assets/ig-wordmark.png">    </p:cNvPr>
          <p:cNvPicPr>
            <a:picLocks noChangeAspect="1"/>
          </p:cNvPicPr>
          <p:nvPr/>
        </p:nvPicPr>
        <p:blipFill>
          <a:blip r:embed="rId1"/>
          <a:stretch>
            <a:fillRect/>
          </a:stretch>
        </p:blipFill>
        <p:spPr>
          <a:xfrm>
            <a:off x="502920" y="502920"/>
            <a:ext cx="1965960" cy="491033"/>
          </a:xfrm>
          <a:prstGeom prst="rect">
            <a:avLst/>
          </a:prstGeom>
        </p:spPr>
      </p:pic>
      <p:sp>
        <p:nvSpPr>
          <p:cNvPr id="6" name="Shape 3"/>
          <p:cNvSpPr/>
          <p:nvPr/>
        </p:nvSpPr>
        <p:spPr>
          <a:xfrm>
            <a:off x="502920" y="2212848"/>
            <a:ext cx="173736" cy="173736"/>
          </a:xfrm>
          <a:prstGeom prst="ellipse">
            <a:avLst/>
          </a:prstGeom>
          <a:solidFill>
            <a:srgbClr val="22D3EE"/>
          </a:solidFill>
          <a:ln w="12700">
            <a:solidFill>
              <a:srgbClr val="22D3EE"/>
            </a:solidFill>
            <a:prstDash val="solid"/>
          </a:ln>
        </p:spPr>
      </p:sp>
      <p:sp>
        <p:nvSpPr>
          <p:cNvPr id="7" name="Shape 4"/>
          <p:cNvSpPr/>
          <p:nvPr/>
        </p:nvSpPr>
        <p:spPr>
          <a:xfrm>
            <a:off x="768096" y="2212848"/>
            <a:ext cx="173736" cy="173736"/>
          </a:xfrm>
          <a:prstGeom prst="ellipse">
            <a:avLst/>
          </a:prstGeom>
          <a:solidFill>
            <a:srgbClr val="FFC72C"/>
          </a:solidFill>
          <a:ln w="12700">
            <a:solidFill>
              <a:srgbClr val="FFC72C"/>
            </a:solidFill>
            <a:prstDash val="solid"/>
          </a:ln>
        </p:spPr>
      </p:sp>
      <p:sp>
        <p:nvSpPr>
          <p:cNvPr id="8" name="Shape 5"/>
          <p:cNvSpPr/>
          <p:nvPr/>
        </p:nvSpPr>
        <p:spPr>
          <a:xfrm>
            <a:off x="1033272" y="2212848"/>
            <a:ext cx="173736" cy="173736"/>
          </a:xfrm>
          <a:prstGeom prst="ellipse">
            <a:avLst/>
          </a:prstGeom>
          <a:solidFill>
            <a:srgbClr val="FF0069"/>
          </a:solidFill>
          <a:ln w="12700">
            <a:solidFill>
              <a:srgbClr val="FF0069"/>
            </a:solidFill>
            <a:prstDash val="solid"/>
          </a:ln>
        </p:spPr>
      </p:sp>
      <p:sp>
        <p:nvSpPr>
          <p:cNvPr id="9" name="Text 6"/>
          <p:cNvSpPr txBox="1"/>
          <p:nvPr/>
        </p:nvSpPr>
        <p:spPr>
          <a:xfrm>
            <a:off x="502920" y="2615184"/>
            <a:ext cx="9144000" cy="237744"/>
          </a:xfrm>
          <a:prstGeom prst="rect">
            <a:avLst/>
          </a:prstGeom>
          <a:noFill/>
          <a:ln/>
        </p:spPr>
        <p:txBody>
          <a:bodyPr wrap="square" lIns="0" tIns="0" rIns="0" bIns="0" rtlCol="0" anchor="ctr"/>
          <a:lstStyle/>
          <a:p>
            <a:pPr indent="0" marL="0">
              <a:buNone/>
            </a:pPr>
            <a:r>
              <a:rPr lang="en-US" sz="1100" b="1" spc="260" kern="0" dirty="0">
                <a:solidFill>
                  <a:srgbClr val="22D3EE"/>
                </a:solidFill>
                <a:latin typeface="Arial" pitchFamily="34" charset="0"/>
                <a:ea typeface="Arial" pitchFamily="34" charset="-122"/>
                <a:cs typeface="Arial" pitchFamily="34" charset="-120"/>
              </a:rPr>
              <a:t>MCKESSON EXTENDED CARE  |  SOLUTION PROPOSAL</a:t>
            </a:r>
            <a:endParaRPr lang="en-US" sz="1100" dirty="0"/>
          </a:p>
        </p:txBody>
      </p:sp>
      <p:sp>
        <p:nvSpPr>
          <p:cNvPr id="10" name="Text 7"/>
          <p:cNvSpPr txBox="1"/>
          <p:nvPr/>
        </p:nvSpPr>
        <p:spPr>
          <a:xfrm>
            <a:off x="502920" y="2944368"/>
            <a:ext cx="10058400" cy="1481328"/>
          </a:xfrm>
          <a:prstGeom prst="rect">
            <a:avLst/>
          </a:prstGeom>
          <a:noFill/>
          <a:ln/>
        </p:spPr>
        <p:txBody>
          <a:bodyPr wrap="square" lIns="0" tIns="0" rIns="0" bIns="0" rtlCol="0" anchor="t"/>
          <a:lstStyle/>
          <a:p>
            <a:pPr indent="0" marL="0">
              <a:lnSpc>
                <a:spcPts val="5000"/>
              </a:lnSpc>
              <a:buNone/>
            </a:pPr>
            <a:r>
              <a:rPr lang="en-US" sz="4400" b="1" spc="60" kern="0" dirty="0">
                <a:solidFill>
                  <a:srgbClr val="FFFFFF"/>
                </a:solidFill>
                <a:latin typeface="Arial" pitchFamily="34" charset="0"/>
                <a:ea typeface="Arial" pitchFamily="34" charset="-122"/>
                <a:cs typeface="Arial" pitchFamily="34" charset="-120"/>
              </a:rPr>
              <a:t>INTELLIGENT CASE</a:t>
            </a:r>
            <a:endParaRPr lang="en-US" sz="4400" dirty="0"/>
          </a:p>
          <a:p>
            <a:pPr indent="0" marL="0">
              <a:lnSpc>
                <a:spcPts val="5000"/>
              </a:lnSpc>
              <a:buNone/>
            </a:pPr>
            <a:r>
              <a:rPr lang="en-US" sz="4400" b="1" spc="60" kern="0" dirty="0">
                <a:solidFill>
                  <a:srgbClr val="FFFFFF"/>
                </a:solidFill>
                <a:latin typeface="Arial" pitchFamily="34" charset="0"/>
                <a:ea typeface="Arial" pitchFamily="34" charset="-122"/>
                <a:cs typeface="Arial" pitchFamily="34" charset="-120"/>
              </a:rPr>
              <a:t>MANAGEMENT</a:t>
            </a:r>
            <a:endParaRPr lang="en-US" sz="4400" dirty="0"/>
          </a:p>
        </p:txBody>
      </p:sp>
      <p:sp>
        <p:nvSpPr>
          <p:cNvPr id="11" name="Text 8"/>
          <p:cNvSpPr txBox="1"/>
          <p:nvPr/>
        </p:nvSpPr>
        <p:spPr>
          <a:xfrm>
            <a:off x="502920" y="4617720"/>
            <a:ext cx="7772400" cy="640080"/>
          </a:xfrm>
          <a:prstGeom prst="rect">
            <a:avLst/>
          </a:prstGeom>
          <a:noFill/>
          <a:ln/>
        </p:spPr>
        <p:txBody>
          <a:bodyPr wrap="square" lIns="0" tIns="0" rIns="0" bIns="0" rtlCol="0" anchor="t"/>
          <a:lstStyle/>
          <a:p>
            <a:pPr indent="0" marL="0">
              <a:lnSpc>
                <a:spcPts val="1900"/>
              </a:lnSpc>
              <a:buNone/>
            </a:pPr>
            <a:r>
              <a:rPr lang="en-US" sz="1300" dirty="0">
                <a:solidFill>
                  <a:srgbClr val="8A94A6"/>
                </a:solidFill>
                <a:latin typeface="Arial" pitchFamily="34" charset="0"/>
                <a:ea typeface="Arial" pitchFamily="34" charset="-122"/>
                <a:cs typeface="Arial" pitchFamily="34" charset="-120"/>
              </a:rPr>
              <a:t>Salesforce native email case automation. Every inbound case classified, prioritised, routed, timed, summarised and drafted before an agent opens it.</a:t>
            </a:r>
            <a:endParaRPr lang="en-US" sz="1300" dirty="0"/>
          </a:p>
        </p:txBody>
      </p:sp>
      <p:sp>
        <p:nvSpPr>
          <p:cNvPr id="12" name="Text 9"/>
          <p:cNvSpPr txBox="1"/>
          <p:nvPr/>
        </p:nvSpPr>
        <p:spPr>
          <a:xfrm>
            <a:off x="502920" y="6053328"/>
            <a:ext cx="6400800" cy="256032"/>
          </a:xfrm>
          <a:prstGeom prst="rect">
            <a:avLst/>
          </a:prstGeom>
          <a:noFill/>
          <a:ln/>
        </p:spPr>
        <p:txBody>
          <a:bodyPr wrap="square" lIns="0" tIns="0" rIns="0" bIns="0" rtlCol="0" anchor="ctr"/>
          <a:lstStyle/>
          <a:p>
            <a:pPr indent="0" marL="0">
              <a:buNone/>
            </a:pPr>
            <a:r>
              <a:rPr lang="en-US" sz="1000" dirty="0">
                <a:solidFill>
                  <a:srgbClr val="8A94A6"/>
                </a:solidFill>
                <a:latin typeface="Arial" pitchFamily="34" charset="0"/>
                <a:ea typeface="Arial" pitchFamily="34" charset="-122"/>
                <a:cs typeface="Arial" pitchFamily="34" charset="-120"/>
              </a:rPr>
              <a:t>Prepared by Insight Global   ·   September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AGENDA</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WHAT THIS PROPOSAL COVERS</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A Salesforce native operating model for Extended Care email, built on Flow Builder, Prompt Templates and Agentforce, delivered in phases so value lands before any new licensing is required.</a:t>
            </a:r>
            <a:endParaRPr lang="en-US" sz="1150" dirty="0"/>
          </a:p>
        </p:txBody>
      </p:sp>
      <p:sp>
        <p:nvSpPr>
          <p:cNvPr id="5" name="Shape 3"/>
          <p:cNvSpPr/>
          <p:nvPr/>
        </p:nvSpPr>
        <p:spPr>
          <a:xfrm>
            <a:off x="502920" y="1796796"/>
            <a:ext cx="3593592" cy="1755648"/>
          </a:xfrm>
          <a:prstGeom prst="roundRect">
            <a:avLst>
              <a:gd name="adj" fmla="val 2083"/>
            </a:avLst>
          </a:prstGeom>
          <a:solidFill>
            <a:srgbClr val="151A24"/>
          </a:solidFill>
          <a:ln w="12700">
            <a:solidFill>
              <a:srgbClr val="252D3D"/>
            </a:solidFill>
            <a:prstDash val="solid"/>
          </a:ln>
        </p:spPr>
      </p:sp>
      <p:sp>
        <p:nvSpPr>
          <p:cNvPr id="6" name="Shape 4"/>
          <p:cNvSpPr/>
          <p:nvPr/>
        </p:nvSpPr>
        <p:spPr>
          <a:xfrm>
            <a:off x="722376" y="2016252"/>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22376"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01</a:t>
            </a:r>
            <a:endParaRPr lang="en-US" sz="1050" dirty="0"/>
          </a:p>
        </p:txBody>
      </p:sp>
      <p:sp>
        <p:nvSpPr>
          <p:cNvPr id="8" name="Text 6"/>
          <p:cNvSpPr txBox="1"/>
          <p:nvPr/>
        </p:nvSpPr>
        <p:spPr>
          <a:xfrm>
            <a:off x="722376" y="2363724"/>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Where the effort goes today</a:t>
            </a:r>
            <a:endParaRPr lang="en-US" sz="1250" dirty="0"/>
          </a:p>
        </p:txBody>
      </p:sp>
      <p:sp>
        <p:nvSpPr>
          <p:cNvPr id="9" name="Text 7"/>
          <p:cNvSpPr txBox="1"/>
          <p:nvPr/>
        </p:nvSpPr>
        <p:spPr>
          <a:xfrm>
            <a:off x="722376" y="2875788"/>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Arial" pitchFamily="34" charset="0"/>
                <a:ea typeface="Arial" pitchFamily="34" charset="-122"/>
                <a:cs typeface="Arial" pitchFamily="34" charset="-120"/>
              </a:rPr>
              <a:t>The manual work sitting between an inbound email and a customer reply, and what it costs in handling time.</a:t>
            </a:r>
            <a:endParaRPr lang="en-US" sz="900" dirty="0"/>
          </a:p>
        </p:txBody>
      </p:sp>
      <p:sp>
        <p:nvSpPr>
          <p:cNvPr id="10" name="Shape 8"/>
          <p:cNvSpPr/>
          <p:nvPr/>
        </p:nvSpPr>
        <p:spPr>
          <a:xfrm>
            <a:off x="4297680" y="1796796"/>
            <a:ext cx="3593592" cy="1755648"/>
          </a:xfrm>
          <a:prstGeom prst="roundRect">
            <a:avLst>
              <a:gd name="adj" fmla="val 2083"/>
            </a:avLst>
          </a:prstGeom>
          <a:solidFill>
            <a:srgbClr val="151A24"/>
          </a:solidFill>
          <a:ln w="12700">
            <a:solidFill>
              <a:srgbClr val="252D3D"/>
            </a:solidFill>
            <a:prstDash val="solid"/>
          </a:ln>
        </p:spPr>
      </p:sp>
      <p:sp>
        <p:nvSpPr>
          <p:cNvPr id="11" name="Shape 9"/>
          <p:cNvSpPr/>
          <p:nvPr/>
        </p:nvSpPr>
        <p:spPr>
          <a:xfrm>
            <a:off x="4517136" y="2016252"/>
            <a:ext cx="310896" cy="256032"/>
          </a:xfrm>
          <a:prstGeom prst="roundRect">
            <a:avLst>
              <a:gd name="adj" fmla="val 17857"/>
            </a:avLst>
          </a:prstGeom>
          <a:solidFill>
            <a:srgbClr val="0A0D14"/>
          </a:solidFill>
          <a:ln w="12700">
            <a:solidFill>
              <a:srgbClr val="22D3EE"/>
            </a:solidFill>
            <a:prstDash val="solid"/>
          </a:ln>
        </p:spPr>
      </p:sp>
      <p:sp>
        <p:nvSpPr>
          <p:cNvPr id="12" name="Text 10"/>
          <p:cNvSpPr txBox="1"/>
          <p:nvPr/>
        </p:nvSpPr>
        <p:spPr>
          <a:xfrm>
            <a:off x="4517136"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02</a:t>
            </a:r>
            <a:endParaRPr lang="en-US" sz="1050" dirty="0"/>
          </a:p>
        </p:txBody>
      </p:sp>
      <p:sp>
        <p:nvSpPr>
          <p:cNvPr id="13" name="Text 11"/>
          <p:cNvSpPr txBox="1"/>
          <p:nvPr/>
        </p:nvSpPr>
        <p:spPr>
          <a:xfrm>
            <a:off x="4517136" y="2363724"/>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The intelligent case management model</a:t>
            </a:r>
            <a:endParaRPr lang="en-US" sz="1250" dirty="0"/>
          </a:p>
        </p:txBody>
      </p:sp>
      <p:sp>
        <p:nvSpPr>
          <p:cNvPr id="14" name="Text 12"/>
          <p:cNvSpPr txBox="1"/>
          <p:nvPr/>
        </p:nvSpPr>
        <p:spPr>
          <a:xfrm>
            <a:off x="4517136" y="2875788"/>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Arial" pitchFamily="34" charset="0"/>
                <a:ea typeface="Arial" pitchFamily="34" charset="-122"/>
                <a:cs typeface="Arial" pitchFamily="34" charset="-120"/>
              </a:rPr>
              <a:t>Six stages from capture to continuous learning, and the Salesforce architecture that delivers them.</a:t>
            </a:r>
            <a:endParaRPr lang="en-US" sz="900" dirty="0"/>
          </a:p>
        </p:txBody>
      </p:sp>
      <p:sp>
        <p:nvSpPr>
          <p:cNvPr id="15" name="Shape 13"/>
          <p:cNvSpPr/>
          <p:nvPr/>
        </p:nvSpPr>
        <p:spPr>
          <a:xfrm>
            <a:off x="8092440" y="1796796"/>
            <a:ext cx="3593592" cy="1755648"/>
          </a:xfrm>
          <a:prstGeom prst="roundRect">
            <a:avLst>
              <a:gd name="adj" fmla="val 2083"/>
            </a:avLst>
          </a:prstGeom>
          <a:solidFill>
            <a:srgbClr val="151A24"/>
          </a:solidFill>
          <a:ln w="12700">
            <a:solidFill>
              <a:srgbClr val="252D3D"/>
            </a:solidFill>
            <a:prstDash val="solid"/>
          </a:ln>
        </p:spPr>
      </p:sp>
      <p:sp>
        <p:nvSpPr>
          <p:cNvPr id="16" name="Shape 14"/>
          <p:cNvSpPr/>
          <p:nvPr/>
        </p:nvSpPr>
        <p:spPr>
          <a:xfrm>
            <a:off x="8311896" y="2016252"/>
            <a:ext cx="310896" cy="256032"/>
          </a:xfrm>
          <a:prstGeom prst="roundRect">
            <a:avLst>
              <a:gd name="adj" fmla="val 17857"/>
            </a:avLst>
          </a:prstGeom>
          <a:solidFill>
            <a:srgbClr val="0A0D14"/>
          </a:solidFill>
          <a:ln w="12700">
            <a:solidFill>
              <a:srgbClr val="22D3EE"/>
            </a:solidFill>
            <a:prstDash val="solid"/>
          </a:ln>
        </p:spPr>
      </p:sp>
      <p:sp>
        <p:nvSpPr>
          <p:cNvPr id="17" name="Text 15"/>
          <p:cNvSpPr txBox="1"/>
          <p:nvPr/>
        </p:nvSpPr>
        <p:spPr>
          <a:xfrm>
            <a:off x="8311896"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03</a:t>
            </a:r>
            <a:endParaRPr lang="en-US" sz="1050" dirty="0"/>
          </a:p>
        </p:txBody>
      </p:sp>
      <p:sp>
        <p:nvSpPr>
          <p:cNvPr id="18" name="Text 16"/>
          <p:cNvSpPr txBox="1"/>
          <p:nvPr/>
        </p:nvSpPr>
        <p:spPr>
          <a:xfrm>
            <a:off x="8311896" y="2363724"/>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Classification, priority and SLA</a:t>
            </a:r>
            <a:endParaRPr lang="en-US" sz="1250" dirty="0"/>
          </a:p>
        </p:txBody>
      </p:sp>
      <p:sp>
        <p:nvSpPr>
          <p:cNvPr id="19" name="Text 17"/>
          <p:cNvSpPr txBox="1"/>
          <p:nvPr/>
        </p:nvSpPr>
        <p:spPr>
          <a:xfrm>
            <a:off x="8311896" y="2875788"/>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Arial" pitchFamily="34" charset="0"/>
                <a:ea typeface="Arial" pitchFamily="34" charset="-122"/>
                <a:cs typeface="Arial" pitchFamily="34" charset="-120"/>
              </a:rPr>
              <a:t>A customer service taxonomy, a priority formula, and SLA clocks enforced by Entitlements and Milestones.</a:t>
            </a:r>
            <a:endParaRPr lang="en-US" sz="900" dirty="0"/>
          </a:p>
        </p:txBody>
      </p:sp>
      <p:sp>
        <p:nvSpPr>
          <p:cNvPr id="20" name="Shape 18"/>
          <p:cNvSpPr/>
          <p:nvPr/>
        </p:nvSpPr>
        <p:spPr>
          <a:xfrm>
            <a:off x="502920" y="3771900"/>
            <a:ext cx="3593592" cy="1755648"/>
          </a:xfrm>
          <a:prstGeom prst="roundRect">
            <a:avLst>
              <a:gd name="adj" fmla="val 2083"/>
            </a:avLst>
          </a:prstGeom>
          <a:solidFill>
            <a:srgbClr val="151A24"/>
          </a:solidFill>
          <a:ln w="12700">
            <a:solidFill>
              <a:srgbClr val="252D3D"/>
            </a:solidFill>
            <a:prstDash val="solid"/>
          </a:ln>
        </p:spPr>
      </p:sp>
      <p:sp>
        <p:nvSpPr>
          <p:cNvPr id="21" name="Shape 19"/>
          <p:cNvSpPr/>
          <p:nvPr/>
        </p:nvSpPr>
        <p:spPr>
          <a:xfrm>
            <a:off x="722376" y="3991356"/>
            <a:ext cx="310896" cy="256032"/>
          </a:xfrm>
          <a:prstGeom prst="roundRect">
            <a:avLst>
              <a:gd name="adj" fmla="val 17857"/>
            </a:avLst>
          </a:prstGeom>
          <a:solidFill>
            <a:srgbClr val="0A0D14"/>
          </a:solidFill>
          <a:ln w="12700">
            <a:solidFill>
              <a:srgbClr val="22D3EE"/>
            </a:solidFill>
            <a:prstDash val="solid"/>
          </a:ln>
        </p:spPr>
      </p:sp>
      <p:sp>
        <p:nvSpPr>
          <p:cNvPr id="22" name="Text 20"/>
          <p:cNvSpPr txBox="1"/>
          <p:nvPr/>
        </p:nvSpPr>
        <p:spPr>
          <a:xfrm>
            <a:off x="722376" y="399135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04</a:t>
            </a:r>
            <a:endParaRPr lang="en-US" sz="1050" dirty="0"/>
          </a:p>
        </p:txBody>
      </p:sp>
      <p:sp>
        <p:nvSpPr>
          <p:cNvPr id="23" name="Text 21"/>
          <p:cNvSpPr txBox="1"/>
          <p:nvPr/>
        </p:nvSpPr>
        <p:spPr>
          <a:xfrm>
            <a:off x="722376" y="4338828"/>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Draft, summarise and assist</a:t>
            </a:r>
            <a:endParaRPr lang="en-US" sz="1250" dirty="0"/>
          </a:p>
        </p:txBody>
      </p:sp>
      <p:sp>
        <p:nvSpPr>
          <p:cNvPr id="24" name="Text 22"/>
          <p:cNvSpPr txBox="1"/>
          <p:nvPr/>
        </p:nvSpPr>
        <p:spPr>
          <a:xfrm>
            <a:off x="722376" y="4850892"/>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Arial" pitchFamily="34" charset="0"/>
                <a:ea typeface="Arial" pitchFamily="34" charset="-122"/>
                <a:cs typeface="Arial" pitchFamily="34" charset="-120"/>
              </a:rPr>
              <a:t>Prompt Templates that summarise the thread, ground the answer in Knowledge and draft the reply for review.</a:t>
            </a:r>
            <a:endParaRPr lang="en-US" sz="900" dirty="0"/>
          </a:p>
        </p:txBody>
      </p:sp>
      <p:sp>
        <p:nvSpPr>
          <p:cNvPr id="25" name="Shape 23"/>
          <p:cNvSpPr/>
          <p:nvPr/>
        </p:nvSpPr>
        <p:spPr>
          <a:xfrm>
            <a:off x="4297680" y="3771900"/>
            <a:ext cx="3593592" cy="1755648"/>
          </a:xfrm>
          <a:prstGeom prst="roundRect">
            <a:avLst>
              <a:gd name="adj" fmla="val 2083"/>
            </a:avLst>
          </a:prstGeom>
          <a:solidFill>
            <a:srgbClr val="151A24"/>
          </a:solidFill>
          <a:ln w="12700">
            <a:solidFill>
              <a:srgbClr val="252D3D"/>
            </a:solidFill>
            <a:prstDash val="solid"/>
          </a:ln>
        </p:spPr>
      </p:sp>
      <p:sp>
        <p:nvSpPr>
          <p:cNvPr id="26" name="Shape 24"/>
          <p:cNvSpPr/>
          <p:nvPr/>
        </p:nvSpPr>
        <p:spPr>
          <a:xfrm>
            <a:off x="4517136" y="3991356"/>
            <a:ext cx="310896" cy="256032"/>
          </a:xfrm>
          <a:prstGeom prst="roundRect">
            <a:avLst>
              <a:gd name="adj" fmla="val 17857"/>
            </a:avLst>
          </a:prstGeom>
          <a:solidFill>
            <a:srgbClr val="0A0D14"/>
          </a:solidFill>
          <a:ln w="12700">
            <a:solidFill>
              <a:srgbClr val="22D3EE"/>
            </a:solidFill>
            <a:prstDash val="solid"/>
          </a:ln>
        </p:spPr>
      </p:sp>
      <p:sp>
        <p:nvSpPr>
          <p:cNvPr id="27" name="Text 25"/>
          <p:cNvSpPr txBox="1"/>
          <p:nvPr/>
        </p:nvSpPr>
        <p:spPr>
          <a:xfrm>
            <a:off x="4517136" y="399135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05</a:t>
            </a:r>
            <a:endParaRPr lang="en-US" sz="1050" dirty="0"/>
          </a:p>
        </p:txBody>
      </p:sp>
      <p:sp>
        <p:nvSpPr>
          <p:cNvPr id="28" name="Text 26"/>
          <p:cNvSpPr txBox="1"/>
          <p:nvPr/>
        </p:nvSpPr>
        <p:spPr>
          <a:xfrm>
            <a:off x="4517136" y="4338828"/>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Trust, guardrails and phased delivery</a:t>
            </a:r>
            <a:endParaRPr lang="en-US" sz="1250" dirty="0"/>
          </a:p>
        </p:txBody>
      </p:sp>
      <p:sp>
        <p:nvSpPr>
          <p:cNvPr id="29" name="Text 27"/>
          <p:cNvSpPr txBox="1"/>
          <p:nvPr/>
        </p:nvSpPr>
        <p:spPr>
          <a:xfrm>
            <a:off x="4517136" y="4850892"/>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Arial" pitchFamily="34" charset="0"/>
                <a:ea typeface="Arial" pitchFamily="34" charset="-122"/>
                <a:cs typeface="Arial" pitchFamily="34" charset="-120"/>
              </a:rPr>
              <a:t>PHI handling, the human approval boundary, and a three phase roadmap gated on licensing and readiness.</a:t>
            </a:r>
            <a:endParaRPr lang="en-US" sz="900" dirty="0"/>
          </a:p>
        </p:txBody>
      </p:sp>
      <p:sp>
        <p:nvSpPr>
          <p:cNvPr id="30" name="Shape 28"/>
          <p:cNvSpPr/>
          <p:nvPr/>
        </p:nvSpPr>
        <p:spPr>
          <a:xfrm>
            <a:off x="8092440" y="3771900"/>
            <a:ext cx="3593592" cy="1755648"/>
          </a:xfrm>
          <a:prstGeom prst="roundRect">
            <a:avLst>
              <a:gd name="adj" fmla="val 2083"/>
            </a:avLst>
          </a:prstGeom>
          <a:solidFill>
            <a:srgbClr val="151A24"/>
          </a:solidFill>
          <a:ln w="12700">
            <a:solidFill>
              <a:srgbClr val="252D3D"/>
            </a:solidFill>
            <a:prstDash val="solid"/>
          </a:ln>
        </p:spPr>
      </p:sp>
      <p:sp>
        <p:nvSpPr>
          <p:cNvPr id="31" name="Shape 29"/>
          <p:cNvSpPr/>
          <p:nvPr/>
        </p:nvSpPr>
        <p:spPr>
          <a:xfrm>
            <a:off x="8311896" y="3991356"/>
            <a:ext cx="310896" cy="256032"/>
          </a:xfrm>
          <a:prstGeom prst="roundRect">
            <a:avLst>
              <a:gd name="adj" fmla="val 17857"/>
            </a:avLst>
          </a:prstGeom>
          <a:solidFill>
            <a:srgbClr val="0A0D14"/>
          </a:solidFill>
          <a:ln w="12700">
            <a:solidFill>
              <a:srgbClr val="22D3EE"/>
            </a:solidFill>
            <a:prstDash val="solid"/>
          </a:ln>
        </p:spPr>
      </p:sp>
      <p:sp>
        <p:nvSpPr>
          <p:cNvPr id="32" name="Text 30"/>
          <p:cNvSpPr txBox="1"/>
          <p:nvPr/>
        </p:nvSpPr>
        <p:spPr>
          <a:xfrm>
            <a:off x="8311896" y="399135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06</a:t>
            </a:r>
            <a:endParaRPr lang="en-US" sz="1050" dirty="0"/>
          </a:p>
        </p:txBody>
      </p:sp>
      <p:sp>
        <p:nvSpPr>
          <p:cNvPr id="33" name="Text 31"/>
          <p:cNvSpPr txBox="1"/>
          <p:nvPr/>
        </p:nvSpPr>
        <p:spPr>
          <a:xfrm>
            <a:off x="8311896" y="4338828"/>
            <a:ext cx="3154680" cy="49377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Arial" pitchFamily="34" charset="0"/>
                <a:ea typeface="Arial" pitchFamily="34" charset="-122"/>
                <a:cs typeface="Arial" pitchFamily="34" charset="-120"/>
              </a:rPr>
              <a:t>Business value</a:t>
            </a:r>
            <a:endParaRPr lang="en-US" sz="1250" dirty="0"/>
          </a:p>
        </p:txBody>
      </p:sp>
      <p:sp>
        <p:nvSpPr>
          <p:cNvPr id="34" name="Text 32"/>
          <p:cNvSpPr txBox="1"/>
          <p:nvPr/>
        </p:nvSpPr>
        <p:spPr>
          <a:xfrm>
            <a:off x="8311896" y="4850892"/>
            <a:ext cx="3154680" cy="566928"/>
          </a:xfrm>
          <a:prstGeom prst="rect">
            <a:avLst/>
          </a:prstGeom>
          <a:noFill/>
          <a:ln/>
        </p:spPr>
        <p:txBody>
          <a:bodyPr wrap="square" lIns="0" tIns="0" rIns="0" bIns="0" rtlCol="0" anchor="t"/>
          <a:lstStyle/>
          <a:p>
            <a:pPr indent="0" marL="0">
              <a:lnSpc>
                <a:spcPts val="1250"/>
              </a:lnSpc>
              <a:buNone/>
            </a:pPr>
            <a:r>
              <a:rPr lang="en-US" sz="900" dirty="0">
                <a:solidFill>
                  <a:srgbClr val="8A94A6"/>
                </a:solidFill>
                <a:latin typeface="Arial" pitchFamily="34" charset="0"/>
                <a:ea typeface="Arial" pitchFamily="34" charset="-122"/>
                <a:cs typeface="Arial" pitchFamily="34" charset="-120"/>
              </a:rPr>
              <a:t>Modelled handling time reduction, response time impact, and what we need from McKesson to deliver it.</a:t>
            </a:r>
            <a:endParaRPr lang="en-US" sz="900" dirty="0"/>
          </a:p>
        </p:txBody>
      </p:sp>
      <p:pic>
        <p:nvPicPr>
          <p:cNvPr id="35"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6" name="Text 33"/>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THE CASE FOR CHANGE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WHERE THE EFFORT GOES TODAY</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Every one of roughly 33,000 monthly email cases is read, classified, prioritised and answered by hand. Most of that effort is administration, not judgement.</a:t>
            </a:r>
            <a:endParaRPr lang="en-US" sz="1150" dirty="0"/>
          </a:p>
        </p:txBody>
      </p:sp>
      <p:sp>
        <p:nvSpPr>
          <p:cNvPr id="5" name="Shape 3"/>
          <p:cNvSpPr/>
          <p:nvPr/>
        </p:nvSpPr>
        <p:spPr>
          <a:xfrm>
            <a:off x="502920" y="1796796"/>
            <a:ext cx="2679192" cy="1152144"/>
          </a:xfrm>
          <a:prstGeom prst="roundRect">
            <a:avLst>
              <a:gd name="adj" fmla="val 3175"/>
            </a:avLst>
          </a:prstGeom>
          <a:solidFill>
            <a:srgbClr val="151A24"/>
          </a:solidFill>
          <a:ln w="12700">
            <a:solidFill>
              <a:srgbClr val="252D3D"/>
            </a:solidFill>
            <a:prstDash val="solid"/>
          </a:ln>
        </p:spPr>
      </p:sp>
      <p:sp>
        <p:nvSpPr>
          <p:cNvPr id="6" name="Text 4"/>
          <p:cNvSpPr txBox="1"/>
          <p:nvPr/>
        </p:nvSpPr>
        <p:spPr>
          <a:xfrm>
            <a:off x="667512" y="1906524"/>
            <a:ext cx="2350008" cy="475488"/>
          </a:xfrm>
          <a:prstGeom prst="rect">
            <a:avLst/>
          </a:prstGeom>
          <a:noFill/>
          <a:ln/>
        </p:spPr>
        <p:txBody>
          <a:bodyPr wrap="square" lIns="0" tIns="0" rIns="0" bIns="0" rtlCol="0" anchor="ctr"/>
          <a:lstStyle/>
          <a:p>
            <a:pPr indent="0" marL="0">
              <a:buNone/>
            </a:pPr>
            <a:r>
              <a:rPr lang="en-US" sz="2700" b="1" dirty="0">
                <a:solidFill>
                  <a:srgbClr val="22D3EE"/>
                </a:solidFill>
                <a:latin typeface="Arial" pitchFamily="34" charset="0"/>
                <a:ea typeface="Arial" pitchFamily="34" charset="-122"/>
                <a:cs typeface="Arial" pitchFamily="34" charset="-120"/>
              </a:rPr>
              <a:t>33,480</a:t>
            </a:r>
            <a:endParaRPr lang="en-US" sz="2700" dirty="0"/>
          </a:p>
        </p:txBody>
      </p:sp>
      <p:sp>
        <p:nvSpPr>
          <p:cNvPr id="7" name="Text 5"/>
          <p:cNvSpPr txBox="1"/>
          <p:nvPr/>
        </p:nvSpPr>
        <p:spPr>
          <a:xfrm>
            <a:off x="667512"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Email cases offered per month across the Extended Care queues</a:t>
            </a:r>
            <a:endParaRPr lang="en-US" sz="900" dirty="0"/>
          </a:p>
        </p:txBody>
      </p:sp>
      <p:sp>
        <p:nvSpPr>
          <p:cNvPr id="8" name="Shape 6"/>
          <p:cNvSpPr/>
          <p:nvPr/>
        </p:nvSpPr>
        <p:spPr>
          <a:xfrm>
            <a:off x="3346704" y="1796796"/>
            <a:ext cx="2679192" cy="1152144"/>
          </a:xfrm>
          <a:prstGeom prst="roundRect">
            <a:avLst>
              <a:gd name="adj" fmla="val 3175"/>
            </a:avLst>
          </a:prstGeom>
          <a:solidFill>
            <a:srgbClr val="151A24"/>
          </a:solidFill>
          <a:ln w="12700">
            <a:solidFill>
              <a:srgbClr val="252D3D"/>
            </a:solidFill>
            <a:prstDash val="solid"/>
          </a:ln>
        </p:spPr>
      </p:sp>
      <p:sp>
        <p:nvSpPr>
          <p:cNvPr id="9" name="Text 7"/>
          <p:cNvSpPr txBox="1"/>
          <p:nvPr/>
        </p:nvSpPr>
        <p:spPr>
          <a:xfrm>
            <a:off x="3511296" y="1906524"/>
            <a:ext cx="2350008" cy="475488"/>
          </a:xfrm>
          <a:prstGeom prst="rect">
            <a:avLst/>
          </a:prstGeom>
          <a:noFill/>
          <a:ln/>
        </p:spPr>
        <p:txBody>
          <a:bodyPr wrap="square" lIns="0" tIns="0" rIns="0" bIns="0" rtlCol="0" anchor="ctr"/>
          <a:lstStyle/>
          <a:p>
            <a:pPr indent="0" marL="0">
              <a:buNone/>
            </a:pPr>
            <a:r>
              <a:rPr lang="en-US" sz="2700" b="1" dirty="0">
                <a:solidFill>
                  <a:srgbClr val="22D3EE"/>
                </a:solidFill>
                <a:latin typeface="Arial" pitchFamily="34" charset="0"/>
                <a:ea typeface="Arial" pitchFamily="34" charset="-122"/>
                <a:cs typeface="Arial" pitchFamily="34" charset="-120"/>
              </a:rPr>
              <a:t>8:15</a:t>
            </a:r>
            <a:endParaRPr lang="en-US" sz="2700" dirty="0"/>
          </a:p>
        </p:txBody>
      </p:sp>
      <p:sp>
        <p:nvSpPr>
          <p:cNvPr id="10" name="Text 8"/>
          <p:cNvSpPr txBox="1"/>
          <p:nvPr/>
        </p:nvSpPr>
        <p:spPr>
          <a:xfrm>
            <a:off x="3511296"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Blended average handling time per case, all queues</a:t>
            </a:r>
            <a:endParaRPr lang="en-US" sz="900" dirty="0"/>
          </a:p>
        </p:txBody>
      </p:sp>
      <p:sp>
        <p:nvSpPr>
          <p:cNvPr id="11" name="Shape 9"/>
          <p:cNvSpPr/>
          <p:nvPr/>
        </p:nvSpPr>
        <p:spPr>
          <a:xfrm>
            <a:off x="6190488" y="1796796"/>
            <a:ext cx="2679192" cy="1152144"/>
          </a:xfrm>
          <a:prstGeom prst="roundRect">
            <a:avLst>
              <a:gd name="adj" fmla="val 3175"/>
            </a:avLst>
          </a:prstGeom>
          <a:solidFill>
            <a:srgbClr val="151A24"/>
          </a:solidFill>
          <a:ln w="12700">
            <a:solidFill>
              <a:srgbClr val="252D3D"/>
            </a:solidFill>
            <a:prstDash val="solid"/>
          </a:ln>
        </p:spPr>
      </p:sp>
      <p:sp>
        <p:nvSpPr>
          <p:cNvPr id="12" name="Text 10"/>
          <p:cNvSpPr txBox="1"/>
          <p:nvPr/>
        </p:nvSpPr>
        <p:spPr>
          <a:xfrm>
            <a:off x="6355080" y="1906524"/>
            <a:ext cx="2350008" cy="475488"/>
          </a:xfrm>
          <a:prstGeom prst="rect">
            <a:avLst/>
          </a:prstGeom>
          <a:noFill/>
          <a:ln/>
        </p:spPr>
        <p:txBody>
          <a:bodyPr wrap="square" lIns="0" tIns="0" rIns="0" bIns="0" rtlCol="0" anchor="ctr"/>
          <a:lstStyle/>
          <a:p>
            <a:pPr indent="0" marL="0">
              <a:buNone/>
            </a:pPr>
            <a:r>
              <a:rPr lang="en-US" sz="2700" b="1" dirty="0">
                <a:solidFill>
                  <a:srgbClr val="F59E0B"/>
                </a:solidFill>
                <a:latin typeface="Arial" pitchFamily="34" charset="0"/>
                <a:ea typeface="Arial" pitchFamily="34" charset="-122"/>
                <a:cs typeface="Arial" pitchFamily="34" charset="-120"/>
              </a:rPr>
              <a:t>11:25</a:t>
            </a:r>
            <a:endParaRPr lang="en-US" sz="2700" dirty="0"/>
          </a:p>
        </p:txBody>
      </p:sp>
      <p:sp>
        <p:nvSpPr>
          <p:cNvPr id="13" name="Text 11"/>
          <p:cNvSpPr txBox="1"/>
          <p:nvPr/>
        </p:nvSpPr>
        <p:spPr>
          <a:xfrm>
            <a:off x="6355080"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Average handling time on credits and disputes, against 6:40 for order placement</a:t>
            </a:r>
            <a:endParaRPr lang="en-US" sz="900" dirty="0"/>
          </a:p>
        </p:txBody>
      </p:sp>
      <p:sp>
        <p:nvSpPr>
          <p:cNvPr id="14" name="Shape 12"/>
          <p:cNvSpPr/>
          <p:nvPr/>
        </p:nvSpPr>
        <p:spPr>
          <a:xfrm>
            <a:off x="9034272" y="1796796"/>
            <a:ext cx="2679192" cy="1152144"/>
          </a:xfrm>
          <a:prstGeom prst="roundRect">
            <a:avLst>
              <a:gd name="adj" fmla="val 3175"/>
            </a:avLst>
          </a:prstGeom>
          <a:solidFill>
            <a:srgbClr val="151A24"/>
          </a:solidFill>
          <a:ln w="12700">
            <a:solidFill>
              <a:srgbClr val="252D3D"/>
            </a:solidFill>
            <a:prstDash val="solid"/>
          </a:ln>
        </p:spPr>
      </p:sp>
      <p:sp>
        <p:nvSpPr>
          <p:cNvPr id="15" name="Text 13"/>
          <p:cNvSpPr txBox="1"/>
          <p:nvPr/>
        </p:nvSpPr>
        <p:spPr>
          <a:xfrm>
            <a:off x="9198864" y="1906524"/>
            <a:ext cx="2350008" cy="475488"/>
          </a:xfrm>
          <a:prstGeom prst="rect">
            <a:avLst/>
          </a:prstGeom>
          <a:noFill/>
          <a:ln/>
        </p:spPr>
        <p:txBody>
          <a:bodyPr wrap="square" lIns="0" tIns="0" rIns="0" bIns="0" rtlCol="0" anchor="ctr"/>
          <a:lstStyle/>
          <a:p>
            <a:pPr indent="0" marL="0">
              <a:buNone/>
            </a:pPr>
            <a:r>
              <a:rPr lang="en-US" sz="2700" b="1" dirty="0">
                <a:solidFill>
                  <a:srgbClr val="FF0069"/>
                </a:solidFill>
                <a:latin typeface="Arial" pitchFamily="34" charset="0"/>
                <a:ea typeface="Arial" pitchFamily="34" charset="-122"/>
                <a:cs typeface="Arial" pitchFamily="34" charset="-120"/>
              </a:rPr>
              <a:t>~29%</a:t>
            </a:r>
            <a:endParaRPr lang="en-US" sz="2700" dirty="0"/>
          </a:p>
        </p:txBody>
      </p:sp>
      <p:sp>
        <p:nvSpPr>
          <p:cNvPr id="16" name="Text 14"/>
          <p:cNvSpPr txBox="1"/>
          <p:nvPr/>
        </p:nvSpPr>
        <p:spPr>
          <a:xfrm>
            <a:off x="9198864" y="2382012"/>
            <a:ext cx="2350008" cy="457200"/>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Share of email volume made up of credit requests and disputes</a:t>
            </a:r>
            <a:endParaRPr lang="en-US" sz="900" dirty="0"/>
          </a:p>
        </p:txBody>
      </p:sp>
      <p:sp>
        <p:nvSpPr>
          <p:cNvPr id="17" name="Shape 15"/>
          <p:cNvSpPr/>
          <p:nvPr/>
        </p:nvSpPr>
        <p:spPr>
          <a:xfrm>
            <a:off x="502920" y="3168396"/>
            <a:ext cx="6675120" cy="2487168"/>
          </a:xfrm>
          <a:prstGeom prst="roundRect">
            <a:avLst>
              <a:gd name="adj" fmla="val 1471"/>
            </a:avLst>
          </a:prstGeom>
          <a:solidFill>
            <a:srgbClr val="151A24"/>
          </a:solidFill>
          <a:ln w="12700">
            <a:solidFill>
              <a:srgbClr val="252D3D"/>
            </a:solidFill>
            <a:prstDash val="solid"/>
          </a:ln>
        </p:spPr>
      </p:sp>
      <p:sp>
        <p:nvSpPr>
          <p:cNvPr id="18" name="Text 16"/>
          <p:cNvSpPr txBox="1"/>
          <p:nvPr/>
        </p:nvSpPr>
        <p:spPr>
          <a:xfrm>
            <a:off x="740664" y="3369564"/>
            <a:ext cx="6217920" cy="201168"/>
          </a:xfrm>
          <a:prstGeom prst="rect">
            <a:avLst/>
          </a:prstGeom>
          <a:noFill/>
          <a:ln/>
        </p:spPr>
        <p:txBody>
          <a:bodyPr wrap="square" lIns="0" tIns="0" rIns="0" bIns="0" rtlCol="0" anchor="ctr"/>
          <a:lstStyle/>
          <a:p>
            <a:pPr indent="0" marL="0">
              <a:buNone/>
            </a:pPr>
            <a:r>
              <a:rPr lang="en-US" sz="1100" b="1" spc="140" kern="0" dirty="0">
                <a:solidFill>
                  <a:srgbClr val="FFFFFF"/>
                </a:solidFill>
                <a:latin typeface="Arial" pitchFamily="34" charset="0"/>
                <a:ea typeface="Arial" pitchFamily="34" charset="-122"/>
                <a:cs typeface="Arial" pitchFamily="34" charset="-120"/>
              </a:rPr>
              <a:t>SIX MANUAL STEPS BEFORE THE CUSTOMER HEARS ANYTHING</a:t>
            </a:r>
            <a:endParaRPr lang="en-US" sz="1100" dirty="0"/>
          </a:p>
        </p:txBody>
      </p:sp>
      <p:sp>
        <p:nvSpPr>
          <p:cNvPr id="19" name="Shape 17"/>
          <p:cNvSpPr/>
          <p:nvPr/>
        </p:nvSpPr>
        <p:spPr>
          <a:xfrm>
            <a:off x="740664" y="3799332"/>
            <a:ext cx="237744" cy="237744"/>
          </a:xfrm>
          <a:prstGeom prst="roundRect">
            <a:avLst>
              <a:gd name="adj" fmla="val 19231"/>
            </a:avLst>
          </a:prstGeom>
          <a:solidFill>
            <a:srgbClr val="0A0D14"/>
          </a:solidFill>
          <a:ln w="12700">
            <a:solidFill>
              <a:srgbClr val="22D3EE"/>
            </a:solidFill>
            <a:prstDash val="solid"/>
          </a:ln>
        </p:spPr>
      </p:sp>
      <p:sp>
        <p:nvSpPr>
          <p:cNvPr id="20" name="Text 18"/>
          <p:cNvSpPr txBox="1"/>
          <p:nvPr/>
        </p:nvSpPr>
        <p:spPr>
          <a:xfrm>
            <a:off x="740664" y="379933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1</a:t>
            </a:r>
            <a:endParaRPr lang="en-US" sz="950" dirty="0"/>
          </a:p>
        </p:txBody>
      </p:sp>
      <p:sp>
        <p:nvSpPr>
          <p:cNvPr id="21" name="Text 19"/>
          <p:cNvSpPr txBox="1"/>
          <p:nvPr/>
        </p:nvSpPr>
        <p:spPr>
          <a:xfrm>
            <a:off x="1069848" y="3771900"/>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Arial" pitchFamily="34" charset="0"/>
                <a:ea typeface="Arial" pitchFamily="34" charset="-122"/>
                <a:cs typeface="Arial" pitchFamily="34" charset="-120"/>
              </a:rPr>
              <a:t>Read the thread</a:t>
            </a:r>
            <a:endParaRPr lang="en-US" sz="1000" dirty="0"/>
          </a:p>
        </p:txBody>
      </p:sp>
      <p:sp>
        <p:nvSpPr>
          <p:cNvPr id="22" name="Text 20"/>
          <p:cNvSpPr txBox="1"/>
          <p:nvPr/>
        </p:nvSpPr>
        <p:spPr>
          <a:xfrm>
            <a:off x="1069848" y="3973068"/>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Work out what is actually being asked, across forwarded replies and attachments.</a:t>
            </a:r>
            <a:endParaRPr lang="en-US" sz="800" dirty="0"/>
          </a:p>
        </p:txBody>
      </p:sp>
      <p:sp>
        <p:nvSpPr>
          <p:cNvPr id="23" name="Shape 21"/>
          <p:cNvSpPr/>
          <p:nvPr/>
        </p:nvSpPr>
        <p:spPr>
          <a:xfrm>
            <a:off x="3904488" y="3799332"/>
            <a:ext cx="237744" cy="237744"/>
          </a:xfrm>
          <a:prstGeom prst="roundRect">
            <a:avLst>
              <a:gd name="adj" fmla="val 19231"/>
            </a:avLst>
          </a:prstGeom>
          <a:solidFill>
            <a:srgbClr val="0A0D14"/>
          </a:solidFill>
          <a:ln w="12700">
            <a:solidFill>
              <a:srgbClr val="22D3EE"/>
            </a:solidFill>
            <a:prstDash val="solid"/>
          </a:ln>
        </p:spPr>
      </p:sp>
      <p:sp>
        <p:nvSpPr>
          <p:cNvPr id="24" name="Text 22"/>
          <p:cNvSpPr txBox="1"/>
          <p:nvPr/>
        </p:nvSpPr>
        <p:spPr>
          <a:xfrm>
            <a:off x="3904488" y="379933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2</a:t>
            </a:r>
            <a:endParaRPr lang="en-US" sz="950" dirty="0"/>
          </a:p>
        </p:txBody>
      </p:sp>
      <p:sp>
        <p:nvSpPr>
          <p:cNvPr id="25" name="Text 23"/>
          <p:cNvSpPr txBox="1"/>
          <p:nvPr/>
        </p:nvSpPr>
        <p:spPr>
          <a:xfrm>
            <a:off x="4233672" y="3771900"/>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Arial" pitchFamily="34" charset="0"/>
                <a:ea typeface="Arial" pitchFamily="34" charset="-122"/>
                <a:cs typeface="Arial" pitchFamily="34" charset="-120"/>
              </a:rPr>
              <a:t>Classify and prioritise</a:t>
            </a:r>
            <a:endParaRPr lang="en-US" sz="1000" dirty="0"/>
          </a:p>
        </p:txBody>
      </p:sp>
      <p:sp>
        <p:nvSpPr>
          <p:cNvPr id="26" name="Text 24"/>
          <p:cNvSpPr txBox="1"/>
          <p:nvPr/>
        </p:nvSpPr>
        <p:spPr>
          <a:xfrm>
            <a:off x="4233672" y="3973068"/>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Decide the case type and how urgent it is, by judgement rather than rule.</a:t>
            </a:r>
            <a:endParaRPr lang="en-US" sz="800" dirty="0"/>
          </a:p>
        </p:txBody>
      </p:sp>
      <p:sp>
        <p:nvSpPr>
          <p:cNvPr id="27" name="Shape 25"/>
          <p:cNvSpPr/>
          <p:nvPr/>
        </p:nvSpPr>
        <p:spPr>
          <a:xfrm>
            <a:off x="740664" y="4402836"/>
            <a:ext cx="237744" cy="237744"/>
          </a:xfrm>
          <a:prstGeom prst="roundRect">
            <a:avLst>
              <a:gd name="adj" fmla="val 19231"/>
            </a:avLst>
          </a:prstGeom>
          <a:solidFill>
            <a:srgbClr val="0A0D14"/>
          </a:solidFill>
          <a:ln w="12700">
            <a:solidFill>
              <a:srgbClr val="22D3EE"/>
            </a:solidFill>
            <a:prstDash val="solid"/>
          </a:ln>
        </p:spPr>
      </p:sp>
      <p:sp>
        <p:nvSpPr>
          <p:cNvPr id="28" name="Text 26"/>
          <p:cNvSpPr txBox="1"/>
          <p:nvPr/>
        </p:nvSpPr>
        <p:spPr>
          <a:xfrm>
            <a:off x="740664" y="440283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3</a:t>
            </a:r>
            <a:endParaRPr lang="en-US" sz="950" dirty="0"/>
          </a:p>
        </p:txBody>
      </p:sp>
      <p:sp>
        <p:nvSpPr>
          <p:cNvPr id="29" name="Text 27"/>
          <p:cNvSpPr txBox="1"/>
          <p:nvPr/>
        </p:nvSpPr>
        <p:spPr>
          <a:xfrm>
            <a:off x="1069848" y="4375404"/>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Arial" pitchFamily="34" charset="0"/>
                <a:ea typeface="Arial" pitchFamily="34" charset="-122"/>
                <a:cs typeface="Arial" pitchFamily="34" charset="-120"/>
              </a:rPr>
              <a:t>Find the owner</a:t>
            </a:r>
            <a:endParaRPr lang="en-US" sz="1000" dirty="0"/>
          </a:p>
        </p:txBody>
      </p:sp>
      <p:sp>
        <p:nvSpPr>
          <p:cNvPr id="30" name="Text 28"/>
          <p:cNvSpPr txBox="1"/>
          <p:nvPr/>
        </p:nvSpPr>
        <p:spPr>
          <a:xfrm>
            <a:off x="1069848" y="4576572"/>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Work out which team or individual should hold it, and whether it needs pricing or AR.</a:t>
            </a:r>
            <a:endParaRPr lang="en-US" sz="800" dirty="0"/>
          </a:p>
        </p:txBody>
      </p:sp>
      <p:sp>
        <p:nvSpPr>
          <p:cNvPr id="31" name="Shape 29"/>
          <p:cNvSpPr/>
          <p:nvPr/>
        </p:nvSpPr>
        <p:spPr>
          <a:xfrm>
            <a:off x="3904488" y="4402836"/>
            <a:ext cx="237744" cy="237744"/>
          </a:xfrm>
          <a:prstGeom prst="roundRect">
            <a:avLst>
              <a:gd name="adj" fmla="val 19231"/>
            </a:avLst>
          </a:prstGeom>
          <a:solidFill>
            <a:srgbClr val="0A0D14"/>
          </a:solidFill>
          <a:ln w="12700">
            <a:solidFill>
              <a:srgbClr val="22D3EE"/>
            </a:solidFill>
            <a:prstDash val="solid"/>
          </a:ln>
        </p:spPr>
      </p:sp>
      <p:sp>
        <p:nvSpPr>
          <p:cNvPr id="32" name="Text 30"/>
          <p:cNvSpPr txBox="1"/>
          <p:nvPr/>
        </p:nvSpPr>
        <p:spPr>
          <a:xfrm>
            <a:off x="3904488" y="440283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4</a:t>
            </a:r>
            <a:endParaRPr lang="en-US" sz="950" dirty="0"/>
          </a:p>
        </p:txBody>
      </p:sp>
      <p:sp>
        <p:nvSpPr>
          <p:cNvPr id="33" name="Text 31"/>
          <p:cNvSpPr txBox="1"/>
          <p:nvPr/>
        </p:nvSpPr>
        <p:spPr>
          <a:xfrm>
            <a:off x="4233672" y="4375404"/>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Arial" pitchFamily="34" charset="0"/>
                <a:ea typeface="Arial" pitchFamily="34" charset="-122"/>
                <a:cs typeface="Arial" pitchFamily="34" charset="-120"/>
              </a:rPr>
              <a:t>Assemble the context</a:t>
            </a:r>
            <a:endParaRPr lang="en-US" sz="1000" dirty="0"/>
          </a:p>
        </p:txBody>
      </p:sp>
      <p:sp>
        <p:nvSpPr>
          <p:cNvPr id="34" name="Text 32"/>
          <p:cNvSpPr txBox="1"/>
          <p:nvPr/>
        </p:nvSpPr>
        <p:spPr>
          <a:xfrm>
            <a:off x="4233672" y="4576572"/>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Open the account, the order, the invoice and any prior case history.</a:t>
            </a:r>
            <a:endParaRPr lang="en-US" sz="800" dirty="0"/>
          </a:p>
        </p:txBody>
      </p:sp>
      <p:sp>
        <p:nvSpPr>
          <p:cNvPr id="35" name="Shape 33"/>
          <p:cNvSpPr/>
          <p:nvPr/>
        </p:nvSpPr>
        <p:spPr>
          <a:xfrm>
            <a:off x="740664" y="5006340"/>
            <a:ext cx="237744" cy="237744"/>
          </a:xfrm>
          <a:prstGeom prst="roundRect">
            <a:avLst>
              <a:gd name="adj" fmla="val 19231"/>
            </a:avLst>
          </a:prstGeom>
          <a:solidFill>
            <a:srgbClr val="0A0D14"/>
          </a:solidFill>
          <a:ln w="12700">
            <a:solidFill>
              <a:srgbClr val="22D3EE"/>
            </a:solidFill>
            <a:prstDash val="solid"/>
          </a:ln>
        </p:spPr>
      </p:sp>
      <p:sp>
        <p:nvSpPr>
          <p:cNvPr id="36" name="Text 34"/>
          <p:cNvSpPr txBox="1"/>
          <p:nvPr/>
        </p:nvSpPr>
        <p:spPr>
          <a:xfrm>
            <a:off x="740664" y="500634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5</a:t>
            </a:r>
            <a:endParaRPr lang="en-US" sz="950" dirty="0"/>
          </a:p>
        </p:txBody>
      </p:sp>
      <p:sp>
        <p:nvSpPr>
          <p:cNvPr id="37" name="Text 35"/>
          <p:cNvSpPr txBox="1"/>
          <p:nvPr/>
        </p:nvSpPr>
        <p:spPr>
          <a:xfrm>
            <a:off x="1069848" y="4978908"/>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Arial" pitchFamily="34" charset="0"/>
                <a:ea typeface="Arial" pitchFamily="34" charset="-122"/>
                <a:cs typeface="Arial" pitchFamily="34" charset="-120"/>
              </a:rPr>
              <a:t>Find the policy</a:t>
            </a:r>
            <a:endParaRPr lang="en-US" sz="1000" dirty="0"/>
          </a:p>
        </p:txBody>
      </p:sp>
      <p:sp>
        <p:nvSpPr>
          <p:cNvPr id="38" name="Text 36"/>
          <p:cNvSpPr txBox="1"/>
          <p:nvPr/>
        </p:nvSpPr>
        <p:spPr>
          <a:xfrm>
            <a:off x="1069848" y="5180076"/>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Search Knowledge or ask a colleague for the correct treatment.</a:t>
            </a:r>
            <a:endParaRPr lang="en-US" sz="800" dirty="0"/>
          </a:p>
        </p:txBody>
      </p:sp>
      <p:sp>
        <p:nvSpPr>
          <p:cNvPr id="39" name="Shape 37"/>
          <p:cNvSpPr/>
          <p:nvPr/>
        </p:nvSpPr>
        <p:spPr>
          <a:xfrm>
            <a:off x="3904488" y="5006340"/>
            <a:ext cx="237744" cy="237744"/>
          </a:xfrm>
          <a:prstGeom prst="roundRect">
            <a:avLst>
              <a:gd name="adj" fmla="val 19231"/>
            </a:avLst>
          </a:prstGeom>
          <a:solidFill>
            <a:srgbClr val="0A0D14"/>
          </a:solidFill>
          <a:ln w="12700">
            <a:solidFill>
              <a:srgbClr val="22D3EE"/>
            </a:solidFill>
            <a:prstDash val="solid"/>
          </a:ln>
        </p:spPr>
      </p:sp>
      <p:sp>
        <p:nvSpPr>
          <p:cNvPr id="40" name="Text 38"/>
          <p:cNvSpPr txBox="1"/>
          <p:nvPr/>
        </p:nvSpPr>
        <p:spPr>
          <a:xfrm>
            <a:off x="3904488" y="500634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6</a:t>
            </a:r>
            <a:endParaRPr lang="en-US" sz="950" dirty="0"/>
          </a:p>
        </p:txBody>
      </p:sp>
      <p:sp>
        <p:nvSpPr>
          <p:cNvPr id="41" name="Text 39"/>
          <p:cNvSpPr txBox="1"/>
          <p:nvPr/>
        </p:nvSpPr>
        <p:spPr>
          <a:xfrm>
            <a:off x="4233672" y="4978908"/>
            <a:ext cx="2697480" cy="201168"/>
          </a:xfrm>
          <a:prstGeom prst="rect">
            <a:avLst/>
          </a:prstGeom>
          <a:noFill/>
          <a:ln/>
        </p:spPr>
        <p:txBody>
          <a:bodyPr wrap="square" lIns="0" tIns="0" rIns="0" bIns="0" rtlCol="0" anchor="ctr"/>
          <a:lstStyle/>
          <a:p>
            <a:pPr indent="0" marL="0">
              <a:buNone/>
            </a:pPr>
            <a:r>
              <a:rPr lang="en-US" sz="1000" b="1" dirty="0">
                <a:solidFill>
                  <a:srgbClr val="E6EAF2"/>
                </a:solidFill>
                <a:latin typeface="Arial" pitchFamily="34" charset="0"/>
                <a:ea typeface="Arial" pitchFamily="34" charset="-122"/>
                <a:cs typeface="Arial" pitchFamily="34" charset="-120"/>
              </a:rPr>
              <a:t>Compose the reply</a:t>
            </a:r>
            <a:endParaRPr lang="en-US" sz="1000" dirty="0"/>
          </a:p>
        </p:txBody>
      </p:sp>
      <p:sp>
        <p:nvSpPr>
          <p:cNvPr id="42" name="Text 40"/>
          <p:cNvSpPr txBox="1"/>
          <p:nvPr/>
        </p:nvSpPr>
        <p:spPr>
          <a:xfrm>
            <a:off x="4233672" y="5180076"/>
            <a:ext cx="2697480" cy="329184"/>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Write the response from scratch or adapt a template by hand.</a:t>
            </a:r>
            <a:endParaRPr lang="en-US" sz="800" dirty="0"/>
          </a:p>
        </p:txBody>
      </p:sp>
      <p:sp>
        <p:nvSpPr>
          <p:cNvPr id="43" name="Shape 41"/>
          <p:cNvSpPr/>
          <p:nvPr/>
        </p:nvSpPr>
        <p:spPr>
          <a:xfrm>
            <a:off x="7397496" y="3168396"/>
            <a:ext cx="4288536" cy="2487168"/>
          </a:xfrm>
          <a:prstGeom prst="roundRect">
            <a:avLst>
              <a:gd name="adj" fmla="val 1471"/>
            </a:avLst>
          </a:prstGeom>
          <a:solidFill>
            <a:srgbClr val="151A24"/>
          </a:solidFill>
          <a:ln w="12700">
            <a:solidFill>
              <a:srgbClr val="252D3D"/>
            </a:solidFill>
            <a:prstDash val="solid"/>
          </a:ln>
        </p:spPr>
      </p:sp>
      <p:sp>
        <p:nvSpPr>
          <p:cNvPr id="44" name="Text 42"/>
          <p:cNvSpPr txBox="1"/>
          <p:nvPr/>
        </p:nvSpPr>
        <p:spPr>
          <a:xfrm>
            <a:off x="7635240" y="3369564"/>
            <a:ext cx="3831336" cy="201168"/>
          </a:xfrm>
          <a:prstGeom prst="rect">
            <a:avLst/>
          </a:prstGeom>
          <a:noFill/>
          <a:ln/>
        </p:spPr>
        <p:txBody>
          <a:bodyPr wrap="square" lIns="0" tIns="0" rIns="0" bIns="0" rtlCol="0" anchor="ctr"/>
          <a:lstStyle/>
          <a:p>
            <a:pPr indent="0" marL="0">
              <a:buNone/>
            </a:pPr>
            <a:r>
              <a:rPr lang="en-US" sz="1100" b="1" spc="140" kern="0" dirty="0">
                <a:solidFill>
                  <a:srgbClr val="FFFFFF"/>
                </a:solidFill>
                <a:latin typeface="Arial" pitchFamily="34" charset="0"/>
                <a:ea typeface="Arial" pitchFamily="34" charset="-122"/>
                <a:cs typeface="Arial" pitchFamily="34" charset="-120"/>
              </a:rPr>
              <a:t>WHAT IT COSTS</a:t>
            </a:r>
            <a:endParaRPr lang="en-US" sz="1100" dirty="0"/>
          </a:p>
        </p:txBody>
      </p:sp>
      <p:sp>
        <p:nvSpPr>
          <p:cNvPr id="45" name="Text 43"/>
          <p:cNvSpPr txBox="1"/>
          <p:nvPr/>
        </p:nvSpPr>
        <p:spPr>
          <a:xfrm>
            <a:off x="7635240" y="3717036"/>
            <a:ext cx="3831336" cy="1847088"/>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Around two minutes per case is spent on triage that follows rules a system can apply.</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First response time is set by queue depth, not by urgency. A P1 waits behind routine status requests.</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Response quality varies with who picks the case up, because policy lives in people rather than in the workflow.</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SLA breaches are seen after the fact in reporting, not prevented while the clock is still running.</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Knowledge gaps stay invisible, because nobody records the article that was missing.</a:t>
            </a:r>
            <a:endParaRPr lang="en-US" sz="900" dirty="0"/>
          </a:p>
        </p:txBody>
      </p:sp>
      <p:sp>
        <p:nvSpPr>
          <p:cNvPr id="46" name="Text 44"/>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Volume, handling time and case mix taken from the Extended Care operations sample in the current proposal. Step level timings are Insight Global estimates, validated during the baseline period.</a:t>
            </a:r>
            <a:endParaRPr lang="en-US" sz="750" dirty="0"/>
          </a:p>
        </p:txBody>
      </p:sp>
      <p:pic>
        <p:nvPicPr>
          <p:cNvPr id="4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8" name="Text 4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THE CASE FOR CHANGE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FROM A MANUAL QUEUE TO INTELLIGENT CASE MANAGEMENT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The same team, the same Salesforce org, the same case types. What changes is how much of the case is already done when an agent opens it.</a:t>
            </a:r>
            <a:endParaRPr lang="en-US" sz="1150" dirty="0"/>
          </a:p>
        </p:txBody>
      </p:sp>
      <p:sp>
        <p:nvSpPr>
          <p:cNvPr id="5" name="Text 3"/>
          <p:cNvSpPr txBox="1"/>
          <p:nvPr/>
        </p:nvSpPr>
        <p:spPr>
          <a:xfrm>
            <a:off x="2798064" y="1796796"/>
            <a:ext cx="4434840" cy="201168"/>
          </a:xfrm>
          <a:prstGeom prst="rect">
            <a:avLst/>
          </a:prstGeom>
          <a:noFill/>
          <a:ln/>
        </p:spPr>
        <p:txBody>
          <a:bodyPr wrap="square" lIns="0" tIns="0" rIns="0" bIns="0" rtlCol="0" anchor="ctr"/>
          <a:lstStyle/>
          <a:p>
            <a:pPr indent="0" marL="0">
              <a:buNone/>
            </a:pPr>
            <a:r>
              <a:rPr lang="en-US" sz="950" b="1" spc="140" kern="0" dirty="0">
                <a:solidFill>
                  <a:srgbClr val="8A94A6"/>
                </a:solidFill>
                <a:latin typeface="Arial" pitchFamily="34" charset="0"/>
                <a:ea typeface="Arial" pitchFamily="34" charset="-122"/>
                <a:cs typeface="Arial" pitchFamily="34" charset="-120"/>
              </a:rPr>
              <a:t>TODAY</a:t>
            </a:r>
            <a:endParaRPr lang="en-US" sz="950" dirty="0"/>
          </a:p>
        </p:txBody>
      </p:sp>
      <p:sp>
        <p:nvSpPr>
          <p:cNvPr id="6" name="Text 4"/>
          <p:cNvSpPr txBox="1"/>
          <p:nvPr/>
        </p:nvSpPr>
        <p:spPr>
          <a:xfrm>
            <a:off x="7232904" y="1796796"/>
            <a:ext cx="4599432" cy="201168"/>
          </a:xfrm>
          <a:prstGeom prst="rect">
            <a:avLst/>
          </a:prstGeom>
          <a:noFill/>
          <a:ln/>
        </p:spPr>
        <p:txBody>
          <a:bodyPr wrap="square" lIns="0" tIns="0" rIns="0" bIns="0" rtlCol="0" anchor="ctr"/>
          <a:lstStyle/>
          <a:p>
            <a:pPr indent="0" marL="0">
              <a:buNone/>
            </a:pPr>
            <a:r>
              <a:rPr lang="en-US" sz="950" b="1" spc="140" kern="0" dirty="0">
                <a:solidFill>
                  <a:srgbClr val="22D3EE"/>
                </a:solidFill>
                <a:latin typeface="Arial" pitchFamily="34" charset="0"/>
                <a:ea typeface="Arial" pitchFamily="34" charset="-122"/>
                <a:cs typeface="Arial" pitchFamily="34" charset="-120"/>
              </a:rPr>
              <a:t>WITH INTELLIGENT CASE MANAGEMENT</a:t>
            </a:r>
            <a:endParaRPr lang="en-US" sz="950" dirty="0"/>
          </a:p>
        </p:txBody>
      </p:sp>
      <p:sp>
        <p:nvSpPr>
          <p:cNvPr id="7" name="Shape 5"/>
          <p:cNvSpPr/>
          <p:nvPr/>
        </p:nvSpPr>
        <p:spPr>
          <a:xfrm>
            <a:off x="7086600" y="2107692"/>
            <a:ext cx="4599432" cy="548640"/>
          </a:xfrm>
          <a:prstGeom prst="rect">
            <a:avLst/>
          </a:prstGeom>
          <a:solidFill>
            <a:srgbClr val="111826"/>
          </a:solidFill>
          <a:ln w="9525">
            <a:solidFill>
              <a:srgbClr val="252D3D"/>
            </a:solidFill>
            <a:prstDash val="solid"/>
          </a:ln>
        </p:spPr>
      </p:sp>
      <p:sp>
        <p:nvSpPr>
          <p:cNvPr id="8" name="Shape 6"/>
          <p:cNvSpPr/>
          <p:nvPr/>
        </p:nvSpPr>
        <p:spPr>
          <a:xfrm>
            <a:off x="2651760" y="2107692"/>
            <a:ext cx="4434840" cy="548640"/>
          </a:xfrm>
          <a:prstGeom prst="rect">
            <a:avLst/>
          </a:prstGeom>
          <a:solidFill>
            <a:srgbClr val="0A0D14"/>
          </a:solidFill>
          <a:ln w="9525">
            <a:solidFill>
              <a:srgbClr val="252D3D"/>
            </a:solidFill>
            <a:prstDash val="solid"/>
          </a:ln>
        </p:spPr>
      </p:sp>
      <p:sp>
        <p:nvSpPr>
          <p:cNvPr id="9" name="Text 7"/>
          <p:cNvSpPr txBox="1"/>
          <p:nvPr/>
        </p:nvSpPr>
        <p:spPr>
          <a:xfrm>
            <a:off x="502920" y="210769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Case creation</a:t>
            </a:r>
            <a:endParaRPr lang="en-US" sz="1000" dirty="0"/>
          </a:p>
        </p:txBody>
      </p:sp>
      <p:sp>
        <p:nvSpPr>
          <p:cNvPr id="10" name="Text 8"/>
          <p:cNvSpPr txBox="1"/>
          <p:nvPr/>
        </p:nvSpPr>
        <p:spPr>
          <a:xfrm>
            <a:off x="2798064" y="210769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Email lands in a shared queue and waits to be picked up in arrival order.</a:t>
            </a:r>
            <a:endParaRPr lang="en-US" sz="900" dirty="0"/>
          </a:p>
        </p:txBody>
      </p:sp>
      <p:sp>
        <p:nvSpPr>
          <p:cNvPr id="11" name="Text 9"/>
          <p:cNvSpPr txBox="1"/>
          <p:nvPr/>
        </p:nvSpPr>
        <p:spPr>
          <a:xfrm>
            <a:off x="7232904" y="210769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Email to Case creates the record, matches the thread and acknowledges the customer in seconds.</a:t>
            </a:r>
            <a:endParaRPr lang="en-US" sz="900" dirty="0"/>
          </a:p>
        </p:txBody>
      </p:sp>
      <p:sp>
        <p:nvSpPr>
          <p:cNvPr id="12" name="Shape 10"/>
          <p:cNvSpPr/>
          <p:nvPr/>
        </p:nvSpPr>
        <p:spPr>
          <a:xfrm>
            <a:off x="7086600" y="2656332"/>
            <a:ext cx="4599432" cy="548640"/>
          </a:xfrm>
          <a:prstGeom prst="rect">
            <a:avLst/>
          </a:prstGeom>
          <a:solidFill>
            <a:srgbClr val="141C28"/>
          </a:solidFill>
          <a:ln w="9525">
            <a:solidFill>
              <a:srgbClr val="252D3D"/>
            </a:solidFill>
            <a:prstDash val="solid"/>
          </a:ln>
        </p:spPr>
      </p:sp>
      <p:sp>
        <p:nvSpPr>
          <p:cNvPr id="13" name="Shape 11"/>
          <p:cNvSpPr/>
          <p:nvPr/>
        </p:nvSpPr>
        <p:spPr>
          <a:xfrm>
            <a:off x="2651760" y="2656332"/>
            <a:ext cx="4434840" cy="548640"/>
          </a:xfrm>
          <a:prstGeom prst="rect">
            <a:avLst/>
          </a:prstGeom>
          <a:solidFill>
            <a:srgbClr val="12151E"/>
          </a:solidFill>
          <a:ln w="9525">
            <a:solidFill>
              <a:srgbClr val="252D3D"/>
            </a:solidFill>
            <a:prstDash val="solid"/>
          </a:ln>
        </p:spPr>
      </p:sp>
      <p:sp>
        <p:nvSpPr>
          <p:cNvPr id="14" name="Text 12"/>
          <p:cNvSpPr txBox="1"/>
          <p:nvPr/>
        </p:nvSpPr>
        <p:spPr>
          <a:xfrm>
            <a:off x="502920" y="265633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Classification</a:t>
            </a:r>
            <a:endParaRPr lang="en-US" sz="1000" dirty="0"/>
          </a:p>
        </p:txBody>
      </p:sp>
      <p:sp>
        <p:nvSpPr>
          <p:cNvPr id="15" name="Text 13"/>
          <p:cNvSpPr txBox="1"/>
          <p:nvPr/>
        </p:nvSpPr>
        <p:spPr>
          <a:xfrm>
            <a:off x="2798064" y="265633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Agent reads the thread and chooses a case type from experience.</a:t>
            </a:r>
            <a:endParaRPr lang="en-US" sz="900" dirty="0"/>
          </a:p>
        </p:txBody>
      </p:sp>
      <p:sp>
        <p:nvSpPr>
          <p:cNvPr id="16" name="Text 14"/>
          <p:cNvSpPr txBox="1"/>
          <p:nvPr/>
        </p:nvSpPr>
        <p:spPr>
          <a:xfrm>
            <a:off x="7232904" y="265633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Category, service family and entities are extracted and written to the case automatically.</a:t>
            </a:r>
            <a:endParaRPr lang="en-US" sz="900" dirty="0"/>
          </a:p>
        </p:txBody>
      </p:sp>
      <p:sp>
        <p:nvSpPr>
          <p:cNvPr id="17" name="Shape 15"/>
          <p:cNvSpPr/>
          <p:nvPr/>
        </p:nvSpPr>
        <p:spPr>
          <a:xfrm>
            <a:off x="7086600" y="3204972"/>
            <a:ext cx="4599432" cy="548640"/>
          </a:xfrm>
          <a:prstGeom prst="rect">
            <a:avLst/>
          </a:prstGeom>
          <a:solidFill>
            <a:srgbClr val="111826"/>
          </a:solidFill>
          <a:ln w="9525">
            <a:solidFill>
              <a:srgbClr val="252D3D"/>
            </a:solidFill>
            <a:prstDash val="solid"/>
          </a:ln>
        </p:spPr>
      </p:sp>
      <p:sp>
        <p:nvSpPr>
          <p:cNvPr id="18" name="Shape 16"/>
          <p:cNvSpPr/>
          <p:nvPr/>
        </p:nvSpPr>
        <p:spPr>
          <a:xfrm>
            <a:off x="2651760" y="3204972"/>
            <a:ext cx="4434840" cy="548640"/>
          </a:xfrm>
          <a:prstGeom prst="rect">
            <a:avLst/>
          </a:prstGeom>
          <a:solidFill>
            <a:srgbClr val="0A0D14"/>
          </a:solidFill>
          <a:ln w="9525">
            <a:solidFill>
              <a:srgbClr val="252D3D"/>
            </a:solidFill>
            <a:prstDash val="solid"/>
          </a:ln>
        </p:spPr>
      </p:sp>
      <p:sp>
        <p:nvSpPr>
          <p:cNvPr id="19" name="Text 17"/>
          <p:cNvSpPr txBox="1"/>
          <p:nvPr/>
        </p:nvSpPr>
        <p:spPr>
          <a:xfrm>
            <a:off x="502920" y="320497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Priority</a:t>
            </a:r>
            <a:endParaRPr lang="en-US" sz="1000" dirty="0"/>
          </a:p>
        </p:txBody>
      </p:sp>
      <p:sp>
        <p:nvSpPr>
          <p:cNvPr id="20" name="Text 18"/>
          <p:cNvSpPr txBox="1"/>
          <p:nvPr/>
        </p:nvSpPr>
        <p:spPr>
          <a:xfrm>
            <a:off x="2798064" y="320497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Set by whoever opens the case, if it is set at all.</a:t>
            </a:r>
            <a:endParaRPr lang="en-US" sz="900" dirty="0"/>
          </a:p>
        </p:txBody>
      </p:sp>
      <p:sp>
        <p:nvSpPr>
          <p:cNvPr id="21" name="Text 19"/>
          <p:cNvSpPr txBox="1"/>
          <p:nvPr/>
        </p:nvSpPr>
        <p:spPr>
          <a:xfrm>
            <a:off x="7232904" y="320497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Recommended from impact, urgency, customer tier and risk, then enforced by rule.</a:t>
            </a:r>
            <a:endParaRPr lang="en-US" sz="900" dirty="0"/>
          </a:p>
        </p:txBody>
      </p:sp>
      <p:sp>
        <p:nvSpPr>
          <p:cNvPr id="22" name="Shape 20"/>
          <p:cNvSpPr/>
          <p:nvPr/>
        </p:nvSpPr>
        <p:spPr>
          <a:xfrm>
            <a:off x="7086600" y="3753612"/>
            <a:ext cx="4599432" cy="548640"/>
          </a:xfrm>
          <a:prstGeom prst="rect">
            <a:avLst/>
          </a:prstGeom>
          <a:solidFill>
            <a:srgbClr val="141C28"/>
          </a:solidFill>
          <a:ln w="9525">
            <a:solidFill>
              <a:srgbClr val="252D3D"/>
            </a:solidFill>
            <a:prstDash val="solid"/>
          </a:ln>
        </p:spPr>
      </p:sp>
      <p:sp>
        <p:nvSpPr>
          <p:cNvPr id="23" name="Shape 21"/>
          <p:cNvSpPr/>
          <p:nvPr/>
        </p:nvSpPr>
        <p:spPr>
          <a:xfrm>
            <a:off x="2651760" y="3753612"/>
            <a:ext cx="4434840" cy="548640"/>
          </a:xfrm>
          <a:prstGeom prst="rect">
            <a:avLst/>
          </a:prstGeom>
          <a:solidFill>
            <a:srgbClr val="12151E"/>
          </a:solidFill>
          <a:ln w="9525">
            <a:solidFill>
              <a:srgbClr val="252D3D"/>
            </a:solidFill>
            <a:prstDash val="solid"/>
          </a:ln>
        </p:spPr>
      </p:sp>
      <p:sp>
        <p:nvSpPr>
          <p:cNvPr id="24" name="Text 22"/>
          <p:cNvSpPr txBox="1"/>
          <p:nvPr/>
        </p:nvSpPr>
        <p:spPr>
          <a:xfrm>
            <a:off x="502920" y="375361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Assignment</a:t>
            </a:r>
            <a:endParaRPr lang="en-US" sz="1000" dirty="0"/>
          </a:p>
        </p:txBody>
      </p:sp>
      <p:sp>
        <p:nvSpPr>
          <p:cNvPr id="25" name="Text 23"/>
          <p:cNvSpPr txBox="1"/>
          <p:nvPr/>
        </p:nvSpPr>
        <p:spPr>
          <a:xfrm>
            <a:off x="2798064" y="375361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Manual pickup, or a flat assignment rule that ignores skill.</a:t>
            </a:r>
            <a:endParaRPr lang="en-US" sz="900" dirty="0"/>
          </a:p>
        </p:txBody>
      </p:sp>
      <p:sp>
        <p:nvSpPr>
          <p:cNvPr id="26" name="Text 24"/>
          <p:cNvSpPr txBox="1"/>
          <p:nvPr/>
        </p:nvSpPr>
        <p:spPr>
          <a:xfrm>
            <a:off x="7232904" y="375361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Skills based routing to the right queue and agent, with live capacity awareness.</a:t>
            </a:r>
            <a:endParaRPr lang="en-US" sz="900" dirty="0"/>
          </a:p>
        </p:txBody>
      </p:sp>
      <p:sp>
        <p:nvSpPr>
          <p:cNvPr id="27" name="Shape 25"/>
          <p:cNvSpPr/>
          <p:nvPr/>
        </p:nvSpPr>
        <p:spPr>
          <a:xfrm>
            <a:off x="7086600" y="4302252"/>
            <a:ext cx="4599432" cy="548640"/>
          </a:xfrm>
          <a:prstGeom prst="rect">
            <a:avLst/>
          </a:prstGeom>
          <a:solidFill>
            <a:srgbClr val="111826"/>
          </a:solidFill>
          <a:ln w="9525">
            <a:solidFill>
              <a:srgbClr val="252D3D"/>
            </a:solidFill>
            <a:prstDash val="solid"/>
          </a:ln>
        </p:spPr>
      </p:sp>
      <p:sp>
        <p:nvSpPr>
          <p:cNvPr id="28" name="Shape 26"/>
          <p:cNvSpPr/>
          <p:nvPr/>
        </p:nvSpPr>
        <p:spPr>
          <a:xfrm>
            <a:off x="2651760" y="4302252"/>
            <a:ext cx="4434840" cy="548640"/>
          </a:xfrm>
          <a:prstGeom prst="rect">
            <a:avLst/>
          </a:prstGeom>
          <a:solidFill>
            <a:srgbClr val="0A0D14"/>
          </a:solidFill>
          <a:ln w="9525">
            <a:solidFill>
              <a:srgbClr val="252D3D"/>
            </a:solidFill>
            <a:prstDash val="solid"/>
          </a:ln>
        </p:spPr>
      </p:sp>
      <p:sp>
        <p:nvSpPr>
          <p:cNvPr id="29" name="Text 27"/>
          <p:cNvSpPr txBox="1"/>
          <p:nvPr/>
        </p:nvSpPr>
        <p:spPr>
          <a:xfrm>
            <a:off x="502920" y="430225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SLA</a:t>
            </a:r>
            <a:endParaRPr lang="en-US" sz="1000" dirty="0"/>
          </a:p>
        </p:txBody>
      </p:sp>
      <p:sp>
        <p:nvSpPr>
          <p:cNvPr id="30" name="Text 28"/>
          <p:cNvSpPr txBox="1"/>
          <p:nvPr/>
        </p:nvSpPr>
        <p:spPr>
          <a:xfrm>
            <a:off x="2798064" y="430225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Measured in a report after the month has closed.</a:t>
            </a:r>
            <a:endParaRPr lang="en-US" sz="900" dirty="0"/>
          </a:p>
        </p:txBody>
      </p:sp>
      <p:sp>
        <p:nvSpPr>
          <p:cNvPr id="31" name="Text 29"/>
          <p:cNvSpPr txBox="1"/>
          <p:nvPr/>
        </p:nvSpPr>
        <p:spPr>
          <a:xfrm>
            <a:off x="7232904" y="430225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Two live clocks per case, with escalation fired at 50, 70, 85 and 100 percent consumed.</a:t>
            </a:r>
            <a:endParaRPr lang="en-US" sz="900" dirty="0"/>
          </a:p>
        </p:txBody>
      </p:sp>
      <p:sp>
        <p:nvSpPr>
          <p:cNvPr id="32" name="Shape 30"/>
          <p:cNvSpPr/>
          <p:nvPr/>
        </p:nvSpPr>
        <p:spPr>
          <a:xfrm>
            <a:off x="7086600" y="4850892"/>
            <a:ext cx="4599432" cy="548640"/>
          </a:xfrm>
          <a:prstGeom prst="rect">
            <a:avLst/>
          </a:prstGeom>
          <a:solidFill>
            <a:srgbClr val="141C28"/>
          </a:solidFill>
          <a:ln w="9525">
            <a:solidFill>
              <a:srgbClr val="252D3D"/>
            </a:solidFill>
            <a:prstDash val="solid"/>
          </a:ln>
        </p:spPr>
      </p:sp>
      <p:sp>
        <p:nvSpPr>
          <p:cNvPr id="33" name="Shape 31"/>
          <p:cNvSpPr/>
          <p:nvPr/>
        </p:nvSpPr>
        <p:spPr>
          <a:xfrm>
            <a:off x="2651760" y="4850892"/>
            <a:ext cx="4434840" cy="548640"/>
          </a:xfrm>
          <a:prstGeom prst="rect">
            <a:avLst/>
          </a:prstGeom>
          <a:solidFill>
            <a:srgbClr val="12151E"/>
          </a:solidFill>
          <a:ln w="9525">
            <a:solidFill>
              <a:srgbClr val="252D3D"/>
            </a:solidFill>
            <a:prstDash val="solid"/>
          </a:ln>
        </p:spPr>
      </p:sp>
      <p:sp>
        <p:nvSpPr>
          <p:cNvPr id="34" name="Text 32"/>
          <p:cNvSpPr txBox="1"/>
          <p:nvPr/>
        </p:nvSpPr>
        <p:spPr>
          <a:xfrm>
            <a:off x="502920" y="485089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The response</a:t>
            </a:r>
            <a:endParaRPr lang="en-US" sz="1000" dirty="0"/>
          </a:p>
        </p:txBody>
      </p:sp>
      <p:sp>
        <p:nvSpPr>
          <p:cNvPr id="35" name="Text 33"/>
          <p:cNvSpPr txBox="1"/>
          <p:nvPr/>
        </p:nvSpPr>
        <p:spPr>
          <a:xfrm>
            <a:off x="2798064" y="485089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Written from scratch or adapted from a template by hand.</a:t>
            </a:r>
            <a:endParaRPr lang="en-US" sz="900" dirty="0"/>
          </a:p>
        </p:txBody>
      </p:sp>
      <p:sp>
        <p:nvSpPr>
          <p:cNvPr id="36" name="Text 34"/>
          <p:cNvSpPr txBox="1"/>
          <p:nvPr/>
        </p:nvSpPr>
        <p:spPr>
          <a:xfrm>
            <a:off x="7232904" y="485089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A grounded draft is waiting, with the Knowledge article and order context attached.</a:t>
            </a:r>
            <a:endParaRPr lang="en-US" sz="900" dirty="0"/>
          </a:p>
        </p:txBody>
      </p:sp>
      <p:sp>
        <p:nvSpPr>
          <p:cNvPr id="37" name="Shape 35"/>
          <p:cNvSpPr/>
          <p:nvPr/>
        </p:nvSpPr>
        <p:spPr>
          <a:xfrm>
            <a:off x="7086600" y="5399532"/>
            <a:ext cx="4599432" cy="548640"/>
          </a:xfrm>
          <a:prstGeom prst="rect">
            <a:avLst/>
          </a:prstGeom>
          <a:solidFill>
            <a:srgbClr val="111826"/>
          </a:solidFill>
          <a:ln w="9525">
            <a:solidFill>
              <a:srgbClr val="252D3D"/>
            </a:solidFill>
            <a:prstDash val="solid"/>
          </a:ln>
        </p:spPr>
      </p:sp>
      <p:sp>
        <p:nvSpPr>
          <p:cNvPr id="38" name="Shape 36"/>
          <p:cNvSpPr/>
          <p:nvPr/>
        </p:nvSpPr>
        <p:spPr>
          <a:xfrm>
            <a:off x="2651760" y="5399532"/>
            <a:ext cx="4434840" cy="548640"/>
          </a:xfrm>
          <a:prstGeom prst="rect">
            <a:avLst/>
          </a:prstGeom>
          <a:solidFill>
            <a:srgbClr val="0A0D14"/>
          </a:solidFill>
          <a:ln w="9525">
            <a:solidFill>
              <a:srgbClr val="252D3D"/>
            </a:solidFill>
            <a:prstDash val="solid"/>
          </a:ln>
        </p:spPr>
      </p:sp>
      <p:sp>
        <p:nvSpPr>
          <p:cNvPr id="39" name="Text 37"/>
          <p:cNvSpPr txBox="1"/>
          <p:nvPr/>
        </p:nvSpPr>
        <p:spPr>
          <a:xfrm>
            <a:off x="502920" y="5399532"/>
            <a:ext cx="2020824" cy="54864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Handover</a:t>
            </a:r>
            <a:endParaRPr lang="en-US" sz="1000" dirty="0"/>
          </a:p>
        </p:txBody>
      </p:sp>
      <p:sp>
        <p:nvSpPr>
          <p:cNvPr id="40" name="Text 38"/>
          <p:cNvSpPr txBox="1"/>
          <p:nvPr/>
        </p:nvSpPr>
        <p:spPr>
          <a:xfrm>
            <a:off x="2798064" y="5399532"/>
            <a:ext cx="4142232" cy="548640"/>
          </a:xfrm>
          <a:prstGeom prst="rect">
            <a:avLst/>
          </a:prstGeom>
          <a:noFill/>
          <a:ln/>
        </p:spPr>
        <p:txBody>
          <a:bodyPr wrap="square" lIns="0" tIns="0" rIns="0" bIns="0" rtlCol="0" anchor="ctr"/>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A free text note, if the outgoing agent has time to write one.</a:t>
            </a:r>
            <a:endParaRPr lang="en-US" sz="900" dirty="0"/>
          </a:p>
        </p:txBody>
      </p:sp>
      <p:sp>
        <p:nvSpPr>
          <p:cNvPr id="41" name="Text 39"/>
          <p:cNvSpPr txBox="1"/>
          <p:nvPr/>
        </p:nvSpPr>
        <p:spPr>
          <a:xfrm>
            <a:off x="7232904" y="5399532"/>
            <a:ext cx="4306824" cy="548640"/>
          </a:xfrm>
          <a:prstGeom prst="rect">
            <a:avLst/>
          </a:prstGeom>
          <a:noFill/>
          <a:ln/>
        </p:spPr>
        <p:txBody>
          <a:bodyPr wrap="square" lIns="0" tIns="0" rIns="0" bIns="0" rtlCol="0" anchor="ctr"/>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A generated case summary with owner, status, last action and next action.</a:t>
            </a:r>
            <a:endParaRPr lang="en-US" sz="900" dirty="0"/>
          </a:p>
        </p:txBody>
      </p:sp>
      <p:pic>
        <p:nvPicPr>
          <p:cNvPr id="42"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3" name="Text 40"/>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THE SOLUTION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SIX STAGES, ONE AUTOMATED CASE LIFECYCLE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Each stage is a defined Salesforce capability rather than a manual habit, so the behaviour is consistent on every case, on every shift, at every volume.</a:t>
            </a:r>
            <a:endParaRPr lang="en-US" sz="1150" dirty="0"/>
          </a:p>
        </p:txBody>
      </p:sp>
      <p:sp>
        <p:nvSpPr>
          <p:cNvPr id="5" name="Shape 3"/>
          <p:cNvSpPr/>
          <p:nvPr/>
        </p:nvSpPr>
        <p:spPr>
          <a:xfrm>
            <a:off x="502920" y="1796796"/>
            <a:ext cx="3593592" cy="1847088"/>
          </a:xfrm>
          <a:prstGeom prst="roundRect">
            <a:avLst>
              <a:gd name="adj" fmla="val 1980"/>
            </a:avLst>
          </a:prstGeom>
          <a:solidFill>
            <a:srgbClr val="151A24"/>
          </a:solidFill>
          <a:ln w="12700">
            <a:solidFill>
              <a:srgbClr val="252D3D"/>
            </a:solidFill>
            <a:prstDash val="solid"/>
          </a:ln>
        </p:spPr>
      </p:sp>
      <p:sp>
        <p:nvSpPr>
          <p:cNvPr id="6" name="Shape 4"/>
          <p:cNvSpPr/>
          <p:nvPr/>
        </p:nvSpPr>
        <p:spPr>
          <a:xfrm>
            <a:off x="722376" y="1997964"/>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22376" y="1997964"/>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01</a:t>
            </a:r>
            <a:endParaRPr lang="en-US" sz="1050" dirty="0"/>
          </a:p>
        </p:txBody>
      </p:sp>
      <p:sp>
        <p:nvSpPr>
          <p:cNvPr id="8" name="Text 6"/>
          <p:cNvSpPr txBox="1"/>
          <p:nvPr/>
        </p:nvSpPr>
        <p:spPr>
          <a:xfrm>
            <a:off x="1124712" y="1997964"/>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Capture</a:t>
            </a:r>
            <a:endParaRPr lang="en-US" sz="1400" dirty="0"/>
          </a:p>
        </p:txBody>
      </p:sp>
      <p:sp>
        <p:nvSpPr>
          <p:cNvPr id="9" name="Text 7"/>
          <p:cNvSpPr txBox="1"/>
          <p:nvPr/>
        </p:nvSpPr>
        <p:spPr>
          <a:xfrm>
            <a:off x="722376" y="2382012"/>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Arial" pitchFamily="34" charset="0"/>
                <a:ea typeface="Arial" pitchFamily="34" charset="-122"/>
                <a:cs typeface="Arial" pitchFamily="34" charset="-120"/>
              </a:rPr>
              <a:t>The email becomes a case, threaded to its history and acknowledged immediately.</a:t>
            </a:r>
            <a:endParaRPr lang="en-US" sz="950" dirty="0"/>
          </a:p>
        </p:txBody>
      </p:sp>
      <p:sp>
        <p:nvSpPr>
          <p:cNvPr id="10" name="Shape 8"/>
          <p:cNvSpPr/>
          <p:nvPr/>
        </p:nvSpPr>
        <p:spPr>
          <a:xfrm>
            <a:off x="722376" y="3058668"/>
            <a:ext cx="3154680" cy="402336"/>
          </a:xfrm>
          <a:prstGeom prst="roundRect">
            <a:avLst>
              <a:gd name="adj" fmla="val 13636"/>
            </a:avLst>
          </a:prstGeom>
          <a:solidFill>
            <a:srgbClr val="1A2130"/>
          </a:solidFill>
          <a:ln w="12700">
            <a:solidFill>
              <a:srgbClr val="252D3D"/>
            </a:solidFill>
            <a:prstDash val="solid"/>
          </a:ln>
        </p:spPr>
      </p:sp>
      <p:sp>
        <p:nvSpPr>
          <p:cNvPr id="11" name="Text 9"/>
          <p:cNvSpPr txBox="1"/>
          <p:nvPr/>
        </p:nvSpPr>
        <p:spPr>
          <a:xfrm>
            <a:off x="804672" y="3058668"/>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Arial" pitchFamily="34" charset="0"/>
                <a:ea typeface="Arial" pitchFamily="34" charset="-122"/>
                <a:cs typeface="Arial" pitchFamily="34" charset="-120"/>
              </a:rPr>
              <a:t>Email to Case  ·  Auto Response  ·  Thread matching</a:t>
            </a:r>
            <a:endParaRPr lang="en-US" sz="800" dirty="0"/>
          </a:p>
        </p:txBody>
      </p:sp>
      <p:sp>
        <p:nvSpPr>
          <p:cNvPr id="12" name="Shape 10"/>
          <p:cNvSpPr/>
          <p:nvPr/>
        </p:nvSpPr>
        <p:spPr>
          <a:xfrm>
            <a:off x="4297680" y="1796796"/>
            <a:ext cx="3593592" cy="1847088"/>
          </a:xfrm>
          <a:prstGeom prst="roundRect">
            <a:avLst>
              <a:gd name="adj" fmla="val 1980"/>
            </a:avLst>
          </a:prstGeom>
          <a:solidFill>
            <a:srgbClr val="151A24"/>
          </a:solidFill>
          <a:ln w="12700">
            <a:solidFill>
              <a:srgbClr val="252D3D"/>
            </a:solidFill>
            <a:prstDash val="solid"/>
          </a:ln>
        </p:spPr>
      </p:sp>
      <p:sp>
        <p:nvSpPr>
          <p:cNvPr id="13" name="Shape 11"/>
          <p:cNvSpPr/>
          <p:nvPr/>
        </p:nvSpPr>
        <p:spPr>
          <a:xfrm>
            <a:off x="4517136" y="1997964"/>
            <a:ext cx="310896" cy="256032"/>
          </a:xfrm>
          <a:prstGeom prst="roundRect">
            <a:avLst>
              <a:gd name="adj" fmla="val 17857"/>
            </a:avLst>
          </a:prstGeom>
          <a:solidFill>
            <a:srgbClr val="0A0D14"/>
          </a:solidFill>
          <a:ln w="12700">
            <a:solidFill>
              <a:srgbClr val="22D3EE"/>
            </a:solidFill>
            <a:prstDash val="solid"/>
          </a:ln>
        </p:spPr>
      </p:sp>
      <p:sp>
        <p:nvSpPr>
          <p:cNvPr id="14" name="Text 12"/>
          <p:cNvSpPr txBox="1"/>
          <p:nvPr/>
        </p:nvSpPr>
        <p:spPr>
          <a:xfrm>
            <a:off x="4517136" y="1997964"/>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919472" y="1997964"/>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Understand</a:t>
            </a:r>
            <a:endParaRPr lang="en-US" sz="1400" dirty="0"/>
          </a:p>
        </p:txBody>
      </p:sp>
      <p:sp>
        <p:nvSpPr>
          <p:cNvPr id="16" name="Text 14"/>
          <p:cNvSpPr txBox="1"/>
          <p:nvPr/>
        </p:nvSpPr>
        <p:spPr>
          <a:xfrm>
            <a:off x="4517136" y="2382012"/>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Arial" pitchFamily="34" charset="0"/>
                <a:ea typeface="Arial" pitchFamily="34" charset="-122"/>
                <a:cs typeface="Arial" pitchFamily="34" charset="-120"/>
              </a:rPr>
              <a:t>The thread is read, classified and summarised, with order and account entities extracted.</a:t>
            </a:r>
            <a:endParaRPr lang="en-US" sz="950" dirty="0"/>
          </a:p>
        </p:txBody>
      </p:sp>
      <p:sp>
        <p:nvSpPr>
          <p:cNvPr id="17" name="Shape 15"/>
          <p:cNvSpPr/>
          <p:nvPr/>
        </p:nvSpPr>
        <p:spPr>
          <a:xfrm>
            <a:off x="4517136" y="3058668"/>
            <a:ext cx="3154680" cy="402336"/>
          </a:xfrm>
          <a:prstGeom prst="roundRect">
            <a:avLst>
              <a:gd name="adj" fmla="val 13636"/>
            </a:avLst>
          </a:prstGeom>
          <a:solidFill>
            <a:srgbClr val="1A2130"/>
          </a:solidFill>
          <a:ln w="12700">
            <a:solidFill>
              <a:srgbClr val="252D3D"/>
            </a:solidFill>
            <a:prstDash val="solid"/>
          </a:ln>
        </p:spPr>
      </p:sp>
      <p:sp>
        <p:nvSpPr>
          <p:cNvPr id="18" name="Text 16"/>
          <p:cNvSpPr txBox="1"/>
          <p:nvPr/>
        </p:nvSpPr>
        <p:spPr>
          <a:xfrm>
            <a:off x="4599432" y="3058668"/>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Arial" pitchFamily="34" charset="0"/>
                <a:ea typeface="Arial" pitchFamily="34" charset="-122"/>
                <a:cs typeface="Arial" pitchFamily="34" charset="-120"/>
              </a:rPr>
              <a:t>Record Triggered Flow  ·  Prompt Template: Triage</a:t>
            </a:r>
            <a:endParaRPr lang="en-US" sz="800" dirty="0"/>
          </a:p>
        </p:txBody>
      </p:sp>
      <p:sp>
        <p:nvSpPr>
          <p:cNvPr id="19" name="Shape 17"/>
          <p:cNvSpPr/>
          <p:nvPr/>
        </p:nvSpPr>
        <p:spPr>
          <a:xfrm>
            <a:off x="8092440" y="1796796"/>
            <a:ext cx="3593592" cy="1847088"/>
          </a:xfrm>
          <a:prstGeom prst="roundRect">
            <a:avLst>
              <a:gd name="adj" fmla="val 1980"/>
            </a:avLst>
          </a:prstGeom>
          <a:solidFill>
            <a:srgbClr val="151A24"/>
          </a:solidFill>
          <a:ln w="12700">
            <a:solidFill>
              <a:srgbClr val="252D3D"/>
            </a:solidFill>
            <a:prstDash val="solid"/>
          </a:ln>
        </p:spPr>
      </p:sp>
      <p:sp>
        <p:nvSpPr>
          <p:cNvPr id="20" name="Shape 18"/>
          <p:cNvSpPr/>
          <p:nvPr/>
        </p:nvSpPr>
        <p:spPr>
          <a:xfrm>
            <a:off x="8311896" y="1997964"/>
            <a:ext cx="310896" cy="256032"/>
          </a:xfrm>
          <a:prstGeom prst="roundRect">
            <a:avLst>
              <a:gd name="adj" fmla="val 17857"/>
            </a:avLst>
          </a:prstGeom>
          <a:solidFill>
            <a:srgbClr val="0A0D14"/>
          </a:solidFill>
          <a:ln w="12700">
            <a:solidFill>
              <a:srgbClr val="22D3EE"/>
            </a:solidFill>
            <a:prstDash val="solid"/>
          </a:ln>
        </p:spPr>
      </p:sp>
      <p:sp>
        <p:nvSpPr>
          <p:cNvPr id="21" name="Text 19"/>
          <p:cNvSpPr txBox="1"/>
          <p:nvPr/>
        </p:nvSpPr>
        <p:spPr>
          <a:xfrm>
            <a:off x="8311896" y="1997964"/>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03</a:t>
            </a:r>
            <a:endParaRPr lang="en-US" sz="1050" dirty="0"/>
          </a:p>
        </p:txBody>
      </p:sp>
      <p:sp>
        <p:nvSpPr>
          <p:cNvPr id="22" name="Text 20"/>
          <p:cNvSpPr txBox="1"/>
          <p:nvPr/>
        </p:nvSpPr>
        <p:spPr>
          <a:xfrm>
            <a:off x="8714232" y="1997964"/>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Route</a:t>
            </a:r>
            <a:endParaRPr lang="en-US" sz="1400" dirty="0"/>
          </a:p>
        </p:txBody>
      </p:sp>
      <p:sp>
        <p:nvSpPr>
          <p:cNvPr id="23" name="Text 21"/>
          <p:cNvSpPr txBox="1"/>
          <p:nvPr/>
        </p:nvSpPr>
        <p:spPr>
          <a:xfrm>
            <a:off x="8311896" y="2382012"/>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Arial" pitchFamily="34" charset="0"/>
                <a:ea typeface="Arial" pitchFamily="34" charset="-122"/>
                <a:cs typeface="Arial" pitchFamily="34" charset="-120"/>
              </a:rPr>
              <a:t>The case reaches an agent with the right skill, in the right queue, with capacity to take it.</a:t>
            </a:r>
            <a:endParaRPr lang="en-US" sz="950" dirty="0"/>
          </a:p>
        </p:txBody>
      </p:sp>
      <p:sp>
        <p:nvSpPr>
          <p:cNvPr id="24" name="Shape 22"/>
          <p:cNvSpPr/>
          <p:nvPr/>
        </p:nvSpPr>
        <p:spPr>
          <a:xfrm>
            <a:off x="8311896" y="3058668"/>
            <a:ext cx="3154680" cy="402336"/>
          </a:xfrm>
          <a:prstGeom prst="roundRect">
            <a:avLst>
              <a:gd name="adj" fmla="val 13636"/>
            </a:avLst>
          </a:prstGeom>
          <a:solidFill>
            <a:srgbClr val="1A2130"/>
          </a:solidFill>
          <a:ln w="12700">
            <a:solidFill>
              <a:srgbClr val="252D3D"/>
            </a:solidFill>
            <a:prstDash val="solid"/>
          </a:ln>
        </p:spPr>
      </p:sp>
      <p:sp>
        <p:nvSpPr>
          <p:cNvPr id="25" name="Text 23"/>
          <p:cNvSpPr txBox="1"/>
          <p:nvPr/>
        </p:nvSpPr>
        <p:spPr>
          <a:xfrm>
            <a:off x="8394192" y="3058668"/>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Arial" pitchFamily="34" charset="0"/>
                <a:ea typeface="Arial" pitchFamily="34" charset="-122"/>
                <a:cs typeface="Arial" pitchFamily="34" charset="-120"/>
              </a:rPr>
              <a:t>Omni Channel  ·  Skills based routing  ·  Queues</a:t>
            </a:r>
            <a:endParaRPr lang="en-US" sz="800" dirty="0"/>
          </a:p>
        </p:txBody>
      </p:sp>
      <p:sp>
        <p:nvSpPr>
          <p:cNvPr id="26" name="Shape 24"/>
          <p:cNvSpPr/>
          <p:nvPr/>
        </p:nvSpPr>
        <p:spPr>
          <a:xfrm>
            <a:off x="502920" y="3845052"/>
            <a:ext cx="3593592" cy="1847088"/>
          </a:xfrm>
          <a:prstGeom prst="roundRect">
            <a:avLst>
              <a:gd name="adj" fmla="val 1980"/>
            </a:avLst>
          </a:prstGeom>
          <a:solidFill>
            <a:srgbClr val="151A24"/>
          </a:solidFill>
          <a:ln w="12700">
            <a:solidFill>
              <a:srgbClr val="252D3D"/>
            </a:solidFill>
            <a:prstDash val="solid"/>
          </a:ln>
        </p:spPr>
      </p:sp>
      <p:sp>
        <p:nvSpPr>
          <p:cNvPr id="27" name="Shape 25"/>
          <p:cNvSpPr/>
          <p:nvPr/>
        </p:nvSpPr>
        <p:spPr>
          <a:xfrm>
            <a:off x="722376" y="4046220"/>
            <a:ext cx="310896" cy="256032"/>
          </a:xfrm>
          <a:prstGeom prst="roundRect">
            <a:avLst>
              <a:gd name="adj" fmla="val 17857"/>
            </a:avLst>
          </a:prstGeom>
          <a:solidFill>
            <a:srgbClr val="0A0D14"/>
          </a:solidFill>
          <a:ln w="12700">
            <a:solidFill>
              <a:srgbClr val="22D3EE"/>
            </a:solidFill>
            <a:prstDash val="solid"/>
          </a:ln>
        </p:spPr>
      </p:sp>
      <p:sp>
        <p:nvSpPr>
          <p:cNvPr id="28" name="Text 26"/>
          <p:cNvSpPr txBox="1"/>
          <p:nvPr/>
        </p:nvSpPr>
        <p:spPr>
          <a:xfrm>
            <a:off x="722376" y="4046220"/>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1124712" y="4046220"/>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Time</a:t>
            </a:r>
            <a:endParaRPr lang="en-US" sz="1400" dirty="0"/>
          </a:p>
        </p:txBody>
      </p:sp>
      <p:sp>
        <p:nvSpPr>
          <p:cNvPr id="30" name="Text 28"/>
          <p:cNvSpPr txBox="1"/>
          <p:nvPr/>
        </p:nvSpPr>
        <p:spPr>
          <a:xfrm>
            <a:off x="722376" y="4430268"/>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Arial" pitchFamily="34" charset="0"/>
                <a:ea typeface="Arial" pitchFamily="34" charset="-122"/>
                <a:cs typeface="Arial" pitchFamily="34" charset="-120"/>
              </a:rPr>
              <a:t>Two SLA clocks start against business hours, with escalation staged before breach.</a:t>
            </a:r>
            <a:endParaRPr lang="en-US" sz="950" dirty="0"/>
          </a:p>
        </p:txBody>
      </p:sp>
      <p:sp>
        <p:nvSpPr>
          <p:cNvPr id="31" name="Shape 29"/>
          <p:cNvSpPr/>
          <p:nvPr/>
        </p:nvSpPr>
        <p:spPr>
          <a:xfrm>
            <a:off x="722376" y="5106924"/>
            <a:ext cx="3154680" cy="402336"/>
          </a:xfrm>
          <a:prstGeom prst="roundRect">
            <a:avLst>
              <a:gd name="adj" fmla="val 13636"/>
            </a:avLst>
          </a:prstGeom>
          <a:solidFill>
            <a:srgbClr val="1A2130"/>
          </a:solidFill>
          <a:ln w="12700">
            <a:solidFill>
              <a:srgbClr val="252D3D"/>
            </a:solidFill>
            <a:prstDash val="solid"/>
          </a:ln>
        </p:spPr>
      </p:sp>
      <p:sp>
        <p:nvSpPr>
          <p:cNvPr id="32" name="Text 30"/>
          <p:cNvSpPr txBox="1"/>
          <p:nvPr/>
        </p:nvSpPr>
        <p:spPr>
          <a:xfrm>
            <a:off x="804672" y="5106924"/>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Arial" pitchFamily="34" charset="0"/>
                <a:ea typeface="Arial" pitchFamily="34" charset="-122"/>
                <a:cs typeface="Arial" pitchFamily="34" charset="-120"/>
              </a:rPr>
              <a:t>Entitlements  ·  Milestones  ·  Time triggers</a:t>
            </a:r>
            <a:endParaRPr lang="en-US" sz="800" dirty="0"/>
          </a:p>
        </p:txBody>
      </p:sp>
      <p:sp>
        <p:nvSpPr>
          <p:cNvPr id="33" name="Shape 31"/>
          <p:cNvSpPr/>
          <p:nvPr/>
        </p:nvSpPr>
        <p:spPr>
          <a:xfrm>
            <a:off x="4297680" y="3845052"/>
            <a:ext cx="3593592" cy="1847088"/>
          </a:xfrm>
          <a:prstGeom prst="roundRect">
            <a:avLst>
              <a:gd name="adj" fmla="val 1980"/>
            </a:avLst>
          </a:prstGeom>
          <a:solidFill>
            <a:srgbClr val="151A24"/>
          </a:solidFill>
          <a:ln w="12700">
            <a:solidFill>
              <a:srgbClr val="252D3D"/>
            </a:solidFill>
            <a:prstDash val="solid"/>
          </a:ln>
        </p:spPr>
      </p:sp>
      <p:sp>
        <p:nvSpPr>
          <p:cNvPr id="34" name="Shape 32"/>
          <p:cNvSpPr/>
          <p:nvPr/>
        </p:nvSpPr>
        <p:spPr>
          <a:xfrm>
            <a:off x="4517136" y="4046220"/>
            <a:ext cx="310896" cy="256032"/>
          </a:xfrm>
          <a:prstGeom prst="roundRect">
            <a:avLst>
              <a:gd name="adj" fmla="val 17857"/>
            </a:avLst>
          </a:prstGeom>
          <a:solidFill>
            <a:srgbClr val="0A0D14"/>
          </a:solidFill>
          <a:ln w="12700">
            <a:solidFill>
              <a:srgbClr val="22D3EE"/>
            </a:solidFill>
            <a:prstDash val="solid"/>
          </a:ln>
        </p:spPr>
      </p:sp>
      <p:sp>
        <p:nvSpPr>
          <p:cNvPr id="35" name="Text 33"/>
          <p:cNvSpPr txBox="1"/>
          <p:nvPr/>
        </p:nvSpPr>
        <p:spPr>
          <a:xfrm>
            <a:off x="4517136" y="4046220"/>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05</a:t>
            </a:r>
            <a:endParaRPr lang="en-US" sz="1050" dirty="0"/>
          </a:p>
        </p:txBody>
      </p:sp>
      <p:sp>
        <p:nvSpPr>
          <p:cNvPr id="36" name="Text 34"/>
          <p:cNvSpPr txBox="1"/>
          <p:nvPr/>
        </p:nvSpPr>
        <p:spPr>
          <a:xfrm>
            <a:off x="4919472" y="4046220"/>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Assist</a:t>
            </a:r>
            <a:endParaRPr lang="en-US" sz="1400" dirty="0"/>
          </a:p>
        </p:txBody>
      </p:sp>
      <p:sp>
        <p:nvSpPr>
          <p:cNvPr id="37" name="Text 35"/>
          <p:cNvSpPr txBox="1"/>
          <p:nvPr/>
        </p:nvSpPr>
        <p:spPr>
          <a:xfrm>
            <a:off x="4517136" y="4430268"/>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Arial" pitchFamily="34" charset="0"/>
                <a:ea typeface="Arial" pitchFamily="34" charset="-122"/>
                <a:cs typeface="Arial" pitchFamily="34" charset="-120"/>
              </a:rPr>
              <a:t>A grounded draft reply and a case summary are waiting when the agent opens the record.</a:t>
            </a:r>
            <a:endParaRPr lang="en-US" sz="950" dirty="0"/>
          </a:p>
        </p:txBody>
      </p:sp>
      <p:sp>
        <p:nvSpPr>
          <p:cNvPr id="38" name="Shape 36"/>
          <p:cNvSpPr/>
          <p:nvPr/>
        </p:nvSpPr>
        <p:spPr>
          <a:xfrm>
            <a:off x="4517136" y="5106924"/>
            <a:ext cx="3154680" cy="402336"/>
          </a:xfrm>
          <a:prstGeom prst="roundRect">
            <a:avLst>
              <a:gd name="adj" fmla="val 13636"/>
            </a:avLst>
          </a:prstGeom>
          <a:solidFill>
            <a:srgbClr val="1A2130"/>
          </a:solidFill>
          <a:ln w="12700">
            <a:solidFill>
              <a:srgbClr val="252D3D"/>
            </a:solidFill>
            <a:prstDash val="solid"/>
          </a:ln>
        </p:spPr>
      </p:sp>
      <p:sp>
        <p:nvSpPr>
          <p:cNvPr id="39" name="Text 37"/>
          <p:cNvSpPr txBox="1"/>
          <p:nvPr/>
        </p:nvSpPr>
        <p:spPr>
          <a:xfrm>
            <a:off x="4599432" y="5106924"/>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Arial" pitchFamily="34" charset="0"/>
                <a:ea typeface="Arial" pitchFamily="34" charset="-122"/>
                <a:cs typeface="Arial" pitchFamily="34" charset="-120"/>
              </a:rPr>
              <a:t>Prompt Template: Draft  ·  Knowledge grounding</a:t>
            </a:r>
            <a:endParaRPr lang="en-US" sz="800" dirty="0"/>
          </a:p>
        </p:txBody>
      </p:sp>
      <p:sp>
        <p:nvSpPr>
          <p:cNvPr id="40" name="Shape 38"/>
          <p:cNvSpPr/>
          <p:nvPr/>
        </p:nvSpPr>
        <p:spPr>
          <a:xfrm>
            <a:off x="8092440" y="3845052"/>
            <a:ext cx="3593592" cy="1847088"/>
          </a:xfrm>
          <a:prstGeom prst="roundRect">
            <a:avLst>
              <a:gd name="adj" fmla="val 1980"/>
            </a:avLst>
          </a:prstGeom>
          <a:solidFill>
            <a:srgbClr val="151A24"/>
          </a:solidFill>
          <a:ln w="12700">
            <a:solidFill>
              <a:srgbClr val="252D3D"/>
            </a:solidFill>
            <a:prstDash val="solid"/>
          </a:ln>
        </p:spPr>
      </p:sp>
      <p:sp>
        <p:nvSpPr>
          <p:cNvPr id="41" name="Shape 39"/>
          <p:cNvSpPr/>
          <p:nvPr/>
        </p:nvSpPr>
        <p:spPr>
          <a:xfrm>
            <a:off x="8311896" y="4046220"/>
            <a:ext cx="310896" cy="256032"/>
          </a:xfrm>
          <a:prstGeom prst="roundRect">
            <a:avLst>
              <a:gd name="adj" fmla="val 17857"/>
            </a:avLst>
          </a:prstGeom>
          <a:solidFill>
            <a:srgbClr val="0A0D14"/>
          </a:solidFill>
          <a:ln w="12700">
            <a:solidFill>
              <a:srgbClr val="22D3EE"/>
            </a:solidFill>
            <a:prstDash val="solid"/>
          </a:ln>
        </p:spPr>
      </p:sp>
      <p:sp>
        <p:nvSpPr>
          <p:cNvPr id="42" name="Text 40"/>
          <p:cNvSpPr txBox="1"/>
          <p:nvPr/>
        </p:nvSpPr>
        <p:spPr>
          <a:xfrm>
            <a:off x="8311896" y="4046220"/>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06</a:t>
            </a:r>
            <a:endParaRPr lang="en-US" sz="1050" dirty="0"/>
          </a:p>
        </p:txBody>
      </p:sp>
      <p:sp>
        <p:nvSpPr>
          <p:cNvPr id="43" name="Text 41"/>
          <p:cNvSpPr txBox="1"/>
          <p:nvPr/>
        </p:nvSpPr>
        <p:spPr>
          <a:xfrm>
            <a:off x="8714232" y="4046220"/>
            <a:ext cx="2752344"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a:t>
            </a:r>
            <a:endParaRPr lang="en-US" sz="1400" dirty="0"/>
          </a:p>
        </p:txBody>
      </p:sp>
      <p:sp>
        <p:nvSpPr>
          <p:cNvPr id="44" name="Text 42"/>
          <p:cNvSpPr txBox="1"/>
          <p:nvPr/>
        </p:nvSpPr>
        <p:spPr>
          <a:xfrm>
            <a:off x="8311896" y="4430268"/>
            <a:ext cx="3154680" cy="603504"/>
          </a:xfrm>
          <a:prstGeom prst="rect">
            <a:avLst/>
          </a:prstGeom>
          <a:noFill/>
          <a:ln/>
        </p:spPr>
        <p:txBody>
          <a:bodyPr wrap="square" lIns="0" tIns="0" rIns="0" bIns="0" rtlCol="0" anchor="t"/>
          <a:lstStyle/>
          <a:p>
            <a:pPr indent="0" marL="0">
              <a:lnSpc>
                <a:spcPts val="1300"/>
              </a:lnSpc>
              <a:buNone/>
            </a:pPr>
            <a:r>
              <a:rPr lang="en-US" sz="950" dirty="0">
                <a:solidFill>
                  <a:srgbClr val="E6EAF2"/>
                </a:solidFill>
                <a:latin typeface="Arial" pitchFamily="34" charset="0"/>
                <a:ea typeface="Arial" pitchFamily="34" charset="-122"/>
                <a:cs typeface="Arial" pitchFamily="34" charset="-120"/>
              </a:rPr>
              <a:t>Closure, feedback and quality findings feed the knowledge base and the prompt library.</a:t>
            </a:r>
            <a:endParaRPr lang="en-US" sz="950" dirty="0"/>
          </a:p>
        </p:txBody>
      </p:sp>
      <p:sp>
        <p:nvSpPr>
          <p:cNvPr id="45" name="Shape 43"/>
          <p:cNvSpPr/>
          <p:nvPr/>
        </p:nvSpPr>
        <p:spPr>
          <a:xfrm>
            <a:off x="8311896" y="5106924"/>
            <a:ext cx="3154680" cy="402336"/>
          </a:xfrm>
          <a:prstGeom prst="roundRect">
            <a:avLst>
              <a:gd name="adj" fmla="val 13636"/>
            </a:avLst>
          </a:prstGeom>
          <a:solidFill>
            <a:srgbClr val="1A2130"/>
          </a:solidFill>
          <a:ln w="12700">
            <a:solidFill>
              <a:srgbClr val="252D3D"/>
            </a:solidFill>
            <a:prstDash val="solid"/>
          </a:ln>
        </p:spPr>
      </p:sp>
      <p:sp>
        <p:nvSpPr>
          <p:cNvPr id="46" name="Text 44"/>
          <p:cNvSpPr txBox="1"/>
          <p:nvPr/>
        </p:nvSpPr>
        <p:spPr>
          <a:xfrm>
            <a:off x="8394192" y="5106924"/>
            <a:ext cx="2990088" cy="402336"/>
          </a:xfrm>
          <a:prstGeom prst="rect">
            <a:avLst/>
          </a:prstGeom>
          <a:noFill/>
          <a:ln/>
        </p:spPr>
        <p:txBody>
          <a:bodyPr wrap="square" lIns="0" tIns="0" rIns="0" bIns="0" rtlCol="0" anchor="ctr"/>
          <a:lstStyle/>
          <a:p>
            <a:pPr indent="0" marL="0">
              <a:lnSpc>
                <a:spcPts val="1050"/>
              </a:lnSpc>
              <a:buNone/>
            </a:pPr>
            <a:r>
              <a:rPr lang="en-US" sz="800" dirty="0">
                <a:solidFill>
                  <a:srgbClr val="22D3EE"/>
                </a:solidFill>
                <a:latin typeface="Arial" pitchFamily="34" charset="0"/>
                <a:ea typeface="Arial" pitchFamily="34" charset="-122"/>
                <a:cs typeface="Arial" pitchFamily="34" charset="-120"/>
              </a:rPr>
              <a:t>Surveys  ·  Dashboards  ·  Improvement backlog</a:t>
            </a:r>
            <a:endParaRPr lang="en-US" sz="800" dirty="0"/>
          </a:p>
        </p:txBody>
      </p:sp>
      <p:pic>
        <p:nvPicPr>
          <p:cNvPr id="4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8" name="Text 4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THE SOLUTION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HOW IT WORKS INSIDE MCKESSON SALESFORCE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One record triggered Flow orchestrates the case from creation to closure, calling Prompt Templates where language understanding is needed and deterministic rules where policy must be certain.</a:t>
            </a:r>
            <a:endParaRPr lang="en-US" sz="1150" dirty="0"/>
          </a:p>
        </p:txBody>
      </p:sp>
      <p:sp>
        <p:nvSpPr>
          <p:cNvPr id="5" name="Shape 3"/>
          <p:cNvSpPr/>
          <p:nvPr/>
        </p:nvSpPr>
        <p:spPr>
          <a:xfrm>
            <a:off x="502920" y="1796796"/>
            <a:ext cx="11183112" cy="310896"/>
          </a:xfrm>
          <a:prstGeom prst="roundRect">
            <a:avLst>
              <a:gd name="adj" fmla="val 11765"/>
            </a:avLst>
          </a:prstGeom>
          <a:solidFill>
            <a:srgbClr val="121A2A"/>
          </a:solidFill>
          <a:ln w="12700">
            <a:solidFill>
              <a:srgbClr val="252D3D"/>
            </a:solidFill>
            <a:prstDash val="solid"/>
          </a:ln>
        </p:spPr>
      </p:sp>
      <p:sp>
        <p:nvSpPr>
          <p:cNvPr id="6" name="Text 4"/>
          <p:cNvSpPr txBox="1"/>
          <p:nvPr/>
        </p:nvSpPr>
        <p:spPr>
          <a:xfrm>
            <a:off x="685800" y="1796796"/>
            <a:ext cx="10817352" cy="310896"/>
          </a:xfrm>
          <a:prstGeom prst="rect">
            <a:avLst/>
          </a:prstGeom>
          <a:noFill/>
          <a:ln/>
        </p:spPr>
        <p:txBody>
          <a:bodyPr wrap="square" lIns="0" tIns="0" rIns="0" bIns="0" rtlCol="0" anchor="ctr"/>
          <a:lstStyle/>
          <a:p>
            <a:pPr indent="0" marL="0">
              <a:buNone/>
            </a:pPr>
            <a:r>
              <a:rPr lang="en-US" sz="850" b="1" spc="140" kern="0" dirty="0">
                <a:solidFill>
                  <a:srgbClr val="22D3EE"/>
                </a:solidFill>
                <a:latin typeface="Arial" pitchFamily="34" charset="0"/>
                <a:ea typeface="Arial" pitchFamily="34" charset="-122"/>
                <a:cs typeface="Arial" pitchFamily="34" charset="-120"/>
              </a:rPr>
              <a:t>SALESFORCE SERVICE CLOUD  ·  McKesson org  ·  Extended Care email queues</a:t>
            </a:r>
            <a:endParaRPr lang="en-US" sz="850" dirty="0"/>
          </a:p>
        </p:txBody>
      </p:sp>
      <p:sp>
        <p:nvSpPr>
          <p:cNvPr id="7" name="Shape 5"/>
          <p:cNvSpPr/>
          <p:nvPr/>
        </p:nvSpPr>
        <p:spPr>
          <a:xfrm>
            <a:off x="502920" y="2253996"/>
            <a:ext cx="1944014" cy="2907792"/>
          </a:xfrm>
          <a:prstGeom prst="roundRect">
            <a:avLst>
              <a:gd name="adj" fmla="val 1881"/>
            </a:avLst>
          </a:prstGeom>
          <a:solidFill>
            <a:srgbClr val="151A24"/>
          </a:solidFill>
          <a:ln w="12700">
            <a:solidFill>
              <a:srgbClr val="252D3D"/>
            </a:solidFill>
            <a:prstDash val="solid"/>
          </a:ln>
        </p:spPr>
      </p:sp>
      <p:sp>
        <p:nvSpPr>
          <p:cNvPr id="8" name="Shape 6"/>
          <p:cNvSpPr/>
          <p:nvPr/>
        </p:nvSpPr>
        <p:spPr>
          <a:xfrm>
            <a:off x="649224" y="2400300"/>
            <a:ext cx="274320" cy="228600"/>
          </a:xfrm>
          <a:prstGeom prst="roundRect">
            <a:avLst>
              <a:gd name="adj" fmla="val 20000"/>
            </a:avLst>
          </a:prstGeom>
          <a:solidFill>
            <a:srgbClr val="0A0D14"/>
          </a:solidFill>
          <a:ln w="12700">
            <a:solidFill>
              <a:srgbClr val="22D3EE"/>
            </a:solidFill>
            <a:prstDash val="solid"/>
          </a:ln>
        </p:spPr>
      </p:sp>
      <p:sp>
        <p:nvSpPr>
          <p:cNvPr id="9" name="Text 7"/>
          <p:cNvSpPr txBox="1"/>
          <p:nvPr/>
        </p:nvSpPr>
        <p:spPr>
          <a:xfrm>
            <a:off x="649224"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Arial" pitchFamily="34" charset="0"/>
                <a:ea typeface="Arial" pitchFamily="34" charset="-122"/>
                <a:cs typeface="Arial" pitchFamily="34" charset="-120"/>
              </a:rPr>
              <a:t>01</a:t>
            </a:r>
            <a:endParaRPr lang="en-US" sz="900" dirty="0"/>
          </a:p>
        </p:txBody>
      </p:sp>
      <p:sp>
        <p:nvSpPr>
          <p:cNvPr id="10" name="Text 8"/>
          <p:cNvSpPr txBox="1"/>
          <p:nvPr/>
        </p:nvSpPr>
        <p:spPr>
          <a:xfrm>
            <a:off x="978408"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Arial" pitchFamily="34" charset="0"/>
                <a:ea typeface="Arial" pitchFamily="34" charset="-122"/>
                <a:cs typeface="Arial" pitchFamily="34" charset="-120"/>
              </a:rPr>
              <a:t>CAPTURE</a:t>
            </a:r>
            <a:endParaRPr lang="en-US" sz="950" dirty="0"/>
          </a:p>
        </p:txBody>
      </p:sp>
      <p:sp>
        <p:nvSpPr>
          <p:cNvPr id="11" name="Shape 9"/>
          <p:cNvSpPr/>
          <p:nvPr/>
        </p:nvSpPr>
        <p:spPr>
          <a:xfrm>
            <a:off x="649224" y="2766060"/>
            <a:ext cx="1651406" cy="475488"/>
          </a:xfrm>
          <a:prstGeom prst="roundRect">
            <a:avLst>
              <a:gd name="adj" fmla="val 11538"/>
            </a:avLst>
          </a:prstGeom>
          <a:solidFill>
            <a:srgbClr val="1A2130"/>
          </a:solidFill>
          <a:ln w="12700">
            <a:solidFill>
              <a:srgbClr val="252D3D"/>
            </a:solidFill>
            <a:prstDash val="solid"/>
          </a:ln>
        </p:spPr>
      </p:sp>
      <p:sp>
        <p:nvSpPr>
          <p:cNvPr id="12" name="Text 10"/>
          <p:cNvSpPr txBox="1"/>
          <p:nvPr/>
        </p:nvSpPr>
        <p:spPr>
          <a:xfrm>
            <a:off x="731520"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Email to Case</a:t>
            </a:r>
            <a:endParaRPr lang="en-US" sz="850" dirty="0"/>
          </a:p>
        </p:txBody>
      </p:sp>
      <p:sp>
        <p:nvSpPr>
          <p:cNvPr id="13" name="Shape 11"/>
          <p:cNvSpPr/>
          <p:nvPr/>
        </p:nvSpPr>
        <p:spPr>
          <a:xfrm>
            <a:off x="649224" y="3332988"/>
            <a:ext cx="1651406" cy="475488"/>
          </a:xfrm>
          <a:prstGeom prst="roundRect">
            <a:avLst>
              <a:gd name="adj" fmla="val 11538"/>
            </a:avLst>
          </a:prstGeom>
          <a:solidFill>
            <a:srgbClr val="1A2130"/>
          </a:solidFill>
          <a:ln w="12700">
            <a:solidFill>
              <a:srgbClr val="252D3D"/>
            </a:solidFill>
            <a:prstDash val="solid"/>
          </a:ln>
        </p:spPr>
      </p:sp>
      <p:sp>
        <p:nvSpPr>
          <p:cNvPr id="14" name="Text 12"/>
          <p:cNvSpPr txBox="1"/>
          <p:nvPr/>
        </p:nvSpPr>
        <p:spPr>
          <a:xfrm>
            <a:off x="731520"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Thread ID matching</a:t>
            </a:r>
            <a:endParaRPr lang="en-US" sz="850" dirty="0"/>
          </a:p>
        </p:txBody>
      </p:sp>
      <p:sp>
        <p:nvSpPr>
          <p:cNvPr id="15" name="Shape 13"/>
          <p:cNvSpPr/>
          <p:nvPr/>
        </p:nvSpPr>
        <p:spPr>
          <a:xfrm>
            <a:off x="649224" y="3899916"/>
            <a:ext cx="1651406" cy="475488"/>
          </a:xfrm>
          <a:prstGeom prst="roundRect">
            <a:avLst>
              <a:gd name="adj" fmla="val 11538"/>
            </a:avLst>
          </a:prstGeom>
          <a:solidFill>
            <a:srgbClr val="1A2130"/>
          </a:solidFill>
          <a:ln w="12700">
            <a:solidFill>
              <a:srgbClr val="252D3D"/>
            </a:solidFill>
            <a:prstDash val="solid"/>
          </a:ln>
        </p:spPr>
      </p:sp>
      <p:sp>
        <p:nvSpPr>
          <p:cNvPr id="16" name="Text 14"/>
          <p:cNvSpPr txBox="1"/>
          <p:nvPr/>
        </p:nvSpPr>
        <p:spPr>
          <a:xfrm>
            <a:off x="731520"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Duplicate check</a:t>
            </a:r>
            <a:endParaRPr lang="en-US" sz="850" dirty="0"/>
          </a:p>
        </p:txBody>
      </p:sp>
      <p:sp>
        <p:nvSpPr>
          <p:cNvPr id="17" name="Shape 15"/>
          <p:cNvSpPr/>
          <p:nvPr/>
        </p:nvSpPr>
        <p:spPr>
          <a:xfrm>
            <a:off x="649224" y="4466844"/>
            <a:ext cx="1651406" cy="475488"/>
          </a:xfrm>
          <a:prstGeom prst="roundRect">
            <a:avLst>
              <a:gd name="adj" fmla="val 11538"/>
            </a:avLst>
          </a:prstGeom>
          <a:solidFill>
            <a:srgbClr val="1A2130"/>
          </a:solidFill>
          <a:ln w="12700">
            <a:solidFill>
              <a:srgbClr val="252D3D"/>
            </a:solidFill>
            <a:prstDash val="solid"/>
          </a:ln>
        </p:spPr>
      </p:sp>
      <p:sp>
        <p:nvSpPr>
          <p:cNvPr id="18" name="Text 16"/>
          <p:cNvSpPr txBox="1"/>
          <p:nvPr/>
        </p:nvSpPr>
        <p:spPr>
          <a:xfrm>
            <a:off x="731520"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Auto acknowledgement</a:t>
            </a:r>
            <a:endParaRPr lang="en-US" sz="850" dirty="0"/>
          </a:p>
        </p:txBody>
      </p:sp>
      <p:sp>
        <p:nvSpPr>
          <p:cNvPr id="19" name="Shape 17"/>
          <p:cNvSpPr/>
          <p:nvPr/>
        </p:nvSpPr>
        <p:spPr>
          <a:xfrm>
            <a:off x="2501798" y="3625596"/>
            <a:ext cx="256032" cy="164592"/>
          </a:xfrm>
          <a:prstGeom prst="rightArrow">
            <a:avLst/>
          </a:prstGeom>
          <a:solidFill>
            <a:srgbClr val="3A4459"/>
          </a:solidFill>
          <a:ln w="12700">
            <a:solidFill>
              <a:srgbClr val="3A4459"/>
            </a:solidFill>
            <a:prstDash val="solid"/>
          </a:ln>
        </p:spPr>
      </p:sp>
      <p:sp>
        <p:nvSpPr>
          <p:cNvPr id="20" name="Shape 18"/>
          <p:cNvSpPr/>
          <p:nvPr/>
        </p:nvSpPr>
        <p:spPr>
          <a:xfrm>
            <a:off x="2812694" y="2253996"/>
            <a:ext cx="1944014" cy="2907792"/>
          </a:xfrm>
          <a:prstGeom prst="roundRect">
            <a:avLst>
              <a:gd name="adj" fmla="val 1881"/>
            </a:avLst>
          </a:prstGeom>
          <a:solidFill>
            <a:srgbClr val="151A24"/>
          </a:solidFill>
          <a:ln w="12700">
            <a:solidFill>
              <a:srgbClr val="252D3D"/>
            </a:solidFill>
            <a:prstDash val="solid"/>
          </a:ln>
        </p:spPr>
      </p:sp>
      <p:sp>
        <p:nvSpPr>
          <p:cNvPr id="21" name="Shape 19"/>
          <p:cNvSpPr/>
          <p:nvPr/>
        </p:nvSpPr>
        <p:spPr>
          <a:xfrm>
            <a:off x="2958998" y="2400300"/>
            <a:ext cx="274320" cy="228600"/>
          </a:xfrm>
          <a:prstGeom prst="roundRect">
            <a:avLst>
              <a:gd name="adj" fmla="val 20000"/>
            </a:avLst>
          </a:prstGeom>
          <a:solidFill>
            <a:srgbClr val="0A0D14"/>
          </a:solidFill>
          <a:ln w="12700">
            <a:solidFill>
              <a:srgbClr val="22D3EE"/>
            </a:solidFill>
            <a:prstDash val="solid"/>
          </a:ln>
        </p:spPr>
      </p:sp>
      <p:sp>
        <p:nvSpPr>
          <p:cNvPr id="22" name="Text 20"/>
          <p:cNvSpPr txBox="1"/>
          <p:nvPr/>
        </p:nvSpPr>
        <p:spPr>
          <a:xfrm>
            <a:off x="2958998"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Arial" pitchFamily="34" charset="0"/>
                <a:ea typeface="Arial" pitchFamily="34" charset="-122"/>
                <a:cs typeface="Arial" pitchFamily="34" charset="-120"/>
              </a:rPr>
              <a:t>02</a:t>
            </a:r>
            <a:endParaRPr lang="en-US" sz="900" dirty="0"/>
          </a:p>
        </p:txBody>
      </p:sp>
      <p:sp>
        <p:nvSpPr>
          <p:cNvPr id="23" name="Text 21"/>
          <p:cNvSpPr txBox="1"/>
          <p:nvPr/>
        </p:nvSpPr>
        <p:spPr>
          <a:xfrm>
            <a:off x="3288182"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Arial" pitchFamily="34" charset="0"/>
                <a:ea typeface="Arial" pitchFamily="34" charset="-122"/>
                <a:cs typeface="Arial" pitchFamily="34" charset="-120"/>
              </a:rPr>
              <a:t>UNDERSTAND</a:t>
            </a:r>
            <a:endParaRPr lang="en-US" sz="950" dirty="0"/>
          </a:p>
        </p:txBody>
      </p:sp>
      <p:sp>
        <p:nvSpPr>
          <p:cNvPr id="24" name="Shape 22"/>
          <p:cNvSpPr/>
          <p:nvPr/>
        </p:nvSpPr>
        <p:spPr>
          <a:xfrm>
            <a:off x="2958998" y="2766060"/>
            <a:ext cx="1651406" cy="475488"/>
          </a:xfrm>
          <a:prstGeom prst="roundRect">
            <a:avLst>
              <a:gd name="adj" fmla="val 11538"/>
            </a:avLst>
          </a:prstGeom>
          <a:solidFill>
            <a:srgbClr val="1A2130"/>
          </a:solidFill>
          <a:ln w="12700">
            <a:solidFill>
              <a:srgbClr val="252D3D"/>
            </a:solidFill>
            <a:prstDash val="solid"/>
          </a:ln>
        </p:spPr>
      </p:sp>
      <p:sp>
        <p:nvSpPr>
          <p:cNvPr id="25" name="Text 23"/>
          <p:cNvSpPr txBox="1"/>
          <p:nvPr/>
        </p:nvSpPr>
        <p:spPr>
          <a:xfrm>
            <a:off x="3041294"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Record Triggered Flow</a:t>
            </a:r>
            <a:endParaRPr lang="en-US" sz="850" dirty="0"/>
          </a:p>
        </p:txBody>
      </p:sp>
      <p:sp>
        <p:nvSpPr>
          <p:cNvPr id="26" name="Shape 24"/>
          <p:cNvSpPr/>
          <p:nvPr/>
        </p:nvSpPr>
        <p:spPr>
          <a:xfrm>
            <a:off x="2958998" y="3332988"/>
            <a:ext cx="1651406" cy="475488"/>
          </a:xfrm>
          <a:prstGeom prst="roundRect">
            <a:avLst>
              <a:gd name="adj" fmla="val 11538"/>
            </a:avLst>
          </a:prstGeom>
          <a:solidFill>
            <a:srgbClr val="1A2130"/>
          </a:solidFill>
          <a:ln w="12700">
            <a:solidFill>
              <a:srgbClr val="252D3D"/>
            </a:solidFill>
            <a:prstDash val="solid"/>
          </a:ln>
        </p:spPr>
      </p:sp>
      <p:sp>
        <p:nvSpPr>
          <p:cNvPr id="27" name="Text 25"/>
          <p:cNvSpPr txBox="1"/>
          <p:nvPr/>
        </p:nvSpPr>
        <p:spPr>
          <a:xfrm>
            <a:off x="3041294"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Prompt Template: Triage</a:t>
            </a:r>
            <a:endParaRPr lang="en-US" sz="850" dirty="0"/>
          </a:p>
        </p:txBody>
      </p:sp>
      <p:sp>
        <p:nvSpPr>
          <p:cNvPr id="28" name="Shape 26"/>
          <p:cNvSpPr/>
          <p:nvPr/>
        </p:nvSpPr>
        <p:spPr>
          <a:xfrm>
            <a:off x="2958998" y="3899916"/>
            <a:ext cx="1651406" cy="475488"/>
          </a:xfrm>
          <a:prstGeom prst="roundRect">
            <a:avLst>
              <a:gd name="adj" fmla="val 11538"/>
            </a:avLst>
          </a:prstGeom>
          <a:solidFill>
            <a:srgbClr val="1A2130"/>
          </a:solidFill>
          <a:ln w="12700">
            <a:solidFill>
              <a:srgbClr val="252D3D"/>
            </a:solidFill>
            <a:prstDash val="solid"/>
          </a:ln>
        </p:spPr>
      </p:sp>
      <p:sp>
        <p:nvSpPr>
          <p:cNvPr id="29" name="Text 27"/>
          <p:cNvSpPr txBox="1"/>
          <p:nvPr/>
        </p:nvSpPr>
        <p:spPr>
          <a:xfrm>
            <a:off x="3041294"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Deterministic guardrails</a:t>
            </a:r>
            <a:endParaRPr lang="en-US" sz="850" dirty="0"/>
          </a:p>
        </p:txBody>
      </p:sp>
      <p:sp>
        <p:nvSpPr>
          <p:cNvPr id="30" name="Shape 28"/>
          <p:cNvSpPr/>
          <p:nvPr/>
        </p:nvSpPr>
        <p:spPr>
          <a:xfrm>
            <a:off x="2958998" y="4466844"/>
            <a:ext cx="1651406" cy="475488"/>
          </a:xfrm>
          <a:prstGeom prst="roundRect">
            <a:avLst>
              <a:gd name="adj" fmla="val 11538"/>
            </a:avLst>
          </a:prstGeom>
          <a:solidFill>
            <a:srgbClr val="1A2130"/>
          </a:solidFill>
          <a:ln w="12700">
            <a:solidFill>
              <a:srgbClr val="252D3D"/>
            </a:solidFill>
            <a:prstDash val="solid"/>
          </a:ln>
        </p:spPr>
      </p:sp>
      <p:sp>
        <p:nvSpPr>
          <p:cNvPr id="31" name="Text 29"/>
          <p:cNvSpPr txBox="1"/>
          <p:nvPr/>
        </p:nvSpPr>
        <p:spPr>
          <a:xfrm>
            <a:off x="3041294"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Entity extraction</a:t>
            </a:r>
            <a:endParaRPr lang="en-US" sz="850" dirty="0"/>
          </a:p>
        </p:txBody>
      </p:sp>
      <p:sp>
        <p:nvSpPr>
          <p:cNvPr id="32" name="Shape 30"/>
          <p:cNvSpPr/>
          <p:nvPr/>
        </p:nvSpPr>
        <p:spPr>
          <a:xfrm>
            <a:off x="4811573" y="3625596"/>
            <a:ext cx="256032" cy="164592"/>
          </a:xfrm>
          <a:prstGeom prst="rightArrow">
            <a:avLst/>
          </a:prstGeom>
          <a:solidFill>
            <a:srgbClr val="3A4459"/>
          </a:solidFill>
          <a:ln w="12700">
            <a:solidFill>
              <a:srgbClr val="3A4459"/>
            </a:solidFill>
            <a:prstDash val="solid"/>
          </a:ln>
        </p:spPr>
      </p:sp>
      <p:sp>
        <p:nvSpPr>
          <p:cNvPr id="33" name="Shape 31"/>
          <p:cNvSpPr/>
          <p:nvPr/>
        </p:nvSpPr>
        <p:spPr>
          <a:xfrm>
            <a:off x="5122469" y="2253996"/>
            <a:ext cx="1944014" cy="2907792"/>
          </a:xfrm>
          <a:prstGeom prst="roundRect">
            <a:avLst>
              <a:gd name="adj" fmla="val 1881"/>
            </a:avLst>
          </a:prstGeom>
          <a:solidFill>
            <a:srgbClr val="151A24"/>
          </a:solidFill>
          <a:ln w="12700">
            <a:solidFill>
              <a:srgbClr val="252D3D"/>
            </a:solidFill>
            <a:prstDash val="solid"/>
          </a:ln>
        </p:spPr>
      </p:sp>
      <p:sp>
        <p:nvSpPr>
          <p:cNvPr id="34" name="Shape 32"/>
          <p:cNvSpPr/>
          <p:nvPr/>
        </p:nvSpPr>
        <p:spPr>
          <a:xfrm>
            <a:off x="5268773" y="2400300"/>
            <a:ext cx="274320" cy="228600"/>
          </a:xfrm>
          <a:prstGeom prst="roundRect">
            <a:avLst>
              <a:gd name="adj" fmla="val 20000"/>
            </a:avLst>
          </a:prstGeom>
          <a:solidFill>
            <a:srgbClr val="0A0D14"/>
          </a:solidFill>
          <a:ln w="12700">
            <a:solidFill>
              <a:srgbClr val="22D3EE"/>
            </a:solidFill>
            <a:prstDash val="solid"/>
          </a:ln>
        </p:spPr>
      </p:sp>
      <p:sp>
        <p:nvSpPr>
          <p:cNvPr id="35" name="Text 33"/>
          <p:cNvSpPr txBox="1"/>
          <p:nvPr/>
        </p:nvSpPr>
        <p:spPr>
          <a:xfrm>
            <a:off x="5268773"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Arial" pitchFamily="34" charset="0"/>
                <a:ea typeface="Arial" pitchFamily="34" charset="-122"/>
                <a:cs typeface="Arial" pitchFamily="34" charset="-120"/>
              </a:rPr>
              <a:t>03</a:t>
            </a:r>
            <a:endParaRPr lang="en-US" sz="900" dirty="0"/>
          </a:p>
        </p:txBody>
      </p:sp>
      <p:sp>
        <p:nvSpPr>
          <p:cNvPr id="36" name="Text 34"/>
          <p:cNvSpPr txBox="1"/>
          <p:nvPr/>
        </p:nvSpPr>
        <p:spPr>
          <a:xfrm>
            <a:off x="5597957"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Arial" pitchFamily="34" charset="0"/>
                <a:ea typeface="Arial" pitchFamily="34" charset="-122"/>
                <a:cs typeface="Arial" pitchFamily="34" charset="-120"/>
              </a:rPr>
              <a:t>ROUTE &amp; TIME</a:t>
            </a:r>
            <a:endParaRPr lang="en-US" sz="950" dirty="0"/>
          </a:p>
        </p:txBody>
      </p:sp>
      <p:sp>
        <p:nvSpPr>
          <p:cNvPr id="37" name="Shape 35"/>
          <p:cNvSpPr/>
          <p:nvPr/>
        </p:nvSpPr>
        <p:spPr>
          <a:xfrm>
            <a:off x="5268773" y="2766060"/>
            <a:ext cx="1651406" cy="475488"/>
          </a:xfrm>
          <a:prstGeom prst="roundRect">
            <a:avLst>
              <a:gd name="adj" fmla="val 11538"/>
            </a:avLst>
          </a:prstGeom>
          <a:solidFill>
            <a:srgbClr val="1A2130"/>
          </a:solidFill>
          <a:ln w="12700">
            <a:solidFill>
              <a:srgbClr val="252D3D"/>
            </a:solidFill>
            <a:prstDash val="solid"/>
          </a:ln>
        </p:spPr>
      </p:sp>
      <p:sp>
        <p:nvSpPr>
          <p:cNvPr id="38" name="Text 36"/>
          <p:cNvSpPr txBox="1"/>
          <p:nvPr/>
        </p:nvSpPr>
        <p:spPr>
          <a:xfrm>
            <a:off x="5351069"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Omni Channel routing</a:t>
            </a:r>
            <a:endParaRPr lang="en-US" sz="850" dirty="0"/>
          </a:p>
        </p:txBody>
      </p:sp>
      <p:sp>
        <p:nvSpPr>
          <p:cNvPr id="39" name="Shape 37"/>
          <p:cNvSpPr/>
          <p:nvPr/>
        </p:nvSpPr>
        <p:spPr>
          <a:xfrm>
            <a:off x="5268773" y="3332988"/>
            <a:ext cx="1651406" cy="475488"/>
          </a:xfrm>
          <a:prstGeom prst="roundRect">
            <a:avLst>
              <a:gd name="adj" fmla="val 11538"/>
            </a:avLst>
          </a:prstGeom>
          <a:solidFill>
            <a:srgbClr val="1A2130"/>
          </a:solidFill>
          <a:ln w="12700">
            <a:solidFill>
              <a:srgbClr val="252D3D"/>
            </a:solidFill>
            <a:prstDash val="solid"/>
          </a:ln>
        </p:spPr>
      </p:sp>
      <p:sp>
        <p:nvSpPr>
          <p:cNvPr id="40" name="Text 38"/>
          <p:cNvSpPr txBox="1"/>
          <p:nvPr/>
        </p:nvSpPr>
        <p:spPr>
          <a:xfrm>
            <a:off x="5351069"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Skills and capacity</a:t>
            </a:r>
            <a:endParaRPr lang="en-US" sz="850" dirty="0"/>
          </a:p>
        </p:txBody>
      </p:sp>
      <p:sp>
        <p:nvSpPr>
          <p:cNvPr id="41" name="Shape 39"/>
          <p:cNvSpPr/>
          <p:nvPr/>
        </p:nvSpPr>
        <p:spPr>
          <a:xfrm>
            <a:off x="5268773" y="3899916"/>
            <a:ext cx="1651406" cy="475488"/>
          </a:xfrm>
          <a:prstGeom prst="roundRect">
            <a:avLst>
              <a:gd name="adj" fmla="val 11538"/>
            </a:avLst>
          </a:prstGeom>
          <a:solidFill>
            <a:srgbClr val="1A2130"/>
          </a:solidFill>
          <a:ln w="12700">
            <a:solidFill>
              <a:srgbClr val="252D3D"/>
            </a:solidFill>
            <a:prstDash val="solid"/>
          </a:ln>
        </p:spPr>
      </p:sp>
      <p:sp>
        <p:nvSpPr>
          <p:cNvPr id="42" name="Text 40"/>
          <p:cNvSpPr txBox="1"/>
          <p:nvPr/>
        </p:nvSpPr>
        <p:spPr>
          <a:xfrm>
            <a:off x="5351069"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Entitlement Process</a:t>
            </a:r>
            <a:endParaRPr lang="en-US" sz="850" dirty="0"/>
          </a:p>
        </p:txBody>
      </p:sp>
      <p:sp>
        <p:nvSpPr>
          <p:cNvPr id="43" name="Shape 41"/>
          <p:cNvSpPr/>
          <p:nvPr/>
        </p:nvSpPr>
        <p:spPr>
          <a:xfrm>
            <a:off x="5268773" y="4466844"/>
            <a:ext cx="1651406" cy="475488"/>
          </a:xfrm>
          <a:prstGeom prst="roundRect">
            <a:avLst>
              <a:gd name="adj" fmla="val 11538"/>
            </a:avLst>
          </a:prstGeom>
          <a:solidFill>
            <a:srgbClr val="1A2130"/>
          </a:solidFill>
          <a:ln w="12700">
            <a:solidFill>
              <a:srgbClr val="252D3D"/>
            </a:solidFill>
            <a:prstDash val="solid"/>
          </a:ln>
        </p:spPr>
      </p:sp>
      <p:sp>
        <p:nvSpPr>
          <p:cNvPr id="44" name="Text 42"/>
          <p:cNvSpPr txBox="1"/>
          <p:nvPr/>
        </p:nvSpPr>
        <p:spPr>
          <a:xfrm>
            <a:off x="5351069"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First response + resolution</a:t>
            </a:r>
            <a:endParaRPr lang="en-US" sz="850" dirty="0"/>
          </a:p>
        </p:txBody>
      </p:sp>
      <p:sp>
        <p:nvSpPr>
          <p:cNvPr id="45" name="Shape 43"/>
          <p:cNvSpPr/>
          <p:nvPr/>
        </p:nvSpPr>
        <p:spPr>
          <a:xfrm>
            <a:off x="7121347" y="3625596"/>
            <a:ext cx="256032" cy="164592"/>
          </a:xfrm>
          <a:prstGeom prst="rightArrow">
            <a:avLst/>
          </a:prstGeom>
          <a:solidFill>
            <a:srgbClr val="3A4459"/>
          </a:solidFill>
          <a:ln w="12700">
            <a:solidFill>
              <a:srgbClr val="3A4459"/>
            </a:solidFill>
            <a:prstDash val="solid"/>
          </a:ln>
        </p:spPr>
      </p:sp>
      <p:sp>
        <p:nvSpPr>
          <p:cNvPr id="46" name="Shape 44"/>
          <p:cNvSpPr/>
          <p:nvPr/>
        </p:nvSpPr>
        <p:spPr>
          <a:xfrm>
            <a:off x="7432243" y="2253996"/>
            <a:ext cx="1944014" cy="2907792"/>
          </a:xfrm>
          <a:prstGeom prst="roundRect">
            <a:avLst>
              <a:gd name="adj" fmla="val 1881"/>
            </a:avLst>
          </a:prstGeom>
          <a:solidFill>
            <a:srgbClr val="151A24"/>
          </a:solidFill>
          <a:ln w="12700">
            <a:solidFill>
              <a:srgbClr val="252D3D"/>
            </a:solidFill>
            <a:prstDash val="solid"/>
          </a:ln>
        </p:spPr>
      </p:sp>
      <p:sp>
        <p:nvSpPr>
          <p:cNvPr id="47" name="Shape 45"/>
          <p:cNvSpPr/>
          <p:nvPr/>
        </p:nvSpPr>
        <p:spPr>
          <a:xfrm>
            <a:off x="7578547" y="2400300"/>
            <a:ext cx="274320" cy="228600"/>
          </a:xfrm>
          <a:prstGeom prst="roundRect">
            <a:avLst>
              <a:gd name="adj" fmla="val 20000"/>
            </a:avLst>
          </a:prstGeom>
          <a:solidFill>
            <a:srgbClr val="0A0D14"/>
          </a:solidFill>
          <a:ln w="12700">
            <a:solidFill>
              <a:srgbClr val="22D3EE"/>
            </a:solidFill>
            <a:prstDash val="solid"/>
          </a:ln>
        </p:spPr>
      </p:sp>
      <p:sp>
        <p:nvSpPr>
          <p:cNvPr id="48" name="Text 46"/>
          <p:cNvSpPr txBox="1"/>
          <p:nvPr/>
        </p:nvSpPr>
        <p:spPr>
          <a:xfrm>
            <a:off x="7578547"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Arial" pitchFamily="34" charset="0"/>
                <a:ea typeface="Arial" pitchFamily="34" charset="-122"/>
                <a:cs typeface="Arial" pitchFamily="34" charset="-120"/>
              </a:rPr>
              <a:t>04</a:t>
            </a:r>
            <a:endParaRPr lang="en-US" sz="900" dirty="0"/>
          </a:p>
        </p:txBody>
      </p:sp>
      <p:sp>
        <p:nvSpPr>
          <p:cNvPr id="49" name="Text 47"/>
          <p:cNvSpPr txBox="1"/>
          <p:nvPr/>
        </p:nvSpPr>
        <p:spPr>
          <a:xfrm>
            <a:off x="7907731"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Arial" pitchFamily="34" charset="0"/>
                <a:ea typeface="Arial" pitchFamily="34" charset="-122"/>
                <a:cs typeface="Arial" pitchFamily="34" charset="-120"/>
              </a:rPr>
              <a:t>ASSIST</a:t>
            </a:r>
            <a:endParaRPr lang="en-US" sz="950" dirty="0"/>
          </a:p>
        </p:txBody>
      </p:sp>
      <p:sp>
        <p:nvSpPr>
          <p:cNvPr id="50" name="Shape 48"/>
          <p:cNvSpPr/>
          <p:nvPr/>
        </p:nvSpPr>
        <p:spPr>
          <a:xfrm>
            <a:off x="7578547" y="2766060"/>
            <a:ext cx="1651406" cy="475488"/>
          </a:xfrm>
          <a:prstGeom prst="roundRect">
            <a:avLst>
              <a:gd name="adj" fmla="val 11538"/>
            </a:avLst>
          </a:prstGeom>
          <a:solidFill>
            <a:srgbClr val="1A2130"/>
          </a:solidFill>
          <a:ln w="12700">
            <a:solidFill>
              <a:srgbClr val="252D3D"/>
            </a:solidFill>
            <a:prstDash val="solid"/>
          </a:ln>
        </p:spPr>
      </p:sp>
      <p:sp>
        <p:nvSpPr>
          <p:cNvPr id="51" name="Text 49"/>
          <p:cNvSpPr txBox="1"/>
          <p:nvPr/>
        </p:nvSpPr>
        <p:spPr>
          <a:xfrm>
            <a:off x="7660843"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Prompt Template: Draft</a:t>
            </a:r>
            <a:endParaRPr lang="en-US" sz="850" dirty="0"/>
          </a:p>
        </p:txBody>
      </p:sp>
      <p:sp>
        <p:nvSpPr>
          <p:cNvPr id="52" name="Shape 50"/>
          <p:cNvSpPr/>
          <p:nvPr/>
        </p:nvSpPr>
        <p:spPr>
          <a:xfrm>
            <a:off x="7578547" y="3332988"/>
            <a:ext cx="1651406" cy="475488"/>
          </a:xfrm>
          <a:prstGeom prst="roundRect">
            <a:avLst>
              <a:gd name="adj" fmla="val 11538"/>
            </a:avLst>
          </a:prstGeom>
          <a:solidFill>
            <a:srgbClr val="1A2130"/>
          </a:solidFill>
          <a:ln w="12700">
            <a:solidFill>
              <a:srgbClr val="252D3D"/>
            </a:solidFill>
            <a:prstDash val="solid"/>
          </a:ln>
        </p:spPr>
      </p:sp>
      <p:sp>
        <p:nvSpPr>
          <p:cNvPr id="53" name="Text 51"/>
          <p:cNvSpPr txBox="1"/>
          <p:nvPr/>
        </p:nvSpPr>
        <p:spPr>
          <a:xfrm>
            <a:off x="7660843"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Prompt Template: Summary</a:t>
            </a:r>
            <a:endParaRPr lang="en-US" sz="850" dirty="0"/>
          </a:p>
        </p:txBody>
      </p:sp>
      <p:sp>
        <p:nvSpPr>
          <p:cNvPr id="54" name="Shape 52"/>
          <p:cNvSpPr/>
          <p:nvPr/>
        </p:nvSpPr>
        <p:spPr>
          <a:xfrm>
            <a:off x="7578547" y="3899916"/>
            <a:ext cx="1651406" cy="475488"/>
          </a:xfrm>
          <a:prstGeom prst="roundRect">
            <a:avLst>
              <a:gd name="adj" fmla="val 11538"/>
            </a:avLst>
          </a:prstGeom>
          <a:solidFill>
            <a:srgbClr val="1A2130"/>
          </a:solidFill>
          <a:ln w="12700">
            <a:solidFill>
              <a:srgbClr val="252D3D"/>
            </a:solidFill>
            <a:prstDash val="solid"/>
          </a:ln>
        </p:spPr>
      </p:sp>
      <p:sp>
        <p:nvSpPr>
          <p:cNvPr id="55" name="Text 53"/>
          <p:cNvSpPr txBox="1"/>
          <p:nvPr/>
        </p:nvSpPr>
        <p:spPr>
          <a:xfrm>
            <a:off x="7660843"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Knowledge grounding</a:t>
            </a:r>
            <a:endParaRPr lang="en-US" sz="850" dirty="0"/>
          </a:p>
        </p:txBody>
      </p:sp>
      <p:sp>
        <p:nvSpPr>
          <p:cNvPr id="56" name="Shape 54"/>
          <p:cNvSpPr/>
          <p:nvPr/>
        </p:nvSpPr>
        <p:spPr>
          <a:xfrm>
            <a:off x="7578547" y="4466844"/>
            <a:ext cx="1651406" cy="475488"/>
          </a:xfrm>
          <a:prstGeom prst="roundRect">
            <a:avLst>
              <a:gd name="adj" fmla="val 11538"/>
            </a:avLst>
          </a:prstGeom>
          <a:solidFill>
            <a:srgbClr val="1A2130"/>
          </a:solidFill>
          <a:ln w="12700">
            <a:solidFill>
              <a:srgbClr val="252D3D"/>
            </a:solidFill>
            <a:prstDash val="solid"/>
          </a:ln>
        </p:spPr>
      </p:sp>
      <p:sp>
        <p:nvSpPr>
          <p:cNvPr id="57" name="Text 55"/>
          <p:cNvSpPr txBox="1"/>
          <p:nvPr/>
        </p:nvSpPr>
        <p:spPr>
          <a:xfrm>
            <a:off x="7660843"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Quick Text and Macros</a:t>
            </a:r>
            <a:endParaRPr lang="en-US" sz="850" dirty="0"/>
          </a:p>
        </p:txBody>
      </p:sp>
      <p:sp>
        <p:nvSpPr>
          <p:cNvPr id="58" name="Shape 56"/>
          <p:cNvSpPr/>
          <p:nvPr/>
        </p:nvSpPr>
        <p:spPr>
          <a:xfrm>
            <a:off x="9431122" y="3625596"/>
            <a:ext cx="256032" cy="164592"/>
          </a:xfrm>
          <a:prstGeom prst="rightArrow">
            <a:avLst/>
          </a:prstGeom>
          <a:solidFill>
            <a:srgbClr val="3A4459"/>
          </a:solidFill>
          <a:ln w="12700">
            <a:solidFill>
              <a:srgbClr val="3A4459"/>
            </a:solidFill>
            <a:prstDash val="solid"/>
          </a:ln>
        </p:spPr>
      </p:sp>
      <p:sp>
        <p:nvSpPr>
          <p:cNvPr id="59" name="Shape 57"/>
          <p:cNvSpPr/>
          <p:nvPr/>
        </p:nvSpPr>
        <p:spPr>
          <a:xfrm>
            <a:off x="9742018" y="2253996"/>
            <a:ext cx="1944014" cy="2907792"/>
          </a:xfrm>
          <a:prstGeom prst="roundRect">
            <a:avLst>
              <a:gd name="adj" fmla="val 1881"/>
            </a:avLst>
          </a:prstGeom>
          <a:solidFill>
            <a:srgbClr val="151A24"/>
          </a:solidFill>
          <a:ln w="12700">
            <a:solidFill>
              <a:srgbClr val="252D3D"/>
            </a:solidFill>
            <a:prstDash val="solid"/>
          </a:ln>
        </p:spPr>
      </p:sp>
      <p:sp>
        <p:nvSpPr>
          <p:cNvPr id="60" name="Shape 58"/>
          <p:cNvSpPr/>
          <p:nvPr/>
        </p:nvSpPr>
        <p:spPr>
          <a:xfrm>
            <a:off x="9888322" y="2400300"/>
            <a:ext cx="274320" cy="228600"/>
          </a:xfrm>
          <a:prstGeom prst="roundRect">
            <a:avLst>
              <a:gd name="adj" fmla="val 20000"/>
            </a:avLst>
          </a:prstGeom>
          <a:solidFill>
            <a:srgbClr val="0A0D14"/>
          </a:solidFill>
          <a:ln w="12700">
            <a:solidFill>
              <a:srgbClr val="22D3EE"/>
            </a:solidFill>
            <a:prstDash val="solid"/>
          </a:ln>
        </p:spPr>
      </p:sp>
      <p:sp>
        <p:nvSpPr>
          <p:cNvPr id="61" name="Text 59"/>
          <p:cNvSpPr txBox="1"/>
          <p:nvPr/>
        </p:nvSpPr>
        <p:spPr>
          <a:xfrm>
            <a:off x="9888322" y="2400300"/>
            <a:ext cx="274320" cy="228600"/>
          </a:xfrm>
          <a:prstGeom prst="rect">
            <a:avLst/>
          </a:prstGeom>
          <a:noFill/>
          <a:ln/>
        </p:spPr>
        <p:txBody>
          <a:bodyPr wrap="square" lIns="0" tIns="0" rIns="0" bIns="0" rtlCol="0" anchor="ctr"/>
          <a:lstStyle/>
          <a:p>
            <a:pPr algn="ctr" indent="0" marL="0">
              <a:buNone/>
            </a:pPr>
            <a:r>
              <a:rPr lang="en-US" sz="900" b="1" dirty="0">
                <a:solidFill>
                  <a:srgbClr val="22D3EE"/>
                </a:solidFill>
                <a:latin typeface="Arial" pitchFamily="34" charset="0"/>
                <a:ea typeface="Arial" pitchFamily="34" charset="-122"/>
                <a:cs typeface="Arial" pitchFamily="34" charset="-120"/>
              </a:rPr>
              <a:t>05</a:t>
            </a:r>
            <a:endParaRPr lang="en-US" sz="900" dirty="0"/>
          </a:p>
        </p:txBody>
      </p:sp>
      <p:sp>
        <p:nvSpPr>
          <p:cNvPr id="62" name="Text 60"/>
          <p:cNvSpPr txBox="1"/>
          <p:nvPr/>
        </p:nvSpPr>
        <p:spPr>
          <a:xfrm>
            <a:off x="10217506" y="2400300"/>
            <a:ext cx="1322222" cy="228600"/>
          </a:xfrm>
          <a:prstGeom prst="rect">
            <a:avLst/>
          </a:prstGeom>
          <a:noFill/>
          <a:ln/>
        </p:spPr>
        <p:txBody>
          <a:bodyPr wrap="square" lIns="0" tIns="0" rIns="0" bIns="0" rtlCol="0" anchor="ctr"/>
          <a:lstStyle/>
          <a:p>
            <a:pPr indent="0" marL="0">
              <a:buNone/>
            </a:pPr>
            <a:r>
              <a:rPr lang="en-US" sz="950" b="1" spc="60" kern="0" dirty="0">
                <a:solidFill>
                  <a:srgbClr val="FFFFFF"/>
                </a:solidFill>
                <a:latin typeface="Arial" pitchFamily="34" charset="0"/>
                <a:ea typeface="Arial" pitchFamily="34" charset="-122"/>
                <a:cs typeface="Arial" pitchFamily="34" charset="-120"/>
              </a:rPr>
              <a:t>CLOSE &amp; LEARN</a:t>
            </a:r>
            <a:endParaRPr lang="en-US" sz="950" dirty="0"/>
          </a:p>
        </p:txBody>
      </p:sp>
      <p:sp>
        <p:nvSpPr>
          <p:cNvPr id="63" name="Shape 61"/>
          <p:cNvSpPr/>
          <p:nvPr/>
        </p:nvSpPr>
        <p:spPr>
          <a:xfrm>
            <a:off x="9888322" y="2766060"/>
            <a:ext cx="1651406" cy="475488"/>
          </a:xfrm>
          <a:prstGeom prst="roundRect">
            <a:avLst>
              <a:gd name="adj" fmla="val 11538"/>
            </a:avLst>
          </a:prstGeom>
          <a:solidFill>
            <a:srgbClr val="1A2130"/>
          </a:solidFill>
          <a:ln w="12700">
            <a:solidFill>
              <a:srgbClr val="252D3D"/>
            </a:solidFill>
            <a:prstDash val="solid"/>
          </a:ln>
        </p:spPr>
      </p:sp>
      <p:sp>
        <p:nvSpPr>
          <p:cNvPr id="64" name="Text 62"/>
          <p:cNvSpPr txBox="1"/>
          <p:nvPr/>
        </p:nvSpPr>
        <p:spPr>
          <a:xfrm>
            <a:off x="9970618" y="2766060"/>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Agent reviews and sends</a:t>
            </a:r>
            <a:endParaRPr lang="en-US" sz="850" dirty="0"/>
          </a:p>
        </p:txBody>
      </p:sp>
      <p:sp>
        <p:nvSpPr>
          <p:cNvPr id="65" name="Shape 63"/>
          <p:cNvSpPr/>
          <p:nvPr/>
        </p:nvSpPr>
        <p:spPr>
          <a:xfrm>
            <a:off x="9888322" y="3332988"/>
            <a:ext cx="1651406" cy="475488"/>
          </a:xfrm>
          <a:prstGeom prst="roundRect">
            <a:avLst>
              <a:gd name="adj" fmla="val 11538"/>
            </a:avLst>
          </a:prstGeom>
          <a:solidFill>
            <a:srgbClr val="1A2130"/>
          </a:solidFill>
          <a:ln w="12700">
            <a:solidFill>
              <a:srgbClr val="252D3D"/>
            </a:solidFill>
            <a:prstDash val="solid"/>
          </a:ln>
        </p:spPr>
      </p:sp>
      <p:sp>
        <p:nvSpPr>
          <p:cNvPr id="66" name="Text 64"/>
          <p:cNvSpPr txBox="1"/>
          <p:nvPr/>
        </p:nvSpPr>
        <p:spPr>
          <a:xfrm>
            <a:off x="9970618" y="3332988"/>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Survey on closure</a:t>
            </a:r>
            <a:endParaRPr lang="en-US" sz="850" dirty="0"/>
          </a:p>
        </p:txBody>
      </p:sp>
      <p:sp>
        <p:nvSpPr>
          <p:cNvPr id="67" name="Shape 65"/>
          <p:cNvSpPr/>
          <p:nvPr/>
        </p:nvSpPr>
        <p:spPr>
          <a:xfrm>
            <a:off x="9888322" y="3899916"/>
            <a:ext cx="1651406" cy="475488"/>
          </a:xfrm>
          <a:prstGeom prst="roundRect">
            <a:avLst>
              <a:gd name="adj" fmla="val 11538"/>
            </a:avLst>
          </a:prstGeom>
          <a:solidFill>
            <a:srgbClr val="1A2130"/>
          </a:solidFill>
          <a:ln w="12700">
            <a:solidFill>
              <a:srgbClr val="252D3D"/>
            </a:solidFill>
            <a:prstDash val="solid"/>
          </a:ln>
        </p:spPr>
      </p:sp>
      <p:sp>
        <p:nvSpPr>
          <p:cNvPr id="68" name="Text 66"/>
          <p:cNvSpPr txBox="1"/>
          <p:nvPr/>
        </p:nvSpPr>
        <p:spPr>
          <a:xfrm>
            <a:off x="9970618" y="3899916"/>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Milestone dashboards</a:t>
            </a:r>
            <a:endParaRPr lang="en-US" sz="850" dirty="0"/>
          </a:p>
        </p:txBody>
      </p:sp>
      <p:sp>
        <p:nvSpPr>
          <p:cNvPr id="69" name="Shape 67"/>
          <p:cNvSpPr/>
          <p:nvPr/>
        </p:nvSpPr>
        <p:spPr>
          <a:xfrm>
            <a:off x="9888322" y="4466844"/>
            <a:ext cx="1651406" cy="475488"/>
          </a:xfrm>
          <a:prstGeom prst="roundRect">
            <a:avLst>
              <a:gd name="adj" fmla="val 11538"/>
            </a:avLst>
          </a:prstGeom>
          <a:solidFill>
            <a:srgbClr val="1A2130"/>
          </a:solidFill>
          <a:ln w="12700">
            <a:solidFill>
              <a:srgbClr val="252D3D"/>
            </a:solidFill>
            <a:prstDash val="solid"/>
          </a:ln>
        </p:spPr>
      </p:sp>
      <p:sp>
        <p:nvSpPr>
          <p:cNvPr id="70" name="Text 68"/>
          <p:cNvSpPr txBox="1"/>
          <p:nvPr/>
        </p:nvSpPr>
        <p:spPr>
          <a:xfrm>
            <a:off x="9970618" y="4466844"/>
            <a:ext cx="1486814" cy="475488"/>
          </a:xfrm>
          <a:prstGeom prst="rect">
            <a:avLst/>
          </a:prstGeom>
          <a:noFill/>
          <a:ln/>
        </p:spPr>
        <p:txBody>
          <a:bodyPr wrap="square" lIns="0" tIns="0" rIns="0" bIns="0" rtlCol="0" anchor="ctr"/>
          <a:lstStyle/>
          <a:p>
            <a:pPr indent="0" marL="0">
              <a:lnSpc>
                <a:spcPts val="1100"/>
              </a:lnSpc>
              <a:buNone/>
            </a:pPr>
            <a:r>
              <a:rPr lang="en-US" sz="850" dirty="0">
                <a:solidFill>
                  <a:srgbClr val="E6EAF2"/>
                </a:solidFill>
                <a:latin typeface="Arial" pitchFamily="34" charset="0"/>
                <a:ea typeface="Arial" pitchFamily="34" charset="-122"/>
                <a:cs typeface="Arial" pitchFamily="34" charset="-120"/>
              </a:rPr>
              <a:t>Improvement backlog</a:t>
            </a:r>
            <a:endParaRPr lang="en-US" sz="850" dirty="0"/>
          </a:p>
        </p:txBody>
      </p:sp>
      <p:sp>
        <p:nvSpPr>
          <p:cNvPr id="71" name="Shape 69"/>
          <p:cNvSpPr/>
          <p:nvPr/>
        </p:nvSpPr>
        <p:spPr>
          <a:xfrm>
            <a:off x="502920" y="5344668"/>
            <a:ext cx="11183112" cy="512064"/>
          </a:xfrm>
          <a:prstGeom prst="roundRect">
            <a:avLst>
              <a:gd name="adj" fmla="val 7143"/>
            </a:avLst>
          </a:prstGeom>
          <a:solidFill>
            <a:srgbClr val="1A1226"/>
          </a:solidFill>
          <a:ln w="12700">
            <a:solidFill>
              <a:srgbClr val="3D2A4E"/>
            </a:solidFill>
            <a:prstDash val="solid"/>
          </a:ln>
        </p:spPr>
      </p:sp>
      <p:sp>
        <p:nvSpPr>
          <p:cNvPr id="72" name="Text 70"/>
          <p:cNvSpPr txBox="1"/>
          <p:nvPr/>
        </p:nvSpPr>
        <p:spPr>
          <a:xfrm>
            <a:off x="685800" y="5344668"/>
            <a:ext cx="10817352" cy="512064"/>
          </a:xfrm>
          <a:prstGeom prst="rect">
            <a:avLst/>
          </a:prstGeom>
          <a:noFill/>
          <a:ln/>
        </p:spPr>
        <p:txBody>
          <a:bodyPr wrap="square" lIns="0" tIns="0" rIns="0" bIns="0" rtlCol="0" anchor="ctr"/>
          <a:lstStyle/>
          <a:p>
            <a:pPr indent="0" marL="0">
              <a:buNone/>
            </a:pPr>
            <a:r>
              <a:rPr lang="en-US" sz="900" b="1" spc="140" kern="0" dirty="0">
                <a:solidFill>
                  <a:srgbClr val="FF0069"/>
                </a:solidFill>
                <a:latin typeface="Arial" pitchFamily="34" charset="0"/>
                <a:ea typeface="Arial" pitchFamily="34" charset="-122"/>
                <a:cs typeface="Arial" pitchFamily="34" charset="-120"/>
              </a:rPr>
              <a:t>EINSTEIN TRUST LAYER   </a:t>
            </a:r>
            <a:pPr indent="0" marL="0">
              <a:buNone/>
            </a:pPr>
            <a:r>
              <a:rPr lang="en-US" sz="900" dirty="0">
                <a:solidFill>
                  <a:srgbClr val="E6EAF2"/>
                </a:solidFill>
                <a:latin typeface="Arial" pitchFamily="34" charset="0"/>
                <a:ea typeface="Arial" pitchFamily="34" charset="-122"/>
                <a:cs typeface="Arial" pitchFamily="34" charset="-120"/>
              </a:rPr>
              <a:t>Zero data retention  ·  PHI and PII masking  ·  Dynamic grounding  ·  Prompt injection defence  ·  Toxicity scoring  ·  Full audit trail on every generated output</a:t>
            </a:r>
            <a:endParaRPr lang="en-US" sz="900" dirty="0"/>
          </a:p>
        </p:txBody>
      </p:sp>
      <p:sp>
        <p:nvSpPr>
          <p:cNvPr id="73" name="Text 71"/>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Stages 01, 03 and 05 use capability included in Service Cloud. The Prompt Template components in stages 02 and 04 require Einstein or Agentforce licensing, confirmed with McKesson before Phase 2.</a:t>
            </a:r>
            <a:endParaRPr lang="en-US" sz="750" dirty="0"/>
          </a:p>
        </p:txBody>
      </p:sp>
      <p:pic>
        <p:nvPicPr>
          <p:cNvPr id="74"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75" name="Text 72"/>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STAGES 01 AND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CAPTURE THE EMAIL, THEN UNDERSTAND IT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Email to Case turns the message into a record. A record triggered Flow then calls the triage Prompt Template, which reads the whole thread and returns structured values the rest of the process can act on.</a:t>
            </a:r>
            <a:endParaRPr lang="en-US" sz="1150" dirty="0"/>
          </a:p>
        </p:txBody>
      </p:sp>
      <p:sp>
        <p:nvSpPr>
          <p:cNvPr id="5" name="Shape 3"/>
          <p:cNvSpPr/>
          <p:nvPr/>
        </p:nvSpPr>
        <p:spPr>
          <a:xfrm>
            <a:off x="502920" y="1796796"/>
            <a:ext cx="5481828" cy="2377440"/>
          </a:xfrm>
          <a:prstGeom prst="roundRect">
            <a:avLst>
              <a:gd name="adj" fmla="val 1538"/>
            </a:avLst>
          </a:prstGeom>
          <a:solidFill>
            <a:srgbClr val="151A24"/>
          </a:solidFill>
          <a:ln w="12700">
            <a:solidFill>
              <a:srgbClr val="252D3D"/>
            </a:solidFill>
            <a:prstDash val="solid"/>
          </a:ln>
        </p:spPr>
      </p:sp>
      <p:sp>
        <p:nvSpPr>
          <p:cNvPr id="6" name="Shape 4"/>
          <p:cNvSpPr/>
          <p:nvPr/>
        </p:nvSpPr>
        <p:spPr>
          <a:xfrm>
            <a:off x="740664" y="2016252"/>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40664"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01</a:t>
            </a:r>
            <a:endParaRPr lang="en-US" sz="1050" dirty="0"/>
          </a:p>
        </p:txBody>
      </p:sp>
      <p:sp>
        <p:nvSpPr>
          <p:cNvPr id="8" name="Text 6"/>
          <p:cNvSpPr txBox="1"/>
          <p:nvPr/>
        </p:nvSpPr>
        <p:spPr>
          <a:xfrm>
            <a:off x="1143000" y="2016252"/>
            <a:ext cx="4567428"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Capture</a:t>
            </a:r>
            <a:endParaRPr lang="en-US" sz="1400" dirty="0"/>
          </a:p>
        </p:txBody>
      </p:sp>
      <p:sp>
        <p:nvSpPr>
          <p:cNvPr id="9" name="Text 7"/>
          <p:cNvSpPr txBox="1"/>
          <p:nvPr/>
        </p:nvSpPr>
        <p:spPr>
          <a:xfrm>
            <a:off x="740664" y="2436876"/>
            <a:ext cx="5006340" cy="1444752"/>
          </a:xfrm>
          <a:prstGeom prst="rect">
            <a:avLst/>
          </a:prstGeom>
          <a:noFill/>
          <a:ln/>
        </p:spPr>
        <p:txBody>
          <a:bodyPr wrap="square" lIns="0" tIns="0" rIns="0" bIns="0" rtlCol="0" anchor="t"/>
          <a:lstStyle/>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Email to Case creates the case from the Extended Care mailboxes for both customers and vendors.</a:t>
            </a:r>
            <a:endParaRPr lang="en-US" sz="900" dirty="0"/>
          </a:p>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Thread ID matching appends a reply to its existing case instead of opening a duplicate, and reopens a closed case where the customer says the issue remains.</a:t>
            </a:r>
            <a:endParaRPr lang="en-US" sz="900" dirty="0"/>
          </a:p>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A Flow duplicate check compares sender, account and subject against recent cases and links rather than creates.</a:t>
            </a:r>
            <a:endParaRPr lang="en-US" sz="900" dirty="0"/>
          </a:p>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An auto response confirms receipt with the case number and the expected turnaround, within seconds of arrival.</a:t>
            </a:r>
            <a:endParaRPr lang="en-US" sz="900" dirty="0"/>
          </a:p>
        </p:txBody>
      </p:sp>
      <p:sp>
        <p:nvSpPr>
          <p:cNvPr id="10" name="Shape 8"/>
          <p:cNvSpPr/>
          <p:nvPr/>
        </p:nvSpPr>
        <p:spPr>
          <a:xfrm>
            <a:off x="6204204" y="1796796"/>
            <a:ext cx="5481828" cy="2377440"/>
          </a:xfrm>
          <a:prstGeom prst="roundRect">
            <a:avLst>
              <a:gd name="adj" fmla="val 1538"/>
            </a:avLst>
          </a:prstGeom>
          <a:solidFill>
            <a:srgbClr val="151A24"/>
          </a:solidFill>
          <a:ln w="12700">
            <a:solidFill>
              <a:srgbClr val="252D3D"/>
            </a:solidFill>
            <a:prstDash val="solid"/>
          </a:ln>
        </p:spPr>
      </p:sp>
      <p:sp>
        <p:nvSpPr>
          <p:cNvPr id="11" name="Shape 9"/>
          <p:cNvSpPr/>
          <p:nvPr/>
        </p:nvSpPr>
        <p:spPr>
          <a:xfrm>
            <a:off x="6441948" y="2016252"/>
            <a:ext cx="310896" cy="256032"/>
          </a:xfrm>
          <a:prstGeom prst="roundRect">
            <a:avLst>
              <a:gd name="adj" fmla="val 17857"/>
            </a:avLst>
          </a:prstGeom>
          <a:solidFill>
            <a:srgbClr val="0A0D14"/>
          </a:solidFill>
          <a:ln w="12700">
            <a:solidFill>
              <a:srgbClr val="22D3EE"/>
            </a:solidFill>
            <a:prstDash val="solid"/>
          </a:ln>
        </p:spPr>
      </p:sp>
      <p:sp>
        <p:nvSpPr>
          <p:cNvPr id="12" name="Text 10"/>
          <p:cNvSpPr txBox="1"/>
          <p:nvPr/>
        </p:nvSpPr>
        <p:spPr>
          <a:xfrm>
            <a:off x="6441948" y="2016252"/>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02</a:t>
            </a:r>
            <a:endParaRPr lang="en-US" sz="1050" dirty="0"/>
          </a:p>
        </p:txBody>
      </p:sp>
      <p:sp>
        <p:nvSpPr>
          <p:cNvPr id="13" name="Text 11"/>
          <p:cNvSpPr txBox="1"/>
          <p:nvPr/>
        </p:nvSpPr>
        <p:spPr>
          <a:xfrm>
            <a:off x="6844284" y="2016252"/>
            <a:ext cx="4384548" cy="256032"/>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Understand</a:t>
            </a:r>
            <a:endParaRPr lang="en-US" sz="1400" dirty="0"/>
          </a:p>
        </p:txBody>
      </p:sp>
      <p:sp>
        <p:nvSpPr>
          <p:cNvPr id="14" name="Text 12"/>
          <p:cNvSpPr txBox="1"/>
          <p:nvPr/>
        </p:nvSpPr>
        <p:spPr>
          <a:xfrm>
            <a:off x="6441948" y="2436876"/>
            <a:ext cx="5006340" cy="1444752"/>
          </a:xfrm>
          <a:prstGeom prst="rect">
            <a:avLst/>
          </a:prstGeom>
          <a:noFill/>
          <a:ln/>
        </p:spPr>
        <p:txBody>
          <a:bodyPr wrap="square" lIns="0" tIns="0" rIns="0" bIns="0" rtlCol="0" anchor="t"/>
          <a:lstStyle/>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A Flex Prompt Template reads the full thread, grounded on the case, the email messages, the account, the contact and prior cases on that account.</a:t>
            </a:r>
            <a:endParaRPr lang="en-US" sz="900" dirty="0"/>
          </a:p>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Field Generation templates write the returned values straight onto case fields, so no free text parsing is needed for the simple ones.</a:t>
            </a:r>
            <a:endParaRPr lang="en-US" sz="900" dirty="0"/>
          </a:p>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Deterministic Flow rules sit over the top. Where policy is unambiguous the rule wins, not the model.</a:t>
            </a:r>
            <a:endParaRPr lang="en-US" sz="900" dirty="0"/>
          </a:p>
          <a:p>
            <a:pPr marL="152400" indent="-152400">
              <a:lnSpc>
                <a:spcPts val="1300"/>
              </a:lnSpc>
              <a:spcAft>
                <a:spcPts val="600"/>
              </a:spcAft>
              <a:buSzPct val="100000"/>
              <a:buChar char="•"/>
            </a:pPr>
            <a:r>
              <a:rPr lang="en-US" sz="900" dirty="0">
                <a:solidFill>
                  <a:srgbClr val="E6EAF2"/>
                </a:solidFill>
                <a:latin typeface="Arial" pitchFamily="34" charset="0"/>
                <a:ea typeface="Arial" pitchFamily="34" charset="-122"/>
                <a:cs typeface="Arial" pitchFamily="34" charset="-120"/>
              </a:rPr>
              <a:t>Where generative licensing is not available, Einstein Case Classification predicts the same fields from case history.</a:t>
            </a:r>
            <a:endParaRPr lang="en-US" sz="900" dirty="0"/>
          </a:p>
        </p:txBody>
      </p:sp>
      <p:sp>
        <p:nvSpPr>
          <p:cNvPr id="15" name="Text 13"/>
          <p:cNvSpPr txBox="1"/>
          <p:nvPr/>
        </p:nvSpPr>
        <p:spPr>
          <a:xfrm>
            <a:off x="502920" y="4393692"/>
            <a:ext cx="11183112"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WHAT THE TRIAGE TEMPLATE RETURNS ON EVERY CASE</a:t>
            </a:r>
            <a:endParaRPr lang="en-US" sz="1050" dirty="0"/>
          </a:p>
        </p:txBody>
      </p:sp>
      <p:sp>
        <p:nvSpPr>
          <p:cNvPr id="16" name="Shape 14"/>
          <p:cNvSpPr/>
          <p:nvPr/>
        </p:nvSpPr>
        <p:spPr>
          <a:xfrm>
            <a:off x="502920" y="4704588"/>
            <a:ext cx="2672334" cy="658368"/>
          </a:xfrm>
          <a:prstGeom prst="roundRect">
            <a:avLst>
              <a:gd name="adj" fmla="val 5556"/>
            </a:avLst>
          </a:prstGeom>
          <a:solidFill>
            <a:srgbClr val="1A2130"/>
          </a:solidFill>
          <a:ln w="12700">
            <a:solidFill>
              <a:srgbClr val="252D3D"/>
            </a:solidFill>
            <a:prstDash val="solid"/>
          </a:ln>
        </p:spPr>
      </p:sp>
      <p:sp>
        <p:nvSpPr>
          <p:cNvPr id="17" name="Text 15"/>
          <p:cNvSpPr txBox="1"/>
          <p:nvPr/>
        </p:nvSpPr>
        <p:spPr>
          <a:xfrm>
            <a:off x="649224"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Category</a:t>
            </a:r>
            <a:endParaRPr lang="en-US" sz="950" dirty="0"/>
          </a:p>
        </p:txBody>
      </p:sp>
      <p:sp>
        <p:nvSpPr>
          <p:cNvPr id="18" name="Text 16"/>
          <p:cNvSpPr txBox="1"/>
          <p:nvPr/>
        </p:nvSpPr>
        <p:spPr>
          <a:xfrm>
            <a:off x="649224"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Request, Inquiry, Issue, Dispute, System, Duplicate</a:t>
            </a:r>
            <a:endParaRPr lang="en-US" sz="800" dirty="0"/>
          </a:p>
        </p:txBody>
      </p:sp>
      <p:sp>
        <p:nvSpPr>
          <p:cNvPr id="19" name="Shape 17"/>
          <p:cNvSpPr/>
          <p:nvPr/>
        </p:nvSpPr>
        <p:spPr>
          <a:xfrm>
            <a:off x="3339846" y="4704588"/>
            <a:ext cx="2672334" cy="658368"/>
          </a:xfrm>
          <a:prstGeom prst="roundRect">
            <a:avLst>
              <a:gd name="adj" fmla="val 5556"/>
            </a:avLst>
          </a:prstGeom>
          <a:solidFill>
            <a:srgbClr val="1A2130"/>
          </a:solidFill>
          <a:ln w="12700">
            <a:solidFill>
              <a:srgbClr val="252D3D"/>
            </a:solidFill>
            <a:prstDash val="solid"/>
          </a:ln>
        </p:spPr>
      </p:sp>
      <p:sp>
        <p:nvSpPr>
          <p:cNvPr id="20" name="Text 18"/>
          <p:cNvSpPr txBox="1"/>
          <p:nvPr/>
        </p:nvSpPr>
        <p:spPr>
          <a:xfrm>
            <a:off x="3486150"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Service family</a:t>
            </a:r>
            <a:endParaRPr lang="en-US" sz="950" dirty="0"/>
          </a:p>
        </p:txBody>
      </p:sp>
      <p:sp>
        <p:nvSpPr>
          <p:cNvPr id="21" name="Text 19"/>
          <p:cNvSpPr txBox="1"/>
          <p:nvPr/>
        </p:nvSpPr>
        <p:spPr>
          <a:xfrm>
            <a:off x="3486150"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Orders, Status, Backorders, Credits, Pricing, Billing</a:t>
            </a:r>
            <a:endParaRPr lang="en-US" sz="800" dirty="0"/>
          </a:p>
        </p:txBody>
      </p:sp>
      <p:sp>
        <p:nvSpPr>
          <p:cNvPr id="22" name="Shape 20"/>
          <p:cNvSpPr/>
          <p:nvPr/>
        </p:nvSpPr>
        <p:spPr>
          <a:xfrm>
            <a:off x="6176772" y="4704588"/>
            <a:ext cx="2672334" cy="658368"/>
          </a:xfrm>
          <a:prstGeom prst="roundRect">
            <a:avLst>
              <a:gd name="adj" fmla="val 5556"/>
            </a:avLst>
          </a:prstGeom>
          <a:solidFill>
            <a:srgbClr val="1A2130"/>
          </a:solidFill>
          <a:ln w="12700">
            <a:solidFill>
              <a:srgbClr val="252D3D"/>
            </a:solidFill>
            <a:prstDash val="solid"/>
          </a:ln>
        </p:spPr>
      </p:sp>
      <p:sp>
        <p:nvSpPr>
          <p:cNvPr id="23" name="Text 21"/>
          <p:cNvSpPr txBox="1"/>
          <p:nvPr/>
        </p:nvSpPr>
        <p:spPr>
          <a:xfrm>
            <a:off x="6323076"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Recommended priority</a:t>
            </a:r>
            <a:endParaRPr lang="en-US" sz="950" dirty="0"/>
          </a:p>
        </p:txBody>
      </p:sp>
      <p:sp>
        <p:nvSpPr>
          <p:cNvPr id="24" name="Text 22"/>
          <p:cNvSpPr txBox="1"/>
          <p:nvPr/>
        </p:nvSpPr>
        <p:spPr>
          <a:xfrm>
            <a:off x="6323076"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P1 to P4, with the reason recorded</a:t>
            </a:r>
            <a:endParaRPr lang="en-US" sz="800" dirty="0"/>
          </a:p>
        </p:txBody>
      </p:sp>
      <p:sp>
        <p:nvSpPr>
          <p:cNvPr id="25" name="Shape 23"/>
          <p:cNvSpPr/>
          <p:nvPr/>
        </p:nvSpPr>
        <p:spPr>
          <a:xfrm>
            <a:off x="9013698" y="4704588"/>
            <a:ext cx="2672334" cy="658368"/>
          </a:xfrm>
          <a:prstGeom prst="roundRect">
            <a:avLst>
              <a:gd name="adj" fmla="val 5556"/>
            </a:avLst>
          </a:prstGeom>
          <a:solidFill>
            <a:srgbClr val="1A2130"/>
          </a:solidFill>
          <a:ln w="12700">
            <a:solidFill>
              <a:srgbClr val="252D3D"/>
            </a:solidFill>
            <a:prstDash val="solid"/>
          </a:ln>
        </p:spPr>
      </p:sp>
      <p:sp>
        <p:nvSpPr>
          <p:cNvPr id="26" name="Text 24"/>
          <p:cNvSpPr txBox="1"/>
          <p:nvPr/>
        </p:nvSpPr>
        <p:spPr>
          <a:xfrm>
            <a:off x="9160002" y="4786884"/>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Extracted entities</a:t>
            </a:r>
            <a:endParaRPr lang="en-US" sz="950" dirty="0"/>
          </a:p>
        </p:txBody>
      </p:sp>
      <p:sp>
        <p:nvSpPr>
          <p:cNvPr id="27" name="Text 25"/>
          <p:cNvSpPr txBox="1"/>
          <p:nvPr/>
        </p:nvSpPr>
        <p:spPr>
          <a:xfrm>
            <a:off x="9160002" y="5006340"/>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Order, invoice, PO, account, product, quantity</a:t>
            </a:r>
            <a:endParaRPr lang="en-US" sz="800" dirty="0"/>
          </a:p>
        </p:txBody>
      </p:sp>
      <p:sp>
        <p:nvSpPr>
          <p:cNvPr id="28" name="Shape 26"/>
          <p:cNvSpPr/>
          <p:nvPr/>
        </p:nvSpPr>
        <p:spPr>
          <a:xfrm>
            <a:off x="502920" y="5509260"/>
            <a:ext cx="2672334" cy="658368"/>
          </a:xfrm>
          <a:prstGeom prst="roundRect">
            <a:avLst>
              <a:gd name="adj" fmla="val 5556"/>
            </a:avLst>
          </a:prstGeom>
          <a:solidFill>
            <a:srgbClr val="1A2130"/>
          </a:solidFill>
          <a:ln w="12700">
            <a:solidFill>
              <a:srgbClr val="252D3D"/>
            </a:solidFill>
            <a:prstDash val="solid"/>
          </a:ln>
        </p:spPr>
      </p:sp>
      <p:sp>
        <p:nvSpPr>
          <p:cNvPr id="29" name="Text 27"/>
          <p:cNvSpPr txBox="1"/>
          <p:nvPr/>
        </p:nvSpPr>
        <p:spPr>
          <a:xfrm>
            <a:off x="649224"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Customer sentiment</a:t>
            </a:r>
            <a:endParaRPr lang="en-US" sz="950" dirty="0"/>
          </a:p>
        </p:txBody>
      </p:sp>
      <p:sp>
        <p:nvSpPr>
          <p:cNvPr id="30" name="Text 28"/>
          <p:cNvSpPr txBox="1"/>
          <p:nvPr/>
        </p:nvSpPr>
        <p:spPr>
          <a:xfrm>
            <a:off x="649224"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Tone and escalation risk on the thread</a:t>
            </a:r>
            <a:endParaRPr lang="en-US" sz="800" dirty="0"/>
          </a:p>
        </p:txBody>
      </p:sp>
      <p:sp>
        <p:nvSpPr>
          <p:cNvPr id="31" name="Shape 29"/>
          <p:cNvSpPr/>
          <p:nvPr/>
        </p:nvSpPr>
        <p:spPr>
          <a:xfrm>
            <a:off x="3339846" y="5509260"/>
            <a:ext cx="2672334" cy="658368"/>
          </a:xfrm>
          <a:prstGeom prst="roundRect">
            <a:avLst>
              <a:gd name="adj" fmla="val 5556"/>
            </a:avLst>
          </a:prstGeom>
          <a:solidFill>
            <a:srgbClr val="1A2130"/>
          </a:solidFill>
          <a:ln w="12700">
            <a:solidFill>
              <a:srgbClr val="252D3D"/>
            </a:solidFill>
            <a:prstDash val="solid"/>
          </a:ln>
        </p:spPr>
      </p:sp>
      <p:sp>
        <p:nvSpPr>
          <p:cNvPr id="32" name="Text 30"/>
          <p:cNvSpPr txBox="1"/>
          <p:nvPr/>
        </p:nvSpPr>
        <p:spPr>
          <a:xfrm>
            <a:off x="3486150"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Case summary</a:t>
            </a:r>
            <a:endParaRPr lang="en-US" sz="950" dirty="0"/>
          </a:p>
        </p:txBody>
      </p:sp>
      <p:sp>
        <p:nvSpPr>
          <p:cNvPr id="33" name="Text 31"/>
          <p:cNvSpPr txBox="1"/>
          <p:nvPr/>
        </p:nvSpPr>
        <p:spPr>
          <a:xfrm>
            <a:off x="3486150"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A short factual summary of what is being asked</a:t>
            </a:r>
            <a:endParaRPr lang="en-US" sz="800" dirty="0"/>
          </a:p>
        </p:txBody>
      </p:sp>
      <p:sp>
        <p:nvSpPr>
          <p:cNvPr id="34" name="Shape 32"/>
          <p:cNvSpPr/>
          <p:nvPr/>
        </p:nvSpPr>
        <p:spPr>
          <a:xfrm>
            <a:off x="6176772" y="5509260"/>
            <a:ext cx="2672334" cy="658368"/>
          </a:xfrm>
          <a:prstGeom prst="roundRect">
            <a:avLst>
              <a:gd name="adj" fmla="val 5556"/>
            </a:avLst>
          </a:prstGeom>
          <a:solidFill>
            <a:srgbClr val="1A2130"/>
          </a:solidFill>
          <a:ln w="12700">
            <a:solidFill>
              <a:srgbClr val="252D3D"/>
            </a:solidFill>
            <a:prstDash val="solid"/>
          </a:ln>
        </p:spPr>
      </p:sp>
      <p:sp>
        <p:nvSpPr>
          <p:cNvPr id="35" name="Text 33"/>
          <p:cNvSpPr txBox="1"/>
          <p:nvPr/>
        </p:nvSpPr>
        <p:spPr>
          <a:xfrm>
            <a:off x="6323076"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PHI indicator</a:t>
            </a:r>
            <a:endParaRPr lang="en-US" sz="950" dirty="0"/>
          </a:p>
        </p:txBody>
      </p:sp>
      <p:sp>
        <p:nvSpPr>
          <p:cNvPr id="36" name="Text 34"/>
          <p:cNvSpPr txBox="1"/>
          <p:nvPr/>
        </p:nvSpPr>
        <p:spPr>
          <a:xfrm>
            <a:off x="6323076"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Flags patient identifiable content for handling</a:t>
            </a:r>
            <a:endParaRPr lang="en-US" sz="800" dirty="0"/>
          </a:p>
        </p:txBody>
      </p:sp>
      <p:sp>
        <p:nvSpPr>
          <p:cNvPr id="37" name="Shape 35"/>
          <p:cNvSpPr/>
          <p:nvPr/>
        </p:nvSpPr>
        <p:spPr>
          <a:xfrm>
            <a:off x="9013698" y="5509260"/>
            <a:ext cx="2672334" cy="658368"/>
          </a:xfrm>
          <a:prstGeom prst="roundRect">
            <a:avLst>
              <a:gd name="adj" fmla="val 5556"/>
            </a:avLst>
          </a:prstGeom>
          <a:solidFill>
            <a:srgbClr val="1A2130"/>
          </a:solidFill>
          <a:ln w="12700">
            <a:solidFill>
              <a:srgbClr val="252D3D"/>
            </a:solidFill>
            <a:prstDash val="solid"/>
          </a:ln>
        </p:spPr>
      </p:sp>
      <p:sp>
        <p:nvSpPr>
          <p:cNvPr id="38" name="Text 36"/>
          <p:cNvSpPr txBox="1"/>
          <p:nvPr/>
        </p:nvSpPr>
        <p:spPr>
          <a:xfrm>
            <a:off x="9160002" y="5591556"/>
            <a:ext cx="2379726" cy="21945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Suggested queue</a:t>
            </a:r>
            <a:endParaRPr lang="en-US" sz="950" dirty="0"/>
          </a:p>
        </p:txBody>
      </p:sp>
      <p:sp>
        <p:nvSpPr>
          <p:cNvPr id="39" name="Text 37"/>
          <p:cNvSpPr txBox="1"/>
          <p:nvPr/>
        </p:nvSpPr>
        <p:spPr>
          <a:xfrm>
            <a:off x="9160002" y="5811012"/>
            <a:ext cx="2379726" cy="29260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The routing destination and skills required</a:t>
            </a:r>
            <a:endParaRPr lang="en-US" sz="800" dirty="0"/>
          </a:p>
        </p:txBody>
      </p:sp>
      <p:pic>
        <p:nvPicPr>
          <p:cNvPr id="40"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1" name="Text 38"/>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CLASSIFICATION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A CASE TAXONOMY BUILT FOR CUSTOMER SERVICE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Software terms such as story and defect do not describe what an Extended Care customer is asking for. These six categories do, and they map cleanly onto how the work is actually handled.</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796796"/>
          <a:ext cx="8001000" cy="914400"/>
        </p:xfrm>
        <a:graphic>
          <a:graphicData uri="http://schemas.openxmlformats.org/drawingml/2006/table">
            <a:tbl>
              <a:tblPr/>
              <a:tblGrid>
                <a:gridCol w="1874520"/>
                <a:gridCol w="2743200"/>
                <a:gridCol w="3383280"/>
              </a:tblGrid>
              <a:tr h="475488">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Primary category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What it means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Extended Care examples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475488">
                <a:tc>
                  <a:txBody>
                    <a:bodyPr/>
                    <a:lstStyle/>
                    <a:p>
                      <a:pPr indent="0" marL="0">
                        <a:buNone/>
                      </a:pPr>
                      <a:r>
                        <a:rPr lang="en-US" sz="850" b="1" dirty="0">
                          <a:solidFill>
                            <a:srgbClr val="FFFFFF"/>
                          </a:solidFill>
                          <a:latin typeface="Arial" pitchFamily="34" charset="0"/>
                          <a:ea typeface="Arial" pitchFamily="34" charset="-122"/>
                          <a:cs typeface="Arial" pitchFamily="34" charset="-120"/>
                        </a:rPr>
                        <a:t>Request or Transaction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The customer asks the team to carry out an action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Place an order, modify an order, raise a return, request a document</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Arial" pitchFamily="34" charset="0"/>
                          <a:ea typeface="Arial" pitchFamily="34" charset="-122"/>
                          <a:cs typeface="Arial" pitchFamily="34" charset="-120"/>
                        </a:rPr>
                        <a:t>Inquiry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The customer asks for information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Order status, tracking, price, product availability, account question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Arial" pitchFamily="34" charset="0"/>
                          <a:ea typeface="Arial" pitchFamily="34" charset="-122"/>
                          <a:cs typeface="Arial" pitchFamily="34" charset="-120"/>
                        </a:rPr>
                        <a:t>Issue or Exception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An expected service or transaction has failed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Delivery failure, incorrect order, delayed shipment, billing error</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Arial" pitchFamily="34" charset="0"/>
                          <a:ea typeface="Arial" pitchFamily="34" charset="-122"/>
                          <a:cs typeface="Arial" pitchFamily="34" charset="-120"/>
                        </a:rPr>
                        <a:t>Dispute or Financial Case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Financial investigation or authorisation is required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Credit, return dispute, price dispute, rebill, accounts receivable query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Arial" pitchFamily="34" charset="0"/>
                          <a:ea typeface="Arial" pitchFamily="34" charset="-122"/>
                          <a:cs typeface="Arial" pitchFamily="34" charset="-120"/>
                        </a:rPr>
                        <a:t>System or Access Issue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The customer is blocked from using a system or completing an action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Login failure, ordering platform error, account access, data problem</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475488">
                <a:tc>
                  <a:txBody>
                    <a:bodyPr/>
                    <a:lstStyle/>
                    <a:p>
                      <a:pPr indent="0" marL="0">
                        <a:buNone/>
                      </a:pPr>
                      <a:r>
                        <a:rPr lang="en-US" sz="850" b="1" dirty="0">
                          <a:solidFill>
                            <a:srgbClr val="FFFFFF"/>
                          </a:solidFill>
                          <a:latin typeface="Arial" pitchFamily="34" charset="0"/>
                          <a:ea typeface="Arial" pitchFamily="34" charset="-122"/>
                          <a:cs typeface="Arial" pitchFamily="34" charset="-120"/>
                        </a:rPr>
                        <a:t>Duplicate or No Action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The case needs validation but no processing</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Duplicate request, already resolved, insufficient information supplied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bl>
          </a:graphicData>
        </a:graphic>
      </p:graphicFrame>
      <p:sp>
        <p:nvSpPr>
          <p:cNvPr id="6" name="Shape 3"/>
          <p:cNvSpPr/>
          <p:nvPr/>
        </p:nvSpPr>
        <p:spPr>
          <a:xfrm>
            <a:off x="8723376" y="1796796"/>
            <a:ext cx="2962656" cy="3547872"/>
          </a:xfrm>
          <a:prstGeom prst="roundRect">
            <a:avLst>
              <a:gd name="adj" fmla="val 1235"/>
            </a:avLst>
          </a:prstGeom>
          <a:solidFill>
            <a:srgbClr val="151A24"/>
          </a:solidFill>
          <a:ln w="12700">
            <a:solidFill>
              <a:srgbClr val="252D3D"/>
            </a:solidFill>
            <a:prstDash val="solid"/>
          </a:ln>
        </p:spPr>
      </p:sp>
      <p:sp>
        <p:nvSpPr>
          <p:cNvPr id="7" name="Text 4"/>
          <p:cNvSpPr txBox="1"/>
          <p:nvPr/>
        </p:nvSpPr>
        <p:spPr>
          <a:xfrm>
            <a:off x="8942832" y="1979676"/>
            <a:ext cx="252374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A SECOND FIELD CARRIES THE SERVICE FAMILY</a:t>
            </a:r>
            <a:endParaRPr lang="en-US" sz="1000" dirty="0"/>
          </a:p>
        </p:txBody>
      </p:sp>
      <p:sp>
        <p:nvSpPr>
          <p:cNvPr id="8" name="Text 5"/>
          <p:cNvSpPr txBox="1"/>
          <p:nvPr/>
        </p:nvSpPr>
        <p:spPr>
          <a:xfrm>
            <a:off x="8942832" y="2253996"/>
            <a:ext cx="2523744" cy="53035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Category says what kind of work it is. Service family says which part of the operation owns it. Routing, reporting and knowledge all key off the pair.</a:t>
            </a:r>
            <a:endParaRPr lang="en-US" sz="850" dirty="0"/>
          </a:p>
        </p:txBody>
      </p:sp>
      <p:sp>
        <p:nvSpPr>
          <p:cNvPr id="9" name="Shape 6"/>
          <p:cNvSpPr/>
          <p:nvPr/>
        </p:nvSpPr>
        <p:spPr>
          <a:xfrm>
            <a:off x="8942832" y="2894076"/>
            <a:ext cx="2523744" cy="205740"/>
          </a:xfrm>
          <a:prstGeom prst="roundRect">
            <a:avLst>
              <a:gd name="adj" fmla="val 26667"/>
            </a:avLst>
          </a:prstGeom>
          <a:solidFill>
            <a:srgbClr val="1A2130"/>
          </a:solidFill>
          <a:ln w="12700">
            <a:solidFill>
              <a:srgbClr val="252D3D"/>
            </a:solidFill>
            <a:prstDash val="solid"/>
          </a:ln>
        </p:spPr>
      </p:sp>
      <p:sp>
        <p:nvSpPr>
          <p:cNvPr id="10" name="Text 7"/>
          <p:cNvSpPr txBox="1"/>
          <p:nvPr/>
        </p:nvSpPr>
        <p:spPr>
          <a:xfrm>
            <a:off x="9025128" y="2894076"/>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Order management</a:t>
            </a:r>
            <a:endParaRPr lang="en-US" sz="800" dirty="0"/>
          </a:p>
        </p:txBody>
      </p:sp>
      <p:sp>
        <p:nvSpPr>
          <p:cNvPr id="11" name="Shape 8"/>
          <p:cNvSpPr/>
          <p:nvPr/>
        </p:nvSpPr>
        <p:spPr>
          <a:xfrm>
            <a:off x="8942832" y="3118104"/>
            <a:ext cx="2523744" cy="205740"/>
          </a:xfrm>
          <a:prstGeom prst="roundRect">
            <a:avLst>
              <a:gd name="adj" fmla="val 26667"/>
            </a:avLst>
          </a:prstGeom>
          <a:solidFill>
            <a:srgbClr val="1A2130"/>
          </a:solidFill>
          <a:ln w="12700">
            <a:solidFill>
              <a:srgbClr val="252D3D"/>
            </a:solidFill>
            <a:prstDash val="solid"/>
          </a:ln>
        </p:spPr>
      </p:sp>
      <p:sp>
        <p:nvSpPr>
          <p:cNvPr id="12" name="Text 9"/>
          <p:cNvSpPr txBox="1"/>
          <p:nvPr/>
        </p:nvSpPr>
        <p:spPr>
          <a:xfrm>
            <a:off x="9025128" y="3118104"/>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Order status and shipment</a:t>
            </a:r>
            <a:endParaRPr lang="en-US" sz="800" dirty="0"/>
          </a:p>
        </p:txBody>
      </p:sp>
      <p:sp>
        <p:nvSpPr>
          <p:cNvPr id="13" name="Shape 10"/>
          <p:cNvSpPr/>
          <p:nvPr/>
        </p:nvSpPr>
        <p:spPr>
          <a:xfrm>
            <a:off x="8942832" y="3342132"/>
            <a:ext cx="2523744" cy="205740"/>
          </a:xfrm>
          <a:prstGeom prst="roundRect">
            <a:avLst>
              <a:gd name="adj" fmla="val 26667"/>
            </a:avLst>
          </a:prstGeom>
          <a:solidFill>
            <a:srgbClr val="1A2130"/>
          </a:solidFill>
          <a:ln w="12700">
            <a:solidFill>
              <a:srgbClr val="252D3D"/>
            </a:solidFill>
            <a:prstDash val="solid"/>
          </a:ln>
        </p:spPr>
      </p:sp>
      <p:sp>
        <p:nvSpPr>
          <p:cNvPr id="14" name="Text 11"/>
          <p:cNvSpPr txBox="1"/>
          <p:nvPr/>
        </p:nvSpPr>
        <p:spPr>
          <a:xfrm>
            <a:off x="9025128" y="3342132"/>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Backorders and availability</a:t>
            </a:r>
            <a:endParaRPr lang="en-US" sz="800" dirty="0"/>
          </a:p>
        </p:txBody>
      </p:sp>
      <p:sp>
        <p:nvSpPr>
          <p:cNvPr id="15" name="Shape 12"/>
          <p:cNvSpPr/>
          <p:nvPr/>
        </p:nvSpPr>
        <p:spPr>
          <a:xfrm>
            <a:off x="8942832" y="3566160"/>
            <a:ext cx="2523744" cy="205740"/>
          </a:xfrm>
          <a:prstGeom prst="roundRect">
            <a:avLst>
              <a:gd name="adj" fmla="val 26667"/>
            </a:avLst>
          </a:prstGeom>
          <a:solidFill>
            <a:srgbClr val="1A2130"/>
          </a:solidFill>
          <a:ln w="12700">
            <a:solidFill>
              <a:srgbClr val="252D3D"/>
            </a:solidFill>
            <a:prstDash val="solid"/>
          </a:ln>
        </p:spPr>
      </p:sp>
      <p:sp>
        <p:nvSpPr>
          <p:cNvPr id="16" name="Text 13"/>
          <p:cNvSpPr txBox="1"/>
          <p:nvPr/>
        </p:nvSpPr>
        <p:spPr>
          <a:xfrm>
            <a:off x="9025128" y="3566160"/>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Credits and returns</a:t>
            </a:r>
            <a:endParaRPr lang="en-US" sz="800" dirty="0"/>
          </a:p>
        </p:txBody>
      </p:sp>
      <p:sp>
        <p:nvSpPr>
          <p:cNvPr id="17" name="Shape 14"/>
          <p:cNvSpPr/>
          <p:nvPr/>
        </p:nvSpPr>
        <p:spPr>
          <a:xfrm>
            <a:off x="8942832" y="3790188"/>
            <a:ext cx="2523744" cy="205740"/>
          </a:xfrm>
          <a:prstGeom prst="roundRect">
            <a:avLst>
              <a:gd name="adj" fmla="val 26667"/>
            </a:avLst>
          </a:prstGeom>
          <a:solidFill>
            <a:srgbClr val="1A2130"/>
          </a:solidFill>
          <a:ln w="12700">
            <a:solidFill>
              <a:srgbClr val="252D3D"/>
            </a:solidFill>
            <a:prstDash val="solid"/>
          </a:ln>
        </p:spPr>
      </p:sp>
      <p:sp>
        <p:nvSpPr>
          <p:cNvPr id="18" name="Text 15"/>
          <p:cNvSpPr txBox="1"/>
          <p:nvPr/>
        </p:nvSpPr>
        <p:spPr>
          <a:xfrm>
            <a:off x="9025128" y="3790188"/>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Pricing and quotes</a:t>
            </a:r>
            <a:endParaRPr lang="en-US" sz="800" dirty="0"/>
          </a:p>
        </p:txBody>
      </p:sp>
      <p:sp>
        <p:nvSpPr>
          <p:cNvPr id="19" name="Shape 16"/>
          <p:cNvSpPr/>
          <p:nvPr/>
        </p:nvSpPr>
        <p:spPr>
          <a:xfrm>
            <a:off x="8942832" y="4014216"/>
            <a:ext cx="2523744" cy="205740"/>
          </a:xfrm>
          <a:prstGeom prst="roundRect">
            <a:avLst>
              <a:gd name="adj" fmla="val 26667"/>
            </a:avLst>
          </a:prstGeom>
          <a:solidFill>
            <a:srgbClr val="1A2130"/>
          </a:solidFill>
          <a:ln w="12700">
            <a:solidFill>
              <a:srgbClr val="252D3D"/>
            </a:solidFill>
            <a:prstDash val="solid"/>
          </a:ln>
        </p:spPr>
      </p:sp>
      <p:sp>
        <p:nvSpPr>
          <p:cNvPr id="20" name="Text 17"/>
          <p:cNvSpPr txBox="1"/>
          <p:nvPr/>
        </p:nvSpPr>
        <p:spPr>
          <a:xfrm>
            <a:off x="9025128" y="4014216"/>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Account and billing</a:t>
            </a:r>
            <a:endParaRPr lang="en-US" sz="800" dirty="0"/>
          </a:p>
        </p:txBody>
      </p:sp>
      <p:sp>
        <p:nvSpPr>
          <p:cNvPr id="21" name="Shape 18"/>
          <p:cNvSpPr/>
          <p:nvPr/>
        </p:nvSpPr>
        <p:spPr>
          <a:xfrm>
            <a:off x="8942832" y="4238244"/>
            <a:ext cx="2523744" cy="205740"/>
          </a:xfrm>
          <a:prstGeom prst="roundRect">
            <a:avLst>
              <a:gd name="adj" fmla="val 26667"/>
            </a:avLst>
          </a:prstGeom>
          <a:solidFill>
            <a:srgbClr val="1A2130"/>
          </a:solidFill>
          <a:ln w="12700">
            <a:solidFill>
              <a:srgbClr val="252D3D"/>
            </a:solidFill>
            <a:prstDash val="solid"/>
          </a:ln>
        </p:spPr>
      </p:sp>
      <p:sp>
        <p:nvSpPr>
          <p:cNvPr id="22" name="Text 19"/>
          <p:cNvSpPr txBox="1"/>
          <p:nvPr/>
        </p:nvSpPr>
        <p:spPr>
          <a:xfrm>
            <a:off x="9025128" y="4238244"/>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Product research</a:t>
            </a:r>
            <a:endParaRPr lang="en-US" sz="800" dirty="0"/>
          </a:p>
        </p:txBody>
      </p:sp>
      <p:sp>
        <p:nvSpPr>
          <p:cNvPr id="23" name="Shape 20"/>
          <p:cNvSpPr/>
          <p:nvPr/>
        </p:nvSpPr>
        <p:spPr>
          <a:xfrm>
            <a:off x="8942832" y="4462272"/>
            <a:ext cx="2523744" cy="205740"/>
          </a:xfrm>
          <a:prstGeom prst="roundRect">
            <a:avLst>
              <a:gd name="adj" fmla="val 26667"/>
            </a:avLst>
          </a:prstGeom>
          <a:solidFill>
            <a:srgbClr val="1A2130"/>
          </a:solidFill>
          <a:ln w="12700">
            <a:solidFill>
              <a:srgbClr val="252D3D"/>
            </a:solidFill>
            <a:prstDash val="solid"/>
          </a:ln>
        </p:spPr>
      </p:sp>
      <p:sp>
        <p:nvSpPr>
          <p:cNvPr id="24" name="Text 21"/>
          <p:cNvSpPr txBox="1"/>
          <p:nvPr/>
        </p:nvSpPr>
        <p:spPr>
          <a:xfrm>
            <a:off x="9025128" y="4462272"/>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Documentation</a:t>
            </a:r>
            <a:endParaRPr lang="en-US" sz="800" dirty="0"/>
          </a:p>
        </p:txBody>
      </p:sp>
      <p:sp>
        <p:nvSpPr>
          <p:cNvPr id="25" name="Shape 22"/>
          <p:cNvSpPr/>
          <p:nvPr/>
        </p:nvSpPr>
        <p:spPr>
          <a:xfrm>
            <a:off x="8942832" y="4686300"/>
            <a:ext cx="2523744" cy="205740"/>
          </a:xfrm>
          <a:prstGeom prst="roundRect">
            <a:avLst>
              <a:gd name="adj" fmla="val 26667"/>
            </a:avLst>
          </a:prstGeom>
          <a:solidFill>
            <a:srgbClr val="1A2130"/>
          </a:solidFill>
          <a:ln w="12700">
            <a:solidFill>
              <a:srgbClr val="252D3D"/>
            </a:solidFill>
            <a:prstDash val="solid"/>
          </a:ln>
        </p:spPr>
      </p:sp>
      <p:sp>
        <p:nvSpPr>
          <p:cNvPr id="26" name="Text 23"/>
          <p:cNvSpPr txBox="1"/>
          <p:nvPr/>
        </p:nvSpPr>
        <p:spPr>
          <a:xfrm>
            <a:off x="9025128" y="4686300"/>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System or access</a:t>
            </a:r>
            <a:endParaRPr lang="en-US" sz="800" dirty="0"/>
          </a:p>
        </p:txBody>
      </p:sp>
      <p:sp>
        <p:nvSpPr>
          <p:cNvPr id="27" name="Shape 24"/>
          <p:cNvSpPr/>
          <p:nvPr/>
        </p:nvSpPr>
        <p:spPr>
          <a:xfrm>
            <a:off x="8942832" y="4910328"/>
            <a:ext cx="2523744" cy="205740"/>
          </a:xfrm>
          <a:prstGeom prst="roundRect">
            <a:avLst>
              <a:gd name="adj" fmla="val 26667"/>
            </a:avLst>
          </a:prstGeom>
          <a:solidFill>
            <a:srgbClr val="1A2130"/>
          </a:solidFill>
          <a:ln w="12700">
            <a:solidFill>
              <a:srgbClr val="252D3D"/>
            </a:solidFill>
            <a:prstDash val="solid"/>
          </a:ln>
        </p:spPr>
      </p:sp>
      <p:sp>
        <p:nvSpPr>
          <p:cNvPr id="28" name="Text 25"/>
          <p:cNvSpPr txBox="1"/>
          <p:nvPr/>
        </p:nvSpPr>
        <p:spPr>
          <a:xfrm>
            <a:off x="9025128" y="4910328"/>
            <a:ext cx="2359152" cy="205740"/>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Other, uncategorised</a:t>
            </a:r>
            <a:endParaRPr lang="en-US" sz="800" dirty="0"/>
          </a:p>
        </p:txBody>
      </p:sp>
      <p:sp>
        <p:nvSpPr>
          <p:cNvPr id="29" name="Text 26"/>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Duplicate and no action cases are excluded from operational SLA calculation under a disposition code agreed with McKesson, so they do not distort performance either way.</a:t>
            </a:r>
            <a:endParaRPr lang="en-US" sz="750" dirty="0"/>
          </a:p>
        </p:txBody>
      </p:sp>
      <p:pic>
        <p:nvPicPr>
          <p:cNvPr id="30"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1" name="Text 2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CLASSIFICATION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PRIORITY IS DERIVED, NOT GUESSED</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Category alone does not tell you how urgent a case is. Priority is recommended from four inputs, then enforced by Flow so the same case always attracts the same treatment.</a:t>
            </a:r>
            <a:endParaRPr lang="en-US" sz="1150" dirty="0"/>
          </a:p>
        </p:txBody>
      </p:sp>
      <p:sp>
        <p:nvSpPr>
          <p:cNvPr id="5" name="Shape 3"/>
          <p:cNvSpPr/>
          <p:nvPr/>
        </p:nvSpPr>
        <p:spPr>
          <a:xfrm>
            <a:off x="502920" y="1796796"/>
            <a:ext cx="11183112" cy="420624"/>
          </a:xfrm>
          <a:prstGeom prst="roundRect">
            <a:avLst>
              <a:gd name="adj" fmla="val 8696"/>
            </a:avLst>
          </a:prstGeom>
          <a:solidFill>
            <a:srgbClr val="1A2130"/>
          </a:solidFill>
          <a:ln w="12700">
            <a:solidFill>
              <a:srgbClr val="252D3D"/>
            </a:solidFill>
            <a:prstDash val="solid"/>
          </a:ln>
        </p:spPr>
      </p:sp>
      <p:sp>
        <p:nvSpPr>
          <p:cNvPr id="6" name="Text 4"/>
          <p:cNvSpPr txBox="1"/>
          <p:nvPr/>
        </p:nvSpPr>
        <p:spPr>
          <a:xfrm>
            <a:off x="722376" y="1796796"/>
            <a:ext cx="10744200" cy="420624"/>
          </a:xfrm>
          <a:prstGeom prst="rect">
            <a:avLst/>
          </a:prstGeom>
          <a:noFill/>
          <a:ln/>
        </p:spPr>
        <p:txBody>
          <a:bodyPr wrap="square" lIns="0" tIns="0" rIns="0" bIns="0" rtlCol="0" anchor="ctr"/>
          <a:lstStyle/>
          <a:p>
            <a:pPr indent="0" marL="0">
              <a:buNone/>
            </a:pPr>
            <a:r>
              <a:rPr lang="en-US" sz="1100" b="1" spc="120" kern="0" dirty="0">
                <a:solidFill>
                  <a:srgbClr val="22D3EE"/>
                </a:solidFill>
                <a:latin typeface="Arial" pitchFamily="34" charset="0"/>
                <a:ea typeface="Arial" pitchFamily="34" charset="-122"/>
                <a:cs typeface="Arial" pitchFamily="34" charset="-120"/>
              </a:rPr>
              <a:t>PRIORITY  =  </a:t>
            </a:r>
            <a:pPr indent="0" marL="0">
              <a:buNone/>
            </a:pPr>
            <a:r>
              <a:rPr lang="en-US" sz="1100" b="1" dirty="0">
                <a:solidFill>
                  <a:srgbClr val="FFFFFF"/>
                </a:solidFill>
                <a:latin typeface="Arial" pitchFamily="34" charset="0"/>
                <a:ea typeface="Arial" pitchFamily="34" charset="-122"/>
                <a:cs typeface="Arial" pitchFamily="34" charset="-120"/>
              </a:rPr>
              <a:t>business impact</a:t>
            </a:r>
            <a:pPr indent="0" marL="0">
              <a:buNone/>
            </a:pPr>
            <a:r>
              <a:rPr lang="en-US" sz="1100" dirty="0">
                <a:solidFill>
                  <a:srgbClr val="8A94A6"/>
                </a:solidFill>
                <a:latin typeface="Arial" pitchFamily="34" charset="0"/>
                <a:ea typeface="Arial" pitchFamily="34" charset="-122"/>
                <a:cs typeface="Arial" pitchFamily="34" charset="-120"/>
              </a:rPr>
              <a:t>   +   </a:t>
            </a:r>
            <a:pPr indent="0" marL="0">
              <a:buNone/>
            </a:pPr>
            <a:r>
              <a:rPr lang="en-US" sz="1100" b="1" dirty="0">
                <a:solidFill>
                  <a:srgbClr val="FFFFFF"/>
                </a:solidFill>
                <a:latin typeface="Arial" pitchFamily="34" charset="0"/>
                <a:ea typeface="Arial" pitchFamily="34" charset="-122"/>
                <a:cs typeface="Arial" pitchFamily="34" charset="-120"/>
              </a:rPr>
              <a:t>urgency</a:t>
            </a:r>
            <a:pPr indent="0" marL="0">
              <a:buNone/>
            </a:pPr>
            <a:r>
              <a:rPr lang="en-US" sz="1100" dirty="0">
                <a:solidFill>
                  <a:srgbClr val="8A94A6"/>
                </a:solidFill>
                <a:latin typeface="Arial" pitchFamily="34" charset="0"/>
                <a:ea typeface="Arial" pitchFamily="34" charset="-122"/>
                <a:cs typeface="Arial" pitchFamily="34" charset="-120"/>
              </a:rPr>
              <a:t>   +   </a:t>
            </a:r>
            <a:pPr indent="0" marL="0">
              <a:buNone/>
            </a:pPr>
            <a:r>
              <a:rPr lang="en-US" sz="1100" b="1" dirty="0">
                <a:solidFill>
                  <a:srgbClr val="FFFFFF"/>
                </a:solidFill>
                <a:latin typeface="Arial" pitchFamily="34" charset="0"/>
                <a:ea typeface="Arial" pitchFamily="34" charset="-122"/>
                <a:cs typeface="Arial" pitchFamily="34" charset="-120"/>
              </a:rPr>
              <a:t>customer criticality</a:t>
            </a:r>
            <a:pPr indent="0" marL="0">
              <a:buNone/>
            </a:pPr>
            <a:r>
              <a:rPr lang="en-US" sz="1100" dirty="0">
                <a:solidFill>
                  <a:srgbClr val="8A94A6"/>
                </a:solidFill>
                <a:latin typeface="Arial" pitchFamily="34" charset="0"/>
                <a:ea typeface="Arial" pitchFamily="34" charset="-122"/>
                <a:cs typeface="Arial" pitchFamily="34" charset="-120"/>
              </a:rPr>
              <a:t>   +   </a:t>
            </a:r>
            <a:pPr indent="0" marL="0">
              <a:buNone/>
            </a:pPr>
            <a:r>
              <a:rPr lang="en-US" sz="1100" b="1" dirty="0">
                <a:solidFill>
                  <a:srgbClr val="FFFFFF"/>
                </a:solidFill>
                <a:latin typeface="Arial" pitchFamily="34" charset="0"/>
                <a:ea typeface="Arial" pitchFamily="34" charset="-122"/>
                <a:cs typeface="Arial" pitchFamily="34" charset="-120"/>
              </a:rPr>
              <a:t>regulatory or financial risk</a:t>
            </a:r>
            <a:endParaRPr lang="en-US" sz="1100" dirty="0"/>
          </a:p>
        </p:txBody>
      </p:sp>
      <p:sp>
        <p:nvSpPr>
          <p:cNvPr id="7" name="Shape 5"/>
          <p:cNvSpPr/>
          <p:nvPr/>
        </p:nvSpPr>
        <p:spPr>
          <a:xfrm>
            <a:off x="502920" y="2418588"/>
            <a:ext cx="2658618" cy="1993392"/>
          </a:xfrm>
          <a:prstGeom prst="roundRect">
            <a:avLst>
              <a:gd name="adj" fmla="val 1835"/>
            </a:avLst>
          </a:prstGeom>
          <a:solidFill>
            <a:srgbClr val="151A24"/>
          </a:solidFill>
          <a:ln w="12700">
            <a:solidFill>
              <a:srgbClr val="252D3D"/>
            </a:solidFill>
            <a:prstDash val="solid"/>
          </a:ln>
        </p:spPr>
      </p:sp>
      <p:sp>
        <p:nvSpPr>
          <p:cNvPr id="8" name="Shape 6"/>
          <p:cNvSpPr/>
          <p:nvPr/>
        </p:nvSpPr>
        <p:spPr>
          <a:xfrm>
            <a:off x="704088" y="2619756"/>
            <a:ext cx="402336" cy="274320"/>
          </a:xfrm>
          <a:prstGeom prst="roundRect">
            <a:avLst>
              <a:gd name="adj" fmla="val 16667"/>
            </a:avLst>
          </a:prstGeom>
          <a:solidFill>
            <a:srgbClr val="0A0D14"/>
          </a:solidFill>
          <a:ln w="12700">
            <a:solidFill>
              <a:srgbClr val="FF0069"/>
            </a:solidFill>
            <a:prstDash val="solid"/>
          </a:ln>
        </p:spPr>
      </p:sp>
      <p:sp>
        <p:nvSpPr>
          <p:cNvPr id="9" name="Text 7"/>
          <p:cNvSpPr txBox="1"/>
          <p:nvPr/>
        </p:nvSpPr>
        <p:spPr>
          <a:xfrm>
            <a:off x="704088" y="2619756"/>
            <a:ext cx="402336" cy="274320"/>
          </a:xfrm>
          <a:prstGeom prst="rect">
            <a:avLst/>
          </a:prstGeom>
          <a:noFill/>
          <a:ln/>
        </p:spPr>
        <p:txBody>
          <a:bodyPr wrap="square" lIns="0" tIns="0" rIns="0" bIns="0" rtlCol="0" anchor="ctr"/>
          <a:lstStyle/>
          <a:p>
            <a:pPr algn="ctr" indent="0" marL="0">
              <a:buNone/>
            </a:pPr>
            <a:r>
              <a:rPr lang="en-US" sz="1150" b="1" dirty="0">
                <a:solidFill>
                  <a:srgbClr val="FF0069"/>
                </a:solidFill>
                <a:latin typeface="Arial" pitchFamily="34" charset="0"/>
                <a:ea typeface="Arial" pitchFamily="34" charset="-122"/>
                <a:cs typeface="Arial" pitchFamily="34" charset="-120"/>
              </a:rPr>
              <a:t>P1</a:t>
            </a:r>
            <a:endParaRPr lang="en-US" sz="1150" dirty="0"/>
          </a:p>
        </p:txBody>
      </p:sp>
      <p:sp>
        <p:nvSpPr>
          <p:cNvPr id="10" name="Text 8"/>
          <p:cNvSpPr txBox="1"/>
          <p:nvPr/>
        </p:nvSpPr>
        <p:spPr>
          <a:xfrm>
            <a:off x="1179576" y="2619756"/>
            <a:ext cx="1780794" cy="274320"/>
          </a:xfrm>
          <a:prstGeom prst="rect">
            <a:avLst/>
          </a:prstGeom>
          <a:noFill/>
          <a:ln/>
        </p:spPr>
        <p:txBody>
          <a:bodyPr wrap="square" lIns="0" tIns="0" rIns="0" bIns="0" rtlCol="0" anchor="ctr"/>
          <a:lstStyle/>
          <a:p>
            <a:pPr indent="0" marL="0">
              <a:buNone/>
            </a:pPr>
            <a:r>
              <a:rPr lang="en-US" sz="1250" b="1" dirty="0">
                <a:solidFill>
                  <a:srgbClr val="FF0069"/>
                </a:solidFill>
                <a:latin typeface="Arial" pitchFamily="34" charset="0"/>
                <a:ea typeface="Arial" pitchFamily="34" charset="-122"/>
                <a:cs typeface="Arial" pitchFamily="34" charset="-120"/>
              </a:rPr>
              <a:t>Critical</a:t>
            </a:r>
            <a:endParaRPr lang="en-US" sz="1250" dirty="0"/>
          </a:p>
        </p:txBody>
      </p:sp>
      <p:sp>
        <p:nvSpPr>
          <p:cNvPr id="11" name="Text 9"/>
          <p:cNvSpPr txBox="1"/>
          <p:nvPr/>
        </p:nvSpPr>
        <p:spPr>
          <a:xfrm>
            <a:off x="704088"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Immediate business, patient service, compliance or widespread operational impact.</a:t>
            </a:r>
            <a:endParaRPr lang="en-US" sz="900" dirty="0"/>
          </a:p>
        </p:txBody>
      </p:sp>
      <p:sp>
        <p:nvSpPr>
          <p:cNvPr id="12" name="Text 10"/>
          <p:cNvSpPr txBox="1"/>
          <p:nvPr/>
        </p:nvSpPr>
        <p:spPr>
          <a:xfrm>
            <a:off x="704088"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TYPICAL CONDITIONS</a:t>
            </a:r>
            <a:endParaRPr lang="en-US" sz="750" dirty="0"/>
          </a:p>
        </p:txBody>
      </p:sp>
      <p:sp>
        <p:nvSpPr>
          <p:cNvPr id="13" name="Text 11"/>
          <p:cNvSpPr txBox="1"/>
          <p:nvPr/>
        </p:nvSpPr>
        <p:spPr>
          <a:xfrm>
            <a:off x="704088"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Ordering unavailable for multiple customers, critical patient delivery risk, PHI or security concern</a:t>
            </a:r>
            <a:endParaRPr lang="en-US" sz="800" dirty="0"/>
          </a:p>
        </p:txBody>
      </p:sp>
      <p:sp>
        <p:nvSpPr>
          <p:cNvPr id="14" name="Shape 12"/>
          <p:cNvSpPr/>
          <p:nvPr/>
        </p:nvSpPr>
        <p:spPr>
          <a:xfrm>
            <a:off x="3344418" y="2418588"/>
            <a:ext cx="2658618" cy="1993392"/>
          </a:xfrm>
          <a:prstGeom prst="roundRect">
            <a:avLst>
              <a:gd name="adj" fmla="val 1835"/>
            </a:avLst>
          </a:prstGeom>
          <a:solidFill>
            <a:srgbClr val="151A24"/>
          </a:solidFill>
          <a:ln w="12700">
            <a:solidFill>
              <a:srgbClr val="252D3D"/>
            </a:solidFill>
            <a:prstDash val="solid"/>
          </a:ln>
        </p:spPr>
      </p:sp>
      <p:sp>
        <p:nvSpPr>
          <p:cNvPr id="15" name="Shape 13"/>
          <p:cNvSpPr/>
          <p:nvPr/>
        </p:nvSpPr>
        <p:spPr>
          <a:xfrm>
            <a:off x="3545586" y="2619756"/>
            <a:ext cx="402336" cy="274320"/>
          </a:xfrm>
          <a:prstGeom prst="roundRect">
            <a:avLst>
              <a:gd name="adj" fmla="val 16667"/>
            </a:avLst>
          </a:prstGeom>
          <a:solidFill>
            <a:srgbClr val="0A0D14"/>
          </a:solidFill>
          <a:ln w="12700">
            <a:solidFill>
              <a:srgbClr val="F59E0B"/>
            </a:solidFill>
            <a:prstDash val="solid"/>
          </a:ln>
        </p:spPr>
      </p:sp>
      <p:sp>
        <p:nvSpPr>
          <p:cNvPr id="16" name="Text 14"/>
          <p:cNvSpPr txBox="1"/>
          <p:nvPr/>
        </p:nvSpPr>
        <p:spPr>
          <a:xfrm>
            <a:off x="3545586" y="2619756"/>
            <a:ext cx="402336" cy="274320"/>
          </a:xfrm>
          <a:prstGeom prst="rect">
            <a:avLst/>
          </a:prstGeom>
          <a:noFill/>
          <a:ln/>
        </p:spPr>
        <p:txBody>
          <a:bodyPr wrap="square" lIns="0" tIns="0" rIns="0" bIns="0" rtlCol="0" anchor="ctr"/>
          <a:lstStyle/>
          <a:p>
            <a:pPr algn="ctr" indent="0" marL="0">
              <a:buNone/>
            </a:pPr>
            <a:r>
              <a:rPr lang="en-US" sz="1150" b="1" dirty="0">
                <a:solidFill>
                  <a:srgbClr val="F59E0B"/>
                </a:solidFill>
                <a:latin typeface="Arial" pitchFamily="34" charset="0"/>
                <a:ea typeface="Arial" pitchFamily="34" charset="-122"/>
                <a:cs typeface="Arial" pitchFamily="34" charset="-120"/>
              </a:rPr>
              <a:t>P2</a:t>
            </a:r>
            <a:endParaRPr lang="en-US" sz="1150" dirty="0"/>
          </a:p>
        </p:txBody>
      </p:sp>
      <p:sp>
        <p:nvSpPr>
          <p:cNvPr id="17" name="Text 15"/>
          <p:cNvSpPr txBox="1"/>
          <p:nvPr/>
        </p:nvSpPr>
        <p:spPr>
          <a:xfrm>
            <a:off x="4021074" y="2619756"/>
            <a:ext cx="1780794" cy="274320"/>
          </a:xfrm>
          <a:prstGeom prst="rect">
            <a:avLst/>
          </a:prstGeom>
          <a:noFill/>
          <a:ln/>
        </p:spPr>
        <p:txBody>
          <a:bodyPr wrap="square" lIns="0" tIns="0" rIns="0" bIns="0" rtlCol="0" anchor="ctr"/>
          <a:lstStyle/>
          <a:p>
            <a:pPr indent="0" marL="0">
              <a:buNone/>
            </a:pPr>
            <a:r>
              <a:rPr lang="en-US" sz="1250" b="1" dirty="0">
                <a:solidFill>
                  <a:srgbClr val="F59E0B"/>
                </a:solidFill>
                <a:latin typeface="Arial" pitchFamily="34" charset="0"/>
                <a:ea typeface="Arial" pitchFamily="34" charset="-122"/>
                <a:cs typeface="Arial" pitchFamily="34" charset="-120"/>
              </a:rPr>
              <a:t>High</a:t>
            </a:r>
            <a:endParaRPr lang="en-US" sz="1250" dirty="0"/>
          </a:p>
        </p:txBody>
      </p:sp>
      <p:sp>
        <p:nvSpPr>
          <p:cNvPr id="18" name="Text 16"/>
          <p:cNvSpPr txBox="1"/>
          <p:nvPr/>
        </p:nvSpPr>
        <p:spPr>
          <a:xfrm>
            <a:off x="3545586"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Significant customer impact requiring rapid action.</a:t>
            </a:r>
            <a:endParaRPr lang="en-US" sz="900" dirty="0"/>
          </a:p>
        </p:txBody>
      </p:sp>
      <p:sp>
        <p:nvSpPr>
          <p:cNvPr id="19" name="Text 17"/>
          <p:cNvSpPr txBox="1"/>
          <p:nvPr/>
        </p:nvSpPr>
        <p:spPr>
          <a:xfrm>
            <a:off x="3545586"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TYPICAL CONDITIONS</a:t>
            </a:r>
            <a:endParaRPr lang="en-US" sz="750" dirty="0"/>
          </a:p>
        </p:txBody>
      </p:sp>
      <p:sp>
        <p:nvSpPr>
          <p:cNvPr id="20" name="Text 18"/>
          <p:cNvSpPr txBox="1"/>
          <p:nvPr/>
        </p:nvSpPr>
        <p:spPr>
          <a:xfrm>
            <a:off x="3545586"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Urgent order placement, time sensitive modification, major delivery exception</a:t>
            </a:r>
            <a:endParaRPr lang="en-US" sz="800" dirty="0"/>
          </a:p>
        </p:txBody>
      </p:sp>
      <p:sp>
        <p:nvSpPr>
          <p:cNvPr id="21" name="Shape 19"/>
          <p:cNvSpPr/>
          <p:nvPr/>
        </p:nvSpPr>
        <p:spPr>
          <a:xfrm>
            <a:off x="6185916" y="2418588"/>
            <a:ext cx="2658618" cy="1993392"/>
          </a:xfrm>
          <a:prstGeom prst="roundRect">
            <a:avLst>
              <a:gd name="adj" fmla="val 1835"/>
            </a:avLst>
          </a:prstGeom>
          <a:solidFill>
            <a:srgbClr val="151A24"/>
          </a:solidFill>
          <a:ln w="12700">
            <a:solidFill>
              <a:srgbClr val="252D3D"/>
            </a:solidFill>
            <a:prstDash val="solid"/>
          </a:ln>
        </p:spPr>
      </p:sp>
      <p:sp>
        <p:nvSpPr>
          <p:cNvPr id="22" name="Shape 20"/>
          <p:cNvSpPr/>
          <p:nvPr/>
        </p:nvSpPr>
        <p:spPr>
          <a:xfrm>
            <a:off x="6387084" y="2619756"/>
            <a:ext cx="402336" cy="274320"/>
          </a:xfrm>
          <a:prstGeom prst="roundRect">
            <a:avLst>
              <a:gd name="adj" fmla="val 16667"/>
            </a:avLst>
          </a:prstGeom>
          <a:solidFill>
            <a:srgbClr val="0A0D14"/>
          </a:solidFill>
          <a:ln w="12700">
            <a:solidFill>
              <a:srgbClr val="22D3EE"/>
            </a:solidFill>
            <a:prstDash val="solid"/>
          </a:ln>
        </p:spPr>
      </p:sp>
      <p:sp>
        <p:nvSpPr>
          <p:cNvPr id="23" name="Text 21"/>
          <p:cNvSpPr txBox="1"/>
          <p:nvPr/>
        </p:nvSpPr>
        <p:spPr>
          <a:xfrm>
            <a:off x="6387084" y="2619756"/>
            <a:ext cx="402336" cy="274320"/>
          </a:xfrm>
          <a:prstGeom prst="rect">
            <a:avLst/>
          </a:prstGeom>
          <a:noFill/>
          <a:ln/>
        </p:spPr>
        <p:txBody>
          <a:bodyPr wrap="square" lIns="0" tIns="0" rIns="0" bIns="0" rtlCol="0" anchor="ctr"/>
          <a:lstStyle/>
          <a:p>
            <a:pPr algn="ctr" indent="0" marL="0">
              <a:buNone/>
            </a:pPr>
            <a:r>
              <a:rPr lang="en-US" sz="1150" b="1" dirty="0">
                <a:solidFill>
                  <a:srgbClr val="22D3EE"/>
                </a:solidFill>
                <a:latin typeface="Arial" pitchFamily="34" charset="0"/>
                <a:ea typeface="Arial" pitchFamily="34" charset="-122"/>
                <a:cs typeface="Arial" pitchFamily="34" charset="-120"/>
              </a:rPr>
              <a:t>P3</a:t>
            </a:r>
            <a:endParaRPr lang="en-US" sz="1150" dirty="0"/>
          </a:p>
        </p:txBody>
      </p:sp>
      <p:sp>
        <p:nvSpPr>
          <p:cNvPr id="24" name="Text 22"/>
          <p:cNvSpPr txBox="1"/>
          <p:nvPr/>
        </p:nvSpPr>
        <p:spPr>
          <a:xfrm>
            <a:off x="6862572" y="2619756"/>
            <a:ext cx="1780794" cy="274320"/>
          </a:xfrm>
          <a:prstGeom prst="rect">
            <a:avLst/>
          </a:prstGeom>
          <a:noFill/>
          <a:ln/>
        </p:spPr>
        <p:txBody>
          <a:bodyPr wrap="square" lIns="0" tIns="0" rIns="0" bIns="0" rtlCol="0" anchor="ctr"/>
          <a:lstStyle/>
          <a:p>
            <a:pPr indent="0" marL="0">
              <a:buNone/>
            </a:pPr>
            <a:r>
              <a:rPr lang="en-US" sz="1250" b="1" dirty="0">
                <a:solidFill>
                  <a:srgbClr val="22D3EE"/>
                </a:solidFill>
                <a:latin typeface="Arial" pitchFamily="34" charset="0"/>
                <a:ea typeface="Arial" pitchFamily="34" charset="-122"/>
                <a:cs typeface="Arial" pitchFamily="34" charset="-120"/>
              </a:rPr>
              <a:t>Standard</a:t>
            </a:r>
            <a:endParaRPr lang="en-US" sz="1250" dirty="0"/>
          </a:p>
        </p:txBody>
      </p:sp>
      <p:sp>
        <p:nvSpPr>
          <p:cNvPr id="25" name="Text 23"/>
          <p:cNvSpPr txBox="1"/>
          <p:nvPr/>
        </p:nvSpPr>
        <p:spPr>
          <a:xfrm>
            <a:off x="6387084"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Normal operational request or question.</a:t>
            </a:r>
            <a:endParaRPr lang="en-US" sz="900" dirty="0"/>
          </a:p>
        </p:txBody>
      </p:sp>
      <p:sp>
        <p:nvSpPr>
          <p:cNvPr id="26" name="Text 24"/>
          <p:cNvSpPr txBox="1"/>
          <p:nvPr/>
        </p:nvSpPr>
        <p:spPr>
          <a:xfrm>
            <a:off x="6387084"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TYPICAL CONDITIONS</a:t>
            </a:r>
            <a:endParaRPr lang="en-US" sz="750" dirty="0"/>
          </a:p>
        </p:txBody>
      </p:sp>
      <p:sp>
        <p:nvSpPr>
          <p:cNvPr id="27" name="Text 25"/>
          <p:cNvSpPr txBox="1"/>
          <p:nvPr/>
        </p:nvSpPr>
        <p:spPr>
          <a:xfrm>
            <a:off x="6387084"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Routine order status, product availability, standard account inquiry</a:t>
            </a:r>
            <a:endParaRPr lang="en-US" sz="800" dirty="0"/>
          </a:p>
        </p:txBody>
      </p:sp>
      <p:sp>
        <p:nvSpPr>
          <p:cNvPr id="28" name="Shape 26"/>
          <p:cNvSpPr/>
          <p:nvPr/>
        </p:nvSpPr>
        <p:spPr>
          <a:xfrm>
            <a:off x="9027414" y="2418588"/>
            <a:ext cx="2658618" cy="1993392"/>
          </a:xfrm>
          <a:prstGeom prst="roundRect">
            <a:avLst>
              <a:gd name="adj" fmla="val 1835"/>
            </a:avLst>
          </a:prstGeom>
          <a:solidFill>
            <a:srgbClr val="151A24"/>
          </a:solidFill>
          <a:ln w="12700">
            <a:solidFill>
              <a:srgbClr val="252D3D"/>
            </a:solidFill>
            <a:prstDash val="solid"/>
          </a:ln>
        </p:spPr>
      </p:sp>
      <p:sp>
        <p:nvSpPr>
          <p:cNvPr id="29" name="Shape 27"/>
          <p:cNvSpPr/>
          <p:nvPr/>
        </p:nvSpPr>
        <p:spPr>
          <a:xfrm>
            <a:off x="9228582" y="2619756"/>
            <a:ext cx="402336" cy="274320"/>
          </a:xfrm>
          <a:prstGeom prst="roundRect">
            <a:avLst>
              <a:gd name="adj" fmla="val 16667"/>
            </a:avLst>
          </a:prstGeom>
          <a:solidFill>
            <a:srgbClr val="0A0D14"/>
          </a:solidFill>
          <a:ln w="12700">
            <a:solidFill>
              <a:srgbClr val="8A94A6"/>
            </a:solidFill>
            <a:prstDash val="solid"/>
          </a:ln>
        </p:spPr>
      </p:sp>
      <p:sp>
        <p:nvSpPr>
          <p:cNvPr id="30" name="Text 28"/>
          <p:cNvSpPr txBox="1"/>
          <p:nvPr/>
        </p:nvSpPr>
        <p:spPr>
          <a:xfrm>
            <a:off x="9228582" y="2619756"/>
            <a:ext cx="402336" cy="274320"/>
          </a:xfrm>
          <a:prstGeom prst="rect">
            <a:avLst/>
          </a:prstGeom>
          <a:noFill/>
          <a:ln/>
        </p:spPr>
        <p:txBody>
          <a:bodyPr wrap="square" lIns="0" tIns="0" rIns="0" bIns="0" rtlCol="0" anchor="ctr"/>
          <a:lstStyle/>
          <a:p>
            <a:pPr algn="ctr" indent="0" marL="0">
              <a:buNone/>
            </a:pPr>
            <a:r>
              <a:rPr lang="en-US" sz="1150" b="1" dirty="0">
                <a:solidFill>
                  <a:srgbClr val="8A94A6"/>
                </a:solidFill>
                <a:latin typeface="Arial" pitchFamily="34" charset="0"/>
                <a:ea typeface="Arial" pitchFamily="34" charset="-122"/>
                <a:cs typeface="Arial" pitchFamily="34" charset="-120"/>
              </a:rPr>
              <a:t>P4</a:t>
            </a:r>
            <a:endParaRPr lang="en-US" sz="1150" dirty="0"/>
          </a:p>
        </p:txBody>
      </p:sp>
      <p:sp>
        <p:nvSpPr>
          <p:cNvPr id="31" name="Text 29"/>
          <p:cNvSpPr txBox="1"/>
          <p:nvPr/>
        </p:nvSpPr>
        <p:spPr>
          <a:xfrm>
            <a:off x="9704070" y="2619756"/>
            <a:ext cx="1780794" cy="274320"/>
          </a:xfrm>
          <a:prstGeom prst="rect">
            <a:avLst/>
          </a:prstGeom>
          <a:noFill/>
          <a:ln/>
        </p:spPr>
        <p:txBody>
          <a:bodyPr wrap="square" lIns="0" tIns="0" rIns="0" bIns="0" rtlCol="0" anchor="ctr"/>
          <a:lstStyle/>
          <a:p>
            <a:pPr indent="0" marL="0">
              <a:buNone/>
            </a:pPr>
            <a:r>
              <a:rPr lang="en-US" sz="1250" b="1" dirty="0">
                <a:solidFill>
                  <a:srgbClr val="8A94A6"/>
                </a:solidFill>
                <a:latin typeface="Arial" pitchFamily="34" charset="0"/>
                <a:ea typeface="Arial" pitchFamily="34" charset="-122"/>
                <a:cs typeface="Arial" pitchFamily="34" charset="-120"/>
              </a:rPr>
              <a:t>Low</a:t>
            </a:r>
            <a:endParaRPr lang="en-US" sz="1250" dirty="0"/>
          </a:p>
        </p:txBody>
      </p:sp>
      <p:sp>
        <p:nvSpPr>
          <p:cNvPr id="32" name="Text 30"/>
          <p:cNvSpPr txBox="1"/>
          <p:nvPr/>
        </p:nvSpPr>
        <p:spPr>
          <a:xfrm>
            <a:off x="9228582" y="3022092"/>
            <a:ext cx="2256282" cy="585216"/>
          </a:xfrm>
          <a:prstGeom prst="rect">
            <a:avLst/>
          </a:prstGeom>
          <a:noFill/>
          <a:ln/>
        </p:spPr>
        <p:txBody>
          <a:bodyPr wrap="square" lIns="0" tIns="0" rIns="0" bIns="0" rtlCol="0" anchor="t"/>
          <a:lstStyle/>
          <a:p>
            <a:pPr indent="0" marL="0">
              <a:lnSpc>
                <a:spcPts val="1200"/>
              </a:lnSpc>
              <a:buNone/>
            </a:pPr>
            <a:r>
              <a:rPr lang="en-US" sz="900" dirty="0">
                <a:solidFill>
                  <a:srgbClr val="E6EAF2"/>
                </a:solidFill>
                <a:latin typeface="Arial" pitchFamily="34" charset="0"/>
                <a:ea typeface="Arial" pitchFamily="34" charset="-122"/>
                <a:cs typeface="Arial" pitchFamily="34" charset="-120"/>
              </a:rPr>
              <a:t>Low impact administrative or research work.</a:t>
            </a:r>
            <a:endParaRPr lang="en-US" sz="900" dirty="0"/>
          </a:p>
        </p:txBody>
      </p:sp>
      <p:sp>
        <p:nvSpPr>
          <p:cNvPr id="33" name="Text 31"/>
          <p:cNvSpPr txBox="1"/>
          <p:nvPr/>
        </p:nvSpPr>
        <p:spPr>
          <a:xfrm>
            <a:off x="9228582" y="3643884"/>
            <a:ext cx="2256282"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TYPICAL CONDITIONS</a:t>
            </a:r>
            <a:endParaRPr lang="en-US" sz="750" dirty="0"/>
          </a:p>
        </p:txBody>
      </p:sp>
      <p:sp>
        <p:nvSpPr>
          <p:cNvPr id="34" name="Text 32"/>
          <p:cNvSpPr txBox="1"/>
          <p:nvPr/>
        </p:nvSpPr>
        <p:spPr>
          <a:xfrm>
            <a:off x="9228582" y="3845052"/>
            <a:ext cx="2256282" cy="493776"/>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General information, document request, non urgent product research</a:t>
            </a:r>
            <a:endParaRPr lang="en-US" sz="800" dirty="0"/>
          </a:p>
        </p:txBody>
      </p:sp>
      <p:sp>
        <p:nvSpPr>
          <p:cNvPr id="35" name="Shape 33"/>
          <p:cNvSpPr/>
          <p:nvPr/>
        </p:nvSpPr>
        <p:spPr>
          <a:xfrm>
            <a:off x="502920" y="4613148"/>
            <a:ext cx="11183112" cy="987552"/>
          </a:xfrm>
          <a:prstGeom prst="roundRect">
            <a:avLst>
              <a:gd name="adj" fmla="val 3704"/>
            </a:avLst>
          </a:prstGeom>
          <a:solidFill>
            <a:srgbClr val="151A24"/>
          </a:solidFill>
          <a:ln w="12700">
            <a:solidFill>
              <a:srgbClr val="252D3D"/>
            </a:solidFill>
            <a:prstDash val="solid"/>
          </a:ln>
        </p:spPr>
      </p:sp>
      <p:sp>
        <p:nvSpPr>
          <p:cNvPr id="36" name="Text 34"/>
          <p:cNvSpPr txBox="1"/>
          <p:nvPr/>
        </p:nvSpPr>
        <p:spPr>
          <a:xfrm>
            <a:off x="722376" y="4741164"/>
            <a:ext cx="548640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CONTROLS THAT KEEP PRIORITY HONEST</a:t>
            </a:r>
            <a:endParaRPr lang="en-US" sz="1000" dirty="0"/>
          </a:p>
        </p:txBody>
      </p:sp>
      <p:sp>
        <p:nvSpPr>
          <p:cNvPr id="37" name="Text 35"/>
          <p:cNvSpPr txBox="1"/>
          <p:nvPr/>
        </p:nvSpPr>
        <p:spPr>
          <a:xfrm>
            <a:off x="722376" y="5015484"/>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Arial" pitchFamily="34" charset="0"/>
                <a:ea typeface="Arial" pitchFamily="34" charset="-122"/>
                <a:cs typeface="Arial" pitchFamily="34" charset="-120"/>
              </a:rPr>
              <a:t>Priority is recommended by the template and set by Flow, never left blank.</a:t>
            </a:r>
            <a:endParaRPr lang="en-US" sz="850" dirty="0"/>
          </a:p>
        </p:txBody>
      </p:sp>
      <p:sp>
        <p:nvSpPr>
          <p:cNvPr id="38" name="Text 36"/>
          <p:cNvSpPr txBox="1"/>
          <p:nvPr/>
        </p:nvSpPr>
        <p:spPr>
          <a:xfrm>
            <a:off x="4379976" y="5015484"/>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Arial" pitchFamily="34" charset="0"/>
                <a:ea typeface="Arial" pitchFamily="34" charset="-122"/>
                <a:cs typeface="Arial" pitchFamily="34" charset="-120"/>
              </a:rPr>
              <a:t>An agent may change priority only with a recorded reason.</a:t>
            </a:r>
            <a:endParaRPr lang="en-US" sz="850" dirty="0"/>
          </a:p>
        </p:txBody>
      </p:sp>
      <p:sp>
        <p:nvSpPr>
          <p:cNvPr id="39" name="Text 37"/>
          <p:cNvSpPr txBox="1"/>
          <p:nvPr/>
        </p:nvSpPr>
        <p:spPr>
          <a:xfrm>
            <a:off x="8037576" y="5015484"/>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Arial" pitchFamily="34" charset="0"/>
                <a:ea typeface="Arial" pitchFamily="34" charset="-122"/>
                <a:cs typeface="Arial" pitchFamily="34" charset="-120"/>
              </a:rPr>
              <a:t>P1 and P2 downgrades require Shift Lead approval.</a:t>
            </a:r>
            <a:endParaRPr lang="en-US" sz="850" dirty="0"/>
          </a:p>
        </p:txBody>
      </p:sp>
      <p:sp>
        <p:nvSpPr>
          <p:cNvPr id="40" name="Text 38"/>
          <p:cNvSpPr txBox="1"/>
          <p:nvPr/>
        </p:nvSpPr>
        <p:spPr>
          <a:xfrm>
            <a:off x="722376" y="5271516"/>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Arial" pitchFamily="34" charset="0"/>
                <a:ea typeface="Arial" pitchFamily="34" charset="-122"/>
                <a:cs typeface="Arial" pitchFamily="34" charset="-120"/>
              </a:rPr>
              <a:t>Premium and VIP accounts carry a separately defined uplift rule.</a:t>
            </a:r>
            <a:endParaRPr lang="en-US" sz="850" dirty="0"/>
          </a:p>
        </p:txBody>
      </p:sp>
      <p:sp>
        <p:nvSpPr>
          <p:cNvPr id="41" name="Text 39"/>
          <p:cNvSpPr txBox="1"/>
          <p:nvPr/>
        </p:nvSpPr>
        <p:spPr>
          <a:xfrm>
            <a:off x="4379976" y="5271516"/>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Arial" pitchFamily="34" charset="0"/>
                <a:ea typeface="Arial" pitchFamily="34" charset="-122"/>
                <a:cs typeface="Arial" pitchFamily="34" charset="-120"/>
              </a:rPr>
              <a:t>Every priority change is written to the case audit history.</a:t>
            </a:r>
            <a:endParaRPr lang="en-US" sz="850" dirty="0"/>
          </a:p>
        </p:txBody>
      </p:sp>
      <p:sp>
        <p:nvSpPr>
          <p:cNvPr id="42" name="Text 40"/>
          <p:cNvSpPr txBox="1"/>
          <p:nvPr/>
        </p:nvSpPr>
        <p:spPr>
          <a:xfrm>
            <a:off x="8037576" y="5271516"/>
            <a:ext cx="3520440" cy="237744"/>
          </a:xfrm>
          <a:prstGeom prst="rect">
            <a:avLst/>
          </a:prstGeom>
          <a:noFill/>
          <a:ln/>
        </p:spPr>
        <p:txBody>
          <a:bodyPr wrap="square" lIns="0" tIns="0" rIns="0" bIns="0" rtlCol="0" anchor="ctr"/>
          <a:lstStyle/>
          <a:p>
            <a:pPr indent="0" marL="0">
              <a:buNone/>
            </a:pPr>
            <a:r>
              <a:rPr lang="en-US" sz="850" dirty="0">
                <a:solidFill>
                  <a:srgbClr val="8A94A6"/>
                </a:solidFill>
                <a:latin typeface="Arial" pitchFamily="34" charset="0"/>
                <a:ea typeface="Arial" pitchFamily="34" charset="-122"/>
                <a:cs typeface="Arial" pitchFamily="34" charset="-120"/>
              </a:rPr>
              <a:t>Ageing alone can raise priority once a case passes an agreed threshold.</a:t>
            </a:r>
            <a:endParaRPr lang="en-US" sz="850" dirty="0"/>
          </a:p>
        </p:txBody>
      </p:sp>
      <p:pic>
        <p:nvPicPr>
          <p:cNvPr id="43"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4" name="Text 41"/>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STAGE 03</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ROUTED TO THE RIGHT TEAM, NOT THE NEXT FREE AGENT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Omni Channel takes the category, service family and priority set in stage 02 and pushes the case to an agent who holds the skill and has the capacity to work it now.</a:t>
            </a:r>
            <a:endParaRPr lang="en-US" sz="1150" dirty="0"/>
          </a:p>
        </p:txBody>
      </p:sp>
      <p:sp>
        <p:nvSpPr>
          <p:cNvPr id="5" name="Shape 3"/>
          <p:cNvSpPr/>
          <p:nvPr/>
        </p:nvSpPr>
        <p:spPr>
          <a:xfrm>
            <a:off x="502920" y="1796796"/>
            <a:ext cx="5120640" cy="3584448"/>
          </a:xfrm>
          <a:prstGeom prst="roundRect">
            <a:avLst>
              <a:gd name="adj" fmla="val 1020"/>
            </a:avLst>
          </a:prstGeom>
          <a:solidFill>
            <a:srgbClr val="151A24"/>
          </a:solidFill>
          <a:ln w="12700">
            <a:solidFill>
              <a:srgbClr val="252D3D"/>
            </a:solidFill>
            <a:prstDash val="solid"/>
          </a:ln>
        </p:spPr>
      </p:sp>
      <p:sp>
        <p:nvSpPr>
          <p:cNvPr id="6" name="Text 4"/>
          <p:cNvSpPr txBox="1"/>
          <p:nvPr/>
        </p:nvSpPr>
        <p:spPr>
          <a:xfrm>
            <a:off x="740664" y="1997964"/>
            <a:ext cx="466344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HOW ASSIGNMENT IS DECIDED</a:t>
            </a:r>
            <a:endParaRPr lang="en-US" sz="1050" dirty="0"/>
          </a:p>
        </p:txBody>
      </p:sp>
      <p:sp>
        <p:nvSpPr>
          <p:cNvPr id="7" name="Shape 5"/>
          <p:cNvSpPr/>
          <p:nvPr/>
        </p:nvSpPr>
        <p:spPr>
          <a:xfrm>
            <a:off x="740664" y="2482596"/>
            <a:ext cx="237744" cy="237744"/>
          </a:xfrm>
          <a:prstGeom prst="roundRect">
            <a:avLst>
              <a:gd name="adj" fmla="val 19231"/>
            </a:avLst>
          </a:prstGeom>
          <a:solidFill>
            <a:srgbClr val="0A0D14"/>
          </a:solidFill>
          <a:ln w="12700">
            <a:solidFill>
              <a:srgbClr val="22D3EE"/>
            </a:solidFill>
            <a:prstDash val="solid"/>
          </a:ln>
        </p:spPr>
      </p:sp>
      <p:sp>
        <p:nvSpPr>
          <p:cNvPr id="8" name="Text 6"/>
          <p:cNvSpPr txBox="1"/>
          <p:nvPr/>
        </p:nvSpPr>
        <p:spPr>
          <a:xfrm>
            <a:off x="740664" y="248259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1</a:t>
            </a:r>
            <a:endParaRPr lang="en-US" sz="950" dirty="0"/>
          </a:p>
        </p:txBody>
      </p:sp>
      <p:sp>
        <p:nvSpPr>
          <p:cNvPr id="9" name="Text 7"/>
          <p:cNvSpPr txBox="1"/>
          <p:nvPr/>
        </p:nvSpPr>
        <p:spPr>
          <a:xfrm>
            <a:off x="1069848" y="2418588"/>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Queue</a:t>
            </a:r>
            <a:endParaRPr lang="en-US" sz="950" dirty="0"/>
          </a:p>
        </p:txBody>
      </p:sp>
      <p:sp>
        <p:nvSpPr>
          <p:cNvPr id="10" name="Text 8"/>
          <p:cNvSpPr txBox="1"/>
          <p:nvPr/>
        </p:nvSpPr>
        <p:spPr>
          <a:xfrm>
            <a:off x="2148840" y="2418588"/>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service family selects the queue. Credits never lands in the order placement queue by accident.</a:t>
            </a:r>
            <a:endParaRPr lang="en-US" sz="850" dirty="0"/>
          </a:p>
        </p:txBody>
      </p:sp>
      <p:sp>
        <p:nvSpPr>
          <p:cNvPr id="11" name="Shape 9"/>
          <p:cNvSpPr/>
          <p:nvPr/>
        </p:nvSpPr>
        <p:spPr>
          <a:xfrm>
            <a:off x="740664" y="2967228"/>
            <a:ext cx="237744" cy="237744"/>
          </a:xfrm>
          <a:prstGeom prst="roundRect">
            <a:avLst>
              <a:gd name="adj" fmla="val 19231"/>
            </a:avLst>
          </a:prstGeom>
          <a:solidFill>
            <a:srgbClr val="0A0D14"/>
          </a:solidFill>
          <a:ln w="12700">
            <a:solidFill>
              <a:srgbClr val="22D3EE"/>
            </a:solidFill>
            <a:prstDash val="solid"/>
          </a:ln>
        </p:spPr>
      </p:sp>
      <p:sp>
        <p:nvSpPr>
          <p:cNvPr id="12" name="Text 10"/>
          <p:cNvSpPr txBox="1"/>
          <p:nvPr/>
        </p:nvSpPr>
        <p:spPr>
          <a:xfrm>
            <a:off x="740664" y="2967228"/>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2</a:t>
            </a:r>
            <a:endParaRPr lang="en-US" sz="950" dirty="0"/>
          </a:p>
        </p:txBody>
      </p:sp>
      <p:sp>
        <p:nvSpPr>
          <p:cNvPr id="13" name="Text 11"/>
          <p:cNvSpPr txBox="1"/>
          <p:nvPr/>
        </p:nvSpPr>
        <p:spPr>
          <a:xfrm>
            <a:off x="1069848" y="2903220"/>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Skill</a:t>
            </a:r>
            <a:endParaRPr lang="en-US" sz="950" dirty="0"/>
          </a:p>
        </p:txBody>
      </p:sp>
      <p:sp>
        <p:nvSpPr>
          <p:cNvPr id="14" name="Text 12"/>
          <p:cNvSpPr txBox="1"/>
          <p:nvPr/>
        </p:nvSpPr>
        <p:spPr>
          <a:xfrm>
            <a:off x="2148840" y="2903220"/>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Skills based routing requires the matching competency, so complex credits reach senior agents.</a:t>
            </a:r>
            <a:endParaRPr lang="en-US" sz="850" dirty="0"/>
          </a:p>
        </p:txBody>
      </p:sp>
      <p:sp>
        <p:nvSpPr>
          <p:cNvPr id="15" name="Shape 13"/>
          <p:cNvSpPr/>
          <p:nvPr/>
        </p:nvSpPr>
        <p:spPr>
          <a:xfrm>
            <a:off x="740664" y="3451860"/>
            <a:ext cx="237744" cy="237744"/>
          </a:xfrm>
          <a:prstGeom prst="roundRect">
            <a:avLst>
              <a:gd name="adj" fmla="val 19231"/>
            </a:avLst>
          </a:prstGeom>
          <a:solidFill>
            <a:srgbClr val="0A0D14"/>
          </a:solidFill>
          <a:ln w="12700">
            <a:solidFill>
              <a:srgbClr val="22D3EE"/>
            </a:solidFill>
            <a:prstDash val="solid"/>
          </a:ln>
        </p:spPr>
      </p:sp>
      <p:sp>
        <p:nvSpPr>
          <p:cNvPr id="16" name="Text 14"/>
          <p:cNvSpPr txBox="1"/>
          <p:nvPr/>
        </p:nvSpPr>
        <p:spPr>
          <a:xfrm>
            <a:off x="740664" y="345186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3</a:t>
            </a:r>
            <a:endParaRPr lang="en-US" sz="950" dirty="0"/>
          </a:p>
        </p:txBody>
      </p:sp>
      <p:sp>
        <p:nvSpPr>
          <p:cNvPr id="17" name="Text 15"/>
          <p:cNvSpPr txBox="1"/>
          <p:nvPr/>
        </p:nvSpPr>
        <p:spPr>
          <a:xfrm>
            <a:off x="1069848" y="3387852"/>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Capacity</a:t>
            </a:r>
            <a:endParaRPr lang="en-US" sz="950" dirty="0"/>
          </a:p>
        </p:txBody>
      </p:sp>
      <p:sp>
        <p:nvSpPr>
          <p:cNvPr id="18" name="Text 16"/>
          <p:cNvSpPr txBox="1"/>
          <p:nvPr/>
        </p:nvSpPr>
        <p:spPr>
          <a:xfrm>
            <a:off x="2148840" y="3387852"/>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Each agent carries a work item capacity, so a case is only pushed to someone able to start it.</a:t>
            </a:r>
            <a:endParaRPr lang="en-US" sz="850" dirty="0"/>
          </a:p>
        </p:txBody>
      </p:sp>
      <p:sp>
        <p:nvSpPr>
          <p:cNvPr id="19" name="Shape 17"/>
          <p:cNvSpPr/>
          <p:nvPr/>
        </p:nvSpPr>
        <p:spPr>
          <a:xfrm>
            <a:off x="740664" y="3936492"/>
            <a:ext cx="237744" cy="237744"/>
          </a:xfrm>
          <a:prstGeom prst="roundRect">
            <a:avLst>
              <a:gd name="adj" fmla="val 19231"/>
            </a:avLst>
          </a:prstGeom>
          <a:solidFill>
            <a:srgbClr val="0A0D14"/>
          </a:solidFill>
          <a:ln w="12700">
            <a:solidFill>
              <a:srgbClr val="22D3EE"/>
            </a:solidFill>
            <a:prstDash val="solid"/>
          </a:ln>
        </p:spPr>
      </p:sp>
      <p:sp>
        <p:nvSpPr>
          <p:cNvPr id="20" name="Text 18"/>
          <p:cNvSpPr txBox="1"/>
          <p:nvPr/>
        </p:nvSpPr>
        <p:spPr>
          <a:xfrm>
            <a:off x="740664" y="393649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4</a:t>
            </a:r>
            <a:endParaRPr lang="en-US" sz="950" dirty="0"/>
          </a:p>
        </p:txBody>
      </p:sp>
      <p:sp>
        <p:nvSpPr>
          <p:cNvPr id="21" name="Text 19"/>
          <p:cNvSpPr txBox="1"/>
          <p:nvPr/>
        </p:nvSpPr>
        <p:spPr>
          <a:xfrm>
            <a:off x="1069848" y="3872484"/>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Priority</a:t>
            </a:r>
            <a:endParaRPr lang="en-US" sz="950" dirty="0"/>
          </a:p>
        </p:txBody>
      </p:sp>
      <p:sp>
        <p:nvSpPr>
          <p:cNvPr id="22" name="Text 20"/>
          <p:cNvSpPr txBox="1"/>
          <p:nvPr/>
        </p:nvSpPr>
        <p:spPr>
          <a:xfrm>
            <a:off x="2148840" y="3872484"/>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Higher priority work is presented first, so a P1 does not sit behind routine status requests.</a:t>
            </a:r>
            <a:endParaRPr lang="en-US" sz="850" dirty="0"/>
          </a:p>
        </p:txBody>
      </p:sp>
      <p:sp>
        <p:nvSpPr>
          <p:cNvPr id="23" name="Shape 21"/>
          <p:cNvSpPr/>
          <p:nvPr/>
        </p:nvSpPr>
        <p:spPr>
          <a:xfrm>
            <a:off x="740664" y="4421124"/>
            <a:ext cx="237744" cy="237744"/>
          </a:xfrm>
          <a:prstGeom prst="roundRect">
            <a:avLst>
              <a:gd name="adj" fmla="val 19231"/>
            </a:avLst>
          </a:prstGeom>
          <a:solidFill>
            <a:srgbClr val="0A0D14"/>
          </a:solidFill>
          <a:ln w="12700">
            <a:solidFill>
              <a:srgbClr val="22D3EE"/>
            </a:solidFill>
            <a:prstDash val="solid"/>
          </a:ln>
        </p:spPr>
      </p:sp>
      <p:sp>
        <p:nvSpPr>
          <p:cNvPr id="24" name="Text 22"/>
          <p:cNvSpPr txBox="1"/>
          <p:nvPr/>
        </p:nvSpPr>
        <p:spPr>
          <a:xfrm>
            <a:off x="740664" y="4421124"/>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5</a:t>
            </a:r>
            <a:endParaRPr lang="en-US" sz="950" dirty="0"/>
          </a:p>
        </p:txBody>
      </p:sp>
      <p:sp>
        <p:nvSpPr>
          <p:cNvPr id="25" name="Text 23"/>
          <p:cNvSpPr txBox="1"/>
          <p:nvPr/>
        </p:nvSpPr>
        <p:spPr>
          <a:xfrm>
            <a:off x="1069848" y="4357116"/>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Coverage</a:t>
            </a:r>
            <a:endParaRPr lang="en-US" sz="950" dirty="0"/>
          </a:p>
        </p:txBody>
      </p:sp>
      <p:sp>
        <p:nvSpPr>
          <p:cNvPr id="26" name="Text 24"/>
          <p:cNvSpPr txBox="1"/>
          <p:nvPr/>
        </p:nvSpPr>
        <p:spPr>
          <a:xfrm>
            <a:off x="2148840" y="4357116"/>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Routing is business hours aware, so late arrivals go to agents who are actually on shift.</a:t>
            </a:r>
            <a:endParaRPr lang="en-US" sz="850" dirty="0"/>
          </a:p>
        </p:txBody>
      </p:sp>
      <p:sp>
        <p:nvSpPr>
          <p:cNvPr id="27" name="Shape 25"/>
          <p:cNvSpPr/>
          <p:nvPr/>
        </p:nvSpPr>
        <p:spPr>
          <a:xfrm>
            <a:off x="740664" y="4905756"/>
            <a:ext cx="237744" cy="237744"/>
          </a:xfrm>
          <a:prstGeom prst="roundRect">
            <a:avLst>
              <a:gd name="adj" fmla="val 19231"/>
            </a:avLst>
          </a:prstGeom>
          <a:solidFill>
            <a:srgbClr val="0A0D14"/>
          </a:solidFill>
          <a:ln w="12700">
            <a:solidFill>
              <a:srgbClr val="22D3EE"/>
            </a:solidFill>
            <a:prstDash val="solid"/>
          </a:ln>
        </p:spPr>
      </p:sp>
      <p:sp>
        <p:nvSpPr>
          <p:cNvPr id="28" name="Text 26"/>
          <p:cNvSpPr txBox="1"/>
          <p:nvPr/>
        </p:nvSpPr>
        <p:spPr>
          <a:xfrm>
            <a:off x="740664" y="490575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6</a:t>
            </a:r>
            <a:endParaRPr lang="en-US" sz="950" dirty="0"/>
          </a:p>
        </p:txBody>
      </p:sp>
      <p:sp>
        <p:nvSpPr>
          <p:cNvPr id="29" name="Text 27"/>
          <p:cNvSpPr txBox="1"/>
          <p:nvPr/>
        </p:nvSpPr>
        <p:spPr>
          <a:xfrm>
            <a:off x="1069848" y="4841748"/>
            <a:ext cx="1051560" cy="310896"/>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Fallback</a:t>
            </a:r>
            <a:endParaRPr lang="en-US" sz="950" dirty="0"/>
          </a:p>
        </p:txBody>
      </p:sp>
      <p:sp>
        <p:nvSpPr>
          <p:cNvPr id="30" name="Text 28"/>
          <p:cNvSpPr txBox="1"/>
          <p:nvPr/>
        </p:nvSpPr>
        <p:spPr>
          <a:xfrm>
            <a:off x="2148840" y="4841748"/>
            <a:ext cx="3236976" cy="420624"/>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Anything unrouted past a defined threshold alerts the Shift Lead rather than sitting unowned.</a:t>
            </a:r>
            <a:endParaRPr lang="en-US" sz="850" dirty="0"/>
          </a:p>
        </p:txBody>
      </p:sp>
      <p:sp>
        <p:nvSpPr>
          <p:cNvPr id="31" name="Text 29"/>
          <p:cNvSpPr txBox="1"/>
          <p:nvPr/>
        </p:nvSpPr>
        <p:spPr>
          <a:xfrm>
            <a:off x="5843016" y="1796796"/>
            <a:ext cx="5843016"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THE EXTENDED CARE QUEUE MAP</a:t>
            </a:r>
            <a:endParaRPr lang="en-US" sz="1050" dirty="0"/>
          </a:p>
        </p:txBody>
      </p:sp>
      <p:sp>
        <p:nvSpPr>
          <p:cNvPr id="32" name="Shape 30"/>
          <p:cNvSpPr/>
          <p:nvPr/>
        </p:nvSpPr>
        <p:spPr>
          <a:xfrm>
            <a:off x="5843016" y="2125980"/>
            <a:ext cx="5843016" cy="475488"/>
          </a:xfrm>
          <a:prstGeom prst="roundRect">
            <a:avLst>
              <a:gd name="adj" fmla="val 7692"/>
            </a:avLst>
          </a:prstGeom>
          <a:solidFill>
            <a:srgbClr val="1A2130"/>
          </a:solidFill>
          <a:ln w="12700">
            <a:solidFill>
              <a:srgbClr val="252D3D"/>
            </a:solidFill>
            <a:prstDash val="solid"/>
          </a:ln>
        </p:spPr>
      </p:sp>
      <p:sp>
        <p:nvSpPr>
          <p:cNvPr id="33" name="Text 31"/>
          <p:cNvSpPr txBox="1"/>
          <p:nvPr/>
        </p:nvSpPr>
        <p:spPr>
          <a:xfrm>
            <a:off x="6007608" y="212598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Order management</a:t>
            </a:r>
            <a:endParaRPr lang="en-US" sz="900" dirty="0"/>
          </a:p>
        </p:txBody>
      </p:sp>
      <p:sp>
        <p:nvSpPr>
          <p:cNvPr id="34" name="Text 32"/>
          <p:cNvSpPr txBox="1"/>
          <p:nvPr/>
        </p:nvSpPr>
        <p:spPr>
          <a:xfrm>
            <a:off x="8019288" y="212598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Place and modify order, returns initiation</a:t>
            </a:r>
            <a:endParaRPr lang="en-US" sz="800" dirty="0"/>
          </a:p>
        </p:txBody>
      </p:sp>
      <p:sp>
        <p:nvSpPr>
          <p:cNvPr id="35" name="Text 33"/>
          <p:cNvSpPr txBox="1"/>
          <p:nvPr/>
        </p:nvSpPr>
        <p:spPr>
          <a:xfrm>
            <a:off x="10049256" y="212598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Order entry, SupplyManager, JD Edwards</a:t>
            </a:r>
            <a:endParaRPr lang="en-US" sz="800" dirty="0"/>
          </a:p>
        </p:txBody>
      </p:sp>
      <p:sp>
        <p:nvSpPr>
          <p:cNvPr id="36" name="Shape 34"/>
          <p:cNvSpPr/>
          <p:nvPr/>
        </p:nvSpPr>
        <p:spPr>
          <a:xfrm>
            <a:off x="5843016" y="2674620"/>
            <a:ext cx="5843016" cy="475488"/>
          </a:xfrm>
          <a:prstGeom prst="roundRect">
            <a:avLst>
              <a:gd name="adj" fmla="val 7692"/>
            </a:avLst>
          </a:prstGeom>
          <a:solidFill>
            <a:srgbClr val="1A2130"/>
          </a:solidFill>
          <a:ln w="12700">
            <a:solidFill>
              <a:srgbClr val="252D3D"/>
            </a:solidFill>
            <a:prstDash val="solid"/>
          </a:ln>
        </p:spPr>
      </p:sp>
      <p:sp>
        <p:nvSpPr>
          <p:cNvPr id="37" name="Text 35"/>
          <p:cNvSpPr txBox="1"/>
          <p:nvPr/>
        </p:nvSpPr>
        <p:spPr>
          <a:xfrm>
            <a:off x="6007608" y="267462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Order status and shipment</a:t>
            </a:r>
            <a:endParaRPr lang="en-US" sz="900" dirty="0"/>
          </a:p>
        </p:txBody>
      </p:sp>
      <p:sp>
        <p:nvSpPr>
          <p:cNvPr id="38" name="Text 36"/>
          <p:cNvSpPr txBox="1"/>
          <p:nvPr/>
        </p:nvSpPr>
        <p:spPr>
          <a:xfrm>
            <a:off x="8019288" y="267462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Status, tracking, proof of delivery</a:t>
            </a:r>
            <a:endParaRPr lang="en-US" sz="800" dirty="0"/>
          </a:p>
        </p:txBody>
      </p:sp>
      <p:sp>
        <p:nvSpPr>
          <p:cNvPr id="39" name="Text 37"/>
          <p:cNvSpPr txBox="1"/>
          <p:nvPr/>
        </p:nvSpPr>
        <p:spPr>
          <a:xfrm>
            <a:off x="10049256" y="267462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Order lookup, carrier tracking</a:t>
            </a:r>
            <a:endParaRPr lang="en-US" sz="800" dirty="0"/>
          </a:p>
        </p:txBody>
      </p:sp>
      <p:sp>
        <p:nvSpPr>
          <p:cNvPr id="40" name="Shape 38"/>
          <p:cNvSpPr/>
          <p:nvPr/>
        </p:nvSpPr>
        <p:spPr>
          <a:xfrm>
            <a:off x="5843016" y="3223260"/>
            <a:ext cx="5843016" cy="475488"/>
          </a:xfrm>
          <a:prstGeom prst="roundRect">
            <a:avLst>
              <a:gd name="adj" fmla="val 7692"/>
            </a:avLst>
          </a:prstGeom>
          <a:solidFill>
            <a:srgbClr val="1A2130"/>
          </a:solidFill>
          <a:ln w="12700">
            <a:solidFill>
              <a:srgbClr val="252D3D"/>
            </a:solidFill>
            <a:prstDash val="solid"/>
          </a:ln>
        </p:spPr>
      </p:sp>
      <p:sp>
        <p:nvSpPr>
          <p:cNvPr id="41" name="Text 39"/>
          <p:cNvSpPr txBox="1"/>
          <p:nvPr/>
        </p:nvSpPr>
        <p:spPr>
          <a:xfrm>
            <a:off x="6007608" y="322326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Backorders and availability</a:t>
            </a:r>
            <a:endParaRPr lang="en-US" sz="900" dirty="0"/>
          </a:p>
        </p:txBody>
      </p:sp>
      <p:sp>
        <p:nvSpPr>
          <p:cNvPr id="42" name="Text 40"/>
          <p:cNvSpPr txBox="1"/>
          <p:nvPr/>
        </p:nvSpPr>
        <p:spPr>
          <a:xfrm>
            <a:off x="8019288" y="322326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Stock position, substitutions, ETAs</a:t>
            </a:r>
            <a:endParaRPr lang="en-US" sz="800" dirty="0"/>
          </a:p>
        </p:txBody>
      </p:sp>
      <p:sp>
        <p:nvSpPr>
          <p:cNvPr id="43" name="Text 41"/>
          <p:cNvSpPr txBox="1"/>
          <p:nvPr/>
        </p:nvSpPr>
        <p:spPr>
          <a:xfrm>
            <a:off x="10049256" y="322326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Inventory, product data</a:t>
            </a:r>
            <a:endParaRPr lang="en-US" sz="800" dirty="0"/>
          </a:p>
        </p:txBody>
      </p:sp>
      <p:sp>
        <p:nvSpPr>
          <p:cNvPr id="44" name="Shape 42"/>
          <p:cNvSpPr/>
          <p:nvPr/>
        </p:nvSpPr>
        <p:spPr>
          <a:xfrm>
            <a:off x="5843016" y="3771900"/>
            <a:ext cx="5843016" cy="475488"/>
          </a:xfrm>
          <a:prstGeom prst="roundRect">
            <a:avLst>
              <a:gd name="adj" fmla="val 7692"/>
            </a:avLst>
          </a:prstGeom>
          <a:solidFill>
            <a:srgbClr val="1A2130"/>
          </a:solidFill>
          <a:ln w="12700">
            <a:solidFill>
              <a:srgbClr val="252D3D"/>
            </a:solidFill>
            <a:prstDash val="solid"/>
          </a:ln>
        </p:spPr>
      </p:sp>
      <p:sp>
        <p:nvSpPr>
          <p:cNvPr id="45" name="Text 43"/>
          <p:cNvSpPr txBox="1"/>
          <p:nvPr/>
        </p:nvSpPr>
        <p:spPr>
          <a:xfrm>
            <a:off x="6007608" y="3771900"/>
            <a:ext cx="1965960" cy="475488"/>
          </a:xfrm>
          <a:prstGeom prst="rect">
            <a:avLst/>
          </a:prstGeom>
          <a:noFill/>
          <a:ln/>
        </p:spPr>
        <p:txBody>
          <a:bodyPr wrap="square" lIns="0" tIns="0" rIns="0" bIns="0" rtlCol="0" anchor="ctr"/>
          <a:lstStyle/>
          <a:p>
            <a:pPr indent="0" marL="0">
              <a:buNone/>
            </a:pPr>
            <a:r>
              <a:rPr lang="en-US" sz="900" b="1" dirty="0">
                <a:solidFill>
                  <a:srgbClr val="F59E0B"/>
                </a:solidFill>
                <a:latin typeface="Arial" pitchFamily="34" charset="0"/>
                <a:ea typeface="Arial" pitchFamily="34" charset="-122"/>
                <a:cs typeface="Arial" pitchFamily="34" charset="-120"/>
              </a:rPr>
              <a:t>Credits and disputes</a:t>
            </a:r>
            <a:endParaRPr lang="en-US" sz="900" dirty="0"/>
          </a:p>
        </p:txBody>
      </p:sp>
      <p:sp>
        <p:nvSpPr>
          <p:cNvPr id="46" name="Text 44"/>
          <p:cNvSpPr txBox="1"/>
          <p:nvPr/>
        </p:nvSpPr>
        <p:spPr>
          <a:xfrm>
            <a:off x="8019288" y="377190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Credits, returns, rebills, price disputes</a:t>
            </a:r>
            <a:endParaRPr lang="en-US" sz="800" dirty="0"/>
          </a:p>
        </p:txBody>
      </p:sp>
      <p:sp>
        <p:nvSpPr>
          <p:cNvPr id="47" name="Text 45"/>
          <p:cNvSpPr txBox="1"/>
          <p:nvPr/>
        </p:nvSpPr>
        <p:spPr>
          <a:xfrm>
            <a:off x="10049256" y="377190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Senior only, financial policy, AR liaison</a:t>
            </a:r>
            <a:endParaRPr lang="en-US" sz="800" dirty="0"/>
          </a:p>
        </p:txBody>
      </p:sp>
      <p:sp>
        <p:nvSpPr>
          <p:cNvPr id="48" name="Shape 46"/>
          <p:cNvSpPr/>
          <p:nvPr/>
        </p:nvSpPr>
        <p:spPr>
          <a:xfrm>
            <a:off x="5843016" y="4320540"/>
            <a:ext cx="5843016" cy="475488"/>
          </a:xfrm>
          <a:prstGeom prst="roundRect">
            <a:avLst>
              <a:gd name="adj" fmla="val 7692"/>
            </a:avLst>
          </a:prstGeom>
          <a:solidFill>
            <a:srgbClr val="1A2130"/>
          </a:solidFill>
          <a:ln w="12700">
            <a:solidFill>
              <a:srgbClr val="252D3D"/>
            </a:solidFill>
            <a:prstDash val="solid"/>
          </a:ln>
        </p:spPr>
      </p:sp>
      <p:sp>
        <p:nvSpPr>
          <p:cNvPr id="49" name="Text 47"/>
          <p:cNvSpPr txBox="1"/>
          <p:nvPr/>
        </p:nvSpPr>
        <p:spPr>
          <a:xfrm>
            <a:off x="6007608" y="4320540"/>
            <a:ext cx="1965960" cy="475488"/>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Account and billing</a:t>
            </a:r>
            <a:endParaRPr lang="en-US" sz="900" dirty="0"/>
          </a:p>
        </p:txBody>
      </p:sp>
      <p:sp>
        <p:nvSpPr>
          <p:cNvPr id="50" name="Text 48"/>
          <p:cNvSpPr txBox="1"/>
          <p:nvPr/>
        </p:nvSpPr>
        <p:spPr>
          <a:xfrm>
            <a:off x="8019288" y="432054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Invoices, statements, account admin</a:t>
            </a:r>
            <a:endParaRPr lang="en-US" sz="800" dirty="0"/>
          </a:p>
        </p:txBody>
      </p:sp>
      <p:sp>
        <p:nvSpPr>
          <p:cNvPr id="51" name="Text 49"/>
          <p:cNvSpPr txBox="1"/>
          <p:nvPr/>
        </p:nvSpPr>
        <p:spPr>
          <a:xfrm>
            <a:off x="10049256" y="432054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Billing, account maintenance</a:t>
            </a:r>
            <a:endParaRPr lang="en-US" sz="800" dirty="0"/>
          </a:p>
        </p:txBody>
      </p:sp>
      <p:sp>
        <p:nvSpPr>
          <p:cNvPr id="52" name="Shape 50"/>
          <p:cNvSpPr/>
          <p:nvPr/>
        </p:nvSpPr>
        <p:spPr>
          <a:xfrm>
            <a:off x="5843016" y="4869180"/>
            <a:ext cx="5843016" cy="475488"/>
          </a:xfrm>
          <a:prstGeom prst="roundRect">
            <a:avLst>
              <a:gd name="adj" fmla="val 7692"/>
            </a:avLst>
          </a:prstGeom>
          <a:solidFill>
            <a:srgbClr val="1A2130"/>
          </a:solidFill>
          <a:ln w="12700">
            <a:solidFill>
              <a:srgbClr val="252D3D"/>
            </a:solidFill>
            <a:prstDash val="solid"/>
          </a:ln>
        </p:spPr>
      </p:sp>
      <p:sp>
        <p:nvSpPr>
          <p:cNvPr id="53" name="Text 51"/>
          <p:cNvSpPr txBox="1"/>
          <p:nvPr/>
        </p:nvSpPr>
        <p:spPr>
          <a:xfrm>
            <a:off x="6007608" y="4869180"/>
            <a:ext cx="1965960" cy="475488"/>
          </a:xfrm>
          <a:prstGeom prst="rect">
            <a:avLst/>
          </a:prstGeom>
          <a:noFill/>
          <a:ln/>
        </p:spPr>
        <p:txBody>
          <a:bodyPr wrap="square" lIns="0" tIns="0" rIns="0" bIns="0" rtlCol="0" anchor="ctr"/>
          <a:lstStyle/>
          <a:p>
            <a:pPr indent="0" marL="0">
              <a:buNone/>
            </a:pPr>
            <a:r>
              <a:rPr lang="en-US" sz="900" b="1" dirty="0">
                <a:solidFill>
                  <a:srgbClr val="FF0069"/>
                </a:solidFill>
                <a:latin typeface="Arial" pitchFamily="34" charset="0"/>
                <a:ea typeface="Arial" pitchFamily="34" charset="-122"/>
                <a:cs typeface="Arial" pitchFamily="34" charset="-120"/>
              </a:rPr>
              <a:t>Escalation and exceptions</a:t>
            </a:r>
            <a:endParaRPr lang="en-US" sz="900" dirty="0"/>
          </a:p>
        </p:txBody>
      </p:sp>
      <p:sp>
        <p:nvSpPr>
          <p:cNvPr id="54" name="Text 52"/>
          <p:cNvSpPr txBox="1"/>
          <p:nvPr/>
        </p:nvSpPr>
        <p:spPr>
          <a:xfrm>
            <a:off x="8019288" y="4869180"/>
            <a:ext cx="1965960" cy="475488"/>
          </a:xfrm>
          <a:prstGeom prst="rect">
            <a:avLst/>
          </a:prstGeom>
          <a:noFill/>
          <a:ln/>
        </p:spPr>
        <p:txBody>
          <a:bodyPr wrap="square" lIns="0" tIns="0" rIns="0" bIns="0" rtlCol="0" anchor="ctr"/>
          <a:lstStyle/>
          <a:p>
            <a:pPr indent="0" marL="0">
              <a:lnSpc>
                <a:spcPts val="1050"/>
              </a:lnSpc>
              <a:buNone/>
            </a:pPr>
            <a:r>
              <a:rPr lang="en-US" sz="800" dirty="0">
                <a:solidFill>
                  <a:srgbClr val="E6EAF2"/>
                </a:solidFill>
                <a:latin typeface="Arial" pitchFamily="34" charset="0"/>
                <a:ea typeface="Arial" pitchFamily="34" charset="-122"/>
                <a:cs typeface="Arial" pitchFamily="34" charset="-120"/>
              </a:rPr>
              <a:t>Anything needing McKesson pricing or AR</a:t>
            </a:r>
            <a:endParaRPr lang="en-US" sz="800" dirty="0"/>
          </a:p>
        </p:txBody>
      </p:sp>
      <p:sp>
        <p:nvSpPr>
          <p:cNvPr id="55" name="Text 53"/>
          <p:cNvSpPr txBox="1"/>
          <p:nvPr/>
        </p:nvSpPr>
        <p:spPr>
          <a:xfrm>
            <a:off x="10049256" y="4869180"/>
            <a:ext cx="1472184" cy="475488"/>
          </a:xfrm>
          <a:prstGeom prst="rect">
            <a:avLst/>
          </a:prstGeom>
          <a:noFill/>
          <a:ln/>
        </p:spPr>
        <p:txBody>
          <a:bodyPr wrap="square" lIns="0" tIns="0" rIns="0" bIns="0" rtlCol="0" anchor="ctr"/>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Routed out under a defined escalation path</a:t>
            </a:r>
            <a:endParaRPr lang="en-US" sz="800" dirty="0"/>
          </a:p>
        </p:txBody>
      </p:sp>
      <p:sp>
        <p:nvSpPr>
          <p:cNvPr id="56" name="Text 54"/>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Queue names, skill definitions and capacity weightings are confirmed with McKesson during discovery and configured before the readiness gate.</a:t>
            </a:r>
            <a:endParaRPr lang="en-US" sz="750" dirty="0"/>
          </a:p>
        </p:txBody>
      </p:sp>
      <p:pic>
        <p:nvPicPr>
          <p:cNvPr id="5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58" name="Text 5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STAGE 04</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TWO SLA CLOCKS, ENFORCED BY THE PLATFORM</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Entitlements and Milestones run the SLA inside Salesforce against the Extended Care business hours. The clock is a record, not a report, so it can be acted on while it is still running.</a:t>
            </a:r>
            <a:endParaRPr lang="en-US" sz="1150" dirty="0"/>
          </a:p>
        </p:txBody>
      </p:sp>
      <p:sp>
        <p:nvSpPr>
          <p:cNvPr id="5" name="Shape 3"/>
          <p:cNvSpPr/>
          <p:nvPr/>
        </p:nvSpPr>
        <p:spPr>
          <a:xfrm>
            <a:off x="502920" y="1796796"/>
            <a:ext cx="5481828" cy="1700784"/>
          </a:xfrm>
          <a:prstGeom prst="roundRect">
            <a:avLst>
              <a:gd name="adj" fmla="val 2151"/>
            </a:avLst>
          </a:prstGeom>
          <a:solidFill>
            <a:srgbClr val="151A24"/>
          </a:solidFill>
          <a:ln w="12700">
            <a:solidFill>
              <a:srgbClr val="252D3D"/>
            </a:solidFill>
            <a:prstDash val="solid"/>
          </a:ln>
        </p:spPr>
      </p:sp>
      <p:sp>
        <p:nvSpPr>
          <p:cNvPr id="6" name="Text 4"/>
          <p:cNvSpPr txBox="1"/>
          <p:nvPr/>
        </p:nvSpPr>
        <p:spPr>
          <a:xfrm>
            <a:off x="740664" y="1961388"/>
            <a:ext cx="5006340" cy="256032"/>
          </a:xfrm>
          <a:prstGeom prst="rect">
            <a:avLst/>
          </a:prstGeom>
          <a:noFill/>
          <a:ln/>
        </p:spPr>
        <p:txBody>
          <a:bodyPr wrap="square" lIns="0" tIns="0" rIns="0" bIns="0" rtlCol="0" anchor="ctr"/>
          <a:lstStyle/>
          <a:p>
            <a:pPr indent="0" marL="0">
              <a:buNone/>
            </a:pPr>
            <a:r>
              <a:rPr lang="en-US" sz="1300" b="1" dirty="0">
                <a:solidFill>
                  <a:srgbClr val="22D3EE"/>
                </a:solidFill>
                <a:latin typeface="Arial" pitchFamily="34" charset="0"/>
                <a:ea typeface="Arial" pitchFamily="34" charset="-122"/>
                <a:cs typeface="Arial" pitchFamily="34" charset="-120"/>
              </a:rPr>
              <a:t>First response SLA</a:t>
            </a:r>
            <a:endParaRPr lang="en-US" sz="1300" dirty="0"/>
          </a:p>
        </p:txBody>
      </p:sp>
      <p:sp>
        <p:nvSpPr>
          <p:cNvPr id="7" name="Text 5"/>
          <p:cNvSpPr txBox="1"/>
          <p:nvPr/>
        </p:nvSpPr>
        <p:spPr>
          <a:xfrm>
            <a:off x="740664" y="2235708"/>
            <a:ext cx="5006340" cy="237744"/>
          </a:xfrm>
          <a:prstGeom prst="rect">
            <a:avLst/>
          </a:prstGeom>
          <a:noFill/>
          <a:ln/>
        </p:spPr>
        <p:txBody>
          <a:bodyPr wrap="square" lIns="0" tIns="0" rIns="0" bIns="0" rtlCol="0" anchor="ctr"/>
          <a:lstStyle/>
          <a:p>
            <a:pPr indent="0" marL="0">
              <a:buNone/>
            </a:pPr>
            <a:r>
              <a:rPr lang="en-US" sz="900" dirty="0">
                <a:solidFill>
                  <a:srgbClr val="8A94A6"/>
                </a:solidFill>
                <a:latin typeface="Arial" pitchFamily="34" charset="0"/>
                <a:ea typeface="Arial" pitchFamily="34" charset="-122"/>
                <a:cs typeface="Arial" pitchFamily="34" charset="-120"/>
              </a:rPr>
              <a:t>Time from case creation to the first meaningful reply to the customer.</a:t>
            </a:r>
            <a:endParaRPr lang="en-US" sz="900" dirty="0"/>
          </a:p>
        </p:txBody>
      </p:sp>
      <p:sp>
        <p:nvSpPr>
          <p:cNvPr id="8" name="Text 6"/>
          <p:cNvSpPr txBox="1"/>
          <p:nvPr/>
        </p:nvSpPr>
        <p:spPr>
          <a:xfrm>
            <a:off x="740664" y="2528316"/>
            <a:ext cx="5006340" cy="877824"/>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An automated acknowledgement does not close this clock unless McKesson explicitly agrees that it should.</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Stops when the agent sends a substantive response, not when the case is opened or assigned.</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Runs against business hours, so an 7pm arrival is not judged against overnight time.</a:t>
            </a:r>
            <a:endParaRPr lang="en-US" sz="850" dirty="0"/>
          </a:p>
        </p:txBody>
      </p:sp>
      <p:sp>
        <p:nvSpPr>
          <p:cNvPr id="9" name="Shape 7"/>
          <p:cNvSpPr/>
          <p:nvPr/>
        </p:nvSpPr>
        <p:spPr>
          <a:xfrm>
            <a:off x="6204204" y="1796796"/>
            <a:ext cx="5481828" cy="1700784"/>
          </a:xfrm>
          <a:prstGeom prst="roundRect">
            <a:avLst>
              <a:gd name="adj" fmla="val 2151"/>
            </a:avLst>
          </a:prstGeom>
          <a:solidFill>
            <a:srgbClr val="151A24"/>
          </a:solidFill>
          <a:ln w="12700">
            <a:solidFill>
              <a:srgbClr val="252D3D"/>
            </a:solidFill>
            <a:prstDash val="solid"/>
          </a:ln>
        </p:spPr>
      </p:sp>
      <p:sp>
        <p:nvSpPr>
          <p:cNvPr id="10" name="Text 8"/>
          <p:cNvSpPr txBox="1"/>
          <p:nvPr/>
        </p:nvSpPr>
        <p:spPr>
          <a:xfrm>
            <a:off x="6441948" y="1961388"/>
            <a:ext cx="5006340" cy="256032"/>
          </a:xfrm>
          <a:prstGeom prst="rect">
            <a:avLst/>
          </a:prstGeom>
          <a:noFill/>
          <a:ln/>
        </p:spPr>
        <p:txBody>
          <a:bodyPr wrap="square" lIns="0" tIns="0" rIns="0" bIns="0" rtlCol="0" anchor="ctr"/>
          <a:lstStyle/>
          <a:p>
            <a:pPr indent="0" marL="0">
              <a:buNone/>
            </a:pPr>
            <a:r>
              <a:rPr lang="en-US" sz="1300" b="1" dirty="0">
                <a:solidFill>
                  <a:srgbClr val="22D3EE"/>
                </a:solidFill>
                <a:latin typeface="Arial" pitchFamily="34" charset="0"/>
                <a:ea typeface="Arial" pitchFamily="34" charset="-122"/>
                <a:cs typeface="Arial" pitchFamily="34" charset="-120"/>
              </a:rPr>
              <a:t>Resolution SLA</a:t>
            </a:r>
            <a:endParaRPr lang="en-US" sz="1300" dirty="0"/>
          </a:p>
        </p:txBody>
      </p:sp>
      <p:sp>
        <p:nvSpPr>
          <p:cNvPr id="11" name="Text 9"/>
          <p:cNvSpPr txBox="1"/>
          <p:nvPr/>
        </p:nvSpPr>
        <p:spPr>
          <a:xfrm>
            <a:off x="6441948" y="2235708"/>
            <a:ext cx="5006340" cy="237744"/>
          </a:xfrm>
          <a:prstGeom prst="rect">
            <a:avLst/>
          </a:prstGeom>
          <a:noFill/>
          <a:ln/>
        </p:spPr>
        <p:txBody>
          <a:bodyPr wrap="square" lIns="0" tIns="0" rIns="0" bIns="0" rtlCol="0" anchor="ctr"/>
          <a:lstStyle/>
          <a:p>
            <a:pPr indent="0" marL="0">
              <a:buNone/>
            </a:pPr>
            <a:r>
              <a:rPr lang="en-US" sz="900" dirty="0">
                <a:solidFill>
                  <a:srgbClr val="8A94A6"/>
                </a:solidFill>
                <a:latin typeface="Arial" pitchFamily="34" charset="0"/>
                <a:ea typeface="Arial" pitchFamily="34" charset="-122"/>
                <a:cs typeface="Arial" pitchFamily="34" charset="-120"/>
              </a:rPr>
              <a:t>Time from creation to resolution, subject to agreed pause conditions.</a:t>
            </a:r>
            <a:endParaRPr lang="en-US" sz="900" dirty="0"/>
          </a:p>
        </p:txBody>
      </p:sp>
      <p:sp>
        <p:nvSpPr>
          <p:cNvPr id="12" name="Text 10"/>
          <p:cNvSpPr txBox="1"/>
          <p:nvPr/>
        </p:nvSpPr>
        <p:spPr>
          <a:xfrm>
            <a:off x="6441948" y="2528316"/>
            <a:ext cx="5006340" cy="877824"/>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Pauses only while waiting on the customer, and only after a valid information request has gone out.</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Keeps running while waiting on an internal McKesson team, with dependency time measured separately.</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Stops on resolution and is not restarted by an administrative closure.</a:t>
            </a:r>
            <a:endParaRPr lang="en-US" sz="850" dirty="0"/>
          </a:p>
        </p:txBody>
      </p:sp>
      <p:sp>
        <p:nvSpPr>
          <p:cNvPr id="13" name="Text 11"/>
          <p:cNvSpPr txBox="1"/>
          <p:nvPr/>
        </p:nvSpPr>
        <p:spPr>
          <a:xfrm>
            <a:off x="502920" y="3717036"/>
            <a:ext cx="640080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PROPOSED TARGETS BY PRIORITY</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3991356"/>
          <a:ext cx="6675120" cy="914400"/>
        </p:xfrm>
        <a:graphic>
          <a:graphicData uri="http://schemas.openxmlformats.org/drawingml/2006/table">
            <a:tbl>
              <a:tblPr/>
              <a:tblGrid>
                <a:gridCol w="1920240"/>
                <a:gridCol w="2286000"/>
                <a:gridCol w="2468880"/>
              </a:tblGrid>
              <a:tr h="384048">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Priority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First meaningful response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Resolution target</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384048">
                <a:tc>
                  <a:txBody>
                    <a:bodyPr/>
                    <a:lstStyle/>
                    <a:p>
                      <a:pPr indent="0" marL="0">
                        <a:buNone/>
                      </a:pPr>
                      <a:r>
                        <a:rPr lang="en-US" sz="900" b="1" dirty="0">
                          <a:solidFill>
                            <a:srgbClr val="FF0069"/>
                          </a:solidFill>
                          <a:latin typeface="Arial" pitchFamily="34" charset="0"/>
                          <a:ea typeface="Arial" pitchFamily="34" charset="-122"/>
                          <a:cs typeface="Arial" pitchFamily="34" charset="-120"/>
                        </a:rPr>
                        <a:t>P1  Critical</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15 minutes</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1 hour, or continuous active ownership</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b="1" dirty="0">
                          <a:solidFill>
                            <a:srgbClr val="F59E0B"/>
                          </a:solidFill>
                          <a:latin typeface="Arial" pitchFamily="34" charset="0"/>
                          <a:ea typeface="Arial" pitchFamily="34" charset="-122"/>
                          <a:cs typeface="Arial" pitchFamily="34" charset="-120"/>
                        </a:rPr>
                        <a:t>P2  High</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30 minutes</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4 business hours</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b="1" dirty="0">
                          <a:solidFill>
                            <a:srgbClr val="22D3EE"/>
                          </a:solidFill>
                          <a:latin typeface="Arial" pitchFamily="34" charset="0"/>
                          <a:ea typeface="Arial" pitchFamily="34" charset="-122"/>
                          <a:cs typeface="Arial" pitchFamily="34" charset="-120"/>
                        </a:rPr>
                        <a:t>P3  Standard</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2 business hours</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1 business day</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b="1" dirty="0">
                          <a:solidFill>
                            <a:srgbClr val="8A94A6"/>
                          </a:solidFill>
                          <a:latin typeface="Arial" pitchFamily="34" charset="0"/>
                          <a:ea typeface="Arial" pitchFamily="34" charset="-122"/>
                          <a:cs typeface="Arial" pitchFamily="34" charset="-120"/>
                        </a:rPr>
                        <a:t>P4  Low</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4 business hours</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900" dirty="0">
                          <a:solidFill>
                            <a:srgbClr val="E6EAF2"/>
                          </a:solidFill>
                          <a:latin typeface="Arial" pitchFamily="34" charset="0"/>
                          <a:ea typeface="Arial" pitchFamily="34" charset="-122"/>
                          <a:cs typeface="Arial" pitchFamily="34" charset="-120"/>
                        </a:rPr>
                        <a:t>2 to 3 business days</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bl>
          </a:graphicData>
        </a:graphic>
      </p:graphicFrame>
      <p:sp>
        <p:nvSpPr>
          <p:cNvPr id="15" name="Shape 12"/>
          <p:cNvSpPr/>
          <p:nvPr/>
        </p:nvSpPr>
        <p:spPr>
          <a:xfrm>
            <a:off x="7397496" y="3991356"/>
            <a:ext cx="4288536" cy="2194560"/>
          </a:xfrm>
          <a:prstGeom prst="roundRect">
            <a:avLst>
              <a:gd name="adj" fmla="val 1667"/>
            </a:avLst>
          </a:prstGeom>
          <a:solidFill>
            <a:srgbClr val="151A24"/>
          </a:solidFill>
          <a:ln w="12700">
            <a:solidFill>
              <a:srgbClr val="252D3D"/>
            </a:solidFill>
            <a:prstDash val="solid"/>
          </a:ln>
        </p:spPr>
      </p:sp>
      <p:sp>
        <p:nvSpPr>
          <p:cNvPr id="16" name="Text 13"/>
          <p:cNvSpPr txBox="1"/>
          <p:nvPr/>
        </p:nvSpPr>
        <p:spPr>
          <a:xfrm>
            <a:off x="7616952" y="4155948"/>
            <a:ext cx="384962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RECONCILED TO THE CASE TYPE TARGETS</a:t>
            </a:r>
            <a:endParaRPr lang="en-US" sz="1000" dirty="0"/>
          </a:p>
        </p:txBody>
      </p:sp>
      <p:sp>
        <p:nvSpPr>
          <p:cNvPr id="17" name="Text 14"/>
          <p:cNvSpPr txBox="1"/>
          <p:nvPr/>
        </p:nvSpPr>
        <p:spPr>
          <a:xfrm>
            <a:off x="7616952" y="4411980"/>
            <a:ext cx="3849624" cy="47548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The turnaround goals McKesson has already set remain the operating commitment. Priority tiers sit over them to decide what gets attention first when both are in play.</a:t>
            </a:r>
            <a:endParaRPr lang="en-US" sz="850" dirty="0"/>
          </a:p>
        </p:txBody>
      </p:sp>
      <p:sp>
        <p:nvSpPr>
          <p:cNvPr id="18" name="Text 15"/>
          <p:cNvSpPr txBox="1"/>
          <p:nvPr/>
        </p:nvSpPr>
        <p:spPr>
          <a:xfrm>
            <a:off x="7616952" y="4942332"/>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Place or modify order</a:t>
            </a:r>
            <a:endParaRPr lang="en-US" sz="850" dirty="0"/>
          </a:p>
        </p:txBody>
      </p:sp>
      <p:sp>
        <p:nvSpPr>
          <p:cNvPr id="19" name="Text 16"/>
          <p:cNvSpPr txBox="1"/>
          <p:nvPr/>
        </p:nvSpPr>
        <p:spPr>
          <a:xfrm>
            <a:off x="10222992" y="4942332"/>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Arial" pitchFamily="34" charset="0"/>
                <a:ea typeface="Arial" pitchFamily="34" charset="-122"/>
                <a:cs typeface="Arial" pitchFamily="34" charset="-120"/>
              </a:rPr>
              <a:t>1 hour</a:t>
            </a:r>
            <a:endParaRPr lang="en-US" sz="850" dirty="0"/>
          </a:p>
        </p:txBody>
      </p:sp>
      <p:sp>
        <p:nvSpPr>
          <p:cNvPr id="20" name="Text 17"/>
          <p:cNvSpPr txBox="1"/>
          <p:nvPr/>
        </p:nvSpPr>
        <p:spPr>
          <a:xfrm>
            <a:off x="7616952" y="5189220"/>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Order status or tracking</a:t>
            </a:r>
            <a:endParaRPr lang="en-US" sz="850" dirty="0"/>
          </a:p>
        </p:txBody>
      </p:sp>
      <p:sp>
        <p:nvSpPr>
          <p:cNvPr id="21" name="Text 18"/>
          <p:cNvSpPr txBox="1"/>
          <p:nvPr/>
        </p:nvSpPr>
        <p:spPr>
          <a:xfrm>
            <a:off x="10222992" y="5189220"/>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Arial" pitchFamily="34" charset="0"/>
                <a:ea typeface="Arial" pitchFamily="34" charset="-122"/>
                <a:cs typeface="Arial" pitchFamily="34" charset="-120"/>
              </a:rPr>
              <a:t>4 hours</a:t>
            </a:r>
            <a:endParaRPr lang="en-US" sz="850" dirty="0"/>
          </a:p>
        </p:txBody>
      </p:sp>
      <p:sp>
        <p:nvSpPr>
          <p:cNvPr id="22" name="Text 19"/>
          <p:cNvSpPr txBox="1"/>
          <p:nvPr/>
        </p:nvSpPr>
        <p:spPr>
          <a:xfrm>
            <a:off x="7616952" y="5436108"/>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Credit requests or returns</a:t>
            </a:r>
            <a:endParaRPr lang="en-US" sz="850" dirty="0"/>
          </a:p>
        </p:txBody>
      </p:sp>
      <p:sp>
        <p:nvSpPr>
          <p:cNvPr id="23" name="Text 20"/>
          <p:cNvSpPr txBox="1"/>
          <p:nvPr/>
        </p:nvSpPr>
        <p:spPr>
          <a:xfrm>
            <a:off x="10222992" y="5436108"/>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Arial" pitchFamily="34" charset="0"/>
                <a:ea typeface="Arial" pitchFamily="34" charset="-122"/>
                <a:cs typeface="Arial" pitchFamily="34" charset="-120"/>
              </a:rPr>
              <a:t>72 hours</a:t>
            </a:r>
            <a:endParaRPr lang="en-US" sz="850" dirty="0"/>
          </a:p>
        </p:txBody>
      </p:sp>
      <p:sp>
        <p:nvSpPr>
          <p:cNvPr id="24" name="Text 21"/>
          <p:cNvSpPr txBox="1"/>
          <p:nvPr/>
        </p:nvSpPr>
        <p:spPr>
          <a:xfrm>
            <a:off x="7616952" y="5682996"/>
            <a:ext cx="2734056" cy="228600"/>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First pass resolution</a:t>
            </a:r>
            <a:endParaRPr lang="en-US" sz="850" dirty="0"/>
          </a:p>
        </p:txBody>
      </p:sp>
      <p:sp>
        <p:nvSpPr>
          <p:cNvPr id="25" name="Text 22"/>
          <p:cNvSpPr txBox="1"/>
          <p:nvPr/>
        </p:nvSpPr>
        <p:spPr>
          <a:xfrm>
            <a:off x="10222992" y="5682996"/>
            <a:ext cx="1243584" cy="228600"/>
          </a:xfrm>
          <a:prstGeom prst="rect">
            <a:avLst/>
          </a:prstGeom>
          <a:noFill/>
          <a:ln/>
        </p:spPr>
        <p:txBody>
          <a:bodyPr wrap="square" lIns="0" tIns="0" rIns="0" bIns="0" rtlCol="0" anchor="ctr"/>
          <a:lstStyle/>
          <a:p>
            <a:pPr algn="r" indent="0" marL="0">
              <a:buNone/>
            </a:pPr>
            <a:r>
              <a:rPr lang="en-US" sz="850" b="1" dirty="0">
                <a:solidFill>
                  <a:srgbClr val="22D3EE"/>
                </a:solidFill>
                <a:latin typeface="Arial" pitchFamily="34" charset="0"/>
                <a:ea typeface="Arial" pitchFamily="34" charset="-122"/>
                <a:cs typeface="Arial" pitchFamily="34" charset="-120"/>
              </a:rPr>
              <a:t>Baselined in transition</a:t>
            </a:r>
            <a:endParaRPr lang="en-US" sz="850" dirty="0"/>
          </a:p>
        </p:txBody>
      </p:sp>
      <p:sp>
        <p:nvSpPr>
          <p:cNvPr id="26" name="Text 23"/>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Targets shown are design proposals for discussion. Final thresholds, pause conditions and measurement definitions are agreed jointly and configured in the Entitlement Process before go live.</a:t>
            </a:r>
            <a:endParaRPr lang="en-US" sz="750" dirty="0"/>
          </a:p>
        </p:txBody>
      </p:sp>
      <p:pic>
        <p:nvPicPr>
          <p:cNvPr id="2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28" name="Text 24"/>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STAGE 04  |  ESCALATION</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ESCALATION FIRES ON PERCENTAGE OF SLA CONSUMED</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A fixed one hour rule is too slow for a P1 and too noisy for a 72 hour credit. Milestone time triggers escalate in proportion to the clock the case is actually running against.</a:t>
            </a:r>
            <a:endParaRPr lang="en-US" sz="1150" dirty="0"/>
          </a:p>
        </p:txBody>
      </p:sp>
      <p:sp>
        <p:nvSpPr>
          <p:cNvPr id="5" name="Shape 3"/>
          <p:cNvSpPr/>
          <p:nvPr/>
        </p:nvSpPr>
        <p:spPr>
          <a:xfrm>
            <a:off x="502920" y="1796796"/>
            <a:ext cx="2658618" cy="1591056"/>
          </a:xfrm>
          <a:prstGeom prst="roundRect">
            <a:avLst>
              <a:gd name="adj" fmla="val 2299"/>
            </a:avLst>
          </a:prstGeom>
          <a:solidFill>
            <a:srgbClr val="151A24"/>
          </a:solidFill>
          <a:ln w="12700">
            <a:solidFill>
              <a:srgbClr val="252D3D"/>
            </a:solidFill>
            <a:prstDash val="solid"/>
          </a:ln>
        </p:spPr>
      </p:sp>
      <p:sp>
        <p:nvSpPr>
          <p:cNvPr id="6" name="Text 4"/>
          <p:cNvSpPr txBox="1"/>
          <p:nvPr/>
        </p:nvSpPr>
        <p:spPr>
          <a:xfrm>
            <a:off x="722376" y="1961388"/>
            <a:ext cx="2219706" cy="420624"/>
          </a:xfrm>
          <a:prstGeom prst="rect">
            <a:avLst/>
          </a:prstGeom>
          <a:noFill/>
          <a:ln/>
        </p:spPr>
        <p:txBody>
          <a:bodyPr wrap="square" lIns="0" tIns="0" rIns="0" bIns="0" rtlCol="0" anchor="ctr"/>
          <a:lstStyle/>
          <a:p>
            <a:pPr indent="0" marL="0">
              <a:buNone/>
            </a:pPr>
            <a:r>
              <a:rPr lang="en-US" sz="2400" b="1" dirty="0">
                <a:solidFill>
                  <a:srgbClr val="22D3EE"/>
                </a:solidFill>
                <a:latin typeface="Arial" pitchFamily="34" charset="0"/>
                <a:ea typeface="Arial" pitchFamily="34" charset="-122"/>
                <a:cs typeface="Arial" pitchFamily="34" charset="-120"/>
              </a:rPr>
              <a:t>50%</a:t>
            </a:r>
            <a:endParaRPr lang="en-US" sz="2400" dirty="0"/>
          </a:p>
        </p:txBody>
      </p:sp>
      <p:sp>
        <p:nvSpPr>
          <p:cNvPr id="7" name="Text 5"/>
          <p:cNvSpPr txBox="1"/>
          <p:nvPr/>
        </p:nvSpPr>
        <p:spPr>
          <a:xfrm>
            <a:off x="722376"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OF SLA CONSUMED</a:t>
            </a:r>
            <a:endParaRPr lang="en-US" sz="750" dirty="0"/>
          </a:p>
        </p:txBody>
      </p:sp>
      <p:sp>
        <p:nvSpPr>
          <p:cNvPr id="8" name="Text 6"/>
          <p:cNvSpPr txBox="1"/>
          <p:nvPr/>
        </p:nvSpPr>
        <p:spPr>
          <a:xfrm>
            <a:off x="722376"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Arial" pitchFamily="34" charset="0"/>
                <a:ea typeface="Arial" pitchFamily="34" charset="-122"/>
                <a:cs typeface="Arial" pitchFamily="34" charset="-120"/>
              </a:rPr>
              <a:t>Notify the case owner</a:t>
            </a:r>
            <a:endParaRPr lang="en-US" sz="1000" dirty="0"/>
          </a:p>
        </p:txBody>
      </p:sp>
      <p:sp>
        <p:nvSpPr>
          <p:cNvPr id="9" name="Text 7"/>
          <p:cNvSpPr txBox="1"/>
          <p:nvPr/>
        </p:nvSpPr>
        <p:spPr>
          <a:xfrm>
            <a:off x="722376"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A reminder on the record and in the agent queue view. No management involvement yet.</a:t>
            </a:r>
            <a:endParaRPr lang="en-US" sz="800" dirty="0"/>
          </a:p>
        </p:txBody>
      </p:sp>
      <p:sp>
        <p:nvSpPr>
          <p:cNvPr id="10" name="Shape 8"/>
          <p:cNvSpPr/>
          <p:nvPr/>
        </p:nvSpPr>
        <p:spPr>
          <a:xfrm>
            <a:off x="3179826" y="2546604"/>
            <a:ext cx="146304" cy="128016"/>
          </a:xfrm>
          <a:prstGeom prst="rightArrow">
            <a:avLst/>
          </a:prstGeom>
          <a:solidFill>
            <a:srgbClr val="3A4459"/>
          </a:solidFill>
          <a:ln w="12700">
            <a:solidFill>
              <a:srgbClr val="3A4459"/>
            </a:solidFill>
            <a:prstDash val="solid"/>
          </a:ln>
        </p:spPr>
      </p:sp>
      <p:sp>
        <p:nvSpPr>
          <p:cNvPr id="11" name="Shape 9"/>
          <p:cNvSpPr/>
          <p:nvPr/>
        </p:nvSpPr>
        <p:spPr>
          <a:xfrm>
            <a:off x="3344418" y="1796796"/>
            <a:ext cx="2658618" cy="1591056"/>
          </a:xfrm>
          <a:prstGeom prst="roundRect">
            <a:avLst>
              <a:gd name="adj" fmla="val 2299"/>
            </a:avLst>
          </a:prstGeom>
          <a:solidFill>
            <a:srgbClr val="151A24"/>
          </a:solidFill>
          <a:ln w="12700">
            <a:solidFill>
              <a:srgbClr val="252D3D"/>
            </a:solidFill>
            <a:prstDash val="solid"/>
          </a:ln>
        </p:spPr>
      </p:sp>
      <p:sp>
        <p:nvSpPr>
          <p:cNvPr id="12" name="Text 10"/>
          <p:cNvSpPr txBox="1"/>
          <p:nvPr/>
        </p:nvSpPr>
        <p:spPr>
          <a:xfrm>
            <a:off x="3563874" y="1961388"/>
            <a:ext cx="2219706" cy="420624"/>
          </a:xfrm>
          <a:prstGeom prst="rect">
            <a:avLst/>
          </a:prstGeom>
          <a:noFill/>
          <a:ln/>
        </p:spPr>
        <p:txBody>
          <a:bodyPr wrap="square" lIns="0" tIns="0" rIns="0" bIns="0" rtlCol="0" anchor="ctr"/>
          <a:lstStyle/>
          <a:p>
            <a:pPr indent="0" marL="0">
              <a:buNone/>
            </a:pPr>
            <a:r>
              <a:rPr lang="en-US" sz="2400" b="1" dirty="0">
                <a:solidFill>
                  <a:srgbClr val="F59E0B"/>
                </a:solidFill>
                <a:latin typeface="Arial" pitchFamily="34" charset="0"/>
                <a:ea typeface="Arial" pitchFamily="34" charset="-122"/>
                <a:cs typeface="Arial" pitchFamily="34" charset="-120"/>
              </a:rPr>
              <a:t>70%</a:t>
            </a:r>
            <a:endParaRPr lang="en-US" sz="2400" dirty="0"/>
          </a:p>
        </p:txBody>
      </p:sp>
      <p:sp>
        <p:nvSpPr>
          <p:cNvPr id="13" name="Text 11"/>
          <p:cNvSpPr txBox="1"/>
          <p:nvPr/>
        </p:nvSpPr>
        <p:spPr>
          <a:xfrm>
            <a:off x="3563874"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OF SLA CONSUMED</a:t>
            </a:r>
            <a:endParaRPr lang="en-US" sz="750" dirty="0"/>
          </a:p>
        </p:txBody>
      </p:sp>
      <p:sp>
        <p:nvSpPr>
          <p:cNvPr id="14" name="Text 12"/>
          <p:cNvSpPr txBox="1"/>
          <p:nvPr/>
        </p:nvSpPr>
        <p:spPr>
          <a:xfrm>
            <a:off x="3563874"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Arial" pitchFamily="34" charset="0"/>
                <a:ea typeface="Arial" pitchFamily="34" charset="-122"/>
                <a:cs typeface="Arial" pitchFamily="34" charset="-120"/>
              </a:rPr>
              <a:t>Notify owner and Shift Lead</a:t>
            </a:r>
            <a:endParaRPr lang="en-US" sz="1000" dirty="0"/>
          </a:p>
        </p:txBody>
      </p:sp>
      <p:sp>
        <p:nvSpPr>
          <p:cNvPr id="15" name="Text 13"/>
          <p:cNvSpPr txBox="1"/>
          <p:nvPr/>
        </p:nvSpPr>
        <p:spPr>
          <a:xfrm>
            <a:off x="3563874"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The Shift Lead can rebalance the queue or reassign before the case is at risk.</a:t>
            </a:r>
            <a:endParaRPr lang="en-US" sz="800" dirty="0"/>
          </a:p>
        </p:txBody>
      </p:sp>
      <p:sp>
        <p:nvSpPr>
          <p:cNvPr id="16" name="Shape 14"/>
          <p:cNvSpPr/>
          <p:nvPr/>
        </p:nvSpPr>
        <p:spPr>
          <a:xfrm>
            <a:off x="6021324" y="2546604"/>
            <a:ext cx="146304" cy="128016"/>
          </a:xfrm>
          <a:prstGeom prst="rightArrow">
            <a:avLst/>
          </a:prstGeom>
          <a:solidFill>
            <a:srgbClr val="3A4459"/>
          </a:solidFill>
          <a:ln w="12700">
            <a:solidFill>
              <a:srgbClr val="3A4459"/>
            </a:solidFill>
            <a:prstDash val="solid"/>
          </a:ln>
        </p:spPr>
      </p:sp>
      <p:sp>
        <p:nvSpPr>
          <p:cNvPr id="17" name="Shape 15"/>
          <p:cNvSpPr/>
          <p:nvPr/>
        </p:nvSpPr>
        <p:spPr>
          <a:xfrm>
            <a:off x="6185916" y="1796796"/>
            <a:ext cx="2658618" cy="1591056"/>
          </a:xfrm>
          <a:prstGeom prst="roundRect">
            <a:avLst>
              <a:gd name="adj" fmla="val 2299"/>
            </a:avLst>
          </a:prstGeom>
          <a:solidFill>
            <a:srgbClr val="151A24"/>
          </a:solidFill>
          <a:ln w="12700">
            <a:solidFill>
              <a:srgbClr val="252D3D"/>
            </a:solidFill>
            <a:prstDash val="solid"/>
          </a:ln>
        </p:spPr>
      </p:sp>
      <p:sp>
        <p:nvSpPr>
          <p:cNvPr id="18" name="Text 16"/>
          <p:cNvSpPr txBox="1"/>
          <p:nvPr/>
        </p:nvSpPr>
        <p:spPr>
          <a:xfrm>
            <a:off x="6405372" y="1961388"/>
            <a:ext cx="2219706" cy="420624"/>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85%</a:t>
            </a:r>
            <a:endParaRPr lang="en-US" sz="2400" dirty="0"/>
          </a:p>
        </p:txBody>
      </p:sp>
      <p:sp>
        <p:nvSpPr>
          <p:cNvPr id="19" name="Text 17"/>
          <p:cNvSpPr txBox="1"/>
          <p:nvPr/>
        </p:nvSpPr>
        <p:spPr>
          <a:xfrm>
            <a:off x="6405372"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OF SLA CONSUMED</a:t>
            </a:r>
            <a:endParaRPr lang="en-US" sz="750" dirty="0"/>
          </a:p>
        </p:txBody>
      </p:sp>
      <p:sp>
        <p:nvSpPr>
          <p:cNvPr id="20" name="Text 18"/>
          <p:cNvSpPr txBox="1"/>
          <p:nvPr/>
        </p:nvSpPr>
        <p:spPr>
          <a:xfrm>
            <a:off x="6405372"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Arial" pitchFamily="34" charset="0"/>
                <a:ea typeface="Arial" pitchFamily="34" charset="-122"/>
                <a:cs typeface="Arial" pitchFamily="34" charset="-120"/>
              </a:rPr>
              <a:t>Escalate to Team Lead, flag on dashboard</a:t>
            </a:r>
            <a:endParaRPr lang="en-US" sz="1000" dirty="0"/>
          </a:p>
        </p:txBody>
      </p:sp>
      <p:sp>
        <p:nvSpPr>
          <p:cNvPr id="21" name="Text 19"/>
          <p:cNvSpPr txBox="1"/>
          <p:nvPr/>
        </p:nvSpPr>
        <p:spPr>
          <a:xfrm>
            <a:off x="6405372"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The case appears in the at risk panel on the operations control tower.</a:t>
            </a:r>
            <a:endParaRPr lang="en-US" sz="800" dirty="0"/>
          </a:p>
        </p:txBody>
      </p:sp>
      <p:sp>
        <p:nvSpPr>
          <p:cNvPr id="22" name="Shape 20"/>
          <p:cNvSpPr/>
          <p:nvPr/>
        </p:nvSpPr>
        <p:spPr>
          <a:xfrm>
            <a:off x="8862822" y="2546604"/>
            <a:ext cx="146304" cy="128016"/>
          </a:xfrm>
          <a:prstGeom prst="rightArrow">
            <a:avLst/>
          </a:prstGeom>
          <a:solidFill>
            <a:srgbClr val="3A4459"/>
          </a:solidFill>
          <a:ln w="12700">
            <a:solidFill>
              <a:srgbClr val="3A4459"/>
            </a:solidFill>
            <a:prstDash val="solid"/>
          </a:ln>
        </p:spPr>
      </p:sp>
      <p:sp>
        <p:nvSpPr>
          <p:cNvPr id="23" name="Shape 21"/>
          <p:cNvSpPr/>
          <p:nvPr/>
        </p:nvSpPr>
        <p:spPr>
          <a:xfrm>
            <a:off x="9027414" y="1796796"/>
            <a:ext cx="2658618" cy="1591056"/>
          </a:xfrm>
          <a:prstGeom prst="roundRect">
            <a:avLst>
              <a:gd name="adj" fmla="val 2299"/>
            </a:avLst>
          </a:prstGeom>
          <a:solidFill>
            <a:srgbClr val="151A24"/>
          </a:solidFill>
          <a:ln w="12700">
            <a:solidFill>
              <a:srgbClr val="252D3D"/>
            </a:solidFill>
            <a:prstDash val="solid"/>
          </a:ln>
        </p:spPr>
      </p:sp>
      <p:sp>
        <p:nvSpPr>
          <p:cNvPr id="24" name="Text 22"/>
          <p:cNvSpPr txBox="1"/>
          <p:nvPr/>
        </p:nvSpPr>
        <p:spPr>
          <a:xfrm>
            <a:off x="9246870" y="1961388"/>
            <a:ext cx="2219706" cy="420624"/>
          </a:xfrm>
          <a:prstGeom prst="rect">
            <a:avLst/>
          </a:prstGeom>
          <a:noFill/>
          <a:ln/>
        </p:spPr>
        <p:txBody>
          <a:bodyPr wrap="square" lIns="0" tIns="0" rIns="0" bIns="0" rtlCol="0" anchor="ctr"/>
          <a:lstStyle/>
          <a:p>
            <a:pPr indent="0" marL="0">
              <a:buNone/>
            </a:pPr>
            <a:r>
              <a:rPr lang="en-US" sz="2400" b="1" dirty="0">
                <a:solidFill>
                  <a:srgbClr val="FF0069"/>
                </a:solidFill>
                <a:latin typeface="Arial" pitchFamily="34" charset="0"/>
                <a:ea typeface="Arial" pitchFamily="34" charset="-122"/>
                <a:cs typeface="Arial" pitchFamily="34" charset="-120"/>
              </a:rPr>
              <a:t>100%</a:t>
            </a:r>
            <a:endParaRPr lang="en-US" sz="2400" dirty="0"/>
          </a:p>
        </p:txBody>
      </p:sp>
      <p:sp>
        <p:nvSpPr>
          <p:cNvPr id="25" name="Text 23"/>
          <p:cNvSpPr txBox="1"/>
          <p:nvPr/>
        </p:nvSpPr>
        <p:spPr>
          <a:xfrm>
            <a:off x="9246870" y="2363724"/>
            <a:ext cx="2219706" cy="164592"/>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OF SLA CONSUMED</a:t>
            </a:r>
            <a:endParaRPr lang="en-US" sz="750" dirty="0"/>
          </a:p>
        </p:txBody>
      </p:sp>
      <p:sp>
        <p:nvSpPr>
          <p:cNvPr id="26" name="Text 24"/>
          <p:cNvSpPr txBox="1"/>
          <p:nvPr/>
        </p:nvSpPr>
        <p:spPr>
          <a:xfrm>
            <a:off x="9246870" y="2583180"/>
            <a:ext cx="2219706" cy="36576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Arial" pitchFamily="34" charset="0"/>
                <a:ea typeface="Arial" pitchFamily="34" charset="-122"/>
                <a:cs typeface="Arial" pitchFamily="34" charset="-120"/>
              </a:rPr>
              <a:t>Escalate to Operations Manager</a:t>
            </a:r>
            <a:endParaRPr lang="en-US" sz="1000" dirty="0"/>
          </a:p>
        </p:txBody>
      </p:sp>
      <p:sp>
        <p:nvSpPr>
          <p:cNvPr id="27" name="Text 25"/>
          <p:cNvSpPr txBox="1"/>
          <p:nvPr/>
        </p:nvSpPr>
        <p:spPr>
          <a:xfrm>
            <a:off x="9246870" y="2948940"/>
            <a:ext cx="2219706" cy="384048"/>
          </a:xfrm>
          <a:prstGeom prst="rect">
            <a:avLst/>
          </a:prstGeom>
          <a:noFill/>
          <a:ln/>
        </p:spPr>
        <p:txBody>
          <a:bodyPr wrap="square" lIns="0" tIns="0" rIns="0" bIns="0" rtlCol="0" anchor="t"/>
          <a:lstStyle/>
          <a:p>
            <a:pPr indent="0" marL="0">
              <a:lnSpc>
                <a:spcPts val="1050"/>
              </a:lnSpc>
              <a:buNone/>
            </a:pPr>
            <a:r>
              <a:rPr lang="en-US" sz="800" dirty="0">
                <a:solidFill>
                  <a:srgbClr val="8A94A6"/>
                </a:solidFill>
                <a:latin typeface="Arial" pitchFamily="34" charset="0"/>
                <a:ea typeface="Arial" pitchFamily="34" charset="-122"/>
                <a:cs typeface="Arial" pitchFamily="34" charset="-120"/>
              </a:rPr>
              <a:t>Breach is recorded with reason and root cause, and reviewed in the daily cadence.</a:t>
            </a:r>
            <a:endParaRPr lang="en-US" sz="800" dirty="0"/>
          </a:p>
        </p:txBody>
      </p:sp>
      <p:sp>
        <p:nvSpPr>
          <p:cNvPr id="28" name="Shape 26"/>
          <p:cNvSpPr/>
          <p:nvPr/>
        </p:nvSpPr>
        <p:spPr>
          <a:xfrm>
            <a:off x="502920" y="3607308"/>
            <a:ext cx="5481828" cy="2103120"/>
          </a:xfrm>
          <a:prstGeom prst="roundRect">
            <a:avLst>
              <a:gd name="adj" fmla="val 1739"/>
            </a:avLst>
          </a:prstGeom>
          <a:solidFill>
            <a:srgbClr val="151A24"/>
          </a:solidFill>
          <a:ln w="12700">
            <a:solidFill>
              <a:srgbClr val="252D3D"/>
            </a:solidFill>
            <a:prstDash val="solid"/>
          </a:ln>
        </p:spPr>
      </p:sp>
      <p:sp>
        <p:nvSpPr>
          <p:cNvPr id="29" name="Text 27"/>
          <p:cNvSpPr txBox="1"/>
          <p:nvPr/>
        </p:nvSpPr>
        <p:spPr>
          <a:xfrm>
            <a:off x="740664" y="3790188"/>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ADDITIONAL ESCALATION TRIGGERS</a:t>
            </a:r>
            <a:endParaRPr lang="en-US" sz="1000" dirty="0"/>
          </a:p>
        </p:txBody>
      </p:sp>
      <p:sp>
        <p:nvSpPr>
          <p:cNvPr id="30" name="Text 28"/>
          <p:cNvSpPr txBox="1"/>
          <p:nvPr/>
        </p:nvSpPr>
        <p:spPr>
          <a:xfrm>
            <a:off x="740664" y="4119372"/>
            <a:ext cx="5006340" cy="1481328"/>
          </a:xfrm>
          <a:prstGeom prst="rect">
            <a:avLst/>
          </a:prstGeom>
          <a:noFill/>
          <a:ln/>
        </p:spPr>
        <p:txBody>
          <a:bodyPr wrap="square" lIns="0" tIns="0" rIns="0" bIns="0" rtlCol="0" anchor="t"/>
          <a:lstStyle/>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A P1 case is created, or any case is raised to P1 or P2.</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A case remains unassigned beyond the agreed threshold.</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A case is reopened, or transferred more than once.</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The customer sends repeated follow ups on an open case.</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An internal dependency exceeds its agreed turnaround.</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Negative customer feedback is received on a closed case.</a:t>
            </a:r>
            <a:endParaRPr lang="en-US" sz="850" dirty="0"/>
          </a:p>
        </p:txBody>
      </p:sp>
      <p:sp>
        <p:nvSpPr>
          <p:cNvPr id="31" name="Shape 29"/>
          <p:cNvSpPr/>
          <p:nvPr/>
        </p:nvSpPr>
        <p:spPr>
          <a:xfrm>
            <a:off x="6204204" y="3607308"/>
            <a:ext cx="5481828" cy="2103120"/>
          </a:xfrm>
          <a:prstGeom prst="roundRect">
            <a:avLst>
              <a:gd name="adj" fmla="val 1739"/>
            </a:avLst>
          </a:prstGeom>
          <a:solidFill>
            <a:srgbClr val="151A24"/>
          </a:solidFill>
          <a:ln w="12700">
            <a:solidFill>
              <a:srgbClr val="252D3D"/>
            </a:solidFill>
            <a:prstDash val="solid"/>
          </a:ln>
        </p:spPr>
      </p:sp>
      <p:sp>
        <p:nvSpPr>
          <p:cNvPr id="32" name="Text 30"/>
          <p:cNvSpPr txBox="1"/>
          <p:nvPr/>
        </p:nvSpPr>
        <p:spPr>
          <a:xfrm>
            <a:off x="6441948" y="3790188"/>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WHY PROPORTIONAL BEATS FIXED</a:t>
            </a:r>
            <a:endParaRPr lang="en-US" sz="1000" dirty="0"/>
          </a:p>
        </p:txBody>
      </p:sp>
      <p:sp>
        <p:nvSpPr>
          <p:cNvPr id="33" name="Text 31"/>
          <p:cNvSpPr txBox="1"/>
          <p:nvPr/>
        </p:nvSpPr>
        <p:spPr>
          <a:xfrm>
            <a:off x="6441948" y="4119372"/>
            <a:ext cx="5006340" cy="1481328"/>
          </a:xfrm>
          <a:prstGeom prst="rect">
            <a:avLst/>
          </a:prstGeom>
          <a:noFill/>
          <a:ln/>
        </p:spPr>
        <p:txBody>
          <a:bodyPr wrap="square" lIns="0" tIns="0" rIns="0" bIns="0" rtlCol="0" anchor="t"/>
          <a:lstStyle/>
          <a:p>
            <a:pPr indent="0" marL="0">
              <a:lnSpc>
                <a:spcPts val="1300"/>
              </a:lnSpc>
              <a:buNone/>
            </a:pPr>
            <a:r>
              <a:rPr lang="en-US" sz="900" dirty="0">
                <a:solidFill>
                  <a:srgbClr val="E6EAF2"/>
                </a:solidFill>
                <a:latin typeface="Arial" pitchFamily="34" charset="0"/>
                <a:ea typeface="Arial" pitchFamily="34" charset="-122"/>
                <a:cs typeface="Arial" pitchFamily="34" charset="-120"/>
              </a:rPr>
              <a:t>A P1 carries a 15 minute first response target. Half of that clock is seven and a half minutes, so the owner is prompted while there is still time to act. A 72 hour credit case reaches the same 50 percent mark at 36 hours, which is when a nudge is genuinely useful rather than noise.</a:t>
            </a:r>
            <a:endParaRPr lang="en-US" sz="900" dirty="0"/>
          </a:p>
          <a:p>
            <a:pPr indent="0" marL="0">
              <a:lnSpc>
                <a:spcPts val="1300"/>
              </a:lnSpc>
              <a:buNone/>
            </a:pPr>
            <a:endParaRPr lang="en-US" sz="900" dirty="0"/>
          </a:p>
          <a:p>
            <a:pPr indent="0" marL="0">
              <a:lnSpc>
                <a:spcPts val="1300"/>
              </a:lnSpc>
              <a:buNone/>
            </a:pPr>
            <a:r>
              <a:rPr lang="en-US" sz="900" dirty="0">
                <a:solidFill>
                  <a:srgbClr val="E6EAF2"/>
                </a:solidFill>
                <a:latin typeface="Arial" pitchFamily="34" charset="0"/>
                <a:ea typeface="Arial" pitchFamily="34" charset="-122"/>
                <a:cs typeface="Arial" pitchFamily="34" charset="-120"/>
              </a:rPr>
              <a:t>The result is that the escalation load scales with risk. Agents are interrupted when it matters and left alone when it does not, and leadership sees the cases that are genuinely drifting rather than a flat alert stream.</a:t>
            </a:r>
            <a:endParaRPr lang="en-US" sz="900" dirty="0"/>
          </a:p>
        </p:txBody>
      </p:sp>
      <p:pic>
        <p:nvPicPr>
          <p:cNvPr id="34"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5" name="Text 32"/>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STAGE 05  |  THE WORKLOAD REDUCER</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THE DRAFT IS WAITING WHEN THE AGENT OPENS THE CASE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This is where the handling time comes out. The agent stops composing from a blank box and starts reviewing, correcting and sending, with the policy and the order context already on the record.</a:t>
            </a:r>
            <a:endParaRPr lang="en-US" sz="1150" dirty="0"/>
          </a:p>
        </p:txBody>
      </p:sp>
      <p:sp>
        <p:nvSpPr>
          <p:cNvPr id="5" name="Shape 3"/>
          <p:cNvSpPr/>
          <p:nvPr/>
        </p:nvSpPr>
        <p:spPr>
          <a:xfrm>
            <a:off x="502920" y="1796796"/>
            <a:ext cx="3593592" cy="2779776"/>
          </a:xfrm>
          <a:prstGeom prst="roundRect">
            <a:avLst>
              <a:gd name="adj" fmla="val 1316"/>
            </a:avLst>
          </a:prstGeom>
          <a:solidFill>
            <a:srgbClr val="151A24"/>
          </a:solidFill>
          <a:ln w="12700">
            <a:solidFill>
              <a:srgbClr val="252D3D"/>
            </a:solidFill>
            <a:prstDash val="solid"/>
          </a:ln>
        </p:spPr>
      </p:sp>
      <p:sp>
        <p:nvSpPr>
          <p:cNvPr id="6" name="Text 4"/>
          <p:cNvSpPr txBox="1"/>
          <p:nvPr/>
        </p:nvSpPr>
        <p:spPr>
          <a:xfrm>
            <a:off x="740664" y="1979676"/>
            <a:ext cx="3118104" cy="274320"/>
          </a:xfrm>
          <a:prstGeom prst="rect">
            <a:avLst/>
          </a:prstGeom>
          <a:noFill/>
          <a:ln/>
        </p:spPr>
        <p:txBody>
          <a:bodyPr wrap="square" lIns="0" tIns="0" rIns="0" bIns="0" rtlCol="0" anchor="ctr"/>
          <a:lstStyle/>
          <a:p>
            <a:pPr indent="0" marL="0">
              <a:buNone/>
            </a:pPr>
            <a:r>
              <a:rPr lang="en-US" sz="1300" b="1" dirty="0">
                <a:solidFill>
                  <a:srgbClr val="22D3EE"/>
                </a:solidFill>
                <a:latin typeface="Arial" pitchFamily="34" charset="0"/>
                <a:ea typeface="Arial" pitchFamily="34" charset="-122"/>
                <a:cs typeface="Arial" pitchFamily="34" charset="-120"/>
              </a:rPr>
              <a:t>Draft email response</a:t>
            </a:r>
            <a:endParaRPr lang="en-US" sz="1300" dirty="0"/>
          </a:p>
        </p:txBody>
      </p:sp>
      <p:sp>
        <p:nvSpPr>
          <p:cNvPr id="7" name="Text 5"/>
          <p:cNvSpPr txBox="1"/>
          <p:nvPr/>
        </p:nvSpPr>
        <p:spPr>
          <a:xfrm>
            <a:off x="740664" y="2272284"/>
            <a:ext cx="3118104"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SALES EMAIL OR FLEX PROMPT TEMPLATE</a:t>
            </a:r>
            <a:endParaRPr lang="en-US" sz="750" dirty="0"/>
          </a:p>
        </p:txBody>
      </p:sp>
      <p:sp>
        <p:nvSpPr>
          <p:cNvPr id="8" name="Text 6"/>
          <p:cNvSpPr txBox="1"/>
          <p:nvPr/>
        </p:nvSpPr>
        <p:spPr>
          <a:xfrm>
            <a:off x="740664" y="2564892"/>
            <a:ext cx="3118104" cy="1883664"/>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Written in the approved Extended Care tone and structure, from the standard response library.</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Grounded on the case, the contact, the account, the retrieved Knowledge article and the order record.</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Inserts live order, shipment and availability values where the connected system exposes them.</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Never sends on its own. The agent reviews, edits and sends, and that action is what stops the SLA clock.</a:t>
            </a:r>
            <a:endParaRPr lang="en-US" sz="900" dirty="0"/>
          </a:p>
        </p:txBody>
      </p:sp>
      <p:sp>
        <p:nvSpPr>
          <p:cNvPr id="9" name="Shape 7"/>
          <p:cNvSpPr/>
          <p:nvPr/>
        </p:nvSpPr>
        <p:spPr>
          <a:xfrm>
            <a:off x="4297680" y="1796796"/>
            <a:ext cx="3593592" cy="2779776"/>
          </a:xfrm>
          <a:prstGeom prst="roundRect">
            <a:avLst>
              <a:gd name="adj" fmla="val 1316"/>
            </a:avLst>
          </a:prstGeom>
          <a:solidFill>
            <a:srgbClr val="151A24"/>
          </a:solidFill>
          <a:ln w="12700">
            <a:solidFill>
              <a:srgbClr val="252D3D"/>
            </a:solidFill>
            <a:prstDash val="solid"/>
          </a:ln>
        </p:spPr>
      </p:sp>
      <p:sp>
        <p:nvSpPr>
          <p:cNvPr id="10" name="Text 8"/>
          <p:cNvSpPr txBox="1"/>
          <p:nvPr/>
        </p:nvSpPr>
        <p:spPr>
          <a:xfrm>
            <a:off x="4535424" y="1979676"/>
            <a:ext cx="3118104" cy="274320"/>
          </a:xfrm>
          <a:prstGeom prst="rect">
            <a:avLst/>
          </a:prstGeom>
          <a:noFill/>
          <a:ln/>
        </p:spPr>
        <p:txBody>
          <a:bodyPr wrap="square" lIns="0" tIns="0" rIns="0" bIns="0" rtlCol="0" anchor="ctr"/>
          <a:lstStyle/>
          <a:p>
            <a:pPr indent="0" marL="0">
              <a:buNone/>
            </a:pPr>
            <a:r>
              <a:rPr lang="en-US" sz="1300" b="1" dirty="0">
                <a:solidFill>
                  <a:srgbClr val="22D3EE"/>
                </a:solidFill>
                <a:latin typeface="Arial" pitchFamily="34" charset="0"/>
                <a:ea typeface="Arial" pitchFamily="34" charset="-122"/>
                <a:cs typeface="Arial" pitchFamily="34" charset="-120"/>
              </a:rPr>
              <a:t>Case and thread summary</a:t>
            </a:r>
            <a:endParaRPr lang="en-US" sz="1300" dirty="0"/>
          </a:p>
        </p:txBody>
      </p:sp>
      <p:sp>
        <p:nvSpPr>
          <p:cNvPr id="11" name="Text 9"/>
          <p:cNvSpPr txBox="1"/>
          <p:nvPr/>
        </p:nvSpPr>
        <p:spPr>
          <a:xfrm>
            <a:off x="4535424" y="2272284"/>
            <a:ext cx="3118104"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RECORD SUMMARY OR FLEX PROMPT TEMPLATE</a:t>
            </a:r>
            <a:endParaRPr lang="en-US" sz="750" dirty="0"/>
          </a:p>
        </p:txBody>
      </p:sp>
      <p:sp>
        <p:nvSpPr>
          <p:cNvPr id="12" name="Text 10"/>
          <p:cNvSpPr txBox="1"/>
          <p:nvPr/>
        </p:nvSpPr>
        <p:spPr>
          <a:xfrm>
            <a:off x="4535424" y="2564892"/>
            <a:ext cx="3118104" cy="1883664"/>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A short factual summary of what the customer asked, written to the case on creation.</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A running thread summary so a second agent can pick the case up without reading every reply.</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A structured handover note carrying owner, status, priority, last action, next action and remaining SLA.</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Feeds the shift report and the daily operations summary, generated from case fields rather than typed by agents.</a:t>
            </a:r>
            <a:endParaRPr lang="en-US" sz="900" dirty="0"/>
          </a:p>
        </p:txBody>
      </p:sp>
      <p:sp>
        <p:nvSpPr>
          <p:cNvPr id="13" name="Shape 11"/>
          <p:cNvSpPr/>
          <p:nvPr/>
        </p:nvSpPr>
        <p:spPr>
          <a:xfrm>
            <a:off x="8092440" y="1796796"/>
            <a:ext cx="3593592" cy="2779776"/>
          </a:xfrm>
          <a:prstGeom prst="roundRect">
            <a:avLst>
              <a:gd name="adj" fmla="val 1316"/>
            </a:avLst>
          </a:prstGeom>
          <a:solidFill>
            <a:srgbClr val="151A24"/>
          </a:solidFill>
          <a:ln w="12700">
            <a:solidFill>
              <a:srgbClr val="4A2740"/>
            </a:solidFill>
            <a:prstDash val="solid"/>
          </a:ln>
        </p:spPr>
      </p:sp>
      <p:sp>
        <p:nvSpPr>
          <p:cNvPr id="14" name="Text 12"/>
          <p:cNvSpPr txBox="1"/>
          <p:nvPr/>
        </p:nvSpPr>
        <p:spPr>
          <a:xfrm>
            <a:off x="8330184" y="1979676"/>
            <a:ext cx="3118104" cy="274320"/>
          </a:xfrm>
          <a:prstGeom prst="rect">
            <a:avLst/>
          </a:prstGeom>
          <a:noFill/>
          <a:ln/>
        </p:spPr>
        <p:txBody>
          <a:bodyPr wrap="square" lIns="0" tIns="0" rIns="0" bIns="0" rtlCol="0" anchor="ctr"/>
          <a:lstStyle/>
          <a:p>
            <a:pPr indent="0" marL="0">
              <a:buNone/>
            </a:pPr>
            <a:r>
              <a:rPr lang="en-US" sz="1300" b="1" dirty="0">
                <a:solidFill>
                  <a:srgbClr val="FF0069"/>
                </a:solidFill>
                <a:latin typeface="Arial" pitchFamily="34" charset="0"/>
                <a:ea typeface="Arial" pitchFamily="34" charset="-122"/>
                <a:cs typeface="Arial" pitchFamily="34" charset="-120"/>
              </a:rPr>
              <a:t>What stays with the agent</a:t>
            </a:r>
            <a:endParaRPr lang="en-US" sz="1300" dirty="0"/>
          </a:p>
        </p:txBody>
      </p:sp>
      <p:sp>
        <p:nvSpPr>
          <p:cNvPr id="15" name="Text 13"/>
          <p:cNvSpPr txBox="1"/>
          <p:nvPr/>
        </p:nvSpPr>
        <p:spPr>
          <a:xfrm>
            <a:off x="8330184" y="2272284"/>
            <a:ext cx="3118104"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THE HUMAN BOUNDARY, BY DESIGN</a:t>
            </a:r>
            <a:endParaRPr lang="en-US" sz="750" dirty="0"/>
          </a:p>
        </p:txBody>
      </p:sp>
      <p:sp>
        <p:nvSpPr>
          <p:cNvPr id="16" name="Text 14"/>
          <p:cNvSpPr txBox="1"/>
          <p:nvPr/>
        </p:nvSpPr>
        <p:spPr>
          <a:xfrm>
            <a:off x="8330184" y="2564892"/>
            <a:ext cx="3118104" cy="1883664"/>
          </a:xfrm>
          <a:prstGeom prst="rect">
            <a:avLst/>
          </a:prstGeom>
          <a:noFill/>
          <a:ln/>
        </p:spPr>
        <p:txBody>
          <a:bodyPr wrap="square" lIns="0" tIns="0" rIns="0" bIns="0" rtlCol="0" anchor="t"/>
          <a:lstStyle/>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Judgement on whether the draft is right, complete and appropriate for this customer.</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Every credit, return, pricing adjustment, account hold and billing dispute.</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Any case flagged as PHI sensitive, or where grounding data is missing or conflicting.</a:t>
            </a:r>
            <a:endParaRPr lang="en-US" sz="900" dirty="0"/>
          </a:p>
          <a:p>
            <a:pPr marL="152400" indent="-152400">
              <a:lnSpc>
                <a:spcPts val="1300"/>
              </a:lnSpc>
              <a:spcAft>
                <a:spcPts val="700"/>
              </a:spcAft>
              <a:buSzPct val="100000"/>
              <a:buChar char="•"/>
            </a:pPr>
            <a:r>
              <a:rPr lang="en-US" sz="900" dirty="0">
                <a:solidFill>
                  <a:srgbClr val="E6EAF2"/>
                </a:solidFill>
                <a:latin typeface="Arial" pitchFamily="34" charset="0"/>
                <a:ea typeface="Arial" pitchFamily="34" charset="-122"/>
                <a:cs typeface="Arial" pitchFamily="34" charset="-120"/>
              </a:rPr>
              <a:t>Complaints, financial authorisation and any case the customer has escalated.</a:t>
            </a:r>
            <a:endParaRPr lang="en-US" sz="900" dirty="0"/>
          </a:p>
        </p:txBody>
      </p:sp>
      <p:sp>
        <p:nvSpPr>
          <p:cNvPr id="17" name="Shape 15"/>
          <p:cNvSpPr/>
          <p:nvPr/>
        </p:nvSpPr>
        <p:spPr>
          <a:xfrm>
            <a:off x="502920" y="4796028"/>
            <a:ext cx="11183112" cy="457200"/>
          </a:xfrm>
          <a:prstGeom prst="roundRect">
            <a:avLst>
              <a:gd name="adj" fmla="val 8000"/>
            </a:avLst>
          </a:prstGeom>
          <a:solidFill>
            <a:srgbClr val="1A1226"/>
          </a:solidFill>
          <a:ln w="12700">
            <a:solidFill>
              <a:srgbClr val="4A2740"/>
            </a:solidFill>
            <a:prstDash val="solid"/>
          </a:ln>
        </p:spPr>
      </p:sp>
      <p:sp>
        <p:nvSpPr>
          <p:cNvPr id="18" name="Text 16"/>
          <p:cNvSpPr txBox="1"/>
          <p:nvPr/>
        </p:nvSpPr>
        <p:spPr>
          <a:xfrm>
            <a:off x="704088" y="4796028"/>
            <a:ext cx="10780776" cy="457200"/>
          </a:xfrm>
          <a:prstGeom prst="rect">
            <a:avLst/>
          </a:prstGeom>
          <a:noFill/>
          <a:ln/>
        </p:spPr>
        <p:txBody>
          <a:bodyPr wrap="square" lIns="0" tIns="0" rIns="0" bIns="0" rtlCol="0" anchor="ctr"/>
          <a:lstStyle/>
          <a:p>
            <a:pPr indent="0" marL="0">
              <a:buNone/>
            </a:pPr>
            <a:r>
              <a:rPr lang="en-US" sz="900" b="1" spc="140" kern="0" dirty="0">
                <a:solidFill>
                  <a:srgbClr val="FF0069"/>
                </a:solidFill>
                <a:latin typeface="Arial" pitchFamily="34" charset="0"/>
                <a:ea typeface="Arial" pitchFamily="34" charset="-122"/>
                <a:cs typeface="Arial" pitchFamily="34" charset="-120"/>
              </a:rPr>
              <a:t>HUMAN IN THE LOOP   </a:t>
            </a:r>
            <a:pPr indent="0" marL="0">
              <a:buNone/>
            </a:pPr>
            <a:r>
              <a:rPr lang="en-US" sz="900" dirty="0">
                <a:solidFill>
                  <a:srgbClr val="E6EAF2"/>
                </a:solidFill>
                <a:latin typeface="Arial" pitchFamily="34" charset="0"/>
                <a:ea typeface="Arial" pitchFamily="34" charset="-122"/>
                <a:cs typeface="Arial" pitchFamily="34" charset="-120"/>
              </a:rPr>
              <a:t>In Phase 2 no generated response reaches a customer without an agent approving it. Every draft, the prompt that produced it and the agent edit that followed are retained in the case audit trail.</a:t>
            </a:r>
            <a:endParaRPr lang="en-US" sz="900" dirty="0"/>
          </a:p>
        </p:txBody>
      </p:sp>
      <p:pic>
        <p:nvPicPr>
          <p:cNvPr id="19"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20" name="Text 1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GROUNDING</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KNOWLEDGE ARTICLES ARE WHAT MAKE THE ANSWER CORRECT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A draft is only as good as what it is grounded in. Salesforce Knowledge is the source of truth for both the agent and the template, which means improving an article improves every future response.</a:t>
            </a:r>
            <a:endParaRPr lang="en-US" sz="1150" dirty="0"/>
          </a:p>
        </p:txBody>
      </p:sp>
      <p:sp>
        <p:nvSpPr>
          <p:cNvPr id="5" name="Shape 3"/>
          <p:cNvSpPr/>
          <p:nvPr/>
        </p:nvSpPr>
        <p:spPr>
          <a:xfrm>
            <a:off x="502920" y="1796796"/>
            <a:ext cx="6858000" cy="3310128"/>
          </a:xfrm>
          <a:prstGeom prst="roundRect">
            <a:avLst>
              <a:gd name="adj" fmla="val 1105"/>
            </a:avLst>
          </a:prstGeom>
          <a:solidFill>
            <a:srgbClr val="151A24"/>
          </a:solidFill>
          <a:ln w="12700">
            <a:solidFill>
              <a:srgbClr val="252D3D"/>
            </a:solidFill>
            <a:prstDash val="solid"/>
          </a:ln>
        </p:spPr>
      </p:sp>
      <p:sp>
        <p:nvSpPr>
          <p:cNvPr id="6" name="Text 4"/>
          <p:cNvSpPr txBox="1"/>
          <p:nvPr/>
        </p:nvSpPr>
        <p:spPr>
          <a:xfrm>
            <a:off x="740664" y="1997964"/>
            <a:ext cx="6382512"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THE GROUNDING AND IMPROVEMENT LOOP</a:t>
            </a:r>
            <a:endParaRPr lang="en-US" sz="1050" dirty="0"/>
          </a:p>
        </p:txBody>
      </p:sp>
      <p:sp>
        <p:nvSpPr>
          <p:cNvPr id="7" name="Shape 5"/>
          <p:cNvSpPr/>
          <p:nvPr/>
        </p:nvSpPr>
        <p:spPr>
          <a:xfrm>
            <a:off x="740664" y="2464308"/>
            <a:ext cx="237744" cy="237744"/>
          </a:xfrm>
          <a:prstGeom prst="roundRect">
            <a:avLst>
              <a:gd name="adj" fmla="val 19231"/>
            </a:avLst>
          </a:prstGeom>
          <a:solidFill>
            <a:srgbClr val="0A0D14"/>
          </a:solidFill>
          <a:ln w="12700">
            <a:solidFill>
              <a:srgbClr val="22D3EE"/>
            </a:solidFill>
            <a:prstDash val="solid"/>
          </a:ln>
        </p:spPr>
      </p:sp>
      <p:sp>
        <p:nvSpPr>
          <p:cNvPr id="8" name="Text 6"/>
          <p:cNvSpPr txBox="1"/>
          <p:nvPr/>
        </p:nvSpPr>
        <p:spPr>
          <a:xfrm>
            <a:off x="740664" y="2464308"/>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1</a:t>
            </a:r>
            <a:endParaRPr lang="en-US" sz="950" dirty="0"/>
          </a:p>
        </p:txBody>
      </p:sp>
      <p:sp>
        <p:nvSpPr>
          <p:cNvPr id="9" name="Text 7"/>
          <p:cNvSpPr txBox="1"/>
          <p:nvPr/>
        </p:nvSpPr>
        <p:spPr>
          <a:xfrm>
            <a:off x="1069848" y="2418588"/>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Retrieve</a:t>
            </a:r>
            <a:endParaRPr lang="en-US" sz="950" dirty="0"/>
          </a:p>
        </p:txBody>
      </p:sp>
      <p:sp>
        <p:nvSpPr>
          <p:cNvPr id="10" name="Text 8"/>
          <p:cNvSpPr txBox="1"/>
          <p:nvPr/>
        </p:nvSpPr>
        <p:spPr>
          <a:xfrm>
            <a:off x="2404872" y="2418588"/>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case category and service family map onto Knowledge data categories, so the search is scoped before it starts.</a:t>
            </a:r>
            <a:endParaRPr lang="en-US" sz="850" dirty="0"/>
          </a:p>
        </p:txBody>
      </p:sp>
      <p:sp>
        <p:nvSpPr>
          <p:cNvPr id="11" name="Shape 9"/>
          <p:cNvSpPr/>
          <p:nvPr/>
        </p:nvSpPr>
        <p:spPr>
          <a:xfrm>
            <a:off x="740664" y="2912364"/>
            <a:ext cx="237744" cy="237744"/>
          </a:xfrm>
          <a:prstGeom prst="roundRect">
            <a:avLst>
              <a:gd name="adj" fmla="val 19231"/>
            </a:avLst>
          </a:prstGeom>
          <a:solidFill>
            <a:srgbClr val="0A0D14"/>
          </a:solidFill>
          <a:ln w="12700">
            <a:solidFill>
              <a:srgbClr val="22D3EE"/>
            </a:solidFill>
            <a:prstDash val="solid"/>
          </a:ln>
        </p:spPr>
      </p:sp>
      <p:sp>
        <p:nvSpPr>
          <p:cNvPr id="12" name="Text 10"/>
          <p:cNvSpPr txBox="1"/>
          <p:nvPr/>
        </p:nvSpPr>
        <p:spPr>
          <a:xfrm>
            <a:off x="740664" y="2912364"/>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2</a:t>
            </a:r>
            <a:endParaRPr lang="en-US" sz="950" dirty="0"/>
          </a:p>
        </p:txBody>
      </p:sp>
      <p:sp>
        <p:nvSpPr>
          <p:cNvPr id="13" name="Text 11"/>
          <p:cNvSpPr txBox="1"/>
          <p:nvPr/>
        </p:nvSpPr>
        <p:spPr>
          <a:xfrm>
            <a:off x="1069848" y="2866644"/>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Recommend</a:t>
            </a:r>
            <a:endParaRPr lang="en-US" sz="950" dirty="0"/>
          </a:p>
        </p:txBody>
      </p:sp>
      <p:sp>
        <p:nvSpPr>
          <p:cNvPr id="14" name="Text 12"/>
          <p:cNvSpPr txBox="1"/>
          <p:nvPr/>
        </p:nvSpPr>
        <p:spPr>
          <a:xfrm>
            <a:off x="2404872" y="2866644"/>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Einstein Article Recommendations surface the likely articles on the case record for the agent to confirm.</a:t>
            </a:r>
            <a:endParaRPr lang="en-US" sz="850" dirty="0"/>
          </a:p>
        </p:txBody>
      </p:sp>
      <p:sp>
        <p:nvSpPr>
          <p:cNvPr id="15" name="Shape 13"/>
          <p:cNvSpPr/>
          <p:nvPr/>
        </p:nvSpPr>
        <p:spPr>
          <a:xfrm>
            <a:off x="740664" y="3360420"/>
            <a:ext cx="237744" cy="237744"/>
          </a:xfrm>
          <a:prstGeom prst="roundRect">
            <a:avLst>
              <a:gd name="adj" fmla="val 19231"/>
            </a:avLst>
          </a:prstGeom>
          <a:solidFill>
            <a:srgbClr val="0A0D14"/>
          </a:solidFill>
          <a:ln w="12700">
            <a:solidFill>
              <a:srgbClr val="22D3EE"/>
            </a:solidFill>
            <a:prstDash val="solid"/>
          </a:ln>
        </p:spPr>
      </p:sp>
      <p:sp>
        <p:nvSpPr>
          <p:cNvPr id="16" name="Text 14"/>
          <p:cNvSpPr txBox="1"/>
          <p:nvPr/>
        </p:nvSpPr>
        <p:spPr>
          <a:xfrm>
            <a:off x="740664" y="3360420"/>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3</a:t>
            </a:r>
            <a:endParaRPr lang="en-US" sz="950" dirty="0"/>
          </a:p>
        </p:txBody>
      </p:sp>
      <p:sp>
        <p:nvSpPr>
          <p:cNvPr id="17" name="Text 15"/>
          <p:cNvSpPr txBox="1"/>
          <p:nvPr/>
        </p:nvSpPr>
        <p:spPr>
          <a:xfrm>
            <a:off x="1069848" y="3314700"/>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Ground</a:t>
            </a:r>
            <a:endParaRPr lang="en-US" sz="950" dirty="0"/>
          </a:p>
        </p:txBody>
      </p:sp>
      <p:sp>
        <p:nvSpPr>
          <p:cNvPr id="18" name="Text 16"/>
          <p:cNvSpPr txBox="1"/>
          <p:nvPr/>
        </p:nvSpPr>
        <p:spPr>
          <a:xfrm>
            <a:off x="2404872" y="3314700"/>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confirmed article is passed to the draft template as grounding, so the response reflects current policy.</a:t>
            </a:r>
            <a:endParaRPr lang="en-US" sz="850" dirty="0"/>
          </a:p>
        </p:txBody>
      </p:sp>
      <p:sp>
        <p:nvSpPr>
          <p:cNvPr id="19" name="Shape 17"/>
          <p:cNvSpPr/>
          <p:nvPr/>
        </p:nvSpPr>
        <p:spPr>
          <a:xfrm>
            <a:off x="740664" y="3808476"/>
            <a:ext cx="237744" cy="237744"/>
          </a:xfrm>
          <a:prstGeom prst="roundRect">
            <a:avLst>
              <a:gd name="adj" fmla="val 19231"/>
            </a:avLst>
          </a:prstGeom>
          <a:solidFill>
            <a:srgbClr val="0A0D14"/>
          </a:solidFill>
          <a:ln w="12700">
            <a:solidFill>
              <a:srgbClr val="22D3EE"/>
            </a:solidFill>
            <a:prstDash val="solid"/>
          </a:ln>
        </p:spPr>
      </p:sp>
      <p:sp>
        <p:nvSpPr>
          <p:cNvPr id="20" name="Text 18"/>
          <p:cNvSpPr txBox="1"/>
          <p:nvPr/>
        </p:nvSpPr>
        <p:spPr>
          <a:xfrm>
            <a:off x="740664" y="3808476"/>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4</a:t>
            </a:r>
            <a:endParaRPr lang="en-US" sz="950" dirty="0"/>
          </a:p>
        </p:txBody>
      </p:sp>
      <p:sp>
        <p:nvSpPr>
          <p:cNvPr id="21" name="Text 19"/>
          <p:cNvSpPr txBox="1"/>
          <p:nvPr/>
        </p:nvSpPr>
        <p:spPr>
          <a:xfrm>
            <a:off x="1069848" y="3762756"/>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Attach</a:t>
            </a:r>
            <a:endParaRPr lang="en-US" sz="950" dirty="0"/>
          </a:p>
        </p:txBody>
      </p:sp>
      <p:sp>
        <p:nvSpPr>
          <p:cNvPr id="22" name="Text 20"/>
          <p:cNvSpPr txBox="1"/>
          <p:nvPr/>
        </p:nvSpPr>
        <p:spPr>
          <a:xfrm>
            <a:off x="2404872" y="3762756"/>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article used is attached to the case, which gives a measurable view of which content actually resolves cases.</a:t>
            </a:r>
            <a:endParaRPr lang="en-US" sz="850" dirty="0"/>
          </a:p>
        </p:txBody>
      </p:sp>
      <p:sp>
        <p:nvSpPr>
          <p:cNvPr id="23" name="Shape 21"/>
          <p:cNvSpPr/>
          <p:nvPr/>
        </p:nvSpPr>
        <p:spPr>
          <a:xfrm>
            <a:off x="740664" y="4256532"/>
            <a:ext cx="237744" cy="237744"/>
          </a:xfrm>
          <a:prstGeom prst="roundRect">
            <a:avLst>
              <a:gd name="adj" fmla="val 19231"/>
            </a:avLst>
          </a:prstGeom>
          <a:solidFill>
            <a:srgbClr val="0A0D14"/>
          </a:solidFill>
          <a:ln w="12700">
            <a:solidFill>
              <a:srgbClr val="22D3EE"/>
            </a:solidFill>
            <a:prstDash val="solid"/>
          </a:ln>
        </p:spPr>
      </p:sp>
      <p:sp>
        <p:nvSpPr>
          <p:cNvPr id="24" name="Text 22"/>
          <p:cNvSpPr txBox="1"/>
          <p:nvPr/>
        </p:nvSpPr>
        <p:spPr>
          <a:xfrm>
            <a:off x="740664" y="4256532"/>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5</a:t>
            </a:r>
            <a:endParaRPr lang="en-US" sz="950" dirty="0"/>
          </a:p>
        </p:txBody>
      </p:sp>
      <p:sp>
        <p:nvSpPr>
          <p:cNvPr id="25" name="Text 23"/>
          <p:cNvSpPr txBox="1"/>
          <p:nvPr/>
        </p:nvSpPr>
        <p:spPr>
          <a:xfrm>
            <a:off x="1069848" y="4210812"/>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Capture the gap</a:t>
            </a:r>
            <a:endParaRPr lang="en-US" sz="950" dirty="0"/>
          </a:p>
        </p:txBody>
      </p:sp>
      <p:sp>
        <p:nvSpPr>
          <p:cNvPr id="26" name="Text 24"/>
          <p:cNvSpPr txBox="1"/>
          <p:nvPr/>
        </p:nvSpPr>
        <p:spPr>
          <a:xfrm>
            <a:off x="2404872" y="4210812"/>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Where no article fits, the agent raises a gap in one click. That becomes a Knowledge backlog item with an owner.</a:t>
            </a:r>
            <a:endParaRPr lang="en-US" sz="850" dirty="0"/>
          </a:p>
        </p:txBody>
      </p:sp>
      <p:sp>
        <p:nvSpPr>
          <p:cNvPr id="27" name="Shape 25"/>
          <p:cNvSpPr/>
          <p:nvPr/>
        </p:nvSpPr>
        <p:spPr>
          <a:xfrm>
            <a:off x="740664" y="4704588"/>
            <a:ext cx="237744" cy="237744"/>
          </a:xfrm>
          <a:prstGeom prst="roundRect">
            <a:avLst>
              <a:gd name="adj" fmla="val 19231"/>
            </a:avLst>
          </a:prstGeom>
          <a:solidFill>
            <a:srgbClr val="0A0D14"/>
          </a:solidFill>
          <a:ln w="12700">
            <a:solidFill>
              <a:srgbClr val="22D3EE"/>
            </a:solidFill>
            <a:prstDash val="solid"/>
          </a:ln>
        </p:spPr>
      </p:sp>
      <p:sp>
        <p:nvSpPr>
          <p:cNvPr id="28" name="Text 26"/>
          <p:cNvSpPr txBox="1"/>
          <p:nvPr/>
        </p:nvSpPr>
        <p:spPr>
          <a:xfrm>
            <a:off x="740664" y="4704588"/>
            <a:ext cx="237744" cy="237744"/>
          </a:xfrm>
          <a:prstGeom prst="rect">
            <a:avLst/>
          </a:prstGeom>
          <a:noFill/>
          <a:ln/>
        </p:spPr>
        <p:txBody>
          <a:bodyPr wrap="square" lIns="0" tIns="0" rIns="0" bIns="0" rtlCol="0" anchor="ctr"/>
          <a:lstStyle/>
          <a:p>
            <a:pPr algn="ctr" indent="0" marL="0">
              <a:buNone/>
            </a:pPr>
            <a:r>
              <a:rPr lang="en-US" sz="950" b="1" dirty="0">
                <a:solidFill>
                  <a:srgbClr val="22D3EE"/>
                </a:solidFill>
                <a:latin typeface="Arial" pitchFamily="34" charset="0"/>
                <a:ea typeface="Arial" pitchFamily="34" charset="-122"/>
                <a:cs typeface="Arial" pitchFamily="34" charset="-120"/>
              </a:rPr>
              <a:t>6</a:t>
            </a:r>
            <a:endParaRPr lang="en-US" sz="950" dirty="0"/>
          </a:p>
        </p:txBody>
      </p:sp>
      <p:sp>
        <p:nvSpPr>
          <p:cNvPr id="29" name="Text 27"/>
          <p:cNvSpPr txBox="1"/>
          <p:nvPr/>
        </p:nvSpPr>
        <p:spPr>
          <a:xfrm>
            <a:off x="1069848" y="4658868"/>
            <a:ext cx="1325880" cy="292608"/>
          </a:xfrm>
          <a:prstGeom prst="rect">
            <a:avLst/>
          </a:prstGeom>
          <a:noFill/>
          <a:ln/>
        </p:spPr>
        <p:txBody>
          <a:bodyPr wrap="square" lIns="0" tIns="0" rIns="0" bIns="0" rtlCol="0" anchor="ctr"/>
          <a:lstStyle/>
          <a:p>
            <a:pPr indent="0" marL="0">
              <a:buNone/>
            </a:pPr>
            <a:r>
              <a:rPr lang="en-US" sz="950" b="1" dirty="0">
                <a:solidFill>
                  <a:srgbClr val="22D3EE"/>
                </a:solidFill>
                <a:latin typeface="Arial" pitchFamily="34" charset="0"/>
                <a:ea typeface="Arial" pitchFamily="34" charset="-122"/>
                <a:cs typeface="Arial" pitchFamily="34" charset="-120"/>
              </a:rPr>
              <a:t>Publish and reuse</a:t>
            </a:r>
            <a:endParaRPr lang="en-US" sz="950" dirty="0"/>
          </a:p>
        </p:txBody>
      </p:sp>
      <p:sp>
        <p:nvSpPr>
          <p:cNvPr id="30" name="Text 28"/>
          <p:cNvSpPr txBox="1"/>
          <p:nvPr/>
        </p:nvSpPr>
        <p:spPr>
          <a:xfrm>
            <a:off x="2404872" y="4658868"/>
            <a:ext cx="4718304" cy="365760"/>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new or corrected article is reviewed, approved and published, and the next case is answered from it.</a:t>
            </a:r>
            <a:endParaRPr lang="en-US" sz="850" dirty="0"/>
          </a:p>
        </p:txBody>
      </p:sp>
      <p:sp>
        <p:nvSpPr>
          <p:cNvPr id="31" name="Shape 29"/>
          <p:cNvSpPr/>
          <p:nvPr/>
        </p:nvSpPr>
        <p:spPr>
          <a:xfrm>
            <a:off x="7580376" y="1796796"/>
            <a:ext cx="4105656" cy="1609344"/>
          </a:xfrm>
          <a:prstGeom prst="roundRect">
            <a:avLst>
              <a:gd name="adj" fmla="val 2273"/>
            </a:avLst>
          </a:prstGeom>
          <a:solidFill>
            <a:srgbClr val="151A24"/>
          </a:solidFill>
          <a:ln w="12700">
            <a:solidFill>
              <a:srgbClr val="252D3D"/>
            </a:solidFill>
            <a:prstDash val="solid"/>
          </a:ln>
        </p:spPr>
      </p:sp>
      <p:sp>
        <p:nvSpPr>
          <p:cNvPr id="32" name="Text 30"/>
          <p:cNvSpPr txBox="1"/>
          <p:nvPr/>
        </p:nvSpPr>
        <p:spPr>
          <a:xfrm>
            <a:off x="7799832" y="1961388"/>
            <a:ext cx="366674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KNOWLEDGE GOVERNANCE</a:t>
            </a:r>
            <a:endParaRPr lang="en-US" sz="1000" dirty="0"/>
          </a:p>
        </p:txBody>
      </p:sp>
      <p:sp>
        <p:nvSpPr>
          <p:cNvPr id="33" name="Text 31"/>
          <p:cNvSpPr txBox="1"/>
          <p:nvPr/>
        </p:nvSpPr>
        <p:spPr>
          <a:xfrm>
            <a:off x="7799832" y="2253996"/>
            <a:ext cx="3666744" cy="877824"/>
          </a:xfrm>
          <a:prstGeom prst="rect">
            <a:avLst/>
          </a:prstGeom>
          <a:noFill/>
          <a:ln/>
        </p:spPr>
        <p:txBody>
          <a:bodyPr wrap="square" lIns="0" tIns="0" rIns="0" bIns="0" rtlCol="0" anchor="t"/>
          <a:lstStyle/>
          <a:p>
            <a:pPr indent="0" marL="0">
              <a:lnSpc>
                <a:spcPts val="1250"/>
              </a:lnSpc>
              <a:buNone/>
            </a:pPr>
            <a:r>
              <a:rPr lang="en-US" sz="900" dirty="0">
                <a:solidFill>
                  <a:srgbClr val="E6EAF2"/>
                </a:solidFill>
                <a:latin typeface="Arial" pitchFamily="34" charset="0"/>
                <a:ea typeface="Arial" pitchFamily="34" charset="-122"/>
                <a:cs typeface="Arial" pitchFamily="34" charset="-120"/>
              </a:rPr>
              <a:t>Every article carries an owner, a version, an approval state, a review date and the case types it serves. Articles that pass their review date are flagged rather than left to quietly go stale.</a:t>
            </a:r>
            <a:endParaRPr lang="en-US" sz="900" dirty="0"/>
          </a:p>
        </p:txBody>
      </p:sp>
      <p:sp>
        <p:nvSpPr>
          <p:cNvPr id="34" name="Shape 32"/>
          <p:cNvSpPr/>
          <p:nvPr/>
        </p:nvSpPr>
        <p:spPr>
          <a:xfrm>
            <a:off x="7580376" y="3607308"/>
            <a:ext cx="4105656" cy="1499616"/>
          </a:xfrm>
          <a:prstGeom prst="roundRect">
            <a:avLst>
              <a:gd name="adj" fmla="val 2439"/>
            </a:avLst>
          </a:prstGeom>
          <a:solidFill>
            <a:srgbClr val="151A24"/>
          </a:solidFill>
          <a:ln w="12700">
            <a:solidFill>
              <a:srgbClr val="252D3D"/>
            </a:solidFill>
            <a:prstDash val="solid"/>
          </a:ln>
        </p:spPr>
      </p:sp>
      <p:sp>
        <p:nvSpPr>
          <p:cNvPr id="35" name="Text 33"/>
          <p:cNvSpPr txBox="1"/>
          <p:nvPr/>
        </p:nvSpPr>
        <p:spPr>
          <a:xfrm>
            <a:off x="7799832" y="3771900"/>
            <a:ext cx="3666744"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WHY THIS COMPOUNDS</a:t>
            </a:r>
            <a:endParaRPr lang="en-US" sz="1000" dirty="0"/>
          </a:p>
        </p:txBody>
      </p:sp>
      <p:sp>
        <p:nvSpPr>
          <p:cNvPr id="36" name="Text 34"/>
          <p:cNvSpPr txBox="1"/>
          <p:nvPr/>
        </p:nvSpPr>
        <p:spPr>
          <a:xfrm>
            <a:off x="7799832" y="4064508"/>
            <a:ext cx="3666744" cy="932688"/>
          </a:xfrm>
          <a:prstGeom prst="rect">
            <a:avLst/>
          </a:prstGeom>
          <a:noFill/>
          <a:ln/>
        </p:spPr>
        <p:txBody>
          <a:bodyPr wrap="square" lIns="0" tIns="0" rIns="0" bIns="0" rtlCol="0" anchor="t"/>
          <a:lstStyle/>
          <a:p>
            <a:pPr indent="0" marL="0">
              <a:lnSpc>
                <a:spcPts val="1250"/>
              </a:lnSpc>
              <a:buNone/>
            </a:pPr>
            <a:r>
              <a:rPr lang="en-US" sz="900" dirty="0">
                <a:solidFill>
                  <a:srgbClr val="E6EAF2"/>
                </a:solidFill>
                <a:latin typeface="Arial" pitchFamily="34" charset="0"/>
                <a:ea typeface="Arial" pitchFamily="34" charset="-122"/>
                <a:cs typeface="Arial" pitchFamily="34" charset="-120"/>
              </a:rPr>
              <a:t>Today a good answer helps one customer. Under this model a good answer is written once into an article, then grounds every future draft on that case type. Knowledge quality becomes the lever on response quality across the whole operation.</a:t>
            </a:r>
            <a:endParaRPr lang="en-US" sz="900" dirty="0"/>
          </a:p>
        </p:txBody>
      </p:sp>
      <p:sp>
        <p:nvSpPr>
          <p:cNvPr id="37" name="Text 35"/>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Knowledge base development and standardised response content are already committed in the current proposal. This design makes that content the grounding source for automation rather than a reference library alongside it.</a:t>
            </a:r>
            <a:endParaRPr lang="en-US" sz="750" dirty="0"/>
          </a:p>
        </p:txBody>
      </p:sp>
      <p:pic>
        <p:nvPicPr>
          <p:cNvPr id="38"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9" name="Text 36"/>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CASE LIFECYCLE</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STANDARD STATUSES, AND WHAT EACH DOES TO THE CLOCK</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Ambiguous statuses are how SLA reporting loses credibility. Each status below has one meaning and a defined effect on both clocks, configured in the Entitlement Process.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96796"/>
          <a:ext cx="11183112" cy="914400"/>
        </p:xfrm>
        <a:graphic>
          <a:graphicData uri="http://schemas.openxmlformats.org/drawingml/2006/table">
            <a:tbl>
              <a:tblPr/>
              <a:tblGrid>
                <a:gridCol w="2148840"/>
                <a:gridCol w="3977640"/>
                <a:gridCol w="2331720"/>
                <a:gridCol w="2724912"/>
              </a:tblGrid>
              <a:tr h="315468">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Status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What it means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First response clock</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Resolution clock</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New or Open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Received but not yet accepted by an agent</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Runs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Runs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Assigned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Owner assigned, work not yet started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Runs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Runs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Agent actively investigating or responding</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Runs until the response is sent</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Runs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Pending Internal Team</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Waiting on pricing, AR, warehouse or another McKesson dependency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Continues to run, with dependency time measured separately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Waiting for Customer</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Customer information or action is required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Pauses, once a valid request has been sent</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Waiting for Closure Confirmation</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Resolution supplied, customer confirmation outstanding</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Pauses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Resolved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Solution provided, no further operational action required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Stops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Closed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Closure confirmed, or the auto closure rule has 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E6EAF2"/>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Reopened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Customer indicates the issue is not resolved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22C55E"/>
                          </a:solidFill>
                          <a:latin typeface="Arial" pitchFamily="34" charset="0"/>
                          <a:ea typeface="Arial" pitchFamily="34" charset="-122"/>
                          <a:cs typeface="Arial" pitchFamily="34" charset="-120"/>
                        </a:rPr>
                        <a:t>Completed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F59E0B"/>
                          </a:solidFill>
                          <a:latin typeface="Arial" pitchFamily="34" charset="0"/>
                          <a:ea typeface="Arial" pitchFamily="34" charset="-122"/>
                          <a:cs typeface="Arial" pitchFamily="34" charset="-120"/>
                        </a:rPr>
                        <a:t>Resumes, and the reopen is tracked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15468">
                <a:tc>
                  <a:txBody>
                    <a:bodyPr/>
                    <a:lstStyle/>
                    <a:p>
                      <a:pPr indent="0" marL="0">
                        <a:buNone/>
                      </a:pPr>
                      <a:r>
                        <a:rPr lang="en-US" sz="850" b="1" dirty="0">
                          <a:solidFill>
                            <a:srgbClr val="FFFFFF"/>
                          </a:solidFill>
                          <a:latin typeface="Arial" pitchFamily="34" charset="0"/>
                          <a:ea typeface="Arial" pitchFamily="34" charset="-122"/>
                          <a:cs typeface="Arial" pitchFamily="34" charset="-120"/>
                        </a:rPr>
                        <a:t>Cancelled or Duplicate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Invalid or duplicate case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Excluded under agreed rules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Excluded under agreed rules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bl>
          </a:graphicData>
        </a:graphic>
      </p:graphicFrame>
      <p:sp>
        <p:nvSpPr>
          <p:cNvPr id="6" name="Shape 3"/>
          <p:cNvSpPr/>
          <p:nvPr/>
        </p:nvSpPr>
        <p:spPr>
          <a:xfrm>
            <a:off x="502920" y="5317236"/>
            <a:ext cx="11183112" cy="512064"/>
          </a:xfrm>
          <a:prstGeom prst="roundRect">
            <a:avLst>
              <a:gd name="adj" fmla="val 7143"/>
            </a:avLst>
          </a:prstGeom>
          <a:solidFill>
            <a:srgbClr val="1A2130"/>
          </a:solidFill>
          <a:ln w="12700">
            <a:solidFill>
              <a:srgbClr val="252D3D"/>
            </a:solidFill>
            <a:prstDash val="solid"/>
          </a:ln>
        </p:spPr>
      </p:sp>
      <p:sp>
        <p:nvSpPr>
          <p:cNvPr id="7" name="Text 4"/>
          <p:cNvSpPr txBox="1"/>
          <p:nvPr/>
        </p:nvSpPr>
        <p:spPr>
          <a:xfrm>
            <a:off x="704088" y="5317236"/>
            <a:ext cx="10780776" cy="512064"/>
          </a:xfrm>
          <a:prstGeom prst="rect">
            <a:avLst/>
          </a:prstGeom>
          <a:noFill/>
          <a:ln/>
        </p:spPr>
        <p:txBody>
          <a:bodyPr wrap="square" lIns="0" tIns="0" rIns="0" bIns="0" rtlCol="0" anchor="ctr"/>
          <a:lstStyle/>
          <a:p>
            <a:pPr indent="0" marL="0">
              <a:lnSpc>
                <a:spcPts val="1200"/>
              </a:lnSpc>
              <a:buNone/>
            </a:pPr>
            <a:r>
              <a:rPr lang="en-US" sz="900" b="1" spc="140" kern="0" dirty="0">
                <a:solidFill>
                  <a:srgbClr val="22D3EE"/>
                </a:solidFill>
                <a:latin typeface="Arial" pitchFamily="34" charset="0"/>
                <a:ea typeface="Arial" pitchFamily="34" charset="-122"/>
                <a:cs typeface="Arial" pitchFamily="34" charset="-120"/>
              </a:rPr>
              <a:t>DESIGN DECISION   </a:t>
            </a:r>
            <a:pPr indent="0" marL="0">
              <a:lnSpc>
                <a:spcPts val="1200"/>
              </a:lnSpc>
              <a:buNone/>
            </a:pPr>
            <a:r>
              <a:rPr lang="en-US" sz="900" dirty="0">
                <a:solidFill>
                  <a:srgbClr val="E6EAF2"/>
                </a:solidFill>
                <a:latin typeface="Arial" pitchFamily="34" charset="0"/>
                <a:ea typeface="Arial" pitchFamily="34" charset="-122"/>
                <a:cs typeface="Arial" pitchFamily="34" charset="-120"/>
              </a:rPr>
              <a:t>The resolution clock is not paused simply because another internal team is involved. Pausing it would hide the real customer experience. Instead four times are measured on every case: end to end closure time, controllable Insight Global processing time, dependency time awaiting a McKesson team, and customer wait time.</a:t>
            </a:r>
            <a:endParaRPr lang="en-US" sz="900" dirty="0"/>
          </a:p>
        </p:txBody>
      </p:sp>
      <p:pic>
        <p:nvPicPr>
          <p:cNvPr id="8"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9" name="Text 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TRUST AND CONTROL</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BUILT FOR A PHI SENSITIVE ENVIRONMENT</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Generative capability in this design runs through the Einstein Trust Layer inside McKesson tenancy. Nothing is trained on McKesson data and nothing is retained by a model provider.</a:t>
            </a:r>
            <a:endParaRPr lang="en-US" sz="1150" dirty="0"/>
          </a:p>
        </p:txBody>
      </p:sp>
      <p:sp>
        <p:nvSpPr>
          <p:cNvPr id="5" name="Shape 3"/>
          <p:cNvSpPr/>
          <p:nvPr/>
        </p:nvSpPr>
        <p:spPr>
          <a:xfrm>
            <a:off x="502920" y="1796796"/>
            <a:ext cx="3593592" cy="1078992"/>
          </a:xfrm>
          <a:prstGeom prst="roundRect">
            <a:avLst>
              <a:gd name="adj" fmla="val 3390"/>
            </a:avLst>
          </a:prstGeom>
          <a:solidFill>
            <a:srgbClr val="151A24"/>
          </a:solidFill>
          <a:ln w="12700">
            <a:solidFill>
              <a:srgbClr val="252D3D"/>
            </a:solidFill>
            <a:prstDash val="solid"/>
          </a:ln>
        </p:spPr>
      </p:sp>
      <p:sp>
        <p:nvSpPr>
          <p:cNvPr id="6" name="Text 4"/>
          <p:cNvSpPr txBox="1"/>
          <p:nvPr/>
        </p:nvSpPr>
        <p:spPr>
          <a:xfrm>
            <a:off x="722376" y="1943100"/>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Arial" pitchFamily="34" charset="0"/>
                <a:ea typeface="Arial" pitchFamily="34" charset="-122"/>
                <a:cs typeface="Arial" pitchFamily="34" charset="-120"/>
              </a:rPr>
              <a:t>Zero data retention</a:t>
            </a:r>
            <a:endParaRPr lang="en-US" sz="1100" dirty="0"/>
          </a:p>
        </p:txBody>
      </p:sp>
      <p:sp>
        <p:nvSpPr>
          <p:cNvPr id="7" name="Text 5"/>
          <p:cNvSpPr txBox="1"/>
          <p:nvPr/>
        </p:nvSpPr>
        <p:spPr>
          <a:xfrm>
            <a:off x="722376" y="2217420"/>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Prompts and responses are not stored or used for training by the model provider. They exist only in the Salesforce audit record.</a:t>
            </a:r>
            <a:endParaRPr lang="en-US" sz="850" dirty="0"/>
          </a:p>
        </p:txBody>
      </p:sp>
      <p:sp>
        <p:nvSpPr>
          <p:cNvPr id="8" name="Shape 6"/>
          <p:cNvSpPr/>
          <p:nvPr/>
        </p:nvSpPr>
        <p:spPr>
          <a:xfrm>
            <a:off x="4297680" y="1796796"/>
            <a:ext cx="3593592" cy="1078992"/>
          </a:xfrm>
          <a:prstGeom prst="roundRect">
            <a:avLst>
              <a:gd name="adj" fmla="val 3390"/>
            </a:avLst>
          </a:prstGeom>
          <a:solidFill>
            <a:srgbClr val="151A24"/>
          </a:solidFill>
          <a:ln w="12700">
            <a:solidFill>
              <a:srgbClr val="252D3D"/>
            </a:solidFill>
            <a:prstDash val="solid"/>
          </a:ln>
        </p:spPr>
      </p:sp>
      <p:sp>
        <p:nvSpPr>
          <p:cNvPr id="9" name="Text 7"/>
          <p:cNvSpPr txBox="1"/>
          <p:nvPr/>
        </p:nvSpPr>
        <p:spPr>
          <a:xfrm>
            <a:off x="4517136" y="1943100"/>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Arial" pitchFamily="34" charset="0"/>
                <a:ea typeface="Arial" pitchFamily="34" charset="-122"/>
                <a:cs typeface="Arial" pitchFamily="34" charset="-120"/>
              </a:rPr>
              <a:t>Data masking</a:t>
            </a:r>
            <a:endParaRPr lang="en-US" sz="1100" dirty="0"/>
          </a:p>
        </p:txBody>
      </p:sp>
      <p:sp>
        <p:nvSpPr>
          <p:cNvPr id="10" name="Text 8"/>
          <p:cNvSpPr txBox="1"/>
          <p:nvPr/>
        </p:nvSpPr>
        <p:spPr>
          <a:xfrm>
            <a:off x="4517136" y="2217420"/>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PHI and PII are masked before the prompt leaves the org and rehydrated in the response, so identifiable data is not exposed to the model.</a:t>
            </a:r>
            <a:endParaRPr lang="en-US" sz="850" dirty="0"/>
          </a:p>
        </p:txBody>
      </p:sp>
      <p:sp>
        <p:nvSpPr>
          <p:cNvPr id="11" name="Shape 9"/>
          <p:cNvSpPr/>
          <p:nvPr/>
        </p:nvSpPr>
        <p:spPr>
          <a:xfrm>
            <a:off x="8092440" y="1796796"/>
            <a:ext cx="3593592" cy="1078992"/>
          </a:xfrm>
          <a:prstGeom prst="roundRect">
            <a:avLst>
              <a:gd name="adj" fmla="val 3390"/>
            </a:avLst>
          </a:prstGeom>
          <a:solidFill>
            <a:srgbClr val="151A24"/>
          </a:solidFill>
          <a:ln w="12700">
            <a:solidFill>
              <a:srgbClr val="252D3D"/>
            </a:solidFill>
            <a:prstDash val="solid"/>
          </a:ln>
        </p:spPr>
      </p:sp>
      <p:sp>
        <p:nvSpPr>
          <p:cNvPr id="12" name="Text 10"/>
          <p:cNvSpPr txBox="1"/>
          <p:nvPr/>
        </p:nvSpPr>
        <p:spPr>
          <a:xfrm>
            <a:off x="8311896" y="1943100"/>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Arial" pitchFamily="34" charset="0"/>
                <a:ea typeface="Arial" pitchFamily="34" charset="-122"/>
                <a:cs typeface="Arial" pitchFamily="34" charset="-120"/>
              </a:rPr>
              <a:t>Dynamic grounding</a:t>
            </a:r>
            <a:endParaRPr lang="en-US" sz="1100" dirty="0"/>
          </a:p>
        </p:txBody>
      </p:sp>
      <p:sp>
        <p:nvSpPr>
          <p:cNvPr id="13" name="Text 11"/>
          <p:cNvSpPr txBox="1"/>
          <p:nvPr/>
        </p:nvSpPr>
        <p:spPr>
          <a:xfrm>
            <a:off x="8311896" y="2217420"/>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The template receives only the specific records it is authorised to see, under the running user permissions.</a:t>
            </a:r>
            <a:endParaRPr lang="en-US" sz="850" dirty="0"/>
          </a:p>
        </p:txBody>
      </p:sp>
      <p:sp>
        <p:nvSpPr>
          <p:cNvPr id="14" name="Shape 12"/>
          <p:cNvSpPr/>
          <p:nvPr/>
        </p:nvSpPr>
        <p:spPr>
          <a:xfrm>
            <a:off x="502920" y="3058668"/>
            <a:ext cx="3593592" cy="1078992"/>
          </a:xfrm>
          <a:prstGeom prst="roundRect">
            <a:avLst>
              <a:gd name="adj" fmla="val 3390"/>
            </a:avLst>
          </a:prstGeom>
          <a:solidFill>
            <a:srgbClr val="151A24"/>
          </a:solidFill>
          <a:ln w="12700">
            <a:solidFill>
              <a:srgbClr val="252D3D"/>
            </a:solidFill>
            <a:prstDash val="solid"/>
          </a:ln>
        </p:spPr>
      </p:sp>
      <p:sp>
        <p:nvSpPr>
          <p:cNvPr id="15" name="Text 13"/>
          <p:cNvSpPr txBox="1"/>
          <p:nvPr/>
        </p:nvSpPr>
        <p:spPr>
          <a:xfrm>
            <a:off x="722376" y="3204972"/>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Arial" pitchFamily="34" charset="0"/>
                <a:ea typeface="Arial" pitchFamily="34" charset="-122"/>
                <a:cs typeface="Arial" pitchFamily="34" charset="-120"/>
              </a:rPr>
              <a:t>Prompt injection defence</a:t>
            </a:r>
            <a:endParaRPr lang="en-US" sz="1100" dirty="0"/>
          </a:p>
        </p:txBody>
      </p:sp>
      <p:sp>
        <p:nvSpPr>
          <p:cNvPr id="16" name="Text 14"/>
          <p:cNvSpPr txBox="1"/>
          <p:nvPr/>
        </p:nvSpPr>
        <p:spPr>
          <a:xfrm>
            <a:off x="722376" y="3479292"/>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Instructions embedded in an inbound customer email are treated as content, not as commands to the system.</a:t>
            </a:r>
            <a:endParaRPr lang="en-US" sz="850" dirty="0"/>
          </a:p>
        </p:txBody>
      </p:sp>
      <p:sp>
        <p:nvSpPr>
          <p:cNvPr id="17" name="Shape 15"/>
          <p:cNvSpPr/>
          <p:nvPr/>
        </p:nvSpPr>
        <p:spPr>
          <a:xfrm>
            <a:off x="4297680" y="3058668"/>
            <a:ext cx="3593592" cy="1078992"/>
          </a:xfrm>
          <a:prstGeom prst="roundRect">
            <a:avLst>
              <a:gd name="adj" fmla="val 3390"/>
            </a:avLst>
          </a:prstGeom>
          <a:solidFill>
            <a:srgbClr val="151A24"/>
          </a:solidFill>
          <a:ln w="12700">
            <a:solidFill>
              <a:srgbClr val="252D3D"/>
            </a:solidFill>
            <a:prstDash val="solid"/>
          </a:ln>
        </p:spPr>
      </p:sp>
      <p:sp>
        <p:nvSpPr>
          <p:cNvPr id="18" name="Text 16"/>
          <p:cNvSpPr txBox="1"/>
          <p:nvPr/>
        </p:nvSpPr>
        <p:spPr>
          <a:xfrm>
            <a:off x="4517136" y="3204972"/>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Arial" pitchFamily="34" charset="0"/>
                <a:ea typeface="Arial" pitchFamily="34" charset="-122"/>
                <a:cs typeface="Arial" pitchFamily="34" charset="-120"/>
              </a:rPr>
              <a:t>Toxicity scoring</a:t>
            </a:r>
            <a:endParaRPr lang="en-US" sz="1100" dirty="0"/>
          </a:p>
        </p:txBody>
      </p:sp>
      <p:sp>
        <p:nvSpPr>
          <p:cNvPr id="19" name="Text 17"/>
          <p:cNvSpPr txBox="1"/>
          <p:nvPr/>
        </p:nvSpPr>
        <p:spPr>
          <a:xfrm>
            <a:off x="4517136" y="3479292"/>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Generated output is scored before it is presented, and flagged output is withheld from the agent.</a:t>
            </a:r>
            <a:endParaRPr lang="en-US" sz="850" dirty="0"/>
          </a:p>
        </p:txBody>
      </p:sp>
      <p:sp>
        <p:nvSpPr>
          <p:cNvPr id="20" name="Shape 18"/>
          <p:cNvSpPr/>
          <p:nvPr/>
        </p:nvSpPr>
        <p:spPr>
          <a:xfrm>
            <a:off x="8092440" y="3058668"/>
            <a:ext cx="3593592" cy="1078992"/>
          </a:xfrm>
          <a:prstGeom prst="roundRect">
            <a:avLst>
              <a:gd name="adj" fmla="val 3390"/>
            </a:avLst>
          </a:prstGeom>
          <a:solidFill>
            <a:srgbClr val="151A24"/>
          </a:solidFill>
          <a:ln w="12700">
            <a:solidFill>
              <a:srgbClr val="252D3D"/>
            </a:solidFill>
            <a:prstDash val="solid"/>
          </a:ln>
        </p:spPr>
      </p:sp>
      <p:sp>
        <p:nvSpPr>
          <p:cNvPr id="21" name="Text 19"/>
          <p:cNvSpPr txBox="1"/>
          <p:nvPr/>
        </p:nvSpPr>
        <p:spPr>
          <a:xfrm>
            <a:off x="8311896" y="3204972"/>
            <a:ext cx="3154680" cy="237744"/>
          </a:xfrm>
          <a:prstGeom prst="rect">
            <a:avLst/>
          </a:prstGeom>
          <a:noFill/>
          <a:ln/>
        </p:spPr>
        <p:txBody>
          <a:bodyPr wrap="square" lIns="0" tIns="0" rIns="0" bIns="0" rtlCol="0" anchor="ctr"/>
          <a:lstStyle/>
          <a:p>
            <a:pPr indent="0" marL="0">
              <a:buNone/>
            </a:pPr>
            <a:r>
              <a:rPr lang="en-US" sz="1100" b="1" dirty="0">
                <a:solidFill>
                  <a:srgbClr val="22D3EE"/>
                </a:solidFill>
                <a:latin typeface="Arial" pitchFamily="34" charset="0"/>
                <a:ea typeface="Arial" pitchFamily="34" charset="-122"/>
                <a:cs typeface="Arial" pitchFamily="34" charset="-120"/>
              </a:rPr>
              <a:t>Audit trail</a:t>
            </a:r>
            <a:endParaRPr lang="en-US" sz="1100" dirty="0"/>
          </a:p>
        </p:txBody>
      </p:sp>
      <p:sp>
        <p:nvSpPr>
          <p:cNvPr id="22" name="Text 20"/>
          <p:cNvSpPr txBox="1"/>
          <p:nvPr/>
        </p:nvSpPr>
        <p:spPr>
          <a:xfrm>
            <a:off x="8311896" y="3479292"/>
            <a:ext cx="3154680" cy="566928"/>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Every prompt, response, agent edit and send is retained and reportable, so any customer reply can be reconstructed.</a:t>
            </a:r>
            <a:endParaRPr lang="en-US" sz="850" dirty="0"/>
          </a:p>
        </p:txBody>
      </p:sp>
      <p:sp>
        <p:nvSpPr>
          <p:cNvPr id="23" name="Shape 21"/>
          <p:cNvSpPr/>
          <p:nvPr/>
        </p:nvSpPr>
        <p:spPr>
          <a:xfrm>
            <a:off x="502920" y="4375404"/>
            <a:ext cx="11183112" cy="1115568"/>
          </a:xfrm>
          <a:prstGeom prst="roundRect">
            <a:avLst>
              <a:gd name="adj" fmla="val 3279"/>
            </a:avLst>
          </a:prstGeom>
          <a:solidFill>
            <a:srgbClr val="1A1226"/>
          </a:solidFill>
          <a:ln w="12700">
            <a:solidFill>
              <a:srgbClr val="4A2740"/>
            </a:solidFill>
            <a:prstDash val="solid"/>
          </a:ln>
        </p:spPr>
      </p:sp>
      <p:sp>
        <p:nvSpPr>
          <p:cNvPr id="24" name="Text 22"/>
          <p:cNvSpPr txBox="1"/>
          <p:nvPr/>
        </p:nvSpPr>
        <p:spPr>
          <a:xfrm>
            <a:off x="740664" y="4521708"/>
            <a:ext cx="7315200" cy="201168"/>
          </a:xfrm>
          <a:prstGeom prst="rect">
            <a:avLst/>
          </a:prstGeom>
          <a:noFill/>
          <a:ln/>
        </p:spPr>
        <p:txBody>
          <a:bodyPr wrap="square" lIns="0" tIns="0" rIns="0" bIns="0" rtlCol="0" anchor="ctr"/>
          <a:lstStyle/>
          <a:p>
            <a:pPr indent="0" marL="0">
              <a:buNone/>
            </a:pPr>
            <a:r>
              <a:rPr lang="en-US" sz="1000" b="1" spc="140" kern="0" dirty="0">
                <a:solidFill>
                  <a:srgbClr val="FF0069"/>
                </a:solidFill>
                <a:latin typeface="Arial" pitchFamily="34" charset="0"/>
                <a:ea typeface="Arial" pitchFamily="34" charset="-122"/>
                <a:cs typeface="Arial" pitchFamily="34" charset="-120"/>
              </a:rPr>
              <a:t>HUMAN APPROVAL REMAINS MANDATORY, AT EVERY PHASE</a:t>
            </a:r>
            <a:endParaRPr lang="en-US" sz="1000" dirty="0"/>
          </a:p>
        </p:txBody>
      </p:sp>
      <p:sp>
        <p:nvSpPr>
          <p:cNvPr id="25" name="Shape 23"/>
          <p:cNvSpPr/>
          <p:nvPr/>
        </p:nvSpPr>
        <p:spPr>
          <a:xfrm>
            <a:off x="740664" y="4832604"/>
            <a:ext cx="2560320" cy="246888"/>
          </a:xfrm>
          <a:prstGeom prst="roundRect">
            <a:avLst>
              <a:gd name="adj" fmla="val 18519"/>
            </a:avLst>
          </a:prstGeom>
          <a:solidFill>
            <a:srgbClr val="241733"/>
          </a:solidFill>
          <a:ln w="12700">
            <a:solidFill>
              <a:srgbClr val="4A2740"/>
            </a:solidFill>
            <a:prstDash val="solid"/>
          </a:ln>
        </p:spPr>
      </p:sp>
      <p:sp>
        <p:nvSpPr>
          <p:cNvPr id="26" name="Text 24"/>
          <p:cNvSpPr txBox="1"/>
          <p:nvPr/>
        </p:nvSpPr>
        <p:spPr>
          <a:xfrm>
            <a:off x="850392"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Credits and returns</a:t>
            </a:r>
            <a:endParaRPr lang="en-US" sz="850" dirty="0"/>
          </a:p>
        </p:txBody>
      </p:sp>
      <p:sp>
        <p:nvSpPr>
          <p:cNvPr id="27" name="Shape 25"/>
          <p:cNvSpPr/>
          <p:nvPr/>
        </p:nvSpPr>
        <p:spPr>
          <a:xfrm>
            <a:off x="3465576" y="4832604"/>
            <a:ext cx="2560320" cy="246888"/>
          </a:xfrm>
          <a:prstGeom prst="roundRect">
            <a:avLst>
              <a:gd name="adj" fmla="val 18519"/>
            </a:avLst>
          </a:prstGeom>
          <a:solidFill>
            <a:srgbClr val="241733"/>
          </a:solidFill>
          <a:ln w="12700">
            <a:solidFill>
              <a:srgbClr val="4A2740"/>
            </a:solidFill>
            <a:prstDash val="solid"/>
          </a:ln>
        </p:spPr>
      </p:sp>
      <p:sp>
        <p:nvSpPr>
          <p:cNvPr id="28" name="Text 26"/>
          <p:cNvSpPr txBox="1"/>
          <p:nvPr/>
        </p:nvSpPr>
        <p:spPr>
          <a:xfrm>
            <a:off x="3575304"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Pricing adjustments</a:t>
            </a:r>
            <a:endParaRPr lang="en-US" sz="850" dirty="0"/>
          </a:p>
        </p:txBody>
      </p:sp>
      <p:sp>
        <p:nvSpPr>
          <p:cNvPr id="29" name="Shape 27"/>
          <p:cNvSpPr/>
          <p:nvPr/>
        </p:nvSpPr>
        <p:spPr>
          <a:xfrm>
            <a:off x="6190488" y="4832604"/>
            <a:ext cx="2560320" cy="246888"/>
          </a:xfrm>
          <a:prstGeom prst="roundRect">
            <a:avLst>
              <a:gd name="adj" fmla="val 18519"/>
            </a:avLst>
          </a:prstGeom>
          <a:solidFill>
            <a:srgbClr val="241733"/>
          </a:solidFill>
          <a:ln w="12700">
            <a:solidFill>
              <a:srgbClr val="4A2740"/>
            </a:solidFill>
            <a:prstDash val="solid"/>
          </a:ln>
        </p:spPr>
      </p:sp>
      <p:sp>
        <p:nvSpPr>
          <p:cNvPr id="30" name="Text 28"/>
          <p:cNvSpPr txBox="1"/>
          <p:nvPr/>
        </p:nvSpPr>
        <p:spPr>
          <a:xfrm>
            <a:off x="6300216"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Account holds</a:t>
            </a:r>
            <a:endParaRPr lang="en-US" sz="850" dirty="0"/>
          </a:p>
        </p:txBody>
      </p:sp>
      <p:sp>
        <p:nvSpPr>
          <p:cNvPr id="31" name="Shape 29"/>
          <p:cNvSpPr/>
          <p:nvPr/>
        </p:nvSpPr>
        <p:spPr>
          <a:xfrm>
            <a:off x="8915400" y="4832604"/>
            <a:ext cx="2560320" cy="246888"/>
          </a:xfrm>
          <a:prstGeom prst="roundRect">
            <a:avLst>
              <a:gd name="adj" fmla="val 18519"/>
            </a:avLst>
          </a:prstGeom>
          <a:solidFill>
            <a:srgbClr val="241733"/>
          </a:solidFill>
          <a:ln w="12700">
            <a:solidFill>
              <a:srgbClr val="4A2740"/>
            </a:solidFill>
            <a:prstDash val="solid"/>
          </a:ln>
        </p:spPr>
      </p:sp>
      <p:sp>
        <p:nvSpPr>
          <p:cNvPr id="32" name="Text 30"/>
          <p:cNvSpPr txBox="1"/>
          <p:nvPr/>
        </p:nvSpPr>
        <p:spPr>
          <a:xfrm>
            <a:off x="9025128" y="4832604"/>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Billing disputes</a:t>
            </a:r>
            <a:endParaRPr lang="en-US" sz="850" dirty="0"/>
          </a:p>
        </p:txBody>
      </p:sp>
      <p:sp>
        <p:nvSpPr>
          <p:cNvPr id="33" name="Shape 31"/>
          <p:cNvSpPr/>
          <p:nvPr/>
        </p:nvSpPr>
        <p:spPr>
          <a:xfrm>
            <a:off x="740664" y="5125212"/>
            <a:ext cx="2560320" cy="246888"/>
          </a:xfrm>
          <a:prstGeom prst="roundRect">
            <a:avLst>
              <a:gd name="adj" fmla="val 18519"/>
            </a:avLst>
          </a:prstGeom>
          <a:solidFill>
            <a:srgbClr val="241733"/>
          </a:solidFill>
          <a:ln w="12700">
            <a:solidFill>
              <a:srgbClr val="4A2740"/>
            </a:solidFill>
            <a:prstDash val="solid"/>
          </a:ln>
        </p:spPr>
      </p:sp>
      <p:sp>
        <p:nvSpPr>
          <p:cNvPr id="34" name="Text 32"/>
          <p:cNvSpPr txBox="1"/>
          <p:nvPr/>
        </p:nvSpPr>
        <p:spPr>
          <a:xfrm>
            <a:off x="850392"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PHI sensitive exceptions</a:t>
            </a:r>
            <a:endParaRPr lang="en-US" sz="850" dirty="0"/>
          </a:p>
        </p:txBody>
      </p:sp>
      <p:sp>
        <p:nvSpPr>
          <p:cNvPr id="35" name="Shape 33"/>
          <p:cNvSpPr/>
          <p:nvPr/>
        </p:nvSpPr>
        <p:spPr>
          <a:xfrm>
            <a:off x="3465576" y="5125212"/>
            <a:ext cx="2560320" cy="246888"/>
          </a:xfrm>
          <a:prstGeom prst="roundRect">
            <a:avLst>
              <a:gd name="adj" fmla="val 18519"/>
            </a:avLst>
          </a:prstGeom>
          <a:solidFill>
            <a:srgbClr val="241733"/>
          </a:solidFill>
          <a:ln w="12700">
            <a:solidFill>
              <a:srgbClr val="4A2740"/>
            </a:solidFill>
            <a:prstDash val="solid"/>
          </a:ln>
        </p:spPr>
      </p:sp>
      <p:sp>
        <p:nvSpPr>
          <p:cNvPr id="36" name="Text 34"/>
          <p:cNvSpPr txBox="1"/>
          <p:nvPr/>
        </p:nvSpPr>
        <p:spPr>
          <a:xfrm>
            <a:off x="3575304"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Customer complaints</a:t>
            </a:r>
            <a:endParaRPr lang="en-US" sz="850" dirty="0"/>
          </a:p>
        </p:txBody>
      </p:sp>
      <p:sp>
        <p:nvSpPr>
          <p:cNvPr id="37" name="Shape 35"/>
          <p:cNvSpPr/>
          <p:nvPr/>
        </p:nvSpPr>
        <p:spPr>
          <a:xfrm>
            <a:off x="6190488" y="5125212"/>
            <a:ext cx="2560320" cy="246888"/>
          </a:xfrm>
          <a:prstGeom prst="roundRect">
            <a:avLst>
              <a:gd name="adj" fmla="val 18519"/>
            </a:avLst>
          </a:prstGeom>
          <a:solidFill>
            <a:srgbClr val="241733"/>
          </a:solidFill>
          <a:ln w="12700">
            <a:solidFill>
              <a:srgbClr val="4A2740"/>
            </a:solidFill>
            <a:prstDash val="solid"/>
          </a:ln>
        </p:spPr>
      </p:sp>
      <p:sp>
        <p:nvSpPr>
          <p:cNvPr id="38" name="Text 36"/>
          <p:cNvSpPr txBox="1"/>
          <p:nvPr/>
        </p:nvSpPr>
        <p:spPr>
          <a:xfrm>
            <a:off x="6300216"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Financial authorisation</a:t>
            </a:r>
            <a:endParaRPr lang="en-US" sz="850" dirty="0"/>
          </a:p>
        </p:txBody>
      </p:sp>
      <p:sp>
        <p:nvSpPr>
          <p:cNvPr id="39" name="Shape 37"/>
          <p:cNvSpPr/>
          <p:nvPr/>
        </p:nvSpPr>
        <p:spPr>
          <a:xfrm>
            <a:off x="8915400" y="5125212"/>
            <a:ext cx="2560320" cy="246888"/>
          </a:xfrm>
          <a:prstGeom prst="roundRect">
            <a:avLst>
              <a:gd name="adj" fmla="val 18519"/>
            </a:avLst>
          </a:prstGeom>
          <a:solidFill>
            <a:srgbClr val="241733"/>
          </a:solidFill>
          <a:ln w="12700">
            <a:solidFill>
              <a:srgbClr val="4A2740"/>
            </a:solidFill>
            <a:prstDash val="solid"/>
          </a:ln>
        </p:spPr>
      </p:sp>
      <p:sp>
        <p:nvSpPr>
          <p:cNvPr id="40" name="Text 38"/>
          <p:cNvSpPr txBox="1"/>
          <p:nvPr/>
        </p:nvSpPr>
        <p:spPr>
          <a:xfrm>
            <a:off x="9025128" y="5125212"/>
            <a:ext cx="2340864" cy="246888"/>
          </a:xfrm>
          <a:prstGeom prst="rect">
            <a:avLst/>
          </a:prstGeom>
          <a:noFill/>
          <a:ln/>
        </p:spPr>
        <p:txBody>
          <a:bodyPr wrap="square" lIns="0" tIns="0" rIns="0" bIns="0" rtlCol="0" anchor="ctr"/>
          <a:lstStyle/>
          <a:p>
            <a:pPr indent="0" marL="0">
              <a:buNone/>
            </a:pPr>
            <a:r>
              <a:rPr lang="en-US" sz="850" dirty="0">
                <a:solidFill>
                  <a:srgbClr val="E6EAF2"/>
                </a:solidFill>
                <a:latin typeface="Arial" pitchFamily="34" charset="0"/>
                <a:ea typeface="Arial" pitchFamily="34" charset="-122"/>
                <a:cs typeface="Arial" pitchFamily="34" charset="-120"/>
              </a:rPr>
              <a:t>Conflicting or missing data</a:t>
            </a:r>
            <a:endParaRPr lang="en-US" sz="850" dirty="0"/>
          </a:p>
        </p:txBody>
      </p:sp>
      <p:sp>
        <p:nvSpPr>
          <p:cNvPr id="41" name="Text 39"/>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Einstein Trust Layer controls apply to Prompt Builder and Agentforce features and require the corresponding licensing. Phase 1 uses no generative capability and therefore introduces no new data handling surface.</a:t>
            </a:r>
            <a:endParaRPr lang="en-US" sz="750" dirty="0"/>
          </a:p>
        </p:txBody>
      </p:sp>
      <p:pic>
        <p:nvPicPr>
          <p:cNvPr id="42"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3" name="Text 40"/>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DELIVERY</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THREE PHASES, AND VALUE BEFORE ANY NEW LICENCE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Phase 1 is built entirely from capability McKesson already owns in Service Cloud. Generative features are introduced only once licensing, data access and security approval are confirmed.</a:t>
            </a:r>
            <a:endParaRPr lang="en-US" sz="1150" dirty="0"/>
          </a:p>
        </p:txBody>
      </p:sp>
      <p:sp>
        <p:nvSpPr>
          <p:cNvPr id="5" name="Shape 3"/>
          <p:cNvSpPr/>
          <p:nvPr/>
        </p:nvSpPr>
        <p:spPr>
          <a:xfrm>
            <a:off x="502920" y="1796796"/>
            <a:ext cx="3581400" cy="3913632"/>
          </a:xfrm>
          <a:prstGeom prst="roundRect">
            <a:avLst>
              <a:gd name="adj" fmla="val 1021"/>
            </a:avLst>
          </a:prstGeom>
          <a:solidFill>
            <a:srgbClr val="151A24"/>
          </a:solidFill>
          <a:ln w="12700">
            <a:solidFill>
              <a:srgbClr val="252D3D"/>
            </a:solidFill>
            <a:prstDash val="solid"/>
          </a:ln>
        </p:spPr>
      </p:sp>
      <p:sp>
        <p:nvSpPr>
          <p:cNvPr id="6" name="Text 4"/>
          <p:cNvSpPr txBox="1"/>
          <p:nvPr/>
        </p:nvSpPr>
        <p:spPr>
          <a:xfrm>
            <a:off x="740664" y="1979676"/>
            <a:ext cx="3105912" cy="219456"/>
          </a:xfrm>
          <a:prstGeom prst="rect">
            <a:avLst/>
          </a:prstGeom>
          <a:noFill/>
          <a:ln/>
        </p:spPr>
        <p:txBody>
          <a:bodyPr wrap="square" lIns="0" tIns="0" rIns="0" bIns="0" rtlCol="0" anchor="ctr"/>
          <a:lstStyle/>
          <a:p>
            <a:pPr indent="0" marL="0">
              <a:buNone/>
            </a:pPr>
            <a:r>
              <a:rPr lang="en-US" sz="950" b="1" spc="160" kern="0" dirty="0">
                <a:solidFill>
                  <a:srgbClr val="22D3EE"/>
                </a:solidFill>
                <a:latin typeface="Arial" pitchFamily="34" charset="0"/>
                <a:ea typeface="Arial" pitchFamily="34" charset="-122"/>
                <a:cs typeface="Arial" pitchFamily="34" charset="-120"/>
              </a:rPr>
              <a:t>PHASE 1</a:t>
            </a:r>
            <a:endParaRPr lang="en-US" sz="950" dirty="0"/>
          </a:p>
        </p:txBody>
      </p:sp>
      <p:sp>
        <p:nvSpPr>
          <p:cNvPr id="7" name="Text 5"/>
          <p:cNvSpPr txBox="1"/>
          <p:nvPr/>
        </p:nvSpPr>
        <p:spPr>
          <a:xfrm>
            <a:off x="740664" y="2217420"/>
            <a:ext cx="3105912"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Safe workflow automation</a:t>
            </a:r>
            <a:endParaRPr lang="en-US" sz="1350" dirty="0"/>
          </a:p>
        </p:txBody>
      </p:sp>
      <p:sp>
        <p:nvSpPr>
          <p:cNvPr id="8" name="Shape 6"/>
          <p:cNvSpPr/>
          <p:nvPr/>
        </p:nvSpPr>
        <p:spPr>
          <a:xfrm>
            <a:off x="740664" y="2546604"/>
            <a:ext cx="3105912" cy="274320"/>
          </a:xfrm>
          <a:prstGeom prst="roundRect">
            <a:avLst>
              <a:gd name="adj" fmla="val 16667"/>
            </a:avLst>
          </a:prstGeom>
          <a:solidFill>
            <a:srgbClr val="1A2130"/>
          </a:solidFill>
          <a:ln w="12700">
            <a:solidFill>
              <a:srgbClr val="22D3EE"/>
            </a:solidFill>
            <a:prstDash val="solid"/>
          </a:ln>
        </p:spPr>
      </p:sp>
      <p:sp>
        <p:nvSpPr>
          <p:cNvPr id="9" name="Text 7"/>
          <p:cNvSpPr txBox="1"/>
          <p:nvPr/>
        </p:nvSpPr>
        <p:spPr>
          <a:xfrm>
            <a:off x="850392" y="2546604"/>
            <a:ext cx="2886456" cy="274320"/>
          </a:xfrm>
          <a:prstGeom prst="rect">
            <a:avLst/>
          </a:prstGeom>
          <a:noFill/>
          <a:ln/>
        </p:spPr>
        <p:txBody>
          <a:bodyPr wrap="square" lIns="0" tIns="0" rIns="0" bIns="0" rtlCol="0" anchor="ctr"/>
          <a:lstStyle/>
          <a:p>
            <a:pPr indent="0" marL="0">
              <a:buNone/>
            </a:pPr>
            <a:r>
              <a:rPr lang="en-US" sz="800" b="1" dirty="0">
                <a:solidFill>
                  <a:srgbClr val="22D3EE"/>
                </a:solidFill>
                <a:latin typeface="Arial" pitchFamily="34" charset="0"/>
                <a:ea typeface="Arial" pitchFamily="34" charset="-122"/>
                <a:cs typeface="Arial" pitchFamily="34" charset="-120"/>
              </a:rPr>
              <a:t>No new licensing required</a:t>
            </a:r>
            <a:endParaRPr lang="en-US" sz="800" dirty="0"/>
          </a:p>
        </p:txBody>
      </p:sp>
      <p:sp>
        <p:nvSpPr>
          <p:cNvPr id="10" name="Text 8"/>
          <p:cNvSpPr txBox="1"/>
          <p:nvPr/>
        </p:nvSpPr>
        <p:spPr>
          <a:xfrm>
            <a:off x="740664" y="2948940"/>
            <a:ext cx="3105912" cy="1956816"/>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Email to Case, thread matching and duplicate handling</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Record triggered Flow orchestration across the case lifecycle</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Rule based category and priority recommendation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Omni Channel skills based routing and capacity management</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Entitlements, Milestones and proportional escalation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Knowledge structure, Quick Text, Macros and the response library</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Auto acknowledgement, reminders and closure confirmation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Operations dashboards and automated shift reporting</a:t>
            </a:r>
            <a:endParaRPr lang="en-US" sz="850" dirty="0"/>
          </a:p>
        </p:txBody>
      </p:sp>
      <p:sp>
        <p:nvSpPr>
          <p:cNvPr id="11" name="Shape 9"/>
          <p:cNvSpPr/>
          <p:nvPr/>
        </p:nvSpPr>
        <p:spPr>
          <a:xfrm>
            <a:off x="740664" y="4960620"/>
            <a:ext cx="3105912" cy="0"/>
          </a:xfrm>
          <a:prstGeom prst="line">
            <a:avLst/>
          </a:prstGeom>
          <a:noFill/>
          <a:ln w="12700">
            <a:solidFill>
              <a:srgbClr val="252D3D"/>
            </a:solidFill>
            <a:prstDash val="solid"/>
          </a:ln>
        </p:spPr>
      </p:sp>
      <p:sp>
        <p:nvSpPr>
          <p:cNvPr id="12" name="Text 10"/>
          <p:cNvSpPr txBox="1"/>
          <p:nvPr/>
        </p:nvSpPr>
        <p:spPr>
          <a:xfrm>
            <a:off x="740664" y="5052060"/>
            <a:ext cx="3105912" cy="566928"/>
          </a:xfrm>
          <a:prstGeom prst="rect">
            <a:avLst/>
          </a:prstGeom>
          <a:noFill/>
          <a:ln/>
        </p:spPr>
        <p:txBody>
          <a:bodyPr wrap="square" lIns="0" tIns="0" rIns="0" bIns="0" rtlCol="0" anchor="t"/>
          <a:lstStyle/>
          <a:p>
            <a:pPr indent="0" marL="0">
              <a:lnSpc>
                <a:spcPts val="1050"/>
              </a:lnSpc>
              <a:buNone/>
            </a:pPr>
            <a:r>
              <a:rPr lang="en-US" sz="800" i="1" dirty="0">
                <a:solidFill>
                  <a:srgbClr val="8A94A6"/>
                </a:solidFill>
                <a:latin typeface="Arial" pitchFamily="34" charset="0"/>
                <a:ea typeface="Arial" pitchFamily="34" charset="-122"/>
                <a:cs typeface="Arial" pitchFamily="34" charset="-120"/>
              </a:rPr>
              <a:t>Delivered with Service Cloud configuration. Einstein Case Classification may be added here where it is already licensed.</a:t>
            </a:r>
            <a:endParaRPr lang="en-US" sz="800" dirty="0"/>
          </a:p>
        </p:txBody>
      </p:sp>
      <p:sp>
        <p:nvSpPr>
          <p:cNvPr id="13" name="Shape 11"/>
          <p:cNvSpPr/>
          <p:nvPr/>
        </p:nvSpPr>
        <p:spPr>
          <a:xfrm>
            <a:off x="4303776" y="1796796"/>
            <a:ext cx="3581400" cy="3913632"/>
          </a:xfrm>
          <a:prstGeom prst="roundRect">
            <a:avLst>
              <a:gd name="adj" fmla="val 1021"/>
            </a:avLst>
          </a:prstGeom>
          <a:solidFill>
            <a:srgbClr val="151A24"/>
          </a:solidFill>
          <a:ln w="12700">
            <a:solidFill>
              <a:srgbClr val="252D3D"/>
            </a:solidFill>
            <a:prstDash val="solid"/>
          </a:ln>
        </p:spPr>
      </p:sp>
      <p:sp>
        <p:nvSpPr>
          <p:cNvPr id="14" name="Text 12"/>
          <p:cNvSpPr txBox="1"/>
          <p:nvPr/>
        </p:nvSpPr>
        <p:spPr>
          <a:xfrm>
            <a:off x="4541520" y="1979676"/>
            <a:ext cx="3105912" cy="219456"/>
          </a:xfrm>
          <a:prstGeom prst="rect">
            <a:avLst/>
          </a:prstGeom>
          <a:noFill/>
          <a:ln/>
        </p:spPr>
        <p:txBody>
          <a:bodyPr wrap="square" lIns="0" tIns="0" rIns="0" bIns="0" rtlCol="0" anchor="ctr"/>
          <a:lstStyle/>
          <a:p>
            <a:pPr indent="0" marL="0">
              <a:buNone/>
            </a:pPr>
            <a:r>
              <a:rPr lang="en-US" sz="950" b="1" spc="160" kern="0" dirty="0">
                <a:solidFill>
                  <a:srgbClr val="F59E0B"/>
                </a:solidFill>
                <a:latin typeface="Arial" pitchFamily="34" charset="0"/>
                <a:ea typeface="Arial" pitchFamily="34" charset="-122"/>
                <a:cs typeface="Arial" pitchFamily="34" charset="-120"/>
              </a:rPr>
              <a:t>PHASE 2</a:t>
            </a:r>
            <a:endParaRPr lang="en-US" sz="950" dirty="0"/>
          </a:p>
        </p:txBody>
      </p:sp>
      <p:sp>
        <p:nvSpPr>
          <p:cNvPr id="15" name="Text 13"/>
          <p:cNvSpPr txBox="1"/>
          <p:nvPr/>
        </p:nvSpPr>
        <p:spPr>
          <a:xfrm>
            <a:off x="4541520" y="2217420"/>
            <a:ext cx="3105912"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Assisted agent responses</a:t>
            </a:r>
            <a:endParaRPr lang="en-US" sz="1350" dirty="0"/>
          </a:p>
        </p:txBody>
      </p:sp>
      <p:sp>
        <p:nvSpPr>
          <p:cNvPr id="16" name="Shape 14"/>
          <p:cNvSpPr/>
          <p:nvPr/>
        </p:nvSpPr>
        <p:spPr>
          <a:xfrm>
            <a:off x="4541520" y="2546604"/>
            <a:ext cx="3105912" cy="274320"/>
          </a:xfrm>
          <a:prstGeom prst="roundRect">
            <a:avLst>
              <a:gd name="adj" fmla="val 16667"/>
            </a:avLst>
          </a:prstGeom>
          <a:solidFill>
            <a:srgbClr val="1A2130"/>
          </a:solidFill>
          <a:ln w="12700">
            <a:solidFill>
              <a:srgbClr val="F59E0B"/>
            </a:solidFill>
            <a:prstDash val="solid"/>
          </a:ln>
        </p:spPr>
      </p:sp>
      <p:sp>
        <p:nvSpPr>
          <p:cNvPr id="17" name="Text 15"/>
          <p:cNvSpPr txBox="1"/>
          <p:nvPr/>
        </p:nvSpPr>
        <p:spPr>
          <a:xfrm>
            <a:off x="4651248" y="2546604"/>
            <a:ext cx="2886456" cy="274320"/>
          </a:xfrm>
          <a:prstGeom prst="rect">
            <a:avLst/>
          </a:prstGeom>
          <a:noFill/>
          <a:ln/>
        </p:spPr>
        <p:txBody>
          <a:bodyPr wrap="square" lIns="0" tIns="0" rIns="0" bIns="0" rtlCol="0" anchor="ctr"/>
          <a:lstStyle/>
          <a:p>
            <a:pPr indent="0" marL="0">
              <a:buNone/>
            </a:pPr>
            <a:r>
              <a:rPr lang="en-US" sz="800" b="1" dirty="0">
                <a:solidFill>
                  <a:srgbClr val="F59E0B"/>
                </a:solidFill>
                <a:latin typeface="Arial" pitchFamily="34" charset="0"/>
                <a:ea typeface="Arial" pitchFamily="34" charset="-122"/>
                <a:cs typeface="Arial" pitchFamily="34" charset="-120"/>
              </a:rPr>
              <a:t>Requires Einstein or Agentforce licensing</a:t>
            </a:r>
            <a:endParaRPr lang="en-US" sz="800" dirty="0"/>
          </a:p>
        </p:txBody>
      </p:sp>
      <p:sp>
        <p:nvSpPr>
          <p:cNvPr id="18" name="Text 16"/>
          <p:cNvSpPr txBox="1"/>
          <p:nvPr/>
        </p:nvSpPr>
        <p:spPr>
          <a:xfrm>
            <a:off x="4541520" y="2948940"/>
            <a:ext cx="3105912" cy="1956816"/>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Prompt Template: case triage, classification and entity extraction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Prompt Template: case and thread summarisation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Prompt Template: drafted email response for agent review</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Knowledge article retrieval and grounding on the draft</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Order, shipment and availability data inserted from connected systems</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Recommended next action on the case record</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Quality, completeness and tone checks before the agent sends</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Prompt performance monitoring and template tuning</a:t>
            </a:r>
            <a:endParaRPr lang="en-US" sz="850" dirty="0"/>
          </a:p>
        </p:txBody>
      </p:sp>
      <p:sp>
        <p:nvSpPr>
          <p:cNvPr id="19" name="Shape 17"/>
          <p:cNvSpPr/>
          <p:nvPr/>
        </p:nvSpPr>
        <p:spPr>
          <a:xfrm>
            <a:off x="4541520" y="4960620"/>
            <a:ext cx="3105912" cy="0"/>
          </a:xfrm>
          <a:prstGeom prst="line">
            <a:avLst/>
          </a:prstGeom>
          <a:noFill/>
          <a:ln w="12700">
            <a:solidFill>
              <a:srgbClr val="252D3D"/>
            </a:solidFill>
            <a:prstDash val="solid"/>
          </a:ln>
        </p:spPr>
      </p:sp>
      <p:sp>
        <p:nvSpPr>
          <p:cNvPr id="20" name="Text 18"/>
          <p:cNvSpPr txBox="1"/>
          <p:nvPr/>
        </p:nvSpPr>
        <p:spPr>
          <a:xfrm>
            <a:off x="4541520" y="5052060"/>
            <a:ext cx="3105912" cy="566928"/>
          </a:xfrm>
          <a:prstGeom prst="rect">
            <a:avLst/>
          </a:prstGeom>
          <a:noFill/>
          <a:ln/>
        </p:spPr>
        <p:txBody>
          <a:bodyPr wrap="square" lIns="0" tIns="0" rIns="0" bIns="0" rtlCol="0" anchor="t"/>
          <a:lstStyle/>
          <a:p>
            <a:pPr indent="0" marL="0">
              <a:lnSpc>
                <a:spcPts val="1050"/>
              </a:lnSpc>
              <a:buNone/>
            </a:pPr>
            <a:r>
              <a:rPr lang="en-US" sz="800" i="1" dirty="0">
                <a:solidFill>
                  <a:srgbClr val="8A94A6"/>
                </a:solidFill>
                <a:latin typeface="Arial" pitchFamily="34" charset="0"/>
                <a:ea typeface="Arial" pitchFamily="34" charset="-122"/>
                <a:cs typeface="Arial" pitchFamily="34" charset="-120"/>
              </a:rPr>
              <a:t>Gated on licensing confirmation, security approval, Knowledge readiness and a supervised accuracy threshold agreed with McKesson.</a:t>
            </a:r>
            <a:endParaRPr lang="en-US" sz="800" dirty="0"/>
          </a:p>
        </p:txBody>
      </p:sp>
      <p:sp>
        <p:nvSpPr>
          <p:cNvPr id="21" name="Shape 19"/>
          <p:cNvSpPr/>
          <p:nvPr/>
        </p:nvSpPr>
        <p:spPr>
          <a:xfrm>
            <a:off x="8104632" y="1796796"/>
            <a:ext cx="3581400" cy="3913632"/>
          </a:xfrm>
          <a:prstGeom prst="roundRect">
            <a:avLst>
              <a:gd name="adj" fmla="val 1021"/>
            </a:avLst>
          </a:prstGeom>
          <a:solidFill>
            <a:srgbClr val="151A24"/>
          </a:solidFill>
          <a:ln w="12700">
            <a:solidFill>
              <a:srgbClr val="252D3D"/>
            </a:solidFill>
            <a:prstDash val="solid"/>
          </a:ln>
        </p:spPr>
      </p:sp>
      <p:sp>
        <p:nvSpPr>
          <p:cNvPr id="22" name="Text 20"/>
          <p:cNvSpPr txBox="1"/>
          <p:nvPr/>
        </p:nvSpPr>
        <p:spPr>
          <a:xfrm>
            <a:off x="8342376" y="1979676"/>
            <a:ext cx="3105912" cy="219456"/>
          </a:xfrm>
          <a:prstGeom prst="rect">
            <a:avLst/>
          </a:prstGeom>
          <a:noFill/>
          <a:ln/>
        </p:spPr>
        <p:txBody>
          <a:bodyPr wrap="square" lIns="0" tIns="0" rIns="0" bIns="0" rtlCol="0" anchor="ctr"/>
          <a:lstStyle/>
          <a:p>
            <a:pPr indent="0" marL="0">
              <a:buNone/>
            </a:pPr>
            <a:r>
              <a:rPr lang="en-US" sz="950" b="1" spc="160" kern="0" dirty="0">
                <a:solidFill>
                  <a:srgbClr val="FF0069"/>
                </a:solidFill>
                <a:latin typeface="Arial" pitchFamily="34" charset="0"/>
                <a:ea typeface="Arial" pitchFamily="34" charset="-122"/>
                <a:cs typeface="Arial" pitchFamily="34" charset="-120"/>
              </a:rPr>
              <a:t>PHASE 3</a:t>
            </a:r>
            <a:endParaRPr lang="en-US" sz="950" dirty="0"/>
          </a:p>
        </p:txBody>
      </p:sp>
      <p:sp>
        <p:nvSpPr>
          <p:cNvPr id="23" name="Text 21"/>
          <p:cNvSpPr txBox="1"/>
          <p:nvPr/>
        </p:nvSpPr>
        <p:spPr>
          <a:xfrm>
            <a:off x="8342376" y="2217420"/>
            <a:ext cx="3105912" cy="27432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Controlled autonomous responses</a:t>
            </a:r>
            <a:endParaRPr lang="en-US" sz="1350" dirty="0"/>
          </a:p>
        </p:txBody>
      </p:sp>
      <p:sp>
        <p:nvSpPr>
          <p:cNvPr id="24" name="Shape 22"/>
          <p:cNvSpPr/>
          <p:nvPr/>
        </p:nvSpPr>
        <p:spPr>
          <a:xfrm>
            <a:off x="8342376" y="2546604"/>
            <a:ext cx="3105912" cy="274320"/>
          </a:xfrm>
          <a:prstGeom prst="roundRect">
            <a:avLst>
              <a:gd name="adj" fmla="val 16667"/>
            </a:avLst>
          </a:prstGeom>
          <a:solidFill>
            <a:srgbClr val="1A2130"/>
          </a:solidFill>
          <a:ln w="12700">
            <a:solidFill>
              <a:srgbClr val="FF0069"/>
            </a:solidFill>
            <a:prstDash val="solid"/>
          </a:ln>
        </p:spPr>
      </p:sp>
      <p:sp>
        <p:nvSpPr>
          <p:cNvPr id="25" name="Text 23"/>
          <p:cNvSpPr txBox="1"/>
          <p:nvPr/>
        </p:nvSpPr>
        <p:spPr>
          <a:xfrm>
            <a:off x="8452104" y="2546604"/>
            <a:ext cx="2886456" cy="274320"/>
          </a:xfrm>
          <a:prstGeom prst="rect">
            <a:avLst/>
          </a:prstGeom>
          <a:noFill/>
          <a:ln/>
        </p:spPr>
        <p:txBody>
          <a:bodyPr wrap="square" lIns="0" tIns="0" rIns="0" bIns="0" rtlCol="0" anchor="ctr"/>
          <a:lstStyle/>
          <a:p>
            <a:pPr indent="0" marL="0">
              <a:buNone/>
            </a:pPr>
            <a:r>
              <a:rPr lang="en-US" sz="800" b="1" dirty="0">
                <a:solidFill>
                  <a:srgbClr val="FF0069"/>
                </a:solidFill>
                <a:latin typeface="Arial" pitchFamily="34" charset="0"/>
                <a:ea typeface="Arial" pitchFamily="34" charset="-122"/>
                <a:cs typeface="Arial" pitchFamily="34" charset="-120"/>
              </a:rPr>
              <a:t>Requires Agentforce, scoped separately</a:t>
            </a:r>
            <a:endParaRPr lang="en-US" sz="800" dirty="0"/>
          </a:p>
        </p:txBody>
      </p:sp>
      <p:sp>
        <p:nvSpPr>
          <p:cNvPr id="26" name="Text 24"/>
          <p:cNvSpPr txBox="1"/>
          <p:nvPr/>
        </p:nvSpPr>
        <p:spPr>
          <a:xfrm>
            <a:off x="8342376" y="2948940"/>
            <a:ext cx="3105912" cy="1956816"/>
          </a:xfrm>
          <a:prstGeom prst="rect">
            <a:avLst/>
          </a:prstGeom>
          <a:noFill/>
          <a:ln/>
        </p:spPr>
        <p:txBody>
          <a:bodyPr wrap="square" lIns="0" tIns="0" rIns="0" bIns="0" rtlCol="0" anchor="t"/>
          <a:lstStyle/>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Order receipt confirmation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Standard order status response</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Shipment tracking response</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Published backorder and availability information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Document and copy requests</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Requests for missing required information</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Closure confirmation and follow up</a:t>
            </a:r>
            <a:endParaRPr lang="en-US" sz="850" dirty="0"/>
          </a:p>
          <a:p>
            <a:pPr marL="152400" indent="-152400">
              <a:lnSpc>
                <a:spcPts val="1250"/>
              </a:lnSpc>
              <a:spcAft>
                <a:spcPts val="400"/>
              </a:spcAft>
              <a:buSzPct val="100000"/>
              <a:buChar char="•"/>
            </a:pPr>
            <a:r>
              <a:rPr lang="en-US" sz="850" dirty="0">
                <a:solidFill>
                  <a:srgbClr val="E6EAF2"/>
                </a:solidFill>
                <a:latin typeface="Arial" pitchFamily="34" charset="0"/>
                <a:ea typeface="Arial" pitchFamily="34" charset="-122"/>
                <a:cs typeface="Arial" pitchFamily="34" charset="-120"/>
              </a:rPr>
              <a:t>Everything else continues to route to a human</a:t>
            </a:r>
            <a:endParaRPr lang="en-US" sz="850" dirty="0"/>
          </a:p>
        </p:txBody>
      </p:sp>
      <p:sp>
        <p:nvSpPr>
          <p:cNvPr id="27" name="Shape 25"/>
          <p:cNvSpPr/>
          <p:nvPr/>
        </p:nvSpPr>
        <p:spPr>
          <a:xfrm>
            <a:off x="8342376" y="4960620"/>
            <a:ext cx="3105912" cy="0"/>
          </a:xfrm>
          <a:prstGeom prst="line">
            <a:avLst/>
          </a:prstGeom>
          <a:noFill/>
          <a:ln w="12700">
            <a:solidFill>
              <a:srgbClr val="252D3D"/>
            </a:solidFill>
            <a:prstDash val="solid"/>
          </a:ln>
        </p:spPr>
      </p:sp>
      <p:sp>
        <p:nvSpPr>
          <p:cNvPr id="28" name="Text 26"/>
          <p:cNvSpPr txBox="1"/>
          <p:nvPr/>
        </p:nvSpPr>
        <p:spPr>
          <a:xfrm>
            <a:off x="8342376" y="5052060"/>
            <a:ext cx="3105912" cy="566928"/>
          </a:xfrm>
          <a:prstGeom prst="rect">
            <a:avLst/>
          </a:prstGeom>
          <a:noFill/>
          <a:ln/>
        </p:spPr>
        <p:txBody>
          <a:bodyPr wrap="square" lIns="0" tIns="0" rIns="0" bIns="0" rtlCol="0" anchor="t"/>
          <a:lstStyle/>
          <a:p>
            <a:pPr indent="0" marL="0">
              <a:lnSpc>
                <a:spcPts val="1050"/>
              </a:lnSpc>
              <a:buNone/>
            </a:pPr>
            <a:r>
              <a:rPr lang="en-US" sz="800" i="1" dirty="0">
                <a:solidFill>
                  <a:srgbClr val="8A94A6"/>
                </a:solidFill>
                <a:latin typeface="Arial" pitchFamily="34" charset="0"/>
                <a:ea typeface="Arial" pitchFamily="34" charset="-122"/>
                <a:cs typeface="Arial" pitchFamily="34" charset="-120"/>
              </a:rPr>
              <a:t>Positioned as discovery and pilot. Each candidate case type is proven in supervised mode and released individually, with confidence thresholds and exception routing.</a:t>
            </a:r>
            <a:endParaRPr lang="en-US" sz="800" dirty="0"/>
          </a:p>
        </p:txBody>
      </p:sp>
      <p:pic>
        <p:nvPicPr>
          <p:cNvPr id="29"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0" name="Text 2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VISIBILITY</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WHAT MCKESSON AND THE TEAM CAN SEE, LIVE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Because classification, priority and SLA are now structured fields rather than judgement calls, they can be reported on reliably. Dashboards are generated from the case record, not assembled by hand.</a:t>
            </a:r>
            <a:endParaRPr lang="en-US" sz="1150" dirty="0"/>
          </a:p>
        </p:txBody>
      </p:sp>
      <p:sp>
        <p:nvSpPr>
          <p:cNvPr id="5" name="Shape 3"/>
          <p:cNvSpPr/>
          <p:nvPr/>
        </p:nvSpPr>
        <p:spPr>
          <a:xfrm>
            <a:off x="502920" y="1796796"/>
            <a:ext cx="5481828" cy="2944368"/>
          </a:xfrm>
          <a:prstGeom prst="roundRect">
            <a:avLst>
              <a:gd name="adj" fmla="val 1242"/>
            </a:avLst>
          </a:prstGeom>
          <a:solidFill>
            <a:srgbClr val="151A24"/>
          </a:solidFill>
          <a:ln w="12700">
            <a:solidFill>
              <a:srgbClr val="252D3D"/>
            </a:solidFill>
            <a:prstDash val="solid"/>
          </a:ln>
        </p:spPr>
      </p:sp>
      <p:sp>
        <p:nvSpPr>
          <p:cNvPr id="6" name="Text 4"/>
          <p:cNvSpPr txBox="1"/>
          <p:nvPr/>
        </p:nvSpPr>
        <p:spPr>
          <a:xfrm>
            <a:off x="740664" y="1979676"/>
            <a:ext cx="5006340" cy="274320"/>
          </a:xfrm>
          <a:prstGeom prst="rect">
            <a:avLst/>
          </a:prstGeom>
          <a:noFill/>
          <a:ln/>
        </p:spPr>
        <p:txBody>
          <a:bodyPr wrap="square" lIns="0" tIns="0" rIns="0" bIns="0" rtlCol="0" anchor="ctr"/>
          <a:lstStyle/>
          <a:p>
            <a:pPr indent="0" marL="0">
              <a:buNone/>
            </a:pPr>
            <a:r>
              <a:rPr lang="en-US" sz="1300" b="1" dirty="0">
                <a:solidFill>
                  <a:srgbClr val="22D3EE"/>
                </a:solidFill>
                <a:latin typeface="Arial" pitchFamily="34" charset="0"/>
                <a:ea typeface="Arial" pitchFamily="34" charset="-122"/>
                <a:cs typeface="Arial" pitchFamily="34" charset="-120"/>
              </a:rPr>
              <a:t>Operations control tower</a:t>
            </a:r>
            <a:endParaRPr lang="en-US" sz="1300" dirty="0"/>
          </a:p>
        </p:txBody>
      </p:sp>
      <p:sp>
        <p:nvSpPr>
          <p:cNvPr id="7" name="Text 5"/>
          <p:cNvSpPr txBox="1"/>
          <p:nvPr/>
        </p:nvSpPr>
        <p:spPr>
          <a:xfrm>
            <a:off x="740664" y="2272284"/>
            <a:ext cx="5006340"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FOR THE SHIFT LEADS, THE OPERATIONS MANAGER AND MCKESSON</a:t>
            </a:r>
            <a:endParaRPr lang="en-US" sz="750" dirty="0"/>
          </a:p>
        </p:txBody>
      </p:sp>
      <p:sp>
        <p:nvSpPr>
          <p:cNvPr id="8" name="Text 6"/>
          <p:cNvSpPr txBox="1"/>
          <p:nvPr/>
        </p:nvSpPr>
        <p:spPr>
          <a:xfrm>
            <a:off x="740664" y="2564892"/>
            <a:ext cx="5006340" cy="2048256"/>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Open cases by status, category, priority, owner and shift</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First response and resolution SLA at risk, and breached</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Backlog volume and ageing profile by queue</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Unassigned cases, and cases transferred more than once</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Cases waiting on the customer, and on an internal McKesson team</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Reopened cases and escalations by destination</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Daily intake against daily closure, and queue balance</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Automation coverage: cases auto classified, drafts accepted or rewritten</a:t>
            </a:r>
            <a:endParaRPr lang="en-US" sz="900" dirty="0"/>
          </a:p>
        </p:txBody>
      </p:sp>
      <p:sp>
        <p:nvSpPr>
          <p:cNvPr id="9" name="Shape 7"/>
          <p:cNvSpPr/>
          <p:nvPr/>
        </p:nvSpPr>
        <p:spPr>
          <a:xfrm>
            <a:off x="6204204" y="1796796"/>
            <a:ext cx="5481828" cy="2944368"/>
          </a:xfrm>
          <a:prstGeom prst="roundRect">
            <a:avLst>
              <a:gd name="adj" fmla="val 1242"/>
            </a:avLst>
          </a:prstGeom>
          <a:solidFill>
            <a:srgbClr val="151A24"/>
          </a:solidFill>
          <a:ln w="12700">
            <a:solidFill>
              <a:srgbClr val="252D3D"/>
            </a:solidFill>
            <a:prstDash val="solid"/>
          </a:ln>
        </p:spPr>
      </p:sp>
      <p:sp>
        <p:nvSpPr>
          <p:cNvPr id="10" name="Text 8"/>
          <p:cNvSpPr txBox="1"/>
          <p:nvPr/>
        </p:nvSpPr>
        <p:spPr>
          <a:xfrm>
            <a:off x="6441948" y="1979676"/>
            <a:ext cx="5006340" cy="274320"/>
          </a:xfrm>
          <a:prstGeom prst="rect">
            <a:avLst/>
          </a:prstGeom>
          <a:noFill/>
          <a:ln/>
        </p:spPr>
        <p:txBody>
          <a:bodyPr wrap="square" lIns="0" tIns="0" rIns="0" bIns="0" rtlCol="0" anchor="ctr"/>
          <a:lstStyle/>
          <a:p>
            <a:pPr indent="0" marL="0">
              <a:buNone/>
            </a:pPr>
            <a:r>
              <a:rPr lang="en-US" sz="1300" b="1" dirty="0">
                <a:solidFill>
                  <a:srgbClr val="22D3EE"/>
                </a:solidFill>
                <a:latin typeface="Arial" pitchFamily="34" charset="0"/>
                <a:ea typeface="Arial" pitchFamily="34" charset="-122"/>
                <a:cs typeface="Arial" pitchFamily="34" charset="-120"/>
              </a:rPr>
              <a:t>Individual agent view</a:t>
            </a:r>
            <a:endParaRPr lang="en-US" sz="1300" dirty="0"/>
          </a:p>
        </p:txBody>
      </p:sp>
      <p:sp>
        <p:nvSpPr>
          <p:cNvPr id="11" name="Text 9"/>
          <p:cNvSpPr txBox="1"/>
          <p:nvPr/>
        </p:nvSpPr>
        <p:spPr>
          <a:xfrm>
            <a:off x="6441948" y="2272284"/>
            <a:ext cx="5006340" cy="182880"/>
          </a:xfrm>
          <a:prstGeom prst="rect">
            <a:avLst/>
          </a:prstGeom>
          <a:noFill/>
          <a:ln/>
        </p:spPr>
        <p:txBody>
          <a:bodyPr wrap="square" lIns="0" tIns="0" rIns="0" bIns="0" rtlCol="0" anchor="ctr"/>
          <a:lstStyle/>
          <a:p>
            <a:pPr indent="0" marL="0">
              <a:buNone/>
            </a:pPr>
            <a:r>
              <a:rPr lang="en-US" sz="750" b="1" spc="140" kern="0" dirty="0">
                <a:solidFill>
                  <a:srgbClr val="8A94A6"/>
                </a:solidFill>
                <a:latin typeface="Arial" pitchFamily="34" charset="0"/>
                <a:ea typeface="Arial" pitchFamily="34" charset="-122"/>
                <a:cs typeface="Arial" pitchFamily="34" charset="-120"/>
              </a:rPr>
              <a:t>FOR THE AGENT AND THEIR TEAM LEAD</a:t>
            </a:r>
            <a:endParaRPr lang="en-US" sz="750" dirty="0"/>
          </a:p>
        </p:txBody>
      </p:sp>
      <p:sp>
        <p:nvSpPr>
          <p:cNvPr id="12" name="Text 10"/>
          <p:cNvSpPr txBox="1"/>
          <p:nvPr/>
        </p:nvSpPr>
        <p:spPr>
          <a:xfrm>
            <a:off x="6441948" y="2564892"/>
            <a:ext cx="5006340" cy="2048256"/>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Assigned cases, and cases awaiting an action from them</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First response and resolution compliance on their own work</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First pass resolution rate and reopen rate</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Quality assurance results and customer feedback received</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Ageing workload and cases approaching an SLA threshold</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Draft acceptance rate, as a coaching signal rather than a target</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Knowledge gaps raised and articles contributed</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Coaching and training actions outstanding</a:t>
            </a:r>
            <a:endParaRPr lang="en-US" sz="900" dirty="0"/>
          </a:p>
        </p:txBody>
      </p:sp>
      <p:sp>
        <p:nvSpPr>
          <p:cNvPr id="13" name="Shape 11"/>
          <p:cNvSpPr/>
          <p:nvPr/>
        </p:nvSpPr>
        <p:spPr>
          <a:xfrm>
            <a:off x="502920" y="4960620"/>
            <a:ext cx="11183112" cy="512064"/>
          </a:xfrm>
          <a:prstGeom prst="roundRect">
            <a:avLst>
              <a:gd name="adj" fmla="val 7143"/>
            </a:avLst>
          </a:prstGeom>
          <a:solidFill>
            <a:srgbClr val="1A2130"/>
          </a:solidFill>
          <a:ln w="12700">
            <a:solidFill>
              <a:srgbClr val="252D3D"/>
            </a:solidFill>
            <a:prstDash val="solid"/>
          </a:ln>
        </p:spPr>
      </p:sp>
      <p:sp>
        <p:nvSpPr>
          <p:cNvPr id="14" name="Text 12"/>
          <p:cNvSpPr txBox="1"/>
          <p:nvPr/>
        </p:nvSpPr>
        <p:spPr>
          <a:xfrm>
            <a:off x="704088" y="4960620"/>
            <a:ext cx="10780776" cy="512064"/>
          </a:xfrm>
          <a:prstGeom prst="rect">
            <a:avLst/>
          </a:prstGeom>
          <a:noFill/>
          <a:ln/>
        </p:spPr>
        <p:txBody>
          <a:bodyPr wrap="square" lIns="0" tIns="0" rIns="0" bIns="0" rtlCol="0" anchor="ctr"/>
          <a:lstStyle/>
          <a:p>
            <a:pPr indent="0" marL="0">
              <a:lnSpc>
                <a:spcPts val="1200"/>
              </a:lnSpc>
              <a:buNone/>
            </a:pPr>
            <a:r>
              <a:rPr lang="en-US" sz="900" b="1" spc="140" kern="0" dirty="0">
                <a:solidFill>
                  <a:srgbClr val="22D3EE"/>
                </a:solidFill>
                <a:latin typeface="Arial" pitchFamily="34" charset="0"/>
                <a:ea typeface="Arial" pitchFamily="34" charset="-122"/>
                <a:cs typeface="Arial" pitchFamily="34" charset="-120"/>
              </a:rPr>
              <a:t>REPORTING PRINCIPLE   </a:t>
            </a:r>
            <a:pPr indent="0" marL="0">
              <a:lnSpc>
                <a:spcPts val="1200"/>
              </a:lnSpc>
              <a:buNone/>
            </a:pPr>
            <a:r>
              <a:rPr lang="en-US" sz="900" dirty="0">
                <a:solidFill>
                  <a:srgbClr val="E6EAF2"/>
                </a:solidFill>
                <a:latin typeface="Arial" pitchFamily="34" charset="0"/>
                <a:ea typeface="Arial" pitchFamily="34" charset="-122"/>
                <a:cs typeface="Arial" pitchFamily="34" charset="-120"/>
              </a:rPr>
              <a:t>Shift and end of day reports are generated from trusted case fields, not written by each agent. That removes manual reporting effort from the floor and makes every number traceable to the record it came from.</a:t>
            </a:r>
            <a:endParaRPr lang="en-US" sz="900" dirty="0"/>
          </a:p>
        </p:txBody>
      </p:sp>
      <p:pic>
        <p:nvPicPr>
          <p:cNvPr id="15"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16" name="Text 13"/>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IMPROVEMENT</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EVERY CLOSED CASE FEEDS THE NEXT ONE</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Feedback, quality findings and draft performance all land in one backlog with an owner and a target date, so improvement is a managed process rather than an intention.</a:t>
            </a:r>
            <a:endParaRPr lang="en-US" sz="1150" dirty="0"/>
          </a:p>
        </p:txBody>
      </p:sp>
      <p:sp>
        <p:nvSpPr>
          <p:cNvPr id="5" name="Shape 3"/>
          <p:cNvSpPr/>
          <p:nvPr/>
        </p:nvSpPr>
        <p:spPr>
          <a:xfrm>
            <a:off x="502920" y="1796796"/>
            <a:ext cx="2090318" cy="2103120"/>
          </a:xfrm>
          <a:prstGeom prst="roundRect">
            <a:avLst>
              <a:gd name="adj" fmla="val 1750"/>
            </a:avLst>
          </a:prstGeom>
          <a:solidFill>
            <a:srgbClr val="151A24"/>
          </a:solidFill>
          <a:ln w="12700">
            <a:solidFill>
              <a:srgbClr val="252D3D"/>
            </a:solidFill>
            <a:prstDash val="solid"/>
          </a:ln>
        </p:spPr>
      </p:sp>
      <p:sp>
        <p:nvSpPr>
          <p:cNvPr id="6" name="Shape 4"/>
          <p:cNvSpPr/>
          <p:nvPr/>
        </p:nvSpPr>
        <p:spPr>
          <a:xfrm>
            <a:off x="704088" y="1979676"/>
            <a:ext cx="310896" cy="256032"/>
          </a:xfrm>
          <a:prstGeom prst="roundRect">
            <a:avLst>
              <a:gd name="adj" fmla="val 17857"/>
            </a:avLst>
          </a:prstGeom>
          <a:solidFill>
            <a:srgbClr val="0A0D14"/>
          </a:solidFill>
          <a:ln w="12700">
            <a:solidFill>
              <a:srgbClr val="22D3EE"/>
            </a:solidFill>
            <a:prstDash val="solid"/>
          </a:ln>
        </p:spPr>
      </p:sp>
      <p:sp>
        <p:nvSpPr>
          <p:cNvPr id="7" name="Text 5"/>
          <p:cNvSpPr txBox="1"/>
          <p:nvPr/>
        </p:nvSpPr>
        <p:spPr>
          <a:xfrm>
            <a:off x="704088"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01</a:t>
            </a:r>
            <a:endParaRPr lang="en-US" sz="1050" dirty="0"/>
          </a:p>
        </p:txBody>
      </p:sp>
      <p:sp>
        <p:nvSpPr>
          <p:cNvPr id="8" name="Text 6"/>
          <p:cNvSpPr txBox="1"/>
          <p:nvPr/>
        </p:nvSpPr>
        <p:spPr>
          <a:xfrm>
            <a:off x="704088"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Close and ask</a:t>
            </a:r>
            <a:endParaRPr lang="en-US" sz="1150" dirty="0"/>
          </a:p>
        </p:txBody>
      </p:sp>
      <p:sp>
        <p:nvSpPr>
          <p:cNvPr id="9" name="Text 7"/>
          <p:cNvSpPr txBox="1"/>
          <p:nvPr/>
        </p:nvSpPr>
        <p:spPr>
          <a:xfrm>
            <a:off x="704088"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A short survey goes out on closure: was it resolved, was the response clear, was the turnaround acceptable, overall satisfaction, optional comment.</a:t>
            </a:r>
            <a:endParaRPr lang="en-US" sz="850" dirty="0"/>
          </a:p>
        </p:txBody>
      </p:sp>
      <p:sp>
        <p:nvSpPr>
          <p:cNvPr id="10" name="Shape 8"/>
          <p:cNvSpPr/>
          <p:nvPr/>
        </p:nvSpPr>
        <p:spPr>
          <a:xfrm>
            <a:off x="2611526" y="2784348"/>
            <a:ext cx="146304" cy="128016"/>
          </a:xfrm>
          <a:prstGeom prst="rightArrow">
            <a:avLst/>
          </a:prstGeom>
          <a:solidFill>
            <a:srgbClr val="3A4459"/>
          </a:solidFill>
          <a:ln w="12700">
            <a:solidFill>
              <a:srgbClr val="3A4459"/>
            </a:solidFill>
            <a:prstDash val="solid"/>
          </a:ln>
        </p:spPr>
      </p:sp>
      <p:sp>
        <p:nvSpPr>
          <p:cNvPr id="11" name="Shape 9"/>
          <p:cNvSpPr/>
          <p:nvPr/>
        </p:nvSpPr>
        <p:spPr>
          <a:xfrm>
            <a:off x="2776118" y="1796796"/>
            <a:ext cx="2090318" cy="2103120"/>
          </a:xfrm>
          <a:prstGeom prst="roundRect">
            <a:avLst>
              <a:gd name="adj" fmla="val 1750"/>
            </a:avLst>
          </a:prstGeom>
          <a:solidFill>
            <a:srgbClr val="151A24"/>
          </a:solidFill>
          <a:ln w="12700">
            <a:solidFill>
              <a:srgbClr val="252D3D"/>
            </a:solidFill>
            <a:prstDash val="solid"/>
          </a:ln>
        </p:spPr>
      </p:sp>
      <p:sp>
        <p:nvSpPr>
          <p:cNvPr id="12" name="Shape 10"/>
          <p:cNvSpPr/>
          <p:nvPr/>
        </p:nvSpPr>
        <p:spPr>
          <a:xfrm>
            <a:off x="2977286" y="1979676"/>
            <a:ext cx="310896" cy="256032"/>
          </a:xfrm>
          <a:prstGeom prst="roundRect">
            <a:avLst>
              <a:gd name="adj" fmla="val 17857"/>
            </a:avLst>
          </a:prstGeom>
          <a:solidFill>
            <a:srgbClr val="0A0D14"/>
          </a:solidFill>
          <a:ln w="12700">
            <a:solidFill>
              <a:srgbClr val="22D3EE"/>
            </a:solidFill>
            <a:prstDash val="solid"/>
          </a:ln>
        </p:spPr>
      </p:sp>
      <p:sp>
        <p:nvSpPr>
          <p:cNvPr id="13" name="Text 11"/>
          <p:cNvSpPr txBox="1"/>
          <p:nvPr/>
        </p:nvSpPr>
        <p:spPr>
          <a:xfrm>
            <a:off x="2977286"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2977286"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Link and triage</a:t>
            </a:r>
            <a:endParaRPr lang="en-US" sz="1150" dirty="0"/>
          </a:p>
        </p:txBody>
      </p:sp>
      <p:sp>
        <p:nvSpPr>
          <p:cNvPr id="15" name="Text 13"/>
          <p:cNvSpPr txBox="1"/>
          <p:nvPr/>
        </p:nvSpPr>
        <p:spPr>
          <a:xfrm>
            <a:off x="2977286"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Feedback is linked to the originating case. Negative feedback automatically raises a service recovery action and is reviewed by the Shift Lead.</a:t>
            </a:r>
            <a:endParaRPr lang="en-US" sz="850" dirty="0"/>
          </a:p>
        </p:txBody>
      </p:sp>
      <p:sp>
        <p:nvSpPr>
          <p:cNvPr id="16" name="Shape 14"/>
          <p:cNvSpPr/>
          <p:nvPr/>
        </p:nvSpPr>
        <p:spPr>
          <a:xfrm>
            <a:off x="4884725" y="2784348"/>
            <a:ext cx="146304" cy="128016"/>
          </a:xfrm>
          <a:prstGeom prst="rightArrow">
            <a:avLst/>
          </a:prstGeom>
          <a:solidFill>
            <a:srgbClr val="3A4459"/>
          </a:solidFill>
          <a:ln w="12700">
            <a:solidFill>
              <a:srgbClr val="3A4459"/>
            </a:solidFill>
            <a:prstDash val="solid"/>
          </a:ln>
        </p:spPr>
      </p:sp>
      <p:sp>
        <p:nvSpPr>
          <p:cNvPr id="17" name="Shape 15"/>
          <p:cNvSpPr/>
          <p:nvPr/>
        </p:nvSpPr>
        <p:spPr>
          <a:xfrm>
            <a:off x="5049317" y="1796796"/>
            <a:ext cx="2090318" cy="2103120"/>
          </a:xfrm>
          <a:prstGeom prst="roundRect">
            <a:avLst>
              <a:gd name="adj" fmla="val 1750"/>
            </a:avLst>
          </a:prstGeom>
          <a:solidFill>
            <a:srgbClr val="151A24"/>
          </a:solidFill>
          <a:ln w="12700">
            <a:solidFill>
              <a:srgbClr val="252D3D"/>
            </a:solidFill>
            <a:prstDash val="solid"/>
          </a:ln>
        </p:spPr>
      </p:sp>
      <p:sp>
        <p:nvSpPr>
          <p:cNvPr id="18" name="Shape 16"/>
          <p:cNvSpPr/>
          <p:nvPr/>
        </p:nvSpPr>
        <p:spPr>
          <a:xfrm>
            <a:off x="5250485" y="1979676"/>
            <a:ext cx="310896" cy="256032"/>
          </a:xfrm>
          <a:prstGeom prst="roundRect">
            <a:avLst>
              <a:gd name="adj" fmla="val 17857"/>
            </a:avLst>
          </a:prstGeom>
          <a:solidFill>
            <a:srgbClr val="0A0D14"/>
          </a:solidFill>
          <a:ln w="12700">
            <a:solidFill>
              <a:srgbClr val="22D3EE"/>
            </a:solidFill>
            <a:prstDash val="solid"/>
          </a:ln>
        </p:spPr>
      </p:sp>
      <p:sp>
        <p:nvSpPr>
          <p:cNvPr id="19" name="Text 17"/>
          <p:cNvSpPr txBox="1"/>
          <p:nvPr/>
        </p:nvSpPr>
        <p:spPr>
          <a:xfrm>
            <a:off x="5250485"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5250485"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Find the cause</a:t>
            </a:r>
            <a:endParaRPr lang="en-US" sz="1150" dirty="0"/>
          </a:p>
        </p:txBody>
      </p:sp>
      <p:sp>
        <p:nvSpPr>
          <p:cNvPr id="21" name="Text 19"/>
          <p:cNvSpPr txBox="1"/>
          <p:nvPr/>
        </p:nvSpPr>
        <p:spPr>
          <a:xfrm>
            <a:off x="5250485"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Quality Assurance determines whether the cause is the agent, the process, the knowledge article, the system, a dependency or the policy itself.</a:t>
            </a:r>
            <a:endParaRPr lang="en-US" sz="850" dirty="0"/>
          </a:p>
        </p:txBody>
      </p:sp>
      <p:sp>
        <p:nvSpPr>
          <p:cNvPr id="22" name="Shape 20"/>
          <p:cNvSpPr/>
          <p:nvPr/>
        </p:nvSpPr>
        <p:spPr>
          <a:xfrm>
            <a:off x="7157923" y="2784348"/>
            <a:ext cx="146304" cy="128016"/>
          </a:xfrm>
          <a:prstGeom prst="rightArrow">
            <a:avLst/>
          </a:prstGeom>
          <a:solidFill>
            <a:srgbClr val="3A4459"/>
          </a:solidFill>
          <a:ln w="12700">
            <a:solidFill>
              <a:srgbClr val="3A4459"/>
            </a:solidFill>
            <a:prstDash val="solid"/>
          </a:ln>
        </p:spPr>
      </p:sp>
      <p:sp>
        <p:nvSpPr>
          <p:cNvPr id="23" name="Shape 21"/>
          <p:cNvSpPr/>
          <p:nvPr/>
        </p:nvSpPr>
        <p:spPr>
          <a:xfrm>
            <a:off x="7322515" y="1796796"/>
            <a:ext cx="2090318" cy="2103120"/>
          </a:xfrm>
          <a:prstGeom prst="roundRect">
            <a:avLst>
              <a:gd name="adj" fmla="val 1750"/>
            </a:avLst>
          </a:prstGeom>
          <a:solidFill>
            <a:srgbClr val="151A24"/>
          </a:solidFill>
          <a:ln w="12700">
            <a:solidFill>
              <a:srgbClr val="252D3D"/>
            </a:solidFill>
            <a:prstDash val="solid"/>
          </a:ln>
        </p:spPr>
      </p:sp>
      <p:sp>
        <p:nvSpPr>
          <p:cNvPr id="24" name="Shape 22"/>
          <p:cNvSpPr/>
          <p:nvPr/>
        </p:nvSpPr>
        <p:spPr>
          <a:xfrm>
            <a:off x="7523683" y="1979676"/>
            <a:ext cx="310896" cy="256032"/>
          </a:xfrm>
          <a:prstGeom prst="roundRect">
            <a:avLst>
              <a:gd name="adj" fmla="val 17857"/>
            </a:avLst>
          </a:prstGeom>
          <a:solidFill>
            <a:srgbClr val="0A0D14"/>
          </a:solidFill>
          <a:ln w="12700">
            <a:solidFill>
              <a:srgbClr val="22D3EE"/>
            </a:solidFill>
            <a:prstDash val="solid"/>
          </a:ln>
        </p:spPr>
      </p:sp>
      <p:sp>
        <p:nvSpPr>
          <p:cNvPr id="25" name="Text 23"/>
          <p:cNvSpPr txBox="1"/>
          <p:nvPr/>
        </p:nvSpPr>
        <p:spPr>
          <a:xfrm>
            <a:off x="7523683"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04</a:t>
            </a:r>
            <a:endParaRPr lang="en-US" sz="1050" dirty="0"/>
          </a:p>
        </p:txBody>
      </p:sp>
      <p:sp>
        <p:nvSpPr>
          <p:cNvPr id="26" name="Text 24"/>
          <p:cNvSpPr txBox="1"/>
          <p:nvPr/>
        </p:nvSpPr>
        <p:spPr>
          <a:xfrm>
            <a:off x="7523683"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Fix the right thing</a:t>
            </a:r>
            <a:endParaRPr lang="en-US" sz="1150" dirty="0"/>
          </a:p>
        </p:txBody>
      </p:sp>
      <p:sp>
        <p:nvSpPr>
          <p:cNvPr id="27" name="Text 25"/>
          <p:cNvSpPr txBox="1"/>
          <p:nvPr/>
        </p:nvSpPr>
        <p:spPr>
          <a:xfrm>
            <a:off x="7523683"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Agent causes go to coaching. Knowledge causes go to the article. Template causes go to prompt tuning. Process causes go to the workflow.</a:t>
            </a:r>
            <a:endParaRPr lang="en-US" sz="850" dirty="0"/>
          </a:p>
        </p:txBody>
      </p:sp>
      <p:sp>
        <p:nvSpPr>
          <p:cNvPr id="28" name="Shape 26"/>
          <p:cNvSpPr/>
          <p:nvPr/>
        </p:nvSpPr>
        <p:spPr>
          <a:xfrm>
            <a:off x="9431122" y="2784348"/>
            <a:ext cx="146304" cy="128016"/>
          </a:xfrm>
          <a:prstGeom prst="rightArrow">
            <a:avLst/>
          </a:prstGeom>
          <a:solidFill>
            <a:srgbClr val="3A4459"/>
          </a:solidFill>
          <a:ln w="12700">
            <a:solidFill>
              <a:srgbClr val="3A4459"/>
            </a:solidFill>
            <a:prstDash val="solid"/>
          </a:ln>
        </p:spPr>
      </p:sp>
      <p:sp>
        <p:nvSpPr>
          <p:cNvPr id="29" name="Shape 27"/>
          <p:cNvSpPr/>
          <p:nvPr/>
        </p:nvSpPr>
        <p:spPr>
          <a:xfrm>
            <a:off x="9595714" y="1796796"/>
            <a:ext cx="2090318" cy="2103120"/>
          </a:xfrm>
          <a:prstGeom prst="roundRect">
            <a:avLst>
              <a:gd name="adj" fmla="val 1750"/>
            </a:avLst>
          </a:prstGeom>
          <a:solidFill>
            <a:srgbClr val="151A24"/>
          </a:solidFill>
          <a:ln w="12700">
            <a:solidFill>
              <a:srgbClr val="252D3D"/>
            </a:solidFill>
            <a:prstDash val="solid"/>
          </a:ln>
        </p:spPr>
      </p:sp>
      <p:sp>
        <p:nvSpPr>
          <p:cNvPr id="30" name="Shape 28"/>
          <p:cNvSpPr/>
          <p:nvPr/>
        </p:nvSpPr>
        <p:spPr>
          <a:xfrm>
            <a:off x="9796882" y="1979676"/>
            <a:ext cx="310896" cy="256032"/>
          </a:xfrm>
          <a:prstGeom prst="roundRect">
            <a:avLst>
              <a:gd name="adj" fmla="val 17857"/>
            </a:avLst>
          </a:prstGeom>
          <a:solidFill>
            <a:srgbClr val="0A0D14"/>
          </a:solidFill>
          <a:ln w="12700">
            <a:solidFill>
              <a:srgbClr val="22D3EE"/>
            </a:solidFill>
            <a:prstDash val="solid"/>
          </a:ln>
        </p:spPr>
      </p:sp>
      <p:sp>
        <p:nvSpPr>
          <p:cNvPr id="31" name="Text 29"/>
          <p:cNvSpPr txBox="1"/>
          <p:nvPr/>
        </p:nvSpPr>
        <p:spPr>
          <a:xfrm>
            <a:off x="9796882" y="1979676"/>
            <a:ext cx="310896" cy="256032"/>
          </a:xfrm>
          <a:prstGeom prst="rect">
            <a:avLst/>
          </a:prstGeom>
          <a:noFill/>
          <a:ln/>
        </p:spPr>
        <p:txBody>
          <a:bodyPr wrap="square" lIns="0" tIns="0" rIns="0" bIns="0" rtlCol="0" anchor="ctr"/>
          <a:lstStyle/>
          <a:p>
            <a:pPr algn="ctr" indent="0" marL="0">
              <a:buNone/>
            </a:pPr>
            <a:r>
              <a:rPr lang="en-US" sz="1050" b="1" dirty="0">
                <a:solidFill>
                  <a:srgbClr val="22D3EE"/>
                </a:solidFill>
                <a:latin typeface="Arial" pitchFamily="34" charset="0"/>
                <a:ea typeface="Arial" pitchFamily="34" charset="-122"/>
                <a:cs typeface="Arial" pitchFamily="34" charset="-120"/>
              </a:rPr>
              <a:t>05</a:t>
            </a:r>
            <a:endParaRPr lang="en-US" sz="1050" dirty="0"/>
          </a:p>
        </p:txBody>
      </p:sp>
      <p:sp>
        <p:nvSpPr>
          <p:cNvPr id="32" name="Text 30"/>
          <p:cNvSpPr txBox="1"/>
          <p:nvPr/>
        </p:nvSpPr>
        <p:spPr>
          <a:xfrm>
            <a:off x="9796882" y="2327148"/>
            <a:ext cx="1687982" cy="29260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Track and review</a:t>
            </a:r>
            <a:endParaRPr lang="en-US" sz="1150" dirty="0"/>
          </a:p>
        </p:txBody>
      </p:sp>
      <p:sp>
        <p:nvSpPr>
          <p:cNvPr id="33" name="Text 31"/>
          <p:cNvSpPr txBox="1"/>
          <p:nvPr/>
        </p:nvSpPr>
        <p:spPr>
          <a:xfrm>
            <a:off x="9796882" y="2674620"/>
            <a:ext cx="1687982" cy="1078992"/>
          </a:xfrm>
          <a:prstGeom prst="rect">
            <a:avLst/>
          </a:prstGeom>
          <a:noFill/>
          <a:ln/>
        </p:spPr>
        <p:txBody>
          <a:bodyPr wrap="square" lIns="0" tIns="0" rIns="0" bIns="0" rtlCol="0" anchor="t"/>
          <a:lstStyle/>
          <a:p>
            <a:pPr indent="0" marL="0">
              <a:lnSpc>
                <a:spcPts val="1150"/>
              </a:lnSpc>
              <a:buNone/>
            </a:pPr>
            <a:r>
              <a:rPr lang="en-US" sz="850" dirty="0">
                <a:solidFill>
                  <a:srgbClr val="8A94A6"/>
                </a:solidFill>
                <a:latin typeface="Arial" pitchFamily="34" charset="0"/>
                <a:ea typeface="Arial" pitchFamily="34" charset="-122"/>
                <a:cs typeface="Arial" pitchFamily="34" charset="-120"/>
              </a:rPr>
              <a:t>Each action carries an owner, a target date, a status and an expected benefit, and trends are reviewed with McKesson in the monthly cadence.</a:t>
            </a:r>
            <a:endParaRPr lang="en-US" sz="850" dirty="0"/>
          </a:p>
        </p:txBody>
      </p:sp>
      <p:sp>
        <p:nvSpPr>
          <p:cNvPr id="34" name="Shape 32"/>
          <p:cNvSpPr/>
          <p:nvPr/>
        </p:nvSpPr>
        <p:spPr>
          <a:xfrm>
            <a:off x="502920" y="4119372"/>
            <a:ext cx="5481828" cy="1463040"/>
          </a:xfrm>
          <a:prstGeom prst="roundRect">
            <a:avLst>
              <a:gd name="adj" fmla="val 2500"/>
            </a:avLst>
          </a:prstGeom>
          <a:solidFill>
            <a:srgbClr val="151A24"/>
          </a:solidFill>
          <a:ln w="12700">
            <a:solidFill>
              <a:srgbClr val="252D3D"/>
            </a:solidFill>
            <a:prstDash val="solid"/>
          </a:ln>
        </p:spPr>
      </p:sp>
      <p:sp>
        <p:nvSpPr>
          <p:cNvPr id="35" name="Text 33"/>
          <p:cNvSpPr txBox="1"/>
          <p:nvPr/>
        </p:nvSpPr>
        <p:spPr>
          <a:xfrm>
            <a:off x="740664" y="4283964"/>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WHAT THE AUTOMATION ADDS TO THIS LOOP</a:t>
            </a:r>
            <a:endParaRPr lang="en-US" sz="1000" dirty="0"/>
          </a:p>
        </p:txBody>
      </p:sp>
      <p:sp>
        <p:nvSpPr>
          <p:cNvPr id="36" name="Text 34"/>
          <p:cNvSpPr txBox="1"/>
          <p:nvPr/>
        </p:nvSpPr>
        <p:spPr>
          <a:xfrm>
            <a:off x="740664" y="4594860"/>
            <a:ext cx="5006340" cy="877824"/>
          </a:xfrm>
          <a:prstGeom prst="rect">
            <a:avLst/>
          </a:prstGeom>
          <a:noFill/>
          <a:ln/>
        </p:spPr>
        <p:txBody>
          <a:bodyPr wrap="square" lIns="0" tIns="0" rIns="0" bIns="0" rtlCol="0" anchor="t"/>
          <a:lstStyle/>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Draft acceptance and edit distance show which case types the templates handle well and which need work.</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Knowledge gaps are captured at the moment the agent hits one, not recalled weeks later.</a:t>
            </a:r>
            <a:endParaRPr lang="en-US" sz="850" dirty="0"/>
          </a:p>
          <a:p>
            <a:pPr marL="152400" indent="-152400">
              <a:lnSpc>
                <a:spcPts val="1250"/>
              </a:lnSpc>
              <a:spcAft>
                <a:spcPts val="500"/>
              </a:spcAft>
              <a:buSzPct val="100000"/>
              <a:buChar char="•"/>
            </a:pPr>
            <a:r>
              <a:rPr lang="en-US" sz="850" dirty="0">
                <a:solidFill>
                  <a:srgbClr val="E6EAF2"/>
                </a:solidFill>
                <a:latin typeface="Arial" pitchFamily="34" charset="0"/>
                <a:ea typeface="Arial" pitchFamily="34" charset="-122"/>
                <a:cs typeface="Arial" pitchFamily="34" charset="-120"/>
              </a:rPr>
              <a:t>Because every case is classified, recurring demand drivers become visible and can be designed out.</a:t>
            </a:r>
            <a:endParaRPr lang="en-US" sz="850" dirty="0"/>
          </a:p>
        </p:txBody>
      </p:sp>
      <p:sp>
        <p:nvSpPr>
          <p:cNvPr id="37" name="Shape 35"/>
          <p:cNvSpPr/>
          <p:nvPr/>
        </p:nvSpPr>
        <p:spPr>
          <a:xfrm>
            <a:off x="6204204" y="4119372"/>
            <a:ext cx="5481828" cy="1463040"/>
          </a:xfrm>
          <a:prstGeom prst="roundRect">
            <a:avLst>
              <a:gd name="adj" fmla="val 2500"/>
            </a:avLst>
          </a:prstGeom>
          <a:solidFill>
            <a:srgbClr val="151A24"/>
          </a:solidFill>
          <a:ln w="12700">
            <a:solidFill>
              <a:srgbClr val="252D3D"/>
            </a:solidFill>
            <a:prstDash val="solid"/>
          </a:ln>
        </p:spPr>
      </p:sp>
      <p:sp>
        <p:nvSpPr>
          <p:cNvPr id="38" name="Text 36"/>
          <p:cNvSpPr txBox="1"/>
          <p:nvPr/>
        </p:nvSpPr>
        <p:spPr>
          <a:xfrm>
            <a:off x="6441948" y="4283964"/>
            <a:ext cx="5006340" cy="201168"/>
          </a:xfrm>
          <a:prstGeom prst="rect">
            <a:avLst/>
          </a:prstGeom>
          <a:noFill/>
          <a:ln/>
        </p:spPr>
        <p:txBody>
          <a:bodyPr wrap="square" lIns="0" tIns="0" rIns="0" bIns="0" rtlCol="0" anchor="ctr"/>
          <a:lstStyle/>
          <a:p>
            <a:pPr indent="0" marL="0">
              <a:buNone/>
            </a:pPr>
            <a:r>
              <a:rPr lang="en-US" sz="1000" b="1" spc="140" kern="0" dirty="0">
                <a:solidFill>
                  <a:srgbClr val="FFFFFF"/>
                </a:solidFill>
                <a:latin typeface="Arial" pitchFamily="34" charset="0"/>
                <a:ea typeface="Arial" pitchFamily="34" charset="-122"/>
                <a:cs typeface="Arial" pitchFamily="34" charset="-120"/>
              </a:rPr>
              <a:t>GOVERNANCE CADENCE</a:t>
            </a:r>
            <a:endParaRPr lang="en-US" sz="1000" dirty="0"/>
          </a:p>
        </p:txBody>
      </p:sp>
      <p:sp>
        <p:nvSpPr>
          <p:cNvPr id="39" name="Text 37"/>
          <p:cNvSpPr txBox="1"/>
          <p:nvPr/>
        </p:nvSpPr>
        <p:spPr>
          <a:xfrm>
            <a:off x="6441948" y="4594860"/>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Arial" pitchFamily="34" charset="0"/>
                <a:ea typeface="Arial" pitchFamily="34" charset="-122"/>
                <a:cs typeface="Arial" pitchFamily="34" charset="-120"/>
              </a:rPr>
              <a:t>Daily</a:t>
            </a:r>
            <a:endParaRPr lang="en-US" sz="850" dirty="0"/>
          </a:p>
        </p:txBody>
      </p:sp>
      <p:sp>
        <p:nvSpPr>
          <p:cNvPr id="40" name="Text 38"/>
          <p:cNvSpPr txBox="1"/>
          <p:nvPr/>
        </p:nvSpPr>
        <p:spPr>
          <a:xfrm>
            <a:off x="7246620" y="4594860"/>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Arial" pitchFamily="34" charset="0"/>
                <a:ea typeface="Arial" pitchFamily="34" charset="-122"/>
                <a:cs typeface="Arial" pitchFamily="34" charset="-120"/>
              </a:rPr>
              <a:t>Queue review at shift start, handover, SLA risk and aged case review, end of day closure report</a:t>
            </a:r>
            <a:endParaRPr lang="en-US" sz="800" dirty="0"/>
          </a:p>
        </p:txBody>
      </p:sp>
      <p:sp>
        <p:nvSpPr>
          <p:cNvPr id="41" name="Text 39"/>
          <p:cNvSpPr txBox="1"/>
          <p:nvPr/>
        </p:nvSpPr>
        <p:spPr>
          <a:xfrm>
            <a:off x="6441948" y="4832604"/>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Arial" pitchFamily="34" charset="0"/>
                <a:ea typeface="Arial" pitchFamily="34" charset="-122"/>
                <a:cs typeface="Arial" pitchFamily="34" charset="-120"/>
              </a:rPr>
              <a:t>Weekly</a:t>
            </a:r>
            <a:endParaRPr lang="en-US" sz="850" dirty="0"/>
          </a:p>
        </p:txBody>
      </p:sp>
      <p:sp>
        <p:nvSpPr>
          <p:cNvPr id="42" name="Text 40"/>
          <p:cNvSpPr txBox="1"/>
          <p:nvPr/>
        </p:nvSpPr>
        <p:spPr>
          <a:xfrm>
            <a:off x="7246620" y="4832604"/>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Arial" pitchFamily="34" charset="0"/>
                <a:ea typeface="Arial" pitchFamily="34" charset="-122"/>
                <a:cs typeface="Arial" pitchFamily="34" charset="-120"/>
              </a:rPr>
              <a:t>Operations review, volume and backlog trends, quality calibration, knowledge gaps, automation candidates</a:t>
            </a:r>
            <a:endParaRPr lang="en-US" sz="800" dirty="0"/>
          </a:p>
        </p:txBody>
      </p:sp>
      <p:sp>
        <p:nvSpPr>
          <p:cNvPr id="43" name="Text 41"/>
          <p:cNvSpPr txBox="1"/>
          <p:nvPr/>
        </p:nvSpPr>
        <p:spPr>
          <a:xfrm>
            <a:off x="6441948" y="5070348"/>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Arial" pitchFamily="34" charset="0"/>
                <a:ea typeface="Arial" pitchFamily="34" charset="-122"/>
                <a:cs typeface="Arial" pitchFamily="34" charset="-120"/>
              </a:rPr>
              <a:t>Monthly</a:t>
            </a:r>
            <a:endParaRPr lang="en-US" sz="850" dirty="0"/>
          </a:p>
        </p:txBody>
      </p:sp>
      <p:sp>
        <p:nvSpPr>
          <p:cNvPr id="44" name="Text 42"/>
          <p:cNvSpPr txBox="1"/>
          <p:nvPr/>
        </p:nvSpPr>
        <p:spPr>
          <a:xfrm>
            <a:off x="7246620" y="5070348"/>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Arial" pitchFamily="34" charset="0"/>
                <a:ea typeface="Arial" pitchFamily="34" charset="-122"/>
                <a:cs typeface="Arial" pitchFamily="34" charset="-120"/>
              </a:rPr>
              <a:t>Business review: SLA attainment, first pass resolution, reopens, QA, feedback, automation progress</a:t>
            </a:r>
            <a:endParaRPr lang="en-US" sz="800" dirty="0"/>
          </a:p>
        </p:txBody>
      </p:sp>
      <p:sp>
        <p:nvSpPr>
          <p:cNvPr id="45" name="Text 43"/>
          <p:cNvSpPr txBox="1"/>
          <p:nvPr/>
        </p:nvSpPr>
        <p:spPr>
          <a:xfrm>
            <a:off x="6441948" y="5308092"/>
            <a:ext cx="777240" cy="219456"/>
          </a:xfrm>
          <a:prstGeom prst="rect">
            <a:avLst/>
          </a:prstGeom>
          <a:noFill/>
          <a:ln/>
        </p:spPr>
        <p:txBody>
          <a:bodyPr wrap="square" lIns="0" tIns="0" rIns="0" bIns="0" rtlCol="0" anchor="ctr"/>
          <a:lstStyle/>
          <a:p>
            <a:pPr indent="0" marL="0">
              <a:buNone/>
            </a:pPr>
            <a:r>
              <a:rPr lang="en-US" sz="850" b="1" dirty="0">
                <a:solidFill>
                  <a:srgbClr val="22D3EE"/>
                </a:solidFill>
                <a:latin typeface="Arial" pitchFamily="34" charset="0"/>
                <a:ea typeface="Arial" pitchFamily="34" charset="-122"/>
                <a:cs typeface="Arial" pitchFamily="34" charset="-120"/>
              </a:rPr>
              <a:t>Quarterly</a:t>
            </a:r>
            <a:endParaRPr lang="en-US" sz="850" dirty="0"/>
          </a:p>
        </p:txBody>
      </p:sp>
      <p:sp>
        <p:nvSpPr>
          <p:cNvPr id="46" name="Text 44"/>
          <p:cNvSpPr txBox="1"/>
          <p:nvPr/>
        </p:nvSpPr>
        <p:spPr>
          <a:xfrm>
            <a:off x="7246620" y="5308092"/>
            <a:ext cx="3982212" cy="219456"/>
          </a:xfrm>
          <a:prstGeom prst="rect">
            <a:avLst/>
          </a:prstGeom>
          <a:noFill/>
          <a:ln/>
        </p:spPr>
        <p:txBody>
          <a:bodyPr wrap="square" lIns="0" tIns="0" rIns="0" bIns="0" rtlCol="0" anchor="ctr"/>
          <a:lstStyle/>
          <a:p>
            <a:pPr indent="0" marL="0">
              <a:buNone/>
            </a:pPr>
            <a:r>
              <a:rPr lang="en-US" sz="800" dirty="0">
                <a:solidFill>
                  <a:srgbClr val="8A94A6"/>
                </a:solidFill>
                <a:latin typeface="Arial" pitchFamily="34" charset="0"/>
                <a:ea typeface="Arial" pitchFamily="34" charset="-122"/>
                <a:cs typeface="Arial" pitchFamily="34" charset="-120"/>
              </a:rPr>
              <a:t>Strategic review: capacity and forecast, risks, customer experience trends, next quarter roadmap</a:t>
            </a:r>
            <a:endParaRPr lang="en-US" sz="800" dirty="0"/>
          </a:p>
        </p:txBody>
      </p:sp>
      <p:pic>
        <p:nvPicPr>
          <p:cNvPr id="47"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48" name="Text 45"/>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BUSINESS VALUE  |  01</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WHERE THE MINUTES ACTUALLY COME FROM</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Handling time is not reduced by asking agents to work faster. It is reduced by removing steps that do not need a person, and shortening the ones that do.</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96796"/>
          <a:ext cx="11183112" cy="914400"/>
        </p:xfrm>
        <a:graphic>
          <a:graphicData uri="http://schemas.openxmlformats.org/drawingml/2006/table">
            <a:tbl>
              <a:tblPr/>
              <a:tblGrid>
                <a:gridCol w="3337560"/>
                <a:gridCol w="1143000"/>
                <a:gridCol w="1234440"/>
                <a:gridCol w="1143000"/>
                <a:gridCol w="4325112"/>
              </a:tblGrid>
              <a:tr h="384048">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Step in handling a case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Today</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Modelled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Saved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c>
                  <a:txBody>
                    <a:bodyPr/>
                    <a:lstStyle/>
                    <a:p>
                      <a:pPr indent="0" marL="0">
                        <a:buNone/>
                      </a:pPr>
                      <a:r>
                        <a:rPr lang="en-US" sz="850" b="1" spc="100" kern="0" dirty="0">
                          <a:solidFill>
                            <a:srgbClr val="22D3EE"/>
                          </a:solidFill>
                          <a:latin typeface="Arial" pitchFamily="34" charset="0"/>
                          <a:ea typeface="Arial" pitchFamily="34" charset="-122"/>
                          <a:cs typeface="Arial" pitchFamily="34" charset="-120"/>
                        </a:rPr>
                        <a:t>What removes the time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A2130"/>
                    </a:solidFill>
                  </a:tcPr>
                </a:tc>
              </a:tr>
              <a:tr h="384048">
                <a:tc>
                  <a:txBody>
                    <a:bodyPr/>
                    <a:lstStyle/>
                    <a:p>
                      <a:pPr indent="0" marL="0">
                        <a:buNone/>
                      </a:pPr>
                      <a:r>
                        <a:rPr lang="en-US" sz="900" dirty="0">
                          <a:solidFill>
                            <a:srgbClr val="E6EAF2"/>
                          </a:solidFill>
                          <a:latin typeface="Arial" pitchFamily="34" charset="0"/>
                          <a:ea typeface="Arial" pitchFamily="34" charset="-122"/>
                          <a:cs typeface="Arial" pitchFamily="34" charset="-120"/>
                        </a:rPr>
                        <a:t>Read and comprehend the thread</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Arial" pitchFamily="34" charset="0"/>
                          <a:ea typeface="Arial" pitchFamily="34" charset="-122"/>
                          <a:cs typeface="Arial" pitchFamily="34" charset="-120"/>
                        </a:rPr>
                        <a:t>1:15</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0:45</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Arial" pitchFamily="34" charset="0"/>
                          <a:ea typeface="Arial" pitchFamily="34" charset="-122"/>
                          <a:cs typeface="Arial" pitchFamily="34" charset="-120"/>
                        </a:rPr>
                        <a:t>0:30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A factual summary is on the case before the agent opens it</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Arial" pitchFamily="34" charset="0"/>
                          <a:ea typeface="Arial" pitchFamily="34" charset="-122"/>
                          <a:cs typeface="Arial" pitchFamily="34" charset="-120"/>
                        </a:rPr>
                        <a:t>Classify, prioritise and assign</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Arial" pitchFamily="34" charset="0"/>
                          <a:ea typeface="Arial" pitchFamily="34" charset="-122"/>
                          <a:cs typeface="Arial" pitchFamily="34" charset="-120"/>
                        </a:rPr>
                        <a:t>1:00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0:20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Arial" pitchFamily="34" charset="0"/>
                          <a:ea typeface="Arial" pitchFamily="34" charset="-122"/>
                          <a:cs typeface="Arial" pitchFamily="34" charset="-120"/>
                        </a:rPr>
                        <a:t>0:40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Category, priority and queue are set automatically, the agent verifies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Arial" pitchFamily="34" charset="0"/>
                          <a:ea typeface="Arial" pitchFamily="34" charset="-122"/>
                          <a:cs typeface="Arial" pitchFamily="34" charset="-120"/>
                        </a:rPr>
                        <a:t>Assemble account and order context</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Arial" pitchFamily="34" charset="0"/>
                          <a:ea typeface="Arial" pitchFamily="34" charset="-122"/>
                          <a:cs typeface="Arial" pitchFamily="34" charset="-120"/>
                        </a:rPr>
                        <a:t>1:30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1:20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Arial" pitchFamily="34" charset="0"/>
                          <a:ea typeface="Arial" pitchFamily="34" charset="-122"/>
                          <a:cs typeface="Arial" pitchFamily="34" charset="-120"/>
                        </a:rPr>
                        <a:t>0:10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Extracted entities link the order, invoice and account to the case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Arial" pitchFamily="34" charset="0"/>
                          <a:ea typeface="Arial" pitchFamily="34" charset="-122"/>
                          <a:cs typeface="Arial" pitchFamily="34" charset="-120"/>
                        </a:rPr>
                        <a:t>Find the right policy or article</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Arial" pitchFamily="34" charset="0"/>
                          <a:ea typeface="Arial" pitchFamily="34" charset="-122"/>
                          <a:cs typeface="Arial" pitchFamily="34" charset="-120"/>
                        </a:rPr>
                        <a:t>1:10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Arial" pitchFamily="34" charset="0"/>
                          <a:ea typeface="Arial" pitchFamily="34" charset="-122"/>
                          <a:cs typeface="Arial" pitchFamily="34" charset="-120"/>
                        </a:rPr>
                        <a:t>0:10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The matching Knowledge article is surfaced and attached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Arial" pitchFamily="34" charset="0"/>
                          <a:ea typeface="Arial" pitchFamily="34" charset="-122"/>
                          <a:cs typeface="Arial" pitchFamily="34" charset="-120"/>
                        </a:rPr>
                        <a:t>Compose the response</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Arial" pitchFamily="34" charset="0"/>
                          <a:ea typeface="Arial" pitchFamily="34" charset="-122"/>
                          <a:cs typeface="Arial" pitchFamily="34" charset="-120"/>
                        </a:rPr>
                        <a:t>2:30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2:05</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Arial" pitchFamily="34" charset="0"/>
                          <a:ea typeface="Arial" pitchFamily="34" charset="-122"/>
                          <a:cs typeface="Arial" pitchFamily="34" charset="-120"/>
                        </a:rPr>
                        <a:t>0:25</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A grounded draft replaces the blank box, the agent reviews and edits</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00" dirty="0">
                          <a:solidFill>
                            <a:srgbClr val="E6EAF2"/>
                          </a:solidFill>
                          <a:latin typeface="Arial" pitchFamily="34" charset="0"/>
                          <a:ea typeface="Arial" pitchFamily="34" charset="-122"/>
                          <a:cs typeface="Arial" pitchFamily="34" charset="-120"/>
                        </a:rPr>
                        <a:t>Update, log and close</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dirty="0">
                          <a:solidFill>
                            <a:srgbClr val="8A94A6"/>
                          </a:solidFill>
                          <a:latin typeface="Arial" pitchFamily="34" charset="0"/>
                          <a:ea typeface="Arial" pitchFamily="34" charset="-122"/>
                          <a:cs typeface="Arial" pitchFamily="34" charset="-120"/>
                        </a:rPr>
                        <a:t>0:50</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0:45</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algn="ctr" indent="0" marL="0">
                        <a:buNone/>
                      </a:pPr>
                      <a:r>
                        <a:rPr lang="en-US" sz="900" b="1" dirty="0">
                          <a:solidFill>
                            <a:srgbClr val="22C55E"/>
                          </a:solidFill>
                          <a:latin typeface="Arial" pitchFamily="34" charset="0"/>
                          <a:ea typeface="Arial" pitchFamily="34" charset="-122"/>
                          <a:cs typeface="Arial" pitchFamily="34" charset="-120"/>
                        </a:rPr>
                        <a:t>0:05</a:t>
                      </a:r>
                      <a:endParaRPr lang="en-US" sz="9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c>
                  <a:txBody>
                    <a:bodyPr/>
                    <a:lstStyle/>
                    <a:p>
                      <a:pPr indent="0" marL="0">
                        <a:buNone/>
                      </a:pPr>
                      <a:r>
                        <a:rPr lang="en-US" sz="850" dirty="0">
                          <a:solidFill>
                            <a:srgbClr val="8A94A6"/>
                          </a:solidFill>
                          <a:latin typeface="Arial" pitchFamily="34" charset="0"/>
                          <a:ea typeface="Arial" pitchFamily="34" charset="-122"/>
                          <a:cs typeface="Arial" pitchFamily="34" charset="-120"/>
                        </a:rPr>
                        <a:t>Case fields, summary and disposition are already populated</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51A24"/>
                    </a:solidFill>
                  </a:tcPr>
                </a:tc>
              </a:tr>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BLENDED AVERAGE HANDLING TIME</a:t>
                      </a:r>
                      <a:endParaRPr lang="en-US" sz="9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algn="ctr" indent="0" marL="0">
                        <a:buNone/>
                      </a:pPr>
                      <a:r>
                        <a:rPr lang="en-US" sz="1100" b="1" dirty="0">
                          <a:solidFill>
                            <a:srgbClr val="8A94A6"/>
                          </a:solidFill>
                          <a:latin typeface="Arial" pitchFamily="34" charset="0"/>
                          <a:ea typeface="Arial" pitchFamily="34" charset="-122"/>
                          <a:cs typeface="Arial" pitchFamily="34" charset="-120"/>
                        </a:rPr>
                        <a:t>8:15</a:t>
                      </a:r>
                      <a:endParaRPr lang="en-US" sz="11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algn="ctr" indent="0" marL="0">
                        <a:buNone/>
                      </a:pPr>
                      <a:r>
                        <a:rPr lang="en-US" sz="1100" b="1" dirty="0">
                          <a:solidFill>
                            <a:srgbClr val="22D3EE"/>
                          </a:solidFill>
                          <a:latin typeface="Arial" pitchFamily="34" charset="0"/>
                          <a:ea typeface="Arial" pitchFamily="34" charset="-122"/>
                          <a:cs typeface="Arial" pitchFamily="34" charset="-120"/>
                        </a:rPr>
                        <a:t>6:15</a:t>
                      </a:r>
                      <a:endParaRPr lang="en-US" sz="11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algn="ctr" indent="0" marL="0">
                        <a:buNone/>
                      </a:pPr>
                      <a:r>
                        <a:rPr lang="en-US" sz="1100" b="1" dirty="0">
                          <a:solidFill>
                            <a:srgbClr val="22C55E"/>
                          </a:solidFill>
                          <a:latin typeface="Arial" pitchFamily="34" charset="0"/>
                          <a:ea typeface="Arial" pitchFamily="34" charset="-122"/>
                          <a:cs typeface="Arial" pitchFamily="34" charset="-120"/>
                        </a:rPr>
                        <a:t>2:00</a:t>
                      </a:r>
                      <a:endParaRPr lang="en-US" sz="110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c>
                  <a:txBody>
                    <a:bodyPr/>
                    <a:lstStyle/>
                    <a:p>
                      <a:pPr indent="0" marL="0">
                        <a:buNone/>
                      </a:pPr>
                      <a:r>
                        <a:rPr lang="en-US" sz="850" b="1" dirty="0">
                          <a:solidFill>
                            <a:srgbClr val="E6EAF2"/>
                          </a:solidFill>
                          <a:latin typeface="Arial" pitchFamily="34" charset="0"/>
                          <a:ea typeface="Arial" pitchFamily="34" charset="-122"/>
                          <a:cs typeface="Arial" pitchFamily="34" charset="-120"/>
                        </a:rPr>
                        <a:t>A 24 percent reduction, modelled and validated at baseline</a:t>
                      </a:r>
                      <a:endParaRPr lang="en-US" sz="850" dirty="0">
                        <a:latin typeface="Arial" charset="0"/>
                        <a:ea typeface="Arial" charset="0"/>
                        <a:cs typeface="Arial" charset="0"/>
                      </a:endParaRPr>
                    </a:p>
                  </a:txBody>
                  <a:tcPr marL="88900" marR="88900" marT="50800" marB="50800" anchor="ctr">
                    <a:lnL w="12700" cap="flat" cmpd="sng" algn="ctr">
                      <a:solidFill>
                        <a:srgbClr val="252D3D"/>
                      </a:solidFill>
                      <a:prstDash val="solid"/>
                      <a:round/>
                      <a:headEnd type="none" w="med" len="med"/>
                      <a:tailEnd type="none" w="med" len="med"/>
                    </a:lnL>
                    <a:lnR w="12700" cap="flat" cmpd="sng" algn="ctr">
                      <a:solidFill>
                        <a:srgbClr val="252D3D"/>
                      </a:solidFill>
                      <a:prstDash val="solid"/>
                      <a:round/>
                      <a:headEnd type="none" w="med" len="med"/>
                      <a:tailEnd type="none" w="med" len="med"/>
                    </a:lnR>
                    <a:lnT w="12700" cap="flat" cmpd="sng" algn="ctr">
                      <a:solidFill>
                        <a:srgbClr val="252D3D"/>
                      </a:solidFill>
                      <a:prstDash val="solid"/>
                      <a:round/>
                      <a:headEnd type="none" w="med" len="med"/>
                      <a:tailEnd type="none" w="med" len="med"/>
                    </a:lnT>
                    <a:lnB w="12700" cap="flat" cmpd="sng" algn="ctr">
                      <a:solidFill>
                        <a:srgbClr val="252D3D"/>
                      </a:solidFill>
                      <a:prstDash val="solid"/>
                      <a:round/>
                      <a:headEnd type="none" w="med" len="med"/>
                      <a:tailEnd type="none" w="med" len="med"/>
                    </a:lnB>
                    <a:solidFill>
                      <a:srgbClr val="17222E"/>
                    </a:solidFill>
                  </a:tcPr>
                </a:tc>
              </a:tr>
            </a:tbl>
          </a:graphicData>
        </a:graphic>
      </p:graphicFrame>
      <p:sp>
        <p:nvSpPr>
          <p:cNvPr id="6" name="Shape 3"/>
          <p:cNvSpPr/>
          <p:nvPr/>
        </p:nvSpPr>
        <p:spPr>
          <a:xfrm>
            <a:off x="502920" y="4960620"/>
            <a:ext cx="3593592" cy="932688"/>
          </a:xfrm>
          <a:prstGeom prst="roundRect">
            <a:avLst>
              <a:gd name="adj" fmla="val 3922"/>
            </a:avLst>
          </a:prstGeom>
          <a:solidFill>
            <a:srgbClr val="151A24"/>
          </a:solidFill>
          <a:ln w="12700">
            <a:solidFill>
              <a:srgbClr val="252D3D"/>
            </a:solidFill>
            <a:prstDash val="solid"/>
          </a:ln>
        </p:spPr>
      </p:sp>
      <p:sp>
        <p:nvSpPr>
          <p:cNvPr id="7" name="Text 4"/>
          <p:cNvSpPr txBox="1"/>
          <p:nvPr/>
        </p:nvSpPr>
        <p:spPr>
          <a:xfrm>
            <a:off x="722376" y="5106924"/>
            <a:ext cx="3154680" cy="237744"/>
          </a:xfrm>
          <a:prstGeom prst="rect">
            <a:avLst/>
          </a:prstGeom>
          <a:noFill/>
          <a:ln/>
        </p:spPr>
        <p:txBody>
          <a:bodyPr wrap="square" lIns="0" tIns="0" rIns="0" bIns="0" rtlCol="0" anchor="ctr"/>
          <a:lstStyle/>
          <a:p>
            <a:pPr indent="0" marL="0">
              <a:buNone/>
            </a:pPr>
            <a:r>
              <a:rPr lang="en-US" sz="1050" b="1" dirty="0">
                <a:solidFill>
                  <a:srgbClr val="22D3EE"/>
                </a:solidFill>
                <a:latin typeface="Arial" pitchFamily="34" charset="0"/>
                <a:ea typeface="Arial" pitchFamily="34" charset="-122"/>
                <a:cs typeface="Arial" pitchFamily="34" charset="-120"/>
              </a:rPr>
              <a:t>Compounding across volume</a:t>
            </a:r>
            <a:endParaRPr lang="en-US" sz="1050" dirty="0"/>
          </a:p>
        </p:txBody>
      </p:sp>
      <p:sp>
        <p:nvSpPr>
          <p:cNvPr id="8" name="Text 5"/>
          <p:cNvSpPr txBox="1"/>
          <p:nvPr/>
        </p:nvSpPr>
        <p:spPr>
          <a:xfrm>
            <a:off x="722376" y="5362956"/>
            <a:ext cx="3154680" cy="493776"/>
          </a:xfrm>
          <a:prstGeom prst="rect">
            <a:avLst/>
          </a:prstGeom>
          <a:noFill/>
          <a:ln/>
        </p:spPr>
        <p:txBody>
          <a:bodyPr wrap="square" lIns="0" tIns="0" rIns="0" bIns="0" rtlCol="0" anchor="t"/>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Two minutes on 33,480 cases a month is roughly 1,100 hours of handling effort returned every month, or about 13,000 hours a year.</a:t>
            </a:r>
            <a:endParaRPr lang="en-US" sz="850" dirty="0"/>
          </a:p>
        </p:txBody>
      </p:sp>
      <p:sp>
        <p:nvSpPr>
          <p:cNvPr id="9" name="Shape 6"/>
          <p:cNvSpPr/>
          <p:nvPr/>
        </p:nvSpPr>
        <p:spPr>
          <a:xfrm>
            <a:off x="4297680" y="4960620"/>
            <a:ext cx="3593592" cy="932688"/>
          </a:xfrm>
          <a:prstGeom prst="roundRect">
            <a:avLst>
              <a:gd name="adj" fmla="val 3922"/>
            </a:avLst>
          </a:prstGeom>
          <a:solidFill>
            <a:srgbClr val="151A24"/>
          </a:solidFill>
          <a:ln w="12700">
            <a:solidFill>
              <a:srgbClr val="252D3D"/>
            </a:solidFill>
            <a:prstDash val="solid"/>
          </a:ln>
        </p:spPr>
      </p:sp>
      <p:sp>
        <p:nvSpPr>
          <p:cNvPr id="10" name="Text 7"/>
          <p:cNvSpPr txBox="1"/>
          <p:nvPr/>
        </p:nvSpPr>
        <p:spPr>
          <a:xfrm>
            <a:off x="4517136" y="5106924"/>
            <a:ext cx="3154680" cy="237744"/>
          </a:xfrm>
          <a:prstGeom prst="rect">
            <a:avLst/>
          </a:prstGeom>
          <a:noFill/>
          <a:ln/>
        </p:spPr>
        <p:txBody>
          <a:bodyPr wrap="square" lIns="0" tIns="0" rIns="0" bIns="0" rtlCol="0" anchor="ctr"/>
          <a:lstStyle/>
          <a:p>
            <a:pPr indent="0" marL="0">
              <a:buNone/>
            </a:pPr>
            <a:r>
              <a:rPr lang="en-US" sz="1050" b="1" dirty="0">
                <a:solidFill>
                  <a:srgbClr val="22D3EE"/>
                </a:solidFill>
                <a:latin typeface="Arial" pitchFamily="34" charset="0"/>
                <a:ea typeface="Arial" pitchFamily="34" charset="-122"/>
                <a:cs typeface="Arial" pitchFamily="34" charset="-120"/>
              </a:rPr>
              <a:t>Triage is the cleanest win</a:t>
            </a:r>
            <a:endParaRPr lang="en-US" sz="1050" dirty="0"/>
          </a:p>
        </p:txBody>
      </p:sp>
      <p:sp>
        <p:nvSpPr>
          <p:cNvPr id="11" name="Text 8"/>
          <p:cNvSpPr txBox="1"/>
          <p:nvPr/>
        </p:nvSpPr>
        <p:spPr>
          <a:xfrm>
            <a:off x="4517136" y="5362956"/>
            <a:ext cx="3154680" cy="493776"/>
          </a:xfrm>
          <a:prstGeom prst="rect">
            <a:avLst/>
          </a:prstGeom>
          <a:noFill/>
          <a:ln/>
        </p:spPr>
        <p:txBody>
          <a:bodyPr wrap="square" lIns="0" tIns="0" rIns="0" bIns="0" rtlCol="0" anchor="t"/>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classify and assign step alone removes over 370 hours a month, and it is fully automated rather than assisted.</a:t>
            </a:r>
            <a:endParaRPr lang="en-US" sz="850" dirty="0"/>
          </a:p>
        </p:txBody>
      </p:sp>
      <p:sp>
        <p:nvSpPr>
          <p:cNvPr id="12" name="Shape 9"/>
          <p:cNvSpPr/>
          <p:nvPr/>
        </p:nvSpPr>
        <p:spPr>
          <a:xfrm>
            <a:off x="8092440" y="4960620"/>
            <a:ext cx="3593592" cy="932688"/>
          </a:xfrm>
          <a:prstGeom prst="roundRect">
            <a:avLst>
              <a:gd name="adj" fmla="val 3922"/>
            </a:avLst>
          </a:prstGeom>
          <a:solidFill>
            <a:srgbClr val="151A24"/>
          </a:solidFill>
          <a:ln w="12700">
            <a:solidFill>
              <a:srgbClr val="252D3D"/>
            </a:solidFill>
            <a:prstDash val="solid"/>
          </a:ln>
        </p:spPr>
      </p:sp>
      <p:sp>
        <p:nvSpPr>
          <p:cNvPr id="13" name="Text 10"/>
          <p:cNvSpPr txBox="1"/>
          <p:nvPr/>
        </p:nvSpPr>
        <p:spPr>
          <a:xfrm>
            <a:off x="8311896" y="5106924"/>
            <a:ext cx="3154680" cy="237744"/>
          </a:xfrm>
          <a:prstGeom prst="rect">
            <a:avLst/>
          </a:prstGeom>
          <a:noFill/>
          <a:ln/>
        </p:spPr>
        <p:txBody>
          <a:bodyPr wrap="square" lIns="0" tIns="0" rIns="0" bIns="0" rtlCol="0" anchor="ctr"/>
          <a:lstStyle/>
          <a:p>
            <a:pPr indent="0" marL="0">
              <a:buNone/>
            </a:pPr>
            <a:r>
              <a:rPr lang="en-US" sz="1050" b="1" dirty="0">
                <a:solidFill>
                  <a:srgbClr val="8A94A6"/>
                </a:solidFill>
                <a:latin typeface="Arial" pitchFamily="34" charset="0"/>
                <a:ea typeface="Arial" pitchFamily="34" charset="-122"/>
                <a:cs typeface="Arial" pitchFamily="34" charset="-120"/>
              </a:rPr>
              <a:t>Deliberately conservative</a:t>
            </a:r>
            <a:endParaRPr lang="en-US" sz="1050" dirty="0"/>
          </a:p>
        </p:txBody>
      </p:sp>
      <p:sp>
        <p:nvSpPr>
          <p:cNvPr id="14" name="Text 11"/>
          <p:cNvSpPr txBox="1"/>
          <p:nvPr/>
        </p:nvSpPr>
        <p:spPr>
          <a:xfrm>
            <a:off x="8311896" y="5362956"/>
            <a:ext cx="3154680" cy="493776"/>
          </a:xfrm>
          <a:prstGeom prst="rect">
            <a:avLst/>
          </a:prstGeom>
          <a:noFill/>
          <a:ln/>
        </p:spPr>
        <p:txBody>
          <a:bodyPr wrap="square" lIns="0" tIns="0" rIns="0" bIns="0" rtlCol="0" anchor="t"/>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Assisted drafting typically saves more than 25 seconds per case on templated types. The model assumes review and editing on every draft.</a:t>
            </a:r>
            <a:endParaRPr lang="en-US" sz="850" dirty="0"/>
          </a:p>
        </p:txBody>
      </p:sp>
      <p:sp>
        <p:nvSpPr>
          <p:cNvPr id="15" name="Text 12"/>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Step level timings are Insight Global estimates decomposing the 8:15 blended handling time in the current operations sample. They are a design model, not a committed target, and are validated during the baseline period.</a:t>
            </a:r>
            <a:endParaRPr lang="en-US" sz="750" dirty="0"/>
          </a:p>
        </p:txBody>
      </p:sp>
      <p:pic>
        <p:nvPicPr>
          <p:cNvPr id="16"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17" name="Text 13"/>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19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BUSINESS VALUE  |  02</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EFFICIENCY AND RESPONSE TIME, THE TWO TARGETS</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Handling time reduction gives back capacity. Automated triage and routing are what actually cut response time, because a case no longer waits its turn to be understood.</a:t>
            </a:r>
            <a:endParaRPr lang="en-US" sz="1150" dirty="0"/>
          </a:p>
        </p:txBody>
      </p:sp>
      <p:sp>
        <p:nvSpPr>
          <p:cNvPr id="5" name="Shape 3"/>
          <p:cNvSpPr/>
          <p:nvPr/>
        </p:nvSpPr>
        <p:spPr>
          <a:xfrm>
            <a:off x="502920" y="1796796"/>
            <a:ext cx="2658618" cy="1115568"/>
          </a:xfrm>
          <a:prstGeom prst="roundRect">
            <a:avLst>
              <a:gd name="adj" fmla="val 3279"/>
            </a:avLst>
          </a:prstGeom>
          <a:solidFill>
            <a:srgbClr val="151A24"/>
          </a:solidFill>
          <a:ln w="12700">
            <a:solidFill>
              <a:srgbClr val="252D3D"/>
            </a:solidFill>
            <a:prstDash val="solid"/>
          </a:ln>
        </p:spPr>
      </p:sp>
      <p:sp>
        <p:nvSpPr>
          <p:cNvPr id="6" name="Text 4"/>
          <p:cNvSpPr txBox="1"/>
          <p:nvPr/>
        </p:nvSpPr>
        <p:spPr>
          <a:xfrm>
            <a:off x="667512" y="1906524"/>
            <a:ext cx="2329434" cy="475488"/>
          </a:xfrm>
          <a:prstGeom prst="rect">
            <a:avLst/>
          </a:prstGeom>
          <a:noFill/>
          <a:ln/>
        </p:spPr>
        <p:txBody>
          <a:bodyPr wrap="square" lIns="0" tIns="0" rIns="0" bIns="0" rtlCol="0" anchor="ctr"/>
          <a:lstStyle/>
          <a:p>
            <a:pPr indent="0" marL="0">
              <a:buNone/>
            </a:pPr>
            <a:r>
              <a:rPr lang="en-US" sz="2600" b="1" dirty="0">
                <a:solidFill>
                  <a:srgbClr val="22D3EE"/>
                </a:solidFill>
                <a:latin typeface="Arial" pitchFamily="34" charset="0"/>
                <a:ea typeface="Arial" pitchFamily="34" charset="-122"/>
                <a:cs typeface="Arial" pitchFamily="34" charset="-120"/>
              </a:rPr>
              <a:t>~24%</a:t>
            </a:r>
            <a:endParaRPr lang="en-US" sz="2600" dirty="0"/>
          </a:p>
        </p:txBody>
      </p:sp>
      <p:sp>
        <p:nvSpPr>
          <p:cNvPr id="7" name="Text 5"/>
          <p:cNvSpPr txBox="1"/>
          <p:nvPr/>
        </p:nvSpPr>
        <p:spPr>
          <a:xfrm>
            <a:off x="667512"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Modelled reduction in blended average handling time, from 8:15 to 6:15</a:t>
            </a:r>
            <a:endParaRPr lang="en-US" sz="900" dirty="0"/>
          </a:p>
        </p:txBody>
      </p:sp>
      <p:sp>
        <p:nvSpPr>
          <p:cNvPr id="8" name="Shape 6"/>
          <p:cNvSpPr/>
          <p:nvPr/>
        </p:nvSpPr>
        <p:spPr>
          <a:xfrm>
            <a:off x="3344418" y="1796796"/>
            <a:ext cx="2658618" cy="1115568"/>
          </a:xfrm>
          <a:prstGeom prst="roundRect">
            <a:avLst>
              <a:gd name="adj" fmla="val 3279"/>
            </a:avLst>
          </a:prstGeom>
          <a:solidFill>
            <a:srgbClr val="151A24"/>
          </a:solidFill>
          <a:ln w="12700">
            <a:solidFill>
              <a:srgbClr val="252D3D"/>
            </a:solidFill>
            <a:prstDash val="solid"/>
          </a:ln>
        </p:spPr>
      </p:sp>
      <p:sp>
        <p:nvSpPr>
          <p:cNvPr id="9" name="Text 7"/>
          <p:cNvSpPr txBox="1"/>
          <p:nvPr/>
        </p:nvSpPr>
        <p:spPr>
          <a:xfrm>
            <a:off x="3509010" y="1906524"/>
            <a:ext cx="2329434" cy="475488"/>
          </a:xfrm>
          <a:prstGeom prst="rect">
            <a:avLst/>
          </a:prstGeom>
          <a:noFill/>
          <a:ln/>
        </p:spPr>
        <p:txBody>
          <a:bodyPr wrap="square" lIns="0" tIns="0" rIns="0" bIns="0" rtlCol="0" anchor="ctr"/>
          <a:lstStyle/>
          <a:p>
            <a:pPr indent="0" marL="0">
              <a:buNone/>
            </a:pPr>
            <a:r>
              <a:rPr lang="en-US" sz="2600" b="1" dirty="0">
                <a:solidFill>
                  <a:srgbClr val="22D3EE"/>
                </a:solidFill>
                <a:latin typeface="Arial" pitchFamily="34" charset="0"/>
                <a:ea typeface="Arial" pitchFamily="34" charset="-122"/>
                <a:cs typeface="Arial" pitchFamily="34" charset="-120"/>
              </a:rPr>
              <a:t>~1,100</a:t>
            </a:r>
            <a:endParaRPr lang="en-US" sz="2600" dirty="0"/>
          </a:p>
        </p:txBody>
      </p:sp>
      <p:sp>
        <p:nvSpPr>
          <p:cNvPr id="10" name="Text 8"/>
          <p:cNvSpPr txBox="1"/>
          <p:nvPr/>
        </p:nvSpPr>
        <p:spPr>
          <a:xfrm>
            <a:off x="3509010"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Hours of handling effort returned per month at current volume</a:t>
            </a:r>
            <a:endParaRPr lang="en-US" sz="900" dirty="0"/>
          </a:p>
        </p:txBody>
      </p:sp>
      <p:sp>
        <p:nvSpPr>
          <p:cNvPr id="11" name="Shape 9"/>
          <p:cNvSpPr/>
          <p:nvPr/>
        </p:nvSpPr>
        <p:spPr>
          <a:xfrm>
            <a:off x="6185916" y="1796796"/>
            <a:ext cx="2658618" cy="1115568"/>
          </a:xfrm>
          <a:prstGeom prst="roundRect">
            <a:avLst>
              <a:gd name="adj" fmla="val 3279"/>
            </a:avLst>
          </a:prstGeom>
          <a:solidFill>
            <a:srgbClr val="151A24"/>
          </a:solidFill>
          <a:ln w="12700">
            <a:solidFill>
              <a:srgbClr val="252D3D"/>
            </a:solidFill>
            <a:prstDash val="solid"/>
          </a:ln>
        </p:spPr>
      </p:sp>
      <p:sp>
        <p:nvSpPr>
          <p:cNvPr id="12" name="Text 10"/>
          <p:cNvSpPr txBox="1"/>
          <p:nvPr/>
        </p:nvSpPr>
        <p:spPr>
          <a:xfrm>
            <a:off x="6350508" y="1906524"/>
            <a:ext cx="2329434" cy="475488"/>
          </a:xfrm>
          <a:prstGeom prst="rect">
            <a:avLst/>
          </a:prstGeom>
          <a:noFill/>
          <a:ln/>
        </p:spPr>
        <p:txBody>
          <a:bodyPr wrap="square" lIns="0" tIns="0" rIns="0" bIns="0" rtlCol="0" anchor="ctr"/>
          <a:lstStyle/>
          <a:p>
            <a:pPr indent="0" marL="0">
              <a:buNone/>
            </a:pPr>
            <a:r>
              <a:rPr lang="en-US" sz="2600" b="1" dirty="0">
                <a:solidFill>
                  <a:srgbClr val="22C55E"/>
                </a:solidFill>
                <a:latin typeface="Arial" pitchFamily="34" charset="0"/>
                <a:ea typeface="Arial" pitchFamily="34" charset="-122"/>
                <a:cs typeface="Arial" pitchFamily="34" charset="-120"/>
              </a:rPr>
              <a:t>Under 60s</a:t>
            </a:r>
            <a:endParaRPr lang="en-US" sz="2600" dirty="0"/>
          </a:p>
        </p:txBody>
      </p:sp>
      <p:sp>
        <p:nvSpPr>
          <p:cNvPr id="13" name="Text 11"/>
          <p:cNvSpPr txBox="1"/>
          <p:nvPr/>
        </p:nvSpPr>
        <p:spPr>
          <a:xfrm>
            <a:off x="6350508"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From email arrival to a classified, prioritised, routed and SLA timed case</a:t>
            </a:r>
            <a:endParaRPr lang="en-US" sz="900" dirty="0"/>
          </a:p>
        </p:txBody>
      </p:sp>
      <p:sp>
        <p:nvSpPr>
          <p:cNvPr id="14" name="Shape 12"/>
          <p:cNvSpPr/>
          <p:nvPr/>
        </p:nvSpPr>
        <p:spPr>
          <a:xfrm>
            <a:off x="9027414" y="1796796"/>
            <a:ext cx="2658618" cy="1115568"/>
          </a:xfrm>
          <a:prstGeom prst="roundRect">
            <a:avLst>
              <a:gd name="adj" fmla="val 3279"/>
            </a:avLst>
          </a:prstGeom>
          <a:solidFill>
            <a:srgbClr val="151A24"/>
          </a:solidFill>
          <a:ln w="12700">
            <a:solidFill>
              <a:srgbClr val="252D3D"/>
            </a:solidFill>
            <a:prstDash val="solid"/>
          </a:ln>
        </p:spPr>
      </p:sp>
      <p:sp>
        <p:nvSpPr>
          <p:cNvPr id="15" name="Text 13"/>
          <p:cNvSpPr txBox="1"/>
          <p:nvPr/>
        </p:nvSpPr>
        <p:spPr>
          <a:xfrm>
            <a:off x="9192006" y="1906524"/>
            <a:ext cx="2329434" cy="475488"/>
          </a:xfrm>
          <a:prstGeom prst="rect">
            <a:avLst/>
          </a:prstGeom>
          <a:noFill/>
          <a:ln/>
        </p:spPr>
        <p:txBody>
          <a:bodyPr wrap="square" lIns="0" tIns="0" rIns="0" bIns="0" rtlCol="0" anchor="ctr"/>
          <a:lstStyle/>
          <a:p>
            <a:pPr indent="0" marL="0">
              <a:buNone/>
            </a:pPr>
            <a:r>
              <a:rPr lang="en-US" sz="2600" b="1" dirty="0">
                <a:solidFill>
                  <a:srgbClr val="22C55E"/>
                </a:solidFill>
                <a:latin typeface="Arial" pitchFamily="34" charset="0"/>
                <a:ea typeface="Arial" pitchFamily="34" charset="-122"/>
                <a:cs typeface="Arial" pitchFamily="34" charset="-120"/>
              </a:rPr>
              <a:t>100%</a:t>
            </a:r>
            <a:endParaRPr lang="en-US" sz="2600" dirty="0"/>
          </a:p>
        </p:txBody>
      </p:sp>
      <p:sp>
        <p:nvSpPr>
          <p:cNvPr id="16" name="Text 14"/>
          <p:cNvSpPr txBox="1"/>
          <p:nvPr/>
        </p:nvSpPr>
        <p:spPr>
          <a:xfrm>
            <a:off x="9192006" y="2382012"/>
            <a:ext cx="2329434" cy="420624"/>
          </a:xfrm>
          <a:prstGeom prst="rect">
            <a:avLst/>
          </a:prstGeom>
          <a:noFill/>
          <a:ln/>
        </p:spPr>
        <p:txBody>
          <a:bodyPr wrap="square" lIns="0" tIns="0" rIns="0" bIns="0" rtlCol="0" anchor="t"/>
          <a:lstStyle/>
          <a:p>
            <a:pPr indent="0" marL="0">
              <a:lnSpc>
                <a:spcPts val="1200"/>
              </a:lnSpc>
              <a:buNone/>
            </a:pPr>
            <a:r>
              <a:rPr lang="en-US" sz="900" dirty="0">
                <a:solidFill>
                  <a:srgbClr val="8A94A6"/>
                </a:solidFill>
                <a:latin typeface="Arial" pitchFamily="34" charset="0"/>
                <a:ea typeface="Arial" pitchFamily="34" charset="-122"/>
                <a:cs typeface="Arial" pitchFamily="34" charset="-120"/>
              </a:rPr>
              <a:t>Of cases triaged and summarised, rather than a quality sample</a:t>
            </a:r>
            <a:endParaRPr lang="en-US" sz="900" dirty="0"/>
          </a:p>
        </p:txBody>
      </p:sp>
      <p:sp>
        <p:nvSpPr>
          <p:cNvPr id="17" name="Shape 15"/>
          <p:cNvSpPr/>
          <p:nvPr/>
        </p:nvSpPr>
        <p:spPr>
          <a:xfrm>
            <a:off x="502920" y="3131820"/>
            <a:ext cx="5481828" cy="2414016"/>
          </a:xfrm>
          <a:prstGeom prst="roundRect">
            <a:avLst>
              <a:gd name="adj" fmla="val 1515"/>
            </a:avLst>
          </a:prstGeom>
          <a:solidFill>
            <a:srgbClr val="151A24"/>
          </a:solidFill>
          <a:ln w="12700">
            <a:solidFill>
              <a:srgbClr val="252D3D"/>
            </a:solidFill>
            <a:prstDash val="solid"/>
          </a:ln>
        </p:spPr>
      </p:sp>
      <p:sp>
        <p:nvSpPr>
          <p:cNvPr id="18" name="Text 16"/>
          <p:cNvSpPr txBox="1"/>
          <p:nvPr/>
        </p:nvSpPr>
        <p:spPr>
          <a:xfrm>
            <a:off x="740664" y="3314700"/>
            <a:ext cx="500634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WHY RESPONSE TIME FALLS FURTHER THAN HANDLING TIME</a:t>
            </a:r>
            <a:endParaRPr lang="en-US" sz="1050" dirty="0"/>
          </a:p>
        </p:txBody>
      </p:sp>
      <p:sp>
        <p:nvSpPr>
          <p:cNvPr id="19" name="Text 17"/>
          <p:cNvSpPr txBox="1"/>
          <p:nvPr/>
        </p:nvSpPr>
        <p:spPr>
          <a:xfrm>
            <a:off x="740664" y="3662172"/>
            <a:ext cx="5006340" cy="1755648"/>
          </a:xfrm>
          <a:prstGeom prst="rect">
            <a:avLst/>
          </a:prstGeom>
          <a:noFill/>
          <a:ln/>
        </p:spPr>
        <p:txBody>
          <a:bodyPr wrap="square" lIns="0" tIns="0" rIns="0" bIns="0" rtlCol="0" anchor="t"/>
          <a:lstStyle/>
          <a:p>
            <a:pPr marL="152400" indent="-152400">
              <a:lnSpc>
                <a:spcPts val="1250"/>
              </a:lnSpc>
              <a:spcAft>
                <a:spcPts val="600"/>
              </a:spcAft>
              <a:buSzPct val="100000"/>
              <a:buChar char="•"/>
            </a:pPr>
            <a:r>
              <a:rPr lang="en-US" sz="850" dirty="0">
                <a:solidFill>
                  <a:srgbClr val="E6EAF2"/>
                </a:solidFill>
                <a:latin typeface="Arial" pitchFamily="34" charset="0"/>
                <a:ea typeface="Arial" pitchFamily="34" charset="-122"/>
                <a:cs typeface="Arial" pitchFamily="34" charset="-120"/>
              </a:rPr>
              <a:t>Today, first response time is mostly queue wait. A case is understood only when an agent reaches it, so an urgent request sits behind routine ones.</a:t>
            </a:r>
            <a:endParaRPr lang="en-US" sz="850" dirty="0"/>
          </a:p>
          <a:p>
            <a:pPr marL="152400" indent="-152400">
              <a:lnSpc>
                <a:spcPts val="1250"/>
              </a:lnSpc>
              <a:spcAft>
                <a:spcPts val="600"/>
              </a:spcAft>
              <a:buSzPct val="100000"/>
              <a:buChar char="•"/>
            </a:pPr>
            <a:r>
              <a:rPr lang="en-US" sz="850" dirty="0">
                <a:solidFill>
                  <a:srgbClr val="E6EAF2"/>
                </a:solidFill>
                <a:latin typeface="Arial" pitchFamily="34" charset="0"/>
                <a:ea typeface="Arial" pitchFamily="34" charset="-122"/>
                <a:cs typeface="Arial" pitchFamily="34" charset="-120"/>
              </a:rPr>
              <a:t>Under this model the case is understood in seconds, so a P1 or P2 is surfaced at the top of the queue immediately rather than on discovery.</a:t>
            </a:r>
            <a:endParaRPr lang="en-US" sz="850" dirty="0"/>
          </a:p>
          <a:p>
            <a:pPr marL="152400" indent="-152400">
              <a:lnSpc>
                <a:spcPts val="1250"/>
              </a:lnSpc>
              <a:spcAft>
                <a:spcPts val="600"/>
              </a:spcAft>
              <a:buSzPct val="100000"/>
              <a:buChar char="•"/>
            </a:pPr>
            <a:r>
              <a:rPr lang="en-US" sz="850" dirty="0">
                <a:solidFill>
                  <a:srgbClr val="E6EAF2"/>
                </a:solidFill>
                <a:latin typeface="Arial" pitchFamily="34" charset="0"/>
                <a:ea typeface="Arial" pitchFamily="34" charset="-122"/>
                <a:cs typeface="Arial" pitchFamily="34" charset="-120"/>
              </a:rPr>
              <a:t>Every customer receives an acknowledgement with a case number and expected turnaround within seconds, which is itself a response time improvement.</a:t>
            </a:r>
            <a:endParaRPr lang="en-US" sz="850" dirty="0"/>
          </a:p>
          <a:p>
            <a:pPr marL="152400" indent="-152400">
              <a:lnSpc>
                <a:spcPts val="1250"/>
              </a:lnSpc>
              <a:spcAft>
                <a:spcPts val="600"/>
              </a:spcAft>
              <a:buSzPct val="100000"/>
              <a:buChar char="•"/>
            </a:pPr>
            <a:r>
              <a:rPr lang="en-US" sz="850" dirty="0">
                <a:solidFill>
                  <a:srgbClr val="E6EAF2"/>
                </a:solidFill>
                <a:latin typeface="Arial" pitchFamily="34" charset="0"/>
                <a:ea typeface="Arial" pitchFamily="34" charset="-122"/>
                <a:cs typeface="Arial" pitchFamily="34" charset="-120"/>
              </a:rPr>
              <a:t>Escalation at 50, 70 and 85 percent of the clock means cases are recovered before breach rather than counted after it.</a:t>
            </a:r>
            <a:endParaRPr lang="en-US" sz="850" dirty="0"/>
          </a:p>
          <a:p>
            <a:pPr marL="152400" indent="-152400">
              <a:lnSpc>
                <a:spcPts val="1250"/>
              </a:lnSpc>
              <a:spcAft>
                <a:spcPts val="600"/>
              </a:spcAft>
              <a:buSzPct val="100000"/>
              <a:buChar char="•"/>
            </a:pPr>
            <a:r>
              <a:rPr lang="en-US" sz="850" dirty="0">
                <a:solidFill>
                  <a:srgbClr val="E6EAF2"/>
                </a:solidFill>
                <a:latin typeface="Arial" pitchFamily="34" charset="0"/>
                <a:ea typeface="Arial" pitchFamily="34" charset="-122"/>
                <a:cs typeface="Arial" pitchFamily="34" charset="-120"/>
              </a:rPr>
              <a:t>The draft being ready means the agent first action is review and send, not open, research and compose.</a:t>
            </a:r>
            <a:endParaRPr lang="en-US" sz="850" dirty="0"/>
          </a:p>
        </p:txBody>
      </p:sp>
      <p:sp>
        <p:nvSpPr>
          <p:cNvPr id="20" name="Shape 18"/>
          <p:cNvSpPr/>
          <p:nvPr/>
        </p:nvSpPr>
        <p:spPr>
          <a:xfrm>
            <a:off x="6204204" y="3131820"/>
            <a:ext cx="5481828" cy="2414016"/>
          </a:xfrm>
          <a:prstGeom prst="roundRect">
            <a:avLst>
              <a:gd name="adj" fmla="val 1515"/>
            </a:avLst>
          </a:prstGeom>
          <a:solidFill>
            <a:srgbClr val="151A24"/>
          </a:solidFill>
          <a:ln w="12700">
            <a:solidFill>
              <a:srgbClr val="252D3D"/>
            </a:solidFill>
            <a:prstDash val="solid"/>
          </a:ln>
        </p:spPr>
      </p:sp>
      <p:sp>
        <p:nvSpPr>
          <p:cNvPr id="21" name="Text 19"/>
          <p:cNvSpPr txBox="1"/>
          <p:nvPr/>
        </p:nvSpPr>
        <p:spPr>
          <a:xfrm>
            <a:off x="6441948" y="3314700"/>
            <a:ext cx="5006340" cy="201168"/>
          </a:xfrm>
          <a:prstGeom prst="rect">
            <a:avLst/>
          </a:prstGeom>
          <a:noFill/>
          <a:ln/>
        </p:spPr>
        <p:txBody>
          <a:bodyPr wrap="square" lIns="0" tIns="0" rIns="0" bIns="0" rtlCol="0" anchor="ctr"/>
          <a:lstStyle/>
          <a:p>
            <a:pPr indent="0" marL="0">
              <a:buNone/>
            </a:pPr>
            <a:r>
              <a:rPr lang="en-US" sz="1050" b="1" spc="140" kern="0" dirty="0">
                <a:solidFill>
                  <a:srgbClr val="FFFFFF"/>
                </a:solidFill>
                <a:latin typeface="Arial" pitchFamily="34" charset="0"/>
                <a:ea typeface="Arial" pitchFamily="34" charset="-122"/>
                <a:cs typeface="Arial" pitchFamily="34" charset="-120"/>
              </a:rPr>
              <a:t>WHAT THIS IS WORTH BEYOND THE NUMBERS</a:t>
            </a:r>
            <a:endParaRPr lang="en-US" sz="1050" dirty="0"/>
          </a:p>
        </p:txBody>
      </p:sp>
      <p:sp>
        <p:nvSpPr>
          <p:cNvPr id="22" name="Text 20"/>
          <p:cNvSpPr txBox="1"/>
          <p:nvPr/>
        </p:nvSpPr>
        <p:spPr>
          <a:xfrm>
            <a:off x="6441948" y="366217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Consistency</a:t>
            </a:r>
            <a:endParaRPr lang="en-US" sz="900" dirty="0"/>
          </a:p>
        </p:txBody>
      </p:sp>
      <p:sp>
        <p:nvSpPr>
          <p:cNvPr id="23" name="Text 21"/>
          <p:cNvSpPr txBox="1"/>
          <p:nvPr/>
        </p:nvSpPr>
        <p:spPr>
          <a:xfrm>
            <a:off x="7703820" y="366217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The same case type gets the same treatment on every shift, because the policy is in the workflow rather than in the individual.</a:t>
            </a:r>
            <a:endParaRPr lang="en-US" sz="850" dirty="0"/>
          </a:p>
        </p:txBody>
      </p:sp>
      <p:sp>
        <p:nvSpPr>
          <p:cNvPr id="24" name="Text 22"/>
          <p:cNvSpPr txBox="1"/>
          <p:nvPr/>
        </p:nvSpPr>
        <p:spPr>
          <a:xfrm>
            <a:off x="6441948" y="402793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Faster competence</a:t>
            </a:r>
            <a:endParaRPr lang="en-US" sz="900" dirty="0"/>
          </a:p>
        </p:txBody>
      </p:sp>
      <p:sp>
        <p:nvSpPr>
          <p:cNvPr id="25" name="Text 23"/>
          <p:cNvSpPr txBox="1"/>
          <p:nvPr/>
        </p:nvSpPr>
        <p:spPr>
          <a:xfrm>
            <a:off x="7703820" y="402793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A new agent is productive sooner, because triage, context and a grounded draft compensate for experience they have not built yet.</a:t>
            </a:r>
            <a:endParaRPr lang="en-US" sz="850" dirty="0"/>
          </a:p>
        </p:txBody>
      </p:sp>
      <p:sp>
        <p:nvSpPr>
          <p:cNvPr id="26" name="Text 24"/>
          <p:cNvSpPr txBox="1"/>
          <p:nvPr/>
        </p:nvSpPr>
        <p:spPr>
          <a:xfrm>
            <a:off x="6441948" y="439369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Capacity headroom</a:t>
            </a:r>
            <a:endParaRPr lang="en-US" sz="900" dirty="0"/>
          </a:p>
        </p:txBody>
      </p:sp>
      <p:sp>
        <p:nvSpPr>
          <p:cNvPr id="27" name="Text 25"/>
          <p:cNvSpPr txBox="1"/>
          <p:nvPr/>
        </p:nvSpPr>
        <p:spPr>
          <a:xfrm>
            <a:off x="7703820" y="439369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Released hours absorb volume growth and peak days without the service degrading.</a:t>
            </a:r>
            <a:endParaRPr lang="en-US" sz="850" dirty="0"/>
          </a:p>
        </p:txBody>
      </p:sp>
      <p:sp>
        <p:nvSpPr>
          <p:cNvPr id="28" name="Text 26"/>
          <p:cNvSpPr txBox="1"/>
          <p:nvPr/>
        </p:nvSpPr>
        <p:spPr>
          <a:xfrm>
            <a:off x="6441948" y="475945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Senior time protected</a:t>
            </a:r>
            <a:endParaRPr lang="en-US" sz="900" dirty="0"/>
          </a:p>
        </p:txBody>
      </p:sp>
      <p:sp>
        <p:nvSpPr>
          <p:cNvPr id="29" name="Text 27"/>
          <p:cNvSpPr txBox="1"/>
          <p:nvPr/>
        </p:nvSpPr>
        <p:spPr>
          <a:xfrm>
            <a:off x="7703820" y="475945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Automation carries the routine, so senior agents spend their time on credits, disputes and exceptions.</a:t>
            </a:r>
            <a:endParaRPr lang="en-US" sz="850" dirty="0"/>
          </a:p>
        </p:txBody>
      </p:sp>
      <p:sp>
        <p:nvSpPr>
          <p:cNvPr id="30" name="Text 28"/>
          <p:cNvSpPr txBox="1"/>
          <p:nvPr/>
        </p:nvSpPr>
        <p:spPr>
          <a:xfrm>
            <a:off x="6441948" y="5125212"/>
            <a:ext cx="1234440" cy="329184"/>
          </a:xfrm>
          <a:prstGeom prst="rect">
            <a:avLst/>
          </a:prstGeom>
          <a:noFill/>
          <a:ln/>
        </p:spPr>
        <p:txBody>
          <a:bodyPr wrap="square" lIns="0" tIns="0" rIns="0" bIns="0" rtlCol="0" anchor="ctr"/>
          <a:lstStyle/>
          <a:p>
            <a:pPr indent="0" marL="0">
              <a:buNone/>
            </a:pPr>
            <a:r>
              <a:rPr lang="en-US" sz="900" b="1" dirty="0">
                <a:solidFill>
                  <a:srgbClr val="22D3EE"/>
                </a:solidFill>
                <a:latin typeface="Arial" pitchFamily="34" charset="0"/>
                <a:ea typeface="Arial" pitchFamily="34" charset="-122"/>
                <a:cs typeface="Arial" pitchFamily="34" charset="-120"/>
              </a:rPr>
              <a:t>Defensible reporting</a:t>
            </a:r>
            <a:endParaRPr lang="en-US" sz="900" dirty="0"/>
          </a:p>
        </p:txBody>
      </p:sp>
      <p:sp>
        <p:nvSpPr>
          <p:cNvPr id="31" name="Text 29"/>
          <p:cNvSpPr txBox="1"/>
          <p:nvPr/>
        </p:nvSpPr>
        <p:spPr>
          <a:xfrm>
            <a:off x="7703820" y="5125212"/>
            <a:ext cx="3525012" cy="347472"/>
          </a:xfrm>
          <a:prstGeom prst="rect">
            <a:avLst/>
          </a:prstGeom>
          <a:noFill/>
          <a:ln/>
        </p:spPr>
        <p:txBody>
          <a:bodyPr wrap="square" lIns="0" tIns="0" rIns="0" bIns="0" rtlCol="0" anchor="ctr"/>
          <a:lstStyle/>
          <a:p>
            <a:pPr indent="0" marL="0">
              <a:lnSpc>
                <a:spcPts val="1100"/>
              </a:lnSpc>
              <a:buNone/>
            </a:pPr>
            <a:r>
              <a:rPr lang="en-US" sz="850" dirty="0">
                <a:solidFill>
                  <a:srgbClr val="8A94A6"/>
                </a:solidFill>
                <a:latin typeface="Arial" pitchFamily="34" charset="0"/>
                <a:ea typeface="Arial" pitchFamily="34" charset="-122"/>
                <a:cs typeface="Arial" pitchFamily="34" charset="-120"/>
              </a:rPr>
              <a:t>Because classification and SLA are structured data, performance conversations start from evidence.</a:t>
            </a:r>
            <a:endParaRPr lang="en-US" sz="850" dirty="0"/>
          </a:p>
        </p:txBody>
      </p:sp>
      <p:sp>
        <p:nvSpPr>
          <p:cNvPr id="32" name="Text 30"/>
          <p:cNvSpPr txBox="1"/>
          <p:nvPr/>
        </p:nvSpPr>
        <p:spPr>
          <a:xfrm>
            <a:off x="502920" y="6035040"/>
            <a:ext cx="10085832" cy="347472"/>
          </a:xfrm>
          <a:prstGeom prst="rect">
            <a:avLst/>
          </a:prstGeom>
          <a:noFill/>
          <a:ln/>
        </p:spPr>
        <p:txBody>
          <a:bodyPr wrap="square" lIns="0" tIns="0" rIns="0" bIns="0" rtlCol="0" anchor="t"/>
          <a:lstStyle/>
          <a:p>
            <a:pPr indent="0" marL="0">
              <a:lnSpc>
                <a:spcPts val="1000"/>
              </a:lnSpc>
              <a:buNone/>
            </a:pPr>
            <a:r>
              <a:rPr lang="en-US" sz="750" i="1" dirty="0">
                <a:solidFill>
                  <a:srgbClr val="8A94A6"/>
                </a:solidFill>
                <a:latin typeface="Arial" pitchFamily="34" charset="0"/>
                <a:ea typeface="Arial" pitchFamily="34" charset="-122"/>
                <a:cs typeface="Arial" pitchFamily="34" charset="-120"/>
              </a:rPr>
              <a:t>All figures are modelled design targets derived from the current operations sample. They are validated during the baseline period and only then proposed as commitments.</a:t>
            </a:r>
            <a:endParaRPr lang="en-US" sz="750" dirty="0"/>
          </a:p>
        </p:txBody>
      </p:sp>
      <p:pic>
        <p:nvPicPr>
          <p:cNvPr id="33"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34" name="Text 31"/>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20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D14"/>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219456"/>
          </a:xfrm>
          <a:prstGeom prst="rect">
            <a:avLst/>
          </a:prstGeom>
          <a:noFill/>
          <a:ln/>
        </p:spPr>
        <p:txBody>
          <a:bodyPr wrap="square" lIns="0" tIns="0" rIns="0" bIns="0" rtlCol="0" anchor="ctr"/>
          <a:lstStyle/>
          <a:p>
            <a:pPr indent="0" marL="0">
              <a:buNone/>
            </a:pPr>
            <a:r>
              <a:rPr lang="en-US" sz="1000" b="1" spc="220" kern="0" dirty="0">
                <a:solidFill>
                  <a:srgbClr val="22D3EE"/>
                </a:solidFill>
                <a:latin typeface="Arial" pitchFamily="34" charset="0"/>
                <a:ea typeface="Arial" pitchFamily="34" charset="-122"/>
                <a:cs typeface="Arial" pitchFamily="34" charset="-120"/>
              </a:rPr>
              <a:t>NEXT STEPS</a:t>
            </a:r>
            <a:endParaRPr lang="en-US" sz="1000" dirty="0"/>
          </a:p>
        </p:txBody>
      </p:sp>
      <p:sp>
        <p:nvSpPr>
          <p:cNvPr id="3" name="Text 1"/>
          <p:cNvSpPr txBox="1"/>
          <p:nvPr/>
        </p:nvSpPr>
        <p:spPr>
          <a:xfrm>
            <a:off x="502920" y="658368"/>
            <a:ext cx="11183112" cy="416052"/>
          </a:xfrm>
          <a:prstGeom prst="rect">
            <a:avLst/>
          </a:prstGeom>
          <a:noFill/>
          <a:ln/>
        </p:spPr>
        <p:txBody>
          <a:bodyPr wrap="square" lIns="0" tIns="0" rIns="0" bIns="0" rtlCol="0" anchor="ctr"/>
          <a:lstStyle/>
          <a:p>
            <a:pPr indent="0" marL="0">
              <a:lnSpc>
                <a:spcPts val="3016"/>
              </a:lnSpc>
              <a:buNone/>
            </a:pPr>
            <a:r>
              <a:rPr lang="en-US" sz="2600" b="1" spc="40" kern="0" dirty="0">
                <a:solidFill>
                  <a:srgbClr val="FFFFFF"/>
                </a:solidFill>
                <a:latin typeface="Arial" pitchFamily="34" charset="0"/>
                <a:ea typeface="Arial" pitchFamily="34" charset="-122"/>
                <a:cs typeface="Arial" pitchFamily="34" charset="-120"/>
              </a:rPr>
              <a:t>WHAT WE NEED FROM MCKESSON TO BUILD THIS</a:t>
            </a:r>
            <a:endParaRPr lang="en-US" sz="2600" dirty="0"/>
          </a:p>
        </p:txBody>
      </p:sp>
      <p:sp>
        <p:nvSpPr>
          <p:cNvPr id="4" name="Text 2"/>
          <p:cNvSpPr txBox="1"/>
          <p:nvPr/>
        </p:nvSpPr>
        <p:spPr>
          <a:xfrm>
            <a:off x="502920" y="1156716"/>
            <a:ext cx="11183112" cy="384048"/>
          </a:xfrm>
          <a:prstGeom prst="rect">
            <a:avLst/>
          </a:prstGeom>
          <a:noFill/>
          <a:ln/>
        </p:spPr>
        <p:txBody>
          <a:bodyPr wrap="square" lIns="0" tIns="0" rIns="0" bIns="0" rtlCol="0" anchor="t"/>
          <a:lstStyle/>
          <a:p>
            <a:pPr indent="0" marL="0">
              <a:lnSpc>
                <a:spcPts val="1500"/>
              </a:lnSpc>
              <a:buNone/>
            </a:pPr>
            <a:r>
              <a:rPr lang="en-US" sz="1150" dirty="0">
                <a:solidFill>
                  <a:srgbClr val="8A94A6"/>
                </a:solidFill>
                <a:latin typeface="Arial" pitchFamily="34" charset="0"/>
                <a:ea typeface="Arial" pitchFamily="34" charset="-122"/>
                <a:cs typeface="Arial" pitchFamily="34" charset="-120"/>
              </a:rPr>
              <a:t>Phase 1 can begin with access and discovery alone. The licensing question only becomes a decision point at the Phase 2 gate.</a:t>
            </a:r>
            <a:endParaRPr lang="en-US" sz="1150" dirty="0"/>
          </a:p>
        </p:txBody>
      </p:sp>
      <p:sp>
        <p:nvSpPr>
          <p:cNvPr id="5" name="Shape 3"/>
          <p:cNvSpPr/>
          <p:nvPr/>
        </p:nvSpPr>
        <p:spPr>
          <a:xfrm>
            <a:off x="502920" y="1796796"/>
            <a:ext cx="5490972" cy="1700784"/>
          </a:xfrm>
          <a:prstGeom prst="roundRect">
            <a:avLst>
              <a:gd name="adj" fmla="val 2151"/>
            </a:avLst>
          </a:prstGeom>
          <a:solidFill>
            <a:srgbClr val="151A24"/>
          </a:solidFill>
          <a:ln w="12700">
            <a:solidFill>
              <a:srgbClr val="252D3D"/>
            </a:solidFill>
            <a:prstDash val="solid"/>
          </a:ln>
        </p:spPr>
      </p:sp>
      <p:sp>
        <p:nvSpPr>
          <p:cNvPr id="6" name="Text 4"/>
          <p:cNvSpPr txBox="1"/>
          <p:nvPr/>
        </p:nvSpPr>
        <p:spPr>
          <a:xfrm>
            <a:off x="740664" y="1961388"/>
            <a:ext cx="5015484" cy="256032"/>
          </a:xfrm>
          <a:prstGeom prst="rect">
            <a:avLst/>
          </a:prstGeom>
          <a:noFill/>
          <a:ln/>
        </p:spPr>
        <p:txBody>
          <a:bodyPr wrap="square" lIns="0" tIns="0" rIns="0" bIns="0" rtlCol="0" anchor="ctr"/>
          <a:lstStyle/>
          <a:p>
            <a:pPr indent="0" marL="0">
              <a:buNone/>
            </a:pPr>
            <a:r>
              <a:rPr lang="en-US" sz="1200" b="1" dirty="0">
                <a:solidFill>
                  <a:srgbClr val="22D3EE"/>
                </a:solidFill>
                <a:latin typeface="Arial" pitchFamily="34" charset="0"/>
                <a:ea typeface="Arial" pitchFamily="34" charset="-122"/>
                <a:cs typeface="Arial" pitchFamily="34" charset="-120"/>
              </a:rPr>
              <a:t>Access and environment</a:t>
            </a:r>
            <a:endParaRPr lang="en-US" sz="1200" dirty="0"/>
          </a:p>
        </p:txBody>
      </p:sp>
      <p:sp>
        <p:nvSpPr>
          <p:cNvPr id="7" name="Text 5"/>
          <p:cNvSpPr txBox="1"/>
          <p:nvPr/>
        </p:nvSpPr>
        <p:spPr>
          <a:xfrm>
            <a:off x="740664" y="2290572"/>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Salesforce access and permissions for the delivery team</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Sandbox for configuration, testing and the supervised dry run</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Confirmation of the Extended Care mailboxes in scope</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Change control route for Flow, routing and Entitlement deployment</a:t>
            </a:r>
            <a:endParaRPr lang="en-US" sz="900" dirty="0"/>
          </a:p>
        </p:txBody>
      </p:sp>
      <p:sp>
        <p:nvSpPr>
          <p:cNvPr id="8" name="Shape 6"/>
          <p:cNvSpPr/>
          <p:nvPr/>
        </p:nvSpPr>
        <p:spPr>
          <a:xfrm>
            <a:off x="6195060" y="1796796"/>
            <a:ext cx="5490972" cy="1700784"/>
          </a:xfrm>
          <a:prstGeom prst="roundRect">
            <a:avLst>
              <a:gd name="adj" fmla="val 2151"/>
            </a:avLst>
          </a:prstGeom>
          <a:solidFill>
            <a:srgbClr val="151A24"/>
          </a:solidFill>
          <a:ln w="12700">
            <a:solidFill>
              <a:srgbClr val="252D3D"/>
            </a:solidFill>
            <a:prstDash val="solid"/>
          </a:ln>
        </p:spPr>
      </p:sp>
      <p:sp>
        <p:nvSpPr>
          <p:cNvPr id="9" name="Text 7"/>
          <p:cNvSpPr txBox="1"/>
          <p:nvPr/>
        </p:nvSpPr>
        <p:spPr>
          <a:xfrm>
            <a:off x="6432804" y="1961388"/>
            <a:ext cx="5015484" cy="256032"/>
          </a:xfrm>
          <a:prstGeom prst="rect">
            <a:avLst/>
          </a:prstGeom>
          <a:noFill/>
          <a:ln/>
        </p:spPr>
        <p:txBody>
          <a:bodyPr wrap="square" lIns="0" tIns="0" rIns="0" bIns="0" rtlCol="0" anchor="ctr"/>
          <a:lstStyle/>
          <a:p>
            <a:pPr indent="0" marL="0">
              <a:buNone/>
            </a:pPr>
            <a:r>
              <a:rPr lang="en-US" sz="1200" b="1" dirty="0">
                <a:solidFill>
                  <a:srgbClr val="F59E0B"/>
                </a:solidFill>
                <a:latin typeface="Arial" pitchFamily="34" charset="0"/>
                <a:ea typeface="Arial" pitchFamily="34" charset="-122"/>
                <a:cs typeface="Arial" pitchFamily="34" charset="-120"/>
              </a:rPr>
              <a:t>Licensing decision</a:t>
            </a:r>
            <a:endParaRPr lang="en-US" sz="1200" dirty="0"/>
          </a:p>
        </p:txBody>
      </p:sp>
      <p:sp>
        <p:nvSpPr>
          <p:cNvPr id="10" name="Text 8"/>
          <p:cNvSpPr txBox="1"/>
          <p:nvPr/>
        </p:nvSpPr>
        <p:spPr>
          <a:xfrm>
            <a:off x="6432804" y="2290572"/>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Confirmation of current Einstein and Agentforce entitlement</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Whether Prompt Builder is available in the McKesson org today</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Appetite to pilot Agentforce on a narrow case type in Phase 3</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Security approval for generative features on PHI adjacent data</a:t>
            </a:r>
            <a:endParaRPr lang="en-US" sz="900" dirty="0"/>
          </a:p>
        </p:txBody>
      </p:sp>
      <p:sp>
        <p:nvSpPr>
          <p:cNvPr id="11" name="Shape 9"/>
          <p:cNvSpPr/>
          <p:nvPr/>
        </p:nvSpPr>
        <p:spPr>
          <a:xfrm>
            <a:off x="502920" y="3698748"/>
            <a:ext cx="5490972" cy="1700784"/>
          </a:xfrm>
          <a:prstGeom prst="roundRect">
            <a:avLst>
              <a:gd name="adj" fmla="val 2151"/>
            </a:avLst>
          </a:prstGeom>
          <a:solidFill>
            <a:srgbClr val="151A24"/>
          </a:solidFill>
          <a:ln w="12700">
            <a:solidFill>
              <a:srgbClr val="252D3D"/>
            </a:solidFill>
            <a:prstDash val="solid"/>
          </a:ln>
        </p:spPr>
      </p:sp>
      <p:sp>
        <p:nvSpPr>
          <p:cNvPr id="12" name="Text 10"/>
          <p:cNvSpPr txBox="1"/>
          <p:nvPr/>
        </p:nvSpPr>
        <p:spPr>
          <a:xfrm>
            <a:off x="740664" y="3863340"/>
            <a:ext cx="5015484" cy="256032"/>
          </a:xfrm>
          <a:prstGeom prst="rect">
            <a:avLst/>
          </a:prstGeom>
          <a:noFill/>
          <a:ln/>
        </p:spPr>
        <p:txBody>
          <a:bodyPr wrap="square" lIns="0" tIns="0" rIns="0" bIns="0" rtlCol="0" anchor="ctr"/>
          <a:lstStyle/>
          <a:p>
            <a:pPr indent="0" marL="0">
              <a:buNone/>
            </a:pPr>
            <a:r>
              <a:rPr lang="en-US" sz="1200" b="1" dirty="0">
                <a:solidFill>
                  <a:srgbClr val="22D3EE"/>
                </a:solidFill>
                <a:latin typeface="Arial" pitchFamily="34" charset="0"/>
                <a:ea typeface="Arial" pitchFamily="34" charset="-122"/>
                <a:cs typeface="Arial" pitchFamily="34" charset="-120"/>
              </a:rPr>
              <a:t>Data and systems</a:t>
            </a:r>
            <a:endParaRPr lang="en-US" sz="1200" dirty="0"/>
          </a:p>
        </p:txBody>
      </p:sp>
      <p:sp>
        <p:nvSpPr>
          <p:cNvPr id="13" name="Text 11"/>
          <p:cNvSpPr txBox="1"/>
          <p:nvPr/>
        </p:nvSpPr>
        <p:spPr>
          <a:xfrm>
            <a:off x="740664" y="4192524"/>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Historical case data to baseline categories, mix and handling time</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Existing Knowledge articles, SOPs and email templates</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Read access to order and shipment data for grounding</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Definition of premium and VIP account treatment</a:t>
            </a:r>
            <a:endParaRPr lang="en-US" sz="900" dirty="0"/>
          </a:p>
        </p:txBody>
      </p:sp>
      <p:sp>
        <p:nvSpPr>
          <p:cNvPr id="14" name="Shape 12"/>
          <p:cNvSpPr/>
          <p:nvPr/>
        </p:nvSpPr>
        <p:spPr>
          <a:xfrm>
            <a:off x="6195060" y="3698748"/>
            <a:ext cx="5490972" cy="1700784"/>
          </a:xfrm>
          <a:prstGeom prst="roundRect">
            <a:avLst>
              <a:gd name="adj" fmla="val 2151"/>
            </a:avLst>
          </a:prstGeom>
          <a:solidFill>
            <a:srgbClr val="151A24"/>
          </a:solidFill>
          <a:ln w="12700">
            <a:solidFill>
              <a:srgbClr val="252D3D"/>
            </a:solidFill>
            <a:prstDash val="solid"/>
          </a:ln>
        </p:spPr>
      </p:sp>
      <p:sp>
        <p:nvSpPr>
          <p:cNvPr id="15" name="Text 13"/>
          <p:cNvSpPr txBox="1"/>
          <p:nvPr/>
        </p:nvSpPr>
        <p:spPr>
          <a:xfrm>
            <a:off x="6432804" y="3863340"/>
            <a:ext cx="5015484" cy="256032"/>
          </a:xfrm>
          <a:prstGeom prst="rect">
            <a:avLst/>
          </a:prstGeom>
          <a:noFill/>
          <a:ln/>
        </p:spPr>
        <p:txBody>
          <a:bodyPr wrap="square" lIns="0" tIns="0" rIns="0" bIns="0" rtlCol="0" anchor="ctr"/>
          <a:lstStyle/>
          <a:p>
            <a:pPr indent="0" marL="0">
              <a:buNone/>
            </a:pPr>
            <a:r>
              <a:rPr lang="en-US" sz="1200" b="1" dirty="0">
                <a:solidFill>
                  <a:srgbClr val="22D3EE"/>
                </a:solidFill>
                <a:latin typeface="Arial" pitchFamily="34" charset="0"/>
                <a:ea typeface="Arial" pitchFamily="34" charset="-122"/>
                <a:cs typeface="Arial" pitchFamily="34" charset="-120"/>
              </a:rPr>
              <a:t>People and decisions</a:t>
            </a:r>
            <a:endParaRPr lang="en-US" sz="1200" dirty="0"/>
          </a:p>
        </p:txBody>
      </p:sp>
      <p:sp>
        <p:nvSpPr>
          <p:cNvPr id="16" name="Text 14"/>
          <p:cNvSpPr txBox="1"/>
          <p:nvPr/>
        </p:nvSpPr>
        <p:spPr>
          <a:xfrm>
            <a:off x="6432804" y="4192524"/>
            <a:ext cx="5015484" cy="1115568"/>
          </a:xfrm>
          <a:prstGeom prst="rect">
            <a:avLst/>
          </a:prstGeom>
          <a:noFill/>
          <a:ln/>
        </p:spPr>
        <p:txBody>
          <a:bodyPr wrap="square" lIns="0" tIns="0" rIns="0" bIns="0" rtlCol="0" anchor="t"/>
          <a:lstStyle/>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Process owners and subject matter experts for discovery</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Sign off on the case taxonomy, priority rules and SLA targets</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Named owners for pricing, AR and other dependency escalation paths</a:t>
            </a:r>
            <a:endParaRPr lang="en-US" sz="900" dirty="0"/>
          </a:p>
          <a:p>
            <a:pPr marL="152400" indent="-152400">
              <a:lnSpc>
                <a:spcPts val="1300"/>
              </a:lnSpc>
              <a:spcAft>
                <a:spcPts val="500"/>
              </a:spcAft>
              <a:buSzPct val="100000"/>
              <a:buChar char="•"/>
            </a:pPr>
            <a:r>
              <a:rPr lang="en-US" sz="900" dirty="0">
                <a:solidFill>
                  <a:srgbClr val="E6EAF2"/>
                </a:solidFill>
                <a:latin typeface="Arial" pitchFamily="34" charset="0"/>
                <a:ea typeface="Arial" pitchFamily="34" charset="-122"/>
                <a:cs typeface="Arial" pitchFamily="34" charset="-120"/>
              </a:rPr>
              <a:t>A McKesson service owner for the governance cadence</a:t>
            </a:r>
            <a:endParaRPr lang="en-US" sz="900" dirty="0"/>
          </a:p>
        </p:txBody>
      </p:sp>
      <p:sp>
        <p:nvSpPr>
          <p:cNvPr id="17" name="Shape 15"/>
          <p:cNvSpPr/>
          <p:nvPr/>
        </p:nvSpPr>
        <p:spPr>
          <a:xfrm>
            <a:off x="502920" y="5637276"/>
            <a:ext cx="11183112" cy="512064"/>
          </a:xfrm>
          <a:prstGeom prst="roundRect">
            <a:avLst>
              <a:gd name="adj" fmla="val 7143"/>
            </a:avLst>
          </a:prstGeom>
          <a:solidFill>
            <a:srgbClr val="1A2130"/>
          </a:solidFill>
          <a:ln w="12700">
            <a:solidFill>
              <a:srgbClr val="22D3EE"/>
            </a:solidFill>
            <a:prstDash val="solid"/>
          </a:ln>
        </p:spPr>
      </p:sp>
      <p:sp>
        <p:nvSpPr>
          <p:cNvPr id="18" name="Text 16"/>
          <p:cNvSpPr txBox="1"/>
          <p:nvPr/>
        </p:nvSpPr>
        <p:spPr>
          <a:xfrm>
            <a:off x="704088" y="5637276"/>
            <a:ext cx="10780776" cy="512064"/>
          </a:xfrm>
          <a:prstGeom prst="rect">
            <a:avLst/>
          </a:prstGeom>
          <a:noFill/>
          <a:ln/>
        </p:spPr>
        <p:txBody>
          <a:bodyPr wrap="square" lIns="0" tIns="0" rIns="0" bIns="0" rtlCol="0" anchor="ctr"/>
          <a:lstStyle/>
          <a:p>
            <a:pPr indent="0" marL="0">
              <a:lnSpc>
                <a:spcPts val="1200"/>
              </a:lnSpc>
              <a:buNone/>
            </a:pPr>
            <a:r>
              <a:rPr lang="en-US" sz="900" b="1" spc="140" kern="0" dirty="0">
                <a:solidFill>
                  <a:srgbClr val="22D3EE"/>
                </a:solidFill>
                <a:latin typeface="Arial" pitchFamily="34" charset="0"/>
                <a:ea typeface="Arial" pitchFamily="34" charset="-122"/>
                <a:cs typeface="Arial" pitchFamily="34" charset="-120"/>
              </a:rPr>
              <a:t>PROPOSED NEXT STEP   </a:t>
            </a:r>
            <a:pPr indent="0" marL="0">
              <a:lnSpc>
                <a:spcPts val="1200"/>
              </a:lnSpc>
              <a:buNone/>
            </a:pPr>
            <a:r>
              <a:rPr lang="en-US" sz="900" dirty="0">
                <a:solidFill>
                  <a:srgbClr val="E6EAF2"/>
                </a:solidFill>
                <a:latin typeface="Arial" pitchFamily="34" charset="0"/>
                <a:ea typeface="Arial" pitchFamily="34" charset="-122"/>
                <a:cs typeface="Arial" pitchFamily="34" charset="-120"/>
              </a:rPr>
              <a:t>A joint design workshop on the case taxonomy, priority rules and SLA definitions, run alongside a technical discovery session on the McKesson Salesforce configuration and current Einstein entitlement.</a:t>
            </a:r>
            <a:endParaRPr lang="en-US" sz="900" dirty="0"/>
          </a:p>
        </p:txBody>
      </p:sp>
      <p:pic>
        <p:nvPicPr>
          <p:cNvPr id="19" name="Image 0" descr="assets/ig-mark.png">    </p:cNvPr>
          <p:cNvPicPr>
            <a:picLocks noChangeAspect="1"/>
          </p:cNvPicPr>
          <p:nvPr/>
        </p:nvPicPr>
        <p:blipFill>
          <a:blip r:embed="rId1"/>
          <a:stretch>
            <a:fillRect/>
          </a:stretch>
        </p:blipFill>
        <p:spPr>
          <a:xfrm>
            <a:off x="502920" y="6455664"/>
            <a:ext cx="420624" cy="144475"/>
          </a:xfrm>
          <a:prstGeom prst="rect">
            <a:avLst/>
          </a:prstGeom>
        </p:spPr>
      </p:pic>
      <p:sp>
        <p:nvSpPr>
          <p:cNvPr id="20" name="Text 17"/>
          <p:cNvSpPr txBox="1"/>
          <p:nvPr/>
        </p:nvSpPr>
        <p:spPr>
          <a:xfrm>
            <a:off x="11201400" y="6400800"/>
            <a:ext cx="484632" cy="237744"/>
          </a:xfrm>
          <a:prstGeom prst="rect">
            <a:avLst/>
          </a:prstGeom>
          <a:noFill/>
          <a:ln/>
        </p:spPr>
        <p:txBody>
          <a:bodyPr wrap="square" lIns="0" tIns="0" rIns="0" bIns="0" rtlCol="0" anchor="ctr"/>
          <a:lstStyle/>
          <a:p>
            <a:pPr algn="r" indent="0" marL="0">
              <a:buNone/>
            </a:pPr>
            <a:r>
              <a:rPr lang="en-US" sz="850" dirty="0">
                <a:solidFill>
                  <a:srgbClr val="8A94A6"/>
                </a:solidFill>
                <a:latin typeface="Arial" pitchFamily="34" charset="0"/>
                <a:ea typeface="Arial" pitchFamily="34" charset="-122"/>
                <a:cs typeface="Arial" pitchFamily="34" charset="-120"/>
              </a:rPr>
              <a:t>21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D14"/>
        </a:solidFill>
      </p:bgPr>
    </p:bg>
    <p:spTree>
      <p:nvGrpSpPr>
        <p:cNvPr id="1" name=""/>
        <p:cNvGrpSpPr/>
        <p:nvPr/>
      </p:nvGrpSpPr>
      <p:grpSpPr>
        <a:xfrm>
          <a:off x="0" y="0"/>
          <a:ext cx="0" cy="0"/>
          <a:chOff x="0" y="0"/>
          <a:chExt cx="0" cy="0"/>
        </a:xfrm>
      </p:grpSpPr>
      <p:sp>
        <p:nvSpPr>
          <p:cNvPr id="2" name="Shape 0"/>
          <p:cNvSpPr/>
          <p:nvPr/>
        </p:nvSpPr>
        <p:spPr>
          <a:xfrm>
            <a:off x="8275320" y="2103120"/>
            <a:ext cx="2423160" cy="2423160"/>
          </a:xfrm>
          <a:prstGeom prst="ellipse">
            <a:avLst/>
          </a:prstGeom>
          <a:solidFill>
            <a:srgbClr val="22D3EE">
              <a:alpha val="14000"/>
            </a:srgbClr>
          </a:solidFill>
          <a:ln w="12700">
            <a:solidFill>
              <a:srgbClr val="22D3EE"/>
            </a:solidFill>
            <a:prstDash val="solid"/>
          </a:ln>
        </p:spPr>
      </p:sp>
      <p:sp>
        <p:nvSpPr>
          <p:cNvPr id="3" name="Shape 1"/>
          <p:cNvSpPr/>
          <p:nvPr/>
        </p:nvSpPr>
        <p:spPr>
          <a:xfrm>
            <a:off x="9535363" y="2103120"/>
            <a:ext cx="2423160" cy="2423160"/>
          </a:xfrm>
          <a:prstGeom prst="ellipse">
            <a:avLst/>
          </a:prstGeom>
          <a:solidFill>
            <a:srgbClr val="FFC72C">
              <a:alpha val="14000"/>
            </a:srgbClr>
          </a:solidFill>
          <a:ln w="12700">
            <a:solidFill>
              <a:srgbClr val="FFC72C"/>
            </a:solidFill>
            <a:prstDash val="solid"/>
          </a:ln>
        </p:spPr>
      </p:sp>
      <p:sp>
        <p:nvSpPr>
          <p:cNvPr id="4" name="Shape 2"/>
          <p:cNvSpPr/>
          <p:nvPr/>
        </p:nvSpPr>
        <p:spPr>
          <a:xfrm>
            <a:off x="8905342" y="3193542"/>
            <a:ext cx="2423160" cy="2423160"/>
          </a:xfrm>
          <a:prstGeom prst="ellipse">
            <a:avLst/>
          </a:prstGeom>
          <a:solidFill>
            <a:srgbClr val="FF0069">
              <a:alpha val="14000"/>
            </a:srgbClr>
          </a:solidFill>
          <a:ln w="12700">
            <a:solidFill>
              <a:srgbClr val="FF0069"/>
            </a:solidFill>
            <a:prstDash val="solid"/>
          </a:ln>
        </p:spPr>
      </p:sp>
      <p:pic>
        <p:nvPicPr>
          <p:cNvPr id="5" name="Image 0" descr="assets/ig-wordmark.png">    </p:cNvPr>
          <p:cNvPicPr>
            <a:picLocks noChangeAspect="1"/>
          </p:cNvPicPr>
          <p:nvPr/>
        </p:nvPicPr>
        <p:blipFill>
          <a:blip r:embed="rId1"/>
          <a:stretch>
            <a:fillRect/>
          </a:stretch>
        </p:blipFill>
        <p:spPr>
          <a:xfrm>
            <a:off x="502920" y="502920"/>
            <a:ext cx="1965960" cy="491033"/>
          </a:xfrm>
          <a:prstGeom prst="rect">
            <a:avLst/>
          </a:prstGeom>
        </p:spPr>
      </p:pic>
      <p:sp>
        <p:nvSpPr>
          <p:cNvPr id="6" name="Shape 3"/>
          <p:cNvSpPr/>
          <p:nvPr/>
        </p:nvSpPr>
        <p:spPr>
          <a:xfrm>
            <a:off x="502920" y="2395728"/>
            <a:ext cx="173736" cy="173736"/>
          </a:xfrm>
          <a:prstGeom prst="ellipse">
            <a:avLst/>
          </a:prstGeom>
          <a:solidFill>
            <a:srgbClr val="22D3EE"/>
          </a:solidFill>
          <a:ln w="12700">
            <a:solidFill>
              <a:srgbClr val="22D3EE"/>
            </a:solidFill>
            <a:prstDash val="solid"/>
          </a:ln>
        </p:spPr>
      </p:sp>
      <p:sp>
        <p:nvSpPr>
          <p:cNvPr id="7" name="Shape 4"/>
          <p:cNvSpPr/>
          <p:nvPr/>
        </p:nvSpPr>
        <p:spPr>
          <a:xfrm>
            <a:off x="768096" y="2395728"/>
            <a:ext cx="173736" cy="173736"/>
          </a:xfrm>
          <a:prstGeom prst="ellipse">
            <a:avLst/>
          </a:prstGeom>
          <a:solidFill>
            <a:srgbClr val="FFC72C"/>
          </a:solidFill>
          <a:ln w="12700">
            <a:solidFill>
              <a:srgbClr val="FFC72C"/>
            </a:solidFill>
            <a:prstDash val="solid"/>
          </a:ln>
        </p:spPr>
      </p:sp>
      <p:sp>
        <p:nvSpPr>
          <p:cNvPr id="8" name="Shape 5"/>
          <p:cNvSpPr/>
          <p:nvPr/>
        </p:nvSpPr>
        <p:spPr>
          <a:xfrm>
            <a:off x="1033272" y="2395728"/>
            <a:ext cx="173736" cy="173736"/>
          </a:xfrm>
          <a:prstGeom prst="ellipse">
            <a:avLst/>
          </a:prstGeom>
          <a:solidFill>
            <a:srgbClr val="FF0069"/>
          </a:solidFill>
          <a:ln w="12700">
            <a:solidFill>
              <a:srgbClr val="FF0069"/>
            </a:solidFill>
            <a:prstDash val="solid"/>
          </a:ln>
        </p:spPr>
      </p:sp>
      <p:sp>
        <p:nvSpPr>
          <p:cNvPr id="9" name="Text 6"/>
          <p:cNvSpPr txBox="1"/>
          <p:nvPr/>
        </p:nvSpPr>
        <p:spPr>
          <a:xfrm>
            <a:off x="502920" y="2798064"/>
            <a:ext cx="9144000" cy="274320"/>
          </a:xfrm>
          <a:prstGeom prst="rect">
            <a:avLst/>
          </a:prstGeom>
          <a:noFill/>
          <a:ln/>
        </p:spPr>
        <p:txBody>
          <a:bodyPr wrap="square" lIns="0" tIns="0" rIns="0" bIns="0" rtlCol="0" anchor="ctr"/>
          <a:lstStyle/>
          <a:p>
            <a:pPr indent="0" marL="0">
              <a:buNone/>
            </a:pPr>
            <a:r>
              <a:rPr lang="en-US" sz="1100" b="1" spc="240" kern="0" dirty="0">
                <a:solidFill>
                  <a:srgbClr val="22D3EE"/>
                </a:solidFill>
                <a:latin typeface="Arial" pitchFamily="34" charset="0"/>
                <a:ea typeface="Arial" pitchFamily="34" charset="-122"/>
                <a:cs typeface="Arial" pitchFamily="34" charset="-120"/>
              </a:rPr>
              <a:t>INTELLIGENT CASE MANAGEMENT</a:t>
            </a:r>
            <a:endParaRPr lang="en-US" sz="1100" dirty="0"/>
          </a:p>
        </p:txBody>
      </p:sp>
      <p:sp>
        <p:nvSpPr>
          <p:cNvPr id="10" name="Text 7"/>
          <p:cNvSpPr txBox="1"/>
          <p:nvPr/>
        </p:nvSpPr>
        <p:spPr>
          <a:xfrm>
            <a:off x="502920" y="3145536"/>
            <a:ext cx="9601200" cy="1280160"/>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Arial" pitchFamily="34" charset="0"/>
                <a:ea typeface="Arial" pitchFamily="34" charset="-122"/>
                <a:cs typeface="Arial" pitchFamily="34" charset="-120"/>
              </a:rPr>
              <a:t>Agents spend their time on the</a:t>
            </a:r>
            <a:endParaRPr lang="en-US" sz="3400" dirty="0"/>
          </a:p>
          <a:p>
            <a:pPr indent="0" marL="0">
              <a:lnSpc>
                <a:spcPts val="4200"/>
              </a:lnSpc>
              <a:buNone/>
            </a:pPr>
            <a:r>
              <a:rPr lang="en-US" sz="3400" b="1" dirty="0">
                <a:solidFill>
                  <a:srgbClr val="FFFFFF"/>
                </a:solidFill>
                <a:latin typeface="Arial" pitchFamily="34" charset="0"/>
                <a:ea typeface="Arial" pitchFamily="34" charset="-122"/>
                <a:cs typeface="Arial" pitchFamily="34" charset="-120"/>
              </a:rPr>
              <a:t>cases that need judgement.</a:t>
            </a:r>
            <a:endParaRPr lang="en-US" sz="3400" dirty="0"/>
          </a:p>
        </p:txBody>
      </p:sp>
      <p:sp>
        <p:nvSpPr>
          <p:cNvPr id="11" name="Text 8"/>
          <p:cNvSpPr txBox="1"/>
          <p:nvPr/>
        </p:nvSpPr>
        <p:spPr>
          <a:xfrm>
            <a:off x="502920" y="4590288"/>
            <a:ext cx="7863840" cy="585216"/>
          </a:xfrm>
          <a:prstGeom prst="rect">
            <a:avLst/>
          </a:prstGeom>
          <a:noFill/>
          <a:ln/>
        </p:spPr>
        <p:txBody>
          <a:bodyPr wrap="square" lIns="0" tIns="0" rIns="0" bIns="0" rtlCol="0" anchor="t"/>
          <a:lstStyle/>
          <a:p>
            <a:pPr indent="0" marL="0">
              <a:lnSpc>
                <a:spcPts val="1800"/>
              </a:lnSpc>
              <a:buNone/>
            </a:pPr>
            <a:r>
              <a:rPr lang="en-US" sz="1250" dirty="0">
                <a:solidFill>
                  <a:srgbClr val="8A94A6"/>
                </a:solidFill>
                <a:latin typeface="Arial" pitchFamily="34" charset="0"/>
                <a:ea typeface="Arial" pitchFamily="34" charset="-122"/>
                <a:cs typeface="Arial" pitchFamily="34" charset="-120"/>
              </a:rPr>
              <a:t>Salesforce reads, classifies, prioritises, routes, times, summarises and drafts. Insight Global owns the operation, the quality and the outcome.</a:t>
            </a:r>
            <a:endParaRPr lang="en-US" sz="1250" dirty="0"/>
          </a:p>
        </p:txBody>
      </p:sp>
      <p:sp>
        <p:nvSpPr>
          <p:cNvPr id="12" name="Text 9"/>
          <p:cNvSpPr txBox="1"/>
          <p:nvPr/>
        </p:nvSpPr>
        <p:spPr>
          <a:xfrm>
            <a:off x="502920" y="5961888"/>
            <a:ext cx="5486400" cy="292608"/>
          </a:xfrm>
          <a:prstGeom prst="rect">
            <a:avLst/>
          </a:prstGeom>
          <a:noFill/>
          <a:ln/>
        </p:spPr>
        <p:txBody>
          <a:bodyPr wrap="square" lIns="0" tIns="0" rIns="0" bIns="0" rtlCol="0" anchor="ctr"/>
          <a:lstStyle/>
          <a:p>
            <a:pPr indent="0" marL="0">
              <a:buNone/>
            </a:pPr>
            <a:r>
              <a:rPr lang="en-US" sz="1300" b="1" dirty="0">
                <a:solidFill>
                  <a:srgbClr val="E6EAF2"/>
                </a:solidFill>
                <a:latin typeface="Arial" pitchFamily="34" charset="0"/>
                <a:ea typeface="Arial" pitchFamily="34" charset="-122"/>
                <a:cs typeface="Arial" pitchFamily="34" charset="-120"/>
              </a:rPr>
              <a:t>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Case Management for McKesson Extended Care</dc:title>
  <dc:subject>PptxGenJS Presentation</dc:subject>
  <dc:creator>Insight Global</dc:creator>
  <cp:lastModifiedBy>Insight Global</cp:lastModifiedBy>
  <cp:revision>1</cp:revision>
  <dcterms:created xsi:type="dcterms:W3CDTF">2026-09-15T09:17:54Z</dcterms:created>
  <dcterms:modified xsi:type="dcterms:W3CDTF">2026-09-15T09:17:54Z</dcterms:modified>
</cp:coreProperties>
</file>