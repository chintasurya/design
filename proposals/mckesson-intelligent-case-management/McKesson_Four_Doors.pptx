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Handling hours per month</c:v>
                </c:pt>
              </c:strCache>
            </c:strRef>
          </c:tx>
          <c:spPr>
            <a:solidFill>
              <a:srgbClr val="D55181"/>
            </a:solidFill>
            <a:effectLst/>
          </c:spPr>
          <c:invertIfNegative val="0"/>
          <c:dLbls>
            <c:numFmt formatCode="#,##0" sourceLinked="0"/>
            <c:txPr>
              <a:bodyPr/>
              <a:lstStyle/>
              <a:p>
                <a:pPr>
                  <a:defRPr b="0" i="0" strike="noStrike" sz="800" u="none">
                    <a:solidFill>
                      <a:srgbClr val="E6EAF2"/>
                    </a:solidFill>
                    <a:latin typeface="Trenda IG Text"/>
                  </a:defRPr>
                </a:pPr>
              </a:p>
            </c:txPr>
            <c:showLegendKey val="0"/>
            <c:showVal val="1"/>
            <c:showCatName val="0"/>
            <c:showSerName val="0"/>
            <c:showPercent val="0"/>
            <c:showBubbleSize val="0"/>
            <c:showLeaderLines val="0"/>
          </c:dLbls>
          <c:dPt>
            <c:idx val="0"/>
            <c:invertIfNegative val="0"/>
            <c:bubble3D val="0"/>
            <c:spPr>
              <a:solidFill>
                <a:srgbClr val="D55181"/>
              </a:solidFill>
              <a:effectLst/>
            </c:spPr>
          </c:dPt>
          <c:dPt>
            <c:idx val="1"/>
            <c:invertIfNegative val="0"/>
            <c:bubble3D val="0"/>
            <c:spPr>
              <a:solidFill>
                <a:srgbClr val="C98500"/>
              </a:solidFill>
              <a:effectLst/>
            </c:spPr>
          </c:dPt>
          <c:dPt>
            <c:idx val="2"/>
            <c:invertIfNegative val="0"/>
            <c:bubble3D val="0"/>
            <c:spPr>
              <a:solidFill>
                <a:srgbClr val="199E70"/>
              </a:solidFill>
              <a:effectLst/>
            </c:spPr>
          </c:dPt>
          <c:dPt>
            <c:idx val="3"/>
            <c:invertIfNegative val="0"/>
            <c:bubble3D val="0"/>
            <c:spPr>
              <a:solidFill>
                <a:srgbClr val="D95926"/>
              </a:solidFill>
              <a:effectLst/>
            </c:spPr>
          </c:dPt>
          <c:dPt>
            <c:idx val="4"/>
            <c:invertIfNegative val="0"/>
            <c:bubble3D val="0"/>
            <c:spPr>
              <a:solidFill>
                <a:srgbClr val="3987E5"/>
              </a:solidFill>
              <a:effectLst/>
            </c:spPr>
          </c:dPt>
          <c:cat>
            <c:multiLvlStrRef>
              <c:f>Sheet1!$A$2:$A$6</c:f>
              <c:multiLvlStrCache>
                <c:ptCount val="5"/>
                <c:lvl>
                  <c:pt idx="0">
                    <c:v>Order status &amp; shipment</c:v>
                  </c:pt>
                  <c:pt idx="1">
                    <c:v>Backorders &amp; availability</c:v>
                  </c:pt>
                  <c:pt idx="2">
                    <c:v>Account &amp; billing</c:v>
                  </c:pt>
                  <c:pt idx="3">
                    <c:v>Credits &amp; disputes</c:v>
                  </c:pt>
                  <c:pt idx="4">
                    <c:v>Order placement &amp; modification</c:v>
                  </c:pt>
                </c:lvl>
              </c:multiLvlStrCache>
            </c:multiLvlStrRef>
          </c:cat>
          <c:val>
            <c:numRef>
              <c:f>Sheet1!$B$2:$B$6</c:f>
              <c:numCache>
                <c:formatCode>General</c:formatCode>
                <c:ptCount val="5"/>
                <c:pt idx="0">
                  <c:v>224</c:v>
                </c:pt>
                <c:pt idx="1">
                  <c:v>271</c:v>
                </c:pt>
                <c:pt idx="2">
                  <c:v>741</c:v>
                </c:pt>
                <c:pt idx="3">
                  <c:v>1555</c:v>
                </c:pt>
                <c:pt idx="4">
                  <c:v>1629</c:v>
                </c:pt>
              </c:numCache>
            </c:numRef>
          </c:val>
        </c:ser>
        <c:dLbls>
          <c:numFmt formatCode="#,##0" sourceLinked="0"/>
          <c:txPr>
            <a:bodyPr/>
            <a:lstStyle/>
            <a:p>
              <a:pPr>
                <a:defRPr b="0" i="0" strike="noStrike" sz="800" u="none">
                  <a:solidFill>
                    <a:srgbClr val="E6EAF2"/>
                  </a:solidFill>
                  <a:latin typeface="Trenda IG Text"/>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850" b="0" i="0" u="none" strike="noStrike">
                <a:solidFill>
                  <a:srgbClr val="8A94A6"/>
                </a:solidFill>
                <a:latin typeface="Trenda IG Tex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900" b="0" i="0" u="none" strike="noStrike">
                <a:solidFill>
                  <a:srgbClr val="8A94A6"/>
                </a:solidFill>
                <a:latin typeface="Trenda IG Text"/>
              </a:defRPr>
            </a:pPr>
            <a:endParaRPr lang="en-US"/>
          </a:p>
        </c:txPr>
        <c:crossAx val="2094734554"/>
        <c:crosses val="autoZero"/>
        <c:crossBetween val="between"/>
      </c:valAx>
      <c:spPr>
        <a:solidFill>
          <a:srgbClr val="151A24"/>
        </a:solidFill>
        <a:ln w="19050" cap="flat">
          <a:solidFill>
            <a:srgbClr val="151A24"/>
          </a:solidFill>
        </a:ln>
        <a:effectLst/>
      </c:spPr>
    </c:plotArea>
    <c:plotVisOnly val="1"/>
    <c:dispBlanksAs val="span"/>
  </c:chart>
  <c:spPr>
    <a:solidFill>
      <a:srgbClr val="151A24"/>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Order placement</c:v>
                </c:pt>
              </c:strCache>
            </c:strRef>
          </c:tx>
          <c:spPr>
            <a:solidFill>
              <a:srgbClr val="3987E5"/>
            </a:solidFill>
            <a:effectLst/>
          </c:spPr>
          <c:invertIfNegative val="0"/>
          <c:dLbls>
            <c:numFmt formatCode="#,##0" sourceLinked="0"/>
            <c:txPr>
              <a:bodyPr/>
              <a:lstStyle/>
              <a:p>
                <a:pPr>
                  <a:defRPr b="0" i="0" strike="noStrike" sz="800" u="none">
                    <a:solidFill>
                      <a:srgbClr val="E6EAF2"/>
                    </a:solidFill>
                    <a:latin typeface="Trenda IG Text"/>
                  </a:defRPr>
                </a:pPr>
              </a:p>
            </c:txPr>
            <c:showLegendKey val="0"/>
            <c:showVal val="0"/>
            <c:showCatName val="0"/>
            <c:showSerName val="0"/>
            <c:showPercent val="0"/>
            <c:showBubbleSize val="0"/>
            <c:showLeaderLines val="0"/>
          </c:dLbls>
          <c:cat>
            <c:multiLvlStrRef>
              <c:f>Sheet1!$A$2:$A$5</c:f>
              <c:multiLvlStrCache>
                <c:ptCount val="4"/>
                <c:lvl>
                  <c:pt idx="0">
                    <c:v>Today</c:v>
                  </c:pt>
                  <c:pt idx="1">
                    <c:v>Phase 1</c:v>
                  </c:pt>
                  <c:pt idx="2">
                    <c:v>Phase 2</c:v>
                  </c:pt>
                  <c:pt idx="3">
                    <c:v>Phase 3</c:v>
                  </c:pt>
                </c:lvl>
              </c:multiLvlStrCache>
            </c:multiLvlStrRef>
          </c:cat>
          <c:val>
            <c:numRef>
              <c:f>Sheet1!$B$2:$B$5</c:f>
              <c:numCache>
                <c:formatCode>General</c:formatCode>
                <c:ptCount val="4"/>
                <c:pt idx="0">
                  <c:v>1629</c:v>
                </c:pt>
                <c:pt idx="1">
                  <c:v>1499</c:v>
                </c:pt>
                <c:pt idx="2">
                  <c:v>1184</c:v>
                </c:pt>
                <c:pt idx="3">
                  <c:v>871</c:v>
                </c:pt>
              </c:numCache>
            </c:numRef>
          </c:val>
        </c:ser>
        <c:ser>
          <c:idx val="1"/>
          <c:order val="1"/>
          <c:tx>
            <c:strRef>
              <c:f>Sheet1!$C$1</c:f>
              <c:strCache>
                <c:ptCount val="1"/>
                <c:pt idx="0">
                  <c:v>Credits &amp; disputes</c:v>
                </c:pt>
              </c:strCache>
            </c:strRef>
          </c:tx>
          <c:spPr>
            <a:solidFill>
              <a:srgbClr val="D95926"/>
            </a:solidFill>
            <a:effectLst/>
          </c:spPr>
          <c:invertIfNegative val="0"/>
          <c:dLbls>
            <c:numFmt formatCode="#,##0" sourceLinked="0"/>
            <c:txPr>
              <a:bodyPr/>
              <a:lstStyle/>
              <a:p>
                <a:pPr>
                  <a:defRPr b="0" i="0" strike="noStrike" sz="800" u="none">
                    <a:solidFill>
                      <a:srgbClr val="E6EAF2"/>
                    </a:solidFill>
                    <a:latin typeface="Trenda IG Text"/>
                  </a:defRPr>
                </a:pPr>
              </a:p>
            </c:txPr>
            <c:showLegendKey val="0"/>
            <c:showVal val="0"/>
            <c:showCatName val="0"/>
            <c:showSerName val="0"/>
            <c:showPercent val="0"/>
            <c:showBubbleSize val="0"/>
            <c:showLeaderLines val="0"/>
          </c:dLbls>
          <c:cat>
            <c:multiLvlStrRef>
              <c:f>Sheet1!$A$2:$A$5</c:f>
              <c:multiLvlStrCache>
                <c:ptCount val="4"/>
                <c:lvl>
                  <c:pt idx="0">
                    <c:v>Today</c:v>
                  </c:pt>
                  <c:pt idx="1">
                    <c:v>Phase 1</c:v>
                  </c:pt>
                  <c:pt idx="2">
                    <c:v>Phase 2</c:v>
                  </c:pt>
                  <c:pt idx="3">
                    <c:v>Phase 3</c:v>
                  </c:pt>
                </c:lvl>
              </c:multiLvlStrCache>
            </c:multiLvlStrRef>
          </c:cat>
          <c:val>
            <c:numRef>
              <c:f>Sheet1!$C$2:$C$5</c:f>
              <c:numCache>
                <c:formatCode>General</c:formatCode>
                <c:ptCount val="4"/>
                <c:pt idx="0">
                  <c:v>1555</c:v>
                </c:pt>
                <c:pt idx="1">
                  <c:v>1430</c:v>
                </c:pt>
                <c:pt idx="2">
                  <c:v>1135</c:v>
                </c:pt>
                <c:pt idx="3">
                  <c:v>1113</c:v>
                </c:pt>
              </c:numCache>
            </c:numRef>
          </c:val>
        </c:ser>
        <c:ser>
          <c:idx val="2"/>
          <c:order val="2"/>
          <c:tx>
            <c:strRef>
              <c:f>Sheet1!$D$1</c:f>
              <c:strCache>
                <c:ptCount val="1"/>
                <c:pt idx="0">
                  <c:v>Account &amp; billing</c:v>
                </c:pt>
              </c:strCache>
            </c:strRef>
          </c:tx>
          <c:spPr>
            <a:solidFill>
              <a:srgbClr val="199E70"/>
            </a:solidFill>
            <a:effectLst/>
          </c:spPr>
          <c:invertIfNegative val="0"/>
          <c:dLbls>
            <c:numFmt formatCode="#,##0" sourceLinked="0"/>
            <c:txPr>
              <a:bodyPr/>
              <a:lstStyle/>
              <a:p>
                <a:pPr>
                  <a:defRPr b="0" i="0" strike="noStrike" sz="800" u="none">
                    <a:solidFill>
                      <a:srgbClr val="E6EAF2"/>
                    </a:solidFill>
                    <a:latin typeface="Trenda IG Text"/>
                  </a:defRPr>
                </a:pPr>
              </a:p>
            </c:txPr>
            <c:showLegendKey val="0"/>
            <c:showVal val="0"/>
            <c:showCatName val="0"/>
            <c:showSerName val="0"/>
            <c:showPercent val="0"/>
            <c:showBubbleSize val="0"/>
            <c:showLeaderLines val="0"/>
          </c:dLbls>
          <c:cat>
            <c:multiLvlStrRef>
              <c:f>Sheet1!$A$2:$A$5</c:f>
              <c:multiLvlStrCache>
                <c:ptCount val="4"/>
                <c:lvl>
                  <c:pt idx="0">
                    <c:v>Today</c:v>
                  </c:pt>
                  <c:pt idx="1">
                    <c:v>Phase 1</c:v>
                  </c:pt>
                  <c:pt idx="2">
                    <c:v>Phase 2</c:v>
                  </c:pt>
                  <c:pt idx="3">
                    <c:v>Phase 3</c:v>
                  </c:pt>
                </c:lvl>
              </c:multiLvlStrCache>
            </c:multiLvlStrRef>
          </c:cat>
          <c:val>
            <c:numRef>
              <c:f>Sheet1!$D$2:$D$5</c:f>
              <c:numCache>
                <c:formatCode>General</c:formatCode>
                <c:ptCount val="4"/>
                <c:pt idx="0">
                  <c:v>741</c:v>
                </c:pt>
                <c:pt idx="1">
                  <c:v>681</c:v>
                </c:pt>
                <c:pt idx="2">
                  <c:v>545</c:v>
                </c:pt>
                <c:pt idx="3">
                  <c:v>351</c:v>
                </c:pt>
              </c:numCache>
            </c:numRef>
          </c:val>
        </c:ser>
        <c:ser>
          <c:idx val="3"/>
          <c:order val="3"/>
          <c:tx>
            <c:strRef>
              <c:f>Sheet1!$E$1</c:f>
              <c:strCache>
                <c:ptCount val="1"/>
                <c:pt idx="0">
                  <c:v>Backorders</c:v>
                </c:pt>
              </c:strCache>
            </c:strRef>
          </c:tx>
          <c:spPr>
            <a:solidFill>
              <a:srgbClr val="C98500"/>
            </a:solidFill>
            <a:effectLst/>
          </c:spPr>
          <c:invertIfNegative val="0"/>
          <c:dLbls>
            <c:numFmt formatCode="#,##0" sourceLinked="0"/>
            <c:txPr>
              <a:bodyPr/>
              <a:lstStyle/>
              <a:p>
                <a:pPr>
                  <a:defRPr b="0" i="0" strike="noStrike" sz="800" u="none">
                    <a:solidFill>
                      <a:srgbClr val="E6EAF2"/>
                    </a:solidFill>
                    <a:latin typeface="Trenda IG Text"/>
                  </a:defRPr>
                </a:pPr>
              </a:p>
            </c:txPr>
            <c:showLegendKey val="0"/>
            <c:showVal val="0"/>
            <c:showCatName val="0"/>
            <c:showSerName val="0"/>
            <c:showPercent val="0"/>
            <c:showBubbleSize val="0"/>
            <c:showLeaderLines val="0"/>
          </c:dLbls>
          <c:cat>
            <c:multiLvlStrRef>
              <c:f>Sheet1!$A$2:$A$5</c:f>
              <c:multiLvlStrCache>
                <c:ptCount val="4"/>
                <c:lvl>
                  <c:pt idx="0">
                    <c:v>Today</c:v>
                  </c:pt>
                  <c:pt idx="1">
                    <c:v>Phase 1</c:v>
                  </c:pt>
                  <c:pt idx="2">
                    <c:v>Phase 2</c:v>
                  </c:pt>
                  <c:pt idx="3">
                    <c:v>Phase 3</c:v>
                  </c:pt>
                </c:lvl>
              </c:multiLvlStrCache>
            </c:multiLvlStrRef>
          </c:cat>
          <c:val>
            <c:numRef>
              <c:f>Sheet1!$E$2:$E$5</c:f>
              <c:numCache>
                <c:formatCode>General</c:formatCode>
                <c:ptCount val="4"/>
                <c:pt idx="0">
                  <c:v>271</c:v>
                </c:pt>
                <c:pt idx="1">
                  <c:v>249</c:v>
                </c:pt>
                <c:pt idx="2">
                  <c:v>190</c:v>
                </c:pt>
                <c:pt idx="3">
                  <c:v>97</c:v>
                </c:pt>
              </c:numCache>
            </c:numRef>
          </c:val>
        </c:ser>
        <c:ser>
          <c:idx val="4"/>
          <c:order val="4"/>
          <c:tx>
            <c:strRef>
              <c:f>Sheet1!$F$1</c:f>
              <c:strCache>
                <c:ptCount val="1"/>
                <c:pt idx="0">
                  <c:v>Order status</c:v>
                </c:pt>
              </c:strCache>
            </c:strRef>
          </c:tx>
          <c:spPr>
            <a:solidFill>
              <a:srgbClr val="D55181"/>
            </a:solidFill>
            <a:effectLst/>
          </c:spPr>
          <c:invertIfNegative val="0"/>
          <c:dLbls>
            <c:numFmt formatCode="#,##0" sourceLinked="0"/>
            <c:txPr>
              <a:bodyPr/>
              <a:lstStyle/>
              <a:p>
                <a:pPr>
                  <a:defRPr b="0" i="0" strike="noStrike" sz="800" u="none">
                    <a:solidFill>
                      <a:srgbClr val="E6EAF2"/>
                    </a:solidFill>
                    <a:latin typeface="Trenda IG Text"/>
                  </a:defRPr>
                </a:pPr>
              </a:p>
            </c:txPr>
            <c:showLegendKey val="0"/>
            <c:showVal val="0"/>
            <c:showCatName val="0"/>
            <c:showSerName val="0"/>
            <c:showPercent val="0"/>
            <c:showBubbleSize val="0"/>
            <c:showLeaderLines val="0"/>
          </c:dLbls>
          <c:cat>
            <c:multiLvlStrRef>
              <c:f>Sheet1!$A$2:$A$5</c:f>
              <c:multiLvlStrCache>
                <c:ptCount val="4"/>
                <c:lvl>
                  <c:pt idx="0">
                    <c:v>Today</c:v>
                  </c:pt>
                  <c:pt idx="1">
                    <c:v>Phase 1</c:v>
                  </c:pt>
                  <c:pt idx="2">
                    <c:v>Phase 2</c:v>
                  </c:pt>
                  <c:pt idx="3">
                    <c:v>Phase 3</c:v>
                  </c:pt>
                </c:lvl>
              </c:multiLvlStrCache>
            </c:multiLvlStrRef>
          </c:cat>
          <c:val>
            <c:numRef>
              <c:f>Sheet1!$F$2:$F$5</c:f>
              <c:numCache>
                <c:formatCode>General</c:formatCode>
                <c:ptCount val="4"/>
                <c:pt idx="0">
                  <c:v>224</c:v>
                </c:pt>
                <c:pt idx="1">
                  <c:v>206</c:v>
                </c:pt>
                <c:pt idx="2">
                  <c:v>157</c:v>
                </c:pt>
                <c:pt idx="3">
                  <c:v>35</c:v>
                </c:pt>
              </c:numCache>
            </c:numRef>
          </c:val>
        </c:ser>
        <c:dLbls>
          <c:numFmt formatCode="#,##0" sourceLinked="0"/>
          <c:txPr>
            <a:bodyPr/>
            <a:lstStyle/>
            <a:p>
              <a:pPr>
                <a:defRPr b="0" i="0" strike="noStrike" sz="800" u="none">
                  <a:solidFill>
                    <a:srgbClr val="E6EAF2"/>
                  </a:solidFill>
                  <a:latin typeface="Trenda IG Text"/>
                </a:defRPr>
              </a:pPr>
            </a:p>
          </c:txPr>
          <c:showLegendKey val="0"/>
          <c:showVal val="0"/>
          <c:showCatName val="0"/>
          <c:showSerName val="0"/>
          <c:showPercent val="0"/>
          <c:showBubbleSize val="0"/>
          <c:showLeaderLines val="0"/>
        </c:dLbls>
        <c:gapWidth val="7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8A94A6"/>
                </a:solidFill>
                <a:latin typeface="Trenda IG Tex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900" b="0" i="0" u="none" strike="noStrike">
                <a:solidFill>
                  <a:srgbClr val="8A94A6"/>
                </a:solidFill>
                <a:latin typeface="Trenda IG Text"/>
              </a:defRPr>
            </a:pPr>
            <a:endParaRPr lang="en-US"/>
          </a:p>
        </c:txPr>
        <c:crossAx val="2094734554"/>
        <c:crosses val="autoZero"/>
        <c:crossBetween val="between"/>
      </c:valAx>
      <c:spPr>
        <a:solidFill>
          <a:srgbClr val="151A24"/>
        </a:solidFill>
        <a:ln w="19050" cap="flat">
          <a:solidFill>
            <a:srgbClr val="151A24"/>
          </a:solidFill>
        </a:ln>
        <a:effectLst/>
      </c:spPr>
    </c:plotArea>
    <c:plotVisOnly val="1"/>
    <c:dispBlanksAs val="span"/>
  </c:chart>
  <c:spPr>
    <a:solidFill>
      <a:srgbClr val="151A24"/>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Door 1 never arrives</c:v>
                </c:pt>
              </c:strCache>
            </c:strRef>
          </c:tx>
          <c:spPr>
            <a:solidFill>
              <a:srgbClr val="3987E5"/>
            </a:solidFill>
            <a:effectLst/>
          </c:spPr>
          <c:invertIfNegative val="0"/>
          <c:dLbls>
            <c:numFmt formatCode="#,##0" sourceLinked="0"/>
            <c:txPr>
              <a:bodyPr/>
              <a:lstStyle/>
              <a:p>
                <a:pPr>
                  <a:defRPr b="0" i="0" strike="noStrike" sz="800" u="none">
                    <a:solidFill>
                      <a:srgbClr val="E6EAF2"/>
                    </a:solidFill>
                    <a:latin typeface="Trenda IG Text"/>
                  </a:defRPr>
                </a:pPr>
              </a:p>
            </c:txPr>
            <c:showLegendKey val="0"/>
            <c:showVal val="0"/>
            <c:showCatName val="0"/>
            <c:showSerName val="0"/>
            <c:showPercent val="0"/>
            <c:showBubbleSize val="0"/>
            <c:showLeaderLines val="0"/>
          </c:dLbls>
          <c:cat>
            <c:multiLvlStrRef>
              <c:f>Sheet1!$A$2:$A$4</c:f>
              <c:multiLvlStrCache>
                <c:ptCount val="3"/>
                <c:lvl>
                  <c:pt idx="0">
                    <c:v>Today</c:v>
                  </c:pt>
                  <c:pt idx="1">
                    <c:v>Phase 2</c:v>
                  </c:pt>
                  <c:pt idx="2">
                    <c:v>Phase 3</c:v>
                  </c:pt>
                </c:lvl>
              </c:multiLvlStrCache>
            </c:multiLvlStrRef>
          </c:cat>
          <c:val>
            <c:numRef>
              <c:f>Sheet1!$B$2:$B$4</c:f>
              <c:numCache>
                <c:formatCode>General</c:formatCode>
                <c:ptCount val="3"/>
                <c:pt idx="0">
                  <c:v>0</c:v>
                </c:pt>
                <c:pt idx="1">
                  <c:v>0</c:v>
                </c:pt>
                <c:pt idx="2">
                  <c:v>1311</c:v>
                </c:pt>
              </c:numCache>
            </c:numRef>
          </c:val>
        </c:ser>
        <c:ser>
          <c:idx val="1"/>
          <c:order val="1"/>
          <c:tx>
            <c:strRef>
              <c:f>Sheet1!$C$1</c:f>
              <c:strCache>
                <c:ptCount val="1"/>
                <c:pt idx="0">
                  <c:v>Door 2 resolves itself</c:v>
                </c:pt>
              </c:strCache>
            </c:strRef>
          </c:tx>
          <c:spPr>
            <a:solidFill>
              <a:srgbClr val="D95926"/>
            </a:solidFill>
            <a:effectLst/>
          </c:spPr>
          <c:invertIfNegative val="0"/>
          <c:dLbls>
            <c:numFmt formatCode="#,##0" sourceLinked="0"/>
            <c:txPr>
              <a:bodyPr/>
              <a:lstStyle/>
              <a:p>
                <a:pPr>
                  <a:defRPr b="0" i="0" strike="noStrike" sz="800" u="none">
                    <a:solidFill>
                      <a:srgbClr val="E6EAF2"/>
                    </a:solidFill>
                    <a:latin typeface="Trenda IG Text"/>
                  </a:defRPr>
                </a:pPr>
              </a:p>
            </c:txPr>
            <c:showLegendKey val="0"/>
            <c:showVal val="0"/>
            <c:showCatName val="0"/>
            <c:showSerName val="0"/>
            <c:showPercent val="0"/>
            <c:showBubbleSize val="0"/>
            <c:showLeaderLines val="0"/>
          </c:dLbls>
          <c:cat>
            <c:multiLvlStrRef>
              <c:f>Sheet1!$A$2:$A$4</c:f>
              <c:multiLvlStrCache>
                <c:ptCount val="3"/>
                <c:lvl>
                  <c:pt idx="0">
                    <c:v>Today</c:v>
                  </c:pt>
                  <c:pt idx="1">
                    <c:v>Phase 2</c:v>
                  </c:pt>
                  <c:pt idx="2">
                    <c:v>Phase 3</c:v>
                  </c:pt>
                </c:lvl>
              </c:multiLvlStrCache>
            </c:multiLvlStrRef>
          </c:cat>
          <c:val>
            <c:numRef>
              <c:f>Sheet1!$C$2:$C$4</c:f>
              <c:numCache>
                <c:formatCode>General</c:formatCode>
                <c:ptCount val="3"/>
                <c:pt idx="0">
                  <c:v>0</c:v>
                </c:pt>
                <c:pt idx="1">
                  <c:v>0</c:v>
                </c:pt>
                <c:pt idx="2">
                  <c:v>8372</c:v>
                </c:pt>
              </c:numCache>
            </c:numRef>
          </c:val>
        </c:ser>
        <c:ser>
          <c:idx val="2"/>
          <c:order val="2"/>
          <c:tx>
            <c:strRef>
              <c:f>Sheet1!$D$1</c:f>
              <c:strCache>
                <c:ptCount val="1"/>
                <c:pt idx="0">
                  <c:v>Door 3 one touch</c:v>
                </c:pt>
              </c:strCache>
            </c:strRef>
          </c:tx>
          <c:spPr>
            <a:solidFill>
              <a:srgbClr val="199E70"/>
            </a:solidFill>
            <a:effectLst/>
          </c:spPr>
          <c:invertIfNegative val="0"/>
          <c:dLbls>
            <c:numFmt formatCode="#,##0" sourceLinked="0"/>
            <c:txPr>
              <a:bodyPr/>
              <a:lstStyle/>
              <a:p>
                <a:pPr>
                  <a:defRPr b="0" i="0" strike="noStrike" sz="800" u="none">
                    <a:solidFill>
                      <a:srgbClr val="E6EAF2"/>
                    </a:solidFill>
                    <a:latin typeface="Trenda IG Text"/>
                  </a:defRPr>
                </a:pPr>
              </a:p>
            </c:txPr>
            <c:showLegendKey val="0"/>
            <c:showVal val="0"/>
            <c:showCatName val="0"/>
            <c:showSerName val="0"/>
            <c:showPercent val="0"/>
            <c:showBubbleSize val="0"/>
            <c:showLeaderLines val="0"/>
          </c:dLbls>
          <c:cat>
            <c:multiLvlStrRef>
              <c:f>Sheet1!$A$2:$A$4</c:f>
              <c:multiLvlStrCache>
                <c:ptCount val="3"/>
                <c:lvl>
                  <c:pt idx="0">
                    <c:v>Today</c:v>
                  </c:pt>
                  <c:pt idx="1">
                    <c:v>Phase 2</c:v>
                  </c:pt>
                  <c:pt idx="2">
                    <c:v>Phase 3</c:v>
                  </c:pt>
                </c:lvl>
              </c:multiLvlStrCache>
            </c:multiLvlStrRef>
          </c:cat>
          <c:val>
            <c:numRef>
              <c:f>Sheet1!$D$2:$D$4</c:f>
              <c:numCache>
                <c:formatCode>General</c:formatCode>
                <c:ptCount val="3"/>
                <c:pt idx="0">
                  <c:v>0</c:v>
                </c:pt>
                <c:pt idx="1">
                  <c:v>27658</c:v>
                </c:pt>
                <c:pt idx="2">
                  <c:v>17975</c:v>
                </c:pt>
              </c:numCache>
            </c:numRef>
          </c:val>
        </c:ser>
        <c:ser>
          <c:idx val="3"/>
          <c:order val="3"/>
          <c:tx>
            <c:strRef>
              <c:f>Sheet1!$E$1</c:f>
              <c:strCache>
                <c:ptCount val="1"/>
                <c:pt idx="0">
                  <c:v>Door 4 expert</c:v>
                </c:pt>
              </c:strCache>
            </c:strRef>
          </c:tx>
          <c:spPr>
            <a:solidFill>
              <a:srgbClr val="C98500"/>
            </a:solidFill>
            <a:effectLst/>
          </c:spPr>
          <c:invertIfNegative val="0"/>
          <c:dLbls>
            <c:numFmt formatCode="#,##0" sourceLinked="0"/>
            <c:txPr>
              <a:bodyPr/>
              <a:lstStyle/>
              <a:p>
                <a:pPr>
                  <a:defRPr b="0" i="0" strike="noStrike" sz="800" u="none">
                    <a:solidFill>
                      <a:srgbClr val="E6EAF2"/>
                    </a:solidFill>
                    <a:latin typeface="Trenda IG Text"/>
                  </a:defRPr>
                </a:pPr>
              </a:p>
            </c:txPr>
            <c:showLegendKey val="0"/>
            <c:showVal val="0"/>
            <c:showCatName val="0"/>
            <c:showSerName val="0"/>
            <c:showPercent val="0"/>
            <c:showBubbleSize val="0"/>
            <c:showLeaderLines val="0"/>
          </c:dLbls>
          <c:cat>
            <c:multiLvlStrRef>
              <c:f>Sheet1!$A$2:$A$4</c:f>
              <c:multiLvlStrCache>
                <c:ptCount val="3"/>
                <c:lvl>
                  <c:pt idx="0">
                    <c:v>Today</c:v>
                  </c:pt>
                  <c:pt idx="1">
                    <c:v>Phase 2</c:v>
                  </c:pt>
                  <c:pt idx="2">
                    <c:v>Phase 3</c:v>
                  </c:pt>
                </c:lvl>
              </c:multiLvlStrCache>
            </c:multiLvlStrRef>
          </c:cat>
          <c:val>
            <c:numRef>
              <c:f>Sheet1!$E$2:$E$4</c:f>
              <c:numCache>
                <c:formatCode>General</c:formatCode>
                <c:ptCount val="3"/>
                <c:pt idx="0">
                  <c:v>33480</c:v>
                </c:pt>
                <c:pt idx="1">
                  <c:v>5822</c:v>
                </c:pt>
                <c:pt idx="2">
                  <c:v>5822</c:v>
                </c:pt>
              </c:numCache>
            </c:numRef>
          </c:val>
        </c:ser>
        <c:dLbls>
          <c:numFmt formatCode="#,##0" sourceLinked="0"/>
          <c:txPr>
            <a:bodyPr/>
            <a:lstStyle/>
            <a:p>
              <a:pPr>
                <a:defRPr b="0" i="0" strike="noStrike" sz="800" u="none">
                  <a:solidFill>
                    <a:srgbClr val="E6EAF2"/>
                  </a:solidFill>
                  <a:latin typeface="Trenda IG Text"/>
                </a:defRPr>
              </a:pPr>
            </a:p>
          </c:txPr>
          <c:showLegendKey val="0"/>
          <c:showVal val="0"/>
          <c:showCatName val="0"/>
          <c:showSerName val="0"/>
          <c:showPercent val="0"/>
          <c:showBubbleSize val="0"/>
          <c:showLeaderLines val="0"/>
        </c:dLbls>
        <c:gapWidth val="8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8A94A6"/>
                </a:solidFill>
                <a:latin typeface="Trenda IG Tex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900" b="0" i="0" u="none" strike="noStrike">
                <a:solidFill>
                  <a:srgbClr val="8A94A6"/>
                </a:solidFill>
                <a:latin typeface="Trenda IG Text"/>
              </a:defRPr>
            </a:pPr>
            <a:endParaRPr lang="en-US"/>
          </a:p>
        </c:txPr>
        <c:crossAx val="2094734554"/>
        <c:crosses val="autoZero"/>
        <c:crossBetween val="between"/>
      </c:valAx>
      <c:spPr>
        <a:solidFill>
          <a:srgbClr val="151A24"/>
        </a:solidFill>
        <a:ln w="19050" cap="flat">
          <a:solidFill>
            <a:srgbClr val="151A24"/>
          </a:solidFill>
        </a:ln>
        <a:effectLst/>
      </c:spPr>
    </c:plotArea>
    <c:plotVisOnly val="1"/>
    <c:dispBlanksAs val="span"/>
  </c:chart>
  <c:spPr>
    <a:solidFill>
      <a:srgbClr val="151A24"/>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four doors is the whole argument. Do not open with technology, open with the idea that most of this volume should not reach a person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separates this proposal from the rest. Say plainly that the assist-only approach has a ceiling, and that we are proposing to go past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reframe: credits is a quarter of cases but over a third of effort, because it runs at 11:25 against 6:40. Any design that treats all queues alike is optimising the wrong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Doors are numbered by cost, cheapest first. The arrows run left to right only to show the ladder, not the process order. The monthly review question becomes which cases moved a door to the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Compressed deliberately: the mechanism is one slide, not five. The two cards at the bottom are the governance answer and are what security and operations will actually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24/7 point is easy to miss and is worth making: a status request at 2am is answered at 2am, which no amount of shift design achieves.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bottom card is the honest one. Everyone claims drafting saves time. It only saves time if the draft is good enough to approve, so we measure that and act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a service owner will care about most, because credits is their pain. The message: we are not proposing to automate a credit decision, we are proposing to stop paying experts to hunt for paperwork.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conservative here buys credibility for the bigger door two and three numbers. It also sets up the governance ask: McKesson has to act on what we find, or this door stays shut.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one slide. This is table stakes, not the differentiator, and spending five slides on it would bury the four doors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shadow mode step. Nobody is asked to trust this on a promise, they are asked to look at scored output on their own cases before anything is switched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challenged on the 44 percent, go to the credits bar: we are explicitly not claiming automation of the hardest third. That is what makes the rest believable.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bar is deliberately a single block: every case handled by a person. The visual migration across the three bars is the argument in one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entry conditions at the bottom are the important line on each card. No phase has a date attached, because a date would be a commitment we cannot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step is the strongest close available: we are offering to test our own numbers against their data before they commit to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line: stop making the queue faster, make it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2-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13-1.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D14"/>
        </a:solidFill>
      </p:bgPr>
    </p:bg>
    <p:spTree>
      <p:nvGrpSpPr>
        <p:cNvPr id="1" name=""/>
        <p:cNvGrpSpPr/>
        <p:nvPr/>
      </p:nvGrpSpPr>
      <p:grpSpPr>
        <a:xfrm>
          <a:off x="0" y="0"/>
          <a:ext cx="0" cy="0"/>
          <a:chOff x="0" y="0"/>
          <a:chExt cx="0" cy="0"/>
        </a:xfrm>
      </p:grpSpPr>
      <p:sp>
        <p:nvSpPr>
          <p:cNvPr id="2" name="Shape 0"/>
          <p:cNvSpPr/>
          <p:nvPr/>
        </p:nvSpPr>
        <p:spPr>
          <a:xfrm>
            <a:off x="8001000" y="1783080"/>
            <a:ext cx="2651760" cy="2651760"/>
          </a:xfrm>
          <a:prstGeom prst="ellipse">
            <a:avLst/>
          </a:prstGeom>
          <a:solidFill>
            <a:srgbClr val="22D3EE">
              <a:alpha val="14000"/>
            </a:srgbClr>
          </a:solidFill>
          <a:ln w="12700">
            <a:solidFill>
              <a:srgbClr val="22D3EE"/>
            </a:solidFill>
            <a:prstDash val="solid"/>
          </a:ln>
        </p:spPr>
      </p:sp>
      <p:sp>
        <p:nvSpPr>
          <p:cNvPr id="3" name="Shape 1"/>
          <p:cNvSpPr/>
          <p:nvPr/>
        </p:nvSpPr>
        <p:spPr>
          <a:xfrm>
            <a:off x="9379915" y="1783080"/>
            <a:ext cx="2651760" cy="2651760"/>
          </a:xfrm>
          <a:prstGeom prst="ellipse">
            <a:avLst/>
          </a:prstGeom>
          <a:solidFill>
            <a:srgbClr val="FFC72C">
              <a:alpha val="14000"/>
            </a:srgbClr>
          </a:solidFill>
          <a:ln w="12700">
            <a:solidFill>
              <a:srgbClr val="FFC72C"/>
            </a:solidFill>
            <a:prstDash val="solid"/>
          </a:ln>
        </p:spPr>
      </p:sp>
      <p:sp>
        <p:nvSpPr>
          <p:cNvPr id="4" name="Shape 2"/>
          <p:cNvSpPr/>
          <p:nvPr/>
        </p:nvSpPr>
        <p:spPr>
          <a:xfrm>
            <a:off x="8690458" y="2976372"/>
            <a:ext cx="2651760" cy="2651760"/>
          </a:xfrm>
          <a:prstGeom prst="ellipse">
            <a:avLst/>
          </a:prstGeom>
          <a:solidFill>
            <a:srgbClr val="FF0069">
              <a:alpha val="14000"/>
            </a:srgbClr>
          </a:solidFill>
          <a:ln w="12700">
            <a:solidFill>
              <a:srgbClr val="FF0069"/>
            </a:solidFill>
            <a:prstDash val="solid"/>
          </a:ln>
        </p:spPr>
      </p:sp>
      <p:pic>
        <p:nvPicPr>
          <p:cNvPr id="5" name="Image 0" descr="assets/ig-wordmark.png">    </p:cNvPr>
          <p:cNvPicPr>
            <a:picLocks noChangeAspect="1"/>
          </p:cNvPicPr>
          <p:nvPr/>
        </p:nvPicPr>
        <p:blipFill>
          <a:blip r:embed="rId1"/>
          <a:stretch>
            <a:fillRect/>
          </a:stretch>
        </p:blipFill>
        <p:spPr>
          <a:xfrm>
            <a:off x="502920" y="502920"/>
            <a:ext cx="1965960" cy="491033"/>
          </a:xfrm>
          <a:prstGeom prst="rect">
            <a:avLst/>
          </a:prstGeom>
        </p:spPr>
      </p:pic>
      <p:sp>
        <p:nvSpPr>
          <p:cNvPr id="6" name="Shape 3"/>
          <p:cNvSpPr/>
          <p:nvPr/>
        </p:nvSpPr>
        <p:spPr>
          <a:xfrm>
            <a:off x="502920" y="2249424"/>
            <a:ext cx="173736" cy="173736"/>
          </a:xfrm>
          <a:prstGeom prst="ellipse">
            <a:avLst/>
          </a:prstGeom>
          <a:solidFill>
            <a:srgbClr val="22D3EE"/>
          </a:solidFill>
          <a:ln w="12700">
            <a:solidFill>
              <a:srgbClr val="22D3EE"/>
            </a:solidFill>
            <a:prstDash val="solid"/>
          </a:ln>
        </p:spPr>
      </p:sp>
      <p:sp>
        <p:nvSpPr>
          <p:cNvPr id="7" name="Shape 4"/>
          <p:cNvSpPr/>
          <p:nvPr/>
        </p:nvSpPr>
        <p:spPr>
          <a:xfrm>
            <a:off x="768096" y="2249424"/>
            <a:ext cx="173736" cy="173736"/>
          </a:xfrm>
          <a:prstGeom prst="ellipse">
            <a:avLst/>
          </a:prstGeom>
          <a:solidFill>
            <a:srgbClr val="FFC72C"/>
          </a:solidFill>
          <a:ln w="12700">
            <a:solidFill>
              <a:srgbClr val="FFC72C"/>
            </a:solidFill>
            <a:prstDash val="solid"/>
          </a:ln>
        </p:spPr>
      </p:sp>
      <p:sp>
        <p:nvSpPr>
          <p:cNvPr id="8" name="Shape 5"/>
          <p:cNvSpPr/>
          <p:nvPr/>
        </p:nvSpPr>
        <p:spPr>
          <a:xfrm>
            <a:off x="1033272" y="2249424"/>
            <a:ext cx="173736" cy="173736"/>
          </a:xfrm>
          <a:prstGeom prst="ellipse">
            <a:avLst/>
          </a:prstGeom>
          <a:solidFill>
            <a:srgbClr val="FF0069"/>
          </a:solidFill>
          <a:ln w="12700">
            <a:solidFill>
              <a:srgbClr val="FF0069"/>
            </a:solidFill>
            <a:prstDash val="solid"/>
          </a:ln>
        </p:spPr>
      </p:sp>
      <p:sp>
        <p:nvSpPr>
          <p:cNvPr id="9" name="Text 6"/>
          <p:cNvSpPr txBox="1"/>
          <p:nvPr/>
        </p:nvSpPr>
        <p:spPr>
          <a:xfrm>
            <a:off x="502920" y="2651760"/>
            <a:ext cx="9144000" cy="237744"/>
          </a:xfrm>
          <a:prstGeom prst="rect">
            <a:avLst/>
          </a:prstGeom>
          <a:noFill/>
          <a:ln/>
        </p:spPr>
        <p:txBody>
          <a:bodyPr wrap="square" lIns="0" tIns="0" rIns="0" bIns="0" rtlCol="0" anchor="ctr"/>
          <a:lstStyle/>
          <a:p>
            <a:pPr indent="0" marL="0">
              <a:buNone/>
            </a:pPr>
            <a:r>
              <a:rPr lang="en-US" sz="1100" b="1" spc="260" kern="0" dirty="0">
                <a:solidFill>
                  <a:srgbClr val="22D3EE"/>
                </a:solidFill>
                <a:latin typeface="Trenda IG Display" pitchFamily="34" charset="0"/>
                <a:ea typeface="Trenda IG Display" pitchFamily="34" charset="-122"/>
                <a:cs typeface="Trenda IG Display" pitchFamily="34" charset="-120"/>
              </a:rPr>
              <a:t>MCKESSON EXTENDED CARE  |  SOLUTION PROPOSAL</a:t>
            </a:r>
            <a:endParaRPr lang="en-US" sz="1100" dirty="0"/>
          </a:p>
        </p:txBody>
      </p:sp>
      <p:sp>
        <p:nvSpPr>
          <p:cNvPr id="10" name="Text 7"/>
          <p:cNvSpPr txBox="1"/>
          <p:nvPr/>
        </p:nvSpPr>
        <p:spPr>
          <a:xfrm>
            <a:off x="502920" y="2980944"/>
            <a:ext cx="10058400" cy="749808"/>
          </a:xfrm>
          <a:prstGeom prst="rect">
            <a:avLst/>
          </a:prstGeom>
          <a:noFill/>
          <a:ln/>
        </p:spPr>
        <p:txBody>
          <a:bodyPr wrap="square" lIns="0" tIns="0" rIns="0" bIns="0" rtlCol="0" anchor="ctr"/>
          <a:lstStyle/>
          <a:p>
            <a:pPr indent="0" marL="0">
              <a:buNone/>
            </a:pPr>
            <a:r>
              <a:rPr lang="en-US" sz="4600" b="1" spc="60" kern="0" dirty="0">
                <a:solidFill>
                  <a:srgbClr val="FFFFFF"/>
                </a:solidFill>
                <a:latin typeface="Trenda IG Display" pitchFamily="34" charset="0"/>
                <a:ea typeface="Trenda IG Display" pitchFamily="34" charset="-122"/>
                <a:cs typeface="Trenda IG Display" pitchFamily="34" charset="-120"/>
              </a:rPr>
              <a:t>THE FOUR DOORS</a:t>
            </a:r>
            <a:endParaRPr lang="en-US" sz="4600" dirty="0"/>
          </a:p>
        </p:txBody>
      </p:sp>
      <p:sp>
        <p:nvSpPr>
          <p:cNvPr id="11" name="Text 8"/>
          <p:cNvSpPr txBox="1"/>
          <p:nvPr/>
        </p:nvSpPr>
        <p:spPr>
          <a:xfrm>
            <a:off x="502920" y="3803904"/>
            <a:ext cx="9144000" cy="384048"/>
          </a:xfrm>
          <a:prstGeom prst="rect">
            <a:avLst/>
          </a:prstGeom>
          <a:noFill/>
          <a:ln/>
        </p:spPr>
        <p:txBody>
          <a:bodyPr wrap="square" lIns="0" tIns="0" rIns="0" bIns="0" rtlCol="0" anchor="ctr"/>
          <a:lstStyle/>
          <a:p>
            <a:pPr indent="0" marL="0">
              <a:buNone/>
            </a:pPr>
            <a:r>
              <a:rPr lang="en-US" sz="1700" dirty="0">
                <a:solidFill>
                  <a:srgbClr val="E6EAF2"/>
                </a:solidFill>
                <a:latin typeface="Trenda IG Display" pitchFamily="34" charset="0"/>
                <a:ea typeface="Trenda IG Display" pitchFamily="34" charset="-122"/>
                <a:cs typeface="Trenda IG Display" pitchFamily="34" charset="-120"/>
              </a:rPr>
              <a:t>Intelligent case management for Extended Care email</a:t>
            </a:r>
            <a:endParaRPr lang="en-US" sz="1700" dirty="0"/>
          </a:p>
        </p:txBody>
      </p:sp>
      <p:sp>
        <p:nvSpPr>
          <p:cNvPr id="12" name="Text 9"/>
          <p:cNvSpPr txBox="1"/>
          <p:nvPr/>
        </p:nvSpPr>
        <p:spPr>
          <a:xfrm>
            <a:off x="502920" y="4443984"/>
            <a:ext cx="7406640" cy="658368"/>
          </a:xfrm>
          <a:prstGeom prst="rect">
            <a:avLst/>
          </a:prstGeom>
          <a:noFill/>
          <a:ln/>
        </p:spPr>
        <p:txBody>
          <a:bodyPr wrap="square" lIns="0" tIns="0" rIns="0" bIns="0" rtlCol="0" anchor="t"/>
          <a:lstStyle/>
          <a:p>
            <a:pPr indent="0" marL="0">
              <a:lnSpc>
                <a:spcPts val="1800"/>
              </a:lnSpc>
              <a:buNone/>
            </a:pPr>
            <a:r>
              <a:rPr lang="en-US" sz="1250" dirty="0">
                <a:solidFill>
                  <a:srgbClr val="8A94A6"/>
                </a:solidFill>
                <a:latin typeface="Trenda IG Text" pitchFamily="34" charset="0"/>
                <a:ea typeface="Trenda IG Text" pitchFamily="34" charset="-122"/>
                <a:cs typeface="Trenda IG Text" pitchFamily="34" charset="-120"/>
              </a:rPr>
              <a:t>Every case takes one of four routes into the operation. The work is moving volume to the cheaper routes, not making the expensive route slightly faster.</a:t>
            </a:r>
            <a:endParaRPr lang="en-US" sz="1250" dirty="0"/>
          </a:p>
        </p:txBody>
      </p:sp>
      <p:sp>
        <p:nvSpPr>
          <p:cNvPr id="13" name="Text 10"/>
          <p:cNvSpPr txBox="1"/>
          <p:nvPr/>
        </p:nvSpPr>
        <p:spPr>
          <a:xfrm>
            <a:off x="502920" y="6053328"/>
            <a:ext cx="6400800" cy="256032"/>
          </a:xfrm>
          <a:prstGeom prst="rect">
            <a:avLst/>
          </a:prstGeom>
          <a:noFill/>
          <a:ln/>
        </p:spPr>
        <p:txBody>
          <a:bodyPr wrap="square" lIns="0" tIns="0" rIns="0" bIns="0" rtlCol="0" anchor="ctr"/>
          <a:lstStyle/>
          <a:p>
            <a:pPr indent="0" marL="0">
              <a:buNone/>
            </a:pPr>
            <a:r>
              <a:rPr lang="en-US" sz="1000" dirty="0">
                <a:solidFill>
                  <a:srgbClr val="8A94A6"/>
                </a:solidFill>
                <a:latin typeface="Trenda IG Text" pitchFamily="34" charset="0"/>
                <a:ea typeface="Trenda IG Text" pitchFamily="34" charset="-122"/>
                <a:cs typeface="Trenda IG Text" pitchFamily="34" charset="-120"/>
              </a:rPr>
              <a:t>Prepared by Insight Global   ·   September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THE ARGUMENT</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MAKING EACH CASE CHEAPER IS THE SMALLER WIN</a:t>
            </a:r>
            <a:endParaRPr lang="en-US" sz="2600" dirty="0"/>
          </a:p>
        </p:txBody>
      </p:sp>
      <p:sp>
        <p:nvSpPr>
          <p:cNvPr id="4" name="Shape 2"/>
          <p:cNvSpPr/>
          <p:nvPr/>
        </p:nvSpPr>
        <p:spPr>
          <a:xfrm>
            <a:off x="502920" y="1321308"/>
            <a:ext cx="11183112" cy="1481328"/>
          </a:xfrm>
          <a:prstGeom prst="roundRect">
            <a:avLst>
              <a:gd name="adj" fmla="val 2469"/>
            </a:avLst>
          </a:prstGeom>
          <a:solidFill>
            <a:srgbClr val="151A24"/>
          </a:solidFill>
          <a:ln w="12700">
            <a:solidFill>
              <a:srgbClr val="252D3D"/>
            </a:solidFill>
            <a:prstDash val="solid"/>
          </a:ln>
        </p:spPr>
      </p:sp>
      <p:sp>
        <p:nvSpPr>
          <p:cNvPr id="5" name="Text 3"/>
          <p:cNvSpPr txBox="1"/>
          <p:nvPr/>
        </p:nvSpPr>
        <p:spPr>
          <a:xfrm>
            <a:off x="813816" y="1540764"/>
            <a:ext cx="10561320" cy="1042416"/>
          </a:xfrm>
          <a:prstGeom prst="rect">
            <a:avLst/>
          </a:prstGeom>
          <a:noFill/>
          <a:ln/>
        </p:spPr>
        <p:txBody>
          <a:bodyPr wrap="square" lIns="0" tIns="0" rIns="0" bIns="0" rtlCol="0" anchor="ctr"/>
          <a:lstStyle/>
          <a:p>
            <a:pPr indent="0" marL="0">
              <a:lnSpc>
                <a:spcPts val="2300"/>
              </a:lnSpc>
              <a:buNone/>
            </a:pPr>
            <a:r>
              <a:rPr lang="en-US" sz="1500" dirty="0">
                <a:solidFill>
                  <a:srgbClr val="E6EAF2"/>
                </a:solidFill>
                <a:latin typeface="Trenda IG Text" pitchFamily="34" charset="0"/>
                <a:ea typeface="Trenda IG Text" pitchFamily="34" charset="-122"/>
                <a:cs typeface="Trenda IG Text" pitchFamily="34" charset="-120"/>
              </a:rPr>
              <a:t>Most email automation proposals shave minutes off a case. That is worth having, and it is capped: a person still opens all 33,480 cases a month. </a:t>
            </a:r>
            <a:pPr indent="0" marL="0">
              <a:lnSpc>
                <a:spcPts val="2300"/>
              </a:lnSpc>
              <a:buNone/>
            </a:pPr>
            <a:r>
              <a:rPr lang="en-US" sz="1500" b="1" dirty="0">
                <a:solidFill>
                  <a:srgbClr val="FFFFFF"/>
                </a:solidFill>
                <a:latin typeface="Trenda IG Text" pitchFamily="34" charset="0"/>
                <a:ea typeface="Trenda IG Text" pitchFamily="34" charset="-122"/>
                <a:cs typeface="Trenda IG Text" pitchFamily="34" charset="-120"/>
              </a:rPr>
              <a:t>The larger win is that a quarter of this volume never needs a person at all, and the cases that do should arrive with the work already assembled rather than merely labelled.</a:t>
            </a:r>
            <a:endParaRPr lang="en-US" sz="1500" dirty="0"/>
          </a:p>
        </p:txBody>
      </p:sp>
      <p:sp>
        <p:nvSpPr>
          <p:cNvPr id="6" name="Shape 4"/>
          <p:cNvSpPr/>
          <p:nvPr/>
        </p:nvSpPr>
        <p:spPr>
          <a:xfrm>
            <a:off x="502920" y="3058668"/>
            <a:ext cx="5472684" cy="2395728"/>
          </a:xfrm>
          <a:prstGeom prst="roundRect">
            <a:avLst>
              <a:gd name="adj" fmla="val 1527"/>
            </a:avLst>
          </a:prstGeom>
          <a:solidFill>
            <a:srgbClr val="151A24"/>
          </a:solidFill>
          <a:ln w="12700">
            <a:solidFill>
              <a:srgbClr val="252D3D"/>
            </a:solidFill>
            <a:prstDash val="solid"/>
          </a:ln>
        </p:spPr>
      </p:sp>
      <p:sp>
        <p:nvSpPr>
          <p:cNvPr id="7" name="Text 5"/>
          <p:cNvSpPr txBox="1"/>
          <p:nvPr/>
        </p:nvSpPr>
        <p:spPr>
          <a:xfrm>
            <a:off x="777240" y="3278124"/>
            <a:ext cx="4924044" cy="201168"/>
          </a:xfrm>
          <a:prstGeom prst="rect">
            <a:avLst/>
          </a:prstGeom>
          <a:noFill/>
          <a:ln/>
        </p:spPr>
        <p:txBody>
          <a:bodyPr wrap="square" lIns="0" tIns="0" rIns="0" bIns="0" rtlCol="0" anchor="ctr"/>
          <a:lstStyle/>
          <a:p>
            <a:pPr indent="0" marL="0">
              <a:buNone/>
            </a:pPr>
            <a:r>
              <a:rPr lang="en-US" sz="1000" b="1" spc="140" kern="0" dirty="0">
                <a:solidFill>
                  <a:srgbClr val="8A94A6"/>
                </a:solidFill>
                <a:latin typeface="Trenda IG Display" pitchFamily="34" charset="0"/>
                <a:ea typeface="Trenda IG Display" pitchFamily="34" charset="-122"/>
                <a:cs typeface="Trenda IG Display" pitchFamily="34" charset="-120"/>
              </a:rPr>
              <a:t>THE USUAL APPROACH</a:t>
            </a:r>
            <a:endParaRPr lang="en-US" sz="1000" dirty="0"/>
          </a:p>
        </p:txBody>
      </p:sp>
      <p:sp>
        <p:nvSpPr>
          <p:cNvPr id="8" name="Text 6"/>
          <p:cNvSpPr txBox="1"/>
          <p:nvPr/>
        </p:nvSpPr>
        <p:spPr>
          <a:xfrm>
            <a:off x="777240" y="3534156"/>
            <a:ext cx="4924044" cy="329184"/>
          </a:xfrm>
          <a:prstGeom prst="rect">
            <a:avLst/>
          </a:prstGeom>
          <a:noFill/>
          <a:ln/>
        </p:spPr>
        <p:txBody>
          <a:bodyPr wrap="square" lIns="0" tIns="0" rIns="0" bIns="0" rtlCol="0" anchor="ctr"/>
          <a:lstStyle/>
          <a:p>
            <a:pPr indent="0" marL="0">
              <a:buNone/>
            </a:pPr>
            <a:r>
              <a:rPr lang="en-US" sz="1800" b="1" dirty="0">
                <a:solidFill>
                  <a:srgbClr val="8A94A6"/>
                </a:solidFill>
                <a:latin typeface="Trenda IG Text" pitchFamily="34" charset="0"/>
                <a:ea typeface="Trenda IG Text" pitchFamily="34" charset="-122"/>
                <a:cs typeface="Trenda IG Text" pitchFamily="34" charset="-120"/>
              </a:rPr>
              <a:t>Automate the steps</a:t>
            </a:r>
            <a:endParaRPr lang="en-US" sz="1800" dirty="0"/>
          </a:p>
        </p:txBody>
      </p:sp>
      <p:sp>
        <p:nvSpPr>
          <p:cNvPr id="9" name="Text 7"/>
          <p:cNvSpPr txBox="1"/>
          <p:nvPr/>
        </p:nvSpPr>
        <p:spPr>
          <a:xfrm>
            <a:off x="777240" y="3973068"/>
            <a:ext cx="4924044" cy="1316736"/>
          </a:xfrm>
          <a:prstGeom prst="rect">
            <a:avLst/>
          </a:prstGeom>
          <a:noFill/>
          <a:ln/>
        </p:spPr>
        <p:txBody>
          <a:bodyPr wrap="square" lIns="0" tIns="0" rIns="0" bIns="0" rtlCol="0" anchor="t"/>
          <a:lstStyle/>
          <a:p>
            <a:pPr marL="152400" indent="-152400">
              <a:lnSpc>
                <a:spcPts val="1400"/>
              </a:lnSpc>
              <a:spcAft>
                <a:spcPts val="800"/>
              </a:spcAft>
              <a:buSzPct val="100000"/>
              <a:buChar char="•"/>
            </a:pPr>
            <a:r>
              <a:rPr lang="en-US" sz="1000" dirty="0">
                <a:solidFill>
                  <a:srgbClr val="8A94A6"/>
                </a:solidFill>
                <a:latin typeface="Trenda IG Text" pitchFamily="34" charset="0"/>
                <a:ea typeface="Trenda IG Text" pitchFamily="34" charset="-122"/>
                <a:cs typeface="Trenda IG Text" pitchFamily="34" charset="-120"/>
              </a:rPr>
              <a:t>Classify the case, route it, draft a reply, summarise the thread.</a:t>
            </a:r>
            <a:endParaRPr lang="en-US" sz="1000" dirty="0"/>
          </a:p>
          <a:p>
            <a:pPr marL="152400" indent="-152400">
              <a:lnSpc>
                <a:spcPts val="1400"/>
              </a:lnSpc>
              <a:spcAft>
                <a:spcPts val="800"/>
              </a:spcAft>
              <a:buSzPct val="100000"/>
              <a:buChar char="•"/>
            </a:pPr>
            <a:r>
              <a:rPr lang="en-US" sz="1000" dirty="0">
                <a:solidFill>
                  <a:srgbClr val="8A94A6"/>
                </a:solidFill>
                <a:latin typeface="Trenda IG Text" pitchFamily="34" charset="0"/>
                <a:ea typeface="Trenda IG Text" pitchFamily="34" charset="-122"/>
                <a:cs typeface="Trenda IG Text" pitchFamily="34" charset="-120"/>
              </a:rPr>
              <a:t>Every case still consumes an agent, so the saving is bounded by handling time.</a:t>
            </a:r>
            <a:endParaRPr lang="en-US" sz="1000" dirty="0"/>
          </a:p>
          <a:p>
            <a:pPr marL="152400" indent="-152400">
              <a:lnSpc>
                <a:spcPts val="1400"/>
              </a:lnSpc>
              <a:spcAft>
                <a:spcPts val="800"/>
              </a:spcAft>
              <a:buSzPct val="100000"/>
              <a:buChar char="•"/>
            </a:pPr>
            <a:r>
              <a:rPr lang="en-US" sz="1000" dirty="0">
                <a:solidFill>
                  <a:srgbClr val="8A94A6"/>
                </a:solidFill>
                <a:latin typeface="Trenda IG Text" pitchFamily="34" charset="0"/>
                <a:ea typeface="Trenda IG Text" pitchFamily="34" charset="-122"/>
                <a:cs typeface="Trenda IG Text" pitchFamily="34" charset="-120"/>
              </a:rPr>
              <a:t>Ceiling is roughly a quarter of effort, and it arrives only once agents trust the drafts.</a:t>
            </a:r>
            <a:endParaRPr lang="en-US" sz="1000" dirty="0"/>
          </a:p>
        </p:txBody>
      </p:sp>
      <p:sp>
        <p:nvSpPr>
          <p:cNvPr id="10" name="Shape 8"/>
          <p:cNvSpPr/>
          <p:nvPr/>
        </p:nvSpPr>
        <p:spPr>
          <a:xfrm>
            <a:off x="6213348" y="3058668"/>
            <a:ext cx="5472684" cy="2395728"/>
          </a:xfrm>
          <a:prstGeom prst="roundRect">
            <a:avLst>
              <a:gd name="adj" fmla="val 1527"/>
            </a:avLst>
          </a:prstGeom>
          <a:solidFill>
            <a:srgbClr val="151A24"/>
          </a:solidFill>
          <a:ln w="12700">
            <a:solidFill>
              <a:srgbClr val="2A5468"/>
            </a:solidFill>
            <a:prstDash val="solid"/>
          </a:ln>
        </p:spPr>
      </p:sp>
      <p:sp>
        <p:nvSpPr>
          <p:cNvPr id="11" name="Text 9"/>
          <p:cNvSpPr txBox="1"/>
          <p:nvPr/>
        </p:nvSpPr>
        <p:spPr>
          <a:xfrm>
            <a:off x="6487668" y="3278124"/>
            <a:ext cx="4924044" cy="201168"/>
          </a:xfrm>
          <a:prstGeom prst="rect">
            <a:avLst/>
          </a:prstGeom>
          <a:noFill/>
          <a:ln/>
        </p:spPr>
        <p:txBody>
          <a:bodyPr wrap="square" lIns="0" tIns="0" rIns="0" bIns="0" rtlCol="0" anchor="ctr"/>
          <a:lstStyle/>
          <a:p>
            <a:pPr indent="0" marL="0">
              <a:buNone/>
            </a:pPr>
            <a:r>
              <a:rPr lang="en-US" sz="1000" b="1" spc="140" kern="0" dirty="0">
                <a:solidFill>
                  <a:srgbClr val="22D3EE"/>
                </a:solidFill>
                <a:latin typeface="Trenda IG Display" pitchFamily="34" charset="0"/>
                <a:ea typeface="Trenda IG Display" pitchFamily="34" charset="-122"/>
                <a:cs typeface="Trenda IG Display" pitchFamily="34" charset="-120"/>
              </a:rPr>
              <a:t>WHAT WE PROPOSE</a:t>
            </a:r>
            <a:endParaRPr lang="en-US" sz="1000" dirty="0"/>
          </a:p>
        </p:txBody>
      </p:sp>
      <p:sp>
        <p:nvSpPr>
          <p:cNvPr id="12" name="Text 10"/>
          <p:cNvSpPr txBox="1"/>
          <p:nvPr/>
        </p:nvSpPr>
        <p:spPr>
          <a:xfrm>
            <a:off x="6487668" y="3534156"/>
            <a:ext cx="4924044" cy="329184"/>
          </a:xfrm>
          <a:prstGeom prst="rect">
            <a:avLst/>
          </a:prstGeom>
          <a:noFill/>
          <a:ln/>
        </p:spPr>
        <p:txBody>
          <a:bodyPr wrap="square" lIns="0" tIns="0" rIns="0" bIns="0" rtlCol="0" anchor="ctr"/>
          <a:lstStyle/>
          <a:p>
            <a:pPr indent="0" marL="0">
              <a:buNone/>
            </a:pPr>
            <a:r>
              <a:rPr lang="en-US" sz="1800" b="1" dirty="0">
                <a:solidFill>
                  <a:srgbClr val="FFFFFF"/>
                </a:solidFill>
                <a:latin typeface="Trenda IG Text" pitchFamily="34" charset="0"/>
                <a:ea typeface="Trenda IG Text" pitchFamily="34" charset="-122"/>
                <a:cs typeface="Trenda IG Text" pitchFamily="34" charset="-120"/>
              </a:rPr>
              <a:t>Change which door the case takes</a:t>
            </a:r>
            <a:endParaRPr lang="en-US" sz="1800" dirty="0"/>
          </a:p>
        </p:txBody>
      </p:sp>
      <p:sp>
        <p:nvSpPr>
          <p:cNvPr id="13" name="Text 11"/>
          <p:cNvSpPr txBox="1"/>
          <p:nvPr/>
        </p:nvSpPr>
        <p:spPr>
          <a:xfrm>
            <a:off x="6487668" y="3973068"/>
            <a:ext cx="4924044" cy="1316736"/>
          </a:xfrm>
          <a:prstGeom prst="rect">
            <a:avLst/>
          </a:prstGeom>
          <a:noFill/>
          <a:ln/>
        </p:spPr>
        <p:txBody>
          <a:bodyPr wrap="square" lIns="0" tIns="0" rIns="0" bIns="0" rtlCol="0" anchor="t"/>
          <a:lstStyle/>
          <a:p>
            <a:pPr marL="152400" indent="-152400">
              <a:lnSpc>
                <a:spcPts val="1400"/>
              </a:lnSpc>
              <a:spcAft>
                <a:spcPts val="800"/>
              </a:spcAft>
              <a:buSzPct val="100000"/>
              <a:buChar char="•"/>
            </a:pPr>
            <a:r>
              <a:rPr lang="en-US" sz="1000" dirty="0">
                <a:solidFill>
                  <a:srgbClr val="E6EAF2"/>
                </a:solidFill>
                <a:latin typeface="Trenda IG Text" pitchFamily="34" charset="0"/>
                <a:ea typeface="Trenda IG Text" pitchFamily="34" charset="-122"/>
                <a:cs typeface="Trenda IG Text" pitchFamily="34" charset="-120"/>
              </a:rPr>
              <a:t>Sort every case into one of four routes in under a minute, then design volume out of the expensive ones.</a:t>
            </a:r>
            <a:endParaRPr lang="en-US" sz="1000" dirty="0"/>
          </a:p>
          <a:p>
            <a:pPr marL="152400" indent="-152400">
              <a:lnSpc>
                <a:spcPts val="1400"/>
              </a:lnSpc>
              <a:spcAft>
                <a:spcPts val="800"/>
              </a:spcAft>
              <a:buSzPct val="100000"/>
              <a:buChar char="•"/>
            </a:pPr>
            <a:r>
              <a:rPr lang="en-US" sz="1000" dirty="0">
                <a:solidFill>
                  <a:srgbClr val="E6EAF2"/>
                </a:solidFill>
                <a:latin typeface="Trenda IG Text" pitchFamily="34" charset="0"/>
                <a:ea typeface="Trenda IG Text" pitchFamily="34" charset="-122"/>
                <a:cs typeface="Trenda IG Text" pitchFamily="34" charset="-120"/>
              </a:rPr>
              <a:t>A quarter of cases resolve with no agent. Most of the rest arrive pre-resolved for approval.</a:t>
            </a:r>
            <a:endParaRPr lang="en-US" sz="1000" dirty="0"/>
          </a:p>
          <a:p>
            <a:pPr marL="152400" indent="-152400">
              <a:lnSpc>
                <a:spcPts val="1400"/>
              </a:lnSpc>
              <a:spcAft>
                <a:spcPts val="800"/>
              </a:spcAft>
              <a:buSzPct val="100000"/>
              <a:buChar char="•"/>
            </a:pPr>
            <a:r>
              <a:rPr lang="en-US" sz="1000" dirty="0">
                <a:solidFill>
                  <a:srgbClr val="E6EAF2"/>
                </a:solidFill>
                <a:latin typeface="Trenda IG Text" pitchFamily="34" charset="0"/>
                <a:ea typeface="Trenda IG Text" pitchFamily="34" charset="-122"/>
                <a:cs typeface="Trenda IG Text" pitchFamily="34" charset="-120"/>
              </a:rPr>
              <a:t>Effort falls by a projected 44 percent, and the cases that need judgement get more of it, not less.</a:t>
            </a:r>
            <a:endParaRPr lang="en-US" sz="1000" dirty="0"/>
          </a:p>
        </p:txBody>
      </p:sp>
      <p:pic>
        <p:nvPicPr>
          <p:cNvPr id="14" name="Image 0" descr="assets/ig-mark.png">    </p:cNvPr>
          <p:cNvPicPr>
            <a:picLocks noChangeAspect="1"/>
          </p:cNvPicPr>
          <p:nvPr/>
        </p:nvPicPr>
        <p:blipFill>
          <a:blip r:embed="rId1"/>
          <a:stretch>
            <a:fillRect/>
          </a:stretch>
        </p:blipFill>
        <p:spPr>
          <a:xfrm>
            <a:off x="502920" y="6455664"/>
            <a:ext cx="420624" cy="144475"/>
          </a:xfrm>
          <a:prstGeom prst="rect">
            <a:avLst/>
          </a:prstGeom>
        </p:spPr>
      </p:pic>
      <p:sp>
        <p:nvSpPr>
          <p:cNvPr id="15" name="Text 12"/>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DIAGNOSIS  |  01</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COUNT EFFORT, NOT CASES</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Case volume says order placement is the problem. Handling effort says order placement and credits are the problem, in almost equal measure, and that everything else is a rounding error.</a:t>
            </a:r>
            <a:endParaRPr lang="en-US" sz="1150" dirty="0"/>
          </a:p>
        </p:txBody>
      </p:sp>
      <p:sp>
        <p:nvSpPr>
          <p:cNvPr id="5" name="Shape 3"/>
          <p:cNvSpPr/>
          <p:nvPr/>
        </p:nvSpPr>
        <p:spPr>
          <a:xfrm>
            <a:off x="502920" y="1796796"/>
            <a:ext cx="5989320" cy="3017520"/>
          </a:xfrm>
          <a:prstGeom prst="roundRect">
            <a:avLst>
              <a:gd name="adj" fmla="val 1212"/>
            </a:avLst>
          </a:prstGeom>
          <a:solidFill>
            <a:srgbClr val="151A24"/>
          </a:solidFill>
          <a:ln w="12700">
            <a:solidFill>
              <a:srgbClr val="252D3D"/>
            </a:solidFill>
            <a:prstDash val="solid"/>
          </a:ln>
        </p:spPr>
      </p:sp>
      <p:sp>
        <p:nvSpPr>
          <p:cNvPr id="6" name="Text 4"/>
          <p:cNvSpPr txBox="1"/>
          <p:nvPr/>
        </p:nvSpPr>
        <p:spPr>
          <a:xfrm>
            <a:off x="722376" y="1961388"/>
            <a:ext cx="5550408" cy="201168"/>
          </a:xfrm>
          <a:prstGeom prst="rect">
            <a:avLst/>
          </a:prstGeom>
          <a:noFill/>
          <a:ln/>
        </p:spPr>
        <p:txBody>
          <a:bodyPr wrap="square" lIns="0" tIns="0" rIns="0" bIns="0" rtlCol="0" anchor="ctr"/>
          <a:lstStyle/>
          <a:p>
            <a:pPr indent="0" marL="0">
              <a:buNone/>
            </a:pPr>
            <a:r>
              <a:rPr lang="en-US" sz="950" b="1" spc="140" kern="0" dirty="0">
                <a:solidFill>
                  <a:srgbClr val="FFFFFF"/>
                </a:solidFill>
                <a:latin typeface="Trenda IG Display" pitchFamily="34" charset="0"/>
                <a:ea typeface="Trenda IG Display" pitchFamily="34" charset="-122"/>
                <a:cs typeface="Trenda IG Display" pitchFamily="34" charset="-120"/>
              </a:rPr>
              <a:t>AGENT HANDLING EFFORT, HOURS PER MONTH</a:t>
            </a:r>
            <a:endParaRPr lang="en-US" sz="950" dirty="0"/>
          </a:p>
        </p:txBody>
      </p:sp>
      <p:graphicFrame>
        <p:nvGraphicFramePr>
          <p:cNvPr id="7" name="Chart 0" descr=""/>
          <p:cNvGraphicFramePr/>
          <p:nvPr/>
        </p:nvGraphicFramePr>
        <p:xfrm>
          <a:off x="612648" y="2217420"/>
          <a:ext cx="5769864" cy="246888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6711696" y="1796796"/>
            <a:ext cx="4974336" cy="3017520"/>
          </a:xfrm>
          <a:prstGeom prst="roundRect">
            <a:avLst>
              <a:gd name="adj" fmla="val 1212"/>
            </a:avLst>
          </a:prstGeom>
          <a:solidFill>
            <a:srgbClr val="151A24"/>
          </a:solidFill>
          <a:ln w="12700">
            <a:solidFill>
              <a:srgbClr val="252D3D"/>
            </a:solidFill>
            <a:prstDash val="solid"/>
          </a:ln>
        </p:spPr>
      </p:sp>
      <p:sp>
        <p:nvSpPr>
          <p:cNvPr id="9" name="Text 6"/>
          <p:cNvSpPr txBox="1"/>
          <p:nvPr/>
        </p:nvSpPr>
        <p:spPr>
          <a:xfrm>
            <a:off x="6949440" y="1961388"/>
            <a:ext cx="4498848" cy="201168"/>
          </a:xfrm>
          <a:prstGeom prst="rect">
            <a:avLst/>
          </a:prstGeom>
          <a:noFill/>
          <a:ln/>
        </p:spPr>
        <p:txBody>
          <a:bodyPr wrap="square" lIns="0" tIns="0" rIns="0" bIns="0" rtlCol="0" anchor="ctr"/>
          <a:lstStyle/>
          <a:p>
            <a:pPr indent="0" marL="0">
              <a:buNone/>
            </a:pPr>
            <a:r>
              <a:rPr lang="en-US" sz="950" b="1" spc="140" kern="0" dirty="0">
                <a:solidFill>
                  <a:srgbClr val="FFFFFF"/>
                </a:solidFill>
                <a:latin typeface="Trenda IG Display" pitchFamily="34" charset="0"/>
                <a:ea typeface="Trenda IG Display" pitchFamily="34" charset="-122"/>
                <a:cs typeface="Trenda IG Display" pitchFamily="34" charset="-120"/>
              </a:rPr>
              <a:t>SHARE OF CASES AGAINST SHARE OF EFFORT</a:t>
            </a:r>
            <a:endParaRPr lang="en-US" sz="950" dirty="0"/>
          </a:p>
        </p:txBody>
      </p:sp>
      <p:sp>
        <p:nvSpPr>
          <p:cNvPr id="10" name="Text 7"/>
          <p:cNvSpPr txBox="1"/>
          <p:nvPr/>
        </p:nvSpPr>
        <p:spPr>
          <a:xfrm>
            <a:off x="7534656" y="2253996"/>
            <a:ext cx="1371600" cy="182880"/>
          </a:xfrm>
          <a:prstGeom prst="rect">
            <a:avLst/>
          </a:prstGeom>
          <a:noFill/>
          <a:ln/>
        </p:spPr>
        <p:txBody>
          <a:bodyPr wrap="square" lIns="0" tIns="0" rIns="0" bIns="0" rtlCol="0" anchor="ctr"/>
          <a:lstStyle/>
          <a:p>
            <a:pPr indent="0" marL="0">
              <a:buNone/>
            </a:pPr>
            <a:r>
              <a:rPr lang="en-US" sz="750" b="1" spc="140" kern="0" dirty="0">
                <a:solidFill>
                  <a:srgbClr val="8A94A6"/>
                </a:solidFill>
                <a:latin typeface="Trenda IG Display" pitchFamily="34" charset="0"/>
                <a:ea typeface="Trenda IG Display" pitchFamily="34" charset="-122"/>
                <a:cs typeface="Trenda IG Display" pitchFamily="34" charset="-120"/>
              </a:rPr>
              <a:t>OF CASES</a:t>
            </a:r>
            <a:endParaRPr lang="en-US" sz="750" dirty="0"/>
          </a:p>
        </p:txBody>
      </p:sp>
      <p:sp>
        <p:nvSpPr>
          <p:cNvPr id="11" name="Text 8"/>
          <p:cNvSpPr txBox="1"/>
          <p:nvPr/>
        </p:nvSpPr>
        <p:spPr>
          <a:xfrm>
            <a:off x="8906256" y="2253996"/>
            <a:ext cx="1371600" cy="182880"/>
          </a:xfrm>
          <a:prstGeom prst="rect">
            <a:avLst/>
          </a:prstGeom>
          <a:noFill/>
          <a:ln/>
        </p:spPr>
        <p:txBody>
          <a:bodyPr wrap="square" lIns="0" tIns="0" rIns="0" bIns="0" rtlCol="0" anchor="ctr"/>
          <a:lstStyle/>
          <a:p>
            <a:pPr indent="0" marL="0">
              <a:buNone/>
            </a:pPr>
            <a:r>
              <a:rPr lang="en-US" sz="750" b="1" spc="140" kern="0" dirty="0">
                <a:solidFill>
                  <a:srgbClr val="22D3EE"/>
                </a:solidFill>
                <a:latin typeface="Trenda IG Display" pitchFamily="34" charset="0"/>
                <a:ea typeface="Trenda IG Display" pitchFamily="34" charset="-122"/>
                <a:cs typeface="Trenda IG Display" pitchFamily="34" charset="-120"/>
              </a:rPr>
              <a:t>OF EFFORT</a:t>
            </a:r>
            <a:endParaRPr lang="en-US" sz="750" dirty="0"/>
          </a:p>
        </p:txBody>
      </p:sp>
      <p:sp>
        <p:nvSpPr>
          <p:cNvPr id="12" name="Shape 9"/>
          <p:cNvSpPr/>
          <p:nvPr/>
        </p:nvSpPr>
        <p:spPr>
          <a:xfrm>
            <a:off x="6949440" y="2583180"/>
            <a:ext cx="91440" cy="91440"/>
          </a:xfrm>
          <a:prstGeom prst="roundRect">
            <a:avLst>
              <a:gd name="adj" fmla="val 20000"/>
            </a:avLst>
          </a:prstGeom>
          <a:solidFill>
            <a:srgbClr val="3987E5"/>
          </a:solidFill>
          <a:ln w="12700">
            <a:solidFill>
              <a:srgbClr val="3987E5"/>
            </a:solidFill>
            <a:prstDash val="solid"/>
          </a:ln>
        </p:spPr>
      </p:sp>
      <p:sp>
        <p:nvSpPr>
          <p:cNvPr id="13" name="Text 10"/>
          <p:cNvSpPr txBox="1"/>
          <p:nvPr/>
        </p:nvSpPr>
        <p:spPr>
          <a:xfrm>
            <a:off x="7132320" y="2491740"/>
            <a:ext cx="1691640" cy="274320"/>
          </a:xfrm>
          <a:prstGeom prst="rect">
            <a:avLst/>
          </a:prstGeom>
          <a:noFill/>
          <a:ln/>
        </p:spPr>
        <p:txBody>
          <a:bodyPr wrap="square" lIns="0" tIns="0" rIns="0" bIns="0" rtlCol="0" anchor="ct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Order placement</a:t>
            </a:r>
            <a:endParaRPr lang="en-US" sz="850" dirty="0"/>
          </a:p>
        </p:txBody>
      </p:sp>
      <p:sp>
        <p:nvSpPr>
          <p:cNvPr id="14" name="Text 11"/>
          <p:cNvSpPr txBox="1"/>
          <p:nvPr/>
        </p:nvSpPr>
        <p:spPr>
          <a:xfrm>
            <a:off x="7534656" y="2491740"/>
            <a:ext cx="1371600" cy="274320"/>
          </a:xfrm>
          <a:prstGeom prst="rect">
            <a:avLst/>
          </a:prstGeom>
          <a:noFill/>
          <a:ln/>
        </p:spPr>
        <p:txBody>
          <a:bodyPr wrap="square" lIns="0" tIns="0" rIns="0" bIns="0" rtlCol="0" anchor="ctr"/>
          <a:lstStyle/>
          <a:p>
            <a:pPr algn="r" indent="0" marL="0">
              <a:buNone/>
            </a:pPr>
            <a:r>
              <a:rPr lang="en-US" sz="900" dirty="0">
                <a:solidFill>
                  <a:srgbClr val="8A94A6"/>
                </a:solidFill>
                <a:latin typeface="Trenda IG Text" pitchFamily="34" charset="0"/>
                <a:ea typeface="Trenda IG Text" pitchFamily="34" charset="-122"/>
                <a:cs typeface="Trenda IG Text" pitchFamily="34" charset="-120"/>
              </a:rPr>
              <a:t>43.8%</a:t>
            </a:r>
            <a:endParaRPr lang="en-US" sz="900" dirty="0"/>
          </a:p>
        </p:txBody>
      </p:sp>
      <p:sp>
        <p:nvSpPr>
          <p:cNvPr id="15" name="Text 12"/>
          <p:cNvSpPr txBox="1"/>
          <p:nvPr/>
        </p:nvSpPr>
        <p:spPr>
          <a:xfrm>
            <a:off x="8906256" y="2491740"/>
            <a:ext cx="1371600" cy="274320"/>
          </a:xfrm>
          <a:prstGeom prst="rect">
            <a:avLst/>
          </a:prstGeom>
          <a:noFill/>
          <a:ln/>
        </p:spPr>
        <p:txBody>
          <a:bodyPr wrap="square" lIns="0" tIns="0" rIns="0" bIns="0" rtlCol="0" anchor="ctr"/>
          <a:lstStyle/>
          <a:p>
            <a:pPr algn="r" indent="0" marL="0">
              <a:buNone/>
            </a:pPr>
            <a:r>
              <a:rPr lang="en-US" sz="900" b="1" dirty="0">
                <a:solidFill>
                  <a:srgbClr val="FFFFFF"/>
                </a:solidFill>
                <a:latin typeface="Trenda IG Text" pitchFamily="34" charset="0"/>
                <a:ea typeface="Trenda IG Text" pitchFamily="34" charset="-122"/>
                <a:cs typeface="Trenda IG Text" pitchFamily="34" charset="-120"/>
              </a:rPr>
              <a:t>36.9%</a:t>
            </a:r>
            <a:endParaRPr lang="en-US" sz="900" dirty="0"/>
          </a:p>
        </p:txBody>
      </p:sp>
      <p:sp>
        <p:nvSpPr>
          <p:cNvPr id="16" name="Shape 13"/>
          <p:cNvSpPr/>
          <p:nvPr/>
        </p:nvSpPr>
        <p:spPr>
          <a:xfrm>
            <a:off x="6949440" y="2912364"/>
            <a:ext cx="91440" cy="91440"/>
          </a:xfrm>
          <a:prstGeom prst="roundRect">
            <a:avLst>
              <a:gd name="adj" fmla="val 20000"/>
            </a:avLst>
          </a:prstGeom>
          <a:solidFill>
            <a:srgbClr val="D95926"/>
          </a:solidFill>
          <a:ln w="12700">
            <a:solidFill>
              <a:srgbClr val="D95926"/>
            </a:solidFill>
            <a:prstDash val="solid"/>
          </a:ln>
        </p:spPr>
      </p:sp>
      <p:sp>
        <p:nvSpPr>
          <p:cNvPr id="17" name="Text 14"/>
          <p:cNvSpPr txBox="1"/>
          <p:nvPr/>
        </p:nvSpPr>
        <p:spPr>
          <a:xfrm>
            <a:off x="7132320" y="2820924"/>
            <a:ext cx="1691640" cy="274320"/>
          </a:xfrm>
          <a:prstGeom prst="rect">
            <a:avLst/>
          </a:prstGeom>
          <a:noFill/>
          <a:ln/>
        </p:spPr>
        <p:txBody>
          <a:bodyPr wrap="square" lIns="0" tIns="0" rIns="0" bIns="0" rtlCol="0" anchor="ct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Credits &amp; disputes</a:t>
            </a:r>
            <a:endParaRPr lang="en-US" sz="850" dirty="0"/>
          </a:p>
        </p:txBody>
      </p:sp>
      <p:sp>
        <p:nvSpPr>
          <p:cNvPr id="18" name="Text 15"/>
          <p:cNvSpPr txBox="1"/>
          <p:nvPr/>
        </p:nvSpPr>
        <p:spPr>
          <a:xfrm>
            <a:off x="7534656" y="2820924"/>
            <a:ext cx="1371600" cy="274320"/>
          </a:xfrm>
          <a:prstGeom prst="rect">
            <a:avLst/>
          </a:prstGeom>
          <a:noFill/>
          <a:ln/>
        </p:spPr>
        <p:txBody>
          <a:bodyPr wrap="square" lIns="0" tIns="0" rIns="0" bIns="0" rtlCol="0" anchor="ctr"/>
          <a:lstStyle/>
          <a:p>
            <a:pPr algn="r" indent="0" marL="0">
              <a:buNone/>
            </a:pPr>
            <a:r>
              <a:rPr lang="en-US" sz="900" dirty="0">
                <a:solidFill>
                  <a:srgbClr val="8A94A6"/>
                </a:solidFill>
                <a:latin typeface="Trenda IG Text" pitchFamily="34" charset="0"/>
                <a:ea typeface="Trenda IG Text" pitchFamily="34" charset="-122"/>
                <a:cs typeface="Trenda IG Text" pitchFamily="34" charset="-120"/>
              </a:rPr>
              <a:t>24.4%</a:t>
            </a:r>
            <a:endParaRPr lang="en-US" sz="900" dirty="0"/>
          </a:p>
        </p:txBody>
      </p:sp>
      <p:sp>
        <p:nvSpPr>
          <p:cNvPr id="19" name="Text 16"/>
          <p:cNvSpPr txBox="1"/>
          <p:nvPr/>
        </p:nvSpPr>
        <p:spPr>
          <a:xfrm>
            <a:off x="8906256" y="2820924"/>
            <a:ext cx="1371600" cy="274320"/>
          </a:xfrm>
          <a:prstGeom prst="rect">
            <a:avLst/>
          </a:prstGeom>
          <a:noFill/>
          <a:ln/>
        </p:spPr>
        <p:txBody>
          <a:bodyPr wrap="square" lIns="0" tIns="0" rIns="0" bIns="0" rtlCol="0" anchor="ctr"/>
          <a:lstStyle/>
          <a:p>
            <a:pPr algn="r" indent="0" marL="0">
              <a:buNone/>
            </a:pPr>
            <a:r>
              <a:rPr lang="en-US" sz="900" b="1" dirty="0">
                <a:solidFill>
                  <a:srgbClr val="FFFFFF"/>
                </a:solidFill>
                <a:latin typeface="Trenda IG Text" pitchFamily="34" charset="0"/>
                <a:ea typeface="Trenda IG Text" pitchFamily="34" charset="-122"/>
                <a:cs typeface="Trenda IG Text" pitchFamily="34" charset="-120"/>
              </a:rPr>
              <a:t>35.2%</a:t>
            </a:r>
            <a:endParaRPr lang="en-US" sz="900" dirty="0"/>
          </a:p>
        </p:txBody>
      </p:sp>
      <p:sp>
        <p:nvSpPr>
          <p:cNvPr id="20" name="Shape 17"/>
          <p:cNvSpPr/>
          <p:nvPr/>
        </p:nvSpPr>
        <p:spPr>
          <a:xfrm>
            <a:off x="6949440" y="3241548"/>
            <a:ext cx="91440" cy="91440"/>
          </a:xfrm>
          <a:prstGeom prst="roundRect">
            <a:avLst>
              <a:gd name="adj" fmla="val 20000"/>
            </a:avLst>
          </a:prstGeom>
          <a:solidFill>
            <a:srgbClr val="199E70"/>
          </a:solidFill>
          <a:ln w="12700">
            <a:solidFill>
              <a:srgbClr val="199E70"/>
            </a:solidFill>
            <a:prstDash val="solid"/>
          </a:ln>
        </p:spPr>
      </p:sp>
      <p:sp>
        <p:nvSpPr>
          <p:cNvPr id="21" name="Text 18"/>
          <p:cNvSpPr txBox="1"/>
          <p:nvPr/>
        </p:nvSpPr>
        <p:spPr>
          <a:xfrm>
            <a:off x="7132320" y="3150108"/>
            <a:ext cx="1691640" cy="274320"/>
          </a:xfrm>
          <a:prstGeom prst="rect">
            <a:avLst/>
          </a:prstGeom>
          <a:noFill/>
          <a:ln/>
        </p:spPr>
        <p:txBody>
          <a:bodyPr wrap="square" lIns="0" tIns="0" rIns="0" bIns="0" rtlCol="0" anchor="ct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Account &amp; billing</a:t>
            </a:r>
            <a:endParaRPr lang="en-US" sz="850" dirty="0"/>
          </a:p>
        </p:txBody>
      </p:sp>
      <p:sp>
        <p:nvSpPr>
          <p:cNvPr id="22" name="Text 19"/>
          <p:cNvSpPr txBox="1"/>
          <p:nvPr/>
        </p:nvSpPr>
        <p:spPr>
          <a:xfrm>
            <a:off x="7534656" y="3150108"/>
            <a:ext cx="1371600" cy="274320"/>
          </a:xfrm>
          <a:prstGeom prst="rect">
            <a:avLst/>
          </a:prstGeom>
          <a:noFill/>
          <a:ln/>
        </p:spPr>
        <p:txBody>
          <a:bodyPr wrap="square" lIns="0" tIns="0" rIns="0" bIns="0" rtlCol="0" anchor="ctr"/>
          <a:lstStyle/>
          <a:p>
            <a:pPr algn="r" indent="0" marL="0">
              <a:buNone/>
            </a:pPr>
            <a:r>
              <a:rPr lang="en-US" sz="900" dirty="0">
                <a:solidFill>
                  <a:srgbClr val="8A94A6"/>
                </a:solidFill>
                <a:latin typeface="Trenda IG Text" pitchFamily="34" charset="0"/>
                <a:ea typeface="Trenda IG Text" pitchFamily="34" charset="-122"/>
                <a:cs typeface="Trenda IG Text" pitchFamily="34" charset="-120"/>
              </a:rPr>
              <a:t>17.5%</a:t>
            </a:r>
            <a:endParaRPr lang="en-US" sz="900" dirty="0"/>
          </a:p>
        </p:txBody>
      </p:sp>
      <p:sp>
        <p:nvSpPr>
          <p:cNvPr id="23" name="Text 20"/>
          <p:cNvSpPr txBox="1"/>
          <p:nvPr/>
        </p:nvSpPr>
        <p:spPr>
          <a:xfrm>
            <a:off x="8906256" y="3150108"/>
            <a:ext cx="1371600" cy="274320"/>
          </a:xfrm>
          <a:prstGeom prst="rect">
            <a:avLst/>
          </a:prstGeom>
          <a:noFill/>
          <a:ln/>
        </p:spPr>
        <p:txBody>
          <a:bodyPr wrap="square" lIns="0" tIns="0" rIns="0" bIns="0" rtlCol="0" anchor="ctr"/>
          <a:lstStyle/>
          <a:p>
            <a:pPr algn="r" indent="0" marL="0">
              <a:buNone/>
            </a:pPr>
            <a:r>
              <a:rPr lang="en-US" sz="900" b="1" dirty="0">
                <a:solidFill>
                  <a:srgbClr val="FFFFFF"/>
                </a:solidFill>
                <a:latin typeface="Trenda IG Text" pitchFamily="34" charset="0"/>
                <a:ea typeface="Trenda IG Text" pitchFamily="34" charset="-122"/>
                <a:cs typeface="Trenda IG Text" pitchFamily="34" charset="-120"/>
              </a:rPr>
              <a:t>16.8%</a:t>
            </a:r>
            <a:endParaRPr lang="en-US" sz="900" dirty="0"/>
          </a:p>
        </p:txBody>
      </p:sp>
      <p:sp>
        <p:nvSpPr>
          <p:cNvPr id="24" name="Shape 21"/>
          <p:cNvSpPr/>
          <p:nvPr/>
        </p:nvSpPr>
        <p:spPr>
          <a:xfrm>
            <a:off x="6949440" y="3570732"/>
            <a:ext cx="91440" cy="91440"/>
          </a:xfrm>
          <a:prstGeom prst="roundRect">
            <a:avLst>
              <a:gd name="adj" fmla="val 20000"/>
            </a:avLst>
          </a:prstGeom>
          <a:solidFill>
            <a:srgbClr val="C98500"/>
          </a:solidFill>
          <a:ln w="12700">
            <a:solidFill>
              <a:srgbClr val="C98500"/>
            </a:solidFill>
            <a:prstDash val="solid"/>
          </a:ln>
        </p:spPr>
      </p:sp>
      <p:sp>
        <p:nvSpPr>
          <p:cNvPr id="25" name="Text 22"/>
          <p:cNvSpPr txBox="1"/>
          <p:nvPr/>
        </p:nvSpPr>
        <p:spPr>
          <a:xfrm>
            <a:off x="7132320" y="3479292"/>
            <a:ext cx="1691640" cy="274320"/>
          </a:xfrm>
          <a:prstGeom prst="rect">
            <a:avLst/>
          </a:prstGeom>
          <a:noFill/>
          <a:ln/>
        </p:spPr>
        <p:txBody>
          <a:bodyPr wrap="square" lIns="0" tIns="0" rIns="0" bIns="0" rtlCol="0" anchor="ct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Backorders</a:t>
            </a:r>
            <a:endParaRPr lang="en-US" sz="850" dirty="0"/>
          </a:p>
        </p:txBody>
      </p:sp>
      <p:sp>
        <p:nvSpPr>
          <p:cNvPr id="26" name="Text 23"/>
          <p:cNvSpPr txBox="1"/>
          <p:nvPr/>
        </p:nvSpPr>
        <p:spPr>
          <a:xfrm>
            <a:off x="7534656" y="3479292"/>
            <a:ext cx="1371600" cy="274320"/>
          </a:xfrm>
          <a:prstGeom prst="rect">
            <a:avLst/>
          </a:prstGeom>
          <a:noFill/>
          <a:ln/>
        </p:spPr>
        <p:txBody>
          <a:bodyPr wrap="square" lIns="0" tIns="0" rIns="0" bIns="0" rtlCol="0" anchor="ctr"/>
          <a:lstStyle/>
          <a:p>
            <a:pPr algn="r" indent="0" marL="0">
              <a:buNone/>
            </a:pPr>
            <a:r>
              <a:rPr lang="en-US" sz="900" dirty="0">
                <a:solidFill>
                  <a:srgbClr val="8A94A6"/>
                </a:solidFill>
                <a:latin typeface="Trenda IG Text" pitchFamily="34" charset="0"/>
                <a:ea typeface="Trenda IG Text" pitchFamily="34" charset="-122"/>
                <a:cs typeface="Trenda IG Text" pitchFamily="34" charset="-120"/>
              </a:rPr>
              <a:t>6.4%</a:t>
            </a:r>
            <a:endParaRPr lang="en-US" sz="900" dirty="0"/>
          </a:p>
        </p:txBody>
      </p:sp>
      <p:sp>
        <p:nvSpPr>
          <p:cNvPr id="27" name="Text 24"/>
          <p:cNvSpPr txBox="1"/>
          <p:nvPr/>
        </p:nvSpPr>
        <p:spPr>
          <a:xfrm>
            <a:off x="8906256" y="3479292"/>
            <a:ext cx="1371600" cy="274320"/>
          </a:xfrm>
          <a:prstGeom prst="rect">
            <a:avLst/>
          </a:prstGeom>
          <a:noFill/>
          <a:ln/>
        </p:spPr>
        <p:txBody>
          <a:bodyPr wrap="square" lIns="0" tIns="0" rIns="0" bIns="0" rtlCol="0" anchor="ctr"/>
          <a:lstStyle/>
          <a:p>
            <a:pPr algn="r" indent="0" marL="0">
              <a:buNone/>
            </a:pPr>
            <a:r>
              <a:rPr lang="en-US" sz="900" b="1" dirty="0">
                <a:solidFill>
                  <a:srgbClr val="FFFFFF"/>
                </a:solidFill>
                <a:latin typeface="Trenda IG Text" pitchFamily="34" charset="0"/>
                <a:ea typeface="Trenda IG Text" pitchFamily="34" charset="-122"/>
                <a:cs typeface="Trenda IG Text" pitchFamily="34" charset="-120"/>
              </a:rPr>
              <a:t>6.1%</a:t>
            </a:r>
            <a:endParaRPr lang="en-US" sz="900" dirty="0"/>
          </a:p>
        </p:txBody>
      </p:sp>
      <p:sp>
        <p:nvSpPr>
          <p:cNvPr id="28" name="Shape 25"/>
          <p:cNvSpPr/>
          <p:nvPr/>
        </p:nvSpPr>
        <p:spPr>
          <a:xfrm>
            <a:off x="6949440" y="3899916"/>
            <a:ext cx="91440" cy="91440"/>
          </a:xfrm>
          <a:prstGeom prst="roundRect">
            <a:avLst>
              <a:gd name="adj" fmla="val 20000"/>
            </a:avLst>
          </a:prstGeom>
          <a:solidFill>
            <a:srgbClr val="D55181"/>
          </a:solidFill>
          <a:ln w="12700">
            <a:solidFill>
              <a:srgbClr val="D55181"/>
            </a:solidFill>
            <a:prstDash val="solid"/>
          </a:ln>
        </p:spPr>
      </p:sp>
      <p:sp>
        <p:nvSpPr>
          <p:cNvPr id="29" name="Text 26"/>
          <p:cNvSpPr txBox="1"/>
          <p:nvPr/>
        </p:nvSpPr>
        <p:spPr>
          <a:xfrm>
            <a:off x="7132320" y="3808476"/>
            <a:ext cx="1691640" cy="274320"/>
          </a:xfrm>
          <a:prstGeom prst="rect">
            <a:avLst/>
          </a:prstGeom>
          <a:noFill/>
          <a:ln/>
        </p:spPr>
        <p:txBody>
          <a:bodyPr wrap="square" lIns="0" tIns="0" rIns="0" bIns="0" rtlCol="0" anchor="ct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Order status</a:t>
            </a:r>
            <a:endParaRPr lang="en-US" sz="850" dirty="0"/>
          </a:p>
        </p:txBody>
      </p:sp>
      <p:sp>
        <p:nvSpPr>
          <p:cNvPr id="30" name="Text 27"/>
          <p:cNvSpPr txBox="1"/>
          <p:nvPr/>
        </p:nvSpPr>
        <p:spPr>
          <a:xfrm>
            <a:off x="7534656" y="3808476"/>
            <a:ext cx="1371600" cy="274320"/>
          </a:xfrm>
          <a:prstGeom prst="rect">
            <a:avLst/>
          </a:prstGeom>
          <a:noFill/>
          <a:ln/>
        </p:spPr>
        <p:txBody>
          <a:bodyPr wrap="square" lIns="0" tIns="0" rIns="0" bIns="0" rtlCol="0" anchor="ctr"/>
          <a:lstStyle/>
          <a:p>
            <a:pPr algn="r" indent="0" marL="0">
              <a:buNone/>
            </a:pPr>
            <a:r>
              <a:rPr lang="en-US" sz="900" dirty="0">
                <a:solidFill>
                  <a:srgbClr val="8A94A6"/>
                </a:solidFill>
                <a:latin typeface="Trenda IG Text" pitchFamily="34" charset="0"/>
                <a:ea typeface="Trenda IG Text" pitchFamily="34" charset="-122"/>
                <a:cs typeface="Trenda IG Text" pitchFamily="34" charset="-120"/>
              </a:rPr>
              <a:t>7.9%</a:t>
            </a:r>
            <a:endParaRPr lang="en-US" sz="900" dirty="0"/>
          </a:p>
        </p:txBody>
      </p:sp>
      <p:sp>
        <p:nvSpPr>
          <p:cNvPr id="31" name="Text 28"/>
          <p:cNvSpPr txBox="1"/>
          <p:nvPr/>
        </p:nvSpPr>
        <p:spPr>
          <a:xfrm>
            <a:off x="8906256" y="3808476"/>
            <a:ext cx="1371600" cy="274320"/>
          </a:xfrm>
          <a:prstGeom prst="rect">
            <a:avLst/>
          </a:prstGeom>
          <a:noFill/>
          <a:ln/>
        </p:spPr>
        <p:txBody>
          <a:bodyPr wrap="square" lIns="0" tIns="0" rIns="0" bIns="0" rtlCol="0" anchor="ctr"/>
          <a:lstStyle/>
          <a:p>
            <a:pPr algn="r" indent="0" marL="0">
              <a:buNone/>
            </a:pPr>
            <a:r>
              <a:rPr lang="en-US" sz="900" b="1" dirty="0">
                <a:solidFill>
                  <a:srgbClr val="FFFFFF"/>
                </a:solidFill>
                <a:latin typeface="Trenda IG Text" pitchFamily="34" charset="0"/>
                <a:ea typeface="Trenda IG Text" pitchFamily="34" charset="-122"/>
                <a:cs typeface="Trenda IG Text" pitchFamily="34" charset="-120"/>
              </a:rPr>
              <a:t>5.1%</a:t>
            </a:r>
            <a:endParaRPr lang="en-US" sz="900" dirty="0"/>
          </a:p>
        </p:txBody>
      </p:sp>
      <p:sp>
        <p:nvSpPr>
          <p:cNvPr id="32" name="Shape 29"/>
          <p:cNvSpPr/>
          <p:nvPr/>
        </p:nvSpPr>
        <p:spPr>
          <a:xfrm>
            <a:off x="6949440" y="4229100"/>
            <a:ext cx="4498848" cy="420624"/>
          </a:xfrm>
          <a:prstGeom prst="roundRect">
            <a:avLst>
              <a:gd name="adj" fmla="val 8696"/>
            </a:avLst>
          </a:prstGeom>
          <a:solidFill>
            <a:srgbClr val="17222E"/>
          </a:solidFill>
          <a:ln w="12700">
            <a:solidFill>
              <a:srgbClr val="2A5468"/>
            </a:solidFill>
            <a:prstDash val="solid"/>
          </a:ln>
        </p:spPr>
      </p:sp>
      <p:sp>
        <p:nvSpPr>
          <p:cNvPr id="33" name="Text 30"/>
          <p:cNvSpPr txBox="1"/>
          <p:nvPr/>
        </p:nvSpPr>
        <p:spPr>
          <a:xfrm>
            <a:off x="7114032" y="4229100"/>
            <a:ext cx="4242816" cy="420624"/>
          </a:xfrm>
          <a:prstGeom prst="rect">
            <a:avLst/>
          </a:prstGeom>
          <a:noFill/>
          <a:ln/>
        </p:spPr>
        <p:txBody>
          <a:bodyPr wrap="square" lIns="0" tIns="0" rIns="0" bIns="0" rtlCol="0" anchor="ctr"/>
          <a:lstStyle/>
          <a:p>
            <a:pPr indent="0" marL="0">
              <a:buNone/>
            </a:pPr>
            <a:r>
              <a:rPr lang="en-US" sz="1300" b="1" dirty="0">
                <a:solidFill>
                  <a:srgbClr val="22D3EE"/>
                </a:solidFill>
                <a:latin typeface="Trenda IG Text" pitchFamily="34" charset="0"/>
                <a:ea typeface="Trenda IG Text" pitchFamily="34" charset="-122"/>
                <a:cs typeface="Trenda IG Text" pitchFamily="34" charset="-120"/>
              </a:rPr>
              <a:t>72%</a:t>
            </a:r>
            <a:pPr indent="0" marL="0">
              <a:buNone/>
            </a:pPr>
            <a:r>
              <a:rPr lang="en-US" sz="950" dirty="0">
                <a:solidFill>
                  <a:srgbClr val="E6EAF2"/>
                </a:solidFill>
                <a:latin typeface="Trenda IG Text" pitchFamily="34" charset="0"/>
                <a:ea typeface="Trenda IG Text" pitchFamily="34" charset="-122"/>
                <a:cs typeface="Trenda IG Text" pitchFamily="34" charset="-120"/>
              </a:rPr>
              <a:t>  of all handling effort sits in two queues</a:t>
            </a:r>
            <a:endParaRPr lang="en-US" sz="1300" dirty="0"/>
          </a:p>
        </p:txBody>
      </p:sp>
      <p:sp>
        <p:nvSpPr>
          <p:cNvPr id="34" name="Text 31"/>
          <p:cNvSpPr txBox="1"/>
          <p:nvPr/>
        </p:nvSpPr>
        <p:spPr>
          <a:xfrm>
            <a:off x="502920" y="6035040"/>
            <a:ext cx="10085832" cy="347472"/>
          </a:xfrm>
          <a:prstGeom prst="rect">
            <a:avLst/>
          </a:prstGeom>
          <a:noFill/>
          <a:ln/>
        </p:spPr>
        <p:txBody>
          <a:bodyPr wrap="square" lIns="0" tIns="0" rIns="0" bIns="0" rtlCol="0" anchor="t"/>
          <a:lstStyle/>
          <a:p>
            <a:pPr indent="0" marL="0">
              <a:lnSpc>
                <a:spcPts val="1000"/>
              </a:lnSpc>
              <a:buNone/>
            </a:pPr>
            <a:r>
              <a:rPr lang="en-US" sz="750" i="1" dirty="0">
                <a:solidFill>
                  <a:srgbClr val="8A94A6"/>
                </a:solidFill>
                <a:latin typeface="Trenda IG Text" pitchFamily="34" charset="0"/>
                <a:ea typeface="Trenda IG Text" pitchFamily="34" charset="-122"/>
                <a:cs typeface="Trenda IG Text" pitchFamily="34" charset="-120"/>
              </a:rPr>
              <a:t>Derived from the queue level volumes and average handling times in the Extended Care operations sample: 33,480 cases per month and 4,419 agent handling hours.</a:t>
            </a:r>
            <a:endParaRPr lang="en-US" sz="750" dirty="0"/>
          </a:p>
        </p:txBody>
      </p:sp>
      <p:pic>
        <p:nvPicPr>
          <p:cNvPr id="35" name="Image 0" descr="assets/ig-mark.png">    </p:cNvPr>
          <p:cNvPicPr>
            <a:picLocks noChangeAspect="1"/>
          </p:cNvPicPr>
          <p:nvPr/>
        </p:nvPicPr>
        <p:blipFill>
          <a:blip r:embed="rId2"/>
          <a:stretch>
            <a:fillRect/>
          </a:stretch>
        </p:blipFill>
        <p:spPr>
          <a:xfrm>
            <a:off x="502920" y="6455664"/>
            <a:ext cx="420624" cy="144475"/>
          </a:xfrm>
          <a:prstGeom prst="rect">
            <a:avLst/>
          </a:prstGeom>
        </p:spPr>
      </p:pic>
      <p:sp>
        <p:nvSpPr>
          <p:cNvPr id="36" name="Text 32"/>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THE MODEL</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FOUR DOORS, AND THE JOB IS TO MOVE VOLUME LEFT</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Every inbound email is sorted into one of four routes within a minute of arriving. Each door costs a different amount to serve, and the design intent is to keep shifting volume toward the cheap ones.</a:t>
            </a:r>
            <a:endParaRPr lang="en-US" sz="1150" dirty="0"/>
          </a:p>
        </p:txBody>
      </p:sp>
      <p:sp>
        <p:nvSpPr>
          <p:cNvPr id="5" name="Shape 3"/>
          <p:cNvSpPr/>
          <p:nvPr/>
        </p:nvSpPr>
        <p:spPr>
          <a:xfrm>
            <a:off x="502920" y="1796796"/>
            <a:ext cx="2658618" cy="2907792"/>
          </a:xfrm>
          <a:prstGeom prst="roundRect">
            <a:avLst>
              <a:gd name="adj" fmla="val 1376"/>
            </a:avLst>
          </a:prstGeom>
          <a:solidFill>
            <a:srgbClr val="151A24"/>
          </a:solidFill>
          <a:ln w="12700">
            <a:solidFill>
              <a:srgbClr val="252D3D"/>
            </a:solidFill>
            <a:prstDash val="solid"/>
          </a:ln>
        </p:spPr>
      </p:sp>
      <p:sp>
        <p:nvSpPr>
          <p:cNvPr id="6" name="Shape 4"/>
          <p:cNvSpPr/>
          <p:nvPr/>
        </p:nvSpPr>
        <p:spPr>
          <a:xfrm>
            <a:off x="704088" y="1997964"/>
            <a:ext cx="365760" cy="274320"/>
          </a:xfrm>
          <a:prstGeom prst="roundRect">
            <a:avLst>
              <a:gd name="adj" fmla="val 16667"/>
            </a:avLst>
          </a:prstGeom>
          <a:solidFill>
            <a:srgbClr val="3987E5"/>
          </a:solidFill>
          <a:ln w="12700">
            <a:solidFill>
              <a:srgbClr val="3987E5"/>
            </a:solidFill>
            <a:prstDash val="solid"/>
          </a:ln>
        </p:spPr>
      </p:sp>
      <p:sp>
        <p:nvSpPr>
          <p:cNvPr id="7" name="Text 5"/>
          <p:cNvSpPr txBox="1"/>
          <p:nvPr/>
        </p:nvSpPr>
        <p:spPr>
          <a:xfrm>
            <a:off x="704088" y="1997964"/>
            <a:ext cx="365760" cy="274320"/>
          </a:xfrm>
          <a:prstGeom prst="rect">
            <a:avLst/>
          </a:prstGeom>
          <a:noFill/>
          <a:ln/>
        </p:spPr>
        <p:txBody>
          <a:bodyPr wrap="square" lIns="0" tIns="0" rIns="0" bIns="0" rtlCol="0" anchor="ctr"/>
          <a:lstStyle/>
          <a:p>
            <a:pPr algn="ctr" indent="0" marL="0">
              <a:buNone/>
            </a:pPr>
            <a:r>
              <a:rPr lang="en-US" sz="1100" b="1" dirty="0">
                <a:solidFill>
                  <a:srgbClr val="0A0D14"/>
                </a:solidFill>
                <a:latin typeface="Trenda IG Text" pitchFamily="34" charset="0"/>
                <a:ea typeface="Trenda IG Text" pitchFamily="34" charset="-122"/>
                <a:cs typeface="Trenda IG Text" pitchFamily="34" charset="-120"/>
              </a:rPr>
              <a:t>01</a:t>
            </a:r>
            <a:endParaRPr lang="en-US" sz="1100" dirty="0"/>
          </a:p>
        </p:txBody>
      </p:sp>
      <p:sp>
        <p:nvSpPr>
          <p:cNvPr id="8" name="Text 6"/>
          <p:cNvSpPr txBox="1"/>
          <p:nvPr/>
        </p:nvSpPr>
        <p:spPr>
          <a:xfrm>
            <a:off x="1143000" y="1997964"/>
            <a:ext cx="1817370" cy="274320"/>
          </a:xfrm>
          <a:prstGeom prst="rect">
            <a:avLst/>
          </a:prstGeom>
          <a:noFill/>
          <a:ln/>
        </p:spPr>
        <p:txBody>
          <a:bodyPr wrap="square" lIns="0" tIns="0" rIns="0" bIns="0" rtlCol="0" anchor="ctr"/>
          <a:lstStyle/>
          <a:p>
            <a:pPr indent="0" marL="0">
              <a:buNone/>
            </a:pPr>
            <a:r>
              <a:rPr lang="en-US" sz="1300" b="1" dirty="0">
                <a:solidFill>
                  <a:srgbClr val="FFFFFF"/>
                </a:solidFill>
                <a:latin typeface="Trenda IG Text" pitchFamily="34" charset="0"/>
                <a:ea typeface="Trenda IG Text" pitchFamily="34" charset="-122"/>
                <a:cs typeface="Trenda IG Text" pitchFamily="34" charset="-120"/>
              </a:rPr>
              <a:t>Never arrives</a:t>
            </a:r>
            <a:endParaRPr lang="en-US" sz="1300" dirty="0"/>
          </a:p>
        </p:txBody>
      </p:sp>
      <p:sp>
        <p:nvSpPr>
          <p:cNvPr id="9" name="Text 7"/>
          <p:cNvSpPr txBox="1"/>
          <p:nvPr/>
        </p:nvSpPr>
        <p:spPr>
          <a:xfrm>
            <a:off x="704088" y="2363724"/>
            <a:ext cx="2256282" cy="566928"/>
          </a:xfrm>
          <a:prstGeom prst="rect">
            <a:avLst/>
          </a:prstGeom>
          <a:noFill/>
          <a:ln/>
        </p:spPr>
        <p:txBody>
          <a:bodyPr wrap="square" lIns="0" tIns="0" rIns="0" bIns="0" rtlCol="0" anchor="t"/>
          <a:lstStyle/>
          <a:p>
            <a:pPr indent="0" marL="0">
              <a:lnSpc>
                <a:spcPts val="1250"/>
              </a:lnSpc>
              <a:buNone/>
            </a:pPr>
            <a:r>
              <a:rPr lang="en-US" sz="950" dirty="0">
                <a:solidFill>
                  <a:srgbClr val="E6EAF2"/>
                </a:solidFill>
                <a:latin typeface="Trenda IG Text" pitchFamily="34" charset="0"/>
                <a:ea typeface="Trenda IG Text" pitchFamily="34" charset="-122"/>
                <a:cs typeface="Trenda IG Text" pitchFamily="34" charset="-120"/>
              </a:rPr>
              <a:t>The case is not created, because the demand behind it was removed.</a:t>
            </a:r>
            <a:endParaRPr lang="en-US" sz="950" dirty="0"/>
          </a:p>
        </p:txBody>
      </p:sp>
      <p:sp>
        <p:nvSpPr>
          <p:cNvPr id="10" name="Text 8"/>
          <p:cNvSpPr txBox="1"/>
          <p:nvPr/>
        </p:nvSpPr>
        <p:spPr>
          <a:xfrm>
            <a:off x="704088" y="2985516"/>
            <a:ext cx="2256282" cy="164592"/>
          </a:xfrm>
          <a:prstGeom prst="rect">
            <a:avLst/>
          </a:prstGeom>
          <a:noFill/>
          <a:ln/>
        </p:spPr>
        <p:txBody>
          <a:bodyPr wrap="square" lIns="0" tIns="0" rIns="0" bIns="0" rtlCol="0" anchor="ctr"/>
          <a:lstStyle/>
          <a:p>
            <a:pPr indent="0" marL="0">
              <a:buNone/>
            </a:pPr>
            <a:r>
              <a:rPr lang="en-US" sz="750" b="1" spc="140" kern="0" dirty="0">
                <a:solidFill>
                  <a:srgbClr val="8A94A6"/>
                </a:solidFill>
                <a:latin typeface="Trenda IG Display" pitchFamily="34" charset="0"/>
                <a:ea typeface="Trenda IG Display" pitchFamily="34" charset="-122"/>
                <a:cs typeface="Trenda IG Display" pitchFamily="34" charset="-120"/>
              </a:rPr>
              <a:t>TYPICAL CASES</a:t>
            </a:r>
            <a:endParaRPr lang="en-US" sz="750" dirty="0"/>
          </a:p>
        </p:txBody>
      </p:sp>
      <p:sp>
        <p:nvSpPr>
          <p:cNvPr id="11" name="Text 9"/>
          <p:cNvSpPr txBox="1"/>
          <p:nvPr/>
        </p:nvSpPr>
        <p:spPr>
          <a:xfrm>
            <a:off x="704088" y="3204972"/>
            <a:ext cx="2256282" cy="969264"/>
          </a:xfrm>
          <a:prstGeom prst="rect">
            <a:avLst/>
          </a:prstGeom>
          <a:noFill/>
          <a:ln/>
        </p:spPr>
        <p:txBody>
          <a:bodyPr wrap="square" lIns="0" tIns="0" rIns="0" bIns="0" rtlCol="0" anchor="t"/>
          <a:lstStyle/>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Recurring drivers designed out at source</a:t>
            </a:r>
            <a:endParaRPr lang="en-US" sz="850" dirty="0"/>
          </a:p>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Self service answers published to the customer</a:t>
            </a:r>
            <a:endParaRPr lang="en-US" sz="850" dirty="0"/>
          </a:p>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Proactive notification before the customer asks</a:t>
            </a:r>
            <a:endParaRPr lang="en-US" sz="850" dirty="0"/>
          </a:p>
        </p:txBody>
      </p:sp>
      <p:sp>
        <p:nvSpPr>
          <p:cNvPr id="12" name="Shape 10"/>
          <p:cNvSpPr/>
          <p:nvPr/>
        </p:nvSpPr>
        <p:spPr>
          <a:xfrm>
            <a:off x="704088" y="4265676"/>
            <a:ext cx="2256282" cy="0"/>
          </a:xfrm>
          <a:prstGeom prst="line">
            <a:avLst/>
          </a:prstGeom>
          <a:noFill/>
          <a:ln w="12700">
            <a:solidFill>
              <a:srgbClr val="252D3D"/>
            </a:solidFill>
            <a:prstDash val="solid"/>
          </a:ln>
        </p:spPr>
      </p:sp>
      <p:sp>
        <p:nvSpPr>
          <p:cNvPr id="13" name="Text 11"/>
          <p:cNvSpPr txBox="1"/>
          <p:nvPr/>
        </p:nvSpPr>
        <p:spPr>
          <a:xfrm>
            <a:off x="704088" y="4338828"/>
            <a:ext cx="2256282" cy="256032"/>
          </a:xfrm>
          <a:prstGeom prst="rect">
            <a:avLst/>
          </a:prstGeom>
          <a:noFill/>
          <a:ln/>
        </p:spPr>
        <p:txBody>
          <a:bodyPr wrap="square" lIns="0" tIns="0" rIns="0" bIns="0" rtlCol="0" anchor="ctr"/>
          <a:lstStyle/>
          <a:p>
            <a:pPr indent="0" marL="0">
              <a:buNone/>
            </a:pPr>
            <a:r>
              <a:rPr lang="en-US" sz="900" b="1" dirty="0">
                <a:solidFill>
                  <a:srgbClr val="3987E5"/>
                </a:solidFill>
                <a:latin typeface="Trenda IG Text" pitchFamily="34" charset="0"/>
                <a:ea typeface="Trenda IG Text" pitchFamily="34" charset="-122"/>
                <a:cs typeface="Trenda IG Text" pitchFamily="34" charset="-120"/>
              </a:rPr>
              <a:t>Zero agent minutes</a:t>
            </a:r>
            <a:endParaRPr lang="en-US" sz="900" dirty="0"/>
          </a:p>
        </p:txBody>
      </p:sp>
      <p:sp>
        <p:nvSpPr>
          <p:cNvPr id="14" name="Shape 12"/>
          <p:cNvSpPr/>
          <p:nvPr/>
        </p:nvSpPr>
        <p:spPr>
          <a:xfrm>
            <a:off x="3179826" y="3168396"/>
            <a:ext cx="146304" cy="128016"/>
          </a:xfrm>
          <a:prstGeom prst="rightArrow">
            <a:avLst/>
          </a:prstGeom>
          <a:solidFill>
            <a:srgbClr val="3A4459"/>
          </a:solidFill>
          <a:ln w="12700">
            <a:solidFill>
              <a:srgbClr val="3A4459"/>
            </a:solidFill>
            <a:prstDash val="solid"/>
          </a:ln>
        </p:spPr>
      </p:sp>
      <p:sp>
        <p:nvSpPr>
          <p:cNvPr id="15" name="Shape 13"/>
          <p:cNvSpPr/>
          <p:nvPr/>
        </p:nvSpPr>
        <p:spPr>
          <a:xfrm>
            <a:off x="3344418" y="1796796"/>
            <a:ext cx="2658618" cy="2907792"/>
          </a:xfrm>
          <a:prstGeom prst="roundRect">
            <a:avLst>
              <a:gd name="adj" fmla="val 1376"/>
            </a:avLst>
          </a:prstGeom>
          <a:solidFill>
            <a:srgbClr val="151A24"/>
          </a:solidFill>
          <a:ln w="12700">
            <a:solidFill>
              <a:srgbClr val="252D3D"/>
            </a:solidFill>
            <a:prstDash val="solid"/>
          </a:ln>
        </p:spPr>
      </p:sp>
      <p:sp>
        <p:nvSpPr>
          <p:cNvPr id="16" name="Shape 14"/>
          <p:cNvSpPr/>
          <p:nvPr/>
        </p:nvSpPr>
        <p:spPr>
          <a:xfrm>
            <a:off x="3545586" y="1997964"/>
            <a:ext cx="365760" cy="274320"/>
          </a:xfrm>
          <a:prstGeom prst="roundRect">
            <a:avLst>
              <a:gd name="adj" fmla="val 16667"/>
            </a:avLst>
          </a:prstGeom>
          <a:solidFill>
            <a:srgbClr val="D95926"/>
          </a:solidFill>
          <a:ln w="12700">
            <a:solidFill>
              <a:srgbClr val="D95926"/>
            </a:solidFill>
            <a:prstDash val="solid"/>
          </a:ln>
        </p:spPr>
      </p:sp>
      <p:sp>
        <p:nvSpPr>
          <p:cNvPr id="17" name="Text 15"/>
          <p:cNvSpPr txBox="1"/>
          <p:nvPr/>
        </p:nvSpPr>
        <p:spPr>
          <a:xfrm>
            <a:off x="3545586" y="1997964"/>
            <a:ext cx="365760" cy="274320"/>
          </a:xfrm>
          <a:prstGeom prst="rect">
            <a:avLst/>
          </a:prstGeom>
          <a:noFill/>
          <a:ln/>
        </p:spPr>
        <p:txBody>
          <a:bodyPr wrap="square" lIns="0" tIns="0" rIns="0" bIns="0" rtlCol="0" anchor="ctr"/>
          <a:lstStyle/>
          <a:p>
            <a:pPr algn="ctr" indent="0" marL="0">
              <a:buNone/>
            </a:pPr>
            <a:r>
              <a:rPr lang="en-US" sz="1100" b="1" dirty="0">
                <a:solidFill>
                  <a:srgbClr val="0A0D14"/>
                </a:solidFill>
                <a:latin typeface="Trenda IG Text" pitchFamily="34" charset="0"/>
                <a:ea typeface="Trenda IG Text" pitchFamily="34" charset="-122"/>
                <a:cs typeface="Trenda IG Text" pitchFamily="34" charset="-120"/>
              </a:rPr>
              <a:t>02</a:t>
            </a:r>
            <a:endParaRPr lang="en-US" sz="1100" dirty="0"/>
          </a:p>
        </p:txBody>
      </p:sp>
      <p:sp>
        <p:nvSpPr>
          <p:cNvPr id="18" name="Text 16"/>
          <p:cNvSpPr txBox="1"/>
          <p:nvPr/>
        </p:nvSpPr>
        <p:spPr>
          <a:xfrm>
            <a:off x="3984498" y="1997964"/>
            <a:ext cx="1817370" cy="274320"/>
          </a:xfrm>
          <a:prstGeom prst="rect">
            <a:avLst/>
          </a:prstGeom>
          <a:noFill/>
          <a:ln/>
        </p:spPr>
        <p:txBody>
          <a:bodyPr wrap="square" lIns="0" tIns="0" rIns="0" bIns="0" rtlCol="0" anchor="ctr"/>
          <a:lstStyle/>
          <a:p>
            <a:pPr indent="0" marL="0">
              <a:buNone/>
            </a:pPr>
            <a:r>
              <a:rPr lang="en-US" sz="1300" b="1" dirty="0">
                <a:solidFill>
                  <a:srgbClr val="FFFFFF"/>
                </a:solidFill>
                <a:latin typeface="Trenda IG Text" pitchFamily="34" charset="0"/>
                <a:ea typeface="Trenda IG Text" pitchFamily="34" charset="-122"/>
                <a:cs typeface="Trenda IG Text" pitchFamily="34" charset="-120"/>
              </a:rPr>
              <a:t>Resolves itself</a:t>
            </a:r>
            <a:endParaRPr lang="en-US" sz="1300" dirty="0"/>
          </a:p>
        </p:txBody>
      </p:sp>
      <p:sp>
        <p:nvSpPr>
          <p:cNvPr id="19" name="Text 17"/>
          <p:cNvSpPr txBox="1"/>
          <p:nvPr/>
        </p:nvSpPr>
        <p:spPr>
          <a:xfrm>
            <a:off x="3545586" y="2363724"/>
            <a:ext cx="2256282" cy="566928"/>
          </a:xfrm>
          <a:prstGeom prst="rect">
            <a:avLst/>
          </a:prstGeom>
          <a:noFill/>
          <a:ln/>
        </p:spPr>
        <p:txBody>
          <a:bodyPr wrap="square" lIns="0" tIns="0" rIns="0" bIns="0" rtlCol="0" anchor="t"/>
          <a:lstStyle/>
          <a:p>
            <a:pPr indent="0" marL="0">
              <a:lnSpc>
                <a:spcPts val="1250"/>
              </a:lnSpc>
              <a:buNone/>
            </a:pPr>
            <a:r>
              <a:rPr lang="en-US" sz="950" dirty="0">
                <a:solidFill>
                  <a:srgbClr val="E6EAF2"/>
                </a:solidFill>
                <a:latin typeface="Trenda IG Text" pitchFamily="34" charset="0"/>
                <a:ea typeface="Trenda IG Text" pitchFamily="34" charset="-122"/>
                <a:cs typeface="Trenda IG Text" pitchFamily="34" charset="-120"/>
              </a:rPr>
              <a:t>A deterministic case is answered end to end with no agent involved.</a:t>
            </a:r>
            <a:endParaRPr lang="en-US" sz="950" dirty="0"/>
          </a:p>
        </p:txBody>
      </p:sp>
      <p:sp>
        <p:nvSpPr>
          <p:cNvPr id="20" name="Text 18"/>
          <p:cNvSpPr txBox="1"/>
          <p:nvPr/>
        </p:nvSpPr>
        <p:spPr>
          <a:xfrm>
            <a:off x="3545586" y="2985516"/>
            <a:ext cx="2256282" cy="164592"/>
          </a:xfrm>
          <a:prstGeom prst="rect">
            <a:avLst/>
          </a:prstGeom>
          <a:noFill/>
          <a:ln/>
        </p:spPr>
        <p:txBody>
          <a:bodyPr wrap="square" lIns="0" tIns="0" rIns="0" bIns="0" rtlCol="0" anchor="ctr"/>
          <a:lstStyle/>
          <a:p>
            <a:pPr indent="0" marL="0">
              <a:buNone/>
            </a:pPr>
            <a:r>
              <a:rPr lang="en-US" sz="750" b="1" spc="140" kern="0" dirty="0">
                <a:solidFill>
                  <a:srgbClr val="8A94A6"/>
                </a:solidFill>
                <a:latin typeface="Trenda IG Display" pitchFamily="34" charset="0"/>
                <a:ea typeface="Trenda IG Display" pitchFamily="34" charset="-122"/>
                <a:cs typeface="Trenda IG Display" pitchFamily="34" charset="-120"/>
              </a:rPr>
              <a:t>TYPICAL CASES</a:t>
            </a:r>
            <a:endParaRPr lang="en-US" sz="750" dirty="0"/>
          </a:p>
        </p:txBody>
      </p:sp>
      <p:sp>
        <p:nvSpPr>
          <p:cNvPr id="21" name="Text 19"/>
          <p:cNvSpPr txBox="1"/>
          <p:nvPr/>
        </p:nvSpPr>
        <p:spPr>
          <a:xfrm>
            <a:off x="3545586" y="3204972"/>
            <a:ext cx="2256282" cy="969264"/>
          </a:xfrm>
          <a:prstGeom prst="rect">
            <a:avLst/>
          </a:prstGeom>
          <a:noFill/>
          <a:ln/>
        </p:spPr>
        <p:txBody>
          <a:bodyPr wrap="square" lIns="0" tIns="0" rIns="0" bIns="0" rtlCol="0" anchor="t"/>
          <a:lstStyle/>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Order status, tracking and proof of delivery</a:t>
            </a:r>
            <a:endParaRPr lang="en-US" sz="850" dirty="0"/>
          </a:p>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Published availability and backorder positions</a:t>
            </a:r>
            <a:endParaRPr lang="en-US" sz="850" dirty="0"/>
          </a:p>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Statement, invoice and document requests</a:t>
            </a:r>
            <a:endParaRPr lang="en-US" sz="850" dirty="0"/>
          </a:p>
        </p:txBody>
      </p:sp>
      <p:sp>
        <p:nvSpPr>
          <p:cNvPr id="22" name="Shape 20"/>
          <p:cNvSpPr/>
          <p:nvPr/>
        </p:nvSpPr>
        <p:spPr>
          <a:xfrm>
            <a:off x="3545586" y="4265676"/>
            <a:ext cx="2256282" cy="0"/>
          </a:xfrm>
          <a:prstGeom prst="line">
            <a:avLst/>
          </a:prstGeom>
          <a:noFill/>
          <a:ln w="12700">
            <a:solidFill>
              <a:srgbClr val="252D3D"/>
            </a:solidFill>
            <a:prstDash val="solid"/>
          </a:ln>
        </p:spPr>
      </p:sp>
      <p:sp>
        <p:nvSpPr>
          <p:cNvPr id="23" name="Text 21"/>
          <p:cNvSpPr txBox="1"/>
          <p:nvPr/>
        </p:nvSpPr>
        <p:spPr>
          <a:xfrm>
            <a:off x="3545586" y="4338828"/>
            <a:ext cx="2256282" cy="256032"/>
          </a:xfrm>
          <a:prstGeom prst="rect">
            <a:avLst/>
          </a:prstGeom>
          <a:noFill/>
          <a:ln/>
        </p:spPr>
        <p:txBody>
          <a:bodyPr wrap="square" lIns="0" tIns="0" rIns="0" bIns="0" rtlCol="0" anchor="ctr"/>
          <a:lstStyle/>
          <a:p>
            <a:pPr indent="0" marL="0">
              <a:buNone/>
            </a:pPr>
            <a:r>
              <a:rPr lang="en-US" sz="900" b="1" dirty="0">
                <a:solidFill>
                  <a:srgbClr val="D95926"/>
                </a:solidFill>
                <a:latin typeface="Trenda IG Text" pitchFamily="34" charset="0"/>
                <a:ea typeface="Trenda IG Text" pitchFamily="34" charset="-122"/>
                <a:cs typeface="Trenda IG Text" pitchFamily="34" charset="-120"/>
              </a:rPr>
              <a:t>Quality sample only</a:t>
            </a:r>
            <a:endParaRPr lang="en-US" sz="900" dirty="0"/>
          </a:p>
        </p:txBody>
      </p:sp>
      <p:sp>
        <p:nvSpPr>
          <p:cNvPr id="24" name="Shape 22"/>
          <p:cNvSpPr/>
          <p:nvPr/>
        </p:nvSpPr>
        <p:spPr>
          <a:xfrm>
            <a:off x="6021324" y="3168396"/>
            <a:ext cx="146304" cy="128016"/>
          </a:xfrm>
          <a:prstGeom prst="rightArrow">
            <a:avLst/>
          </a:prstGeom>
          <a:solidFill>
            <a:srgbClr val="3A4459"/>
          </a:solidFill>
          <a:ln w="12700">
            <a:solidFill>
              <a:srgbClr val="3A4459"/>
            </a:solidFill>
            <a:prstDash val="solid"/>
          </a:ln>
        </p:spPr>
      </p:sp>
      <p:sp>
        <p:nvSpPr>
          <p:cNvPr id="25" name="Shape 23"/>
          <p:cNvSpPr/>
          <p:nvPr/>
        </p:nvSpPr>
        <p:spPr>
          <a:xfrm>
            <a:off x="6185916" y="1796796"/>
            <a:ext cx="2658618" cy="2907792"/>
          </a:xfrm>
          <a:prstGeom prst="roundRect">
            <a:avLst>
              <a:gd name="adj" fmla="val 1376"/>
            </a:avLst>
          </a:prstGeom>
          <a:solidFill>
            <a:srgbClr val="151A24"/>
          </a:solidFill>
          <a:ln w="12700">
            <a:solidFill>
              <a:srgbClr val="252D3D"/>
            </a:solidFill>
            <a:prstDash val="solid"/>
          </a:ln>
        </p:spPr>
      </p:sp>
      <p:sp>
        <p:nvSpPr>
          <p:cNvPr id="26" name="Shape 24"/>
          <p:cNvSpPr/>
          <p:nvPr/>
        </p:nvSpPr>
        <p:spPr>
          <a:xfrm>
            <a:off x="6387084" y="1997964"/>
            <a:ext cx="365760" cy="274320"/>
          </a:xfrm>
          <a:prstGeom prst="roundRect">
            <a:avLst>
              <a:gd name="adj" fmla="val 16667"/>
            </a:avLst>
          </a:prstGeom>
          <a:solidFill>
            <a:srgbClr val="199E70"/>
          </a:solidFill>
          <a:ln w="12700">
            <a:solidFill>
              <a:srgbClr val="199E70"/>
            </a:solidFill>
            <a:prstDash val="solid"/>
          </a:ln>
        </p:spPr>
      </p:sp>
      <p:sp>
        <p:nvSpPr>
          <p:cNvPr id="27" name="Text 25"/>
          <p:cNvSpPr txBox="1"/>
          <p:nvPr/>
        </p:nvSpPr>
        <p:spPr>
          <a:xfrm>
            <a:off x="6387084" y="1997964"/>
            <a:ext cx="365760" cy="274320"/>
          </a:xfrm>
          <a:prstGeom prst="rect">
            <a:avLst/>
          </a:prstGeom>
          <a:noFill/>
          <a:ln/>
        </p:spPr>
        <p:txBody>
          <a:bodyPr wrap="square" lIns="0" tIns="0" rIns="0" bIns="0" rtlCol="0" anchor="ctr"/>
          <a:lstStyle/>
          <a:p>
            <a:pPr algn="ctr" indent="0" marL="0">
              <a:buNone/>
            </a:pPr>
            <a:r>
              <a:rPr lang="en-US" sz="1100" b="1" dirty="0">
                <a:solidFill>
                  <a:srgbClr val="0A0D14"/>
                </a:solidFill>
                <a:latin typeface="Trenda IG Text" pitchFamily="34" charset="0"/>
                <a:ea typeface="Trenda IG Text" pitchFamily="34" charset="-122"/>
                <a:cs typeface="Trenda IG Text" pitchFamily="34" charset="-120"/>
              </a:rPr>
              <a:t>03</a:t>
            </a:r>
            <a:endParaRPr lang="en-US" sz="1100" dirty="0"/>
          </a:p>
        </p:txBody>
      </p:sp>
      <p:sp>
        <p:nvSpPr>
          <p:cNvPr id="28" name="Text 26"/>
          <p:cNvSpPr txBox="1"/>
          <p:nvPr/>
        </p:nvSpPr>
        <p:spPr>
          <a:xfrm>
            <a:off x="6825996" y="1997964"/>
            <a:ext cx="1817370" cy="274320"/>
          </a:xfrm>
          <a:prstGeom prst="rect">
            <a:avLst/>
          </a:prstGeom>
          <a:noFill/>
          <a:ln/>
        </p:spPr>
        <p:txBody>
          <a:bodyPr wrap="square" lIns="0" tIns="0" rIns="0" bIns="0" rtlCol="0" anchor="ctr"/>
          <a:lstStyle/>
          <a:p>
            <a:pPr indent="0" marL="0">
              <a:buNone/>
            </a:pPr>
            <a:r>
              <a:rPr lang="en-US" sz="1300" b="1" dirty="0">
                <a:solidFill>
                  <a:srgbClr val="FFFFFF"/>
                </a:solidFill>
                <a:latin typeface="Trenda IG Text" pitchFamily="34" charset="0"/>
                <a:ea typeface="Trenda IG Text" pitchFamily="34" charset="-122"/>
                <a:cs typeface="Trenda IG Text" pitchFamily="34" charset="-120"/>
              </a:rPr>
              <a:t>One touch</a:t>
            </a:r>
            <a:endParaRPr lang="en-US" sz="1300" dirty="0"/>
          </a:p>
        </p:txBody>
      </p:sp>
      <p:sp>
        <p:nvSpPr>
          <p:cNvPr id="29" name="Text 27"/>
          <p:cNvSpPr txBox="1"/>
          <p:nvPr/>
        </p:nvSpPr>
        <p:spPr>
          <a:xfrm>
            <a:off x="6387084" y="2363724"/>
            <a:ext cx="2256282" cy="566928"/>
          </a:xfrm>
          <a:prstGeom prst="rect">
            <a:avLst/>
          </a:prstGeom>
          <a:noFill/>
          <a:ln/>
        </p:spPr>
        <p:txBody>
          <a:bodyPr wrap="square" lIns="0" tIns="0" rIns="0" bIns="0" rtlCol="0" anchor="t"/>
          <a:lstStyle/>
          <a:p>
            <a:pPr indent="0" marL="0">
              <a:lnSpc>
                <a:spcPts val="1250"/>
              </a:lnSpc>
              <a:buNone/>
            </a:pPr>
            <a:r>
              <a:rPr lang="en-US" sz="950" dirty="0">
                <a:solidFill>
                  <a:srgbClr val="E6EAF2"/>
                </a:solidFill>
                <a:latin typeface="Trenda IG Text" pitchFamily="34" charset="0"/>
                <a:ea typeface="Trenda IG Text" pitchFamily="34" charset="-122"/>
                <a:cs typeface="Trenda IG Text" pitchFamily="34" charset="-120"/>
              </a:rPr>
              <a:t>The case arrives pre-resolved. The agent checks it, approves and sends.</a:t>
            </a:r>
            <a:endParaRPr lang="en-US" sz="950" dirty="0"/>
          </a:p>
        </p:txBody>
      </p:sp>
      <p:sp>
        <p:nvSpPr>
          <p:cNvPr id="30" name="Text 28"/>
          <p:cNvSpPr txBox="1"/>
          <p:nvPr/>
        </p:nvSpPr>
        <p:spPr>
          <a:xfrm>
            <a:off x="6387084" y="2985516"/>
            <a:ext cx="2256282" cy="164592"/>
          </a:xfrm>
          <a:prstGeom prst="rect">
            <a:avLst/>
          </a:prstGeom>
          <a:noFill/>
          <a:ln/>
        </p:spPr>
        <p:txBody>
          <a:bodyPr wrap="square" lIns="0" tIns="0" rIns="0" bIns="0" rtlCol="0" anchor="ctr"/>
          <a:lstStyle/>
          <a:p>
            <a:pPr indent="0" marL="0">
              <a:buNone/>
            </a:pPr>
            <a:r>
              <a:rPr lang="en-US" sz="750" b="1" spc="140" kern="0" dirty="0">
                <a:solidFill>
                  <a:srgbClr val="8A94A6"/>
                </a:solidFill>
                <a:latin typeface="Trenda IG Display" pitchFamily="34" charset="0"/>
                <a:ea typeface="Trenda IG Display" pitchFamily="34" charset="-122"/>
                <a:cs typeface="Trenda IG Display" pitchFamily="34" charset="-120"/>
              </a:rPr>
              <a:t>TYPICAL CASES</a:t>
            </a:r>
            <a:endParaRPr lang="en-US" sz="750" dirty="0"/>
          </a:p>
        </p:txBody>
      </p:sp>
      <p:sp>
        <p:nvSpPr>
          <p:cNvPr id="31" name="Text 29"/>
          <p:cNvSpPr txBox="1"/>
          <p:nvPr/>
        </p:nvSpPr>
        <p:spPr>
          <a:xfrm>
            <a:off x="6387084" y="3204972"/>
            <a:ext cx="2256282" cy="969264"/>
          </a:xfrm>
          <a:prstGeom prst="rect">
            <a:avLst/>
          </a:prstGeom>
          <a:noFill/>
          <a:ln/>
        </p:spPr>
        <p:txBody>
          <a:bodyPr wrap="square" lIns="0" tIns="0" rIns="0" bIns="0" rtlCol="0" anchor="t"/>
          <a:lstStyle/>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Clean order placement and modification</a:t>
            </a:r>
            <a:endParaRPr lang="en-US" sz="850" dirty="0"/>
          </a:p>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Routine account and billing questions</a:t>
            </a:r>
            <a:endParaRPr lang="en-US" sz="850" dirty="0"/>
          </a:p>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The evidenced credit recommendation</a:t>
            </a:r>
            <a:endParaRPr lang="en-US" sz="850" dirty="0"/>
          </a:p>
        </p:txBody>
      </p:sp>
      <p:sp>
        <p:nvSpPr>
          <p:cNvPr id="32" name="Shape 30"/>
          <p:cNvSpPr/>
          <p:nvPr/>
        </p:nvSpPr>
        <p:spPr>
          <a:xfrm>
            <a:off x="6387084" y="4265676"/>
            <a:ext cx="2256282" cy="0"/>
          </a:xfrm>
          <a:prstGeom prst="line">
            <a:avLst/>
          </a:prstGeom>
          <a:noFill/>
          <a:ln w="12700">
            <a:solidFill>
              <a:srgbClr val="252D3D"/>
            </a:solidFill>
            <a:prstDash val="solid"/>
          </a:ln>
        </p:spPr>
      </p:sp>
      <p:sp>
        <p:nvSpPr>
          <p:cNvPr id="33" name="Text 31"/>
          <p:cNvSpPr txBox="1"/>
          <p:nvPr/>
        </p:nvSpPr>
        <p:spPr>
          <a:xfrm>
            <a:off x="6387084" y="4338828"/>
            <a:ext cx="2256282" cy="256032"/>
          </a:xfrm>
          <a:prstGeom prst="rect">
            <a:avLst/>
          </a:prstGeom>
          <a:noFill/>
          <a:ln/>
        </p:spPr>
        <p:txBody>
          <a:bodyPr wrap="square" lIns="0" tIns="0" rIns="0" bIns="0" rtlCol="0" anchor="ctr"/>
          <a:lstStyle/>
          <a:p>
            <a:pPr indent="0" marL="0">
              <a:buNone/>
            </a:pPr>
            <a:r>
              <a:rPr lang="en-US" sz="900" b="1" dirty="0">
                <a:solidFill>
                  <a:srgbClr val="199E70"/>
                </a:solidFill>
                <a:latin typeface="Trenda IG Text" pitchFamily="34" charset="0"/>
                <a:ea typeface="Trenda IG Text" pitchFamily="34" charset="-122"/>
                <a:cs typeface="Trenda IG Text" pitchFamily="34" charset="-120"/>
              </a:rPr>
              <a:t>About 30 percent less time</a:t>
            </a:r>
            <a:endParaRPr lang="en-US" sz="900" dirty="0"/>
          </a:p>
        </p:txBody>
      </p:sp>
      <p:sp>
        <p:nvSpPr>
          <p:cNvPr id="34" name="Shape 32"/>
          <p:cNvSpPr/>
          <p:nvPr/>
        </p:nvSpPr>
        <p:spPr>
          <a:xfrm>
            <a:off x="8862822" y="3168396"/>
            <a:ext cx="146304" cy="128016"/>
          </a:xfrm>
          <a:prstGeom prst="rightArrow">
            <a:avLst/>
          </a:prstGeom>
          <a:solidFill>
            <a:srgbClr val="3A4459"/>
          </a:solidFill>
          <a:ln w="12700">
            <a:solidFill>
              <a:srgbClr val="3A4459"/>
            </a:solidFill>
            <a:prstDash val="solid"/>
          </a:ln>
        </p:spPr>
      </p:sp>
      <p:sp>
        <p:nvSpPr>
          <p:cNvPr id="35" name="Shape 33"/>
          <p:cNvSpPr/>
          <p:nvPr/>
        </p:nvSpPr>
        <p:spPr>
          <a:xfrm>
            <a:off x="9027414" y="1796796"/>
            <a:ext cx="2658618" cy="2907792"/>
          </a:xfrm>
          <a:prstGeom prst="roundRect">
            <a:avLst>
              <a:gd name="adj" fmla="val 1376"/>
            </a:avLst>
          </a:prstGeom>
          <a:solidFill>
            <a:srgbClr val="151A24"/>
          </a:solidFill>
          <a:ln w="12700">
            <a:solidFill>
              <a:srgbClr val="252D3D"/>
            </a:solidFill>
            <a:prstDash val="solid"/>
          </a:ln>
        </p:spPr>
      </p:sp>
      <p:sp>
        <p:nvSpPr>
          <p:cNvPr id="36" name="Shape 34"/>
          <p:cNvSpPr/>
          <p:nvPr/>
        </p:nvSpPr>
        <p:spPr>
          <a:xfrm>
            <a:off x="9228582" y="1997964"/>
            <a:ext cx="365760" cy="274320"/>
          </a:xfrm>
          <a:prstGeom prst="roundRect">
            <a:avLst>
              <a:gd name="adj" fmla="val 16667"/>
            </a:avLst>
          </a:prstGeom>
          <a:solidFill>
            <a:srgbClr val="C98500"/>
          </a:solidFill>
          <a:ln w="12700">
            <a:solidFill>
              <a:srgbClr val="C98500"/>
            </a:solidFill>
            <a:prstDash val="solid"/>
          </a:ln>
        </p:spPr>
      </p:sp>
      <p:sp>
        <p:nvSpPr>
          <p:cNvPr id="37" name="Text 35"/>
          <p:cNvSpPr txBox="1"/>
          <p:nvPr/>
        </p:nvSpPr>
        <p:spPr>
          <a:xfrm>
            <a:off x="9228582" y="1997964"/>
            <a:ext cx="365760" cy="274320"/>
          </a:xfrm>
          <a:prstGeom prst="rect">
            <a:avLst/>
          </a:prstGeom>
          <a:noFill/>
          <a:ln/>
        </p:spPr>
        <p:txBody>
          <a:bodyPr wrap="square" lIns="0" tIns="0" rIns="0" bIns="0" rtlCol="0" anchor="ctr"/>
          <a:lstStyle/>
          <a:p>
            <a:pPr algn="ctr" indent="0" marL="0">
              <a:buNone/>
            </a:pPr>
            <a:r>
              <a:rPr lang="en-US" sz="1100" b="1" dirty="0">
                <a:solidFill>
                  <a:srgbClr val="0A0D14"/>
                </a:solidFill>
                <a:latin typeface="Trenda IG Text" pitchFamily="34" charset="0"/>
                <a:ea typeface="Trenda IG Text" pitchFamily="34" charset="-122"/>
                <a:cs typeface="Trenda IG Text" pitchFamily="34" charset="-120"/>
              </a:rPr>
              <a:t>04</a:t>
            </a:r>
            <a:endParaRPr lang="en-US" sz="1100" dirty="0"/>
          </a:p>
        </p:txBody>
      </p:sp>
      <p:sp>
        <p:nvSpPr>
          <p:cNvPr id="38" name="Text 36"/>
          <p:cNvSpPr txBox="1"/>
          <p:nvPr/>
        </p:nvSpPr>
        <p:spPr>
          <a:xfrm>
            <a:off x="9667494" y="1997964"/>
            <a:ext cx="1817370" cy="274320"/>
          </a:xfrm>
          <a:prstGeom prst="rect">
            <a:avLst/>
          </a:prstGeom>
          <a:noFill/>
          <a:ln/>
        </p:spPr>
        <p:txBody>
          <a:bodyPr wrap="square" lIns="0" tIns="0" rIns="0" bIns="0" rtlCol="0" anchor="ctr"/>
          <a:lstStyle/>
          <a:p>
            <a:pPr indent="0" marL="0">
              <a:buNone/>
            </a:pPr>
            <a:r>
              <a:rPr lang="en-US" sz="1300" b="1" dirty="0">
                <a:solidFill>
                  <a:srgbClr val="FFFFFF"/>
                </a:solidFill>
                <a:latin typeface="Trenda IG Text" pitchFamily="34" charset="0"/>
                <a:ea typeface="Trenda IG Text" pitchFamily="34" charset="-122"/>
                <a:cs typeface="Trenda IG Text" pitchFamily="34" charset="-120"/>
              </a:rPr>
              <a:t>Expert</a:t>
            </a:r>
            <a:endParaRPr lang="en-US" sz="1300" dirty="0"/>
          </a:p>
        </p:txBody>
      </p:sp>
      <p:sp>
        <p:nvSpPr>
          <p:cNvPr id="39" name="Text 37"/>
          <p:cNvSpPr txBox="1"/>
          <p:nvPr/>
        </p:nvSpPr>
        <p:spPr>
          <a:xfrm>
            <a:off x="9228582" y="2363724"/>
            <a:ext cx="2256282" cy="566928"/>
          </a:xfrm>
          <a:prstGeom prst="rect">
            <a:avLst/>
          </a:prstGeom>
          <a:noFill/>
          <a:ln/>
        </p:spPr>
        <p:txBody>
          <a:bodyPr wrap="square" lIns="0" tIns="0" rIns="0" bIns="0" rtlCol="0" anchor="t"/>
          <a:lstStyle/>
          <a:p>
            <a:pPr indent="0" marL="0">
              <a:lnSpc>
                <a:spcPts val="1250"/>
              </a:lnSpc>
              <a:buNone/>
            </a:pPr>
            <a:r>
              <a:rPr lang="en-US" sz="950" dirty="0">
                <a:solidFill>
                  <a:srgbClr val="E6EAF2"/>
                </a:solidFill>
                <a:latin typeface="Trenda IG Text" pitchFamily="34" charset="0"/>
                <a:ea typeface="Trenda IG Text" pitchFamily="34" charset="-122"/>
                <a:cs typeface="Trenda IG Text" pitchFamily="34" charset="-120"/>
              </a:rPr>
              <a:t>The case needs judgement, but the file is already built.</a:t>
            </a:r>
            <a:endParaRPr lang="en-US" sz="950" dirty="0"/>
          </a:p>
        </p:txBody>
      </p:sp>
      <p:sp>
        <p:nvSpPr>
          <p:cNvPr id="40" name="Text 38"/>
          <p:cNvSpPr txBox="1"/>
          <p:nvPr/>
        </p:nvSpPr>
        <p:spPr>
          <a:xfrm>
            <a:off x="9228582" y="2985516"/>
            <a:ext cx="2256282" cy="164592"/>
          </a:xfrm>
          <a:prstGeom prst="rect">
            <a:avLst/>
          </a:prstGeom>
          <a:noFill/>
          <a:ln/>
        </p:spPr>
        <p:txBody>
          <a:bodyPr wrap="square" lIns="0" tIns="0" rIns="0" bIns="0" rtlCol="0" anchor="ctr"/>
          <a:lstStyle/>
          <a:p>
            <a:pPr indent="0" marL="0">
              <a:buNone/>
            </a:pPr>
            <a:r>
              <a:rPr lang="en-US" sz="750" b="1" spc="140" kern="0" dirty="0">
                <a:solidFill>
                  <a:srgbClr val="8A94A6"/>
                </a:solidFill>
                <a:latin typeface="Trenda IG Display" pitchFamily="34" charset="0"/>
                <a:ea typeface="Trenda IG Display" pitchFamily="34" charset="-122"/>
                <a:cs typeface="Trenda IG Display" pitchFamily="34" charset="-120"/>
              </a:rPr>
              <a:t>TYPICAL CASES</a:t>
            </a:r>
            <a:endParaRPr lang="en-US" sz="750" dirty="0"/>
          </a:p>
        </p:txBody>
      </p:sp>
      <p:sp>
        <p:nvSpPr>
          <p:cNvPr id="41" name="Text 39"/>
          <p:cNvSpPr txBox="1"/>
          <p:nvPr/>
        </p:nvSpPr>
        <p:spPr>
          <a:xfrm>
            <a:off x="9228582" y="3204972"/>
            <a:ext cx="2256282" cy="969264"/>
          </a:xfrm>
          <a:prstGeom prst="rect">
            <a:avLst/>
          </a:prstGeom>
          <a:noFill/>
          <a:ln/>
        </p:spPr>
        <p:txBody>
          <a:bodyPr wrap="square" lIns="0" tIns="0" rIns="0" bIns="0" rtlCol="0" anchor="t"/>
          <a:lstStyle/>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Contested credits and pricing disputes</a:t>
            </a:r>
            <a:endParaRPr lang="en-US" sz="850" dirty="0"/>
          </a:p>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Exceptions, holds and escalations</a:t>
            </a:r>
            <a:endParaRPr lang="en-US" sz="850" dirty="0"/>
          </a:p>
          <a:p>
            <a:pPr marL="152400" indent="-152400">
              <a:lnSpc>
                <a:spcPts val="1250"/>
              </a:lnSpc>
              <a:spcAft>
                <a:spcPts val="4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Anything with conflicting or missing data</a:t>
            </a:r>
            <a:endParaRPr lang="en-US" sz="850" dirty="0"/>
          </a:p>
        </p:txBody>
      </p:sp>
      <p:sp>
        <p:nvSpPr>
          <p:cNvPr id="42" name="Shape 40"/>
          <p:cNvSpPr/>
          <p:nvPr/>
        </p:nvSpPr>
        <p:spPr>
          <a:xfrm>
            <a:off x="9228582" y="4265676"/>
            <a:ext cx="2256282" cy="0"/>
          </a:xfrm>
          <a:prstGeom prst="line">
            <a:avLst/>
          </a:prstGeom>
          <a:noFill/>
          <a:ln w="12700">
            <a:solidFill>
              <a:srgbClr val="252D3D"/>
            </a:solidFill>
            <a:prstDash val="solid"/>
          </a:ln>
        </p:spPr>
      </p:sp>
      <p:sp>
        <p:nvSpPr>
          <p:cNvPr id="43" name="Text 41"/>
          <p:cNvSpPr txBox="1"/>
          <p:nvPr/>
        </p:nvSpPr>
        <p:spPr>
          <a:xfrm>
            <a:off x="9228582" y="4338828"/>
            <a:ext cx="2256282" cy="256032"/>
          </a:xfrm>
          <a:prstGeom prst="rect">
            <a:avLst/>
          </a:prstGeom>
          <a:noFill/>
          <a:ln/>
        </p:spPr>
        <p:txBody>
          <a:bodyPr wrap="square" lIns="0" tIns="0" rIns="0" bIns="0" rtlCol="0" anchor="ctr"/>
          <a:lstStyle/>
          <a:p>
            <a:pPr indent="0" marL="0">
              <a:buNone/>
            </a:pPr>
            <a:r>
              <a:rPr lang="en-US" sz="900" b="1" dirty="0">
                <a:solidFill>
                  <a:srgbClr val="C98500"/>
                </a:solidFill>
                <a:latin typeface="Trenda IG Text" pitchFamily="34" charset="0"/>
                <a:ea typeface="Trenda IG Text" pitchFamily="34" charset="-122"/>
                <a:cs typeface="Trenda IG Text" pitchFamily="34" charset="-120"/>
              </a:rPr>
              <a:t>Judgement time protected</a:t>
            </a:r>
            <a:endParaRPr lang="en-US" sz="900" dirty="0"/>
          </a:p>
        </p:txBody>
      </p:sp>
      <p:sp>
        <p:nvSpPr>
          <p:cNvPr id="44" name="Shape 42"/>
          <p:cNvSpPr/>
          <p:nvPr/>
        </p:nvSpPr>
        <p:spPr>
          <a:xfrm>
            <a:off x="502920" y="4905756"/>
            <a:ext cx="11183112" cy="493776"/>
          </a:xfrm>
          <a:prstGeom prst="roundRect">
            <a:avLst>
              <a:gd name="adj" fmla="val 7407"/>
            </a:avLst>
          </a:prstGeom>
          <a:solidFill>
            <a:srgbClr val="17222E"/>
          </a:solidFill>
          <a:ln w="12700">
            <a:solidFill>
              <a:srgbClr val="2A5468"/>
            </a:solidFill>
            <a:prstDash val="solid"/>
          </a:ln>
        </p:spPr>
      </p:sp>
      <p:sp>
        <p:nvSpPr>
          <p:cNvPr id="45" name="Text 43"/>
          <p:cNvSpPr txBox="1"/>
          <p:nvPr/>
        </p:nvSpPr>
        <p:spPr>
          <a:xfrm>
            <a:off x="704088" y="4905756"/>
            <a:ext cx="10780776" cy="493776"/>
          </a:xfrm>
          <a:prstGeom prst="rect">
            <a:avLst/>
          </a:prstGeom>
          <a:noFill/>
          <a:ln/>
        </p:spPr>
        <p:txBody>
          <a:bodyPr wrap="square" lIns="0" tIns="0" rIns="0" bIns="0" rtlCol="0" anchor="ctr"/>
          <a:lstStyle/>
          <a:p>
            <a:pPr indent="0" marL="0">
              <a:buNone/>
            </a:pPr>
            <a:r>
              <a:rPr lang="en-US" sz="900" b="1" spc="140" kern="0" dirty="0">
                <a:solidFill>
                  <a:srgbClr val="22D3EE"/>
                </a:solidFill>
                <a:latin typeface="Trenda IG Text" pitchFamily="34" charset="0"/>
                <a:ea typeface="Trenda IG Text" pitchFamily="34" charset="-122"/>
                <a:cs typeface="Trenda IG Text" pitchFamily="34" charset="-120"/>
              </a:rPr>
              <a:t>THE OPERATING GOAL   </a:t>
            </a:r>
            <a:pPr indent="0" marL="0">
              <a:buNone/>
            </a:pPr>
            <a:r>
              <a:rPr lang="en-US" sz="950" dirty="0">
                <a:solidFill>
                  <a:srgbClr val="E6EAF2"/>
                </a:solidFill>
                <a:latin typeface="Trenda IG Text" pitchFamily="34" charset="0"/>
                <a:ea typeface="Trenda IG Text" pitchFamily="34" charset="-122"/>
                <a:cs typeface="Trenda IG Text" pitchFamily="34" charset="-120"/>
              </a:rPr>
              <a:t>Today every case goes through door four. At maturity a quarter goes through door two and over half through door three. Governance is about what moved, not just what was handled.</a:t>
            </a:r>
            <a:endParaRPr lang="en-US" sz="900" dirty="0"/>
          </a:p>
        </p:txBody>
      </p:sp>
      <p:pic>
        <p:nvPicPr>
          <p:cNvPr id="46" name="Image 0" descr="assets/ig-mark.png">    </p:cNvPr>
          <p:cNvPicPr>
            <a:picLocks noChangeAspect="1"/>
          </p:cNvPicPr>
          <p:nvPr/>
        </p:nvPicPr>
        <p:blipFill>
          <a:blip r:embed="rId1"/>
          <a:stretch>
            <a:fillRect/>
          </a:stretch>
        </p:blipFill>
        <p:spPr>
          <a:xfrm>
            <a:off x="502920" y="6455664"/>
            <a:ext cx="420624" cy="144475"/>
          </a:xfrm>
          <a:prstGeom prst="rect">
            <a:avLst/>
          </a:prstGeom>
        </p:spPr>
      </p:pic>
      <p:sp>
        <p:nvSpPr>
          <p:cNvPr id="47" name="Text 44"/>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THE MECHANISM</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ONE FLOW DECIDES THE DOOR, IN UNDER A MINUTE</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Email to Case creates the record. A record triggered Flow calls a triage Prompt Template for understanding, then applies deterministic gates that decide which door the case is allowed to take.</a:t>
            </a:r>
            <a:endParaRPr lang="en-US" sz="1150" dirty="0"/>
          </a:p>
        </p:txBody>
      </p:sp>
      <p:sp>
        <p:nvSpPr>
          <p:cNvPr id="5" name="Shape 3"/>
          <p:cNvSpPr/>
          <p:nvPr/>
        </p:nvSpPr>
        <p:spPr>
          <a:xfrm>
            <a:off x="502920" y="1796796"/>
            <a:ext cx="3593592" cy="2395728"/>
          </a:xfrm>
          <a:prstGeom prst="roundRect">
            <a:avLst>
              <a:gd name="adj" fmla="val 1527"/>
            </a:avLst>
          </a:prstGeom>
          <a:solidFill>
            <a:srgbClr val="151A24"/>
          </a:solidFill>
          <a:ln w="12700">
            <a:solidFill>
              <a:srgbClr val="252D3D"/>
            </a:solidFill>
            <a:prstDash val="solid"/>
          </a:ln>
        </p:spPr>
      </p:sp>
      <p:sp>
        <p:nvSpPr>
          <p:cNvPr id="6" name="Shape 4"/>
          <p:cNvSpPr/>
          <p:nvPr/>
        </p:nvSpPr>
        <p:spPr>
          <a:xfrm>
            <a:off x="722376" y="1997964"/>
            <a:ext cx="310896" cy="256032"/>
          </a:xfrm>
          <a:prstGeom prst="roundRect">
            <a:avLst>
              <a:gd name="adj" fmla="val 17857"/>
            </a:avLst>
          </a:prstGeom>
          <a:solidFill>
            <a:srgbClr val="0A0D14"/>
          </a:solidFill>
          <a:ln w="12700">
            <a:solidFill>
              <a:srgbClr val="22D3EE"/>
            </a:solidFill>
            <a:prstDash val="solid"/>
          </a:ln>
        </p:spPr>
      </p:sp>
      <p:sp>
        <p:nvSpPr>
          <p:cNvPr id="7" name="Text 5"/>
          <p:cNvSpPr txBox="1"/>
          <p:nvPr/>
        </p:nvSpPr>
        <p:spPr>
          <a:xfrm>
            <a:off x="722376" y="1997964"/>
            <a:ext cx="310896" cy="256032"/>
          </a:xfrm>
          <a:prstGeom prst="rect">
            <a:avLst/>
          </a:prstGeom>
          <a:noFill/>
          <a:ln/>
        </p:spPr>
        <p:txBody>
          <a:bodyPr wrap="square" lIns="0" tIns="0" rIns="0" bIns="0" rtlCol="0" anchor="ctr"/>
          <a:lstStyle/>
          <a:p>
            <a:pPr algn="ctr" indent="0" marL="0">
              <a:buNone/>
            </a:pPr>
            <a:r>
              <a:rPr lang="en-US" sz="1050" b="1" dirty="0">
                <a:solidFill>
                  <a:srgbClr val="22D3EE"/>
                </a:solidFill>
                <a:latin typeface="Trenda IG Display" pitchFamily="34" charset="0"/>
                <a:ea typeface="Trenda IG Display" pitchFamily="34" charset="-122"/>
                <a:cs typeface="Trenda IG Display" pitchFamily="34" charset="-120"/>
              </a:rPr>
              <a:t>1</a:t>
            </a:r>
            <a:endParaRPr lang="en-US" sz="1050" dirty="0"/>
          </a:p>
        </p:txBody>
      </p:sp>
      <p:sp>
        <p:nvSpPr>
          <p:cNvPr id="8" name="Text 6"/>
          <p:cNvSpPr txBox="1"/>
          <p:nvPr/>
        </p:nvSpPr>
        <p:spPr>
          <a:xfrm>
            <a:off x="1124712" y="1997964"/>
            <a:ext cx="2752344" cy="256032"/>
          </a:xfrm>
          <a:prstGeom prst="rect">
            <a:avLst/>
          </a:prstGeom>
          <a:noFill/>
          <a:ln/>
        </p:spPr>
        <p:txBody>
          <a:bodyPr wrap="square" lIns="0" tIns="0" rIns="0" bIns="0" rtlCol="0" anchor="ctr"/>
          <a:lstStyle/>
          <a:p>
            <a:pPr indent="0" marL="0">
              <a:buNone/>
            </a:pPr>
            <a:r>
              <a:rPr lang="en-US" sz="1350" b="1" dirty="0">
                <a:solidFill>
                  <a:srgbClr val="22D3EE"/>
                </a:solidFill>
                <a:latin typeface="Trenda IG Text" pitchFamily="34" charset="0"/>
                <a:ea typeface="Trenda IG Text" pitchFamily="34" charset="-122"/>
                <a:cs typeface="Trenda IG Text" pitchFamily="34" charset="-120"/>
              </a:rPr>
              <a:t>Understand</a:t>
            </a:r>
            <a:endParaRPr lang="en-US" sz="1350" dirty="0"/>
          </a:p>
        </p:txBody>
      </p:sp>
      <p:sp>
        <p:nvSpPr>
          <p:cNvPr id="9" name="Text 7"/>
          <p:cNvSpPr txBox="1"/>
          <p:nvPr/>
        </p:nvSpPr>
        <p:spPr>
          <a:xfrm>
            <a:off x="722376" y="2327148"/>
            <a:ext cx="3154680" cy="182880"/>
          </a:xfrm>
          <a:prstGeom prst="rect">
            <a:avLst/>
          </a:prstGeom>
          <a:noFill/>
          <a:ln/>
        </p:spPr>
        <p:txBody>
          <a:bodyPr wrap="square" lIns="0" tIns="0" rIns="0" bIns="0" rtlCol="0" anchor="ctr"/>
          <a:lstStyle/>
          <a:p>
            <a:pPr indent="0" marL="0">
              <a:buNone/>
            </a:pPr>
            <a:r>
              <a:rPr lang="en-US" sz="750" b="1" spc="140" kern="0" dirty="0">
                <a:solidFill>
                  <a:srgbClr val="8A94A6"/>
                </a:solidFill>
                <a:latin typeface="Trenda IG Display" pitchFamily="34" charset="0"/>
                <a:ea typeface="Trenda IG Display" pitchFamily="34" charset="-122"/>
                <a:cs typeface="Trenda IG Display" pitchFamily="34" charset="-120"/>
              </a:rPr>
              <a:t>PROMPT TEMPLATE, CALLED FROM FLOW</a:t>
            </a:r>
            <a:endParaRPr lang="en-US" sz="750" dirty="0"/>
          </a:p>
        </p:txBody>
      </p:sp>
      <p:sp>
        <p:nvSpPr>
          <p:cNvPr id="10" name="Text 8"/>
          <p:cNvSpPr txBox="1"/>
          <p:nvPr/>
        </p:nvSpPr>
        <p:spPr>
          <a:xfrm>
            <a:off x="722376" y="2601468"/>
            <a:ext cx="3154680" cy="1463040"/>
          </a:xfrm>
          <a:prstGeom prst="rect">
            <a:avLst/>
          </a:prstGeom>
          <a:noFill/>
          <a:ln/>
        </p:spPr>
        <p:txBody>
          <a:bodyPr wrap="square" lIns="0" tIns="0" rIns="0" bIns="0" rtlCol="0" anchor="t"/>
          <a:lstStyle/>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Reads the full thread, grounded on the case, the account, the contact and prior cases.</a:t>
            </a:r>
            <a:endParaRPr lang="en-US" sz="900" dirty="0"/>
          </a:p>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Returns category, service family, extracted entities such as order, invoice and PO, sentiment, a PHI flag and a summary.</a:t>
            </a:r>
            <a:endParaRPr lang="en-US" sz="900" dirty="0"/>
          </a:p>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Where generative licensing is absent, Einstein Case Classification predicts the same fields from history.</a:t>
            </a:r>
            <a:endParaRPr lang="en-US" sz="900" dirty="0"/>
          </a:p>
        </p:txBody>
      </p:sp>
      <p:sp>
        <p:nvSpPr>
          <p:cNvPr id="11" name="Shape 9"/>
          <p:cNvSpPr/>
          <p:nvPr/>
        </p:nvSpPr>
        <p:spPr>
          <a:xfrm>
            <a:off x="4123944" y="2894076"/>
            <a:ext cx="146304" cy="128016"/>
          </a:xfrm>
          <a:prstGeom prst="rightArrow">
            <a:avLst/>
          </a:prstGeom>
          <a:solidFill>
            <a:srgbClr val="3A4459"/>
          </a:solidFill>
          <a:ln w="12700">
            <a:solidFill>
              <a:srgbClr val="3A4459"/>
            </a:solidFill>
            <a:prstDash val="solid"/>
          </a:ln>
        </p:spPr>
      </p:sp>
      <p:sp>
        <p:nvSpPr>
          <p:cNvPr id="12" name="Shape 10"/>
          <p:cNvSpPr/>
          <p:nvPr/>
        </p:nvSpPr>
        <p:spPr>
          <a:xfrm>
            <a:off x="4297680" y="1796796"/>
            <a:ext cx="3593592" cy="2395728"/>
          </a:xfrm>
          <a:prstGeom prst="roundRect">
            <a:avLst>
              <a:gd name="adj" fmla="val 1527"/>
            </a:avLst>
          </a:prstGeom>
          <a:solidFill>
            <a:srgbClr val="151A24"/>
          </a:solidFill>
          <a:ln w="12700">
            <a:solidFill>
              <a:srgbClr val="252D3D"/>
            </a:solidFill>
            <a:prstDash val="solid"/>
          </a:ln>
        </p:spPr>
      </p:sp>
      <p:sp>
        <p:nvSpPr>
          <p:cNvPr id="13" name="Shape 11"/>
          <p:cNvSpPr/>
          <p:nvPr/>
        </p:nvSpPr>
        <p:spPr>
          <a:xfrm>
            <a:off x="4517136" y="1997964"/>
            <a:ext cx="310896" cy="256032"/>
          </a:xfrm>
          <a:prstGeom prst="roundRect">
            <a:avLst>
              <a:gd name="adj" fmla="val 17857"/>
            </a:avLst>
          </a:prstGeom>
          <a:solidFill>
            <a:srgbClr val="0A0D14"/>
          </a:solidFill>
          <a:ln w="12700">
            <a:solidFill>
              <a:srgbClr val="22D3EE"/>
            </a:solidFill>
            <a:prstDash val="solid"/>
          </a:ln>
        </p:spPr>
      </p:sp>
      <p:sp>
        <p:nvSpPr>
          <p:cNvPr id="14" name="Text 12"/>
          <p:cNvSpPr txBox="1"/>
          <p:nvPr/>
        </p:nvSpPr>
        <p:spPr>
          <a:xfrm>
            <a:off x="4517136" y="1997964"/>
            <a:ext cx="310896" cy="256032"/>
          </a:xfrm>
          <a:prstGeom prst="rect">
            <a:avLst/>
          </a:prstGeom>
          <a:noFill/>
          <a:ln/>
        </p:spPr>
        <p:txBody>
          <a:bodyPr wrap="square" lIns="0" tIns="0" rIns="0" bIns="0" rtlCol="0" anchor="ctr"/>
          <a:lstStyle/>
          <a:p>
            <a:pPr algn="ctr" indent="0" marL="0">
              <a:buNone/>
            </a:pPr>
            <a:r>
              <a:rPr lang="en-US" sz="1050" b="1" dirty="0">
                <a:solidFill>
                  <a:srgbClr val="22D3EE"/>
                </a:solidFill>
                <a:latin typeface="Trenda IG Display" pitchFamily="34" charset="0"/>
                <a:ea typeface="Trenda IG Display" pitchFamily="34" charset="-122"/>
                <a:cs typeface="Trenda IG Display" pitchFamily="34" charset="-120"/>
              </a:rPr>
              <a:t>2</a:t>
            </a:r>
            <a:endParaRPr lang="en-US" sz="1050" dirty="0"/>
          </a:p>
        </p:txBody>
      </p:sp>
      <p:sp>
        <p:nvSpPr>
          <p:cNvPr id="15" name="Text 13"/>
          <p:cNvSpPr txBox="1"/>
          <p:nvPr/>
        </p:nvSpPr>
        <p:spPr>
          <a:xfrm>
            <a:off x="4919472" y="1997964"/>
            <a:ext cx="2752344" cy="256032"/>
          </a:xfrm>
          <a:prstGeom prst="rect">
            <a:avLst/>
          </a:prstGeom>
          <a:noFill/>
          <a:ln/>
        </p:spPr>
        <p:txBody>
          <a:bodyPr wrap="square" lIns="0" tIns="0" rIns="0" bIns="0" rtlCol="0" anchor="ctr"/>
          <a:lstStyle/>
          <a:p>
            <a:pPr indent="0" marL="0">
              <a:buNone/>
            </a:pPr>
            <a:r>
              <a:rPr lang="en-US" sz="1350" b="1" dirty="0">
                <a:solidFill>
                  <a:srgbClr val="FFFFFF"/>
                </a:solidFill>
                <a:latin typeface="Trenda IG Text" pitchFamily="34" charset="0"/>
                <a:ea typeface="Trenda IG Text" pitchFamily="34" charset="-122"/>
                <a:cs typeface="Trenda IG Text" pitchFamily="34" charset="-120"/>
              </a:rPr>
              <a:t>Gate</a:t>
            </a:r>
            <a:endParaRPr lang="en-US" sz="1350" dirty="0"/>
          </a:p>
        </p:txBody>
      </p:sp>
      <p:sp>
        <p:nvSpPr>
          <p:cNvPr id="16" name="Text 14"/>
          <p:cNvSpPr txBox="1"/>
          <p:nvPr/>
        </p:nvSpPr>
        <p:spPr>
          <a:xfrm>
            <a:off x="4517136" y="2327148"/>
            <a:ext cx="3154680" cy="182880"/>
          </a:xfrm>
          <a:prstGeom prst="rect">
            <a:avLst/>
          </a:prstGeom>
          <a:noFill/>
          <a:ln/>
        </p:spPr>
        <p:txBody>
          <a:bodyPr wrap="square" lIns="0" tIns="0" rIns="0" bIns="0" rtlCol="0" anchor="ctr"/>
          <a:lstStyle/>
          <a:p>
            <a:pPr indent="0" marL="0">
              <a:buNone/>
            </a:pPr>
            <a:r>
              <a:rPr lang="en-US" sz="750" b="1" spc="140" kern="0" dirty="0">
                <a:solidFill>
                  <a:srgbClr val="8A94A6"/>
                </a:solidFill>
                <a:latin typeface="Trenda IG Display" pitchFamily="34" charset="0"/>
                <a:ea typeface="Trenda IG Display" pitchFamily="34" charset="-122"/>
                <a:cs typeface="Trenda IG Display" pitchFamily="34" charset="-120"/>
              </a:rPr>
              <a:t>DETERMINISTIC FLOW RULES, NOT THE MODEL</a:t>
            </a:r>
            <a:endParaRPr lang="en-US" sz="750" dirty="0"/>
          </a:p>
        </p:txBody>
      </p:sp>
      <p:sp>
        <p:nvSpPr>
          <p:cNvPr id="17" name="Text 15"/>
          <p:cNvSpPr txBox="1"/>
          <p:nvPr/>
        </p:nvSpPr>
        <p:spPr>
          <a:xfrm>
            <a:off x="4517136" y="2601468"/>
            <a:ext cx="3154680" cy="1463040"/>
          </a:xfrm>
          <a:prstGeom prst="rect">
            <a:avLst/>
          </a:prstGeom>
          <a:noFill/>
          <a:ln/>
        </p:spPr>
        <p:txBody>
          <a:bodyPr wrap="square" lIns="0" tIns="0" rIns="0" bIns="0" rtlCol="0" anchor="t"/>
          <a:lstStyle/>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Is every entity resolved against a real record, and is the data complete and unambiguous?</a:t>
            </a:r>
            <a:endParaRPr lang="en-US" sz="900" dirty="0"/>
          </a:p>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Is the case type on the approved autonomous list, and is the account free of holds or disputes?</a:t>
            </a:r>
            <a:endParaRPr lang="en-US" sz="900" dirty="0"/>
          </a:p>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Is there no PHI flag, no complaint language, and no financial authorisation required?</a:t>
            </a:r>
            <a:endParaRPr lang="en-US" sz="900" dirty="0"/>
          </a:p>
        </p:txBody>
      </p:sp>
      <p:sp>
        <p:nvSpPr>
          <p:cNvPr id="18" name="Shape 16"/>
          <p:cNvSpPr/>
          <p:nvPr/>
        </p:nvSpPr>
        <p:spPr>
          <a:xfrm>
            <a:off x="7918704" y="2894076"/>
            <a:ext cx="146304" cy="128016"/>
          </a:xfrm>
          <a:prstGeom prst="rightArrow">
            <a:avLst/>
          </a:prstGeom>
          <a:solidFill>
            <a:srgbClr val="3A4459"/>
          </a:solidFill>
          <a:ln w="12700">
            <a:solidFill>
              <a:srgbClr val="3A4459"/>
            </a:solidFill>
            <a:prstDash val="solid"/>
          </a:ln>
        </p:spPr>
      </p:sp>
      <p:sp>
        <p:nvSpPr>
          <p:cNvPr id="19" name="Shape 17"/>
          <p:cNvSpPr/>
          <p:nvPr/>
        </p:nvSpPr>
        <p:spPr>
          <a:xfrm>
            <a:off x="8092440" y="1796796"/>
            <a:ext cx="3593592" cy="2395728"/>
          </a:xfrm>
          <a:prstGeom prst="roundRect">
            <a:avLst>
              <a:gd name="adj" fmla="val 1527"/>
            </a:avLst>
          </a:prstGeom>
          <a:solidFill>
            <a:srgbClr val="151A24"/>
          </a:solidFill>
          <a:ln w="12700">
            <a:solidFill>
              <a:srgbClr val="252D3D"/>
            </a:solidFill>
            <a:prstDash val="solid"/>
          </a:ln>
        </p:spPr>
      </p:sp>
      <p:sp>
        <p:nvSpPr>
          <p:cNvPr id="20" name="Shape 18"/>
          <p:cNvSpPr/>
          <p:nvPr/>
        </p:nvSpPr>
        <p:spPr>
          <a:xfrm>
            <a:off x="8311896" y="1997964"/>
            <a:ext cx="310896" cy="256032"/>
          </a:xfrm>
          <a:prstGeom prst="roundRect">
            <a:avLst>
              <a:gd name="adj" fmla="val 17857"/>
            </a:avLst>
          </a:prstGeom>
          <a:solidFill>
            <a:srgbClr val="0A0D14"/>
          </a:solidFill>
          <a:ln w="12700">
            <a:solidFill>
              <a:srgbClr val="22D3EE"/>
            </a:solidFill>
            <a:prstDash val="solid"/>
          </a:ln>
        </p:spPr>
      </p:sp>
      <p:sp>
        <p:nvSpPr>
          <p:cNvPr id="21" name="Text 19"/>
          <p:cNvSpPr txBox="1"/>
          <p:nvPr/>
        </p:nvSpPr>
        <p:spPr>
          <a:xfrm>
            <a:off x="8311896" y="1997964"/>
            <a:ext cx="310896" cy="256032"/>
          </a:xfrm>
          <a:prstGeom prst="rect">
            <a:avLst/>
          </a:prstGeom>
          <a:noFill/>
          <a:ln/>
        </p:spPr>
        <p:txBody>
          <a:bodyPr wrap="square" lIns="0" tIns="0" rIns="0" bIns="0" rtlCol="0" anchor="ctr"/>
          <a:lstStyle/>
          <a:p>
            <a:pPr algn="ctr" indent="0" marL="0">
              <a:buNone/>
            </a:pPr>
            <a:r>
              <a:rPr lang="en-US" sz="1050" b="1" dirty="0">
                <a:solidFill>
                  <a:srgbClr val="22D3EE"/>
                </a:solidFill>
                <a:latin typeface="Trenda IG Display" pitchFamily="34" charset="0"/>
                <a:ea typeface="Trenda IG Display" pitchFamily="34" charset="-122"/>
                <a:cs typeface="Trenda IG Display" pitchFamily="34" charset="-120"/>
              </a:rPr>
              <a:t>3</a:t>
            </a:r>
            <a:endParaRPr lang="en-US" sz="1050" dirty="0"/>
          </a:p>
        </p:txBody>
      </p:sp>
      <p:sp>
        <p:nvSpPr>
          <p:cNvPr id="22" name="Text 20"/>
          <p:cNvSpPr txBox="1"/>
          <p:nvPr/>
        </p:nvSpPr>
        <p:spPr>
          <a:xfrm>
            <a:off x="8714232" y="1997964"/>
            <a:ext cx="2752344" cy="256032"/>
          </a:xfrm>
          <a:prstGeom prst="rect">
            <a:avLst/>
          </a:prstGeom>
          <a:noFill/>
          <a:ln/>
        </p:spPr>
        <p:txBody>
          <a:bodyPr wrap="square" lIns="0" tIns="0" rIns="0" bIns="0" rtlCol="0" anchor="ctr"/>
          <a:lstStyle/>
          <a:p>
            <a:pPr indent="0" marL="0">
              <a:buNone/>
            </a:pPr>
            <a:r>
              <a:rPr lang="en-US" sz="1350" b="1" dirty="0">
                <a:solidFill>
                  <a:srgbClr val="22D3EE"/>
                </a:solidFill>
                <a:latin typeface="Trenda IG Text" pitchFamily="34" charset="0"/>
                <a:ea typeface="Trenda IG Text" pitchFamily="34" charset="-122"/>
                <a:cs typeface="Trenda IG Text" pitchFamily="34" charset="-120"/>
              </a:rPr>
              <a:t>Assign the door</a:t>
            </a:r>
            <a:endParaRPr lang="en-US" sz="1350" dirty="0"/>
          </a:p>
        </p:txBody>
      </p:sp>
      <p:sp>
        <p:nvSpPr>
          <p:cNvPr id="23" name="Text 21"/>
          <p:cNvSpPr txBox="1"/>
          <p:nvPr/>
        </p:nvSpPr>
        <p:spPr>
          <a:xfrm>
            <a:off x="8311896" y="2327148"/>
            <a:ext cx="3154680" cy="182880"/>
          </a:xfrm>
          <a:prstGeom prst="rect">
            <a:avLst/>
          </a:prstGeom>
          <a:noFill/>
          <a:ln/>
        </p:spPr>
        <p:txBody>
          <a:bodyPr wrap="square" lIns="0" tIns="0" rIns="0" bIns="0" rtlCol="0" anchor="ctr"/>
          <a:lstStyle/>
          <a:p>
            <a:pPr indent="0" marL="0">
              <a:buNone/>
            </a:pPr>
            <a:r>
              <a:rPr lang="en-US" sz="750" b="1" spc="140" kern="0" dirty="0">
                <a:solidFill>
                  <a:srgbClr val="8A94A6"/>
                </a:solidFill>
                <a:latin typeface="Trenda IG Display" pitchFamily="34" charset="0"/>
                <a:ea typeface="Trenda IG Display" pitchFamily="34" charset="-122"/>
                <a:cs typeface="Trenda IG Display" pitchFamily="34" charset="-120"/>
              </a:rPr>
              <a:t>THE GATE ANSWERS, THE FLOW ACTS</a:t>
            </a:r>
            <a:endParaRPr lang="en-US" sz="750" dirty="0"/>
          </a:p>
        </p:txBody>
      </p:sp>
      <p:sp>
        <p:nvSpPr>
          <p:cNvPr id="24" name="Text 22"/>
          <p:cNvSpPr txBox="1"/>
          <p:nvPr/>
        </p:nvSpPr>
        <p:spPr>
          <a:xfrm>
            <a:off x="8311896" y="2601468"/>
            <a:ext cx="3154680" cy="1463040"/>
          </a:xfrm>
          <a:prstGeom prst="rect">
            <a:avLst/>
          </a:prstGeom>
          <a:noFill/>
          <a:ln/>
        </p:spPr>
        <p:txBody>
          <a:bodyPr wrap="square" lIns="0" tIns="0" rIns="0" bIns="0" rtlCol="0" anchor="t"/>
          <a:lstStyle/>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All gates pass and the type is approved: door two, resolved without an agent.</a:t>
            </a:r>
            <a:endParaRPr lang="en-US" sz="900" dirty="0"/>
          </a:p>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Understood but needs a person to approve: door three, drafted and evidenced for one touch.</a:t>
            </a:r>
            <a:endParaRPr lang="en-US" sz="900" dirty="0"/>
          </a:p>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Judgement, money or missing data: door four, routed to an expert with the file assembled.</a:t>
            </a:r>
            <a:endParaRPr lang="en-US" sz="900" dirty="0"/>
          </a:p>
        </p:txBody>
      </p:sp>
      <p:sp>
        <p:nvSpPr>
          <p:cNvPr id="25" name="Shape 23"/>
          <p:cNvSpPr/>
          <p:nvPr/>
        </p:nvSpPr>
        <p:spPr>
          <a:xfrm>
            <a:off x="502920" y="4411980"/>
            <a:ext cx="5481828" cy="1335024"/>
          </a:xfrm>
          <a:prstGeom prst="roundRect">
            <a:avLst>
              <a:gd name="adj" fmla="val 2740"/>
            </a:avLst>
          </a:prstGeom>
          <a:solidFill>
            <a:srgbClr val="151A24"/>
          </a:solidFill>
          <a:ln w="12700">
            <a:solidFill>
              <a:srgbClr val="2A5468"/>
            </a:solidFill>
            <a:prstDash val="solid"/>
          </a:ln>
        </p:spPr>
      </p:sp>
      <p:sp>
        <p:nvSpPr>
          <p:cNvPr id="26" name="Text 24"/>
          <p:cNvSpPr txBox="1"/>
          <p:nvPr/>
        </p:nvSpPr>
        <p:spPr>
          <a:xfrm>
            <a:off x="758952" y="4576572"/>
            <a:ext cx="4969764" cy="201168"/>
          </a:xfrm>
          <a:prstGeom prst="rect">
            <a:avLst/>
          </a:prstGeom>
          <a:noFill/>
          <a:ln/>
        </p:spPr>
        <p:txBody>
          <a:bodyPr wrap="square" lIns="0" tIns="0" rIns="0" bIns="0" rtlCol="0" anchor="ctr"/>
          <a:lstStyle/>
          <a:p>
            <a:pPr indent="0" marL="0">
              <a:buNone/>
            </a:pPr>
            <a:r>
              <a:rPr lang="en-US" sz="1000" b="1" spc="140" kern="0" dirty="0">
                <a:solidFill>
                  <a:srgbClr val="22D3EE"/>
                </a:solidFill>
                <a:latin typeface="Trenda IG Display" pitchFamily="34" charset="0"/>
                <a:ea typeface="Trenda IG Display" pitchFamily="34" charset="-122"/>
                <a:cs typeface="Trenda IG Display" pitchFamily="34" charset="-120"/>
              </a:rPr>
              <a:t>WHY THE GATE IS RULES AND NOT THE MODEL</a:t>
            </a:r>
            <a:endParaRPr lang="en-US" sz="1000" dirty="0"/>
          </a:p>
        </p:txBody>
      </p:sp>
      <p:sp>
        <p:nvSpPr>
          <p:cNvPr id="27" name="Text 25"/>
          <p:cNvSpPr txBox="1"/>
          <p:nvPr/>
        </p:nvSpPr>
        <p:spPr>
          <a:xfrm>
            <a:off x="758952" y="4869180"/>
            <a:ext cx="4969764" cy="749808"/>
          </a:xfrm>
          <a:prstGeom prst="rect">
            <a:avLst/>
          </a:prstGeom>
          <a:noFill/>
          <a:ln/>
        </p:spPr>
        <p:txBody>
          <a:bodyPr wrap="square" lIns="0" tIns="0" rIns="0" bIns="0" rtlCol="0" anchor="t"/>
          <a:lstStyle/>
          <a:p>
            <a:pPr indent="0" marL="0">
              <a:lnSpc>
                <a:spcPts val="1300"/>
              </a:lnSpc>
              <a:buNone/>
            </a:pPr>
            <a:r>
              <a:rPr lang="en-US" sz="950" dirty="0">
                <a:solidFill>
                  <a:srgbClr val="E6EAF2"/>
                </a:solidFill>
                <a:latin typeface="Trenda IG Text" pitchFamily="34" charset="0"/>
                <a:ea typeface="Trenda IG Text" pitchFamily="34" charset="-122"/>
                <a:cs typeface="Trenda IG Text" pitchFamily="34" charset="-120"/>
              </a:rPr>
              <a:t>The template is allowed to interpret language. It is never allowed to decide that a case may skip a human. That decision is a Flow condition McKesson can read, test and change, which is what makes autonomous handling auditable rather than a matter of trust in a model.</a:t>
            </a:r>
            <a:endParaRPr lang="en-US" sz="950" dirty="0"/>
          </a:p>
        </p:txBody>
      </p:sp>
      <p:sp>
        <p:nvSpPr>
          <p:cNvPr id="28" name="Shape 26"/>
          <p:cNvSpPr/>
          <p:nvPr/>
        </p:nvSpPr>
        <p:spPr>
          <a:xfrm>
            <a:off x="6204204" y="4411980"/>
            <a:ext cx="5481828" cy="1335024"/>
          </a:xfrm>
          <a:prstGeom prst="roundRect">
            <a:avLst>
              <a:gd name="adj" fmla="val 2740"/>
            </a:avLst>
          </a:prstGeom>
          <a:solidFill>
            <a:srgbClr val="151A24"/>
          </a:solidFill>
          <a:ln w="12700">
            <a:solidFill>
              <a:srgbClr val="252D3D"/>
            </a:solidFill>
            <a:prstDash val="solid"/>
          </a:ln>
        </p:spPr>
      </p:sp>
      <p:sp>
        <p:nvSpPr>
          <p:cNvPr id="29" name="Text 27"/>
          <p:cNvSpPr txBox="1"/>
          <p:nvPr/>
        </p:nvSpPr>
        <p:spPr>
          <a:xfrm>
            <a:off x="6460236" y="4576572"/>
            <a:ext cx="4969764" cy="201168"/>
          </a:xfrm>
          <a:prstGeom prst="rect">
            <a:avLst/>
          </a:prstGeom>
          <a:noFill/>
          <a:ln/>
        </p:spPr>
        <p:txBody>
          <a:bodyPr wrap="square" lIns="0" tIns="0" rIns="0" bIns="0" rtlCol="0" anchor="ctr"/>
          <a:lstStyle/>
          <a:p>
            <a:pPr indent="0" marL="0">
              <a:buNone/>
            </a:pPr>
            <a:r>
              <a:rPr lang="en-US" sz="1000" b="1" spc="140" kern="0" dirty="0">
                <a:solidFill>
                  <a:srgbClr val="FFFFFF"/>
                </a:solidFill>
                <a:latin typeface="Trenda IG Display" pitchFamily="34" charset="0"/>
                <a:ea typeface="Trenda IG Display" pitchFamily="34" charset="-122"/>
                <a:cs typeface="Trenda IG Display" pitchFamily="34" charset="-120"/>
              </a:rPr>
              <a:t>DEFAULT IS ALWAYS THE SAFER DOOR</a:t>
            </a:r>
            <a:endParaRPr lang="en-US" sz="1000" dirty="0"/>
          </a:p>
        </p:txBody>
      </p:sp>
      <p:sp>
        <p:nvSpPr>
          <p:cNvPr id="30" name="Text 28"/>
          <p:cNvSpPr txBox="1"/>
          <p:nvPr/>
        </p:nvSpPr>
        <p:spPr>
          <a:xfrm>
            <a:off x="6460236" y="4869180"/>
            <a:ext cx="4969764" cy="749808"/>
          </a:xfrm>
          <a:prstGeom prst="rect">
            <a:avLst/>
          </a:prstGeom>
          <a:noFill/>
          <a:ln/>
        </p:spPr>
        <p:txBody>
          <a:bodyPr wrap="square" lIns="0" tIns="0" rIns="0" bIns="0" rtlCol="0" anchor="t"/>
          <a:lstStyle/>
          <a:p>
            <a:pPr indent="0" marL="0">
              <a:lnSpc>
                <a:spcPts val="1300"/>
              </a:lnSpc>
              <a:buNone/>
            </a:pPr>
            <a:r>
              <a:rPr lang="en-US" sz="950" dirty="0">
                <a:solidFill>
                  <a:srgbClr val="E6EAF2"/>
                </a:solidFill>
                <a:latin typeface="Trenda IG Text" pitchFamily="34" charset="0"/>
                <a:ea typeface="Trenda IG Text" pitchFamily="34" charset="-122"/>
                <a:cs typeface="Trenda IG Text" pitchFamily="34" charset="-120"/>
              </a:rPr>
              <a:t>Any gate that cannot be answered with certainty sends the case one door to the right. An unresolved order number, a partially matched account or a low confidence score does not produce a guess, it produces a human. Failing safe is cheaper than being wrong once.</a:t>
            </a:r>
            <a:endParaRPr lang="en-US" sz="950" dirty="0"/>
          </a:p>
        </p:txBody>
      </p:sp>
      <p:pic>
        <p:nvPicPr>
          <p:cNvPr id="31" name="Image 0" descr="assets/ig-mark.png">    </p:cNvPr>
          <p:cNvPicPr>
            <a:picLocks noChangeAspect="1"/>
          </p:cNvPicPr>
          <p:nvPr/>
        </p:nvPicPr>
        <p:blipFill>
          <a:blip r:embed="rId1"/>
          <a:stretch>
            <a:fillRect/>
          </a:stretch>
        </p:blipFill>
        <p:spPr>
          <a:xfrm>
            <a:off x="502920" y="6455664"/>
            <a:ext cx="420624" cy="144475"/>
          </a:xfrm>
          <a:prstGeom prst="rect">
            <a:avLst/>
          </a:prstGeom>
        </p:spPr>
      </p:pic>
      <p:sp>
        <p:nvSpPr>
          <p:cNvPr id="32" name="Text 29"/>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DOOR 02  |  RESOLVES ITSELF</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A QUARTER OF THE VOLUME NEVER NEEDS AN AGENT</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These are cases where the correct answer is a lookup, not a decision. They are answered end to end, in about two minutes, including outside the staffed window.</a:t>
            </a:r>
            <a:endParaRPr lang="en-US" sz="11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796796"/>
          <a:ext cx="6720840" cy="914400"/>
        </p:xfrm>
        <a:graphic>
          <a:graphicData uri="http://schemas.openxmlformats.org/drawingml/2006/table">
            <a:tbl>
              <a:tblPr/>
              <a:tblGrid>
                <a:gridCol w="2606040"/>
                <a:gridCol w="1234440"/>
                <a:gridCol w="2880360"/>
              </a:tblGrid>
              <a:tr h="457200">
                <a:tc>
                  <a:txBody>
                    <a:bodyPr/>
                    <a:lstStyle/>
                    <a:p>
                      <a:pPr indent="0" marL="0">
                        <a:buNone/>
                      </a:pPr>
                      <a:r>
                        <a:rPr lang="en-US" sz="850" b="1" spc="100" kern="0" dirty="0">
                          <a:solidFill>
                            <a:srgbClr val="22D3EE"/>
                          </a:solidFill>
                          <a:latin typeface="Trenda IG Text" pitchFamily="34" charset="0"/>
                          <a:ea typeface="Trenda IG Text" pitchFamily="34" charset="-122"/>
                          <a:cs typeface="Trenda IG Text" pitchFamily="34" charset="-120"/>
                        </a:rPr>
                        <a:t>Case type</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A2130"/>
                    </a:solidFill>
                  </a:tcPr>
                </a:tc>
                <a:tc>
                  <a:txBody>
                    <a:bodyPr/>
                    <a:lstStyle/>
                    <a:p>
                      <a:pPr indent="0" marL="0">
                        <a:buNone/>
                      </a:pPr>
                      <a:r>
                        <a:rPr lang="en-US" sz="850" b="1" spc="100" kern="0" dirty="0">
                          <a:solidFill>
                            <a:srgbClr val="22D3EE"/>
                          </a:solidFill>
                          <a:latin typeface="Trenda IG Text" pitchFamily="34" charset="0"/>
                          <a:ea typeface="Trenda IG Text" pitchFamily="34" charset="-122"/>
                          <a:cs typeface="Trenda IG Text" pitchFamily="34" charset="-120"/>
                        </a:rPr>
                        <a:t>Monthly volume</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A2130"/>
                    </a:solidFill>
                  </a:tcPr>
                </a:tc>
                <a:tc>
                  <a:txBody>
                    <a:bodyPr/>
                    <a:lstStyle/>
                    <a:p>
                      <a:pPr indent="0" marL="0">
                        <a:buNone/>
                      </a:pPr>
                      <a:r>
                        <a:rPr lang="en-US" sz="850" b="1" spc="100" kern="0" dirty="0">
                          <a:solidFill>
                            <a:srgbClr val="22D3EE"/>
                          </a:solidFill>
                          <a:latin typeface="Trenda IG Text" pitchFamily="34" charset="0"/>
                          <a:ea typeface="Trenda IG Text" pitchFamily="34" charset="-122"/>
                          <a:cs typeface="Trenda IG Text" pitchFamily="34" charset="-120"/>
                        </a:rPr>
                        <a:t>Why it is safe to automate</a:t>
                      </a:r>
                      <a:endParaRPr lang="en-US" sz="85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A2130"/>
                    </a:solidFill>
                  </a:tcPr>
                </a:tc>
              </a:tr>
              <a:tr h="457200">
                <a:tc>
                  <a:txBody>
                    <a:bodyPr/>
                    <a:lstStyle/>
                    <a:p>
                      <a:pPr indent="0" marL="0">
                        <a:buNone/>
                      </a:pPr>
                      <a:r>
                        <a:rPr lang="en-US" sz="900" dirty="0">
                          <a:solidFill>
                            <a:srgbClr val="FFFFFF"/>
                          </a:solidFill>
                          <a:latin typeface="Trenda IG Text" pitchFamily="34" charset="0"/>
                          <a:ea typeface="Trenda IG Text" pitchFamily="34" charset="-122"/>
                          <a:cs typeface="Trenda IG Text" pitchFamily="34" charset="-120"/>
                        </a:rPr>
                        <a:t>Order status, tracking and proof of delivery</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algn="r" indent="0" marL="0">
                        <a:buNone/>
                      </a:pPr>
                      <a:r>
                        <a:rPr lang="en-US" sz="900" b="1" dirty="0">
                          <a:solidFill>
                            <a:srgbClr val="22D3EE"/>
                          </a:solidFill>
                          <a:latin typeface="Trenda IG Text" pitchFamily="34" charset="0"/>
                          <a:ea typeface="Trenda IG Text" pitchFamily="34" charset="-122"/>
                          <a:cs typeface="Trenda IG Text" pitchFamily="34" charset="-120"/>
                        </a:rPr>
                        <a:t>1,984</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900" dirty="0">
                          <a:solidFill>
                            <a:srgbClr val="8A94A6"/>
                          </a:solidFill>
                          <a:latin typeface="Trenda IG Text" pitchFamily="34" charset="0"/>
                          <a:ea typeface="Trenda IG Text" pitchFamily="34" charset="-122"/>
                          <a:cs typeface="Trenda IG Text" pitchFamily="34" charset="-120"/>
                        </a:rPr>
                        <a:t>The answer is a field on a record. There is no judgement to exercise.</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r>
              <a:tr h="457200">
                <a:tc>
                  <a:txBody>
                    <a:bodyPr/>
                    <a:lstStyle/>
                    <a:p>
                      <a:pPr indent="0" marL="0">
                        <a:buNone/>
                      </a:pPr>
                      <a:r>
                        <a:rPr lang="en-US" sz="900" dirty="0">
                          <a:solidFill>
                            <a:srgbClr val="FFFFFF"/>
                          </a:solidFill>
                          <a:latin typeface="Trenda IG Text" pitchFamily="34" charset="0"/>
                          <a:ea typeface="Trenda IG Text" pitchFamily="34" charset="-122"/>
                          <a:cs typeface="Trenda IG Text" pitchFamily="34" charset="-120"/>
                        </a:rPr>
                        <a:t>Clean order acknowledgement</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algn="r" indent="0" marL="0">
                        <a:buNone/>
                      </a:pPr>
                      <a:r>
                        <a:rPr lang="en-US" sz="900" b="1" dirty="0">
                          <a:solidFill>
                            <a:srgbClr val="22D3EE"/>
                          </a:solidFill>
                          <a:latin typeface="Trenda IG Text" pitchFamily="34" charset="0"/>
                          <a:ea typeface="Trenda IG Text" pitchFamily="34" charset="-122"/>
                          <a:cs typeface="Trenda IG Text" pitchFamily="34" charset="-120"/>
                        </a:rPr>
                        <a:t>3,665</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900" dirty="0">
                          <a:solidFill>
                            <a:srgbClr val="8A94A6"/>
                          </a:solidFill>
                          <a:latin typeface="Trenda IG Text" pitchFamily="34" charset="0"/>
                          <a:ea typeface="Trenda IG Text" pitchFamily="34" charset="-122"/>
                          <a:cs typeface="Trenda IG Text" pitchFamily="34" charset="-120"/>
                        </a:rPr>
                        <a:t>Every line validated against a real SKU, account and price before confirming.</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r>
              <a:tr h="457200">
                <a:tc>
                  <a:txBody>
                    <a:bodyPr/>
                    <a:lstStyle/>
                    <a:p>
                      <a:pPr indent="0" marL="0">
                        <a:buNone/>
                      </a:pPr>
                      <a:r>
                        <a:rPr lang="en-US" sz="900" dirty="0">
                          <a:solidFill>
                            <a:srgbClr val="FFFFFF"/>
                          </a:solidFill>
                          <a:latin typeface="Trenda IG Text" pitchFamily="34" charset="0"/>
                          <a:ea typeface="Trenda IG Text" pitchFamily="34" charset="-122"/>
                          <a:cs typeface="Trenda IG Text" pitchFamily="34" charset="-120"/>
                        </a:rPr>
                        <a:t>Published backorder and availability</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algn="r" indent="0" marL="0">
                        <a:buNone/>
                      </a:pPr>
                      <a:r>
                        <a:rPr lang="en-US" sz="900" b="1" dirty="0">
                          <a:solidFill>
                            <a:srgbClr val="22D3EE"/>
                          </a:solidFill>
                          <a:latin typeface="Trenda IG Text" pitchFamily="34" charset="0"/>
                          <a:ea typeface="Trenda IG Text" pitchFamily="34" charset="-122"/>
                          <a:cs typeface="Trenda IG Text" pitchFamily="34" charset="-120"/>
                        </a:rPr>
                        <a:t>965</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900" dirty="0">
                          <a:solidFill>
                            <a:srgbClr val="8A94A6"/>
                          </a:solidFill>
                          <a:latin typeface="Trenda IG Text" pitchFamily="34" charset="0"/>
                          <a:ea typeface="Trenda IG Text" pitchFamily="34" charset="-122"/>
                          <a:cs typeface="Trenda IG Text" pitchFamily="34" charset="-120"/>
                        </a:rPr>
                        <a:t>Stock position and ETA are published data, already given to customers today.</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r>
              <a:tr h="457200">
                <a:tc>
                  <a:txBody>
                    <a:bodyPr/>
                    <a:lstStyle/>
                    <a:p>
                      <a:pPr indent="0" marL="0">
                        <a:buNone/>
                      </a:pPr>
                      <a:r>
                        <a:rPr lang="en-US" sz="900" dirty="0">
                          <a:solidFill>
                            <a:srgbClr val="FFFFFF"/>
                          </a:solidFill>
                          <a:latin typeface="Trenda IG Text" pitchFamily="34" charset="0"/>
                          <a:ea typeface="Trenda IG Text" pitchFamily="34" charset="-122"/>
                          <a:cs typeface="Trenda IG Text" pitchFamily="34" charset="-120"/>
                        </a:rPr>
                        <a:t>Statements, invoice copies, documents</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algn="r" indent="0" marL="0">
                        <a:buNone/>
                      </a:pPr>
                      <a:r>
                        <a:rPr lang="en-US" sz="900" b="1" dirty="0">
                          <a:solidFill>
                            <a:srgbClr val="22D3EE"/>
                          </a:solidFill>
                          <a:latin typeface="Trenda IG Text" pitchFamily="34" charset="0"/>
                          <a:ea typeface="Trenda IG Text" pitchFamily="34" charset="-122"/>
                          <a:cs typeface="Trenda IG Text" pitchFamily="34" charset="-120"/>
                        </a:rPr>
                        <a:t>1,758</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c>
                  <a:txBody>
                    <a:bodyPr/>
                    <a:lstStyle/>
                    <a:p>
                      <a:pPr indent="0" marL="0">
                        <a:buNone/>
                      </a:pPr>
                      <a:r>
                        <a:rPr lang="en-US" sz="900" dirty="0">
                          <a:solidFill>
                            <a:srgbClr val="8A94A6"/>
                          </a:solidFill>
                          <a:latin typeface="Trenda IG Text" pitchFamily="34" charset="0"/>
                          <a:ea typeface="Trenda IG Text" pitchFamily="34" charset="-122"/>
                          <a:cs typeface="Trenda IG Text" pitchFamily="34" charset="-120"/>
                        </a:rPr>
                        <a:t>Retrieval and send. No content is authored and no figure is interpreted.</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51A24"/>
                    </a:solidFill>
                  </a:tcPr>
                </a:tc>
              </a:tr>
              <a:tr h="457200">
                <a:tc>
                  <a:txBody>
                    <a:bodyPr/>
                    <a:lstStyle/>
                    <a:p>
                      <a:pPr indent="0" marL="0">
                        <a:buNone/>
                      </a:pPr>
                      <a:r>
                        <a:rPr lang="en-US" sz="900" b="1" dirty="0">
                          <a:solidFill>
                            <a:srgbClr val="FFFFFF"/>
                          </a:solidFill>
                          <a:latin typeface="Trenda IG Text" pitchFamily="34" charset="0"/>
                          <a:ea typeface="Trenda IG Text" pitchFamily="34" charset="-122"/>
                          <a:cs typeface="Trenda IG Text" pitchFamily="34" charset="-120"/>
                        </a:rPr>
                        <a:t>TOTAL</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7222E"/>
                    </a:solidFill>
                  </a:tcPr>
                </a:tc>
                <a:tc>
                  <a:txBody>
                    <a:bodyPr/>
                    <a:lstStyle/>
                    <a:p>
                      <a:pPr algn="r" indent="0" marL="0">
                        <a:buNone/>
                      </a:pPr>
                      <a:r>
                        <a:rPr lang="en-US" sz="1100" b="1" dirty="0">
                          <a:solidFill>
                            <a:srgbClr val="22D3EE"/>
                          </a:solidFill>
                          <a:latin typeface="Trenda IG Text" pitchFamily="34" charset="0"/>
                          <a:ea typeface="Trenda IG Text" pitchFamily="34" charset="-122"/>
                          <a:cs typeface="Trenda IG Text" pitchFamily="34" charset="-120"/>
                        </a:rPr>
                        <a:t>8,372</a:t>
                      </a:r>
                      <a:endParaRPr lang="en-US" sz="11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7222E"/>
                    </a:solidFill>
                  </a:tcPr>
                </a:tc>
                <a:tc>
                  <a:txBody>
                    <a:bodyPr/>
                    <a:lstStyle/>
                    <a:p>
                      <a:pPr indent="0" marL="0">
                        <a:buNone/>
                      </a:pPr>
                      <a:r>
                        <a:rPr lang="en-US" sz="900" b="1" dirty="0">
                          <a:solidFill>
                            <a:srgbClr val="E6EAF2"/>
                          </a:solidFill>
                          <a:latin typeface="Trenda IG Text" pitchFamily="34" charset="0"/>
                          <a:ea typeface="Trenda IG Text" pitchFamily="34" charset="-122"/>
                          <a:cs typeface="Trenda IG Text" pitchFamily="34" charset="-120"/>
                        </a:rPr>
                        <a:t>25 percent of all monthly email volume</a:t>
                      </a:r>
                      <a:endParaRPr lang="en-US" sz="900" dirty="0">
                        <a:latin typeface="Trenda IG Text" charset="0"/>
                        <a:ea typeface="Trenda IG Text" charset="0"/>
                        <a:cs typeface="Trenda IG Text" charset="0"/>
                      </a:endParaRPr>
                    </a:p>
                  </a:txBody>
                  <a:tcPr marL="88900" marR="88900" marT="50800" marB="50800" anchor="ctr">
                    <a:lnL w="12700" cap="flat" cmpd="sng" algn="ctr">
                      <a:solidFill>
                        <a:srgbClr val="252D3D"/>
                      </a:solidFill>
                      <a:prstDash val="solid"/>
                      <a:round/>
                      <a:headEnd type="none" w="med" len="med"/>
                      <a:tailEnd type="none" w="med" len="med"/>
                    </a:lnL>
                    <a:lnR w="12700" cap="flat" cmpd="sng" algn="ctr">
                      <a:solidFill>
                        <a:srgbClr val="252D3D"/>
                      </a:solidFill>
                      <a:prstDash val="solid"/>
                      <a:round/>
                      <a:headEnd type="none" w="med" len="med"/>
                      <a:tailEnd type="none" w="med" len="med"/>
                    </a:lnR>
                    <a:lnT w="12700" cap="flat" cmpd="sng" algn="ctr">
                      <a:solidFill>
                        <a:srgbClr val="252D3D"/>
                      </a:solidFill>
                      <a:prstDash val="solid"/>
                      <a:round/>
                      <a:headEnd type="none" w="med" len="med"/>
                      <a:tailEnd type="none" w="med" len="med"/>
                    </a:lnT>
                    <a:lnB w="12700" cap="flat" cmpd="sng" algn="ctr">
                      <a:solidFill>
                        <a:srgbClr val="252D3D"/>
                      </a:solidFill>
                      <a:prstDash val="solid"/>
                      <a:round/>
                      <a:headEnd type="none" w="med" len="med"/>
                      <a:tailEnd type="none" w="med" len="med"/>
                    </a:lnB>
                    <a:solidFill>
                      <a:srgbClr val="17222E"/>
                    </a:solidFill>
                  </a:tcPr>
                </a:tc>
              </a:tr>
            </a:tbl>
          </a:graphicData>
        </a:graphic>
      </p:graphicFrame>
      <p:sp>
        <p:nvSpPr>
          <p:cNvPr id="6" name="Shape 3"/>
          <p:cNvSpPr/>
          <p:nvPr/>
        </p:nvSpPr>
        <p:spPr>
          <a:xfrm>
            <a:off x="7443216" y="1796796"/>
            <a:ext cx="4242816" cy="2761488"/>
          </a:xfrm>
          <a:prstGeom prst="roundRect">
            <a:avLst>
              <a:gd name="adj" fmla="val 1325"/>
            </a:avLst>
          </a:prstGeom>
          <a:solidFill>
            <a:srgbClr val="151A24"/>
          </a:solidFill>
          <a:ln w="12700">
            <a:solidFill>
              <a:srgbClr val="2A5468"/>
            </a:solidFill>
            <a:prstDash val="solid"/>
          </a:ln>
        </p:spPr>
      </p:sp>
      <p:sp>
        <p:nvSpPr>
          <p:cNvPr id="7" name="Text 4"/>
          <p:cNvSpPr txBox="1"/>
          <p:nvPr/>
        </p:nvSpPr>
        <p:spPr>
          <a:xfrm>
            <a:off x="7699248" y="1979676"/>
            <a:ext cx="3730752" cy="201168"/>
          </a:xfrm>
          <a:prstGeom prst="rect">
            <a:avLst/>
          </a:prstGeom>
          <a:noFill/>
          <a:ln/>
        </p:spPr>
        <p:txBody>
          <a:bodyPr wrap="square" lIns="0" tIns="0" rIns="0" bIns="0" rtlCol="0" anchor="ctr"/>
          <a:lstStyle/>
          <a:p>
            <a:pPr indent="0" marL="0">
              <a:buNone/>
            </a:pPr>
            <a:r>
              <a:rPr lang="en-US" sz="1000" b="1" spc="140" kern="0" dirty="0">
                <a:solidFill>
                  <a:srgbClr val="22D3EE"/>
                </a:solidFill>
                <a:latin typeface="Trenda IG Display" pitchFamily="34" charset="0"/>
                <a:ea typeface="Trenda IG Display" pitchFamily="34" charset="-122"/>
                <a:cs typeface="Trenda IG Display" pitchFamily="34" charset="-120"/>
              </a:rPr>
              <a:t>THE GUARDRAILS THAT MAKE IT SAFE</a:t>
            </a:r>
            <a:endParaRPr lang="en-US" sz="1000" dirty="0"/>
          </a:p>
        </p:txBody>
      </p:sp>
      <p:sp>
        <p:nvSpPr>
          <p:cNvPr id="8" name="Text 5"/>
          <p:cNvSpPr txBox="1"/>
          <p:nvPr/>
        </p:nvSpPr>
        <p:spPr>
          <a:xfrm>
            <a:off x="7699248" y="2308860"/>
            <a:ext cx="3730752" cy="2084832"/>
          </a:xfrm>
          <a:prstGeom prst="rect">
            <a:avLst/>
          </a:prstGeom>
          <a:noFill/>
          <a:ln/>
        </p:spPr>
        <p:txBody>
          <a:bodyPr wrap="square" lIns="0" tIns="0" rIns="0" bIns="0" rtlCol="0" anchor="t"/>
          <a:lstStyle/>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Each case type is released individually, only after it has run in supervised mode and met an accuracy threshold agreed with McKesson.</a:t>
            </a:r>
            <a:endParaRPr lang="en-US" sz="900" dirty="0"/>
          </a:p>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Every gate must pass. Any unresolved entity, account hold, dispute, PHI flag or complaint language sends the case to a person instead.</a:t>
            </a:r>
            <a:endParaRPr lang="en-US" sz="900" dirty="0"/>
          </a:p>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A standing sample of autonomous cases is reviewed by QA every day, and the outcome feeds the release decision for the next case type.</a:t>
            </a:r>
            <a:endParaRPr lang="en-US" sz="900" dirty="0"/>
          </a:p>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Any case type can be switched back to human handling from a single Flow setting, with no redeployment.</a:t>
            </a:r>
            <a:endParaRPr lang="en-US" sz="900" dirty="0"/>
          </a:p>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Nothing involving money moving, an account changing or a commitment being made is ever on this list.</a:t>
            </a:r>
            <a:endParaRPr lang="en-US" sz="900" dirty="0"/>
          </a:p>
        </p:txBody>
      </p:sp>
      <p:sp>
        <p:nvSpPr>
          <p:cNvPr id="9" name="Shape 6"/>
          <p:cNvSpPr/>
          <p:nvPr/>
        </p:nvSpPr>
        <p:spPr>
          <a:xfrm>
            <a:off x="502920" y="4777740"/>
            <a:ext cx="2658618" cy="1024128"/>
          </a:xfrm>
          <a:prstGeom prst="roundRect">
            <a:avLst>
              <a:gd name="adj" fmla="val 3571"/>
            </a:avLst>
          </a:prstGeom>
          <a:solidFill>
            <a:srgbClr val="151A24"/>
          </a:solidFill>
          <a:ln w="12700">
            <a:solidFill>
              <a:srgbClr val="252D3D"/>
            </a:solidFill>
            <a:prstDash val="solid"/>
          </a:ln>
        </p:spPr>
      </p:sp>
      <p:sp>
        <p:nvSpPr>
          <p:cNvPr id="10" name="Text 7"/>
          <p:cNvSpPr txBox="1"/>
          <p:nvPr/>
        </p:nvSpPr>
        <p:spPr>
          <a:xfrm>
            <a:off x="667512" y="4887468"/>
            <a:ext cx="2329434" cy="475488"/>
          </a:xfrm>
          <a:prstGeom prst="rect">
            <a:avLst/>
          </a:prstGeom>
          <a:noFill/>
          <a:ln/>
        </p:spPr>
        <p:txBody>
          <a:bodyPr wrap="square" lIns="0" tIns="0" rIns="0" bIns="0" rtlCol="0" anchor="ctr"/>
          <a:lstStyle/>
          <a:p>
            <a:pPr indent="0" marL="0">
              <a:buNone/>
            </a:pPr>
            <a:r>
              <a:rPr lang="en-US" sz="2200" b="1" dirty="0">
                <a:solidFill>
                  <a:srgbClr val="22D3EE"/>
                </a:solidFill>
                <a:latin typeface="Trenda IG Display" pitchFamily="34" charset="0"/>
                <a:ea typeface="Trenda IG Display" pitchFamily="34" charset="-122"/>
                <a:cs typeface="Trenda IG Display" pitchFamily="34" charset="-120"/>
              </a:rPr>
              <a:t>8,372</a:t>
            </a:r>
            <a:endParaRPr lang="en-US" sz="2200" dirty="0"/>
          </a:p>
        </p:txBody>
      </p:sp>
      <p:sp>
        <p:nvSpPr>
          <p:cNvPr id="11" name="Text 8"/>
          <p:cNvSpPr txBox="1"/>
          <p:nvPr/>
        </p:nvSpPr>
        <p:spPr>
          <a:xfrm>
            <a:off x="667512" y="5362956"/>
            <a:ext cx="2329434" cy="329184"/>
          </a:xfrm>
          <a:prstGeom prst="rect">
            <a:avLst/>
          </a:prstGeom>
          <a:noFill/>
          <a:ln/>
        </p:spPr>
        <p:txBody>
          <a:bodyPr wrap="square" lIns="0" tIns="0" rIns="0" bIns="0" rtlCol="0" anchor="t"/>
          <a:lstStyle/>
          <a:p>
            <a:pPr indent="0" marL="0">
              <a:lnSpc>
                <a:spcPts val="1200"/>
              </a:lnSpc>
              <a:buNone/>
            </a:pPr>
            <a:r>
              <a:rPr lang="en-US" sz="900" dirty="0">
                <a:solidFill>
                  <a:srgbClr val="8A94A6"/>
                </a:solidFill>
                <a:latin typeface="Trenda IG Text" pitchFamily="34" charset="0"/>
                <a:ea typeface="Trenda IG Text" pitchFamily="34" charset="-122"/>
                <a:cs typeface="Trenda IG Text" pitchFamily="34" charset="-120"/>
              </a:rPr>
              <a:t>Cases resolved with no agent each month</a:t>
            </a:r>
            <a:endParaRPr lang="en-US" sz="900" dirty="0"/>
          </a:p>
        </p:txBody>
      </p:sp>
      <p:sp>
        <p:nvSpPr>
          <p:cNvPr id="12" name="Shape 9"/>
          <p:cNvSpPr/>
          <p:nvPr/>
        </p:nvSpPr>
        <p:spPr>
          <a:xfrm>
            <a:off x="3344418" y="4777740"/>
            <a:ext cx="2658618" cy="1024128"/>
          </a:xfrm>
          <a:prstGeom prst="roundRect">
            <a:avLst>
              <a:gd name="adj" fmla="val 3571"/>
            </a:avLst>
          </a:prstGeom>
          <a:solidFill>
            <a:srgbClr val="151A24"/>
          </a:solidFill>
          <a:ln w="12700">
            <a:solidFill>
              <a:srgbClr val="252D3D"/>
            </a:solidFill>
            <a:prstDash val="solid"/>
          </a:ln>
        </p:spPr>
      </p:sp>
      <p:sp>
        <p:nvSpPr>
          <p:cNvPr id="13" name="Text 10"/>
          <p:cNvSpPr txBox="1"/>
          <p:nvPr/>
        </p:nvSpPr>
        <p:spPr>
          <a:xfrm>
            <a:off x="3509010" y="4887468"/>
            <a:ext cx="2329434" cy="475488"/>
          </a:xfrm>
          <a:prstGeom prst="rect">
            <a:avLst/>
          </a:prstGeom>
          <a:noFill/>
          <a:ln/>
        </p:spPr>
        <p:txBody>
          <a:bodyPr wrap="square" lIns="0" tIns="0" rIns="0" bIns="0" rtlCol="0" anchor="ctr"/>
          <a:lstStyle/>
          <a:p>
            <a:pPr indent="0" marL="0">
              <a:buNone/>
            </a:pPr>
            <a:r>
              <a:rPr lang="en-US" sz="2200" b="1" dirty="0">
                <a:solidFill>
                  <a:srgbClr val="22D3EE"/>
                </a:solidFill>
                <a:latin typeface="Trenda IG Display" pitchFamily="34" charset="0"/>
                <a:ea typeface="Trenda IG Display" pitchFamily="34" charset="-122"/>
                <a:cs typeface="Trenda IG Display" pitchFamily="34" charset="-120"/>
              </a:rPr>
              <a:t>Under 2 min</a:t>
            </a:r>
            <a:endParaRPr lang="en-US" sz="2200" dirty="0"/>
          </a:p>
        </p:txBody>
      </p:sp>
      <p:sp>
        <p:nvSpPr>
          <p:cNvPr id="14" name="Text 11"/>
          <p:cNvSpPr txBox="1"/>
          <p:nvPr/>
        </p:nvSpPr>
        <p:spPr>
          <a:xfrm>
            <a:off x="3509010" y="5362956"/>
            <a:ext cx="2329434" cy="329184"/>
          </a:xfrm>
          <a:prstGeom prst="rect">
            <a:avLst/>
          </a:prstGeom>
          <a:noFill/>
          <a:ln/>
        </p:spPr>
        <p:txBody>
          <a:bodyPr wrap="square" lIns="0" tIns="0" rIns="0" bIns="0" rtlCol="0" anchor="t"/>
          <a:lstStyle/>
          <a:p>
            <a:pPr indent="0" marL="0">
              <a:lnSpc>
                <a:spcPts val="1200"/>
              </a:lnSpc>
              <a:buNone/>
            </a:pPr>
            <a:r>
              <a:rPr lang="en-US" sz="900" dirty="0">
                <a:solidFill>
                  <a:srgbClr val="8A94A6"/>
                </a:solidFill>
                <a:latin typeface="Trenda IG Text" pitchFamily="34" charset="0"/>
                <a:ea typeface="Trenda IG Text" pitchFamily="34" charset="-122"/>
                <a:cs typeface="Trenda IG Text" pitchFamily="34" charset="-120"/>
              </a:rPr>
              <a:t>From arrival to the customer having their answer</a:t>
            </a:r>
            <a:endParaRPr lang="en-US" sz="900" dirty="0"/>
          </a:p>
        </p:txBody>
      </p:sp>
      <p:sp>
        <p:nvSpPr>
          <p:cNvPr id="15" name="Shape 12"/>
          <p:cNvSpPr/>
          <p:nvPr/>
        </p:nvSpPr>
        <p:spPr>
          <a:xfrm>
            <a:off x="6185916" y="4777740"/>
            <a:ext cx="2658618" cy="1024128"/>
          </a:xfrm>
          <a:prstGeom prst="roundRect">
            <a:avLst>
              <a:gd name="adj" fmla="val 3571"/>
            </a:avLst>
          </a:prstGeom>
          <a:solidFill>
            <a:srgbClr val="151A24"/>
          </a:solidFill>
          <a:ln w="12700">
            <a:solidFill>
              <a:srgbClr val="252D3D"/>
            </a:solidFill>
            <a:prstDash val="solid"/>
          </a:ln>
        </p:spPr>
      </p:sp>
      <p:sp>
        <p:nvSpPr>
          <p:cNvPr id="16" name="Text 13"/>
          <p:cNvSpPr txBox="1"/>
          <p:nvPr/>
        </p:nvSpPr>
        <p:spPr>
          <a:xfrm>
            <a:off x="6350508" y="4887468"/>
            <a:ext cx="2329434" cy="475488"/>
          </a:xfrm>
          <a:prstGeom prst="rect">
            <a:avLst/>
          </a:prstGeom>
          <a:noFill/>
          <a:ln/>
        </p:spPr>
        <p:txBody>
          <a:bodyPr wrap="square" lIns="0" tIns="0" rIns="0" bIns="0" rtlCol="0" anchor="ctr"/>
          <a:lstStyle/>
          <a:p>
            <a:pPr indent="0" marL="0">
              <a:buNone/>
            </a:pPr>
            <a:r>
              <a:rPr lang="en-US" sz="2200" b="1" dirty="0">
                <a:solidFill>
                  <a:srgbClr val="22D3EE"/>
                </a:solidFill>
                <a:latin typeface="Trenda IG Display" pitchFamily="34" charset="0"/>
                <a:ea typeface="Trenda IG Display" pitchFamily="34" charset="-122"/>
                <a:cs typeface="Trenda IG Display" pitchFamily="34" charset="-120"/>
              </a:rPr>
              <a:t>24 / 7</a:t>
            </a:r>
            <a:endParaRPr lang="en-US" sz="2200" dirty="0"/>
          </a:p>
        </p:txBody>
      </p:sp>
      <p:sp>
        <p:nvSpPr>
          <p:cNvPr id="17" name="Text 14"/>
          <p:cNvSpPr txBox="1"/>
          <p:nvPr/>
        </p:nvSpPr>
        <p:spPr>
          <a:xfrm>
            <a:off x="6350508" y="5362956"/>
            <a:ext cx="2329434" cy="329184"/>
          </a:xfrm>
          <a:prstGeom prst="rect">
            <a:avLst/>
          </a:prstGeom>
          <a:noFill/>
          <a:ln/>
        </p:spPr>
        <p:txBody>
          <a:bodyPr wrap="square" lIns="0" tIns="0" rIns="0" bIns="0" rtlCol="0" anchor="t"/>
          <a:lstStyle/>
          <a:p>
            <a:pPr indent="0" marL="0">
              <a:lnSpc>
                <a:spcPts val="1200"/>
              </a:lnSpc>
              <a:buNone/>
            </a:pPr>
            <a:r>
              <a:rPr lang="en-US" sz="900" dirty="0">
                <a:solidFill>
                  <a:srgbClr val="8A94A6"/>
                </a:solidFill>
                <a:latin typeface="Trenda IG Text" pitchFamily="34" charset="0"/>
                <a:ea typeface="Trenda IG Text" pitchFamily="34" charset="-122"/>
                <a:cs typeface="Trenda IG Text" pitchFamily="34" charset="-120"/>
              </a:rPr>
              <a:t>Door two answers outside the staffed window too</a:t>
            </a:r>
            <a:endParaRPr lang="en-US" sz="900" dirty="0"/>
          </a:p>
        </p:txBody>
      </p:sp>
      <p:sp>
        <p:nvSpPr>
          <p:cNvPr id="18" name="Shape 15"/>
          <p:cNvSpPr/>
          <p:nvPr/>
        </p:nvSpPr>
        <p:spPr>
          <a:xfrm>
            <a:off x="9027414" y="4777740"/>
            <a:ext cx="2658618" cy="1024128"/>
          </a:xfrm>
          <a:prstGeom prst="roundRect">
            <a:avLst>
              <a:gd name="adj" fmla="val 3571"/>
            </a:avLst>
          </a:prstGeom>
          <a:solidFill>
            <a:srgbClr val="151A24"/>
          </a:solidFill>
          <a:ln w="12700">
            <a:solidFill>
              <a:srgbClr val="252D3D"/>
            </a:solidFill>
            <a:prstDash val="solid"/>
          </a:ln>
        </p:spPr>
      </p:sp>
      <p:sp>
        <p:nvSpPr>
          <p:cNvPr id="19" name="Text 16"/>
          <p:cNvSpPr txBox="1"/>
          <p:nvPr/>
        </p:nvSpPr>
        <p:spPr>
          <a:xfrm>
            <a:off x="9192006" y="4887468"/>
            <a:ext cx="2329434" cy="475488"/>
          </a:xfrm>
          <a:prstGeom prst="rect">
            <a:avLst/>
          </a:prstGeom>
          <a:noFill/>
          <a:ln/>
        </p:spPr>
        <p:txBody>
          <a:bodyPr wrap="square" lIns="0" tIns="0" rIns="0" bIns="0" rtlCol="0" anchor="ctr"/>
          <a:lstStyle/>
          <a:p>
            <a:pPr indent="0" marL="0">
              <a:buNone/>
            </a:pPr>
            <a:r>
              <a:rPr lang="en-US" sz="2200" b="1" dirty="0">
                <a:solidFill>
                  <a:srgbClr val="22D3EE"/>
                </a:solidFill>
                <a:latin typeface="Trenda IG Display" pitchFamily="34" charset="0"/>
                <a:ea typeface="Trenda IG Display" pitchFamily="34" charset="-122"/>
                <a:cs typeface="Trenda IG Display" pitchFamily="34" charset="-120"/>
              </a:rPr>
              <a:t>~330 hrs</a:t>
            </a:r>
            <a:endParaRPr lang="en-US" sz="2200" dirty="0"/>
          </a:p>
        </p:txBody>
      </p:sp>
      <p:sp>
        <p:nvSpPr>
          <p:cNvPr id="20" name="Text 17"/>
          <p:cNvSpPr txBox="1"/>
          <p:nvPr/>
        </p:nvSpPr>
        <p:spPr>
          <a:xfrm>
            <a:off x="9192006" y="5362956"/>
            <a:ext cx="2329434" cy="329184"/>
          </a:xfrm>
          <a:prstGeom prst="rect">
            <a:avLst/>
          </a:prstGeom>
          <a:noFill/>
          <a:ln/>
        </p:spPr>
        <p:txBody>
          <a:bodyPr wrap="square" lIns="0" tIns="0" rIns="0" bIns="0" rtlCol="0" anchor="t"/>
          <a:lstStyle/>
          <a:p>
            <a:pPr indent="0" marL="0">
              <a:lnSpc>
                <a:spcPts val="1200"/>
              </a:lnSpc>
              <a:buNone/>
            </a:pPr>
            <a:r>
              <a:rPr lang="en-US" sz="900" dirty="0">
                <a:solidFill>
                  <a:srgbClr val="8A94A6"/>
                </a:solidFill>
                <a:latin typeface="Trenda IG Text" pitchFamily="34" charset="0"/>
                <a:ea typeface="Trenda IG Text" pitchFamily="34" charset="-122"/>
                <a:cs typeface="Trenda IG Text" pitchFamily="34" charset="-120"/>
              </a:rPr>
              <a:t>Agent handling effort removed each month</a:t>
            </a:r>
            <a:endParaRPr lang="en-US" sz="900" dirty="0"/>
          </a:p>
        </p:txBody>
      </p:sp>
      <p:sp>
        <p:nvSpPr>
          <p:cNvPr id="21" name="Text 18"/>
          <p:cNvSpPr txBox="1"/>
          <p:nvPr/>
        </p:nvSpPr>
        <p:spPr>
          <a:xfrm>
            <a:off x="502920" y="6035040"/>
            <a:ext cx="10085832" cy="347472"/>
          </a:xfrm>
          <a:prstGeom prst="rect">
            <a:avLst/>
          </a:prstGeom>
          <a:noFill/>
          <a:ln/>
        </p:spPr>
        <p:txBody>
          <a:bodyPr wrap="square" lIns="0" tIns="0" rIns="0" bIns="0" rtlCol="0" anchor="t"/>
          <a:lstStyle/>
          <a:p>
            <a:pPr indent="0" marL="0">
              <a:lnSpc>
                <a:spcPts val="1000"/>
              </a:lnSpc>
              <a:buNone/>
            </a:pPr>
            <a:r>
              <a:rPr lang="en-US" sz="750" i="1" dirty="0">
                <a:solidFill>
                  <a:srgbClr val="8A94A6"/>
                </a:solidFill>
                <a:latin typeface="Trenda IG Text" pitchFamily="34" charset="0"/>
                <a:ea typeface="Trenda IG Text" pitchFamily="34" charset="-122"/>
                <a:cs typeface="Trenda IG Text" pitchFamily="34" charset="-120"/>
              </a:rPr>
              <a:t>Volumes are modelled automation rates applied to the queue mix in the operations sample, and are proven case type by case type during the pilot rather than assumed at go live.</a:t>
            </a:r>
            <a:endParaRPr lang="en-US" sz="750" dirty="0"/>
          </a:p>
        </p:txBody>
      </p:sp>
      <p:pic>
        <p:nvPicPr>
          <p:cNvPr id="22" name="Image 0" descr="assets/ig-mark.png">    </p:cNvPr>
          <p:cNvPicPr>
            <a:picLocks noChangeAspect="1"/>
          </p:cNvPicPr>
          <p:nvPr/>
        </p:nvPicPr>
        <p:blipFill>
          <a:blip r:embed="rId1"/>
          <a:stretch>
            <a:fillRect/>
          </a:stretch>
        </p:blipFill>
        <p:spPr>
          <a:xfrm>
            <a:off x="502920" y="6455664"/>
            <a:ext cx="420624" cy="144475"/>
          </a:xfrm>
          <a:prstGeom prst="rect">
            <a:avLst/>
          </a:prstGeom>
        </p:spPr>
      </p:pic>
      <p:sp>
        <p:nvSpPr>
          <p:cNvPr id="23" name="Text 19"/>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DOOR 03  |  ONE TOUCH</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PRE-RESOLVED, NOT PRE-LABELLED</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This is the difference that matters. Most automation hands the agent a classified case and a blank reply box. Door three hands them a finished answer with the evidence attached, and asks them to approve it.</a:t>
            </a:r>
            <a:endParaRPr lang="en-US" sz="1150" dirty="0"/>
          </a:p>
        </p:txBody>
      </p:sp>
      <p:sp>
        <p:nvSpPr>
          <p:cNvPr id="5" name="Shape 3"/>
          <p:cNvSpPr/>
          <p:nvPr/>
        </p:nvSpPr>
        <p:spPr>
          <a:xfrm>
            <a:off x="502920" y="1796796"/>
            <a:ext cx="5472684" cy="2505456"/>
          </a:xfrm>
          <a:prstGeom prst="roundRect">
            <a:avLst>
              <a:gd name="adj" fmla="val 1460"/>
            </a:avLst>
          </a:prstGeom>
          <a:solidFill>
            <a:srgbClr val="151A24"/>
          </a:solidFill>
          <a:ln w="12700">
            <a:solidFill>
              <a:srgbClr val="252D3D"/>
            </a:solidFill>
            <a:prstDash val="solid"/>
          </a:ln>
        </p:spPr>
      </p:sp>
      <p:sp>
        <p:nvSpPr>
          <p:cNvPr id="6" name="Text 4"/>
          <p:cNvSpPr txBox="1"/>
          <p:nvPr/>
        </p:nvSpPr>
        <p:spPr>
          <a:xfrm>
            <a:off x="777240" y="1997964"/>
            <a:ext cx="4924044" cy="201168"/>
          </a:xfrm>
          <a:prstGeom prst="rect">
            <a:avLst/>
          </a:prstGeom>
          <a:noFill/>
          <a:ln/>
        </p:spPr>
        <p:txBody>
          <a:bodyPr wrap="square" lIns="0" tIns="0" rIns="0" bIns="0" rtlCol="0" anchor="ctr"/>
          <a:lstStyle/>
          <a:p>
            <a:pPr indent="0" marL="0">
              <a:buNone/>
            </a:pPr>
            <a:r>
              <a:rPr lang="en-US" sz="1000" b="1" spc="140" kern="0" dirty="0">
                <a:solidFill>
                  <a:srgbClr val="FFFFFF"/>
                </a:solidFill>
                <a:latin typeface="Trenda IG Display" pitchFamily="34" charset="0"/>
                <a:ea typeface="Trenda IG Display" pitchFamily="34" charset="-122"/>
                <a:cs typeface="Trenda IG Display" pitchFamily="34" charset="-120"/>
              </a:rPr>
              <a:t>WHAT IS ON THE CASE WHEN THE AGENT OPENS IT</a:t>
            </a:r>
            <a:endParaRPr lang="en-US" sz="1000" dirty="0"/>
          </a:p>
        </p:txBody>
      </p:sp>
      <p:sp>
        <p:nvSpPr>
          <p:cNvPr id="7" name="Text 5"/>
          <p:cNvSpPr txBox="1"/>
          <p:nvPr/>
        </p:nvSpPr>
        <p:spPr>
          <a:xfrm>
            <a:off x="777240" y="2327148"/>
            <a:ext cx="1188720" cy="347472"/>
          </a:xfrm>
          <a:prstGeom prst="rect">
            <a:avLst/>
          </a:prstGeom>
          <a:noFill/>
          <a:ln/>
        </p:spPr>
        <p:txBody>
          <a:bodyPr wrap="square" lIns="0" tIns="0" rIns="0" bIns="0" rtlCol="0" anchor="ctr"/>
          <a:lstStyle/>
          <a:p>
            <a:pPr indent="0" marL="0">
              <a:buNone/>
            </a:pPr>
            <a:r>
              <a:rPr lang="en-US" sz="950" b="1" dirty="0">
                <a:solidFill>
                  <a:srgbClr val="22D3EE"/>
                </a:solidFill>
                <a:latin typeface="Trenda IG Text" pitchFamily="34" charset="0"/>
                <a:ea typeface="Trenda IG Text" pitchFamily="34" charset="-122"/>
                <a:cs typeface="Trenda IG Text" pitchFamily="34" charset="-120"/>
              </a:rPr>
              <a:t>The answer</a:t>
            </a:r>
            <a:endParaRPr lang="en-US" sz="950" dirty="0"/>
          </a:p>
        </p:txBody>
      </p:sp>
      <p:sp>
        <p:nvSpPr>
          <p:cNvPr id="8" name="Text 6"/>
          <p:cNvSpPr txBox="1"/>
          <p:nvPr/>
        </p:nvSpPr>
        <p:spPr>
          <a:xfrm>
            <a:off x="2002536" y="2327148"/>
            <a:ext cx="3698748" cy="365760"/>
          </a:xfrm>
          <a:prstGeom prst="rect">
            <a:avLst/>
          </a:prstGeom>
          <a:noFill/>
          <a:ln/>
        </p:spPr>
        <p:txBody>
          <a:bodyPr wrap="square" lIns="0" tIns="0" rIns="0" bIns="0" rtlCol="0" anchor="ctr"/>
          <a:lstStyle/>
          <a:p>
            <a:pPr indent="0" marL="0">
              <a:lnSpc>
                <a:spcPts val="1150"/>
              </a:lnSpc>
              <a:buNone/>
            </a:pPr>
            <a:r>
              <a:rPr lang="en-US" sz="850" dirty="0">
                <a:solidFill>
                  <a:srgbClr val="8A94A6"/>
                </a:solidFill>
                <a:latin typeface="Trenda IG Text" pitchFamily="34" charset="0"/>
                <a:ea typeface="Trenda IG Text" pitchFamily="34" charset="-122"/>
                <a:cs typeface="Trenda IG Text" pitchFamily="34" charset="-120"/>
              </a:rPr>
              <a:t>A complete drafted reply in the approved Extended Care voice, not a template with gaps to fill.</a:t>
            </a:r>
            <a:endParaRPr lang="en-US" sz="850" dirty="0"/>
          </a:p>
        </p:txBody>
      </p:sp>
      <p:sp>
        <p:nvSpPr>
          <p:cNvPr id="9" name="Text 7"/>
          <p:cNvSpPr txBox="1"/>
          <p:nvPr/>
        </p:nvSpPr>
        <p:spPr>
          <a:xfrm>
            <a:off x="777240" y="2711196"/>
            <a:ext cx="1188720" cy="347472"/>
          </a:xfrm>
          <a:prstGeom prst="rect">
            <a:avLst/>
          </a:prstGeom>
          <a:noFill/>
          <a:ln/>
        </p:spPr>
        <p:txBody>
          <a:bodyPr wrap="square" lIns="0" tIns="0" rIns="0" bIns="0" rtlCol="0" anchor="ctr"/>
          <a:lstStyle/>
          <a:p>
            <a:pPr indent="0" marL="0">
              <a:buNone/>
            </a:pPr>
            <a:r>
              <a:rPr lang="en-US" sz="950" b="1" dirty="0">
                <a:solidFill>
                  <a:srgbClr val="22D3EE"/>
                </a:solidFill>
                <a:latin typeface="Trenda IG Text" pitchFamily="34" charset="0"/>
                <a:ea typeface="Trenda IG Text" pitchFamily="34" charset="-122"/>
                <a:cs typeface="Trenda IG Text" pitchFamily="34" charset="-120"/>
              </a:rPr>
              <a:t>The evidence</a:t>
            </a:r>
            <a:endParaRPr lang="en-US" sz="950" dirty="0"/>
          </a:p>
        </p:txBody>
      </p:sp>
      <p:sp>
        <p:nvSpPr>
          <p:cNvPr id="10" name="Text 8"/>
          <p:cNvSpPr txBox="1"/>
          <p:nvPr/>
        </p:nvSpPr>
        <p:spPr>
          <a:xfrm>
            <a:off x="2002536" y="2711196"/>
            <a:ext cx="3698748" cy="365760"/>
          </a:xfrm>
          <a:prstGeom prst="rect">
            <a:avLst/>
          </a:prstGeom>
          <a:noFill/>
          <a:ln/>
        </p:spPr>
        <p:txBody>
          <a:bodyPr wrap="square" lIns="0" tIns="0" rIns="0" bIns="0" rtlCol="0" anchor="ctr"/>
          <a:lstStyle/>
          <a:p>
            <a:pPr indent="0" marL="0">
              <a:lnSpc>
                <a:spcPts val="1150"/>
              </a:lnSpc>
              <a:buNone/>
            </a:pPr>
            <a:r>
              <a:rPr lang="en-US" sz="850" dirty="0">
                <a:solidFill>
                  <a:srgbClr val="8A94A6"/>
                </a:solidFill>
                <a:latin typeface="Trenda IG Text" pitchFamily="34" charset="0"/>
                <a:ea typeface="Trenda IG Text" pitchFamily="34" charset="-122"/>
                <a:cs typeface="Trenda IG Text" pitchFamily="34" charset="-120"/>
              </a:rPr>
              <a:t>Order, invoice, shipment and account records already retrieved and linked to the case.</a:t>
            </a:r>
            <a:endParaRPr lang="en-US" sz="850" dirty="0"/>
          </a:p>
        </p:txBody>
      </p:sp>
      <p:sp>
        <p:nvSpPr>
          <p:cNvPr id="11" name="Text 9"/>
          <p:cNvSpPr txBox="1"/>
          <p:nvPr/>
        </p:nvSpPr>
        <p:spPr>
          <a:xfrm>
            <a:off x="777240" y="3095244"/>
            <a:ext cx="1188720" cy="347472"/>
          </a:xfrm>
          <a:prstGeom prst="rect">
            <a:avLst/>
          </a:prstGeom>
          <a:noFill/>
          <a:ln/>
        </p:spPr>
        <p:txBody>
          <a:bodyPr wrap="square" lIns="0" tIns="0" rIns="0" bIns="0" rtlCol="0" anchor="ctr"/>
          <a:lstStyle/>
          <a:p>
            <a:pPr indent="0" marL="0">
              <a:buNone/>
            </a:pPr>
            <a:r>
              <a:rPr lang="en-US" sz="950" b="1" dirty="0">
                <a:solidFill>
                  <a:srgbClr val="22D3EE"/>
                </a:solidFill>
                <a:latin typeface="Trenda IG Text" pitchFamily="34" charset="0"/>
                <a:ea typeface="Trenda IG Text" pitchFamily="34" charset="-122"/>
                <a:cs typeface="Trenda IG Text" pitchFamily="34" charset="-120"/>
              </a:rPr>
              <a:t>The authority</a:t>
            </a:r>
            <a:endParaRPr lang="en-US" sz="950" dirty="0"/>
          </a:p>
        </p:txBody>
      </p:sp>
      <p:sp>
        <p:nvSpPr>
          <p:cNvPr id="12" name="Text 10"/>
          <p:cNvSpPr txBox="1"/>
          <p:nvPr/>
        </p:nvSpPr>
        <p:spPr>
          <a:xfrm>
            <a:off x="2002536" y="3095244"/>
            <a:ext cx="3698748" cy="365760"/>
          </a:xfrm>
          <a:prstGeom prst="rect">
            <a:avLst/>
          </a:prstGeom>
          <a:noFill/>
          <a:ln/>
        </p:spPr>
        <p:txBody>
          <a:bodyPr wrap="square" lIns="0" tIns="0" rIns="0" bIns="0" rtlCol="0" anchor="ctr"/>
          <a:lstStyle/>
          <a:p>
            <a:pPr indent="0" marL="0">
              <a:lnSpc>
                <a:spcPts val="1150"/>
              </a:lnSpc>
              <a:buNone/>
            </a:pPr>
            <a:r>
              <a:rPr lang="en-US" sz="850" dirty="0">
                <a:solidFill>
                  <a:srgbClr val="8A94A6"/>
                </a:solidFill>
                <a:latin typeface="Trenda IG Text" pitchFamily="34" charset="0"/>
                <a:ea typeface="Trenda IG Text" pitchFamily="34" charset="-122"/>
                <a:cs typeface="Trenda IG Text" pitchFamily="34" charset="-120"/>
              </a:rPr>
              <a:t>The Knowledge article the answer is grounded in, attached and cited so it can be checked in seconds.</a:t>
            </a:r>
            <a:endParaRPr lang="en-US" sz="850" dirty="0"/>
          </a:p>
        </p:txBody>
      </p:sp>
      <p:sp>
        <p:nvSpPr>
          <p:cNvPr id="13" name="Text 11"/>
          <p:cNvSpPr txBox="1"/>
          <p:nvPr/>
        </p:nvSpPr>
        <p:spPr>
          <a:xfrm>
            <a:off x="777240" y="3479292"/>
            <a:ext cx="1188720" cy="347472"/>
          </a:xfrm>
          <a:prstGeom prst="rect">
            <a:avLst/>
          </a:prstGeom>
          <a:noFill/>
          <a:ln/>
        </p:spPr>
        <p:txBody>
          <a:bodyPr wrap="square" lIns="0" tIns="0" rIns="0" bIns="0" rtlCol="0" anchor="ctr"/>
          <a:lstStyle/>
          <a:p>
            <a:pPr indent="0" marL="0">
              <a:buNone/>
            </a:pPr>
            <a:r>
              <a:rPr lang="en-US" sz="950" b="1" dirty="0">
                <a:solidFill>
                  <a:srgbClr val="22D3EE"/>
                </a:solidFill>
                <a:latin typeface="Trenda IG Text" pitchFamily="34" charset="0"/>
                <a:ea typeface="Trenda IG Text" pitchFamily="34" charset="-122"/>
                <a:cs typeface="Trenda IG Text" pitchFamily="34" charset="-120"/>
              </a:rPr>
              <a:t>The context</a:t>
            </a:r>
            <a:endParaRPr lang="en-US" sz="950" dirty="0"/>
          </a:p>
        </p:txBody>
      </p:sp>
      <p:sp>
        <p:nvSpPr>
          <p:cNvPr id="14" name="Text 12"/>
          <p:cNvSpPr txBox="1"/>
          <p:nvPr/>
        </p:nvSpPr>
        <p:spPr>
          <a:xfrm>
            <a:off x="2002536" y="3479292"/>
            <a:ext cx="3698748" cy="365760"/>
          </a:xfrm>
          <a:prstGeom prst="rect">
            <a:avLst/>
          </a:prstGeom>
          <a:noFill/>
          <a:ln/>
        </p:spPr>
        <p:txBody>
          <a:bodyPr wrap="square" lIns="0" tIns="0" rIns="0" bIns="0" rtlCol="0" anchor="ctr"/>
          <a:lstStyle/>
          <a:p>
            <a:pPr indent="0" marL="0">
              <a:lnSpc>
                <a:spcPts val="1150"/>
              </a:lnSpc>
              <a:buNone/>
            </a:pPr>
            <a:r>
              <a:rPr lang="en-US" sz="850" dirty="0">
                <a:solidFill>
                  <a:srgbClr val="8A94A6"/>
                </a:solidFill>
                <a:latin typeface="Trenda IG Text" pitchFamily="34" charset="0"/>
                <a:ea typeface="Trenda IG Text" pitchFamily="34" charset="-122"/>
                <a:cs typeface="Trenda IG Text" pitchFamily="34" charset="-120"/>
              </a:rPr>
              <a:t>A summary of the thread and of anything the account has raised before.</a:t>
            </a:r>
            <a:endParaRPr lang="en-US" sz="850" dirty="0"/>
          </a:p>
        </p:txBody>
      </p:sp>
      <p:sp>
        <p:nvSpPr>
          <p:cNvPr id="15" name="Text 13"/>
          <p:cNvSpPr txBox="1"/>
          <p:nvPr/>
        </p:nvSpPr>
        <p:spPr>
          <a:xfrm>
            <a:off x="777240" y="3863340"/>
            <a:ext cx="1188720" cy="347472"/>
          </a:xfrm>
          <a:prstGeom prst="rect">
            <a:avLst/>
          </a:prstGeom>
          <a:noFill/>
          <a:ln/>
        </p:spPr>
        <p:txBody>
          <a:bodyPr wrap="square" lIns="0" tIns="0" rIns="0" bIns="0" rtlCol="0" anchor="ctr"/>
          <a:lstStyle/>
          <a:p>
            <a:pPr indent="0" marL="0">
              <a:buNone/>
            </a:pPr>
            <a:r>
              <a:rPr lang="en-US" sz="950" b="1" dirty="0">
                <a:solidFill>
                  <a:srgbClr val="22D3EE"/>
                </a:solidFill>
                <a:latin typeface="Trenda IG Text" pitchFamily="34" charset="0"/>
                <a:ea typeface="Trenda IG Text" pitchFamily="34" charset="-122"/>
                <a:cs typeface="Trenda IG Text" pitchFamily="34" charset="-120"/>
              </a:rPr>
              <a:t>The next step</a:t>
            </a:r>
            <a:endParaRPr lang="en-US" sz="950" dirty="0"/>
          </a:p>
        </p:txBody>
      </p:sp>
      <p:sp>
        <p:nvSpPr>
          <p:cNvPr id="16" name="Text 14"/>
          <p:cNvSpPr txBox="1"/>
          <p:nvPr/>
        </p:nvSpPr>
        <p:spPr>
          <a:xfrm>
            <a:off x="2002536" y="3863340"/>
            <a:ext cx="3698748" cy="365760"/>
          </a:xfrm>
          <a:prstGeom prst="rect">
            <a:avLst/>
          </a:prstGeom>
          <a:noFill/>
          <a:ln/>
        </p:spPr>
        <p:txBody>
          <a:bodyPr wrap="square" lIns="0" tIns="0" rIns="0" bIns="0" rtlCol="0" anchor="ctr"/>
          <a:lstStyle/>
          <a:p>
            <a:pPr indent="0" marL="0">
              <a:lnSpc>
                <a:spcPts val="1150"/>
              </a:lnSpc>
              <a:buNone/>
            </a:pPr>
            <a:r>
              <a:rPr lang="en-US" sz="850" dirty="0">
                <a:solidFill>
                  <a:srgbClr val="8A94A6"/>
                </a:solidFill>
                <a:latin typeface="Trenda IG Text" pitchFamily="34" charset="0"/>
                <a:ea typeface="Trenda IG Text" pitchFamily="34" charset="-122"/>
                <a:cs typeface="Trenda IG Text" pitchFamily="34" charset="-120"/>
              </a:rPr>
              <a:t>The recommended action and disposition, pre-selected and ready to confirm.</a:t>
            </a:r>
            <a:endParaRPr lang="en-US" sz="850" dirty="0"/>
          </a:p>
        </p:txBody>
      </p:sp>
      <p:sp>
        <p:nvSpPr>
          <p:cNvPr id="17" name="Shape 15"/>
          <p:cNvSpPr/>
          <p:nvPr/>
        </p:nvSpPr>
        <p:spPr>
          <a:xfrm>
            <a:off x="6213348" y="1796796"/>
            <a:ext cx="5472684" cy="2505456"/>
          </a:xfrm>
          <a:prstGeom prst="roundRect">
            <a:avLst>
              <a:gd name="adj" fmla="val 1460"/>
            </a:avLst>
          </a:prstGeom>
          <a:solidFill>
            <a:srgbClr val="151A24"/>
          </a:solidFill>
          <a:ln w="12700">
            <a:solidFill>
              <a:srgbClr val="252D3D"/>
            </a:solidFill>
            <a:prstDash val="solid"/>
          </a:ln>
        </p:spPr>
      </p:sp>
      <p:sp>
        <p:nvSpPr>
          <p:cNvPr id="18" name="Text 16"/>
          <p:cNvSpPr txBox="1"/>
          <p:nvPr/>
        </p:nvSpPr>
        <p:spPr>
          <a:xfrm>
            <a:off x="6487668" y="1997964"/>
            <a:ext cx="4924044" cy="201168"/>
          </a:xfrm>
          <a:prstGeom prst="rect">
            <a:avLst/>
          </a:prstGeom>
          <a:noFill/>
          <a:ln/>
        </p:spPr>
        <p:txBody>
          <a:bodyPr wrap="square" lIns="0" tIns="0" rIns="0" bIns="0" rtlCol="0" anchor="ctr"/>
          <a:lstStyle/>
          <a:p>
            <a:pPr indent="0" marL="0">
              <a:buNone/>
            </a:pPr>
            <a:r>
              <a:rPr lang="en-US" sz="1000" b="1" spc="140" kern="0" dirty="0">
                <a:solidFill>
                  <a:srgbClr val="FFFFFF"/>
                </a:solidFill>
                <a:latin typeface="Trenda IG Display" pitchFamily="34" charset="0"/>
                <a:ea typeface="Trenda IG Display" pitchFamily="34" charset="-122"/>
                <a:cs typeface="Trenda IG Display" pitchFamily="34" charset="-120"/>
              </a:rPr>
              <a:t>WHAT THE AGENT ACTUALLY DOES</a:t>
            </a:r>
            <a:endParaRPr lang="en-US" sz="1000" dirty="0"/>
          </a:p>
        </p:txBody>
      </p:sp>
      <p:sp>
        <p:nvSpPr>
          <p:cNvPr id="19" name="Text 17"/>
          <p:cNvSpPr txBox="1"/>
          <p:nvPr/>
        </p:nvSpPr>
        <p:spPr>
          <a:xfrm>
            <a:off x="6487668" y="2308860"/>
            <a:ext cx="4924044" cy="420624"/>
          </a:xfrm>
          <a:prstGeom prst="rect">
            <a:avLst/>
          </a:prstGeom>
          <a:noFill/>
          <a:ln/>
        </p:spPr>
        <p:txBody>
          <a:bodyPr wrap="square" lIns="0" tIns="0" rIns="0" bIns="0" rtlCol="0" anchor="t"/>
          <a:lstStyle/>
          <a:p>
            <a:pPr indent="0" marL="0">
              <a:lnSpc>
                <a:spcPts val="1900"/>
              </a:lnSpc>
              <a:buNone/>
            </a:pPr>
            <a:r>
              <a:rPr lang="en-US" sz="1300" dirty="0">
                <a:solidFill>
                  <a:srgbClr val="FFFFFF"/>
                </a:solidFill>
                <a:latin typeface="Trenda IG Display" pitchFamily="34" charset="0"/>
                <a:ea typeface="Trenda IG Display" pitchFamily="34" charset="-122"/>
                <a:cs typeface="Trenda IG Display" pitchFamily="34" charset="-120"/>
              </a:rPr>
              <a:t>Read the summary. Check the draft against the evidence. Correct anything that is wrong. Send.</a:t>
            </a:r>
            <a:endParaRPr lang="en-US" sz="1300" dirty="0"/>
          </a:p>
        </p:txBody>
      </p:sp>
      <p:sp>
        <p:nvSpPr>
          <p:cNvPr id="20" name="Text 18"/>
          <p:cNvSpPr txBox="1"/>
          <p:nvPr/>
        </p:nvSpPr>
        <p:spPr>
          <a:xfrm>
            <a:off x="6487668" y="2839212"/>
            <a:ext cx="4924044" cy="1298448"/>
          </a:xfrm>
          <a:prstGeom prst="rect">
            <a:avLst/>
          </a:prstGeom>
          <a:noFill/>
          <a:ln/>
        </p:spPr>
        <p:txBody>
          <a:bodyPr wrap="square" lIns="0" tIns="0" rIns="0" bIns="0" rtlCol="0" anchor="t"/>
          <a:lstStyle/>
          <a:p>
            <a:pPr indent="0" marL="0">
              <a:lnSpc>
                <a:spcPts val="1350"/>
              </a:lnSpc>
              <a:buNone/>
            </a:pPr>
            <a:r>
              <a:rPr lang="en-US" sz="950" dirty="0">
                <a:solidFill>
                  <a:srgbClr val="8A94A6"/>
                </a:solidFill>
                <a:latin typeface="Trenda IG Text" pitchFamily="34" charset="0"/>
                <a:ea typeface="Trenda IG Text" pitchFamily="34" charset="-122"/>
                <a:cs typeface="Trenda IG Text" pitchFamily="34" charset="-120"/>
              </a:rPr>
              <a:t>The agent is doing the part of the job that needs a person: deciding whether this answer is right for this customer. They are not doing retrieval, and they are not doing composition.</a:t>
            </a:r>
            <a:endParaRPr lang="en-US" sz="950" dirty="0"/>
          </a:p>
          <a:p>
            <a:pPr indent="0" marL="0">
              <a:lnSpc>
                <a:spcPts val="1350"/>
              </a:lnSpc>
              <a:buNone/>
            </a:pPr>
            <a:endParaRPr lang="en-US" sz="950" dirty="0"/>
          </a:p>
          <a:p>
            <a:pPr indent="0" marL="0">
              <a:lnSpc>
                <a:spcPts val="1350"/>
              </a:lnSpc>
              <a:buNone/>
            </a:pPr>
            <a:r>
              <a:rPr lang="en-US" sz="950" dirty="0">
                <a:solidFill>
                  <a:srgbClr val="8A94A6"/>
                </a:solidFill>
                <a:latin typeface="Trenda IG Text" pitchFamily="34" charset="0"/>
                <a:ea typeface="Trenda IG Text" pitchFamily="34" charset="-122"/>
                <a:cs typeface="Trenda IG Text" pitchFamily="34" charset="-120"/>
              </a:rPr>
              <a:t>That is why the saving is around 30 percent rather than the few percent a template library delivers, and why it arrives without asking anyone to work faster.</a:t>
            </a:r>
            <a:endParaRPr lang="en-US" sz="950" dirty="0"/>
          </a:p>
        </p:txBody>
      </p:sp>
      <p:sp>
        <p:nvSpPr>
          <p:cNvPr id="21" name="Shape 19"/>
          <p:cNvSpPr/>
          <p:nvPr/>
        </p:nvSpPr>
        <p:spPr>
          <a:xfrm>
            <a:off x="502920" y="4521708"/>
            <a:ext cx="11183112" cy="1280160"/>
          </a:xfrm>
          <a:prstGeom prst="roundRect">
            <a:avLst>
              <a:gd name="adj" fmla="val 2857"/>
            </a:avLst>
          </a:prstGeom>
          <a:solidFill>
            <a:srgbClr val="151A24"/>
          </a:solidFill>
          <a:ln w="12700">
            <a:solidFill>
              <a:srgbClr val="2A5468"/>
            </a:solidFill>
            <a:prstDash val="solid"/>
          </a:ln>
        </p:spPr>
      </p:sp>
      <p:sp>
        <p:nvSpPr>
          <p:cNvPr id="22" name="Text 20"/>
          <p:cNvSpPr txBox="1"/>
          <p:nvPr/>
        </p:nvSpPr>
        <p:spPr>
          <a:xfrm>
            <a:off x="777240" y="4686300"/>
            <a:ext cx="7315200" cy="201168"/>
          </a:xfrm>
          <a:prstGeom prst="rect">
            <a:avLst/>
          </a:prstGeom>
          <a:noFill/>
          <a:ln/>
        </p:spPr>
        <p:txBody>
          <a:bodyPr wrap="square" lIns="0" tIns="0" rIns="0" bIns="0" rtlCol="0" anchor="ctr"/>
          <a:lstStyle/>
          <a:p>
            <a:pPr indent="0" marL="0">
              <a:buNone/>
            </a:pPr>
            <a:r>
              <a:rPr lang="en-US" sz="1000" b="1" spc="140" kern="0" dirty="0">
                <a:solidFill>
                  <a:srgbClr val="22D3EE"/>
                </a:solidFill>
                <a:latin typeface="Trenda IG Display" pitchFamily="34" charset="0"/>
                <a:ea typeface="Trenda IG Display" pitchFamily="34" charset="-122"/>
                <a:cs typeface="Trenda IG Display" pitchFamily="34" charset="-120"/>
              </a:rPr>
              <a:t>THE RULE THAT MAKES THIS WORK</a:t>
            </a:r>
            <a:endParaRPr lang="en-US" sz="1000" dirty="0"/>
          </a:p>
        </p:txBody>
      </p:sp>
      <p:sp>
        <p:nvSpPr>
          <p:cNvPr id="23" name="Text 21"/>
          <p:cNvSpPr txBox="1"/>
          <p:nvPr/>
        </p:nvSpPr>
        <p:spPr>
          <a:xfrm>
            <a:off x="777240" y="4978908"/>
            <a:ext cx="10634472" cy="713232"/>
          </a:xfrm>
          <a:prstGeom prst="rect">
            <a:avLst/>
          </a:prstGeom>
          <a:noFill/>
          <a:ln/>
        </p:spPr>
        <p:txBody>
          <a:bodyPr wrap="square" lIns="0" tIns="0" rIns="0" bIns="0" rtlCol="0" anchor="t"/>
          <a:lstStyle/>
          <a:p>
            <a:pPr indent="0" marL="0">
              <a:lnSpc>
                <a:spcPts val="1450"/>
              </a:lnSpc>
              <a:buNone/>
            </a:pPr>
            <a:r>
              <a:rPr lang="en-US" sz="1000" b="1" dirty="0">
                <a:solidFill>
                  <a:srgbClr val="FFFFFF"/>
                </a:solidFill>
                <a:latin typeface="Trenda IG Text" pitchFamily="34" charset="0"/>
                <a:ea typeface="Trenda IG Text" pitchFamily="34" charset="-122"/>
                <a:cs typeface="Trenda IG Text" pitchFamily="34" charset="-120"/>
              </a:rPr>
              <a:t>A draft the agent has to rewrite is worse than no draft at all, because they pay to read it before they pay to replace it. </a:t>
            </a:r>
            <a:pPr indent="0" marL="0">
              <a:lnSpc>
                <a:spcPts val="1450"/>
              </a:lnSpc>
              <a:buNone/>
            </a:pPr>
            <a:r>
              <a:rPr lang="en-US" sz="1000" dirty="0">
                <a:solidFill>
                  <a:srgbClr val="E6EAF2"/>
                </a:solidFill>
                <a:latin typeface="Trenda IG Text" pitchFamily="34" charset="0"/>
                <a:ea typeface="Trenda IG Text" pitchFamily="34" charset="-122"/>
                <a:cs typeface="Trenda IG Text" pitchFamily="34" charset="-120"/>
              </a:rPr>
              <a:t>So draft acceptance is measured per case type from the first day, and a case type whose drafts are routinely rewritten is pulled out of door three and fixed before it is put back. Acceptance rate is a signal about the template and the knowledge base, never a target for the agent.</a:t>
            </a:r>
            <a:endParaRPr lang="en-US" sz="1000" dirty="0"/>
          </a:p>
        </p:txBody>
      </p:sp>
      <p:pic>
        <p:nvPicPr>
          <p:cNvPr id="24" name="Image 0" descr="assets/ig-mark.png">    </p:cNvPr>
          <p:cNvPicPr>
            <a:picLocks noChangeAspect="1"/>
          </p:cNvPicPr>
          <p:nvPr/>
        </p:nvPicPr>
        <p:blipFill>
          <a:blip r:embed="rId1"/>
          <a:stretch>
            <a:fillRect/>
          </a:stretch>
        </p:blipFill>
        <p:spPr>
          <a:xfrm>
            <a:off x="502920" y="6455664"/>
            <a:ext cx="420624" cy="144475"/>
          </a:xfrm>
          <a:prstGeom prst="rect">
            <a:avLst/>
          </a:prstGeom>
        </p:spPr>
      </p:pic>
      <p:sp>
        <p:nvSpPr>
          <p:cNvPr id="25" name="Text 22"/>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DOOR 04  |  EXPERT</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CREDITS: THE ONE POOL AUTOMATION CANNOT REMOVE</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Credits and disputes are 35 percent of all handling effort and run at 11:25 a case. None of it can be answered autonomously, because money moves. So the target is not the decision, it is everything around the decision.</a:t>
            </a:r>
            <a:endParaRPr lang="en-US" sz="1150" dirty="0"/>
          </a:p>
        </p:txBody>
      </p:sp>
      <p:sp>
        <p:nvSpPr>
          <p:cNvPr id="5" name="Shape 3"/>
          <p:cNvSpPr/>
          <p:nvPr/>
        </p:nvSpPr>
        <p:spPr>
          <a:xfrm>
            <a:off x="502920" y="1796796"/>
            <a:ext cx="5472684" cy="2651760"/>
          </a:xfrm>
          <a:prstGeom prst="roundRect">
            <a:avLst>
              <a:gd name="adj" fmla="val 1379"/>
            </a:avLst>
          </a:prstGeom>
          <a:solidFill>
            <a:srgbClr val="151A24"/>
          </a:solidFill>
          <a:ln w="12700">
            <a:solidFill>
              <a:srgbClr val="252D3D"/>
            </a:solidFill>
            <a:prstDash val="solid"/>
          </a:ln>
        </p:spPr>
      </p:sp>
      <p:sp>
        <p:nvSpPr>
          <p:cNvPr id="6" name="Text 4"/>
          <p:cNvSpPr txBox="1"/>
          <p:nvPr/>
        </p:nvSpPr>
        <p:spPr>
          <a:xfrm>
            <a:off x="777240" y="1997964"/>
            <a:ext cx="4924044" cy="201168"/>
          </a:xfrm>
          <a:prstGeom prst="rect">
            <a:avLst/>
          </a:prstGeom>
          <a:noFill/>
          <a:ln/>
        </p:spPr>
        <p:txBody>
          <a:bodyPr wrap="square" lIns="0" tIns="0" rIns="0" bIns="0" rtlCol="0" anchor="ctr"/>
          <a:lstStyle/>
          <a:p>
            <a:pPr indent="0" marL="0">
              <a:buNone/>
            </a:pPr>
            <a:r>
              <a:rPr lang="en-US" sz="1000" b="1" spc="140" kern="0" dirty="0">
                <a:solidFill>
                  <a:srgbClr val="8A94A6"/>
                </a:solidFill>
                <a:latin typeface="Trenda IG Display" pitchFamily="34" charset="0"/>
                <a:ea typeface="Trenda IG Display" pitchFamily="34" charset="-122"/>
                <a:cs typeface="Trenda IG Display" pitchFamily="34" charset="-120"/>
              </a:rPr>
              <a:t>WHERE 11 MINUTES GOES TODAY</a:t>
            </a:r>
            <a:endParaRPr lang="en-US" sz="1000" dirty="0"/>
          </a:p>
        </p:txBody>
      </p:sp>
      <p:sp>
        <p:nvSpPr>
          <p:cNvPr id="7" name="Text 5"/>
          <p:cNvSpPr txBox="1"/>
          <p:nvPr/>
        </p:nvSpPr>
        <p:spPr>
          <a:xfrm>
            <a:off x="777240" y="2345436"/>
            <a:ext cx="2103120" cy="237744"/>
          </a:xfrm>
          <a:prstGeom prst="rect">
            <a:avLst/>
          </a:prstGeom>
          <a:noFill/>
          <a:ln/>
        </p:spPr>
        <p:txBody>
          <a:bodyPr wrap="square" lIns="0" tIns="0" rIns="0" bIns="0" rtlCol="0" anchor="ctr"/>
          <a:lstStyle/>
          <a:p>
            <a:pPr indent="0" marL="0">
              <a:buNone/>
            </a:pPr>
            <a:r>
              <a:rPr lang="en-US" sz="950" b="1" dirty="0">
                <a:solidFill>
                  <a:srgbClr val="E6EAF2"/>
                </a:solidFill>
                <a:latin typeface="Trenda IG Text" pitchFamily="34" charset="0"/>
                <a:ea typeface="Trenda IG Text" pitchFamily="34" charset="-122"/>
                <a:cs typeface="Trenda IG Text" pitchFamily="34" charset="-120"/>
              </a:rPr>
              <a:t>Assemble the evidence</a:t>
            </a:r>
            <a:endParaRPr lang="en-US" sz="950" dirty="0"/>
          </a:p>
        </p:txBody>
      </p:sp>
      <p:sp>
        <p:nvSpPr>
          <p:cNvPr id="8" name="Text 6"/>
          <p:cNvSpPr txBox="1"/>
          <p:nvPr/>
        </p:nvSpPr>
        <p:spPr>
          <a:xfrm>
            <a:off x="5015484" y="2345436"/>
            <a:ext cx="685800" cy="237744"/>
          </a:xfrm>
          <a:prstGeom prst="rect">
            <a:avLst/>
          </a:prstGeom>
          <a:noFill/>
          <a:ln/>
        </p:spPr>
        <p:txBody>
          <a:bodyPr wrap="square" lIns="0" tIns="0" rIns="0" bIns="0" rtlCol="0" anchor="ctr"/>
          <a:lstStyle/>
          <a:p>
            <a:pPr algn="r" indent="0" marL="0">
              <a:buNone/>
            </a:pPr>
            <a:r>
              <a:rPr lang="en-US" sz="1100" b="1" dirty="0">
                <a:solidFill>
                  <a:srgbClr val="F59E0B"/>
                </a:solidFill>
                <a:latin typeface="Trenda IG Display" pitchFamily="34" charset="0"/>
                <a:ea typeface="Trenda IG Display" pitchFamily="34" charset="-122"/>
                <a:cs typeface="Trenda IG Display" pitchFamily="34" charset="-120"/>
              </a:rPr>
              <a:t>5:30</a:t>
            </a:r>
            <a:endParaRPr lang="en-US" sz="1100" dirty="0"/>
          </a:p>
        </p:txBody>
      </p:sp>
      <p:sp>
        <p:nvSpPr>
          <p:cNvPr id="9" name="Text 7"/>
          <p:cNvSpPr txBox="1"/>
          <p:nvPr/>
        </p:nvSpPr>
        <p:spPr>
          <a:xfrm>
            <a:off x="777240" y="2564892"/>
            <a:ext cx="4924044" cy="274320"/>
          </a:xfrm>
          <a:prstGeom prst="rect">
            <a:avLst/>
          </a:prstGeom>
          <a:noFill/>
          <a:ln/>
        </p:spPr>
        <p:txBody>
          <a:bodyPr wrap="square" lIns="0" tIns="0" rIns="0" bIns="0" rtlCol="0" anchor="t"/>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Invoice, order, delivery proof, pricing agreement, contract terms, prior credits on the account.</a:t>
            </a:r>
            <a:endParaRPr lang="en-US" sz="800" dirty="0"/>
          </a:p>
        </p:txBody>
      </p:sp>
      <p:sp>
        <p:nvSpPr>
          <p:cNvPr id="10" name="Text 8"/>
          <p:cNvSpPr txBox="1"/>
          <p:nvPr/>
        </p:nvSpPr>
        <p:spPr>
          <a:xfrm>
            <a:off x="777240" y="2857500"/>
            <a:ext cx="2103120" cy="237744"/>
          </a:xfrm>
          <a:prstGeom prst="rect">
            <a:avLst/>
          </a:prstGeom>
          <a:noFill/>
          <a:ln/>
        </p:spPr>
        <p:txBody>
          <a:bodyPr wrap="square" lIns="0" tIns="0" rIns="0" bIns="0" rtlCol="0" anchor="ctr"/>
          <a:lstStyle/>
          <a:p>
            <a:pPr indent="0" marL="0">
              <a:buNone/>
            </a:pPr>
            <a:r>
              <a:rPr lang="en-US" sz="950" b="1" dirty="0">
                <a:solidFill>
                  <a:srgbClr val="E6EAF2"/>
                </a:solidFill>
                <a:latin typeface="Trenda IG Text" pitchFamily="34" charset="0"/>
                <a:ea typeface="Trenda IG Text" pitchFamily="34" charset="-122"/>
                <a:cs typeface="Trenda IG Text" pitchFamily="34" charset="-120"/>
              </a:rPr>
              <a:t>Reconcile the claim</a:t>
            </a:r>
            <a:endParaRPr lang="en-US" sz="950" dirty="0"/>
          </a:p>
        </p:txBody>
      </p:sp>
      <p:sp>
        <p:nvSpPr>
          <p:cNvPr id="11" name="Text 9"/>
          <p:cNvSpPr txBox="1"/>
          <p:nvPr/>
        </p:nvSpPr>
        <p:spPr>
          <a:xfrm>
            <a:off x="5015484" y="2857500"/>
            <a:ext cx="685800" cy="237744"/>
          </a:xfrm>
          <a:prstGeom prst="rect">
            <a:avLst/>
          </a:prstGeom>
          <a:noFill/>
          <a:ln/>
        </p:spPr>
        <p:txBody>
          <a:bodyPr wrap="square" lIns="0" tIns="0" rIns="0" bIns="0" rtlCol="0" anchor="ctr"/>
          <a:lstStyle/>
          <a:p>
            <a:pPr algn="r" indent="0" marL="0">
              <a:buNone/>
            </a:pPr>
            <a:r>
              <a:rPr lang="en-US" sz="1100" b="1" dirty="0">
                <a:solidFill>
                  <a:srgbClr val="8A94A6"/>
                </a:solidFill>
                <a:latin typeface="Trenda IG Display" pitchFamily="34" charset="0"/>
                <a:ea typeface="Trenda IG Display" pitchFamily="34" charset="-122"/>
                <a:cs typeface="Trenda IG Display" pitchFamily="34" charset="-120"/>
              </a:rPr>
              <a:t>2:45</a:t>
            </a:r>
            <a:endParaRPr lang="en-US" sz="1100" dirty="0"/>
          </a:p>
        </p:txBody>
      </p:sp>
      <p:sp>
        <p:nvSpPr>
          <p:cNvPr id="12" name="Text 10"/>
          <p:cNvSpPr txBox="1"/>
          <p:nvPr/>
        </p:nvSpPr>
        <p:spPr>
          <a:xfrm>
            <a:off x="777240" y="3076956"/>
            <a:ext cx="4924044" cy="274320"/>
          </a:xfrm>
          <a:prstGeom prst="rect">
            <a:avLst/>
          </a:prstGeom>
          <a:noFill/>
          <a:ln/>
        </p:spPr>
        <p:txBody>
          <a:bodyPr wrap="square" lIns="0" tIns="0" rIns="0" bIns="0" rtlCol="0" anchor="t"/>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Compare what the customer says against what the records show, and quantify the difference.</a:t>
            </a:r>
            <a:endParaRPr lang="en-US" sz="800" dirty="0"/>
          </a:p>
        </p:txBody>
      </p:sp>
      <p:sp>
        <p:nvSpPr>
          <p:cNvPr id="13" name="Text 11"/>
          <p:cNvSpPr txBox="1"/>
          <p:nvPr/>
        </p:nvSpPr>
        <p:spPr>
          <a:xfrm>
            <a:off x="777240" y="3369564"/>
            <a:ext cx="2103120" cy="237744"/>
          </a:xfrm>
          <a:prstGeom prst="rect">
            <a:avLst/>
          </a:prstGeom>
          <a:noFill/>
          <a:ln/>
        </p:spPr>
        <p:txBody>
          <a:bodyPr wrap="square" lIns="0" tIns="0" rIns="0" bIns="0" rtlCol="0" anchor="ctr"/>
          <a:lstStyle/>
          <a:p>
            <a:pPr indent="0" marL="0">
              <a:buNone/>
            </a:pPr>
            <a:r>
              <a:rPr lang="en-US" sz="950" b="1" dirty="0">
                <a:solidFill>
                  <a:srgbClr val="E6EAF2"/>
                </a:solidFill>
                <a:latin typeface="Trenda IG Text" pitchFamily="34" charset="0"/>
                <a:ea typeface="Trenda IG Text" pitchFamily="34" charset="-122"/>
                <a:cs typeface="Trenda IG Text" pitchFamily="34" charset="-120"/>
              </a:rPr>
              <a:t>Decide and authorise</a:t>
            </a:r>
            <a:endParaRPr lang="en-US" sz="950" dirty="0"/>
          </a:p>
        </p:txBody>
      </p:sp>
      <p:sp>
        <p:nvSpPr>
          <p:cNvPr id="14" name="Text 12"/>
          <p:cNvSpPr txBox="1"/>
          <p:nvPr/>
        </p:nvSpPr>
        <p:spPr>
          <a:xfrm>
            <a:off x="5015484" y="3369564"/>
            <a:ext cx="685800" cy="237744"/>
          </a:xfrm>
          <a:prstGeom prst="rect">
            <a:avLst/>
          </a:prstGeom>
          <a:noFill/>
          <a:ln/>
        </p:spPr>
        <p:txBody>
          <a:bodyPr wrap="square" lIns="0" tIns="0" rIns="0" bIns="0" rtlCol="0" anchor="ctr"/>
          <a:lstStyle/>
          <a:p>
            <a:pPr algn="r" indent="0" marL="0">
              <a:buNone/>
            </a:pPr>
            <a:r>
              <a:rPr lang="en-US" sz="1100" b="1" dirty="0">
                <a:solidFill>
                  <a:srgbClr val="8A94A6"/>
                </a:solidFill>
                <a:latin typeface="Trenda IG Display" pitchFamily="34" charset="0"/>
                <a:ea typeface="Trenda IG Display" pitchFamily="34" charset="-122"/>
                <a:cs typeface="Trenda IG Display" pitchFamily="34" charset="-120"/>
              </a:rPr>
              <a:t>1:50</a:t>
            </a:r>
            <a:endParaRPr lang="en-US" sz="1100" dirty="0"/>
          </a:p>
        </p:txBody>
      </p:sp>
      <p:sp>
        <p:nvSpPr>
          <p:cNvPr id="15" name="Text 13"/>
          <p:cNvSpPr txBox="1"/>
          <p:nvPr/>
        </p:nvSpPr>
        <p:spPr>
          <a:xfrm>
            <a:off x="777240" y="3589020"/>
            <a:ext cx="4924044" cy="274320"/>
          </a:xfrm>
          <a:prstGeom prst="rect">
            <a:avLst/>
          </a:prstGeom>
          <a:noFill/>
          <a:ln/>
        </p:spPr>
        <p:txBody>
          <a:bodyPr wrap="square" lIns="0" tIns="0" rIns="0" bIns="0" rtlCol="0" anchor="t"/>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Apply policy, determine the outcome, and route anything beyond the permission threshold.</a:t>
            </a:r>
            <a:endParaRPr lang="en-US" sz="800" dirty="0"/>
          </a:p>
        </p:txBody>
      </p:sp>
      <p:sp>
        <p:nvSpPr>
          <p:cNvPr id="16" name="Text 14"/>
          <p:cNvSpPr txBox="1"/>
          <p:nvPr/>
        </p:nvSpPr>
        <p:spPr>
          <a:xfrm>
            <a:off x="777240" y="3881628"/>
            <a:ext cx="2103120" cy="237744"/>
          </a:xfrm>
          <a:prstGeom prst="rect">
            <a:avLst/>
          </a:prstGeom>
          <a:noFill/>
          <a:ln/>
        </p:spPr>
        <p:txBody>
          <a:bodyPr wrap="square" lIns="0" tIns="0" rIns="0" bIns="0" rtlCol="0" anchor="ctr"/>
          <a:lstStyle/>
          <a:p>
            <a:pPr indent="0" marL="0">
              <a:buNone/>
            </a:pPr>
            <a:r>
              <a:rPr lang="en-US" sz="950" b="1" dirty="0">
                <a:solidFill>
                  <a:srgbClr val="E6EAF2"/>
                </a:solidFill>
                <a:latin typeface="Trenda IG Text" pitchFamily="34" charset="0"/>
                <a:ea typeface="Trenda IG Text" pitchFamily="34" charset="-122"/>
                <a:cs typeface="Trenda IG Text" pitchFamily="34" charset="-120"/>
              </a:rPr>
              <a:t>Write and log</a:t>
            </a:r>
            <a:endParaRPr lang="en-US" sz="950" dirty="0"/>
          </a:p>
        </p:txBody>
      </p:sp>
      <p:sp>
        <p:nvSpPr>
          <p:cNvPr id="17" name="Text 15"/>
          <p:cNvSpPr txBox="1"/>
          <p:nvPr/>
        </p:nvSpPr>
        <p:spPr>
          <a:xfrm>
            <a:off x="5015484" y="3881628"/>
            <a:ext cx="685800" cy="237744"/>
          </a:xfrm>
          <a:prstGeom prst="rect">
            <a:avLst/>
          </a:prstGeom>
          <a:noFill/>
          <a:ln/>
        </p:spPr>
        <p:txBody>
          <a:bodyPr wrap="square" lIns="0" tIns="0" rIns="0" bIns="0" rtlCol="0" anchor="ctr"/>
          <a:lstStyle/>
          <a:p>
            <a:pPr algn="r" indent="0" marL="0">
              <a:buNone/>
            </a:pPr>
            <a:r>
              <a:rPr lang="en-US" sz="1100" b="1" dirty="0">
                <a:solidFill>
                  <a:srgbClr val="8A94A6"/>
                </a:solidFill>
                <a:latin typeface="Trenda IG Display" pitchFamily="34" charset="0"/>
                <a:ea typeface="Trenda IG Display" pitchFamily="34" charset="-122"/>
                <a:cs typeface="Trenda IG Display" pitchFamily="34" charset="-120"/>
              </a:rPr>
              <a:t>1:20</a:t>
            </a:r>
            <a:endParaRPr lang="en-US" sz="1100" dirty="0"/>
          </a:p>
        </p:txBody>
      </p:sp>
      <p:sp>
        <p:nvSpPr>
          <p:cNvPr id="18" name="Text 16"/>
          <p:cNvSpPr txBox="1"/>
          <p:nvPr/>
        </p:nvSpPr>
        <p:spPr>
          <a:xfrm>
            <a:off x="777240" y="4101084"/>
            <a:ext cx="4924044" cy="274320"/>
          </a:xfrm>
          <a:prstGeom prst="rect">
            <a:avLst/>
          </a:prstGeom>
          <a:noFill/>
          <a:ln/>
        </p:spPr>
        <p:txBody>
          <a:bodyPr wrap="square" lIns="0" tIns="0" rIns="0" bIns="0" rtlCol="0" anchor="t"/>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Compose the explanation, record the disposition, update the case.</a:t>
            </a:r>
            <a:endParaRPr lang="en-US" sz="800" dirty="0"/>
          </a:p>
        </p:txBody>
      </p:sp>
      <p:sp>
        <p:nvSpPr>
          <p:cNvPr id="19" name="Shape 17"/>
          <p:cNvSpPr/>
          <p:nvPr/>
        </p:nvSpPr>
        <p:spPr>
          <a:xfrm>
            <a:off x="6213348" y="1796796"/>
            <a:ext cx="5472684" cy="2651760"/>
          </a:xfrm>
          <a:prstGeom prst="roundRect">
            <a:avLst>
              <a:gd name="adj" fmla="val 1379"/>
            </a:avLst>
          </a:prstGeom>
          <a:solidFill>
            <a:srgbClr val="151A24"/>
          </a:solidFill>
          <a:ln w="12700">
            <a:solidFill>
              <a:srgbClr val="2A5468"/>
            </a:solidFill>
            <a:prstDash val="solid"/>
          </a:ln>
        </p:spPr>
      </p:sp>
      <p:sp>
        <p:nvSpPr>
          <p:cNvPr id="20" name="Text 18"/>
          <p:cNvSpPr txBox="1"/>
          <p:nvPr/>
        </p:nvSpPr>
        <p:spPr>
          <a:xfrm>
            <a:off x="6487668" y="1997964"/>
            <a:ext cx="4924044" cy="201168"/>
          </a:xfrm>
          <a:prstGeom prst="rect">
            <a:avLst/>
          </a:prstGeom>
          <a:noFill/>
          <a:ln/>
        </p:spPr>
        <p:txBody>
          <a:bodyPr wrap="square" lIns="0" tIns="0" rIns="0" bIns="0" rtlCol="0" anchor="ctr"/>
          <a:lstStyle/>
          <a:p>
            <a:pPr indent="0" marL="0">
              <a:buNone/>
            </a:pPr>
            <a:r>
              <a:rPr lang="en-US" sz="1000" b="1" spc="140" kern="0" dirty="0">
                <a:solidFill>
                  <a:srgbClr val="22D3EE"/>
                </a:solidFill>
                <a:latin typeface="Trenda IG Display" pitchFamily="34" charset="0"/>
                <a:ea typeface="Trenda IG Display" pitchFamily="34" charset="-122"/>
                <a:cs typeface="Trenda IG Display" pitchFamily="34" charset="-120"/>
              </a:rPr>
              <a:t>THE CREDIT CASE FILE, BUILT BEFORE ANYONE OPENS IT</a:t>
            </a:r>
            <a:endParaRPr lang="en-US" sz="1000" dirty="0"/>
          </a:p>
        </p:txBody>
      </p:sp>
      <p:sp>
        <p:nvSpPr>
          <p:cNvPr id="21" name="Text 19"/>
          <p:cNvSpPr txBox="1"/>
          <p:nvPr/>
        </p:nvSpPr>
        <p:spPr>
          <a:xfrm>
            <a:off x="6487668" y="2308860"/>
            <a:ext cx="4924044" cy="402336"/>
          </a:xfrm>
          <a:prstGeom prst="rect">
            <a:avLst/>
          </a:prstGeom>
          <a:noFill/>
          <a:ln/>
        </p:spPr>
        <p:txBody>
          <a:bodyPr wrap="square" lIns="0" tIns="0" rIns="0" bIns="0" rtlCol="0" anchor="t"/>
          <a:lstStyle/>
          <a:p>
            <a:pPr indent="0" marL="0">
              <a:lnSpc>
                <a:spcPts val="1300"/>
              </a:lnSpc>
              <a:buNone/>
            </a:pPr>
            <a:r>
              <a:rPr lang="en-US" sz="950" dirty="0">
                <a:solidFill>
                  <a:srgbClr val="E6EAF2"/>
                </a:solidFill>
                <a:latin typeface="Trenda IG Text" pitchFamily="34" charset="0"/>
                <a:ea typeface="Trenda IG Text" pitchFamily="34" charset="-122"/>
                <a:cs typeface="Trenda IG Text" pitchFamily="34" charset="-120"/>
              </a:rPr>
              <a:t>Half of a credit case is evidence gathering, and all of it is deterministic retrieval. A Flow assembles the file the moment the case is created.</a:t>
            </a:r>
            <a:endParaRPr lang="en-US" sz="950" dirty="0"/>
          </a:p>
        </p:txBody>
      </p:sp>
      <p:sp>
        <p:nvSpPr>
          <p:cNvPr id="22" name="Text 20"/>
          <p:cNvSpPr txBox="1"/>
          <p:nvPr/>
        </p:nvSpPr>
        <p:spPr>
          <a:xfrm>
            <a:off x="6487668" y="2784348"/>
            <a:ext cx="4924044" cy="1517904"/>
          </a:xfrm>
          <a:prstGeom prst="rect">
            <a:avLst/>
          </a:prstGeom>
          <a:noFill/>
          <a:ln/>
        </p:spPr>
        <p:txBody>
          <a:bodyPr wrap="square" lIns="0" tIns="0" rIns="0" bIns="0" rtlCol="0" anchor="t"/>
          <a:lstStyle/>
          <a:p>
            <a:pPr marL="152400" indent="-152400">
              <a:lnSpc>
                <a:spcPts val="1300"/>
              </a:lnSpc>
              <a:spcAft>
                <a:spcPts val="6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Every referenced document pulled and attached, with the disputed lines identified.</a:t>
            </a:r>
            <a:endParaRPr lang="en-US" sz="900" dirty="0"/>
          </a:p>
          <a:p>
            <a:pPr marL="152400" indent="-152400">
              <a:lnSpc>
                <a:spcPts val="1300"/>
              </a:lnSpc>
              <a:spcAft>
                <a:spcPts val="6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The claim reconciled against the records, with the variance calculated and shown.</a:t>
            </a:r>
            <a:endParaRPr lang="en-US" sz="900" dirty="0"/>
          </a:p>
          <a:p>
            <a:pPr marL="152400" indent="-152400">
              <a:lnSpc>
                <a:spcPts val="1300"/>
              </a:lnSpc>
              <a:spcAft>
                <a:spcPts val="6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Prior credits and disputes on the account surfaced, so a pattern is visible immediately.</a:t>
            </a:r>
            <a:endParaRPr lang="en-US" sz="900" dirty="0"/>
          </a:p>
          <a:p>
            <a:pPr marL="152400" indent="-152400">
              <a:lnSpc>
                <a:spcPts val="1300"/>
              </a:lnSpc>
              <a:spcAft>
                <a:spcPts val="6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The applicable policy retrieved, and a recommended outcome offered with its reasoning.</a:t>
            </a:r>
            <a:endParaRPr lang="en-US" sz="900" dirty="0"/>
          </a:p>
          <a:p>
            <a:pPr marL="152400" indent="-152400">
              <a:lnSpc>
                <a:spcPts val="1300"/>
              </a:lnSpc>
              <a:spcAft>
                <a:spcPts val="6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The authorisation path pre-determined, so anything needing McKesson pricing or AR routes on creation rather than after investigation.</a:t>
            </a:r>
            <a:endParaRPr lang="en-US" sz="900" dirty="0"/>
          </a:p>
        </p:txBody>
      </p:sp>
      <p:sp>
        <p:nvSpPr>
          <p:cNvPr id="23" name="Shape 21"/>
          <p:cNvSpPr/>
          <p:nvPr/>
        </p:nvSpPr>
        <p:spPr>
          <a:xfrm>
            <a:off x="502920" y="4668012"/>
            <a:ext cx="3593592" cy="969264"/>
          </a:xfrm>
          <a:prstGeom prst="roundRect">
            <a:avLst>
              <a:gd name="adj" fmla="val 3774"/>
            </a:avLst>
          </a:prstGeom>
          <a:solidFill>
            <a:srgbClr val="151A24"/>
          </a:solidFill>
          <a:ln w="12700">
            <a:solidFill>
              <a:srgbClr val="252D3D"/>
            </a:solidFill>
            <a:prstDash val="solid"/>
          </a:ln>
        </p:spPr>
      </p:sp>
      <p:sp>
        <p:nvSpPr>
          <p:cNvPr id="24" name="Text 22"/>
          <p:cNvSpPr txBox="1"/>
          <p:nvPr/>
        </p:nvSpPr>
        <p:spPr>
          <a:xfrm>
            <a:off x="667512" y="4777740"/>
            <a:ext cx="3264408" cy="475488"/>
          </a:xfrm>
          <a:prstGeom prst="rect">
            <a:avLst/>
          </a:prstGeom>
          <a:noFill/>
          <a:ln/>
        </p:spPr>
        <p:txBody>
          <a:bodyPr wrap="square" lIns="0" tIns="0" rIns="0" bIns="0" rtlCol="0" anchor="ctr"/>
          <a:lstStyle/>
          <a:p>
            <a:pPr indent="0" marL="0">
              <a:buNone/>
            </a:pPr>
            <a:r>
              <a:rPr lang="en-US" sz="1500" b="1" dirty="0">
                <a:solidFill>
                  <a:srgbClr val="22D3EE"/>
                </a:solidFill>
                <a:latin typeface="Trenda IG Display" pitchFamily="34" charset="0"/>
                <a:ea typeface="Trenda IG Display" pitchFamily="34" charset="-122"/>
                <a:cs typeface="Trenda IG Display" pitchFamily="34" charset="-120"/>
              </a:rPr>
              <a:t>11:25 to 8:00</a:t>
            </a:r>
            <a:endParaRPr lang="en-US" sz="1500" dirty="0"/>
          </a:p>
        </p:txBody>
      </p:sp>
      <p:sp>
        <p:nvSpPr>
          <p:cNvPr id="25" name="Text 23"/>
          <p:cNvSpPr txBox="1"/>
          <p:nvPr/>
        </p:nvSpPr>
        <p:spPr>
          <a:xfrm>
            <a:off x="667512" y="5253228"/>
            <a:ext cx="3264408" cy="274320"/>
          </a:xfrm>
          <a:prstGeom prst="rect">
            <a:avLst/>
          </a:prstGeom>
          <a:noFill/>
          <a:ln/>
        </p:spPr>
        <p:txBody>
          <a:bodyPr wrap="square" lIns="0" tIns="0" rIns="0" bIns="0" rtlCol="0" anchor="t"/>
          <a:lstStyle/>
          <a:p>
            <a:pPr indent="0" marL="0">
              <a:lnSpc>
                <a:spcPts val="1200"/>
              </a:lnSpc>
              <a:buNone/>
            </a:pPr>
            <a:r>
              <a:rPr lang="en-US" sz="900" dirty="0">
                <a:solidFill>
                  <a:srgbClr val="8A94A6"/>
                </a:solidFill>
                <a:latin typeface="Trenda IG Text" pitchFamily="34" charset="0"/>
                <a:ea typeface="Trenda IG Text" pitchFamily="34" charset="-122"/>
                <a:cs typeface="Trenda IG Text" pitchFamily="34" charset="-120"/>
              </a:rPr>
              <a:t>Modelled handling time on an assisted credit case</a:t>
            </a:r>
            <a:endParaRPr lang="en-US" sz="900" dirty="0"/>
          </a:p>
        </p:txBody>
      </p:sp>
      <p:sp>
        <p:nvSpPr>
          <p:cNvPr id="26" name="Shape 24"/>
          <p:cNvSpPr/>
          <p:nvPr/>
        </p:nvSpPr>
        <p:spPr>
          <a:xfrm>
            <a:off x="4297680" y="4668012"/>
            <a:ext cx="3593592" cy="969264"/>
          </a:xfrm>
          <a:prstGeom prst="roundRect">
            <a:avLst>
              <a:gd name="adj" fmla="val 3774"/>
            </a:avLst>
          </a:prstGeom>
          <a:solidFill>
            <a:srgbClr val="151A24"/>
          </a:solidFill>
          <a:ln w="12700">
            <a:solidFill>
              <a:srgbClr val="252D3D"/>
            </a:solidFill>
            <a:prstDash val="solid"/>
          </a:ln>
        </p:spPr>
      </p:sp>
      <p:sp>
        <p:nvSpPr>
          <p:cNvPr id="27" name="Text 25"/>
          <p:cNvSpPr txBox="1"/>
          <p:nvPr/>
        </p:nvSpPr>
        <p:spPr>
          <a:xfrm>
            <a:off x="4462272" y="4777740"/>
            <a:ext cx="3264408" cy="475488"/>
          </a:xfrm>
          <a:prstGeom prst="rect">
            <a:avLst/>
          </a:prstGeom>
          <a:noFill/>
          <a:ln/>
        </p:spPr>
        <p:txBody>
          <a:bodyPr wrap="square" lIns="0" tIns="0" rIns="0" bIns="0" rtlCol="0" anchor="ctr"/>
          <a:lstStyle/>
          <a:p>
            <a:pPr indent="0" marL="0">
              <a:buNone/>
            </a:pPr>
            <a:r>
              <a:rPr lang="en-US" sz="2000" b="1" dirty="0">
                <a:solidFill>
                  <a:srgbClr val="22D3EE"/>
                </a:solidFill>
                <a:latin typeface="Trenda IG Display" pitchFamily="34" charset="0"/>
                <a:ea typeface="Trenda IG Display" pitchFamily="34" charset="-122"/>
                <a:cs typeface="Trenda IG Display" pitchFamily="34" charset="-120"/>
              </a:rPr>
              <a:t>~440 hrs</a:t>
            </a:r>
            <a:endParaRPr lang="en-US" sz="2000" dirty="0"/>
          </a:p>
        </p:txBody>
      </p:sp>
      <p:sp>
        <p:nvSpPr>
          <p:cNvPr id="28" name="Text 26"/>
          <p:cNvSpPr txBox="1"/>
          <p:nvPr/>
        </p:nvSpPr>
        <p:spPr>
          <a:xfrm>
            <a:off x="4462272" y="5253228"/>
            <a:ext cx="3264408" cy="274320"/>
          </a:xfrm>
          <a:prstGeom prst="rect">
            <a:avLst/>
          </a:prstGeom>
          <a:noFill/>
          <a:ln/>
        </p:spPr>
        <p:txBody>
          <a:bodyPr wrap="square" lIns="0" tIns="0" rIns="0" bIns="0" rtlCol="0" anchor="t"/>
          <a:lstStyle/>
          <a:p>
            <a:pPr indent="0" marL="0">
              <a:lnSpc>
                <a:spcPts val="1200"/>
              </a:lnSpc>
              <a:buNone/>
            </a:pPr>
            <a:r>
              <a:rPr lang="en-US" sz="900" dirty="0">
                <a:solidFill>
                  <a:srgbClr val="8A94A6"/>
                </a:solidFill>
                <a:latin typeface="Trenda IG Text" pitchFamily="34" charset="0"/>
                <a:ea typeface="Trenda IG Text" pitchFamily="34" charset="-122"/>
                <a:cs typeface="Trenda IG Text" pitchFamily="34" charset="-120"/>
              </a:rPr>
              <a:t>Monthly effort released from the largest single pool</a:t>
            </a:r>
            <a:endParaRPr lang="en-US" sz="900" dirty="0"/>
          </a:p>
        </p:txBody>
      </p:sp>
      <p:sp>
        <p:nvSpPr>
          <p:cNvPr id="29" name="Shape 27"/>
          <p:cNvSpPr/>
          <p:nvPr/>
        </p:nvSpPr>
        <p:spPr>
          <a:xfrm>
            <a:off x="8092440" y="4668012"/>
            <a:ext cx="3593592" cy="969264"/>
          </a:xfrm>
          <a:prstGeom prst="roundRect">
            <a:avLst>
              <a:gd name="adj" fmla="val 3774"/>
            </a:avLst>
          </a:prstGeom>
          <a:solidFill>
            <a:srgbClr val="151A24"/>
          </a:solidFill>
          <a:ln w="12700">
            <a:solidFill>
              <a:srgbClr val="252D3D"/>
            </a:solidFill>
            <a:prstDash val="solid"/>
          </a:ln>
        </p:spPr>
      </p:sp>
      <p:sp>
        <p:nvSpPr>
          <p:cNvPr id="30" name="Text 28"/>
          <p:cNvSpPr txBox="1"/>
          <p:nvPr/>
        </p:nvSpPr>
        <p:spPr>
          <a:xfrm>
            <a:off x="8257032" y="4777740"/>
            <a:ext cx="3264408" cy="475488"/>
          </a:xfrm>
          <a:prstGeom prst="rect">
            <a:avLst/>
          </a:prstGeom>
          <a:noFill/>
          <a:ln/>
        </p:spPr>
        <p:txBody>
          <a:bodyPr wrap="square" lIns="0" tIns="0" rIns="0" bIns="0" rtlCol="0" anchor="ctr"/>
          <a:lstStyle/>
          <a:p>
            <a:pPr indent="0" marL="0">
              <a:buNone/>
            </a:pPr>
            <a:r>
              <a:rPr lang="en-US" sz="1500" b="1" dirty="0">
                <a:solidFill>
                  <a:srgbClr val="E6EAF2"/>
                </a:solidFill>
                <a:latin typeface="Trenda IG Display" pitchFamily="34" charset="0"/>
                <a:ea typeface="Trenda IG Display" pitchFamily="34" charset="-122"/>
                <a:cs typeface="Trenda IG Display" pitchFamily="34" charset="-120"/>
              </a:rPr>
              <a:t>Decision unchanged</a:t>
            </a:r>
            <a:endParaRPr lang="en-US" sz="1500" dirty="0"/>
          </a:p>
        </p:txBody>
      </p:sp>
      <p:sp>
        <p:nvSpPr>
          <p:cNvPr id="31" name="Text 29"/>
          <p:cNvSpPr txBox="1"/>
          <p:nvPr/>
        </p:nvSpPr>
        <p:spPr>
          <a:xfrm>
            <a:off x="8257032" y="5253228"/>
            <a:ext cx="3264408" cy="274320"/>
          </a:xfrm>
          <a:prstGeom prst="rect">
            <a:avLst/>
          </a:prstGeom>
          <a:noFill/>
          <a:ln/>
        </p:spPr>
        <p:txBody>
          <a:bodyPr wrap="square" lIns="0" tIns="0" rIns="0" bIns="0" rtlCol="0" anchor="t"/>
          <a:lstStyle/>
          <a:p>
            <a:pPr indent="0" marL="0">
              <a:lnSpc>
                <a:spcPts val="1200"/>
              </a:lnSpc>
              <a:buNone/>
            </a:pPr>
            <a:r>
              <a:rPr lang="en-US" sz="900" dirty="0">
                <a:solidFill>
                  <a:srgbClr val="8A94A6"/>
                </a:solidFill>
                <a:latin typeface="Trenda IG Text" pitchFamily="34" charset="0"/>
                <a:ea typeface="Trenda IG Text" pitchFamily="34" charset="-122"/>
                <a:cs typeface="Trenda IG Text" pitchFamily="34" charset="-120"/>
              </a:rPr>
              <a:t>The outcome, the authority and the accountability stay with a person</a:t>
            </a:r>
            <a:endParaRPr lang="en-US" sz="900" dirty="0"/>
          </a:p>
        </p:txBody>
      </p:sp>
      <p:sp>
        <p:nvSpPr>
          <p:cNvPr id="32" name="Text 30"/>
          <p:cNvSpPr txBox="1"/>
          <p:nvPr/>
        </p:nvSpPr>
        <p:spPr>
          <a:xfrm>
            <a:off x="502920" y="6035040"/>
            <a:ext cx="10085832" cy="347472"/>
          </a:xfrm>
          <a:prstGeom prst="rect">
            <a:avLst/>
          </a:prstGeom>
          <a:noFill/>
          <a:ln/>
        </p:spPr>
        <p:txBody>
          <a:bodyPr wrap="square" lIns="0" tIns="0" rIns="0" bIns="0" rtlCol="0" anchor="t"/>
          <a:lstStyle/>
          <a:p>
            <a:pPr indent="0" marL="0">
              <a:lnSpc>
                <a:spcPts val="1000"/>
              </a:lnSpc>
              <a:buNone/>
            </a:pPr>
            <a:r>
              <a:rPr lang="en-US" sz="750" i="1" dirty="0">
                <a:solidFill>
                  <a:srgbClr val="8A94A6"/>
                </a:solidFill>
                <a:latin typeface="Trenda IG Text" pitchFamily="34" charset="0"/>
                <a:ea typeface="Trenda IG Text" pitchFamily="34" charset="-122"/>
                <a:cs typeface="Trenda IG Text" pitchFamily="34" charset="-120"/>
              </a:rPr>
              <a:t>Time split within the 11:25 average is an Insight Global estimate for discussion, tested against real credit cases during discovery before any target is set.</a:t>
            </a:r>
            <a:endParaRPr lang="en-US" sz="750" dirty="0"/>
          </a:p>
        </p:txBody>
      </p:sp>
      <p:pic>
        <p:nvPicPr>
          <p:cNvPr id="33" name="Image 0" descr="assets/ig-mark.png">    </p:cNvPr>
          <p:cNvPicPr>
            <a:picLocks noChangeAspect="1"/>
          </p:cNvPicPr>
          <p:nvPr/>
        </p:nvPicPr>
        <p:blipFill>
          <a:blip r:embed="rId1"/>
          <a:stretch>
            <a:fillRect/>
          </a:stretch>
        </p:blipFill>
        <p:spPr>
          <a:xfrm>
            <a:off x="502920" y="6455664"/>
            <a:ext cx="420624" cy="144475"/>
          </a:xfrm>
          <a:prstGeom prst="rect">
            <a:avLst/>
          </a:prstGeom>
        </p:spPr>
      </p:pic>
      <p:sp>
        <p:nvSpPr>
          <p:cNvPr id="34" name="Text 31"/>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DOOR 01  |  NEVER ARRIVES</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THE CHEAPEST CASE IS THE ONE NOBODY SENDS</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Because every case is now classified at the field level, recurring demand becomes visible for the first time. That turns a support queue into a list of problems worth fixing.</a:t>
            </a:r>
            <a:endParaRPr lang="en-US" sz="1150" dirty="0"/>
          </a:p>
        </p:txBody>
      </p:sp>
      <p:sp>
        <p:nvSpPr>
          <p:cNvPr id="5" name="Shape 3"/>
          <p:cNvSpPr/>
          <p:nvPr/>
        </p:nvSpPr>
        <p:spPr>
          <a:xfrm>
            <a:off x="502920" y="1796796"/>
            <a:ext cx="3593592" cy="2834640"/>
          </a:xfrm>
          <a:prstGeom prst="roundRect">
            <a:avLst>
              <a:gd name="adj" fmla="val 1290"/>
            </a:avLst>
          </a:prstGeom>
          <a:solidFill>
            <a:srgbClr val="151A24"/>
          </a:solidFill>
          <a:ln w="12700">
            <a:solidFill>
              <a:srgbClr val="252D3D"/>
            </a:solidFill>
            <a:prstDash val="solid"/>
          </a:ln>
        </p:spPr>
      </p:sp>
      <p:sp>
        <p:nvSpPr>
          <p:cNvPr id="6" name="Shape 4"/>
          <p:cNvSpPr/>
          <p:nvPr/>
        </p:nvSpPr>
        <p:spPr>
          <a:xfrm>
            <a:off x="722376" y="1997964"/>
            <a:ext cx="310896" cy="256032"/>
          </a:xfrm>
          <a:prstGeom prst="roundRect">
            <a:avLst>
              <a:gd name="adj" fmla="val 17857"/>
            </a:avLst>
          </a:prstGeom>
          <a:solidFill>
            <a:srgbClr val="0A0D14"/>
          </a:solidFill>
          <a:ln w="12700">
            <a:solidFill>
              <a:srgbClr val="22D3EE"/>
            </a:solidFill>
            <a:prstDash val="solid"/>
          </a:ln>
        </p:spPr>
      </p:sp>
      <p:sp>
        <p:nvSpPr>
          <p:cNvPr id="7" name="Text 5"/>
          <p:cNvSpPr txBox="1"/>
          <p:nvPr/>
        </p:nvSpPr>
        <p:spPr>
          <a:xfrm>
            <a:off x="722376" y="1997964"/>
            <a:ext cx="310896" cy="256032"/>
          </a:xfrm>
          <a:prstGeom prst="rect">
            <a:avLst/>
          </a:prstGeom>
          <a:noFill/>
          <a:ln/>
        </p:spPr>
        <p:txBody>
          <a:bodyPr wrap="square" lIns="0" tIns="0" rIns="0" bIns="0" rtlCol="0" anchor="ctr"/>
          <a:lstStyle/>
          <a:p>
            <a:pPr algn="ctr" indent="0" marL="0">
              <a:buNone/>
            </a:pPr>
            <a:r>
              <a:rPr lang="en-US" sz="1050" b="1" dirty="0">
                <a:solidFill>
                  <a:srgbClr val="22D3EE"/>
                </a:solidFill>
                <a:latin typeface="Trenda IG Display" pitchFamily="34" charset="0"/>
                <a:ea typeface="Trenda IG Display" pitchFamily="34" charset="-122"/>
                <a:cs typeface="Trenda IG Display" pitchFamily="34" charset="-120"/>
              </a:rPr>
              <a:t>1</a:t>
            </a:r>
            <a:endParaRPr lang="en-US" sz="1050" dirty="0"/>
          </a:p>
        </p:txBody>
      </p:sp>
      <p:sp>
        <p:nvSpPr>
          <p:cNvPr id="8" name="Text 6"/>
          <p:cNvSpPr txBox="1"/>
          <p:nvPr/>
        </p:nvSpPr>
        <p:spPr>
          <a:xfrm>
            <a:off x="1124712" y="1997964"/>
            <a:ext cx="2752344" cy="256032"/>
          </a:xfrm>
          <a:prstGeom prst="rect">
            <a:avLst/>
          </a:prstGeom>
          <a:noFill/>
          <a:ln/>
        </p:spPr>
        <p:txBody>
          <a:bodyPr wrap="square" lIns="0" tIns="0" rIns="0" bIns="0" rtlCol="0" anchor="ctr"/>
          <a:lstStyle/>
          <a:p>
            <a:pPr indent="0" marL="0">
              <a:buNone/>
            </a:pPr>
            <a:r>
              <a:rPr lang="en-US" sz="1350" b="1" dirty="0">
                <a:solidFill>
                  <a:srgbClr val="FFFFFF"/>
                </a:solidFill>
                <a:latin typeface="Trenda IG Display" pitchFamily="34" charset="0"/>
                <a:ea typeface="Trenda IG Display" pitchFamily="34" charset="-122"/>
                <a:cs typeface="Trenda IG Display" pitchFamily="34" charset="-120"/>
              </a:rPr>
              <a:t>See the pattern</a:t>
            </a:r>
            <a:endParaRPr lang="en-US" sz="1350" dirty="0"/>
          </a:p>
        </p:txBody>
      </p:sp>
      <p:sp>
        <p:nvSpPr>
          <p:cNvPr id="9" name="Text 7"/>
          <p:cNvSpPr txBox="1"/>
          <p:nvPr/>
        </p:nvSpPr>
        <p:spPr>
          <a:xfrm>
            <a:off x="722376" y="2418588"/>
            <a:ext cx="3154680" cy="1664208"/>
          </a:xfrm>
          <a:prstGeom prst="rect">
            <a:avLst/>
          </a:prstGeom>
          <a:noFill/>
          <a:ln/>
        </p:spPr>
        <p:txBody>
          <a:bodyPr wrap="square" lIns="0" tIns="0" rIns="0" bIns="0" rtlCol="0" anchor="t"/>
          <a:lstStyle/>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Classification is structured data, so the top recurring reasons for contact can be counted rather than guessed at.</a:t>
            </a:r>
            <a:endParaRPr lang="en-US" sz="900" dirty="0"/>
          </a:p>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Repeat contacts from the same account on the same subject are identified and grouped.</a:t>
            </a:r>
            <a:endParaRPr lang="en-US" sz="900" dirty="0"/>
          </a:p>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Cases created because an earlier answer was unclear are traced back to the article that failed.</a:t>
            </a:r>
            <a:endParaRPr lang="en-US" sz="900" dirty="0"/>
          </a:p>
        </p:txBody>
      </p:sp>
      <p:sp>
        <p:nvSpPr>
          <p:cNvPr id="10" name="Shape 8"/>
          <p:cNvSpPr/>
          <p:nvPr/>
        </p:nvSpPr>
        <p:spPr>
          <a:xfrm>
            <a:off x="722376" y="4155948"/>
            <a:ext cx="3154680" cy="0"/>
          </a:xfrm>
          <a:prstGeom prst="line">
            <a:avLst/>
          </a:prstGeom>
          <a:noFill/>
          <a:ln w="12700">
            <a:solidFill>
              <a:srgbClr val="252D3D"/>
            </a:solidFill>
            <a:prstDash val="solid"/>
          </a:ln>
        </p:spPr>
      </p:sp>
      <p:sp>
        <p:nvSpPr>
          <p:cNvPr id="11" name="Text 9"/>
          <p:cNvSpPr txBox="1"/>
          <p:nvPr/>
        </p:nvSpPr>
        <p:spPr>
          <a:xfrm>
            <a:off x="722376" y="4229100"/>
            <a:ext cx="3154680" cy="329184"/>
          </a:xfrm>
          <a:prstGeom prst="rect">
            <a:avLst/>
          </a:prstGeom>
          <a:noFill/>
          <a:ln/>
        </p:spPr>
        <p:txBody>
          <a:bodyPr wrap="square" lIns="0" tIns="0" rIns="0" bIns="0" rtlCol="0" anchor="t"/>
          <a:lstStyle/>
          <a:p>
            <a:pPr indent="0" marL="0">
              <a:lnSpc>
                <a:spcPts val="1100"/>
              </a:lnSpc>
              <a:buNone/>
            </a:pPr>
            <a:r>
              <a:rPr lang="en-US" sz="850" i="1" dirty="0">
                <a:solidFill>
                  <a:srgbClr val="22D3EE"/>
                </a:solidFill>
                <a:latin typeface="Trenda IG Text" pitchFamily="34" charset="0"/>
                <a:ea typeface="Trenda IG Text" pitchFamily="34" charset="-122"/>
                <a:cs typeface="Trenda IG Text" pitchFamily="34" charset="-120"/>
              </a:rPr>
              <a:t>Monthly: the ten drivers generating the most avoidable volume</a:t>
            </a:r>
            <a:endParaRPr lang="en-US" sz="850" dirty="0"/>
          </a:p>
        </p:txBody>
      </p:sp>
      <p:sp>
        <p:nvSpPr>
          <p:cNvPr id="12" name="Shape 10"/>
          <p:cNvSpPr/>
          <p:nvPr/>
        </p:nvSpPr>
        <p:spPr>
          <a:xfrm>
            <a:off x="4297680" y="1796796"/>
            <a:ext cx="3593592" cy="2834640"/>
          </a:xfrm>
          <a:prstGeom prst="roundRect">
            <a:avLst>
              <a:gd name="adj" fmla="val 1290"/>
            </a:avLst>
          </a:prstGeom>
          <a:solidFill>
            <a:srgbClr val="151A24"/>
          </a:solidFill>
          <a:ln w="12700">
            <a:solidFill>
              <a:srgbClr val="252D3D"/>
            </a:solidFill>
            <a:prstDash val="solid"/>
          </a:ln>
        </p:spPr>
      </p:sp>
      <p:sp>
        <p:nvSpPr>
          <p:cNvPr id="13" name="Shape 11"/>
          <p:cNvSpPr/>
          <p:nvPr/>
        </p:nvSpPr>
        <p:spPr>
          <a:xfrm>
            <a:off x="4517136" y="1997964"/>
            <a:ext cx="310896" cy="256032"/>
          </a:xfrm>
          <a:prstGeom prst="roundRect">
            <a:avLst>
              <a:gd name="adj" fmla="val 17857"/>
            </a:avLst>
          </a:prstGeom>
          <a:solidFill>
            <a:srgbClr val="0A0D14"/>
          </a:solidFill>
          <a:ln w="12700">
            <a:solidFill>
              <a:srgbClr val="22D3EE"/>
            </a:solidFill>
            <a:prstDash val="solid"/>
          </a:ln>
        </p:spPr>
      </p:sp>
      <p:sp>
        <p:nvSpPr>
          <p:cNvPr id="14" name="Text 12"/>
          <p:cNvSpPr txBox="1"/>
          <p:nvPr/>
        </p:nvSpPr>
        <p:spPr>
          <a:xfrm>
            <a:off x="4517136" y="1997964"/>
            <a:ext cx="310896" cy="256032"/>
          </a:xfrm>
          <a:prstGeom prst="rect">
            <a:avLst/>
          </a:prstGeom>
          <a:noFill/>
          <a:ln/>
        </p:spPr>
        <p:txBody>
          <a:bodyPr wrap="square" lIns="0" tIns="0" rIns="0" bIns="0" rtlCol="0" anchor="ctr"/>
          <a:lstStyle/>
          <a:p>
            <a:pPr algn="ctr" indent="0" marL="0">
              <a:buNone/>
            </a:pPr>
            <a:r>
              <a:rPr lang="en-US" sz="1050" b="1" dirty="0">
                <a:solidFill>
                  <a:srgbClr val="22D3EE"/>
                </a:solidFill>
                <a:latin typeface="Trenda IG Display" pitchFamily="34" charset="0"/>
                <a:ea typeface="Trenda IG Display" pitchFamily="34" charset="-122"/>
                <a:cs typeface="Trenda IG Display" pitchFamily="34" charset="-120"/>
              </a:rPr>
              <a:t>2</a:t>
            </a:r>
            <a:endParaRPr lang="en-US" sz="1050" dirty="0"/>
          </a:p>
        </p:txBody>
      </p:sp>
      <p:sp>
        <p:nvSpPr>
          <p:cNvPr id="15" name="Text 13"/>
          <p:cNvSpPr txBox="1"/>
          <p:nvPr/>
        </p:nvSpPr>
        <p:spPr>
          <a:xfrm>
            <a:off x="4919472" y="1997964"/>
            <a:ext cx="2752344" cy="256032"/>
          </a:xfrm>
          <a:prstGeom prst="rect">
            <a:avLst/>
          </a:prstGeom>
          <a:noFill/>
          <a:ln/>
        </p:spPr>
        <p:txBody>
          <a:bodyPr wrap="square" lIns="0" tIns="0" rIns="0" bIns="0" rtlCol="0" anchor="ctr"/>
          <a:lstStyle/>
          <a:p>
            <a:pPr indent="0" marL="0">
              <a:buNone/>
            </a:pPr>
            <a:r>
              <a:rPr lang="en-US" sz="1350" b="1" dirty="0">
                <a:solidFill>
                  <a:srgbClr val="FFFFFF"/>
                </a:solidFill>
                <a:latin typeface="Trenda IG Display" pitchFamily="34" charset="0"/>
                <a:ea typeface="Trenda IG Display" pitchFamily="34" charset="-122"/>
                <a:cs typeface="Trenda IG Display" pitchFamily="34" charset="-120"/>
              </a:rPr>
              <a:t>Remove the cause</a:t>
            </a:r>
            <a:endParaRPr lang="en-US" sz="1350" dirty="0"/>
          </a:p>
        </p:txBody>
      </p:sp>
      <p:sp>
        <p:nvSpPr>
          <p:cNvPr id="16" name="Text 14"/>
          <p:cNvSpPr txBox="1"/>
          <p:nvPr/>
        </p:nvSpPr>
        <p:spPr>
          <a:xfrm>
            <a:off x="4517136" y="2418588"/>
            <a:ext cx="3154680" cy="1664208"/>
          </a:xfrm>
          <a:prstGeom prst="rect">
            <a:avLst/>
          </a:prstGeom>
          <a:noFill/>
          <a:ln/>
        </p:spPr>
        <p:txBody>
          <a:bodyPr wrap="square" lIns="0" tIns="0" rIns="0" bIns="0" rtlCol="0" anchor="t"/>
          <a:lstStyle/>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A recurring ordering error is a form or catalogue problem, raised to the owning McKesson team with the evidence attached.</a:t>
            </a:r>
            <a:endParaRPr lang="en-US" sz="900" dirty="0"/>
          </a:p>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A recurring question is a gap in published customer guidance, not a training issue.</a:t>
            </a:r>
            <a:endParaRPr lang="en-US" sz="900" dirty="0"/>
          </a:p>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A recurring dispute type usually points at an upstream pricing or data problem.</a:t>
            </a:r>
            <a:endParaRPr lang="en-US" sz="900" dirty="0"/>
          </a:p>
        </p:txBody>
      </p:sp>
      <p:sp>
        <p:nvSpPr>
          <p:cNvPr id="17" name="Shape 15"/>
          <p:cNvSpPr/>
          <p:nvPr/>
        </p:nvSpPr>
        <p:spPr>
          <a:xfrm>
            <a:off x="4517136" y="4155948"/>
            <a:ext cx="3154680" cy="0"/>
          </a:xfrm>
          <a:prstGeom prst="line">
            <a:avLst/>
          </a:prstGeom>
          <a:noFill/>
          <a:ln w="12700">
            <a:solidFill>
              <a:srgbClr val="252D3D"/>
            </a:solidFill>
            <a:prstDash val="solid"/>
          </a:ln>
        </p:spPr>
      </p:sp>
      <p:sp>
        <p:nvSpPr>
          <p:cNvPr id="18" name="Text 16"/>
          <p:cNvSpPr txBox="1"/>
          <p:nvPr/>
        </p:nvSpPr>
        <p:spPr>
          <a:xfrm>
            <a:off x="4517136" y="4229100"/>
            <a:ext cx="3154680" cy="329184"/>
          </a:xfrm>
          <a:prstGeom prst="rect">
            <a:avLst/>
          </a:prstGeom>
          <a:noFill/>
          <a:ln/>
        </p:spPr>
        <p:txBody>
          <a:bodyPr wrap="square" lIns="0" tIns="0" rIns="0" bIns="0" rtlCol="0" anchor="t"/>
          <a:lstStyle/>
          <a:p>
            <a:pPr indent="0" marL="0">
              <a:lnSpc>
                <a:spcPts val="1100"/>
              </a:lnSpc>
              <a:buNone/>
            </a:pPr>
            <a:r>
              <a:rPr lang="en-US" sz="850" i="1" dirty="0">
                <a:solidFill>
                  <a:srgbClr val="22D3EE"/>
                </a:solidFill>
                <a:latin typeface="Trenda IG Text" pitchFamily="34" charset="0"/>
                <a:ea typeface="Trenda IG Text" pitchFamily="34" charset="-122"/>
                <a:cs typeface="Trenda IG Text" pitchFamily="34" charset="-120"/>
              </a:rPr>
              <a:t>Each driver carries an owner, an action and a measured effect</a:t>
            </a:r>
            <a:endParaRPr lang="en-US" sz="850" dirty="0"/>
          </a:p>
        </p:txBody>
      </p:sp>
      <p:sp>
        <p:nvSpPr>
          <p:cNvPr id="19" name="Shape 17"/>
          <p:cNvSpPr/>
          <p:nvPr/>
        </p:nvSpPr>
        <p:spPr>
          <a:xfrm>
            <a:off x="8092440" y="1796796"/>
            <a:ext cx="3593592" cy="2834640"/>
          </a:xfrm>
          <a:prstGeom prst="roundRect">
            <a:avLst>
              <a:gd name="adj" fmla="val 1290"/>
            </a:avLst>
          </a:prstGeom>
          <a:solidFill>
            <a:srgbClr val="151A24"/>
          </a:solidFill>
          <a:ln w="12700">
            <a:solidFill>
              <a:srgbClr val="252D3D"/>
            </a:solidFill>
            <a:prstDash val="solid"/>
          </a:ln>
        </p:spPr>
      </p:sp>
      <p:sp>
        <p:nvSpPr>
          <p:cNvPr id="20" name="Shape 18"/>
          <p:cNvSpPr/>
          <p:nvPr/>
        </p:nvSpPr>
        <p:spPr>
          <a:xfrm>
            <a:off x="8311896" y="1997964"/>
            <a:ext cx="310896" cy="256032"/>
          </a:xfrm>
          <a:prstGeom prst="roundRect">
            <a:avLst>
              <a:gd name="adj" fmla="val 17857"/>
            </a:avLst>
          </a:prstGeom>
          <a:solidFill>
            <a:srgbClr val="0A0D14"/>
          </a:solidFill>
          <a:ln w="12700">
            <a:solidFill>
              <a:srgbClr val="22D3EE"/>
            </a:solidFill>
            <a:prstDash val="solid"/>
          </a:ln>
        </p:spPr>
      </p:sp>
      <p:sp>
        <p:nvSpPr>
          <p:cNvPr id="21" name="Text 19"/>
          <p:cNvSpPr txBox="1"/>
          <p:nvPr/>
        </p:nvSpPr>
        <p:spPr>
          <a:xfrm>
            <a:off x="8311896" y="1997964"/>
            <a:ext cx="310896" cy="256032"/>
          </a:xfrm>
          <a:prstGeom prst="rect">
            <a:avLst/>
          </a:prstGeom>
          <a:noFill/>
          <a:ln/>
        </p:spPr>
        <p:txBody>
          <a:bodyPr wrap="square" lIns="0" tIns="0" rIns="0" bIns="0" rtlCol="0" anchor="ctr"/>
          <a:lstStyle/>
          <a:p>
            <a:pPr algn="ctr" indent="0" marL="0">
              <a:buNone/>
            </a:pPr>
            <a:r>
              <a:rPr lang="en-US" sz="1050" b="1" dirty="0">
                <a:solidFill>
                  <a:srgbClr val="22D3EE"/>
                </a:solidFill>
                <a:latin typeface="Trenda IG Display" pitchFamily="34" charset="0"/>
                <a:ea typeface="Trenda IG Display" pitchFamily="34" charset="-122"/>
                <a:cs typeface="Trenda IG Display" pitchFamily="34" charset="-120"/>
              </a:rPr>
              <a:t>3</a:t>
            </a:r>
            <a:endParaRPr lang="en-US" sz="1050" dirty="0"/>
          </a:p>
        </p:txBody>
      </p:sp>
      <p:sp>
        <p:nvSpPr>
          <p:cNvPr id="22" name="Text 20"/>
          <p:cNvSpPr txBox="1"/>
          <p:nvPr/>
        </p:nvSpPr>
        <p:spPr>
          <a:xfrm>
            <a:off x="8714232" y="1997964"/>
            <a:ext cx="2752344" cy="256032"/>
          </a:xfrm>
          <a:prstGeom prst="rect">
            <a:avLst/>
          </a:prstGeom>
          <a:noFill/>
          <a:ln/>
        </p:spPr>
        <p:txBody>
          <a:bodyPr wrap="square" lIns="0" tIns="0" rIns="0" bIns="0" rtlCol="0" anchor="ctr"/>
          <a:lstStyle/>
          <a:p>
            <a:pPr indent="0" marL="0">
              <a:buNone/>
            </a:pPr>
            <a:r>
              <a:rPr lang="en-US" sz="1350" b="1" dirty="0">
                <a:solidFill>
                  <a:srgbClr val="FFFFFF"/>
                </a:solidFill>
                <a:latin typeface="Trenda IG Display" pitchFamily="34" charset="0"/>
                <a:ea typeface="Trenda IG Display" pitchFamily="34" charset="-122"/>
                <a:cs typeface="Trenda IG Display" pitchFamily="34" charset="-120"/>
              </a:rPr>
              <a:t>Answer before it is asked</a:t>
            </a:r>
            <a:endParaRPr lang="en-US" sz="1350" dirty="0"/>
          </a:p>
        </p:txBody>
      </p:sp>
      <p:sp>
        <p:nvSpPr>
          <p:cNvPr id="23" name="Text 21"/>
          <p:cNvSpPr txBox="1"/>
          <p:nvPr/>
        </p:nvSpPr>
        <p:spPr>
          <a:xfrm>
            <a:off x="8311896" y="2418588"/>
            <a:ext cx="3154680" cy="1664208"/>
          </a:xfrm>
          <a:prstGeom prst="rect">
            <a:avLst/>
          </a:prstGeom>
          <a:noFill/>
          <a:ln/>
        </p:spPr>
        <p:txBody>
          <a:bodyPr wrap="square" lIns="0" tIns="0" rIns="0" bIns="0" rtlCol="0" anchor="t"/>
          <a:lstStyle/>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A backorder, a delay or a substitution can be notified when it happens instead of answered when noticed.</a:t>
            </a:r>
            <a:endParaRPr lang="en-US" sz="900" dirty="0"/>
          </a:p>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Order confirmations carrying the information customers typically write back for.</a:t>
            </a:r>
            <a:endParaRPr lang="en-US" sz="900" dirty="0"/>
          </a:p>
          <a:p>
            <a:pPr marL="152400" indent="-152400">
              <a:lnSpc>
                <a:spcPts val="1300"/>
              </a:lnSpc>
              <a:spcAft>
                <a:spcPts val="7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Published self service answers for the highest volume questions.</a:t>
            </a:r>
            <a:endParaRPr lang="en-US" sz="900" dirty="0"/>
          </a:p>
        </p:txBody>
      </p:sp>
      <p:sp>
        <p:nvSpPr>
          <p:cNvPr id="24" name="Shape 22"/>
          <p:cNvSpPr/>
          <p:nvPr/>
        </p:nvSpPr>
        <p:spPr>
          <a:xfrm>
            <a:off x="8311896" y="4155948"/>
            <a:ext cx="3154680" cy="0"/>
          </a:xfrm>
          <a:prstGeom prst="line">
            <a:avLst/>
          </a:prstGeom>
          <a:noFill/>
          <a:ln w="12700">
            <a:solidFill>
              <a:srgbClr val="252D3D"/>
            </a:solidFill>
            <a:prstDash val="solid"/>
          </a:ln>
        </p:spPr>
      </p:sp>
      <p:sp>
        <p:nvSpPr>
          <p:cNvPr id="25" name="Text 23"/>
          <p:cNvSpPr txBox="1"/>
          <p:nvPr/>
        </p:nvSpPr>
        <p:spPr>
          <a:xfrm>
            <a:off x="8311896" y="4229100"/>
            <a:ext cx="3154680" cy="329184"/>
          </a:xfrm>
          <a:prstGeom prst="rect">
            <a:avLst/>
          </a:prstGeom>
          <a:noFill/>
          <a:ln/>
        </p:spPr>
        <p:txBody>
          <a:bodyPr wrap="square" lIns="0" tIns="0" rIns="0" bIns="0" rtlCol="0" anchor="t"/>
          <a:lstStyle/>
          <a:p>
            <a:pPr indent="0" marL="0">
              <a:lnSpc>
                <a:spcPts val="1100"/>
              </a:lnSpc>
              <a:buNone/>
            </a:pPr>
            <a:r>
              <a:rPr lang="en-US" sz="850" i="1" dirty="0">
                <a:solidFill>
                  <a:srgbClr val="22D3EE"/>
                </a:solidFill>
                <a:latin typeface="Trenda IG Text" pitchFamily="34" charset="0"/>
                <a:ea typeface="Trenda IG Text" pitchFamily="34" charset="-122"/>
                <a:cs typeface="Trenda IG Text" pitchFamily="34" charset="-120"/>
              </a:rPr>
              <a:t>Proactive contact replaces reactive contact</a:t>
            </a:r>
            <a:endParaRPr lang="en-US" sz="850" dirty="0"/>
          </a:p>
        </p:txBody>
      </p:sp>
      <p:sp>
        <p:nvSpPr>
          <p:cNvPr id="26" name="Shape 24"/>
          <p:cNvSpPr/>
          <p:nvPr/>
        </p:nvSpPr>
        <p:spPr>
          <a:xfrm>
            <a:off x="502920" y="4850892"/>
            <a:ext cx="11183112" cy="932688"/>
          </a:xfrm>
          <a:prstGeom prst="roundRect">
            <a:avLst>
              <a:gd name="adj" fmla="val 3922"/>
            </a:avLst>
          </a:prstGeom>
          <a:solidFill>
            <a:srgbClr val="151A24"/>
          </a:solidFill>
          <a:ln w="12700">
            <a:solidFill>
              <a:srgbClr val="252D3D"/>
            </a:solidFill>
            <a:prstDash val="solid"/>
          </a:ln>
        </p:spPr>
      </p:sp>
      <p:sp>
        <p:nvSpPr>
          <p:cNvPr id="27" name="Text 25"/>
          <p:cNvSpPr txBox="1"/>
          <p:nvPr/>
        </p:nvSpPr>
        <p:spPr>
          <a:xfrm>
            <a:off x="777240" y="5015484"/>
            <a:ext cx="10634472" cy="640080"/>
          </a:xfrm>
          <a:prstGeom prst="rect">
            <a:avLst/>
          </a:prstGeom>
          <a:noFill/>
          <a:ln/>
        </p:spPr>
        <p:txBody>
          <a:bodyPr wrap="square" lIns="0" tIns="0" rIns="0" bIns="0" rtlCol="0" anchor="t"/>
          <a:lstStyle/>
          <a:p>
            <a:pPr indent="0" marL="0">
              <a:lnSpc>
                <a:spcPts val="1450"/>
              </a:lnSpc>
              <a:buNone/>
            </a:pPr>
            <a:r>
              <a:rPr lang="en-US" sz="1000" b="1" dirty="0">
                <a:solidFill>
                  <a:srgbClr val="FFFFFF"/>
                </a:solidFill>
                <a:latin typeface="Trenda IG Text" pitchFamily="34" charset="0"/>
                <a:ea typeface="Trenda IG Text" pitchFamily="34" charset="-122"/>
                <a:cs typeface="Trenda IG Text" pitchFamily="34" charset="-120"/>
              </a:rPr>
              <a:t>A deliberately modest number.   </a:t>
            </a:r>
            <a:pPr indent="0" marL="0">
              <a:lnSpc>
                <a:spcPts val="1450"/>
              </a:lnSpc>
              <a:buNone/>
            </a:pPr>
            <a:r>
              <a:rPr lang="en-US" sz="1000" dirty="0">
                <a:solidFill>
                  <a:srgbClr val="E6EAF2"/>
                </a:solidFill>
                <a:latin typeface="Trenda IG Text" pitchFamily="34" charset="0"/>
                <a:ea typeface="Trenda IG Text" pitchFamily="34" charset="-122"/>
                <a:cs typeface="Trenda IG Text" pitchFamily="34" charset="-120"/>
              </a:rPr>
              <a:t>We model door one at around 4 percent of volume, roughly 1,300 cases a month, because demand removal depends on McKesson teams outside this service acting on what we surface. We will not claim a saving that is not ours to deliver. The mechanism is in scope from day one; the size of the prize is proven case by case and reported as it lands.</a:t>
            </a:r>
            <a:endParaRPr lang="en-US" sz="1000" dirty="0"/>
          </a:p>
        </p:txBody>
      </p:sp>
      <p:pic>
        <p:nvPicPr>
          <p:cNvPr id="28" name="Image 0" descr="assets/ig-mark.png">    </p:cNvPr>
          <p:cNvPicPr>
            <a:picLocks noChangeAspect="1"/>
          </p:cNvPicPr>
          <p:nvPr/>
        </p:nvPicPr>
        <p:blipFill>
          <a:blip r:embed="rId1"/>
          <a:stretch>
            <a:fillRect/>
          </a:stretch>
        </p:blipFill>
        <p:spPr>
          <a:xfrm>
            <a:off x="502920" y="6455664"/>
            <a:ext cx="420624" cy="144475"/>
          </a:xfrm>
          <a:prstGeom prst="rect">
            <a:avLst/>
          </a:prstGeom>
        </p:spPr>
      </p:pic>
      <p:sp>
        <p:nvSpPr>
          <p:cNvPr id="29" name="Text 26"/>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THE CONTROL PLANE</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PRIORITY, ROUTING AND SLA UNDER EVERY DOOR</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Standard Service Cloud capability, configured once and applied to every case regardless of which door it takes. None of this requires a generative licence.</a:t>
            </a:r>
            <a:endParaRPr lang="en-US" sz="1150" dirty="0"/>
          </a:p>
        </p:txBody>
      </p:sp>
      <p:sp>
        <p:nvSpPr>
          <p:cNvPr id="5" name="Shape 3"/>
          <p:cNvSpPr/>
          <p:nvPr/>
        </p:nvSpPr>
        <p:spPr>
          <a:xfrm>
            <a:off x="502920" y="1796796"/>
            <a:ext cx="2672334" cy="2615184"/>
          </a:xfrm>
          <a:prstGeom prst="roundRect">
            <a:avLst>
              <a:gd name="adj" fmla="val 1399"/>
            </a:avLst>
          </a:prstGeom>
          <a:solidFill>
            <a:srgbClr val="151A24"/>
          </a:solidFill>
          <a:ln w="12700">
            <a:solidFill>
              <a:srgbClr val="252D3D"/>
            </a:solidFill>
            <a:prstDash val="solid"/>
          </a:ln>
        </p:spPr>
      </p:sp>
      <p:sp>
        <p:nvSpPr>
          <p:cNvPr id="6" name="Text 4"/>
          <p:cNvSpPr txBox="1"/>
          <p:nvPr/>
        </p:nvSpPr>
        <p:spPr>
          <a:xfrm>
            <a:off x="722376" y="1979676"/>
            <a:ext cx="2233422" cy="274320"/>
          </a:xfrm>
          <a:prstGeom prst="rect">
            <a:avLst/>
          </a:prstGeom>
          <a:noFill/>
          <a:ln/>
        </p:spPr>
        <p:txBody>
          <a:bodyPr wrap="square" lIns="0" tIns="0" rIns="0" bIns="0" rtlCol="0" anchor="ctr"/>
          <a:lstStyle/>
          <a:p>
            <a:pPr indent="0" marL="0">
              <a:buNone/>
            </a:pPr>
            <a:r>
              <a:rPr lang="en-US" sz="1500" b="1" dirty="0">
                <a:solidFill>
                  <a:srgbClr val="22D3EE"/>
                </a:solidFill>
                <a:latin typeface="Trenda IG Display" pitchFamily="34" charset="0"/>
                <a:ea typeface="Trenda IG Display" pitchFamily="34" charset="-122"/>
                <a:cs typeface="Trenda IG Display" pitchFamily="34" charset="-120"/>
              </a:rPr>
              <a:t>Priority</a:t>
            </a:r>
            <a:endParaRPr lang="en-US" sz="1500" dirty="0"/>
          </a:p>
        </p:txBody>
      </p:sp>
      <p:sp>
        <p:nvSpPr>
          <p:cNvPr id="7" name="Text 5"/>
          <p:cNvSpPr txBox="1"/>
          <p:nvPr/>
        </p:nvSpPr>
        <p:spPr>
          <a:xfrm>
            <a:off x="722376" y="2272284"/>
            <a:ext cx="2233422" cy="182880"/>
          </a:xfrm>
          <a:prstGeom prst="rect">
            <a:avLst/>
          </a:prstGeom>
          <a:noFill/>
          <a:ln/>
        </p:spPr>
        <p:txBody>
          <a:bodyPr wrap="square" lIns="0" tIns="0" rIns="0" bIns="0" rtlCol="0" anchor="ctr"/>
          <a:lstStyle/>
          <a:p>
            <a:pPr indent="0" marL="0">
              <a:buNone/>
            </a:pPr>
            <a:r>
              <a:rPr lang="en-US" sz="750" b="1" spc="140" kern="0" dirty="0">
                <a:solidFill>
                  <a:srgbClr val="8A94A6"/>
                </a:solidFill>
                <a:latin typeface="Trenda IG Display" pitchFamily="34" charset="0"/>
                <a:ea typeface="Trenda IG Display" pitchFamily="34" charset="-122"/>
                <a:cs typeface="Trenda IG Display" pitchFamily="34" charset="-120"/>
              </a:rPr>
              <a:t>DERIVED, NEVER GUESSED</a:t>
            </a:r>
            <a:endParaRPr lang="en-US" sz="750" dirty="0"/>
          </a:p>
        </p:txBody>
      </p:sp>
      <p:sp>
        <p:nvSpPr>
          <p:cNvPr id="8" name="Text 6"/>
          <p:cNvSpPr txBox="1"/>
          <p:nvPr/>
        </p:nvSpPr>
        <p:spPr>
          <a:xfrm>
            <a:off x="722376" y="2564892"/>
            <a:ext cx="2233422" cy="1700784"/>
          </a:xfrm>
          <a:prstGeom prst="rect">
            <a:avLst/>
          </a:prstGeom>
          <a:noFill/>
          <a:ln/>
        </p:spPr>
        <p:txBody>
          <a:bodyPr wrap="square" lIns="0" tIns="0" rIns="0" bIns="0" rtlCol="0" anchor="t"/>
          <a:lstStyle/>
          <a:p>
            <a:pPr marL="152400" indent="-152400">
              <a:lnSpc>
                <a:spcPts val="1250"/>
              </a:lnSpc>
              <a:spcAft>
                <a:spcPts val="7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P1 to P4 from business impact, urgency, customer criticality and financial or regulatory risk.</a:t>
            </a:r>
            <a:endParaRPr lang="en-US" sz="850" dirty="0"/>
          </a:p>
          <a:p>
            <a:pPr marL="152400" indent="-152400">
              <a:lnSpc>
                <a:spcPts val="1250"/>
              </a:lnSpc>
              <a:spcAft>
                <a:spcPts val="7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Recommended by the template, set by Flow, changed by an agent only with a recorded reason.</a:t>
            </a:r>
            <a:endParaRPr lang="en-US" sz="850" dirty="0"/>
          </a:p>
          <a:p>
            <a:pPr marL="152400" indent="-152400">
              <a:lnSpc>
                <a:spcPts val="1250"/>
              </a:lnSpc>
              <a:spcAft>
                <a:spcPts val="7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P1 and P2 downgrades need Shift Lead approval. Every change is in the audit history.</a:t>
            </a:r>
            <a:endParaRPr lang="en-US" sz="850" dirty="0"/>
          </a:p>
        </p:txBody>
      </p:sp>
      <p:sp>
        <p:nvSpPr>
          <p:cNvPr id="9" name="Shape 7"/>
          <p:cNvSpPr/>
          <p:nvPr/>
        </p:nvSpPr>
        <p:spPr>
          <a:xfrm>
            <a:off x="3339846" y="1796796"/>
            <a:ext cx="2672334" cy="2615184"/>
          </a:xfrm>
          <a:prstGeom prst="roundRect">
            <a:avLst>
              <a:gd name="adj" fmla="val 1399"/>
            </a:avLst>
          </a:prstGeom>
          <a:solidFill>
            <a:srgbClr val="151A24"/>
          </a:solidFill>
          <a:ln w="12700">
            <a:solidFill>
              <a:srgbClr val="252D3D"/>
            </a:solidFill>
            <a:prstDash val="solid"/>
          </a:ln>
        </p:spPr>
      </p:sp>
      <p:sp>
        <p:nvSpPr>
          <p:cNvPr id="10" name="Text 8"/>
          <p:cNvSpPr txBox="1"/>
          <p:nvPr/>
        </p:nvSpPr>
        <p:spPr>
          <a:xfrm>
            <a:off x="3559302" y="1979676"/>
            <a:ext cx="2233422" cy="274320"/>
          </a:xfrm>
          <a:prstGeom prst="rect">
            <a:avLst/>
          </a:prstGeom>
          <a:noFill/>
          <a:ln/>
        </p:spPr>
        <p:txBody>
          <a:bodyPr wrap="square" lIns="0" tIns="0" rIns="0" bIns="0" rtlCol="0" anchor="ctr"/>
          <a:lstStyle/>
          <a:p>
            <a:pPr indent="0" marL="0">
              <a:buNone/>
            </a:pPr>
            <a:r>
              <a:rPr lang="en-US" sz="1500" b="1" dirty="0">
                <a:solidFill>
                  <a:srgbClr val="22D3EE"/>
                </a:solidFill>
                <a:latin typeface="Trenda IG Display" pitchFamily="34" charset="0"/>
                <a:ea typeface="Trenda IG Display" pitchFamily="34" charset="-122"/>
                <a:cs typeface="Trenda IG Display" pitchFamily="34" charset="-120"/>
              </a:rPr>
              <a:t>Routing</a:t>
            </a:r>
            <a:endParaRPr lang="en-US" sz="1500" dirty="0"/>
          </a:p>
        </p:txBody>
      </p:sp>
      <p:sp>
        <p:nvSpPr>
          <p:cNvPr id="11" name="Text 9"/>
          <p:cNvSpPr txBox="1"/>
          <p:nvPr/>
        </p:nvSpPr>
        <p:spPr>
          <a:xfrm>
            <a:off x="3559302" y="2272284"/>
            <a:ext cx="2233422" cy="182880"/>
          </a:xfrm>
          <a:prstGeom prst="rect">
            <a:avLst/>
          </a:prstGeom>
          <a:noFill/>
          <a:ln/>
        </p:spPr>
        <p:txBody>
          <a:bodyPr wrap="square" lIns="0" tIns="0" rIns="0" bIns="0" rtlCol="0" anchor="ctr"/>
          <a:lstStyle/>
          <a:p>
            <a:pPr indent="0" marL="0">
              <a:buNone/>
            </a:pPr>
            <a:r>
              <a:rPr lang="en-US" sz="750" b="1" spc="140" kern="0" dirty="0">
                <a:solidFill>
                  <a:srgbClr val="8A94A6"/>
                </a:solidFill>
                <a:latin typeface="Trenda IG Display" pitchFamily="34" charset="0"/>
                <a:ea typeface="Trenda IG Display" pitchFamily="34" charset="-122"/>
                <a:cs typeface="Trenda IG Display" pitchFamily="34" charset="-120"/>
              </a:rPr>
              <a:t>OMNI CHANNEL, SKILL AWARE</a:t>
            </a:r>
            <a:endParaRPr lang="en-US" sz="750" dirty="0"/>
          </a:p>
        </p:txBody>
      </p:sp>
      <p:sp>
        <p:nvSpPr>
          <p:cNvPr id="12" name="Text 10"/>
          <p:cNvSpPr txBox="1"/>
          <p:nvPr/>
        </p:nvSpPr>
        <p:spPr>
          <a:xfrm>
            <a:off x="3559302" y="2564892"/>
            <a:ext cx="2233422" cy="1700784"/>
          </a:xfrm>
          <a:prstGeom prst="rect">
            <a:avLst/>
          </a:prstGeom>
          <a:noFill/>
          <a:ln/>
        </p:spPr>
        <p:txBody>
          <a:bodyPr wrap="square" lIns="0" tIns="0" rIns="0" bIns="0" rtlCol="0" anchor="t"/>
          <a:lstStyle/>
          <a:p>
            <a:pPr marL="152400" indent="-152400">
              <a:lnSpc>
                <a:spcPts val="1250"/>
              </a:lnSpc>
              <a:spcAft>
                <a:spcPts val="7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Service family selects the queue; skills based routing requires the matching competency.</a:t>
            </a:r>
            <a:endParaRPr lang="en-US" sz="850" dirty="0"/>
          </a:p>
          <a:p>
            <a:pPr marL="152400" indent="-152400">
              <a:lnSpc>
                <a:spcPts val="1250"/>
              </a:lnSpc>
              <a:spcAft>
                <a:spcPts val="7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Agent capacity is respected, so work is pushed only to someone able to start it.</a:t>
            </a:r>
            <a:endParaRPr lang="en-US" sz="850" dirty="0"/>
          </a:p>
          <a:p>
            <a:pPr marL="152400" indent="-152400">
              <a:lnSpc>
                <a:spcPts val="1250"/>
              </a:lnSpc>
              <a:spcAft>
                <a:spcPts val="7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Higher priority presents first, so a P1 never sits behind a routine request.</a:t>
            </a:r>
            <a:endParaRPr lang="en-US" sz="850" dirty="0"/>
          </a:p>
        </p:txBody>
      </p:sp>
      <p:sp>
        <p:nvSpPr>
          <p:cNvPr id="13" name="Shape 11"/>
          <p:cNvSpPr/>
          <p:nvPr/>
        </p:nvSpPr>
        <p:spPr>
          <a:xfrm>
            <a:off x="6176772" y="1796796"/>
            <a:ext cx="2672334" cy="2615184"/>
          </a:xfrm>
          <a:prstGeom prst="roundRect">
            <a:avLst>
              <a:gd name="adj" fmla="val 1399"/>
            </a:avLst>
          </a:prstGeom>
          <a:solidFill>
            <a:srgbClr val="151A24"/>
          </a:solidFill>
          <a:ln w="12700">
            <a:solidFill>
              <a:srgbClr val="252D3D"/>
            </a:solidFill>
            <a:prstDash val="solid"/>
          </a:ln>
        </p:spPr>
      </p:sp>
      <p:sp>
        <p:nvSpPr>
          <p:cNvPr id="14" name="Text 12"/>
          <p:cNvSpPr txBox="1"/>
          <p:nvPr/>
        </p:nvSpPr>
        <p:spPr>
          <a:xfrm>
            <a:off x="6396228" y="1979676"/>
            <a:ext cx="2233422" cy="274320"/>
          </a:xfrm>
          <a:prstGeom prst="rect">
            <a:avLst/>
          </a:prstGeom>
          <a:noFill/>
          <a:ln/>
        </p:spPr>
        <p:txBody>
          <a:bodyPr wrap="square" lIns="0" tIns="0" rIns="0" bIns="0" rtlCol="0" anchor="ctr"/>
          <a:lstStyle/>
          <a:p>
            <a:pPr indent="0" marL="0">
              <a:buNone/>
            </a:pPr>
            <a:r>
              <a:rPr lang="en-US" sz="1500" b="1" dirty="0">
                <a:solidFill>
                  <a:srgbClr val="22D3EE"/>
                </a:solidFill>
                <a:latin typeface="Trenda IG Display" pitchFamily="34" charset="0"/>
                <a:ea typeface="Trenda IG Display" pitchFamily="34" charset="-122"/>
                <a:cs typeface="Trenda IG Display" pitchFamily="34" charset="-120"/>
              </a:rPr>
              <a:t>SLA</a:t>
            </a:r>
            <a:endParaRPr lang="en-US" sz="1500" dirty="0"/>
          </a:p>
        </p:txBody>
      </p:sp>
      <p:sp>
        <p:nvSpPr>
          <p:cNvPr id="15" name="Text 13"/>
          <p:cNvSpPr txBox="1"/>
          <p:nvPr/>
        </p:nvSpPr>
        <p:spPr>
          <a:xfrm>
            <a:off x="6396228" y="2272284"/>
            <a:ext cx="2233422" cy="182880"/>
          </a:xfrm>
          <a:prstGeom prst="rect">
            <a:avLst/>
          </a:prstGeom>
          <a:noFill/>
          <a:ln/>
        </p:spPr>
        <p:txBody>
          <a:bodyPr wrap="square" lIns="0" tIns="0" rIns="0" bIns="0" rtlCol="0" anchor="ctr"/>
          <a:lstStyle/>
          <a:p>
            <a:pPr indent="0" marL="0">
              <a:buNone/>
            </a:pPr>
            <a:r>
              <a:rPr lang="en-US" sz="750" b="1" spc="140" kern="0" dirty="0">
                <a:solidFill>
                  <a:srgbClr val="8A94A6"/>
                </a:solidFill>
                <a:latin typeface="Trenda IG Display" pitchFamily="34" charset="0"/>
                <a:ea typeface="Trenda IG Display" pitchFamily="34" charset="-122"/>
                <a:cs typeface="Trenda IG Display" pitchFamily="34" charset="-120"/>
              </a:rPr>
              <a:t>ENTITLEMENTS AND MILESTONES</a:t>
            </a:r>
            <a:endParaRPr lang="en-US" sz="750" dirty="0"/>
          </a:p>
        </p:txBody>
      </p:sp>
      <p:sp>
        <p:nvSpPr>
          <p:cNvPr id="16" name="Text 14"/>
          <p:cNvSpPr txBox="1"/>
          <p:nvPr/>
        </p:nvSpPr>
        <p:spPr>
          <a:xfrm>
            <a:off x="6396228" y="2564892"/>
            <a:ext cx="2233422" cy="1700784"/>
          </a:xfrm>
          <a:prstGeom prst="rect">
            <a:avLst/>
          </a:prstGeom>
          <a:noFill/>
          <a:ln/>
        </p:spPr>
        <p:txBody>
          <a:bodyPr wrap="square" lIns="0" tIns="0" rIns="0" bIns="0" rtlCol="0" anchor="t"/>
          <a:lstStyle/>
          <a:p>
            <a:pPr marL="152400" indent="-152400">
              <a:lnSpc>
                <a:spcPts val="1250"/>
              </a:lnSpc>
              <a:spcAft>
                <a:spcPts val="7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Two clocks per case: first meaningful response, and resolution, against business hours.</a:t>
            </a:r>
            <a:endParaRPr lang="en-US" sz="850" dirty="0"/>
          </a:p>
          <a:p>
            <a:pPr marL="152400" indent="-152400">
              <a:lnSpc>
                <a:spcPts val="1250"/>
              </a:lnSpc>
              <a:spcAft>
                <a:spcPts val="7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P1 15 min / 1 hr. P2 30 min / 4 hrs. P3 2 hrs / 1 day. P4 4 hrs / 2 to 3 days.</a:t>
            </a:r>
            <a:endParaRPr lang="en-US" sz="850" dirty="0"/>
          </a:p>
          <a:p>
            <a:pPr marL="152400" indent="-152400">
              <a:lnSpc>
                <a:spcPts val="1250"/>
              </a:lnSpc>
              <a:spcAft>
                <a:spcPts val="7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Resolution keeps running through internal dependencies, with that time measured separately.</a:t>
            </a:r>
            <a:endParaRPr lang="en-US" sz="850" dirty="0"/>
          </a:p>
        </p:txBody>
      </p:sp>
      <p:sp>
        <p:nvSpPr>
          <p:cNvPr id="17" name="Shape 15"/>
          <p:cNvSpPr/>
          <p:nvPr/>
        </p:nvSpPr>
        <p:spPr>
          <a:xfrm>
            <a:off x="9013698" y="1796796"/>
            <a:ext cx="2672334" cy="2615184"/>
          </a:xfrm>
          <a:prstGeom prst="roundRect">
            <a:avLst>
              <a:gd name="adj" fmla="val 1399"/>
            </a:avLst>
          </a:prstGeom>
          <a:solidFill>
            <a:srgbClr val="151A24"/>
          </a:solidFill>
          <a:ln w="12700">
            <a:solidFill>
              <a:srgbClr val="252D3D"/>
            </a:solidFill>
            <a:prstDash val="solid"/>
          </a:ln>
        </p:spPr>
      </p:sp>
      <p:sp>
        <p:nvSpPr>
          <p:cNvPr id="18" name="Text 16"/>
          <p:cNvSpPr txBox="1"/>
          <p:nvPr/>
        </p:nvSpPr>
        <p:spPr>
          <a:xfrm>
            <a:off x="9233154" y="1979676"/>
            <a:ext cx="2233422" cy="274320"/>
          </a:xfrm>
          <a:prstGeom prst="rect">
            <a:avLst/>
          </a:prstGeom>
          <a:noFill/>
          <a:ln/>
        </p:spPr>
        <p:txBody>
          <a:bodyPr wrap="square" lIns="0" tIns="0" rIns="0" bIns="0" rtlCol="0" anchor="ctr"/>
          <a:lstStyle/>
          <a:p>
            <a:pPr indent="0" marL="0">
              <a:buNone/>
            </a:pPr>
            <a:r>
              <a:rPr lang="en-US" sz="1500" b="1" dirty="0">
                <a:solidFill>
                  <a:srgbClr val="22D3EE"/>
                </a:solidFill>
                <a:latin typeface="Trenda IG Display" pitchFamily="34" charset="0"/>
                <a:ea typeface="Trenda IG Display" pitchFamily="34" charset="-122"/>
                <a:cs typeface="Trenda IG Display" pitchFamily="34" charset="-120"/>
              </a:rPr>
              <a:t>Escalation</a:t>
            </a:r>
            <a:endParaRPr lang="en-US" sz="1500" dirty="0"/>
          </a:p>
        </p:txBody>
      </p:sp>
      <p:sp>
        <p:nvSpPr>
          <p:cNvPr id="19" name="Text 17"/>
          <p:cNvSpPr txBox="1"/>
          <p:nvPr/>
        </p:nvSpPr>
        <p:spPr>
          <a:xfrm>
            <a:off x="9233154" y="2272284"/>
            <a:ext cx="2233422" cy="182880"/>
          </a:xfrm>
          <a:prstGeom prst="rect">
            <a:avLst/>
          </a:prstGeom>
          <a:noFill/>
          <a:ln/>
        </p:spPr>
        <p:txBody>
          <a:bodyPr wrap="square" lIns="0" tIns="0" rIns="0" bIns="0" rtlCol="0" anchor="ctr"/>
          <a:lstStyle/>
          <a:p>
            <a:pPr indent="0" marL="0">
              <a:buNone/>
            </a:pPr>
            <a:r>
              <a:rPr lang="en-US" sz="750" b="1" spc="140" kern="0" dirty="0">
                <a:solidFill>
                  <a:srgbClr val="8A94A6"/>
                </a:solidFill>
                <a:latin typeface="Trenda IG Display" pitchFamily="34" charset="0"/>
                <a:ea typeface="Trenda IG Display" pitchFamily="34" charset="-122"/>
                <a:cs typeface="Trenda IG Display" pitchFamily="34" charset="-120"/>
              </a:rPr>
              <a:t>PROPORTIONAL TO THE CLOCK</a:t>
            </a:r>
            <a:endParaRPr lang="en-US" sz="750" dirty="0"/>
          </a:p>
        </p:txBody>
      </p:sp>
      <p:sp>
        <p:nvSpPr>
          <p:cNvPr id="20" name="Text 18"/>
          <p:cNvSpPr txBox="1"/>
          <p:nvPr/>
        </p:nvSpPr>
        <p:spPr>
          <a:xfrm>
            <a:off x="9233154" y="2564892"/>
            <a:ext cx="2233422" cy="1700784"/>
          </a:xfrm>
          <a:prstGeom prst="rect">
            <a:avLst/>
          </a:prstGeom>
          <a:noFill/>
          <a:ln/>
        </p:spPr>
        <p:txBody>
          <a:bodyPr wrap="square" lIns="0" tIns="0" rIns="0" bIns="0" rtlCol="0" anchor="t"/>
          <a:lstStyle/>
          <a:p>
            <a:pPr marL="152400" indent="-152400">
              <a:lnSpc>
                <a:spcPts val="1250"/>
              </a:lnSpc>
              <a:spcAft>
                <a:spcPts val="7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Milestone time triggers at 50, 70, 85 and 100 percent of the SLA consumed.</a:t>
            </a:r>
            <a:endParaRPr lang="en-US" sz="850" dirty="0"/>
          </a:p>
          <a:p>
            <a:pPr marL="152400" indent="-152400">
              <a:lnSpc>
                <a:spcPts val="1250"/>
              </a:lnSpc>
              <a:spcAft>
                <a:spcPts val="7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Owner, then Shift Lead, then Team Lead and dashboard, then Operations Manager.</a:t>
            </a:r>
            <a:endParaRPr lang="en-US" sz="850" dirty="0"/>
          </a:p>
          <a:p>
            <a:pPr marL="152400" indent="-152400">
              <a:lnSpc>
                <a:spcPts val="1250"/>
              </a:lnSpc>
              <a:spcAft>
                <a:spcPts val="7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Also fires on P1 creation, reopen, repeat follow up, second transfer or a breached dependency.</a:t>
            </a:r>
            <a:endParaRPr lang="en-US" sz="850" dirty="0"/>
          </a:p>
        </p:txBody>
      </p:sp>
      <p:sp>
        <p:nvSpPr>
          <p:cNvPr id="21" name="Shape 19"/>
          <p:cNvSpPr/>
          <p:nvPr/>
        </p:nvSpPr>
        <p:spPr>
          <a:xfrm>
            <a:off x="502920" y="4631436"/>
            <a:ext cx="5481828" cy="1152144"/>
          </a:xfrm>
          <a:prstGeom prst="roundRect">
            <a:avLst>
              <a:gd name="adj" fmla="val 3175"/>
            </a:avLst>
          </a:prstGeom>
          <a:solidFill>
            <a:srgbClr val="151A24"/>
          </a:solidFill>
          <a:ln w="12700">
            <a:solidFill>
              <a:srgbClr val="252D3D"/>
            </a:solidFill>
            <a:prstDash val="solid"/>
          </a:ln>
        </p:spPr>
      </p:sp>
      <p:sp>
        <p:nvSpPr>
          <p:cNvPr id="22" name="Text 20"/>
          <p:cNvSpPr txBox="1"/>
          <p:nvPr/>
        </p:nvSpPr>
        <p:spPr>
          <a:xfrm>
            <a:off x="758952" y="4777740"/>
            <a:ext cx="4969764" cy="201168"/>
          </a:xfrm>
          <a:prstGeom prst="rect">
            <a:avLst/>
          </a:prstGeom>
          <a:noFill/>
          <a:ln/>
        </p:spPr>
        <p:txBody>
          <a:bodyPr wrap="square" lIns="0" tIns="0" rIns="0" bIns="0" rtlCol="0" anchor="ctr"/>
          <a:lstStyle/>
          <a:p>
            <a:pPr indent="0" marL="0">
              <a:buNone/>
            </a:pPr>
            <a:r>
              <a:rPr lang="en-US" sz="1000" b="1" spc="140" kern="0" dirty="0">
                <a:solidFill>
                  <a:srgbClr val="FFFFFF"/>
                </a:solidFill>
                <a:latin typeface="Trenda IG Display" pitchFamily="34" charset="0"/>
                <a:ea typeface="Trenda IG Display" pitchFamily="34" charset="-122"/>
                <a:cs typeface="Trenda IG Display" pitchFamily="34" charset="-120"/>
              </a:rPr>
              <a:t>STATUSES THAT MEAN ONE THING</a:t>
            </a:r>
            <a:endParaRPr lang="en-US" sz="1000" dirty="0"/>
          </a:p>
        </p:txBody>
      </p:sp>
      <p:sp>
        <p:nvSpPr>
          <p:cNvPr id="23" name="Text 21"/>
          <p:cNvSpPr txBox="1"/>
          <p:nvPr/>
        </p:nvSpPr>
        <p:spPr>
          <a:xfrm>
            <a:off x="758952" y="5052060"/>
            <a:ext cx="4969764" cy="621792"/>
          </a:xfrm>
          <a:prstGeom prst="rect">
            <a:avLst/>
          </a:prstGeom>
          <a:noFill/>
          <a:ln/>
        </p:spPr>
        <p:txBody>
          <a:bodyPr wrap="square" lIns="0" tIns="0" rIns="0" bIns="0" rtlCol="0" anchor="t"/>
          <a:lstStyle/>
          <a:p>
            <a:pPr indent="0" marL="0">
              <a:lnSpc>
                <a:spcPts val="1250"/>
              </a:lnSpc>
              <a:buNone/>
            </a:pPr>
            <a:r>
              <a:rPr lang="en-US" sz="900" dirty="0">
                <a:solidFill>
                  <a:srgbClr val="8A94A6"/>
                </a:solidFill>
                <a:latin typeface="Trenda IG Text" pitchFamily="34" charset="0"/>
                <a:ea typeface="Trenda IG Text" pitchFamily="34" charset="-122"/>
                <a:cs typeface="Trenda IG Text" pitchFamily="34" charset="-120"/>
              </a:rPr>
              <a:t>Ten defined statuses, each with a single meaning and a defined effect on both clocks. The resolution clock is not paused just because an internal team is involved, because that would hide the real customer experience. Four times are measured on every case: end to end, controllable, dependency and customer wait.</a:t>
            </a:r>
            <a:endParaRPr lang="en-US" sz="900" dirty="0"/>
          </a:p>
        </p:txBody>
      </p:sp>
      <p:sp>
        <p:nvSpPr>
          <p:cNvPr id="24" name="Shape 22"/>
          <p:cNvSpPr/>
          <p:nvPr/>
        </p:nvSpPr>
        <p:spPr>
          <a:xfrm>
            <a:off x="6204204" y="4631436"/>
            <a:ext cx="5481828" cy="1152144"/>
          </a:xfrm>
          <a:prstGeom prst="roundRect">
            <a:avLst>
              <a:gd name="adj" fmla="val 3175"/>
            </a:avLst>
          </a:prstGeom>
          <a:solidFill>
            <a:srgbClr val="151A24"/>
          </a:solidFill>
          <a:ln w="12700">
            <a:solidFill>
              <a:srgbClr val="252D3D"/>
            </a:solidFill>
            <a:prstDash val="solid"/>
          </a:ln>
        </p:spPr>
      </p:sp>
      <p:sp>
        <p:nvSpPr>
          <p:cNvPr id="25" name="Text 23"/>
          <p:cNvSpPr txBox="1"/>
          <p:nvPr/>
        </p:nvSpPr>
        <p:spPr>
          <a:xfrm>
            <a:off x="6460236" y="4777740"/>
            <a:ext cx="4969764" cy="201168"/>
          </a:xfrm>
          <a:prstGeom prst="rect">
            <a:avLst/>
          </a:prstGeom>
          <a:noFill/>
          <a:ln/>
        </p:spPr>
        <p:txBody>
          <a:bodyPr wrap="square" lIns="0" tIns="0" rIns="0" bIns="0" rtlCol="0" anchor="ctr"/>
          <a:lstStyle/>
          <a:p>
            <a:pPr indent="0" marL="0">
              <a:buNone/>
            </a:pPr>
            <a:r>
              <a:rPr lang="en-US" sz="1000" b="1" spc="140" kern="0" dirty="0">
                <a:solidFill>
                  <a:srgbClr val="FFFFFF"/>
                </a:solidFill>
                <a:latin typeface="Trenda IG Display" pitchFamily="34" charset="0"/>
                <a:ea typeface="Trenda IG Display" pitchFamily="34" charset="-122"/>
                <a:cs typeface="Trenda IG Display" pitchFamily="34" charset="-120"/>
              </a:rPr>
              <a:t>WHAT MCKESSON WATCHES</a:t>
            </a:r>
            <a:endParaRPr lang="en-US" sz="1000" dirty="0"/>
          </a:p>
        </p:txBody>
      </p:sp>
      <p:sp>
        <p:nvSpPr>
          <p:cNvPr id="26" name="Text 24"/>
          <p:cNvSpPr txBox="1"/>
          <p:nvPr/>
        </p:nvSpPr>
        <p:spPr>
          <a:xfrm>
            <a:off x="6460236" y="5052060"/>
            <a:ext cx="4969764" cy="621792"/>
          </a:xfrm>
          <a:prstGeom prst="rect">
            <a:avLst/>
          </a:prstGeom>
          <a:noFill/>
          <a:ln/>
        </p:spPr>
        <p:txBody>
          <a:bodyPr wrap="square" lIns="0" tIns="0" rIns="0" bIns="0" rtlCol="0" anchor="t"/>
          <a:lstStyle/>
          <a:p>
            <a:pPr indent="0" marL="0">
              <a:lnSpc>
                <a:spcPts val="1250"/>
              </a:lnSpc>
              <a:buNone/>
            </a:pPr>
            <a:r>
              <a:rPr lang="en-US" sz="900" dirty="0">
                <a:solidFill>
                  <a:srgbClr val="8A94A6"/>
                </a:solidFill>
                <a:latin typeface="Trenda IG Text" pitchFamily="34" charset="0"/>
                <a:ea typeface="Trenda IG Text" pitchFamily="34" charset="-122"/>
                <a:cs typeface="Trenda IG Text" pitchFamily="34" charset="-120"/>
              </a:rPr>
              <a:t>The operations dashboard adds one view the current service cannot produce: the door mix. Cases by door, this month against last, per queue. That is the measure of whether the operation is actually improving or merely keeping up.</a:t>
            </a:r>
            <a:endParaRPr lang="en-US" sz="900" dirty="0"/>
          </a:p>
        </p:txBody>
      </p:sp>
      <p:pic>
        <p:nvPicPr>
          <p:cNvPr id="27" name="Image 0" descr="assets/ig-mark.png">    </p:cNvPr>
          <p:cNvPicPr>
            <a:picLocks noChangeAspect="1"/>
          </p:cNvPicPr>
          <p:nvPr/>
        </p:nvPicPr>
        <p:blipFill>
          <a:blip r:embed="rId1"/>
          <a:stretch>
            <a:fillRect/>
          </a:stretch>
        </p:blipFill>
        <p:spPr>
          <a:xfrm>
            <a:off x="502920" y="6455664"/>
            <a:ext cx="420624" cy="144475"/>
          </a:xfrm>
          <a:prstGeom prst="rect">
            <a:avLst/>
          </a:prstGeom>
        </p:spPr>
      </p:pic>
      <p:sp>
        <p:nvSpPr>
          <p:cNvPr id="28" name="Text 25"/>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TRUST AND CONTROL</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AUTONOMY EARNS ITS WAY IN, ONE CASE TYPE AT A TIME</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Door two is the only part of this design where no person sees the response before the customer does. It is therefore the part with the most control around it.</a:t>
            </a:r>
            <a:endParaRPr lang="en-US" sz="1150" dirty="0"/>
          </a:p>
        </p:txBody>
      </p:sp>
      <p:sp>
        <p:nvSpPr>
          <p:cNvPr id="5" name="Shape 3"/>
          <p:cNvSpPr/>
          <p:nvPr/>
        </p:nvSpPr>
        <p:spPr>
          <a:xfrm>
            <a:off x="502920" y="1796796"/>
            <a:ext cx="6949440" cy="2432304"/>
          </a:xfrm>
          <a:prstGeom prst="roundRect">
            <a:avLst>
              <a:gd name="adj" fmla="val 1504"/>
            </a:avLst>
          </a:prstGeom>
          <a:solidFill>
            <a:srgbClr val="151A24"/>
          </a:solidFill>
          <a:ln w="12700">
            <a:solidFill>
              <a:srgbClr val="252D3D"/>
            </a:solidFill>
            <a:prstDash val="solid"/>
          </a:ln>
        </p:spPr>
      </p:sp>
      <p:sp>
        <p:nvSpPr>
          <p:cNvPr id="6" name="Text 4"/>
          <p:cNvSpPr txBox="1"/>
          <p:nvPr/>
        </p:nvSpPr>
        <p:spPr>
          <a:xfrm>
            <a:off x="758952" y="1979676"/>
            <a:ext cx="6437376" cy="201168"/>
          </a:xfrm>
          <a:prstGeom prst="rect">
            <a:avLst/>
          </a:prstGeom>
          <a:noFill/>
          <a:ln/>
        </p:spPr>
        <p:txBody>
          <a:bodyPr wrap="square" lIns="0" tIns="0" rIns="0" bIns="0" rtlCol="0" anchor="ctr"/>
          <a:lstStyle/>
          <a:p>
            <a:pPr indent="0" marL="0">
              <a:buNone/>
            </a:pPr>
            <a:r>
              <a:rPr lang="en-US" sz="1000" b="1" spc="140" kern="0" dirty="0">
                <a:solidFill>
                  <a:srgbClr val="FFFFFF"/>
                </a:solidFill>
                <a:latin typeface="Trenda IG Display" pitchFamily="34" charset="0"/>
                <a:ea typeface="Trenda IG Display" pitchFamily="34" charset="-122"/>
                <a:cs typeface="Trenda IG Display" pitchFamily="34" charset="-120"/>
              </a:rPr>
              <a:t>HOW A CASE TYPE GETS THROUGH DOOR TWO</a:t>
            </a:r>
            <a:endParaRPr lang="en-US" sz="1000" dirty="0"/>
          </a:p>
        </p:txBody>
      </p:sp>
      <p:sp>
        <p:nvSpPr>
          <p:cNvPr id="7" name="Shape 5"/>
          <p:cNvSpPr/>
          <p:nvPr/>
        </p:nvSpPr>
        <p:spPr>
          <a:xfrm>
            <a:off x="758952" y="2363724"/>
            <a:ext cx="237744" cy="237744"/>
          </a:xfrm>
          <a:prstGeom prst="roundRect">
            <a:avLst>
              <a:gd name="adj" fmla="val 19231"/>
            </a:avLst>
          </a:prstGeom>
          <a:solidFill>
            <a:srgbClr val="0A0D14"/>
          </a:solidFill>
          <a:ln w="12700">
            <a:solidFill>
              <a:srgbClr val="22D3EE"/>
            </a:solidFill>
            <a:prstDash val="solid"/>
          </a:ln>
        </p:spPr>
      </p:sp>
      <p:sp>
        <p:nvSpPr>
          <p:cNvPr id="8" name="Text 6"/>
          <p:cNvSpPr txBox="1"/>
          <p:nvPr/>
        </p:nvSpPr>
        <p:spPr>
          <a:xfrm>
            <a:off x="758952" y="2363724"/>
            <a:ext cx="237744" cy="237744"/>
          </a:xfrm>
          <a:prstGeom prst="rect">
            <a:avLst/>
          </a:prstGeom>
          <a:noFill/>
          <a:ln/>
        </p:spPr>
        <p:txBody>
          <a:bodyPr wrap="square" lIns="0" tIns="0" rIns="0" bIns="0" rtlCol="0" anchor="ctr"/>
          <a:lstStyle/>
          <a:p>
            <a:pPr algn="ctr" indent="0" marL="0">
              <a:buNone/>
            </a:pPr>
            <a:r>
              <a:rPr lang="en-US" sz="950" b="1" dirty="0">
                <a:solidFill>
                  <a:srgbClr val="22D3EE"/>
                </a:solidFill>
                <a:latin typeface="Trenda IG Display" pitchFamily="34" charset="0"/>
                <a:ea typeface="Trenda IG Display" pitchFamily="34" charset="-122"/>
                <a:cs typeface="Trenda IG Display" pitchFamily="34" charset="-120"/>
              </a:rPr>
              <a:t>1</a:t>
            </a:r>
            <a:endParaRPr lang="en-US" sz="950" dirty="0"/>
          </a:p>
        </p:txBody>
      </p:sp>
      <p:sp>
        <p:nvSpPr>
          <p:cNvPr id="9" name="Text 7"/>
          <p:cNvSpPr txBox="1"/>
          <p:nvPr/>
        </p:nvSpPr>
        <p:spPr>
          <a:xfrm>
            <a:off x="1088136" y="2327148"/>
            <a:ext cx="960120" cy="310896"/>
          </a:xfrm>
          <a:prstGeom prst="rect">
            <a:avLst/>
          </a:prstGeom>
          <a:noFill/>
          <a:ln/>
        </p:spPr>
        <p:txBody>
          <a:bodyPr wrap="square" lIns="0" tIns="0" rIns="0" bIns="0" rtlCol="0" anchor="ctr"/>
          <a:lstStyle/>
          <a:p>
            <a:pPr indent="0" marL="0">
              <a:buNone/>
            </a:pPr>
            <a:r>
              <a:rPr lang="en-US" sz="950" b="1" dirty="0">
                <a:solidFill>
                  <a:srgbClr val="22D3EE"/>
                </a:solidFill>
                <a:latin typeface="Trenda IG Text" pitchFamily="34" charset="0"/>
                <a:ea typeface="Trenda IG Text" pitchFamily="34" charset="-122"/>
                <a:cs typeface="Trenda IG Text" pitchFamily="34" charset="-120"/>
              </a:rPr>
              <a:t>Propose</a:t>
            </a:r>
            <a:endParaRPr lang="en-US" sz="950" dirty="0"/>
          </a:p>
        </p:txBody>
      </p:sp>
      <p:sp>
        <p:nvSpPr>
          <p:cNvPr id="10" name="Text 8"/>
          <p:cNvSpPr txBox="1"/>
          <p:nvPr/>
        </p:nvSpPr>
        <p:spPr>
          <a:xfrm>
            <a:off x="2093976" y="2327148"/>
            <a:ext cx="5102352" cy="329184"/>
          </a:xfrm>
          <a:prstGeom prst="rect">
            <a:avLst/>
          </a:prstGeom>
          <a:noFill/>
          <a:ln/>
        </p:spPr>
        <p:txBody>
          <a:bodyPr wrap="square" lIns="0" tIns="0" rIns="0" bIns="0" rtlCol="0" anchor="ctr"/>
          <a:lstStyle/>
          <a:p>
            <a:pPr indent="0" marL="0">
              <a:lnSpc>
                <a:spcPts val="1100"/>
              </a:lnSpc>
              <a:buNone/>
            </a:pPr>
            <a:r>
              <a:rPr lang="en-US" sz="850" dirty="0">
                <a:solidFill>
                  <a:srgbClr val="8A94A6"/>
                </a:solidFill>
                <a:latin typeface="Trenda IG Text" pitchFamily="34" charset="0"/>
                <a:ea typeface="Trenda IG Text" pitchFamily="34" charset="-122"/>
                <a:cs typeface="Trenda IG Text" pitchFamily="34" charset="-120"/>
              </a:rPr>
              <a:t>A candidate type is identified from volume and determinism, and agreed with McKesson.</a:t>
            </a:r>
            <a:endParaRPr lang="en-US" sz="850" dirty="0"/>
          </a:p>
        </p:txBody>
      </p:sp>
      <p:sp>
        <p:nvSpPr>
          <p:cNvPr id="11" name="Shape 9"/>
          <p:cNvSpPr/>
          <p:nvPr/>
        </p:nvSpPr>
        <p:spPr>
          <a:xfrm>
            <a:off x="758952" y="2729484"/>
            <a:ext cx="237744" cy="237744"/>
          </a:xfrm>
          <a:prstGeom prst="roundRect">
            <a:avLst>
              <a:gd name="adj" fmla="val 19231"/>
            </a:avLst>
          </a:prstGeom>
          <a:solidFill>
            <a:srgbClr val="0A0D14"/>
          </a:solidFill>
          <a:ln w="12700">
            <a:solidFill>
              <a:srgbClr val="22D3EE"/>
            </a:solidFill>
            <a:prstDash val="solid"/>
          </a:ln>
        </p:spPr>
      </p:sp>
      <p:sp>
        <p:nvSpPr>
          <p:cNvPr id="12" name="Text 10"/>
          <p:cNvSpPr txBox="1"/>
          <p:nvPr/>
        </p:nvSpPr>
        <p:spPr>
          <a:xfrm>
            <a:off x="758952" y="2729484"/>
            <a:ext cx="237744" cy="237744"/>
          </a:xfrm>
          <a:prstGeom prst="rect">
            <a:avLst/>
          </a:prstGeom>
          <a:noFill/>
          <a:ln/>
        </p:spPr>
        <p:txBody>
          <a:bodyPr wrap="square" lIns="0" tIns="0" rIns="0" bIns="0" rtlCol="0" anchor="ctr"/>
          <a:lstStyle/>
          <a:p>
            <a:pPr algn="ctr" indent="0" marL="0">
              <a:buNone/>
            </a:pPr>
            <a:r>
              <a:rPr lang="en-US" sz="950" b="1" dirty="0">
                <a:solidFill>
                  <a:srgbClr val="22D3EE"/>
                </a:solidFill>
                <a:latin typeface="Trenda IG Display" pitchFamily="34" charset="0"/>
                <a:ea typeface="Trenda IG Display" pitchFamily="34" charset="-122"/>
                <a:cs typeface="Trenda IG Display" pitchFamily="34" charset="-120"/>
              </a:rPr>
              <a:t>2</a:t>
            </a:r>
            <a:endParaRPr lang="en-US" sz="950" dirty="0"/>
          </a:p>
        </p:txBody>
      </p:sp>
      <p:sp>
        <p:nvSpPr>
          <p:cNvPr id="13" name="Text 11"/>
          <p:cNvSpPr txBox="1"/>
          <p:nvPr/>
        </p:nvSpPr>
        <p:spPr>
          <a:xfrm>
            <a:off x="1088136" y="2692908"/>
            <a:ext cx="960120" cy="310896"/>
          </a:xfrm>
          <a:prstGeom prst="rect">
            <a:avLst/>
          </a:prstGeom>
          <a:noFill/>
          <a:ln/>
        </p:spPr>
        <p:txBody>
          <a:bodyPr wrap="square" lIns="0" tIns="0" rIns="0" bIns="0" rtlCol="0" anchor="ctr"/>
          <a:lstStyle/>
          <a:p>
            <a:pPr indent="0" marL="0">
              <a:buNone/>
            </a:pPr>
            <a:r>
              <a:rPr lang="en-US" sz="950" b="1" dirty="0">
                <a:solidFill>
                  <a:srgbClr val="22D3EE"/>
                </a:solidFill>
                <a:latin typeface="Trenda IG Text" pitchFamily="34" charset="0"/>
                <a:ea typeface="Trenda IG Text" pitchFamily="34" charset="-122"/>
                <a:cs typeface="Trenda IG Text" pitchFamily="34" charset="-120"/>
              </a:rPr>
              <a:t>Shadow</a:t>
            </a:r>
            <a:endParaRPr lang="en-US" sz="950" dirty="0"/>
          </a:p>
        </p:txBody>
      </p:sp>
      <p:sp>
        <p:nvSpPr>
          <p:cNvPr id="14" name="Text 12"/>
          <p:cNvSpPr txBox="1"/>
          <p:nvPr/>
        </p:nvSpPr>
        <p:spPr>
          <a:xfrm>
            <a:off x="2093976" y="2692908"/>
            <a:ext cx="5102352" cy="329184"/>
          </a:xfrm>
          <a:prstGeom prst="rect">
            <a:avLst/>
          </a:prstGeom>
          <a:noFill/>
          <a:ln/>
        </p:spPr>
        <p:txBody>
          <a:bodyPr wrap="square" lIns="0" tIns="0" rIns="0" bIns="0" rtlCol="0" anchor="ctr"/>
          <a:lstStyle/>
          <a:p>
            <a:pPr indent="0" marL="0">
              <a:lnSpc>
                <a:spcPts val="1100"/>
              </a:lnSpc>
              <a:buNone/>
            </a:pPr>
            <a:r>
              <a:rPr lang="en-US" sz="850" dirty="0">
                <a:solidFill>
                  <a:srgbClr val="8A94A6"/>
                </a:solidFill>
                <a:latin typeface="Trenda IG Text" pitchFamily="34" charset="0"/>
                <a:ea typeface="Trenda IG Text" pitchFamily="34" charset="-122"/>
                <a:cs typeface="Trenda IG Text" pitchFamily="34" charset="-120"/>
              </a:rPr>
              <a:t>The automation runs and drafts, but a person still sends. Outputs are scored against what the agent actually sent.</a:t>
            </a:r>
            <a:endParaRPr lang="en-US" sz="850" dirty="0"/>
          </a:p>
        </p:txBody>
      </p:sp>
      <p:sp>
        <p:nvSpPr>
          <p:cNvPr id="15" name="Shape 13"/>
          <p:cNvSpPr/>
          <p:nvPr/>
        </p:nvSpPr>
        <p:spPr>
          <a:xfrm>
            <a:off x="758952" y="3095244"/>
            <a:ext cx="237744" cy="237744"/>
          </a:xfrm>
          <a:prstGeom prst="roundRect">
            <a:avLst>
              <a:gd name="adj" fmla="val 19231"/>
            </a:avLst>
          </a:prstGeom>
          <a:solidFill>
            <a:srgbClr val="0A0D14"/>
          </a:solidFill>
          <a:ln w="12700">
            <a:solidFill>
              <a:srgbClr val="22D3EE"/>
            </a:solidFill>
            <a:prstDash val="solid"/>
          </a:ln>
        </p:spPr>
      </p:sp>
      <p:sp>
        <p:nvSpPr>
          <p:cNvPr id="16" name="Text 14"/>
          <p:cNvSpPr txBox="1"/>
          <p:nvPr/>
        </p:nvSpPr>
        <p:spPr>
          <a:xfrm>
            <a:off x="758952" y="3095244"/>
            <a:ext cx="237744" cy="237744"/>
          </a:xfrm>
          <a:prstGeom prst="rect">
            <a:avLst/>
          </a:prstGeom>
          <a:noFill/>
          <a:ln/>
        </p:spPr>
        <p:txBody>
          <a:bodyPr wrap="square" lIns="0" tIns="0" rIns="0" bIns="0" rtlCol="0" anchor="ctr"/>
          <a:lstStyle/>
          <a:p>
            <a:pPr algn="ctr" indent="0" marL="0">
              <a:buNone/>
            </a:pPr>
            <a:r>
              <a:rPr lang="en-US" sz="950" b="1" dirty="0">
                <a:solidFill>
                  <a:srgbClr val="22D3EE"/>
                </a:solidFill>
                <a:latin typeface="Trenda IG Display" pitchFamily="34" charset="0"/>
                <a:ea typeface="Trenda IG Display" pitchFamily="34" charset="-122"/>
                <a:cs typeface="Trenda IG Display" pitchFamily="34" charset="-120"/>
              </a:rPr>
              <a:t>3</a:t>
            </a:r>
            <a:endParaRPr lang="en-US" sz="950" dirty="0"/>
          </a:p>
        </p:txBody>
      </p:sp>
      <p:sp>
        <p:nvSpPr>
          <p:cNvPr id="17" name="Text 15"/>
          <p:cNvSpPr txBox="1"/>
          <p:nvPr/>
        </p:nvSpPr>
        <p:spPr>
          <a:xfrm>
            <a:off x="1088136" y="3058668"/>
            <a:ext cx="960120" cy="310896"/>
          </a:xfrm>
          <a:prstGeom prst="rect">
            <a:avLst/>
          </a:prstGeom>
          <a:noFill/>
          <a:ln/>
        </p:spPr>
        <p:txBody>
          <a:bodyPr wrap="square" lIns="0" tIns="0" rIns="0" bIns="0" rtlCol="0" anchor="ctr"/>
          <a:lstStyle/>
          <a:p>
            <a:pPr indent="0" marL="0">
              <a:buNone/>
            </a:pPr>
            <a:r>
              <a:rPr lang="en-US" sz="950" b="1" dirty="0">
                <a:solidFill>
                  <a:srgbClr val="22D3EE"/>
                </a:solidFill>
                <a:latin typeface="Trenda IG Text" pitchFamily="34" charset="0"/>
                <a:ea typeface="Trenda IG Text" pitchFamily="34" charset="-122"/>
                <a:cs typeface="Trenda IG Text" pitchFamily="34" charset="-120"/>
              </a:rPr>
              <a:t>Prove</a:t>
            </a:r>
            <a:endParaRPr lang="en-US" sz="950" dirty="0"/>
          </a:p>
        </p:txBody>
      </p:sp>
      <p:sp>
        <p:nvSpPr>
          <p:cNvPr id="18" name="Text 16"/>
          <p:cNvSpPr txBox="1"/>
          <p:nvPr/>
        </p:nvSpPr>
        <p:spPr>
          <a:xfrm>
            <a:off x="2093976" y="3058668"/>
            <a:ext cx="5102352" cy="329184"/>
          </a:xfrm>
          <a:prstGeom prst="rect">
            <a:avLst/>
          </a:prstGeom>
          <a:noFill/>
          <a:ln/>
        </p:spPr>
        <p:txBody>
          <a:bodyPr wrap="square" lIns="0" tIns="0" rIns="0" bIns="0" rtlCol="0" anchor="ctr"/>
          <a:lstStyle/>
          <a:p>
            <a:pPr indent="0" marL="0">
              <a:lnSpc>
                <a:spcPts val="1100"/>
              </a:lnSpc>
              <a:buNone/>
            </a:pPr>
            <a:r>
              <a:rPr lang="en-US" sz="850" dirty="0">
                <a:solidFill>
                  <a:srgbClr val="8A94A6"/>
                </a:solidFill>
                <a:latin typeface="Trenda IG Text" pitchFamily="34" charset="0"/>
                <a:ea typeface="Trenda IG Text" pitchFamily="34" charset="-122"/>
                <a:cs typeface="Trenda IG Text" pitchFamily="34" charset="-120"/>
              </a:rPr>
              <a:t>The type must clear an agreed accuracy threshold over an agreed sample before release is considered.</a:t>
            </a:r>
            <a:endParaRPr lang="en-US" sz="850" dirty="0"/>
          </a:p>
        </p:txBody>
      </p:sp>
      <p:sp>
        <p:nvSpPr>
          <p:cNvPr id="19" name="Shape 17"/>
          <p:cNvSpPr/>
          <p:nvPr/>
        </p:nvSpPr>
        <p:spPr>
          <a:xfrm>
            <a:off x="758952" y="3461004"/>
            <a:ext cx="237744" cy="237744"/>
          </a:xfrm>
          <a:prstGeom prst="roundRect">
            <a:avLst>
              <a:gd name="adj" fmla="val 19231"/>
            </a:avLst>
          </a:prstGeom>
          <a:solidFill>
            <a:srgbClr val="0A0D14"/>
          </a:solidFill>
          <a:ln w="12700">
            <a:solidFill>
              <a:srgbClr val="22D3EE"/>
            </a:solidFill>
            <a:prstDash val="solid"/>
          </a:ln>
        </p:spPr>
      </p:sp>
      <p:sp>
        <p:nvSpPr>
          <p:cNvPr id="20" name="Text 18"/>
          <p:cNvSpPr txBox="1"/>
          <p:nvPr/>
        </p:nvSpPr>
        <p:spPr>
          <a:xfrm>
            <a:off x="758952" y="3461004"/>
            <a:ext cx="237744" cy="237744"/>
          </a:xfrm>
          <a:prstGeom prst="rect">
            <a:avLst/>
          </a:prstGeom>
          <a:noFill/>
          <a:ln/>
        </p:spPr>
        <p:txBody>
          <a:bodyPr wrap="square" lIns="0" tIns="0" rIns="0" bIns="0" rtlCol="0" anchor="ctr"/>
          <a:lstStyle/>
          <a:p>
            <a:pPr algn="ctr" indent="0" marL="0">
              <a:buNone/>
            </a:pPr>
            <a:r>
              <a:rPr lang="en-US" sz="950" b="1" dirty="0">
                <a:solidFill>
                  <a:srgbClr val="22D3EE"/>
                </a:solidFill>
                <a:latin typeface="Trenda IG Display" pitchFamily="34" charset="0"/>
                <a:ea typeface="Trenda IG Display" pitchFamily="34" charset="-122"/>
                <a:cs typeface="Trenda IG Display" pitchFamily="34" charset="-120"/>
              </a:rPr>
              <a:t>4</a:t>
            </a:r>
            <a:endParaRPr lang="en-US" sz="950" dirty="0"/>
          </a:p>
        </p:txBody>
      </p:sp>
      <p:sp>
        <p:nvSpPr>
          <p:cNvPr id="21" name="Text 19"/>
          <p:cNvSpPr txBox="1"/>
          <p:nvPr/>
        </p:nvSpPr>
        <p:spPr>
          <a:xfrm>
            <a:off x="1088136" y="3424428"/>
            <a:ext cx="960120" cy="310896"/>
          </a:xfrm>
          <a:prstGeom prst="rect">
            <a:avLst/>
          </a:prstGeom>
          <a:noFill/>
          <a:ln/>
        </p:spPr>
        <p:txBody>
          <a:bodyPr wrap="square" lIns="0" tIns="0" rIns="0" bIns="0" rtlCol="0" anchor="ctr"/>
          <a:lstStyle/>
          <a:p>
            <a:pPr indent="0" marL="0">
              <a:buNone/>
            </a:pPr>
            <a:r>
              <a:rPr lang="en-US" sz="950" b="1" dirty="0">
                <a:solidFill>
                  <a:srgbClr val="22D3EE"/>
                </a:solidFill>
                <a:latin typeface="Trenda IG Text" pitchFamily="34" charset="0"/>
                <a:ea typeface="Trenda IG Text" pitchFamily="34" charset="-122"/>
                <a:cs typeface="Trenda IG Text" pitchFamily="34" charset="-120"/>
              </a:rPr>
              <a:t>Release</a:t>
            </a:r>
            <a:endParaRPr lang="en-US" sz="950" dirty="0"/>
          </a:p>
        </p:txBody>
      </p:sp>
      <p:sp>
        <p:nvSpPr>
          <p:cNvPr id="22" name="Text 20"/>
          <p:cNvSpPr txBox="1"/>
          <p:nvPr/>
        </p:nvSpPr>
        <p:spPr>
          <a:xfrm>
            <a:off x="2093976" y="3424428"/>
            <a:ext cx="5102352" cy="329184"/>
          </a:xfrm>
          <a:prstGeom prst="rect">
            <a:avLst/>
          </a:prstGeom>
          <a:noFill/>
          <a:ln/>
        </p:spPr>
        <p:txBody>
          <a:bodyPr wrap="square" lIns="0" tIns="0" rIns="0" bIns="0" rtlCol="0" anchor="ctr"/>
          <a:lstStyle/>
          <a:p>
            <a:pPr indent="0" marL="0">
              <a:lnSpc>
                <a:spcPts val="1100"/>
              </a:lnSpc>
              <a:buNone/>
            </a:pPr>
            <a:r>
              <a:rPr lang="en-US" sz="850" dirty="0">
                <a:solidFill>
                  <a:srgbClr val="8A94A6"/>
                </a:solidFill>
                <a:latin typeface="Trenda IG Text" pitchFamily="34" charset="0"/>
                <a:ea typeface="Trenda IG Text" pitchFamily="34" charset="-122"/>
                <a:cs typeface="Trenda IG Text" pitchFamily="34" charset="-120"/>
              </a:rPr>
              <a:t>Switched on for that type alone. Every other type is unaffected.</a:t>
            </a:r>
            <a:endParaRPr lang="en-US" sz="850" dirty="0"/>
          </a:p>
        </p:txBody>
      </p:sp>
      <p:sp>
        <p:nvSpPr>
          <p:cNvPr id="23" name="Shape 21"/>
          <p:cNvSpPr/>
          <p:nvPr/>
        </p:nvSpPr>
        <p:spPr>
          <a:xfrm>
            <a:off x="758952" y="3826764"/>
            <a:ext cx="237744" cy="237744"/>
          </a:xfrm>
          <a:prstGeom prst="roundRect">
            <a:avLst>
              <a:gd name="adj" fmla="val 19231"/>
            </a:avLst>
          </a:prstGeom>
          <a:solidFill>
            <a:srgbClr val="0A0D14"/>
          </a:solidFill>
          <a:ln w="12700">
            <a:solidFill>
              <a:srgbClr val="22D3EE"/>
            </a:solidFill>
            <a:prstDash val="solid"/>
          </a:ln>
        </p:spPr>
      </p:sp>
      <p:sp>
        <p:nvSpPr>
          <p:cNvPr id="24" name="Text 22"/>
          <p:cNvSpPr txBox="1"/>
          <p:nvPr/>
        </p:nvSpPr>
        <p:spPr>
          <a:xfrm>
            <a:off x="758952" y="3826764"/>
            <a:ext cx="237744" cy="237744"/>
          </a:xfrm>
          <a:prstGeom prst="rect">
            <a:avLst/>
          </a:prstGeom>
          <a:noFill/>
          <a:ln/>
        </p:spPr>
        <p:txBody>
          <a:bodyPr wrap="square" lIns="0" tIns="0" rIns="0" bIns="0" rtlCol="0" anchor="ctr"/>
          <a:lstStyle/>
          <a:p>
            <a:pPr algn="ctr" indent="0" marL="0">
              <a:buNone/>
            </a:pPr>
            <a:r>
              <a:rPr lang="en-US" sz="950" b="1" dirty="0">
                <a:solidFill>
                  <a:srgbClr val="22D3EE"/>
                </a:solidFill>
                <a:latin typeface="Trenda IG Display" pitchFamily="34" charset="0"/>
                <a:ea typeface="Trenda IG Display" pitchFamily="34" charset="-122"/>
                <a:cs typeface="Trenda IG Display" pitchFamily="34" charset="-120"/>
              </a:rPr>
              <a:t>5</a:t>
            </a:r>
            <a:endParaRPr lang="en-US" sz="950" dirty="0"/>
          </a:p>
        </p:txBody>
      </p:sp>
      <p:sp>
        <p:nvSpPr>
          <p:cNvPr id="25" name="Text 23"/>
          <p:cNvSpPr txBox="1"/>
          <p:nvPr/>
        </p:nvSpPr>
        <p:spPr>
          <a:xfrm>
            <a:off x="1088136" y="3790188"/>
            <a:ext cx="960120" cy="310896"/>
          </a:xfrm>
          <a:prstGeom prst="rect">
            <a:avLst/>
          </a:prstGeom>
          <a:noFill/>
          <a:ln/>
        </p:spPr>
        <p:txBody>
          <a:bodyPr wrap="square" lIns="0" tIns="0" rIns="0" bIns="0" rtlCol="0" anchor="ctr"/>
          <a:lstStyle/>
          <a:p>
            <a:pPr indent="0" marL="0">
              <a:buNone/>
            </a:pPr>
            <a:r>
              <a:rPr lang="en-US" sz="950" b="1" dirty="0">
                <a:solidFill>
                  <a:srgbClr val="22D3EE"/>
                </a:solidFill>
                <a:latin typeface="Trenda IG Text" pitchFamily="34" charset="0"/>
                <a:ea typeface="Trenda IG Text" pitchFamily="34" charset="-122"/>
                <a:cs typeface="Trenda IG Text" pitchFamily="34" charset="-120"/>
              </a:rPr>
              <a:t>Watch</a:t>
            </a:r>
            <a:endParaRPr lang="en-US" sz="950" dirty="0"/>
          </a:p>
        </p:txBody>
      </p:sp>
      <p:sp>
        <p:nvSpPr>
          <p:cNvPr id="26" name="Text 24"/>
          <p:cNvSpPr txBox="1"/>
          <p:nvPr/>
        </p:nvSpPr>
        <p:spPr>
          <a:xfrm>
            <a:off x="2093976" y="3790188"/>
            <a:ext cx="5102352" cy="329184"/>
          </a:xfrm>
          <a:prstGeom prst="rect">
            <a:avLst/>
          </a:prstGeom>
          <a:noFill/>
          <a:ln/>
        </p:spPr>
        <p:txBody>
          <a:bodyPr wrap="square" lIns="0" tIns="0" rIns="0" bIns="0" rtlCol="0" anchor="ctr"/>
          <a:lstStyle/>
          <a:p>
            <a:pPr indent="0" marL="0">
              <a:lnSpc>
                <a:spcPts val="1100"/>
              </a:lnSpc>
              <a:buNone/>
            </a:pPr>
            <a:r>
              <a:rPr lang="en-US" sz="850" dirty="0">
                <a:solidFill>
                  <a:srgbClr val="8A94A6"/>
                </a:solidFill>
                <a:latin typeface="Trenda IG Text" pitchFamily="34" charset="0"/>
                <a:ea typeface="Trenda IG Text" pitchFamily="34" charset="-122"/>
                <a:cs typeface="Trenda IG Text" pitchFamily="34" charset="-120"/>
              </a:rPr>
              <a:t>A daily QA sample, plus automatic rollback triggers on complaint, reopen or correction rate.</a:t>
            </a:r>
            <a:endParaRPr lang="en-US" sz="850" dirty="0"/>
          </a:p>
        </p:txBody>
      </p:sp>
      <p:sp>
        <p:nvSpPr>
          <p:cNvPr id="27" name="Shape 25"/>
          <p:cNvSpPr/>
          <p:nvPr/>
        </p:nvSpPr>
        <p:spPr>
          <a:xfrm>
            <a:off x="7671816" y="1796796"/>
            <a:ext cx="4014216" cy="2432304"/>
          </a:xfrm>
          <a:prstGeom prst="roundRect">
            <a:avLst>
              <a:gd name="adj" fmla="val 1504"/>
            </a:avLst>
          </a:prstGeom>
          <a:solidFill>
            <a:srgbClr val="151A24"/>
          </a:solidFill>
          <a:ln w="12700">
            <a:solidFill>
              <a:srgbClr val="252D3D"/>
            </a:solidFill>
            <a:prstDash val="solid"/>
          </a:ln>
        </p:spPr>
      </p:sp>
      <p:sp>
        <p:nvSpPr>
          <p:cNvPr id="28" name="Text 26"/>
          <p:cNvSpPr txBox="1"/>
          <p:nvPr/>
        </p:nvSpPr>
        <p:spPr>
          <a:xfrm>
            <a:off x="7927848" y="1979676"/>
            <a:ext cx="3502152" cy="201168"/>
          </a:xfrm>
          <a:prstGeom prst="rect">
            <a:avLst/>
          </a:prstGeom>
          <a:noFill/>
          <a:ln/>
        </p:spPr>
        <p:txBody>
          <a:bodyPr wrap="square" lIns="0" tIns="0" rIns="0" bIns="0" rtlCol="0" anchor="ctr"/>
          <a:lstStyle/>
          <a:p>
            <a:pPr indent="0" marL="0">
              <a:buNone/>
            </a:pPr>
            <a:r>
              <a:rPr lang="en-US" sz="1000" b="1" spc="140" kern="0" dirty="0">
                <a:solidFill>
                  <a:srgbClr val="FFFFFF"/>
                </a:solidFill>
                <a:latin typeface="Trenda IG Display" pitchFamily="34" charset="0"/>
                <a:ea typeface="Trenda IG Display" pitchFamily="34" charset="-122"/>
                <a:cs typeface="Trenda IG Display" pitchFamily="34" charset="-120"/>
              </a:rPr>
              <a:t>EINSTEIN TRUST LAYER</a:t>
            </a:r>
            <a:endParaRPr lang="en-US" sz="1000" dirty="0"/>
          </a:p>
        </p:txBody>
      </p:sp>
      <p:sp>
        <p:nvSpPr>
          <p:cNvPr id="29" name="Text 27"/>
          <p:cNvSpPr txBox="1"/>
          <p:nvPr/>
        </p:nvSpPr>
        <p:spPr>
          <a:xfrm>
            <a:off x="7927848" y="2308860"/>
            <a:ext cx="3502152" cy="1792224"/>
          </a:xfrm>
          <a:prstGeom prst="rect">
            <a:avLst/>
          </a:prstGeom>
          <a:noFill/>
          <a:ln/>
        </p:spPr>
        <p:txBody>
          <a:bodyPr wrap="square" lIns="0" tIns="0" rIns="0" bIns="0" rtlCol="0" anchor="t"/>
          <a:lstStyle/>
          <a:p>
            <a:pPr marL="152400" indent="-152400">
              <a:lnSpc>
                <a:spcPts val="1250"/>
              </a:lnSpc>
              <a:spcAft>
                <a:spcPts val="5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Runs inside McKesson tenancy. No McKesson data trains any model.</a:t>
            </a:r>
            <a:endParaRPr lang="en-US" sz="850" dirty="0"/>
          </a:p>
          <a:p>
            <a:pPr marL="152400" indent="-152400">
              <a:lnSpc>
                <a:spcPts val="1250"/>
              </a:lnSpc>
              <a:spcAft>
                <a:spcPts val="5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Zero data retention by the model provider.</a:t>
            </a:r>
            <a:endParaRPr lang="en-US" sz="850" dirty="0"/>
          </a:p>
          <a:p>
            <a:pPr marL="152400" indent="-152400">
              <a:lnSpc>
                <a:spcPts val="1250"/>
              </a:lnSpc>
              <a:spcAft>
                <a:spcPts val="5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PHI and PII masked before the prompt leaves the org, rehydrated in the response.</a:t>
            </a:r>
            <a:endParaRPr lang="en-US" sz="850" dirty="0"/>
          </a:p>
          <a:p>
            <a:pPr marL="152400" indent="-152400">
              <a:lnSpc>
                <a:spcPts val="1250"/>
              </a:lnSpc>
              <a:spcAft>
                <a:spcPts val="5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Dynamic grounding under the running user permissions.</a:t>
            </a:r>
            <a:endParaRPr lang="en-US" sz="850" dirty="0"/>
          </a:p>
          <a:p>
            <a:pPr marL="152400" indent="-152400">
              <a:lnSpc>
                <a:spcPts val="1250"/>
              </a:lnSpc>
              <a:spcAft>
                <a:spcPts val="5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Prompt injection defence: instructions inside a customer email are content, not commands.</a:t>
            </a:r>
            <a:endParaRPr lang="en-US" sz="850" dirty="0"/>
          </a:p>
          <a:p>
            <a:pPr marL="152400" indent="-152400">
              <a:lnSpc>
                <a:spcPts val="1250"/>
              </a:lnSpc>
              <a:spcAft>
                <a:spcPts val="5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Every prompt, output, edit and send retained and reportable.</a:t>
            </a:r>
            <a:endParaRPr lang="en-US" sz="850" dirty="0"/>
          </a:p>
        </p:txBody>
      </p:sp>
      <p:sp>
        <p:nvSpPr>
          <p:cNvPr id="30" name="Shape 28"/>
          <p:cNvSpPr/>
          <p:nvPr/>
        </p:nvSpPr>
        <p:spPr>
          <a:xfrm>
            <a:off x="502920" y="4448556"/>
            <a:ext cx="11183112" cy="1316736"/>
          </a:xfrm>
          <a:prstGeom prst="roundRect">
            <a:avLst>
              <a:gd name="adj" fmla="val 2778"/>
            </a:avLst>
          </a:prstGeom>
          <a:solidFill>
            <a:srgbClr val="1A1226"/>
          </a:solidFill>
          <a:ln w="12700">
            <a:solidFill>
              <a:srgbClr val="4A2740"/>
            </a:solidFill>
            <a:prstDash val="solid"/>
          </a:ln>
        </p:spPr>
      </p:sp>
      <p:sp>
        <p:nvSpPr>
          <p:cNvPr id="31" name="Text 29"/>
          <p:cNvSpPr txBox="1"/>
          <p:nvPr/>
        </p:nvSpPr>
        <p:spPr>
          <a:xfrm>
            <a:off x="777240" y="4594860"/>
            <a:ext cx="8229600" cy="201168"/>
          </a:xfrm>
          <a:prstGeom prst="rect">
            <a:avLst/>
          </a:prstGeom>
          <a:noFill/>
          <a:ln/>
        </p:spPr>
        <p:txBody>
          <a:bodyPr wrap="square" lIns="0" tIns="0" rIns="0" bIns="0" rtlCol="0" anchor="ctr"/>
          <a:lstStyle/>
          <a:p>
            <a:pPr indent="0" marL="0">
              <a:buNone/>
            </a:pPr>
            <a:r>
              <a:rPr lang="en-US" sz="1000" b="1" spc="140" kern="0" dirty="0">
                <a:solidFill>
                  <a:srgbClr val="FF0069"/>
                </a:solidFill>
                <a:latin typeface="Trenda IG Display" pitchFamily="34" charset="0"/>
                <a:ea typeface="Trenda IG Display" pitchFamily="34" charset="-122"/>
                <a:cs typeface="Trenda IG Display" pitchFamily="34" charset="-120"/>
              </a:rPr>
              <a:t>NEVER AUTONOMOUS, AT ANY PHASE, WHATEVER THE CONFIDENCE SCORE</a:t>
            </a:r>
            <a:endParaRPr lang="en-US" sz="1000" dirty="0"/>
          </a:p>
        </p:txBody>
      </p:sp>
      <p:sp>
        <p:nvSpPr>
          <p:cNvPr id="32" name="Shape 30"/>
          <p:cNvSpPr/>
          <p:nvPr/>
        </p:nvSpPr>
        <p:spPr>
          <a:xfrm>
            <a:off x="777240" y="4905756"/>
            <a:ext cx="2578608" cy="228600"/>
          </a:xfrm>
          <a:prstGeom prst="roundRect">
            <a:avLst>
              <a:gd name="adj" fmla="val 20000"/>
            </a:avLst>
          </a:prstGeom>
          <a:solidFill>
            <a:srgbClr val="241733"/>
          </a:solidFill>
          <a:ln w="12700">
            <a:solidFill>
              <a:srgbClr val="4A2740"/>
            </a:solidFill>
            <a:prstDash val="solid"/>
          </a:ln>
        </p:spPr>
      </p:sp>
      <p:sp>
        <p:nvSpPr>
          <p:cNvPr id="33" name="Text 31"/>
          <p:cNvSpPr txBox="1"/>
          <p:nvPr/>
        </p:nvSpPr>
        <p:spPr>
          <a:xfrm>
            <a:off x="886968" y="4905756"/>
            <a:ext cx="2359152" cy="228600"/>
          </a:xfrm>
          <a:prstGeom prst="rect">
            <a:avLst/>
          </a:prstGeom>
          <a:noFill/>
          <a:ln/>
        </p:spPr>
        <p:txBody>
          <a:bodyPr wrap="square" lIns="0" tIns="0" rIns="0" bIns="0" rtlCol="0" anchor="ct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Credits and returns</a:t>
            </a:r>
            <a:endParaRPr lang="en-US" sz="850" dirty="0"/>
          </a:p>
        </p:txBody>
      </p:sp>
      <p:sp>
        <p:nvSpPr>
          <p:cNvPr id="34" name="Shape 32"/>
          <p:cNvSpPr/>
          <p:nvPr/>
        </p:nvSpPr>
        <p:spPr>
          <a:xfrm>
            <a:off x="3520440" y="4905756"/>
            <a:ext cx="2578608" cy="228600"/>
          </a:xfrm>
          <a:prstGeom prst="roundRect">
            <a:avLst>
              <a:gd name="adj" fmla="val 20000"/>
            </a:avLst>
          </a:prstGeom>
          <a:solidFill>
            <a:srgbClr val="241733"/>
          </a:solidFill>
          <a:ln w="12700">
            <a:solidFill>
              <a:srgbClr val="4A2740"/>
            </a:solidFill>
            <a:prstDash val="solid"/>
          </a:ln>
        </p:spPr>
      </p:sp>
      <p:sp>
        <p:nvSpPr>
          <p:cNvPr id="35" name="Text 33"/>
          <p:cNvSpPr txBox="1"/>
          <p:nvPr/>
        </p:nvSpPr>
        <p:spPr>
          <a:xfrm>
            <a:off x="3630168" y="4905756"/>
            <a:ext cx="2359152" cy="228600"/>
          </a:xfrm>
          <a:prstGeom prst="rect">
            <a:avLst/>
          </a:prstGeom>
          <a:noFill/>
          <a:ln/>
        </p:spPr>
        <p:txBody>
          <a:bodyPr wrap="square" lIns="0" tIns="0" rIns="0" bIns="0" rtlCol="0" anchor="ct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Pricing adjustments</a:t>
            </a:r>
            <a:endParaRPr lang="en-US" sz="850" dirty="0"/>
          </a:p>
        </p:txBody>
      </p:sp>
      <p:sp>
        <p:nvSpPr>
          <p:cNvPr id="36" name="Shape 34"/>
          <p:cNvSpPr/>
          <p:nvPr/>
        </p:nvSpPr>
        <p:spPr>
          <a:xfrm>
            <a:off x="6263640" y="4905756"/>
            <a:ext cx="2578608" cy="228600"/>
          </a:xfrm>
          <a:prstGeom prst="roundRect">
            <a:avLst>
              <a:gd name="adj" fmla="val 20000"/>
            </a:avLst>
          </a:prstGeom>
          <a:solidFill>
            <a:srgbClr val="241733"/>
          </a:solidFill>
          <a:ln w="12700">
            <a:solidFill>
              <a:srgbClr val="4A2740"/>
            </a:solidFill>
            <a:prstDash val="solid"/>
          </a:ln>
        </p:spPr>
      </p:sp>
      <p:sp>
        <p:nvSpPr>
          <p:cNvPr id="37" name="Text 35"/>
          <p:cNvSpPr txBox="1"/>
          <p:nvPr/>
        </p:nvSpPr>
        <p:spPr>
          <a:xfrm>
            <a:off x="6373368" y="4905756"/>
            <a:ext cx="2359152" cy="228600"/>
          </a:xfrm>
          <a:prstGeom prst="rect">
            <a:avLst/>
          </a:prstGeom>
          <a:noFill/>
          <a:ln/>
        </p:spPr>
        <p:txBody>
          <a:bodyPr wrap="square" lIns="0" tIns="0" rIns="0" bIns="0" rtlCol="0" anchor="ct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Account holds</a:t>
            </a:r>
            <a:endParaRPr lang="en-US" sz="850" dirty="0"/>
          </a:p>
        </p:txBody>
      </p:sp>
      <p:sp>
        <p:nvSpPr>
          <p:cNvPr id="38" name="Shape 36"/>
          <p:cNvSpPr/>
          <p:nvPr/>
        </p:nvSpPr>
        <p:spPr>
          <a:xfrm>
            <a:off x="9006840" y="4905756"/>
            <a:ext cx="2578608" cy="228600"/>
          </a:xfrm>
          <a:prstGeom prst="roundRect">
            <a:avLst>
              <a:gd name="adj" fmla="val 20000"/>
            </a:avLst>
          </a:prstGeom>
          <a:solidFill>
            <a:srgbClr val="241733"/>
          </a:solidFill>
          <a:ln w="12700">
            <a:solidFill>
              <a:srgbClr val="4A2740"/>
            </a:solidFill>
            <a:prstDash val="solid"/>
          </a:ln>
        </p:spPr>
      </p:sp>
      <p:sp>
        <p:nvSpPr>
          <p:cNvPr id="39" name="Text 37"/>
          <p:cNvSpPr txBox="1"/>
          <p:nvPr/>
        </p:nvSpPr>
        <p:spPr>
          <a:xfrm>
            <a:off x="9116568" y="4905756"/>
            <a:ext cx="2359152" cy="228600"/>
          </a:xfrm>
          <a:prstGeom prst="rect">
            <a:avLst/>
          </a:prstGeom>
          <a:noFill/>
          <a:ln/>
        </p:spPr>
        <p:txBody>
          <a:bodyPr wrap="square" lIns="0" tIns="0" rIns="0" bIns="0" rtlCol="0" anchor="ct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Billing disputes</a:t>
            </a:r>
            <a:endParaRPr lang="en-US" sz="850" dirty="0"/>
          </a:p>
        </p:txBody>
      </p:sp>
      <p:sp>
        <p:nvSpPr>
          <p:cNvPr id="40" name="Shape 38"/>
          <p:cNvSpPr/>
          <p:nvPr/>
        </p:nvSpPr>
        <p:spPr>
          <a:xfrm>
            <a:off x="777240" y="5180076"/>
            <a:ext cx="2578608" cy="228600"/>
          </a:xfrm>
          <a:prstGeom prst="roundRect">
            <a:avLst>
              <a:gd name="adj" fmla="val 20000"/>
            </a:avLst>
          </a:prstGeom>
          <a:solidFill>
            <a:srgbClr val="241733"/>
          </a:solidFill>
          <a:ln w="12700">
            <a:solidFill>
              <a:srgbClr val="4A2740"/>
            </a:solidFill>
            <a:prstDash val="solid"/>
          </a:ln>
        </p:spPr>
      </p:sp>
      <p:sp>
        <p:nvSpPr>
          <p:cNvPr id="41" name="Text 39"/>
          <p:cNvSpPr txBox="1"/>
          <p:nvPr/>
        </p:nvSpPr>
        <p:spPr>
          <a:xfrm>
            <a:off x="886968" y="5180076"/>
            <a:ext cx="2359152" cy="228600"/>
          </a:xfrm>
          <a:prstGeom prst="rect">
            <a:avLst/>
          </a:prstGeom>
          <a:noFill/>
          <a:ln/>
        </p:spPr>
        <p:txBody>
          <a:bodyPr wrap="square" lIns="0" tIns="0" rIns="0" bIns="0" rtlCol="0" anchor="ct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PHI sensitive cases</a:t>
            </a:r>
            <a:endParaRPr lang="en-US" sz="850" dirty="0"/>
          </a:p>
        </p:txBody>
      </p:sp>
      <p:sp>
        <p:nvSpPr>
          <p:cNvPr id="42" name="Shape 40"/>
          <p:cNvSpPr/>
          <p:nvPr/>
        </p:nvSpPr>
        <p:spPr>
          <a:xfrm>
            <a:off x="3520440" y="5180076"/>
            <a:ext cx="2578608" cy="228600"/>
          </a:xfrm>
          <a:prstGeom prst="roundRect">
            <a:avLst>
              <a:gd name="adj" fmla="val 20000"/>
            </a:avLst>
          </a:prstGeom>
          <a:solidFill>
            <a:srgbClr val="241733"/>
          </a:solidFill>
          <a:ln w="12700">
            <a:solidFill>
              <a:srgbClr val="4A2740"/>
            </a:solidFill>
            <a:prstDash val="solid"/>
          </a:ln>
        </p:spPr>
      </p:sp>
      <p:sp>
        <p:nvSpPr>
          <p:cNvPr id="43" name="Text 41"/>
          <p:cNvSpPr txBox="1"/>
          <p:nvPr/>
        </p:nvSpPr>
        <p:spPr>
          <a:xfrm>
            <a:off x="3630168" y="5180076"/>
            <a:ext cx="2359152" cy="228600"/>
          </a:xfrm>
          <a:prstGeom prst="rect">
            <a:avLst/>
          </a:prstGeom>
          <a:noFill/>
          <a:ln/>
        </p:spPr>
        <p:txBody>
          <a:bodyPr wrap="square" lIns="0" tIns="0" rIns="0" bIns="0" rtlCol="0" anchor="ct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Complaints</a:t>
            </a:r>
            <a:endParaRPr lang="en-US" sz="850" dirty="0"/>
          </a:p>
        </p:txBody>
      </p:sp>
      <p:sp>
        <p:nvSpPr>
          <p:cNvPr id="44" name="Shape 42"/>
          <p:cNvSpPr/>
          <p:nvPr/>
        </p:nvSpPr>
        <p:spPr>
          <a:xfrm>
            <a:off x="6263640" y="5180076"/>
            <a:ext cx="2578608" cy="228600"/>
          </a:xfrm>
          <a:prstGeom prst="roundRect">
            <a:avLst>
              <a:gd name="adj" fmla="val 20000"/>
            </a:avLst>
          </a:prstGeom>
          <a:solidFill>
            <a:srgbClr val="241733"/>
          </a:solidFill>
          <a:ln w="12700">
            <a:solidFill>
              <a:srgbClr val="4A2740"/>
            </a:solidFill>
            <a:prstDash val="solid"/>
          </a:ln>
        </p:spPr>
      </p:sp>
      <p:sp>
        <p:nvSpPr>
          <p:cNvPr id="45" name="Text 43"/>
          <p:cNvSpPr txBox="1"/>
          <p:nvPr/>
        </p:nvSpPr>
        <p:spPr>
          <a:xfrm>
            <a:off x="6373368" y="5180076"/>
            <a:ext cx="2359152" cy="228600"/>
          </a:xfrm>
          <a:prstGeom prst="rect">
            <a:avLst/>
          </a:prstGeom>
          <a:noFill/>
          <a:ln/>
        </p:spPr>
        <p:txBody>
          <a:bodyPr wrap="square" lIns="0" tIns="0" rIns="0" bIns="0" rtlCol="0" anchor="ct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Financial authorisation</a:t>
            </a:r>
            <a:endParaRPr lang="en-US" sz="850" dirty="0"/>
          </a:p>
        </p:txBody>
      </p:sp>
      <p:sp>
        <p:nvSpPr>
          <p:cNvPr id="46" name="Shape 44"/>
          <p:cNvSpPr/>
          <p:nvPr/>
        </p:nvSpPr>
        <p:spPr>
          <a:xfrm>
            <a:off x="9006840" y="5180076"/>
            <a:ext cx="2578608" cy="228600"/>
          </a:xfrm>
          <a:prstGeom prst="roundRect">
            <a:avLst>
              <a:gd name="adj" fmla="val 20000"/>
            </a:avLst>
          </a:prstGeom>
          <a:solidFill>
            <a:srgbClr val="241733"/>
          </a:solidFill>
          <a:ln w="12700">
            <a:solidFill>
              <a:srgbClr val="4A2740"/>
            </a:solidFill>
            <a:prstDash val="solid"/>
          </a:ln>
        </p:spPr>
      </p:sp>
      <p:sp>
        <p:nvSpPr>
          <p:cNvPr id="47" name="Text 45"/>
          <p:cNvSpPr txBox="1"/>
          <p:nvPr/>
        </p:nvSpPr>
        <p:spPr>
          <a:xfrm>
            <a:off x="9116568" y="5180076"/>
            <a:ext cx="2359152" cy="228600"/>
          </a:xfrm>
          <a:prstGeom prst="rect">
            <a:avLst/>
          </a:prstGeom>
          <a:noFill/>
          <a:ln/>
        </p:spPr>
        <p:txBody>
          <a:bodyPr wrap="square" lIns="0" tIns="0" rIns="0" bIns="0" rtlCol="0" anchor="ct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Anything contested</a:t>
            </a:r>
            <a:endParaRPr lang="en-US" sz="850" dirty="0"/>
          </a:p>
        </p:txBody>
      </p:sp>
      <p:sp>
        <p:nvSpPr>
          <p:cNvPr id="48" name="Shape 46"/>
          <p:cNvSpPr/>
          <p:nvPr/>
        </p:nvSpPr>
        <p:spPr>
          <a:xfrm>
            <a:off x="777240" y="5454396"/>
            <a:ext cx="2578608" cy="228600"/>
          </a:xfrm>
          <a:prstGeom prst="roundRect">
            <a:avLst>
              <a:gd name="adj" fmla="val 20000"/>
            </a:avLst>
          </a:prstGeom>
          <a:solidFill>
            <a:srgbClr val="241733"/>
          </a:solidFill>
          <a:ln w="12700">
            <a:solidFill>
              <a:srgbClr val="4A2740"/>
            </a:solidFill>
            <a:prstDash val="solid"/>
          </a:ln>
        </p:spPr>
      </p:sp>
      <p:sp>
        <p:nvSpPr>
          <p:cNvPr id="49" name="Text 47"/>
          <p:cNvSpPr txBox="1"/>
          <p:nvPr/>
        </p:nvSpPr>
        <p:spPr>
          <a:xfrm>
            <a:off x="886968" y="5454396"/>
            <a:ext cx="2359152" cy="228600"/>
          </a:xfrm>
          <a:prstGeom prst="rect">
            <a:avLst/>
          </a:prstGeom>
          <a:noFill/>
          <a:ln/>
        </p:spPr>
        <p:txBody>
          <a:bodyPr wrap="square" lIns="0" tIns="0" rIns="0" bIns="0" rtlCol="0" anchor="ct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Conflicting data</a:t>
            </a:r>
            <a:endParaRPr lang="en-US" sz="850" dirty="0"/>
          </a:p>
        </p:txBody>
      </p:sp>
      <p:sp>
        <p:nvSpPr>
          <p:cNvPr id="50" name="Shape 48"/>
          <p:cNvSpPr/>
          <p:nvPr/>
        </p:nvSpPr>
        <p:spPr>
          <a:xfrm>
            <a:off x="3520440" y="5454396"/>
            <a:ext cx="2578608" cy="228600"/>
          </a:xfrm>
          <a:prstGeom prst="roundRect">
            <a:avLst>
              <a:gd name="adj" fmla="val 20000"/>
            </a:avLst>
          </a:prstGeom>
          <a:solidFill>
            <a:srgbClr val="241733"/>
          </a:solidFill>
          <a:ln w="12700">
            <a:solidFill>
              <a:srgbClr val="4A2740"/>
            </a:solidFill>
            <a:prstDash val="solid"/>
          </a:ln>
        </p:spPr>
      </p:sp>
      <p:sp>
        <p:nvSpPr>
          <p:cNvPr id="51" name="Text 49"/>
          <p:cNvSpPr txBox="1"/>
          <p:nvPr/>
        </p:nvSpPr>
        <p:spPr>
          <a:xfrm>
            <a:off x="3630168" y="5454396"/>
            <a:ext cx="2359152" cy="228600"/>
          </a:xfrm>
          <a:prstGeom prst="rect">
            <a:avLst/>
          </a:prstGeom>
          <a:noFill/>
          <a:ln/>
        </p:spPr>
        <p:txBody>
          <a:bodyPr wrap="square" lIns="0" tIns="0" rIns="0" bIns="0" rtlCol="0" anchor="ct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Missing data</a:t>
            </a:r>
            <a:endParaRPr lang="en-US" sz="850" dirty="0"/>
          </a:p>
        </p:txBody>
      </p:sp>
      <p:sp>
        <p:nvSpPr>
          <p:cNvPr id="52" name="Shape 50"/>
          <p:cNvSpPr/>
          <p:nvPr/>
        </p:nvSpPr>
        <p:spPr>
          <a:xfrm>
            <a:off x="6263640" y="5454396"/>
            <a:ext cx="2578608" cy="228600"/>
          </a:xfrm>
          <a:prstGeom prst="roundRect">
            <a:avLst>
              <a:gd name="adj" fmla="val 20000"/>
            </a:avLst>
          </a:prstGeom>
          <a:solidFill>
            <a:srgbClr val="241733"/>
          </a:solidFill>
          <a:ln w="12700">
            <a:solidFill>
              <a:srgbClr val="4A2740"/>
            </a:solidFill>
            <a:prstDash val="solid"/>
          </a:ln>
        </p:spPr>
      </p:sp>
      <p:sp>
        <p:nvSpPr>
          <p:cNvPr id="53" name="Text 51"/>
          <p:cNvSpPr txBox="1"/>
          <p:nvPr/>
        </p:nvSpPr>
        <p:spPr>
          <a:xfrm>
            <a:off x="6373368" y="5454396"/>
            <a:ext cx="2359152" cy="228600"/>
          </a:xfrm>
          <a:prstGeom prst="rect">
            <a:avLst/>
          </a:prstGeom>
          <a:noFill/>
          <a:ln/>
        </p:spPr>
        <p:txBody>
          <a:bodyPr wrap="square" lIns="0" tIns="0" rIns="0" bIns="0" rtlCol="0" anchor="ct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New or unknown case types</a:t>
            </a:r>
            <a:endParaRPr lang="en-US" sz="850" dirty="0"/>
          </a:p>
        </p:txBody>
      </p:sp>
      <p:sp>
        <p:nvSpPr>
          <p:cNvPr id="54" name="Shape 52"/>
          <p:cNvSpPr/>
          <p:nvPr/>
        </p:nvSpPr>
        <p:spPr>
          <a:xfrm>
            <a:off x="9006840" y="5454396"/>
            <a:ext cx="2578608" cy="228600"/>
          </a:xfrm>
          <a:prstGeom prst="roundRect">
            <a:avLst>
              <a:gd name="adj" fmla="val 20000"/>
            </a:avLst>
          </a:prstGeom>
          <a:solidFill>
            <a:srgbClr val="241733"/>
          </a:solidFill>
          <a:ln w="12700">
            <a:solidFill>
              <a:srgbClr val="4A2740"/>
            </a:solidFill>
            <a:prstDash val="solid"/>
          </a:ln>
        </p:spPr>
      </p:sp>
      <p:sp>
        <p:nvSpPr>
          <p:cNvPr id="55" name="Text 53"/>
          <p:cNvSpPr txBox="1"/>
          <p:nvPr/>
        </p:nvSpPr>
        <p:spPr>
          <a:xfrm>
            <a:off x="9116568" y="5454396"/>
            <a:ext cx="2359152" cy="228600"/>
          </a:xfrm>
          <a:prstGeom prst="rect">
            <a:avLst/>
          </a:prstGeom>
          <a:noFill/>
          <a:ln/>
        </p:spPr>
        <p:txBody>
          <a:bodyPr wrap="square" lIns="0" tIns="0" rIns="0" bIns="0" rtlCol="0" anchor="ct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Regulatory matters</a:t>
            </a:r>
            <a:endParaRPr lang="en-US" sz="850" dirty="0"/>
          </a:p>
        </p:txBody>
      </p:sp>
      <p:pic>
        <p:nvPicPr>
          <p:cNvPr id="56" name="Image 0" descr="assets/ig-mark.png">    </p:cNvPr>
          <p:cNvPicPr>
            <a:picLocks noChangeAspect="1"/>
          </p:cNvPicPr>
          <p:nvPr/>
        </p:nvPicPr>
        <p:blipFill>
          <a:blip r:embed="rId1"/>
          <a:stretch>
            <a:fillRect/>
          </a:stretch>
        </p:blipFill>
        <p:spPr>
          <a:xfrm>
            <a:off x="502920" y="6455664"/>
            <a:ext cx="420624" cy="144475"/>
          </a:xfrm>
          <a:prstGeom prst="rect">
            <a:avLst/>
          </a:prstGeom>
        </p:spPr>
      </p:pic>
      <p:sp>
        <p:nvSpPr>
          <p:cNvPr id="57" name="Text 54"/>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10</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THE NUMBERS  |  01</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HANDLING EFFORT, PHASE BY PHASE</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Monthly agent handling hours at the current case mix. Each phase is additive, and each is gated: nothing here depends on a saving being claimed before it has been demonstrated.</a:t>
            </a:r>
            <a:endParaRPr lang="en-US" sz="1150" dirty="0"/>
          </a:p>
        </p:txBody>
      </p:sp>
      <p:sp>
        <p:nvSpPr>
          <p:cNvPr id="5" name="Shape 3"/>
          <p:cNvSpPr/>
          <p:nvPr/>
        </p:nvSpPr>
        <p:spPr>
          <a:xfrm>
            <a:off x="502920" y="1796796"/>
            <a:ext cx="2658618" cy="1042416"/>
          </a:xfrm>
          <a:prstGeom prst="roundRect">
            <a:avLst>
              <a:gd name="adj" fmla="val 3509"/>
            </a:avLst>
          </a:prstGeom>
          <a:solidFill>
            <a:srgbClr val="151A24"/>
          </a:solidFill>
          <a:ln w="12700">
            <a:solidFill>
              <a:srgbClr val="252D3D"/>
            </a:solidFill>
            <a:prstDash val="solid"/>
          </a:ln>
        </p:spPr>
      </p:sp>
      <p:sp>
        <p:nvSpPr>
          <p:cNvPr id="6" name="Text 4"/>
          <p:cNvSpPr txBox="1"/>
          <p:nvPr/>
        </p:nvSpPr>
        <p:spPr>
          <a:xfrm>
            <a:off x="685800" y="1906524"/>
            <a:ext cx="1744218" cy="438912"/>
          </a:xfrm>
          <a:prstGeom prst="rect">
            <a:avLst/>
          </a:prstGeom>
          <a:noFill/>
          <a:ln/>
        </p:spPr>
        <p:txBody>
          <a:bodyPr wrap="square" lIns="0" tIns="0" rIns="0" bIns="0" rtlCol="0" anchor="ctr"/>
          <a:lstStyle/>
          <a:p>
            <a:pPr indent="0" marL="0">
              <a:buNone/>
            </a:pPr>
            <a:r>
              <a:rPr lang="en-US" sz="2500" b="1" dirty="0">
                <a:solidFill>
                  <a:srgbClr val="8A94A6"/>
                </a:solidFill>
                <a:latin typeface="Trenda IG Display" pitchFamily="34" charset="0"/>
                <a:ea typeface="Trenda IG Display" pitchFamily="34" charset="-122"/>
                <a:cs typeface="Trenda IG Display" pitchFamily="34" charset="-120"/>
              </a:rPr>
              <a:t>4,419</a:t>
            </a:r>
            <a:endParaRPr lang="en-US" sz="2500" dirty="0"/>
          </a:p>
        </p:txBody>
      </p:sp>
      <p:sp>
        <p:nvSpPr>
          <p:cNvPr id="7" name="Text 5"/>
          <p:cNvSpPr txBox="1"/>
          <p:nvPr/>
        </p:nvSpPr>
        <p:spPr>
          <a:xfrm>
            <a:off x="685800" y="2382012"/>
            <a:ext cx="2292858" cy="365760"/>
          </a:xfrm>
          <a:prstGeom prst="rect">
            <a:avLst/>
          </a:prstGeom>
          <a:noFill/>
          <a:ln/>
        </p:spPr>
        <p:txBody>
          <a:bodyPr wrap="square" lIns="0" tIns="0" rIns="0" bIns="0" rtlCol="0" anchor="t"/>
          <a:lstStyle/>
          <a:p>
            <a:pPr indent="0" marL="0">
              <a:lnSpc>
                <a:spcPts val="1100"/>
              </a:lnSpc>
              <a:buNone/>
            </a:pPr>
            <a:r>
              <a:rPr lang="en-US" sz="850" dirty="0">
                <a:solidFill>
                  <a:srgbClr val="8A94A6"/>
                </a:solidFill>
                <a:latin typeface="Trenda IG Text" pitchFamily="34" charset="0"/>
                <a:ea typeface="Trenda IG Text" pitchFamily="34" charset="-122"/>
                <a:cs typeface="Trenda IG Text" pitchFamily="34" charset="-120"/>
              </a:rPr>
              <a:t>Handling hours per month today</a:t>
            </a:r>
            <a:endParaRPr lang="en-US" sz="850" dirty="0"/>
          </a:p>
        </p:txBody>
      </p:sp>
      <p:sp>
        <p:nvSpPr>
          <p:cNvPr id="8" name="Shape 6"/>
          <p:cNvSpPr/>
          <p:nvPr/>
        </p:nvSpPr>
        <p:spPr>
          <a:xfrm>
            <a:off x="3344418" y="1796796"/>
            <a:ext cx="2658618" cy="1042416"/>
          </a:xfrm>
          <a:prstGeom prst="roundRect">
            <a:avLst>
              <a:gd name="adj" fmla="val 3509"/>
            </a:avLst>
          </a:prstGeom>
          <a:solidFill>
            <a:srgbClr val="151A24"/>
          </a:solidFill>
          <a:ln w="12700">
            <a:solidFill>
              <a:srgbClr val="252D3D"/>
            </a:solidFill>
            <a:prstDash val="solid"/>
          </a:ln>
        </p:spPr>
      </p:sp>
      <p:sp>
        <p:nvSpPr>
          <p:cNvPr id="9" name="Text 7"/>
          <p:cNvSpPr txBox="1"/>
          <p:nvPr/>
        </p:nvSpPr>
        <p:spPr>
          <a:xfrm>
            <a:off x="3527298" y="1906524"/>
            <a:ext cx="1744218" cy="438912"/>
          </a:xfrm>
          <a:prstGeom prst="rect">
            <a:avLst/>
          </a:prstGeom>
          <a:noFill/>
          <a:ln/>
        </p:spPr>
        <p:txBody>
          <a:bodyPr wrap="square" lIns="0" tIns="0" rIns="0" bIns="0" rtlCol="0" anchor="ctr"/>
          <a:lstStyle/>
          <a:p>
            <a:pPr indent="0" marL="0">
              <a:buNone/>
            </a:pPr>
            <a:r>
              <a:rPr lang="en-US" sz="2500" b="1" dirty="0">
                <a:solidFill>
                  <a:srgbClr val="E6EAF2"/>
                </a:solidFill>
                <a:latin typeface="Trenda IG Display" pitchFamily="34" charset="0"/>
                <a:ea typeface="Trenda IG Display" pitchFamily="34" charset="-122"/>
                <a:cs typeface="Trenda IG Display" pitchFamily="34" charset="-120"/>
              </a:rPr>
              <a:t>4,066</a:t>
            </a:r>
            <a:endParaRPr lang="en-US" sz="2500" dirty="0"/>
          </a:p>
        </p:txBody>
      </p:sp>
      <p:sp>
        <p:nvSpPr>
          <p:cNvPr id="10" name="Text 8"/>
          <p:cNvSpPr txBox="1"/>
          <p:nvPr/>
        </p:nvSpPr>
        <p:spPr>
          <a:xfrm>
            <a:off x="5070348" y="1906524"/>
            <a:ext cx="768096" cy="438912"/>
          </a:xfrm>
          <a:prstGeom prst="rect">
            <a:avLst/>
          </a:prstGeom>
          <a:noFill/>
          <a:ln/>
        </p:spPr>
        <p:txBody>
          <a:bodyPr wrap="square" lIns="0" tIns="0" rIns="0" bIns="0" rtlCol="0" anchor="ctr"/>
          <a:lstStyle/>
          <a:p>
            <a:pPr algn="r" indent="0" marL="0">
              <a:buNone/>
            </a:pPr>
            <a:r>
              <a:rPr lang="en-US" sz="1400" b="1" dirty="0">
                <a:solidFill>
                  <a:srgbClr val="22D3EE"/>
                </a:solidFill>
                <a:latin typeface="Trenda IG Display" pitchFamily="34" charset="0"/>
                <a:ea typeface="Trenda IG Display" pitchFamily="34" charset="-122"/>
                <a:cs typeface="Trenda IG Display" pitchFamily="34" charset="-120"/>
              </a:rPr>
              <a:t>-8%</a:t>
            </a:r>
            <a:endParaRPr lang="en-US" sz="1400" dirty="0"/>
          </a:p>
        </p:txBody>
      </p:sp>
      <p:sp>
        <p:nvSpPr>
          <p:cNvPr id="11" name="Text 9"/>
          <p:cNvSpPr txBox="1"/>
          <p:nvPr/>
        </p:nvSpPr>
        <p:spPr>
          <a:xfrm>
            <a:off x="3527298" y="2382012"/>
            <a:ext cx="2292858" cy="365760"/>
          </a:xfrm>
          <a:prstGeom prst="rect">
            <a:avLst/>
          </a:prstGeom>
          <a:noFill/>
          <a:ln/>
        </p:spPr>
        <p:txBody>
          <a:bodyPr wrap="square" lIns="0" tIns="0" rIns="0" bIns="0" rtlCol="0" anchor="t"/>
          <a:lstStyle/>
          <a:p>
            <a:pPr indent="0" marL="0">
              <a:lnSpc>
                <a:spcPts val="1100"/>
              </a:lnSpc>
              <a:buNone/>
            </a:pPr>
            <a:r>
              <a:rPr lang="en-US" sz="850" dirty="0">
                <a:solidFill>
                  <a:srgbClr val="8A94A6"/>
                </a:solidFill>
                <a:latin typeface="Trenda IG Text" pitchFamily="34" charset="0"/>
                <a:ea typeface="Trenda IG Text" pitchFamily="34" charset="-122"/>
                <a:cs typeface="Trenda IG Text" pitchFamily="34" charset="-120"/>
              </a:rPr>
              <a:t>After Phase 1 routing and control</a:t>
            </a:r>
            <a:endParaRPr lang="en-US" sz="850" dirty="0"/>
          </a:p>
        </p:txBody>
      </p:sp>
      <p:sp>
        <p:nvSpPr>
          <p:cNvPr id="12" name="Shape 10"/>
          <p:cNvSpPr/>
          <p:nvPr/>
        </p:nvSpPr>
        <p:spPr>
          <a:xfrm>
            <a:off x="6185916" y="1796796"/>
            <a:ext cx="2658618" cy="1042416"/>
          </a:xfrm>
          <a:prstGeom prst="roundRect">
            <a:avLst>
              <a:gd name="adj" fmla="val 3509"/>
            </a:avLst>
          </a:prstGeom>
          <a:solidFill>
            <a:srgbClr val="151A24"/>
          </a:solidFill>
          <a:ln w="12700">
            <a:solidFill>
              <a:srgbClr val="2A5468"/>
            </a:solidFill>
            <a:prstDash val="solid"/>
          </a:ln>
        </p:spPr>
      </p:sp>
      <p:sp>
        <p:nvSpPr>
          <p:cNvPr id="13" name="Text 11"/>
          <p:cNvSpPr txBox="1"/>
          <p:nvPr/>
        </p:nvSpPr>
        <p:spPr>
          <a:xfrm>
            <a:off x="6368796" y="1906524"/>
            <a:ext cx="1744218" cy="438912"/>
          </a:xfrm>
          <a:prstGeom prst="rect">
            <a:avLst/>
          </a:prstGeom>
          <a:noFill/>
          <a:ln/>
        </p:spPr>
        <p:txBody>
          <a:bodyPr wrap="square" lIns="0" tIns="0" rIns="0" bIns="0" rtlCol="0" anchor="ctr"/>
          <a:lstStyle/>
          <a:p>
            <a:pPr indent="0" marL="0">
              <a:buNone/>
            </a:pPr>
            <a:r>
              <a:rPr lang="en-US" sz="2500" b="1" dirty="0">
                <a:solidFill>
                  <a:srgbClr val="22D3EE"/>
                </a:solidFill>
                <a:latin typeface="Trenda IG Display" pitchFamily="34" charset="0"/>
                <a:ea typeface="Trenda IG Display" pitchFamily="34" charset="-122"/>
                <a:cs typeface="Trenda IG Display" pitchFamily="34" charset="-120"/>
              </a:rPr>
              <a:t>3,211</a:t>
            </a:r>
            <a:endParaRPr lang="en-US" sz="2500" dirty="0"/>
          </a:p>
        </p:txBody>
      </p:sp>
      <p:sp>
        <p:nvSpPr>
          <p:cNvPr id="14" name="Text 12"/>
          <p:cNvSpPr txBox="1"/>
          <p:nvPr/>
        </p:nvSpPr>
        <p:spPr>
          <a:xfrm>
            <a:off x="7911846" y="1906524"/>
            <a:ext cx="768096" cy="438912"/>
          </a:xfrm>
          <a:prstGeom prst="rect">
            <a:avLst/>
          </a:prstGeom>
          <a:noFill/>
          <a:ln/>
        </p:spPr>
        <p:txBody>
          <a:bodyPr wrap="square" lIns="0" tIns="0" rIns="0" bIns="0" rtlCol="0" anchor="ctr"/>
          <a:lstStyle/>
          <a:p>
            <a:pPr algn="r" indent="0" marL="0">
              <a:buNone/>
            </a:pPr>
            <a:r>
              <a:rPr lang="en-US" sz="1400" b="1" dirty="0">
                <a:solidFill>
                  <a:srgbClr val="22D3EE"/>
                </a:solidFill>
                <a:latin typeface="Trenda IG Display" pitchFamily="34" charset="0"/>
                <a:ea typeface="Trenda IG Display" pitchFamily="34" charset="-122"/>
                <a:cs typeface="Trenda IG Display" pitchFamily="34" charset="-120"/>
              </a:rPr>
              <a:t>-27%</a:t>
            </a:r>
            <a:endParaRPr lang="en-US" sz="1400" dirty="0"/>
          </a:p>
        </p:txBody>
      </p:sp>
      <p:sp>
        <p:nvSpPr>
          <p:cNvPr id="15" name="Text 13"/>
          <p:cNvSpPr txBox="1"/>
          <p:nvPr/>
        </p:nvSpPr>
        <p:spPr>
          <a:xfrm>
            <a:off x="6368796" y="2382012"/>
            <a:ext cx="2292858" cy="365760"/>
          </a:xfrm>
          <a:prstGeom prst="rect">
            <a:avLst/>
          </a:prstGeom>
          <a:noFill/>
          <a:ln/>
        </p:spPr>
        <p:txBody>
          <a:bodyPr wrap="square" lIns="0" tIns="0" rIns="0" bIns="0" rtlCol="0" anchor="t"/>
          <a:lstStyle/>
          <a:p>
            <a:pPr indent="0" marL="0">
              <a:lnSpc>
                <a:spcPts val="1100"/>
              </a:lnSpc>
              <a:buNone/>
            </a:pPr>
            <a:r>
              <a:rPr lang="en-US" sz="850" dirty="0">
                <a:solidFill>
                  <a:srgbClr val="8A94A6"/>
                </a:solidFill>
                <a:latin typeface="Trenda IG Text" pitchFamily="34" charset="0"/>
                <a:ea typeface="Trenda IG Text" pitchFamily="34" charset="-122"/>
                <a:cs typeface="Trenda IG Text" pitchFamily="34" charset="-120"/>
              </a:rPr>
              <a:t>After Phase 2 assisted doors three and four</a:t>
            </a:r>
            <a:endParaRPr lang="en-US" sz="850" dirty="0"/>
          </a:p>
        </p:txBody>
      </p:sp>
      <p:sp>
        <p:nvSpPr>
          <p:cNvPr id="16" name="Shape 14"/>
          <p:cNvSpPr/>
          <p:nvPr/>
        </p:nvSpPr>
        <p:spPr>
          <a:xfrm>
            <a:off x="9027414" y="1796796"/>
            <a:ext cx="2658618" cy="1042416"/>
          </a:xfrm>
          <a:prstGeom prst="roundRect">
            <a:avLst>
              <a:gd name="adj" fmla="val 3509"/>
            </a:avLst>
          </a:prstGeom>
          <a:solidFill>
            <a:srgbClr val="151A24"/>
          </a:solidFill>
          <a:ln w="12700">
            <a:solidFill>
              <a:srgbClr val="2A5468"/>
            </a:solidFill>
            <a:prstDash val="solid"/>
          </a:ln>
        </p:spPr>
      </p:sp>
      <p:sp>
        <p:nvSpPr>
          <p:cNvPr id="17" name="Text 15"/>
          <p:cNvSpPr txBox="1"/>
          <p:nvPr/>
        </p:nvSpPr>
        <p:spPr>
          <a:xfrm>
            <a:off x="9210294" y="1906524"/>
            <a:ext cx="1744218" cy="438912"/>
          </a:xfrm>
          <a:prstGeom prst="rect">
            <a:avLst/>
          </a:prstGeom>
          <a:noFill/>
          <a:ln/>
        </p:spPr>
        <p:txBody>
          <a:bodyPr wrap="square" lIns="0" tIns="0" rIns="0" bIns="0" rtlCol="0" anchor="ctr"/>
          <a:lstStyle/>
          <a:p>
            <a:pPr indent="0" marL="0">
              <a:buNone/>
            </a:pPr>
            <a:r>
              <a:rPr lang="en-US" sz="2500" b="1" dirty="0">
                <a:solidFill>
                  <a:srgbClr val="22D3EE"/>
                </a:solidFill>
                <a:latin typeface="Trenda IG Display" pitchFamily="34" charset="0"/>
                <a:ea typeface="Trenda IG Display" pitchFamily="34" charset="-122"/>
                <a:cs typeface="Trenda IG Display" pitchFamily="34" charset="-120"/>
              </a:rPr>
              <a:t>2,466</a:t>
            </a:r>
            <a:endParaRPr lang="en-US" sz="2500" dirty="0"/>
          </a:p>
        </p:txBody>
      </p:sp>
      <p:sp>
        <p:nvSpPr>
          <p:cNvPr id="18" name="Text 16"/>
          <p:cNvSpPr txBox="1"/>
          <p:nvPr/>
        </p:nvSpPr>
        <p:spPr>
          <a:xfrm>
            <a:off x="10753344" y="1906524"/>
            <a:ext cx="768096" cy="438912"/>
          </a:xfrm>
          <a:prstGeom prst="rect">
            <a:avLst/>
          </a:prstGeom>
          <a:noFill/>
          <a:ln/>
        </p:spPr>
        <p:txBody>
          <a:bodyPr wrap="square" lIns="0" tIns="0" rIns="0" bIns="0" rtlCol="0" anchor="ctr"/>
          <a:lstStyle/>
          <a:p>
            <a:pPr algn="r" indent="0" marL="0">
              <a:buNone/>
            </a:pPr>
            <a:r>
              <a:rPr lang="en-US" sz="1400" b="1" dirty="0">
                <a:solidFill>
                  <a:srgbClr val="22D3EE"/>
                </a:solidFill>
                <a:latin typeface="Trenda IG Display" pitchFamily="34" charset="0"/>
                <a:ea typeface="Trenda IG Display" pitchFamily="34" charset="-122"/>
                <a:cs typeface="Trenda IG Display" pitchFamily="34" charset="-120"/>
              </a:rPr>
              <a:t>-44%</a:t>
            </a:r>
            <a:endParaRPr lang="en-US" sz="1400" dirty="0"/>
          </a:p>
        </p:txBody>
      </p:sp>
      <p:sp>
        <p:nvSpPr>
          <p:cNvPr id="19" name="Text 17"/>
          <p:cNvSpPr txBox="1"/>
          <p:nvPr/>
        </p:nvSpPr>
        <p:spPr>
          <a:xfrm>
            <a:off x="9210294" y="2382012"/>
            <a:ext cx="2292858" cy="365760"/>
          </a:xfrm>
          <a:prstGeom prst="rect">
            <a:avLst/>
          </a:prstGeom>
          <a:noFill/>
          <a:ln/>
        </p:spPr>
        <p:txBody>
          <a:bodyPr wrap="square" lIns="0" tIns="0" rIns="0" bIns="0" rtlCol="0" anchor="t"/>
          <a:lstStyle/>
          <a:p>
            <a:pPr indent="0" marL="0">
              <a:lnSpc>
                <a:spcPts val="1100"/>
              </a:lnSpc>
              <a:buNone/>
            </a:pPr>
            <a:r>
              <a:rPr lang="en-US" sz="850" dirty="0">
                <a:solidFill>
                  <a:srgbClr val="8A94A6"/>
                </a:solidFill>
                <a:latin typeface="Trenda IG Text" pitchFamily="34" charset="0"/>
                <a:ea typeface="Trenda IG Text" pitchFamily="34" charset="-122"/>
                <a:cs typeface="Trenda IG Text" pitchFamily="34" charset="-120"/>
              </a:rPr>
              <a:t>After Phase 3 autonomous door two</a:t>
            </a:r>
            <a:endParaRPr lang="en-US" sz="850" dirty="0"/>
          </a:p>
        </p:txBody>
      </p:sp>
      <p:sp>
        <p:nvSpPr>
          <p:cNvPr id="20" name="Shape 18"/>
          <p:cNvSpPr/>
          <p:nvPr/>
        </p:nvSpPr>
        <p:spPr>
          <a:xfrm>
            <a:off x="502920" y="3040380"/>
            <a:ext cx="7223760" cy="2542032"/>
          </a:xfrm>
          <a:prstGeom prst="roundRect">
            <a:avLst>
              <a:gd name="adj" fmla="val 1439"/>
            </a:avLst>
          </a:prstGeom>
          <a:solidFill>
            <a:srgbClr val="151A24"/>
          </a:solidFill>
          <a:ln w="12700">
            <a:solidFill>
              <a:srgbClr val="252D3D"/>
            </a:solidFill>
            <a:prstDash val="solid"/>
          </a:ln>
        </p:spPr>
      </p:sp>
      <p:sp>
        <p:nvSpPr>
          <p:cNvPr id="21" name="Text 19"/>
          <p:cNvSpPr txBox="1"/>
          <p:nvPr/>
        </p:nvSpPr>
        <p:spPr>
          <a:xfrm>
            <a:off x="722376" y="3186684"/>
            <a:ext cx="6784848" cy="201168"/>
          </a:xfrm>
          <a:prstGeom prst="rect">
            <a:avLst/>
          </a:prstGeom>
          <a:noFill/>
          <a:ln/>
        </p:spPr>
        <p:txBody>
          <a:bodyPr wrap="square" lIns="0" tIns="0" rIns="0" bIns="0" rtlCol="0" anchor="ctr"/>
          <a:lstStyle/>
          <a:p>
            <a:pPr indent="0" marL="0">
              <a:buNone/>
            </a:pPr>
            <a:r>
              <a:rPr lang="en-US" sz="950" b="1" spc="140" kern="0" dirty="0">
                <a:solidFill>
                  <a:srgbClr val="FFFFFF"/>
                </a:solidFill>
                <a:latin typeface="Trenda IG Display" pitchFamily="34" charset="0"/>
                <a:ea typeface="Trenda IG Display" pitchFamily="34" charset="-122"/>
                <a:cs typeface="Trenda IG Display" pitchFamily="34" charset="-120"/>
              </a:rPr>
              <a:t>MONTHLY HANDLING HOURS, BY QUEUE</a:t>
            </a:r>
            <a:endParaRPr lang="en-US" sz="950" dirty="0"/>
          </a:p>
        </p:txBody>
      </p:sp>
      <p:graphicFrame>
        <p:nvGraphicFramePr>
          <p:cNvPr id="22" name="Chart 0" descr=""/>
          <p:cNvGraphicFramePr/>
          <p:nvPr/>
        </p:nvGraphicFramePr>
        <p:xfrm>
          <a:off x="630936" y="3753612"/>
          <a:ext cx="6967728" cy="1719072"/>
        </p:xfrm>
        <a:graphic xmlns:a="http://schemas.openxmlformats.org/drawingml/2006/main">
          <a:graphicData uri="http://schemas.openxmlformats.org/drawingml/2006/chart">
            <c:chart xmlns:c="http://schemas.openxmlformats.org/drawingml/2006/chart" r:id="rId1"/>
          </a:graphicData>
        </a:graphic>
      </p:graphicFrame>
      <p:sp>
        <p:nvSpPr>
          <p:cNvPr id="23" name="Shape 20"/>
          <p:cNvSpPr/>
          <p:nvPr/>
        </p:nvSpPr>
        <p:spPr>
          <a:xfrm>
            <a:off x="777240" y="3511296"/>
            <a:ext cx="100584" cy="100584"/>
          </a:xfrm>
          <a:prstGeom prst="roundRect">
            <a:avLst>
              <a:gd name="adj" fmla="val 18182"/>
            </a:avLst>
          </a:prstGeom>
          <a:solidFill>
            <a:srgbClr val="3987E5"/>
          </a:solidFill>
          <a:ln w="12700">
            <a:solidFill>
              <a:srgbClr val="3987E5"/>
            </a:solidFill>
            <a:prstDash val="solid"/>
          </a:ln>
        </p:spPr>
      </p:sp>
      <p:sp>
        <p:nvSpPr>
          <p:cNvPr id="24" name="Text 21"/>
          <p:cNvSpPr txBox="1"/>
          <p:nvPr/>
        </p:nvSpPr>
        <p:spPr>
          <a:xfrm>
            <a:off x="941832" y="3461004"/>
            <a:ext cx="975893" cy="201168"/>
          </a:xfrm>
          <a:prstGeom prst="rect">
            <a:avLst/>
          </a:prstGeom>
          <a:noFill/>
          <a:ln/>
        </p:spPr>
        <p:txBody>
          <a:bodyPr wrap="square" lIns="0" tIns="0" rIns="0" bIns="0" rtlCol="0" anchor="ct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Order placement</a:t>
            </a:r>
            <a:endParaRPr lang="en-US" sz="850" dirty="0"/>
          </a:p>
        </p:txBody>
      </p:sp>
      <p:sp>
        <p:nvSpPr>
          <p:cNvPr id="25" name="Shape 22"/>
          <p:cNvSpPr/>
          <p:nvPr/>
        </p:nvSpPr>
        <p:spPr>
          <a:xfrm>
            <a:off x="2045741" y="3511296"/>
            <a:ext cx="100584" cy="100584"/>
          </a:xfrm>
          <a:prstGeom prst="roundRect">
            <a:avLst>
              <a:gd name="adj" fmla="val 18182"/>
            </a:avLst>
          </a:prstGeom>
          <a:solidFill>
            <a:srgbClr val="D95926"/>
          </a:solidFill>
          <a:ln w="12700">
            <a:solidFill>
              <a:srgbClr val="D95926"/>
            </a:solidFill>
            <a:prstDash val="solid"/>
          </a:ln>
        </p:spPr>
      </p:sp>
      <p:sp>
        <p:nvSpPr>
          <p:cNvPr id="26" name="Text 23"/>
          <p:cNvSpPr txBox="1"/>
          <p:nvPr/>
        </p:nvSpPr>
        <p:spPr>
          <a:xfrm>
            <a:off x="2210333" y="3461004"/>
            <a:ext cx="1160099" cy="201168"/>
          </a:xfrm>
          <a:prstGeom prst="rect">
            <a:avLst/>
          </a:prstGeom>
          <a:noFill/>
          <a:ln/>
        </p:spPr>
        <p:txBody>
          <a:bodyPr wrap="square" lIns="0" tIns="0" rIns="0" bIns="0" rtlCol="0" anchor="ct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Credits &amp; disputes</a:t>
            </a:r>
            <a:endParaRPr lang="en-US" sz="850" dirty="0"/>
          </a:p>
        </p:txBody>
      </p:sp>
      <p:sp>
        <p:nvSpPr>
          <p:cNvPr id="27" name="Shape 24"/>
          <p:cNvSpPr/>
          <p:nvPr/>
        </p:nvSpPr>
        <p:spPr>
          <a:xfrm>
            <a:off x="3498449" y="3511296"/>
            <a:ext cx="100584" cy="100584"/>
          </a:xfrm>
          <a:prstGeom prst="roundRect">
            <a:avLst>
              <a:gd name="adj" fmla="val 18182"/>
            </a:avLst>
          </a:prstGeom>
          <a:solidFill>
            <a:srgbClr val="199E70"/>
          </a:solidFill>
          <a:ln w="12700">
            <a:solidFill>
              <a:srgbClr val="199E70"/>
            </a:solidFill>
            <a:prstDash val="solid"/>
          </a:ln>
        </p:spPr>
      </p:sp>
      <p:sp>
        <p:nvSpPr>
          <p:cNvPr id="28" name="Text 25"/>
          <p:cNvSpPr txBox="1"/>
          <p:nvPr/>
        </p:nvSpPr>
        <p:spPr>
          <a:xfrm>
            <a:off x="3663041" y="3461004"/>
            <a:ext cx="1098697" cy="201168"/>
          </a:xfrm>
          <a:prstGeom prst="rect">
            <a:avLst/>
          </a:prstGeom>
          <a:noFill/>
          <a:ln/>
        </p:spPr>
        <p:txBody>
          <a:bodyPr wrap="square" lIns="0" tIns="0" rIns="0" bIns="0" rtlCol="0" anchor="ct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Account &amp; billing</a:t>
            </a:r>
            <a:endParaRPr lang="en-US" sz="850" dirty="0"/>
          </a:p>
        </p:txBody>
      </p:sp>
      <p:sp>
        <p:nvSpPr>
          <p:cNvPr id="29" name="Shape 26"/>
          <p:cNvSpPr/>
          <p:nvPr/>
        </p:nvSpPr>
        <p:spPr>
          <a:xfrm>
            <a:off x="4889754" y="3511296"/>
            <a:ext cx="100584" cy="100584"/>
          </a:xfrm>
          <a:prstGeom prst="roundRect">
            <a:avLst>
              <a:gd name="adj" fmla="val 18182"/>
            </a:avLst>
          </a:prstGeom>
          <a:solidFill>
            <a:srgbClr val="C98500"/>
          </a:solidFill>
          <a:ln w="12700">
            <a:solidFill>
              <a:srgbClr val="C98500"/>
            </a:solidFill>
            <a:prstDash val="solid"/>
          </a:ln>
        </p:spPr>
      </p:sp>
      <p:sp>
        <p:nvSpPr>
          <p:cNvPr id="30" name="Text 27"/>
          <p:cNvSpPr txBox="1"/>
          <p:nvPr/>
        </p:nvSpPr>
        <p:spPr>
          <a:xfrm>
            <a:off x="5054346" y="3461004"/>
            <a:ext cx="668884" cy="201168"/>
          </a:xfrm>
          <a:prstGeom prst="rect">
            <a:avLst/>
          </a:prstGeom>
          <a:noFill/>
          <a:ln/>
        </p:spPr>
        <p:txBody>
          <a:bodyPr wrap="square" lIns="0" tIns="0" rIns="0" bIns="0" rtlCol="0" anchor="ct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Backorders</a:t>
            </a:r>
            <a:endParaRPr lang="en-US" sz="850" dirty="0"/>
          </a:p>
        </p:txBody>
      </p:sp>
      <p:sp>
        <p:nvSpPr>
          <p:cNvPr id="31" name="Shape 28"/>
          <p:cNvSpPr/>
          <p:nvPr/>
        </p:nvSpPr>
        <p:spPr>
          <a:xfrm>
            <a:off x="5851246" y="3511296"/>
            <a:ext cx="100584" cy="100584"/>
          </a:xfrm>
          <a:prstGeom prst="roundRect">
            <a:avLst>
              <a:gd name="adj" fmla="val 18182"/>
            </a:avLst>
          </a:prstGeom>
          <a:solidFill>
            <a:srgbClr val="D55181"/>
          </a:solidFill>
          <a:ln w="12700">
            <a:solidFill>
              <a:srgbClr val="D55181"/>
            </a:solidFill>
            <a:prstDash val="solid"/>
          </a:ln>
        </p:spPr>
      </p:sp>
      <p:sp>
        <p:nvSpPr>
          <p:cNvPr id="32" name="Text 29"/>
          <p:cNvSpPr txBox="1"/>
          <p:nvPr/>
        </p:nvSpPr>
        <p:spPr>
          <a:xfrm>
            <a:off x="6015838" y="3461004"/>
            <a:ext cx="791688" cy="201168"/>
          </a:xfrm>
          <a:prstGeom prst="rect">
            <a:avLst/>
          </a:prstGeom>
          <a:noFill/>
          <a:ln/>
        </p:spPr>
        <p:txBody>
          <a:bodyPr wrap="square" lIns="0" tIns="0" rIns="0" bIns="0" rtlCol="0" anchor="ctr"/>
          <a:lstStyle/>
          <a:p>
            <a:pPr indent="0" marL="0">
              <a:buNone/>
            </a:pPr>
            <a:r>
              <a:rPr lang="en-US" sz="850" dirty="0">
                <a:solidFill>
                  <a:srgbClr val="E6EAF2"/>
                </a:solidFill>
                <a:latin typeface="Trenda IG Text" pitchFamily="34" charset="0"/>
                <a:ea typeface="Trenda IG Text" pitchFamily="34" charset="-122"/>
                <a:cs typeface="Trenda IG Text" pitchFamily="34" charset="-120"/>
              </a:rPr>
              <a:t>Order status</a:t>
            </a:r>
            <a:endParaRPr lang="en-US" sz="850" dirty="0"/>
          </a:p>
        </p:txBody>
      </p:sp>
      <p:sp>
        <p:nvSpPr>
          <p:cNvPr id="33" name="Shape 30"/>
          <p:cNvSpPr/>
          <p:nvPr/>
        </p:nvSpPr>
        <p:spPr>
          <a:xfrm>
            <a:off x="7946136" y="3040380"/>
            <a:ext cx="3739896" cy="2542032"/>
          </a:xfrm>
          <a:prstGeom prst="roundRect">
            <a:avLst>
              <a:gd name="adj" fmla="val 1439"/>
            </a:avLst>
          </a:prstGeom>
          <a:solidFill>
            <a:srgbClr val="151A24"/>
          </a:solidFill>
          <a:ln w="12700">
            <a:solidFill>
              <a:srgbClr val="2A5468"/>
            </a:solidFill>
            <a:prstDash val="solid"/>
          </a:ln>
        </p:spPr>
      </p:sp>
      <p:sp>
        <p:nvSpPr>
          <p:cNvPr id="34" name="Text 31"/>
          <p:cNvSpPr txBox="1"/>
          <p:nvPr/>
        </p:nvSpPr>
        <p:spPr>
          <a:xfrm>
            <a:off x="8202168" y="3204972"/>
            <a:ext cx="3227832" cy="201168"/>
          </a:xfrm>
          <a:prstGeom prst="rect">
            <a:avLst/>
          </a:prstGeom>
          <a:noFill/>
          <a:ln/>
        </p:spPr>
        <p:txBody>
          <a:bodyPr wrap="square" lIns="0" tIns="0" rIns="0" bIns="0" rtlCol="0" anchor="ctr"/>
          <a:lstStyle/>
          <a:p>
            <a:pPr indent="0" marL="0">
              <a:buNone/>
            </a:pPr>
            <a:r>
              <a:rPr lang="en-US" sz="1000" b="1" spc="140" kern="0" dirty="0">
                <a:solidFill>
                  <a:srgbClr val="22D3EE"/>
                </a:solidFill>
                <a:latin typeface="Trenda IG Display" pitchFamily="34" charset="0"/>
                <a:ea typeface="Trenda IG Display" pitchFamily="34" charset="-122"/>
                <a:cs typeface="Trenda IG Display" pitchFamily="34" charset="-120"/>
              </a:rPr>
              <a:t>WHAT THE SHAPE TELLS YOU</a:t>
            </a:r>
            <a:endParaRPr lang="en-US" sz="1000" dirty="0"/>
          </a:p>
        </p:txBody>
      </p:sp>
      <p:sp>
        <p:nvSpPr>
          <p:cNvPr id="35" name="Text 32"/>
          <p:cNvSpPr txBox="1"/>
          <p:nvPr/>
        </p:nvSpPr>
        <p:spPr>
          <a:xfrm>
            <a:off x="8202168" y="3534156"/>
            <a:ext cx="3227832" cy="1883664"/>
          </a:xfrm>
          <a:prstGeom prst="rect">
            <a:avLst/>
          </a:prstGeom>
          <a:noFill/>
          <a:ln/>
        </p:spPr>
        <p:txBody>
          <a:bodyPr wrap="square" lIns="0" tIns="0" rIns="0" bIns="0" rtlCol="0" anchor="t"/>
          <a:lstStyle/>
          <a:p>
            <a:pPr marL="152400" indent="-152400">
              <a:lnSpc>
                <a:spcPts val="1300"/>
              </a:lnSpc>
              <a:spcAft>
                <a:spcPts val="8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Order status all but disappears. It is small in effort but it is the proof that door two works, which is why it is the first case type we pilot.</a:t>
            </a:r>
            <a:endParaRPr lang="en-US" sz="900" dirty="0"/>
          </a:p>
          <a:p>
            <a:pPr marL="152400" indent="-152400">
              <a:lnSpc>
                <a:spcPts val="1300"/>
              </a:lnSpc>
              <a:spcAft>
                <a:spcPts val="8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Order placement falls hardest in absolute terms, because it is large and much of it is clean enough for doors two and three.</a:t>
            </a:r>
            <a:endParaRPr lang="en-US" sz="900" dirty="0"/>
          </a:p>
          <a:p>
            <a:pPr marL="152400" indent="-152400">
              <a:lnSpc>
                <a:spcPts val="1300"/>
              </a:lnSpc>
              <a:spcAft>
                <a:spcPts val="8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Credits barely moves between Phase 2 and Phase 3. There is no door two for credits, and there should not be. It ends as the largest remaining pool, which is the correct outcome: expert time spent on expert work.</a:t>
            </a:r>
            <a:endParaRPr lang="en-US" sz="900" dirty="0"/>
          </a:p>
        </p:txBody>
      </p:sp>
      <p:sp>
        <p:nvSpPr>
          <p:cNvPr id="36" name="Text 33"/>
          <p:cNvSpPr txBox="1"/>
          <p:nvPr/>
        </p:nvSpPr>
        <p:spPr>
          <a:xfrm>
            <a:off x="502920" y="6035040"/>
            <a:ext cx="10085832" cy="347472"/>
          </a:xfrm>
          <a:prstGeom prst="rect">
            <a:avLst/>
          </a:prstGeom>
          <a:noFill/>
          <a:ln/>
        </p:spPr>
        <p:txBody>
          <a:bodyPr wrap="square" lIns="0" tIns="0" rIns="0" bIns="0" rtlCol="0" anchor="t"/>
          <a:lstStyle/>
          <a:p>
            <a:pPr indent="0" marL="0">
              <a:lnSpc>
                <a:spcPts val="1000"/>
              </a:lnSpc>
              <a:buNone/>
            </a:pPr>
            <a:r>
              <a:rPr lang="en-US" sz="750" i="1" dirty="0">
                <a:solidFill>
                  <a:srgbClr val="8A94A6"/>
                </a:solidFill>
                <a:latin typeface="Trenda IG Text" pitchFamily="34" charset="0"/>
                <a:ea typeface="Trenda IG Text" pitchFamily="34" charset="-122"/>
                <a:cs typeface="Trenda IG Text" pitchFamily="34" charset="-120"/>
              </a:rPr>
              <a:t>Modelled from the queue mix and handling times in the operations sample. Door mix rates are Insight Global assumptions for discussion, re-derived from McKesson case data during discovery and re-baselined against actual performance before any target is committed.</a:t>
            </a:r>
            <a:endParaRPr lang="en-US" sz="750" dirty="0"/>
          </a:p>
        </p:txBody>
      </p:sp>
      <p:pic>
        <p:nvPicPr>
          <p:cNvPr id="37" name="Image 0" descr="assets/ig-mark.png">    </p:cNvPr>
          <p:cNvPicPr>
            <a:picLocks noChangeAspect="1"/>
          </p:cNvPicPr>
          <p:nvPr/>
        </p:nvPicPr>
        <p:blipFill>
          <a:blip r:embed="rId2"/>
          <a:stretch>
            <a:fillRect/>
          </a:stretch>
        </p:blipFill>
        <p:spPr>
          <a:xfrm>
            <a:off x="502920" y="6455664"/>
            <a:ext cx="420624" cy="144475"/>
          </a:xfrm>
          <a:prstGeom prst="rect">
            <a:avLst/>
          </a:prstGeom>
        </p:spPr>
      </p:pic>
      <p:sp>
        <p:nvSpPr>
          <p:cNvPr id="38" name="Text 34"/>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11</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THE NUMBERS  |  02</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THE DOOR MIX, AND WHAT IT DOES TO RESPONSE TIME</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Effort is the cost story. The door mix is the service story, because a case that does not wait for an agent does not wait at all.</a:t>
            </a:r>
            <a:endParaRPr lang="en-US" sz="1150" dirty="0"/>
          </a:p>
        </p:txBody>
      </p:sp>
      <p:sp>
        <p:nvSpPr>
          <p:cNvPr id="5" name="Shape 3"/>
          <p:cNvSpPr/>
          <p:nvPr/>
        </p:nvSpPr>
        <p:spPr>
          <a:xfrm>
            <a:off x="502920" y="1796796"/>
            <a:ext cx="6035040" cy="2816352"/>
          </a:xfrm>
          <a:prstGeom prst="roundRect">
            <a:avLst>
              <a:gd name="adj" fmla="val 1299"/>
            </a:avLst>
          </a:prstGeom>
          <a:solidFill>
            <a:srgbClr val="151A24"/>
          </a:solidFill>
          <a:ln w="12700">
            <a:solidFill>
              <a:srgbClr val="252D3D"/>
            </a:solidFill>
            <a:prstDash val="solid"/>
          </a:ln>
        </p:spPr>
      </p:sp>
      <p:sp>
        <p:nvSpPr>
          <p:cNvPr id="6" name="Text 4"/>
          <p:cNvSpPr txBox="1"/>
          <p:nvPr/>
        </p:nvSpPr>
        <p:spPr>
          <a:xfrm>
            <a:off x="722376" y="1943100"/>
            <a:ext cx="5596128" cy="201168"/>
          </a:xfrm>
          <a:prstGeom prst="rect">
            <a:avLst/>
          </a:prstGeom>
          <a:noFill/>
          <a:ln/>
        </p:spPr>
        <p:txBody>
          <a:bodyPr wrap="square" lIns="0" tIns="0" rIns="0" bIns="0" rtlCol="0" anchor="ctr"/>
          <a:lstStyle/>
          <a:p>
            <a:pPr indent="0" marL="0">
              <a:buNone/>
            </a:pPr>
            <a:r>
              <a:rPr lang="en-US" sz="950" b="1" spc="140" kern="0" dirty="0">
                <a:solidFill>
                  <a:srgbClr val="FFFFFF"/>
                </a:solidFill>
                <a:latin typeface="Trenda IG Display" pitchFamily="34" charset="0"/>
                <a:ea typeface="Trenda IG Display" pitchFamily="34" charset="-122"/>
                <a:cs typeface="Trenda IG Display" pitchFamily="34" charset="-120"/>
              </a:rPr>
              <a:t>MONTHLY CASES BY DOOR</a:t>
            </a:r>
            <a:endParaRPr lang="en-US" sz="950" dirty="0"/>
          </a:p>
        </p:txBody>
      </p:sp>
      <p:graphicFrame>
        <p:nvGraphicFramePr>
          <p:cNvPr id="7" name="Chart 0" descr=""/>
          <p:cNvGraphicFramePr/>
          <p:nvPr/>
        </p:nvGraphicFramePr>
        <p:xfrm>
          <a:off x="630936" y="2491740"/>
          <a:ext cx="5779008" cy="1847088"/>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77240" y="2249424"/>
            <a:ext cx="100584" cy="100584"/>
          </a:xfrm>
          <a:prstGeom prst="roundRect">
            <a:avLst>
              <a:gd name="adj" fmla="val 18182"/>
            </a:avLst>
          </a:prstGeom>
          <a:solidFill>
            <a:srgbClr val="3987E5"/>
          </a:solidFill>
          <a:ln w="12700">
            <a:solidFill>
              <a:srgbClr val="3987E5"/>
            </a:solidFill>
            <a:prstDash val="solid"/>
          </a:ln>
        </p:spPr>
      </p:sp>
      <p:sp>
        <p:nvSpPr>
          <p:cNvPr id="9" name="Text 6"/>
          <p:cNvSpPr txBox="1"/>
          <p:nvPr/>
        </p:nvSpPr>
        <p:spPr>
          <a:xfrm>
            <a:off x="941832" y="2199132"/>
            <a:ext cx="979505" cy="201168"/>
          </a:xfrm>
          <a:prstGeom prst="rect">
            <a:avLst/>
          </a:prstGeom>
          <a:noFill/>
          <a:ln/>
        </p:spPr>
        <p:txBody>
          <a:bodyPr wrap="square" lIns="0" tIns="0" rIns="0" bIns="0" rtlCol="0" anchor="ctr"/>
          <a:lstStyle/>
          <a:p>
            <a:pPr indent="0" marL="0">
              <a:buNone/>
            </a:pPr>
            <a:r>
              <a:rPr lang="en-US" sz="800" dirty="0">
                <a:solidFill>
                  <a:srgbClr val="E6EAF2"/>
                </a:solidFill>
                <a:latin typeface="Trenda IG Text" pitchFamily="34" charset="0"/>
                <a:ea typeface="Trenda IG Text" pitchFamily="34" charset="-122"/>
                <a:cs typeface="Trenda IG Text" pitchFamily="34" charset="-120"/>
              </a:rPr>
              <a:t>01 Never arrives</a:t>
            </a:r>
            <a:endParaRPr lang="en-US" sz="800" dirty="0"/>
          </a:p>
        </p:txBody>
      </p:sp>
      <p:sp>
        <p:nvSpPr>
          <p:cNvPr id="10" name="Shape 7"/>
          <p:cNvSpPr/>
          <p:nvPr/>
        </p:nvSpPr>
        <p:spPr>
          <a:xfrm>
            <a:off x="2049353" y="2249424"/>
            <a:ext cx="100584" cy="100584"/>
          </a:xfrm>
          <a:prstGeom prst="roundRect">
            <a:avLst>
              <a:gd name="adj" fmla="val 18182"/>
            </a:avLst>
          </a:prstGeom>
          <a:solidFill>
            <a:srgbClr val="D95926"/>
          </a:solidFill>
          <a:ln w="12700">
            <a:solidFill>
              <a:srgbClr val="D95926"/>
            </a:solidFill>
            <a:prstDash val="solid"/>
          </a:ln>
        </p:spPr>
      </p:sp>
      <p:sp>
        <p:nvSpPr>
          <p:cNvPr id="11" name="Text 8"/>
          <p:cNvSpPr txBox="1"/>
          <p:nvPr/>
        </p:nvSpPr>
        <p:spPr>
          <a:xfrm>
            <a:off x="2213945" y="2199132"/>
            <a:ext cx="1095085" cy="201168"/>
          </a:xfrm>
          <a:prstGeom prst="rect">
            <a:avLst/>
          </a:prstGeom>
          <a:noFill/>
          <a:ln/>
        </p:spPr>
        <p:txBody>
          <a:bodyPr wrap="square" lIns="0" tIns="0" rIns="0" bIns="0" rtlCol="0" anchor="ctr"/>
          <a:lstStyle/>
          <a:p>
            <a:pPr indent="0" marL="0">
              <a:buNone/>
            </a:pPr>
            <a:r>
              <a:rPr lang="en-US" sz="800" dirty="0">
                <a:solidFill>
                  <a:srgbClr val="E6EAF2"/>
                </a:solidFill>
                <a:latin typeface="Trenda IG Text" pitchFamily="34" charset="0"/>
                <a:ea typeface="Trenda IG Text" pitchFamily="34" charset="-122"/>
                <a:cs typeface="Trenda IG Text" pitchFamily="34" charset="-120"/>
              </a:rPr>
              <a:t>02 Resolves itself</a:t>
            </a:r>
            <a:endParaRPr lang="en-US" sz="800" dirty="0"/>
          </a:p>
        </p:txBody>
      </p:sp>
      <p:sp>
        <p:nvSpPr>
          <p:cNvPr id="12" name="Shape 9"/>
          <p:cNvSpPr/>
          <p:nvPr/>
        </p:nvSpPr>
        <p:spPr>
          <a:xfrm>
            <a:off x="3437047" y="2249424"/>
            <a:ext cx="100584" cy="100584"/>
          </a:xfrm>
          <a:prstGeom prst="roundRect">
            <a:avLst>
              <a:gd name="adj" fmla="val 18182"/>
            </a:avLst>
          </a:prstGeom>
          <a:solidFill>
            <a:srgbClr val="199E70"/>
          </a:solidFill>
          <a:ln w="12700">
            <a:solidFill>
              <a:srgbClr val="199E70"/>
            </a:solidFill>
            <a:prstDash val="solid"/>
          </a:ln>
        </p:spPr>
      </p:sp>
      <p:sp>
        <p:nvSpPr>
          <p:cNvPr id="13" name="Text 10"/>
          <p:cNvSpPr txBox="1"/>
          <p:nvPr/>
        </p:nvSpPr>
        <p:spPr>
          <a:xfrm>
            <a:off x="3601639" y="2199132"/>
            <a:ext cx="748345" cy="201168"/>
          </a:xfrm>
          <a:prstGeom prst="rect">
            <a:avLst/>
          </a:prstGeom>
          <a:noFill/>
          <a:ln/>
        </p:spPr>
        <p:txBody>
          <a:bodyPr wrap="square" lIns="0" tIns="0" rIns="0" bIns="0" rtlCol="0" anchor="ctr"/>
          <a:lstStyle/>
          <a:p>
            <a:pPr indent="0" marL="0">
              <a:buNone/>
            </a:pPr>
            <a:r>
              <a:rPr lang="en-US" sz="800" dirty="0">
                <a:solidFill>
                  <a:srgbClr val="E6EAF2"/>
                </a:solidFill>
                <a:latin typeface="Trenda IG Text" pitchFamily="34" charset="0"/>
                <a:ea typeface="Trenda IG Text" pitchFamily="34" charset="-122"/>
                <a:cs typeface="Trenda IG Text" pitchFamily="34" charset="-120"/>
              </a:rPr>
              <a:t>03 One touch</a:t>
            </a:r>
            <a:endParaRPr lang="en-US" sz="800" dirty="0"/>
          </a:p>
        </p:txBody>
      </p:sp>
      <p:sp>
        <p:nvSpPr>
          <p:cNvPr id="14" name="Shape 11"/>
          <p:cNvSpPr/>
          <p:nvPr/>
        </p:nvSpPr>
        <p:spPr>
          <a:xfrm>
            <a:off x="4478000" y="2249424"/>
            <a:ext cx="100584" cy="100584"/>
          </a:xfrm>
          <a:prstGeom prst="roundRect">
            <a:avLst>
              <a:gd name="adj" fmla="val 18182"/>
            </a:avLst>
          </a:prstGeom>
          <a:solidFill>
            <a:srgbClr val="C98500"/>
          </a:solidFill>
          <a:ln w="12700">
            <a:solidFill>
              <a:srgbClr val="C98500"/>
            </a:solidFill>
            <a:prstDash val="solid"/>
          </a:ln>
        </p:spPr>
      </p:sp>
      <p:sp>
        <p:nvSpPr>
          <p:cNvPr id="15" name="Text 12"/>
          <p:cNvSpPr txBox="1"/>
          <p:nvPr/>
        </p:nvSpPr>
        <p:spPr>
          <a:xfrm>
            <a:off x="4642592" y="2199132"/>
            <a:ext cx="574975" cy="201168"/>
          </a:xfrm>
          <a:prstGeom prst="rect">
            <a:avLst/>
          </a:prstGeom>
          <a:noFill/>
          <a:ln/>
        </p:spPr>
        <p:txBody>
          <a:bodyPr wrap="square" lIns="0" tIns="0" rIns="0" bIns="0" rtlCol="0" anchor="ctr"/>
          <a:lstStyle/>
          <a:p>
            <a:pPr indent="0" marL="0">
              <a:buNone/>
            </a:pPr>
            <a:r>
              <a:rPr lang="en-US" sz="800" dirty="0">
                <a:solidFill>
                  <a:srgbClr val="E6EAF2"/>
                </a:solidFill>
                <a:latin typeface="Trenda IG Text" pitchFamily="34" charset="0"/>
                <a:ea typeface="Trenda IG Text" pitchFamily="34" charset="-122"/>
                <a:cs typeface="Trenda IG Text" pitchFamily="34" charset="-120"/>
              </a:rPr>
              <a:t>04 Expert</a:t>
            </a:r>
            <a:endParaRPr lang="en-US" sz="800" dirty="0"/>
          </a:p>
        </p:txBody>
      </p:sp>
      <p:sp>
        <p:nvSpPr>
          <p:cNvPr id="16" name="Text 13"/>
          <p:cNvSpPr txBox="1"/>
          <p:nvPr/>
        </p:nvSpPr>
        <p:spPr>
          <a:xfrm>
            <a:off x="6757416" y="1796796"/>
            <a:ext cx="4928616" cy="201168"/>
          </a:xfrm>
          <a:prstGeom prst="rect">
            <a:avLst/>
          </a:prstGeom>
          <a:noFill/>
          <a:ln/>
        </p:spPr>
        <p:txBody>
          <a:bodyPr wrap="square" lIns="0" tIns="0" rIns="0" bIns="0" rtlCol="0" anchor="ctr"/>
          <a:lstStyle/>
          <a:p>
            <a:pPr indent="0" marL="0">
              <a:buNone/>
            </a:pPr>
            <a:r>
              <a:rPr lang="en-US" sz="1000" b="1" spc="140" kern="0" dirty="0">
                <a:solidFill>
                  <a:srgbClr val="FFFFFF"/>
                </a:solidFill>
                <a:latin typeface="Trenda IG Display" pitchFamily="34" charset="0"/>
                <a:ea typeface="Trenda IG Display" pitchFamily="34" charset="-122"/>
                <a:cs typeface="Trenda IG Display" pitchFamily="34" charset="-120"/>
              </a:rPr>
              <a:t>WHAT THAT DOES TO THE CUSTOMER</a:t>
            </a:r>
            <a:endParaRPr lang="en-US" sz="1000" dirty="0"/>
          </a:p>
        </p:txBody>
      </p:sp>
      <p:sp>
        <p:nvSpPr>
          <p:cNvPr id="17" name="Text 14"/>
          <p:cNvSpPr txBox="1"/>
          <p:nvPr/>
        </p:nvSpPr>
        <p:spPr>
          <a:xfrm>
            <a:off x="8860536" y="2071116"/>
            <a:ext cx="1280160" cy="164592"/>
          </a:xfrm>
          <a:prstGeom prst="rect">
            <a:avLst/>
          </a:prstGeom>
          <a:noFill/>
          <a:ln/>
        </p:spPr>
        <p:txBody>
          <a:bodyPr wrap="square" lIns="0" tIns="0" rIns="0" bIns="0" rtlCol="0" anchor="ctr"/>
          <a:lstStyle/>
          <a:p>
            <a:pPr indent="0" marL="0">
              <a:buNone/>
            </a:pPr>
            <a:r>
              <a:rPr lang="en-US" sz="700" b="1" spc="140" kern="0" dirty="0">
                <a:solidFill>
                  <a:srgbClr val="8A94A6"/>
                </a:solidFill>
                <a:latin typeface="Trenda IG Display" pitchFamily="34" charset="0"/>
                <a:ea typeface="Trenda IG Display" pitchFamily="34" charset="-122"/>
                <a:cs typeface="Trenda IG Display" pitchFamily="34" charset="-120"/>
              </a:rPr>
              <a:t>TODAY</a:t>
            </a:r>
            <a:endParaRPr lang="en-US" sz="700" dirty="0"/>
          </a:p>
        </p:txBody>
      </p:sp>
      <p:sp>
        <p:nvSpPr>
          <p:cNvPr id="18" name="Text 15"/>
          <p:cNvSpPr txBox="1"/>
          <p:nvPr/>
        </p:nvSpPr>
        <p:spPr>
          <a:xfrm>
            <a:off x="10049256" y="2071116"/>
            <a:ext cx="1371600" cy="164592"/>
          </a:xfrm>
          <a:prstGeom prst="rect">
            <a:avLst/>
          </a:prstGeom>
          <a:noFill/>
          <a:ln/>
        </p:spPr>
        <p:txBody>
          <a:bodyPr wrap="square" lIns="0" tIns="0" rIns="0" bIns="0" rtlCol="0" anchor="ctr"/>
          <a:lstStyle/>
          <a:p>
            <a:pPr indent="0" marL="0">
              <a:buNone/>
            </a:pPr>
            <a:r>
              <a:rPr lang="en-US" sz="700" b="1" spc="140" kern="0" dirty="0">
                <a:solidFill>
                  <a:srgbClr val="22D3EE"/>
                </a:solidFill>
                <a:latin typeface="Trenda IG Display" pitchFamily="34" charset="0"/>
                <a:ea typeface="Trenda IG Display" pitchFamily="34" charset="-122"/>
                <a:cs typeface="Trenda IG Display" pitchFamily="34" charset="-120"/>
              </a:rPr>
              <a:t>DESIGNED</a:t>
            </a:r>
            <a:endParaRPr lang="en-US" sz="700" dirty="0"/>
          </a:p>
        </p:txBody>
      </p:sp>
      <p:sp>
        <p:nvSpPr>
          <p:cNvPr id="19" name="Shape 16"/>
          <p:cNvSpPr/>
          <p:nvPr/>
        </p:nvSpPr>
        <p:spPr>
          <a:xfrm>
            <a:off x="6757416" y="2290572"/>
            <a:ext cx="4928616" cy="402336"/>
          </a:xfrm>
          <a:prstGeom prst="roundRect">
            <a:avLst>
              <a:gd name="adj" fmla="val 9091"/>
            </a:avLst>
          </a:prstGeom>
          <a:solidFill>
            <a:srgbClr val="1A2130"/>
          </a:solidFill>
          <a:ln w="12700">
            <a:solidFill>
              <a:srgbClr val="252D3D"/>
            </a:solidFill>
            <a:prstDash val="solid"/>
          </a:ln>
        </p:spPr>
      </p:sp>
      <p:sp>
        <p:nvSpPr>
          <p:cNvPr id="20" name="Text 17"/>
          <p:cNvSpPr txBox="1"/>
          <p:nvPr/>
        </p:nvSpPr>
        <p:spPr>
          <a:xfrm>
            <a:off x="6922008" y="2290572"/>
            <a:ext cx="1920240" cy="402336"/>
          </a:xfrm>
          <a:prstGeom prst="rect">
            <a:avLst/>
          </a:prstGeom>
          <a:noFill/>
          <a:ln/>
        </p:spPr>
        <p:txBody>
          <a:bodyPr wrap="square" lIns="0" tIns="0" rIns="0" bIns="0" rtlCol="0" anchor="ctr"/>
          <a:lstStyle/>
          <a:p>
            <a:pPr indent="0" marL="0">
              <a:lnSpc>
                <a:spcPts val="1050"/>
              </a:lnSpc>
              <a:buNone/>
            </a:pPr>
            <a:r>
              <a:rPr lang="en-US" sz="850" b="1" dirty="0">
                <a:solidFill>
                  <a:srgbClr val="E6EAF2"/>
                </a:solidFill>
                <a:latin typeface="Trenda IG Text" pitchFamily="34" charset="0"/>
                <a:ea typeface="Trenda IG Text" pitchFamily="34" charset="-122"/>
                <a:cs typeface="Trenda IG Text" pitchFamily="34" charset="-120"/>
              </a:rPr>
              <a:t>Acknowledgement</a:t>
            </a:r>
            <a:endParaRPr lang="en-US" sz="850" dirty="0"/>
          </a:p>
        </p:txBody>
      </p:sp>
      <p:sp>
        <p:nvSpPr>
          <p:cNvPr id="21" name="Text 18"/>
          <p:cNvSpPr txBox="1"/>
          <p:nvPr/>
        </p:nvSpPr>
        <p:spPr>
          <a:xfrm>
            <a:off x="8860536" y="2290572"/>
            <a:ext cx="1170432" cy="402336"/>
          </a:xfrm>
          <a:prstGeom prst="rect">
            <a:avLst/>
          </a:prstGeom>
          <a:noFill/>
          <a:ln/>
        </p:spPr>
        <p:txBody>
          <a:bodyPr wrap="square" lIns="0" tIns="0" rIns="0" bIns="0" rtlCol="0" anchor="ctr"/>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Hours, if at all</a:t>
            </a:r>
            <a:endParaRPr lang="en-US" sz="800" dirty="0"/>
          </a:p>
        </p:txBody>
      </p:sp>
      <p:sp>
        <p:nvSpPr>
          <p:cNvPr id="22" name="Text 19"/>
          <p:cNvSpPr txBox="1"/>
          <p:nvPr/>
        </p:nvSpPr>
        <p:spPr>
          <a:xfrm>
            <a:off x="10049256" y="2290572"/>
            <a:ext cx="1371600" cy="402336"/>
          </a:xfrm>
          <a:prstGeom prst="rect">
            <a:avLst/>
          </a:prstGeom>
          <a:noFill/>
          <a:ln/>
        </p:spPr>
        <p:txBody>
          <a:bodyPr wrap="square" lIns="0" tIns="0" rIns="0" bIns="0" rtlCol="0" anchor="ctr"/>
          <a:lstStyle/>
          <a:p>
            <a:pPr indent="0" marL="0">
              <a:lnSpc>
                <a:spcPts val="1050"/>
              </a:lnSpc>
              <a:buNone/>
            </a:pPr>
            <a:r>
              <a:rPr lang="en-US" sz="850" b="1" dirty="0">
                <a:solidFill>
                  <a:srgbClr val="22D3EE"/>
                </a:solidFill>
                <a:latin typeface="Trenda IG Text" pitchFamily="34" charset="0"/>
                <a:ea typeface="Trenda IG Text" pitchFamily="34" charset="-122"/>
                <a:cs typeface="Trenda IG Text" pitchFamily="34" charset="-120"/>
              </a:rPr>
              <a:t>Seconds</a:t>
            </a:r>
            <a:endParaRPr lang="en-US" sz="850" dirty="0"/>
          </a:p>
        </p:txBody>
      </p:sp>
      <p:sp>
        <p:nvSpPr>
          <p:cNvPr id="23" name="Text 20"/>
          <p:cNvSpPr txBox="1"/>
          <p:nvPr/>
        </p:nvSpPr>
        <p:spPr>
          <a:xfrm>
            <a:off x="10954512" y="2290572"/>
            <a:ext cx="585216" cy="402336"/>
          </a:xfrm>
          <a:prstGeom prst="rect">
            <a:avLst/>
          </a:prstGeom>
          <a:noFill/>
          <a:ln/>
        </p:spPr>
        <p:txBody>
          <a:bodyPr wrap="square" lIns="0" tIns="0" rIns="0" bIns="0" rtlCol="0" anchor="ctr"/>
          <a:lstStyle/>
          <a:p>
            <a:pPr algn="r" indent="0" marL="0">
              <a:buNone/>
            </a:pPr>
            <a:r>
              <a:rPr lang="en-US" sz="750" dirty="0">
                <a:solidFill>
                  <a:srgbClr val="8A94A6"/>
                </a:solidFill>
                <a:latin typeface="Trenda IG Text" pitchFamily="34" charset="0"/>
                <a:ea typeface="Trenda IG Text" pitchFamily="34" charset="-122"/>
                <a:cs typeface="Trenda IG Text" pitchFamily="34" charset="-120"/>
              </a:rPr>
              <a:t>Phase 1</a:t>
            </a:r>
            <a:endParaRPr lang="en-US" sz="750" dirty="0"/>
          </a:p>
        </p:txBody>
      </p:sp>
      <p:sp>
        <p:nvSpPr>
          <p:cNvPr id="24" name="Shape 21"/>
          <p:cNvSpPr/>
          <p:nvPr/>
        </p:nvSpPr>
        <p:spPr>
          <a:xfrm>
            <a:off x="6757416" y="2747772"/>
            <a:ext cx="4928616" cy="402336"/>
          </a:xfrm>
          <a:prstGeom prst="roundRect">
            <a:avLst>
              <a:gd name="adj" fmla="val 9091"/>
            </a:avLst>
          </a:prstGeom>
          <a:solidFill>
            <a:srgbClr val="1A2130"/>
          </a:solidFill>
          <a:ln w="12700">
            <a:solidFill>
              <a:srgbClr val="252D3D"/>
            </a:solidFill>
            <a:prstDash val="solid"/>
          </a:ln>
        </p:spPr>
      </p:sp>
      <p:sp>
        <p:nvSpPr>
          <p:cNvPr id="25" name="Text 22"/>
          <p:cNvSpPr txBox="1"/>
          <p:nvPr/>
        </p:nvSpPr>
        <p:spPr>
          <a:xfrm>
            <a:off x="6922008" y="2747772"/>
            <a:ext cx="1920240" cy="402336"/>
          </a:xfrm>
          <a:prstGeom prst="rect">
            <a:avLst/>
          </a:prstGeom>
          <a:noFill/>
          <a:ln/>
        </p:spPr>
        <p:txBody>
          <a:bodyPr wrap="square" lIns="0" tIns="0" rIns="0" bIns="0" rtlCol="0" anchor="ctr"/>
          <a:lstStyle/>
          <a:p>
            <a:pPr indent="0" marL="0">
              <a:lnSpc>
                <a:spcPts val="1050"/>
              </a:lnSpc>
              <a:buNone/>
            </a:pPr>
            <a:r>
              <a:rPr lang="en-US" sz="850" b="1" dirty="0">
                <a:solidFill>
                  <a:srgbClr val="E6EAF2"/>
                </a:solidFill>
                <a:latin typeface="Trenda IG Text" pitchFamily="34" charset="0"/>
                <a:ea typeface="Trenda IG Text" pitchFamily="34" charset="-122"/>
                <a:cs typeface="Trenda IG Text" pitchFamily="34" charset="-120"/>
              </a:rPr>
              <a:t>Door two full answer</a:t>
            </a:r>
            <a:endParaRPr lang="en-US" sz="850" dirty="0"/>
          </a:p>
        </p:txBody>
      </p:sp>
      <p:sp>
        <p:nvSpPr>
          <p:cNvPr id="26" name="Text 23"/>
          <p:cNvSpPr txBox="1"/>
          <p:nvPr/>
        </p:nvSpPr>
        <p:spPr>
          <a:xfrm>
            <a:off x="8860536" y="2747772"/>
            <a:ext cx="1170432" cy="402336"/>
          </a:xfrm>
          <a:prstGeom prst="rect">
            <a:avLst/>
          </a:prstGeom>
          <a:noFill/>
          <a:ln/>
        </p:spPr>
        <p:txBody>
          <a:bodyPr wrap="square" lIns="0" tIns="0" rIns="0" bIns="0" rtlCol="0" anchor="ctr"/>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Same as any case</a:t>
            </a:r>
            <a:endParaRPr lang="en-US" sz="800" dirty="0"/>
          </a:p>
        </p:txBody>
      </p:sp>
      <p:sp>
        <p:nvSpPr>
          <p:cNvPr id="27" name="Text 24"/>
          <p:cNvSpPr txBox="1"/>
          <p:nvPr/>
        </p:nvSpPr>
        <p:spPr>
          <a:xfrm>
            <a:off x="10049256" y="2747772"/>
            <a:ext cx="1371600" cy="402336"/>
          </a:xfrm>
          <a:prstGeom prst="rect">
            <a:avLst/>
          </a:prstGeom>
          <a:noFill/>
          <a:ln/>
        </p:spPr>
        <p:txBody>
          <a:bodyPr wrap="square" lIns="0" tIns="0" rIns="0" bIns="0" rtlCol="0" anchor="ctr"/>
          <a:lstStyle/>
          <a:p>
            <a:pPr indent="0" marL="0">
              <a:lnSpc>
                <a:spcPts val="1050"/>
              </a:lnSpc>
              <a:buNone/>
            </a:pPr>
            <a:r>
              <a:rPr lang="en-US" sz="850" b="1" dirty="0">
                <a:solidFill>
                  <a:srgbClr val="22D3EE"/>
                </a:solidFill>
                <a:latin typeface="Trenda IG Text" pitchFamily="34" charset="0"/>
                <a:ea typeface="Trenda IG Text" pitchFamily="34" charset="-122"/>
                <a:cs typeface="Trenda IG Text" pitchFamily="34" charset="-120"/>
              </a:rPr>
              <a:t>Under 2 minutes</a:t>
            </a:r>
            <a:endParaRPr lang="en-US" sz="850" dirty="0"/>
          </a:p>
        </p:txBody>
      </p:sp>
      <p:sp>
        <p:nvSpPr>
          <p:cNvPr id="28" name="Text 25"/>
          <p:cNvSpPr txBox="1"/>
          <p:nvPr/>
        </p:nvSpPr>
        <p:spPr>
          <a:xfrm>
            <a:off x="10954512" y="2747772"/>
            <a:ext cx="585216" cy="402336"/>
          </a:xfrm>
          <a:prstGeom prst="rect">
            <a:avLst/>
          </a:prstGeom>
          <a:noFill/>
          <a:ln/>
        </p:spPr>
        <p:txBody>
          <a:bodyPr wrap="square" lIns="0" tIns="0" rIns="0" bIns="0" rtlCol="0" anchor="ctr"/>
          <a:lstStyle/>
          <a:p>
            <a:pPr algn="r" indent="0" marL="0">
              <a:buNone/>
            </a:pPr>
            <a:r>
              <a:rPr lang="en-US" sz="750" dirty="0">
                <a:solidFill>
                  <a:srgbClr val="8A94A6"/>
                </a:solidFill>
                <a:latin typeface="Trenda IG Text" pitchFamily="34" charset="0"/>
                <a:ea typeface="Trenda IG Text" pitchFamily="34" charset="-122"/>
                <a:cs typeface="Trenda IG Text" pitchFamily="34" charset="-120"/>
              </a:rPr>
              <a:t>Phase 3</a:t>
            </a:r>
            <a:endParaRPr lang="en-US" sz="750" dirty="0"/>
          </a:p>
        </p:txBody>
      </p:sp>
      <p:sp>
        <p:nvSpPr>
          <p:cNvPr id="29" name="Shape 26"/>
          <p:cNvSpPr/>
          <p:nvPr/>
        </p:nvSpPr>
        <p:spPr>
          <a:xfrm>
            <a:off x="6757416" y="3204972"/>
            <a:ext cx="4928616" cy="402336"/>
          </a:xfrm>
          <a:prstGeom prst="roundRect">
            <a:avLst>
              <a:gd name="adj" fmla="val 9091"/>
            </a:avLst>
          </a:prstGeom>
          <a:solidFill>
            <a:srgbClr val="1A2130"/>
          </a:solidFill>
          <a:ln w="12700">
            <a:solidFill>
              <a:srgbClr val="252D3D"/>
            </a:solidFill>
            <a:prstDash val="solid"/>
          </a:ln>
        </p:spPr>
      </p:sp>
      <p:sp>
        <p:nvSpPr>
          <p:cNvPr id="30" name="Text 27"/>
          <p:cNvSpPr txBox="1"/>
          <p:nvPr/>
        </p:nvSpPr>
        <p:spPr>
          <a:xfrm>
            <a:off x="6922008" y="3204972"/>
            <a:ext cx="1920240" cy="402336"/>
          </a:xfrm>
          <a:prstGeom prst="rect">
            <a:avLst/>
          </a:prstGeom>
          <a:noFill/>
          <a:ln/>
        </p:spPr>
        <p:txBody>
          <a:bodyPr wrap="square" lIns="0" tIns="0" rIns="0" bIns="0" rtlCol="0" anchor="ctr"/>
          <a:lstStyle/>
          <a:p>
            <a:pPr indent="0" marL="0">
              <a:lnSpc>
                <a:spcPts val="1050"/>
              </a:lnSpc>
              <a:buNone/>
            </a:pPr>
            <a:r>
              <a:rPr lang="en-US" sz="850" b="1" dirty="0">
                <a:solidFill>
                  <a:srgbClr val="E6EAF2"/>
                </a:solidFill>
                <a:latin typeface="Trenda IG Text" pitchFamily="34" charset="0"/>
                <a:ea typeface="Trenda IG Text" pitchFamily="34" charset="-122"/>
                <a:cs typeface="Trenda IG Text" pitchFamily="34" charset="-120"/>
              </a:rPr>
              <a:t>P1 detection</a:t>
            </a:r>
            <a:endParaRPr lang="en-US" sz="850" dirty="0"/>
          </a:p>
        </p:txBody>
      </p:sp>
      <p:sp>
        <p:nvSpPr>
          <p:cNvPr id="31" name="Text 28"/>
          <p:cNvSpPr txBox="1"/>
          <p:nvPr/>
        </p:nvSpPr>
        <p:spPr>
          <a:xfrm>
            <a:off x="8860536" y="3204972"/>
            <a:ext cx="1170432" cy="402336"/>
          </a:xfrm>
          <a:prstGeom prst="rect">
            <a:avLst/>
          </a:prstGeom>
          <a:noFill/>
          <a:ln/>
        </p:spPr>
        <p:txBody>
          <a:bodyPr wrap="square" lIns="0" tIns="0" rIns="0" bIns="0" rtlCol="0" anchor="ctr"/>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When an agent opens it</a:t>
            </a:r>
            <a:endParaRPr lang="en-US" sz="800" dirty="0"/>
          </a:p>
        </p:txBody>
      </p:sp>
      <p:sp>
        <p:nvSpPr>
          <p:cNvPr id="32" name="Text 29"/>
          <p:cNvSpPr txBox="1"/>
          <p:nvPr/>
        </p:nvSpPr>
        <p:spPr>
          <a:xfrm>
            <a:off x="10049256" y="3204972"/>
            <a:ext cx="1371600" cy="402336"/>
          </a:xfrm>
          <a:prstGeom prst="rect">
            <a:avLst/>
          </a:prstGeom>
          <a:noFill/>
          <a:ln/>
        </p:spPr>
        <p:txBody>
          <a:bodyPr wrap="square" lIns="0" tIns="0" rIns="0" bIns="0" rtlCol="0" anchor="ctr"/>
          <a:lstStyle/>
          <a:p>
            <a:pPr indent="0" marL="0">
              <a:lnSpc>
                <a:spcPts val="1050"/>
              </a:lnSpc>
              <a:buNone/>
            </a:pPr>
            <a:r>
              <a:rPr lang="en-US" sz="850" b="1" dirty="0">
                <a:solidFill>
                  <a:srgbClr val="22D3EE"/>
                </a:solidFill>
                <a:latin typeface="Trenda IG Text" pitchFamily="34" charset="0"/>
                <a:ea typeface="Trenda IG Text" pitchFamily="34" charset="-122"/>
                <a:cs typeface="Trenda IG Text" pitchFamily="34" charset="-120"/>
              </a:rPr>
              <a:t>Under 60 seconds</a:t>
            </a:r>
            <a:endParaRPr lang="en-US" sz="850" dirty="0"/>
          </a:p>
        </p:txBody>
      </p:sp>
      <p:sp>
        <p:nvSpPr>
          <p:cNvPr id="33" name="Text 30"/>
          <p:cNvSpPr txBox="1"/>
          <p:nvPr/>
        </p:nvSpPr>
        <p:spPr>
          <a:xfrm>
            <a:off x="10954512" y="3204972"/>
            <a:ext cx="585216" cy="402336"/>
          </a:xfrm>
          <a:prstGeom prst="rect">
            <a:avLst/>
          </a:prstGeom>
          <a:noFill/>
          <a:ln/>
        </p:spPr>
        <p:txBody>
          <a:bodyPr wrap="square" lIns="0" tIns="0" rIns="0" bIns="0" rtlCol="0" anchor="ctr"/>
          <a:lstStyle/>
          <a:p>
            <a:pPr algn="r" indent="0" marL="0">
              <a:buNone/>
            </a:pPr>
            <a:r>
              <a:rPr lang="en-US" sz="750" dirty="0">
                <a:solidFill>
                  <a:srgbClr val="8A94A6"/>
                </a:solidFill>
                <a:latin typeface="Trenda IG Text" pitchFamily="34" charset="0"/>
                <a:ea typeface="Trenda IG Text" pitchFamily="34" charset="-122"/>
                <a:cs typeface="Trenda IG Text" pitchFamily="34" charset="-120"/>
              </a:rPr>
              <a:t>Phase 1</a:t>
            </a:r>
            <a:endParaRPr lang="en-US" sz="750" dirty="0"/>
          </a:p>
        </p:txBody>
      </p:sp>
      <p:sp>
        <p:nvSpPr>
          <p:cNvPr id="34" name="Shape 31"/>
          <p:cNvSpPr/>
          <p:nvPr/>
        </p:nvSpPr>
        <p:spPr>
          <a:xfrm>
            <a:off x="6757416" y="3662172"/>
            <a:ext cx="4928616" cy="402336"/>
          </a:xfrm>
          <a:prstGeom prst="roundRect">
            <a:avLst>
              <a:gd name="adj" fmla="val 9091"/>
            </a:avLst>
          </a:prstGeom>
          <a:solidFill>
            <a:srgbClr val="1A2130"/>
          </a:solidFill>
          <a:ln w="12700">
            <a:solidFill>
              <a:srgbClr val="252D3D"/>
            </a:solidFill>
            <a:prstDash val="solid"/>
          </a:ln>
        </p:spPr>
      </p:sp>
      <p:sp>
        <p:nvSpPr>
          <p:cNvPr id="35" name="Text 32"/>
          <p:cNvSpPr txBox="1"/>
          <p:nvPr/>
        </p:nvSpPr>
        <p:spPr>
          <a:xfrm>
            <a:off x="6922008" y="3662172"/>
            <a:ext cx="1920240" cy="402336"/>
          </a:xfrm>
          <a:prstGeom prst="rect">
            <a:avLst/>
          </a:prstGeom>
          <a:noFill/>
          <a:ln/>
        </p:spPr>
        <p:txBody>
          <a:bodyPr wrap="square" lIns="0" tIns="0" rIns="0" bIns="0" rtlCol="0" anchor="ctr"/>
          <a:lstStyle/>
          <a:p>
            <a:pPr indent="0" marL="0">
              <a:lnSpc>
                <a:spcPts val="1050"/>
              </a:lnSpc>
              <a:buNone/>
            </a:pPr>
            <a:r>
              <a:rPr lang="en-US" sz="850" b="1" dirty="0">
                <a:solidFill>
                  <a:srgbClr val="E6EAF2"/>
                </a:solidFill>
                <a:latin typeface="Trenda IG Text" pitchFamily="34" charset="0"/>
                <a:ea typeface="Trenda IG Text" pitchFamily="34" charset="-122"/>
                <a:cs typeface="Trenda IG Text" pitchFamily="34" charset="-120"/>
              </a:rPr>
              <a:t>First meaningful reply, P2</a:t>
            </a:r>
            <a:endParaRPr lang="en-US" sz="850" dirty="0"/>
          </a:p>
        </p:txBody>
      </p:sp>
      <p:sp>
        <p:nvSpPr>
          <p:cNvPr id="36" name="Text 33"/>
          <p:cNvSpPr txBox="1"/>
          <p:nvPr/>
        </p:nvSpPr>
        <p:spPr>
          <a:xfrm>
            <a:off x="8860536" y="3662172"/>
            <a:ext cx="1170432" cy="402336"/>
          </a:xfrm>
          <a:prstGeom prst="rect">
            <a:avLst/>
          </a:prstGeom>
          <a:noFill/>
          <a:ln/>
        </p:spPr>
        <p:txBody>
          <a:bodyPr wrap="square" lIns="0" tIns="0" rIns="0" bIns="0" rtlCol="0" anchor="ctr"/>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Set by queue depth</a:t>
            </a:r>
            <a:endParaRPr lang="en-US" sz="800" dirty="0"/>
          </a:p>
        </p:txBody>
      </p:sp>
      <p:sp>
        <p:nvSpPr>
          <p:cNvPr id="37" name="Text 34"/>
          <p:cNvSpPr txBox="1"/>
          <p:nvPr/>
        </p:nvSpPr>
        <p:spPr>
          <a:xfrm>
            <a:off x="10049256" y="3662172"/>
            <a:ext cx="1371600" cy="402336"/>
          </a:xfrm>
          <a:prstGeom prst="rect">
            <a:avLst/>
          </a:prstGeom>
          <a:noFill/>
          <a:ln/>
        </p:spPr>
        <p:txBody>
          <a:bodyPr wrap="square" lIns="0" tIns="0" rIns="0" bIns="0" rtlCol="0" anchor="ctr"/>
          <a:lstStyle/>
          <a:p>
            <a:pPr indent="0" marL="0">
              <a:lnSpc>
                <a:spcPts val="1050"/>
              </a:lnSpc>
              <a:buNone/>
            </a:pPr>
            <a:r>
              <a:rPr lang="en-US" sz="850" b="1" dirty="0">
                <a:solidFill>
                  <a:srgbClr val="22D3EE"/>
                </a:solidFill>
                <a:latin typeface="Trenda IG Text" pitchFamily="34" charset="0"/>
                <a:ea typeface="Trenda IG Text" pitchFamily="34" charset="-122"/>
                <a:cs typeface="Trenda IG Text" pitchFamily="34" charset="-120"/>
              </a:rPr>
              <a:t>30 minute target</a:t>
            </a:r>
            <a:endParaRPr lang="en-US" sz="850" dirty="0"/>
          </a:p>
        </p:txBody>
      </p:sp>
      <p:sp>
        <p:nvSpPr>
          <p:cNvPr id="38" name="Text 35"/>
          <p:cNvSpPr txBox="1"/>
          <p:nvPr/>
        </p:nvSpPr>
        <p:spPr>
          <a:xfrm>
            <a:off x="10954512" y="3662172"/>
            <a:ext cx="585216" cy="402336"/>
          </a:xfrm>
          <a:prstGeom prst="rect">
            <a:avLst/>
          </a:prstGeom>
          <a:noFill/>
          <a:ln/>
        </p:spPr>
        <p:txBody>
          <a:bodyPr wrap="square" lIns="0" tIns="0" rIns="0" bIns="0" rtlCol="0" anchor="ctr"/>
          <a:lstStyle/>
          <a:p>
            <a:pPr algn="r" indent="0" marL="0">
              <a:buNone/>
            </a:pPr>
            <a:r>
              <a:rPr lang="en-US" sz="750" dirty="0">
                <a:solidFill>
                  <a:srgbClr val="8A94A6"/>
                </a:solidFill>
                <a:latin typeface="Trenda IG Text" pitchFamily="34" charset="0"/>
                <a:ea typeface="Trenda IG Text" pitchFamily="34" charset="-122"/>
                <a:cs typeface="Trenda IG Text" pitchFamily="34" charset="-120"/>
              </a:rPr>
              <a:t>Phase 2</a:t>
            </a:r>
            <a:endParaRPr lang="en-US" sz="750" dirty="0"/>
          </a:p>
        </p:txBody>
      </p:sp>
      <p:sp>
        <p:nvSpPr>
          <p:cNvPr id="39" name="Shape 36"/>
          <p:cNvSpPr/>
          <p:nvPr/>
        </p:nvSpPr>
        <p:spPr>
          <a:xfrm>
            <a:off x="6757416" y="4119372"/>
            <a:ext cx="4928616" cy="402336"/>
          </a:xfrm>
          <a:prstGeom prst="roundRect">
            <a:avLst>
              <a:gd name="adj" fmla="val 9091"/>
            </a:avLst>
          </a:prstGeom>
          <a:solidFill>
            <a:srgbClr val="1A2130"/>
          </a:solidFill>
          <a:ln w="12700">
            <a:solidFill>
              <a:srgbClr val="252D3D"/>
            </a:solidFill>
            <a:prstDash val="solid"/>
          </a:ln>
        </p:spPr>
      </p:sp>
      <p:sp>
        <p:nvSpPr>
          <p:cNvPr id="40" name="Text 37"/>
          <p:cNvSpPr txBox="1"/>
          <p:nvPr/>
        </p:nvSpPr>
        <p:spPr>
          <a:xfrm>
            <a:off x="6922008" y="4119372"/>
            <a:ext cx="1920240" cy="402336"/>
          </a:xfrm>
          <a:prstGeom prst="rect">
            <a:avLst/>
          </a:prstGeom>
          <a:noFill/>
          <a:ln/>
        </p:spPr>
        <p:txBody>
          <a:bodyPr wrap="square" lIns="0" tIns="0" rIns="0" bIns="0" rtlCol="0" anchor="ctr"/>
          <a:lstStyle/>
          <a:p>
            <a:pPr indent="0" marL="0">
              <a:lnSpc>
                <a:spcPts val="1050"/>
              </a:lnSpc>
              <a:buNone/>
            </a:pPr>
            <a:r>
              <a:rPr lang="en-US" sz="850" b="1" dirty="0">
                <a:solidFill>
                  <a:srgbClr val="E6EAF2"/>
                </a:solidFill>
                <a:latin typeface="Trenda IG Text" pitchFamily="34" charset="0"/>
                <a:ea typeface="Trenda IG Text" pitchFamily="34" charset="-122"/>
                <a:cs typeface="Trenda IG Text" pitchFamily="34" charset="-120"/>
              </a:rPr>
              <a:t>Cases not waiting for an agent</a:t>
            </a:r>
            <a:endParaRPr lang="en-US" sz="850" dirty="0"/>
          </a:p>
        </p:txBody>
      </p:sp>
      <p:sp>
        <p:nvSpPr>
          <p:cNvPr id="41" name="Text 38"/>
          <p:cNvSpPr txBox="1"/>
          <p:nvPr/>
        </p:nvSpPr>
        <p:spPr>
          <a:xfrm>
            <a:off x="8860536" y="4119372"/>
            <a:ext cx="1170432" cy="402336"/>
          </a:xfrm>
          <a:prstGeom prst="rect">
            <a:avLst/>
          </a:prstGeom>
          <a:noFill/>
          <a:ln/>
        </p:spPr>
        <p:txBody>
          <a:bodyPr wrap="square" lIns="0" tIns="0" rIns="0" bIns="0" rtlCol="0" anchor="ctr"/>
          <a:lstStyle/>
          <a:p>
            <a:pPr indent="0" marL="0">
              <a:lnSpc>
                <a:spcPts val="1050"/>
              </a:lnSpc>
              <a:buNone/>
            </a:pPr>
            <a:r>
              <a:rPr lang="en-US" sz="800" dirty="0">
                <a:solidFill>
                  <a:srgbClr val="8A94A6"/>
                </a:solidFill>
                <a:latin typeface="Trenda IG Text" pitchFamily="34" charset="0"/>
                <a:ea typeface="Trenda IG Text" pitchFamily="34" charset="-122"/>
                <a:cs typeface="Trenda IG Text" pitchFamily="34" charset="-120"/>
              </a:rPr>
              <a:t>None</a:t>
            </a:r>
            <a:endParaRPr lang="en-US" sz="800" dirty="0"/>
          </a:p>
        </p:txBody>
      </p:sp>
      <p:sp>
        <p:nvSpPr>
          <p:cNvPr id="42" name="Text 39"/>
          <p:cNvSpPr txBox="1"/>
          <p:nvPr/>
        </p:nvSpPr>
        <p:spPr>
          <a:xfrm>
            <a:off x="10049256" y="4119372"/>
            <a:ext cx="1371600" cy="402336"/>
          </a:xfrm>
          <a:prstGeom prst="rect">
            <a:avLst/>
          </a:prstGeom>
          <a:noFill/>
          <a:ln/>
        </p:spPr>
        <p:txBody>
          <a:bodyPr wrap="square" lIns="0" tIns="0" rIns="0" bIns="0" rtlCol="0" anchor="ctr"/>
          <a:lstStyle/>
          <a:p>
            <a:pPr indent="0" marL="0">
              <a:lnSpc>
                <a:spcPts val="1050"/>
              </a:lnSpc>
              <a:buNone/>
            </a:pPr>
            <a:r>
              <a:rPr lang="en-US" sz="850" b="1" dirty="0">
                <a:solidFill>
                  <a:srgbClr val="22D3EE"/>
                </a:solidFill>
                <a:latin typeface="Trenda IG Text" pitchFamily="34" charset="0"/>
                <a:ea typeface="Trenda IG Text" pitchFamily="34" charset="-122"/>
                <a:cs typeface="Trenda IG Text" pitchFamily="34" charset="-120"/>
              </a:rPr>
              <a:t>25 percent of volume</a:t>
            </a:r>
            <a:endParaRPr lang="en-US" sz="850" dirty="0"/>
          </a:p>
        </p:txBody>
      </p:sp>
      <p:sp>
        <p:nvSpPr>
          <p:cNvPr id="43" name="Text 40"/>
          <p:cNvSpPr txBox="1"/>
          <p:nvPr/>
        </p:nvSpPr>
        <p:spPr>
          <a:xfrm>
            <a:off x="10954512" y="4119372"/>
            <a:ext cx="585216" cy="402336"/>
          </a:xfrm>
          <a:prstGeom prst="rect">
            <a:avLst/>
          </a:prstGeom>
          <a:noFill/>
          <a:ln/>
        </p:spPr>
        <p:txBody>
          <a:bodyPr wrap="square" lIns="0" tIns="0" rIns="0" bIns="0" rtlCol="0" anchor="ctr"/>
          <a:lstStyle/>
          <a:p>
            <a:pPr algn="r" indent="0" marL="0">
              <a:buNone/>
            </a:pPr>
            <a:r>
              <a:rPr lang="en-US" sz="750" dirty="0">
                <a:solidFill>
                  <a:srgbClr val="8A94A6"/>
                </a:solidFill>
                <a:latin typeface="Trenda IG Text" pitchFamily="34" charset="0"/>
                <a:ea typeface="Trenda IG Text" pitchFamily="34" charset="-122"/>
                <a:cs typeface="Trenda IG Text" pitchFamily="34" charset="-120"/>
              </a:rPr>
              <a:t>Phase 3</a:t>
            </a:r>
            <a:endParaRPr lang="en-US" sz="750" dirty="0"/>
          </a:p>
        </p:txBody>
      </p:sp>
      <p:sp>
        <p:nvSpPr>
          <p:cNvPr id="44" name="Shape 41"/>
          <p:cNvSpPr/>
          <p:nvPr/>
        </p:nvSpPr>
        <p:spPr>
          <a:xfrm>
            <a:off x="502920" y="4832604"/>
            <a:ext cx="11183112" cy="493776"/>
          </a:xfrm>
          <a:prstGeom prst="roundRect">
            <a:avLst>
              <a:gd name="adj" fmla="val 7407"/>
            </a:avLst>
          </a:prstGeom>
          <a:solidFill>
            <a:srgbClr val="17222E"/>
          </a:solidFill>
          <a:ln w="12700">
            <a:solidFill>
              <a:srgbClr val="2A5468"/>
            </a:solidFill>
            <a:prstDash val="solid"/>
          </a:ln>
        </p:spPr>
      </p:sp>
      <p:sp>
        <p:nvSpPr>
          <p:cNvPr id="45" name="Text 42"/>
          <p:cNvSpPr txBox="1"/>
          <p:nvPr/>
        </p:nvSpPr>
        <p:spPr>
          <a:xfrm>
            <a:off x="704088" y="4832604"/>
            <a:ext cx="10780776" cy="493776"/>
          </a:xfrm>
          <a:prstGeom prst="rect">
            <a:avLst/>
          </a:prstGeom>
          <a:noFill/>
          <a:ln/>
        </p:spPr>
        <p:txBody>
          <a:bodyPr wrap="square" lIns="0" tIns="0" rIns="0" bIns="0" rtlCol="0" anchor="ctr"/>
          <a:lstStyle/>
          <a:p>
            <a:pPr indent="0" marL="0">
              <a:buNone/>
            </a:pPr>
            <a:r>
              <a:rPr lang="en-US" sz="900" b="1" spc="140" kern="0" dirty="0">
                <a:solidFill>
                  <a:srgbClr val="22D3EE"/>
                </a:solidFill>
                <a:latin typeface="Trenda IG Text" pitchFamily="34" charset="0"/>
                <a:ea typeface="Trenda IG Text" pitchFamily="34" charset="-122"/>
                <a:cs typeface="Trenda IG Text" pitchFamily="34" charset="-120"/>
              </a:rPr>
              <a:t>THE POINT   </a:t>
            </a:r>
            <a:pPr indent="0" marL="0">
              <a:buNone/>
            </a:pPr>
            <a:r>
              <a:rPr lang="en-US" sz="950" dirty="0">
                <a:solidFill>
                  <a:srgbClr val="E6EAF2"/>
                </a:solidFill>
                <a:latin typeface="Trenda IG Text" pitchFamily="34" charset="0"/>
                <a:ea typeface="Trenda IG Text" pitchFamily="34" charset="-122"/>
                <a:cs typeface="Trenda IG Text" pitchFamily="34" charset="-120"/>
              </a:rPr>
              <a:t>Handling time reduction is bounded by how fast a person can work. Response time reduction is not, because a case that takes door two is never in a queue. That is why the door mix, and not average handling time, is the number we propose to govern against.</a:t>
            </a:r>
            <a:endParaRPr lang="en-US" sz="900" dirty="0"/>
          </a:p>
        </p:txBody>
      </p:sp>
      <p:pic>
        <p:nvPicPr>
          <p:cNvPr id="46" name="Image 0" descr="assets/ig-mark.png">    </p:cNvPr>
          <p:cNvPicPr>
            <a:picLocks noChangeAspect="1"/>
          </p:cNvPicPr>
          <p:nvPr/>
        </p:nvPicPr>
        <p:blipFill>
          <a:blip r:embed="rId2"/>
          <a:stretch>
            <a:fillRect/>
          </a:stretch>
        </p:blipFill>
        <p:spPr>
          <a:xfrm>
            <a:off x="502920" y="6455664"/>
            <a:ext cx="420624" cy="144475"/>
          </a:xfrm>
          <a:prstGeom prst="rect">
            <a:avLst/>
          </a:prstGeom>
        </p:spPr>
      </p:pic>
      <p:sp>
        <p:nvSpPr>
          <p:cNvPr id="47" name="Text 43"/>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12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DELIVERY</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WHAT OPENS EACH DOOR</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Phase 1 uses only what Service Cloud already includes, so the operation improves before the licensing question is answered. Each later phase has an entry condition, not a date.</a:t>
            </a:r>
            <a:endParaRPr lang="en-US" sz="1150" dirty="0"/>
          </a:p>
        </p:txBody>
      </p:sp>
      <p:sp>
        <p:nvSpPr>
          <p:cNvPr id="5" name="Shape 3"/>
          <p:cNvSpPr/>
          <p:nvPr/>
        </p:nvSpPr>
        <p:spPr>
          <a:xfrm>
            <a:off x="502920" y="1796796"/>
            <a:ext cx="3581400" cy="3675888"/>
          </a:xfrm>
          <a:prstGeom prst="roundRect">
            <a:avLst>
              <a:gd name="adj" fmla="val 1021"/>
            </a:avLst>
          </a:prstGeom>
          <a:solidFill>
            <a:srgbClr val="151A24"/>
          </a:solidFill>
          <a:ln w="12700">
            <a:solidFill>
              <a:srgbClr val="252D3D"/>
            </a:solidFill>
            <a:prstDash val="solid"/>
          </a:ln>
        </p:spPr>
      </p:sp>
      <p:sp>
        <p:nvSpPr>
          <p:cNvPr id="6" name="Text 4"/>
          <p:cNvSpPr txBox="1"/>
          <p:nvPr/>
        </p:nvSpPr>
        <p:spPr>
          <a:xfrm>
            <a:off x="758952" y="1979676"/>
            <a:ext cx="3069336" cy="219456"/>
          </a:xfrm>
          <a:prstGeom prst="rect">
            <a:avLst/>
          </a:prstGeom>
          <a:noFill/>
          <a:ln/>
        </p:spPr>
        <p:txBody>
          <a:bodyPr wrap="square" lIns="0" tIns="0" rIns="0" bIns="0" rtlCol="0" anchor="ctr"/>
          <a:lstStyle/>
          <a:p>
            <a:pPr indent="0" marL="0">
              <a:buNone/>
            </a:pPr>
            <a:r>
              <a:rPr lang="en-US" sz="1000" b="1" spc="160" kern="0" dirty="0">
                <a:solidFill>
                  <a:srgbClr val="3987E5"/>
                </a:solidFill>
                <a:latin typeface="Trenda IG Display" pitchFamily="34" charset="0"/>
                <a:ea typeface="Trenda IG Display" pitchFamily="34" charset="-122"/>
                <a:cs typeface="Trenda IG Display" pitchFamily="34" charset="-120"/>
              </a:rPr>
              <a:t>PHASE 1</a:t>
            </a:r>
            <a:endParaRPr lang="en-US" sz="1000" dirty="0"/>
          </a:p>
        </p:txBody>
      </p:sp>
      <p:sp>
        <p:nvSpPr>
          <p:cNvPr id="7" name="Text 5"/>
          <p:cNvSpPr txBox="1"/>
          <p:nvPr/>
        </p:nvSpPr>
        <p:spPr>
          <a:xfrm>
            <a:off x="758952" y="2217420"/>
            <a:ext cx="3069336" cy="310896"/>
          </a:xfrm>
          <a:prstGeom prst="rect">
            <a:avLst/>
          </a:prstGeom>
          <a:noFill/>
          <a:ln/>
        </p:spPr>
        <p:txBody>
          <a:bodyPr wrap="square" lIns="0" tIns="0" rIns="0" bIns="0" rtlCol="0" anchor="ctr"/>
          <a:lstStyle/>
          <a:p>
            <a:pPr indent="0" marL="0">
              <a:buNone/>
            </a:pPr>
            <a:r>
              <a:rPr lang="en-US" sz="1400" b="1" dirty="0">
                <a:solidFill>
                  <a:srgbClr val="FFFFFF"/>
                </a:solidFill>
                <a:latin typeface="Trenda IG Display" pitchFamily="34" charset="0"/>
                <a:ea typeface="Trenda IG Display" pitchFamily="34" charset="-122"/>
                <a:cs typeface="Trenda IG Display" pitchFamily="34" charset="-120"/>
              </a:rPr>
              <a:t>Doors three and four, controlled</a:t>
            </a:r>
            <a:endParaRPr lang="en-US" sz="1400" dirty="0"/>
          </a:p>
        </p:txBody>
      </p:sp>
      <p:sp>
        <p:nvSpPr>
          <p:cNvPr id="8" name="Shape 6"/>
          <p:cNvSpPr/>
          <p:nvPr/>
        </p:nvSpPr>
        <p:spPr>
          <a:xfrm>
            <a:off x="758952" y="2583180"/>
            <a:ext cx="3069336" cy="274320"/>
          </a:xfrm>
          <a:prstGeom prst="roundRect">
            <a:avLst>
              <a:gd name="adj" fmla="val 16667"/>
            </a:avLst>
          </a:prstGeom>
          <a:solidFill>
            <a:srgbClr val="1A2130"/>
          </a:solidFill>
          <a:ln w="12700">
            <a:solidFill>
              <a:srgbClr val="3987E5"/>
            </a:solidFill>
            <a:prstDash val="solid"/>
          </a:ln>
        </p:spPr>
      </p:sp>
      <p:sp>
        <p:nvSpPr>
          <p:cNvPr id="9" name="Text 7"/>
          <p:cNvSpPr txBox="1"/>
          <p:nvPr/>
        </p:nvSpPr>
        <p:spPr>
          <a:xfrm>
            <a:off x="868680" y="2583180"/>
            <a:ext cx="2849880" cy="274320"/>
          </a:xfrm>
          <a:prstGeom prst="rect">
            <a:avLst/>
          </a:prstGeom>
          <a:noFill/>
          <a:ln/>
        </p:spPr>
        <p:txBody>
          <a:bodyPr wrap="square" lIns="0" tIns="0" rIns="0" bIns="0" rtlCol="0" anchor="ctr"/>
          <a:lstStyle/>
          <a:p>
            <a:pPr indent="0" marL="0">
              <a:buNone/>
            </a:pPr>
            <a:r>
              <a:rPr lang="en-US" sz="800" b="1" dirty="0">
                <a:solidFill>
                  <a:srgbClr val="3987E5"/>
                </a:solidFill>
                <a:latin typeface="Trenda IG Text" pitchFamily="34" charset="0"/>
                <a:ea typeface="Trenda IG Text" pitchFamily="34" charset="-122"/>
                <a:cs typeface="Trenda IG Text" pitchFamily="34" charset="-120"/>
              </a:rPr>
              <a:t>No new licensing</a:t>
            </a:r>
            <a:endParaRPr lang="en-US" sz="800" dirty="0"/>
          </a:p>
        </p:txBody>
      </p:sp>
      <p:sp>
        <p:nvSpPr>
          <p:cNvPr id="10" name="Text 8"/>
          <p:cNvSpPr txBox="1"/>
          <p:nvPr/>
        </p:nvSpPr>
        <p:spPr>
          <a:xfrm>
            <a:off x="758952" y="2985516"/>
            <a:ext cx="3069336" cy="1755648"/>
          </a:xfrm>
          <a:prstGeom prst="rect">
            <a:avLst/>
          </a:prstGeom>
          <a:noFill/>
          <a:ln/>
        </p:spPr>
        <p:txBody>
          <a:bodyPr wrap="square" lIns="0" tIns="0" rIns="0" bIns="0" rtlCol="0" anchor="t"/>
          <a:lstStyle/>
          <a:p>
            <a:pPr marL="152400" indent="-152400">
              <a:lnSpc>
                <a:spcPts val="1250"/>
              </a:lnSpc>
              <a:spcAft>
                <a:spcPts val="5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Email to Case, thread matching, duplicate handling, auto acknowledgement</a:t>
            </a:r>
            <a:endParaRPr lang="en-US" sz="850" dirty="0"/>
          </a:p>
          <a:p>
            <a:pPr marL="152400" indent="-152400">
              <a:lnSpc>
                <a:spcPts val="1250"/>
              </a:lnSpc>
              <a:spcAft>
                <a:spcPts val="5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Record triggered Flow orchestration across the whole case lifecycle</a:t>
            </a:r>
            <a:endParaRPr lang="en-US" sz="850" dirty="0"/>
          </a:p>
          <a:p>
            <a:pPr marL="152400" indent="-152400">
              <a:lnSpc>
                <a:spcPts val="1250"/>
              </a:lnSpc>
              <a:spcAft>
                <a:spcPts val="5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Rule based classification, priority and the deterministic gates</a:t>
            </a:r>
            <a:endParaRPr lang="en-US" sz="850" dirty="0"/>
          </a:p>
          <a:p>
            <a:pPr marL="152400" indent="-152400">
              <a:lnSpc>
                <a:spcPts val="1250"/>
              </a:lnSpc>
              <a:spcAft>
                <a:spcPts val="5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Omni Channel skills routing, Entitlements, Milestones, proportional escalation</a:t>
            </a:r>
            <a:endParaRPr lang="en-US" sz="850" dirty="0"/>
          </a:p>
          <a:p>
            <a:pPr marL="152400" indent="-152400">
              <a:lnSpc>
                <a:spcPts val="1250"/>
              </a:lnSpc>
              <a:spcAft>
                <a:spcPts val="5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Knowledge structure, Quick Text, Macros, standard response library</a:t>
            </a:r>
            <a:endParaRPr lang="en-US" sz="850" dirty="0"/>
          </a:p>
          <a:p>
            <a:pPr marL="152400" indent="-152400">
              <a:lnSpc>
                <a:spcPts val="1250"/>
              </a:lnSpc>
              <a:spcAft>
                <a:spcPts val="5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Operations dashboards including the door mix view</a:t>
            </a:r>
            <a:endParaRPr lang="en-US" sz="850" dirty="0"/>
          </a:p>
        </p:txBody>
      </p:sp>
      <p:sp>
        <p:nvSpPr>
          <p:cNvPr id="11" name="Shape 9"/>
          <p:cNvSpPr/>
          <p:nvPr/>
        </p:nvSpPr>
        <p:spPr>
          <a:xfrm>
            <a:off x="758952" y="4850892"/>
            <a:ext cx="3069336" cy="0"/>
          </a:xfrm>
          <a:prstGeom prst="line">
            <a:avLst/>
          </a:prstGeom>
          <a:noFill/>
          <a:ln w="12700">
            <a:solidFill>
              <a:srgbClr val="252D3D"/>
            </a:solidFill>
            <a:prstDash val="solid"/>
          </a:ln>
        </p:spPr>
      </p:sp>
      <p:sp>
        <p:nvSpPr>
          <p:cNvPr id="12" name="Text 10"/>
          <p:cNvSpPr txBox="1"/>
          <p:nvPr/>
        </p:nvSpPr>
        <p:spPr>
          <a:xfrm>
            <a:off x="758952" y="4942332"/>
            <a:ext cx="3069336" cy="457200"/>
          </a:xfrm>
          <a:prstGeom prst="rect">
            <a:avLst/>
          </a:prstGeom>
          <a:noFill/>
          <a:ln/>
        </p:spPr>
        <p:txBody>
          <a:bodyPr wrap="square" lIns="0" tIns="0" rIns="0" bIns="0" rtlCol="0" anchor="t"/>
          <a:lstStyle/>
          <a:p>
            <a:pPr indent="0" marL="0">
              <a:lnSpc>
                <a:spcPts val="1150"/>
              </a:lnSpc>
              <a:buNone/>
            </a:pPr>
            <a:r>
              <a:rPr lang="en-US" sz="850" i="1" dirty="0">
                <a:solidFill>
                  <a:srgbClr val="22D3EE"/>
                </a:solidFill>
                <a:latin typeface="Trenda IG Text" pitchFamily="34" charset="0"/>
                <a:ea typeface="Trenda IG Text" pitchFamily="34" charset="-122"/>
                <a:cs typeface="Trenda IG Text" pitchFamily="34" charset="-120"/>
              </a:rPr>
              <a:t>Entry: Salesforce access and a sandbox. Nothing else.</a:t>
            </a:r>
            <a:endParaRPr lang="en-US" sz="850" dirty="0"/>
          </a:p>
        </p:txBody>
      </p:sp>
      <p:sp>
        <p:nvSpPr>
          <p:cNvPr id="13" name="Shape 11"/>
          <p:cNvSpPr/>
          <p:nvPr/>
        </p:nvSpPr>
        <p:spPr>
          <a:xfrm>
            <a:off x="4303776" y="1796796"/>
            <a:ext cx="3581400" cy="3675888"/>
          </a:xfrm>
          <a:prstGeom prst="roundRect">
            <a:avLst>
              <a:gd name="adj" fmla="val 1021"/>
            </a:avLst>
          </a:prstGeom>
          <a:solidFill>
            <a:srgbClr val="151A24"/>
          </a:solidFill>
          <a:ln w="12700">
            <a:solidFill>
              <a:srgbClr val="252D3D"/>
            </a:solidFill>
            <a:prstDash val="solid"/>
          </a:ln>
        </p:spPr>
      </p:sp>
      <p:sp>
        <p:nvSpPr>
          <p:cNvPr id="14" name="Text 12"/>
          <p:cNvSpPr txBox="1"/>
          <p:nvPr/>
        </p:nvSpPr>
        <p:spPr>
          <a:xfrm>
            <a:off x="4559808" y="1979676"/>
            <a:ext cx="3069336" cy="219456"/>
          </a:xfrm>
          <a:prstGeom prst="rect">
            <a:avLst/>
          </a:prstGeom>
          <a:noFill/>
          <a:ln/>
        </p:spPr>
        <p:txBody>
          <a:bodyPr wrap="square" lIns="0" tIns="0" rIns="0" bIns="0" rtlCol="0" anchor="ctr"/>
          <a:lstStyle/>
          <a:p>
            <a:pPr indent="0" marL="0">
              <a:buNone/>
            </a:pPr>
            <a:r>
              <a:rPr lang="en-US" sz="1000" b="1" spc="160" kern="0" dirty="0">
                <a:solidFill>
                  <a:srgbClr val="199E70"/>
                </a:solidFill>
                <a:latin typeface="Trenda IG Display" pitchFamily="34" charset="0"/>
                <a:ea typeface="Trenda IG Display" pitchFamily="34" charset="-122"/>
                <a:cs typeface="Trenda IG Display" pitchFamily="34" charset="-120"/>
              </a:rPr>
              <a:t>PHASE 2</a:t>
            </a:r>
            <a:endParaRPr lang="en-US" sz="1000" dirty="0"/>
          </a:p>
        </p:txBody>
      </p:sp>
      <p:sp>
        <p:nvSpPr>
          <p:cNvPr id="15" name="Text 13"/>
          <p:cNvSpPr txBox="1"/>
          <p:nvPr/>
        </p:nvSpPr>
        <p:spPr>
          <a:xfrm>
            <a:off x="4559808" y="2217420"/>
            <a:ext cx="3069336" cy="310896"/>
          </a:xfrm>
          <a:prstGeom prst="rect">
            <a:avLst/>
          </a:prstGeom>
          <a:noFill/>
          <a:ln/>
        </p:spPr>
        <p:txBody>
          <a:bodyPr wrap="square" lIns="0" tIns="0" rIns="0" bIns="0" rtlCol="0" anchor="ctr"/>
          <a:lstStyle/>
          <a:p>
            <a:pPr indent="0" marL="0">
              <a:buNone/>
            </a:pPr>
            <a:r>
              <a:rPr lang="en-US" sz="1400" b="1" dirty="0">
                <a:solidFill>
                  <a:srgbClr val="FFFFFF"/>
                </a:solidFill>
                <a:latin typeface="Trenda IG Display" pitchFamily="34" charset="0"/>
                <a:ea typeface="Trenda IG Display" pitchFamily="34" charset="-122"/>
                <a:cs typeface="Trenda IG Display" pitchFamily="34" charset="-120"/>
              </a:rPr>
              <a:t>Door three becomes one touch</a:t>
            </a:r>
            <a:endParaRPr lang="en-US" sz="1400" dirty="0"/>
          </a:p>
        </p:txBody>
      </p:sp>
      <p:sp>
        <p:nvSpPr>
          <p:cNvPr id="16" name="Shape 14"/>
          <p:cNvSpPr/>
          <p:nvPr/>
        </p:nvSpPr>
        <p:spPr>
          <a:xfrm>
            <a:off x="4559808" y="2583180"/>
            <a:ext cx="3069336" cy="274320"/>
          </a:xfrm>
          <a:prstGeom prst="roundRect">
            <a:avLst>
              <a:gd name="adj" fmla="val 16667"/>
            </a:avLst>
          </a:prstGeom>
          <a:solidFill>
            <a:srgbClr val="1A2130"/>
          </a:solidFill>
          <a:ln w="12700">
            <a:solidFill>
              <a:srgbClr val="199E70"/>
            </a:solidFill>
            <a:prstDash val="solid"/>
          </a:ln>
        </p:spPr>
      </p:sp>
      <p:sp>
        <p:nvSpPr>
          <p:cNvPr id="17" name="Text 15"/>
          <p:cNvSpPr txBox="1"/>
          <p:nvPr/>
        </p:nvSpPr>
        <p:spPr>
          <a:xfrm>
            <a:off x="4669536" y="2583180"/>
            <a:ext cx="2849880" cy="274320"/>
          </a:xfrm>
          <a:prstGeom prst="rect">
            <a:avLst/>
          </a:prstGeom>
          <a:noFill/>
          <a:ln/>
        </p:spPr>
        <p:txBody>
          <a:bodyPr wrap="square" lIns="0" tIns="0" rIns="0" bIns="0" rtlCol="0" anchor="ctr"/>
          <a:lstStyle/>
          <a:p>
            <a:pPr indent="0" marL="0">
              <a:buNone/>
            </a:pPr>
            <a:r>
              <a:rPr lang="en-US" sz="800" b="1" dirty="0">
                <a:solidFill>
                  <a:srgbClr val="199E70"/>
                </a:solidFill>
                <a:latin typeface="Trenda IG Text" pitchFamily="34" charset="0"/>
                <a:ea typeface="Trenda IG Text" pitchFamily="34" charset="-122"/>
                <a:cs typeface="Trenda IG Text" pitchFamily="34" charset="-120"/>
              </a:rPr>
              <a:t>Einstein or Agentforce licence</a:t>
            </a:r>
            <a:endParaRPr lang="en-US" sz="800" dirty="0"/>
          </a:p>
        </p:txBody>
      </p:sp>
      <p:sp>
        <p:nvSpPr>
          <p:cNvPr id="18" name="Text 16"/>
          <p:cNvSpPr txBox="1"/>
          <p:nvPr/>
        </p:nvSpPr>
        <p:spPr>
          <a:xfrm>
            <a:off x="4559808" y="2985516"/>
            <a:ext cx="3069336" cy="1755648"/>
          </a:xfrm>
          <a:prstGeom prst="rect">
            <a:avLst/>
          </a:prstGeom>
          <a:noFill/>
          <a:ln/>
        </p:spPr>
        <p:txBody>
          <a:bodyPr wrap="square" lIns="0" tIns="0" rIns="0" bIns="0" rtlCol="0" anchor="t"/>
          <a:lstStyle/>
          <a:p>
            <a:pPr marL="152400" indent="-152400">
              <a:lnSpc>
                <a:spcPts val="1250"/>
              </a:lnSpc>
              <a:spcAft>
                <a:spcPts val="5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Triage Prompt Template: classification, entities, sentiment, summary</a:t>
            </a:r>
            <a:endParaRPr lang="en-US" sz="850" dirty="0"/>
          </a:p>
          <a:p>
            <a:pPr marL="152400" indent="-152400">
              <a:lnSpc>
                <a:spcPts val="1250"/>
              </a:lnSpc>
              <a:spcAft>
                <a:spcPts val="5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Draft response Prompt Template, grounded in Knowledge and order data</a:t>
            </a:r>
            <a:endParaRPr lang="en-US" sz="850" dirty="0"/>
          </a:p>
          <a:p>
            <a:pPr marL="152400" indent="-152400">
              <a:lnSpc>
                <a:spcPts val="1250"/>
              </a:lnSpc>
              <a:spcAft>
                <a:spcPts val="5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The credit case file: automated evidence assembly and reconciliation</a:t>
            </a:r>
            <a:endParaRPr lang="en-US" sz="850" dirty="0"/>
          </a:p>
          <a:p>
            <a:pPr marL="152400" indent="-152400">
              <a:lnSpc>
                <a:spcPts val="1250"/>
              </a:lnSpc>
              <a:spcAft>
                <a:spcPts val="5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Case and thread summarisation for handover and reporting</a:t>
            </a:r>
            <a:endParaRPr lang="en-US" sz="850" dirty="0"/>
          </a:p>
          <a:p>
            <a:pPr marL="152400" indent="-152400">
              <a:lnSpc>
                <a:spcPts val="1250"/>
              </a:lnSpc>
              <a:spcAft>
                <a:spcPts val="5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Draft acceptance measurement per case type, feeding template tuning</a:t>
            </a:r>
            <a:endParaRPr lang="en-US" sz="850" dirty="0"/>
          </a:p>
          <a:p>
            <a:pPr marL="152400" indent="-152400">
              <a:lnSpc>
                <a:spcPts val="1250"/>
              </a:lnSpc>
              <a:spcAft>
                <a:spcPts val="5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Shadow mode scoring on every candidate door two case type</a:t>
            </a:r>
            <a:endParaRPr lang="en-US" sz="850" dirty="0"/>
          </a:p>
        </p:txBody>
      </p:sp>
      <p:sp>
        <p:nvSpPr>
          <p:cNvPr id="19" name="Shape 17"/>
          <p:cNvSpPr/>
          <p:nvPr/>
        </p:nvSpPr>
        <p:spPr>
          <a:xfrm>
            <a:off x="4559808" y="4850892"/>
            <a:ext cx="3069336" cy="0"/>
          </a:xfrm>
          <a:prstGeom prst="line">
            <a:avLst/>
          </a:prstGeom>
          <a:noFill/>
          <a:ln w="12700">
            <a:solidFill>
              <a:srgbClr val="252D3D"/>
            </a:solidFill>
            <a:prstDash val="solid"/>
          </a:ln>
        </p:spPr>
      </p:sp>
      <p:sp>
        <p:nvSpPr>
          <p:cNvPr id="20" name="Text 18"/>
          <p:cNvSpPr txBox="1"/>
          <p:nvPr/>
        </p:nvSpPr>
        <p:spPr>
          <a:xfrm>
            <a:off x="4559808" y="4942332"/>
            <a:ext cx="3069336" cy="457200"/>
          </a:xfrm>
          <a:prstGeom prst="rect">
            <a:avLst/>
          </a:prstGeom>
          <a:noFill/>
          <a:ln/>
        </p:spPr>
        <p:txBody>
          <a:bodyPr wrap="square" lIns="0" tIns="0" rIns="0" bIns="0" rtlCol="0" anchor="t"/>
          <a:lstStyle/>
          <a:p>
            <a:pPr indent="0" marL="0">
              <a:lnSpc>
                <a:spcPts val="1150"/>
              </a:lnSpc>
              <a:buNone/>
            </a:pPr>
            <a:r>
              <a:rPr lang="en-US" sz="850" i="1" dirty="0">
                <a:solidFill>
                  <a:srgbClr val="22D3EE"/>
                </a:solidFill>
                <a:latin typeface="Trenda IG Text" pitchFamily="34" charset="0"/>
                <a:ea typeface="Trenda IG Text" pitchFamily="34" charset="-122"/>
                <a:cs typeface="Trenda IG Text" pitchFamily="34" charset="-120"/>
              </a:rPr>
              <a:t>Entry: licence confirmed, security approved, Knowledge base ready.</a:t>
            </a:r>
            <a:endParaRPr lang="en-US" sz="850" dirty="0"/>
          </a:p>
        </p:txBody>
      </p:sp>
      <p:sp>
        <p:nvSpPr>
          <p:cNvPr id="21" name="Shape 19"/>
          <p:cNvSpPr/>
          <p:nvPr/>
        </p:nvSpPr>
        <p:spPr>
          <a:xfrm>
            <a:off x="8104632" y="1796796"/>
            <a:ext cx="3581400" cy="3675888"/>
          </a:xfrm>
          <a:prstGeom prst="roundRect">
            <a:avLst>
              <a:gd name="adj" fmla="val 1021"/>
            </a:avLst>
          </a:prstGeom>
          <a:solidFill>
            <a:srgbClr val="151A24"/>
          </a:solidFill>
          <a:ln w="12700">
            <a:solidFill>
              <a:srgbClr val="252D3D"/>
            </a:solidFill>
            <a:prstDash val="solid"/>
          </a:ln>
        </p:spPr>
      </p:sp>
      <p:sp>
        <p:nvSpPr>
          <p:cNvPr id="22" name="Text 20"/>
          <p:cNvSpPr txBox="1"/>
          <p:nvPr/>
        </p:nvSpPr>
        <p:spPr>
          <a:xfrm>
            <a:off x="8360664" y="1979676"/>
            <a:ext cx="3069336" cy="219456"/>
          </a:xfrm>
          <a:prstGeom prst="rect">
            <a:avLst/>
          </a:prstGeom>
          <a:noFill/>
          <a:ln/>
        </p:spPr>
        <p:txBody>
          <a:bodyPr wrap="square" lIns="0" tIns="0" rIns="0" bIns="0" rtlCol="0" anchor="ctr"/>
          <a:lstStyle/>
          <a:p>
            <a:pPr indent="0" marL="0">
              <a:buNone/>
            </a:pPr>
            <a:r>
              <a:rPr lang="en-US" sz="1000" b="1" spc="160" kern="0" dirty="0">
                <a:solidFill>
                  <a:srgbClr val="D95926"/>
                </a:solidFill>
                <a:latin typeface="Trenda IG Display" pitchFamily="34" charset="0"/>
                <a:ea typeface="Trenda IG Display" pitchFamily="34" charset="-122"/>
                <a:cs typeface="Trenda IG Display" pitchFamily="34" charset="-120"/>
              </a:rPr>
              <a:t>PHASE 3</a:t>
            </a:r>
            <a:endParaRPr lang="en-US" sz="1000" dirty="0"/>
          </a:p>
        </p:txBody>
      </p:sp>
      <p:sp>
        <p:nvSpPr>
          <p:cNvPr id="23" name="Text 21"/>
          <p:cNvSpPr txBox="1"/>
          <p:nvPr/>
        </p:nvSpPr>
        <p:spPr>
          <a:xfrm>
            <a:off x="8360664" y="2217420"/>
            <a:ext cx="3069336" cy="310896"/>
          </a:xfrm>
          <a:prstGeom prst="rect">
            <a:avLst/>
          </a:prstGeom>
          <a:noFill/>
          <a:ln/>
        </p:spPr>
        <p:txBody>
          <a:bodyPr wrap="square" lIns="0" tIns="0" rIns="0" bIns="0" rtlCol="0" anchor="ctr"/>
          <a:lstStyle/>
          <a:p>
            <a:pPr indent="0" marL="0">
              <a:buNone/>
            </a:pPr>
            <a:r>
              <a:rPr lang="en-US" sz="1400" b="1" dirty="0">
                <a:solidFill>
                  <a:srgbClr val="FFFFFF"/>
                </a:solidFill>
                <a:latin typeface="Trenda IG Display" pitchFamily="34" charset="0"/>
                <a:ea typeface="Trenda IG Display" pitchFamily="34" charset="-122"/>
                <a:cs typeface="Trenda IG Display" pitchFamily="34" charset="-120"/>
              </a:rPr>
              <a:t>Door two opens, one type at a time</a:t>
            </a:r>
            <a:endParaRPr lang="en-US" sz="1400" dirty="0"/>
          </a:p>
        </p:txBody>
      </p:sp>
      <p:sp>
        <p:nvSpPr>
          <p:cNvPr id="24" name="Shape 22"/>
          <p:cNvSpPr/>
          <p:nvPr/>
        </p:nvSpPr>
        <p:spPr>
          <a:xfrm>
            <a:off x="8360664" y="2583180"/>
            <a:ext cx="3069336" cy="274320"/>
          </a:xfrm>
          <a:prstGeom prst="roundRect">
            <a:avLst>
              <a:gd name="adj" fmla="val 16667"/>
            </a:avLst>
          </a:prstGeom>
          <a:solidFill>
            <a:srgbClr val="1A2130"/>
          </a:solidFill>
          <a:ln w="12700">
            <a:solidFill>
              <a:srgbClr val="D95926"/>
            </a:solidFill>
            <a:prstDash val="solid"/>
          </a:ln>
        </p:spPr>
      </p:sp>
      <p:sp>
        <p:nvSpPr>
          <p:cNvPr id="25" name="Text 23"/>
          <p:cNvSpPr txBox="1"/>
          <p:nvPr/>
        </p:nvSpPr>
        <p:spPr>
          <a:xfrm>
            <a:off x="8470392" y="2583180"/>
            <a:ext cx="2849880" cy="274320"/>
          </a:xfrm>
          <a:prstGeom prst="rect">
            <a:avLst/>
          </a:prstGeom>
          <a:noFill/>
          <a:ln/>
        </p:spPr>
        <p:txBody>
          <a:bodyPr wrap="square" lIns="0" tIns="0" rIns="0" bIns="0" rtlCol="0" anchor="ctr"/>
          <a:lstStyle/>
          <a:p>
            <a:pPr indent="0" marL="0">
              <a:buNone/>
            </a:pPr>
            <a:r>
              <a:rPr lang="en-US" sz="800" b="1" dirty="0">
                <a:solidFill>
                  <a:srgbClr val="D95926"/>
                </a:solidFill>
                <a:latin typeface="Trenda IG Text" pitchFamily="34" charset="0"/>
                <a:ea typeface="Trenda IG Text" pitchFamily="34" charset="-122"/>
                <a:cs typeface="Trenda IG Text" pitchFamily="34" charset="-120"/>
              </a:rPr>
              <a:t>Agentforce, scoped separately</a:t>
            </a:r>
            <a:endParaRPr lang="en-US" sz="800" dirty="0"/>
          </a:p>
        </p:txBody>
      </p:sp>
      <p:sp>
        <p:nvSpPr>
          <p:cNvPr id="26" name="Text 24"/>
          <p:cNvSpPr txBox="1"/>
          <p:nvPr/>
        </p:nvSpPr>
        <p:spPr>
          <a:xfrm>
            <a:off x="8360664" y="2985516"/>
            <a:ext cx="3069336" cy="1755648"/>
          </a:xfrm>
          <a:prstGeom prst="rect">
            <a:avLst/>
          </a:prstGeom>
          <a:noFill/>
          <a:ln/>
        </p:spPr>
        <p:txBody>
          <a:bodyPr wrap="square" lIns="0" tIns="0" rIns="0" bIns="0" rtlCol="0" anchor="t"/>
          <a:lstStyle/>
          <a:p>
            <a:pPr marL="152400" indent="-152400">
              <a:lnSpc>
                <a:spcPts val="1250"/>
              </a:lnSpc>
              <a:spcAft>
                <a:spcPts val="5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Order status, tracking and proof of delivery first</a:t>
            </a:r>
            <a:endParaRPr lang="en-US" sz="850" dirty="0"/>
          </a:p>
          <a:p>
            <a:pPr marL="152400" indent="-152400">
              <a:lnSpc>
                <a:spcPts val="1250"/>
              </a:lnSpc>
              <a:spcAft>
                <a:spcPts val="5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Then document and statement requests</a:t>
            </a:r>
            <a:endParaRPr lang="en-US" sz="850" dirty="0"/>
          </a:p>
          <a:p>
            <a:pPr marL="152400" indent="-152400">
              <a:lnSpc>
                <a:spcPts val="1250"/>
              </a:lnSpc>
              <a:spcAft>
                <a:spcPts val="5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Then published backorder and availability positions</a:t>
            </a:r>
            <a:endParaRPr lang="en-US" sz="850" dirty="0"/>
          </a:p>
          <a:p>
            <a:pPr marL="152400" indent="-152400">
              <a:lnSpc>
                <a:spcPts val="1250"/>
              </a:lnSpc>
              <a:spcAft>
                <a:spcPts val="5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Then clean, fully validated order acknowledgement</a:t>
            </a:r>
            <a:endParaRPr lang="en-US" sz="850" dirty="0"/>
          </a:p>
          <a:p>
            <a:pPr marL="152400" indent="-152400">
              <a:lnSpc>
                <a:spcPts val="1250"/>
              </a:lnSpc>
              <a:spcAft>
                <a:spcPts val="5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Door one demand removal running in parallel from Phase 2 data</a:t>
            </a:r>
            <a:endParaRPr lang="en-US" sz="850" dirty="0"/>
          </a:p>
          <a:p>
            <a:pPr marL="152400" indent="-152400">
              <a:lnSpc>
                <a:spcPts val="1250"/>
              </a:lnSpc>
              <a:spcAft>
                <a:spcPts val="500"/>
              </a:spcAft>
              <a:buSzPct val="100000"/>
              <a:buChar char="•"/>
            </a:pPr>
            <a:r>
              <a:rPr lang="en-US" sz="850" dirty="0">
                <a:solidFill>
                  <a:srgbClr val="E6EAF2"/>
                </a:solidFill>
                <a:latin typeface="Trenda IG Text" pitchFamily="34" charset="0"/>
                <a:ea typeface="Trenda IG Text" pitchFamily="34" charset="-122"/>
                <a:cs typeface="Trenda IG Text" pitchFamily="34" charset="-120"/>
              </a:rPr>
              <a:t>Daily QA sampling and automatic rollback triggers throughout</a:t>
            </a:r>
            <a:endParaRPr lang="en-US" sz="850" dirty="0"/>
          </a:p>
        </p:txBody>
      </p:sp>
      <p:sp>
        <p:nvSpPr>
          <p:cNvPr id="27" name="Shape 25"/>
          <p:cNvSpPr/>
          <p:nvPr/>
        </p:nvSpPr>
        <p:spPr>
          <a:xfrm>
            <a:off x="8360664" y="4850892"/>
            <a:ext cx="3069336" cy="0"/>
          </a:xfrm>
          <a:prstGeom prst="line">
            <a:avLst/>
          </a:prstGeom>
          <a:noFill/>
          <a:ln w="12700">
            <a:solidFill>
              <a:srgbClr val="252D3D"/>
            </a:solidFill>
            <a:prstDash val="solid"/>
          </a:ln>
        </p:spPr>
      </p:sp>
      <p:sp>
        <p:nvSpPr>
          <p:cNvPr id="28" name="Text 26"/>
          <p:cNvSpPr txBox="1"/>
          <p:nvPr/>
        </p:nvSpPr>
        <p:spPr>
          <a:xfrm>
            <a:off x="8360664" y="4942332"/>
            <a:ext cx="3069336" cy="457200"/>
          </a:xfrm>
          <a:prstGeom prst="rect">
            <a:avLst/>
          </a:prstGeom>
          <a:noFill/>
          <a:ln/>
        </p:spPr>
        <p:txBody>
          <a:bodyPr wrap="square" lIns="0" tIns="0" rIns="0" bIns="0" rtlCol="0" anchor="t"/>
          <a:lstStyle/>
          <a:p>
            <a:pPr indent="0" marL="0">
              <a:lnSpc>
                <a:spcPts val="1150"/>
              </a:lnSpc>
              <a:buNone/>
            </a:pPr>
            <a:r>
              <a:rPr lang="en-US" sz="850" i="1" dirty="0">
                <a:solidFill>
                  <a:srgbClr val="22D3EE"/>
                </a:solidFill>
                <a:latin typeface="Trenda IG Text" pitchFamily="34" charset="0"/>
                <a:ea typeface="Trenda IG Text" pitchFamily="34" charset="-122"/>
                <a:cs typeface="Trenda IG Text" pitchFamily="34" charset="-120"/>
              </a:rPr>
              <a:t>Entry: each type clears its agreed accuracy threshold in shadow mode.</a:t>
            </a:r>
            <a:endParaRPr lang="en-US" sz="850" dirty="0"/>
          </a:p>
        </p:txBody>
      </p:sp>
      <p:pic>
        <p:nvPicPr>
          <p:cNvPr id="29" name="Image 0" descr="assets/ig-mark.png">    </p:cNvPr>
          <p:cNvPicPr>
            <a:picLocks noChangeAspect="1"/>
          </p:cNvPicPr>
          <p:nvPr/>
        </p:nvPicPr>
        <p:blipFill>
          <a:blip r:embed="rId1"/>
          <a:stretch>
            <a:fillRect/>
          </a:stretch>
        </p:blipFill>
        <p:spPr>
          <a:xfrm>
            <a:off x="502920" y="6455664"/>
            <a:ext cx="420624" cy="144475"/>
          </a:xfrm>
          <a:prstGeom prst="rect">
            <a:avLst/>
          </a:prstGeom>
        </p:spPr>
      </p:pic>
      <p:sp>
        <p:nvSpPr>
          <p:cNvPr id="30" name="Text 27"/>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13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D14"/>
        </a:solidFill>
      </p:bgPr>
    </p:bg>
    <p:spTree>
      <p:nvGrpSpPr>
        <p:cNvPr id="1" name=""/>
        <p:cNvGrpSpPr/>
        <p:nvPr/>
      </p:nvGrpSpPr>
      <p:grpSpPr>
        <a:xfrm>
          <a:off x="0" y="0"/>
          <a:ext cx="0" cy="0"/>
          <a:chOff x="0" y="0"/>
          <a:chExt cx="0" cy="0"/>
        </a:xfrm>
      </p:grpSpPr>
      <p:sp>
        <p:nvSpPr>
          <p:cNvPr id="2" name="Text 0"/>
          <p:cNvSpPr txBox="1"/>
          <p:nvPr/>
        </p:nvSpPr>
        <p:spPr>
          <a:xfrm>
            <a:off x="502920" y="384048"/>
            <a:ext cx="11183112" cy="219456"/>
          </a:xfrm>
          <a:prstGeom prst="rect">
            <a:avLst/>
          </a:prstGeom>
          <a:noFill/>
          <a:ln/>
        </p:spPr>
        <p:txBody>
          <a:bodyPr wrap="square" lIns="0" tIns="0" rIns="0" bIns="0" rtlCol="0" anchor="ctr"/>
          <a:lstStyle/>
          <a:p>
            <a:pPr indent="0" marL="0">
              <a:buNone/>
            </a:pPr>
            <a:r>
              <a:rPr lang="en-US" sz="1000" b="1" spc="220" kern="0" dirty="0">
                <a:solidFill>
                  <a:srgbClr val="22D3EE"/>
                </a:solidFill>
                <a:latin typeface="Trenda IG Display" pitchFamily="34" charset="0"/>
                <a:ea typeface="Trenda IG Display" pitchFamily="34" charset="-122"/>
                <a:cs typeface="Trenda IG Display" pitchFamily="34" charset="-120"/>
              </a:rPr>
              <a:t>NEXT STEPS</a:t>
            </a:r>
            <a:endParaRPr lang="en-US" sz="1000" dirty="0"/>
          </a:p>
        </p:txBody>
      </p:sp>
      <p:sp>
        <p:nvSpPr>
          <p:cNvPr id="3" name="Text 1"/>
          <p:cNvSpPr txBox="1"/>
          <p:nvPr/>
        </p:nvSpPr>
        <p:spPr>
          <a:xfrm>
            <a:off x="502920" y="658368"/>
            <a:ext cx="11183112" cy="416052"/>
          </a:xfrm>
          <a:prstGeom prst="rect">
            <a:avLst/>
          </a:prstGeom>
          <a:noFill/>
          <a:ln/>
        </p:spPr>
        <p:txBody>
          <a:bodyPr wrap="square" lIns="0" tIns="0" rIns="0" bIns="0" rtlCol="0" anchor="ctr"/>
          <a:lstStyle/>
          <a:p>
            <a:pPr indent="0" marL="0">
              <a:lnSpc>
                <a:spcPts val="3016"/>
              </a:lnSpc>
              <a:buNone/>
            </a:pPr>
            <a:r>
              <a:rPr lang="en-US" sz="2600" b="1" spc="40" kern="0" dirty="0">
                <a:solidFill>
                  <a:srgbClr val="FFFFFF"/>
                </a:solidFill>
                <a:latin typeface="Trenda IG Display" pitchFamily="34" charset="0"/>
                <a:ea typeface="Trenda IG Display" pitchFamily="34" charset="-122"/>
                <a:cs typeface="Trenda IG Display" pitchFamily="34" charset="-120"/>
              </a:rPr>
              <a:t>WHAT OPENS THIS UP</a:t>
            </a:r>
            <a:endParaRPr lang="en-US" sz="2600" dirty="0"/>
          </a:p>
        </p:txBody>
      </p:sp>
      <p:sp>
        <p:nvSpPr>
          <p:cNvPr id="4" name="Text 2"/>
          <p:cNvSpPr txBox="1"/>
          <p:nvPr/>
        </p:nvSpPr>
        <p:spPr>
          <a:xfrm>
            <a:off x="502920" y="1156716"/>
            <a:ext cx="11183112" cy="384048"/>
          </a:xfrm>
          <a:prstGeom prst="rect">
            <a:avLst/>
          </a:prstGeom>
          <a:noFill/>
          <a:ln/>
        </p:spPr>
        <p:txBody>
          <a:bodyPr wrap="square" lIns="0" tIns="0" rIns="0" bIns="0" rtlCol="0" anchor="t"/>
          <a:lstStyle/>
          <a:p>
            <a:pPr indent="0" marL="0">
              <a:lnSpc>
                <a:spcPts val="1500"/>
              </a:lnSpc>
              <a:buNone/>
            </a:pPr>
            <a:r>
              <a:rPr lang="en-US" sz="1150" dirty="0">
                <a:solidFill>
                  <a:srgbClr val="8A94A6"/>
                </a:solidFill>
                <a:latin typeface="Trenda IG Text" pitchFamily="34" charset="0"/>
                <a:ea typeface="Trenda IG Text" pitchFamily="34" charset="-122"/>
                <a:cs typeface="Trenda IG Text" pitchFamily="34" charset="-120"/>
              </a:rPr>
              <a:t>Phase 1 needs access and discovery, nothing more. The items below are what turn each later door from a design into a delivered capability.</a:t>
            </a:r>
            <a:endParaRPr lang="en-US" sz="1150" dirty="0"/>
          </a:p>
        </p:txBody>
      </p:sp>
      <p:sp>
        <p:nvSpPr>
          <p:cNvPr id="5" name="Shape 3"/>
          <p:cNvSpPr/>
          <p:nvPr/>
        </p:nvSpPr>
        <p:spPr>
          <a:xfrm>
            <a:off x="502920" y="1796796"/>
            <a:ext cx="5490972" cy="1700784"/>
          </a:xfrm>
          <a:prstGeom prst="roundRect">
            <a:avLst>
              <a:gd name="adj" fmla="val 2151"/>
            </a:avLst>
          </a:prstGeom>
          <a:solidFill>
            <a:srgbClr val="151A24"/>
          </a:solidFill>
          <a:ln w="12700">
            <a:solidFill>
              <a:srgbClr val="252D3D"/>
            </a:solidFill>
            <a:prstDash val="solid"/>
          </a:ln>
        </p:spPr>
      </p:sp>
      <p:sp>
        <p:nvSpPr>
          <p:cNvPr id="6" name="Text 4"/>
          <p:cNvSpPr txBox="1"/>
          <p:nvPr/>
        </p:nvSpPr>
        <p:spPr>
          <a:xfrm>
            <a:off x="758952" y="1961388"/>
            <a:ext cx="4978908" cy="274320"/>
          </a:xfrm>
          <a:prstGeom prst="rect">
            <a:avLst/>
          </a:prstGeom>
          <a:noFill/>
          <a:ln/>
        </p:spPr>
        <p:txBody>
          <a:bodyPr wrap="square" lIns="0" tIns="0" rIns="0" bIns="0" rtlCol="0" anchor="ctr"/>
          <a:lstStyle/>
          <a:p>
            <a:pPr indent="0" marL="0">
              <a:buNone/>
            </a:pPr>
            <a:r>
              <a:rPr lang="en-US" sz="1250" b="1" dirty="0">
                <a:solidFill>
                  <a:srgbClr val="22D3EE"/>
                </a:solidFill>
                <a:latin typeface="Trenda IG Display" pitchFamily="34" charset="0"/>
                <a:ea typeface="Trenda IG Display" pitchFamily="34" charset="-122"/>
                <a:cs typeface="Trenda IG Display" pitchFamily="34" charset="-120"/>
              </a:rPr>
              <a:t>Needed for Phase 1</a:t>
            </a:r>
            <a:endParaRPr lang="en-US" sz="1250" dirty="0"/>
          </a:p>
        </p:txBody>
      </p:sp>
      <p:sp>
        <p:nvSpPr>
          <p:cNvPr id="7" name="Text 5"/>
          <p:cNvSpPr txBox="1"/>
          <p:nvPr/>
        </p:nvSpPr>
        <p:spPr>
          <a:xfrm>
            <a:off x="758952" y="2290572"/>
            <a:ext cx="4978908" cy="1115568"/>
          </a:xfrm>
          <a:prstGeom prst="rect">
            <a:avLst/>
          </a:prstGeom>
          <a:noFill/>
          <a:ln/>
        </p:spPr>
        <p:txBody>
          <a:bodyPr wrap="square" lIns="0" tIns="0" rIns="0" bIns="0" rtlCol="0" anchor="t"/>
          <a:lstStyle/>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Salesforce access, permissions and a configuration sandbox</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Confirmation of the Extended Care mailboxes in scope</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Historical case data to re-derive the door mix from reality</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Process owners and SMEs for discovery</a:t>
            </a:r>
            <a:endParaRPr lang="en-US" sz="900" dirty="0"/>
          </a:p>
        </p:txBody>
      </p:sp>
      <p:sp>
        <p:nvSpPr>
          <p:cNvPr id="8" name="Shape 6"/>
          <p:cNvSpPr/>
          <p:nvPr/>
        </p:nvSpPr>
        <p:spPr>
          <a:xfrm>
            <a:off x="6195060" y="1796796"/>
            <a:ext cx="5490972" cy="1700784"/>
          </a:xfrm>
          <a:prstGeom prst="roundRect">
            <a:avLst>
              <a:gd name="adj" fmla="val 2151"/>
            </a:avLst>
          </a:prstGeom>
          <a:solidFill>
            <a:srgbClr val="151A24"/>
          </a:solidFill>
          <a:ln w="12700">
            <a:solidFill>
              <a:srgbClr val="252D3D"/>
            </a:solidFill>
            <a:prstDash val="solid"/>
          </a:ln>
        </p:spPr>
      </p:sp>
      <p:sp>
        <p:nvSpPr>
          <p:cNvPr id="9" name="Text 7"/>
          <p:cNvSpPr txBox="1"/>
          <p:nvPr/>
        </p:nvSpPr>
        <p:spPr>
          <a:xfrm>
            <a:off x="6451092" y="1961388"/>
            <a:ext cx="4978908" cy="274320"/>
          </a:xfrm>
          <a:prstGeom prst="rect">
            <a:avLst/>
          </a:prstGeom>
          <a:noFill/>
          <a:ln/>
        </p:spPr>
        <p:txBody>
          <a:bodyPr wrap="square" lIns="0" tIns="0" rIns="0" bIns="0" rtlCol="0" anchor="ctr"/>
          <a:lstStyle/>
          <a:p>
            <a:pPr indent="0" marL="0">
              <a:buNone/>
            </a:pPr>
            <a:r>
              <a:rPr lang="en-US" sz="1250" b="1" dirty="0">
                <a:solidFill>
                  <a:srgbClr val="199E70"/>
                </a:solidFill>
                <a:latin typeface="Trenda IG Display" pitchFamily="34" charset="0"/>
                <a:ea typeface="Trenda IG Display" pitchFamily="34" charset="-122"/>
                <a:cs typeface="Trenda IG Display" pitchFamily="34" charset="-120"/>
              </a:rPr>
              <a:t>Needed for Phase 2</a:t>
            </a:r>
            <a:endParaRPr lang="en-US" sz="1250" dirty="0"/>
          </a:p>
        </p:txBody>
      </p:sp>
      <p:sp>
        <p:nvSpPr>
          <p:cNvPr id="10" name="Text 8"/>
          <p:cNvSpPr txBox="1"/>
          <p:nvPr/>
        </p:nvSpPr>
        <p:spPr>
          <a:xfrm>
            <a:off x="6451092" y="2290572"/>
            <a:ext cx="4978908" cy="1115568"/>
          </a:xfrm>
          <a:prstGeom prst="rect">
            <a:avLst/>
          </a:prstGeom>
          <a:noFill/>
          <a:ln/>
        </p:spPr>
        <p:txBody>
          <a:bodyPr wrap="square" lIns="0" tIns="0" rIns="0" bIns="0" rtlCol="0" anchor="t"/>
          <a:lstStyle/>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Confirmation of current Einstein and Agentforce entitlement</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Security approval for generative features on PHI adjacent data</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Existing Knowledge articles, SOPs and email templates</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Read access to order, shipment and invoice data for grounding</a:t>
            </a:r>
            <a:endParaRPr lang="en-US" sz="900" dirty="0"/>
          </a:p>
        </p:txBody>
      </p:sp>
      <p:sp>
        <p:nvSpPr>
          <p:cNvPr id="11" name="Shape 9"/>
          <p:cNvSpPr/>
          <p:nvPr/>
        </p:nvSpPr>
        <p:spPr>
          <a:xfrm>
            <a:off x="502920" y="3698748"/>
            <a:ext cx="5490972" cy="1700784"/>
          </a:xfrm>
          <a:prstGeom prst="roundRect">
            <a:avLst>
              <a:gd name="adj" fmla="val 2151"/>
            </a:avLst>
          </a:prstGeom>
          <a:solidFill>
            <a:srgbClr val="151A24"/>
          </a:solidFill>
          <a:ln w="12700">
            <a:solidFill>
              <a:srgbClr val="252D3D"/>
            </a:solidFill>
            <a:prstDash val="solid"/>
          </a:ln>
        </p:spPr>
      </p:sp>
      <p:sp>
        <p:nvSpPr>
          <p:cNvPr id="12" name="Text 10"/>
          <p:cNvSpPr txBox="1"/>
          <p:nvPr/>
        </p:nvSpPr>
        <p:spPr>
          <a:xfrm>
            <a:off x="758952" y="3863340"/>
            <a:ext cx="4978908" cy="274320"/>
          </a:xfrm>
          <a:prstGeom prst="rect">
            <a:avLst/>
          </a:prstGeom>
          <a:noFill/>
          <a:ln/>
        </p:spPr>
        <p:txBody>
          <a:bodyPr wrap="square" lIns="0" tIns="0" rIns="0" bIns="0" rtlCol="0" anchor="ctr"/>
          <a:lstStyle/>
          <a:p>
            <a:pPr indent="0" marL="0">
              <a:buNone/>
            </a:pPr>
            <a:r>
              <a:rPr lang="en-US" sz="1250" b="1" dirty="0">
                <a:solidFill>
                  <a:srgbClr val="D95926"/>
                </a:solidFill>
                <a:latin typeface="Trenda IG Display" pitchFamily="34" charset="0"/>
                <a:ea typeface="Trenda IG Display" pitchFamily="34" charset="-122"/>
                <a:cs typeface="Trenda IG Display" pitchFamily="34" charset="-120"/>
              </a:rPr>
              <a:t>Needed for Phase 3</a:t>
            </a:r>
            <a:endParaRPr lang="en-US" sz="1250" dirty="0"/>
          </a:p>
        </p:txBody>
      </p:sp>
      <p:sp>
        <p:nvSpPr>
          <p:cNvPr id="13" name="Text 11"/>
          <p:cNvSpPr txBox="1"/>
          <p:nvPr/>
        </p:nvSpPr>
        <p:spPr>
          <a:xfrm>
            <a:off x="758952" y="4192524"/>
            <a:ext cx="4978908" cy="1115568"/>
          </a:xfrm>
          <a:prstGeom prst="rect">
            <a:avLst/>
          </a:prstGeom>
          <a:noFill/>
          <a:ln/>
        </p:spPr>
        <p:txBody>
          <a:bodyPr wrap="square" lIns="0" tIns="0" rIns="0" bIns="0" rtlCol="0" anchor="t"/>
          <a:lstStyle/>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Agreement on the first autonomous case type and its accuracy threshold</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Sign off on the deterministic gates and the never autonomous list</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An agreed shadow mode period and sample size</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A named McKesson approver for each case type release</a:t>
            </a:r>
            <a:endParaRPr lang="en-US" sz="900" dirty="0"/>
          </a:p>
        </p:txBody>
      </p:sp>
      <p:sp>
        <p:nvSpPr>
          <p:cNvPr id="14" name="Shape 12"/>
          <p:cNvSpPr/>
          <p:nvPr/>
        </p:nvSpPr>
        <p:spPr>
          <a:xfrm>
            <a:off x="6195060" y="3698748"/>
            <a:ext cx="5490972" cy="1700784"/>
          </a:xfrm>
          <a:prstGeom prst="roundRect">
            <a:avLst>
              <a:gd name="adj" fmla="val 2151"/>
            </a:avLst>
          </a:prstGeom>
          <a:solidFill>
            <a:srgbClr val="151A24"/>
          </a:solidFill>
          <a:ln w="12700">
            <a:solidFill>
              <a:srgbClr val="252D3D"/>
            </a:solidFill>
            <a:prstDash val="solid"/>
          </a:ln>
        </p:spPr>
      </p:sp>
      <p:sp>
        <p:nvSpPr>
          <p:cNvPr id="15" name="Text 13"/>
          <p:cNvSpPr txBox="1"/>
          <p:nvPr/>
        </p:nvSpPr>
        <p:spPr>
          <a:xfrm>
            <a:off x="6451092" y="3863340"/>
            <a:ext cx="4978908" cy="274320"/>
          </a:xfrm>
          <a:prstGeom prst="rect">
            <a:avLst/>
          </a:prstGeom>
          <a:noFill/>
          <a:ln/>
        </p:spPr>
        <p:txBody>
          <a:bodyPr wrap="square" lIns="0" tIns="0" rIns="0" bIns="0" rtlCol="0" anchor="ctr"/>
          <a:lstStyle/>
          <a:p>
            <a:pPr indent="0" marL="0">
              <a:buNone/>
            </a:pPr>
            <a:r>
              <a:rPr lang="en-US" sz="1250" b="1" dirty="0">
                <a:solidFill>
                  <a:srgbClr val="C98500"/>
                </a:solidFill>
                <a:latin typeface="Trenda IG Display" pitchFamily="34" charset="0"/>
                <a:ea typeface="Trenda IG Display" pitchFamily="34" charset="-122"/>
                <a:cs typeface="Trenda IG Display" pitchFamily="34" charset="-120"/>
              </a:rPr>
              <a:t>Needed for door one</a:t>
            </a:r>
            <a:endParaRPr lang="en-US" sz="1250" dirty="0"/>
          </a:p>
        </p:txBody>
      </p:sp>
      <p:sp>
        <p:nvSpPr>
          <p:cNvPr id="16" name="Text 14"/>
          <p:cNvSpPr txBox="1"/>
          <p:nvPr/>
        </p:nvSpPr>
        <p:spPr>
          <a:xfrm>
            <a:off x="6451092" y="4192524"/>
            <a:ext cx="4978908" cy="1115568"/>
          </a:xfrm>
          <a:prstGeom prst="rect">
            <a:avLst/>
          </a:prstGeom>
          <a:noFill/>
          <a:ln/>
        </p:spPr>
        <p:txBody>
          <a:bodyPr wrap="square" lIns="0" tIns="0" rIns="0" bIns="0" rtlCol="0" anchor="t"/>
          <a:lstStyle/>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Named owners in the teams that own the upstream causes</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A route to raise catalogue, pricing and data defects with evidence</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Willingness to publish customer facing guidance we identify as missing</a:t>
            </a:r>
            <a:endParaRPr lang="en-US" sz="900" dirty="0"/>
          </a:p>
          <a:p>
            <a:pPr marL="152400" indent="-152400">
              <a:lnSpc>
                <a:spcPts val="1300"/>
              </a:lnSpc>
              <a:spcAft>
                <a:spcPts val="500"/>
              </a:spcAft>
              <a:buSzPct val="100000"/>
              <a:buChar char="•"/>
            </a:pPr>
            <a:r>
              <a:rPr lang="en-US" sz="900" dirty="0">
                <a:solidFill>
                  <a:srgbClr val="E6EAF2"/>
                </a:solidFill>
                <a:latin typeface="Trenda IG Text" pitchFamily="34" charset="0"/>
                <a:ea typeface="Trenda IG Text" pitchFamily="34" charset="-122"/>
                <a:cs typeface="Trenda IG Text" pitchFamily="34" charset="-120"/>
              </a:rPr>
              <a:t>A standing item in the monthly review for demand removal</a:t>
            </a:r>
            <a:endParaRPr lang="en-US" sz="900" dirty="0"/>
          </a:p>
        </p:txBody>
      </p:sp>
      <p:sp>
        <p:nvSpPr>
          <p:cNvPr id="17" name="Shape 15"/>
          <p:cNvSpPr/>
          <p:nvPr/>
        </p:nvSpPr>
        <p:spPr>
          <a:xfrm>
            <a:off x="502920" y="5637276"/>
            <a:ext cx="11183112" cy="548640"/>
          </a:xfrm>
          <a:prstGeom prst="roundRect">
            <a:avLst>
              <a:gd name="adj" fmla="val 6667"/>
            </a:avLst>
          </a:prstGeom>
          <a:solidFill>
            <a:srgbClr val="17222E"/>
          </a:solidFill>
          <a:ln w="12700">
            <a:solidFill>
              <a:srgbClr val="22D3EE"/>
            </a:solidFill>
            <a:prstDash val="solid"/>
          </a:ln>
        </p:spPr>
      </p:sp>
      <p:sp>
        <p:nvSpPr>
          <p:cNvPr id="18" name="Text 16"/>
          <p:cNvSpPr txBox="1"/>
          <p:nvPr/>
        </p:nvSpPr>
        <p:spPr>
          <a:xfrm>
            <a:off x="704088" y="5637276"/>
            <a:ext cx="10780776" cy="548640"/>
          </a:xfrm>
          <a:prstGeom prst="rect">
            <a:avLst/>
          </a:prstGeom>
          <a:noFill/>
          <a:ln/>
        </p:spPr>
        <p:txBody>
          <a:bodyPr wrap="square" lIns="0" tIns="0" rIns="0" bIns="0" rtlCol="0" anchor="ctr"/>
          <a:lstStyle/>
          <a:p>
            <a:pPr indent="0" marL="0">
              <a:lnSpc>
                <a:spcPts val="1300"/>
              </a:lnSpc>
              <a:buNone/>
            </a:pPr>
            <a:r>
              <a:rPr lang="en-US" sz="900" b="1" spc="140" kern="0" dirty="0">
                <a:solidFill>
                  <a:srgbClr val="22D3EE"/>
                </a:solidFill>
                <a:latin typeface="Trenda IG Text" pitchFamily="34" charset="0"/>
                <a:ea typeface="Trenda IG Text" pitchFamily="34" charset="-122"/>
                <a:cs typeface="Trenda IG Text" pitchFamily="34" charset="-120"/>
              </a:rPr>
              <a:t>PROPOSED NEXT STEP   </a:t>
            </a:r>
            <a:pPr indent="0" marL="0">
              <a:lnSpc>
                <a:spcPts val="1300"/>
              </a:lnSpc>
              <a:buNone/>
            </a:pPr>
            <a:r>
              <a:rPr lang="en-US" sz="950" dirty="0">
                <a:solidFill>
                  <a:srgbClr val="E6EAF2"/>
                </a:solidFill>
                <a:latin typeface="Trenda IG Text" pitchFamily="34" charset="0"/>
                <a:ea typeface="Trenda IG Text" pitchFamily="34" charset="-122"/>
                <a:cs typeface="Trenda IG Text" pitchFamily="34" charset="-120"/>
              </a:rPr>
              <a:t>A half day working session on your own case data: we sort a real month of Extended Care email into the four doors with you, and you see the actual mix rather than our modelled one before anything is committed.</a:t>
            </a:r>
            <a:endParaRPr lang="en-US" sz="900" dirty="0"/>
          </a:p>
        </p:txBody>
      </p:sp>
      <p:pic>
        <p:nvPicPr>
          <p:cNvPr id="19" name="Image 0" descr="assets/ig-mark.png">    </p:cNvPr>
          <p:cNvPicPr>
            <a:picLocks noChangeAspect="1"/>
          </p:cNvPicPr>
          <p:nvPr/>
        </p:nvPicPr>
        <p:blipFill>
          <a:blip r:embed="rId1"/>
          <a:stretch>
            <a:fillRect/>
          </a:stretch>
        </p:blipFill>
        <p:spPr>
          <a:xfrm>
            <a:off x="502920" y="6455664"/>
            <a:ext cx="420624" cy="144475"/>
          </a:xfrm>
          <a:prstGeom prst="rect">
            <a:avLst/>
          </a:prstGeom>
        </p:spPr>
      </p:pic>
      <p:sp>
        <p:nvSpPr>
          <p:cNvPr id="20" name="Text 17"/>
          <p:cNvSpPr txBox="1"/>
          <p:nvPr/>
        </p:nvSpPr>
        <p:spPr>
          <a:xfrm>
            <a:off x="11201400" y="6400800"/>
            <a:ext cx="484632" cy="237744"/>
          </a:xfrm>
          <a:prstGeom prst="rect">
            <a:avLst/>
          </a:prstGeom>
          <a:noFill/>
          <a:ln/>
        </p:spPr>
        <p:txBody>
          <a:bodyPr wrap="square" lIns="0" tIns="0" rIns="0" bIns="0" rtlCol="0" anchor="ctr"/>
          <a:lstStyle/>
          <a:p>
            <a:pPr algn="r" indent="0" marL="0">
              <a:buNone/>
            </a:pPr>
            <a:r>
              <a:rPr lang="en-US" sz="850" dirty="0">
                <a:solidFill>
                  <a:srgbClr val="8A94A6"/>
                </a:solidFill>
                <a:latin typeface="Trenda IG Text" pitchFamily="34" charset="0"/>
                <a:ea typeface="Trenda IG Text" pitchFamily="34" charset="-122"/>
                <a:cs typeface="Trenda IG Text" pitchFamily="34" charset="-120"/>
              </a:rPr>
              <a:t>14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D14"/>
        </a:solidFill>
      </p:bgPr>
    </p:bg>
    <p:spTree>
      <p:nvGrpSpPr>
        <p:cNvPr id="1" name=""/>
        <p:cNvGrpSpPr/>
        <p:nvPr/>
      </p:nvGrpSpPr>
      <p:grpSpPr>
        <a:xfrm>
          <a:off x="0" y="0"/>
          <a:ext cx="0" cy="0"/>
          <a:chOff x="0" y="0"/>
          <a:chExt cx="0" cy="0"/>
        </a:xfrm>
      </p:grpSpPr>
      <p:sp>
        <p:nvSpPr>
          <p:cNvPr id="2" name="Shape 0"/>
          <p:cNvSpPr/>
          <p:nvPr/>
        </p:nvSpPr>
        <p:spPr>
          <a:xfrm>
            <a:off x="8275320" y="2103120"/>
            <a:ext cx="2423160" cy="2423160"/>
          </a:xfrm>
          <a:prstGeom prst="ellipse">
            <a:avLst/>
          </a:prstGeom>
          <a:solidFill>
            <a:srgbClr val="22D3EE">
              <a:alpha val="14000"/>
            </a:srgbClr>
          </a:solidFill>
          <a:ln w="12700">
            <a:solidFill>
              <a:srgbClr val="22D3EE"/>
            </a:solidFill>
            <a:prstDash val="solid"/>
          </a:ln>
        </p:spPr>
      </p:sp>
      <p:sp>
        <p:nvSpPr>
          <p:cNvPr id="3" name="Shape 1"/>
          <p:cNvSpPr/>
          <p:nvPr/>
        </p:nvSpPr>
        <p:spPr>
          <a:xfrm>
            <a:off x="9535363" y="2103120"/>
            <a:ext cx="2423160" cy="2423160"/>
          </a:xfrm>
          <a:prstGeom prst="ellipse">
            <a:avLst/>
          </a:prstGeom>
          <a:solidFill>
            <a:srgbClr val="FFC72C">
              <a:alpha val="14000"/>
            </a:srgbClr>
          </a:solidFill>
          <a:ln w="12700">
            <a:solidFill>
              <a:srgbClr val="FFC72C"/>
            </a:solidFill>
            <a:prstDash val="solid"/>
          </a:ln>
        </p:spPr>
      </p:sp>
      <p:sp>
        <p:nvSpPr>
          <p:cNvPr id="4" name="Shape 2"/>
          <p:cNvSpPr/>
          <p:nvPr/>
        </p:nvSpPr>
        <p:spPr>
          <a:xfrm>
            <a:off x="8905342" y="3193542"/>
            <a:ext cx="2423160" cy="2423160"/>
          </a:xfrm>
          <a:prstGeom prst="ellipse">
            <a:avLst/>
          </a:prstGeom>
          <a:solidFill>
            <a:srgbClr val="FF0069">
              <a:alpha val="14000"/>
            </a:srgbClr>
          </a:solidFill>
          <a:ln w="12700">
            <a:solidFill>
              <a:srgbClr val="FF0069"/>
            </a:solidFill>
            <a:prstDash val="solid"/>
          </a:ln>
        </p:spPr>
      </p:sp>
      <p:pic>
        <p:nvPicPr>
          <p:cNvPr id="5" name="Image 0" descr="assets/ig-wordmark.png">    </p:cNvPr>
          <p:cNvPicPr>
            <a:picLocks noChangeAspect="1"/>
          </p:cNvPicPr>
          <p:nvPr/>
        </p:nvPicPr>
        <p:blipFill>
          <a:blip r:embed="rId1"/>
          <a:stretch>
            <a:fillRect/>
          </a:stretch>
        </p:blipFill>
        <p:spPr>
          <a:xfrm>
            <a:off x="502920" y="502920"/>
            <a:ext cx="1965960" cy="491033"/>
          </a:xfrm>
          <a:prstGeom prst="rect">
            <a:avLst/>
          </a:prstGeom>
        </p:spPr>
      </p:pic>
      <p:sp>
        <p:nvSpPr>
          <p:cNvPr id="6" name="Shape 3"/>
          <p:cNvSpPr/>
          <p:nvPr/>
        </p:nvSpPr>
        <p:spPr>
          <a:xfrm>
            <a:off x="502920" y="2395728"/>
            <a:ext cx="173736" cy="173736"/>
          </a:xfrm>
          <a:prstGeom prst="ellipse">
            <a:avLst/>
          </a:prstGeom>
          <a:solidFill>
            <a:srgbClr val="22D3EE"/>
          </a:solidFill>
          <a:ln w="12700">
            <a:solidFill>
              <a:srgbClr val="22D3EE"/>
            </a:solidFill>
            <a:prstDash val="solid"/>
          </a:ln>
        </p:spPr>
      </p:sp>
      <p:sp>
        <p:nvSpPr>
          <p:cNvPr id="7" name="Shape 4"/>
          <p:cNvSpPr/>
          <p:nvPr/>
        </p:nvSpPr>
        <p:spPr>
          <a:xfrm>
            <a:off x="768096" y="2395728"/>
            <a:ext cx="173736" cy="173736"/>
          </a:xfrm>
          <a:prstGeom prst="ellipse">
            <a:avLst/>
          </a:prstGeom>
          <a:solidFill>
            <a:srgbClr val="FFC72C"/>
          </a:solidFill>
          <a:ln w="12700">
            <a:solidFill>
              <a:srgbClr val="FFC72C"/>
            </a:solidFill>
            <a:prstDash val="solid"/>
          </a:ln>
        </p:spPr>
      </p:sp>
      <p:sp>
        <p:nvSpPr>
          <p:cNvPr id="8" name="Shape 5"/>
          <p:cNvSpPr/>
          <p:nvPr/>
        </p:nvSpPr>
        <p:spPr>
          <a:xfrm>
            <a:off x="1033272" y="2395728"/>
            <a:ext cx="173736" cy="173736"/>
          </a:xfrm>
          <a:prstGeom prst="ellipse">
            <a:avLst/>
          </a:prstGeom>
          <a:solidFill>
            <a:srgbClr val="FF0069"/>
          </a:solidFill>
          <a:ln w="12700">
            <a:solidFill>
              <a:srgbClr val="FF0069"/>
            </a:solidFill>
            <a:prstDash val="solid"/>
          </a:ln>
        </p:spPr>
      </p:sp>
      <p:sp>
        <p:nvSpPr>
          <p:cNvPr id="9" name="Text 6"/>
          <p:cNvSpPr txBox="1"/>
          <p:nvPr/>
        </p:nvSpPr>
        <p:spPr>
          <a:xfrm>
            <a:off x="502920" y="2798064"/>
            <a:ext cx="9144000" cy="274320"/>
          </a:xfrm>
          <a:prstGeom prst="rect">
            <a:avLst/>
          </a:prstGeom>
          <a:noFill/>
          <a:ln/>
        </p:spPr>
        <p:txBody>
          <a:bodyPr wrap="square" lIns="0" tIns="0" rIns="0" bIns="0" rtlCol="0" anchor="ctr"/>
          <a:lstStyle/>
          <a:p>
            <a:pPr indent="0" marL="0">
              <a:buNone/>
            </a:pPr>
            <a:r>
              <a:rPr lang="en-US" sz="1100" b="1" spc="240" kern="0" dirty="0">
                <a:solidFill>
                  <a:srgbClr val="22D3EE"/>
                </a:solidFill>
                <a:latin typeface="Trenda IG Display" pitchFamily="34" charset="0"/>
                <a:ea typeface="Trenda IG Display" pitchFamily="34" charset="-122"/>
                <a:cs typeface="Trenda IG Display" pitchFamily="34" charset="-120"/>
              </a:rPr>
              <a:t>THE FOUR DOORS</a:t>
            </a:r>
            <a:endParaRPr lang="en-US" sz="1100" dirty="0"/>
          </a:p>
        </p:txBody>
      </p:sp>
      <p:sp>
        <p:nvSpPr>
          <p:cNvPr id="10" name="Text 7"/>
          <p:cNvSpPr txBox="1"/>
          <p:nvPr/>
        </p:nvSpPr>
        <p:spPr>
          <a:xfrm>
            <a:off x="502920" y="3145536"/>
            <a:ext cx="9601200" cy="1280160"/>
          </a:xfrm>
          <a:prstGeom prst="rect">
            <a:avLst/>
          </a:prstGeom>
          <a:noFill/>
          <a:ln/>
        </p:spPr>
        <p:txBody>
          <a:bodyPr wrap="square" lIns="0" tIns="0" rIns="0" bIns="0" rtlCol="0" anchor="t"/>
          <a:lstStyle/>
          <a:p>
            <a:pPr indent="0" marL="0">
              <a:lnSpc>
                <a:spcPts val="4200"/>
              </a:lnSpc>
              <a:buNone/>
            </a:pPr>
            <a:r>
              <a:rPr lang="en-US" sz="3400" b="1" dirty="0">
                <a:solidFill>
                  <a:srgbClr val="FFFFFF"/>
                </a:solidFill>
                <a:latin typeface="Trenda IG Display" pitchFamily="34" charset="0"/>
                <a:ea typeface="Trenda IG Display" pitchFamily="34" charset="-122"/>
                <a:cs typeface="Trenda IG Display" pitchFamily="34" charset="-120"/>
              </a:rPr>
              <a:t>Stop making the queue faster.</a:t>
            </a:r>
            <a:endParaRPr lang="en-US" sz="3400" dirty="0"/>
          </a:p>
          <a:p>
            <a:pPr indent="0" marL="0">
              <a:lnSpc>
                <a:spcPts val="4200"/>
              </a:lnSpc>
              <a:buNone/>
            </a:pPr>
            <a:r>
              <a:rPr lang="en-US" sz="3400" b="1" dirty="0">
                <a:solidFill>
                  <a:srgbClr val="FFFFFF"/>
                </a:solidFill>
                <a:latin typeface="Trenda IG Display" pitchFamily="34" charset="0"/>
                <a:ea typeface="Trenda IG Display" pitchFamily="34" charset="-122"/>
                <a:cs typeface="Trenda IG Display" pitchFamily="34" charset="-120"/>
              </a:rPr>
              <a:t>Make it smaller.</a:t>
            </a:r>
            <a:endParaRPr lang="en-US" sz="3400" dirty="0"/>
          </a:p>
        </p:txBody>
      </p:sp>
      <p:sp>
        <p:nvSpPr>
          <p:cNvPr id="11" name="Text 8"/>
          <p:cNvSpPr txBox="1"/>
          <p:nvPr/>
        </p:nvSpPr>
        <p:spPr>
          <a:xfrm>
            <a:off x="502920" y="4590288"/>
            <a:ext cx="7772400" cy="640080"/>
          </a:xfrm>
          <a:prstGeom prst="rect">
            <a:avLst/>
          </a:prstGeom>
          <a:noFill/>
          <a:ln/>
        </p:spPr>
        <p:txBody>
          <a:bodyPr wrap="square" lIns="0" tIns="0" rIns="0" bIns="0" rtlCol="0" anchor="t"/>
          <a:lstStyle/>
          <a:p>
            <a:pPr indent="0" marL="0">
              <a:lnSpc>
                <a:spcPts val="1800"/>
              </a:lnSpc>
              <a:buNone/>
            </a:pPr>
            <a:r>
              <a:rPr lang="en-US" sz="1250" dirty="0">
                <a:solidFill>
                  <a:srgbClr val="8A94A6"/>
                </a:solidFill>
                <a:latin typeface="Trenda IG Text" pitchFamily="34" charset="0"/>
                <a:ea typeface="Trenda IG Text" pitchFamily="34" charset="-122"/>
                <a:cs typeface="Trenda IG Text" pitchFamily="34" charset="-120"/>
              </a:rPr>
              <a:t>A quarter of the volume resolved without an agent. Most of the rest arriving pre-resolved. The cases that genuinely need judgement getting more of it, not less.</a:t>
            </a:r>
            <a:endParaRPr lang="en-US" sz="1250" dirty="0"/>
          </a:p>
        </p:txBody>
      </p:sp>
      <p:sp>
        <p:nvSpPr>
          <p:cNvPr id="12" name="Text 9"/>
          <p:cNvSpPr txBox="1"/>
          <p:nvPr/>
        </p:nvSpPr>
        <p:spPr>
          <a:xfrm>
            <a:off x="502920" y="5961888"/>
            <a:ext cx="5486400" cy="292608"/>
          </a:xfrm>
          <a:prstGeom prst="rect">
            <a:avLst/>
          </a:prstGeom>
          <a:noFill/>
          <a:ln/>
        </p:spPr>
        <p:txBody>
          <a:bodyPr wrap="square" lIns="0" tIns="0" rIns="0" bIns="0" rtlCol="0" anchor="ctr"/>
          <a:lstStyle/>
          <a:p>
            <a:pPr indent="0" marL="0">
              <a:buNone/>
            </a:pPr>
            <a:r>
              <a:rPr lang="en-US" sz="1300" b="1" dirty="0">
                <a:solidFill>
                  <a:srgbClr val="E6EAF2"/>
                </a:solidFill>
                <a:latin typeface="Trenda IG Display" pitchFamily="34" charset="0"/>
                <a:ea typeface="Trenda IG Display" pitchFamily="34" charset="-122"/>
                <a:cs typeface="Trenda IG Display" pitchFamily="34" charset="-120"/>
              </a:rPr>
              <a:t>Thank you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Insight 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Case Management: The Four Doors</dc:title>
  <dc:subject>PptxGenJS Presentation</dc:subject>
  <dc:creator>Insight Global</dc:creator>
  <cp:lastModifiedBy>Insight Global</cp:lastModifiedBy>
  <cp:revision>1</cp:revision>
  <dcterms:created xsi:type="dcterms:W3CDTF">2026-09-15T09:57:44Z</dcterms:created>
  <dcterms:modified xsi:type="dcterms:W3CDTF">2026-09-15T09:57:44Z</dcterms:modified>
</cp:coreProperties>
</file>