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318" r:id="rId2"/>
    <p:sldId id="256" r:id="rId3"/>
    <p:sldId id="321" r:id="rId4"/>
    <p:sldId id="322" r:id="rId5"/>
    <p:sldId id="323" r:id="rId6"/>
    <p:sldId id="324" r:id="rId7"/>
    <p:sldId id="257" r:id="rId8"/>
    <p:sldId id="258"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A915F8-C8DA-467C-B5A4-990BA1708FE0}" v="3" dt="2026-09-11T13:36:53.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Chinta" userId="41ee6f01-053e-4268-a09b-364f54be2fbe" providerId="ADAL" clId="{E5143D04-8900-4457-BE49-945FECC57414}"/>
    <pc:docChg chg="custSel addSld delSld modSld sldOrd">
      <pc:chgData name="Surya Chinta" userId="41ee6f01-053e-4268-a09b-364f54be2fbe" providerId="ADAL" clId="{E5143D04-8900-4457-BE49-945FECC57414}" dt="2026-09-11T13:36:13.059" v="56"/>
      <pc:docMkLst>
        <pc:docMk/>
      </pc:docMkLst>
      <pc:sldChg chg="ord">
        <pc:chgData name="Surya Chinta" userId="41ee6f01-053e-4268-a09b-364f54be2fbe" providerId="ADAL" clId="{E5143D04-8900-4457-BE49-945FECC57414}" dt="2026-09-11T13:36:13.059" v="56"/>
        <pc:sldMkLst>
          <pc:docMk/>
          <pc:sldMk cId="0" sldId="258"/>
        </pc:sldMkLst>
      </pc:sldChg>
      <pc:sldChg chg="modSp del mod">
        <pc:chgData name="Surya Chinta" userId="41ee6f01-053e-4268-a09b-364f54be2fbe" providerId="ADAL" clId="{E5143D04-8900-4457-BE49-945FECC57414}" dt="2026-09-11T13:35:29.686" v="49" actId="47"/>
        <pc:sldMkLst>
          <pc:docMk/>
          <pc:sldMk cId="0" sldId="259"/>
        </pc:sldMkLst>
      </pc:sldChg>
      <pc:sldChg chg="del">
        <pc:chgData name="Surya Chinta" userId="41ee6f01-053e-4268-a09b-364f54be2fbe" providerId="ADAL" clId="{E5143D04-8900-4457-BE49-945FECC57414}" dt="2026-09-11T13:35:29.686" v="49" actId="47"/>
        <pc:sldMkLst>
          <pc:docMk/>
          <pc:sldMk cId="0" sldId="260"/>
        </pc:sldMkLst>
      </pc:sldChg>
      <pc:sldChg chg="del">
        <pc:chgData name="Surya Chinta" userId="41ee6f01-053e-4268-a09b-364f54be2fbe" providerId="ADAL" clId="{E5143D04-8900-4457-BE49-945FECC57414}" dt="2026-09-11T13:35:29.686" v="49" actId="47"/>
        <pc:sldMkLst>
          <pc:docMk/>
          <pc:sldMk cId="0" sldId="261"/>
        </pc:sldMkLst>
      </pc:sldChg>
      <pc:sldChg chg="del">
        <pc:chgData name="Surya Chinta" userId="41ee6f01-053e-4268-a09b-364f54be2fbe" providerId="ADAL" clId="{E5143D04-8900-4457-BE49-945FECC57414}" dt="2026-09-11T13:35:29.686" v="49" actId="47"/>
        <pc:sldMkLst>
          <pc:docMk/>
          <pc:sldMk cId="0" sldId="262"/>
        </pc:sldMkLst>
      </pc:sldChg>
      <pc:sldChg chg="modSp add mod">
        <pc:chgData name="Surya Chinta" userId="41ee6f01-053e-4268-a09b-364f54be2fbe" providerId="ADAL" clId="{E5143D04-8900-4457-BE49-945FECC57414}" dt="2026-09-09T12:54:57.107" v="48" actId="27636"/>
        <pc:sldMkLst>
          <pc:docMk/>
          <pc:sldMk cId="3603168410" sldId="318"/>
        </pc:sldMkLst>
        <pc:spChg chg="mod">
          <ac:chgData name="Surya Chinta" userId="41ee6f01-053e-4268-a09b-364f54be2fbe" providerId="ADAL" clId="{E5143D04-8900-4457-BE49-945FECC57414}" dt="2026-09-09T12:54:57.107" v="48" actId="27636"/>
          <ac:spMkLst>
            <pc:docMk/>
            <pc:sldMk cId="3603168410" sldId="318"/>
            <ac:spMk id="2" creationId="{4EA92DF6-3BED-B26E-DE34-1D5A049BE760}"/>
          </ac:spMkLst>
        </pc:spChg>
      </pc:sldChg>
      <pc:sldChg chg="add del">
        <pc:chgData name="Surya Chinta" userId="41ee6f01-053e-4268-a09b-364f54be2fbe" providerId="ADAL" clId="{E5143D04-8900-4457-BE49-945FECC57414}" dt="2026-09-11T13:35:47.691" v="51" actId="47"/>
        <pc:sldMkLst>
          <pc:docMk/>
          <pc:sldMk cId="2518706385" sldId="319"/>
        </pc:sldMkLst>
      </pc:sldChg>
      <pc:sldChg chg="add del setBg">
        <pc:chgData name="Surya Chinta" userId="41ee6f01-053e-4268-a09b-364f54be2fbe" providerId="ADAL" clId="{E5143D04-8900-4457-BE49-945FECC57414}" dt="2026-09-11T13:36:03.202" v="54" actId="47"/>
        <pc:sldMkLst>
          <pc:docMk/>
          <pc:sldMk cId="0" sldId="320"/>
        </pc:sldMkLst>
      </pc:sldChg>
      <pc:sldChg chg="add">
        <pc:chgData name="Surya Chinta" userId="41ee6f01-053e-4268-a09b-364f54be2fbe" providerId="ADAL" clId="{E5143D04-8900-4457-BE49-945FECC57414}" dt="2026-09-11T13:35:38.796" v="50"/>
        <pc:sldMkLst>
          <pc:docMk/>
          <pc:sldMk cId="0" sldId="321"/>
        </pc:sldMkLst>
      </pc:sldChg>
      <pc:sldChg chg="add">
        <pc:chgData name="Surya Chinta" userId="41ee6f01-053e-4268-a09b-364f54be2fbe" providerId="ADAL" clId="{E5143D04-8900-4457-BE49-945FECC57414}" dt="2026-09-11T13:35:38.796" v="50"/>
        <pc:sldMkLst>
          <pc:docMk/>
          <pc:sldMk cId="0" sldId="322"/>
        </pc:sldMkLst>
      </pc:sldChg>
      <pc:sldChg chg="add">
        <pc:chgData name="Surya Chinta" userId="41ee6f01-053e-4268-a09b-364f54be2fbe" providerId="ADAL" clId="{E5143D04-8900-4457-BE49-945FECC57414}" dt="2026-09-11T13:35:38.796" v="50"/>
        <pc:sldMkLst>
          <pc:docMk/>
          <pc:sldMk cId="0" sldId="323"/>
        </pc:sldMkLst>
      </pc:sldChg>
      <pc:sldChg chg="add">
        <pc:chgData name="Surya Chinta" userId="41ee6f01-053e-4268-a09b-364f54be2fbe" providerId="ADAL" clId="{E5143D04-8900-4457-BE49-945FECC57414}" dt="2026-09-11T13:35:38.796" v="50"/>
        <pc:sldMkLst>
          <pc:docMk/>
          <pc:sldMk cId="0" sldId="3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High-level view. Six systems of record feed one Engineering Context Knowledge Graph. Codex sits on the left as the way people ask questions; it queries the graph rather than scanning the org, so retrieval is deterministic and repeatable. The graph returns verified facts, Codex turns them into an impact analysis, reuse recommendation and change plan, and delivery stays governed by risk-routed human approval.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End-to-end architecture with explicit connectivity. Six systems of record are read by dedicated read-only connectors (each with its own auth: OAuth 2.0 3LO, PAT, Connected App JWT bearer, SSH deploy key, client credentials, API token). Each connector emits a SourceArtifact of bytes plus metadata and a SHA-256 hash. Per-source ingestors parse those artifacts into the NetworkServicesContext domain model. That model is persisted as vendor-neutral JSON, then exported into typed nodes and relationships. The graph engine loads it in memory; the adapter API exposes typed queries; Codex reasons over bounded graph slices and returns an ImpactAnalysis and ChangePlan. Delivery stays governed: risk-routed human approval, CAB, and production owned by people.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knowledge graph layer. Six systems contribute facts; the graph stores typed nodes and typed relationships so that impact, reuse and risk become traversals rather than guesses. Codex calls the adapter, receives a verified slice, and only then writes code, to DEV and a branch, after approval.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0.png"/><Relationship Id="rId1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9.png"/><Relationship Id="rId17" Type="http://schemas.openxmlformats.org/officeDocument/2006/relationships/image" Target="../media/image22.png"/><Relationship Id="rId2" Type="http://schemas.openxmlformats.org/officeDocument/2006/relationships/notesSlide" Target="../notesSlides/notesSlide2.xml"/><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image" Target="../media/image17.png"/><Relationship Id="rId19" Type="http://schemas.openxmlformats.org/officeDocument/2006/relationships/image" Target="../media/image23.png"/><Relationship Id="rId4" Type="http://schemas.openxmlformats.org/officeDocument/2006/relationships/image" Target="../media/image4.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fontScale="90000"/>
          </a:bodyPr>
          <a:lstStyle/>
          <a:p>
            <a:r>
              <a:rPr lang="en-US" sz="4200" cap="all" dirty="0">
                <a:latin typeface="Trenda IG Text Semibold"/>
              </a:rPr>
              <a:t> Ascension Network Services Knowledge Graph</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kern="1200" dirty="0">
                <a:solidFill>
                  <a:srgbClr val="B8BEC6"/>
                </a:solidFill>
                <a:latin typeface="Trenda IG Text"/>
                <a:ea typeface="Calibri"/>
                <a:cs typeface="Calibri"/>
              </a:rPr>
              <a:t>An intelligent, human-approved pipeline that turns tickets into reviewed, tested, deployable Salesforce changes</a:t>
            </a:r>
          </a:p>
          <a:p>
            <a:pPr algn="l">
              <a:spcAft>
                <a:spcPts val="600"/>
              </a:spcAft>
            </a:pPr>
            <a:endParaRPr lang="en-US" b="0" i="0" dirty="0">
              <a:latin typeface="Trenda IG Text" pitchFamily="2" charset="77"/>
            </a:endParaRP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dirty="0">
                <a:solidFill>
                  <a:srgbClr val="00D6F1"/>
                </a:solidFill>
                <a:latin typeface="Trenda IG Text Semibold"/>
                <a:ea typeface="Calibri"/>
                <a:cs typeface="Calibri"/>
              </a:rPr>
              <a:t>AI-DRIVEN DELIVERY AUTOMATION</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2697480" y="146304"/>
            <a:ext cx="6793992" cy="731520"/>
          </a:xfrm>
          <a:prstGeom prst="roundRect">
            <a:avLst>
              <a:gd name="adj" fmla="val 7500"/>
            </a:avLst>
          </a:prstGeom>
          <a:solidFill>
            <a:srgbClr val="0E1B2E"/>
          </a:solidFill>
          <a:ln w="12700">
            <a:solidFill>
              <a:srgbClr val="0E1B2E"/>
            </a:solidFill>
            <a:prstDash val="solid"/>
          </a:ln>
        </p:spPr>
        <p:txBody>
          <a:bodyPr/>
          <a:lstStyle/>
          <a:p>
            <a:endParaRPr lang="en-IN"/>
          </a:p>
        </p:txBody>
      </p:sp>
      <p:sp>
        <p:nvSpPr>
          <p:cNvPr id="3" name="Text 1"/>
          <p:cNvSpPr txBox="1"/>
          <p:nvPr/>
        </p:nvSpPr>
        <p:spPr>
          <a:xfrm>
            <a:off x="2743200" y="201168"/>
            <a:ext cx="6702552" cy="201168"/>
          </a:xfrm>
          <a:prstGeom prst="rect">
            <a:avLst/>
          </a:prstGeom>
          <a:noFill/>
          <a:ln/>
        </p:spPr>
        <p:txBody>
          <a:bodyPr wrap="square" lIns="0" tIns="0" rIns="0" bIns="0" rtlCol="0" anchor="ctr"/>
          <a:lstStyle/>
          <a:p>
            <a:pPr marL="0" indent="0" algn="ctr">
              <a:buNone/>
            </a:pPr>
            <a:r>
              <a:rPr lang="en-US" sz="1300" b="0" kern="0" spc="30" dirty="0">
                <a:solidFill>
                  <a:srgbClr val="FFFFFF"/>
                </a:solidFill>
                <a:latin typeface="Trenda IG Display Bold" pitchFamily="34" charset="0"/>
                <a:ea typeface="Trenda IG Display Bold" pitchFamily="34" charset="-122"/>
                <a:cs typeface="Trenda IG Display Bold" pitchFamily="34" charset="-120"/>
              </a:rPr>
              <a:t>ASCENSION NETWORK SERVICES</a:t>
            </a:r>
            <a:endParaRPr lang="en-US" sz="1300" dirty="0"/>
          </a:p>
        </p:txBody>
      </p:sp>
      <p:sp>
        <p:nvSpPr>
          <p:cNvPr id="4" name="Text 2"/>
          <p:cNvSpPr txBox="1"/>
          <p:nvPr/>
        </p:nvSpPr>
        <p:spPr>
          <a:xfrm>
            <a:off x="2743200" y="420624"/>
            <a:ext cx="6702552" cy="182880"/>
          </a:xfrm>
          <a:prstGeom prst="rect">
            <a:avLst/>
          </a:prstGeom>
          <a:noFill/>
          <a:ln/>
        </p:spPr>
        <p:txBody>
          <a:bodyPr wrap="square" lIns="0" tIns="0" rIns="0" bIns="0" rtlCol="0" anchor="ctr"/>
          <a:lstStyle/>
          <a:p>
            <a:pPr marL="0" indent="0" algn="ctr">
              <a:buNone/>
            </a:pPr>
            <a:r>
              <a:rPr lang="en-US" sz="1050" b="0" dirty="0">
                <a:solidFill>
                  <a:srgbClr val="5FD0E8"/>
                </a:solidFill>
                <a:latin typeface="Trenda IG Display Bold" pitchFamily="34" charset="0"/>
                <a:ea typeface="Trenda IG Display Bold" pitchFamily="34" charset="-122"/>
                <a:cs typeface="Trenda IG Display Bold" pitchFamily="34" charset="-120"/>
              </a:rPr>
              <a:t>Engineering Context Knowledge Graph Architecture</a:t>
            </a:r>
            <a:endParaRPr lang="en-US" sz="1050" dirty="0"/>
          </a:p>
        </p:txBody>
      </p:sp>
      <p:sp>
        <p:nvSpPr>
          <p:cNvPr id="5" name="Text 3"/>
          <p:cNvSpPr txBox="1"/>
          <p:nvPr/>
        </p:nvSpPr>
        <p:spPr>
          <a:xfrm>
            <a:off x="2743200" y="630936"/>
            <a:ext cx="6702552" cy="182880"/>
          </a:xfrm>
          <a:prstGeom prst="rect">
            <a:avLst/>
          </a:prstGeom>
          <a:noFill/>
          <a:ln/>
        </p:spPr>
        <p:txBody>
          <a:bodyPr wrap="square" lIns="0" tIns="0" rIns="0" bIns="0" rtlCol="0" anchor="ctr"/>
          <a:lstStyle/>
          <a:p>
            <a:pPr marL="0" indent="0" algn="ctr">
              <a:buNone/>
            </a:pPr>
            <a:r>
              <a:rPr lang="en-US" sz="750" dirty="0">
                <a:solidFill>
                  <a:srgbClr val="AEBED0"/>
                </a:solidFill>
                <a:latin typeface="Trenda IG Text" pitchFamily="34" charset="0"/>
                <a:ea typeface="Trenda IG Text" pitchFamily="34" charset="-122"/>
                <a:cs typeface="Trenda IG Text" pitchFamily="34" charset="-120"/>
              </a:rPr>
              <a:t>Six delivery systems, one knowledge graph, one place Codex checks before anything is built</a:t>
            </a:r>
            <a:endParaRPr lang="en-US" sz="750" dirty="0"/>
          </a:p>
        </p:txBody>
      </p:sp>
      <p:sp>
        <p:nvSpPr>
          <p:cNvPr id="6" name="Text 4"/>
          <p:cNvSpPr txBox="1"/>
          <p:nvPr/>
        </p:nvSpPr>
        <p:spPr>
          <a:xfrm>
            <a:off x="384048" y="932688"/>
            <a:ext cx="4572000" cy="146304"/>
          </a:xfrm>
          <a:prstGeom prst="rect">
            <a:avLst/>
          </a:prstGeom>
          <a:noFill/>
          <a:ln/>
        </p:spPr>
        <p:txBody>
          <a:bodyPr wrap="square" lIns="0" tIns="0" rIns="0" bIns="0" rtlCol="0" anchor="ctr"/>
          <a:lstStyle/>
          <a:p>
            <a:pPr marL="0" indent="0">
              <a:buNone/>
            </a:pPr>
            <a:r>
              <a:rPr lang="en-US" sz="700" b="0" kern="0" spc="30" dirty="0">
                <a:solidFill>
                  <a:srgbClr val="5C6E85"/>
                </a:solidFill>
                <a:latin typeface="Trenda IG Text Semibold" pitchFamily="34" charset="0"/>
                <a:ea typeface="Trenda IG Text Semibold" pitchFamily="34" charset="-122"/>
                <a:cs typeface="Trenda IG Text Semibold" pitchFamily="34" charset="-120"/>
              </a:rPr>
              <a:t>SYSTEMS OF RECORD  ·  authority never moves</a:t>
            </a:r>
            <a:endParaRPr lang="en-US" sz="700" dirty="0"/>
          </a:p>
        </p:txBody>
      </p:sp>
      <p:sp>
        <p:nvSpPr>
          <p:cNvPr id="7" name="Shape 5"/>
          <p:cNvSpPr/>
          <p:nvPr/>
        </p:nvSpPr>
        <p:spPr>
          <a:xfrm>
            <a:off x="384048"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493776" y="1207008"/>
            <a:ext cx="155448" cy="155448"/>
          </a:xfrm>
          <a:prstGeom prst="rect">
            <a:avLst/>
          </a:prstGeom>
        </p:spPr>
      </p:pic>
      <p:sp>
        <p:nvSpPr>
          <p:cNvPr id="9" name="Text 6"/>
          <p:cNvSpPr txBox="1"/>
          <p:nvPr/>
        </p:nvSpPr>
        <p:spPr>
          <a:xfrm>
            <a:off x="704088"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Jira</a:t>
            </a:r>
            <a:endParaRPr lang="en-US" sz="850" dirty="0"/>
          </a:p>
        </p:txBody>
      </p:sp>
      <p:sp>
        <p:nvSpPr>
          <p:cNvPr id="10" name="Text 7"/>
          <p:cNvSpPr txBox="1"/>
          <p:nvPr/>
        </p:nvSpPr>
        <p:spPr>
          <a:xfrm>
            <a:off x="493776"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Requirements, acceptance criteria, history</a:t>
            </a:r>
            <a:endParaRPr lang="en-US" sz="650" dirty="0"/>
          </a:p>
        </p:txBody>
      </p:sp>
      <p:sp>
        <p:nvSpPr>
          <p:cNvPr id="12" name="Shape 9"/>
          <p:cNvSpPr/>
          <p:nvPr/>
        </p:nvSpPr>
        <p:spPr>
          <a:xfrm>
            <a:off x="2308860"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13" name="Image 1" descr="preencoded.png"/>
          <p:cNvPicPr>
            <a:picLocks noChangeAspect="1"/>
          </p:cNvPicPr>
          <p:nvPr/>
        </p:nvPicPr>
        <p:blipFill>
          <a:blip r:embed="rId4"/>
          <a:stretch>
            <a:fillRect/>
          </a:stretch>
        </p:blipFill>
        <p:spPr>
          <a:xfrm>
            <a:off x="2418588" y="1207008"/>
            <a:ext cx="155448" cy="155448"/>
          </a:xfrm>
          <a:prstGeom prst="rect">
            <a:avLst/>
          </a:prstGeom>
        </p:spPr>
      </p:pic>
      <p:sp>
        <p:nvSpPr>
          <p:cNvPr id="14" name="Text 10"/>
          <p:cNvSpPr txBox="1"/>
          <p:nvPr/>
        </p:nvSpPr>
        <p:spPr>
          <a:xfrm>
            <a:off x="2628900"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Confluence</a:t>
            </a:r>
            <a:endParaRPr lang="en-US" sz="850" dirty="0"/>
          </a:p>
        </p:txBody>
      </p:sp>
      <p:sp>
        <p:nvSpPr>
          <p:cNvPr id="15" name="Text 11"/>
          <p:cNvSpPr txBox="1"/>
          <p:nvPr/>
        </p:nvSpPr>
        <p:spPr>
          <a:xfrm>
            <a:off x="2418588"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Functional &amp; technical design, business rules</a:t>
            </a:r>
            <a:endParaRPr lang="en-US" sz="650" dirty="0"/>
          </a:p>
        </p:txBody>
      </p:sp>
      <p:sp>
        <p:nvSpPr>
          <p:cNvPr id="17" name="Shape 13"/>
          <p:cNvSpPr/>
          <p:nvPr/>
        </p:nvSpPr>
        <p:spPr>
          <a:xfrm>
            <a:off x="4233672"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18" name="Image 2" descr="preencoded.png"/>
          <p:cNvPicPr>
            <a:picLocks noChangeAspect="1"/>
          </p:cNvPicPr>
          <p:nvPr/>
        </p:nvPicPr>
        <p:blipFill>
          <a:blip r:embed="rId5"/>
          <a:stretch>
            <a:fillRect/>
          </a:stretch>
        </p:blipFill>
        <p:spPr>
          <a:xfrm>
            <a:off x="4343400" y="1207008"/>
            <a:ext cx="155448" cy="155448"/>
          </a:xfrm>
          <a:prstGeom prst="rect">
            <a:avLst/>
          </a:prstGeom>
        </p:spPr>
      </p:pic>
      <p:sp>
        <p:nvSpPr>
          <p:cNvPr id="19" name="Text 14"/>
          <p:cNvSpPr txBox="1"/>
          <p:nvPr/>
        </p:nvSpPr>
        <p:spPr>
          <a:xfrm>
            <a:off x="4553712"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Salesforce</a:t>
            </a:r>
            <a:endParaRPr lang="en-US" sz="850" dirty="0"/>
          </a:p>
        </p:txBody>
      </p:sp>
      <p:sp>
        <p:nvSpPr>
          <p:cNvPr id="20" name="Text 15"/>
          <p:cNvSpPr txBox="1"/>
          <p:nvPr/>
        </p:nvSpPr>
        <p:spPr>
          <a:xfrm>
            <a:off x="4343400"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Objects, fields, Flows, Apex dependencies</a:t>
            </a:r>
            <a:endParaRPr lang="en-US" sz="650" dirty="0"/>
          </a:p>
        </p:txBody>
      </p:sp>
      <p:sp>
        <p:nvSpPr>
          <p:cNvPr id="22" name="Shape 17"/>
          <p:cNvSpPr/>
          <p:nvPr/>
        </p:nvSpPr>
        <p:spPr>
          <a:xfrm>
            <a:off x="6158484"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6268212" y="1207008"/>
            <a:ext cx="155448" cy="155448"/>
          </a:xfrm>
          <a:prstGeom prst="rect">
            <a:avLst/>
          </a:prstGeom>
        </p:spPr>
      </p:pic>
      <p:sp>
        <p:nvSpPr>
          <p:cNvPr id="24" name="Text 18"/>
          <p:cNvSpPr txBox="1"/>
          <p:nvPr/>
        </p:nvSpPr>
        <p:spPr>
          <a:xfrm>
            <a:off x="6478524"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Git</a:t>
            </a:r>
            <a:endParaRPr lang="en-US" sz="850" dirty="0"/>
          </a:p>
        </p:txBody>
      </p:sp>
      <p:sp>
        <p:nvSpPr>
          <p:cNvPr id="25" name="Text 19"/>
          <p:cNvSpPr txBox="1"/>
          <p:nvPr/>
        </p:nvSpPr>
        <p:spPr>
          <a:xfrm>
            <a:off x="6268212"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Apex, LWC, metadata, unit tests</a:t>
            </a:r>
            <a:endParaRPr lang="en-US" sz="650" dirty="0"/>
          </a:p>
        </p:txBody>
      </p:sp>
      <p:sp>
        <p:nvSpPr>
          <p:cNvPr id="27" name="Shape 21"/>
          <p:cNvSpPr/>
          <p:nvPr/>
        </p:nvSpPr>
        <p:spPr>
          <a:xfrm>
            <a:off x="8083296"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8193024" y="1207008"/>
            <a:ext cx="155448" cy="155448"/>
          </a:xfrm>
          <a:prstGeom prst="rect">
            <a:avLst/>
          </a:prstGeom>
        </p:spPr>
      </p:pic>
      <p:sp>
        <p:nvSpPr>
          <p:cNvPr id="29" name="Text 22"/>
          <p:cNvSpPr txBox="1"/>
          <p:nvPr/>
        </p:nvSpPr>
        <p:spPr>
          <a:xfrm>
            <a:off x="8403336"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Copado</a:t>
            </a:r>
            <a:endParaRPr lang="en-US" sz="850" dirty="0"/>
          </a:p>
        </p:txBody>
      </p:sp>
      <p:sp>
        <p:nvSpPr>
          <p:cNvPr id="30" name="Text 23"/>
          <p:cNvSpPr txBox="1"/>
          <p:nvPr/>
        </p:nvSpPr>
        <p:spPr>
          <a:xfrm>
            <a:off x="8193024"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Releases, robotic &amp; regression testing</a:t>
            </a:r>
            <a:endParaRPr lang="en-US" sz="650" dirty="0"/>
          </a:p>
        </p:txBody>
      </p:sp>
      <p:sp>
        <p:nvSpPr>
          <p:cNvPr id="32" name="Shape 25"/>
          <p:cNvSpPr/>
          <p:nvPr/>
        </p:nvSpPr>
        <p:spPr>
          <a:xfrm>
            <a:off x="10008108"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33" name="Image 5" descr="preencoded.png"/>
          <p:cNvPicPr>
            <a:picLocks noChangeAspect="1"/>
          </p:cNvPicPr>
          <p:nvPr/>
        </p:nvPicPr>
        <p:blipFill>
          <a:blip r:embed="rId8"/>
          <a:stretch>
            <a:fillRect/>
          </a:stretch>
        </p:blipFill>
        <p:spPr>
          <a:xfrm>
            <a:off x="10117836" y="1207008"/>
            <a:ext cx="155448" cy="155448"/>
          </a:xfrm>
          <a:prstGeom prst="rect">
            <a:avLst/>
          </a:prstGeom>
        </p:spPr>
      </p:pic>
      <p:sp>
        <p:nvSpPr>
          <p:cNvPr id="34" name="Text 26"/>
          <p:cNvSpPr txBox="1"/>
          <p:nvPr/>
        </p:nvSpPr>
        <p:spPr>
          <a:xfrm>
            <a:off x="10328148"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Google Drive</a:t>
            </a:r>
            <a:endParaRPr lang="en-US" sz="850" dirty="0"/>
          </a:p>
        </p:txBody>
      </p:sp>
      <p:sp>
        <p:nvSpPr>
          <p:cNvPr id="35" name="Text 27"/>
          <p:cNvSpPr txBox="1"/>
          <p:nvPr/>
        </p:nvSpPr>
        <p:spPr>
          <a:xfrm>
            <a:off x="10117836"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Specs, mapping sheets, evidence exports</a:t>
            </a:r>
            <a:endParaRPr lang="en-US" sz="650" dirty="0"/>
          </a:p>
        </p:txBody>
      </p:sp>
      <p:sp>
        <p:nvSpPr>
          <p:cNvPr id="37" name="Text 29"/>
          <p:cNvSpPr txBox="1"/>
          <p:nvPr/>
        </p:nvSpPr>
        <p:spPr>
          <a:xfrm>
            <a:off x="7315200" y="932688"/>
            <a:ext cx="4489704" cy="146304"/>
          </a:xfrm>
          <a:prstGeom prst="rect">
            <a:avLst/>
          </a:prstGeom>
          <a:noFill/>
          <a:ln/>
        </p:spPr>
        <p:txBody>
          <a:bodyPr wrap="square" lIns="0" tIns="0" rIns="0" bIns="0" rtlCol="0" anchor="ctr"/>
          <a:lstStyle/>
          <a:p>
            <a:pPr marL="0" indent="0" algn="r">
              <a:buNone/>
            </a:pPr>
            <a:r>
              <a:rPr lang="en-US" sz="650" i="1" dirty="0">
                <a:solidFill>
                  <a:srgbClr val="5C6E85"/>
                </a:solidFill>
                <a:latin typeface="Trenda IG Text" pitchFamily="34" charset="0"/>
                <a:ea typeface="Trenda IG Text" pitchFamily="34" charset="-122"/>
                <a:cs typeface="Trenda IG Text" pitchFamily="34" charset="-120"/>
              </a:rPr>
              <a:t>read-only connectors  ·  hashed  ·  provenance-tagged</a:t>
            </a:r>
            <a:endParaRPr lang="en-US" sz="650" dirty="0"/>
          </a:p>
        </p:txBody>
      </p:sp>
      <p:sp>
        <p:nvSpPr>
          <p:cNvPr id="38" name="Shape 30"/>
          <p:cNvSpPr/>
          <p:nvPr/>
        </p:nvSpPr>
        <p:spPr>
          <a:xfrm>
            <a:off x="384048" y="2121408"/>
            <a:ext cx="2487168" cy="2304288"/>
          </a:xfrm>
          <a:prstGeom prst="roundRect">
            <a:avLst>
              <a:gd name="adj" fmla="val 2381"/>
            </a:avLst>
          </a:prstGeom>
          <a:solidFill>
            <a:srgbClr val="FDF1DE"/>
          </a:solidFill>
          <a:ln w="15875">
            <a:solidFill>
              <a:srgbClr val="C77400"/>
            </a:solidFill>
            <a:prstDash val="solid"/>
          </a:ln>
        </p:spPr>
        <p:txBody>
          <a:bodyPr/>
          <a:lstStyle/>
          <a:p>
            <a:endParaRPr lang="en-IN"/>
          </a:p>
        </p:txBody>
      </p:sp>
      <p:pic>
        <p:nvPicPr>
          <p:cNvPr id="39" name="Image 6" descr="preencoded.png"/>
          <p:cNvPicPr>
            <a:picLocks noChangeAspect="1"/>
          </p:cNvPicPr>
          <p:nvPr/>
        </p:nvPicPr>
        <p:blipFill>
          <a:blip r:embed="rId9"/>
          <a:stretch>
            <a:fillRect/>
          </a:stretch>
        </p:blipFill>
        <p:spPr>
          <a:xfrm>
            <a:off x="530352" y="2231136"/>
            <a:ext cx="182880" cy="182880"/>
          </a:xfrm>
          <a:prstGeom prst="rect">
            <a:avLst/>
          </a:prstGeom>
        </p:spPr>
      </p:pic>
      <p:sp>
        <p:nvSpPr>
          <p:cNvPr id="40" name="Text 31"/>
          <p:cNvSpPr txBox="1"/>
          <p:nvPr/>
        </p:nvSpPr>
        <p:spPr>
          <a:xfrm>
            <a:off x="777240" y="2221992"/>
            <a:ext cx="2011680" cy="201168"/>
          </a:xfrm>
          <a:prstGeom prst="rect">
            <a:avLst/>
          </a:prstGeom>
          <a:noFill/>
          <a:ln/>
        </p:spPr>
        <p:txBody>
          <a:bodyPr wrap="square" lIns="0" tIns="0" rIns="0" bIns="0" rtlCol="0" anchor="ctr"/>
          <a:lstStyle/>
          <a:p>
            <a:pPr marL="0" indent="0">
              <a:buNone/>
            </a:pPr>
            <a:r>
              <a:rPr lang="en-US" sz="1100" b="0" kern="0" spc="30" dirty="0">
                <a:solidFill>
                  <a:srgbClr val="9A5A00"/>
                </a:solidFill>
                <a:latin typeface="Trenda IG Display Bold" pitchFamily="34" charset="0"/>
                <a:ea typeface="Trenda IG Display Bold" pitchFamily="34" charset="-122"/>
                <a:cs typeface="Trenda IG Display Bold" pitchFamily="34" charset="-120"/>
              </a:rPr>
              <a:t>CODEX</a:t>
            </a:r>
            <a:endParaRPr lang="en-US" sz="1100" dirty="0"/>
          </a:p>
        </p:txBody>
      </p:sp>
      <p:sp>
        <p:nvSpPr>
          <p:cNvPr id="41" name="Text 32"/>
          <p:cNvSpPr txBox="1"/>
          <p:nvPr/>
        </p:nvSpPr>
        <p:spPr>
          <a:xfrm>
            <a:off x="530352" y="2432304"/>
            <a:ext cx="2212848" cy="146304"/>
          </a:xfrm>
          <a:prstGeom prst="rect">
            <a:avLst/>
          </a:prstGeom>
          <a:noFill/>
          <a:ln/>
        </p:spPr>
        <p:txBody>
          <a:bodyPr wrap="square" lIns="0" tIns="0" rIns="0" bIns="0" rtlCol="0" anchor="ctr"/>
          <a:lstStyle/>
          <a:p>
            <a:pPr marL="0" indent="0">
              <a:buNone/>
            </a:pPr>
            <a:r>
              <a:rPr lang="en-US" sz="650" i="1" dirty="0">
                <a:solidFill>
                  <a:srgbClr val="9A5A00"/>
                </a:solidFill>
                <a:latin typeface="Trenda IG Text" pitchFamily="34" charset="0"/>
                <a:ea typeface="Trenda IG Text" pitchFamily="34" charset="-122"/>
                <a:cs typeface="Trenda IG Text" pitchFamily="34" charset="-120"/>
              </a:rPr>
              <a:t>AI reasoning layer · the way people ask</a:t>
            </a:r>
            <a:endParaRPr lang="en-US" sz="650" dirty="0"/>
          </a:p>
        </p:txBody>
      </p:sp>
      <p:sp>
        <p:nvSpPr>
          <p:cNvPr id="42" name="Text 33"/>
          <p:cNvSpPr txBox="1"/>
          <p:nvPr/>
        </p:nvSpPr>
        <p:spPr>
          <a:xfrm>
            <a:off x="548640" y="2633472"/>
            <a:ext cx="2194560" cy="1005840"/>
          </a:xfrm>
          <a:prstGeom prst="rect">
            <a:avLst/>
          </a:prstGeom>
          <a:noFill/>
          <a:ln/>
        </p:spPr>
        <p:txBody>
          <a:bodyPr wrap="square" lIns="0" tIns="0" rIns="0" bIns="0" rtlCol="0" anchor="t"/>
          <a:lstStyle/>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Requirement understanding</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Architecture reasoning</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Reuse detection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Impact analysis</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Risk classification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Build orchestration</a:t>
            </a:r>
            <a:endParaRPr lang="en-US" sz="750" dirty="0"/>
          </a:p>
        </p:txBody>
      </p:sp>
      <p:sp>
        <p:nvSpPr>
          <p:cNvPr id="43" name="Shape 34"/>
          <p:cNvSpPr/>
          <p:nvPr/>
        </p:nvSpPr>
        <p:spPr>
          <a:xfrm>
            <a:off x="530352" y="3730752"/>
            <a:ext cx="2194560" cy="566928"/>
          </a:xfrm>
          <a:prstGeom prst="roundRect">
            <a:avLst>
              <a:gd name="adj" fmla="val 6452"/>
            </a:avLst>
          </a:prstGeom>
          <a:solidFill>
            <a:srgbClr val="C77400"/>
          </a:solidFill>
          <a:ln w="12700">
            <a:solidFill>
              <a:srgbClr val="C77400"/>
            </a:solidFill>
            <a:prstDash val="solid"/>
          </a:ln>
        </p:spPr>
        <p:txBody>
          <a:bodyPr/>
          <a:lstStyle/>
          <a:p>
            <a:endParaRPr lang="en-IN"/>
          </a:p>
        </p:txBody>
      </p:sp>
      <p:sp>
        <p:nvSpPr>
          <p:cNvPr id="44" name="Text 35"/>
          <p:cNvSpPr txBox="1"/>
          <p:nvPr/>
        </p:nvSpPr>
        <p:spPr>
          <a:xfrm>
            <a:off x="603504" y="3785616"/>
            <a:ext cx="2048256" cy="457200"/>
          </a:xfrm>
          <a:prstGeom prst="rect">
            <a:avLst/>
          </a:prstGeom>
          <a:noFill/>
          <a:ln/>
        </p:spPr>
        <p:txBody>
          <a:bodyPr wrap="square" lIns="0" tIns="0" rIns="0" bIns="0" rtlCol="0" anchor="t"/>
          <a:lstStyle/>
          <a:p>
            <a:pPr marL="0" indent="0">
              <a:lnSpc>
                <a:spcPct val="95000"/>
              </a:lnSpc>
              <a:buNone/>
            </a:pPr>
            <a:r>
              <a:rPr lang="en-US" sz="680" dirty="0">
                <a:solidFill>
                  <a:srgbClr val="FFFFFF"/>
                </a:solidFill>
                <a:latin typeface="Trenda IG Text" pitchFamily="34" charset="0"/>
                <a:ea typeface="Trenda IG Text" pitchFamily="34" charset="-122"/>
                <a:cs typeface="Trenda IG Text" pitchFamily="34" charset="-120"/>
              </a:rPr>
              <a:t>Codex asks the graph, it never scans the org, and never invents a dependency.</a:t>
            </a:r>
            <a:endParaRPr lang="en-US" sz="680" dirty="0"/>
          </a:p>
        </p:txBody>
      </p:sp>
      <p:sp>
        <p:nvSpPr>
          <p:cNvPr id="45" name="Shape 36"/>
          <p:cNvSpPr/>
          <p:nvPr/>
        </p:nvSpPr>
        <p:spPr>
          <a:xfrm>
            <a:off x="2944368" y="2990088"/>
            <a:ext cx="475488" cy="219456"/>
          </a:xfrm>
          <a:prstGeom prst="rightArrow">
            <a:avLst/>
          </a:prstGeom>
          <a:solidFill>
            <a:srgbClr val="9AA7B5"/>
          </a:solidFill>
          <a:ln w="12700">
            <a:solidFill>
              <a:srgbClr val="9AA7B5"/>
            </a:solidFill>
            <a:prstDash val="solid"/>
          </a:ln>
        </p:spPr>
        <p:txBody>
          <a:bodyPr/>
          <a:lstStyle/>
          <a:p>
            <a:endParaRPr lang="en-IN"/>
          </a:p>
        </p:txBody>
      </p:sp>
      <p:sp>
        <p:nvSpPr>
          <p:cNvPr id="46" name="Text 37"/>
          <p:cNvSpPr txBox="1"/>
          <p:nvPr/>
        </p:nvSpPr>
        <p:spPr>
          <a:xfrm>
            <a:off x="2871216" y="2798064"/>
            <a:ext cx="640080" cy="128016"/>
          </a:xfrm>
          <a:prstGeom prst="rect">
            <a:avLst/>
          </a:prstGeom>
          <a:noFill/>
          <a:ln/>
        </p:spPr>
        <p:txBody>
          <a:bodyPr wrap="square" lIns="0" tIns="0" rIns="0" bIns="0" rtlCol="0" anchor="ctr"/>
          <a:lstStyle/>
          <a:p>
            <a:pPr marL="0" indent="0" algn="ctr">
              <a:buNone/>
            </a:pPr>
            <a:r>
              <a:rPr lang="en-US" sz="600" b="0" dirty="0">
                <a:solidFill>
                  <a:srgbClr val="5C6E85"/>
                </a:solidFill>
                <a:latin typeface="Trenda IG Text Semibold" pitchFamily="34" charset="0"/>
                <a:ea typeface="Trenda IG Text Semibold" pitchFamily="34" charset="-122"/>
                <a:cs typeface="Trenda IG Text Semibold" pitchFamily="34" charset="-120"/>
              </a:rPr>
              <a:t>question</a:t>
            </a:r>
            <a:endParaRPr lang="en-US" sz="600" dirty="0"/>
          </a:p>
        </p:txBody>
      </p:sp>
      <p:sp>
        <p:nvSpPr>
          <p:cNvPr id="47" name="Shape 38"/>
          <p:cNvSpPr/>
          <p:nvPr/>
        </p:nvSpPr>
        <p:spPr>
          <a:xfrm>
            <a:off x="2944368" y="3419856"/>
            <a:ext cx="475488" cy="219456"/>
          </a:xfrm>
          <a:prstGeom prst="leftArrow">
            <a:avLst/>
          </a:prstGeom>
          <a:solidFill>
            <a:srgbClr val="9AA7B5"/>
          </a:solidFill>
          <a:ln w="12700">
            <a:solidFill>
              <a:srgbClr val="9AA7B5"/>
            </a:solidFill>
            <a:prstDash val="solid"/>
          </a:ln>
        </p:spPr>
        <p:txBody>
          <a:bodyPr/>
          <a:lstStyle/>
          <a:p>
            <a:endParaRPr lang="en-IN"/>
          </a:p>
        </p:txBody>
      </p:sp>
      <p:sp>
        <p:nvSpPr>
          <p:cNvPr id="48" name="Text 39"/>
          <p:cNvSpPr txBox="1"/>
          <p:nvPr/>
        </p:nvSpPr>
        <p:spPr>
          <a:xfrm>
            <a:off x="2834640" y="3657600"/>
            <a:ext cx="640080" cy="128016"/>
          </a:xfrm>
          <a:prstGeom prst="rect">
            <a:avLst/>
          </a:prstGeom>
          <a:noFill/>
          <a:ln/>
        </p:spPr>
        <p:txBody>
          <a:bodyPr wrap="square" lIns="0" tIns="0" rIns="0" bIns="0" rtlCol="0" anchor="ctr"/>
          <a:lstStyle/>
          <a:p>
            <a:pPr marL="0" indent="0" algn="ctr">
              <a:buNone/>
            </a:pPr>
            <a:r>
              <a:rPr lang="en-US" sz="550" b="0" dirty="0">
                <a:solidFill>
                  <a:srgbClr val="5C6E85"/>
                </a:solidFill>
                <a:latin typeface="Trenda IG Text Semibold" pitchFamily="34" charset="0"/>
                <a:ea typeface="Trenda IG Text Semibold" pitchFamily="34" charset="-122"/>
                <a:cs typeface="Trenda IG Text Semibold" pitchFamily="34" charset="-120"/>
              </a:rPr>
              <a:t>verified answer</a:t>
            </a:r>
            <a:endParaRPr lang="en-US" sz="550" dirty="0"/>
          </a:p>
        </p:txBody>
      </p:sp>
      <p:sp>
        <p:nvSpPr>
          <p:cNvPr id="49" name="Shape 40"/>
          <p:cNvSpPr/>
          <p:nvPr/>
        </p:nvSpPr>
        <p:spPr>
          <a:xfrm>
            <a:off x="3493008" y="2121408"/>
            <a:ext cx="5138928" cy="2304288"/>
          </a:xfrm>
          <a:prstGeom prst="roundRect">
            <a:avLst>
              <a:gd name="adj" fmla="val 2381"/>
            </a:avLst>
          </a:prstGeom>
          <a:solidFill>
            <a:srgbClr val="FFFFFF"/>
          </a:solidFill>
          <a:ln w="22225">
            <a:solidFill>
              <a:srgbClr val="1B6BC0"/>
            </a:solidFill>
            <a:prstDash val="solid"/>
          </a:ln>
        </p:spPr>
        <p:txBody>
          <a:bodyPr/>
          <a:lstStyle/>
          <a:p>
            <a:endParaRPr lang="en-IN"/>
          </a:p>
        </p:txBody>
      </p:sp>
      <p:pic>
        <p:nvPicPr>
          <p:cNvPr id="50" name="Image 7" descr="preencoded.png"/>
          <p:cNvPicPr>
            <a:picLocks noChangeAspect="1"/>
          </p:cNvPicPr>
          <p:nvPr/>
        </p:nvPicPr>
        <p:blipFill>
          <a:blip r:embed="rId10"/>
          <a:stretch>
            <a:fillRect/>
          </a:stretch>
        </p:blipFill>
        <p:spPr>
          <a:xfrm>
            <a:off x="3657600" y="2231136"/>
            <a:ext cx="182880" cy="182880"/>
          </a:xfrm>
          <a:prstGeom prst="rect">
            <a:avLst/>
          </a:prstGeom>
        </p:spPr>
      </p:pic>
      <p:sp>
        <p:nvSpPr>
          <p:cNvPr id="51" name="Text 41"/>
          <p:cNvSpPr txBox="1"/>
          <p:nvPr/>
        </p:nvSpPr>
        <p:spPr>
          <a:xfrm>
            <a:off x="3904488" y="2221992"/>
            <a:ext cx="4572000" cy="201168"/>
          </a:xfrm>
          <a:prstGeom prst="rect">
            <a:avLst/>
          </a:prstGeom>
          <a:noFill/>
          <a:ln/>
        </p:spPr>
        <p:txBody>
          <a:bodyPr wrap="square" lIns="0" tIns="0" rIns="0" bIns="0" rtlCol="0" anchor="ctr"/>
          <a:lstStyle/>
          <a:p>
            <a:pPr marL="0" indent="0">
              <a:buNone/>
            </a:pPr>
            <a:r>
              <a:rPr lang="en-US" sz="1100" b="0" kern="0" spc="20" dirty="0">
                <a:solidFill>
                  <a:srgbClr val="1B6BC0"/>
                </a:solidFill>
                <a:latin typeface="Trenda IG Display Bold" pitchFamily="34" charset="0"/>
                <a:ea typeface="Trenda IG Display Bold" pitchFamily="34" charset="-122"/>
                <a:cs typeface="Trenda IG Display Bold" pitchFamily="34" charset="-120"/>
              </a:rPr>
              <a:t>ENGINEERING CONTEXT KNOWLEDGE GRAPH</a:t>
            </a:r>
            <a:endParaRPr lang="en-US" sz="1100" dirty="0"/>
          </a:p>
        </p:txBody>
      </p:sp>
      <p:sp>
        <p:nvSpPr>
          <p:cNvPr id="52" name="Text 42"/>
          <p:cNvSpPr txBox="1"/>
          <p:nvPr/>
        </p:nvSpPr>
        <p:spPr>
          <a:xfrm>
            <a:off x="3657600" y="2432304"/>
            <a:ext cx="4846320" cy="146304"/>
          </a:xfrm>
          <a:prstGeom prst="rect">
            <a:avLst/>
          </a:prstGeom>
          <a:noFill/>
          <a:ln/>
        </p:spPr>
        <p:txBody>
          <a:bodyPr wrap="square" lIns="0" tIns="0" rIns="0" bIns="0" rtlCol="0" anchor="ctr"/>
          <a:lstStyle/>
          <a:p>
            <a:pPr marL="0" indent="0">
              <a:buNone/>
            </a:pPr>
            <a:r>
              <a:rPr lang="en-US" sz="680" i="1" dirty="0">
                <a:solidFill>
                  <a:srgbClr val="5C6E85"/>
                </a:solidFill>
                <a:latin typeface="Trenda IG Text" pitchFamily="34" charset="0"/>
                <a:ea typeface="Trenda IG Text" pitchFamily="34" charset="-122"/>
                <a:cs typeface="Trenda IG Text" pitchFamily="34" charset="-120"/>
              </a:rPr>
              <a:t>Semantica ContextGraph · one graph, six systems, one set of facts</a:t>
            </a:r>
            <a:endParaRPr lang="en-US" sz="680" dirty="0"/>
          </a:p>
        </p:txBody>
      </p:sp>
      <p:sp>
        <p:nvSpPr>
          <p:cNvPr id="53" name="Text 43"/>
          <p:cNvSpPr txBox="1"/>
          <p:nvPr/>
        </p:nvSpPr>
        <p:spPr>
          <a:xfrm>
            <a:off x="3657600" y="2633472"/>
            <a:ext cx="2377440" cy="128016"/>
          </a:xfrm>
          <a:prstGeom prst="rect">
            <a:avLst/>
          </a:prstGeom>
          <a:noFill/>
          <a:ln/>
        </p:spPr>
        <p:txBody>
          <a:bodyPr wrap="square" lIns="0" tIns="0" rIns="0" bIns="0" rtlCol="0" anchor="ctr"/>
          <a:lstStyle/>
          <a:p>
            <a:pPr marL="0" indent="0">
              <a:buNone/>
            </a:pPr>
            <a:r>
              <a:rPr lang="en-US" sz="630" b="0" kern="0" spc="30" dirty="0">
                <a:solidFill>
                  <a:srgbClr val="1B6BC0"/>
                </a:solidFill>
                <a:latin typeface="Trenda IG Text Semibold" pitchFamily="34" charset="0"/>
                <a:ea typeface="Trenda IG Text Semibold" pitchFamily="34" charset="-122"/>
                <a:cs typeface="Trenda IG Text Semibold" pitchFamily="34" charset="-120"/>
              </a:rPr>
              <a:t>WHAT IT STORES</a:t>
            </a:r>
            <a:endParaRPr lang="en-US" sz="630" dirty="0"/>
          </a:p>
        </p:txBody>
      </p:sp>
      <p:sp>
        <p:nvSpPr>
          <p:cNvPr id="54" name="Text 44"/>
          <p:cNvSpPr txBox="1"/>
          <p:nvPr/>
        </p:nvSpPr>
        <p:spPr>
          <a:xfrm>
            <a:off x="3675888" y="2788920"/>
            <a:ext cx="2331720" cy="1170432"/>
          </a:xfrm>
          <a:prstGeom prst="rect">
            <a:avLst/>
          </a:prstGeom>
          <a:noFill/>
          <a:ln/>
        </p:spPr>
        <p:txBody>
          <a:bodyPr wrap="square" lIns="0" tIns="0" rIns="0" bIns="0" rtlCol="0" anchor="t"/>
          <a:lstStyle/>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 capability</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 (Jira)</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Design doc &amp; business rule</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sObject + fields</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Flow / Apex / trigger / VR</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Test, robotic &amp; regression</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Release &amp; environment</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APDH integration event</a:t>
            </a:r>
            <a:endParaRPr lang="en-US" sz="700" dirty="0"/>
          </a:p>
        </p:txBody>
      </p:sp>
      <p:sp>
        <p:nvSpPr>
          <p:cNvPr id="55" name="Text 45"/>
          <p:cNvSpPr txBox="1"/>
          <p:nvPr/>
        </p:nvSpPr>
        <p:spPr>
          <a:xfrm>
            <a:off x="6172200" y="2633472"/>
            <a:ext cx="2377440" cy="128016"/>
          </a:xfrm>
          <a:prstGeom prst="rect">
            <a:avLst/>
          </a:prstGeom>
          <a:noFill/>
          <a:ln/>
        </p:spPr>
        <p:txBody>
          <a:bodyPr wrap="square" lIns="0" tIns="0" rIns="0" bIns="0" rtlCol="0" anchor="ctr"/>
          <a:lstStyle/>
          <a:p>
            <a:pPr marL="0" indent="0">
              <a:buNone/>
            </a:pPr>
            <a:r>
              <a:rPr lang="en-US" sz="630" b="0" kern="0" spc="30" dirty="0">
                <a:solidFill>
                  <a:srgbClr val="1B6BC0"/>
                </a:solidFill>
                <a:latin typeface="Trenda IG Text Semibold" pitchFamily="34" charset="0"/>
                <a:ea typeface="Trenda IG Text Semibold" pitchFamily="34" charset="-122"/>
                <a:cs typeface="Trenda IG Text Semibold" pitchFamily="34" charset="-120"/>
              </a:rPr>
              <a:t>HOW IT CONNECTS THEM</a:t>
            </a:r>
            <a:endParaRPr lang="en-US" sz="630" dirty="0"/>
          </a:p>
        </p:txBody>
      </p:sp>
      <p:sp>
        <p:nvSpPr>
          <p:cNvPr id="56" name="Text 46"/>
          <p:cNvSpPr txBox="1"/>
          <p:nvPr/>
        </p:nvSpPr>
        <p:spPr>
          <a:xfrm>
            <a:off x="6190488" y="2788920"/>
            <a:ext cx="2331720" cy="1170432"/>
          </a:xfrm>
          <a:prstGeom prst="rect">
            <a:avLst/>
          </a:prstGeom>
          <a:noFill/>
          <a:ln/>
        </p:spPr>
        <p:txBody>
          <a:bodyPr wrap="square" lIns="0" tIns="0" rIns="0" bIns="0" rtlCol="0" anchor="t"/>
          <a:lstStyle/>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REQUIREMENT_TARGETS_CAPABILITY</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RULE_CONSTRAINS_SOBJECT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SOBJECT_HAS_FIELD</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FLOW_UPDATES_SOBJECT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APEX_REFERENCES_SOBJECT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TEST_COVERS_COMPONENT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RELEASE_DEPLOYS_COMPONENT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COMPONENT_PUBLISHES_EVENT</a:t>
            </a:r>
            <a:endParaRPr lang="en-US" sz="640" dirty="0"/>
          </a:p>
        </p:txBody>
      </p:sp>
      <p:sp>
        <p:nvSpPr>
          <p:cNvPr id="57" name="Shape 47"/>
          <p:cNvSpPr/>
          <p:nvPr/>
        </p:nvSpPr>
        <p:spPr>
          <a:xfrm>
            <a:off x="3657600" y="3986784"/>
            <a:ext cx="4809744" cy="310896"/>
          </a:xfrm>
          <a:prstGeom prst="roundRect">
            <a:avLst>
              <a:gd name="adj" fmla="val 11765"/>
            </a:avLst>
          </a:prstGeom>
          <a:solidFill>
            <a:srgbClr val="EAF1FB"/>
          </a:solidFill>
          <a:ln w="9525">
            <a:solidFill>
              <a:srgbClr val="1B6BC0"/>
            </a:solidFill>
            <a:prstDash val="solid"/>
          </a:ln>
        </p:spPr>
        <p:txBody>
          <a:bodyPr/>
          <a:lstStyle/>
          <a:p>
            <a:endParaRPr lang="en-IN"/>
          </a:p>
        </p:txBody>
      </p:sp>
      <p:sp>
        <p:nvSpPr>
          <p:cNvPr id="58" name="Text 48"/>
          <p:cNvSpPr txBox="1"/>
          <p:nvPr/>
        </p:nvSpPr>
        <p:spPr>
          <a:xfrm>
            <a:off x="3712464" y="4041648"/>
            <a:ext cx="4700016" cy="219456"/>
          </a:xfrm>
          <a:prstGeom prst="rect">
            <a:avLst/>
          </a:prstGeom>
          <a:noFill/>
          <a:ln/>
        </p:spPr>
        <p:txBody>
          <a:bodyPr wrap="square" lIns="0" tIns="0" rIns="0" bIns="0" rtlCol="0" anchor="ctr"/>
          <a:lstStyle/>
          <a:p>
            <a:pPr marL="0" indent="0" algn="ctr">
              <a:buNone/>
            </a:pPr>
            <a:r>
              <a:rPr lang="en-US" sz="700" b="0" dirty="0">
                <a:solidFill>
                  <a:srgbClr val="1B6BC0"/>
                </a:solidFill>
                <a:latin typeface="Trenda IG Text Semibold" pitchFamily="34" charset="0"/>
                <a:ea typeface="Trenda IG Text Semibold" pitchFamily="34" charset="-122"/>
                <a:cs typeface="Trenda IG Text Semibold" pitchFamily="34" charset="-120"/>
              </a:rPr>
              <a:t>Deterministic retrieval  ·  query &lt; 0.01s  ·  every fact carries its source path and SHA-256</a:t>
            </a:r>
            <a:endParaRPr lang="en-US" sz="700" dirty="0"/>
          </a:p>
        </p:txBody>
      </p:sp>
      <p:sp>
        <p:nvSpPr>
          <p:cNvPr id="59" name="Shape 49"/>
          <p:cNvSpPr/>
          <p:nvPr/>
        </p:nvSpPr>
        <p:spPr>
          <a:xfrm>
            <a:off x="8705088" y="3163824"/>
            <a:ext cx="475488" cy="237744"/>
          </a:xfrm>
          <a:prstGeom prst="rightArrow">
            <a:avLst/>
          </a:prstGeom>
          <a:solidFill>
            <a:srgbClr val="9AA7B5"/>
          </a:solidFill>
          <a:ln w="12700">
            <a:solidFill>
              <a:srgbClr val="9AA7B5"/>
            </a:solidFill>
            <a:prstDash val="solid"/>
          </a:ln>
        </p:spPr>
        <p:txBody>
          <a:bodyPr/>
          <a:lstStyle/>
          <a:p>
            <a:endParaRPr lang="en-IN"/>
          </a:p>
        </p:txBody>
      </p:sp>
      <p:sp>
        <p:nvSpPr>
          <p:cNvPr id="60" name="Shape 50"/>
          <p:cNvSpPr/>
          <p:nvPr/>
        </p:nvSpPr>
        <p:spPr>
          <a:xfrm>
            <a:off x="9253728" y="2121408"/>
            <a:ext cx="2551176" cy="2304288"/>
          </a:xfrm>
          <a:prstGeom prst="roundRect">
            <a:avLst>
              <a:gd name="adj" fmla="val 2381"/>
            </a:avLst>
          </a:prstGeom>
          <a:solidFill>
            <a:srgbClr val="E9F3EA"/>
          </a:solidFill>
          <a:ln w="15875">
            <a:solidFill>
              <a:srgbClr val="2E7D32"/>
            </a:solidFill>
            <a:prstDash val="solid"/>
          </a:ln>
        </p:spPr>
        <p:txBody>
          <a:bodyPr/>
          <a:lstStyle/>
          <a:p>
            <a:endParaRPr lang="en-IN"/>
          </a:p>
        </p:txBody>
      </p:sp>
      <p:pic>
        <p:nvPicPr>
          <p:cNvPr id="61" name="Image 8" descr="preencoded.png"/>
          <p:cNvPicPr>
            <a:picLocks noChangeAspect="1"/>
          </p:cNvPicPr>
          <p:nvPr/>
        </p:nvPicPr>
        <p:blipFill>
          <a:blip r:embed="rId11"/>
          <a:stretch>
            <a:fillRect/>
          </a:stretch>
        </p:blipFill>
        <p:spPr>
          <a:xfrm>
            <a:off x="9400032" y="2231136"/>
            <a:ext cx="182880" cy="182880"/>
          </a:xfrm>
          <a:prstGeom prst="rect">
            <a:avLst/>
          </a:prstGeom>
        </p:spPr>
      </p:pic>
      <p:sp>
        <p:nvSpPr>
          <p:cNvPr id="62" name="Text 51"/>
          <p:cNvSpPr txBox="1"/>
          <p:nvPr/>
        </p:nvSpPr>
        <p:spPr>
          <a:xfrm>
            <a:off x="9646920" y="2221992"/>
            <a:ext cx="2103120" cy="201168"/>
          </a:xfrm>
          <a:prstGeom prst="rect">
            <a:avLst/>
          </a:prstGeom>
          <a:noFill/>
          <a:ln/>
        </p:spPr>
        <p:txBody>
          <a:bodyPr wrap="square" lIns="0" tIns="0" rIns="0" bIns="0" rtlCol="0" anchor="ctr"/>
          <a:lstStyle/>
          <a:p>
            <a:pPr marL="0" indent="0">
              <a:buNone/>
            </a:pPr>
            <a:r>
              <a:rPr lang="en-US" sz="1000" b="0" kern="0" spc="20" dirty="0">
                <a:solidFill>
                  <a:srgbClr val="2E7D32"/>
                </a:solidFill>
                <a:latin typeface="Trenda IG Display Bold" pitchFamily="34" charset="0"/>
                <a:ea typeface="Trenda IG Display Bold" pitchFamily="34" charset="-122"/>
                <a:cs typeface="Trenda IG Display Bold" pitchFamily="34" charset="-120"/>
              </a:rPr>
              <a:t>GOVERNED OUTPUT</a:t>
            </a:r>
            <a:endParaRPr lang="en-US" sz="1000" dirty="0"/>
          </a:p>
        </p:txBody>
      </p:sp>
      <p:sp>
        <p:nvSpPr>
          <p:cNvPr id="63" name="Text 52"/>
          <p:cNvSpPr txBox="1"/>
          <p:nvPr/>
        </p:nvSpPr>
        <p:spPr>
          <a:xfrm>
            <a:off x="9418320" y="2487168"/>
            <a:ext cx="2240280" cy="1188720"/>
          </a:xfrm>
          <a:prstGeom prst="rect">
            <a:avLst/>
          </a:prstGeom>
          <a:noFill/>
          <a:ln/>
        </p:spPr>
        <p:txBody>
          <a:bodyPr wrap="square" lIns="0" tIns="0" rIns="0" bIns="0" rtlCol="0" anchor="t"/>
          <a:lstStyle/>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Impact analysis</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Reuse recommendation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Change plan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Generated Apex, Flows, VRs, tests</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Risk tier + required approver</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Audit evidence</a:t>
            </a:r>
            <a:endParaRPr lang="en-US" sz="750" dirty="0"/>
          </a:p>
        </p:txBody>
      </p:sp>
      <p:sp>
        <p:nvSpPr>
          <p:cNvPr id="64" name="Shape 53"/>
          <p:cNvSpPr/>
          <p:nvPr/>
        </p:nvSpPr>
        <p:spPr>
          <a:xfrm>
            <a:off x="9400032" y="3730752"/>
            <a:ext cx="2258568" cy="566928"/>
          </a:xfrm>
          <a:prstGeom prst="roundRect">
            <a:avLst>
              <a:gd name="adj" fmla="val 6452"/>
            </a:avLst>
          </a:prstGeom>
          <a:solidFill>
            <a:srgbClr val="2E7D32"/>
          </a:solidFill>
          <a:ln w="12700">
            <a:solidFill>
              <a:srgbClr val="2E7D32"/>
            </a:solidFill>
            <a:prstDash val="solid"/>
          </a:ln>
        </p:spPr>
        <p:txBody>
          <a:bodyPr/>
          <a:lstStyle/>
          <a:p>
            <a:endParaRPr lang="en-IN"/>
          </a:p>
        </p:txBody>
      </p:sp>
      <p:sp>
        <p:nvSpPr>
          <p:cNvPr id="65" name="Text 54"/>
          <p:cNvSpPr txBox="1"/>
          <p:nvPr/>
        </p:nvSpPr>
        <p:spPr>
          <a:xfrm>
            <a:off x="9473184" y="3785616"/>
            <a:ext cx="2112264" cy="457200"/>
          </a:xfrm>
          <a:prstGeom prst="rect">
            <a:avLst/>
          </a:prstGeom>
          <a:noFill/>
          <a:ln/>
        </p:spPr>
        <p:txBody>
          <a:bodyPr wrap="square" lIns="0" tIns="0" rIns="0" bIns="0" rtlCol="0" anchor="t"/>
          <a:lstStyle/>
          <a:p>
            <a:pPr marL="0" indent="0">
              <a:lnSpc>
                <a:spcPct val="95000"/>
              </a:lnSpc>
              <a:buNone/>
            </a:pPr>
            <a:r>
              <a:rPr lang="en-US" sz="680" dirty="0">
                <a:solidFill>
                  <a:srgbClr val="FFFFFF"/>
                </a:solidFill>
                <a:latin typeface="Trenda IG Text" pitchFamily="34" charset="0"/>
                <a:ea typeface="Trenda IG Text" pitchFamily="34" charset="-122"/>
                <a:cs typeface="Trenda IG Text" pitchFamily="34" charset="-120"/>
              </a:rPr>
              <a:t>AI analyses and builds. People own architecture, UAT, CAB and production.</a:t>
            </a:r>
            <a:endParaRPr lang="en-US" sz="680" dirty="0"/>
          </a:p>
        </p:txBody>
      </p:sp>
      <p:sp>
        <p:nvSpPr>
          <p:cNvPr id="66" name="Shape 55"/>
          <p:cNvSpPr/>
          <p:nvPr/>
        </p:nvSpPr>
        <p:spPr>
          <a:xfrm>
            <a:off x="384048" y="4553712"/>
            <a:ext cx="3712464" cy="896112"/>
          </a:xfrm>
          <a:prstGeom prst="roundRect">
            <a:avLst>
              <a:gd name="adj" fmla="val 5102"/>
            </a:avLst>
          </a:prstGeom>
          <a:solidFill>
            <a:srgbClr val="FFFFFF"/>
          </a:solidFill>
          <a:ln w="12700">
            <a:solidFill>
              <a:srgbClr val="DCE4EE"/>
            </a:solidFill>
            <a:prstDash val="solid"/>
          </a:ln>
        </p:spPr>
        <p:txBody>
          <a:bodyPr/>
          <a:lstStyle/>
          <a:p>
            <a:endParaRPr lang="en-IN"/>
          </a:p>
        </p:txBody>
      </p:sp>
      <p:pic>
        <p:nvPicPr>
          <p:cNvPr id="67" name="Image 9" descr="preencoded.png"/>
          <p:cNvPicPr>
            <a:picLocks noChangeAspect="1"/>
          </p:cNvPicPr>
          <p:nvPr/>
        </p:nvPicPr>
        <p:blipFill>
          <a:blip r:embed="rId12"/>
          <a:stretch>
            <a:fillRect/>
          </a:stretch>
        </p:blipFill>
        <p:spPr>
          <a:xfrm>
            <a:off x="502920" y="4645152"/>
            <a:ext cx="137160" cy="137160"/>
          </a:xfrm>
          <a:prstGeom prst="rect">
            <a:avLst/>
          </a:prstGeom>
        </p:spPr>
      </p:pic>
      <p:sp>
        <p:nvSpPr>
          <p:cNvPr id="68" name="Text 56"/>
          <p:cNvSpPr txBox="1"/>
          <p:nvPr/>
        </p:nvSpPr>
        <p:spPr>
          <a:xfrm>
            <a:off x="694944" y="4636008"/>
            <a:ext cx="329184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Why a graph, not a model scan</a:t>
            </a:r>
            <a:endParaRPr lang="en-US" sz="850" dirty="0"/>
          </a:p>
        </p:txBody>
      </p:sp>
      <p:sp>
        <p:nvSpPr>
          <p:cNvPr id="69" name="Text 57"/>
          <p:cNvSpPr txBox="1"/>
          <p:nvPr/>
        </p:nvSpPr>
        <p:spPr>
          <a:xfrm>
            <a:off x="530352" y="4828032"/>
            <a:ext cx="3438144" cy="548640"/>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The graph answers structurally: node and edge lookups return the same result every time</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Codex reads a small verified slice instead of trawling the org, so answers stay fast and predictable at scale</a:t>
            </a:r>
            <a:endParaRPr lang="en-US" sz="700" dirty="0"/>
          </a:p>
        </p:txBody>
      </p:sp>
      <p:sp>
        <p:nvSpPr>
          <p:cNvPr id="70" name="Shape 58"/>
          <p:cNvSpPr/>
          <p:nvPr/>
        </p:nvSpPr>
        <p:spPr>
          <a:xfrm>
            <a:off x="4233672" y="4553712"/>
            <a:ext cx="3712464" cy="896112"/>
          </a:xfrm>
          <a:prstGeom prst="roundRect">
            <a:avLst>
              <a:gd name="adj" fmla="val 5102"/>
            </a:avLst>
          </a:prstGeom>
          <a:solidFill>
            <a:srgbClr val="FFFFFF"/>
          </a:solidFill>
          <a:ln w="12700">
            <a:solidFill>
              <a:srgbClr val="DCE4EE"/>
            </a:solidFill>
            <a:prstDash val="solid"/>
          </a:ln>
        </p:spPr>
        <p:txBody>
          <a:bodyPr/>
          <a:lstStyle/>
          <a:p>
            <a:endParaRPr lang="en-IN"/>
          </a:p>
        </p:txBody>
      </p:sp>
      <p:pic>
        <p:nvPicPr>
          <p:cNvPr id="71" name="Image 10" descr="preencoded.png"/>
          <p:cNvPicPr>
            <a:picLocks noChangeAspect="1"/>
          </p:cNvPicPr>
          <p:nvPr/>
        </p:nvPicPr>
        <p:blipFill>
          <a:blip r:embed="rId13"/>
          <a:stretch>
            <a:fillRect/>
          </a:stretch>
        </p:blipFill>
        <p:spPr>
          <a:xfrm>
            <a:off x="4352544" y="4645152"/>
            <a:ext cx="137160" cy="137160"/>
          </a:xfrm>
          <a:prstGeom prst="rect">
            <a:avLst/>
          </a:prstGeom>
        </p:spPr>
      </p:pic>
      <p:sp>
        <p:nvSpPr>
          <p:cNvPr id="72" name="Text 59"/>
          <p:cNvSpPr txBox="1"/>
          <p:nvPr/>
        </p:nvSpPr>
        <p:spPr>
          <a:xfrm>
            <a:off x="4544568" y="4636008"/>
            <a:ext cx="3291840" cy="164592"/>
          </a:xfrm>
          <a:prstGeom prst="rect">
            <a:avLst/>
          </a:prstGeom>
          <a:noFill/>
          <a:ln/>
        </p:spPr>
        <p:txBody>
          <a:bodyPr wrap="square" lIns="0" tIns="0" rIns="0" bIns="0" rtlCol="0" anchor="ctr"/>
          <a:lstStyle/>
          <a:p>
            <a:pPr marL="0" indent="0">
              <a:buNone/>
            </a:pPr>
            <a:r>
              <a:rPr lang="en-US" sz="850" b="0" dirty="0">
                <a:solidFill>
                  <a:srgbClr val="7A4FC0"/>
                </a:solidFill>
                <a:latin typeface="Trenda IG Text Semibold" pitchFamily="34" charset="0"/>
                <a:ea typeface="Trenda IG Text Semibold" pitchFamily="34" charset="-122"/>
                <a:cs typeface="Trenda IG Text Semibold" pitchFamily="34" charset="-120"/>
              </a:rPr>
              <a:t>Provenance on every fact</a:t>
            </a:r>
            <a:endParaRPr lang="en-US" sz="850" dirty="0"/>
          </a:p>
        </p:txBody>
      </p:sp>
      <p:sp>
        <p:nvSpPr>
          <p:cNvPr id="73" name="Text 60"/>
          <p:cNvSpPr txBox="1"/>
          <p:nvPr/>
        </p:nvSpPr>
        <p:spPr>
          <a:xfrm>
            <a:off x="4379976" y="4828032"/>
            <a:ext cx="3438144" cy="548640"/>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createdBy · derivationMethod · origin · confidence · sourceReferences</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artifactPath + SHA-256 + retrievedAt, authority stays with the source system</a:t>
            </a:r>
            <a:endParaRPr lang="en-US" sz="700" dirty="0"/>
          </a:p>
        </p:txBody>
      </p:sp>
      <p:sp>
        <p:nvSpPr>
          <p:cNvPr id="74" name="Shape 61"/>
          <p:cNvSpPr/>
          <p:nvPr/>
        </p:nvSpPr>
        <p:spPr>
          <a:xfrm>
            <a:off x="8083296" y="4553712"/>
            <a:ext cx="3721608" cy="896112"/>
          </a:xfrm>
          <a:prstGeom prst="roundRect">
            <a:avLst>
              <a:gd name="adj" fmla="val 5102"/>
            </a:avLst>
          </a:prstGeom>
          <a:solidFill>
            <a:srgbClr val="FFFFFF"/>
          </a:solidFill>
          <a:ln w="12700">
            <a:solidFill>
              <a:srgbClr val="DCE4EE"/>
            </a:solidFill>
            <a:prstDash val="solid"/>
          </a:ln>
        </p:spPr>
        <p:txBody>
          <a:bodyPr/>
          <a:lstStyle/>
          <a:p>
            <a:endParaRPr lang="en-IN"/>
          </a:p>
        </p:txBody>
      </p:sp>
      <p:pic>
        <p:nvPicPr>
          <p:cNvPr id="75" name="Image 11" descr="preencoded.png"/>
          <p:cNvPicPr>
            <a:picLocks noChangeAspect="1"/>
          </p:cNvPicPr>
          <p:nvPr/>
        </p:nvPicPr>
        <p:blipFill>
          <a:blip r:embed="rId14"/>
          <a:stretch>
            <a:fillRect/>
          </a:stretch>
        </p:blipFill>
        <p:spPr>
          <a:xfrm>
            <a:off x="8202168" y="4645152"/>
            <a:ext cx="137160" cy="137160"/>
          </a:xfrm>
          <a:prstGeom prst="rect">
            <a:avLst/>
          </a:prstGeom>
        </p:spPr>
      </p:pic>
      <p:sp>
        <p:nvSpPr>
          <p:cNvPr id="76" name="Text 62"/>
          <p:cNvSpPr txBox="1"/>
          <p:nvPr/>
        </p:nvSpPr>
        <p:spPr>
          <a:xfrm>
            <a:off x="8394192" y="4636008"/>
            <a:ext cx="3300984" cy="164592"/>
          </a:xfrm>
          <a:prstGeom prst="rect">
            <a:avLst/>
          </a:prstGeom>
          <a:noFill/>
          <a:ln/>
        </p:spPr>
        <p:txBody>
          <a:bodyPr wrap="square" lIns="0" tIns="0" rIns="0" bIns="0" rtlCol="0" anchor="ctr"/>
          <a:lstStyle/>
          <a:p>
            <a:pPr marL="0" indent="0">
              <a:buNone/>
            </a:pPr>
            <a:r>
              <a:rPr lang="en-US" sz="850" b="0" dirty="0">
                <a:solidFill>
                  <a:srgbClr val="0E8A7D"/>
                </a:solidFill>
                <a:latin typeface="Trenda IG Text Semibold" pitchFamily="34" charset="0"/>
                <a:ea typeface="Trenda IG Text Semibold" pitchFamily="34" charset="-122"/>
                <a:cs typeface="Trenda IG Text Semibold" pitchFamily="34" charset="-120"/>
              </a:rPr>
              <a:t>Security, three separated identities</a:t>
            </a:r>
            <a:endParaRPr lang="en-US" sz="850" dirty="0"/>
          </a:p>
        </p:txBody>
      </p:sp>
      <p:sp>
        <p:nvSpPr>
          <p:cNvPr id="77" name="Text 63"/>
          <p:cNvSpPr txBox="1"/>
          <p:nvPr/>
        </p:nvSpPr>
        <p:spPr>
          <a:xfrm>
            <a:off x="8229600" y="4828032"/>
            <a:ext cx="3447288" cy="548640"/>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AI Read Service (read-only) · AI Development Service (DEV + branch)</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AI Release Service (Copado, lower environments). No production credentials for the LLM</a:t>
            </a:r>
            <a:endParaRPr lang="en-US" sz="700" dirty="0"/>
          </a:p>
        </p:txBody>
      </p:sp>
      <p:sp>
        <p:nvSpPr>
          <p:cNvPr id="78" name="Shape 64"/>
          <p:cNvSpPr/>
          <p:nvPr/>
        </p:nvSpPr>
        <p:spPr>
          <a:xfrm>
            <a:off x="384048" y="5559552"/>
            <a:ext cx="7562088" cy="1042416"/>
          </a:xfrm>
          <a:prstGeom prst="roundRect">
            <a:avLst>
              <a:gd name="adj" fmla="val 4386"/>
            </a:avLst>
          </a:prstGeom>
          <a:solidFill>
            <a:srgbClr val="FFFFFF"/>
          </a:solidFill>
          <a:ln w="12700">
            <a:solidFill>
              <a:srgbClr val="DCE4EE"/>
            </a:solidFill>
            <a:prstDash val="solid"/>
          </a:ln>
        </p:spPr>
        <p:txBody>
          <a:bodyPr/>
          <a:lstStyle/>
          <a:p>
            <a:endParaRPr lang="en-IN"/>
          </a:p>
        </p:txBody>
      </p:sp>
      <p:pic>
        <p:nvPicPr>
          <p:cNvPr id="79" name="Image 12" descr="preencoded.png"/>
          <p:cNvPicPr>
            <a:picLocks noChangeAspect="1"/>
          </p:cNvPicPr>
          <p:nvPr/>
        </p:nvPicPr>
        <p:blipFill>
          <a:blip r:embed="rId11"/>
          <a:stretch>
            <a:fillRect/>
          </a:stretch>
        </p:blipFill>
        <p:spPr>
          <a:xfrm>
            <a:off x="502920" y="5650992"/>
            <a:ext cx="137160" cy="137160"/>
          </a:xfrm>
          <a:prstGeom prst="rect">
            <a:avLst/>
          </a:prstGeom>
        </p:spPr>
      </p:pic>
      <p:sp>
        <p:nvSpPr>
          <p:cNvPr id="80" name="Text 65"/>
          <p:cNvSpPr txBox="1"/>
          <p:nvPr/>
        </p:nvSpPr>
        <p:spPr>
          <a:xfrm>
            <a:off x="694944" y="5641848"/>
            <a:ext cx="7141464" cy="164592"/>
          </a:xfrm>
          <a:prstGeom prst="rect">
            <a:avLst/>
          </a:prstGeom>
          <a:noFill/>
          <a:ln/>
        </p:spPr>
        <p:txBody>
          <a:bodyPr wrap="square" lIns="0" tIns="0" rIns="0" bIns="0" rtlCol="0" anchor="ctr"/>
          <a:lstStyle/>
          <a:p>
            <a:pPr marL="0" indent="0">
              <a:buNone/>
            </a:pPr>
            <a:r>
              <a:rPr lang="en-US" sz="850" b="0" dirty="0">
                <a:solidFill>
                  <a:srgbClr val="2E7D32"/>
                </a:solidFill>
                <a:latin typeface="Trenda IG Text Semibold" pitchFamily="34" charset="0"/>
                <a:ea typeface="Trenda IG Text Semibold" pitchFamily="34" charset="-122"/>
                <a:cs typeface="Trenda IG Text Semibold" pitchFamily="34" charset="-120"/>
              </a:rPr>
              <a:t>Governed delivery lifecycle</a:t>
            </a:r>
            <a:endParaRPr lang="en-US" sz="850" dirty="0"/>
          </a:p>
        </p:txBody>
      </p:sp>
      <p:sp>
        <p:nvSpPr>
          <p:cNvPr id="81" name="Text 66"/>
          <p:cNvSpPr txBox="1"/>
          <p:nvPr/>
        </p:nvSpPr>
        <p:spPr>
          <a:xfrm>
            <a:off x="530352" y="5833872"/>
            <a:ext cx="7287768" cy="694944"/>
          </a:xfrm>
          <a:prstGeom prst="rect">
            <a:avLst/>
          </a:prstGeom>
          <a:noFill/>
          <a:ln/>
        </p:spPr>
        <p:txBody>
          <a:bodyPr wrap="square" lIns="0" tIns="0" rIns="0" bIns="0" rtlCol="0" anchor="t"/>
          <a:lstStyle/>
          <a:p>
            <a:pPr marL="101600" indent="-101600">
              <a:lnSpc>
                <a:spcPct val="95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AI Build → Copado release → quality gates → DEV → SIT → UAT → human approval → CAB → PREPROD → PROD</a:t>
            </a:r>
            <a:endParaRPr lang="en-US" sz="750" dirty="0"/>
          </a:p>
          <a:p>
            <a:pPr marL="101600" indent="-101600">
              <a:lnSpc>
                <a:spcPct val="95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Risk routing: low → developer  ·  medium → tech lead  ·  high → architecture / domain  ·  critical → security</a:t>
            </a:r>
            <a:endParaRPr lang="en-US" sz="750" dirty="0"/>
          </a:p>
          <a:p>
            <a:pPr marL="101600" indent="-101600">
              <a:lnSpc>
                <a:spcPct val="95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Phase 1 POC: 10–15 representative changes; APDH integration, credentialing rules and HFN redesign excluded</a:t>
            </a:r>
            <a:endParaRPr lang="en-US" sz="750" dirty="0"/>
          </a:p>
        </p:txBody>
      </p:sp>
      <p:sp>
        <p:nvSpPr>
          <p:cNvPr id="82" name="Shape 67"/>
          <p:cNvSpPr/>
          <p:nvPr/>
        </p:nvSpPr>
        <p:spPr>
          <a:xfrm>
            <a:off x="8083296" y="5559552"/>
            <a:ext cx="3721608" cy="1042416"/>
          </a:xfrm>
          <a:prstGeom prst="roundRect">
            <a:avLst>
              <a:gd name="adj" fmla="val 4386"/>
            </a:avLst>
          </a:prstGeom>
          <a:solidFill>
            <a:srgbClr val="FFFFFF"/>
          </a:solidFill>
          <a:ln w="12700">
            <a:solidFill>
              <a:srgbClr val="DCE4EE"/>
            </a:solidFill>
            <a:prstDash val="solid"/>
          </a:ln>
        </p:spPr>
        <p:txBody>
          <a:bodyPr/>
          <a:lstStyle/>
          <a:p>
            <a:endParaRPr lang="en-IN"/>
          </a:p>
        </p:txBody>
      </p:sp>
      <p:pic>
        <p:nvPicPr>
          <p:cNvPr id="83" name="Image 13" descr="preencoded.png"/>
          <p:cNvPicPr>
            <a:picLocks noChangeAspect="1"/>
          </p:cNvPicPr>
          <p:nvPr/>
        </p:nvPicPr>
        <p:blipFill>
          <a:blip r:embed="rId15"/>
          <a:stretch>
            <a:fillRect/>
          </a:stretch>
        </p:blipFill>
        <p:spPr>
          <a:xfrm>
            <a:off x="8202168" y="5650992"/>
            <a:ext cx="137160" cy="137160"/>
          </a:xfrm>
          <a:prstGeom prst="rect">
            <a:avLst/>
          </a:prstGeom>
        </p:spPr>
      </p:pic>
      <p:sp>
        <p:nvSpPr>
          <p:cNvPr id="84" name="Text 68"/>
          <p:cNvSpPr txBox="1"/>
          <p:nvPr/>
        </p:nvSpPr>
        <p:spPr>
          <a:xfrm>
            <a:off x="8394192" y="5641848"/>
            <a:ext cx="3300984" cy="164592"/>
          </a:xfrm>
          <a:prstGeom prst="rect">
            <a:avLst/>
          </a:prstGeom>
          <a:noFill/>
          <a:ln/>
        </p:spPr>
        <p:txBody>
          <a:bodyPr wrap="square" lIns="0" tIns="0" rIns="0" bIns="0" rtlCol="0" anchor="ctr"/>
          <a:lstStyle/>
          <a:p>
            <a:pPr marL="0" indent="0">
              <a:buNone/>
            </a:pPr>
            <a:r>
              <a:rPr lang="en-US" sz="850" b="0" dirty="0">
                <a:solidFill>
                  <a:srgbClr val="C62828"/>
                </a:solidFill>
                <a:latin typeface="Trenda IG Text Semibold" pitchFamily="34" charset="0"/>
                <a:ea typeface="Trenda IG Text Semibold" pitchFamily="34" charset="-122"/>
                <a:cs typeface="Trenda IG Text Semibold" pitchFamily="34" charset="-120"/>
              </a:rPr>
              <a:t>Existing APDH integration, unchanged</a:t>
            </a:r>
            <a:endParaRPr lang="en-US" sz="850" dirty="0"/>
          </a:p>
        </p:txBody>
      </p:sp>
      <p:sp>
        <p:nvSpPr>
          <p:cNvPr id="85" name="Text 69"/>
          <p:cNvSpPr txBox="1"/>
          <p:nvPr/>
        </p:nvSpPr>
        <p:spPr>
          <a:xfrm>
            <a:off x="8229600" y="5833872"/>
            <a:ext cx="3447288" cy="694944"/>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Salesforce → Queueable Apex → Google Pub/Sub → APDH (one-way, near real-time)</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Treated HIGH risk: payload, triggers, retry, external IDs need architecture approval</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No back-write to Salesforce</a:t>
            </a:r>
            <a:endParaRPr lang="en-US" sz="700" dirty="0"/>
          </a:p>
        </p:txBody>
      </p:sp>
      <p:cxnSp>
        <p:nvCxnSpPr>
          <p:cNvPr id="87" name="Connector: Elbow 86">
            <a:extLst>
              <a:ext uri="{FF2B5EF4-FFF2-40B4-BE49-F238E27FC236}">
                <a16:creationId xmlns:a16="http://schemas.microsoft.com/office/drawing/2014/main" id="{3540E030-6B35-48F5-3D50-EEA7AD1D4A53}"/>
              </a:ext>
            </a:extLst>
          </p:cNvPr>
          <p:cNvCxnSpPr>
            <a:stCxn id="7" idx="2"/>
            <a:endCxn id="49" idx="0"/>
          </p:cNvCxnSpPr>
          <p:nvPr/>
        </p:nvCxnSpPr>
        <p:spPr>
          <a:xfrm rot="16200000" flipH="1">
            <a:off x="3526155" y="-414909"/>
            <a:ext cx="292608" cy="478002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EABA27BB-F48F-3A27-58C3-E7CD18467F3E}"/>
              </a:ext>
            </a:extLst>
          </p:cNvPr>
          <p:cNvCxnSpPr>
            <a:stCxn id="12" idx="2"/>
            <a:endCxn id="49" idx="0"/>
          </p:cNvCxnSpPr>
          <p:nvPr/>
        </p:nvCxnSpPr>
        <p:spPr>
          <a:xfrm rot="16200000" flipH="1">
            <a:off x="4488561" y="547497"/>
            <a:ext cx="292608" cy="28552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6E256E03-C8E7-E7BA-8332-9D747041FAFF}"/>
              </a:ext>
            </a:extLst>
          </p:cNvPr>
          <p:cNvCxnSpPr>
            <a:stCxn id="17" idx="2"/>
            <a:endCxn id="49" idx="0"/>
          </p:cNvCxnSpPr>
          <p:nvPr/>
        </p:nvCxnSpPr>
        <p:spPr>
          <a:xfrm rot="16200000" flipH="1">
            <a:off x="5450967" y="1509903"/>
            <a:ext cx="292608" cy="9304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4B002049-9303-DD09-D02C-625AE645E12A}"/>
              </a:ext>
            </a:extLst>
          </p:cNvPr>
          <p:cNvCxnSpPr>
            <a:stCxn id="22" idx="2"/>
            <a:endCxn id="49" idx="0"/>
          </p:cNvCxnSpPr>
          <p:nvPr/>
        </p:nvCxnSpPr>
        <p:spPr>
          <a:xfrm rot="5400000">
            <a:off x="6413373" y="1477899"/>
            <a:ext cx="292608" cy="9944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CE5B422C-7073-7D93-601B-B7110E50923B}"/>
              </a:ext>
            </a:extLst>
          </p:cNvPr>
          <p:cNvCxnSpPr>
            <a:stCxn id="27" idx="2"/>
            <a:endCxn id="49" idx="0"/>
          </p:cNvCxnSpPr>
          <p:nvPr/>
        </p:nvCxnSpPr>
        <p:spPr>
          <a:xfrm rot="5400000">
            <a:off x="7375779" y="515493"/>
            <a:ext cx="292608" cy="29192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96A8D77-5F65-3E11-D0BD-380883AB46DC}"/>
              </a:ext>
            </a:extLst>
          </p:cNvPr>
          <p:cNvCxnSpPr>
            <a:stCxn id="32" idx="2"/>
            <a:endCxn id="49" idx="0"/>
          </p:cNvCxnSpPr>
          <p:nvPr/>
        </p:nvCxnSpPr>
        <p:spPr>
          <a:xfrm rot="5400000">
            <a:off x="8338185" y="-446913"/>
            <a:ext cx="292608" cy="48440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12464" y="109728"/>
            <a:ext cx="4764024" cy="566928"/>
          </a:xfrm>
          <a:prstGeom prst="roundRect">
            <a:avLst>
              <a:gd name="adj" fmla="val 9677"/>
            </a:avLst>
          </a:prstGeom>
          <a:solidFill>
            <a:srgbClr val="0E1B2E"/>
          </a:solidFill>
          <a:ln w="12700">
            <a:solidFill>
              <a:srgbClr val="0E1B2E"/>
            </a:solidFill>
            <a:prstDash val="solid"/>
          </a:ln>
        </p:spPr>
        <p:txBody>
          <a:bodyPr/>
          <a:lstStyle/>
          <a:p>
            <a:endParaRPr lang="en-IN"/>
          </a:p>
        </p:txBody>
      </p:sp>
      <p:sp>
        <p:nvSpPr>
          <p:cNvPr id="3" name="Text 1"/>
          <p:cNvSpPr txBox="1"/>
          <p:nvPr/>
        </p:nvSpPr>
        <p:spPr>
          <a:xfrm>
            <a:off x="3758184" y="146304"/>
            <a:ext cx="4672584" cy="173736"/>
          </a:xfrm>
          <a:prstGeom prst="rect">
            <a:avLst/>
          </a:prstGeom>
          <a:noFill/>
          <a:ln/>
        </p:spPr>
        <p:txBody>
          <a:bodyPr wrap="square" lIns="0" tIns="0" rIns="0" bIns="0" rtlCol="0" anchor="ctr"/>
          <a:lstStyle/>
          <a:p>
            <a:pPr marL="0" indent="0" algn="ctr">
              <a:buNone/>
            </a:pPr>
            <a:r>
              <a:rPr lang="en-US" sz="1150" b="0" kern="0" spc="20" dirty="0">
                <a:solidFill>
                  <a:srgbClr val="FFFFFF"/>
                </a:solidFill>
                <a:latin typeface="Trenda IG Display Bold" pitchFamily="34" charset="0"/>
                <a:ea typeface="Trenda IG Display Bold" pitchFamily="34" charset="-122"/>
                <a:cs typeface="Trenda IG Display Bold" pitchFamily="34" charset="-120"/>
              </a:rPr>
              <a:t>ASCENSION NETWORK SERVICES</a:t>
            </a:r>
            <a:endParaRPr lang="en-US" sz="1150" dirty="0"/>
          </a:p>
        </p:txBody>
      </p:sp>
      <p:sp>
        <p:nvSpPr>
          <p:cNvPr id="4" name="Text 2"/>
          <p:cNvSpPr txBox="1"/>
          <p:nvPr/>
        </p:nvSpPr>
        <p:spPr>
          <a:xfrm>
            <a:off x="3758184" y="329184"/>
            <a:ext cx="4672584" cy="155448"/>
          </a:xfrm>
          <a:prstGeom prst="rect">
            <a:avLst/>
          </a:prstGeom>
          <a:noFill/>
          <a:ln/>
        </p:spPr>
        <p:txBody>
          <a:bodyPr wrap="square" lIns="0" tIns="0" rIns="0" bIns="0" rtlCol="0" anchor="ctr"/>
          <a:lstStyle/>
          <a:p>
            <a:pPr marL="0" indent="0" algn="ctr">
              <a:buNone/>
            </a:pPr>
            <a:r>
              <a:rPr lang="en-US" sz="900" b="0" dirty="0">
                <a:solidFill>
                  <a:srgbClr val="5FD0E8"/>
                </a:solidFill>
                <a:latin typeface="Trenda IG Display Bold" pitchFamily="34" charset="0"/>
                <a:ea typeface="Trenda IG Display Bold" pitchFamily="34" charset="-122"/>
                <a:cs typeface="Trenda IG Display Bold" pitchFamily="34" charset="-120"/>
              </a:rPr>
              <a:t>Engineering Context Knowledge Graph Architecture</a:t>
            </a:r>
            <a:endParaRPr lang="en-US" sz="900" dirty="0"/>
          </a:p>
        </p:txBody>
      </p:sp>
      <p:sp>
        <p:nvSpPr>
          <p:cNvPr id="5" name="Text 3"/>
          <p:cNvSpPr txBox="1"/>
          <p:nvPr/>
        </p:nvSpPr>
        <p:spPr>
          <a:xfrm>
            <a:off x="3758184" y="502920"/>
            <a:ext cx="4672584" cy="146304"/>
          </a:xfrm>
          <a:prstGeom prst="rect">
            <a:avLst/>
          </a:prstGeom>
          <a:noFill/>
          <a:ln/>
        </p:spPr>
        <p:txBody>
          <a:bodyPr wrap="square" lIns="0" tIns="0" rIns="0" bIns="0" rtlCol="0" anchor="ctr"/>
          <a:lstStyle/>
          <a:p>
            <a:pPr marL="0" indent="0" algn="ctr">
              <a:lnSpc>
                <a:spcPct val="95000"/>
              </a:lnSpc>
              <a:buNone/>
            </a:pPr>
            <a:r>
              <a:rPr lang="en-US" sz="600" dirty="0">
                <a:solidFill>
                  <a:srgbClr val="AEBED0"/>
                </a:solidFill>
                <a:latin typeface="Trenda IG Text" pitchFamily="34" charset="0"/>
                <a:ea typeface="Trenda IG Text" pitchFamily="34" charset="-122"/>
                <a:cs typeface="Trenda IG Text" pitchFamily="34" charset="-120"/>
              </a:rPr>
              <a:t>systems → connectors → ingestors → domain model → JSON storage → graph export → engine → Codex</a:t>
            </a:r>
            <a:endParaRPr lang="en-US" sz="600" dirty="0"/>
          </a:p>
        </p:txBody>
      </p:sp>
      <p:sp>
        <p:nvSpPr>
          <p:cNvPr id="6" name="Shape 4"/>
          <p:cNvSpPr/>
          <p:nvPr/>
        </p:nvSpPr>
        <p:spPr>
          <a:xfrm>
            <a:off x="164592" y="109728"/>
            <a:ext cx="3438144" cy="566928"/>
          </a:xfrm>
          <a:prstGeom prst="roundRect">
            <a:avLst>
              <a:gd name="adj" fmla="val 8065"/>
            </a:avLst>
          </a:prstGeom>
          <a:solidFill>
            <a:srgbClr val="FFFFFF"/>
          </a:solidFill>
          <a:ln w="12700">
            <a:solidFill>
              <a:srgbClr val="DCE4EE"/>
            </a:solidFill>
            <a:prstDash val="solid"/>
          </a:ln>
        </p:spPr>
        <p:txBody>
          <a:bodyPr/>
          <a:lstStyle/>
          <a:p>
            <a:endParaRPr lang="en-IN"/>
          </a:p>
        </p:txBody>
      </p:sp>
      <p:sp>
        <p:nvSpPr>
          <p:cNvPr id="7" name="Text 5"/>
          <p:cNvSpPr txBox="1"/>
          <p:nvPr/>
        </p:nvSpPr>
        <p:spPr>
          <a:xfrm>
            <a:off x="274320" y="146304"/>
            <a:ext cx="3218688" cy="137160"/>
          </a:xfrm>
          <a:prstGeom prst="rect">
            <a:avLst/>
          </a:prstGeom>
          <a:noFill/>
          <a:ln/>
        </p:spPr>
        <p:txBody>
          <a:bodyPr wrap="square" lIns="0" tIns="0" rIns="0" bIns="0" rtlCol="0" anchor="ctr"/>
          <a:lstStyle/>
          <a:p>
            <a:pPr marL="0" indent="0">
              <a:buNone/>
            </a:pPr>
            <a:r>
              <a:rPr lang="en-US" sz="740" b="0" kern="0" spc="30" dirty="0">
                <a:solidFill>
                  <a:srgbClr val="1B6BC0"/>
                </a:solidFill>
                <a:latin typeface="Trenda IG Text Semibold" pitchFamily="34" charset="0"/>
                <a:ea typeface="Trenda IG Text Semibold" pitchFamily="34" charset="-122"/>
                <a:cs typeface="Trenda IG Text Semibold" pitchFamily="34" charset="-120"/>
              </a:rPr>
              <a:t>SIX AUTHORITATIVE SYSTEMS OF RECORD</a:t>
            </a:r>
            <a:endParaRPr lang="en-US" sz="740" dirty="0"/>
          </a:p>
        </p:txBody>
      </p:sp>
      <p:pic>
        <p:nvPicPr>
          <p:cNvPr id="8" name="Image 0" descr="preencoded.png"/>
          <p:cNvPicPr>
            <a:picLocks noChangeAspect="1"/>
          </p:cNvPicPr>
          <p:nvPr/>
        </p:nvPicPr>
        <p:blipFill>
          <a:blip r:embed="rId3"/>
          <a:stretch>
            <a:fillRect/>
          </a:stretch>
        </p:blipFill>
        <p:spPr>
          <a:xfrm>
            <a:off x="347472" y="292608"/>
            <a:ext cx="137160" cy="137160"/>
          </a:xfrm>
          <a:prstGeom prst="rect">
            <a:avLst/>
          </a:prstGeom>
        </p:spPr>
      </p:pic>
      <p:sp>
        <p:nvSpPr>
          <p:cNvPr id="9" name="Text 6"/>
          <p:cNvSpPr txBox="1"/>
          <p:nvPr/>
        </p:nvSpPr>
        <p:spPr>
          <a:xfrm>
            <a:off x="201168"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Jira</a:t>
            </a:r>
            <a:endParaRPr lang="en-US" sz="580" dirty="0"/>
          </a:p>
        </p:txBody>
      </p:sp>
      <p:pic>
        <p:nvPicPr>
          <p:cNvPr id="10" name="Image 1" descr="preencoded.png"/>
          <p:cNvPicPr>
            <a:picLocks noChangeAspect="1"/>
          </p:cNvPicPr>
          <p:nvPr/>
        </p:nvPicPr>
        <p:blipFill>
          <a:blip r:embed="rId4"/>
          <a:stretch>
            <a:fillRect/>
          </a:stretch>
        </p:blipFill>
        <p:spPr>
          <a:xfrm>
            <a:off x="877824" y="292608"/>
            <a:ext cx="137160" cy="137160"/>
          </a:xfrm>
          <a:prstGeom prst="rect">
            <a:avLst/>
          </a:prstGeom>
        </p:spPr>
      </p:pic>
      <p:sp>
        <p:nvSpPr>
          <p:cNvPr id="11" name="Text 7"/>
          <p:cNvSpPr txBox="1"/>
          <p:nvPr/>
        </p:nvSpPr>
        <p:spPr>
          <a:xfrm>
            <a:off x="731520"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Confluence</a:t>
            </a:r>
            <a:endParaRPr lang="en-US" sz="580" dirty="0"/>
          </a:p>
        </p:txBody>
      </p:sp>
      <p:pic>
        <p:nvPicPr>
          <p:cNvPr id="12" name="Image 2" descr="preencoded.png"/>
          <p:cNvPicPr>
            <a:picLocks noChangeAspect="1"/>
          </p:cNvPicPr>
          <p:nvPr/>
        </p:nvPicPr>
        <p:blipFill>
          <a:blip r:embed="rId5"/>
          <a:stretch>
            <a:fillRect/>
          </a:stretch>
        </p:blipFill>
        <p:spPr>
          <a:xfrm>
            <a:off x="1408176" y="292608"/>
            <a:ext cx="137160" cy="137160"/>
          </a:xfrm>
          <a:prstGeom prst="rect">
            <a:avLst/>
          </a:prstGeom>
        </p:spPr>
      </p:pic>
      <p:sp>
        <p:nvSpPr>
          <p:cNvPr id="13" name="Text 8"/>
          <p:cNvSpPr txBox="1"/>
          <p:nvPr/>
        </p:nvSpPr>
        <p:spPr>
          <a:xfrm>
            <a:off x="1261872"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Salesforce</a:t>
            </a:r>
            <a:endParaRPr lang="en-US" sz="580" dirty="0"/>
          </a:p>
        </p:txBody>
      </p:sp>
      <p:pic>
        <p:nvPicPr>
          <p:cNvPr id="14" name="Image 3" descr="preencoded.png"/>
          <p:cNvPicPr>
            <a:picLocks noChangeAspect="1"/>
          </p:cNvPicPr>
          <p:nvPr/>
        </p:nvPicPr>
        <p:blipFill>
          <a:blip r:embed="rId6"/>
          <a:stretch>
            <a:fillRect/>
          </a:stretch>
        </p:blipFill>
        <p:spPr>
          <a:xfrm>
            <a:off x="1938528" y="292608"/>
            <a:ext cx="137160" cy="137160"/>
          </a:xfrm>
          <a:prstGeom prst="rect">
            <a:avLst/>
          </a:prstGeom>
        </p:spPr>
      </p:pic>
      <p:sp>
        <p:nvSpPr>
          <p:cNvPr id="15" name="Text 9"/>
          <p:cNvSpPr txBox="1"/>
          <p:nvPr/>
        </p:nvSpPr>
        <p:spPr>
          <a:xfrm>
            <a:off x="1792224"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Git</a:t>
            </a:r>
            <a:endParaRPr lang="en-US" sz="580" dirty="0"/>
          </a:p>
        </p:txBody>
      </p:sp>
      <p:pic>
        <p:nvPicPr>
          <p:cNvPr id="16" name="Image 4" descr="preencoded.png"/>
          <p:cNvPicPr>
            <a:picLocks noChangeAspect="1"/>
          </p:cNvPicPr>
          <p:nvPr/>
        </p:nvPicPr>
        <p:blipFill>
          <a:blip r:embed="rId7"/>
          <a:stretch>
            <a:fillRect/>
          </a:stretch>
        </p:blipFill>
        <p:spPr>
          <a:xfrm>
            <a:off x="2468880" y="292608"/>
            <a:ext cx="137160" cy="137160"/>
          </a:xfrm>
          <a:prstGeom prst="rect">
            <a:avLst/>
          </a:prstGeom>
        </p:spPr>
      </p:pic>
      <p:sp>
        <p:nvSpPr>
          <p:cNvPr id="17" name="Text 10"/>
          <p:cNvSpPr txBox="1"/>
          <p:nvPr/>
        </p:nvSpPr>
        <p:spPr>
          <a:xfrm>
            <a:off x="2322576"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Copado</a:t>
            </a:r>
            <a:endParaRPr lang="en-US" sz="580" dirty="0"/>
          </a:p>
        </p:txBody>
      </p:sp>
      <p:pic>
        <p:nvPicPr>
          <p:cNvPr id="18" name="Image 5" descr="preencoded.png"/>
          <p:cNvPicPr>
            <a:picLocks noChangeAspect="1"/>
          </p:cNvPicPr>
          <p:nvPr/>
        </p:nvPicPr>
        <p:blipFill>
          <a:blip r:embed="rId8"/>
          <a:stretch>
            <a:fillRect/>
          </a:stretch>
        </p:blipFill>
        <p:spPr>
          <a:xfrm>
            <a:off x="2999232" y="292608"/>
            <a:ext cx="137160" cy="137160"/>
          </a:xfrm>
          <a:prstGeom prst="rect">
            <a:avLst/>
          </a:prstGeom>
        </p:spPr>
      </p:pic>
      <p:sp>
        <p:nvSpPr>
          <p:cNvPr id="19" name="Text 11"/>
          <p:cNvSpPr txBox="1"/>
          <p:nvPr/>
        </p:nvSpPr>
        <p:spPr>
          <a:xfrm>
            <a:off x="2852928"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Drive</a:t>
            </a:r>
            <a:endParaRPr lang="en-US" sz="580" dirty="0"/>
          </a:p>
        </p:txBody>
      </p:sp>
      <p:sp>
        <p:nvSpPr>
          <p:cNvPr id="20" name="Text 12"/>
          <p:cNvSpPr txBox="1"/>
          <p:nvPr/>
        </p:nvSpPr>
        <p:spPr>
          <a:xfrm>
            <a:off x="274320" y="553212"/>
            <a:ext cx="3218688" cy="118872"/>
          </a:xfrm>
          <a:prstGeom prst="rect">
            <a:avLst/>
          </a:prstGeom>
          <a:noFill/>
          <a:ln/>
        </p:spPr>
        <p:txBody>
          <a:bodyPr wrap="square" lIns="0" tIns="0" rIns="0" bIns="0" rtlCol="0" anchor="ctr"/>
          <a:lstStyle/>
          <a:p>
            <a:pPr marL="0" indent="0">
              <a:buNone/>
            </a:pPr>
            <a:r>
              <a:rPr lang="en-US" sz="600" i="1" dirty="0">
                <a:solidFill>
                  <a:srgbClr val="5C6E85"/>
                </a:solidFill>
                <a:latin typeface="Trenda IG Text" pitchFamily="34" charset="0"/>
                <a:ea typeface="Trenda IG Text" pitchFamily="34" charset="-122"/>
                <a:cs typeface="Trenda IG Text" pitchFamily="34" charset="-120"/>
              </a:rPr>
              <a:t>read-only · hashed · provenance-tagged</a:t>
            </a:r>
            <a:endParaRPr lang="en-US" sz="600" dirty="0"/>
          </a:p>
        </p:txBody>
      </p:sp>
      <p:sp>
        <p:nvSpPr>
          <p:cNvPr id="21" name="Shape 13"/>
          <p:cNvSpPr/>
          <p:nvPr/>
        </p:nvSpPr>
        <p:spPr>
          <a:xfrm>
            <a:off x="8586216" y="109728"/>
            <a:ext cx="3438144" cy="566928"/>
          </a:xfrm>
          <a:prstGeom prst="roundRect">
            <a:avLst>
              <a:gd name="adj" fmla="val 8065"/>
            </a:avLst>
          </a:prstGeom>
          <a:solidFill>
            <a:srgbClr val="FFFFFF"/>
          </a:solidFill>
          <a:ln w="12700">
            <a:solidFill>
              <a:srgbClr val="DCE4EE"/>
            </a:solidFill>
            <a:prstDash val="solid"/>
          </a:ln>
        </p:spPr>
        <p:txBody>
          <a:bodyPr/>
          <a:lstStyle/>
          <a:p>
            <a:endParaRPr lang="en-IN"/>
          </a:p>
        </p:txBody>
      </p:sp>
      <p:sp>
        <p:nvSpPr>
          <p:cNvPr id="22" name="Text 14"/>
          <p:cNvSpPr txBox="1"/>
          <p:nvPr/>
        </p:nvSpPr>
        <p:spPr>
          <a:xfrm>
            <a:off x="8695944" y="146304"/>
            <a:ext cx="3218688" cy="137160"/>
          </a:xfrm>
          <a:prstGeom prst="rect">
            <a:avLst/>
          </a:prstGeom>
          <a:noFill/>
          <a:ln/>
        </p:spPr>
        <p:txBody>
          <a:bodyPr wrap="square" lIns="0" tIns="0" rIns="0" bIns="0" rtlCol="0" anchor="ctr"/>
          <a:lstStyle/>
          <a:p>
            <a:pPr marL="0" indent="0">
              <a:buNone/>
            </a:pPr>
            <a:r>
              <a:rPr lang="en-US" sz="740" b="0" kern="0" spc="30" dirty="0">
                <a:solidFill>
                  <a:srgbClr val="2E7D32"/>
                </a:solidFill>
                <a:latin typeface="Trenda IG Text Semibold" pitchFamily="34" charset="0"/>
                <a:ea typeface="Trenda IG Text Semibold" pitchFamily="34" charset="-122"/>
                <a:cs typeface="Trenda IG Text Semibold" pitchFamily="34" charset="-120"/>
              </a:rPr>
              <a:t>GOVERNED DELIVERY OUTCOMES</a:t>
            </a:r>
            <a:endParaRPr lang="en-US" sz="740" dirty="0"/>
          </a:p>
        </p:txBody>
      </p:sp>
      <p:sp>
        <p:nvSpPr>
          <p:cNvPr id="23" name="Text 15"/>
          <p:cNvSpPr txBox="1"/>
          <p:nvPr/>
        </p:nvSpPr>
        <p:spPr>
          <a:xfrm>
            <a:off x="8695944" y="292608"/>
            <a:ext cx="3218688" cy="256032"/>
          </a:xfrm>
          <a:prstGeom prst="rect">
            <a:avLst/>
          </a:prstGeom>
          <a:noFill/>
          <a:ln/>
        </p:spPr>
        <p:txBody>
          <a:bodyPr wrap="square" lIns="0" tIns="0" rIns="0" bIns="0" rtlCol="0" anchor="ctr"/>
          <a:lstStyle/>
          <a:p>
            <a:pPr marL="0" indent="0">
              <a:lnSpc>
                <a:spcPct val="95000"/>
              </a:lnSpc>
              <a:buNone/>
            </a:pPr>
            <a:r>
              <a:rPr lang="en-US" sz="680" dirty="0">
                <a:solidFill>
                  <a:srgbClr val="12233B"/>
                </a:solidFill>
                <a:latin typeface="Trenda IG Text" pitchFamily="34" charset="0"/>
                <a:ea typeface="Trenda IG Text" pitchFamily="34" charset="-122"/>
                <a:cs typeface="Trenda IG Text" pitchFamily="34" charset="-120"/>
              </a:rPr>
              <a:t>Impact analysis · reuse detection · risk-routed approval · generated change + tests · complete audit evidence</a:t>
            </a:r>
            <a:endParaRPr lang="en-US" sz="680" dirty="0"/>
          </a:p>
        </p:txBody>
      </p:sp>
      <p:sp>
        <p:nvSpPr>
          <p:cNvPr id="24" name="Text 16"/>
          <p:cNvSpPr txBox="1"/>
          <p:nvPr/>
        </p:nvSpPr>
        <p:spPr>
          <a:xfrm>
            <a:off x="8695944" y="553212"/>
            <a:ext cx="3218688" cy="118872"/>
          </a:xfrm>
          <a:prstGeom prst="rect">
            <a:avLst/>
          </a:prstGeom>
          <a:noFill/>
          <a:ln/>
        </p:spPr>
        <p:txBody>
          <a:bodyPr wrap="square" lIns="0" tIns="0" rIns="0" bIns="0" rtlCol="0" anchor="ctr"/>
          <a:lstStyle/>
          <a:p>
            <a:pPr marL="0" indent="0">
              <a:buNone/>
            </a:pPr>
            <a:r>
              <a:rPr lang="en-US" sz="600" i="1" dirty="0">
                <a:solidFill>
                  <a:srgbClr val="5C6E85"/>
                </a:solidFill>
                <a:latin typeface="Trenda IG Text" pitchFamily="34" charset="0"/>
                <a:ea typeface="Trenda IG Text" pitchFamily="34" charset="-122"/>
                <a:cs typeface="Trenda IG Text" pitchFamily="34" charset="-120"/>
              </a:rPr>
              <a:t>AI analyzes and builds · humans keep every decision</a:t>
            </a:r>
            <a:endParaRPr lang="en-US" sz="600" dirty="0"/>
          </a:p>
        </p:txBody>
      </p:sp>
      <p:sp>
        <p:nvSpPr>
          <p:cNvPr id="25" name="Shape 17"/>
          <p:cNvSpPr/>
          <p:nvPr/>
        </p:nvSpPr>
        <p:spPr>
          <a:xfrm>
            <a:off x="164592" y="722376"/>
            <a:ext cx="1386459" cy="5111496"/>
          </a:xfrm>
          <a:prstGeom prst="roundRect">
            <a:avLst>
              <a:gd name="adj" fmla="val 3298"/>
            </a:avLst>
          </a:prstGeom>
          <a:solidFill>
            <a:srgbClr val="EAF1FB"/>
          </a:solidFill>
          <a:ln w="9525">
            <a:solidFill>
              <a:srgbClr val="DCE4EE"/>
            </a:solidFill>
            <a:prstDash val="solid"/>
          </a:ln>
        </p:spPr>
        <p:txBody>
          <a:bodyPr/>
          <a:lstStyle/>
          <a:p>
            <a:endParaRPr lang="en-IN"/>
          </a:p>
        </p:txBody>
      </p:sp>
      <p:sp>
        <p:nvSpPr>
          <p:cNvPr id="26" name="Shape 18"/>
          <p:cNvSpPr/>
          <p:nvPr/>
        </p:nvSpPr>
        <p:spPr>
          <a:xfrm>
            <a:off x="164592" y="722376"/>
            <a:ext cx="1386459" cy="621792"/>
          </a:xfrm>
          <a:prstGeom prst="roundRect">
            <a:avLst>
              <a:gd name="adj" fmla="val 7353"/>
            </a:avLst>
          </a:prstGeom>
          <a:solidFill>
            <a:srgbClr val="1B6BC0"/>
          </a:solidFill>
          <a:ln w="12700">
            <a:solidFill>
              <a:srgbClr val="1B6BC0"/>
            </a:solidFill>
            <a:prstDash val="solid"/>
          </a:ln>
        </p:spPr>
        <p:txBody>
          <a:bodyPr/>
          <a:lstStyle/>
          <a:p>
            <a:endParaRPr lang="en-IN"/>
          </a:p>
        </p:txBody>
      </p:sp>
      <p:pic>
        <p:nvPicPr>
          <p:cNvPr id="27" name="Image 6" descr="preencoded.png"/>
          <p:cNvPicPr>
            <a:picLocks noChangeAspect="1"/>
          </p:cNvPicPr>
          <p:nvPr/>
        </p:nvPicPr>
        <p:blipFill>
          <a:blip r:embed="rId9"/>
          <a:stretch>
            <a:fillRect/>
          </a:stretch>
        </p:blipFill>
        <p:spPr>
          <a:xfrm>
            <a:off x="789242" y="754380"/>
            <a:ext cx="137160" cy="137160"/>
          </a:xfrm>
          <a:prstGeom prst="rect">
            <a:avLst/>
          </a:prstGeom>
        </p:spPr>
      </p:pic>
      <p:sp>
        <p:nvSpPr>
          <p:cNvPr id="28" name="Text 19"/>
          <p:cNvSpPr txBox="1"/>
          <p:nvPr/>
        </p:nvSpPr>
        <p:spPr>
          <a:xfrm>
            <a:off x="201168"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1</a:t>
            </a:r>
            <a:endParaRPr lang="en-US" sz="560" dirty="0"/>
          </a:p>
        </p:txBody>
      </p:sp>
      <p:sp>
        <p:nvSpPr>
          <p:cNvPr id="29" name="Text 20"/>
          <p:cNvSpPr txBox="1"/>
          <p:nvPr/>
        </p:nvSpPr>
        <p:spPr>
          <a:xfrm>
            <a:off x="192024"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Source Systems</a:t>
            </a:r>
            <a:endParaRPr lang="en-US" sz="800" dirty="0"/>
          </a:p>
        </p:txBody>
      </p:sp>
      <p:sp>
        <p:nvSpPr>
          <p:cNvPr id="30" name="Text 21"/>
          <p:cNvSpPr txBox="1"/>
          <p:nvPr/>
        </p:nvSpPr>
        <p:spPr>
          <a:xfrm>
            <a:off x="192024"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Authoritative systems of record</a:t>
            </a:r>
            <a:endParaRPr lang="en-US" sz="520" dirty="0"/>
          </a:p>
        </p:txBody>
      </p:sp>
      <p:sp>
        <p:nvSpPr>
          <p:cNvPr id="31" name="Shape 22"/>
          <p:cNvSpPr/>
          <p:nvPr/>
        </p:nvSpPr>
        <p:spPr>
          <a:xfrm>
            <a:off x="1558366"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32" name="Shape 23"/>
          <p:cNvSpPr/>
          <p:nvPr/>
        </p:nvSpPr>
        <p:spPr>
          <a:xfrm>
            <a:off x="210312"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33" name="Image 7" descr="preencoded.png"/>
          <p:cNvPicPr>
            <a:picLocks noChangeAspect="1"/>
          </p:cNvPicPr>
          <p:nvPr/>
        </p:nvPicPr>
        <p:blipFill>
          <a:blip r:embed="rId3"/>
          <a:stretch>
            <a:fillRect/>
          </a:stretch>
        </p:blipFill>
        <p:spPr>
          <a:xfrm>
            <a:off x="256032" y="1421892"/>
            <a:ext cx="96012" cy="96012"/>
          </a:xfrm>
          <a:prstGeom prst="rect">
            <a:avLst/>
          </a:prstGeom>
        </p:spPr>
      </p:pic>
      <p:sp>
        <p:nvSpPr>
          <p:cNvPr id="34" name="Text 24"/>
          <p:cNvSpPr txBox="1"/>
          <p:nvPr/>
        </p:nvSpPr>
        <p:spPr>
          <a:xfrm>
            <a:off x="379476"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Jira Cloud</a:t>
            </a:r>
            <a:endParaRPr lang="en-US" sz="620" dirty="0"/>
          </a:p>
        </p:txBody>
      </p:sp>
      <p:sp>
        <p:nvSpPr>
          <p:cNvPr id="35" name="Text 25"/>
          <p:cNvSpPr txBox="1"/>
          <p:nvPr/>
        </p:nvSpPr>
        <p:spPr>
          <a:xfrm>
            <a:off x="256032"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User stories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Acceptance criteria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Epics, components, labels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Kanban &amp; sprint history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Linked issues &amp; defects</a:t>
            </a:r>
            <a:endParaRPr lang="en-US" sz="550" dirty="0"/>
          </a:p>
        </p:txBody>
      </p:sp>
      <p:sp>
        <p:nvSpPr>
          <p:cNvPr id="36" name="Shape 26"/>
          <p:cNvSpPr/>
          <p:nvPr/>
        </p:nvSpPr>
        <p:spPr>
          <a:xfrm>
            <a:off x="210312"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37" name="Image 8" descr="preencoded.png"/>
          <p:cNvPicPr>
            <a:picLocks noChangeAspect="1"/>
          </p:cNvPicPr>
          <p:nvPr/>
        </p:nvPicPr>
        <p:blipFill>
          <a:blip r:embed="rId4"/>
          <a:stretch>
            <a:fillRect/>
          </a:stretch>
        </p:blipFill>
        <p:spPr>
          <a:xfrm>
            <a:off x="256032" y="2091690"/>
            <a:ext cx="96012" cy="96012"/>
          </a:xfrm>
          <a:prstGeom prst="rect">
            <a:avLst/>
          </a:prstGeom>
        </p:spPr>
      </p:pic>
      <p:sp>
        <p:nvSpPr>
          <p:cNvPr id="38" name="Text 27"/>
          <p:cNvSpPr txBox="1"/>
          <p:nvPr/>
        </p:nvSpPr>
        <p:spPr>
          <a:xfrm>
            <a:off x="379476"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Confluence</a:t>
            </a:r>
            <a:endParaRPr lang="en-US" sz="620" dirty="0"/>
          </a:p>
        </p:txBody>
      </p:sp>
      <p:sp>
        <p:nvSpPr>
          <p:cNvPr id="39" name="Text 28"/>
          <p:cNvSpPr txBox="1"/>
          <p:nvPr/>
        </p:nvSpPr>
        <p:spPr>
          <a:xfrm>
            <a:off x="256032"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Functional design pages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Technical design pages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 tables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 diagrams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HFN / HPF runbooks</a:t>
            </a:r>
            <a:endParaRPr lang="en-US" sz="550" dirty="0"/>
          </a:p>
        </p:txBody>
      </p:sp>
      <p:sp>
        <p:nvSpPr>
          <p:cNvPr id="40" name="Shape 29"/>
          <p:cNvSpPr/>
          <p:nvPr/>
        </p:nvSpPr>
        <p:spPr>
          <a:xfrm>
            <a:off x="210312"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1" name="Image 9" descr="preencoded.png"/>
          <p:cNvPicPr>
            <a:picLocks noChangeAspect="1"/>
          </p:cNvPicPr>
          <p:nvPr/>
        </p:nvPicPr>
        <p:blipFill>
          <a:blip r:embed="rId5"/>
          <a:stretch>
            <a:fillRect/>
          </a:stretch>
        </p:blipFill>
        <p:spPr>
          <a:xfrm>
            <a:off x="256032" y="2761488"/>
            <a:ext cx="96012" cy="96012"/>
          </a:xfrm>
          <a:prstGeom prst="rect">
            <a:avLst/>
          </a:prstGeom>
        </p:spPr>
      </p:pic>
      <p:sp>
        <p:nvSpPr>
          <p:cNvPr id="42" name="Text 30"/>
          <p:cNvSpPr txBox="1"/>
          <p:nvPr/>
        </p:nvSpPr>
        <p:spPr>
          <a:xfrm>
            <a:off x="379476"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Salesforce</a:t>
            </a:r>
            <a:endParaRPr lang="en-US" sz="620" dirty="0"/>
          </a:p>
        </p:txBody>
      </p:sp>
      <p:sp>
        <p:nvSpPr>
          <p:cNvPr id="43" name="Text 31"/>
          <p:cNvSpPr txBox="1"/>
          <p:nvPr/>
        </p:nvSpPr>
        <p:spPr>
          <a:xfrm>
            <a:off x="256032"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Health Cloud org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HCP / Account, Facility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HPF, HFN, CPA, Fee Sched.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Fields, record types, rels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Flows, Apex, LWC, perm sets</a:t>
            </a:r>
            <a:endParaRPr lang="en-US" sz="550" dirty="0"/>
          </a:p>
        </p:txBody>
      </p:sp>
      <p:sp>
        <p:nvSpPr>
          <p:cNvPr id="44" name="Shape 32"/>
          <p:cNvSpPr/>
          <p:nvPr/>
        </p:nvSpPr>
        <p:spPr>
          <a:xfrm>
            <a:off x="210312"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5" name="Image 10" descr="preencoded.png"/>
          <p:cNvPicPr>
            <a:picLocks noChangeAspect="1"/>
          </p:cNvPicPr>
          <p:nvPr/>
        </p:nvPicPr>
        <p:blipFill>
          <a:blip r:embed="rId6"/>
          <a:stretch>
            <a:fillRect/>
          </a:stretch>
        </p:blipFill>
        <p:spPr>
          <a:xfrm>
            <a:off x="256032" y="3431286"/>
            <a:ext cx="96012" cy="96012"/>
          </a:xfrm>
          <a:prstGeom prst="rect">
            <a:avLst/>
          </a:prstGeom>
        </p:spPr>
      </p:pic>
      <p:sp>
        <p:nvSpPr>
          <p:cNvPr id="46" name="Text 33"/>
          <p:cNvSpPr txBox="1"/>
          <p:nvPr/>
        </p:nvSpPr>
        <p:spPr>
          <a:xfrm>
            <a:off x="379476"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Git (SFDX repo)</a:t>
            </a:r>
            <a:endParaRPr lang="en-US" sz="620" dirty="0"/>
          </a:p>
        </p:txBody>
      </p:sp>
      <p:sp>
        <p:nvSpPr>
          <p:cNvPr id="47" name="Text 34"/>
          <p:cNvSpPr txBox="1"/>
          <p:nvPr/>
        </p:nvSpPr>
        <p:spPr>
          <a:xfrm>
            <a:off x="256032"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force-app source tree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classes &amp; triggers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 bundles &amp; meta XML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test classes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Commits, branches, tags</a:t>
            </a:r>
            <a:endParaRPr lang="en-US" sz="550" dirty="0"/>
          </a:p>
        </p:txBody>
      </p:sp>
      <p:sp>
        <p:nvSpPr>
          <p:cNvPr id="48" name="Shape 35"/>
          <p:cNvSpPr/>
          <p:nvPr/>
        </p:nvSpPr>
        <p:spPr>
          <a:xfrm>
            <a:off x="210312"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9" name="Image 11" descr="preencoded.png"/>
          <p:cNvPicPr>
            <a:picLocks noChangeAspect="1"/>
          </p:cNvPicPr>
          <p:nvPr/>
        </p:nvPicPr>
        <p:blipFill>
          <a:blip r:embed="rId7"/>
          <a:stretch>
            <a:fillRect/>
          </a:stretch>
        </p:blipFill>
        <p:spPr>
          <a:xfrm>
            <a:off x="256032" y="4101084"/>
            <a:ext cx="96012" cy="96012"/>
          </a:xfrm>
          <a:prstGeom prst="rect">
            <a:avLst/>
          </a:prstGeom>
        </p:spPr>
      </p:pic>
      <p:sp>
        <p:nvSpPr>
          <p:cNvPr id="50" name="Text 36"/>
          <p:cNvSpPr txBox="1"/>
          <p:nvPr/>
        </p:nvSpPr>
        <p:spPr>
          <a:xfrm>
            <a:off x="379476"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Copado</a:t>
            </a:r>
            <a:endParaRPr lang="en-US" sz="620" dirty="0"/>
          </a:p>
        </p:txBody>
      </p:sp>
      <p:sp>
        <p:nvSpPr>
          <p:cNvPr id="51" name="Text 37"/>
          <p:cNvSpPr txBox="1"/>
          <p:nvPr/>
        </p:nvSpPr>
        <p:spPr>
          <a:xfrm>
            <a:off x="256032"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User stories &amp; promotions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Deployment records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testing suites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Regression test runs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DEV → SIT → UAT → PROD</a:t>
            </a:r>
            <a:endParaRPr lang="en-US" sz="550" dirty="0"/>
          </a:p>
        </p:txBody>
      </p:sp>
      <p:sp>
        <p:nvSpPr>
          <p:cNvPr id="52" name="Shape 38"/>
          <p:cNvSpPr/>
          <p:nvPr/>
        </p:nvSpPr>
        <p:spPr>
          <a:xfrm>
            <a:off x="210312"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53" name="Image 12" descr="preencoded.png"/>
          <p:cNvPicPr>
            <a:picLocks noChangeAspect="1"/>
          </p:cNvPicPr>
          <p:nvPr/>
        </p:nvPicPr>
        <p:blipFill>
          <a:blip r:embed="rId8"/>
          <a:stretch>
            <a:fillRect/>
          </a:stretch>
        </p:blipFill>
        <p:spPr>
          <a:xfrm>
            <a:off x="256032" y="4770882"/>
            <a:ext cx="96012" cy="96012"/>
          </a:xfrm>
          <a:prstGeom prst="rect">
            <a:avLst/>
          </a:prstGeom>
        </p:spPr>
      </p:pic>
      <p:sp>
        <p:nvSpPr>
          <p:cNvPr id="54" name="Text 39"/>
          <p:cNvSpPr txBox="1"/>
          <p:nvPr/>
        </p:nvSpPr>
        <p:spPr>
          <a:xfrm>
            <a:off x="379476"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Google Drive</a:t>
            </a:r>
            <a:endParaRPr lang="en-US" sz="620" dirty="0"/>
          </a:p>
        </p:txBody>
      </p:sp>
      <p:sp>
        <p:nvSpPr>
          <p:cNvPr id="55" name="Text 40"/>
          <p:cNvSpPr txBox="1"/>
          <p:nvPr/>
        </p:nvSpPr>
        <p:spPr>
          <a:xfrm>
            <a:off x="256032"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Shared delivery documents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Spec &amp; mapping sheets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Test-data workbooks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Evidence exports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Decision &amp; meeting notes</a:t>
            </a:r>
            <a:endParaRPr lang="en-US" sz="550" dirty="0"/>
          </a:p>
        </p:txBody>
      </p:sp>
      <p:sp>
        <p:nvSpPr>
          <p:cNvPr id="56" name="Shape 41"/>
          <p:cNvSpPr/>
          <p:nvPr/>
        </p:nvSpPr>
        <p:spPr>
          <a:xfrm>
            <a:off x="210312" y="5404104"/>
            <a:ext cx="1295019" cy="384048"/>
          </a:xfrm>
          <a:prstGeom prst="roundRect">
            <a:avLst>
              <a:gd name="adj" fmla="val 9524"/>
            </a:avLst>
          </a:prstGeom>
          <a:solidFill>
            <a:srgbClr val="1B6BC0"/>
          </a:solidFill>
          <a:ln w="12700">
            <a:solidFill>
              <a:srgbClr val="1B6BC0"/>
            </a:solidFill>
            <a:prstDash val="solid"/>
          </a:ln>
        </p:spPr>
        <p:txBody>
          <a:bodyPr/>
          <a:lstStyle/>
          <a:p>
            <a:endParaRPr lang="en-IN"/>
          </a:p>
        </p:txBody>
      </p:sp>
      <p:sp>
        <p:nvSpPr>
          <p:cNvPr id="57" name="Text 42"/>
          <p:cNvSpPr txBox="1"/>
          <p:nvPr/>
        </p:nvSpPr>
        <p:spPr>
          <a:xfrm>
            <a:off x="256032"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58" name="Text 43"/>
          <p:cNvSpPr txBox="1"/>
          <p:nvPr/>
        </p:nvSpPr>
        <p:spPr>
          <a:xfrm>
            <a:off x="256032"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Every delivery fact in one place, no more tribal knowledge</a:t>
            </a:r>
            <a:endParaRPr lang="en-US" sz="520" dirty="0"/>
          </a:p>
        </p:txBody>
      </p:sp>
      <p:sp>
        <p:nvSpPr>
          <p:cNvPr id="59" name="Shape 44"/>
          <p:cNvSpPr/>
          <p:nvPr/>
        </p:nvSpPr>
        <p:spPr>
          <a:xfrm>
            <a:off x="1660779" y="722376"/>
            <a:ext cx="1386459" cy="5111496"/>
          </a:xfrm>
          <a:prstGeom prst="roundRect">
            <a:avLst>
              <a:gd name="adj" fmla="val 3298"/>
            </a:avLst>
          </a:prstGeom>
          <a:solidFill>
            <a:srgbClr val="E5F4F1"/>
          </a:solidFill>
          <a:ln w="9525">
            <a:solidFill>
              <a:srgbClr val="DCE4EE"/>
            </a:solidFill>
            <a:prstDash val="solid"/>
          </a:ln>
        </p:spPr>
        <p:txBody>
          <a:bodyPr/>
          <a:lstStyle/>
          <a:p>
            <a:endParaRPr lang="en-IN"/>
          </a:p>
        </p:txBody>
      </p:sp>
      <p:sp>
        <p:nvSpPr>
          <p:cNvPr id="60" name="Shape 45"/>
          <p:cNvSpPr/>
          <p:nvPr/>
        </p:nvSpPr>
        <p:spPr>
          <a:xfrm>
            <a:off x="1660779" y="722376"/>
            <a:ext cx="1386459" cy="621792"/>
          </a:xfrm>
          <a:prstGeom prst="roundRect">
            <a:avLst>
              <a:gd name="adj" fmla="val 7353"/>
            </a:avLst>
          </a:prstGeom>
          <a:solidFill>
            <a:srgbClr val="0E8A7D"/>
          </a:solidFill>
          <a:ln w="12700">
            <a:solidFill>
              <a:srgbClr val="0E8A7D"/>
            </a:solidFill>
            <a:prstDash val="solid"/>
          </a:ln>
        </p:spPr>
        <p:txBody>
          <a:bodyPr/>
          <a:lstStyle/>
          <a:p>
            <a:endParaRPr lang="en-IN"/>
          </a:p>
        </p:txBody>
      </p:sp>
      <p:pic>
        <p:nvPicPr>
          <p:cNvPr id="61" name="Image 13" descr="preencoded.png"/>
          <p:cNvPicPr>
            <a:picLocks noChangeAspect="1"/>
          </p:cNvPicPr>
          <p:nvPr/>
        </p:nvPicPr>
        <p:blipFill>
          <a:blip r:embed="rId10"/>
          <a:stretch>
            <a:fillRect/>
          </a:stretch>
        </p:blipFill>
        <p:spPr>
          <a:xfrm>
            <a:off x="2285428" y="754380"/>
            <a:ext cx="137160" cy="137160"/>
          </a:xfrm>
          <a:prstGeom prst="rect">
            <a:avLst/>
          </a:prstGeom>
        </p:spPr>
      </p:pic>
      <p:sp>
        <p:nvSpPr>
          <p:cNvPr id="62" name="Text 46"/>
          <p:cNvSpPr txBox="1"/>
          <p:nvPr/>
        </p:nvSpPr>
        <p:spPr>
          <a:xfrm>
            <a:off x="1697355"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2</a:t>
            </a:r>
            <a:endParaRPr lang="en-US" sz="560" dirty="0"/>
          </a:p>
        </p:txBody>
      </p:sp>
      <p:sp>
        <p:nvSpPr>
          <p:cNvPr id="63" name="Text 47"/>
          <p:cNvSpPr txBox="1"/>
          <p:nvPr/>
        </p:nvSpPr>
        <p:spPr>
          <a:xfrm>
            <a:off x="1688211"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Source Connectors</a:t>
            </a:r>
            <a:endParaRPr lang="en-US" sz="800" dirty="0"/>
          </a:p>
        </p:txBody>
      </p:sp>
      <p:sp>
        <p:nvSpPr>
          <p:cNvPr id="64" name="Text 48"/>
          <p:cNvSpPr txBox="1"/>
          <p:nvPr/>
        </p:nvSpPr>
        <p:spPr>
          <a:xfrm>
            <a:off x="1688211"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AI Read Service · read-only</a:t>
            </a:r>
            <a:endParaRPr lang="en-US" sz="520" dirty="0"/>
          </a:p>
        </p:txBody>
      </p:sp>
      <p:sp>
        <p:nvSpPr>
          <p:cNvPr id="65" name="Shape 49"/>
          <p:cNvSpPr/>
          <p:nvPr/>
        </p:nvSpPr>
        <p:spPr>
          <a:xfrm>
            <a:off x="3054553"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66" name="Shape 50"/>
          <p:cNvSpPr/>
          <p:nvPr/>
        </p:nvSpPr>
        <p:spPr>
          <a:xfrm>
            <a:off x="1706499"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67" name="Image 14" descr="preencoded.png"/>
          <p:cNvPicPr>
            <a:picLocks noChangeAspect="1"/>
          </p:cNvPicPr>
          <p:nvPr/>
        </p:nvPicPr>
        <p:blipFill>
          <a:blip r:embed="rId3"/>
          <a:stretch>
            <a:fillRect/>
          </a:stretch>
        </p:blipFill>
        <p:spPr>
          <a:xfrm>
            <a:off x="1752219" y="1421892"/>
            <a:ext cx="96012" cy="96012"/>
          </a:xfrm>
          <a:prstGeom prst="rect">
            <a:avLst/>
          </a:prstGeom>
        </p:spPr>
      </p:pic>
      <p:sp>
        <p:nvSpPr>
          <p:cNvPr id="68" name="Text 51"/>
          <p:cNvSpPr txBox="1"/>
          <p:nvPr/>
        </p:nvSpPr>
        <p:spPr>
          <a:xfrm>
            <a:off x="1875663"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JiraSourceConnector</a:t>
            </a:r>
            <a:endParaRPr lang="en-US" sz="620" dirty="0"/>
          </a:p>
        </p:txBody>
      </p:sp>
      <p:sp>
        <p:nvSpPr>
          <p:cNvPr id="69" name="Text 52"/>
          <p:cNvSpPr txBox="1"/>
          <p:nvPr/>
        </p:nvSpPr>
        <p:spPr>
          <a:xfrm>
            <a:off x="1752219"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(3LO) / API token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scopes only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JQL delta pull (lastSyncAt)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Paging, 429 backoff</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per issue payload</a:t>
            </a:r>
            <a:endParaRPr lang="en-US" sz="550" dirty="0"/>
          </a:p>
        </p:txBody>
      </p:sp>
      <p:sp>
        <p:nvSpPr>
          <p:cNvPr id="70" name="Shape 53"/>
          <p:cNvSpPr/>
          <p:nvPr/>
        </p:nvSpPr>
        <p:spPr>
          <a:xfrm>
            <a:off x="1706499"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1" name="Image 15" descr="preencoded.png"/>
          <p:cNvPicPr>
            <a:picLocks noChangeAspect="1"/>
          </p:cNvPicPr>
          <p:nvPr/>
        </p:nvPicPr>
        <p:blipFill>
          <a:blip r:embed="rId4"/>
          <a:stretch>
            <a:fillRect/>
          </a:stretch>
        </p:blipFill>
        <p:spPr>
          <a:xfrm>
            <a:off x="1752219" y="2091690"/>
            <a:ext cx="96012" cy="96012"/>
          </a:xfrm>
          <a:prstGeom prst="rect">
            <a:avLst/>
          </a:prstGeom>
        </p:spPr>
      </p:pic>
      <p:sp>
        <p:nvSpPr>
          <p:cNvPr id="72" name="Text 54"/>
          <p:cNvSpPr txBox="1"/>
          <p:nvPr/>
        </p:nvSpPr>
        <p:spPr>
          <a:xfrm>
            <a:off x="1875663"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ConfluenceConnector</a:t>
            </a:r>
            <a:endParaRPr lang="en-US" sz="620" dirty="0"/>
          </a:p>
        </p:txBody>
      </p:sp>
      <p:sp>
        <p:nvSpPr>
          <p:cNvPr id="73" name="Text 55"/>
          <p:cNvSpPr txBox="1"/>
          <p:nvPr/>
        </p:nvSpPr>
        <p:spPr>
          <a:xfrm>
            <a:off x="1752219"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PAT / API token auth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Space + label scoped pull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HTML via body.storage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Version + lastUpdated delta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Rate limited · SHA-256</a:t>
            </a:r>
            <a:endParaRPr lang="en-US" sz="550" dirty="0"/>
          </a:p>
        </p:txBody>
      </p:sp>
      <p:sp>
        <p:nvSpPr>
          <p:cNvPr id="74" name="Shape 56"/>
          <p:cNvSpPr/>
          <p:nvPr/>
        </p:nvSpPr>
        <p:spPr>
          <a:xfrm>
            <a:off x="1706499"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5" name="Image 16" descr="preencoded.png"/>
          <p:cNvPicPr>
            <a:picLocks noChangeAspect="1"/>
          </p:cNvPicPr>
          <p:nvPr/>
        </p:nvPicPr>
        <p:blipFill>
          <a:blip r:embed="rId5"/>
          <a:stretch>
            <a:fillRect/>
          </a:stretch>
        </p:blipFill>
        <p:spPr>
          <a:xfrm>
            <a:off x="1752219" y="2761488"/>
            <a:ext cx="96012" cy="96012"/>
          </a:xfrm>
          <a:prstGeom prst="rect">
            <a:avLst/>
          </a:prstGeom>
        </p:spPr>
      </p:pic>
      <p:sp>
        <p:nvSpPr>
          <p:cNvPr id="76" name="Text 57"/>
          <p:cNvSpPr txBox="1"/>
          <p:nvPr/>
        </p:nvSpPr>
        <p:spPr>
          <a:xfrm>
            <a:off x="1875663"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SalesforceConnector</a:t>
            </a:r>
            <a:endParaRPr lang="en-US" sz="620" dirty="0"/>
          </a:p>
        </p:txBody>
      </p:sp>
      <p:sp>
        <p:nvSpPr>
          <p:cNvPr id="77" name="Text 58"/>
          <p:cNvSpPr txBox="1"/>
          <p:nvPr/>
        </p:nvSpPr>
        <p:spPr>
          <a:xfrm>
            <a:off x="1752219"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Connected App JWT bearer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perm set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No record-data access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Tooling + Metadata API</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MetadataComponentDep.</a:t>
            </a:r>
            <a:endParaRPr lang="en-US" sz="550" dirty="0"/>
          </a:p>
        </p:txBody>
      </p:sp>
      <p:sp>
        <p:nvSpPr>
          <p:cNvPr id="78" name="Shape 59"/>
          <p:cNvSpPr/>
          <p:nvPr/>
        </p:nvSpPr>
        <p:spPr>
          <a:xfrm>
            <a:off x="1706499"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9" name="Image 17" descr="preencoded.png"/>
          <p:cNvPicPr>
            <a:picLocks noChangeAspect="1"/>
          </p:cNvPicPr>
          <p:nvPr/>
        </p:nvPicPr>
        <p:blipFill>
          <a:blip r:embed="rId6"/>
          <a:stretch>
            <a:fillRect/>
          </a:stretch>
        </p:blipFill>
        <p:spPr>
          <a:xfrm>
            <a:off x="1752219" y="3431286"/>
            <a:ext cx="96012" cy="96012"/>
          </a:xfrm>
          <a:prstGeom prst="rect">
            <a:avLst/>
          </a:prstGeom>
        </p:spPr>
      </p:pic>
      <p:sp>
        <p:nvSpPr>
          <p:cNvPr id="80" name="Text 60"/>
          <p:cNvSpPr txBox="1"/>
          <p:nvPr/>
        </p:nvSpPr>
        <p:spPr>
          <a:xfrm>
            <a:off x="1875663"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GitSourceConnector</a:t>
            </a:r>
            <a:endParaRPr lang="en-US" sz="620" dirty="0"/>
          </a:p>
        </p:txBody>
      </p:sp>
      <p:sp>
        <p:nvSpPr>
          <p:cNvPr id="81" name="Text 61"/>
          <p:cNvSpPr txBox="1"/>
          <p:nvPr/>
        </p:nvSpPr>
        <p:spPr>
          <a:xfrm>
            <a:off x="1752219"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SSH deploy key / read PAT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Shallow clone + fetch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Branch &amp; tag traversal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Commit SHA, author, date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Per-file SHA-256, no push</a:t>
            </a:r>
            <a:endParaRPr lang="en-US" sz="550" dirty="0"/>
          </a:p>
        </p:txBody>
      </p:sp>
      <p:sp>
        <p:nvSpPr>
          <p:cNvPr id="82" name="Shape 62"/>
          <p:cNvSpPr/>
          <p:nvPr/>
        </p:nvSpPr>
        <p:spPr>
          <a:xfrm>
            <a:off x="1706499"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83" name="Image 18" descr="preencoded.png"/>
          <p:cNvPicPr>
            <a:picLocks noChangeAspect="1"/>
          </p:cNvPicPr>
          <p:nvPr/>
        </p:nvPicPr>
        <p:blipFill>
          <a:blip r:embed="rId7"/>
          <a:stretch>
            <a:fillRect/>
          </a:stretch>
        </p:blipFill>
        <p:spPr>
          <a:xfrm>
            <a:off x="1752219" y="4101084"/>
            <a:ext cx="96012" cy="96012"/>
          </a:xfrm>
          <a:prstGeom prst="rect">
            <a:avLst/>
          </a:prstGeom>
        </p:spPr>
      </p:pic>
      <p:sp>
        <p:nvSpPr>
          <p:cNvPr id="84" name="Text 63"/>
          <p:cNvSpPr txBox="1"/>
          <p:nvPr/>
        </p:nvSpPr>
        <p:spPr>
          <a:xfrm>
            <a:off x="1875663"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CopadoConnector</a:t>
            </a:r>
            <a:endParaRPr lang="en-US" sz="620" dirty="0"/>
          </a:p>
        </p:txBody>
      </p:sp>
      <p:sp>
        <p:nvSpPr>
          <p:cNvPr id="85" name="Text 64"/>
          <p:cNvSpPr txBox="1"/>
          <p:nvPr/>
        </p:nvSpPr>
        <p:spPr>
          <a:xfrm>
            <a:off x="1752219"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client creds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API user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Stories + promotions pull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 regression runs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Deployment records per env</a:t>
            </a:r>
            <a:endParaRPr lang="en-US" sz="550" dirty="0"/>
          </a:p>
        </p:txBody>
      </p:sp>
      <p:sp>
        <p:nvSpPr>
          <p:cNvPr id="86" name="Shape 65"/>
          <p:cNvSpPr/>
          <p:nvPr/>
        </p:nvSpPr>
        <p:spPr>
          <a:xfrm>
            <a:off x="1706499"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87" name="Image 19" descr="preencoded.png"/>
          <p:cNvPicPr>
            <a:picLocks noChangeAspect="1"/>
          </p:cNvPicPr>
          <p:nvPr/>
        </p:nvPicPr>
        <p:blipFill>
          <a:blip r:embed="rId8"/>
          <a:stretch>
            <a:fillRect/>
          </a:stretch>
        </p:blipFill>
        <p:spPr>
          <a:xfrm>
            <a:off x="1752219" y="4770882"/>
            <a:ext cx="96012" cy="96012"/>
          </a:xfrm>
          <a:prstGeom prst="rect">
            <a:avLst/>
          </a:prstGeom>
        </p:spPr>
      </p:pic>
      <p:sp>
        <p:nvSpPr>
          <p:cNvPr id="88" name="Text 66"/>
          <p:cNvSpPr txBox="1"/>
          <p:nvPr/>
        </p:nvSpPr>
        <p:spPr>
          <a:xfrm>
            <a:off x="1875663"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GoogleDriveConnector</a:t>
            </a:r>
            <a:endParaRPr lang="en-US" sz="620" dirty="0"/>
          </a:p>
        </p:txBody>
      </p:sp>
      <p:sp>
        <p:nvSpPr>
          <p:cNvPr id="89" name="Text 67"/>
          <p:cNvSpPr txBox="1"/>
          <p:nvPr/>
        </p:nvSpPr>
        <p:spPr>
          <a:xfrm>
            <a:off x="1752219"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service account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Drive API v3, shared drive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files.list + files.export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Docs / Sheets → text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Change-token delta sync</a:t>
            </a:r>
            <a:endParaRPr lang="en-US" sz="550" dirty="0"/>
          </a:p>
        </p:txBody>
      </p:sp>
      <p:sp>
        <p:nvSpPr>
          <p:cNvPr id="90" name="Shape 68"/>
          <p:cNvSpPr/>
          <p:nvPr/>
        </p:nvSpPr>
        <p:spPr>
          <a:xfrm>
            <a:off x="1706499" y="5404104"/>
            <a:ext cx="1295019" cy="384048"/>
          </a:xfrm>
          <a:prstGeom prst="roundRect">
            <a:avLst>
              <a:gd name="adj" fmla="val 9524"/>
            </a:avLst>
          </a:prstGeom>
          <a:solidFill>
            <a:srgbClr val="0E8A7D"/>
          </a:solidFill>
          <a:ln w="12700">
            <a:solidFill>
              <a:srgbClr val="0E8A7D"/>
            </a:solidFill>
            <a:prstDash val="solid"/>
          </a:ln>
        </p:spPr>
        <p:txBody>
          <a:bodyPr/>
          <a:lstStyle/>
          <a:p>
            <a:endParaRPr lang="en-IN"/>
          </a:p>
        </p:txBody>
      </p:sp>
      <p:sp>
        <p:nvSpPr>
          <p:cNvPr id="91" name="Text 69"/>
          <p:cNvSpPr txBox="1"/>
          <p:nvPr/>
        </p:nvSpPr>
        <p:spPr>
          <a:xfrm>
            <a:off x="1752219"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92" name="Text 70"/>
          <p:cNvSpPr txBox="1"/>
          <p:nvPr/>
        </p:nvSpPr>
        <p:spPr>
          <a:xfrm>
            <a:off x="1752219"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Safe, repeatable reads, no writes, no production credentials</a:t>
            </a:r>
            <a:endParaRPr lang="en-US" sz="520" dirty="0"/>
          </a:p>
        </p:txBody>
      </p:sp>
      <p:sp>
        <p:nvSpPr>
          <p:cNvPr id="93" name="Shape 71"/>
          <p:cNvSpPr/>
          <p:nvPr/>
        </p:nvSpPr>
        <p:spPr>
          <a:xfrm>
            <a:off x="3156966" y="722376"/>
            <a:ext cx="1386459" cy="5111496"/>
          </a:xfrm>
          <a:prstGeom prst="roundRect">
            <a:avLst>
              <a:gd name="adj" fmla="val 3298"/>
            </a:avLst>
          </a:prstGeom>
          <a:solidFill>
            <a:srgbClr val="F0EBFA"/>
          </a:solidFill>
          <a:ln w="9525">
            <a:solidFill>
              <a:srgbClr val="DCE4EE"/>
            </a:solidFill>
            <a:prstDash val="solid"/>
          </a:ln>
        </p:spPr>
        <p:txBody>
          <a:bodyPr/>
          <a:lstStyle/>
          <a:p>
            <a:endParaRPr lang="en-IN"/>
          </a:p>
        </p:txBody>
      </p:sp>
      <p:sp>
        <p:nvSpPr>
          <p:cNvPr id="94" name="Shape 72"/>
          <p:cNvSpPr/>
          <p:nvPr/>
        </p:nvSpPr>
        <p:spPr>
          <a:xfrm>
            <a:off x="3156966" y="722376"/>
            <a:ext cx="1386459" cy="621792"/>
          </a:xfrm>
          <a:prstGeom prst="roundRect">
            <a:avLst>
              <a:gd name="adj" fmla="val 7353"/>
            </a:avLst>
          </a:prstGeom>
          <a:solidFill>
            <a:srgbClr val="7A4FC0"/>
          </a:solidFill>
          <a:ln w="12700">
            <a:solidFill>
              <a:srgbClr val="7A4FC0"/>
            </a:solidFill>
            <a:prstDash val="solid"/>
          </a:ln>
        </p:spPr>
        <p:txBody>
          <a:bodyPr/>
          <a:lstStyle/>
          <a:p>
            <a:endParaRPr lang="en-IN"/>
          </a:p>
        </p:txBody>
      </p:sp>
      <p:pic>
        <p:nvPicPr>
          <p:cNvPr id="95" name="Image 20" descr="preencoded.png"/>
          <p:cNvPicPr>
            <a:picLocks noChangeAspect="1"/>
          </p:cNvPicPr>
          <p:nvPr/>
        </p:nvPicPr>
        <p:blipFill>
          <a:blip r:embed="rId11"/>
          <a:stretch>
            <a:fillRect/>
          </a:stretch>
        </p:blipFill>
        <p:spPr>
          <a:xfrm>
            <a:off x="3781616" y="754380"/>
            <a:ext cx="137160" cy="137160"/>
          </a:xfrm>
          <a:prstGeom prst="rect">
            <a:avLst/>
          </a:prstGeom>
        </p:spPr>
      </p:pic>
      <p:sp>
        <p:nvSpPr>
          <p:cNvPr id="96" name="Text 73"/>
          <p:cNvSpPr txBox="1"/>
          <p:nvPr/>
        </p:nvSpPr>
        <p:spPr>
          <a:xfrm>
            <a:off x="3193542"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3</a:t>
            </a:r>
            <a:endParaRPr lang="en-US" sz="560" dirty="0"/>
          </a:p>
        </p:txBody>
      </p:sp>
      <p:sp>
        <p:nvSpPr>
          <p:cNvPr id="97" name="Text 74"/>
          <p:cNvSpPr txBox="1"/>
          <p:nvPr/>
        </p:nvSpPr>
        <p:spPr>
          <a:xfrm>
            <a:off x="3184398"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Ingestors</a:t>
            </a:r>
            <a:endParaRPr lang="en-US" sz="800" dirty="0"/>
          </a:p>
        </p:txBody>
      </p:sp>
      <p:sp>
        <p:nvSpPr>
          <p:cNvPr id="98" name="Text 75"/>
          <p:cNvSpPr txBox="1"/>
          <p:nvPr/>
        </p:nvSpPr>
        <p:spPr>
          <a:xfrm>
            <a:off x="3184398"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Parse → domain model</a:t>
            </a:r>
            <a:endParaRPr lang="en-US" sz="520" dirty="0"/>
          </a:p>
        </p:txBody>
      </p:sp>
      <p:sp>
        <p:nvSpPr>
          <p:cNvPr id="99" name="Shape 76"/>
          <p:cNvSpPr/>
          <p:nvPr/>
        </p:nvSpPr>
        <p:spPr>
          <a:xfrm>
            <a:off x="4550740"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00" name="Shape 77"/>
          <p:cNvSpPr/>
          <p:nvPr/>
        </p:nvSpPr>
        <p:spPr>
          <a:xfrm>
            <a:off x="3202686"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1" name="Image 21" descr="preencoded.png"/>
          <p:cNvPicPr>
            <a:picLocks noChangeAspect="1"/>
          </p:cNvPicPr>
          <p:nvPr/>
        </p:nvPicPr>
        <p:blipFill>
          <a:blip r:embed="rId3"/>
          <a:stretch>
            <a:fillRect/>
          </a:stretch>
        </p:blipFill>
        <p:spPr>
          <a:xfrm>
            <a:off x="3248406" y="1421892"/>
            <a:ext cx="96012" cy="96012"/>
          </a:xfrm>
          <a:prstGeom prst="rect">
            <a:avLst/>
          </a:prstGeom>
        </p:spPr>
      </p:pic>
      <p:sp>
        <p:nvSpPr>
          <p:cNvPr id="102" name="Text 78"/>
          <p:cNvSpPr txBox="1"/>
          <p:nvPr/>
        </p:nvSpPr>
        <p:spPr>
          <a:xfrm>
            <a:off x="3371850"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Jira → Requirements</a:t>
            </a:r>
            <a:endParaRPr lang="en-US" sz="620" dirty="0"/>
          </a:p>
        </p:txBody>
      </p:sp>
      <p:sp>
        <p:nvSpPr>
          <p:cNvPr id="103" name="Text 79"/>
          <p:cNvSpPr txBox="1"/>
          <p:nvPr/>
        </p:nvSpPr>
        <p:spPr>
          <a:xfrm>
            <a:off x="3248406"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ADF JSON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 extraction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Given / When / Then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Capability tagging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key + hash</a:t>
            </a:r>
            <a:endParaRPr lang="en-US" sz="550" dirty="0"/>
          </a:p>
        </p:txBody>
      </p:sp>
      <p:sp>
        <p:nvSpPr>
          <p:cNvPr id="104" name="Shape 80"/>
          <p:cNvSpPr/>
          <p:nvPr/>
        </p:nvSpPr>
        <p:spPr>
          <a:xfrm>
            <a:off x="3202686"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5" name="Image 22" descr="preencoded.png"/>
          <p:cNvPicPr>
            <a:picLocks noChangeAspect="1"/>
          </p:cNvPicPr>
          <p:nvPr/>
        </p:nvPicPr>
        <p:blipFill>
          <a:blip r:embed="rId4"/>
          <a:stretch>
            <a:fillRect/>
          </a:stretch>
        </p:blipFill>
        <p:spPr>
          <a:xfrm>
            <a:off x="3248406" y="2091690"/>
            <a:ext cx="96012" cy="96012"/>
          </a:xfrm>
          <a:prstGeom prst="rect">
            <a:avLst/>
          </a:prstGeom>
        </p:spPr>
      </p:pic>
      <p:sp>
        <p:nvSpPr>
          <p:cNvPr id="106" name="Text 81"/>
          <p:cNvSpPr txBox="1"/>
          <p:nvPr/>
        </p:nvSpPr>
        <p:spPr>
          <a:xfrm>
            <a:off x="3371850"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Confluence → Design</a:t>
            </a:r>
            <a:endParaRPr lang="en-US" sz="620" dirty="0"/>
          </a:p>
        </p:txBody>
      </p:sp>
      <p:sp>
        <p:nvSpPr>
          <p:cNvPr id="107" name="Text 82"/>
          <p:cNvSpPr txBox="1"/>
          <p:nvPr/>
        </p:nvSpPr>
        <p:spPr>
          <a:xfrm>
            <a:off x="3248406"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Jsoup HTML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Sections H1–H4</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Tables: headers, rows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 sentences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id, version</a:t>
            </a:r>
            <a:endParaRPr lang="en-US" sz="550" dirty="0"/>
          </a:p>
        </p:txBody>
      </p:sp>
      <p:sp>
        <p:nvSpPr>
          <p:cNvPr id="108" name="Shape 83"/>
          <p:cNvSpPr/>
          <p:nvPr/>
        </p:nvSpPr>
        <p:spPr>
          <a:xfrm>
            <a:off x="3202686"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9" name="Image 23" descr="preencoded.png"/>
          <p:cNvPicPr>
            <a:picLocks noChangeAspect="1"/>
          </p:cNvPicPr>
          <p:nvPr/>
        </p:nvPicPr>
        <p:blipFill>
          <a:blip r:embed="rId5"/>
          <a:stretch>
            <a:fillRect/>
          </a:stretch>
        </p:blipFill>
        <p:spPr>
          <a:xfrm>
            <a:off x="3248406" y="2761488"/>
            <a:ext cx="96012" cy="96012"/>
          </a:xfrm>
          <a:prstGeom prst="rect">
            <a:avLst/>
          </a:prstGeom>
        </p:spPr>
      </p:pic>
      <p:sp>
        <p:nvSpPr>
          <p:cNvPr id="110" name="Text 84"/>
          <p:cNvSpPr txBox="1"/>
          <p:nvPr/>
        </p:nvSpPr>
        <p:spPr>
          <a:xfrm>
            <a:off x="3371850"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Salesforce → Metadata</a:t>
            </a:r>
            <a:endParaRPr lang="en-US" sz="620" dirty="0"/>
          </a:p>
        </p:txBody>
      </p:sp>
      <p:sp>
        <p:nvSpPr>
          <p:cNvPr id="111" name="Text 85"/>
          <p:cNvSpPr txBox="1"/>
          <p:nvPr/>
        </p:nvSpPr>
        <p:spPr>
          <a:xfrm>
            <a:off x="3248406"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describe() → objects, fields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 XML: elements, rules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SOQL, DML, sObjects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Validation rule formulas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Dependency API → edges</a:t>
            </a:r>
            <a:endParaRPr lang="en-US" sz="550" dirty="0"/>
          </a:p>
        </p:txBody>
      </p:sp>
      <p:sp>
        <p:nvSpPr>
          <p:cNvPr id="112" name="Shape 86"/>
          <p:cNvSpPr/>
          <p:nvPr/>
        </p:nvSpPr>
        <p:spPr>
          <a:xfrm>
            <a:off x="3202686"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13" name="Image 24" descr="preencoded.png"/>
          <p:cNvPicPr>
            <a:picLocks noChangeAspect="1"/>
          </p:cNvPicPr>
          <p:nvPr/>
        </p:nvPicPr>
        <p:blipFill>
          <a:blip r:embed="rId6"/>
          <a:stretch>
            <a:fillRect/>
          </a:stretch>
        </p:blipFill>
        <p:spPr>
          <a:xfrm>
            <a:off x="3248406" y="3431286"/>
            <a:ext cx="96012" cy="96012"/>
          </a:xfrm>
          <a:prstGeom prst="rect">
            <a:avLst/>
          </a:prstGeom>
        </p:spPr>
      </p:pic>
      <p:sp>
        <p:nvSpPr>
          <p:cNvPr id="114" name="Text 87"/>
          <p:cNvSpPr txBox="1"/>
          <p:nvPr/>
        </p:nvSpPr>
        <p:spPr>
          <a:xfrm>
            <a:off x="3371850"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Git → Code</a:t>
            </a:r>
            <a:endParaRPr lang="en-US" sz="620" dirty="0"/>
          </a:p>
        </p:txBody>
      </p:sp>
      <p:sp>
        <p:nvSpPr>
          <p:cNvPr id="115" name="Text 88"/>
          <p:cNvSpPr txBox="1"/>
          <p:nvPr/>
        </p:nvSpPr>
        <p:spPr>
          <a:xfrm>
            <a:off x="3248406"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SFDX source traversal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parsing (@isTest)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 → covered class map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 + meta XML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path + commit</a:t>
            </a:r>
            <a:endParaRPr lang="en-US" sz="550" dirty="0"/>
          </a:p>
        </p:txBody>
      </p:sp>
      <p:sp>
        <p:nvSpPr>
          <p:cNvPr id="116" name="Shape 89"/>
          <p:cNvSpPr/>
          <p:nvPr/>
        </p:nvSpPr>
        <p:spPr>
          <a:xfrm>
            <a:off x="3202686"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17" name="Image 25" descr="preencoded.png"/>
          <p:cNvPicPr>
            <a:picLocks noChangeAspect="1"/>
          </p:cNvPicPr>
          <p:nvPr/>
        </p:nvPicPr>
        <p:blipFill>
          <a:blip r:embed="rId7"/>
          <a:stretch>
            <a:fillRect/>
          </a:stretch>
        </p:blipFill>
        <p:spPr>
          <a:xfrm>
            <a:off x="3248406" y="4101084"/>
            <a:ext cx="96012" cy="96012"/>
          </a:xfrm>
          <a:prstGeom prst="rect">
            <a:avLst/>
          </a:prstGeom>
        </p:spPr>
      </p:pic>
      <p:sp>
        <p:nvSpPr>
          <p:cNvPr id="118" name="Text 90"/>
          <p:cNvSpPr txBox="1"/>
          <p:nvPr/>
        </p:nvSpPr>
        <p:spPr>
          <a:xfrm>
            <a:off x="3371850"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Copado → Releases</a:t>
            </a:r>
            <a:endParaRPr lang="en-US" sz="620" dirty="0"/>
          </a:p>
        </p:txBody>
      </p:sp>
      <p:sp>
        <p:nvSpPr>
          <p:cNvPr id="119" name="Text 91"/>
          <p:cNvSpPr txBox="1"/>
          <p:nvPr/>
        </p:nvSpPr>
        <p:spPr>
          <a:xfrm>
            <a:off x="3248406"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Story → component mapping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Promotion &amp; deployment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test → 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Regression + evidence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Environment / stage map</a:t>
            </a:r>
            <a:endParaRPr lang="en-US" sz="550" dirty="0"/>
          </a:p>
        </p:txBody>
      </p:sp>
      <p:sp>
        <p:nvSpPr>
          <p:cNvPr id="120" name="Shape 92"/>
          <p:cNvSpPr/>
          <p:nvPr/>
        </p:nvSpPr>
        <p:spPr>
          <a:xfrm>
            <a:off x="3202686"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21" name="Image 26" descr="preencoded.png"/>
          <p:cNvPicPr>
            <a:picLocks noChangeAspect="1"/>
          </p:cNvPicPr>
          <p:nvPr/>
        </p:nvPicPr>
        <p:blipFill>
          <a:blip r:embed="rId8"/>
          <a:stretch>
            <a:fillRect/>
          </a:stretch>
        </p:blipFill>
        <p:spPr>
          <a:xfrm>
            <a:off x="3248406" y="4770882"/>
            <a:ext cx="96012" cy="96012"/>
          </a:xfrm>
          <a:prstGeom prst="rect">
            <a:avLst/>
          </a:prstGeom>
        </p:spPr>
      </p:pic>
      <p:sp>
        <p:nvSpPr>
          <p:cNvPr id="122" name="Text 93"/>
          <p:cNvSpPr txBox="1"/>
          <p:nvPr/>
        </p:nvSpPr>
        <p:spPr>
          <a:xfrm>
            <a:off x="3371850"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Drive → Documents</a:t>
            </a:r>
            <a:endParaRPr lang="en-US" sz="620" dirty="0"/>
          </a:p>
        </p:txBody>
      </p:sp>
      <p:sp>
        <p:nvSpPr>
          <p:cNvPr id="123" name="Text 94"/>
          <p:cNvSpPr txBox="1"/>
          <p:nvPr/>
        </p:nvSpPr>
        <p:spPr>
          <a:xfrm>
            <a:off x="3248406"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Docs / Sheets text export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Sheet table extraction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Spec → capability mapping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Test-data workbook parse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id + revision</a:t>
            </a:r>
            <a:endParaRPr lang="en-US" sz="550" dirty="0"/>
          </a:p>
        </p:txBody>
      </p:sp>
      <p:sp>
        <p:nvSpPr>
          <p:cNvPr id="124" name="Shape 95"/>
          <p:cNvSpPr/>
          <p:nvPr/>
        </p:nvSpPr>
        <p:spPr>
          <a:xfrm>
            <a:off x="3202686" y="5404104"/>
            <a:ext cx="1295019" cy="384048"/>
          </a:xfrm>
          <a:prstGeom prst="roundRect">
            <a:avLst>
              <a:gd name="adj" fmla="val 9524"/>
            </a:avLst>
          </a:prstGeom>
          <a:solidFill>
            <a:srgbClr val="7A4FC0"/>
          </a:solidFill>
          <a:ln w="12700">
            <a:solidFill>
              <a:srgbClr val="7A4FC0"/>
            </a:solidFill>
            <a:prstDash val="solid"/>
          </a:ln>
        </p:spPr>
        <p:txBody>
          <a:bodyPr/>
          <a:lstStyle/>
          <a:p>
            <a:endParaRPr lang="en-IN"/>
          </a:p>
        </p:txBody>
      </p:sp>
      <p:sp>
        <p:nvSpPr>
          <p:cNvPr id="125" name="Text 96"/>
          <p:cNvSpPr txBox="1"/>
          <p:nvPr/>
        </p:nvSpPr>
        <p:spPr>
          <a:xfrm>
            <a:off x="3248406"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26" name="Text 97"/>
          <p:cNvSpPr txBox="1"/>
          <p:nvPr/>
        </p:nvSpPr>
        <p:spPr>
          <a:xfrm>
            <a:off x="3248406"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Raw artifacts become structured facts with full provenance</a:t>
            </a:r>
            <a:endParaRPr lang="en-US" sz="520" dirty="0"/>
          </a:p>
        </p:txBody>
      </p:sp>
      <p:sp>
        <p:nvSpPr>
          <p:cNvPr id="127" name="Shape 98"/>
          <p:cNvSpPr/>
          <p:nvPr/>
        </p:nvSpPr>
        <p:spPr>
          <a:xfrm>
            <a:off x="4653153" y="722376"/>
            <a:ext cx="1386459" cy="5111496"/>
          </a:xfrm>
          <a:prstGeom prst="roundRect">
            <a:avLst>
              <a:gd name="adj" fmla="val 3298"/>
            </a:avLst>
          </a:prstGeom>
          <a:solidFill>
            <a:srgbClr val="FBE9F0"/>
          </a:solidFill>
          <a:ln w="9525">
            <a:solidFill>
              <a:srgbClr val="DCE4EE"/>
            </a:solidFill>
            <a:prstDash val="solid"/>
          </a:ln>
        </p:spPr>
        <p:txBody>
          <a:bodyPr/>
          <a:lstStyle/>
          <a:p>
            <a:endParaRPr lang="en-IN"/>
          </a:p>
        </p:txBody>
      </p:sp>
      <p:sp>
        <p:nvSpPr>
          <p:cNvPr id="128" name="Shape 99"/>
          <p:cNvSpPr/>
          <p:nvPr/>
        </p:nvSpPr>
        <p:spPr>
          <a:xfrm>
            <a:off x="4653153" y="722376"/>
            <a:ext cx="1386459" cy="621792"/>
          </a:xfrm>
          <a:prstGeom prst="roundRect">
            <a:avLst>
              <a:gd name="adj" fmla="val 7353"/>
            </a:avLst>
          </a:prstGeom>
          <a:solidFill>
            <a:srgbClr val="C2185B"/>
          </a:solidFill>
          <a:ln w="12700">
            <a:solidFill>
              <a:srgbClr val="C2185B"/>
            </a:solidFill>
            <a:prstDash val="solid"/>
          </a:ln>
        </p:spPr>
        <p:txBody>
          <a:bodyPr/>
          <a:lstStyle/>
          <a:p>
            <a:endParaRPr lang="en-IN"/>
          </a:p>
        </p:txBody>
      </p:sp>
      <p:pic>
        <p:nvPicPr>
          <p:cNvPr id="129" name="Image 27" descr="preencoded.png"/>
          <p:cNvPicPr>
            <a:picLocks noChangeAspect="1"/>
          </p:cNvPicPr>
          <p:nvPr/>
        </p:nvPicPr>
        <p:blipFill>
          <a:blip r:embed="rId12"/>
          <a:stretch>
            <a:fillRect/>
          </a:stretch>
        </p:blipFill>
        <p:spPr>
          <a:xfrm>
            <a:off x="5277802" y="754380"/>
            <a:ext cx="137160" cy="137160"/>
          </a:xfrm>
          <a:prstGeom prst="rect">
            <a:avLst/>
          </a:prstGeom>
        </p:spPr>
      </p:pic>
      <p:sp>
        <p:nvSpPr>
          <p:cNvPr id="130" name="Text 100"/>
          <p:cNvSpPr txBox="1"/>
          <p:nvPr/>
        </p:nvSpPr>
        <p:spPr>
          <a:xfrm>
            <a:off x="4689729"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4</a:t>
            </a:r>
            <a:endParaRPr lang="en-US" sz="560" dirty="0"/>
          </a:p>
        </p:txBody>
      </p:sp>
      <p:sp>
        <p:nvSpPr>
          <p:cNvPr id="131" name="Text 101"/>
          <p:cNvSpPr txBox="1"/>
          <p:nvPr/>
        </p:nvSpPr>
        <p:spPr>
          <a:xfrm>
            <a:off x="4680585"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Domain Model</a:t>
            </a:r>
            <a:endParaRPr lang="en-US" sz="800" dirty="0"/>
          </a:p>
        </p:txBody>
      </p:sp>
      <p:sp>
        <p:nvSpPr>
          <p:cNvPr id="132" name="Text 102"/>
          <p:cNvSpPr txBox="1"/>
          <p:nvPr/>
        </p:nvSpPr>
        <p:spPr>
          <a:xfrm>
            <a:off x="4680585"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NetworkServicesContext</a:t>
            </a:r>
            <a:endParaRPr lang="en-US" sz="520" dirty="0"/>
          </a:p>
        </p:txBody>
      </p:sp>
      <p:sp>
        <p:nvSpPr>
          <p:cNvPr id="133" name="Shape 103"/>
          <p:cNvSpPr/>
          <p:nvPr/>
        </p:nvSpPr>
        <p:spPr>
          <a:xfrm>
            <a:off x="6046927"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34" name="Shape 104"/>
          <p:cNvSpPr/>
          <p:nvPr/>
        </p:nvSpPr>
        <p:spPr>
          <a:xfrm>
            <a:off x="4698873"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35" name="Text 105"/>
          <p:cNvSpPr txBox="1"/>
          <p:nvPr/>
        </p:nvSpPr>
        <p:spPr>
          <a:xfrm>
            <a:off x="4744593"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Root object</a:t>
            </a:r>
            <a:endParaRPr lang="en-US" sz="620" dirty="0"/>
          </a:p>
        </p:txBody>
      </p:sp>
      <p:sp>
        <p:nvSpPr>
          <p:cNvPr id="136" name="Text 106"/>
          <p:cNvSpPr txBox="1"/>
          <p:nvPr/>
        </p:nvSpPr>
        <p:spPr>
          <a:xfrm>
            <a:off x="4744593"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applicationName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applicationVersion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createdAt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snapshotId (UUID per sync)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a:t>
            </a:r>
            <a:endParaRPr lang="en-US" sz="550" dirty="0"/>
          </a:p>
        </p:txBody>
      </p:sp>
      <p:sp>
        <p:nvSpPr>
          <p:cNvPr id="137" name="Shape 107"/>
          <p:cNvSpPr/>
          <p:nvPr/>
        </p:nvSpPr>
        <p:spPr>
          <a:xfrm>
            <a:off x="4698873"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38" name="Text 108"/>
          <p:cNvSpPr txBox="1"/>
          <p:nvPr/>
        </p:nvSpPr>
        <p:spPr>
          <a:xfrm>
            <a:off x="4744593" y="2085289"/>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requirements[]</a:t>
            </a:r>
            <a:endParaRPr lang="en-US" sz="620" dirty="0"/>
          </a:p>
        </p:txBody>
      </p:sp>
      <p:sp>
        <p:nvSpPr>
          <p:cNvPr id="139" name="Text 109"/>
          <p:cNvSpPr txBox="1"/>
          <p:nvPr/>
        </p:nvSpPr>
        <p:spPr>
          <a:xfrm>
            <a:off x="4744593"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requirementId (Jira key)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title, summary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acceptanceCriteria[]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businessCapability, status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priority, riskTier, links</a:t>
            </a:r>
            <a:endParaRPr lang="en-US" sz="550" dirty="0"/>
          </a:p>
        </p:txBody>
      </p:sp>
      <p:sp>
        <p:nvSpPr>
          <p:cNvPr id="140" name="Shape 110"/>
          <p:cNvSpPr/>
          <p:nvPr/>
        </p:nvSpPr>
        <p:spPr>
          <a:xfrm>
            <a:off x="4698873"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1" name="Text 111"/>
          <p:cNvSpPr txBox="1"/>
          <p:nvPr/>
        </p:nvSpPr>
        <p:spPr>
          <a:xfrm>
            <a:off x="4744593" y="2755087"/>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documents[]</a:t>
            </a:r>
            <a:endParaRPr lang="en-US" sz="620" dirty="0"/>
          </a:p>
        </p:txBody>
      </p:sp>
      <p:sp>
        <p:nvSpPr>
          <p:cNvPr id="142" name="Text 112"/>
          <p:cNvSpPr txBox="1"/>
          <p:nvPr/>
        </p:nvSpPr>
        <p:spPr>
          <a:xfrm>
            <a:off x="4744593"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documentId (page 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sections[]: heading, level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tables[], links[]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businessRules[]: ruleText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objectsReferenced[], hash</a:t>
            </a:r>
            <a:endParaRPr lang="en-US" sz="550" dirty="0"/>
          </a:p>
        </p:txBody>
      </p:sp>
      <p:sp>
        <p:nvSpPr>
          <p:cNvPr id="143" name="Shape 113"/>
          <p:cNvSpPr/>
          <p:nvPr/>
        </p:nvSpPr>
        <p:spPr>
          <a:xfrm>
            <a:off x="4698873"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4" name="Text 114"/>
          <p:cNvSpPr txBox="1"/>
          <p:nvPr/>
        </p:nvSpPr>
        <p:spPr>
          <a:xfrm>
            <a:off x="4744593"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salesforceObjects[]</a:t>
            </a:r>
            <a:endParaRPr lang="en-US" sz="620" dirty="0"/>
          </a:p>
        </p:txBody>
      </p:sp>
      <p:sp>
        <p:nvSpPr>
          <p:cNvPr id="145" name="Text 115"/>
          <p:cNvSpPr txBox="1"/>
          <p:nvPr/>
        </p:nvSpPr>
        <p:spPr>
          <a:xfrm>
            <a:off x="4744593"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objectApiName, label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recordTypes[]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fields[]: type, formula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relationships[]: lookup, M-D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sharingModel, permSets[]</a:t>
            </a:r>
            <a:endParaRPr lang="en-US" sz="550" dirty="0"/>
          </a:p>
        </p:txBody>
      </p:sp>
      <p:sp>
        <p:nvSpPr>
          <p:cNvPr id="146" name="Shape 116"/>
          <p:cNvSpPr/>
          <p:nvPr/>
        </p:nvSpPr>
        <p:spPr>
          <a:xfrm>
            <a:off x="4698873"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7" name="Text 117"/>
          <p:cNvSpPr txBox="1"/>
          <p:nvPr/>
        </p:nvSpPr>
        <p:spPr>
          <a:xfrm>
            <a:off x="4744593" y="4094683"/>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automations[]</a:t>
            </a:r>
            <a:endParaRPr lang="en-US" sz="620" dirty="0"/>
          </a:p>
        </p:txBody>
      </p:sp>
      <p:sp>
        <p:nvSpPr>
          <p:cNvPr id="148" name="Text 118"/>
          <p:cNvSpPr txBox="1"/>
          <p:nvPr/>
        </p:nvSpPr>
        <p:spPr>
          <a:xfrm>
            <a:off x="4744593"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componentId, apiName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 | APEX | TRIGGER | VR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objectsTouched[]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dmlOperations, soqlQueries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testCoverage · riskTier</a:t>
            </a:r>
            <a:endParaRPr lang="en-US" sz="550" dirty="0"/>
          </a:p>
        </p:txBody>
      </p:sp>
      <p:sp>
        <p:nvSpPr>
          <p:cNvPr id="149" name="Shape 119"/>
          <p:cNvSpPr/>
          <p:nvPr/>
        </p:nvSpPr>
        <p:spPr>
          <a:xfrm>
            <a:off x="4698873"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50" name="Text 120"/>
          <p:cNvSpPr txBox="1"/>
          <p:nvPr/>
        </p:nvSpPr>
        <p:spPr>
          <a:xfrm>
            <a:off x="4744593" y="476448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Tests &amp; releases</a:t>
            </a:r>
            <a:endParaRPr lang="en-US" sz="620" dirty="0"/>
          </a:p>
        </p:txBody>
      </p:sp>
      <p:sp>
        <p:nvSpPr>
          <p:cNvPr id="151" name="Text 121"/>
          <p:cNvSpPr txBox="1"/>
          <p:nvPr/>
        </p:nvSpPr>
        <p:spPr>
          <a:xfrm>
            <a:off x="4744593"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testAssets[]: robotic + regr.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assertions[], evidenceUri</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releases[]: env, 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integrations[]: APDH events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 → Queueable → Pub/Sub</a:t>
            </a:r>
            <a:endParaRPr lang="en-US" sz="550" dirty="0"/>
          </a:p>
        </p:txBody>
      </p:sp>
      <p:sp>
        <p:nvSpPr>
          <p:cNvPr id="152" name="Shape 122"/>
          <p:cNvSpPr/>
          <p:nvPr/>
        </p:nvSpPr>
        <p:spPr>
          <a:xfrm>
            <a:off x="4698873" y="5404104"/>
            <a:ext cx="1295019" cy="384048"/>
          </a:xfrm>
          <a:prstGeom prst="roundRect">
            <a:avLst>
              <a:gd name="adj" fmla="val 9524"/>
            </a:avLst>
          </a:prstGeom>
          <a:solidFill>
            <a:srgbClr val="C2185B"/>
          </a:solidFill>
          <a:ln w="12700">
            <a:solidFill>
              <a:srgbClr val="C2185B"/>
            </a:solidFill>
            <a:prstDash val="solid"/>
          </a:ln>
        </p:spPr>
        <p:txBody>
          <a:bodyPr/>
          <a:lstStyle/>
          <a:p>
            <a:endParaRPr lang="en-IN"/>
          </a:p>
        </p:txBody>
      </p:sp>
      <p:sp>
        <p:nvSpPr>
          <p:cNvPr id="153" name="Text 123"/>
          <p:cNvSpPr txBox="1"/>
          <p:nvPr/>
        </p:nvSpPr>
        <p:spPr>
          <a:xfrm>
            <a:off x="4744593"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54" name="Text 124"/>
          <p:cNvSpPr txBox="1"/>
          <p:nvPr/>
        </p:nvSpPr>
        <p:spPr>
          <a:xfrm>
            <a:off x="4744593"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One model linking requirements, code, objects, tests, releases</a:t>
            </a:r>
            <a:endParaRPr lang="en-US" sz="520" dirty="0"/>
          </a:p>
        </p:txBody>
      </p:sp>
      <p:sp>
        <p:nvSpPr>
          <p:cNvPr id="155" name="Shape 125"/>
          <p:cNvSpPr/>
          <p:nvPr/>
        </p:nvSpPr>
        <p:spPr>
          <a:xfrm>
            <a:off x="6149340" y="722376"/>
            <a:ext cx="1386459" cy="5111496"/>
          </a:xfrm>
          <a:prstGeom prst="roundRect">
            <a:avLst>
              <a:gd name="adj" fmla="val 3298"/>
            </a:avLst>
          </a:prstGeom>
          <a:solidFill>
            <a:srgbClr val="FDF1DE"/>
          </a:solidFill>
          <a:ln w="9525">
            <a:solidFill>
              <a:srgbClr val="DCE4EE"/>
            </a:solidFill>
            <a:prstDash val="solid"/>
          </a:ln>
        </p:spPr>
        <p:txBody>
          <a:bodyPr/>
          <a:lstStyle/>
          <a:p>
            <a:endParaRPr lang="en-IN"/>
          </a:p>
        </p:txBody>
      </p:sp>
      <p:sp>
        <p:nvSpPr>
          <p:cNvPr id="156" name="Shape 126"/>
          <p:cNvSpPr/>
          <p:nvPr/>
        </p:nvSpPr>
        <p:spPr>
          <a:xfrm>
            <a:off x="6149340" y="722376"/>
            <a:ext cx="1386459" cy="621792"/>
          </a:xfrm>
          <a:prstGeom prst="roundRect">
            <a:avLst>
              <a:gd name="adj" fmla="val 7353"/>
            </a:avLst>
          </a:prstGeom>
          <a:solidFill>
            <a:srgbClr val="C77400"/>
          </a:solidFill>
          <a:ln w="12700">
            <a:solidFill>
              <a:srgbClr val="C77400"/>
            </a:solidFill>
            <a:prstDash val="solid"/>
          </a:ln>
        </p:spPr>
        <p:txBody>
          <a:bodyPr/>
          <a:lstStyle/>
          <a:p>
            <a:endParaRPr lang="en-IN"/>
          </a:p>
        </p:txBody>
      </p:sp>
      <p:pic>
        <p:nvPicPr>
          <p:cNvPr id="157" name="Image 28" descr="preencoded.png"/>
          <p:cNvPicPr>
            <a:picLocks noChangeAspect="1"/>
          </p:cNvPicPr>
          <p:nvPr/>
        </p:nvPicPr>
        <p:blipFill>
          <a:blip r:embed="rId13"/>
          <a:stretch>
            <a:fillRect/>
          </a:stretch>
        </p:blipFill>
        <p:spPr>
          <a:xfrm>
            <a:off x="6773989" y="754380"/>
            <a:ext cx="137160" cy="137160"/>
          </a:xfrm>
          <a:prstGeom prst="rect">
            <a:avLst/>
          </a:prstGeom>
        </p:spPr>
      </p:pic>
      <p:sp>
        <p:nvSpPr>
          <p:cNvPr id="158" name="Text 127"/>
          <p:cNvSpPr txBox="1"/>
          <p:nvPr/>
        </p:nvSpPr>
        <p:spPr>
          <a:xfrm>
            <a:off x="6185916"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5</a:t>
            </a:r>
            <a:endParaRPr lang="en-US" sz="560" dirty="0"/>
          </a:p>
        </p:txBody>
      </p:sp>
      <p:sp>
        <p:nvSpPr>
          <p:cNvPr id="159" name="Text 128"/>
          <p:cNvSpPr txBox="1"/>
          <p:nvPr/>
        </p:nvSpPr>
        <p:spPr>
          <a:xfrm>
            <a:off x="6176772"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Graph Storage</a:t>
            </a:r>
            <a:endParaRPr lang="en-US" sz="800" dirty="0"/>
          </a:p>
        </p:txBody>
      </p:sp>
      <p:sp>
        <p:nvSpPr>
          <p:cNvPr id="160" name="Text 129"/>
          <p:cNvSpPr txBox="1"/>
          <p:nvPr/>
        </p:nvSpPr>
        <p:spPr>
          <a:xfrm>
            <a:off x="6176772"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Neutral JSON contract</a:t>
            </a:r>
            <a:endParaRPr lang="en-US" sz="520" dirty="0"/>
          </a:p>
        </p:txBody>
      </p:sp>
      <p:sp>
        <p:nvSpPr>
          <p:cNvPr id="161" name="Shape 130"/>
          <p:cNvSpPr/>
          <p:nvPr/>
        </p:nvSpPr>
        <p:spPr>
          <a:xfrm>
            <a:off x="7543114"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62" name="Shape 131"/>
          <p:cNvSpPr/>
          <p:nvPr/>
        </p:nvSpPr>
        <p:spPr>
          <a:xfrm>
            <a:off x="6195060" y="1389888"/>
            <a:ext cx="1295019" cy="2045056"/>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63" name="Text 132"/>
          <p:cNvSpPr txBox="1"/>
          <p:nvPr/>
        </p:nvSpPr>
        <p:spPr>
          <a:xfrm>
            <a:off x="6240780"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context.json (excerpt)</a:t>
            </a:r>
            <a:endParaRPr lang="en-US" sz="620" dirty="0"/>
          </a:p>
        </p:txBody>
      </p:sp>
      <p:sp>
        <p:nvSpPr>
          <p:cNvPr id="164" name="Text 133"/>
          <p:cNvSpPr txBox="1"/>
          <p:nvPr/>
        </p:nvSpPr>
        <p:spPr>
          <a:xfrm>
            <a:off x="6240780" y="1549908"/>
            <a:ext cx="1203579" cy="1853032"/>
          </a:xfrm>
          <a:prstGeom prst="rect">
            <a:avLst/>
          </a:prstGeom>
          <a:noFill/>
          <a:ln/>
        </p:spPr>
        <p:txBody>
          <a:bodyPr wrap="square" lIns="0" tIns="0" rIns="0" bIns="0" rtlCol="0" anchor="t"/>
          <a:lstStyle/>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"snapshotId": "b7f1c2e4",</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"nodes":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"id": "sobj:HFN__c",</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"type": "SOBJECT",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"properties":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"fieldCount": 148,</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"testCoverage": 81,</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"riskTier": "HIGH"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"sourceReferences":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"artifactPath":</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"objects/HFN__c.xml",</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"artifactHash":</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"sha256:9f2b...c41d"}]}],</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"relationships":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"type":</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"FLOW_UPDATES_SOBJECT",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"from": "flow:HFN_Gen",</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"to": "sobj:HFN__c",</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"origin": "FACTUAL",</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"confidence": 1.0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a:t>
            </a:r>
            <a:endParaRPr lang="en-US" sz="540" dirty="0"/>
          </a:p>
        </p:txBody>
      </p:sp>
      <p:sp>
        <p:nvSpPr>
          <p:cNvPr id="165" name="Shape 134"/>
          <p:cNvSpPr/>
          <p:nvPr/>
        </p:nvSpPr>
        <p:spPr>
          <a:xfrm>
            <a:off x="6195060" y="3476092"/>
            <a:ext cx="1295019" cy="925144"/>
          </a:xfrm>
          <a:prstGeom prst="roundRect">
            <a:avLst>
              <a:gd name="adj" fmla="val 3954"/>
            </a:avLst>
          </a:prstGeom>
          <a:solidFill>
            <a:srgbClr val="FFFFFF"/>
          </a:solidFill>
          <a:ln w="9525">
            <a:solidFill>
              <a:srgbClr val="DCE4EE"/>
            </a:solidFill>
            <a:prstDash val="solid"/>
          </a:ln>
        </p:spPr>
        <p:txBody>
          <a:bodyPr/>
          <a:lstStyle/>
          <a:p>
            <a:endParaRPr lang="en-IN"/>
          </a:p>
        </p:txBody>
      </p:sp>
      <p:sp>
        <p:nvSpPr>
          <p:cNvPr id="166" name="Text 135"/>
          <p:cNvSpPr txBox="1"/>
          <p:nvPr/>
        </p:nvSpPr>
        <p:spPr>
          <a:xfrm>
            <a:off x="6240780" y="350169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What the file holds</a:t>
            </a:r>
            <a:endParaRPr lang="en-US" sz="620" dirty="0"/>
          </a:p>
        </p:txBody>
      </p:sp>
      <p:sp>
        <p:nvSpPr>
          <p:cNvPr id="167" name="Text 136"/>
          <p:cNvSpPr txBox="1"/>
          <p:nvPr/>
        </p:nvSpPr>
        <p:spPr>
          <a:xfrm>
            <a:off x="6240780" y="3636112"/>
            <a:ext cx="1203579" cy="733120"/>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node with properties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typed relationship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on each element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source references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One snapshot per sync run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Vendor-neutral, portable</a:t>
            </a:r>
            <a:endParaRPr lang="en-US" sz="550" dirty="0"/>
          </a:p>
        </p:txBody>
      </p:sp>
      <p:sp>
        <p:nvSpPr>
          <p:cNvPr id="168" name="Shape 137"/>
          <p:cNvSpPr/>
          <p:nvPr/>
        </p:nvSpPr>
        <p:spPr>
          <a:xfrm>
            <a:off x="6195060" y="4442384"/>
            <a:ext cx="1295019" cy="925144"/>
          </a:xfrm>
          <a:prstGeom prst="roundRect">
            <a:avLst>
              <a:gd name="adj" fmla="val 3954"/>
            </a:avLst>
          </a:prstGeom>
          <a:solidFill>
            <a:srgbClr val="FFFFFF"/>
          </a:solidFill>
          <a:ln w="9525">
            <a:solidFill>
              <a:srgbClr val="DCE4EE"/>
            </a:solidFill>
            <a:prstDash val="solid"/>
          </a:ln>
        </p:spPr>
        <p:txBody>
          <a:bodyPr/>
          <a:lstStyle/>
          <a:p>
            <a:endParaRPr lang="en-IN"/>
          </a:p>
        </p:txBody>
      </p:sp>
      <p:sp>
        <p:nvSpPr>
          <p:cNvPr id="169" name="Text 138"/>
          <p:cNvSpPr txBox="1"/>
          <p:nvPr/>
        </p:nvSpPr>
        <p:spPr>
          <a:xfrm>
            <a:off x="6240780" y="4467987"/>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Storage rules</a:t>
            </a:r>
            <a:endParaRPr lang="en-US" sz="620" dirty="0"/>
          </a:p>
        </p:txBody>
      </p:sp>
      <p:sp>
        <p:nvSpPr>
          <p:cNvPr id="170" name="Text 139"/>
          <p:cNvSpPr txBox="1"/>
          <p:nvPr/>
        </p:nvSpPr>
        <p:spPr>
          <a:xfrm>
            <a:off x="6240780" y="4602404"/>
            <a:ext cx="1203579" cy="733120"/>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Rebuilt on each sync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Never written back to source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Versioned per snapshotId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change detection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Metadata + sanitized data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Encrypted at rest</a:t>
            </a:r>
            <a:endParaRPr lang="en-US" sz="550" dirty="0"/>
          </a:p>
        </p:txBody>
      </p:sp>
      <p:sp>
        <p:nvSpPr>
          <p:cNvPr id="171" name="Shape 140"/>
          <p:cNvSpPr/>
          <p:nvPr/>
        </p:nvSpPr>
        <p:spPr>
          <a:xfrm>
            <a:off x="6195060" y="5404104"/>
            <a:ext cx="1295019" cy="384048"/>
          </a:xfrm>
          <a:prstGeom prst="roundRect">
            <a:avLst>
              <a:gd name="adj" fmla="val 9524"/>
            </a:avLst>
          </a:prstGeom>
          <a:solidFill>
            <a:srgbClr val="C77400"/>
          </a:solidFill>
          <a:ln w="12700">
            <a:solidFill>
              <a:srgbClr val="C77400"/>
            </a:solidFill>
            <a:prstDash val="solid"/>
          </a:ln>
        </p:spPr>
        <p:txBody>
          <a:bodyPr/>
          <a:lstStyle/>
          <a:p>
            <a:endParaRPr lang="en-IN"/>
          </a:p>
        </p:txBody>
      </p:sp>
      <p:sp>
        <p:nvSpPr>
          <p:cNvPr id="172" name="Text 141"/>
          <p:cNvSpPr txBox="1"/>
          <p:nvPr/>
        </p:nvSpPr>
        <p:spPr>
          <a:xfrm>
            <a:off x="6240780"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73" name="Text 142"/>
          <p:cNvSpPr txBox="1"/>
          <p:nvPr/>
        </p:nvSpPr>
        <p:spPr>
          <a:xfrm>
            <a:off x="6240780"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A portable snapshot any tool or engine can consume</a:t>
            </a:r>
            <a:endParaRPr lang="en-US" sz="520" dirty="0"/>
          </a:p>
        </p:txBody>
      </p:sp>
      <p:sp>
        <p:nvSpPr>
          <p:cNvPr id="174" name="Shape 143"/>
          <p:cNvSpPr/>
          <p:nvPr/>
        </p:nvSpPr>
        <p:spPr>
          <a:xfrm>
            <a:off x="7645527" y="722376"/>
            <a:ext cx="1386459" cy="5111496"/>
          </a:xfrm>
          <a:prstGeom prst="roundRect">
            <a:avLst>
              <a:gd name="adj" fmla="val 3298"/>
            </a:avLst>
          </a:prstGeom>
          <a:solidFill>
            <a:srgbClr val="FBEAEA"/>
          </a:solidFill>
          <a:ln w="9525">
            <a:solidFill>
              <a:srgbClr val="DCE4EE"/>
            </a:solidFill>
            <a:prstDash val="solid"/>
          </a:ln>
        </p:spPr>
        <p:txBody>
          <a:bodyPr/>
          <a:lstStyle/>
          <a:p>
            <a:endParaRPr lang="en-IN"/>
          </a:p>
        </p:txBody>
      </p:sp>
      <p:sp>
        <p:nvSpPr>
          <p:cNvPr id="175" name="Shape 144"/>
          <p:cNvSpPr/>
          <p:nvPr/>
        </p:nvSpPr>
        <p:spPr>
          <a:xfrm>
            <a:off x="7645527" y="722376"/>
            <a:ext cx="1386459" cy="621792"/>
          </a:xfrm>
          <a:prstGeom prst="roundRect">
            <a:avLst>
              <a:gd name="adj" fmla="val 7353"/>
            </a:avLst>
          </a:prstGeom>
          <a:solidFill>
            <a:srgbClr val="C62828"/>
          </a:solidFill>
          <a:ln w="12700">
            <a:solidFill>
              <a:srgbClr val="C62828"/>
            </a:solidFill>
            <a:prstDash val="solid"/>
          </a:ln>
        </p:spPr>
        <p:txBody>
          <a:bodyPr/>
          <a:lstStyle/>
          <a:p>
            <a:endParaRPr lang="en-IN"/>
          </a:p>
        </p:txBody>
      </p:sp>
      <p:pic>
        <p:nvPicPr>
          <p:cNvPr id="176" name="Image 29" descr="preencoded.png"/>
          <p:cNvPicPr>
            <a:picLocks noChangeAspect="1"/>
          </p:cNvPicPr>
          <p:nvPr/>
        </p:nvPicPr>
        <p:blipFill>
          <a:blip r:embed="rId14"/>
          <a:stretch>
            <a:fillRect/>
          </a:stretch>
        </p:blipFill>
        <p:spPr>
          <a:xfrm>
            <a:off x="8270177" y="754380"/>
            <a:ext cx="137160" cy="137160"/>
          </a:xfrm>
          <a:prstGeom prst="rect">
            <a:avLst/>
          </a:prstGeom>
        </p:spPr>
      </p:pic>
      <p:sp>
        <p:nvSpPr>
          <p:cNvPr id="177" name="Text 145"/>
          <p:cNvSpPr txBox="1"/>
          <p:nvPr/>
        </p:nvSpPr>
        <p:spPr>
          <a:xfrm>
            <a:off x="7682103"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6</a:t>
            </a:r>
            <a:endParaRPr lang="en-US" sz="560" dirty="0"/>
          </a:p>
        </p:txBody>
      </p:sp>
      <p:sp>
        <p:nvSpPr>
          <p:cNvPr id="178" name="Text 146"/>
          <p:cNvSpPr txBox="1"/>
          <p:nvPr/>
        </p:nvSpPr>
        <p:spPr>
          <a:xfrm>
            <a:off x="7672959"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Graph Exporter</a:t>
            </a:r>
            <a:endParaRPr lang="en-US" sz="800" dirty="0"/>
          </a:p>
        </p:txBody>
      </p:sp>
      <p:sp>
        <p:nvSpPr>
          <p:cNvPr id="179" name="Text 147"/>
          <p:cNvSpPr txBox="1"/>
          <p:nvPr/>
        </p:nvSpPr>
        <p:spPr>
          <a:xfrm>
            <a:off x="7672959"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Context → graph export</a:t>
            </a:r>
            <a:endParaRPr lang="en-US" sz="520" dirty="0"/>
          </a:p>
        </p:txBody>
      </p:sp>
      <p:sp>
        <p:nvSpPr>
          <p:cNvPr id="180" name="Shape 148"/>
          <p:cNvSpPr/>
          <p:nvPr/>
        </p:nvSpPr>
        <p:spPr>
          <a:xfrm>
            <a:off x="9039301"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81" name="Shape 149"/>
          <p:cNvSpPr/>
          <p:nvPr/>
        </p:nvSpPr>
        <p:spPr>
          <a:xfrm>
            <a:off x="7691247" y="1389888"/>
            <a:ext cx="1295019" cy="1756921"/>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82" name="Text 150"/>
          <p:cNvSpPr txBox="1"/>
          <p:nvPr/>
        </p:nvSpPr>
        <p:spPr>
          <a:xfrm>
            <a:off x="7736967"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Node types</a:t>
            </a:r>
            <a:endParaRPr lang="en-US" sz="620" dirty="0"/>
          </a:p>
        </p:txBody>
      </p:sp>
      <p:sp>
        <p:nvSpPr>
          <p:cNvPr id="183" name="Text 151"/>
          <p:cNvSpPr txBox="1"/>
          <p:nvPr/>
        </p:nvSpPr>
        <p:spPr>
          <a:xfrm>
            <a:off x="7736967" y="1549908"/>
            <a:ext cx="1203579" cy="1564897"/>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BUSINESS_CAPABILITY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DESIGN_DOCUMENT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DOCUMENT_SECTION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APEX_CLASS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APEX_TRIGGER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VALIDATION_RULE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LWC_COMPONENT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TEST_CASE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REPOSITORY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COMPONENT_FILE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ENVIRONMENT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INTEGRATION_EVENT</a:t>
            </a:r>
            <a:endParaRPr lang="en-US" sz="550" dirty="0"/>
          </a:p>
        </p:txBody>
      </p:sp>
      <p:sp>
        <p:nvSpPr>
          <p:cNvPr id="184" name="Shape 152"/>
          <p:cNvSpPr/>
          <p:nvPr/>
        </p:nvSpPr>
        <p:spPr>
          <a:xfrm>
            <a:off x="7691247" y="3187957"/>
            <a:ext cx="1295019" cy="1515972"/>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85" name="Text 153"/>
          <p:cNvSpPr txBox="1"/>
          <p:nvPr/>
        </p:nvSpPr>
        <p:spPr>
          <a:xfrm>
            <a:off x="7736967" y="3213560"/>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Relationship types</a:t>
            </a:r>
            <a:endParaRPr lang="en-US" sz="620" dirty="0"/>
          </a:p>
        </p:txBody>
      </p:sp>
      <p:sp>
        <p:nvSpPr>
          <p:cNvPr id="186" name="Text 154"/>
          <p:cNvSpPr txBox="1"/>
          <p:nvPr/>
        </p:nvSpPr>
        <p:spPr>
          <a:xfrm>
            <a:off x="7736967" y="3347977"/>
            <a:ext cx="1203579" cy="1323948"/>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REQ_TARGETS_CAPABILITY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REQ_SPECIFIED_BY_DOC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DOCUMENT_HAS_SECTION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SECTION_DEFINES_RULE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RULE_CONSTRAINS_SOBJECT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SOBJECT_HAS_FIELD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SOBJECT_RELATES_TO_SOBJ</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FLOW_UPDATES_SOBJECT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APEX_REFERENCES_SOBJECT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TRIGGER_FIRES_ON_SOBJECT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COMP_DEPENDS_ON_COMP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TEST_COVERS_COMPONENT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REQ_IMPLEMENTED_BY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RELEASE_DEPLOYS_COMP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COMP_PUBLISHES_EVENT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REQ_REUSES_COMPONENT</a:t>
            </a:r>
            <a:endParaRPr lang="en-US" sz="550" dirty="0"/>
          </a:p>
        </p:txBody>
      </p:sp>
      <p:sp>
        <p:nvSpPr>
          <p:cNvPr id="187" name="Shape 155"/>
          <p:cNvSpPr/>
          <p:nvPr/>
        </p:nvSpPr>
        <p:spPr>
          <a:xfrm>
            <a:off x="7691247" y="4745076"/>
            <a:ext cx="1295019" cy="622452"/>
          </a:xfrm>
          <a:prstGeom prst="roundRect">
            <a:avLst>
              <a:gd name="adj" fmla="val 5876"/>
            </a:avLst>
          </a:prstGeom>
          <a:solidFill>
            <a:srgbClr val="FFFFFF"/>
          </a:solidFill>
          <a:ln w="9525">
            <a:solidFill>
              <a:srgbClr val="DCE4EE"/>
            </a:solidFill>
            <a:prstDash val="solid"/>
          </a:ln>
        </p:spPr>
        <p:txBody>
          <a:bodyPr/>
          <a:lstStyle/>
          <a:p>
            <a:endParaRPr lang="en-IN"/>
          </a:p>
        </p:txBody>
      </p:sp>
      <p:sp>
        <p:nvSpPr>
          <p:cNvPr id="188" name="Text 156"/>
          <p:cNvSpPr txBox="1"/>
          <p:nvPr/>
        </p:nvSpPr>
        <p:spPr>
          <a:xfrm>
            <a:off x="7736967" y="4770679"/>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Properties preserved</a:t>
            </a:r>
            <a:endParaRPr lang="en-US" sz="620" dirty="0"/>
          </a:p>
        </p:txBody>
      </p:sp>
      <p:sp>
        <p:nvSpPr>
          <p:cNvPr id="189" name="Text 157"/>
          <p:cNvSpPr txBox="1"/>
          <p:nvPr/>
        </p:nvSpPr>
        <p:spPr>
          <a:xfrm>
            <a:off x="7736967" y="4905096"/>
            <a:ext cx="1203579" cy="430428"/>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All domain metadata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 derivation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Source refs, exact location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Confidence 1.0 / inferred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 tier per component</a:t>
            </a:r>
            <a:endParaRPr lang="en-US" sz="550" dirty="0"/>
          </a:p>
        </p:txBody>
      </p:sp>
      <p:sp>
        <p:nvSpPr>
          <p:cNvPr id="190" name="Shape 158"/>
          <p:cNvSpPr/>
          <p:nvPr/>
        </p:nvSpPr>
        <p:spPr>
          <a:xfrm>
            <a:off x="7691247" y="5404104"/>
            <a:ext cx="1295019" cy="384048"/>
          </a:xfrm>
          <a:prstGeom prst="roundRect">
            <a:avLst>
              <a:gd name="adj" fmla="val 9524"/>
            </a:avLst>
          </a:prstGeom>
          <a:solidFill>
            <a:srgbClr val="C62828"/>
          </a:solidFill>
          <a:ln w="12700">
            <a:solidFill>
              <a:srgbClr val="C62828"/>
            </a:solidFill>
            <a:prstDash val="solid"/>
          </a:ln>
        </p:spPr>
        <p:txBody>
          <a:bodyPr/>
          <a:lstStyle/>
          <a:p>
            <a:endParaRPr lang="en-IN"/>
          </a:p>
        </p:txBody>
      </p:sp>
      <p:sp>
        <p:nvSpPr>
          <p:cNvPr id="191" name="Text 159"/>
          <p:cNvSpPr txBox="1"/>
          <p:nvPr/>
        </p:nvSpPr>
        <p:spPr>
          <a:xfrm>
            <a:off x="7736967"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92" name="Text 160"/>
          <p:cNvSpPr txBox="1"/>
          <p:nvPr/>
        </p:nvSpPr>
        <p:spPr>
          <a:xfrm>
            <a:off x="7736967"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Dependencies made explicit as a typed, queryable graph</a:t>
            </a:r>
            <a:endParaRPr lang="en-US" sz="520" dirty="0"/>
          </a:p>
        </p:txBody>
      </p:sp>
      <p:sp>
        <p:nvSpPr>
          <p:cNvPr id="193" name="Shape 161"/>
          <p:cNvSpPr/>
          <p:nvPr/>
        </p:nvSpPr>
        <p:spPr>
          <a:xfrm>
            <a:off x="9141714" y="722376"/>
            <a:ext cx="1386459" cy="5111496"/>
          </a:xfrm>
          <a:prstGeom prst="roundRect">
            <a:avLst>
              <a:gd name="adj" fmla="val 3298"/>
            </a:avLst>
          </a:prstGeom>
          <a:solidFill>
            <a:srgbClr val="E9F3EA"/>
          </a:solidFill>
          <a:ln w="9525">
            <a:solidFill>
              <a:srgbClr val="DCE4EE"/>
            </a:solidFill>
            <a:prstDash val="solid"/>
          </a:ln>
        </p:spPr>
        <p:txBody>
          <a:bodyPr/>
          <a:lstStyle/>
          <a:p>
            <a:endParaRPr lang="en-IN"/>
          </a:p>
        </p:txBody>
      </p:sp>
      <p:sp>
        <p:nvSpPr>
          <p:cNvPr id="194" name="Shape 162"/>
          <p:cNvSpPr/>
          <p:nvPr/>
        </p:nvSpPr>
        <p:spPr>
          <a:xfrm>
            <a:off x="9141714" y="722376"/>
            <a:ext cx="1386459" cy="621792"/>
          </a:xfrm>
          <a:prstGeom prst="roundRect">
            <a:avLst>
              <a:gd name="adj" fmla="val 7353"/>
            </a:avLst>
          </a:prstGeom>
          <a:solidFill>
            <a:srgbClr val="2E7D32"/>
          </a:solidFill>
          <a:ln w="12700">
            <a:solidFill>
              <a:srgbClr val="2E7D32"/>
            </a:solidFill>
            <a:prstDash val="solid"/>
          </a:ln>
        </p:spPr>
        <p:txBody>
          <a:bodyPr/>
          <a:lstStyle/>
          <a:p>
            <a:endParaRPr lang="en-IN"/>
          </a:p>
        </p:txBody>
      </p:sp>
      <p:pic>
        <p:nvPicPr>
          <p:cNvPr id="195" name="Image 30" descr="preencoded.png"/>
          <p:cNvPicPr>
            <a:picLocks noChangeAspect="1"/>
          </p:cNvPicPr>
          <p:nvPr/>
        </p:nvPicPr>
        <p:blipFill>
          <a:blip r:embed="rId15"/>
          <a:stretch>
            <a:fillRect/>
          </a:stretch>
        </p:blipFill>
        <p:spPr>
          <a:xfrm>
            <a:off x="9766364" y="754380"/>
            <a:ext cx="137160" cy="137160"/>
          </a:xfrm>
          <a:prstGeom prst="rect">
            <a:avLst/>
          </a:prstGeom>
        </p:spPr>
      </p:pic>
      <p:sp>
        <p:nvSpPr>
          <p:cNvPr id="196" name="Text 163"/>
          <p:cNvSpPr txBox="1"/>
          <p:nvPr/>
        </p:nvSpPr>
        <p:spPr>
          <a:xfrm>
            <a:off x="9178290"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7</a:t>
            </a:r>
            <a:endParaRPr lang="en-US" sz="560" dirty="0"/>
          </a:p>
        </p:txBody>
      </p:sp>
      <p:sp>
        <p:nvSpPr>
          <p:cNvPr id="197" name="Text 164"/>
          <p:cNvSpPr txBox="1"/>
          <p:nvPr/>
        </p:nvSpPr>
        <p:spPr>
          <a:xfrm>
            <a:off x="9169146"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Semantica ContextGraph</a:t>
            </a:r>
            <a:endParaRPr lang="en-US" sz="800" dirty="0"/>
          </a:p>
        </p:txBody>
      </p:sp>
      <p:sp>
        <p:nvSpPr>
          <p:cNvPr id="198" name="Text 165"/>
          <p:cNvSpPr txBox="1"/>
          <p:nvPr/>
        </p:nvSpPr>
        <p:spPr>
          <a:xfrm>
            <a:off x="9169146"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In-memory knowledge graph</a:t>
            </a:r>
            <a:endParaRPr lang="en-US" sz="520" dirty="0"/>
          </a:p>
        </p:txBody>
      </p:sp>
      <p:sp>
        <p:nvSpPr>
          <p:cNvPr id="199" name="Shape 166"/>
          <p:cNvSpPr/>
          <p:nvPr/>
        </p:nvSpPr>
        <p:spPr>
          <a:xfrm>
            <a:off x="10535488"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200" name="Shape 167"/>
          <p:cNvSpPr/>
          <p:nvPr/>
        </p:nvSpPr>
        <p:spPr>
          <a:xfrm>
            <a:off x="9187434" y="1389888"/>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1" name="Text 168"/>
          <p:cNvSpPr txBox="1"/>
          <p:nvPr/>
        </p:nvSpPr>
        <p:spPr>
          <a:xfrm>
            <a:off x="9233154"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Graph data structure</a:t>
            </a:r>
            <a:endParaRPr lang="en-US" sz="620" dirty="0"/>
          </a:p>
        </p:txBody>
      </p:sp>
      <p:sp>
        <p:nvSpPr>
          <p:cNvPr id="202" name="Text 169"/>
          <p:cNvSpPr txBox="1"/>
          <p:nvPr/>
        </p:nvSpPr>
        <p:spPr>
          <a:xfrm>
            <a:off x="9233154" y="1549908"/>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In-memory directed graph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Typed nodes + properties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Typed edges + weights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Adjacency index per 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O(1) node access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 indexes for scans</a:t>
            </a:r>
            <a:endParaRPr lang="en-US" sz="550" dirty="0"/>
          </a:p>
        </p:txBody>
      </p:sp>
      <p:sp>
        <p:nvSpPr>
          <p:cNvPr id="203" name="Shape 170"/>
          <p:cNvSpPr/>
          <p:nvPr/>
        </p:nvSpPr>
        <p:spPr>
          <a:xfrm>
            <a:off x="9187434" y="2394585"/>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4" name="Text 171"/>
          <p:cNvSpPr txBox="1"/>
          <p:nvPr/>
        </p:nvSpPr>
        <p:spPr>
          <a:xfrm>
            <a:off x="9233154" y="2420188"/>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Graph operations</a:t>
            </a:r>
            <a:endParaRPr lang="en-US" sz="620" dirty="0"/>
          </a:p>
        </p:txBody>
      </p:sp>
      <p:sp>
        <p:nvSpPr>
          <p:cNvPr id="205" name="Text 172"/>
          <p:cNvSpPr txBox="1"/>
          <p:nvPr/>
        </p:nvSpPr>
        <p:spPr>
          <a:xfrm>
            <a:off x="9233154" y="2554605"/>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add_node(id, type, props)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add_edge(src, tgt, 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find_node(node_id)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find_nodes(node_type)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find_edges(edge_type)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has_node · retract</a:t>
            </a:r>
            <a:endParaRPr lang="en-US" sz="550" dirty="0"/>
          </a:p>
        </p:txBody>
      </p:sp>
      <p:sp>
        <p:nvSpPr>
          <p:cNvPr id="206" name="Shape 173"/>
          <p:cNvSpPr/>
          <p:nvPr/>
        </p:nvSpPr>
        <p:spPr>
          <a:xfrm>
            <a:off x="9187434" y="3399282"/>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7" name="Text 174"/>
          <p:cNvSpPr txBox="1"/>
          <p:nvPr/>
        </p:nvSpPr>
        <p:spPr>
          <a:xfrm>
            <a:off x="9233154"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Delivery analysis</a:t>
            </a:r>
            <a:endParaRPr lang="en-US" sz="620" dirty="0"/>
          </a:p>
        </p:txBody>
      </p:sp>
      <p:sp>
        <p:nvSpPr>
          <p:cNvPr id="208" name="Text 175"/>
          <p:cNvSpPr txBox="1"/>
          <p:nvPr/>
        </p:nvSpPr>
        <p:spPr>
          <a:xfrm>
            <a:off x="9233154" y="3559302"/>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blast_radius(node,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reuse_candidates(capab.)</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risk_tier(components)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downstream_events → APDH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coverage_gap(component)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find_path(from, to)</a:t>
            </a:r>
            <a:endParaRPr lang="en-US" sz="550" dirty="0"/>
          </a:p>
        </p:txBody>
      </p:sp>
      <p:sp>
        <p:nvSpPr>
          <p:cNvPr id="209" name="Shape 176"/>
          <p:cNvSpPr/>
          <p:nvPr/>
        </p:nvSpPr>
        <p:spPr>
          <a:xfrm>
            <a:off x="9187434" y="4403979"/>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10" name="Text 177"/>
          <p:cNvSpPr txBox="1"/>
          <p:nvPr/>
        </p:nvSpPr>
        <p:spPr>
          <a:xfrm>
            <a:off x="9233154" y="4429582"/>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Analytics &amp; provenance</a:t>
            </a:r>
            <a:endParaRPr lang="en-US" sz="620" dirty="0"/>
          </a:p>
        </p:txBody>
      </p:sp>
      <p:sp>
        <p:nvSpPr>
          <p:cNvPr id="211" name="Text 178"/>
          <p:cNvSpPr txBox="1"/>
          <p:nvPr/>
        </p:nvSpPr>
        <p:spPr>
          <a:xfrm>
            <a:off x="9233154" y="4563999"/>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stats(): counts, density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 distributions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Connected 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save / load_from_file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Snapshot diffing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Query &lt; 0.01s · 1M+ nodes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get_lineage, trace_source</a:t>
            </a:r>
            <a:endParaRPr lang="en-US" sz="550" dirty="0"/>
          </a:p>
        </p:txBody>
      </p:sp>
      <p:sp>
        <p:nvSpPr>
          <p:cNvPr id="212" name="Shape 179"/>
          <p:cNvSpPr/>
          <p:nvPr/>
        </p:nvSpPr>
        <p:spPr>
          <a:xfrm>
            <a:off x="9187434" y="5404104"/>
            <a:ext cx="1295019" cy="384048"/>
          </a:xfrm>
          <a:prstGeom prst="roundRect">
            <a:avLst>
              <a:gd name="adj" fmla="val 9524"/>
            </a:avLst>
          </a:prstGeom>
          <a:solidFill>
            <a:srgbClr val="2E7D32"/>
          </a:solidFill>
          <a:ln w="12700">
            <a:solidFill>
              <a:srgbClr val="2E7D32"/>
            </a:solidFill>
            <a:prstDash val="solid"/>
          </a:ln>
        </p:spPr>
        <p:txBody>
          <a:bodyPr/>
          <a:lstStyle/>
          <a:p>
            <a:endParaRPr lang="en-IN"/>
          </a:p>
        </p:txBody>
      </p:sp>
      <p:sp>
        <p:nvSpPr>
          <p:cNvPr id="213" name="Text 180"/>
          <p:cNvSpPr txBox="1"/>
          <p:nvPr/>
        </p:nvSpPr>
        <p:spPr>
          <a:xfrm>
            <a:off x="9233154"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214" name="Text 181"/>
          <p:cNvSpPr txBox="1"/>
          <p:nvPr/>
        </p:nvSpPr>
        <p:spPr>
          <a:xfrm>
            <a:off x="9233154"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Blast radius, reuse and risk answered in under 0.01s</a:t>
            </a:r>
            <a:endParaRPr lang="en-US" sz="520" dirty="0"/>
          </a:p>
        </p:txBody>
      </p:sp>
      <p:sp>
        <p:nvSpPr>
          <p:cNvPr id="215" name="Shape 182"/>
          <p:cNvSpPr/>
          <p:nvPr/>
        </p:nvSpPr>
        <p:spPr>
          <a:xfrm>
            <a:off x="10637901" y="722376"/>
            <a:ext cx="1386459" cy="5111496"/>
          </a:xfrm>
          <a:prstGeom prst="roundRect">
            <a:avLst>
              <a:gd name="adj" fmla="val 3298"/>
            </a:avLst>
          </a:prstGeom>
          <a:solidFill>
            <a:srgbClr val="E3F2F4"/>
          </a:solidFill>
          <a:ln w="9525">
            <a:solidFill>
              <a:srgbClr val="DCE4EE"/>
            </a:solidFill>
            <a:prstDash val="solid"/>
          </a:ln>
        </p:spPr>
        <p:txBody>
          <a:bodyPr/>
          <a:lstStyle/>
          <a:p>
            <a:endParaRPr lang="en-IN"/>
          </a:p>
        </p:txBody>
      </p:sp>
      <p:sp>
        <p:nvSpPr>
          <p:cNvPr id="216" name="Shape 183"/>
          <p:cNvSpPr/>
          <p:nvPr/>
        </p:nvSpPr>
        <p:spPr>
          <a:xfrm>
            <a:off x="10637901" y="722376"/>
            <a:ext cx="1386459" cy="621792"/>
          </a:xfrm>
          <a:prstGeom prst="roundRect">
            <a:avLst>
              <a:gd name="adj" fmla="val 7353"/>
            </a:avLst>
          </a:prstGeom>
          <a:solidFill>
            <a:srgbClr val="00757F"/>
          </a:solidFill>
          <a:ln w="12700">
            <a:solidFill>
              <a:srgbClr val="00757F"/>
            </a:solidFill>
            <a:prstDash val="solid"/>
          </a:ln>
        </p:spPr>
        <p:txBody>
          <a:bodyPr/>
          <a:lstStyle/>
          <a:p>
            <a:endParaRPr lang="en-IN"/>
          </a:p>
        </p:txBody>
      </p:sp>
      <p:pic>
        <p:nvPicPr>
          <p:cNvPr id="217" name="Image 31" descr="preencoded.png"/>
          <p:cNvPicPr>
            <a:picLocks noChangeAspect="1"/>
          </p:cNvPicPr>
          <p:nvPr/>
        </p:nvPicPr>
        <p:blipFill>
          <a:blip r:embed="rId16"/>
          <a:stretch>
            <a:fillRect/>
          </a:stretch>
        </p:blipFill>
        <p:spPr>
          <a:xfrm>
            <a:off x="11262551" y="754380"/>
            <a:ext cx="137160" cy="137160"/>
          </a:xfrm>
          <a:prstGeom prst="rect">
            <a:avLst/>
          </a:prstGeom>
        </p:spPr>
      </p:pic>
      <p:sp>
        <p:nvSpPr>
          <p:cNvPr id="218" name="Text 184"/>
          <p:cNvSpPr txBox="1"/>
          <p:nvPr/>
        </p:nvSpPr>
        <p:spPr>
          <a:xfrm>
            <a:off x="10674477"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8</a:t>
            </a:r>
            <a:endParaRPr lang="en-US" sz="560" dirty="0"/>
          </a:p>
        </p:txBody>
      </p:sp>
      <p:sp>
        <p:nvSpPr>
          <p:cNvPr id="219" name="Text 185"/>
          <p:cNvSpPr txBox="1"/>
          <p:nvPr/>
        </p:nvSpPr>
        <p:spPr>
          <a:xfrm>
            <a:off x="10665333"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Adapter API + Codex</a:t>
            </a:r>
            <a:endParaRPr lang="en-US" sz="800" dirty="0"/>
          </a:p>
        </p:txBody>
      </p:sp>
      <p:sp>
        <p:nvSpPr>
          <p:cNvPr id="220" name="Text 186"/>
          <p:cNvSpPr txBox="1"/>
          <p:nvPr/>
        </p:nvSpPr>
        <p:spPr>
          <a:xfrm>
            <a:off x="10665333"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SemanticaGraphAdapter → Codex</a:t>
            </a:r>
            <a:endParaRPr lang="en-US" sz="520" dirty="0"/>
          </a:p>
        </p:txBody>
      </p:sp>
      <p:sp>
        <p:nvSpPr>
          <p:cNvPr id="221" name="Shape 187"/>
          <p:cNvSpPr/>
          <p:nvPr/>
        </p:nvSpPr>
        <p:spPr>
          <a:xfrm>
            <a:off x="10683621" y="1389888"/>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2" name="Text 188"/>
          <p:cNvSpPr txBox="1"/>
          <p:nvPr/>
        </p:nvSpPr>
        <p:spPr>
          <a:xfrm>
            <a:off x="10729341"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Core query methods</a:t>
            </a:r>
            <a:endParaRPr lang="en-US" sz="620" dirty="0"/>
          </a:p>
        </p:txBody>
      </p:sp>
      <p:sp>
        <p:nvSpPr>
          <p:cNvPr id="223" name="Text 189"/>
          <p:cNvSpPr txBox="1"/>
          <p:nvPr/>
        </p:nvSpPr>
        <p:spPr>
          <a:xfrm>
            <a:off x="10729341" y="1549908"/>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load_from_json(path)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get_node(node_id)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get_nodes_by_type(type)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get_outgoing_edges(id)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get_incoming_edges(id)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get_neighbors(id,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find_path(from, to,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get_graph_stats()</a:t>
            </a:r>
            <a:endParaRPr lang="en-US" sz="550" dirty="0"/>
          </a:p>
        </p:txBody>
      </p:sp>
      <p:sp>
        <p:nvSpPr>
          <p:cNvPr id="224" name="Shape 190"/>
          <p:cNvSpPr/>
          <p:nvPr/>
        </p:nvSpPr>
        <p:spPr>
          <a:xfrm>
            <a:off x="10683621" y="2394585"/>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5" name="Text 191"/>
          <p:cNvSpPr txBox="1"/>
          <p:nvPr/>
        </p:nvSpPr>
        <p:spPr>
          <a:xfrm>
            <a:off x="10729341" y="2420188"/>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Delivery methods</a:t>
            </a:r>
            <a:endParaRPr lang="en-US" sz="620" dirty="0"/>
          </a:p>
        </p:txBody>
      </p:sp>
      <p:sp>
        <p:nvSpPr>
          <p:cNvPr id="226" name="Text 192"/>
          <p:cNvSpPr txBox="1"/>
          <p:nvPr/>
        </p:nvSpPr>
        <p:spPr>
          <a:xfrm>
            <a:off x="10729341" y="2554605"/>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analyze_impact(requirement)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find_reuse(capability)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classify_risk(components)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trace_downstream_events()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coverage_report()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build_context_slice()</a:t>
            </a:r>
            <a:endParaRPr lang="en-US" sz="550" dirty="0"/>
          </a:p>
        </p:txBody>
      </p:sp>
      <p:sp>
        <p:nvSpPr>
          <p:cNvPr id="227" name="Shape 193"/>
          <p:cNvSpPr/>
          <p:nvPr/>
        </p:nvSpPr>
        <p:spPr>
          <a:xfrm>
            <a:off x="10683621" y="3399282"/>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8" name="Text 194"/>
          <p:cNvSpPr txBox="1"/>
          <p:nvPr/>
        </p:nvSpPr>
        <p:spPr>
          <a:xfrm>
            <a:off x="10729341"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Codex tool surface</a:t>
            </a:r>
            <a:endParaRPr lang="en-US" sz="620" dirty="0"/>
          </a:p>
        </p:txBody>
      </p:sp>
      <p:sp>
        <p:nvSpPr>
          <p:cNvPr id="229" name="Text 195"/>
          <p:cNvSpPr txBox="1"/>
          <p:nvPr/>
        </p:nvSpPr>
        <p:spPr>
          <a:xfrm>
            <a:off x="10729341" y="3559302"/>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graph.query · graph.impact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graph.reuse · graph.prov</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git.read_file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sf.describe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jira.read · copado.status</a:t>
            </a:r>
            <a:endParaRPr lang="en-US" sz="550" dirty="0"/>
          </a:p>
        </p:txBody>
      </p:sp>
      <p:sp>
        <p:nvSpPr>
          <p:cNvPr id="230" name="Shape 196"/>
          <p:cNvSpPr/>
          <p:nvPr/>
        </p:nvSpPr>
        <p:spPr>
          <a:xfrm>
            <a:off x="10683621" y="4403979"/>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31" name="Text 197"/>
          <p:cNvSpPr txBox="1"/>
          <p:nvPr/>
        </p:nvSpPr>
        <p:spPr>
          <a:xfrm>
            <a:off x="10729341" y="4429582"/>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Output contract</a:t>
            </a:r>
            <a:endParaRPr lang="en-US" sz="620" dirty="0"/>
          </a:p>
        </p:txBody>
      </p:sp>
      <p:sp>
        <p:nvSpPr>
          <p:cNvPr id="232" name="Text 198"/>
          <p:cNvSpPr txBox="1"/>
          <p:nvPr/>
        </p:nvSpPr>
        <p:spPr>
          <a:xfrm>
            <a:off x="10729341" y="4563999"/>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Bounded graph slice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No invented dependencies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claim cites a node 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ImpactAnalysis · ChangePlan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GeneratedArtifacts, TestPlan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RiskAssessment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Write: DEV + branch only</a:t>
            </a:r>
            <a:endParaRPr lang="en-US" sz="550" dirty="0"/>
          </a:p>
        </p:txBody>
      </p:sp>
      <p:sp>
        <p:nvSpPr>
          <p:cNvPr id="233" name="Shape 199"/>
          <p:cNvSpPr/>
          <p:nvPr/>
        </p:nvSpPr>
        <p:spPr>
          <a:xfrm>
            <a:off x="10683621" y="5404104"/>
            <a:ext cx="1295019" cy="384048"/>
          </a:xfrm>
          <a:prstGeom prst="roundRect">
            <a:avLst>
              <a:gd name="adj" fmla="val 9524"/>
            </a:avLst>
          </a:prstGeom>
          <a:solidFill>
            <a:srgbClr val="00757F"/>
          </a:solidFill>
          <a:ln w="12700">
            <a:solidFill>
              <a:srgbClr val="00757F"/>
            </a:solidFill>
            <a:prstDash val="solid"/>
          </a:ln>
        </p:spPr>
        <p:txBody>
          <a:bodyPr/>
          <a:lstStyle/>
          <a:p>
            <a:endParaRPr lang="en-IN"/>
          </a:p>
        </p:txBody>
      </p:sp>
      <p:sp>
        <p:nvSpPr>
          <p:cNvPr id="234" name="Text 200"/>
          <p:cNvSpPr txBox="1"/>
          <p:nvPr/>
        </p:nvSpPr>
        <p:spPr>
          <a:xfrm>
            <a:off x="10729341"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235" name="Text 201"/>
          <p:cNvSpPr txBox="1"/>
          <p:nvPr/>
        </p:nvSpPr>
        <p:spPr>
          <a:xfrm>
            <a:off x="10729341"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Codex reasons on verified facts, never invented ones</a:t>
            </a:r>
            <a:endParaRPr lang="en-US" sz="520" dirty="0"/>
          </a:p>
        </p:txBody>
      </p:sp>
      <p:sp>
        <p:nvSpPr>
          <p:cNvPr id="236" name="Shape 202"/>
          <p:cNvSpPr/>
          <p:nvPr/>
        </p:nvSpPr>
        <p:spPr>
          <a:xfrm>
            <a:off x="984123"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37" name="Text 203"/>
          <p:cNvSpPr txBox="1"/>
          <p:nvPr/>
        </p:nvSpPr>
        <p:spPr>
          <a:xfrm>
            <a:off x="1029843"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0E8A7D"/>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REST v3 · OAuth 2.0 · JWT bearer · SSH key · API token</a:t>
            </a:r>
            <a:endParaRPr lang="en-US" sz="540" dirty="0"/>
          </a:p>
        </p:txBody>
      </p:sp>
      <p:sp>
        <p:nvSpPr>
          <p:cNvPr id="238" name="Shape 204"/>
          <p:cNvSpPr/>
          <p:nvPr/>
        </p:nvSpPr>
        <p:spPr>
          <a:xfrm>
            <a:off x="2480310"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39" name="Text 205"/>
          <p:cNvSpPr txBox="1"/>
          <p:nvPr/>
        </p:nvSpPr>
        <p:spPr>
          <a:xfrm>
            <a:off x="2526030"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7A4FC0"/>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SourceArtifact: bytes + metadata + SHA-256</a:t>
            </a:r>
            <a:endParaRPr lang="en-US" sz="540" dirty="0"/>
          </a:p>
        </p:txBody>
      </p:sp>
      <p:sp>
        <p:nvSpPr>
          <p:cNvPr id="240" name="Shape 206"/>
          <p:cNvSpPr/>
          <p:nvPr/>
        </p:nvSpPr>
        <p:spPr>
          <a:xfrm>
            <a:off x="3976497"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1" name="Text 207"/>
          <p:cNvSpPr txBox="1"/>
          <p:nvPr/>
        </p:nvSpPr>
        <p:spPr>
          <a:xfrm>
            <a:off x="4022217"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2185B"/>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Typed domain objects + provenance</a:t>
            </a:r>
            <a:endParaRPr lang="en-US" sz="540" dirty="0"/>
          </a:p>
        </p:txBody>
      </p:sp>
      <p:sp>
        <p:nvSpPr>
          <p:cNvPr id="242" name="Shape 208"/>
          <p:cNvSpPr/>
          <p:nvPr/>
        </p:nvSpPr>
        <p:spPr>
          <a:xfrm>
            <a:off x="5472684"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3" name="Text 209"/>
          <p:cNvSpPr txBox="1"/>
          <p:nvPr/>
        </p:nvSpPr>
        <p:spPr>
          <a:xfrm>
            <a:off x="5518404"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77400"/>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persisted as vendor-neutral JSON</a:t>
            </a:r>
            <a:endParaRPr lang="en-US" sz="540" dirty="0"/>
          </a:p>
        </p:txBody>
      </p:sp>
      <p:sp>
        <p:nvSpPr>
          <p:cNvPr id="244" name="Shape 210"/>
          <p:cNvSpPr/>
          <p:nvPr/>
        </p:nvSpPr>
        <p:spPr>
          <a:xfrm>
            <a:off x="6968871"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5" name="Text 211"/>
          <p:cNvSpPr txBox="1"/>
          <p:nvPr/>
        </p:nvSpPr>
        <p:spPr>
          <a:xfrm>
            <a:off x="7014591"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62828"/>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export(NetworkServicesContext) → nodes + edges</a:t>
            </a:r>
            <a:endParaRPr lang="en-US" sz="540" dirty="0"/>
          </a:p>
        </p:txBody>
      </p:sp>
      <p:sp>
        <p:nvSpPr>
          <p:cNvPr id="246" name="Shape 212"/>
          <p:cNvSpPr/>
          <p:nvPr/>
        </p:nvSpPr>
        <p:spPr>
          <a:xfrm>
            <a:off x="8465058"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7" name="Text 213"/>
          <p:cNvSpPr txBox="1"/>
          <p:nvPr/>
        </p:nvSpPr>
        <p:spPr>
          <a:xfrm>
            <a:off x="8510778"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2E7D32"/>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loaded into the in-memory graph</a:t>
            </a:r>
            <a:endParaRPr lang="en-US" sz="540" dirty="0"/>
          </a:p>
        </p:txBody>
      </p:sp>
      <p:sp>
        <p:nvSpPr>
          <p:cNvPr id="248" name="Shape 214"/>
          <p:cNvSpPr/>
          <p:nvPr/>
        </p:nvSpPr>
        <p:spPr>
          <a:xfrm>
            <a:off x="9961245"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9" name="Text 215"/>
          <p:cNvSpPr txBox="1"/>
          <p:nvPr/>
        </p:nvSpPr>
        <p:spPr>
          <a:xfrm>
            <a:off x="10006965"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00757F"/>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adapter API: typed graph queries</a:t>
            </a:r>
            <a:endParaRPr lang="en-US" sz="540" dirty="0"/>
          </a:p>
        </p:txBody>
      </p:sp>
      <p:sp>
        <p:nvSpPr>
          <p:cNvPr id="250" name="Text 216"/>
          <p:cNvSpPr txBox="1"/>
          <p:nvPr/>
        </p:nvSpPr>
        <p:spPr>
          <a:xfrm>
            <a:off x="164592" y="5870448"/>
            <a:ext cx="786384" cy="274320"/>
          </a:xfrm>
          <a:prstGeom prst="rect">
            <a:avLst/>
          </a:prstGeom>
          <a:noFill/>
          <a:ln/>
        </p:spPr>
        <p:txBody>
          <a:bodyPr wrap="square" lIns="0" tIns="0" rIns="0" bIns="0" rtlCol="0" anchor="ctr"/>
          <a:lstStyle/>
          <a:p>
            <a:pPr marL="0" indent="0">
              <a:lnSpc>
                <a:spcPct val="90000"/>
              </a:lnSpc>
              <a:buNone/>
            </a:pPr>
            <a:r>
              <a:rPr lang="en-US" sz="500" b="0" dirty="0">
                <a:solidFill>
                  <a:srgbClr val="5C6E85"/>
                </a:solidFill>
                <a:latin typeface="Trenda IG Text Semibold" pitchFamily="34" charset="0"/>
                <a:ea typeface="Trenda IG Text Semibold" pitchFamily="34" charset="-122"/>
                <a:cs typeface="Trenda IG Text Semibold" pitchFamily="34" charset="-120"/>
              </a:rPr>
              <a:t>HANDOFF</a:t>
            </a:r>
            <a:endParaRPr lang="en-US" sz="500" dirty="0"/>
          </a:p>
          <a:p>
            <a:pPr marL="0" indent="0">
              <a:lnSpc>
                <a:spcPct val="90000"/>
              </a:lnSpc>
              <a:buNone/>
            </a:pPr>
            <a:r>
              <a:rPr lang="en-US" sz="500" b="0" dirty="0">
                <a:solidFill>
                  <a:srgbClr val="5C6E85"/>
                </a:solidFill>
                <a:latin typeface="Trenda IG Text Semibold" pitchFamily="34" charset="0"/>
                <a:ea typeface="Trenda IG Text Semibold" pitchFamily="34" charset="-122"/>
                <a:cs typeface="Trenda IG Text Semibold" pitchFamily="34" charset="-120"/>
              </a:rPr>
              <a:t>BETWEEN LAYERS</a:t>
            </a:r>
            <a:endParaRPr lang="en-US" sz="500" dirty="0"/>
          </a:p>
        </p:txBody>
      </p:sp>
      <p:sp>
        <p:nvSpPr>
          <p:cNvPr id="251" name="Shape 217"/>
          <p:cNvSpPr/>
          <p:nvPr/>
        </p:nvSpPr>
        <p:spPr>
          <a:xfrm>
            <a:off x="164592"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52" name="Image 32" descr="preencoded.png"/>
          <p:cNvPicPr>
            <a:picLocks noChangeAspect="1"/>
          </p:cNvPicPr>
          <p:nvPr/>
        </p:nvPicPr>
        <p:blipFill>
          <a:blip r:embed="rId17"/>
          <a:stretch>
            <a:fillRect/>
          </a:stretch>
        </p:blipFill>
        <p:spPr>
          <a:xfrm>
            <a:off x="246888" y="6240780"/>
            <a:ext cx="128016" cy="128016"/>
          </a:xfrm>
          <a:prstGeom prst="rect">
            <a:avLst/>
          </a:prstGeom>
        </p:spPr>
      </p:pic>
      <p:sp>
        <p:nvSpPr>
          <p:cNvPr id="253" name="Text 218"/>
          <p:cNvSpPr txBox="1"/>
          <p:nvPr/>
        </p:nvSpPr>
        <p:spPr>
          <a:xfrm>
            <a:off x="420624" y="6231636"/>
            <a:ext cx="2521458" cy="146304"/>
          </a:xfrm>
          <a:prstGeom prst="rect">
            <a:avLst/>
          </a:prstGeom>
          <a:noFill/>
          <a:ln/>
        </p:spPr>
        <p:txBody>
          <a:bodyPr wrap="square" lIns="0" tIns="0" rIns="0" bIns="0" rtlCol="0" anchor="ctr"/>
          <a:lstStyle/>
          <a:p>
            <a:pPr marL="0" indent="0">
              <a:buNone/>
            </a:pPr>
            <a:r>
              <a:rPr lang="en-US" sz="700" b="0" dirty="0">
                <a:solidFill>
                  <a:srgbClr val="7A4FC0"/>
                </a:solidFill>
                <a:latin typeface="Trenda IG Text Semibold" pitchFamily="34" charset="0"/>
                <a:ea typeface="Trenda IG Text Semibold" pitchFamily="34" charset="-122"/>
                <a:cs typeface="Trenda IG Text Semibold" pitchFamily="34" charset="-120"/>
              </a:rPr>
              <a:t>Provenance &amp; authority</a:t>
            </a:r>
            <a:endParaRPr lang="en-US" sz="700" dirty="0"/>
          </a:p>
        </p:txBody>
      </p:sp>
      <p:sp>
        <p:nvSpPr>
          <p:cNvPr id="254" name="Text 219"/>
          <p:cNvSpPr txBox="1"/>
          <p:nvPr/>
        </p:nvSpPr>
        <p:spPr>
          <a:xfrm>
            <a:off x="246888"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Every node and edge carries createdBy · createdAt · derivationMethod (AUTOMATED | MANUAL | INFERRED) · origin (FACTUAL | INFERRED) · confidence · sourceReferences (type, artifactId, path, SHA-256, retrievedAt). Authority stays with the source system.</a:t>
            </a:r>
            <a:endParaRPr lang="en-US" sz="560" dirty="0"/>
          </a:p>
        </p:txBody>
      </p:sp>
      <p:sp>
        <p:nvSpPr>
          <p:cNvPr id="255" name="Shape 220"/>
          <p:cNvSpPr/>
          <p:nvPr/>
        </p:nvSpPr>
        <p:spPr>
          <a:xfrm>
            <a:off x="3161538"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56" name="Image 33" descr="preencoded.png"/>
          <p:cNvPicPr>
            <a:picLocks noChangeAspect="1"/>
          </p:cNvPicPr>
          <p:nvPr/>
        </p:nvPicPr>
        <p:blipFill>
          <a:blip r:embed="rId18"/>
          <a:stretch>
            <a:fillRect/>
          </a:stretch>
        </p:blipFill>
        <p:spPr>
          <a:xfrm>
            <a:off x="3243834" y="6240780"/>
            <a:ext cx="128016" cy="128016"/>
          </a:xfrm>
          <a:prstGeom prst="rect">
            <a:avLst/>
          </a:prstGeom>
        </p:spPr>
      </p:pic>
      <p:sp>
        <p:nvSpPr>
          <p:cNvPr id="257" name="Text 221"/>
          <p:cNvSpPr txBox="1"/>
          <p:nvPr/>
        </p:nvSpPr>
        <p:spPr>
          <a:xfrm>
            <a:off x="3417570" y="6231636"/>
            <a:ext cx="2521458" cy="146304"/>
          </a:xfrm>
          <a:prstGeom prst="rect">
            <a:avLst/>
          </a:prstGeom>
          <a:noFill/>
          <a:ln/>
        </p:spPr>
        <p:txBody>
          <a:bodyPr wrap="square" lIns="0" tIns="0" rIns="0" bIns="0" rtlCol="0" anchor="ctr"/>
          <a:lstStyle/>
          <a:p>
            <a:pPr marL="0" indent="0">
              <a:buNone/>
            </a:pPr>
            <a:r>
              <a:rPr lang="en-US" sz="700" b="0" dirty="0">
                <a:solidFill>
                  <a:srgbClr val="0E8A7D"/>
                </a:solidFill>
                <a:latin typeface="Trenda IG Text Semibold" pitchFamily="34" charset="0"/>
                <a:ea typeface="Trenda IG Text Semibold" pitchFamily="34" charset="-122"/>
                <a:cs typeface="Trenda IG Text Semibold" pitchFamily="34" charset="-120"/>
              </a:rPr>
              <a:t>Security &amp; access: three identities</a:t>
            </a:r>
            <a:endParaRPr lang="en-US" sz="700" dirty="0"/>
          </a:p>
        </p:txBody>
      </p:sp>
      <p:sp>
        <p:nvSpPr>
          <p:cNvPr id="258" name="Text 222"/>
          <p:cNvSpPr txBox="1"/>
          <p:nvPr/>
        </p:nvSpPr>
        <p:spPr>
          <a:xfrm>
            <a:off x="3243834"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AI Read Service: read-only into the Context Graph · AI Development Service: DEV org plus source branch · AI Release Service: Copado, lower environments only. Production credentials are never available to the LLM agent.</a:t>
            </a:r>
            <a:endParaRPr lang="en-US" sz="560" dirty="0"/>
          </a:p>
        </p:txBody>
      </p:sp>
      <p:sp>
        <p:nvSpPr>
          <p:cNvPr id="259" name="Shape 223"/>
          <p:cNvSpPr/>
          <p:nvPr/>
        </p:nvSpPr>
        <p:spPr>
          <a:xfrm>
            <a:off x="6158484"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60" name="Image 34" descr="preencoded.png"/>
          <p:cNvPicPr>
            <a:picLocks noChangeAspect="1"/>
          </p:cNvPicPr>
          <p:nvPr/>
        </p:nvPicPr>
        <p:blipFill>
          <a:blip r:embed="rId19"/>
          <a:stretch>
            <a:fillRect/>
          </a:stretch>
        </p:blipFill>
        <p:spPr>
          <a:xfrm>
            <a:off x="6240780" y="6240780"/>
            <a:ext cx="128016" cy="128016"/>
          </a:xfrm>
          <a:prstGeom prst="rect">
            <a:avLst/>
          </a:prstGeom>
        </p:spPr>
      </p:pic>
      <p:sp>
        <p:nvSpPr>
          <p:cNvPr id="261" name="Text 224"/>
          <p:cNvSpPr txBox="1"/>
          <p:nvPr/>
        </p:nvSpPr>
        <p:spPr>
          <a:xfrm>
            <a:off x="6414516" y="6231636"/>
            <a:ext cx="2521458" cy="146304"/>
          </a:xfrm>
          <a:prstGeom prst="rect">
            <a:avLst/>
          </a:prstGeom>
          <a:noFill/>
          <a:ln/>
        </p:spPr>
        <p:txBody>
          <a:bodyPr wrap="square" lIns="0" tIns="0" rIns="0" bIns="0" rtlCol="0" anchor="ctr"/>
          <a:lstStyle/>
          <a:p>
            <a:pPr marL="0" indent="0">
              <a:buNone/>
            </a:pPr>
            <a:r>
              <a:rPr lang="en-US" sz="700" b="0" dirty="0">
                <a:solidFill>
                  <a:srgbClr val="4527A0"/>
                </a:solidFill>
                <a:latin typeface="Trenda IG Text Semibold" pitchFamily="34" charset="0"/>
                <a:ea typeface="Trenda IG Text Semibold" pitchFamily="34" charset="-122"/>
                <a:cs typeface="Trenda IG Text Semibold" pitchFamily="34" charset="-120"/>
              </a:rPr>
              <a:t>Audit &amp; traceability</a:t>
            </a:r>
            <a:endParaRPr lang="en-US" sz="700" dirty="0"/>
          </a:p>
        </p:txBody>
      </p:sp>
      <p:sp>
        <p:nvSpPr>
          <p:cNvPr id="262" name="Text 225"/>
          <p:cNvSpPr txBox="1"/>
          <p:nvPr/>
        </p:nvSpPr>
        <p:spPr>
          <a:xfrm>
            <a:off x="6240780"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Evidence in Jira · Git · Copado · AI Audit Store (Slack is notification only). Every action captures request, user, timestamp, source context, recommendation, approval, files changed, code diff, tests, environment, deployment and outcome.</a:t>
            </a:r>
            <a:endParaRPr lang="en-US" sz="560" dirty="0"/>
          </a:p>
        </p:txBody>
      </p:sp>
      <p:sp>
        <p:nvSpPr>
          <p:cNvPr id="263" name="Shape 226"/>
          <p:cNvSpPr/>
          <p:nvPr/>
        </p:nvSpPr>
        <p:spPr>
          <a:xfrm>
            <a:off x="9155430"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64" name="Image 35" descr="preencoded.png"/>
          <p:cNvPicPr>
            <a:picLocks noChangeAspect="1"/>
          </p:cNvPicPr>
          <p:nvPr/>
        </p:nvPicPr>
        <p:blipFill>
          <a:blip r:embed="rId20"/>
          <a:stretch>
            <a:fillRect/>
          </a:stretch>
        </p:blipFill>
        <p:spPr>
          <a:xfrm>
            <a:off x="9237726" y="6240780"/>
            <a:ext cx="128016" cy="128016"/>
          </a:xfrm>
          <a:prstGeom prst="rect">
            <a:avLst/>
          </a:prstGeom>
        </p:spPr>
      </p:pic>
      <p:sp>
        <p:nvSpPr>
          <p:cNvPr id="265" name="Text 227"/>
          <p:cNvSpPr txBox="1"/>
          <p:nvPr/>
        </p:nvSpPr>
        <p:spPr>
          <a:xfrm>
            <a:off x="9411462" y="6231636"/>
            <a:ext cx="2521458" cy="146304"/>
          </a:xfrm>
          <a:prstGeom prst="rect">
            <a:avLst/>
          </a:prstGeom>
          <a:noFill/>
          <a:ln/>
        </p:spPr>
        <p:txBody>
          <a:bodyPr wrap="square" lIns="0" tIns="0" rIns="0" bIns="0" rtlCol="0" anchor="ctr"/>
          <a:lstStyle/>
          <a:p>
            <a:pPr marL="0" indent="0">
              <a:buNone/>
            </a:pPr>
            <a:r>
              <a:rPr lang="en-US" sz="700" b="0" dirty="0">
                <a:solidFill>
                  <a:srgbClr val="2E7D32"/>
                </a:solidFill>
                <a:latin typeface="Trenda IG Text Semibold" pitchFamily="34" charset="0"/>
                <a:ea typeface="Trenda IG Text Semibold" pitchFamily="34" charset="-122"/>
                <a:cs typeface="Trenda IG Text Semibold" pitchFamily="34" charset="-120"/>
              </a:rPr>
              <a:t>Governed delivery &amp; POC</a:t>
            </a:r>
            <a:endParaRPr lang="en-US" sz="700" dirty="0"/>
          </a:p>
        </p:txBody>
      </p:sp>
      <p:sp>
        <p:nvSpPr>
          <p:cNvPr id="266" name="Text 228"/>
          <p:cNvSpPr txBox="1"/>
          <p:nvPr/>
        </p:nvSpPr>
        <p:spPr>
          <a:xfrm>
            <a:off x="9237726"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AI Build → Copado release → quality gates → DEV → SIT → UAT → human approval → CAB → PREPROD → PROD. Risk routing: low → developer · medium → tech lead · high → architecture · critical → security. POC: 10–15 changes; APDH, credentialing rules and HFN redesign excluded.</a:t>
            </a:r>
            <a:endParaRPr lang="en-US" sz="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Layers 1–3 · Per-source pipeline</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For each system of record: what the graph reads, how the connector authenticates and pulls it, and how the ingestor parses it into the domain model.</a:t>
            </a:r>
            <a:endParaRPr lang="en-US" sz="950" dirty="0"/>
          </a:p>
        </p:txBody>
      </p:sp>
      <p:sp>
        <p:nvSpPr>
          <p:cNvPr id="4" name="Shape 2"/>
          <p:cNvSpPr/>
          <p:nvPr/>
        </p:nvSpPr>
        <p:spPr>
          <a:xfrm>
            <a:off x="365760" y="1024128"/>
            <a:ext cx="1787652" cy="5440680"/>
          </a:xfrm>
          <a:prstGeom prst="roundRect">
            <a:avLst>
              <a:gd name="adj" fmla="val 2558"/>
            </a:avLst>
          </a:prstGeom>
          <a:solidFill>
            <a:srgbClr val="EAF1FB"/>
          </a:solidFill>
          <a:ln w="9525">
            <a:solidFill>
              <a:srgbClr val="DCE4EE"/>
            </a:solidFill>
            <a:prstDash val="solid"/>
          </a:ln>
        </p:spPr>
        <p:txBody>
          <a:bodyPr/>
          <a:lstStyle/>
          <a:p>
            <a:endParaRPr lang="en-IN"/>
          </a:p>
        </p:txBody>
      </p:sp>
      <p:sp>
        <p:nvSpPr>
          <p:cNvPr id="5" name="Shape 3"/>
          <p:cNvSpPr/>
          <p:nvPr/>
        </p:nvSpPr>
        <p:spPr>
          <a:xfrm>
            <a:off x="365760" y="1024128"/>
            <a:ext cx="1787652" cy="365760"/>
          </a:xfrm>
          <a:prstGeom prst="roundRect">
            <a:avLst>
              <a:gd name="adj" fmla="val 12500"/>
            </a:avLst>
          </a:prstGeom>
          <a:solidFill>
            <a:srgbClr val="1B6BC0"/>
          </a:solidFill>
          <a:ln w="12700">
            <a:solidFill>
              <a:srgbClr val="1B6BC0"/>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493776" y="1124712"/>
            <a:ext cx="164592" cy="164592"/>
          </a:xfrm>
          <a:prstGeom prst="rect">
            <a:avLst/>
          </a:prstGeom>
        </p:spPr>
      </p:pic>
      <p:sp>
        <p:nvSpPr>
          <p:cNvPr id="7" name="Text 4"/>
          <p:cNvSpPr txBox="1"/>
          <p:nvPr/>
        </p:nvSpPr>
        <p:spPr>
          <a:xfrm>
            <a:off x="420624"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Jira</a:t>
            </a:r>
            <a:endParaRPr lang="en-US" sz="900" dirty="0"/>
          </a:p>
        </p:txBody>
      </p:sp>
      <p:sp>
        <p:nvSpPr>
          <p:cNvPr id="8" name="Shape 5"/>
          <p:cNvSpPr/>
          <p:nvPr/>
        </p:nvSpPr>
        <p:spPr>
          <a:xfrm>
            <a:off x="438912"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9" name="Text 6"/>
          <p:cNvSpPr txBox="1"/>
          <p:nvPr/>
        </p:nvSpPr>
        <p:spPr>
          <a:xfrm>
            <a:off x="493776" y="1517904"/>
            <a:ext cx="1531620"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10" name="Text 7"/>
          <p:cNvSpPr txBox="1"/>
          <p:nvPr/>
        </p:nvSpPr>
        <p:spPr>
          <a:xfrm>
            <a:off x="493776"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stories &amp; requirements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Acceptance criteria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Epics, components, labels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Kanban &amp; sprint history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Linked issues &amp; defects</a:t>
            </a:r>
            <a:endParaRPr lang="en-US" sz="700" dirty="0"/>
          </a:p>
        </p:txBody>
      </p:sp>
      <p:sp>
        <p:nvSpPr>
          <p:cNvPr id="11" name="Shape 8"/>
          <p:cNvSpPr/>
          <p:nvPr/>
        </p:nvSpPr>
        <p:spPr>
          <a:xfrm>
            <a:off x="438912"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12" name="Text 9"/>
          <p:cNvSpPr txBox="1"/>
          <p:nvPr/>
        </p:nvSpPr>
        <p:spPr>
          <a:xfrm>
            <a:off x="493776" y="2951323"/>
            <a:ext cx="1531620"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13" name="Text 10"/>
          <p:cNvSpPr txBox="1"/>
          <p:nvPr/>
        </p:nvSpPr>
        <p:spPr>
          <a:xfrm>
            <a:off x="493776"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OAuth 2.0 (3LO) or API token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Read-only scopes only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JQL incremental pull (updated &gt;= lastSyncAt)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Cursor pagination (startAt / maxResults=100)</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429 handling: exponential backoff + Retry-After</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issue payload</a:t>
            </a:r>
            <a:endParaRPr lang="en-US" sz="700" dirty="0"/>
          </a:p>
        </p:txBody>
      </p:sp>
      <p:sp>
        <p:nvSpPr>
          <p:cNvPr id="14" name="Shape 11"/>
          <p:cNvSpPr/>
          <p:nvPr/>
        </p:nvSpPr>
        <p:spPr>
          <a:xfrm>
            <a:off x="438912"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15" name="Text 12"/>
          <p:cNvSpPr txBox="1"/>
          <p:nvPr/>
        </p:nvSpPr>
        <p:spPr>
          <a:xfrm>
            <a:off x="493776" y="4854434"/>
            <a:ext cx="1531620"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16" name="Text 13"/>
          <p:cNvSpPr txBox="1"/>
          <p:nvPr/>
        </p:nvSpPr>
        <p:spPr>
          <a:xfrm>
            <a:off x="493776"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ADF JSON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 statement extraction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Acceptance criteria (Given / When / Then)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Capability tagging from labels &amp; components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 graph: blocks, relates, implements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issue key, updated, SHA-256</a:t>
            </a:r>
            <a:endParaRPr lang="en-US" sz="700" dirty="0"/>
          </a:p>
        </p:txBody>
      </p:sp>
      <p:sp>
        <p:nvSpPr>
          <p:cNvPr id="17" name="Shape 14"/>
          <p:cNvSpPr/>
          <p:nvPr/>
        </p:nvSpPr>
        <p:spPr>
          <a:xfrm>
            <a:off x="2299716" y="1024128"/>
            <a:ext cx="1787652" cy="5440680"/>
          </a:xfrm>
          <a:prstGeom prst="roundRect">
            <a:avLst>
              <a:gd name="adj" fmla="val 2558"/>
            </a:avLst>
          </a:prstGeom>
          <a:solidFill>
            <a:srgbClr val="E5F4F1"/>
          </a:solidFill>
          <a:ln w="9525">
            <a:solidFill>
              <a:srgbClr val="DCE4EE"/>
            </a:solidFill>
            <a:prstDash val="solid"/>
          </a:ln>
        </p:spPr>
        <p:txBody>
          <a:bodyPr/>
          <a:lstStyle/>
          <a:p>
            <a:endParaRPr lang="en-IN"/>
          </a:p>
        </p:txBody>
      </p:sp>
      <p:sp>
        <p:nvSpPr>
          <p:cNvPr id="18" name="Shape 15"/>
          <p:cNvSpPr/>
          <p:nvPr/>
        </p:nvSpPr>
        <p:spPr>
          <a:xfrm>
            <a:off x="2299716" y="1024128"/>
            <a:ext cx="1787652" cy="365760"/>
          </a:xfrm>
          <a:prstGeom prst="roundRect">
            <a:avLst>
              <a:gd name="adj" fmla="val 12500"/>
            </a:avLst>
          </a:prstGeom>
          <a:solidFill>
            <a:srgbClr val="0E8A7D"/>
          </a:solidFill>
          <a:ln w="12700">
            <a:solidFill>
              <a:srgbClr val="0E8A7D"/>
            </a:solidFill>
            <a:prstDash val="solid"/>
          </a:ln>
        </p:spPr>
        <p:txBody>
          <a:bodyPr/>
          <a:lstStyle/>
          <a:p>
            <a:endParaRPr lang="en-IN"/>
          </a:p>
        </p:txBody>
      </p:sp>
      <p:pic>
        <p:nvPicPr>
          <p:cNvPr id="19" name="Image 1" descr="preencoded.png"/>
          <p:cNvPicPr>
            <a:picLocks noChangeAspect="1"/>
          </p:cNvPicPr>
          <p:nvPr/>
        </p:nvPicPr>
        <p:blipFill>
          <a:blip r:embed="rId4"/>
          <a:stretch>
            <a:fillRect/>
          </a:stretch>
        </p:blipFill>
        <p:spPr>
          <a:xfrm>
            <a:off x="2427732" y="1124712"/>
            <a:ext cx="164592" cy="164592"/>
          </a:xfrm>
          <a:prstGeom prst="rect">
            <a:avLst/>
          </a:prstGeom>
        </p:spPr>
      </p:pic>
      <p:sp>
        <p:nvSpPr>
          <p:cNvPr id="20" name="Text 16"/>
          <p:cNvSpPr txBox="1"/>
          <p:nvPr/>
        </p:nvSpPr>
        <p:spPr>
          <a:xfrm>
            <a:off x="2354580"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Confluence</a:t>
            </a:r>
            <a:endParaRPr lang="en-US" sz="900" dirty="0"/>
          </a:p>
        </p:txBody>
      </p:sp>
      <p:sp>
        <p:nvSpPr>
          <p:cNvPr id="21" name="Shape 17"/>
          <p:cNvSpPr/>
          <p:nvPr/>
        </p:nvSpPr>
        <p:spPr>
          <a:xfrm>
            <a:off x="2372868"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22" name="Text 18"/>
          <p:cNvSpPr txBox="1"/>
          <p:nvPr/>
        </p:nvSpPr>
        <p:spPr>
          <a:xfrm>
            <a:off x="2427732" y="1517904"/>
            <a:ext cx="1531620" cy="182880"/>
          </a:xfrm>
          <a:prstGeom prst="rect">
            <a:avLst/>
          </a:prstGeom>
          <a:noFill/>
          <a:ln/>
        </p:spPr>
        <p:txBody>
          <a:bodyPr wrap="square" lIns="0" tIns="0" rIns="0" bIns="0" rtlCol="0" anchor="t"/>
          <a:lstStyle/>
          <a:p>
            <a:pPr marL="0" indent="0">
              <a:buNone/>
            </a:pPr>
            <a:r>
              <a:rPr lang="en-US" sz="800" b="0" dirty="0">
                <a:solidFill>
                  <a:srgbClr val="0E8A7D"/>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23" name="Text 19"/>
          <p:cNvSpPr txBox="1"/>
          <p:nvPr/>
        </p:nvSpPr>
        <p:spPr>
          <a:xfrm>
            <a:off x="2427732"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Functional design pages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Technical design pages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Business-rule tables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Integration diagrams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HFN / HPF &amp; credentialing runbooks</a:t>
            </a:r>
            <a:endParaRPr lang="en-US" sz="700" dirty="0"/>
          </a:p>
        </p:txBody>
      </p:sp>
      <p:sp>
        <p:nvSpPr>
          <p:cNvPr id="24" name="Shape 20"/>
          <p:cNvSpPr/>
          <p:nvPr/>
        </p:nvSpPr>
        <p:spPr>
          <a:xfrm>
            <a:off x="2372868"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25" name="Text 21"/>
          <p:cNvSpPr txBox="1"/>
          <p:nvPr/>
        </p:nvSpPr>
        <p:spPr>
          <a:xfrm>
            <a:off x="2427732" y="2951323"/>
            <a:ext cx="1531620" cy="182880"/>
          </a:xfrm>
          <a:prstGeom prst="rect">
            <a:avLst/>
          </a:prstGeom>
          <a:noFill/>
          <a:ln/>
        </p:spPr>
        <p:txBody>
          <a:bodyPr wrap="square" lIns="0" tIns="0" rIns="0" bIns="0" rtlCol="0" anchor="t"/>
          <a:lstStyle/>
          <a:p>
            <a:pPr marL="0" indent="0">
              <a:buNone/>
            </a:pPr>
            <a:r>
              <a:rPr lang="en-US" sz="800" b="0" dirty="0">
                <a:solidFill>
                  <a:srgbClr val="0E8A7D"/>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26" name="Text 22"/>
          <p:cNvSpPr txBox="1"/>
          <p:nvPr/>
        </p:nvSpPr>
        <p:spPr>
          <a:xfrm>
            <a:off x="2427732"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PAT / API token authentication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Space + label scoped retrieval</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Storage-format HTML (body.storage)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Version + lastUpdated tracking (delta sync)</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Rate limiting (token bucket)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content hashing</a:t>
            </a:r>
            <a:endParaRPr lang="en-US" sz="700" dirty="0"/>
          </a:p>
        </p:txBody>
      </p:sp>
      <p:sp>
        <p:nvSpPr>
          <p:cNvPr id="27" name="Shape 23"/>
          <p:cNvSpPr/>
          <p:nvPr/>
        </p:nvSpPr>
        <p:spPr>
          <a:xfrm>
            <a:off x="2372868"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28" name="Text 24"/>
          <p:cNvSpPr txBox="1"/>
          <p:nvPr/>
        </p:nvSpPr>
        <p:spPr>
          <a:xfrm>
            <a:off x="2427732" y="4854434"/>
            <a:ext cx="1531620" cy="182880"/>
          </a:xfrm>
          <a:prstGeom prst="rect">
            <a:avLst/>
          </a:prstGeom>
          <a:noFill/>
          <a:ln/>
        </p:spPr>
        <p:txBody>
          <a:bodyPr wrap="square" lIns="0" tIns="0" rIns="0" bIns="0" rtlCol="0" anchor="t"/>
          <a:lstStyle/>
          <a:p>
            <a:pPr marL="0" indent="0">
              <a:buNone/>
            </a:pPr>
            <a:r>
              <a:rPr lang="en-US" sz="800" b="0" dirty="0">
                <a:solidFill>
                  <a:srgbClr val="0E8A7D"/>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29" name="Text 25"/>
          <p:cNvSpPr txBox="1"/>
          <p:nvPr/>
        </p:nvSpPr>
        <p:spPr>
          <a:xfrm>
            <a:off x="2427732"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Jsoup HTML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Section extraction: heading hierarchy H1–H4</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Table extraction: headers, rows, rule tables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 extraction: Jira keys, Git paths, API names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Business-rule sentence extraction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page id, version, SHA-256</a:t>
            </a:r>
            <a:endParaRPr lang="en-US" sz="700" dirty="0"/>
          </a:p>
        </p:txBody>
      </p:sp>
      <p:sp>
        <p:nvSpPr>
          <p:cNvPr id="30" name="Shape 26"/>
          <p:cNvSpPr/>
          <p:nvPr/>
        </p:nvSpPr>
        <p:spPr>
          <a:xfrm>
            <a:off x="4233672" y="1024128"/>
            <a:ext cx="1787652" cy="5440680"/>
          </a:xfrm>
          <a:prstGeom prst="roundRect">
            <a:avLst>
              <a:gd name="adj" fmla="val 2558"/>
            </a:avLst>
          </a:prstGeom>
          <a:solidFill>
            <a:srgbClr val="F0EBFA"/>
          </a:solidFill>
          <a:ln w="9525">
            <a:solidFill>
              <a:srgbClr val="DCE4EE"/>
            </a:solidFill>
            <a:prstDash val="solid"/>
          </a:ln>
        </p:spPr>
        <p:txBody>
          <a:bodyPr/>
          <a:lstStyle/>
          <a:p>
            <a:endParaRPr lang="en-IN"/>
          </a:p>
        </p:txBody>
      </p:sp>
      <p:sp>
        <p:nvSpPr>
          <p:cNvPr id="31" name="Shape 27"/>
          <p:cNvSpPr/>
          <p:nvPr/>
        </p:nvSpPr>
        <p:spPr>
          <a:xfrm>
            <a:off x="4233672" y="1024128"/>
            <a:ext cx="1787652" cy="365760"/>
          </a:xfrm>
          <a:prstGeom prst="roundRect">
            <a:avLst>
              <a:gd name="adj" fmla="val 12500"/>
            </a:avLst>
          </a:prstGeom>
          <a:solidFill>
            <a:srgbClr val="7A4FC0"/>
          </a:solidFill>
          <a:ln w="12700">
            <a:solidFill>
              <a:srgbClr val="7A4FC0"/>
            </a:solidFill>
            <a:prstDash val="solid"/>
          </a:ln>
        </p:spPr>
        <p:txBody>
          <a:bodyPr/>
          <a:lstStyle/>
          <a:p>
            <a:endParaRPr lang="en-IN"/>
          </a:p>
        </p:txBody>
      </p:sp>
      <p:pic>
        <p:nvPicPr>
          <p:cNvPr id="32" name="Image 2" descr="preencoded.png"/>
          <p:cNvPicPr>
            <a:picLocks noChangeAspect="1"/>
          </p:cNvPicPr>
          <p:nvPr/>
        </p:nvPicPr>
        <p:blipFill>
          <a:blip r:embed="rId5"/>
          <a:stretch>
            <a:fillRect/>
          </a:stretch>
        </p:blipFill>
        <p:spPr>
          <a:xfrm>
            <a:off x="4361688" y="1124712"/>
            <a:ext cx="164592" cy="164592"/>
          </a:xfrm>
          <a:prstGeom prst="rect">
            <a:avLst/>
          </a:prstGeom>
        </p:spPr>
      </p:pic>
      <p:sp>
        <p:nvSpPr>
          <p:cNvPr id="33" name="Text 28"/>
          <p:cNvSpPr txBox="1"/>
          <p:nvPr/>
        </p:nvSpPr>
        <p:spPr>
          <a:xfrm>
            <a:off x="4288536"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Salesforce</a:t>
            </a:r>
            <a:endParaRPr lang="en-US" sz="900" dirty="0"/>
          </a:p>
        </p:txBody>
      </p:sp>
      <p:sp>
        <p:nvSpPr>
          <p:cNvPr id="34" name="Shape 29"/>
          <p:cNvSpPr/>
          <p:nvPr/>
        </p:nvSpPr>
        <p:spPr>
          <a:xfrm>
            <a:off x="4306824"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35" name="Text 30"/>
          <p:cNvSpPr txBox="1"/>
          <p:nvPr/>
        </p:nvSpPr>
        <p:spPr>
          <a:xfrm>
            <a:off x="4361688" y="1517904"/>
            <a:ext cx="1531620" cy="182880"/>
          </a:xfrm>
          <a:prstGeom prst="rect">
            <a:avLst/>
          </a:prstGeom>
          <a:noFill/>
          <a:ln/>
        </p:spPr>
        <p:txBody>
          <a:bodyPr wrap="square" lIns="0" tIns="0" rIns="0" bIns="0" rtlCol="0" anchor="t"/>
          <a:lstStyle/>
          <a:p>
            <a:pPr marL="0" indent="0">
              <a:buNone/>
            </a:pPr>
            <a:r>
              <a:rPr lang="en-US" sz="800" b="0" dirty="0">
                <a:solidFill>
                  <a:srgbClr val="7A4FC0"/>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36" name="Text 31"/>
          <p:cNvSpPr txBox="1"/>
          <p:nvPr/>
        </p:nvSpPr>
        <p:spPr>
          <a:xfrm>
            <a:off x="4361688"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HCP / Account, Healthcare Facility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HPF, HFN, CPA / Fee Schedule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Fields, record types, relationships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Flows, validation rules, Apex</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LWC, permission sets, sharing</a:t>
            </a:r>
            <a:endParaRPr lang="en-US" sz="700" dirty="0"/>
          </a:p>
        </p:txBody>
      </p:sp>
      <p:sp>
        <p:nvSpPr>
          <p:cNvPr id="37" name="Shape 32"/>
          <p:cNvSpPr/>
          <p:nvPr/>
        </p:nvSpPr>
        <p:spPr>
          <a:xfrm>
            <a:off x="4306824"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38" name="Text 33"/>
          <p:cNvSpPr txBox="1"/>
          <p:nvPr/>
        </p:nvSpPr>
        <p:spPr>
          <a:xfrm>
            <a:off x="4361688" y="2951323"/>
            <a:ext cx="1531620" cy="182880"/>
          </a:xfrm>
          <a:prstGeom prst="rect">
            <a:avLst/>
          </a:prstGeom>
          <a:noFill/>
          <a:ln/>
        </p:spPr>
        <p:txBody>
          <a:bodyPr wrap="square" lIns="0" tIns="0" rIns="0" bIns="0" rtlCol="0" anchor="t"/>
          <a:lstStyle/>
          <a:p>
            <a:pPr marL="0" indent="0">
              <a:buNone/>
            </a:pPr>
            <a:r>
              <a:rPr lang="en-US" sz="800" b="0" dirty="0">
                <a:solidFill>
                  <a:srgbClr val="7A4FC0"/>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39" name="Text 34"/>
          <p:cNvSpPr txBox="1"/>
          <p:nvPr/>
        </p:nvSpPr>
        <p:spPr>
          <a:xfrm>
            <a:off x="4361688"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Connected App, JWT bearer flow</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Read-only permission set, metadata scope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No record-data access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Tooling API + Metadata API retrieve()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MetadataComponentDependency queries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describe() for fields &amp; relationships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component body</a:t>
            </a:r>
            <a:endParaRPr lang="en-US" sz="700" dirty="0"/>
          </a:p>
        </p:txBody>
      </p:sp>
      <p:sp>
        <p:nvSpPr>
          <p:cNvPr id="40" name="Shape 35"/>
          <p:cNvSpPr/>
          <p:nvPr/>
        </p:nvSpPr>
        <p:spPr>
          <a:xfrm>
            <a:off x="4306824"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41" name="Text 36"/>
          <p:cNvSpPr txBox="1"/>
          <p:nvPr/>
        </p:nvSpPr>
        <p:spPr>
          <a:xfrm>
            <a:off x="4361688" y="4854434"/>
            <a:ext cx="1531620" cy="182880"/>
          </a:xfrm>
          <a:prstGeom prst="rect">
            <a:avLst/>
          </a:prstGeom>
          <a:noFill/>
          <a:ln/>
        </p:spPr>
        <p:txBody>
          <a:bodyPr wrap="square" lIns="0" tIns="0" rIns="0" bIns="0" rtlCol="0" anchor="t"/>
          <a:lstStyle/>
          <a:p>
            <a:pPr marL="0" indent="0">
              <a:buNone/>
            </a:pPr>
            <a:r>
              <a:rPr lang="en-US" sz="800" b="0" dirty="0">
                <a:solidFill>
                  <a:srgbClr val="7A4FC0"/>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42" name="Text 37"/>
          <p:cNvSpPr txBox="1"/>
          <p:nvPr/>
        </p:nvSpPr>
        <p:spPr>
          <a:xfrm>
            <a:off x="4361688"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describe() → objects, fields, types, rels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 XML: elements, decisions, record updates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classes, methods, SOQL, DML, sObjects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Triggers: object + before / after events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Validation rule formulas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Dependency API → component edges</a:t>
            </a:r>
            <a:endParaRPr lang="en-US" sz="700" dirty="0"/>
          </a:p>
        </p:txBody>
      </p:sp>
      <p:sp>
        <p:nvSpPr>
          <p:cNvPr id="43" name="Shape 38"/>
          <p:cNvSpPr/>
          <p:nvPr/>
        </p:nvSpPr>
        <p:spPr>
          <a:xfrm>
            <a:off x="6167628" y="1024128"/>
            <a:ext cx="1787652" cy="5440680"/>
          </a:xfrm>
          <a:prstGeom prst="roundRect">
            <a:avLst>
              <a:gd name="adj" fmla="val 2558"/>
            </a:avLst>
          </a:prstGeom>
          <a:solidFill>
            <a:srgbClr val="FBE9F0"/>
          </a:solidFill>
          <a:ln w="9525">
            <a:solidFill>
              <a:srgbClr val="DCE4EE"/>
            </a:solidFill>
            <a:prstDash val="solid"/>
          </a:ln>
        </p:spPr>
        <p:txBody>
          <a:bodyPr/>
          <a:lstStyle/>
          <a:p>
            <a:endParaRPr lang="en-IN"/>
          </a:p>
        </p:txBody>
      </p:sp>
      <p:sp>
        <p:nvSpPr>
          <p:cNvPr id="44" name="Shape 39"/>
          <p:cNvSpPr/>
          <p:nvPr/>
        </p:nvSpPr>
        <p:spPr>
          <a:xfrm>
            <a:off x="6167628" y="1024128"/>
            <a:ext cx="1787652" cy="365760"/>
          </a:xfrm>
          <a:prstGeom prst="roundRect">
            <a:avLst>
              <a:gd name="adj" fmla="val 12500"/>
            </a:avLst>
          </a:prstGeom>
          <a:solidFill>
            <a:srgbClr val="C2185B"/>
          </a:solidFill>
          <a:ln w="12700">
            <a:solidFill>
              <a:srgbClr val="C2185B"/>
            </a:solidFill>
            <a:prstDash val="solid"/>
          </a:ln>
        </p:spPr>
        <p:txBody>
          <a:bodyPr/>
          <a:lstStyle/>
          <a:p>
            <a:endParaRPr lang="en-IN"/>
          </a:p>
        </p:txBody>
      </p:sp>
      <p:pic>
        <p:nvPicPr>
          <p:cNvPr id="45" name="Image 3" descr="preencoded.png"/>
          <p:cNvPicPr>
            <a:picLocks noChangeAspect="1"/>
          </p:cNvPicPr>
          <p:nvPr/>
        </p:nvPicPr>
        <p:blipFill>
          <a:blip r:embed="rId6"/>
          <a:stretch>
            <a:fillRect/>
          </a:stretch>
        </p:blipFill>
        <p:spPr>
          <a:xfrm>
            <a:off x="6295644" y="1124712"/>
            <a:ext cx="164592" cy="164592"/>
          </a:xfrm>
          <a:prstGeom prst="rect">
            <a:avLst/>
          </a:prstGeom>
        </p:spPr>
      </p:pic>
      <p:sp>
        <p:nvSpPr>
          <p:cNvPr id="46" name="Text 40"/>
          <p:cNvSpPr txBox="1"/>
          <p:nvPr/>
        </p:nvSpPr>
        <p:spPr>
          <a:xfrm>
            <a:off x="6222492"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Git</a:t>
            </a:r>
            <a:endParaRPr lang="en-US" sz="900" dirty="0"/>
          </a:p>
        </p:txBody>
      </p:sp>
      <p:sp>
        <p:nvSpPr>
          <p:cNvPr id="47" name="Shape 41"/>
          <p:cNvSpPr/>
          <p:nvPr/>
        </p:nvSpPr>
        <p:spPr>
          <a:xfrm>
            <a:off x="6240780"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48" name="Text 42"/>
          <p:cNvSpPr txBox="1"/>
          <p:nvPr/>
        </p:nvSpPr>
        <p:spPr>
          <a:xfrm>
            <a:off x="6295644" y="1517904"/>
            <a:ext cx="1531620"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49" name="Text 43"/>
          <p:cNvSpPr txBox="1"/>
          <p:nvPr/>
        </p:nvSpPr>
        <p:spPr>
          <a:xfrm>
            <a:off x="6295644"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force-app source tree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classes &amp; triggers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LWC bundles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test classes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*-meta.xml metadata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Commits, branches, tags, PRs</a:t>
            </a:r>
            <a:endParaRPr lang="en-US" sz="700" dirty="0"/>
          </a:p>
        </p:txBody>
      </p:sp>
      <p:sp>
        <p:nvSpPr>
          <p:cNvPr id="50" name="Shape 44"/>
          <p:cNvSpPr/>
          <p:nvPr/>
        </p:nvSpPr>
        <p:spPr>
          <a:xfrm>
            <a:off x="6240780"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51" name="Text 45"/>
          <p:cNvSpPr txBox="1"/>
          <p:nvPr/>
        </p:nvSpPr>
        <p:spPr>
          <a:xfrm>
            <a:off x="6295644" y="2951323"/>
            <a:ext cx="1531620"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52" name="Text 46"/>
          <p:cNvSpPr txBox="1"/>
          <p:nvPr/>
        </p:nvSpPr>
        <p:spPr>
          <a:xfrm>
            <a:off x="6295644"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SSH deploy key / read-only fine-grained PAT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Shallow clone + fetch per branch</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Branch &amp; tag traversal for release baselines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Commit SHA, author, timestamp capture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Per-file SHA-256 + git blob SHA cross-check</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No push credentials held by the read service</a:t>
            </a:r>
            <a:endParaRPr lang="en-US" sz="700" dirty="0"/>
          </a:p>
        </p:txBody>
      </p:sp>
      <p:sp>
        <p:nvSpPr>
          <p:cNvPr id="53" name="Shape 47"/>
          <p:cNvSpPr/>
          <p:nvPr/>
        </p:nvSpPr>
        <p:spPr>
          <a:xfrm>
            <a:off x="6240780"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54" name="Text 48"/>
          <p:cNvSpPr txBox="1"/>
          <p:nvPr/>
        </p:nvSpPr>
        <p:spPr>
          <a:xfrm>
            <a:off x="6295644" y="4854434"/>
            <a:ext cx="1531620"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55" name="Text 49"/>
          <p:cNvSpPr txBox="1"/>
          <p:nvPr/>
        </p:nvSpPr>
        <p:spPr>
          <a:xfrm>
            <a:off x="6295644"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SFDX source-format traversal</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parsing incl. @isTest / @future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 class → covered class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LWC bundle parsing (js / html / meta)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Metadata XML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repo, branch, path, commit SHA</a:t>
            </a:r>
            <a:endParaRPr lang="en-US" sz="700" dirty="0"/>
          </a:p>
        </p:txBody>
      </p:sp>
      <p:sp>
        <p:nvSpPr>
          <p:cNvPr id="56" name="Shape 50"/>
          <p:cNvSpPr/>
          <p:nvPr/>
        </p:nvSpPr>
        <p:spPr>
          <a:xfrm>
            <a:off x="8101584" y="1024128"/>
            <a:ext cx="1787652" cy="5440680"/>
          </a:xfrm>
          <a:prstGeom prst="roundRect">
            <a:avLst>
              <a:gd name="adj" fmla="val 2558"/>
            </a:avLst>
          </a:prstGeom>
          <a:solidFill>
            <a:srgbClr val="E3F2F4"/>
          </a:solidFill>
          <a:ln w="9525">
            <a:solidFill>
              <a:srgbClr val="DCE4EE"/>
            </a:solidFill>
            <a:prstDash val="solid"/>
          </a:ln>
        </p:spPr>
        <p:txBody>
          <a:bodyPr/>
          <a:lstStyle/>
          <a:p>
            <a:endParaRPr lang="en-IN"/>
          </a:p>
        </p:txBody>
      </p:sp>
      <p:sp>
        <p:nvSpPr>
          <p:cNvPr id="57" name="Shape 51"/>
          <p:cNvSpPr/>
          <p:nvPr/>
        </p:nvSpPr>
        <p:spPr>
          <a:xfrm>
            <a:off x="8101584" y="1024128"/>
            <a:ext cx="1787652" cy="365760"/>
          </a:xfrm>
          <a:prstGeom prst="roundRect">
            <a:avLst>
              <a:gd name="adj" fmla="val 12500"/>
            </a:avLst>
          </a:prstGeom>
          <a:solidFill>
            <a:srgbClr val="00757F"/>
          </a:solidFill>
          <a:ln w="12700">
            <a:solidFill>
              <a:srgbClr val="00757F"/>
            </a:solidFill>
            <a:prstDash val="solid"/>
          </a:ln>
        </p:spPr>
        <p:txBody>
          <a:bodyPr/>
          <a:lstStyle/>
          <a:p>
            <a:endParaRPr lang="en-IN"/>
          </a:p>
        </p:txBody>
      </p:sp>
      <p:pic>
        <p:nvPicPr>
          <p:cNvPr id="58" name="Image 4" descr="preencoded.png"/>
          <p:cNvPicPr>
            <a:picLocks noChangeAspect="1"/>
          </p:cNvPicPr>
          <p:nvPr/>
        </p:nvPicPr>
        <p:blipFill>
          <a:blip r:embed="rId7"/>
          <a:stretch>
            <a:fillRect/>
          </a:stretch>
        </p:blipFill>
        <p:spPr>
          <a:xfrm>
            <a:off x="8229600" y="1124712"/>
            <a:ext cx="164592" cy="164592"/>
          </a:xfrm>
          <a:prstGeom prst="rect">
            <a:avLst/>
          </a:prstGeom>
        </p:spPr>
      </p:pic>
      <p:sp>
        <p:nvSpPr>
          <p:cNvPr id="59" name="Text 52"/>
          <p:cNvSpPr txBox="1"/>
          <p:nvPr/>
        </p:nvSpPr>
        <p:spPr>
          <a:xfrm>
            <a:off x="8156448"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Copado</a:t>
            </a:r>
            <a:endParaRPr lang="en-US" sz="900" dirty="0"/>
          </a:p>
        </p:txBody>
      </p:sp>
      <p:sp>
        <p:nvSpPr>
          <p:cNvPr id="60" name="Shape 53"/>
          <p:cNvSpPr/>
          <p:nvPr/>
        </p:nvSpPr>
        <p:spPr>
          <a:xfrm>
            <a:off x="8174736"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61" name="Text 54"/>
          <p:cNvSpPr txBox="1"/>
          <p:nvPr/>
        </p:nvSpPr>
        <p:spPr>
          <a:xfrm>
            <a:off x="8229600" y="1517904"/>
            <a:ext cx="1531620"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62" name="Text 55"/>
          <p:cNvSpPr txBox="1"/>
          <p:nvPr/>
        </p:nvSpPr>
        <p:spPr>
          <a:xfrm>
            <a:off x="8229600"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stories &amp; promotions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Deployment records &amp; validation results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Robotic testing suites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Regression test runs &amp; results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Pipeline: DEV · SIT · UAT · PREPROD · PROD</a:t>
            </a:r>
            <a:endParaRPr lang="en-US" sz="700" dirty="0"/>
          </a:p>
        </p:txBody>
      </p:sp>
      <p:sp>
        <p:nvSpPr>
          <p:cNvPr id="63" name="Shape 56"/>
          <p:cNvSpPr/>
          <p:nvPr/>
        </p:nvSpPr>
        <p:spPr>
          <a:xfrm>
            <a:off x="8174736"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64" name="Text 57"/>
          <p:cNvSpPr txBox="1"/>
          <p:nvPr/>
        </p:nvSpPr>
        <p:spPr>
          <a:xfrm>
            <a:off x="8229600" y="2951323"/>
            <a:ext cx="1531620"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65" name="Text 58"/>
          <p:cNvSpPr txBox="1"/>
          <p:nvPr/>
        </p:nvSpPr>
        <p:spPr>
          <a:xfrm>
            <a:off x="8229600"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OAuth 2.0 client credentials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Read-only API user</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story + promotion pull</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Robotic + regression test results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Deployment records per environment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Pipeline stage topology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record payload</a:t>
            </a:r>
            <a:endParaRPr lang="en-US" sz="700" dirty="0"/>
          </a:p>
        </p:txBody>
      </p:sp>
      <p:sp>
        <p:nvSpPr>
          <p:cNvPr id="66" name="Shape 59"/>
          <p:cNvSpPr/>
          <p:nvPr/>
        </p:nvSpPr>
        <p:spPr>
          <a:xfrm>
            <a:off x="8174736"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67" name="Text 60"/>
          <p:cNvSpPr txBox="1"/>
          <p:nvPr/>
        </p:nvSpPr>
        <p:spPr>
          <a:xfrm>
            <a:off x="8229600" y="4854434"/>
            <a:ext cx="1531620"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68" name="Text 61"/>
          <p:cNvSpPr txBox="1"/>
          <p:nvPr/>
        </p:nvSpPr>
        <p:spPr>
          <a:xfrm>
            <a:off x="8229600"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story → component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Promotion &amp; deployment record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Robotic test → component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Regression results: pass / fail + evidence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 outcomes: HFN generated, no dup, APDH event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story id, run id, deployment id</a:t>
            </a:r>
            <a:endParaRPr lang="en-US" sz="700" dirty="0"/>
          </a:p>
        </p:txBody>
      </p:sp>
      <p:sp>
        <p:nvSpPr>
          <p:cNvPr id="69" name="Shape 62"/>
          <p:cNvSpPr/>
          <p:nvPr/>
        </p:nvSpPr>
        <p:spPr>
          <a:xfrm>
            <a:off x="10035540" y="1024128"/>
            <a:ext cx="1787652" cy="5440680"/>
          </a:xfrm>
          <a:prstGeom prst="roundRect">
            <a:avLst>
              <a:gd name="adj" fmla="val 2558"/>
            </a:avLst>
          </a:prstGeom>
          <a:solidFill>
            <a:srgbClr val="E9F3EA"/>
          </a:solidFill>
          <a:ln w="9525">
            <a:solidFill>
              <a:srgbClr val="DCE4EE"/>
            </a:solidFill>
            <a:prstDash val="solid"/>
          </a:ln>
        </p:spPr>
        <p:txBody>
          <a:bodyPr/>
          <a:lstStyle/>
          <a:p>
            <a:endParaRPr lang="en-IN"/>
          </a:p>
        </p:txBody>
      </p:sp>
      <p:sp>
        <p:nvSpPr>
          <p:cNvPr id="70" name="Shape 63"/>
          <p:cNvSpPr/>
          <p:nvPr/>
        </p:nvSpPr>
        <p:spPr>
          <a:xfrm>
            <a:off x="10035540" y="1024128"/>
            <a:ext cx="1787652" cy="365760"/>
          </a:xfrm>
          <a:prstGeom prst="roundRect">
            <a:avLst>
              <a:gd name="adj" fmla="val 12500"/>
            </a:avLst>
          </a:prstGeom>
          <a:solidFill>
            <a:srgbClr val="2E7D32"/>
          </a:solidFill>
          <a:ln w="12700">
            <a:solidFill>
              <a:srgbClr val="2E7D32"/>
            </a:solidFill>
            <a:prstDash val="solid"/>
          </a:ln>
        </p:spPr>
        <p:txBody>
          <a:bodyPr/>
          <a:lstStyle/>
          <a:p>
            <a:endParaRPr lang="en-IN"/>
          </a:p>
        </p:txBody>
      </p:sp>
      <p:pic>
        <p:nvPicPr>
          <p:cNvPr id="71" name="Image 5" descr="preencoded.png"/>
          <p:cNvPicPr>
            <a:picLocks noChangeAspect="1"/>
          </p:cNvPicPr>
          <p:nvPr/>
        </p:nvPicPr>
        <p:blipFill>
          <a:blip r:embed="rId8"/>
          <a:stretch>
            <a:fillRect/>
          </a:stretch>
        </p:blipFill>
        <p:spPr>
          <a:xfrm>
            <a:off x="10163556" y="1124712"/>
            <a:ext cx="164592" cy="164592"/>
          </a:xfrm>
          <a:prstGeom prst="rect">
            <a:avLst/>
          </a:prstGeom>
        </p:spPr>
      </p:pic>
      <p:sp>
        <p:nvSpPr>
          <p:cNvPr id="72" name="Text 64"/>
          <p:cNvSpPr txBox="1"/>
          <p:nvPr/>
        </p:nvSpPr>
        <p:spPr>
          <a:xfrm>
            <a:off x="10090404"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Google Drive</a:t>
            </a:r>
            <a:endParaRPr lang="en-US" sz="900" dirty="0"/>
          </a:p>
        </p:txBody>
      </p:sp>
      <p:sp>
        <p:nvSpPr>
          <p:cNvPr id="73" name="Shape 65"/>
          <p:cNvSpPr/>
          <p:nvPr/>
        </p:nvSpPr>
        <p:spPr>
          <a:xfrm>
            <a:off x="10108692"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74" name="Text 66"/>
          <p:cNvSpPr txBox="1"/>
          <p:nvPr/>
        </p:nvSpPr>
        <p:spPr>
          <a:xfrm>
            <a:off x="10163556" y="1517904"/>
            <a:ext cx="1531620"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75" name="Text 67"/>
          <p:cNvSpPr txBox="1"/>
          <p:nvPr/>
        </p:nvSpPr>
        <p:spPr>
          <a:xfrm>
            <a:off x="10163556"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Shared delivery documents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Spec &amp; field-mapping sheets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Test-data workbooks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Evidence exports &amp; sign-offs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Decision &amp; meeting notes</a:t>
            </a:r>
            <a:endParaRPr lang="en-US" sz="700" dirty="0"/>
          </a:p>
        </p:txBody>
      </p:sp>
      <p:sp>
        <p:nvSpPr>
          <p:cNvPr id="76" name="Shape 68"/>
          <p:cNvSpPr/>
          <p:nvPr/>
        </p:nvSpPr>
        <p:spPr>
          <a:xfrm>
            <a:off x="10108692"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77" name="Text 69"/>
          <p:cNvSpPr txBox="1"/>
          <p:nvPr/>
        </p:nvSpPr>
        <p:spPr>
          <a:xfrm>
            <a:off x="10163556" y="2951323"/>
            <a:ext cx="1531620"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78" name="Text 70"/>
          <p:cNvSpPr txBox="1"/>
          <p:nvPr/>
        </p:nvSpPr>
        <p:spPr>
          <a:xfrm>
            <a:off x="10163556"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OAuth 2.0 service account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Drive API v3, shared-drive scoped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files.list + files.export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Docs / Sheets exported to text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Change-token delta sync</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file revision</a:t>
            </a:r>
            <a:endParaRPr lang="en-US" sz="700" dirty="0"/>
          </a:p>
        </p:txBody>
      </p:sp>
      <p:sp>
        <p:nvSpPr>
          <p:cNvPr id="79" name="Shape 71"/>
          <p:cNvSpPr/>
          <p:nvPr/>
        </p:nvSpPr>
        <p:spPr>
          <a:xfrm>
            <a:off x="10108692"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80" name="Text 72"/>
          <p:cNvSpPr txBox="1"/>
          <p:nvPr/>
        </p:nvSpPr>
        <p:spPr>
          <a:xfrm>
            <a:off x="10163556" y="4854434"/>
            <a:ext cx="1531620"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81" name="Text 73"/>
          <p:cNvSpPr txBox="1"/>
          <p:nvPr/>
        </p:nvSpPr>
        <p:spPr>
          <a:xfrm>
            <a:off x="10163556"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Docs / Sheets text export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Sheet table extraction (headers, rows)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Spec → business-capability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Test-data workbook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 extraction: Jira keys, API names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fileId, revision, SHA-256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Layers 4–6 · Domain model → JSON storage → graph export</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The unified NetworkServicesContext, the vendor-neutral JSON contract it is stored as, and the node and relationship taxonomy generated from it.</a:t>
            </a:r>
            <a:endParaRPr lang="en-US" sz="950" dirty="0"/>
          </a:p>
        </p:txBody>
      </p:sp>
      <p:sp>
        <p:nvSpPr>
          <p:cNvPr id="4" name="Shape 2"/>
          <p:cNvSpPr/>
          <p:nvPr/>
        </p:nvSpPr>
        <p:spPr>
          <a:xfrm>
            <a:off x="365760" y="1024128"/>
            <a:ext cx="3660648" cy="5440680"/>
          </a:xfrm>
          <a:prstGeom prst="roundRect">
            <a:avLst>
              <a:gd name="adj" fmla="val 1249"/>
            </a:avLst>
          </a:prstGeom>
          <a:solidFill>
            <a:srgbClr val="FBE9F0"/>
          </a:solidFill>
          <a:ln w="9525">
            <a:solidFill>
              <a:srgbClr val="DCE4EE"/>
            </a:solidFill>
            <a:prstDash val="solid"/>
          </a:ln>
        </p:spPr>
        <p:txBody>
          <a:bodyPr/>
          <a:lstStyle/>
          <a:p>
            <a:endParaRPr lang="en-IN"/>
          </a:p>
        </p:txBody>
      </p:sp>
      <p:sp>
        <p:nvSpPr>
          <p:cNvPr id="5" name="Shape 3"/>
          <p:cNvSpPr/>
          <p:nvPr/>
        </p:nvSpPr>
        <p:spPr>
          <a:xfrm>
            <a:off x="365760" y="1024128"/>
            <a:ext cx="3660648" cy="365760"/>
          </a:xfrm>
          <a:prstGeom prst="roundRect">
            <a:avLst>
              <a:gd name="adj" fmla="val 12500"/>
            </a:avLst>
          </a:prstGeom>
          <a:solidFill>
            <a:srgbClr val="C2185B"/>
          </a:solidFill>
          <a:ln w="12700">
            <a:solidFill>
              <a:srgbClr val="C2185B"/>
            </a:solidFill>
            <a:prstDash val="solid"/>
          </a:ln>
        </p:spPr>
        <p:txBody>
          <a:bodyPr/>
          <a:lstStyle/>
          <a:p>
            <a:endParaRPr lang="en-IN"/>
          </a:p>
        </p:txBody>
      </p:sp>
      <p:sp>
        <p:nvSpPr>
          <p:cNvPr id="6" name="Text 4"/>
          <p:cNvSpPr txBox="1"/>
          <p:nvPr/>
        </p:nvSpPr>
        <p:spPr>
          <a:xfrm>
            <a:off x="420624"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4 · NetworkServicesContext</a:t>
            </a:r>
            <a:endParaRPr lang="en-US" sz="900" dirty="0"/>
          </a:p>
        </p:txBody>
      </p:sp>
      <p:sp>
        <p:nvSpPr>
          <p:cNvPr id="7" name="Shape 5"/>
          <p:cNvSpPr/>
          <p:nvPr/>
        </p:nvSpPr>
        <p:spPr>
          <a:xfrm>
            <a:off x="438912" y="1463040"/>
            <a:ext cx="3514344" cy="821553"/>
          </a:xfrm>
          <a:prstGeom prst="roundRect">
            <a:avLst>
              <a:gd name="adj" fmla="val 4452"/>
            </a:avLst>
          </a:prstGeom>
          <a:solidFill>
            <a:srgbClr val="FFFFFF"/>
          </a:solidFill>
          <a:ln w="9525">
            <a:solidFill>
              <a:srgbClr val="DCE4EE"/>
            </a:solidFill>
            <a:prstDash val="solid"/>
          </a:ln>
        </p:spPr>
        <p:txBody>
          <a:bodyPr/>
          <a:lstStyle/>
          <a:p>
            <a:endParaRPr lang="en-IN"/>
          </a:p>
        </p:txBody>
      </p:sp>
      <p:sp>
        <p:nvSpPr>
          <p:cNvPr id="8" name="Text 6"/>
          <p:cNvSpPr txBox="1"/>
          <p:nvPr/>
        </p:nvSpPr>
        <p:spPr>
          <a:xfrm>
            <a:off x="493776" y="1517904"/>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Root object</a:t>
            </a:r>
            <a:endParaRPr lang="en-US" sz="800" dirty="0"/>
          </a:p>
        </p:txBody>
      </p:sp>
      <p:sp>
        <p:nvSpPr>
          <p:cNvPr id="9" name="Text 7"/>
          <p:cNvSpPr txBox="1"/>
          <p:nvPr/>
        </p:nvSpPr>
        <p:spPr>
          <a:xfrm>
            <a:off x="493776" y="1709928"/>
            <a:ext cx="3404616" cy="519801"/>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applicationName: "NETWORK_SERVICES"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applicationVersion, createdAt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snapshotId: UUID of this sync run</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provenance: createdBy, derivationMethod</a:t>
            </a:r>
            <a:endParaRPr lang="en-US" sz="750" dirty="0"/>
          </a:p>
        </p:txBody>
      </p:sp>
      <p:sp>
        <p:nvSpPr>
          <p:cNvPr id="10" name="Shape 8"/>
          <p:cNvSpPr/>
          <p:nvPr/>
        </p:nvSpPr>
        <p:spPr>
          <a:xfrm>
            <a:off x="438912" y="2376033"/>
            <a:ext cx="3514344" cy="1283677"/>
          </a:xfrm>
          <a:prstGeom prst="roundRect">
            <a:avLst>
              <a:gd name="adj" fmla="val 2849"/>
            </a:avLst>
          </a:prstGeom>
          <a:solidFill>
            <a:srgbClr val="FFFFFF"/>
          </a:solidFill>
          <a:ln w="9525">
            <a:solidFill>
              <a:srgbClr val="DCE4EE"/>
            </a:solidFill>
            <a:prstDash val="solid"/>
          </a:ln>
        </p:spPr>
        <p:txBody>
          <a:bodyPr/>
          <a:lstStyle/>
          <a:p>
            <a:endParaRPr lang="en-IN"/>
          </a:p>
        </p:txBody>
      </p:sp>
      <p:sp>
        <p:nvSpPr>
          <p:cNvPr id="11" name="Text 9"/>
          <p:cNvSpPr txBox="1"/>
          <p:nvPr/>
        </p:nvSpPr>
        <p:spPr>
          <a:xfrm>
            <a:off x="493776" y="2430897"/>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requirements[] · documents[]</a:t>
            </a:r>
            <a:endParaRPr lang="en-US" sz="800" dirty="0"/>
          </a:p>
        </p:txBody>
      </p:sp>
      <p:sp>
        <p:nvSpPr>
          <p:cNvPr id="12" name="Text 10"/>
          <p:cNvSpPr txBox="1"/>
          <p:nvPr/>
        </p:nvSpPr>
        <p:spPr>
          <a:xfrm>
            <a:off x="493776" y="2622921"/>
            <a:ext cx="3404616" cy="98192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requirementId, title, acceptanceCriteria[]</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businessCapability, status, riskTier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linkedIssues / documents / components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documentId, sections[] (heading, level, tables, links)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businessRules[] with objectsReferenced[]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sourceMetadata: system, version, contentHash</a:t>
            </a:r>
            <a:endParaRPr lang="en-US" sz="750" dirty="0"/>
          </a:p>
        </p:txBody>
      </p:sp>
      <p:sp>
        <p:nvSpPr>
          <p:cNvPr id="13" name="Shape 11"/>
          <p:cNvSpPr/>
          <p:nvPr/>
        </p:nvSpPr>
        <p:spPr>
          <a:xfrm>
            <a:off x="438912" y="3751150"/>
            <a:ext cx="3514344" cy="1386371"/>
          </a:xfrm>
          <a:prstGeom prst="roundRect">
            <a:avLst>
              <a:gd name="adj" fmla="val 2638"/>
            </a:avLst>
          </a:prstGeom>
          <a:solidFill>
            <a:srgbClr val="FFFFFF"/>
          </a:solidFill>
          <a:ln w="9525">
            <a:solidFill>
              <a:srgbClr val="DCE4EE"/>
            </a:solidFill>
            <a:prstDash val="solid"/>
          </a:ln>
        </p:spPr>
        <p:txBody>
          <a:bodyPr/>
          <a:lstStyle/>
          <a:p>
            <a:endParaRPr lang="en-IN"/>
          </a:p>
        </p:txBody>
      </p:sp>
      <p:sp>
        <p:nvSpPr>
          <p:cNvPr id="14" name="Text 12"/>
          <p:cNvSpPr txBox="1"/>
          <p:nvPr/>
        </p:nvSpPr>
        <p:spPr>
          <a:xfrm>
            <a:off x="493776" y="3806014"/>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salesforceObjects[] · automations[]</a:t>
            </a:r>
            <a:endParaRPr lang="en-US" sz="800" dirty="0"/>
          </a:p>
        </p:txBody>
      </p:sp>
      <p:sp>
        <p:nvSpPr>
          <p:cNvPr id="15" name="Text 13"/>
          <p:cNvSpPr txBox="1"/>
          <p:nvPr/>
        </p:nvSpPr>
        <p:spPr>
          <a:xfrm>
            <a:off x="493776" y="3998038"/>
            <a:ext cx="3404616" cy="10846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objectApiName, recordTypes[]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fields[]: apiName, type, required, formula, externalId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relationships[]: lookup / master-detail</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type: FLOW | APEX_CLASS | APEX_TRIGGER | VR | LWC</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objectsTouched[], dmlOperations[], soqlQueries[]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referencedComponents[], testCoverage, riskTier</a:t>
            </a:r>
            <a:endParaRPr lang="en-US" sz="750" dirty="0"/>
          </a:p>
        </p:txBody>
      </p:sp>
      <p:sp>
        <p:nvSpPr>
          <p:cNvPr id="16" name="Shape 14"/>
          <p:cNvSpPr/>
          <p:nvPr/>
        </p:nvSpPr>
        <p:spPr>
          <a:xfrm>
            <a:off x="438912" y="5228961"/>
            <a:ext cx="3514344" cy="1180983"/>
          </a:xfrm>
          <a:prstGeom prst="roundRect">
            <a:avLst>
              <a:gd name="adj" fmla="val 3097"/>
            </a:avLst>
          </a:prstGeom>
          <a:solidFill>
            <a:srgbClr val="FFFFFF"/>
          </a:solidFill>
          <a:ln w="9525">
            <a:solidFill>
              <a:srgbClr val="DCE4EE"/>
            </a:solidFill>
            <a:prstDash val="solid"/>
          </a:ln>
        </p:spPr>
        <p:txBody>
          <a:bodyPr/>
          <a:lstStyle/>
          <a:p>
            <a:endParaRPr lang="en-IN"/>
          </a:p>
        </p:txBody>
      </p:sp>
      <p:sp>
        <p:nvSpPr>
          <p:cNvPr id="17" name="Text 15"/>
          <p:cNvSpPr txBox="1"/>
          <p:nvPr/>
        </p:nvSpPr>
        <p:spPr>
          <a:xfrm>
            <a:off x="493776" y="5283825"/>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testAssets[] · releases[] · integrations[]</a:t>
            </a:r>
            <a:endParaRPr lang="en-US" sz="800" dirty="0"/>
          </a:p>
        </p:txBody>
      </p:sp>
      <p:sp>
        <p:nvSpPr>
          <p:cNvPr id="18" name="Text 16"/>
          <p:cNvSpPr txBox="1"/>
          <p:nvPr/>
        </p:nvSpPr>
        <p:spPr>
          <a:xfrm>
            <a:off x="493776" y="5475849"/>
            <a:ext cx="3404616" cy="879231"/>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suiteId, caseId, type, assertions[], evidenceUri</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releaseId, environment, componentsDeployed[]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APDH: Salesforce → Queueable Apex → Pub/Sub → APDH</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direction OUTBOUND, riskTier HIGH, backWrite false</a:t>
            </a:r>
            <a:endParaRPr lang="en-US" sz="750" dirty="0"/>
          </a:p>
        </p:txBody>
      </p:sp>
      <p:sp>
        <p:nvSpPr>
          <p:cNvPr id="19" name="Shape 17"/>
          <p:cNvSpPr/>
          <p:nvPr/>
        </p:nvSpPr>
        <p:spPr>
          <a:xfrm>
            <a:off x="4264152" y="1024128"/>
            <a:ext cx="3660648" cy="5440680"/>
          </a:xfrm>
          <a:prstGeom prst="roundRect">
            <a:avLst>
              <a:gd name="adj" fmla="val 1249"/>
            </a:avLst>
          </a:prstGeom>
          <a:solidFill>
            <a:srgbClr val="FDF1DE"/>
          </a:solidFill>
          <a:ln w="9525">
            <a:solidFill>
              <a:srgbClr val="DCE4EE"/>
            </a:solidFill>
            <a:prstDash val="solid"/>
          </a:ln>
        </p:spPr>
        <p:txBody>
          <a:bodyPr/>
          <a:lstStyle/>
          <a:p>
            <a:endParaRPr lang="en-IN"/>
          </a:p>
        </p:txBody>
      </p:sp>
      <p:sp>
        <p:nvSpPr>
          <p:cNvPr id="20" name="Shape 18"/>
          <p:cNvSpPr/>
          <p:nvPr/>
        </p:nvSpPr>
        <p:spPr>
          <a:xfrm>
            <a:off x="4264152" y="1024128"/>
            <a:ext cx="3660648" cy="365760"/>
          </a:xfrm>
          <a:prstGeom prst="roundRect">
            <a:avLst>
              <a:gd name="adj" fmla="val 12500"/>
            </a:avLst>
          </a:prstGeom>
          <a:solidFill>
            <a:srgbClr val="C77400"/>
          </a:solidFill>
          <a:ln w="12700">
            <a:solidFill>
              <a:srgbClr val="C77400"/>
            </a:solidFill>
            <a:prstDash val="solid"/>
          </a:ln>
        </p:spPr>
        <p:txBody>
          <a:bodyPr/>
          <a:lstStyle/>
          <a:p>
            <a:endParaRPr lang="en-IN"/>
          </a:p>
        </p:txBody>
      </p:sp>
      <p:sp>
        <p:nvSpPr>
          <p:cNvPr id="21" name="Text 19"/>
          <p:cNvSpPr txBox="1"/>
          <p:nvPr/>
        </p:nvSpPr>
        <p:spPr>
          <a:xfrm>
            <a:off x="4319016"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5 · Graph Storage (JSON)</a:t>
            </a:r>
            <a:endParaRPr lang="en-US" sz="900" dirty="0"/>
          </a:p>
        </p:txBody>
      </p:sp>
      <p:sp>
        <p:nvSpPr>
          <p:cNvPr id="22" name="Shape 20"/>
          <p:cNvSpPr/>
          <p:nvPr/>
        </p:nvSpPr>
        <p:spPr>
          <a:xfrm>
            <a:off x="4337304" y="1463040"/>
            <a:ext cx="3514344" cy="3700811"/>
          </a:xfrm>
          <a:prstGeom prst="roundRect">
            <a:avLst>
              <a:gd name="adj" fmla="val 1041"/>
            </a:avLst>
          </a:prstGeom>
          <a:solidFill>
            <a:srgbClr val="FFFFFF"/>
          </a:solidFill>
          <a:ln w="9525">
            <a:solidFill>
              <a:srgbClr val="DCE4EE"/>
            </a:solidFill>
            <a:prstDash val="solid"/>
          </a:ln>
        </p:spPr>
        <p:txBody>
          <a:bodyPr/>
          <a:lstStyle/>
          <a:p>
            <a:endParaRPr lang="en-IN"/>
          </a:p>
        </p:txBody>
      </p:sp>
      <p:sp>
        <p:nvSpPr>
          <p:cNvPr id="23" name="Text 21"/>
          <p:cNvSpPr txBox="1"/>
          <p:nvPr/>
        </p:nvSpPr>
        <p:spPr>
          <a:xfrm>
            <a:off x="4392168" y="1517904"/>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network-services-context.json</a:t>
            </a:r>
            <a:endParaRPr lang="en-US" sz="800" dirty="0"/>
          </a:p>
        </p:txBody>
      </p:sp>
      <p:sp>
        <p:nvSpPr>
          <p:cNvPr id="24" name="Text 22"/>
          <p:cNvSpPr txBox="1"/>
          <p:nvPr/>
        </p:nvSpPr>
        <p:spPr>
          <a:xfrm>
            <a:off x="4392168" y="1709928"/>
            <a:ext cx="3404616" cy="3399059"/>
          </a:xfrm>
          <a:prstGeom prst="rect">
            <a:avLst/>
          </a:prstGeom>
          <a:noFill/>
          <a:ln/>
        </p:spPr>
        <p:txBody>
          <a:bodyPr wrap="square" lIns="0" tIns="0" rIns="0" bIns="0" rtlCol="0" anchor="t"/>
          <a:lstStyle/>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"version": "1.0",</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"applicationName": "NETWORK_SERVICES",</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"snapshotId": "b7f1c2e4-...",</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"exportedAt": "2026-09-09T14:30:00Z",</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"nodes":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"id": "sobj:HealthcareFacility__c",</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"type": "SOBJECT",</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"name": "Healthcare Facility",</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"properties":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"fieldCount": 148, "automationCount": 12,</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"testCoverage": 81, "riskTier": "HIGH"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"sourceReferences":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"sourceType": "SALESFORCE_METADATA",</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"artifactId": "01I5f000000XyZa",</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"artifactPath": "objects/...object-meta.xml",</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"artifactHash": "sha256:9f2b...c41d",</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"retrievedAt": "2026-09-09T14:28:11Z"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"provenance": { "createdBy": "ai-read-service",</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"derivationMethod": "AUTOMATED" }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"relationships":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"id": "rel:flow-HFN_Gen-&gt;sobj-HFN__c",</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"type": "FLOW_UPDATES_SOBJECT",</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"fromNodeId": "flow:HFN_Generation",</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"toNodeId": "sobj:HFN__c",</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"origin": "FACTUAL", "status": "APPROVED",</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"confidence": 1.0,</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"sourceReferences": [ ...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"metadata": { "operation": "UPDATE" }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a:t>
            </a:r>
            <a:endParaRPr lang="en-US" sz="600" dirty="0"/>
          </a:p>
        </p:txBody>
      </p:sp>
      <p:sp>
        <p:nvSpPr>
          <p:cNvPr id="25" name="Shape 23"/>
          <p:cNvSpPr/>
          <p:nvPr/>
        </p:nvSpPr>
        <p:spPr>
          <a:xfrm>
            <a:off x="4337304" y="5255291"/>
            <a:ext cx="3514344" cy="1154653"/>
          </a:xfrm>
          <a:prstGeom prst="roundRect">
            <a:avLst>
              <a:gd name="adj" fmla="val 3168"/>
            </a:avLst>
          </a:prstGeom>
          <a:solidFill>
            <a:srgbClr val="FFFFFF"/>
          </a:solidFill>
          <a:ln w="9525">
            <a:solidFill>
              <a:srgbClr val="DCE4EE"/>
            </a:solidFill>
            <a:prstDash val="solid"/>
          </a:ln>
        </p:spPr>
        <p:txBody>
          <a:bodyPr/>
          <a:lstStyle/>
          <a:p>
            <a:endParaRPr lang="en-IN"/>
          </a:p>
        </p:txBody>
      </p:sp>
      <p:sp>
        <p:nvSpPr>
          <p:cNvPr id="26" name="Text 24"/>
          <p:cNvSpPr txBox="1"/>
          <p:nvPr/>
        </p:nvSpPr>
        <p:spPr>
          <a:xfrm>
            <a:off x="4392168" y="5310155"/>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Storage rules</a:t>
            </a:r>
            <a:endParaRPr lang="en-US" sz="800" dirty="0"/>
          </a:p>
        </p:txBody>
      </p:sp>
      <p:sp>
        <p:nvSpPr>
          <p:cNvPr id="27" name="Text 25"/>
          <p:cNvSpPr txBox="1"/>
          <p:nvPr/>
        </p:nvSpPr>
        <p:spPr>
          <a:xfrm>
            <a:off x="4392168" y="5502179"/>
            <a:ext cx="3404616" cy="852901"/>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Read-optimized snapshot, rebuilt on each sync, never written back to a source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Versioned per snapshotId; prior snapshots retained for diffing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change detection: unchanged artifacts are skipped, not re-parsed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Metadata and sanitized test data only, no production provider records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Encrypted at rest; readable only by the AI Read Service and Orchestrator</a:t>
            </a:r>
            <a:endParaRPr lang="en-US" sz="700" dirty="0"/>
          </a:p>
        </p:txBody>
      </p:sp>
      <p:sp>
        <p:nvSpPr>
          <p:cNvPr id="28" name="Shape 26"/>
          <p:cNvSpPr/>
          <p:nvPr/>
        </p:nvSpPr>
        <p:spPr>
          <a:xfrm>
            <a:off x="8162544" y="1024128"/>
            <a:ext cx="3660648" cy="5440680"/>
          </a:xfrm>
          <a:prstGeom prst="roundRect">
            <a:avLst>
              <a:gd name="adj" fmla="val 1249"/>
            </a:avLst>
          </a:prstGeom>
          <a:solidFill>
            <a:srgbClr val="FBEAEA"/>
          </a:solidFill>
          <a:ln w="9525">
            <a:solidFill>
              <a:srgbClr val="DCE4EE"/>
            </a:solidFill>
            <a:prstDash val="solid"/>
          </a:ln>
        </p:spPr>
        <p:txBody>
          <a:bodyPr/>
          <a:lstStyle/>
          <a:p>
            <a:endParaRPr lang="en-IN"/>
          </a:p>
        </p:txBody>
      </p:sp>
      <p:sp>
        <p:nvSpPr>
          <p:cNvPr id="29" name="Shape 27"/>
          <p:cNvSpPr/>
          <p:nvPr/>
        </p:nvSpPr>
        <p:spPr>
          <a:xfrm>
            <a:off x="8162544" y="1024128"/>
            <a:ext cx="3660648" cy="365760"/>
          </a:xfrm>
          <a:prstGeom prst="roundRect">
            <a:avLst>
              <a:gd name="adj" fmla="val 12500"/>
            </a:avLst>
          </a:prstGeom>
          <a:solidFill>
            <a:srgbClr val="C62828"/>
          </a:solidFill>
          <a:ln w="12700">
            <a:solidFill>
              <a:srgbClr val="C62828"/>
            </a:solidFill>
            <a:prstDash val="solid"/>
          </a:ln>
        </p:spPr>
        <p:txBody>
          <a:bodyPr/>
          <a:lstStyle/>
          <a:p>
            <a:endParaRPr lang="en-IN"/>
          </a:p>
        </p:txBody>
      </p:sp>
      <p:sp>
        <p:nvSpPr>
          <p:cNvPr id="30" name="Text 28"/>
          <p:cNvSpPr txBox="1"/>
          <p:nvPr/>
        </p:nvSpPr>
        <p:spPr>
          <a:xfrm>
            <a:off x="8217408"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6 · Graph Exporter</a:t>
            </a:r>
            <a:endParaRPr lang="en-US" sz="900" dirty="0"/>
          </a:p>
        </p:txBody>
      </p:sp>
      <p:sp>
        <p:nvSpPr>
          <p:cNvPr id="31" name="Shape 29"/>
          <p:cNvSpPr/>
          <p:nvPr/>
        </p:nvSpPr>
        <p:spPr>
          <a:xfrm>
            <a:off x="8235696" y="1463040"/>
            <a:ext cx="3514344" cy="1651528"/>
          </a:xfrm>
          <a:prstGeom prst="roundRect">
            <a:avLst>
              <a:gd name="adj" fmla="val 2215"/>
            </a:avLst>
          </a:prstGeom>
          <a:solidFill>
            <a:srgbClr val="FFFFFF"/>
          </a:solidFill>
          <a:ln w="9525">
            <a:solidFill>
              <a:srgbClr val="DCE4EE"/>
            </a:solidFill>
            <a:prstDash val="solid"/>
          </a:ln>
        </p:spPr>
        <p:txBody>
          <a:bodyPr/>
          <a:lstStyle/>
          <a:p>
            <a:endParaRPr lang="en-IN"/>
          </a:p>
        </p:txBody>
      </p:sp>
      <p:sp>
        <p:nvSpPr>
          <p:cNvPr id="32" name="Text 30"/>
          <p:cNvSpPr txBox="1"/>
          <p:nvPr/>
        </p:nvSpPr>
        <p:spPr>
          <a:xfrm>
            <a:off x="8290560" y="1517904"/>
            <a:ext cx="3404616" cy="182880"/>
          </a:xfrm>
          <a:prstGeom prst="rect">
            <a:avLst/>
          </a:prstGeom>
          <a:noFill/>
          <a:ln/>
        </p:spPr>
        <p:txBody>
          <a:bodyPr wrap="square" lIns="0" tIns="0" rIns="0" bIns="0" rtlCol="0" anchor="t"/>
          <a:lstStyle/>
          <a:p>
            <a:pPr marL="0" indent="0">
              <a:buNone/>
            </a:pPr>
            <a:r>
              <a:rPr lang="en-US" sz="800" b="0" dirty="0">
                <a:solidFill>
                  <a:srgbClr val="C62828"/>
                </a:solidFill>
                <a:latin typeface="Trenda IG Text Semibold" pitchFamily="34" charset="0"/>
                <a:ea typeface="Trenda IG Text Semibold" pitchFamily="34" charset="-122"/>
                <a:cs typeface="Trenda IG Text Semibold" pitchFamily="34" charset="-120"/>
              </a:rPr>
              <a:t>Node types</a:t>
            </a:r>
            <a:endParaRPr lang="en-US" sz="800" dirty="0"/>
          </a:p>
        </p:txBody>
      </p:sp>
      <p:sp>
        <p:nvSpPr>
          <p:cNvPr id="33" name="Text 31"/>
          <p:cNvSpPr txBox="1"/>
          <p:nvPr/>
        </p:nvSpPr>
        <p:spPr>
          <a:xfrm>
            <a:off x="8290560" y="1709928"/>
            <a:ext cx="3404616" cy="134977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APPLICATION · BUSINESS_CAPABILITY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 (Jira)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DESIGN_DOCUMENT · DOCUMENT_SECTION (Confluence)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BUSINESS_RULE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SOBJECT · FIELD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 · APEX_CLASS · APEX_TRIGGER</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VALIDATION_RULE · LWC_COMPONENT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TEST_CASE · REPOSITORY · COMPONENT_FILE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RELEASE · ENVIRONMENT · INTEGRATION_EVENT</a:t>
            </a:r>
            <a:endParaRPr lang="en-US" sz="700" dirty="0"/>
          </a:p>
        </p:txBody>
      </p:sp>
      <p:sp>
        <p:nvSpPr>
          <p:cNvPr id="34" name="Shape 32"/>
          <p:cNvSpPr/>
          <p:nvPr/>
        </p:nvSpPr>
        <p:spPr>
          <a:xfrm>
            <a:off x="8235696" y="3206008"/>
            <a:ext cx="3514344" cy="2032650"/>
          </a:xfrm>
          <a:prstGeom prst="roundRect">
            <a:avLst>
              <a:gd name="adj" fmla="val 1799"/>
            </a:avLst>
          </a:prstGeom>
          <a:solidFill>
            <a:srgbClr val="FFFFFF"/>
          </a:solidFill>
          <a:ln w="9525">
            <a:solidFill>
              <a:srgbClr val="DCE4EE"/>
            </a:solidFill>
            <a:prstDash val="solid"/>
          </a:ln>
        </p:spPr>
        <p:txBody>
          <a:bodyPr/>
          <a:lstStyle/>
          <a:p>
            <a:endParaRPr lang="en-IN"/>
          </a:p>
        </p:txBody>
      </p:sp>
      <p:sp>
        <p:nvSpPr>
          <p:cNvPr id="35" name="Text 33"/>
          <p:cNvSpPr txBox="1"/>
          <p:nvPr/>
        </p:nvSpPr>
        <p:spPr>
          <a:xfrm>
            <a:off x="8290560" y="3260872"/>
            <a:ext cx="3404616" cy="182880"/>
          </a:xfrm>
          <a:prstGeom prst="rect">
            <a:avLst/>
          </a:prstGeom>
          <a:noFill/>
          <a:ln/>
        </p:spPr>
        <p:txBody>
          <a:bodyPr wrap="square" lIns="0" tIns="0" rIns="0" bIns="0" rtlCol="0" anchor="t"/>
          <a:lstStyle/>
          <a:p>
            <a:pPr marL="0" indent="0">
              <a:buNone/>
            </a:pPr>
            <a:r>
              <a:rPr lang="en-US" sz="800" b="0" dirty="0">
                <a:solidFill>
                  <a:srgbClr val="C62828"/>
                </a:solidFill>
                <a:latin typeface="Trenda IG Text Semibold" pitchFamily="34" charset="0"/>
                <a:ea typeface="Trenda IG Text Semibold" pitchFamily="34" charset="-122"/>
                <a:cs typeface="Trenda IG Text Semibold" pitchFamily="34" charset="-120"/>
              </a:rPr>
              <a:t>Relationship types</a:t>
            </a:r>
            <a:endParaRPr lang="en-US" sz="800" dirty="0"/>
          </a:p>
        </p:txBody>
      </p:sp>
      <p:sp>
        <p:nvSpPr>
          <p:cNvPr id="36" name="Text 34"/>
          <p:cNvSpPr txBox="1"/>
          <p:nvPr/>
        </p:nvSpPr>
        <p:spPr>
          <a:xfrm>
            <a:off x="8290560" y="3452896"/>
            <a:ext cx="3404616" cy="1730898"/>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REQUIREMENT_TARGETS_CAPABILITY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REQUIREMENT_SPECIFIED_BY_DOCUMENT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DOCUMENT_HAS_SECTION · SECTION_DEFINES_RULE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RULE_CONSTRAINS_SOBJECT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SOBJECT_HAS_FIELD · SOBJECT_RELATES_TO_SOBJECT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FLOW_UPDATES_SOBJECT · APEX_REFERENCES_SOBJECT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TRIGGER_FIRES_ON_SOBJECT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COMPONENT_DEPENDS_ON_COMPONENT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TEST_COVERS_COMPONENT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REQUIREMENT_IMPLEMENTED_BY_COMPONENT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RELEASE_DEPLOYS_COMPONENT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COMPONENT_PUBLISHES_EVENT (→ APDH)</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REQUIREMENT_REUSES_COMPONENT (inferred)</a:t>
            </a:r>
            <a:endParaRPr lang="en-US" sz="700" dirty="0"/>
          </a:p>
        </p:txBody>
      </p:sp>
      <p:sp>
        <p:nvSpPr>
          <p:cNvPr id="37" name="Shape 35"/>
          <p:cNvSpPr/>
          <p:nvPr/>
        </p:nvSpPr>
        <p:spPr>
          <a:xfrm>
            <a:off x="8235696" y="5330099"/>
            <a:ext cx="3514344" cy="1079845"/>
          </a:xfrm>
          <a:prstGeom prst="roundRect">
            <a:avLst>
              <a:gd name="adj" fmla="val 3387"/>
            </a:avLst>
          </a:prstGeom>
          <a:solidFill>
            <a:srgbClr val="FFFFFF"/>
          </a:solidFill>
          <a:ln w="9525">
            <a:solidFill>
              <a:srgbClr val="DCE4EE"/>
            </a:solidFill>
            <a:prstDash val="solid"/>
          </a:ln>
        </p:spPr>
        <p:txBody>
          <a:bodyPr/>
          <a:lstStyle/>
          <a:p>
            <a:endParaRPr lang="en-IN"/>
          </a:p>
        </p:txBody>
      </p:sp>
      <p:sp>
        <p:nvSpPr>
          <p:cNvPr id="38" name="Text 36"/>
          <p:cNvSpPr txBox="1"/>
          <p:nvPr/>
        </p:nvSpPr>
        <p:spPr>
          <a:xfrm>
            <a:off x="8290560" y="5384963"/>
            <a:ext cx="3404616" cy="182880"/>
          </a:xfrm>
          <a:prstGeom prst="rect">
            <a:avLst/>
          </a:prstGeom>
          <a:noFill/>
          <a:ln/>
        </p:spPr>
        <p:txBody>
          <a:bodyPr wrap="square" lIns="0" tIns="0" rIns="0" bIns="0" rtlCol="0" anchor="t"/>
          <a:lstStyle/>
          <a:p>
            <a:pPr marL="0" indent="0">
              <a:buNone/>
            </a:pPr>
            <a:r>
              <a:rPr lang="en-US" sz="800" b="0" dirty="0">
                <a:solidFill>
                  <a:srgbClr val="C62828"/>
                </a:solidFill>
                <a:latin typeface="Trenda IG Text Semibold" pitchFamily="34" charset="0"/>
                <a:ea typeface="Trenda IG Text Semibold" pitchFamily="34" charset="-122"/>
                <a:cs typeface="Trenda IG Text Semibold" pitchFamily="34" charset="-120"/>
              </a:rPr>
              <a:t>Properties preserved</a:t>
            </a:r>
            <a:endParaRPr lang="en-US" sz="800" dirty="0"/>
          </a:p>
        </p:txBody>
      </p:sp>
      <p:sp>
        <p:nvSpPr>
          <p:cNvPr id="39" name="Text 37"/>
          <p:cNvSpPr txBox="1"/>
          <p:nvPr/>
        </p:nvSpPr>
        <p:spPr>
          <a:xfrm>
            <a:off x="8290560" y="5576987"/>
            <a:ext cx="3404616" cy="778093"/>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All metadata from the domain contexts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createdBy, createdAt, derivationMethod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Source references with exact locations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Confidence: 1.0 factual, &lt; 1.0 inferred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Risk tier on components and integrations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Layers 7–8 · Graph engine and Codex orchestration</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How the graph is held and queried, and the tool and output contract Codex operates under.</a:t>
            </a:r>
            <a:endParaRPr lang="en-US" sz="950" dirty="0"/>
          </a:p>
        </p:txBody>
      </p:sp>
      <p:sp>
        <p:nvSpPr>
          <p:cNvPr id="4" name="Shape 2"/>
          <p:cNvSpPr/>
          <p:nvPr/>
        </p:nvSpPr>
        <p:spPr>
          <a:xfrm>
            <a:off x="365760" y="1024128"/>
            <a:ext cx="5609844" cy="5440680"/>
          </a:xfrm>
          <a:prstGeom prst="roundRect">
            <a:avLst>
              <a:gd name="adj" fmla="val 840"/>
            </a:avLst>
          </a:prstGeom>
          <a:solidFill>
            <a:srgbClr val="E9F3EA"/>
          </a:solidFill>
          <a:ln w="9525">
            <a:solidFill>
              <a:srgbClr val="DCE4EE"/>
            </a:solidFill>
            <a:prstDash val="solid"/>
          </a:ln>
        </p:spPr>
        <p:txBody>
          <a:bodyPr/>
          <a:lstStyle/>
          <a:p>
            <a:endParaRPr lang="en-IN"/>
          </a:p>
        </p:txBody>
      </p:sp>
      <p:sp>
        <p:nvSpPr>
          <p:cNvPr id="5" name="Shape 3"/>
          <p:cNvSpPr/>
          <p:nvPr/>
        </p:nvSpPr>
        <p:spPr>
          <a:xfrm>
            <a:off x="365760" y="1024128"/>
            <a:ext cx="5609844" cy="365760"/>
          </a:xfrm>
          <a:prstGeom prst="roundRect">
            <a:avLst>
              <a:gd name="adj" fmla="val 12500"/>
            </a:avLst>
          </a:prstGeom>
          <a:solidFill>
            <a:srgbClr val="2E7D32"/>
          </a:solidFill>
          <a:ln w="12700">
            <a:solidFill>
              <a:srgbClr val="2E7D32"/>
            </a:solidFill>
            <a:prstDash val="solid"/>
          </a:ln>
        </p:spPr>
        <p:txBody>
          <a:bodyPr/>
          <a:lstStyle/>
          <a:p>
            <a:endParaRPr lang="en-IN"/>
          </a:p>
        </p:txBody>
      </p:sp>
      <p:sp>
        <p:nvSpPr>
          <p:cNvPr id="6" name="Text 4"/>
          <p:cNvSpPr txBox="1"/>
          <p:nvPr/>
        </p:nvSpPr>
        <p:spPr>
          <a:xfrm>
            <a:off x="420624" y="1024128"/>
            <a:ext cx="5500116"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7 · Semantica ContextGraph</a:t>
            </a:r>
            <a:endParaRPr lang="en-US" sz="900" dirty="0"/>
          </a:p>
        </p:txBody>
      </p:sp>
      <p:sp>
        <p:nvSpPr>
          <p:cNvPr id="7" name="Shape 5"/>
          <p:cNvSpPr/>
          <p:nvPr/>
        </p:nvSpPr>
        <p:spPr>
          <a:xfrm>
            <a:off x="438912" y="1463040"/>
            <a:ext cx="5463540" cy="1038352"/>
          </a:xfrm>
          <a:prstGeom prst="roundRect">
            <a:avLst>
              <a:gd name="adj" fmla="val 3523"/>
            </a:avLst>
          </a:prstGeom>
          <a:solidFill>
            <a:srgbClr val="FFFFFF"/>
          </a:solidFill>
          <a:ln w="9525">
            <a:solidFill>
              <a:srgbClr val="DCE4EE"/>
            </a:solidFill>
            <a:prstDash val="solid"/>
          </a:ln>
        </p:spPr>
        <p:txBody>
          <a:bodyPr/>
          <a:lstStyle/>
          <a:p>
            <a:endParaRPr lang="en-IN"/>
          </a:p>
        </p:txBody>
      </p:sp>
      <p:sp>
        <p:nvSpPr>
          <p:cNvPr id="8" name="Text 6"/>
          <p:cNvSpPr txBox="1"/>
          <p:nvPr/>
        </p:nvSpPr>
        <p:spPr>
          <a:xfrm>
            <a:off x="493776" y="1517904"/>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Graph data structure</a:t>
            </a:r>
            <a:endParaRPr lang="en-US" sz="800" dirty="0"/>
          </a:p>
        </p:txBody>
      </p:sp>
      <p:sp>
        <p:nvSpPr>
          <p:cNvPr id="9" name="Text 7"/>
          <p:cNvSpPr txBox="1"/>
          <p:nvPr/>
        </p:nvSpPr>
        <p:spPr>
          <a:xfrm>
            <a:off x="493776" y="1709928"/>
            <a:ext cx="5353812" cy="736600"/>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In-memory directed property graph</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Nodes with types and properties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Edges with types, weights, metadata</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Adjacency indexes per edge 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O(1) node access; type indexes</a:t>
            </a:r>
            <a:endParaRPr lang="en-US" sz="750" dirty="0"/>
          </a:p>
        </p:txBody>
      </p:sp>
      <p:sp>
        <p:nvSpPr>
          <p:cNvPr id="10" name="Shape 8"/>
          <p:cNvSpPr/>
          <p:nvPr/>
        </p:nvSpPr>
        <p:spPr>
          <a:xfrm>
            <a:off x="438912" y="2592832"/>
            <a:ext cx="5463540" cy="986434"/>
          </a:xfrm>
          <a:prstGeom prst="roundRect">
            <a:avLst>
              <a:gd name="adj" fmla="val 3708"/>
            </a:avLst>
          </a:prstGeom>
          <a:solidFill>
            <a:srgbClr val="FFFFFF"/>
          </a:solidFill>
          <a:ln w="9525">
            <a:solidFill>
              <a:srgbClr val="DCE4EE"/>
            </a:solidFill>
            <a:prstDash val="solid"/>
          </a:ln>
        </p:spPr>
        <p:txBody>
          <a:bodyPr/>
          <a:lstStyle/>
          <a:p>
            <a:endParaRPr lang="en-IN"/>
          </a:p>
        </p:txBody>
      </p:sp>
      <p:sp>
        <p:nvSpPr>
          <p:cNvPr id="11" name="Text 9"/>
          <p:cNvSpPr txBox="1"/>
          <p:nvPr/>
        </p:nvSpPr>
        <p:spPr>
          <a:xfrm>
            <a:off x="493776" y="2647696"/>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Graph operations</a:t>
            </a:r>
            <a:endParaRPr lang="en-US" sz="800" dirty="0"/>
          </a:p>
        </p:txBody>
      </p:sp>
      <p:sp>
        <p:nvSpPr>
          <p:cNvPr id="12" name="Text 10"/>
          <p:cNvSpPr txBox="1"/>
          <p:nvPr/>
        </p:nvSpPr>
        <p:spPr>
          <a:xfrm>
            <a:off x="493776" y="2839720"/>
            <a:ext cx="5353812" cy="68468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add_node(id, type, **properties)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add_edge(src, tgt, type, weight, ...)</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find_node(node_id) · has_node(node_id)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find_nodes(node_type=...)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find_edges(edge_type=...)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retract (temporal removal)</a:t>
            </a:r>
            <a:endParaRPr lang="en-US" sz="750" dirty="0"/>
          </a:p>
        </p:txBody>
      </p:sp>
      <p:sp>
        <p:nvSpPr>
          <p:cNvPr id="13" name="Shape 11"/>
          <p:cNvSpPr/>
          <p:nvPr/>
        </p:nvSpPr>
        <p:spPr>
          <a:xfrm>
            <a:off x="438912" y="3670706"/>
            <a:ext cx="5463540" cy="1297940"/>
          </a:xfrm>
          <a:prstGeom prst="roundRect">
            <a:avLst>
              <a:gd name="adj" fmla="val 2818"/>
            </a:avLst>
          </a:prstGeom>
          <a:solidFill>
            <a:srgbClr val="FFFFFF"/>
          </a:solidFill>
          <a:ln w="9525">
            <a:solidFill>
              <a:srgbClr val="DCE4EE"/>
            </a:solidFill>
            <a:prstDash val="solid"/>
          </a:ln>
        </p:spPr>
        <p:txBody>
          <a:bodyPr/>
          <a:lstStyle/>
          <a:p>
            <a:endParaRPr lang="en-IN"/>
          </a:p>
        </p:txBody>
      </p:sp>
      <p:sp>
        <p:nvSpPr>
          <p:cNvPr id="14" name="Text 12"/>
          <p:cNvSpPr txBox="1"/>
          <p:nvPr/>
        </p:nvSpPr>
        <p:spPr>
          <a:xfrm>
            <a:off x="493776" y="3725570"/>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Delivery-specific analysis</a:t>
            </a:r>
            <a:endParaRPr lang="en-US" sz="800" dirty="0"/>
          </a:p>
        </p:txBody>
      </p:sp>
      <p:sp>
        <p:nvSpPr>
          <p:cNvPr id="15" name="Text 13"/>
          <p:cNvSpPr txBox="1"/>
          <p:nvPr/>
        </p:nvSpPr>
        <p:spPr>
          <a:xfrm>
            <a:off x="493776" y="3917594"/>
            <a:ext cx="5353812" cy="996188"/>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blast_radius(node_id, max_hops): everything reachable from a change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reuse_candidates(capability_id): automation that already implements it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risk_tier(component_ids) → LOW | MEDIUM | HIGH | CRITICAL</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downstream_events(component_id): APDH publishing impact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coverage_gap(component_id): components with no covering test</a:t>
            </a:r>
            <a:endParaRPr lang="en-US" sz="750" dirty="0"/>
          </a:p>
        </p:txBody>
      </p:sp>
      <p:sp>
        <p:nvSpPr>
          <p:cNvPr id="16" name="Shape 14"/>
          <p:cNvSpPr/>
          <p:nvPr/>
        </p:nvSpPr>
        <p:spPr>
          <a:xfrm>
            <a:off x="438912" y="5060086"/>
            <a:ext cx="5463540" cy="1349858"/>
          </a:xfrm>
          <a:prstGeom prst="roundRect">
            <a:avLst>
              <a:gd name="adj" fmla="val 2710"/>
            </a:avLst>
          </a:prstGeom>
          <a:solidFill>
            <a:srgbClr val="FFFFFF"/>
          </a:solidFill>
          <a:ln w="9525">
            <a:solidFill>
              <a:srgbClr val="DCE4EE"/>
            </a:solidFill>
            <a:prstDash val="solid"/>
          </a:ln>
        </p:spPr>
        <p:txBody>
          <a:bodyPr/>
          <a:lstStyle/>
          <a:p>
            <a:endParaRPr lang="en-IN"/>
          </a:p>
        </p:txBody>
      </p:sp>
      <p:sp>
        <p:nvSpPr>
          <p:cNvPr id="17" name="Text 15"/>
          <p:cNvSpPr txBox="1"/>
          <p:nvPr/>
        </p:nvSpPr>
        <p:spPr>
          <a:xfrm>
            <a:off x="493776" y="5114950"/>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Analytics · persistence · provenance</a:t>
            </a:r>
            <a:endParaRPr lang="en-US" sz="800" dirty="0"/>
          </a:p>
        </p:txBody>
      </p:sp>
      <p:sp>
        <p:nvSpPr>
          <p:cNvPr id="18" name="Text 16"/>
          <p:cNvSpPr txBox="1"/>
          <p:nvPr/>
        </p:nvSpPr>
        <p:spPr>
          <a:xfrm>
            <a:off x="493776" y="5306974"/>
            <a:ext cx="5353812" cy="10481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stats(): node / edge counts, type distributions, density, components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save_to_file(path) / load_from_file(path); snapshot diffing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Query time &lt; 0.01s · ~1 MB typical · scales to 1M+ nodes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ProvenanceManager: track_entity, track_relationship,</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get_lineage(entity_id), trace_source(entity_id)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Bi-directional provenance chains</a:t>
            </a:r>
            <a:endParaRPr lang="en-US" sz="750" dirty="0"/>
          </a:p>
        </p:txBody>
      </p:sp>
      <p:sp>
        <p:nvSpPr>
          <p:cNvPr id="19" name="Shape 17"/>
          <p:cNvSpPr/>
          <p:nvPr/>
        </p:nvSpPr>
        <p:spPr>
          <a:xfrm>
            <a:off x="6213348" y="1024128"/>
            <a:ext cx="5609844" cy="5440680"/>
          </a:xfrm>
          <a:prstGeom prst="roundRect">
            <a:avLst>
              <a:gd name="adj" fmla="val 840"/>
            </a:avLst>
          </a:prstGeom>
          <a:solidFill>
            <a:srgbClr val="E3F2F4"/>
          </a:solidFill>
          <a:ln w="9525">
            <a:solidFill>
              <a:srgbClr val="DCE4EE"/>
            </a:solidFill>
            <a:prstDash val="solid"/>
          </a:ln>
        </p:spPr>
        <p:txBody>
          <a:bodyPr/>
          <a:lstStyle/>
          <a:p>
            <a:endParaRPr lang="en-IN"/>
          </a:p>
        </p:txBody>
      </p:sp>
      <p:sp>
        <p:nvSpPr>
          <p:cNvPr id="20" name="Shape 18"/>
          <p:cNvSpPr/>
          <p:nvPr/>
        </p:nvSpPr>
        <p:spPr>
          <a:xfrm>
            <a:off x="6213348" y="1024128"/>
            <a:ext cx="5609844" cy="365760"/>
          </a:xfrm>
          <a:prstGeom prst="roundRect">
            <a:avLst>
              <a:gd name="adj" fmla="val 12500"/>
            </a:avLst>
          </a:prstGeom>
          <a:solidFill>
            <a:srgbClr val="00757F"/>
          </a:solidFill>
          <a:ln w="12700">
            <a:solidFill>
              <a:srgbClr val="00757F"/>
            </a:solidFill>
            <a:prstDash val="solid"/>
          </a:ln>
        </p:spPr>
        <p:txBody>
          <a:bodyPr/>
          <a:lstStyle/>
          <a:p>
            <a:endParaRPr lang="en-IN"/>
          </a:p>
        </p:txBody>
      </p:sp>
      <p:sp>
        <p:nvSpPr>
          <p:cNvPr id="21" name="Text 19"/>
          <p:cNvSpPr txBox="1"/>
          <p:nvPr/>
        </p:nvSpPr>
        <p:spPr>
          <a:xfrm>
            <a:off x="6268212" y="1024128"/>
            <a:ext cx="5500116"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8 · Adapter API + Codex</a:t>
            </a:r>
            <a:endParaRPr lang="en-US" sz="900" dirty="0"/>
          </a:p>
        </p:txBody>
      </p:sp>
      <p:sp>
        <p:nvSpPr>
          <p:cNvPr id="22" name="Shape 20"/>
          <p:cNvSpPr/>
          <p:nvPr/>
        </p:nvSpPr>
        <p:spPr>
          <a:xfrm>
            <a:off x="6286500" y="1463040"/>
            <a:ext cx="5463540" cy="1249645"/>
          </a:xfrm>
          <a:prstGeom prst="roundRect">
            <a:avLst>
              <a:gd name="adj" fmla="val 2927"/>
            </a:avLst>
          </a:prstGeom>
          <a:solidFill>
            <a:srgbClr val="FFFFFF"/>
          </a:solidFill>
          <a:ln w="9525">
            <a:solidFill>
              <a:srgbClr val="DCE4EE"/>
            </a:solidFill>
            <a:prstDash val="solid"/>
          </a:ln>
        </p:spPr>
        <p:txBody>
          <a:bodyPr/>
          <a:lstStyle/>
          <a:p>
            <a:endParaRPr lang="en-IN"/>
          </a:p>
        </p:txBody>
      </p:sp>
      <p:sp>
        <p:nvSpPr>
          <p:cNvPr id="23" name="Text 21"/>
          <p:cNvSpPr txBox="1"/>
          <p:nvPr/>
        </p:nvSpPr>
        <p:spPr>
          <a:xfrm>
            <a:off x="6341364" y="1517904"/>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Core query methods</a:t>
            </a:r>
            <a:endParaRPr lang="en-US" sz="800" dirty="0"/>
          </a:p>
        </p:txBody>
      </p:sp>
      <p:sp>
        <p:nvSpPr>
          <p:cNvPr id="24" name="Text 22"/>
          <p:cNvSpPr txBox="1"/>
          <p:nvPr/>
        </p:nvSpPr>
        <p:spPr>
          <a:xfrm>
            <a:off x="6341364" y="1709928"/>
            <a:ext cx="5353812" cy="947893"/>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load_from_json(path) → stats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get_node(node_id) → Node | None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get_nodes_by_type(type) → List[Node]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get_outgoing_edges(node_id, 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get_incoming_edges(node_id, 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get_neighbors(node_id, max_hops, dir)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find_path(from_id, to_id, max_hops)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get_graph_stats() → Dict</a:t>
            </a:r>
            <a:endParaRPr lang="en-US" sz="750" dirty="0"/>
          </a:p>
        </p:txBody>
      </p:sp>
      <p:sp>
        <p:nvSpPr>
          <p:cNvPr id="25" name="Shape 23"/>
          <p:cNvSpPr/>
          <p:nvPr/>
        </p:nvSpPr>
        <p:spPr>
          <a:xfrm>
            <a:off x="6286500" y="2804125"/>
            <a:ext cx="5463540" cy="1086647"/>
          </a:xfrm>
          <a:prstGeom prst="roundRect">
            <a:avLst>
              <a:gd name="adj" fmla="val 3366"/>
            </a:avLst>
          </a:prstGeom>
          <a:solidFill>
            <a:srgbClr val="FFFFFF"/>
          </a:solidFill>
          <a:ln w="9525">
            <a:solidFill>
              <a:srgbClr val="DCE4EE"/>
            </a:solidFill>
            <a:prstDash val="solid"/>
          </a:ln>
        </p:spPr>
        <p:txBody>
          <a:bodyPr/>
          <a:lstStyle/>
          <a:p>
            <a:endParaRPr lang="en-IN"/>
          </a:p>
        </p:txBody>
      </p:sp>
      <p:sp>
        <p:nvSpPr>
          <p:cNvPr id="26" name="Text 24"/>
          <p:cNvSpPr txBox="1"/>
          <p:nvPr/>
        </p:nvSpPr>
        <p:spPr>
          <a:xfrm>
            <a:off x="6341364" y="2858989"/>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Delivery intelligence methods</a:t>
            </a:r>
            <a:endParaRPr lang="en-US" sz="800" dirty="0"/>
          </a:p>
        </p:txBody>
      </p:sp>
      <p:sp>
        <p:nvSpPr>
          <p:cNvPr id="27" name="Text 25"/>
          <p:cNvSpPr txBox="1"/>
          <p:nvPr/>
        </p:nvSpPr>
        <p:spPr>
          <a:xfrm>
            <a:off x="6341364" y="3051013"/>
            <a:ext cx="5353812" cy="78489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analyze_impact(requirement_id) → ImpactReport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find_reuse(capability_id) → List[Component]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classify_risk(component_ids) → RiskTier + approver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trace_downstream_events(component_id)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coverage_report(component_ids)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build_context_slice(requirement_id)</a:t>
            </a:r>
            <a:endParaRPr lang="en-US" sz="750" dirty="0"/>
          </a:p>
        </p:txBody>
      </p:sp>
      <p:sp>
        <p:nvSpPr>
          <p:cNvPr id="28" name="Shape 26"/>
          <p:cNvSpPr/>
          <p:nvPr/>
        </p:nvSpPr>
        <p:spPr>
          <a:xfrm>
            <a:off x="6286500" y="3982212"/>
            <a:ext cx="5463540" cy="1086647"/>
          </a:xfrm>
          <a:prstGeom prst="roundRect">
            <a:avLst>
              <a:gd name="adj" fmla="val 3366"/>
            </a:avLst>
          </a:prstGeom>
          <a:solidFill>
            <a:srgbClr val="FFFFFF"/>
          </a:solidFill>
          <a:ln w="9525">
            <a:solidFill>
              <a:srgbClr val="DCE4EE"/>
            </a:solidFill>
            <a:prstDash val="solid"/>
          </a:ln>
        </p:spPr>
        <p:txBody>
          <a:bodyPr/>
          <a:lstStyle/>
          <a:p>
            <a:endParaRPr lang="en-IN"/>
          </a:p>
        </p:txBody>
      </p:sp>
      <p:sp>
        <p:nvSpPr>
          <p:cNvPr id="29" name="Text 27"/>
          <p:cNvSpPr txBox="1"/>
          <p:nvPr/>
        </p:nvSpPr>
        <p:spPr>
          <a:xfrm>
            <a:off x="6341364" y="4037076"/>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Codex tool surface</a:t>
            </a:r>
            <a:endParaRPr lang="en-US" sz="800" dirty="0"/>
          </a:p>
        </p:txBody>
      </p:sp>
      <p:sp>
        <p:nvSpPr>
          <p:cNvPr id="30" name="Text 28"/>
          <p:cNvSpPr txBox="1"/>
          <p:nvPr/>
        </p:nvSpPr>
        <p:spPr>
          <a:xfrm>
            <a:off x="6341364" y="4229100"/>
            <a:ext cx="5353812" cy="78489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graph.query · graph.impact · graph.reuse · graph.provenance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git.read_file: exact source of a class, flow or test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sf.describe: object / field / dependency detail on demand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jira.read · copado.status</a:t>
            </a:r>
            <a:endParaRPr lang="en-US" sz="750" dirty="0"/>
          </a:p>
        </p:txBody>
      </p:sp>
      <p:sp>
        <p:nvSpPr>
          <p:cNvPr id="31" name="Shape 29"/>
          <p:cNvSpPr/>
          <p:nvPr/>
        </p:nvSpPr>
        <p:spPr>
          <a:xfrm>
            <a:off x="6286500" y="5160299"/>
            <a:ext cx="5463540" cy="1249645"/>
          </a:xfrm>
          <a:prstGeom prst="roundRect">
            <a:avLst>
              <a:gd name="adj" fmla="val 2927"/>
            </a:avLst>
          </a:prstGeom>
          <a:solidFill>
            <a:srgbClr val="FFFFFF"/>
          </a:solidFill>
          <a:ln w="9525">
            <a:solidFill>
              <a:srgbClr val="DCE4EE"/>
            </a:solidFill>
            <a:prstDash val="solid"/>
          </a:ln>
        </p:spPr>
        <p:txBody>
          <a:bodyPr/>
          <a:lstStyle/>
          <a:p>
            <a:endParaRPr lang="en-IN"/>
          </a:p>
        </p:txBody>
      </p:sp>
      <p:sp>
        <p:nvSpPr>
          <p:cNvPr id="32" name="Text 30"/>
          <p:cNvSpPr txBox="1"/>
          <p:nvPr/>
        </p:nvSpPr>
        <p:spPr>
          <a:xfrm>
            <a:off x="6341364" y="5215163"/>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Prompting &amp; output contract</a:t>
            </a:r>
            <a:endParaRPr lang="en-US" sz="800" dirty="0"/>
          </a:p>
        </p:txBody>
      </p:sp>
      <p:sp>
        <p:nvSpPr>
          <p:cNvPr id="33" name="Text 31"/>
          <p:cNvSpPr txBox="1"/>
          <p:nvPr/>
        </p:nvSpPr>
        <p:spPr>
          <a:xfrm>
            <a:off x="6341364" y="5407187"/>
            <a:ext cx="5353812" cy="947893"/>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Context is a bounded graph slice, not a raw org dump</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Dependencies come from the graph; the model may not invent one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Every claim cites a node id or source reference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Outputs: ImpactAnalysis · ChangePlan · GeneratedArtifacts · TestPlan · RiskAssessment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Write path: AI Development Service, DEV + branch, post-approval</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365760" y="256032"/>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The Engineering Context Knowledge Graph</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Every source contributes facts to one graph. Nothing is copied twice, nothing becomes a new source of truth, and any answer can be traced back to the artifact it came from.</a:t>
            </a:r>
            <a:endParaRPr lang="en-US" sz="950" dirty="0"/>
          </a:p>
        </p:txBody>
      </p:sp>
      <p:sp>
        <p:nvSpPr>
          <p:cNvPr id="4" name="Shape 2"/>
          <p:cNvSpPr/>
          <p:nvPr/>
        </p:nvSpPr>
        <p:spPr>
          <a:xfrm>
            <a:off x="365760" y="1024128"/>
            <a:ext cx="3017520" cy="5440680"/>
          </a:xfrm>
          <a:prstGeom prst="roundRect">
            <a:avLst>
              <a:gd name="adj" fmla="val 1515"/>
            </a:avLst>
          </a:prstGeom>
          <a:solidFill>
            <a:srgbClr val="EAF1FB"/>
          </a:solidFill>
          <a:ln w="9525">
            <a:solidFill>
              <a:srgbClr val="DCE4EE"/>
            </a:solidFill>
            <a:prstDash val="solid"/>
          </a:ln>
        </p:spPr>
        <p:txBody>
          <a:bodyPr/>
          <a:lstStyle/>
          <a:p>
            <a:endParaRPr lang="en-IN"/>
          </a:p>
        </p:txBody>
      </p:sp>
      <p:sp>
        <p:nvSpPr>
          <p:cNvPr id="5" name="Shape 3"/>
          <p:cNvSpPr/>
          <p:nvPr/>
        </p:nvSpPr>
        <p:spPr>
          <a:xfrm>
            <a:off x="365760" y="1024128"/>
            <a:ext cx="3017520" cy="365760"/>
          </a:xfrm>
          <a:prstGeom prst="roundRect">
            <a:avLst>
              <a:gd name="adj" fmla="val 12500"/>
            </a:avLst>
          </a:prstGeom>
          <a:solidFill>
            <a:srgbClr val="1B6BC0"/>
          </a:solidFill>
          <a:ln w="12700">
            <a:solidFill>
              <a:srgbClr val="1B6BC0"/>
            </a:solidFill>
            <a:prstDash val="solid"/>
          </a:ln>
        </p:spPr>
        <p:txBody>
          <a:bodyPr/>
          <a:lstStyle/>
          <a:p>
            <a:endParaRPr lang="en-IN"/>
          </a:p>
        </p:txBody>
      </p:sp>
      <p:sp>
        <p:nvSpPr>
          <p:cNvPr id="6" name="Text 4"/>
          <p:cNvSpPr txBox="1"/>
          <p:nvPr/>
        </p:nvSpPr>
        <p:spPr>
          <a:xfrm>
            <a:off x="365760" y="1024128"/>
            <a:ext cx="3017520" cy="365760"/>
          </a:xfrm>
          <a:prstGeom prst="rect">
            <a:avLst/>
          </a:prstGeom>
          <a:noFill/>
          <a:ln/>
        </p:spPr>
        <p:txBody>
          <a:bodyPr wrap="square" lIns="0" tIns="0" rIns="0" bIns="0" rtlCol="0" anchor="ctr"/>
          <a:lstStyle/>
          <a:p>
            <a:pPr marL="0" indent="0" algn="ctr">
              <a:buNone/>
            </a:pPr>
            <a:r>
              <a:rPr lang="en-US" sz="950" b="0" dirty="0">
                <a:solidFill>
                  <a:srgbClr val="FFFFFF"/>
                </a:solidFill>
                <a:latin typeface="Trenda IG Display Bold" pitchFamily="34" charset="0"/>
                <a:ea typeface="Trenda IG Display Bold" pitchFamily="34" charset="-122"/>
                <a:cs typeface="Trenda IG Display Bold" pitchFamily="34" charset="-120"/>
              </a:rPr>
              <a:t>What goes in</a:t>
            </a:r>
            <a:endParaRPr lang="en-US" sz="950" dirty="0"/>
          </a:p>
        </p:txBody>
      </p:sp>
      <p:sp>
        <p:nvSpPr>
          <p:cNvPr id="7" name="Shape 5"/>
          <p:cNvSpPr/>
          <p:nvPr/>
        </p:nvSpPr>
        <p:spPr>
          <a:xfrm>
            <a:off x="457200" y="149961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548640" y="1591056"/>
            <a:ext cx="146304" cy="146304"/>
          </a:xfrm>
          <a:prstGeom prst="rect">
            <a:avLst/>
          </a:prstGeom>
        </p:spPr>
      </p:pic>
      <p:sp>
        <p:nvSpPr>
          <p:cNvPr id="9" name="Text 6"/>
          <p:cNvSpPr txBox="1"/>
          <p:nvPr/>
        </p:nvSpPr>
        <p:spPr>
          <a:xfrm>
            <a:off x="749808" y="158191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Jira</a:t>
            </a:r>
            <a:endParaRPr lang="en-US" sz="850" dirty="0"/>
          </a:p>
        </p:txBody>
      </p:sp>
      <p:sp>
        <p:nvSpPr>
          <p:cNvPr id="10" name="Text 7"/>
          <p:cNvSpPr txBox="1"/>
          <p:nvPr/>
        </p:nvSpPr>
        <p:spPr>
          <a:xfrm>
            <a:off x="548640" y="177393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Requirements, acceptance criteria, delivery history</a:t>
            </a:r>
            <a:endParaRPr lang="en-US" sz="700" dirty="0"/>
          </a:p>
        </p:txBody>
      </p:sp>
      <p:sp>
        <p:nvSpPr>
          <p:cNvPr id="11" name="Shape 8"/>
          <p:cNvSpPr/>
          <p:nvPr/>
        </p:nvSpPr>
        <p:spPr>
          <a:xfrm>
            <a:off x="457200" y="232257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548640" y="2414016"/>
            <a:ext cx="146304" cy="146304"/>
          </a:xfrm>
          <a:prstGeom prst="rect">
            <a:avLst/>
          </a:prstGeom>
        </p:spPr>
      </p:pic>
      <p:sp>
        <p:nvSpPr>
          <p:cNvPr id="13" name="Text 9"/>
          <p:cNvSpPr txBox="1"/>
          <p:nvPr/>
        </p:nvSpPr>
        <p:spPr>
          <a:xfrm>
            <a:off x="749808" y="240487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Confluence</a:t>
            </a:r>
            <a:endParaRPr lang="en-US" sz="850" dirty="0"/>
          </a:p>
        </p:txBody>
      </p:sp>
      <p:sp>
        <p:nvSpPr>
          <p:cNvPr id="14" name="Text 10"/>
          <p:cNvSpPr txBox="1"/>
          <p:nvPr/>
        </p:nvSpPr>
        <p:spPr>
          <a:xfrm>
            <a:off x="548640" y="259689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Functional &amp; technical design, business-rule tables</a:t>
            </a:r>
            <a:endParaRPr lang="en-US" sz="700" dirty="0"/>
          </a:p>
        </p:txBody>
      </p:sp>
      <p:sp>
        <p:nvSpPr>
          <p:cNvPr id="15" name="Shape 11"/>
          <p:cNvSpPr/>
          <p:nvPr/>
        </p:nvSpPr>
        <p:spPr>
          <a:xfrm>
            <a:off x="457200" y="314553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548640" y="3236976"/>
            <a:ext cx="146304" cy="146304"/>
          </a:xfrm>
          <a:prstGeom prst="rect">
            <a:avLst/>
          </a:prstGeom>
        </p:spPr>
      </p:pic>
      <p:sp>
        <p:nvSpPr>
          <p:cNvPr id="17" name="Text 12"/>
          <p:cNvSpPr txBox="1"/>
          <p:nvPr/>
        </p:nvSpPr>
        <p:spPr>
          <a:xfrm>
            <a:off x="749808" y="322783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Salesforce</a:t>
            </a:r>
            <a:endParaRPr lang="en-US" sz="850" dirty="0"/>
          </a:p>
        </p:txBody>
      </p:sp>
      <p:sp>
        <p:nvSpPr>
          <p:cNvPr id="18" name="Text 13"/>
          <p:cNvSpPr txBox="1"/>
          <p:nvPr/>
        </p:nvSpPr>
        <p:spPr>
          <a:xfrm>
            <a:off x="548640" y="341985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Objects, fields, Flows, Apex, validation rules, dependencies</a:t>
            </a:r>
            <a:endParaRPr lang="en-US" sz="700" dirty="0"/>
          </a:p>
        </p:txBody>
      </p:sp>
      <p:sp>
        <p:nvSpPr>
          <p:cNvPr id="19" name="Shape 14"/>
          <p:cNvSpPr/>
          <p:nvPr/>
        </p:nvSpPr>
        <p:spPr>
          <a:xfrm>
            <a:off x="457200" y="396849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20" name="Image 3" descr="preencoded.png"/>
          <p:cNvPicPr>
            <a:picLocks noChangeAspect="1"/>
          </p:cNvPicPr>
          <p:nvPr/>
        </p:nvPicPr>
        <p:blipFill>
          <a:blip r:embed="rId6"/>
          <a:stretch>
            <a:fillRect/>
          </a:stretch>
        </p:blipFill>
        <p:spPr>
          <a:xfrm>
            <a:off x="548640" y="4059936"/>
            <a:ext cx="146304" cy="146304"/>
          </a:xfrm>
          <a:prstGeom prst="rect">
            <a:avLst/>
          </a:prstGeom>
        </p:spPr>
      </p:pic>
      <p:sp>
        <p:nvSpPr>
          <p:cNvPr id="21" name="Text 15"/>
          <p:cNvSpPr txBox="1"/>
          <p:nvPr/>
        </p:nvSpPr>
        <p:spPr>
          <a:xfrm>
            <a:off x="749808" y="405079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Git</a:t>
            </a:r>
            <a:endParaRPr lang="en-US" sz="850" dirty="0"/>
          </a:p>
        </p:txBody>
      </p:sp>
      <p:sp>
        <p:nvSpPr>
          <p:cNvPr id="22" name="Text 16"/>
          <p:cNvSpPr txBox="1"/>
          <p:nvPr/>
        </p:nvSpPr>
        <p:spPr>
          <a:xfrm>
            <a:off x="548640" y="424281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Apex classes &amp; triggers, LWC, metadata, unit tests, commit history</a:t>
            </a:r>
            <a:endParaRPr lang="en-US" sz="700" dirty="0"/>
          </a:p>
        </p:txBody>
      </p:sp>
      <p:sp>
        <p:nvSpPr>
          <p:cNvPr id="23" name="Shape 17"/>
          <p:cNvSpPr/>
          <p:nvPr/>
        </p:nvSpPr>
        <p:spPr>
          <a:xfrm>
            <a:off x="457200" y="479145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24" name="Image 4" descr="preencoded.png"/>
          <p:cNvPicPr>
            <a:picLocks noChangeAspect="1"/>
          </p:cNvPicPr>
          <p:nvPr/>
        </p:nvPicPr>
        <p:blipFill>
          <a:blip r:embed="rId7"/>
          <a:stretch>
            <a:fillRect/>
          </a:stretch>
        </p:blipFill>
        <p:spPr>
          <a:xfrm>
            <a:off x="548640" y="4882896"/>
            <a:ext cx="146304" cy="146304"/>
          </a:xfrm>
          <a:prstGeom prst="rect">
            <a:avLst/>
          </a:prstGeom>
        </p:spPr>
      </p:pic>
      <p:sp>
        <p:nvSpPr>
          <p:cNvPr id="25" name="Text 18"/>
          <p:cNvSpPr txBox="1"/>
          <p:nvPr/>
        </p:nvSpPr>
        <p:spPr>
          <a:xfrm>
            <a:off x="749808" y="487375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Copado</a:t>
            </a:r>
            <a:endParaRPr lang="en-US" sz="850" dirty="0"/>
          </a:p>
        </p:txBody>
      </p:sp>
      <p:sp>
        <p:nvSpPr>
          <p:cNvPr id="26" name="Text 19"/>
          <p:cNvSpPr txBox="1"/>
          <p:nvPr/>
        </p:nvSpPr>
        <p:spPr>
          <a:xfrm>
            <a:off x="548640" y="506577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Releases, deployments, robotic testing, regression runs &amp; results</a:t>
            </a:r>
            <a:endParaRPr lang="en-US" sz="700" dirty="0"/>
          </a:p>
        </p:txBody>
      </p:sp>
      <p:sp>
        <p:nvSpPr>
          <p:cNvPr id="27" name="Shape 20"/>
          <p:cNvSpPr/>
          <p:nvPr/>
        </p:nvSpPr>
        <p:spPr>
          <a:xfrm>
            <a:off x="457200" y="561441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28" name="Image 5" descr="preencoded.png"/>
          <p:cNvPicPr>
            <a:picLocks noChangeAspect="1"/>
          </p:cNvPicPr>
          <p:nvPr/>
        </p:nvPicPr>
        <p:blipFill>
          <a:blip r:embed="rId8"/>
          <a:stretch>
            <a:fillRect/>
          </a:stretch>
        </p:blipFill>
        <p:spPr>
          <a:xfrm>
            <a:off x="548640" y="5705856"/>
            <a:ext cx="146304" cy="146304"/>
          </a:xfrm>
          <a:prstGeom prst="rect">
            <a:avLst/>
          </a:prstGeom>
        </p:spPr>
      </p:pic>
      <p:sp>
        <p:nvSpPr>
          <p:cNvPr id="29" name="Text 21"/>
          <p:cNvSpPr txBox="1"/>
          <p:nvPr/>
        </p:nvSpPr>
        <p:spPr>
          <a:xfrm>
            <a:off x="749808" y="569671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Google Drive</a:t>
            </a:r>
            <a:endParaRPr lang="en-US" sz="850" dirty="0"/>
          </a:p>
        </p:txBody>
      </p:sp>
      <p:sp>
        <p:nvSpPr>
          <p:cNvPr id="30" name="Text 22"/>
          <p:cNvSpPr txBox="1"/>
          <p:nvPr/>
        </p:nvSpPr>
        <p:spPr>
          <a:xfrm>
            <a:off x="548640" y="588873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Spec sheets, field mappings, test-data workbooks, evidence exports</a:t>
            </a:r>
            <a:endParaRPr lang="en-US" sz="700" dirty="0"/>
          </a:p>
        </p:txBody>
      </p:sp>
      <p:sp>
        <p:nvSpPr>
          <p:cNvPr id="31" name="Shape 23"/>
          <p:cNvSpPr/>
          <p:nvPr/>
        </p:nvSpPr>
        <p:spPr>
          <a:xfrm>
            <a:off x="3584448" y="1024128"/>
            <a:ext cx="4974336" cy="5440680"/>
          </a:xfrm>
          <a:prstGeom prst="roundRect">
            <a:avLst>
              <a:gd name="adj" fmla="val 919"/>
            </a:avLst>
          </a:prstGeom>
          <a:solidFill>
            <a:srgbClr val="FFFFFF"/>
          </a:solidFill>
          <a:ln w="9525">
            <a:solidFill>
              <a:srgbClr val="DCE4EE"/>
            </a:solidFill>
            <a:prstDash val="solid"/>
          </a:ln>
        </p:spPr>
        <p:txBody>
          <a:bodyPr/>
          <a:lstStyle/>
          <a:p>
            <a:endParaRPr lang="en-IN"/>
          </a:p>
        </p:txBody>
      </p:sp>
      <p:sp>
        <p:nvSpPr>
          <p:cNvPr id="32" name="Shape 24"/>
          <p:cNvSpPr/>
          <p:nvPr/>
        </p:nvSpPr>
        <p:spPr>
          <a:xfrm>
            <a:off x="3584448" y="1024128"/>
            <a:ext cx="4974336" cy="365760"/>
          </a:xfrm>
          <a:prstGeom prst="roundRect">
            <a:avLst>
              <a:gd name="adj" fmla="val 12500"/>
            </a:avLst>
          </a:prstGeom>
          <a:solidFill>
            <a:srgbClr val="C2185B"/>
          </a:solidFill>
          <a:ln w="12700">
            <a:solidFill>
              <a:srgbClr val="C2185B"/>
            </a:solidFill>
            <a:prstDash val="solid"/>
          </a:ln>
        </p:spPr>
        <p:txBody>
          <a:bodyPr/>
          <a:lstStyle/>
          <a:p>
            <a:endParaRPr lang="en-IN"/>
          </a:p>
        </p:txBody>
      </p:sp>
      <p:sp>
        <p:nvSpPr>
          <p:cNvPr id="33" name="Text 25"/>
          <p:cNvSpPr txBox="1"/>
          <p:nvPr/>
        </p:nvSpPr>
        <p:spPr>
          <a:xfrm>
            <a:off x="3584448" y="1024128"/>
            <a:ext cx="4974336" cy="365760"/>
          </a:xfrm>
          <a:prstGeom prst="rect">
            <a:avLst/>
          </a:prstGeom>
          <a:noFill/>
          <a:ln/>
        </p:spPr>
        <p:txBody>
          <a:bodyPr wrap="square" lIns="0" tIns="0" rIns="0" bIns="0" rtlCol="0" anchor="ctr"/>
          <a:lstStyle/>
          <a:p>
            <a:pPr marL="0" indent="0" algn="ctr">
              <a:buNone/>
            </a:pPr>
            <a:r>
              <a:rPr lang="en-US" sz="950" b="0" dirty="0">
                <a:solidFill>
                  <a:srgbClr val="FFFFFF"/>
                </a:solidFill>
                <a:latin typeface="Trenda IG Display Bold" pitchFamily="34" charset="0"/>
                <a:ea typeface="Trenda IG Display Bold" pitchFamily="34" charset="-122"/>
                <a:cs typeface="Trenda IG Display Bold" pitchFamily="34" charset="-120"/>
              </a:rPr>
              <a:t>One graph, typed nodes, typed relationships</a:t>
            </a:r>
            <a:endParaRPr lang="en-US" sz="950" dirty="0"/>
          </a:p>
        </p:txBody>
      </p:sp>
      <p:sp>
        <p:nvSpPr>
          <p:cNvPr id="34" name="Shape 26"/>
          <p:cNvSpPr/>
          <p:nvPr/>
        </p:nvSpPr>
        <p:spPr>
          <a:xfrm flipV="1">
            <a:off x="6071616" y="2009851"/>
            <a:ext cx="0" cy="888797"/>
          </a:xfrm>
          <a:prstGeom prst="line">
            <a:avLst/>
          </a:prstGeom>
          <a:noFill/>
          <a:ln w="15875">
            <a:solidFill>
              <a:srgbClr val="C7D2DE"/>
            </a:solidFill>
            <a:prstDash val="solid"/>
          </a:ln>
        </p:spPr>
        <p:txBody>
          <a:bodyPr/>
          <a:lstStyle/>
          <a:p>
            <a:endParaRPr lang="en-IN"/>
          </a:p>
        </p:txBody>
      </p:sp>
      <p:sp>
        <p:nvSpPr>
          <p:cNvPr id="35" name="Shape 27"/>
          <p:cNvSpPr/>
          <p:nvPr/>
        </p:nvSpPr>
        <p:spPr>
          <a:xfrm>
            <a:off x="5422392" y="1808683"/>
            <a:ext cx="1298448" cy="402336"/>
          </a:xfrm>
          <a:prstGeom prst="roundRect">
            <a:avLst>
              <a:gd name="adj" fmla="val 13636"/>
            </a:avLst>
          </a:prstGeom>
          <a:solidFill>
            <a:srgbClr val="FFFFFF"/>
          </a:solidFill>
          <a:ln w="15875">
            <a:solidFill>
              <a:srgbClr val="1B6BC0"/>
            </a:solidFill>
            <a:prstDash val="solid"/>
          </a:ln>
        </p:spPr>
        <p:txBody>
          <a:bodyPr/>
          <a:lstStyle/>
          <a:p>
            <a:endParaRPr lang="en-IN"/>
          </a:p>
        </p:txBody>
      </p:sp>
      <p:sp>
        <p:nvSpPr>
          <p:cNvPr id="36" name="Text 28"/>
          <p:cNvSpPr txBox="1"/>
          <p:nvPr/>
        </p:nvSpPr>
        <p:spPr>
          <a:xfrm>
            <a:off x="5458968" y="1808683"/>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1B6BC0"/>
                </a:solidFill>
                <a:latin typeface="Trenda IG Text Semibold" pitchFamily="34" charset="0"/>
                <a:ea typeface="Trenda IG Text Semibold" pitchFamily="34" charset="-122"/>
                <a:cs typeface="Trenda IG Text Semibold" pitchFamily="34" charset="-120"/>
              </a:rPr>
              <a:t>Requirement</a:t>
            </a:r>
            <a:endParaRPr lang="en-US" sz="700" dirty="0"/>
          </a:p>
        </p:txBody>
      </p:sp>
      <p:sp>
        <p:nvSpPr>
          <p:cNvPr id="37" name="Shape 29"/>
          <p:cNvSpPr/>
          <p:nvPr/>
        </p:nvSpPr>
        <p:spPr>
          <a:xfrm flipV="1">
            <a:off x="6071616" y="2454250"/>
            <a:ext cx="1693385" cy="444398"/>
          </a:xfrm>
          <a:prstGeom prst="line">
            <a:avLst/>
          </a:prstGeom>
          <a:noFill/>
          <a:ln w="15875">
            <a:solidFill>
              <a:srgbClr val="C7D2DE"/>
            </a:solidFill>
            <a:prstDash val="solid"/>
          </a:ln>
        </p:spPr>
        <p:txBody>
          <a:bodyPr/>
          <a:lstStyle/>
          <a:p>
            <a:endParaRPr lang="en-IN"/>
          </a:p>
        </p:txBody>
      </p:sp>
      <p:sp>
        <p:nvSpPr>
          <p:cNvPr id="38" name="Shape 30"/>
          <p:cNvSpPr/>
          <p:nvPr/>
        </p:nvSpPr>
        <p:spPr>
          <a:xfrm>
            <a:off x="7115777" y="2253082"/>
            <a:ext cx="1298448" cy="402336"/>
          </a:xfrm>
          <a:prstGeom prst="roundRect">
            <a:avLst>
              <a:gd name="adj" fmla="val 13636"/>
            </a:avLst>
          </a:prstGeom>
          <a:solidFill>
            <a:srgbClr val="FFFFFF"/>
          </a:solidFill>
          <a:ln w="15875">
            <a:solidFill>
              <a:srgbClr val="0E8A7D"/>
            </a:solidFill>
            <a:prstDash val="solid"/>
          </a:ln>
        </p:spPr>
        <p:txBody>
          <a:bodyPr/>
          <a:lstStyle/>
          <a:p>
            <a:endParaRPr lang="en-IN"/>
          </a:p>
        </p:txBody>
      </p:sp>
      <p:sp>
        <p:nvSpPr>
          <p:cNvPr id="39" name="Text 31"/>
          <p:cNvSpPr txBox="1"/>
          <p:nvPr/>
        </p:nvSpPr>
        <p:spPr>
          <a:xfrm>
            <a:off x="7152353" y="2253082"/>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0E8A7D"/>
                </a:solidFill>
                <a:latin typeface="Trenda IG Text Semibold" pitchFamily="34" charset="0"/>
                <a:ea typeface="Trenda IG Text Semibold" pitchFamily="34" charset="-122"/>
                <a:cs typeface="Trenda IG Text Semibold" pitchFamily="34" charset="-120"/>
              </a:rPr>
              <a:t>Design &amp; rules</a:t>
            </a:r>
            <a:endParaRPr lang="en-US" sz="700" dirty="0"/>
          </a:p>
        </p:txBody>
      </p:sp>
      <p:sp>
        <p:nvSpPr>
          <p:cNvPr id="40" name="Shape 32"/>
          <p:cNvSpPr/>
          <p:nvPr/>
        </p:nvSpPr>
        <p:spPr>
          <a:xfrm>
            <a:off x="6071616" y="2898648"/>
            <a:ext cx="1693385" cy="444398"/>
          </a:xfrm>
          <a:prstGeom prst="line">
            <a:avLst/>
          </a:prstGeom>
          <a:noFill/>
          <a:ln w="15875">
            <a:solidFill>
              <a:srgbClr val="C7D2DE"/>
            </a:solidFill>
            <a:prstDash val="solid"/>
          </a:ln>
        </p:spPr>
        <p:txBody>
          <a:bodyPr/>
          <a:lstStyle/>
          <a:p>
            <a:endParaRPr lang="en-IN"/>
          </a:p>
        </p:txBody>
      </p:sp>
      <p:sp>
        <p:nvSpPr>
          <p:cNvPr id="41" name="Shape 33"/>
          <p:cNvSpPr/>
          <p:nvPr/>
        </p:nvSpPr>
        <p:spPr>
          <a:xfrm>
            <a:off x="7115777" y="3141878"/>
            <a:ext cx="1298448" cy="402336"/>
          </a:xfrm>
          <a:prstGeom prst="roundRect">
            <a:avLst>
              <a:gd name="adj" fmla="val 13636"/>
            </a:avLst>
          </a:prstGeom>
          <a:solidFill>
            <a:srgbClr val="FFFFFF"/>
          </a:solidFill>
          <a:ln w="15875">
            <a:solidFill>
              <a:srgbClr val="C2185B"/>
            </a:solidFill>
            <a:prstDash val="solid"/>
          </a:ln>
        </p:spPr>
        <p:txBody>
          <a:bodyPr/>
          <a:lstStyle/>
          <a:p>
            <a:endParaRPr lang="en-IN"/>
          </a:p>
        </p:txBody>
      </p:sp>
      <p:sp>
        <p:nvSpPr>
          <p:cNvPr id="42" name="Text 34"/>
          <p:cNvSpPr txBox="1"/>
          <p:nvPr/>
        </p:nvSpPr>
        <p:spPr>
          <a:xfrm>
            <a:off x="7152353" y="3141878"/>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C2185B"/>
                </a:solidFill>
                <a:latin typeface="Trenda IG Text Semibold" pitchFamily="34" charset="0"/>
                <a:ea typeface="Trenda IG Text Semibold" pitchFamily="34" charset="-122"/>
                <a:cs typeface="Trenda IG Text Semibold" pitchFamily="34" charset="-120"/>
              </a:rPr>
              <a:t>sObject + fields</a:t>
            </a:r>
            <a:endParaRPr lang="en-US" sz="700" dirty="0"/>
          </a:p>
        </p:txBody>
      </p:sp>
      <p:sp>
        <p:nvSpPr>
          <p:cNvPr id="43" name="Shape 35"/>
          <p:cNvSpPr/>
          <p:nvPr/>
        </p:nvSpPr>
        <p:spPr>
          <a:xfrm>
            <a:off x="6071616" y="2898648"/>
            <a:ext cx="0" cy="888797"/>
          </a:xfrm>
          <a:prstGeom prst="line">
            <a:avLst/>
          </a:prstGeom>
          <a:noFill/>
          <a:ln w="15875">
            <a:solidFill>
              <a:srgbClr val="C7D2DE"/>
            </a:solidFill>
            <a:prstDash val="solid"/>
          </a:ln>
        </p:spPr>
        <p:txBody>
          <a:bodyPr/>
          <a:lstStyle/>
          <a:p>
            <a:endParaRPr lang="en-IN"/>
          </a:p>
        </p:txBody>
      </p:sp>
      <p:sp>
        <p:nvSpPr>
          <p:cNvPr id="44" name="Shape 36"/>
          <p:cNvSpPr/>
          <p:nvPr/>
        </p:nvSpPr>
        <p:spPr>
          <a:xfrm>
            <a:off x="5422392" y="3586277"/>
            <a:ext cx="1298448" cy="402336"/>
          </a:xfrm>
          <a:prstGeom prst="roundRect">
            <a:avLst>
              <a:gd name="adj" fmla="val 13636"/>
            </a:avLst>
          </a:prstGeom>
          <a:solidFill>
            <a:srgbClr val="FFFFFF"/>
          </a:solidFill>
          <a:ln w="15875">
            <a:solidFill>
              <a:srgbClr val="C77400"/>
            </a:solidFill>
            <a:prstDash val="solid"/>
          </a:ln>
        </p:spPr>
        <p:txBody>
          <a:bodyPr/>
          <a:lstStyle/>
          <a:p>
            <a:endParaRPr lang="en-IN"/>
          </a:p>
        </p:txBody>
      </p:sp>
      <p:sp>
        <p:nvSpPr>
          <p:cNvPr id="45" name="Text 37"/>
          <p:cNvSpPr txBox="1"/>
          <p:nvPr/>
        </p:nvSpPr>
        <p:spPr>
          <a:xfrm>
            <a:off x="5458968" y="3586277"/>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C77400"/>
                </a:solidFill>
                <a:latin typeface="Trenda IG Text Semibold" pitchFamily="34" charset="0"/>
                <a:ea typeface="Trenda IG Text Semibold" pitchFamily="34" charset="-122"/>
                <a:cs typeface="Trenda IG Text Semibold" pitchFamily="34" charset="-120"/>
              </a:rPr>
              <a:t>Flow / Apex / VR</a:t>
            </a:r>
            <a:endParaRPr lang="en-US" sz="700" dirty="0"/>
          </a:p>
        </p:txBody>
      </p:sp>
      <p:sp>
        <p:nvSpPr>
          <p:cNvPr id="46" name="Shape 38"/>
          <p:cNvSpPr/>
          <p:nvPr/>
        </p:nvSpPr>
        <p:spPr>
          <a:xfrm flipH="1">
            <a:off x="4378231" y="2898648"/>
            <a:ext cx="1693385" cy="444398"/>
          </a:xfrm>
          <a:prstGeom prst="line">
            <a:avLst/>
          </a:prstGeom>
          <a:noFill/>
          <a:ln w="15875">
            <a:solidFill>
              <a:srgbClr val="C7D2DE"/>
            </a:solidFill>
            <a:prstDash val="solid"/>
          </a:ln>
        </p:spPr>
        <p:txBody>
          <a:bodyPr/>
          <a:lstStyle/>
          <a:p>
            <a:endParaRPr lang="en-IN"/>
          </a:p>
        </p:txBody>
      </p:sp>
      <p:sp>
        <p:nvSpPr>
          <p:cNvPr id="47" name="Shape 39"/>
          <p:cNvSpPr/>
          <p:nvPr/>
        </p:nvSpPr>
        <p:spPr>
          <a:xfrm>
            <a:off x="3729007" y="3141878"/>
            <a:ext cx="1298448" cy="402336"/>
          </a:xfrm>
          <a:prstGeom prst="roundRect">
            <a:avLst>
              <a:gd name="adj" fmla="val 13636"/>
            </a:avLst>
          </a:prstGeom>
          <a:solidFill>
            <a:srgbClr val="FFFFFF"/>
          </a:solidFill>
          <a:ln w="15875">
            <a:solidFill>
              <a:srgbClr val="2E7D32"/>
            </a:solidFill>
            <a:prstDash val="solid"/>
          </a:ln>
        </p:spPr>
        <p:txBody>
          <a:bodyPr/>
          <a:lstStyle/>
          <a:p>
            <a:endParaRPr lang="en-IN"/>
          </a:p>
        </p:txBody>
      </p:sp>
      <p:sp>
        <p:nvSpPr>
          <p:cNvPr id="48" name="Text 40"/>
          <p:cNvSpPr txBox="1"/>
          <p:nvPr/>
        </p:nvSpPr>
        <p:spPr>
          <a:xfrm>
            <a:off x="3765583" y="3141878"/>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2E7D32"/>
                </a:solidFill>
                <a:latin typeface="Trenda IG Text Semibold" pitchFamily="34" charset="0"/>
                <a:ea typeface="Trenda IG Text Semibold" pitchFamily="34" charset="-122"/>
                <a:cs typeface="Trenda IG Text Semibold" pitchFamily="34" charset="-120"/>
              </a:rPr>
              <a:t>Test, robotic</a:t>
            </a:r>
            <a:endParaRPr lang="en-US" sz="700" dirty="0"/>
          </a:p>
          <a:p>
            <a:pPr marL="0" indent="0" algn="ctr">
              <a:lnSpc>
                <a:spcPct val="90000"/>
              </a:lnSpc>
              <a:buNone/>
            </a:pPr>
            <a:r>
              <a:rPr lang="en-US" sz="700" b="0" dirty="0">
                <a:solidFill>
                  <a:srgbClr val="2E7D32"/>
                </a:solidFill>
                <a:latin typeface="Trenda IG Text Semibold" pitchFamily="34" charset="0"/>
                <a:ea typeface="Trenda IG Text Semibold" pitchFamily="34" charset="-122"/>
                <a:cs typeface="Trenda IG Text Semibold" pitchFamily="34" charset="-120"/>
              </a:rPr>
              <a:t>&amp; regression</a:t>
            </a:r>
            <a:endParaRPr lang="en-US" sz="700" dirty="0"/>
          </a:p>
        </p:txBody>
      </p:sp>
      <p:sp>
        <p:nvSpPr>
          <p:cNvPr id="49" name="Shape 41"/>
          <p:cNvSpPr/>
          <p:nvPr/>
        </p:nvSpPr>
        <p:spPr>
          <a:xfrm flipH="1" flipV="1">
            <a:off x="4378231" y="2454250"/>
            <a:ext cx="1693385" cy="444398"/>
          </a:xfrm>
          <a:prstGeom prst="line">
            <a:avLst/>
          </a:prstGeom>
          <a:noFill/>
          <a:ln w="15875">
            <a:solidFill>
              <a:srgbClr val="C7D2DE"/>
            </a:solidFill>
            <a:prstDash val="solid"/>
          </a:ln>
        </p:spPr>
        <p:txBody>
          <a:bodyPr/>
          <a:lstStyle/>
          <a:p>
            <a:endParaRPr lang="en-IN"/>
          </a:p>
        </p:txBody>
      </p:sp>
      <p:sp>
        <p:nvSpPr>
          <p:cNvPr id="50" name="Shape 42"/>
          <p:cNvSpPr/>
          <p:nvPr/>
        </p:nvSpPr>
        <p:spPr>
          <a:xfrm>
            <a:off x="3729007" y="2253082"/>
            <a:ext cx="1298448" cy="402336"/>
          </a:xfrm>
          <a:prstGeom prst="roundRect">
            <a:avLst>
              <a:gd name="adj" fmla="val 13636"/>
            </a:avLst>
          </a:prstGeom>
          <a:solidFill>
            <a:srgbClr val="FFFFFF"/>
          </a:solidFill>
          <a:ln w="15875">
            <a:solidFill>
              <a:srgbClr val="00757F"/>
            </a:solidFill>
            <a:prstDash val="solid"/>
          </a:ln>
        </p:spPr>
        <p:txBody>
          <a:bodyPr/>
          <a:lstStyle/>
          <a:p>
            <a:endParaRPr lang="en-IN"/>
          </a:p>
        </p:txBody>
      </p:sp>
      <p:sp>
        <p:nvSpPr>
          <p:cNvPr id="51" name="Text 43"/>
          <p:cNvSpPr txBox="1"/>
          <p:nvPr/>
        </p:nvSpPr>
        <p:spPr>
          <a:xfrm>
            <a:off x="3765583" y="2253082"/>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00757F"/>
                </a:solidFill>
                <a:latin typeface="Trenda IG Text Semibold" pitchFamily="34" charset="0"/>
                <a:ea typeface="Trenda IG Text Semibold" pitchFamily="34" charset="-122"/>
                <a:cs typeface="Trenda IG Text Semibold" pitchFamily="34" charset="-120"/>
              </a:rPr>
              <a:t>Release &amp; env</a:t>
            </a:r>
            <a:endParaRPr lang="en-US" sz="700" dirty="0"/>
          </a:p>
        </p:txBody>
      </p:sp>
      <p:sp>
        <p:nvSpPr>
          <p:cNvPr id="52" name="Shape 44"/>
          <p:cNvSpPr/>
          <p:nvPr/>
        </p:nvSpPr>
        <p:spPr>
          <a:xfrm>
            <a:off x="5321808" y="2514600"/>
            <a:ext cx="1499616" cy="768096"/>
          </a:xfrm>
          <a:prstGeom prst="ellipse">
            <a:avLst/>
          </a:prstGeom>
          <a:solidFill>
            <a:srgbClr val="C2185B"/>
          </a:solidFill>
          <a:ln w="12700">
            <a:solidFill>
              <a:srgbClr val="C2185B"/>
            </a:solidFill>
            <a:prstDash val="solid"/>
          </a:ln>
        </p:spPr>
        <p:txBody>
          <a:bodyPr/>
          <a:lstStyle/>
          <a:p>
            <a:endParaRPr lang="en-IN"/>
          </a:p>
        </p:txBody>
      </p:sp>
      <p:sp>
        <p:nvSpPr>
          <p:cNvPr id="53" name="Text 45"/>
          <p:cNvSpPr txBox="1"/>
          <p:nvPr/>
        </p:nvSpPr>
        <p:spPr>
          <a:xfrm>
            <a:off x="5358384" y="2551176"/>
            <a:ext cx="1426464" cy="694944"/>
          </a:xfrm>
          <a:prstGeom prst="rect">
            <a:avLst/>
          </a:prstGeom>
          <a:noFill/>
          <a:ln/>
        </p:spPr>
        <p:txBody>
          <a:bodyPr wrap="square" lIns="0" tIns="0" rIns="0" bIns="0" rtlCol="0" anchor="ctr"/>
          <a:lstStyle/>
          <a:p>
            <a:pPr marL="0" indent="0" algn="ctr">
              <a:lnSpc>
                <a:spcPct val="90000"/>
              </a:lnSpc>
              <a:buNone/>
            </a:pPr>
            <a:r>
              <a:rPr lang="en-US" sz="950" b="0" dirty="0">
                <a:solidFill>
                  <a:srgbClr val="FFFFFF"/>
                </a:solidFill>
                <a:latin typeface="Trenda IG Display Bold" pitchFamily="34" charset="0"/>
                <a:ea typeface="Trenda IG Display Bold" pitchFamily="34" charset="-122"/>
                <a:cs typeface="Trenda IG Display Bold" pitchFamily="34" charset="-120"/>
              </a:rPr>
              <a:t>Context</a:t>
            </a:r>
            <a:endParaRPr lang="en-US" sz="950" dirty="0"/>
          </a:p>
          <a:p>
            <a:pPr marL="0" indent="0" algn="ctr">
              <a:lnSpc>
                <a:spcPct val="90000"/>
              </a:lnSpc>
              <a:buNone/>
            </a:pPr>
            <a:r>
              <a:rPr lang="en-US" sz="950" b="0" dirty="0">
                <a:solidFill>
                  <a:srgbClr val="FFFFFF"/>
                </a:solidFill>
                <a:latin typeface="Trenda IG Display Bold" pitchFamily="34" charset="0"/>
                <a:ea typeface="Trenda IG Display Bold" pitchFamily="34" charset="-122"/>
                <a:cs typeface="Trenda IG Display Bold" pitchFamily="34" charset="-120"/>
              </a:rPr>
              <a:t>Graph</a:t>
            </a:r>
            <a:endParaRPr lang="en-US" sz="950" dirty="0"/>
          </a:p>
        </p:txBody>
      </p:sp>
      <p:sp>
        <p:nvSpPr>
          <p:cNvPr id="54" name="Text 46"/>
          <p:cNvSpPr txBox="1"/>
          <p:nvPr/>
        </p:nvSpPr>
        <p:spPr>
          <a:xfrm>
            <a:off x="3767328" y="4151376"/>
            <a:ext cx="4608576" cy="164592"/>
          </a:xfrm>
          <a:prstGeom prst="rect">
            <a:avLst/>
          </a:prstGeom>
          <a:noFill/>
          <a:ln/>
        </p:spPr>
        <p:txBody>
          <a:bodyPr wrap="square" lIns="0" tIns="0" rIns="0" bIns="0" rtlCol="0" anchor="ctr"/>
          <a:lstStyle/>
          <a:p>
            <a:pPr marL="0" indent="0" algn="ctr">
              <a:buNone/>
            </a:pPr>
            <a:r>
              <a:rPr lang="en-US" sz="800" b="0" dirty="0">
                <a:solidFill>
                  <a:srgbClr val="C2185B"/>
                </a:solidFill>
                <a:latin typeface="Trenda IG Text Semibold" pitchFamily="34" charset="0"/>
                <a:ea typeface="Trenda IG Text Semibold" pitchFamily="34" charset="-122"/>
                <a:cs typeface="Trenda IG Text Semibold" pitchFamily="34" charset="-120"/>
              </a:rPr>
              <a:t>Every edge is a fact, not a guess</a:t>
            </a:r>
            <a:endParaRPr lang="en-US" sz="800" dirty="0"/>
          </a:p>
        </p:txBody>
      </p:sp>
      <p:sp>
        <p:nvSpPr>
          <p:cNvPr id="55" name="Text 47"/>
          <p:cNvSpPr txBox="1"/>
          <p:nvPr/>
        </p:nvSpPr>
        <p:spPr>
          <a:xfrm>
            <a:off x="3803904" y="4352544"/>
            <a:ext cx="4535424" cy="841248"/>
          </a:xfrm>
          <a:prstGeom prst="rect">
            <a:avLst/>
          </a:prstGeom>
          <a:noFill/>
          <a:ln/>
        </p:spPr>
        <p:txBody>
          <a:bodyPr wrap="square" lIns="0" tIns="0" rIns="0" bIns="0" rtlCol="0" anchor="t"/>
          <a:lstStyle/>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REQUIREMENT_TARGETS_CAPABILITY  ·  SECTION_DEFINES_RULE</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RULE_CONSTRAINS_SOBJECT  ·  SOBJECT_HAS_FIELD</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FLOW_UPDATES_SOBJECT  ·  APEX_REFERENCES_SOBJECT</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TRIGGER_FIRES_ON_SOBJECT  ·  COMPONENT_DEPENDS_ON_COMPONENT</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TEST_COVERS_COMPONENT  ·  RELEASE_DEPLOYS_COMPONENT</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COMPONENT_PUBLISHES_EVENT (→ APDH)  ·  REQUIREMENT_REUSES_COMPONENT</a:t>
            </a:r>
            <a:endParaRPr lang="en-US" sz="700" dirty="0"/>
          </a:p>
        </p:txBody>
      </p:sp>
      <p:sp>
        <p:nvSpPr>
          <p:cNvPr id="56" name="Shape 48"/>
          <p:cNvSpPr/>
          <p:nvPr/>
        </p:nvSpPr>
        <p:spPr>
          <a:xfrm>
            <a:off x="3767328" y="5248656"/>
            <a:ext cx="4608576" cy="1097280"/>
          </a:xfrm>
          <a:prstGeom prst="roundRect">
            <a:avLst>
              <a:gd name="adj" fmla="val 4167"/>
            </a:avLst>
          </a:prstGeom>
          <a:solidFill>
            <a:srgbClr val="FBE9F0"/>
          </a:solidFill>
          <a:ln w="9525">
            <a:solidFill>
              <a:srgbClr val="C2185B"/>
            </a:solidFill>
            <a:prstDash val="solid"/>
          </a:ln>
        </p:spPr>
        <p:txBody>
          <a:bodyPr/>
          <a:lstStyle/>
          <a:p>
            <a:endParaRPr lang="en-IN"/>
          </a:p>
        </p:txBody>
      </p:sp>
      <p:sp>
        <p:nvSpPr>
          <p:cNvPr id="57" name="Text 49"/>
          <p:cNvSpPr txBox="1"/>
          <p:nvPr/>
        </p:nvSpPr>
        <p:spPr>
          <a:xfrm>
            <a:off x="3877056" y="5330952"/>
            <a:ext cx="4389120" cy="164592"/>
          </a:xfrm>
          <a:prstGeom prst="rect">
            <a:avLst/>
          </a:prstGeom>
          <a:noFill/>
          <a:ln/>
        </p:spPr>
        <p:txBody>
          <a:bodyPr wrap="square" lIns="0" tIns="0" rIns="0" bIns="0" rtlCol="0" anchor="ctr"/>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Why a graph and not a document store</a:t>
            </a:r>
            <a:endParaRPr lang="en-US" sz="800" dirty="0"/>
          </a:p>
        </p:txBody>
      </p:sp>
      <p:sp>
        <p:nvSpPr>
          <p:cNvPr id="58" name="Text 50"/>
          <p:cNvSpPr txBox="1"/>
          <p:nvPr/>
        </p:nvSpPr>
        <p:spPr>
          <a:xfrm>
            <a:off x="3877056" y="5532120"/>
            <a:ext cx="4389120" cy="749808"/>
          </a:xfrm>
          <a:prstGeom prst="rect">
            <a:avLst/>
          </a:prstGeom>
          <a:noFill/>
          <a:ln/>
        </p:spPr>
        <p:txBody>
          <a:bodyPr wrap="square" lIns="0" tIns="0" rIns="0" bIns="0" rtlCol="0" anchor="t"/>
          <a:lstStyle/>
          <a:p>
            <a:pPr marL="0" indent="0">
              <a:lnSpc>
                <a:spcPct val="100000"/>
              </a:lnSpc>
              <a:buNone/>
            </a:pPr>
            <a:r>
              <a:rPr lang="en-US" sz="750" dirty="0">
                <a:solidFill>
                  <a:srgbClr val="12233B"/>
                </a:solidFill>
                <a:latin typeface="Trenda IG Text" pitchFamily="34" charset="0"/>
                <a:ea typeface="Trenda IG Text" pitchFamily="34" charset="-122"/>
                <a:cs typeface="Trenda IG Text" pitchFamily="34" charset="-120"/>
              </a:rPr>
              <a:t>A search tool finds documents that mention HFN. The graph knows which Flow writes HFN,</a:t>
            </a:r>
            <a:endParaRPr lang="en-US" sz="750" dirty="0"/>
          </a:p>
          <a:p>
            <a:pPr marL="0" indent="0">
              <a:lnSpc>
                <a:spcPct val="100000"/>
              </a:lnSpc>
              <a:buNone/>
            </a:pPr>
            <a:r>
              <a:rPr lang="en-US" sz="750" dirty="0">
                <a:solidFill>
                  <a:srgbClr val="12233B"/>
                </a:solidFill>
                <a:latin typeface="Trenda IG Text" pitchFamily="34" charset="0"/>
                <a:ea typeface="Trenda IG Text" pitchFamily="34" charset="-122"/>
                <a:cs typeface="Trenda IG Text" pitchFamily="34" charset="-120"/>
              </a:rPr>
              <a:t>which rule constrains it, which test covers it and which release shipped it.</a:t>
            </a:r>
            <a:endParaRPr lang="en-US" sz="750" dirty="0"/>
          </a:p>
          <a:p>
            <a:pPr marL="0" indent="0">
              <a:lnSpc>
                <a:spcPct val="100000"/>
              </a:lnSpc>
              <a:buNone/>
            </a:pPr>
            <a:r>
              <a:rPr lang="en-US" sz="750" dirty="0">
                <a:solidFill>
                  <a:srgbClr val="12233B"/>
                </a:solidFill>
                <a:latin typeface="Trenda IG Text" pitchFamily="34" charset="0"/>
                <a:ea typeface="Trenda IG Text" pitchFamily="34" charset="-122"/>
                <a:cs typeface="Trenda IG Text" pitchFamily="34" charset="-120"/>
              </a:rPr>
              <a:t>Impact, reuse and risk are traversals, answered structurally, not guessed by a model.</a:t>
            </a:r>
            <a:endParaRPr lang="en-US" sz="750" dirty="0"/>
          </a:p>
        </p:txBody>
      </p:sp>
      <p:sp>
        <p:nvSpPr>
          <p:cNvPr id="59" name="Shape 51"/>
          <p:cNvSpPr/>
          <p:nvPr/>
        </p:nvSpPr>
        <p:spPr>
          <a:xfrm>
            <a:off x="8759952" y="1024128"/>
            <a:ext cx="3063240" cy="5440680"/>
          </a:xfrm>
          <a:prstGeom prst="roundRect">
            <a:avLst>
              <a:gd name="adj" fmla="val 1493"/>
            </a:avLst>
          </a:prstGeom>
          <a:solidFill>
            <a:srgbClr val="E3F2F4"/>
          </a:solidFill>
          <a:ln w="9525">
            <a:solidFill>
              <a:srgbClr val="DCE4EE"/>
            </a:solidFill>
            <a:prstDash val="solid"/>
          </a:ln>
        </p:spPr>
        <p:txBody>
          <a:bodyPr/>
          <a:lstStyle/>
          <a:p>
            <a:endParaRPr lang="en-IN"/>
          </a:p>
        </p:txBody>
      </p:sp>
      <p:sp>
        <p:nvSpPr>
          <p:cNvPr id="60" name="Shape 52"/>
          <p:cNvSpPr/>
          <p:nvPr/>
        </p:nvSpPr>
        <p:spPr>
          <a:xfrm>
            <a:off x="8759952" y="1024128"/>
            <a:ext cx="3063240" cy="365760"/>
          </a:xfrm>
          <a:prstGeom prst="roundRect">
            <a:avLst>
              <a:gd name="adj" fmla="val 12500"/>
            </a:avLst>
          </a:prstGeom>
          <a:solidFill>
            <a:srgbClr val="00757F"/>
          </a:solidFill>
          <a:ln w="12700">
            <a:solidFill>
              <a:srgbClr val="00757F"/>
            </a:solidFill>
            <a:prstDash val="solid"/>
          </a:ln>
        </p:spPr>
        <p:txBody>
          <a:bodyPr/>
          <a:lstStyle/>
          <a:p>
            <a:endParaRPr lang="en-IN"/>
          </a:p>
        </p:txBody>
      </p:sp>
      <p:sp>
        <p:nvSpPr>
          <p:cNvPr id="61" name="Text 53"/>
          <p:cNvSpPr txBox="1"/>
          <p:nvPr/>
        </p:nvSpPr>
        <p:spPr>
          <a:xfrm>
            <a:off x="8759952" y="1024128"/>
            <a:ext cx="3063240" cy="365760"/>
          </a:xfrm>
          <a:prstGeom prst="rect">
            <a:avLst/>
          </a:prstGeom>
          <a:noFill/>
          <a:ln/>
        </p:spPr>
        <p:txBody>
          <a:bodyPr wrap="square" lIns="0" tIns="0" rIns="0" bIns="0" rtlCol="0" anchor="ctr"/>
          <a:lstStyle/>
          <a:p>
            <a:pPr marL="0" indent="0" algn="ctr">
              <a:buNone/>
            </a:pPr>
            <a:r>
              <a:rPr lang="en-US" sz="950" b="0" dirty="0">
                <a:solidFill>
                  <a:srgbClr val="FFFFFF"/>
                </a:solidFill>
                <a:latin typeface="Trenda IG Display Bold" pitchFamily="34" charset="0"/>
                <a:ea typeface="Trenda IG Display Bold" pitchFamily="34" charset="-122"/>
                <a:cs typeface="Trenda IG Display Bold" pitchFamily="34" charset="-120"/>
              </a:rPr>
              <a:t>How Codex uses it</a:t>
            </a:r>
            <a:endParaRPr lang="en-US" sz="950" dirty="0"/>
          </a:p>
        </p:txBody>
      </p:sp>
      <p:sp>
        <p:nvSpPr>
          <p:cNvPr id="62" name="Shape 54"/>
          <p:cNvSpPr/>
          <p:nvPr/>
        </p:nvSpPr>
        <p:spPr>
          <a:xfrm>
            <a:off x="8851392" y="1499616"/>
            <a:ext cx="2880360" cy="1170432"/>
          </a:xfrm>
          <a:prstGeom prst="roundRect">
            <a:avLst>
              <a:gd name="adj" fmla="val 3125"/>
            </a:avLst>
          </a:prstGeom>
          <a:solidFill>
            <a:srgbClr val="FFFFFF"/>
          </a:solidFill>
          <a:ln w="9525">
            <a:solidFill>
              <a:srgbClr val="DCE4EE"/>
            </a:solidFill>
            <a:prstDash val="solid"/>
          </a:ln>
        </p:spPr>
        <p:txBody>
          <a:bodyPr/>
          <a:lstStyle/>
          <a:p>
            <a:endParaRPr lang="en-IN"/>
          </a:p>
        </p:txBody>
      </p:sp>
      <p:sp>
        <p:nvSpPr>
          <p:cNvPr id="63" name="Text 55"/>
          <p:cNvSpPr txBox="1"/>
          <p:nvPr/>
        </p:nvSpPr>
        <p:spPr>
          <a:xfrm>
            <a:off x="8961120" y="1572768"/>
            <a:ext cx="2660904" cy="164592"/>
          </a:xfrm>
          <a:prstGeom prst="rect">
            <a:avLst/>
          </a:prstGeom>
          <a:noFill/>
          <a:ln/>
        </p:spPr>
        <p:txBody>
          <a:bodyPr wrap="square" lIns="0" tIns="0" rIns="0" bIns="0" rtlCol="0" anchor="ctr"/>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Ask the adapter</a:t>
            </a:r>
            <a:endParaRPr lang="en-US" sz="800" dirty="0"/>
          </a:p>
        </p:txBody>
      </p:sp>
      <p:sp>
        <p:nvSpPr>
          <p:cNvPr id="64" name="Text 56"/>
          <p:cNvSpPr txBox="1"/>
          <p:nvPr/>
        </p:nvSpPr>
        <p:spPr>
          <a:xfrm>
            <a:off x="8961120" y="1764792"/>
            <a:ext cx="2660904" cy="841248"/>
          </a:xfrm>
          <a:prstGeom prst="rect">
            <a:avLst/>
          </a:prstGeom>
          <a:noFill/>
          <a:ln/>
        </p:spPr>
        <p:txBody>
          <a:bodyPr wrap="square" lIns="0" tIns="0" rIns="0" bIns="0" rtlCol="0" anchor="t"/>
          <a:lstStyle/>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analyze_impact("req:NS-1234")</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find_reuse("cap:network-participation")</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blast_radius("sobj:HPF__c", hops=3)</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trace_downstream_events("apex:HFNGen")</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get_provenance("rule:hfn-active-hpf")</a:t>
            </a:r>
            <a:endParaRPr lang="en-US" sz="640" dirty="0"/>
          </a:p>
        </p:txBody>
      </p:sp>
      <p:sp>
        <p:nvSpPr>
          <p:cNvPr id="65" name="Shape 57"/>
          <p:cNvSpPr/>
          <p:nvPr/>
        </p:nvSpPr>
        <p:spPr>
          <a:xfrm>
            <a:off x="8851392" y="2761488"/>
            <a:ext cx="2880360" cy="1481328"/>
          </a:xfrm>
          <a:prstGeom prst="roundRect">
            <a:avLst>
              <a:gd name="adj" fmla="val 2469"/>
            </a:avLst>
          </a:prstGeom>
          <a:solidFill>
            <a:srgbClr val="FFFFFF"/>
          </a:solidFill>
          <a:ln w="9525">
            <a:solidFill>
              <a:srgbClr val="DCE4EE"/>
            </a:solidFill>
            <a:prstDash val="solid"/>
          </a:ln>
        </p:spPr>
        <p:txBody>
          <a:bodyPr/>
          <a:lstStyle/>
          <a:p>
            <a:endParaRPr lang="en-IN"/>
          </a:p>
        </p:txBody>
      </p:sp>
      <p:sp>
        <p:nvSpPr>
          <p:cNvPr id="66" name="Text 58"/>
          <p:cNvSpPr txBox="1"/>
          <p:nvPr/>
        </p:nvSpPr>
        <p:spPr>
          <a:xfrm>
            <a:off x="8961120" y="2834640"/>
            <a:ext cx="2660904" cy="164592"/>
          </a:xfrm>
          <a:prstGeom prst="rect">
            <a:avLst/>
          </a:prstGeom>
          <a:noFill/>
          <a:ln/>
        </p:spPr>
        <p:txBody>
          <a:bodyPr wrap="square" lIns="0" tIns="0" rIns="0" bIns="0" rtlCol="0" anchor="ctr"/>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Get back verified facts</a:t>
            </a:r>
            <a:endParaRPr lang="en-US" sz="800" dirty="0"/>
          </a:p>
        </p:txBody>
      </p:sp>
      <p:sp>
        <p:nvSpPr>
          <p:cNvPr id="67" name="Text 59"/>
          <p:cNvSpPr txBox="1"/>
          <p:nvPr/>
        </p:nvSpPr>
        <p:spPr>
          <a:xfrm>
            <a:off x="8961120" y="3026664"/>
            <a:ext cx="2660904" cy="1152144"/>
          </a:xfrm>
          <a:prstGeom prst="rect">
            <a:avLst/>
          </a:prstGeom>
          <a:noFill/>
          <a:ln/>
        </p:spPr>
        <p:txBody>
          <a:bodyPr wrap="square" lIns="0" tIns="0" rIns="0" bIns="0" rtlCol="0" anchor="t"/>
          <a:lstStyle/>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Business capability affected</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Objects, fields and automation touched</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Existing implementation to reuse</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Covering robotic &amp; regression tests</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Downstream APDH publishing impact</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Risk tier and the approver it routes to</a:t>
            </a:r>
            <a:endParaRPr lang="en-US" sz="720" dirty="0"/>
          </a:p>
        </p:txBody>
      </p:sp>
      <p:sp>
        <p:nvSpPr>
          <p:cNvPr id="68" name="Shape 60"/>
          <p:cNvSpPr/>
          <p:nvPr/>
        </p:nvSpPr>
        <p:spPr>
          <a:xfrm>
            <a:off x="8851392" y="4334256"/>
            <a:ext cx="2880360" cy="1078992"/>
          </a:xfrm>
          <a:prstGeom prst="roundRect">
            <a:avLst>
              <a:gd name="adj" fmla="val 3390"/>
            </a:avLst>
          </a:prstGeom>
          <a:solidFill>
            <a:srgbClr val="FFFFFF"/>
          </a:solidFill>
          <a:ln w="9525">
            <a:solidFill>
              <a:srgbClr val="DCE4EE"/>
            </a:solidFill>
            <a:prstDash val="solid"/>
          </a:ln>
        </p:spPr>
        <p:txBody>
          <a:bodyPr/>
          <a:lstStyle/>
          <a:p>
            <a:endParaRPr lang="en-IN"/>
          </a:p>
        </p:txBody>
      </p:sp>
      <p:sp>
        <p:nvSpPr>
          <p:cNvPr id="69" name="Text 61"/>
          <p:cNvSpPr txBox="1"/>
          <p:nvPr/>
        </p:nvSpPr>
        <p:spPr>
          <a:xfrm>
            <a:off x="8961120" y="4407408"/>
            <a:ext cx="2660904" cy="164592"/>
          </a:xfrm>
          <a:prstGeom prst="rect">
            <a:avLst/>
          </a:prstGeom>
          <a:noFill/>
          <a:ln/>
        </p:spPr>
        <p:txBody>
          <a:bodyPr wrap="square" lIns="0" tIns="0" rIns="0" bIns="0" rtlCol="0" anchor="ctr"/>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Then Codex writes</a:t>
            </a:r>
            <a:endParaRPr lang="en-US" sz="800" dirty="0"/>
          </a:p>
        </p:txBody>
      </p:sp>
      <p:sp>
        <p:nvSpPr>
          <p:cNvPr id="70" name="Text 62"/>
          <p:cNvSpPr txBox="1"/>
          <p:nvPr/>
        </p:nvSpPr>
        <p:spPr>
          <a:xfrm>
            <a:off x="8961120" y="4599432"/>
            <a:ext cx="2660904" cy="749808"/>
          </a:xfrm>
          <a:prstGeom prst="rect">
            <a:avLst/>
          </a:prstGeom>
          <a:noFill/>
          <a:ln/>
        </p:spPr>
        <p:txBody>
          <a:bodyPr wrap="square" lIns="0" tIns="0" rIns="0" bIns="0" rtlCol="0" anchor="t"/>
          <a:lstStyle/>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Apex, Flows, validation rules, metadata</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LWC config and tests</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Modifies existing when valid, never duplicates</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DEV + branch only, after human approval</a:t>
            </a:r>
            <a:endParaRPr lang="en-US" sz="720" dirty="0"/>
          </a:p>
        </p:txBody>
      </p:sp>
      <p:sp>
        <p:nvSpPr>
          <p:cNvPr id="71" name="Shape 63"/>
          <p:cNvSpPr/>
          <p:nvPr/>
        </p:nvSpPr>
        <p:spPr>
          <a:xfrm>
            <a:off x="8851392" y="5504688"/>
            <a:ext cx="2880360" cy="795528"/>
          </a:xfrm>
          <a:prstGeom prst="roundRect">
            <a:avLst>
              <a:gd name="adj" fmla="val 4598"/>
            </a:avLst>
          </a:prstGeom>
          <a:solidFill>
            <a:srgbClr val="00757F"/>
          </a:solidFill>
          <a:ln w="12700">
            <a:solidFill>
              <a:srgbClr val="00757F"/>
            </a:solidFill>
            <a:prstDash val="solid"/>
          </a:ln>
        </p:spPr>
        <p:txBody>
          <a:bodyPr/>
          <a:lstStyle/>
          <a:p>
            <a:endParaRPr lang="en-IN"/>
          </a:p>
        </p:txBody>
      </p:sp>
      <p:sp>
        <p:nvSpPr>
          <p:cNvPr id="72" name="Text 64"/>
          <p:cNvSpPr txBox="1"/>
          <p:nvPr/>
        </p:nvSpPr>
        <p:spPr>
          <a:xfrm>
            <a:off x="8961120" y="5577840"/>
            <a:ext cx="2660904" cy="164592"/>
          </a:xfrm>
          <a:prstGeom prst="rect">
            <a:avLst/>
          </a:prstGeom>
          <a:noFill/>
          <a:ln/>
        </p:spPr>
        <p:txBody>
          <a:bodyPr wrap="square" lIns="0" tIns="0" rIns="0" bIns="0" rtlCol="0" anchor="ctr"/>
          <a:lstStyle/>
          <a:p>
            <a:pPr marL="0" indent="0">
              <a:buNone/>
            </a:pPr>
            <a:r>
              <a:rPr lang="en-US" sz="850" b="0" dirty="0">
                <a:solidFill>
                  <a:srgbClr val="FFFFFF"/>
                </a:solidFill>
                <a:latin typeface="Trenda IG Text Semibold" pitchFamily="34" charset="0"/>
                <a:ea typeface="Trenda IG Text Semibold" pitchFamily="34" charset="-122"/>
                <a:cs typeface="Trenda IG Text Semibold" pitchFamily="34" charset="-120"/>
              </a:rPr>
              <a:t>Retrieval without guesswork</a:t>
            </a:r>
            <a:endParaRPr lang="en-US" sz="850" dirty="0"/>
          </a:p>
        </p:txBody>
      </p:sp>
      <p:sp>
        <p:nvSpPr>
          <p:cNvPr id="73" name="Text 65"/>
          <p:cNvSpPr txBox="1"/>
          <p:nvPr/>
        </p:nvSpPr>
        <p:spPr>
          <a:xfrm>
            <a:off x="8961120" y="5760720"/>
            <a:ext cx="2660904" cy="493776"/>
          </a:xfrm>
          <a:prstGeom prst="rect">
            <a:avLst/>
          </a:prstGeom>
          <a:noFill/>
          <a:ln/>
        </p:spPr>
        <p:txBody>
          <a:bodyPr wrap="square" lIns="0" tIns="0" rIns="0" bIns="0" rtlCol="0" anchor="t"/>
          <a:lstStyle/>
          <a:p>
            <a:pPr marL="0" indent="0">
              <a:lnSpc>
                <a:spcPct val="98000"/>
              </a:lnSpc>
              <a:buNone/>
            </a:pPr>
            <a:r>
              <a:rPr lang="en-US" sz="700" dirty="0">
                <a:solidFill>
                  <a:srgbClr val="FFFFFF"/>
                </a:solidFill>
                <a:latin typeface="Trenda IG Text" pitchFamily="34" charset="0"/>
                <a:ea typeface="Trenda IG Text" pitchFamily="34" charset="-122"/>
                <a:cs typeface="Trenda IG Text" pitchFamily="34" charset="-120"/>
              </a:rPr>
              <a:t>Traversals run in the graph, not in the model. Codex reads only the slice it is handed, so answers are fast, repeatable and predictable at scale.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Where it runs · Google Cloud</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The knowledge graph deploys into the client's existing Google Cloud estate, alongside the Pub/Sub pipeline that already feeds APDH.</a:t>
            </a:r>
            <a:endParaRPr lang="en-US" sz="950" dirty="0"/>
          </a:p>
        </p:txBody>
      </p:sp>
      <p:sp>
        <p:nvSpPr>
          <p:cNvPr id="4" name="Shape 2"/>
          <p:cNvSpPr/>
          <p:nvPr/>
        </p:nvSpPr>
        <p:spPr>
          <a:xfrm>
            <a:off x="365760" y="1024128"/>
            <a:ext cx="3660648" cy="5440680"/>
          </a:xfrm>
          <a:prstGeom prst="roundRect">
            <a:avLst>
              <a:gd name="adj" fmla="val 1249"/>
            </a:avLst>
          </a:prstGeom>
          <a:solidFill>
            <a:srgbClr val="E3F2F4"/>
          </a:solidFill>
          <a:ln w="9525">
            <a:solidFill>
              <a:srgbClr val="DCE4EE"/>
            </a:solidFill>
            <a:prstDash val="solid"/>
          </a:ln>
        </p:spPr>
        <p:txBody>
          <a:bodyPr/>
          <a:lstStyle/>
          <a:p>
            <a:endParaRPr lang="en-IN"/>
          </a:p>
        </p:txBody>
      </p:sp>
      <p:sp>
        <p:nvSpPr>
          <p:cNvPr id="5" name="Shape 3"/>
          <p:cNvSpPr/>
          <p:nvPr/>
        </p:nvSpPr>
        <p:spPr>
          <a:xfrm>
            <a:off x="365760" y="1024128"/>
            <a:ext cx="3660648" cy="365760"/>
          </a:xfrm>
          <a:prstGeom prst="roundRect">
            <a:avLst>
              <a:gd name="adj" fmla="val 12500"/>
            </a:avLst>
          </a:prstGeom>
          <a:solidFill>
            <a:srgbClr val="00757F"/>
          </a:solidFill>
          <a:ln w="12700">
            <a:solidFill>
              <a:srgbClr val="00757F"/>
            </a:solidFill>
            <a:prstDash val="solid"/>
          </a:ln>
        </p:spPr>
        <p:txBody>
          <a:bodyPr/>
          <a:lstStyle/>
          <a:p>
            <a:endParaRPr lang="en-IN"/>
          </a:p>
        </p:txBody>
      </p:sp>
      <p:sp>
        <p:nvSpPr>
          <p:cNvPr id="6" name="Text 4"/>
          <p:cNvSpPr txBox="1"/>
          <p:nvPr/>
        </p:nvSpPr>
        <p:spPr>
          <a:xfrm>
            <a:off x="420624"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How it deploys on Google Cloud</a:t>
            </a:r>
            <a:endParaRPr lang="en-US" sz="900" dirty="0"/>
          </a:p>
        </p:txBody>
      </p:sp>
      <p:sp>
        <p:nvSpPr>
          <p:cNvPr id="7" name="Shape 5"/>
          <p:cNvSpPr/>
          <p:nvPr/>
        </p:nvSpPr>
        <p:spPr>
          <a:xfrm>
            <a:off x="438912" y="1463040"/>
            <a:ext cx="3514344" cy="934927"/>
          </a:xfrm>
          <a:prstGeom prst="roundRect">
            <a:avLst>
              <a:gd name="adj" fmla="val 3912"/>
            </a:avLst>
          </a:prstGeom>
          <a:solidFill>
            <a:srgbClr val="FFFFFF"/>
          </a:solidFill>
          <a:ln w="9525">
            <a:solidFill>
              <a:srgbClr val="DCE4EE"/>
            </a:solidFill>
            <a:prstDash val="solid"/>
          </a:ln>
        </p:spPr>
        <p:txBody>
          <a:bodyPr/>
          <a:lstStyle/>
          <a:p>
            <a:endParaRPr lang="en-IN"/>
          </a:p>
        </p:txBody>
      </p:sp>
      <p:sp>
        <p:nvSpPr>
          <p:cNvPr id="8" name="Text 6"/>
          <p:cNvSpPr txBox="1"/>
          <p:nvPr/>
        </p:nvSpPr>
        <p:spPr>
          <a:xfrm>
            <a:off x="493776" y="1517904"/>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Ingestion</a:t>
            </a:r>
            <a:endParaRPr lang="en-US" sz="800" dirty="0"/>
          </a:p>
        </p:txBody>
      </p:sp>
      <p:sp>
        <p:nvSpPr>
          <p:cNvPr id="9" name="Text 7"/>
          <p:cNvSpPr txBox="1"/>
          <p:nvPr/>
        </p:nvSpPr>
        <p:spPr>
          <a:xfrm>
            <a:off x="493776" y="1709928"/>
            <a:ext cx="3404616" cy="63317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Run jobs run the six connectors and ingestors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Scheduler triggers each sync on a fixed cadence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Each job writes a SourceArtifact with its SHA-256</a:t>
            </a:r>
            <a:endParaRPr lang="en-US" sz="750" dirty="0"/>
          </a:p>
        </p:txBody>
      </p:sp>
      <p:sp>
        <p:nvSpPr>
          <p:cNvPr id="10" name="Shape 8"/>
          <p:cNvSpPr/>
          <p:nvPr/>
        </p:nvSpPr>
        <p:spPr>
          <a:xfrm>
            <a:off x="438912" y="2489407"/>
            <a:ext cx="3514344" cy="934927"/>
          </a:xfrm>
          <a:prstGeom prst="roundRect">
            <a:avLst>
              <a:gd name="adj" fmla="val 3912"/>
            </a:avLst>
          </a:prstGeom>
          <a:solidFill>
            <a:srgbClr val="FFFFFF"/>
          </a:solidFill>
          <a:ln w="9525">
            <a:solidFill>
              <a:srgbClr val="DCE4EE"/>
            </a:solidFill>
            <a:prstDash val="solid"/>
          </a:ln>
        </p:spPr>
        <p:txBody>
          <a:bodyPr/>
          <a:lstStyle/>
          <a:p>
            <a:endParaRPr lang="en-IN"/>
          </a:p>
        </p:txBody>
      </p:sp>
      <p:sp>
        <p:nvSpPr>
          <p:cNvPr id="11" name="Text 9"/>
          <p:cNvSpPr txBox="1"/>
          <p:nvPr/>
        </p:nvSpPr>
        <p:spPr>
          <a:xfrm>
            <a:off x="493776" y="2544271"/>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Graph service</a:t>
            </a:r>
            <a:endParaRPr lang="en-US" sz="800" dirty="0"/>
          </a:p>
        </p:txBody>
      </p:sp>
      <p:sp>
        <p:nvSpPr>
          <p:cNvPr id="12" name="Text 10"/>
          <p:cNvSpPr txBox="1"/>
          <p:nvPr/>
        </p:nvSpPr>
        <p:spPr>
          <a:xfrm>
            <a:off x="493776" y="2736295"/>
            <a:ext cx="3404616" cy="63317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Semantica ContextGraph and the adapter API run as a Cloud Run service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Private ingress only, reached through internal networking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Scales to zero between syncs and queries</a:t>
            </a:r>
            <a:endParaRPr lang="en-US" sz="750" dirty="0"/>
          </a:p>
        </p:txBody>
      </p:sp>
      <p:sp>
        <p:nvSpPr>
          <p:cNvPr id="13" name="Shape 11"/>
          <p:cNvSpPr/>
          <p:nvPr/>
        </p:nvSpPr>
        <p:spPr>
          <a:xfrm>
            <a:off x="438912" y="3515775"/>
            <a:ext cx="3514344" cy="934927"/>
          </a:xfrm>
          <a:prstGeom prst="roundRect">
            <a:avLst>
              <a:gd name="adj" fmla="val 3912"/>
            </a:avLst>
          </a:prstGeom>
          <a:solidFill>
            <a:srgbClr val="FFFFFF"/>
          </a:solidFill>
          <a:ln w="9525">
            <a:solidFill>
              <a:srgbClr val="DCE4EE"/>
            </a:solidFill>
            <a:prstDash val="solid"/>
          </a:ln>
        </p:spPr>
        <p:txBody>
          <a:bodyPr/>
          <a:lstStyle/>
          <a:p>
            <a:endParaRPr lang="en-IN"/>
          </a:p>
        </p:txBody>
      </p:sp>
      <p:sp>
        <p:nvSpPr>
          <p:cNvPr id="14" name="Text 12"/>
          <p:cNvSpPr txBox="1"/>
          <p:nvPr/>
        </p:nvSpPr>
        <p:spPr>
          <a:xfrm>
            <a:off x="493776" y="3570639"/>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Storage and secrets</a:t>
            </a:r>
            <a:endParaRPr lang="en-US" sz="800" dirty="0"/>
          </a:p>
        </p:txBody>
      </p:sp>
      <p:sp>
        <p:nvSpPr>
          <p:cNvPr id="15" name="Text 13"/>
          <p:cNvSpPr txBox="1"/>
          <p:nvPr/>
        </p:nvSpPr>
        <p:spPr>
          <a:xfrm>
            <a:off x="493776" y="3762663"/>
            <a:ext cx="3404616" cy="63317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Storage holds the versioned graph snapshot, encrypted with CMEK</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Object versioning keeps prior snapshots for diffing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Secret Manager holds PATs, the JWT signing key and service-account keys</a:t>
            </a:r>
            <a:endParaRPr lang="en-US" sz="750" dirty="0"/>
          </a:p>
        </p:txBody>
      </p:sp>
      <p:sp>
        <p:nvSpPr>
          <p:cNvPr id="16" name="Shape 14"/>
          <p:cNvSpPr/>
          <p:nvPr/>
        </p:nvSpPr>
        <p:spPr>
          <a:xfrm>
            <a:off x="438912" y="4542142"/>
            <a:ext cx="3514344" cy="981674"/>
          </a:xfrm>
          <a:prstGeom prst="roundRect">
            <a:avLst>
              <a:gd name="adj" fmla="val 3726"/>
            </a:avLst>
          </a:prstGeom>
          <a:solidFill>
            <a:srgbClr val="FFFFFF"/>
          </a:solidFill>
          <a:ln w="9525">
            <a:solidFill>
              <a:srgbClr val="DCE4EE"/>
            </a:solidFill>
            <a:prstDash val="solid"/>
          </a:ln>
        </p:spPr>
        <p:txBody>
          <a:bodyPr/>
          <a:lstStyle/>
          <a:p>
            <a:endParaRPr lang="en-IN"/>
          </a:p>
        </p:txBody>
      </p:sp>
      <p:sp>
        <p:nvSpPr>
          <p:cNvPr id="17" name="Text 15"/>
          <p:cNvSpPr txBox="1"/>
          <p:nvPr/>
        </p:nvSpPr>
        <p:spPr>
          <a:xfrm>
            <a:off x="493776" y="4597006"/>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Identity and audit</a:t>
            </a:r>
            <a:endParaRPr lang="en-US" sz="800" dirty="0"/>
          </a:p>
        </p:txBody>
      </p:sp>
      <p:sp>
        <p:nvSpPr>
          <p:cNvPr id="18" name="Text 16"/>
          <p:cNvSpPr txBox="1"/>
          <p:nvPr/>
        </p:nvSpPr>
        <p:spPr>
          <a:xfrm>
            <a:off x="493776" y="4789030"/>
            <a:ext cx="3404616" cy="6799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Three IAM service accounts map to the three AI identities, least privilege each</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BigQuery holds the AI Audit Store, queryable evidence per action</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Logging and Monitoring cover sync health and access</a:t>
            </a:r>
            <a:endParaRPr lang="en-US" sz="750" dirty="0"/>
          </a:p>
        </p:txBody>
      </p:sp>
      <p:sp>
        <p:nvSpPr>
          <p:cNvPr id="19" name="Shape 17"/>
          <p:cNvSpPr/>
          <p:nvPr/>
        </p:nvSpPr>
        <p:spPr>
          <a:xfrm>
            <a:off x="438912" y="5615256"/>
            <a:ext cx="3514344" cy="794688"/>
          </a:xfrm>
          <a:prstGeom prst="roundRect">
            <a:avLst>
              <a:gd name="adj" fmla="val 4603"/>
            </a:avLst>
          </a:prstGeom>
          <a:solidFill>
            <a:srgbClr val="FFFFFF"/>
          </a:solidFill>
          <a:ln w="9525">
            <a:solidFill>
              <a:srgbClr val="DCE4EE"/>
            </a:solidFill>
            <a:prstDash val="solid"/>
          </a:ln>
        </p:spPr>
        <p:txBody>
          <a:bodyPr/>
          <a:lstStyle/>
          <a:p>
            <a:endParaRPr lang="en-IN"/>
          </a:p>
        </p:txBody>
      </p:sp>
      <p:sp>
        <p:nvSpPr>
          <p:cNvPr id="20" name="Text 18"/>
          <p:cNvSpPr txBox="1"/>
          <p:nvPr/>
        </p:nvSpPr>
        <p:spPr>
          <a:xfrm>
            <a:off x="493776" y="5670120"/>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Networking</a:t>
            </a:r>
            <a:endParaRPr lang="en-US" sz="800" dirty="0"/>
          </a:p>
        </p:txBody>
      </p:sp>
      <p:sp>
        <p:nvSpPr>
          <p:cNvPr id="21" name="Text 19"/>
          <p:cNvSpPr txBox="1"/>
          <p:nvPr/>
        </p:nvSpPr>
        <p:spPr>
          <a:xfrm>
            <a:off x="493776" y="5862144"/>
            <a:ext cx="3404616" cy="49293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VPC Service Controls keep the graph inside the perimeter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 public egress; existing Pub/Sub path to APDH is untouched</a:t>
            </a:r>
            <a:endParaRPr lang="en-US" sz="750" dirty="0"/>
          </a:p>
        </p:txBody>
      </p:sp>
      <p:sp>
        <p:nvSpPr>
          <p:cNvPr id="22" name="Shape 20"/>
          <p:cNvSpPr/>
          <p:nvPr/>
        </p:nvSpPr>
        <p:spPr>
          <a:xfrm>
            <a:off x="4264152" y="1024128"/>
            <a:ext cx="3660648" cy="5440680"/>
          </a:xfrm>
          <a:prstGeom prst="roundRect">
            <a:avLst>
              <a:gd name="adj" fmla="val 1249"/>
            </a:avLst>
          </a:prstGeom>
          <a:solidFill>
            <a:srgbClr val="EAF1FB"/>
          </a:solidFill>
          <a:ln w="9525">
            <a:solidFill>
              <a:srgbClr val="DCE4EE"/>
            </a:solidFill>
            <a:prstDash val="solid"/>
          </a:ln>
        </p:spPr>
        <p:txBody>
          <a:bodyPr/>
          <a:lstStyle/>
          <a:p>
            <a:endParaRPr lang="en-IN"/>
          </a:p>
        </p:txBody>
      </p:sp>
      <p:sp>
        <p:nvSpPr>
          <p:cNvPr id="23" name="Shape 21"/>
          <p:cNvSpPr/>
          <p:nvPr/>
        </p:nvSpPr>
        <p:spPr>
          <a:xfrm>
            <a:off x="4264152" y="1024128"/>
            <a:ext cx="3660648" cy="365760"/>
          </a:xfrm>
          <a:prstGeom prst="roundRect">
            <a:avLst>
              <a:gd name="adj" fmla="val 12500"/>
            </a:avLst>
          </a:prstGeom>
          <a:solidFill>
            <a:srgbClr val="1B6BC0"/>
          </a:solidFill>
          <a:ln w="12700">
            <a:solidFill>
              <a:srgbClr val="1B6BC0"/>
            </a:solidFill>
            <a:prstDash val="solid"/>
          </a:ln>
        </p:spPr>
        <p:txBody>
          <a:bodyPr/>
          <a:lstStyle/>
          <a:p>
            <a:endParaRPr lang="en-IN"/>
          </a:p>
        </p:txBody>
      </p:sp>
      <p:sp>
        <p:nvSpPr>
          <p:cNvPr id="24" name="Text 22"/>
          <p:cNvSpPr txBox="1"/>
          <p:nvPr/>
        </p:nvSpPr>
        <p:spPr>
          <a:xfrm>
            <a:off x="4319016"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Why Google Cloud for this client</a:t>
            </a:r>
            <a:endParaRPr lang="en-US" sz="900" dirty="0"/>
          </a:p>
        </p:txBody>
      </p:sp>
      <p:sp>
        <p:nvSpPr>
          <p:cNvPr id="25" name="Shape 23"/>
          <p:cNvSpPr/>
          <p:nvPr/>
        </p:nvSpPr>
        <p:spPr>
          <a:xfrm>
            <a:off x="4337304" y="1463040"/>
            <a:ext cx="3514344" cy="1041169"/>
          </a:xfrm>
          <a:prstGeom prst="roundRect">
            <a:avLst>
              <a:gd name="adj" fmla="val 3513"/>
            </a:avLst>
          </a:prstGeom>
          <a:solidFill>
            <a:srgbClr val="FFFFFF"/>
          </a:solidFill>
          <a:ln w="9525">
            <a:solidFill>
              <a:srgbClr val="DCE4EE"/>
            </a:solidFill>
            <a:prstDash val="solid"/>
          </a:ln>
        </p:spPr>
        <p:txBody>
          <a:bodyPr/>
          <a:lstStyle/>
          <a:p>
            <a:endParaRPr lang="en-IN"/>
          </a:p>
        </p:txBody>
      </p:sp>
      <p:sp>
        <p:nvSpPr>
          <p:cNvPr id="26" name="Text 24"/>
          <p:cNvSpPr txBox="1"/>
          <p:nvPr/>
        </p:nvSpPr>
        <p:spPr>
          <a:xfrm>
            <a:off x="4392168" y="1517904"/>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The pipeline is already there</a:t>
            </a:r>
            <a:endParaRPr lang="en-US" sz="800" dirty="0"/>
          </a:p>
        </p:txBody>
      </p:sp>
      <p:sp>
        <p:nvSpPr>
          <p:cNvPr id="27" name="Text 25"/>
          <p:cNvSpPr txBox="1"/>
          <p:nvPr/>
        </p:nvSpPr>
        <p:spPr>
          <a:xfrm>
            <a:off x="4392168" y="1709928"/>
            <a:ext cx="3404616" cy="73941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Salesforce to Queueable Apex to Google Pub/Sub to APDH already runs on GCP</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graph sits beside the data it reasons about, not across a cloud boundary</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Downstream APDH impact can be read without moving data between providers</a:t>
            </a:r>
            <a:endParaRPr lang="en-US" sz="750" dirty="0"/>
          </a:p>
        </p:txBody>
      </p:sp>
      <p:sp>
        <p:nvSpPr>
          <p:cNvPr id="28" name="Shape 26"/>
          <p:cNvSpPr/>
          <p:nvPr/>
        </p:nvSpPr>
        <p:spPr>
          <a:xfrm>
            <a:off x="4337304" y="2595649"/>
            <a:ext cx="3514344" cy="937052"/>
          </a:xfrm>
          <a:prstGeom prst="roundRect">
            <a:avLst>
              <a:gd name="adj" fmla="val 3903"/>
            </a:avLst>
          </a:prstGeom>
          <a:solidFill>
            <a:srgbClr val="FFFFFF"/>
          </a:solidFill>
          <a:ln w="9525">
            <a:solidFill>
              <a:srgbClr val="DCE4EE"/>
            </a:solidFill>
            <a:prstDash val="solid"/>
          </a:ln>
        </p:spPr>
        <p:txBody>
          <a:bodyPr/>
          <a:lstStyle/>
          <a:p>
            <a:endParaRPr lang="en-IN"/>
          </a:p>
        </p:txBody>
      </p:sp>
      <p:sp>
        <p:nvSpPr>
          <p:cNvPr id="29" name="Text 27"/>
          <p:cNvSpPr txBox="1"/>
          <p:nvPr/>
        </p:nvSpPr>
        <p:spPr>
          <a:xfrm>
            <a:off x="4392168" y="2650513"/>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Same identity domain</a:t>
            </a:r>
            <a:endParaRPr lang="en-US" sz="800" dirty="0"/>
          </a:p>
        </p:txBody>
      </p:sp>
      <p:sp>
        <p:nvSpPr>
          <p:cNvPr id="30" name="Text 28"/>
          <p:cNvSpPr txBox="1"/>
          <p:nvPr/>
        </p:nvSpPr>
        <p:spPr>
          <a:xfrm>
            <a:off x="4392168" y="2842537"/>
            <a:ext cx="3404616" cy="635300"/>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Google Drive is already one of the six sources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Service accounts and Workspace identity are an established pattern here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One IAM model to review rather than two</a:t>
            </a:r>
            <a:endParaRPr lang="en-US" sz="750" dirty="0"/>
          </a:p>
        </p:txBody>
      </p:sp>
      <p:sp>
        <p:nvSpPr>
          <p:cNvPr id="31" name="Shape 29"/>
          <p:cNvSpPr/>
          <p:nvPr/>
        </p:nvSpPr>
        <p:spPr>
          <a:xfrm>
            <a:off x="4337304" y="3624141"/>
            <a:ext cx="3514344" cy="989111"/>
          </a:xfrm>
          <a:prstGeom prst="roundRect">
            <a:avLst>
              <a:gd name="adj" fmla="val 3698"/>
            </a:avLst>
          </a:prstGeom>
          <a:solidFill>
            <a:srgbClr val="FFFFFF"/>
          </a:solidFill>
          <a:ln w="9525">
            <a:solidFill>
              <a:srgbClr val="DCE4EE"/>
            </a:solidFill>
            <a:prstDash val="solid"/>
          </a:ln>
        </p:spPr>
        <p:txBody>
          <a:bodyPr/>
          <a:lstStyle/>
          <a:p>
            <a:endParaRPr lang="en-IN"/>
          </a:p>
        </p:txBody>
      </p:sp>
      <p:sp>
        <p:nvSpPr>
          <p:cNvPr id="32" name="Text 30"/>
          <p:cNvSpPr txBox="1"/>
          <p:nvPr/>
        </p:nvSpPr>
        <p:spPr>
          <a:xfrm>
            <a:off x="4392168" y="3679005"/>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Nothing new to approve</a:t>
            </a:r>
            <a:endParaRPr lang="en-US" sz="800" dirty="0"/>
          </a:p>
        </p:txBody>
      </p:sp>
      <p:sp>
        <p:nvSpPr>
          <p:cNvPr id="33" name="Text 31"/>
          <p:cNvSpPr txBox="1"/>
          <p:nvPr/>
        </p:nvSpPr>
        <p:spPr>
          <a:xfrm>
            <a:off x="4392168" y="3871029"/>
            <a:ext cx="3404616" cy="68735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 second cloud vendor assessment, no additional BAA</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Reuses the existing landing zone, key management and monitoring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Security posture is extended, not duplicated</a:t>
            </a:r>
            <a:endParaRPr lang="en-US" sz="750" dirty="0"/>
          </a:p>
        </p:txBody>
      </p:sp>
      <p:sp>
        <p:nvSpPr>
          <p:cNvPr id="34" name="Shape 32"/>
          <p:cNvSpPr/>
          <p:nvPr/>
        </p:nvSpPr>
        <p:spPr>
          <a:xfrm>
            <a:off x="4337304" y="4704692"/>
            <a:ext cx="3514344" cy="884994"/>
          </a:xfrm>
          <a:prstGeom prst="roundRect">
            <a:avLst>
              <a:gd name="adj" fmla="val 4133"/>
            </a:avLst>
          </a:prstGeom>
          <a:solidFill>
            <a:srgbClr val="FFFFFF"/>
          </a:solidFill>
          <a:ln w="9525">
            <a:solidFill>
              <a:srgbClr val="DCE4EE"/>
            </a:solidFill>
            <a:prstDash val="solid"/>
          </a:ln>
        </p:spPr>
        <p:txBody>
          <a:bodyPr/>
          <a:lstStyle/>
          <a:p>
            <a:endParaRPr lang="en-IN"/>
          </a:p>
        </p:txBody>
      </p:sp>
      <p:sp>
        <p:nvSpPr>
          <p:cNvPr id="35" name="Text 33"/>
          <p:cNvSpPr txBox="1"/>
          <p:nvPr/>
        </p:nvSpPr>
        <p:spPr>
          <a:xfrm>
            <a:off x="4392168" y="4759556"/>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Lower operational drag</a:t>
            </a:r>
            <a:endParaRPr lang="en-US" sz="800" dirty="0"/>
          </a:p>
        </p:txBody>
      </p:sp>
      <p:sp>
        <p:nvSpPr>
          <p:cNvPr id="36" name="Text 34"/>
          <p:cNvSpPr txBox="1"/>
          <p:nvPr/>
        </p:nvSpPr>
        <p:spPr>
          <a:xfrm>
            <a:off x="4392168" y="4951580"/>
            <a:ext cx="3404616" cy="58324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 cross-cloud egress between the graph and the existing pipeline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One ops model for the team that already runs this estate</a:t>
            </a:r>
            <a:endParaRPr lang="en-US" sz="750" dirty="0"/>
          </a:p>
        </p:txBody>
      </p:sp>
      <p:sp>
        <p:nvSpPr>
          <p:cNvPr id="37" name="Shape 35"/>
          <p:cNvSpPr/>
          <p:nvPr/>
        </p:nvSpPr>
        <p:spPr>
          <a:xfrm>
            <a:off x="4337304" y="5681126"/>
            <a:ext cx="3514344" cy="728818"/>
          </a:xfrm>
          <a:prstGeom prst="roundRect">
            <a:avLst>
              <a:gd name="adj" fmla="val 5019"/>
            </a:avLst>
          </a:prstGeom>
          <a:solidFill>
            <a:srgbClr val="FFFFFF"/>
          </a:solidFill>
          <a:ln w="9525">
            <a:solidFill>
              <a:srgbClr val="DCE4EE"/>
            </a:solidFill>
            <a:prstDash val="solid"/>
          </a:ln>
        </p:spPr>
        <p:txBody>
          <a:bodyPr/>
          <a:lstStyle/>
          <a:p>
            <a:endParaRPr lang="en-IN"/>
          </a:p>
        </p:txBody>
      </p:sp>
      <p:sp>
        <p:nvSpPr>
          <p:cNvPr id="38" name="Text 36"/>
          <p:cNvSpPr txBox="1"/>
          <p:nvPr/>
        </p:nvSpPr>
        <p:spPr>
          <a:xfrm>
            <a:off x="4392168" y="5735990"/>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Scope note</a:t>
            </a:r>
            <a:endParaRPr lang="en-US" sz="800" dirty="0"/>
          </a:p>
        </p:txBody>
      </p:sp>
      <p:sp>
        <p:nvSpPr>
          <p:cNvPr id="39" name="Text 37"/>
          <p:cNvSpPr txBox="1"/>
          <p:nvPr/>
        </p:nvSpPr>
        <p:spPr>
          <a:xfrm>
            <a:off x="4392168" y="5928014"/>
            <a:ext cx="3404616" cy="42706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Landing zone, CMEK policy and perimeter rules to be confirmed with the client cloud and security teams</a:t>
            </a:r>
            <a:endParaRPr lang="en-US" sz="750" dirty="0"/>
          </a:p>
        </p:txBody>
      </p:sp>
      <p:sp>
        <p:nvSpPr>
          <p:cNvPr id="40" name="Shape 38"/>
          <p:cNvSpPr/>
          <p:nvPr/>
        </p:nvSpPr>
        <p:spPr>
          <a:xfrm>
            <a:off x="8162544" y="1024128"/>
            <a:ext cx="3660648" cy="5440680"/>
          </a:xfrm>
          <a:prstGeom prst="roundRect">
            <a:avLst>
              <a:gd name="adj" fmla="val 1249"/>
            </a:avLst>
          </a:prstGeom>
          <a:solidFill>
            <a:srgbClr val="FDF1DE"/>
          </a:solidFill>
          <a:ln w="9525">
            <a:solidFill>
              <a:srgbClr val="DCE4EE"/>
            </a:solidFill>
            <a:prstDash val="solid"/>
          </a:ln>
        </p:spPr>
        <p:txBody>
          <a:bodyPr/>
          <a:lstStyle/>
          <a:p>
            <a:endParaRPr lang="en-IN"/>
          </a:p>
        </p:txBody>
      </p:sp>
      <p:sp>
        <p:nvSpPr>
          <p:cNvPr id="41" name="Shape 39"/>
          <p:cNvSpPr/>
          <p:nvPr/>
        </p:nvSpPr>
        <p:spPr>
          <a:xfrm>
            <a:off x="8162544" y="1024128"/>
            <a:ext cx="3660648" cy="365760"/>
          </a:xfrm>
          <a:prstGeom prst="roundRect">
            <a:avLst>
              <a:gd name="adj" fmla="val 12500"/>
            </a:avLst>
          </a:prstGeom>
          <a:solidFill>
            <a:srgbClr val="C77400"/>
          </a:solidFill>
          <a:ln w="12700">
            <a:solidFill>
              <a:srgbClr val="C77400"/>
            </a:solidFill>
            <a:prstDash val="solid"/>
          </a:ln>
        </p:spPr>
        <p:txBody>
          <a:bodyPr/>
          <a:lstStyle/>
          <a:p>
            <a:endParaRPr lang="en-IN"/>
          </a:p>
        </p:txBody>
      </p:sp>
      <p:sp>
        <p:nvSpPr>
          <p:cNvPr id="42" name="Text 40"/>
          <p:cNvSpPr txBox="1"/>
          <p:nvPr/>
        </p:nvSpPr>
        <p:spPr>
          <a:xfrm>
            <a:off x="8217408"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Alternatives</a:t>
            </a:r>
            <a:endParaRPr lang="en-US" sz="900" dirty="0"/>
          </a:p>
        </p:txBody>
      </p:sp>
      <p:sp>
        <p:nvSpPr>
          <p:cNvPr id="43" name="Shape 41"/>
          <p:cNvSpPr/>
          <p:nvPr/>
        </p:nvSpPr>
        <p:spPr>
          <a:xfrm>
            <a:off x="8235696" y="1463040"/>
            <a:ext cx="3514344" cy="1213658"/>
          </a:xfrm>
          <a:prstGeom prst="roundRect">
            <a:avLst>
              <a:gd name="adj" fmla="val 3014"/>
            </a:avLst>
          </a:prstGeom>
          <a:solidFill>
            <a:srgbClr val="FFFFFF"/>
          </a:solidFill>
          <a:ln w="9525">
            <a:solidFill>
              <a:srgbClr val="DCE4EE"/>
            </a:solidFill>
            <a:prstDash val="solid"/>
          </a:ln>
        </p:spPr>
        <p:txBody>
          <a:bodyPr/>
          <a:lstStyle/>
          <a:p>
            <a:endParaRPr lang="en-IN"/>
          </a:p>
        </p:txBody>
      </p:sp>
      <p:sp>
        <p:nvSpPr>
          <p:cNvPr id="44" name="Text 42"/>
          <p:cNvSpPr txBox="1"/>
          <p:nvPr/>
        </p:nvSpPr>
        <p:spPr>
          <a:xfrm>
            <a:off x="8290560" y="1517904"/>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S3 is not a like-for-like option</a:t>
            </a:r>
            <a:endParaRPr lang="en-US" sz="800" dirty="0"/>
          </a:p>
        </p:txBody>
      </p:sp>
      <p:sp>
        <p:nvSpPr>
          <p:cNvPr id="45" name="Text 43"/>
          <p:cNvSpPr txBox="1"/>
          <p:nvPr/>
        </p:nvSpPr>
        <p:spPr>
          <a:xfrm>
            <a:off x="8290560" y="1709928"/>
            <a:ext cx="3404616" cy="9119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S3 replaces one box, the snapshot store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Jobs, graph service, secrets, audit and monitoring still need a platform behind it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fair comparison is GCP against AWS or Azure as a whole, not against a bucket</a:t>
            </a:r>
            <a:endParaRPr lang="en-US" sz="750" dirty="0"/>
          </a:p>
        </p:txBody>
      </p:sp>
      <p:sp>
        <p:nvSpPr>
          <p:cNvPr id="46" name="Shape 44"/>
          <p:cNvSpPr/>
          <p:nvPr/>
        </p:nvSpPr>
        <p:spPr>
          <a:xfrm>
            <a:off x="8235696" y="2768138"/>
            <a:ext cx="3514344" cy="1213658"/>
          </a:xfrm>
          <a:prstGeom prst="roundRect">
            <a:avLst>
              <a:gd name="adj" fmla="val 3014"/>
            </a:avLst>
          </a:prstGeom>
          <a:solidFill>
            <a:srgbClr val="FFFFFF"/>
          </a:solidFill>
          <a:ln w="9525">
            <a:solidFill>
              <a:srgbClr val="DCE4EE"/>
            </a:solidFill>
            <a:prstDash val="solid"/>
          </a:ln>
        </p:spPr>
        <p:txBody>
          <a:bodyPr/>
          <a:lstStyle/>
          <a:p>
            <a:endParaRPr lang="en-IN"/>
          </a:p>
        </p:txBody>
      </p:sp>
      <p:sp>
        <p:nvSpPr>
          <p:cNvPr id="47" name="Text 45"/>
          <p:cNvSpPr txBox="1"/>
          <p:nvPr/>
        </p:nvSpPr>
        <p:spPr>
          <a:xfrm>
            <a:off x="8290560" y="2823002"/>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What a second cloud would cost</a:t>
            </a:r>
            <a:endParaRPr lang="en-US" sz="800" dirty="0"/>
          </a:p>
        </p:txBody>
      </p:sp>
      <p:sp>
        <p:nvSpPr>
          <p:cNvPr id="48" name="Text 46"/>
          <p:cNvSpPr txBox="1"/>
          <p:nvPr/>
        </p:nvSpPr>
        <p:spPr>
          <a:xfrm>
            <a:off x="8290560" y="3015026"/>
            <a:ext cx="3404616" cy="9119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 new vendor and security review before anything is built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Identity federation between two providers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Cross-cloud egress on every sync and query</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Two sets of controls, keys and runbooks to keep aligned</a:t>
            </a:r>
            <a:endParaRPr lang="en-US" sz="750" dirty="0"/>
          </a:p>
        </p:txBody>
      </p:sp>
      <p:sp>
        <p:nvSpPr>
          <p:cNvPr id="49" name="Shape 47"/>
          <p:cNvSpPr/>
          <p:nvPr/>
        </p:nvSpPr>
        <p:spPr>
          <a:xfrm>
            <a:off x="8235696" y="4073236"/>
            <a:ext cx="3514344" cy="1213658"/>
          </a:xfrm>
          <a:prstGeom prst="roundRect">
            <a:avLst>
              <a:gd name="adj" fmla="val 3014"/>
            </a:avLst>
          </a:prstGeom>
          <a:solidFill>
            <a:srgbClr val="FFFFFF"/>
          </a:solidFill>
          <a:ln w="9525">
            <a:solidFill>
              <a:srgbClr val="DCE4EE"/>
            </a:solidFill>
            <a:prstDash val="solid"/>
          </a:ln>
        </p:spPr>
        <p:txBody>
          <a:bodyPr/>
          <a:lstStyle/>
          <a:p>
            <a:endParaRPr lang="en-IN"/>
          </a:p>
        </p:txBody>
      </p:sp>
      <p:sp>
        <p:nvSpPr>
          <p:cNvPr id="50" name="Text 48"/>
          <p:cNvSpPr txBox="1"/>
          <p:nvPr/>
        </p:nvSpPr>
        <p:spPr>
          <a:xfrm>
            <a:off x="8290560" y="4128100"/>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The design stays portable</a:t>
            </a:r>
            <a:endParaRPr lang="en-US" sz="800" dirty="0"/>
          </a:p>
        </p:txBody>
      </p:sp>
      <p:sp>
        <p:nvSpPr>
          <p:cNvPr id="51" name="Text 49"/>
          <p:cNvSpPr txBox="1"/>
          <p:nvPr/>
        </p:nvSpPr>
        <p:spPr>
          <a:xfrm>
            <a:off x="8290560" y="4320124"/>
            <a:ext cx="3404616" cy="9119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snapshot is vendor-neutral JSON, not a proprietary format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graph service is a container, so it runs anywhere containers run</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Connectors talk to vendor APIs, not to cloud-specific services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Nothing in the architecture is locked to GCP</a:t>
            </a:r>
            <a:endParaRPr lang="en-US" sz="750" dirty="0"/>
          </a:p>
        </p:txBody>
      </p:sp>
      <p:sp>
        <p:nvSpPr>
          <p:cNvPr id="52" name="Shape 50"/>
          <p:cNvSpPr/>
          <p:nvPr/>
        </p:nvSpPr>
        <p:spPr>
          <a:xfrm>
            <a:off x="8235696" y="5378335"/>
            <a:ext cx="3514344" cy="1031609"/>
          </a:xfrm>
          <a:prstGeom prst="roundRect">
            <a:avLst>
              <a:gd name="adj" fmla="val 3546"/>
            </a:avLst>
          </a:prstGeom>
          <a:solidFill>
            <a:srgbClr val="FFFFFF"/>
          </a:solidFill>
          <a:ln w="9525">
            <a:solidFill>
              <a:srgbClr val="DCE4EE"/>
            </a:solidFill>
            <a:prstDash val="solid"/>
          </a:ln>
        </p:spPr>
        <p:txBody>
          <a:bodyPr/>
          <a:lstStyle/>
          <a:p>
            <a:endParaRPr lang="en-IN"/>
          </a:p>
        </p:txBody>
      </p:sp>
      <p:sp>
        <p:nvSpPr>
          <p:cNvPr id="53" name="Text 51"/>
          <p:cNvSpPr txBox="1"/>
          <p:nvPr/>
        </p:nvSpPr>
        <p:spPr>
          <a:xfrm>
            <a:off x="8290560" y="5433199"/>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Recommendation</a:t>
            </a:r>
            <a:endParaRPr lang="en-US" sz="800" dirty="0"/>
          </a:p>
        </p:txBody>
      </p:sp>
      <p:sp>
        <p:nvSpPr>
          <p:cNvPr id="54" name="Text 52"/>
          <p:cNvSpPr txBox="1"/>
          <p:nvPr/>
        </p:nvSpPr>
        <p:spPr>
          <a:xfrm>
            <a:off x="8290560" y="5625223"/>
            <a:ext cx="3404616" cy="72985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Run on GCP because the client already operates there and the APDH path depends on it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Keep the portability so a later move is a redeploy rather than a rewrite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5381</Words>
  <Application>Microsoft Office PowerPoint</Application>
  <PresentationFormat>Widescreen</PresentationFormat>
  <Paragraphs>840</Paragraphs>
  <Slides>8</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Courier New</vt:lpstr>
      <vt:lpstr>Trenda IG Display</vt:lpstr>
      <vt:lpstr>Trenda IG Display Bold</vt:lpstr>
      <vt:lpstr>Trenda IG Text</vt:lpstr>
      <vt:lpstr>Trenda IG Text Light</vt:lpstr>
      <vt:lpstr>Trenda IG Text Semibold</vt:lpstr>
      <vt:lpstr>Office Theme</vt:lpstr>
      <vt:lpstr> Ascension Network Services Knowledge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2</cp:revision>
  <dcterms:created xsi:type="dcterms:W3CDTF">2026-09-09T12:37:24Z</dcterms:created>
  <dcterms:modified xsi:type="dcterms:W3CDTF">2026-09-11T13:37:06Z</dcterms:modified>
</cp:coreProperties>
</file>