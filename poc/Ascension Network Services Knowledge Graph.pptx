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318" r:id="rId2"/>
    <p:sldId id="256" r:id="rId3"/>
    <p:sldId id="321" r:id="rId4"/>
    <p:sldId id="322" r:id="rId5"/>
    <p:sldId id="323" r:id="rId6"/>
    <p:sldId id="324" r:id="rId7"/>
    <p:sldId id="257" r:id="rId8"/>
    <p:sldId id="258" r:id="rId9"/>
    <p:sldId id="325" r:id="rId17"/>
    <p:sldId id="326" r:id="rId18"/>
    <p:sldId id="327" r:id="rId19"/>
    <p:sldId id="328" r:id="rId20"/>
    <p:sldId id="329" r:id="rId21"/>
    <p:sldId id="330" r:id="rId22"/>
    <p:sldId id="331" r:id="rId23"/>
    <p:sldId id="332" r:id="rId24"/>
    <p:sldId id="333" r:id="rId25"/>
    <p:sldId id="334" r:id="rId26"/>
    <p:sldId id="335" r:id="rId27"/>
    <p:sldId id="336" r:id="rId28"/>
    <p:sldId id="337"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4A915F8-C8DA-467C-B5A4-990BA1708FE0}" v="3" dt="2026-09-11T13:36:53.76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rya Chinta" userId="41ee6f01-053e-4268-a09b-364f54be2fbe" providerId="ADAL" clId="{E5143D04-8900-4457-BE49-945FECC57414}"/>
    <pc:docChg chg="custSel addSld delSld modSld sldOrd">
      <pc:chgData name="Surya Chinta" userId="41ee6f01-053e-4268-a09b-364f54be2fbe" providerId="ADAL" clId="{E5143D04-8900-4457-BE49-945FECC57414}" dt="2026-09-11T13:36:13.059" v="56"/>
      <pc:docMkLst>
        <pc:docMk/>
      </pc:docMkLst>
      <pc:sldChg chg="ord">
        <pc:chgData name="Surya Chinta" userId="41ee6f01-053e-4268-a09b-364f54be2fbe" providerId="ADAL" clId="{E5143D04-8900-4457-BE49-945FECC57414}" dt="2026-09-11T13:36:13.059" v="56"/>
        <pc:sldMkLst>
          <pc:docMk/>
          <pc:sldMk cId="0" sldId="258"/>
        </pc:sldMkLst>
      </pc:sldChg>
      <pc:sldChg chg="modSp del mod">
        <pc:chgData name="Surya Chinta" userId="41ee6f01-053e-4268-a09b-364f54be2fbe" providerId="ADAL" clId="{E5143D04-8900-4457-BE49-945FECC57414}" dt="2026-09-11T13:35:29.686" v="49" actId="47"/>
        <pc:sldMkLst>
          <pc:docMk/>
          <pc:sldMk cId="0" sldId="259"/>
        </pc:sldMkLst>
      </pc:sldChg>
      <pc:sldChg chg="del">
        <pc:chgData name="Surya Chinta" userId="41ee6f01-053e-4268-a09b-364f54be2fbe" providerId="ADAL" clId="{E5143D04-8900-4457-BE49-945FECC57414}" dt="2026-09-11T13:35:29.686" v="49" actId="47"/>
        <pc:sldMkLst>
          <pc:docMk/>
          <pc:sldMk cId="0" sldId="260"/>
        </pc:sldMkLst>
      </pc:sldChg>
      <pc:sldChg chg="del">
        <pc:chgData name="Surya Chinta" userId="41ee6f01-053e-4268-a09b-364f54be2fbe" providerId="ADAL" clId="{E5143D04-8900-4457-BE49-945FECC57414}" dt="2026-09-11T13:35:29.686" v="49" actId="47"/>
        <pc:sldMkLst>
          <pc:docMk/>
          <pc:sldMk cId="0" sldId="261"/>
        </pc:sldMkLst>
      </pc:sldChg>
      <pc:sldChg chg="del">
        <pc:chgData name="Surya Chinta" userId="41ee6f01-053e-4268-a09b-364f54be2fbe" providerId="ADAL" clId="{E5143D04-8900-4457-BE49-945FECC57414}" dt="2026-09-11T13:35:29.686" v="49" actId="47"/>
        <pc:sldMkLst>
          <pc:docMk/>
          <pc:sldMk cId="0" sldId="262"/>
        </pc:sldMkLst>
      </pc:sldChg>
      <pc:sldChg chg="modSp add mod">
        <pc:chgData name="Surya Chinta" userId="41ee6f01-053e-4268-a09b-364f54be2fbe" providerId="ADAL" clId="{E5143D04-8900-4457-BE49-945FECC57414}" dt="2026-09-09T12:54:57.107" v="48" actId="27636"/>
        <pc:sldMkLst>
          <pc:docMk/>
          <pc:sldMk cId="3603168410" sldId="318"/>
        </pc:sldMkLst>
        <pc:spChg chg="mod">
          <ac:chgData name="Surya Chinta" userId="41ee6f01-053e-4268-a09b-364f54be2fbe" providerId="ADAL" clId="{E5143D04-8900-4457-BE49-945FECC57414}" dt="2026-09-09T12:54:57.107" v="48" actId="27636"/>
          <ac:spMkLst>
            <pc:docMk/>
            <pc:sldMk cId="3603168410" sldId="318"/>
            <ac:spMk id="2" creationId="{4EA92DF6-3BED-B26E-DE34-1D5A049BE760}"/>
          </ac:spMkLst>
        </pc:spChg>
      </pc:sldChg>
      <pc:sldChg chg="add del">
        <pc:chgData name="Surya Chinta" userId="41ee6f01-053e-4268-a09b-364f54be2fbe" providerId="ADAL" clId="{E5143D04-8900-4457-BE49-945FECC57414}" dt="2026-09-11T13:35:47.691" v="51" actId="47"/>
        <pc:sldMkLst>
          <pc:docMk/>
          <pc:sldMk cId="2518706385" sldId="319"/>
        </pc:sldMkLst>
      </pc:sldChg>
      <pc:sldChg chg="add del setBg">
        <pc:chgData name="Surya Chinta" userId="41ee6f01-053e-4268-a09b-364f54be2fbe" providerId="ADAL" clId="{E5143D04-8900-4457-BE49-945FECC57414}" dt="2026-09-11T13:36:03.202" v="54" actId="47"/>
        <pc:sldMkLst>
          <pc:docMk/>
          <pc:sldMk cId="0" sldId="320"/>
        </pc:sldMkLst>
      </pc:sldChg>
      <pc:sldChg chg="add">
        <pc:chgData name="Surya Chinta" userId="41ee6f01-053e-4268-a09b-364f54be2fbe" providerId="ADAL" clId="{E5143D04-8900-4457-BE49-945FECC57414}" dt="2026-09-11T13:35:38.796" v="50"/>
        <pc:sldMkLst>
          <pc:docMk/>
          <pc:sldMk cId="0" sldId="321"/>
        </pc:sldMkLst>
      </pc:sldChg>
      <pc:sldChg chg="add">
        <pc:chgData name="Surya Chinta" userId="41ee6f01-053e-4268-a09b-364f54be2fbe" providerId="ADAL" clId="{E5143D04-8900-4457-BE49-945FECC57414}" dt="2026-09-11T13:35:38.796" v="50"/>
        <pc:sldMkLst>
          <pc:docMk/>
          <pc:sldMk cId="0" sldId="322"/>
        </pc:sldMkLst>
      </pc:sldChg>
      <pc:sldChg chg="add">
        <pc:chgData name="Surya Chinta" userId="41ee6f01-053e-4268-a09b-364f54be2fbe" providerId="ADAL" clId="{E5143D04-8900-4457-BE49-945FECC57414}" dt="2026-09-11T13:35:38.796" v="50"/>
        <pc:sldMkLst>
          <pc:docMk/>
          <pc:sldMk cId="0" sldId="323"/>
        </pc:sldMkLst>
      </pc:sldChg>
      <pc:sldChg chg="add">
        <pc:chgData name="Surya Chinta" userId="41ee6f01-053e-4268-a09b-364f54be2fbe" providerId="ADAL" clId="{E5143D04-8900-4457-BE49-945FECC57414}" dt="2026-09-11T13:35:38.796" v="50"/>
        <pc:sldMkLst>
          <pc:docMk/>
          <pc:sldMk cId="0" sldId="32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dirty="0"/>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dirty="0"/>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dirty="0"/>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3" Type="http://schemas.openxmlformats.org/officeDocument/2006/relationships/image" Target="../media/image3.png"/><Relationship Id="rId7" Type="http://schemas.openxmlformats.org/officeDocument/2006/relationships/image" Target="../media/image7.png"/><Relationship Id="rId12"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5.png"/><Relationship Id="rId15" Type="http://schemas.openxmlformats.org/officeDocument/2006/relationships/image" Target="../media/image1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14.png"/></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20.png"/><Relationship Id="rId18" Type="http://schemas.openxmlformats.org/officeDocument/2006/relationships/image" Target="../media/image14.png"/><Relationship Id="rId3" Type="http://schemas.openxmlformats.org/officeDocument/2006/relationships/image" Target="../media/image3.png"/><Relationship Id="rId7" Type="http://schemas.openxmlformats.org/officeDocument/2006/relationships/image" Target="../media/image7.png"/><Relationship Id="rId12" Type="http://schemas.openxmlformats.org/officeDocument/2006/relationships/image" Target="../media/image19.png"/><Relationship Id="rId17" Type="http://schemas.openxmlformats.org/officeDocument/2006/relationships/image" Target="../media/image22.png"/><Relationship Id="rId2" Type="http://schemas.openxmlformats.org/officeDocument/2006/relationships/notesSlide" Target="../notesSlides/notesSlide2.xml"/><Relationship Id="rId16" Type="http://schemas.openxmlformats.org/officeDocument/2006/relationships/image" Target="../media/image9.png"/><Relationship Id="rId20" Type="http://schemas.openxmlformats.org/officeDocument/2006/relationships/image" Target="../media/image11.png"/><Relationship Id="rId1" Type="http://schemas.openxmlformats.org/officeDocument/2006/relationships/slideLayout" Target="../slideLayouts/slideLayout1.xml"/><Relationship Id="rId6" Type="http://schemas.openxmlformats.org/officeDocument/2006/relationships/image" Target="../media/image6.png"/><Relationship Id="rId11" Type="http://schemas.openxmlformats.org/officeDocument/2006/relationships/image" Target="../media/image18.png"/><Relationship Id="rId5" Type="http://schemas.openxmlformats.org/officeDocument/2006/relationships/image" Target="../media/image5.png"/><Relationship Id="rId15" Type="http://schemas.openxmlformats.org/officeDocument/2006/relationships/image" Target="../media/image10.png"/><Relationship Id="rId10" Type="http://schemas.openxmlformats.org/officeDocument/2006/relationships/image" Target="../media/image17.png"/><Relationship Id="rId19" Type="http://schemas.openxmlformats.org/officeDocument/2006/relationships/image" Target="../media/image23.png"/><Relationship Id="rId4" Type="http://schemas.openxmlformats.org/officeDocument/2006/relationships/image" Target="../media/image4.png"/><Relationship Id="rId9" Type="http://schemas.openxmlformats.org/officeDocument/2006/relationships/image" Target="../media/image16.png"/><Relationship Id="rId14" Type="http://schemas.openxmlformats.org/officeDocument/2006/relationships/image" Target="../media/image21.png"/></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fontScale="90000"/>
          </a:bodyPr>
          <a:lstStyle/>
          <a:p>
            <a:r>
              <a:rPr lang="en-US" sz="4200" cap="all" dirty="0">
                <a:latin typeface="Trenda IG Text Semibold"/>
              </a:rPr>
              <a:t> Ascension Network Services Knowledge Graph</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kern="1200" dirty="0">
                <a:solidFill>
                  <a:srgbClr val="B8BEC6"/>
                </a:solidFill>
                <a:latin typeface="Trenda IG Text"/>
                <a:ea typeface="Calibri"/>
                <a:cs typeface="Calibri"/>
              </a:rPr>
              <a:t>An intelligent, human-approved pipeline that turns tickets into reviewed, tested, deployable Salesforce changes</a:t>
            </a:r>
          </a:p>
          <a:p>
            <a:pPr algn="l">
              <a:spcAft>
                <a:spcPts val="600"/>
              </a:spcAft>
            </a:pPr>
            <a:endParaRPr lang="en-US" b="0" i="0" dirty="0">
              <a:latin typeface="Trenda IG Text" pitchFamily="2" charset="77"/>
            </a:endParaRP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dirty="0">
                <a:solidFill>
                  <a:srgbClr val="00D6F1"/>
                </a:solidFill>
                <a:latin typeface="Trenda IG Text Semibold"/>
                <a:ea typeface="Calibri"/>
                <a:cs typeface="Calibri"/>
              </a:rPr>
              <a:t>AI-DRIVEN DELIVERY AUTOMATION</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4F7FC"/>
        </a:solidFill>
        <a:effectLst/>
      </p:bgPr>
    </p:bg>
    <p:spTree>
      <p:nvGrpSpPr>
        <p:cNvPr id="1" name=""/>
        <p:cNvGrpSpPr/>
        <p:nvPr/>
      </p:nvGrpSpPr>
      <p:grpSpPr>
        <a:xfrm>
          <a:off x="0" y="0"/>
          <a:ext cx="0" cy="0"/>
          <a:chOff x="0" y="0"/>
          <a:chExt cx="0" cy="0"/>
        </a:xfrm>
      </p:grpSpPr>
      <p:sp>
        <p:nvSpPr>
          <p:cNvPr id="2" name="Shape 0"/>
          <p:cNvSpPr/>
          <p:nvPr/>
        </p:nvSpPr>
        <p:spPr>
          <a:xfrm>
            <a:off x="2697480" y="146304"/>
            <a:ext cx="6793992" cy="731520"/>
          </a:xfrm>
          <a:prstGeom prst="roundRect">
            <a:avLst>
              <a:gd name="adj" fmla="val 7500"/>
            </a:avLst>
          </a:prstGeom>
          <a:solidFill>
            <a:srgbClr val="0E1B2E"/>
          </a:solidFill>
          <a:ln w="12700">
            <a:solidFill>
              <a:srgbClr val="0E1B2E"/>
            </a:solidFill>
            <a:prstDash val="solid"/>
          </a:ln>
        </p:spPr>
        <p:txBody>
          <a:bodyPr/>
          <a:lstStyle/>
          <a:p>
            <a:endParaRPr lang="en-IN"/>
          </a:p>
        </p:txBody>
      </p:sp>
      <p:sp>
        <p:nvSpPr>
          <p:cNvPr id="3" name="Text 1"/>
          <p:cNvSpPr txBox="1"/>
          <p:nvPr/>
        </p:nvSpPr>
        <p:spPr>
          <a:xfrm>
            <a:off x="2743200" y="201168"/>
            <a:ext cx="6702552" cy="201168"/>
          </a:xfrm>
          <a:prstGeom prst="rect">
            <a:avLst/>
          </a:prstGeom>
          <a:noFill/>
          <a:ln/>
        </p:spPr>
        <p:txBody>
          <a:bodyPr wrap="square" lIns="0" tIns="0" rIns="0" bIns="0" rtlCol="0" anchor="ctr"/>
          <a:lstStyle/>
          <a:p>
            <a:pPr marL="0" indent="0" algn="ctr">
              <a:buNone/>
            </a:pPr>
            <a:r>
              <a:rPr lang="en-US" sz="1300" b="0" kern="0" spc="30" dirty="0">
                <a:solidFill>
                  <a:srgbClr val="FFFFFF"/>
                </a:solidFill>
                <a:latin typeface="Trenda IG Display Bold" pitchFamily="34" charset="0"/>
                <a:ea typeface="Trenda IG Display Bold" pitchFamily="34" charset="-122"/>
                <a:cs typeface="Trenda IG Display Bold" pitchFamily="34" charset="-120"/>
              </a:rPr>
              <a:t>ASCENSION NETWORK SERVICES</a:t>
            </a:r>
            <a:endParaRPr lang="en-US" sz="1300" dirty="0"/>
          </a:p>
        </p:txBody>
      </p:sp>
      <p:sp>
        <p:nvSpPr>
          <p:cNvPr id="4" name="Text 2"/>
          <p:cNvSpPr txBox="1"/>
          <p:nvPr/>
        </p:nvSpPr>
        <p:spPr>
          <a:xfrm>
            <a:off x="2743200" y="420624"/>
            <a:ext cx="6702552" cy="182880"/>
          </a:xfrm>
          <a:prstGeom prst="rect">
            <a:avLst/>
          </a:prstGeom>
          <a:noFill/>
          <a:ln/>
        </p:spPr>
        <p:txBody>
          <a:bodyPr wrap="square" lIns="0" tIns="0" rIns="0" bIns="0" rtlCol="0" anchor="ctr"/>
          <a:lstStyle/>
          <a:p>
            <a:pPr marL="0" indent="0" algn="ctr">
              <a:buNone/>
            </a:pPr>
            <a:r>
              <a:rPr lang="en-US" sz="1050" b="0" dirty="0">
                <a:solidFill>
                  <a:srgbClr val="5FD0E8"/>
                </a:solidFill>
                <a:latin typeface="Trenda IG Display Bold" pitchFamily="34" charset="0"/>
                <a:ea typeface="Trenda IG Display Bold" pitchFamily="34" charset="-122"/>
                <a:cs typeface="Trenda IG Display Bold" pitchFamily="34" charset="-120"/>
              </a:rPr>
              <a:t>Engineering Context Knowledge Graph Architecture</a:t>
            </a:r>
            <a:endParaRPr lang="en-US" sz="1050" dirty="0"/>
          </a:p>
        </p:txBody>
      </p:sp>
      <p:sp>
        <p:nvSpPr>
          <p:cNvPr id="5" name="Text 3"/>
          <p:cNvSpPr txBox="1"/>
          <p:nvPr/>
        </p:nvSpPr>
        <p:spPr>
          <a:xfrm>
            <a:off x="2743200" y="630936"/>
            <a:ext cx="6702552" cy="182880"/>
          </a:xfrm>
          <a:prstGeom prst="rect">
            <a:avLst/>
          </a:prstGeom>
          <a:noFill/>
          <a:ln/>
        </p:spPr>
        <p:txBody>
          <a:bodyPr wrap="square" lIns="0" tIns="0" rIns="0" bIns="0" rtlCol="0" anchor="ctr"/>
          <a:lstStyle/>
          <a:p>
            <a:pPr marL="0" indent="0" algn="ctr">
              <a:buNone/>
            </a:pPr>
            <a:r>
              <a:rPr lang="en-US" sz="750" dirty="0">
                <a:solidFill>
                  <a:srgbClr val="AEBED0"/>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50" dirty="0"/>
          </a:p>
        </p:txBody>
      </p:sp>
      <p:sp>
        <p:nvSpPr>
          <p:cNvPr id="6" name="Text 4"/>
          <p:cNvSpPr txBox="1"/>
          <p:nvPr/>
        </p:nvSpPr>
        <p:spPr>
          <a:xfrm>
            <a:off x="384048" y="932688"/>
            <a:ext cx="4572000" cy="146304"/>
          </a:xfrm>
          <a:prstGeom prst="rect">
            <a:avLst/>
          </a:prstGeom>
          <a:noFill/>
          <a:ln/>
        </p:spPr>
        <p:txBody>
          <a:bodyPr wrap="square" lIns="0" tIns="0" rIns="0" bIns="0" rtlCol="0" anchor="ctr"/>
          <a:lstStyle/>
          <a:p>
            <a:pPr marL="0" indent="0">
              <a:buNone/>
            </a:pPr>
            <a:r>
              <a:rPr lang="en-US" sz="700" b="0" kern="0" spc="30" dirty="0">
                <a:solidFill>
                  <a:srgbClr val="5C6E85"/>
                </a:solidFill>
                <a:latin typeface="Trenda IG Text Semibold" pitchFamily="34" charset="0"/>
                <a:ea typeface="Trenda IG Text Semibold" pitchFamily="34" charset="-122"/>
                <a:cs typeface="Trenda IG Text Semibold" pitchFamily="34" charset="-120"/>
              </a:rPr>
              <a:t>SYSTEMS OF RECORD  ·  authority never moves</a:t>
            </a:r>
            <a:endParaRPr lang="en-US" sz="700" dirty="0"/>
          </a:p>
        </p:txBody>
      </p:sp>
      <p:sp>
        <p:nvSpPr>
          <p:cNvPr id="7" name="Shape 5"/>
          <p:cNvSpPr/>
          <p:nvPr/>
        </p:nvSpPr>
        <p:spPr>
          <a:xfrm>
            <a:off x="384048" y="1115568"/>
            <a:ext cx="1796796" cy="713232"/>
          </a:xfrm>
          <a:prstGeom prst="roundRect">
            <a:avLst>
              <a:gd name="adj" fmla="val 6410"/>
            </a:avLst>
          </a:prstGeom>
          <a:solidFill>
            <a:srgbClr val="FFFFFF"/>
          </a:solidFill>
          <a:ln w="12700">
            <a:solidFill>
              <a:srgbClr val="DCE4EE"/>
            </a:solidFill>
            <a:prstDash val="solid"/>
          </a:ln>
        </p:spPr>
        <p:txBody>
          <a:bodyPr/>
          <a:lstStyle/>
          <a:p>
            <a:endParaRPr lang="en-IN"/>
          </a:p>
        </p:txBody>
      </p:sp>
      <p:pic>
        <p:nvPicPr>
          <p:cNvPr id="8" name="Image 0" descr="preencoded.png"/>
          <p:cNvPicPr>
            <a:picLocks noChangeAspect="1"/>
          </p:cNvPicPr>
          <p:nvPr/>
        </p:nvPicPr>
        <p:blipFill>
          <a:blip r:embed="rId3"/>
          <a:stretch>
            <a:fillRect/>
          </a:stretch>
        </p:blipFill>
        <p:spPr>
          <a:xfrm>
            <a:off x="493776" y="1207008"/>
            <a:ext cx="155448" cy="155448"/>
          </a:xfrm>
          <a:prstGeom prst="rect">
            <a:avLst/>
          </a:prstGeom>
        </p:spPr>
      </p:pic>
      <p:sp>
        <p:nvSpPr>
          <p:cNvPr id="9" name="Text 6"/>
          <p:cNvSpPr txBox="1"/>
          <p:nvPr/>
        </p:nvSpPr>
        <p:spPr>
          <a:xfrm>
            <a:off x="704088" y="1197864"/>
            <a:ext cx="1385316" cy="173736"/>
          </a:xfrm>
          <a:prstGeom prst="rect">
            <a:avLst/>
          </a:prstGeom>
          <a:noFill/>
          <a:ln/>
        </p:spPr>
        <p:txBody>
          <a:bodyPr wrap="square" lIns="0" tIns="0" rIns="0" bIns="0" rtlCol="0" anchor="ctr"/>
          <a:lstStyle/>
          <a:p>
            <a:pPr marL="0" indent="0">
              <a:buNone/>
            </a:pPr>
            <a:r>
              <a:rPr lang="en-US" sz="850" b="0" dirty="0">
                <a:solidFill>
                  <a:srgbClr val="12233B"/>
                </a:solidFill>
                <a:latin typeface="Trenda IG Text Semibold" pitchFamily="34" charset="0"/>
                <a:ea typeface="Trenda IG Text Semibold" pitchFamily="34" charset="-122"/>
                <a:cs typeface="Trenda IG Text Semibold" pitchFamily="34" charset="-120"/>
              </a:rPr>
              <a:t>Jira</a:t>
            </a:r>
            <a:endParaRPr lang="en-US" sz="850" dirty="0"/>
          </a:p>
        </p:txBody>
      </p:sp>
      <p:sp>
        <p:nvSpPr>
          <p:cNvPr id="10" name="Text 7"/>
          <p:cNvSpPr txBox="1"/>
          <p:nvPr/>
        </p:nvSpPr>
        <p:spPr>
          <a:xfrm>
            <a:off x="493776" y="1408176"/>
            <a:ext cx="1577340" cy="347472"/>
          </a:xfrm>
          <a:prstGeom prst="rect">
            <a:avLst/>
          </a:prstGeom>
          <a:noFill/>
          <a:ln/>
        </p:spPr>
        <p:txBody>
          <a:bodyPr wrap="square" lIns="0" tIns="0" rIns="0" bIns="0" rtlCol="0" anchor="t"/>
          <a:lstStyle/>
          <a:p>
            <a:pPr marL="0" indent="0">
              <a:lnSpc>
                <a:spcPct val="95000"/>
              </a:lnSpc>
              <a:buNone/>
            </a:pPr>
            <a:r>
              <a:rPr lang="en-US" sz="650" dirty="0">
                <a:solidFill>
                  <a:srgbClr val="5C6E85"/>
                </a:solidFill>
                <a:latin typeface="Trenda IG Text" pitchFamily="34" charset="0"/>
                <a:ea typeface="Trenda IG Text" pitchFamily="34" charset="-122"/>
                <a:cs typeface="Trenda IG Text" pitchFamily="34" charset="-120"/>
              </a:rPr>
              <a:t>Requirements, acceptance criteria, history</a:t>
            </a:r>
            <a:endParaRPr lang="en-US" sz="650" dirty="0"/>
          </a:p>
        </p:txBody>
      </p:sp>
      <p:sp>
        <p:nvSpPr>
          <p:cNvPr id="12" name="Shape 9"/>
          <p:cNvSpPr/>
          <p:nvPr/>
        </p:nvSpPr>
        <p:spPr>
          <a:xfrm>
            <a:off x="2308860" y="1115568"/>
            <a:ext cx="1796796" cy="713232"/>
          </a:xfrm>
          <a:prstGeom prst="roundRect">
            <a:avLst>
              <a:gd name="adj" fmla="val 6410"/>
            </a:avLst>
          </a:prstGeom>
          <a:solidFill>
            <a:srgbClr val="FFFFFF"/>
          </a:solidFill>
          <a:ln w="12700">
            <a:solidFill>
              <a:srgbClr val="DCE4EE"/>
            </a:solidFill>
            <a:prstDash val="solid"/>
          </a:ln>
        </p:spPr>
        <p:txBody>
          <a:bodyPr/>
          <a:lstStyle/>
          <a:p>
            <a:endParaRPr lang="en-IN"/>
          </a:p>
        </p:txBody>
      </p:sp>
      <p:pic>
        <p:nvPicPr>
          <p:cNvPr id="13" name="Image 1" descr="preencoded.png"/>
          <p:cNvPicPr>
            <a:picLocks noChangeAspect="1"/>
          </p:cNvPicPr>
          <p:nvPr/>
        </p:nvPicPr>
        <p:blipFill>
          <a:blip r:embed="rId4"/>
          <a:stretch>
            <a:fillRect/>
          </a:stretch>
        </p:blipFill>
        <p:spPr>
          <a:xfrm>
            <a:off x="2418588" y="1207008"/>
            <a:ext cx="155448" cy="155448"/>
          </a:xfrm>
          <a:prstGeom prst="rect">
            <a:avLst/>
          </a:prstGeom>
        </p:spPr>
      </p:pic>
      <p:sp>
        <p:nvSpPr>
          <p:cNvPr id="14" name="Text 10"/>
          <p:cNvSpPr txBox="1"/>
          <p:nvPr/>
        </p:nvSpPr>
        <p:spPr>
          <a:xfrm>
            <a:off x="2628900" y="1197864"/>
            <a:ext cx="1385316" cy="173736"/>
          </a:xfrm>
          <a:prstGeom prst="rect">
            <a:avLst/>
          </a:prstGeom>
          <a:noFill/>
          <a:ln/>
        </p:spPr>
        <p:txBody>
          <a:bodyPr wrap="square" lIns="0" tIns="0" rIns="0" bIns="0" rtlCol="0" anchor="ctr"/>
          <a:lstStyle/>
          <a:p>
            <a:pPr marL="0" indent="0">
              <a:buNone/>
            </a:pPr>
            <a:r>
              <a:rPr lang="en-US" sz="850" b="0" dirty="0">
                <a:solidFill>
                  <a:srgbClr val="12233B"/>
                </a:solidFill>
                <a:latin typeface="Trenda IG Text Semibold" pitchFamily="34" charset="0"/>
                <a:ea typeface="Trenda IG Text Semibold" pitchFamily="34" charset="-122"/>
                <a:cs typeface="Trenda IG Text Semibold" pitchFamily="34" charset="-120"/>
              </a:rPr>
              <a:t>Confluence</a:t>
            </a:r>
            <a:endParaRPr lang="en-US" sz="850" dirty="0"/>
          </a:p>
        </p:txBody>
      </p:sp>
      <p:sp>
        <p:nvSpPr>
          <p:cNvPr id="15" name="Text 11"/>
          <p:cNvSpPr txBox="1"/>
          <p:nvPr/>
        </p:nvSpPr>
        <p:spPr>
          <a:xfrm>
            <a:off x="2418588" y="1408176"/>
            <a:ext cx="1577340" cy="347472"/>
          </a:xfrm>
          <a:prstGeom prst="rect">
            <a:avLst/>
          </a:prstGeom>
          <a:noFill/>
          <a:ln/>
        </p:spPr>
        <p:txBody>
          <a:bodyPr wrap="square" lIns="0" tIns="0" rIns="0" bIns="0" rtlCol="0" anchor="t"/>
          <a:lstStyle/>
          <a:p>
            <a:pPr marL="0" indent="0">
              <a:lnSpc>
                <a:spcPct val="95000"/>
              </a:lnSpc>
              <a:buNone/>
            </a:pPr>
            <a:r>
              <a:rPr lang="en-US" sz="650" dirty="0">
                <a:solidFill>
                  <a:srgbClr val="5C6E85"/>
                </a:solidFill>
                <a:latin typeface="Trenda IG Text" pitchFamily="34" charset="0"/>
                <a:ea typeface="Trenda IG Text" pitchFamily="34" charset="-122"/>
                <a:cs typeface="Trenda IG Text" pitchFamily="34" charset="-120"/>
              </a:rPr>
              <a:t>Functional &amp; technical design, business rules</a:t>
            </a:r>
            <a:endParaRPr lang="en-US" sz="650" dirty="0"/>
          </a:p>
        </p:txBody>
      </p:sp>
      <p:sp>
        <p:nvSpPr>
          <p:cNvPr id="17" name="Shape 13"/>
          <p:cNvSpPr/>
          <p:nvPr/>
        </p:nvSpPr>
        <p:spPr>
          <a:xfrm>
            <a:off x="4233672" y="1115568"/>
            <a:ext cx="1796796" cy="713232"/>
          </a:xfrm>
          <a:prstGeom prst="roundRect">
            <a:avLst>
              <a:gd name="adj" fmla="val 6410"/>
            </a:avLst>
          </a:prstGeom>
          <a:solidFill>
            <a:srgbClr val="FFFFFF"/>
          </a:solidFill>
          <a:ln w="12700">
            <a:solidFill>
              <a:srgbClr val="DCE4EE"/>
            </a:solidFill>
            <a:prstDash val="solid"/>
          </a:ln>
        </p:spPr>
        <p:txBody>
          <a:bodyPr/>
          <a:lstStyle/>
          <a:p>
            <a:endParaRPr lang="en-IN"/>
          </a:p>
        </p:txBody>
      </p:sp>
      <p:pic>
        <p:nvPicPr>
          <p:cNvPr id="18" name="Image 2" descr="preencoded.png"/>
          <p:cNvPicPr>
            <a:picLocks noChangeAspect="1"/>
          </p:cNvPicPr>
          <p:nvPr/>
        </p:nvPicPr>
        <p:blipFill>
          <a:blip r:embed="rId5"/>
          <a:stretch>
            <a:fillRect/>
          </a:stretch>
        </p:blipFill>
        <p:spPr>
          <a:xfrm>
            <a:off x="4343400" y="1207008"/>
            <a:ext cx="155448" cy="155448"/>
          </a:xfrm>
          <a:prstGeom prst="rect">
            <a:avLst/>
          </a:prstGeom>
        </p:spPr>
      </p:pic>
      <p:sp>
        <p:nvSpPr>
          <p:cNvPr id="19" name="Text 14"/>
          <p:cNvSpPr txBox="1"/>
          <p:nvPr/>
        </p:nvSpPr>
        <p:spPr>
          <a:xfrm>
            <a:off x="4553712" y="1197864"/>
            <a:ext cx="1385316" cy="173736"/>
          </a:xfrm>
          <a:prstGeom prst="rect">
            <a:avLst/>
          </a:prstGeom>
          <a:noFill/>
          <a:ln/>
        </p:spPr>
        <p:txBody>
          <a:bodyPr wrap="square" lIns="0" tIns="0" rIns="0" bIns="0" rtlCol="0" anchor="ctr"/>
          <a:lstStyle/>
          <a:p>
            <a:pPr marL="0" indent="0">
              <a:buNone/>
            </a:pPr>
            <a:r>
              <a:rPr lang="en-US" sz="850" b="0" dirty="0">
                <a:solidFill>
                  <a:srgbClr val="12233B"/>
                </a:solidFill>
                <a:latin typeface="Trenda IG Text Semibold" pitchFamily="34" charset="0"/>
                <a:ea typeface="Trenda IG Text Semibold" pitchFamily="34" charset="-122"/>
                <a:cs typeface="Trenda IG Text Semibold" pitchFamily="34" charset="-120"/>
              </a:rPr>
              <a:t>Salesforce</a:t>
            </a:r>
            <a:endParaRPr lang="en-US" sz="850" dirty="0"/>
          </a:p>
        </p:txBody>
      </p:sp>
      <p:sp>
        <p:nvSpPr>
          <p:cNvPr id="20" name="Text 15"/>
          <p:cNvSpPr txBox="1"/>
          <p:nvPr/>
        </p:nvSpPr>
        <p:spPr>
          <a:xfrm>
            <a:off x="4343400" y="1408176"/>
            <a:ext cx="1577340" cy="347472"/>
          </a:xfrm>
          <a:prstGeom prst="rect">
            <a:avLst/>
          </a:prstGeom>
          <a:noFill/>
          <a:ln/>
        </p:spPr>
        <p:txBody>
          <a:bodyPr wrap="square" lIns="0" tIns="0" rIns="0" bIns="0" rtlCol="0" anchor="t"/>
          <a:lstStyle/>
          <a:p>
            <a:pPr marL="0" indent="0">
              <a:lnSpc>
                <a:spcPct val="95000"/>
              </a:lnSpc>
              <a:buNone/>
            </a:pPr>
            <a:r>
              <a:rPr lang="en-US" sz="650" dirty="0">
                <a:solidFill>
                  <a:srgbClr val="5C6E85"/>
                </a:solidFill>
                <a:latin typeface="Trenda IG Text" pitchFamily="34" charset="0"/>
                <a:ea typeface="Trenda IG Text" pitchFamily="34" charset="-122"/>
                <a:cs typeface="Trenda IG Text" pitchFamily="34" charset="-120"/>
              </a:rPr>
              <a:t>Objects, fields, Flows, Apex dependencies</a:t>
            </a:r>
            <a:endParaRPr lang="en-US" sz="650" dirty="0"/>
          </a:p>
        </p:txBody>
      </p:sp>
      <p:sp>
        <p:nvSpPr>
          <p:cNvPr id="22" name="Shape 17"/>
          <p:cNvSpPr/>
          <p:nvPr/>
        </p:nvSpPr>
        <p:spPr>
          <a:xfrm>
            <a:off x="6158484" y="1115568"/>
            <a:ext cx="1796796" cy="713232"/>
          </a:xfrm>
          <a:prstGeom prst="roundRect">
            <a:avLst>
              <a:gd name="adj" fmla="val 6410"/>
            </a:avLst>
          </a:prstGeom>
          <a:solidFill>
            <a:srgbClr val="FFFFFF"/>
          </a:solidFill>
          <a:ln w="12700">
            <a:solidFill>
              <a:srgbClr val="DCE4EE"/>
            </a:solidFill>
            <a:prstDash val="solid"/>
          </a:ln>
        </p:spPr>
        <p:txBody>
          <a:bodyPr/>
          <a:lstStyle/>
          <a:p>
            <a:endParaRPr lang="en-IN"/>
          </a:p>
        </p:txBody>
      </p:sp>
      <p:pic>
        <p:nvPicPr>
          <p:cNvPr id="23" name="Image 3" descr="preencoded.png"/>
          <p:cNvPicPr>
            <a:picLocks noChangeAspect="1"/>
          </p:cNvPicPr>
          <p:nvPr/>
        </p:nvPicPr>
        <p:blipFill>
          <a:blip r:embed="rId6"/>
          <a:stretch>
            <a:fillRect/>
          </a:stretch>
        </p:blipFill>
        <p:spPr>
          <a:xfrm>
            <a:off x="6268212" y="1207008"/>
            <a:ext cx="155448" cy="155448"/>
          </a:xfrm>
          <a:prstGeom prst="rect">
            <a:avLst/>
          </a:prstGeom>
        </p:spPr>
      </p:pic>
      <p:sp>
        <p:nvSpPr>
          <p:cNvPr id="24" name="Text 18"/>
          <p:cNvSpPr txBox="1"/>
          <p:nvPr/>
        </p:nvSpPr>
        <p:spPr>
          <a:xfrm>
            <a:off x="6478524" y="1197864"/>
            <a:ext cx="1385316" cy="173736"/>
          </a:xfrm>
          <a:prstGeom prst="rect">
            <a:avLst/>
          </a:prstGeom>
          <a:noFill/>
          <a:ln/>
        </p:spPr>
        <p:txBody>
          <a:bodyPr wrap="square" lIns="0" tIns="0" rIns="0" bIns="0" rtlCol="0" anchor="ctr"/>
          <a:lstStyle/>
          <a:p>
            <a:pPr marL="0" indent="0">
              <a:buNone/>
            </a:pPr>
            <a:r>
              <a:rPr lang="en-US" sz="850" b="0" dirty="0">
                <a:solidFill>
                  <a:srgbClr val="12233B"/>
                </a:solidFill>
                <a:latin typeface="Trenda IG Text Semibold" pitchFamily="34" charset="0"/>
                <a:ea typeface="Trenda IG Text Semibold" pitchFamily="34" charset="-122"/>
                <a:cs typeface="Trenda IG Text Semibold" pitchFamily="34" charset="-120"/>
              </a:rPr>
              <a:t>Git</a:t>
            </a:r>
            <a:endParaRPr lang="en-US" sz="850" dirty="0"/>
          </a:p>
        </p:txBody>
      </p:sp>
      <p:sp>
        <p:nvSpPr>
          <p:cNvPr id="25" name="Text 19"/>
          <p:cNvSpPr txBox="1"/>
          <p:nvPr/>
        </p:nvSpPr>
        <p:spPr>
          <a:xfrm>
            <a:off x="6268212" y="1408176"/>
            <a:ext cx="1577340" cy="347472"/>
          </a:xfrm>
          <a:prstGeom prst="rect">
            <a:avLst/>
          </a:prstGeom>
          <a:noFill/>
          <a:ln/>
        </p:spPr>
        <p:txBody>
          <a:bodyPr wrap="square" lIns="0" tIns="0" rIns="0" bIns="0" rtlCol="0" anchor="t"/>
          <a:lstStyle/>
          <a:p>
            <a:pPr marL="0" indent="0">
              <a:lnSpc>
                <a:spcPct val="95000"/>
              </a:lnSpc>
              <a:buNone/>
            </a:pPr>
            <a:r>
              <a:rPr lang="en-US" sz="650" dirty="0">
                <a:solidFill>
                  <a:srgbClr val="5C6E85"/>
                </a:solidFill>
                <a:latin typeface="Trenda IG Text" pitchFamily="34" charset="0"/>
                <a:ea typeface="Trenda IG Text" pitchFamily="34" charset="-122"/>
                <a:cs typeface="Trenda IG Text" pitchFamily="34" charset="-120"/>
              </a:rPr>
              <a:t>Apex, LWC, metadata, unit tests</a:t>
            </a:r>
            <a:endParaRPr lang="en-US" sz="650" dirty="0"/>
          </a:p>
        </p:txBody>
      </p:sp>
      <p:sp>
        <p:nvSpPr>
          <p:cNvPr id="27" name="Shape 21"/>
          <p:cNvSpPr/>
          <p:nvPr/>
        </p:nvSpPr>
        <p:spPr>
          <a:xfrm>
            <a:off x="8083296" y="1115568"/>
            <a:ext cx="1796796" cy="713232"/>
          </a:xfrm>
          <a:prstGeom prst="roundRect">
            <a:avLst>
              <a:gd name="adj" fmla="val 6410"/>
            </a:avLst>
          </a:prstGeom>
          <a:solidFill>
            <a:srgbClr val="FFFFFF"/>
          </a:solidFill>
          <a:ln w="12700">
            <a:solidFill>
              <a:srgbClr val="DCE4EE"/>
            </a:solidFill>
            <a:prstDash val="solid"/>
          </a:ln>
        </p:spPr>
        <p:txBody>
          <a:bodyPr/>
          <a:lstStyle/>
          <a:p>
            <a:endParaRPr lang="en-IN"/>
          </a:p>
        </p:txBody>
      </p:sp>
      <p:pic>
        <p:nvPicPr>
          <p:cNvPr id="28" name="Image 4" descr="preencoded.png"/>
          <p:cNvPicPr>
            <a:picLocks noChangeAspect="1"/>
          </p:cNvPicPr>
          <p:nvPr/>
        </p:nvPicPr>
        <p:blipFill>
          <a:blip r:embed="rId7"/>
          <a:stretch>
            <a:fillRect/>
          </a:stretch>
        </p:blipFill>
        <p:spPr>
          <a:xfrm>
            <a:off x="8193024" y="1207008"/>
            <a:ext cx="155448" cy="155448"/>
          </a:xfrm>
          <a:prstGeom prst="rect">
            <a:avLst/>
          </a:prstGeom>
        </p:spPr>
      </p:pic>
      <p:sp>
        <p:nvSpPr>
          <p:cNvPr id="29" name="Text 22"/>
          <p:cNvSpPr txBox="1"/>
          <p:nvPr/>
        </p:nvSpPr>
        <p:spPr>
          <a:xfrm>
            <a:off x="8403336" y="1197864"/>
            <a:ext cx="1385316" cy="173736"/>
          </a:xfrm>
          <a:prstGeom prst="rect">
            <a:avLst/>
          </a:prstGeom>
          <a:noFill/>
          <a:ln/>
        </p:spPr>
        <p:txBody>
          <a:bodyPr wrap="square" lIns="0" tIns="0" rIns="0" bIns="0" rtlCol="0" anchor="ctr"/>
          <a:lstStyle/>
          <a:p>
            <a:pPr marL="0" indent="0">
              <a:buNone/>
            </a:pPr>
            <a:r>
              <a:rPr lang="en-US" sz="850" b="0" dirty="0">
                <a:solidFill>
                  <a:srgbClr val="12233B"/>
                </a:solidFill>
                <a:latin typeface="Trenda IG Text Semibold" pitchFamily="34" charset="0"/>
                <a:ea typeface="Trenda IG Text Semibold" pitchFamily="34" charset="-122"/>
                <a:cs typeface="Trenda IG Text Semibold" pitchFamily="34" charset="-120"/>
              </a:rPr>
              <a:t>Copado</a:t>
            </a:r>
            <a:endParaRPr lang="en-US" sz="850" dirty="0"/>
          </a:p>
        </p:txBody>
      </p:sp>
      <p:sp>
        <p:nvSpPr>
          <p:cNvPr id="30" name="Text 23"/>
          <p:cNvSpPr txBox="1"/>
          <p:nvPr/>
        </p:nvSpPr>
        <p:spPr>
          <a:xfrm>
            <a:off x="8193024" y="1408176"/>
            <a:ext cx="1577340" cy="347472"/>
          </a:xfrm>
          <a:prstGeom prst="rect">
            <a:avLst/>
          </a:prstGeom>
          <a:noFill/>
          <a:ln/>
        </p:spPr>
        <p:txBody>
          <a:bodyPr wrap="square" lIns="0" tIns="0" rIns="0" bIns="0" rtlCol="0" anchor="t"/>
          <a:lstStyle/>
          <a:p>
            <a:pPr marL="0" indent="0">
              <a:lnSpc>
                <a:spcPct val="95000"/>
              </a:lnSpc>
              <a:buNone/>
            </a:pPr>
            <a:r>
              <a:rPr lang="en-US" sz="650" dirty="0">
                <a:solidFill>
                  <a:srgbClr val="5C6E85"/>
                </a:solidFill>
                <a:latin typeface="Trenda IG Text" pitchFamily="34" charset="0"/>
                <a:ea typeface="Trenda IG Text" pitchFamily="34" charset="-122"/>
                <a:cs typeface="Trenda IG Text" pitchFamily="34" charset="-120"/>
              </a:rPr>
              <a:t>Releases, robotic &amp; regression testing</a:t>
            </a:r>
            <a:endParaRPr lang="en-US" sz="650" dirty="0"/>
          </a:p>
        </p:txBody>
      </p:sp>
      <p:sp>
        <p:nvSpPr>
          <p:cNvPr id="32" name="Shape 25"/>
          <p:cNvSpPr/>
          <p:nvPr/>
        </p:nvSpPr>
        <p:spPr>
          <a:xfrm>
            <a:off x="10008108" y="1115568"/>
            <a:ext cx="1796796" cy="713232"/>
          </a:xfrm>
          <a:prstGeom prst="roundRect">
            <a:avLst>
              <a:gd name="adj" fmla="val 6410"/>
            </a:avLst>
          </a:prstGeom>
          <a:solidFill>
            <a:srgbClr val="FFFFFF"/>
          </a:solidFill>
          <a:ln w="12700">
            <a:solidFill>
              <a:srgbClr val="DCE4EE"/>
            </a:solidFill>
            <a:prstDash val="solid"/>
          </a:ln>
        </p:spPr>
        <p:txBody>
          <a:bodyPr/>
          <a:lstStyle/>
          <a:p>
            <a:endParaRPr lang="en-IN"/>
          </a:p>
        </p:txBody>
      </p:sp>
      <p:pic>
        <p:nvPicPr>
          <p:cNvPr id="33" name="Image 5" descr="preencoded.png"/>
          <p:cNvPicPr>
            <a:picLocks noChangeAspect="1"/>
          </p:cNvPicPr>
          <p:nvPr/>
        </p:nvPicPr>
        <p:blipFill>
          <a:blip r:embed="rId8"/>
          <a:stretch>
            <a:fillRect/>
          </a:stretch>
        </p:blipFill>
        <p:spPr>
          <a:xfrm>
            <a:off x="10117836" y="1207008"/>
            <a:ext cx="155448" cy="155448"/>
          </a:xfrm>
          <a:prstGeom prst="rect">
            <a:avLst/>
          </a:prstGeom>
        </p:spPr>
      </p:pic>
      <p:sp>
        <p:nvSpPr>
          <p:cNvPr id="34" name="Text 26"/>
          <p:cNvSpPr txBox="1"/>
          <p:nvPr/>
        </p:nvSpPr>
        <p:spPr>
          <a:xfrm>
            <a:off x="10328148" y="1197864"/>
            <a:ext cx="1385316" cy="173736"/>
          </a:xfrm>
          <a:prstGeom prst="rect">
            <a:avLst/>
          </a:prstGeom>
          <a:noFill/>
          <a:ln/>
        </p:spPr>
        <p:txBody>
          <a:bodyPr wrap="square" lIns="0" tIns="0" rIns="0" bIns="0" rtlCol="0" anchor="ctr"/>
          <a:lstStyle/>
          <a:p>
            <a:pPr marL="0" indent="0">
              <a:buNone/>
            </a:pPr>
            <a:r>
              <a:rPr lang="en-US" sz="850" b="0" dirty="0">
                <a:solidFill>
                  <a:srgbClr val="12233B"/>
                </a:solidFill>
                <a:latin typeface="Trenda IG Text Semibold" pitchFamily="34" charset="0"/>
                <a:ea typeface="Trenda IG Text Semibold" pitchFamily="34" charset="-122"/>
                <a:cs typeface="Trenda IG Text Semibold" pitchFamily="34" charset="-120"/>
              </a:rPr>
              <a:t>Google Drive</a:t>
            </a:r>
            <a:endParaRPr lang="en-US" sz="850" dirty="0"/>
          </a:p>
        </p:txBody>
      </p:sp>
      <p:sp>
        <p:nvSpPr>
          <p:cNvPr id="35" name="Text 27"/>
          <p:cNvSpPr txBox="1"/>
          <p:nvPr/>
        </p:nvSpPr>
        <p:spPr>
          <a:xfrm>
            <a:off x="10117836" y="1408176"/>
            <a:ext cx="1577340" cy="347472"/>
          </a:xfrm>
          <a:prstGeom prst="rect">
            <a:avLst/>
          </a:prstGeom>
          <a:noFill/>
          <a:ln/>
        </p:spPr>
        <p:txBody>
          <a:bodyPr wrap="square" lIns="0" tIns="0" rIns="0" bIns="0" rtlCol="0" anchor="t"/>
          <a:lstStyle/>
          <a:p>
            <a:pPr marL="0" indent="0">
              <a:lnSpc>
                <a:spcPct val="95000"/>
              </a:lnSpc>
              <a:buNone/>
            </a:pPr>
            <a:r>
              <a:rPr lang="en-US" sz="650" dirty="0">
                <a:solidFill>
                  <a:srgbClr val="5C6E85"/>
                </a:solidFill>
                <a:latin typeface="Trenda IG Text" pitchFamily="34" charset="0"/>
                <a:ea typeface="Trenda IG Text" pitchFamily="34" charset="-122"/>
                <a:cs typeface="Trenda IG Text" pitchFamily="34" charset="-120"/>
              </a:rPr>
              <a:t>Specs, mapping sheets, evidence exports</a:t>
            </a:r>
            <a:endParaRPr lang="en-US" sz="650" dirty="0"/>
          </a:p>
        </p:txBody>
      </p:sp>
      <p:sp>
        <p:nvSpPr>
          <p:cNvPr id="37" name="Text 29"/>
          <p:cNvSpPr txBox="1"/>
          <p:nvPr/>
        </p:nvSpPr>
        <p:spPr>
          <a:xfrm>
            <a:off x="7315200" y="932688"/>
            <a:ext cx="4489704" cy="146304"/>
          </a:xfrm>
          <a:prstGeom prst="rect">
            <a:avLst/>
          </a:prstGeom>
          <a:noFill/>
          <a:ln/>
        </p:spPr>
        <p:txBody>
          <a:bodyPr wrap="square" lIns="0" tIns="0" rIns="0" bIns="0" rtlCol="0" anchor="ctr"/>
          <a:lstStyle/>
          <a:p>
            <a:pPr marL="0" indent="0" algn="r">
              <a:buNone/>
            </a:pPr>
            <a:r>
              <a:rPr lang="en-US" sz="650" i="1" dirty="0">
                <a:solidFill>
                  <a:srgbClr val="5C6E85"/>
                </a:solidFill>
                <a:latin typeface="Trenda IG Text" pitchFamily="34" charset="0"/>
                <a:ea typeface="Trenda IG Text" pitchFamily="34" charset="-122"/>
                <a:cs typeface="Trenda IG Text" pitchFamily="34" charset="-120"/>
              </a:rPr>
              <a:t>read-only connectors  ·  hashed  ·  provenance-tagged</a:t>
            </a:r>
            <a:endParaRPr lang="en-US" sz="650" dirty="0"/>
          </a:p>
        </p:txBody>
      </p:sp>
      <p:sp>
        <p:nvSpPr>
          <p:cNvPr id="38" name="Shape 30"/>
          <p:cNvSpPr/>
          <p:nvPr/>
        </p:nvSpPr>
        <p:spPr>
          <a:xfrm>
            <a:off x="384048" y="2121408"/>
            <a:ext cx="2487168" cy="2304288"/>
          </a:xfrm>
          <a:prstGeom prst="roundRect">
            <a:avLst>
              <a:gd name="adj" fmla="val 2381"/>
            </a:avLst>
          </a:prstGeom>
          <a:solidFill>
            <a:srgbClr val="FDF1DE"/>
          </a:solidFill>
          <a:ln w="15875">
            <a:solidFill>
              <a:srgbClr val="C77400"/>
            </a:solidFill>
            <a:prstDash val="solid"/>
          </a:ln>
        </p:spPr>
        <p:txBody>
          <a:bodyPr/>
          <a:lstStyle/>
          <a:p>
            <a:endParaRPr lang="en-IN"/>
          </a:p>
        </p:txBody>
      </p:sp>
      <p:pic>
        <p:nvPicPr>
          <p:cNvPr id="39" name="Image 6" descr="preencoded.png"/>
          <p:cNvPicPr>
            <a:picLocks noChangeAspect="1"/>
          </p:cNvPicPr>
          <p:nvPr/>
        </p:nvPicPr>
        <p:blipFill>
          <a:blip r:embed="rId9"/>
          <a:stretch>
            <a:fillRect/>
          </a:stretch>
        </p:blipFill>
        <p:spPr>
          <a:xfrm>
            <a:off x="530352" y="2231136"/>
            <a:ext cx="182880" cy="182880"/>
          </a:xfrm>
          <a:prstGeom prst="rect">
            <a:avLst/>
          </a:prstGeom>
        </p:spPr>
      </p:pic>
      <p:sp>
        <p:nvSpPr>
          <p:cNvPr id="40" name="Text 31"/>
          <p:cNvSpPr txBox="1"/>
          <p:nvPr/>
        </p:nvSpPr>
        <p:spPr>
          <a:xfrm>
            <a:off x="777240" y="2221992"/>
            <a:ext cx="2011680" cy="201168"/>
          </a:xfrm>
          <a:prstGeom prst="rect">
            <a:avLst/>
          </a:prstGeom>
          <a:noFill/>
          <a:ln/>
        </p:spPr>
        <p:txBody>
          <a:bodyPr wrap="square" lIns="0" tIns="0" rIns="0" bIns="0" rtlCol="0" anchor="ctr"/>
          <a:lstStyle/>
          <a:p>
            <a:pPr marL="0" indent="0">
              <a:buNone/>
            </a:pPr>
            <a:r>
              <a:rPr lang="en-US" sz="1100" b="0" kern="0" spc="30" dirty="0">
                <a:solidFill>
                  <a:srgbClr val="9A5A00"/>
                </a:solidFill>
                <a:latin typeface="Trenda IG Display Bold" pitchFamily="34" charset="0"/>
                <a:ea typeface="Trenda IG Display Bold" pitchFamily="34" charset="-122"/>
                <a:cs typeface="Trenda IG Display Bold" pitchFamily="34" charset="-120"/>
              </a:rPr>
              <a:t>CODEX</a:t>
            </a:r>
            <a:endParaRPr lang="en-US" sz="1100" dirty="0"/>
          </a:p>
        </p:txBody>
      </p:sp>
      <p:sp>
        <p:nvSpPr>
          <p:cNvPr id="41" name="Text 32"/>
          <p:cNvSpPr txBox="1"/>
          <p:nvPr/>
        </p:nvSpPr>
        <p:spPr>
          <a:xfrm>
            <a:off x="530352" y="2432304"/>
            <a:ext cx="2212848" cy="146304"/>
          </a:xfrm>
          <a:prstGeom prst="rect">
            <a:avLst/>
          </a:prstGeom>
          <a:noFill/>
          <a:ln/>
        </p:spPr>
        <p:txBody>
          <a:bodyPr wrap="square" lIns="0" tIns="0" rIns="0" bIns="0" rtlCol="0" anchor="ctr"/>
          <a:lstStyle/>
          <a:p>
            <a:pPr marL="0" indent="0">
              <a:buNone/>
            </a:pPr>
            <a:r>
              <a:rPr lang="en-US" sz="650" i="1" dirty="0">
                <a:solidFill>
                  <a:srgbClr val="9A5A00"/>
                </a:solidFill>
                <a:latin typeface="Trenda IG Text" pitchFamily="34" charset="0"/>
                <a:ea typeface="Trenda IG Text" pitchFamily="34" charset="-122"/>
                <a:cs typeface="Trenda IG Text" pitchFamily="34" charset="-120"/>
              </a:rPr>
              <a:t>AI reasoning layer · the way people ask</a:t>
            </a:r>
            <a:endParaRPr lang="en-US" sz="650" dirty="0"/>
          </a:p>
        </p:txBody>
      </p:sp>
      <p:sp>
        <p:nvSpPr>
          <p:cNvPr id="42" name="Text 33"/>
          <p:cNvSpPr txBox="1"/>
          <p:nvPr/>
        </p:nvSpPr>
        <p:spPr>
          <a:xfrm>
            <a:off x="548640" y="2633472"/>
            <a:ext cx="2194560" cy="1005840"/>
          </a:xfrm>
          <a:prstGeom prst="rect">
            <a:avLst/>
          </a:prstGeom>
          <a:noFill/>
          <a:ln/>
        </p:spPr>
        <p:txBody>
          <a:bodyPr wrap="square" lIns="0" tIns="0" rIns="0" bIns="0" rtlCol="0" anchor="t"/>
          <a:lstStyle/>
          <a:p>
            <a:pPr marL="101600" indent="-101600">
              <a:lnSpc>
                <a:spcPct val="100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Requirement understanding</a:t>
            </a:r>
            <a:endParaRPr lang="en-US" sz="750" dirty="0"/>
          </a:p>
          <a:p>
            <a:pPr marL="101600" indent="-101600">
              <a:lnSpc>
                <a:spcPct val="100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Architecture reasoning</a:t>
            </a:r>
            <a:endParaRPr lang="en-US" sz="750" dirty="0"/>
          </a:p>
          <a:p>
            <a:pPr marL="101600" indent="-101600">
              <a:lnSpc>
                <a:spcPct val="100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Reuse detection</a:t>
            </a:r>
            <a:endParaRPr lang="en-US" sz="750" dirty="0"/>
          </a:p>
          <a:p>
            <a:pPr marL="101600" indent="-101600">
              <a:lnSpc>
                <a:spcPct val="100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Impact analysis</a:t>
            </a:r>
            <a:endParaRPr lang="en-US" sz="750" dirty="0"/>
          </a:p>
          <a:p>
            <a:pPr marL="101600" indent="-101600">
              <a:lnSpc>
                <a:spcPct val="100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Risk classification</a:t>
            </a:r>
            <a:endParaRPr lang="en-US" sz="750" dirty="0"/>
          </a:p>
          <a:p>
            <a:pPr marL="101600" indent="-101600">
              <a:lnSpc>
                <a:spcPct val="100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Build orchestration</a:t>
            </a:r>
            <a:endParaRPr lang="en-US" sz="750" dirty="0"/>
          </a:p>
        </p:txBody>
      </p:sp>
      <p:sp>
        <p:nvSpPr>
          <p:cNvPr id="43" name="Shape 34"/>
          <p:cNvSpPr/>
          <p:nvPr/>
        </p:nvSpPr>
        <p:spPr>
          <a:xfrm>
            <a:off x="530352" y="3730752"/>
            <a:ext cx="2194560" cy="566928"/>
          </a:xfrm>
          <a:prstGeom prst="roundRect">
            <a:avLst>
              <a:gd name="adj" fmla="val 6452"/>
            </a:avLst>
          </a:prstGeom>
          <a:solidFill>
            <a:srgbClr val="C77400"/>
          </a:solidFill>
          <a:ln w="12700">
            <a:solidFill>
              <a:srgbClr val="C77400"/>
            </a:solidFill>
            <a:prstDash val="solid"/>
          </a:ln>
        </p:spPr>
        <p:txBody>
          <a:bodyPr/>
          <a:lstStyle/>
          <a:p>
            <a:endParaRPr lang="en-IN"/>
          </a:p>
        </p:txBody>
      </p:sp>
      <p:sp>
        <p:nvSpPr>
          <p:cNvPr id="44" name="Text 35"/>
          <p:cNvSpPr txBox="1"/>
          <p:nvPr/>
        </p:nvSpPr>
        <p:spPr>
          <a:xfrm>
            <a:off x="603504" y="3785616"/>
            <a:ext cx="2048256" cy="457200"/>
          </a:xfrm>
          <a:prstGeom prst="rect">
            <a:avLst/>
          </a:prstGeom>
          <a:noFill/>
          <a:ln/>
        </p:spPr>
        <p:txBody>
          <a:bodyPr wrap="square" lIns="0" tIns="0" rIns="0" bIns="0" rtlCol="0" anchor="t"/>
          <a:lstStyle/>
          <a:p>
            <a:pPr marL="0" indent="0">
              <a:lnSpc>
                <a:spcPct val="95000"/>
              </a:lnSpc>
              <a:buNone/>
            </a:pPr>
            <a:r>
              <a:rPr lang="en-US" sz="680" dirty="0">
                <a:solidFill>
                  <a:srgbClr val="FFFFFF"/>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80" dirty="0"/>
          </a:p>
        </p:txBody>
      </p:sp>
      <p:sp>
        <p:nvSpPr>
          <p:cNvPr id="45" name="Shape 36"/>
          <p:cNvSpPr/>
          <p:nvPr/>
        </p:nvSpPr>
        <p:spPr>
          <a:xfrm>
            <a:off x="2944368" y="2990088"/>
            <a:ext cx="475488" cy="219456"/>
          </a:xfrm>
          <a:prstGeom prst="rightArrow">
            <a:avLst/>
          </a:prstGeom>
          <a:solidFill>
            <a:srgbClr val="9AA7B5"/>
          </a:solidFill>
          <a:ln w="12700">
            <a:solidFill>
              <a:srgbClr val="9AA7B5"/>
            </a:solidFill>
            <a:prstDash val="solid"/>
          </a:ln>
        </p:spPr>
        <p:txBody>
          <a:bodyPr/>
          <a:lstStyle/>
          <a:p>
            <a:endParaRPr lang="en-IN"/>
          </a:p>
        </p:txBody>
      </p:sp>
      <p:sp>
        <p:nvSpPr>
          <p:cNvPr id="46" name="Text 37"/>
          <p:cNvSpPr txBox="1"/>
          <p:nvPr/>
        </p:nvSpPr>
        <p:spPr>
          <a:xfrm>
            <a:off x="2871216" y="2798064"/>
            <a:ext cx="640080" cy="128016"/>
          </a:xfrm>
          <a:prstGeom prst="rect">
            <a:avLst/>
          </a:prstGeom>
          <a:noFill/>
          <a:ln/>
        </p:spPr>
        <p:txBody>
          <a:bodyPr wrap="square" lIns="0" tIns="0" rIns="0" bIns="0" rtlCol="0" anchor="ctr"/>
          <a:lstStyle/>
          <a:p>
            <a:pPr marL="0" indent="0" algn="ctr">
              <a:buNone/>
            </a:pPr>
            <a:r>
              <a:rPr lang="en-US" sz="600" b="0" dirty="0">
                <a:solidFill>
                  <a:srgbClr val="5C6E85"/>
                </a:solidFill>
                <a:latin typeface="Trenda IG Text Semibold" pitchFamily="34" charset="0"/>
                <a:ea typeface="Trenda IG Text Semibold" pitchFamily="34" charset="-122"/>
                <a:cs typeface="Trenda IG Text Semibold" pitchFamily="34" charset="-120"/>
              </a:rPr>
              <a:t>question</a:t>
            </a:r>
            <a:endParaRPr lang="en-US" sz="600" dirty="0"/>
          </a:p>
        </p:txBody>
      </p:sp>
      <p:sp>
        <p:nvSpPr>
          <p:cNvPr id="47" name="Shape 38"/>
          <p:cNvSpPr/>
          <p:nvPr/>
        </p:nvSpPr>
        <p:spPr>
          <a:xfrm>
            <a:off x="2944368" y="3419856"/>
            <a:ext cx="475488" cy="219456"/>
          </a:xfrm>
          <a:prstGeom prst="leftArrow">
            <a:avLst/>
          </a:prstGeom>
          <a:solidFill>
            <a:srgbClr val="9AA7B5"/>
          </a:solidFill>
          <a:ln w="12700">
            <a:solidFill>
              <a:srgbClr val="9AA7B5"/>
            </a:solidFill>
            <a:prstDash val="solid"/>
          </a:ln>
        </p:spPr>
        <p:txBody>
          <a:bodyPr/>
          <a:lstStyle/>
          <a:p>
            <a:endParaRPr lang="en-IN"/>
          </a:p>
        </p:txBody>
      </p:sp>
      <p:sp>
        <p:nvSpPr>
          <p:cNvPr id="48" name="Text 39"/>
          <p:cNvSpPr txBox="1"/>
          <p:nvPr/>
        </p:nvSpPr>
        <p:spPr>
          <a:xfrm>
            <a:off x="2834640" y="3657600"/>
            <a:ext cx="640080" cy="128016"/>
          </a:xfrm>
          <a:prstGeom prst="rect">
            <a:avLst/>
          </a:prstGeom>
          <a:noFill/>
          <a:ln/>
        </p:spPr>
        <p:txBody>
          <a:bodyPr wrap="square" lIns="0" tIns="0" rIns="0" bIns="0" rtlCol="0" anchor="ctr"/>
          <a:lstStyle/>
          <a:p>
            <a:pPr marL="0" indent="0" algn="ctr">
              <a:buNone/>
            </a:pPr>
            <a:r>
              <a:rPr lang="en-US" sz="550" b="0" dirty="0">
                <a:solidFill>
                  <a:srgbClr val="5C6E85"/>
                </a:solidFill>
                <a:latin typeface="Trenda IG Text Semibold" pitchFamily="34" charset="0"/>
                <a:ea typeface="Trenda IG Text Semibold" pitchFamily="34" charset="-122"/>
                <a:cs typeface="Trenda IG Text Semibold" pitchFamily="34" charset="-120"/>
              </a:rPr>
              <a:t>verified answer</a:t>
            </a:r>
            <a:endParaRPr lang="en-US" sz="550" dirty="0"/>
          </a:p>
        </p:txBody>
      </p:sp>
      <p:sp>
        <p:nvSpPr>
          <p:cNvPr id="49" name="Shape 40"/>
          <p:cNvSpPr/>
          <p:nvPr/>
        </p:nvSpPr>
        <p:spPr>
          <a:xfrm>
            <a:off x="3493008" y="2121408"/>
            <a:ext cx="5138928" cy="2304288"/>
          </a:xfrm>
          <a:prstGeom prst="roundRect">
            <a:avLst>
              <a:gd name="adj" fmla="val 2381"/>
            </a:avLst>
          </a:prstGeom>
          <a:solidFill>
            <a:srgbClr val="FFFFFF"/>
          </a:solidFill>
          <a:ln w="22225">
            <a:solidFill>
              <a:srgbClr val="1B6BC0"/>
            </a:solidFill>
            <a:prstDash val="solid"/>
          </a:ln>
        </p:spPr>
        <p:txBody>
          <a:bodyPr/>
          <a:lstStyle/>
          <a:p>
            <a:endParaRPr lang="en-IN"/>
          </a:p>
        </p:txBody>
      </p:sp>
      <p:pic>
        <p:nvPicPr>
          <p:cNvPr id="50" name="Image 7" descr="preencoded.png"/>
          <p:cNvPicPr>
            <a:picLocks noChangeAspect="1"/>
          </p:cNvPicPr>
          <p:nvPr/>
        </p:nvPicPr>
        <p:blipFill>
          <a:blip r:embed="rId10"/>
          <a:stretch>
            <a:fillRect/>
          </a:stretch>
        </p:blipFill>
        <p:spPr>
          <a:xfrm>
            <a:off x="3657600" y="2231136"/>
            <a:ext cx="182880" cy="182880"/>
          </a:xfrm>
          <a:prstGeom prst="rect">
            <a:avLst/>
          </a:prstGeom>
        </p:spPr>
      </p:pic>
      <p:sp>
        <p:nvSpPr>
          <p:cNvPr id="51" name="Text 41"/>
          <p:cNvSpPr txBox="1"/>
          <p:nvPr/>
        </p:nvSpPr>
        <p:spPr>
          <a:xfrm>
            <a:off x="3904488" y="2221992"/>
            <a:ext cx="4572000" cy="201168"/>
          </a:xfrm>
          <a:prstGeom prst="rect">
            <a:avLst/>
          </a:prstGeom>
          <a:noFill/>
          <a:ln/>
        </p:spPr>
        <p:txBody>
          <a:bodyPr wrap="square" lIns="0" tIns="0" rIns="0" bIns="0" rtlCol="0" anchor="ctr"/>
          <a:lstStyle/>
          <a:p>
            <a:pPr marL="0" indent="0">
              <a:buNone/>
            </a:pPr>
            <a:r>
              <a:rPr lang="en-US" sz="1100" b="0" kern="0" spc="20" dirty="0">
                <a:solidFill>
                  <a:srgbClr val="1B6BC0"/>
                </a:solidFill>
                <a:latin typeface="Trenda IG Display Bold" pitchFamily="34" charset="0"/>
                <a:ea typeface="Trenda IG Display Bold" pitchFamily="34" charset="-122"/>
                <a:cs typeface="Trenda IG Display Bold" pitchFamily="34" charset="-120"/>
              </a:rPr>
              <a:t>ENGINEERING CONTEXT KNOWLEDGE GRAPH</a:t>
            </a:r>
            <a:endParaRPr lang="en-US" sz="1100" dirty="0"/>
          </a:p>
        </p:txBody>
      </p:sp>
      <p:sp>
        <p:nvSpPr>
          <p:cNvPr id="52" name="Text 42"/>
          <p:cNvSpPr txBox="1"/>
          <p:nvPr/>
        </p:nvSpPr>
        <p:spPr>
          <a:xfrm>
            <a:off x="3657600" y="2432304"/>
            <a:ext cx="4846320" cy="146304"/>
          </a:xfrm>
          <a:prstGeom prst="rect">
            <a:avLst/>
          </a:prstGeom>
          <a:noFill/>
          <a:ln/>
        </p:spPr>
        <p:txBody>
          <a:bodyPr wrap="square" lIns="0" tIns="0" rIns="0" bIns="0" rtlCol="0" anchor="ctr"/>
          <a:lstStyle/>
          <a:p>
            <a:pPr marL="0" indent="0">
              <a:buNone/>
            </a:pPr>
            <a:r>
              <a:rPr lang="en-US" sz="680" i="1" dirty="0">
                <a:solidFill>
                  <a:srgbClr val="5C6E85"/>
                </a:solidFill>
                <a:latin typeface="Trenda IG Text" pitchFamily="34" charset="0"/>
                <a:ea typeface="Trenda IG Text" pitchFamily="34" charset="-122"/>
                <a:cs typeface="Trenda IG Text" pitchFamily="34" charset="-120"/>
              </a:rPr>
              <a:t>Semantica ContextGraph · one graph, six systems, one set of facts</a:t>
            </a:r>
            <a:endParaRPr lang="en-US" sz="680" dirty="0"/>
          </a:p>
        </p:txBody>
      </p:sp>
      <p:sp>
        <p:nvSpPr>
          <p:cNvPr id="53" name="Text 43"/>
          <p:cNvSpPr txBox="1"/>
          <p:nvPr/>
        </p:nvSpPr>
        <p:spPr>
          <a:xfrm>
            <a:off x="3657600" y="2633472"/>
            <a:ext cx="2377440" cy="128016"/>
          </a:xfrm>
          <a:prstGeom prst="rect">
            <a:avLst/>
          </a:prstGeom>
          <a:noFill/>
          <a:ln/>
        </p:spPr>
        <p:txBody>
          <a:bodyPr wrap="square" lIns="0" tIns="0" rIns="0" bIns="0" rtlCol="0" anchor="ctr"/>
          <a:lstStyle/>
          <a:p>
            <a:pPr marL="0" indent="0">
              <a:buNone/>
            </a:pPr>
            <a:r>
              <a:rPr lang="en-US" sz="630" b="0" kern="0" spc="30" dirty="0">
                <a:solidFill>
                  <a:srgbClr val="1B6BC0"/>
                </a:solidFill>
                <a:latin typeface="Trenda IG Text Semibold" pitchFamily="34" charset="0"/>
                <a:ea typeface="Trenda IG Text Semibold" pitchFamily="34" charset="-122"/>
                <a:cs typeface="Trenda IG Text Semibold" pitchFamily="34" charset="-120"/>
              </a:rPr>
              <a:t>WHAT IT STORES</a:t>
            </a:r>
            <a:endParaRPr lang="en-US" sz="630" dirty="0"/>
          </a:p>
        </p:txBody>
      </p:sp>
      <p:sp>
        <p:nvSpPr>
          <p:cNvPr id="54" name="Text 44"/>
          <p:cNvSpPr txBox="1"/>
          <p:nvPr/>
        </p:nvSpPr>
        <p:spPr>
          <a:xfrm>
            <a:off x="3675888" y="2788920"/>
            <a:ext cx="2331720" cy="1170432"/>
          </a:xfrm>
          <a:prstGeom prst="rect">
            <a:avLst/>
          </a:prstGeom>
          <a:noFill/>
          <a:ln/>
        </p:spPr>
        <p:txBody>
          <a:bodyPr wrap="square" lIns="0" tIns="0" rIns="0" bIns="0" rtlCol="0" anchor="t"/>
          <a:lstStyle/>
          <a:p>
            <a:pPr marL="101600" indent="-101600">
              <a:lnSpc>
                <a:spcPct val="98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Business capability</a:t>
            </a:r>
            <a:endParaRPr lang="en-US" sz="700" dirty="0"/>
          </a:p>
          <a:p>
            <a:pPr marL="101600" indent="-101600">
              <a:lnSpc>
                <a:spcPct val="98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Requirement (Jira)</a:t>
            </a:r>
            <a:endParaRPr lang="en-US" sz="700" dirty="0"/>
          </a:p>
          <a:p>
            <a:pPr marL="101600" indent="-101600">
              <a:lnSpc>
                <a:spcPct val="98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Design doc &amp; business rule</a:t>
            </a:r>
            <a:endParaRPr lang="en-US" sz="700" dirty="0"/>
          </a:p>
          <a:p>
            <a:pPr marL="101600" indent="-101600">
              <a:lnSpc>
                <a:spcPct val="98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sObject + fields</a:t>
            </a:r>
            <a:endParaRPr lang="en-US" sz="700" dirty="0"/>
          </a:p>
          <a:p>
            <a:pPr marL="101600" indent="-101600">
              <a:lnSpc>
                <a:spcPct val="98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Flow / Apex / trigger / VR</a:t>
            </a:r>
            <a:endParaRPr lang="en-US" sz="700" dirty="0"/>
          </a:p>
          <a:p>
            <a:pPr marL="101600" indent="-101600">
              <a:lnSpc>
                <a:spcPct val="98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Test, robotic &amp; regression</a:t>
            </a:r>
            <a:endParaRPr lang="en-US" sz="700" dirty="0"/>
          </a:p>
          <a:p>
            <a:pPr marL="101600" indent="-101600">
              <a:lnSpc>
                <a:spcPct val="98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Release &amp; environment</a:t>
            </a:r>
            <a:endParaRPr lang="en-US" sz="700" dirty="0"/>
          </a:p>
          <a:p>
            <a:pPr marL="101600" indent="-101600">
              <a:lnSpc>
                <a:spcPct val="98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APDH integration event</a:t>
            </a:r>
            <a:endParaRPr lang="en-US" sz="700" dirty="0"/>
          </a:p>
        </p:txBody>
      </p:sp>
      <p:sp>
        <p:nvSpPr>
          <p:cNvPr id="55" name="Text 45"/>
          <p:cNvSpPr txBox="1"/>
          <p:nvPr/>
        </p:nvSpPr>
        <p:spPr>
          <a:xfrm>
            <a:off x="6172200" y="2633472"/>
            <a:ext cx="2377440" cy="128016"/>
          </a:xfrm>
          <a:prstGeom prst="rect">
            <a:avLst/>
          </a:prstGeom>
          <a:noFill/>
          <a:ln/>
        </p:spPr>
        <p:txBody>
          <a:bodyPr wrap="square" lIns="0" tIns="0" rIns="0" bIns="0" rtlCol="0" anchor="ctr"/>
          <a:lstStyle/>
          <a:p>
            <a:pPr marL="0" indent="0">
              <a:buNone/>
            </a:pPr>
            <a:r>
              <a:rPr lang="en-US" sz="630" b="0" kern="0" spc="30" dirty="0">
                <a:solidFill>
                  <a:srgbClr val="1B6BC0"/>
                </a:solidFill>
                <a:latin typeface="Trenda IG Text Semibold" pitchFamily="34" charset="0"/>
                <a:ea typeface="Trenda IG Text Semibold" pitchFamily="34" charset="-122"/>
                <a:cs typeface="Trenda IG Text Semibold" pitchFamily="34" charset="-120"/>
              </a:rPr>
              <a:t>HOW IT CONNECTS THEM</a:t>
            </a:r>
            <a:endParaRPr lang="en-US" sz="630" dirty="0"/>
          </a:p>
        </p:txBody>
      </p:sp>
      <p:sp>
        <p:nvSpPr>
          <p:cNvPr id="56" name="Text 46"/>
          <p:cNvSpPr txBox="1"/>
          <p:nvPr/>
        </p:nvSpPr>
        <p:spPr>
          <a:xfrm>
            <a:off x="6190488" y="2788920"/>
            <a:ext cx="2331720" cy="1170432"/>
          </a:xfrm>
          <a:prstGeom prst="rect">
            <a:avLst/>
          </a:prstGeom>
          <a:noFill/>
          <a:ln/>
        </p:spPr>
        <p:txBody>
          <a:bodyPr wrap="square" lIns="0" tIns="0" rIns="0" bIns="0" rtlCol="0" anchor="t"/>
          <a:lstStyle/>
          <a:p>
            <a:pPr marL="101600" indent="-101600">
              <a:lnSpc>
                <a:spcPct val="98000"/>
              </a:lnSpc>
              <a:buSzPct val="100000"/>
              <a:buChar char="•"/>
            </a:pPr>
            <a:r>
              <a:rPr lang="en-US" sz="640" dirty="0">
                <a:solidFill>
                  <a:srgbClr val="12233B"/>
                </a:solidFill>
                <a:latin typeface="Trenda IG Text" pitchFamily="34" charset="0"/>
                <a:ea typeface="Trenda IG Text" pitchFamily="34" charset="-122"/>
                <a:cs typeface="Trenda IG Text" pitchFamily="34" charset="-120"/>
              </a:rPr>
              <a:t>REQUIREMENT_TARGETS_CAPABILITY</a:t>
            </a:r>
            <a:endParaRPr lang="en-US" sz="640" dirty="0"/>
          </a:p>
          <a:p>
            <a:pPr marL="101600" indent="-101600">
              <a:lnSpc>
                <a:spcPct val="98000"/>
              </a:lnSpc>
              <a:buSzPct val="100000"/>
              <a:buChar char="•"/>
            </a:pPr>
            <a:r>
              <a:rPr lang="en-US" sz="640" dirty="0">
                <a:solidFill>
                  <a:srgbClr val="12233B"/>
                </a:solidFill>
                <a:latin typeface="Trenda IG Text" pitchFamily="34" charset="0"/>
                <a:ea typeface="Trenda IG Text" pitchFamily="34" charset="-122"/>
                <a:cs typeface="Trenda IG Text" pitchFamily="34" charset="-120"/>
              </a:rPr>
              <a:t>RULE_CONSTRAINS_SOBJECT</a:t>
            </a:r>
            <a:endParaRPr lang="en-US" sz="640" dirty="0"/>
          </a:p>
          <a:p>
            <a:pPr marL="101600" indent="-101600">
              <a:lnSpc>
                <a:spcPct val="98000"/>
              </a:lnSpc>
              <a:buSzPct val="100000"/>
              <a:buChar char="•"/>
            </a:pPr>
            <a:r>
              <a:rPr lang="en-US" sz="640" dirty="0">
                <a:solidFill>
                  <a:srgbClr val="12233B"/>
                </a:solidFill>
                <a:latin typeface="Trenda IG Text" pitchFamily="34" charset="0"/>
                <a:ea typeface="Trenda IG Text" pitchFamily="34" charset="-122"/>
                <a:cs typeface="Trenda IG Text" pitchFamily="34" charset="-120"/>
              </a:rPr>
              <a:t>SOBJECT_HAS_FIELD</a:t>
            </a:r>
            <a:endParaRPr lang="en-US" sz="640" dirty="0"/>
          </a:p>
          <a:p>
            <a:pPr marL="101600" indent="-101600">
              <a:lnSpc>
                <a:spcPct val="98000"/>
              </a:lnSpc>
              <a:buSzPct val="100000"/>
              <a:buChar char="•"/>
            </a:pPr>
            <a:r>
              <a:rPr lang="en-US" sz="640" dirty="0">
                <a:solidFill>
                  <a:srgbClr val="12233B"/>
                </a:solidFill>
                <a:latin typeface="Trenda IG Text" pitchFamily="34" charset="0"/>
                <a:ea typeface="Trenda IG Text" pitchFamily="34" charset="-122"/>
                <a:cs typeface="Trenda IG Text" pitchFamily="34" charset="-120"/>
              </a:rPr>
              <a:t>FLOW_UPDATES_SOBJECT</a:t>
            </a:r>
            <a:endParaRPr lang="en-US" sz="640" dirty="0"/>
          </a:p>
          <a:p>
            <a:pPr marL="101600" indent="-101600">
              <a:lnSpc>
                <a:spcPct val="98000"/>
              </a:lnSpc>
              <a:buSzPct val="100000"/>
              <a:buChar char="•"/>
            </a:pPr>
            <a:r>
              <a:rPr lang="en-US" sz="640" dirty="0">
                <a:solidFill>
                  <a:srgbClr val="12233B"/>
                </a:solidFill>
                <a:latin typeface="Trenda IG Text" pitchFamily="34" charset="0"/>
                <a:ea typeface="Trenda IG Text" pitchFamily="34" charset="-122"/>
                <a:cs typeface="Trenda IG Text" pitchFamily="34" charset="-120"/>
              </a:rPr>
              <a:t>APEX_REFERENCES_SOBJECT</a:t>
            </a:r>
            <a:endParaRPr lang="en-US" sz="640" dirty="0"/>
          </a:p>
          <a:p>
            <a:pPr marL="101600" indent="-101600">
              <a:lnSpc>
                <a:spcPct val="98000"/>
              </a:lnSpc>
              <a:buSzPct val="100000"/>
              <a:buChar char="•"/>
            </a:pPr>
            <a:r>
              <a:rPr lang="en-US" sz="640" dirty="0">
                <a:solidFill>
                  <a:srgbClr val="12233B"/>
                </a:solidFill>
                <a:latin typeface="Trenda IG Text" pitchFamily="34" charset="0"/>
                <a:ea typeface="Trenda IG Text" pitchFamily="34" charset="-122"/>
                <a:cs typeface="Trenda IG Text" pitchFamily="34" charset="-120"/>
              </a:rPr>
              <a:t>TEST_COVERS_COMPONENT</a:t>
            </a:r>
            <a:endParaRPr lang="en-US" sz="640" dirty="0"/>
          </a:p>
          <a:p>
            <a:pPr marL="101600" indent="-101600">
              <a:lnSpc>
                <a:spcPct val="98000"/>
              </a:lnSpc>
              <a:buSzPct val="100000"/>
              <a:buChar char="•"/>
            </a:pPr>
            <a:r>
              <a:rPr lang="en-US" sz="640" dirty="0">
                <a:solidFill>
                  <a:srgbClr val="12233B"/>
                </a:solidFill>
                <a:latin typeface="Trenda IG Text" pitchFamily="34" charset="0"/>
                <a:ea typeface="Trenda IG Text" pitchFamily="34" charset="-122"/>
                <a:cs typeface="Trenda IG Text" pitchFamily="34" charset="-120"/>
              </a:rPr>
              <a:t>RELEASE_DEPLOYS_COMPONENT</a:t>
            </a:r>
            <a:endParaRPr lang="en-US" sz="640" dirty="0"/>
          </a:p>
          <a:p>
            <a:pPr marL="101600" indent="-101600">
              <a:lnSpc>
                <a:spcPct val="98000"/>
              </a:lnSpc>
              <a:buSzPct val="100000"/>
              <a:buChar char="•"/>
            </a:pPr>
            <a:r>
              <a:rPr lang="en-US" sz="640" dirty="0">
                <a:solidFill>
                  <a:srgbClr val="12233B"/>
                </a:solidFill>
                <a:latin typeface="Trenda IG Text" pitchFamily="34" charset="0"/>
                <a:ea typeface="Trenda IG Text" pitchFamily="34" charset="-122"/>
                <a:cs typeface="Trenda IG Text" pitchFamily="34" charset="-120"/>
              </a:rPr>
              <a:t>COMPONENT_PUBLISHES_EVENT</a:t>
            </a:r>
            <a:endParaRPr lang="en-US" sz="640" dirty="0"/>
          </a:p>
        </p:txBody>
      </p:sp>
      <p:sp>
        <p:nvSpPr>
          <p:cNvPr id="57" name="Shape 47"/>
          <p:cNvSpPr/>
          <p:nvPr/>
        </p:nvSpPr>
        <p:spPr>
          <a:xfrm>
            <a:off x="3657600" y="3986784"/>
            <a:ext cx="4809744" cy="310896"/>
          </a:xfrm>
          <a:prstGeom prst="roundRect">
            <a:avLst>
              <a:gd name="adj" fmla="val 11765"/>
            </a:avLst>
          </a:prstGeom>
          <a:solidFill>
            <a:srgbClr val="EAF1FB"/>
          </a:solidFill>
          <a:ln w="9525">
            <a:solidFill>
              <a:srgbClr val="1B6BC0"/>
            </a:solidFill>
            <a:prstDash val="solid"/>
          </a:ln>
        </p:spPr>
        <p:txBody>
          <a:bodyPr/>
          <a:lstStyle/>
          <a:p>
            <a:endParaRPr lang="en-IN"/>
          </a:p>
        </p:txBody>
      </p:sp>
      <p:sp>
        <p:nvSpPr>
          <p:cNvPr id="58" name="Text 48"/>
          <p:cNvSpPr txBox="1"/>
          <p:nvPr/>
        </p:nvSpPr>
        <p:spPr>
          <a:xfrm>
            <a:off x="3712464" y="4041648"/>
            <a:ext cx="4700016" cy="219456"/>
          </a:xfrm>
          <a:prstGeom prst="rect">
            <a:avLst/>
          </a:prstGeom>
          <a:noFill/>
          <a:ln/>
        </p:spPr>
        <p:txBody>
          <a:bodyPr wrap="square" lIns="0" tIns="0" rIns="0" bIns="0" rtlCol="0" anchor="ctr"/>
          <a:lstStyle/>
          <a:p>
            <a:pPr marL="0" indent="0" algn="ctr">
              <a:buNone/>
            </a:pPr>
            <a:r>
              <a:rPr lang="en-US" sz="700" b="0" dirty="0">
                <a:solidFill>
                  <a:srgbClr val="1B6BC0"/>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700" dirty="0"/>
          </a:p>
        </p:txBody>
      </p:sp>
      <p:sp>
        <p:nvSpPr>
          <p:cNvPr id="59" name="Shape 49"/>
          <p:cNvSpPr/>
          <p:nvPr/>
        </p:nvSpPr>
        <p:spPr>
          <a:xfrm>
            <a:off x="8705088" y="3163824"/>
            <a:ext cx="475488" cy="237744"/>
          </a:xfrm>
          <a:prstGeom prst="rightArrow">
            <a:avLst/>
          </a:prstGeom>
          <a:solidFill>
            <a:srgbClr val="9AA7B5"/>
          </a:solidFill>
          <a:ln w="12700">
            <a:solidFill>
              <a:srgbClr val="9AA7B5"/>
            </a:solidFill>
            <a:prstDash val="solid"/>
          </a:ln>
        </p:spPr>
        <p:txBody>
          <a:bodyPr/>
          <a:lstStyle/>
          <a:p>
            <a:endParaRPr lang="en-IN"/>
          </a:p>
        </p:txBody>
      </p:sp>
      <p:sp>
        <p:nvSpPr>
          <p:cNvPr id="60" name="Shape 50"/>
          <p:cNvSpPr/>
          <p:nvPr/>
        </p:nvSpPr>
        <p:spPr>
          <a:xfrm>
            <a:off x="9253728" y="2121408"/>
            <a:ext cx="2551176" cy="2304288"/>
          </a:xfrm>
          <a:prstGeom prst="roundRect">
            <a:avLst>
              <a:gd name="adj" fmla="val 2381"/>
            </a:avLst>
          </a:prstGeom>
          <a:solidFill>
            <a:srgbClr val="E9F3EA"/>
          </a:solidFill>
          <a:ln w="15875">
            <a:solidFill>
              <a:srgbClr val="2E7D32"/>
            </a:solidFill>
            <a:prstDash val="solid"/>
          </a:ln>
        </p:spPr>
        <p:txBody>
          <a:bodyPr/>
          <a:lstStyle/>
          <a:p>
            <a:endParaRPr lang="en-IN"/>
          </a:p>
        </p:txBody>
      </p:sp>
      <p:pic>
        <p:nvPicPr>
          <p:cNvPr id="61" name="Image 8" descr="preencoded.png"/>
          <p:cNvPicPr>
            <a:picLocks noChangeAspect="1"/>
          </p:cNvPicPr>
          <p:nvPr/>
        </p:nvPicPr>
        <p:blipFill>
          <a:blip r:embed="rId11"/>
          <a:stretch>
            <a:fillRect/>
          </a:stretch>
        </p:blipFill>
        <p:spPr>
          <a:xfrm>
            <a:off x="9400032" y="2231136"/>
            <a:ext cx="182880" cy="182880"/>
          </a:xfrm>
          <a:prstGeom prst="rect">
            <a:avLst/>
          </a:prstGeom>
        </p:spPr>
      </p:pic>
      <p:sp>
        <p:nvSpPr>
          <p:cNvPr id="62" name="Text 51"/>
          <p:cNvSpPr txBox="1"/>
          <p:nvPr/>
        </p:nvSpPr>
        <p:spPr>
          <a:xfrm>
            <a:off x="9646920" y="2221992"/>
            <a:ext cx="2103120" cy="201168"/>
          </a:xfrm>
          <a:prstGeom prst="rect">
            <a:avLst/>
          </a:prstGeom>
          <a:noFill/>
          <a:ln/>
        </p:spPr>
        <p:txBody>
          <a:bodyPr wrap="square" lIns="0" tIns="0" rIns="0" bIns="0" rtlCol="0" anchor="ctr"/>
          <a:lstStyle/>
          <a:p>
            <a:pPr marL="0" indent="0">
              <a:buNone/>
            </a:pPr>
            <a:r>
              <a:rPr lang="en-US" sz="1000" b="0" kern="0" spc="20" dirty="0">
                <a:solidFill>
                  <a:srgbClr val="2E7D32"/>
                </a:solidFill>
                <a:latin typeface="Trenda IG Display Bold" pitchFamily="34" charset="0"/>
                <a:ea typeface="Trenda IG Display Bold" pitchFamily="34" charset="-122"/>
                <a:cs typeface="Trenda IG Display Bold" pitchFamily="34" charset="-120"/>
              </a:rPr>
              <a:t>GOVERNED OUTPUT</a:t>
            </a:r>
            <a:endParaRPr lang="en-US" sz="1000" dirty="0"/>
          </a:p>
        </p:txBody>
      </p:sp>
      <p:sp>
        <p:nvSpPr>
          <p:cNvPr id="63" name="Text 52"/>
          <p:cNvSpPr txBox="1"/>
          <p:nvPr/>
        </p:nvSpPr>
        <p:spPr>
          <a:xfrm>
            <a:off x="9418320" y="2487168"/>
            <a:ext cx="2240280" cy="1188720"/>
          </a:xfrm>
          <a:prstGeom prst="rect">
            <a:avLst/>
          </a:prstGeom>
          <a:noFill/>
          <a:ln/>
        </p:spPr>
        <p:txBody>
          <a:bodyPr wrap="square" lIns="0" tIns="0" rIns="0" bIns="0" rtlCol="0" anchor="t"/>
          <a:lstStyle/>
          <a:p>
            <a:pPr marL="101600" indent="-101600">
              <a:lnSpc>
                <a:spcPct val="100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Impact analysis</a:t>
            </a:r>
            <a:endParaRPr lang="en-US" sz="750" dirty="0"/>
          </a:p>
          <a:p>
            <a:pPr marL="101600" indent="-101600">
              <a:lnSpc>
                <a:spcPct val="100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Reuse recommendation</a:t>
            </a:r>
            <a:endParaRPr lang="en-US" sz="750" dirty="0"/>
          </a:p>
          <a:p>
            <a:pPr marL="101600" indent="-101600">
              <a:lnSpc>
                <a:spcPct val="100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Change plan</a:t>
            </a:r>
            <a:endParaRPr lang="en-US" sz="750" dirty="0"/>
          </a:p>
          <a:p>
            <a:pPr marL="101600" indent="-101600">
              <a:lnSpc>
                <a:spcPct val="100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Generated Apex, Flows, VRs, tests</a:t>
            </a:r>
            <a:endParaRPr lang="en-US" sz="750" dirty="0"/>
          </a:p>
          <a:p>
            <a:pPr marL="101600" indent="-101600">
              <a:lnSpc>
                <a:spcPct val="100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Risk tier + required approver</a:t>
            </a:r>
            <a:endParaRPr lang="en-US" sz="750" dirty="0"/>
          </a:p>
          <a:p>
            <a:pPr marL="101600" indent="-101600">
              <a:lnSpc>
                <a:spcPct val="100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Audit evidence</a:t>
            </a:r>
            <a:endParaRPr lang="en-US" sz="750" dirty="0"/>
          </a:p>
        </p:txBody>
      </p:sp>
      <p:sp>
        <p:nvSpPr>
          <p:cNvPr id="64" name="Shape 53"/>
          <p:cNvSpPr/>
          <p:nvPr/>
        </p:nvSpPr>
        <p:spPr>
          <a:xfrm>
            <a:off x="9400032" y="3730752"/>
            <a:ext cx="2258568" cy="566928"/>
          </a:xfrm>
          <a:prstGeom prst="roundRect">
            <a:avLst>
              <a:gd name="adj" fmla="val 6452"/>
            </a:avLst>
          </a:prstGeom>
          <a:solidFill>
            <a:srgbClr val="2E7D32"/>
          </a:solidFill>
          <a:ln w="12700">
            <a:solidFill>
              <a:srgbClr val="2E7D32"/>
            </a:solidFill>
            <a:prstDash val="solid"/>
          </a:ln>
        </p:spPr>
        <p:txBody>
          <a:bodyPr/>
          <a:lstStyle/>
          <a:p>
            <a:endParaRPr lang="en-IN"/>
          </a:p>
        </p:txBody>
      </p:sp>
      <p:sp>
        <p:nvSpPr>
          <p:cNvPr id="65" name="Text 54"/>
          <p:cNvSpPr txBox="1"/>
          <p:nvPr/>
        </p:nvSpPr>
        <p:spPr>
          <a:xfrm>
            <a:off x="9473184" y="3785616"/>
            <a:ext cx="2112264" cy="457200"/>
          </a:xfrm>
          <a:prstGeom prst="rect">
            <a:avLst/>
          </a:prstGeom>
          <a:noFill/>
          <a:ln/>
        </p:spPr>
        <p:txBody>
          <a:bodyPr wrap="square" lIns="0" tIns="0" rIns="0" bIns="0" rtlCol="0" anchor="t"/>
          <a:lstStyle/>
          <a:p>
            <a:pPr marL="0" indent="0">
              <a:lnSpc>
                <a:spcPct val="95000"/>
              </a:lnSpc>
              <a:buNone/>
            </a:pPr>
            <a:r>
              <a:rPr lang="en-US" sz="680" dirty="0">
                <a:solidFill>
                  <a:srgbClr val="FFFFFF"/>
                </a:solidFill>
                <a:latin typeface="Trenda IG Text" pitchFamily="34" charset="0"/>
                <a:ea typeface="Trenda IG Text" pitchFamily="34" charset="-122"/>
                <a:cs typeface="Trenda IG Text" pitchFamily="34" charset="-120"/>
              </a:rPr>
              <a:t>AI analyses and builds. People own architecture, UAT, CAB and production.</a:t>
            </a:r>
            <a:endParaRPr lang="en-US" sz="680" dirty="0"/>
          </a:p>
        </p:txBody>
      </p:sp>
      <p:sp>
        <p:nvSpPr>
          <p:cNvPr id="66" name="Shape 55"/>
          <p:cNvSpPr/>
          <p:nvPr/>
        </p:nvSpPr>
        <p:spPr>
          <a:xfrm>
            <a:off x="384048" y="4553712"/>
            <a:ext cx="3712464" cy="896112"/>
          </a:xfrm>
          <a:prstGeom prst="roundRect">
            <a:avLst>
              <a:gd name="adj" fmla="val 5102"/>
            </a:avLst>
          </a:prstGeom>
          <a:solidFill>
            <a:srgbClr val="FFFFFF"/>
          </a:solidFill>
          <a:ln w="12700">
            <a:solidFill>
              <a:srgbClr val="DCE4EE"/>
            </a:solidFill>
            <a:prstDash val="solid"/>
          </a:ln>
        </p:spPr>
        <p:txBody>
          <a:bodyPr/>
          <a:lstStyle/>
          <a:p>
            <a:endParaRPr lang="en-IN"/>
          </a:p>
        </p:txBody>
      </p:sp>
      <p:pic>
        <p:nvPicPr>
          <p:cNvPr id="67" name="Image 9" descr="preencoded.png"/>
          <p:cNvPicPr>
            <a:picLocks noChangeAspect="1"/>
          </p:cNvPicPr>
          <p:nvPr/>
        </p:nvPicPr>
        <p:blipFill>
          <a:blip r:embed="rId12"/>
          <a:stretch>
            <a:fillRect/>
          </a:stretch>
        </p:blipFill>
        <p:spPr>
          <a:xfrm>
            <a:off x="502920" y="4645152"/>
            <a:ext cx="137160" cy="137160"/>
          </a:xfrm>
          <a:prstGeom prst="rect">
            <a:avLst/>
          </a:prstGeom>
        </p:spPr>
      </p:pic>
      <p:sp>
        <p:nvSpPr>
          <p:cNvPr id="68" name="Text 56"/>
          <p:cNvSpPr txBox="1"/>
          <p:nvPr/>
        </p:nvSpPr>
        <p:spPr>
          <a:xfrm>
            <a:off x="694944" y="4636008"/>
            <a:ext cx="3291840" cy="164592"/>
          </a:xfrm>
          <a:prstGeom prst="rect">
            <a:avLst/>
          </a:prstGeom>
          <a:noFill/>
          <a:ln/>
        </p:spPr>
        <p:txBody>
          <a:bodyPr wrap="square" lIns="0" tIns="0" rIns="0" bIns="0" rtlCol="0" anchor="ctr"/>
          <a:lstStyle/>
          <a:p>
            <a:pPr marL="0" indent="0">
              <a:buNone/>
            </a:pPr>
            <a:r>
              <a:rPr lang="en-US" sz="850" b="0" dirty="0">
                <a:solidFill>
                  <a:srgbClr val="1B6BC0"/>
                </a:solidFill>
                <a:latin typeface="Trenda IG Text Semibold" pitchFamily="34" charset="0"/>
                <a:ea typeface="Trenda IG Text Semibold" pitchFamily="34" charset="-122"/>
                <a:cs typeface="Trenda IG Text Semibold" pitchFamily="34" charset="-120"/>
              </a:rPr>
              <a:t>Why a graph, not a model scan</a:t>
            </a:r>
            <a:endParaRPr lang="en-US" sz="850" dirty="0"/>
          </a:p>
        </p:txBody>
      </p:sp>
      <p:sp>
        <p:nvSpPr>
          <p:cNvPr id="69" name="Text 57"/>
          <p:cNvSpPr txBox="1"/>
          <p:nvPr/>
        </p:nvSpPr>
        <p:spPr>
          <a:xfrm>
            <a:off x="530352" y="4828032"/>
            <a:ext cx="3438144" cy="548640"/>
          </a:xfrm>
          <a:prstGeom prst="rect">
            <a:avLst/>
          </a:prstGeom>
          <a:noFill/>
          <a:ln/>
        </p:spPr>
        <p:txBody>
          <a:bodyPr wrap="square" lIns="0" tIns="0" rIns="0" bIns="0" rtlCol="0" anchor="t"/>
          <a:lstStyle/>
          <a:p>
            <a:pPr marL="101600" indent="-101600">
              <a:lnSpc>
                <a:spcPct val="95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700" dirty="0"/>
          </a:p>
          <a:p>
            <a:pPr marL="101600" indent="-101600">
              <a:lnSpc>
                <a:spcPct val="95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700" dirty="0"/>
          </a:p>
        </p:txBody>
      </p:sp>
      <p:sp>
        <p:nvSpPr>
          <p:cNvPr id="70" name="Shape 58"/>
          <p:cNvSpPr/>
          <p:nvPr/>
        </p:nvSpPr>
        <p:spPr>
          <a:xfrm>
            <a:off x="4233672" y="4553712"/>
            <a:ext cx="3712464" cy="896112"/>
          </a:xfrm>
          <a:prstGeom prst="roundRect">
            <a:avLst>
              <a:gd name="adj" fmla="val 5102"/>
            </a:avLst>
          </a:prstGeom>
          <a:solidFill>
            <a:srgbClr val="FFFFFF"/>
          </a:solidFill>
          <a:ln w="12700">
            <a:solidFill>
              <a:srgbClr val="DCE4EE"/>
            </a:solidFill>
            <a:prstDash val="solid"/>
          </a:ln>
        </p:spPr>
        <p:txBody>
          <a:bodyPr/>
          <a:lstStyle/>
          <a:p>
            <a:endParaRPr lang="en-IN"/>
          </a:p>
        </p:txBody>
      </p:sp>
      <p:pic>
        <p:nvPicPr>
          <p:cNvPr id="71" name="Image 10" descr="preencoded.png"/>
          <p:cNvPicPr>
            <a:picLocks noChangeAspect="1"/>
          </p:cNvPicPr>
          <p:nvPr/>
        </p:nvPicPr>
        <p:blipFill>
          <a:blip r:embed="rId13"/>
          <a:stretch>
            <a:fillRect/>
          </a:stretch>
        </p:blipFill>
        <p:spPr>
          <a:xfrm>
            <a:off x="4352544" y="4645152"/>
            <a:ext cx="137160" cy="137160"/>
          </a:xfrm>
          <a:prstGeom prst="rect">
            <a:avLst/>
          </a:prstGeom>
        </p:spPr>
      </p:pic>
      <p:sp>
        <p:nvSpPr>
          <p:cNvPr id="72" name="Text 59"/>
          <p:cNvSpPr txBox="1"/>
          <p:nvPr/>
        </p:nvSpPr>
        <p:spPr>
          <a:xfrm>
            <a:off x="4544568" y="4636008"/>
            <a:ext cx="3291840" cy="164592"/>
          </a:xfrm>
          <a:prstGeom prst="rect">
            <a:avLst/>
          </a:prstGeom>
          <a:noFill/>
          <a:ln/>
        </p:spPr>
        <p:txBody>
          <a:bodyPr wrap="square" lIns="0" tIns="0" rIns="0" bIns="0" rtlCol="0" anchor="ctr"/>
          <a:lstStyle/>
          <a:p>
            <a:pPr marL="0" indent="0">
              <a:buNone/>
            </a:pPr>
            <a:r>
              <a:rPr lang="en-US" sz="850" b="0" dirty="0">
                <a:solidFill>
                  <a:srgbClr val="7A4FC0"/>
                </a:solidFill>
                <a:latin typeface="Trenda IG Text Semibold" pitchFamily="34" charset="0"/>
                <a:ea typeface="Trenda IG Text Semibold" pitchFamily="34" charset="-122"/>
                <a:cs typeface="Trenda IG Text Semibold" pitchFamily="34" charset="-120"/>
              </a:rPr>
              <a:t>Provenance on every fact</a:t>
            </a:r>
            <a:endParaRPr lang="en-US" sz="850" dirty="0"/>
          </a:p>
        </p:txBody>
      </p:sp>
      <p:sp>
        <p:nvSpPr>
          <p:cNvPr id="73" name="Text 60"/>
          <p:cNvSpPr txBox="1"/>
          <p:nvPr/>
        </p:nvSpPr>
        <p:spPr>
          <a:xfrm>
            <a:off x="4379976" y="4828032"/>
            <a:ext cx="3438144" cy="548640"/>
          </a:xfrm>
          <a:prstGeom prst="rect">
            <a:avLst/>
          </a:prstGeom>
          <a:noFill/>
          <a:ln/>
        </p:spPr>
        <p:txBody>
          <a:bodyPr wrap="square" lIns="0" tIns="0" rIns="0" bIns="0" rtlCol="0" anchor="t"/>
          <a:lstStyle/>
          <a:p>
            <a:pPr marL="101600" indent="-101600">
              <a:lnSpc>
                <a:spcPct val="95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createdBy · derivationMethod · origin · confidence · sourceReferences</a:t>
            </a:r>
            <a:endParaRPr lang="en-US" sz="700" dirty="0"/>
          </a:p>
          <a:p>
            <a:pPr marL="101600" indent="-101600">
              <a:lnSpc>
                <a:spcPct val="95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artifactPath + SHA-256 + retrievedAt, authority stays with the source system</a:t>
            </a:r>
            <a:endParaRPr lang="en-US" sz="700" dirty="0"/>
          </a:p>
        </p:txBody>
      </p:sp>
      <p:sp>
        <p:nvSpPr>
          <p:cNvPr id="74" name="Shape 61"/>
          <p:cNvSpPr/>
          <p:nvPr/>
        </p:nvSpPr>
        <p:spPr>
          <a:xfrm>
            <a:off x="8083296" y="4553712"/>
            <a:ext cx="3721608" cy="896112"/>
          </a:xfrm>
          <a:prstGeom prst="roundRect">
            <a:avLst>
              <a:gd name="adj" fmla="val 5102"/>
            </a:avLst>
          </a:prstGeom>
          <a:solidFill>
            <a:srgbClr val="FFFFFF"/>
          </a:solidFill>
          <a:ln w="12700">
            <a:solidFill>
              <a:srgbClr val="DCE4EE"/>
            </a:solidFill>
            <a:prstDash val="solid"/>
          </a:ln>
        </p:spPr>
        <p:txBody>
          <a:bodyPr/>
          <a:lstStyle/>
          <a:p>
            <a:endParaRPr lang="en-IN"/>
          </a:p>
        </p:txBody>
      </p:sp>
      <p:pic>
        <p:nvPicPr>
          <p:cNvPr id="75" name="Image 11" descr="preencoded.png"/>
          <p:cNvPicPr>
            <a:picLocks noChangeAspect="1"/>
          </p:cNvPicPr>
          <p:nvPr/>
        </p:nvPicPr>
        <p:blipFill>
          <a:blip r:embed="rId14"/>
          <a:stretch>
            <a:fillRect/>
          </a:stretch>
        </p:blipFill>
        <p:spPr>
          <a:xfrm>
            <a:off x="8202168" y="4645152"/>
            <a:ext cx="137160" cy="137160"/>
          </a:xfrm>
          <a:prstGeom prst="rect">
            <a:avLst/>
          </a:prstGeom>
        </p:spPr>
      </p:pic>
      <p:sp>
        <p:nvSpPr>
          <p:cNvPr id="76" name="Text 62"/>
          <p:cNvSpPr txBox="1"/>
          <p:nvPr/>
        </p:nvSpPr>
        <p:spPr>
          <a:xfrm>
            <a:off x="8394192" y="4636008"/>
            <a:ext cx="3300984" cy="164592"/>
          </a:xfrm>
          <a:prstGeom prst="rect">
            <a:avLst/>
          </a:prstGeom>
          <a:noFill/>
          <a:ln/>
        </p:spPr>
        <p:txBody>
          <a:bodyPr wrap="square" lIns="0" tIns="0" rIns="0" bIns="0" rtlCol="0" anchor="ctr"/>
          <a:lstStyle/>
          <a:p>
            <a:pPr marL="0" indent="0">
              <a:buNone/>
            </a:pPr>
            <a:r>
              <a:rPr lang="en-US" sz="850" b="0" dirty="0">
                <a:solidFill>
                  <a:srgbClr val="0E8A7D"/>
                </a:solidFill>
                <a:latin typeface="Trenda IG Text Semibold" pitchFamily="34" charset="0"/>
                <a:ea typeface="Trenda IG Text Semibold" pitchFamily="34" charset="-122"/>
                <a:cs typeface="Trenda IG Text Semibold" pitchFamily="34" charset="-120"/>
              </a:rPr>
              <a:t>Security, three separated identities</a:t>
            </a:r>
            <a:endParaRPr lang="en-US" sz="850" dirty="0"/>
          </a:p>
        </p:txBody>
      </p:sp>
      <p:sp>
        <p:nvSpPr>
          <p:cNvPr id="77" name="Text 63"/>
          <p:cNvSpPr txBox="1"/>
          <p:nvPr/>
        </p:nvSpPr>
        <p:spPr>
          <a:xfrm>
            <a:off x="8229600" y="4828032"/>
            <a:ext cx="3447288" cy="548640"/>
          </a:xfrm>
          <a:prstGeom prst="rect">
            <a:avLst/>
          </a:prstGeom>
          <a:noFill/>
          <a:ln/>
        </p:spPr>
        <p:txBody>
          <a:bodyPr wrap="square" lIns="0" tIns="0" rIns="0" bIns="0" rtlCol="0" anchor="t"/>
          <a:lstStyle/>
          <a:p>
            <a:pPr marL="101600" indent="-101600">
              <a:lnSpc>
                <a:spcPct val="95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AI Read Service (read-only) · AI Development Service (DEV + branch)</a:t>
            </a:r>
            <a:endParaRPr lang="en-US" sz="700" dirty="0"/>
          </a:p>
          <a:p>
            <a:pPr marL="101600" indent="-101600">
              <a:lnSpc>
                <a:spcPct val="95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700" dirty="0"/>
          </a:p>
        </p:txBody>
      </p:sp>
      <p:sp>
        <p:nvSpPr>
          <p:cNvPr id="78" name="Shape 64"/>
          <p:cNvSpPr/>
          <p:nvPr/>
        </p:nvSpPr>
        <p:spPr>
          <a:xfrm>
            <a:off x="384048" y="5559552"/>
            <a:ext cx="7562088" cy="1042416"/>
          </a:xfrm>
          <a:prstGeom prst="roundRect">
            <a:avLst>
              <a:gd name="adj" fmla="val 4386"/>
            </a:avLst>
          </a:prstGeom>
          <a:solidFill>
            <a:srgbClr val="FFFFFF"/>
          </a:solidFill>
          <a:ln w="12700">
            <a:solidFill>
              <a:srgbClr val="DCE4EE"/>
            </a:solidFill>
            <a:prstDash val="solid"/>
          </a:ln>
        </p:spPr>
        <p:txBody>
          <a:bodyPr/>
          <a:lstStyle/>
          <a:p>
            <a:endParaRPr lang="en-IN"/>
          </a:p>
        </p:txBody>
      </p:sp>
      <p:pic>
        <p:nvPicPr>
          <p:cNvPr id="79" name="Image 12" descr="preencoded.png"/>
          <p:cNvPicPr>
            <a:picLocks noChangeAspect="1"/>
          </p:cNvPicPr>
          <p:nvPr/>
        </p:nvPicPr>
        <p:blipFill>
          <a:blip r:embed="rId11"/>
          <a:stretch>
            <a:fillRect/>
          </a:stretch>
        </p:blipFill>
        <p:spPr>
          <a:xfrm>
            <a:off x="502920" y="5650992"/>
            <a:ext cx="137160" cy="137160"/>
          </a:xfrm>
          <a:prstGeom prst="rect">
            <a:avLst/>
          </a:prstGeom>
        </p:spPr>
      </p:pic>
      <p:sp>
        <p:nvSpPr>
          <p:cNvPr id="80" name="Text 65"/>
          <p:cNvSpPr txBox="1"/>
          <p:nvPr/>
        </p:nvSpPr>
        <p:spPr>
          <a:xfrm>
            <a:off x="694944" y="5641848"/>
            <a:ext cx="7141464" cy="164592"/>
          </a:xfrm>
          <a:prstGeom prst="rect">
            <a:avLst/>
          </a:prstGeom>
          <a:noFill/>
          <a:ln/>
        </p:spPr>
        <p:txBody>
          <a:bodyPr wrap="square" lIns="0" tIns="0" rIns="0" bIns="0" rtlCol="0" anchor="ctr"/>
          <a:lstStyle/>
          <a:p>
            <a:pPr marL="0" indent="0">
              <a:buNone/>
            </a:pPr>
            <a:r>
              <a:rPr lang="en-US" sz="850" b="0" dirty="0">
                <a:solidFill>
                  <a:srgbClr val="2E7D32"/>
                </a:solidFill>
                <a:latin typeface="Trenda IG Text Semibold" pitchFamily="34" charset="0"/>
                <a:ea typeface="Trenda IG Text Semibold" pitchFamily="34" charset="-122"/>
                <a:cs typeface="Trenda IG Text Semibold" pitchFamily="34" charset="-120"/>
              </a:rPr>
              <a:t>Governed delivery lifecycle</a:t>
            </a:r>
            <a:endParaRPr lang="en-US" sz="850" dirty="0"/>
          </a:p>
        </p:txBody>
      </p:sp>
      <p:sp>
        <p:nvSpPr>
          <p:cNvPr id="81" name="Text 66"/>
          <p:cNvSpPr txBox="1"/>
          <p:nvPr/>
        </p:nvSpPr>
        <p:spPr>
          <a:xfrm>
            <a:off x="530352" y="5833872"/>
            <a:ext cx="7287768" cy="694944"/>
          </a:xfrm>
          <a:prstGeom prst="rect">
            <a:avLst/>
          </a:prstGeom>
          <a:noFill/>
          <a:ln/>
        </p:spPr>
        <p:txBody>
          <a:bodyPr wrap="square" lIns="0" tIns="0" rIns="0" bIns="0" rtlCol="0" anchor="t"/>
          <a:lstStyle/>
          <a:p>
            <a:pPr marL="101600" indent="-101600">
              <a:lnSpc>
                <a:spcPct val="95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50" dirty="0"/>
          </a:p>
          <a:p>
            <a:pPr marL="101600" indent="-101600">
              <a:lnSpc>
                <a:spcPct val="95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50" dirty="0"/>
          </a:p>
          <a:p>
            <a:pPr marL="101600" indent="-101600">
              <a:lnSpc>
                <a:spcPct val="95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50" dirty="0"/>
          </a:p>
        </p:txBody>
      </p:sp>
      <p:sp>
        <p:nvSpPr>
          <p:cNvPr id="82" name="Shape 67"/>
          <p:cNvSpPr/>
          <p:nvPr/>
        </p:nvSpPr>
        <p:spPr>
          <a:xfrm>
            <a:off x="8083296" y="5559552"/>
            <a:ext cx="3721608" cy="1042416"/>
          </a:xfrm>
          <a:prstGeom prst="roundRect">
            <a:avLst>
              <a:gd name="adj" fmla="val 4386"/>
            </a:avLst>
          </a:prstGeom>
          <a:solidFill>
            <a:srgbClr val="FFFFFF"/>
          </a:solidFill>
          <a:ln w="12700">
            <a:solidFill>
              <a:srgbClr val="DCE4EE"/>
            </a:solidFill>
            <a:prstDash val="solid"/>
          </a:ln>
        </p:spPr>
        <p:txBody>
          <a:bodyPr/>
          <a:lstStyle/>
          <a:p>
            <a:endParaRPr lang="en-IN"/>
          </a:p>
        </p:txBody>
      </p:sp>
      <p:pic>
        <p:nvPicPr>
          <p:cNvPr id="83" name="Image 13" descr="preencoded.png"/>
          <p:cNvPicPr>
            <a:picLocks noChangeAspect="1"/>
          </p:cNvPicPr>
          <p:nvPr/>
        </p:nvPicPr>
        <p:blipFill>
          <a:blip r:embed="rId15"/>
          <a:stretch>
            <a:fillRect/>
          </a:stretch>
        </p:blipFill>
        <p:spPr>
          <a:xfrm>
            <a:off x="8202168" y="5650992"/>
            <a:ext cx="137160" cy="137160"/>
          </a:xfrm>
          <a:prstGeom prst="rect">
            <a:avLst/>
          </a:prstGeom>
        </p:spPr>
      </p:pic>
      <p:sp>
        <p:nvSpPr>
          <p:cNvPr id="84" name="Text 68"/>
          <p:cNvSpPr txBox="1"/>
          <p:nvPr/>
        </p:nvSpPr>
        <p:spPr>
          <a:xfrm>
            <a:off x="8394192" y="5641848"/>
            <a:ext cx="3300984" cy="164592"/>
          </a:xfrm>
          <a:prstGeom prst="rect">
            <a:avLst/>
          </a:prstGeom>
          <a:noFill/>
          <a:ln/>
        </p:spPr>
        <p:txBody>
          <a:bodyPr wrap="square" lIns="0" tIns="0" rIns="0" bIns="0" rtlCol="0" anchor="ctr"/>
          <a:lstStyle/>
          <a:p>
            <a:pPr marL="0" indent="0">
              <a:buNone/>
            </a:pPr>
            <a:r>
              <a:rPr lang="en-US" sz="850" b="0" dirty="0">
                <a:solidFill>
                  <a:srgbClr val="C62828"/>
                </a:solidFill>
                <a:latin typeface="Trenda IG Text Semibold" pitchFamily="34" charset="0"/>
                <a:ea typeface="Trenda IG Text Semibold" pitchFamily="34" charset="-122"/>
                <a:cs typeface="Trenda IG Text Semibold" pitchFamily="34" charset="-120"/>
              </a:rPr>
              <a:t>Existing APDH integration, unchanged</a:t>
            </a:r>
            <a:endParaRPr lang="en-US" sz="850" dirty="0"/>
          </a:p>
        </p:txBody>
      </p:sp>
      <p:sp>
        <p:nvSpPr>
          <p:cNvPr id="85" name="Text 69"/>
          <p:cNvSpPr txBox="1"/>
          <p:nvPr/>
        </p:nvSpPr>
        <p:spPr>
          <a:xfrm>
            <a:off x="8229600" y="5833872"/>
            <a:ext cx="3447288" cy="694944"/>
          </a:xfrm>
          <a:prstGeom prst="rect">
            <a:avLst/>
          </a:prstGeom>
          <a:noFill/>
          <a:ln/>
        </p:spPr>
        <p:txBody>
          <a:bodyPr wrap="square" lIns="0" tIns="0" rIns="0" bIns="0" rtlCol="0" anchor="t"/>
          <a:lstStyle/>
          <a:p>
            <a:pPr marL="101600" indent="-101600">
              <a:lnSpc>
                <a:spcPct val="95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Salesforce → Queueable Apex → Google Pub/Sub → APDH (one-way, near real-time)</a:t>
            </a:r>
            <a:endParaRPr lang="en-US" sz="700" dirty="0"/>
          </a:p>
          <a:p>
            <a:pPr marL="101600" indent="-101600">
              <a:lnSpc>
                <a:spcPct val="95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700" dirty="0"/>
          </a:p>
          <a:p>
            <a:pPr marL="101600" indent="-101600">
              <a:lnSpc>
                <a:spcPct val="95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No back-write to Salesforce</a:t>
            </a:r>
            <a:endParaRPr lang="en-US" sz="700" dirty="0"/>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526155" y="-414909"/>
            <a:ext cx="292608" cy="478002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488561" y="547497"/>
            <a:ext cx="292608" cy="2855214"/>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50967" y="1509903"/>
            <a:ext cx="292608" cy="930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13373" y="1477899"/>
            <a:ext cx="292608" cy="994410"/>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75779" y="515493"/>
            <a:ext cx="292608" cy="291922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338185" y="-446913"/>
            <a:ext cx="292608" cy="4844034"/>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3712464" y="109728"/>
            <a:ext cx="4764024" cy="566928"/>
          </a:xfrm>
          <a:prstGeom prst="roundRect">
            <a:avLst>
              <a:gd name="adj" fmla="val 9677"/>
            </a:avLst>
          </a:prstGeom>
          <a:solidFill>
            <a:srgbClr val="0E1B2E"/>
          </a:solidFill>
          <a:ln w="12700">
            <a:solidFill>
              <a:srgbClr val="0E1B2E"/>
            </a:solidFill>
            <a:prstDash val="solid"/>
          </a:ln>
        </p:spPr>
        <p:txBody>
          <a:bodyPr/>
          <a:lstStyle/>
          <a:p>
            <a:endParaRPr lang="en-IN"/>
          </a:p>
        </p:txBody>
      </p:sp>
      <p:sp>
        <p:nvSpPr>
          <p:cNvPr id="3" name="Text 1"/>
          <p:cNvSpPr txBox="1"/>
          <p:nvPr/>
        </p:nvSpPr>
        <p:spPr>
          <a:xfrm>
            <a:off x="3758184" y="146304"/>
            <a:ext cx="4672584" cy="173736"/>
          </a:xfrm>
          <a:prstGeom prst="rect">
            <a:avLst/>
          </a:prstGeom>
          <a:noFill/>
          <a:ln/>
        </p:spPr>
        <p:txBody>
          <a:bodyPr wrap="square" lIns="0" tIns="0" rIns="0" bIns="0" rtlCol="0" anchor="ctr"/>
          <a:lstStyle/>
          <a:p>
            <a:pPr marL="0" indent="0" algn="ctr">
              <a:buNone/>
            </a:pPr>
            <a:r>
              <a:rPr lang="en-US" sz="1150" b="0" kern="0" spc="20" dirty="0">
                <a:solidFill>
                  <a:srgbClr val="FFFFFF"/>
                </a:solidFill>
                <a:latin typeface="Trenda IG Display Bold" pitchFamily="34" charset="0"/>
                <a:ea typeface="Trenda IG Display Bold" pitchFamily="34" charset="-122"/>
                <a:cs typeface="Trenda IG Display Bold" pitchFamily="34" charset="-120"/>
              </a:rPr>
              <a:t>ASCENSION NETWORK SERVICES</a:t>
            </a:r>
            <a:endParaRPr lang="en-US" sz="1150" dirty="0"/>
          </a:p>
        </p:txBody>
      </p:sp>
      <p:sp>
        <p:nvSpPr>
          <p:cNvPr id="4" name="Text 2"/>
          <p:cNvSpPr txBox="1"/>
          <p:nvPr/>
        </p:nvSpPr>
        <p:spPr>
          <a:xfrm>
            <a:off x="3758184" y="329184"/>
            <a:ext cx="4672584" cy="155448"/>
          </a:xfrm>
          <a:prstGeom prst="rect">
            <a:avLst/>
          </a:prstGeom>
          <a:noFill/>
          <a:ln/>
        </p:spPr>
        <p:txBody>
          <a:bodyPr wrap="square" lIns="0" tIns="0" rIns="0" bIns="0" rtlCol="0" anchor="ctr"/>
          <a:lstStyle/>
          <a:p>
            <a:pPr marL="0" indent="0" algn="ctr">
              <a:buNone/>
            </a:pPr>
            <a:r>
              <a:rPr lang="en-US" sz="900" b="0" dirty="0">
                <a:solidFill>
                  <a:srgbClr val="5FD0E8"/>
                </a:solidFill>
                <a:latin typeface="Trenda IG Display Bold" pitchFamily="34" charset="0"/>
                <a:ea typeface="Trenda IG Display Bold" pitchFamily="34" charset="-122"/>
                <a:cs typeface="Trenda IG Display Bold" pitchFamily="34" charset="-120"/>
              </a:rPr>
              <a:t>Engineering Context Knowledge Graph Architecture</a:t>
            </a:r>
            <a:endParaRPr lang="en-US" sz="900" dirty="0"/>
          </a:p>
        </p:txBody>
      </p:sp>
      <p:sp>
        <p:nvSpPr>
          <p:cNvPr id="5" name="Text 3"/>
          <p:cNvSpPr txBox="1"/>
          <p:nvPr/>
        </p:nvSpPr>
        <p:spPr>
          <a:xfrm>
            <a:off x="3758184" y="502920"/>
            <a:ext cx="4672584" cy="146304"/>
          </a:xfrm>
          <a:prstGeom prst="rect">
            <a:avLst/>
          </a:prstGeom>
          <a:noFill/>
          <a:ln/>
        </p:spPr>
        <p:txBody>
          <a:bodyPr wrap="square" lIns="0" tIns="0" rIns="0" bIns="0" rtlCol="0" anchor="ctr"/>
          <a:lstStyle/>
          <a:p>
            <a:pPr marL="0" indent="0" algn="ctr">
              <a:lnSpc>
                <a:spcPct val="95000"/>
              </a:lnSpc>
              <a:buNone/>
            </a:pPr>
            <a:r>
              <a:rPr lang="en-US" sz="600" dirty="0">
                <a:solidFill>
                  <a:srgbClr val="AEBED0"/>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600" dirty="0"/>
          </a:p>
        </p:txBody>
      </p:sp>
      <p:sp>
        <p:nvSpPr>
          <p:cNvPr id="6" name="Shape 4"/>
          <p:cNvSpPr/>
          <p:nvPr/>
        </p:nvSpPr>
        <p:spPr>
          <a:xfrm>
            <a:off x="164592" y="109728"/>
            <a:ext cx="3438144" cy="566928"/>
          </a:xfrm>
          <a:prstGeom prst="roundRect">
            <a:avLst>
              <a:gd name="adj" fmla="val 8065"/>
            </a:avLst>
          </a:prstGeom>
          <a:solidFill>
            <a:srgbClr val="FFFFFF"/>
          </a:solidFill>
          <a:ln w="12700">
            <a:solidFill>
              <a:srgbClr val="DCE4EE"/>
            </a:solidFill>
            <a:prstDash val="solid"/>
          </a:ln>
        </p:spPr>
        <p:txBody>
          <a:bodyPr/>
          <a:lstStyle/>
          <a:p>
            <a:endParaRPr lang="en-IN"/>
          </a:p>
        </p:txBody>
      </p:sp>
      <p:sp>
        <p:nvSpPr>
          <p:cNvPr id="7" name="Text 5"/>
          <p:cNvSpPr txBox="1"/>
          <p:nvPr/>
        </p:nvSpPr>
        <p:spPr>
          <a:xfrm>
            <a:off x="274320" y="146304"/>
            <a:ext cx="3218688" cy="137160"/>
          </a:xfrm>
          <a:prstGeom prst="rect">
            <a:avLst/>
          </a:prstGeom>
          <a:noFill/>
          <a:ln/>
        </p:spPr>
        <p:txBody>
          <a:bodyPr wrap="square" lIns="0" tIns="0" rIns="0" bIns="0" rtlCol="0" anchor="ctr"/>
          <a:lstStyle/>
          <a:p>
            <a:pPr marL="0" indent="0">
              <a:buNone/>
            </a:pPr>
            <a:r>
              <a:rPr lang="en-US" sz="740" b="0" kern="0" spc="30" dirty="0">
                <a:solidFill>
                  <a:srgbClr val="1B6BC0"/>
                </a:solidFill>
                <a:latin typeface="Trenda IG Text Semibold" pitchFamily="34" charset="0"/>
                <a:ea typeface="Trenda IG Text Semibold" pitchFamily="34" charset="-122"/>
                <a:cs typeface="Trenda IG Text Semibold" pitchFamily="34" charset="-120"/>
              </a:rPr>
              <a:t>SIX AUTHORITATIVE SYSTEMS OF RECORD</a:t>
            </a:r>
            <a:endParaRPr lang="en-US" sz="740" dirty="0"/>
          </a:p>
        </p:txBody>
      </p:sp>
      <p:pic>
        <p:nvPicPr>
          <p:cNvPr id="8" name="Image 0" descr="preencoded.png"/>
          <p:cNvPicPr>
            <a:picLocks noChangeAspect="1"/>
          </p:cNvPicPr>
          <p:nvPr/>
        </p:nvPicPr>
        <p:blipFill>
          <a:blip r:embed="rId3"/>
          <a:stretch>
            <a:fillRect/>
          </a:stretch>
        </p:blipFill>
        <p:spPr>
          <a:xfrm>
            <a:off x="347472" y="292608"/>
            <a:ext cx="137160" cy="137160"/>
          </a:xfrm>
          <a:prstGeom prst="rect">
            <a:avLst/>
          </a:prstGeom>
        </p:spPr>
      </p:pic>
      <p:sp>
        <p:nvSpPr>
          <p:cNvPr id="9" name="Text 6"/>
          <p:cNvSpPr txBox="1"/>
          <p:nvPr/>
        </p:nvSpPr>
        <p:spPr>
          <a:xfrm>
            <a:off x="201168" y="438912"/>
            <a:ext cx="438912" cy="118872"/>
          </a:xfrm>
          <a:prstGeom prst="rect">
            <a:avLst/>
          </a:prstGeom>
          <a:noFill/>
          <a:ln/>
        </p:spPr>
        <p:txBody>
          <a:bodyPr wrap="square" lIns="0" tIns="0" rIns="0" bIns="0" rtlCol="0" anchor="ctr"/>
          <a:lstStyle/>
          <a:p>
            <a:pPr marL="0" indent="0" algn="ctr">
              <a:buNone/>
            </a:pPr>
            <a:r>
              <a:rPr lang="en-US" sz="580" dirty="0">
                <a:solidFill>
                  <a:srgbClr val="12233B"/>
                </a:solidFill>
                <a:latin typeface="Trenda IG Text" pitchFamily="34" charset="0"/>
                <a:ea typeface="Trenda IG Text" pitchFamily="34" charset="-122"/>
                <a:cs typeface="Trenda IG Text" pitchFamily="34" charset="-120"/>
              </a:rPr>
              <a:t>Jira</a:t>
            </a:r>
            <a:endParaRPr lang="en-US" sz="580" dirty="0"/>
          </a:p>
        </p:txBody>
      </p:sp>
      <p:pic>
        <p:nvPicPr>
          <p:cNvPr id="10" name="Image 1" descr="preencoded.png"/>
          <p:cNvPicPr>
            <a:picLocks noChangeAspect="1"/>
          </p:cNvPicPr>
          <p:nvPr/>
        </p:nvPicPr>
        <p:blipFill>
          <a:blip r:embed="rId4"/>
          <a:stretch>
            <a:fillRect/>
          </a:stretch>
        </p:blipFill>
        <p:spPr>
          <a:xfrm>
            <a:off x="877824" y="292608"/>
            <a:ext cx="137160" cy="137160"/>
          </a:xfrm>
          <a:prstGeom prst="rect">
            <a:avLst/>
          </a:prstGeom>
        </p:spPr>
      </p:pic>
      <p:sp>
        <p:nvSpPr>
          <p:cNvPr id="11" name="Text 7"/>
          <p:cNvSpPr txBox="1"/>
          <p:nvPr/>
        </p:nvSpPr>
        <p:spPr>
          <a:xfrm>
            <a:off x="731520" y="438912"/>
            <a:ext cx="438912" cy="118872"/>
          </a:xfrm>
          <a:prstGeom prst="rect">
            <a:avLst/>
          </a:prstGeom>
          <a:noFill/>
          <a:ln/>
        </p:spPr>
        <p:txBody>
          <a:bodyPr wrap="square" lIns="0" tIns="0" rIns="0" bIns="0" rtlCol="0" anchor="ctr"/>
          <a:lstStyle/>
          <a:p>
            <a:pPr marL="0" indent="0" algn="ctr">
              <a:buNone/>
            </a:pPr>
            <a:r>
              <a:rPr lang="en-US" sz="580" dirty="0">
                <a:solidFill>
                  <a:srgbClr val="12233B"/>
                </a:solidFill>
                <a:latin typeface="Trenda IG Text" pitchFamily="34" charset="0"/>
                <a:ea typeface="Trenda IG Text" pitchFamily="34" charset="-122"/>
                <a:cs typeface="Trenda IG Text" pitchFamily="34" charset="-120"/>
              </a:rPr>
              <a:t>Confluence</a:t>
            </a:r>
            <a:endParaRPr lang="en-US" sz="580" dirty="0"/>
          </a:p>
        </p:txBody>
      </p:sp>
      <p:pic>
        <p:nvPicPr>
          <p:cNvPr id="12" name="Image 2" descr="preencoded.png"/>
          <p:cNvPicPr>
            <a:picLocks noChangeAspect="1"/>
          </p:cNvPicPr>
          <p:nvPr/>
        </p:nvPicPr>
        <p:blipFill>
          <a:blip r:embed="rId5"/>
          <a:stretch>
            <a:fillRect/>
          </a:stretch>
        </p:blipFill>
        <p:spPr>
          <a:xfrm>
            <a:off x="1408176" y="292608"/>
            <a:ext cx="137160" cy="137160"/>
          </a:xfrm>
          <a:prstGeom prst="rect">
            <a:avLst/>
          </a:prstGeom>
        </p:spPr>
      </p:pic>
      <p:sp>
        <p:nvSpPr>
          <p:cNvPr id="13" name="Text 8"/>
          <p:cNvSpPr txBox="1"/>
          <p:nvPr/>
        </p:nvSpPr>
        <p:spPr>
          <a:xfrm>
            <a:off x="1261872" y="438912"/>
            <a:ext cx="438912" cy="118872"/>
          </a:xfrm>
          <a:prstGeom prst="rect">
            <a:avLst/>
          </a:prstGeom>
          <a:noFill/>
          <a:ln/>
        </p:spPr>
        <p:txBody>
          <a:bodyPr wrap="square" lIns="0" tIns="0" rIns="0" bIns="0" rtlCol="0" anchor="ctr"/>
          <a:lstStyle/>
          <a:p>
            <a:pPr marL="0" indent="0" algn="ctr">
              <a:buNone/>
            </a:pPr>
            <a:r>
              <a:rPr lang="en-US" sz="580" dirty="0">
                <a:solidFill>
                  <a:srgbClr val="12233B"/>
                </a:solidFill>
                <a:latin typeface="Trenda IG Text" pitchFamily="34" charset="0"/>
                <a:ea typeface="Trenda IG Text" pitchFamily="34" charset="-122"/>
                <a:cs typeface="Trenda IG Text" pitchFamily="34" charset="-120"/>
              </a:rPr>
              <a:t>Salesforce</a:t>
            </a:r>
            <a:endParaRPr lang="en-US" sz="580" dirty="0"/>
          </a:p>
        </p:txBody>
      </p:sp>
      <p:pic>
        <p:nvPicPr>
          <p:cNvPr id="14" name="Image 3" descr="preencoded.png"/>
          <p:cNvPicPr>
            <a:picLocks noChangeAspect="1"/>
          </p:cNvPicPr>
          <p:nvPr/>
        </p:nvPicPr>
        <p:blipFill>
          <a:blip r:embed="rId6"/>
          <a:stretch>
            <a:fillRect/>
          </a:stretch>
        </p:blipFill>
        <p:spPr>
          <a:xfrm>
            <a:off x="1938528" y="292608"/>
            <a:ext cx="137160" cy="137160"/>
          </a:xfrm>
          <a:prstGeom prst="rect">
            <a:avLst/>
          </a:prstGeom>
        </p:spPr>
      </p:pic>
      <p:sp>
        <p:nvSpPr>
          <p:cNvPr id="15" name="Text 9"/>
          <p:cNvSpPr txBox="1"/>
          <p:nvPr/>
        </p:nvSpPr>
        <p:spPr>
          <a:xfrm>
            <a:off x="1792224" y="438912"/>
            <a:ext cx="438912" cy="118872"/>
          </a:xfrm>
          <a:prstGeom prst="rect">
            <a:avLst/>
          </a:prstGeom>
          <a:noFill/>
          <a:ln/>
        </p:spPr>
        <p:txBody>
          <a:bodyPr wrap="square" lIns="0" tIns="0" rIns="0" bIns="0" rtlCol="0" anchor="ctr"/>
          <a:lstStyle/>
          <a:p>
            <a:pPr marL="0" indent="0" algn="ctr">
              <a:buNone/>
            </a:pPr>
            <a:r>
              <a:rPr lang="en-US" sz="580" dirty="0">
                <a:solidFill>
                  <a:srgbClr val="12233B"/>
                </a:solidFill>
                <a:latin typeface="Trenda IG Text" pitchFamily="34" charset="0"/>
                <a:ea typeface="Trenda IG Text" pitchFamily="34" charset="-122"/>
                <a:cs typeface="Trenda IG Text" pitchFamily="34" charset="-120"/>
              </a:rPr>
              <a:t>Git</a:t>
            </a:r>
            <a:endParaRPr lang="en-US" sz="580" dirty="0"/>
          </a:p>
        </p:txBody>
      </p:sp>
      <p:pic>
        <p:nvPicPr>
          <p:cNvPr id="16" name="Image 4" descr="preencoded.png"/>
          <p:cNvPicPr>
            <a:picLocks noChangeAspect="1"/>
          </p:cNvPicPr>
          <p:nvPr/>
        </p:nvPicPr>
        <p:blipFill>
          <a:blip r:embed="rId7"/>
          <a:stretch>
            <a:fillRect/>
          </a:stretch>
        </p:blipFill>
        <p:spPr>
          <a:xfrm>
            <a:off x="2468880" y="292608"/>
            <a:ext cx="137160" cy="137160"/>
          </a:xfrm>
          <a:prstGeom prst="rect">
            <a:avLst/>
          </a:prstGeom>
        </p:spPr>
      </p:pic>
      <p:sp>
        <p:nvSpPr>
          <p:cNvPr id="17" name="Text 10"/>
          <p:cNvSpPr txBox="1"/>
          <p:nvPr/>
        </p:nvSpPr>
        <p:spPr>
          <a:xfrm>
            <a:off x="2322576" y="438912"/>
            <a:ext cx="438912" cy="118872"/>
          </a:xfrm>
          <a:prstGeom prst="rect">
            <a:avLst/>
          </a:prstGeom>
          <a:noFill/>
          <a:ln/>
        </p:spPr>
        <p:txBody>
          <a:bodyPr wrap="square" lIns="0" tIns="0" rIns="0" bIns="0" rtlCol="0" anchor="ctr"/>
          <a:lstStyle/>
          <a:p>
            <a:pPr marL="0" indent="0" algn="ctr">
              <a:buNone/>
            </a:pPr>
            <a:r>
              <a:rPr lang="en-US" sz="580" dirty="0">
                <a:solidFill>
                  <a:srgbClr val="12233B"/>
                </a:solidFill>
                <a:latin typeface="Trenda IG Text" pitchFamily="34" charset="0"/>
                <a:ea typeface="Trenda IG Text" pitchFamily="34" charset="-122"/>
                <a:cs typeface="Trenda IG Text" pitchFamily="34" charset="-120"/>
              </a:rPr>
              <a:t>Copado</a:t>
            </a:r>
            <a:endParaRPr lang="en-US" sz="580" dirty="0"/>
          </a:p>
        </p:txBody>
      </p:sp>
      <p:pic>
        <p:nvPicPr>
          <p:cNvPr id="18" name="Image 5" descr="preencoded.png"/>
          <p:cNvPicPr>
            <a:picLocks noChangeAspect="1"/>
          </p:cNvPicPr>
          <p:nvPr/>
        </p:nvPicPr>
        <p:blipFill>
          <a:blip r:embed="rId8"/>
          <a:stretch>
            <a:fillRect/>
          </a:stretch>
        </p:blipFill>
        <p:spPr>
          <a:xfrm>
            <a:off x="2999232" y="292608"/>
            <a:ext cx="137160" cy="137160"/>
          </a:xfrm>
          <a:prstGeom prst="rect">
            <a:avLst/>
          </a:prstGeom>
        </p:spPr>
      </p:pic>
      <p:sp>
        <p:nvSpPr>
          <p:cNvPr id="19" name="Text 11"/>
          <p:cNvSpPr txBox="1"/>
          <p:nvPr/>
        </p:nvSpPr>
        <p:spPr>
          <a:xfrm>
            <a:off x="2852928" y="438912"/>
            <a:ext cx="438912" cy="118872"/>
          </a:xfrm>
          <a:prstGeom prst="rect">
            <a:avLst/>
          </a:prstGeom>
          <a:noFill/>
          <a:ln/>
        </p:spPr>
        <p:txBody>
          <a:bodyPr wrap="square" lIns="0" tIns="0" rIns="0" bIns="0" rtlCol="0" anchor="ctr"/>
          <a:lstStyle/>
          <a:p>
            <a:pPr marL="0" indent="0" algn="ctr">
              <a:buNone/>
            </a:pPr>
            <a:r>
              <a:rPr lang="en-US" sz="580" dirty="0">
                <a:solidFill>
                  <a:srgbClr val="12233B"/>
                </a:solidFill>
                <a:latin typeface="Trenda IG Text" pitchFamily="34" charset="0"/>
                <a:ea typeface="Trenda IG Text" pitchFamily="34" charset="-122"/>
                <a:cs typeface="Trenda IG Text" pitchFamily="34" charset="-120"/>
              </a:rPr>
              <a:t>Drive</a:t>
            </a:r>
            <a:endParaRPr lang="en-US" sz="580" dirty="0"/>
          </a:p>
        </p:txBody>
      </p:sp>
      <p:sp>
        <p:nvSpPr>
          <p:cNvPr id="20" name="Text 12"/>
          <p:cNvSpPr txBox="1"/>
          <p:nvPr/>
        </p:nvSpPr>
        <p:spPr>
          <a:xfrm>
            <a:off x="274320" y="553212"/>
            <a:ext cx="3218688" cy="118872"/>
          </a:xfrm>
          <a:prstGeom prst="rect">
            <a:avLst/>
          </a:prstGeom>
          <a:noFill/>
          <a:ln/>
        </p:spPr>
        <p:txBody>
          <a:bodyPr wrap="square" lIns="0" tIns="0" rIns="0" bIns="0" rtlCol="0" anchor="ctr"/>
          <a:lstStyle/>
          <a:p>
            <a:pPr marL="0" indent="0">
              <a:buNone/>
            </a:pPr>
            <a:r>
              <a:rPr lang="en-US" sz="600" i="1" dirty="0">
                <a:solidFill>
                  <a:srgbClr val="5C6E85"/>
                </a:solidFill>
                <a:latin typeface="Trenda IG Text" pitchFamily="34" charset="0"/>
                <a:ea typeface="Trenda IG Text" pitchFamily="34" charset="-122"/>
                <a:cs typeface="Trenda IG Text" pitchFamily="34" charset="-120"/>
              </a:rPr>
              <a:t>read-only · hashed · provenance-tagged</a:t>
            </a:r>
            <a:endParaRPr lang="en-US" sz="600" dirty="0"/>
          </a:p>
        </p:txBody>
      </p:sp>
      <p:sp>
        <p:nvSpPr>
          <p:cNvPr id="21" name="Shape 13"/>
          <p:cNvSpPr/>
          <p:nvPr/>
        </p:nvSpPr>
        <p:spPr>
          <a:xfrm>
            <a:off x="8586216" y="109728"/>
            <a:ext cx="3438144" cy="566928"/>
          </a:xfrm>
          <a:prstGeom prst="roundRect">
            <a:avLst>
              <a:gd name="adj" fmla="val 8065"/>
            </a:avLst>
          </a:prstGeom>
          <a:solidFill>
            <a:srgbClr val="FFFFFF"/>
          </a:solidFill>
          <a:ln w="12700">
            <a:solidFill>
              <a:srgbClr val="DCE4EE"/>
            </a:solidFill>
            <a:prstDash val="solid"/>
          </a:ln>
        </p:spPr>
        <p:txBody>
          <a:bodyPr/>
          <a:lstStyle/>
          <a:p>
            <a:endParaRPr lang="en-IN"/>
          </a:p>
        </p:txBody>
      </p:sp>
      <p:sp>
        <p:nvSpPr>
          <p:cNvPr id="22" name="Text 14"/>
          <p:cNvSpPr txBox="1"/>
          <p:nvPr/>
        </p:nvSpPr>
        <p:spPr>
          <a:xfrm>
            <a:off x="8695944" y="146304"/>
            <a:ext cx="3218688" cy="137160"/>
          </a:xfrm>
          <a:prstGeom prst="rect">
            <a:avLst/>
          </a:prstGeom>
          <a:noFill/>
          <a:ln/>
        </p:spPr>
        <p:txBody>
          <a:bodyPr wrap="square" lIns="0" tIns="0" rIns="0" bIns="0" rtlCol="0" anchor="ctr"/>
          <a:lstStyle/>
          <a:p>
            <a:pPr marL="0" indent="0">
              <a:buNone/>
            </a:pPr>
            <a:r>
              <a:rPr lang="en-US" sz="740" b="0" kern="0" spc="30" dirty="0">
                <a:solidFill>
                  <a:srgbClr val="2E7D32"/>
                </a:solidFill>
                <a:latin typeface="Trenda IG Text Semibold" pitchFamily="34" charset="0"/>
                <a:ea typeface="Trenda IG Text Semibold" pitchFamily="34" charset="-122"/>
                <a:cs typeface="Trenda IG Text Semibold" pitchFamily="34" charset="-120"/>
              </a:rPr>
              <a:t>GOVERNED DELIVERY OUTCOMES</a:t>
            </a:r>
            <a:endParaRPr lang="en-US" sz="740" dirty="0"/>
          </a:p>
        </p:txBody>
      </p:sp>
      <p:sp>
        <p:nvSpPr>
          <p:cNvPr id="23" name="Text 15"/>
          <p:cNvSpPr txBox="1"/>
          <p:nvPr/>
        </p:nvSpPr>
        <p:spPr>
          <a:xfrm>
            <a:off x="8695944" y="292608"/>
            <a:ext cx="3218688" cy="256032"/>
          </a:xfrm>
          <a:prstGeom prst="rect">
            <a:avLst/>
          </a:prstGeom>
          <a:noFill/>
          <a:ln/>
        </p:spPr>
        <p:txBody>
          <a:bodyPr wrap="square" lIns="0" tIns="0" rIns="0" bIns="0" rtlCol="0" anchor="ctr"/>
          <a:lstStyle/>
          <a:p>
            <a:pPr marL="0" indent="0">
              <a:lnSpc>
                <a:spcPct val="95000"/>
              </a:lnSpc>
              <a:buNone/>
            </a:pPr>
            <a:r>
              <a:rPr lang="en-US" sz="680" dirty="0">
                <a:solidFill>
                  <a:srgbClr val="12233B"/>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80" dirty="0"/>
          </a:p>
        </p:txBody>
      </p:sp>
      <p:sp>
        <p:nvSpPr>
          <p:cNvPr id="24" name="Text 16"/>
          <p:cNvSpPr txBox="1"/>
          <p:nvPr/>
        </p:nvSpPr>
        <p:spPr>
          <a:xfrm>
            <a:off x="8695944" y="553212"/>
            <a:ext cx="3218688" cy="118872"/>
          </a:xfrm>
          <a:prstGeom prst="rect">
            <a:avLst/>
          </a:prstGeom>
          <a:noFill/>
          <a:ln/>
        </p:spPr>
        <p:txBody>
          <a:bodyPr wrap="square" lIns="0" tIns="0" rIns="0" bIns="0" rtlCol="0" anchor="ctr"/>
          <a:lstStyle/>
          <a:p>
            <a:pPr marL="0" indent="0">
              <a:buNone/>
            </a:pPr>
            <a:r>
              <a:rPr lang="en-US" sz="600" i="1" dirty="0">
                <a:solidFill>
                  <a:srgbClr val="5C6E85"/>
                </a:solidFill>
                <a:latin typeface="Trenda IG Text" pitchFamily="34" charset="0"/>
                <a:ea typeface="Trenda IG Text" pitchFamily="34" charset="-122"/>
                <a:cs typeface="Trenda IG Text" pitchFamily="34" charset="-120"/>
              </a:rPr>
              <a:t>AI analyzes and builds · humans keep every decision</a:t>
            </a:r>
            <a:endParaRPr lang="en-US" sz="600" dirty="0"/>
          </a:p>
        </p:txBody>
      </p:sp>
      <p:sp>
        <p:nvSpPr>
          <p:cNvPr id="25" name="Shape 17"/>
          <p:cNvSpPr/>
          <p:nvPr/>
        </p:nvSpPr>
        <p:spPr>
          <a:xfrm>
            <a:off x="164592" y="722376"/>
            <a:ext cx="1386459" cy="5111496"/>
          </a:xfrm>
          <a:prstGeom prst="roundRect">
            <a:avLst>
              <a:gd name="adj" fmla="val 3298"/>
            </a:avLst>
          </a:prstGeom>
          <a:solidFill>
            <a:srgbClr val="EAF1FB"/>
          </a:solidFill>
          <a:ln w="9525">
            <a:solidFill>
              <a:srgbClr val="DCE4EE"/>
            </a:solidFill>
            <a:prstDash val="solid"/>
          </a:ln>
        </p:spPr>
        <p:txBody>
          <a:bodyPr/>
          <a:lstStyle/>
          <a:p>
            <a:endParaRPr lang="en-IN"/>
          </a:p>
        </p:txBody>
      </p:sp>
      <p:sp>
        <p:nvSpPr>
          <p:cNvPr id="26" name="Shape 18"/>
          <p:cNvSpPr/>
          <p:nvPr/>
        </p:nvSpPr>
        <p:spPr>
          <a:xfrm>
            <a:off x="164592" y="722376"/>
            <a:ext cx="1386459" cy="621792"/>
          </a:xfrm>
          <a:prstGeom prst="roundRect">
            <a:avLst>
              <a:gd name="adj" fmla="val 7353"/>
            </a:avLst>
          </a:prstGeom>
          <a:solidFill>
            <a:srgbClr val="1B6BC0"/>
          </a:solidFill>
          <a:ln w="12700">
            <a:solidFill>
              <a:srgbClr val="1B6BC0"/>
            </a:solidFill>
            <a:prstDash val="solid"/>
          </a:ln>
        </p:spPr>
        <p:txBody>
          <a:bodyPr/>
          <a:lstStyle/>
          <a:p>
            <a:endParaRPr lang="en-IN"/>
          </a:p>
        </p:txBody>
      </p:sp>
      <p:pic>
        <p:nvPicPr>
          <p:cNvPr id="27" name="Image 6" descr="preencoded.png"/>
          <p:cNvPicPr>
            <a:picLocks noChangeAspect="1"/>
          </p:cNvPicPr>
          <p:nvPr/>
        </p:nvPicPr>
        <p:blipFill>
          <a:blip r:embed="rId9"/>
          <a:stretch>
            <a:fillRect/>
          </a:stretch>
        </p:blipFill>
        <p:spPr>
          <a:xfrm>
            <a:off x="789242" y="754380"/>
            <a:ext cx="137160" cy="137160"/>
          </a:xfrm>
          <a:prstGeom prst="rect">
            <a:avLst/>
          </a:prstGeom>
        </p:spPr>
      </p:pic>
      <p:sp>
        <p:nvSpPr>
          <p:cNvPr id="28" name="Text 19"/>
          <p:cNvSpPr txBox="1"/>
          <p:nvPr/>
        </p:nvSpPr>
        <p:spPr>
          <a:xfrm>
            <a:off x="201168" y="900684"/>
            <a:ext cx="1313307" cy="100584"/>
          </a:xfrm>
          <a:prstGeom prst="rect">
            <a:avLst/>
          </a:prstGeom>
          <a:noFill/>
          <a:ln/>
        </p:spPr>
        <p:txBody>
          <a:bodyPr wrap="square" lIns="0" tIns="0" rIns="0" bIns="0" rtlCol="0" anchor="ctr"/>
          <a:lstStyle/>
          <a:p>
            <a:pPr marL="0" indent="0" algn="ctr">
              <a:buNone/>
            </a:pPr>
            <a:r>
              <a:rPr lang="en-US" sz="560" b="0" kern="0" spc="50" dirty="0">
                <a:solidFill>
                  <a:srgbClr val="FFFFFF"/>
                </a:solidFill>
                <a:latin typeface="Trenda IG Text Semibold" pitchFamily="34" charset="0"/>
                <a:ea typeface="Trenda IG Text Semibold" pitchFamily="34" charset="-122"/>
                <a:cs typeface="Trenda IG Text Semibold" pitchFamily="34" charset="-120"/>
              </a:rPr>
              <a:t>LAYER 1</a:t>
            </a:r>
            <a:endParaRPr lang="en-US" sz="560" dirty="0"/>
          </a:p>
        </p:txBody>
      </p:sp>
      <p:sp>
        <p:nvSpPr>
          <p:cNvPr id="29" name="Text 20"/>
          <p:cNvSpPr txBox="1"/>
          <p:nvPr/>
        </p:nvSpPr>
        <p:spPr>
          <a:xfrm>
            <a:off x="192024" y="1001268"/>
            <a:ext cx="1331595" cy="210312"/>
          </a:xfrm>
          <a:prstGeom prst="rect">
            <a:avLst/>
          </a:prstGeom>
          <a:noFill/>
          <a:ln/>
        </p:spPr>
        <p:txBody>
          <a:bodyPr wrap="square" lIns="0" tIns="0" rIns="0" bIns="0" rtlCol="0" anchor="t"/>
          <a:lstStyle/>
          <a:p>
            <a:pPr marL="0" indent="0" algn="ctr">
              <a:buNone/>
            </a:pPr>
            <a:r>
              <a:rPr lang="en-US" sz="800" b="0" dirty="0">
                <a:solidFill>
                  <a:srgbClr val="FFFFFF"/>
                </a:solidFill>
                <a:latin typeface="Trenda IG Text Semibold" pitchFamily="34" charset="0"/>
                <a:ea typeface="Trenda IG Text Semibold" pitchFamily="34" charset="-122"/>
                <a:cs typeface="Trenda IG Text Semibold" pitchFamily="34" charset="-120"/>
              </a:rPr>
              <a:t>Source Systems</a:t>
            </a:r>
            <a:endParaRPr lang="en-US" sz="800" dirty="0"/>
          </a:p>
        </p:txBody>
      </p:sp>
      <p:sp>
        <p:nvSpPr>
          <p:cNvPr id="30" name="Text 21"/>
          <p:cNvSpPr txBox="1"/>
          <p:nvPr/>
        </p:nvSpPr>
        <p:spPr>
          <a:xfrm>
            <a:off x="192024" y="1211580"/>
            <a:ext cx="1331595" cy="118872"/>
          </a:xfrm>
          <a:prstGeom prst="rect">
            <a:avLst/>
          </a:prstGeom>
          <a:noFill/>
          <a:ln/>
        </p:spPr>
        <p:txBody>
          <a:bodyPr wrap="square" lIns="0" tIns="0" rIns="0" bIns="0" rtlCol="0" anchor="ctr"/>
          <a:lstStyle/>
          <a:p>
            <a:pPr marL="0" indent="0" algn="ctr">
              <a:buNone/>
            </a:pPr>
            <a:r>
              <a:rPr lang="en-US" sz="520" i="1" dirty="0">
                <a:solidFill>
                  <a:srgbClr val="FFFFFF"/>
                </a:solidFill>
                <a:latin typeface="Trenda IG Text" pitchFamily="34" charset="0"/>
                <a:ea typeface="Trenda IG Text" pitchFamily="34" charset="-122"/>
                <a:cs typeface="Trenda IG Text" pitchFamily="34" charset="-120"/>
              </a:rPr>
              <a:t>Authoritative systems of record</a:t>
            </a:r>
            <a:endParaRPr lang="en-US" sz="520" dirty="0"/>
          </a:p>
        </p:txBody>
      </p:sp>
      <p:sp>
        <p:nvSpPr>
          <p:cNvPr id="31" name="Shape 22"/>
          <p:cNvSpPr/>
          <p:nvPr/>
        </p:nvSpPr>
        <p:spPr>
          <a:xfrm>
            <a:off x="1558366" y="992124"/>
            <a:ext cx="95098" cy="91440"/>
          </a:xfrm>
          <a:prstGeom prst="rightArrow">
            <a:avLst/>
          </a:prstGeom>
          <a:solidFill>
            <a:srgbClr val="9AA7B5"/>
          </a:solidFill>
          <a:ln w="12700">
            <a:solidFill>
              <a:srgbClr val="9AA7B5"/>
            </a:solidFill>
            <a:prstDash val="solid"/>
          </a:ln>
        </p:spPr>
        <p:txBody>
          <a:bodyPr/>
          <a:lstStyle/>
          <a:p>
            <a:endParaRPr lang="en-IN"/>
          </a:p>
        </p:txBody>
      </p:sp>
      <p:sp>
        <p:nvSpPr>
          <p:cNvPr id="32" name="Shape 23"/>
          <p:cNvSpPr/>
          <p:nvPr/>
        </p:nvSpPr>
        <p:spPr>
          <a:xfrm>
            <a:off x="210312" y="1389888"/>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33" name="Image 7" descr="preencoded.png"/>
          <p:cNvPicPr>
            <a:picLocks noChangeAspect="1"/>
          </p:cNvPicPr>
          <p:nvPr/>
        </p:nvPicPr>
        <p:blipFill>
          <a:blip r:embed="rId3"/>
          <a:stretch>
            <a:fillRect/>
          </a:stretch>
        </p:blipFill>
        <p:spPr>
          <a:xfrm>
            <a:off x="256032" y="1421892"/>
            <a:ext cx="96012" cy="96012"/>
          </a:xfrm>
          <a:prstGeom prst="rect">
            <a:avLst/>
          </a:prstGeom>
        </p:spPr>
      </p:pic>
      <p:sp>
        <p:nvSpPr>
          <p:cNvPr id="34" name="Text 24"/>
          <p:cNvSpPr txBox="1"/>
          <p:nvPr/>
        </p:nvSpPr>
        <p:spPr>
          <a:xfrm>
            <a:off x="379476" y="1415491"/>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1B6BC0"/>
                </a:solidFill>
                <a:latin typeface="Trenda IG Text Semibold" pitchFamily="34" charset="0"/>
                <a:ea typeface="Trenda IG Text Semibold" pitchFamily="34" charset="-122"/>
                <a:cs typeface="Trenda IG Text Semibold" pitchFamily="34" charset="-120"/>
              </a:rPr>
              <a:t>Jira Cloud</a:t>
            </a:r>
            <a:endParaRPr lang="en-US" sz="620" dirty="0"/>
          </a:p>
        </p:txBody>
      </p:sp>
      <p:sp>
        <p:nvSpPr>
          <p:cNvPr id="35" name="Text 25"/>
          <p:cNvSpPr txBox="1"/>
          <p:nvPr/>
        </p:nvSpPr>
        <p:spPr>
          <a:xfrm>
            <a:off x="256032" y="1549908"/>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User stories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Acceptance criteria</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Epics, components, labels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Kanban &amp; sprint history</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Linked issues &amp; defects</a:t>
            </a:r>
            <a:endParaRPr lang="en-US" sz="550" dirty="0"/>
          </a:p>
        </p:txBody>
      </p:sp>
      <p:sp>
        <p:nvSpPr>
          <p:cNvPr id="36" name="Shape 26"/>
          <p:cNvSpPr/>
          <p:nvPr/>
        </p:nvSpPr>
        <p:spPr>
          <a:xfrm>
            <a:off x="210312" y="2059686"/>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37" name="Image 8" descr="preencoded.png"/>
          <p:cNvPicPr>
            <a:picLocks noChangeAspect="1"/>
          </p:cNvPicPr>
          <p:nvPr/>
        </p:nvPicPr>
        <p:blipFill>
          <a:blip r:embed="rId4"/>
          <a:stretch>
            <a:fillRect/>
          </a:stretch>
        </p:blipFill>
        <p:spPr>
          <a:xfrm>
            <a:off x="256032" y="2091690"/>
            <a:ext cx="96012" cy="96012"/>
          </a:xfrm>
          <a:prstGeom prst="rect">
            <a:avLst/>
          </a:prstGeom>
        </p:spPr>
      </p:pic>
      <p:sp>
        <p:nvSpPr>
          <p:cNvPr id="38" name="Text 27"/>
          <p:cNvSpPr txBox="1"/>
          <p:nvPr/>
        </p:nvSpPr>
        <p:spPr>
          <a:xfrm>
            <a:off x="379476" y="2085289"/>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1B6BC0"/>
                </a:solidFill>
                <a:latin typeface="Trenda IG Text Semibold" pitchFamily="34" charset="0"/>
                <a:ea typeface="Trenda IG Text Semibold" pitchFamily="34" charset="-122"/>
                <a:cs typeface="Trenda IG Text Semibold" pitchFamily="34" charset="-120"/>
              </a:rPr>
              <a:t>Confluence</a:t>
            </a:r>
            <a:endParaRPr lang="en-US" sz="620" dirty="0"/>
          </a:p>
        </p:txBody>
      </p:sp>
      <p:sp>
        <p:nvSpPr>
          <p:cNvPr id="39" name="Text 28"/>
          <p:cNvSpPr txBox="1"/>
          <p:nvPr/>
        </p:nvSpPr>
        <p:spPr>
          <a:xfrm>
            <a:off x="256032" y="2219706"/>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Functional design pages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Technical design pages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Business-rule tables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Integration diagrams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HFN / HPF runbooks</a:t>
            </a:r>
            <a:endParaRPr lang="en-US" sz="550" dirty="0"/>
          </a:p>
        </p:txBody>
      </p:sp>
      <p:sp>
        <p:nvSpPr>
          <p:cNvPr id="40" name="Shape 29"/>
          <p:cNvSpPr/>
          <p:nvPr/>
        </p:nvSpPr>
        <p:spPr>
          <a:xfrm>
            <a:off x="210312" y="2729484"/>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41" name="Image 9" descr="preencoded.png"/>
          <p:cNvPicPr>
            <a:picLocks noChangeAspect="1"/>
          </p:cNvPicPr>
          <p:nvPr/>
        </p:nvPicPr>
        <p:blipFill>
          <a:blip r:embed="rId5"/>
          <a:stretch>
            <a:fillRect/>
          </a:stretch>
        </p:blipFill>
        <p:spPr>
          <a:xfrm>
            <a:off x="256032" y="2761488"/>
            <a:ext cx="96012" cy="96012"/>
          </a:xfrm>
          <a:prstGeom prst="rect">
            <a:avLst/>
          </a:prstGeom>
        </p:spPr>
      </p:pic>
      <p:sp>
        <p:nvSpPr>
          <p:cNvPr id="42" name="Text 30"/>
          <p:cNvSpPr txBox="1"/>
          <p:nvPr/>
        </p:nvSpPr>
        <p:spPr>
          <a:xfrm>
            <a:off x="379476" y="2755087"/>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1B6BC0"/>
                </a:solidFill>
                <a:latin typeface="Trenda IG Text Semibold" pitchFamily="34" charset="0"/>
                <a:ea typeface="Trenda IG Text Semibold" pitchFamily="34" charset="-122"/>
                <a:cs typeface="Trenda IG Text Semibold" pitchFamily="34" charset="-120"/>
              </a:rPr>
              <a:t>Salesforce</a:t>
            </a:r>
            <a:endParaRPr lang="en-US" sz="620" dirty="0"/>
          </a:p>
        </p:txBody>
      </p:sp>
      <p:sp>
        <p:nvSpPr>
          <p:cNvPr id="43" name="Text 31"/>
          <p:cNvSpPr txBox="1"/>
          <p:nvPr/>
        </p:nvSpPr>
        <p:spPr>
          <a:xfrm>
            <a:off x="256032" y="2889504"/>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Health Cloud org</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HCP / Account, Facility</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HPF, HFN, CPA, Fee Sched.</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Fields, record types, rels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Flows, Apex, LWC, perm sets</a:t>
            </a:r>
            <a:endParaRPr lang="en-US" sz="550" dirty="0"/>
          </a:p>
        </p:txBody>
      </p:sp>
      <p:sp>
        <p:nvSpPr>
          <p:cNvPr id="44" name="Shape 32"/>
          <p:cNvSpPr/>
          <p:nvPr/>
        </p:nvSpPr>
        <p:spPr>
          <a:xfrm>
            <a:off x="210312" y="3399282"/>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45" name="Image 10" descr="preencoded.png"/>
          <p:cNvPicPr>
            <a:picLocks noChangeAspect="1"/>
          </p:cNvPicPr>
          <p:nvPr/>
        </p:nvPicPr>
        <p:blipFill>
          <a:blip r:embed="rId6"/>
          <a:stretch>
            <a:fillRect/>
          </a:stretch>
        </p:blipFill>
        <p:spPr>
          <a:xfrm>
            <a:off x="256032" y="3431286"/>
            <a:ext cx="96012" cy="96012"/>
          </a:xfrm>
          <a:prstGeom prst="rect">
            <a:avLst/>
          </a:prstGeom>
        </p:spPr>
      </p:pic>
      <p:sp>
        <p:nvSpPr>
          <p:cNvPr id="46" name="Text 33"/>
          <p:cNvSpPr txBox="1"/>
          <p:nvPr/>
        </p:nvSpPr>
        <p:spPr>
          <a:xfrm>
            <a:off x="379476" y="3424885"/>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1B6BC0"/>
                </a:solidFill>
                <a:latin typeface="Trenda IG Text Semibold" pitchFamily="34" charset="0"/>
                <a:ea typeface="Trenda IG Text Semibold" pitchFamily="34" charset="-122"/>
                <a:cs typeface="Trenda IG Text Semibold" pitchFamily="34" charset="-120"/>
              </a:rPr>
              <a:t>Git (SFDX repo)</a:t>
            </a:r>
            <a:endParaRPr lang="en-US" sz="620" dirty="0"/>
          </a:p>
        </p:txBody>
      </p:sp>
      <p:sp>
        <p:nvSpPr>
          <p:cNvPr id="47" name="Text 34"/>
          <p:cNvSpPr txBox="1"/>
          <p:nvPr/>
        </p:nvSpPr>
        <p:spPr>
          <a:xfrm>
            <a:off x="256032" y="3559302"/>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force-app source tree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Apex classes &amp; triggers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LWC bundles &amp; meta XML</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Apex test classes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Commits, branches, tags</a:t>
            </a:r>
            <a:endParaRPr lang="en-US" sz="550" dirty="0"/>
          </a:p>
        </p:txBody>
      </p:sp>
      <p:sp>
        <p:nvSpPr>
          <p:cNvPr id="48" name="Shape 35"/>
          <p:cNvSpPr/>
          <p:nvPr/>
        </p:nvSpPr>
        <p:spPr>
          <a:xfrm>
            <a:off x="210312" y="4069080"/>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49" name="Image 11" descr="preencoded.png"/>
          <p:cNvPicPr>
            <a:picLocks noChangeAspect="1"/>
          </p:cNvPicPr>
          <p:nvPr/>
        </p:nvPicPr>
        <p:blipFill>
          <a:blip r:embed="rId7"/>
          <a:stretch>
            <a:fillRect/>
          </a:stretch>
        </p:blipFill>
        <p:spPr>
          <a:xfrm>
            <a:off x="256032" y="4101084"/>
            <a:ext cx="96012" cy="96012"/>
          </a:xfrm>
          <a:prstGeom prst="rect">
            <a:avLst/>
          </a:prstGeom>
        </p:spPr>
      </p:pic>
      <p:sp>
        <p:nvSpPr>
          <p:cNvPr id="50" name="Text 36"/>
          <p:cNvSpPr txBox="1"/>
          <p:nvPr/>
        </p:nvSpPr>
        <p:spPr>
          <a:xfrm>
            <a:off x="379476" y="4094683"/>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1B6BC0"/>
                </a:solidFill>
                <a:latin typeface="Trenda IG Text Semibold" pitchFamily="34" charset="0"/>
                <a:ea typeface="Trenda IG Text Semibold" pitchFamily="34" charset="-122"/>
                <a:cs typeface="Trenda IG Text Semibold" pitchFamily="34" charset="-120"/>
              </a:rPr>
              <a:t>Copado</a:t>
            </a:r>
            <a:endParaRPr lang="en-US" sz="620" dirty="0"/>
          </a:p>
        </p:txBody>
      </p:sp>
      <p:sp>
        <p:nvSpPr>
          <p:cNvPr id="51" name="Text 37"/>
          <p:cNvSpPr txBox="1"/>
          <p:nvPr/>
        </p:nvSpPr>
        <p:spPr>
          <a:xfrm>
            <a:off x="256032" y="4229100"/>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User stories &amp; promotions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Deployment records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Robotic testing suites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Regression test runs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DEV → SIT → UAT → PROD</a:t>
            </a:r>
            <a:endParaRPr lang="en-US" sz="550" dirty="0"/>
          </a:p>
        </p:txBody>
      </p:sp>
      <p:sp>
        <p:nvSpPr>
          <p:cNvPr id="52" name="Shape 38"/>
          <p:cNvSpPr/>
          <p:nvPr/>
        </p:nvSpPr>
        <p:spPr>
          <a:xfrm>
            <a:off x="210312" y="4738878"/>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53" name="Image 12" descr="preencoded.png"/>
          <p:cNvPicPr>
            <a:picLocks noChangeAspect="1"/>
          </p:cNvPicPr>
          <p:nvPr/>
        </p:nvPicPr>
        <p:blipFill>
          <a:blip r:embed="rId8"/>
          <a:stretch>
            <a:fillRect/>
          </a:stretch>
        </p:blipFill>
        <p:spPr>
          <a:xfrm>
            <a:off x="256032" y="4770882"/>
            <a:ext cx="96012" cy="96012"/>
          </a:xfrm>
          <a:prstGeom prst="rect">
            <a:avLst/>
          </a:prstGeom>
        </p:spPr>
      </p:pic>
      <p:sp>
        <p:nvSpPr>
          <p:cNvPr id="54" name="Text 39"/>
          <p:cNvSpPr txBox="1"/>
          <p:nvPr/>
        </p:nvSpPr>
        <p:spPr>
          <a:xfrm>
            <a:off x="379476" y="4764481"/>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1B6BC0"/>
                </a:solidFill>
                <a:latin typeface="Trenda IG Text Semibold" pitchFamily="34" charset="0"/>
                <a:ea typeface="Trenda IG Text Semibold" pitchFamily="34" charset="-122"/>
                <a:cs typeface="Trenda IG Text Semibold" pitchFamily="34" charset="-120"/>
              </a:rPr>
              <a:t>Google Drive</a:t>
            </a:r>
            <a:endParaRPr lang="en-US" sz="620" dirty="0"/>
          </a:p>
        </p:txBody>
      </p:sp>
      <p:sp>
        <p:nvSpPr>
          <p:cNvPr id="55" name="Text 40"/>
          <p:cNvSpPr txBox="1"/>
          <p:nvPr/>
        </p:nvSpPr>
        <p:spPr>
          <a:xfrm>
            <a:off x="256032" y="4898898"/>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Shared delivery documents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Spec &amp; mapping sheets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Test-data workbooks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Evidence exports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Decision &amp; meeting notes</a:t>
            </a:r>
            <a:endParaRPr lang="en-US" sz="550" dirty="0"/>
          </a:p>
        </p:txBody>
      </p:sp>
      <p:sp>
        <p:nvSpPr>
          <p:cNvPr id="56" name="Shape 41"/>
          <p:cNvSpPr/>
          <p:nvPr/>
        </p:nvSpPr>
        <p:spPr>
          <a:xfrm>
            <a:off x="210312" y="5404104"/>
            <a:ext cx="1295019" cy="384048"/>
          </a:xfrm>
          <a:prstGeom prst="roundRect">
            <a:avLst>
              <a:gd name="adj" fmla="val 9524"/>
            </a:avLst>
          </a:prstGeom>
          <a:solidFill>
            <a:srgbClr val="1B6BC0"/>
          </a:solidFill>
          <a:ln w="12700">
            <a:solidFill>
              <a:srgbClr val="1B6BC0"/>
            </a:solidFill>
            <a:prstDash val="solid"/>
          </a:ln>
        </p:spPr>
        <p:txBody>
          <a:bodyPr/>
          <a:lstStyle/>
          <a:p>
            <a:endParaRPr lang="en-IN"/>
          </a:p>
        </p:txBody>
      </p:sp>
      <p:sp>
        <p:nvSpPr>
          <p:cNvPr id="57" name="Text 42"/>
          <p:cNvSpPr txBox="1"/>
          <p:nvPr/>
        </p:nvSpPr>
        <p:spPr>
          <a:xfrm>
            <a:off x="256032" y="5436108"/>
            <a:ext cx="1203579" cy="100584"/>
          </a:xfrm>
          <a:prstGeom prst="rect">
            <a:avLst/>
          </a:prstGeom>
          <a:noFill/>
          <a:ln/>
        </p:spPr>
        <p:txBody>
          <a:bodyPr wrap="square" lIns="0" tIns="0" rIns="0" bIns="0" rtlCol="0" anchor="ctr"/>
          <a:lstStyle/>
          <a:p>
            <a:pPr marL="0" indent="0">
              <a:buNone/>
            </a:pPr>
            <a:r>
              <a:rPr lang="en-US" sz="480" b="0" kern="0" spc="40"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80" dirty="0"/>
          </a:p>
        </p:txBody>
      </p:sp>
      <p:sp>
        <p:nvSpPr>
          <p:cNvPr id="58" name="Text 43"/>
          <p:cNvSpPr txBox="1"/>
          <p:nvPr/>
        </p:nvSpPr>
        <p:spPr>
          <a:xfrm>
            <a:off x="256032" y="5545836"/>
            <a:ext cx="1203579" cy="214884"/>
          </a:xfrm>
          <a:prstGeom prst="rect">
            <a:avLst/>
          </a:prstGeom>
          <a:noFill/>
          <a:ln/>
        </p:spPr>
        <p:txBody>
          <a:bodyPr wrap="square" lIns="0" tIns="0" rIns="0" bIns="0" rtlCol="0" anchor="t"/>
          <a:lstStyle/>
          <a:p>
            <a:pPr marL="0" indent="0">
              <a:lnSpc>
                <a:spcPct val="92000"/>
              </a:lnSpc>
              <a:buNone/>
            </a:pPr>
            <a:r>
              <a:rPr lang="en-US" sz="520" dirty="0">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520" dirty="0"/>
          </a:p>
        </p:txBody>
      </p:sp>
      <p:sp>
        <p:nvSpPr>
          <p:cNvPr id="59" name="Shape 44"/>
          <p:cNvSpPr/>
          <p:nvPr/>
        </p:nvSpPr>
        <p:spPr>
          <a:xfrm>
            <a:off x="1660779" y="722376"/>
            <a:ext cx="1386459" cy="5111496"/>
          </a:xfrm>
          <a:prstGeom prst="roundRect">
            <a:avLst>
              <a:gd name="adj" fmla="val 3298"/>
            </a:avLst>
          </a:prstGeom>
          <a:solidFill>
            <a:srgbClr val="E5F4F1"/>
          </a:solidFill>
          <a:ln w="9525">
            <a:solidFill>
              <a:srgbClr val="DCE4EE"/>
            </a:solidFill>
            <a:prstDash val="solid"/>
          </a:ln>
        </p:spPr>
        <p:txBody>
          <a:bodyPr/>
          <a:lstStyle/>
          <a:p>
            <a:endParaRPr lang="en-IN"/>
          </a:p>
        </p:txBody>
      </p:sp>
      <p:sp>
        <p:nvSpPr>
          <p:cNvPr id="60" name="Shape 45"/>
          <p:cNvSpPr/>
          <p:nvPr/>
        </p:nvSpPr>
        <p:spPr>
          <a:xfrm>
            <a:off x="1660779" y="722376"/>
            <a:ext cx="1386459" cy="621792"/>
          </a:xfrm>
          <a:prstGeom prst="roundRect">
            <a:avLst>
              <a:gd name="adj" fmla="val 7353"/>
            </a:avLst>
          </a:prstGeom>
          <a:solidFill>
            <a:srgbClr val="0E8A7D"/>
          </a:solidFill>
          <a:ln w="12700">
            <a:solidFill>
              <a:srgbClr val="0E8A7D"/>
            </a:solidFill>
            <a:prstDash val="solid"/>
          </a:ln>
        </p:spPr>
        <p:txBody>
          <a:bodyPr/>
          <a:lstStyle/>
          <a:p>
            <a:endParaRPr lang="en-IN"/>
          </a:p>
        </p:txBody>
      </p:sp>
      <p:pic>
        <p:nvPicPr>
          <p:cNvPr id="61" name="Image 13" descr="preencoded.png"/>
          <p:cNvPicPr>
            <a:picLocks noChangeAspect="1"/>
          </p:cNvPicPr>
          <p:nvPr/>
        </p:nvPicPr>
        <p:blipFill>
          <a:blip r:embed="rId10"/>
          <a:stretch>
            <a:fillRect/>
          </a:stretch>
        </p:blipFill>
        <p:spPr>
          <a:xfrm>
            <a:off x="2285428" y="754380"/>
            <a:ext cx="137160" cy="137160"/>
          </a:xfrm>
          <a:prstGeom prst="rect">
            <a:avLst/>
          </a:prstGeom>
        </p:spPr>
      </p:pic>
      <p:sp>
        <p:nvSpPr>
          <p:cNvPr id="62" name="Text 46"/>
          <p:cNvSpPr txBox="1"/>
          <p:nvPr/>
        </p:nvSpPr>
        <p:spPr>
          <a:xfrm>
            <a:off x="1697355" y="900684"/>
            <a:ext cx="1313307" cy="100584"/>
          </a:xfrm>
          <a:prstGeom prst="rect">
            <a:avLst/>
          </a:prstGeom>
          <a:noFill/>
          <a:ln/>
        </p:spPr>
        <p:txBody>
          <a:bodyPr wrap="square" lIns="0" tIns="0" rIns="0" bIns="0" rtlCol="0" anchor="ctr"/>
          <a:lstStyle/>
          <a:p>
            <a:pPr marL="0" indent="0" algn="ctr">
              <a:buNone/>
            </a:pPr>
            <a:r>
              <a:rPr lang="en-US" sz="560" b="0" kern="0" spc="50" dirty="0">
                <a:solidFill>
                  <a:srgbClr val="FFFFFF"/>
                </a:solidFill>
                <a:latin typeface="Trenda IG Text Semibold" pitchFamily="34" charset="0"/>
                <a:ea typeface="Trenda IG Text Semibold" pitchFamily="34" charset="-122"/>
                <a:cs typeface="Trenda IG Text Semibold" pitchFamily="34" charset="-120"/>
              </a:rPr>
              <a:t>LAYER 2</a:t>
            </a:r>
            <a:endParaRPr lang="en-US" sz="560" dirty="0"/>
          </a:p>
        </p:txBody>
      </p:sp>
      <p:sp>
        <p:nvSpPr>
          <p:cNvPr id="63" name="Text 47"/>
          <p:cNvSpPr txBox="1"/>
          <p:nvPr/>
        </p:nvSpPr>
        <p:spPr>
          <a:xfrm>
            <a:off x="1688211" y="1001268"/>
            <a:ext cx="1331595" cy="210312"/>
          </a:xfrm>
          <a:prstGeom prst="rect">
            <a:avLst/>
          </a:prstGeom>
          <a:noFill/>
          <a:ln/>
        </p:spPr>
        <p:txBody>
          <a:bodyPr wrap="square" lIns="0" tIns="0" rIns="0" bIns="0" rtlCol="0" anchor="t"/>
          <a:lstStyle/>
          <a:p>
            <a:pPr marL="0" indent="0" algn="ctr">
              <a:buNone/>
            </a:pPr>
            <a:r>
              <a:rPr lang="en-US" sz="800" b="0" dirty="0">
                <a:solidFill>
                  <a:srgbClr val="FFFFFF"/>
                </a:solidFill>
                <a:latin typeface="Trenda IG Text Semibold" pitchFamily="34" charset="0"/>
                <a:ea typeface="Trenda IG Text Semibold" pitchFamily="34" charset="-122"/>
                <a:cs typeface="Trenda IG Text Semibold" pitchFamily="34" charset="-120"/>
              </a:rPr>
              <a:t>Source Connectors</a:t>
            </a:r>
            <a:endParaRPr lang="en-US" sz="800" dirty="0"/>
          </a:p>
        </p:txBody>
      </p:sp>
      <p:sp>
        <p:nvSpPr>
          <p:cNvPr id="64" name="Text 48"/>
          <p:cNvSpPr txBox="1"/>
          <p:nvPr/>
        </p:nvSpPr>
        <p:spPr>
          <a:xfrm>
            <a:off x="1688211" y="1211580"/>
            <a:ext cx="1331595" cy="118872"/>
          </a:xfrm>
          <a:prstGeom prst="rect">
            <a:avLst/>
          </a:prstGeom>
          <a:noFill/>
          <a:ln/>
        </p:spPr>
        <p:txBody>
          <a:bodyPr wrap="square" lIns="0" tIns="0" rIns="0" bIns="0" rtlCol="0" anchor="ctr"/>
          <a:lstStyle/>
          <a:p>
            <a:pPr marL="0" indent="0" algn="ctr">
              <a:buNone/>
            </a:pPr>
            <a:r>
              <a:rPr lang="en-US" sz="520" i="1" dirty="0">
                <a:solidFill>
                  <a:srgbClr val="FFFFFF"/>
                </a:solidFill>
                <a:latin typeface="Trenda IG Text" pitchFamily="34" charset="0"/>
                <a:ea typeface="Trenda IG Text" pitchFamily="34" charset="-122"/>
                <a:cs typeface="Trenda IG Text" pitchFamily="34" charset="-120"/>
              </a:rPr>
              <a:t>AI Read Service · read-only</a:t>
            </a:r>
            <a:endParaRPr lang="en-US" sz="520" dirty="0"/>
          </a:p>
        </p:txBody>
      </p:sp>
      <p:sp>
        <p:nvSpPr>
          <p:cNvPr id="65" name="Shape 49"/>
          <p:cNvSpPr/>
          <p:nvPr/>
        </p:nvSpPr>
        <p:spPr>
          <a:xfrm>
            <a:off x="3054553" y="992124"/>
            <a:ext cx="95098" cy="91440"/>
          </a:xfrm>
          <a:prstGeom prst="rightArrow">
            <a:avLst/>
          </a:prstGeom>
          <a:solidFill>
            <a:srgbClr val="9AA7B5"/>
          </a:solidFill>
          <a:ln w="12700">
            <a:solidFill>
              <a:srgbClr val="9AA7B5"/>
            </a:solidFill>
            <a:prstDash val="solid"/>
          </a:ln>
        </p:spPr>
        <p:txBody>
          <a:bodyPr/>
          <a:lstStyle/>
          <a:p>
            <a:endParaRPr lang="en-IN"/>
          </a:p>
        </p:txBody>
      </p:sp>
      <p:sp>
        <p:nvSpPr>
          <p:cNvPr id="66" name="Shape 50"/>
          <p:cNvSpPr/>
          <p:nvPr/>
        </p:nvSpPr>
        <p:spPr>
          <a:xfrm>
            <a:off x="1706499" y="1389888"/>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67" name="Image 14" descr="preencoded.png"/>
          <p:cNvPicPr>
            <a:picLocks noChangeAspect="1"/>
          </p:cNvPicPr>
          <p:nvPr/>
        </p:nvPicPr>
        <p:blipFill>
          <a:blip r:embed="rId3"/>
          <a:stretch>
            <a:fillRect/>
          </a:stretch>
        </p:blipFill>
        <p:spPr>
          <a:xfrm>
            <a:off x="1752219" y="1421892"/>
            <a:ext cx="96012" cy="96012"/>
          </a:xfrm>
          <a:prstGeom prst="rect">
            <a:avLst/>
          </a:prstGeom>
        </p:spPr>
      </p:pic>
      <p:sp>
        <p:nvSpPr>
          <p:cNvPr id="68" name="Text 51"/>
          <p:cNvSpPr txBox="1"/>
          <p:nvPr/>
        </p:nvSpPr>
        <p:spPr>
          <a:xfrm>
            <a:off x="1875663" y="1415491"/>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0E8A7D"/>
                </a:solidFill>
                <a:latin typeface="Trenda IG Text Semibold" pitchFamily="34" charset="0"/>
                <a:ea typeface="Trenda IG Text Semibold" pitchFamily="34" charset="-122"/>
                <a:cs typeface="Trenda IG Text Semibold" pitchFamily="34" charset="-120"/>
              </a:rPr>
              <a:t>JiraSourceConnector</a:t>
            </a:r>
            <a:endParaRPr lang="en-US" sz="620" dirty="0"/>
          </a:p>
        </p:txBody>
      </p:sp>
      <p:sp>
        <p:nvSpPr>
          <p:cNvPr id="69" name="Text 52"/>
          <p:cNvSpPr txBox="1"/>
          <p:nvPr/>
        </p:nvSpPr>
        <p:spPr>
          <a:xfrm>
            <a:off x="1752219" y="1549908"/>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OAuth 2.0 (3LO) / API token</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Read-only scopes only</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JQL delta pull (lastSyncAt)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Paging, 429 backoff</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SHA-256 per issue payload</a:t>
            </a:r>
            <a:endParaRPr lang="en-US" sz="550" dirty="0"/>
          </a:p>
        </p:txBody>
      </p:sp>
      <p:sp>
        <p:nvSpPr>
          <p:cNvPr id="70" name="Shape 53"/>
          <p:cNvSpPr/>
          <p:nvPr/>
        </p:nvSpPr>
        <p:spPr>
          <a:xfrm>
            <a:off x="1706499" y="2059686"/>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71" name="Image 15" descr="preencoded.png"/>
          <p:cNvPicPr>
            <a:picLocks noChangeAspect="1"/>
          </p:cNvPicPr>
          <p:nvPr/>
        </p:nvPicPr>
        <p:blipFill>
          <a:blip r:embed="rId4"/>
          <a:stretch>
            <a:fillRect/>
          </a:stretch>
        </p:blipFill>
        <p:spPr>
          <a:xfrm>
            <a:off x="1752219" y="2091690"/>
            <a:ext cx="96012" cy="96012"/>
          </a:xfrm>
          <a:prstGeom prst="rect">
            <a:avLst/>
          </a:prstGeom>
        </p:spPr>
      </p:pic>
      <p:sp>
        <p:nvSpPr>
          <p:cNvPr id="72" name="Text 54"/>
          <p:cNvSpPr txBox="1"/>
          <p:nvPr/>
        </p:nvSpPr>
        <p:spPr>
          <a:xfrm>
            <a:off x="1875663" y="2085289"/>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0E8A7D"/>
                </a:solidFill>
                <a:latin typeface="Trenda IG Text Semibold" pitchFamily="34" charset="0"/>
                <a:ea typeface="Trenda IG Text Semibold" pitchFamily="34" charset="-122"/>
                <a:cs typeface="Trenda IG Text Semibold" pitchFamily="34" charset="-120"/>
              </a:rPr>
              <a:t>ConfluenceConnector</a:t>
            </a:r>
            <a:endParaRPr lang="en-US" sz="620" dirty="0"/>
          </a:p>
        </p:txBody>
      </p:sp>
      <p:sp>
        <p:nvSpPr>
          <p:cNvPr id="73" name="Text 55"/>
          <p:cNvSpPr txBox="1"/>
          <p:nvPr/>
        </p:nvSpPr>
        <p:spPr>
          <a:xfrm>
            <a:off x="1752219" y="2219706"/>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PAT / API token auth</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Space + label scoped pull</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HTML via body.storage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Version + lastUpdated delta</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Rate limited · SHA-256</a:t>
            </a:r>
            <a:endParaRPr lang="en-US" sz="550" dirty="0"/>
          </a:p>
        </p:txBody>
      </p:sp>
      <p:sp>
        <p:nvSpPr>
          <p:cNvPr id="74" name="Shape 56"/>
          <p:cNvSpPr/>
          <p:nvPr/>
        </p:nvSpPr>
        <p:spPr>
          <a:xfrm>
            <a:off x="1706499" y="2729484"/>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75" name="Image 16" descr="preencoded.png"/>
          <p:cNvPicPr>
            <a:picLocks noChangeAspect="1"/>
          </p:cNvPicPr>
          <p:nvPr/>
        </p:nvPicPr>
        <p:blipFill>
          <a:blip r:embed="rId5"/>
          <a:stretch>
            <a:fillRect/>
          </a:stretch>
        </p:blipFill>
        <p:spPr>
          <a:xfrm>
            <a:off x="1752219" y="2761488"/>
            <a:ext cx="96012" cy="96012"/>
          </a:xfrm>
          <a:prstGeom prst="rect">
            <a:avLst/>
          </a:prstGeom>
        </p:spPr>
      </p:pic>
      <p:sp>
        <p:nvSpPr>
          <p:cNvPr id="76" name="Text 57"/>
          <p:cNvSpPr txBox="1"/>
          <p:nvPr/>
        </p:nvSpPr>
        <p:spPr>
          <a:xfrm>
            <a:off x="1875663" y="2755087"/>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0E8A7D"/>
                </a:solidFill>
                <a:latin typeface="Trenda IG Text Semibold" pitchFamily="34" charset="0"/>
                <a:ea typeface="Trenda IG Text Semibold" pitchFamily="34" charset="-122"/>
                <a:cs typeface="Trenda IG Text Semibold" pitchFamily="34" charset="-120"/>
              </a:rPr>
              <a:t>SalesforceConnector</a:t>
            </a:r>
            <a:endParaRPr lang="en-US" sz="620" dirty="0"/>
          </a:p>
        </p:txBody>
      </p:sp>
      <p:sp>
        <p:nvSpPr>
          <p:cNvPr id="77" name="Text 58"/>
          <p:cNvSpPr txBox="1"/>
          <p:nvPr/>
        </p:nvSpPr>
        <p:spPr>
          <a:xfrm>
            <a:off x="1752219" y="2889504"/>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Connected App JWT bearer</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Read-only perm set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No record-data access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Tooling + Metadata API</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MetadataComponentDep.</a:t>
            </a:r>
            <a:endParaRPr lang="en-US" sz="550" dirty="0"/>
          </a:p>
        </p:txBody>
      </p:sp>
      <p:sp>
        <p:nvSpPr>
          <p:cNvPr id="78" name="Shape 59"/>
          <p:cNvSpPr/>
          <p:nvPr/>
        </p:nvSpPr>
        <p:spPr>
          <a:xfrm>
            <a:off x="1706499" y="3399282"/>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79" name="Image 17" descr="preencoded.png"/>
          <p:cNvPicPr>
            <a:picLocks noChangeAspect="1"/>
          </p:cNvPicPr>
          <p:nvPr/>
        </p:nvPicPr>
        <p:blipFill>
          <a:blip r:embed="rId6"/>
          <a:stretch>
            <a:fillRect/>
          </a:stretch>
        </p:blipFill>
        <p:spPr>
          <a:xfrm>
            <a:off x="1752219" y="3431286"/>
            <a:ext cx="96012" cy="96012"/>
          </a:xfrm>
          <a:prstGeom prst="rect">
            <a:avLst/>
          </a:prstGeom>
        </p:spPr>
      </p:pic>
      <p:sp>
        <p:nvSpPr>
          <p:cNvPr id="80" name="Text 60"/>
          <p:cNvSpPr txBox="1"/>
          <p:nvPr/>
        </p:nvSpPr>
        <p:spPr>
          <a:xfrm>
            <a:off x="1875663" y="3424885"/>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0E8A7D"/>
                </a:solidFill>
                <a:latin typeface="Trenda IG Text Semibold" pitchFamily="34" charset="0"/>
                <a:ea typeface="Trenda IG Text Semibold" pitchFamily="34" charset="-122"/>
                <a:cs typeface="Trenda IG Text Semibold" pitchFamily="34" charset="-120"/>
              </a:rPr>
              <a:t>GitSourceConnector</a:t>
            </a:r>
            <a:endParaRPr lang="en-US" sz="620" dirty="0"/>
          </a:p>
        </p:txBody>
      </p:sp>
      <p:sp>
        <p:nvSpPr>
          <p:cNvPr id="81" name="Text 61"/>
          <p:cNvSpPr txBox="1"/>
          <p:nvPr/>
        </p:nvSpPr>
        <p:spPr>
          <a:xfrm>
            <a:off x="1752219" y="3559302"/>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SSH deploy key / read PAT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Shallow clone + fetch</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Branch &amp; tag traversal</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Commit SHA, author, date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Per-file SHA-256, no push</a:t>
            </a:r>
            <a:endParaRPr lang="en-US" sz="550" dirty="0"/>
          </a:p>
        </p:txBody>
      </p:sp>
      <p:sp>
        <p:nvSpPr>
          <p:cNvPr id="82" name="Shape 62"/>
          <p:cNvSpPr/>
          <p:nvPr/>
        </p:nvSpPr>
        <p:spPr>
          <a:xfrm>
            <a:off x="1706499" y="4069080"/>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83" name="Image 18" descr="preencoded.png"/>
          <p:cNvPicPr>
            <a:picLocks noChangeAspect="1"/>
          </p:cNvPicPr>
          <p:nvPr/>
        </p:nvPicPr>
        <p:blipFill>
          <a:blip r:embed="rId7"/>
          <a:stretch>
            <a:fillRect/>
          </a:stretch>
        </p:blipFill>
        <p:spPr>
          <a:xfrm>
            <a:off x="1752219" y="4101084"/>
            <a:ext cx="96012" cy="96012"/>
          </a:xfrm>
          <a:prstGeom prst="rect">
            <a:avLst/>
          </a:prstGeom>
        </p:spPr>
      </p:pic>
      <p:sp>
        <p:nvSpPr>
          <p:cNvPr id="84" name="Text 63"/>
          <p:cNvSpPr txBox="1"/>
          <p:nvPr/>
        </p:nvSpPr>
        <p:spPr>
          <a:xfrm>
            <a:off x="1875663" y="4094683"/>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0E8A7D"/>
                </a:solidFill>
                <a:latin typeface="Trenda IG Text Semibold" pitchFamily="34" charset="0"/>
                <a:ea typeface="Trenda IG Text Semibold" pitchFamily="34" charset="-122"/>
                <a:cs typeface="Trenda IG Text Semibold" pitchFamily="34" charset="-120"/>
              </a:rPr>
              <a:t>CopadoConnector</a:t>
            </a:r>
            <a:endParaRPr lang="en-US" sz="620" dirty="0"/>
          </a:p>
        </p:txBody>
      </p:sp>
      <p:sp>
        <p:nvSpPr>
          <p:cNvPr id="85" name="Text 64"/>
          <p:cNvSpPr txBox="1"/>
          <p:nvPr/>
        </p:nvSpPr>
        <p:spPr>
          <a:xfrm>
            <a:off x="1752219" y="4229100"/>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OAuth 2.0 client creds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Read-only API user</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Stories + promotions pull</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Robotic + regression runs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Deployment records per env</a:t>
            </a:r>
            <a:endParaRPr lang="en-US" sz="550" dirty="0"/>
          </a:p>
        </p:txBody>
      </p:sp>
      <p:sp>
        <p:nvSpPr>
          <p:cNvPr id="86" name="Shape 65"/>
          <p:cNvSpPr/>
          <p:nvPr/>
        </p:nvSpPr>
        <p:spPr>
          <a:xfrm>
            <a:off x="1706499" y="4738878"/>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87" name="Image 19" descr="preencoded.png"/>
          <p:cNvPicPr>
            <a:picLocks noChangeAspect="1"/>
          </p:cNvPicPr>
          <p:nvPr/>
        </p:nvPicPr>
        <p:blipFill>
          <a:blip r:embed="rId8"/>
          <a:stretch>
            <a:fillRect/>
          </a:stretch>
        </p:blipFill>
        <p:spPr>
          <a:xfrm>
            <a:off x="1752219" y="4770882"/>
            <a:ext cx="96012" cy="96012"/>
          </a:xfrm>
          <a:prstGeom prst="rect">
            <a:avLst/>
          </a:prstGeom>
        </p:spPr>
      </p:pic>
      <p:sp>
        <p:nvSpPr>
          <p:cNvPr id="88" name="Text 66"/>
          <p:cNvSpPr txBox="1"/>
          <p:nvPr/>
        </p:nvSpPr>
        <p:spPr>
          <a:xfrm>
            <a:off x="1875663" y="4764481"/>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0E8A7D"/>
                </a:solidFill>
                <a:latin typeface="Trenda IG Text Semibold" pitchFamily="34" charset="0"/>
                <a:ea typeface="Trenda IG Text Semibold" pitchFamily="34" charset="-122"/>
                <a:cs typeface="Trenda IG Text Semibold" pitchFamily="34" charset="-120"/>
              </a:rPr>
              <a:t>GoogleDriveConnector</a:t>
            </a:r>
            <a:endParaRPr lang="en-US" sz="620" dirty="0"/>
          </a:p>
        </p:txBody>
      </p:sp>
      <p:sp>
        <p:nvSpPr>
          <p:cNvPr id="89" name="Text 67"/>
          <p:cNvSpPr txBox="1"/>
          <p:nvPr/>
        </p:nvSpPr>
        <p:spPr>
          <a:xfrm>
            <a:off x="1752219" y="4898898"/>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OAuth 2.0 service account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Drive API v3, shared drive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files.list + files.export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Docs / Sheets → text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Change-token delta sync</a:t>
            </a:r>
            <a:endParaRPr lang="en-US" sz="550" dirty="0"/>
          </a:p>
        </p:txBody>
      </p:sp>
      <p:sp>
        <p:nvSpPr>
          <p:cNvPr id="90" name="Shape 68"/>
          <p:cNvSpPr/>
          <p:nvPr/>
        </p:nvSpPr>
        <p:spPr>
          <a:xfrm>
            <a:off x="1706499" y="5404104"/>
            <a:ext cx="1295019" cy="384048"/>
          </a:xfrm>
          <a:prstGeom prst="roundRect">
            <a:avLst>
              <a:gd name="adj" fmla="val 9524"/>
            </a:avLst>
          </a:prstGeom>
          <a:solidFill>
            <a:srgbClr val="0E8A7D"/>
          </a:solidFill>
          <a:ln w="12700">
            <a:solidFill>
              <a:srgbClr val="0E8A7D"/>
            </a:solidFill>
            <a:prstDash val="solid"/>
          </a:ln>
        </p:spPr>
        <p:txBody>
          <a:bodyPr/>
          <a:lstStyle/>
          <a:p>
            <a:endParaRPr lang="en-IN"/>
          </a:p>
        </p:txBody>
      </p:sp>
      <p:sp>
        <p:nvSpPr>
          <p:cNvPr id="91" name="Text 69"/>
          <p:cNvSpPr txBox="1"/>
          <p:nvPr/>
        </p:nvSpPr>
        <p:spPr>
          <a:xfrm>
            <a:off x="1752219" y="5436108"/>
            <a:ext cx="1203579" cy="100584"/>
          </a:xfrm>
          <a:prstGeom prst="rect">
            <a:avLst/>
          </a:prstGeom>
          <a:noFill/>
          <a:ln/>
        </p:spPr>
        <p:txBody>
          <a:bodyPr wrap="square" lIns="0" tIns="0" rIns="0" bIns="0" rtlCol="0" anchor="ctr"/>
          <a:lstStyle/>
          <a:p>
            <a:pPr marL="0" indent="0">
              <a:buNone/>
            </a:pPr>
            <a:r>
              <a:rPr lang="en-US" sz="480" b="0" kern="0" spc="40"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80" dirty="0"/>
          </a:p>
        </p:txBody>
      </p:sp>
      <p:sp>
        <p:nvSpPr>
          <p:cNvPr id="92" name="Text 70"/>
          <p:cNvSpPr txBox="1"/>
          <p:nvPr/>
        </p:nvSpPr>
        <p:spPr>
          <a:xfrm>
            <a:off x="1752219" y="5545836"/>
            <a:ext cx="1203579" cy="214884"/>
          </a:xfrm>
          <a:prstGeom prst="rect">
            <a:avLst/>
          </a:prstGeom>
          <a:noFill/>
          <a:ln/>
        </p:spPr>
        <p:txBody>
          <a:bodyPr wrap="square" lIns="0" tIns="0" rIns="0" bIns="0" rtlCol="0" anchor="t"/>
          <a:lstStyle/>
          <a:p>
            <a:pPr marL="0" indent="0">
              <a:lnSpc>
                <a:spcPct val="92000"/>
              </a:lnSpc>
              <a:buNone/>
            </a:pPr>
            <a:r>
              <a:rPr lang="en-US" sz="520" dirty="0">
                <a:solidFill>
                  <a:srgbClr val="FFFFFF"/>
                </a:solidFill>
                <a:latin typeface="Trenda IG Text" pitchFamily="34" charset="0"/>
                <a:ea typeface="Trenda IG Text" pitchFamily="34" charset="-122"/>
                <a:cs typeface="Trenda IG Text" pitchFamily="34" charset="-120"/>
              </a:rPr>
              <a:t>Safe, repeatable reads, no writes, no production credentials</a:t>
            </a:r>
            <a:endParaRPr lang="en-US" sz="520" dirty="0"/>
          </a:p>
        </p:txBody>
      </p:sp>
      <p:sp>
        <p:nvSpPr>
          <p:cNvPr id="93" name="Shape 71"/>
          <p:cNvSpPr/>
          <p:nvPr/>
        </p:nvSpPr>
        <p:spPr>
          <a:xfrm>
            <a:off x="3156966" y="722376"/>
            <a:ext cx="1386459" cy="5111496"/>
          </a:xfrm>
          <a:prstGeom prst="roundRect">
            <a:avLst>
              <a:gd name="adj" fmla="val 3298"/>
            </a:avLst>
          </a:prstGeom>
          <a:solidFill>
            <a:srgbClr val="F0EBFA"/>
          </a:solidFill>
          <a:ln w="9525">
            <a:solidFill>
              <a:srgbClr val="DCE4EE"/>
            </a:solidFill>
            <a:prstDash val="solid"/>
          </a:ln>
        </p:spPr>
        <p:txBody>
          <a:bodyPr/>
          <a:lstStyle/>
          <a:p>
            <a:endParaRPr lang="en-IN"/>
          </a:p>
        </p:txBody>
      </p:sp>
      <p:sp>
        <p:nvSpPr>
          <p:cNvPr id="94" name="Shape 72"/>
          <p:cNvSpPr/>
          <p:nvPr/>
        </p:nvSpPr>
        <p:spPr>
          <a:xfrm>
            <a:off x="3156966" y="722376"/>
            <a:ext cx="1386459" cy="621792"/>
          </a:xfrm>
          <a:prstGeom prst="roundRect">
            <a:avLst>
              <a:gd name="adj" fmla="val 7353"/>
            </a:avLst>
          </a:prstGeom>
          <a:solidFill>
            <a:srgbClr val="7A4FC0"/>
          </a:solidFill>
          <a:ln w="12700">
            <a:solidFill>
              <a:srgbClr val="7A4FC0"/>
            </a:solidFill>
            <a:prstDash val="solid"/>
          </a:ln>
        </p:spPr>
        <p:txBody>
          <a:bodyPr/>
          <a:lstStyle/>
          <a:p>
            <a:endParaRPr lang="en-IN"/>
          </a:p>
        </p:txBody>
      </p:sp>
      <p:pic>
        <p:nvPicPr>
          <p:cNvPr id="95" name="Image 20" descr="preencoded.png"/>
          <p:cNvPicPr>
            <a:picLocks noChangeAspect="1"/>
          </p:cNvPicPr>
          <p:nvPr/>
        </p:nvPicPr>
        <p:blipFill>
          <a:blip r:embed="rId11"/>
          <a:stretch>
            <a:fillRect/>
          </a:stretch>
        </p:blipFill>
        <p:spPr>
          <a:xfrm>
            <a:off x="3781616" y="754380"/>
            <a:ext cx="137160" cy="137160"/>
          </a:xfrm>
          <a:prstGeom prst="rect">
            <a:avLst/>
          </a:prstGeom>
        </p:spPr>
      </p:pic>
      <p:sp>
        <p:nvSpPr>
          <p:cNvPr id="96" name="Text 73"/>
          <p:cNvSpPr txBox="1"/>
          <p:nvPr/>
        </p:nvSpPr>
        <p:spPr>
          <a:xfrm>
            <a:off x="3193542" y="900684"/>
            <a:ext cx="1313307" cy="100584"/>
          </a:xfrm>
          <a:prstGeom prst="rect">
            <a:avLst/>
          </a:prstGeom>
          <a:noFill/>
          <a:ln/>
        </p:spPr>
        <p:txBody>
          <a:bodyPr wrap="square" lIns="0" tIns="0" rIns="0" bIns="0" rtlCol="0" anchor="ctr"/>
          <a:lstStyle/>
          <a:p>
            <a:pPr marL="0" indent="0" algn="ctr">
              <a:buNone/>
            </a:pPr>
            <a:r>
              <a:rPr lang="en-US" sz="560" b="0" kern="0" spc="50" dirty="0">
                <a:solidFill>
                  <a:srgbClr val="FFFFFF"/>
                </a:solidFill>
                <a:latin typeface="Trenda IG Text Semibold" pitchFamily="34" charset="0"/>
                <a:ea typeface="Trenda IG Text Semibold" pitchFamily="34" charset="-122"/>
                <a:cs typeface="Trenda IG Text Semibold" pitchFamily="34" charset="-120"/>
              </a:rPr>
              <a:t>LAYER 3</a:t>
            </a:r>
            <a:endParaRPr lang="en-US" sz="560" dirty="0"/>
          </a:p>
        </p:txBody>
      </p:sp>
      <p:sp>
        <p:nvSpPr>
          <p:cNvPr id="97" name="Text 74"/>
          <p:cNvSpPr txBox="1"/>
          <p:nvPr/>
        </p:nvSpPr>
        <p:spPr>
          <a:xfrm>
            <a:off x="3184398" y="1001268"/>
            <a:ext cx="1331595" cy="210312"/>
          </a:xfrm>
          <a:prstGeom prst="rect">
            <a:avLst/>
          </a:prstGeom>
          <a:noFill/>
          <a:ln/>
        </p:spPr>
        <p:txBody>
          <a:bodyPr wrap="square" lIns="0" tIns="0" rIns="0" bIns="0" rtlCol="0" anchor="t"/>
          <a:lstStyle/>
          <a:p>
            <a:pPr marL="0" indent="0" algn="ctr">
              <a:buNone/>
            </a:pPr>
            <a:r>
              <a:rPr lang="en-US" sz="800" b="0" dirty="0">
                <a:solidFill>
                  <a:srgbClr val="FFFFFF"/>
                </a:solidFill>
                <a:latin typeface="Trenda IG Text Semibold" pitchFamily="34" charset="0"/>
                <a:ea typeface="Trenda IG Text Semibold" pitchFamily="34" charset="-122"/>
                <a:cs typeface="Trenda IG Text Semibold" pitchFamily="34" charset="-120"/>
              </a:rPr>
              <a:t>Ingestors</a:t>
            </a:r>
            <a:endParaRPr lang="en-US" sz="800" dirty="0"/>
          </a:p>
        </p:txBody>
      </p:sp>
      <p:sp>
        <p:nvSpPr>
          <p:cNvPr id="98" name="Text 75"/>
          <p:cNvSpPr txBox="1"/>
          <p:nvPr/>
        </p:nvSpPr>
        <p:spPr>
          <a:xfrm>
            <a:off x="3184398" y="1211580"/>
            <a:ext cx="1331595" cy="118872"/>
          </a:xfrm>
          <a:prstGeom prst="rect">
            <a:avLst/>
          </a:prstGeom>
          <a:noFill/>
          <a:ln/>
        </p:spPr>
        <p:txBody>
          <a:bodyPr wrap="square" lIns="0" tIns="0" rIns="0" bIns="0" rtlCol="0" anchor="ctr"/>
          <a:lstStyle/>
          <a:p>
            <a:pPr marL="0" indent="0" algn="ctr">
              <a:buNone/>
            </a:pPr>
            <a:r>
              <a:rPr lang="en-US" sz="520" i="1" dirty="0">
                <a:solidFill>
                  <a:srgbClr val="FFFFFF"/>
                </a:solidFill>
                <a:latin typeface="Trenda IG Text" pitchFamily="34" charset="0"/>
                <a:ea typeface="Trenda IG Text" pitchFamily="34" charset="-122"/>
                <a:cs typeface="Trenda IG Text" pitchFamily="34" charset="-120"/>
              </a:rPr>
              <a:t>Parse → domain model</a:t>
            </a:r>
            <a:endParaRPr lang="en-US" sz="520" dirty="0"/>
          </a:p>
        </p:txBody>
      </p:sp>
      <p:sp>
        <p:nvSpPr>
          <p:cNvPr id="99" name="Shape 76"/>
          <p:cNvSpPr/>
          <p:nvPr/>
        </p:nvSpPr>
        <p:spPr>
          <a:xfrm>
            <a:off x="4550740" y="992124"/>
            <a:ext cx="95098" cy="91440"/>
          </a:xfrm>
          <a:prstGeom prst="rightArrow">
            <a:avLst/>
          </a:prstGeom>
          <a:solidFill>
            <a:srgbClr val="9AA7B5"/>
          </a:solidFill>
          <a:ln w="12700">
            <a:solidFill>
              <a:srgbClr val="9AA7B5"/>
            </a:solidFill>
            <a:prstDash val="solid"/>
          </a:ln>
        </p:spPr>
        <p:txBody>
          <a:bodyPr/>
          <a:lstStyle/>
          <a:p>
            <a:endParaRPr lang="en-IN"/>
          </a:p>
        </p:txBody>
      </p:sp>
      <p:sp>
        <p:nvSpPr>
          <p:cNvPr id="100" name="Shape 77"/>
          <p:cNvSpPr/>
          <p:nvPr/>
        </p:nvSpPr>
        <p:spPr>
          <a:xfrm>
            <a:off x="3202686" y="1389888"/>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101" name="Image 21" descr="preencoded.png"/>
          <p:cNvPicPr>
            <a:picLocks noChangeAspect="1"/>
          </p:cNvPicPr>
          <p:nvPr/>
        </p:nvPicPr>
        <p:blipFill>
          <a:blip r:embed="rId3"/>
          <a:stretch>
            <a:fillRect/>
          </a:stretch>
        </p:blipFill>
        <p:spPr>
          <a:xfrm>
            <a:off x="3248406" y="1421892"/>
            <a:ext cx="96012" cy="96012"/>
          </a:xfrm>
          <a:prstGeom prst="rect">
            <a:avLst/>
          </a:prstGeom>
        </p:spPr>
      </p:pic>
      <p:sp>
        <p:nvSpPr>
          <p:cNvPr id="102" name="Text 78"/>
          <p:cNvSpPr txBox="1"/>
          <p:nvPr/>
        </p:nvSpPr>
        <p:spPr>
          <a:xfrm>
            <a:off x="3371850" y="1415491"/>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7A4FC0"/>
                </a:solidFill>
                <a:latin typeface="Trenda IG Text Semibold" pitchFamily="34" charset="0"/>
                <a:ea typeface="Trenda IG Text Semibold" pitchFamily="34" charset="-122"/>
                <a:cs typeface="Trenda IG Text Semibold" pitchFamily="34" charset="-120"/>
              </a:rPr>
              <a:t>Jira → Requirements</a:t>
            </a:r>
            <a:endParaRPr lang="en-US" sz="620" dirty="0"/>
          </a:p>
        </p:txBody>
      </p:sp>
      <p:sp>
        <p:nvSpPr>
          <p:cNvPr id="103" name="Text 79"/>
          <p:cNvSpPr txBox="1"/>
          <p:nvPr/>
        </p:nvSpPr>
        <p:spPr>
          <a:xfrm>
            <a:off x="3248406" y="1549908"/>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ADF JSON parsing</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Requirement extraction</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Given / When / Then</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Capability tagging</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Provenance: key + hash</a:t>
            </a:r>
            <a:endParaRPr lang="en-US" sz="550" dirty="0"/>
          </a:p>
        </p:txBody>
      </p:sp>
      <p:sp>
        <p:nvSpPr>
          <p:cNvPr id="104" name="Shape 80"/>
          <p:cNvSpPr/>
          <p:nvPr/>
        </p:nvSpPr>
        <p:spPr>
          <a:xfrm>
            <a:off x="3202686" y="2059686"/>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105" name="Image 22" descr="preencoded.png"/>
          <p:cNvPicPr>
            <a:picLocks noChangeAspect="1"/>
          </p:cNvPicPr>
          <p:nvPr/>
        </p:nvPicPr>
        <p:blipFill>
          <a:blip r:embed="rId4"/>
          <a:stretch>
            <a:fillRect/>
          </a:stretch>
        </p:blipFill>
        <p:spPr>
          <a:xfrm>
            <a:off x="3248406" y="2091690"/>
            <a:ext cx="96012" cy="96012"/>
          </a:xfrm>
          <a:prstGeom prst="rect">
            <a:avLst/>
          </a:prstGeom>
        </p:spPr>
      </p:pic>
      <p:sp>
        <p:nvSpPr>
          <p:cNvPr id="106" name="Text 81"/>
          <p:cNvSpPr txBox="1"/>
          <p:nvPr/>
        </p:nvSpPr>
        <p:spPr>
          <a:xfrm>
            <a:off x="3371850" y="2085289"/>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7A4FC0"/>
                </a:solidFill>
                <a:latin typeface="Trenda IG Text Semibold" pitchFamily="34" charset="0"/>
                <a:ea typeface="Trenda IG Text Semibold" pitchFamily="34" charset="-122"/>
                <a:cs typeface="Trenda IG Text Semibold" pitchFamily="34" charset="-120"/>
              </a:rPr>
              <a:t>Confluence → Design</a:t>
            </a:r>
            <a:endParaRPr lang="en-US" sz="620" dirty="0"/>
          </a:p>
        </p:txBody>
      </p:sp>
      <p:sp>
        <p:nvSpPr>
          <p:cNvPr id="107" name="Text 82"/>
          <p:cNvSpPr txBox="1"/>
          <p:nvPr/>
        </p:nvSpPr>
        <p:spPr>
          <a:xfrm>
            <a:off x="3248406" y="2219706"/>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Jsoup HTML parsing</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Sections H1–H4</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Tables: headers, rows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Business-rule sentences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Provenance: id, version</a:t>
            </a:r>
            <a:endParaRPr lang="en-US" sz="550" dirty="0"/>
          </a:p>
        </p:txBody>
      </p:sp>
      <p:sp>
        <p:nvSpPr>
          <p:cNvPr id="108" name="Shape 83"/>
          <p:cNvSpPr/>
          <p:nvPr/>
        </p:nvSpPr>
        <p:spPr>
          <a:xfrm>
            <a:off x="3202686" y="2729484"/>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109" name="Image 23" descr="preencoded.png"/>
          <p:cNvPicPr>
            <a:picLocks noChangeAspect="1"/>
          </p:cNvPicPr>
          <p:nvPr/>
        </p:nvPicPr>
        <p:blipFill>
          <a:blip r:embed="rId5"/>
          <a:stretch>
            <a:fillRect/>
          </a:stretch>
        </p:blipFill>
        <p:spPr>
          <a:xfrm>
            <a:off x="3248406" y="2761488"/>
            <a:ext cx="96012" cy="96012"/>
          </a:xfrm>
          <a:prstGeom prst="rect">
            <a:avLst/>
          </a:prstGeom>
        </p:spPr>
      </p:pic>
      <p:sp>
        <p:nvSpPr>
          <p:cNvPr id="110" name="Text 84"/>
          <p:cNvSpPr txBox="1"/>
          <p:nvPr/>
        </p:nvSpPr>
        <p:spPr>
          <a:xfrm>
            <a:off x="3371850" y="2755087"/>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7A4FC0"/>
                </a:solidFill>
                <a:latin typeface="Trenda IG Text Semibold" pitchFamily="34" charset="0"/>
                <a:ea typeface="Trenda IG Text Semibold" pitchFamily="34" charset="-122"/>
                <a:cs typeface="Trenda IG Text Semibold" pitchFamily="34" charset="-120"/>
              </a:rPr>
              <a:t>Salesforce → Metadata</a:t>
            </a:r>
            <a:endParaRPr lang="en-US" sz="620" dirty="0"/>
          </a:p>
        </p:txBody>
      </p:sp>
      <p:sp>
        <p:nvSpPr>
          <p:cNvPr id="111" name="Text 85"/>
          <p:cNvSpPr txBox="1"/>
          <p:nvPr/>
        </p:nvSpPr>
        <p:spPr>
          <a:xfrm>
            <a:off x="3248406" y="2889504"/>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describe() → objects, fields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Flow XML: elements, rules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Apex: SOQL, DML, sObjects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Validation rule formulas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Dependency API → edges</a:t>
            </a:r>
            <a:endParaRPr lang="en-US" sz="550" dirty="0"/>
          </a:p>
        </p:txBody>
      </p:sp>
      <p:sp>
        <p:nvSpPr>
          <p:cNvPr id="112" name="Shape 86"/>
          <p:cNvSpPr/>
          <p:nvPr/>
        </p:nvSpPr>
        <p:spPr>
          <a:xfrm>
            <a:off x="3202686" y="3399282"/>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113" name="Image 24" descr="preencoded.png"/>
          <p:cNvPicPr>
            <a:picLocks noChangeAspect="1"/>
          </p:cNvPicPr>
          <p:nvPr/>
        </p:nvPicPr>
        <p:blipFill>
          <a:blip r:embed="rId6"/>
          <a:stretch>
            <a:fillRect/>
          </a:stretch>
        </p:blipFill>
        <p:spPr>
          <a:xfrm>
            <a:off x="3248406" y="3431286"/>
            <a:ext cx="96012" cy="96012"/>
          </a:xfrm>
          <a:prstGeom prst="rect">
            <a:avLst/>
          </a:prstGeom>
        </p:spPr>
      </p:pic>
      <p:sp>
        <p:nvSpPr>
          <p:cNvPr id="114" name="Text 87"/>
          <p:cNvSpPr txBox="1"/>
          <p:nvPr/>
        </p:nvSpPr>
        <p:spPr>
          <a:xfrm>
            <a:off x="3371850" y="3424885"/>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7A4FC0"/>
                </a:solidFill>
                <a:latin typeface="Trenda IG Text Semibold" pitchFamily="34" charset="0"/>
                <a:ea typeface="Trenda IG Text Semibold" pitchFamily="34" charset="-122"/>
                <a:cs typeface="Trenda IG Text Semibold" pitchFamily="34" charset="-120"/>
              </a:rPr>
              <a:t>Git → Code</a:t>
            </a:r>
            <a:endParaRPr lang="en-US" sz="620" dirty="0"/>
          </a:p>
        </p:txBody>
      </p:sp>
      <p:sp>
        <p:nvSpPr>
          <p:cNvPr id="115" name="Text 88"/>
          <p:cNvSpPr txBox="1"/>
          <p:nvPr/>
        </p:nvSpPr>
        <p:spPr>
          <a:xfrm>
            <a:off x="3248406" y="3559302"/>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SFDX source traversal</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Apex parsing (@isTest)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Test → covered class map</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LWC + meta XML parsing</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Provenance: path + commit</a:t>
            </a:r>
            <a:endParaRPr lang="en-US" sz="550" dirty="0"/>
          </a:p>
        </p:txBody>
      </p:sp>
      <p:sp>
        <p:nvSpPr>
          <p:cNvPr id="116" name="Shape 89"/>
          <p:cNvSpPr/>
          <p:nvPr/>
        </p:nvSpPr>
        <p:spPr>
          <a:xfrm>
            <a:off x="3202686" y="4069080"/>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117" name="Image 25" descr="preencoded.png"/>
          <p:cNvPicPr>
            <a:picLocks noChangeAspect="1"/>
          </p:cNvPicPr>
          <p:nvPr/>
        </p:nvPicPr>
        <p:blipFill>
          <a:blip r:embed="rId7"/>
          <a:stretch>
            <a:fillRect/>
          </a:stretch>
        </p:blipFill>
        <p:spPr>
          <a:xfrm>
            <a:off x="3248406" y="4101084"/>
            <a:ext cx="96012" cy="96012"/>
          </a:xfrm>
          <a:prstGeom prst="rect">
            <a:avLst/>
          </a:prstGeom>
        </p:spPr>
      </p:pic>
      <p:sp>
        <p:nvSpPr>
          <p:cNvPr id="118" name="Text 90"/>
          <p:cNvSpPr txBox="1"/>
          <p:nvPr/>
        </p:nvSpPr>
        <p:spPr>
          <a:xfrm>
            <a:off x="3371850" y="4094683"/>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7A4FC0"/>
                </a:solidFill>
                <a:latin typeface="Trenda IG Text Semibold" pitchFamily="34" charset="0"/>
                <a:ea typeface="Trenda IG Text Semibold" pitchFamily="34" charset="-122"/>
                <a:cs typeface="Trenda IG Text Semibold" pitchFamily="34" charset="-120"/>
              </a:rPr>
              <a:t>Copado → Releases</a:t>
            </a:r>
            <a:endParaRPr lang="en-US" sz="620" dirty="0"/>
          </a:p>
        </p:txBody>
      </p:sp>
      <p:sp>
        <p:nvSpPr>
          <p:cNvPr id="119" name="Text 91"/>
          <p:cNvSpPr txBox="1"/>
          <p:nvPr/>
        </p:nvSpPr>
        <p:spPr>
          <a:xfrm>
            <a:off x="3248406" y="4229100"/>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Story → component mapping</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Promotion &amp; deployment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Robotic test → component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Regression + evidence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Environment / stage map</a:t>
            </a:r>
            <a:endParaRPr lang="en-US" sz="550" dirty="0"/>
          </a:p>
        </p:txBody>
      </p:sp>
      <p:sp>
        <p:nvSpPr>
          <p:cNvPr id="120" name="Shape 92"/>
          <p:cNvSpPr/>
          <p:nvPr/>
        </p:nvSpPr>
        <p:spPr>
          <a:xfrm>
            <a:off x="3202686" y="4738878"/>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121" name="Image 26" descr="preencoded.png"/>
          <p:cNvPicPr>
            <a:picLocks noChangeAspect="1"/>
          </p:cNvPicPr>
          <p:nvPr/>
        </p:nvPicPr>
        <p:blipFill>
          <a:blip r:embed="rId8"/>
          <a:stretch>
            <a:fillRect/>
          </a:stretch>
        </p:blipFill>
        <p:spPr>
          <a:xfrm>
            <a:off x="3248406" y="4770882"/>
            <a:ext cx="96012" cy="96012"/>
          </a:xfrm>
          <a:prstGeom prst="rect">
            <a:avLst/>
          </a:prstGeom>
        </p:spPr>
      </p:pic>
      <p:sp>
        <p:nvSpPr>
          <p:cNvPr id="122" name="Text 93"/>
          <p:cNvSpPr txBox="1"/>
          <p:nvPr/>
        </p:nvSpPr>
        <p:spPr>
          <a:xfrm>
            <a:off x="3371850" y="4764481"/>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7A4FC0"/>
                </a:solidFill>
                <a:latin typeface="Trenda IG Text Semibold" pitchFamily="34" charset="0"/>
                <a:ea typeface="Trenda IG Text Semibold" pitchFamily="34" charset="-122"/>
                <a:cs typeface="Trenda IG Text Semibold" pitchFamily="34" charset="-120"/>
              </a:rPr>
              <a:t>Drive → Documents</a:t>
            </a:r>
            <a:endParaRPr lang="en-US" sz="620" dirty="0"/>
          </a:p>
        </p:txBody>
      </p:sp>
      <p:sp>
        <p:nvSpPr>
          <p:cNvPr id="123" name="Text 94"/>
          <p:cNvSpPr txBox="1"/>
          <p:nvPr/>
        </p:nvSpPr>
        <p:spPr>
          <a:xfrm>
            <a:off x="3248406" y="4898898"/>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Docs / Sheets text export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Sheet table extraction</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Spec → capability mapping</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Test-data workbook parse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Provenance: id + revision</a:t>
            </a:r>
            <a:endParaRPr lang="en-US" sz="550" dirty="0"/>
          </a:p>
        </p:txBody>
      </p:sp>
      <p:sp>
        <p:nvSpPr>
          <p:cNvPr id="124" name="Shape 95"/>
          <p:cNvSpPr/>
          <p:nvPr/>
        </p:nvSpPr>
        <p:spPr>
          <a:xfrm>
            <a:off x="3202686" y="5404104"/>
            <a:ext cx="1295019" cy="384048"/>
          </a:xfrm>
          <a:prstGeom prst="roundRect">
            <a:avLst>
              <a:gd name="adj" fmla="val 9524"/>
            </a:avLst>
          </a:prstGeom>
          <a:solidFill>
            <a:srgbClr val="7A4FC0"/>
          </a:solidFill>
          <a:ln w="12700">
            <a:solidFill>
              <a:srgbClr val="7A4FC0"/>
            </a:solidFill>
            <a:prstDash val="solid"/>
          </a:ln>
        </p:spPr>
        <p:txBody>
          <a:bodyPr/>
          <a:lstStyle/>
          <a:p>
            <a:endParaRPr lang="en-IN"/>
          </a:p>
        </p:txBody>
      </p:sp>
      <p:sp>
        <p:nvSpPr>
          <p:cNvPr id="125" name="Text 96"/>
          <p:cNvSpPr txBox="1"/>
          <p:nvPr/>
        </p:nvSpPr>
        <p:spPr>
          <a:xfrm>
            <a:off x="3248406" y="5436108"/>
            <a:ext cx="1203579" cy="100584"/>
          </a:xfrm>
          <a:prstGeom prst="rect">
            <a:avLst/>
          </a:prstGeom>
          <a:noFill/>
          <a:ln/>
        </p:spPr>
        <p:txBody>
          <a:bodyPr wrap="square" lIns="0" tIns="0" rIns="0" bIns="0" rtlCol="0" anchor="ctr"/>
          <a:lstStyle/>
          <a:p>
            <a:pPr marL="0" indent="0">
              <a:buNone/>
            </a:pPr>
            <a:r>
              <a:rPr lang="en-US" sz="480" b="0" kern="0" spc="40"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80" dirty="0"/>
          </a:p>
        </p:txBody>
      </p:sp>
      <p:sp>
        <p:nvSpPr>
          <p:cNvPr id="126" name="Text 97"/>
          <p:cNvSpPr txBox="1"/>
          <p:nvPr/>
        </p:nvSpPr>
        <p:spPr>
          <a:xfrm>
            <a:off x="3248406" y="5545836"/>
            <a:ext cx="1203579" cy="214884"/>
          </a:xfrm>
          <a:prstGeom prst="rect">
            <a:avLst/>
          </a:prstGeom>
          <a:noFill/>
          <a:ln/>
        </p:spPr>
        <p:txBody>
          <a:bodyPr wrap="square" lIns="0" tIns="0" rIns="0" bIns="0" rtlCol="0" anchor="t"/>
          <a:lstStyle/>
          <a:p>
            <a:pPr marL="0" indent="0">
              <a:lnSpc>
                <a:spcPct val="92000"/>
              </a:lnSpc>
              <a:buNone/>
            </a:pPr>
            <a:r>
              <a:rPr lang="en-US" sz="520" dirty="0">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520" dirty="0"/>
          </a:p>
        </p:txBody>
      </p:sp>
      <p:sp>
        <p:nvSpPr>
          <p:cNvPr id="127" name="Shape 98"/>
          <p:cNvSpPr/>
          <p:nvPr/>
        </p:nvSpPr>
        <p:spPr>
          <a:xfrm>
            <a:off x="4653153" y="722376"/>
            <a:ext cx="1386459" cy="5111496"/>
          </a:xfrm>
          <a:prstGeom prst="roundRect">
            <a:avLst>
              <a:gd name="adj" fmla="val 3298"/>
            </a:avLst>
          </a:prstGeom>
          <a:solidFill>
            <a:srgbClr val="FBE9F0"/>
          </a:solidFill>
          <a:ln w="9525">
            <a:solidFill>
              <a:srgbClr val="DCE4EE"/>
            </a:solidFill>
            <a:prstDash val="solid"/>
          </a:ln>
        </p:spPr>
        <p:txBody>
          <a:bodyPr/>
          <a:lstStyle/>
          <a:p>
            <a:endParaRPr lang="en-IN"/>
          </a:p>
        </p:txBody>
      </p:sp>
      <p:sp>
        <p:nvSpPr>
          <p:cNvPr id="128" name="Shape 99"/>
          <p:cNvSpPr/>
          <p:nvPr/>
        </p:nvSpPr>
        <p:spPr>
          <a:xfrm>
            <a:off x="4653153" y="722376"/>
            <a:ext cx="1386459" cy="621792"/>
          </a:xfrm>
          <a:prstGeom prst="roundRect">
            <a:avLst>
              <a:gd name="adj" fmla="val 7353"/>
            </a:avLst>
          </a:prstGeom>
          <a:solidFill>
            <a:srgbClr val="C2185B"/>
          </a:solidFill>
          <a:ln w="12700">
            <a:solidFill>
              <a:srgbClr val="C2185B"/>
            </a:solidFill>
            <a:prstDash val="solid"/>
          </a:ln>
        </p:spPr>
        <p:txBody>
          <a:bodyPr/>
          <a:lstStyle/>
          <a:p>
            <a:endParaRPr lang="en-IN"/>
          </a:p>
        </p:txBody>
      </p:sp>
      <p:pic>
        <p:nvPicPr>
          <p:cNvPr id="129" name="Image 27" descr="preencoded.png"/>
          <p:cNvPicPr>
            <a:picLocks noChangeAspect="1"/>
          </p:cNvPicPr>
          <p:nvPr/>
        </p:nvPicPr>
        <p:blipFill>
          <a:blip r:embed="rId12"/>
          <a:stretch>
            <a:fillRect/>
          </a:stretch>
        </p:blipFill>
        <p:spPr>
          <a:xfrm>
            <a:off x="5277802" y="754380"/>
            <a:ext cx="137160" cy="137160"/>
          </a:xfrm>
          <a:prstGeom prst="rect">
            <a:avLst/>
          </a:prstGeom>
        </p:spPr>
      </p:pic>
      <p:sp>
        <p:nvSpPr>
          <p:cNvPr id="130" name="Text 100"/>
          <p:cNvSpPr txBox="1"/>
          <p:nvPr/>
        </p:nvSpPr>
        <p:spPr>
          <a:xfrm>
            <a:off x="4689729" y="900684"/>
            <a:ext cx="1313307" cy="100584"/>
          </a:xfrm>
          <a:prstGeom prst="rect">
            <a:avLst/>
          </a:prstGeom>
          <a:noFill/>
          <a:ln/>
        </p:spPr>
        <p:txBody>
          <a:bodyPr wrap="square" lIns="0" tIns="0" rIns="0" bIns="0" rtlCol="0" anchor="ctr"/>
          <a:lstStyle/>
          <a:p>
            <a:pPr marL="0" indent="0" algn="ctr">
              <a:buNone/>
            </a:pPr>
            <a:r>
              <a:rPr lang="en-US" sz="560" b="0" kern="0" spc="50" dirty="0">
                <a:solidFill>
                  <a:srgbClr val="FFFFFF"/>
                </a:solidFill>
                <a:latin typeface="Trenda IG Text Semibold" pitchFamily="34" charset="0"/>
                <a:ea typeface="Trenda IG Text Semibold" pitchFamily="34" charset="-122"/>
                <a:cs typeface="Trenda IG Text Semibold" pitchFamily="34" charset="-120"/>
              </a:rPr>
              <a:t>LAYER 4</a:t>
            </a:r>
            <a:endParaRPr lang="en-US" sz="560" dirty="0"/>
          </a:p>
        </p:txBody>
      </p:sp>
      <p:sp>
        <p:nvSpPr>
          <p:cNvPr id="131" name="Text 101"/>
          <p:cNvSpPr txBox="1"/>
          <p:nvPr/>
        </p:nvSpPr>
        <p:spPr>
          <a:xfrm>
            <a:off x="4680585" y="1001268"/>
            <a:ext cx="1331595" cy="210312"/>
          </a:xfrm>
          <a:prstGeom prst="rect">
            <a:avLst/>
          </a:prstGeom>
          <a:noFill/>
          <a:ln/>
        </p:spPr>
        <p:txBody>
          <a:bodyPr wrap="square" lIns="0" tIns="0" rIns="0" bIns="0" rtlCol="0" anchor="t"/>
          <a:lstStyle/>
          <a:p>
            <a:pPr marL="0" indent="0" algn="ctr">
              <a:buNone/>
            </a:pPr>
            <a:r>
              <a:rPr lang="en-US" sz="800" b="0" dirty="0">
                <a:solidFill>
                  <a:srgbClr val="FFFFFF"/>
                </a:solidFill>
                <a:latin typeface="Trenda IG Text Semibold" pitchFamily="34" charset="0"/>
                <a:ea typeface="Trenda IG Text Semibold" pitchFamily="34" charset="-122"/>
                <a:cs typeface="Trenda IG Text Semibold" pitchFamily="34" charset="-120"/>
              </a:rPr>
              <a:t>Domain Model</a:t>
            </a:r>
            <a:endParaRPr lang="en-US" sz="800" dirty="0"/>
          </a:p>
        </p:txBody>
      </p:sp>
      <p:sp>
        <p:nvSpPr>
          <p:cNvPr id="132" name="Text 102"/>
          <p:cNvSpPr txBox="1"/>
          <p:nvPr/>
        </p:nvSpPr>
        <p:spPr>
          <a:xfrm>
            <a:off x="4680585" y="1211580"/>
            <a:ext cx="1331595" cy="118872"/>
          </a:xfrm>
          <a:prstGeom prst="rect">
            <a:avLst/>
          </a:prstGeom>
          <a:noFill/>
          <a:ln/>
        </p:spPr>
        <p:txBody>
          <a:bodyPr wrap="square" lIns="0" tIns="0" rIns="0" bIns="0" rtlCol="0" anchor="ctr"/>
          <a:lstStyle/>
          <a:p>
            <a:pPr marL="0" indent="0" algn="ctr">
              <a:buNone/>
            </a:pPr>
            <a:r>
              <a:rPr lang="en-US" sz="520" i="1" dirty="0">
                <a:solidFill>
                  <a:srgbClr val="FFFFFF"/>
                </a:solidFill>
                <a:latin typeface="Trenda IG Text" pitchFamily="34" charset="0"/>
                <a:ea typeface="Trenda IG Text" pitchFamily="34" charset="-122"/>
                <a:cs typeface="Trenda IG Text" pitchFamily="34" charset="-120"/>
              </a:rPr>
              <a:t>NetworkServicesContext</a:t>
            </a:r>
            <a:endParaRPr lang="en-US" sz="520" dirty="0"/>
          </a:p>
        </p:txBody>
      </p:sp>
      <p:sp>
        <p:nvSpPr>
          <p:cNvPr id="133" name="Shape 103"/>
          <p:cNvSpPr/>
          <p:nvPr/>
        </p:nvSpPr>
        <p:spPr>
          <a:xfrm>
            <a:off x="6046927" y="992124"/>
            <a:ext cx="95098" cy="91440"/>
          </a:xfrm>
          <a:prstGeom prst="rightArrow">
            <a:avLst/>
          </a:prstGeom>
          <a:solidFill>
            <a:srgbClr val="9AA7B5"/>
          </a:solidFill>
          <a:ln w="12700">
            <a:solidFill>
              <a:srgbClr val="9AA7B5"/>
            </a:solidFill>
            <a:prstDash val="solid"/>
          </a:ln>
        </p:spPr>
        <p:txBody>
          <a:bodyPr/>
          <a:lstStyle/>
          <a:p>
            <a:endParaRPr lang="en-IN"/>
          </a:p>
        </p:txBody>
      </p:sp>
      <p:sp>
        <p:nvSpPr>
          <p:cNvPr id="134" name="Shape 104"/>
          <p:cNvSpPr/>
          <p:nvPr/>
        </p:nvSpPr>
        <p:spPr>
          <a:xfrm>
            <a:off x="4698873" y="1389888"/>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sp>
        <p:nvSpPr>
          <p:cNvPr id="135" name="Text 105"/>
          <p:cNvSpPr txBox="1"/>
          <p:nvPr/>
        </p:nvSpPr>
        <p:spPr>
          <a:xfrm>
            <a:off x="4744593" y="1415491"/>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C2185B"/>
                </a:solidFill>
                <a:latin typeface="Trenda IG Text Semibold" pitchFamily="34" charset="0"/>
                <a:ea typeface="Trenda IG Text Semibold" pitchFamily="34" charset="-122"/>
                <a:cs typeface="Trenda IG Text Semibold" pitchFamily="34" charset="-120"/>
              </a:rPr>
              <a:t>Root object</a:t>
            </a:r>
            <a:endParaRPr lang="en-US" sz="620" dirty="0"/>
          </a:p>
        </p:txBody>
      </p:sp>
      <p:sp>
        <p:nvSpPr>
          <p:cNvPr id="136" name="Text 106"/>
          <p:cNvSpPr txBox="1"/>
          <p:nvPr/>
        </p:nvSpPr>
        <p:spPr>
          <a:xfrm>
            <a:off x="4744593" y="1549908"/>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applicationName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applicationVersion</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createdAt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snapshotId (UUID per sync)</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provenance</a:t>
            </a:r>
            <a:endParaRPr lang="en-US" sz="550" dirty="0"/>
          </a:p>
        </p:txBody>
      </p:sp>
      <p:sp>
        <p:nvSpPr>
          <p:cNvPr id="137" name="Shape 107"/>
          <p:cNvSpPr/>
          <p:nvPr/>
        </p:nvSpPr>
        <p:spPr>
          <a:xfrm>
            <a:off x="4698873" y="2059686"/>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sp>
        <p:nvSpPr>
          <p:cNvPr id="138" name="Text 108"/>
          <p:cNvSpPr txBox="1"/>
          <p:nvPr/>
        </p:nvSpPr>
        <p:spPr>
          <a:xfrm>
            <a:off x="4744593" y="2085289"/>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C2185B"/>
                </a:solidFill>
                <a:latin typeface="Trenda IG Text Semibold" pitchFamily="34" charset="0"/>
                <a:ea typeface="Trenda IG Text Semibold" pitchFamily="34" charset="-122"/>
                <a:cs typeface="Trenda IG Text Semibold" pitchFamily="34" charset="-120"/>
              </a:rPr>
              <a:t>requirements[]</a:t>
            </a:r>
            <a:endParaRPr lang="en-US" sz="620" dirty="0"/>
          </a:p>
        </p:txBody>
      </p:sp>
      <p:sp>
        <p:nvSpPr>
          <p:cNvPr id="139" name="Text 109"/>
          <p:cNvSpPr txBox="1"/>
          <p:nvPr/>
        </p:nvSpPr>
        <p:spPr>
          <a:xfrm>
            <a:off x="4744593" y="2219706"/>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requirementId (Jira key)</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title, summary</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acceptanceCriteria[]</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businessCapability, status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priority, riskTier, links</a:t>
            </a:r>
            <a:endParaRPr lang="en-US" sz="550" dirty="0"/>
          </a:p>
        </p:txBody>
      </p:sp>
      <p:sp>
        <p:nvSpPr>
          <p:cNvPr id="140" name="Shape 110"/>
          <p:cNvSpPr/>
          <p:nvPr/>
        </p:nvSpPr>
        <p:spPr>
          <a:xfrm>
            <a:off x="4698873" y="2729484"/>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sp>
        <p:nvSpPr>
          <p:cNvPr id="141" name="Text 111"/>
          <p:cNvSpPr txBox="1"/>
          <p:nvPr/>
        </p:nvSpPr>
        <p:spPr>
          <a:xfrm>
            <a:off x="4744593" y="2755087"/>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C2185B"/>
                </a:solidFill>
                <a:latin typeface="Trenda IG Text Semibold" pitchFamily="34" charset="0"/>
                <a:ea typeface="Trenda IG Text Semibold" pitchFamily="34" charset="-122"/>
                <a:cs typeface="Trenda IG Text Semibold" pitchFamily="34" charset="-120"/>
              </a:rPr>
              <a:t>documents[]</a:t>
            </a:r>
            <a:endParaRPr lang="en-US" sz="620" dirty="0"/>
          </a:p>
        </p:txBody>
      </p:sp>
      <p:sp>
        <p:nvSpPr>
          <p:cNvPr id="142" name="Text 112"/>
          <p:cNvSpPr txBox="1"/>
          <p:nvPr/>
        </p:nvSpPr>
        <p:spPr>
          <a:xfrm>
            <a:off x="4744593" y="2889504"/>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documentId (page id)</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sections[]: heading, level</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tables[], links[]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businessRules[]: ruleText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objectsReferenced[], hash</a:t>
            </a:r>
            <a:endParaRPr lang="en-US" sz="550" dirty="0"/>
          </a:p>
        </p:txBody>
      </p:sp>
      <p:sp>
        <p:nvSpPr>
          <p:cNvPr id="143" name="Shape 113"/>
          <p:cNvSpPr/>
          <p:nvPr/>
        </p:nvSpPr>
        <p:spPr>
          <a:xfrm>
            <a:off x="4698873" y="3399282"/>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sp>
        <p:nvSpPr>
          <p:cNvPr id="144" name="Text 114"/>
          <p:cNvSpPr txBox="1"/>
          <p:nvPr/>
        </p:nvSpPr>
        <p:spPr>
          <a:xfrm>
            <a:off x="4744593" y="3424885"/>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C2185B"/>
                </a:solidFill>
                <a:latin typeface="Trenda IG Text Semibold" pitchFamily="34" charset="0"/>
                <a:ea typeface="Trenda IG Text Semibold" pitchFamily="34" charset="-122"/>
                <a:cs typeface="Trenda IG Text Semibold" pitchFamily="34" charset="-120"/>
              </a:rPr>
              <a:t>salesforceObjects[]</a:t>
            </a:r>
            <a:endParaRPr lang="en-US" sz="620" dirty="0"/>
          </a:p>
        </p:txBody>
      </p:sp>
      <p:sp>
        <p:nvSpPr>
          <p:cNvPr id="145" name="Text 115"/>
          <p:cNvSpPr txBox="1"/>
          <p:nvPr/>
        </p:nvSpPr>
        <p:spPr>
          <a:xfrm>
            <a:off x="4744593" y="3559302"/>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objectApiName, label</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recordTypes[]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fields[]: type, formula</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relationships[]: lookup, M-D</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sharingModel, permSets[]</a:t>
            </a:r>
            <a:endParaRPr lang="en-US" sz="550" dirty="0"/>
          </a:p>
        </p:txBody>
      </p:sp>
      <p:sp>
        <p:nvSpPr>
          <p:cNvPr id="146" name="Shape 116"/>
          <p:cNvSpPr/>
          <p:nvPr/>
        </p:nvSpPr>
        <p:spPr>
          <a:xfrm>
            <a:off x="4698873" y="4069080"/>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sp>
        <p:nvSpPr>
          <p:cNvPr id="147" name="Text 117"/>
          <p:cNvSpPr txBox="1"/>
          <p:nvPr/>
        </p:nvSpPr>
        <p:spPr>
          <a:xfrm>
            <a:off x="4744593" y="4094683"/>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C2185B"/>
                </a:solidFill>
                <a:latin typeface="Trenda IG Text Semibold" pitchFamily="34" charset="0"/>
                <a:ea typeface="Trenda IG Text Semibold" pitchFamily="34" charset="-122"/>
                <a:cs typeface="Trenda IG Text Semibold" pitchFamily="34" charset="-120"/>
              </a:rPr>
              <a:t>automations[]</a:t>
            </a:r>
            <a:endParaRPr lang="en-US" sz="620" dirty="0"/>
          </a:p>
        </p:txBody>
      </p:sp>
      <p:sp>
        <p:nvSpPr>
          <p:cNvPr id="148" name="Text 118"/>
          <p:cNvSpPr txBox="1"/>
          <p:nvPr/>
        </p:nvSpPr>
        <p:spPr>
          <a:xfrm>
            <a:off x="4744593" y="4229100"/>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componentId, apiName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FLOW | APEX | TRIGGER | VR</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objectsTouched[]</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dmlOperations, soqlQueries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testCoverage · riskTier</a:t>
            </a:r>
            <a:endParaRPr lang="en-US" sz="550" dirty="0"/>
          </a:p>
        </p:txBody>
      </p:sp>
      <p:sp>
        <p:nvSpPr>
          <p:cNvPr id="149" name="Shape 119"/>
          <p:cNvSpPr/>
          <p:nvPr/>
        </p:nvSpPr>
        <p:spPr>
          <a:xfrm>
            <a:off x="4698873" y="4738878"/>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sp>
        <p:nvSpPr>
          <p:cNvPr id="150" name="Text 120"/>
          <p:cNvSpPr txBox="1"/>
          <p:nvPr/>
        </p:nvSpPr>
        <p:spPr>
          <a:xfrm>
            <a:off x="4744593" y="4764481"/>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C2185B"/>
                </a:solidFill>
                <a:latin typeface="Trenda IG Text Semibold" pitchFamily="34" charset="0"/>
                <a:ea typeface="Trenda IG Text Semibold" pitchFamily="34" charset="-122"/>
                <a:cs typeface="Trenda IG Text Semibold" pitchFamily="34" charset="-120"/>
              </a:rPr>
              <a:t>Tests &amp; releases</a:t>
            </a:r>
            <a:endParaRPr lang="en-US" sz="620" dirty="0"/>
          </a:p>
        </p:txBody>
      </p:sp>
      <p:sp>
        <p:nvSpPr>
          <p:cNvPr id="151" name="Text 121"/>
          <p:cNvSpPr txBox="1"/>
          <p:nvPr/>
        </p:nvSpPr>
        <p:spPr>
          <a:xfrm>
            <a:off x="4744593" y="4898898"/>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testAssets[]: robotic + regr.</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assertions[], evidenceUri</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releases[]: env, components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integrations[]: APDH events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SF → Queueable → Pub/Sub</a:t>
            </a:r>
            <a:endParaRPr lang="en-US" sz="550" dirty="0"/>
          </a:p>
        </p:txBody>
      </p:sp>
      <p:sp>
        <p:nvSpPr>
          <p:cNvPr id="152" name="Shape 122"/>
          <p:cNvSpPr/>
          <p:nvPr/>
        </p:nvSpPr>
        <p:spPr>
          <a:xfrm>
            <a:off x="4698873" y="5404104"/>
            <a:ext cx="1295019" cy="384048"/>
          </a:xfrm>
          <a:prstGeom prst="roundRect">
            <a:avLst>
              <a:gd name="adj" fmla="val 9524"/>
            </a:avLst>
          </a:prstGeom>
          <a:solidFill>
            <a:srgbClr val="C2185B"/>
          </a:solidFill>
          <a:ln w="12700">
            <a:solidFill>
              <a:srgbClr val="C2185B"/>
            </a:solidFill>
            <a:prstDash val="solid"/>
          </a:ln>
        </p:spPr>
        <p:txBody>
          <a:bodyPr/>
          <a:lstStyle/>
          <a:p>
            <a:endParaRPr lang="en-IN"/>
          </a:p>
        </p:txBody>
      </p:sp>
      <p:sp>
        <p:nvSpPr>
          <p:cNvPr id="153" name="Text 123"/>
          <p:cNvSpPr txBox="1"/>
          <p:nvPr/>
        </p:nvSpPr>
        <p:spPr>
          <a:xfrm>
            <a:off x="4744593" y="5436108"/>
            <a:ext cx="1203579" cy="100584"/>
          </a:xfrm>
          <a:prstGeom prst="rect">
            <a:avLst/>
          </a:prstGeom>
          <a:noFill/>
          <a:ln/>
        </p:spPr>
        <p:txBody>
          <a:bodyPr wrap="square" lIns="0" tIns="0" rIns="0" bIns="0" rtlCol="0" anchor="ctr"/>
          <a:lstStyle/>
          <a:p>
            <a:pPr marL="0" indent="0">
              <a:buNone/>
            </a:pPr>
            <a:r>
              <a:rPr lang="en-US" sz="480" b="0" kern="0" spc="40"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80" dirty="0"/>
          </a:p>
        </p:txBody>
      </p:sp>
      <p:sp>
        <p:nvSpPr>
          <p:cNvPr id="154" name="Text 124"/>
          <p:cNvSpPr txBox="1"/>
          <p:nvPr/>
        </p:nvSpPr>
        <p:spPr>
          <a:xfrm>
            <a:off x="4744593" y="5545836"/>
            <a:ext cx="1203579" cy="214884"/>
          </a:xfrm>
          <a:prstGeom prst="rect">
            <a:avLst/>
          </a:prstGeom>
          <a:noFill/>
          <a:ln/>
        </p:spPr>
        <p:txBody>
          <a:bodyPr wrap="square" lIns="0" tIns="0" rIns="0" bIns="0" rtlCol="0" anchor="t"/>
          <a:lstStyle/>
          <a:p>
            <a:pPr marL="0" indent="0">
              <a:lnSpc>
                <a:spcPct val="92000"/>
              </a:lnSpc>
              <a:buNone/>
            </a:pPr>
            <a:r>
              <a:rPr lang="en-US" sz="520" dirty="0">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520" dirty="0"/>
          </a:p>
        </p:txBody>
      </p:sp>
      <p:sp>
        <p:nvSpPr>
          <p:cNvPr id="155" name="Shape 125"/>
          <p:cNvSpPr/>
          <p:nvPr/>
        </p:nvSpPr>
        <p:spPr>
          <a:xfrm>
            <a:off x="6149340" y="722376"/>
            <a:ext cx="1386459" cy="5111496"/>
          </a:xfrm>
          <a:prstGeom prst="roundRect">
            <a:avLst>
              <a:gd name="adj" fmla="val 3298"/>
            </a:avLst>
          </a:prstGeom>
          <a:solidFill>
            <a:srgbClr val="FDF1DE"/>
          </a:solidFill>
          <a:ln w="9525">
            <a:solidFill>
              <a:srgbClr val="DCE4EE"/>
            </a:solidFill>
            <a:prstDash val="solid"/>
          </a:ln>
        </p:spPr>
        <p:txBody>
          <a:bodyPr/>
          <a:lstStyle/>
          <a:p>
            <a:endParaRPr lang="en-IN"/>
          </a:p>
        </p:txBody>
      </p:sp>
      <p:sp>
        <p:nvSpPr>
          <p:cNvPr id="156" name="Shape 126"/>
          <p:cNvSpPr/>
          <p:nvPr/>
        </p:nvSpPr>
        <p:spPr>
          <a:xfrm>
            <a:off x="6149340" y="722376"/>
            <a:ext cx="1386459" cy="621792"/>
          </a:xfrm>
          <a:prstGeom prst="roundRect">
            <a:avLst>
              <a:gd name="adj" fmla="val 7353"/>
            </a:avLst>
          </a:prstGeom>
          <a:solidFill>
            <a:srgbClr val="C77400"/>
          </a:solidFill>
          <a:ln w="12700">
            <a:solidFill>
              <a:srgbClr val="C77400"/>
            </a:solidFill>
            <a:prstDash val="solid"/>
          </a:ln>
        </p:spPr>
        <p:txBody>
          <a:bodyPr/>
          <a:lstStyle/>
          <a:p>
            <a:endParaRPr lang="en-IN"/>
          </a:p>
        </p:txBody>
      </p:sp>
      <p:pic>
        <p:nvPicPr>
          <p:cNvPr id="157" name="Image 28" descr="preencoded.png"/>
          <p:cNvPicPr>
            <a:picLocks noChangeAspect="1"/>
          </p:cNvPicPr>
          <p:nvPr/>
        </p:nvPicPr>
        <p:blipFill>
          <a:blip r:embed="rId13"/>
          <a:stretch>
            <a:fillRect/>
          </a:stretch>
        </p:blipFill>
        <p:spPr>
          <a:xfrm>
            <a:off x="6773989" y="754380"/>
            <a:ext cx="137160" cy="137160"/>
          </a:xfrm>
          <a:prstGeom prst="rect">
            <a:avLst/>
          </a:prstGeom>
        </p:spPr>
      </p:pic>
      <p:sp>
        <p:nvSpPr>
          <p:cNvPr id="158" name="Text 127"/>
          <p:cNvSpPr txBox="1"/>
          <p:nvPr/>
        </p:nvSpPr>
        <p:spPr>
          <a:xfrm>
            <a:off x="6185916" y="900684"/>
            <a:ext cx="1313307" cy="100584"/>
          </a:xfrm>
          <a:prstGeom prst="rect">
            <a:avLst/>
          </a:prstGeom>
          <a:noFill/>
          <a:ln/>
        </p:spPr>
        <p:txBody>
          <a:bodyPr wrap="square" lIns="0" tIns="0" rIns="0" bIns="0" rtlCol="0" anchor="ctr"/>
          <a:lstStyle/>
          <a:p>
            <a:pPr marL="0" indent="0" algn="ctr">
              <a:buNone/>
            </a:pPr>
            <a:r>
              <a:rPr lang="en-US" sz="560" b="0" kern="0" spc="50" dirty="0">
                <a:solidFill>
                  <a:srgbClr val="FFFFFF"/>
                </a:solidFill>
                <a:latin typeface="Trenda IG Text Semibold" pitchFamily="34" charset="0"/>
                <a:ea typeface="Trenda IG Text Semibold" pitchFamily="34" charset="-122"/>
                <a:cs typeface="Trenda IG Text Semibold" pitchFamily="34" charset="-120"/>
              </a:rPr>
              <a:t>LAYER 5</a:t>
            </a:r>
            <a:endParaRPr lang="en-US" sz="560" dirty="0"/>
          </a:p>
        </p:txBody>
      </p:sp>
      <p:sp>
        <p:nvSpPr>
          <p:cNvPr id="159" name="Text 128"/>
          <p:cNvSpPr txBox="1"/>
          <p:nvPr/>
        </p:nvSpPr>
        <p:spPr>
          <a:xfrm>
            <a:off x="6176772" y="1001268"/>
            <a:ext cx="1331595" cy="210312"/>
          </a:xfrm>
          <a:prstGeom prst="rect">
            <a:avLst/>
          </a:prstGeom>
          <a:noFill/>
          <a:ln/>
        </p:spPr>
        <p:txBody>
          <a:bodyPr wrap="square" lIns="0" tIns="0" rIns="0" bIns="0" rtlCol="0" anchor="t"/>
          <a:lstStyle/>
          <a:p>
            <a:pPr marL="0" indent="0" algn="ctr">
              <a:buNone/>
            </a:pPr>
            <a:r>
              <a:rPr lang="en-US" sz="800" b="0" dirty="0">
                <a:solidFill>
                  <a:srgbClr val="FFFFFF"/>
                </a:solidFill>
                <a:latin typeface="Trenda IG Text Semibold" pitchFamily="34" charset="0"/>
                <a:ea typeface="Trenda IG Text Semibold" pitchFamily="34" charset="-122"/>
                <a:cs typeface="Trenda IG Text Semibold" pitchFamily="34" charset="-120"/>
              </a:rPr>
              <a:t>Graph Storage</a:t>
            </a:r>
            <a:endParaRPr lang="en-US" sz="800" dirty="0"/>
          </a:p>
        </p:txBody>
      </p:sp>
      <p:sp>
        <p:nvSpPr>
          <p:cNvPr id="160" name="Text 129"/>
          <p:cNvSpPr txBox="1"/>
          <p:nvPr/>
        </p:nvSpPr>
        <p:spPr>
          <a:xfrm>
            <a:off x="6176772" y="1211580"/>
            <a:ext cx="1331595" cy="118872"/>
          </a:xfrm>
          <a:prstGeom prst="rect">
            <a:avLst/>
          </a:prstGeom>
          <a:noFill/>
          <a:ln/>
        </p:spPr>
        <p:txBody>
          <a:bodyPr wrap="square" lIns="0" tIns="0" rIns="0" bIns="0" rtlCol="0" anchor="ctr"/>
          <a:lstStyle/>
          <a:p>
            <a:pPr marL="0" indent="0" algn="ctr">
              <a:buNone/>
            </a:pPr>
            <a:r>
              <a:rPr lang="en-US" sz="520" i="1" dirty="0">
                <a:solidFill>
                  <a:srgbClr val="FFFFFF"/>
                </a:solidFill>
                <a:latin typeface="Trenda IG Text" pitchFamily="34" charset="0"/>
                <a:ea typeface="Trenda IG Text" pitchFamily="34" charset="-122"/>
                <a:cs typeface="Trenda IG Text" pitchFamily="34" charset="-120"/>
              </a:rPr>
              <a:t>Neutral JSON contract</a:t>
            </a:r>
            <a:endParaRPr lang="en-US" sz="520" dirty="0"/>
          </a:p>
        </p:txBody>
      </p:sp>
      <p:sp>
        <p:nvSpPr>
          <p:cNvPr id="161" name="Shape 130"/>
          <p:cNvSpPr/>
          <p:nvPr/>
        </p:nvSpPr>
        <p:spPr>
          <a:xfrm>
            <a:off x="7543114" y="992124"/>
            <a:ext cx="95098" cy="91440"/>
          </a:xfrm>
          <a:prstGeom prst="rightArrow">
            <a:avLst/>
          </a:prstGeom>
          <a:solidFill>
            <a:srgbClr val="9AA7B5"/>
          </a:solidFill>
          <a:ln w="12700">
            <a:solidFill>
              <a:srgbClr val="9AA7B5"/>
            </a:solidFill>
            <a:prstDash val="solid"/>
          </a:ln>
        </p:spPr>
        <p:txBody>
          <a:bodyPr/>
          <a:lstStyle/>
          <a:p>
            <a:endParaRPr lang="en-IN"/>
          </a:p>
        </p:txBody>
      </p:sp>
      <p:sp>
        <p:nvSpPr>
          <p:cNvPr id="162" name="Shape 131"/>
          <p:cNvSpPr/>
          <p:nvPr/>
        </p:nvSpPr>
        <p:spPr>
          <a:xfrm>
            <a:off x="6195060" y="1389888"/>
            <a:ext cx="1295019" cy="2045056"/>
          </a:xfrm>
          <a:prstGeom prst="roundRect">
            <a:avLst>
              <a:gd name="adj" fmla="val 2824"/>
            </a:avLst>
          </a:prstGeom>
          <a:solidFill>
            <a:srgbClr val="FFFFFF"/>
          </a:solidFill>
          <a:ln w="9525">
            <a:solidFill>
              <a:srgbClr val="DCE4EE"/>
            </a:solidFill>
            <a:prstDash val="solid"/>
          </a:ln>
        </p:spPr>
        <p:txBody>
          <a:bodyPr/>
          <a:lstStyle/>
          <a:p>
            <a:endParaRPr lang="en-IN"/>
          </a:p>
        </p:txBody>
      </p:sp>
      <p:sp>
        <p:nvSpPr>
          <p:cNvPr id="163" name="Text 132"/>
          <p:cNvSpPr txBox="1"/>
          <p:nvPr/>
        </p:nvSpPr>
        <p:spPr>
          <a:xfrm>
            <a:off x="6240780" y="1415491"/>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C77400"/>
                </a:solidFill>
                <a:latin typeface="Trenda IG Text Semibold" pitchFamily="34" charset="0"/>
                <a:ea typeface="Trenda IG Text Semibold" pitchFamily="34" charset="-122"/>
                <a:cs typeface="Trenda IG Text Semibold" pitchFamily="34" charset="-120"/>
              </a:rPr>
              <a:t>context.json (excerpt)</a:t>
            </a:r>
            <a:endParaRPr lang="en-US" sz="620" dirty="0"/>
          </a:p>
        </p:txBody>
      </p:sp>
      <p:sp>
        <p:nvSpPr>
          <p:cNvPr id="164" name="Text 133"/>
          <p:cNvSpPr txBox="1"/>
          <p:nvPr/>
        </p:nvSpPr>
        <p:spPr>
          <a:xfrm>
            <a:off x="6240780" y="1549908"/>
            <a:ext cx="1203579" cy="1853032"/>
          </a:xfrm>
          <a:prstGeom prst="rect">
            <a:avLst/>
          </a:prstGeom>
          <a:noFill/>
          <a:ln/>
        </p:spPr>
        <p:txBody>
          <a:bodyPr wrap="square" lIns="0" tIns="0" rIns="0" bIns="0" rtlCol="0" anchor="t"/>
          <a:lstStyle/>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"snapshotId": "b7f1c2e4",</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"nodes": [{</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"id": "sobj:HFN__c",</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"type": "SOBJECT",</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"properties": {</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"fieldCount": 148,</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"testCoverage": 81,</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"riskTier": "HIGH" },</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"sourceReferences": [{</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"artifactPath":</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"objects/HFN__c.xml",</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"artifactHash":</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"sha256:9f2b...c41d"}]}],</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"relationships": [{</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"type":</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"FLOW_UPDATES_SOBJECT",</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"from": "flow:HFN_Gen",</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"to": "sobj:HFN__c",</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"origin": "FACTUAL",</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"confidence": 1.0 }]</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a:t>
            </a:r>
            <a:endParaRPr lang="en-US" sz="540" dirty="0"/>
          </a:p>
        </p:txBody>
      </p:sp>
      <p:sp>
        <p:nvSpPr>
          <p:cNvPr id="165" name="Shape 134"/>
          <p:cNvSpPr/>
          <p:nvPr/>
        </p:nvSpPr>
        <p:spPr>
          <a:xfrm>
            <a:off x="6195060" y="3476092"/>
            <a:ext cx="1295019" cy="925144"/>
          </a:xfrm>
          <a:prstGeom prst="roundRect">
            <a:avLst>
              <a:gd name="adj" fmla="val 3954"/>
            </a:avLst>
          </a:prstGeom>
          <a:solidFill>
            <a:srgbClr val="FFFFFF"/>
          </a:solidFill>
          <a:ln w="9525">
            <a:solidFill>
              <a:srgbClr val="DCE4EE"/>
            </a:solidFill>
            <a:prstDash val="solid"/>
          </a:ln>
        </p:spPr>
        <p:txBody>
          <a:bodyPr/>
          <a:lstStyle/>
          <a:p>
            <a:endParaRPr lang="en-IN"/>
          </a:p>
        </p:txBody>
      </p:sp>
      <p:sp>
        <p:nvSpPr>
          <p:cNvPr id="166" name="Text 135"/>
          <p:cNvSpPr txBox="1"/>
          <p:nvPr/>
        </p:nvSpPr>
        <p:spPr>
          <a:xfrm>
            <a:off x="6240780" y="3501695"/>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C77400"/>
                </a:solidFill>
                <a:latin typeface="Trenda IG Text Semibold" pitchFamily="34" charset="0"/>
                <a:ea typeface="Trenda IG Text Semibold" pitchFamily="34" charset="-122"/>
                <a:cs typeface="Trenda IG Text Semibold" pitchFamily="34" charset="-120"/>
              </a:rPr>
              <a:t>What the file holds</a:t>
            </a:r>
            <a:endParaRPr lang="en-US" sz="620" dirty="0"/>
          </a:p>
        </p:txBody>
      </p:sp>
      <p:sp>
        <p:nvSpPr>
          <p:cNvPr id="167" name="Text 136"/>
          <p:cNvSpPr txBox="1"/>
          <p:nvPr/>
        </p:nvSpPr>
        <p:spPr>
          <a:xfrm>
            <a:off x="6240780" y="3636112"/>
            <a:ext cx="1203579" cy="733120"/>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Every node with properties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Every typed relationship</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Provenance on each element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SHA-256 source references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One snapshot per sync run</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Vendor-neutral, portable</a:t>
            </a:r>
            <a:endParaRPr lang="en-US" sz="550" dirty="0"/>
          </a:p>
        </p:txBody>
      </p:sp>
      <p:sp>
        <p:nvSpPr>
          <p:cNvPr id="168" name="Shape 137"/>
          <p:cNvSpPr/>
          <p:nvPr/>
        </p:nvSpPr>
        <p:spPr>
          <a:xfrm>
            <a:off x="6195060" y="4442384"/>
            <a:ext cx="1295019" cy="925144"/>
          </a:xfrm>
          <a:prstGeom prst="roundRect">
            <a:avLst>
              <a:gd name="adj" fmla="val 3954"/>
            </a:avLst>
          </a:prstGeom>
          <a:solidFill>
            <a:srgbClr val="FFFFFF"/>
          </a:solidFill>
          <a:ln w="9525">
            <a:solidFill>
              <a:srgbClr val="DCE4EE"/>
            </a:solidFill>
            <a:prstDash val="solid"/>
          </a:ln>
        </p:spPr>
        <p:txBody>
          <a:bodyPr/>
          <a:lstStyle/>
          <a:p>
            <a:endParaRPr lang="en-IN"/>
          </a:p>
        </p:txBody>
      </p:sp>
      <p:sp>
        <p:nvSpPr>
          <p:cNvPr id="169" name="Text 138"/>
          <p:cNvSpPr txBox="1"/>
          <p:nvPr/>
        </p:nvSpPr>
        <p:spPr>
          <a:xfrm>
            <a:off x="6240780" y="4467987"/>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C77400"/>
                </a:solidFill>
                <a:latin typeface="Trenda IG Text Semibold" pitchFamily="34" charset="0"/>
                <a:ea typeface="Trenda IG Text Semibold" pitchFamily="34" charset="-122"/>
                <a:cs typeface="Trenda IG Text Semibold" pitchFamily="34" charset="-120"/>
              </a:rPr>
              <a:t>Storage rules</a:t>
            </a:r>
            <a:endParaRPr lang="en-US" sz="620" dirty="0"/>
          </a:p>
        </p:txBody>
      </p:sp>
      <p:sp>
        <p:nvSpPr>
          <p:cNvPr id="170" name="Text 139"/>
          <p:cNvSpPr txBox="1"/>
          <p:nvPr/>
        </p:nvSpPr>
        <p:spPr>
          <a:xfrm>
            <a:off x="6240780" y="4602404"/>
            <a:ext cx="1203579" cy="733120"/>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Rebuilt on each sync</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Never written back to source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Versioned per snapshotId</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SHA-256 change detection</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Metadata + sanitized data</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Encrypted at rest</a:t>
            </a:r>
            <a:endParaRPr lang="en-US" sz="550" dirty="0"/>
          </a:p>
        </p:txBody>
      </p:sp>
      <p:sp>
        <p:nvSpPr>
          <p:cNvPr id="171" name="Shape 140"/>
          <p:cNvSpPr/>
          <p:nvPr/>
        </p:nvSpPr>
        <p:spPr>
          <a:xfrm>
            <a:off x="6195060" y="5404104"/>
            <a:ext cx="1295019" cy="384048"/>
          </a:xfrm>
          <a:prstGeom prst="roundRect">
            <a:avLst>
              <a:gd name="adj" fmla="val 9524"/>
            </a:avLst>
          </a:prstGeom>
          <a:solidFill>
            <a:srgbClr val="C77400"/>
          </a:solidFill>
          <a:ln w="12700">
            <a:solidFill>
              <a:srgbClr val="C77400"/>
            </a:solidFill>
            <a:prstDash val="solid"/>
          </a:ln>
        </p:spPr>
        <p:txBody>
          <a:bodyPr/>
          <a:lstStyle/>
          <a:p>
            <a:endParaRPr lang="en-IN"/>
          </a:p>
        </p:txBody>
      </p:sp>
      <p:sp>
        <p:nvSpPr>
          <p:cNvPr id="172" name="Text 141"/>
          <p:cNvSpPr txBox="1"/>
          <p:nvPr/>
        </p:nvSpPr>
        <p:spPr>
          <a:xfrm>
            <a:off x="6240780" y="5436108"/>
            <a:ext cx="1203579" cy="100584"/>
          </a:xfrm>
          <a:prstGeom prst="rect">
            <a:avLst/>
          </a:prstGeom>
          <a:noFill/>
          <a:ln/>
        </p:spPr>
        <p:txBody>
          <a:bodyPr wrap="square" lIns="0" tIns="0" rIns="0" bIns="0" rtlCol="0" anchor="ctr"/>
          <a:lstStyle/>
          <a:p>
            <a:pPr marL="0" indent="0">
              <a:buNone/>
            </a:pPr>
            <a:r>
              <a:rPr lang="en-US" sz="480" b="0" kern="0" spc="40"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80" dirty="0"/>
          </a:p>
        </p:txBody>
      </p:sp>
      <p:sp>
        <p:nvSpPr>
          <p:cNvPr id="173" name="Text 142"/>
          <p:cNvSpPr txBox="1"/>
          <p:nvPr/>
        </p:nvSpPr>
        <p:spPr>
          <a:xfrm>
            <a:off x="6240780" y="5545836"/>
            <a:ext cx="1203579" cy="214884"/>
          </a:xfrm>
          <a:prstGeom prst="rect">
            <a:avLst/>
          </a:prstGeom>
          <a:noFill/>
          <a:ln/>
        </p:spPr>
        <p:txBody>
          <a:bodyPr wrap="square" lIns="0" tIns="0" rIns="0" bIns="0" rtlCol="0" anchor="t"/>
          <a:lstStyle/>
          <a:p>
            <a:pPr marL="0" indent="0">
              <a:lnSpc>
                <a:spcPct val="92000"/>
              </a:lnSpc>
              <a:buNone/>
            </a:pPr>
            <a:r>
              <a:rPr lang="en-US" sz="520" dirty="0">
                <a:solidFill>
                  <a:srgbClr val="FFFFFF"/>
                </a:solidFill>
                <a:latin typeface="Trenda IG Text" pitchFamily="34" charset="0"/>
                <a:ea typeface="Trenda IG Text" pitchFamily="34" charset="-122"/>
                <a:cs typeface="Trenda IG Text" pitchFamily="34" charset="-120"/>
              </a:rPr>
              <a:t>A portable snapshot any tool or engine can consume</a:t>
            </a:r>
            <a:endParaRPr lang="en-US" sz="520" dirty="0"/>
          </a:p>
        </p:txBody>
      </p:sp>
      <p:sp>
        <p:nvSpPr>
          <p:cNvPr id="174" name="Shape 143"/>
          <p:cNvSpPr/>
          <p:nvPr/>
        </p:nvSpPr>
        <p:spPr>
          <a:xfrm>
            <a:off x="7645527" y="722376"/>
            <a:ext cx="1386459" cy="5111496"/>
          </a:xfrm>
          <a:prstGeom prst="roundRect">
            <a:avLst>
              <a:gd name="adj" fmla="val 3298"/>
            </a:avLst>
          </a:prstGeom>
          <a:solidFill>
            <a:srgbClr val="FBEAEA"/>
          </a:solidFill>
          <a:ln w="9525">
            <a:solidFill>
              <a:srgbClr val="DCE4EE"/>
            </a:solidFill>
            <a:prstDash val="solid"/>
          </a:ln>
        </p:spPr>
        <p:txBody>
          <a:bodyPr/>
          <a:lstStyle/>
          <a:p>
            <a:endParaRPr lang="en-IN"/>
          </a:p>
        </p:txBody>
      </p:sp>
      <p:sp>
        <p:nvSpPr>
          <p:cNvPr id="175" name="Shape 144"/>
          <p:cNvSpPr/>
          <p:nvPr/>
        </p:nvSpPr>
        <p:spPr>
          <a:xfrm>
            <a:off x="7645527" y="722376"/>
            <a:ext cx="1386459" cy="621792"/>
          </a:xfrm>
          <a:prstGeom prst="roundRect">
            <a:avLst>
              <a:gd name="adj" fmla="val 7353"/>
            </a:avLst>
          </a:prstGeom>
          <a:solidFill>
            <a:srgbClr val="C62828"/>
          </a:solidFill>
          <a:ln w="12700">
            <a:solidFill>
              <a:srgbClr val="C62828"/>
            </a:solidFill>
            <a:prstDash val="solid"/>
          </a:ln>
        </p:spPr>
        <p:txBody>
          <a:bodyPr/>
          <a:lstStyle/>
          <a:p>
            <a:endParaRPr lang="en-IN"/>
          </a:p>
        </p:txBody>
      </p:sp>
      <p:pic>
        <p:nvPicPr>
          <p:cNvPr id="176" name="Image 29" descr="preencoded.png"/>
          <p:cNvPicPr>
            <a:picLocks noChangeAspect="1"/>
          </p:cNvPicPr>
          <p:nvPr/>
        </p:nvPicPr>
        <p:blipFill>
          <a:blip r:embed="rId14"/>
          <a:stretch>
            <a:fillRect/>
          </a:stretch>
        </p:blipFill>
        <p:spPr>
          <a:xfrm>
            <a:off x="8270177" y="754380"/>
            <a:ext cx="137160" cy="137160"/>
          </a:xfrm>
          <a:prstGeom prst="rect">
            <a:avLst/>
          </a:prstGeom>
        </p:spPr>
      </p:pic>
      <p:sp>
        <p:nvSpPr>
          <p:cNvPr id="177" name="Text 145"/>
          <p:cNvSpPr txBox="1"/>
          <p:nvPr/>
        </p:nvSpPr>
        <p:spPr>
          <a:xfrm>
            <a:off x="7682103" y="900684"/>
            <a:ext cx="1313307" cy="100584"/>
          </a:xfrm>
          <a:prstGeom prst="rect">
            <a:avLst/>
          </a:prstGeom>
          <a:noFill/>
          <a:ln/>
        </p:spPr>
        <p:txBody>
          <a:bodyPr wrap="square" lIns="0" tIns="0" rIns="0" bIns="0" rtlCol="0" anchor="ctr"/>
          <a:lstStyle/>
          <a:p>
            <a:pPr marL="0" indent="0" algn="ctr">
              <a:buNone/>
            </a:pPr>
            <a:r>
              <a:rPr lang="en-US" sz="560" b="0" kern="0" spc="50" dirty="0">
                <a:solidFill>
                  <a:srgbClr val="FFFFFF"/>
                </a:solidFill>
                <a:latin typeface="Trenda IG Text Semibold" pitchFamily="34" charset="0"/>
                <a:ea typeface="Trenda IG Text Semibold" pitchFamily="34" charset="-122"/>
                <a:cs typeface="Trenda IG Text Semibold" pitchFamily="34" charset="-120"/>
              </a:rPr>
              <a:t>LAYER 6</a:t>
            </a:r>
            <a:endParaRPr lang="en-US" sz="560" dirty="0"/>
          </a:p>
        </p:txBody>
      </p:sp>
      <p:sp>
        <p:nvSpPr>
          <p:cNvPr id="178" name="Text 146"/>
          <p:cNvSpPr txBox="1"/>
          <p:nvPr/>
        </p:nvSpPr>
        <p:spPr>
          <a:xfrm>
            <a:off x="7672959" y="1001268"/>
            <a:ext cx="1331595" cy="210312"/>
          </a:xfrm>
          <a:prstGeom prst="rect">
            <a:avLst/>
          </a:prstGeom>
          <a:noFill/>
          <a:ln/>
        </p:spPr>
        <p:txBody>
          <a:bodyPr wrap="square" lIns="0" tIns="0" rIns="0" bIns="0" rtlCol="0" anchor="t"/>
          <a:lstStyle/>
          <a:p>
            <a:pPr marL="0" indent="0" algn="ctr">
              <a:buNone/>
            </a:pPr>
            <a:r>
              <a:rPr lang="en-US" sz="800" b="0" dirty="0">
                <a:solidFill>
                  <a:srgbClr val="FFFFFF"/>
                </a:solidFill>
                <a:latin typeface="Trenda IG Text Semibold" pitchFamily="34" charset="0"/>
                <a:ea typeface="Trenda IG Text Semibold" pitchFamily="34" charset="-122"/>
                <a:cs typeface="Trenda IG Text Semibold" pitchFamily="34" charset="-120"/>
              </a:rPr>
              <a:t>Graph Exporter</a:t>
            </a:r>
            <a:endParaRPr lang="en-US" sz="800" dirty="0"/>
          </a:p>
        </p:txBody>
      </p:sp>
      <p:sp>
        <p:nvSpPr>
          <p:cNvPr id="179" name="Text 147"/>
          <p:cNvSpPr txBox="1"/>
          <p:nvPr/>
        </p:nvSpPr>
        <p:spPr>
          <a:xfrm>
            <a:off x="7672959" y="1211580"/>
            <a:ext cx="1331595" cy="118872"/>
          </a:xfrm>
          <a:prstGeom prst="rect">
            <a:avLst/>
          </a:prstGeom>
          <a:noFill/>
          <a:ln/>
        </p:spPr>
        <p:txBody>
          <a:bodyPr wrap="square" lIns="0" tIns="0" rIns="0" bIns="0" rtlCol="0" anchor="ctr"/>
          <a:lstStyle/>
          <a:p>
            <a:pPr marL="0" indent="0" algn="ctr">
              <a:buNone/>
            </a:pPr>
            <a:r>
              <a:rPr lang="en-US" sz="520" i="1" dirty="0">
                <a:solidFill>
                  <a:srgbClr val="FFFFFF"/>
                </a:solidFill>
                <a:latin typeface="Trenda IG Text" pitchFamily="34" charset="0"/>
                <a:ea typeface="Trenda IG Text" pitchFamily="34" charset="-122"/>
                <a:cs typeface="Trenda IG Text" pitchFamily="34" charset="-120"/>
              </a:rPr>
              <a:t>Context → graph export</a:t>
            </a:r>
            <a:endParaRPr lang="en-US" sz="520" dirty="0"/>
          </a:p>
        </p:txBody>
      </p:sp>
      <p:sp>
        <p:nvSpPr>
          <p:cNvPr id="180" name="Shape 148"/>
          <p:cNvSpPr/>
          <p:nvPr/>
        </p:nvSpPr>
        <p:spPr>
          <a:xfrm>
            <a:off x="9039301" y="992124"/>
            <a:ext cx="95098" cy="91440"/>
          </a:xfrm>
          <a:prstGeom prst="rightArrow">
            <a:avLst/>
          </a:prstGeom>
          <a:solidFill>
            <a:srgbClr val="9AA7B5"/>
          </a:solidFill>
          <a:ln w="12700">
            <a:solidFill>
              <a:srgbClr val="9AA7B5"/>
            </a:solidFill>
            <a:prstDash val="solid"/>
          </a:ln>
        </p:spPr>
        <p:txBody>
          <a:bodyPr/>
          <a:lstStyle/>
          <a:p>
            <a:endParaRPr lang="en-IN"/>
          </a:p>
        </p:txBody>
      </p:sp>
      <p:sp>
        <p:nvSpPr>
          <p:cNvPr id="181" name="Shape 149"/>
          <p:cNvSpPr/>
          <p:nvPr/>
        </p:nvSpPr>
        <p:spPr>
          <a:xfrm>
            <a:off x="7691247" y="1389888"/>
            <a:ext cx="1295019" cy="1756921"/>
          </a:xfrm>
          <a:prstGeom prst="roundRect">
            <a:avLst>
              <a:gd name="adj" fmla="val 2824"/>
            </a:avLst>
          </a:prstGeom>
          <a:solidFill>
            <a:srgbClr val="FFFFFF"/>
          </a:solidFill>
          <a:ln w="9525">
            <a:solidFill>
              <a:srgbClr val="DCE4EE"/>
            </a:solidFill>
            <a:prstDash val="solid"/>
          </a:ln>
        </p:spPr>
        <p:txBody>
          <a:bodyPr/>
          <a:lstStyle/>
          <a:p>
            <a:endParaRPr lang="en-IN"/>
          </a:p>
        </p:txBody>
      </p:sp>
      <p:sp>
        <p:nvSpPr>
          <p:cNvPr id="182" name="Text 150"/>
          <p:cNvSpPr txBox="1"/>
          <p:nvPr/>
        </p:nvSpPr>
        <p:spPr>
          <a:xfrm>
            <a:off x="7736967" y="1415491"/>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C62828"/>
                </a:solidFill>
                <a:latin typeface="Trenda IG Text Semibold" pitchFamily="34" charset="0"/>
                <a:ea typeface="Trenda IG Text Semibold" pitchFamily="34" charset="-122"/>
                <a:cs typeface="Trenda IG Text Semibold" pitchFamily="34" charset="-120"/>
              </a:rPr>
              <a:t>Node types</a:t>
            </a:r>
            <a:endParaRPr lang="en-US" sz="620" dirty="0"/>
          </a:p>
        </p:txBody>
      </p:sp>
      <p:sp>
        <p:nvSpPr>
          <p:cNvPr id="183" name="Text 151"/>
          <p:cNvSpPr txBox="1"/>
          <p:nvPr/>
        </p:nvSpPr>
        <p:spPr>
          <a:xfrm>
            <a:off x="7736967" y="1549908"/>
            <a:ext cx="1203579" cy="1564897"/>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APPLICATION</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BUSINESS_CAPABILITY</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REQUIREMENT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DESIGN_DOCUMENT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DOCUMENT_SECTION</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BUSINESS_RULE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SOBJECT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FIELD</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FLOW</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APEX_CLASS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APEX_TRIGGER</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VALIDATION_RULE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LWC_COMPONENT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TEST_CASE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REPOSITORY</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COMPONENT_FILE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RELEASE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ENVIRONMENT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INTEGRATION_EVENT</a:t>
            </a:r>
            <a:endParaRPr lang="en-US" sz="550" dirty="0"/>
          </a:p>
        </p:txBody>
      </p:sp>
      <p:sp>
        <p:nvSpPr>
          <p:cNvPr id="184" name="Shape 152"/>
          <p:cNvSpPr/>
          <p:nvPr/>
        </p:nvSpPr>
        <p:spPr>
          <a:xfrm>
            <a:off x="7691247" y="3187957"/>
            <a:ext cx="1295019" cy="1515972"/>
          </a:xfrm>
          <a:prstGeom prst="roundRect">
            <a:avLst>
              <a:gd name="adj" fmla="val 2824"/>
            </a:avLst>
          </a:prstGeom>
          <a:solidFill>
            <a:srgbClr val="FFFFFF"/>
          </a:solidFill>
          <a:ln w="9525">
            <a:solidFill>
              <a:srgbClr val="DCE4EE"/>
            </a:solidFill>
            <a:prstDash val="solid"/>
          </a:ln>
        </p:spPr>
        <p:txBody>
          <a:bodyPr/>
          <a:lstStyle/>
          <a:p>
            <a:endParaRPr lang="en-IN"/>
          </a:p>
        </p:txBody>
      </p:sp>
      <p:sp>
        <p:nvSpPr>
          <p:cNvPr id="185" name="Text 153"/>
          <p:cNvSpPr txBox="1"/>
          <p:nvPr/>
        </p:nvSpPr>
        <p:spPr>
          <a:xfrm>
            <a:off x="7736967" y="3213560"/>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C62828"/>
                </a:solidFill>
                <a:latin typeface="Trenda IG Text Semibold" pitchFamily="34" charset="0"/>
                <a:ea typeface="Trenda IG Text Semibold" pitchFamily="34" charset="-122"/>
                <a:cs typeface="Trenda IG Text Semibold" pitchFamily="34" charset="-120"/>
              </a:rPr>
              <a:t>Relationship types</a:t>
            </a:r>
            <a:endParaRPr lang="en-US" sz="620" dirty="0"/>
          </a:p>
        </p:txBody>
      </p:sp>
      <p:sp>
        <p:nvSpPr>
          <p:cNvPr id="186" name="Text 154"/>
          <p:cNvSpPr txBox="1"/>
          <p:nvPr/>
        </p:nvSpPr>
        <p:spPr>
          <a:xfrm>
            <a:off x="7736967" y="3347977"/>
            <a:ext cx="1203579" cy="1323948"/>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REQ_TARGETS_CAPABILITY</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REQ_SPECIFIED_BY_DOC</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DOCUMENT_HAS_SECTION</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SECTION_DEFINES_RULE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RULE_CONSTRAINS_SOBJECT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SOBJECT_HAS_FIELD</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SOBJECT_RELATES_TO_SOBJ</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FLOW_UPDATES_SOBJECT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APEX_REFERENCES_SOBJECT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TRIGGER_FIRES_ON_SOBJECT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COMP_DEPENDS_ON_COMP</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TEST_COVERS_COMPONENT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REQ_IMPLEMENTED_BY</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RELEASE_DEPLOYS_COMP</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COMP_PUBLISHES_EVENT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REQ_REUSES_COMPONENT</a:t>
            </a:r>
            <a:endParaRPr lang="en-US" sz="550" dirty="0"/>
          </a:p>
        </p:txBody>
      </p:sp>
      <p:sp>
        <p:nvSpPr>
          <p:cNvPr id="187" name="Shape 155"/>
          <p:cNvSpPr/>
          <p:nvPr/>
        </p:nvSpPr>
        <p:spPr>
          <a:xfrm>
            <a:off x="7691247" y="4745076"/>
            <a:ext cx="1295019" cy="622452"/>
          </a:xfrm>
          <a:prstGeom prst="roundRect">
            <a:avLst>
              <a:gd name="adj" fmla="val 5876"/>
            </a:avLst>
          </a:prstGeom>
          <a:solidFill>
            <a:srgbClr val="FFFFFF"/>
          </a:solidFill>
          <a:ln w="9525">
            <a:solidFill>
              <a:srgbClr val="DCE4EE"/>
            </a:solidFill>
            <a:prstDash val="solid"/>
          </a:ln>
        </p:spPr>
        <p:txBody>
          <a:bodyPr/>
          <a:lstStyle/>
          <a:p>
            <a:endParaRPr lang="en-IN"/>
          </a:p>
        </p:txBody>
      </p:sp>
      <p:sp>
        <p:nvSpPr>
          <p:cNvPr id="188" name="Text 156"/>
          <p:cNvSpPr txBox="1"/>
          <p:nvPr/>
        </p:nvSpPr>
        <p:spPr>
          <a:xfrm>
            <a:off x="7736967" y="4770679"/>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C62828"/>
                </a:solidFill>
                <a:latin typeface="Trenda IG Text Semibold" pitchFamily="34" charset="0"/>
                <a:ea typeface="Trenda IG Text Semibold" pitchFamily="34" charset="-122"/>
                <a:cs typeface="Trenda IG Text Semibold" pitchFamily="34" charset="-120"/>
              </a:rPr>
              <a:t>Properties preserved</a:t>
            </a:r>
            <a:endParaRPr lang="en-US" sz="620" dirty="0"/>
          </a:p>
        </p:txBody>
      </p:sp>
      <p:sp>
        <p:nvSpPr>
          <p:cNvPr id="189" name="Text 157"/>
          <p:cNvSpPr txBox="1"/>
          <p:nvPr/>
        </p:nvSpPr>
        <p:spPr>
          <a:xfrm>
            <a:off x="7736967" y="4905096"/>
            <a:ext cx="1203579" cy="430428"/>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All domain metadata</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Provenance + derivation</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Source refs, exact location</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Confidence 1.0 / inferred</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Risk tier per component</a:t>
            </a:r>
            <a:endParaRPr lang="en-US" sz="550" dirty="0"/>
          </a:p>
        </p:txBody>
      </p:sp>
      <p:sp>
        <p:nvSpPr>
          <p:cNvPr id="190" name="Shape 158"/>
          <p:cNvSpPr/>
          <p:nvPr/>
        </p:nvSpPr>
        <p:spPr>
          <a:xfrm>
            <a:off x="7691247" y="5404104"/>
            <a:ext cx="1295019" cy="384048"/>
          </a:xfrm>
          <a:prstGeom prst="roundRect">
            <a:avLst>
              <a:gd name="adj" fmla="val 9524"/>
            </a:avLst>
          </a:prstGeom>
          <a:solidFill>
            <a:srgbClr val="C62828"/>
          </a:solidFill>
          <a:ln w="12700">
            <a:solidFill>
              <a:srgbClr val="C62828"/>
            </a:solidFill>
            <a:prstDash val="solid"/>
          </a:ln>
        </p:spPr>
        <p:txBody>
          <a:bodyPr/>
          <a:lstStyle/>
          <a:p>
            <a:endParaRPr lang="en-IN"/>
          </a:p>
        </p:txBody>
      </p:sp>
      <p:sp>
        <p:nvSpPr>
          <p:cNvPr id="191" name="Text 159"/>
          <p:cNvSpPr txBox="1"/>
          <p:nvPr/>
        </p:nvSpPr>
        <p:spPr>
          <a:xfrm>
            <a:off x="7736967" y="5436108"/>
            <a:ext cx="1203579" cy="100584"/>
          </a:xfrm>
          <a:prstGeom prst="rect">
            <a:avLst/>
          </a:prstGeom>
          <a:noFill/>
          <a:ln/>
        </p:spPr>
        <p:txBody>
          <a:bodyPr wrap="square" lIns="0" tIns="0" rIns="0" bIns="0" rtlCol="0" anchor="ctr"/>
          <a:lstStyle/>
          <a:p>
            <a:pPr marL="0" indent="0">
              <a:buNone/>
            </a:pPr>
            <a:r>
              <a:rPr lang="en-US" sz="480" b="0" kern="0" spc="40"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80" dirty="0"/>
          </a:p>
        </p:txBody>
      </p:sp>
      <p:sp>
        <p:nvSpPr>
          <p:cNvPr id="192" name="Text 160"/>
          <p:cNvSpPr txBox="1"/>
          <p:nvPr/>
        </p:nvSpPr>
        <p:spPr>
          <a:xfrm>
            <a:off x="7736967" y="5545836"/>
            <a:ext cx="1203579" cy="214884"/>
          </a:xfrm>
          <a:prstGeom prst="rect">
            <a:avLst/>
          </a:prstGeom>
          <a:noFill/>
          <a:ln/>
        </p:spPr>
        <p:txBody>
          <a:bodyPr wrap="square" lIns="0" tIns="0" rIns="0" bIns="0" rtlCol="0" anchor="t"/>
          <a:lstStyle/>
          <a:p>
            <a:pPr marL="0" indent="0">
              <a:lnSpc>
                <a:spcPct val="92000"/>
              </a:lnSpc>
              <a:buNone/>
            </a:pPr>
            <a:r>
              <a:rPr lang="en-US" sz="520" dirty="0">
                <a:solidFill>
                  <a:srgbClr val="FFFFFF"/>
                </a:solidFill>
                <a:latin typeface="Trenda IG Text" pitchFamily="34" charset="0"/>
                <a:ea typeface="Trenda IG Text" pitchFamily="34" charset="-122"/>
                <a:cs typeface="Trenda IG Text" pitchFamily="34" charset="-120"/>
              </a:rPr>
              <a:t>Dependencies made explicit as a typed, queryable graph</a:t>
            </a:r>
            <a:endParaRPr lang="en-US" sz="520" dirty="0"/>
          </a:p>
        </p:txBody>
      </p:sp>
      <p:sp>
        <p:nvSpPr>
          <p:cNvPr id="193" name="Shape 161"/>
          <p:cNvSpPr/>
          <p:nvPr/>
        </p:nvSpPr>
        <p:spPr>
          <a:xfrm>
            <a:off x="9141714" y="722376"/>
            <a:ext cx="1386459" cy="5111496"/>
          </a:xfrm>
          <a:prstGeom prst="roundRect">
            <a:avLst>
              <a:gd name="adj" fmla="val 3298"/>
            </a:avLst>
          </a:prstGeom>
          <a:solidFill>
            <a:srgbClr val="E9F3EA"/>
          </a:solidFill>
          <a:ln w="9525">
            <a:solidFill>
              <a:srgbClr val="DCE4EE"/>
            </a:solidFill>
            <a:prstDash val="solid"/>
          </a:ln>
        </p:spPr>
        <p:txBody>
          <a:bodyPr/>
          <a:lstStyle/>
          <a:p>
            <a:endParaRPr lang="en-IN"/>
          </a:p>
        </p:txBody>
      </p:sp>
      <p:sp>
        <p:nvSpPr>
          <p:cNvPr id="194" name="Shape 162"/>
          <p:cNvSpPr/>
          <p:nvPr/>
        </p:nvSpPr>
        <p:spPr>
          <a:xfrm>
            <a:off x="9141714" y="722376"/>
            <a:ext cx="1386459" cy="621792"/>
          </a:xfrm>
          <a:prstGeom prst="roundRect">
            <a:avLst>
              <a:gd name="adj" fmla="val 7353"/>
            </a:avLst>
          </a:prstGeom>
          <a:solidFill>
            <a:srgbClr val="2E7D32"/>
          </a:solidFill>
          <a:ln w="12700">
            <a:solidFill>
              <a:srgbClr val="2E7D32"/>
            </a:solidFill>
            <a:prstDash val="solid"/>
          </a:ln>
        </p:spPr>
        <p:txBody>
          <a:bodyPr/>
          <a:lstStyle/>
          <a:p>
            <a:endParaRPr lang="en-IN"/>
          </a:p>
        </p:txBody>
      </p:sp>
      <p:pic>
        <p:nvPicPr>
          <p:cNvPr id="195" name="Image 30" descr="preencoded.png"/>
          <p:cNvPicPr>
            <a:picLocks noChangeAspect="1"/>
          </p:cNvPicPr>
          <p:nvPr/>
        </p:nvPicPr>
        <p:blipFill>
          <a:blip r:embed="rId15"/>
          <a:stretch>
            <a:fillRect/>
          </a:stretch>
        </p:blipFill>
        <p:spPr>
          <a:xfrm>
            <a:off x="9766364" y="754380"/>
            <a:ext cx="137160" cy="137160"/>
          </a:xfrm>
          <a:prstGeom prst="rect">
            <a:avLst/>
          </a:prstGeom>
        </p:spPr>
      </p:pic>
      <p:sp>
        <p:nvSpPr>
          <p:cNvPr id="196" name="Text 163"/>
          <p:cNvSpPr txBox="1"/>
          <p:nvPr/>
        </p:nvSpPr>
        <p:spPr>
          <a:xfrm>
            <a:off x="9178290" y="900684"/>
            <a:ext cx="1313307" cy="100584"/>
          </a:xfrm>
          <a:prstGeom prst="rect">
            <a:avLst/>
          </a:prstGeom>
          <a:noFill/>
          <a:ln/>
        </p:spPr>
        <p:txBody>
          <a:bodyPr wrap="square" lIns="0" tIns="0" rIns="0" bIns="0" rtlCol="0" anchor="ctr"/>
          <a:lstStyle/>
          <a:p>
            <a:pPr marL="0" indent="0" algn="ctr">
              <a:buNone/>
            </a:pPr>
            <a:r>
              <a:rPr lang="en-US" sz="560" b="0" kern="0" spc="50" dirty="0">
                <a:solidFill>
                  <a:srgbClr val="FFFFFF"/>
                </a:solidFill>
                <a:latin typeface="Trenda IG Text Semibold" pitchFamily="34" charset="0"/>
                <a:ea typeface="Trenda IG Text Semibold" pitchFamily="34" charset="-122"/>
                <a:cs typeface="Trenda IG Text Semibold" pitchFamily="34" charset="-120"/>
              </a:rPr>
              <a:t>LAYER 7</a:t>
            </a:r>
            <a:endParaRPr lang="en-US" sz="560" dirty="0"/>
          </a:p>
        </p:txBody>
      </p:sp>
      <p:sp>
        <p:nvSpPr>
          <p:cNvPr id="197" name="Text 164"/>
          <p:cNvSpPr txBox="1"/>
          <p:nvPr/>
        </p:nvSpPr>
        <p:spPr>
          <a:xfrm>
            <a:off x="9169146" y="1001268"/>
            <a:ext cx="1331595" cy="210312"/>
          </a:xfrm>
          <a:prstGeom prst="rect">
            <a:avLst/>
          </a:prstGeom>
          <a:noFill/>
          <a:ln/>
        </p:spPr>
        <p:txBody>
          <a:bodyPr wrap="square" lIns="0" tIns="0" rIns="0" bIns="0" rtlCol="0" anchor="t"/>
          <a:lstStyle/>
          <a:p>
            <a:pPr marL="0" indent="0" algn="ctr">
              <a:buNone/>
            </a:pPr>
            <a:r>
              <a:rPr lang="en-US" sz="800" b="0" dirty="0">
                <a:solidFill>
                  <a:srgbClr val="FFFFFF"/>
                </a:solidFill>
                <a:latin typeface="Trenda IG Text Semibold" pitchFamily="34" charset="0"/>
                <a:ea typeface="Trenda IG Text Semibold" pitchFamily="34" charset="-122"/>
                <a:cs typeface="Trenda IG Text Semibold" pitchFamily="34" charset="-120"/>
              </a:rPr>
              <a:t>Semantica ContextGraph</a:t>
            </a:r>
            <a:endParaRPr lang="en-US" sz="800" dirty="0"/>
          </a:p>
        </p:txBody>
      </p:sp>
      <p:sp>
        <p:nvSpPr>
          <p:cNvPr id="198" name="Text 165"/>
          <p:cNvSpPr txBox="1"/>
          <p:nvPr/>
        </p:nvSpPr>
        <p:spPr>
          <a:xfrm>
            <a:off x="9169146" y="1211580"/>
            <a:ext cx="1331595" cy="118872"/>
          </a:xfrm>
          <a:prstGeom prst="rect">
            <a:avLst/>
          </a:prstGeom>
          <a:noFill/>
          <a:ln/>
        </p:spPr>
        <p:txBody>
          <a:bodyPr wrap="square" lIns="0" tIns="0" rIns="0" bIns="0" rtlCol="0" anchor="ctr"/>
          <a:lstStyle/>
          <a:p>
            <a:pPr marL="0" indent="0" algn="ctr">
              <a:buNone/>
            </a:pPr>
            <a:r>
              <a:rPr lang="en-US" sz="520" i="1" dirty="0">
                <a:solidFill>
                  <a:srgbClr val="FFFFFF"/>
                </a:solidFill>
                <a:latin typeface="Trenda IG Text" pitchFamily="34" charset="0"/>
                <a:ea typeface="Trenda IG Text" pitchFamily="34" charset="-122"/>
                <a:cs typeface="Trenda IG Text" pitchFamily="34" charset="-120"/>
              </a:rPr>
              <a:t>In-memory knowledge graph</a:t>
            </a:r>
            <a:endParaRPr lang="en-US" sz="520" dirty="0"/>
          </a:p>
        </p:txBody>
      </p:sp>
      <p:sp>
        <p:nvSpPr>
          <p:cNvPr id="199" name="Shape 166"/>
          <p:cNvSpPr/>
          <p:nvPr/>
        </p:nvSpPr>
        <p:spPr>
          <a:xfrm>
            <a:off x="10535488" y="992124"/>
            <a:ext cx="95098" cy="91440"/>
          </a:xfrm>
          <a:prstGeom prst="rightArrow">
            <a:avLst/>
          </a:prstGeom>
          <a:solidFill>
            <a:srgbClr val="9AA7B5"/>
          </a:solidFill>
          <a:ln w="12700">
            <a:solidFill>
              <a:srgbClr val="9AA7B5"/>
            </a:solidFill>
            <a:prstDash val="solid"/>
          </a:ln>
        </p:spPr>
        <p:txBody>
          <a:bodyPr/>
          <a:lstStyle/>
          <a:p>
            <a:endParaRPr lang="en-IN"/>
          </a:p>
        </p:txBody>
      </p:sp>
      <p:sp>
        <p:nvSpPr>
          <p:cNvPr id="200" name="Shape 167"/>
          <p:cNvSpPr/>
          <p:nvPr/>
        </p:nvSpPr>
        <p:spPr>
          <a:xfrm>
            <a:off x="9187434" y="1389888"/>
            <a:ext cx="1295019" cy="963549"/>
          </a:xfrm>
          <a:prstGeom prst="roundRect">
            <a:avLst>
              <a:gd name="adj" fmla="val 3796"/>
            </a:avLst>
          </a:prstGeom>
          <a:solidFill>
            <a:srgbClr val="FFFFFF"/>
          </a:solidFill>
          <a:ln w="9525">
            <a:solidFill>
              <a:srgbClr val="DCE4EE"/>
            </a:solidFill>
            <a:prstDash val="solid"/>
          </a:ln>
        </p:spPr>
        <p:txBody>
          <a:bodyPr/>
          <a:lstStyle/>
          <a:p>
            <a:endParaRPr lang="en-IN"/>
          </a:p>
        </p:txBody>
      </p:sp>
      <p:sp>
        <p:nvSpPr>
          <p:cNvPr id="201" name="Text 168"/>
          <p:cNvSpPr txBox="1"/>
          <p:nvPr/>
        </p:nvSpPr>
        <p:spPr>
          <a:xfrm>
            <a:off x="9233154" y="1415491"/>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2E7D32"/>
                </a:solidFill>
                <a:latin typeface="Trenda IG Text Semibold" pitchFamily="34" charset="0"/>
                <a:ea typeface="Trenda IG Text Semibold" pitchFamily="34" charset="-122"/>
                <a:cs typeface="Trenda IG Text Semibold" pitchFamily="34" charset="-120"/>
              </a:rPr>
              <a:t>Graph data structure</a:t>
            </a:r>
            <a:endParaRPr lang="en-US" sz="620" dirty="0"/>
          </a:p>
        </p:txBody>
      </p:sp>
      <p:sp>
        <p:nvSpPr>
          <p:cNvPr id="202" name="Text 169"/>
          <p:cNvSpPr txBox="1"/>
          <p:nvPr/>
        </p:nvSpPr>
        <p:spPr>
          <a:xfrm>
            <a:off x="9233154" y="1549908"/>
            <a:ext cx="1203579" cy="771525"/>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In-memory directed graph</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Typed nodes + properties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Typed edges + weights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Adjacency index per type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O(1) node access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Type indexes for scans</a:t>
            </a:r>
            <a:endParaRPr lang="en-US" sz="550" dirty="0"/>
          </a:p>
        </p:txBody>
      </p:sp>
      <p:sp>
        <p:nvSpPr>
          <p:cNvPr id="203" name="Shape 170"/>
          <p:cNvSpPr/>
          <p:nvPr/>
        </p:nvSpPr>
        <p:spPr>
          <a:xfrm>
            <a:off x="9187434" y="2394585"/>
            <a:ext cx="1295019" cy="963549"/>
          </a:xfrm>
          <a:prstGeom prst="roundRect">
            <a:avLst>
              <a:gd name="adj" fmla="val 3796"/>
            </a:avLst>
          </a:prstGeom>
          <a:solidFill>
            <a:srgbClr val="FFFFFF"/>
          </a:solidFill>
          <a:ln w="9525">
            <a:solidFill>
              <a:srgbClr val="DCE4EE"/>
            </a:solidFill>
            <a:prstDash val="solid"/>
          </a:ln>
        </p:spPr>
        <p:txBody>
          <a:bodyPr/>
          <a:lstStyle/>
          <a:p>
            <a:endParaRPr lang="en-IN"/>
          </a:p>
        </p:txBody>
      </p:sp>
      <p:sp>
        <p:nvSpPr>
          <p:cNvPr id="204" name="Text 171"/>
          <p:cNvSpPr txBox="1"/>
          <p:nvPr/>
        </p:nvSpPr>
        <p:spPr>
          <a:xfrm>
            <a:off x="9233154" y="2420188"/>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2E7D32"/>
                </a:solidFill>
                <a:latin typeface="Trenda IG Text Semibold" pitchFamily="34" charset="0"/>
                <a:ea typeface="Trenda IG Text Semibold" pitchFamily="34" charset="-122"/>
                <a:cs typeface="Trenda IG Text Semibold" pitchFamily="34" charset="-120"/>
              </a:rPr>
              <a:t>Graph operations</a:t>
            </a:r>
            <a:endParaRPr lang="en-US" sz="620" dirty="0"/>
          </a:p>
        </p:txBody>
      </p:sp>
      <p:sp>
        <p:nvSpPr>
          <p:cNvPr id="205" name="Text 172"/>
          <p:cNvSpPr txBox="1"/>
          <p:nvPr/>
        </p:nvSpPr>
        <p:spPr>
          <a:xfrm>
            <a:off x="9233154" y="2554605"/>
            <a:ext cx="1203579" cy="771525"/>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add_node(id, type, props)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add_edge(src, tgt, type)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find_node(node_id)</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find_nodes(node_type)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find_edges(edge_type)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has_node · retract</a:t>
            </a:r>
            <a:endParaRPr lang="en-US" sz="550" dirty="0"/>
          </a:p>
        </p:txBody>
      </p:sp>
      <p:sp>
        <p:nvSpPr>
          <p:cNvPr id="206" name="Shape 173"/>
          <p:cNvSpPr/>
          <p:nvPr/>
        </p:nvSpPr>
        <p:spPr>
          <a:xfrm>
            <a:off x="9187434" y="3399282"/>
            <a:ext cx="1295019" cy="963549"/>
          </a:xfrm>
          <a:prstGeom prst="roundRect">
            <a:avLst>
              <a:gd name="adj" fmla="val 3796"/>
            </a:avLst>
          </a:prstGeom>
          <a:solidFill>
            <a:srgbClr val="FFFFFF"/>
          </a:solidFill>
          <a:ln w="9525">
            <a:solidFill>
              <a:srgbClr val="DCE4EE"/>
            </a:solidFill>
            <a:prstDash val="solid"/>
          </a:ln>
        </p:spPr>
        <p:txBody>
          <a:bodyPr/>
          <a:lstStyle/>
          <a:p>
            <a:endParaRPr lang="en-IN"/>
          </a:p>
        </p:txBody>
      </p:sp>
      <p:sp>
        <p:nvSpPr>
          <p:cNvPr id="207" name="Text 174"/>
          <p:cNvSpPr txBox="1"/>
          <p:nvPr/>
        </p:nvSpPr>
        <p:spPr>
          <a:xfrm>
            <a:off x="9233154" y="3424885"/>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2E7D32"/>
                </a:solidFill>
                <a:latin typeface="Trenda IG Text Semibold" pitchFamily="34" charset="0"/>
                <a:ea typeface="Trenda IG Text Semibold" pitchFamily="34" charset="-122"/>
                <a:cs typeface="Trenda IG Text Semibold" pitchFamily="34" charset="-120"/>
              </a:rPr>
              <a:t>Delivery analysis</a:t>
            </a:r>
            <a:endParaRPr lang="en-US" sz="620" dirty="0"/>
          </a:p>
        </p:txBody>
      </p:sp>
      <p:sp>
        <p:nvSpPr>
          <p:cNvPr id="208" name="Text 175"/>
          <p:cNvSpPr txBox="1"/>
          <p:nvPr/>
        </p:nvSpPr>
        <p:spPr>
          <a:xfrm>
            <a:off x="9233154" y="3559302"/>
            <a:ext cx="1203579" cy="771525"/>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blast_radius(node, hops)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reuse_candidates(capab.)</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risk_tier(components)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downstream_events → APDH</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coverage_gap(component)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find_path(from, to)</a:t>
            </a:r>
            <a:endParaRPr lang="en-US" sz="550" dirty="0"/>
          </a:p>
        </p:txBody>
      </p:sp>
      <p:sp>
        <p:nvSpPr>
          <p:cNvPr id="209" name="Shape 176"/>
          <p:cNvSpPr/>
          <p:nvPr/>
        </p:nvSpPr>
        <p:spPr>
          <a:xfrm>
            <a:off x="9187434" y="4403979"/>
            <a:ext cx="1295019" cy="963549"/>
          </a:xfrm>
          <a:prstGeom prst="roundRect">
            <a:avLst>
              <a:gd name="adj" fmla="val 3796"/>
            </a:avLst>
          </a:prstGeom>
          <a:solidFill>
            <a:srgbClr val="FFFFFF"/>
          </a:solidFill>
          <a:ln w="9525">
            <a:solidFill>
              <a:srgbClr val="DCE4EE"/>
            </a:solidFill>
            <a:prstDash val="solid"/>
          </a:ln>
        </p:spPr>
        <p:txBody>
          <a:bodyPr/>
          <a:lstStyle/>
          <a:p>
            <a:endParaRPr lang="en-IN"/>
          </a:p>
        </p:txBody>
      </p:sp>
      <p:sp>
        <p:nvSpPr>
          <p:cNvPr id="210" name="Text 177"/>
          <p:cNvSpPr txBox="1"/>
          <p:nvPr/>
        </p:nvSpPr>
        <p:spPr>
          <a:xfrm>
            <a:off x="9233154" y="4429582"/>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2E7D32"/>
                </a:solidFill>
                <a:latin typeface="Trenda IG Text Semibold" pitchFamily="34" charset="0"/>
                <a:ea typeface="Trenda IG Text Semibold" pitchFamily="34" charset="-122"/>
                <a:cs typeface="Trenda IG Text Semibold" pitchFamily="34" charset="-120"/>
              </a:rPr>
              <a:t>Analytics &amp; provenance</a:t>
            </a:r>
            <a:endParaRPr lang="en-US" sz="620" dirty="0"/>
          </a:p>
        </p:txBody>
      </p:sp>
      <p:sp>
        <p:nvSpPr>
          <p:cNvPr id="211" name="Text 178"/>
          <p:cNvSpPr txBox="1"/>
          <p:nvPr/>
        </p:nvSpPr>
        <p:spPr>
          <a:xfrm>
            <a:off x="9233154" y="4563999"/>
            <a:ext cx="1203579" cy="771525"/>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stats(): counts, density</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Type distributions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Connected components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save / load_from_file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Snapshot diffing</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Query &lt; 0.01s · 1M+ nodes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get_lineage, trace_source</a:t>
            </a:r>
            <a:endParaRPr lang="en-US" sz="550" dirty="0"/>
          </a:p>
        </p:txBody>
      </p:sp>
      <p:sp>
        <p:nvSpPr>
          <p:cNvPr id="212" name="Shape 179"/>
          <p:cNvSpPr/>
          <p:nvPr/>
        </p:nvSpPr>
        <p:spPr>
          <a:xfrm>
            <a:off x="9187434" y="5404104"/>
            <a:ext cx="1295019" cy="384048"/>
          </a:xfrm>
          <a:prstGeom prst="roundRect">
            <a:avLst>
              <a:gd name="adj" fmla="val 9524"/>
            </a:avLst>
          </a:prstGeom>
          <a:solidFill>
            <a:srgbClr val="2E7D32"/>
          </a:solidFill>
          <a:ln w="12700">
            <a:solidFill>
              <a:srgbClr val="2E7D32"/>
            </a:solidFill>
            <a:prstDash val="solid"/>
          </a:ln>
        </p:spPr>
        <p:txBody>
          <a:bodyPr/>
          <a:lstStyle/>
          <a:p>
            <a:endParaRPr lang="en-IN"/>
          </a:p>
        </p:txBody>
      </p:sp>
      <p:sp>
        <p:nvSpPr>
          <p:cNvPr id="213" name="Text 180"/>
          <p:cNvSpPr txBox="1"/>
          <p:nvPr/>
        </p:nvSpPr>
        <p:spPr>
          <a:xfrm>
            <a:off x="9233154" y="5436108"/>
            <a:ext cx="1203579" cy="100584"/>
          </a:xfrm>
          <a:prstGeom prst="rect">
            <a:avLst/>
          </a:prstGeom>
          <a:noFill/>
          <a:ln/>
        </p:spPr>
        <p:txBody>
          <a:bodyPr wrap="square" lIns="0" tIns="0" rIns="0" bIns="0" rtlCol="0" anchor="ctr"/>
          <a:lstStyle/>
          <a:p>
            <a:pPr marL="0" indent="0">
              <a:buNone/>
            </a:pPr>
            <a:r>
              <a:rPr lang="en-US" sz="480" b="0" kern="0" spc="40"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80" dirty="0"/>
          </a:p>
        </p:txBody>
      </p:sp>
      <p:sp>
        <p:nvSpPr>
          <p:cNvPr id="214" name="Text 181"/>
          <p:cNvSpPr txBox="1"/>
          <p:nvPr/>
        </p:nvSpPr>
        <p:spPr>
          <a:xfrm>
            <a:off x="9233154" y="5545836"/>
            <a:ext cx="1203579" cy="214884"/>
          </a:xfrm>
          <a:prstGeom prst="rect">
            <a:avLst/>
          </a:prstGeom>
          <a:noFill/>
          <a:ln/>
        </p:spPr>
        <p:txBody>
          <a:bodyPr wrap="square" lIns="0" tIns="0" rIns="0" bIns="0" rtlCol="0" anchor="t"/>
          <a:lstStyle/>
          <a:p>
            <a:pPr marL="0" indent="0">
              <a:lnSpc>
                <a:spcPct val="92000"/>
              </a:lnSpc>
              <a:buNone/>
            </a:pPr>
            <a:r>
              <a:rPr lang="en-US" sz="520" dirty="0">
                <a:solidFill>
                  <a:srgbClr val="FFFFFF"/>
                </a:solidFill>
                <a:latin typeface="Trenda IG Text" pitchFamily="34" charset="0"/>
                <a:ea typeface="Trenda IG Text" pitchFamily="34" charset="-122"/>
                <a:cs typeface="Trenda IG Text" pitchFamily="34" charset="-120"/>
              </a:rPr>
              <a:t>Blast radius, reuse and risk answered in under 0.01s</a:t>
            </a:r>
            <a:endParaRPr lang="en-US" sz="520" dirty="0"/>
          </a:p>
        </p:txBody>
      </p:sp>
      <p:sp>
        <p:nvSpPr>
          <p:cNvPr id="215" name="Shape 182"/>
          <p:cNvSpPr/>
          <p:nvPr/>
        </p:nvSpPr>
        <p:spPr>
          <a:xfrm>
            <a:off x="10637901" y="722376"/>
            <a:ext cx="1386459" cy="5111496"/>
          </a:xfrm>
          <a:prstGeom prst="roundRect">
            <a:avLst>
              <a:gd name="adj" fmla="val 3298"/>
            </a:avLst>
          </a:prstGeom>
          <a:solidFill>
            <a:srgbClr val="E3F2F4"/>
          </a:solidFill>
          <a:ln w="9525">
            <a:solidFill>
              <a:srgbClr val="DCE4EE"/>
            </a:solidFill>
            <a:prstDash val="solid"/>
          </a:ln>
        </p:spPr>
        <p:txBody>
          <a:bodyPr/>
          <a:lstStyle/>
          <a:p>
            <a:endParaRPr lang="en-IN"/>
          </a:p>
        </p:txBody>
      </p:sp>
      <p:sp>
        <p:nvSpPr>
          <p:cNvPr id="216" name="Shape 183"/>
          <p:cNvSpPr/>
          <p:nvPr/>
        </p:nvSpPr>
        <p:spPr>
          <a:xfrm>
            <a:off x="10637901" y="722376"/>
            <a:ext cx="1386459" cy="621792"/>
          </a:xfrm>
          <a:prstGeom prst="roundRect">
            <a:avLst>
              <a:gd name="adj" fmla="val 7353"/>
            </a:avLst>
          </a:prstGeom>
          <a:solidFill>
            <a:srgbClr val="00757F"/>
          </a:solidFill>
          <a:ln w="12700">
            <a:solidFill>
              <a:srgbClr val="00757F"/>
            </a:solidFill>
            <a:prstDash val="solid"/>
          </a:ln>
        </p:spPr>
        <p:txBody>
          <a:bodyPr/>
          <a:lstStyle/>
          <a:p>
            <a:endParaRPr lang="en-IN"/>
          </a:p>
        </p:txBody>
      </p:sp>
      <p:pic>
        <p:nvPicPr>
          <p:cNvPr id="217" name="Image 31" descr="preencoded.png"/>
          <p:cNvPicPr>
            <a:picLocks noChangeAspect="1"/>
          </p:cNvPicPr>
          <p:nvPr/>
        </p:nvPicPr>
        <p:blipFill>
          <a:blip r:embed="rId16"/>
          <a:stretch>
            <a:fillRect/>
          </a:stretch>
        </p:blipFill>
        <p:spPr>
          <a:xfrm>
            <a:off x="11262551" y="754380"/>
            <a:ext cx="137160" cy="137160"/>
          </a:xfrm>
          <a:prstGeom prst="rect">
            <a:avLst/>
          </a:prstGeom>
        </p:spPr>
      </p:pic>
      <p:sp>
        <p:nvSpPr>
          <p:cNvPr id="218" name="Text 184"/>
          <p:cNvSpPr txBox="1"/>
          <p:nvPr/>
        </p:nvSpPr>
        <p:spPr>
          <a:xfrm>
            <a:off x="10674477" y="900684"/>
            <a:ext cx="1313307" cy="100584"/>
          </a:xfrm>
          <a:prstGeom prst="rect">
            <a:avLst/>
          </a:prstGeom>
          <a:noFill/>
          <a:ln/>
        </p:spPr>
        <p:txBody>
          <a:bodyPr wrap="square" lIns="0" tIns="0" rIns="0" bIns="0" rtlCol="0" anchor="ctr"/>
          <a:lstStyle/>
          <a:p>
            <a:pPr marL="0" indent="0" algn="ctr">
              <a:buNone/>
            </a:pPr>
            <a:r>
              <a:rPr lang="en-US" sz="560" b="0" kern="0" spc="50" dirty="0">
                <a:solidFill>
                  <a:srgbClr val="FFFFFF"/>
                </a:solidFill>
                <a:latin typeface="Trenda IG Text Semibold" pitchFamily="34" charset="0"/>
                <a:ea typeface="Trenda IG Text Semibold" pitchFamily="34" charset="-122"/>
                <a:cs typeface="Trenda IG Text Semibold" pitchFamily="34" charset="-120"/>
              </a:rPr>
              <a:t>LAYER 8</a:t>
            </a:r>
            <a:endParaRPr lang="en-US" sz="560" dirty="0"/>
          </a:p>
        </p:txBody>
      </p:sp>
      <p:sp>
        <p:nvSpPr>
          <p:cNvPr id="219" name="Text 185"/>
          <p:cNvSpPr txBox="1"/>
          <p:nvPr/>
        </p:nvSpPr>
        <p:spPr>
          <a:xfrm>
            <a:off x="10665333" y="1001268"/>
            <a:ext cx="1331595" cy="210312"/>
          </a:xfrm>
          <a:prstGeom prst="rect">
            <a:avLst/>
          </a:prstGeom>
          <a:noFill/>
          <a:ln/>
        </p:spPr>
        <p:txBody>
          <a:bodyPr wrap="square" lIns="0" tIns="0" rIns="0" bIns="0" rtlCol="0" anchor="t"/>
          <a:lstStyle/>
          <a:p>
            <a:pPr marL="0" indent="0" algn="ctr">
              <a:buNone/>
            </a:pPr>
            <a:r>
              <a:rPr lang="en-US" sz="800" b="0" dirty="0">
                <a:solidFill>
                  <a:srgbClr val="FFFFFF"/>
                </a:solidFill>
                <a:latin typeface="Trenda IG Text Semibold" pitchFamily="34" charset="0"/>
                <a:ea typeface="Trenda IG Text Semibold" pitchFamily="34" charset="-122"/>
                <a:cs typeface="Trenda IG Text Semibold" pitchFamily="34" charset="-120"/>
              </a:rPr>
              <a:t>Adapter API + Codex</a:t>
            </a:r>
            <a:endParaRPr lang="en-US" sz="800" dirty="0"/>
          </a:p>
        </p:txBody>
      </p:sp>
      <p:sp>
        <p:nvSpPr>
          <p:cNvPr id="220" name="Text 186"/>
          <p:cNvSpPr txBox="1"/>
          <p:nvPr/>
        </p:nvSpPr>
        <p:spPr>
          <a:xfrm>
            <a:off x="10665333" y="1211580"/>
            <a:ext cx="1331595" cy="118872"/>
          </a:xfrm>
          <a:prstGeom prst="rect">
            <a:avLst/>
          </a:prstGeom>
          <a:noFill/>
          <a:ln/>
        </p:spPr>
        <p:txBody>
          <a:bodyPr wrap="square" lIns="0" tIns="0" rIns="0" bIns="0" rtlCol="0" anchor="ctr"/>
          <a:lstStyle/>
          <a:p>
            <a:pPr marL="0" indent="0" algn="ctr">
              <a:buNone/>
            </a:pPr>
            <a:r>
              <a:rPr lang="en-US" sz="520" i="1" dirty="0">
                <a:solidFill>
                  <a:srgbClr val="FFFFFF"/>
                </a:solidFill>
                <a:latin typeface="Trenda IG Text" pitchFamily="34" charset="0"/>
                <a:ea typeface="Trenda IG Text" pitchFamily="34" charset="-122"/>
                <a:cs typeface="Trenda IG Text" pitchFamily="34" charset="-120"/>
              </a:rPr>
              <a:t>SemanticaGraphAdapter → Codex</a:t>
            </a:r>
            <a:endParaRPr lang="en-US" sz="520" dirty="0"/>
          </a:p>
        </p:txBody>
      </p:sp>
      <p:sp>
        <p:nvSpPr>
          <p:cNvPr id="221" name="Shape 187"/>
          <p:cNvSpPr/>
          <p:nvPr/>
        </p:nvSpPr>
        <p:spPr>
          <a:xfrm>
            <a:off x="10683621" y="1389888"/>
            <a:ext cx="1295019" cy="963549"/>
          </a:xfrm>
          <a:prstGeom prst="roundRect">
            <a:avLst>
              <a:gd name="adj" fmla="val 3796"/>
            </a:avLst>
          </a:prstGeom>
          <a:solidFill>
            <a:srgbClr val="FFFFFF"/>
          </a:solidFill>
          <a:ln w="9525">
            <a:solidFill>
              <a:srgbClr val="DCE4EE"/>
            </a:solidFill>
            <a:prstDash val="solid"/>
          </a:ln>
        </p:spPr>
        <p:txBody>
          <a:bodyPr/>
          <a:lstStyle/>
          <a:p>
            <a:endParaRPr lang="en-IN"/>
          </a:p>
        </p:txBody>
      </p:sp>
      <p:sp>
        <p:nvSpPr>
          <p:cNvPr id="222" name="Text 188"/>
          <p:cNvSpPr txBox="1"/>
          <p:nvPr/>
        </p:nvSpPr>
        <p:spPr>
          <a:xfrm>
            <a:off x="10729341" y="1415491"/>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00757F"/>
                </a:solidFill>
                <a:latin typeface="Trenda IG Text Semibold" pitchFamily="34" charset="0"/>
                <a:ea typeface="Trenda IG Text Semibold" pitchFamily="34" charset="-122"/>
                <a:cs typeface="Trenda IG Text Semibold" pitchFamily="34" charset="-120"/>
              </a:rPr>
              <a:t>Core query methods</a:t>
            </a:r>
            <a:endParaRPr lang="en-US" sz="620" dirty="0"/>
          </a:p>
        </p:txBody>
      </p:sp>
      <p:sp>
        <p:nvSpPr>
          <p:cNvPr id="223" name="Text 189"/>
          <p:cNvSpPr txBox="1"/>
          <p:nvPr/>
        </p:nvSpPr>
        <p:spPr>
          <a:xfrm>
            <a:off x="10729341" y="1549908"/>
            <a:ext cx="1203579" cy="771525"/>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load_from_json(path)</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get_node(node_id)</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get_nodes_by_type(type)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get_outgoing_edges(id)</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get_incoming_edges(id)</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get_neighbors(id, hops)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find_path(from, to, hops)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get_graph_stats()</a:t>
            </a:r>
            <a:endParaRPr lang="en-US" sz="550" dirty="0"/>
          </a:p>
        </p:txBody>
      </p:sp>
      <p:sp>
        <p:nvSpPr>
          <p:cNvPr id="224" name="Shape 190"/>
          <p:cNvSpPr/>
          <p:nvPr/>
        </p:nvSpPr>
        <p:spPr>
          <a:xfrm>
            <a:off x="10683621" y="2394585"/>
            <a:ext cx="1295019" cy="963549"/>
          </a:xfrm>
          <a:prstGeom prst="roundRect">
            <a:avLst>
              <a:gd name="adj" fmla="val 3796"/>
            </a:avLst>
          </a:prstGeom>
          <a:solidFill>
            <a:srgbClr val="FFFFFF"/>
          </a:solidFill>
          <a:ln w="9525">
            <a:solidFill>
              <a:srgbClr val="DCE4EE"/>
            </a:solidFill>
            <a:prstDash val="solid"/>
          </a:ln>
        </p:spPr>
        <p:txBody>
          <a:bodyPr/>
          <a:lstStyle/>
          <a:p>
            <a:endParaRPr lang="en-IN"/>
          </a:p>
        </p:txBody>
      </p:sp>
      <p:sp>
        <p:nvSpPr>
          <p:cNvPr id="225" name="Text 191"/>
          <p:cNvSpPr txBox="1"/>
          <p:nvPr/>
        </p:nvSpPr>
        <p:spPr>
          <a:xfrm>
            <a:off x="10729341" y="2420188"/>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00757F"/>
                </a:solidFill>
                <a:latin typeface="Trenda IG Text Semibold" pitchFamily="34" charset="0"/>
                <a:ea typeface="Trenda IG Text Semibold" pitchFamily="34" charset="-122"/>
                <a:cs typeface="Trenda IG Text Semibold" pitchFamily="34" charset="-120"/>
              </a:rPr>
              <a:t>Delivery methods</a:t>
            </a:r>
            <a:endParaRPr lang="en-US" sz="620" dirty="0"/>
          </a:p>
        </p:txBody>
      </p:sp>
      <p:sp>
        <p:nvSpPr>
          <p:cNvPr id="226" name="Text 192"/>
          <p:cNvSpPr txBox="1"/>
          <p:nvPr/>
        </p:nvSpPr>
        <p:spPr>
          <a:xfrm>
            <a:off x="10729341" y="2554605"/>
            <a:ext cx="1203579" cy="771525"/>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analyze_impact(requirement)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find_reuse(capability)</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classify_risk(components)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trace_downstream_events()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coverage_report()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build_context_slice()</a:t>
            </a:r>
            <a:endParaRPr lang="en-US" sz="550" dirty="0"/>
          </a:p>
        </p:txBody>
      </p:sp>
      <p:sp>
        <p:nvSpPr>
          <p:cNvPr id="227" name="Shape 193"/>
          <p:cNvSpPr/>
          <p:nvPr/>
        </p:nvSpPr>
        <p:spPr>
          <a:xfrm>
            <a:off x="10683621" y="3399282"/>
            <a:ext cx="1295019" cy="963549"/>
          </a:xfrm>
          <a:prstGeom prst="roundRect">
            <a:avLst>
              <a:gd name="adj" fmla="val 3796"/>
            </a:avLst>
          </a:prstGeom>
          <a:solidFill>
            <a:srgbClr val="FFFFFF"/>
          </a:solidFill>
          <a:ln w="9525">
            <a:solidFill>
              <a:srgbClr val="DCE4EE"/>
            </a:solidFill>
            <a:prstDash val="solid"/>
          </a:ln>
        </p:spPr>
        <p:txBody>
          <a:bodyPr/>
          <a:lstStyle/>
          <a:p>
            <a:endParaRPr lang="en-IN"/>
          </a:p>
        </p:txBody>
      </p:sp>
      <p:sp>
        <p:nvSpPr>
          <p:cNvPr id="228" name="Text 194"/>
          <p:cNvSpPr txBox="1"/>
          <p:nvPr/>
        </p:nvSpPr>
        <p:spPr>
          <a:xfrm>
            <a:off x="10729341" y="3424885"/>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00757F"/>
                </a:solidFill>
                <a:latin typeface="Trenda IG Text Semibold" pitchFamily="34" charset="0"/>
                <a:ea typeface="Trenda IG Text Semibold" pitchFamily="34" charset="-122"/>
                <a:cs typeface="Trenda IG Text Semibold" pitchFamily="34" charset="-120"/>
              </a:rPr>
              <a:t>Codex tool surface</a:t>
            </a:r>
            <a:endParaRPr lang="en-US" sz="620" dirty="0"/>
          </a:p>
        </p:txBody>
      </p:sp>
      <p:sp>
        <p:nvSpPr>
          <p:cNvPr id="229" name="Text 195"/>
          <p:cNvSpPr txBox="1"/>
          <p:nvPr/>
        </p:nvSpPr>
        <p:spPr>
          <a:xfrm>
            <a:off x="10729341" y="3559302"/>
            <a:ext cx="1203579" cy="771525"/>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graph.query · graph.impact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graph.reuse · graph.prov</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git.read_file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sf.describe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jira.read · copado.status</a:t>
            </a:r>
            <a:endParaRPr lang="en-US" sz="550" dirty="0"/>
          </a:p>
        </p:txBody>
      </p:sp>
      <p:sp>
        <p:nvSpPr>
          <p:cNvPr id="230" name="Shape 196"/>
          <p:cNvSpPr/>
          <p:nvPr/>
        </p:nvSpPr>
        <p:spPr>
          <a:xfrm>
            <a:off x="10683621" y="4403979"/>
            <a:ext cx="1295019" cy="963549"/>
          </a:xfrm>
          <a:prstGeom prst="roundRect">
            <a:avLst>
              <a:gd name="adj" fmla="val 3796"/>
            </a:avLst>
          </a:prstGeom>
          <a:solidFill>
            <a:srgbClr val="FFFFFF"/>
          </a:solidFill>
          <a:ln w="9525">
            <a:solidFill>
              <a:srgbClr val="DCE4EE"/>
            </a:solidFill>
            <a:prstDash val="solid"/>
          </a:ln>
        </p:spPr>
        <p:txBody>
          <a:bodyPr/>
          <a:lstStyle/>
          <a:p>
            <a:endParaRPr lang="en-IN"/>
          </a:p>
        </p:txBody>
      </p:sp>
      <p:sp>
        <p:nvSpPr>
          <p:cNvPr id="231" name="Text 197"/>
          <p:cNvSpPr txBox="1"/>
          <p:nvPr/>
        </p:nvSpPr>
        <p:spPr>
          <a:xfrm>
            <a:off x="10729341" y="4429582"/>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00757F"/>
                </a:solidFill>
                <a:latin typeface="Trenda IG Text Semibold" pitchFamily="34" charset="0"/>
                <a:ea typeface="Trenda IG Text Semibold" pitchFamily="34" charset="-122"/>
                <a:cs typeface="Trenda IG Text Semibold" pitchFamily="34" charset="-120"/>
              </a:rPr>
              <a:t>Output contract</a:t>
            </a:r>
            <a:endParaRPr lang="en-US" sz="620" dirty="0"/>
          </a:p>
        </p:txBody>
      </p:sp>
      <p:sp>
        <p:nvSpPr>
          <p:cNvPr id="232" name="Text 198"/>
          <p:cNvSpPr txBox="1"/>
          <p:nvPr/>
        </p:nvSpPr>
        <p:spPr>
          <a:xfrm>
            <a:off x="10729341" y="4563999"/>
            <a:ext cx="1203579" cy="771525"/>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Bounded graph slice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No invented dependencies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Every claim cites a node id</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ImpactAnalysis · ChangePlan</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GeneratedArtifacts, TestPlan</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RiskAssessment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Write: DEV + branch only</a:t>
            </a:r>
            <a:endParaRPr lang="en-US" sz="550" dirty="0"/>
          </a:p>
        </p:txBody>
      </p:sp>
      <p:sp>
        <p:nvSpPr>
          <p:cNvPr id="233" name="Shape 199"/>
          <p:cNvSpPr/>
          <p:nvPr/>
        </p:nvSpPr>
        <p:spPr>
          <a:xfrm>
            <a:off x="10683621" y="5404104"/>
            <a:ext cx="1295019" cy="384048"/>
          </a:xfrm>
          <a:prstGeom prst="roundRect">
            <a:avLst>
              <a:gd name="adj" fmla="val 9524"/>
            </a:avLst>
          </a:prstGeom>
          <a:solidFill>
            <a:srgbClr val="00757F"/>
          </a:solidFill>
          <a:ln w="12700">
            <a:solidFill>
              <a:srgbClr val="00757F"/>
            </a:solidFill>
            <a:prstDash val="solid"/>
          </a:ln>
        </p:spPr>
        <p:txBody>
          <a:bodyPr/>
          <a:lstStyle/>
          <a:p>
            <a:endParaRPr lang="en-IN"/>
          </a:p>
        </p:txBody>
      </p:sp>
      <p:sp>
        <p:nvSpPr>
          <p:cNvPr id="234" name="Text 200"/>
          <p:cNvSpPr txBox="1"/>
          <p:nvPr/>
        </p:nvSpPr>
        <p:spPr>
          <a:xfrm>
            <a:off x="10729341" y="5436108"/>
            <a:ext cx="1203579" cy="100584"/>
          </a:xfrm>
          <a:prstGeom prst="rect">
            <a:avLst/>
          </a:prstGeom>
          <a:noFill/>
          <a:ln/>
        </p:spPr>
        <p:txBody>
          <a:bodyPr wrap="square" lIns="0" tIns="0" rIns="0" bIns="0" rtlCol="0" anchor="ctr"/>
          <a:lstStyle/>
          <a:p>
            <a:pPr marL="0" indent="0">
              <a:buNone/>
            </a:pPr>
            <a:r>
              <a:rPr lang="en-US" sz="480" b="0" kern="0" spc="40"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80" dirty="0"/>
          </a:p>
        </p:txBody>
      </p:sp>
      <p:sp>
        <p:nvSpPr>
          <p:cNvPr id="235" name="Text 201"/>
          <p:cNvSpPr txBox="1"/>
          <p:nvPr/>
        </p:nvSpPr>
        <p:spPr>
          <a:xfrm>
            <a:off x="10729341" y="5545836"/>
            <a:ext cx="1203579" cy="214884"/>
          </a:xfrm>
          <a:prstGeom prst="rect">
            <a:avLst/>
          </a:prstGeom>
          <a:noFill/>
          <a:ln/>
        </p:spPr>
        <p:txBody>
          <a:bodyPr wrap="square" lIns="0" tIns="0" rIns="0" bIns="0" rtlCol="0" anchor="t"/>
          <a:lstStyle/>
          <a:p>
            <a:pPr marL="0" indent="0">
              <a:lnSpc>
                <a:spcPct val="92000"/>
              </a:lnSpc>
              <a:buNone/>
            </a:pPr>
            <a:r>
              <a:rPr lang="en-US" sz="520" dirty="0">
                <a:solidFill>
                  <a:srgbClr val="FFFFFF"/>
                </a:solidFill>
                <a:latin typeface="Trenda IG Text" pitchFamily="34" charset="0"/>
                <a:ea typeface="Trenda IG Text" pitchFamily="34" charset="-122"/>
                <a:cs typeface="Trenda IG Text" pitchFamily="34" charset="-120"/>
              </a:rPr>
              <a:t>Codex reasons on verified facts, never invented ones</a:t>
            </a:r>
            <a:endParaRPr lang="en-US" sz="520" dirty="0"/>
          </a:p>
        </p:txBody>
      </p:sp>
      <p:sp>
        <p:nvSpPr>
          <p:cNvPr id="236" name="Shape 202"/>
          <p:cNvSpPr/>
          <p:nvPr/>
        </p:nvSpPr>
        <p:spPr>
          <a:xfrm>
            <a:off x="984123" y="5870448"/>
            <a:ext cx="1243584" cy="274320"/>
          </a:xfrm>
          <a:prstGeom prst="roundRect">
            <a:avLst>
              <a:gd name="adj" fmla="val 13333"/>
            </a:avLst>
          </a:prstGeom>
          <a:solidFill>
            <a:srgbClr val="FFFFFF"/>
          </a:solidFill>
          <a:ln w="9525">
            <a:solidFill>
              <a:srgbClr val="B9C4D0"/>
            </a:solidFill>
            <a:prstDash val="solid"/>
          </a:ln>
        </p:spPr>
        <p:txBody>
          <a:bodyPr/>
          <a:lstStyle/>
          <a:p>
            <a:endParaRPr lang="en-IN"/>
          </a:p>
        </p:txBody>
      </p:sp>
      <p:sp>
        <p:nvSpPr>
          <p:cNvPr id="237" name="Text 203"/>
          <p:cNvSpPr txBox="1"/>
          <p:nvPr/>
        </p:nvSpPr>
        <p:spPr>
          <a:xfrm>
            <a:off x="1029843" y="5893308"/>
            <a:ext cx="1152144" cy="228600"/>
          </a:xfrm>
          <a:prstGeom prst="rect">
            <a:avLst/>
          </a:prstGeom>
          <a:noFill/>
          <a:ln/>
        </p:spPr>
        <p:txBody>
          <a:bodyPr wrap="square" lIns="0" tIns="0" rIns="0" bIns="0" rtlCol="0" anchor="ctr"/>
          <a:lstStyle/>
          <a:p>
            <a:pPr marL="0" indent="0" algn="ctr">
              <a:lnSpc>
                <a:spcPct val="90000"/>
              </a:lnSpc>
              <a:buNone/>
            </a:pPr>
            <a:r>
              <a:rPr lang="en-US" sz="540" b="0" dirty="0">
                <a:solidFill>
                  <a:srgbClr val="0E8A7D"/>
                </a:solidFill>
                <a:latin typeface="Trenda IG Text Semibold" pitchFamily="34" charset="0"/>
                <a:ea typeface="Trenda IG Text Semibold" pitchFamily="34" charset="-122"/>
                <a:cs typeface="Trenda IG Text Semibold" pitchFamily="34" charset="-120"/>
              </a:rPr>
              <a:t>▶  </a:t>
            </a:r>
            <a:r>
              <a:rPr lang="en-US" sz="540" dirty="0">
                <a:solidFill>
                  <a:srgbClr val="12233B"/>
                </a:solidFill>
                <a:latin typeface="Trenda IG Text" pitchFamily="34" charset="0"/>
                <a:ea typeface="Trenda IG Text" pitchFamily="34" charset="-122"/>
                <a:cs typeface="Trenda IG Text" pitchFamily="34" charset="-120"/>
              </a:rPr>
              <a:t>REST v3 · OAuth 2.0 · JWT bearer · SSH key · API token</a:t>
            </a:r>
            <a:endParaRPr lang="en-US" sz="540" dirty="0"/>
          </a:p>
        </p:txBody>
      </p:sp>
      <p:sp>
        <p:nvSpPr>
          <p:cNvPr id="238" name="Shape 204"/>
          <p:cNvSpPr/>
          <p:nvPr/>
        </p:nvSpPr>
        <p:spPr>
          <a:xfrm>
            <a:off x="2480310" y="5870448"/>
            <a:ext cx="1243584" cy="274320"/>
          </a:xfrm>
          <a:prstGeom prst="roundRect">
            <a:avLst>
              <a:gd name="adj" fmla="val 13333"/>
            </a:avLst>
          </a:prstGeom>
          <a:solidFill>
            <a:srgbClr val="FFFFFF"/>
          </a:solidFill>
          <a:ln w="9525">
            <a:solidFill>
              <a:srgbClr val="B9C4D0"/>
            </a:solidFill>
            <a:prstDash val="solid"/>
          </a:ln>
        </p:spPr>
        <p:txBody>
          <a:bodyPr/>
          <a:lstStyle/>
          <a:p>
            <a:endParaRPr lang="en-IN"/>
          </a:p>
        </p:txBody>
      </p:sp>
      <p:sp>
        <p:nvSpPr>
          <p:cNvPr id="239" name="Text 205"/>
          <p:cNvSpPr txBox="1"/>
          <p:nvPr/>
        </p:nvSpPr>
        <p:spPr>
          <a:xfrm>
            <a:off x="2526030" y="5893308"/>
            <a:ext cx="1152144" cy="228600"/>
          </a:xfrm>
          <a:prstGeom prst="rect">
            <a:avLst/>
          </a:prstGeom>
          <a:noFill/>
          <a:ln/>
        </p:spPr>
        <p:txBody>
          <a:bodyPr wrap="square" lIns="0" tIns="0" rIns="0" bIns="0" rtlCol="0" anchor="ctr"/>
          <a:lstStyle/>
          <a:p>
            <a:pPr marL="0" indent="0" algn="ctr">
              <a:lnSpc>
                <a:spcPct val="90000"/>
              </a:lnSpc>
              <a:buNone/>
            </a:pPr>
            <a:r>
              <a:rPr lang="en-US" sz="540" b="0" dirty="0">
                <a:solidFill>
                  <a:srgbClr val="7A4FC0"/>
                </a:solidFill>
                <a:latin typeface="Trenda IG Text Semibold" pitchFamily="34" charset="0"/>
                <a:ea typeface="Trenda IG Text Semibold" pitchFamily="34" charset="-122"/>
                <a:cs typeface="Trenda IG Text Semibold" pitchFamily="34" charset="-120"/>
              </a:rPr>
              <a:t>▶  </a:t>
            </a:r>
            <a:r>
              <a:rPr lang="en-US" sz="540" dirty="0">
                <a:solidFill>
                  <a:srgbClr val="12233B"/>
                </a:solidFill>
                <a:latin typeface="Trenda IG Text" pitchFamily="34" charset="0"/>
                <a:ea typeface="Trenda IG Text" pitchFamily="34" charset="-122"/>
                <a:cs typeface="Trenda IG Text" pitchFamily="34" charset="-120"/>
              </a:rPr>
              <a:t>SourceArtifact: bytes + metadata + SHA-256</a:t>
            </a:r>
            <a:endParaRPr lang="en-US" sz="540" dirty="0"/>
          </a:p>
        </p:txBody>
      </p:sp>
      <p:sp>
        <p:nvSpPr>
          <p:cNvPr id="240" name="Shape 206"/>
          <p:cNvSpPr/>
          <p:nvPr/>
        </p:nvSpPr>
        <p:spPr>
          <a:xfrm>
            <a:off x="3976497" y="5870448"/>
            <a:ext cx="1243584" cy="274320"/>
          </a:xfrm>
          <a:prstGeom prst="roundRect">
            <a:avLst>
              <a:gd name="adj" fmla="val 13333"/>
            </a:avLst>
          </a:prstGeom>
          <a:solidFill>
            <a:srgbClr val="FFFFFF"/>
          </a:solidFill>
          <a:ln w="9525">
            <a:solidFill>
              <a:srgbClr val="B9C4D0"/>
            </a:solidFill>
            <a:prstDash val="solid"/>
          </a:ln>
        </p:spPr>
        <p:txBody>
          <a:bodyPr/>
          <a:lstStyle/>
          <a:p>
            <a:endParaRPr lang="en-IN"/>
          </a:p>
        </p:txBody>
      </p:sp>
      <p:sp>
        <p:nvSpPr>
          <p:cNvPr id="241" name="Text 207"/>
          <p:cNvSpPr txBox="1"/>
          <p:nvPr/>
        </p:nvSpPr>
        <p:spPr>
          <a:xfrm>
            <a:off x="4022217" y="5893308"/>
            <a:ext cx="1152144" cy="228600"/>
          </a:xfrm>
          <a:prstGeom prst="rect">
            <a:avLst/>
          </a:prstGeom>
          <a:noFill/>
          <a:ln/>
        </p:spPr>
        <p:txBody>
          <a:bodyPr wrap="square" lIns="0" tIns="0" rIns="0" bIns="0" rtlCol="0" anchor="ctr"/>
          <a:lstStyle/>
          <a:p>
            <a:pPr marL="0" indent="0" algn="ctr">
              <a:lnSpc>
                <a:spcPct val="90000"/>
              </a:lnSpc>
              <a:buNone/>
            </a:pPr>
            <a:r>
              <a:rPr lang="en-US" sz="540" b="0" dirty="0">
                <a:solidFill>
                  <a:srgbClr val="C2185B"/>
                </a:solidFill>
                <a:latin typeface="Trenda IG Text Semibold" pitchFamily="34" charset="0"/>
                <a:ea typeface="Trenda IG Text Semibold" pitchFamily="34" charset="-122"/>
                <a:cs typeface="Trenda IG Text Semibold" pitchFamily="34" charset="-120"/>
              </a:rPr>
              <a:t>▶  </a:t>
            </a:r>
            <a:r>
              <a:rPr lang="en-US" sz="540" dirty="0">
                <a:solidFill>
                  <a:srgbClr val="12233B"/>
                </a:solidFill>
                <a:latin typeface="Trenda IG Text" pitchFamily="34" charset="0"/>
                <a:ea typeface="Trenda IG Text" pitchFamily="34" charset="-122"/>
                <a:cs typeface="Trenda IG Text" pitchFamily="34" charset="-120"/>
              </a:rPr>
              <a:t>Typed domain objects + provenance</a:t>
            </a:r>
            <a:endParaRPr lang="en-US" sz="540" dirty="0"/>
          </a:p>
        </p:txBody>
      </p:sp>
      <p:sp>
        <p:nvSpPr>
          <p:cNvPr id="242" name="Shape 208"/>
          <p:cNvSpPr/>
          <p:nvPr/>
        </p:nvSpPr>
        <p:spPr>
          <a:xfrm>
            <a:off x="5472684" y="5870448"/>
            <a:ext cx="1243584" cy="274320"/>
          </a:xfrm>
          <a:prstGeom prst="roundRect">
            <a:avLst>
              <a:gd name="adj" fmla="val 13333"/>
            </a:avLst>
          </a:prstGeom>
          <a:solidFill>
            <a:srgbClr val="FFFFFF"/>
          </a:solidFill>
          <a:ln w="9525">
            <a:solidFill>
              <a:srgbClr val="B9C4D0"/>
            </a:solidFill>
            <a:prstDash val="solid"/>
          </a:ln>
        </p:spPr>
        <p:txBody>
          <a:bodyPr/>
          <a:lstStyle/>
          <a:p>
            <a:endParaRPr lang="en-IN"/>
          </a:p>
        </p:txBody>
      </p:sp>
      <p:sp>
        <p:nvSpPr>
          <p:cNvPr id="243" name="Text 209"/>
          <p:cNvSpPr txBox="1"/>
          <p:nvPr/>
        </p:nvSpPr>
        <p:spPr>
          <a:xfrm>
            <a:off x="5518404" y="5893308"/>
            <a:ext cx="1152144" cy="228600"/>
          </a:xfrm>
          <a:prstGeom prst="rect">
            <a:avLst/>
          </a:prstGeom>
          <a:noFill/>
          <a:ln/>
        </p:spPr>
        <p:txBody>
          <a:bodyPr wrap="square" lIns="0" tIns="0" rIns="0" bIns="0" rtlCol="0" anchor="ctr"/>
          <a:lstStyle/>
          <a:p>
            <a:pPr marL="0" indent="0" algn="ctr">
              <a:lnSpc>
                <a:spcPct val="90000"/>
              </a:lnSpc>
              <a:buNone/>
            </a:pPr>
            <a:r>
              <a:rPr lang="en-US" sz="540" b="0" dirty="0">
                <a:solidFill>
                  <a:srgbClr val="C77400"/>
                </a:solidFill>
                <a:latin typeface="Trenda IG Text Semibold" pitchFamily="34" charset="0"/>
                <a:ea typeface="Trenda IG Text Semibold" pitchFamily="34" charset="-122"/>
                <a:cs typeface="Trenda IG Text Semibold" pitchFamily="34" charset="-120"/>
              </a:rPr>
              <a:t>▶  </a:t>
            </a:r>
            <a:r>
              <a:rPr lang="en-US" sz="540" dirty="0">
                <a:solidFill>
                  <a:srgbClr val="12233B"/>
                </a:solidFill>
                <a:latin typeface="Trenda IG Text" pitchFamily="34" charset="0"/>
                <a:ea typeface="Trenda IG Text" pitchFamily="34" charset="-122"/>
                <a:cs typeface="Trenda IG Text" pitchFamily="34" charset="-120"/>
              </a:rPr>
              <a:t>persisted as vendor-neutral JSON</a:t>
            </a:r>
            <a:endParaRPr lang="en-US" sz="540" dirty="0"/>
          </a:p>
        </p:txBody>
      </p:sp>
      <p:sp>
        <p:nvSpPr>
          <p:cNvPr id="244" name="Shape 210"/>
          <p:cNvSpPr/>
          <p:nvPr/>
        </p:nvSpPr>
        <p:spPr>
          <a:xfrm>
            <a:off x="6968871" y="5870448"/>
            <a:ext cx="1243584" cy="274320"/>
          </a:xfrm>
          <a:prstGeom prst="roundRect">
            <a:avLst>
              <a:gd name="adj" fmla="val 13333"/>
            </a:avLst>
          </a:prstGeom>
          <a:solidFill>
            <a:srgbClr val="FFFFFF"/>
          </a:solidFill>
          <a:ln w="9525">
            <a:solidFill>
              <a:srgbClr val="B9C4D0"/>
            </a:solidFill>
            <a:prstDash val="solid"/>
          </a:ln>
        </p:spPr>
        <p:txBody>
          <a:bodyPr/>
          <a:lstStyle/>
          <a:p>
            <a:endParaRPr lang="en-IN"/>
          </a:p>
        </p:txBody>
      </p:sp>
      <p:sp>
        <p:nvSpPr>
          <p:cNvPr id="245" name="Text 211"/>
          <p:cNvSpPr txBox="1"/>
          <p:nvPr/>
        </p:nvSpPr>
        <p:spPr>
          <a:xfrm>
            <a:off x="7014591" y="5893308"/>
            <a:ext cx="1152144" cy="228600"/>
          </a:xfrm>
          <a:prstGeom prst="rect">
            <a:avLst/>
          </a:prstGeom>
          <a:noFill/>
          <a:ln/>
        </p:spPr>
        <p:txBody>
          <a:bodyPr wrap="square" lIns="0" tIns="0" rIns="0" bIns="0" rtlCol="0" anchor="ctr"/>
          <a:lstStyle/>
          <a:p>
            <a:pPr marL="0" indent="0" algn="ctr">
              <a:lnSpc>
                <a:spcPct val="90000"/>
              </a:lnSpc>
              <a:buNone/>
            </a:pPr>
            <a:r>
              <a:rPr lang="en-US" sz="540" b="0" dirty="0">
                <a:solidFill>
                  <a:srgbClr val="C62828"/>
                </a:solidFill>
                <a:latin typeface="Trenda IG Text Semibold" pitchFamily="34" charset="0"/>
                <a:ea typeface="Trenda IG Text Semibold" pitchFamily="34" charset="-122"/>
                <a:cs typeface="Trenda IG Text Semibold" pitchFamily="34" charset="-120"/>
              </a:rPr>
              <a:t>▶  </a:t>
            </a:r>
            <a:r>
              <a:rPr lang="en-US" sz="540" dirty="0">
                <a:solidFill>
                  <a:srgbClr val="12233B"/>
                </a:solidFill>
                <a:latin typeface="Trenda IG Text" pitchFamily="34" charset="0"/>
                <a:ea typeface="Trenda IG Text" pitchFamily="34" charset="-122"/>
                <a:cs typeface="Trenda IG Text" pitchFamily="34" charset="-120"/>
              </a:rPr>
              <a:t>export(NetworkServicesContext) → nodes + edges</a:t>
            </a:r>
            <a:endParaRPr lang="en-US" sz="540" dirty="0"/>
          </a:p>
        </p:txBody>
      </p:sp>
      <p:sp>
        <p:nvSpPr>
          <p:cNvPr id="246" name="Shape 212"/>
          <p:cNvSpPr/>
          <p:nvPr/>
        </p:nvSpPr>
        <p:spPr>
          <a:xfrm>
            <a:off x="8465058" y="5870448"/>
            <a:ext cx="1243584" cy="274320"/>
          </a:xfrm>
          <a:prstGeom prst="roundRect">
            <a:avLst>
              <a:gd name="adj" fmla="val 13333"/>
            </a:avLst>
          </a:prstGeom>
          <a:solidFill>
            <a:srgbClr val="FFFFFF"/>
          </a:solidFill>
          <a:ln w="9525">
            <a:solidFill>
              <a:srgbClr val="B9C4D0"/>
            </a:solidFill>
            <a:prstDash val="solid"/>
          </a:ln>
        </p:spPr>
        <p:txBody>
          <a:bodyPr/>
          <a:lstStyle/>
          <a:p>
            <a:endParaRPr lang="en-IN"/>
          </a:p>
        </p:txBody>
      </p:sp>
      <p:sp>
        <p:nvSpPr>
          <p:cNvPr id="247" name="Text 213"/>
          <p:cNvSpPr txBox="1"/>
          <p:nvPr/>
        </p:nvSpPr>
        <p:spPr>
          <a:xfrm>
            <a:off x="8510778" y="5893308"/>
            <a:ext cx="1152144" cy="228600"/>
          </a:xfrm>
          <a:prstGeom prst="rect">
            <a:avLst/>
          </a:prstGeom>
          <a:noFill/>
          <a:ln/>
        </p:spPr>
        <p:txBody>
          <a:bodyPr wrap="square" lIns="0" tIns="0" rIns="0" bIns="0" rtlCol="0" anchor="ctr"/>
          <a:lstStyle/>
          <a:p>
            <a:pPr marL="0" indent="0" algn="ctr">
              <a:lnSpc>
                <a:spcPct val="90000"/>
              </a:lnSpc>
              <a:buNone/>
            </a:pPr>
            <a:r>
              <a:rPr lang="en-US" sz="540" b="0" dirty="0">
                <a:solidFill>
                  <a:srgbClr val="2E7D32"/>
                </a:solidFill>
                <a:latin typeface="Trenda IG Text Semibold" pitchFamily="34" charset="0"/>
                <a:ea typeface="Trenda IG Text Semibold" pitchFamily="34" charset="-122"/>
                <a:cs typeface="Trenda IG Text Semibold" pitchFamily="34" charset="-120"/>
              </a:rPr>
              <a:t>▶  </a:t>
            </a:r>
            <a:r>
              <a:rPr lang="en-US" sz="540" dirty="0">
                <a:solidFill>
                  <a:srgbClr val="12233B"/>
                </a:solidFill>
                <a:latin typeface="Trenda IG Text" pitchFamily="34" charset="0"/>
                <a:ea typeface="Trenda IG Text" pitchFamily="34" charset="-122"/>
                <a:cs typeface="Trenda IG Text" pitchFamily="34" charset="-120"/>
              </a:rPr>
              <a:t>loaded into the in-memory graph</a:t>
            </a:r>
            <a:endParaRPr lang="en-US" sz="540" dirty="0"/>
          </a:p>
        </p:txBody>
      </p:sp>
      <p:sp>
        <p:nvSpPr>
          <p:cNvPr id="248" name="Shape 214"/>
          <p:cNvSpPr/>
          <p:nvPr/>
        </p:nvSpPr>
        <p:spPr>
          <a:xfrm>
            <a:off x="9961245" y="5870448"/>
            <a:ext cx="1243584" cy="274320"/>
          </a:xfrm>
          <a:prstGeom prst="roundRect">
            <a:avLst>
              <a:gd name="adj" fmla="val 13333"/>
            </a:avLst>
          </a:prstGeom>
          <a:solidFill>
            <a:srgbClr val="FFFFFF"/>
          </a:solidFill>
          <a:ln w="9525">
            <a:solidFill>
              <a:srgbClr val="B9C4D0"/>
            </a:solidFill>
            <a:prstDash val="solid"/>
          </a:ln>
        </p:spPr>
        <p:txBody>
          <a:bodyPr/>
          <a:lstStyle/>
          <a:p>
            <a:endParaRPr lang="en-IN"/>
          </a:p>
        </p:txBody>
      </p:sp>
      <p:sp>
        <p:nvSpPr>
          <p:cNvPr id="249" name="Text 215"/>
          <p:cNvSpPr txBox="1"/>
          <p:nvPr/>
        </p:nvSpPr>
        <p:spPr>
          <a:xfrm>
            <a:off x="10006965" y="5893308"/>
            <a:ext cx="1152144" cy="228600"/>
          </a:xfrm>
          <a:prstGeom prst="rect">
            <a:avLst/>
          </a:prstGeom>
          <a:noFill/>
          <a:ln/>
        </p:spPr>
        <p:txBody>
          <a:bodyPr wrap="square" lIns="0" tIns="0" rIns="0" bIns="0" rtlCol="0" anchor="ctr"/>
          <a:lstStyle/>
          <a:p>
            <a:pPr marL="0" indent="0" algn="ctr">
              <a:lnSpc>
                <a:spcPct val="90000"/>
              </a:lnSpc>
              <a:buNone/>
            </a:pPr>
            <a:r>
              <a:rPr lang="en-US" sz="540" b="0" dirty="0">
                <a:solidFill>
                  <a:srgbClr val="00757F"/>
                </a:solidFill>
                <a:latin typeface="Trenda IG Text Semibold" pitchFamily="34" charset="0"/>
                <a:ea typeface="Trenda IG Text Semibold" pitchFamily="34" charset="-122"/>
                <a:cs typeface="Trenda IG Text Semibold" pitchFamily="34" charset="-120"/>
              </a:rPr>
              <a:t>▶  </a:t>
            </a:r>
            <a:r>
              <a:rPr lang="en-US" sz="540" dirty="0">
                <a:solidFill>
                  <a:srgbClr val="12233B"/>
                </a:solidFill>
                <a:latin typeface="Trenda IG Text" pitchFamily="34" charset="0"/>
                <a:ea typeface="Trenda IG Text" pitchFamily="34" charset="-122"/>
                <a:cs typeface="Trenda IG Text" pitchFamily="34" charset="-120"/>
              </a:rPr>
              <a:t>adapter API: typed graph queries</a:t>
            </a:r>
            <a:endParaRPr lang="en-US" sz="540" dirty="0"/>
          </a:p>
        </p:txBody>
      </p:sp>
      <p:sp>
        <p:nvSpPr>
          <p:cNvPr id="250" name="Text 216"/>
          <p:cNvSpPr txBox="1"/>
          <p:nvPr/>
        </p:nvSpPr>
        <p:spPr>
          <a:xfrm>
            <a:off x="164592" y="5870448"/>
            <a:ext cx="786384" cy="274320"/>
          </a:xfrm>
          <a:prstGeom prst="rect">
            <a:avLst/>
          </a:prstGeom>
          <a:noFill/>
          <a:ln/>
        </p:spPr>
        <p:txBody>
          <a:bodyPr wrap="square" lIns="0" tIns="0" rIns="0" bIns="0" rtlCol="0" anchor="ctr"/>
          <a:lstStyle/>
          <a:p>
            <a:pPr marL="0" indent="0">
              <a:lnSpc>
                <a:spcPct val="90000"/>
              </a:lnSpc>
              <a:buNone/>
            </a:pPr>
            <a:r>
              <a:rPr lang="en-US" sz="500" b="0" dirty="0">
                <a:solidFill>
                  <a:srgbClr val="5C6E85"/>
                </a:solidFill>
                <a:latin typeface="Trenda IG Text Semibold" pitchFamily="34" charset="0"/>
                <a:ea typeface="Trenda IG Text Semibold" pitchFamily="34" charset="-122"/>
                <a:cs typeface="Trenda IG Text Semibold" pitchFamily="34" charset="-120"/>
              </a:rPr>
              <a:t>HANDOFF</a:t>
            </a:r>
            <a:endParaRPr lang="en-US" sz="500" dirty="0"/>
          </a:p>
          <a:p>
            <a:pPr marL="0" indent="0">
              <a:lnSpc>
                <a:spcPct val="90000"/>
              </a:lnSpc>
              <a:buNone/>
            </a:pPr>
            <a:r>
              <a:rPr lang="en-US" sz="500" b="0" dirty="0">
                <a:solidFill>
                  <a:srgbClr val="5C6E85"/>
                </a:solidFill>
                <a:latin typeface="Trenda IG Text Semibold" pitchFamily="34" charset="0"/>
                <a:ea typeface="Trenda IG Text Semibold" pitchFamily="34" charset="-122"/>
                <a:cs typeface="Trenda IG Text Semibold" pitchFamily="34" charset="-120"/>
              </a:rPr>
              <a:t>BETWEEN LAYERS</a:t>
            </a:r>
            <a:endParaRPr lang="en-US" sz="500" dirty="0"/>
          </a:p>
        </p:txBody>
      </p:sp>
      <p:sp>
        <p:nvSpPr>
          <p:cNvPr id="251" name="Shape 217"/>
          <p:cNvSpPr/>
          <p:nvPr/>
        </p:nvSpPr>
        <p:spPr>
          <a:xfrm>
            <a:off x="164592" y="6190488"/>
            <a:ext cx="2868930" cy="594360"/>
          </a:xfrm>
          <a:prstGeom prst="roundRect">
            <a:avLst>
              <a:gd name="adj" fmla="val 7692"/>
            </a:avLst>
          </a:prstGeom>
          <a:solidFill>
            <a:srgbClr val="FFFFFF"/>
          </a:solidFill>
          <a:ln w="12700">
            <a:solidFill>
              <a:srgbClr val="DCE4EE"/>
            </a:solidFill>
            <a:prstDash val="solid"/>
          </a:ln>
        </p:spPr>
        <p:txBody>
          <a:bodyPr/>
          <a:lstStyle/>
          <a:p>
            <a:endParaRPr lang="en-IN"/>
          </a:p>
        </p:txBody>
      </p:sp>
      <p:pic>
        <p:nvPicPr>
          <p:cNvPr id="252" name="Image 32" descr="preencoded.png"/>
          <p:cNvPicPr>
            <a:picLocks noChangeAspect="1"/>
          </p:cNvPicPr>
          <p:nvPr/>
        </p:nvPicPr>
        <p:blipFill>
          <a:blip r:embed="rId17"/>
          <a:stretch>
            <a:fillRect/>
          </a:stretch>
        </p:blipFill>
        <p:spPr>
          <a:xfrm>
            <a:off x="246888" y="6240780"/>
            <a:ext cx="128016" cy="128016"/>
          </a:xfrm>
          <a:prstGeom prst="rect">
            <a:avLst/>
          </a:prstGeom>
        </p:spPr>
      </p:pic>
      <p:sp>
        <p:nvSpPr>
          <p:cNvPr id="253" name="Text 218"/>
          <p:cNvSpPr txBox="1"/>
          <p:nvPr/>
        </p:nvSpPr>
        <p:spPr>
          <a:xfrm>
            <a:off x="420624" y="6231636"/>
            <a:ext cx="2521458" cy="146304"/>
          </a:xfrm>
          <a:prstGeom prst="rect">
            <a:avLst/>
          </a:prstGeom>
          <a:noFill/>
          <a:ln/>
        </p:spPr>
        <p:txBody>
          <a:bodyPr wrap="square" lIns="0" tIns="0" rIns="0" bIns="0" rtlCol="0" anchor="ctr"/>
          <a:lstStyle/>
          <a:p>
            <a:pPr marL="0" indent="0">
              <a:buNone/>
            </a:pPr>
            <a:r>
              <a:rPr lang="en-US" sz="700" b="0" dirty="0">
                <a:solidFill>
                  <a:srgbClr val="7A4FC0"/>
                </a:solidFill>
                <a:latin typeface="Trenda IG Text Semibold" pitchFamily="34" charset="0"/>
                <a:ea typeface="Trenda IG Text Semibold" pitchFamily="34" charset="-122"/>
                <a:cs typeface="Trenda IG Text Semibold" pitchFamily="34" charset="-120"/>
              </a:rPr>
              <a:t>Provenance &amp; authority</a:t>
            </a:r>
            <a:endParaRPr lang="en-US" sz="700" dirty="0"/>
          </a:p>
        </p:txBody>
      </p:sp>
      <p:sp>
        <p:nvSpPr>
          <p:cNvPr id="254" name="Text 219"/>
          <p:cNvSpPr txBox="1"/>
          <p:nvPr/>
        </p:nvSpPr>
        <p:spPr>
          <a:xfrm>
            <a:off x="246888" y="6396228"/>
            <a:ext cx="2704338" cy="356616"/>
          </a:xfrm>
          <a:prstGeom prst="rect">
            <a:avLst/>
          </a:prstGeom>
          <a:noFill/>
          <a:ln/>
        </p:spPr>
        <p:txBody>
          <a:bodyPr wrap="square" lIns="0" tIns="0" rIns="0" bIns="0" rtlCol="0" anchor="t"/>
          <a:lstStyle/>
          <a:p>
            <a:pPr marL="0" indent="0">
              <a:lnSpc>
                <a:spcPct val="90000"/>
              </a:lnSpc>
              <a:buNone/>
            </a:pPr>
            <a:r>
              <a:rPr lang="en-US" sz="560" dirty="0">
                <a:solidFill>
                  <a:srgbClr val="12233B"/>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60" dirty="0"/>
          </a:p>
        </p:txBody>
      </p:sp>
      <p:sp>
        <p:nvSpPr>
          <p:cNvPr id="255" name="Shape 220"/>
          <p:cNvSpPr/>
          <p:nvPr/>
        </p:nvSpPr>
        <p:spPr>
          <a:xfrm>
            <a:off x="3161538" y="6190488"/>
            <a:ext cx="2868930" cy="594360"/>
          </a:xfrm>
          <a:prstGeom prst="roundRect">
            <a:avLst>
              <a:gd name="adj" fmla="val 7692"/>
            </a:avLst>
          </a:prstGeom>
          <a:solidFill>
            <a:srgbClr val="FFFFFF"/>
          </a:solidFill>
          <a:ln w="12700">
            <a:solidFill>
              <a:srgbClr val="DCE4EE"/>
            </a:solidFill>
            <a:prstDash val="solid"/>
          </a:ln>
        </p:spPr>
        <p:txBody>
          <a:bodyPr/>
          <a:lstStyle/>
          <a:p>
            <a:endParaRPr lang="en-IN"/>
          </a:p>
        </p:txBody>
      </p:sp>
      <p:pic>
        <p:nvPicPr>
          <p:cNvPr id="256" name="Image 33" descr="preencoded.png"/>
          <p:cNvPicPr>
            <a:picLocks noChangeAspect="1"/>
          </p:cNvPicPr>
          <p:nvPr/>
        </p:nvPicPr>
        <p:blipFill>
          <a:blip r:embed="rId18"/>
          <a:stretch>
            <a:fillRect/>
          </a:stretch>
        </p:blipFill>
        <p:spPr>
          <a:xfrm>
            <a:off x="3243834" y="6240780"/>
            <a:ext cx="128016" cy="128016"/>
          </a:xfrm>
          <a:prstGeom prst="rect">
            <a:avLst/>
          </a:prstGeom>
        </p:spPr>
      </p:pic>
      <p:sp>
        <p:nvSpPr>
          <p:cNvPr id="257" name="Text 221"/>
          <p:cNvSpPr txBox="1"/>
          <p:nvPr/>
        </p:nvSpPr>
        <p:spPr>
          <a:xfrm>
            <a:off x="3417570" y="6231636"/>
            <a:ext cx="2521458" cy="146304"/>
          </a:xfrm>
          <a:prstGeom prst="rect">
            <a:avLst/>
          </a:prstGeom>
          <a:noFill/>
          <a:ln/>
        </p:spPr>
        <p:txBody>
          <a:bodyPr wrap="square" lIns="0" tIns="0" rIns="0" bIns="0" rtlCol="0" anchor="ctr"/>
          <a:lstStyle/>
          <a:p>
            <a:pPr marL="0" indent="0">
              <a:buNone/>
            </a:pPr>
            <a:r>
              <a:rPr lang="en-US" sz="700" b="0" dirty="0">
                <a:solidFill>
                  <a:srgbClr val="0E8A7D"/>
                </a:solidFill>
                <a:latin typeface="Trenda IG Text Semibold" pitchFamily="34" charset="0"/>
                <a:ea typeface="Trenda IG Text Semibold" pitchFamily="34" charset="-122"/>
                <a:cs typeface="Trenda IG Text Semibold" pitchFamily="34" charset="-120"/>
              </a:rPr>
              <a:t>Security &amp; access: three identities</a:t>
            </a:r>
            <a:endParaRPr lang="en-US" sz="700" dirty="0"/>
          </a:p>
        </p:txBody>
      </p:sp>
      <p:sp>
        <p:nvSpPr>
          <p:cNvPr id="258" name="Text 222"/>
          <p:cNvSpPr txBox="1"/>
          <p:nvPr/>
        </p:nvSpPr>
        <p:spPr>
          <a:xfrm>
            <a:off x="3243834" y="6396228"/>
            <a:ext cx="2704338" cy="356616"/>
          </a:xfrm>
          <a:prstGeom prst="rect">
            <a:avLst/>
          </a:prstGeom>
          <a:noFill/>
          <a:ln/>
        </p:spPr>
        <p:txBody>
          <a:bodyPr wrap="square" lIns="0" tIns="0" rIns="0" bIns="0" rtlCol="0" anchor="t"/>
          <a:lstStyle/>
          <a:p>
            <a:pPr marL="0" indent="0">
              <a:lnSpc>
                <a:spcPct val="90000"/>
              </a:lnSpc>
              <a:buNone/>
            </a:pPr>
            <a:r>
              <a:rPr lang="en-US" sz="560" dirty="0">
                <a:solidFill>
                  <a:srgbClr val="12233B"/>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60" dirty="0"/>
          </a:p>
        </p:txBody>
      </p:sp>
      <p:sp>
        <p:nvSpPr>
          <p:cNvPr id="259" name="Shape 223"/>
          <p:cNvSpPr/>
          <p:nvPr/>
        </p:nvSpPr>
        <p:spPr>
          <a:xfrm>
            <a:off x="6158484" y="6190488"/>
            <a:ext cx="2868930" cy="594360"/>
          </a:xfrm>
          <a:prstGeom prst="roundRect">
            <a:avLst>
              <a:gd name="adj" fmla="val 7692"/>
            </a:avLst>
          </a:prstGeom>
          <a:solidFill>
            <a:srgbClr val="FFFFFF"/>
          </a:solidFill>
          <a:ln w="12700">
            <a:solidFill>
              <a:srgbClr val="DCE4EE"/>
            </a:solidFill>
            <a:prstDash val="solid"/>
          </a:ln>
        </p:spPr>
        <p:txBody>
          <a:bodyPr/>
          <a:lstStyle/>
          <a:p>
            <a:endParaRPr lang="en-IN"/>
          </a:p>
        </p:txBody>
      </p:sp>
      <p:pic>
        <p:nvPicPr>
          <p:cNvPr id="260" name="Image 34" descr="preencoded.png"/>
          <p:cNvPicPr>
            <a:picLocks noChangeAspect="1"/>
          </p:cNvPicPr>
          <p:nvPr/>
        </p:nvPicPr>
        <p:blipFill>
          <a:blip r:embed="rId19"/>
          <a:stretch>
            <a:fillRect/>
          </a:stretch>
        </p:blipFill>
        <p:spPr>
          <a:xfrm>
            <a:off x="6240780" y="6240780"/>
            <a:ext cx="128016" cy="128016"/>
          </a:xfrm>
          <a:prstGeom prst="rect">
            <a:avLst/>
          </a:prstGeom>
        </p:spPr>
      </p:pic>
      <p:sp>
        <p:nvSpPr>
          <p:cNvPr id="261" name="Text 224"/>
          <p:cNvSpPr txBox="1"/>
          <p:nvPr/>
        </p:nvSpPr>
        <p:spPr>
          <a:xfrm>
            <a:off x="6414516" y="6231636"/>
            <a:ext cx="2521458" cy="146304"/>
          </a:xfrm>
          <a:prstGeom prst="rect">
            <a:avLst/>
          </a:prstGeom>
          <a:noFill/>
          <a:ln/>
        </p:spPr>
        <p:txBody>
          <a:bodyPr wrap="square" lIns="0" tIns="0" rIns="0" bIns="0" rtlCol="0" anchor="ctr"/>
          <a:lstStyle/>
          <a:p>
            <a:pPr marL="0" indent="0">
              <a:buNone/>
            </a:pPr>
            <a:r>
              <a:rPr lang="en-US" sz="700" b="0" dirty="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700" dirty="0"/>
          </a:p>
        </p:txBody>
      </p:sp>
      <p:sp>
        <p:nvSpPr>
          <p:cNvPr id="262" name="Text 225"/>
          <p:cNvSpPr txBox="1"/>
          <p:nvPr/>
        </p:nvSpPr>
        <p:spPr>
          <a:xfrm>
            <a:off x="6240780" y="6396228"/>
            <a:ext cx="2704338" cy="356616"/>
          </a:xfrm>
          <a:prstGeom prst="rect">
            <a:avLst/>
          </a:prstGeom>
          <a:noFill/>
          <a:ln/>
        </p:spPr>
        <p:txBody>
          <a:bodyPr wrap="square" lIns="0" tIns="0" rIns="0" bIns="0" rtlCol="0" anchor="t"/>
          <a:lstStyle/>
          <a:p>
            <a:pPr marL="0" indent="0">
              <a:lnSpc>
                <a:spcPct val="90000"/>
              </a:lnSpc>
              <a:buNone/>
            </a:pPr>
            <a:r>
              <a:rPr lang="en-US" sz="560" dirty="0">
                <a:solidFill>
                  <a:srgbClr val="12233B"/>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60" dirty="0"/>
          </a:p>
        </p:txBody>
      </p:sp>
      <p:sp>
        <p:nvSpPr>
          <p:cNvPr id="263" name="Shape 226"/>
          <p:cNvSpPr/>
          <p:nvPr/>
        </p:nvSpPr>
        <p:spPr>
          <a:xfrm>
            <a:off x="9155430" y="6190488"/>
            <a:ext cx="2868930" cy="594360"/>
          </a:xfrm>
          <a:prstGeom prst="roundRect">
            <a:avLst>
              <a:gd name="adj" fmla="val 7692"/>
            </a:avLst>
          </a:prstGeom>
          <a:solidFill>
            <a:srgbClr val="FFFFFF"/>
          </a:solidFill>
          <a:ln w="12700">
            <a:solidFill>
              <a:srgbClr val="DCE4EE"/>
            </a:solidFill>
            <a:prstDash val="solid"/>
          </a:ln>
        </p:spPr>
        <p:txBody>
          <a:bodyPr/>
          <a:lstStyle/>
          <a:p>
            <a:endParaRPr lang="en-IN"/>
          </a:p>
        </p:txBody>
      </p:sp>
      <p:pic>
        <p:nvPicPr>
          <p:cNvPr id="264" name="Image 35" descr="preencoded.png"/>
          <p:cNvPicPr>
            <a:picLocks noChangeAspect="1"/>
          </p:cNvPicPr>
          <p:nvPr/>
        </p:nvPicPr>
        <p:blipFill>
          <a:blip r:embed="rId20"/>
          <a:stretch>
            <a:fillRect/>
          </a:stretch>
        </p:blipFill>
        <p:spPr>
          <a:xfrm>
            <a:off x="9237726" y="6240780"/>
            <a:ext cx="128016" cy="128016"/>
          </a:xfrm>
          <a:prstGeom prst="rect">
            <a:avLst/>
          </a:prstGeom>
        </p:spPr>
      </p:pic>
      <p:sp>
        <p:nvSpPr>
          <p:cNvPr id="265" name="Text 227"/>
          <p:cNvSpPr txBox="1"/>
          <p:nvPr/>
        </p:nvSpPr>
        <p:spPr>
          <a:xfrm>
            <a:off x="9411462" y="6231636"/>
            <a:ext cx="2521458" cy="146304"/>
          </a:xfrm>
          <a:prstGeom prst="rect">
            <a:avLst/>
          </a:prstGeom>
          <a:noFill/>
          <a:ln/>
        </p:spPr>
        <p:txBody>
          <a:bodyPr wrap="square" lIns="0" tIns="0" rIns="0" bIns="0" rtlCol="0" anchor="ctr"/>
          <a:lstStyle/>
          <a:p>
            <a:pPr marL="0" indent="0">
              <a:buNone/>
            </a:pPr>
            <a:r>
              <a:rPr lang="en-US" sz="700" b="0" dirty="0">
                <a:solidFill>
                  <a:srgbClr val="2E7D32"/>
                </a:solidFill>
                <a:latin typeface="Trenda IG Text Semibold" pitchFamily="34" charset="0"/>
                <a:ea typeface="Trenda IG Text Semibold" pitchFamily="34" charset="-122"/>
                <a:cs typeface="Trenda IG Text Semibold" pitchFamily="34" charset="-120"/>
              </a:rPr>
              <a:t>Governed delivery &amp; POC</a:t>
            </a:r>
            <a:endParaRPr lang="en-US" sz="700" dirty="0"/>
          </a:p>
        </p:txBody>
      </p:sp>
      <p:sp>
        <p:nvSpPr>
          <p:cNvPr id="266" name="Text 228"/>
          <p:cNvSpPr txBox="1"/>
          <p:nvPr/>
        </p:nvSpPr>
        <p:spPr>
          <a:xfrm>
            <a:off x="9237726" y="6396228"/>
            <a:ext cx="2704338" cy="356616"/>
          </a:xfrm>
          <a:prstGeom prst="rect">
            <a:avLst/>
          </a:prstGeom>
          <a:noFill/>
          <a:ln/>
        </p:spPr>
        <p:txBody>
          <a:bodyPr wrap="square" lIns="0" tIns="0" rIns="0" bIns="0" rtlCol="0" anchor="t"/>
          <a:lstStyle/>
          <a:p>
            <a:pPr marL="0" indent="0">
              <a:lnSpc>
                <a:spcPct val="90000"/>
              </a:lnSpc>
              <a:buNone/>
            </a:pPr>
            <a:r>
              <a:rPr lang="en-US" sz="560" dirty="0">
                <a:solidFill>
                  <a:srgbClr val="12233B"/>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365760" y="274320"/>
            <a:ext cx="11457432" cy="347472"/>
          </a:xfrm>
          <a:prstGeom prst="rect">
            <a:avLst/>
          </a:prstGeom>
          <a:noFill/>
          <a:ln/>
        </p:spPr>
        <p:txBody>
          <a:bodyPr wrap="square" lIns="0" tIns="0" rIns="0" bIns="0" rtlCol="0" anchor="ctr"/>
          <a:lstStyle/>
          <a:p>
            <a:pPr marL="0" indent="0">
              <a:buNone/>
            </a:pPr>
            <a:r>
              <a:rPr lang="en-US" sz="2000" b="0" dirty="0">
                <a:solidFill>
                  <a:srgbClr val="0E1B2E"/>
                </a:solidFill>
                <a:latin typeface="Trenda IG Display Bold" pitchFamily="34" charset="0"/>
                <a:ea typeface="Trenda IG Display Bold" pitchFamily="34" charset="-122"/>
                <a:cs typeface="Trenda IG Display Bold" pitchFamily="34" charset="-120"/>
              </a:rPr>
              <a:t>Layers 1–3 · Per-source pipeline</a:t>
            </a:r>
            <a:endParaRPr lang="en-US" sz="2000" dirty="0"/>
          </a:p>
        </p:txBody>
      </p:sp>
      <p:sp>
        <p:nvSpPr>
          <p:cNvPr id="3" name="Text 1"/>
          <p:cNvSpPr txBox="1"/>
          <p:nvPr/>
        </p:nvSpPr>
        <p:spPr>
          <a:xfrm>
            <a:off x="365760" y="640080"/>
            <a:ext cx="11457432" cy="219456"/>
          </a:xfrm>
          <a:prstGeom prst="rect">
            <a:avLst/>
          </a:prstGeom>
          <a:noFill/>
          <a:ln/>
        </p:spPr>
        <p:txBody>
          <a:bodyPr wrap="square" lIns="0" tIns="0" rIns="0" bIns="0" rtlCol="0" anchor="ctr"/>
          <a:lstStyle/>
          <a:p>
            <a:pPr marL="0" indent="0">
              <a:buNone/>
            </a:pPr>
            <a:r>
              <a:rPr lang="en-US" sz="950" dirty="0">
                <a:solidFill>
                  <a:srgbClr val="5C6E85"/>
                </a:solidFill>
                <a:latin typeface="Trenda IG Display" pitchFamily="34" charset="0"/>
                <a:ea typeface="Trenda IG Display" pitchFamily="34" charset="-122"/>
                <a:cs typeface="Trenda IG Display" pitchFamily="34" charset="-120"/>
              </a:rPr>
              <a:t>For each system of record: what the graph reads, how the connector authenticates and pulls it, and how the ingestor parses it into the domain model.</a:t>
            </a:r>
            <a:endParaRPr lang="en-US" sz="950" dirty="0"/>
          </a:p>
        </p:txBody>
      </p:sp>
      <p:sp>
        <p:nvSpPr>
          <p:cNvPr id="4" name="Shape 2"/>
          <p:cNvSpPr/>
          <p:nvPr/>
        </p:nvSpPr>
        <p:spPr>
          <a:xfrm>
            <a:off x="365760" y="1024128"/>
            <a:ext cx="1787652" cy="5440680"/>
          </a:xfrm>
          <a:prstGeom prst="roundRect">
            <a:avLst>
              <a:gd name="adj" fmla="val 2558"/>
            </a:avLst>
          </a:prstGeom>
          <a:solidFill>
            <a:srgbClr val="EAF1FB"/>
          </a:solidFill>
          <a:ln w="9525">
            <a:solidFill>
              <a:srgbClr val="DCE4EE"/>
            </a:solidFill>
            <a:prstDash val="solid"/>
          </a:ln>
        </p:spPr>
        <p:txBody>
          <a:bodyPr/>
          <a:lstStyle/>
          <a:p>
            <a:endParaRPr lang="en-IN"/>
          </a:p>
        </p:txBody>
      </p:sp>
      <p:sp>
        <p:nvSpPr>
          <p:cNvPr id="5" name="Shape 3"/>
          <p:cNvSpPr/>
          <p:nvPr/>
        </p:nvSpPr>
        <p:spPr>
          <a:xfrm>
            <a:off x="365760" y="1024128"/>
            <a:ext cx="1787652" cy="365760"/>
          </a:xfrm>
          <a:prstGeom prst="roundRect">
            <a:avLst>
              <a:gd name="adj" fmla="val 12500"/>
            </a:avLst>
          </a:prstGeom>
          <a:solidFill>
            <a:srgbClr val="1B6BC0"/>
          </a:solidFill>
          <a:ln w="12700">
            <a:solidFill>
              <a:srgbClr val="1B6BC0"/>
            </a:solidFill>
            <a:prstDash val="solid"/>
          </a:ln>
        </p:spPr>
        <p:txBody>
          <a:bodyPr/>
          <a:lstStyle/>
          <a:p>
            <a:endParaRPr lang="en-IN"/>
          </a:p>
        </p:txBody>
      </p:sp>
      <p:pic>
        <p:nvPicPr>
          <p:cNvPr id="6" name="Image 0" descr="preencoded.png"/>
          <p:cNvPicPr>
            <a:picLocks noChangeAspect="1"/>
          </p:cNvPicPr>
          <p:nvPr/>
        </p:nvPicPr>
        <p:blipFill>
          <a:blip r:embed="rId3"/>
          <a:stretch>
            <a:fillRect/>
          </a:stretch>
        </p:blipFill>
        <p:spPr>
          <a:xfrm>
            <a:off x="493776" y="1124712"/>
            <a:ext cx="164592" cy="164592"/>
          </a:xfrm>
          <a:prstGeom prst="rect">
            <a:avLst/>
          </a:prstGeom>
        </p:spPr>
      </p:pic>
      <p:sp>
        <p:nvSpPr>
          <p:cNvPr id="7" name="Text 4"/>
          <p:cNvSpPr txBox="1"/>
          <p:nvPr/>
        </p:nvSpPr>
        <p:spPr>
          <a:xfrm>
            <a:off x="420624" y="1024128"/>
            <a:ext cx="1677924" cy="365760"/>
          </a:xfrm>
          <a:prstGeom prst="rect">
            <a:avLst/>
          </a:prstGeom>
          <a:noFill/>
          <a:ln/>
        </p:spPr>
        <p:txBody>
          <a:bodyPr wrap="square" lIns="0" tIns="0" rIns="0" bIns="0" rtlCol="0" anchor="ctr"/>
          <a:lstStyle/>
          <a:p>
            <a:pPr marL="0" indent="0" algn="ctr">
              <a:buNone/>
            </a:pPr>
            <a:r>
              <a:rPr lang="en-US" sz="900" b="0" dirty="0">
                <a:solidFill>
                  <a:srgbClr val="FFFFFF"/>
                </a:solidFill>
                <a:latin typeface="Trenda IG Display Bold" pitchFamily="34" charset="0"/>
                <a:ea typeface="Trenda IG Display Bold" pitchFamily="34" charset="-122"/>
                <a:cs typeface="Trenda IG Display Bold" pitchFamily="34" charset="-120"/>
              </a:rPr>
              <a:t>Jira</a:t>
            </a:r>
            <a:endParaRPr lang="en-US" sz="900" dirty="0"/>
          </a:p>
        </p:txBody>
      </p:sp>
      <p:sp>
        <p:nvSpPr>
          <p:cNvPr id="8" name="Shape 5"/>
          <p:cNvSpPr/>
          <p:nvPr/>
        </p:nvSpPr>
        <p:spPr>
          <a:xfrm>
            <a:off x="438912" y="1463040"/>
            <a:ext cx="1641348" cy="1341979"/>
          </a:xfrm>
          <a:prstGeom prst="roundRect">
            <a:avLst>
              <a:gd name="adj" fmla="val 2726"/>
            </a:avLst>
          </a:prstGeom>
          <a:solidFill>
            <a:srgbClr val="FFFFFF"/>
          </a:solidFill>
          <a:ln w="9525">
            <a:solidFill>
              <a:srgbClr val="DCE4EE"/>
            </a:solidFill>
            <a:prstDash val="solid"/>
          </a:ln>
        </p:spPr>
        <p:txBody>
          <a:bodyPr/>
          <a:lstStyle/>
          <a:p>
            <a:endParaRPr lang="en-IN"/>
          </a:p>
        </p:txBody>
      </p:sp>
      <p:sp>
        <p:nvSpPr>
          <p:cNvPr id="9" name="Text 6"/>
          <p:cNvSpPr txBox="1"/>
          <p:nvPr/>
        </p:nvSpPr>
        <p:spPr>
          <a:xfrm>
            <a:off x="493776" y="1517904"/>
            <a:ext cx="1531620" cy="182880"/>
          </a:xfrm>
          <a:prstGeom prst="rect">
            <a:avLst/>
          </a:prstGeom>
          <a:noFill/>
          <a:ln/>
        </p:spPr>
        <p:txBody>
          <a:bodyPr wrap="square" lIns="0" tIns="0" rIns="0" bIns="0" rtlCol="0" anchor="t"/>
          <a:lstStyle/>
          <a:p>
            <a:pPr marL="0" indent="0">
              <a:buNone/>
            </a:pPr>
            <a:r>
              <a:rPr lang="en-US" sz="800" b="0" dirty="0">
                <a:solidFill>
                  <a:srgbClr val="1B6BC0"/>
                </a:solidFill>
                <a:latin typeface="Trenda IG Text Semibold" pitchFamily="34" charset="0"/>
                <a:ea typeface="Trenda IG Text Semibold" pitchFamily="34" charset="-122"/>
                <a:cs typeface="Trenda IG Text Semibold" pitchFamily="34" charset="-120"/>
              </a:rPr>
              <a:t>Source system</a:t>
            </a:r>
            <a:endParaRPr lang="en-US" sz="800" dirty="0"/>
          </a:p>
        </p:txBody>
      </p:sp>
      <p:sp>
        <p:nvSpPr>
          <p:cNvPr id="10" name="Text 7"/>
          <p:cNvSpPr txBox="1"/>
          <p:nvPr/>
        </p:nvSpPr>
        <p:spPr>
          <a:xfrm>
            <a:off x="493776" y="1709928"/>
            <a:ext cx="1531620" cy="1040227"/>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User stories &amp; requirements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Acceptance criteria</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Epics, components, labels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Kanban &amp; sprint history</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Linked issues &amp; defects</a:t>
            </a:r>
            <a:endParaRPr lang="en-US" sz="700" dirty="0"/>
          </a:p>
        </p:txBody>
      </p:sp>
      <p:sp>
        <p:nvSpPr>
          <p:cNvPr id="11" name="Shape 8"/>
          <p:cNvSpPr/>
          <p:nvPr/>
        </p:nvSpPr>
        <p:spPr>
          <a:xfrm>
            <a:off x="438912" y="2896459"/>
            <a:ext cx="1641348" cy="1811671"/>
          </a:xfrm>
          <a:prstGeom prst="roundRect">
            <a:avLst>
              <a:gd name="adj" fmla="val 2228"/>
            </a:avLst>
          </a:prstGeom>
          <a:solidFill>
            <a:srgbClr val="FFFFFF"/>
          </a:solidFill>
          <a:ln w="9525">
            <a:solidFill>
              <a:srgbClr val="DCE4EE"/>
            </a:solidFill>
            <a:prstDash val="solid"/>
          </a:ln>
        </p:spPr>
        <p:txBody>
          <a:bodyPr/>
          <a:lstStyle/>
          <a:p>
            <a:endParaRPr lang="en-IN"/>
          </a:p>
        </p:txBody>
      </p:sp>
      <p:sp>
        <p:nvSpPr>
          <p:cNvPr id="12" name="Text 9"/>
          <p:cNvSpPr txBox="1"/>
          <p:nvPr/>
        </p:nvSpPr>
        <p:spPr>
          <a:xfrm>
            <a:off x="493776" y="2951323"/>
            <a:ext cx="1531620" cy="182880"/>
          </a:xfrm>
          <a:prstGeom prst="rect">
            <a:avLst/>
          </a:prstGeom>
          <a:noFill/>
          <a:ln/>
        </p:spPr>
        <p:txBody>
          <a:bodyPr wrap="square" lIns="0" tIns="0" rIns="0" bIns="0" rtlCol="0" anchor="t"/>
          <a:lstStyle/>
          <a:p>
            <a:pPr marL="0" indent="0">
              <a:buNone/>
            </a:pPr>
            <a:r>
              <a:rPr lang="en-US" sz="800" b="0" dirty="0">
                <a:solidFill>
                  <a:srgbClr val="1B6BC0"/>
                </a:solidFill>
                <a:latin typeface="Trenda IG Text Semibold" pitchFamily="34" charset="0"/>
                <a:ea typeface="Trenda IG Text Semibold" pitchFamily="34" charset="-122"/>
                <a:cs typeface="Trenda IG Text Semibold" pitchFamily="34" charset="-120"/>
              </a:rPr>
              <a:t>Connector: auth</a:t>
            </a:r>
            <a:endParaRPr lang="en-US" sz="800" dirty="0"/>
          </a:p>
        </p:txBody>
      </p:sp>
      <p:sp>
        <p:nvSpPr>
          <p:cNvPr id="13" name="Text 10"/>
          <p:cNvSpPr txBox="1"/>
          <p:nvPr/>
        </p:nvSpPr>
        <p:spPr>
          <a:xfrm>
            <a:off x="493776" y="3143347"/>
            <a:ext cx="1531620" cy="1509919"/>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OAuth 2.0 (3LO) or API token</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Read-only scopes only</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JQL incremental pull (updated &gt;= lastSyncAt)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Cursor pagination (startAt / maxResults=100)</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429 handling: exponential backoff + Retry-After</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SHA-256 per issue payload</a:t>
            </a:r>
            <a:endParaRPr lang="en-US" sz="700" dirty="0"/>
          </a:p>
        </p:txBody>
      </p:sp>
      <p:sp>
        <p:nvSpPr>
          <p:cNvPr id="14" name="Shape 11"/>
          <p:cNvSpPr/>
          <p:nvPr/>
        </p:nvSpPr>
        <p:spPr>
          <a:xfrm>
            <a:off x="438912" y="4799570"/>
            <a:ext cx="1641348" cy="1610374"/>
          </a:xfrm>
          <a:prstGeom prst="roundRect">
            <a:avLst>
              <a:gd name="adj" fmla="val 2271"/>
            </a:avLst>
          </a:prstGeom>
          <a:solidFill>
            <a:srgbClr val="FFFFFF"/>
          </a:solidFill>
          <a:ln w="9525">
            <a:solidFill>
              <a:srgbClr val="DCE4EE"/>
            </a:solidFill>
            <a:prstDash val="solid"/>
          </a:ln>
        </p:spPr>
        <p:txBody>
          <a:bodyPr/>
          <a:lstStyle/>
          <a:p>
            <a:endParaRPr lang="en-IN"/>
          </a:p>
        </p:txBody>
      </p:sp>
      <p:sp>
        <p:nvSpPr>
          <p:cNvPr id="15" name="Text 12"/>
          <p:cNvSpPr txBox="1"/>
          <p:nvPr/>
        </p:nvSpPr>
        <p:spPr>
          <a:xfrm>
            <a:off x="493776" y="4854434"/>
            <a:ext cx="1531620" cy="182880"/>
          </a:xfrm>
          <a:prstGeom prst="rect">
            <a:avLst/>
          </a:prstGeom>
          <a:noFill/>
          <a:ln/>
        </p:spPr>
        <p:txBody>
          <a:bodyPr wrap="square" lIns="0" tIns="0" rIns="0" bIns="0" rtlCol="0" anchor="t"/>
          <a:lstStyle/>
          <a:p>
            <a:pPr marL="0" indent="0">
              <a:buNone/>
            </a:pPr>
            <a:r>
              <a:rPr lang="en-US" sz="800" b="0" dirty="0">
                <a:solidFill>
                  <a:srgbClr val="1B6BC0"/>
                </a:solidFill>
                <a:latin typeface="Trenda IG Text Semibold" pitchFamily="34" charset="0"/>
                <a:ea typeface="Trenda IG Text Semibold" pitchFamily="34" charset="-122"/>
                <a:cs typeface="Trenda IG Text Semibold" pitchFamily="34" charset="-120"/>
              </a:rPr>
              <a:t>Ingestor: parsing</a:t>
            </a:r>
            <a:endParaRPr lang="en-US" sz="800" dirty="0"/>
          </a:p>
        </p:txBody>
      </p:sp>
      <p:sp>
        <p:nvSpPr>
          <p:cNvPr id="16" name="Text 13"/>
          <p:cNvSpPr txBox="1"/>
          <p:nvPr/>
        </p:nvSpPr>
        <p:spPr>
          <a:xfrm>
            <a:off x="493776" y="5046458"/>
            <a:ext cx="1531620" cy="1308622"/>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ADF JSON parsing</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Requirement statement extraction</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Acceptance criteria (Given / When / Then)</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Capability tagging from labels &amp; components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Link graph: blocks, relates, implements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Provenance: issue key, updated, SHA-256</a:t>
            </a:r>
            <a:endParaRPr lang="en-US" sz="700" dirty="0"/>
          </a:p>
        </p:txBody>
      </p:sp>
      <p:sp>
        <p:nvSpPr>
          <p:cNvPr id="17" name="Shape 14"/>
          <p:cNvSpPr/>
          <p:nvPr/>
        </p:nvSpPr>
        <p:spPr>
          <a:xfrm>
            <a:off x="2299716" y="1024128"/>
            <a:ext cx="1787652" cy="5440680"/>
          </a:xfrm>
          <a:prstGeom prst="roundRect">
            <a:avLst>
              <a:gd name="adj" fmla="val 2558"/>
            </a:avLst>
          </a:prstGeom>
          <a:solidFill>
            <a:srgbClr val="E5F4F1"/>
          </a:solidFill>
          <a:ln w="9525">
            <a:solidFill>
              <a:srgbClr val="DCE4EE"/>
            </a:solidFill>
            <a:prstDash val="solid"/>
          </a:ln>
        </p:spPr>
        <p:txBody>
          <a:bodyPr/>
          <a:lstStyle/>
          <a:p>
            <a:endParaRPr lang="en-IN"/>
          </a:p>
        </p:txBody>
      </p:sp>
      <p:sp>
        <p:nvSpPr>
          <p:cNvPr id="18" name="Shape 15"/>
          <p:cNvSpPr/>
          <p:nvPr/>
        </p:nvSpPr>
        <p:spPr>
          <a:xfrm>
            <a:off x="2299716" y="1024128"/>
            <a:ext cx="1787652" cy="365760"/>
          </a:xfrm>
          <a:prstGeom prst="roundRect">
            <a:avLst>
              <a:gd name="adj" fmla="val 12500"/>
            </a:avLst>
          </a:prstGeom>
          <a:solidFill>
            <a:srgbClr val="0E8A7D"/>
          </a:solidFill>
          <a:ln w="12700">
            <a:solidFill>
              <a:srgbClr val="0E8A7D"/>
            </a:solidFill>
            <a:prstDash val="solid"/>
          </a:ln>
        </p:spPr>
        <p:txBody>
          <a:bodyPr/>
          <a:lstStyle/>
          <a:p>
            <a:endParaRPr lang="en-IN"/>
          </a:p>
        </p:txBody>
      </p:sp>
      <p:pic>
        <p:nvPicPr>
          <p:cNvPr id="19" name="Image 1" descr="preencoded.png"/>
          <p:cNvPicPr>
            <a:picLocks noChangeAspect="1"/>
          </p:cNvPicPr>
          <p:nvPr/>
        </p:nvPicPr>
        <p:blipFill>
          <a:blip r:embed="rId4"/>
          <a:stretch>
            <a:fillRect/>
          </a:stretch>
        </p:blipFill>
        <p:spPr>
          <a:xfrm>
            <a:off x="2427732" y="1124712"/>
            <a:ext cx="164592" cy="164592"/>
          </a:xfrm>
          <a:prstGeom prst="rect">
            <a:avLst/>
          </a:prstGeom>
        </p:spPr>
      </p:pic>
      <p:sp>
        <p:nvSpPr>
          <p:cNvPr id="20" name="Text 16"/>
          <p:cNvSpPr txBox="1"/>
          <p:nvPr/>
        </p:nvSpPr>
        <p:spPr>
          <a:xfrm>
            <a:off x="2354580" y="1024128"/>
            <a:ext cx="1677924" cy="365760"/>
          </a:xfrm>
          <a:prstGeom prst="rect">
            <a:avLst/>
          </a:prstGeom>
          <a:noFill/>
          <a:ln/>
        </p:spPr>
        <p:txBody>
          <a:bodyPr wrap="square" lIns="0" tIns="0" rIns="0" bIns="0" rtlCol="0" anchor="ctr"/>
          <a:lstStyle/>
          <a:p>
            <a:pPr marL="0" indent="0" algn="ctr">
              <a:buNone/>
            </a:pPr>
            <a:r>
              <a:rPr lang="en-US" sz="900" b="0" dirty="0">
                <a:solidFill>
                  <a:srgbClr val="FFFFFF"/>
                </a:solidFill>
                <a:latin typeface="Trenda IG Display Bold" pitchFamily="34" charset="0"/>
                <a:ea typeface="Trenda IG Display Bold" pitchFamily="34" charset="-122"/>
                <a:cs typeface="Trenda IG Display Bold" pitchFamily="34" charset="-120"/>
              </a:rPr>
              <a:t>Confluence</a:t>
            </a:r>
            <a:endParaRPr lang="en-US" sz="900" dirty="0"/>
          </a:p>
        </p:txBody>
      </p:sp>
      <p:sp>
        <p:nvSpPr>
          <p:cNvPr id="21" name="Shape 17"/>
          <p:cNvSpPr/>
          <p:nvPr/>
        </p:nvSpPr>
        <p:spPr>
          <a:xfrm>
            <a:off x="2372868" y="1463040"/>
            <a:ext cx="1641348" cy="1341979"/>
          </a:xfrm>
          <a:prstGeom prst="roundRect">
            <a:avLst>
              <a:gd name="adj" fmla="val 2726"/>
            </a:avLst>
          </a:prstGeom>
          <a:solidFill>
            <a:srgbClr val="FFFFFF"/>
          </a:solidFill>
          <a:ln w="9525">
            <a:solidFill>
              <a:srgbClr val="DCE4EE"/>
            </a:solidFill>
            <a:prstDash val="solid"/>
          </a:ln>
        </p:spPr>
        <p:txBody>
          <a:bodyPr/>
          <a:lstStyle/>
          <a:p>
            <a:endParaRPr lang="en-IN"/>
          </a:p>
        </p:txBody>
      </p:sp>
      <p:sp>
        <p:nvSpPr>
          <p:cNvPr id="22" name="Text 18"/>
          <p:cNvSpPr txBox="1"/>
          <p:nvPr/>
        </p:nvSpPr>
        <p:spPr>
          <a:xfrm>
            <a:off x="2427732" y="1517904"/>
            <a:ext cx="1531620" cy="182880"/>
          </a:xfrm>
          <a:prstGeom prst="rect">
            <a:avLst/>
          </a:prstGeom>
          <a:noFill/>
          <a:ln/>
        </p:spPr>
        <p:txBody>
          <a:bodyPr wrap="square" lIns="0" tIns="0" rIns="0" bIns="0" rtlCol="0" anchor="t"/>
          <a:lstStyle/>
          <a:p>
            <a:pPr marL="0" indent="0">
              <a:buNone/>
            </a:pPr>
            <a:r>
              <a:rPr lang="en-US" sz="800" b="0" dirty="0">
                <a:solidFill>
                  <a:srgbClr val="0E8A7D"/>
                </a:solidFill>
                <a:latin typeface="Trenda IG Text Semibold" pitchFamily="34" charset="0"/>
                <a:ea typeface="Trenda IG Text Semibold" pitchFamily="34" charset="-122"/>
                <a:cs typeface="Trenda IG Text Semibold" pitchFamily="34" charset="-120"/>
              </a:rPr>
              <a:t>Source system</a:t>
            </a:r>
            <a:endParaRPr lang="en-US" sz="800" dirty="0"/>
          </a:p>
        </p:txBody>
      </p:sp>
      <p:sp>
        <p:nvSpPr>
          <p:cNvPr id="23" name="Text 19"/>
          <p:cNvSpPr txBox="1"/>
          <p:nvPr/>
        </p:nvSpPr>
        <p:spPr>
          <a:xfrm>
            <a:off x="2427732" y="1709928"/>
            <a:ext cx="1531620" cy="1040227"/>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Functional design pages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Technical design pages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Business-rule tables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Integration diagrams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HFN / HPF &amp; credentialing runbooks</a:t>
            </a:r>
            <a:endParaRPr lang="en-US" sz="700" dirty="0"/>
          </a:p>
        </p:txBody>
      </p:sp>
      <p:sp>
        <p:nvSpPr>
          <p:cNvPr id="24" name="Shape 20"/>
          <p:cNvSpPr/>
          <p:nvPr/>
        </p:nvSpPr>
        <p:spPr>
          <a:xfrm>
            <a:off x="2372868" y="2896459"/>
            <a:ext cx="1641348" cy="1811671"/>
          </a:xfrm>
          <a:prstGeom prst="roundRect">
            <a:avLst>
              <a:gd name="adj" fmla="val 2228"/>
            </a:avLst>
          </a:prstGeom>
          <a:solidFill>
            <a:srgbClr val="FFFFFF"/>
          </a:solidFill>
          <a:ln w="9525">
            <a:solidFill>
              <a:srgbClr val="DCE4EE"/>
            </a:solidFill>
            <a:prstDash val="solid"/>
          </a:ln>
        </p:spPr>
        <p:txBody>
          <a:bodyPr/>
          <a:lstStyle/>
          <a:p>
            <a:endParaRPr lang="en-IN"/>
          </a:p>
        </p:txBody>
      </p:sp>
      <p:sp>
        <p:nvSpPr>
          <p:cNvPr id="25" name="Text 21"/>
          <p:cNvSpPr txBox="1"/>
          <p:nvPr/>
        </p:nvSpPr>
        <p:spPr>
          <a:xfrm>
            <a:off x="2427732" y="2951323"/>
            <a:ext cx="1531620" cy="182880"/>
          </a:xfrm>
          <a:prstGeom prst="rect">
            <a:avLst/>
          </a:prstGeom>
          <a:noFill/>
          <a:ln/>
        </p:spPr>
        <p:txBody>
          <a:bodyPr wrap="square" lIns="0" tIns="0" rIns="0" bIns="0" rtlCol="0" anchor="t"/>
          <a:lstStyle/>
          <a:p>
            <a:pPr marL="0" indent="0">
              <a:buNone/>
            </a:pPr>
            <a:r>
              <a:rPr lang="en-US" sz="800" b="0" dirty="0">
                <a:solidFill>
                  <a:srgbClr val="0E8A7D"/>
                </a:solidFill>
                <a:latin typeface="Trenda IG Text Semibold" pitchFamily="34" charset="0"/>
                <a:ea typeface="Trenda IG Text Semibold" pitchFamily="34" charset="-122"/>
                <a:cs typeface="Trenda IG Text Semibold" pitchFamily="34" charset="-120"/>
              </a:rPr>
              <a:t>Connector: auth</a:t>
            </a:r>
            <a:endParaRPr lang="en-US" sz="800" dirty="0"/>
          </a:p>
        </p:txBody>
      </p:sp>
      <p:sp>
        <p:nvSpPr>
          <p:cNvPr id="26" name="Text 22"/>
          <p:cNvSpPr txBox="1"/>
          <p:nvPr/>
        </p:nvSpPr>
        <p:spPr>
          <a:xfrm>
            <a:off x="2427732" y="3143347"/>
            <a:ext cx="1531620" cy="1509919"/>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PAT / API token authentication</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Space + label scoped retrieval</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Storage-format HTML (body.storage)</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Version + lastUpdated tracking (delta sync)</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Rate limiting (token bucket)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SHA-256 content hashing</a:t>
            </a:r>
            <a:endParaRPr lang="en-US" sz="700" dirty="0"/>
          </a:p>
        </p:txBody>
      </p:sp>
      <p:sp>
        <p:nvSpPr>
          <p:cNvPr id="27" name="Shape 23"/>
          <p:cNvSpPr/>
          <p:nvPr/>
        </p:nvSpPr>
        <p:spPr>
          <a:xfrm>
            <a:off x="2372868" y="4799570"/>
            <a:ext cx="1641348" cy="1610374"/>
          </a:xfrm>
          <a:prstGeom prst="roundRect">
            <a:avLst>
              <a:gd name="adj" fmla="val 2271"/>
            </a:avLst>
          </a:prstGeom>
          <a:solidFill>
            <a:srgbClr val="FFFFFF"/>
          </a:solidFill>
          <a:ln w="9525">
            <a:solidFill>
              <a:srgbClr val="DCE4EE"/>
            </a:solidFill>
            <a:prstDash val="solid"/>
          </a:ln>
        </p:spPr>
        <p:txBody>
          <a:bodyPr/>
          <a:lstStyle/>
          <a:p>
            <a:endParaRPr lang="en-IN"/>
          </a:p>
        </p:txBody>
      </p:sp>
      <p:sp>
        <p:nvSpPr>
          <p:cNvPr id="28" name="Text 24"/>
          <p:cNvSpPr txBox="1"/>
          <p:nvPr/>
        </p:nvSpPr>
        <p:spPr>
          <a:xfrm>
            <a:off x="2427732" y="4854434"/>
            <a:ext cx="1531620" cy="182880"/>
          </a:xfrm>
          <a:prstGeom prst="rect">
            <a:avLst/>
          </a:prstGeom>
          <a:noFill/>
          <a:ln/>
        </p:spPr>
        <p:txBody>
          <a:bodyPr wrap="square" lIns="0" tIns="0" rIns="0" bIns="0" rtlCol="0" anchor="t"/>
          <a:lstStyle/>
          <a:p>
            <a:pPr marL="0" indent="0">
              <a:buNone/>
            </a:pPr>
            <a:r>
              <a:rPr lang="en-US" sz="800" b="0" dirty="0">
                <a:solidFill>
                  <a:srgbClr val="0E8A7D"/>
                </a:solidFill>
                <a:latin typeface="Trenda IG Text Semibold" pitchFamily="34" charset="0"/>
                <a:ea typeface="Trenda IG Text Semibold" pitchFamily="34" charset="-122"/>
                <a:cs typeface="Trenda IG Text Semibold" pitchFamily="34" charset="-120"/>
              </a:rPr>
              <a:t>Ingestor: parsing</a:t>
            </a:r>
            <a:endParaRPr lang="en-US" sz="800" dirty="0"/>
          </a:p>
        </p:txBody>
      </p:sp>
      <p:sp>
        <p:nvSpPr>
          <p:cNvPr id="29" name="Text 25"/>
          <p:cNvSpPr txBox="1"/>
          <p:nvPr/>
        </p:nvSpPr>
        <p:spPr>
          <a:xfrm>
            <a:off x="2427732" y="5046458"/>
            <a:ext cx="1531620" cy="1308622"/>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Jsoup HTML parsing</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Section extraction: heading hierarchy H1–H4</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Table extraction: headers, rows, rule tables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Link extraction: Jira keys, Git paths, API names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Business-rule sentence extraction</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Provenance: page id, version, SHA-256</a:t>
            </a:r>
            <a:endParaRPr lang="en-US" sz="700" dirty="0"/>
          </a:p>
        </p:txBody>
      </p:sp>
      <p:sp>
        <p:nvSpPr>
          <p:cNvPr id="30" name="Shape 26"/>
          <p:cNvSpPr/>
          <p:nvPr/>
        </p:nvSpPr>
        <p:spPr>
          <a:xfrm>
            <a:off x="4233672" y="1024128"/>
            <a:ext cx="1787652" cy="5440680"/>
          </a:xfrm>
          <a:prstGeom prst="roundRect">
            <a:avLst>
              <a:gd name="adj" fmla="val 2558"/>
            </a:avLst>
          </a:prstGeom>
          <a:solidFill>
            <a:srgbClr val="F0EBFA"/>
          </a:solidFill>
          <a:ln w="9525">
            <a:solidFill>
              <a:srgbClr val="DCE4EE"/>
            </a:solidFill>
            <a:prstDash val="solid"/>
          </a:ln>
        </p:spPr>
        <p:txBody>
          <a:bodyPr/>
          <a:lstStyle/>
          <a:p>
            <a:endParaRPr lang="en-IN"/>
          </a:p>
        </p:txBody>
      </p:sp>
      <p:sp>
        <p:nvSpPr>
          <p:cNvPr id="31" name="Shape 27"/>
          <p:cNvSpPr/>
          <p:nvPr/>
        </p:nvSpPr>
        <p:spPr>
          <a:xfrm>
            <a:off x="4233672" y="1024128"/>
            <a:ext cx="1787652" cy="365760"/>
          </a:xfrm>
          <a:prstGeom prst="roundRect">
            <a:avLst>
              <a:gd name="adj" fmla="val 12500"/>
            </a:avLst>
          </a:prstGeom>
          <a:solidFill>
            <a:srgbClr val="7A4FC0"/>
          </a:solidFill>
          <a:ln w="12700">
            <a:solidFill>
              <a:srgbClr val="7A4FC0"/>
            </a:solidFill>
            <a:prstDash val="solid"/>
          </a:ln>
        </p:spPr>
        <p:txBody>
          <a:bodyPr/>
          <a:lstStyle/>
          <a:p>
            <a:endParaRPr lang="en-IN"/>
          </a:p>
        </p:txBody>
      </p:sp>
      <p:pic>
        <p:nvPicPr>
          <p:cNvPr id="32" name="Image 2" descr="preencoded.png"/>
          <p:cNvPicPr>
            <a:picLocks noChangeAspect="1"/>
          </p:cNvPicPr>
          <p:nvPr/>
        </p:nvPicPr>
        <p:blipFill>
          <a:blip r:embed="rId5"/>
          <a:stretch>
            <a:fillRect/>
          </a:stretch>
        </p:blipFill>
        <p:spPr>
          <a:xfrm>
            <a:off x="4361688" y="1124712"/>
            <a:ext cx="164592" cy="164592"/>
          </a:xfrm>
          <a:prstGeom prst="rect">
            <a:avLst/>
          </a:prstGeom>
        </p:spPr>
      </p:pic>
      <p:sp>
        <p:nvSpPr>
          <p:cNvPr id="33" name="Text 28"/>
          <p:cNvSpPr txBox="1"/>
          <p:nvPr/>
        </p:nvSpPr>
        <p:spPr>
          <a:xfrm>
            <a:off x="4288536" y="1024128"/>
            <a:ext cx="1677924" cy="365760"/>
          </a:xfrm>
          <a:prstGeom prst="rect">
            <a:avLst/>
          </a:prstGeom>
          <a:noFill/>
          <a:ln/>
        </p:spPr>
        <p:txBody>
          <a:bodyPr wrap="square" lIns="0" tIns="0" rIns="0" bIns="0" rtlCol="0" anchor="ctr"/>
          <a:lstStyle/>
          <a:p>
            <a:pPr marL="0" indent="0" algn="ctr">
              <a:buNone/>
            </a:pPr>
            <a:r>
              <a:rPr lang="en-US" sz="900" b="0" dirty="0">
                <a:solidFill>
                  <a:srgbClr val="FFFFFF"/>
                </a:solidFill>
                <a:latin typeface="Trenda IG Display Bold" pitchFamily="34" charset="0"/>
                <a:ea typeface="Trenda IG Display Bold" pitchFamily="34" charset="-122"/>
                <a:cs typeface="Trenda IG Display Bold" pitchFamily="34" charset="-120"/>
              </a:rPr>
              <a:t>Salesforce</a:t>
            </a:r>
            <a:endParaRPr lang="en-US" sz="900" dirty="0"/>
          </a:p>
        </p:txBody>
      </p:sp>
      <p:sp>
        <p:nvSpPr>
          <p:cNvPr id="34" name="Shape 29"/>
          <p:cNvSpPr/>
          <p:nvPr/>
        </p:nvSpPr>
        <p:spPr>
          <a:xfrm>
            <a:off x="4306824" y="1463040"/>
            <a:ext cx="1641348" cy="1341979"/>
          </a:xfrm>
          <a:prstGeom prst="roundRect">
            <a:avLst>
              <a:gd name="adj" fmla="val 2726"/>
            </a:avLst>
          </a:prstGeom>
          <a:solidFill>
            <a:srgbClr val="FFFFFF"/>
          </a:solidFill>
          <a:ln w="9525">
            <a:solidFill>
              <a:srgbClr val="DCE4EE"/>
            </a:solidFill>
            <a:prstDash val="solid"/>
          </a:ln>
        </p:spPr>
        <p:txBody>
          <a:bodyPr/>
          <a:lstStyle/>
          <a:p>
            <a:endParaRPr lang="en-IN"/>
          </a:p>
        </p:txBody>
      </p:sp>
      <p:sp>
        <p:nvSpPr>
          <p:cNvPr id="35" name="Text 30"/>
          <p:cNvSpPr txBox="1"/>
          <p:nvPr/>
        </p:nvSpPr>
        <p:spPr>
          <a:xfrm>
            <a:off x="4361688" y="1517904"/>
            <a:ext cx="1531620" cy="182880"/>
          </a:xfrm>
          <a:prstGeom prst="rect">
            <a:avLst/>
          </a:prstGeom>
          <a:noFill/>
          <a:ln/>
        </p:spPr>
        <p:txBody>
          <a:bodyPr wrap="square" lIns="0" tIns="0" rIns="0" bIns="0" rtlCol="0" anchor="t"/>
          <a:lstStyle/>
          <a:p>
            <a:pPr marL="0" indent="0">
              <a:buNone/>
            </a:pPr>
            <a:r>
              <a:rPr lang="en-US" sz="800" b="0" dirty="0">
                <a:solidFill>
                  <a:srgbClr val="7A4FC0"/>
                </a:solidFill>
                <a:latin typeface="Trenda IG Text Semibold" pitchFamily="34" charset="0"/>
                <a:ea typeface="Trenda IG Text Semibold" pitchFamily="34" charset="-122"/>
                <a:cs typeface="Trenda IG Text Semibold" pitchFamily="34" charset="-120"/>
              </a:rPr>
              <a:t>Source system</a:t>
            </a:r>
            <a:endParaRPr lang="en-US" sz="800" dirty="0"/>
          </a:p>
        </p:txBody>
      </p:sp>
      <p:sp>
        <p:nvSpPr>
          <p:cNvPr id="36" name="Text 31"/>
          <p:cNvSpPr txBox="1"/>
          <p:nvPr/>
        </p:nvSpPr>
        <p:spPr>
          <a:xfrm>
            <a:off x="4361688" y="1709928"/>
            <a:ext cx="1531620" cy="1040227"/>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HCP / Account, Healthcare Facility</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HPF, HFN, CPA / Fee Schedule</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Fields, record types, relationships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Flows, validation rules, Apex</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LWC, permission sets, sharing</a:t>
            </a:r>
            <a:endParaRPr lang="en-US" sz="700" dirty="0"/>
          </a:p>
        </p:txBody>
      </p:sp>
      <p:sp>
        <p:nvSpPr>
          <p:cNvPr id="37" name="Shape 32"/>
          <p:cNvSpPr/>
          <p:nvPr/>
        </p:nvSpPr>
        <p:spPr>
          <a:xfrm>
            <a:off x="4306824" y="2896459"/>
            <a:ext cx="1641348" cy="1811671"/>
          </a:xfrm>
          <a:prstGeom prst="roundRect">
            <a:avLst>
              <a:gd name="adj" fmla="val 2228"/>
            </a:avLst>
          </a:prstGeom>
          <a:solidFill>
            <a:srgbClr val="FFFFFF"/>
          </a:solidFill>
          <a:ln w="9525">
            <a:solidFill>
              <a:srgbClr val="DCE4EE"/>
            </a:solidFill>
            <a:prstDash val="solid"/>
          </a:ln>
        </p:spPr>
        <p:txBody>
          <a:bodyPr/>
          <a:lstStyle/>
          <a:p>
            <a:endParaRPr lang="en-IN"/>
          </a:p>
        </p:txBody>
      </p:sp>
      <p:sp>
        <p:nvSpPr>
          <p:cNvPr id="38" name="Text 33"/>
          <p:cNvSpPr txBox="1"/>
          <p:nvPr/>
        </p:nvSpPr>
        <p:spPr>
          <a:xfrm>
            <a:off x="4361688" y="2951323"/>
            <a:ext cx="1531620" cy="182880"/>
          </a:xfrm>
          <a:prstGeom prst="rect">
            <a:avLst/>
          </a:prstGeom>
          <a:noFill/>
          <a:ln/>
        </p:spPr>
        <p:txBody>
          <a:bodyPr wrap="square" lIns="0" tIns="0" rIns="0" bIns="0" rtlCol="0" anchor="t"/>
          <a:lstStyle/>
          <a:p>
            <a:pPr marL="0" indent="0">
              <a:buNone/>
            </a:pPr>
            <a:r>
              <a:rPr lang="en-US" sz="800" b="0" dirty="0">
                <a:solidFill>
                  <a:srgbClr val="7A4FC0"/>
                </a:solidFill>
                <a:latin typeface="Trenda IG Text Semibold" pitchFamily="34" charset="0"/>
                <a:ea typeface="Trenda IG Text Semibold" pitchFamily="34" charset="-122"/>
                <a:cs typeface="Trenda IG Text Semibold" pitchFamily="34" charset="-120"/>
              </a:rPr>
              <a:t>Connector: auth</a:t>
            </a:r>
            <a:endParaRPr lang="en-US" sz="800" dirty="0"/>
          </a:p>
        </p:txBody>
      </p:sp>
      <p:sp>
        <p:nvSpPr>
          <p:cNvPr id="39" name="Text 34"/>
          <p:cNvSpPr txBox="1"/>
          <p:nvPr/>
        </p:nvSpPr>
        <p:spPr>
          <a:xfrm>
            <a:off x="4361688" y="3143347"/>
            <a:ext cx="1531620" cy="1509919"/>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Connected App, JWT bearer flow</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Read-only permission set, metadata scope</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No record-data access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Tooling API + Metadata API retrieve()</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MetadataComponentDependency queries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describe() for fields &amp; relationships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SHA-256 per component body</a:t>
            </a:r>
            <a:endParaRPr lang="en-US" sz="700" dirty="0"/>
          </a:p>
        </p:txBody>
      </p:sp>
      <p:sp>
        <p:nvSpPr>
          <p:cNvPr id="40" name="Shape 35"/>
          <p:cNvSpPr/>
          <p:nvPr/>
        </p:nvSpPr>
        <p:spPr>
          <a:xfrm>
            <a:off x="4306824" y="4799570"/>
            <a:ext cx="1641348" cy="1610374"/>
          </a:xfrm>
          <a:prstGeom prst="roundRect">
            <a:avLst>
              <a:gd name="adj" fmla="val 2271"/>
            </a:avLst>
          </a:prstGeom>
          <a:solidFill>
            <a:srgbClr val="FFFFFF"/>
          </a:solidFill>
          <a:ln w="9525">
            <a:solidFill>
              <a:srgbClr val="DCE4EE"/>
            </a:solidFill>
            <a:prstDash val="solid"/>
          </a:ln>
        </p:spPr>
        <p:txBody>
          <a:bodyPr/>
          <a:lstStyle/>
          <a:p>
            <a:endParaRPr lang="en-IN"/>
          </a:p>
        </p:txBody>
      </p:sp>
      <p:sp>
        <p:nvSpPr>
          <p:cNvPr id="41" name="Text 36"/>
          <p:cNvSpPr txBox="1"/>
          <p:nvPr/>
        </p:nvSpPr>
        <p:spPr>
          <a:xfrm>
            <a:off x="4361688" y="4854434"/>
            <a:ext cx="1531620" cy="182880"/>
          </a:xfrm>
          <a:prstGeom prst="rect">
            <a:avLst/>
          </a:prstGeom>
          <a:noFill/>
          <a:ln/>
        </p:spPr>
        <p:txBody>
          <a:bodyPr wrap="square" lIns="0" tIns="0" rIns="0" bIns="0" rtlCol="0" anchor="t"/>
          <a:lstStyle/>
          <a:p>
            <a:pPr marL="0" indent="0">
              <a:buNone/>
            </a:pPr>
            <a:r>
              <a:rPr lang="en-US" sz="800" b="0" dirty="0">
                <a:solidFill>
                  <a:srgbClr val="7A4FC0"/>
                </a:solidFill>
                <a:latin typeface="Trenda IG Text Semibold" pitchFamily="34" charset="0"/>
                <a:ea typeface="Trenda IG Text Semibold" pitchFamily="34" charset="-122"/>
                <a:cs typeface="Trenda IG Text Semibold" pitchFamily="34" charset="-120"/>
              </a:rPr>
              <a:t>Ingestor: parsing</a:t>
            </a:r>
            <a:endParaRPr lang="en-US" sz="800" dirty="0"/>
          </a:p>
        </p:txBody>
      </p:sp>
      <p:sp>
        <p:nvSpPr>
          <p:cNvPr id="42" name="Text 37"/>
          <p:cNvSpPr txBox="1"/>
          <p:nvPr/>
        </p:nvSpPr>
        <p:spPr>
          <a:xfrm>
            <a:off x="4361688" y="5046458"/>
            <a:ext cx="1531620" cy="1308622"/>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describe() → objects, fields, types, rels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Flow XML: elements, decisions, record updates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Apex: classes, methods, SOQL, DML, sObjects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Triggers: object + before / after events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Validation rule formulas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Dependency API → component edges</a:t>
            </a:r>
            <a:endParaRPr lang="en-US" sz="700" dirty="0"/>
          </a:p>
        </p:txBody>
      </p:sp>
      <p:sp>
        <p:nvSpPr>
          <p:cNvPr id="43" name="Shape 38"/>
          <p:cNvSpPr/>
          <p:nvPr/>
        </p:nvSpPr>
        <p:spPr>
          <a:xfrm>
            <a:off x="6167628" y="1024128"/>
            <a:ext cx="1787652" cy="5440680"/>
          </a:xfrm>
          <a:prstGeom prst="roundRect">
            <a:avLst>
              <a:gd name="adj" fmla="val 2558"/>
            </a:avLst>
          </a:prstGeom>
          <a:solidFill>
            <a:srgbClr val="FBE9F0"/>
          </a:solidFill>
          <a:ln w="9525">
            <a:solidFill>
              <a:srgbClr val="DCE4EE"/>
            </a:solidFill>
            <a:prstDash val="solid"/>
          </a:ln>
        </p:spPr>
        <p:txBody>
          <a:bodyPr/>
          <a:lstStyle/>
          <a:p>
            <a:endParaRPr lang="en-IN"/>
          </a:p>
        </p:txBody>
      </p:sp>
      <p:sp>
        <p:nvSpPr>
          <p:cNvPr id="44" name="Shape 39"/>
          <p:cNvSpPr/>
          <p:nvPr/>
        </p:nvSpPr>
        <p:spPr>
          <a:xfrm>
            <a:off x="6167628" y="1024128"/>
            <a:ext cx="1787652" cy="365760"/>
          </a:xfrm>
          <a:prstGeom prst="roundRect">
            <a:avLst>
              <a:gd name="adj" fmla="val 12500"/>
            </a:avLst>
          </a:prstGeom>
          <a:solidFill>
            <a:srgbClr val="C2185B"/>
          </a:solidFill>
          <a:ln w="12700">
            <a:solidFill>
              <a:srgbClr val="C2185B"/>
            </a:solidFill>
            <a:prstDash val="solid"/>
          </a:ln>
        </p:spPr>
        <p:txBody>
          <a:bodyPr/>
          <a:lstStyle/>
          <a:p>
            <a:endParaRPr lang="en-IN"/>
          </a:p>
        </p:txBody>
      </p:sp>
      <p:pic>
        <p:nvPicPr>
          <p:cNvPr id="45" name="Image 3" descr="preencoded.png"/>
          <p:cNvPicPr>
            <a:picLocks noChangeAspect="1"/>
          </p:cNvPicPr>
          <p:nvPr/>
        </p:nvPicPr>
        <p:blipFill>
          <a:blip r:embed="rId6"/>
          <a:stretch>
            <a:fillRect/>
          </a:stretch>
        </p:blipFill>
        <p:spPr>
          <a:xfrm>
            <a:off x="6295644" y="1124712"/>
            <a:ext cx="164592" cy="164592"/>
          </a:xfrm>
          <a:prstGeom prst="rect">
            <a:avLst/>
          </a:prstGeom>
        </p:spPr>
      </p:pic>
      <p:sp>
        <p:nvSpPr>
          <p:cNvPr id="46" name="Text 40"/>
          <p:cNvSpPr txBox="1"/>
          <p:nvPr/>
        </p:nvSpPr>
        <p:spPr>
          <a:xfrm>
            <a:off x="6222492" y="1024128"/>
            <a:ext cx="1677924" cy="365760"/>
          </a:xfrm>
          <a:prstGeom prst="rect">
            <a:avLst/>
          </a:prstGeom>
          <a:noFill/>
          <a:ln/>
        </p:spPr>
        <p:txBody>
          <a:bodyPr wrap="square" lIns="0" tIns="0" rIns="0" bIns="0" rtlCol="0" anchor="ctr"/>
          <a:lstStyle/>
          <a:p>
            <a:pPr marL="0" indent="0" algn="ctr">
              <a:buNone/>
            </a:pPr>
            <a:r>
              <a:rPr lang="en-US" sz="900" b="0" dirty="0">
                <a:solidFill>
                  <a:srgbClr val="FFFFFF"/>
                </a:solidFill>
                <a:latin typeface="Trenda IG Display Bold" pitchFamily="34" charset="0"/>
                <a:ea typeface="Trenda IG Display Bold" pitchFamily="34" charset="-122"/>
                <a:cs typeface="Trenda IG Display Bold" pitchFamily="34" charset="-120"/>
              </a:rPr>
              <a:t>Git</a:t>
            </a:r>
            <a:endParaRPr lang="en-US" sz="900" dirty="0"/>
          </a:p>
        </p:txBody>
      </p:sp>
      <p:sp>
        <p:nvSpPr>
          <p:cNvPr id="47" name="Shape 41"/>
          <p:cNvSpPr/>
          <p:nvPr/>
        </p:nvSpPr>
        <p:spPr>
          <a:xfrm>
            <a:off x="6240780" y="1463040"/>
            <a:ext cx="1641348" cy="1341979"/>
          </a:xfrm>
          <a:prstGeom prst="roundRect">
            <a:avLst>
              <a:gd name="adj" fmla="val 2726"/>
            </a:avLst>
          </a:prstGeom>
          <a:solidFill>
            <a:srgbClr val="FFFFFF"/>
          </a:solidFill>
          <a:ln w="9525">
            <a:solidFill>
              <a:srgbClr val="DCE4EE"/>
            </a:solidFill>
            <a:prstDash val="solid"/>
          </a:ln>
        </p:spPr>
        <p:txBody>
          <a:bodyPr/>
          <a:lstStyle/>
          <a:p>
            <a:endParaRPr lang="en-IN"/>
          </a:p>
        </p:txBody>
      </p:sp>
      <p:sp>
        <p:nvSpPr>
          <p:cNvPr id="48" name="Text 42"/>
          <p:cNvSpPr txBox="1"/>
          <p:nvPr/>
        </p:nvSpPr>
        <p:spPr>
          <a:xfrm>
            <a:off x="6295644" y="1517904"/>
            <a:ext cx="1531620" cy="182880"/>
          </a:xfrm>
          <a:prstGeom prst="rect">
            <a:avLst/>
          </a:prstGeom>
          <a:noFill/>
          <a:ln/>
        </p:spPr>
        <p:txBody>
          <a:bodyPr wrap="square" lIns="0" tIns="0" rIns="0" bIns="0" rtlCol="0" anchor="t"/>
          <a:lstStyle/>
          <a:p>
            <a:pPr marL="0" indent="0">
              <a:buNone/>
            </a:pPr>
            <a:r>
              <a:rPr lang="en-US" sz="800" b="0" dirty="0">
                <a:solidFill>
                  <a:srgbClr val="C2185B"/>
                </a:solidFill>
                <a:latin typeface="Trenda IG Text Semibold" pitchFamily="34" charset="0"/>
                <a:ea typeface="Trenda IG Text Semibold" pitchFamily="34" charset="-122"/>
                <a:cs typeface="Trenda IG Text Semibold" pitchFamily="34" charset="-120"/>
              </a:rPr>
              <a:t>Source system</a:t>
            </a:r>
            <a:endParaRPr lang="en-US" sz="800" dirty="0"/>
          </a:p>
        </p:txBody>
      </p:sp>
      <p:sp>
        <p:nvSpPr>
          <p:cNvPr id="49" name="Text 43"/>
          <p:cNvSpPr txBox="1"/>
          <p:nvPr/>
        </p:nvSpPr>
        <p:spPr>
          <a:xfrm>
            <a:off x="6295644" y="1709928"/>
            <a:ext cx="1531620" cy="1040227"/>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force-app source tree</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Apex classes &amp; triggers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LWC bundles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Apex test classes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*-meta.xml metadata</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Commits, branches, tags, PRs</a:t>
            </a:r>
            <a:endParaRPr lang="en-US" sz="700" dirty="0"/>
          </a:p>
        </p:txBody>
      </p:sp>
      <p:sp>
        <p:nvSpPr>
          <p:cNvPr id="50" name="Shape 44"/>
          <p:cNvSpPr/>
          <p:nvPr/>
        </p:nvSpPr>
        <p:spPr>
          <a:xfrm>
            <a:off x="6240780" y="2896459"/>
            <a:ext cx="1641348" cy="1811671"/>
          </a:xfrm>
          <a:prstGeom prst="roundRect">
            <a:avLst>
              <a:gd name="adj" fmla="val 2228"/>
            </a:avLst>
          </a:prstGeom>
          <a:solidFill>
            <a:srgbClr val="FFFFFF"/>
          </a:solidFill>
          <a:ln w="9525">
            <a:solidFill>
              <a:srgbClr val="DCE4EE"/>
            </a:solidFill>
            <a:prstDash val="solid"/>
          </a:ln>
        </p:spPr>
        <p:txBody>
          <a:bodyPr/>
          <a:lstStyle/>
          <a:p>
            <a:endParaRPr lang="en-IN"/>
          </a:p>
        </p:txBody>
      </p:sp>
      <p:sp>
        <p:nvSpPr>
          <p:cNvPr id="51" name="Text 45"/>
          <p:cNvSpPr txBox="1"/>
          <p:nvPr/>
        </p:nvSpPr>
        <p:spPr>
          <a:xfrm>
            <a:off x="6295644" y="2951323"/>
            <a:ext cx="1531620" cy="182880"/>
          </a:xfrm>
          <a:prstGeom prst="rect">
            <a:avLst/>
          </a:prstGeom>
          <a:noFill/>
          <a:ln/>
        </p:spPr>
        <p:txBody>
          <a:bodyPr wrap="square" lIns="0" tIns="0" rIns="0" bIns="0" rtlCol="0" anchor="t"/>
          <a:lstStyle/>
          <a:p>
            <a:pPr marL="0" indent="0">
              <a:buNone/>
            </a:pPr>
            <a:r>
              <a:rPr lang="en-US" sz="800" b="0" dirty="0">
                <a:solidFill>
                  <a:srgbClr val="C2185B"/>
                </a:solidFill>
                <a:latin typeface="Trenda IG Text Semibold" pitchFamily="34" charset="0"/>
                <a:ea typeface="Trenda IG Text Semibold" pitchFamily="34" charset="-122"/>
                <a:cs typeface="Trenda IG Text Semibold" pitchFamily="34" charset="-120"/>
              </a:rPr>
              <a:t>Connector: auth</a:t>
            </a:r>
            <a:endParaRPr lang="en-US" sz="800" dirty="0"/>
          </a:p>
        </p:txBody>
      </p:sp>
      <p:sp>
        <p:nvSpPr>
          <p:cNvPr id="52" name="Text 46"/>
          <p:cNvSpPr txBox="1"/>
          <p:nvPr/>
        </p:nvSpPr>
        <p:spPr>
          <a:xfrm>
            <a:off x="6295644" y="3143347"/>
            <a:ext cx="1531620" cy="1509919"/>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SSH deploy key / read-only fine-grained PAT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Shallow clone + fetch per branch</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Branch &amp; tag traversal for release baselines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Commit SHA, author, timestamp capture</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Per-file SHA-256 + git blob SHA cross-check</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No push credentials held by the read service</a:t>
            </a:r>
            <a:endParaRPr lang="en-US" sz="700" dirty="0"/>
          </a:p>
        </p:txBody>
      </p:sp>
      <p:sp>
        <p:nvSpPr>
          <p:cNvPr id="53" name="Shape 47"/>
          <p:cNvSpPr/>
          <p:nvPr/>
        </p:nvSpPr>
        <p:spPr>
          <a:xfrm>
            <a:off x="6240780" y="4799570"/>
            <a:ext cx="1641348" cy="1610374"/>
          </a:xfrm>
          <a:prstGeom prst="roundRect">
            <a:avLst>
              <a:gd name="adj" fmla="val 2271"/>
            </a:avLst>
          </a:prstGeom>
          <a:solidFill>
            <a:srgbClr val="FFFFFF"/>
          </a:solidFill>
          <a:ln w="9525">
            <a:solidFill>
              <a:srgbClr val="DCE4EE"/>
            </a:solidFill>
            <a:prstDash val="solid"/>
          </a:ln>
        </p:spPr>
        <p:txBody>
          <a:bodyPr/>
          <a:lstStyle/>
          <a:p>
            <a:endParaRPr lang="en-IN"/>
          </a:p>
        </p:txBody>
      </p:sp>
      <p:sp>
        <p:nvSpPr>
          <p:cNvPr id="54" name="Text 48"/>
          <p:cNvSpPr txBox="1"/>
          <p:nvPr/>
        </p:nvSpPr>
        <p:spPr>
          <a:xfrm>
            <a:off x="6295644" y="4854434"/>
            <a:ext cx="1531620" cy="182880"/>
          </a:xfrm>
          <a:prstGeom prst="rect">
            <a:avLst/>
          </a:prstGeom>
          <a:noFill/>
          <a:ln/>
        </p:spPr>
        <p:txBody>
          <a:bodyPr wrap="square" lIns="0" tIns="0" rIns="0" bIns="0" rtlCol="0" anchor="t"/>
          <a:lstStyle/>
          <a:p>
            <a:pPr marL="0" indent="0">
              <a:buNone/>
            </a:pPr>
            <a:r>
              <a:rPr lang="en-US" sz="800" b="0" dirty="0">
                <a:solidFill>
                  <a:srgbClr val="C2185B"/>
                </a:solidFill>
                <a:latin typeface="Trenda IG Text Semibold" pitchFamily="34" charset="0"/>
                <a:ea typeface="Trenda IG Text Semibold" pitchFamily="34" charset="-122"/>
                <a:cs typeface="Trenda IG Text Semibold" pitchFamily="34" charset="-120"/>
              </a:rPr>
              <a:t>Ingestor: parsing</a:t>
            </a:r>
            <a:endParaRPr lang="en-US" sz="800" dirty="0"/>
          </a:p>
        </p:txBody>
      </p:sp>
      <p:sp>
        <p:nvSpPr>
          <p:cNvPr id="55" name="Text 49"/>
          <p:cNvSpPr txBox="1"/>
          <p:nvPr/>
        </p:nvSpPr>
        <p:spPr>
          <a:xfrm>
            <a:off x="6295644" y="5046458"/>
            <a:ext cx="1531620" cy="1308622"/>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SFDX source-format traversal</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Apex parsing incl. @isTest / @future</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Test class → covered class mapping</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LWC bundle parsing (js / html / meta)</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Metadata XML parsing</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Provenance: repo, branch, path, commit SHA</a:t>
            </a:r>
            <a:endParaRPr lang="en-US" sz="700" dirty="0"/>
          </a:p>
        </p:txBody>
      </p:sp>
      <p:sp>
        <p:nvSpPr>
          <p:cNvPr id="56" name="Shape 50"/>
          <p:cNvSpPr/>
          <p:nvPr/>
        </p:nvSpPr>
        <p:spPr>
          <a:xfrm>
            <a:off x="8101584" y="1024128"/>
            <a:ext cx="1787652" cy="5440680"/>
          </a:xfrm>
          <a:prstGeom prst="roundRect">
            <a:avLst>
              <a:gd name="adj" fmla="val 2558"/>
            </a:avLst>
          </a:prstGeom>
          <a:solidFill>
            <a:srgbClr val="E3F2F4"/>
          </a:solidFill>
          <a:ln w="9525">
            <a:solidFill>
              <a:srgbClr val="DCE4EE"/>
            </a:solidFill>
            <a:prstDash val="solid"/>
          </a:ln>
        </p:spPr>
        <p:txBody>
          <a:bodyPr/>
          <a:lstStyle/>
          <a:p>
            <a:endParaRPr lang="en-IN"/>
          </a:p>
        </p:txBody>
      </p:sp>
      <p:sp>
        <p:nvSpPr>
          <p:cNvPr id="57" name="Shape 51"/>
          <p:cNvSpPr/>
          <p:nvPr/>
        </p:nvSpPr>
        <p:spPr>
          <a:xfrm>
            <a:off x="8101584" y="1024128"/>
            <a:ext cx="1787652" cy="365760"/>
          </a:xfrm>
          <a:prstGeom prst="roundRect">
            <a:avLst>
              <a:gd name="adj" fmla="val 12500"/>
            </a:avLst>
          </a:prstGeom>
          <a:solidFill>
            <a:srgbClr val="00757F"/>
          </a:solidFill>
          <a:ln w="12700">
            <a:solidFill>
              <a:srgbClr val="00757F"/>
            </a:solidFill>
            <a:prstDash val="solid"/>
          </a:ln>
        </p:spPr>
        <p:txBody>
          <a:bodyPr/>
          <a:lstStyle/>
          <a:p>
            <a:endParaRPr lang="en-IN"/>
          </a:p>
        </p:txBody>
      </p:sp>
      <p:pic>
        <p:nvPicPr>
          <p:cNvPr id="58" name="Image 4" descr="preencoded.png"/>
          <p:cNvPicPr>
            <a:picLocks noChangeAspect="1"/>
          </p:cNvPicPr>
          <p:nvPr/>
        </p:nvPicPr>
        <p:blipFill>
          <a:blip r:embed="rId7"/>
          <a:stretch>
            <a:fillRect/>
          </a:stretch>
        </p:blipFill>
        <p:spPr>
          <a:xfrm>
            <a:off x="8229600" y="1124712"/>
            <a:ext cx="164592" cy="164592"/>
          </a:xfrm>
          <a:prstGeom prst="rect">
            <a:avLst/>
          </a:prstGeom>
        </p:spPr>
      </p:pic>
      <p:sp>
        <p:nvSpPr>
          <p:cNvPr id="59" name="Text 52"/>
          <p:cNvSpPr txBox="1"/>
          <p:nvPr/>
        </p:nvSpPr>
        <p:spPr>
          <a:xfrm>
            <a:off x="8156448" y="1024128"/>
            <a:ext cx="1677924" cy="365760"/>
          </a:xfrm>
          <a:prstGeom prst="rect">
            <a:avLst/>
          </a:prstGeom>
          <a:noFill/>
          <a:ln/>
        </p:spPr>
        <p:txBody>
          <a:bodyPr wrap="square" lIns="0" tIns="0" rIns="0" bIns="0" rtlCol="0" anchor="ctr"/>
          <a:lstStyle/>
          <a:p>
            <a:pPr marL="0" indent="0" algn="ctr">
              <a:buNone/>
            </a:pPr>
            <a:r>
              <a:rPr lang="en-US" sz="900" b="0" dirty="0">
                <a:solidFill>
                  <a:srgbClr val="FFFFFF"/>
                </a:solidFill>
                <a:latin typeface="Trenda IG Display Bold" pitchFamily="34" charset="0"/>
                <a:ea typeface="Trenda IG Display Bold" pitchFamily="34" charset="-122"/>
                <a:cs typeface="Trenda IG Display Bold" pitchFamily="34" charset="-120"/>
              </a:rPr>
              <a:t>Copado</a:t>
            </a:r>
            <a:endParaRPr lang="en-US" sz="900" dirty="0"/>
          </a:p>
        </p:txBody>
      </p:sp>
      <p:sp>
        <p:nvSpPr>
          <p:cNvPr id="60" name="Shape 53"/>
          <p:cNvSpPr/>
          <p:nvPr/>
        </p:nvSpPr>
        <p:spPr>
          <a:xfrm>
            <a:off x="8174736" y="1463040"/>
            <a:ext cx="1641348" cy="1341979"/>
          </a:xfrm>
          <a:prstGeom prst="roundRect">
            <a:avLst>
              <a:gd name="adj" fmla="val 2726"/>
            </a:avLst>
          </a:prstGeom>
          <a:solidFill>
            <a:srgbClr val="FFFFFF"/>
          </a:solidFill>
          <a:ln w="9525">
            <a:solidFill>
              <a:srgbClr val="DCE4EE"/>
            </a:solidFill>
            <a:prstDash val="solid"/>
          </a:ln>
        </p:spPr>
        <p:txBody>
          <a:bodyPr/>
          <a:lstStyle/>
          <a:p>
            <a:endParaRPr lang="en-IN"/>
          </a:p>
        </p:txBody>
      </p:sp>
      <p:sp>
        <p:nvSpPr>
          <p:cNvPr id="61" name="Text 54"/>
          <p:cNvSpPr txBox="1"/>
          <p:nvPr/>
        </p:nvSpPr>
        <p:spPr>
          <a:xfrm>
            <a:off x="8229600" y="1517904"/>
            <a:ext cx="1531620" cy="182880"/>
          </a:xfrm>
          <a:prstGeom prst="rect">
            <a:avLst/>
          </a:prstGeom>
          <a:noFill/>
          <a:ln/>
        </p:spPr>
        <p:txBody>
          <a:bodyPr wrap="square" lIns="0" tIns="0" rIns="0" bIns="0" rtlCol="0" anchor="t"/>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Source system</a:t>
            </a:r>
            <a:endParaRPr lang="en-US" sz="800" dirty="0"/>
          </a:p>
        </p:txBody>
      </p:sp>
      <p:sp>
        <p:nvSpPr>
          <p:cNvPr id="62" name="Text 55"/>
          <p:cNvSpPr txBox="1"/>
          <p:nvPr/>
        </p:nvSpPr>
        <p:spPr>
          <a:xfrm>
            <a:off x="8229600" y="1709928"/>
            <a:ext cx="1531620" cy="1040227"/>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User stories &amp; promotions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Deployment records &amp; validation results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Robotic testing suites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Regression test runs &amp; results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Pipeline: DEV · SIT · UAT · PREPROD · PROD</a:t>
            </a:r>
            <a:endParaRPr lang="en-US" sz="700" dirty="0"/>
          </a:p>
        </p:txBody>
      </p:sp>
      <p:sp>
        <p:nvSpPr>
          <p:cNvPr id="63" name="Shape 56"/>
          <p:cNvSpPr/>
          <p:nvPr/>
        </p:nvSpPr>
        <p:spPr>
          <a:xfrm>
            <a:off x="8174736" y="2896459"/>
            <a:ext cx="1641348" cy="1811671"/>
          </a:xfrm>
          <a:prstGeom prst="roundRect">
            <a:avLst>
              <a:gd name="adj" fmla="val 2228"/>
            </a:avLst>
          </a:prstGeom>
          <a:solidFill>
            <a:srgbClr val="FFFFFF"/>
          </a:solidFill>
          <a:ln w="9525">
            <a:solidFill>
              <a:srgbClr val="DCE4EE"/>
            </a:solidFill>
            <a:prstDash val="solid"/>
          </a:ln>
        </p:spPr>
        <p:txBody>
          <a:bodyPr/>
          <a:lstStyle/>
          <a:p>
            <a:endParaRPr lang="en-IN"/>
          </a:p>
        </p:txBody>
      </p:sp>
      <p:sp>
        <p:nvSpPr>
          <p:cNvPr id="64" name="Text 57"/>
          <p:cNvSpPr txBox="1"/>
          <p:nvPr/>
        </p:nvSpPr>
        <p:spPr>
          <a:xfrm>
            <a:off x="8229600" y="2951323"/>
            <a:ext cx="1531620" cy="182880"/>
          </a:xfrm>
          <a:prstGeom prst="rect">
            <a:avLst/>
          </a:prstGeom>
          <a:noFill/>
          <a:ln/>
        </p:spPr>
        <p:txBody>
          <a:bodyPr wrap="square" lIns="0" tIns="0" rIns="0" bIns="0" rtlCol="0" anchor="t"/>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Connector: auth</a:t>
            </a:r>
            <a:endParaRPr lang="en-US" sz="800" dirty="0"/>
          </a:p>
        </p:txBody>
      </p:sp>
      <p:sp>
        <p:nvSpPr>
          <p:cNvPr id="65" name="Text 58"/>
          <p:cNvSpPr txBox="1"/>
          <p:nvPr/>
        </p:nvSpPr>
        <p:spPr>
          <a:xfrm>
            <a:off x="8229600" y="3143347"/>
            <a:ext cx="1531620" cy="1509919"/>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OAuth 2.0 client credentials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Read-only API user</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User story + promotion pull</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Robotic + regression test results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Deployment records per environment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Pipeline stage topology</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SHA-256 per record payload</a:t>
            </a:r>
            <a:endParaRPr lang="en-US" sz="700" dirty="0"/>
          </a:p>
        </p:txBody>
      </p:sp>
      <p:sp>
        <p:nvSpPr>
          <p:cNvPr id="66" name="Shape 59"/>
          <p:cNvSpPr/>
          <p:nvPr/>
        </p:nvSpPr>
        <p:spPr>
          <a:xfrm>
            <a:off x="8174736" y="4799570"/>
            <a:ext cx="1641348" cy="1610374"/>
          </a:xfrm>
          <a:prstGeom prst="roundRect">
            <a:avLst>
              <a:gd name="adj" fmla="val 2271"/>
            </a:avLst>
          </a:prstGeom>
          <a:solidFill>
            <a:srgbClr val="FFFFFF"/>
          </a:solidFill>
          <a:ln w="9525">
            <a:solidFill>
              <a:srgbClr val="DCE4EE"/>
            </a:solidFill>
            <a:prstDash val="solid"/>
          </a:ln>
        </p:spPr>
        <p:txBody>
          <a:bodyPr/>
          <a:lstStyle/>
          <a:p>
            <a:endParaRPr lang="en-IN"/>
          </a:p>
        </p:txBody>
      </p:sp>
      <p:sp>
        <p:nvSpPr>
          <p:cNvPr id="67" name="Text 60"/>
          <p:cNvSpPr txBox="1"/>
          <p:nvPr/>
        </p:nvSpPr>
        <p:spPr>
          <a:xfrm>
            <a:off x="8229600" y="4854434"/>
            <a:ext cx="1531620" cy="182880"/>
          </a:xfrm>
          <a:prstGeom prst="rect">
            <a:avLst/>
          </a:prstGeom>
          <a:noFill/>
          <a:ln/>
        </p:spPr>
        <p:txBody>
          <a:bodyPr wrap="square" lIns="0" tIns="0" rIns="0" bIns="0" rtlCol="0" anchor="t"/>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Ingestor: parsing</a:t>
            </a:r>
            <a:endParaRPr lang="en-US" sz="800" dirty="0"/>
          </a:p>
        </p:txBody>
      </p:sp>
      <p:sp>
        <p:nvSpPr>
          <p:cNvPr id="68" name="Text 61"/>
          <p:cNvSpPr txBox="1"/>
          <p:nvPr/>
        </p:nvSpPr>
        <p:spPr>
          <a:xfrm>
            <a:off x="8229600" y="5046458"/>
            <a:ext cx="1531620" cy="1308622"/>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User story → component mapping</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Promotion &amp; deployment record parsing</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Robotic test → component mapping</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Regression results: pass / fail + evidence</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Business outcomes: HFN generated, no dup, APDH event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Provenance: story id, run id, deployment id</a:t>
            </a:r>
            <a:endParaRPr lang="en-US" sz="700" dirty="0"/>
          </a:p>
        </p:txBody>
      </p:sp>
      <p:sp>
        <p:nvSpPr>
          <p:cNvPr id="69" name="Shape 62"/>
          <p:cNvSpPr/>
          <p:nvPr/>
        </p:nvSpPr>
        <p:spPr>
          <a:xfrm>
            <a:off x="10035540" y="1024128"/>
            <a:ext cx="1787652" cy="5440680"/>
          </a:xfrm>
          <a:prstGeom prst="roundRect">
            <a:avLst>
              <a:gd name="adj" fmla="val 2558"/>
            </a:avLst>
          </a:prstGeom>
          <a:solidFill>
            <a:srgbClr val="E9F3EA"/>
          </a:solidFill>
          <a:ln w="9525">
            <a:solidFill>
              <a:srgbClr val="DCE4EE"/>
            </a:solidFill>
            <a:prstDash val="solid"/>
          </a:ln>
        </p:spPr>
        <p:txBody>
          <a:bodyPr/>
          <a:lstStyle/>
          <a:p>
            <a:endParaRPr lang="en-IN"/>
          </a:p>
        </p:txBody>
      </p:sp>
      <p:sp>
        <p:nvSpPr>
          <p:cNvPr id="70" name="Shape 63"/>
          <p:cNvSpPr/>
          <p:nvPr/>
        </p:nvSpPr>
        <p:spPr>
          <a:xfrm>
            <a:off x="10035540" y="1024128"/>
            <a:ext cx="1787652" cy="365760"/>
          </a:xfrm>
          <a:prstGeom prst="roundRect">
            <a:avLst>
              <a:gd name="adj" fmla="val 12500"/>
            </a:avLst>
          </a:prstGeom>
          <a:solidFill>
            <a:srgbClr val="2E7D32"/>
          </a:solidFill>
          <a:ln w="12700">
            <a:solidFill>
              <a:srgbClr val="2E7D32"/>
            </a:solidFill>
            <a:prstDash val="solid"/>
          </a:ln>
        </p:spPr>
        <p:txBody>
          <a:bodyPr/>
          <a:lstStyle/>
          <a:p>
            <a:endParaRPr lang="en-IN"/>
          </a:p>
        </p:txBody>
      </p:sp>
      <p:pic>
        <p:nvPicPr>
          <p:cNvPr id="71" name="Image 5" descr="preencoded.png"/>
          <p:cNvPicPr>
            <a:picLocks noChangeAspect="1"/>
          </p:cNvPicPr>
          <p:nvPr/>
        </p:nvPicPr>
        <p:blipFill>
          <a:blip r:embed="rId8"/>
          <a:stretch>
            <a:fillRect/>
          </a:stretch>
        </p:blipFill>
        <p:spPr>
          <a:xfrm>
            <a:off x="10163556" y="1124712"/>
            <a:ext cx="164592" cy="164592"/>
          </a:xfrm>
          <a:prstGeom prst="rect">
            <a:avLst/>
          </a:prstGeom>
        </p:spPr>
      </p:pic>
      <p:sp>
        <p:nvSpPr>
          <p:cNvPr id="72" name="Text 64"/>
          <p:cNvSpPr txBox="1"/>
          <p:nvPr/>
        </p:nvSpPr>
        <p:spPr>
          <a:xfrm>
            <a:off x="10090404" y="1024128"/>
            <a:ext cx="1677924" cy="365760"/>
          </a:xfrm>
          <a:prstGeom prst="rect">
            <a:avLst/>
          </a:prstGeom>
          <a:noFill/>
          <a:ln/>
        </p:spPr>
        <p:txBody>
          <a:bodyPr wrap="square" lIns="0" tIns="0" rIns="0" bIns="0" rtlCol="0" anchor="ctr"/>
          <a:lstStyle/>
          <a:p>
            <a:pPr marL="0" indent="0" algn="ctr">
              <a:buNone/>
            </a:pPr>
            <a:r>
              <a:rPr lang="en-US" sz="900" b="0" dirty="0">
                <a:solidFill>
                  <a:srgbClr val="FFFFFF"/>
                </a:solidFill>
                <a:latin typeface="Trenda IG Display Bold" pitchFamily="34" charset="0"/>
                <a:ea typeface="Trenda IG Display Bold" pitchFamily="34" charset="-122"/>
                <a:cs typeface="Trenda IG Display Bold" pitchFamily="34" charset="-120"/>
              </a:rPr>
              <a:t>Google Drive</a:t>
            </a:r>
            <a:endParaRPr lang="en-US" sz="900" dirty="0"/>
          </a:p>
        </p:txBody>
      </p:sp>
      <p:sp>
        <p:nvSpPr>
          <p:cNvPr id="73" name="Shape 65"/>
          <p:cNvSpPr/>
          <p:nvPr/>
        </p:nvSpPr>
        <p:spPr>
          <a:xfrm>
            <a:off x="10108692" y="1463040"/>
            <a:ext cx="1641348" cy="1341979"/>
          </a:xfrm>
          <a:prstGeom prst="roundRect">
            <a:avLst>
              <a:gd name="adj" fmla="val 2726"/>
            </a:avLst>
          </a:prstGeom>
          <a:solidFill>
            <a:srgbClr val="FFFFFF"/>
          </a:solidFill>
          <a:ln w="9525">
            <a:solidFill>
              <a:srgbClr val="DCE4EE"/>
            </a:solidFill>
            <a:prstDash val="solid"/>
          </a:ln>
        </p:spPr>
        <p:txBody>
          <a:bodyPr/>
          <a:lstStyle/>
          <a:p>
            <a:endParaRPr lang="en-IN"/>
          </a:p>
        </p:txBody>
      </p:sp>
      <p:sp>
        <p:nvSpPr>
          <p:cNvPr id="74" name="Text 66"/>
          <p:cNvSpPr txBox="1"/>
          <p:nvPr/>
        </p:nvSpPr>
        <p:spPr>
          <a:xfrm>
            <a:off x="10163556" y="1517904"/>
            <a:ext cx="1531620" cy="182880"/>
          </a:xfrm>
          <a:prstGeom prst="rect">
            <a:avLst/>
          </a:prstGeom>
          <a:noFill/>
          <a:ln/>
        </p:spPr>
        <p:txBody>
          <a:bodyPr wrap="square" lIns="0" tIns="0" rIns="0" bIns="0" rtlCol="0" anchor="t"/>
          <a:lstStyle/>
          <a:p>
            <a:pPr marL="0" indent="0">
              <a:buNone/>
            </a:pPr>
            <a:r>
              <a:rPr lang="en-US" sz="800" b="0" dirty="0">
                <a:solidFill>
                  <a:srgbClr val="2E7D32"/>
                </a:solidFill>
                <a:latin typeface="Trenda IG Text Semibold" pitchFamily="34" charset="0"/>
                <a:ea typeface="Trenda IG Text Semibold" pitchFamily="34" charset="-122"/>
                <a:cs typeface="Trenda IG Text Semibold" pitchFamily="34" charset="-120"/>
              </a:rPr>
              <a:t>Source system</a:t>
            </a:r>
            <a:endParaRPr lang="en-US" sz="800" dirty="0"/>
          </a:p>
        </p:txBody>
      </p:sp>
      <p:sp>
        <p:nvSpPr>
          <p:cNvPr id="75" name="Text 67"/>
          <p:cNvSpPr txBox="1"/>
          <p:nvPr/>
        </p:nvSpPr>
        <p:spPr>
          <a:xfrm>
            <a:off x="10163556" y="1709928"/>
            <a:ext cx="1531620" cy="1040227"/>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Shared delivery documents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Spec &amp; field-mapping sheets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Test-data workbooks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Evidence exports &amp; sign-offs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Decision &amp; meeting notes</a:t>
            </a:r>
            <a:endParaRPr lang="en-US" sz="700" dirty="0"/>
          </a:p>
        </p:txBody>
      </p:sp>
      <p:sp>
        <p:nvSpPr>
          <p:cNvPr id="76" name="Shape 68"/>
          <p:cNvSpPr/>
          <p:nvPr/>
        </p:nvSpPr>
        <p:spPr>
          <a:xfrm>
            <a:off x="10108692" y="2896459"/>
            <a:ext cx="1641348" cy="1811671"/>
          </a:xfrm>
          <a:prstGeom prst="roundRect">
            <a:avLst>
              <a:gd name="adj" fmla="val 2228"/>
            </a:avLst>
          </a:prstGeom>
          <a:solidFill>
            <a:srgbClr val="FFFFFF"/>
          </a:solidFill>
          <a:ln w="9525">
            <a:solidFill>
              <a:srgbClr val="DCE4EE"/>
            </a:solidFill>
            <a:prstDash val="solid"/>
          </a:ln>
        </p:spPr>
        <p:txBody>
          <a:bodyPr/>
          <a:lstStyle/>
          <a:p>
            <a:endParaRPr lang="en-IN"/>
          </a:p>
        </p:txBody>
      </p:sp>
      <p:sp>
        <p:nvSpPr>
          <p:cNvPr id="77" name="Text 69"/>
          <p:cNvSpPr txBox="1"/>
          <p:nvPr/>
        </p:nvSpPr>
        <p:spPr>
          <a:xfrm>
            <a:off x="10163556" y="2951323"/>
            <a:ext cx="1531620" cy="182880"/>
          </a:xfrm>
          <a:prstGeom prst="rect">
            <a:avLst/>
          </a:prstGeom>
          <a:noFill/>
          <a:ln/>
        </p:spPr>
        <p:txBody>
          <a:bodyPr wrap="square" lIns="0" tIns="0" rIns="0" bIns="0" rtlCol="0" anchor="t"/>
          <a:lstStyle/>
          <a:p>
            <a:pPr marL="0" indent="0">
              <a:buNone/>
            </a:pPr>
            <a:r>
              <a:rPr lang="en-US" sz="800" b="0" dirty="0">
                <a:solidFill>
                  <a:srgbClr val="2E7D32"/>
                </a:solidFill>
                <a:latin typeface="Trenda IG Text Semibold" pitchFamily="34" charset="0"/>
                <a:ea typeface="Trenda IG Text Semibold" pitchFamily="34" charset="-122"/>
                <a:cs typeface="Trenda IG Text Semibold" pitchFamily="34" charset="-120"/>
              </a:rPr>
              <a:t>Connector: auth</a:t>
            </a:r>
            <a:endParaRPr lang="en-US" sz="800" dirty="0"/>
          </a:p>
        </p:txBody>
      </p:sp>
      <p:sp>
        <p:nvSpPr>
          <p:cNvPr id="78" name="Text 70"/>
          <p:cNvSpPr txBox="1"/>
          <p:nvPr/>
        </p:nvSpPr>
        <p:spPr>
          <a:xfrm>
            <a:off x="10163556" y="3143347"/>
            <a:ext cx="1531620" cy="1509919"/>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OAuth 2.0 service account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Drive API v3, shared-drive scoped</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files.list + files.export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Docs / Sheets exported to text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Change-token delta sync</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SHA-256 per file revision</a:t>
            </a:r>
            <a:endParaRPr lang="en-US" sz="700" dirty="0"/>
          </a:p>
        </p:txBody>
      </p:sp>
      <p:sp>
        <p:nvSpPr>
          <p:cNvPr id="79" name="Shape 71"/>
          <p:cNvSpPr/>
          <p:nvPr/>
        </p:nvSpPr>
        <p:spPr>
          <a:xfrm>
            <a:off x="10108692" y="4799570"/>
            <a:ext cx="1641348" cy="1610374"/>
          </a:xfrm>
          <a:prstGeom prst="roundRect">
            <a:avLst>
              <a:gd name="adj" fmla="val 2271"/>
            </a:avLst>
          </a:prstGeom>
          <a:solidFill>
            <a:srgbClr val="FFFFFF"/>
          </a:solidFill>
          <a:ln w="9525">
            <a:solidFill>
              <a:srgbClr val="DCE4EE"/>
            </a:solidFill>
            <a:prstDash val="solid"/>
          </a:ln>
        </p:spPr>
        <p:txBody>
          <a:bodyPr/>
          <a:lstStyle/>
          <a:p>
            <a:endParaRPr lang="en-IN"/>
          </a:p>
        </p:txBody>
      </p:sp>
      <p:sp>
        <p:nvSpPr>
          <p:cNvPr id="80" name="Text 72"/>
          <p:cNvSpPr txBox="1"/>
          <p:nvPr/>
        </p:nvSpPr>
        <p:spPr>
          <a:xfrm>
            <a:off x="10163556" y="4854434"/>
            <a:ext cx="1531620" cy="182880"/>
          </a:xfrm>
          <a:prstGeom prst="rect">
            <a:avLst/>
          </a:prstGeom>
          <a:noFill/>
          <a:ln/>
        </p:spPr>
        <p:txBody>
          <a:bodyPr wrap="square" lIns="0" tIns="0" rIns="0" bIns="0" rtlCol="0" anchor="t"/>
          <a:lstStyle/>
          <a:p>
            <a:pPr marL="0" indent="0">
              <a:buNone/>
            </a:pPr>
            <a:r>
              <a:rPr lang="en-US" sz="800" b="0" dirty="0">
                <a:solidFill>
                  <a:srgbClr val="2E7D32"/>
                </a:solidFill>
                <a:latin typeface="Trenda IG Text Semibold" pitchFamily="34" charset="0"/>
                <a:ea typeface="Trenda IG Text Semibold" pitchFamily="34" charset="-122"/>
                <a:cs typeface="Trenda IG Text Semibold" pitchFamily="34" charset="-120"/>
              </a:rPr>
              <a:t>Ingestor: parsing</a:t>
            </a:r>
            <a:endParaRPr lang="en-US" sz="800" dirty="0"/>
          </a:p>
        </p:txBody>
      </p:sp>
      <p:sp>
        <p:nvSpPr>
          <p:cNvPr id="81" name="Text 73"/>
          <p:cNvSpPr txBox="1"/>
          <p:nvPr/>
        </p:nvSpPr>
        <p:spPr>
          <a:xfrm>
            <a:off x="10163556" y="5046458"/>
            <a:ext cx="1531620" cy="1308622"/>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Docs / Sheets text export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Sheet table extraction (headers, rows)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Spec → business-capability mapping</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Test-data workbook parsing</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Link extraction: Jira keys, API names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Provenance: fileId, revision, SHA-256</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365760" y="274320"/>
            <a:ext cx="11457432" cy="347472"/>
          </a:xfrm>
          <a:prstGeom prst="rect">
            <a:avLst/>
          </a:prstGeom>
          <a:noFill/>
          <a:ln/>
        </p:spPr>
        <p:txBody>
          <a:bodyPr wrap="square" lIns="0" tIns="0" rIns="0" bIns="0" rtlCol="0" anchor="ctr"/>
          <a:lstStyle/>
          <a:p>
            <a:pPr marL="0" indent="0">
              <a:buNone/>
            </a:pPr>
            <a:r>
              <a:rPr lang="en-US" sz="2000" b="0" dirty="0">
                <a:solidFill>
                  <a:srgbClr val="0E1B2E"/>
                </a:solidFill>
                <a:latin typeface="Trenda IG Display Bold" pitchFamily="34" charset="0"/>
                <a:ea typeface="Trenda IG Display Bold" pitchFamily="34" charset="-122"/>
                <a:cs typeface="Trenda IG Display Bold" pitchFamily="34" charset="-120"/>
              </a:rPr>
              <a:t>Layers 4–6 · Domain model → JSON storage → graph export</a:t>
            </a:r>
            <a:endParaRPr lang="en-US" sz="2000" dirty="0"/>
          </a:p>
        </p:txBody>
      </p:sp>
      <p:sp>
        <p:nvSpPr>
          <p:cNvPr id="3" name="Text 1"/>
          <p:cNvSpPr txBox="1"/>
          <p:nvPr/>
        </p:nvSpPr>
        <p:spPr>
          <a:xfrm>
            <a:off x="365760" y="640080"/>
            <a:ext cx="11457432" cy="219456"/>
          </a:xfrm>
          <a:prstGeom prst="rect">
            <a:avLst/>
          </a:prstGeom>
          <a:noFill/>
          <a:ln/>
        </p:spPr>
        <p:txBody>
          <a:bodyPr wrap="square" lIns="0" tIns="0" rIns="0" bIns="0" rtlCol="0" anchor="ctr"/>
          <a:lstStyle/>
          <a:p>
            <a:pPr marL="0" indent="0">
              <a:buNone/>
            </a:pPr>
            <a:r>
              <a:rPr lang="en-US" sz="950" dirty="0">
                <a:solidFill>
                  <a:srgbClr val="5C6E85"/>
                </a:solidFill>
                <a:latin typeface="Trenda IG Display" pitchFamily="34" charset="0"/>
                <a:ea typeface="Trenda IG Display" pitchFamily="34" charset="-122"/>
                <a:cs typeface="Trenda IG Display" pitchFamily="34" charset="-120"/>
              </a:rPr>
              <a:t>The unified NetworkServicesContext, the vendor-neutral JSON contract it is stored as, and the node and relationship taxonomy generated from it.</a:t>
            </a:r>
            <a:endParaRPr lang="en-US" sz="950" dirty="0"/>
          </a:p>
        </p:txBody>
      </p:sp>
      <p:sp>
        <p:nvSpPr>
          <p:cNvPr id="4" name="Shape 2"/>
          <p:cNvSpPr/>
          <p:nvPr/>
        </p:nvSpPr>
        <p:spPr>
          <a:xfrm>
            <a:off x="365760" y="1024128"/>
            <a:ext cx="3660648" cy="5440680"/>
          </a:xfrm>
          <a:prstGeom prst="roundRect">
            <a:avLst>
              <a:gd name="adj" fmla="val 1249"/>
            </a:avLst>
          </a:prstGeom>
          <a:solidFill>
            <a:srgbClr val="FBE9F0"/>
          </a:solidFill>
          <a:ln w="9525">
            <a:solidFill>
              <a:srgbClr val="DCE4EE"/>
            </a:solidFill>
            <a:prstDash val="solid"/>
          </a:ln>
        </p:spPr>
        <p:txBody>
          <a:bodyPr/>
          <a:lstStyle/>
          <a:p>
            <a:endParaRPr lang="en-IN"/>
          </a:p>
        </p:txBody>
      </p:sp>
      <p:sp>
        <p:nvSpPr>
          <p:cNvPr id="5" name="Shape 3"/>
          <p:cNvSpPr/>
          <p:nvPr/>
        </p:nvSpPr>
        <p:spPr>
          <a:xfrm>
            <a:off x="365760" y="1024128"/>
            <a:ext cx="3660648" cy="365760"/>
          </a:xfrm>
          <a:prstGeom prst="roundRect">
            <a:avLst>
              <a:gd name="adj" fmla="val 12500"/>
            </a:avLst>
          </a:prstGeom>
          <a:solidFill>
            <a:srgbClr val="C2185B"/>
          </a:solidFill>
          <a:ln w="12700">
            <a:solidFill>
              <a:srgbClr val="C2185B"/>
            </a:solidFill>
            <a:prstDash val="solid"/>
          </a:ln>
        </p:spPr>
        <p:txBody>
          <a:bodyPr/>
          <a:lstStyle/>
          <a:p>
            <a:endParaRPr lang="en-IN"/>
          </a:p>
        </p:txBody>
      </p:sp>
      <p:sp>
        <p:nvSpPr>
          <p:cNvPr id="6" name="Text 4"/>
          <p:cNvSpPr txBox="1"/>
          <p:nvPr/>
        </p:nvSpPr>
        <p:spPr>
          <a:xfrm>
            <a:off x="420624" y="1024128"/>
            <a:ext cx="3550920" cy="365760"/>
          </a:xfrm>
          <a:prstGeom prst="rect">
            <a:avLst/>
          </a:prstGeom>
          <a:noFill/>
          <a:ln/>
        </p:spPr>
        <p:txBody>
          <a:bodyPr wrap="square" lIns="0" tIns="0" rIns="0" bIns="0" rtlCol="0" anchor="ctr"/>
          <a:lstStyle/>
          <a:p>
            <a:pPr marL="0" indent="0" algn="ctr">
              <a:buNone/>
            </a:pPr>
            <a:r>
              <a:rPr lang="en-US" sz="900" b="0" dirty="0">
                <a:solidFill>
                  <a:srgbClr val="FFFFFF"/>
                </a:solidFill>
                <a:latin typeface="Trenda IG Display Bold" pitchFamily="34" charset="0"/>
                <a:ea typeface="Trenda IG Display Bold" pitchFamily="34" charset="-122"/>
                <a:cs typeface="Trenda IG Display Bold" pitchFamily="34" charset="-120"/>
              </a:rPr>
              <a:t>Layer 4 · NetworkServicesContext</a:t>
            </a:r>
            <a:endParaRPr lang="en-US" sz="900" dirty="0"/>
          </a:p>
        </p:txBody>
      </p:sp>
      <p:sp>
        <p:nvSpPr>
          <p:cNvPr id="7" name="Shape 5"/>
          <p:cNvSpPr/>
          <p:nvPr/>
        </p:nvSpPr>
        <p:spPr>
          <a:xfrm>
            <a:off x="438912" y="1463040"/>
            <a:ext cx="3514344" cy="821553"/>
          </a:xfrm>
          <a:prstGeom prst="roundRect">
            <a:avLst>
              <a:gd name="adj" fmla="val 4452"/>
            </a:avLst>
          </a:prstGeom>
          <a:solidFill>
            <a:srgbClr val="FFFFFF"/>
          </a:solidFill>
          <a:ln w="9525">
            <a:solidFill>
              <a:srgbClr val="DCE4EE"/>
            </a:solidFill>
            <a:prstDash val="solid"/>
          </a:ln>
        </p:spPr>
        <p:txBody>
          <a:bodyPr/>
          <a:lstStyle/>
          <a:p>
            <a:endParaRPr lang="en-IN"/>
          </a:p>
        </p:txBody>
      </p:sp>
      <p:sp>
        <p:nvSpPr>
          <p:cNvPr id="8" name="Text 6"/>
          <p:cNvSpPr txBox="1"/>
          <p:nvPr/>
        </p:nvSpPr>
        <p:spPr>
          <a:xfrm>
            <a:off x="493776" y="1517904"/>
            <a:ext cx="3404616" cy="182880"/>
          </a:xfrm>
          <a:prstGeom prst="rect">
            <a:avLst/>
          </a:prstGeom>
          <a:noFill/>
          <a:ln/>
        </p:spPr>
        <p:txBody>
          <a:bodyPr wrap="square" lIns="0" tIns="0" rIns="0" bIns="0" rtlCol="0" anchor="t"/>
          <a:lstStyle/>
          <a:p>
            <a:pPr marL="0" indent="0">
              <a:buNone/>
            </a:pPr>
            <a:r>
              <a:rPr lang="en-US" sz="800" b="0" dirty="0">
                <a:solidFill>
                  <a:srgbClr val="C2185B"/>
                </a:solidFill>
                <a:latin typeface="Trenda IG Text Semibold" pitchFamily="34" charset="0"/>
                <a:ea typeface="Trenda IG Text Semibold" pitchFamily="34" charset="-122"/>
                <a:cs typeface="Trenda IG Text Semibold" pitchFamily="34" charset="-120"/>
              </a:rPr>
              <a:t>Root object</a:t>
            </a:r>
            <a:endParaRPr lang="en-US" sz="800" dirty="0"/>
          </a:p>
        </p:txBody>
      </p:sp>
      <p:sp>
        <p:nvSpPr>
          <p:cNvPr id="9" name="Text 7"/>
          <p:cNvSpPr txBox="1"/>
          <p:nvPr/>
        </p:nvSpPr>
        <p:spPr>
          <a:xfrm>
            <a:off x="493776" y="1709928"/>
            <a:ext cx="3404616" cy="519801"/>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applicationName: "NETWORK_SERVICES"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applicationVersion, createdAt</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snapshotId: UUID of this sync run</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provenance: createdBy, derivationMethod</a:t>
            </a:r>
            <a:endParaRPr lang="en-US" sz="750" dirty="0"/>
          </a:p>
        </p:txBody>
      </p:sp>
      <p:sp>
        <p:nvSpPr>
          <p:cNvPr id="10" name="Shape 8"/>
          <p:cNvSpPr/>
          <p:nvPr/>
        </p:nvSpPr>
        <p:spPr>
          <a:xfrm>
            <a:off x="438912" y="2376033"/>
            <a:ext cx="3514344" cy="1283677"/>
          </a:xfrm>
          <a:prstGeom prst="roundRect">
            <a:avLst>
              <a:gd name="adj" fmla="val 2849"/>
            </a:avLst>
          </a:prstGeom>
          <a:solidFill>
            <a:srgbClr val="FFFFFF"/>
          </a:solidFill>
          <a:ln w="9525">
            <a:solidFill>
              <a:srgbClr val="DCE4EE"/>
            </a:solidFill>
            <a:prstDash val="solid"/>
          </a:ln>
        </p:spPr>
        <p:txBody>
          <a:bodyPr/>
          <a:lstStyle/>
          <a:p>
            <a:endParaRPr lang="en-IN"/>
          </a:p>
        </p:txBody>
      </p:sp>
      <p:sp>
        <p:nvSpPr>
          <p:cNvPr id="11" name="Text 9"/>
          <p:cNvSpPr txBox="1"/>
          <p:nvPr/>
        </p:nvSpPr>
        <p:spPr>
          <a:xfrm>
            <a:off x="493776" y="2430897"/>
            <a:ext cx="3404616" cy="182880"/>
          </a:xfrm>
          <a:prstGeom prst="rect">
            <a:avLst/>
          </a:prstGeom>
          <a:noFill/>
          <a:ln/>
        </p:spPr>
        <p:txBody>
          <a:bodyPr wrap="square" lIns="0" tIns="0" rIns="0" bIns="0" rtlCol="0" anchor="t"/>
          <a:lstStyle/>
          <a:p>
            <a:pPr marL="0" indent="0">
              <a:buNone/>
            </a:pPr>
            <a:r>
              <a:rPr lang="en-US" sz="800" b="0" dirty="0">
                <a:solidFill>
                  <a:srgbClr val="C2185B"/>
                </a:solidFill>
                <a:latin typeface="Trenda IG Text Semibold" pitchFamily="34" charset="0"/>
                <a:ea typeface="Trenda IG Text Semibold" pitchFamily="34" charset="-122"/>
                <a:cs typeface="Trenda IG Text Semibold" pitchFamily="34" charset="-120"/>
              </a:rPr>
              <a:t>requirements[] · documents[]</a:t>
            </a:r>
            <a:endParaRPr lang="en-US" sz="800" dirty="0"/>
          </a:p>
        </p:txBody>
      </p:sp>
      <p:sp>
        <p:nvSpPr>
          <p:cNvPr id="12" name="Text 10"/>
          <p:cNvSpPr txBox="1"/>
          <p:nvPr/>
        </p:nvSpPr>
        <p:spPr>
          <a:xfrm>
            <a:off x="493776" y="2622921"/>
            <a:ext cx="3404616" cy="981925"/>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requirementId, title, acceptanceCriteria[]</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businessCapability, status, riskTier</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linkedIssues / documents / components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documentId, sections[] (heading, level, tables, links)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businessRules[] with objectsReferenced[]</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sourceMetadata: system, version, contentHash</a:t>
            </a:r>
            <a:endParaRPr lang="en-US" sz="750" dirty="0"/>
          </a:p>
        </p:txBody>
      </p:sp>
      <p:sp>
        <p:nvSpPr>
          <p:cNvPr id="13" name="Shape 11"/>
          <p:cNvSpPr/>
          <p:nvPr/>
        </p:nvSpPr>
        <p:spPr>
          <a:xfrm>
            <a:off x="438912" y="3751150"/>
            <a:ext cx="3514344" cy="1386371"/>
          </a:xfrm>
          <a:prstGeom prst="roundRect">
            <a:avLst>
              <a:gd name="adj" fmla="val 2638"/>
            </a:avLst>
          </a:prstGeom>
          <a:solidFill>
            <a:srgbClr val="FFFFFF"/>
          </a:solidFill>
          <a:ln w="9525">
            <a:solidFill>
              <a:srgbClr val="DCE4EE"/>
            </a:solidFill>
            <a:prstDash val="solid"/>
          </a:ln>
        </p:spPr>
        <p:txBody>
          <a:bodyPr/>
          <a:lstStyle/>
          <a:p>
            <a:endParaRPr lang="en-IN"/>
          </a:p>
        </p:txBody>
      </p:sp>
      <p:sp>
        <p:nvSpPr>
          <p:cNvPr id="14" name="Text 12"/>
          <p:cNvSpPr txBox="1"/>
          <p:nvPr/>
        </p:nvSpPr>
        <p:spPr>
          <a:xfrm>
            <a:off x="493776" y="3806014"/>
            <a:ext cx="3404616" cy="182880"/>
          </a:xfrm>
          <a:prstGeom prst="rect">
            <a:avLst/>
          </a:prstGeom>
          <a:noFill/>
          <a:ln/>
        </p:spPr>
        <p:txBody>
          <a:bodyPr wrap="square" lIns="0" tIns="0" rIns="0" bIns="0" rtlCol="0" anchor="t"/>
          <a:lstStyle/>
          <a:p>
            <a:pPr marL="0" indent="0">
              <a:buNone/>
            </a:pPr>
            <a:r>
              <a:rPr lang="en-US" sz="800" b="0" dirty="0">
                <a:solidFill>
                  <a:srgbClr val="C2185B"/>
                </a:solidFill>
                <a:latin typeface="Trenda IG Text Semibold" pitchFamily="34" charset="0"/>
                <a:ea typeface="Trenda IG Text Semibold" pitchFamily="34" charset="-122"/>
                <a:cs typeface="Trenda IG Text Semibold" pitchFamily="34" charset="-120"/>
              </a:rPr>
              <a:t>salesforceObjects[] · automations[]</a:t>
            </a:r>
            <a:endParaRPr lang="en-US" sz="800" dirty="0"/>
          </a:p>
        </p:txBody>
      </p:sp>
      <p:sp>
        <p:nvSpPr>
          <p:cNvPr id="15" name="Text 13"/>
          <p:cNvSpPr txBox="1"/>
          <p:nvPr/>
        </p:nvSpPr>
        <p:spPr>
          <a:xfrm>
            <a:off x="493776" y="3998038"/>
            <a:ext cx="3404616" cy="1084619"/>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objectApiName, recordTypes[]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fields[]: apiName, type, required, formula, externalId</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relationships[]: lookup / master-detail</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type: FLOW | APEX_CLASS | APEX_TRIGGER | VR | LWC</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objectsTouched[], dmlOperations[], soqlQueries[]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referencedComponents[], testCoverage, riskTier</a:t>
            </a:r>
            <a:endParaRPr lang="en-US" sz="750" dirty="0"/>
          </a:p>
        </p:txBody>
      </p:sp>
      <p:sp>
        <p:nvSpPr>
          <p:cNvPr id="16" name="Shape 14"/>
          <p:cNvSpPr/>
          <p:nvPr/>
        </p:nvSpPr>
        <p:spPr>
          <a:xfrm>
            <a:off x="438912" y="5228961"/>
            <a:ext cx="3514344" cy="1180983"/>
          </a:xfrm>
          <a:prstGeom prst="roundRect">
            <a:avLst>
              <a:gd name="adj" fmla="val 3097"/>
            </a:avLst>
          </a:prstGeom>
          <a:solidFill>
            <a:srgbClr val="FFFFFF"/>
          </a:solidFill>
          <a:ln w="9525">
            <a:solidFill>
              <a:srgbClr val="DCE4EE"/>
            </a:solidFill>
            <a:prstDash val="solid"/>
          </a:ln>
        </p:spPr>
        <p:txBody>
          <a:bodyPr/>
          <a:lstStyle/>
          <a:p>
            <a:endParaRPr lang="en-IN"/>
          </a:p>
        </p:txBody>
      </p:sp>
      <p:sp>
        <p:nvSpPr>
          <p:cNvPr id="17" name="Text 15"/>
          <p:cNvSpPr txBox="1"/>
          <p:nvPr/>
        </p:nvSpPr>
        <p:spPr>
          <a:xfrm>
            <a:off x="493776" y="5283825"/>
            <a:ext cx="3404616" cy="182880"/>
          </a:xfrm>
          <a:prstGeom prst="rect">
            <a:avLst/>
          </a:prstGeom>
          <a:noFill/>
          <a:ln/>
        </p:spPr>
        <p:txBody>
          <a:bodyPr wrap="square" lIns="0" tIns="0" rIns="0" bIns="0" rtlCol="0" anchor="t"/>
          <a:lstStyle/>
          <a:p>
            <a:pPr marL="0" indent="0">
              <a:buNone/>
            </a:pPr>
            <a:r>
              <a:rPr lang="en-US" sz="800" b="0" dirty="0">
                <a:solidFill>
                  <a:srgbClr val="C2185B"/>
                </a:solidFill>
                <a:latin typeface="Trenda IG Text Semibold" pitchFamily="34" charset="0"/>
                <a:ea typeface="Trenda IG Text Semibold" pitchFamily="34" charset="-122"/>
                <a:cs typeface="Trenda IG Text Semibold" pitchFamily="34" charset="-120"/>
              </a:rPr>
              <a:t>testAssets[] · releases[] · integrations[]</a:t>
            </a:r>
            <a:endParaRPr lang="en-US" sz="800" dirty="0"/>
          </a:p>
        </p:txBody>
      </p:sp>
      <p:sp>
        <p:nvSpPr>
          <p:cNvPr id="18" name="Text 16"/>
          <p:cNvSpPr txBox="1"/>
          <p:nvPr/>
        </p:nvSpPr>
        <p:spPr>
          <a:xfrm>
            <a:off x="493776" y="5475849"/>
            <a:ext cx="3404616" cy="879231"/>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suiteId, caseId, type, assertions[], evidenceUri</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releaseId, environment, componentsDeployed[]</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APDH: Salesforce → Queueable Apex → Pub/Sub → APDH</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direction OUTBOUND, riskTier HIGH, backWrite false</a:t>
            </a:r>
            <a:endParaRPr lang="en-US" sz="750" dirty="0"/>
          </a:p>
        </p:txBody>
      </p:sp>
      <p:sp>
        <p:nvSpPr>
          <p:cNvPr id="19" name="Shape 17"/>
          <p:cNvSpPr/>
          <p:nvPr/>
        </p:nvSpPr>
        <p:spPr>
          <a:xfrm>
            <a:off x="4264152" y="1024128"/>
            <a:ext cx="3660648" cy="5440680"/>
          </a:xfrm>
          <a:prstGeom prst="roundRect">
            <a:avLst>
              <a:gd name="adj" fmla="val 1249"/>
            </a:avLst>
          </a:prstGeom>
          <a:solidFill>
            <a:srgbClr val="FDF1DE"/>
          </a:solidFill>
          <a:ln w="9525">
            <a:solidFill>
              <a:srgbClr val="DCE4EE"/>
            </a:solidFill>
            <a:prstDash val="solid"/>
          </a:ln>
        </p:spPr>
        <p:txBody>
          <a:bodyPr/>
          <a:lstStyle/>
          <a:p>
            <a:endParaRPr lang="en-IN"/>
          </a:p>
        </p:txBody>
      </p:sp>
      <p:sp>
        <p:nvSpPr>
          <p:cNvPr id="20" name="Shape 18"/>
          <p:cNvSpPr/>
          <p:nvPr/>
        </p:nvSpPr>
        <p:spPr>
          <a:xfrm>
            <a:off x="4264152" y="1024128"/>
            <a:ext cx="3660648" cy="365760"/>
          </a:xfrm>
          <a:prstGeom prst="roundRect">
            <a:avLst>
              <a:gd name="adj" fmla="val 12500"/>
            </a:avLst>
          </a:prstGeom>
          <a:solidFill>
            <a:srgbClr val="C77400"/>
          </a:solidFill>
          <a:ln w="12700">
            <a:solidFill>
              <a:srgbClr val="C77400"/>
            </a:solidFill>
            <a:prstDash val="solid"/>
          </a:ln>
        </p:spPr>
        <p:txBody>
          <a:bodyPr/>
          <a:lstStyle/>
          <a:p>
            <a:endParaRPr lang="en-IN"/>
          </a:p>
        </p:txBody>
      </p:sp>
      <p:sp>
        <p:nvSpPr>
          <p:cNvPr id="21" name="Text 19"/>
          <p:cNvSpPr txBox="1"/>
          <p:nvPr/>
        </p:nvSpPr>
        <p:spPr>
          <a:xfrm>
            <a:off x="4319016" y="1024128"/>
            <a:ext cx="3550920" cy="365760"/>
          </a:xfrm>
          <a:prstGeom prst="rect">
            <a:avLst/>
          </a:prstGeom>
          <a:noFill/>
          <a:ln/>
        </p:spPr>
        <p:txBody>
          <a:bodyPr wrap="square" lIns="0" tIns="0" rIns="0" bIns="0" rtlCol="0" anchor="ctr"/>
          <a:lstStyle/>
          <a:p>
            <a:pPr marL="0" indent="0" algn="ctr">
              <a:buNone/>
            </a:pPr>
            <a:r>
              <a:rPr lang="en-US" sz="900" b="0" dirty="0">
                <a:solidFill>
                  <a:srgbClr val="FFFFFF"/>
                </a:solidFill>
                <a:latin typeface="Trenda IG Display Bold" pitchFamily="34" charset="0"/>
                <a:ea typeface="Trenda IG Display Bold" pitchFamily="34" charset="-122"/>
                <a:cs typeface="Trenda IG Display Bold" pitchFamily="34" charset="-120"/>
              </a:rPr>
              <a:t>Layer 5 · Graph Storage (JSON)</a:t>
            </a:r>
            <a:endParaRPr lang="en-US" sz="900" dirty="0"/>
          </a:p>
        </p:txBody>
      </p:sp>
      <p:sp>
        <p:nvSpPr>
          <p:cNvPr id="22" name="Shape 20"/>
          <p:cNvSpPr/>
          <p:nvPr/>
        </p:nvSpPr>
        <p:spPr>
          <a:xfrm>
            <a:off x="4337304" y="1463040"/>
            <a:ext cx="3514344" cy="3700811"/>
          </a:xfrm>
          <a:prstGeom prst="roundRect">
            <a:avLst>
              <a:gd name="adj" fmla="val 1041"/>
            </a:avLst>
          </a:prstGeom>
          <a:solidFill>
            <a:srgbClr val="FFFFFF"/>
          </a:solidFill>
          <a:ln w="9525">
            <a:solidFill>
              <a:srgbClr val="DCE4EE"/>
            </a:solidFill>
            <a:prstDash val="solid"/>
          </a:ln>
        </p:spPr>
        <p:txBody>
          <a:bodyPr/>
          <a:lstStyle/>
          <a:p>
            <a:endParaRPr lang="en-IN"/>
          </a:p>
        </p:txBody>
      </p:sp>
      <p:sp>
        <p:nvSpPr>
          <p:cNvPr id="23" name="Text 21"/>
          <p:cNvSpPr txBox="1"/>
          <p:nvPr/>
        </p:nvSpPr>
        <p:spPr>
          <a:xfrm>
            <a:off x="4392168" y="1517904"/>
            <a:ext cx="3404616" cy="182880"/>
          </a:xfrm>
          <a:prstGeom prst="rect">
            <a:avLst/>
          </a:prstGeom>
          <a:noFill/>
          <a:ln/>
        </p:spPr>
        <p:txBody>
          <a:bodyPr wrap="square" lIns="0" tIns="0" rIns="0" bIns="0" rtlCol="0" anchor="t"/>
          <a:lstStyle/>
          <a:p>
            <a:pPr marL="0" indent="0">
              <a:buNone/>
            </a:pPr>
            <a:r>
              <a:rPr lang="en-US" sz="800" b="0" dirty="0">
                <a:solidFill>
                  <a:srgbClr val="C77400"/>
                </a:solidFill>
                <a:latin typeface="Trenda IG Text Semibold" pitchFamily="34" charset="0"/>
                <a:ea typeface="Trenda IG Text Semibold" pitchFamily="34" charset="-122"/>
                <a:cs typeface="Trenda IG Text Semibold" pitchFamily="34" charset="-120"/>
              </a:rPr>
              <a:t>network-services-context.json</a:t>
            </a:r>
            <a:endParaRPr lang="en-US" sz="800" dirty="0"/>
          </a:p>
        </p:txBody>
      </p:sp>
      <p:sp>
        <p:nvSpPr>
          <p:cNvPr id="24" name="Text 22"/>
          <p:cNvSpPr txBox="1"/>
          <p:nvPr/>
        </p:nvSpPr>
        <p:spPr>
          <a:xfrm>
            <a:off x="4392168" y="1709928"/>
            <a:ext cx="3404616" cy="3399059"/>
          </a:xfrm>
          <a:prstGeom prst="rect">
            <a:avLst/>
          </a:prstGeom>
          <a:noFill/>
          <a:ln/>
        </p:spPr>
        <p:txBody>
          <a:bodyPr wrap="square" lIns="0" tIns="0" rIns="0" bIns="0" rtlCol="0" anchor="t"/>
          <a:lstStyle/>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"version": "1.0",</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"applicationName": "NETWORK_SERVICES",</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"snapshotId": "b7f1c2e4-...",</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"exportedAt": "2026-09-09T14:30:00Z",</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"nodes": [{</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"id": "sobj:HealthcareFacility__c",</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"type": "SOBJECT",</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"name": "Healthcare Facility",</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"properties": {</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"fieldCount": 148, "automationCount": 12,</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"testCoverage": 81, "riskTier": "HIGH" },</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"sourceReferences": [{</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"sourceType": "SALESFORCE_METADATA",</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"artifactId": "01I5f000000XyZa",</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"artifactPath": "objects/...object-meta.xml",</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"artifactHash": "sha256:9f2b...c41d",</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"retrievedAt": "2026-09-09T14:28:11Z" }],</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"provenance": { "createdBy": "ai-read-service",</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"derivationMethod": "AUTOMATED" } }],</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"relationships": [{</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"id": "rel:flow-HFN_Gen-&gt;sobj-HFN__c",</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"type": "FLOW_UPDATES_SOBJECT",</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"fromNodeId": "flow:HFN_Generation",</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"toNodeId": "sobj:HFN__c",</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"origin": "FACTUAL", "status": "APPROVED",</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"confidence": 1.0,</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"sourceReferences": [ ... ],</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"metadata": { "operation": "UPDATE" } }]</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a:t>
            </a:r>
            <a:endParaRPr lang="en-US" sz="600" dirty="0"/>
          </a:p>
        </p:txBody>
      </p:sp>
      <p:sp>
        <p:nvSpPr>
          <p:cNvPr id="25" name="Shape 23"/>
          <p:cNvSpPr/>
          <p:nvPr/>
        </p:nvSpPr>
        <p:spPr>
          <a:xfrm>
            <a:off x="4337304" y="5255291"/>
            <a:ext cx="3514344" cy="1154653"/>
          </a:xfrm>
          <a:prstGeom prst="roundRect">
            <a:avLst>
              <a:gd name="adj" fmla="val 3168"/>
            </a:avLst>
          </a:prstGeom>
          <a:solidFill>
            <a:srgbClr val="FFFFFF"/>
          </a:solidFill>
          <a:ln w="9525">
            <a:solidFill>
              <a:srgbClr val="DCE4EE"/>
            </a:solidFill>
            <a:prstDash val="solid"/>
          </a:ln>
        </p:spPr>
        <p:txBody>
          <a:bodyPr/>
          <a:lstStyle/>
          <a:p>
            <a:endParaRPr lang="en-IN"/>
          </a:p>
        </p:txBody>
      </p:sp>
      <p:sp>
        <p:nvSpPr>
          <p:cNvPr id="26" name="Text 24"/>
          <p:cNvSpPr txBox="1"/>
          <p:nvPr/>
        </p:nvSpPr>
        <p:spPr>
          <a:xfrm>
            <a:off x="4392168" y="5310155"/>
            <a:ext cx="3404616" cy="182880"/>
          </a:xfrm>
          <a:prstGeom prst="rect">
            <a:avLst/>
          </a:prstGeom>
          <a:noFill/>
          <a:ln/>
        </p:spPr>
        <p:txBody>
          <a:bodyPr wrap="square" lIns="0" tIns="0" rIns="0" bIns="0" rtlCol="0" anchor="t"/>
          <a:lstStyle/>
          <a:p>
            <a:pPr marL="0" indent="0">
              <a:buNone/>
            </a:pPr>
            <a:r>
              <a:rPr lang="en-US" sz="800" b="0" dirty="0">
                <a:solidFill>
                  <a:srgbClr val="C77400"/>
                </a:solidFill>
                <a:latin typeface="Trenda IG Text Semibold" pitchFamily="34" charset="0"/>
                <a:ea typeface="Trenda IG Text Semibold" pitchFamily="34" charset="-122"/>
                <a:cs typeface="Trenda IG Text Semibold" pitchFamily="34" charset="-120"/>
              </a:rPr>
              <a:t>Storage rules</a:t>
            </a:r>
            <a:endParaRPr lang="en-US" sz="800" dirty="0"/>
          </a:p>
        </p:txBody>
      </p:sp>
      <p:sp>
        <p:nvSpPr>
          <p:cNvPr id="27" name="Text 25"/>
          <p:cNvSpPr txBox="1"/>
          <p:nvPr/>
        </p:nvSpPr>
        <p:spPr>
          <a:xfrm>
            <a:off x="4392168" y="5502179"/>
            <a:ext cx="3404616" cy="852901"/>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Read-optimized snapshot, rebuilt on each sync, never written back to a source</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Versioned per snapshotId; prior snapshots retained for diffing</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SHA-256 change detection: unchanged artifacts are skipped, not re-parsed</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Metadata and sanitized test data only, no production provider records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Encrypted at rest; readable only by the AI Read Service and Orchestrator</a:t>
            </a:r>
            <a:endParaRPr lang="en-US" sz="700" dirty="0"/>
          </a:p>
        </p:txBody>
      </p:sp>
      <p:sp>
        <p:nvSpPr>
          <p:cNvPr id="28" name="Shape 26"/>
          <p:cNvSpPr/>
          <p:nvPr/>
        </p:nvSpPr>
        <p:spPr>
          <a:xfrm>
            <a:off x="8162544" y="1024128"/>
            <a:ext cx="3660648" cy="5440680"/>
          </a:xfrm>
          <a:prstGeom prst="roundRect">
            <a:avLst>
              <a:gd name="adj" fmla="val 1249"/>
            </a:avLst>
          </a:prstGeom>
          <a:solidFill>
            <a:srgbClr val="FBEAEA"/>
          </a:solidFill>
          <a:ln w="9525">
            <a:solidFill>
              <a:srgbClr val="DCE4EE"/>
            </a:solidFill>
            <a:prstDash val="solid"/>
          </a:ln>
        </p:spPr>
        <p:txBody>
          <a:bodyPr/>
          <a:lstStyle/>
          <a:p>
            <a:endParaRPr lang="en-IN"/>
          </a:p>
        </p:txBody>
      </p:sp>
      <p:sp>
        <p:nvSpPr>
          <p:cNvPr id="29" name="Shape 27"/>
          <p:cNvSpPr/>
          <p:nvPr/>
        </p:nvSpPr>
        <p:spPr>
          <a:xfrm>
            <a:off x="8162544" y="1024128"/>
            <a:ext cx="3660648" cy="365760"/>
          </a:xfrm>
          <a:prstGeom prst="roundRect">
            <a:avLst>
              <a:gd name="adj" fmla="val 12500"/>
            </a:avLst>
          </a:prstGeom>
          <a:solidFill>
            <a:srgbClr val="C62828"/>
          </a:solidFill>
          <a:ln w="12700">
            <a:solidFill>
              <a:srgbClr val="C62828"/>
            </a:solidFill>
            <a:prstDash val="solid"/>
          </a:ln>
        </p:spPr>
        <p:txBody>
          <a:bodyPr/>
          <a:lstStyle/>
          <a:p>
            <a:endParaRPr lang="en-IN"/>
          </a:p>
        </p:txBody>
      </p:sp>
      <p:sp>
        <p:nvSpPr>
          <p:cNvPr id="30" name="Text 28"/>
          <p:cNvSpPr txBox="1"/>
          <p:nvPr/>
        </p:nvSpPr>
        <p:spPr>
          <a:xfrm>
            <a:off x="8217408" y="1024128"/>
            <a:ext cx="3550920" cy="365760"/>
          </a:xfrm>
          <a:prstGeom prst="rect">
            <a:avLst/>
          </a:prstGeom>
          <a:noFill/>
          <a:ln/>
        </p:spPr>
        <p:txBody>
          <a:bodyPr wrap="square" lIns="0" tIns="0" rIns="0" bIns="0" rtlCol="0" anchor="ctr"/>
          <a:lstStyle/>
          <a:p>
            <a:pPr marL="0" indent="0" algn="ctr">
              <a:buNone/>
            </a:pPr>
            <a:r>
              <a:rPr lang="en-US" sz="900" b="0" dirty="0">
                <a:solidFill>
                  <a:srgbClr val="FFFFFF"/>
                </a:solidFill>
                <a:latin typeface="Trenda IG Display Bold" pitchFamily="34" charset="0"/>
                <a:ea typeface="Trenda IG Display Bold" pitchFamily="34" charset="-122"/>
                <a:cs typeface="Trenda IG Display Bold" pitchFamily="34" charset="-120"/>
              </a:rPr>
              <a:t>Layer 6 · Graph Exporter</a:t>
            </a:r>
            <a:endParaRPr lang="en-US" sz="900" dirty="0"/>
          </a:p>
        </p:txBody>
      </p:sp>
      <p:sp>
        <p:nvSpPr>
          <p:cNvPr id="31" name="Shape 29"/>
          <p:cNvSpPr/>
          <p:nvPr/>
        </p:nvSpPr>
        <p:spPr>
          <a:xfrm>
            <a:off x="8235696" y="1463040"/>
            <a:ext cx="3514344" cy="1651528"/>
          </a:xfrm>
          <a:prstGeom prst="roundRect">
            <a:avLst>
              <a:gd name="adj" fmla="val 2215"/>
            </a:avLst>
          </a:prstGeom>
          <a:solidFill>
            <a:srgbClr val="FFFFFF"/>
          </a:solidFill>
          <a:ln w="9525">
            <a:solidFill>
              <a:srgbClr val="DCE4EE"/>
            </a:solidFill>
            <a:prstDash val="solid"/>
          </a:ln>
        </p:spPr>
        <p:txBody>
          <a:bodyPr/>
          <a:lstStyle/>
          <a:p>
            <a:endParaRPr lang="en-IN"/>
          </a:p>
        </p:txBody>
      </p:sp>
      <p:sp>
        <p:nvSpPr>
          <p:cNvPr id="32" name="Text 30"/>
          <p:cNvSpPr txBox="1"/>
          <p:nvPr/>
        </p:nvSpPr>
        <p:spPr>
          <a:xfrm>
            <a:off x="8290560" y="1517904"/>
            <a:ext cx="3404616" cy="182880"/>
          </a:xfrm>
          <a:prstGeom prst="rect">
            <a:avLst/>
          </a:prstGeom>
          <a:noFill/>
          <a:ln/>
        </p:spPr>
        <p:txBody>
          <a:bodyPr wrap="square" lIns="0" tIns="0" rIns="0" bIns="0" rtlCol="0" anchor="t"/>
          <a:lstStyle/>
          <a:p>
            <a:pPr marL="0" indent="0">
              <a:buNone/>
            </a:pPr>
            <a:r>
              <a:rPr lang="en-US" sz="800" b="0" dirty="0">
                <a:solidFill>
                  <a:srgbClr val="C62828"/>
                </a:solidFill>
                <a:latin typeface="Trenda IG Text Semibold" pitchFamily="34" charset="0"/>
                <a:ea typeface="Trenda IG Text Semibold" pitchFamily="34" charset="-122"/>
                <a:cs typeface="Trenda IG Text Semibold" pitchFamily="34" charset="-120"/>
              </a:rPr>
              <a:t>Node types</a:t>
            </a:r>
            <a:endParaRPr lang="en-US" sz="800" dirty="0"/>
          </a:p>
        </p:txBody>
      </p:sp>
      <p:sp>
        <p:nvSpPr>
          <p:cNvPr id="33" name="Text 31"/>
          <p:cNvSpPr txBox="1"/>
          <p:nvPr/>
        </p:nvSpPr>
        <p:spPr>
          <a:xfrm>
            <a:off x="8290560" y="1709928"/>
            <a:ext cx="3404616" cy="1349776"/>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APPLICATION · BUSINESS_CAPABILITY</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REQUIREMENT (Jira)</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DESIGN_DOCUMENT · DOCUMENT_SECTION (Confluence)</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BUSINESS_RULE</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SOBJECT · FIELD</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FLOW · APEX_CLASS · APEX_TRIGGER</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VALIDATION_RULE · LWC_COMPONENT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TEST_CASE · REPOSITORY · COMPONENT_FILE</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RELEASE · ENVIRONMENT · INTEGRATION_EVENT</a:t>
            </a:r>
            <a:endParaRPr lang="en-US" sz="700" dirty="0"/>
          </a:p>
        </p:txBody>
      </p:sp>
      <p:sp>
        <p:nvSpPr>
          <p:cNvPr id="34" name="Shape 32"/>
          <p:cNvSpPr/>
          <p:nvPr/>
        </p:nvSpPr>
        <p:spPr>
          <a:xfrm>
            <a:off x="8235696" y="3206008"/>
            <a:ext cx="3514344" cy="2032650"/>
          </a:xfrm>
          <a:prstGeom prst="roundRect">
            <a:avLst>
              <a:gd name="adj" fmla="val 1799"/>
            </a:avLst>
          </a:prstGeom>
          <a:solidFill>
            <a:srgbClr val="FFFFFF"/>
          </a:solidFill>
          <a:ln w="9525">
            <a:solidFill>
              <a:srgbClr val="DCE4EE"/>
            </a:solidFill>
            <a:prstDash val="solid"/>
          </a:ln>
        </p:spPr>
        <p:txBody>
          <a:bodyPr/>
          <a:lstStyle/>
          <a:p>
            <a:endParaRPr lang="en-IN"/>
          </a:p>
        </p:txBody>
      </p:sp>
      <p:sp>
        <p:nvSpPr>
          <p:cNvPr id="35" name="Text 33"/>
          <p:cNvSpPr txBox="1"/>
          <p:nvPr/>
        </p:nvSpPr>
        <p:spPr>
          <a:xfrm>
            <a:off x="8290560" y="3260872"/>
            <a:ext cx="3404616" cy="182880"/>
          </a:xfrm>
          <a:prstGeom prst="rect">
            <a:avLst/>
          </a:prstGeom>
          <a:noFill/>
          <a:ln/>
        </p:spPr>
        <p:txBody>
          <a:bodyPr wrap="square" lIns="0" tIns="0" rIns="0" bIns="0" rtlCol="0" anchor="t"/>
          <a:lstStyle/>
          <a:p>
            <a:pPr marL="0" indent="0">
              <a:buNone/>
            </a:pPr>
            <a:r>
              <a:rPr lang="en-US" sz="800" b="0" dirty="0">
                <a:solidFill>
                  <a:srgbClr val="C62828"/>
                </a:solidFill>
                <a:latin typeface="Trenda IG Text Semibold" pitchFamily="34" charset="0"/>
                <a:ea typeface="Trenda IG Text Semibold" pitchFamily="34" charset="-122"/>
                <a:cs typeface="Trenda IG Text Semibold" pitchFamily="34" charset="-120"/>
              </a:rPr>
              <a:t>Relationship types</a:t>
            </a:r>
            <a:endParaRPr lang="en-US" sz="800" dirty="0"/>
          </a:p>
        </p:txBody>
      </p:sp>
      <p:sp>
        <p:nvSpPr>
          <p:cNvPr id="36" name="Text 34"/>
          <p:cNvSpPr txBox="1"/>
          <p:nvPr/>
        </p:nvSpPr>
        <p:spPr>
          <a:xfrm>
            <a:off x="8290560" y="3452896"/>
            <a:ext cx="3404616" cy="1730898"/>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REQUIREMENT_TARGETS_CAPABILITY</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REQUIREMENT_SPECIFIED_BY_DOCUMENT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DOCUMENT_HAS_SECTION · SECTION_DEFINES_RULE</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RULE_CONSTRAINS_SOBJECT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SOBJECT_HAS_FIELD · SOBJECT_RELATES_TO_SOBJECT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FLOW_UPDATES_SOBJECT · APEX_REFERENCES_SOBJECT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TRIGGER_FIRES_ON_SOBJECT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COMPONENT_DEPENDS_ON_COMPONENT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TEST_COVERS_COMPONENT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REQUIREMENT_IMPLEMENTED_BY_COMPONENT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RELEASE_DEPLOYS_COMPONENT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COMPONENT_PUBLISHES_EVENT (→ APDH)</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REQUIREMENT_REUSES_COMPONENT (inferred)</a:t>
            </a:r>
            <a:endParaRPr lang="en-US" sz="700" dirty="0"/>
          </a:p>
        </p:txBody>
      </p:sp>
      <p:sp>
        <p:nvSpPr>
          <p:cNvPr id="37" name="Shape 35"/>
          <p:cNvSpPr/>
          <p:nvPr/>
        </p:nvSpPr>
        <p:spPr>
          <a:xfrm>
            <a:off x="8235696" y="5330099"/>
            <a:ext cx="3514344" cy="1079845"/>
          </a:xfrm>
          <a:prstGeom prst="roundRect">
            <a:avLst>
              <a:gd name="adj" fmla="val 3387"/>
            </a:avLst>
          </a:prstGeom>
          <a:solidFill>
            <a:srgbClr val="FFFFFF"/>
          </a:solidFill>
          <a:ln w="9525">
            <a:solidFill>
              <a:srgbClr val="DCE4EE"/>
            </a:solidFill>
            <a:prstDash val="solid"/>
          </a:ln>
        </p:spPr>
        <p:txBody>
          <a:bodyPr/>
          <a:lstStyle/>
          <a:p>
            <a:endParaRPr lang="en-IN"/>
          </a:p>
        </p:txBody>
      </p:sp>
      <p:sp>
        <p:nvSpPr>
          <p:cNvPr id="38" name="Text 36"/>
          <p:cNvSpPr txBox="1"/>
          <p:nvPr/>
        </p:nvSpPr>
        <p:spPr>
          <a:xfrm>
            <a:off x="8290560" y="5384963"/>
            <a:ext cx="3404616" cy="182880"/>
          </a:xfrm>
          <a:prstGeom prst="rect">
            <a:avLst/>
          </a:prstGeom>
          <a:noFill/>
          <a:ln/>
        </p:spPr>
        <p:txBody>
          <a:bodyPr wrap="square" lIns="0" tIns="0" rIns="0" bIns="0" rtlCol="0" anchor="t"/>
          <a:lstStyle/>
          <a:p>
            <a:pPr marL="0" indent="0">
              <a:buNone/>
            </a:pPr>
            <a:r>
              <a:rPr lang="en-US" sz="800" b="0" dirty="0">
                <a:solidFill>
                  <a:srgbClr val="C62828"/>
                </a:solidFill>
                <a:latin typeface="Trenda IG Text Semibold" pitchFamily="34" charset="0"/>
                <a:ea typeface="Trenda IG Text Semibold" pitchFamily="34" charset="-122"/>
                <a:cs typeface="Trenda IG Text Semibold" pitchFamily="34" charset="-120"/>
              </a:rPr>
              <a:t>Properties preserved</a:t>
            </a:r>
            <a:endParaRPr lang="en-US" sz="800" dirty="0"/>
          </a:p>
        </p:txBody>
      </p:sp>
      <p:sp>
        <p:nvSpPr>
          <p:cNvPr id="39" name="Text 37"/>
          <p:cNvSpPr txBox="1"/>
          <p:nvPr/>
        </p:nvSpPr>
        <p:spPr>
          <a:xfrm>
            <a:off x="8290560" y="5576987"/>
            <a:ext cx="3404616" cy="778093"/>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All metadata from the domain contexts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Provenance: createdBy, createdAt, derivationMethod</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Source references with exact locations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Confidence: 1.0 factual, &lt; 1.0 inferred</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Risk tier on components and integrations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365760" y="274320"/>
            <a:ext cx="11457432" cy="347472"/>
          </a:xfrm>
          <a:prstGeom prst="rect">
            <a:avLst/>
          </a:prstGeom>
          <a:noFill/>
          <a:ln/>
        </p:spPr>
        <p:txBody>
          <a:bodyPr wrap="square" lIns="0" tIns="0" rIns="0" bIns="0" rtlCol="0" anchor="ctr"/>
          <a:lstStyle/>
          <a:p>
            <a:pPr marL="0" indent="0">
              <a:buNone/>
            </a:pPr>
            <a:r>
              <a:rPr lang="en-US" sz="2000" b="0" dirty="0">
                <a:solidFill>
                  <a:srgbClr val="0E1B2E"/>
                </a:solidFill>
                <a:latin typeface="Trenda IG Display Bold" pitchFamily="34" charset="0"/>
                <a:ea typeface="Trenda IG Display Bold" pitchFamily="34" charset="-122"/>
                <a:cs typeface="Trenda IG Display Bold" pitchFamily="34" charset="-120"/>
              </a:rPr>
              <a:t>Layers 7–8 · Graph engine and Codex orchestration</a:t>
            </a:r>
            <a:endParaRPr lang="en-US" sz="2000" dirty="0"/>
          </a:p>
        </p:txBody>
      </p:sp>
      <p:sp>
        <p:nvSpPr>
          <p:cNvPr id="3" name="Text 1"/>
          <p:cNvSpPr txBox="1"/>
          <p:nvPr/>
        </p:nvSpPr>
        <p:spPr>
          <a:xfrm>
            <a:off x="365760" y="640080"/>
            <a:ext cx="11457432" cy="219456"/>
          </a:xfrm>
          <a:prstGeom prst="rect">
            <a:avLst/>
          </a:prstGeom>
          <a:noFill/>
          <a:ln/>
        </p:spPr>
        <p:txBody>
          <a:bodyPr wrap="square" lIns="0" tIns="0" rIns="0" bIns="0" rtlCol="0" anchor="ctr"/>
          <a:lstStyle/>
          <a:p>
            <a:pPr marL="0" indent="0">
              <a:buNone/>
            </a:pPr>
            <a:r>
              <a:rPr lang="en-US" sz="950" dirty="0">
                <a:solidFill>
                  <a:srgbClr val="5C6E85"/>
                </a:solidFill>
                <a:latin typeface="Trenda IG Display" pitchFamily="34" charset="0"/>
                <a:ea typeface="Trenda IG Display" pitchFamily="34" charset="-122"/>
                <a:cs typeface="Trenda IG Display" pitchFamily="34" charset="-120"/>
              </a:rPr>
              <a:t>How the graph is held and queried, and the tool and output contract Codex operates under.</a:t>
            </a:r>
            <a:endParaRPr lang="en-US" sz="950" dirty="0"/>
          </a:p>
        </p:txBody>
      </p:sp>
      <p:sp>
        <p:nvSpPr>
          <p:cNvPr id="4" name="Shape 2"/>
          <p:cNvSpPr/>
          <p:nvPr/>
        </p:nvSpPr>
        <p:spPr>
          <a:xfrm>
            <a:off x="365760" y="1024128"/>
            <a:ext cx="5609844" cy="5440680"/>
          </a:xfrm>
          <a:prstGeom prst="roundRect">
            <a:avLst>
              <a:gd name="adj" fmla="val 840"/>
            </a:avLst>
          </a:prstGeom>
          <a:solidFill>
            <a:srgbClr val="E9F3EA"/>
          </a:solidFill>
          <a:ln w="9525">
            <a:solidFill>
              <a:srgbClr val="DCE4EE"/>
            </a:solidFill>
            <a:prstDash val="solid"/>
          </a:ln>
        </p:spPr>
        <p:txBody>
          <a:bodyPr/>
          <a:lstStyle/>
          <a:p>
            <a:endParaRPr lang="en-IN"/>
          </a:p>
        </p:txBody>
      </p:sp>
      <p:sp>
        <p:nvSpPr>
          <p:cNvPr id="5" name="Shape 3"/>
          <p:cNvSpPr/>
          <p:nvPr/>
        </p:nvSpPr>
        <p:spPr>
          <a:xfrm>
            <a:off x="365760" y="1024128"/>
            <a:ext cx="5609844" cy="365760"/>
          </a:xfrm>
          <a:prstGeom prst="roundRect">
            <a:avLst>
              <a:gd name="adj" fmla="val 12500"/>
            </a:avLst>
          </a:prstGeom>
          <a:solidFill>
            <a:srgbClr val="2E7D32"/>
          </a:solidFill>
          <a:ln w="12700">
            <a:solidFill>
              <a:srgbClr val="2E7D32"/>
            </a:solidFill>
            <a:prstDash val="solid"/>
          </a:ln>
        </p:spPr>
        <p:txBody>
          <a:bodyPr/>
          <a:lstStyle/>
          <a:p>
            <a:endParaRPr lang="en-IN"/>
          </a:p>
        </p:txBody>
      </p:sp>
      <p:sp>
        <p:nvSpPr>
          <p:cNvPr id="6" name="Text 4"/>
          <p:cNvSpPr txBox="1"/>
          <p:nvPr/>
        </p:nvSpPr>
        <p:spPr>
          <a:xfrm>
            <a:off x="420624" y="1024128"/>
            <a:ext cx="5500116" cy="365760"/>
          </a:xfrm>
          <a:prstGeom prst="rect">
            <a:avLst/>
          </a:prstGeom>
          <a:noFill/>
          <a:ln/>
        </p:spPr>
        <p:txBody>
          <a:bodyPr wrap="square" lIns="0" tIns="0" rIns="0" bIns="0" rtlCol="0" anchor="ctr"/>
          <a:lstStyle/>
          <a:p>
            <a:pPr marL="0" indent="0" algn="ctr">
              <a:buNone/>
            </a:pPr>
            <a:r>
              <a:rPr lang="en-US" sz="900" b="0" dirty="0">
                <a:solidFill>
                  <a:srgbClr val="FFFFFF"/>
                </a:solidFill>
                <a:latin typeface="Trenda IG Display Bold" pitchFamily="34" charset="0"/>
                <a:ea typeface="Trenda IG Display Bold" pitchFamily="34" charset="-122"/>
                <a:cs typeface="Trenda IG Display Bold" pitchFamily="34" charset="-120"/>
              </a:rPr>
              <a:t>Layer 7 · Semantica ContextGraph</a:t>
            </a:r>
            <a:endParaRPr lang="en-US" sz="900" dirty="0"/>
          </a:p>
        </p:txBody>
      </p:sp>
      <p:sp>
        <p:nvSpPr>
          <p:cNvPr id="7" name="Shape 5"/>
          <p:cNvSpPr/>
          <p:nvPr/>
        </p:nvSpPr>
        <p:spPr>
          <a:xfrm>
            <a:off x="438912" y="1463040"/>
            <a:ext cx="5463540" cy="1038352"/>
          </a:xfrm>
          <a:prstGeom prst="roundRect">
            <a:avLst>
              <a:gd name="adj" fmla="val 3523"/>
            </a:avLst>
          </a:prstGeom>
          <a:solidFill>
            <a:srgbClr val="FFFFFF"/>
          </a:solidFill>
          <a:ln w="9525">
            <a:solidFill>
              <a:srgbClr val="DCE4EE"/>
            </a:solidFill>
            <a:prstDash val="solid"/>
          </a:ln>
        </p:spPr>
        <p:txBody>
          <a:bodyPr/>
          <a:lstStyle/>
          <a:p>
            <a:endParaRPr lang="en-IN"/>
          </a:p>
        </p:txBody>
      </p:sp>
      <p:sp>
        <p:nvSpPr>
          <p:cNvPr id="8" name="Text 6"/>
          <p:cNvSpPr txBox="1"/>
          <p:nvPr/>
        </p:nvSpPr>
        <p:spPr>
          <a:xfrm>
            <a:off x="493776" y="1517904"/>
            <a:ext cx="5353812" cy="182880"/>
          </a:xfrm>
          <a:prstGeom prst="rect">
            <a:avLst/>
          </a:prstGeom>
          <a:noFill/>
          <a:ln/>
        </p:spPr>
        <p:txBody>
          <a:bodyPr wrap="square" lIns="0" tIns="0" rIns="0" bIns="0" rtlCol="0" anchor="t"/>
          <a:lstStyle/>
          <a:p>
            <a:pPr marL="0" indent="0">
              <a:buNone/>
            </a:pPr>
            <a:r>
              <a:rPr lang="en-US" sz="800" b="0" dirty="0">
                <a:solidFill>
                  <a:srgbClr val="2E7D32"/>
                </a:solidFill>
                <a:latin typeface="Trenda IG Text Semibold" pitchFamily="34" charset="0"/>
                <a:ea typeface="Trenda IG Text Semibold" pitchFamily="34" charset="-122"/>
                <a:cs typeface="Trenda IG Text Semibold" pitchFamily="34" charset="-120"/>
              </a:rPr>
              <a:t>Graph data structure</a:t>
            </a:r>
            <a:endParaRPr lang="en-US" sz="800" dirty="0"/>
          </a:p>
        </p:txBody>
      </p:sp>
      <p:sp>
        <p:nvSpPr>
          <p:cNvPr id="9" name="Text 7"/>
          <p:cNvSpPr txBox="1"/>
          <p:nvPr/>
        </p:nvSpPr>
        <p:spPr>
          <a:xfrm>
            <a:off x="493776" y="1709928"/>
            <a:ext cx="5353812" cy="736600"/>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In-memory directed property graph</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Nodes with types and properties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Edges with types, weights, metadata</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Adjacency indexes per edge type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O(1) node access; type indexes</a:t>
            </a:r>
            <a:endParaRPr lang="en-US" sz="750" dirty="0"/>
          </a:p>
        </p:txBody>
      </p:sp>
      <p:sp>
        <p:nvSpPr>
          <p:cNvPr id="10" name="Shape 8"/>
          <p:cNvSpPr/>
          <p:nvPr/>
        </p:nvSpPr>
        <p:spPr>
          <a:xfrm>
            <a:off x="438912" y="2592832"/>
            <a:ext cx="5463540" cy="986434"/>
          </a:xfrm>
          <a:prstGeom prst="roundRect">
            <a:avLst>
              <a:gd name="adj" fmla="val 3708"/>
            </a:avLst>
          </a:prstGeom>
          <a:solidFill>
            <a:srgbClr val="FFFFFF"/>
          </a:solidFill>
          <a:ln w="9525">
            <a:solidFill>
              <a:srgbClr val="DCE4EE"/>
            </a:solidFill>
            <a:prstDash val="solid"/>
          </a:ln>
        </p:spPr>
        <p:txBody>
          <a:bodyPr/>
          <a:lstStyle/>
          <a:p>
            <a:endParaRPr lang="en-IN"/>
          </a:p>
        </p:txBody>
      </p:sp>
      <p:sp>
        <p:nvSpPr>
          <p:cNvPr id="11" name="Text 9"/>
          <p:cNvSpPr txBox="1"/>
          <p:nvPr/>
        </p:nvSpPr>
        <p:spPr>
          <a:xfrm>
            <a:off x="493776" y="2647696"/>
            <a:ext cx="5353812" cy="182880"/>
          </a:xfrm>
          <a:prstGeom prst="rect">
            <a:avLst/>
          </a:prstGeom>
          <a:noFill/>
          <a:ln/>
        </p:spPr>
        <p:txBody>
          <a:bodyPr wrap="square" lIns="0" tIns="0" rIns="0" bIns="0" rtlCol="0" anchor="t"/>
          <a:lstStyle/>
          <a:p>
            <a:pPr marL="0" indent="0">
              <a:buNone/>
            </a:pPr>
            <a:r>
              <a:rPr lang="en-US" sz="800" b="0" dirty="0">
                <a:solidFill>
                  <a:srgbClr val="2E7D32"/>
                </a:solidFill>
                <a:latin typeface="Trenda IG Text Semibold" pitchFamily="34" charset="0"/>
                <a:ea typeface="Trenda IG Text Semibold" pitchFamily="34" charset="-122"/>
                <a:cs typeface="Trenda IG Text Semibold" pitchFamily="34" charset="-120"/>
              </a:rPr>
              <a:t>Graph operations</a:t>
            </a:r>
            <a:endParaRPr lang="en-US" sz="800" dirty="0"/>
          </a:p>
        </p:txBody>
      </p:sp>
      <p:sp>
        <p:nvSpPr>
          <p:cNvPr id="12" name="Text 10"/>
          <p:cNvSpPr txBox="1"/>
          <p:nvPr/>
        </p:nvSpPr>
        <p:spPr>
          <a:xfrm>
            <a:off x="493776" y="2839720"/>
            <a:ext cx="5353812" cy="684682"/>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add_node(id, type, **properties)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add_edge(src, tgt, type, weight, ...)</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find_node(node_id) · has_node(node_id)</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find_nodes(node_type=...)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find_edges(edge_type=...)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retract (temporal removal)</a:t>
            </a:r>
            <a:endParaRPr lang="en-US" sz="750" dirty="0"/>
          </a:p>
        </p:txBody>
      </p:sp>
      <p:sp>
        <p:nvSpPr>
          <p:cNvPr id="13" name="Shape 11"/>
          <p:cNvSpPr/>
          <p:nvPr/>
        </p:nvSpPr>
        <p:spPr>
          <a:xfrm>
            <a:off x="438912" y="3670706"/>
            <a:ext cx="5463540" cy="1297940"/>
          </a:xfrm>
          <a:prstGeom prst="roundRect">
            <a:avLst>
              <a:gd name="adj" fmla="val 2818"/>
            </a:avLst>
          </a:prstGeom>
          <a:solidFill>
            <a:srgbClr val="FFFFFF"/>
          </a:solidFill>
          <a:ln w="9525">
            <a:solidFill>
              <a:srgbClr val="DCE4EE"/>
            </a:solidFill>
            <a:prstDash val="solid"/>
          </a:ln>
        </p:spPr>
        <p:txBody>
          <a:bodyPr/>
          <a:lstStyle/>
          <a:p>
            <a:endParaRPr lang="en-IN"/>
          </a:p>
        </p:txBody>
      </p:sp>
      <p:sp>
        <p:nvSpPr>
          <p:cNvPr id="14" name="Text 12"/>
          <p:cNvSpPr txBox="1"/>
          <p:nvPr/>
        </p:nvSpPr>
        <p:spPr>
          <a:xfrm>
            <a:off x="493776" y="3725570"/>
            <a:ext cx="5353812" cy="182880"/>
          </a:xfrm>
          <a:prstGeom prst="rect">
            <a:avLst/>
          </a:prstGeom>
          <a:noFill/>
          <a:ln/>
        </p:spPr>
        <p:txBody>
          <a:bodyPr wrap="square" lIns="0" tIns="0" rIns="0" bIns="0" rtlCol="0" anchor="t"/>
          <a:lstStyle/>
          <a:p>
            <a:pPr marL="0" indent="0">
              <a:buNone/>
            </a:pPr>
            <a:r>
              <a:rPr lang="en-US" sz="800" b="0" dirty="0">
                <a:solidFill>
                  <a:srgbClr val="2E7D32"/>
                </a:solidFill>
                <a:latin typeface="Trenda IG Text Semibold" pitchFamily="34" charset="0"/>
                <a:ea typeface="Trenda IG Text Semibold" pitchFamily="34" charset="-122"/>
                <a:cs typeface="Trenda IG Text Semibold" pitchFamily="34" charset="-120"/>
              </a:rPr>
              <a:t>Delivery-specific analysis</a:t>
            </a:r>
            <a:endParaRPr lang="en-US" sz="800" dirty="0"/>
          </a:p>
        </p:txBody>
      </p:sp>
      <p:sp>
        <p:nvSpPr>
          <p:cNvPr id="15" name="Text 13"/>
          <p:cNvSpPr txBox="1"/>
          <p:nvPr/>
        </p:nvSpPr>
        <p:spPr>
          <a:xfrm>
            <a:off x="493776" y="3917594"/>
            <a:ext cx="5353812" cy="996188"/>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blast_radius(node_id, max_hops): everything reachable from a change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reuse_candidates(capability_id): automation that already implements it</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risk_tier(component_ids) → LOW | MEDIUM | HIGH | CRITICAL</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downstream_events(component_id): APDH publishing impact</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coverage_gap(component_id): components with no covering test</a:t>
            </a:r>
            <a:endParaRPr lang="en-US" sz="750" dirty="0"/>
          </a:p>
        </p:txBody>
      </p:sp>
      <p:sp>
        <p:nvSpPr>
          <p:cNvPr id="16" name="Shape 14"/>
          <p:cNvSpPr/>
          <p:nvPr/>
        </p:nvSpPr>
        <p:spPr>
          <a:xfrm>
            <a:off x="438912" y="5060086"/>
            <a:ext cx="5463540" cy="1349858"/>
          </a:xfrm>
          <a:prstGeom prst="roundRect">
            <a:avLst>
              <a:gd name="adj" fmla="val 2710"/>
            </a:avLst>
          </a:prstGeom>
          <a:solidFill>
            <a:srgbClr val="FFFFFF"/>
          </a:solidFill>
          <a:ln w="9525">
            <a:solidFill>
              <a:srgbClr val="DCE4EE"/>
            </a:solidFill>
            <a:prstDash val="solid"/>
          </a:ln>
        </p:spPr>
        <p:txBody>
          <a:bodyPr/>
          <a:lstStyle/>
          <a:p>
            <a:endParaRPr lang="en-IN"/>
          </a:p>
        </p:txBody>
      </p:sp>
      <p:sp>
        <p:nvSpPr>
          <p:cNvPr id="17" name="Text 15"/>
          <p:cNvSpPr txBox="1"/>
          <p:nvPr/>
        </p:nvSpPr>
        <p:spPr>
          <a:xfrm>
            <a:off x="493776" y="5114950"/>
            <a:ext cx="5353812" cy="182880"/>
          </a:xfrm>
          <a:prstGeom prst="rect">
            <a:avLst/>
          </a:prstGeom>
          <a:noFill/>
          <a:ln/>
        </p:spPr>
        <p:txBody>
          <a:bodyPr wrap="square" lIns="0" tIns="0" rIns="0" bIns="0" rtlCol="0" anchor="t"/>
          <a:lstStyle/>
          <a:p>
            <a:pPr marL="0" indent="0">
              <a:buNone/>
            </a:pPr>
            <a:r>
              <a:rPr lang="en-US" sz="800" b="0" dirty="0">
                <a:solidFill>
                  <a:srgbClr val="2E7D32"/>
                </a:solidFill>
                <a:latin typeface="Trenda IG Text Semibold" pitchFamily="34" charset="0"/>
                <a:ea typeface="Trenda IG Text Semibold" pitchFamily="34" charset="-122"/>
                <a:cs typeface="Trenda IG Text Semibold" pitchFamily="34" charset="-120"/>
              </a:rPr>
              <a:t>Analytics · persistence · provenance</a:t>
            </a:r>
            <a:endParaRPr lang="en-US" sz="800" dirty="0"/>
          </a:p>
        </p:txBody>
      </p:sp>
      <p:sp>
        <p:nvSpPr>
          <p:cNvPr id="18" name="Text 16"/>
          <p:cNvSpPr txBox="1"/>
          <p:nvPr/>
        </p:nvSpPr>
        <p:spPr>
          <a:xfrm>
            <a:off x="493776" y="5306974"/>
            <a:ext cx="5353812" cy="1048106"/>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stats(): node / edge counts, type distributions, density, components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save_to_file(path) / load_from_file(path); snapshot diffing</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Query time &lt; 0.01s · ~1 MB typical · scales to 1M+ nodes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ProvenanceManager: track_entity, track_relationship,</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get_lineage(entity_id), trace_source(entity_id)</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Bi-directional provenance chains</a:t>
            </a:r>
            <a:endParaRPr lang="en-US" sz="750" dirty="0"/>
          </a:p>
        </p:txBody>
      </p:sp>
      <p:sp>
        <p:nvSpPr>
          <p:cNvPr id="19" name="Shape 17"/>
          <p:cNvSpPr/>
          <p:nvPr/>
        </p:nvSpPr>
        <p:spPr>
          <a:xfrm>
            <a:off x="6213348" y="1024128"/>
            <a:ext cx="5609844" cy="5440680"/>
          </a:xfrm>
          <a:prstGeom prst="roundRect">
            <a:avLst>
              <a:gd name="adj" fmla="val 840"/>
            </a:avLst>
          </a:prstGeom>
          <a:solidFill>
            <a:srgbClr val="E3F2F4"/>
          </a:solidFill>
          <a:ln w="9525">
            <a:solidFill>
              <a:srgbClr val="DCE4EE"/>
            </a:solidFill>
            <a:prstDash val="solid"/>
          </a:ln>
        </p:spPr>
        <p:txBody>
          <a:bodyPr/>
          <a:lstStyle/>
          <a:p>
            <a:endParaRPr lang="en-IN"/>
          </a:p>
        </p:txBody>
      </p:sp>
      <p:sp>
        <p:nvSpPr>
          <p:cNvPr id="20" name="Shape 18"/>
          <p:cNvSpPr/>
          <p:nvPr/>
        </p:nvSpPr>
        <p:spPr>
          <a:xfrm>
            <a:off x="6213348" y="1024128"/>
            <a:ext cx="5609844" cy="365760"/>
          </a:xfrm>
          <a:prstGeom prst="roundRect">
            <a:avLst>
              <a:gd name="adj" fmla="val 12500"/>
            </a:avLst>
          </a:prstGeom>
          <a:solidFill>
            <a:srgbClr val="00757F"/>
          </a:solidFill>
          <a:ln w="12700">
            <a:solidFill>
              <a:srgbClr val="00757F"/>
            </a:solidFill>
            <a:prstDash val="solid"/>
          </a:ln>
        </p:spPr>
        <p:txBody>
          <a:bodyPr/>
          <a:lstStyle/>
          <a:p>
            <a:endParaRPr lang="en-IN"/>
          </a:p>
        </p:txBody>
      </p:sp>
      <p:sp>
        <p:nvSpPr>
          <p:cNvPr id="21" name="Text 19"/>
          <p:cNvSpPr txBox="1"/>
          <p:nvPr/>
        </p:nvSpPr>
        <p:spPr>
          <a:xfrm>
            <a:off x="6268212" y="1024128"/>
            <a:ext cx="5500116" cy="365760"/>
          </a:xfrm>
          <a:prstGeom prst="rect">
            <a:avLst/>
          </a:prstGeom>
          <a:noFill/>
          <a:ln/>
        </p:spPr>
        <p:txBody>
          <a:bodyPr wrap="square" lIns="0" tIns="0" rIns="0" bIns="0" rtlCol="0" anchor="ctr"/>
          <a:lstStyle/>
          <a:p>
            <a:pPr marL="0" indent="0" algn="ctr">
              <a:buNone/>
            </a:pPr>
            <a:r>
              <a:rPr lang="en-US" sz="900" b="0" dirty="0">
                <a:solidFill>
                  <a:srgbClr val="FFFFFF"/>
                </a:solidFill>
                <a:latin typeface="Trenda IG Display Bold" pitchFamily="34" charset="0"/>
                <a:ea typeface="Trenda IG Display Bold" pitchFamily="34" charset="-122"/>
                <a:cs typeface="Trenda IG Display Bold" pitchFamily="34" charset="-120"/>
              </a:rPr>
              <a:t>Layer 8 · Adapter API + Codex</a:t>
            </a:r>
            <a:endParaRPr lang="en-US" sz="900" dirty="0"/>
          </a:p>
        </p:txBody>
      </p:sp>
      <p:sp>
        <p:nvSpPr>
          <p:cNvPr id="22" name="Shape 20"/>
          <p:cNvSpPr/>
          <p:nvPr/>
        </p:nvSpPr>
        <p:spPr>
          <a:xfrm>
            <a:off x="6286500" y="1463040"/>
            <a:ext cx="5463540" cy="1249645"/>
          </a:xfrm>
          <a:prstGeom prst="roundRect">
            <a:avLst>
              <a:gd name="adj" fmla="val 2927"/>
            </a:avLst>
          </a:prstGeom>
          <a:solidFill>
            <a:srgbClr val="FFFFFF"/>
          </a:solidFill>
          <a:ln w="9525">
            <a:solidFill>
              <a:srgbClr val="DCE4EE"/>
            </a:solidFill>
            <a:prstDash val="solid"/>
          </a:ln>
        </p:spPr>
        <p:txBody>
          <a:bodyPr/>
          <a:lstStyle/>
          <a:p>
            <a:endParaRPr lang="en-IN"/>
          </a:p>
        </p:txBody>
      </p:sp>
      <p:sp>
        <p:nvSpPr>
          <p:cNvPr id="23" name="Text 21"/>
          <p:cNvSpPr txBox="1"/>
          <p:nvPr/>
        </p:nvSpPr>
        <p:spPr>
          <a:xfrm>
            <a:off x="6341364" y="1517904"/>
            <a:ext cx="5353812" cy="182880"/>
          </a:xfrm>
          <a:prstGeom prst="rect">
            <a:avLst/>
          </a:prstGeom>
          <a:noFill/>
          <a:ln/>
        </p:spPr>
        <p:txBody>
          <a:bodyPr wrap="square" lIns="0" tIns="0" rIns="0" bIns="0" rtlCol="0" anchor="t"/>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Core query methods</a:t>
            </a:r>
            <a:endParaRPr lang="en-US" sz="800" dirty="0"/>
          </a:p>
        </p:txBody>
      </p:sp>
      <p:sp>
        <p:nvSpPr>
          <p:cNvPr id="24" name="Text 22"/>
          <p:cNvSpPr txBox="1"/>
          <p:nvPr/>
        </p:nvSpPr>
        <p:spPr>
          <a:xfrm>
            <a:off x="6341364" y="1709928"/>
            <a:ext cx="5353812" cy="947893"/>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load_from_json(path) → stats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get_node(node_id) → Node | None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get_nodes_by_type(type) → List[Node]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get_outgoing_edges(node_id, type?)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get_incoming_edges(node_id, type?)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get_neighbors(node_id, max_hops, dir)</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find_path(from_id, to_id, max_hops)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get_graph_stats() → Dict</a:t>
            </a:r>
            <a:endParaRPr lang="en-US" sz="750" dirty="0"/>
          </a:p>
        </p:txBody>
      </p:sp>
      <p:sp>
        <p:nvSpPr>
          <p:cNvPr id="25" name="Shape 23"/>
          <p:cNvSpPr/>
          <p:nvPr/>
        </p:nvSpPr>
        <p:spPr>
          <a:xfrm>
            <a:off x="6286500" y="2804125"/>
            <a:ext cx="5463540" cy="1086647"/>
          </a:xfrm>
          <a:prstGeom prst="roundRect">
            <a:avLst>
              <a:gd name="adj" fmla="val 3366"/>
            </a:avLst>
          </a:prstGeom>
          <a:solidFill>
            <a:srgbClr val="FFFFFF"/>
          </a:solidFill>
          <a:ln w="9525">
            <a:solidFill>
              <a:srgbClr val="DCE4EE"/>
            </a:solidFill>
            <a:prstDash val="solid"/>
          </a:ln>
        </p:spPr>
        <p:txBody>
          <a:bodyPr/>
          <a:lstStyle/>
          <a:p>
            <a:endParaRPr lang="en-IN"/>
          </a:p>
        </p:txBody>
      </p:sp>
      <p:sp>
        <p:nvSpPr>
          <p:cNvPr id="26" name="Text 24"/>
          <p:cNvSpPr txBox="1"/>
          <p:nvPr/>
        </p:nvSpPr>
        <p:spPr>
          <a:xfrm>
            <a:off x="6341364" y="2858989"/>
            <a:ext cx="5353812" cy="182880"/>
          </a:xfrm>
          <a:prstGeom prst="rect">
            <a:avLst/>
          </a:prstGeom>
          <a:noFill/>
          <a:ln/>
        </p:spPr>
        <p:txBody>
          <a:bodyPr wrap="square" lIns="0" tIns="0" rIns="0" bIns="0" rtlCol="0" anchor="t"/>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Delivery intelligence methods</a:t>
            </a:r>
            <a:endParaRPr lang="en-US" sz="800" dirty="0"/>
          </a:p>
        </p:txBody>
      </p:sp>
      <p:sp>
        <p:nvSpPr>
          <p:cNvPr id="27" name="Text 25"/>
          <p:cNvSpPr txBox="1"/>
          <p:nvPr/>
        </p:nvSpPr>
        <p:spPr>
          <a:xfrm>
            <a:off x="6341364" y="3051013"/>
            <a:ext cx="5353812" cy="784895"/>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analyze_impact(requirement_id) → ImpactReport</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find_reuse(capability_id) → List[Component]</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classify_risk(component_ids) → RiskTier + approver</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trace_downstream_events(component_id)</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coverage_report(component_ids)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build_context_slice(requirement_id)</a:t>
            </a:r>
            <a:endParaRPr lang="en-US" sz="750" dirty="0"/>
          </a:p>
        </p:txBody>
      </p:sp>
      <p:sp>
        <p:nvSpPr>
          <p:cNvPr id="28" name="Shape 26"/>
          <p:cNvSpPr/>
          <p:nvPr/>
        </p:nvSpPr>
        <p:spPr>
          <a:xfrm>
            <a:off x="6286500" y="3982212"/>
            <a:ext cx="5463540" cy="1086647"/>
          </a:xfrm>
          <a:prstGeom prst="roundRect">
            <a:avLst>
              <a:gd name="adj" fmla="val 3366"/>
            </a:avLst>
          </a:prstGeom>
          <a:solidFill>
            <a:srgbClr val="FFFFFF"/>
          </a:solidFill>
          <a:ln w="9525">
            <a:solidFill>
              <a:srgbClr val="DCE4EE"/>
            </a:solidFill>
            <a:prstDash val="solid"/>
          </a:ln>
        </p:spPr>
        <p:txBody>
          <a:bodyPr/>
          <a:lstStyle/>
          <a:p>
            <a:endParaRPr lang="en-IN"/>
          </a:p>
        </p:txBody>
      </p:sp>
      <p:sp>
        <p:nvSpPr>
          <p:cNvPr id="29" name="Text 27"/>
          <p:cNvSpPr txBox="1"/>
          <p:nvPr/>
        </p:nvSpPr>
        <p:spPr>
          <a:xfrm>
            <a:off x="6341364" y="4037076"/>
            <a:ext cx="5353812" cy="182880"/>
          </a:xfrm>
          <a:prstGeom prst="rect">
            <a:avLst/>
          </a:prstGeom>
          <a:noFill/>
          <a:ln/>
        </p:spPr>
        <p:txBody>
          <a:bodyPr wrap="square" lIns="0" tIns="0" rIns="0" bIns="0" rtlCol="0" anchor="t"/>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Codex tool surface</a:t>
            </a:r>
            <a:endParaRPr lang="en-US" sz="800" dirty="0"/>
          </a:p>
        </p:txBody>
      </p:sp>
      <p:sp>
        <p:nvSpPr>
          <p:cNvPr id="30" name="Text 28"/>
          <p:cNvSpPr txBox="1"/>
          <p:nvPr/>
        </p:nvSpPr>
        <p:spPr>
          <a:xfrm>
            <a:off x="6341364" y="4229100"/>
            <a:ext cx="5353812" cy="784895"/>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graph.query · graph.impact · graph.reuse · graph.provenance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git.read_file: exact source of a class, flow or test</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sf.describe: object / field / dependency detail on demand</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jira.read · copado.status</a:t>
            </a:r>
            <a:endParaRPr lang="en-US" sz="750" dirty="0"/>
          </a:p>
        </p:txBody>
      </p:sp>
      <p:sp>
        <p:nvSpPr>
          <p:cNvPr id="31" name="Shape 29"/>
          <p:cNvSpPr/>
          <p:nvPr/>
        </p:nvSpPr>
        <p:spPr>
          <a:xfrm>
            <a:off x="6286500" y="5160299"/>
            <a:ext cx="5463540" cy="1249645"/>
          </a:xfrm>
          <a:prstGeom prst="roundRect">
            <a:avLst>
              <a:gd name="adj" fmla="val 2927"/>
            </a:avLst>
          </a:prstGeom>
          <a:solidFill>
            <a:srgbClr val="FFFFFF"/>
          </a:solidFill>
          <a:ln w="9525">
            <a:solidFill>
              <a:srgbClr val="DCE4EE"/>
            </a:solidFill>
            <a:prstDash val="solid"/>
          </a:ln>
        </p:spPr>
        <p:txBody>
          <a:bodyPr/>
          <a:lstStyle/>
          <a:p>
            <a:endParaRPr lang="en-IN"/>
          </a:p>
        </p:txBody>
      </p:sp>
      <p:sp>
        <p:nvSpPr>
          <p:cNvPr id="32" name="Text 30"/>
          <p:cNvSpPr txBox="1"/>
          <p:nvPr/>
        </p:nvSpPr>
        <p:spPr>
          <a:xfrm>
            <a:off x="6341364" y="5215163"/>
            <a:ext cx="5353812" cy="182880"/>
          </a:xfrm>
          <a:prstGeom prst="rect">
            <a:avLst/>
          </a:prstGeom>
          <a:noFill/>
          <a:ln/>
        </p:spPr>
        <p:txBody>
          <a:bodyPr wrap="square" lIns="0" tIns="0" rIns="0" bIns="0" rtlCol="0" anchor="t"/>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Prompting &amp; output contract</a:t>
            </a:r>
            <a:endParaRPr lang="en-US" sz="800" dirty="0"/>
          </a:p>
        </p:txBody>
      </p:sp>
      <p:sp>
        <p:nvSpPr>
          <p:cNvPr id="33" name="Text 31"/>
          <p:cNvSpPr txBox="1"/>
          <p:nvPr/>
        </p:nvSpPr>
        <p:spPr>
          <a:xfrm>
            <a:off x="6341364" y="5407187"/>
            <a:ext cx="5353812" cy="947893"/>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Context is a bounded graph slice, not a raw org dump</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Dependencies come from the graph; the model may not invent one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Every claim cites a node id or source reference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Write path: AI Development Service, DEV + branch, post-approval</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2">
    <p:bg>
      <p:bgPr>
        <a:solidFill>
          <a:srgbClr val="F4F7FC"/>
        </a:solidFill>
        <a:effectLst/>
      </p:bgPr>
    </p:bg>
    <p:spTree>
      <p:nvGrpSpPr>
        <p:cNvPr id="1" name=""/>
        <p:cNvGrpSpPr/>
        <p:nvPr/>
      </p:nvGrpSpPr>
      <p:grpSpPr>
        <a:xfrm>
          <a:off x="0" y="0"/>
          <a:ext cx="0" cy="0"/>
          <a:chOff x="0" y="0"/>
          <a:chExt cx="0" cy="0"/>
        </a:xfrm>
      </p:grpSpPr>
      <p:sp>
        <p:nvSpPr>
          <p:cNvPr id="2" name="Text 0"/>
          <p:cNvSpPr txBox="1"/>
          <p:nvPr/>
        </p:nvSpPr>
        <p:spPr>
          <a:xfrm>
            <a:off x="365760" y="256032"/>
            <a:ext cx="11457432" cy="347472"/>
          </a:xfrm>
          <a:prstGeom prst="rect">
            <a:avLst/>
          </a:prstGeom>
          <a:noFill/>
          <a:ln/>
        </p:spPr>
        <p:txBody>
          <a:bodyPr wrap="square" lIns="0" tIns="0" rIns="0" bIns="0" rtlCol="0" anchor="ctr"/>
          <a:lstStyle/>
          <a:p>
            <a:pPr marL="0" indent="0">
              <a:buNone/>
            </a:pPr>
            <a:r>
              <a:rPr lang="en-US" sz="2000" b="0" dirty="0">
                <a:solidFill>
                  <a:srgbClr val="0E1B2E"/>
                </a:solidFill>
                <a:latin typeface="Trenda IG Display Bold" pitchFamily="34" charset="0"/>
                <a:ea typeface="Trenda IG Display Bold" pitchFamily="34" charset="-122"/>
                <a:cs typeface="Trenda IG Display Bold" pitchFamily="34" charset="-120"/>
              </a:rPr>
              <a:t>The Engineering Context Knowledge Graph</a:t>
            </a:r>
            <a:endParaRPr lang="en-US" sz="2000" dirty="0"/>
          </a:p>
        </p:txBody>
      </p:sp>
      <p:sp>
        <p:nvSpPr>
          <p:cNvPr id="3" name="Text 1"/>
          <p:cNvSpPr txBox="1"/>
          <p:nvPr/>
        </p:nvSpPr>
        <p:spPr>
          <a:xfrm>
            <a:off x="365760" y="640080"/>
            <a:ext cx="11457432" cy="219456"/>
          </a:xfrm>
          <a:prstGeom prst="rect">
            <a:avLst/>
          </a:prstGeom>
          <a:noFill/>
          <a:ln/>
        </p:spPr>
        <p:txBody>
          <a:bodyPr wrap="square" lIns="0" tIns="0" rIns="0" bIns="0" rtlCol="0" anchor="ctr"/>
          <a:lstStyle/>
          <a:p>
            <a:pPr marL="0" indent="0">
              <a:buNone/>
            </a:pPr>
            <a:r>
              <a:rPr lang="en-US" sz="950" dirty="0">
                <a:solidFill>
                  <a:srgbClr val="5C6E85"/>
                </a:solidFill>
                <a:latin typeface="Trenda IG Display" pitchFamily="34" charset="0"/>
                <a:ea typeface="Trenda IG Display" pitchFamily="34" charset="-122"/>
                <a:cs typeface="Trenda IG Display" pitchFamily="34" charset="-120"/>
              </a:rPr>
              <a:t>Every source contributes facts to one graph. Nothing is copied twice, nothing becomes a new source of truth, and any answer can be traced back to the artifact it came from.</a:t>
            </a:r>
            <a:endParaRPr lang="en-US" sz="950" dirty="0"/>
          </a:p>
        </p:txBody>
      </p:sp>
      <p:sp>
        <p:nvSpPr>
          <p:cNvPr id="4" name="Shape 2"/>
          <p:cNvSpPr/>
          <p:nvPr/>
        </p:nvSpPr>
        <p:spPr>
          <a:xfrm>
            <a:off x="365760" y="1024128"/>
            <a:ext cx="3017520" cy="5440680"/>
          </a:xfrm>
          <a:prstGeom prst="roundRect">
            <a:avLst>
              <a:gd name="adj" fmla="val 1515"/>
            </a:avLst>
          </a:prstGeom>
          <a:solidFill>
            <a:srgbClr val="EAF1FB"/>
          </a:solidFill>
          <a:ln w="9525">
            <a:solidFill>
              <a:srgbClr val="DCE4EE"/>
            </a:solidFill>
            <a:prstDash val="solid"/>
          </a:ln>
        </p:spPr>
        <p:txBody>
          <a:bodyPr/>
          <a:lstStyle/>
          <a:p>
            <a:endParaRPr lang="en-IN"/>
          </a:p>
        </p:txBody>
      </p:sp>
      <p:sp>
        <p:nvSpPr>
          <p:cNvPr id="5" name="Shape 3"/>
          <p:cNvSpPr/>
          <p:nvPr/>
        </p:nvSpPr>
        <p:spPr>
          <a:xfrm>
            <a:off x="365760" y="1024128"/>
            <a:ext cx="3017520" cy="365760"/>
          </a:xfrm>
          <a:prstGeom prst="roundRect">
            <a:avLst>
              <a:gd name="adj" fmla="val 12500"/>
            </a:avLst>
          </a:prstGeom>
          <a:solidFill>
            <a:srgbClr val="1B6BC0"/>
          </a:solidFill>
          <a:ln w="12700">
            <a:solidFill>
              <a:srgbClr val="1B6BC0"/>
            </a:solidFill>
            <a:prstDash val="solid"/>
          </a:ln>
        </p:spPr>
        <p:txBody>
          <a:bodyPr/>
          <a:lstStyle/>
          <a:p>
            <a:endParaRPr lang="en-IN"/>
          </a:p>
        </p:txBody>
      </p:sp>
      <p:sp>
        <p:nvSpPr>
          <p:cNvPr id="6" name="Text 4"/>
          <p:cNvSpPr txBox="1"/>
          <p:nvPr/>
        </p:nvSpPr>
        <p:spPr>
          <a:xfrm>
            <a:off x="365760" y="1024128"/>
            <a:ext cx="3017520" cy="365760"/>
          </a:xfrm>
          <a:prstGeom prst="rect">
            <a:avLst/>
          </a:prstGeom>
          <a:noFill/>
          <a:ln/>
        </p:spPr>
        <p:txBody>
          <a:bodyPr wrap="square" lIns="0" tIns="0" rIns="0" bIns="0" rtlCol="0" anchor="ctr"/>
          <a:lstStyle/>
          <a:p>
            <a:pPr marL="0" indent="0" algn="ctr">
              <a:buNone/>
            </a:pPr>
            <a:r>
              <a:rPr lang="en-US" sz="950" b="0" dirty="0">
                <a:solidFill>
                  <a:srgbClr val="FFFFFF"/>
                </a:solidFill>
                <a:latin typeface="Trenda IG Display Bold" pitchFamily="34" charset="0"/>
                <a:ea typeface="Trenda IG Display Bold" pitchFamily="34" charset="-122"/>
                <a:cs typeface="Trenda IG Display Bold" pitchFamily="34" charset="-120"/>
              </a:rPr>
              <a:t>What goes in</a:t>
            </a:r>
            <a:endParaRPr lang="en-US" sz="950" dirty="0"/>
          </a:p>
        </p:txBody>
      </p:sp>
      <p:sp>
        <p:nvSpPr>
          <p:cNvPr id="7" name="Shape 5"/>
          <p:cNvSpPr/>
          <p:nvPr/>
        </p:nvSpPr>
        <p:spPr>
          <a:xfrm>
            <a:off x="457200" y="1499616"/>
            <a:ext cx="2834640" cy="786384"/>
          </a:xfrm>
          <a:prstGeom prst="roundRect">
            <a:avLst>
              <a:gd name="adj" fmla="val 4651"/>
            </a:avLst>
          </a:prstGeom>
          <a:solidFill>
            <a:srgbClr val="FFFFFF"/>
          </a:solidFill>
          <a:ln w="9525">
            <a:solidFill>
              <a:srgbClr val="DCE4EE"/>
            </a:solidFill>
            <a:prstDash val="solid"/>
          </a:ln>
        </p:spPr>
        <p:txBody>
          <a:bodyPr/>
          <a:lstStyle/>
          <a:p>
            <a:endParaRPr lang="en-IN"/>
          </a:p>
        </p:txBody>
      </p:sp>
      <p:pic>
        <p:nvPicPr>
          <p:cNvPr id="8" name="Image 0" descr="preencoded.png"/>
          <p:cNvPicPr>
            <a:picLocks noChangeAspect="1"/>
          </p:cNvPicPr>
          <p:nvPr/>
        </p:nvPicPr>
        <p:blipFill>
          <a:blip r:embed="rId3"/>
          <a:stretch>
            <a:fillRect/>
          </a:stretch>
        </p:blipFill>
        <p:spPr>
          <a:xfrm>
            <a:off x="548640" y="1591056"/>
            <a:ext cx="146304" cy="146304"/>
          </a:xfrm>
          <a:prstGeom prst="rect">
            <a:avLst/>
          </a:prstGeom>
        </p:spPr>
      </p:pic>
      <p:sp>
        <p:nvSpPr>
          <p:cNvPr id="9" name="Text 6"/>
          <p:cNvSpPr txBox="1"/>
          <p:nvPr/>
        </p:nvSpPr>
        <p:spPr>
          <a:xfrm>
            <a:off x="749808" y="1581912"/>
            <a:ext cx="2514600" cy="164592"/>
          </a:xfrm>
          <a:prstGeom prst="rect">
            <a:avLst/>
          </a:prstGeom>
          <a:noFill/>
          <a:ln/>
        </p:spPr>
        <p:txBody>
          <a:bodyPr wrap="square" lIns="0" tIns="0" rIns="0" bIns="0" rtlCol="0" anchor="ctr"/>
          <a:lstStyle/>
          <a:p>
            <a:pPr marL="0" indent="0">
              <a:buNone/>
            </a:pPr>
            <a:r>
              <a:rPr lang="en-US" sz="850" b="0" dirty="0">
                <a:solidFill>
                  <a:srgbClr val="1B6BC0"/>
                </a:solidFill>
                <a:latin typeface="Trenda IG Text Semibold" pitchFamily="34" charset="0"/>
                <a:ea typeface="Trenda IG Text Semibold" pitchFamily="34" charset="-122"/>
                <a:cs typeface="Trenda IG Text Semibold" pitchFamily="34" charset="-120"/>
              </a:rPr>
              <a:t>Jira</a:t>
            </a:r>
            <a:endParaRPr lang="en-US" sz="850" dirty="0"/>
          </a:p>
        </p:txBody>
      </p:sp>
      <p:sp>
        <p:nvSpPr>
          <p:cNvPr id="10" name="Text 7"/>
          <p:cNvSpPr txBox="1"/>
          <p:nvPr/>
        </p:nvSpPr>
        <p:spPr>
          <a:xfrm>
            <a:off x="548640" y="1773936"/>
            <a:ext cx="2670048" cy="457200"/>
          </a:xfrm>
          <a:prstGeom prst="rect">
            <a:avLst/>
          </a:prstGeom>
          <a:noFill/>
          <a:ln/>
        </p:spPr>
        <p:txBody>
          <a:bodyPr wrap="square" lIns="0" tIns="0" rIns="0" bIns="0" rtlCol="0" anchor="t"/>
          <a:lstStyle/>
          <a:p>
            <a:pPr marL="0" indent="0">
              <a:lnSpc>
                <a:spcPct val="95000"/>
              </a:lnSpc>
              <a:buNone/>
            </a:pPr>
            <a:r>
              <a:rPr lang="en-US" sz="700" dirty="0">
                <a:solidFill>
                  <a:srgbClr val="12233B"/>
                </a:solidFill>
                <a:latin typeface="Trenda IG Text" pitchFamily="34" charset="0"/>
                <a:ea typeface="Trenda IG Text" pitchFamily="34" charset="-122"/>
                <a:cs typeface="Trenda IG Text" pitchFamily="34" charset="-120"/>
              </a:rPr>
              <a:t>Requirements, acceptance criteria, delivery history</a:t>
            </a:r>
            <a:endParaRPr lang="en-US" sz="700" dirty="0"/>
          </a:p>
        </p:txBody>
      </p:sp>
      <p:sp>
        <p:nvSpPr>
          <p:cNvPr id="11" name="Shape 8"/>
          <p:cNvSpPr/>
          <p:nvPr/>
        </p:nvSpPr>
        <p:spPr>
          <a:xfrm>
            <a:off x="457200" y="2322576"/>
            <a:ext cx="2834640" cy="786384"/>
          </a:xfrm>
          <a:prstGeom prst="roundRect">
            <a:avLst>
              <a:gd name="adj" fmla="val 4651"/>
            </a:avLst>
          </a:prstGeom>
          <a:solidFill>
            <a:srgbClr val="FFFFFF"/>
          </a:solidFill>
          <a:ln w="9525">
            <a:solidFill>
              <a:srgbClr val="DCE4EE"/>
            </a:solidFill>
            <a:prstDash val="solid"/>
          </a:ln>
        </p:spPr>
        <p:txBody>
          <a:bodyPr/>
          <a:lstStyle/>
          <a:p>
            <a:endParaRPr lang="en-IN"/>
          </a:p>
        </p:txBody>
      </p:sp>
      <p:pic>
        <p:nvPicPr>
          <p:cNvPr id="12" name="Image 1" descr="preencoded.png"/>
          <p:cNvPicPr>
            <a:picLocks noChangeAspect="1"/>
          </p:cNvPicPr>
          <p:nvPr/>
        </p:nvPicPr>
        <p:blipFill>
          <a:blip r:embed="rId4"/>
          <a:stretch>
            <a:fillRect/>
          </a:stretch>
        </p:blipFill>
        <p:spPr>
          <a:xfrm>
            <a:off x="548640" y="2414016"/>
            <a:ext cx="146304" cy="146304"/>
          </a:xfrm>
          <a:prstGeom prst="rect">
            <a:avLst/>
          </a:prstGeom>
        </p:spPr>
      </p:pic>
      <p:sp>
        <p:nvSpPr>
          <p:cNvPr id="13" name="Text 9"/>
          <p:cNvSpPr txBox="1"/>
          <p:nvPr/>
        </p:nvSpPr>
        <p:spPr>
          <a:xfrm>
            <a:off x="749808" y="2404872"/>
            <a:ext cx="2514600" cy="164592"/>
          </a:xfrm>
          <a:prstGeom prst="rect">
            <a:avLst/>
          </a:prstGeom>
          <a:noFill/>
          <a:ln/>
        </p:spPr>
        <p:txBody>
          <a:bodyPr wrap="square" lIns="0" tIns="0" rIns="0" bIns="0" rtlCol="0" anchor="ctr"/>
          <a:lstStyle/>
          <a:p>
            <a:pPr marL="0" indent="0">
              <a:buNone/>
            </a:pPr>
            <a:r>
              <a:rPr lang="en-US" sz="850" b="0" dirty="0">
                <a:solidFill>
                  <a:srgbClr val="1B6BC0"/>
                </a:solidFill>
                <a:latin typeface="Trenda IG Text Semibold" pitchFamily="34" charset="0"/>
                <a:ea typeface="Trenda IG Text Semibold" pitchFamily="34" charset="-122"/>
                <a:cs typeface="Trenda IG Text Semibold" pitchFamily="34" charset="-120"/>
              </a:rPr>
              <a:t>Confluence</a:t>
            </a:r>
            <a:endParaRPr lang="en-US" sz="850" dirty="0"/>
          </a:p>
        </p:txBody>
      </p:sp>
      <p:sp>
        <p:nvSpPr>
          <p:cNvPr id="14" name="Text 10"/>
          <p:cNvSpPr txBox="1"/>
          <p:nvPr/>
        </p:nvSpPr>
        <p:spPr>
          <a:xfrm>
            <a:off x="548640" y="2596896"/>
            <a:ext cx="2670048" cy="457200"/>
          </a:xfrm>
          <a:prstGeom prst="rect">
            <a:avLst/>
          </a:prstGeom>
          <a:noFill/>
          <a:ln/>
        </p:spPr>
        <p:txBody>
          <a:bodyPr wrap="square" lIns="0" tIns="0" rIns="0" bIns="0" rtlCol="0" anchor="t"/>
          <a:lstStyle/>
          <a:p>
            <a:pPr marL="0" indent="0">
              <a:lnSpc>
                <a:spcPct val="95000"/>
              </a:lnSpc>
              <a:buNone/>
            </a:pPr>
            <a:r>
              <a:rPr lang="en-US" sz="700" dirty="0">
                <a:solidFill>
                  <a:srgbClr val="12233B"/>
                </a:solidFill>
                <a:latin typeface="Trenda IG Text" pitchFamily="34" charset="0"/>
                <a:ea typeface="Trenda IG Text" pitchFamily="34" charset="-122"/>
                <a:cs typeface="Trenda IG Text" pitchFamily="34" charset="-120"/>
              </a:rPr>
              <a:t>Functional &amp; technical design, business-rule tables</a:t>
            </a:r>
            <a:endParaRPr lang="en-US" sz="700" dirty="0"/>
          </a:p>
        </p:txBody>
      </p:sp>
      <p:sp>
        <p:nvSpPr>
          <p:cNvPr id="15" name="Shape 11"/>
          <p:cNvSpPr/>
          <p:nvPr/>
        </p:nvSpPr>
        <p:spPr>
          <a:xfrm>
            <a:off x="457200" y="3145536"/>
            <a:ext cx="2834640" cy="786384"/>
          </a:xfrm>
          <a:prstGeom prst="roundRect">
            <a:avLst>
              <a:gd name="adj" fmla="val 4651"/>
            </a:avLst>
          </a:prstGeom>
          <a:solidFill>
            <a:srgbClr val="FFFFFF"/>
          </a:solidFill>
          <a:ln w="9525">
            <a:solidFill>
              <a:srgbClr val="DCE4EE"/>
            </a:solidFill>
            <a:prstDash val="solid"/>
          </a:ln>
        </p:spPr>
        <p:txBody>
          <a:bodyPr/>
          <a:lstStyle/>
          <a:p>
            <a:endParaRPr lang="en-IN"/>
          </a:p>
        </p:txBody>
      </p:sp>
      <p:pic>
        <p:nvPicPr>
          <p:cNvPr id="16" name="Image 2" descr="preencoded.png"/>
          <p:cNvPicPr>
            <a:picLocks noChangeAspect="1"/>
          </p:cNvPicPr>
          <p:nvPr/>
        </p:nvPicPr>
        <p:blipFill>
          <a:blip r:embed="rId5"/>
          <a:stretch>
            <a:fillRect/>
          </a:stretch>
        </p:blipFill>
        <p:spPr>
          <a:xfrm>
            <a:off x="548640" y="3236976"/>
            <a:ext cx="146304" cy="146304"/>
          </a:xfrm>
          <a:prstGeom prst="rect">
            <a:avLst/>
          </a:prstGeom>
        </p:spPr>
      </p:pic>
      <p:sp>
        <p:nvSpPr>
          <p:cNvPr id="17" name="Text 12"/>
          <p:cNvSpPr txBox="1"/>
          <p:nvPr/>
        </p:nvSpPr>
        <p:spPr>
          <a:xfrm>
            <a:off x="749808" y="3227832"/>
            <a:ext cx="2514600" cy="164592"/>
          </a:xfrm>
          <a:prstGeom prst="rect">
            <a:avLst/>
          </a:prstGeom>
          <a:noFill/>
          <a:ln/>
        </p:spPr>
        <p:txBody>
          <a:bodyPr wrap="square" lIns="0" tIns="0" rIns="0" bIns="0" rtlCol="0" anchor="ctr"/>
          <a:lstStyle/>
          <a:p>
            <a:pPr marL="0" indent="0">
              <a:buNone/>
            </a:pPr>
            <a:r>
              <a:rPr lang="en-US" sz="850" b="0" dirty="0">
                <a:solidFill>
                  <a:srgbClr val="1B6BC0"/>
                </a:solidFill>
                <a:latin typeface="Trenda IG Text Semibold" pitchFamily="34" charset="0"/>
                <a:ea typeface="Trenda IG Text Semibold" pitchFamily="34" charset="-122"/>
                <a:cs typeface="Trenda IG Text Semibold" pitchFamily="34" charset="-120"/>
              </a:rPr>
              <a:t>Salesforce</a:t>
            </a:r>
            <a:endParaRPr lang="en-US" sz="850" dirty="0"/>
          </a:p>
        </p:txBody>
      </p:sp>
      <p:sp>
        <p:nvSpPr>
          <p:cNvPr id="18" name="Text 13"/>
          <p:cNvSpPr txBox="1"/>
          <p:nvPr/>
        </p:nvSpPr>
        <p:spPr>
          <a:xfrm>
            <a:off x="548640" y="3419856"/>
            <a:ext cx="2670048" cy="457200"/>
          </a:xfrm>
          <a:prstGeom prst="rect">
            <a:avLst/>
          </a:prstGeom>
          <a:noFill/>
          <a:ln/>
        </p:spPr>
        <p:txBody>
          <a:bodyPr wrap="square" lIns="0" tIns="0" rIns="0" bIns="0" rtlCol="0" anchor="t"/>
          <a:lstStyle/>
          <a:p>
            <a:pPr marL="0" indent="0">
              <a:lnSpc>
                <a:spcPct val="95000"/>
              </a:lnSpc>
              <a:buNone/>
            </a:pPr>
            <a:r>
              <a:rPr lang="en-US" sz="700" dirty="0">
                <a:solidFill>
                  <a:srgbClr val="12233B"/>
                </a:solidFill>
                <a:latin typeface="Trenda IG Text" pitchFamily="34" charset="0"/>
                <a:ea typeface="Trenda IG Text" pitchFamily="34" charset="-122"/>
                <a:cs typeface="Trenda IG Text" pitchFamily="34" charset="-120"/>
              </a:rPr>
              <a:t>Objects, fields, Flows, Apex, validation rules, dependencies</a:t>
            </a:r>
            <a:endParaRPr lang="en-US" sz="700" dirty="0"/>
          </a:p>
        </p:txBody>
      </p:sp>
      <p:sp>
        <p:nvSpPr>
          <p:cNvPr id="19" name="Shape 14"/>
          <p:cNvSpPr/>
          <p:nvPr/>
        </p:nvSpPr>
        <p:spPr>
          <a:xfrm>
            <a:off x="457200" y="3968496"/>
            <a:ext cx="2834640" cy="786384"/>
          </a:xfrm>
          <a:prstGeom prst="roundRect">
            <a:avLst>
              <a:gd name="adj" fmla="val 4651"/>
            </a:avLst>
          </a:prstGeom>
          <a:solidFill>
            <a:srgbClr val="FFFFFF"/>
          </a:solidFill>
          <a:ln w="9525">
            <a:solidFill>
              <a:srgbClr val="DCE4EE"/>
            </a:solidFill>
            <a:prstDash val="solid"/>
          </a:ln>
        </p:spPr>
        <p:txBody>
          <a:bodyPr/>
          <a:lstStyle/>
          <a:p>
            <a:endParaRPr lang="en-IN"/>
          </a:p>
        </p:txBody>
      </p:sp>
      <p:pic>
        <p:nvPicPr>
          <p:cNvPr id="20" name="Image 3" descr="preencoded.png"/>
          <p:cNvPicPr>
            <a:picLocks noChangeAspect="1"/>
          </p:cNvPicPr>
          <p:nvPr/>
        </p:nvPicPr>
        <p:blipFill>
          <a:blip r:embed="rId6"/>
          <a:stretch>
            <a:fillRect/>
          </a:stretch>
        </p:blipFill>
        <p:spPr>
          <a:xfrm>
            <a:off x="548640" y="4059936"/>
            <a:ext cx="146304" cy="146304"/>
          </a:xfrm>
          <a:prstGeom prst="rect">
            <a:avLst/>
          </a:prstGeom>
        </p:spPr>
      </p:pic>
      <p:sp>
        <p:nvSpPr>
          <p:cNvPr id="21" name="Text 15"/>
          <p:cNvSpPr txBox="1"/>
          <p:nvPr/>
        </p:nvSpPr>
        <p:spPr>
          <a:xfrm>
            <a:off x="749808" y="4050792"/>
            <a:ext cx="2514600" cy="164592"/>
          </a:xfrm>
          <a:prstGeom prst="rect">
            <a:avLst/>
          </a:prstGeom>
          <a:noFill/>
          <a:ln/>
        </p:spPr>
        <p:txBody>
          <a:bodyPr wrap="square" lIns="0" tIns="0" rIns="0" bIns="0" rtlCol="0" anchor="ctr"/>
          <a:lstStyle/>
          <a:p>
            <a:pPr marL="0" indent="0">
              <a:buNone/>
            </a:pPr>
            <a:r>
              <a:rPr lang="en-US" sz="850" b="0" dirty="0">
                <a:solidFill>
                  <a:srgbClr val="1B6BC0"/>
                </a:solidFill>
                <a:latin typeface="Trenda IG Text Semibold" pitchFamily="34" charset="0"/>
                <a:ea typeface="Trenda IG Text Semibold" pitchFamily="34" charset="-122"/>
                <a:cs typeface="Trenda IG Text Semibold" pitchFamily="34" charset="-120"/>
              </a:rPr>
              <a:t>Git</a:t>
            </a:r>
            <a:endParaRPr lang="en-US" sz="850" dirty="0"/>
          </a:p>
        </p:txBody>
      </p:sp>
      <p:sp>
        <p:nvSpPr>
          <p:cNvPr id="22" name="Text 16"/>
          <p:cNvSpPr txBox="1"/>
          <p:nvPr/>
        </p:nvSpPr>
        <p:spPr>
          <a:xfrm>
            <a:off x="548640" y="4242816"/>
            <a:ext cx="2670048" cy="457200"/>
          </a:xfrm>
          <a:prstGeom prst="rect">
            <a:avLst/>
          </a:prstGeom>
          <a:noFill/>
          <a:ln/>
        </p:spPr>
        <p:txBody>
          <a:bodyPr wrap="square" lIns="0" tIns="0" rIns="0" bIns="0" rtlCol="0" anchor="t"/>
          <a:lstStyle/>
          <a:p>
            <a:pPr marL="0" indent="0">
              <a:lnSpc>
                <a:spcPct val="95000"/>
              </a:lnSpc>
              <a:buNone/>
            </a:pPr>
            <a:r>
              <a:rPr lang="en-US" sz="700" dirty="0">
                <a:solidFill>
                  <a:srgbClr val="12233B"/>
                </a:solidFill>
                <a:latin typeface="Trenda IG Text" pitchFamily="34" charset="0"/>
                <a:ea typeface="Trenda IG Text" pitchFamily="34" charset="-122"/>
                <a:cs typeface="Trenda IG Text" pitchFamily="34" charset="-120"/>
              </a:rPr>
              <a:t>Apex classes &amp; triggers, LWC, metadata, unit tests, commit history</a:t>
            </a:r>
            <a:endParaRPr lang="en-US" sz="700" dirty="0"/>
          </a:p>
        </p:txBody>
      </p:sp>
      <p:sp>
        <p:nvSpPr>
          <p:cNvPr id="23" name="Shape 17"/>
          <p:cNvSpPr/>
          <p:nvPr/>
        </p:nvSpPr>
        <p:spPr>
          <a:xfrm>
            <a:off x="457200" y="4791456"/>
            <a:ext cx="2834640" cy="786384"/>
          </a:xfrm>
          <a:prstGeom prst="roundRect">
            <a:avLst>
              <a:gd name="adj" fmla="val 4651"/>
            </a:avLst>
          </a:prstGeom>
          <a:solidFill>
            <a:srgbClr val="FFFFFF"/>
          </a:solidFill>
          <a:ln w="9525">
            <a:solidFill>
              <a:srgbClr val="DCE4EE"/>
            </a:solidFill>
            <a:prstDash val="solid"/>
          </a:ln>
        </p:spPr>
        <p:txBody>
          <a:bodyPr/>
          <a:lstStyle/>
          <a:p>
            <a:endParaRPr lang="en-IN"/>
          </a:p>
        </p:txBody>
      </p:sp>
      <p:pic>
        <p:nvPicPr>
          <p:cNvPr id="24" name="Image 4" descr="preencoded.png"/>
          <p:cNvPicPr>
            <a:picLocks noChangeAspect="1"/>
          </p:cNvPicPr>
          <p:nvPr/>
        </p:nvPicPr>
        <p:blipFill>
          <a:blip r:embed="rId7"/>
          <a:stretch>
            <a:fillRect/>
          </a:stretch>
        </p:blipFill>
        <p:spPr>
          <a:xfrm>
            <a:off x="548640" y="4882896"/>
            <a:ext cx="146304" cy="146304"/>
          </a:xfrm>
          <a:prstGeom prst="rect">
            <a:avLst/>
          </a:prstGeom>
        </p:spPr>
      </p:pic>
      <p:sp>
        <p:nvSpPr>
          <p:cNvPr id="25" name="Text 18"/>
          <p:cNvSpPr txBox="1"/>
          <p:nvPr/>
        </p:nvSpPr>
        <p:spPr>
          <a:xfrm>
            <a:off x="749808" y="4873752"/>
            <a:ext cx="2514600" cy="164592"/>
          </a:xfrm>
          <a:prstGeom prst="rect">
            <a:avLst/>
          </a:prstGeom>
          <a:noFill/>
          <a:ln/>
        </p:spPr>
        <p:txBody>
          <a:bodyPr wrap="square" lIns="0" tIns="0" rIns="0" bIns="0" rtlCol="0" anchor="ctr"/>
          <a:lstStyle/>
          <a:p>
            <a:pPr marL="0" indent="0">
              <a:buNone/>
            </a:pPr>
            <a:r>
              <a:rPr lang="en-US" sz="850" b="0" dirty="0">
                <a:solidFill>
                  <a:srgbClr val="1B6BC0"/>
                </a:solidFill>
                <a:latin typeface="Trenda IG Text Semibold" pitchFamily="34" charset="0"/>
                <a:ea typeface="Trenda IG Text Semibold" pitchFamily="34" charset="-122"/>
                <a:cs typeface="Trenda IG Text Semibold" pitchFamily="34" charset="-120"/>
              </a:rPr>
              <a:t>Copado</a:t>
            </a:r>
            <a:endParaRPr lang="en-US" sz="850" dirty="0"/>
          </a:p>
        </p:txBody>
      </p:sp>
      <p:sp>
        <p:nvSpPr>
          <p:cNvPr id="26" name="Text 19"/>
          <p:cNvSpPr txBox="1"/>
          <p:nvPr/>
        </p:nvSpPr>
        <p:spPr>
          <a:xfrm>
            <a:off x="548640" y="5065776"/>
            <a:ext cx="2670048" cy="457200"/>
          </a:xfrm>
          <a:prstGeom prst="rect">
            <a:avLst/>
          </a:prstGeom>
          <a:noFill/>
          <a:ln/>
        </p:spPr>
        <p:txBody>
          <a:bodyPr wrap="square" lIns="0" tIns="0" rIns="0" bIns="0" rtlCol="0" anchor="t"/>
          <a:lstStyle/>
          <a:p>
            <a:pPr marL="0" indent="0">
              <a:lnSpc>
                <a:spcPct val="95000"/>
              </a:lnSpc>
              <a:buNone/>
            </a:pPr>
            <a:r>
              <a:rPr lang="en-US" sz="700" dirty="0">
                <a:solidFill>
                  <a:srgbClr val="12233B"/>
                </a:solidFill>
                <a:latin typeface="Trenda IG Text" pitchFamily="34" charset="0"/>
                <a:ea typeface="Trenda IG Text" pitchFamily="34" charset="-122"/>
                <a:cs typeface="Trenda IG Text" pitchFamily="34" charset="-120"/>
              </a:rPr>
              <a:t>Releases, deployments, robotic testing, regression runs &amp; results</a:t>
            </a:r>
            <a:endParaRPr lang="en-US" sz="700" dirty="0"/>
          </a:p>
        </p:txBody>
      </p:sp>
      <p:sp>
        <p:nvSpPr>
          <p:cNvPr id="27" name="Shape 20"/>
          <p:cNvSpPr/>
          <p:nvPr/>
        </p:nvSpPr>
        <p:spPr>
          <a:xfrm>
            <a:off x="457200" y="5614416"/>
            <a:ext cx="2834640" cy="786384"/>
          </a:xfrm>
          <a:prstGeom prst="roundRect">
            <a:avLst>
              <a:gd name="adj" fmla="val 4651"/>
            </a:avLst>
          </a:prstGeom>
          <a:solidFill>
            <a:srgbClr val="FFFFFF"/>
          </a:solidFill>
          <a:ln w="9525">
            <a:solidFill>
              <a:srgbClr val="DCE4EE"/>
            </a:solidFill>
            <a:prstDash val="solid"/>
          </a:ln>
        </p:spPr>
        <p:txBody>
          <a:bodyPr/>
          <a:lstStyle/>
          <a:p>
            <a:endParaRPr lang="en-IN"/>
          </a:p>
        </p:txBody>
      </p:sp>
      <p:pic>
        <p:nvPicPr>
          <p:cNvPr id="28" name="Image 5" descr="preencoded.png"/>
          <p:cNvPicPr>
            <a:picLocks noChangeAspect="1"/>
          </p:cNvPicPr>
          <p:nvPr/>
        </p:nvPicPr>
        <p:blipFill>
          <a:blip r:embed="rId8"/>
          <a:stretch>
            <a:fillRect/>
          </a:stretch>
        </p:blipFill>
        <p:spPr>
          <a:xfrm>
            <a:off x="548640" y="5705856"/>
            <a:ext cx="146304" cy="146304"/>
          </a:xfrm>
          <a:prstGeom prst="rect">
            <a:avLst/>
          </a:prstGeom>
        </p:spPr>
      </p:pic>
      <p:sp>
        <p:nvSpPr>
          <p:cNvPr id="29" name="Text 21"/>
          <p:cNvSpPr txBox="1"/>
          <p:nvPr/>
        </p:nvSpPr>
        <p:spPr>
          <a:xfrm>
            <a:off x="749808" y="5696712"/>
            <a:ext cx="2514600" cy="164592"/>
          </a:xfrm>
          <a:prstGeom prst="rect">
            <a:avLst/>
          </a:prstGeom>
          <a:noFill/>
          <a:ln/>
        </p:spPr>
        <p:txBody>
          <a:bodyPr wrap="square" lIns="0" tIns="0" rIns="0" bIns="0" rtlCol="0" anchor="ctr"/>
          <a:lstStyle/>
          <a:p>
            <a:pPr marL="0" indent="0">
              <a:buNone/>
            </a:pPr>
            <a:r>
              <a:rPr lang="en-US" sz="850" b="0" dirty="0">
                <a:solidFill>
                  <a:srgbClr val="1B6BC0"/>
                </a:solidFill>
                <a:latin typeface="Trenda IG Text Semibold" pitchFamily="34" charset="0"/>
                <a:ea typeface="Trenda IG Text Semibold" pitchFamily="34" charset="-122"/>
                <a:cs typeface="Trenda IG Text Semibold" pitchFamily="34" charset="-120"/>
              </a:rPr>
              <a:t>Google Drive</a:t>
            </a:r>
            <a:endParaRPr lang="en-US" sz="850" dirty="0"/>
          </a:p>
        </p:txBody>
      </p:sp>
      <p:sp>
        <p:nvSpPr>
          <p:cNvPr id="30" name="Text 22"/>
          <p:cNvSpPr txBox="1"/>
          <p:nvPr/>
        </p:nvSpPr>
        <p:spPr>
          <a:xfrm>
            <a:off x="548640" y="5888736"/>
            <a:ext cx="2670048" cy="457200"/>
          </a:xfrm>
          <a:prstGeom prst="rect">
            <a:avLst/>
          </a:prstGeom>
          <a:noFill/>
          <a:ln/>
        </p:spPr>
        <p:txBody>
          <a:bodyPr wrap="square" lIns="0" tIns="0" rIns="0" bIns="0" rtlCol="0" anchor="t"/>
          <a:lstStyle/>
          <a:p>
            <a:pPr marL="0" indent="0">
              <a:lnSpc>
                <a:spcPct val="95000"/>
              </a:lnSpc>
              <a:buNone/>
            </a:pPr>
            <a:r>
              <a:rPr lang="en-US" sz="700" dirty="0">
                <a:solidFill>
                  <a:srgbClr val="12233B"/>
                </a:solidFill>
                <a:latin typeface="Trenda IG Text" pitchFamily="34" charset="0"/>
                <a:ea typeface="Trenda IG Text" pitchFamily="34" charset="-122"/>
                <a:cs typeface="Trenda IG Text" pitchFamily="34" charset="-120"/>
              </a:rPr>
              <a:t>Spec sheets, field mappings, test-data workbooks, evidence exports</a:t>
            </a:r>
            <a:endParaRPr lang="en-US" sz="700" dirty="0"/>
          </a:p>
        </p:txBody>
      </p:sp>
      <p:sp>
        <p:nvSpPr>
          <p:cNvPr id="31" name="Shape 23"/>
          <p:cNvSpPr/>
          <p:nvPr/>
        </p:nvSpPr>
        <p:spPr>
          <a:xfrm>
            <a:off x="3584448" y="1024128"/>
            <a:ext cx="4974336" cy="5440680"/>
          </a:xfrm>
          <a:prstGeom prst="roundRect">
            <a:avLst>
              <a:gd name="adj" fmla="val 919"/>
            </a:avLst>
          </a:prstGeom>
          <a:solidFill>
            <a:srgbClr val="FFFFFF"/>
          </a:solidFill>
          <a:ln w="9525">
            <a:solidFill>
              <a:srgbClr val="DCE4EE"/>
            </a:solidFill>
            <a:prstDash val="solid"/>
          </a:ln>
        </p:spPr>
        <p:txBody>
          <a:bodyPr/>
          <a:lstStyle/>
          <a:p>
            <a:endParaRPr lang="en-IN"/>
          </a:p>
        </p:txBody>
      </p:sp>
      <p:sp>
        <p:nvSpPr>
          <p:cNvPr id="32" name="Shape 24"/>
          <p:cNvSpPr/>
          <p:nvPr/>
        </p:nvSpPr>
        <p:spPr>
          <a:xfrm>
            <a:off x="3584448" y="1024128"/>
            <a:ext cx="4974336" cy="365760"/>
          </a:xfrm>
          <a:prstGeom prst="roundRect">
            <a:avLst>
              <a:gd name="adj" fmla="val 12500"/>
            </a:avLst>
          </a:prstGeom>
          <a:solidFill>
            <a:srgbClr val="C2185B"/>
          </a:solidFill>
          <a:ln w="12700">
            <a:solidFill>
              <a:srgbClr val="C2185B"/>
            </a:solidFill>
            <a:prstDash val="solid"/>
          </a:ln>
        </p:spPr>
        <p:txBody>
          <a:bodyPr/>
          <a:lstStyle/>
          <a:p>
            <a:endParaRPr lang="en-IN"/>
          </a:p>
        </p:txBody>
      </p:sp>
      <p:sp>
        <p:nvSpPr>
          <p:cNvPr id="33" name="Text 25"/>
          <p:cNvSpPr txBox="1"/>
          <p:nvPr/>
        </p:nvSpPr>
        <p:spPr>
          <a:xfrm>
            <a:off x="3584448" y="1024128"/>
            <a:ext cx="4974336" cy="365760"/>
          </a:xfrm>
          <a:prstGeom prst="rect">
            <a:avLst/>
          </a:prstGeom>
          <a:noFill/>
          <a:ln/>
        </p:spPr>
        <p:txBody>
          <a:bodyPr wrap="square" lIns="0" tIns="0" rIns="0" bIns="0" rtlCol="0" anchor="ctr"/>
          <a:lstStyle/>
          <a:p>
            <a:pPr marL="0" indent="0" algn="ctr">
              <a:buNone/>
            </a:pPr>
            <a:r>
              <a:rPr lang="en-US" sz="950" b="0" dirty="0">
                <a:solidFill>
                  <a:srgbClr val="FFFFFF"/>
                </a:solidFill>
                <a:latin typeface="Trenda IG Display Bold" pitchFamily="34" charset="0"/>
                <a:ea typeface="Trenda IG Display Bold" pitchFamily="34" charset="-122"/>
                <a:cs typeface="Trenda IG Display Bold" pitchFamily="34" charset="-120"/>
              </a:rPr>
              <a:t>One graph, typed nodes, typed relationships</a:t>
            </a:r>
            <a:endParaRPr lang="en-US" sz="950" dirty="0"/>
          </a:p>
        </p:txBody>
      </p:sp>
      <p:sp>
        <p:nvSpPr>
          <p:cNvPr id="34" name="Shape 26"/>
          <p:cNvSpPr/>
          <p:nvPr/>
        </p:nvSpPr>
        <p:spPr>
          <a:xfrm flipV="1">
            <a:off x="6071616" y="2009851"/>
            <a:ext cx="0" cy="888797"/>
          </a:xfrm>
          <a:prstGeom prst="line">
            <a:avLst/>
          </a:prstGeom>
          <a:noFill/>
          <a:ln w="15875">
            <a:solidFill>
              <a:srgbClr val="C7D2DE"/>
            </a:solidFill>
            <a:prstDash val="solid"/>
          </a:ln>
        </p:spPr>
        <p:txBody>
          <a:bodyPr/>
          <a:lstStyle/>
          <a:p>
            <a:endParaRPr lang="en-IN"/>
          </a:p>
        </p:txBody>
      </p:sp>
      <p:sp>
        <p:nvSpPr>
          <p:cNvPr id="35" name="Shape 27"/>
          <p:cNvSpPr/>
          <p:nvPr/>
        </p:nvSpPr>
        <p:spPr>
          <a:xfrm>
            <a:off x="5422392" y="1808683"/>
            <a:ext cx="1298448" cy="402336"/>
          </a:xfrm>
          <a:prstGeom prst="roundRect">
            <a:avLst>
              <a:gd name="adj" fmla="val 13636"/>
            </a:avLst>
          </a:prstGeom>
          <a:solidFill>
            <a:srgbClr val="FFFFFF"/>
          </a:solidFill>
          <a:ln w="15875">
            <a:solidFill>
              <a:srgbClr val="1B6BC0"/>
            </a:solidFill>
            <a:prstDash val="solid"/>
          </a:ln>
        </p:spPr>
        <p:txBody>
          <a:bodyPr/>
          <a:lstStyle/>
          <a:p>
            <a:endParaRPr lang="en-IN"/>
          </a:p>
        </p:txBody>
      </p:sp>
      <p:sp>
        <p:nvSpPr>
          <p:cNvPr id="36" name="Text 28"/>
          <p:cNvSpPr txBox="1"/>
          <p:nvPr/>
        </p:nvSpPr>
        <p:spPr>
          <a:xfrm>
            <a:off x="5458968" y="1808683"/>
            <a:ext cx="1225296" cy="402336"/>
          </a:xfrm>
          <a:prstGeom prst="rect">
            <a:avLst/>
          </a:prstGeom>
          <a:noFill/>
          <a:ln/>
        </p:spPr>
        <p:txBody>
          <a:bodyPr wrap="square" lIns="0" tIns="0" rIns="0" bIns="0" rtlCol="0" anchor="ctr"/>
          <a:lstStyle/>
          <a:p>
            <a:pPr marL="0" indent="0" algn="ctr">
              <a:lnSpc>
                <a:spcPct val="90000"/>
              </a:lnSpc>
              <a:buNone/>
            </a:pPr>
            <a:r>
              <a:rPr lang="en-US" sz="700" b="0" dirty="0">
                <a:solidFill>
                  <a:srgbClr val="1B6BC0"/>
                </a:solidFill>
                <a:latin typeface="Trenda IG Text Semibold" pitchFamily="34" charset="0"/>
                <a:ea typeface="Trenda IG Text Semibold" pitchFamily="34" charset="-122"/>
                <a:cs typeface="Trenda IG Text Semibold" pitchFamily="34" charset="-120"/>
              </a:rPr>
              <a:t>Requirement</a:t>
            </a:r>
            <a:endParaRPr lang="en-US" sz="700" dirty="0"/>
          </a:p>
        </p:txBody>
      </p:sp>
      <p:sp>
        <p:nvSpPr>
          <p:cNvPr id="37" name="Shape 29"/>
          <p:cNvSpPr/>
          <p:nvPr/>
        </p:nvSpPr>
        <p:spPr>
          <a:xfrm flipV="1">
            <a:off x="6071616" y="2454250"/>
            <a:ext cx="1693385" cy="444398"/>
          </a:xfrm>
          <a:prstGeom prst="line">
            <a:avLst/>
          </a:prstGeom>
          <a:noFill/>
          <a:ln w="15875">
            <a:solidFill>
              <a:srgbClr val="C7D2DE"/>
            </a:solidFill>
            <a:prstDash val="solid"/>
          </a:ln>
        </p:spPr>
        <p:txBody>
          <a:bodyPr/>
          <a:lstStyle/>
          <a:p>
            <a:endParaRPr lang="en-IN"/>
          </a:p>
        </p:txBody>
      </p:sp>
      <p:sp>
        <p:nvSpPr>
          <p:cNvPr id="38" name="Shape 30"/>
          <p:cNvSpPr/>
          <p:nvPr/>
        </p:nvSpPr>
        <p:spPr>
          <a:xfrm>
            <a:off x="7115777" y="2253082"/>
            <a:ext cx="1298448" cy="402336"/>
          </a:xfrm>
          <a:prstGeom prst="roundRect">
            <a:avLst>
              <a:gd name="adj" fmla="val 13636"/>
            </a:avLst>
          </a:prstGeom>
          <a:solidFill>
            <a:srgbClr val="FFFFFF"/>
          </a:solidFill>
          <a:ln w="15875">
            <a:solidFill>
              <a:srgbClr val="0E8A7D"/>
            </a:solidFill>
            <a:prstDash val="solid"/>
          </a:ln>
        </p:spPr>
        <p:txBody>
          <a:bodyPr/>
          <a:lstStyle/>
          <a:p>
            <a:endParaRPr lang="en-IN"/>
          </a:p>
        </p:txBody>
      </p:sp>
      <p:sp>
        <p:nvSpPr>
          <p:cNvPr id="39" name="Text 31"/>
          <p:cNvSpPr txBox="1"/>
          <p:nvPr/>
        </p:nvSpPr>
        <p:spPr>
          <a:xfrm>
            <a:off x="7152353" y="2253082"/>
            <a:ext cx="1225296" cy="402336"/>
          </a:xfrm>
          <a:prstGeom prst="rect">
            <a:avLst/>
          </a:prstGeom>
          <a:noFill/>
          <a:ln/>
        </p:spPr>
        <p:txBody>
          <a:bodyPr wrap="square" lIns="0" tIns="0" rIns="0" bIns="0" rtlCol="0" anchor="ctr"/>
          <a:lstStyle/>
          <a:p>
            <a:pPr marL="0" indent="0" algn="ctr">
              <a:lnSpc>
                <a:spcPct val="90000"/>
              </a:lnSpc>
              <a:buNone/>
            </a:pPr>
            <a:r>
              <a:rPr lang="en-US" sz="700" b="0" dirty="0">
                <a:solidFill>
                  <a:srgbClr val="0E8A7D"/>
                </a:solidFill>
                <a:latin typeface="Trenda IG Text Semibold" pitchFamily="34" charset="0"/>
                <a:ea typeface="Trenda IG Text Semibold" pitchFamily="34" charset="-122"/>
                <a:cs typeface="Trenda IG Text Semibold" pitchFamily="34" charset="-120"/>
              </a:rPr>
              <a:t>Design &amp; rules</a:t>
            </a:r>
            <a:endParaRPr lang="en-US" sz="700" dirty="0"/>
          </a:p>
        </p:txBody>
      </p:sp>
      <p:sp>
        <p:nvSpPr>
          <p:cNvPr id="40" name="Shape 32"/>
          <p:cNvSpPr/>
          <p:nvPr/>
        </p:nvSpPr>
        <p:spPr>
          <a:xfrm>
            <a:off x="6071616" y="2898648"/>
            <a:ext cx="1693385" cy="444398"/>
          </a:xfrm>
          <a:prstGeom prst="line">
            <a:avLst/>
          </a:prstGeom>
          <a:noFill/>
          <a:ln w="15875">
            <a:solidFill>
              <a:srgbClr val="C7D2DE"/>
            </a:solidFill>
            <a:prstDash val="solid"/>
          </a:ln>
        </p:spPr>
        <p:txBody>
          <a:bodyPr/>
          <a:lstStyle/>
          <a:p>
            <a:endParaRPr lang="en-IN"/>
          </a:p>
        </p:txBody>
      </p:sp>
      <p:sp>
        <p:nvSpPr>
          <p:cNvPr id="41" name="Shape 33"/>
          <p:cNvSpPr/>
          <p:nvPr/>
        </p:nvSpPr>
        <p:spPr>
          <a:xfrm>
            <a:off x="7115777" y="3141878"/>
            <a:ext cx="1298448" cy="402336"/>
          </a:xfrm>
          <a:prstGeom prst="roundRect">
            <a:avLst>
              <a:gd name="adj" fmla="val 13636"/>
            </a:avLst>
          </a:prstGeom>
          <a:solidFill>
            <a:srgbClr val="FFFFFF"/>
          </a:solidFill>
          <a:ln w="15875">
            <a:solidFill>
              <a:srgbClr val="C2185B"/>
            </a:solidFill>
            <a:prstDash val="solid"/>
          </a:ln>
        </p:spPr>
        <p:txBody>
          <a:bodyPr/>
          <a:lstStyle/>
          <a:p>
            <a:endParaRPr lang="en-IN"/>
          </a:p>
        </p:txBody>
      </p:sp>
      <p:sp>
        <p:nvSpPr>
          <p:cNvPr id="42" name="Text 34"/>
          <p:cNvSpPr txBox="1"/>
          <p:nvPr/>
        </p:nvSpPr>
        <p:spPr>
          <a:xfrm>
            <a:off x="7152353" y="3141878"/>
            <a:ext cx="1225296" cy="402336"/>
          </a:xfrm>
          <a:prstGeom prst="rect">
            <a:avLst/>
          </a:prstGeom>
          <a:noFill/>
          <a:ln/>
        </p:spPr>
        <p:txBody>
          <a:bodyPr wrap="square" lIns="0" tIns="0" rIns="0" bIns="0" rtlCol="0" anchor="ctr"/>
          <a:lstStyle/>
          <a:p>
            <a:pPr marL="0" indent="0" algn="ctr">
              <a:lnSpc>
                <a:spcPct val="90000"/>
              </a:lnSpc>
              <a:buNone/>
            </a:pPr>
            <a:r>
              <a:rPr lang="en-US" sz="700" b="0" dirty="0">
                <a:solidFill>
                  <a:srgbClr val="C2185B"/>
                </a:solidFill>
                <a:latin typeface="Trenda IG Text Semibold" pitchFamily="34" charset="0"/>
                <a:ea typeface="Trenda IG Text Semibold" pitchFamily="34" charset="-122"/>
                <a:cs typeface="Trenda IG Text Semibold" pitchFamily="34" charset="-120"/>
              </a:rPr>
              <a:t>sObject + fields</a:t>
            </a:r>
            <a:endParaRPr lang="en-US" sz="700" dirty="0"/>
          </a:p>
        </p:txBody>
      </p:sp>
      <p:sp>
        <p:nvSpPr>
          <p:cNvPr id="43" name="Shape 35"/>
          <p:cNvSpPr/>
          <p:nvPr/>
        </p:nvSpPr>
        <p:spPr>
          <a:xfrm>
            <a:off x="6071616" y="2898648"/>
            <a:ext cx="0" cy="888797"/>
          </a:xfrm>
          <a:prstGeom prst="line">
            <a:avLst/>
          </a:prstGeom>
          <a:noFill/>
          <a:ln w="15875">
            <a:solidFill>
              <a:srgbClr val="C7D2DE"/>
            </a:solidFill>
            <a:prstDash val="solid"/>
          </a:ln>
        </p:spPr>
        <p:txBody>
          <a:bodyPr/>
          <a:lstStyle/>
          <a:p>
            <a:endParaRPr lang="en-IN"/>
          </a:p>
        </p:txBody>
      </p:sp>
      <p:sp>
        <p:nvSpPr>
          <p:cNvPr id="44" name="Shape 36"/>
          <p:cNvSpPr/>
          <p:nvPr/>
        </p:nvSpPr>
        <p:spPr>
          <a:xfrm>
            <a:off x="5422392" y="3586277"/>
            <a:ext cx="1298448" cy="402336"/>
          </a:xfrm>
          <a:prstGeom prst="roundRect">
            <a:avLst>
              <a:gd name="adj" fmla="val 13636"/>
            </a:avLst>
          </a:prstGeom>
          <a:solidFill>
            <a:srgbClr val="FFFFFF"/>
          </a:solidFill>
          <a:ln w="15875">
            <a:solidFill>
              <a:srgbClr val="C77400"/>
            </a:solidFill>
            <a:prstDash val="solid"/>
          </a:ln>
        </p:spPr>
        <p:txBody>
          <a:bodyPr/>
          <a:lstStyle/>
          <a:p>
            <a:endParaRPr lang="en-IN"/>
          </a:p>
        </p:txBody>
      </p:sp>
      <p:sp>
        <p:nvSpPr>
          <p:cNvPr id="45" name="Text 37"/>
          <p:cNvSpPr txBox="1"/>
          <p:nvPr/>
        </p:nvSpPr>
        <p:spPr>
          <a:xfrm>
            <a:off x="5458968" y="3586277"/>
            <a:ext cx="1225296" cy="402336"/>
          </a:xfrm>
          <a:prstGeom prst="rect">
            <a:avLst/>
          </a:prstGeom>
          <a:noFill/>
          <a:ln/>
        </p:spPr>
        <p:txBody>
          <a:bodyPr wrap="square" lIns="0" tIns="0" rIns="0" bIns="0" rtlCol="0" anchor="ctr"/>
          <a:lstStyle/>
          <a:p>
            <a:pPr marL="0" indent="0" algn="ctr">
              <a:lnSpc>
                <a:spcPct val="90000"/>
              </a:lnSpc>
              <a:buNone/>
            </a:pPr>
            <a:r>
              <a:rPr lang="en-US" sz="700" b="0" dirty="0">
                <a:solidFill>
                  <a:srgbClr val="C77400"/>
                </a:solidFill>
                <a:latin typeface="Trenda IG Text Semibold" pitchFamily="34" charset="0"/>
                <a:ea typeface="Trenda IG Text Semibold" pitchFamily="34" charset="-122"/>
                <a:cs typeface="Trenda IG Text Semibold" pitchFamily="34" charset="-120"/>
              </a:rPr>
              <a:t>Flow / Apex / VR</a:t>
            </a:r>
            <a:endParaRPr lang="en-US" sz="700" dirty="0"/>
          </a:p>
        </p:txBody>
      </p:sp>
      <p:sp>
        <p:nvSpPr>
          <p:cNvPr id="46" name="Shape 38"/>
          <p:cNvSpPr/>
          <p:nvPr/>
        </p:nvSpPr>
        <p:spPr>
          <a:xfrm flipH="1">
            <a:off x="4378231" y="2898648"/>
            <a:ext cx="1693385" cy="444398"/>
          </a:xfrm>
          <a:prstGeom prst="line">
            <a:avLst/>
          </a:prstGeom>
          <a:noFill/>
          <a:ln w="15875">
            <a:solidFill>
              <a:srgbClr val="C7D2DE"/>
            </a:solidFill>
            <a:prstDash val="solid"/>
          </a:ln>
        </p:spPr>
        <p:txBody>
          <a:bodyPr/>
          <a:lstStyle/>
          <a:p>
            <a:endParaRPr lang="en-IN"/>
          </a:p>
        </p:txBody>
      </p:sp>
      <p:sp>
        <p:nvSpPr>
          <p:cNvPr id="47" name="Shape 39"/>
          <p:cNvSpPr/>
          <p:nvPr/>
        </p:nvSpPr>
        <p:spPr>
          <a:xfrm>
            <a:off x="3729007" y="3141878"/>
            <a:ext cx="1298448" cy="402336"/>
          </a:xfrm>
          <a:prstGeom prst="roundRect">
            <a:avLst>
              <a:gd name="adj" fmla="val 13636"/>
            </a:avLst>
          </a:prstGeom>
          <a:solidFill>
            <a:srgbClr val="FFFFFF"/>
          </a:solidFill>
          <a:ln w="15875">
            <a:solidFill>
              <a:srgbClr val="2E7D32"/>
            </a:solidFill>
            <a:prstDash val="solid"/>
          </a:ln>
        </p:spPr>
        <p:txBody>
          <a:bodyPr/>
          <a:lstStyle/>
          <a:p>
            <a:endParaRPr lang="en-IN"/>
          </a:p>
        </p:txBody>
      </p:sp>
      <p:sp>
        <p:nvSpPr>
          <p:cNvPr id="48" name="Text 40"/>
          <p:cNvSpPr txBox="1"/>
          <p:nvPr/>
        </p:nvSpPr>
        <p:spPr>
          <a:xfrm>
            <a:off x="3765583" y="3141878"/>
            <a:ext cx="1225296" cy="402336"/>
          </a:xfrm>
          <a:prstGeom prst="rect">
            <a:avLst/>
          </a:prstGeom>
          <a:noFill/>
          <a:ln/>
        </p:spPr>
        <p:txBody>
          <a:bodyPr wrap="square" lIns="0" tIns="0" rIns="0" bIns="0" rtlCol="0" anchor="ctr"/>
          <a:lstStyle/>
          <a:p>
            <a:pPr marL="0" indent="0" algn="ctr">
              <a:lnSpc>
                <a:spcPct val="90000"/>
              </a:lnSpc>
              <a:buNone/>
            </a:pPr>
            <a:r>
              <a:rPr lang="en-US" sz="700" b="0" dirty="0">
                <a:solidFill>
                  <a:srgbClr val="2E7D32"/>
                </a:solidFill>
                <a:latin typeface="Trenda IG Text Semibold" pitchFamily="34" charset="0"/>
                <a:ea typeface="Trenda IG Text Semibold" pitchFamily="34" charset="-122"/>
                <a:cs typeface="Trenda IG Text Semibold" pitchFamily="34" charset="-120"/>
              </a:rPr>
              <a:t>Test, robotic</a:t>
            </a:r>
            <a:endParaRPr lang="en-US" sz="700" dirty="0"/>
          </a:p>
          <a:p>
            <a:pPr marL="0" indent="0" algn="ctr">
              <a:lnSpc>
                <a:spcPct val="90000"/>
              </a:lnSpc>
              <a:buNone/>
            </a:pPr>
            <a:r>
              <a:rPr lang="en-US" sz="700" b="0" dirty="0">
                <a:solidFill>
                  <a:srgbClr val="2E7D32"/>
                </a:solidFill>
                <a:latin typeface="Trenda IG Text Semibold" pitchFamily="34" charset="0"/>
                <a:ea typeface="Trenda IG Text Semibold" pitchFamily="34" charset="-122"/>
                <a:cs typeface="Trenda IG Text Semibold" pitchFamily="34" charset="-120"/>
              </a:rPr>
              <a:t>&amp; regression</a:t>
            </a:r>
            <a:endParaRPr lang="en-US" sz="700" dirty="0"/>
          </a:p>
        </p:txBody>
      </p:sp>
      <p:sp>
        <p:nvSpPr>
          <p:cNvPr id="49" name="Shape 41"/>
          <p:cNvSpPr/>
          <p:nvPr/>
        </p:nvSpPr>
        <p:spPr>
          <a:xfrm flipH="1" flipV="1">
            <a:off x="4378231" y="2454250"/>
            <a:ext cx="1693385" cy="444398"/>
          </a:xfrm>
          <a:prstGeom prst="line">
            <a:avLst/>
          </a:prstGeom>
          <a:noFill/>
          <a:ln w="15875">
            <a:solidFill>
              <a:srgbClr val="C7D2DE"/>
            </a:solidFill>
            <a:prstDash val="solid"/>
          </a:ln>
        </p:spPr>
        <p:txBody>
          <a:bodyPr/>
          <a:lstStyle/>
          <a:p>
            <a:endParaRPr lang="en-IN"/>
          </a:p>
        </p:txBody>
      </p:sp>
      <p:sp>
        <p:nvSpPr>
          <p:cNvPr id="50" name="Shape 42"/>
          <p:cNvSpPr/>
          <p:nvPr/>
        </p:nvSpPr>
        <p:spPr>
          <a:xfrm>
            <a:off x="3729007" y="2253082"/>
            <a:ext cx="1298448" cy="402336"/>
          </a:xfrm>
          <a:prstGeom prst="roundRect">
            <a:avLst>
              <a:gd name="adj" fmla="val 13636"/>
            </a:avLst>
          </a:prstGeom>
          <a:solidFill>
            <a:srgbClr val="FFFFFF"/>
          </a:solidFill>
          <a:ln w="15875">
            <a:solidFill>
              <a:srgbClr val="00757F"/>
            </a:solidFill>
            <a:prstDash val="solid"/>
          </a:ln>
        </p:spPr>
        <p:txBody>
          <a:bodyPr/>
          <a:lstStyle/>
          <a:p>
            <a:endParaRPr lang="en-IN"/>
          </a:p>
        </p:txBody>
      </p:sp>
      <p:sp>
        <p:nvSpPr>
          <p:cNvPr id="51" name="Text 43"/>
          <p:cNvSpPr txBox="1"/>
          <p:nvPr/>
        </p:nvSpPr>
        <p:spPr>
          <a:xfrm>
            <a:off x="3765583" y="2253082"/>
            <a:ext cx="1225296" cy="402336"/>
          </a:xfrm>
          <a:prstGeom prst="rect">
            <a:avLst/>
          </a:prstGeom>
          <a:noFill/>
          <a:ln/>
        </p:spPr>
        <p:txBody>
          <a:bodyPr wrap="square" lIns="0" tIns="0" rIns="0" bIns="0" rtlCol="0" anchor="ctr"/>
          <a:lstStyle/>
          <a:p>
            <a:pPr marL="0" indent="0" algn="ctr">
              <a:lnSpc>
                <a:spcPct val="90000"/>
              </a:lnSpc>
              <a:buNone/>
            </a:pPr>
            <a:r>
              <a:rPr lang="en-US" sz="700" b="0" dirty="0">
                <a:solidFill>
                  <a:srgbClr val="00757F"/>
                </a:solidFill>
                <a:latin typeface="Trenda IG Text Semibold" pitchFamily="34" charset="0"/>
                <a:ea typeface="Trenda IG Text Semibold" pitchFamily="34" charset="-122"/>
                <a:cs typeface="Trenda IG Text Semibold" pitchFamily="34" charset="-120"/>
              </a:rPr>
              <a:t>Release &amp; env</a:t>
            </a:r>
            <a:endParaRPr lang="en-US" sz="700" dirty="0"/>
          </a:p>
        </p:txBody>
      </p:sp>
      <p:sp>
        <p:nvSpPr>
          <p:cNvPr id="52" name="Shape 44"/>
          <p:cNvSpPr/>
          <p:nvPr/>
        </p:nvSpPr>
        <p:spPr>
          <a:xfrm>
            <a:off x="5321808" y="2514600"/>
            <a:ext cx="1499616" cy="768096"/>
          </a:xfrm>
          <a:prstGeom prst="ellipse">
            <a:avLst/>
          </a:prstGeom>
          <a:solidFill>
            <a:srgbClr val="C2185B"/>
          </a:solidFill>
          <a:ln w="12700">
            <a:solidFill>
              <a:srgbClr val="C2185B"/>
            </a:solidFill>
            <a:prstDash val="solid"/>
          </a:ln>
        </p:spPr>
        <p:txBody>
          <a:bodyPr/>
          <a:lstStyle/>
          <a:p>
            <a:endParaRPr lang="en-IN"/>
          </a:p>
        </p:txBody>
      </p:sp>
      <p:sp>
        <p:nvSpPr>
          <p:cNvPr id="53" name="Text 45"/>
          <p:cNvSpPr txBox="1"/>
          <p:nvPr/>
        </p:nvSpPr>
        <p:spPr>
          <a:xfrm>
            <a:off x="5358384" y="2551176"/>
            <a:ext cx="1426464" cy="694944"/>
          </a:xfrm>
          <a:prstGeom prst="rect">
            <a:avLst/>
          </a:prstGeom>
          <a:noFill/>
          <a:ln/>
        </p:spPr>
        <p:txBody>
          <a:bodyPr wrap="square" lIns="0" tIns="0" rIns="0" bIns="0" rtlCol="0" anchor="ctr"/>
          <a:lstStyle/>
          <a:p>
            <a:pPr marL="0" indent="0" algn="ctr">
              <a:lnSpc>
                <a:spcPct val="90000"/>
              </a:lnSpc>
              <a:buNone/>
            </a:pPr>
            <a:r>
              <a:rPr lang="en-US" sz="950" b="0" dirty="0">
                <a:solidFill>
                  <a:srgbClr val="FFFFFF"/>
                </a:solidFill>
                <a:latin typeface="Trenda IG Display Bold" pitchFamily="34" charset="0"/>
                <a:ea typeface="Trenda IG Display Bold" pitchFamily="34" charset="-122"/>
                <a:cs typeface="Trenda IG Display Bold" pitchFamily="34" charset="-120"/>
              </a:rPr>
              <a:t>Context</a:t>
            </a:r>
            <a:endParaRPr lang="en-US" sz="950" dirty="0"/>
          </a:p>
          <a:p>
            <a:pPr marL="0" indent="0" algn="ctr">
              <a:lnSpc>
                <a:spcPct val="90000"/>
              </a:lnSpc>
              <a:buNone/>
            </a:pPr>
            <a:r>
              <a:rPr lang="en-US" sz="950" b="0" dirty="0">
                <a:solidFill>
                  <a:srgbClr val="FFFFFF"/>
                </a:solidFill>
                <a:latin typeface="Trenda IG Display Bold" pitchFamily="34" charset="0"/>
                <a:ea typeface="Trenda IG Display Bold" pitchFamily="34" charset="-122"/>
                <a:cs typeface="Trenda IG Display Bold" pitchFamily="34" charset="-120"/>
              </a:rPr>
              <a:t>Graph</a:t>
            </a:r>
            <a:endParaRPr lang="en-US" sz="950" dirty="0"/>
          </a:p>
        </p:txBody>
      </p:sp>
      <p:sp>
        <p:nvSpPr>
          <p:cNvPr id="54" name="Text 46"/>
          <p:cNvSpPr txBox="1"/>
          <p:nvPr/>
        </p:nvSpPr>
        <p:spPr>
          <a:xfrm>
            <a:off x="3767328" y="4151376"/>
            <a:ext cx="4608576" cy="164592"/>
          </a:xfrm>
          <a:prstGeom prst="rect">
            <a:avLst/>
          </a:prstGeom>
          <a:noFill/>
          <a:ln/>
        </p:spPr>
        <p:txBody>
          <a:bodyPr wrap="square" lIns="0" tIns="0" rIns="0" bIns="0" rtlCol="0" anchor="ctr"/>
          <a:lstStyle/>
          <a:p>
            <a:pPr marL="0" indent="0" algn="ctr">
              <a:buNone/>
            </a:pPr>
            <a:r>
              <a:rPr lang="en-US" sz="800" b="0" dirty="0">
                <a:solidFill>
                  <a:srgbClr val="C2185B"/>
                </a:solidFill>
                <a:latin typeface="Trenda IG Text Semibold" pitchFamily="34" charset="0"/>
                <a:ea typeface="Trenda IG Text Semibold" pitchFamily="34" charset="-122"/>
                <a:cs typeface="Trenda IG Text Semibold" pitchFamily="34" charset="-120"/>
              </a:rPr>
              <a:t>Every edge is a fact, not a guess</a:t>
            </a:r>
            <a:endParaRPr lang="en-US" sz="800" dirty="0"/>
          </a:p>
        </p:txBody>
      </p:sp>
      <p:sp>
        <p:nvSpPr>
          <p:cNvPr id="55" name="Text 47"/>
          <p:cNvSpPr txBox="1"/>
          <p:nvPr/>
        </p:nvSpPr>
        <p:spPr>
          <a:xfrm>
            <a:off x="3803904" y="4352544"/>
            <a:ext cx="4535424" cy="841248"/>
          </a:xfrm>
          <a:prstGeom prst="rect">
            <a:avLst/>
          </a:prstGeom>
          <a:noFill/>
          <a:ln/>
        </p:spPr>
        <p:txBody>
          <a:bodyPr wrap="square" lIns="0" tIns="0" rIns="0" bIns="0" rtlCol="0" anchor="t"/>
          <a:lstStyle/>
          <a:p>
            <a:pPr marL="0" indent="0" algn="ctr">
              <a:lnSpc>
                <a:spcPct val="105000"/>
              </a:lnSpc>
              <a:buNone/>
            </a:pPr>
            <a:r>
              <a:rPr lang="en-US" sz="700" dirty="0">
                <a:solidFill>
                  <a:srgbClr val="12233B"/>
                </a:solidFill>
                <a:latin typeface="Trenda IG Text" pitchFamily="34" charset="0"/>
                <a:ea typeface="Trenda IG Text" pitchFamily="34" charset="-122"/>
                <a:cs typeface="Trenda IG Text" pitchFamily="34" charset="-120"/>
              </a:rPr>
              <a:t>REQUIREMENT_TARGETS_CAPABILITY  ·  SECTION_DEFINES_RULE</a:t>
            </a:r>
            <a:endParaRPr lang="en-US" sz="700" dirty="0"/>
          </a:p>
          <a:p>
            <a:pPr marL="0" indent="0" algn="ctr">
              <a:lnSpc>
                <a:spcPct val="105000"/>
              </a:lnSpc>
              <a:buNone/>
            </a:pPr>
            <a:r>
              <a:rPr lang="en-US" sz="700" dirty="0">
                <a:solidFill>
                  <a:srgbClr val="12233B"/>
                </a:solidFill>
                <a:latin typeface="Trenda IG Text" pitchFamily="34" charset="0"/>
                <a:ea typeface="Trenda IG Text" pitchFamily="34" charset="-122"/>
                <a:cs typeface="Trenda IG Text" pitchFamily="34" charset="-120"/>
              </a:rPr>
              <a:t>RULE_CONSTRAINS_SOBJECT  ·  SOBJECT_HAS_FIELD</a:t>
            </a:r>
            <a:endParaRPr lang="en-US" sz="700" dirty="0"/>
          </a:p>
          <a:p>
            <a:pPr marL="0" indent="0" algn="ctr">
              <a:lnSpc>
                <a:spcPct val="105000"/>
              </a:lnSpc>
              <a:buNone/>
            </a:pPr>
            <a:r>
              <a:rPr lang="en-US" sz="700" dirty="0">
                <a:solidFill>
                  <a:srgbClr val="12233B"/>
                </a:solidFill>
                <a:latin typeface="Trenda IG Text" pitchFamily="34" charset="0"/>
                <a:ea typeface="Trenda IG Text" pitchFamily="34" charset="-122"/>
                <a:cs typeface="Trenda IG Text" pitchFamily="34" charset="-120"/>
              </a:rPr>
              <a:t>FLOW_UPDATES_SOBJECT  ·  APEX_REFERENCES_SOBJECT</a:t>
            </a:r>
            <a:endParaRPr lang="en-US" sz="700" dirty="0"/>
          </a:p>
          <a:p>
            <a:pPr marL="0" indent="0" algn="ctr">
              <a:lnSpc>
                <a:spcPct val="105000"/>
              </a:lnSpc>
              <a:buNone/>
            </a:pPr>
            <a:r>
              <a:rPr lang="en-US" sz="700" dirty="0">
                <a:solidFill>
                  <a:srgbClr val="12233B"/>
                </a:solidFill>
                <a:latin typeface="Trenda IG Text" pitchFamily="34" charset="0"/>
                <a:ea typeface="Trenda IG Text" pitchFamily="34" charset="-122"/>
                <a:cs typeface="Trenda IG Text" pitchFamily="34" charset="-120"/>
              </a:rPr>
              <a:t>TRIGGER_FIRES_ON_SOBJECT  ·  COMPONENT_DEPENDS_ON_COMPONENT</a:t>
            </a:r>
            <a:endParaRPr lang="en-US" sz="700" dirty="0"/>
          </a:p>
          <a:p>
            <a:pPr marL="0" indent="0" algn="ctr">
              <a:lnSpc>
                <a:spcPct val="105000"/>
              </a:lnSpc>
              <a:buNone/>
            </a:pPr>
            <a:r>
              <a:rPr lang="en-US" sz="700" dirty="0">
                <a:solidFill>
                  <a:srgbClr val="12233B"/>
                </a:solidFill>
                <a:latin typeface="Trenda IG Text" pitchFamily="34" charset="0"/>
                <a:ea typeface="Trenda IG Text" pitchFamily="34" charset="-122"/>
                <a:cs typeface="Trenda IG Text" pitchFamily="34" charset="-120"/>
              </a:rPr>
              <a:t>TEST_COVERS_COMPONENT  ·  RELEASE_DEPLOYS_COMPONENT</a:t>
            </a:r>
            <a:endParaRPr lang="en-US" sz="700" dirty="0"/>
          </a:p>
          <a:p>
            <a:pPr marL="0" indent="0" algn="ctr">
              <a:lnSpc>
                <a:spcPct val="105000"/>
              </a:lnSpc>
              <a:buNone/>
            </a:pPr>
            <a:r>
              <a:rPr lang="en-US" sz="700" dirty="0">
                <a:solidFill>
                  <a:srgbClr val="12233B"/>
                </a:solidFill>
                <a:latin typeface="Trenda IG Text" pitchFamily="34" charset="0"/>
                <a:ea typeface="Trenda IG Text" pitchFamily="34" charset="-122"/>
                <a:cs typeface="Trenda IG Text" pitchFamily="34" charset="-120"/>
              </a:rPr>
              <a:t>COMPONENT_PUBLISHES_EVENT (→ APDH)  ·  REQUIREMENT_REUSES_COMPONENT</a:t>
            </a:r>
            <a:endParaRPr lang="en-US" sz="700" dirty="0"/>
          </a:p>
        </p:txBody>
      </p:sp>
      <p:sp>
        <p:nvSpPr>
          <p:cNvPr id="56" name="Shape 48"/>
          <p:cNvSpPr/>
          <p:nvPr/>
        </p:nvSpPr>
        <p:spPr>
          <a:xfrm>
            <a:off x="3767328" y="5248656"/>
            <a:ext cx="4608576" cy="1097280"/>
          </a:xfrm>
          <a:prstGeom prst="roundRect">
            <a:avLst>
              <a:gd name="adj" fmla="val 4167"/>
            </a:avLst>
          </a:prstGeom>
          <a:solidFill>
            <a:srgbClr val="FBE9F0"/>
          </a:solidFill>
          <a:ln w="9525">
            <a:solidFill>
              <a:srgbClr val="C2185B"/>
            </a:solidFill>
            <a:prstDash val="solid"/>
          </a:ln>
        </p:spPr>
        <p:txBody>
          <a:bodyPr/>
          <a:lstStyle/>
          <a:p>
            <a:endParaRPr lang="en-IN"/>
          </a:p>
        </p:txBody>
      </p:sp>
      <p:sp>
        <p:nvSpPr>
          <p:cNvPr id="57" name="Text 49"/>
          <p:cNvSpPr txBox="1"/>
          <p:nvPr/>
        </p:nvSpPr>
        <p:spPr>
          <a:xfrm>
            <a:off x="3877056" y="5330952"/>
            <a:ext cx="4389120" cy="164592"/>
          </a:xfrm>
          <a:prstGeom prst="rect">
            <a:avLst/>
          </a:prstGeom>
          <a:noFill/>
          <a:ln/>
        </p:spPr>
        <p:txBody>
          <a:bodyPr wrap="square" lIns="0" tIns="0" rIns="0" bIns="0" rtlCol="0" anchor="ctr"/>
          <a:lstStyle/>
          <a:p>
            <a:pPr marL="0" indent="0">
              <a:buNone/>
            </a:pPr>
            <a:r>
              <a:rPr lang="en-US" sz="800" b="0" dirty="0">
                <a:solidFill>
                  <a:srgbClr val="C2185B"/>
                </a:solidFill>
                <a:latin typeface="Trenda IG Text Semibold" pitchFamily="34" charset="0"/>
                <a:ea typeface="Trenda IG Text Semibold" pitchFamily="34" charset="-122"/>
                <a:cs typeface="Trenda IG Text Semibold" pitchFamily="34" charset="-120"/>
              </a:rPr>
              <a:t>Why a graph and not a document store</a:t>
            </a:r>
            <a:endParaRPr lang="en-US" sz="800" dirty="0"/>
          </a:p>
        </p:txBody>
      </p:sp>
      <p:sp>
        <p:nvSpPr>
          <p:cNvPr id="58" name="Text 50"/>
          <p:cNvSpPr txBox="1"/>
          <p:nvPr/>
        </p:nvSpPr>
        <p:spPr>
          <a:xfrm>
            <a:off x="3877056" y="5532120"/>
            <a:ext cx="4389120" cy="749808"/>
          </a:xfrm>
          <a:prstGeom prst="rect">
            <a:avLst/>
          </a:prstGeom>
          <a:noFill/>
          <a:ln/>
        </p:spPr>
        <p:txBody>
          <a:bodyPr wrap="square" lIns="0" tIns="0" rIns="0" bIns="0" rtlCol="0" anchor="t"/>
          <a:lstStyle/>
          <a:p>
            <a:pPr marL="0" indent="0">
              <a:lnSpc>
                <a:spcPct val="100000"/>
              </a:lnSpc>
              <a:buNone/>
            </a:pPr>
            <a:r>
              <a:rPr lang="en-US" sz="750" dirty="0">
                <a:solidFill>
                  <a:srgbClr val="12233B"/>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50" dirty="0"/>
          </a:p>
          <a:p>
            <a:pPr marL="0" indent="0">
              <a:lnSpc>
                <a:spcPct val="100000"/>
              </a:lnSpc>
              <a:buNone/>
            </a:pPr>
            <a:r>
              <a:rPr lang="en-US" sz="750" dirty="0">
                <a:solidFill>
                  <a:srgbClr val="12233B"/>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50" dirty="0"/>
          </a:p>
          <a:p>
            <a:pPr marL="0" indent="0">
              <a:lnSpc>
                <a:spcPct val="100000"/>
              </a:lnSpc>
              <a:buNone/>
            </a:pPr>
            <a:r>
              <a:rPr lang="en-US" sz="750" dirty="0">
                <a:solidFill>
                  <a:srgbClr val="12233B"/>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50" dirty="0"/>
          </a:p>
        </p:txBody>
      </p:sp>
      <p:sp>
        <p:nvSpPr>
          <p:cNvPr id="59" name="Shape 51"/>
          <p:cNvSpPr/>
          <p:nvPr/>
        </p:nvSpPr>
        <p:spPr>
          <a:xfrm>
            <a:off x="8759952" y="1024128"/>
            <a:ext cx="3063240" cy="5440680"/>
          </a:xfrm>
          <a:prstGeom prst="roundRect">
            <a:avLst>
              <a:gd name="adj" fmla="val 1493"/>
            </a:avLst>
          </a:prstGeom>
          <a:solidFill>
            <a:srgbClr val="E3F2F4"/>
          </a:solidFill>
          <a:ln w="9525">
            <a:solidFill>
              <a:srgbClr val="DCE4EE"/>
            </a:solidFill>
            <a:prstDash val="solid"/>
          </a:ln>
        </p:spPr>
        <p:txBody>
          <a:bodyPr/>
          <a:lstStyle/>
          <a:p>
            <a:endParaRPr lang="en-IN"/>
          </a:p>
        </p:txBody>
      </p:sp>
      <p:sp>
        <p:nvSpPr>
          <p:cNvPr id="60" name="Shape 52"/>
          <p:cNvSpPr/>
          <p:nvPr/>
        </p:nvSpPr>
        <p:spPr>
          <a:xfrm>
            <a:off x="8759952" y="1024128"/>
            <a:ext cx="3063240" cy="365760"/>
          </a:xfrm>
          <a:prstGeom prst="roundRect">
            <a:avLst>
              <a:gd name="adj" fmla="val 12500"/>
            </a:avLst>
          </a:prstGeom>
          <a:solidFill>
            <a:srgbClr val="00757F"/>
          </a:solidFill>
          <a:ln w="12700">
            <a:solidFill>
              <a:srgbClr val="00757F"/>
            </a:solidFill>
            <a:prstDash val="solid"/>
          </a:ln>
        </p:spPr>
        <p:txBody>
          <a:bodyPr/>
          <a:lstStyle/>
          <a:p>
            <a:endParaRPr lang="en-IN"/>
          </a:p>
        </p:txBody>
      </p:sp>
      <p:sp>
        <p:nvSpPr>
          <p:cNvPr id="61" name="Text 53"/>
          <p:cNvSpPr txBox="1"/>
          <p:nvPr/>
        </p:nvSpPr>
        <p:spPr>
          <a:xfrm>
            <a:off x="8759952" y="1024128"/>
            <a:ext cx="3063240" cy="365760"/>
          </a:xfrm>
          <a:prstGeom prst="rect">
            <a:avLst/>
          </a:prstGeom>
          <a:noFill/>
          <a:ln/>
        </p:spPr>
        <p:txBody>
          <a:bodyPr wrap="square" lIns="0" tIns="0" rIns="0" bIns="0" rtlCol="0" anchor="ctr"/>
          <a:lstStyle/>
          <a:p>
            <a:pPr marL="0" indent="0" algn="ctr">
              <a:buNone/>
            </a:pPr>
            <a:r>
              <a:rPr lang="en-US" sz="950" b="0" dirty="0">
                <a:solidFill>
                  <a:srgbClr val="FFFFFF"/>
                </a:solidFill>
                <a:latin typeface="Trenda IG Display Bold" pitchFamily="34" charset="0"/>
                <a:ea typeface="Trenda IG Display Bold" pitchFamily="34" charset="-122"/>
                <a:cs typeface="Trenda IG Display Bold" pitchFamily="34" charset="-120"/>
              </a:rPr>
              <a:t>How Codex uses it</a:t>
            </a:r>
            <a:endParaRPr lang="en-US" sz="950" dirty="0"/>
          </a:p>
        </p:txBody>
      </p:sp>
      <p:sp>
        <p:nvSpPr>
          <p:cNvPr id="62" name="Shape 54"/>
          <p:cNvSpPr/>
          <p:nvPr/>
        </p:nvSpPr>
        <p:spPr>
          <a:xfrm>
            <a:off x="8851392" y="1499616"/>
            <a:ext cx="2880360" cy="1170432"/>
          </a:xfrm>
          <a:prstGeom prst="roundRect">
            <a:avLst>
              <a:gd name="adj" fmla="val 3125"/>
            </a:avLst>
          </a:prstGeom>
          <a:solidFill>
            <a:srgbClr val="FFFFFF"/>
          </a:solidFill>
          <a:ln w="9525">
            <a:solidFill>
              <a:srgbClr val="DCE4EE"/>
            </a:solidFill>
            <a:prstDash val="solid"/>
          </a:ln>
        </p:spPr>
        <p:txBody>
          <a:bodyPr/>
          <a:lstStyle/>
          <a:p>
            <a:endParaRPr lang="en-IN"/>
          </a:p>
        </p:txBody>
      </p:sp>
      <p:sp>
        <p:nvSpPr>
          <p:cNvPr id="63" name="Text 55"/>
          <p:cNvSpPr txBox="1"/>
          <p:nvPr/>
        </p:nvSpPr>
        <p:spPr>
          <a:xfrm>
            <a:off x="8961120" y="1572768"/>
            <a:ext cx="2660904" cy="164592"/>
          </a:xfrm>
          <a:prstGeom prst="rect">
            <a:avLst/>
          </a:prstGeom>
          <a:noFill/>
          <a:ln/>
        </p:spPr>
        <p:txBody>
          <a:bodyPr wrap="square" lIns="0" tIns="0" rIns="0" bIns="0" rtlCol="0" anchor="ctr"/>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Ask the adapter</a:t>
            </a:r>
            <a:endParaRPr lang="en-US" sz="800" dirty="0"/>
          </a:p>
        </p:txBody>
      </p:sp>
      <p:sp>
        <p:nvSpPr>
          <p:cNvPr id="64" name="Text 56"/>
          <p:cNvSpPr txBox="1"/>
          <p:nvPr/>
        </p:nvSpPr>
        <p:spPr>
          <a:xfrm>
            <a:off x="8961120" y="1764792"/>
            <a:ext cx="2660904" cy="841248"/>
          </a:xfrm>
          <a:prstGeom prst="rect">
            <a:avLst/>
          </a:prstGeom>
          <a:noFill/>
          <a:ln/>
        </p:spPr>
        <p:txBody>
          <a:bodyPr wrap="square" lIns="0" tIns="0" rIns="0" bIns="0" rtlCol="0" anchor="t"/>
          <a:lstStyle/>
          <a:p>
            <a:pPr marL="0" indent="0">
              <a:lnSpc>
                <a:spcPct val="98000"/>
              </a:lnSpc>
              <a:buNone/>
            </a:pPr>
            <a:r>
              <a:rPr lang="en-US" sz="640" dirty="0">
                <a:solidFill>
                  <a:srgbClr val="12233B"/>
                </a:solidFill>
                <a:latin typeface="Courier New" pitchFamily="34" charset="0"/>
                <a:ea typeface="Courier New" pitchFamily="34" charset="-122"/>
                <a:cs typeface="Courier New" pitchFamily="34" charset="-120"/>
              </a:rPr>
              <a:t>analyze_impact("req:NS-1234")</a:t>
            </a:r>
            <a:endParaRPr lang="en-US" sz="640" dirty="0"/>
          </a:p>
          <a:p>
            <a:pPr marL="0" indent="0">
              <a:lnSpc>
                <a:spcPct val="98000"/>
              </a:lnSpc>
              <a:buNone/>
            </a:pPr>
            <a:r>
              <a:rPr lang="en-US" sz="640" dirty="0">
                <a:solidFill>
                  <a:srgbClr val="12233B"/>
                </a:solidFill>
                <a:latin typeface="Courier New" pitchFamily="34" charset="0"/>
                <a:ea typeface="Courier New" pitchFamily="34" charset="-122"/>
                <a:cs typeface="Courier New" pitchFamily="34" charset="-120"/>
              </a:rPr>
              <a:t>find_reuse("cap:network-participation")</a:t>
            </a:r>
            <a:endParaRPr lang="en-US" sz="640" dirty="0"/>
          </a:p>
          <a:p>
            <a:pPr marL="0" indent="0">
              <a:lnSpc>
                <a:spcPct val="98000"/>
              </a:lnSpc>
              <a:buNone/>
            </a:pPr>
            <a:r>
              <a:rPr lang="en-US" sz="640" dirty="0">
                <a:solidFill>
                  <a:srgbClr val="12233B"/>
                </a:solidFill>
                <a:latin typeface="Courier New" pitchFamily="34" charset="0"/>
                <a:ea typeface="Courier New" pitchFamily="34" charset="-122"/>
                <a:cs typeface="Courier New" pitchFamily="34" charset="-120"/>
              </a:rPr>
              <a:t>blast_radius("sobj:HPF__c", hops=3)</a:t>
            </a:r>
            <a:endParaRPr lang="en-US" sz="640" dirty="0"/>
          </a:p>
          <a:p>
            <a:pPr marL="0" indent="0">
              <a:lnSpc>
                <a:spcPct val="98000"/>
              </a:lnSpc>
              <a:buNone/>
            </a:pPr>
            <a:r>
              <a:rPr lang="en-US" sz="640" dirty="0">
                <a:solidFill>
                  <a:srgbClr val="12233B"/>
                </a:solidFill>
                <a:latin typeface="Courier New" pitchFamily="34" charset="0"/>
                <a:ea typeface="Courier New" pitchFamily="34" charset="-122"/>
                <a:cs typeface="Courier New" pitchFamily="34" charset="-120"/>
              </a:rPr>
              <a:t>trace_downstream_events("apex:HFNGen")</a:t>
            </a:r>
            <a:endParaRPr lang="en-US" sz="640" dirty="0"/>
          </a:p>
          <a:p>
            <a:pPr marL="0" indent="0">
              <a:lnSpc>
                <a:spcPct val="98000"/>
              </a:lnSpc>
              <a:buNone/>
            </a:pPr>
            <a:r>
              <a:rPr lang="en-US" sz="640" dirty="0">
                <a:solidFill>
                  <a:srgbClr val="12233B"/>
                </a:solidFill>
                <a:latin typeface="Courier New" pitchFamily="34" charset="0"/>
                <a:ea typeface="Courier New" pitchFamily="34" charset="-122"/>
                <a:cs typeface="Courier New" pitchFamily="34" charset="-120"/>
              </a:rPr>
              <a:t>get_provenance("rule:hfn-active-hpf")</a:t>
            </a:r>
            <a:endParaRPr lang="en-US" sz="640" dirty="0"/>
          </a:p>
        </p:txBody>
      </p:sp>
      <p:sp>
        <p:nvSpPr>
          <p:cNvPr id="65" name="Shape 57"/>
          <p:cNvSpPr/>
          <p:nvPr/>
        </p:nvSpPr>
        <p:spPr>
          <a:xfrm>
            <a:off x="8851392" y="2761488"/>
            <a:ext cx="2880360" cy="1481328"/>
          </a:xfrm>
          <a:prstGeom prst="roundRect">
            <a:avLst>
              <a:gd name="adj" fmla="val 2469"/>
            </a:avLst>
          </a:prstGeom>
          <a:solidFill>
            <a:srgbClr val="FFFFFF"/>
          </a:solidFill>
          <a:ln w="9525">
            <a:solidFill>
              <a:srgbClr val="DCE4EE"/>
            </a:solidFill>
            <a:prstDash val="solid"/>
          </a:ln>
        </p:spPr>
        <p:txBody>
          <a:bodyPr/>
          <a:lstStyle/>
          <a:p>
            <a:endParaRPr lang="en-IN"/>
          </a:p>
        </p:txBody>
      </p:sp>
      <p:sp>
        <p:nvSpPr>
          <p:cNvPr id="66" name="Text 58"/>
          <p:cNvSpPr txBox="1"/>
          <p:nvPr/>
        </p:nvSpPr>
        <p:spPr>
          <a:xfrm>
            <a:off x="8961120" y="2834640"/>
            <a:ext cx="2660904" cy="164592"/>
          </a:xfrm>
          <a:prstGeom prst="rect">
            <a:avLst/>
          </a:prstGeom>
          <a:noFill/>
          <a:ln/>
        </p:spPr>
        <p:txBody>
          <a:bodyPr wrap="square" lIns="0" tIns="0" rIns="0" bIns="0" rtlCol="0" anchor="ctr"/>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Get back verified facts</a:t>
            </a:r>
            <a:endParaRPr lang="en-US" sz="800" dirty="0"/>
          </a:p>
        </p:txBody>
      </p:sp>
      <p:sp>
        <p:nvSpPr>
          <p:cNvPr id="67" name="Text 59"/>
          <p:cNvSpPr txBox="1"/>
          <p:nvPr/>
        </p:nvSpPr>
        <p:spPr>
          <a:xfrm>
            <a:off x="8961120" y="3026664"/>
            <a:ext cx="2660904" cy="1152144"/>
          </a:xfrm>
          <a:prstGeom prst="rect">
            <a:avLst/>
          </a:prstGeom>
          <a:noFill/>
          <a:ln/>
        </p:spPr>
        <p:txBody>
          <a:bodyPr wrap="square" lIns="0" tIns="0" rIns="0" bIns="0" rtlCol="0" anchor="t"/>
          <a:lstStyle/>
          <a:p>
            <a:pPr marL="101600" indent="-101600">
              <a:lnSpc>
                <a:spcPct val="98000"/>
              </a:lnSpc>
              <a:buSzPct val="100000"/>
              <a:buChar char="•"/>
            </a:pPr>
            <a:r>
              <a:rPr lang="en-US" sz="720" dirty="0">
                <a:solidFill>
                  <a:srgbClr val="12233B"/>
                </a:solidFill>
                <a:latin typeface="Trenda IG Text" pitchFamily="34" charset="0"/>
                <a:ea typeface="Trenda IG Text" pitchFamily="34" charset="-122"/>
                <a:cs typeface="Trenda IG Text" pitchFamily="34" charset="-120"/>
              </a:rPr>
              <a:t>Business capability affected</a:t>
            </a:r>
            <a:endParaRPr lang="en-US" sz="720" dirty="0"/>
          </a:p>
          <a:p>
            <a:pPr marL="101600" indent="-101600">
              <a:lnSpc>
                <a:spcPct val="98000"/>
              </a:lnSpc>
              <a:buSzPct val="100000"/>
              <a:buChar char="•"/>
            </a:pPr>
            <a:r>
              <a:rPr lang="en-US" sz="720" dirty="0">
                <a:solidFill>
                  <a:srgbClr val="12233B"/>
                </a:solidFill>
                <a:latin typeface="Trenda IG Text" pitchFamily="34" charset="0"/>
                <a:ea typeface="Trenda IG Text" pitchFamily="34" charset="-122"/>
                <a:cs typeface="Trenda IG Text" pitchFamily="34" charset="-120"/>
              </a:rPr>
              <a:t>Objects, fields and automation touched</a:t>
            </a:r>
            <a:endParaRPr lang="en-US" sz="720" dirty="0"/>
          </a:p>
          <a:p>
            <a:pPr marL="101600" indent="-101600">
              <a:lnSpc>
                <a:spcPct val="98000"/>
              </a:lnSpc>
              <a:buSzPct val="100000"/>
              <a:buChar char="•"/>
            </a:pPr>
            <a:r>
              <a:rPr lang="en-US" sz="720" dirty="0">
                <a:solidFill>
                  <a:srgbClr val="12233B"/>
                </a:solidFill>
                <a:latin typeface="Trenda IG Text" pitchFamily="34" charset="0"/>
                <a:ea typeface="Trenda IG Text" pitchFamily="34" charset="-122"/>
                <a:cs typeface="Trenda IG Text" pitchFamily="34" charset="-120"/>
              </a:rPr>
              <a:t>Existing implementation to reuse</a:t>
            </a:r>
            <a:endParaRPr lang="en-US" sz="720" dirty="0"/>
          </a:p>
          <a:p>
            <a:pPr marL="101600" indent="-101600">
              <a:lnSpc>
                <a:spcPct val="98000"/>
              </a:lnSpc>
              <a:buSzPct val="100000"/>
              <a:buChar char="•"/>
            </a:pPr>
            <a:r>
              <a:rPr lang="en-US" sz="720" dirty="0">
                <a:solidFill>
                  <a:srgbClr val="12233B"/>
                </a:solidFill>
                <a:latin typeface="Trenda IG Text" pitchFamily="34" charset="0"/>
                <a:ea typeface="Trenda IG Text" pitchFamily="34" charset="-122"/>
                <a:cs typeface="Trenda IG Text" pitchFamily="34" charset="-120"/>
              </a:rPr>
              <a:t>Covering robotic &amp; regression tests</a:t>
            </a:r>
            <a:endParaRPr lang="en-US" sz="720" dirty="0"/>
          </a:p>
          <a:p>
            <a:pPr marL="101600" indent="-101600">
              <a:lnSpc>
                <a:spcPct val="98000"/>
              </a:lnSpc>
              <a:buSzPct val="100000"/>
              <a:buChar char="•"/>
            </a:pPr>
            <a:r>
              <a:rPr lang="en-US" sz="720" dirty="0">
                <a:solidFill>
                  <a:srgbClr val="12233B"/>
                </a:solidFill>
                <a:latin typeface="Trenda IG Text" pitchFamily="34" charset="0"/>
                <a:ea typeface="Trenda IG Text" pitchFamily="34" charset="-122"/>
                <a:cs typeface="Trenda IG Text" pitchFamily="34" charset="-120"/>
              </a:rPr>
              <a:t>Downstream APDH publishing impact</a:t>
            </a:r>
            <a:endParaRPr lang="en-US" sz="720" dirty="0"/>
          </a:p>
          <a:p>
            <a:pPr marL="101600" indent="-101600">
              <a:lnSpc>
                <a:spcPct val="98000"/>
              </a:lnSpc>
              <a:buSzPct val="100000"/>
              <a:buChar char="•"/>
            </a:pPr>
            <a:r>
              <a:rPr lang="en-US" sz="720" dirty="0">
                <a:solidFill>
                  <a:srgbClr val="12233B"/>
                </a:solidFill>
                <a:latin typeface="Trenda IG Text" pitchFamily="34" charset="0"/>
                <a:ea typeface="Trenda IG Text" pitchFamily="34" charset="-122"/>
                <a:cs typeface="Trenda IG Text" pitchFamily="34" charset="-120"/>
              </a:rPr>
              <a:t>Risk tier and the approver it routes to</a:t>
            </a:r>
            <a:endParaRPr lang="en-US" sz="720" dirty="0"/>
          </a:p>
        </p:txBody>
      </p:sp>
      <p:sp>
        <p:nvSpPr>
          <p:cNvPr id="68" name="Shape 60"/>
          <p:cNvSpPr/>
          <p:nvPr/>
        </p:nvSpPr>
        <p:spPr>
          <a:xfrm>
            <a:off x="8851392" y="4334256"/>
            <a:ext cx="2880360" cy="1078992"/>
          </a:xfrm>
          <a:prstGeom prst="roundRect">
            <a:avLst>
              <a:gd name="adj" fmla="val 3390"/>
            </a:avLst>
          </a:prstGeom>
          <a:solidFill>
            <a:srgbClr val="FFFFFF"/>
          </a:solidFill>
          <a:ln w="9525">
            <a:solidFill>
              <a:srgbClr val="DCE4EE"/>
            </a:solidFill>
            <a:prstDash val="solid"/>
          </a:ln>
        </p:spPr>
        <p:txBody>
          <a:bodyPr/>
          <a:lstStyle/>
          <a:p>
            <a:endParaRPr lang="en-IN"/>
          </a:p>
        </p:txBody>
      </p:sp>
      <p:sp>
        <p:nvSpPr>
          <p:cNvPr id="69" name="Text 61"/>
          <p:cNvSpPr txBox="1"/>
          <p:nvPr/>
        </p:nvSpPr>
        <p:spPr>
          <a:xfrm>
            <a:off x="8961120" y="4407408"/>
            <a:ext cx="2660904" cy="164592"/>
          </a:xfrm>
          <a:prstGeom prst="rect">
            <a:avLst/>
          </a:prstGeom>
          <a:noFill/>
          <a:ln/>
        </p:spPr>
        <p:txBody>
          <a:bodyPr wrap="square" lIns="0" tIns="0" rIns="0" bIns="0" rtlCol="0" anchor="ctr"/>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Then Codex writes</a:t>
            </a:r>
            <a:endParaRPr lang="en-US" sz="800" dirty="0"/>
          </a:p>
        </p:txBody>
      </p:sp>
      <p:sp>
        <p:nvSpPr>
          <p:cNvPr id="70" name="Text 62"/>
          <p:cNvSpPr txBox="1"/>
          <p:nvPr/>
        </p:nvSpPr>
        <p:spPr>
          <a:xfrm>
            <a:off x="8961120" y="4599432"/>
            <a:ext cx="2660904" cy="749808"/>
          </a:xfrm>
          <a:prstGeom prst="rect">
            <a:avLst/>
          </a:prstGeom>
          <a:noFill/>
          <a:ln/>
        </p:spPr>
        <p:txBody>
          <a:bodyPr wrap="square" lIns="0" tIns="0" rIns="0" bIns="0" rtlCol="0" anchor="t"/>
          <a:lstStyle/>
          <a:p>
            <a:pPr marL="101600" indent="-101600">
              <a:lnSpc>
                <a:spcPct val="98000"/>
              </a:lnSpc>
              <a:buSzPct val="100000"/>
              <a:buChar char="•"/>
            </a:pPr>
            <a:r>
              <a:rPr lang="en-US" sz="720" dirty="0">
                <a:solidFill>
                  <a:srgbClr val="12233B"/>
                </a:solidFill>
                <a:latin typeface="Trenda IG Text" pitchFamily="34" charset="0"/>
                <a:ea typeface="Trenda IG Text" pitchFamily="34" charset="-122"/>
                <a:cs typeface="Trenda IG Text" pitchFamily="34" charset="-120"/>
              </a:rPr>
              <a:t>Apex, Flows, validation rules, metadata</a:t>
            </a:r>
            <a:endParaRPr lang="en-US" sz="720" dirty="0"/>
          </a:p>
          <a:p>
            <a:pPr marL="101600" indent="-101600">
              <a:lnSpc>
                <a:spcPct val="98000"/>
              </a:lnSpc>
              <a:buSzPct val="100000"/>
              <a:buChar char="•"/>
            </a:pPr>
            <a:r>
              <a:rPr lang="en-US" sz="720" dirty="0">
                <a:solidFill>
                  <a:srgbClr val="12233B"/>
                </a:solidFill>
                <a:latin typeface="Trenda IG Text" pitchFamily="34" charset="0"/>
                <a:ea typeface="Trenda IG Text" pitchFamily="34" charset="-122"/>
                <a:cs typeface="Trenda IG Text" pitchFamily="34" charset="-120"/>
              </a:rPr>
              <a:t>LWC config and tests</a:t>
            </a:r>
            <a:endParaRPr lang="en-US" sz="720" dirty="0"/>
          </a:p>
          <a:p>
            <a:pPr marL="101600" indent="-101600">
              <a:lnSpc>
                <a:spcPct val="98000"/>
              </a:lnSpc>
              <a:buSzPct val="100000"/>
              <a:buChar char="•"/>
            </a:pPr>
            <a:r>
              <a:rPr lang="en-US" sz="720" dirty="0">
                <a:solidFill>
                  <a:srgbClr val="12233B"/>
                </a:solidFill>
                <a:latin typeface="Trenda IG Text" pitchFamily="34" charset="0"/>
                <a:ea typeface="Trenda IG Text" pitchFamily="34" charset="-122"/>
                <a:cs typeface="Trenda IG Text" pitchFamily="34" charset="-120"/>
              </a:rPr>
              <a:t>Modifies existing when valid, never duplicates</a:t>
            </a:r>
            <a:endParaRPr lang="en-US" sz="720" dirty="0"/>
          </a:p>
          <a:p>
            <a:pPr marL="101600" indent="-101600">
              <a:lnSpc>
                <a:spcPct val="98000"/>
              </a:lnSpc>
              <a:buSzPct val="100000"/>
              <a:buChar char="•"/>
            </a:pPr>
            <a:r>
              <a:rPr lang="en-US" sz="720" dirty="0">
                <a:solidFill>
                  <a:srgbClr val="12233B"/>
                </a:solidFill>
                <a:latin typeface="Trenda IG Text" pitchFamily="34" charset="0"/>
                <a:ea typeface="Trenda IG Text" pitchFamily="34" charset="-122"/>
                <a:cs typeface="Trenda IG Text" pitchFamily="34" charset="-120"/>
              </a:rPr>
              <a:t>DEV + branch only, after human approval</a:t>
            </a:r>
            <a:endParaRPr lang="en-US" sz="720" dirty="0"/>
          </a:p>
        </p:txBody>
      </p:sp>
      <p:sp>
        <p:nvSpPr>
          <p:cNvPr id="71" name="Shape 63"/>
          <p:cNvSpPr/>
          <p:nvPr/>
        </p:nvSpPr>
        <p:spPr>
          <a:xfrm>
            <a:off x="8851392" y="5504688"/>
            <a:ext cx="2880360" cy="795528"/>
          </a:xfrm>
          <a:prstGeom prst="roundRect">
            <a:avLst>
              <a:gd name="adj" fmla="val 4598"/>
            </a:avLst>
          </a:prstGeom>
          <a:solidFill>
            <a:srgbClr val="00757F"/>
          </a:solidFill>
          <a:ln w="12700">
            <a:solidFill>
              <a:srgbClr val="00757F"/>
            </a:solidFill>
            <a:prstDash val="solid"/>
          </a:ln>
        </p:spPr>
        <p:txBody>
          <a:bodyPr/>
          <a:lstStyle/>
          <a:p>
            <a:endParaRPr lang="en-IN"/>
          </a:p>
        </p:txBody>
      </p:sp>
      <p:sp>
        <p:nvSpPr>
          <p:cNvPr id="72" name="Text 64"/>
          <p:cNvSpPr txBox="1"/>
          <p:nvPr/>
        </p:nvSpPr>
        <p:spPr>
          <a:xfrm>
            <a:off x="8961120" y="5577840"/>
            <a:ext cx="2660904" cy="164592"/>
          </a:xfrm>
          <a:prstGeom prst="rect">
            <a:avLst/>
          </a:prstGeom>
          <a:noFill/>
          <a:ln/>
        </p:spPr>
        <p:txBody>
          <a:bodyPr wrap="square" lIns="0" tIns="0" rIns="0" bIns="0" rtlCol="0" anchor="ctr"/>
          <a:lstStyle/>
          <a:p>
            <a:pPr marL="0" indent="0">
              <a:buNone/>
            </a:pPr>
            <a:r>
              <a:rPr lang="en-US" sz="850" b="0" dirty="0">
                <a:solidFill>
                  <a:srgbClr val="FFFFFF"/>
                </a:solidFill>
                <a:latin typeface="Trenda IG Text Semibold" pitchFamily="34" charset="0"/>
                <a:ea typeface="Trenda IG Text Semibold" pitchFamily="34" charset="-122"/>
                <a:cs typeface="Trenda IG Text Semibold" pitchFamily="34" charset="-120"/>
              </a:rPr>
              <a:t>Retrieval without guesswork</a:t>
            </a:r>
            <a:endParaRPr lang="en-US" sz="850" dirty="0"/>
          </a:p>
        </p:txBody>
      </p:sp>
      <p:sp>
        <p:nvSpPr>
          <p:cNvPr id="73" name="Text 65"/>
          <p:cNvSpPr txBox="1"/>
          <p:nvPr/>
        </p:nvSpPr>
        <p:spPr>
          <a:xfrm>
            <a:off x="8961120" y="5760720"/>
            <a:ext cx="2660904" cy="493776"/>
          </a:xfrm>
          <a:prstGeom prst="rect">
            <a:avLst/>
          </a:prstGeom>
          <a:noFill/>
          <a:ln/>
        </p:spPr>
        <p:txBody>
          <a:bodyPr wrap="square" lIns="0" tIns="0" rIns="0" bIns="0" rtlCol="0" anchor="t"/>
          <a:lstStyle/>
          <a:p>
            <a:pPr marL="0" indent="0">
              <a:lnSpc>
                <a:spcPct val="98000"/>
              </a:lnSpc>
              <a:buNone/>
            </a:pPr>
            <a:r>
              <a:rPr lang="en-US" sz="700" dirty="0">
                <a:solidFill>
                  <a:srgbClr val="FFFFFF"/>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4F7FC"/>
        </a:solidFill>
        <a:effectLst/>
      </p:bgPr>
    </p:bg>
    <p:spTree>
      <p:nvGrpSpPr>
        <p:cNvPr id="1" name=""/>
        <p:cNvGrpSpPr/>
        <p:nvPr/>
      </p:nvGrpSpPr>
      <p:grpSpPr>
        <a:xfrm>
          <a:off x="0" y="0"/>
          <a:ext cx="0" cy="0"/>
          <a:chOff x="0" y="0"/>
          <a:chExt cx="0" cy="0"/>
        </a:xfrm>
      </p:grpSpPr>
      <p:sp>
        <p:nvSpPr>
          <p:cNvPr id="2" name="Text 0"/>
          <p:cNvSpPr txBox="1"/>
          <p:nvPr/>
        </p:nvSpPr>
        <p:spPr>
          <a:xfrm>
            <a:off x="365760" y="274320"/>
            <a:ext cx="11457432" cy="347472"/>
          </a:xfrm>
          <a:prstGeom prst="rect">
            <a:avLst/>
          </a:prstGeom>
          <a:noFill/>
          <a:ln/>
        </p:spPr>
        <p:txBody>
          <a:bodyPr wrap="square" lIns="0" tIns="0" rIns="0" bIns="0" rtlCol="0" anchor="ctr"/>
          <a:lstStyle/>
          <a:p>
            <a:pPr marL="0" indent="0">
              <a:buNone/>
            </a:pPr>
            <a:r>
              <a:rPr lang="en-US" sz="2000" b="0" dirty="0">
                <a:solidFill>
                  <a:srgbClr val="0E1B2E"/>
                </a:solidFill>
                <a:latin typeface="Trenda IG Display Bold" pitchFamily="34" charset="0"/>
                <a:ea typeface="Trenda IG Display Bold" pitchFamily="34" charset="-122"/>
                <a:cs typeface="Trenda IG Display Bold" pitchFamily="34" charset="-120"/>
              </a:rPr>
              <a:t>Where it runs · Google Cloud</a:t>
            </a:r>
            <a:endParaRPr lang="en-US" sz="2000" dirty="0"/>
          </a:p>
        </p:txBody>
      </p:sp>
      <p:sp>
        <p:nvSpPr>
          <p:cNvPr id="3" name="Text 1"/>
          <p:cNvSpPr txBox="1"/>
          <p:nvPr/>
        </p:nvSpPr>
        <p:spPr>
          <a:xfrm>
            <a:off x="365760" y="640080"/>
            <a:ext cx="11457432" cy="219456"/>
          </a:xfrm>
          <a:prstGeom prst="rect">
            <a:avLst/>
          </a:prstGeom>
          <a:noFill/>
          <a:ln/>
        </p:spPr>
        <p:txBody>
          <a:bodyPr wrap="square" lIns="0" tIns="0" rIns="0" bIns="0" rtlCol="0" anchor="ctr"/>
          <a:lstStyle/>
          <a:p>
            <a:pPr marL="0" indent="0">
              <a:buNone/>
            </a:pPr>
            <a:r>
              <a:rPr lang="en-US" sz="950" dirty="0">
                <a:solidFill>
                  <a:srgbClr val="5C6E85"/>
                </a:solidFill>
                <a:latin typeface="Trenda IG Display" pitchFamily="34" charset="0"/>
                <a:ea typeface="Trenda IG Display" pitchFamily="34" charset="-122"/>
                <a:cs typeface="Trenda IG Display" pitchFamily="34" charset="-120"/>
              </a:rPr>
              <a:t>The knowledge graph deploys into the client's existing Google Cloud estate, alongside the Pub/Sub pipeline that already feeds APDH.</a:t>
            </a:r>
            <a:endParaRPr lang="en-US" sz="950" dirty="0"/>
          </a:p>
        </p:txBody>
      </p:sp>
      <p:sp>
        <p:nvSpPr>
          <p:cNvPr id="4" name="Shape 2"/>
          <p:cNvSpPr/>
          <p:nvPr/>
        </p:nvSpPr>
        <p:spPr>
          <a:xfrm>
            <a:off x="365760" y="1024128"/>
            <a:ext cx="3660648" cy="5440680"/>
          </a:xfrm>
          <a:prstGeom prst="roundRect">
            <a:avLst>
              <a:gd name="adj" fmla="val 1249"/>
            </a:avLst>
          </a:prstGeom>
          <a:solidFill>
            <a:srgbClr val="E3F2F4"/>
          </a:solidFill>
          <a:ln w="9525">
            <a:solidFill>
              <a:srgbClr val="DCE4EE"/>
            </a:solidFill>
            <a:prstDash val="solid"/>
          </a:ln>
        </p:spPr>
        <p:txBody>
          <a:bodyPr/>
          <a:lstStyle/>
          <a:p>
            <a:endParaRPr lang="en-IN"/>
          </a:p>
        </p:txBody>
      </p:sp>
      <p:sp>
        <p:nvSpPr>
          <p:cNvPr id="5" name="Shape 3"/>
          <p:cNvSpPr/>
          <p:nvPr/>
        </p:nvSpPr>
        <p:spPr>
          <a:xfrm>
            <a:off x="365760" y="1024128"/>
            <a:ext cx="3660648" cy="365760"/>
          </a:xfrm>
          <a:prstGeom prst="roundRect">
            <a:avLst>
              <a:gd name="adj" fmla="val 12500"/>
            </a:avLst>
          </a:prstGeom>
          <a:solidFill>
            <a:srgbClr val="00757F"/>
          </a:solidFill>
          <a:ln w="12700">
            <a:solidFill>
              <a:srgbClr val="00757F"/>
            </a:solidFill>
            <a:prstDash val="solid"/>
          </a:ln>
        </p:spPr>
        <p:txBody>
          <a:bodyPr/>
          <a:lstStyle/>
          <a:p>
            <a:endParaRPr lang="en-IN"/>
          </a:p>
        </p:txBody>
      </p:sp>
      <p:sp>
        <p:nvSpPr>
          <p:cNvPr id="6" name="Text 4"/>
          <p:cNvSpPr txBox="1"/>
          <p:nvPr/>
        </p:nvSpPr>
        <p:spPr>
          <a:xfrm>
            <a:off x="420624" y="1024128"/>
            <a:ext cx="3550920" cy="365760"/>
          </a:xfrm>
          <a:prstGeom prst="rect">
            <a:avLst/>
          </a:prstGeom>
          <a:noFill/>
          <a:ln/>
        </p:spPr>
        <p:txBody>
          <a:bodyPr wrap="square" lIns="0" tIns="0" rIns="0" bIns="0" rtlCol="0" anchor="ctr"/>
          <a:lstStyle/>
          <a:p>
            <a:pPr marL="0" indent="0" algn="ctr">
              <a:buNone/>
            </a:pPr>
            <a:r>
              <a:rPr lang="en-US" sz="900" b="0" dirty="0">
                <a:solidFill>
                  <a:srgbClr val="FFFFFF"/>
                </a:solidFill>
                <a:latin typeface="Trenda IG Display Bold" pitchFamily="34" charset="0"/>
                <a:ea typeface="Trenda IG Display Bold" pitchFamily="34" charset="-122"/>
                <a:cs typeface="Trenda IG Display Bold" pitchFamily="34" charset="-120"/>
              </a:rPr>
              <a:t>How it deploys on Google Cloud</a:t>
            </a:r>
            <a:endParaRPr lang="en-US" sz="900" dirty="0"/>
          </a:p>
        </p:txBody>
      </p:sp>
      <p:sp>
        <p:nvSpPr>
          <p:cNvPr id="7" name="Shape 5"/>
          <p:cNvSpPr/>
          <p:nvPr/>
        </p:nvSpPr>
        <p:spPr>
          <a:xfrm>
            <a:off x="438912" y="1463040"/>
            <a:ext cx="3514344" cy="934927"/>
          </a:xfrm>
          <a:prstGeom prst="roundRect">
            <a:avLst>
              <a:gd name="adj" fmla="val 3912"/>
            </a:avLst>
          </a:prstGeom>
          <a:solidFill>
            <a:srgbClr val="FFFFFF"/>
          </a:solidFill>
          <a:ln w="9525">
            <a:solidFill>
              <a:srgbClr val="DCE4EE"/>
            </a:solidFill>
            <a:prstDash val="solid"/>
          </a:ln>
        </p:spPr>
        <p:txBody>
          <a:bodyPr/>
          <a:lstStyle/>
          <a:p>
            <a:endParaRPr lang="en-IN"/>
          </a:p>
        </p:txBody>
      </p:sp>
      <p:sp>
        <p:nvSpPr>
          <p:cNvPr id="8" name="Text 6"/>
          <p:cNvSpPr txBox="1"/>
          <p:nvPr/>
        </p:nvSpPr>
        <p:spPr>
          <a:xfrm>
            <a:off x="493776" y="1517904"/>
            <a:ext cx="3404616" cy="182880"/>
          </a:xfrm>
          <a:prstGeom prst="rect">
            <a:avLst/>
          </a:prstGeom>
          <a:noFill/>
          <a:ln/>
        </p:spPr>
        <p:txBody>
          <a:bodyPr wrap="square" lIns="0" tIns="0" rIns="0" bIns="0" rtlCol="0" anchor="t"/>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Ingestion</a:t>
            </a:r>
            <a:endParaRPr lang="en-US" sz="800" dirty="0"/>
          </a:p>
        </p:txBody>
      </p:sp>
      <p:sp>
        <p:nvSpPr>
          <p:cNvPr id="9" name="Text 7"/>
          <p:cNvSpPr txBox="1"/>
          <p:nvPr/>
        </p:nvSpPr>
        <p:spPr>
          <a:xfrm>
            <a:off x="493776" y="1709928"/>
            <a:ext cx="3404616" cy="633175"/>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Cloud Run jobs run the six connectors and ingestors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Cloud Scheduler triggers each sync on a fixed cadence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Each job writes a SourceArtifact with its SHA-256</a:t>
            </a:r>
            <a:endParaRPr lang="en-US" sz="750" dirty="0"/>
          </a:p>
        </p:txBody>
      </p:sp>
      <p:sp>
        <p:nvSpPr>
          <p:cNvPr id="10" name="Shape 8"/>
          <p:cNvSpPr/>
          <p:nvPr/>
        </p:nvSpPr>
        <p:spPr>
          <a:xfrm>
            <a:off x="438912" y="2489407"/>
            <a:ext cx="3514344" cy="934927"/>
          </a:xfrm>
          <a:prstGeom prst="roundRect">
            <a:avLst>
              <a:gd name="adj" fmla="val 3912"/>
            </a:avLst>
          </a:prstGeom>
          <a:solidFill>
            <a:srgbClr val="FFFFFF"/>
          </a:solidFill>
          <a:ln w="9525">
            <a:solidFill>
              <a:srgbClr val="DCE4EE"/>
            </a:solidFill>
            <a:prstDash val="solid"/>
          </a:ln>
        </p:spPr>
        <p:txBody>
          <a:bodyPr/>
          <a:lstStyle/>
          <a:p>
            <a:endParaRPr lang="en-IN"/>
          </a:p>
        </p:txBody>
      </p:sp>
      <p:sp>
        <p:nvSpPr>
          <p:cNvPr id="11" name="Text 9"/>
          <p:cNvSpPr txBox="1"/>
          <p:nvPr/>
        </p:nvSpPr>
        <p:spPr>
          <a:xfrm>
            <a:off x="493776" y="2544271"/>
            <a:ext cx="3404616" cy="182880"/>
          </a:xfrm>
          <a:prstGeom prst="rect">
            <a:avLst/>
          </a:prstGeom>
          <a:noFill/>
          <a:ln/>
        </p:spPr>
        <p:txBody>
          <a:bodyPr wrap="square" lIns="0" tIns="0" rIns="0" bIns="0" rtlCol="0" anchor="t"/>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Graph service</a:t>
            </a:r>
            <a:endParaRPr lang="en-US" sz="800" dirty="0"/>
          </a:p>
        </p:txBody>
      </p:sp>
      <p:sp>
        <p:nvSpPr>
          <p:cNvPr id="12" name="Text 10"/>
          <p:cNvSpPr txBox="1"/>
          <p:nvPr/>
        </p:nvSpPr>
        <p:spPr>
          <a:xfrm>
            <a:off x="493776" y="2736295"/>
            <a:ext cx="3404616" cy="633175"/>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Semantica ContextGraph and the adapter API run as a Cloud Run service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Private ingress only, reached through internal networking</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Scales to zero between syncs and queries</a:t>
            </a:r>
            <a:endParaRPr lang="en-US" sz="750" dirty="0"/>
          </a:p>
        </p:txBody>
      </p:sp>
      <p:sp>
        <p:nvSpPr>
          <p:cNvPr id="13" name="Shape 11"/>
          <p:cNvSpPr/>
          <p:nvPr/>
        </p:nvSpPr>
        <p:spPr>
          <a:xfrm>
            <a:off x="438912" y="3515775"/>
            <a:ext cx="3514344" cy="934927"/>
          </a:xfrm>
          <a:prstGeom prst="roundRect">
            <a:avLst>
              <a:gd name="adj" fmla="val 3912"/>
            </a:avLst>
          </a:prstGeom>
          <a:solidFill>
            <a:srgbClr val="FFFFFF"/>
          </a:solidFill>
          <a:ln w="9525">
            <a:solidFill>
              <a:srgbClr val="DCE4EE"/>
            </a:solidFill>
            <a:prstDash val="solid"/>
          </a:ln>
        </p:spPr>
        <p:txBody>
          <a:bodyPr/>
          <a:lstStyle/>
          <a:p>
            <a:endParaRPr lang="en-IN"/>
          </a:p>
        </p:txBody>
      </p:sp>
      <p:sp>
        <p:nvSpPr>
          <p:cNvPr id="14" name="Text 12"/>
          <p:cNvSpPr txBox="1"/>
          <p:nvPr/>
        </p:nvSpPr>
        <p:spPr>
          <a:xfrm>
            <a:off x="493776" y="3570639"/>
            <a:ext cx="3404616" cy="182880"/>
          </a:xfrm>
          <a:prstGeom prst="rect">
            <a:avLst/>
          </a:prstGeom>
          <a:noFill/>
          <a:ln/>
        </p:spPr>
        <p:txBody>
          <a:bodyPr wrap="square" lIns="0" tIns="0" rIns="0" bIns="0" rtlCol="0" anchor="t"/>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Storage and secrets</a:t>
            </a:r>
            <a:endParaRPr lang="en-US" sz="800" dirty="0"/>
          </a:p>
        </p:txBody>
      </p:sp>
      <p:sp>
        <p:nvSpPr>
          <p:cNvPr id="15" name="Text 13"/>
          <p:cNvSpPr txBox="1"/>
          <p:nvPr/>
        </p:nvSpPr>
        <p:spPr>
          <a:xfrm>
            <a:off x="493776" y="3762663"/>
            <a:ext cx="3404616" cy="633175"/>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Cloud Storage holds the versioned graph snapshot, encrypted with CMEK</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Object versioning keeps prior snapshots for diffing</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Secret Manager holds PATs, the JWT signing key and service-account keys</a:t>
            </a:r>
            <a:endParaRPr lang="en-US" sz="750" dirty="0"/>
          </a:p>
        </p:txBody>
      </p:sp>
      <p:sp>
        <p:nvSpPr>
          <p:cNvPr id="16" name="Shape 14"/>
          <p:cNvSpPr/>
          <p:nvPr/>
        </p:nvSpPr>
        <p:spPr>
          <a:xfrm>
            <a:off x="438912" y="4542142"/>
            <a:ext cx="3514344" cy="981674"/>
          </a:xfrm>
          <a:prstGeom prst="roundRect">
            <a:avLst>
              <a:gd name="adj" fmla="val 3726"/>
            </a:avLst>
          </a:prstGeom>
          <a:solidFill>
            <a:srgbClr val="FFFFFF"/>
          </a:solidFill>
          <a:ln w="9525">
            <a:solidFill>
              <a:srgbClr val="DCE4EE"/>
            </a:solidFill>
            <a:prstDash val="solid"/>
          </a:ln>
        </p:spPr>
        <p:txBody>
          <a:bodyPr/>
          <a:lstStyle/>
          <a:p>
            <a:endParaRPr lang="en-IN"/>
          </a:p>
        </p:txBody>
      </p:sp>
      <p:sp>
        <p:nvSpPr>
          <p:cNvPr id="17" name="Text 15"/>
          <p:cNvSpPr txBox="1"/>
          <p:nvPr/>
        </p:nvSpPr>
        <p:spPr>
          <a:xfrm>
            <a:off x="493776" y="4597006"/>
            <a:ext cx="3404616" cy="182880"/>
          </a:xfrm>
          <a:prstGeom prst="rect">
            <a:avLst/>
          </a:prstGeom>
          <a:noFill/>
          <a:ln/>
        </p:spPr>
        <p:txBody>
          <a:bodyPr wrap="square" lIns="0" tIns="0" rIns="0" bIns="0" rtlCol="0" anchor="t"/>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Identity and audit</a:t>
            </a:r>
            <a:endParaRPr lang="en-US" sz="800" dirty="0"/>
          </a:p>
        </p:txBody>
      </p:sp>
      <p:sp>
        <p:nvSpPr>
          <p:cNvPr id="18" name="Text 16"/>
          <p:cNvSpPr txBox="1"/>
          <p:nvPr/>
        </p:nvSpPr>
        <p:spPr>
          <a:xfrm>
            <a:off x="493776" y="4789030"/>
            <a:ext cx="3404616" cy="679922"/>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BigQuery holds the AI Audit Store, queryable evidence per action</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Cloud Logging and Monitoring cover sync health and access</a:t>
            </a:r>
            <a:endParaRPr lang="en-US" sz="750" dirty="0"/>
          </a:p>
        </p:txBody>
      </p:sp>
      <p:sp>
        <p:nvSpPr>
          <p:cNvPr id="19" name="Shape 17"/>
          <p:cNvSpPr/>
          <p:nvPr/>
        </p:nvSpPr>
        <p:spPr>
          <a:xfrm>
            <a:off x="438912" y="5615256"/>
            <a:ext cx="3514344" cy="794688"/>
          </a:xfrm>
          <a:prstGeom prst="roundRect">
            <a:avLst>
              <a:gd name="adj" fmla="val 4603"/>
            </a:avLst>
          </a:prstGeom>
          <a:solidFill>
            <a:srgbClr val="FFFFFF"/>
          </a:solidFill>
          <a:ln w="9525">
            <a:solidFill>
              <a:srgbClr val="DCE4EE"/>
            </a:solidFill>
            <a:prstDash val="solid"/>
          </a:ln>
        </p:spPr>
        <p:txBody>
          <a:bodyPr/>
          <a:lstStyle/>
          <a:p>
            <a:endParaRPr lang="en-IN"/>
          </a:p>
        </p:txBody>
      </p:sp>
      <p:sp>
        <p:nvSpPr>
          <p:cNvPr id="20" name="Text 18"/>
          <p:cNvSpPr txBox="1"/>
          <p:nvPr/>
        </p:nvSpPr>
        <p:spPr>
          <a:xfrm>
            <a:off x="493776" y="5670120"/>
            <a:ext cx="3404616" cy="182880"/>
          </a:xfrm>
          <a:prstGeom prst="rect">
            <a:avLst/>
          </a:prstGeom>
          <a:noFill/>
          <a:ln/>
        </p:spPr>
        <p:txBody>
          <a:bodyPr wrap="square" lIns="0" tIns="0" rIns="0" bIns="0" rtlCol="0" anchor="t"/>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Networking</a:t>
            </a:r>
            <a:endParaRPr lang="en-US" sz="800" dirty="0"/>
          </a:p>
        </p:txBody>
      </p:sp>
      <p:sp>
        <p:nvSpPr>
          <p:cNvPr id="21" name="Text 19"/>
          <p:cNvSpPr txBox="1"/>
          <p:nvPr/>
        </p:nvSpPr>
        <p:spPr>
          <a:xfrm>
            <a:off x="493776" y="5862144"/>
            <a:ext cx="3404616" cy="492936"/>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VPC Service Controls keep the graph inside the perimeter</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No public egress; existing Pub/Sub path to APDH is untouched</a:t>
            </a:r>
            <a:endParaRPr lang="en-US" sz="750" dirty="0"/>
          </a:p>
        </p:txBody>
      </p:sp>
      <p:sp>
        <p:nvSpPr>
          <p:cNvPr id="22" name="Shape 20"/>
          <p:cNvSpPr/>
          <p:nvPr/>
        </p:nvSpPr>
        <p:spPr>
          <a:xfrm>
            <a:off x="4264152" y="1024128"/>
            <a:ext cx="3660648" cy="5440680"/>
          </a:xfrm>
          <a:prstGeom prst="roundRect">
            <a:avLst>
              <a:gd name="adj" fmla="val 1249"/>
            </a:avLst>
          </a:prstGeom>
          <a:solidFill>
            <a:srgbClr val="EAF1FB"/>
          </a:solidFill>
          <a:ln w="9525">
            <a:solidFill>
              <a:srgbClr val="DCE4EE"/>
            </a:solidFill>
            <a:prstDash val="solid"/>
          </a:ln>
        </p:spPr>
        <p:txBody>
          <a:bodyPr/>
          <a:lstStyle/>
          <a:p>
            <a:endParaRPr lang="en-IN"/>
          </a:p>
        </p:txBody>
      </p:sp>
      <p:sp>
        <p:nvSpPr>
          <p:cNvPr id="23" name="Shape 21"/>
          <p:cNvSpPr/>
          <p:nvPr/>
        </p:nvSpPr>
        <p:spPr>
          <a:xfrm>
            <a:off x="4264152" y="1024128"/>
            <a:ext cx="3660648" cy="365760"/>
          </a:xfrm>
          <a:prstGeom prst="roundRect">
            <a:avLst>
              <a:gd name="adj" fmla="val 12500"/>
            </a:avLst>
          </a:prstGeom>
          <a:solidFill>
            <a:srgbClr val="1B6BC0"/>
          </a:solidFill>
          <a:ln w="12700">
            <a:solidFill>
              <a:srgbClr val="1B6BC0"/>
            </a:solidFill>
            <a:prstDash val="solid"/>
          </a:ln>
        </p:spPr>
        <p:txBody>
          <a:bodyPr/>
          <a:lstStyle/>
          <a:p>
            <a:endParaRPr lang="en-IN"/>
          </a:p>
        </p:txBody>
      </p:sp>
      <p:sp>
        <p:nvSpPr>
          <p:cNvPr id="24" name="Text 22"/>
          <p:cNvSpPr txBox="1"/>
          <p:nvPr/>
        </p:nvSpPr>
        <p:spPr>
          <a:xfrm>
            <a:off x="4319016" y="1024128"/>
            <a:ext cx="3550920" cy="365760"/>
          </a:xfrm>
          <a:prstGeom prst="rect">
            <a:avLst/>
          </a:prstGeom>
          <a:noFill/>
          <a:ln/>
        </p:spPr>
        <p:txBody>
          <a:bodyPr wrap="square" lIns="0" tIns="0" rIns="0" bIns="0" rtlCol="0" anchor="ctr"/>
          <a:lstStyle/>
          <a:p>
            <a:pPr marL="0" indent="0" algn="ctr">
              <a:buNone/>
            </a:pPr>
            <a:r>
              <a:rPr lang="en-US" sz="900" b="0" dirty="0">
                <a:solidFill>
                  <a:srgbClr val="FFFFFF"/>
                </a:solidFill>
                <a:latin typeface="Trenda IG Display Bold" pitchFamily="34" charset="0"/>
                <a:ea typeface="Trenda IG Display Bold" pitchFamily="34" charset="-122"/>
                <a:cs typeface="Trenda IG Display Bold" pitchFamily="34" charset="-120"/>
              </a:rPr>
              <a:t>Why Google Cloud for this client</a:t>
            </a:r>
            <a:endParaRPr lang="en-US" sz="900" dirty="0"/>
          </a:p>
        </p:txBody>
      </p:sp>
      <p:sp>
        <p:nvSpPr>
          <p:cNvPr id="25" name="Shape 23"/>
          <p:cNvSpPr/>
          <p:nvPr/>
        </p:nvSpPr>
        <p:spPr>
          <a:xfrm>
            <a:off x="4337304" y="1463040"/>
            <a:ext cx="3514344" cy="1041169"/>
          </a:xfrm>
          <a:prstGeom prst="roundRect">
            <a:avLst>
              <a:gd name="adj" fmla="val 3513"/>
            </a:avLst>
          </a:prstGeom>
          <a:solidFill>
            <a:srgbClr val="FFFFFF"/>
          </a:solidFill>
          <a:ln w="9525">
            <a:solidFill>
              <a:srgbClr val="DCE4EE"/>
            </a:solidFill>
            <a:prstDash val="solid"/>
          </a:ln>
        </p:spPr>
        <p:txBody>
          <a:bodyPr/>
          <a:lstStyle/>
          <a:p>
            <a:endParaRPr lang="en-IN"/>
          </a:p>
        </p:txBody>
      </p:sp>
      <p:sp>
        <p:nvSpPr>
          <p:cNvPr id="26" name="Text 24"/>
          <p:cNvSpPr txBox="1"/>
          <p:nvPr/>
        </p:nvSpPr>
        <p:spPr>
          <a:xfrm>
            <a:off x="4392168" y="1517904"/>
            <a:ext cx="3404616" cy="182880"/>
          </a:xfrm>
          <a:prstGeom prst="rect">
            <a:avLst/>
          </a:prstGeom>
          <a:noFill/>
          <a:ln/>
        </p:spPr>
        <p:txBody>
          <a:bodyPr wrap="square" lIns="0" tIns="0" rIns="0" bIns="0" rtlCol="0" anchor="t"/>
          <a:lstStyle/>
          <a:p>
            <a:pPr marL="0" indent="0">
              <a:buNone/>
            </a:pPr>
            <a:r>
              <a:rPr lang="en-US" sz="800" b="0" dirty="0">
                <a:solidFill>
                  <a:srgbClr val="1B6BC0"/>
                </a:solidFill>
                <a:latin typeface="Trenda IG Text Semibold" pitchFamily="34" charset="0"/>
                <a:ea typeface="Trenda IG Text Semibold" pitchFamily="34" charset="-122"/>
                <a:cs typeface="Trenda IG Text Semibold" pitchFamily="34" charset="-120"/>
              </a:rPr>
              <a:t>The pipeline is already there</a:t>
            </a:r>
            <a:endParaRPr lang="en-US" sz="800" dirty="0"/>
          </a:p>
        </p:txBody>
      </p:sp>
      <p:sp>
        <p:nvSpPr>
          <p:cNvPr id="27" name="Text 25"/>
          <p:cNvSpPr txBox="1"/>
          <p:nvPr/>
        </p:nvSpPr>
        <p:spPr>
          <a:xfrm>
            <a:off x="4392168" y="1709928"/>
            <a:ext cx="3404616" cy="739417"/>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Salesforce to Queueable Apex to Google Pub/Sub to APDH already runs on GCP</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Downstream APDH impact can be read without moving data between providers</a:t>
            </a:r>
            <a:endParaRPr lang="en-US" sz="750" dirty="0"/>
          </a:p>
        </p:txBody>
      </p:sp>
      <p:sp>
        <p:nvSpPr>
          <p:cNvPr id="28" name="Shape 26"/>
          <p:cNvSpPr/>
          <p:nvPr/>
        </p:nvSpPr>
        <p:spPr>
          <a:xfrm>
            <a:off x="4337304" y="2595649"/>
            <a:ext cx="3514344" cy="937052"/>
          </a:xfrm>
          <a:prstGeom prst="roundRect">
            <a:avLst>
              <a:gd name="adj" fmla="val 3903"/>
            </a:avLst>
          </a:prstGeom>
          <a:solidFill>
            <a:srgbClr val="FFFFFF"/>
          </a:solidFill>
          <a:ln w="9525">
            <a:solidFill>
              <a:srgbClr val="DCE4EE"/>
            </a:solidFill>
            <a:prstDash val="solid"/>
          </a:ln>
        </p:spPr>
        <p:txBody>
          <a:bodyPr/>
          <a:lstStyle/>
          <a:p>
            <a:endParaRPr lang="en-IN"/>
          </a:p>
        </p:txBody>
      </p:sp>
      <p:sp>
        <p:nvSpPr>
          <p:cNvPr id="29" name="Text 27"/>
          <p:cNvSpPr txBox="1"/>
          <p:nvPr/>
        </p:nvSpPr>
        <p:spPr>
          <a:xfrm>
            <a:off x="4392168" y="2650513"/>
            <a:ext cx="3404616" cy="182880"/>
          </a:xfrm>
          <a:prstGeom prst="rect">
            <a:avLst/>
          </a:prstGeom>
          <a:noFill/>
          <a:ln/>
        </p:spPr>
        <p:txBody>
          <a:bodyPr wrap="square" lIns="0" tIns="0" rIns="0" bIns="0" rtlCol="0" anchor="t"/>
          <a:lstStyle/>
          <a:p>
            <a:pPr marL="0" indent="0">
              <a:buNone/>
            </a:pPr>
            <a:r>
              <a:rPr lang="en-US" sz="800" b="0" dirty="0">
                <a:solidFill>
                  <a:srgbClr val="1B6BC0"/>
                </a:solidFill>
                <a:latin typeface="Trenda IG Text Semibold" pitchFamily="34" charset="0"/>
                <a:ea typeface="Trenda IG Text Semibold" pitchFamily="34" charset="-122"/>
                <a:cs typeface="Trenda IG Text Semibold" pitchFamily="34" charset="-120"/>
              </a:rPr>
              <a:t>Same identity domain</a:t>
            </a:r>
            <a:endParaRPr lang="en-US" sz="800" dirty="0"/>
          </a:p>
        </p:txBody>
      </p:sp>
      <p:sp>
        <p:nvSpPr>
          <p:cNvPr id="30" name="Text 28"/>
          <p:cNvSpPr txBox="1"/>
          <p:nvPr/>
        </p:nvSpPr>
        <p:spPr>
          <a:xfrm>
            <a:off x="4392168" y="2842537"/>
            <a:ext cx="3404616" cy="635300"/>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Google Drive is already one of the six sources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Service accounts and Workspace identity are an established pattern here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One IAM model to review rather than two</a:t>
            </a:r>
            <a:endParaRPr lang="en-US" sz="750" dirty="0"/>
          </a:p>
        </p:txBody>
      </p:sp>
      <p:sp>
        <p:nvSpPr>
          <p:cNvPr id="31" name="Shape 29"/>
          <p:cNvSpPr/>
          <p:nvPr/>
        </p:nvSpPr>
        <p:spPr>
          <a:xfrm>
            <a:off x="4337304" y="3624141"/>
            <a:ext cx="3514344" cy="989111"/>
          </a:xfrm>
          <a:prstGeom prst="roundRect">
            <a:avLst>
              <a:gd name="adj" fmla="val 3698"/>
            </a:avLst>
          </a:prstGeom>
          <a:solidFill>
            <a:srgbClr val="FFFFFF"/>
          </a:solidFill>
          <a:ln w="9525">
            <a:solidFill>
              <a:srgbClr val="DCE4EE"/>
            </a:solidFill>
            <a:prstDash val="solid"/>
          </a:ln>
        </p:spPr>
        <p:txBody>
          <a:bodyPr/>
          <a:lstStyle/>
          <a:p>
            <a:endParaRPr lang="en-IN"/>
          </a:p>
        </p:txBody>
      </p:sp>
      <p:sp>
        <p:nvSpPr>
          <p:cNvPr id="32" name="Text 30"/>
          <p:cNvSpPr txBox="1"/>
          <p:nvPr/>
        </p:nvSpPr>
        <p:spPr>
          <a:xfrm>
            <a:off x="4392168" y="3679005"/>
            <a:ext cx="3404616" cy="182880"/>
          </a:xfrm>
          <a:prstGeom prst="rect">
            <a:avLst/>
          </a:prstGeom>
          <a:noFill/>
          <a:ln/>
        </p:spPr>
        <p:txBody>
          <a:bodyPr wrap="square" lIns="0" tIns="0" rIns="0" bIns="0" rtlCol="0" anchor="t"/>
          <a:lstStyle/>
          <a:p>
            <a:pPr marL="0" indent="0">
              <a:buNone/>
            </a:pPr>
            <a:r>
              <a:rPr lang="en-US" sz="800" b="0" dirty="0">
                <a:solidFill>
                  <a:srgbClr val="1B6BC0"/>
                </a:solidFill>
                <a:latin typeface="Trenda IG Text Semibold" pitchFamily="34" charset="0"/>
                <a:ea typeface="Trenda IG Text Semibold" pitchFamily="34" charset="-122"/>
                <a:cs typeface="Trenda IG Text Semibold" pitchFamily="34" charset="-120"/>
              </a:rPr>
              <a:t>Nothing new to approve</a:t>
            </a:r>
            <a:endParaRPr lang="en-US" sz="800" dirty="0"/>
          </a:p>
        </p:txBody>
      </p:sp>
      <p:sp>
        <p:nvSpPr>
          <p:cNvPr id="33" name="Text 31"/>
          <p:cNvSpPr txBox="1"/>
          <p:nvPr/>
        </p:nvSpPr>
        <p:spPr>
          <a:xfrm>
            <a:off x="4392168" y="3871029"/>
            <a:ext cx="3404616" cy="687359"/>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No second cloud vendor assessment, no additional BAA</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Reuses the existing landing zone, key management and monitoring</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Security posture is extended, not duplicated</a:t>
            </a:r>
            <a:endParaRPr lang="en-US" sz="750" dirty="0"/>
          </a:p>
        </p:txBody>
      </p:sp>
      <p:sp>
        <p:nvSpPr>
          <p:cNvPr id="34" name="Shape 32"/>
          <p:cNvSpPr/>
          <p:nvPr/>
        </p:nvSpPr>
        <p:spPr>
          <a:xfrm>
            <a:off x="4337304" y="4704692"/>
            <a:ext cx="3514344" cy="884994"/>
          </a:xfrm>
          <a:prstGeom prst="roundRect">
            <a:avLst>
              <a:gd name="adj" fmla="val 4133"/>
            </a:avLst>
          </a:prstGeom>
          <a:solidFill>
            <a:srgbClr val="FFFFFF"/>
          </a:solidFill>
          <a:ln w="9525">
            <a:solidFill>
              <a:srgbClr val="DCE4EE"/>
            </a:solidFill>
            <a:prstDash val="solid"/>
          </a:ln>
        </p:spPr>
        <p:txBody>
          <a:bodyPr/>
          <a:lstStyle/>
          <a:p>
            <a:endParaRPr lang="en-IN"/>
          </a:p>
        </p:txBody>
      </p:sp>
      <p:sp>
        <p:nvSpPr>
          <p:cNvPr id="35" name="Text 33"/>
          <p:cNvSpPr txBox="1"/>
          <p:nvPr/>
        </p:nvSpPr>
        <p:spPr>
          <a:xfrm>
            <a:off x="4392168" y="4759556"/>
            <a:ext cx="3404616" cy="182880"/>
          </a:xfrm>
          <a:prstGeom prst="rect">
            <a:avLst/>
          </a:prstGeom>
          <a:noFill/>
          <a:ln/>
        </p:spPr>
        <p:txBody>
          <a:bodyPr wrap="square" lIns="0" tIns="0" rIns="0" bIns="0" rtlCol="0" anchor="t"/>
          <a:lstStyle/>
          <a:p>
            <a:pPr marL="0" indent="0">
              <a:buNone/>
            </a:pPr>
            <a:r>
              <a:rPr lang="en-US" sz="800" b="0" dirty="0">
                <a:solidFill>
                  <a:srgbClr val="1B6BC0"/>
                </a:solidFill>
                <a:latin typeface="Trenda IG Text Semibold" pitchFamily="34" charset="0"/>
                <a:ea typeface="Trenda IG Text Semibold" pitchFamily="34" charset="-122"/>
                <a:cs typeface="Trenda IG Text Semibold" pitchFamily="34" charset="-120"/>
              </a:rPr>
              <a:t>Lower operational drag</a:t>
            </a:r>
            <a:endParaRPr lang="en-US" sz="800" dirty="0"/>
          </a:p>
        </p:txBody>
      </p:sp>
      <p:sp>
        <p:nvSpPr>
          <p:cNvPr id="36" name="Text 34"/>
          <p:cNvSpPr txBox="1"/>
          <p:nvPr/>
        </p:nvSpPr>
        <p:spPr>
          <a:xfrm>
            <a:off x="4392168" y="4951580"/>
            <a:ext cx="3404616" cy="583242"/>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No cross-cloud egress between the graph and the existing pipeline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One ops model for the team that already runs this estate</a:t>
            </a:r>
            <a:endParaRPr lang="en-US" sz="750" dirty="0"/>
          </a:p>
        </p:txBody>
      </p:sp>
      <p:sp>
        <p:nvSpPr>
          <p:cNvPr id="37" name="Shape 35"/>
          <p:cNvSpPr/>
          <p:nvPr/>
        </p:nvSpPr>
        <p:spPr>
          <a:xfrm>
            <a:off x="4337304" y="5681126"/>
            <a:ext cx="3514344" cy="728818"/>
          </a:xfrm>
          <a:prstGeom prst="roundRect">
            <a:avLst>
              <a:gd name="adj" fmla="val 5019"/>
            </a:avLst>
          </a:prstGeom>
          <a:solidFill>
            <a:srgbClr val="FFFFFF"/>
          </a:solidFill>
          <a:ln w="9525">
            <a:solidFill>
              <a:srgbClr val="DCE4EE"/>
            </a:solidFill>
            <a:prstDash val="solid"/>
          </a:ln>
        </p:spPr>
        <p:txBody>
          <a:bodyPr/>
          <a:lstStyle/>
          <a:p>
            <a:endParaRPr lang="en-IN"/>
          </a:p>
        </p:txBody>
      </p:sp>
      <p:sp>
        <p:nvSpPr>
          <p:cNvPr id="38" name="Text 36"/>
          <p:cNvSpPr txBox="1"/>
          <p:nvPr/>
        </p:nvSpPr>
        <p:spPr>
          <a:xfrm>
            <a:off x="4392168" y="5735990"/>
            <a:ext cx="3404616" cy="182880"/>
          </a:xfrm>
          <a:prstGeom prst="rect">
            <a:avLst/>
          </a:prstGeom>
          <a:noFill/>
          <a:ln/>
        </p:spPr>
        <p:txBody>
          <a:bodyPr wrap="square" lIns="0" tIns="0" rIns="0" bIns="0" rtlCol="0" anchor="t"/>
          <a:lstStyle/>
          <a:p>
            <a:pPr marL="0" indent="0">
              <a:buNone/>
            </a:pPr>
            <a:r>
              <a:rPr lang="en-US" sz="800" b="0" dirty="0">
                <a:solidFill>
                  <a:srgbClr val="1B6BC0"/>
                </a:solidFill>
                <a:latin typeface="Trenda IG Text Semibold" pitchFamily="34" charset="0"/>
                <a:ea typeface="Trenda IG Text Semibold" pitchFamily="34" charset="-122"/>
                <a:cs typeface="Trenda IG Text Semibold" pitchFamily="34" charset="-120"/>
              </a:rPr>
              <a:t>Scope note</a:t>
            </a:r>
            <a:endParaRPr lang="en-US" sz="800" dirty="0"/>
          </a:p>
        </p:txBody>
      </p:sp>
      <p:sp>
        <p:nvSpPr>
          <p:cNvPr id="39" name="Text 37"/>
          <p:cNvSpPr txBox="1"/>
          <p:nvPr/>
        </p:nvSpPr>
        <p:spPr>
          <a:xfrm>
            <a:off x="4392168" y="5928014"/>
            <a:ext cx="3404616" cy="427066"/>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50" dirty="0"/>
          </a:p>
        </p:txBody>
      </p:sp>
      <p:sp>
        <p:nvSpPr>
          <p:cNvPr id="40" name="Shape 38"/>
          <p:cNvSpPr/>
          <p:nvPr/>
        </p:nvSpPr>
        <p:spPr>
          <a:xfrm>
            <a:off x="8162544" y="1024128"/>
            <a:ext cx="3660648" cy="5440680"/>
          </a:xfrm>
          <a:prstGeom prst="roundRect">
            <a:avLst>
              <a:gd name="adj" fmla="val 1249"/>
            </a:avLst>
          </a:prstGeom>
          <a:solidFill>
            <a:srgbClr val="FDF1DE"/>
          </a:solidFill>
          <a:ln w="9525">
            <a:solidFill>
              <a:srgbClr val="DCE4EE"/>
            </a:solidFill>
            <a:prstDash val="solid"/>
          </a:ln>
        </p:spPr>
        <p:txBody>
          <a:bodyPr/>
          <a:lstStyle/>
          <a:p>
            <a:endParaRPr lang="en-IN"/>
          </a:p>
        </p:txBody>
      </p:sp>
      <p:sp>
        <p:nvSpPr>
          <p:cNvPr id="41" name="Shape 39"/>
          <p:cNvSpPr/>
          <p:nvPr/>
        </p:nvSpPr>
        <p:spPr>
          <a:xfrm>
            <a:off x="8162544" y="1024128"/>
            <a:ext cx="3660648" cy="365760"/>
          </a:xfrm>
          <a:prstGeom prst="roundRect">
            <a:avLst>
              <a:gd name="adj" fmla="val 12500"/>
            </a:avLst>
          </a:prstGeom>
          <a:solidFill>
            <a:srgbClr val="C77400"/>
          </a:solidFill>
          <a:ln w="12700">
            <a:solidFill>
              <a:srgbClr val="C77400"/>
            </a:solidFill>
            <a:prstDash val="solid"/>
          </a:ln>
        </p:spPr>
        <p:txBody>
          <a:bodyPr/>
          <a:lstStyle/>
          <a:p>
            <a:endParaRPr lang="en-IN"/>
          </a:p>
        </p:txBody>
      </p:sp>
      <p:sp>
        <p:nvSpPr>
          <p:cNvPr id="42" name="Text 40"/>
          <p:cNvSpPr txBox="1"/>
          <p:nvPr/>
        </p:nvSpPr>
        <p:spPr>
          <a:xfrm>
            <a:off x="8217408" y="1024128"/>
            <a:ext cx="3550920" cy="365760"/>
          </a:xfrm>
          <a:prstGeom prst="rect">
            <a:avLst/>
          </a:prstGeom>
          <a:noFill/>
          <a:ln/>
        </p:spPr>
        <p:txBody>
          <a:bodyPr wrap="square" lIns="0" tIns="0" rIns="0" bIns="0" rtlCol="0" anchor="ctr"/>
          <a:lstStyle/>
          <a:p>
            <a:pPr marL="0" indent="0" algn="ctr">
              <a:buNone/>
            </a:pPr>
            <a:r>
              <a:rPr lang="en-US" sz="900" b="0" dirty="0">
                <a:solidFill>
                  <a:srgbClr val="FFFFFF"/>
                </a:solidFill>
                <a:latin typeface="Trenda IG Display Bold" pitchFamily="34" charset="0"/>
                <a:ea typeface="Trenda IG Display Bold" pitchFamily="34" charset="-122"/>
                <a:cs typeface="Trenda IG Display Bold" pitchFamily="34" charset="-120"/>
              </a:rPr>
              <a:t>Alternatives</a:t>
            </a:r>
            <a:endParaRPr lang="en-US" sz="900" dirty="0"/>
          </a:p>
        </p:txBody>
      </p:sp>
      <p:sp>
        <p:nvSpPr>
          <p:cNvPr id="43" name="Shape 41"/>
          <p:cNvSpPr/>
          <p:nvPr/>
        </p:nvSpPr>
        <p:spPr>
          <a:xfrm>
            <a:off x="8235696" y="1463040"/>
            <a:ext cx="3514344" cy="1213658"/>
          </a:xfrm>
          <a:prstGeom prst="roundRect">
            <a:avLst>
              <a:gd name="adj" fmla="val 3014"/>
            </a:avLst>
          </a:prstGeom>
          <a:solidFill>
            <a:srgbClr val="FFFFFF"/>
          </a:solidFill>
          <a:ln w="9525">
            <a:solidFill>
              <a:srgbClr val="DCE4EE"/>
            </a:solidFill>
            <a:prstDash val="solid"/>
          </a:ln>
        </p:spPr>
        <p:txBody>
          <a:bodyPr/>
          <a:lstStyle/>
          <a:p>
            <a:endParaRPr lang="en-IN"/>
          </a:p>
        </p:txBody>
      </p:sp>
      <p:sp>
        <p:nvSpPr>
          <p:cNvPr id="44" name="Text 42"/>
          <p:cNvSpPr txBox="1"/>
          <p:nvPr/>
        </p:nvSpPr>
        <p:spPr>
          <a:xfrm>
            <a:off x="8290560" y="1517904"/>
            <a:ext cx="3404616" cy="182880"/>
          </a:xfrm>
          <a:prstGeom prst="rect">
            <a:avLst/>
          </a:prstGeom>
          <a:noFill/>
          <a:ln/>
        </p:spPr>
        <p:txBody>
          <a:bodyPr wrap="square" lIns="0" tIns="0" rIns="0" bIns="0" rtlCol="0" anchor="t"/>
          <a:lstStyle/>
          <a:p>
            <a:pPr marL="0" indent="0">
              <a:buNone/>
            </a:pPr>
            <a:r>
              <a:rPr lang="en-US" sz="800" b="0" dirty="0">
                <a:solidFill>
                  <a:srgbClr val="C77400"/>
                </a:solidFill>
                <a:latin typeface="Trenda IG Text Semibold" pitchFamily="34" charset="0"/>
                <a:ea typeface="Trenda IG Text Semibold" pitchFamily="34" charset="-122"/>
                <a:cs typeface="Trenda IG Text Semibold" pitchFamily="34" charset="-120"/>
              </a:rPr>
              <a:t>S3 is not a like-for-like option</a:t>
            </a:r>
            <a:endParaRPr lang="en-US" sz="800" dirty="0"/>
          </a:p>
        </p:txBody>
      </p:sp>
      <p:sp>
        <p:nvSpPr>
          <p:cNvPr id="45" name="Text 43"/>
          <p:cNvSpPr txBox="1"/>
          <p:nvPr/>
        </p:nvSpPr>
        <p:spPr>
          <a:xfrm>
            <a:off x="8290560" y="1709928"/>
            <a:ext cx="3404616" cy="911906"/>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S3 replaces one box, the snapshot store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50" dirty="0"/>
          </a:p>
        </p:txBody>
      </p:sp>
      <p:sp>
        <p:nvSpPr>
          <p:cNvPr id="46" name="Shape 44"/>
          <p:cNvSpPr/>
          <p:nvPr/>
        </p:nvSpPr>
        <p:spPr>
          <a:xfrm>
            <a:off x="8235696" y="2768138"/>
            <a:ext cx="3514344" cy="1213658"/>
          </a:xfrm>
          <a:prstGeom prst="roundRect">
            <a:avLst>
              <a:gd name="adj" fmla="val 3014"/>
            </a:avLst>
          </a:prstGeom>
          <a:solidFill>
            <a:srgbClr val="FFFFFF"/>
          </a:solidFill>
          <a:ln w="9525">
            <a:solidFill>
              <a:srgbClr val="DCE4EE"/>
            </a:solidFill>
            <a:prstDash val="solid"/>
          </a:ln>
        </p:spPr>
        <p:txBody>
          <a:bodyPr/>
          <a:lstStyle/>
          <a:p>
            <a:endParaRPr lang="en-IN"/>
          </a:p>
        </p:txBody>
      </p:sp>
      <p:sp>
        <p:nvSpPr>
          <p:cNvPr id="47" name="Text 45"/>
          <p:cNvSpPr txBox="1"/>
          <p:nvPr/>
        </p:nvSpPr>
        <p:spPr>
          <a:xfrm>
            <a:off x="8290560" y="2823002"/>
            <a:ext cx="3404616" cy="182880"/>
          </a:xfrm>
          <a:prstGeom prst="rect">
            <a:avLst/>
          </a:prstGeom>
          <a:noFill/>
          <a:ln/>
        </p:spPr>
        <p:txBody>
          <a:bodyPr wrap="square" lIns="0" tIns="0" rIns="0" bIns="0" rtlCol="0" anchor="t"/>
          <a:lstStyle/>
          <a:p>
            <a:pPr marL="0" indent="0">
              <a:buNone/>
            </a:pPr>
            <a:r>
              <a:rPr lang="en-US" sz="800" b="0" dirty="0">
                <a:solidFill>
                  <a:srgbClr val="C77400"/>
                </a:solidFill>
                <a:latin typeface="Trenda IG Text Semibold" pitchFamily="34" charset="0"/>
                <a:ea typeface="Trenda IG Text Semibold" pitchFamily="34" charset="-122"/>
                <a:cs typeface="Trenda IG Text Semibold" pitchFamily="34" charset="-120"/>
              </a:rPr>
              <a:t>What a second cloud would cost</a:t>
            </a:r>
            <a:endParaRPr lang="en-US" sz="800" dirty="0"/>
          </a:p>
        </p:txBody>
      </p:sp>
      <p:sp>
        <p:nvSpPr>
          <p:cNvPr id="48" name="Text 46"/>
          <p:cNvSpPr txBox="1"/>
          <p:nvPr/>
        </p:nvSpPr>
        <p:spPr>
          <a:xfrm>
            <a:off x="8290560" y="3015026"/>
            <a:ext cx="3404616" cy="911906"/>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A new vendor and security review before anything is built</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Identity federation between two providers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Cross-cloud egress on every sync and query</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Two sets of controls, keys and runbooks to keep aligned</a:t>
            </a:r>
            <a:endParaRPr lang="en-US" sz="750" dirty="0"/>
          </a:p>
        </p:txBody>
      </p:sp>
      <p:sp>
        <p:nvSpPr>
          <p:cNvPr id="49" name="Shape 47"/>
          <p:cNvSpPr/>
          <p:nvPr/>
        </p:nvSpPr>
        <p:spPr>
          <a:xfrm>
            <a:off x="8235696" y="4073236"/>
            <a:ext cx="3514344" cy="1213658"/>
          </a:xfrm>
          <a:prstGeom prst="roundRect">
            <a:avLst>
              <a:gd name="adj" fmla="val 3014"/>
            </a:avLst>
          </a:prstGeom>
          <a:solidFill>
            <a:srgbClr val="FFFFFF"/>
          </a:solidFill>
          <a:ln w="9525">
            <a:solidFill>
              <a:srgbClr val="DCE4EE"/>
            </a:solidFill>
            <a:prstDash val="solid"/>
          </a:ln>
        </p:spPr>
        <p:txBody>
          <a:bodyPr/>
          <a:lstStyle/>
          <a:p>
            <a:endParaRPr lang="en-IN"/>
          </a:p>
        </p:txBody>
      </p:sp>
      <p:sp>
        <p:nvSpPr>
          <p:cNvPr id="50" name="Text 48"/>
          <p:cNvSpPr txBox="1"/>
          <p:nvPr/>
        </p:nvSpPr>
        <p:spPr>
          <a:xfrm>
            <a:off x="8290560" y="4128100"/>
            <a:ext cx="3404616" cy="182880"/>
          </a:xfrm>
          <a:prstGeom prst="rect">
            <a:avLst/>
          </a:prstGeom>
          <a:noFill/>
          <a:ln/>
        </p:spPr>
        <p:txBody>
          <a:bodyPr wrap="square" lIns="0" tIns="0" rIns="0" bIns="0" rtlCol="0" anchor="t"/>
          <a:lstStyle/>
          <a:p>
            <a:pPr marL="0" indent="0">
              <a:buNone/>
            </a:pPr>
            <a:r>
              <a:rPr lang="en-US" sz="800" b="0" dirty="0">
                <a:solidFill>
                  <a:srgbClr val="C77400"/>
                </a:solidFill>
                <a:latin typeface="Trenda IG Text Semibold" pitchFamily="34" charset="0"/>
                <a:ea typeface="Trenda IG Text Semibold" pitchFamily="34" charset="-122"/>
                <a:cs typeface="Trenda IG Text Semibold" pitchFamily="34" charset="-120"/>
              </a:rPr>
              <a:t>The design stays portable</a:t>
            </a:r>
            <a:endParaRPr lang="en-US" sz="800" dirty="0"/>
          </a:p>
        </p:txBody>
      </p:sp>
      <p:sp>
        <p:nvSpPr>
          <p:cNvPr id="51" name="Text 49"/>
          <p:cNvSpPr txBox="1"/>
          <p:nvPr/>
        </p:nvSpPr>
        <p:spPr>
          <a:xfrm>
            <a:off x="8290560" y="4320124"/>
            <a:ext cx="3404616" cy="911906"/>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The snapshot is vendor-neutral JSON, not a proprietary format</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The graph service is a container, so it runs anywhere containers run</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Connectors talk to vendor APIs, not to cloud-specific services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Nothing in the architecture is locked to GCP</a:t>
            </a:r>
            <a:endParaRPr lang="en-US" sz="750" dirty="0"/>
          </a:p>
        </p:txBody>
      </p:sp>
      <p:sp>
        <p:nvSpPr>
          <p:cNvPr id="52" name="Shape 50"/>
          <p:cNvSpPr/>
          <p:nvPr/>
        </p:nvSpPr>
        <p:spPr>
          <a:xfrm>
            <a:off x="8235696" y="5378335"/>
            <a:ext cx="3514344" cy="1031609"/>
          </a:xfrm>
          <a:prstGeom prst="roundRect">
            <a:avLst>
              <a:gd name="adj" fmla="val 3546"/>
            </a:avLst>
          </a:prstGeom>
          <a:solidFill>
            <a:srgbClr val="FFFFFF"/>
          </a:solidFill>
          <a:ln w="9525">
            <a:solidFill>
              <a:srgbClr val="DCE4EE"/>
            </a:solidFill>
            <a:prstDash val="solid"/>
          </a:ln>
        </p:spPr>
        <p:txBody>
          <a:bodyPr/>
          <a:lstStyle/>
          <a:p>
            <a:endParaRPr lang="en-IN"/>
          </a:p>
        </p:txBody>
      </p:sp>
      <p:sp>
        <p:nvSpPr>
          <p:cNvPr id="53" name="Text 51"/>
          <p:cNvSpPr txBox="1"/>
          <p:nvPr/>
        </p:nvSpPr>
        <p:spPr>
          <a:xfrm>
            <a:off x="8290560" y="5433199"/>
            <a:ext cx="3404616" cy="182880"/>
          </a:xfrm>
          <a:prstGeom prst="rect">
            <a:avLst/>
          </a:prstGeom>
          <a:noFill/>
          <a:ln/>
        </p:spPr>
        <p:txBody>
          <a:bodyPr wrap="square" lIns="0" tIns="0" rIns="0" bIns="0" rtlCol="0" anchor="t"/>
          <a:lstStyle/>
          <a:p>
            <a:pPr marL="0" indent="0">
              <a:buNone/>
            </a:pPr>
            <a:r>
              <a:rPr lang="en-US" sz="800" b="0" dirty="0">
                <a:solidFill>
                  <a:srgbClr val="C77400"/>
                </a:solidFill>
                <a:latin typeface="Trenda IG Text Semibold" pitchFamily="34" charset="0"/>
                <a:ea typeface="Trenda IG Text Semibold" pitchFamily="34" charset="-122"/>
                <a:cs typeface="Trenda IG Text Semibold" pitchFamily="34" charset="-120"/>
              </a:rPr>
              <a:t>Recommendation</a:t>
            </a:r>
            <a:endParaRPr lang="en-US" sz="800" dirty="0"/>
          </a:p>
        </p:txBody>
      </p:sp>
      <p:sp>
        <p:nvSpPr>
          <p:cNvPr id="54" name="Text 52"/>
          <p:cNvSpPr txBox="1"/>
          <p:nvPr/>
        </p:nvSpPr>
        <p:spPr>
          <a:xfrm>
            <a:off x="8290560" y="5625223"/>
            <a:ext cx="3404616" cy="729857"/>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Keep the portability so a later move is a redeploy rather than a rewrite</a:t>
            </a:r>
            <a:endParaRPr lang="en-US" sz="750" dirty="0"/>
          </a:p>
        </p:txBody>
      </p:sp>
    </p:spTree>
  </p:cSld>
  <p:clrMapOvr>
    <a:masterClrMapping/>
  </p:clrMapOvr>
</p:sld>
</file>

<file path=ppt/slides/slide9.xml><?xml version="1.0" encoding="utf-8"?>
<!-- AI-CHANGE-CONSOLE-POC-SLIDE -->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101" name="Text 102"/>
          <p:cNvSpPr txBox="1"/>
          <p:nvPr/>
        </p:nvSpPr>
        <p:spPr>
          <a:xfrm>
            <a:off x="365760" y="2148840"/>
            <a:ext cx="11457432" cy="274320"/>
          </a:xfrm>
          <a:prstGeom prst="rect">
            <a:avLst/>
          </a:prstGeom>
          <a:noFill/>
          <a:ln/>
        </p:spPr>
        <p:txBody>
          <a:bodyPr wrap="square" lIns="0" tIns="0" rIns="0" bIns="0" rtlCol="0" anchor="t"/>
          <a:lstStyle/>
          <a:p>
            <a:pPr marL="0" indent="0" algn="l">
              <a:buNone/>
            </a:pPr>
            <a:r>
              <a:rPr lang="en-US" sz="900" b="1" dirty="0">
                <a:solidFill>
                  <a:srgbClr val="0E8A7D"/>
                </a:solidFill>
                <a:latin typeface="Trenda IG Text Semibold" pitchFamily="34" charset="0"/>
                <a:ea typeface="Trenda IG Text Semibold" pitchFamily="34" charset="-122"/>
                <a:cs typeface="Trenda IG Text Semibold" pitchFamily="34" charset="-120"/>
              </a:rPr>
              <a:t>FROM ARCHITECTURE TO WORKING SOFTWARE</a:t>
            </a:r>
          </a:p>
        </p:txBody>
      </p:sp>
      <p:sp>
        <p:nvSpPr>
          <p:cNvPr id="103" name="Text 104"/>
          <p:cNvSpPr txBox="1"/>
          <p:nvPr/>
        </p:nvSpPr>
        <p:spPr>
          <a:xfrm>
            <a:off x="365760" y="2514600"/>
            <a:ext cx="10058400" cy="658368"/>
          </a:xfrm>
          <a:prstGeom prst="rect">
            <a:avLst/>
          </a:prstGeom>
          <a:noFill/>
          <a:ln/>
        </p:spPr>
        <p:txBody>
          <a:bodyPr wrap="square" lIns="0" tIns="0" rIns="0" bIns="0" rtlCol="0" anchor="t"/>
          <a:lstStyle/>
          <a:p>
            <a:pPr marL="0" indent="0" algn="l">
              <a:buNone/>
            </a:pPr>
            <a:r>
              <a:rPr lang="en-US" sz="3400" dirty="0">
                <a:solidFill>
                  <a:srgbClr val="0E1B2E"/>
                </a:solidFill>
                <a:latin typeface="Trenda IG Display Bold" pitchFamily="34" charset="0"/>
                <a:ea typeface="Trenda IG Display Bold" pitchFamily="34" charset="-122"/>
                <a:cs typeface="Trenda IG Display Bold" pitchFamily="34" charset="-120"/>
              </a:rPr>
              <a:t>What we built, and what it measured</a:t>
            </a:r>
          </a:p>
        </p:txBody>
      </p:sp>
      <p:sp>
        <p:nvSpPr>
          <p:cNvPr id="105" name="Text 106"/>
          <p:cNvSpPr txBox="1"/>
          <p:nvPr/>
        </p:nvSpPr>
        <p:spPr>
          <a:xfrm>
            <a:off x="365760" y="3310128"/>
            <a:ext cx="9509760" cy="822960"/>
          </a:xfrm>
          <a:prstGeom prst="rect">
            <a:avLst/>
          </a:prstGeom>
          <a:noFill/>
          <a:ln/>
        </p:spPr>
        <p:txBody>
          <a:bodyPr wrap="square" lIns="0" tIns="0" rIns="0" bIns="0" rtlCol="0" anchor="t"/>
          <a:lstStyle/>
          <a:p>
            <a:pPr marL="0" indent="0" algn="l">
              <a:lnSpc>
                <a:spcPct val="135000"/>
              </a:lnSpc>
              <a:buNone/>
            </a:pPr>
            <a:r>
              <a:rPr lang="en-US" sz="1100" dirty="0">
                <a:solidFill>
                  <a:srgbClr val="5C6E85"/>
                </a:solidFill>
                <a:latin typeface="Trenda IG Text" pitchFamily="34" charset="0"/>
                <a:ea typeface="Trenda IG Text" pitchFamily="34" charset="-122"/>
                <a:cs typeface="Trenda IG Text" pitchFamily="34" charset="-120"/>
              </a:rPr>
              <a:t>The slides before this one describe the target architecture. The slides after it describe a running system in a Salesforce sandbox: the Network Services pod, mapped, searchable, and answering change requests in about seven seconds with no AI model in the read path.</a:t>
            </a:r>
          </a:p>
        </p:txBody>
      </p:sp>
      <p:sp>
        <p:nvSpPr>
          <p:cNvPr id="107" name="Shape 108"/>
          <p:cNvSpPr/>
          <p:nvPr/>
        </p:nvSpPr>
        <p:spPr>
          <a:xfrm>
            <a:off x="365760" y="4434840"/>
            <a:ext cx="2670048" cy="914400"/>
          </a:xfrm>
          <a:prstGeom prst="rect">
            <a:avLst/>
          </a:prstGeom>
          <a:solidFill>
            <a:srgbClr val="FFFFFF"/>
          </a:solidFill>
          <a:ln w="9525">
            <a:solidFill>
              <a:srgbClr val="DCE4EE"/>
            </a:solidFill>
          </a:ln>
        </p:spPr>
        <p:txBody>
          <a:bodyPr/>
          <a:lstStyle/>
          <a:p>
            <a:endParaRPr lang="en-US"/>
          </a:p>
        </p:txBody>
      </p:sp>
      <p:sp>
        <p:nvSpPr>
          <p:cNvPr id="109" name="Text 110"/>
          <p:cNvSpPr txBox="1"/>
          <p:nvPr/>
        </p:nvSpPr>
        <p:spPr>
          <a:xfrm>
            <a:off x="566928" y="4572000"/>
            <a:ext cx="2286000" cy="384048"/>
          </a:xfrm>
          <a:prstGeom prst="rect">
            <a:avLst/>
          </a:prstGeom>
          <a:noFill/>
          <a:ln/>
        </p:spPr>
        <p:txBody>
          <a:bodyPr wrap="square" lIns="0" tIns="0" rIns="0" bIns="0" rtlCol="0" anchor="t"/>
          <a:lstStyle/>
          <a:p>
            <a:pPr marL="0" indent="0" algn="l">
              <a:buNone/>
            </a:pPr>
            <a:r>
              <a:rPr lang="en-US" sz="1800" dirty="0">
                <a:solidFill>
                  <a:srgbClr val="1B6BC0"/>
                </a:solidFill>
                <a:latin typeface="Trenda IG Display Bold" pitchFamily="34" charset="0"/>
                <a:ea typeface="Trenda IG Display Bold" pitchFamily="34" charset="-122"/>
                <a:cs typeface="Trenda IG Display Bold" pitchFamily="34" charset="-120"/>
              </a:rPr>
              <a:t>2,859</a:t>
            </a:r>
          </a:p>
        </p:txBody>
      </p:sp>
      <p:sp>
        <p:nvSpPr>
          <p:cNvPr id="111" name="Text 112"/>
          <p:cNvSpPr txBox="1"/>
          <p:nvPr/>
        </p:nvSpPr>
        <p:spPr>
          <a:xfrm>
            <a:off x="566928" y="4992624"/>
            <a:ext cx="2286000" cy="201168"/>
          </a:xfrm>
          <a:prstGeom prst="rect">
            <a:avLst/>
          </a:prstGeom>
          <a:noFill/>
          <a:ln/>
        </p:spPr>
        <p:txBody>
          <a:bodyPr wrap="square" lIns="0" tIns="0" rIns="0" bIns="0" rtlCol="0" anchor="t"/>
          <a:lstStyle/>
          <a:p>
            <a:pPr marL="0" indent="0" algn="l">
              <a:buNone/>
            </a:pPr>
            <a:r>
              <a:rPr lang="en-US" sz="800" dirty="0">
                <a:solidFill>
                  <a:srgbClr val="5C6E85"/>
                </a:solidFill>
                <a:latin typeface="Trenda IG Text" pitchFamily="34" charset="0"/>
                <a:ea typeface="Trenda IG Text" pitchFamily="34" charset="-122"/>
                <a:cs typeface="Trenda IG Text" pitchFamily="34" charset="-120"/>
              </a:rPr>
              <a:t>components mapped</a:t>
            </a:r>
          </a:p>
        </p:txBody>
      </p:sp>
      <p:sp>
        <p:nvSpPr>
          <p:cNvPr id="113" name="Shape 114"/>
          <p:cNvSpPr/>
          <p:nvPr/>
        </p:nvSpPr>
        <p:spPr>
          <a:xfrm>
            <a:off x="3255264" y="4434840"/>
            <a:ext cx="2670048" cy="914400"/>
          </a:xfrm>
          <a:prstGeom prst="rect">
            <a:avLst/>
          </a:prstGeom>
          <a:solidFill>
            <a:srgbClr val="FFFFFF"/>
          </a:solidFill>
          <a:ln w="9525">
            <a:solidFill>
              <a:srgbClr val="DCE4EE"/>
            </a:solidFill>
          </a:ln>
        </p:spPr>
        <p:txBody>
          <a:bodyPr/>
          <a:lstStyle/>
          <a:p>
            <a:endParaRPr lang="en-US"/>
          </a:p>
        </p:txBody>
      </p:sp>
      <p:sp>
        <p:nvSpPr>
          <p:cNvPr id="115" name="Text 116"/>
          <p:cNvSpPr txBox="1"/>
          <p:nvPr/>
        </p:nvSpPr>
        <p:spPr>
          <a:xfrm>
            <a:off x="3456432" y="4572000"/>
            <a:ext cx="2286000" cy="384048"/>
          </a:xfrm>
          <a:prstGeom prst="rect">
            <a:avLst/>
          </a:prstGeom>
          <a:noFill/>
          <a:ln/>
        </p:spPr>
        <p:txBody>
          <a:bodyPr wrap="square" lIns="0" tIns="0" rIns="0" bIns="0" rtlCol="0" anchor="t"/>
          <a:lstStyle/>
          <a:p>
            <a:pPr marL="0" indent="0" algn="l">
              <a:buNone/>
            </a:pPr>
            <a:r>
              <a:rPr lang="en-US" sz="1800" dirty="0">
                <a:solidFill>
                  <a:srgbClr val="00757F"/>
                </a:solidFill>
                <a:latin typeface="Trenda IG Display Bold" pitchFamily="34" charset="0"/>
                <a:ea typeface="Trenda IG Display Bold" pitchFamily="34" charset="-122"/>
                <a:cs typeface="Trenda IG Display Bold" pitchFamily="34" charset="-120"/>
              </a:rPr>
              <a:t>3,969</a:t>
            </a:r>
          </a:p>
        </p:txBody>
      </p:sp>
      <p:sp>
        <p:nvSpPr>
          <p:cNvPr id="117" name="Text 118"/>
          <p:cNvSpPr txBox="1"/>
          <p:nvPr/>
        </p:nvSpPr>
        <p:spPr>
          <a:xfrm>
            <a:off x="3456432" y="4992624"/>
            <a:ext cx="2286000" cy="201168"/>
          </a:xfrm>
          <a:prstGeom prst="rect">
            <a:avLst/>
          </a:prstGeom>
          <a:noFill/>
          <a:ln/>
        </p:spPr>
        <p:txBody>
          <a:bodyPr wrap="square" lIns="0" tIns="0" rIns="0" bIns="0" rtlCol="0" anchor="t"/>
          <a:lstStyle/>
          <a:p>
            <a:pPr marL="0" indent="0" algn="l">
              <a:buNone/>
            </a:pPr>
            <a:r>
              <a:rPr lang="en-US" sz="800" dirty="0">
                <a:solidFill>
                  <a:srgbClr val="5C6E85"/>
                </a:solidFill>
                <a:latin typeface="Trenda IG Text" pitchFamily="34" charset="0"/>
                <a:ea typeface="Trenda IG Text" pitchFamily="34" charset="-122"/>
                <a:cs typeface="Trenda IG Text" pitchFamily="34" charset="-120"/>
              </a:rPr>
              <a:t>relationships</a:t>
            </a:r>
          </a:p>
        </p:txBody>
      </p:sp>
      <p:sp>
        <p:nvSpPr>
          <p:cNvPr id="119" name="Shape 120"/>
          <p:cNvSpPr/>
          <p:nvPr/>
        </p:nvSpPr>
        <p:spPr>
          <a:xfrm>
            <a:off x="6144768" y="4434840"/>
            <a:ext cx="2670048" cy="914400"/>
          </a:xfrm>
          <a:prstGeom prst="rect">
            <a:avLst/>
          </a:prstGeom>
          <a:solidFill>
            <a:srgbClr val="FFFFFF"/>
          </a:solidFill>
          <a:ln w="9525">
            <a:solidFill>
              <a:srgbClr val="DCE4EE"/>
            </a:solidFill>
          </a:ln>
        </p:spPr>
        <p:txBody>
          <a:bodyPr/>
          <a:lstStyle/>
          <a:p>
            <a:endParaRPr lang="en-US"/>
          </a:p>
        </p:txBody>
      </p:sp>
      <p:sp>
        <p:nvSpPr>
          <p:cNvPr id="121" name="Text 122"/>
          <p:cNvSpPr txBox="1"/>
          <p:nvPr/>
        </p:nvSpPr>
        <p:spPr>
          <a:xfrm>
            <a:off x="6345936" y="4572000"/>
            <a:ext cx="2286000" cy="384048"/>
          </a:xfrm>
          <a:prstGeom prst="rect">
            <a:avLst/>
          </a:prstGeom>
          <a:noFill/>
          <a:ln/>
        </p:spPr>
        <p:txBody>
          <a:bodyPr wrap="square" lIns="0" tIns="0" rIns="0" bIns="0" rtlCol="0" anchor="t"/>
          <a:lstStyle/>
          <a:p>
            <a:pPr marL="0" indent="0" algn="l">
              <a:buNone/>
            </a:pPr>
            <a:r>
              <a:rPr lang="en-US" sz="1800" dirty="0">
                <a:solidFill>
                  <a:srgbClr val="0E8A7D"/>
                </a:solidFill>
                <a:latin typeface="Trenda IG Display Bold" pitchFamily="34" charset="0"/>
                <a:ea typeface="Trenda IG Display Bold" pitchFamily="34" charset="-122"/>
                <a:cs typeface="Trenda IG Display Bold" pitchFamily="34" charset="-120"/>
              </a:rPr>
              <a:t>1.8 MB</a:t>
            </a:r>
          </a:p>
        </p:txBody>
      </p:sp>
      <p:sp>
        <p:nvSpPr>
          <p:cNvPr id="123" name="Text 124"/>
          <p:cNvSpPr txBox="1"/>
          <p:nvPr/>
        </p:nvSpPr>
        <p:spPr>
          <a:xfrm>
            <a:off x="6345936" y="4992624"/>
            <a:ext cx="2286000" cy="201168"/>
          </a:xfrm>
          <a:prstGeom prst="rect">
            <a:avLst/>
          </a:prstGeom>
          <a:noFill/>
          <a:ln/>
        </p:spPr>
        <p:txBody>
          <a:bodyPr wrap="square" lIns="0" tIns="0" rIns="0" bIns="0" rtlCol="0" anchor="t"/>
          <a:lstStyle/>
          <a:p>
            <a:pPr marL="0" indent="0" algn="l">
              <a:buNone/>
            </a:pPr>
            <a:r>
              <a:rPr lang="en-US" sz="800" dirty="0">
                <a:solidFill>
                  <a:srgbClr val="5C6E85"/>
                </a:solidFill>
                <a:latin typeface="Trenda IG Text" pitchFamily="34" charset="0"/>
                <a:ea typeface="Trenda IG Text" pitchFamily="34" charset="-122"/>
                <a:cs typeface="Trenda IG Text" pitchFamily="34" charset="-120"/>
              </a:rPr>
              <a:t>the whole map, one file</a:t>
            </a:r>
          </a:p>
        </p:txBody>
      </p:sp>
      <p:sp>
        <p:nvSpPr>
          <p:cNvPr id="125" name="Shape 126"/>
          <p:cNvSpPr/>
          <p:nvPr/>
        </p:nvSpPr>
        <p:spPr>
          <a:xfrm>
            <a:off x="9034272" y="4434840"/>
            <a:ext cx="2670048" cy="914400"/>
          </a:xfrm>
          <a:prstGeom prst="rect">
            <a:avLst/>
          </a:prstGeom>
          <a:solidFill>
            <a:srgbClr val="FFFFFF"/>
          </a:solidFill>
          <a:ln w="9525">
            <a:solidFill>
              <a:srgbClr val="DCE4EE"/>
            </a:solidFill>
          </a:ln>
        </p:spPr>
        <p:txBody>
          <a:bodyPr/>
          <a:lstStyle/>
          <a:p>
            <a:endParaRPr lang="en-US"/>
          </a:p>
        </p:txBody>
      </p:sp>
      <p:sp>
        <p:nvSpPr>
          <p:cNvPr id="127" name="Text 128"/>
          <p:cNvSpPr txBox="1"/>
          <p:nvPr/>
        </p:nvSpPr>
        <p:spPr>
          <a:xfrm>
            <a:off x="9235440" y="4572000"/>
            <a:ext cx="2286000" cy="384048"/>
          </a:xfrm>
          <a:prstGeom prst="rect">
            <a:avLst/>
          </a:prstGeom>
          <a:noFill/>
          <a:ln/>
        </p:spPr>
        <p:txBody>
          <a:bodyPr wrap="square" lIns="0" tIns="0" rIns="0" bIns="0" rtlCol="0" anchor="t"/>
          <a:lstStyle/>
          <a:p>
            <a:pPr marL="0" indent="0" algn="l">
              <a:buNone/>
            </a:pPr>
            <a:r>
              <a:rPr lang="en-US" sz="1800" dirty="0">
                <a:solidFill>
                  <a:srgbClr val="C77400"/>
                </a:solidFill>
                <a:latin typeface="Trenda IG Display Bold" pitchFamily="34" charset="0"/>
                <a:ea typeface="Trenda IG Display Bold" pitchFamily="34" charset="-122"/>
                <a:cs typeface="Trenda IG Display Bold" pitchFamily="34" charset="-120"/>
              </a:rPr>
              <a:t>~7 sec</a:t>
            </a:r>
          </a:p>
        </p:txBody>
      </p:sp>
      <p:sp>
        <p:nvSpPr>
          <p:cNvPr id="129" name="Text 130"/>
          <p:cNvSpPr txBox="1"/>
          <p:nvPr/>
        </p:nvSpPr>
        <p:spPr>
          <a:xfrm>
            <a:off x="9235440" y="4992624"/>
            <a:ext cx="2286000" cy="201168"/>
          </a:xfrm>
          <a:prstGeom prst="rect">
            <a:avLst/>
          </a:prstGeom>
          <a:noFill/>
          <a:ln/>
        </p:spPr>
        <p:txBody>
          <a:bodyPr wrap="square" lIns="0" tIns="0" rIns="0" bIns="0" rtlCol="0" anchor="t"/>
          <a:lstStyle/>
          <a:p>
            <a:pPr marL="0" indent="0" algn="l">
              <a:buNone/>
            </a:pPr>
            <a:r>
              <a:rPr lang="en-US" sz="800" dirty="0">
                <a:solidFill>
                  <a:srgbClr val="5C6E85"/>
                </a:solidFill>
                <a:latin typeface="Trenda IG Text" pitchFamily="34" charset="0"/>
                <a:ea typeface="Trenda IG Text" pitchFamily="34" charset="-122"/>
                <a:cs typeface="Trenda IG Text" pitchFamily="34" charset="-120"/>
              </a:rPr>
              <a:t>to answer a request</a:t>
            </a:r>
          </a:p>
        </p:txBody>
      </p:sp>
    </p:spTree>
  </p:cSld>
  <p:clrMapOvr>
    <a:masterClrMapping/>
  </p:clrMapOvr>
</p:sld>
</file>

<file path=ppt/slides/slide10.xml><?xml version="1.0" encoding="utf-8"?>
<!-- AI-CHANGE-CONSOLE-POC-SLIDE -->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131" name="Text 132"/>
          <p:cNvSpPr txBox="1"/>
          <p:nvPr/>
        </p:nvSpPr>
        <p:spPr>
          <a:xfrm>
            <a:off x="365760" y="256032"/>
            <a:ext cx="11457432" cy="347472"/>
          </a:xfrm>
          <a:prstGeom prst="rect">
            <a:avLst/>
          </a:prstGeom>
          <a:noFill/>
          <a:ln/>
        </p:spPr>
        <p:txBody>
          <a:bodyPr wrap="square" lIns="0" tIns="0" rIns="0" bIns="0" rtlCol="0" anchor="ctr"/>
          <a:lstStyle/>
          <a:p>
            <a:pPr marL="0" indent="0" algn="l">
              <a:buNone/>
            </a:pPr>
            <a:r>
              <a:rPr lang="en-US" sz="2000" dirty="0">
                <a:solidFill>
                  <a:srgbClr val="0E1B2E"/>
                </a:solidFill>
                <a:latin typeface="Trenda IG Display Bold" pitchFamily="34" charset="0"/>
                <a:ea typeface="Trenda IG Display Bold" pitchFamily="34" charset="-122"/>
                <a:cs typeface="Trenda IG Display Bold" pitchFamily="34" charset="-120"/>
              </a:rPr>
              <a:t>What the POC does, end to end</a:t>
            </a:r>
          </a:p>
        </p:txBody>
      </p:sp>
      <p:sp>
        <p:nvSpPr>
          <p:cNvPr id="133" name="Text 134"/>
          <p:cNvSpPr txBox="1"/>
          <p:nvPr/>
        </p:nvSpPr>
        <p:spPr>
          <a:xfrm>
            <a:off x="365760" y="640080"/>
            <a:ext cx="11457432" cy="219456"/>
          </a:xfrm>
          <a:prstGeom prst="rect">
            <a:avLst/>
          </a:prstGeom>
          <a:noFill/>
          <a:ln/>
        </p:spPr>
        <p:txBody>
          <a:bodyPr wrap="square" lIns="0" tIns="0" rIns="0" bIns="0" rtlCol="0" anchor="ctr"/>
          <a:lstStyle/>
          <a:p>
            <a:pPr marL="0" indent="0" algn="l">
              <a:buNone/>
            </a:pPr>
            <a:r>
              <a:rPr lang="en-US" sz="950" dirty="0">
                <a:solidFill>
                  <a:srgbClr val="5C6E85"/>
                </a:solidFill>
                <a:latin typeface="Trenda IG Display" pitchFamily="34" charset="0"/>
                <a:ea typeface="Trenda IG Display" pitchFamily="34" charset="-122"/>
                <a:cs typeface="Trenda IG Display" pitchFamily="34" charset="-120"/>
              </a:rPr>
              <a:t>Five parts. Everything left of the gate costs nothing and calls nobody; nothing crosses the gate without a person.</a:t>
            </a:r>
          </a:p>
        </p:txBody>
      </p:sp>
      <p:sp>
        <p:nvSpPr>
          <p:cNvPr id="135" name="Text 136"/>
          <p:cNvSpPr txBox="1"/>
          <p:nvPr/>
        </p:nvSpPr>
        <p:spPr>
          <a:xfrm>
            <a:off x="365760" y="969264"/>
            <a:ext cx="11457432" cy="164592"/>
          </a:xfrm>
          <a:prstGeom prst="rect">
            <a:avLst/>
          </a:prstGeom>
          <a:noFill/>
          <a:ln/>
        </p:spPr>
        <p:txBody>
          <a:bodyPr wrap="square" lIns="0" tIns="0" rIns="0" bIns="0" rtlCol="0" anchor="t"/>
          <a:lstStyle/>
          <a:p>
            <a:pPr marL="0" indent="0" algn="l">
              <a:buNone/>
            </a:pPr>
            <a:r>
              <a:rPr lang="en-US" sz="700" b="1" dirty="0">
                <a:solidFill>
                  <a:srgbClr val="00757F"/>
                </a:solidFill>
                <a:latin typeface="Trenda IG Text Semibold" pitchFamily="34" charset="0"/>
                <a:ea typeface="Trenda IG Text Semibold" pitchFamily="34" charset="-122"/>
                <a:cs typeface="Trenda IG Text Semibold" pitchFamily="34" charset="-120"/>
              </a:rPr>
              <a:t>THE READ PATH  ·  FREE, REPEATABLE, EXPLAINABLE</a:t>
            </a:r>
          </a:p>
        </p:txBody>
      </p:sp>
      <p:sp>
        <p:nvSpPr>
          <p:cNvPr id="137" name="Shape 138"/>
          <p:cNvSpPr/>
          <p:nvPr/>
        </p:nvSpPr>
        <p:spPr>
          <a:xfrm>
            <a:off x="365760" y="1298448"/>
            <a:ext cx="1965960" cy="1170432"/>
          </a:xfrm>
          <a:prstGeom prst="roundRect">
            <a:avLst>
              <a:gd name="adj" fmla="val 12000"/>
            </a:avLst>
          </a:prstGeom>
          <a:solidFill>
            <a:srgbClr val="DCE4EE"/>
          </a:solidFill>
          <a:ln>
            <a:noFill/>
          </a:ln>
        </p:spPr>
        <p:txBody>
          <a:bodyPr/>
          <a:lstStyle/>
          <a:p>
            <a:endParaRPr lang="en-US"/>
          </a:p>
        </p:txBody>
      </p:sp>
      <p:sp>
        <p:nvSpPr>
          <p:cNvPr id="139" name="Text 140"/>
          <p:cNvSpPr txBox="1"/>
          <p:nvPr/>
        </p:nvSpPr>
        <p:spPr>
          <a:xfrm>
            <a:off x="493776" y="1453896"/>
            <a:ext cx="1709928" cy="219456"/>
          </a:xfrm>
          <a:prstGeom prst="rect">
            <a:avLst/>
          </a:prstGeom>
          <a:noFill/>
          <a:ln/>
        </p:spPr>
        <p:txBody>
          <a:bodyPr wrap="square" lIns="0" tIns="0" rIns="0" bIns="0" rtlCol="0" anchor="t"/>
          <a:lstStyle/>
          <a:p>
            <a:pPr marL="0" indent="0" algn="ctr">
              <a:buNone/>
            </a:pPr>
            <a:r>
              <a:rPr lang="en-US" sz="1000" b="1" dirty="0">
                <a:solidFill>
                  <a:srgbClr val="12233B"/>
                </a:solidFill>
                <a:latin typeface="Trenda IG Text Semibold" pitchFamily="34" charset="0"/>
                <a:ea typeface="Trenda IG Text Semibold" pitchFamily="34" charset="-122"/>
                <a:cs typeface="Trenda IG Text Semibold" pitchFamily="34" charset="-120"/>
              </a:rPr>
              <a:t>Salesforce org</a:t>
            </a:r>
          </a:p>
        </p:txBody>
      </p:sp>
      <p:sp>
        <p:nvSpPr>
          <p:cNvPr id="141" name="Text 142"/>
          <p:cNvSpPr txBox="1"/>
          <p:nvPr/>
        </p:nvSpPr>
        <p:spPr>
          <a:xfrm>
            <a:off x="493776" y="1755648"/>
            <a:ext cx="1709928" cy="182880"/>
          </a:xfrm>
          <a:prstGeom prst="rect">
            <a:avLst/>
          </a:prstGeom>
          <a:noFill/>
          <a:ln/>
        </p:spPr>
        <p:txBody>
          <a:bodyPr wrap="square" lIns="0" tIns="0" rIns="0" bIns="0" rtlCol="0" anchor="t"/>
          <a:lstStyle/>
          <a:p>
            <a:pPr marL="0" indent="0" algn="ctr">
              <a:buNone/>
            </a:pPr>
            <a:r>
              <a:rPr lang="en-US" sz="750" dirty="0">
                <a:solidFill>
                  <a:srgbClr val="5C6E85"/>
                </a:solidFill>
                <a:latin typeface="Trenda IG Text" pitchFamily="34" charset="0"/>
                <a:ea typeface="Trenda IG Text" pitchFamily="34" charset="-122"/>
                <a:cs typeface="Trenda IG Text" pitchFamily="34" charset="-120"/>
              </a:rPr>
              <a:t>objects, fields, flows,</a:t>
            </a:r>
          </a:p>
        </p:txBody>
      </p:sp>
      <p:sp>
        <p:nvSpPr>
          <p:cNvPr id="143" name="Text 144"/>
          <p:cNvSpPr txBox="1"/>
          <p:nvPr/>
        </p:nvSpPr>
        <p:spPr>
          <a:xfrm>
            <a:off x="493776" y="1938528"/>
            <a:ext cx="1709928" cy="182880"/>
          </a:xfrm>
          <a:prstGeom prst="rect">
            <a:avLst/>
          </a:prstGeom>
          <a:noFill/>
          <a:ln/>
        </p:spPr>
        <p:txBody>
          <a:bodyPr wrap="square" lIns="0" tIns="0" rIns="0" bIns="0" rtlCol="0" anchor="t"/>
          <a:lstStyle/>
          <a:p>
            <a:pPr marL="0" indent="0" algn="ctr">
              <a:buNone/>
            </a:pPr>
            <a:r>
              <a:rPr lang="en-US" sz="750" dirty="0">
                <a:solidFill>
                  <a:srgbClr val="5C6E85"/>
                </a:solidFill>
                <a:latin typeface="Trenda IG Text" pitchFamily="34" charset="0"/>
                <a:ea typeface="Trenda IG Text" pitchFamily="34" charset="-122"/>
                <a:cs typeface="Trenda IG Text" pitchFamily="34" charset="-120"/>
              </a:rPr>
              <a:t>triggers, Apex classes</a:t>
            </a:r>
          </a:p>
        </p:txBody>
      </p:sp>
      <p:sp>
        <p:nvSpPr>
          <p:cNvPr id="145" name="Shape 146"/>
          <p:cNvSpPr/>
          <p:nvPr/>
        </p:nvSpPr>
        <p:spPr>
          <a:xfrm>
            <a:off x="2395728" y="1828800"/>
            <a:ext cx="292608" cy="100584"/>
          </a:xfrm>
          <a:prstGeom prst="rightArrow">
            <a:avLst/>
          </a:prstGeom>
          <a:solidFill>
            <a:srgbClr val="C7D2DE"/>
          </a:solidFill>
          <a:ln>
            <a:noFill/>
          </a:ln>
        </p:spPr>
        <p:txBody>
          <a:bodyPr/>
          <a:lstStyle/>
          <a:p>
            <a:endParaRPr lang="en-US"/>
          </a:p>
        </p:txBody>
      </p:sp>
      <p:sp>
        <p:nvSpPr>
          <p:cNvPr id="147" name="Shape 148"/>
          <p:cNvSpPr/>
          <p:nvPr/>
        </p:nvSpPr>
        <p:spPr>
          <a:xfrm>
            <a:off x="2752344" y="1298448"/>
            <a:ext cx="1965960" cy="1170432"/>
          </a:xfrm>
          <a:prstGeom prst="roundRect">
            <a:avLst>
              <a:gd name="adj" fmla="val 12000"/>
            </a:avLst>
          </a:prstGeom>
          <a:solidFill>
            <a:srgbClr val="1B6BC0"/>
          </a:solidFill>
          <a:ln>
            <a:noFill/>
          </a:ln>
        </p:spPr>
        <p:txBody>
          <a:bodyPr/>
          <a:lstStyle/>
          <a:p>
            <a:endParaRPr lang="en-US"/>
          </a:p>
        </p:txBody>
      </p:sp>
      <p:sp>
        <p:nvSpPr>
          <p:cNvPr id="149" name="Text 150"/>
          <p:cNvSpPr txBox="1"/>
          <p:nvPr/>
        </p:nvSpPr>
        <p:spPr>
          <a:xfrm>
            <a:off x="2880360" y="1453896"/>
            <a:ext cx="1709928" cy="219456"/>
          </a:xfrm>
          <a:prstGeom prst="rect">
            <a:avLst/>
          </a:prstGeom>
          <a:noFill/>
          <a:ln/>
        </p:spPr>
        <p:txBody>
          <a:bodyPr wrap="square" lIns="0" tIns="0" rIns="0" bIns="0" rtlCol="0" anchor="t"/>
          <a:lstStyle/>
          <a:p>
            <a:pPr marL="0" indent="0" algn="ctr">
              <a:buNone/>
            </a:pPr>
            <a:r>
              <a:rPr lang="en-US" sz="1000" b="1" dirty="0">
                <a:solidFill>
                  <a:srgbClr val="FFFFFF"/>
                </a:solidFill>
                <a:latin typeface="Trenda IG Text Semibold" pitchFamily="34" charset="0"/>
                <a:ea typeface="Trenda IG Text Semibold" pitchFamily="34" charset="-122"/>
                <a:cs typeface="Trenda IG Text Semibold" pitchFamily="34" charset="-120"/>
              </a:rPr>
              <a:t>Graph export</a:t>
            </a:r>
          </a:p>
        </p:txBody>
      </p:sp>
      <p:sp>
        <p:nvSpPr>
          <p:cNvPr id="151" name="Text 152"/>
          <p:cNvSpPr txBox="1"/>
          <p:nvPr/>
        </p:nvSpPr>
        <p:spPr>
          <a:xfrm>
            <a:off x="2880360" y="1755648"/>
            <a:ext cx="1709928" cy="182880"/>
          </a:xfrm>
          <a:prstGeom prst="rect">
            <a:avLst/>
          </a:prstGeom>
          <a:noFill/>
          <a:ln/>
        </p:spPr>
        <p:txBody>
          <a:bodyPr wrap="square" lIns="0" tIns="0" rIns="0" bIns="0" rtlCol="0" anchor="t"/>
          <a:lstStyle/>
          <a:p>
            <a:pPr marL="0" indent="0" algn="ctr">
              <a:buNone/>
            </a:pPr>
            <a:r>
              <a:rPr lang="en-US" sz="750" dirty="0">
                <a:solidFill>
                  <a:srgbClr val="9AA7B5"/>
                </a:solidFill>
                <a:latin typeface="Trenda IG Text" pitchFamily="34" charset="0"/>
                <a:ea typeface="Trenda IG Text" pitchFamily="34" charset="-122"/>
                <a:cs typeface="Trenda IG Text" pitchFamily="34" charset="-120"/>
              </a:rPr>
              <a:t>background job reads</a:t>
            </a:r>
          </a:p>
        </p:txBody>
      </p:sp>
      <p:sp>
        <p:nvSpPr>
          <p:cNvPr id="153" name="Text 154"/>
          <p:cNvSpPr txBox="1"/>
          <p:nvPr/>
        </p:nvSpPr>
        <p:spPr>
          <a:xfrm>
            <a:off x="2880360" y="1938528"/>
            <a:ext cx="1709928" cy="182880"/>
          </a:xfrm>
          <a:prstGeom prst="rect">
            <a:avLst/>
          </a:prstGeom>
          <a:noFill/>
          <a:ln/>
        </p:spPr>
        <p:txBody>
          <a:bodyPr wrap="square" lIns="0" tIns="0" rIns="0" bIns="0" rtlCol="0" anchor="t"/>
          <a:lstStyle/>
          <a:p>
            <a:pPr marL="0" indent="0" algn="ctr">
              <a:buNone/>
            </a:pPr>
            <a:r>
              <a:rPr lang="en-US" sz="750" dirty="0">
                <a:solidFill>
                  <a:srgbClr val="9AA7B5"/>
                </a:solidFill>
                <a:latin typeface="Trenda IG Text" pitchFamily="34" charset="0"/>
                <a:ea typeface="Trenda IG Text" pitchFamily="34" charset="-122"/>
                <a:cs typeface="Trenda IG Text" pitchFamily="34" charset="-120"/>
              </a:rPr>
              <a:t>the pod's metadata</a:t>
            </a:r>
          </a:p>
        </p:txBody>
      </p:sp>
      <p:sp>
        <p:nvSpPr>
          <p:cNvPr id="155" name="Shape 156"/>
          <p:cNvSpPr/>
          <p:nvPr/>
        </p:nvSpPr>
        <p:spPr>
          <a:xfrm>
            <a:off x="4782312" y="1828800"/>
            <a:ext cx="292608" cy="100584"/>
          </a:xfrm>
          <a:prstGeom prst="rightArrow">
            <a:avLst/>
          </a:prstGeom>
          <a:solidFill>
            <a:srgbClr val="C7D2DE"/>
          </a:solidFill>
          <a:ln>
            <a:noFill/>
          </a:ln>
        </p:spPr>
        <p:txBody>
          <a:bodyPr/>
          <a:lstStyle/>
          <a:p>
            <a:endParaRPr lang="en-US"/>
          </a:p>
        </p:txBody>
      </p:sp>
      <p:sp>
        <p:nvSpPr>
          <p:cNvPr id="157" name="Shape 158"/>
          <p:cNvSpPr/>
          <p:nvPr/>
        </p:nvSpPr>
        <p:spPr>
          <a:xfrm>
            <a:off x="5138928" y="1298448"/>
            <a:ext cx="1965960" cy="1170432"/>
          </a:xfrm>
          <a:prstGeom prst="roundRect">
            <a:avLst>
              <a:gd name="adj" fmla="val 12000"/>
            </a:avLst>
          </a:prstGeom>
          <a:solidFill>
            <a:srgbClr val="00757F"/>
          </a:solidFill>
          <a:ln>
            <a:noFill/>
          </a:ln>
        </p:spPr>
        <p:txBody>
          <a:bodyPr/>
          <a:lstStyle/>
          <a:p>
            <a:endParaRPr lang="en-US"/>
          </a:p>
        </p:txBody>
      </p:sp>
      <p:sp>
        <p:nvSpPr>
          <p:cNvPr id="159" name="Text 160"/>
          <p:cNvSpPr txBox="1"/>
          <p:nvPr/>
        </p:nvSpPr>
        <p:spPr>
          <a:xfrm>
            <a:off x="5266944" y="1453896"/>
            <a:ext cx="1709928" cy="219456"/>
          </a:xfrm>
          <a:prstGeom prst="rect">
            <a:avLst/>
          </a:prstGeom>
          <a:noFill/>
          <a:ln/>
        </p:spPr>
        <p:txBody>
          <a:bodyPr wrap="square" lIns="0" tIns="0" rIns="0" bIns="0" rtlCol="0" anchor="t"/>
          <a:lstStyle/>
          <a:p>
            <a:pPr marL="0" indent="0" algn="ctr">
              <a:buNone/>
            </a:pPr>
            <a:r>
              <a:rPr lang="en-US" sz="1000" b="1" dirty="0">
                <a:solidFill>
                  <a:srgbClr val="FFFFFF"/>
                </a:solidFill>
                <a:latin typeface="Trenda IG Text Semibold" pitchFamily="34" charset="0"/>
                <a:ea typeface="Trenda IG Text Semibold" pitchFamily="34" charset="-122"/>
                <a:cs typeface="Trenda IG Text Semibold" pitchFamily="34" charset="-120"/>
              </a:rPr>
              <a:t>Knowledge graph</a:t>
            </a:r>
          </a:p>
        </p:txBody>
      </p:sp>
      <p:sp>
        <p:nvSpPr>
          <p:cNvPr id="161" name="Text 162"/>
          <p:cNvSpPr txBox="1"/>
          <p:nvPr/>
        </p:nvSpPr>
        <p:spPr>
          <a:xfrm>
            <a:off x="5266944" y="1755648"/>
            <a:ext cx="1709928" cy="182880"/>
          </a:xfrm>
          <a:prstGeom prst="rect">
            <a:avLst/>
          </a:prstGeom>
          <a:noFill/>
          <a:ln/>
        </p:spPr>
        <p:txBody>
          <a:bodyPr wrap="square" lIns="0" tIns="0" rIns="0" bIns="0" rtlCol="0" anchor="t"/>
          <a:lstStyle/>
          <a:p>
            <a:pPr marL="0" indent="0" algn="ctr">
              <a:buNone/>
            </a:pPr>
            <a:r>
              <a:rPr lang="en-US" sz="750" dirty="0">
                <a:solidFill>
                  <a:srgbClr val="9AA7B5"/>
                </a:solidFill>
                <a:latin typeface="Trenda IG Text" pitchFamily="34" charset="0"/>
                <a:ea typeface="Trenda IG Text" pitchFamily="34" charset="-122"/>
                <a:cs typeface="Trenda IG Text" pitchFamily="34" charset="-120"/>
              </a:rPr>
              <a:t>one JSON file</a:t>
            </a:r>
          </a:p>
        </p:txBody>
      </p:sp>
      <p:sp>
        <p:nvSpPr>
          <p:cNvPr id="163" name="Text 164"/>
          <p:cNvSpPr txBox="1"/>
          <p:nvPr/>
        </p:nvSpPr>
        <p:spPr>
          <a:xfrm>
            <a:off x="5266944" y="1938528"/>
            <a:ext cx="1709928" cy="182880"/>
          </a:xfrm>
          <a:prstGeom prst="rect">
            <a:avLst/>
          </a:prstGeom>
          <a:noFill/>
          <a:ln/>
        </p:spPr>
        <p:txBody>
          <a:bodyPr wrap="square" lIns="0" tIns="0" rIns="0" bIns="0" rtlCol="0" anchor="t"/>
          <a:lstStyle/>
          <a:p>
            <a:pPr marL="0" indent="0" algn="ctr">
              <a:buNone/>
            </a:pPr>
            <a:r>
              <a:rPr lang="en-US" sz="750" dirty="0">
                <a:solidFill>
                  <a:srgbClr val="9AA7B5"/>
                </a:solidFill>
                <a:latin typeface="Trenda IG Text" pitchFamily="34" charset="0"/>
                <a:ea typeface="Trenda IG Text" pitchFamily="34" charset="-122"/>
                <a:cs typeface="Trenda IG Text" pitchFamily="34" charset="-120"/>
              </a:rPr>
              <a:t>stored in the org</a:t>
            </a:r>
          </a:p>
        </p:txBody>
      </p:sp>
      <p:sp>
        <p:nvSpPr>
          <p:cNvPr id="165" name="Shape 166"/>
          <p:cNvSpPr/>
          <p:nvPr/>
        </p:nvSpPr>
        <p:spPr>
          <a:xfrm>
            <a:off x="7168896" y="1828800"/>
            <a:ext cx="292608" cy="100584"/>
          </a:xfrm>
          <a:prstGeom prst="rightArrow">
            <a:avLst/>
          </a:prstGeom>
          <a:solidFill>
            <a:srgbClr val="C7D2DE"/>
          </a:solidFill>
          <a:ln>
            <a:noFill/>
          </a:ln>
        </p:spPr>
        <p:txBody>
          <a:bodyPr/>
          <a:lstStyle/>
          <a:p>
            <a:endParaRPr lang="en-US"/>
          </a:p>
        </p:txBody>
      </p:sp>
      <p:sp>
        <p:nvSpPr>
          <p:cNvPr id="167" name="Shape 168"/>
          <p:cNvSpPr/>
          <p:nvPr/>
        </p:nvSpPr>
        <p:spPr>
          <a:xfrm>
            <a:off x="7525512" y="1298448"/>
            <a:ext cx="1965960" cy="1170432"/>
          </a:xfrm>
          <a:prstGeom prst="roundRect">
            <a:avLst>
              <a:gd name="adj" fmla="val 12000"/>
            </a:avLst>
          </a:prstGeom>
          <a:solidFill>
            <a:srgbClr val="0E8A7D"/>
          </a:solidFill>
          <a:ln>
            <a:noFill/>
          </a:ln>
        </p:spPr>
        <p:txBody>
          <a:bodyPr/>
          <a:lstStyle/>
          <a:p>
            <a:endParaRPr lang="en-US"/>
          </a:p>
        </p:txBody>
      </p:sp>
      <p:sp>
        <p:nvSpPr>
          <p:cNvPr id="169" name="Text 170"/>
          <p:cNvSpPr txBox="1"/>
          <p:nvPr/>
        </p:nvSpPr>
        <p:spPr>
          <a:xfrm>
            <a:off x="7653528" y="1453896"/>
            <a:ext cx="1709928" cy="219456"/>
          </a:xfrm>
          <a:prstGeom prst="rect">
            <a:avLst/>
          </a:prstGeom>
          <a:noFill/>
          <a:ln/>
        </p:spPr>
        <p:txBody>
          <a:bodyPr wrap="square" lIns="0" tIns="0" rIns="0" bIns="0" rtlCol="0" anchor="t"/>
          <a:lstStyle/>
          <a:p>
            <a:pPr marL="0" indent="0" algn="ctr">
              <a:buNone/>
            </a:pPr>
            <a:r>
              <a:rPr lang="en-US" sz="1000" b="1" dirty="0">
                <a:solidFill>
                  <a:srgbClr val="FFFFFF"/>
                </a:solidFill>
                <a:latin typeface="Trenda IG Text Semibold" pitchFamily="34" charset="0"/>
                <a:ea typeface="Trenda IG Text Semibold" pitchFamily="34" charset="-122"/>
                <a:cs typeface="Trenda IG Text Semibold" pitchFamily="34" charset="-120"/>
              </a:rPr>
              <a:t>Search</a:t>
            </a:r>
          </a:p>
        </p:txBody>
      </p:sp>
      <p:sp>
        <p:nvSpPr>
          <p:cNvPr id="171" name="Text 172"/>
          <p:cNvSpPr txBox="1"/>
          <p:nvPr/>
        </p:nvSpPr>
        <p:spPr>
          <a:xfrm>
            <a:off x="7653528" y="1755648"/>
            <a:ext cx="1709928" cy="182880"/>
          </a:xfrm>
          <a:prstGeom prst="rect">
            <a:avLst/>
          </a:prstGeom>
          <a:noFill/>
          <a:ln/>
        </p:spPr>
        <p:txBody>
          <a:bodyPr wrap="square" lIns="0" tIns="0" rIns="0" bIns="0" rtlCol="0" anchor="t"/>
          <a:lstStyle/>
          <a:p>
            <a:pPr marL="0" indent="0" algn="ctr">
              <a:buNone/>
            </a:pPr>
            <a:r>
              <a:rPr lang="en-US" sz="750" dirty="0">
                <a:solidFill>
                  <a:srgbClr val="9AA7B5"/>
                </a:solidFill>
                <a:latin typeface="Trenda IG Text" pitchFamily="34" charset="0"/>
                <a:ea typeface="Trenda IG Text" pitchFamily="34" charset="-122"/>
                <a:cs typeface="Trenda IG Text" pitchFamily="34" charset="-120"/>
              </a:rPr>
              <a:t>anchor on the object,</a:t>
            </a:r>
          </a:p>
        </p:txBody>
      </p:sp>
      <p:sp>
        <p:nvSpPr>
          <p:cNvPr id="173" name="Text 174"/>
          <p:cNvSpPr txBox="1"/>
          <p:nvPr/>
        </p:nvSpPr>
        <p:spPr>
          <a:xfrm>
            <a:off x="7653528" y="1938528"/>
            <a:ext cx="1709928" cy="182880"/>
          </a:xfrm>
          <a:prstGeom prst="rect">
            <a:avLst/>
          </a:prstGeom>
          <a:noFill/>
          <a:ln/>
        </p:spPr>
        <p:txBody>
          <a:bodyPr wrap="square" lIns="0" tIns="0" rIns="0" bIns="0" rtlCol="0" anchor="t"/>
          <a:lstStyle/>
          <a:p>
            <a:pPr marL="0" indent="0" algn="ctr">
              <a:buNone/>
            </a:pPr>
            <a:r>
              <a:rPr lang="en-US" sz="750" dirty="0">
                <a:solidFill>
                  <a:srgbClr val="9AA7B5"/>
                </a:solidFill>
                <a:latin typeface="Trenda IG Text" pitchFamily="34" charset="0"/>
                <a:ea typeface="Trenda IG Text" pitchFamily="34" charset="-122"/>
                <a:cs typeface="Trenda IG Text" pitchFamily="34" charset="-120"/>
              </a:rPr>
              <a:t>walk the relationships</a:t>
            </a:r>
          </a:p>
        </p:txBody>
      </p:sp>
      <p:sp>
        <p:nvSpPr>
          <p:cNvPr id="175" name="Shape 176"/>
          <p:cNvSpPr/>
          <p:nvPr/>
        </p:nvSpPr>
        <p:spPr>
          <a:xfrm>
            <a:off x="9555480" y="1828800"/>
            <a:ext cx="292608" cy="100584"/>
          </a:xfrm>
          <a:prstGeom prst="rightArrow">
            <a:avLst/>
          </a:prstGeom>
          <a:solidFill>
            <a:srgbClr val="C7D2DE"/>
          </a:solidFill>
          <a:ln>
            <a:noFill/>
          </a:ln>
        </p:spPr>
        <p:txBody>
          <a:bodyPr/>
          <a:lstStyle/>
          <a:p>
            <a:endParaRPr lang="en-US"/>
          </a:p>
        </p:txBody>
      </p:sp>
      <p:sp>
        <p:nvSpPr>
          <p:cNvPr id="177" name="Shape 178"/>
          <p:cNvSpPr/>
          <p:nvPr/>
        </p:nvSpPr>
        <p:spPr>
          <a:xfrm>
            <a:off x="9912096" y="1298448"/>
            <a:ext cx="1965960" cy="1170432"/>
          </a:xfrm>
          <a:prstGeom prst="roundRect">
            <a:avLst>
              <a:gd name="adj" fmla="val 12000"/>
            </a:avLst>
          </a:prstGeom>
          <a:solidFill>
            <a:srgbClr val="2E7D32"/>
          </a:solidFill>
          <a:ln>
            <a:noFill/>
          </a:ln>
        </p:spPr>
        <p:txBody>
          <a:bodyPr/>
          <a:lstStyle/>
          <a:p>
            <a:endParaRPr lang="en-US"/>
          </a:p>
        </p:txBody>
      </p:sp>
      <p:sp>
        <p:nvSpPr>
          <p:cNvPr id="179" name="Text 180"/>
          <p:cNvSpPr txBox="1"/>
          <p:nvPr/>
        </p:nvSpPr>
        <p:spPr>
          <a:xfrm>
            <a:off x="10040112" y="1453896"/>
            <a:ext cx="1709928" cy="219456"/>
          </a:xfrm>
          <a:prstGeom prst="rect">
            <a:avLst/>
          </a:prstGeom>
          <a:noFill/>
          <a:ln/>
        </p:spPr>
        <p:txBody>
          <a:bodyPr wrap="square" lIns="0" tIns="0" rIns="0" bIns="0" rtlCol="0" anchor="t"/>
          <a:lstStyle/>
          <a:p>
            <a:pPr marL="0" indent="0" algn="ctr">
              <a:buNone/>
            </a:pPr>
            <a:r>
              <a:rPr lang="en-US" sz="1000" b="1" dirty="0">
                <a:solidFill>
                  <a:srgbClr val="FFFFFF"/>
                </a:solidFill>
                <a:latin typeface="Trenda IG Text Semibold" pitchFamily="34" charset="0"/>
                <a:ea typeface="Trenda IG Text Semibold" pitchFamily="34" charset="-122"/>
                <a:cs typeface="Trenda IG Text Semibold" pitchFamily="34" charset="-120"/>
              </a:rPr>
              <a:t>Verdict</a:t>
            </a:r>
          </a:p>
        </p:txBody>
      </p:sp>
      <p:sp>
        <p:nvSpPr>
          <p:cNvPr id="181" name="Text 182"/>
          <p:cNvSpPr txBox="1"/>
          <p:nvPr/>
        </p:nvSpPr>
        <p:spPr>
          <a:xfrm>
            <a:off x="10040112" y="1755648"/>
            <a:ext cx="1709928" cy="182880"/>
          </a:xfrm>
          <a:prstGeom prst="rect">
            <a:avLst/>
          </a:prstGeom>
          <a:noFill/>
          <a:ln/>
        </p:spPr>
        <p:txBody>
          <a:bodyPr wrap="square" lIns="0" tIns="0" rIns="0" bIns="0" rtlCol="0" anchor="t"/>
          <a:lstStyle/>
          <a:p>
            <a:pPr marL="0" indent="0" algn="ctr">
              <a:buNone/>
            </a:pPr>
            <a:r>
              <a:rPr lang="en-US" sz="750" dirty="0">
                <a:solidFill>
                  <a:srgbClr val="9AA7B5"/>
                </a:solidFill>
                <a:latin typeface="Trenda IG Text" pitchFamily="34" charset="0"/>
                <a:ea typeface="Trenda IG Text" pitchFamily="34" charset="-122"/>
                <a:cs typeface="Trenda IG Text" pitchFamily="34" charset="-120"/>
              </a:rPr>
              <a:t>with the evidence</a:t>
            </a:r>
          </a:p>
        </p:txBody>
      </p:sp>
      <p:sp>
        <p:nvSpPr>
          <p:cNvPr id="183" name="Text 184"/>
          <p:cNvSpPr txBox="1"/>
          <p:nvPr/>
        </p:nvSpPr>
        <p:spPr>
          <a:xfrm>
            <a:off x="10040112" y="1938528"/>
            <a:ext cx="1709928" cy="182880"/>
          </a:xfrm>
          <a:prstGeom prst="rect">
            <a:avLst/>
          </a:prstGeom>
          <a:noFill/>
          <a:ln/>
        </p:spPr>
        <p:txBody>
          <a:bodyPr wrap="square" lIns="0" tIns="0" rIns="0" bIns="0" rtlCol="0" anchor="t"/>
          <a:lstStyle/>
          <a:p>
            <a:pPr marL="0" indent="0" algn="ctr">
              <a:buNone/>
            </a:pPr>
            <a:r>
              <a:rPr lang="en-US" sz="750" dirty="0">
                <a:solidFill>
                  <a:srgbClr val="9AA7B5"/>
                </a:solidFill>
                <a:latin typeface="Trenda IG Text" pitchFamily="34" charset="0"/>
                <a:ea typeface="Trenda IG Text" pitchFamily="34" charset="-122"/>
                <a:cs typeface="Trenda IG Text" pitchFamily="34" charset="-120"/>
              </a:rPr>
              <a:t>that produced it</a:t>
            </a:r>
          </a:p>
        </p:txBody>
      </p:sp>
      <p:sp>
        <p:nvSpPr>
          <p:cNvPr id="185" name="Shape 186"/>
          <p:cNvSpPr/>
          <p:nvPr/>
        </p:nvSpPr>
        <p:spPr>
          <a:xfrm>
            <a:off x="365760" y="2788920"/>
            <a:ext cx="5532120" cy="1417320"/>
          </a:xfrm>
          <a:prstGeom prst="rect">
            <a:avLst/>
          </a:prstGeom>
          <a:solidFill>
            <a:srgbClr val="FFFFFF"/>
          </a:solidFill>
          <a:ln w="9525">
            <a:solidFill>
              <a:srgbClr val="DCE4EE"/>
            </a:solidFill>
          </a:ln>
        </p:spPr>
        <p:txBody>
          <a:bodyPr/>
          <a:lstStyle/>
          <a:p>
            <a:endParaRPr lang="en-US"/>
          </a:p>
        </p:txBody>
      </p:sp>
      <p:sp>
        <p:nvSpPr>
          <p:cNvPr id="187" name="Text 188"/>
          <p:cNvSpPr txBox="1"/>
          <p:nvPr/>
        </p:nvSpPr>
        <p:spPr>
          <a:xfrm>
            <a:off x="566928" y="2944368"/>
            <a:ext cx="51206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The request decides where the search starts</a:t>
            </a:r>
          </a:p>
        </p:txBody>
      </p:sp>
      <p:sp>
        <p:nvSpPr>
          <p:cNvPr id="189" name="Text 190"/>
          <p:cNvSpPr txBox="1"/>
          <p:nvPr/>
        </p:nvSpPr>
        <p:spPr>
          <a:xfrm>
            <a:off x="566928" y="3218688"/>
            <a:ext cx="5120640" cy="868680"/>
          </a:xfrm>
          <a:prstGeom prst="rect">
            <a:avLst/>
          </a:prstGeom>
          <a:noFill/>
          <a:ln/>
        </p:spPr>
        <p:txBody>
          <a:bodyPr wrap="square" lIns="0" tIns="0" rIns="0" bIns="0" rtlCol="0" anchor="t"/>
          <a:lstStyle/>
          <a:p>
            <a:pPr marL="0" indent="0" algn="l">
              <a:lnSpc>
                <a:spcPct val="130000"/>
              </a:lnSpc>
              <a:buNone/>
            </a:pPr>
            <a:r>
              <a:rPr lang="en-US" sz="800" dirty="0">
                <a:solidFill>
                  <a:srgbClr val="5C6E85"/>
                </a:solidFill>
                <a:latin typeface="Trenda IG Text" pitchFamily="34" charset="0"/>
                <a:ea typeface="Trenda IG Text" pitchFamily="34" charset="-122"/>
                <a:cs typeface="Trenda IG Text" pitchFamily="34" charset="-120"/>
              </a:rPr>
              <a:t>Someone types a sentence on one screen. The system reads an action, an object and a shape out of it, then matches the sentence against the graph's own object names to pick the starting point. No form, no dropdowns, no tagging.</a:t>
            </a:r>
          </a:p>
        </p:txBody>
      </p:sp>
      <p:sp>
        <p:nvSpPr>
          <p:cNvPr id="191" name="Shape 192"/>
          <p:cNvSpPr/>
          <p:nvPr/>
        </p:nvSpPr>
        <p:spPr>
          <a:xfrm>
            <a:off x="6291072" y="2788920"/>
            <a:ext cx="5532120" cy="1417320"/>
          </a:xfrm>
          <a:prstGeom prst="rect">
            <a:avLst/>
          </a:prstGeom>
          <a:solidFill>
            <a:srgbClr val="FFFFFF"/>
          </a:solidFill>
          <a:ln w="9525">
            <a:solidFill>
              <a:srgbClr val="DCE4EE"/>
            </a:solidFill>
          </a:ln>
        </p:spPr>
        <p:txBody>
          <a:bodyPr/>
          <a:lstStyle/>
          <a:p>
            <a:endParaRPr lang="en-US"/>
          </a:p>
        </p:txBody>
      </p:sp>
      <p:sp>
        <p:nvSpPr>
          <p:cNvPr id="193" name="Text 194"/>
          <p:cNvSpPr txBox="1"/>
          <p:nvPr/>
        </p:nvSpPr>
        <p:spPr>
          <a:xfrm>
            <a:off x="6492240" y="2944368"/>
            <a:ext cx="51206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The graph answers most questions for free</a:t>
            </a:r>
          </a:p>
        </p:txBody>
      </p:sp>
      <p:sp>
        <p:nvSpPr>
          <p:cNvPr id="195" name="Text 196"/>
          <p:cNvSpPr txBox="1"/>
          <p:nvPr/>
        </p:nvSpPr>
        <p:spPr>
          <a:xfrm>
            <a:off x="6492240" y="3218688"/>
            <a:ext cx="5120640" cy="868680"/>
          </a:xfrm>
          <a:prstGeom prst="rect">
            <a:avLst/>
          </a:prstGeom>
          <a:noFill/>
          <a:ln/>
        </p:spPr>
        <p:txBody>
          <a:bodyPr wrap="square" lIns="0" tIns="0" rIns="0" bIns="0" rtlCol="0" anchor="t"/>
          <a:lstStyle/>
          <a:p>
            <a:pPr marL="0" indent="0" algn="l">
              <a:lnSpc>
                <a:spcPct val="130000"/>
              </a:lnSpc>
              <a:buNone/>
            </a:pPr>
            <a:r>
              <a:rPr lang="en-US" sz="800" dirty="0">
                <a:solidFill>
                  <a:srgbClr val="5C6E85"/>
                </a:solidFill>
                <a:latin typeface="Trenda IG Text" pitchFamily="34" charset="0"/>
                <a:ea typeface="Trenda IG Text" pitchFamily="34" charset="-122"/>
                <a:cs typeface="Trenda IG Text" pitchFamily="34" charset="-120"/>
              </a:rPr>
              <a:t>Relationships were resolved once, when the map was built. Answering is a walk over pointers already in memory: no queries against the org, no external call, no tokens spent, and the same question gives the same answer tomorrow.</a:t>
            </a:r>
          </a:p>
        </p:txBody>
      </p:sp>
      <p:sp>
        <p:nvSpPr>
          <p:cNvPr id="197" name="Shape 198"/>
          <p:cNvSpPr/>
          <p:nvPr/>
        </p:nvSpPr>
        <p:spPr>
          <a:xfrm>
            <a:off x="365760" y="4434840"/>
            <a:ext cx="11457432" cy="1481328"/>
          </a:xfrm>
          <a:prstGeom prst="roundRect">
            <a:avLst>
              <a:gd name="adj" fmla="val 10000"/>
            </a:avLst>
          </a:prstGeom>
          <a:solidFill>
            <a:srgbClr val="EAF1F9"/>
          </a:solidFill>
          <a:ln>
            <a:noFill/>
          </a:ln>
        </p:spPr>
        <p:txBody>
          <a:bodyPr/>
          <a:lstStyle/>
          <a:p>
            <a:endParaRPr lang="en-US"/>
          </a:p>
        </p:txBody>
      </p:sp>
      <p:sp>
        <p:nvSpPr>
          <p:cNvPr id="199" name="Shape 200"/>
          <p:cNvSpPr/>
          <p:nvPr/>
        </p:nvSpPr>
        <p:spPr>
          <a:xfrm>
            <a:off x="585216" y="4617720"/>
            <a:ext cx="1371600" cy="256032"/>
          </a:xfrm>
          <a:prstGeom prst="roundRect">
            <a:avLst>
              <a:gd name="adj" fmla="val 18000"/>
            </a:avLst>
          </a:prstGeom>
          <a:solidFill>
            <a:srgbClr val="C77400"/>
          </a:solidFill>
          <a:ln>
            <a:noFill/>
          </a:ln>
        </p:spPr>
        <p:txBody>
          <a:bodyPr/>
          <a:lstStyle/>
          <a:p>
            <a:endParaRPr lang="en-US"/>
          </a:p>
        </p:txBody>
      </p:sp>
      <p:sp>
        <p:nvSpPr>
          <p:cNvPr id="201" name="Text 202"/>
          <p:cNvSpPr txBox="1"/>
          <p:nvPr/>
        </p:nvSpPr>
        <p:spPr>
          <a:xfrm>
            <a:off x="585216" y="4617720"/>
            <a:ext cx="13716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Trenda IG Text Semibold" pitchFamily="34" charset="0"/>
                <a:ea typeface="Trenda IG Text Semibold" pitchFamily="34" charset="-122"/>
                <a:cs typeface="Trenda IG Text Semibold" pitchFamily="34" charset="-120"/>
              </a:rPr>
              <a:t>GATE 1</a:t>
            </a:r>
          </a:p>
        </p:txBody>
      </p:sp>
      <p:sp>
        <p:nvSpPr>
          <p:cNvPr id="203" name="Text 204"/>
          <p:cNvSpPr txBox="1"/>
          <p:nvPr/>
        </p:nvSpPr>
        <p:spPr>
          <a:xfrm>
            <a:off x="2121408" y="4617720"/>
            <a:ext cx="9418320" cy="219456"/>
          </a:xfrm>
          <a:prstGeom prst="rect">
            <a:avLst/>
          </a:prstGeom>
          <a:noFill/>
          <a:ln/>
        </p:spPr>
        <p:txBody>
          <a:bodyPr wrap="square" lIns="0" tIns="0" rIns="0" bIns="0" rtlCol="0" anchor="t"/>
          <a:lstStyle/>
          <a:p>
            <a:pPr marL="0" indent="0" algn="l">
              <a:buNone/>
            </a:pPr>
            <a:r>
              <a:rPr lang="en-US" sz="1000" b="1" dirty="0">
                <a:solidFill>
                  <a:srgbClr val="0E1B2E"/>
                </a:solidFill>
                <a:latin typeface="Trenda IG Text Semibold" pitchFamily="34" charset="0"/>
                <a:ea typeface="Trenda IG Text Semibold" pitchFamily="34" charset="-122"/>
                <a:cs typeface="Trenda IG Text Semibold" pitchFamily="34" charset="-120"/>
              </a:rPr>
              <a:t>A person reads the verdict and the evidence, then approves or rejects</a:t>
            </a:r>
          </a:p>
        </p:txBody>
      </p:sp>
      <p:sp>
        <p:nvSpPr>
          <p:cNvPr id="205" name="Text 206"/>
          <p:cNvSpPr txBox="1"/>
          <p:nvPr/>
        </p:nvSpPr>
        <p:spPr>
          <a:xfrm>
            <a:off x="585216" y="5029200"/>
            <a:ext cx="11018520" cy="749808"/>
          </a:xfrm>
          <a:prstGeom prst="rect">
            <a:avLst/>
          </a:prstGeom>
          <a:noFill/>
          <a:ln/>
        </p:spPr>
        <p:txBody>
          <a:bodyPr wrap="square" lIns="0" tIns="0" rIns="0" bIns="0" rtlCol="0" anchor="t"/>
          <a:lstStyle/>
          <a:p>
            <a:pPr marL="0" indent="0" algn="l">
              <a:lnSpc>
                <a:spcPct val="130000"/>
              </a:lnSpc>
              <a:buNone/>
            </a:pPr>
            <a:r>
              <a:rPr lang="en-US" sz="850" dirty="0">
                <a:solidFill>
                  <a:srgbClr val="5C6E85"/>
                </a:solidFill>
                <a:latin typeface="Trenda IG Text" pitchFamily="34" charset="0"/>
                <a:ea typeface="Trenda IG Text" pitchFamily="34" charset="-122"/>
                <a:cs typeface="Trenda IG Text" pitchFamily="34" charset="-120"/>
              </a:rPr>
              <a:t>Only after that approval does the console offer to connect a model to draft the change, and only after a second approval would anything deploy. The graph search, the verdict and the audit trail all happen before any of that — which is the point. Most requests are answered, and some are refused, without a model ever being contacted.</a:t>
            </a:r>
          </a:p>
        </p:txBody>
      </p:sp>
    </p:spTree>
  </p:cSld>
  <p:clrMapOvr>
    <a:masterClrMapping/>
  </p:clrMapOvr>
</p:sld>
</file>

<file path=ppt/slides/slide11.xml><?xml version="1.0" encoding="utf-8"?>
<!-- AI-CHANGE-CONSOLE-POC-SLIDE -->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207" name="Text 208"/>
          <p:cNvSpPr txBox="1"/>
          <p:nvPr/>
        </p:nvSpPr>
        <p:spPr>
          <a:xfrm>
            <a:off x="365760" y="256032"/>
            <a:ext cx="11457432" cy="347472"/>
          </a:xfrm>
          <a:prstGeom prst="rect">
            <a:avLst/>
          </a:prstGeom>
          <a:noFill/>
          <a:ln/>
        </p:spPr>
        <p:txBody>
          <a:bodyPr wrap="square" lIns="0" tIns="0" rIns="0" bIns="0" rtlCol="0" anchor="ctr"/>
          <a:lstStyle/>
          <a:p>
            <a:pPr marL="0" indent="0" algn="l">
              <a:buNone/>
            </a:pPr>
            <a:r>
              <a:rPr lang="en-US" sz="2000" dirty="0">
                <a:solidFill>
                  <a:srgbClr val="0E1B2E"/>
                </a:solidFill>
                <a:latin typeface="Trenda IG Display Bold" pitchFamily="34" charset="0"/>
                <a:ea typeface="Trenda IG Display Bold" pitchFamily="34" charset="-122"/>
                <a:cs typeface="Trenda IG Display Bold" pitchFamily="34" charset="-120"/>
              </a:rPr>
              <a:t>How a user interacts, and what runs behind each step</a:t>
            </a:r>
          </a:p>
        </p:txBody>
      </p:sp>
      <p:sp>
        <p:nvSpPr>
          <p:cNvPr id="209" name="Text 210"/>
          <p:cNvSpPr txBox="1"/>
          <p:nvPr/>
        </p:nvSpPr>
        <p:spPr>
          <a:xfrm>
            <a:off x="365760" y="640080"/>
            <a:ext cx="11457432" cy="219456"/>
          </a:xfrm>
          <a:prstGeom prst="rect">
            <a:avLst/>
          </a:prstGeom>
          <a:noFill/>
          <a:ln/>
        </p:spPr>
        <p:txBody>
          <a:bodyPr wrap="square" lIns="0" tIns="0" rIns="0" bIns="0" rtlCol="0" anchor="ctr"/>
          <a:lstStyle/>
          <a:p>
            <a:pPr marL="0" indent="0" algn="l">
              <a:buNone/>
            </a:pPr>
            <a:r>
              <a:rPr lang="en-US" sz="950" dirty="0">
                <a:solidFill>
                  <a:srgbClr val="5C6E85"/>
                </a:solidFill>
                <a:latin typeface="Trenda IG Display" pitchFamily="34" charset="0"/>
                <a:ea typeface="Trenda IG Display" pitchFamily="34" charset="-122"/>
                <a:cs typeface="Trenda IG Display" pitchFamily="34" charset="-120"/>
              </a:rPr>
              <a:t>Four round trips to the server. Each line appears on screen because the work behind it finished, not on a timer.</a:t>
            </a:r>
          </a:p>
        </p:txBody>
      </p:sp>
      <p:sp>
        <p:nvSpPr>
          <p:cNvPr id="211" name="Text 212"/>
          <p:cNvSpPr txBox="1"/>
          <p:nvPr/>
        </p:nvSpPr>
        <p:spPr>
          <a:xfrm>
            <a:off x="365760" y="969264"/>
            <a:ext cx="11457432" cy="164592"/>
          </a:xfrm>
          <a:prstGeom prst="rect">
            <a:avLst/>
          </a:prstGeom>
          <a:noFill/>
          <a:ln/>
        </p:spPr>
        <p:txBody>
          <a:bodyPr wrap="square" lIns="0" tIns="0" rIns="0" bIns="0" rtlCol="0" anchor="t"/>
          <a:lstStyle/>
          <a:p>
            <a:pPr marL="0" indent="0" algn="l">
              <a:buNone/>
            </a:pPr>
            <a:r>
              <a:rPr lang="en-US" sz="700" b="1" dirty="0">
                <a:solidFill>
                  <a:srgbClr val="00757F"/>
                </a:solidFill>
                <a:latin typeface="Trenda IG Text Semibold" pitchFamily="34" charset="0"/>
                <a:ea typeface="Trenda IG Text Semibold" pitchFamily="34" charset="-122"/>
                <a:cs typeface="Trenda IG Text Semibold" pitchFamily="34" charset="-120"/>
              </a:rPr>
              <a:t>USER ACTION  ·  WHAT THE SYSTEM DOES  ·  WHAT IT PRODUCES</a:t>
            </a:r>
          </a:p>
        </p:txBody>
      </p:sp>
      <p:sp>
        <p:nvSpPr>
          <p:cNvPr id="213" name="Shape 214"/>
          <p:cNvSpPr/>
          <p:nvPr/>
        </p:nvSpPr>
        <p:spPr>
          <a:xfrm>
            <a:off x="365760" y="1298448"/>
            <a:ext cx="11457432" cy="850392"/>
          </a:xfrm>
          <a:prstGeom prst="rect">
            <a:avLst/>
          </a:prstGeom>
          <a:solidFill>
            <a:srgbClr val="FFFFFF"/>
          </a:solidFill>
          <a:ln w="9525">
            <a:solidFill>
              <a:srgbClr val="DCE4EE"/>
            </a:solidFill>
          </a:ln>
        </p:spPr>
        <p:txBody>
          <a:bodyPr/>
          <a:lstStyle/>
          <a:p>
            <a:endParaRPr lang="en-US"/>
          </a:p>
        </p:txBody>
      </p:sp>
      <p:sp>
        <p:nvSpPr>
          <p:cNvPr id="215" name="Shape 216"/>
          <p:cNvSpPr/>
          <p:nvPr/>
        </p:nvSpPr>
        <p:spPr>
          <a:xfrm>
            <a:off x="566928" y="1499616"/>
            <a:ext cx="310896" cy="310896"/>
          </a:xfrm>
          <a:prstGeom prst="ellipse">
            <a:avLst/>
          </a:prstGeom>
          <a:solidFill>
            <a:srgbClr val="1B6BC0"/>
          </a:solidFill>
          <a:ln>
            <a:noFill/>
          </a:ln>
        </p:spPr>
        <p:txBody>
          <a:bodyPr/>
          <a:lstStyle/>
          <a:p>
            <a:endParaRPr lang="en-US"/>
          </a:p>
        </p:txBody>
      </p:sp>
      <p:sp>
        <p:nvSpPr>
          <p:cNvPr id="217" name="Text 218"/>
          <p:cNvSpPr txBox="1"/>
          <p:nvPr/>
        </p:nvSpPr>
        <p:spPr>
          <a:xfrm>
            <a:off x="566928" y="1499616"/>
            <a:ext cx="310896" cy="310896"/>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Semibold" pitchFamily="34" charset="0"/>
                <a:ea typeface="Trenda IG Text Semibold" pitchFamily="34" charset="-122"/>
                <a:cs typeface="Trenda IG Text Semibold" pitchFamily="34" charset="-120"/>
              </a:rPr>
              <a:t>1</a:t>
            </a:r>
          </a:p>
        </p:txBody>
      </p:sp>
      <p:sp>
        <p:nvSpPr>
          <p:cNvPr id="219" name="Text 220"/>
          <p:cNvSpPr txBox="1"/>
          <p:nvPr/>
        </p:nvSpPr>
        <p:spPr>
          <a:xfrm>
            <a:off x="1024128" y="1444752"/>
            <a:ext cx="21488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Types the request</a:t>
            </a:r>
          </a:p>
        </p:txBody>
      </p:sp>
      <p:sp>
        <p:nvSpPr>
          <p:cNvPr id="221" name="Text 222"/>
          <p:cNvSpPr txBox="1"/>
          <p:nvPr/>
        </p:nvSpPr>
        <p:spPr>
          <a:xfrm>
            <a:off x="1024128" y="1700784"/>
            <a:ext cx="2148840" cy="329184"/>
          </a:xfrm>
          <a:prstGeom prst="rect">
            <a:avLst/>
          </a:prstGeom>
          <a:noFill/>
          <a:ln/>
        </p:spPr>
        <p:txBody>
          <a:bodyPr wrap="square" lIns="0" tIns="0" rIns="0" bIns="0" rtlCol="0" anchor="t"/>
          <a:lstStyle/>
          <a:p>
            <a:pPr marL="0" indent="0" algn="l">
              <a:lnSpc>
                <a:spcPct val="114999"/>
              </a:lnSpc>
              <a:buNone/>
            </a:pPr>
            <a:r>
              <a:rPr lang="en-US" sz="750" dirty="0">
                <a:solidFill>
                  <a:srgbClr val="1B6BC0"/>
                </a:solidFill>
                <a:latin typeface="Trenda IG Text" pitchFamily="34" charset="0"/>
                <a:ea typeface="Trenda IG Text" pitchFamily="34" charset="-122"/>
                <a:cs typeface="Trenda IG Text" pitchFamily="34" charset="-120"/>
              </a:rPr>
              <a:t>"Terminate HealthcareFacilityNetwork when due date is exceeded"</a:t>
            </a:r>
          </a:p>
        </p:txBody>
      </p:sp>
      <p:sp>
        <p:nvSpPr>
          <p:cNvPr id="223" name="Text 224"/>
          <p:cNvSpPr txBox="1"/>
          <p:nvPr/>
        </p:nvSpPr>
        <p:spPr>
          <a:xfrm>
            <a:off x="3401568" y="1481328"/>
            <a:ext cx="8211312" cy="566928"/>
          </a:xfrm>
          <a:prstGeom prst="rect">
            <a:avLst/>
          </a:prstGeom>
          <a:noFill/>
          <a:ln/>
        </p:spPr>
        <p:txBody>
          <a:bodyPr wrap="square" lIns="0" tIns="0" rIns="0" bIns="0" rtlCol="0" anchor="t"/>
          <a:lstStyle/>
          <a:p>
            <a:pPr marL="0" indent="0" algn="l">
              <a:lnSpc>
                <a:spcPct val="128000"/>
              </a:lnSpc>
              <a:buNone/>
            </a:pPr>
            <a:r>
              <a:rPr lang="en-US" sz="850" dirty="0">
                <a:solidFill>
                  <a:srgbClr val="5C6E85"/>
                </a:solidFill>
                <a:latin typeface="Trenda IG Text" pitchFamily="34" charset="0"/>
                <a:ea typeface="Trenda IG Text" pitchFamily="34" charset="-122"/>
                <a:cs typeface="Trenda IG Text" pitchFamily="34" charset="-120"/>
              </a:rPr>
              <a:t>A request record is created with a correlation id, status Draft, and an audit stamp. The request type is read from the sentence, never asked for.</a:t>
            </a:r>
          </a:p>
        </p:txBody>
      </p:sp>
      <p:sp>
        <p:nvSpPr>
          <p:cNvPr id="225" name="Shape 226"/>
          <p:cNvSpPr/>
          <p:nvPr/>
        </p:nvSpPr>
        <p:spPr>
          <a:xfrm>
            <a:off x="365760" y="2231136"/>
            <a:ext cx="11457432" cy="850392"/>
          </a:xfrm>
          <a:prstGeom prst="rect">
            <a:avLst/>
          </a:prstGeom>
          <a:solidFill>
            <a:srgbClr val="FFFFFF"/>
          </a:solidFill>
          <a:ln w="9525">
            <a:solidFill>
              <a:srgbClr val="DCE4EE"/>
            </a:solidFill>
          </a:ln>
        </p:spPr>
        <p:txBody>
          <a:bodyPr/>
          <a:lstStyle/>
          <a:p>
            <a:endParaRPr lang="en-US"/>
          </a:p>
        </p:txBody>
      </p:sp>
      <p:sp>
        <p:nvSpPr>
          <p:cNvPr id="227" name="Shape 228"/>
          <p:cNvSpPr/>
          <p:nvPr/>
        </p:nvSpPr>
        <p:spPr>
          <a:xfrm>
            <a:off x="566928" y="2432304"/>
            <a:ext cx="310896" cy="310896"/>
          </a:xfrm>
          <a:prstGeom prst="ellipse">
            <a:avLst/>
          </a:prstGeom>
          <a:solidFill>
            <a:srgbClr val="00757F"/>
          </a:solidFill>
          <a:ln>
            <a:noFill/>
          </a:ln>
        </p:spPr>
        <p:txBody>
          <a:bodyPr/>
          <a:lstStyle/>
          <a:p>
            <a:endParaRPr lang="en-US"/>
          </a:p>
        </p:txBody>
      </p:sp>
      <p:sp>
        <p:nvSpPr>
          <p:cNvPr id="229" name="Text 230"/>
          <p:cNvSpPr txBox="1"/>
          <p:nvPr/>
        </p:nvSpPr>
        <p:spPr>
          <a:xfrm>
            <a:off x="566928" y="2432304"/>
            <a:ext cx="310896" cy="310896"/>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Semibold" pitchFamily="34" charset="0"/>
                <a:ea typeface="Trenda IG Text Semibold" pitchFamily="34" charset="-122"/>
                <a:cs typeface="Trenda IG Text Semibold" pitchFamily="34" charset="-120"/>
              </a:rPr>
              <a:t>2</a:t>
            </a:r>
          </a:p>
        </p:txBody>
      </p:sp>
      <p:sp>
        <p:nvSpPr>
          <p:cNvPr id="231" name="Text 232"/>
          <p:cNvSpPr txBox="1"/>
          <p:nvPr/>
        </p:nvSpPr>
        <p:spPr>
          <a:xfrm>
            <a:off x="1024128" y="2377440"/>
            <a:ext cx="21488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Reading the request</a:t>
            </a:r>
          </a:p>
        </p:txBody>
      </p:sp>
      <p:sp>
        <p:nvSpPr>
          <p:cNvPr id="233" name="Text 234"/>
          <p:cNvSpPr txBox="1"/>
          <p:nvPr/>
        </p:nvSpPr>
        <p:spPr>
          <a:xfrm>
            <a:off x="1024128" y="2633472"/>
            <a:ext cx="2148840" cy="329184"/>
          </a:xfrm>
          <a:prstGeom prst="rect">
            <a:avLst/>
          </a:prstGeom>
          <a:noFill/>
          <a:ln/>
        </p:spPr>
        <p:txBody>
          <a:bodyPr wrap="square" lIns="0" tIns="0" rIns="0" bIns="0" rtlCol="0" anchor="t"/>
          <a:lstStyle/>
          <a:p>
            <a:pPr marL="0" indent="0" algn="l">
              <a:lnSpc>
                <a:spcPct val="114999"/>
              </a:lnSpc>
              <a:buNone/>
            </a:pPr>
            <a:r>
              <a:rPr lang="en-US" sz="750" dirty="0">
                <a:solidFill>
                  <a:srgbClr val="00757F"/>
                </a:solidFill>
                <a:latin typeface="Trenda IG Text" pitchFamily="34" charset="0"/>
                <a:ea typeface="Trenda IG Text" pitchFamily="34" charset="-122"/>
                <a:cs typeface="Trenda IG Text" pitchFamily="34" charset="-120"/>
              </a:rPr>
              <a:t>Action, object, component type, name and shape</a:t>
            </a:r>
          </a:p>
        </p:txBody>
      </p:sp>
      <p:sp>
        <p:nvSpPr>
          <p:cNvPr id="235" name="Text 236"/>
          <p:cNvSpPr txBox="1"/>
          <p:nvPr/>
        </p:nvSpPr>
        <p:spPr>
          <a:xfrm>
            <a:off x="3401568" y="2414016"/>
            <a:ext cx="8211312" cy="566928"/>
          </a:xfrm>
          <a:prstGeom prst="rect">
            <a:avLst/>
          </a:prstGeom>
          <a:noFill/>
          <a:ln/>
        </p:spPr>
        <p:txBody>
          <a:bodyPr wrap="square" lIns="0" tIns="0" rIns="0" bIns="0" rtlCol="0" anchor="t"/>
          <a:lstStyle/>
          <a:p>
            <a:pPr marL="0" indent="0" algn="l">
              <a:lnSpc>
                <a:spcPct val="128000"/>
              </a:lnSpc>
              <a:buNone/>
            </a:pPr>
            <a:r>
              <a:rPr lang="en-US" sz="850" dirty="0">
                <a:solidFill>
                  <a:srgbClr val="5C6E85"/>
                </a:solidFill>
                <a:latin typeface="Trenda IG Text" pitchFamily="34" charset="0"/>
                <a:ea typeface="Trenda IG Text" pitchFamily="34" charset="-122"/>
                <a:cs typeface="Trenda IG Text" pitchFamily="34" charset="-120"/>
              </a:rPr>
              <a:t>Rule-based parsing, not a model. The reading is shown back on screen so a misreading is visible and correctable rather than silent.</a:t>
            </a:r>
          </a:p>
        </p:txBody>
      </p:sp>
      <p:sp>
        <p:nvSpPr>
          <p:cNvPr id="237" name="Shape 238"/>
          <p:cNvSpPr/>
          <p:nvPr/>
        </p:nvSpPr>
        <p:spPr>
          <a:xfrm>
            <a:off x="365760" y="3163824"/>
            <a:ext cx="11457432" cy="850392"/>
          </a:xfrm>
          <a:prstGeom prst="rect">
            <a:avLst/>
          </a:prstGeom>
          <a:solidFill>
            <a:srgbClr val="FFFFFF"/>
          </a:solidFill>
          <a:ln w="9525">
            <a:solidFill>
              <a:srgbClr val="DCE4EE"/>
            </a:solidFill>
          </a:ln>
        </p:spPr>
        <p:txBody>
          <a:bodyPr/>
          <a:lstStyle/>
          <a:p>
            <a:endParaRPr lang="en-US"/>
          </a:p>
        </p:txBody>
      </p:sp>
      <p:sp>
        <p:nvSpPr>
          <p:cNvPr id="239" name="Shape 240"/>
          <p:cNvSpPr/>
          <p:nvPr/>
        </p:nvSpPr>
        <p:spPr>
          <a:xfrm>
            <a:off x="566928" y="3364992"/>
            <a:ext cx="310896" cy="310896"/>
          </a:xfrm>
          <a:prstGeom prst="ellipse">
            <a:avLst/>
          </a:prstGeom>
          <a:solidFill>
            <a:srgbClr val="0E8A7D"/>
          </a:solidFill>
          <a:ln>
            <a:noFill/>
          </a:ln>
        </p:spPr>
        <p:txBody>
          <a:bodyPr/>
          <a:lstStyle/>
          <a:p>
            <a:endParaRPr lang="en-US"/>
          </a:p>
        </p:txBody>
      </p:sp>
      <p:sp>
        <p:nvSpPr>
          <p:cNvPr id="241" name="Text 242"/>
          <p:cNvSpPr txBox="1"/>
          <p:nvPr/>
        </p:nvSpPr>
        <p:spPr>
          <a:xfrm>
            <a:off x="566928" y="3364992"/>
            <a:ext cx="310896" cy="310896"/>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Semibold" pitchFamily="34" charset="0"/>
                <a:ea typeface="Trenda IG Text Semibold" pitchFamily="34" charset="-122"/>
                <a:cs typeface="Trenda IG Text Semibold" pitchFamily="34" charset="-120"/>
              </a:rPr>
              <a:t>3</a:t>
            </a:r>
          </a:p>
        </p:txBody>
      </p:sp>
      <p:sp>
        <p:nvSpPr>
          <p:cNvPr id="243" name="Text 244"/>
          <p:cNvSpPr txBox="1"/>
          <p:nvPr/>
        </p:nvSpPr>
        <p:spPr>
          <a:xfrm>
            <a:off x="1024128" y="3310128"/>
            <a:ext cx="21488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Resolving the scope</a:t>
            </a:r>
          </a:p>
        </p:txBody>
      </p:sp>
      <p:sp>
        <p:nvSpPr>
          <p:cNvPr id="245" name="Text 246"/>
          <p:cNvSpPr txBox="1"/>
          <p:nvPr/>
        </p:nvSpPr>
        <p:spPr>
          <a:xfrm>
            <a:off x="1024128" y="3566160"/>
            <a:ext cx="2148840" cy="329184"/>
          </a:xfrm>
          <a:prstGeom prst="rect">
            <a:avLst/>
          </a:prstGeom>
          <a:noFill/>
          <a:ln/>
        </p:spPr>
        <p:txBody>
          <a:bodyPr wrap="square" lIns="0" tIns="0" rIns="0" bIns="0" rtlCol="0" anchor="t"/>
          <a:lstStyle/>
          <a:p>
            <a:pPr marL="0" indent="0" algn="l">
              <a:lnSpc>
                <a:spcPct val="114999"/>
              </a:lnSpc>
              <a:buNone/>
            </a:pPr>
            <a:r>
              <a:rPr lang="en-US" sz="750" dirty="0">
                <a:solidFill>
                  <a:srgbClr val="0E8A7D"/>
                </a:solidFill>
                <a:latin typeface="Trenda IG Text" pitchFamily="34" charset="0"/>
                <a:ea typeface="Trenda IG Text" pitchFamily="34" charset="-122"/>
                <a:cs typeface="Trenda IG Text" pitchFamily="34" charset="-120"/>
              </a:rPr>
              <a:t>49 objects in the Network Services pod</a:t>
            </a:r>
          </a:p>
        </p:txBody>
      </p:sp>
      <p:sp>
        <p:nvSpPr>
          <p:cNvPr id="247" name="Text 248"/>
          <p:cNvSpPr txBox="1"/>
          <p:nvPr/>
        </p:nvSpPr>
        <p:spPr>
          <a:xfrm>
            <a:off x="3401568" y="3346704"/>
            <a:ext cx="8211312" cy="566928"/>
          </a:xfrm>
          <a:prstGeom prst="rect">
            <a:avLst/>
          </a:prstGeom>
          <a:noFill/>
          <a:ln/>
        </p:spPr>
        <p:txBody>
          <a:bodyPr wrap="square" lIns="0" tIns="0" rIns="0" bIns="0" rtlCol="0" anchor="t"/>
          <a:lstStyle/>
          <a:p>
            <a:pPr marL="0" indent="0" algn="l">
              <a:lnSpc>
                <a:spcPct val="128000"/>
              </a:lnSpc>
              <a:buNone/>
            </a:pPr>
            <a:r>
              <a:rPr lang="en-US" sz="850" dirty="0">
                <a:solidFill>
                  <a:srgbClr val="5C6E85"/>
                </a:solidFill>
                <a:latin typeface="Trenda IG Text" pitchFamily="34" charset="0"/>
                <a:ea typeface="Trenda IG Text" pitchFamily="34" charset="-122"/>
                <a:cs typeface="Trenda IG Text" pitchFamily="34" charset="-120"/>
              </a:rPr>
              <a:t>Declared pod list, resolved against the org, plus what the profile maintains and what carries a pod record type. Each object can say why it qualified.</a:t>
            </a:r>
          </a:p>
        </p:txBody>
      </p:sp>
      <p:sp>
        <p:nvSpPr>
          <p:cNvPr id="249" name="Shape 250"/>
          <p:cNvSpPr/>
          <p:nvPr/>
        </p:nvSpPr>
        <p:spPr>
          <a:xfrm>
            <a:off x="365760" y="4096512"/>
            <a:ext cx="11457432" cy="850392"/>
          </a:xfrm>
          <a:prstGeom prst="rect">
            <a:avLst/>
          </a:prstGeom>
          <a:solidFill>
            <a:srgbClr val="FFFFFF"/>
          </a:solidFill>
          <a:ln w="9525">
            <a:solidFill>
              <a:srgbClr val="DCE4EE"/>
            </a:solidFill>
          </a:ln>
        </p:spPr>
        <p:txBody>
          <a:bodyPr/>
          <a:lstStyle/>
          <a:p>
            <a:endParaRPr lang="en-US"/>
          </a:p>
        </p:txBody>
      </p:sp>
      <p:sp>
        <p:nvSpPr>
          <p:cNvPr id="251" name="Shape 252"/>
          <p:cNvSpPr/>
          <p:nvPr/>
        </p:nvSpPr>
        <p:spPr>
          <a:xfrm>
            <a:off x="566928" y="4297680"/>
            <a:ext cx="310896" cy="310896"/>
          </a:xfrm>
          <a:prstGeom prst="ellipse">
            <a:avLst/>
          </a:prstGeom>
          <a:solidFill>
            <a:srgbClr val="7A4FC0"/>
          </a:solidFill>
          <a:ln>
            <a:noFill/>
          </a:ln>
        </p:spPr>
        <p:txBody>
          <a:bodyPr/>
          <a:lstStyle/>
          <a:p>
            <a:endParaRPr lang="en-US"/>
          </a:p>
        </p:txBody>
      </p:sp>
      <p:sp>
        <p:nvSpPr>
          <p:cNvPr id="253" name="Text 254"/>
          <p:cNvSpPr txBox="1"/>
          <p:nvPr/>
        </p:nvSpPr>
        <p:spPr>
          <a:xfrm>
            <a:off x="566928" y="4297680"/>
            <a:ext cx="310896" cy="310896"/>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Semibold" pitchFamily="34" charset="0"/>
                <a:ea typeface="Trenda IG Text Semibold" pitchFamily="34" charset="-122"/>
                <a:cs typeface="Trenda IG Text Semibold" pitchFamily="34" charset="-120"/>
              </a:rPr>
              <a:t>4</a:t>
            </a:r>
          </a:p>
        </p:txBody>
      </p:sp>
      <p:sp>
        <p:nvSpPr>
          <p:cNvPr id="255" name="Text 256"/>
          <p:cNvSpPr txBox="1"/>
          <p:nvPr/>
        </p:nvSpPr>
        <p:spPr>
          <a:xfrm>
            <a:off x="1024128" y="4242816"/>
            <a:ext cx="21488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Searching the graph</a:t>
            </a:r>
          </a:p>
        </p:txBody>
      </p:sp>
      <p:sp>
        <p:nvSpPr>
          <p:cNvPr id="257" name="Text 258"/>
          <p:cNvSpPr txBox="1"/>
          <p:nvPr/>
        </p:nvSpPr>
        <p:spPr>
          <a:xfrm>
            <a:off x="1024128" y="4498848"/>
            <a:ext cx="2148840" cy="329184"/>
          </a:xfrm>
          <a:prstGeom prst="rect">
            <a:avLst/>
          </a:prstGeom>
          <a:noFill/>
          <a:ln/>
        </p:spPr>
        <p:txBody>
          <a:bodyPr wrap="square" lIns="0" tIns="0" rIns="0" bIns="0" rtlCol="0" anchor="t"/>
          <a:lstStyle/>
          <a:p>
            <a:pPr marL="0" indent="0" algn="l">
              <a:lnSpc>
                <a:spcPct val="114999"/>
              </a:lnSpc>
              <a:buNone/>
            </a:pPr>
            <a:r>
              <a:rPr lang="en-US" sz="750" dirty="0">
                <a:solidFill>
                  <a:srgbClr val="7A4FC0"/>
                </a:solidFill>
                <a:latin typeface="Trenda IG Text" pitchFamily="34" charset="0"/>
                <a:ea typeface="Trenda IG Text" pitchFamily="34" charset="-122"/>
                <a:cs typeface="Trenda IG Text" pitchFamily="34" charset="-120"/>
              </a:rPr>
              <a:t>The object named becomes the anchor</a:t>
            </a:r>
          </a:p>
        </p:txBody>
      </p:sp>
      <p:sp>
        <p:nvSpPr>
          <p:cNvPr id="259" name="Text 260"/>
          <p:cNvSpPr txBox="1"/>
          <p:nvPr/>
        </p:nvSpPr>
        <p:spPr>
          <a:xfrm>
            <a:off x="3401568" y="4279392"/>
            <a:ext cx="8211312" cy="566928"/>
          </a:xfrm>
          <a:prstGeom prst="rect">
            <a:avLst/>
          </a:prstGeom>
          <a:noFill/>
          <a:ln/>
        </p:spPr>
        <p:txBody>
          <a:bodyPr wrap="square" lIns="0" tIns="0" rIns="0" bIns="0" rtlCol="0" anchor="t"/>
          <a:lstStyle/>
          <a:p>
            <a:pPr marL="0" indent="0" algn="l">
              <a:lnSpc>
                <a:spcPct val="128000"/>
              </a:lnSpc>
              <a:buNone/>
            </a:pPr>
            <a:r>
              <a:rPr lang="en-US" sz="850" dirty="0">
                <a:solidFill>
                  <a:srgbClr val="5C6E85"/>
                </a:solidFill>
                <a:latin typeface="Trenda IG Text" pitchFamily="34" charset="0"/>
                <a:ea typeface="Trenda IG Text" pitchFamily="34" charset="-122"/>
                <a:cs typeface="Trenda IG Text" pitchFamily="34" charset="-120"/>
              </a:rPr>
              <a:t>The map is loaded into memory and walked outwards: what runs on the object, what that calls, and what that calls in turn. Findings are written as rows against the request.</a:t>
            </a:r>
          </a:p>
        </p:txBody>
      </p:sp>
      <p:sp>
        <p:nvSpPr>
          <p:cNvPr id="261" name="Shape 262"/>
          <p:cNvSpPr/>
          <p:nvPr/>
        </p:nvSpPr>
        <p:spPr>
          <a:xfrm>
            <a:off x="365760" y="5029200"/>
            <a:ext cx="11457432" cy="850392"/>
          </a:xfrm>
          <a:prstGeom prst="rect">
            <a:avLst/>
          </a:prstGeom>
          <a:solidFill>
            <a:srgbClr val="FFFFFF"/>
          </a:solidFill>
          <a:ln w="9525">
            <a:solidFill>
              <a:srgbClr val="DCE4EE"/>
            </a:solidFill>
          </a:ln>
        </p:spPr>
        <p:txBody>
          <a:bodyPr/>
          <a:lstStyle/>
          <a:p>
            <a:endParaRPr lang="en-US"/>
          </a:p>
        </p:txBody>
      </p:sp>
      <p:sp>
        <p:nvSpPr>
          <p:cNvPr id="263" name="Shape 264"/>
          <p:cNvSpPr/>
          <p:nvPr/>
        </p:nvSpPr>
        <p:spPr>
          <a:xfrm>
            <a:off x="566928" y="5230368"/>
            <a:ext cx="310896" cy="310896"/>
          </a:xfrm>
          <a:prstGeom prst="ellipse">
            <a:avLst/>
          </a:prstGeom>
          <a:solidFill>
            <a:srgbClr val="2E7D32"/>
          </a:solidFill>
          <a:ln>
            <a:noFill/>
          </a:ln>
        </p:spPr>
        <p:txBody>
          <a:bodyPr/>
          <a:lstStyle/>
          <a:p>
            <a:endParaRPr lang="en-US"/>
          </a:p>
        </p:txBody>
      </p:sp>
      <p:sp>
        <p:nvSpPr>
          <p:cNvPr id="265" name="Text 266"/>
          <p:cNvSpPr txBox="1"/>
          <p:nvPr/>
        </p:nvSpPr>
        <p:spPr>
          <a:xfrm>
            <a:off x="566928" y="5230368"/>
            <a:ext cx="310896" cy="310896"/>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Semibold" pitchFamily="34" charset="0"/>
                <a:ea typeface="Trenda IG Text Semibold" pitchFamily="34" charset="-122"/>
                <a:cs typeface="Trenda IG Text Semibold" pitchFamily="34" charset="-120"/>
              </a:rPr>
              <a:t>5</a:t>
            </a:r>
          </a:p>
        </p:txBody>
      </p:sp>
      <p:sp>
        <p:nvSpPr>
          <p:cNvPr id="267" name="Text 268"/>
          <p:cNvSpPr txBox="1"/>
          <p:nvPr/>
        </p:nvSpPr>
        <p:spPr>
          <a:xfrm>
            <a:off x="1024128" y="5175504"/>
            <a:ext cx="21488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Assessing reuse</a:t>
            </a:r>
          </a:p>
        </p:txBody>
      </p:sp>
      <p:sp>
        <p:nvSpPr>
          <p:cNvPr id="269" name="Text 270"/>
          <p:cNvSpPr txBox="1"/>
          <p:nvPr/>
        </p:nvSpPr>
        <p:spPr>
          <a:xfrm>
            <a:off x="1024128" y="5431536"/>
            <a:ext cx="2148840" cy="329184"/>
          </a:xfrm>
          <a:prstGeom prst="rect">
            <a:avLst/>
          </a:prstGeom>
          <a:noFill/>
          <a:ln/>
        </p:spPr>
        <p:txBody>
          <a:bodyPr wrap="square" lIns="0" tIns="0" rIns="0" bIns="0" rtlCol="0" anchor="t"/>
          <a:lstStyle/>
          <a:p>
            <a:pPr marL="0" indent="0" algn="l">
              <a:lnSpc>
                <a:spcPct val="114999"/>
              </a:lnSpc>
              <a:buNone/>
            </a:pPr>
            <a:r>
              <a:rPr lang="en-US" sz="750" dirty="0">
                <a:solidFill>
                  <a:srgbClr val="2E7D32"/>
                </a:solidFill>
                <a:latin typeface="Trenda IG Text" pitchFamily="34" charset="0"/>
                <a:ea typeface="Trenda IG Text" pitchFamily="34" charset="-122"/>
                <a:cs typeface="Trenda IG Text" pitchFamily="34" charset="-120"/>
              </a:rPr>
              <a:t>One of six verdicts, with evidence</a:t>
            </a:r>
          </a:p>
        </p:txBody>
      </p:sp>
      <p:sp>
        <p:nvSpPr>
          <p:cNvPr id="271" name="Text 272"/>
          <p:cNvSpPr txBox="1"/>
          <p:nvPr/>
        </p:nvSpPr>
        <p:spPr>
          <a:xfrm>
            <a:off x="3401568" y="5212080"/>
            <a:ext cx="8211312" cy="566928"/>
          </a:xfrm>
          <a:prstGeom prst="rect">
            <a:avLst/>
          </a:prstGeom>
          <a:noFill/>
          <a:ln/>
        </p:spPr>
        <p:txBody>
          <a:bodyPr wrap="square" lIns="0" tIns="0" rIns="0" bIns="0" rtlCol="0" anchor="t"/>
          <a:lstStyle/>
          <a:p>
            <a:pPr marL="0" indent="0" algn="l">
              <a:lnSpc>
                <a:spcPct val="128000"/>
              </a:lnSpc>
              <a:buNone/>
            </a:pPr>
            <a:r>
              <a:rPr lang="en-US" sz="850" dirty="0">
                <a:solidFill>
                  <a:srgbClr val="5C6E85"/>
                </a:solidFill>
                <a:latin typeface="Trenda IG Text" pitchFamily="34" charset="0"/>
                <a:ea typeface="Trenda IG Text" pitchFamily="34" charset="-122"/>
                <a:cs typeface="Trenda IG Text" pitchFamily="34" charset="-120"/>
              </a:rPr>
              <a:t>Already exists · Likely already handled · Needs review · Safe to create · Impact assessed · Needs clarification. Three of the six stop the request.</a:t>
            </a:r>
          </a:p>
        </p:txBody>
      </p:sp>
      <p:sp>
        <p:nvSpPr>
          <p:cNvPr id="273" name="Text 274"/>
          <p:cNvSpPr txBox="1"/>
          <p:nvPr/>
        </p:nvSpPr>
        <p:spPr>
          <a:xfrm>
            <a:off x="365760" y="6016752"/>
            <a:ext cx="11457432" cy="201168"/>
          </a:xfrm>
          <a:prstGeom prst="rect">
            <a:avLst/>
          </a:prstGeom>
          <a:noFill/>
          <a:ln/>
        </p:spPr>
        <p:txBody>
          <a:bodyPr wrap="square" lIns="0" tIns="0" rIns="0" bIns="0" rtlCol="0" anchor="t"/>
          <a:lstStyle/>
          <a:p>
            <a:pPr marL="0" indent="0" algn="l">
              <a:buNone/>
            </a:pPr>
            <a:r>
              <a:rPr lang="en-US" sz="800" i="1" dirty="0">
                <a:solidFill>
                  <a:srgbClr val="9AA7B5"/>
                </a:solidFill>
                <a:latin typeface="Trenda IG Text" pitchFamily="34" charset="0"/>
                <a:ea typeface="Trenda IG Text" pitchFamily="34" charset="-122"/>
                <a:cs typeface="Trenda IG Text" pitchFamily="34" charset="-120"/>
              </a:rPr>
              <a:t>Measured in the sandbox: about seven seconds from pressing Analyse to a verdict on screen.</a:t>
            </a:r>
          </a:p>
        </p:txBody>
      </p:sp>
    </p:spTree>
  </p:cSld>
  <p:clrMapOvr>
    <a:masterClrMapping/>
  </p:clrMapOvr>
</p:sld>
</file>

<file path=ppt/slides/slide12.xml><?xml version="1.0" encoding="utf-8"?>
<!-- AI-CHANGE-CONSOLE-POC-SLIDE -->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275" name="Text 276"/>
          <p:cNvSpPr txBox="1"/>
          <p:nvPr/>
        </p:nvSpPr>
        <p:spPr>
          <a:xfrm>
            <a:off x="365760" y="256032"/>
            <a:ext cx="11457432" cy="347472"/>
          </a:xfrm>
          <a:prstGeom prst="rect">
            <a:avLst/>
          </a:prstGeom>
          <a:noFill/>
          <a:ln/>
        </p:spPr>
        <p:txBody>
          <a:bodyPr wrap="square" lIns="0" tIns="0" rIns="0" bIns="0" rtlCol="0" anchor="ctr"/>
          <a:lstStyle/>
          <a:p>
            <a:pPr marL="0" indent="0" algn="l">
              <a:buNone/>
            </a:pPr>
            <a:r>
              <a:rPr lang="en-US" sz="2000" dirty="0">
                <a:solidFill>
                  <a:srgbClr val="0E1B2E"/>
                </a:solidFill>
                <a:latin typeface="Trenda IG Display Bold" pitchFamily="34" charset="0"/>
                <a:ea typeface="Trenda IG Display Bold" pitchFamily="34" charset="-122"/>
                <a:cs typeface="Trenda IG Display Bold" pitchFamily="34" charset="-120"/>
              </a:rPr>
              <a:t>How the graph is built</a:t>
            </a:r>
          </a:p>
        </p:txBody>
      </p:sp>
      <p:sp>
        <p:nvSpPr>
          <p:cNvPr id="277" name="Text 278"/>
          <p:cNvSpPr txBox="1"/>
          <p:nvPr/>
        </p:nvSpPr>
        <p:spPr>
          <a:xfrm>
            <a:off x="365760" y="640080"/>
            <a:ext cx="11457432" cy="219456"/>
          </a:xfrm>
          <a:prstGeom prst="rect">
            <a:avLst/>
          </a:prstGeom>
          <a:noFill/>
          <a:ln/>
        </p:spPr>
        <p:txBody>
          <a:bodyPr wrap="square" lIns="0" tIns="0" rIns="0" bIns="0" rtlCol="0" anchor="ctr"/>
          <a:lstStyle/>
          <a:p>
            <a:pPr marL="0" indent="0" algn="l">
              <a:buNone/>
            </a:pPr>
            <a:r>
              <a:rPr lang="en-US" sz="950" dirty="0">
                <a:solidFill>
                  <a:srgbClr val="5C6E85"/>
                </a:solidFill>
                <a:latin typeface="Trenda IG Display" pitchFamily="34" charset="0"/>
                <a:ea typeface="Trenda IG Display" pitchFamily="34" charset="-122"/>
                <a:cs typeface="Trenda IG Display" pitchFamily="34" charset="-120"/>
              </a:rPr>
              <a:t>A background job that reads metadata and writes a map. It never reads a single record of business data.</a:t>
            </a:r>
          </a:p>
        </p:txBody>
      </p:sp>
      <p:sp>
        <p:nvSpPr>
          <p:cNvPr id="279" name="Text 280"/>
          <p:cNvSpPr txBox="1"/>
          <p:nvPr/>
        </p:nvSpPr>
        <p:spPr>
          <a:xfrm>
            <a:off x="365760" y="969264"/>
            <a:ext cx="11457432" cy="164592"/>
          </a:xfrm>
          <a:prstGeom prst="rect">
            <a:avLst/>
          </a:prstGeom>
          <a:noFill/>
          <a:ln/>
        </p:spPr>
        <p:txBody>
          <a:bodyPr wrap="square" lIns="0" tIns="0" rIns="0" bIns="0" rtlCol="0" anchor="t"/>
          <a:lstStyle/>
          <a:p>
            <a:pPr marL="0" indent="0" algn="l">
              <a:buNone/>
            </a:pPr>
            <a:r>
              <a:rPr lang="en-US" sz="700" b="1" dirty="0">
                <a:solidFill>
                  <a:srgbClr val="00757F"/>
                </a:solidFill>
                <a:latin typeface="Trenda IG Text Semibold" pitchFamily="34" charset="0"/>
                <a:ea typeface="Trenda IG Text Semibold" pitchFamily="34" charset="-122"/>
                <a:cs typeface="Trenda IG Text Semibold" pitchFamily="34" charset="-120"/>
              </a:rPr>
              <a:t>LAYERS 2, 3 AND 6 OF THE ARCHITECTURE, RUNNING INSIDE SALESFORCE</a:t>
            </a:r>
          </a:p>
        </p:txBody>
      </p:sp>
      <p:sp>
        <p:nvSpPr>
          <p:cNvPr id="281" name="Shape 282"/>
          <p:cNvSpPr/>
          <p:nvPr/>
        </p:nvSpPr>
        <p:spPr>
          <a:xfrm>
            <a:off x="365760" y="1298448"/>
            <a:ext cx="45720" cy="786384"/>
          </a:xfrm>
          <a:prstGeom prst="rect">
            <a:avLst/>
          </a:prstGeom>
          <a:solidFill>
            <a:srgbClr val="1B6BC0"/>
          </a:solidFill>
          <a:ln>
            <a:noFill/>
          </a:ln>
        </p:spPr>
        <p:txBody>
          <a:bodyPr/>
          <a:lstStyle/>
          <a:p>
            <a:endParaRPr lang="en-US"/>
          </a:p>
        </p:txBody>
      </p:sp>
      <p:sp>
        <p:nvSpPr>
          <p:cNvPr id="283" name="Shape 284"/>
          <p:cNvSpPr/>
          <p:nvPr/>
        </p:nvSpPr>
        <p:spPr>
          <a:xfrm>
            <a:off x="411480" y="1298448"/>
            <a:ext cx="11411712" cy="786384"/>
          </a:xfrm>
          <a:prstGeom prst="rect">
            <a:avLst/>
          </a:prstGeom>
          <a:solidFill>
            <a:srgbClr val="FFFFFF"/>
          </a:solidFill>
          <a:ln w="9525">
            <a:solidFill>
              <a:srgbClr val="DCE4EE"/>
            </a:solidFill>
          </a:ln>
        </p:spPr>
        <p:txBody>
          <a:bodyPr/>
          <a:lstStyle/>
          <a:p>
            <a:endParaRPr lang="en-US"/>
          </a:p>
        </p:txBody>
      </p:sp>
      <p:sp>
        <p:nvSpPr>
          <p:cNvPr id="285" name="Text 286"/>
          <p:cNvSpPr txBox="1"/>
          <p:nvPr/>
        </p:nvSpPr>
        <p:spPr>
          <a:xfrm>
            <a:off x="621792" y="1426464"/>
            <a:ext cx="23774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Decide the scope</a:t>
            </a:r>
          </a:p>
        </p:txBody>
      </p:sp>
      <p:sp>
        <p:nvSpPr>
          <p:cNvPr id="287" name="Text 288"/>
          <p:cNvSpPr txBox="1"/>
          <p:nvPr/>
        </p:nvSpPr>
        <p:spPr>
          <a:xfrm>
            <a:off x="621792" y="1682496"/>
            <a:ext cx="2377440" cy="274320"/>
          </a:xfrm>
          <a:prstGeom prst="rect">
            <a:avLst/>
          </a:prstGeom>
          <a:noFill/>
          <a:ln/>
        </p:spPr>
        <p:txBody>
          <a:bodyPr wrap="square" lIns="0" tIns="0" rIns="0" bIns="0" rtlCol="0" anchor="t"/>
          <a:lstStyle/>
          <a:p>
            <a:pPr marL="0" indent="0" algn="l">
              <a:lnSpc>
                <a:spcPct val="114999"/>
              </a:lnSpc>
              <a:buNone/>
            </a:pPr>
            <a:r>
              <a:rPr lang="en-US" sz="750" dirty="0">
                <a:solidFill>
                  <a:srgbClr val="1B6BC0"/>
                </a:solidFill>
                <a:latin typeface="Trenda IG Text" pitchFamily="34" charset="0"/>
                <a:ea typeface="Trenda IG Text" pitchFamily="34" charset="-122"/>
                <a:cs typeface="Trenda IG Text" pitchFamily="34" charset="-120"/>
              </a:rPr>
              <a:t>Which objects belong to the pod</a:t>
            </a:r>
          </a:p>
        </p:txBody>
      </p:sp>
      <p:sp>
        <p:nvSpPr>
          <p:cNvPr id="289" name="Text 290"/>
          <p:cNvSpPr txBox="1"/>
          <p:nvPr/>
        </p:nvSpPr>
        <p:spPr>
          <a:xfrm>
            <a:off x="3246120" y="1435608"/>
            <a:ext cx="8366760" cy="566928"/>
          </a:xfrm>
          <a:prstGeom prst="rect">
            <a:avLst/>
          </a:prstGeom>
          <a:noFill/>
          <a:ln/>
        </p:spPr>
        <p:txBody>
          <a:bodyPr wrap="square" lIns="0" tIns="0" rIns="0" bIns="0" rtlCol="0" anchor="t"/>
          <a:lstStyle/>
          <a:p>
            <a:pPr marL="0" indent="0" algn="l">
              <a:lnSpc>
                <a:spcPct val="128000"/>
              </a:lnSpc>
              <a:buNone/>
            </a:pPr>
            <a:r>
              <a:rPr lang="en-US" sz="850" dirty="0">
                <a:solidFill>
                  <a:srgbClr val="5C6E85"/>
                </a:solidFill>
                <a:latin typeface="Trenda IG Text" pitchFamily="34" charset="0"/>
                <a:ea typeface="Trenda IG Text" pitchFamily="34" charset="-122"/>
                <a:cs typeface="Trenda IG Text" pitchFamily="34" charset="-120"/>
              </a:rPr>
              <a:t>The declared list is the authority. Objects the profile can maintain and objects carrying a Network Services record type are added to it. The job refuses to run on an empty scope or on more than 220 objects, because that is an org rather than a pod.</a:t>
            </a:r>
          </a:p>
        </p:txBody>
      </p:sp>
      <p:sp>
        <p:nvSpPr>
          <p:cNvPr id="291" name="Shape 292"/>
          <p:cNvSpPr/>
          <p:nvPr/>
        </p:nvSpPr>
        <p:spPr>
          <a:xfrm>
            <a:off x="365760" y="2167128"/>
            <a:ext cx="45720" cy="786384"/>
          </a:xfrm>
          <a:prstGeom prst="rect">
            <a:avLst/>
          </a:prstGeom>
          <a:solidFill>
            <a:srgbClr val="00757F"/>
          </a:solidFill>
          <a:ln>
            <a:noFill/>
          </a:ln>
        </p:spPr>
        <p:txBody>
          <a:bodyPr/>
          <a:lstStyle/>
          <a:p>
            <a:endParaRPr lang="en-US"/>
          </a:p>
        </p:txBody>
      </p:sp>
      <p:sp>
        <p:nvSpPr>
          <p:cNvPr id="293" name="Shape 294"/>
          <p:cNvSpPr/>
          <p:nvPr/>
        </p:nvSpPr>
        <p:spPr>
          <a:xfrm>
            <a:off x="411480" y="2167128"/>
            <a:ext cx="11411712" cy="786384"/>
          </a:xfrm>
          <a:prstGeom prst="rect">
            <a:avLst/>
          </a:prstGeom>
          <a:solidFill>
            <a:srgbClr val="FFFFFF"/>
          </a:solidFill>
          <a:ln w="9525">
            <a:solidFill>
              <a:srgbClr val="DCE4EE"/>
            </a:solidFill>
          </a:ln>
        </p:spPr>
        <p:txBody>
          <a:bodyPr/>
          <a:lstStyle/>
          <a:p>
            <a:endParaRPr lang="en-US"/>
          </a:p>
        </p:txBody>
      </p:sp>
      <p:sp>
        <p:nvSpPr>
          <p:cNvPr id="295" name="Text 296"/>
          <p:cNvSpPr txBox="1"/>
          <p:nvPr/>
        </p:nvSpPr>
        <p:spPr>
          <a:xfrm>
            <a:off x="621792" y="2295144"/>
            <a:ext cx="23774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Read the metadata</a:t>
            </a:r>
          </a:p>
        </p:txBody>
      </p:sp>
      <p:sp>
        <p:nvSpPr>
          <p:cNvPr id="297" name="Text 298"/>
          <p:cNvSpPr txBox="1"/>
          <p:nvPr/>
        </p:nvSpPr>
        <p:spPr>
          <a:xfrm>
            <a:off x="621792" y="2551176"/>
            <a:ext cx="2377440" cy="274320"/>
          </a:xfrm>
          <a:prstGeom prst="rect">
            <a:avLst/>
          </a:prstGeom>
          <a:noFill/>
          <a:ln/>
        </p:spPr>
        <p:txBody>
          <a:bodyPr wrap="square" lIns="0" tIns="0" rIns="0" bIns="0" rtlCol="0" anchor="t"/>
          <a:lstStyle/>
          <a:p>
            <a:pPr marL="0" indent="0" algn="l">
              <a:lnSpc>
                <a:spcPct val="114999"/>
              </a:lnSpc>
              <a:buNone/>
            </a:pPr>
            <a:r>
              <a:rPr lang="en-US" sz="750" dirty="0">
                <a:solidFill>
                  <a:srgbClr val="00757F"/>
                </a:solidFill>
                <a:latin typeface="Trenda IG Text" pitchFamily="34" charset="0"/>
                <a:ea typeface="Trenda IG Text" pitchFamily="34" charset="-122"/>
                <a:cs typeface="Trenda IG Text" pitchFamily="34" charset="-120"/>
              </a:rPr>
              <a:t>Describe calls and queries</a:t>
            </a:r>
          </a:p>
        </p:txBody>
      </p:sp>
      <p:sp>
        <p:nvSpPr>
          <p:cNvPr id="299" name="Text 300"/>
          <p:cNvSpPr txBox="1"/>
          <p:nvPr/>
        </p:nvSpPr>
        <p:spPr>
          <a:xfrm>
            <a:off x="3246120" y="2304288"/>
            <a:ext cx="8366760" cy="566928"/>
          </a:xfrm>
          <a:prstGeom prst="rect">
            <a:avLst/>
          </a:prstGeom>
          <a:noFill/>
          <a:ln/>
        </p:spPr>
        <p:txBody>
          <a:bodyPr wrap="square" lIns="0" tIns="0" rIns="0" bIns="0" rtlCol="0" anchor="t"/>
          <a:lstStyle/>
          <a:p>
            <a:pPr marL="0" indent="0" algn="l">
              <a:lnSpc>
                <a:spcPct val="128000"/>
              </a:lnSpc>
              <a:buNone/>
            </a:pPr>
            <a:r>
              <a:rPr lang="en-US" sz="850" dirty="0">
                <a:solidFill>
                  <a:srgbClr val="5C6E85"/>
                </a:solidFill>
                <a:latin typeface="Trenda IG Text" pitchFamily="34" charset="0"/>
                <a:ea typeface="Trenda IG Text" pitchFamily="34" charset="-122"/>
                <a:cs typeface="Trenda IG Text" pitchFamily="34" charset="-120"/>
              </a:rPr>
              <a:t>Objects, fields and record types by describe. Triggers, flows and Apex classes by query. Fields on the large standard objects are ordered custom first, because the pod's own data lives there.</a:t>
            </a:r>
          </a:p>
        </p:txBody>
      </p:sp>
      <p:sp>
        <p:nvSpPr>
          <p:cNvPr id="301" name="Shape 302"/>
          <p:cNvSpPr/>
          <p:nvPr/>
        </p:nvSpPr>
        <p:spPr>
          <a:xfrm>
            <a:off x="365760" y="3035808"/>
            <a:ext cx="45720" cy="786384"/>
          </a:xfrm>
          <a:prstGeom prst="rect">
            <a:avLst/>
          </a:prstGeom>
          <a:solidFill>
            <a:srgbClr val="0E8A7D"/>
          </a:solidFill>
          <a:ln>
            <a:noFill/>
          </a:ln>
        </p:spPr>
        <p:txBody>
          <a:bodyPr/>
          <a:lstStyle/>
          <a:p>
            <a:endParaRPr lang="en-US"/>
          </a:p>
        </p:txBody>
      </p:sp>
      <p:sp>
        <p:nvSpPr>
          <p:cNvPr id="303" name="Shape 304"/>
          <p:cNvSpPr/>
          <p:nvPr/>
        </p:nvSpPr>
        <p:spPr>
          <a:xfrm>
            <a:off x="411480" y="3035808"/>
            <a:ext cx="11411712" cy="786384"/>
          </a:xfrm>
          <a:prstGeom prst="rect">
            <a:avLst/>
          </a:prstGeom>
          <a:solidFill>
            <a:srgbClr val="FFFFFF"/>
          </a:solidFill>
          <a:ln w="9525">
            <a:solidFill>
              <a:srgbClr val="DCE4EE"/>
            </a:solidFill>
          </a:ln>
        </p:spPr>
        <p:txBody>
          <a:bodyPr/>
          <a:lstStyle/>
          <a:p>
            <a:endParaRPr lang="en-US"/>
          </a:p>
        </p:txBody>
      </p:sp>
      <p:sp>
        <p:nvSpPr>
          <p:cNvPr id="305" name="Text 306"/>
          <p:cNvSpPr txBox="1"/>
          <p:nvPr/>
        </p:nvSpPr>
        <p:spPr>
          <a:xfrm>
            <a:off x="621792" y="3163824"/>
            <a:ext cx="23774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Make the points</a:t>
            </a:r>
          </a:p>
        </p:txBody>
      </p:sp>
      <p:sp>
        <p:nvSpPr>
          <p:cNvPr id="307" name="Text 308"/>
          <p:cNvSpPr txBox="1"/>
          <p:nvPr/>
        </p:nvSpPr>
        <p:spPr>
          <a:xfrm>
            <a:off x="621792" y="3419856"/>
            <a:ext cx="2377440" cy="274320"/>
          </a:xfrm>
          <a:prstGeom prst="rect">
            <a:avLst/>
          </a:prstGeom>
          <a:noFill/>
          <a:ln/>
        </p:spPr>
        <p:txBody>
          <a:bodyPr wrap="square" lIns="0" tIns="0" rIns="0" bIns="0" rtlCol="0" anchor="t"/>
          <a:lstStyle/>
          <a:p>
            <a:pPr marL="0" indent="0" algn="l">
              <a:lnSpc>
                <a:spcPct val="114999"/>
              </a:lnSpc>
              <a:buNone/>
            </a:pPr>
            <a:r>
              <a:rPr lang="en-US" sz="750" dirty="0">
                <a:solidFill>
                  <a:srgbClr val="0E8A7D"/>
                </a:solidFill>
                <a:latin typeface="Trenda IG Text" pitchFamily="34" charset="0"/>
                <a:ea typeface="Trenda IG Text" pitchFamily="34" charset="-122"/>
                <a:cs typeface="Trenda IG Text" pitchFamily="34" charset="-120"/>
              </a:rPr>
              <a:t>Every component becomes a node</a:t>
            </a:r>
          </a:p>
        </p:txBody>
      </p:sp>
      <p:sp>
        <p:nvSpPr>
          <p:cNvPr id="309" name="Text 310"/>
          <p:cNvSpPr txBox="1"/>
          <p:nvPr/>
        </p:nvSpPr>
        <p:spPr>
          <a:xfrm>
            <a:off x="3246120" y="3172968"/>
            <a:ext cx="8366760" cy="566928"/>
          </a:xfrm>
          <a:prstGeom prst="rect">
            <a:avLst/>
          </a:prstGeom>
          <a:noFill/>
          <a:ln/>
        </p:spPr>
        <p:txBody>
          <a:bodyPr wrap="square" lIns="0" tIns="0" rIns="0" bIns="0" rtlCol="0" anchor="t"/>
          <a:lstStyle/>
          <a:p>
            <a:pPr marL="0" indent="0" algn="l">
              <a:lnSpc>
                <a:spcPct val="128000"/>
              </a:lnSpc>
              <a:buNone/>
            </a:pPr>
            <a:r>
              <a:rPr lang="en-US" sz="850" dirty="0">
                <a:solidFill>
                  <a:srgbClr val="5C6E85"/>
                </a:solidFill>
                <a:latin typeface="Trenda IG Text" pitchFamily="34" charset="0"/>
                <a:ea typeface="Trenda IG Text" pitchFamily="34" charset="-122"/>
                <a:cs typeface="Trenda IG Text" pitchFamily="34" charset="-120"/>
              </a:rPr>
              <a:t>Name, API name, type, a risk tier, and a provenance line saying where the fact came from. Object, field, record type, flow, trigger, Apex class and test class.</a:t>
            </a:r>
          </a:p>
        </p:txBody>
      </p:sp>
      <p:sp>
        <p:nvSpPr>
          <p:cNvPr id="311" name="Shape 312"/>
          <p:cNvSpPr/>
          <p:nvPr/>
        </p:nvSpPr>
        <p:spPr>
          <a:xfrm>
            <a:off x="365760" y="3904488"/>
            <a:ext cx="45720" cy="786384"/>
          </a:xfrm>
          <a:prstGeom prst="rect">
            <a:avLst/>
          </a:prstGeom>
          <a:solidFill>
            <a:srgbClr val="7A4FC0"/>
          </a:solidFill>
          <a:ln>
            <a:noFill/>
          </a:ln>
        </p:spPr>
        <p:txBody>
          <a:bodyPr/>
          <a:lstStyle/>
          <a:p>
            <a:endParaRPr lang="en-US"/>
          </a:p>
        </p:txBody>
      </p:sp>
      <p:sp>
        <p:nvSpPr>
          <p:cNvPr id="313" name="Shape 314"/>
          <p:cNvSpPr/>
          <p:nvPr/>
        </p:nvSpPr>
        <p:spPr>
          <a:xfrm>
            <a:off x="411480" y="3904488"/>
            <a:ext cx="11411712" cy="786384"/>
          </a:xfrm>
          <a:prstGeom prst="rect">
            <a:avLst/>
          </a:prstGeom>
          <a:solidFill>
            <a:srgbClr val="FFFFFF"/>
          </a:solidFill>
          <a:ln w="9525">
            <a:solidFill>
              <a:srgbClr val="DCE4EE"/>
            </a:solidFill>
          </a:ln>
        </p:spPr>
        <p:txBody>
          <a:bodyPr/>
          <a:lstStyle/>
          <a:p>
            <a:endParaRPr lang="en-US"/>
          </a:p>
        </p:txBody>
      </p:sp>
      <p:sp>
        <p:nvSpPr>
          <p:cNvPr id="315" name="Text 316"/>
          <p:cNvSpPr txBox="1"/>
          <p:nvPr/>
        </p:nvSpPr>
        <p:spPr>
          <a:xfrm>
            <a:off x="621792" y="4032504"/>
            <a:ext cx="23774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Join them up</a:t>
            </a:r>
          </a:p>
        </p:txBody>
      </p:sp>
      <p:sp>
        <p:nvSpPr>
          <p:cNvPr id="317" name="Text 318"/>
          <p:cNvSpPr txBox="1"/>
          <p:nvPr/>
        </p:nvSpPr>
        <p:spPr>
          <a:xfrm>
            <a:off x="621792" y="4288536"/>
            <a:ext cx="2377440" cy="274320"/>
          </a:xfrm>
          <a:prstGeom prst="rect">
            <a:avLst/>
          </a:prstGeom>
          <a:noFill/>
          <a:ln/>
        </p:spPr>
        <p:txBody>
          <a:bodyPr wrap="square" lIns="0" tIns="0" rIns="0" bIns="0" rtlCol="0" anchor="t"/>
          <a:lstStyle/>
          <a:p>
            <a:pPr marL="0" indent="0" algn="l">
              <a:lnSpc>
                <a:spcPct val="114999"/>
              </a:lnSpc>
              <a:buNone/>
            </a:pPr>
            <a:r>
              <a:rPr lang="en-US" sz="750" dirty="0">
                <a:solidFill>
                  <a:srgbClr val="7A4FC0"/>
                </a:solidFill>
                <a:latin typeface="Trenda IG Text" pitchFamily="34" charset="0"/>
                <a:ea typeface="Trenda IG Text" pitchFamily="34" charset="-122"/>
                <a:cs typeface="Trenda IG Text" pitchFamily="34" charset="-120"/>
              </a:rPr>
              <a:t>Every connection becomes a typed line</a:t>
            </a:r>
          </a:p>
        </p:txBody>
      </p:sp>
      <p:sp>
        <p:nvSpPr>
          <p:cNvPr id="319" name="Text 320"/>
          <p:cNvSpPr txBox="1"/>
          <p:nvPr/>
        </p:nvSpPr>
        <p:spPr>
          <a:xfrm>
            <a:off x="3246120" y="4041648"/>
            <a:ext cx="8366760" cy="566928"/>
          </a:xfrm>
          <a:prstGeom prst="rect">
            <a:avLst/>
          </a:prstGeom>
          <a:noFill/>
          <a:ln/>
        </p:spPr>
        <p:txBody>
          <a:bodyPr wrap="square" lIns="0" tIns="0" rIns="0" bIns="0" rtlCol="0" anchor="t"/>
          <a:lstStyle/>
          <a:p>
            <a:pPr marL="0" indent="0" algn="l">
              <a:lnSpc>
                <a:spcPct val="128000"/>
              </a:lnSpc>
              <a:buNone/>
            </a:pPr>
            <a:r>
              <a:rPr lang="en-US" sz="850" dirty="0">
                <a:solidFill>
                  <a:srgbClr val="5C6E85"/>
                </a:solidFill>
                <a:latin typeface="Trenda IG Text" pitchFamily="34" charset="0"/>
                <a:ea typeface="Trenda IG Text" pitchFamily="34" charset="-122"/>
                <a:cs typeface="Trenda IG Text" pitchFamily="34" charset="-120"/>
              </a:rPr>
              <a:t>Has field · has record type · related to · runs on · reads or writes · called by a trigger · calls another class. The last two are what make a handler's handler reachable.</a:t>
            </a:r>
          </a:p>
        </p:txBody>
      </p:sp>
      <p:sp>
        <p:nvSpPr>
          <p:cNvPr id="321" name="Shape 322"/>
          <p:cNvSpPr/>
          <p:nvPr/>
        </p:nvSpPr>
        <p:spPr>
          <a:xfrm>
            <a:off x="365760" y="4773168"/>
            <a:ext cx="45720" cy="786384"/>
          </a:xfrm>
          <a:prstGeom prst="rect">
            <a:avLst/>
          </a:prstGeom>
          <a:solidFill>
            <a:srgbClr val="C77400"/>
          </a:solidFill>
          <a:ln>
            <a:noFill/>
          </a:ln>
        </p:spPr>
        <p:txBody>
          <a:bodyPr/>
          <a:lstStyle/>
          <a:p>
            <a:endParaRPr lang="en-US"/>
          </a:p>
        </p:txBody>
      </p:sp>
      <p:sp>
        <p:nvSpPr>
          <p:cNvPr id="323" name="Shape 324"/>
          <p:cNvSpPr/>
          <p:nvPr/>
        </p:nvSpPr>
        <p:spPr>
          <a:xfrm>
            <a:off x="411480" y="4773168"/>
            <a:ext cx="11411712" cy="786384"/>
          </a:xfrm>
          <a:prstGeom prst="rect">
            <a:avLst/>
          </a:prstGeom>
          <a:solidFill>
            <a:srgbClr val="FFFFFF"/>
          </a:solidFill>
          <a:ln w="9525">
            <a:solidFill>
              <a:srgbClr val="DCE4EE"/>
            </a:solidFill>
          </a:ln>
        </p:spPr>
        <p:txBody>
          <a:bodyPr/>
          <a:lstStyle/>
          <a:p>
            <a:endParaRPr lang="en-US"/>
          </a:p>
        </p:txBody>
      </p:sp>
      <p:sp>
        <p:nvSpPr>
          <p:cNvPr id="325" name="Text 326"/>
          <p:cNvSpPr txBox="1"/>
          <p:nvPr/>
        </p:nvSpPr>
        <p:spPr>
          <a:xfrm>
            <a:off x="621792" y="4901184"/>
            <a:ext cx="23774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Write the map</a:t>
            </a:r>
          </a:p>
        </p:txBody>
      </p:sp>
      <p:sp>
        <p:nvSpPr>
          <p:cNvPr id="327" name="Text 328"/>
          <p:cNvSpPr txBox="1"/>
          <p:nvPr/>
        </p:nvSpPr>
        <p:spPr>
          <a:xfrm>
            <a:off x="621792" y="5157216"/>
            <a:ext cx="2377440" cy="274320"/>
          </a:xfrm>
          <a:prstGeom prst="rect">
            <a:avLst/>
          </a:prstGeom>
          <a:noFill/>
          <a:ln/>
        </p:spPr>
        <p:txBody>
          <a:bodyPr wrap="square" lIns="0" tIns="0" rIns="0" bIns="0" rtlCol="0" anchor="t"/>
          <a:lstStyle/>
          <a:p>
            <a:pPr marL="0" indent="0" algn="l">
              <a:lnSpc>
                <a:spcPct val="114999"/>
              </a:lnSpc>
              <a:buNone/>
            </a:pPr>
            <a:r>
              <a:rPr lang="en-US" sz="750" dirty="0">
                <a:solidFill>
                  <a:srgbClr val="C77400"/>
                </a:solidFill>
                <a:latin typeface="Trenda IG Text" pitchFamily="34" charset="0"/>
                <a:ea typeface="Trenda IG Text" pitchFamily="34" charset="-122"/>
                <a:cs typeface="Trenda IG Text" pitchFamily="34" charset="-120"/>
              </a:rPr>
              <a:t>One JSON document, saved as a file</a:t>
            </a:r>
          </a:p>
        </p:txBody>
      </p:sp>
      <p:sp>
        <p:nvSpPr>
          <p:cNvPr id="329" name="Text 330"/>
          <p:cNvSpPr txBox="1"/>
          <p:nvPr/>
        </p:nvSpPr>
        <p:spPr>
          <a:xfrm>
            <a:off x="3246120" y="4910328"/>
            <a:ext cx="8366760" cy="566928"/>
          </a:xfrm>
          <a:prstGeom prst="rect">
            <a:avLst/>
          </a:prstGeom>
          <a:noFill/>
          <a:ln/>
        </p:spPr>
        <p:txBody>
          <a:bodyPr wrap="square" lIns="0" tIns="0" rIns="0" bIns="0" rtlCol="0" anchor="t"/>
          <a:lstStyle/>
          <a:p>
            <a:pPr marL="0" indent="0" algn="l">
              <a:lnSpc>
                <a:spcPct val="128000"/>
              </a:lnSpc>
              <a:buNone/>
            </a:pPr>
            <a:r>
              <a:rPr lang="en-US" sz="850" dirty="0">
                <a:solidFill>
                  <a:srgbClr val="5C6E85"/>
                </a:solidFill>
                <a:latin typeface="Trenda IG Text" pitchFamily="34" charset="0"/>
                <a:ea typeface="Trenda IG Text" pitchFamily="34" charset="-122"/>
                <a:cs typeface="Trenda IG Text" pitchFamily="34" charset="-120"/>
              </a:rPr>
              <a:t>Serialised, versioned, and re-merged into the combined document the searches read. The job reports what it did, what it truncated, and anything it could not resolve.</a:t>
            </a:r>
          </a:p>
        </p:txBody>
      </p:sp>
      <p:sp>
        <p:nvSpPr>
          <p:cNvPr id="331" name="Shape 332"/>
          <p:cNvSpPr/>
          <p:nvPr/>
        </p:nvSpPr>
        <p:spPr>
          <a:xfrm>
            <a:off x="365760" y="5669280"/>
            <a:ext cx="11457432" cy="566928"/>
          </a:xfrm>
          <a:prstGeom prst="roundRect">
            <a:avLst>
              <a:gd name="adj" fmla="val 10000"/>
            </a:avLst>
          </a:prstGeom>
          <a:solidFill>
            <a:srgbClr val="EAF1F9"/>
          </a:solidFill>
          <a:ln>
            <a:noFill/>
          </a:ln>
        </p:spPr>
        <p:txBody>
          <a:bodyPr/>
          <a:lstStyle/>
          <a:p>
            <a:endParaRPr lang="en-US"/>
          </a:p>
        </p:txBody>
      </p:sp>
      <p:sp>
        <p:nvSpPr>
          <p:cNvPr id="333" name="Text 334"/>
          <p:cNvSpPr txBox="1"/>
          <p:nvPr/>
        </p:nvSpPr>
        <p:spPr>
          <a:xfrm>
            <a:off x="585216" y="5815584"/>
            <a:ext cx="11018520" cy="292608"/>
          </a:xfrm>
          <a:prstGeom prst="rect">
            <a:avLst/>
          </a:prstGeom>
          <a:noFill/>
          <a:ln/>
        </p:spPr>
        <p:txBody>
          <a:bodyPr wrap="square" lIns="0" tIns="0" rIns="0" bIns="0" rtlCol="0" anchor="t"/>
          <a:lstStyle/>
          <a:p>
            <a:pPr marL="0" indent="0" algn="l">
              <a:buNone/>
            </a:pPr>
            <a:r>
              <a:rPr lang="en-US" sz="850" i="1" dirty="0">
                <a:solidFill>
                  <a:srgbClr val="00757F"/>
                </a:solidFill>
                <a:latin typeface="Trenda IG Text" pitchFamily="34" charset="0"/>
                <a:ea typeface="Trenda IG Text" pitchFamily="34" charset="-122"/>
                <a:cs typeface="Trenda IG Text" pitchFamily="34" charset="-120"/>
              </a:rPr>
              <a:t>A component with no relationship to anything is dropped. A point nothing connects to can never be reached by a search, so it is noise rather than information.</a:t>
            </a:r>
          </a:p>
        </p:txBody>
      </p:sp>
    </p:spTree>
  </p:cSld>
  <p:clrMapOvr>
    <a:masterClrMapping/>
  </p:clrMapOvr>
</p:sld>
</file>

<file path=ppt/slides/slide13.xml><?xml version="1.0" encoding="utf-8"?>
<!-- AI-CHANGE-CONSOLE-POC-SLIDE -->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335" name="Text 336"/>
          <p:cNvSpPr txBox="1"/>
          <p:nvPr/>
        </p:nvSpPr>
        <p:spPr>
          <a:xfrm>
            <a:off x="365760" y="256032"/>
            <a:ext cx="11457432" cy="347472"/>
          </a:xfrm>
          <a:prstGeom prst="rect">
            <a:avLst/>
          </a:prstGeom>
          <a:noFill/>
          <a:ln/>
        </p:spPr>
        <p:txBody>
          <a:bodyPr wrap="square" lIns="0" tIns="0" rIns="0" bIns="0" rtlCol="0" anchor="ctr"/>
          <a:lstStyle/>
          <a:p>
            <a:pPr marL="0" indent="0" algn="l">
              <a:buNone/>
            </a:pPr>
            <a:r>
              <a:rPr lang="en-US" sz="2000" dirty="0">
                <a:solidFill>
                  <a:srgbClr val="0E1B2E"/>
                </a:solidFill>
                <a:latin typeface="Trenda IG Display Bold" pitchFamily="34" charset="0"/>
                <a:ea typeface="Trenda IG Display Bold" pitchFamily="34" charset="-122"/>
                <a:cs typeface="Trenda IG Display Bold" pitchFamily="34" charset="-120"/>
              </a:rPr>
              <a:t>What counts as the Network Services pod</a:t>
            </a:r>
          </a:p>
        </p:txBody>
      </p:sp>
      <p:sp>
        <p:nvSpPr>
          <p:cNvPr id="337" name="Text 338"/>
          <p:cNvSpPr txBox="1"/>
          <p:nvPr/>
        </p:nvSpPr>
        <p:spPr>
          <a:xfrm>
            <a:off x="365760" y="640080"/>
            <a:ext cx="11457432" cy="219456"/>
          </a:xfrm>
          <a:prstGeom prst="rect">
            <a:avLst/>
          </a:prstGeom>
          <a:noFill/>
          <a:ln/>
        </p:spPr>
        <p:txBody>
          <a:bodyPr wrap="square" lIns="0" tIns="0" rIns="0" bIns="0" rtlCol="0" anchor="ctr"/>
          <a:lstStyle/>
          <a:p>
            <a:pPr marL="0" indent="0" algn="l">
              <a:buNone/>
            </a:pPr>
            <a:r>
              <a:rPr lang="en-US" sz="950" dirty="0">
                <a:solidFill>
                  <a:srgbClr val="5C6E85"/>
                </a:solidFill>
                <a:latin typeface="Trenda IG Display" pitchFamily="34" charset="0"/>
                <a:ea typeface="Trenda IG Display" pitchFamily="34" charset="-122"/>
                <a:cs typeface="Trenda IG Display" pitchFamily="34" charset="-120"/>
              </a:rPr>
              <a:t>Three signals, unioned. The declared list is the authority; the other two corroborate it.</a:t>
            </a:r>
          </a:p>
        </p:txBody>
      </p:sp>
      <p:sp>
        <p:nvSpPr>
          <p:cNvPr id="339" name="Text 340"/>
          <p:cNvSpPr txBox="1"/>
          <p:nvPr/>
        </p:nvSpPr>
        <p:spPr>
          <a:xfrm>
            <a:off x="365760" y="969264"/>
            <a:ext cx="11457432" cy="164592"/>
          </a:xfrm>
          <a:prstGeom prst="rect">
            <a:avLst/>
          </a:prstGeom>
          <a:noFill/>
          <a:ln/>
        </p:spPr>
        <p:txBody>
          <a:bodyPr wrap="square" lIns="0" tIns="0" rIns="0" bIns="0" rtlCol="0" anchor="t"/>
          <a:lstStyle/>
          <a:p>
            <a:pPr marL="0" indent="0" algn="l">
              <a:buNone/>
            </a:pPr>
            <a:r>
              <a:rPr lang="en-US" sz="700" b="1" dirty="0">
                <a:solidFill>
                  <a:srgbClr val="00757F"/>
                </a:solidFill>
                <a:latin typeface="Trenda IG Text Semibold" pitchFamily="34" charset="0"/>
                <a:ea typeface="Trenda IG Text Semibold" pitchFamily="34" charset="-122"/>
                <a:cs typeface="Trenda IG Text Semibold" pitchFamily="34" charset="-120"/>
              </a:rPr>
              <a:t>49 OBJECTS IN SCOPE  ·  OUT OF ROUGHLY 1,400 IN THE ORG</a:t>
            </a:r>
          </a:p>
        </p:txBody>
      </p:sp>
      <p:sp>
        <p:nvSpPr>
          <p:cNvPr id="341" name="Shape 342"/>
          <p:cNvSpPr/>
          <p:nvPr/>
        </p:nvSpPr>
        <p:spPr>
          <a:xfrm>
            <a:off x="365760" y="1298448"/>
            <a:ext cx="3639312" cy="1874520"/>
          </a:xfrm>
          <a:prstGeom prst="rect">
            <a:avLst/>
          </a:prstGeom>
          <a:solidFill>
            <a:srgbClr val="FFFFFF"/>
          </a:solidFill>
          <a:ln w="9525">
            <a:solidFill>
              <a:srgbClr val="DCE4EE"/>
            </a:solidFill>
          </a:ln>
        </p:spPr>
        <p:txBody>
          <a:bodyPr/>
          <a:lstStyle/>
          <a:p>
            <a:endParaRPr lang="en-US"/>
          </a:p>
        </p:txBody>
      </p:sp>
      <p:sp>
        <p:nvSpPr>
          <p:cNvPr id="343" name="Text 344"/>
          <p:cNvSpPr txBox="1"/>
          <p:nvPr/>
        </p:nvSpPr>
        <p:spPr>
          <a:xfrm>
            <a:off x="585216" y="1444752"/>
            <a:ext cx="1463040" cy="384048"/>
          </a:xfrm>
          <a:prstGeom prst="rect">
            <a:avLst/>
          </a:prstGeom>
          <a:noFill/>
          <a:ln/>
        </p:spPr>
        <p:txBody>
          <a:bodyPr wrap="square" lIns="0" tIns="0" rIns="0" bIns="0" rtlCol="0" anchor="t"/>
          <a:lstStyle/>
          <a:p>
            <a:pPr marL="0" indent="0" algn="l">
              <a:buNone/>
            </a:pPr>
            <a:r>
              <a:rPr lang="en-US" sz="2200" dirty="0">
                <a:solidFill>
                  <a:srgbClr val="1B6BC0"/>
                </a:solidFill>
                <a:latin typeface="Trenda IG Display Bold" pitchFamily="34" charset="0"/>
                <a:ea typeface="Trenda IG Display Bold" pitchFamily="34" charset="-122"/>
                <a:cs typeface="Trenda IG Display Bold" pitchFamily="34" charset="-120"/>
              </a:rPr>
              <a:t>13</a:t>
            </a:r>
          </a:p>
        </p:txBody>
      </p:sp>
      <p:sp>
        <p:nvSpPr>
          <p:cNvPr id="345" name="Text 346"/>
          <p:cNvSpPr txBox="1"/>
          <p:nvPr/>
        </p:nvSpPr>
        <p:spPr>
          <a:xfrm>
            <a:off x="585216" y="1901952"/>
            <a:ext cx="320040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Declared in code</a:t>
            </a:r>
          </a:p>
        </p:txBody>
      </p:sp>
      <p:sp>
        <p:nvSpPr>
          <p:cNvPr id="347" name="Text 348"/>
          <p:cNvSpPr txBox="1"/>
          <p:nvPr/>
        </p:nvSpPr>
        <p:spPr>
          <a:xfrm>
            <a:off x="585216" y="2176272"/>
            <a:ext cx="3200400" cy="868680"/>
          </a:xfrm>
          <a:prstGeom prst="rect">
            <a:avLst/>
          </a:prstGeom>
          <a:noFill/>
          <a:ln/>
        </p:spPr>
        <p:txBody>
          <a:bodyPr wrap="square" lIns="0" tIns="0" rIns="0" bIns="0" rtlCol="0" anchor="t"/>
          <a:lstStyle/>
          <a:p>
            <a:pPr marL="0" indent="0" algn="l">
              <a:lnSpc>
                <a:spcPct val="125000"/>
              </a:lnSpc>
              <a:buNone/>
            </a:pPr>
            <a:r>
              <a:rPr lang="en-US" sz="750" dirty="0">
                <a:solidFill>
                  <a:srgbClr val="5C6E85"/>
                </a:solidFill>
                <a:latin typeface="Trenda IG Text" pitchFamily="34" charset="0"/>
                <a:ea typeface="Trenda IG Text" pitchFamily="34" charset="-122"/>
                <a:cs typeface="Trenda IG Text" pitchFamily="34" charset="-120"/>
              </a:rPr>
              <a:t>Account and its chain — Healthcare Provider, Healthcare Facility, Practitioner Facility, Care Provider Facility Specialty, Contract Payment Agreement — plus Healthcare Facility Network, Lead, Contact, Opportunity, Task, Case and Credentialing Application.</a:t>
            </a:r>
          </a:p>
        </p:txBody>
      </p:sp>
      <p:sp>
        <p:nvSpPr>
          <p:cNvPr id="349" name="Shape 350"/>
          <p:cNvSpPr/>
          <p:nvPr/>
        </p:nvSpPr>
        <p:spPr>
          <a:xfrm>
            <a:off x="4224528" y="1298448"/>
            <a:ext cx="3639312" cy="1874520"/>
          </a:xfrm>
          <a:prstGeom prst="rect">
            <a:avLst/>
          </a:prstGeom>
          <a:solidFill>
            <a:srgbClr val="FFFFFF"/>
          </a:solidFill>
          <a:ln w="9525">
            <a:solidFill>
              <a:srgbClr val="DCE4EE"/>
            </a:solidFill>
          </a:ln>
        </p:spPr>
        <p:txBody>
          <a:bodyPr/>
          <a:lstStyle/>
          <a:p>
            <a:endParaRPr lang="en-US"/>
          </a:p>
        </p:txBody>
      </p:sp>
      <p:sp>
        <p:nvSpPr>
          <p:cNvPr id="351" name="Text 352"/>
          <p:cNvSpPr txBox="1"/>
          <p:nvPr/>
        </p:nvSpPr>
        <p:spPr>
          <a:xfrm>
            <a:off x="4443984" y="1444752"/>
            <a:ext cx="1463040" cy="384048"/>
          </a:xfrm>
          <a:prstGeom prst="rect">
            <a:avLst/>
          </a:prstGeom>
          <a:noFill/>
          <a:ln/>
        </p:spPr>
        <p:txBody>
          <a:bodyPr wrap="square" lIns="0" tIns="0" rIns="0" bIns="0" rtlCol="0" anchor="t"/>
          <a:lstStyle/>
          <a:p>
            <a:pPr marL="0" indent="0" algn="l">
              <a:buNone/>
            </a:pPr>
            <a:r>
              <a:rPr lang="en-US" sz="2200" dirty="0">
                <a:solidFill>
                  <a:srgbClr val="00757F"/>
                </a:solidFill>
                <a:latin typeface="Trenda IG Display Bold" pitchFamily="34" charset="0"/>
                <a:ea typeface="Trenda IG Display Bold" pitchFamily="34" charset="-122"/>
                <a:cs typeface="Trenda IG Display Bold" pitchFamily="34" charset="-120"/>
              </a:rPr>
              <a:t>12</a:t>
            </a:r>
          </a:p>
        </p:txBody>
      </p:sp>
      <p:sp>
        <p:nvSpPr>
          <p:cNvPr id="353" name="Text 354"/>
          <p:cNvSpPr txBox="1"/>
          <p:nvPr/>
        </p:nvSpPr>
        <p:spPr>
          <a:xfrm>
            <a:off x="4443984" y="1901952"/>
            <a:ext cx="320040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Profile can maintain</a:t>
            </a:r>
          </a:p>
        </p:txBody>
      </p:sp>
      <p:sp>
        <p:nvSpPr>
          <p:cNvPr id="355" name="Text 356"/>
          <p:cNvSpPr txBox="1"/>
          <p:nvPr/>
        </p:nvSpPr>
        <p:spPr>
          <a:xfrm>
            <a:off x="4443984" y="2176272"/>
            <a:ext cx="3200400" cy="868680"/>
          </a:xfrm>
          <a:prstGeom prst="rect">
            <a:avLst/>
          </a:prstGeom>
          <a:noFill/>
          <a:ln/>
        </p:spPr>
        <p:txBody>
          <a:bodyPr wrap="square" lIns="0" tIns="0" rIns="0" bIns="0" rtlCol="0" anchor="t"/>
          <a:lstStyle/>
          <a:p>
            <a:pPr marL="0" indent="0" algn="l">
              <a:lnSpc>
                <a:spcPct val="125000"/>
              </a:lnSpc>
              <a:buNone/>
            </a:pPr>
            <a:r>
              <a:rPr lang="en-US" sz="750" dirty="0">
                <a:solidFill>
                  <a:srgbClr val="5C6E85"/>
                </a:solidFill>
                <a:latin typeface="Trenda IG Text" pitchFamily="34" charset="0"/>
                <a:ea typeface="Trenda IG Text" pitchFamily="34" charset="-122"/>
                <a:cs typeface="Trenda IG Text" pitchFamily="34" charset="-120"/>
              </a:rPr>
              <a:t>Objects the Network Services profile can create or edit. A reasonable signal, and on its own an incomplete one.</a:t>
            </a:r>
          </a:p>
        </p:txBody>
      </p:sp>
      <p:sp>
        <p:nvSpPr>
          <p:cNvPr id="357" name="Shape 358"/>
          <p:cNvSpPr/>
          <p:nvPr/>
        </p:nvSpPr>
        <p:spPr>
          <a:xfrm>
            <a:off x="8083296" y="1298448"/>
            <a:ext cx="3639312" cy="1874520"/>
          </a:xfrm>
          <a:prstGeom prst="rect">
            <a:avLst/>
          </a:prstGeom>
          <a:solidFill>
            <a:srgbClr val="FFFFFF"/>
          </a:solidFill>
          <a:ln w="9525">
            <a:solidFill>
              <a:srgbClr val="DCE4EE"/>
            </a:solidFill>
          </a:ln>
        </p:spPr>
        <p:txBody>
          <a:bodyPr/>
          <a:lstStyle/>
          <a:p>
            <a:endParaRPr lang="en-US"/>
          </a:p>
        </p:txBody>
      </p:sp>
      <p:sp>
        <p:nvSpPr>
          <p:cNvPr id="359" name="Text 360"/>
          <p:cNvSpPr txBox="1"/>
          <p:nvPr/>
        </p:nvSpPr>
        <p:spPr>
          <a:xfrm>
            <a:off x="8302752" y="1444752"/>
            <a:ext cx="1463040" cy="384048"/>
          </a:xfrm>
          <a:prstGeom prst="rect">
            <a:avLst/>
          </a:prstGeom>
          <a:noFill/>
          <a:ln/>
        </p:spPr>
        <p:txBody>
          <a:bodyPr wrap="square" lIns="0" tIns="0" rIns="0" bIns="0" rtlCol="0" anchor="t"/>
          <a:lstStyle/>
          <a:p>
            <a:pPr marL="0" indent="0" algn="l">
              <a:buNone/>
            </a:pPr>
            <a:r>
              <a:rPr lang="en-US" sz="2200" dirty="0">
                <a:solidFill>
                  <a:srgbClr val="0E8A7D"/>
                </a:solidFill>
                <a:latin typeface="Trenda IG Display Bold" pitchFamily="34" charset="0"/>
                <a:ea typeface="Trenda IG Display Bold" pitchFamily="34" charset="-122"/>
                <a:cs typeface="Trenda IG Display Bold" pitchFamily="34" charset="-120"/>
              </a:rPr>
              <a:t>24</a:t>
            </a:r>
          </a:p>
        </p:txBody>
      </p:sp>
      <p:sp>
        <p:nvSpPr>
          <p:cNvPr id="361" name="Text 362"/>
          <p:cNvSpPr txBox="1"/>
          <p:nvPr/>
        </p:nvSpPr>
        <p:spPr>
          <a:xfrm>
            <a:off x="8302752" y="1901952"/>
            <a:ext cx="320040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Carries a pod record type</a:t>
            </a:r>
          </a:p>
        </p:txBody>
      </p:sp>
      <p:sp>
        <p:nvSpPr>
          <p:cNvPr id="363" name="Text 364"/>
          <p:cNvSpPr txBox="1"/>
          <p:nvPr/>
        </p:nvSpPr>
        <p:spPr>
          <a:xfrm>
            <a:off x="8302752" y="2176272"/>
            <a:ext cx="3200400" cy="868680"/>
          </a:xfrm>
          <a:prstGeom prst="rect">
            <a:avLst/>
          </a:prstGeom>
          <a:noFill/>
          <a:ln/>
        </p:spPr>
        <p:txBody>
          <a:bodyPr wrap="square" lIns="0" tIns="0" rIns="0" bIns="0" rtlCol="0" anchor="t"/>
          <a:lstStyle/>
          <a:p>
            <a:pPr marL="0" indent="0" algn="l">
              <a:lnSpc>
                <a:spcPct val="125000"/>
              </a:lnSpc>
              <a:buNone/>
            </a:pPr>
            <a:r>
              <a:rPr lang="en-US" sz="750" dirty="0">
                <a:solidFill>
                  <a:srgbClr val="5C6E85"/>
                </a:solidFill>
                <a:latin typeface="Trenda IG Text" pitchFamily="34" charset="0"/>
                <a:ea typeface="Trenda IG Text" pitchFamily="34" charset="-122"/>
                <a:cs typeface="Trenda IG Text" pitchFamily="34" charset="-120"/>
              </a:rPr>
              <a:t>Objects with an active Network Services or Network Services TX CIN record type. This is where the pod's records actually live.</a:t>
            </a:r>
          </a:p>
        </p:txBody>
      </p:sp>
      <p:sp>
        <p:nvSpPr>
          <p:cNvPr id="365" name="Shape 366"/>
          <p:cNvSpPr/>
          <p:nvPr/>
        </p:nvSpPr>
        <p:spPr>
          <a:xfrm>
            <a:off x="365760" y="3346704"/>
            <a:ext cx="5614416" cy="1828800"/>
          </a:xfrm>
          <a:prstGeom prst="roundRect">
            <a:avLst>
              <a:gd name="adj" fmla="val 10000"/>
            </a:avLst>
          </a:prstGeom>
          <a:solidFill>
            <a:srgbClr val="FDF3E6"/>
          </a:solidFill>
          <a:ln>
            <a:noFill/>
          </a:ln>
        </p:spPr>
        <p:txBody>
          <a:bodyPr/>
          <a:lstStyle/>
          <a:p>
            <a:endParaRPr lang="en-US"/>
          </a:p>
        </p:txBody>
      </p:sp>
      <p:sp>
        <p:nvSpPr>
          <p:cNvPr id="367" name="Text 368"/>
          <p:cNvSpPr txBox="1"/>
          <p:nvPr/>
        </p:nvSpPr>
        <p:spPr>
          <a:xfrm>
            <a:off x="585216" y="3511296"/>
            <a:ext cx="5212080" cy="201168"/>
          </a:xfrm>
          <a:prstGeom prst="rect">
            <a:avLst/>
          </a:prstGeom>
          <a:noFill/>
          <a:ln/>
        </p:spPr>
        <p:txBody>
          <a:bodyPr wrap="square" lIns="0" tIns="0" rIns="0" bIns="0" rtlCol="0" anchor="t"/>
          <a:lstStyle/>
          <a:p>
            <a:pPr marL="0" indent="0" algn="l">
              <a:buNone/>
            </a:pPr>
            <a:r>
              <a:rPr lang="en-US" sz="950" b="1" dirty="0">
                <a:solidFill>
                  <a:srgbClr val="C77400"/>
                </a:solidFill>
                <a:latin typeface="Trenda IG Text Semibold" pitchFamily="34" charset="0"/>
                <a:ea typeface="Trenda IG Text Semibold" pitchFamily="34" charset="-122"/>
                <a:cs typeface="Trenda IG Text Semibold" pitchFamily="34" charset="-120"/>
              </a:rPr>
              <a:t>Why a declared list had to exist</a:t>
            </a:r>
          </a:p>
        </p:txBody>
      </p:sp>
      <p:sp>
        <p:nvSpPr>
          <p:cNvPr id="369" name="Text 370"/>
          <p:cNvSpPr txBox="1"/>
          <p:nvPr/>
        </p:nvSpPr>
        <p:spPr>
          <a:xfrm>
            <a:off x="585216" y="3785616"/>
            <a:ext cx="5212080" cy="1280160"/>
          </a:xfrm>
          <a:prstGeom prst="rect">
            <a:avLst/>
          </a:prstGeom>
          <a:noFill/>
          <a:ln/>
        </p:spPr>
        <p:txBody>
          <a:bodyPr wrap="square" lIns="0" tIns="0" rIns="0" bIns="0" rtlCol="0" anchor="t"/>
          <a:lstStyle/>
          <a:p>
            <a:pPr marL="0" indent="0" algn="l">
              <a:lnSpc>
                <a:spcPct val="130000"/>
              </a:lnSpc>
              <a:buNone/>
            </a:pPr>
            <a:r>
              <a:rPr lang="en-US" sz="800" dirty="0">
                <a:solidFill>
                  <a:srgbClr val="8A5620"/>
                </a:solidFill>
                <a:latin typeface="Trenda IG Text" pitchFamily="34" charset="0"/>
                <a:ea typeface="Trenda IG Text" pitchFamily="34" charset="-122"/>
                <a:cs typeface="Trenda IG Text" pitchFamily="34" charset="-120"/>
              </a:rPr>
              <a:t>Several of these objects are written only by automation and never typed by a person, so the profile has no create permission on them. Healthcare Facility Network — the object most questions are about — was invisible for exactly that reason. Deriving the pod from create access quietly excluded the thing the pod exists to build.</a:t>
            </a:r>
          </a:p>
        </p:txBody>
      </p:sp>
      <p:sp>
        <p:nvSpPr>
          <p:cNvPr id="371" name="Shape 372"/>
          <p:cNvSpPr/>
          <p:nvPr/>
        </p:nvSpPr>
        <p:spPr>
          <a:xfrm>
            <a:off x="6208776" y="3346704"/>
            <a:ext cx="5614416" cy="1828800"/>
          </a:xfrm>
          <a:prstGeom prst="roundRect">
            <a:avLst>
              <a:gd name="adj" fmla="val 10000"/>
            </a:avLst>
          </a:prstGeom>
          <a:solidFill>
            <a:srgbClr val="FBEAEF"/>
          </a:solidFill>
          <a:ln>
            <a:noFill/>
          </a:ln>
        </p:spPr>
        <p:txBody>
          <a:bodyPr/>
          <a:lstStyle/>
          <a:p>
            <a:endParaRPr lang="en-US"/>
          </a:p>
        </p:txBody>
      </p:sp>
      <p:sp>
        <p:nvSpPr>
          <p:cNvPr id="373" name="Text 374"/>
          <p:cNvSpPr txBox="1"/>
          <p:nvPr/>
        </p:nvSpPr>
        <p:spPr>
          <a:xfrm>
            <a:off x="6428232" y="3511296"/>
            <a:ext cx="5212080" cy="201168"/>
          </a:xfrm>
          <a:prstGeom prst="rect">
            <a:avLst/>
          </a:prstGeom>
          <a:noFill/>
          <a:ln/>
        </p:spPr>
        <p:txBody>
          <a:bodyPr wrap="square" lIns="0" tIns="0" rIns="0" bIns="0" rtlCol="0" anchor="t"/>
          <a:lstStyle/>
          <a:p>
            <a:pPr marL="0" indent="0" algn="l">
              <a:buNone/>
            </a:pPr>
            <a:r>
              <a:rPr lang="en-US" sz="950" b="1" dirty="0">
                <a:solidFill>
                  <a:srgbClr val="C2185B"/>
                </a:solidFill>
                <a:latin typeface="Trenda IG Text Semibold" pitchFamily="34" charset="0"/>
                <a:ea typeface="Trenda IG Text Semibold" pitchFamily="34" charset="-122"/>
                <a:cs typeface="Trenda IG Text Semibold" pitchFamily="34" charset="-120"/>
              </a:rPr>
              <a:t>And why permission sets were not the answer</a:t>
            </a:r>
          </a:p>
        </p:txBody>
      </p:sp>
      <p:sp>
        <p:nvSpPr>
          <p:cNvPr id="375" name="Text 376"/>
          <p:cNvSpPr txBox="1"/>
          <p:nvPr/>
        </p:nvSpPr>
        <p:spPr>
          <a:xfrm>
            <a:off x="6428232" y="3785616"/>
            <a:ext cx="5212080" cy="1280160"/>
          </a:xfrm>
          <a:prstGeom prst="rect">
            <a:avLst/>
          </a:prstGeom>
          <a:noFill/>
          <a:ln/>
        </p:spPr>
        <p:txBody>
          <a:bodyPr wrap="square" lIns="0" tIns="0" rIns="0" bIns="0" rtlCol="0" anchor="t"/>
          <a:lstStyle/>
          <a:p>
            <a:pPr marL="0" indent="0" algn="l">
              <a:lnSpc>
                <a:spcPct val="130000"/>
              </a:lnSpc>
              <a:buNone/>
            </a:pPr>
            <a:r>
              <a:rPr lang="en-US" sz="800" dirty="0">
                <a:solidFill>
                  <a:srgbClr val="8C2A48"/>
                </a:solidFill>
                <a:latin typeface="Trenda IG Text" pitchFamily="34" charset="0"/>
                <a:ea typeface="Trenda IG Text" pitchFamily="34" charset="-122"/>
                <a:cs typeface="Trenda IG Text" pitchFamily="34" charset="-120"/>
              </a:rPr>
              <a:t>The obvious alternative was to scope from the permission sets the pod's users are assigned. Measured in the sandbox, those grant write on 1,319 objects. That is most of the org rather than a pod, and it would exceed the export limit immediately. The diagnostic stays, as a warning rather than a source.</a:t>
            </a:r>
          </a:p>
        </p:txBody>
      </p:sp>
      <p:sp>
        <p:nvSpPr>
          <p:cNvPr id="377" name="Text 378"/>
          <p:cNvSpPr txBox="1"/>
          <p:nvPr/>
        </p:nvSpPr>
        <p:spPr>
          <a:xfrm>
            <a:off x="365760" y="5358384"/>
            <a:ext cx="11457432" cy="457200"/>
          </a:xfrm>
          <a:prstGeom prst="rect">
            <a:avLst/>
          </a:prstGeom>
          <a:noFill/>
          <a:ln/>
        </p:spPr>
        <p:txBody>
          <a:bodyPr wrap="square" lIns="0" tIns="0" rIns="0" bIns="0" rtlCol="0" anchor="t"/>
          <a:lstStyle/>
          <a:p>
            <a:pPr marL="0" indent="0" algn="l">
              <a:buNone/>
            </a:pPr>
            <a:r>
              <a:rPr lang="en-US" sz="850" i="1" dirty="0">
                <a:solidFill>
                  <a:srgbClr val="5C6E85"/>
                </a:solidFill>
                <a:latin typeface="Trenda IG Text" pitchFamily="34" charset="0"/>
                <a:ea typeface="Trenda IG Text" pitchFamily="34" charset="-122"/>
                <a:cs typeface="Trenda IG Text" pitchFamily="34" charset="-120"/>
              </a:rPr>
              <a:t>Every object in scope can state which of the three signals put it there, so “why is this in scope” always has an answer that somebody can check.</a:t>
            </a:r>
          </a:p>
        </p:txBody>
      </p:sp>
    </p:spTree>
  </p:cSld>
  <p:clrMapOvr>
    <a:masterClrMapping/>
  </p:clrMapOvr>
</p:sld>
</file>

<file path=ppt/slides/slide14.xml><?xml version="1.0" encoding="utf-8"?>
<!-- AI-CHANGE-CONSOLE-POC-SLIDE -->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379" name="Text 380"/>
          <p:cNvSpPr txBox="1"/>
          <p:nvPr/>
        </p:nvSpPr>
        <p:spPr>
          <a:xfrm>
            <a:off x="365760" y="256032"/>
            <a:ext cx="11457432" cy="347472"/>
          </a:xfrm>
          <a:prstGeom prst="rect">
            <a:avLst/>
          </a:prstGeom>
          <a:noFill/>
          <a:ln/>
        </p:spPr>
        <p:txBody>
          <a:bodyPr wrap="square" lIns="0" tIns="0" rIns="0" bIns="0" rtlCol="0" anchor="ctr"/>
          <a:lstStyle/>
          <a:p>
            <a:pPr marL="0" indent="0" algn="l">
              <a:buNone/>
            </a:pPr>
            <a:r>
              <a:rPr lang="en-US" sz="2000" dirty="0">
                <a:solidFill>
                  <a:srgbClr val="0E1B2E"/>
                </a:solidFill>
                <a:latin typeface="Trenda IG Display Bold" pitchFamily="34" charset="0"/>
                <a:ea typeface="Trenda IG Display Bold" pitchFamily="34" charset="-122"/>
                <a:cs typeface="Trenda IG Display Bold" pitchFamily="34" charset="-120"/>
              </a:rPr>
              <a:t>Where the map is stored, and why it is a file</a:t>
            </a:r>
          </a:p>
        </p:txBody>
      </p:sp>
      <p:sp>
        <p:nvSpPr>
          <p:cNvPr id="381" name="Text 382"/>
          <p:cNvSpPr txBox="1"/>
          <p:nvPr/>
        </p:nvSpPr>
        <p:spPr>
          <a:xfrm>
            <a:off x="365760" y="640080"/>
            <a:ext cx="11457432" cy="219456"/>
          </a:xfrm>
          <a:prstGeom prst="rect">
            <a:avLst/>
          </a:prstGeom>
          <a:noFill/>
          <a:ln/>
        </p:spPr>
        <p:txBody>
          <a:bodyPr wrap="square" lIns="0" tIns="0" rIns="0" bIns="0" rtlCol="0" anchor="ctr"/>
          <a:lstStyle/>
          <a:p>
            <a:pPr marL="0" indent="0" algn="l">
              <a:buNone/>
            </a:pPr>
            <a:r>
              <a:rPr lang="en-US" sz="950" dirty="0">
                <a:solidFill>
                  <a:srgbClr val="5C6E85"/>
                </a:solidFill>
                <a:latin typeface="Trenda IG Display" pitchFamily="34" charset="0"/>
                <a:ea typeface="Trenda IG Display" pitchFamily="34" charset="-122"/>
                <a:cs typeface="Trenda IG Display" pitchFamily="34" charset="-120"/>
              </a:rPr>
              <a:t>The first attempt stored the graph as records. It filled the sandbox and blocked everyone from creating anything.</a:t>
            </a:r>
          </a:p>
        </p:txBody>
      </p:sp>
      <p:sp>
        <p:nvSpPr>
          <p:cNvPr id="383" name="Text 384"/>
          <p:cNvSpPr txBox="1"/>
          <p:nvPr/>
        </p:nvSpPr>
        <p:spPr>
          <a:xfrm>
            <a:off x="365760" y="969264"/>
            <a:ext cx="11457432" cy="164592"/>
          </a:xfrm>
          <a:prstGeom prst="rect">
            <a:avLst/>
          </a:prstGeom>
          <a:noFill/>
          <a:ln/>
        </p:spPr>
        <p:txBody>
          <a:bodyPr wrap="square" lIns="0" tIns="0" rIns="0" bIns="0" rtlCol="0" anchor="t"/>
          <a:lstStyle/>
          <a:p>
            <a:pPr marL="0" indent="0" algn="l">
              <a:buNone/>
            </a:pPr>
            <a:r>
              <a:rPr lang="en-US" sz="700" b="1" dirty="0">
                <a:solidFill>
                  <a:srgbClr val="00757F"/>
                </a:solidFill>
                <a:latin typeface="Trenda IG Text Semibold" pitchFamily="34" charset="0"/>
                <a:ea typeface="Trenda IG Text Semibold" pitchFamily="34" charset="-122"/>
                <a:cs typeface="Trenda IG Text Semibold" pitchFamily="34" charset="-120"/>
              </a:rPr>
              <a:t>LAYER 5  ·  GRAPH STORAGE</a:t>
            </a:r>
          </a:p>
        </p:txBody>
      </p:sp>
      <p:sp>
        <p:nvSpPr>
          <p:cNvPr id="385" name="Shape 386"/>
          <p:cNvSpPr/>
          <p:nvPr/>
        </p:nvSpPr>
        <p:spPr>
          <a:xfrm>
            <a:off x="365760" y="1298448"/>
            <a:ext cx="5614416" cy="1783080"/>
          </a:xfrm>
          <a:prstGeom prst="roundRect">
            <a:avLst>
              <a:gd name="adj" fmla="val 10000"/>
            </a:avLst>
          </a:prstGeom>
          <a:solidFill>
            <a:srgbClr val="FBEAEF"/>
          </a:solidFill>
          <a:ln>
            <a:noFill/>
          </a:ln>
        </p:spPr>
        <p:txBody>
          <a:bodyPr/>
          <a:lstStyle/>
          <a:p>
            <a:endParaRPr lang="en-US"/>
          </a:p>
        </p:txBody>
      </p:sp>
      <p:sp>
        <p:nvSpPr>
          <p:cNvPr id="387" name="Shape 388"/>
          <p:cNvSpPr/>
          <p:nvPr/>
        </p:nvSpPr>
        <p:spPr>
          <a:xfrm>
            <a:off x="585216" y="1463040"/>
            <a:ext cx="1600200" cy="237744"/>
          </a:xfrm>
          <a:prstGeom prst="roundRect">
            <a:avLst>
              <a:gd name="adj" fmla="val 18000"/>
            </a:avLst>
          </a:prstGeom>
          <a:solidFill>
            <a:srgbClr val="C2185B"/>
          </a:solidFill>
          <a:ln>
            <a:noFill/>
          </a:ln>
        </p:spPr>
        <p:txBody>
          <a:bodyPr/>
          <a:lstStyle/>
          <a:p>
            <a:endParaRPr lang="en-US"/>
          </a:p>
        </p:txBody>
      </p:sp>
      <p:sp>
        <p:nvSpPr>
          <p:cNvPr id="389" name="Text 390"/>
          <p:cNvSpPr txBox="1"/>
          <p:nvPr/>
        </p:nvSpPr>
        <p:spPr>
          <a:xfrm>
            <a:off x="585216" y="1463040"/>
            <a:ext cx="1600200" cy="237744"/>
          </a:xfrm>
          <a:prstGeom prst="rect">
            <a:avLst/>
          </a:prstGeom>
          <a:noFill/>
          <a:ln/>
        </p:spPr>
        <p:txBody>
          <a:bodyPr wrap="square" lIns="0" tIns="0" rIns="0" bIns="0" rtlCol="0" anchor="ctr"/>
          <a:lstStyle/>
          <a:p>
            <a:pPr marL="0" indent="0" algn="ctr">
              <a:buNone/>
            </a:pPr>
            <a:r>
              <a:rPr lang="en-US" sz="700" b="1" dirty="0">
                <a:solidFill>
                  <a:srgbClr val="FFFFFF"/>
                </a:solidFill>
                <a:latin typeface="Trenda IG Text Semibold" pitchFamily="34" charset="0"/>
                <a:ea typeface="Trenda IG Text Semibold" pitchFamily="34" charset="-122"/>
                <a:cs typeface="Trenda IG Text Semibold" pitchFamily="34" charset="-120"/>
              </a:rPr>
              <a:t>ATTEMPT ONE</a:t>
            </a:r>
          </a:p>
        </p:txBody>
      </p:sp>
      <p:sp>
        <p:nvSpPr>
          <p:cNvPr id="391" name="Text 392"/>
          <p:cNvSpPr txBox="1"/>
          <p:nvPr/>
        </p:nvSpPr>
        <p:spPr>
          <a:xfrm>
            <a:off x="585216" y="1810512"/>
            <a:ext cx="5212080" cy="201168"/>
          </a:xfrm>
          <a:prstGeom prst="rect">
            <a:avLst/>
          </a:prstGeom>
          <a:noFill/>
          <a:ln/>
        </p:spPr>
        <p:txBody>
          <a:bodyPr wrap="square" lIns="0" tIns="0" rIns="0" bIns="0" rtlCol="0" anchor="t"/>
          <a:lstStyle/>
          <a:p>
            <a:pPr marL="0" indent="0" algn="l">
              <a:buNone/>
            </a:pPr>
            <a:r>
              <a:rPr lang="en-US" sz="950" b="1" dirty="0">
                <a:solidFill>
                  <a:srgbClr val="8C2A48"/>
                </a:solidFill>
                <a:latin typeface="Trenda IG Text Semibold" pitchFamily="34" charset="0"/>
                <a:ea typeface="Trenda IG Text Semibold" pitchFamily="34" charset="-122"/>
                <a:cs typeface="Trenda IG Text Semibold" pitchFamily="34" charset="-120"/>
              </a:rPr>
              <a:t>One row per point, one per line</a:t>
            </a:r>
          </a:p>
        </p:txBody>
      </p:sp>
      <p:sp>
        <p:nvSpPr>
          <p:cNvPr id="393" name="Text 394"/>
          <p:cNvSpPr txBox="1"/>
          <p:nvPr/>
        </p:nvSpPr>
        <p:spPr>
          <a:xfrm>
            <a:off x="585216" y="2084832"/>
            <a:ext cx="5212080" cy="914400"/>
          </a:xfrm>
          <a:prstGeom prst="rect">
            <a:avLst/>
          </a:prstGeom>
          <a:noFill/>
          <a:ln/>
        </p:spPr>
        <p:txBody>
          <a:bodyPr wrap="square" lIns="0" tIns="0" rIns="0" bIns="0" rtlCol="0" anchor="t"/>
          <a:lstStyle/>
          <a:p>
            <a:pPr marL="0" indent="0" algn="l">
              <a:lnSpc>
                <a:spcPct val="130000"/>
              </a:lnSpc>
              <a:buNone/>
            </a:pPr>
            <a:r>
              <a:rPr lang="en-US" sz="800" dirty="0">
                <a:solidFill>
                  <a:srgbClr val="8C2A48"/>
                </a:solidFill>
                <a:latin typeface="Trenda IG Text" pitchFamily="34" charset="0"/>
                <a:ea typeface="Trenda IG Text" pitchFamily="34" charset="-122"/>
                <a:cs typeface="Trenda IG Text" pitchFamily="34" charset="-120"/>
              </a:rPr>
              <a:t>For a single pod that came to 113,310 rows and roughly 221 MB of data storage. It filled the sandbox, blocked record creation org-wide, and a plain delete frees nothing for fifteen days.</a:t>
            </a:r>
          </a:p>
        </p:txBody>
      </p:sp>
      <p:sp>
        <p:nvSpPr>
          <p:cNvPr id="395" name="Shape 396"/>
          <p:cNvSpPr/>
          <p:nvPr/>
        </p:nvSpPr>
        <p:spPr>
          <a:xfrm>
            <a:off x="6208776" y="1298448"/>
            <a:ext cx="5614416" cy="1783080"/>
          </a:xfrm>
          <a:prstGeom prst="roundRect">
            <a:avLst>
              <a:gd name="adj" fmla="val 10000"/>
            </a:avLst>
          </a:prstGeom>
          <a:solidFill>
            <a:srgbClr val="E6F2F0"/>
          </a:solidFill>
          <a:ln>
            <a:noFill/>
          </a:ln>
        </p:spPr>
        <p:txBody>
          <a:bodyPr/>
          <a:lstStyle/>
          <a:p>
            <a:endParaRPr lang="en-US"/>
          </a:p>
        </p:txBody>
      </p:sp>
      <p:sp>
        <p:nvSpPr>
          <p:cNvPr id="397" name="Shape 398"/>
          <p:cNvSpPr/>
          <p:nvPr/>
        </p:nvSpPr>
        <p:spPr>
          <a:xfrm>
            <a:off x="6428232" y="1463040"/>
            <a:ext cx="1600200" cy="237744"/>
          </a:xfrm>
          <a:prstGeom prst="roundRect">
            <a:avLst>
              <a:gd name="adj" fmla="val 18000"/>
            </a:avLst>
          </a:prstGeom>
          <a:solidFill>
            <a:srgbClr val="0E8A7D"/>
          </a:solidFill>
          <a:ln>
            <a:noFill/>
          </a:ln>
        </p:spPr>
        <p:txBody>
          <a:bodyPr/>
          <a:lstStyle/>
          <a:p>
            <a:endParaRPr lang="en-US"/>
          </a:p>
        </p:txBody>
      </p:sp>
      <p:sp>
        <p:nvSpPr>
          <p:cNvPr id="399" name="Text 400"/>
          <p:cNvSpPr txBox="1"/>
          <p:nvPr/>
        </p:nvSpPr>
        <p:spPr>
          <a:xfrm>
            <a:off x="6428232" y="1463040"/>
            <a:ext cx="1600200" cy="237744"/>
          </a:xfrm>
          <a:prstGeom prst="rect">
            <a:avLst/>
          </a:prstGeom>
          <a:noFill/>
          <a:ln/>
        </p:spPr>
        <p:txBody>
          <a:bodyPr wrap="square" lIns="0" tIns="0" rIns="0" bIns="0" rtlCol="0" anchor="ctr"/>
          <a:lstStyle/>
          <a:p>
            <a:pPr marL="0" indent="0" algn="ctr">
              <a:buNone/>
            </a:pPr>
            <a:r>
              <a:rPr lang="en-US" sz="700" b="1" dirty="0">
                <a:solidFill>
                  <a:srgbClr val="FFFFFF"/>
                </a:solidFill>
                <a:latin typeface="Trenda IG Text Semibold" pitchFamily="34" charset="0"/>
                <a:ea typeface="Trenda IG Text Semibold" pitchFamily="34" charset="-122"/>
                <a:cs typeface="Trenda IG Text Semibold" pitchFamily="34" charset="-120"/>
              </a:rPr>
              <a:t>ATTEMPT TWO</a:t>
            </a:r>
          </a:p>
        </p:txBody>
      </p:sp>
      <p:sp>
        <p:nvSpPr>
          <p:cNvPr id="401" name="Text 402"/>
          <p:cNvSpPr txBox="1"/>
          <p:nvPr/>
        </p:nvSpPr>
        <p:spPr>
          <a:xfrm>
            <a:off x="6428232" y="1810512"/>
            <a:ext cx="5212080" cy="201168"/>
          </a:xfrm>
          <a:prstGeom prst="rect">
            <a:avLst/>
          </a:prstGeom>
          <a:noFill/>
          <a:ln/>
        </p:spPr>
        <p:txBody>
          <a:bodyPr wrap="square" lIns="0" tIns="0" rIns="0" bIns="0" rtlCol="0" anchor="t"/>
          <a:lstStyle/>
          <a:p>
            <a:pPr marL="0" indent="0" algn="l">
              <a:buNone/>
            </a:pPr>
            <a:r>
              <a:rPr lang="en-US" sz="950" b="1" dirty="0">
                <a:solidFill>
                  <a:srgbClr val="0B6B60"/>
                </a:solidFill>
                <a:latin typeface="Trenda IG Text Semibold" pitchFamily="34" charset="0"/>
                <a:ea typeface="Trenda IG Text Semibold" pitchFamily="34" charset="-122"/>
                <a:cs typeface="Trenda IG Text Semibold" pitchFamily="34" charset="-120"/>
              </a:rPr>
              <a:t>One JSON document, saved as a file</a:t>
            </a:r>
          </a:p>
        </p:txBody>
      </p:sp>
      <p:sp>
        <p:nvSpPr>
          <p:cNvPr id="403" name="Text 404"/>
          <p:cNvSpPr txBox="1"/>
          <p:nvPr/>
        </p:nvSpPr>
        <p:spPr>
          <a:xfrm>
            <a:off x="6428232" y="2084832"/>
            <a:ext cx="5212080" cy="914400"/>
          </a:xfrm>
          <a:prstGeom prst="rect">
            <a:avLst/>
          </a:prstGeom>
          <a:noFill/>
          <a:ln/>
        </p:spPr>
        <p:txBody>
          <a:bodyPr wrap="square" lIns="0" tIns="0" rIns="0" bIns="0" rtlCol="0" anchor="t"/>
          <a:lstStyle/>
          <a:p>
            <a:pPr marL="0" indent="0" algn="l">
              <a:lnSpc>
                <a:spcPct val="130000"/>
              </a:lnSpc>
              <a:buNone/>
            </a:pPr>
            <a:r>
              <a:rPr lang="en-US" sz="800" dirty="0">
                <a:solidFill>
                  <a:srgbClr val="0B6B60"/>
                </a:solidFill>
                <a:latin typeface="Trenda IG Text" pitchFamily="34" charset="0"/>
                <a:ea typeface="Trenda IG Text" pitchFamily="34" charset="-122"/>
                <a:cs typeface="Trenda IG Text" pitchFamily="34" charset="-120"/>
              </a:rPr>
              <a:t>The same graph, about 1.8 MB. Written in a single operation, versioned on every rebuild, and counted against file storage rather than data storage — so it stops competing with real records.</a:t>
            </a:r>
          </a:p>
        </p:txBody>
      </p:sp>
      <p:sp>
        <p:nvSpPr>
          <p:cNvPr id="405" name="Text 406"/>
          <p:cNvSpPr txBox="1"/>
          <p:nvPr/>
        </p:nvSpPr>
        <p:spPr>
          <a:xfrm>
            <a:off x="365760" y="3255264"/>
            <a:ext cx="548640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The options, and why each was rejected or chosen</a:t>
            </a:r>
          </a:p>
        </p:txBody>
      </p:sp>
      <p:sp>
        <p:nvSpPr>
          <p:cNvPr id="407" name="Shape 408"/>
          <p:cNvSpPr/>
          <p:nvPr/>
        </p:nvSpPr>
        <p:spPr>
          <a:xfrm>
            <a:off x="365760" y="3547872"/>
            <a:ext cx="11457432" cy="402336"/>
          </a:xfrm>
          <a:prstGeom prst="rect">
            <a:avLst/>
          </a:prstGeom>
          <a:solidFill>
            <a:srgbClr val="FFFFFF"/>
          </a:solidFill>
          <a:ln w="9525">
            <a:solidFill>
              <a:srgbClr val="DCE4EE"/>
            </a:solidFill>
          </a:ln>
        </p:spPr>
        <p:txBody>
          <a:bodyPr/>
          <a:lstStyle/>
          <a:p>
            <a:endParaRPr lang="en-US"/>
          </a:p>
        </p:txBody>
      </p:sp>
      <p:sp>
        <p:nvSpPr>
          <p:cNvPr id="409" name="Text 410"/>
          <p:cNvSpPr txBox="1"/>
          <p:nvPr/>
        </p:nvSpPr>
        <p:spPr>
          <a:xfrm>
            <a:off x="585216" y="3657600"/>
            <a:ext cx="2743200" cy="201168"/>
          </a:xfrm>
          <a:prstGeom prst="rect">
            <a:avLst/>
          </a:prstGeom>
          <a:noFill/>
          <a:ln/>
        </p:spPr>
        <p:txBody>
          <a:bodyPr wrap="square" lIns="0" tIns="0" rIns="0" bIns="0" rtlCol="0" anchor="t"/>
          <a:lstStyle/>
          <a:p>
            <a:pPr marL="0" indent="0" algn="l">
              <a:buNone/>
            </a:pPr>
            <a:r>
              <a:rPr lang="en-US" sz="850" b="1" dirty="0">
                <a:solidFill>
                  <a:srgbClr val="0E1B2E"/>
                </a:solidFill>
                <a:latin typeface="Trenda IG Text Semibold" pitchFamily="34" charset="0"/>
                <a:ea typeface="Trenda IG Text Semibold" pitchFamily="34" charset="-122"/>
                <a:cs typeface="Trenda IG Text Semibold" pitchFamily="34" charset="-120"/>
              </a:rPr>
              <a:t>Custom object records</a:t>
            </a:r>
          </a:p>
        </p:txBody>
      </p:sp>
      <p:sp>
        <p:nvSpPr>
          <p:cNvPr id="411" name="Text 412"/>
          <p:cNvSpPr txBox="1"/>
          <p:nvPr/>
        </p:nvSpPr>
        <p:spPr>
          <a:xfrm>
            <a:off x="3429000" y="3657600"/>
            <a:ext cx="1188720" cy="201168"/>
          </a:xfrm>
          <a:prstGeom prst="rect">
            <a:avLst/>
          </a:prstGeom>
          <a:noFill/>
          <a:ln/>
        </p:spPr>
        <p:txBody>
          <a:bodyPr wrap="square" lIns="0" tIns="0" rIns="0" bIns="0" rtlCol="0" anchor="t"/>
          <a:lstStyle/>
          <a:p>
            <a:pPr marL="0" indent="0" algn="l">
              <a:buNone/>
            </a:pPr>
            <a:r>
              <a:rPr lang="en-US" sz="850" b="1" dirty="0">
                <a:solidFill>
                  <a:srgbClr val="C2185B"/>
                </a:solidFill>
                <a:latin typeface="Trenda IG Text Semibold" pitchFamily="34" charset="0"/>
                <a:ea typeface="Trenda IG Text Semibold" pitchFamily="34" charset="-122"/>
                <a:cs typeface="Trenda IG Text Semibold" pitchFamily="34" charset="-120"/>
              </a:rPr>
              <a:t>Rejected</a:t>
            </a:r>
          </a:p>
        </p:txBody>
      </p:sp>
      <p:sp>
        <p:nvSpPr>
          <p:cNvPr id="413" name="Text 414"/>
          <p:cNvSpPr txBox="1"/>
          <p:nvPr/>
        </p:nvSpPr>
        <p:spPr>
          <a:xfrm>
            <a:off x="4754880" y="3657600"/>
            <a:ext cx="6858000" cy="201168"/>
          </a:xfrm>
          <a:prstGeom prst="rect">
            <a:avLst/>
          </a:prstGeom>
          <a:noFill/>
          <a:ln/>
        </p:spPr>
        <p:txBody>
          <a:bodyPr wrap="square" lIns="0" tIns="0" rIns="0" bIns="0" rtlCol="0" anchor="t"/>
          <a:lstStyle/>
          <a:p>
            <a:pPr marL="0" indent="0" algn="l">
              <a:buNone/>
            </a:pPr>
            <a:r>
              <a:rPr lang="en-US" sz="850" dirty="0">
                <a:solidFill>
                  <a:srgbClr val="5C6E85"/>
                </a:solidFill>
                <a:latin typeface="Trenda IG Text" pitchFamily="34" charset="0"/>
                <a:ea typeface="Trenda IG Text" pitchFamily="34" charset="-122"/>
                <a:cs typeface="Trenda IG Text" pitchFamily="34" charset="-120"/>
              </a:rPr>
              <a:t>221 MB for one pod. Does not survive a second one.</a:t>
            </a:r>
          </a:p>
        </p:txBody>
      </p:sp>
      <p:sp>
        <p:nvSpPr>
          <p:cNvPr id="415" name="Shape 416"/>
          <p:cNvSpPr/>
          <p:nvPr/>
        </p:nvSpPr>
        <p:spPr>
          <a:xfrm>
            <a:off x="365760" y="4023360"/>
            <a:ext cx="11457432" cy="402336"/>
          </a:xfrm>
          <a:prstGeom prst="rect">
            <a:avLst/>
          </a:prstGeom>
          <a:solidFill>
            <a:srgbClr val="FFFFFF"/>
          </a:solidFill>
          <a:ln w="9525">
            <a:solidFill>
              <a:srgbClr val="DCE4EE"/>
            </a:solidFill>
          </a:ln>
        </p:spPr>
        <p:txBody>
          <a:bodyPr/>
          <a:lstStyle/>
          <a:p>
            <a:endParaRPr lang="en-US"/>
          </a:p>
        </p:txBody>
      </p:sp>
      <p:sp>
        <p:nvSpPr>
          <p:cNvPr id="417" name="Text 418"/>
          <p:cNvSpPr txBox="1"/>
          <p:nvPr/>
        </p:nvSpPr>
        <p:spPr>
          <a:xfrm>
            <a:off x="585216" y="4133088"/>
            <a:ext cx="2743200" cy="201168"/>
          </a:xfrm>
          <a:prstGeom prst="rect">
            <a:avLst/>
          </a:prstGeom>
          <a:noFill/>
          <a:ln/>
        </p:spPr>
        <p:txBody>
          <a:bodyPr wrap="square" lIns="0" tIns="0" rIns="0" bIns="0" rtlCol="0" anchor="t"/>
          <a:lstStyle/>
          <a:p>
            <a:pPr marL="0" indent="0" algn="l">
              <a:buNone/>
            </a:pPr>
            <a:r>
              <a:rPr lang="en-US" sz="850" b="1" dirty="0">
                <a:solidFill>
                  <a:srgbClr val="0E1B2E"/>
                </a:solidFill>
                <a:latin typeface="Trenda IG Text Semibold" pitchFamily="34" charset="0"/>
                <a:ea typeface="Trenda IG Text Semibold" pitchFamily="34" charset="-122"/>
                <a:cs typeface="Trenda IG Text Semibold" pitchFamily="34" charset="-120"/>
              </a:rPr>
              <a:t>Static resource</a:t>
            </a:r>
          </a:p>
        </p:txBody>
      </p:sp>
      <p:sp>
        <p:nvSpPr>
          <p:cNvPr id="419" name="Text 420"/>
          <p:cNvSpPr txBox="1"/>
          <p:nvPr/>
        </p:nvSpPr>
        <p:spPr>
          <a:xfrm>
            <a:off x="3429000" y="4133088"/>
            <a:ext cx="1188720" cy="201168"/>
          </a:xfrm>
          <a:prstGeom prst="rect">
            <a:avLst/>
          </a:prstGeom>
          <a:noFill/>
          <a:ln/>
        </p:spPr>
        <p:txBody>
          <a:bodyPr wrap="square" lIns="0" tIns="0" rIns="0" bIns="0" rtlCol="0" anchor="t"/>
          <a:lstStyle/>
          <a:p>
            <a:pPr marL="0" indent="0" algn="l">
              <a:buNone/>
            </a:pPr>
            <a:r>
              <a:rPr lang="en-US" sz="850" b="1" dirty="0">
                <a:solidFill>
                  <a:srgbClr val="C2185B"/>
                </a:solidFill>
                <a:latin typeface="Trenda IG Text Semibold" pitchFamily="34" charset="0"/>
                <a:ea typeface="Trenda IG Text Semibold" pitchFamily="34" charset="-122"/>
                <a:cs typeface="Trenda IG Text Semibold" pitchFamily="34" charset="-120"/>
              </a:rPr>
              <a:t>Rejected</a:t>
            </a:r>
          </a:p>
        </p:txBody>
      </p:sp>
      <p:sp>
        <p:nvSpPr>
          <p:cNvPr id="421" name="Text 422"/>
          <p:cNvSpPr txBox="1"/>
          <p:nvPr/>
        </p:nvSpPr>
        <p:spPr>
          <a:xfrm>
            <a:off x="4754880" y="4133088"/>
            <a:ext cx="6858000" cy="201168"/>
          </a:xfrm>
          <a:prstGeom prst="rect">
            <a:avLst/>
          </a:prstGeom>
          <a:noFill/>
          <a:ln/>
        </p:spPr>
        <p:txBody>
          <a:bodyPr wrap="square" lIns="0" tIns="0" rIns="0" bIns="0" rtlCol="0" anchor="t"/>
          <a:lstStyle/>
          <a:p>
            <a:pPr marL="0" indent="0" algn="l">
              <a:buNone/>
            </a:pPr>
            <a:r>
              <a:rPr lang="en-US" sz="850" dirty="0">
                <a:solidFill>
                  <a:srgbClr val="5C6E85"/>
                </a:solidFill>
                <a:latin typeface="Trenda IG Text" pitchFamily="34" charset="0"/>
                <a:ea typeface="Trenda IG Text" pitchFamily="34" charset="-122"/>
                <a:cs typeface="Trenda IG Text" pitchFamily="34" charset="-120"/>
              </a:rPr>
              <a:t>Cannot be written from Apex at runtime without a Metadata API call.</a:t>
            </a:r>
          </a:p>
        </p:txBody>
      </p:sp>
      <p:sp>
        <p:nvSpPr>
          <p:cNvPr id="423" name="Shape 424"/>
          <p:cNvSpPr/>
          <p:nvPr/>
        </p:nvSpPr>
        <p:spPr>
          <a:xfrm>
            <a:off x="365760" y="4498848"/>
            <a:ext cx="11457432" cy="402336"/>
          </a:xfrm>
          <a:prstGeom prst="rect">
            <a:avLst/>
          </a:prstGeom>
          <a:solidFill>
            <a:srgbClr val="FFFFFF"/>
          </a:solidFill>
          <a:ln w="9525">
            <a:solidFill>
              <a:srgbClr val="DCE4EE"/>
            </a:solidFill>
          </a:ln>
        </p:spPr>
        <p:txBody>
          <a:bodyPr/>
          <a:lstStyle/>
          <a:p>
            <a:endParaRPr lang="en-US"/>
          </a:p>
        </p:txBody>
      </p:sp>
      <p:sp>
        <p:nvSpPr>
          <p:cNvPr id="425" name="Text 426"/>
          <p:cNvSpPr txBox="1"/>
          <p:nvPr/>
        </p:nvSpPr>
        <p:spPr>
          <a:xfrm>
            <a:off x="585216" y="4608576"/>
            <a:ext cx="2743200" cy="201168"/>
          </a:xfrm>
          <a:prstGeom prst="rect">
            <a:avLst/>
          </a:prstGeom>
          <a:noFill/>
          <a:ln/>
        </p:spPr>
        <p:txBody>
          <a:bodyPr wrap="square" lIns="0" tIns="0" rIns="0" bIns="0" rtlCol="0" anchor="t"/>
          <a:lstStyle/>
          <a:p>
            <a:pPr marL="0" indent="0" algn="l">
              <a:buNone/>
            </a:pPr>
            <a:r>
              <a:rPr lang="en-US" sz="850" b="1" dirty="0">
                <a:solidFill>
                  <a:srgbClr val="0E1B2E"/>
                </a:solidFill>
                <a:latin typeface="Trenda IG Text Semibold" pitchFamily="34" charset="0"/>
                <a:ea typeface="Trenda IG Text Semibold" pitchFamily="34" charset="-122"/>
                <a:cs typeface="Trenda IG Text Semibold" pitchFamily="34" charset="-120"/>
              </a:rPr>
              <a:t>Git, fetched at run time</a:t>
            </a:r>
          </a:p>
        </p:txBody>
      </p:sp>
      <p:sp>
        <p:nvSpPr>
          <p:cNvPr id="427" name="Text 428"/>
          <p:cNvSpPr txBox="1"/>
          <p:nvPr/>
        </p:nvSpPr>
        <p:spPr>
          <a:xfrm>
            <a:off x="3429000" y="4608576"/>
            <a:ext cx="1188720" cy="201168"/>
          </a:xfrm>
          <a:prstGeom prst="rect">
            <a:avLst/>
          </a:prstGeom>
          <a:noFill/>
          <a:ln/>
        </p:spPr>
        <p:txBody>
          <a:bodyPr wrap="square" lIns="0" tIns="0" rIns="0" bIns="0" rtlCol="0" anchor="t"/>
          <a:lstStyle/>
          <a:p>
            <a:pPr marL="0" indent="0" algn="l">
              <a:buNone/>
            </a:pPr>
            <a:r>
              <a:rPr lang="en-US" sz="850" b="1" dirty="0">
                <a:solidFill>
                  <a:srgbClr val="5C6E85"/>
                </a:solidFill>
                <a:latin typeface="Trenda IG Text Semibold" pitchFamily="34" charset="0"/>
                <a:ea typeface="Trenda IG Text Semibold" pitchFamily="34" charset="-122"/>
                <a:cs typeface="Trenda IG Text Semibold" pitchFamily="34" charset="-120"/>
              </a:rPr>
              <a:t>Deferred</a:t>
            </a:r>
          </a:p>
        </p:txBody>
      </p:sp>
      <p:sp>
        <p:nvSpPr>
          <p:cNvPr id="429" name="Text 430"/>
          <p:cNvSpPr txBox="1"/>
          <p:nvPr/>
        </p:nvSpPr>
        <p:spPr>
          <a:xfrm>
            <a:off x="4754880" y="4608576"/>
            <a:ext cx="6858000" cy="201168"/>
          </a:xfrm>
          <a:prstGeom prst="rect">
            <a:avLst/>
          </a:prstGeom>
          <a:noFill/>
          <a:ln/>
        </p:spPr>
        <p:txBody>
          <a:bodyPr wrap="square" lIns="0" tIns="0" rIns="0" bIns="0" rtlCol="0" anchor="t"/>
          <a:lstStyle/>
          <a:p>
            <a:pPr marL="0" indent="0" algn="l">
              <a:buNone/>
            </a:pPr>
            <a:r>
              <a:rPr lang="en-US" sz="850" dirty="0">
                <a:solidFill>
                  <a:srgbClr val="5C6E85"/>
                </a:solidFill>
                <a:latin typeface="Trenda IG Text" pitchFamily="34" charset="0"/>
                <a:ea typeface="Trenda IG Text" pitchFamily="34" charset="-122"/>
                <a:cs typeface="Trenda IG Text" pitchFamily="34" charset="-120"/>
              </a:rPr>
              <a:t>Needs a network call and a stored token for every read.</a:t>
            </a:r>
          </a:p>
        </p:txBody>
      </p:sp>
      <p:sp>
        <p:nvSpPr>
          <p:cNvPr id="431" name="Shape 432"/>
          <p:cNvSpPr/>
          <p:nvPr/>
        </p:nvSpPr>
        <p:spPr>
          <a:xfrm>
            <a:off x="365760" y="4974336"/>
            <a:ext cx="11457432" cy="402336"/>
          </a:xfrm>
          <a:prstGeom prst="rect">
            <a:avLst/>
          </a:prstGeom>
          <a:solidFill>
            <a:srgbClr val="E6F2F0"/>
          </a:solidFill>
          <a:ln w="9525">
            <a:solidFill>
              <a:srgbClr val="DCE4EE"/>
            </a:solidFill>
          </a:ln>
        </p:spPr>
        <p:txBody>
          <a:bodyPr/>
          <a:lstStyle/>
          <a:p>
            <a:endParaRPr lang="en-US"/>
          </a:p>
        </p:txBody>
      </p:sp>
      <p:sp>
        <p:nvSpPr>
          <p:cNvPr id="433" name="Text 434"/>
          <p:cNvSpPr txBox="1"/>
          <p:nvPr/>
        </p:nvSpPr>
        <p:spPr>
          <a:xfrm>
            <a:off x="585216" y="5084064"/>
            <a:ext cx="2743200" cy="201168"/>
          </a:xfrm>
          <a:prstGeom prst="rect">
            <a:avLst/>
          </a:prstGeom>
          <a:noFill/>
          <a:ln/>
        </p:spPr>
        <p:txBody>
          <a:bodyPr wrap="square" lIns="0" tIns="0" rIns="0" bIns="0" rtlCol="0" anchor="t"/>
          <a:lstStyle/>
          <a:p>
            <a:pPr marL="0" indent="0" algn="l">
              <a:buNone/>
            </a:pPr>
            <a:r>
              <a:rPr lang="en-US" sz="850" b="1" dirty="0">
                <a:solidFill>
                  <a:srgbClr val="0E1B2E"/>
                </a:solidFill>
                <a:latin typeface="Trenda IG Text Semibold" pitchFamily="34" charset="0"/>
                <a:ea typeface="Trenda IG Text Semibold" pitchFamily="34" charset="-122"/>
                <a:cs typeface="Trenda IG Text Semibold" pitchFamily="34" charset="-120"/>
              </a:rPr>
              <a:t>Salesforce File</a:t>
            </a:r>
          </a:p>
        </p:txBody>
      </p:sp>
      <p:sp>
        <p:nvSpPr>
          <p:cNvPr id="435" name="Text 436"/>
          <p:cNvSpPr txBox="1"/>
          <p:nvPr/>
        </p:nvSpPr>
        <p:spPr>
          <a:xfrm>
            <a:off x="3429000" y="5084064"/>
            <a:ext cx="1188720" cy="201168"/>
          </a:xfrm>
          <a:prstGeom prst="rect">
            <a:avLst/>
          </a:prstGeom>
          <a:noFill/>
          <a:ln/>
        </p:spPr>
        <p:txBody>
          <a:bodyPr wrap="square" lIns="0" tIns="0" rIns="0" bIns="0" rtlCol="0" anchor="t"/>
          <a:lstStyle/>
          <a:p>
            <a:pPr marL="0" indent="0" algn="l">
              <a:buNone/>
            </a:pPr>
            <a:r>
              <a:rPr lang="en-US" sz="850" b="1" dirty="0">
                <a:solidFill>
                  <a:srgbClr val="2E7D32"/>
                </a:solidFill>
                <a:latin typeface="Trenda IG Text Semibold" pitchFamily="34" charset="0"/>
                <a:ea typeface="Trenda IG Text Semibold" pitchFamily="34" charset="-122"/>
                <a:cs typeface="Trenda IG Text Semibold" pitchFamily="34" charset="-120"/>
              </a:rPr>
              <a:t>Chosen</a:t>
            </a:r>
          </a:p>
        </p:txBody>
      </p:sp>
      <p:sp>
        <p:nvSpPr>
          <p:cNvPr id="437" name="Text 438"/>
          <p:cNvSpPr txBox="1"/>
          <p:nvPr/>
        </p:nvSpPr>
        <p:spPr>
          <a:xfrm>
            <a:off x="4754880" y="5084064"/>
            <a:ext cx="6858000" cy="201168"/>
          </a:xfrm>
          <a:prstGeom prst="rect">
            <a:avLst/>
          </a:prstGeom>
          <a:noFill/>
          <a:ln/>
        </p:spPr>
        <p:txBody>
          <a:bodyPr wrap="square" lIns="0" tIns="0" rIns="0" bIns="0" rtlCol="0" anchor="t"/>
          <a:lstStyle/>
          <a:p>
            <a:pPr marL="0" indent="0" algn="l">
              <a:buNone/>
            </a:pPr>
            <a:r>
              <a:rPr lang="en-US" sz="850" dirty="0">
                <a:solidFill>
                  <a:srgbClr val="5C6E85"/>
                </a:solidFill>
                <a:latin typeface="Trenda IG Text" pitchFamily="34" charset="0"/>
                <a:ea typeface="Trenda IG Text" pitchFamily="34" charset="-122"/>
                <a:cs typeface="Trenda IG Text" pitchFamily="34" charset="-120"/>
              </a:rPr>
              <a:t>Apex-writable in one insert, versioned, and on a separate storage allocation.</a:t>
            </a:r>
          </a:p>
        </p:txBody>
      </p:sp>
      <p:sp>
        <p:nvSpPr>
          <p:cNvPr id="439" name="Shape 440"/>
          <p:cNvSpPr/>
          <p:nvPr/>
        </p:nvSpPr>
        <p:spPr>
          <a:xfrm>
            <a:off x="365760" y="5532120"/>
            <a:ext cx="11457432" cy="658368"/>
          </a:xfrm>
          <a:prstGeom prst="roundRect">
            <a:avLst>
              <a:gd name="adj" fmla="val 10000"/>
            </a:avLst>
          </a:prstGeom>
          <a:solidFill>
            <a:srgbClr val="EAF1F9"/>
          </a:solidFill>
          <a:ln>
            <a:noFill/>
          </a:ln>
        </p:spPr>
        <p:txBody>
          <a:bodyPr/>
          <a:lstStyle/>
          <a:p>
            <a:endParaRPr lang="en-US"/>
          </a:p>
        </p:txBody>
      </p:sp>
      <p:sp>
        <p:nvSpPr>
          <p:cNvPr id="441" name="Text 442"/>
          <p:cNvSpPr txBox="1"/>
          <p:nvPr/>
        </p:nvSpPr>
        <p:spPr>
          <a:xfrm>
            <a:off x="585216" y="5669280"/>
            <a:ext cx="11018520" cy="411480"/>
          </a:xfrm>
          <a:prstGeom prst="rect">
            <a:avLst/>
          </a:prstGeom>
          <a:noFill/>
          <a:ln/>
        </p:spPr>
        <p:txBody>
          <a:bodyPr wrap="square" lIns="0" tIns="0" rIns="0" bIns="0" rtlCol="0" anchor="t"/>
          <a:lstStyle/>
          <a:p>
            <a:pPr marL="0" indent="0" algn="l">
              <a:lnSpc>
                <a:spcPct val="125000"/>
              </a:lnSpc>
              <a:buNone/>
            </a:pPr>
            <a:r>
              <a:rPr lang="en-US" sz="850" dirty="0">
                <a:solidFill>
                  <a:srgbClr val="1B6BC0"/>
                </a:solidFill>
                <a:latin typeface="Trenda IG Text" pitchFamily="34" charset="0"/>
                <a:ea typeface="Trenda IG Text" pitchFamily="34" charset="-122"/>
                <a:cs typeface="Trenda IG Text" pitchFamily="34" charset="-120"/>
              </a:rPr>
              <a:t>The size ceiling is real and it drives the design. The whole map is loaded into memory to be searched, and peak memory runs about five and a half times the file size, so a properly scoped pod has to stay near a megabyte. Correct scoping is a prerequisite, not a tuning exercise.</a:t>
            </a:r>
          </a:p>
        </p:txBody>
      </p:sp>
    </p:spTree>
  </p:cSld>
  <p:clrMapOvr>
    <a:masterClrMapping/>
  </p:clrMapOvr>
</p:sld>
</file>

<file path=ppt/slides/slide15.xml><?xml version="1.0" encoding="utf-8"?>
<!-- AI-CHANGE-CONSOLE-POC-SLIDE -->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443" name="Text 444"/>
          <p:cNvSpPr txBox="1"/>
          <p:nvPr/>
        </p:nvSpPr>
        <p:spPr>
          <a:xfrm>
            <a:off x="365760" y="256032"/>
            <a:ext cx="11457432" cy="347472"/>
          </a:xfrm>
          <a:prstGeom prst="rect">
            <a:avLst/>
          </a:prstGeom>
          <a:noFill/>
          <a:ln/>
        </p:spPr>
        <p:txBody>
          <a:bodyPr wrap="square" lIns="0" tIns="0" rIns="0" bIns="0" rtlCol="0" anchor="ctr"/>
          <a:lstStyle/>
          <a:p>
            <a:pPr marL="0" indent="0" algn="l">
              <a:buNone/>
            </a:pPr>
            <a:r>
              <a:rPr lang="en-US" sz="2000" dirty="0">
                <a:solidFill>
                  <a:srgbClr val="0E1B2E"/>
                </a:solidFill>
                <a:latin typeface="Trenda IG Display Bold" pitchFamily="34" charset="0"/>
                <a:ea typeface="Trenda IG Display Bold" pitchFamily="34" charset="-122"/>
                <a:cs typeface="Trenda IG Display Bold" pitchFamily="34" charset="-120"/>
              </a:rPr>
              <a:t>How the request on screen reaches the graph</a:t>
            </a:r>
          </a:p>
        </p:txBody>
      </p:sp>
      <p:sp>
        <p:nvSpPr>
          <p:cNvPr id="445" name="Text 446"/>
          <p:cNvSpPr txBox="1"/>
          <p:nvPr/>
        </p:nvSpPr>
        <p:spPr>
          <a:xfrm>
            <a:off x="365760" y="640080"/>
            <a:ext cx="11457432" cy="219456"/>
          </a:xfrm>
          <a:prstGeom prst="rect">
            <a:avLst/>
          </a:prstGeom>
          <a:noFill/>
          <a:ln/>
        </p:spPr>
        <p:txBody>
          <a:bodyPr wrap="square" lIns="0" tIns="0" rIns="0" bIns="0" rtlCol="0" anchor="ctr"/>
          <a:lstStyle/>
          <a:p>
            <a:pPr marL="0" indent="0" algn="l">
              <a:buNone/>
            </a:pPr>
            <a:r>
              <a:rPr lang="en-US" sz="950" dirty="0">
                <a:solidFill>
                  <a:srgbClr val="5C6E85"/>
                </a:solidFill>
                <a:latin typeface="Trenda IG Display" pitchFamily="34" charset="0"/>
                <a:ea typeface="Trenda IG Display" pitchFamily="34" charset="-122"/>
                <a:cs typeface="Trenda IG Display" pitchFamily="34" charset="-120"/>
              </a:rPr>
              <a:t>From a sentence in a text box to a starting point on the map, with no model in the path.</a:t>
            </a:r>
          </a:p>
        </p:txBody>
      </p:sp>
      <p:sp>
        <p:nvSpPr>
          <p:cNvPr id="447" name="Text 448"/>
          <p:cNvSpPr txBox="1"/>
          <p:nvPr/>
        </p:nvSpPr>
        <p:spPr>
          <a:xfrm>
            <a:off x="365760" y="969264"/>
            <a:ext cx="11457432" cy="164592"/>
          </a:xfrm>
          <a:prstGeom prst="rect">
            <a:avLst/>
          </a:prstGeom>
          <a:noFill/>
          <a:ln/>
        </p:spPr>
        <p:txBody>
          <a:bodyPr wrap="square" lIns="0" tIns="0" rIns="0" bIns="0" rtlCol="0" anchor="t"/>
          <a:lstStyle/>
          <a:p>
            <a:pPr marL="0" indent="0" algn="l">
              <a:buNone/>
            </a:pPr>
            <a:r>
              <a:rPr lang="en-US" sz="700" b="1" dirty="0">
                <a:solidFill>
                  <a:srgbClr val="00757F"/>
                </a:solidFill>
                <a:latin typeface="Trenda IG Text Semibold" pitchFamily="34" charset="0"/>
                <a:ea typeface="Trenda IG Text Semibold" pitchFamily="34" charset="-122"/>
                <a:cs typeface="Trenda IG Text Semibold" pitchFamily="34" charset="-120"/>
              </a:rPr>
              <a:t>LAYER 8  ·  ADAPTER AND USER INTERFACE</a:t>
            </a:r>
          </a:p>
        </p:txBody>
      </p:sp>
      <p:sp>
        <p:nvSpPr>
          <p:cNvPr id="449" name="Shape 450"/>
          <p:cNvSpPr/>
          <p:nvPr/>
        </p:nvSpPr>
        <p:spPr>
          <a:xfrm>
            <a:off x="365760" y="1298448"/>
            <a:ext cx="11457432" cy="969264"/>
          </a:xfrm>
          <a:prstGeom prst="rect">
            <a:avLst/>
          </a:prstGeom>
          <a:solidFill>
            <a:srgbClr val="FFFFFF"/>
          </a:solidFill>
          <a:ln w="9525">
            <a:solidFill>
              <a:srgbClr val="DCE4EE"/>
            </a:solidFill>
          </a:ln>
        </p:spPr>
        <p:txBody>
          <a:bodyPr/>
          <a:lstStyle/>
          <a:p>
            <a:endParaRPr lang="en-US"/>
          </a:p>
        </p:txBody>
      </p:sp>
      <p:sp>
        <p:nvSpPr>
          <p:cNvPr id="451" name="Shape 452"/>
          <p:cNvSpPr/>
          <p:nvPr/>
        </p:nvSpPr>
        <p:spPr>
          <a:xfrm>
            <a:off x="365760" y="1298448"/>
            <a:ext cx="45720" cy="969264"/>
          </a:xfrm>
          <a:prstGeom prst="rect">
            <a:avLst/>
          </a:prstGeom>
          <a:solidFill>
            <a:srgbClr val="1B6BC0"/>
          </a:solidFill>
          <a:ln>
            <a:noFill/>
          </a:ln>
        </p:spPr>
        <p:txBody>
          <a:bodyPr/>
          <a:lstStyle/>
          <a:p>
            <a:endParaRPr lang="en-US"/>
          </a:p>
        </p:txBody>
      </p:sp>
      <p:sp>
        <p:nvSpPr>
          <p:cNvPr id="453" name="Text 454"/>
          <p:cNvSpPr txBox="1"/>
          <p:nvPr/>
        </p:nvSpPr>
        <p:spPr>
          <a:xfrm>
            <a:off x="658368" y="1463040"/>
            <a:ext cx="228600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The screen</a:t>
            </a:r>
          </a:p>
        </p:txBody>
      </p:sp>
      <p:sp>
        <p:nvSpPr>
          <p:cNvPr id="455" name="Text 456"/>
          <p:cNvSpPr txBox="1"/>
          <p:nvPr/>
        </p:nvSpPr>
        <p:spPr>
          <a:xfrm>
            <a:off x="658368" y="1719072"/>
            <a:ext cx="2286000" cy="201168"/>
          </a:xfrm>
          <a:prstGeom prst="rect">
            <a:avLst/>
          </a:prstGeom>
          <a:noFill/>
          <a:ln/>
        </p:spPr>
        <p:txBody>
          <a:bodyPr wrap="square" lIns="0" tIns="0" rIns="0" bIns="0" rtlCol="0" anchor="t"/>
          <a:lstStyle/>
          <a:p>
            <a:pPr marL="0" indent="0" algn="l">
              <a:buNone/>
            </a:pPr>
            <a:r>
              <a:rPr lang="en-US" sz="750" dirty="0">
                <a:solidFill>
                  <a:srgbClr val="1B6BC0"/>
                </a:solidFill>
                <a:latin typeface="Courier New" pitchFamily="34" charset="0"/>
                <a:ea typeface="Courier New" pitchFamily="34" charset="-122"/>
                <a:cs typeface="Courier New" pitchFamily="34" charset="-120"/>
              </a:rPr>
              <a:t>Lightning Web Component</a:t>
            </a:r>
          </a:p>
        </p:txBody>
      </p:sp>
      <p:sp>
        <p:nvSpPr>
          <p:cNvPr id="457" name="Text 458"/>
          <p:cNvSpPr txBox="1"/>
          <p:nvPr/>
        </p:nvSpPr>
        <p:spPr>
          <a:xfrm>
            <a:off x="3200400" y="1481328"/>
            <a:ext cx="8412480" cy="685800"/>
          </a:xfrm>
          <a:prstGeom prst="rect">
            <a:avLst/>
          </a:prstGeom>
          <a:noFill/>
          <a:ln/>
        </p:spPr>
        <p:txBody>
          <a:bodyPr wrap="square" lIns="0" tIns="0" rIns="0" bIns="0" rtlCol="0" anchor="t"/>
          <a:lstStyle/>
          <a:p>
            <a:pPr marL="0" indent="0" algn="l">
              <a:lnSpc>
                <a:spcPct val="130000"/>
              </a:lnSpc>
              <a:buNone/>
            </a:pPr>
            <a:r>
              <a:rPr lang="en-US" sz="850" dirty="0">
                <a:solidFill>
                  <a:srgbClr val="5C6E85"/>
                </a:solidFill>
                <a:latin typeface="Trenda IG Text" pitchFamily="34" charset="0"/>
                <a:ea typeface="Trenda IG Text" pitchFamily="34" charset="-122"/>
                <a:cs typeface="Trenda IG Text" pitchFamily="34" charset="-120"/>
              </a:rPr>
              <a:t>One text box and one button, inside Salesforce. The person writes in their own words. Nothing is categorised, tagged or classified first, because being asked to classify the request is being asked to answer it.</a:t>
            </a:r>
          </a:p>
        </p:txBody>
      </p:sp>
      <p:sp>
        <p:nvSpPr>
          <p:cNvPr id="459" name="Shape 460"/>
          <p:cNvSpPr/>
          <p:nvPr/>
        </p:nvSpPr>
        <p:spPr>
          <a:xfrm>
            <a:off x="365760" y="2359152"/>
            <a:ext cx="11457432" cy="969264"/>
          </a:xfrm>
          <a:prstGeom prst="rect">
            <a:avLst/>
          </a:prstGeom>
          <a:solidFill>
            <a:srgbClr val="FFFFFF"/>
          </a:solidFill>
          <a:ln w="9525">
            <a:solidFill>
              <a:srgbClr val="DCE4EE"/>
            </a:solidFill>
          </a:ln>
        </p:spPr>
        <p:txBody>
          <a:bodyPr/>
          <a:lstStyle/>
          <a:p>
            <a:endParaRPr lang="en-US"/>
          </a:p>
        </p:txBody>
      </p:sp>
      <p:sp>
        <p:nvSpPr>
          <p:cNvPr id="461" name="Shape 462"/>
          <p:cNvSpPr/>
          <p:nvPr/>
        </p:nvSpPr>
        <p:spPr>
          <a:xfrm>
            <a:off x="365760" y="2359152"/>
            <a:ext cx="45720" cy="969264"/>
          </a:xfrm>
          <a:prstGeom prst="rect">
            <a:avLst/>
          </a:prstGeom>
          <a:solidFill>
            <a:srgbClr val="00757F"/>
          </a:solidFill>
          <a:ln>
            <a:noFill/>
          </a:ln>
        </p:spPr>
        <p:txBody>
          <a:bodyPr/>
          <a:lstStyle/>
          <a:p>
            <a:endParaRPr lang="en-US"/>
          </a:p>
        </p:txBody>
      </p:sp>
      <p:sp>
        <p:nvSpPr>
          <p:cNvPr id="463" name="Text 464"/>
          <p:cNvSpPr txBox="1"/>
          <p:nvPr/>
        </p:nvSpPr>
        <p:spPr>
          <a:xfrm>
            <a:off x="658368" y="2523744"/>
            <a:ext cx="228600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The entry point</a:t>
            </a:r>
          </a:p>
        </p:txBody>
      </p:sp>
      <p:sp>
        <p:nvSpPr>
          <p:cNvPr id="465" name="Text 466"/>
          <p:cNvSpPr txBox="1"/>
          <p:nvPr/>
        </p:nvSpPr>
        <p:spPr>
          <a:xfrm>
            <a:off x="658368" y="2779776"/>
            <a:ext cx="2286000" cy="201168"/>
          </a:xfrm>
          <a:prstGeom prst="rect">
            <a:avLst/>
          </a:prstGeom>
          <a:noFill/>
          <a:ln/>
        </p:spPr>
        <p:txBody>
          <a:bodyPr wrap="square" lIns="0" tIns="0" rIns="0" bIns="0" rtlCol="0" anchor="t"/>
          <a:lstStyle/>
          <a:p>
            <a:pPr marL="0" indent="0" algn="l">
              <a:buNone/>
            </a:pPr>
            <a:r>
              <a:rPr lang="en-US" sz="750" dirty="0">
                <a:solidFill>
                  <a:srgbClr val="00757F"/>
                </a:solidFill>
                <a:latin typeface="Courier New" pitchFamily="34" charset="0"/>
                <a:ea typeface="Courier New" pitchFamily="34" charset="-122"/>
                <a:cs typeface="Courier New" pitchFamily="34" charset="-120"/>
              </a:rPr>
              <a:t>Apex controller</a:t>
            </a:r>
          </a:p>
        </p:txBody>
      </p:sp>
      <p:sp>
        <p:nvSpPr>
          <p:cNvPr id="467" name="Text 468"/>
          <p:cNvSpPr txBox="1"/>
          <p:nvPr/>
        </p:nvSpPr>
        <p:spPr>
          <a:xfrm>
            <a:off x="3200400" y="2542032"/>
            <a:ext cx="8412480" cy="685800"/>
          </a:xfrm>
          <a:prstGeom prst="rect">
            <a:avLst/>
          </a:prstGeom>
          <a:noFill/>
          <a:ln/>
        </p:spPr>
        <p:txBody>
          <a:bodyPr wrap="square" lIns="0" tIns="0" rIns="0" bIns="0" rtlCol="0" anchor="t"/>
          <a:lstStyle/>
          <a:p>
            <a:pPr marL="0" indent="0" algn="l">
              <a:lnSpc>
                <a:spcPct val="130000"/>
              </a:lnSpc>
              <a:buNone/>
            </a:pPr>
            <a:r>
              <a:rPr lang="en-US" sz="850" dirty="0">
                <a:solidFill>
                  <a:srgbClr val="5C6E85"/>
                </a:solidFill>
                <a:latin typeface="Trenda IG Text" pitchFamily="34" charset="0"/>
                <a:ea typeface="Trenda IG Text" pitchFamily="34" charset="-122"/>
                <a:cs typeface="Trenda IG Text" pitchFamily="34" charset="-120"/>
              </a:rPr>
              <a:t>Creates the request record with an audit trail, then runs the four analysis steps as separate calls so each result can appear as it lands rather than after a silent wait.</a:t>
            </a:r>
          </a:p>
        </p:txBody>
      </p:sp>
      <p:sp>
        <p:nvSpPr>
          <p:cNvPr id="469" name="Shape 470"/>
          <p:cNvSpPr/>
          <p:nvPr/>
        </p:nvSpPr>
        <p:spPr>
          <a:xfrm>
            <a:off x="365760" y="3419856"/>
            <a:ext cx="11457432" cy="969264"/>
          </a:xfrm>
          <a:prstGeom prst="rect">
            <a:avLst/>
          </a:prstGeom>
          <a:solidFill>
            <a:srgbClr val="FFFFFF"/>
          </a:solidFill>
          <a:ln w="9525">
            <a:solidFill>
              <a:srgbClr val="DCE4EE"/>
            </a:solidFill>
          </a:ln>
        </p:spPr>
        <p:txBody>
          <a:bodyPr/>
          <a:lstStyle/>
          <a:p>
            <a:endParaRPr lang="en-US"/>
          </a:p>
        </p:txBody>
      </p:sp>
      <p:sp>
        <p:nvSpPr>
          <p:cNvPr id="471" name="Shape 472"/>
          <p:cNvSpPr/>
          <p:nvPr/>
        </p:nvSpPr>
        <p:spPr>
          <a:xfrm>
            <a:off x="365760" y="3419856"/>
            <a:ext cx="45720" cy="969264"/>
          </a:xfrm>
          <a:prstGeom prst="rect">
            <a:avLst/>
          </a:prstGeom>
          <a:solidFill>
            <a:srgbClr val="0E8A7D"/>
          </a:solidFill>
          <a:ln>
            <a:noFill/>
          </a:ln>
        </p:spPr>
        <p:txBody>
          <a:bodyPr/>
          <a:lstStyle/>
          <a:p>
            <a:endParaRPr lang="en-US"/>
          </a:p>
        </p:txBody>
      </p:sp>
      <p:sp>
        <p:nvSpPr>
          <p:cNvPr id="473" name="Text 474"/>
          <p:cNvSpPr txBox="1"/>
          <p:nvPr/>
        </p:nvSpPr>
        <p:spPr>
          <a:xfrm>
            <a:off x="658368" y="3584448"/>
            <a:ext cx="228600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Reading the request</a:t>
            </a:r>
          </a:p>
        </p:txBody>
      </p:sp>
      <p:sp>
        <p:nvSpPr>
          <p:cNvPr id="475" name="Text 476"/>
          <p:cNvSpPr txBox="1"/>
          <p:nvPr/>
        </p:nvSpPr>
        <p:spPr>
          <a:xfrm>
            <a:off x="658368" y="3840480"/>
            <a:ext cx="2286000" cy="201168"/>
          </a:xfrm>
          <a:prstGeom prst="rect">
            <a:avLst/>
          </a:prstGeom>
          <a:noFill/>
          <a:ln/>
        </p:spPr>
        <p:txBody>
          <a:bodyPr wrap="square" lIns="0" tIns="0" rIns="0" bIns="0" rtlCol="0" anchor="t"/>
          <a:lstStyle/>
          <a:p>
            <a:pPr marL="0" indent="0" algn="l">
              <a:buNone/>
            </a:pPr>
            <a:r>
              <a:rPr lang="en-US" sz="750" dirty="0">
                <a:solidFill>
                  <a:srgbClr val="0E8A7D"/>
                </a:solidFill>
                <a:latin typeface="Courier New" pitchFamily="34" charset="0"/>
                <a:ea typeface="Courier New" pitchFamily="34" charset="-122"/>
                <a:cs typeface="Courier New" pitchFamily="34" charset="-120"/>
              </a:rPr>
              <a:t>Intent parser</a:t>
            </a:r>
          </a:p>
        </p:txBody>
      </p:sp>
      <p:sp>
        <p:nvSpPr>
          <p:cNvPr id="477" name="Text 478"/>
          <p:cNvSpPr txBox="1"/>
          <p:nvPr/>
        </p:nvSpPr>
        <p:spPr>
          <a:xfrm>
            <a:off x="3200400" y="3602736"/>
            <a:ext cx="8412480" cy="685800"/>
          </a:xfrm>
          <a:prstGeom prst="rect">
            <a:avLst/>
          </a:prstGeom>
          <a:noFill/>
          <a:ln/>
        </p:spPr>
        <p:txBody>
          <a:bodyPr wrap="square" lIns="0" tIns="0" rIns="0" bIns="0" rtlCol="0" anchor="t"/>
          <a:lstStyle/>
          <a:p>
            <a:pPr marL="0" indent="0" algn="l">
              <a:lnSpc>
                <a:spcPct val="130000"/>
              </a:lnSpc>
              <a:buNone/>
            </a:pPr>
            <a:r>
              <a:rPr lang="en-US" sz="850" dirty="0">
                <a:solidFill>
                  <a:srgbClr val="5C6E85"/>
                </a:solidFill>
                <a:latin typeface="Trenda IG Text" pitchFamily="34" charset="0"/>
                <a:ea typeface="Trenda IG Text" pitchFamily="34" charset="-122"/>
                <a:cs typeface="Trenda IG Text" pitchFamily="34" charset="-120"/>
              </a:rPr>
              <a:t>Rules, not a model. Reads the action, component type, name and object out of free text, and reports its reading back. A wrong interpretation becomes visible and correctable instead of silently steering the search.</a:t>
            </a:r>
          </a:p>
        </p:txBody>
      </p:sp>
      <p:sp>
        <p:nvSpPr>
          <p:cNvPr id="479" name="Shape 480"/>
          <p:cNvSpPr/>
          <p:nvPr/>
        </p:nvSpPr>
        <p:spPr>
          <a:xfrm>
            <a:off x="365760" y="4480560"/>
            <a:ext cx="11457432" cy="969264"/>
          </a:xfrm>
          <a:prstGeom prst="rect">
            <a:avLst/>
          </a:prstGeom>
          <a:solidFill>
            <a:srgbClr val="FFFFFF"/>
          </a:solidFill>
          <a:ln w="9525">
            <a:solidFill>
              <a:srgbClr val="DCE4EE"/>
            </a:solidFill>
          </a:ln>
        </p:spPr>
        <p:txBody>
          <a:bodyPr/>
          <a:lstStyle/>
          <a:p>
            <a:endParaRPr lang="en-US"/>
          </a:p>
        </p:txBody>
      </p:sp>
      <p:sp>
        <p:nvSpPr>
          <p:cNvPr id="481" name="Shape 482"/>
          <p:cNvSpPr/>
          <p:nvPr/>
        </p:nvSpPr>
        <p:spPr>
          <a:xfrm>
            <a:off x="365760" y="4480560"/>
            <a:ext cx="45720" cy="969264"/>
          </a:xfrm>
          <a:prstGeom prst="rect">
            <a:avLst/>
          </a:prstGeom>
          <a:solidFill>
            <a:srgbClr val="7A4FC0"/>
          </a:solidFill>
          <a:ln>
            <a:noFill/>
          </a:ln>
        </p:spPr>
        <p:txBody>
          <a:bodyPr/>
          <a:lstStyle/>
          <a:p>
            <a:endParaRPr lang="en-US"/>
          </a:p>
        </p:txBody>
      </p:sp>
      <p:sp>
        <p:nvSpPr>
          <p:cNvPr id="483" name="Text 484"/>
          <p:cNvSpPr txBox="1"/>
          <p:nvPr/>
        </p:nvSpPr>
        <p:spPr>
          <a:xfrm>
            <a:off x="658368" y="4645152"/>
            <a:ext cx="228600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Finding the starting point</a:t>
            </a:r>
          </a:p>
        </p:txBody>
      </p:sp>
      <p:sp>
        <p:nvSpPr>
          <p:cNvPr id="485" name="Text 486"/>
          <p:cNvSpPr txBox="1"/>
          <p:nvPr/>
        </p:nvSpPr>
        <p:spPr>
          <a:xfrm>
            <a:off x="658368" y="4901184"/>
            <a:ext cx="2286000" cy="201168"/>
          </a:xfrm>
          <a:prstGeom prst="rect">
            <a:avLst/>
          </a:prstGeom>
          <a:noFill/>
          <a:ln/>
        </p:spPr>
        <p:txBody>
          <a:bodyPr wrap="square" lIns="0" tIns="0" rIns="0" bIns="0" rtlCol="0" anchor="t"/>
          <a:lstStyle/>
          <a:p>
            <a:pPr marL="0" indent="0" algn="l">
              <a:buNone/>
            </a:pPr>
            <a:r>
              <a:rPr lang="en-US" sz="750" dirty="0">
                <a:solidFill>
                  <a:srgbClr val="7A4FC0"/>
                </a:solidFill>
                <a:latin typeface="Courier New" pitchFamily="34" charset="0"/>
                <a:ea typeface="Courier New" pitchFamily="34" charset="-122"/>
                <a:cs typeface="Courier New" pitchFamily="34" charset="-120"/>
              </a:rPr>
              <a:t>Graph adapter</a:t>
            </a:r>
          </a:p>
        </p:txBody>
      </p:sp>
      <p:sp>
        <p:nvSpPr>
          <p:cNvPr id="487" name="Text 488"/>
          <p:cNvSpPr txBox="1"/>
          <p:nvPr/>
        </p:nvSpPr>
        <p:spPr>
          <a:xfrm>
            <a:off x="3200400" y="4663440"/>
            <a:ext cx="8412480" cy="685800"/>
          </a:xfrm>
          <a:prstGeom prst="rect">
            <a:avLst/>
          </a:prstGeom>
          <a:noFill/>
          <a:ln/>
        </p:spPr>
        <p:txBody>
          <a:bodyPr wrap="square" lIns="0" tIns="0" rIns="0" bIns="0" rtlCol="0" anchor="t"/>
          <a:lstStyle/>
          <a:p>
            <a:pPr marL="0" indent="0" algn="l">
              <a:lnSpc>
                <a:spcPct val="130000"/>
              </a:lnSpc>
              <a:buNone/>
            </a:pPr>
            <a:r>
              <a:rPr lang="en-US" sz="850" dirty="0">
                <a:solidFill>
                  <a:srgbClr val="5C6E85"/>
                </a:solidFill>
                <a:latin typeface="Trenda IG Text" pitchFamily="34" charset="0"/>
                <a:ea typeface="Trenda IG Text" pitchFamily="34" charset="-122"/>
                <a:cs typeface="Trenda IG Text" pitchFamily="34" charset="-120"/>
              </a:rPr>
              <a:t>Matches the sentence against the graph's own object names, including labels written with spaces and custom objects without their suffix. Any object in the pod is found without a rule written for each phrasing.</a:t>
            </a:r>
          </a:p>
        </p:txBody>
      </p:sp>
      <p:sp>
        <p:nvSpPr>
          <p:cNvPr id="489" name="Shape 490"/>
          <p:cNvSpPr/>
          <p:nvPr/>
        </p:nvSpPr>
        <p:spPr>
          <a:xfrm>
            <a:off x="365760" y="5577840"/>
            <a:ext cx="11457432" cy="621792"/>
          </a:xfrm>
          <a:prstGeom prst="roundRect">
            <a:avLst>
              <a:gd name="adj" fmla="val 10000"/>
            </a:avLst>
          </a:prstGeom>
          <a:solidFill>
            <a:srgbClr val="FDF3E6"/>
          </a:solidFill>
          <a:ln>
            <a:noFill/>
          </a:ln>
        </p:spPr>
        <p:txBody>
          <a:bodyPr/>
          <a:lstStyle/>
          <a:p>
            <a:endParaRPr lang="en-US"/>
          </a:p>
        </p:txBody>
      </p:sp>
      <p:sp>
        <p:nvSpPr>
          <p:cNvPr id="491" name="Text 492"/>
          <p:cNvSpPr txBox="1"/>
          <p:nvPr/>
        </p:nvSpPr>
        <p:spPr>
          <a:xfrm>
            <a:off x="585216" y="5724144"/>
            <a:ext cx="11018520" cy="384048"/>
          </a:xfrm>
          <a:prstGeom prst="rect">
            <a:avLst/>
          </a:prstGeom>
          <a:noFill/>
          <a:ln/>
        </p:spPr>
        <p:txBody>
          <a:bodyPr wrap="square" lIns="0" tIns="0" rIns="0" bIns="0" rtlCol="0" anchor="t"/>
          <a:lstStyle/>
          <a:p>
            <a:pPr marL="0" indent="0" algn="l">
              <a:lnSpc>
                <a:spcPct val="125000"/>
              </a:lnSpc>
              <a:buNone/>
            </a:pPr>
            <a:r>
              <a:rPr lang="en-US" sz="850" dirty="0">
                <a:solidFill>
                  <a:srgbClr val="8A5620"/>
                </a:solidFill>
                <a:latin typeface="Trenda IG Text" pitchFamily="34" charset="0"/>
                <a:ea typeface="Trenda IG Text" pitchFamily="34" charset="-122"/>
                <a:cs typeface="Trenda IG Text" pitchFamily="34" charset="-120"/>
              </a:rPr>
              <a:t>The whole read path is rules and lookups. That is what makes it free to run, fast enough to use conversationally, and explainable line by line when somebody disagrees with the answer.</a:t>
            </a:r>
          </a:p>
        </p:txBody>
      </p:sp>
    </p:spTree>
  </p:cSld>
  <p:clrMapOvr>
    <a:masterClrMapping/>
  </p:clrMapOvr>
</p:sld>
</file>

<file path=ppt/slides/slide16.xml><?xml version="1.0" encoding="utf-8"?>
<!-- AI-CHANGE-CONSOLE-POC-SLIDE -->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493" name="Text 494"/>
          <p:cNvSpPr txBox="1"/>
          <p:nvPr/>
        </p:nvSpPr>
        <p:spPr>
          <a:xfrm>
            <a:off x="365760" y="256032"/>
            <a:ext cx="11457432" cy="347472"/>
          </a:xfrm>
          <a:prstGeom prst="rect">
            <a:avLst/>
          </a:prstGeom>
          <a:noFill/>
          <a:ln/>
        </p:spPr>
        <p:txBody>
          <a:bodyPr wrap="square" lIns="0" tIns="0" rIns="0" bIns="0" rtlCol="0" anchor="ctr"/>
          <a:lstStyle/>
          <a:p>
            <a:pPr marL="0" indent="0" algn="l">
              <a:buNone/>
            </a:pPr>
            <a:r>
              <a:rPr lang="en-US" sz="2000" dirty="0">
                <a:solidFill>
                  <a:srgbClr val="0E1B2E"/>
                </a:solidFill>
                <a:latin typeface="Trenda IG Display Bold" pitchFamily="34" charset="0"/>
                <a:ea typeface="Trenda IG Display Bold" pitchFamily="34" charset="-122"/>
                <a:cs typeface="Trenda IG Display Bold" pitchFamily="34" charset="-120"/>
              </a:rPr>
              <a:t>What happens inside the graph</a:t>
            </a:r>
          </a:p>
        </p:txBody>
      </p:sp>
      <p:sp>
        <p:nvSpPr>
          <p:cNvPr id="495" name="Text 496"/>
          <p:cNvSpPr txBox="1"/>
          <p:nvPr/>
        </p:nvSpPr>
        <p:spPr>
          <a:xfrm>
            <a:off x="365760" y="640080"/>
            <a:ext cx="11457432" cy="219456"/>
          </a:xfrm>
          <a:prstGeom prst="rect">
            <a:avLst/>
          </a:prstGeom>
          <a:noFill/>
          <a:ln/>
        </p:spPr>
        <p:txBody>
          <a:bodyPr wrap="square" lIns="0" tIns="0" rIns="0" bIns="0" rtlCol="0" anchor="ctr"/>
          <a:lstStyle/>
          <a:p>
            <a:pPr marL="0" indent="0" algn="l">
              <a:buNone/>
            </a:pPr>
            <a:r>
              <a:rPr lang="en-US" sz="950" dirty="0">
                <a:solidFill>
                  <a:srgbClr val="5C6E85"/>
                </a:solidFill>
                <a:latin typeface="Trenda IG Display" pitchFamily="34" charset="0"/>
                <a:ea typeface="Trenda IG Display" pitchFamily="34" charset="-122"/>
                <a:cs typeface="Trenda IG Display" pitchFamily="34" charset="-120"/>
              </a:rPr>
              <a:t>Start where the request points, walk outwards, and stop before the answer turns into a directory.</a:t>
            </a:r>
          </a:p>
        </p:txBody>
      </p:sp>
      <p:sp>
        <p:nvSpPr>
          <p:cNvPr id="497" name="Text 498"/>
          <p:cNvSpPr txBox="1"/>
          <p:nvPr/>
        </p:nvSpPr>
        <p:spPr>
          <a:xfrm>
            <a:off x="365760" y="969264"/>
            <a:ext cx="11457432" cy="164592"/>
          </a:xfrm>
          <a:prstGeom prst="rect">
            <a:avLst/>
          </a:prstGeom>
          <a:noFill/>
          <a:ln/>
        </p:spPr>
        <p:txBody>
          <a:bodyPr wrap="square" lIns="0" tIns="0" rIns="0" bIns="0" rtlCol="0" anchor="t"/>
          <a:lstStyle/>
          <a:p>
            <a:pPr marL="0" indent="0" algn="l">
              <a:buNone/>
            </a:pPr>
            <a:r>
              <a:rPr lang="en-US" sz="700" b="1" dirty="0">
                <a:solidFill>
                  <a:srgbClr val="00757F"/>
                </a:solidFill>
                <a:latin typeface="Trenda IG Text Semibold" pitchFamily="34" charset="0"/>
                <a:ea typeface="Trenda IG Text Semibold" pitchFamily="34" charset="-122"/>
                <a:cs typeface="Trenda IG Text Semibold" pitchFamily="34" charset="-120"/>
              </a:rPr>
              <a:t>LAYER 7  ·  THE GRAPH ENGINE</a:t>
            </a:r>
          </a:p>
        </p:txBody>
      </p:sp>
      <p:sp>
        <p:nvSpPr>
          <p:cNvPr id="499" name="Shape 500"/>
          <p:cNvSpPr/>
          <p:nvPr/>
        </p:nvSpPr>
        <p:spPr>
          <a:xfrm>
            <a:off x="365760" y="1298448"/>
            <a:ext cx="2615184" cy="868680"/>
          </a:xfrm>
          <a:prstGeom prst="roundRect">
            <a:avLst>
              <a:gd name="adj" fmla="val 12000"/>
            </a:avLst>
          </a:prstGeom>
          <a:solidFill>
            <a:srgbClr val="1B6BC0"/>
          </a:solidFill>
          <a:ln>
            <a:noFill/>
          </a:ln>
        </p:spPr>
        <p:txBody>
          <a:bodyPr/>
          <a:lstStyle/>
          <a:p>
            <a:endParaRPr lang="en-US"/>
          </a:p>
        </p:txBody>
      </p:sp>
      <p:sp>
        <p:nvSpPr>
          <p:cNvPr id="501" name="Text 502"/>
          <p:cNvSpPr txBox="1"/>
          <p:nvPr/>
        </p:nvSpPr>
        <p:spPr>
          <a:xfrm>
            <a:off x="493776" y="1426464"/>
            <a:ext cx="2359152" cy="201168"/>
          </a:xfrm>
          <a:prstGeom prst="rect">
            <a:avLst/>
          </a:prstGeom>
          <a:noFill/>
          <a:ln/>
        </p:spPr>
        <p:txBody>
          <a:bodyPr wrap="square" lIns="0" tIns="0" rIns="0" bIns="0" rtlCol="0" anchor="t"/>
          <a:lstStyle/>
          <a:p>
            <a:pPr marL="0" indent="0" algn="ctr">
              <a:buNone/>
            </a:pPr>
            <a:r>
              <a:rPr lang="en-US" sz="950" b="1" dirty="0">
                <a:solidFill>
                  <a:srgbClr val="FFFFFF"/>
                </a:solidFill>
                <a:latin typeface="Trenda IG Text Semibold" pitchFamily="34" charset="0"/>
                <a:ea typeface="Trenda IG Text Semibold" pitchFamily="34" charset="-122"/>
                <a:cs typeface="Trenda IG Text Semibold" pitchFamily="34" charset="-120"/>
              </a:rPr>
              <a:t>The object named</a:t>
            </a:r>
          </a:p>
        </p:txBody>
      </p:sp>
      <p:sp>
        <p:nvSpPr>
          <p:cNvPr id="503" name="Text 504"/>
          <p:cNvSpPr txBox="1"/>
          <p:nvPr/>
        </p:nvSpPr>
        <p:spPr>
          <a:xfrm>
            <a:off x="493776" y="1700784"/>
            <a:ext cx="2359152" cy="347472"/>
          </a:xfrm>
          <a:prstGeom prst="rect">
            <a:avLst/>
          </a:prstGeom>
          <a:noFill/>
          <a:ln/>
        </p:spPr>
        <p:txBody>
          <a:bodyPr wrap="square" lIns="0" tIns="0" rIns="0" bIns="0" rtlCol="0" anchor="t"/>
          <a:lstStyle/>
          <a:p>
            <a:pPr marL="0" indent="0" algn="ctr">
              <a:lnSpc>
                <a:spcPct val="114999"/>
              </a:lnSpc>
              <a:buNone/>
            </a:pPr>
            <a:r>
              <a:rPr lang="en-US" sz="750" dirty="0">
                <a:solidFill>
                  <a:srgbClr val="D6E3EA"/>
                </a:solidFill>
                <a:latin typeface="Trenda IG Text" pitchFamily="34" charset="0"/>
                <a:ea typeface="Trenda IG Text" pitchFamily="34" charset="-122"/>
                <a:cs typeface="Trenda IG Text" pitchFamily="34" charset="-120"/>
              </a:rPr>
              <a:t>the anchor</a:t>
            </a:r>
          </a:p>
        </p:txBody>
      </p:sp>
      <p:sp>
        <p:nvSpPr>
          <p:cNvPr id="505" name="Shape 506"/>
          <p:cNvSpPr/>
          <p:nvPr/>
        </p:nvSpPr>
        <p:spPr>
          <a:xfrm>
            <a:off x="3044952" y="1682496"/>
            <a:ext cx="256032" cy="100584"/>
          </a:xfrm>
          <a:prstGeom prst="rightArrow">
            <a:avLst/>
          </a:prstGeom>
          <a:solidFill>
            <a:srgbClr val="C7D2DE"/>
          </a:solidFill>
          <a:ln>
            <a:noFill/>
          </a:ln>
        </p:spPr>
        <p:txBody>
          <a:bodyPr/>
          <a:lstStyle/>
          <a:p>
            <a:endParaRPr lang="en-US"/>
          </a:p>
        </p:txBody>
      </p:sp>
      <p:sp>
        <p:nvSpPr>
          <p:cNvPr id="507" name="Shape 508"/>
          <p:cNvSpPr/>
          <p:nvPr/>
        </p:nvSpPr>
        <p:spPr>
          <a:xfrm>
            <a:off x="3300984" y="1298448"/>
            <a:ext cx="2615184" cy="868680"/>
          </a:xfrm>
          <a:prstGeom prst="roundRect">
            <a:avLst>
              <a:gd name="adj" fmla="val 12000"/>
            </a:avLst>
          </a:prstGeom>
          <a:solidFill>
            <a:srgbClr val="00757F"/>
          </a:solidFill>
          <a:ln>
            <a:noFill/>
          </a:ln>
        </p:spPr>
        <p:txBody>
          <a:bodyPr/>
          <a:lstStyle/>
          <a:p>
            <a:endParaRPr lang="en-US"/>
          </a:p>
        </p:txBody>
      </p:sp>
      <p:sp>
        <p:nvSpPr>
          <p:cNvPr id="509" name="Text 510"/>
          <p:cNvSpPr txBox="1"/>
          <p:nvPr/>
        </p:nvSpPr>
        <p:spPr>
          <a:xfrm>
            <a:off x="3429000" y="1426464"/>
            <a:ext cx="2359152" cy="201168"/>
          </a:xfrm>
          <a:prstGeom prst="rect">
            <a:avLst/>
          </a:prstGeom>
          <a:noFill/>
          <a:ln/>
        </p:spPr>
        <p:txBody>
          <a:bodyPr wrap="square" lIns="0" tIns="0" rIns="0" bIns="0" rtlCol="0" anchor="t"/>
          <a:lstStyle/>
          <a:p>
            <a:pPr marL="0" indent="0" algn="ctr">
              <a:buNone/>
            </a:pPr>
            <a:r>
              <a:rPr lang="en-US" sz="950" b="1" dirty="0">
                <a:solidFill>
                  <a:srgbClr val="FFFFFF"/>
                </a:solidFill>
                <a:latin typeface="Trenda IG Text Semibold" pitchFamily="34" charset="0"/>
                <a:ea typeface="Trenda IG Text Semibold" pitchFamily="34" charset="-122"/>
                <a:cs typeface="Trenda IG Text Semibold" pitchFamily="34" charset="-120"/>
              </a:rPr>
              <a:t>One step out</a:t>
            </a:r>
          </a:p>
        </p:txBody>
      </p:sp>
      <p:sp>
        <p:nvSpPr>
          <p:cNvPr id="511" name="Text 512"/>
          <p:cNvSpPr txBox="1"/>
          <p:nvPr/>
        </p:nvSpPr>
        <p:spPr>
          <a:xfrm>
            <a:off x="3429000" y="1700784"/>
            <a:ext cx="2359152" cy="347472"/>
          </a:xfrm>
          <a:prstGeom prst="rect">
            <a:avLst/>
          </a:prstGeom>
          <a:noFill/>
          <a:ln/>
        </p:spPr>
        <p:txBody>
          <a:bodyPr wrap="square" lIns="0" tIns="0" rIns="0" bIns="0" rtlCol="0" anchor="t"/>
          <a:lstStyle/>
          <a:p>
            <a:pPr marL="0" indent="0" algn="ctr">
              <a:lnSpc>
                <a:spcPct val="114999"/>
              </a:lnSpc>
              <a:buNone/>
            </a:pPr>
            <a:r>
              <a:rPr lang="en-US" sz="750" dirty="0">
                <a:solidFill>
                  <a:srgbClr val="D6E3EA"/>
                </a:solidFill>
                <a:latin typeface="Trenda IG Text" pitchFamily="34" charset="0"/>
                <a:ea typeface="Trenda IG Text" pitchFamily="34" charset="-122"/>
                <a:cs typeface="Trenda IG Text" pitchFamily="34" charset="-120"/>
              </a:rPr>
              <a:t>flows and triggers that run on it</a:t>
            </a:r>
          </a:p>
        </p:txBody>
      </p:sp>
      <p:sp>
        <p:nvSpPr>
          <p:cNvPr id="513" name="Shape 514"/>
          <p:cNvSpPr/>
          <p:nvPr/>
        </p:nvSpPr>
        <p:spPr>
          <a:xfrm>
            <a:off x="5980176" y="1682496"/>
            <a:ext cx="256032" cy="100584"/>
          </a:xfrm>
          <a:prstGeom prst="rightArrow">
            <a:avLst/>
          </a:prstGeom>
          <a:solidFill>
            <a:srgbClr val="C7D2DE"/>
          </a:solidFill>
          <a:ln>
            <a:noFill/>
          </a:ln>
        </p:spPr>
        <p:txBody>
          <a:bodyPr/>
          <a:lstStyle/>
          <a:p>
            <a:endParaRPr lang="en-US"/>
          </a:p>
        </p:txBody>
      </p:sp>
      <p:sp>
        <p:nvSpPr>
          <p:cNvPr id="515" name="Shape 516"/>
          <p:cNvSpPr/>
          <p:nvPr/>
        </p:nvSpPr>
        <p:spPr>
          <a:xfrm>
            <a:off x="6236208" y="1298448"/>
            <a:ext cx="2615184" cy="868680"/>
          </a:xfrm>
          <a:prstGeom prst="roundRect">
            <a:avLst>
              <a:gd name="adj" fmla="val 12000"/>
            </a:avLst>
          </a:prstGeom>
          <a:solidFill>
            <a:srgbClr val="0E8A7D"/>
          </a:solidFill>
          <a:ln>
            <a:noFill/>
          </a:ln>
        </p:spPr>
        <p:txBody>
          <a:bodyPr/>
          <a:lstStyle/>
          <a:p>
            <a:endParaRPr lang="en-US"/>
          </a:p>
        </p:txBody>
      </p:sp>
      <p:sp>
        <p:nvSpPr>
          <p:cNvPr id="517" name="Text 518"/>
          <p:cNvSpPr txBox="1"/>
          <p:nvPr/>
        </p:nvSpPr>
        <p:spPr>
          <a:xfrm>
            <a:off x="6364224" y="1426464"/>
            <a:ext cx="2359152" cy="201168"/>
          </a:xfrm>
          <a:prstGeom prst="rect">
            <a:avLst/>
          </a:prstGeom>
          <a:noFill/>
          <a:ln/>
        </p:spPr>
        <p:txBody>
          <a:bodyPr wrap="square" lIns="0" tIns="0" rIns="0" bIns="0" rtlCol="0" anchor="t"/>
          <a:lstStyle/>
          <a:p>
            <a:pPr marL="0" indent="0" algn="ctr">
              <a:buNone/>
            </a:pPr>
            <a:r>
              <a:rPr lang="en-US" sz="950" b="1" dirty="0">
                <a:solidFill>
                  <a:srgbClr val="FFFFFF"/>
                </a:solidFill>
                <a:latin typeface="Trenda IG Text Semibold" pitchFamily="34" charset="0"/>
                <a:ea typeface="Trenda IG Text Semibold" pitchFamily="34" charset="-122"/>
                <a:cs typeface="Trenda IG Text Semibold" pitchFamily="34" charset="-120"/>
              </a:rPr>
              <a:t>Two steps out</a:t>
            </a:r>
          </a:p>
        </p:txBody>
      </p:sp>
      <p:sp>
        <p:nvSpPr>
          <p:cNvPr id="519" name="Text 520"/>
          <p:cNvSpPr txBox="1"/>
          <p:nvPr/>
        </p:nvSpPr>
        <p:spPr>
          <a:xfrm>
            <a:off x="6364224" y="1700784"/>
            <a:ext cx="2359152" cy="347472"/>
          </a:xfrm>
          <a:prstGeom prst="rect">
            <a:avLst/>
          </a:prstGeom>
          <a:noFill/>
          <a:ln/>
        </p:spPr>
        <p:txBody>
          <a:bodyPr wrap="square" lIns="0" tIns="0" rIns="0" bIns="0" rtlCol="0" anchor="t"/>
          <a:lstStyle/>
          <a:p>
            <a:pPr marL="0" indent="0" algn="ctr">
              <a:lnSpc>
                <a:spcPct val="114999"/>
              </a:lnSpc>
              <a:buNone/>
            </a:pPr>
            <a:r>
              <a:rPr lang="en-US" sz="750" dirty="0">
                <a:solidFill>
                  <a:srgbClr val="D6E3EA"/>
                </a:solidFill>
                <a:latin typeface="Trenda IG Text" pitchFamily="34" charset="0"/>
                <a:ea typeface="Trenda IG Text" pitchFamily="34" charset="-122"/>
                <a:cs typeface="Trenda IG Text" pitchFamily="34" charset="-120"/>
              </a:rPr>
              <a:t>the classes those hand off to</a:t>
            </a:r>
          </a:p>
        </p:txBody>
      </p:sp>
      <p:sp>
        <p:nvSpPr>
          <p:cNvPr id="521" name="Shape 522"/>
          <p:cNvSpPr/>
          <p:nvPr/>
        </p:nvSpPr>
        <p:spPr>
          <a:xfrm>
            <a:off x="8915400" y="1682496"/>
            <a:ext cx="256032" cy="100584"/>
          </a:xfrm>
          <a:prstGeom prst="rightArrow">
            <a:avLst/>
          </a:prstGeom>
          <a:solidFill>
            <a:srgbClr val="C7D2DE"/>
          </a:solidFill>
          <a:ln>
            <a:noFill/>
          </a:ln>
        </p:spPr>
        <p:txBody>
          <a:bodyPr/>
          <a:lstStyle/>
          <a:p>
            <a:endParaRPr lang="en-US"/>
          </a:p>
        </p:txBody>
      </p:sp>
      <p:sp>
        <p:nvSpPr>
          <p:cNvPr id="523" name="Shape 524"/>
          <p:cNvSpPr/>
          <p:nvPr/>
        </p:nvSpPr>
        <p:spPr>
          <a:xfrm>
            <a:off x="9171432" y="1298448"/>
            <a:ext cx="2615184" cy="868680"/>
          </a:xfrm>
          <a:prstGeom prst="roundRect">
            <a:avLst>
              <a:gd name="adj" fmla="val 12000"/>
            </a:avLst>
          </a:prstGeom>
          <a:solidFill>
            <a:srgbClr val="7A4FC0"/>
          </a:solidFill>
          <a:ln>
            <a:noFill/>
          </a:ln>
        </p:spPr>
        <p:txBody>
          <a:bodyPr/>
          <a:lstStyle/>
          <a:p>
            <a:endParaRPr lang="en-US"/>
          </a:p>
        </p:txBody>
      </p:sp>
      <p:sp>
        <p:nvSpPr>
          <p:cNvPr id="525" name="Text 526"/>
          <p:cNvSpPr txBox="1"/>
          <p:nvPr/>
        </p:nvSpPr>
        <p:spPr>
          <a:xfrm>
            <a:off x="9299448" y="1426464"/>
            <a:ext cx="2359152" cy="201168"/>
          </a:xfrm>
          <a:prstGeom prst="rect">
            <a:avLst/>
          </a:prstGeom>
          <a:noFill/>
          <a:ln/>
        </p:spPr>
        <p:txBody>
          <a:bodyPr wrap="square" lIns="0" tIns="0" rIns="0" bIns="0" rtlCol="0" anchor="t"/>
          <a:lstStyle/>
          <a:p>
            <a:pPr marL="0" indent="0" algn="ctr">
              <a:buNone/>
            </a:pPr>
            <a:r>
              <a:rPr lang="en-US" sz="950" b="1" dirty="0">
                <a:solidFill>
                  <a:srgbClr val="FFFFFF"/>
                </a:solidFill>
                <a:latin typeface="Trenda IG Text Semibold" pitchFamily="34" charset="0"/>
                <a:ea typeface="Trenda IG Text Semibold" pitchFamily="34" charset="-122"/>
                <a:cs typeface="Trenda IG Text Semibold" pitchFamily="34" charset="-120"/>
              </a:rPr>
              <a:t>Three steps out</a:t>
            </a:r>
          </a:p>
        </p:txBody>
      </p:sp>
      <p:sp>
        <p:nvSpPr>
          <p:cNvPr id="527" name="Text 528"/>
          <p:cNvSpPr txBox="1"/>
          <p:nvPr/>
        </p:nvSpPr>
        <p:spPr>
          <a:xfrm>
            <a:off x="9299448" y="1700784"/>
            <a:ext cx="2359152" cy="347472"/>
          </a:xfrm>
          <a:prstGeom prst="rect">
            <a:avLst/>
          </a:prstGeom>
          <a:noFill/>
          <a:ln/>
        </p:spPr>
        <p:txBody>
          <a:bodyPr wrap="square" lIns="0" tIns="0" rIns="0" bIns="0" rtlCol="0" anchor="t"/>
          <a:lstStyle/>
          <a:p>
            <a:pPr marL="0" indent="0" algn="ctr">
              <a:lnSpc>
                <a:spcPct val="114999"/>
              </a:lnSpc>
              <a:buNone/>
            </a:pPr>
            <a:r>
              <a:rPr lang="en-US" sz="750" dirty="0">
                <a:solidFill>
                  <a:srgbClr val="D6E3EA"/>
                </a:solidFill>
                <a:latin typeface="Trenda IG Text" pitchFamily="34" charset="0"/>
                <a:ea typeface="Trenda IG Text" pitchFamily="34" charset="-122"/>
                <a:cs typeface="Trenda IG Text" pitchFamily="34" charset="-120"/>
              </a:rPr>
              <a:t>and what those call in turn</a:t>
            </a:r>
          </a:p>
        </p:txBody>
      </p:sp>
      <p:sp>
        <p:nvSpPr>
          <p:cNvPr id="529" name="Shape 530"/>
          <p:cNvSpPr/>
          <p:nvPr/>
        </p:nvSpPr>
        <p:spPr>
          <a:xfrm>
            <a:off x="365760" y="2395728"/>
            <a:ext cx="5614416" cy="1920240"/>
          </a:xfrm>
          <a:prstGeom prst="roundRect">
            <a:avLst>
              <a:gd name="adj" fmla="val 10000"/>
            </a:avLst>
          </a:prstGeom>
          <a:solidFill>
            <a:srgbClr val="FBEAEF"/>
          </a:solidFill>
          <a:ln>
            <a:noFill/>
          </a:ln>
        </p:spPr>
        <p:txBody>
          <a:bodyPr/>
          <a:lstStyle/>
          <a:p>
            <a:endParaRPr lang="en-US"/>
          </a:p>
        </p:txBody>
      </p:sp>
      <p:sp>
        <p:nvSpPr>
          <p:cNvPr id="531" name="Text 532"/>
          <p:cNvSpPr txBox="1"/>
          <p:nvPr/>
        </p:nvSpPr>
        <p:spPr>
          <a:xfrm>
            <a:off x="585216" y="2560320"/>
            <a:ext cx="5212080" cy="201168"/>
          </a:xfrm>
          <a:prstGeom prst="rect">
            <a:avLst/>
          </a:prstGeom>
          <a:noFill/>
          <a:ln/>
        </p:spPr>
        <p:txBody>
          <a:bodyPr wrap="square" lIns="0" tIns="0" rIns="0" bIns="0" rtlCol="0" anchor="t"/>
          <a:lstStyle/>
          <a:p>
            <a:pPr marL="0" indent="0" algn="l">
              <a:buNone/>
            </a:pPr>
            <a:r>
              <a:rPr lang="en-US" sz="950" b="1" dirty="0">
                <a:solidFill>
                  <a:srgbClr val="C2185B"/>
                </a:solidFill>
                <a:latin typeface="Trenda IG Text Semibold" pitchFamily="34" charset="0"/>
                <a:ea typeface="Trenda IG Text Semibold" pitchFamily="34" charset="-122"/>
                <a:cs typeface="Trenda IG Text Semibold" pitchFamily="34" charset="-120"/>
              </a:rPr>
              <a:t>The rule that keeps the answer useful</a:t>
            </a:r>
          </a:p>
        </p:txBody>
      </p:sp>
      <p:sp>
        <p:nvSpPr>
          <p:cNvPr id="533" name="Text 534"/>
          <p:cNvSpPr txBox="1"/>
          <p:nvPr/>
        </p:nvSpPr>
        <p:spPr>
          <a:xfrm>
            <a:off x="585216" y="2834640"/>
            <a:ext cx="5212080" cy="1371600"/>
          </a:xfrm>
          <a:prstGeom prst="rect">
            <a:avLst/>
          </a:prstGeom>
          <a:noFill/>
          <a:ln/>
        </p:spPr>
        <p:txBody>
          <a:bodyPr wrap="square" lIns="0" tIns="0" rIns="0" bIns="0" rtlCol="0" anchor="t"/>
          <a:lstStyle/>
          <a:p>
            <a:pPr marL="0" indent="0" algn="l">
              <a:lnSpc>
                <a:spcPct val="130000"/>
              </a:lnSpc>
              <a:buNone/>
            </a:pPr>
            <a:r>
              <a:rPr lang="en-US" sz="800" dirty="0">
                <a:solidFill>
                  <a:srgbClr val="8C2A48"/>
                </a:solidFill>
                <a:latin typeface="Trenda IG Text" pitchFamily="34" charset="0"/>
                <a:ea typeface="Trenda IG Text" pitchFamily="34" charset="-122"/>
                <a:cs typeface="Trenda IG Text" pitchFamily="34" charset="-120"/>
              </a:rPr>
              <a:t>Another object is a destination, not a corridor. Account connects to about seventy classes, so walking through it turned one question about Healthcare Facility Network into fifty-five results, almost none of them relevant. That Account is involved is worth reporting. Everything on the far side of it is not.</a:t>
            </a:r>
          </a:p>
        </p:txBody>
      </p:sp>
      <p:sp>
        <p:nvSpPr>
          <p:cNvPr id="535" name="Shape 536"/>
          <p:cNvSpPr/>
          <p:nvPr/>
        </p:nvSpPr>
        <p:spPr>
          <a:xfrm>
            <a:off x="6208776" y="2395728"/>
            <a:ext cx="5614416" cy="1920240"/>
          </a:xfrm>
          <a:prstGeom prst="roundRect">
            <a:avLst>
              <a:gd name="adj" fmla="val 10000"/>
            </a:avLst>
          </a:prstGeom>
          <a:solidFill>
            <a:srgbClr val="E6F2F0"/>
          </a:solidFill>
          <a:ln>
            <a:noFill/>
          </a:ln>
        </p:spPr>
        <p:txBody>
          <a:bodyPr/>
          <a:lstStyle/>
          <a:p>
            <a:endParaRPr lang="en-US"/>
          </a:p>
        </p:txBody>
      </p:sp>
      <p:sp>
        <p:nvSpPr>
          <p:cNvPr id="537" name="Text 538"/>
          <p:cNvSpPr txBox="1"/>
          <p:nvPr/>
        </p:nvSpPr>
        <p:spPr>
          <a:xfrm>
            <a:off x="6428232" y="2560320"/>
            <a:ext cx="5212080" cy="201168"/>
          </a:xfrm>
          <a:prstGeom prst="rect">
            <a:avLst/>
          </a:prstGeom>
          <a:noFill/>
          <a:ln/>
        </p:spPr>
        <p:txBody>
          <a:bodyPr wrap="square" lIns="0" tIns="0" rIns="0" bIns="0" rtlCol="0" anchor="t"/>
          <a:lstStyle/>
          <a:p>
            <a:pPr marL="0" indent="0" algn="l">
              <a:buNone/>
            </a:pPr>
            <a:r>
              <a:rPr lang="en-US" sz="950" b="1" dirty="0">
                <a:solidFill>
                  <a:srgbClr val="0B6B60"/>
                </a:solidFill>
                <a:latin typeface="Trenda IG Text Semibold" pitchFamily="34" charset="0"/>
                <a:ea typeface="Trenda IG Text Semibold" pitchFamily="34" charset="-122"/>
                <a:cs typeface="Trenda IG Text Semibold" pitchFamily="34" charset="-120"/>
              </a:rPr>
              <a:t>What comes back</a:t>
            </a:r>
          </a:p>
        </p:txBody>
      </p:sp>
      <p:sp>
        <p:nvSpPr>
          <p:cNvPr id="539" name="Text 540"/>
          <p:cNvSpPr txBox="1"/>
          <p:nvPr/>
        </p:nvSpPr>
        <p:spPr>
          <a:xfrm>
            <a:off x="6428232" y="2834640"/>
            <a:ext cx="5212080" cy="1371600"/>
          </a:xfrm>
          <a:prstGeom prst="rect">
            <a:avLst/>
          </a:prstGeom>
          <a:noFill/>
          <a:ln/>
        </p:spPr>
        <p:txBody>
          <a:bodyPr wrap="square" lIns="0" tIns="0" rIns="0" bIns="0" rtlCol="0" anchor="t"/>
          <a:lstStyle/>
          <a:p>
            <a:pPr marL="0" indent="0" algn="l">
              <a:lnSpc>
                <a:spcPct val="130000"/>
              </a:lnSpc>
              <a:buNone/>
            </a:pPr>
            <a:r>
              <a:rPr lang="en-US" sz="800" dirty="0">
                <a:solidFill>
                  <a:srgbClr val="0B6B60"/>
                </a:solidFill>
                <a:latin typeface="Trenda IG Text" pitchFamily="34" charset="0"/>
                <a:ea typeface="Trenda IG Text" pitchFamily="34" charset="-122"/>
                <a:cs typeface="Trenda IG Text" pitchFamily="34" charset="-120"/>
              </a:rPr>
              <a:t>A bounded list, ordered so it reads top down: the automation that runs, then the code it calls, then the object and its fields. Every row says how it connects in a sentence — “Flow that runs when Healthcare Facility Network records change” — and carries the provenance of the fact.</a:t>
            </a:r>
          </a:p>
        </p:txBody>
      </p:sp>
      <p:sp>
        <p:nvSpPr>
          <p:cNvPr id="541" name="Text 542"/>
          <p:cNvSpPr txBox="1"/>
          <p:nvPr/>
        </p:nvSpPr>
        <p:spPr>
          <a:xfrm>
            <a:off x="365760" y="4526280"/>
            <a:ext cx="11457432"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Two things a name search cannot do</a:t>
            </a:r>
          </a:p>
        </p:txBody>
      </p:sp>
      <p:sp>
        <p:nvSpPr>
          <p:cNvPr id="543" name="Shape 544"/>
          <p:cNvSpPr/>
          <p:nvPr/>
        </p:nvSpPr>
        <p:spPr>
          <a:xfrm>
            <a:off x="365760" y="4791456"/>
            <a:ext cx="5614416" cy="1051560"/>
          </a:xfrm>
          <a:prstGeom prst="rect">
            <a:avLst/>
          </a:prstGeom>
          <a:solidFill>
            <a:srgbClr val="FFFFFF"/>
          </a:solidFill>
          <a:ln w="9525">
            <a:solidFill>
              <a:srgbClr val="DCE4EE"/>
            </a:solidFill>
          </a:ln>
        </p:spPr>
        <p:txBody>
          <a:bodyPr/>
          <a:lstStyle/>
          <a:p>
            <a:endParaRPr lang="en-US"/>
          </a:p>
        </p:txBody>
      </p:sp>
      <p:sp>
        <p:nvSpPr>
          <p:cNvPr id="545" name="Text 546"/>
          <p:cNvSpPr txBox="1"/>
          <p:nvPr/>
        </p:nvSpPr>
        <p:spPr>
          <a:xfrm>
            <a:off x="585216" y="4937760"/>
            <a:ext cx="5212080" cy="201168"/>
          </a:xfrm>
          <a:prstGeom prst="rect">
            <a:avLst/>
          </a:prstGeom>
          <a:noFill/>
          <a:ln/>
        </p:spPr>
        <p:txBody>
          <a:bodyPr wrap="square" lIns="0" tIns="0" rIns="0" bIns="0" rtlCol="0" anchor="t"/>
          <a:lstStyle/>
          <a:p>
            <a:pPr marL="0" indent="0" algn="l">
              <a:buNone/>
            </a:pPr>
            <a:r>
              <a:rPr lang="en-US" sz="900" b="1" dirty="0">
                <a:solidFill>
                  <a:srgbClr val="1B6BC0"/>
                </a:solidFill>
                <a:latin typeface="Trenda IG Text Semibold" pitchFamily="34" charset="0"/>
                <a:ea typeface="Trenda IG Text Semibold" pitchFamily="34" charset="-122"/>
                <a:cs typeface="Trenda IG Text Semibold" pitchFamily="34" charset="-120"/>
              </a:rPr>
              <a:t>Reach across a name boundary</a:t>
            </a:r>
          </a:p>
        </p:txBody>
      </p:sp>
      <p:sp>
        <p:nvSpPr>
          <p:cNvPr id="547" name="Text 548"/>
          <p:cNvSpPr txBox="1"/>
          <p:nvPr/>
        </p:nvSpPr>
        <p:spPr>
          <a:xfrm>
            <a:off x="585216" y="5193792"/>
            <a:ext cx="5212080" cy="566928"/>
          </a:xfrm>
          <a:prstGeom prst="rect">
            <a:avLst/>
          </a:prstGeom>
          <a:noFill/>
          <a:ln/>
        </p:spPr>
        <p:txBody>
          <a:bodyPr wrap="square" lIns="0" tIns="0" rIns="0" bIns="0" rtlCol="0" anchor="t"/>
          <a:lstStyle/>
          <a:p>
            <a:pPr marL="0" indent="0" algn="l">
              <a:lnSpc>
                <a:spcPct val="130000"/>
              </a:lnSpc>
              <a:buNone/>
            </a:pPr>
            <a:r>
              <a:rPr lang="en-US" sz="800" dirty="0">
                <a:solidFill>
                  <a:srgbClr val="5C6E85"/>
                </a:solidFill>
                <a:latin typeface="Trenda IG Text" pitchFamily="34" charset="0"/>
                <a:ea typeface="Trenda IG Text" pitchFamily="34" charset="-122"/>
                <a:cs typeface="Trenda IG Text" pitchFamily="34" charset="-120"/>
              </a:rPr>
              <a:t>A test class two steps from an object is found by walking the relationships, even when the two share no word in common. Search has nothing to match on.</a:t>
            </a:r>
          </a:p>
        </p:txBody>
      </p:sp>
      <p:sp>
        <p:nvSpPr>
          <p:cNvPr id="549" name="Shape 550"/>
          <p:cNvSpPr/>
          <p:nvPr/>
        </p:nvSpPr>
        <p:spPr>
          <a:xfrm>
            <a:off x="6208776" y="4791456"/>
            <a:ext cx="5614416" cy="1051560"/>
          </a:xfrm>
          <a:prstGeom prst="rect">
            <a:avLst/>
          </a:prstGeom>
          <a:solidFill>
            <a:srgbClr val="FFFFFF"/>
          </a:solidFill>
          <a:ln w="9525">
            <a:solidFill>
              <a:srgbClr val="DCE4EE"/>
            </a:solidFill>
          </a:ln>
        </p:spPr>
        <p:txBody>
          <a:bodyPr/>
          <a:lstStyle/>
          <a:p>
            <a:endParaRPr lang="en-US"/>
          </a:p>
        </p:txBody>
      </p:sp>
      <p:sp>
        <p:nvSpPr>
          <p:cNvPr id="551" name="Text 552"/>
          <p:cNvSpPr txBox="1"/>
          <p:nvPr/>
        </p:nvSpPr>
        <p:spPr>
          <a:xfrm>
            <a:off x="6428232" y="4937760"/>
            <a:ext cx="5212080" cy="201168"/>
          </a:xfrm>
          <a:prstGeom prst="rect">
            <a:avLst/>
          </a:prstGeom>
          <a:noFill/>
          <a:ln/>
        </p:spPr>
        <p:txBody>
          <a:bodyPr wrap="square" lIns="0" tIns="0" rIns="0" bIns="0" rtlCol="0" anchor="t"/>
          <a:lstStyle/>
          <a:p>
            <a:pPr marL="0" indent="0" algn="l">
              <a:buNone/>
            </a:pPr>
            <a:r>
              <a:rPr lang="en-US" sz="900" b="1" dirty="0">
                <a:solidFill>
                  <a:srgbClr val="00757F"/>
                </a:solidFill>
                <a:latin typeface="Trenda IG Text Semibold" pitchFamily="34" charset="0"/>
                <a:ea typeface="Trenda IG Text Semibold" pitchFamily="34" charset="-122"/>
                <a:cs typeface="Trenda IG Text Semibold" pitchFamily="34" charset="-120"/>
              </a:rPr>
              <a:t>Follow a handler to its handler</a:t>
            </a:r>
          </a:p>
        </p:txBody>
      </p:sp>
      <p:sp>
        <p:nvSpPr>
          <p:cNvPr id="553" name="Text 554"/>
          <p:cNvSpPr txBox="1"/>
          <p:nvPr/>
        </p:nvSpPr>
        <p:spPr>
          <a:xfrm>
            <a:off x="6428232" y="5193792"/>
            <a:ext cx="5212080" cy="566928"/>
          </a:xfrm>
          <a:prstGeom prst="rect">
            <a:avLst/>
          </a:prstGeom>
          <a:noFill/>
          <a:ln/>
        </p:spPr>
        <p:txBody>
          <a:bodyPr wrap="square" lIns="0" tIns="0" rIns="0" bIns="0" rtlCol="0" anchor="t"/>
          <a:lstStyle/>
          <a:p>
            <a:pPr marL="0" indent="0" algn="l">
              <a:lnSpc>
                <a:spcPct val="130000"/>
              </a:lnSpc>
              <a:buNone/>
            </a:pPr>
            <a:r>
              <a:rPr lang="en-US" sz="800" dirty="0">
                <a:solidFill>
                  <a:srgbClr val="5C6E85"/>
                </a:solidFill>
                <a:latin typeface="Trenda IG Text" pitchFamily="34" charset="0"/>
                <a:ea typeface="Trenda IG Text" pitchFamily="34" charset="-122"/>
                <a:cs typeface="Trenda IG Text" pitchFamily="34" charset="-120"/>
              </a:rPr>
              <a:t>A trigger body is two lines that call a handler. Without call relationships, “what happens when this is saved” returns the name of a file containing nothing.</a:t>
            </a:r>
          </a:p>
        </p:txBody>
      </p:sp>
    </p:spTree>
  </p:cSld>
  <p:clrMapOvr>
    <a:masterClrMapping/>
  </p:clrMapOvr>
</p:sld>
</file>

<file path=ppt/slides/slide17.xml><?xml version="1.0" encoding="utf-8"?>
<!-- AI-CHANGE-CONSOLE-POC-SLIDE -->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555" name="Text 556"/>
          <p:cNvSpPr txBox="1"/>
          <p:nvPr/>
        </p:nvSpPr>
        <p:spPr>
          <a:xfrm>
            <a:off x="365760" y="256032"/>
            <a:ext cx="11457432" cy="347472"/>
          </a:xfrm>
          <a:prstGeom prst="rect">
            <a:avLst/>
          </a:prstGeom>
          <a:noFill/>
          <a:ln/>
        </p:spPr>
        <p:txBody>
          <a:bodyPr wrap="square" lIns="0" tIns="0" rIns="0" bIns="0" rtlCol="0" anchor="ctr"/>
          <a:lstStyle/>
          <a:p>
            <a:pPr marL="0" indent="0" algn="l">
              <a:buNone/>
            </a:pPr>
            <a:r>
              <a:rPr lang="en-US" sz="2000" dirty="0">
                <a:solidFill>
                  <a:srgbClr val="0E1B2E"/>
                </a:solidFill>
                <a:latin typeface="Trenda IG Display Bold" pitchFamily="34" charset="0"/>
                <a:ea typeface="Trenda IG Display Bold" pitchFamily="34" charset="-122"/>
                <a:cs typeface="Trenda IG Display Bold" pitchFamily="34" charset="-120"/>
              </a:rPr>
              <a:t>The verdict, and why three of them say no</a:t>
            </a:r>
          </a:p>
        </p:txBody>
      </p:sp>
      <p:sp>
        <p:nvSpPr>
          <p:cNvPr id="557" name="Text 558"/>
          <p:cNvSpPr txBox="1"/>
          <p:nvPr/>
        </p:nvSpPr>
        <p:spPr>
          <a:xfrm>
            <a:off x="365760" y="640080"/>
            <a:ext cx="11457432" cy="219456"/>
          </a:xfrm>
          <a:prstGeom prst="rect">
            <a:avLst/>
          </a:prstGeom>
          <a:noFill/>
          <a:ln/>
        </p:spPr>
        <p:txBody>
          <a:bodyPr wrap="square" lIns="0" tIns="0" rIns="0" bIns="0" rtlCol="0" anchor="ctr"/>
          <a:lstStyle/>
          <a:p>
            <a:pPr marL="0" indent="0" algn="l">
              <a:buNone/>
            </a:pPr>
            <a:r>
              <a:rPr lang="en-US" sz="950" dirty="0">
                <a:solidFill>
                  <a:srgbClr val="5C6E85"/>
                </a:solidFill>
                <a:latin typeface="Trenda IG Display" pitchFamily="34" charset="0"/>
                <a:ea typeface="Trenda IG Display" pitchFamily="34" charset="-122"/>
                <a:cs typeface="Trenda IG Display" pitchFamily="34" charset="-120"/>
              </a:rPr>
              <a:t>The system exists to refuse work that is already done. A clearance has to be earned.</a:t>
            </a:r>
          </a:p>
        </p:txBody>
      </p:sp>
      <p:sp>
        <p:nvSpPr>
          <p:cNvPr id="559" name="Text 560"/>
          <p:cNvSpPr txBox="1"/>
          <p:nvPr/>
        </p:nvSpPr>
        <p:spPr>
          <a:xfrm>
            <a:off x="365760" y="969264"/>
            <a:ext cx="11457432" cy="164592"/>
          </a:xfrm>
          <a:prstGeom prst="rect">
            <a:avLst/>
          </a:prstGeom>
          <a:noFill/>
          <a:ln/>
        </p:spPr>
        <p:txBody>
          <a:bodyPr wrap="square" lIns="0" tIns="0" rIns="0" bIns="0" rtlCol="0" anchor="t"/>
          <a:lstStyle/>
          <a:p>
            <a:pPr marL="0" indent="0" algn="l">
              <a:buNone/>
            </a:pPr>
            <a:r>
              <a:rPr lang="en-US" sz="700" b="1" dirty="0">
                <a:solidFill>
                  <a:srgbClr val="00757F"/>
                </a:solidFill>
                <a:latin typeface="Trenda IG Text Semibold" pitchFamily="34" charset="0"/>
                <a:ea typeface="Trenda IG Text Semibold" pitchFamily="34" charset="-122"/>
                <a:cs typeface="Trenda IG Text Semibold" pitchFamily="34" charset="-120"/>
              </a:rPr>
              <a:t>LAYER 8  ·  REUSE ANALYSIS</a:t>
            </a:r>
          </a:p>
        </p:txBody>
      </p:sp>
      <p:sp>
        <p:nvSpPr>
          <p:cNvPr id="561" name="Shape 562"/>
          <p:cNvSpPr/>
          <p:nvPr/>
        </p:nvSpPr>
        <p:spPr>
          <a:xfrm>
            <a:off x="365760" y="1298448"/>
            <a:ext cx="3639312" cy="1371600"/>
          </a:xfrm>
          <a:prstGeom prst="rect">
            <a:avLst/>
          </a:prstGeom>
          <a:solidFill>
            <a:srgbClr val="FFFFFF"/>
          </a:solidFill>
          <a:ln w="9525">
            <a:solidFill>
              <a:srgbClr val="DCE4EE"/>
            </a:solidFill>
          </a:ln>
        </p:spPr>
        <p:txBody>
          <a:bodyPr/>
          <a:lstStyle/>
          <a:p>
            <a:endParaRPr lang="en-US"/>
          </a:p>
        </p:txBody>
      </p:sp>
      <p:sp>
        <p:nvSpPr>
          <p:cNvPr id="563" name="Shape 564"/>
          <p:cNvSpPr/>
          <p:nvPr/>
        </p:nvSpPr>
        <p:spPr>
          <a:xfrm>
            <a:off x="585216" y="1499616"/>
            <a:ext cx="118872" cy="118872"/>
          </a:xfrm>
          <a:prstGeom prst="ellipse">
            <a:avLst/>
          </a:prstGeom>
          <a:solidFill>
            <a:srgbClr val="C2185B"/>
          </a:solidFill>
          <a:ln>
            <a:noFill/>
          </a:ln>
        </p:spPr>
        <p:txBody>
          <a:bodyPr/>
          <a:lstStyle/>
          <a:p>
            <a:endParaRPr lang="en-US"/>
          </a:p>
        </p:txBody>
      </p:sp>
      <p:sp>
        <p:nvSpPr>
          <p:cNvPr id="565" name="Text 566"/>
          <p:cNvSpPr txBox="1"/>
          <p:nvPr/>
        </p:nvSpPr>
        <p:spPr>
          <a:xfrm>
            <a:off x="786384" y="1444752"/>
            <a:ext cx="23774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Already exists</a:t>
            </a:r>
          </a:p>
        </p:txBody>
      </p:sp>
      <p:sp>
        <p:nvSpPr>
          <p:cNvPr id="567" name="Shape 568"/>
          <p:cNvSpPr/>
          <p:nvPr/>
        </p:nvSpPr>
        <p:spPr>
          <a:xfrm>
            <a:off x="3163824" y="1435608"/>
            <a:ext cx="640080" cy="219456"/>
          </a:xfrm>
          <a:prstGeom prst="roundRect">
            <a:avLst>
              <a:gd name="adj" fmla="val 18000"/>
            </a:avLst>
          </a:prstGeom>
          <a:solidFill>
            <a:srgbClr val="C2185B"/>
          </a:solidFill>
          <a:ln>
            <a:noFill/>
          </a:ln>
        </p:spPr>
        <p:txBody>
          <a:bodyPr/>
          <a:lstStyle/>
          <a:p>
            <a:endParaRPr lang="en-US"/>
          </a:p>
        </p:txBody>
      </p:sp>
      <p:sp>
        <p:nvSpPr>
          <p:cNvPr id="569" name="Text 570"/>
          <p:cNvSpPr txBox="1"/>
          <p:nvPr/>
        </p:nvSpPr>
        <p:spPr>
          <a:xfrm>
            <a:off x="3163824" y="1435608"/>
            <a:ext cx="640080" cy="219456"/>
          </a:xfrm>
          <a:prstGeom prst="rect">
            <a:avLst/>
          </a:prstGeom>
          <a:noFill/>
          <a:ln/>
        </p:spPr>
        <p:txBody>
          <a:bodyPr wrap="square" lIns="0" tIns="0" rIns="0" bIns="0" rtlCol="0" anchor="ctr"/>
          <a:lstStyle/>
          <a:p>
            <a:pPr marL="0" indent="0" algn="ctr">
              <a:buNone/>
            </a:pPr>
            <a:r>
              <a:rPr lang="en-US" sz="650" b="1" dirty="0">
                <a:solidFill>
                  <a:srgbClr val="FFFFFF"/>
                </a:solidFill>
                <a:latin typeface="Trenda IG Text Semibold" pitchFamily="34" charset="0"/>
                <a:ea typeface="Trenda IG Text Semibold" pitchFamily="34" charset="-122"/>
                <a:cs typeface="Trenda IG Text Semibold" pitchFamily="34" charset="-120"/>
              </a:rPr>
              <a:t>Stops</a:t>
            </a:r>
          </a:p>
        </p:txBody>
      </p:sp>
      <p:sp>
        <p:nvSpPr>
          <p:cNvPr id="571" name="Text 572"/>
          <p:cNvSpPr txBox="1"/>
          <p:nvPr/>
        </p:nvSpPr>
        <p:spPr>
          <a:xfrm>
            <a:off x="585216" y="1773936"/>
            <a:ext cx="3200400" cy="804672"/>
          </a:xfrm>
          <a:prstGeom prst="rect">
            <a:avLst/>
          </a:prstGeom>
          <a:noFill/>
          <a:ln/>
        </p:spPr>
        <p:txBody>
          <a:bodyPr wrap="square" lIns="0" tIns="0" rIns="0" bIns="0" rtlCol="0" anchor="t"/>
          <a:lstStyle/>
          <a:p>
            <a:pPr marL="0" indent="0" algn="l">
              <a:lnSpc>
                <a:spcPct val="128000"/>
              </a:lnSpc>
              <a:buNone/>
            </a:pPr>
            <a:r>
              <a:rPr lang="en-US" sz="800" dirty="0">
                <a:solidFill>
                  <a:srgbClr val="5C6E85"/>
                </a:solidFill>
                <a:latin typeface="Trenda IG Text" pitchFamily="34" charset="0"/>
                <a:ea typeface="Trenda IG Text" pitchFamily="34" charset="-122"/>
                <a:cs typeface="Trenda IG Text" pitchFamily="34" charset="-120"/>
              </a:rPr>
              <a:t>The component asked for is already in the org. It is cited by name and type, with its provenance, and the request is told to reuse it.</a:t>
            </a:r>
          </a:p>
        </p:txBody>
      </p:sp>
      <p:sp>
        <p:nvSpPr>
          <p:cNvPr id="573" name="Shape 574"/>
          <p:cNvSpPr/>
          <p:nvPr/>
        </p:nvSpPr>
        <p:spPr>
          <a:xfrm>
            <a:off x="4224528" y="1298448"/>
            <a:ext cx="3639312" cy="1371600"/>
          </a:xfrm>
          <a:prstGeom prst="rect">
            <a:avLst/>
          </a:prstGeom>
          <a:solidFill>
            <a:srgbClr val="FFFFFF"/>
          </a:solidFill>
          <a:ln w="9525">
            <a:solidFill>
              <a:srgbClr val="DCE4EE"/>
            </a:solidFill>
          </a:ln>
        </p:spPr>
        <p:txBody>
          <a:bodyPr/>
          <a:lstStyle/>
          <a:p>
            <a:endParaRPr lang="en-US"/>
          </a:p>
        </p:txBody>
      </p:sp>
      <p:sp>
        <p:nvSpPr>
          <p:cNvPr id="575" name="Shape 576"/>
          <p:cNvSpPr/>
          <p:nvPr/>
        </p:nvSpPr>
        <p:spPr>
          <a:xfrm>
            <a:off x="4443984" y="1499616"/>
            <a:ext cx="118872" cy="118872"/>
          </a:xfrm>
          <a:prstGeom prst="ellipse">
            <a:avLst/>
          </a:prstGeom>
          <a:solidFill>
            <a:srgbClr val="C2185B"/>
          </a:solidFill>
          <a:ln>
            <a:noFill/>
          </a:ln>
        </p:spPr>
        <p:txBody>
          <a:bodyPr/>
          <a:lstStyle/>
          <a:p>
            <a:endParaRPr lang="en-US"/>
          </a:p>
        </p:txBody>
      </p:sp>
      <p:sp>
        <p:nvSpPr>
          <p:cNvPr id="577" name="Text 578"/>
          <p:cNvSpPr txBox="1"/>
          <p:nvPr/>
        </p:nvSpPr>
        <p:spPr>
          <a:xfrm>
            <a:off x="4645152" y="1444752"/>
            <a:ext cx="23774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Likely already handled</a:t>
            </a:r>
          </a:p>
        </p:txBody>
      </p:sp>
      <p:sp>
        <p:nvSpPr>
          <p:cNvPr id="579" name="Shape 580"/>
          <p:cNvSpPr/>
          <p:nvPr/>
        </p:nvSpPr>
        <p:spPr>
          <a:xfrm>
            <a:off x="7022592" y="1435608"/>
            <a:ext cx="640080" cy="219456"/>
          </a:xfrm>
          <a:prstGeom prst="roundRect">
            <a:avLst>
              <a:gd name="adj" fmla="val 18000"/>
            </a:avLst>
          </a:prstGeom>
          <a:solidFill>
            <a:srgbClr val="C2185B"/>
          </a:solidFill>
          <a:ln>
            <a:noFill/>
          </a:ln>
        </p:spPr>
        <p:txBody>
          <a:bodyPr/>
          <a:lstStyle/>
          <a:p>
            <a:endParaRPr lang="en-US"/>
          </a:p>
        </p:txBody>
      </p:sp>
      <p:sp>
        <p:nvSpPr>
          <p:cNvPr id="581" name="Text 582"/>
          <p:cNvSpPr txBox="1"/>
          <p:nvPr/>
        </p:nvSpPr>
        <p:spPr>
          <a:xfrm>
            <a:off x="7022592" y="1435608"/>
            <a:ext cx="640080" cy="219456"/>
          </a:xfrm>
          <a:prstGeom prst="rect">
            <a:avLst/>
          </a:prstGeom>
          <a:noFill/>
          <a:ln/>
        </p:spPr>
        <p:txBody>
          <a:bodyPr wrap="square" lIns="0" tIns="0" rIns="0" bIns="0" rtlCol="0" anchor="ctr"/>
          <a:lstStyle/>
          <a:p>
            <a:pPr marL="0" indent="0" algn="ctr">
              <a:buNone/>
            </a:pPr>
            <a:r>
              <a:rPr lang="en-US" sz="650" b="1" dirty="0">
                <a:solidFill>
                  <a:srgbClr val="FFFFFF"/>
                </a:solidFill>
                <a:latin typeface="Trenda IG Text Semibold" pitchFamily="34" charset="0"/>
                <a:ea typeface="Trenda IG Text Semibold" pitchFamily="34" charset="-122"/>
                <a:cs typeface="Trenda IG Text Semibold" pitchFamily="34" charset="-120"/>
              </a:rPr>
              <a:t>Stops</a:t>
            </a:r>
          </a:p>
        </p:txBody>
      </p:sp>
      <p:sp>
        <p:nvSpPr>
          <p:cNvPr id="583" name="Text 584"/>
          <p:cNvSpPr txBox="1"/>
          <p:nvPr/>
        </p:nvSpPr>
        <p:spPr>
          <a:xfrm>
            <a:off x="4443984" y="1773936"/>
            <a:ext cx="3200400" cy="804672"/>
          </a:xfrm>
          <a:prstGeom prst="rect">
            <a:avLst/>
          </a:prstGeom>
          <a:noFill/>
          <a:ln/>
        </p:spPr>
        <p:txBody>
          <a:bodyPr wrap="square" lIns="0" tIns="0" rIns="0" bIns="0" rtlCol="0" anchor="t"/>
          <a:lstStyle/>
          <a:p>
            <a:pPr marL="0" indent="0" algn="l">
              <a:lnSpc>
                <a:spcPct val="128000"/>
              </a:lnSpc>
              <a:buNone/>
            </a:pPr>
            <a:r>
              <a:rPr lang="en-US" sz="800" dirty="0">
                <a:solidFill>
                  <a:srgbClr val="5C6E85"/>
                </a:solidFill>
                <a:latin typeface="Trenda IG Text" pitchFamily="34" charset="0"/>
                <a:ea typeface="Trenda IG Text" pitchFamily="34" charset="-122"/>
                <a:cs typeface="Trenda IG Text" pitchFamily="34" charset="-120"/>
              </a:rPr>
              <a:t>Automation on that object already references what the request wants written. Building a second one would run the logic twice.</a:t>
            </a:r>
          </a:p>
        </p:txBody>
      </p:sp>
      <p:sp>
        <p:nvSpPr>
          <p:cNvPr id="585" name="Shape 586"/>
          <p:cNvSpPr/>
          <p:nvPr/>
        </p:nvSpPr>
        <p:spPr>
          <a:xfrm>
            <a:off x="8083296" y="1298448"/>
            <a:ext cx="3639312" cy="1371600"/>
          </a:xfrm>
          <a:prstGeom prst="rect">
            <a:avLst/>
          </a:prstGeom>
          <a:solidFill>
            <a:srgbClr val="FFFFFF"/>
          </a:solidFill>
          <a:ln w="9525">
            <a:solidFill>
              <a:srgbClr val="DCE4EE"/>
            </a:solidFill>
          </a:ln>
        </p:spPr>
        <p:txBody>
          <a:bodyPr/>
          <a:lstStyle/>
          <a:p>
            <a:endParaRPr lang="en-US"/>
          </a:p>
        </p:txBody>
      </p:sp>
      <p:sp>
        <p:nvSpPr>
          <p:cNvPr id="587" name="Shape 588"/>
          <p:cNvSpPr/>
          <p:nvPr/>
        </p:nvSpPr>
        <p:spPr>
          <a:xfrm>
            <a:off x="8302752" y="1499616"/>
            <a:ext cx="118872" cy="118872"/>
          </a:xfrm>
          <a:prstGeom prst="ellipse">
            <a:avLst/>
          </a:prstGeom>
          <a:solidFill>
            <a:srgbClr val="C77400"/>
          </a:solidFill>
          <a:ln>
            <a:noFill/>
          </a:ln>
        </p:spPr>
        <p:txBody>
          <a:bodyPr/>
          <a:lstStyle/>
          <a:p>
            <a:endParaRPr lang="en-US"/>
          </a:p>
        </p:txBody>
      </p:sp>
      <p:sp>
        <p:nvSpPr>
          <p:cNvPr id="589" name="Text 590"/>
          <p:cNvSpPr txBox="1"/>
          <p:nvPr/>
        </p:nvSpPr>
        <p:spPr>
          <a:xfrm>
            <a:off x="8503920" y="1444752"/>
            <a:ext cx="23774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Needs review</a:t>
            </a:r>
          </a:p>
        </p:txBody>
      </p:sp>
      <p:sp>
        <p:nvSpPr>
          <p:cNvPr id="591" name="Shape 592"/>
          <p:cNvSpPr/>
          <p:nvPr/>
        </p:nvSpPr>
        <p:spPr>
          <a:xfrm>
            <a:off x="10881360" y="1435608"/>
            <a:ext cx="640080" cy="219456"/>
          </a:xfrm>
          <a:prstGeom prst="roundRect">
            <a:avLst>
              <a:gd name="adj" fmla="val 18000"/>
            </a:avLst>
          </a:prstGeom>
          <a:solidFill>
            <a:srgbClr val="C77400"/>
          </a:solidFill>
          <a:ln>
            <a:noFill/>
          </a:ln>
        </p:spPr>
        <p:txBody>
          <a:bodyPr/>
          <a:lstStyle/>
          <a:p>
            <a:endParaRPr lang="en-US"/>
          </a:p>
        </p:txBody>
      </p:sp>
      <p:sp>
        <p:nvSpPr>
          <p:cNvPr id="593" name="Text 594"/>
          <p:cNvSpPr txBox="1"/>
          <p:nvPr/>
        </p:nvSpPr>
        <p:spPr>
          <a:xfrm>
            <a:off x="10881360" y="1435608"/>
            <a:ext cx="640080" cy="219456"/>
          </a:xfrm>
          <a:prstGeom prst="rect">
            <a:avLst/>
          </a:prstGeom>
          <a:noFill/>
          <a:ln/>
        </p:spPr>
        <p:txBody>
          <a:bodyPr wrap="square" lIns="0" tIns="0" rIns="0" bIns="0" rtlCol="0" anchor="ctr"/>
          <a:lstStyle/>
          <a:p>
            <a:pPr marL="0" indent="0" algn="ctr">
              <a:buNone/>
            </a:pPr>
            <a:r>
              <a:rPr lang="en-US" sz="650" b="1" dirty="0">
                <a:solidFill>
                  <a:srgbClr val="FFFFFF"/>
                </a:solidFill>
                <a:latin typeface="Trenda IG Text Semibold" pitchFamily="34" charset="0"/>
                <a:ea typeface="Trenda IG Text Semibold" pitchFamily="34" charset="-122"/>
                <a:cs typeface="Trenda IG Text Semibold" pitchFamily="34" charset="-120"/>
              </a:rPr>
              <a:t>Stops</a:t>
            </a:r>
          </a:p>
        </p:txBody>
      </p:sp>
      <p:sp>
        <p:nvSpPr>
          <p:cNvPr id="595" name="Text 596"/>
          <p:cNvSpPr txBox="1"/>
          <p:nvPr/>
        </p:nvSpPr>
        <p:spPr>
          <a:xfrm>
            <a:off x="8302752" y="1773936"/>
            <a:ext cx="3200400" cy="804672"/>
          </a:xfrm>
          <a:prstGeom prst="rect">
            <a:avLst/>
          </a:prstGeom>
          <a:noFill/>
          <a:ln/>
        </p:spPr>
        <p:txBody>
          <a:bodyPr wrap="square" lIns="0" tIns="0" rIns="0" bIns="0" rtlCol="0" anchor="t"/>
          <a:lstStyle/>
          <a:p>
            <a:pPr marL="0" indent="0" algn="l">
              <a:lnSpc>
                <a:spcPct val="128000"/>
              </a:lnSpc>
              <a:buNone/>
            </a:pPr>
            <a:r>
              <a:rPr lang="en-US" sz="800" dirty="0">
                <a:solidFill>
                  <a:srgbClr val="5C6E85"/>
                </a:solidFill>
                <a:latin typeface="Trenda IG Text" pitchFamily="34" charset="0"/>
                <a:ea typeface="Trenda IG Text" pitchFamily="34" charset="-122"/>
                <a:cs typeface="Trenda IG Text" pitchFamily="34" charset="-120"/>
              </a:rPr>
              <a:t>Automation fires on the object but its internals cannot be read yet, so the request cannot honestly be cleared. It says so rather than guessing.</a:t>
            </a:r>
          </a:p>
        </p:txBody>
      </p:sp>
      <p:sp>
        <p:nvSpPr>
          <p:cNvPr id="597" name="Shape 598"/>
          <p:cNvSpPr/>
          <p:nvPr/>
        </p:nvSpPr>
        <p:spPr>
          <a:xfrm>
            <a:off x="365760" y="2834640"/>
            <a:ext cx="3639312" cy="1371600"/>
          </a:xfrm>
          <a:prstGeom prst="rect">
            <a:avLst/>
          </a:prstGeom>
          <a:solidFill>
            <a:srgbClr val="FFFFFF"/>
          </a:solidFill>
          <a:ln w="9525">
            <a:solidFill>
              <a:srgbClr val="DCE4EE"/>
            </a:solidFill>
          </a:ln>
        </p:spPr>
        <p:txBody>
          <a:bodyPr/>
          <a:lstStyle/>
          <a:p>
            <a:endParaRPr lang="en-US"/>
          </a:p>
        </p:txBody>
      </p:sp>
      <p:sp>
        <p:nvSpPr>
          <p:cNvPr id="599" name="Shape 600"/>
          <p:cNvSpPr/>
          <p:nvPr/>
        </p:nvSpPr>
        <p:spPr>
          <a:xfrm>
            <a:off x="585216" y="3035808"/>
            <a:ext cx="118872" cy="118872"/>
          </a:xfrm>
          <a:prstGeom prst="ellipse">
            <a:avLst/>
          </a:prstGeom>
          <a:solidFill>
            <a:srgbClr val="2E7D32"/>
          </a:solidFill>
          <a:ln>
            <a:noFill/>
          </a:ln>
        </p:spPr>
        <p:txBody>
          <a:bodyPr/>
          <a:lstStyle/>
          <a:p>
            <a:endParaRPr lang="en-US"/>
          </a:p>
        </p:txBody>
      </p:sp>
      <p:sp>
        <p:nvSpPr>
          <p:cNvPr id="601" name="Text 602"/>
          <p:cNvSpPr txBox="1"/>
          <p:nvPr/>
        </p:nvSpPr>
        <p:spPr>
          <a:xfrm>
            <a:off x="786384" y="2980944"/>
            <a:ext cx="23774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Safe to create</a:t>
            </a:r>
          </a:p>
        </p:txBody>
      </p:sp>
      <p:sp>
        <p:nvSpPr>
          <p:cNvPr id="603" name="Shape 604"/>
          <p:cNvSpPr/>
          <p:nvPr/>
        </p:nvSpPr>
        <p:spPr>
          <a:xfrm>
            <a:off x="3163824" y="2971800"/>
            <a:ext cx="640080" cy="219456"/>
          </a:xfrm>
          <a:prstGeom prst="roundRect">
            <a:avLst>
              <a:gd name="adj" fmla="val 18000"/>
            </a:avLst>
          </a:prstGeom>
          <a:solidFill>
            <a:srgbClr val="2E7D32"/>
          </a:solidFill>
          <a:ln>
            <a:noFill/>
          </a:ln>
        </p:spPr>
        <p:txBody>
          <a:bodyPr/>
          <a:lstStyle/>
          <a:p>
            <a:endParaRPr lang="en-US"/>
          </a:p>
        </p:txBody>
      </p:sp>
      <p:sp>
        <p:nvSpPr>
          <p:cNvPr id="605" name="Text 606"/>
          <p:cNvSpPr txBox="1"/>
          <p:nvPr/>
        </p:nvSpPr>
        <p:spPr>
          <a:xfrm>
            <a:off x="3163824" y="2971800"/>
            <a:ext cx="640080" cy="219456"/>
          </a:xfrm>
          <a:prstGeom prst="rect">
            <a:avLst/>
          </a:prstGeom>
          <a:noFill/>
          <a:ln/>
        </p:spPr>
        <p:txBody>
          <a:bodyPr wrap="square" lIns="0" tIns="0" rIns="0" bIns="0" rtlCol="0" anchor="ctr"/>
          <a:lstStyle/>
          <a:p>
            <a:pPr marL="0" indent="0" algn="ctr">
              <a:buNone/>
            </a:pPr>
            <a:r>
              <a:rPr lang="en-US" sz="650" b="1" dirty="0">
                <a:solidFill>
                  <a:srgbClr val="FFFFFF"/>
                </a:solidFill>
                <a:latin typeface="Trenda IG Text Semibold" pitchFamily="34" charset="0"/>
                <a:ea typeface="Trenda IG Text Semibold" pitchFamily="34" charset="-122"/>
                <a:cs typeface="Trenda IG Text Semibold" pitchFamily="34" charset="-120"/>
              </a:rPr>
              <a:t>Allows</a:t>
            </a:r>
          </a:p>
        </p:txBody>
      </p:sp>
      <p:sp>
        <p:nvSpPr>
          <p:cNvPr id="607" name="Text 608"/>
          <p:cNvSpPr txBox="1"/>
          <p:nvPr/>
        </p:nvSpPr>
        <p:spPr>
          <a:xfrm>
            <a:off x="585216" y="3310128"/>
            <a:ext cx="3200400" cy="804672"/>
          </a:xfrm>
          <a:prstGeom prst="rect">
            <a:avLst/>
          </a:prstGeom>
          <a:noFill/>
          <a:ln/>
        </p:spPr>
        <p:txBody>
          <a:bodyPr wrap="square" lIns="0" tIns="0" rIns="0" bIns="0" rtlCol="0" anchor="t"/>
          <a:lstStyle/>
          <a:p>
            <a:pPr marL="0" indent="0" algn="l">
              <a:lnSpc>
                <a:spcPct val="128000"/>
              </a:lnSpc>
              <a:buNone/>
            </a:pPr>
            <a:r>
              <a:rPr lang="en-US" sz="800" dirty="0">
                <a:solidFill>
                  <a:srgbClr val="5C6E85"/>
                </a:solidFill>
                <a:latin typeface="Trenda IG Text" pitchFamily="34" charset="0"/>
                <a:ea typeface="Trenda IG Text" pitchFamily="34" charset="-122"/>
                <a:cs typeface="Trenda IG Text" pitchFamily="34" charset="-120"/>
              </a:rPr>
              <a:t>Nothing matching was found and the object was genuinely searched. Similar names are listed anyway, in case one of them was what was meant.</a:t>
            </a:r>
          </a:p>
        </p:txBody>
      </p:sp>
      <p:sp>
        <p:nvSpPr>
          <p:cNvPr id="609" name="Shape 610"/>
          <p:cNvSpPr/>
          <p:nvPr/>
        </p:nvSpPr>
        <p:spPr>
          <a:xfrm>
            <a:off x="4224528" y="2834640"/>
            <a:ext cx="3639312" cy="1371600"/>
          </a:xfrm>
          <a:prstGeom prst="rect">
            <a:avLst/>
          </a:prstGeom>
          <a:solidFill>
            <a:srgbClr val="FFFFFF"/>
          </a:solidFill>
          <a:ln w="9525">
            <a:solidFill>
              <a:srgbClr val="DCE4EE"/>
            </a:solidFill>
          </a:ln>
        </p:spPr>
        <p:txBody>
          <a:bodyPr/>
          <a:lstStyle/>
          <a:p>
            <a:endParaRPr lang="en-US"/>
          </a:p>
        </p:txBody>
      </p:sp>
      <p:sp>
        <p:nvSpPr>
          <p:cNvPr id="611" name="Shape 612"/>
          <p:cNvSpPr/>
          <p:nvPr/>
        </p:nvSpPr>
        <p:spPr>
          <a:xfrm>
            <a:off x="4443984" y="3035808"/>
            <a:ext cx="118872" cy="118872"/>
          </a:xfrm>
          <a:prstGeom prst="ellipse">
            <a:avLst/>
          </a:prstGeom>
          <a:solidFill>
            <a:srgbClr val="1B6BC0"/>
          </a:solidFill>
          <a:ln>
            <a:noFill/>
          </a:ln>
        </p:spPr>
        <p:txBody>
          <a:bodyPr/>
          <a:lstStyle/>
          <a:p>
            <a:endParaRPr lang="en-US"/>
          </a:p>
        </p:txBody>
      </p:sp>
      <p:sp>
        <p:nvSpPr>
          <p:cNvPr id="613" name="Text 614"/>
          <p:cNvSpPr txBox="1"/>
          <p:nvPr/>
        </p:nvSpPr>
        <p:spPr>
          <a:xfrm>
            <a:off x="4645152" y="2980944"/>
            <a:ext cx="23774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Impact assessed</a:t>
            </a:r>
          </a:p>
        </p:txBody>
      </p:sp>
      <p:sp>
        <p:nvSpPr>
          <p:cNvPr id="615" name="Shape 616"/>
          <p:cNvSpPr/>
          <p:nvPr/>
        </p:nvSpPr>
        <p:spPr>
          <a:xfrm>
            <a:off x="7022592" y="2971800"/>
            <a:ext cx="640080" cy="219456"/>
          </a:xfrm>
          <a:prstGeom prst="roundRect">
            <a:avLst>
              <a:gd name="adj" fmla="val 18000"/>
            </a:avLst>
          </a:prstGeom>
          <a:solidFill>
            <a:srgbClr val="1B6BC0"/>
          </a:solidFill>
          <a:ln>
            <a:noFill/>
          </a:ln>
        </p:spPr>
        <p:txBody>
          <a:bodyPr/>
          <a:lstStyle/>
          <a:p>
            <a:endParaRPr lang="en-US"/>
          </a:p>
        </p:txBody>
      </p:sp>
      <p:sp>
        <p:nvSpPr>
          <p:cNvPr id="617" name="Text 618"/>
          <p:cNvSpPr txBox="1"/>
          <p:nvPr/>
        </p:nvSpPr>
        <p:spPr>
          <a:xfrm>
            <a:off x="7022592" y="2971800"/>
            <a:ext cx="640080" cy="219456"/>
          </a:xfrm>
          <a:prstGeom prst="rect">
            <a:avLst/>
          </a:prstGeom>
          <a:noFill/>
          <a:ln/>
        </p:spPr>
        <p:txBody>
          <a:bodyPr wrap="square" lIns="0" tIns="0" rIns="0" bIns="0" rtlCol="0" anchor="ctr"/>
          <a:lstStyle/>
          <a:p>
            <a:pPr marL="0" indent="0" algn="ctr">
              <a:buNone/>
            </a:pPr>
            <a:r>
              <a:rPr lang="en-US" sz="650" b="1" dirty="0">
                <a:solidFill>
                  <a:srgbClr val="FFFFFF"/>
                </a:solidFill>
                <a:latin typeface="Trenda IG Text Semibold" pitchFamily="34" charset="0"/>
                <a:ea typeface="Trenda IG Text Semibold" pitchFamily="34" charset="-122"/>
                <a:cs typeface="Trenda IG Text Semibold" pitchFamily="34" charset="-120"/>
              </a:rPr>
              <a:t>Informs</a:t>
            </a:r>
          </a:p>
        </p:txBody>
      </p:sp>
      <p:sp>
        <p:nvSpPr>
          <p:cNvPr id="619" name="Text 620"/>
          <p:cNvSpPr txBox="1"/>
          <p:nvPr/>
        </p:nvSpPr>
        <p:spPr>
          <a:xfrm>
            <a:off x="4443984" y="3310128"/>
            <a:ext cx="3200400" cy="804672"/>
          </a:xfrm>
          <a:prstGeom prst="rect">
            <a:avLst/>
          </a:prstGeom>
          <a:noFill/>
          <a:ln/>
        </p:spPr>
        <p:txBody>
          <a:bodyPr wrap="square" lIns="0" tIns="0" rIns="0" bIns="0" rtlCol="0" anchor="t"/>
          <a:lstStyle/>
          <a:p>
            <a:pPr marL="0" indent="0" algn="l">
              <a:lnSpc>
                <a:spcPct val="128000"/>
              </a:lnSpc>
              <a:buNone/>
            </a:pPr>
            <a:r>
              <a:rPr lang="en-US" sz="800" dirty="0">
                <a:solidFill>
                  <a:srgbClr val="5C6E85"/>
                </a:solidFill>
                <a:latin typeface="Trenda IG Text" pitchFamily="34" charset="0"/>
                <a:ea typeface="Trenda IG Text" pitchFamily="34" charset="-122"/>
                <a:cs typeface="Trenda IG Text" pitchFamily="34" charset="-120"/>
              </a:rPr>
              <a:t>For a change to something that exists: what it touches directly, what it touches one step out, and how much of that is high risk.</a:t>
            </a:r>
          </a:p>
        </p:txBody>
      </p:sp>
      <p:sp>
        <p:nvSpPr>
          <p:cNvPr id="621" name="Shape 622"/>
          <p:cNvSpPr/>
          <p:nvPr/>
        </p:nvSpPr>
        <p:spPr>
          <a:xfrm>
            <a:off x="8083296" y="2834640"/>
            <a:ext cx="3639312" cy="1371600"/>
          </a:xfrm>
          <a:prstGeom prst="rect">
            <a:avLst/>
          </a:prstGeom>
          <a:solidFill>
            <a:srgbClr val="FFFFFF"/>
          </a:solidFill>
          <a:ln w="9525">
            <a:solidFill>
              <a:srgbClr val="DCE4EE"/>
            </a:solidFill>
          </a:ln>
        </p:spPr>
        <p:txBody>
          <a:bodyPr/>
          <a:lstStyle/>
          <a:p>
            <a:endParaRPr lang="en-US"/>
          </a:p>
        </p:txBody>
      </p:sp>
      <p:sp>
        <p:nvSpPr>
          <p:cNvPr id="623" name="Shape 624"/>
          <p:cNvSpPr/>
          <p:nvPr/>
        </p:nvSpPr>
        <p:spPr>
          <a:xfrm>
            <a:off x="8302752" y="3035808"/>
            <a:ext cx="118872" cy="118872"/>
          </a:xfrm>
          <a:prstGeom prst="ellipse">
            <a:avLst/>
          </a:prstGeom>
          <a:solidFill>
            <a:srgbClr val="5C6E85"/>
          </a:solidFill>
          <a:ln>
            <a:noFill/>
          </a:ln>
        </p:spPr>
        <p:txBody>
          <a:bodyPr/>
          <a:lstStyle/>
          <a:p>
            <a:endParaRPr lang="en-US"/>
          </a:p>
        </p:txBody>
      </p:sp>
      <p:sp>
        <p:nvSpPr>
          <p:cNvPr id="625" name="Text 626"/>
          <p:cNvSpPr txBox="1"/>
          <p:nvPr/>
        </p:nvSpPr>
        <p:spPr>
          <a:xfrm>
            <a:off x="8503920" y="2980944"/>
            <a:ext cx="23774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Needs clarification</a:t>
            </a:r>
          </a:p>
        </p:txBody>
      </p:sp>
      <p:sp>
        <p:nvSpPr>
          <p:cNvPr id="627" name="Shape 628"/>
          <p:cNvSpPr/>
          <p:nvPr/>
        </p:nvSpPr>
        <p:spPr>
          <a:xfrm>
            <a:off x="10881360" y="2971800"/>
            <a:ext cx="640080" cy="219456"/>
          </a:xfrm>
          <a:prstGeom prst="roundRect">
            <a:avLst>
              <a:gd name="adj" fmla="val 18000"/>
            </a:avLst>
          </a:prstGeom>
          <a:solidFill>
            <a:srgbClr val="5C6E85"/>
          </a:solidFill>
          <a:ln>
            <a:noFill/>
          </a:ln>
        </p:spPr>
        <p:txBody>
          <a:bodyPr/>
          <a:lstStyle/>
          <a:p>
            <a:endParaRPr lang="en-US"/>
          </a:p>
        </p:txBody>
      </p:sp>
      <p:sp>
        <p:nvSpPr>
          <p:cNvPr id="629" name="Text 630"/>
          <p:cNvSpPr txBox="1"/>
          <p:nvPr/>
        </p:nvSpPr>
        <p:spPr>
          <a:xfrm>
            <a:off x="10881360" y="2971800"/>
            <a:ext cx="640080" cy="219456"/>
          </a:xfrm>
          <a:prstGeom prst="rect">
            <a:avLst/>
          </a:prstGeom>
          <a:noFill/>
          <a:ln/>
        </p:spPr>
        <p:txBody>
          <a:bodyPr wrap="square" lIns="0" tIns="0" rIns="0" bIns="0" rtlCol="0" anchor="ctr"/>
          <a:lstStyle/>
          <a:p>
            <a:pPr marL="0" indent="0" algn="ctr">
              <a:buNone/>
            </a:pPr>
            <a:r>
              <a:rPr lang="en-US" sz="650" b="1" dirty="0">
                <a:solidFill>
                  <a:srgbClr val="FFFFFF"/>
                </a:solidFill>
                <a:latin typeface="Trenda IG Text Semibold" pitchFamily="34" charset="0"/>
                <a:ea typeface="Trenda IG Text Semibold" pitchFamily="34" charset="-122"/>
                <a:cs typeface="Trenda IG Text Semibold" pitchFamily="34" charset="-120"/>
              </a:rPr>
              <a:t>Asks</a:t>
            </a:r>
          </a:p>
        </p:txBody>
      </p:sp>
      <p:sp>
        <p:nvSpPr>
          <p:cNvPr id="631" name="Text 632"/>
          <p:cNvSpPr txBox="1"/>
          <p:nvPr/>
        </p:nvSpPr>
        <p:spPr>
          <a:xfrm>
            <a:off x="8302752" y="3310128"/>
            <a:ext cx="3200400" cy="804672"/>
          </a:xfrm>
          <a:prstGeom prst="rect">
            <a:avLst/>
          </a:prstGeom>
          <a:noFill/>
          <a:ln/>
        </p:spPr>
        <p:txBody>
          <a:bodyPr wrap="square" lIns="0" tIns="0" rIns="0" bIns="0" rtlCol="0" anchor="t"/>
          <a:lstStyle/>
          <a:p>
            <a:pPr marL="0" indent="0" algn="l">
              <a:lnSpc>
                <a:spcPct val="128000"/>
              </a:lnSpc>
              <a:buNone/>
            </a:pPr>
            <a:r>
              <a:rPr lang="en-US" sz="800" dirty="0">
                <a:solidFill>
                  <a:srgbClr val="5C6E85"/>
                </a:solidFill>
                <a:latin typeface="Trenda IG Text" pitchFamily="34" charset="0"/>
                <a:ea typeface="Trenda IG Text" pitchFamily="34" charset="-122"/>
                <a:cs typeface="Trenda IG Text" pitchFamily="34" charset="-120"/>
              </a:rPr>
              <a:t>Nothing matched, or the object sits outside the pod. An absence of evidence is never reported as evidence of absence.</a:t>
            </a:r>
          </a:p>
        </p:txBody>
      </p:sp>
      <p:sp>
        <p:nvSpPr>
          <p:cNvPr id="633" name="Shape 634"/>
          <p:cNvSpPr/>
          <p:nvPr/>
        </p:nvSpPr>
        <p:spPr>
          <a:xfrm>
            <a:off x="365760" y="4443984"/>
            <a:ext cx="11457432" cy="914400"/>
          </a:xfrm>
          <a:prstGeom prst="roundRect">
            <a:avLst>
              <a:gd name="adj" fmla="val 10000"/>
            </a:avLst>
          </a:prstGeom>
          <a:solidFill>
            <a:srgbClr val="EAF1F9"/>
          </a:solidFill>
          <a:ln>
            <a:noFill/>
          </a:ln>
        </p:spPr>
        <p:txBody>
          <a:bodyPr/>
          <a:lstStyle/>
          <a:p>
            <a:endParaRPr lang="en-US"/>
          </a:p>
        </p:txBody>
      </p:sp>
      <p:sp>
        <p:nvSpPr>
          <p:cNvPr id="635" name="Text 636"/>
          <p:cNvSpPr txBox="1"/>
          <p:nvPr/>
        </p:nvSpPr>
        <p:spPr>
          <a:xfrm>
            <a:off x="585216" y="4590288"/>
            <a:ext cx="11018520" cy="658368"/>
          </a:xfrm>
          <a:prstGeom prst="rect">
            <a:avLst/>
          </a:prstGeom>
          <a:noFill/>
          <a:ln/>
        </p:spPr>
        <p:txBody>
          <a:bodyPr wrap="square" lIns="0" tIns="0" rIns="0" bIns="0" rtlCol="0" anchor="t"/>
          <a:lstStyle/>
          <a:p>
            <a:pPr marL="0" indent="0" algn="l">
              <a:lnSpc>
                <a:spcPct val="130000"/>
              </a:lnSpc>
              <a:buNone/>
            </a:pPr>
            <a:r>
              <a:rPr lang="en-US" sz="850" dirty="0">
                <a:solidFill>
                  <a:srgbClr val="1B6BC0"/>
                </a:solidFill>
                <a:latin typeface="Trenda IG Text" pitchFamily="34" charset="0"/>
                <a:ea typeface="Trenda IG Text" pitchFamily="34" charset="-122"/>
                <a:cs typeface="Trenda IG Text" pitchFamily="34" charset="-120"/>
              </a:rPr>
              <a:t>The rule underneath all six: the console may only clear a request if it can show it actually searched. If the object was never in the graph, “nothing was found” means the search never happened, and reporting that as a clearance is a guess dressed up as an answer. That distinction is the difference between a useful system and a confident one.</a:t>
            </a:r>
          </a:p>
        </p:txBody>
      </p:sp>
      <p:sp>
        <p:nvSpPr>
          <p:cNvPr id="637" name="Text 638"/>
          <p:cNvSpPr txBox="1"/>
          <p:nvPr/>
        </p:nvSpPr>
        <p:spPr>
          <a:xfrm>
            <a:off x="365760" y="5577840"/>
            <a:ext cx="11457432" cy="457200"/>
          </a:xfrm>
          <a:prstGeom prst="rect">
            <a:avLst/>
          </a:prstGeom>
          <a:noFill/>
          <a:ln/>
        </p:spPr>
        <p:txBody>
          <a:bodyPr wrap="square" lIns="0" tIns="0" rIns="0" bIns="0" rtlCol="0" anchor="t"/>
          <a:lstStyle/>
          <a:p>
            <a:pPr marL="0" indent="0" algn="l">
              <a:buNone/>
            </a:pPr>
            <a:r>
              <a:rPr lang="en-US" sz="850" i="1" dirty="0">
                <a:solidFill>
                  <a:srgbClr val="5C6E85"/>
                </a:solidFill>
                <a:latin typeface="Trenda IG Text" pitchFamily="34" charset="0"/>
                <a:ea typeface="Trenda IG Text" pitchFamily="34" charset="-122"/>
                <a:cs typeface="Trenda IG Text" pitchFamily="34" charset="-120"/>
              </a:rPr>
              <a:t>Worked example from the sandbox: asking to create a field that already existed returned the existing field, its real type and where it came from, and refused to duplicate it.</a:t>
            </a:r>
          </a:p>
        </p:txBody>
      </p:sp>
    </p:spTree>
  </p:cSld>
  <p:clrMapOvr>
    <a:masterClrMapping/>
  </p:clrMapOvr>
</p:sld>
</file>

<file path=ppt/slides/slide18.xml><?xml version="1.0" encoding="utf-8"?>
<!-- AI-CHANGE-CONSOLE-POC-SLIDE -->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639" name="Text 640"/>
          <p:cNvSpPr txBox="1"/>
          <p:nvPr/>
        </p:nvSpPr>
        <p:spPr>
          <a:xfrm>
            <a:off x="365760" y="256032"/>
            <a:ext cx="11457432" cy="347472"/>
          </a:xfrm>
          <a:prstGeom prst="rect">
            <a:avLst/>
          </a:prstGeom>
          <a:noFill/>
          <a:ln/>
        </p:spPr>
        <p:txBody>
          <a:bodyPr wrap="square" lIns="0" tIns="0" rIns="0" bIns="0" rtlCol="0" anchor="ctr"/>
          <a:lstStyle/>
          <a:p>
            <a:pPr marL="0" indent="0" algn="l">
              <a:buNone/>
            </a:pPr>
            <a:r>
              <a:rPr lang="en-US" sz="2000" dirty="0">
                <a:solidFill>
                  <a:srgbClr val="0E1B2E"/>
                </a:solidFill>
                <a:latin typeface="Trenda IG Display Bold" pitchFamily="34" charset="0"/>
                <a:ea typeface="Trenda IG Display Bold" pitchFamily="34" charset="-122"/>
                <a:cs typeface="Trenda IG Display Bold" pitchFamily="34" charset="-120"/>
              </a:rPr>
              <a:t>Low-level design</a:t>
            </a:r>
          </a:p>
        </p:txBody>
      </p:sp>
      <p:sp>
        <p:nvSpPr>
          <p:cNvPr id="641" name="Text 642"/>
          <p:cNvSpPr txBox="1"/>
          <p:nvPr/>
        </p:nvSpPr>
        <p:spPr>
          <a:xfrm>
            <a:off x="365760" y="640080"/>
            <a:ext cx="11457432" cy="219456"/>
          </a:xfrm>
          <a:prstGeom prst="rect">
            <a:avLst/>
          </a:prstGeom>
          <a:noFill/>
          <a:ln/>
        </p:spPr>
        <p:txBody>
          <a:bodyPr wrap="square" lIns="0" tIns="0" rIns="0" bIns="0" rtlCol="0" anchor="ctr"/>
          <a:lstStyle/>
          <a:p>
            <a:pPr marL="0" indent="0" algn="l">
              <a:buNone/>
            </a:pPr>
            <a:r>
              <a:rPr lang="en-US" sz="950" dirty="0">
                <a:solidFill>
                  <a:srgbClr val="5C6E85"/>
                </a:solidFill>
                <a:latin typeface="Trenda IG Display" pitchFamily="34" charset="0"/>
                <a:ea typeface="Trenda IG Display" pitchFamily="34" charset="-122"/>
                <a:cs typeface="Trenda IG Display" pitchFamily="34" charset="-120"/>
              </a:rPr>
              <a:t>The pieces that do the work, what each is responsible for, and the contract between them.</a:t>
            </a:r>
          </a:p>
        </p:txBody>
      </p:sp>
      <p:sp>
        <p:nvSpPr>
          <p:cNvPr id="643" name="Text 644"/>
          <p:cNvSpPr txBox="1"/>
          <p:nvPr/>
        </p:nvSpPr>
        <p:spPr>
          <a:xfrm>
            <a:off x="365760" y="969264"/>
            <a:ext cx="11457432" cy="164592"/>
          </a:xfrm>
          <a:prstGeom prst="rect">
            <a:avLst/>
          </a:prstGeom>
          <a:noFill/>
          <a:ln/>
        </p:spPr>
        <p:txBody>
          <a:bodyPr wrap="square" lIns="0" tIns="0" rIns="0" bIns="0" rtlCol="0" anchor="t"/>
          <a:lstStyle/>
          <a:p>
            <a:pPr marL="0" indent="0" algn="l">
              <a:buNone/>
            </a:pPr>
            <a:r>
              <a:rPr lang="en-US" sz="700" b="1" dirty="0">
                <a:solidFill>
                  <a:srgbClr val="00757F"/>
                </a:solidFill>
                <a:latin typeface="Trenda IG Text Semibold" pitchFamily="34" charset="0"/>
                <a:ea typeface="Trenda IG Text Semibold" pitchFamily="34" charset="-122"/>
                <a:cs typeface="Trenda IG Text Semibold" pitchFamily="34" charset="-120"/>
              </a:rPr>
              <a:t>WHAT IS DEPLOYED IN THE SANDBOX TODAY</a:t>
            </a:r>
          </a:p>
        </p:txBody>
      </p:sp>
      <p:sp>
        <p:nvSpPr>
          <p:cNvPr id="645" name="Shape 646"/>
          <p:cNvSpPr/>
          <p:nvPr/>
        </p:nvSpPr>
        <p:spPr>
          <a:xfrm>
            <a:off x="365760" y="1298448"/>
            <a:ext cx="237744" cy="237744"/>
          </a:xfrm>
          <a:prstGeom prst="ellipse">
            <a:avLst/>
          </a:prstGeom>
          <a:solidFill>
            <a:srgbClr val="1B6BC0"/>
          </a:solidFill>
          <a:ln>
            <a:noFill/>
          </a:ln>
        </p:spPr>
        <p:txBody>
          <a:bodyPr/>
          <a:lstStyle/>
          <a:p>
            <a:endParaRPr lang="en-US"/>
          </a:p>
        </p:txBody>
      </p:sp>
      <p:sp>
        <p:nvSpPr>
          <p:cNvPr id="647" name="Text 648"/>
          <p:cNvSpPr txBox="1"/>
          <p:nvPr/>
        </p:nvSpPr>
        <p:spPr>
          <a:xfrm>
            <a:off x="731520" y="1298448"/>
            <a:ext cx="5212080" cy="237744"/>
          </a:xfrm>
          <a:prstGeom prst="rect">
            <a:avLst/>
          </a:prstGeom>
          <a:noFill/>
          <a:ln/>
        </p:spPr>
        <p:txBody>
          <a:bodyPr wrap="square" lIns="0" tIns="0" rIns="0" bIns="0" rtlCol="0" anchor="ctr"/>
          <a:lstStyle/>
          <a:p>
            <a:pPr marL="0" indent="0" algn="l">
              <a:buNone/>
            </a:pPr>
            <a:r>
              <a:rPr lang="en-US" sz="1000" b="1" dirty="0">
                <a:solidFill>
                  <a:srgbClr val="0E1B2E"/>
                </a:solidFill>
                <a:latin typeface="Trenda IG Text Semibold" pitchFamily="34" charset="0"/>
                <a:ea typeface="Trenda IG Text Semibold" pitchFamily="34" charset="-122"/>
                <a:cs typeface="Trenda IG Text Semibold" pitchFamily="34" charset="-120"/>
              </a:rPr>
              <a:t>Building the map</a:t>
            </a:r>
          </a:p>
        </p:txBody>
      </p:sp>
      <p:sp>
        <p:nvSpPr>
          <p:cNvPr id="649" name="Shape 650"/>
          <p:cNvSpPr/>
          <p:nvPr/>
        </p:nvSpPr>
        <p:spPr>
          <a:xfrm>
            <a:off x="365760" y="1682496"/>
            <a:ext cx="5614416" cy="896112"/>
          </a:xfrm>
          <a:prstGeom prst="rect">
            <a:avLst/>
          </a:prstGeom>
          <a:solidFill>
            <a:srgbClr val="FFFFFF"/>
          </a:solidFill>
          <a:ln w="9525">
            <a:solidFill>
              <a:srgbClr val="DCE4EE"/>
            </a:solidFill>
          </a:ln>
        </p:spPr>
        <p:txBody>
          <a:bodyPr/>
          <a:lstStyle/>
          <a:p>
            <a:endParaRPr lang="en-US"/>
          </a:p>
        </p:txBody>
      </p:sp>
      <p:sp>
        <p:nvSpPr>
          <p:cNvPr id="651" name="Text 652"/>
          <p:cNvSpPr txBox="1"/>
          <p:nvPr/>
        </p:nvSpPr>
        <p:spPr>
          <a:xfrm>
            <a:off x="585216" y="1810512"/>
            <a:ext cx="5212080" cy="201168"/>
          </a:xfrm>
          <a:prstGeom prst="rect">
            <a:avLst/>
          </a:prstGeom>
          <a:noFill/>
          <a:ln/>
        </p:spPr>
        <p:txBody>
          <a:bodyPr wrap="square" lIns="0" tIns="0" rIns="0" bIns="0" rtlCol="0" anchor="t"/>
          <a:lstStyle/>
          <a:p>
            <a:pPr marL="0" indent="0" algn="l">
              <a:buNone/>
            </a:pPr>
            <a:r>
              <a:rPr lang="en-US" sz="900" b="1" dirty="0">
                <a:solidFill>
                  <a:srgbClr val="1B6BC0"/>
                </a:solidFill>
                <a:latin typeface="Trenda IG Text Semibold" pitchFamily="34" charset="0"/>
                <a:ea typeface="Trenda IG Text Semibold" pitchFamily="34" charset="-122"/>
                <a:cs typeface="Trenda IG Text Semibold" pitchFamily="34" charset="-120"/>
              </a:rPr>
              <a:t>Pod definition</a:t>
            </a:r>
          </a:p>
        </p:txBody>
      </p:sp>
      <p:sp>
        <p:nvSpPr>
          <p:cNvPr id="653" name="Text 654"/>
          <p:cNvSpPr txBox="1"/>
          <p:nvPr/>
        </p:nvSpPr>
        <p:spPr>
          <a:xfrm>
            <a:off x="585216" y="2066544"/>
            <a:ext cx="5212080" cy="438912"/>
          </a:xfrm>
          <a:prstGeom prst="rect">
            <a:avLst/>
          </a:prstGeom>
          <a:noFill/>
          <a:ln/>
        </p:spPr>
        <p:txBody>
          <a:bodyPr wrap="square" lIns="0" tIns="0" rIns="0" bIns="0" rtlCol="0" anchor="t"/>
          <a:lstStyle/>
          <a:p>
            <a:pPr marL="0" indent="0" algn="l">
              <a:lnSpc>
                <a:spcPct val="125000"/>
              </a:lnSpc>
              <a:buNone/>
            </a:pPr>
            <a:r>
              <a:rPr lang="en-US" sz="750" dirty="0">
                <a:solidFill>
                  <a:srgbClr val="5C6E85"/>
                </a:solidFill>
                <a:latin typeface="Trenda IG Text" pitchFamily="34" charset="0"/>
                <a:ea typeface="Trenda IG Text" pitchFamily="34" charset="-122"/>
                <a:cs typeface="Trenda IG Text" pitchFamily="34" charset="-120"/>
              </a:rPr>
              <a:t>The pod declared in one reviewable place: objects, record type names, automation naming conventions, entry triggers</a:t>
            </a:r>
          </a:p>
        </p:txBody>
      </p:sp>
      <p:sp>
        <p:nvSpPr>
          <p:cNvPr id="655" name="Shape 656"/>
          <p:cNvSpPr/>
          <p:nvPr/>
        </p:nvSpPr>
        <p:spPr>
          <a:xfrm>
            <a:off x="365760" y="2670048"/>
            <a:ext cx="5614416" cy="896112"/>
          </a:xfrm>
          <a:prstGeom prst="rect">
            <a:avLst/>
          </a:prstGeom>
          <a:solidFill>
            <a:srgbClr val="FFFFFF"/>
          </a:solidFill>
          <a:ln w="9525">
            <a:solidFill>
              <a:srgbClr val="DCE4EE"/>
            </a:solidFill>
          </a:ln>
        </p:spPr>
        <p:txBody>
          <a:bodyPr/>
          <a:lstStyle/>
          <a:p>
            <a:endParaRPr lang="en-US"/>
          </a:p>
        </p:txBody>
      </p:sp>
      <p:sp>
        <p:nvSpPr>
          <p:cNvPr id="657" name="Text 658"/>
          <p:cNvSpPr txBox="1"/>
          <p:nvPr/>
        </p:nvSpPr>
        <p:spPr>
          <a:xfrm>
            <a:off x="585216" y="2798064"/>
            <a:ext cx="5212080" cy="201168"/>
          </a:xfrm>
          <a:prstGeom prst="rect">
            <a:avLst/>
          </a:prstGeom>
          <a:noFill/>
          <a:ln/>
        </p:spPr>
        <p:txBody>
          <a:bodyPr wrap="square" lIns="0" tIns="0" rIns="0" bIns="0" rtlCol="0" anchor="t"/>
          <a:lstStyle/>
          <a:p>
            <a:pPr marL="0" indent="0" algn="l">
              <a:buNone/>
            </a:pPr>
            <a:r>
              <a:rPr lang="en-US" sz="900" b="1" dirty="0">
                <a:solidFill>
                  <a:srgbClr val="1B6BC0"/>
                </a:solidFill>
                <a:latin typeface="Trenda IG Text Semibold" pitchFamily="34" charset="0"/>
                <a:ea typeface="Trenda IG Text Semibold" pitchFamily="34" charset="-122"/>
                <a:cs typeface="Trenda IG Text Semibold" pitchFamily="34" charset="-120"/>
              </a:rPr>
              <a:t>Scope resolver</a:t>
            </a:r>
          </a:p>
        </p:txBody>
      </p:sp>
      <p:sp>
        <p:nvSpPr>
          <p:cNvPr id="659" name="Text 660"/>
          <p:cNvSpPr txBox="1"/>
          <p:nvPr/>
        </p:nvSpPr>
        <p:spPr>
          <a:xfrm>
            <a:off x="585216" y="3054096"/>
            <a:ext cx="5212080" cy="438912"/>
          </a:xfrm>
          <a:prstGeom prst="rect">
            <a:avLst/>
          </a:prstGeom>
          <a:noFill/>
          <a:ln/>
        </p:spPr>
        <p:txBody>
          <a:bodyPr wrap="square" lIns="0" tIns="0" rIns="0" bIns="0" rtlCol="0" anchor="t"/>
          <a:lstStyle/>
          <a:p>
            <a:pPr marL="0" indent="0" algn="l">
              <a:lnSpc>
                <a:spcPct val="125000"/>
              </a:lnSpc>
              <a:buNone/>
            </a:pPr>
            <a:r>
              <a:rPr lang="en-US" sz="750" dirty="0">
                <a:solidFill>
                  <a:srgbClr val="5C6E85"/>
                </a:solidFill>
                <a:latin typeface="Trenda IG Text" pitchFamily="34" charset="0"/>
                <a:ea typeface="Trenda IG Text" pitchFamily="34" charset="-122"/>
                <a:cs typeface="Trenda IG Text" pitchFamily="34" charset="-120"/>
              </a:rPr>
              <a:t>Resolves the declared list against the org, unions the profile and record type signals, and names anything that did not resolve</a:t>
            </a:r>
          </a:p>
        </p:txBody>
      </p:sp>
      <p:sp>
        <p:nvSpPr>
          <p:cNvPr id="661" name="Shape 662"/>
          <p:cNvSpPr/>
          <p:nvPr/>
        </p:nvSpPr>
        <p:spPr>
          <a:xfrm>
            <a:off x="365760" y="3657600"/>
            <a:ext cx="5614416" cy="896112"/>
          </a:xfrm>
          <a:prstGeom prst="rect">
            <a:avLst/>
          </a:prstGeom>
          <a:solidFill>
            <a:srgbClr val="FFFFFF"/>
          </a:solidFill>
          <a:ln w="9525">
            <a:solidFill>
              <a:srgbClr val="DCE4EE"/>
            </a:solidFill>
          </a:ln>
        </p:spPr>
        <p:txBody>
          <a:bodyPr/>
          <a:lstStyle/>
          <a:p>
            <a:endParaRPr lang="en-US"/>
          </a:p>
        </p:txBody>
      </p:sp>
      <p:sp>
        <p:nvSpPr>
          <p:cNvPr id="663" name="Text 664"/>
          <p:cNvSpPr txBox="1"/>
          <p:nvPr/>
        </p:nvSpPr>
        <p:spPr>
          <a:xfrm>
            <a:off x="585216" y="3785616"/>
            <a:ext cx="5212080" cy="201168"/>
          </a:xfrm>
          <a:prstGeom prst="rect">
            <a:avLst/>
          </a:prstGeom>
          <a:noFill/>
          <a:ln/>
        </p:spPr>
        <p:txBody>
          <a:bodyPr wrap="square" lIns="0" tIns="0" rIns="0" bIns="0" rtlCol="0" anchor="t"/>
          <a:lstStyle/>
          <a:p>
            <a:pPr marL="0" indent="0" algn="l">
              <a:buNone/>
            </a:pPr>
            <a:r>
              <a:rPr lang="en-US" sz="900" b="1" dirty="0">
                <a:solidFill>
                  <a:srgbClr val="1B6BC0"/>
                </a:solidFill>
                <a:latin typeface="Trenda IG Text Semibold" pitchFamily="34" charset="0"/>
                <a:ea typeface="Trenda IG Text Semibold" pitchFamily="34" charset="-122"/>
                <a:cs typeface="Trenda IG Text Semibold" pitchFamily="34" charset="-120"/>
              </a:rPr>
              <a:t>Exporter</a:t>
            </a:r>
          </a:p>
        </p:txBody>
      </p:sp>
      <p:sp>
        <p:nvSpPr>
          <p:cNvPr id="665" name="Text 666"/>
          <p:cNvSpPr txBox="1"/>
          <p:nvPr/>
        </p:nvSpPr>
        <p:spPr>
          <a:xfrm>
            <a:off x="585216" y="4041648"/>
            <a:ext cx="5212080" cy="438912"/>
          </a:xfrm>
          <a:prstGeom prst="rect">
            <a:avLst/>
          </a:prstGeom>
          <a:noFill/>
          <a:ln/>
        </p:spPr>
        <p:txBody>
          <a:bodyPr wrap="square" lIns="0" tIns="0" rIns="0" bIns="0" rtlCol="0" anchor="t"/>
          <a:lstStyle/>
          <a:p>
            <a:pPr marL="0" indent="0" algn="l">
              <a:lnSpc>
                <a:spcPct val="125000"/>
              </a:lnSpc>
              <a:buNone/>
            </a:pPr>
            <a:r>
              <a:rPr lang="en-US" sz="750" dirty="0">
                <a:solidFill>
                  <a:srgbClr val="5C6E85"/>
                </a:solidFill>
                <a:latin typeface="Trenda IG Text" pitchFamily="34" charset="0"/>
                <a:ea typeface="Trenda IG Text" pitchFamily="34" charset="-122"/>
                <a:cs typeface="Trenda IG Text" pitchFamily="34" charset="-120"/>
              </a:rPr>
              <a:t>Background job: reads metadata, emits points and lines, reports what it truncated, stops on a CPU or memory budget rather than failing</a:t>
            </a:r>
          </a:p>
        </p:txBody>
      </p:sp>
      <p:sp>
        <p:nvSpPr>
          <p:cNvPr id="667" name="Shape 668"/>
          <p:cNvSpPr/>
          <p:nvPr/>
        </p:nvSpPr>
        <p:spPr>
          <a:xfrm>
            <a:off x="365760" y="4645152"/>
            <a:ext cx="5614416" cy="896112"/>
          </a:xfrm>
          <a:prstGeom prst="rect">
            <a:avLst/>
          </a:prstGeom>
          <a:solidFill>
            <a:srgbClr val="FFFFFF"/>
          </a:solidFill>
          <a:ln w="9525">
            <a:solidFill>
              <a:srgbClr val="DCE4EE"/>
            </a:solidFill>
          </a:ln>
        </p:spPr>
        <p:txBody>
          <a:bodyPr/>
          <a:lstStyle/>
          <a:p>
            <a:endParaRPr lang="en-US"/>
          </a:p>
        </p:txBody>
      </p:sp>
      <p:sp>
        <p:nvSpPr>
          <p:cNvPr id="669" name="Text 670"/>
          <p:cNvSpPr txBox="1"/>
          <p:nvPr/>
        </p:nvSpPr>
        <p:spPr>
          <a:xfrm>
            <a:off x="585216" y="4773168"/>
            <a:ext cx="5212080" cy="201168"/>
          </a:xfrm>
          <a:prstGeom prst="rect">
            <a:avLst/>
          </a:prstGeom>
          <a:noFill/>
          <a:ln/>
        </p:spPr>
        <p:txBody>
          <a:bodyPr wrap="square" lIns="0" tIns="0" rIns="0" bIns="0" rtlCol="0" anchor="t"/>
          <a:lstStyle/>
          <a:p>
            <a:pPr marL="0" indent="0" algn="l">
              <a:buNone/>
            </a:pPr>
            <a:r>
              <a:rPr lang="en-US" sz="900" b="1" dirty="0">
                <a:solidFill>
                  <a:srgbClr val="1B6BC0"/>
                </a:solidFill>
                <a:latin typeface="Trenda IG Text Semibold" pitchFamily="34" charset="0"/>
                <a:ea typeface="Trenda IG Text Semibold" pitchFamily="34" charset="-122"/>
                <a:cs typeface="Trenda IG Text Semibold" pitchFamily="34" charset="-120"/>
              </a:rPr>
              <a:t>File store</a:t>
            </a:r>
          </a:p>
        </p:txBody>
      </p:sp>
      <p:sp>
        <p:nvSpPr>
          <p:cNvPr id="671" name="Text 672"/>
          <p:cNvSpPr txBox="1"/>
          <p:nvPr/>
        </p:nvSpPr>
        <p:spPr>
          <a:xfrm>
            <a:off x="585216" y="5029200"/>
            <a:ext cx="5212080" cy="438912"/>
          </a:xfrm>
          <a:prstGeom prst="rect">
            <a:avLst/>
          </a:prstGeom>
          <a:noFill/>
          <a:ln/>
        </p:spPr>
        <p:txBody>
          <a:bodyPr wrap="square" lIns="0" tIns="0" rIns="0" bIns="0" rtlCol="0" anchor="t"/>
          <a:lstStyle/>
          <a:p>
            <a:pPr marL="0" indent="0" algn="l">
              <a:lnSpc>
                <a:spcPct val="125000"/>
              </a:lnSpc>
              <a:buNone/>
            </a:pPr>
            <a:r>
              <a:rPr lang="en-US" sz="750" dirty="0">
                <a:solidFill>
                  <a:srgbClr val="5C6E85"/>
                </a:solidFill>
                <a:latin typeface="Trenda IG Text" pitchFamily="34" charset="0"/>
                <a:ea typeface="Trenda IG Text" pitchFamily="34" charset="-122"/>
                <a:cs typeface="Trenda IG Text" pitchFamily="34" charset="-120"/>
              </a:rPr>
              <a:t>Saves and loads the JSON document with a hard size ceiling, versioned on every rebuild</a:t>
            </a:r>
          </a:p>
        </p:txBody>
      </p:sp>
      <p:sp>
        <p:nvSpPr>
          <p:cNvPr id="673" name="Shape 674"/>
          <p:cNvSpPr/>
          <p:nvPr/>
        </p:nvSpPr>
        <p:spPr>
          <a:xfrm>
            <a:off x="6208776" y="1298448"/>
            <a:ext cx="237744" cy="237744"/>
          </a:xfrm>
          <a:prstGeom prst="ellipse">
            <a:avLst/>
          </a:prstGeom>
          <a:solidFill>
            <a:srgbClr val="0E8A7D"/>
          </a:solidFill>
          <a:ln>
            <a:noFill/>
          </a:ln>
        </p:spPr>
        <p:txBody>
          <a:bodyPr/>
          <a:lstStyle/>
          <a:p>
            <a:endParaRPr lang="en-US"/>
          </a:p>
        </p:txBody>
      </p:sp>
      <p:sp>
        <p:nvSpPr>
          <p:cNvPr id="675" name="Text 676"/>
          <p:cNvSpPr txBox="1"/>
          <p:nvPr/>
        </p:nvSpPr>
        <p:spPr>
          <a:xfrm>
            <a:off x="6574536" y="1298448"/>
            <a:ext cx="5212080" cy="237744"/>
          </a:xfrm>
          <a:prstGeom prst="rect">
            <a:avLst/>
          </a:prstGeom>
          <a:noFill/>
          <a:ln/>
        </p:spPr>
        <p:txBody>
          <a:bodyPr wrap="square" lIns="0" tIns="0" rIns="0" bIns="0" rtlCol="0" anchor="ctr"/>
          <a:lstStyle/>
          <a:p>
            <a:pPr marL="0" indent="0" algn="l">
              <a:buNone/>
            </a:pPr>
            <a:r>
              <a:rPr lang="en-US" sz="1000" b="1" dirty="0">
                <a:solidFill>
                  <a:srgbClr val="0E1B2E"/>
                </a:solidFill>
                <a:latin typeface="Trenda IG Text Semibold" pitchFamily="34" charset="0"/>
                <a:ea typeface="Trenda IG Text Semibold" pitchFamily="34" charset="-122"/>
                <a:cs typeface="Trenda IG Text Semibold" pitchFamily="34" charset="-120"/>
              </a:rPr>
              <a:t>Answering the question</a:t>
            </a:r>
          </a:p>
        </p:txBody>
      </p:sp>
      <p:sp>
        <p:nvSpPr>
          <p:cNvPr id="677" name="Shape 678"/>
          <p:cNvSpPr/>
          <p:nvPr/>
        </p:nvSpPr>
        <p:spPr>
          <a:xfrm>
            <a:off x="6208776" y="1682496"/>
            <a:ext cx="5614416" cy="896112"/>
          </a:xfrm>
          <a:prstGeom prst="rect">
            <a:avLst/>
          </a:prstGeom>
          <a:solidFill>
            <a:srgbClr val="FFFFFF"/>
          </a:solidFill>
          <a:ln w="9525">
            <a:solidFill>
              <a:srgbClr val="DCE4EE"/>
            </a:solidFill>
          </a:ln>
        </p:spPr>
        <p:txBody>
          <a:bodyPr/>
          <a:lstStyle/>
          <a:p>
            <a:endParaRPr lang="en-US"/>
          </a:p>
        </p:txBody>
      </p:sp>
      <p:sp>
        <p:nvSpPr>
          <p:cNvPr id="679" name="Text 680"/>
          <p:cNvSpPr txBox="1"/>
          <p:nvPr/>
        </p:nvSpPr>
        <p:spPr>
          <a:xfrm>
            <a:off x="6428232" y="1810512"/>
            <a:ext cx="5212080" cy="201168"/>
          </a:xfrm>
          <a:prstGeom prst="rect">
            <a:avLst/>
          </a:prstGeom>
          <a:noFill/>
          <a:ln/>
        </p:spPr>
        <p:txBody>
          <a:bodyPr wrap="square" lIns="0" tIns="0" rIns="0" bIns="0" rtlCol="0" anchor="t"/>
          <a:lstStyle/>
          <a:p>
            <a:pPr marL="0" indent="0" algn="l">
              <a:buNone/>
            </a:pPr>
            <a:r>
              <a:rPr lang="en-US" sz="900" b="1" dirty="0">
                <a:solidFill>
                  <a:srgbClr val="0E8A7D"/>
                </a:solidFill>
                <a:latin typeface="Trenda IG Text Semibold" pitchFamily="34" charset="0"/>
                <a:ea typeface="Trenda IG Text Semibold" pitchFamily="34" charset="-122"/>
                <a:cs typeface="Trenda IG Text Semibold" pitchFamily="34" charset="-120"/>
              </a:rPr>
              <a:t>Graph engine</a:t>
            </a:r>
          </a:p>
        </p:txBody>
      </p:sp>
      <p:sp>
        <p:nvSpPr>
          <p:cNvPr id="681" name="Text 682"/>
          <p:cNvSpPr txBox="1"/>
          <p:nvPr/>
        </p:nvSpPr>
        <p:spPr>
          <a:xfrm>
            <a:off x="6428232" y="2066544"/>
            <a:ext cx="5212080" cy="438912"/>
          </a:xfrm>
          <a:prstGeom prst="rect">
            <a:avLst/>
          </a:prstGeom>
          <a:noFill/>
          <a:ln/>
        </p:spPr>
        <p:txBody>
          <a:bodyPr wrap="square" lIns="0" tIns="0" rIns="0" bIns="0" rtlCol="0" anchor="t"/>
          <a:lstStyle/>
          <a:p>
            <a:pPr marL="0" indent="0" algn="l">
              <a:lnSpc>
                <a:spcPct val="125000"/>
              </a:lnSpc>
              <a:buNone/>
            </a:pPr>
            <a:r>
              <a:rPr lang="en-US" sz="750" dirty="0">
                <a:solidFill>
                  <a:srgbClr val="5C6E85"/>
                </a:solidFill>
                <a:latin typeface="Trenda IG Text" pitchFamily="34" charset="0"/>
                <a:ea typeface="Trenda IG Text" pitchFamily="34" charset="-122"/>
                <a:cs typeface="Trenda IG Text" pitchFamily="34" charset="-120"/>
              </a:rPr>
              <a:t>Loads the document, indexes it into adjacency maps, walks relationships with no query against the org</a:t>
            </a:r>
          </a:p>
        </p:txBody>
      </p:sp>
      <p:sp>
        <p:nvSpPr>
          <p:cNvPr id="683" name="Shape 684"/>
          <p:cNvSpPr/>
          <p:nvPr/>
        </p:nvSpPr>
        <p:spPr>
          <a:xfrm>
            <a:off x="6208776" y="2670048"/>
            <a:ext cx="5614416" cy="896112"/>
          </a:xfrm>
          <a:prstGeom prst="rect">
            <a:avLst/>
          </a:prstGeom>
          <a:solidFill>
            <a:srgbClr val="FFFFFF"/>
          </a:solidFill>
          <a:ln w="9525">
            <a:solidFill>
              <a:srgbClr val="DCE4EE"/>
            </a:solidFill>
          </a:ln>
        </p:spPr>
        <p:txBody>
          <a:bodyPr/>
          <a:lstStyle/>
          <a:p>
            <a:endParaRPr lang="en-US"/>
          </a:p>
        </p:txBody>
      </p:sp>
      <p:sp>
        <p:nvSpPr>
          <p:cNvPr id="685" name="Text 686"/>
          <p:cNvSpPr txBox="1"/>
          <p:nvPr/>
        </p:nvSpPr>
        <p:spPr>
          <a:xfrm>
            <a:off x="6428232" y="2798064"/>
            <a:ext cx="5212080" cy="201168"/>
          </a:xfrm>
          <a:prstGeom prst="rect">
            <a:avLst/>
          </a:prstGeom>
          <a:noFill/>
          <a:ln/>
        </p:spPr>
        <p:txBody>
          <a:bodyPr wrap="square" lIns="0" tIns="0" rIns="0" bIns="0" rtlCol="0" anchor="t"/>
          <a:lstStyle/>
          <a:p>
            <a:pPr marL="0" indent="0" algn="l">
              <a:buNone/>
            </a:pPr>
            <a:r>
              <a:rPr lang="en-US" sz="900" b="1" dirty="0">
                <a:solidFill>
                  <a:srgbClr val="0E8A7D"/>
                </a:solidFill>
                <a:latin typeface="Trenda IG Text Semibold" pitchFamily="34" charset="0"/>
                <a:ea typeface="Trenda IG Text Semibold" pitchFamily="34" charset="-122"/>
                <a:cs typeface="Trenda IG Text Semibold" pitchFamily="34" charset="-120"/>
              </a:rPr>
              <a:t>Intent parser</a:t>
            </a:r>
          </a:p>
        </p:txBody>
      </p:sp>
      <p:sp>
        <p:nvSpPr>
          <p:cNvPr id="687" name="Text 688"/>
          <p:cNvSpPr txBox="1"/>
          <p:nvPr/>
        </p:nvSpPr>
        <p:spPr>
          <a:xfrm>
            <a:off x="6428232" y="3054096"/>
            <a:ext cx="5212080" cy="438912"/>
          </a:xfrm>
          <a:prstGeom prst="rect">
            <a:avLst/>
          </a:prstGeom>
          <a:noFill/>
          <a:ln/>
        </p:spPr>
        <p:txBody>
          <a:bodyPr wrap="square" lIns="0" tIns="0" rIns="0" bIns="0" rtlCol="0" anchor="t"/>
          <a:lstStyle/>
          <a:p>
            <a:pPr marL="0" indent="0" algn="l">
              <a:lnSpc>
                <a:spcPct val="125000"/>
              </a:lnSpc>
              <a:buNone/>
            </a:pPr>
            <a:r>
              <a:rPr lang="en-US" sz="750" dirty="0">
                <a:solidFill>
                  <a:srgbClr val="5C6E85"/>
                </a:solidFill>
                <a:latin typeface="Trenda IG Text" pitchFamily="34" charset="0"/>
                <a:ea typeface="Trenda IG Text" pitchFamily="34" charset="-122"/>
                <a:cs typeface="Trenda IG Text" pitchFamily="34" charset="-120"/>
              </a:rPr>
              <a:t>Reads action, object, component type and name out of free text, and distinguishes a component request from a behaviour one</a:t>
            </a:r>
          </a:p>
        </p:txBody>
      </p:sp>
      <p:sp>
        <p:nvSpPr>
          <p:cNvPr id="689" name="Shape 690"/>
          <p:cNvSpPr/>
          <p:nvPr/>
        </p:nvSpPr>
        <p:spPr>
          <a:xfrm>
            <a:off x="6208776" y="3657600"/>
            <a:ext cx="5614416" cy="896112"/>
          </a:xfrm>
          <a:prstGeom prst="rect">
            <a:avLst/>
          </a:prstGeom>
          <a:solidFill>
            <a:srgbClr val="FFFFFF"/>
          </a:solidFill>
          <a:ln w="9525">
            <a:solidFill>
              <a:srgbClr val="DCE4EE"/>
            </a:solidFill>
          </a:ln>
        </p:spPr>
        <p:txBody>
          <a:bodyPr/>
          <a:lstStyle/>
          <a:p>
            <a:endParaRPr lang="en-US"/>
          </a:p>
        </p:txBody>
      </p:sp>
      <p:sp>
        <p:nvSpPr>
          <p:cNvPr id="691" name="Text 692"/>
          <p:cNvSpPr txBox="1"/>
          <p:nvPr/>
        </p:nvSpPr>
        <p:spPr>
          <a:xfrm>
            <a:off x="6428232" y="3785616"/>
            <a:ext cx="5212080" cy="201168"/>
          </a:xfrm>
          <a:prstGeom prst="rect">
            <a:avLst/>
          </a:prstGeom>
          <a:noFill/>
          <a:ln/>
        </p:spPr>
        <p:txBody>
          <a:bodyPr wrap="square" lIns="0" tIns="0" rIns="0" bIns="0" rtlCol="0" anchor="t"/>
          <a:lstStyle/>
          <a:p>
            <a:pPr marL="0" indent="0" algn="l">
              <a:buNone/>
            </a:pPr>
            <a:r>
              <a:rPr lang="en-US" sz="900" b="1" dirty="0">
                <a:solidFill>
                  <a:srgbClr val="0E8A7D"/>
                </a:solidFill>
                <a:latin typeface="Trenda IG Text Semibold" pitchFamily="34" charset="0"/>
                <a:ea typeface="Trenda IG Text Semibold" pitchFamily="34" charset="-122"/>
                <a:cs typeface="Trenda IG Text Semibold" pitchFamily="34" charset="-120"/>
              </a:rPr>
              <a:t>Graph adapter</a:t>
            </a:r>
          </a:p>
        </p:txBody>
      </p:sp>
      <p:sp>
        <p:nvSpPr>
          <p:cNvPr id="693" name="Text 694"/>
          <p:cNvSpPr txBox="1"/>
          <p:nvPr/>
        </p:nvSpPr>
        <p:spPr>
          <a:xfrm>
            <a:off x="6428232" y="4041648"/>
            <a:ext cx="5212080" cy="438912"/>
          </a:xfrm>
          <a:prstGeom prst="rect">
            <a:avLst/>
          </a:prstGeom>
          <a:noFill/>
          <a:ln/>
        </p:spPr>
        <p:txBody>
          <a:bodyPr wrap="square" lIns="0" tIns="0" rIns="0" bIns="0" rtlCol="0" anchor="t"/>
          <a:lstStyle/>
          <a:p>
            <a:pPr marL="0" indent="0" algn="l">
              <a:lnSpc>
                <a:spcPct val="125000"/>
              </a:lnSpc>
              <a:buNone/>
            </a:pPr>
            <a:r>
              <a:rPr lang="en-US" sz="750" dirty="0">
                <a:solidFill>
                  <a:srgbClr val="5C6E85"/>
                </a:solidFill>
                <a:latin typeface="Trenda IG Text" pitchFamily="34" charset="0"/>
                <a:ea typeface="Trenda IG Text" pitchFamily="34" charset="-122"/>
                <a:cs typeface="Trenda IG Text" pitchFamily="34" charset="-120"/>
              </a:rPr>
              <a:t>Picks the anchor, bounds how far the walk travels, and orders the findings so the answer reads top down</a:t>
            </a:r>
          </a:p>
        </p:txBody>
      </p:sp>
      <p:sp>
        <p:nvSpPr>
          <p:cNvPr id="695" name="Shape 696"/>
          <p:cNvSpPr/>
          <p:nvPr/>
        </p:nvSpPr>
        <p:spPr>
          <a:xfrm>
            <a:off x="6208776" y="4645152"/>
            <a:ext cx="5614416" cy="896112"/>
          </a:xfrm>
          <a:prstGeom prst="rect">
            <a:avLst/>
          </a:prstGeom>
          <a:solidFill>
            <a:srgbClr val="FFFFFF"/>
          </a:solidFill>
          <a:ln w="9525">
            <a:solidFill>
              <a:srgbClr val="DCE4EE"/>
            </a:solidFill>
          </a:ln>
        </p:spPr>
        <p:txBody>
          <a:bodyPr/>
          <a:lstStyle/>
          <a:p>
            <a:endParaRPr lang="en-US"/>
          </a:p>
        </p:txBody>
      </p:sp>
      <p:sp>
        <p:nvSpPr>
          <p:cNvPr id="697" name="Text 698"/>
          <p:cNvSpPr txBox="1"/>
          <p:nvPr/>
        </p:nvSpPr>
        <p:spPr>
          <a:xfrm>
            <a:off x="6428232" y="4773168"/>
            <a:ext cx="5212080" cy="201168"/>
          </a:xfrm>
          <a:prstGeom prst="rect">
            <a:avLst/>
          </a:prstGeom>
          <a:noFill/>
          <a:ln/>
        </p:spPr>
        <p:txBody>
          <a:bodyPr wrap="square" lIns="0" tIns="0" rIns="0" bIns="0" rtlCol="0" anchor="t"/>
          <a:lstStyle/>
          <a:p>
            <a:pPr marL="0" indent="0" algn="l">
              <a:buNone/>
            </a:pPr>
            <a:r>
              <a:rPr lang="en-US" sz="900" b="1" dirty="0">
                <a:solidFill>
                  <a:srgbClr val="0E8A7D"/>
                </a:solidFill>
                <a:latin typeface="Trenda IG Text Semibold" pitchFamily="34" charset="0"/>
                <a:ea typeface="Trenda IG Text Semibold" pitchFamily="34" charset="-122"/>
                <a:cs typeface="Trenda IG Text Semibold" pitchFamily="34" charset="-120"/>
              </a:rPr>
              <a:t>Reuse analyser</a:t>
            </a:r>
          </a:p>
        </p:txBody>
      </p:sp>
      <p:sp>
        <p:nvSpPr>
          <p:cNvPr id="699" name="Text 700"/>
          <p:cNvSpPr txBox="1"/>
          <p:nvPr/>
        </p:nvSpPr>
        <p:spPr>
          <a:xfrm>
            <a:off x="6428232" y="5029200"/>
            <a:ext cx="5212080" cy="438912"/>
          </a:xfrm>
          <a:prstGeom prst="rect">
            <a:avLst/>
          </a:prstGeom>
          <a:noFill/>
          <a:ln/>
        </p:spPr>
        <p:txBody>
          <a:bodyPr wrap="square" lIns="0" tIns="0" rIns="0" bIns="0" rtlCol="0" anchor="t"/>
          <a:lstStyle/>
          <a:p>
            <a:pPr marL="0" indent="0" algn="l">
              <a:lnSpc>
                <a:spcPct val="125000"/>
              </a:lnSpc>
              <a:buNone/>
            </a:pPr>
            <a:r>
              <a:rPr lang="en-US" sz="750" dirty="0">
                <a:solidFill>
                  <a:srgbClr val="5C6E85"/>
                </a:solidFill>
                <a:latin typeface="Trenda IG Text" pitchFamily="34" charset="0"/>
                <a:ea typeface="Trenda IG Text" pitchFamily="34" charset="-122"/>
                <a:cs typeface="Trenda IG Text" pitchFamily="34" charset="-120"/>
              </a:rPr>
              <a:t>Turns findings into one of six verdicts, and refuses to clear a request it cannot show it searched</a:t>
            </a:r>
          </a:p>
        </p:txBody>
      </p:sp>
      <p:sp>
        <p:nvSpPr>
          <p:cNvPr id="701" name="Shape 702"/>
          <p:cNvSpPr/>
          <p:nvPr/>
        </p:nvSpPr>
        <p:spPr>
          <a:xfrm>
            <a:off x="365760" y="5687568"/>
            <a:ext cx="11457432" cy="548640"/>
          </a:xfrm>
          <a:prstGeom prst="roundRect">
            <a:avLst>
              <a:gd name="adj" fmla="val 10000"/>
            </a:avLst>
          </a:prstGeom>
          <a:solidFill>
            <a:srgbClr val="EAF1F9"/>
          </a:solidFill>
          <a:ln>
            <a:noFill/>
          </a:ln>
        </p:spPr>
        <p:txBody>
          <a:bodyPr/>
          <a:lstStyle/>
          <a:p>
            <a:endParaRPr lang="en-US"/>
          </a:p>
        </p:txBody>
      </p:sp>
      <p:sp>
        <p:nvSpPr>
          <p:cNvPr id="703" name="Text 704"/>
          <p:cNvSpPr txBox="1"/>
          <p:nvPr/>
        </p:nvSpPr>
        <p:spPr>
          <a:xfrm>
            <a:off x="585216" y="5815584"/>
            <a:ext cx="11018520" cy="310896"/>
          </a:xfrm>
          <a:prstGeom prst="rect">
            <a:avLst/>
          </a:prstGeom>
          <a:noFill/>
          <a:ln/>
        </p:spPr>
        <p:txBody>
          <a:bodyPr wrap="square" lIns="0" tIns="0" rIns="0" bIns="0" rtlCol="0" anchor="t"/>
          <a:lstStyle/>
          <a:p>
            <a:pPr marL="0" indent="0" algn="l">
              <a:buNone/>
            </a:pPr>
            <a:r>
              <a:rPr lang="en-US" sz="850" dirty="0">
                <a:solidFill>
                  <a:srgbClr val="1B6BC0"/>
                </a:solidFill>
                <a:latin typeface="Trenda IG Text" pitchFamily="34" charset="0"/>
                <a:ea typeface="Trenda IG Text" pitchFamily="34" charset="-122"/>
                <a:cs typeface="Trenda IG Text" pitchFamily="34" charset="-120"/>
              </a:rPr>
              <a:t>Findings are stored as one row per component, never as a blob in a field, so the approval screen, the ticket and any audit report all read the same evidence and cannot drift apart.</a:t>
            </a:r>
          </a:p>
        </p:txBody>
      </p:sp>
    </p:spTree>
  </p:cSld>
  <p:clrMapOvr>
    <a:masterClrMapping/>
  </p:clrMapOvr>
</p:sld>
</file>

<file path=ppt/slides/slide19.xml><?xml version="1.0" encoding="utf-8"?>
<!-- AI-CHANGE-CONSOLE-POC-SLIDE -->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705" name="Text 706"/>
          <p:cNvSpPr txBox="1"/>
          <p:nvPr/>
        </p:nvSpPr>
        <p:spPr>
          <a:xfrm>
            <a:off x="365760" y="256032"/>
            <a:ext cx="11457432" cy="347472"/>
          </a:xfrm>
          <a:prstGeom prst="rect">
            <a:avLst/>
          </a:prstGeom>
          <a:noFill/>
          <a:ln/>
        </p:spPr>
        <p:txBody>
          <a:bodyPr wrap="square" lIns="0" tIns="0" rIns="0" bIns="0" rtlCol="0" anchor="ctr"/>
          <a:lstStyle/>
          <a:p>
            <a:pPr marL="0" indent="0" algn="l">
              <a:buNone/>
            </a:pPr>
            <a:r>
              <a:rPr lang="en-US" sz="2000" dirty="0">
                <a:solidFill>
                  <a:srgbClr val="0E1B2E"/>
                </a:solidFill>
                <a:latin typeface="Trenda IG Display Bold" pitchFamily="34" charset="0"/>
                <a:ea typeface="Trenda IG Display Bold" pitchFamily="34" charset="-122"/>
                <a:cs typeface="Trenda IG Display Bold" pitchFamily="34" charset="-120"/>
              </a:rPr>
              <a:t>The eight layers: designed, and as built</a:t>
            </a:r>
          </a:p>
        </p:txBody>
      </p:sp>
      <p:sp>
        <p:nvSpPr>
          <p:cNvPr id="707" name="Text 708"/>
          <p:cNvSpPr txBox="1"/>
          <p:nvPr/>
        </p:nvSpPr>
        <p:spPr>
          <a:xfrm>
            <a:off x="365760" y="640080"/>
            <a:ext cx="11457432" cy="219456"/>
          </a:xfrm>
          <a:prstGeom prst="rect">
            <a:avLst/>
          </a:prstGeom>
          <a:noFill/>
          <a:ln/>
        </p:spPr>
        <p:txBody>
          <a:bodyPr wrap="square" lIns="0" tIns="0" rIns="0" bIns="0" rtlCol="0" anchor="ctr"/>
          <a:lstStyle/>
          <a:p>
            <a:pPr marL="0" indent="0" algn="l">
              <a:buNone/>
            </a:pPr>
            <a:r>
              <a:rPr lang="en-US" sz="950" dirty="0">
                <a:solidFill>
                  <a:srgbClr val="5C6E85"/>
                </a:solidFill>
                <a:latin typeface="Trenda IG Display" pitchFamily="34" charset="0"/>
                <a:ea typeface="Trenda IG Display" pitchFamily="34" charset="-122"/>
                <a:cs typeface="Trenda IG Display" pitchFamily="34" charset="-120"/>
              </a:rPr>
              <a:t>The POC is a compressed, in-org version of the target pipeline. The contract between layers is what keeps it replaceable.</a:t>
            </a:r>
          </a:p>
        </p:txBody>
      </p:sp>
      <p:sp>
        <p:nvSpPr>
          <p:cNvPr id="709" name="Text 710"/>
          <p:cNvSpPr txBox="1"/>
          <p:nvPr/>
        </p:nvSpPr>
        <p:spPr>
          <a:xfrm>
            <a:off x="365760" y="969264"/>
            <a:ext cx="11457432" cy="164592"/>
          </a:xfrm>
          <a:prstGeom prst="rect">
            <a:avLst/>
          </a:prstGeom>
          <a:noFill/>
          <a:ln/>
        </p:spPr>
        <p:txBody>
          <a:bodyPr wrap="square" lIns="0" tIns="0" rIns="0" bIns="0" rtlCol="0" anchor="t"/>
          <a:lstStyle/>
          <a:p>
            <a:pPr marL="0" indent="0" algn="l">
              <a:buNone/>
            </a:pPr>
            <a:r>
              <a:rPr lang="en-US" sz="700" b="1" dirty="0">
                <a:solidFill>
                  <a:srgbClr val="00757F"/>
                </a:solidFill>
                <a:latin typeface="Trenda IG Text Semibold" pitchFamily="34" charset="0"/>
                <a:ea typeface="Trenda IG Text Semibold" pitchFamily="34" charset="-122"/>
                <a:cs typeface="Trenda IG Text Semibold" pitchFamily="34" charset="-120"/>
              </a:rPr>
              <a:t>DESIGNED  ·  BUILT IN THE SANDBOX  ·  THE GAP</a:t>
            </a:r>
          </a:p>
        </p:txBody>
      </p:sp>
      <p:sp>
        <p:nvSpPr>
          <p:cNvPr id="711" name="Text 712"/>
          <p:cNvSpPr txBox="1"/>
          <p:nvPr/>
        </p:nvSpPr>
        <p:spPr>
          <a:xfrm>
            <a:off x="365760" y="1298448"/>
            <a:ext cx="1920240" cy="182880"/>
          </a:xfrm>
          <a:prstGeom prst="rect">
            <a:avLst/>
          </a:prstGeom>
          <a:noFill/>
          <a:ln/>
        </p:spPr>
        <p:txBody>
          <a:bodyPr wrap="square" lIns="0" tIns="0" rIns="0" bIns="0" rtlCol="0" anchor="t"/>
          <a:lstStyle/>
          <a:p>
            <a:pPr marL="0" indent="0" algn="l">
              <a:buNone/>
            </a:pPr>
            <a:r>
              <a:rPr lang="en-US" sz="700" b="1" dirty="0">
                <a:solidFill>
                  <a:srgbClr val="9AA7B5"/>
                </a:solidFill>
                <a:latin typeface="Trenda IG Text Semibold" pitchFamily="34" charset="0"/>
                <a:ea typeface="Trenda IG Text Semibold" pitchFamily="34" charset="-122"/>
                <a:cs typeface="Trenda IG Text Semibold" pitchFamily="34" charset="-120"/>
              </a:rPr>
              <a:t>LAYER</a:t>
            </a:r>
          </a:p>
        </p:txBody>
      </p:sp>
      <p:sp>
        <p:nvSpPr>
          <p:cNvPr id="713" name="Text 714"/>
          <p:cNvSpPr txBox="1"/>
          <p:nvPr/>
        </p:nvSpPr>
        <p:spPr>
          <a:xfrm>
            <a:off x="2377440" y="1298448"/>
            <a:ext cx="3200400" cy="182880"/>
          </a:xfrm>
          <a:prstGeom prst="rect">
            <a:avLst/>
          </a:prstGeom>
          <a:noFill/>
          <a:ln/>
        </p:spPr>
        <p:txBody>
          <a:bodyPr wrap="square" lIns="0" tIns="0" rIns="0" bIns="0" rtlCol="0" anchor="t"/>
          <a:lstStyle/>
          <a:p>
            <a:pPr marL="0" indent="0" algn="l">
              <a:buNone/>
            </a:pPr>
            <a:r>
              <a:rPr lang="en-US" sz="700" b="1" dirty="0">
                <a:solidFill>
                  <a:srgbClr val="9AA7B5"/>
                </a:solidFill>
                <a:latin typeface="Trenda IG Text Semibold" pitchFamily="34" charset="0"/>
                <a:ea typeface="Trenda IG Text Semibold" pitchFamily="34" charset="-122"/>
                <a:cs typeface="Trenda IG Text Semibold" pitchFamily="34" charset="-120"/>
              </a:rPr>
              <a:t>DESIGNED</a:t>
            </a:r>
          </a:p>
        </p:txBody>
      </p:sp>
      <p:sp>
        <p:nvSpPr>
          <p:cNvPr id="715" name="Text 716"/>
          <p:cNvSpPr txBox="1"/>
          <p:nvPr/>
        </p:nvSpPr>
        <p:spPr>
          <a:xfrm>
            <a:off x="5760720" y="1298448"/>
            <a:ext cx="3200400" cy="182880"/>
          </a:xfrm>
          <a:prstGeom prst="rect">
            <a:avLst/>
          </a:prstGeom>
          <a:noFill/>
          <a:ln/>
        </p:spPr>
        <p:txBody>
          <a:bodyPr wrap="square" lIns="0" tIns="0" rIns="0" bIns="0" rtlCol="0" anchor="t"/>
          <a:lstStyle/>
          <a:p>
            <a:pPr marL="0" indent="0" algn="l">
              <a:buNone/>
            </a:pPr>
            <a:r>
              <a:rPr lang="en-US" sz="700" b="1" dirty="0">
                <a:solidFill>
                  <a:srgbClr val="9AA7B5"/>
                </a:solidFill>
                <a:latin typeface="Trenda IG Text Semibold" pitchFamily="34" charset="0"/>
                <a:ea typeface="Trenda IG Text Semibold" pitchFamily="34" charset="-122"/>
                <a:cs typeface="Trenda IG Text Semibold" pitchFamily="34" charset="-120"/>
              </a:rPr>
              <a:t>BUILT IN THE POC</a:t>
            </a:r>
          </a:p>
        </p:txBody>
      </p:sp>
      <p:sp>
        <p:nvSpPr>
          <p:cNvPr id="717" name="Text 718"/>
          <p:cNvSpPr txBox="1"/>
          <p:nvPr/>
        </p:nvSpPr>
        <p:spPr>
          <a:xfrm>
            <a:off x="9144000" y="1298448"/>
            <a:ext cx="2679192" cy="182880"/>
          </a:xfrm>
          <a:prstGeom prst="rect">
            <a:avLst/>
          </a:prstGeom>
          <a:noFill/>
          <a:ln/>
        </p:spPr>
        <p:txBody>
          <a:bodyPr wrap="square" lIns="0" tIns="0" rIns="0" bIns="0" rtlCol="0" anchor="t"/>
          <a:lstStyle/>
          <a:p>
            <a:pPr marL="0" indent="0" algn="l">
              <a:buNone/>
            </a:pPr>
            <a:r>
              <a:rPr lang="en-US" sz="700" b="1" dirty="0">
                <a:solidFill>
                  <a:srgbClr val="9AA7B5"/>
                </a:solidFill>
                <a:latin typeface="Trenda IG Text Semibold" pitchFamily="34" charset="0"/>
                <a:ea typeface="Trenda IG Text Semibold" pitchFamily="34" charset="-122"/>
                <a:cs typeface="Trenda IG Text Semibold" pitchFamily="34" charset="-120"/>
              </a:rPr>
              <a:t>STATUS</a:t>
            </a:r>
          </a:p>
        </p:txBody>
      </p:sp>
      <p:sp>
        <p:nvSpPr>
          <p:cNvPr id="719" name="Shape 720"/>
          <p:cNvSpPr/>
          <p:nvPr/>
        </p:nvSpPr>
        <p:spPr>
          <a:xfrm>
            <a:off x="365760" y="1517904"/>
            <a:ext cx="11457432" cy="475488"/>
          </a:xfrm>
          <a:prstGeom prst="rect">
            <a:avLst/>
          </a:prstGeom>
          <a:solidFill>
            <a:srgbClr val="FFFFFF"/>
          </a:solidFill>
          <a:ln w="9525">
            <a:solidFill>
              <a:srgbClr val="DCE4EE"/>
            </a:solidFill>
          </a:ln>
        </p:spPr>
        <p:txBody>
          <a:bodyPr/>
          <a:lstStyle/>
          <a:p>
            <a:endParaRPr lang="en-US"/>
          </a:p>
        </p:txBody>
      </p:sp>
      <p:sp>
        <p:nvSpPr>
          <p:cNvPr id="721" name="Text 722"/>
          <p:cNvSpPr txBox="1"/>
          <p:nvPr/>
        </p:nvSpPr>
        <p:spPr>
          <a:xfrm>
            <a:off x="566928" y="1655064"/>
            <a:ext cx="1920240" cy="201168"/>
          </a:xfrm>
          <a:prstGeom prst="rect">
            <a:avLst/>
          </a:prstGeom>
          <a:noFill/>
          <a:ln/>
        </p:spPr>
        <p:txBody>
          <a:bodyPr wrap="square" lIns="0" tIns="0" rIns="0" bIns="0" rtlCol="0" anchor="t"/>
          <a:lstStyle/>
          <a:p>
            <a:pPr marL="0" indent="0" algn="l">
              <a:buNone/>
            </a:pPr>
            <a:r>
              <a:rPr lang="en-US" sz="850" b="1" dirty="0">
                <a:solidFill>
                  <a:srgbClr val="0E1B2E"/>
                </a:solidFill>
                <a:latin typeface="Trenda IG Text Semibold" pitchFamily="34" charset="0"/>
                <a:ea typeface="Trenda IG Text Semibold" pitchFamily="34" charset="-122"/>
                <a:cs typeface="Trenda IG Text Semibold" pitchFamily="34" charset="-120"/>
              </a:rPr>
              <a:t>1 · Sources</a:t>
            </a:r>
          </a:p>
        </p:txBody>
      </p:sp>
      <p:sp>
        <p:nvSpPr>
          <p:cNvPr id="723" name="Text 724"/>
          <p:cNvSpPr txBox="1"/>
          <p:nvPr/>
        </p:nvSpPr>
        <p:spPr>
          <a:xfrm>
            <a:off x="2560320" y="1655064"/>
            <a:ext cx="3108960" cy="201168"/>
          </a:xfrm>
          <a:prstGeom prst="rect">
            <a:avLst/>
          </a:prstGeom>
          <a:noFill/>
          <a:ln/>
        </p:spPr>
        <p:txBody>
          <a:bodyPr wrap="square" lIns="0" tIns="0" rIns="0" bIns="0" rtlCol="0" anchor="t"/>
          <a:lstStyle/>
          <a:p>
            <a:pPr marL="0" indent="0" algn="l">
              <a:buNone/>
            </a:pPr>
            <a:r>
              <a:rPr lang="en-US" sz="800" dirty="0">
                <a:solidFill>
                  <a:srgbClr val="5C6E85"/>
                </a:solidFill>
                <a:latin typeface="Trenda IG Text" pitchFamily="34" charset="0"/>
                <a:ea typeface="Trenda IG Text" pitchFamily="34" charset="-122"/>
                <a:cs typeface="Trenda IG Text" pitchFamily="34" charset="-120"/>
              </a:rPr>
              <a:t>Six systems of record</a:t>
            </a:r>
          </a:p>
        </p:txBody>
      </p:sp>
      <p:sp>
        <p:nvSpPr>
          <p:cNvPr id="725" name="Text 726"/>
          <p:cNvSpPr txBox="1"/>
          <p:nvPr/>
        </p:nvSpPr>
        <p:spPr>
          <a:xfrm>
            <a:off x="5943600" y="1655064"/>
            <a:ext cx="3108960" cy="201168"/>
          </a:xfrm>
          <a:prstGeom prst="rect">
            <a:avLst/>
          </a:prstGeom>
          <a:noFill/>
          <a:ln/>
        </p:spPr>
        <p:txBody>
          <a:bodyPr wrap="square" lIns="0" tIns="0" rIns="0" bIns="0" rtlCol="0" anchor="t"/>
          <a:lstStyle/>
          <a:p>
            <a:pPr marL="0" indent="0" algn="l">
              <a:buNone/>
            </a:pPr>
            <a:r>
              <a:rPr lang="en-US" sz="800" dirty="0">
                <a:solidFill>
                  <a:srgbClr val="12233B"/>
                </a:solidFill>
                <a:latin typeface="Trenda IG Text" pitchFamily="34" charset="0"/>
                <a:ea typeface="Trenda IG Text" pitchFamily="34" charset="-122"/>
                <a:cs typeface="Trenda IG Text" pitchFamily="34" charset="-120"/>
              </a:rPr>
              <a:t>Salesforce only</a:t>
            </a:r>
          </a:p>
        </p:txBody>
      </p:sp>
      <p:sp>
        <p:nvSpPr>
          <p:cNvPr id="727" name="Shape 728"/>
          <p:cNvSpPr/>
          <p:nvPr/>
        </p:nvSpPr>
        <p:spPr>
          <a:xfrm>
            <a:off x="9326880" y="1636776"/>
            <a:ext cx="914400" cy="237744"/>
          </a:xfrm>
          <a:prstGeom prst="roundRect">
            <a:avLst>
              <a:gd name="adj" fmla="val 18000"/>
            </a:avLst>
          </a:prstGeom>
          <a:solidFill>
            <a:srgbClr val="C77400"/>
          </a:solidFill>
          <a:ln>
            <a:noFill/>
          </a:ln>
        </p:spPr>
        <p:txBody>
          <a:bodyPr/>
          <a:lstStyle/>
          <a:p>
            <a:endParaRPr lang="en-US"/>
          </a:p>
        </p:txBody>
      </p:sp>
      <p:sp>
        <p:nvSpPr>
          <p:cNvPr id="729" name="Text 730"/>
          <p:cNvSpPr txBox="1"/>
          <p:nvPr/>
        </p:nvSpPr>
        <p:spPr>
          <a:xfrm>
            <a:off x="9326880" y="1636776"/>
            <a:ext cx="914400" cy="237744"/>
          </a:xfrm>
          <a:prstGeom prst="rect">
            <a:avLst/>
          </a:prstGeom>
          <a:noFill/>
          <a:ln/>
        </p:spPr>
        <p:txBody>
          <a:bodyPr wrap="square" lIns="0" tIns="0" rIns="0" bIns="0" rtlCol="0" anchor="ctr"/>
          <a:lstStyle/>
          <a:p>
            <a:pPr marL="0" indent="0" algn="ctr">
              <a:buNone/>
            </a:pPr>
            <a:r>
              <a:rPr lang="en-US" sz="650" b="1" dirty="0">
                <a:solidFill>
                  <a:srgbClr val="FFFFFF"/>
                </a:solidFill>
                <a:latin typeface="Trenda IG Text Semibold" pitchFamily="34" charset="0"/>
                <a:ea typeface="Trenda IG Text Semibold" pitchFamily="34" charset="-122"/>
                <a:cs typeface="Trenda IG Text Semibold" pitchFamily="34" charset="-120"/>
              </a:rPr>
              <a:t>Phase 2</a:t>
            </a:r>
          </a:p>
        </p:txBody>
      </p:sp>
      <p:sp>
        <p:nvSpPr>
          <p:cNvPr id="731" name="Shape 732"/>
          <p:cNvSpPr/>
          <p:nvPr/>
        </p:nvSpPr>
        <p:spPr>
          <a:xfrm>
            <a:off x="365760" y="2066544"/>
            <a:ext cx="11457432" cy="475488"/>
          </a:xfrm>
          <a:prstGeom prst="rect">
            <a:avLst/>
          </a:prstGeom>
          <a:solidFill>
            <a:srgbClr val="FFFFFF"/>
          </a:solidFill>
          <a:ln w="9525">
            <a:solidFill>
              <a:srgbClr val="DCE4EE"/>
            </a:solidFill>
          </a:ln>
        </p:spPr>
        <p:txBody>
          <a:bodyPr/>
          <a:lstStyle/>
          <a:p>
            <a:endParaRPr lang="en-US"/>
          </a:p>
        </p:txBody>
      </p:sp>
      <p:sp>
        <p:nvSpPr>
          <p:cNvPr id="733" name="Text 734"/>
          <p:cNvSpPr txBox="1"/>
          <p:nvPr/>
        </p:nvSpPr>
        <p:spPr>
          <a:xfrm>
            <a:off x="566928" y="2203704"/>
            <a:ext cx="1920240" cy="201168"/>
          </a:xfrm>
          <a:prstGeom prst="rect">
            <a:avLst/>
          </a:prstGeom>
          <a:noFill/>
          <a:ln/>
        </p:spPr>
        <p:txBody>
          <a:bodyPr wrap="square" lIns="0" tIns="0" rIns="0" bIns="0" rtlCol="0" anchor="t"/>
          <a:lstStyle/>
          <a:p>
            <a:pPr marL="0" indent="0" algn="l">
              <a:buNone/>
            </a:pPr>
            <a:r>
              <a:rPr lang="en-US" sz="850" b="1" dirty="0">
                <a:solidFill>
                  <a:srgbClr val="0E1B2E"/>
                </a:solidFill>
                <a:latin typeface="Trenda IG Text Semibold" pitchFamily="34" charset="0"/>
                <a:ea typeface="Trenda IG Text Semibold" pitchFamily="34" charset="-122"/>
                <a:cs typeface="Trenda IG Text Semibold" pitchFamily="34" charset="-120"/>
              </a:rPr>
              <a:t>2 · Connectors</a:t>
            </a:r>
          </a:p>
        </p:txBody>
      </p:sp>
      <p:sp>
        <p:nvSpPr>
          <p:cNvPr id="735" name="Text 736"/>
          <p:cNvSpPr txBox="1"/>
          <p:nvPr/>
        </p:nvSpPr>
        <p:spPr>
          <a:xfrm>
            <a:off x="2560320" y="2203704"/>
            <a:ext cx="3108960" cy="201168"/>
          </a:xfrm>
          <a:prstGeom prst="rect">
            <a:avLst/>
          </a:prstGeom>
          <a:noFill/>
          <a:ln/>
        </p:spPr>
        <p:txBody>
          <a:bodyPr wrap="square" lIns="0" tIns="0" rIns="0" bIns="0" rtlCol="0" anchor="t"/>
          <a:lstStyle/>
          <a:p>
            <a:pPr marL="0" indent="0" algn="l">
              <a:buNone/>
            </a:pPr>
            <a:r>
              <a:rPr lang="en-US" sz="800" dirty="0">
                <a:solidFill>
                  <a:srgbClr val="5C6E85"/>
                </a:solidFill>
                <a:latin typeface="Trenda IG Text" pitchFamily="34" charset="0"/>
                <a:ea typeface="Trenda IG Text" pitchFamily="34" charset="-122"/>
                <a:cs typeface="Trenda IG Text" pitchFamily="34" charset="-120"/>
              </a:rPr>
              <a:t>Per-source auth, delta pull, hashing</a:t>
            </a:r>
          </a:p>
        </p:txBody>
      </p:sp>
      <p:sp>
        <p:nvSpPr>
          <p:cNvPr id="737" name="Text 738"/>
          <p:cNvSpPr txBox="1"/>
          <p:nvPr/>
        </p:nvSpPr>
        <p:spPr>
          <a:xfrm>
            <a:off x="5943600" y="2203704"/>
            <a:ext cx="3108960" cy="201168"/>
          </a:xfrm>
          <a:prstGeom prst="rect">
            <a:avLst/>
          </a:prstGeom>
          <a:noFill/>
          <a:ln/>
        </p:spPr>
        <p:txBody>
          <a:bodyPr wrap="square" lIns="0" tIns="0" rIns="0" bIns="0" rtlCol="0" anchor="t"/>
          <a:lstStyle/>
          <a:p>
            <a:pPr marL="0" indent="0" algn="l">
              <a:buNone/>
            </a:pPr>
            <a:r>
              <a:rPr lang="en-US" sz="800" dirty="0">
                <a:solidFill>
                  <a:srgbClr val="12233B"/>
                </a:solidFill>
                <a:latin typeface="Trenda IG Text" pitchFamily="34" charset="0"/>
                <a:ea typeface="Trenda IG Text" pitchFamily="34" charset="-122"/>
                <a:cs typeface="Trenda IG Text" pitchFamily="34" charset="-120"/>
              </a:rPr>
              <a:t>Describe calls and queries in Apex</a:t>
            </a:r>
          </a:p>
        </p:txBody>
      </p:sp>
      <p:sp>
        <p:nvSpPr>
          <p:cNvPr id="739" name="Shape 740"/>
          <p:cNvSpPr/>
          <p:nvPr/>
        </p:nvSpPr>
        <p:spPr>
          <a:xfrm>
            <a:off x="9326880" y="2185416"/>
            <a:ext cx="914400" cy="237744"/>
          </a:xfrm>
          <a:prstGeom prst="roundRect">
            <a:avLst>
              <a:gd name="adj" fmla="val 18000"/>
            </a:avLst>
          </a:prstGeom>
          <a:solidFill>
            <a:srgbClr val="2E7D32"/>
          </a:solidFill>
          <a:ln>
            <a:noFill/>
          </a:ln>
        </p:spPr>
        <p:txBody>
          <a:bodyPr/>
          <a:lstStyle/>
          <a:p>
            <a:endParaRPr lang="en-US"/>
          </a:p>
        </p:txBody>
      </p:sp>
      <p:sp>
        <p:nvSpPr>
          <p:cNvPr id="741" name="Text 742"/>
          <p:cNvSpPr txBox="1"/>
          <p:nvPr/>
        </p:nvSpPr>
        <p:spPr>
          <a:xfrm>
            <a:off x="9326880" y="2185416"/>
            <a:ext cx="914400" cy="237744"/>
          </a:xfrm>
          <a:prstGeom prst="rect">
            <a:avLst/>
          </a:prstGeom>
          <a:noFill/>
          <a:ln/>
        </p:spPr>
        <p:txBody>
          <a:bodyPr wrap="square" lIns="0" tIns="0" rIns="0" bIns="0" rtlCol="0" anchor="ctr"/>
          <a:lstStyle/>
          <a:p>
            <a:pPr marL="0" indent="0" algn="ctr">
              <a:buNone/>
            </a:pPr>
            <a:r>
              <a:rPr lang="en-US" sz="650" b="1" dirty="0">
                <a:solidFill>
                  <a:srgbClr val="FFFFFF"/>
                </a:solidFill>
                <a:latin typeface="Trenda IG Text Semibold" pitchFamily="34" charset="0"/>
                <a:ea typeface="Trenda IG Text Semibold" pitchFamily="34" charset="-122"/>
                <a:cs typeface="Trenda IG Text Semibold" pitchFamily="34" charset="-120"/>
              </a:rPr>
              <a:t>Working</a:t>
            </a:r>
          </a:p>
        </p:txBody>
      </p:sp>
      <p:sp>
        <p:nvSpPr>
          <p:cNvPr id="743" name="Shape 744"/>
          <p:cNvSpPr/>
          <p:nvPr/>
        </p:nvSpPr>
        <p:spPr>
          <a:xfrm>
            <a:off x="365760" y="2615184"/>
            <a:ext cx="11457432" cy="475488"/>
          </a:xfrm>
          <a:prstGeom prst="rect">
            <a:avLst/>
          </a:prstGeom>
          <a:solidFill>
            <a:srgbClr val="FFFFFF"/>
          </a:solidFill>
          <a:ln w="9525">
            <a:solidFill>
              <a:srgbClr val="DCE4EE"/>
            </a:solidFill>
          </a:ln>
        </p:spPr>
        <p:txBody>
          <a:bodyPr/>
          <a:lstStyle/>
          <a:p>
            <a:endParaRPr lang="en-US"/>
          </a:p>
        </p:txBody>
      </p:sp>
      <p:sp>
        <p:nvSpPr>
          <p:cNvPr id="745" name="Text 746"/>
          <p:cNvSpPr txBox="1"/>
          <p:nvPr/>
        </p:nvSpPr>
        <p:spPr>
          <a:xfrm>
            <a:off x="566928" y="2752344"/>
            <a:ext cx="1920240" cy="201168"/>
          </a:xfrm>
          <a:prstGeom prst="rect">
            <a:avLst/>
          </a:prstGeom>
          <a:noFill/>
          <a:ln/>
        </p:spPr>
        <p:txBody>
          <a:bodyPr wrap="square" lIns="0" tIns="0" rIns="0" bIns="0" rtlCol="0" anchor="t"/>
          <a:lstStyle/>
          <a:p>
            <a:pPr marL="0" indent="0" algn="l">
              <a:buNone/>
            </a:pPr>
            <a:r>
              <a:rPr lang="en-US" sz="850" b="1" dirty="0">
                <a:solidFill>
                  <a:srgbClr val="0E1B2E"/>
                </a:solidFill>
                <a:latin typeface="Trenda IG Text Semibold" pitchFamily="34" charset="0"/>
                <a:ea typeface="Trenda IG Text Semibold" pitchFamily="34" charset="-122"/>
                <a:cs typeface="Trenda IG Text Semibold" pitchFamily="34" charset="-120"/>
              </a:rPr>
              <a:t>3 · Ingestors</a:t>
            </a:r>
          </a:p>
        </p:txBody>
      </p:sp>
      <p:sp>
        <p:nvSpPr>
          <p:cNvPr id="747" name="Text 748"/>
          <p:cNvSpPr txBox="1"/>
          <p:nvPr/>
        </p:nvSpPr>
        <p:spPr>
          <a:xfrm>
            <a:off x="2560320" y="2752344"/>
            <a:ext cx="3108960" cy="201168"/>
          </a:xfrm>
          <a:prstGeom prst="rect">
            <a:avLst/>
          </a:prstGeom>
          <a:noFill/>
          <a:ln/>
        </p:spPr>
        <p:txBody>
          <a:bodyPr wrap="square" lIns="0" tIns="0" rIns="0" bIns="0" rtlCol="0" anchor="t"/>
          <a:lstStyle/>
          <a:p>
            <a:pPr marL="0" indent="0" algn="l">
              <a:buNone/>
            </a:pPr>
            <a:r>
              <a:rPr lang="en-US" sz="800" dirty="0">
                <a:solidFill>
                  <a:srgbClr val="5C6E85"/>
                </a:solidFill>
                <a:latin typeface="Trenda IG Text" pitchFamily="34" charset="0"/>
                <a:ea typeface="Trenda IG Text" pitchFamily="34" charset="-122"/>
                <a:cs typeface="Trenda IG Text" pitchFamily="34" charset="-120"/>
              </a:rPr>
              <a:t>Parsers per source format</a:t>
            </a:r>
          </a:p>
        </p:txBody>
      </p:sp>
      <p:sp>
        <p:nvSpPr>
          <p:cNvPr id="749" name="Text 750"/>
          <p:cNvSpPr txBox="1"/>
          <p:nvPr/>
        </p:nvSpPr>
        <p:spPr>
          <a:xfrm>
            <a:off x="5943600" y="2752344"/>
            <a:ext cx="3108960" cy="201168"/>
          </a:xfrm>
          <a:prstGeom prst="rect">
            <a:avLst/>
          </a:prstGeom>
          <a:noFill/>
          <a:ln/>
        </p:spPr>
        <p:txBody>
          <a:bodyPr wrap="square" lIns="0" tIns="0" rIns="0" bIns="0" rtlCol="0" anchor="t"/>
          <a:lstStyle/>
          <a:p>
            <a:pPr marL="0" indent="0" algn="l">
              <a:buNone/>
            </a:pPr>
            <a:r>
              <a:rPr lang="en-US" sz="800" dirty="0">
                <a:solidFill>
                  <a:srgbClr val="12233B"/>
                </a:solidFill>
                <a:latin typeface="Trenda IG Text" pitchFamily="34" charset="0"/>
                <a:ea typeface="Trenda IG Text" pitchFamily="34" charset="-122"/>
                <a:cs typeface="Trenda IG Text" pitchFamily="34" charset="-120"/>
              </a:rPr>
              <a:t>Metadata typed into points</a:t>
            </a:r>
          </a:p>
        </p:txBody>
      </p:sp>
      <p:sp>
        <p:nvSpPr>
          <p:cNvPr id="751" name="Shape 752"/>
          <p:cNvSpPr/>
          <p:nvPr/>
        </p:nvSpPr>
        <p:spPr>
          <a:xfrm>
            <a:off x="9326880" y="2734056"/>
            <a:ext cx="914400" cy="237744"/>
          </a:xfrm>
          <a:prstGeom prst="roundRect">
            <a:avLst>
              <a:gd name="adj" fmla="val 18000"/>
            </a:avLst>
          </a:prstGeom>
          <a:solidFill>
            <a:srgbClr val="2E7D32"/>
          </a:solidFill>
          <a:ln>
            <a:noFill/>
          </a:ln>
        </p:spPr>
        <p:txBody>
          <a:bodyPr/>
          <a:lstStyle/>
          <a:p>
            <a:endParaRPr lang="en-US"/>
          </a:p>
        </p:txBody>
      </p:sp>
      <p:sp>
        <p:nvSpPr>
          <p:cNvPr id="753" name="Text 754"/>
          <p:cNvSpPr txBox="1"/>
          <p:nvPr/>
        </p:nvSpPr>
        <p:spPr>
          <a:xfrm>
            <a:off x="9326880" y="2734056"/>
            <a:ext cx="914400" cy="237744"/>
          </a:xfrm>
          <a:prstGeom prst="rect">
            <a:avLst/>
          </a:prstGeom>
          <a:noFill/>
          <a:ln/>
        </p:spPr>
        <p:txBody>
          <a:bodyPr wrap="square" lIns="0" tIns="0" rIns="0" bIns="0" rtlCol="0" anchor="ctr"/>
          <a:lstStyle/>
          <a:p>
            <a:pPr marL="0" indent="0" algn="ctr">
              <a:buNone/>
            </a:pPr>
            <a:r>
              <a:rPr lang="en-US" sz="650" b="1" dirty="0">
                <a:solidFill>
                  <a:srgbClr val="FFFFFF"/>
                </a:solidFill>
                <a:latin typeface="Trenda IG Text Semibold" pitchFamily="34" charset="0"/>
                <a:ea typeface="Trenda IG Text Semibold" pitchFamily="34" charset="-122"/>
                <a:cs typeface="Trenda IG Text Semibold" pitchFamily="34" charset="-120"/>
              </a:rPr>
              <a:t>Working</a:t>
            </a:r>
          </a:p>
        </p:txBody>
      </p:sp>
      <p:sp>
        <p:nvSpPr>
          <p:cNvPr id="755" name="Shape 756"/>
          <p:cNvSpPr/>
          <p:nvPr/>
        </p:nvSpPr>
        <p:spPr>
          <a:xfrm>
            <a:off x="365760" y="3163824"/>
            <a:ext cx="11457432" cy="475488"/>
          </a:xfrm>
          <a:prstGeom prst="rect">
            <a:avLst/>
          </a:prstGeom>
          <a:solidFill>
            <a:srgbClr val="FFFFFF"/>
          </a:solidFill>
          <a:ln w="9525">
            <a:solidFill>
              <a:srgbClr val="DCE4EE"/>
            </a:solidFill>
          </a:ln>
        </p:spPr>
        <p:txBody>
          <a:bodyPr/>
          <a:lstStyle/>
          <a:p>
            <a:endParaRPr lang="en-US"/>
          </a:p>
        </p:txBody>
      </p:sp>
      <p:sp>
        <p:nvSpPr>
          <p:cNvPr id="757" name="Text 758"/>
          <p:cNvSpPr txBox="1"/>
          <p:nvPr/>
        </p:nvSpPr>
        <p:spPr>
          <a:xfrm>
            <a:off x="566928" y="3300984"/>
            <a:ext cx="1920240" cy="201168"/>
          </a:xfrm>
          <a:prstGeom prst="rect">
            <a:avLst/>
          </a:prstGeom>
          <a:noFill/>
          <a:ln/>
        </p:spPr>
        <p:txBody>
          <a:bodyPr wrap="square" lIns="0" tIns="0" rIns="0" bIns="0" rtlCol="0" anchor="t"/>
          <a:lstStyle/>
          <a:p>
            <a:pPr marL="0" indent="0" algn="l">
              <a:buNone/>
            </a:pPr>
            <a:r>
              <a:rPr lang="en-US" sz="850" b="1" dirty="0">
                <a:solidFill>
                  <a:srgbClr val="0E1B2E"/>
                </a:solidFill>
                <a:latin typeface="Trenda IG Text Semibold" pitchFamily="34" charset="0"/>
                <a:ea typeface="Trenda IG Text Semibold" pitchFamily="34" charset="-122"/>
                <a:cs typeface="Trenda IG Text Semibold" pitchFamily="34" charset="-120"/>
              </a:rPr>
              <a:t>4 · Domain model</a:t>
            </a:r>
          </a:p>
        </p:txBody>
      </p:sp>
      <p:sp>
        <p:nvSpPr>
          <p:cNvPr id="759" name="Text 760"/>
          <p:cNvSpPr txBox="1"/>
          <p:nvPr/>
        </p:nvSpPr>
        <p:spPr>
          <a:xfrm>
            <a:off x="2560320" y="3300984"/>
            <a:ext cx="3108960" cy="201168"/>
          </a:xfrm>
          <a:prstGeom prst="rect">
            <a:avLst/>
          </a:prstGeom>
          <a:noFill/>
          <a:ln/>
        </p:spPr>
        <p:txBody>
          <a:bodyPr wrap="square" lIns="0" tIns="0" rIns="0" bIns="0" rtlCol="0" anchor="t"/>
          <a:lstStyle/>
          <a:p>
            <a:pPr marL="0" indent="0" algn="l">
              <a:buNone/>
            </a:pPr>
            <a:r>
              <a:rPr lang="en-US" sz="800" dirty="0">
                <a:solidFill>
                  <a:srgbClr val="5C6E85"/>
                </a:solidFill>
                <a:latin typeface="Trenda IG Text" pitchFamily="34" charset="0"/>
                <a:ea typeface="Trenda IG Text" pitchFamily="34" charset="-122"/>
                <a:cs typeface="Trenda IG Text" pitchFamily="34" charset="-120"/>
              </a:rPr>
              <a:t>Extensible engineering context</a:t>
            </a:r>
          </a:p>
        </p:txBody>
      </p:sp>
      <p:sp>
        <p:nvSpPr>
          <p:cNvPr id="761" name="Text 762"/>
          <p:cNvSpPr txBox="1"/>
          <p:nvPr/>
        </p:nvSpPr>
        <p:spPr>
          <a:xfrm>
            <a:off x="5943600" y="3300984"/>
            <a:ext cx="3108960" cy="201168"/>
          </a:xfrm>
          <a:prstGeom prst="rect">
            <a:avLst/>
          </a:prstGeom>
          <a:noFill/>
          <a:ln/>
        </p:spPr>
        <p:txBody>
          <a:bodyPr wrap="square" lIns="0" tIns="0" rIns="0" bIns="0" rtlCol="0" anchor="t"/>
          <a:lstStyle/>
          <a:p>
            <a:pPr marL="0" indent="0" algn="l">
              <a:buNone/>
            </a:pPr>
            <a:r>
              <a:rPr lang="en-US" sz="800" dirty="0">
                <a:solidFill>
                  <a:srgbClr val="12233B"/>
                </a:solidFill>
                <a:latin typeface="Trenda IG Text" pitchFamily="34" charset="0"/>
                <a:ea typeface="Trenda IG Text" pitchFamily="34" charset="-122"/>
                <a:cs typeface="Trenda IG Text" pitchFamily="34" charset="-120"/>
              </a:rPr>
              <a:t>Neutral node and line contract</a:t>
            </a:r>
          </a:p>
        </p:txBody>
      </p:sp>
      <p:sp>
        <p:nvSpPr>
          <p:cNvPr id="763" name="Shape 764"/>
          <p:cNvSpPr/>
          <p:nvPr/>
        </p:nvSpPr>
        <p:spPr>
          <a:xfrm>
            <a:off x="9326880" y="3282696"/>
            <a:ext cx="914400" cy="237744"/>
          </a:xfrm>
          <a:prstGeom prst="roundRect">
            <a:avLst>
              <a:gd name="adj" fmla="val 18000"/>
            </a:avLst>
          </a:prstGeom>
          <a:solidFill>
            <a:srgbClr val="2E7D32"/>
          </a:solidFill>
          <a:ln>
            <a:noFill/>
          </a:ln>
        </p:spPr>
        <p:txBody>
          <a:bodyPr/>
          <a:lstStyle/>
          <a:p>
            <a:endParaRPr lang="en-US"/>
          </a:p>
        </p:txBody>
      </p:sp>
      <p:sp>
        <p:nvSpPr>
          <p:cNvPr id="765" name="Text 766"/>
          <p:cNvSpPr txBox="1"/>
          <p:nvPr/>
        </p:nvSpPr>
        <p:spPr>
          <a:xfrm>
            <a:off x="9326880" y="3282696"/>
            <a:ext cx="914400" cy="237744"/>
          </a:xfrm>
          <a:prstGeom prst="rect">
            <a:avLst/>
          </a:prstGeom>
          <a:noFill/>
          <a:ln/>
        </p:spPr>
        <p:txBody>
          <a:bodyPr wrap="square" lIns="0" tIns="0" rIns="0" bIns="0" rtlCol="0" anchor="ctr"/>
          <a:lstStyle/>
          <a:p>
            <a:pPr marL="0" indent="0" algn="ctr">
              <a:buNone/>
            </a:pPr>
            <a:r>
              <a:rPr lang="en-US" sz="650" b="1" dirty="0">
                <a:solidFill>
                  <a:srgbClr val="FFFFFF"/>
                </a:solidFill>
                <a:latin typeface="Trenda IG Text Semibold" pitchFamily="34" charset="0"/>
                <a:ea typeface="Trenda IG Text Semibold" pitchFamily="34" charset="-122"/>
                <a:cs typeface="Trenda IG Text Semibold" pitchFamily="34" charset="-120"/>
              </a:rPr>
              <a:t>Working</a:t>
            </a:r>
          </a:p>
        </p:txBody>
      </p:sp>
      <p:sp>
        <p:nvSpPr>
          <p:cNvPr id="767" name="Shape 768"/>
          <p:cNvSpPr/>
          <p:nvPr/>
        </p:nvSpPr>
        <p:spPr>
          <a:xfrm>
            <a:off x="365760" y="3712464"/>
            <a:ext cx="11457432" cy="475488"/>
          </a:xfrm>
          <a:prstGeom prst="rect">
            <a:avLst/>
          </a:prstGeom>
          <a:solidFill>
            <a:srgbClr val="FFFFFF"/>
          </a:solidFill>
          <a:ln w="9525">
            <a:solidFill>
              <a:srgbClr val="DCE4EE"/>
            </a:solidFill>
          </a:ln>
        </p:spPr>
        <p:txBody>
          <a:bodyPr/>
          <a:lstStyle/>
          <a:p>
            <a:endParaRPr lang="en-US"/>
          </a:p>
        </p:txBody>
      </p:sp>
      <p:sp>
        <p:nvSpPr>
          <p:cNvPr id="769" name="Text 770"/>
          <p:cNvSpPr txBox="1"/>
          <p:nvPr/>
        </p:nvSpPr>
        <p:spPr>
          <a:xfrm>
            <a:off x="566928" y="3849624"/>
            <a:ext cx="1920240" cy="201168"/>
          </a:xfrm>
          <a:prstGeom prst="rect">
            <a:avLst/>
          </a:prstGeom>
          <a:noFill/>
          <a:ln/>
        </p:spPr>
        <p:txBody>
          <a:bodyPr wrap="square" lIns="0" tIns="0" rIns="0" bIns="0" rtlCol="0" anchor="t"/>
          <a:lstStyle/>
          <a:p>
            <a:pPr marL="0" indent="0" algn="l">
              <a:buNone/>
            </a:pPr>
            <a:r>
              <a:rPr lang="en-US" sz="850" b="1" dirty="0">
                <a:solidFill>
                  <a:srgbClr val="0E1B2E"/>
                </a:solidFill>
                <a:latin typeface="Trenda IG Text Semibold" pitchFamily="34" charset="0"/>
                <a:ea typeface="Trenda IG Text Semibold" pitchFamily="34" charset="-122"/>
                <a:cs typeface="Trenda IG Text Semibold" pitchFamily="34" charset="-120"/>
              </a:rPr>
              <a:t>5 · Graph storage</a:t>
            </a:r>
          </a:p>
        </p:txBody>
      </p:sp>
      <p:sp>
        <p:nvSpPr>
          <p:cNvPr id="771" name="Text 772"/>
          <p:cNvSpPr txBox="1"/>
          <p:nvPr/>
        </p:nvSpPr>
        <p:spPr>
          <a:xfrm>
            <a:off x="2560320" y="3849624"/>
            <a:ext cx="3108960" cy="201168"/>
          </a:xfrm>
          <a:prstGeom prst="rect">
            <a:avLst/>
          </a:prstGeom>
          <a:noFill/>
          <a:ln/>
        </p:spPr>
        <p:txBody>
          <a:bodyPr wrap="square" lIns="0" tIns="0" rIns="0" bIns="0" rtlCol="0" anchor="t"/>
          <a:lstStyle/>
          <a:p>
            <a:pPr marL="0" indent="0" algn="l">
              <a:buNone/>
            </a:pPr>
            <a:r>
              <a:rPr lang="en-US" sz="800" dirty="0">
                <a:solidFill>
                  <a:srgbClr val="5C6E85"/>
                </a:solidFill>
                <a:latin typeface="Trenda IG Text" pitchFamily="34" charset="0"/>
                <a:ea typeface="Trenda IG Text" pitchFamily="34" charset="-122"/>
                <a:cs typeface="Trenda IG Text" pitchFamily="34" charset="-120"/>
              </a:rPr>
              <a:t>Vendor-neutral JSON</a:t>
            </a:r>
          </a:p>
        </p:txBody>
      </p:sp>
      <p:sp>
        <p:nvSpPr>
          <p:cNvPr id="773" name="Text 774"/>
          <p:cNvSpPr txBox="1"/>
          <p:nvPr/>
        </p:nvSpPr>
        <p:spPr>
          <a:xfrm>
            <a:off x="5943600" y="3849624"/>
            <a:ext cx="3108960" cy="201168"/>
          </a:xfrm>
          <a:prstGeom prst="rect">
            <a:avLst/>
          </a:prstGeom>
          <a:noFill/>
          <a:ln/>
        </p:spPr>
        <p:txBody>
          <a:bodyPr wrap="square" lIns="0" tIns="0" rIns="0" bIns="0" rtlCol="0" anchor="t"/>
          <a:lstStyle/>
          <a:p>
            <a:pPr marL="0" indent="0" algn="l">
              <a:buNone/>
            </a:pPr>
            <a:r>
              <a:rPr lang="en-US" sz="800" dirty="0">
                <a:solidFill>
                  <a:srgbClr val="12233B"/>
                </a:solidFill>
                <a:latin typeface="Trenda IG Text" pitchFamily="34" charset="0"/>
                <a:ea typeface="Trenda IG Text" pitchFamily="34" charset="-122"/>
                <a:cs typeface="Trenda IG Text" pitchFamily="34" charset="-120"/>
              </a:rPr>
              <a:t>JSON in a Salesforce File</a:t>
            </a:r>
          </a:p>
        </p:txBody>
      </p:sp>
      <p:sp>
        <p:nvSpPr>
          <p:cNvPr id="775" name="Shape 776"/>
          <p:cNvSpPr/>
          <p:nvPr/>
        </p:nvSpPr>
        <p:spPr>
          <a:xfrm>
            <a:off x="9326880" y="3831336"/>
            <a:ext cx="914400" cy="237744"/>
          </a:xfrm>
          <a:prstGeom prst="roundRect">
            <a:avLst>
              <a:gd name="adj" fmla="val 18000"/>
            </a:avLst>
          </a:prstGeom>
          <a:solidFill>
            <a:srgbClr val="2E7D32"/>
          </a:solidFill>
          <a:ln>
            <a:noFill/>
          </a:ln>
        </p:spPr>
        <p:txBody>
          <a:bodyPr/>
          <a:lstStyle/>
          <a:p>
            <a:endParaRPr lang="en-US"/>
          </a:p>
        </p:txBody>
      </p:sp>
      <p:sp>
        <p:nvSpPr>
          <p:cNvPr id="777" name="Text 778"/>
          <p:cNvSpPr txBox="1"/>
          <p:nvPr/>
        </p:nvSpPr>
        <p:spPr>
          <a:xfrm>
            <a:off x="9326880" y="3831336"/>
            <a:ext cx="914400" cy="237744"/>
          </a:xfrm>
          <a:prstGeom prst="rect">
            <a:avLst/>
          </a:prstGeom>
          <a:noFill/>
          <a:ln/>
        </p:spPr>
        <p:txBody>
          <a:bodyPr wrap="square" lIns="0" tIns="0" rIns="0" bIns="0" rtlCol="0" anchor="ctr"/>
          <a:lstStyle/>
          <a:p>
            <a:pPr marL="0" indent="0" algn="ctr">
              <a:buNone/>
            </a:pPr>
            <a:r>
              <a:rPr lang="en-US" sz="650" b="1" dirty="0">
                <a:solidFill>
                  <a:srgbClr val="FFFFFF"/>
                </a:solidFill>
                <a:latin typeface="Trenda IG Text Semibold" pitchFamily="34" charset="0"/>
                <a:ea typeface="Trenda IG Text Semibold" pitchFamily="34" charset="-122"/>
                <a:cs typeface="Trenda IG Text Semibold" pitchFamily="34" charset="-120"/>
              </a:rPr>
              <a:t>Working</a:t>
            </a:r>
          </a:p>
        </p:txBody>
      </p:sp>
      <p:sp>
        <p:nvSpPr>
          <p:cNvPr id="779" name="Shape 780"/>
          <p:cNvSpPr/>
          <p:nvPr/>
        </p:nvSpPr>
        <p:spPr>
          <a:xfrm>
            <a:off x="365760" y="4261104"/>
            <a:ext cx="11457432" cy="475488"/>
          </a:xfrm>
          <a:prstGeom prst="rect">
            <a:avLst/>
          </a:prstGeom>
          <a:solidFill>
            <a:srgbClr val="FFFFFF"/>
          </a:solidFill>
          <a:ln w="9525">
            <a:solidFill>
              <a:srgbClr val="DCE4EE"/>
            </a:solidFill>
          </a:ln>
        </p:spPr>
        <p:txBody>
          <a:bodyPr/>
          <a:lstStyle/>
          <a:p>
            <a:endParaRPr lang="en-US"/>
          </a:p>
        </p:txBody>
      </p:sp>
      <p:sp>
        <p:nvSpPr>
          <p:cNvPr id="781" name="Text 782"/>
          <p:cNvSpPr txBox="1"/>
          <p:nvPr/>
        </p:nvSpPr>
        <p:spPr>
          <a:xfrm>
            <a:off x="566928" y="4398264"/>
            <a:ext cx="1920240" cy="201168"/>
          </a:xfrm>
          <a:prstGeom prst="rect">
            <a:avLst/>
          </a:prstGeom>
          <a:noFill/>
          <a:ln/>
        </p:spPr>
        <p:txBody>
          <a:bodyPr wrap="square" lIns="0" tIns="0" rIns="0" bIns="0" rtlCol="0" anchor="t"/>
          <a:lstStyle/>
          <a:p>
            <a:pPr marL="0" indent="0" algn="l">
              <a:buNone/>
            </a:pPr>
            <a:r>
              <a:rPr lang="en-US" sz="850" b="1" dirty="0">
                <a:solidFill>
                  <a:srgbClr val="0E1B2E"/>
                </a:solidFill>
                <a:latin typeface="Trenda IG Text Semibold" pitchFamily="34" charset="0"/>
                <a:ea typeface="Trenda IG Text Semibold" pitchFamily="34" charset="-122"/>
                <a:cs typeface="Trenda IG Text Semibold" pitchFamily="34" charset="-120"/>
              </a:rPr>
              <a:t>6 · Exporter</a:t>
            </a:r>
          </a:p>
        </p:txBody>
      </p:sp>
      <p:sp>
        <p:nvSpPr>
          <p:cNvPr id="783" name="Text 784"/>
          <p:cNvSpPr txBox="1"/>
          <p:nvPr/>
        </p:nvSpPr>
        <p:spPr>
          <a:xfrm>
            <a:off x="2560320" y="4398264"/>
            <a:ext cx="3108960" cy="201168"/>
          </a:xfrm>
          <a:prstGeom prst="rect">
            <a:avLst/>
          </a:prstGeom>
          <a:noFill/>
          <a:ln/>
        </p:spPr>
        <p:txBody>
          <a:bodyPr wrap="square" lIns="0" tIns="0" rIns="0" bIns="0" rtlCol="0" anchor="t"/>
          <a:lstStyle/>
          <a:p>
            <a:pPr marL="0" indent="0" algn="l">
              <a:buNone/>
            </a:pPr>
            <a:r>
              <a:rPr lang="en-US" sz="800" dirty="0">
                <a:solidFill>
                  <a:srgbClr val="5C6E85"/>
                </a:solidFill>
                <a:latin typeface="Trenda IG Text" pitchFamily="34" charset="0"/>
                <a:ea typeface="Trenda IG Text" pitchFamily="34" charset="-122"/>
                <a:cs typeface="Trenda IG Text" pitchFamily="34" charset="-120"/>
              </a:rPr>
              <a:t>Scheduled rebuild</a:t>
            </a:r>
          </a:p>
        </p:txBody>
      </p:sp>
      <p:sp>
        <p:nvSpPr>
          <p:cNvPr id="785" name="Text 786"/>
          <p:cNvSpPr txBox="1"/>
          <p:nvPr/>
        </p:nvSpPr>
        <p:spPr>
          <a:xfrm>
            <a:off x="5943600" y="4398264"/>
            <a:ext cx="3108960" cy="201168"/>
          </a:xfrm>
          <a:prstGeom prst="rect">
            <a:avLst/>
          </a:prstGeom>
          <a:noFill/>
          <a:ln/>
        </p:spPr>
        <p:txBody>
          <a:bodyPr wrap="square" lIns="0" tIns="0" rIns="0" bIns="0" rtlCol="0" anchor="t"/>
          <a:lstStyle/>
          <a:p>
            <a:pPr marL="0" indent="0" algn="l">
              <a:buNone/>
            </a:pPr>
            <a:r>
              <a:rPr lang="en-US" sz="800" dirty="0">
                <a:solidFill>
                  <a:srgbClr val="12233B"/>
                </a:solidFill>
                <a:latin typeface="Trenda IG Text" pitchFamily="34" charset="0"/>
                <a:ea typeface="Trenda IG Text" pitchFamily="34" charset="-122"/>
                <a:cs typeface="Trenda IG Text" pitchFamily="34" charset="-120"/>
              </a:rPr>
              <a:t>Background job, rebuilt on demand</a:t>
            </a:r>
          </a:p>
        </p:txBody>
      </p:sp>
      <p:sp>
        <p:nvSpPr>
          <p:cNvPr id="787" name="Shape 788"/>
          <p:cNvSpPr/>
          <p:nvPr/>
        </p:nvSpPr>
        <p:spPr>
          <a:xfrm>
            <a:off x="9326880" y="4379976"/>
            <a:ext cx="914400" cy="237744"/>
          </a:xfrm>
          <a:prstGeom prst="roundRect">
            <a:avLst>
              <a:gd name="adj" fmla="val 18000"/>
            </a:avLst>
          </a:prstGeom>
          <a:solidFill>
            <a:srgbClr val="2E7D32"/>
          </a:solidFill>
          <a:ln>
            <a:noFill/>
          </a:ln>
        </p:spPr>
        <p:txBody>
          <a:bodyPr/>
          <a:lstStyle/>
          <a:p>
            <a:endParaRPr lang="en-US"/>
          </a:p>
        </p:txBody>
      </p:sp>
      <p:sp>
        <p:nvSpPr>
          <p:cNvPr id="789" name="Text 790"/>
          <p:cNvSpPr txBox="1"/>
          <p:nvPr/>
        </p:nvSpPr>
        <p:spPr>
          <a:xfrm>
            <a:off x="9326880" y="4379976"/>
            <a:ext cx="914400" cy="237744"/>
          </a:xfrm>
          <a:prstGeom prst="rect">
            <a:avLst/>
          </a:prstGeom>
          <a:noFill/>
          <a:ln/>
        </p:spPr>
        <p:txBody>
          <a:bodyPr wrap="square" lIns="0" tIns="0" rIns="0" bIns="0" rtlCol="0" anchor="ctr"/>
          <a:lstStyle/>
          <a:p>
            <a:pPr marL="0" indent="0" algn="ctr">
              <a:buNone/>
            </a:pPr>
            <a:r>
              <a:rPr lang="en-US" sz="650" b="1" dirty="0">
                <a:solidFill>
                  <a:srgbClr val="FFFFFF"/>
                </a:solidFill>
                <a:latin typeface="Trenda IG Text Semibold" pitchFamily="34" charset="0"/>
                <a:ea typeface="Trenda IG Text Semibold" pitchFamily="34" charset="-122"/>
                <a:cs typeface="Trenda IG Text Semibold" pitchFamily="34" charset="-120"/>
              </a:rPr>
              <a:t>Working</a:t>
            </a:r>
          </a:p>
        </p:txBody>
      </p:sp>
      <p:sp>
        <p:nvSpPr>
          <p:cNvPr id="791" name="Shape 792"/>
          <p:cNvSpPr/>
          <p:nvPr/>
        </p:nvSpPr>
        <p:spPr>
          <a:xfrm>
            <a:off x="365760" y="4809744"/>
            <a:ext cx="11457432" cy="475488"/>
          </a:xfrm>
          <a:prstGeom prst="rect">
            <a:avLst/>
          </a:prstGeom>
          <a:solidFill>
            <a:srgbClr val="FFFFFF"/>
          </a:solidFill>
          <a:ln w="9525">
            <a:solidFill>
              <a:srgbClr val="DCE4EE"/>
            </a:solidFill>
          </a:ln>
        </p:spPr>
        <p:txBody>
          <a:bodyPr/>
          <a:lstStyle/>
          <a:p>
            <a:endParaRPr lang="en-US"/>
          </a:p>
        </p:txBody>
      </p:sp>
      <p:sp>
        <p:nvSpPr>
          <p:cNvPr id="793" name="Text 794"/>
          <p:cNvSpPr txBox="1"/>
          <p:nvPr/>
        </p:nvSpPr>
        <p:spPr>
          <a:xfrm>
            <a:off x="566928" y="4946904"/>
            <a:ext cx="1920240" cy="201168"/>
          </a:xfrm>
          <a:prstGeom prst="rect">
            <a:avLst/>
          </a:prstGeom>
          <a:noFill/>
          <a:ln/>
        </p:spPr>
        <p:txBody>
          <a:bodyPr wrap="square" lIns="0" tIns="0" rIns="0" bIns="0" rtlCol="0" anchor="t"/>
          <a:lstStyle/>
          <a:p>
            <a:pPr marL="0" indent="0" algn="l">
              <a:buNone/>
            </a:pPr>
            <a:r>
              <a:rPr lang="en-US" sz="850" b="1" dirty="0">
                <a:solidFill>
                  <a:srgbClr val="0E1B2E"/>
                </a:solidFill>
                <a:latin typeface="Trenda IG Text Semibold" pitchFamily="34" charset="0"/>
                <a:ea typeface="Trenda IG Text Semibold" pitchFamily="34" charset="-122"/>
                <a:cs typeface="Trenda IG Text Semibold" pitchFamily="34" charset="-120"/>
              </a:rPr>
              <a:t>7 · Graph engine</a:t>
            </a:r>
          </a:p>
        </p:txBody>
      </p:sp>
      <p:sp>
        <p:nvSpPr>
          <p:cNvPr id="795" name="Text 796"/>
          <p:cNvSpPr txBox="1"/>
          <p:nvPr/>
        </p:nvSpPr>
        <p:spPr>
          <a:xfrm>
            <a:off x="2560320" y="4946904"/>
            <a:ext cx="3108960" cy="201168"/>
          </a:xfrm>
          <a:prstGeom prst="rect">
            <a:avLst/>
          </a:prstGeom>
          <a:noFill/>
          <a:ln/>
        </p:spPr>
        <p:txBody>
          <a:bodyPr wrap="square" lIns="0" tIns="0" rIns="0" bIns="0" rtlCol="0" anchor="t"/>
          <a:lstStyle/>
          <a:p>
            <a:pPr marL="0" indent="0" algn="l">
              <a:buNone/>
            </a:pPr>
            <a:r>
              <a:rPr lang="en-US" sz="800" dirty="0">
                <a:solidFill>
                  <a:srgbClr val="5C6E85"/>
                </a:solidFill>
                <a:latin typeface="Trenda IG Text" pitchFamily="34" charset="0"/>
                <a:ea typeface="Trenda IG Text" pitchFamily="34" charset="-122"/>
                <a:cs typeface="Trenda IG Text" pitchFamily="34" charset="-120"/>
              </a:rPr>
              <a:t>In-memory traversal</a:t>
            </a:r>
          </a:p>
        </p:txBody>
      </p:sp>
      <p:sp>
        <p:nvSpPr>
          <p:cNvPr id="797" name="Text 798"/>
          <p:cNvSpPr txBox="1"/>
          <p:nvPr/>
        </p:nvSpPr>
        <p:spPr>
          <a:xfrm>
            <a:off x="5943600" y="4946904"/>
            <a:ext cx="3108960" cy="201168"/>
          </a:xfrm>
          <a:prstGeom prst="rect">
            <a:avLst/>
          </a:prstGeom>
          <a:noFill/>
          <a:ln/>
        </p:spPr>
        <p:txBody>
          <a:bodyPr wrap="square" lIns="0" tIns="0" rIns="0" bIns="0" rtlCol="0" anchor="t"/>
          <a:lstStyle/>
          <a:p>
            <a:pPr marL="0" indent="0" algn="l">
              <a:buNone/>
            </a:pPr>
            <a:r>
              <a:rPr lang="en-US" sz="800" dirty="0">
                <a:solidFill>
                  <a:srgbClr val="12233B"/>
                </a:solidFill>
                <a:latin typeface="Trenda IG Text" pitchFamily="34" charset="0"/>
                <a:ea typeface="Trenda IG Text" pitchFamily="34" charset="-122"/>
                <a:cs typeface="Trenda IG Text" pitchFamily="34" charset="-120"/>
              </a:rPr>
              <a:t>In-memory traversal in Apex</a:t>
            </a:r>
          </a:p>
        </p:txBody>
      </p:sp>
      <p:sp>
        <p:nvSpPr>
          <p:cNvPr id="799" name="Shape 800"/>
          <p:cNvSpPr/>
          <p:nvPr/>
        </p:nvSpPr>
        <p:spPr>
          <a:xfrm>
            <a:off x="9326880" y="4928616"/>
            <a:ext cx="914400" cy="237744"/>
          </a:xfrm>
          <a:prstGeom prst="roundRect">
            <a:avLst>
              <a:gd name="adj" fmla="val 18000"/>
            </a:avLst>
          </a:prstGeom>
          <a:solidFill>
            <a:srgbClr val="2E7D32"/>
          </a:solidFill>
          <a:ln>
            <a:noFill/>
          </a:ln>
        </p:spPr>
        <p:txBody>
          <a:bodyPr/>
          <a:lstStyle/>
          <a:p>
            <a:endParaRPr lang="en-US"/>
          </a:p>
        </p:txBody>
      </p:sp>
      <p:sp>
        <p:nvSpPr>
          <p:cNvPr id="801" name="Text 802"/>
          <p:cNvSpPr txBox="1"/>
          <p:nvPr/>
        </p:nvSpPr>
        <p:spPr>
          <a:xfrm>
            <a:off x="9326880" y="4928616"/>
            <a:ext cx="914400" cy="237744"/>
          </a:xfrm>
          <a:prstGeom prst="rect">
            <a:avLst/>
          </a:prstGeom>
          <a:noFill/>
          <a:ln/>
        </p:spPr>
        <p:txBody>
          <a:bodyPr wrap="square" lIns="0" tIns="0" rIns="0" bIns="0" rtlCol="0" anchor="ctr"/>
          <a:lstStyle/>
          <a:p>
            <a:pPr marL="0" indent="0" algn="ctr">
              <a:buNone/>
            </a:pPr>
            <a:r>
              <a:rPr lang="en-US" sz="650" b="1" dirty="0">
                <a:solidFill>
                  <a:srgbClr val="FFFFFF"/>
                </a:solidFill>
                <a:latin typeface="Trenda IG Text Semibold" pitchFamily="34" charset="0"/>
                <a:ea typeface="Trenda IG Text Semibold" pitchFamily="34" charset="-122"/>
                <a:cs typeface="Trenda IG Text Semibold" pitchFamily="34" charset="-120"/>
              </a:rPr>
              <a:t>Working</a:t>
            </a:r>
          </a:p>
        </p:txBody>
      </p:sp>
      <p:sp>
        <p:nvSpPr>
          <p:cNvPr id="803" name="Shape 804"/>
          <p:cNvSpPr/>
          <p:nvPr/>
        </p:nvSpPr>
        <p:spPr>
          <a:xfrm>
            <a:off x="365760" y="5358384"/>
            <a:ext cx="11457432" cy="475488"/>
          </a:xfrm>
          <a:prstGeom prst="rect">
            <a:avLst/>
          </a:prstGeom>
          <a:solidFill>
            <a:srgbClr val="FFFFFF"/>
          </a:solidFill>
          <a:ln w="9525">
            <a:solidFill>
              <a:srgbClr val="DCE4EE"/>
            </a:solidFill>
          </a:ln>
        </p:spPr>
        <p:txBody>
          <a:bodyPr/>
          <a:lstStyle/>
          <a:p>
            <a:endParaRPr lang="en-US"/>
          </a:p>
        </p:txBody>
      </p:sp>
      <p:sp>
        <p:nvSpPr>
          <p:cNvPr id="805" name="Text 806"/>
          <p:cNvSpPr txBox="1"/>
          <p:nvPr/>
        </p:nvSpPr>
        <p:spPr>
          <a:xfrm>
            <a:off x="566928" y="5495544"/>
            <a:ext cx="1920240" cy="201168"/>
          </a:xfrm>
          <a:prstGeom prst="rect">
            <a:avLst/>
          </a:prstGeom>
          <a:noFill/>
          <a:ln/>
        </p:spPr>
        <p:txBody>
          <a:bodyPr wrap="square" lIns="0" tIns="0" rIns="0" bIns="0" rtlCol="0" anchor="t"/>
          <a:lstStyle/>
          <a:p>
            <a:pPr marL="0" indent="0" algn="l">
              <a:buNone/>
            </a:pPr>
            <a:r>
              <a:rPr lang="en-US" sz="850" b="1" dirty="0">
                <a:solidFill>
                  <a:srgbClr val="0E1B2E"/>
                </a:solidFill>
                <a:latin typeface="Trenda IG Text Semibold" pitchFamily="34" charset="0"/>
                <a:ea typeface="Trenda IG Text Semibold" pitchFamily="34" charset="-122"/>
                <a:cs typeface="Trenda IG Text Semibold" pitchFamily="34" charset="-120"/>
              </a:rPr>
              <a:t>8 · Adapter and UI</a:t>
            </a:r>
          </a:p>
        </p:txBody>
      </p:sp>
      <p:sp>
        <p:nvSpPr>
          <p:cNvPr id="807" name="Text 808"/>
          <p:cNvSpPr txBox="1"/>
          <p:nvPr/>
        </p:nvSpPr>
        <p:spPr>
          <a:xfrm>
            <a:off x="2560320" y="5495544"/>
            <a:ext cx="3108960" cy="201168"/>
          </a:xfrm>
          <a:prstGeom prst="rect">
            <a:avLst/>
          </a:prstGeom>
          <a:noFill/>
          <a:ln/>
        </p:spPr>
        <p:txBody>
          <a:bodyPr wrap="square" lIns="0" tIns="0" rIns="0" bIns="0" rtlCol="0" anchor="t"/>
          <a:lstStyle/>
          <a:p>
            <a:pPr marL="0" indent="0" algn="l">
              <a:buNone/>
            </a:pPr>
            <a:r>
              <a:rPr lang="en-US" sz="800" dirty="0">
                <a:solidFill>
                  <a:srgbClr val="5C6E85"/>
                </a:solidFill>
                <a:latin typeface="Trenda IG Text" pitchFamily="34" charset="0"/>
                <a:ea typeface="Trenda IG Text" pitchFamily="34" charset="-122"/>
                <a:cs typeface="Trenda IG Text" pitchFamily="34" charset="-120"/>
              </a:rPr>
              <a:t>Adapter, prompt, model</a:t>
            </a:r>
          </a:p>
        </p:txBody>
      </p:sp>
      <p:sp>
        <p:nvSpPr>
          <p:cNvPr id="809" name="Text 810"/>
          <p:cNvSpPr txBox="1"/>
          <p:nvPr/>
        </p:nvSpPr>
        <p:spPr>
          <a:xfrm>
            <a:off x="5943600" y="5495544"/>
            <a:ext cx="3108960" cy="201168"/>
          </a:xfrm>
          <a:prstGeom prst="rect">
            <a:avLst/>
          </a:prstGeom>
          <a:noFill/>
          <a:ln/>
        </p:spPr>
        <p:txBody>
          <a:bodyPr wrap="square" lIns="0" tIns="0" rIns="0" bIns="0" rtlCol="0" anchor="t"/>
          <a:lstStyle/>
          <a:p>
            <a:pPr marL="0" indent="0" algn="l">
              <a:buNone/>
            </a:pPr>
            <a:r>
              <a:rPr lang="en-US" sz="800" dirty="0">
                <a:solidFill>
                  <a:srgbClr val="12233B"/>
                </a:solidFill>
                <a:latin typeface="Trenda IG Text" pitchFamily="34" charset="0"/>
                <a:ea typeface="Trenda IG Text" pitchFamily="34" charset="-122"/>
                <a:cs typeface="Trenda IG Text" pitchFamily="34" charset="-120"/>
              </a:rPr>
              <a:t>Adapter and reuse analysis; no model yet</a:t>
            </a:r>
          </a:p>
        </p:txBody>
      </p:sp>
      <p:sp>
        <p:nvSpPr>
          <p:cNvPr id="811" name="Shape 812"/>
          <p:cNvSpPr/>
          <p:nvPr/>
        </p:nvSpPr>
        <p:spPr>
          <a:xfrm>
            <a:off x="9326880" y="5477256"/>
            <a:ext cx="914400" cy="237744"/>
          </a:xfrm>
          <a:prstGeom prst="roundRect">
            <a:avLst>
              <a:gd name="adj" fmla="val 18000"/>
            </a:avLst>
          </a:prstGeom>
          <a:solidFill>
            <a:srgbClr val="C77400"/>
          </a:solidFill>
          <a:ln>
            <a:noFill/>
          </a:ln>
        </p:spPr>
        <p:txBody>
          <a:bodyPr/>
          <a:lstStyle/>
          <a:p>
            <a:endParaRPr lang="en-US"/>
          </a:p>
        </p:txBody>
      </p:sp>
      <p:sp>
        <p:nvSpPr>
          <p:cNvPr id="813" name="Text 814"/>
          <p:cNvSpPr txBox="1"/>
          <p:nvPr/>
        </p:nvSpPr>
        <p:spPr>
          <a:xfrm>
            <a:off x="9326880" y="5477256"/>
            <a:ext cx="914400" cy="237744"/>
          </a:xfrm>
          <a:prstGeom prst="rect">
            <a:avLst/>
          </a:prstGeom>
          <a:noFill/>
          <a:ln/>
        </p:spPr>
        <p:txBody>
          <a:bodyPr wrap="square" lIns="0" tIns="0" rIns="0" bIns="0" rtlCol="0" anchor="ctr"/>
          <a:lstStyle/>
          <a:p>
            <a:pPr marL="0" indent="0" algn="ctr">
              <a:buNone/>
            </a:pPr>
            <a:r>
              <a:rPr lang="en-US" sz="650" b="1" dirty="0">
                <a:solidFill>
                  <a:srgbClr val="FFFFFF"/>
                </a:solidFill>
                <a:latin typeface="Trenda IG Text Semibold" pitchFamily="34" charset="0"/>
                <a:ea typeface="Trenda IG Text Semibold" pitchFamily="34" charset="-122"/>
                <a:cs typeface="Trenda IG Text Semibold" pitchFamily="34" charset="-120"/>
              </a:rPr>
              <a:t>Gate 2</a:t>
            </a:r>
          </a:p>
        </p:txBody>
      </p:sp>
      <p:sp>
        <p:nvSpPr>
          <p:cNvPr id="815" name="Shape 816"/>
          <p:cNvSpPr/>
          <p:nvPr/>
        </p:nvSpPr>
        <p:spPr>
          <a:xfrm>
            <a:off x="365760" y="5998464"/>
            <a:ext cx="11457432" cy="512064"/>
          </a:xfrm>
          <a:prstGeom prst="roundRect">
            <a:avLst>
              <a:gd name="adj" fmla="val 10000"/>
            </a:avLst>
          </a:prstGeom>
          <a:solidFill>
            <a:srgbClr val="EAF1F9"/>
          </a:solidFill>
          <a:ln>
            <a:noFill/>
          </a:ln>
        </p:spPr>
        <p:txBody>
          <a:bodyPr/>
          <a:lstStyle/>
          <a:p>
            <a:endParaRPr lang="en-US"/>
          </a:p>
        </p:txBody>
      </p:sp>
      <p:sp>
        <p:nvSpPr>
          <p:cNvPr id="817" name="Text 818"/>
          <p:cNvSpPr txBox="1"/>
          <p:nvPr/>
        </p:nvSpPr>
        <p:spPr>
          <a:xfrm>
            <a:off x="585216" y="6108192"/>
            <a:ext cx="11018520" cy="310896"/>
          </a:xfrm>
          <a:prstGeom prst="rect">
            <a:avLst/>
          </a:prstGeom>
          <a:noFill/>
          <a:ln/>
        </p:spPr>
        <p:txBody>
          <a:bodyPr wrap="square" lIns="0" tIns="0" rIns="0" bIns="0" rtlCol="0" anchor="t"/>
          <a:lstStyle/>
          <a:p>
            <a:pPr marL="0" indent="0" algn="l">
              <a:buNone/>
            </a:pPr>
            <a:r>
              <a:rPr lang="en-US" sz="850" dirty="0">
                <a:solidFill>
                  <a:srgbClr val="1B6BC0"/>
                </a:solidFill>
                <a:latin typeface="Trenda IG Text" pitchFamily="34" charset="0"/>
                <a:ea typeface="Trenda IG Text" pitchFamily="34" charset="-122"/>
                <a:cs typeface="Trenda IG Text" pitchFamily="34" charset="-120"/>
              </a:rPr>
              <a:t>Moving layers 2 to 7 out to a cloud service changes one class. Everything above depends on the evidence contract, not on where the graph runs.</a:t>
            </a:r>
          </a:p>
        </p:txBody>
      </p:sp>
    </p:spTree>
  </p:cSld>
  <p:clrMapOvr>
    <a:masterClrMapping/>
  </p:clrMapOvr>
</p:sld>
</file>

<file path=ppt/slides/slide20.xml><?xml version="1.0" encoding="utf-8"?>
<!-- AI-CHANGE-CONSOLE-POC-SLIDE -->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819" name="Text 820"/>
          <p:cNvSpPr txBox="1"/>
          <p:nvPr/>
        </p:nvSpPr>
        <p:spPr>
          <a:xfrm>
            <a:off x="365760" y="256032"/>
            <a:ext cx="11457432" cy="347472"/>
          </a:xfrm>
          <a:prstGeom prst="rect">
            <a:avLst/>
          </a:prstGeom>
          <a:noFill/>
          <a:ln/>
        </p:spPr>
        <p:txBody>
          <a:bodyPr wrap="square" lIns="0" tIns="0" rIns="0" bIns="0" rtlCol="0" anchor="ctr"/>
          <a:lstStyle/>
          <a:p>
            <a:pPr marL="0" indent="0" algn="l">
              <a:buNone/>
            </a:pPr>
            <a:r>
              <a:rPr lang="en-US" sz="2000" dirty="0">
                <a:solidFill>
                  <a:srgbClr val="0E1B2E"/>
                </a:solidFill>
                <a:latin typeface="Trenda IG Display Bold" pitchFamily="34" charset="0"/>
                <a:ea typeface="Trenda IG Display Bold" pitchFamily="34" charset="-122"/>
                <a:cs typeface="Trenda IG Display Bold" pitchFamily="34" charset="-120"/>
              </a:rPr>
              <a:t>Measured in the sandbox</a:t>
            </a:r>
          </a:p>
        </p:txBody>
      </p:sp>
      <p:sp>
        <p:nvSpPr>
          <p:cNvPr id="821" name="Text 822"/>
          <p:cNvSpPr txBox="1"/>
          <p:nvPr/>
        </p:nvSpPr>
        <p:spPr>
          <a:xfrm>
            <a:off x="365760" y="640080"/>
            <a:ext cx="11457432" cy="219456"/>
          </a:xfrm>
          <a:prstGeom prst="rect">
            <a:avLst/>
          </a:prstGeom>
          <a:noFill/>
          <a:ln/>
        </p:spPr>
        <p:txBody>
          <a:bodyPr wrap="square" lIns="0" tIns="0" rIns="0" bIns="0" rtlCol="0" anchor="ctr"/>
          <a:lstStyle/>
          <a:p>
            <a:pPr marL="0" indent="0" algn="l">
              <a:buNone/>
            </a:pPr>
            <a:r>
              <a:rPr lang="en-US" sz="950" dirty="0">
                <a:solidFill>
                  <a:srgbClr val="5C6E85"/>
                </a:solidFill>
                <a:latin typeface="Trenda IG Display" pitchFamily="34" charset="0"/>
                <a:ea typeface="Trenda IG Display" pitchFamily="34" charset="-122"/>
                <a:cs typeface="Trenda IG Display" pitchFamily="34" charset="-120"/>
              </a:rPr>
              <a:t>Not projections. These are the numbers the system reported from the Network Services pod.</a:t>
            </a:r>
          </a:p>
        </p:txBody>
      </p:sp>
      <p:sp>
        <p:nvSpPr>
          <p:cNvPr id="823" name="Text 824"/>
          <p:cNvSpPr txBox="1"/>
          <p:nvPr/>
        </p:nvSpPr>
        <p:spPr>
          <a:xfrm>
            <a:off x="365760" y="969264"/>
            <a:ext cx="11457432" cy="164592"/>
          </a:xfrm>
          <a:prstGeom prst="rect">
            <a:avLst/>
          </a:prstGeom>
          <a:noFill/>
          <a:ln/>
        </p:spPr>
        <p:txBody>
          <a:bodyPr wrap="square" lIns="0" tIns="0" rIns="0" bIns="0" rtlCol="0" anchor="t"/>
          <a:lstStyle/>
          <a:p>
            <a:pPr marL="0" indent="0" algn="l">
              <a:buNone/>
            </a:pPr>
            <a:r>
              <a:rPr lang="en-US" sz="700" b="1" dirty="0">
                <a:solidFill>
                  <a:srgbClr val="00757F"/>
                </a:solidFill>
                <a:latin typeface="Trenda IG Text Semibold" pitchFamily="34" charset="0"/>
                <a:ea typeface="Trenda IG Text Semibold" pitchFamily="34" charset="-122"/>
                <a:cs typeface="Trenda IG Text Semibold" pitchFamily="34" charset="-120"/>
              </a:rPr>
              <a:t>NETWORK SERVICES  ·  SANDBOX  ·  SEPTEMBER 2026</a:t>
            </a:r>
          </a:p>
        </p:txBody>
      </p:sp>
      <p:sp>
        <p:nvSpPr>
          <p:cNvPr id="825" name="Shape 826"/>
          <p:cNvSpPr/>
          <p:nvPr/>
        </p:nvSpPr>
        <p:spPr>
          <a:xfrm>
            <a:off x="365760" y="1298448"/>
            <a:ext cx="3639312" cy="1426464"/>
          </a:xfrm>
          <a:prstGeom prst="rect">
            <a:avLst/>
          </a:prstGeom>
          <a:solidFill>
            <a:srgbClr val="FFFFFF"/>
          </a:solidFill>
          <a:ln w="9525">
            <a:solidFill>
              <a:srgbClr val="DCE4EE"/>
            </a:solidFill>
          </a:ln>
        </p:spPr>
        <p:txBody>
          <a:bodyPr/>
          <a:lstStyle/>
          <a:p>
            <a:endParaRPr lang="en-US"/>
          </a:p>
        </p:txBody>
      </p:sp>
      <p:sp>
        <p:nvSpPr>
          <p:cNvPr id="827" name="Text 828"/>
          <p:cNvSpPr txBox="1"/>
          <p:nvPr/>
        </p:nvSpPr>
        <p:spPr>
          <a:xfrm>
            <a:off x="585216" y="1481328"/>
            <a:ext cx="3200400" cy="420624"/>
          </a:xfrm>
          <a:prstGeom prst="rect">
            <a:avLst/>
          </a:prstGeom>
          <a:noFill/>
          <a:ln/>
        </p:spPr>
        <p:txBody>
          <a:bodyPr wrap="square" lIns="0" tIns="0" rIns="0" bIns="0" rtlCol="0" anchor="t"/>
          <a:lstStyle/>
          <a:p>
            <a:pPr marL="0" indent="0" algn="l">
              <a:buNone/>
            </a:pPr>
            <a:r>
              <a:rPr lang="en-US" sz="2200" dirty="0">
                <a:solidFill>
                  <a:srgbClr val="1B6BC0"/>
                </a:solidFill>
                <a:latin typeface="Trenda IG Display Bold" pitchFamily="34" charset="0"/>
                <a:ea typeface="Trenda IG Display Bold" pitchFamily="34" charset="-122"/>
                <a:cs typeface="Trenda IG Display Bold" pitchFamily="34" charset="-120"/>
              </a:rPr>
              <a:t>2,859</a:t>
            </a:r>
          </a:p>
        </p:txBody>
      </p:sp>
      <p:sp>
        <p:nvSpPr>
          <p:cNvPr id="829" name="Text 830"/>
          <p:cNvSpPr txBox="1"/>
          <p:nvPr/>
        </p:nvSpPr>
        <p:spPr>
          <a:xfrm>
            <a:off x="585216" y="1975104"/>
            <a:ext cx="3200400" cy="201168"/>
          </a:xfrm>
          <a:prstGeom prst="rect">
            <a:avLst/>
          </a:prstGeom>
          <a:noFill/>
          <a:ln/>
        </p:spPr>
        <p:txBody>
          <a:bodyPr wrap="square" lIns="0" tIns="0" rIns="0" bIns="0" rtlCol="0" anchor="t"/>
          <a:lstStyle/>
          <a:p>
            <a:pPr marL="0" indent="0" algn="l">
              <a:buNone/>
            </a:pPr>
            <a:r>
              <a:rPr lang="en-US" sz="900" b="1" dirty="0">
                <a:solidFill>
                  <a:srgbClr val="0E1B2E"/>
                </a:solidFill>
                <a:latin typeface="Trenda IG Text Semibold" pitchFamily="34" charset="0"/>
                <a:ea typeface="Trenda IG Text Semibold" pitchFamily="34" charset="-122"/>
                <a:cs typeface="Trenda IG Text Semibold" pitchFamily="34" charset="-120"/>
              </a:rPr>
              <a:t>components mapped</a:t>
            </a:r>
          </a:p>
        </p:txBody>
      </p:sp>
      <p:sp>
        <p:nvSpPr>
          <p:cNvPr id="831" name="Text 832"/>
          <p:cNvSpPr txBox="1"/>
          <p:nvPr/>
        </p:nvSpPr>
        <p:spPr>
          <a:xfrm>
            <a:off x="585216" y="2212848"/>
            <a:ext cx="3200400" cy="420624"/>
          </a:xfrm>
          <a:prstGeom prst="rect">
            <a:avLst/>
          </a:prstGeom>
          <a:noFill/>
          <a:ln/>
        </p:spPr>
        <p:txBody>
          <a:bodyPr wrap="square" lIns="0" tIns="0" rIns="0" bIns="0" rtlCol="0" anchor="t"/>
          <a:lstStyle/>
          <a:p>
            <a:pPr marL="0" indent="0" algn="l">
              <a:lnSpc>
                <a:spcPct val="125000"/>
              </a:lnSpc>
              <a:buNone/>
            </a:pPr>
            <a:r>
              <a:rPr lang="en-US" sz="750" dirty="0">
                <a:solidFill>
                  <a:srgbClr val="5C6E85"/>
                </a:solidFill>
                <a:latin typeface="Trenda IG Text" pitchFamily="34" charset="0"/>
                <a:ea typeface="Trenda IG Text" pitchFamily="34" charset="-122"/>
                <a:cs typeface="Trenda IG Text" pitchFamily="34" charset="-120"/>
              </a:rPr>
              <a:t>objects, fields, record types, flows, triggers and Apex classes</a:t>
            </a:r>
          </a:p>
        </p:txBody>
      </p:sp>
      <p:sp>
        <p:nvSpPr>
          <p:cNvPr id="833" name="Shape 834"/>
          <p:cNvSpPr/>
          <p:nvPr/>
        </p:nvSpPr>
        <p:spPr>
          <a:xfrm>
            <a:off x="4224528" y="1298448"/>
            <a:ext cx="3639312" cy="1426464"/>
          </a:xfrm>
          <a:prstGeom prst="rect">
            <a:avLst/>
          </a:prstGeom>
          <a:solidFill>
            <a:srgbClr val="FFFFFF"/>
          </a:solidFill>
          <a:ln w="9525">
            <a:solidFill>
              <a:srgbClr val="DCE4EE"/>
            </a:solidFill>
          </a:ln>
        </p:spPr>
        <p:txBody>
          <a:bodyPr/>
          <a:lstStyle/>
          <a:p>
            <a:endParaRPr lang="en-US"/>
          </a:p>
        </p:txBody>
      </p:sp>
      <p:sp>
        <p:nvSpPr>
          <p:cNvPr id="835" name="Text 836"/>
          <p:cNvSpPr txBox="1"/>
          <p:nvPr/>
        </p:nvSpPr>
        <p:spPr>
          <a:xfrm>
            <a:off x="4443984" y="1481328"/>
            <a:ext cx="3200400" cy="420624"/>
          </a:xfrm>
          <a:prstGeom prst="rect">
            <a:avLst/>
          </a:prstGeom>
          <a:noFill/>
          <a:ln/>
        </p:spPr>
        <p:txBody>
          <a:bodyPr wrap="square" lIns="0" tIns="0" rIns="0" bIns="0" rtlCol="0" anchor="t"/>
          <a:lstStyle/>
          <a:p>
            <a:pPr marL="0" indent="0" algn="l">
              <a:buNone/>
            </a:pPr>
            <a:r>
              <a:rPr lang="en-US" sz="2200" dirty="0">
                <a:solidFill>
                  <a:srgbClr val="00757F"/>
                </a:solidFill>
                <a:latin typeface="Trenda IG Display Bold" pitchFamily="34" charset="0"/>
                <a:ea typeface="Trenda IG Display Bold" pitchFamily="34" charset="-122"/>
                <a:cs typeface="Trenda IG Display Bold" pitchFamily="34" charset="-120"/>
              </a:rPr>
              <a:t>3,969</a:t>
            </a:r>
          </a:p>
        </p:txBody>
      </p:sp>
      <p:sp>
        <p:nvSpPr>
          <p:cNvPr id="837" name="Text 838"/>
          <p:cNvSpPr txBox="1"/>
          <p:nvPr/>
        </p:nvSpPr>
        <p:spPr>
          <a:xfrm>
            <a:off x="4443984" y="1975104"/>
            <a:ext cx="3200400" cy="201168"/>
          </a:xfrm>
          <a:prstGeom prst="rect">
            <a:avLst/>
          </a:prstGeom>
          <a:noFill/>
          <a:ln/>
        </p:spPr>
        <p:txBody>
          <a:bodyPr wrap="square" lIns="0" tIns="0" rIns="0" bIns="0" rtlCol="0" anchor="t"/>
          <a:lstStyle/>
          <a:p>
            <a:pPr marL="0" indent="0" algn="l">
              <a:buNone/>
            </a:pPr>
            <a:r>
              <a:rPr lang="en-US" sz="900" b="1" dirty="0">
                <a:solidFill>
                  <a:srgbClr val="0E1B2E"/>
                </a:solidFill>
                <a:latin typeface="Trenda IG Text Semibold" pitchFamily="34" charset="0"/>
                <a:ea typeface="Trenda IG Text Semibold" pitchFamily="34" charset="-122"/>
                <a:cs typeface="Trenda IG Text Semibold" pitchFamily="34" charset="-120"/>
              </a:rPr>
              <a:t>relationships between them</a:t>
            </a:r>
          </a:p>
        </p:txBody>
      </p:sp>
      <p:sp>
        <p:nvSpPr>
          <p:cNvPr id="839" name="Text 840"/>
          <p:cNvSpPr txBox="1"/>
          <p:nvPr/>
        </p:nvSpPr>
        <p:spPr>
          <a:xfrm>
            <a:off x="4443984" y="2212848"/>
            <a:ext cx="3200400" cy="420624"/>
          </a:xfrm>
          <a:prstGeom prst="rect">
            <a:avLst/>
          </a:prstGeom>
          <a:noFill/>
          <a:ln/>
        </p:spPr>
        <p:txBody>
          <a:bodyPr wrap="square" lIns="0" tIns="0" rIns="0" bIns="0" rtlCol="0" anchor="t"/>
          <a:lstStyle/>
          <a:p>
            <a:pPr marL="0" indent="0" algn="l">
              <a:lnSpc>
                <a:spcPct val="125000"/>
              </a:lnSpc>
              <a:buNone/>
            </a:pPr>
            <a:r>
              <a:rPr lang="en-US" sz="750" dirty="0">
                <a:solidFill>
                  <a:srgbClr val="5C6E85"/>
                </a:solidFill>
                <a:latin typeface="Trenda IG Text" pitchFamily="34" charset="0"/>
                <a:ea typeface="Trenda IG Text" pitchFamily="34" charset="-122"/>
                <a:cs typeface="Trenda IG Text" pitchFamily="34" charset="-120"/>
              </a:rPr>
              <a:t>each one typed, and each one carrying its provenance</a:t>
            </a:r>
          </a:p>
        </p:txBody>
      </p:sp>
      <p:sp>
        <p:nvSpPr>
          <p:cNvPr id="841" name="Shape 842"/>
          <p:cNvSpPr/>
          <p:nvPr/>
        </p:nvSpPr>
        <p:spPr>
          <a:xfrm>
            <a:off x="8083296" y="1298448"/>
            <a:ext cx="3639312" cy="1426464"/>
          </a:xfrm>
          <a:prstGeom prst="rect">
            <a:avLst/>
          </a:prstGeom>
          <a:solidFill>
            <a:srgbClr val="FFFFFF"/>
          </a:solidFill>
          <a:ln w="9525">
            <a:solidFill>
              <a:srgbClr val="DCE4EE"/>
            </a:solidFill>
          </a:ln>
        </p:spPr>
        <p:txBody>
          <a:bodyPr/>
          <a:lstStyle/>
          <a:p>
            <a:endParaRPr lang="en-US"/>
          </a:p>
        </p:txBody>
      </p:sp>
      <p:sp>
        <p:nvSpPr>
          <p:cNvPr id="843" name="Text 844"/>
          <p:cNvSpPr txBox="1"/>
          <p:nvPr/>
        </p:nvSpPr>
        <p:spPr>
          <a:xfrm>
            <a:off x="8302752" y="1481328"/>
            <a:ext cx="3200400" cy="420624"/>
          </a:xfrm>
          <a:prstGeom prst="rect">
            <a:avLst/>
          </a:prstGeom>
          <a:noFill/>
          <a:ln/>
        </p:spPr>
        <p:txBody>
          <a:bodyPr wrap="square" lIns="0" tIns="0" rIns="0" bIns="0" rtlCol="0" anchor="t"/>
          <a:lstStyle/>
          <a:p>
            <a:pPr marL="0" indent="0" algn="l">
              <a:buNone/>
            </a:pPr>
            <a:r>
              <a:rPr lang="en-US" sz="2200" dirty="0">
                <a:solidFill>
                  <a:srgbClr val="0E8A7D"/>
                </a:solidFill>
                <a:latin typeface="Trenda IG Display Bold" pitchFamily="34" charset="0"/>
                <a:ea typeface="Trenda IG Display Bold" pitchFamily="34" charset="-122"/>
                <a:cs typeface="Trenda IG Display Bold" pitchFamily="34" charset="-120"/>
              </a:rPr>
              <a:t>1.8 MB</a:t>
            </a:r>
          </a:p>
        </p:txBody>
      </p:sp>
      <p:sp>
        <p:nvSpPr>
          <p:cNvPr id="845" name="Text 846"/>
          <p:cNvSpPr txBox="1"/>
          <p:nvPr/>
        </p:nvSpPr>
        <p:spPr>
          <a:xfrm>
            <a:off x="8302752" y="1975104"/>
            <a:ext cx="3200400" cy="201168"/>
          </a:xfrm>
          <a:prstGeom prst="rect">
            <a:avLst/>
          </a:prstGeom>
          <a:noFill/>
          <a:ln/>
        </p:spPr>
        <p:txBody>
          <a:bodyPr wrap="square" lIns="0" tIns="0" rIns="0" bIns="0" rtlCol="0" anchor="t"/>
          <a:lstStyle/>
          <a:p>
            <a:pPr marL="0" indent="0" algn="l">
              <a:buNone/>
            </a:pPr>
            <a:r>
              <a:rPr lang="en-US" sz="900" b="1" dirty="0">
                <a:solidFill>
                  <a:srgbClr val="0E1B2E"/>
                </a:solidFill>
                <a:latin typeface="Trenda IG Text Semibold" pitchFamily="34" charset="0"/>
                <a:ea typeface="Trenda IG Text Semibold" pitchFamily="34" charset="-122"/>
                <a:cs typeface="Trenda IG Text Semibold" pitchFamily="34" charset="-120"/>
              </a:rPr>
              <a:t>the entire map as one file</a:t>
            </a:r>
          </a:p>
        </p:txBody>
      </p:sp>
      <p:sp>
        <p:nvSpPr>
          <p:cNvPr id="847" name="Text 848"/>
          <p:cNvSpPr txBox="1"/>
          <p:nvPr/>
        </p:nvSpPr>
        <p:spPr>
          <a:xfrm>
            <a:off x="8302752" y="2212848"/>
            <a:ext cx="3200400" cy="420624"/>
          </a:xfrm>
          <a:prstGeom prst="rect">
            <a:avLst/>
          </a:prstGeom>
          <a:noFill/>
          <a:ln/>
        </p:spPr>
        <p:txBody>
          <a:bodyPr wrap="square" lIns="0" tIns="0" rIns="0" bIns="0" rtlCol="0" anchor="t"/>
          <a:lstStyle/>
          <a:p>
            <a:pPr marL="0" indent="0" algn="l">
              <a:lnSpc>
                <a:spcPct val="125000"/>
              </a:lnSpc>
              <a:buNone/>
            </a:pPr>
            <a:r>
              <a:rPr lang="en-US" sz="750" dirty="0">
                <a:solidFill>
                  <a:srgbClr val="5C6E85"/>
                </a:solidFill>
                <a:latin typeface="Trenda IG Text" pitchFamily="34" charset="0"/>
                <a:ea typeface="Trenda IG Text" pitchFamily="34" charset="-122"/>
                <a:cs typeface="Trenda IG Text" pitchFamily="34" charset="-120"/>
              </a:rPr>
              <a:t>the same graph stored as records came to 221 MB</a:t>
            </a:r>
          </a:p>
        </p:txBody>
      </p:sp>
      <p:sp>
        <p:nvSpPr>
          <p:cNvPr id="849" name="Shape 850"/>
          <p:cNvSpPr/>
          <p:nvPr/>
        </p:nvSpPr>
        <p:spPr>
          <a:xfrm>
            <a:off x="365760" y="2889504"/>
            <a:ext cx="3639312" cy="1426464"/>
          </a:xfrm>
          <a:prstGeom prst="rect">
            <a:avLst/>
          </a:prstGeom>
          <a:solidFill>
            <a:srgbClr val="FFFFFF"/>
          </a:solidFill>
          <a:ln w="9525">
            <a:solidFill>
              <a:srgbClr val="DCE4EE"/>
            </a:solidFill>
          </a:ln>
        </p:spPr>
        <p:txBody>
          <a:bodyPr/>
          <a:lstStyle/>
          <a:p>
            <a:endParaRPr lang="en-US"/>
          </a:p>
        </p:txBody>
      </p:sp>
      <p:sp>
        <p:nvSpPr>
          <p:cNvPr id="851" name="Text 852"/>
          <p:cNvSpPr txBox="1"/>
          <p:nvPr/>
        </p:nvSpPr>
        <p:spPr>
          <a:xfrm>
            <a:off x="585216" y="3072384"/>
            <a:ext cx="3200400" cy="420624"/>
          </a:xfrm>
          <a:prstGeom prst="rect">
            <a:avLst/>
          </a:prstGeom>
          <a:noFill/>
          <a:ln/>
        </p:spPr>
        <p:txBody>
          <a:bodyPr wrap="square" lIns="0" tIns="0" rIns="0" bIns="0" rtlCol="0" anchor="t"/>
          <a:lstStyle/>
          <a:p>
            <a:pPr marL="0" indent="0" algn="l">
              <a:buNone/>
            </a:pPr>
            <a:r>
              <a:rPr lang="en-US" sz="2200" dirty="0">
                <a:solidFill>
                  <a:srgbClr val="7A4FC0"/>
                </a:solidFill>
                <a:latin typeface="Trenda IG Display Bold" pitchFamily="34" charset="0"/>
                <a:ea typeface="Trenda IG Display Bold" pitchFamily="34" charset="-122"/>
                <a:cs typeface="Trenda IG Display Bold" pitchFamily="34" charset="-120"/>
              </a:rPr>
              <a:t>49</a:t>
            </a:r>
          </a:p>
        </p:txBody>
      </p:sp>
      <p:sp>
        <p:nvSpPr>
          <p:cNvPr id="853" name="Text 854"/>
          <p:cNvSpPr txBox="1"/>
          <p:nvPr/>
        </p:nvSpPr>
        <p:spPr>
          <a:xfrm>
            <a:off x="585216" y="3566160"/>
            <a:ext cx="3200400" cy="201168"/>
          </a:xfrm>
          <a:prstGeom prst="rect">
            <a:avLst/>
          </a:prstGeom>
          <a:noFill/>
          <a:ln/>
        </p:spPr>
        <p:txBody>
          <a:bodyPr wrap="square" lIns="0" tIns="0" rIns="0" bIns="0" rtlCol="0" anchor="t"/>
          <a:lstStyle/>
          <a:p>
            <a:pPr marL="0" indent="0" algn="l">
              <a:buNone/>
            </a:pPr>
            <a:r>
              <a:rPr lang="en-US" sz="900" b="1" dirty="0">
                <a:solidFill>
                  <a:srgbClr val="0E1B2E"/>
                </a:solidFill>
                <a:latin typeface="Trenda IG Text Semibold" pitchFamily="34" charset="0"/>
                <a:ea typeface="Trenda IG Text Semibold" pitchFamily="34" charset="-122"/>
                <a:cs typeface="Trenda IG Text Semibold" pitchFamily="34" charset="-120"/>
              </a:rPr>
              <a:t>objects in the pod scope</a:t>
            </a:r>
          </a:p>
        </p:txBody>
      </p:sp>
      <p:sp>
        <p:nvSpPr>
          <p:cNvPr id="855" name="Text 856"/>
          <p:cNvSpPr txBox="1"/>
          <p:nvPr/>
        </p:nvSpPr>
        <p:spPr>
          <a:xfrm>
            <a:off x="585216" y="3803904"/>
            <a:ext cx="3200400" cy="420624"/>
          </a:xfrm>
          <a:prstGeom prst="rect">
            <a:avLst/>
          </a:prstGeom>
          <a:noFill/>
          <a:ln/>
        </p:spPr>
        <p:txBody>
          <a:bodyPr wrap="square" lIns="0" tIns="0" rIns="0" bIns="0" rtlCol="0" anchor="t"/>
          <a:lstStyle/>
          <a:p>
            <a:pPr marL="0" indent="0" algn="l">
              <a:lnSpc>
                <a:spcPct val="125000"/>
              </a:lnSpc>
              <a:buNone/>
            </a:pPr>
            <a:r>
              <a:rPr lang="en-US" sz="750" dirty="0">
                <a:solidFill>
                  <a:srgbClr val="5C6E85"/>
                </a:solidFill>
                <a:latin typeface="Trenda IG Text" pitchFamily="34" charset="0"/>
                <a:ea typeface="Trenda IG Text" pitchFamily="34" charset="-122"/>
                <a:cs typeface="Trenda IG Text" pitchFamily="34" charset="-120"/>
              </a:rPr>
              <a:t>out of roughly 1,400 objects in the org</a:t>
            </a:r>
          </a:p>
        </p:txBody>
      </p:sp>
      <p:sp>
        <p:nvSpPr>
          <p:cNvPr id="857" name="Shape 858"/>
          <p:cNvSpPr/>
          <p:nvPr/>
        </p:nvSpPr>
        <p:spPr>
          <a:xfrm>
            <a:off x="4224528" y="2889504"/>
            <a:ext cx="3639312" cy="1426464"/>
          </a:xfrm>
          <a:prstGeom prst="rect">
            <a:avLst/>
          </a:prstGeom>
          <a:solidFill>
            <a:srgbClr val="FFFFFF"/>
          </a:solidFill>
          <a:ln w="9525">
            <a:solidFill>
              <a:srgbClr val="DCE4EE"/>
            </a:solidFill>
          </a:ln>
        </p:spPr>
        <p:txBody>
          <a:bodyPr/>
          <a:lstStyle/>
          <a:p>
            <a:endParaRPr lang="en-US"/>
          </a:p>
        </p:txBody>
      </p:sp>
      <p:sp>
        <p:nvSpPr>
          <p:cNvPr id="859" name="Text 860"/>
          <p:cNvSpPr txBox="1"/>
          <p:nvPr/>
        </p:nvSpPr>
        <p:spPr>
          <a:xfrm>
            <a:off x="4443984" y="3072384"/>
            <a:ext cx="3200400" cy="420624"/>
          </a:xfrm>
          <a:prstGeom prst="rect">
            <a:avLst/>
          </a:prstGeom>
          <a:noFill/>
          <a:ln/>
        </p:spPr>
        <p:txBody>
          <a:bodyPr wrap="square" lIns="0" tIns="0" rIns="0" bIns="0" rtlCol="0" anchor="t"/>
          <a:lstStyle/>
          <a:p>
            <a:pPr marL="0" indent="0" algn="l">
              <a:buNone/>
            </a:pPr>
            <a:r>
              <a:rPr lang="en-US" sz="2200" dirty="0">
                <a:solidFill>
                  <a:srgbClr val="C77400"/>
                </a:solidFill>
                <a:latin typeface="Trenda IG Display Bold" pitchFamily="34" charset="0"/>
                <a:ea typeface="Trenda IG Display Bold" pitchFamily="34" charset="-122"/>
                <a:cs typeface="Trenda IG Display Bold" pitchFamily="34" charset="-120"/>
              </a:rPr>
              <a:t>~7 sec</a:t>
            </a:r>
          </a:p>
        </p:txBody>
      </p:sp>
      <p:sp>
        <p:nvSpPr>
          <p:cNvPr id="861" name="Text 862"/>
          <p:cNvSpPr txBox="1"/>
          <p:nvPr/>
        </p:nvSpPr>
        <p:spPr>
          <a:xfrm>
            <a:off x="4443984" y="3566160"/>
            <a:ext cx="3200400" cy="201168"/>
          </a:xfrm>
          <a:prstGeom prst="rect">
            <a:avLst/>
          </a:prstGeom>
          <a:noFill/>
          <a:ln/>
        </p:spPr>
        <p:txBody>
          <a:bodyPr wrap="square" lIns="0" tIns="0" rIns="0" bIns="0" rtlCol="0" anchor="t"/>
          <a:lstStyle/>
          <a:p>
            <a:pPr marL="0" indent="0" algn="l">
              <a:buNone/>
            </a:pPr>
            <a:r>
              <a:rPr lang="en-US" sz="900" b="1" dirty="0">
                <a:solidFill>
                  <a:srgbClr val="0E1B2E"/>
                </a:solidFill>
                <a:latin typeface="Trenda IG Text Semibold" pitchFamily="34" charset="0"/>
                <a:ea typeface="Trenda IG Text Semibold" pitchFamily="34" charset="-122"/>
                <a:cs typeface="Trenda IG Text Semibold" pitchFamily="34" charset="-120"/>
              </a:rPr>
              <a:t>to answer a request</a:t>
            </a:r>
          </a:p>
        </p:txBody>
      </p:sp>
      <p:sp>
        <p:nvSpPr>
          <p:cNvPr id="863" name="Text 864"/>
          <p:cNvSpPr txBox="1"/>
          <p:nvPr/>
        </p:nvSpPr>
        <p:spPr>
          <a:xfrm>
            <a:off x="4443984" y="3803904"/>
            <a:ext cx="3200400" cy="420624"/>
          </a:xfrm>
          <a:prstGeom prst="rect">
            <a:avLst/>
          </a:prstGeom>
          <a:noFill/>
          <a:ln/>
        </p:spPr>
        <p:txBody>
          <a:bodyPr wrap="square" lIns="0" tIns="0" rIns="0" bIns="0" rtlCol="0" anchor="t"/>
          <a:lstStyle/>
          <a:p>
            <a:pPr marL="0" indent="0" algn="l">
              <a:lnSpc>
                <a:spcPct val="125000"/>
              </a:lnSpc>
              <a:buNone/>
            </a:pPr>
            <a:r>
              <a:rPr lang="en-US" sz="750" dirty="0">
                <a:solidFill>
                  <a:srgbClr val="5C6E85"/>
                </a:solidFill>
                <a:latin typeface="Trenda IG Text" pitchFamily="34" charset="0"/>
                <a:ea typeface="Trenda IG Text" pitchFamily="34" charset="-122"/>
                <a:cs typeface="Trenda IG Text" pitchFamily="34" charset="-120"/>
              </a:rPr>
              <a:t>four server calls, no AI model, no external service</a:t>
            </a:r>
          </a:p>
        </p:txBody>
      </p:sp>
      <p:sp>
        <p:nvSpPr>
          <p:cNvPr id="865" name="Shape 866"/>
          <p:cNvSpPr/>
          <p:nvPr/>
        </p:nvSpPr>
        <p:spPr>
          <a:xfrm>
            <a:off x="8083296" y="2889504"/>
            <a:ext cx="3639312" cy="1426464"/>
          </a:xfrm>
          <a:prstGeom prst="rect">
            <a:avLst/>
          </a:prstGeom>
          <a:solidFill>
            <a:srgbClr val="FFFFFF"/>
          </a:solidFill>
          <a:ln w="9525">
            <a:solidFill>
              <a:srgbClr val="DCE4EE"/>
            </a:solidFill>
          </a:ln>
        </p:spPr>
        <p:txBody>
          <a:bodyPr/>
          <a:lstStyle/>
          <a:p>
            <a:endParaRPr lang="en-US"/>
          </a:p>
        </p:txBody>
      </p:sp>
      <p:sp>
        <p:nvSpPr>
          <p:cNvPr id="867" name="Text 868"/>
          <p:cNvSpPr txBox="1"/>
          <p:nvPr/>
        </p:nvSpPr>
        <p:spPr>
          <a:xfrm>
            <a:off x="8302752" y="3072384"/>
            <a:ext cx="3200400" cy="420624"/>
          </a:xfrm>
          <a:prstGeom prst="rect">
            <a:avLst/>
          </a:prstGeom>
          <a:noFill/>
          <a:ln/>
        </p:spPr>
        <p:txBody>
          <a:bodyPr wrap="square" lIns="0" tIns="0" rIns="0" bIns="0" rtlCol="0" anchor="t"/>
          <a:lstStyle/>
          <a:p>
            <a:pPr marL="0" indent="0" algn="l">
              <a:buNone/>
            </a:pPr>
            <a:r>
              <a:rPr lang="en-US" sz="2200" dirty="0">
                <a:solidFill>
                  <a:srgbClr val="2E7D32"/>
                </a:solidFill>
                <a:latin typeface="Trenda IG Display Bold" pitchFamily="34" charset="0"/>
                <a:ea typeface="Trenda IG Display Bold" pitchFamily="34" charset="-122"/>
                <a:cs typeface="Trenda IG Display Bold" pitchFamily="34" charset="-120"/>
              </a:rPr>
              <a:t>495</a:t>
            </a:r>
          </a:p>
        </p:txBody>
      </p:sp>
      <p:sp>
        <p:nvSpPr>
          <p:cNvPr id="869" name="Text 870"/>
          <p:cNvSpPr txBox="1"/>
          <p:nvPr/>
        </p:nvSpPr>
        <p:spPr>
          <a:xfrm>
            <a:off x="8302752" y="3566160"/>
            <a:ext cx="3200400" cy="201168"/>
          </a:xfrm>
          <a:prstGeom prst="rect">
            <a:avLst/>
          </a:prstGeom>
          <a:noFill/>
          <a:ln/>
        </p:spPr>
        <p:txBody>
          <a:bodyPr wrap="square" lIns="0" tIns="0" rIns="0" bIns="0" rtlCol="0" anchor="t"/>
          <a:lstStyle/>
          <a:p>
            <a:pPr marL="0" indent="0" algn="l">
              <a:buNone/>
            </a:pPr>
            <a:r>
              <a:rPr lang="en-US" sz="900" b="1" dirty="0">
                <a:solidFill>
                  <a:srgbClr val="0E1B2E"/>
                </a:solidFill>
                <a:latin typeface="Trenda IG Text Semibold" pitchFamily="34" charset="0"/>
                <a:ea typeface="Trenda IG Text Semibold" pitchFamily="34" charset="-122"/>
                <a:cs typeface="Trenda IG Text Semibold" pitchFamily="34" charset="-120"/>
              </a:rPr>
              <a:t>active flows in the org</a:t>
            </a:r>
          </a:p>
        </p:txBody>
      </p:sp>
      <p:sp>
        <p:nvSpPr>
          <p:cNvPr id="871" name="Text 872"/>
          <p:cNvSpPr txBox="1"/>
          <p:nvPr/>
        </p:nvSpPr>
        <p:spPr>
          <a:xfrm>
            <a:off x="8302752" y="3803904"/>
            <a:ext cx="3200400" cy="420624"/>
          </a:xfrm>
          <a:prstGeom prst="rect">
            <a:avLst/>
          </a:prstGeom>
          <a:noFill/>
          <a:ln/>
        </p:spPr>
        <p:txBody>
          <a:bodyPr wrap="square" lIns="0" tIns="0" rIns="0" bIns="0" rtlCol="0" anchor="t"/>
          <a:lstStyle/>
          <a:p>
            <a:pPr marL="0" indent="0" algn="l">
              <a:lnSpc>
                <a:spcPct val="125000"/>
              </a:lnSpc>
              <a:buNone/>
            </a:pPr>
            <a:r>
              <a:rPr lang="en-US" sz="750" dirty="0">
                <a:solidFill>
                  <a:srgbClr val="5C6E85"/>
                </a:solidFill>
                <a:latin typeface="Trenda IG Text" pitchFamily="34" charset="0"/>
                <a:ea typeface="Trenda IG Text" pitchFamily="34" charset="-122"/>
                <a:cs typeface="Trenda IG Text" pitchFamily="34" charset="-120"/>
              </a:rPr>
              <a:t>all of them now readable, where 200 was the previous ceiling</a:t>
            </a:r>
          </a:p>
        </p:txBody>
      </p:sp>
      <p:sp>
        <p:nvSpPr>
          <p:cNvPr id="873" name="Shape 874"/>
          <p:cNvSpPr/>
          <p:nvPr/>
        </p:nvSpPr>
        <p:spPr>
          <a:xfrm>
            <a:off x="365760" y="4553712"/>
            <a:ext cx="11457432" cy="786384"/>
          </a:xfrm>
          <a:prstGeom prst="roundRect">
            <a:avLst>
              <a:gd name="adj" fmla="val 10000"/>
            </a:avLst>
          </a:prstGeom>
          <a:solidFill>
            <a:srgbClr val="FDF3E6"/>
          </a:solidFill>
          <a:ln>
            <a:noFill/>
          </a:ln>
        </p:spPr>
        <p:txBody>
          <a:bodyPr/>
          <a:lstStyle/>
          <a:p>
            <a:endParaRPr lang="en-US"/>
          </a:p>
        </p:txBody>
      </p:sp>
      <p:sp>
        <p:nvSpPr>
          <p:cNvPr id="875" name="Text 876"/>
          <p:cNvSpPr txBox="1"/>
          <p:nvPr/>
        </p:nvSpPr>
        <p:spPr>
          <a:xfrm>
            <a:off x="585216" y="4681728"/>
            <a:ext cx="11018520" cy="548640"/>
          </a:xfrm>
          <a:prstGeom prst="rect">
            <a:avLst/>
          </a:prstGeom>
          <a:noFill/>
          <a:ln/>
        </p:spPr>
        <p:txBody>
          <a:bodyPr wrap="square" lIns="0" tIns="0" rIns="0" bIns="0" rtlCol="0" anchor="t"/>
          <a:lstStyle/>
          <a:p>
            <a:pPr marL="0" indent="0" algn="l">
              <a:lnSpc>
                <a:spcPct val="130000"/>
              </a:lnSpc>
              <a:buNone/>
            </a:pPr>
            <a:r>
              <a:rPr lang="en-US" sz="850" dirty="0">
                <a:solidFill>
                  <a:srgbClr val="8A5620"/>
                </a:solidFill>
                <a:latin typeface="Trenda IG Text" pitchFamily="34" charset="0"/>
                <a:ea typeface="Trenda IG Text" pitchFamily="34" charset="-122"/>
                <a:cs typeface="Trenda IG Text" pitchFamily="34" charset="-120"/>
              </a:rPr>
              <a:t>One more measurement worth stating: the permission sets assigned to the pod's users grant write on 1,319 objects. That is the number that settled how the pod scope had to be defined, and it is the kind of thing nobody knows until the system measures it and says so out loud.</a:t>
            </a:r>
          </a:p>
        </p:txBody>
      </p:sp>
      <p:sp>
        <p:nvSpPr>
          <p:cNvPr id="877" name="Text 878"/>
          <p:cNvSpPr txBox="1"/>
          <p:nvPr/>
        </p:nvSpPr>
        <p:spPr>
          <a:xfrm>
            <a:off x="365760" y="5532120"/>
            <a:ext cx="11457432" cy="640080"/>
          </a:xfrm>
          <a:prstGeom prst="rect">
            <a:avLst/>
          </a:prstGeom>
          <a:noFill/>
          <a:ln/>
        </p:spPr>
        <p:txBody>
          <a:bodyPr wrap="square" lIns="0" tIns="0" rIns="0" bIns="0" rtlCol="0" anchor="t"/>
          <a:lstStyle/>
          <a:p>
            <a:pPr marL="0" indent="0" algn="l">
              <a:lnSpc>
                <a:spcPct val="130000"/>
              </a:lnSpc>
              <a:buNone/>
            </a:pPr>
            <a:r>
              <a:rPr lang="en-US" sz="850" i="1" dirty="0">
                <a:solidFill>
                  <a:srgbClr val="5C6E85"/>
                </a:solidFill>
                <a:latin typeface="Trenda IG Text" pitchFamily="34" charset="0"/>
                <a:ea typeface="Trenda IG Text" pitchFamily="34" charset="-122"/>
                <a:cs typeface="Trenda IG Text" pitchFamily="34" charset="-120"/>
              </a:rPr>
              <a:t>Every figure on this slide came out of a debug log in the sandbox. Where the system could not measure something, it says so rather than estimating: flow internals, real dependency relationships and test coverage are named as gaps on the next slide rather than approximated here.</a:t>
            </a:r>
          </a:p>
        </p:txBody>
      </p:sp>
    </p:spTree>
  </p:cSld>
  <p:clrMapOvr>
    <a:masterClrMapping/>
  </p:clrMapOvr>
</p:sld>
</file>

<file path=ppt/slides/slide21.xml><?xml version="1.0" encoding="utf-8"?>
<!-- AI-CHANGE-CONSOLE-POC-SLIDE -->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879" name="Text 880"/>
          <p:cNvSpPr txBox="1"/>
          <p:nvPr/>
        </p:nvSpPr>
        <p:spPr>
          <a:xfrm>
            <a:off x="365760" y="256032"/>
            <a:ext cx="11457432" cy="347472"/>
          </a:xfrm>
          <a:prstGeom prst="rect">
            <a:avLst/>
          </a:prstGeom>
          <a:noFill/>
          <a:ln/>
        </p:spPr>
        <p:txBody>
          <a:bodyPr wrap="square" lIns="0" tIns="0" rIns="0" bIns="0" rtlCol="0" anchor="ctr"/>
          <a:lstStyle/>
          <a:p>
            <a:pPr marL="0" indent="0" algn="l">
              <a:buNone/>
            </a:pPr>
            <a:r>
              <a:rPr lang="en-US" sz="2000" dirty="0">
                <a:solidFill>
                  <a:srgbClr val="0E1B2E"/>
                </a:solidFill>
                <a:latin typeface="Trenda IG Display Bold" pitchFamily="34" charset="0"/>
                <a:ea typeface="Trenda IG Display Bold" pitchFamily="34" charset="-122"/>
                <a:cs typeface="Trenda IG Display Bold" pitchFamily="34" charset="-120"/>
              </a:rPr>
              <a:t>Where we are, and what comes next</a:t>
            </a:r>
          </a:p>
        </p:txBody>
      </p:sp>
      <p:sp>
        <p:nvSpPr>
          <p:cNvPr id="881" name="Text 882"/>
          <p:cNvSpPr txBox="1"/>
          <p:nvPr/>
        </p:nvSpPr>
        <p:spPr>
          <a:xfrm>
            <a:off x="365760" y="640080"/>
            <a:ext cx="11457432" cy="219456"/>
          </a:xfrm>
          <a:prstGeom prst="rect">
            <a:avLst/>
          </a:prstGeom>
          <a:noFill/>
          <a:ln/>
        </p:spPr>
        <p:txBody>
          <a:bodyPr wrap="square" lIns="0" tIns="0" rIns="0" bIns="0" rtlCol="0" anchor="ctr"/>
          <a:lstStyle/>
          <a:p>
            <a:pPr marL="0" indent="0" algn="l">
              <a:buNone/>
            </a:pPr>
            <a:r>
              <a:rPr lang="en-US" sz="950" dirty="0">
                <a:solidFill>
                  <a:srgbClr val="5C6E85"/>
                </a:solidFill>
                <a:latin typeface="Trenda IG Display" pitchFamily="34" charset="0"/>
                <a:ea typeface="Trenda IG Display" pitchFamily="34" charset="-122"/>
                <a:cs typeface="Trenda IG Display" pitchFamily="34" charset="-120"/>
              </a:rPr>
              <a:t>The read path works end to end. The write path is the next phase, and it is gated on a human at both ends.</a:t>
            </a:r>
          </a:p>
        </p:txBody>
      </p:sp>
      <p:sp>
        <p:nvSpPr>
          <p:cNvPr id="883" name="Text 884"/>
          <p:cNvSpPr txBox="1"/>
          <p:nvPr/>
        </p:nvSpPr>
        <p:spPr>
          <a:xfrm>
            <a:off x="365760" y="969264"/>
            <a:ext cx="11457432" cy="164592"/>
          </a:xfrm>
          <a:prstGeom prst="rect">
            <a:avLst/>
          </a:prstGeom>
          <a:noFill/>
          <a:ln/>
        </p:spPr>
        <p:txBody>
          <a:bodyPr wrap="square" lIns="0" tIns="0" rIns="0" bIns="0" rtlCol="0" anchor="t"/>
          <a:lstStyle/>
          <a:p>
            <a:pPr marL="0" indent="0" algn="l">
              <a:buNone/>
            </a:pPr>
            <a:r>
              <a:rPr lang="en-US" sz="700" b="1" dirty="0">
                <a:solidFill>
                  <a:srgbClr val="00757F"/>
                </a:solidFill>
                <a:latin typeface="Trenda IG Text Semibold" pitchFamily="34" charset="0"/>
                <a:ea typeface="Trenda IG Text Semibold" pitchFamily="34" charset="-122"/>
                <a:cs typeface="Trenda IG Text Semibold" pitchFamily="34" charset="-120"/>
              </a:rPr>
              <a:t>BUILT  ·  NEXT  ·  THE ONE CONSTRAINT THAT GOVERNS ALL OF IT</a:t>
            </a:r>
          </a:p>
        </p:txBody>
      </p:sp>
      <p:sp>
        <p:nvSpPr>
          <p:cNvPr id="885" name="Shape 886"/>
          <p:cNvSpPr/>
          <p:nvPr/>
        </p:nvSpPr>
        <p:spPr>
          <a:xfrm>
            <a:off x="365760" y="1298448"/>
            <a:ext cx="237744" cy="237744"/>
          </a:xfrm>
          <a:prstGeom prst="ellipse">
            <a:avLst/>
          </a:prstGeom>
          <a:solidFill>
            <a:srgbClr val="2E7D32"/>
          </a:solidFill>
          <a:ln>
            <a:noFill/>
          </a:ln>
        </p:spPr>
        <p:txBody>
          <a:bodyPr/>
          <a:lstStyle/>
          <a:p>
            <a:endParaRPr lang="en-US"/>
          </a:p>
        </p:txBody>
      </p:sp>
      <p:sp>
        <p:nvSpPr>
          <p:cNvPr id="887" name="Text 888"/>
          <p:cNvSpPr txBox="1"/>
          <p:nvPr/>
        </p:nvSpPr>
        <p:spPr>
          <a:xfrm>
            <a:off x="731520" y="1298448"/>
            <a:ext cx="5029200" cy="237744"/>
          </a:xfrm>
          <a:prstGeom prst="rect">
            <a:avLst/>
          </a:prstGeom>
          <a:noFill/>
          <a:ln/>
        </p:spPr>
        <p:txBody>
          <a:bodyPr wrap="square" lIns="0" tIns="0" rIns="0" bIns="0" rtlCol="0" anchor="ctr"/>
          <a:lstStyle/>
          <a:p>
            <a:pPr marL="0" indent="0" algn="l">
              <a:buNone/>
            </a:pPr>
            <a:r>
              <a:rPr lang="en-US" sz="1000" b="1" dirty="0">
                <a:solidFill>
                  <a:srgbClr val="0E1B2E"/>
                </a:solidFill>
                <a:latin typeface="Trenda IG Text Semibold" pitchFamily="34" charset="0"/>
                <a:ea typeface="Trenda IG Text Semibold" pitchFamily="34" charset="-122"/>
                <a:cs typeface="Trenda IG Text Semibold" pitchFamily="34" charset="-120"/>
              </a:rPr>
              <a:t>Working today</a:t>
            </a:r>
          </a:p>
        </p:txBody>
      </p:sp>
      <p:sp>
        <p:nvSpPr>
          <p:cNvPr id="889" name="Shape 890"/>
          <p:cNvSpPr/>
          <p:nvPr/>
        </p:nvSpPr>
        <p:spPr>
          <a:xfrm>
            <a:off x="365760" y="1645920"/>
            <a:ext cx="5614416" cy="3200400"/>
          </a:xfrm>
          <a:prstGeom prst="roundRect">
            <a:avLst>
              <a:gd name="adj" fmla="val 8000"/>
            </a:avLst>
          </a:prstGeom>
          <a:solidFill>
            <a:srgbClr val="E9F3EA"/>
          </a:solidFill>
          <a:ln>
            <a:noFill/>
          </a:ln>
        </p:spPr>
        <p:txBody>
          <a:bodyPr/>
          <a:lstStyle/>
          <a:p>
            <a:endParaRPr lang="en-US"/>
          </a:p>
        </p:txBody>
      </p:sp>
      <p:sp>
        <p:nvSpPr>
          <p:cNvPr id="891" name="Shape 892"/>
          <p:cNvSpPr/>
          <p:nvPr/>
        </p:nvSpPr>
        <p:spPr>
          <a:xfrm>
            <a:off x="603504" y="1865376"/>
            <a:ext cx="82296" cy="82296"/>
          </a:xfrm>
          <a:prstGeom prst="ellipse">
            <a:avLst/>
          </a:prstGeom>
          <a:solidFill>
            <a:srgbClr val="2E7D32"/>
          </a:solidFill>
          <a:ln>
            <a:noFill/>
          </a:ln>
        </p:spPr>
        <p:txBody>
          <a:bodyPr/>
          <a:lstStyle/>
          <a:p>
            <a:endParaRPr lang="en-US"/>
          </a:p>
        </p:txBody>
      </p:sp>
      <p:sp>
        <p:nvSpPr>
          <p:cNvPr id="893" name="Text 894"/>
          <p:cNvSpPr txBox="1"/>
          <p:nvPr/>
        </p:nvSpPr>
        <p:spPr>
          <a:xfrm>
            <a:off x="822960" y="1810512"/>
            <a:ext cx="5029200" cy="347472"/>
          </a:xfrm>
          <a:prstGeom prst="rect">
            <a:avLst/>
          </a:prstGeom>
          <a:noFill/>
          <a:ln/>
        </p:spPr>
        <p:txBody>
          <a:bodyPr wrap="square" lIns="0" tIns="0" rIns="0" bIns="0" rtlCol="0" anchor="t"/>
          <a:lstStyle/>
          <a:p>
            <a:pPr marL="0" indent="0" algn="l">
              <a:lnSpc>
                <a:spcPct val="120000"/>
              </a:lnSpc>
              <a:buNone/>
            </a:pPr>
            <a:r>
              <a:rPr lang="en-US" sz="850" dirty="0">
                <a:solidFill>
                  <a:srgbClr val="1F5B24"/>
                </a:solidFill>
                <a:latin typeface="Trenda IG Text" pitchFamily="34" charset="0"/>
                <a:ea typeface="Trenda IG Text" pitchFamily="34" charset="-122"/>
                <a:cs typeface="Trenda IG Text" pitchFamily="34" charset="-120"/>
              </a:rPr>
              <a:t>The graph builds from the org and rebuilds on demand</a:t>
            </a:r>
          </a:p>
        </p:txBody>
      </p:sp>
      <p:sp>
        <p:nvSpPr>
          <p:cNvPr id="895" name="Shape 896"/>
          <p:cNvSpPr/>
          <p:nvPr/>
        </p:nvSpPr>
        <p:spPr>
          <a:xfrm>
            <a:off x="603504" y="2249424"/>
            <a:ext cx="82296" cy="82296"/>
          </a:xfrm>
          <a:prstGeom prst="ellipse">
            <a:avLst/>
          </a:prstGeom>
          <a:solidFill>
            <a:srgbClr val="2E7D32"/>
          </a:solidFill>
          <a:ln>
            <a:noFill/>
          </a:ln>
        </p:spPr>
        <p:txBody>
          <a:bodyPr/>
          <a:lstStyle/>
          <a:p>
            <a:endParaRPr lang="en-US"/>
          </a:p>
        </p:txBody>
      </p:sp>
      <p:sp>
        <p:nvSpPr>
          <p:cNvPr id="897" name="Text 898"/>
          <p:cNvSpPr txBox="1"/>
          <p:nvPr/>
        </p:nvSpPr>
        <p:spPr>
          <a:xfrm>
            <a:off x="822960" y="2194560"/>
            <a:ext cx="5029200" cy="347472"/>
          </a:xfrm>
          <a:prstGeom prst="rect">
            <a:avLst/>
          </a:prstGeom>
          <a:noFill/>
          <a:ln/>
        </p:spPr>
        <p:txBody>
          <a:bodyPr wrap="square" lIns="0" tIns="0" rIns="0" bIns="0" rtlCol="0" anchor="t"/>
          <a:lstStyle/>
          <a:p>
            <a:pPr marL="0" indent="0" algn="l">
              <a:lnSpc>
                <a:spcPct val="120000"/>
              </a:lnSpc>
              <a:buNone/>
            </a:pPr>
            <a:r>
              <a:rPr lang="en-US" sz="850" dirty="0">
                <a:solidFill>
                  <a:srgbClr val="1F5B24"/>
                </a:solidFill>
                <a:latin typeface="Trenda IG Text" pitchFamily="34" charset="0"/>
                <a:ea typeface="Trenda IG Text" pitchFamily="34" charset="-122"/>
                <a:cs typeface="Trenda IG Text" pitchFamily="34" charset="-120"/>
              </a:rPr>
              <a:t>Pod scope declared, resolved, and explained object by object</a:t>
            </a:r>
          </a:p>
        </p:txBody>
      </p:sp>
      <p:sp>
        <p:nvSpPr>
          <p:cNvPr id="899" name="Shape 900"/>
          <p:cNvSpPr/>
          <p:nvPr/>
        </p:nvSpPr>
        <p:spPr>
          <a:xfrm>
            <a:off x="603504" y="2633472"/>
            <a:ext cx="82296" cy="82296"/>
          </a:xfrm>
          <a:prstGeom prst="ellipse">
            <a:avLst/>
          </a:prstGeom>
          <a:solidFill>
            <a:srgbClr val="2E7D32"/>
          </a:solidFill>
          <a:ln>
            <a:noFill/>
          </a:ln>
        </p:spPr>
        <p:txBody>
          <a:bodyPr/>
          <a:lstStyle/>
          <a:p>
            <a:endParaRPr lang="en-US"/>
          </a:p>
        </p:txBody>
      </p:sp>
      <p:sp>
        <p:nvSpPr>
          <p:cNvPr id="901" name="Text 902"/>
          <p:cNvSpPr txBox="1"/>
          <p:nvPr/>
        </p:nvSpPr>
        <p:spPr>
          <a:xfrm>
            <a:off x="822960" y="2578608"/>
            <a:ext cx="5029200" cy="347472"/>
          </a:xfrm>
          <a:prstGeom prst="rect">
            <a:avLst/>
          </a:prstGeom>
          <a:noFill/>
          <a:ln/>
        </p:spPr>
        <p:txBody>
          <a:bodyPr wrap="square" lIns="0" tIns="0" rIns="0" bIns="0" rtlCol="0" anchor="t"/>
          <a:lstStyle/>
          <a:p>
            <a:pPr marL="0" indent="0" algn="l">
              <a:lnSpc>
                <a:spcPct val="120000"/>
              </a:lnSpc>
              <a:buNone/>
            </a:pPr>
            <a:r>
              <a:rPr lang="en-US" sz="850" dirty="0">
                <a:solidFill>
                  <a:srgbClr val="1F5B24"/>
                </a:solidFill>
                <a:latin typeface="Trenda IG Text" pitchFamily="34" charset="0"/>
                <a:ea typeface="Trenda IG Text" pitchFamily="34" charset="-122"/>
                <a:cs typeface="Trenda IG Text" pitchFamily="34" charset="-120"/>
              </a:rPr>
              <a:t>Requests read from plain English, with the reading shown back</a:t>
            </a:r>
          </a:p>
        </p:txBody>
      </p:sp>
      <p:sp>
        <p:nvSpPr>
          <p:cNvPr id="903" name="Shape 904"/>
          <p:cNvSpPr/>
          <p:nvPr/>
        </p:nvSpPr>
        <p:spPr>
          <a:xfrm>
            <a:off x="603504" y="3017520"/>
            <a:ext cx="82296" cy="82296"/>
          </a:xfrm>
          <a:prstGeom prst="ellipse">
            <a:avLst/>
          </a:prstGeom>
          <a:solidFill>
            <a:srgbClr val="2E7D32"/>
          </a:solidFill>
          <a:ln>
            <a:noFill/>
          </a:ln>
        </p:spPr>
        <p:txBody>
          <a:bodyPr/>
          <a:lstStyle/>
          <a:p>
            <a:endParaRPr lang="en-US"/>
          </a:p>
        </p:txBody>
      </p:sp>
      <p:sp>
        <p:nvSpPr>
          <p:cNvPr id="905" name="Text 906"/>
          <p:cNvSpPr txBox="1"/>
          <p:nvPr/>
        </p:nvSpPr>
        <p:spPr>
          <a:xfrm>
            <a:off x="822960" y="2962656"/>
            <a:ext cx="5029200" cy="347472"/>
          </a:xfrm>
          <a:prstGeom prst="rect">
            <a:avLst/>
          </a:prstGeom>
          <a:noFill/>
          <a:ln/>
        </p:spPr>
        <p:txBody>
          <a:bodyPr wrap="square" lIns="0" tIns="0" rIns="0" bIns="0" rtlCol="0" anchor="t"/>
          <a:lstStyle/>
          <a:p>
            <a:pPr marL="0" indent="0" algn="l">
              <a:lnSpc>
                <a:spcPct val="120000"/>
              </a:lnSpc>
              <a:buNone/>
            </a:pPr>
            <a:r>
              <a:rPr lang="en-US" sz="850" dirty="0">
                <a:solidFill>
                  <a:srgbClr val="1F5B24"/>
                </a:solidFill>
                <a:latin typeface="Trenda IG Text" pitchFamily="34" charset="0"/>
                <a:ea typeface="Trenda IG Text" pitchFamily="34" charset="-122"/>
                <a:cs typeface="Trenda IG Text" pitchFamily="34" charset="-120"/>
              </a:rPr>
              <a:t>Search anchored on the object named, bounded so it stays relevant</a:t>
            </a:r>
          </a:p>
        </p:txBody>
      </p:sp>
      <p:sp>
        <p:nvSpPr>
          <p:cNvPr id="907" name="Shape 908"/>
          <p:cNvSpPr/>
          <p:nvPr/>
        </p:nvSpPr>
        <p:spPr>
          <a:xfrm>
            <a:off x="603504" y="3401568"/>
            <a:ext cx="82296" cy="82296"/>
          </a:xfrm>
          <a:prstGeom prst="ellipse">
            <a:avLst/>
          </a:prstGeom>
          <a:solidFill>
            <a:srgbClr val="2E7D32"/>
          </a:solidFill>
          <a:ln>
            <a:noFill/>
          </a:ln>
        </p:spPr>
        <p:txBody>
          <a:bodyPr/>
          <a:lstStyle/>
          <a:p>
            <a:endParaRPr lang="en-US"/>
          </a:p>
        </p:txBody>
      </p:sp>
      <p:sp>
        <p:nvSpPr>
          <p:cNvPr id="909" name="Text 910"/>
          <p:cNvSpPr txBox="1"/>
          <p:nvPr/>
        </p:nvSpPr>
        <p:spPr>
          <a:xfrm>
            <a:off x="822960" y="3346704"/>
            <a:ext cx="5029200" cy="347472"/>
          </a:xfrm>
          <a:prstGeom prst="rect">
            <a:avLst/>
          </a:prstGeom>
          <a:noFill/>
          <a:ln/>
        </p:spPr>
        <p:txBody>
          <a:bodyPr wrap="square" lIns="0" tIns="0" rIns="0" bIns="0" rtlCol="0" anchor="t"/>
          <a:lstStyle/>
          <a:p>
            <a:pPr marL="0" indent="0" algn="l">
              <a:lnSpc>
                <a:spcPct val="120000"/>
              </a:lnSpc>
              <a:buNone/>
            </a:pPr>
            <a:r>
              <a:rPr lang="en-US" sz="850" dirty="0">
                <a:solidFill>
                  <a:srgbClr val="1F5B24"/>
                </a:solidFill>
                <a:latin typeface="Trenda IG Text" pitchFamily="34" charset="0"/>
                <a:ea typeface="Trenda IG Text" pitchFamily="34" charset="-122"/>
                <a:cs typeface="Trenda IG Text" pitchFamily="34" charset="-120"/>
              </a:rPr>
              <a:t>Relationships between code, not just between names</a:t>
            </a:r>
          </a:p>
        </p:txBody>
      </p:sp>
      <p:sp>
        <p:nvSpPr>
          <p:cNvPr id="911" name="Shape 912"/>
          <p:cNvSpPr/>
          <p:nvPr/>
        </p:nvSpPr>
        <p:spPr>
          <a:xfrm>
            <a:off x="603504" y="3785616"/>
            <a:ext cx="82296" cy="82296"/>
          </a:xfrm>
          <a:prstGeom prst="ellipse">
            <a:avLst/>
          </a:prstGeom>
          <a:solidFill>
            <a:srgbClr val="2E7D32"/>
          </a:solidFill>
          <a:ln>
            <a:noFill/>
          </a:ln>
        </p:spPr>
        <p:txBody>
          <a:bodyPr/>
          <a:lstStyle/>
          <a:p>
            <a:endParaRPr lang="en-US"/>
          </a:p>
        </p:txBody>
      </p:sp>
      <p:sp>
        <p:nvSpPr>
          <p:cNvPr id="913" name="Text 914"/>
          <p:cNvSpPr txBox="1"/>
          <p:nvPr/>
        </p:nvSpPr>
        <p:spPr>
          <a:xfrm>
            <a:off x="822960" y="3730752"/>
            <a:ext cx="5029200" cy="347472"/>
          </a:xfrm>
          <a:prstGeom prst="rect">
            <a:avLst/>
          </a:prstGeom>
          <a:noFill/>
          <a:ln/>
        </p:spPr>
        <p:txBody>
          <a:bodyPr wrap="square" lIns="0" tIns="0" rIns="0" bIns="0" rtlCol="0" anchor="t"/>
          <a:lstStyle/>
          <a:p>
            <a:pPr marL="0" indent="0" algn="l">
              <a:lnSpc>
                <a:spcPct val="120000"/>
              </a:lnSpc>
              <a:buNone/>
            </a:pPr>
            <a:r>
              <a:rPr lang="en-US" sz="850" dirty="0">
                <a:solidFill>
                  <a:srgbClr val="1F5B24"/>
                </a:solidFill>
                <a:latin typeface="Trenda IG Text" pitchFamily="34" charset="0"/>
                <a:ea typeface="Trenda IG Text" pitchFamily="34" charset="-122"/>
                <a:cs typeface="Trenda IG Text" pitchFamily="34" charset="-120"/>
              </a:rPr>
              <a:t>Six verdicts, with evidence and provenance on every row</a:t>
            </a:r>
          </a:p>
        </p:txBody>
      </p:sp>
      <p:sp>
        <p:nvSpPr>
          <p:cNvPr id="915" name="Shape 916"/>
          <p:cNvSpPr/>
          <p:nvPr/>
        </p:nvSpPr>
        <p:spPr>
          <a:xfrm>
            <a:off x="603504" y="4169664"/>
            <a:ext cx="82296" cy="82296"/>
          </a:xfrm>
          <a:prstGeom prst="ellipse">
            <a:avLst/>
          </a:prstGeom>
          <a:solidFill>
            <a:srgbClr val="2E7D32"/>
          </a:solidFill>
          <a:ln>
            <a:noFill/>
          </a:ln>
        </p:spPr>
        <p:txBody>
          <a:bodyPr/>
          <a:lstStyle/>
          <a:p>
            <a:endParaRPr lang="en-US"/>
          </a:p>
        </p:txBody>
      </p:sp>
      <p:sp>
        <p:nvSpPr>
          <p:cNvPr id="917" name="Text 918"/>
          <p:cNvSpPr txBox="1"/>
          <p:nvPr/>
        </p:nvSpPr>
        <p:spPr>
          <a:xfrm>
            <a:off x="822960" y="4114800"/>
            <a:ext cx="5029200" cy="347472"/>
          </a:xfrm>
          <a:prstGeom prst="rect">
            <a:avLst/>
          </a:prstGeom>
          <a:noFill/>
          <a:ln/>
        </p:spPr>
        <p:txBody>
          <a:bodyPr wrap="square" lIns="0" tIns="0" rIns="0" bIns="0" rtlCol="0" anchor="t"/>
          <a:lstStyle/>
          <a:p>
            <a:pPr marL="0" indent="0" algn="l">
              <a:lnSpc>
                <a:spcPct val="120000"/>
              </a:lnSpc>
              <a:buNone/>
            </a:pPr>
            <a:r>
              <a:rPr lang="en-US" sz="850" dirty="0">
                <a:solidFill>
                  <a:srgbClr val="1F5B24"/>
                </a:solidFill>
                <a:latin typeface="Trenda IG Text" pitchFamily="34" charset="0"/>
                <a:ea typeface="Trenda IG Text" pitchFamily="34" charset="-122"/>
                <a:cs typeface="Trenda IG Text" pitchFamily="34" charset="-120"/>
              </a:rPr>
              <a:t>Duplicate detection: asking for a field that exists returns that field</a:t>
            </a:r>
          </a:p>
        </p:txBody>
      </p:sp>
      <p:sp>
        <p:nvSpPr>
          <p:cNvPr id="919" name="Shape 920"/>
          <p:cNvSpPr/>
          <p:nvPr/>
        </p:nvSpPr>
        <p:spPr>
          <a:xfrm>
            <a:off x="603504" y="4553712"/>
            <a:ext cx="82296" cy="82296"/>
          </a:xfrm>
          <a:prstGeom prst="ellipse">
            <a:avLst/>
          </a:prstGeom>
          <a:solidFill>
            <a:srgbClr val="2E7D32"/>
          </a:solidFill>
          <a:ln>
            <a:noFill/>
          </a:ln>
        </p:spPr>
        <p:txBody>
          <a:bodyPr/>
          <a:lstStyle/>
          <a:p>
            <a:endParaRPr lang="en-US"/>
          </a:p>
        </p:txBody>
      </p:sp>
      <p:sp>
        <p:nvSpPr>
          <p:cNvPr id="921" name="Text 922"/>
          <p:cNvSpPr txBox="1"/>
          <p:nvPr/>
        </p:nvSpPr>
        <p:spPr>
          <a:xfrm>
            <a:off x="822960" y="4498848"/>
            <a:ext cx="5029200" cy="347472"/>
          </a:xfrm>
          <a:prstGeom prst="rect">
            <a:avLst/>
          </a:prstGeom>
          <a:noFill/>
          <a:ln/>
        </p:spPr>
        <p:txBody>
          <a:bodyPr wrap="square" lIns="0" tIns="0" rIns="0" bIns="0" rtlCol="0" anchor="t"/>
          <a:lstStyle/>
          <a:p>
            <a:pPr marL="0" indent="0" algn="l">
              <a:lnSpc>
                <a:spcPct val="120000"/>
              </a:lnSpc>
              <a:buNone/>
            </a:pPr>
            <a:r>
              <a:rPr lang="en-US" sz="850" dirty="0">
                <a:solidFill>
                  <a:srgbClr val="1F5B24"/>
                </a:solidFill>
                <a:latin typeface="Trenda IG Text" pitchFamily="34" charset="0"/>
                <a:ea typeface="Trenda IG Text" pitchFamily="34" charset="-122"/>
                <a:cs typeface="Trenda IG Text" pitchFamily="34" charset="-120"/>
              </a:rPr>
              <a:t>Approval gate, with the model choice held behind it</a:t>
            </a:r>
          </a:p>
        </p:txBody>
      </p:sp>
      <p:sp>
        <p:nvSpPr>
          <p:cNvPr id="923" name="Shape 924"/>
          <p:cNvSpPr/>
          <p:nvPr/>
        </p:nvSpPr>
        <p:spPr>
          <a:xfrm>
            <a:off x="6208776" y="1298448"/>
            <a:ext cx="237744" cy="237744"/>
          </a:xfrm>
          <a:prstGeom prst="ellipse">
            <a:avLst/>
          </a:prstGeom>
          <a:solidFill>
            <a:srgbClr val="C77400"/>
          </a:solidFill>
          <a:ln>
            <a:noFill/>
          </a:ln>
        </p:spPr>
        <p:txBody>
          <a:bodyPr/>
          <a:lstStyle/>
          <a:p>
            <a:endParaRPr lang="en-US"/>
          </a:p>
        </p:txBody>
      </p:sp>
      <p:sp>
        <p:nvSpPr>
          <p:cNvPr id="925" name="Text 926"/>
          <p:cNvSpPr txBox="1"/>
          <p:nvPr/>
        </p:nvSpPr>
        <p:spPr>
          <a:xfrm>
            <a:off x="6574536" y="1298448"/>
            <a:ext cx="5029200" cy="237744"/>
          </a:xfrm>
          <a:prstGeom prst="rect">
            <a:avLst/>
          </a:prstGeom>
          <a:noFill/>
          <a:ln/>
        </p:spPr>
        <p:txBody>
          <a:bodyPr wrap="square" lIns="0" tIns="0" rIns="0" bIns="0" rtlCol="0" anchor="ctr"/>
          <a:lstStyle/>
          <a:p>
            <a:pPr marL="0" indent="0" algn="l">
              <a:buNone/>
            </a:pPr>
            <a:r>
              <a:rPr lang="en-US" sz="1000" b="1" dirty="0">
                <a:solidFill>
                  <a:srgbClr val="0E1B2E"/>
                </a:solidFill>
                <a:latin typeface="Trenda IG Text Semibold" pitchFamily="34" charset="0"/>
                <a:ea typeface="Trenda IG Text Semibold" pitchFamily="34" charset="-122"/>
                <a:cs typeface="Trenda IG Text Semibold" pitchFamily="34" charset="-120"/>
              </a:rPr>
              <a:t>Next</a:t>
            </a:r>
          </a:p>
        </p:txBody>
      </p:sp>
      <p:sp>
        <p:nvSpPr>
          <p:cNvPr id="927" name="Shape 928"/>
          <p:cNvSpPr/>
          <p:nvPr/>
        </p:nvSpPr>
        <p:spPr>
          <a:xfrm>
            <a:off x="6208776" y="1645920"/>
            <a:ext cx="5614416" cy="3200400"/>
          </a:xfrm>
          <a:prstGeom prst="roundRect">
            <a:avLst>
              <a:gd name="adj" fmla="val 8000"/>
            </a:avLst>
          </a:prstGeom>
          <a:solidFill>
            <a:srgbClr val="FDF3E6"/>
          </a:solidFill>
          <a:ln>
            <a:noFill/>
          </a:ln>
        </p:spPr>
        <p:txBody>
          <a:bodyPr/>
          <a:lstStyle/>
          <a:p>
            <a:endParaRPr lang="en-US"/>
          </a:p>
        </p:txBody>
      </p:sp>
      <p:sp>
        <p:nvSpPr>
          <p:cNvPr id="929" name="Shape 930"/>
          <p:cNvSpPr/>
          <p:nvPr/>
        </p:nvSpPr>
        <p:spPr>
          <a:xfrm>
            <a:off x="6446520" y="1865376"/>
            <a:ext cx="82296" cy="82296"/>
          </a:xfrm>
          <a:prstGeom prst="ellipse">
            <a:avLst/>
          </a:prstGeom>
          <a:solidFill>
            <a:srgbClr val="C77400"/>
          </a:solidFill>
          <a:ln>
            <a:noFill/>
          </a:ln>
        </p:spPr>
        <p:txBody>
          <a:bodyPr/>
          <a:lstStyle/>
          <a:p>
            <a:endParaRPr lang="en-US"/>
          </a:p>
        </p:txBody>
      </p:sp>
      <p:sp>
        <p:nvSpPr>
          <p:cNvPr id="931" name="Text 932"/>
          <p:cNvSpPr txBox="1"/>
          <p:nvPr/>
        </p:nvSpPr>
        <p:spPr>
          <a:xfrm>
            <a:off x="6665976" y="1810512"/>
            <a:ext cx="5029200" cy="347472"/>
          </a:xfrm>
          <a:prstGeom prst="rect">
            <a:avLst/>
          </a:prstGeom>
          <a:noFill/>
          <a:ln/>
        </p:spPr>
        <p:txBody>
          <a:bodyPr wrap="square" lIns="0" tIns="0" rIns="0" bIns="0" rtlCol="0" anchor="t"/>
          <a:lstStyle/>
          <a:p>
            <a:pPr marL="0" indent="0" algn="l">
              <a:lnSpc>
                <a:spcPct val="120000"/>
              </a:lnSpc>
              <a:buNone/>
            </a:pPr>
            <a:r>
              <a:rPr lang="en-US" sz="850" dirty="0">
                <a:solidFill>
                  <a:srgbClr val="8A5620"/>
                </a:solidFill>
                <a:latin typeface="Trenda IG Text" pitchFamily="34" charset="0"/>
                <a:ea typeface="Trenda IG Text" pitchFamily="34" charset="-122"/>
                <a:cs typeface="Trenda IG Text" pitchFamily="34" charset="-120"/>
              </a:rPr>
              <a:t>Read what a flow does internally, not only that it exists</a:t>
            </a:r>
          </a:p>
        </p:txBody>
      </p:sp>
      <p:sp>
        <p:nvSpPr>
          <p:cNvPr id="933" name="Shape 934"/>
          <p:cNvSpPr/>
          <p:nvPr/>
        </p:nvSpPr>
        <p:spPr>
          <a:xfrm>
            <a:off x="6446520" y="2249424"/>
            <a:ext cx="82296" cy="82296"/>
          </a:xfrm>
          <a:prstGeom prst="ellipse">
            <a:avLst/>
          </a:prstGeom>
          <a:solidFill>
            <a:srgbClr val="C77400"/>
          </a:solidFill>
          <a:ln>
            <a:noFill/>
          </a:ln>
        </p:spPr>
        <p:txBody>
          <a:bodyPr/>
          <a:lstStyle/>
          <a:p>
            <a:endParaRPr lang="en-US"/>
          </a:p>
        </p:txBody>
      </p:sp>
      <p:sp>
        <p:nvSpPr>
          <p:cNvPr id="935" name="Text 936"/>
          <p:cNvSpPr txBox="1"/>
          <p:nvPr/>
        </p:nvSpPr>
        <p:spPr>
          <a:xfrm>
            <a:off x="6665976" y="2194560"/>
            <a:ext cx="5029200" cy="347472"/>
          </a:xfrm>
          <a:prstGeom prst="rect">
            <a:avLst/>
          </a:prstGeom>
          <a:noFill/>
          <a:ln/>
        </p:spPr>
        <p:txBody>
          <a:bodyPr wrap="square" lIns="0" tIns="0" rIns="0" bIns="0" rtlCol="0" anchor="t"/>
          <a:lstStyle/>
          <a:p>
            <a:pPr marL="0" indent="0" algn="l">
              <a:lnSpc>
                <a:spcPct val="120000"/>
              </a:lnSpc>
              <a:buNone/>
            </a:pPr>
            <a:r>
              <a:rPr lang="en-US" sz="850" dirty="0">
                <a:solidFill>
                  <a:srgbClr val="8A5620"/>
                </a:solidFill>
                <a:latin typeface="Trenda IG Text" pitchFamily="34" charset="0"/>
                <a:ea typeface="Trenda IG Text" pitchFamily="34" charset="-122"/>
                <a:cs typeface="Trenda IG Text" pitchFamily="34" charset="-120"/>
              </a:rPr>
              <a:t>Real dependency relationships in place of text matching</a:t>
            </a:r>
          </a:p>
        </p:txBody>
      </p:sp>
      <p:sp>
        <p:nvSpPr>
          <p:cNvPr id="937" name="Shape 938"/>
          <p:cNvSpPr/>
          <p:nvPr/>
        </p:nvSpPr>
        <p:spPr>
          <a:xfrm>
            <a:off x="6446520" y="2633472"/>
            <a:ext cx="82296" cy="82296"/>
          </a:xfrm>
          <a:prstGeom prst="ellipse">
            <a:avLst/>
          </a:prstGeom>
          <a:solidFill>
            <a:srgbClr val="C77400"/>
          </a:solidFill>
          <a:ln>
            <a:noFill/>
          </a:ln>
        </p:spPr>
        <p:txBody>
          <a:bodyPr/>
          <a:lstStyle/>
          <a:p>
            <a:endParaRPr lang="en-US"/>
          </a:p>
        </p:txBody>
      </p:sp>
      <p:sp>
        <p:nvSpPr>
          <p:cNvPr id="939" name="Text 940"/>
          <p:cNvSpPr txBox="1"/>
          <p:nvPr/>
        </p:nvSpPr>
        <p:spPr>
          <a:xfrm>
            <a:off x="6665976" y="2578608"/>
            <a:ext cx="5029200" cy="347472"/>
          </a:xfrm>
          <a:prstGeom prst="rect">
            <a:avLst/>
          </a:prstGeom>
          <a:noFill/>
          <a:ln/>
        </p:spPr>
        <p:txBody>
          <a:bodyPr wrap="square" lIns="0" tIns="0" rIns="0" bIns="0" rtlCol="0" anchor="t"/>
          <a:lstStyle/>
          <a:p>
            <a:pPr marL="0" indent="0" algn="l">
              <a:lnSpc>
                <a:spcPct val="120000"/>
              </a:lnSpc>
              <a:buNone/>
            </a:pPr>
            <a:r>
              <a:rPr lang="en-US" sz="850" dirty="0">
                <a:solidFill>
                  <a:srgbClr val="8A5620"/>
                </a:solidFill>
                <a:latin typeface="Trenda IG Text" pitchFamily="34" charset="0"/>
                <a:ea typeface="Trenda IG Text" pitchFamily="34" charset="-122"/>
                <a:cs typeface="Trenda IG Text" pitchFamily="34" charset="-120"/>
              </a:rPr>
              <a:t>Flow-to-subflow chains, the way Apex call chains already work</a:t>
            </a:r>
          </a:p>
        </p:txBody>
      </p:sp>
      <p:sp>
        <p:nvSpPr>
          <p:cNvPr id="941" name="Shape 942"/>
          <p:cNvSpPr/>
          <p:nvPr/>
        </p:nvSpPr>
        <p:spPr>
          <a:xfrm>
            <a:off x="6446520" y="3017520"/>
            <a:ext cx="82296" cy="82296"/>
          </a:xfrm>
          <a:prstGeom prst="ellipse">
            <a:avLst/>
          </a:prstGeom>
          <a:solidFill>
            <a:srgbClr val="C77400"/>
          </a:solidFill>
          <a:ln>
            <a:noFill/>
          </a:ln>
        </p:spPr>
        <p:txBody>
          <a:bodyPr/>
          <a:lstStyle/>
          <a:p>
            <a:endParaRPr lang="en-US"/>
          </a:p>
        </p:txBody>
      </p:sp>
      <p:sp>
        <p:nvSpPr>
          <p:cNvPr id="943" name="Text 944"/>
          <p:cNvSpPr txBox="1"/>
          <p:nvPr/>
        </p:nvSpPr>
        <p:spPr>
          <a:xfrm>
            <a:off x="6665976" y="2962656"/>
            <a:ext cx="5029200" cy="347472"/>
          </a:xfrm>
          <a:prstGeom prst="rect">
            <a:avLst/>
          </a:prstGeom>
          <a:noFill/>
          <a:ln/>
        </p:spPr>
        <p:txBody>
          <a:bodyPr wrap="square" lIns="0" tIns="0" rIns="0" bIns="0" rtlCol="0" anchor="t"/>
          <a:lstStyle/>
          <a:p>
            <a:pPr marL="0" indent="0" algn="l">
              <a:lnSpc>
                <a:spcPct val="120000"/>
              </a:lnSpc>
              <a:buNone/>
            </a:pPr>
            <a:r>
              <a:rPr lang="en-US" sz="850" dirty="0">
                <a:solidFill>
                  <a:srgbClr val="8A5620"/>
                </a:solidFill>
                <a:latin typeface="Trenda IG Text" pitchFamily="34" charset="0"/>
                <a:ea typeface="Trenda IG Text" pitchFamily="34" charset="-122"/>
                <a:cs typeface="Trenda IG Text" pitchFamily="34" charset="-120"/>
              </a:rPr>
              <a:t>Raise the delivery ticket automatically on approval</a:t>
            </a:r>
          </a:p>
        </p:txBody>
      </p:sp>
      <p:sp>
        <p:nvSpPr>
          <p:cNvPr id="945" name="Shape 946"/>
          <p:cNvSpPr/>
          <p:nvPr/>
        </p:nvSpPr>
        <p:spPr>
          <a:xfrm>
            <a:off x="6446520" y="3401568"/>
            <a:ext cx="82296" cy="82296"/>
          </a:xfrm>
          <a:prstGeom prst="ellipse">
            <a:avLst/>
          </a:prstGeom>
          <a:solidFill>
            <a:srgbClr val="C77400"/>
          </a:solidFill>
          <a:ln>
            <a:noFill/>
          </a:ln>
        </p:spPr>
        <p:txBody>
          <a:bodyPr/>
          <a:lstStyle/>
          <a:p>
            <a:endParaRPr lang="en-US"/>
          </a:p>
        </p:txBody>
      </p:sp>
      <p:sp>
        <p:nvSpPr>
          <p:cNvPr id="947" name="Text 948"/>
          <p:cNvSpPr txBox="1"/>
          <p:nvPr/>
        </p:nvSpPr>
        <p:spPr>
          <a:xfrm>
            <a:off x="6665976" y="3346704"/>
            <a:ext cx="5029200" cy="347472"/>
          </a:xfrm>
          <a:prstGeom prst="rect">
            <a:avLst/>
          </a:prstGeom>
          <a:noFill/>
          <a:ln/>
        </p:spPr>
        <p:txBody>
          <a:bodyPr wrap="square" lIns="0" tIns="0" rIns="0" bIns="0" rtlCol="0" anchor="t"/>
          <a:lstStyle/>
          <a:p>
            <a:pPr marL="0" indent="0" algn="l">
              <a:lnSpc>
                <a:spcPct val="120000"/>
              </a:lnSpc>
              <a:buNone/>
            </a:pPr>
            <a:r>
              <a:rPr lang="en-US" sz="850" dirty="0">
                <a:solidFill>
                  <a:srgbClr val="8A5620"/>
                </a:solidFill>
                <a:latin typeface="Trenda IG Text" pitchFamily="34" charset="0"/>
                <a:ea typeface="Trenda IG Text" pitchFamily="34" charset="-122"/>
                <a:cs typeface="Trenda IG Text" pitchFamily="34" charset="-120"/>
              </a:rPr>
              <a:t>Connect a model to draft the change, after approval</a:t>
            </a:r>
          </a:p>
        </p:txBody>
      </p:sp>
      <p:sp>
        <p:nvSpPr>
          <p:cNvPr id="949" name="Shape 950"/>
          <p:cNvSpPr/>
          <p:nvPr/>
        </p:nvSpPr>
        <p:spPr>
          <a:xfrm>
            <a:off x="6446520" y="3785616"/>
            <a:ext cx="82296" cy="82296"/>
          </a:xfrm>
          <a:prstGeom prst="ellipse">
            <a:avLst/>
          </a:prstGeom>
          <a:solidFill>
            <a:srgbClr val="C77400"/>
          </a:solidFill>
          <a:ln>
            <a:noFill/>
          </a:ln>
        </p:spPr>
        <p:txBody>
          <a:bodyPr/>
          <a:lstStyle/>
          <a:p>
            <a:endParaRPr lang="en-US"/>
          </a:p>
        </p:txBody>
      </p:sp>
      <p:sp>
        <p:nvSpPr>
          <p:cNvPr id="951" name="Text 952"/>
          <p:cNvSpPr txBox="1"/>
          <p:nvPr/>
        </p:nvSpPr>
        <p:spPr>
          <a:xfrm>
            <a:off x="6665976" y="3730752"/>
            <a:ext cx="5029200" cy="347472"/>
          </a:xfrm>
          <a:prstGeom prst="rect">
            <a:avLst/>
          </a:prstGeom>
          <a:noFill/>
          <a:ln/>
        </p:spPr>
        <p:txBody>
          <a:bodyPr wrap="square" lIns="0" tIns="0" rIns="0" bIns="0" rtlCol="0" anchor="t"/>
          <a:lstStyle/>
          <a:p>
            <a:pPr marL="0" indent="0" algn="l">
              <a:lnSpc>
                <a:spcPct val="120000"/>
              </a:lnSpc>
              <a:buNone/>
            </a:pPr>
            <a:r>
              <a:rPr lang="en-US" sz="850" dirty="0">
                <a:solidFill>
                  <a:srgbClr val="8A5620"/>
                </a:solidFill>
                <a:latin typeface="Trenda IG Text" pitchFamily="34" charset="0"/>
                <a:ea typeface="Trenda IG Text" pitchFamily="34" charset="-122"/>
                <a:cs typeface="Trenda IG Text" pitchFamily="34" charset="-120"/>
              </a:rPr>
              <a:t>Deploy to sandbox, run the tests, report results back</a:t>
            </a:r>
          </a:p>
        </p:txBody>
      </p:sp>
      <p:sp>
        <p:nvSpPr>
          <p:cNvPr id="953" name="Shape 954"/>
          <p:cNvSpPr/>
          <p:nvPr/>
        </p:nvSpPr>
        <p:spPr>
          <a:xfrm>
            <a:off x="6446520" y="4169664"/>
            <a:ext cx="82296" cy="82296"/>
          </a:xfrm>
          <a:prstGeom prst="ellipse">
            <a:avLst/>
          </a:prstGeom>
          <a:solidFill>
            <a:srgbClr val="C77400"/>
          </a:solidFill>
          <a:ln>
            <a:noFill/>
          </a:ln>
        </p:spPr>
        <p:txBody>
          <a:bodyPr/>
          <a:lstStyle/>
          <a:p>
            <a:endParaRPr lang="en-US"/>
          </a:p>
        </p:txBody>
      </p:sp>
      <p:sp>
        <p:nvSpPr>
          <p:cNvPr id="955" name="Text 956"/>
          <p:cNvSpPr txBox="1"/>
          <p:nvPr/>
        </p:nvSpPr>
        <p:spPr>
          <a:xfrm>
            <a:off x="6665976" y="4114800"/>
            <a:ext cx="5029200" cy="347472"/>
          </a:xfrm>
          <a:prstGeom prst="rect">
            <a:avLst/>
          </a:prstGeom>
          <a:noFill/>
          <a:ln/>
        </p:spPr>
        <p:txBody>
          <a:bodyPr wrap="square" lIns="0" tIns="0" rIns="0" bIns="0" rtlCol="0" anchor="t"/>
          <a:lstStyle/>
          <a:p>
            <a:pPr marL="0" indent="0" algn="l">
              <a:lnSpc>
                <a:spcPct val="120000"/>
              </a:lnSpc>
              <a:buNone/>
            </a:pPr>
            <a:r>
              <a:rPr lang="en-US" sz="850" dirty="0">
                <a:solidFill>
                  <a:srgbClr val="8A5620"/>
                </a:solidFill>
                <a:latin typeface="Trenda IG Text" pitchFamily="34" charset="0"/>
                <a:ea typeface="Trenda IG Text" pitchFamily="34" charset="-122"/>
                <a:cs typeface="Trenda IG Text" pitchFamily="34" charset="-120"/>
              </a:rPr>
              <a:t>Jira and Confluence as read sources, for requirements and rules</a:t>
            </a:r>
          </a:p>
        </p:txBody>
      </p:sp>
      <p:sp>
        <p:nvSpPr>
          <p:cNvPr id="957" name="Shape 958"/>
          <p:cNvSpPr/>
          <p:nvPr/>
        </p:nvSpPr>
        <p:spPr>
          <a:xfrm>
            <a:off x="365760" y="5029200"/>
            <a:ext cx="11457432" cy="1170432"/>
          </a:xfrm>
          <a:prstGeom prst="roundRect">
            <a:avLst>
              <a:gd name="adj" fmla="val 10000"/>
            </a:avLst>
          </a:prstGeom>
          <a:solidFill>
            <a:srgbClr val="12233B"/>
          </a:solidFill>
          <a:ln>
            <a:noFill/>
          </a:ln>
        </p:spPr>
        <p:txBody>
          <a:bodyPr/>
          <a:lstStyle/>
          <a:p>
            <a:endParaRPr lang="en-US"/>
          </a:p>
        </p:txBody>
      </p:sp>
      <p:sp>
        <p:nvSpPr>
          <p:cNvPr id="959" name="Text 960"/>
          <p:cNvSpPr txBox="1"/>
          <p:nvPr/>
        </p:nvSpPr>
        <p:spPr>
          <a:xfrm>
            <a:off x="658368" y="5193792"/>
            <a:ext cx="10881360" cy="219456"/>
          </a:xfrm>
          <a:prstGeom prst="rect">
            <a:avLst/>
          </a:prstGeom>
          <a:noFill/>
          <a:ln/>
        </p:spPr>
        <p:txBody>
          <a:bodyPr wrap="square" lIns="0" tIns="0" rIns="0" bIns="0" rtlCol="0" anchor="t"/>
          <a:lstStyle/>
          <a:p>
            <a:pPr marL="0" indent="0" algn="l">
              <a:buNone/>
            </a:pPr>
            <a:r>
              <a:rPr lang="en-US" sz="1000" b="1" dirty="0">
                <a:solidFill>
                  <a:srgbClr val="FFFFFF"/>
                </a:solidFill>
                <a:latin typeface="Trenda IG Text Semibold" pitchFamily="34" charset="0"/>
                <a:ea typeface="Trenda IG Text Semibold" pitchFamily="34" charset="-122"/>
                <a:cs typeface="Trenda IG Text Semibold" pitchFamily="34" charset="-120"/>
              </a:rPr>
              <a:t>The constraint that governs all of it</a:t>
            </a:r>
          </a:p>
        </p:txBody>
      </p:sp>
      <p:sp>
        <p:nvSpPr>
          <p:cNvPr id="961" name="Text 962"/>
          <p:cNvSpPr txBox="1"/>
          <p:nvPr/>
        </p:nvSpPr>
        <p:spPr>
          <a:xfrm>
            <a:off x="658368" y="5468112"/>
            <a:ext cx="10881360" cy="621792"/>
          </a:xfrm>
          <a:prstGeom prst="rect">
            <a:avLst/>
          </a:prstGeom>
          <a:noFill/>
          <a:ln/>
        </p:spPr>
        <p:txBody>
          <a:bodyPr wrap="square" lIns="0" tIns="0" rIns="0" bIns="0" rtlCol="0" anchor="t"/>
          <a:lstStyle/>
          <a:p>
            <a:pPr marL="0" indent="0" algn="l">
              <a:lnSpc>
                <a:spcPct val="130000"/>
              </a:lnSpc>
              <a:buNone/>
            </a:pPr>
            <a:r>
              <a:rPr lang="en-US" sz="850" dirty="0">
                <a:solidFill>
                  <a:srgbClr val="C7D2DE"/>
                </a:solidFill>
                <a:latin typeface="Trenda IG Text" pitchFamily="34" charset="0"/>
                <a:ea typeface="Trenda IG Text" pitchFamily="34" charset="-122"/>
                <a:cs typeface="Trenda IG Text" pitchFamily="34" charset="-120"/>
              </a:rPr>
              <a:t>Sandbox only. No phase of this design holds a production credential. No model is contacted before a person has read the evidence and approved it, and nothing deploys before a second approval. The graph is what makes those approvals cheap enough to be real rather than a rubber stamp — the evidence is already on the screen when the question is asked.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5381</Words>
  <Application>Microsoft Office PowerPoint</Application>
  <PresentationFormat>Widescreen</PresentationFormat>
  <Paragraphs>840</Paragraphs>
  <Slides>8</Slides>
  <Notes>7</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8</vt:i4>
      </vt:variant>
    </vt:vector>
  </HeadingPairs>
  <TitlesOfParts>
    <vt:vector size="16" baseType="lpstr">
      <vt:lpstr>Arial</vt:lpstr>
      <vt:lpstr>Courier New</vt:lpstr>
      <vt:lpstr>Trenda IG Display</vt:lpstr>
      <vt:lpstr>Trenda IG Display Bold</vt:lpstr>
      <vt:lpstr>Trenda IG Text</vt:lpstr>
      <vt:lpstr>Trenda IG Text Light</vt:lpstr>
      <vt:lpstr>Trenda IG Text Semibold</vt:lpstr>
      <vt:lpstr>Office Theme</vt:lpstr>
      <vt:lpstr> Ascension Network Services Knowledge Graph</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2</cp:revision>
  <dcterms:created xsi:type="dcterms:W3CDTF">2026-09-09T12:37:24Z</dcterms:created>
  <dcterms:modified xsi:type="dcterms:W3CDTF">2026-09-11T13:37:06Z</dcterms:modified>
</cp:coreProperties>
</file>