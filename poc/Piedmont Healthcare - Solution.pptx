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we fix bad data where it starts (the Epic upsert and Health Cloud duplicate rules), use one Subscriber Key, and layer SFMC data from raw to clean to golden to shared. Business units give each department only its own data, which is the separation they asked for. Four phases: assess, stabilize, structure, sustain. The IG pod works inside the Foundation Team, so knowledge stays with Piedmont. Durations are estimates to confirm in discovery.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2" name="Title"/>
          <p:cNvSpPr txBox="1"/>
          <p:nvPr/>
        </p:nvSpPr>
        <p:spPr>
          <a:xfrm>
            <a:off x="502920" y="201168"/>
            <a:ext cx="11155680" cy="502920"/>
          </a:xfrm>
          <a:prstGeom prst="rect">
            <a:avLst/>
          </a:prstGeom>
          <a:noFill/>
        </p:spPr>
        <p:txBody>
          <a:bodyPr wrap="square" anchor="ctr" lIns="0" rIns="0" tIns="0" bIns="0">
            <a:spAutoFit/>
          </a:bodyPr>
          <a:lstStyle/>
          <a:p>
            <a:pPr algn="l">
              <a:lnSpc>
                <a:spcPct val="100000"/>
              </a:lnSpc>
              <a:spcAft>
                <a:spcPts val="0"/>
              </a:spcAft>
            </a:pPr>
            <a:r>
              <a:rPr sz="2600" i="0">
                <a:solidFill>
                  <a:srgbClr val="FFFFFF"/>
                </a:solidFill>
                <a:latin typeface="Trenda IG Display Bold"/>
              </a:rPr>
              <a:t>Piedmont Healthcare  |  Proposed Solution &amp; Implementation</a:t>
            </a:r>
          </a:p>
        </p:txBody>
      </p:sp>
      <p:sp>
        <p:nvSpPr>
          <p:cNvPr id="3" name="Standfirst"/>
          <p:cNvSpPr txBox="1"/>
          <p:nvPr/>
        </p:nvSpPr>
        <p:spPr>
          <a:xfrm>
            <a:off x="502920" y="713232"/>
            <a:ext cx="11155680" cy="292608"/>
          </a:xfrm>
          <a:prstGeom prst="rect">
            <a:avLst/>
          </a:prstGeom>
          <a:noFill/>
        </p:spPr>
        <p:txBody>
          <a:bodyPr wrap="square" anchor="t" lIns="0" rIns="0" tIns="0" bIns="0">
            <a:spAutoFit/>
          </a:bodyPr>
          <a:lstStyle/>
          <a:p>
            <a:pPr algn="l">
              <a:lnSpc>
                <a:spcPct val="100000"/>
              </a:lnSpc>
              <a:spcAft>
                <a:spcPts val="0"/>
              </a:spcAft>
            </a:pPr>
            <a:r>
              <a:rPr sz="1200" i="0">
                <a:solidFill>
                  <a:srgbClr val="C9CED6"/>
                </a:solidFill>
                <a:latin typeface="Trenda IG Text"/>
              </a:rPr>
              <a:t>Fix the data, build a governed structure in Marketing Cloud, then support the team. Insight Global specialists work inside the Foundation Team.</a:t>
            </a:r>
          </a:p>
        </p:txBody>
      </p:sp>
      <p:sp>
        <p:nvSpPr>
          <p:cNvPr id="4" name="S1 Badge"/>
          <p:cNvSpPr/>
          <p:nvPr/>
        </p:nvSpPr>
        <p:spPr>
          <a:xfrm>
            <a:off x="502920" y="1078992"/>
            <a:ext cx="329184" cy="32918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000000"/>
                </a:solidFill>
                <a:latin typeface="Trenda IG Text Semibold"/>
              </a:rPr>
              <a:t>1</a:t>
            </a:r>
          </a:p>
        </p:txBody>
      </p:sp>
      <p:sp>
        <p:nvSpPr>
          <p:cNvPr id="5" name="S1 Heading"/>
          <p:cNvSpPr txBox="1"/>
          <p:nvPr/>
        </p:nvSpPr>
        <p:spPr>
          <a:xfrm>
            <a:off x="941832" y="1078992"/>
            <a:ext cx="3840480" cy="329184"/>
          </a:xfrm>
          <a:prstGeom prst="rect">
            <a:avLst/>
          </a:prstGeom>
          <a:noFill/>
        </p:spPr>
        <p:txBody>
          <a:bodyPr wrap="square" anchor="ctr" lIns="0" rIns="0" tIns="0" bIns="0">
            <a:spAutoFit/>
          </a:bodyPr>
          <a:lstStyle/>
          <a:p>
            <a:pPr algn="l">
              <a:lnSpc>
                <a:spcPct val="100000"/>
              </a:lnSpc>
              <a:spcAft>
                <a:spcPts val="0"/>
              </a:spcAft>
            </a:pPr>
            <a:r>
              <a:rPr sz="1500" i="0">
                <a:solidFill>
                  <a:srgbClr val="00D6F2"/>
                </a:solidFill>
                <a:latin typeface="Trenda IG Text Semibold"/>
              </a:rPr>
              <a:t>Target Data Architecture</a:t>
            </a:r>
          </a:p>
        </p:txBody>
      </p:sp>
      <p:sp>
        <p:nvSpPr>
          <p:cNvPr id="6" name="Epic"/>
          <p:cNvSpPr/>
          <p:nvPr/>
        </p:nvSpPr>
        <p:spPr>
          <a:xfrm>
            <a:off x="502920" y="1572768"/>
            <a:ext cx="1600200" cy="868680"/>
          </a:xfrm>
          <a:prstGeom prst="roundRect">
            <a:avLst>
              <a:gd name="adj" fmla="val 8000"/>
            </a:avLst>
          </a:prstGeom>
          <a:solidFill>
            <a:srgbClr val="0B1A2B"/>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Epic Text"/>
          <p:cNvSpPr txBox="1"/>
          <p:nvPr/>
        </p:nvSpPr>
        <p:spPr>
          <a:xfrm>
            <a:off x="502920" y="1572768"/>
            <a:ext cx="1600200" cy="868680"/>
          </a:xfrm>
          <a:prstGeom prst="rect">
            <a:avLst/>
          </a:prstGeom>
          <a:noFill/>
        </p:spPr>
        <p:txBody>
          <a:bodyPr wrap="square" anchor="ctr" lIns="54864" rIns="54864" tIns="54864" bIns="54864">
            <a:spAutoFit/>
          </a:bodyPr>
          <a:lstStyle/>
          <a:p>
            <a:pPr algn="ctr">
              <a:lnSpc>
                <a:spcPct val="100000"/>
              </a:lnSpc>
              <a:spcAft>
                <a:spcPts val="200"/>
              </a:spcAft>
            </a:pPr>
            <a:r>
              <a:rPr sz="1300" i="0">
                <a:solidFill>
                  <a:srgbClr val="FFFFFF"/>
                </a:solidFill>
                <a:latin typeface="Trenda IG Text Semibold"/>
              </a:rPr>
              <a:t>Epic (EHR)</a:t>
            </a:r>
          </a:p>
          <a:p>
            <a:pPr algn="ctr">
              <a:lnSpc>
                <a:spcPct val="100000"/>
              </a:lnSpc>
              <a:spcAft>
                <a:spcPts val="0"/>
              </a:spcAft>
            </a:pPr>
            <a:r>
              <a:rPr sz="950" i="0">
                <a:solidFill>
                  <a:srgbClr val="C9CED6"/>
                </a:solidFill>
                <a:latin typeface="Trenda IG Text"/>
              </a:rPr>
              <a:t>Clinical source system</a:t>
            </a:r>
          </a:p>
        </p:txBody>
      </p:sp>
      <p:sp>
        <p:nvSpPr>
          <p:cNvPr id="8" name="Arrow Epic-HC"/>
          <p:cNvSpPr/>
          <p:nvPr/>
        </p:nvSpPr>
        <p:spPr>
          <a:xfrm>
            <a:off x="2167128" y="1897380"/>
            <a:ext cx="274320" cy="219456"/>
          </a:xfrm>
          <a:prstGeom prst="rightArrow">
            <a:avLst/>
          </a:prstGeom>
          <a:solidFill>
            <a:srgbClr val="E8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alth Cloud"/>
          <p:cNvSpPr/>
          <p:nvPr/>
        </p:nvSpPr>
        <p:spPr>
          <a:xfrm>
            <a:off x="2505456" y="1572768"/>
            <a:ext cx="1764792" cy="868680"/>
          </a:xfrm>
          <a:prstGeom prst="roundRect">
            <a:avLst>
              <a:gd name="adj" fmla="val 8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ealth Cloud Text"/>
          <p:cNvSpPr txBox="1"/>
          <p:nvPr/>
        </p:nvSpPr>
        <p:spPr>
          <a:xfrm>
            <a:off x="2505456" y="1572768"/>
            <a:ext cx="1764792" cy="868680"/>
          </a:xfrm>
          <a:prstGeom prst="rect">
            <a:avLst/>
          </a:prstGeom>
          <a:noFill/>
        </p:spPr>
        <p:txBody>
          <a:bodyPr wrap="square" anchor="ctr" lIns="54864" rIns="54864" tIns="54864" bIns="54864">
            <a:spAutoFit/>
          </a:bodyPr>
          <a:lstStyle/>
          <a:p>
            <a:pPr algn="ctr">
              <a:lnSpc>
                <a:spcPct val="100000"/>
              </a:lnSpc>
              <a:spcAft>
                <a:spcPts val="200"/>
              </a:spcAft>
            </a:pPr>
            <a:r>
              <a:rPr sz="1250" i="0">
                <a:solidFill>
                  <a:srgbClr val="000000"/>
                </a:solidFill>
                <a:latin typeface="Trenda IG Text Semibold"/>
              </a:rPr>
              <a:t>Salesforce Health Cloud</a:t>
            </a:r>
          </a:p>
          <a:p>
            <a:pPr algn="ctr">
              <a:lnSpc>
                <a:spcPct val="100000"/>
              </a:lnSpc>
              <a:spcAft>
                <a:spcPts val="0"/>
              </a:spcAft>
            </a:pPr>
            <a:r>
              <a:rPr sz="950" i="0">
                <a:solidFill>
                  <a:srgbClr val="0B2A33"/>
                </a:solidFill>
                <a:latin typeface="Trenda IG Text"/>
              </a:rPr>
              <a:t>System of record</a:t>
            </a:r>
          </a:p>
        </p:txBody>
      </p:sp>
      <p:sp>
        <p:nvSpPr>
          <p:cNvPr id="11" name="Arrow HC-SFMC"/>
          <p:cNvSpPr/>
          <p:nvPr/>
        </p:nvSpPr>
        <p:spPr>
          <a:xfrm>
            <a:off x="4325112" y="1897380"/>
            <a:ext cx="274320" cy="219456"/>
          </a:xfrm>
          <a:prstGeom prst="rightArrow">
            <a:avLst/>
          </a:prstGeom>
          <a:solidFill>
            <a:srgbClr val="E8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ource Fixes"/>
          <p:cNvSpPr/>
          <p:nvPr/>
        </p:nvSpPr>
        <p:spPr>
          <a:xfrm>
            <a:off x="502920" y="2606040"/>
            <a:ext cx="3767328" cy="1097280"/>
          </a:xfrm>
          <a:prstGeom prst="roundRect">
            <a:avLst>
              <a:gd name="adj" fmla="val 8000"/>
            </a:avLst>
          </a:prstGeom>
          <a:solidFill>
            <a:srgbClr val="000000">
              <a:alpha val="50000"/>
            </a:srgbClr>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ource Fixes Text"/>
          <p:cNvSpPr txBox="1"/>
          <p:nvPr/>
        </p:nvSpPr>
        <p:spPr>
          <a:xfrm>
            <a:off x="502920" y="2606040"/>
            <a:ext cx="3767328" cy="1097280"/>
          </a:xfrm>
          <a:prstGeom prst="rect">
            <a:avLst/>
          </a:prstGeom>
          <a:noFill/>
        </p:spPr>
        <p:txBody>
          <a:bodyPr wrap="square" anchor="t" lIns="109728" rIns="109728" tIns="109728" bIns="109728">
            <a:spAutoFit/>
          </a:bodyPr>
          <a:lstStyle/>
          <a:p>
            <a:pPr algn="l">
              <a:lnSpc>
                <a:spcPct val="100000"/>
              </a:lnSpc>
              <a:spcAft>
                <a:spcPts val="400"/>
              </a:spcAft>
            </a:pPr>
            <a:r>
              <a:rPr sz="1050" i="0">
                <a:solidFill>
                  <a:srgbClr val="FFD700"/>
                </a:solidFill>
                <a:latin typeface="Trenda IG Text Semibold"/>
              </a:rPr>
              <a:t>Fix at the source</a:t>
            </a:r>
          </a:p>
          <a:p>
            <a:pPr algn="l" marL="118872" indent="-118872">
              <a:lnSpc>
                <a:spcPct val="100000"/>
              </a:lnSpc>
              <a:spcAft>
                <a:spcPts val="200"/>
              </a:spcAft>
              <a:buClr>
                <a:srgbClr val="FFD700"/>
              </a:buClr>
              <a:buFont typeface="Arial"/>
              <a:buChar char="•"/>
            </a:pPr>
            <a:r>
              <a:rPr sz="950" i="0">
                <a:solidFill>
                  <a:srgbClr val="FFFFFF"/>
                </a:solidFill>
                <a:latin typeface="Trenda IG Text"/>
              </a:rPr>
              <a:t>Epic batch upserts on MRN (External ID): no new duplicates</a:t>
            </a:r>
          </a:p>
          <a:p>
            <a:pPr algn="l" marL="118872" indent="-118872">
              <a:lnSpc>
                <a:spcPct val="100000"/>
              </a:lnSpc>
              <a:spcAft>
                <a:spcPts val="200"/>
              </a:spcAft>
              <a:buClr>
                <a:srgbClr val="FFD700"/>
              </a:buClr>
              <a:buFont typeface="Arial"/>
              <a:buChar char="•"/>
            </a:pPr>
            <a:r>
              <a:rPr sz="950" i="0">
                <a:solidFill>
                  <a:srgbClr val="FFFFFF"/>
                </a:solidFill>
                <a:latin typeface="Trenda IG Text"/>
              </a:rPr>
              <a:t>Health Cloud duplicate and matching rules switched on</a:t>
            </a:r>
          </a:p>
          <a:p>
            <a:pPr algn="l" marL="118872" indent="-118872">
              <a:lnSpc>
                <a:spcPct val="100000"/>
              </a:lnSpc>
              <a:spcAft>
                <a:spcPts val="200"/>
              </a:spcAft>
              <a:buClr>
                <a:srgbClr val="FFD700"/>
              </a:buClr>
              <a:buFont typeface="Arial"/>
              <a:buChar char="•"/>
            </a:pPr>
            <a:r>
              <a:rPr sz="950" i="0">
                <a:solidFill>
                  <a:srgbClr val="FFFFFF"/>
                </a:solidFill>
                <a:latin typeface="Trenda IG Text"/>
              </a:rPr>
              <a:t>Subscriber Key = Contact ID; sync only the PHI fields needed</a:t>
            </a:r>
          </a:p>
        </p:txBody>
      </p:sp>
      <p:sp>
        <p:nvSpPr>
          <p:cNvPr id="14" name="SFMC Foundation"/>
          <p:cNvSpPr/>
          <p:nvPr/>
        </p:nvSpPr>
        <p:spPr>
          <a:xfrm>
            <a:off x="4663440" y="1417320"/>
            <a:ext cx="4590288" cy="2286000"/>
          </a:xfrm>
          <a:prstGeom prst="roundRect">
            <a:avLst>
              <a:gd name="adj" fmla="val 8000"/>
            </a:avLst>
          </a:prstGeom>
          <a:solidFill>
            <a:srgbClr val="000000">
              <a:alpha val="50000"/>
            </a:srgbClr>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FMC Foundation Heading"/>
          <p:cNvSpPr txBox="1"/>
          <p:nvPr/>
        </p:nvSpPr>
        <p:spPr>
          <a:xfrm>
            <a:off x="4791456" y="1463040"/>
            <a:ext cx="4389120" cy="292608"/>
          </a:xfrm>
          <a:prstGeom prst="rect">
            <a:avLst/>
          </a:prstGeom>
          <a:noFill/>
        </p:spPr>
        <p:txBody>
          <a:bodyPr wrap="square" anchor="ctr" lIns="0" rIns="0" tIns="0" bIns="0">
            <a:spAutoFit/>
          </a:bodyPr>
          <a:lstStyle/>
          <a:p>
            <a:pPr algn="l">
              <a:lnSpc>
                <a:spcPct val="100000"/>
              </a:lnSpc>
              <a:spcAft>
                <a:spcPts val="0"/>
              </a:spcAft>
            </a:pPr>
            <a:r>
              <a:rPr sz="1150" i="0">
                <a:solidFill>
                  <a:srgbClr val="00D6F2"/>
                </a:solidFill>
                <a:latin typeface="Trenda IG Text Semibold"/>
              </a:rPr>
              <a:t>Salesforce Marketing Cloud  </a:t>
            </a:r>
            <a:r>
              <a:rPr sz="1000" i="0">
                <a:solidFill>
                  <a:srgbClr val="C9CED6"/>
                </a:solidFill>
                <a:latin typeface="Trenda IG Text"/>
              </a:rPr>
              <a:t>parent BU data foundation</a:t>
            </a:r>
          </a:p>
        </p:txBody>
      </p:sp>
      <p:sp>
        <p:nvSpPr>
          <p:cNvPr id="16" name="Layer RAW"/>
          <p:cNvSpPr/>
          <p:nvPr/>
        </p:nvSpPr>
        <p:spPr>
          <a:xfrm>
            <a:off x="4791456" y="1810512"/>
            <a:ext cx="969264" cy="1188720"/>
          </a:xfrm>
          <a:prstGeom prst="roundRect">
            <a:avLst>
              <a:gd name="adj" fmla="val 8000"/>
            </a:avLst>
          </a:prstGeom>
          <a:solidFill>
            <a:srgbClr val="2E3338"/>
          </a:solidFill>
          <a:ln w="12700">
            <a:solidFill>
              <a:srgbClr val="8C93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yer RAW Text"/>
          <p:cNvSpPr txBox="1"/>
          <p:nvPr/>
        </p:nvSpPr>
        <p:spPr>
          <a:xfrm>
            <a:off x="4791456" y="1810512"/>
            <a:ext cx="969264" cy="1188720"/>
          </a:xfrm>
          <a:prstGeom prst="rect">
            <a:avLst/>
          </a:prstGeom>
          <a:noFill/>
        </p:spPr>
        <p:txBody>
          <a:bodyPr wrap="square" anchor="t" lIns="64008" rIns="64008" tIns="64008" bIns="64008">
            <a:spAutoFit/>
          </a:bodyPr>
          <a:lstStyle/>
          <a:p>
            <a:pPr algn="l">
              <a:lnSpc>
                <a:spcPct val="100000"/>
              </a:lnSpc>
              <a:spcAft>
                <a:spcPts val="400"/>
              </a:spcAft>
            </a:pPr>
            <a:r>
              <a:rPr sz="1100" i="0">
                <a:solidFill>
                  <a:srgbClr val="D0D4DA"/>
                </a:solidFill>
                <a:latin typeface="Trenda IG Text Semibold"/>
              </a:rPr>
              <a:t>1  RAW</a:t>
            </a:r>
          </a:p>
          <a:p>
            <a:pPr algn="l">
              <a:lnSpc>
                <a:spcPct val="100000"/>
              </a:lnSpc>
              <a:spcAft>
                <a:spcPts val="0"/>
              </a:spcAft>
            </a:pPr>
            <a:r>
              <a:rPr sz="900" i="0">
                <a:solidFill>
                  <a:srgbClr val="FFFFFF"/>
                </a:solidFill>
                <a:latin typeface="Trenda IG Text"/>
              </a:rPr>
              <a:t>Synced DEs from Health Cloud, never edited</a:t>
            </a:r>
          </a:p>
        </p:txBody>
      </p:sp>
      <p:sp>
        <p:nvSpPr>
          <p:cNvPr id="18" name="Layer Arrow 1"/>
          <p:cNvSpPr/>
          <p:nvPr/>
        </p:nvSpPr>
        <p:spPr>
          <a:xfrm rot="5400000">
            <a:off x="5792724" y="2331720"/>
            <a:ext cx="82296" cy="146304"/>
          </a:xfrm>
          <a:prstGeom prst="triangle">
            <a:avLst/>
          </a:prstGeom>
          <a:solidFill>
            <a:srgbClr val="E8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yer CLEAN"/>
          <p:cNvSpPr/>
          <p:nvPr/>
        </p:nvSpPr>
        <p:spPr>
          <a:xfrm>
            <a:off x="5907024" y="1810512"/>
            <a:ext cx="969264" cy="1188720"/>
          </a:xfrm>
          <a:prstGeom prst="roundRect">
            <a:avLst>
              <a:gd name="adj" fmla="val 8000"/>
            </a:avLst>
          </a:prstGeom>
          <a:solidFill>
            <a:srgbClr val="07343C"/>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Layer CLEAN Text"/>
          <p:cNvSpPr txBox="1"/>
          <p:nvPr/>
        </p:nvSpPr>
        <p:spPr>
          <a:xfrm>
            <a:off x="5907024" y="1810512"/>
            <a:ext cx="969264" cy="1188720"/>
          </a:xfrm>
          <a:prstGeom prst="rect">
            <a:avLst/>
          </a:prstGeom>
          <a:noFill/>
        </p:spPr>
        <p:txBody>
          <a:bodyPr wrap="square" anchor="t" lIns="64008" rIns="64008" tIns="64008" bIns="64008">
            <a:spAutoFit/>
          </a:bodyPr>
          <a:lstStyle/>
          <a:p>
            <a:pPr algn="l">
              <a:lnSpc>
                <a:spcPct val="100000"/>
              </a:lnSpc>
              <a:spcAft>
                <a:spcPts val="400"/>
              </a:spcAft>
            </a:pPr>
            <a:r>
              <a:rPr sz="1100" i="0">
                <a:solidFill>
                  <a:srgbClr val="00D6F2"/>
                </a:solidFill>
                <a:latin typeface="Trenda IG Text Semibold"/>
              </a:rPr>
              <a:t>2  CLEAN</a:t>
            </a:r>
          </a:p>
          <a:p>
            <a:pPr algn="l">
              <a:lnSpc>
                <a:spcPct val="100000"/>
              </a:lnSpc>
              <a:spcAft>
                <a:spcPts val="0"/>
              </a:spcAft>
            </a:pPr>
            <a:r>
              <a:rPr sz="900" i="0">
                <a:solidFill>
                  <a:srgbClr val="FFFFFF"/>
                </a:solidFill>
                <a:latin typeface="Trenda IG Text"/>
              </a:rPr>
              <a:t>SQL automations standardize, validate, dedupe</a:t>
            </a:r>
          </a:p>
        </p:txBody>
      </p:sp>
      <p:sp>
        <p:nvSpPr>
          <p:cNvPr id="21" name="Layer Arrow 2"/>
          <p:cNvSpPr/>
          <p:nvPr/>
        </p:nvSpPr>
        <p:spPr>
          <a:xfrm rot="5400000">
            <a:off x="6908292" y="2331720"/>
            <a:ext cx="82296" cy="146304"/>
          </a:xfrm>
          <a:prstGeom prst="triangle">
            <a:avLst/>
          </a:prstGeom>
          <a:solidFill>
            <a:srgbClr val="E8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Layer GOLDEN"/>
          <p:cNvSpPr/>
          <p:nvPr/>
        </p:nvSpPr>
        <p:spPr>
          <a:xfrm>
            <a:off x="7022592" y="1810512"/>
            <a:ext cx="969264" cy="1188720"/>
          </a:xfrm>
          <a:prstGeom prst="roundRect">
            <a:avLst>
              <a:gd name="adj" fmla="val 8000"/>
            </a:avLst>
          </a:prstGeom>
          <a:solidFill>
            <a:srgbClr val="3B3100"/>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yer GOLDEN Text"/>
          <p:cNvSpPr txBox="1"/>
          <p:nvPr/>
        </p:nvSpPr>
        <p:spPr>
          <a:xfrm>
            <a:off x="7022592" y="1810512"/>
            <a:ext cx="969264" cy="1188720"/>
          </a:xfrm>
          <a:prstGeom prst="rect">
            <a:avLst/>
          </a:prstGeom>
          <a:noFill/>
        </p:spPr>
        <p:txBody>
          <a:bodyPr wrap="square" anchor="t" lIns="64008" rIns="64008" tIns="64008" bIns="64008">
            <a:spAutoFit/>
          </a:bodyPr>
          <a:lstStyle/>
          <a:p>
            <a:pPr algn="l">
              <a:lnSpc>
                <a:spcPct val="100000"/>
              </a:lnSpc>
              <a:spcAft>
                <a:spcPts val="400"/>
              </a:spcAft>
            </a:pPr>
            <a:r>
              <a:rPr sz="1100" i="0">
                <a:solidFill>
                  <a:srgbClr val="FFD700"/>
                </a:solidFill>
                <a:latin typeface="Trenda IG Text Semibold"/>
              </a:rPr>
              <a:t>3  GOLDEN</a:t>
            </a:r>
          </a:p>
          <a:p>
            <a:pPr algn="l">
              <a:lnSpc>
                <a:spcPct val="100000"/>
              </a:lnSpc>
              <a:spcAft>
                <a:spcPts val="0"/>
              </a:spcAft>
            </a:pPr>
            <a:r>
              <a:rPr sz="900" i="0">
                <a:solidFill>
                  <a:srgbClr val="FFFFFF"/>
                </a:solidFill>
                <a:latin typeface="Trenda IG Text"/>
              </a:rPr>
              <a:t>One patient master, one provider master, consent</a:t>
            </a:r>
          </a:p>
        </p:txBody>
      </p:sp>
      <p:sp>
        <p:nvSpPr>
          <p:cNvPr id="24" name="Layer Arrow 3"/>
          <p:cNvSpPr/>
          <p:nvPr/>
        </p:nvSpPr>
        <p:spPr>
          <a:xfrm rot="5400000">
            <a:off x="8023860" y="2331720"/>
            <a:ext cx="82296" cy="146304"/>
          </a:xfrm>
          <a:prstGeom prst="triangle">
            <a:avLst/>
          </a:prstGeom>
          <a:solidFill>
            <a:srgbClr val="E8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yer SHARED"/>
          <p:cNvSpPr/>
          <p:nvPr/>
        </p:nvSpPr>
        <p:spPr>
          <a:xfrm>
            <a:off x="8138160" y="1810512"/>
            <a:ext cx="969264" cy="1188720"/>
          </a:xfrm>
          <a:prstGeom prst="roundRect">
            <a:avLst>
              <a:gd name="adj" fmla="val 8000"/>
            </a:avLst>
          </a:prstGeom>
          <a:solidFill>
            <a:srgbClr val="0E3510"/>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Layer SHARED Text"/>
          <p:cNvSpPr txBox="1"/>
          <p:nvPr/>
        </p:nvSpPr>
        <p:spPr>
          <a:xfrm>
            <a:off x="8138160" y="1810512"/>
            <a:ext cx="969264" cy="1188720"/>
          </a:xfrm>
          <a:prstGeom prst="rect">
            <a:avLst/>
          </a:prstGeom>
          <a:noFill/>
        </p:spPr>
        <p:txBody>
          <a:bodyPr wrap="square" anchor="t" lIns="64008" rIns="64008" tIns="64008" bIns="64008">
            <a:spAutoFit/>
          </a:bodyPr>
          <a:lstStyle/>
          <a:p>
            <a:pPr algn="l">
              <a:lnSpc>
                <a:spcPct val="100000"/>
              </a:lnSpc>
              <a:spcAft>
                <a:spcPts val="400"/>
              </a:spcAft>
            </a:pPr>
            <a:r>
              <a:rPr sz="1100" i="0">
                <a:solidFill>
                  <a:srgbClr val="56E13B"/>
                </a:solidFill>
                <a:latin typeface="Trenda IG Text Semibold"/>
              </a:rPr>
              <a:t>4  SHARED</a:t>
            </a:r>
          </a:p>
          <a:p>
            <a:pPr algn="l">
              <a:lnSpc>
                <a:spcPct val="100000"/>
              </a:lnSpc>
              <a:spcAft>
                <a:spcPts val="0"/>
              </a:spcAft>
            </a:pPr>
            <a:r>
              <a:rPr sz="900" i="0">
                <a:solidFill>
                  <a:srgbClr val="FFFFFF"/>
                </a:solidFill>
                <a:latin typeface="Trenda IG Text"/>
              </a:rPr>
              <a:t>Filtered, permissioned DEs for each BU</a:t>
            </a:r>
          </a:p>
        </p:txBody>
      </p:sp>
      <p:sp>
        <p:nvSpPr>
          <p:cNvPr id="27" name="Quality Gate"/>
          <p:cNvSpPr/>
          <p:nvPr/>
        </p:nvSpPr>
        <p:spPr>
          <a:xfrm>
            <a:off x="4791456" y="3108960"/>
            <a:ext cx="4315968" cy="475488"/>
          </a:xfrm>
          <a:prstGeom prst="roundRect">
            <a:avLst>
              <a:gd name="adj" fmla="val 8000"/>
            </a:avLst>
          </a:prstGeom>
          <a:solidFill>
            <a:srgbClr val="FA8B35">
              <a:alpha val="14000"/>
            </a:srgbClr>
          </a:solidFill>
          <a:ln w="9525">
            <a:solidFill>
              <a:srgbClr val="FA8B3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Quality Gate Text"/>
          <p:cNvSpPr txBox="1"/>
          <p:nvPr/>
        </p:nvSpPr>
        <p:spPr>
          <a:xfrm>
            <a:off x="4791456" y="3108960"/>
            <a:ext cx="4315968" cy="475488"/>
          </a:xfrm>
          <a:prstGeom prst="rect">
            <a:avLst/>
          </a:prstGeom>
          <a:noFill/>
        </p:spPr>
        <p:txBody>
          <a:bodyPr wrap="square" anchor="ctr" tIns="91440" bIns="91440">
            <a:spAutoFit/>
          </a:bodyPr>
          <a:lstStyle/>
          <a:p>
            <a:pPr algn="l">
              <a:lnSpc>
                <a:spcPct val="100000"/>
              </a:lnSpc>
              <a:spcAft>
                <a:spcPts val="0"/>
              </a:spcAft>
            </a:pPr>
            <a:r>
              <a:rPr sz="1000" i="0">
                <a:solidFill>
                  <a:srgbClr val="FA8B35"/>
                </a:solidFill>
                <a:latin typeface="Trenda IG Text Semibold"/>
              </a:rPr>
              <a:t>Quality gate  </a:t>
            </a:r>
            <a:r>
              <a:rPr sz="900" i="0">
                <a:solidFill>
                  <a:srgbClr val="FFFFFF"/>
                </a:solidFill>
                <a:latin typeface="Trenda IG Text"/>
              </a:rPr>
              <a:t>Bad records go to an exceptions DE with a reason code and are never sent. A data-quality dashboard tracks them.</a:t>
            </a:r>
          </a:p>
        </p:txBody>
      </p:sp>
      <p:sp>
        <p:nvSpPr>
          <p:cNvPr id="29" name="Arrow SFMC-BUs"/>
          <p:cNvSpPr/>
          <p:nvPr/>
        </p:nvSpPr>
        <p:spPr>
          <a:xfrm>
            <a:off x="9308592" y="2313432"/>
            <a:ext cx="274320" cy="219456"/>
          </a:xfrm>
          <a:prstGeom prst="rightArrow">
            <a:avLst/>
          </a:prstGeom>
          <a:solidFill>
            <a:srgbClr val="E8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hild BU Heading"/>
          <p:cNvSpPr txBox="1"/>
          <p:nvPr/>
        </p:nvSpPr>
        <p:spPr>
          <a:xfrm>
            <a:off x="9646920" y="1463040"/>
            <a:ext cx="2057400" cy="292608"/>
          </a:xfrm>
          <a:prstGeom prst="rect">
            <a:avLst/>
          </a:prstGeom>
          <a:noFill/>
        </p:spPr>
        <p:txBody>
          <a:bodyPr wrap="square" anchor="ctr" lIns="0" rIns="0" tIns="0" bIns="0">
            <a:spAutoFit/>
          </a:bodyPr>
          <a:lstStyle/>
          <a:p>
            <a:pPr algn="l">
              <a:lnSpc>
                <a:spcPct val="100000"/>
              </a:lnSpc>
              <a:spcAft>
                <a:spcPts val="0"/>
              </a:spcAft>
            </a:pPr>
            <a:r>
              <a:rPr sz="1100" i="0">
                <a:solidFill>
                  <a:srgbClr val="FFFFFF"/>
                </a:solidFill>
                <a:latin typeface="Trenda IG Text Semibold"/>
              </a:rPr>
              <a:t>Child BUs by department</a:t>
            </a:r>
          </a:p>
        </p:txBody>
      </p:sp>
      <p:sp>
        <p:nvSpPr>
          <p:cNvPr id="31" name="BU Patients · Stream A"/>
          <p:cNvSpPr/>
          <p:nvPr/>
        </p:nvSpPr>
        <p:spPr>
          <a:xfrm>
            <a:off x="9646920" y="1810512"/>
            <a:ext cx="2057400" cy="475488"/>
          </a:xfrm>
          <a:prstGeom prst="roundRect">
            <a:avLst>
              <a:gd name="adj" fmla="val 8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BU Patients · Stream A Text"/>
          <p:cNvSpPr txBox="1"/>
          <p:nvPr/>
        </p:nvSpPr>
        <p:spPr>
          <a:xfrm>
            <a:off x="9646920" y="1810512"/>
            <a:ext cx="2057400" cy="475488"/>
          </a:xfrm>
          <a:prstGeom prst="rect">
            <a:avLst/>
          </a:prstGeom>
          <a:noFill/>
        </p:spPr>
        <p:txBody>
          <a:bodyPr wrap="square" anchor="ctr" lIns="36576" rIns="36576" tIns="36576" bIns="36576">
            <a:spAutoFit/>
          </a:bodyPr>
          <a:lstStyle/>
          <a:p>
            <a:pPr algn="ctr">
              <a:lnSpc>
                <a:spcPct val="100000"/>
              </a:lnSpc>
              <a:spcAft>
                <a:spcPts val="0"/>
              </a:spcAft>
            </a:pPr>
            <a:r>
              <a:rPr sz="1100" i="0">
                <a:solidFill>
                  <a:srgbClr val="000000"/>
                </a:solidFill>
                <a:latin typeface="Trenda IG Text Semibold"/>
              </a:rPr>
              <a:t>Patients · Stream A</a:t>
            </a:r>
          </a:p>
          <a:p>
            <a:pPr algn="ctr">
              <a:lnSpc>
                <a:spcPct val="100000"/>
              </a:lnSpc>
              <a:spcAft>
                <a:spcPts val="0"/>
              </a:spcAft>
            </a:pPr>
            <a:r>
              <a:rPr sz="850" i="1">
                <a:solidFill>
                  <a:srgbClr val="0B2A33"/>
                </a:solidFill>
                <a:latin typeface="Trenda IG Text"/>
              </a:rPr>
              <a:t>Active today</a:t>
            </a:r>
          </a:p>
        </p:txBody>
      </p:sp>
      <p:sp>
        <p:nvSpPr>
          <p:cNvPr id="33" name="BU Patients · Stream B"/>
          <p:cNvSpPr/>
          <p:nvPr/>
        </p:nvSpPr>
        <p:spPr>
          <a:xfrm>
            <a:off x="9646920" y="2377440"/>
            <a:ext cx="2057400" cy="475488"/>
          </a:xfrm>
          <a:prstGeom prst="roundRect">
            <a:avLst>
              <a:gd name="adj" fmla="val 8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BU Patients · Stream B Text"/>
          <p:cNvSpPr txBox="1"/>
          <p:nvPr/>
        </p:nvSpPr>
        <p:spPr>
          <a:xfrm>
            <a:off x="9646920" y="2377440"/>
            <a:ext cx="2057400" cy="475488"/>
          </a:xfrm>
          <a:prstGeom prst="rect">
            <a:avLst/>
          </a:prstGeom>
          <a:noFill/>
        </p:spPr>
        <p:txBody>
          <a:bodyPr wrap="square" anchor="ctr" lIns="36576" rIns="36576" tIns="36576" bIns="36576">
            <a:spAutoFit/>
          </a:bodyPr>
          <a:lstStyle/>
          <a:p>
            <a:pPr algn="ctr">
              <a:lnSpc>
                <a:spcPct val="100000"/>
              </a:lnSpc>
              <a:spcAft>
                <a:spcPts val="0"/>
              </a:spcAft>
            </a:pPr>
            <a:r>
              <a:rPr sz="1100" i="0">
                <a:solidFill>
                  <a:srgbClr val="000000"/>
                </a:solidFill>
                <a:latin typeface="Trenda IG Text Semibold"/>
              </a:rPr>
              <a:t>Patients · Stream B</a:t>
            </a:r>
          </a:p>
          <a:p>
            <a:pPr algn="ctr">
              <a:lnSpc>
                <a:spcPct val="100000"/>
              </a:lnSpc>
              <a:spcAft>
                <a:spcPts val="0"/>
              </a:spcAft>
            </a:pPr>
            <a:r>
              <a:rPr sz="850" i="1">
                <a:solidFill>
                  <a:srgbClr val="0B2A33"/>
                </a:solidFill>
                <a:latin typeface="Trenda IG Text"/>
              </a:rPr>
              <a:t>Active today</a:t>
            </a:r>
          </a:p>
        </p:txBody>
      </p:sp>
      <p:sp>
        <p:nvSpPr>
          <p:cNvPr id="35" name="BU Providers"/>
          <p:cNvSpPr/>
          <p:nvPr/>
        </p:nvSpPr>
        <p:spPr>
          <a:xfrm>
            <a:off x="9646920" y="2944368"/>
            <a:ext cx="2057400" cy="475488"/>
          </a:xfrm>
          <a:prstGeom prst="roundRect">
            <a:avLst>
              <a:gd name="adj" fmla="val 8000"/>
            </a:avLst>
          </a:prstGeom>
          <a:solidFill>
            <a:srgbClr val="8C93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BU Providers Text"/>
          <p:cNvSpPr txBox="1"/>
          <p:nvPr/>
        </p:nvSpPr>
        <p:spPr>
          <a:xfrm>
            <a:off x="9646920" y="2944368"/>
            <a:ext cx="2057400" cy="475488"/>
          </a:xfrm>
          <a:prstGeom prst="rect">
            <a:avLst/>
          </a:prstGeom>
          <a:noFill/>
        </p:spPr>
        <p:txBody>
          <a:bodyPr wrap="square" anchor="ctr" lIns="36576" rIns="36576" tIns="36576" bIns="36576">
            <a:spAutoFit/>
          </a:bodyPr>
          <a:lstStyle/>
          <a:p>
            <a:pPr algn="ctr">
              <a:lnSpc>
                <a:spcPct val="100000"/>
              </a:lnSpc>
              <a:spcAft>
                <a:spcPts val="0"/>
              </a:spcAft>
            </a:pPr>
            <a:r>
              <a:rPr sz="1100" i="0">
                <a:solidFill>
                  <a:srgbClr val="FFFFFF"/>
                </a:solidFill>
                <a:latin typeface="Trenda IG Text Semibold"/>
              </a:rPr>
              <a:t>Providers</a:t>
            </a:r>
          </a:p>
          <a:p>
            <a:pPr algn="ctr">
              <a:lnSpc>
                <a:spcPct val="100000"/>
              </a:lnSpc>
              <a:spcAft>
                <a:spcPts val="0"/>
              </a:spcAft>
            </a:pPr>
            <a:r>
              <a:rPr sz="850" i="1">
                <a:solidFill>
                  <a:srgbClr val="EEF0F2"/>
                </a:solidFill>
                <a:latin typeface="Trenda IG Text"/>
              </a:rPr>
              <a:t>Future state, ready on day one</a:t>
            </a:r>
          </a:p>
        </p:txBody>
      </p:sp>
      <p:sp>
        <p:nvSpPr>
          <p:cNvPr id="37" name="Child BU Note"/>
          <p:cNvSpPr txBox="1"/>
          <p:nvPr/>
        </p:nvSpPr>
        <p:spPr>
          <a:xfrm>
            <a:off x="9646920" y="3493008"/>
            <a:ext cx="2057400" cy="228600"/>
          </a:xfrm>
          <a:prstGeom prst="rect">
            <a:avLst/>
          </a:prstGeom>
          <a:noFill/>
        </p:spPr>
        <p:txBody>
          <a:bodyPr wrap="square" anchor="ctr" lIns="0" rIns="0" tIns="0" bIns="0">
            <a:spAutoFit/>
          </a:bodyPr>
          <a:lstStyle/>
          <a:p>
            <a:pPr algn="ctr">
              <a:lnSpc>
                <a:spcPct val="100000"/>
              </a:lnSpc>
              <a:spcAft>
                <a:spcPts val="0"/>
              </a:spcAft>
            </a:pPr>
            <a:r>
              <a:rPr sz="900" i="1">
                <a:solidFill>
                  <a:srgbClr val="C9CED6"/>
                </a:solidFill>
                <a:latin typeface="Trenda IG Text"/>
              </a:rPr>
              <a:t>Each team sees only its own data</a:t>
            </a:r>
          </a:p>
        </p:txBody>
      </p:sp>
      <p:sp>
        <p:nvSpPr>
          <p:cNvPr id="38" name="S2 Badge"/>
          <p:cNvSpPr/>
          <p:nvPr/>
        </p:nvSpPr>
        <p:spPr>
          <a:xfrm>
            <a:off x="502920" y="3913632"/>
            <a:ext cx="329184" cy="32918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000000"/>
                </a:solidFill>
                <a:latin typeface="Trenda IG Text Semibold"/>
              </a:rPr>
              <a:t>2</a:t>
            </a:r>
          </a:p>
        </p:txBody>
      </p:sp>
      <p:sp>
        <p:nvSpPr>
          <p:cNvPr id="39" name="S2 Heading"/>
          <p:cNvSpPr txBox="1"/>
          <p:nvPr/>
        </p:nvSpPr>
        <p:spPr>
          <a:xfrm>
            <a:off x="941832" y="3913632"/>
            <a:ext cx="3840480" cy="329184"/>
          </a:xfrm>
          <a:prstGeom prst="rect">
            <a:avLst/>
          </a:prstGeom>
          <a:noFill/>
        </p:spPr>
        <p:txBody>
          <a:bodyPr wrap="square" anchor="ctr" lIns="0" rIns="0" tIns="0" bIns="0">
            <a:spAutoFit/>
          </a:bodyPr>
          <a:lstStyle/>
          <a:p>
            <a:pPr algn="l">
              <a:lnSpc>
                <a:spcPct val="100000"/>
              </a:lnSpc>
              <a:spcAft>
                <a:spcPts val="0"/>
              </a:spcAft>
            </a:pPr>
            <a:r>
              <a:rPr sz="1500" i="0">
                <a:solidFill>
                  <a:srgbClr val="FFD700"/>
                </a:solidFill>
                <a:latin typeface="Trenda IG Text Semibold"/>
              </a:rPr>
              <a:t>Implementation Roadmap</a:t>
            </a:r>
          </a:p>
        </p:txBody>
      </p:sp>
      <p:sp>
        <p:nvSpPr>
          <p:cNvPr id="40" name="Roadmap Duration"/>
          <p:cNvSpPr txBox="1"/>
          <p:nvPr/>
        </p:nvSpPr>
        <p:spPr>
          <a:xfrm>
            <a:off x="4572000" y="3913632"/>
            <a:ext cx="4206240" cy="329184"/>
          </a:xfrm>
          <a:prstGeom prst="rect">
            <a:avLst/>
          </a:prstGeom>
          <a:noFill/>
        </p:spPr>
        <p:txBody>
          <a:bodyPr wrap="square" anchor="ctr" lIns="0" rIns="0" tIns="0" bIns="0">
            <a:spAutoFit/>
          </a:bodyPr>
          <a:lstStyle/>
          <a:p>
            <a:pPr algn="r">
              <a:lnSpc>
                <a:spcPct val="100000"/>
              </a:lnSpc>
              <a:spcAft>
                <a:spcPts val="0"/>
              </a:spcAft>
            </a:pPr>
            <a:r>
              <a:rPr sz="950" i="1">
                <a:solidFill>
                  <a:srgbClr val="C9CED6"/>
                </a:solidFill>
                <a:latin typeface="Trenda IG Text"/>
              </a:rPr>
              <a:t>About 12 to 17 weeks to a governed foundation, then ongoing support</a:t>
            </a:r>
          </a:p>
        </p:txBody>
      </p:sp>
      <p:sp>
        <p:nvSpPr>
          <p:cNvPr id="41" name="Phase Assess"/>
          <p:cNvSpPr/>
          <p:nvPr/>
        </p:nvSpPr>
        <p:spPr>
          <a:xfrm>
            <a:off x="502920" y="4315968"/>
            <a:ext cx="1965960" cy="1920240"/>
          </a:xfrm>
          <a:prstGeom prst="roundRect">
            <a:avLst>
              <a:gd name="adj" fmla="val 8000"/>
            </a:avLst>
          </a:prstGeom>
          <a:solidFill>
            <a:srgbClr val="000000">
              <a:alpha val="50000"/>
            </a:srgbClr>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Phase Assess Text"/>
          <p:cNvSpPr txBox="1"/>
          <p:nvPr/>
        </p:nvSpPr>
        <p:spPr>
          <a:xfrm>
            <a:off x="502920" y="4315968"/>
            <a:ext cx="1965960" cy="1417320"/>
          </a:xfrm>
          <a:prstGeom prst="rect">
            <a:avLst/>
          </a:prstGeom>
          <a:noFill/>
        </p:spPr>
        <p:txBody>
          <a:bodyPr wrap="square" anchor="t" lIns="109728" rIns="109728" tIns="109728" bIns="109728">
            <a:spAutoFit/>
          </a:bodyPr>
          <a:lstStyle/>
          <a:p>
            <a:pPr algn="l">
              <a:lnSpc>
                <a:spcPct val="100000"/>
              </a:lnSpc>
              <a:spcAft>
                <a:spcPts val="100"/>
              </a:spcAft>
            </a:pPr>
            <a:r>
              <a:rPr sz="850" i="0">
                <a:solidFill>
                  <a:srgbClr val="00D6F2"/>
                </a:solidFill>
                <a:latin typeface="Trenda IG Text Semibold"/>
              </a:rPr>
              <a:t>PHASE 0  ·  2–3 WKS</a:t>
            </a:r>
          </a:p>
          <a:p>
            <a:pPr algn="l">
              <a:lnSpc>
                <a:spcPct val="100000"/>
              </a:lnSpc>
              <a:spcAft>
                <a:spcPts val="400"/>
              </a:spcAft>
            </a:pPr>
            <a:r>
              <a:rPr sz="1500" i="0">
                <a:solidFill>
                  <a:srgbClr val="FFFFFF"/>
                </a:solidFill>
                <a:latin typeface="Trenda IG Text Semibold"/>
              </a:rPr>
              <a:t>Assess</a:t>
            </a:r>
          </a:p>
          <a:p>
            <a:pPr algn="l" marL="118872" indent="-118872">
              <a:lnSpc>
                <a:spcPct val="100000"/>
              </a:lnSpc>
              <a:spcAft>
                <a:spcPts val="200"/>
              </a:spcAft>
              <a:buClr>
                <a:srgbClr val="00D6F2"/>
              </a:buClr>
              <a:buFont typeface="Arial"/>
              <a:buChar char="•"/>
            </a:pPr>
            <a:r>
              <a:rPr sz="950" i="0">
                <a:solidFill>
                  <a:srgbClr val="FFFFFF"/>
                </a:solidFill>
                <a:latin typeface="Trenda IG Text"/>
              </a:rPr>
              <a:t>Profile the sync and every DE</a:t>
            </a:r>
          </a:p>
          <a:p>
            <a:pPr algn="l" marL="118872" indent="-118872">
              <a:lnSpc>
                <a:spcPct val="100000"/>
              </a:lnSpc>
              <a:spcAft>
                <a:spcPts val="200"/>
              </a:spcAft>
              <a:buClr>
                <a:srgbClr val="00D6F2"/>
              </a:buClr>
              <a:buFont typeface="Arial"/>
              <a:buChar char="•"/>
            </a:pPr>
            <a:r>
              <a:rPr sz="950" i="0">
                <a:solidFill>
                  <a:srgbClr val="FFFFFF"/>
                </a:solidFill>
                <a:latin typeface="Trenda IG Text"/>
              </a:rPr>
              <a:t>Find root causes of bad data</a:t>
            </a:r>
          </a:p>
          <a:p>
            <a:pPr algn="l" marL="118872" indent="-118872">
              <a:lnSpc>
                <a:spcPct val="100000"/>
              </a:lnSpc>
              <a:spcAft>
                <a:spcPts val="200"/>
              </a:spcAft>
              <a:buClr>
                <a:srgbClr val="00D6F2"/>
              </a:buClr>
              <a:buFont typeface="Arial"/>
              <a:buChar char="•"/>
            </a:pPr>
            <a:r>
              <a:rPr sz="950" i="0">
                <a:solidFill>
                  <a:srgbClr val="FFFFFF"/>
                </a:solidFill>
                <a:latin typeface="Trenda IG Text"/>
              </a:rPr>
              <a:t>Agree the BU access model</a:t>
            </a:r>
          </a:p>
        </p:txBody>
      </p:sp>
      <p:sp>
        <p:nvSpPr>
          <p:cNvPr id="43" name="Phase Assess Output"/>
          <p:cNvSpPr txBox="1"/>
          <p:nvPr/>
        </p:nvSpPr>
        <p:spPr>
          <a:xfrm>
            <a:off x="502920" y="5705856"/>
            <a:ext cx="1965960" cy="530352"/>
          </a:xfrm>
          <a:prstGeom prst="rect">
            <a:avLst/>
          </a:prstGeom>
          <a:noFill/>
        </p:spPr>
        <p:txBody>
          <a:bodyPr wrap="square" anchor="b" lIns="109728" rIns="109728" tIns="109728" bIns="109728">
            <a:spAutoFit/>
          </a:bodyPr>
          <a:lstStyle/>
          <a:p>
            <a:pPr algn="l">
              <a:lnSpc>
                <a:spcPct val="100000"/>
              </a:lnSpc>
              <a:spcAft>
                <a:spcPts val="0"/>
              </a:spcAft>
            </a:pPr>
            <a:r>
              <a:rPr sz="900" i="0">
                <a:solidFill>
                  <a:srgbClr val="00D6F2"/>
                </a:solidFill>
                <a:latin typeface="Trenda IG Text Semibold"/>
              </a:rPr>
              <a:t>Delivers  </a:t>
            </a:r>
            <a:r>
              <a:rPr sz="900" i="0">
                <a:solidFill>
                  <a:srgbClr val="C9CED6"/>
                </a:solidFill>
                <a:latin typeface="Trenda IG Text"/>
              </a:rPr>
              <a:t>Data-quality baseline and target design</a:t>
            </a:r>
          </a:p>
        </p:txBody>
      </p:sp>
      <p:sp>
        <p:nvSpPr>
          <p:cNvPr id="44" name="Phase Stabilize"/>
          <p:cNvSpPr/>
          <p:nvPr/>
        </p:nvSpPr>
        <p:spPr>
          <a:xfrm>
            <a:off x="2606039" y="4315968"/>
            <a:ext cx="1965960" cy="1920240"/>
          </a:xfrm>
          <a:prstGeom prst="roundRect">
            <a:avLst>
              <a:gd name="adj" fmla="val 8000"/>
            </a:avLst>
          </a:prstGeom>
          <a:solidFill>
            <a:srgbClr val="000000">
              <a:alpha val="50000"/>
            </a:srgbClr>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Phase Stabilize Text"/>
          <p:cNvSpPr txBox="1"/>
          <p:nvPr/>
        </p:nvSpPr>
        <p:spPr>
          <a:xfrm>
            <a:off x="2606039" y="4315968"/>
            <a:ext cx="1965960" cy="1417320"/>
          </a:xfrm>
          <a:prstGeom prst="rect">
            <a:avLst/>
          </a:prstGeom>
          <a:noFill/>
        </p:spPr>
        <p:txBody>
          <a:bodyPr wrap="square" anchor="t" lIns="109728" rIns="109728" tIns="109728" bIns="109728">
            <a:spAutoFit/>
          </a:bodyPr>
          <a:lstStyle/>
          <a:p>
            <a:pPr algn="l">
              <a:lnSpc>
                <a:spcPct val="100000"/>
              </a:lnSpc>
              <a:spcAft>
                <a:spcPts val="100"/>
              </a:spcAft>
            </a:pPr>
            <a:r>
              <a:rPr sz="850" i="0">
                <a:solidFill>
                  <a:srgbClr val="FFD700"/>
                </a:solidFill>
                <a:latin typeface="Trenda IG Text Semibold"/>
              </a:rPr>
              <a:t>PHASE 1  ·  4–6 WKS</a:t>
            </a:r>
          </a:p>
          <a:p>
            <a:pPr algn="l">
              <a:lnSpc>
                <a:spcPct val="100000"/>
              </a:lnSpc>
              <a:spcAft>
                <a:spcPts val="400"/>
              </a:spcAft>
            </a:pPr>
            <a:r>
              <a:rPr sz="1500" i="0">
                <a:solidFill>
                  <a:srgbClr val="FFFFFF"/>
                </a:solidFill>
                <a:latin typeface="Trenda IG Text Semibold"/>
              </a:rPr>
              <a:t>Stabilize</a:t>
            </a:r>
          </a:p>
          <a:p>
            <a:pPr algn="l" marL="118872" indent="-118872">
              <a:lnSpc>
                <a:spcPct val="100000"/>
              </a:lnSpc>
              <a:spcAft>
                <a:spcPts val="200"/>
              </a:spcAft>
              <a:buClr>
                <a:srgbClr val="FFD700"/>
              </a:buClr>
              <a:buFont typeface="Arial"/>
              <a:buChar char="•"/>
            </a:pPr>
            <a:r>
              <a:rPr sz="950" i="0">
                <a:solidFill>
                  <a:srgbClr val="FFFFFF"/>
                </a:solidFill>
                <a:latin typeface="Trenda IG Text"/>
              </a:rPr>
              <a:t>Subscriber Key to Contact ID</a:t>
            </a:r>
          </a:p>
          <a:p>
            <a:pPr algn="l" marL="118872" indent="-118872">
              <a:lnSpc>
                <a:spcPct val="100000"/>
              </a:lnSpc>
              <a:spcAft>
                <a:spcPts val="200"/>
              </a:spcAft>
              <a:buClr>
                <a:srgbClr val="FFD700"/>
              </a:buClr>
              <a:buFont typeface="Arial"/>
              <a:buChar char="•"/>
            </a:pPr>
            <a:r>
              <a:rPr sz="950" i="0">
                <a:solidFill>
                  <a:srgbClr val="FFFFFF"/>
                </a:solidFill>
                <a:latin typeface="Trenda IG Text"/>
              </a:rPr>
              <a:t>Dedupe, standardize records</a:t>
            </a:r>
          </a:p>
          <a:p>
            <a:pPr algn="l" marL="118872" indent="-118872">
              <a:lnSpc>
                <a:spcPct val="100000"/>
              </a:lnSpc>
              <a:spcAft>
                <a:spcPts val="200"/>
              </a:spcAft>
              <a:buClr>
                <a:srgbClr val="FFD700"/>
              </a:buClr>
              <a:buFont typeface="Arial"/>
              <a:buChar char="•"/>
            </a:pPr>
            <a:r>
              <a:rPr sz="950" i="0">
                <a:solidFill>
                  <a:srgbClr val="FFFFFF"/>
                </a:solidFill>
                <a:latin typeface="Trenda IG Text"/>
              </a:rPr>
              <a:t>Fix the Epic upsert at source</a:t>
            </a:r>
          </a:p>
        </p:txBody>
      </p:sp>
      <p:sp>
        <p:nvSpPr>
          <p:cNvPr id="46" name="Phase Stabilize Output"/>
          <p:cNvSpPr txBox="1"/>
          <p:nvPr/>
        </p:nvSpPr>
        <p:spPr>
          <a:xfrm>
            <a:off x="2606039" y="5705856"/>
            <a:ext cx="1965960" cy="530352"/>
          </a:xfrm>
          <a:prstGeom prst="rect">
            <a:avLst/>
          </a:prstGeom>
          <a:noFill/>
        </p:spPr>
        <p:txBody>
          <a:bodyPr wrap="square" anchor="b" lIns="109728" rIns="109728" tIns="109728" bIns="109728">
            <a:spAutoFit/>
          </a:bodyPr>
          <a:lstStyle/>
          <a:p>
            <a:pPr algn="l">
              <a:lnSpc>
                <a:spcPct val="100000"/>
              </a:lnSpc>
              <a:spcAft>
                <a:spcPts val="0"/>
              </a:spcAft>
            </a:pPr>
            <a:r>
              <a:rPr sz="900" i="0">
                <a:solidFill>
                  <a:srgbClr val="FFD700"/>
                </a:solidFill>
                <a:latin typeface="Trenda IG Text Semibold"/>
              </a:rPr>
              <a:t>Delivers  </a:t>
            </a:r>
            <a:r>
              <a:rPr sz="900" i="0">
                <a:solidFill>
                  <a:srgbClr val="C9CED6"/>
                </a:solidFill>
                <a:latin typeface="Trenda IG Text"/>
              </a:rPr>
              <a:t>One clean patient master</a:t>
            </a:r>
          </a:p>
        </p:txBody>
      </p:sp>
      <p:sp>
        <p:nvSpPr>
          <p:cNvPr id="47" name="Phase Structure"/>
          <p:cNvSpPr/>
          <p:nvPr/>
        </p:nvSpPr>
        <p:spPr>
          <a:xfrm>
            <a:off x="4709159" y="4315968"/>
            <a:ext cx="1965960" cy="1920240"/>
          </a:xfrm>
          <a:prstGeom prst="roundRect">
            <a:avLst>
              <a:gd name="adj" fmla="val 8000"/>
            </a:avLst>
          </a:prstGeom>
          <a:solidFill>
            <a:srgbClr val="000000">
              <a:alpha val="50000"/>
            </a:srgbClr>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hase Structure Text"/>
          <p:cNvSpPr txBox="1"/>
          <p:nvPr/>
        </p:nvSpPr>
        <p:spPr>
          <a:xfrm>
            <a:off x="4709159" y="4315968"/>
            <a:ext cx="1965960" cy="1417320"/>
          </a:xfrm>
          <a:prstGeom prst="rect">
            <a:avLst/>
          </a:prstGeom>
          <a:noFill/>
        </p:spPr>
        <p:txBody>
          <a:bodyPr wrap="square" anchor="t" lIns="109728" rIns="109728" tIns="109728" bIns="109728">
            <a:spAutoFit/>
          </a:bodyPr>
          <a:lstStyle/>
          <a:p>
            <a:pPr algn="l">
              <a:lnSpc>
                <a:spcPct val="100000"/>
              </a:lnSpc>
              <a:spcAft>
                <a:spcPts val="100"/>
              </a:spcAft>
            </a:pPr>
            <a:r>
              <a:rPr sz="850" i="0">
                <a:solidFill>
                  <a:srgbClr val="56E13B"/>
                </a:solidFill>
                <a:latin typeface="Trenda IG Text Semibold"/>
              </a:rPr>
              <a:t>PHASE 2  ·  6–8 WKS</a:t>
            </a:r>
          </a:p>
          <a:p>
            <a:pPr algn="l">
              <a:lnSpc>
                <a:spcPct val="100000"/>
              </a:lnSpc>
              <a:spcAft>
                <a:spcPts val="400"/>
              </a:spcAft>
            </a:pPr>
            <a:r>
              <a:rPr sz="1500" i="0">
                <a:solidFill>
                  <a:srgbClr val="FFFFFF"/>
                </a:solidFill>
                <a:latin typeface="Trenda IG Text Semibold"/>
              </a:rPr>
              <a:t>Structure</a:t>
            </a:r>
          </a:p>
          <a:p>
            <a:pPr algn="l" marL="118872" indent="-118872">
              <a:lnSpc>
                <a:spcPct val="100000"/>
              </a:lnSpc>
              <a:spcAft>
                <a:spcPts val="200"/>
              </a:spcAft>
              <a:buClr>
                <a:srgbClr val="56E13B"/>
              </a:buClr>
              <a:buFont typeface="Arial"/>
              <a:buChar char="•"/>
            </a:pPr>
            <a:r>
              <a:rPr sz="950" i="0">
                <a:solidFill>
                  <a:srgbClr val="FFFFFF"/>
                </a:solidFill>
                <a:latin typeface="Trenda IG Text"/>
              </a:rPr>
              <a:t>Build the 4-layer data model</a:t>
            </a:r>
          </a:p>
          <a:p>
            <a:pPr algn="l" marL="118872" indent="-118872">
              <a:lnSpc>
                <a:spcPct val="100000"/>
              </a:lnSpc>
              <a:spcAft>
                <a:spcPts val="200"/>
              </a:spcAft>
              <a:buClr>
                <a:srgbClr val="56E13B"/>
              </a:buClr>
              <a:buFont typeface="Arial"/>
              <a:buChar char="•"/>
            </a:pPr>
            <a:r>
              <a:rPr sz="950" i="0">
                <a:solidFill>
                  <a:srgbClr val="FFFFFF"/>
                </a:solidFill>
                <a:latin typeface="Trenda IG Text"/>
              </a:rPr>
              <a:t>Set up BUs and shared DEs</a:t>
            </a:r>
          </a:p>
          <a:p>
            <a:pPr algn="l" marL="118872" indent="-118872">
              <a:lnSpc>
                <a:spcPct val="100000"/>
              </a:lnSpc>
              <a:spcAft>
                <a:spcPts val="200"/>
              </a:spcAft>
              <a:buClr>
                <a:srgbClr val="56E13B"/>
              </a:buClr>
              <a:buFont typeface="Arial"/>
              <a:buChar char="•"/>
            </a:pPr>
            <a:r>
              <a:rPr sz="950" i="0">
                <a:solidFill>
                  <a:srgbClr val="FFFFFF"/>
                </a:solidFill>
                <a:latin typeface="Trenda IG Text"/>
              </a:rPr>
              <a:t>Align consent, add providers</a:t>
            </a:r>
          </a:p>
        </p:txBody>
      </p:sp>
      <p:sp>
        <p:nvSpPr>
          <p:cNvPr id="49" name="Phase Structure Output"/>
          <p:cNvSpPr txBox="1"/>
          <p:nvPr/>
        </p:nvSpPr>
        <p:spPr>
          <a:xfrm>
            <a:off x="4709159" y="5705856"/>
            <a:ext cx="1965960" cy="530352"/>
          </a:xfrm>
          <a:prstGeom prst="rect">
            <a:avLst/>
          </a:prstGeom>
          <a:noFill/>
        </p:spPr>
        <p:txBody>
          <a:bodyPr wrap="square" anchor="b" lIns="109728" rIns="109728" tIns="109728" bIns="109728">
            <a:spAutoFit/>
          </a:bodyPr>
          <a:lstStyle/>
          <a:p>
            <a:pPr algn="l">
              <a:lnSpc>
                <a:spcPct val="100000"/>
              </a:lnSpc>
              <a:spcAft>
                <a:spcPts val="0"/>
              </a:spcAft>
            </a:pPr>
            <a:r>
              <a:rPr sz="900" i="0">
                <a:solidFill>
                  <a:srgbClr val="56E13B"/>
                </a:solidFill>
                <a:latin typeface="Trenda IG Text Semibold"/>
              </a:rPr>
              <a:t>Delivers  </a:t>
            </a:r>
            <a:r>
              <a:rPr sz="900" i="0">
                <a:solidFill>
                  <a:srgbClr val="C9CED6"/>
                </a:solidFill>
                <a:latin typeface="Trenda IG Text"/>
              </a:rPr>
              <a:t>Governed foundation, data dictionary, runbooks</a:t>
            </a:r>
          </a:p>
        </p:txBody>
      </p:sp>
      <p:sp>
        <p:nvSpPr>
          <p:cNvPr id="50" name="Phase Sustain"/>
          <p:cNvSpPr/>
          <p:nvPr/>
        </p:nvSpPr>
        <p:spPr>
          <a:xfrm>
            <a:off x="6812279" y="4315968"/>
            <a:ext cx="1965960" cy="1920240"/>
          </a:xfrm>
          <a:prstGeom prst="roundRect">
            <a:avLst>
              <a:gd name="adj" fmla="val 8000"/>
            </a:avLst>
          </a:prstGeom>
          <a:solidFill>
            <a:srgbClr val="000000">
              <a:alpha val="50000"/>
            </a:srgbClr>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Phase Sustain Text"/>
          <p:cNvSpPr txBox="1"/>
          <p:nvPr/>
        </p:nvSpPr>
        <p:spPr>
          <a:xfrm>
            <a:off x="6812279" y="4315968"/>
            <a:ext cx="1965960" cy="1417320"/>
          </a:xfrm>
          <a:prstGeom prst="rect">
            <a:avLst/>
          </a:prstGeom>
          <a:noFill/>
        </p:spPr>
        <p:txBody>
          <a:bodyPr wrap="square" anchor="t" lIns="109728" rIns="109728" tIns="109728" bIns="109728">
            <a:spAutoFit/>
          </a:bodyPr>
          <a:lstStyle/>
          <a:p>
            <a:pPr algn="l">
              <a:lnSpc>
                <a:spcPct val="100000"/>
              </a:lnSpc>
              <a:spcAft>
                <a:spcPts val="100"/>
              </a:spcAft>
            </a:pPr>
            <a:r>
              <a:rPr sz="850" i="0">
                <a:solidFill>
                  <a:srgbClr val="FA8B35"/>
                </a:solidFill>
                <a:latin typeface="Trenda IG Text Semibold"/>
              </a:rPr>
              <a:t>PHASE 3  ·  ONGOING</a:t>
            </a:r>
          </a:p>
          <a:p>
            <a:pPr algn="l">
              <a:lnSpc>
                <a:spcPct val="100000"/>
              </a:lnSpc>
              <a:spcAft>
                <a:spcPts val="400"/>
              </a:spcAft>
            </a:pPr>
            <a:r>
              <a:rPr sz="1500" i="0">
                <a:solidFill>
                  <a:srgbClr val="FFFFFF"/>
                </a:solidFill>
                <a:latin typeface="Trenda IG Text Semibold"/>
              </a:rPr>
              <a:t>Sustain</a:t>
            </a:r>
          </a:p>
          <a:p>
            <a:pPr algn="l" marL="118872" indent="-118872">
              <a:lnSpc>
                <a:spcPct val="100000"/>
              </a:lnSpc>
              <a:spcAft>
                <a:spcPts val="200"/>
              </a:spcAft>
              <a:buClr>
                <a:srgbClr val="FA8B35"/>
              </a:buClr>
              <a:buFont typeface="Arial"/>
              <a:buChar char="•"/>
            </a:pPr>
            <a:r>
              <a:rPr sz="950" i="0">
                <a:solidFill>
                  <a:srgbClr val="FFFFFF"/>
                </a:solidFill>
                <a:latin typeface="Trenda IG Text"/>
              </a:rPr>
              <a:t>Monitor quality, exceptions</a:t>
            </a:r>
          </a:p>
          <a:p>
            <a:pPr algn="l" marL="118872" indent="-118872">
              <a:lnSpc>
                <a:spcPct val="100000"/>
              </a:lnSpc>
              <a:spcAft>
                <a:spcPts val="200"/>
              </a:spcAft>
              <a:buClr>
                <a:srgbClr val="FA8B35"/>
              </a:buClr>
              <a:buFont typeface="Arial"/>
              <a:buChar char="•"/>
            </a:pPr>
            <a:r>
              <a:rPr sz="950" i="0">
                <a:solidFill>
                  <a:srgbClr val="FFFFFF"/>
                </a:solidFill>
                <a:latin typeface="Trenda IG Text"/>
              </a:rPr>
              <a:t>Build new audiences</a:t>
            </a:r>
          </a:p>
          <a:p>
            <a:pPr algn="l" marL="118872" indent="-118872">
              <a:lnSpc>
                <a:spcPct val="100000"/>
              </a:lnSpc>
              <a:spcAft>
                <a:spcPts val="200"/>
              </a:spcAft>
              <a:buClr>
                <a:srgbClr val="FA8B35"/>
              </a:buClr>
              <a:buFont typeface="Arial"/>
              <a:buChar char="•"/>
            </a:pPr>
            <a:r>
              <a:rPr sz="950" i="0">
                <a:solidFill>
                  <a:srgbClr val="FFFFFF"/>
                </a:solidFill>
                <a:latin typeface="Trenda IG Text"/>
              </a:rPr>
              <a:t>Train, hand over to the team</a:t>
            </a:r>
          </a:p>
        </p:txBody>
      </p:sp>
      <p:sp>
        <p:nvSpPr>
          <p:cNvPr id="52" name="Phase Sustain Output"/>
          <p:cNvSpPr txBox="1"/>
          <p:nvPr/>
        </p:nvSpPr>
        <p:spPr>
          <a:xfrm>
            <a:off x="6812279" y="5705856"/>
            <a:ext cx="1965960" cy="530352"/>
          </a:xfrm>
          <a:prstGeom prst="rect">
            <a:avLst/>
          </a:prstGeom>
          <a:noFill/>
        </p:spPr>
        <p:txBody>
          <a:bodyPr wrap="square" anchor="b" lIns="109728" rIns="109728" tIns="109728" bIns="109728">
            <a:spAutoFit/>
          </a:bodyPr>
          <a:lstStyle/>
          <a:p>
            <a:pPr algn="l">
              <a:lnSpc>
                <a:spcPct val="100000"/>
              </a:lnSpc>
              <a:spcAft>
                <a:spcPts val="0"/>
              </a:spcAft>
            </a:pPr>
            <a:r>
              <a:rPr sz="900" i="0">
                <a:solidFill>
                  <a:srgbClr val="FA8B35"/>
                </a:solidFill>
                <a:latin typeface="Trenda IG Text Semibold"/>
              </a:rPr>
              <a:t>Delivers  </a:t>
            </a:r>
            <a:r>
              <a:rPr sz="900" i="0">
                <a:solidFill>
                  <a:srgbClr val="C9CED6"/>
                </a:solidFill>
                <a:latin typeface="Trenda IG Text"/>
              </a:rPr>
              <a:t>Monthly scorecard; provider outreach live</a:t>
            </a:r>
          </a:p>
        </p:txBody>
      </p:sp>
      <p:sp>
        <p:nvSpPr>
          <p:cNvPr id="53" name="S3 Badge"/>
          <p:cNvSpPr/>
          <p:nvPr/>
        </p:nvSpPr>
        <p:spPr>
          <a:xfrm>
            <a:off x="9006840" y="3913632"/>
            <a:ext cx="329184" cy="329184"/>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a:solidFill>
                  <a:srgbClr val="000000"/>
                </a:solidFill>
                <a:latin typeface="Trenda IG Text Semibold"/>
              </a:rPr>
              <a:t>3</a:t>
            </a:r>
          </a:p>
        </p:txBody>
      </p:sp>
      <p:sp>
        <p:nvSpPr>
          <p:cNvPr id="54" name="S3 Heading"/>
          <p:cNvSpPr txBox="1"/>
          <p:nvPr/>
        </p:nvSpPr>
        <p:spPr>
          <a:xfrm>
            <a:off x="9445752" y="3913632"/>
            <a:ext cx="3840480" cy="329184"/>
          </a:xfrm>
          <a:prstGeom prst="rect">
            <a:avLst/>
          </a:prstGeom>
          <a:noFill/>
        </p:spPr>
        <p:txBody>
          <a:bodyPr wrap="square" anchor="ctr" lIns="0" rIns="0" tIns="0" bIns="0">
            <a:spAutoFit/>
          </a:bodyPr>
          <a:lstStyle/>
          <a:p>
            <a:pPr algn="l">
              <a:lnSpc>
                <a:spcPct val="100000"/>
              </a:lnSpc>
              <a:spcAft>
                <a:spcPts val="0"/>
              </a:spcAft>
            </a:pPr>
            <a:r>
              <a:rPr sz="1500" i="0">
                <a:solidFill>
                  <a:srgbClr val="56E13B"/>
                </a:solidFill>
                <a:latin typeface="Trenda IG Text Semibold"/>
              </a:rPr>
              <a:t>Team &amp; Success Measures</a:t>
            </a:r>
          </a:p>
        </p:txBody>
      </p:sp>
      <p:sp>
        <p:nvSpPr>
          <p:cNvPr id="55" name="Team Card"/>
          <p:cNvSpPr/>
          <p:nvPr/>
        </p:nvSpPr>
        <p:spPr>
          <a:xfrm>
            <a:off x="9006840" y="4315968"/>
            <a:ext cx="2697480" cy="1920240"/>
          </a:xfrm>
          <a:prstGeom prst="roundRect">
            <a:avLst>
              <a:gd name="adj" fmla="val 8000"/>
            </a:avLst>
          </a:prstGeom>
          <a:solidFill>
            <a:srgbClr val="000000">
              <a:alpha val="50000"/>
            </a:srgbClr>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am Card Text"/>
          <p:cNvSpPr txBox="1"/>
          <p:nvPr/>
        </p:nvSpPr>
        <p:spPr>
          <a:xfrm>
            <a:off x="9006840" y="4315968"/>
            <a:ext cx="2697480" cy="1920240"/>
          </a:xfrm>
          <a:prstGeom prst="rect">
            <a:avLst/>
          </a:prstGeom>
          <a:noFill/>
        </p:spPr>
        <p:txBody>
          <a:bodyPr wrap="square" anchor="t" lIns="109728" rIns="109728" tIns="109728" bIns="109728">
            <a:spAutoFit/>
          </a:bodyPr>
          <a:lstStyle/>
          <a:p>
            <a:pPr algn="l">
              <a:lnSpc>
                <a:spcPct val="100000"/>
              </a:lnSpc>
              <a:spcAft>
                <a:spcPts val="300"/>
              </a:spcAft>
            </a:pPr>
            <a:r>
              <a:rPr sz="1000" i="0">
                <a:solidFill>
                  <a:srgbClr val="56E13B"/>
                </a:solidFill>
                <a:latin typeface="Trenda IG Text Semibold"/>
              </a:rPr>
              <a:t>IG pod inside the Foundation Team</a:t>
            </a:r>
          </a:p>
          <a:p>
            <a:pPr algn="l" marL="118872" indent="-118872">
              <a:lnSpc>
                <a:spcPct val="100000"/>
              </a:lnSpc>
              <a:spcAft>
                <a:spcPts val="100"/>
              </a:spcAft>
              <a:buClr>
                <a:srgbClr val="56E13B"/>
              </a:buClr>
              <a:buFont typeface="Arial"/>
              <a:buChar char="•"/>
            </a:pPr>
            <a:r>
              <a:rPr sz="950" i="0">
                <a:solidFill>
                  <a:srgbClr val="FFFFFF"/>
                </a:solidFill>
                <a:latin typeface="Trenda IG Text"/>
              </a:rPr>
              <a:t>1 SFMC data architect / lead</a:t>
            </a:r>
          </a:p>
          <a:p>
            <a:pPr algn="l" marL="118872" indent="-118872">
              <a:lnSpc>
                <a:spcPct val="100000"/>
              </a:lnSpc>
              <a:spcAft>
                <a:spcPts val="100"/>
              </a:spcAft>
              <a:buClr>
                <a:srgbClr val="56E13B"/>
              </a:buClr>
              <a:buFont typeface="Arial"/>
              <a:buChar char="•"/>
            </a:pPr>
            <a:r>
              <a:rPr sz="950" i="0">
                <a:solidFill>
                  <a:srgbClr val="FFFFFF"/>
                </a:solidFill>
                <a:latin typeface="Trenda IG Text"/>
              </a:rPr>
              <a:t>1–2 SFMC developers (SQL, AMPscript)</a:t>
            </a:r>
          </a:p>
          <a:p>
            <a:pPr algn="l" marL="118872" indent="-118872">
              <a:lnSpc>
                <a:spcPct val="100000"/>
              </a:lnSpc>
              <a:spcAft>
                <a:spcPts val="100"/>
              </a:spcAft>
              <a:buClr>
                <a:srgbClr val="56E13B"/>
              </a:buClr>
              <a:buFont typeface="Arial"/>
              <a:buChar char="•"/>
            </a:pPr>
            <a:r>
              <a:rPr sz="950" i="0">
                <a:solidFill>
                  <a:srgbClr val="FFFFFF"/>
                </a:solidFill>
                <a:latin typeface="Trenda IG Text"/>
              </a:rPr>
              <a:t>Health Cloud admin, part-time</a:t>
            </a:r>
          </a:p>
          <a:p>
            <a:pPr algn="l">
              <a:lnSpc>
                <a:spcPct val="100000"/>
              </a:lnSpc>
              <a:spcBef>
                <a:spcPts val="600"/>
              </a:spcBef>
              <a:spcAft>
                <a:spcPts val="300"/>
              </a:spcAft>
            </a:pPr>
            <a:r>
              <a:rPr sz="1000" i="0">
                <a:solidFill>
                  <a:srgbClr val="56E13B"/>
                </a:solidFill>
                <a:latin typeface="Trenda IG Text Semibold"/>
              </a:rPr>
              <a:t>How we measure success</a:t>
            </a:r>
          </a:p>
          <a:p>
            <a:pPr algn="l" marL="118872" indent="-118872">
              <a:lnSpc>
                <a:spcPct val="100000"/>
              </a:lnSpc>
              <a:spcAft>
                <a:spcPts val="100"/>
              </a:spcAft>
              <a:buClr>
                <a:srgbClr val="56E13B"/>
              </a:buClr>
              <a:buFont typeface="Arial"/>
              <a:buChar char="•"/>
            </a:pPr>
            <a:r>
              <a:rPr sz="950" i="0">
                <a:solidFill>
                  <a:srgbClr val="FFFFFF"/>
                </a:solidFill>
                <a:latin typeface="Trenda IG Text"/>
              </a:rPr>
              <a:t>Duplicate rate down</a:t>
            </a:r>
          </a:p>
          <a:p>
            <a:pPr algn="l" marL="118872" indent="-118872">
              <a:lnSpc>
                <a:spcPct val="100000"/>
              </a:lnSpc>
              <a:spcAft>
                <a:spcPts val="100"/>
              </a:spcAft>
              <a:buClr>
                <a:srgbClr val="56E13B"/>
              </a:buClr>
              <a:buFont typeface="Arial"/>
              <a:buChar char="•"/>
            </a:pPr>
            <a:r>
              <a:rPr sz="950" i="0">
                <a:solidFill>
                  <a:srgbClr val="FFFFFF"/>
                </a:solidFill>
                <a:latin typeface="Trenda IG Text"/>
              </a:rPr>
              <a:t>Sendable, consented rate up</a:t>
            </a:r>
          </a:p>
          <a:p>
            <a:pPr algn="l" marL="118872" indent="-118872">
              <a:lnSpc>
                <a:spcPct val="100000"/>
              </a:lnSpc>
              <a:spcAft>
                <a:spcPts val="100"/>
              </a:spcAft>
              <a:buClr>
                <a:srgbClr val="56E13B"/>
              </a:buClr>
              <a:buFont typeface="Arial"/>
              <a:buChar char="•"/>
            </a:pPr>
            <a:r>
              <a:rPr sz="950" i="0">
                <a:solidFill>
                  <a:srgbClr val="FFFFFF"/>
                </a:solidFill>
                <a:latin typeface="Trenda IG Text"/>
              </a:rPr>
              <a:t>Sync errors down</a:t>
            </a:r>
          </a:p>
          <a:p>
            <a:pPr algn="l" marL="118872" indent="-118872">
              <a:lnSpc>
                <a:spcPct val="100000"/>
              </a:lnSpc>
              <a:spcAft>
                <a:spcPts val="100"/>
              </a:spcAft>
              <a:buClr>
                <a:srgbClr val="56E13B"/>
              </a:buClr>
              <a:buFont typeface="Arial"/>
              <a:buChar char="•"/>
            </a:pPr>
            <a:r>
              <a:rPr sz="950" i="0">
                <a:solidFill>
                  <a:srgbClr val="FFFFFF"/>
                </a:solidFill>
                <a:latin typeface="Trenda IG Text"/>
              </a:rPr>
              <a:t>Audiences built in days, not weeks</a:t>
            </a:r>
          </a:p>
        </p:txBody>
      </p:sp>
      <p:pic>
        <p:nvPicPr>
          <p:cNvPr id="57" name="IG Footer Mark" descr="ig-mark-white.png"/>
          <p:cNvPicPr>
            <a:picLocks noChangeAspect="1"/>
          </p:cNvPicPr>
          <p:nvPr/>
        </p:nvPicPr>
        <p:blipFill>
          <a:blip r:embed="rId3"/>
          <a:stretch>
            <a:fillRect/>
          </a:stretch>
        </p:blipFill>
        <p:spPr>
          <a:xfrm>
            <a:off x="502920" y="6428232"/>
            <a:ext cx="730958" cy="152704"/>
          </a:xfrm>
          <a:prstGeom prst="rect">
            <a:avLst/>
          </a:prstGeom>
        </p:spPr>
      </p:pic>
      <p:sp>
        <p:nvSpPr>
          <p:cNvPr id="58" name="IG Footer Page Number"/>
          <p:cNvSpPr txBox="1"/>
          <p:nvPr/>
        </p:nvSpPr>
        <p:spPr>
          <a:xfrm>
            <a:off x="11228832" y="6400800"/>
            <a:ext cx="475488" cy="201168"/>
          </a:xfrm>
          <a:prstGeom prst="rect">
            <a:avLst/>
          </a:prstGeom>
          <a:noFill/>
        </p:spPr>
        <p:txBody>
          <a:bodyPr wrap="square" anchor="t" lIns="0" rIns="0" tIns="0" bIns="0">
            <a:spAutoFit/>
          </a:bodyPr>
          <a:lstStyle/>
          <a:p>
            <a:pPr algn="r">
              <a:lnSpc>
                <a:spcPct val="100000"/>
              </a:lnSpc>
              <a:spcAft>
                <a:spcPts val="0"/>
              </a:spcAft>
            </a:pPr>
            <a:fld id="{B6F15528-21DE-4FAA-801E-634DDDAF4B2B}" type="slidenum">
              <a:rPr lang="en-US" sz="800">
                <a:solidFill>
                  <a:srgbClr val="FFFFFF"/>
                </a:solidFill>
                <a:latin typeface="Trenda IG Text"/>
              </a:rPr>
              <a:t>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