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2" r:id="rId36"/>
    <p:sldId id="333" r:id="rId6"/>
    <p:sldId id="324" r:id="rId7"/>
    <p:sldId id="325" r:id="rId8"/>
    <p:sldId id="327" r:id="rId9"/>
    <p:sldId id="328" r:id="rId10"/>
    <p:sldId id="326" r:id="rId11"/>
    <p:sldId id="334" r:id="rId12"/>
    <p:sldId id="339" r:id="rId33"/>
    <p:sldId id="343" r:id="rId37"/>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(about 2 minutes)</a:t>
            </a:r>
          </a:p>
          <a:p/>
          <a:p>
            <a:r>
              <a:t>KEY MESSAGE</a:t>
            </a:r>
          </a:p>
          <a:p>
            <a:r>
              <a:t>The model is not the product; the harness is. Harness engineering is the emerging discipline (named by OpenAI's Codex team in early 2026) of engineering everything around the model: what it knows, the rules it cannot break, how it learns from misses, and how quality is kept from decaying. Our design covers all six; two practices are added from that work.</a:t>
            </a:r>
          </a:p>
          <a:p/>
          <a:p>
            <a:r>
              <a:t>WALK IT</a:t>
            </a:r>
          </a:p>
          <a:p>
            <a:r>
              <a:t>- 01 Context engineering: the knowledge graph. This is Phase 1.</a:t>
            </a:r>
          </a:p>
          <a:p>
            <a:r>
              <a:t>- 02 Agent legibility (added): every Salesforce repo gets a short AGENTS.md, the file Codex reads first. It is a map, not a manual: it points to Ascension standards, the pod's skill pack and the graph tools. OpenAI's team found one giant instruction file fails; a short map into versioned docs works.</a:t>
            </a:r>
          </a:p>
          <a:p>
            <a:r>
              <a:t>- 03 Architectural constraints: the Change Guardian rulebook, Code Analyzer, CI checks and the gateway allow list. Machines enforce the rules, so reviewers look at intent, not formatting.</a:t>
            </a:r>
          </a:p>
          <a:p>
            <a:r>
              <a:t>- 04 Feedback loops: the evaluation set gates every change to prompts, skills or models; every rejection and incident feeds back.</a:t>
            </a:r>
          </a:p>
          <a:p>
            <a:r>
              <a:t>- 05 Entropy management (added): scheduled clean-up runs, what OpenAI calls garbage collection. Nightly scans for org drift (unused fields, duplicate Flows, hardcoded IDs) and doc gardening: Confluence pages that no longer match the org get a fix-up draft for the owner. These are scheduled runs of the Review Agent, not a new agent, and every fix goes through the same gates.</a:t>
            </a:r>
          </a:p>
          <a:p>
            <a:r>
              <a:t>- 06 Observability and steering: change passport, gateway log, approvals. Humans steer; agents execute.</a:t>
            </a:r>
          </a:p>
          <a:p/>
          <a:p>
            <a:r>
              <a:t>THE RULE AT THE BOTTOM</a:t>
            </a:r>
          </a:p>
          <a:p>
            <a:r>
              <a:t>When an agent struggles, we do not tweak a prompt for one story. We find what was missing (a tool, a rule, a document, a test), add it to the harness once, and every pod gets it.</a:t>
            </a:r>
          </a:p>
          <a:p/>
          <a:p>
            <a:r>
              <a:t>IF ASKED</a:t>
            </a:r>
          </a:p>
          <a:p>
            <a:r>
              <a:t>- Does this change the team or the price? No. AGENTS.md files are written by the harness engineers with the Salesforce developers as part of the pod skill packs; clean-up runs reuse the Review Agent.</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Codex Enterprise is the engine. Harness engineering is the discipline of building everything around it, so agents stay reliable at scale. Six disciplines, and where each lives in our harness.</a:t>
            </a:r>
          </a:p>
        </p:txBody>
      </p:sp>
      <p:sp>
        <p:nvSpPr>
          <p:cNvPr id="5" name="Differentiator Border 5"/>
          <p:cNvSpPr/>
          <p:nvPr/>
        </p:nvSpPr>
        <p:spPr>
          <a:xfrm>
            <a:off x="8211311"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8243315"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595359" y="192024"/>
            <a:ext cx="3200400" cy="164592"/>
          </a:xfrm>
          <a:prstGeom prst="rect">
            <a:avLst/>
          </a:prstGeom>
          <a:noFill/>
        </p:spPr>
        <p:txBody>
          <a:bodyPr wrap="square" lIns="0" rIns="0" tIns="0" bIns="0" anchor="ctr">
            <a:spAutoFit/>
          </a:bodyPr>
          <a:lstStyle/>
          <a:p>
            <a:r>
              <a:rPr sz="650" b="1" i="0" spc="150">
                <a:solidFill>
                  <a:srgbClr val="000000"/>
                </a:solidFill>
                <a:latin typeface="Trenda IG Text"/>
              </a:rPr>
              <a:t>ADDED</a:t>
            </a:r>
            <a:r>
              <a:rPr sz="650" b="0" i="0">
                <a:solidFill>
                  <a:srgbClr val="595959"/>
                </a:solidFill>
                <a:latin typeface="Trenda IG Text"/>
              </a:rPr>
              <a:t>   new in our design from harness engineering</a:t>
            </a:r>
          </a:p>
        </p:txBody>
      </p:sp>
      <p:sp>
        <p:nvSpPr>
          <p:cNvPr id="8" name="Shape 8"/>
          <p:cNvSpPr/>
          <p:nvPr/>
        </p:nvSpPr>
        <p:spPr>
          <a:xfrm>
            <a:off x="411480" y="1207008"/>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76072" y="1335024"/>
            <a:ext cx="365760" cy="274320"/>
          </a:xfrm>
          <a:prstGeom prst="rect">
            <a:avLst/>
          </a:prstGeom>
          <a:noFill/>
        </p:spPr>
        <p:txBody>
          <a:bodyPr wrap="square" lIns="0" rIns="0" tIns="0" bIns="0" anchor="ctr">
            <a:spAutoFit/>
          </a:bodyPr>
          <a:lstStyle/>
          <a:p>
            <a:r>
              <a:rPr sz="1600" b="0" i="0">
                <a:solidFill>
                  <a:srgbClr val="595959"/>
                </a:solidFill>
                <a:latin typeface="Trenda IG Text Light"/>
              </a:rPr>
              <a:t>01</a:t>
            </a:r>
          </a:p>
        </p:txBody>
      </p:sp>
      <p:sp>
        <p:nvSpPr>
          <p:cNvPr id="10" name="Text 10"/>
          <p:cNvSpPr txBox="1"/>
          <p:nvPr/>
        </p:nvSpPr>
        <p:spPr>
          <a:xfrm>
            <a:off x="978408" y="1316736"/>
            <a:ext cx="2203703" cy="310896"/>
          </a:xfrm>
          <a:prstGeom prst="rect">
            <a:avLst/>
          </a:prstGeom>
          <a:noFill/>
        </p:spPr>
        <p:txBody>
          <a:bodyPr wrap="square" lIns="0" rIns="0" tIns="0" bIns="0" anchor="ctr">
            <a:spAutoFit/>
          </a:bodyPr>
          <a:lstStyle/>
          <a:p>
            <a:r>
              <a:rPr sz="1200" b="1" i="0">
                <a:solidFill>
                  <a:srgbClr val="000000"/>
                </a:solidFill>
                <a:latin typeface="Trenda IG Text"/>
              </a:rPr>
              <a:t>Context engineering</a:t>
            </a:r>
          </a:p>
        </p:txBody>
      </p:sp>
      <p:sp>
        <p:nvSpPr>
          <p:cNvPr id="11" name="Shape 11"/>
          <p:cNvSpPr/>
          <p:nvPr/>
        </p:nvSpPr>
        <p:spPr>
          <a:xfrm>
            <a:off x="3321100" y="1389888"/>
            <a:ext cx="629107" cy="155448"/>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2"/>
          <p:cNvSpPr txBox="1"/>
          <p:nvPr/>
        </p:nvSpPr>
        <p:spPr>
          <a:xfrm>
            <a:off x="3321100" y="1389888"/>
            <a:ext cx="629107" cy="155448"/>
          </a:xfrm>
          <a:prstGeom prst="rect">
            <a:avLst/>
          </a:prstGeom>
          <a:noFill/>
        </p:spPr>
        <p:txBody>
          <a:bodyPr wrap="square" lIns="0" rIns="0" tIns="0" bIns="0" anchor="ctr">
            <a:spAutoFit/>
          </a:bodyPr>
          <a:lstStyle/>
          <a:p>
            <a:pPr algn="ctr"/>
            <a:r>
              <a:rPr sz="550" b="1" i="0" spc="100">
                <a:solidFill>
                  <a:srgbClr val="FFFFFF"/>
                </a:solidFill>
                <a:latin typeface="Trenda IG Text"/>
              </a:rPr>
              <a:t>IN PLACE</a:t>
            </a:r>
          </a:p>
        </p:txBody>
      </p:sp>
      <p:sp>
        <p:nvSpPr>
          <p:cNvPr id="13" name="Text 13"/>
          <p:cNvSpPr txBox="1"/>
          <p:nvPr/>
        </p:nvSpPr>
        <p:spPr>
          <a:xfrm>
            <a:off x="576072" y="1664208"/>
            <a:ext cx="3337560" cy="201168"/>
          </a:xfrm>
          <a:prstGeom prst="rect">
            <a:avLst/>
          </a:prstGeom>
          <a:noFill/>
        </p:spPr>
        <p:txBody>
          <a:bodyPr wrap="square" lIns="0" rIns="0" tIns="0" bIns="0" anchor="t">
            <a:spAutoFit/>
          </a:bodyPr>
          <a:lstStyle/>
          <a:p>
            <a:r>
              <a:rPr sz="850" b="0" i="0">
                <a:solidFill>
                  <a:srgbClr val="595959"/>
                </a:solidFill>
                <a:latin typeface="Trenda IG Text"/>
              </a:rPr>
              <a:t>What the agent knows before it acts</a:t>
            </a:r>
          </a:p>
        </p:txBody>
      </p:sp>
      <p:sp>
        <p:nvSpPr>
          <p:cNvPr id="14" name="Shape 14"/>
          <p:cNvSpPr/>
          <p:nvPr/>
        </p:nvSpPr>
        <p:spPr>
          <a:xfrm>
            <a:off x="576072" y="1920240"/>
            <a:ext cx="3337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5"/>
          <p:cNvSpPr txBox="1"/>
          <p:nvPr/>
        </p:nvSpPr>
        <p:spPr>
          <a:xfrm>
            <a:off x="576072" y="1993392"/>
            <a:ext cx="3337560"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16" name="Text 16"/>
          <p:cNvSpPr txBox="1"/>
          <p:nvPr/>
        </p:nvSpPr>
        <p:spPr>
          <a:xfrm>
            <a:off x="576072" y="2176272"/>
            <a:ext cx="3337560"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Engineering Context Knowledge Graph from six sources</a:t>
            </a:r>
          </a:p>
          <a:p>
            <a:pPr>
              <a:spcAft>
                <a:spcPts val="300"/>
              </a:spcAft>
            </a:pPr>
            <a:r>
              <a:rPr sz="800" b="0" i="0">
                <a:solidFill>
                  <a:srgbClr val="00D6F2"/>
                </a:solidFill>
                <a:latin typeface="Trenda IG Text"/>
              </a:rPr>
              <a:t>▪  </a:t>
            </a:r>
            <a:r>
              <a:rPr sz="800" b="0" i="0">
                <a:solidFill>
                  <a:srgbClr val="000000"/>
                </a:solidFill>
                <a:latin typeface="Trenda IG Text"/>
              </a:rPr>
              <a:t>Every fact cited to its source and snapshot</a:t>
            </a:r>
          </a:p>
          <a:p>
            <a:pPr>
              <a:spcAft>
                <a:spcPts val="300"/>
              </a:spcAft>
            </a:pPr>
            <a:r>
              <a:rPr sz="800" b="0" i="0">
                <a:solidFill>
                  <a:srgbClr val="00D6F2"/>
                </a:solidFill>
                <a:latin typeface="Trenda IG Text"/>
              </a:rPr>
              <a:t>▪  </a:t>
            </a:r>
            <a:r>
              <a:rPr sz="800" b="0" i="0">
                <a:solidFill>
                  <a:srgbClr val="000000"/>
                </a:solidFill>
                <a:latin typeface="Trenda IG Text"/>
              </a:rPr>
              <a:t>Each step gets a bounded, redacted context slice</a:t>
            </a:r>
          </a:p>
        </p:txBody>
      </p:sp>
      <p:sp>
        <p:nvSpPr>
          <p:cNvPr id="17" name="Differentiator Border 18"/>
          <p:cNvSpPr/>
          <p:nvPr/>
        </p:nvSpPr>
        <p:spPr>
          <a:xfrm>
            <a:off x="4261104" y="1207008"/>
            <a:ext cx="3666744" cy="19385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9"/>
          <p:cNvSpPr/>
          <p:nvPr/>
        </p:nvSpPr>
        <p:spPr>
          <a:xfrm>
            <a:off x="4302252" y="1248156"/>
            <a:ext cx="3584448" cy="1856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20"/>
          <p:cNvSpPr txBox="1"/>
          <p:nvPr/>
        </p:nvSpPr>
        <p:spPr>
          <a:xfrm>
            <a:off x="4466844" y="1376172"/>
            <a:ext cx="365760" cy="274320"/>
          </a:xfrm>
          <a:prstGeom prst="rect">
            <a:avLst/>
          </a:prstGeom>
          <a:noFill/>
        </p:spPr>
        <p:txBody>
          <a:bodyPr wrap="square" lIns="0" rIns="0" tIns="0" bIns="0" anchor="ctr">
            <a:spAutoFit/>
          </a:bodyPr>
          <a:lstStyle/>
          <a:p>
            <a:r>
              <a:rPr sz="1600" b="0" i="0">
                <a:solidFill>
                  <a:srgbClr val="595959"/>
                </a:solidFill>
                <a:latin typeface="Trenda IG Text Light"/>
              </a:rPr>
              <a:t>02</a:t>
            </a:r>
          </a:p>
        </p:txBody>
      </p:sp>
      <p:sp>
        <p:nvSpPr>
          <p:cNvPr id="20" name="Text 21"/>
          <p:cNvSpPr txBox="1"/>
          <p:nvPr/>
        </p:nvSpPr>
        <p:spPr>
          <a:xfrm>
            <a:off x="4869180" y="1357884"/>
            <a:ext cx="2121408" cy="310896"/>
          </a:xfrm>
          <a:prstGeom prst="rect">
            <a:avLst/>
          </a:prstGeom>
          <a:noFill/>
        </p:spPr>
        <p:txBody>
          <a:bodyPr wrap="square" lIns="0" rIns="0" tIns="0" bIns="0" anchor="ctr">
            <a:spAutoFit/>
          </a:bodyPr>
          <a:lstStyle/>
          <a:p>
            <a:r>
              <a:rPr sz="1200" b="1" i="0">
                <a:solidFill>
                  <a:srgbClr val="000000"/>
                </a:solidFill>
                <a:latin typeface="Trenda IG Text"/>
              </a:rPr>
              <a:t>Agent legibility</a:t>
            </a:r>
          </a:p>
        </p:txBody>
      </p:sp>
      <p:sp>
        <p:nvSpPr>
          <p:cNvPr id="21" name="Shape 22"/>
          <p:cNvSpPr/>
          <p:nvPr/>
        </p:nvSpPr>
        <p:spPr>
          <a:xfrm>
            <a:off x="7310628" y="1431036"/>
            <a:ext cx="448056" cy="155448"/>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3"/>
          <p:cNvSpPr txBox="1"/>
          <p:nvPr/>
        </p:nvSpPr>
        <p:spPr>
          <a:xfrm>
            <a:off x="7310628" y="1431036"/>
            <a:ext cx="448056" cy="155448"/>
          </a:xfrm>
          <a:prstGeom prst="rect">
            <a:avLst/>
          </a:prstGeom>
          <a:noFill/>
        </p:spPr>
        <p:txBody>
          <a:bodyPr wrap="square" lIns="0" rIns="0" tIns="0" bIns="0" anchor="ctr">
            <a:spAutoFit/>
          </a:bodyPr>
          <a:lstStyle/>
          <a:p>
            <a:pPr algn="ctr"/>
            <a:r>
              <a:rPr sz="550" b="1" i="0" spc="100">
                <a:solidFill>
                  <a:srgbClr val="FFFFFF"/>
                </a:solidFill>
                <a:latin typeface="Trenda IG Text"/>
              </a:rPr>
              <a:t>ADDED</a:t>
            </a:r>
          </a:p>
        </p:txBody>
      </p:sp>
      <p:sp>
        <p:nvSpPr>
          <p:cNvPr id="23" name="Text 24"/>
          <p:cNvSpPr txBox="1"/>
          <p:nvPr/>
        </p:nvSpPr>
        <p:spPr>
          <a:xfrm>
            <a:off x="4466844" y="1705356"/>
            <a:ext cx="3255264" cy="201168"/>
          </a:xfrm>
          <a:prstGeom prst="rect">
            <a:avLst/>
          </a:prstGeom>
          <a:noFill/>
        </p:spPr>
        <p:txBody>
          <a:bodyPr wrap="square" lIns="0" rIns="0" tIns="0" bIns="0" anchor="t">
            <a:spAutoFit/>
          </a:bodyPr>
          <a:lstStyle/>
          <a:p>
            <a:r>
              <a:rPr sz="850" b="0" i="0">
                <a:solidFill>
                  <a:srgbClr val="595959"/>
                </a:solidFill>
                <a:latin typeface="Trenda IG Text"/>
              </a:rPr>
              <a:t>Make the estate readable to an agent</a:t>
            </a:r>
          </a:p>
        </p:txBody>
      </p:sp>
      <p:sp>
        <p:nvSpPr>
          <p:cNvPr id="24" name="Shape 25"/>
          <p:cNvSpPr/>
          <p:nvPr/>
        </p:nvSpPr>
        <p:spPr>
          <a:xfrm>
            <a:off x="4466844" y="1961388"/>
            <a:ext cx="325526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6"/>
          <p:cNvSpPr txBox="1"/>
          <p:nvPr/>
        </p:nvSpPr>
        <p:spPr>
          <a:xfrm>
            <a:off x="4466844" y="2034540"/>
            <a:ext cx="325526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26" name="Text 27"/>
          <p:cNvSpPr txBox="1"/>
          <p:nvPr/>
        </p:nvSpPr>
        <p:spPr>
          <a:xfrm>
            <a:off x="4466844" y="2217420"/>
            <a:ext cx="3255264" cy="832104"/>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AGENTS.md in each repo: the map Codex reads first</a:t>
            </a:r>
          </a:p>
          <a:p>
            <a:pPr>
              <a:spcAft>
                <a:spcPts val="300"/>
              </a:spcAft>
            </a:pPr>
            <a:r>
              <a:rPr sz="800" b="0" i="0">
                <a:solidFill>
                  <a:srgbClr val="00D6F2"/>
                </a:solidFill>
                <a:latin typeface="Trenda IG Text"/>
              </a:rPr>
              <a:t>▪  </a:t>
            </a:r>
            <a:r>
              <a:rPr sz="800" b="0" i="0">
                <a:solidFill>
                  <a:srgbClr val="000000"/>
                </a:solidFill>
                <a:latin typeface="Trenda IG Text"/>
              </a:rPr>
              <a:t>Points to Ascension standards, pod skill packs and graph tools</a:t>
            </a:r>
          </a:p>
          <a:p>
            <a:pPr>
              <a:spcAft>
                <a:spcPts val="300"/>
              </a:spcAft>
            </a:pPr>
            <a:r>
              <a:rPr sz="800" b="0" i="0">
                <a:solidFill>
                  <a:srgbClr val="00D6F2"/>
                </a:solidFill>
                <a:latin typeface="Trenda IG Text"/>
              </a:rPr>
              <a:t>▪  </a:t>
            </a:r>
            <a:r>
              <a:rPr sz="800" b="0" i="0">
                <a:solidFill>
                  <a:srgbClr val="000000"/>
                </a:solidFill>
                <a:latin typeface="Trenda IG Text"/>
              </a:rPr>
              <a:t>Docs and skills kept in the repo, versioned with the code</a:t>
            </a:r>
          </a:p>
        </p:txBody>
      </p:sp>
      <p:sp>
        <p:nvSpPr>
          <p:cNvPr id="27" name="Shape 28"/>
          <p:cNvSpPr/>
          <p:nvPr/>
        </p:nvSpPr>
        <p:spPr>
          <a:xfrm>
            <a:off x="8110727" y="1207008"/>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9"/>
          <p:cNvSpPr txBox="1"/>
          <p:nvPr/>
        </p:nvSpPr>
        <p:spPr>
          <a:xfrm>
            <a:off x="8275319" y="1335024"/>
            <a:ext cx="365760" cy="274320"/>
          </a:xfrm>
          <a:prstGeom prst="rect">
            <a:avLst/>
          </a:prstGeom>
          <a:noFill/>
        </p:spPr>
        <p:txBody>
          <a:bodyPr wrap="square" lIns="0" rIns="0" tIns="0" bIns="0" anchor="ctr">
            <a:spAutoFit/>
          </a:bodyPr>
          <a:lstStyle/>
          <a:p>
            <a:r>
              <a:rPr sz="1600" b="0" i="0">
                <a:solidFill>
                  <a:srgbClr val="595959"/>
                </a:solidFill>
                <a:latin typeface="Trenda IG Text Light"/>
              </a:rPr>
              <a:t>03</a:t>
            </a:r>
          </a:p>
        </p:txBody>
      </p:sp>
      <p:sp>
        <p:nvSpPr>
          <p:cNvPr id="29" name="Text 30"/>
          <p:cNvSpPr txBox="1"/>
          <p:nvPr/>
        </p:nvSpPr>
        <p:spPr>
          <a:xfrm>
            <a:off x="8677655" y="1316736"/>
            <a:ext cx="2203703" cy="310896"/>
          </a:xfrm>
          <a:prstGeom prst="rect">
            <a:avLst/>
          </a:prstGeom>
          <a:noFill/>
        </p:spPr>
        <p:txBody>
          <a:bodyPr wrap="square" lIns="0" rIns="0" tIns="0" bIns="0" anchor="ctr">
            <a:spAutoFit/>
          </a:bodyPr>
          <a:lstStyle/>
          <a:p>
            <a:r>
              <a:rPr sz="1200" b="1" i="0">
                <a:solidFill>
                  <a:srgbClr val="000000"/>
                </a:solidFill>
                <a:latin typeface="Trenda IG Text"/>
              </a:rPr>
              <a:t>Architectural constraints</a:t>
            </a:r>
          </a:p>
        </p:txBody>
      </p:sp>
      <p:sp>
        <p:nvSpPr>
          <p:cNvPr id="30" name="Shape 31"/>
          <p:cNvSpPr/>
          <p:nvPr/>
        </p:nvSpPr>
        <p:spPr>
          <a:xfrm>
            <a:off x="11020348" y="1389888"/>
            <a:ext cx="629107" cy="155448"/>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11020348" y="1389888"/>
            <a:ext cx="629107" cy="155448"/>
          </a:xfrm>
          <a:prstGeom prst="rect">
            <a:avLst/>
          </a:prstGeom>
          <a:noFill/>
        </p:spPr>
        <p:txBody>
          <a:bodyPr wrap="square" lIns="0" rIns="0" tIns="0" bIns="0" anchor="ctr">
            <a:spAutoFit/>
          </a:bodyPr>
          <a:lstStyle/>
          <a:p>
            <a:pPr algn="ctr"/>
            <a:r>
              <a:rPr sz="550" b="1" i="0" spc="100">
                <a:solidFill>
                  <a:srgbClr val="FFFFFF"/>
                </a:solidFill>
                <a:latin typeface="Trenda IG Text"/>
              </a:rPr>
              <a:t>IN PLACE</a:t>
            </a:r>
          </a:p>
        </p:txBody>
      </p:sp>
      <p:sp>
        <p:nvSpPr>
          <p:cNvPr id="32" name="Text 33"/>
          <p:cNvSpPr txBox="1"/>
          <p:nvPr/>
        </p:nvSpPr>
        <p:spPr>
          <a:xfrm>
            <a:off x="8275319" y="1664208"/>
            <a:ext cx="3337560" cy="201168"/>
          </a:xfrm>
          <a:prstGeom prst="rect">
            <a:avLst/>
          </a:prstGeom>
          <a:noFill/>
        </p:spPr>
        <p:txBody>
          <a:bodyPr wrap="square" lIns="0" rIns="0" tIns="0" bIns="0" anchor="t">
            <a:spAutoFit/>
          </a:bodyPr>
          <a:lstStyle/>
          <a:p>
            <a:r>
              <a:rPr sz="850" b="0" i="0">
                <a:solidFill>
                  <a:srgbClr val="595959"/>
                </a:solidFill>
                <a:latin typeface="Trenda IG Text"/>
              </a:rPr>
              <a:t>Rules a machine enforces, not a reviewer</a:t>
            </a:r>
          </a:p>
        </p:txBody>
      </p:sp>
      <p:sp>
        <p:nvSpPr>
          <p:cNvPr id="33" name="Shape 34"/>
          <p:cNvSpPr/>
          <p:nvPr/>
        </p:nvSpPr>
        <p:spPr>
          <a:xfrm>
            <a:off x="8275319" y="1920240"/>
            <a:ext cx="3337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5"/>
          <p:cNvSpPr txBox="1"/>
          <p:nvPr/>
        </p:nvSpPr>
        <p:spPr>
          <a:xfrm>
            <a:off x="8275319" y="1993392"/>
            <a:ext cx="3337560"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35" name="Text 36"/>
          <p:cNvSpPr txBox="1"/>
          <p:nvPr/>
        </p:nvSpPr>
        <p:spPr>
          <a:xfrm>
            <a:off x="8275319" y="2176272"/>
            <a:ext cx="3337560"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Change Guardian rulebook (OPA) on design, commit and promotion</a:t>
            </a:r>
          </a:p>
          <a:p>
            <a:pPr>
              <a:spcAft>
                <a:spcPts val="300"/>
              </a:spcAft>
            </a:pPr>
            <a:r>
              <a:rPr sz="800" b="0" i="0">
                <a:solidFill>
                  <a:srgbClr val="00D6F2"/>
                </a:solidFill>
                <a:latin typeface="Trenda IG Text"/>
              </a:rPr>
              <a:t>▪  </a:t>
            </a:r>
            <a:r>
              <a:rPr sz="800" b="0" i="0">
                <a:solidFill>
                  <a:srgbClr val="000000"/>
                </a:solidFill>
                <a:latin typeface="Trenda IG Text"/>
              </a:rPr>
              <a:t>Code Analyzer, pre-commit and CI checks on every change</a:t>
            </a:r>
          </a:p>
          <a:p>
            <a:pPr>
              <a:spcAft>
                <a:spcPts val="300"/>
              </a:spcAft>
            </a:pPr>
            <a:r>
              <a:rPr sz="800" b="0" i="0">
                <a:solidFill>
                  <a:srgbClr val="00D6F2"/>
                </a:solidFill>
                <a:latin typeface="Trenda IG Text"/>
              </a:rPr>
              <a:t>▪  </a:t>
            </a:r>
            <a:r>
              <a:rPr sz="800" b="0" i="0">
                <a:solidFill>
                  <a:srgbClr val="000000"/>
                </a:solidFill>
                <a:latin typeface="Trenda IG Text"/>
              </a:rPr>
              <a:t>Gateway allow list; every output validated against its schema</a:t>
            </a:r>
          </a:p>
        </p:txBody>
      </p:sp>
      <p:sp>
        <p:nvSpPr>
          <p:cNvPr id="36" name="Shape 37"/>
          <p:cNvSpPr/>
          <p:nvPr/>
        </p:nvSpPr>
        <p:spPr>
          <a:xfrm>
            <a:off x="411480" y="3291840"/>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8"/>
          <p:cNvSpPr txBox="1"/>
          <p:nvPr/>
        </p:nvSpPr>
        <p:spPr>
          <a:xfrm>
            <a:off x="576072" y="3419856"/>
            <a:ext cx="365760" cy="274320"/>
          </a:xfrm>
          <a:prstGeom prst="rect">
            <a:avLst/>
          </a:prstGeom>
          <a:noFill/>
        </p:spPr>
        <p:txBody>
          <a:bodyPr wrap="square" lIns="0" rIns="0" tIns="0" bIns="0" anchor="ctr">
            <a:spAutoFit/>
          </a:bodyPr>
          <a:lstStyle/>
          <a:p>
            <a:r>
              <a:rPr sz="1600" b="0" i="0">
                <a:solidFill>
                  <a:srgbClr val="595959"/>
                </a:solidFill>
                <a:latin typeface="Trenda IG Text Light"/>
              </a:rPr>
              <a:t>04</a:t>
            </a:r>
          </a:p>
        </p:txBody>
      </p:sp>
      <p:sp>
        <p:nvSpPr>
          <p:cNvPr id="38" name="Text 39"/>
          <p:cNvSpPr txBox="1"/>
          <p:nvPr/>
        </p:nvSpPr>
        <p:spPr>
          <a:xfrm>
            <a:off x="978408" y="3401568"/>
            <a:ext cx="2203703" cy="310896"/>
          </a:xfrm>
          <a:prstGeom prst="rect">
            <a:avLst/>
          </a:prstGeom>
          <a:noFill/>
        </p:spPr>
        <p:txBody>
          <a:bodyPr wrap="square" lIns="0" rIns="0" tIns="0" bIns="0" anchor="ctr">
            <a:spAutoFit/>
          </a:bodyPr>
          <a:lstStyle/>
          <a:p>
            <a:r>
              <a:rPr sz="1200" b="1" i="0">
                <a:solidFill>
                  <a:srgbClr val="000000"/>
                </a:solidFill>
                <a:latin typeface="Trenda IG Text"/>
              </a:rPr>
              <a:t>Feedback loops and evaluation</a:t>
            </a:r>
          </a:p>
        </p:txBody>
      </p:sp>
      <p:sp>
        <p:nvSpPr>
          <p:cNvPr id="39" name="Shape 40"/>
          <p:cNvSpPr/>
          <p:nvPr/>
        </p:nvSpPr>
        <p:spPr>
          <a:xfrm>
            <a:off x="3321100" y="3474720"/>
            <a:ext cx="629107" cy="155448"/>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1"/>
          <p:cNvSpPr txBox="1"/>
          <p:nvPr/>
        </p:nvSpPr>
        <p:spPr>
          <a:xfrm>
            <a:off x="3321100" y="3474720"/>
            <a:ext cx="629107" cy="155448"/>
          </a:xfrm>
          <a:prstGeom prst="rect">
            <a:avLst/>
          </a:prstGeom>
          <a:noFill/>
        </p:spPr>
        <p:txBody>
          <a:bodyPr wrap="square" lIns="0" rIns="0" tIns="0" bIns="0" anchor="ctr">
            <a:spAutoFit/>
          </a:bodyPr>
          <a:lstStyle/>
          <a:p>
            <a:pPr algn="ctr"/>
            <a:r>
              <a:rPr sz="550" b="1" i="0" spc="100">
                <a:solidFill>
                  <a:srgbClr val="FFFFFF"/>
                </a:solidFill>
                <a:latin typeface="Trenda IG Text"/>
              </a:rPr>
              <a:t>IN PLACE</a:t>
            </a:r>
          </a:p>
        </p:txBody>
      </p:sp>
      <p:sp>
        <p:nvSpPr>
          <p:cNvPr id="41" name="Text 42"/>
          <p:cNvSpPr txBox="1"/>
          <p:nvPr/>
        </p:nvSpPr>
        <p:spPr>
          <a:xfrm>
            <a:off x="576072" y="3749040"/>
            <a:ext cx="3337560" cy="201168"/>
          </a:xfrm>
          <a:prstGeom prst="rect">
            <a:avLst/>
          </a:prstGeom>
          <a:noFill/>
        </p:spPr>
        <p:txBody>
          <a:bodyPr wrap="square" lIns="0" rIns="0" tIns="0" bIns="0" anchor="t">
            <a:spAutoFit/>
          </a:bodyPr>
          <a:lstStyle/>
          <a:p>
            <a:r>
              <a:rPr sz="850" b="0" i="0">
                <a:solidFill>
                  <a:srgbClr val="595959"/>
                </a:solidFill>
                <a:latin typeface="Trenda IG Text"/>
              </a:rPr>
              <a:t>Every miss makes the harness better</a:t>
            </a:r>
          </a:p>
        </p:txBody>
      </p:sp>
      <p:sp>
        <p:nvSpPr>
          <p:cNvPr id="42" name="Shape 43"/>
          <p:cNvSpPr/>
          <p:nvPr/>
        </p:nvSpPr>
        <p:spPr>
          <a:xfrm>
            <a:off x="576072" y="4005072"/>
            <a:ext cx="3337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576072" y="4078224"/>
            <a:ext cx="3337560"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44" name="Text 45"/>
          <p:cNvSpPr txBox="1"/>
          <p:nvPr/>
        </p:nvSpPr>
        <p:spPr>
          <a:xfrm>
            <a:off x="576072" y="4261104"/>
            <a:ext cx="3337560"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Evaluation set gates every prompt, skill or model change</a:t>
            </a:r>
          </a:p>
          <a:p>
            <a:pPr>
              <a:spcAft>
                <a:spcPts val="300"/>
              </a:spcAft>
            </a:pPr>
            <a:r>
              <a:rPr sz="800" b="0" i="0">
                <a:solidFill>
                  <a:srgbClr val="00D6F2"/>
                </a:solidFill>
                <a:latin typeface="Trenda IG Text"/>
              </a:rPr>
              <a:t>▪  </a:t>
            </a:r>
            <a:r>
              <a:rPr sz="800" b="0" i="0">
                <a:solidFill>
                  <a:srgbClr val="000000"/>
                </a:solidFill>
                <a:latin typeface="Trenda IG Text"/>
              </a:rPr>
              <a:t>Rejected outputs become new evaluation cases</a:t>
            </a:r>
          </a:p>
          <a:p>
            <a:pPr>
              <a:spcAft>
                <a:spcPts val="300"/>
              </a:spcAft>
            </a:pPr>
            <a:r>
              <a:rPr sz="800" b="0" i="0">
                <a:solidFill>
                  <a:srgbClr val="00D6F2"/>
                </a:solidFill>
                <a:latin typeface="Trenda IG Text"/>
              </a:rPr>
              <a:t>▪  </a:t>
            </a:r>
            <a:r>
              <a:rPr sz="800" b="0" i="0">
                <a:solidFill>
                  <a:srgbClr val="000000"/>
                </a:solidFill>
                <a:latin typeface="Trenda IG Text"/>
              </a:rPr>
              <a:t>Incidents become new Guardian rules</a:t>
            </a:r>
          </a:p>
        </p:txBody>
      </p:sp>
      <p:sp>
        <p:nvSpPr>
          <p:cNvPr id="45" name="Differentiator Border 47"/>
          <p:cNvSpPr/>
          <p:nvPr/>
        </p:nvSpPr>
        <p:spPr>
          <a:xfrm>
            <a:off x="4261104" y="3291840"/>
            <a:ext cx="3666744" cy="19385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8"/>
          <p:cNvSpPr/>
          <p:nvPr/>
        </p:nvSpPr>
        <p:spPr>
          <a:xfrm>
            <a:off x="4302252" y="3332988"/>
            <a:ext cx="3584448" cy="1856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9"/>
          <p:cNvSpPr txBox="1"/>
          <p:nvPr/>
        </p:nvSpPr>
        <p:spPr>
          <a:xfrm>
            <a:off x="4466844" y="3461004"/>
            <a:ext cx="365760" cy="274320"/>
          </a:xfrm>
          <a:prstGeom prst="rect">
            <a:avLst/>
          </a:prstGeom>
          <a:noFill/>
        </p:spPr>
        <p:txBody>
          <a:bodyPr wrap="square" lIns="0" rIns="0" tIns="0" bIns="0" anchor="ctr">
            <a:spAutoFit/>
          </a:bodyPr>
          <a:lstStyle/>
          <a:p>
            <a:r>
              <a:rPr sz="1600" b="0" i="0">
                <a:solidFill>
                  <a:srgbClr val="595959"/>
                </a:solidFill>
                <a:latin typeface="Trenda IG Text Light"/>
              </a:rPr>
              <a:t>05</a:t>
            </a:r>
          </a:p>
        </p:txBody>
      </p:sp>
      <p:sp>
        <p:nvSpPr>
          <p:cNvPr id="48" name="Text 50"/>
          <p:cNvSpPr txBox="1"/>
          <p:nvPr/>
        </p:nvSpPr>
        <p:spPr>
          <a:xfrm>
            <a:off x="4869180" y="3442716"/>
            <a:ext cx="2121408" cy="310896"/>
          </a:xfrm>
          <a:prstGeom prst="rect">
            <a:avLst/>
          </a:prstGeom>
          <a:noFill/>
        </p:spPr>
        <p:txBody>
          <a:bodyPr wrap="square" lIns="0" rIns="0" tIns="0" bIns="0" anchor="ctr">
            <a:spAutoFit/>
          </a:bodyPr>
          <a:lstStyle/>
          <a:p>
            <a:r>
              <a:rPr sz="1200" b="1" i="0">
                <a:solidFill>
                  <a:srgbClr val="000000"/>
                </a:solidFill>
                <a:latin typeface="Trenda IG Text"/>
              </a:rPr>
              <a:t>Entropy management</a:t>
            </a:r>
          </a:p>
        </p:txBody>
      </p:sp>
      <p:sp>
        <p:nvSpPr>
          <p:cNvPr id="49" name="Shape 51"/>
          <p:cNvSpPr/>
          <p:nvPr/>
        </p:nvSpPr>
        <p:spPr>
          <a:xfrm>
            <a:off x="7310628" y="3515868"/>
            <a:ext cx="448056" cy="155448"/>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2"/>
          <p:cNvSpPr txBox="1"/>
          <p:nvPr/>
        </p:nvSpPr>
        <p:spPr>
          <a:xfrm>
            <a:off x="7310628" y="3515868"/>
            <a:ext cx="448056" cy="155448"/>
          </a:xfrm>
          <a:prstGeom prst="rect">
            <a:avLst/>
          </a:prstGeom>
          <a:noFill/>
        </p:spPr>
        <p:txBody>
          <a:bodyPr wrap="square" lIns="0" rIns="0" tIns="0" bIns="0" anchor="ctr">
            <a:spAutoFit/>
          </a:bodyPr>
          <a:lstStyle/>
          <a:p>
            <a:pPr algn="ctr"/>
            <a:r>
              <a:rPr sz="550" b="1" i="0" spc="100">
                <a:solidFill>
                  <a:srgbClr val="FFFFFF"/>
                </a:solidFill>
                <a:latin typeface="Trenda IG Text"/>
              </a:rPr>
              <a:t>ADDED</a:t>
            </a:r>
          </a:p>
        </p:txBody>
      </p:sp>
      <p:sp>
        <p:nvSpPr>
          <p:cNvPr id="51" name="Text 53"/>
          <p:cNvSpPr txBox="1"/>
          <p:nvPr/>
        </p:nvSpPr>
        <p:spPr>
          <a:xfrm>
            <a:off x="4466844" y="3790188"/>
            <a:ext cx="3255264" cy="201168"/>
          </a:xfrm>
          <a:prstGeom prst="rect">
            <a:avLst/>
          </a:prstGeom>
          <a:noFill/>
        </p:spPr>
        <p:txBody>
          <a:bodyPr wrap="square" lIns="0" rIns="0" tIns="0" bIns="0" anchor="t">
            <a:spAutoFit/>
          </a:bodyPr>
          <a:lstStyle/>
          <a:p>
            <a:r>
              <a:rPr sz="850" b="0" i="0">
                <a:solidFill>
                  <a:srgbClr val="595959"/>
                </a:solidFill>
                <a:latin typeface="Trenda IG Text"/>
              </a:rPr>
              <a:t>Scheduled clean-up so quality does not decay</a:t>
            </a:r>
          </a:p>
        </p:txBody>
      </p:sp>
      <p:sp>
        <p:nvSpPr>
          <p:cNvPr id="52" name="Shape 54"/>
          <p:cNvSpPr/>
          <p:nvPr/>
        </p:nvSpPr>
        <p:spPr>
          <a:xfrm>
            <a:off x="4466844" y="4046220"/>
            <a:ext cx="325526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5"/>
          <p:cNvSpPr txBox="1"/>
          <p:nvPr/>
        </p:nvSpPr>
        <p:spPr>
          <a:xfrm>
            <a:off x="4466844" y="4119372"/>
            <a:ext cx="325526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54" name="Text 56"/>
          <p:cNvSpPr txBox="1"/>
          <p:nvPr/>
        </p:nvSpPr>
        <p:spPr>
          <a:xfrm>
            <a:off x="4466844" y="4302252"/>
            <a:ext cx="3255264" cy="832104"/>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Nightly org clean-up: unused fields, duplicate Flows</a:t>
            </a:r>
          </a:p>
          <a:p>
            <a:pPr>
              <a:spcAft>
                <a:spcPts val="300"/>
              </a:spcAft>
            </a:pPr>
            <a:r>
              <a:rPr sz="800" b="0" i="0">
                <a:solidFill>
                  <a:srgbClr val="00D6F2"/>
                </a:solidFill>
                <a:latin typeface="Trenda IG Text"/>
              </a:rPr>
              <a:t>▪  </a:t>
            </a:r>
            <a:r>
              <a:rPr sz="800" b="0" i="0">
                <a:solidFill>
                  <a:srgbClr val="000000"/>
                </a:solidFill>
                <a:latin typeface="Trenda IG Text"/>
              </a:rPr>
              <a:t>Doc gardening: stale Confluence pages get fix-up drafts</a:t>
            </a:r>
          </a:p>
          <a:p>
            <a:pPr>
              <a:spcAft>
                <a:spcPts val="300"/>
              </a:spcAft>
            </a:pPr>
            <a:r>
              <a:rPr sz="800" b="0" i="0">
                <a:solidFill>
                  <a:srgbClr val="00D6F2"/>
                </a:solidFill>
                <a:latin typeface="Trenda IG Text"/>
              </a:rPr>
              <a:t>▪  </a:t>
            </a:r>
            <a:r>
              <a:rPr sz="800" b="0" i="0">
                <a:solidFill>
                  <a:srgbClr val="000000"/>
                </a:solidFill>
                <a:latin typeface="Trenda IG Text"/>
              </a:rPr>
              <a:t>Graph freshness and coverage checked every night</a:t>
            </a:r>
          </a:p>
        </p:txBody>
      </p:sp>
      <p:sp>
        <p:nvSpPr>
          <p:cNvPr id="55" name="Shape 57"/>
          <p:cNvSpPr/>
          <p:nvPr/>
        </p:nvSpPr>
        <p:spPr>
          <a:xfrm>
            <a:off x="8110727" y="3291840"/>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8"/>
          <p:cNvSpPr txBox="1"/>
          <p:nvPr/>
        </p:nvSpPr>
        <p:spPr>
          <a:xfrm>
            <a:off x="8275319" y="3419856"/>
            <a:ext cx="365760" cy="274320"/>
          </a:xfrm>
          <a:prstGeom prst="rect">
            <a:avLst/>
          </a:prstGeom>
          <a:noFill/>
        </p:spPr>
        <p:txBody>
          <a:bodyPr wrap="square" lIns="0" rIns="0" tIns="0" bIns="0" anchor="ctr">
            <a:spAutoFit/>
          </a:bodyPr>
          <a:lstStyle/>
          <a:p>
            <a:r>
              <a:rPr sz="1600" b="0" i="0">
                <a:solidFill>
                  <a:srgbClr val="595959"/>
                </a:solidFill>
                <a:latin typeface="Trenda IG Text Light"/>
              </a:rPr>
              <a:t>06</a:t>
            </a:r>
          </a:p>
        </p:txBody>
      </p:sp>
      <p:sp>
        <p:nvSpPr>
          <p:cNvPr id="57" name="Text 59"/>
          <p:cNvSpPr txBox="1"/>
          <p:nvPr/>
        </p:nvSpPr>
        <p:spPr>
          <a:xfrm>
            <a:off x="8677655" y="3401568"/>
            <a:ext cx="2203703" cy="310896"/>
          </a:xfrm>
          <a:prstGeom prst="rect">
            <a:avLst/>
          </a:prstGeom>
          <a:noFill/>
        </p:spPr>
        <p:txBody>
          <a:bodyPr wrap="square" lIns="0" rIns="0" tIns="0" bIns="0" anchor="ctr">
            <a:spAutoFit/>
          </a:bodyPr>
          <a:lstStyle/>
          <a:p>
            <a:r>
              <a:rPr sz="1200" b="1" i="0">
                <a:solidFill>
                  <a:srgbClr val="000000"/>
                </a:solidFill>
                <a:latin typeface="Trenda IG Text"/>
              </a:rPr>
              <a:t>Observability and steering</a:t>
            </a:r>
          </a:p>
        </p:txBody>
      </p:sp>
      <p:sp>
        <p:nvSpPr>
          <p:cNvPr id="58" name="Shape 60"/>
          <p:cNvSpPr/>
          <p:nvPr/>
        </p:nvSpPr>
        <p:spPr>
          <a:xfrm>
            <a:off x="11020348" y="3474720"/>
            <a:ext cx="629107" cy="155448"/>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61"/>
          <p:cNvSpPr txBox="1"/>
          <p:nvPr/>
        </p:nvSpPr>
        <p:spPr>
          <a:xfrm>
            <a:off x="11020348" y="3474720"/>
            <a:ext cx="629107" cy="155448"/>
          </a:xfrm>
          <a:prstGeom prst="rect">
            <a:avLst/>
          </a:prstGeom>
          <a:noFill/>
        </p:spPr>
        <p:txBody>
          <a:bodyPr wrap="square" lIns="0" rIns="0" tIns="0" bIns="0" anchor="ctr">
            <a:spAutoFit/>
          </a:bodyPr>
          <a:lstStyle/>
          <a:p>
            <a:pPr algn="ctr"/>
            <a:r>
              <a:rPr sz="550" b="1" i="0" spc="100">
                <a:solidFill>
                  <a:srgbClr val="FFFFFF"/>
                </a:solidFill>
                <a:latin typeface="Trenda IG Text"/>
              </a:rPr>
              <a:t>IN PLACE</a:t>
            </a:r>
          </a:p>
        </p:txBody>
      </p:sp>
      <p:sp>
        <p:nvSpPr>
          <p:cNvPr id="60" name="Text 62"/>
          <p:cNvSpPr txBox="1"/>
          <p:nvPr/>
        </p:nvSpPr>
        <p:spPr>
          <a:xfrm>
            <a:off x="8275319" y="3749040"/>
            <a:ext cx="3337560" cy="201168"/>
          </a:xfrm>
          <a:prstGeom prst="rect">
            <a:avLst/>
          </a:prstGeom>
          <a:noFill/>
        </p:spPr>
        <p:txBody>
          <a:bodyPr wrap="square" lIns="0" rIns="0" tIns="0" bIns="0" anchor="t">
            <a:spAutoFit/>
          </a:bodyPr>
          <a:lstStyle/>
          <a:p>
            <a:r>
              <a:rPr sz="850" b="0" i="0">
                <a:solidFill>
                  <a:srgbClr val="595959"/>
                </a:solidFill>
                <a:latin typeface="Trenda IG Text"/>
              </a:rPr>
              <a:t>Humans steer; agents execute</a:t>
            </a:r>
          </a:p>
        </p:txBody>
      </p:sp>
      <p:sp>
        <p:nvSpPr>
          <p:cNvPr id="61" name="Shape 63"/>
          <p:cNvSpPr/>
          <p:nvPr/>
        </p:nvSpPr>
        <p:spPr>
          <a:xfrm>
            <a:off x="8275319" y="4005072"/>
            <a:ext cx="3337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4"/>
          <p:cNvSpPr txBox="1"/>
          <p:nvPr/>
        </p:nvSpPr>
        <p:spPr>
          <a:xfrm>
            <a:off x="8275319" y="4078224"/>
            <a:ext cx="3337560"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63" name="Text 65"/>
          <p:cNvSpPr txBox="1"/>
          <p:nvPr/>
        </p:nvSpPr>
        <p:spPr>
          <a:xfrm>
            <a:off x="8275319" y="4261104"/>
            <a:ext cx="3337560"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Change passport and gateway log record every action</a:t>
            </a:r>
          </a:p>
          <a:p>
            <a:pPr>
              <a:spcAft>
                <a:spcPts val="300"/>
              </a:spcAft>
            </a:pPr>
            <a:r>
              <a:rPr sz="800" b="0" i="0">
                <a:solidFill>
                  <a:srgbClr val="00D6F2"/>
                </a:solidFill>
                <a:latin typeface="Trenda IG Text"/>
              </a:rPr>
              <a:t>▪  </a:t>
            </a:r>
            <a:r>
              <a:rPr sz="800" b="0" i="0">
                <a:solidFill>
                  <a:srgbClr val="000000"/>
                </a:solidFill>
                <a:latin typeface="Trenda IG Text"/>
              </a:rPr>
              <a:t>Humans approve at H1-H4 and CAB; no agent reaches production</a:t>
            </a:r>
          </a:p>
          <a:p>
            <a:pPr>
              <a:spcAft>
                <a:spcPts val="300"/>
              </a:spcAft>
            </a:pPr>
            <a:r>
              <a:rPr sz="800" b="0" i="0">
                <a:solidFill>
                  <a:srgbClr val="00D6F2"/>
                </a:solidFill>
                <a:latin typeface="Trenda IG Text"/>
              </a:rPr>
              <a:t>▪  </a:t>
            </a:r>
            <a:r>
              <a:rPr sz="800" b="0" i="0">
                <a:solidFill>
                  <a:srgbClr val="000000"/>
                </a:solidFill>
                <a:latin typeface="Trenda IG Text"/>
              </a:rPr>
              <a:t>Risk-routed approvals spend people's attention where risk is</a:t>
            </a:r>
          </a:p>
        </p:txBody>
      </p:sp>
      <p:sp>
        <p:nvSpPr>
          <p:cNvPr id="64" name="Shape 66"/>
          <p:cNvSpPr/>
          <p:nvPr/>
        </p:nvSpPr>
        <p:spPr>
          <a:xfrm>
            <a:off x="411480" y="5358384"/>
            <a:ext cx="11365992" cy="5669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7"/>
          <p:cNvSpPr txBox="1"/>
          <p:nvPr/>
        </p:nvSpPr>
        <p:spPr>
          <a:xfrm>
            <a:off x="640080" y="5358384"/>
            <a:ext cx="2194560" cy="566928"/>
          </a:xfrm>
          <a:prstGeom prst="rect">
            <a:avLst/>
          </a:prstGeom>
          <a:noFill/>
        </p:spPr>
        <p:txBody>
          <a:bodyPr wrap="square" lIns="0" rIns="0" tIns="0" bIns="0" anchor="ctr">
            <a:spAutoFit/>
          </a:bodyPr>
          <a:lstStyle/>
          <a:p>
            <a:r>
              <a:rPr sz="750" b="1" i="0" spc="200">
                <a:solidFill>
                  <a:srgbClr val="FFD700"/>
                </a:solidFill>
                <a:latin typeface="Trenda IG Text"/>
              </a:rPr>
              <a:t>THE OPERATING RULE</a:t>
            </a:r>
          </a:p>
        </p:txBody>
      </p:sp>
      <p:sp>
        <p:nvSpPr>
          <p:cNvPr id="66" name="Text 68"/>
          <p:cNvSpPr txBox="1"/>
          <p:nvPr/>
        </p:nvSpPr>
        <p:spPr>
          <a:xfrm>
            <a:off x="2788920" y="5358384"/>
            <a:ext cx="8759952" cy="566928"/>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 from the next run.</a:t>
            </a:r>
          </a:p>
        </p:txBody>
      </p:sp>
      <p:sp>
        <p:nvSpPr>
          <p:cNvPr id="67" name="Text 69"/>
          <p:cNvSpPr txBox="1"/>
          <p:nvPr/>
        </p:nvSpPr>
        <p:spPr>
          <a:xfrm>
            <a:off x="411480" y="5980176"/>
            <a:ext cx="11365992" cy="182880"/>
          </a:xfrm>
          <a:prstGeom prst="rect">
            <a:avLst/>
          </a:prstGeom>
          <a:noFill/>
        </p:spPr>
        <p:txBody>
          <a:bodyPr wrap="square" lIns="0" rIns="0" tIns="0" bIns="0" anchor="t">
            <a:spAutoFit/>
          </a:bodyPr>
          <a:lstStyle/>
          <a:p>
            <a:r>
              <a:rPr sz="650" b="0" i="0">
                <a:solidFill>
                  <a:srgbClr val="595959"/>
                </a:solidFill>
                <a:latin typeface="Trenda IG Text"/>
              </a:rPr>
              <a:t>Harness engineering as described by OpenAI's Codex team ("Harness engineering", February 2026) and Martin Fowler; mapped here to the Ascension design. Clean-up and doc gardening run as scheduled Review Agent runs: no new agent, and every fix still goes through the same gates.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