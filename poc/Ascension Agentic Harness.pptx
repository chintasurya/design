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23" r:id="rId4"/>
    <p:sldId id="330" r:id="rId5"/>
    <p:sldId id="345" r:id="rId6"/>
    <p:sldId id="354" r:id="rId7"/>
    <p:sldId id="347" r:id="rId8"/>
    <p:sldId id="352" r:id="rId9"/>
    <p:sldId id="324" r:id="rId10"/>
    <p:sldId id="325" r:id="rId11"/>
    <p:sldId id="326" r:id="rId12"/>
    <p:sldId id="353" r:id="rId13"/>
    <p:sldId id="341" r:id="rId14"/>
    <p:sldId id="342" r:id="rId15"/>
    <p:sldId id="355" r:id="rId16"/>
    <p:sldId id="339" r:id="rId17"/>
    <p:sldId id="340" r:id="rId18"/>
    <p:sldId id="338" r:id="rId19"/>
    <p:sldId id="320" r:id="rId20"/>
    <p:sldId id="333" r:id="rId21"/>
    <p:sldId id="346" r:id="rId22"/>
    <p:sldId id="321" r:id="rId23"/>
    <p:sldId id="327" r:id="rId24"/>
    <p:sldId id="328" r:id="rId25"/>
    <p:sldId id="322" r:id="rId26"/>
    <p:sldId id="258" r:id="rId27"/>
    <p:sldId id="257" r:id="rId28"/>
    <p:sldId id="331" r:id="rId29"/>
    <p:sldId id="332" r:id="rId30"/>
    <p:sldId id="256" r:id="rId31"/>
    <p:sldId id="319" r:id="rId32"/>
    <p:sldId id="344" r:id="rId33"/>
    <p:sldId id="348" r:id="rId34"/>
    <p:sldId id="349" r:id="rId35"/>
    <p:sldId id="350" r:id="rId36"/>
    <p:sldId id="351" r:id="rId37"/>
    <p:sldId id="334"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FTE</c:v>
                </c:pt>
              </c:strCache>
            </c:strRef>
          </c:tx>
          <c:spPr>
            <a:solidFill>
              <a:srgbClr val="00D6F2"/>
            </a:solidFill>
          </c:spPr>
          <c:invertIfNegative val="1"/>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D9E-4F69-8788-B3AE8DAE061A}"/>
            </c:ext>
          </c:extLst>
        </c:ser>
        <c:dLbls>
          <c:showLegendKey val="0"/>
          <c:showVal val="0"/>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650">
                <a:solidFill>
                  <a:srgbClr val="595959"/>
                </a:solidFill>
                <a:latin typeface="Trenda IG Text"/>
              </a:defRPr>
            </a:pPr>
            <a:endParaRPr lang="en-US"/>
          </a:p>
        </c:txPr>
        <c:crossAx val="-2113994440"/>
        <c:crosses val="autoZero"/>
        <c:auto val="1"/>
        <c:lblAlgn val="ctr"/>
        <c:lblOffset val="100"/>
        <c:noMultiLvlLbl val="0"/>
      </c:catAx>
      <c:valAx>
        <c:axId val="-2113994440"/>
        <c:scaling>
          <c:orientation val="minMax"/>
          <c:max val="20"/>
        </c:scaling>
        <c:delete val="0"/>
        <c:axPos val="l"/>
        <c:majorGridlines>
          <c:spPr>
            <a:ln>
              <a:solidFill>
                <a:srgbClr val="EDEDED"/>
              </a:solidFill>
            </a:ln>
          </c:spPr>
        </c:majorGridlines>
        <c:numFmt formatCode="General" sourceLinked="1"/>
        <c:majorTickMark val="out"/>
        <c:minorTickMark val="none"/>
        <c:tickLblPos val="nextTo"/>
        <c:spPr>
          <a:ln>
            <a:solidFill>
              <a:srgbClr val="D9D9D9"/>
            </a:solidFill>
          </a:ln>
        </c:spPr>
        <c:txPr>
          <a:bodyPr/>
          <a:lstStyle/>
          <a:p>
            <a:pPr>
              <a:defRPr sz="650">
                <a:solidFill>
                  <a:srgbClr val="595959"/>
                </a:solidFill>
                <a:latin typeface="Trenda IG Text"/>
              </a:defRPr>
            </a:pPr>
            <a:endParaRPr lang="en-US"/>
          </a:p>
        </c:txPr>
        <c:crossAx val="-2068027336"/>
        <c:crosses val="autoZero"/>
        <c:crossBetween val="between"/>
        <c:majorUnit val="5"/>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endParaRPr/>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endParaRPr/>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endParaRPr/>
          </a:p>
          <a:p>
            <a:r>
              <a:t>THE RULE AT THE BOTTOM</a:t>
            </a:r>
          </a:p>
          <a:p>
            <a:r>
              <a:t>When an agent struggles, we do not tweak a prompt for one story. We find what was missing (a tool, a rule, a document, a test), add it to the harness once, and every pod gets it.</a:t>
            </a:r>
          </a:p>
          <a:p>
            <a:endParaRPr/>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extLst>
      <p:ext uri="{BB962C8B-B14F-4D97-AF65-F5344CB8AC3E}">
        <p14:creationId xmlns:p14="http://schemas.microsoft.com/office/powerpoint/2010/main" val="2016330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Evals are how we earn reliability   (about 4 minutes)</a:t>
            </a:r>
          </a:p>
          <a:p>
            <a:endParaRPr/>
          </a:p>
          <a:p>
            <a:r>
              <a:t>KEY MESSAGE</a:t>
            </a:r>
          </a:p>
          <a:p>
            <a:r>
              <a:t>AI is non-deterministic, so reliability is not assumed; it is earned, run by run. Evals are the engine that earns it: every output is tested before it moves on, and every miss becomes a new test. Reliability = observability + evals, inside guardrails.</a:t>
            </a:r>
          </a:p>
          <a:p>
            <a:endParaRPr/>
          </a:p>
          <a:p>
            <a:r>
              <a:t>WALK IT</a:t>
            </a:r>
          </a:p>
          <a:p>
            <a:r>
              <a:t>Inputs (left):</a:t>
            </a:r>
          </a:p>
          <a:p>
            <a:r>
              <a:t>- Agent output: what each step produced (brief, design, code, tests).</a:t>
            </a:r>
          </a:p>
          <a:p>
            <a:r>
              <a:t>- Agent traces: observability. Every prompt, skill version, tool call, decision and cost. Without traces you cannot evaluate.</a:t>
            </a:r>
          </a:p>
          <a:p>
            <a:r>
              <a:t>- Golden set and weekly sample: real Ascension changes labelled by your experts, plus a weekly blind sample of approved changes. This is the ground truth.</a:t>
            </a:r>
          </a:p>
          <a:p>
            <a:endParaRPr/>
          </a:p>
          <a:p>
            <a:r>
              <a:t>The engine (centre), scored on every run:</a:t>
            </a:r>
          </a:p>
          <a:p>
            <a:r>
              <a:t>- Answer relevancy: does the output answer the story that was asked?</a:t>
            </a:r>
          </a:p>
          <a:p>
            <a:r>
              <a:t>- Groundedness: is every claim backed by a graph fact or a tool response? This is how we catch hallucination.</a:t>
            </a:r>
          </a:p>
          <a:p>
            <a:r>
              <a:t>- Tool sequence: did the agent call the right tools in the right order, without repeating them? Measured with precision and recall.</a:t>
            </a:r>
          </a:p>
          <a:p>
            <a:r>
              <a:t>- pass@k: right first time (pass@1), and right by the fifth and last attempt (pass@5).</a:t>
            </a:r>
          </a:p>
          <a:p>
            <a:r>
              <a:t>Where the Review Agent acts as the judge, its verdicts are themselves measured against your tech leads.</a:t>
            </a:r>
          </a:p>
          <a:p>
            <a:endParaRPr/>
          </a:p>
          <a:p>
            <a:r>
              <a:t>Outcomes (right):</a:t>
            </a:r>
          </a:p>
          <a:p>
            <a:r>
              <a:t>- Pass: output guardrails, then people approve at H1-H4 and CAB, then release. This is the reliable path.</a:t>
            </a:r>
          </a:p>
          <a:p>
            <a:r>
              <a:t>- Retry (the magenta arc over the top): back to the agent with the failure as feedback, at most five times; then the step stops, nothing is released, and a named owner takes over. No infinite loops.</a:t>
            </a:r>
          </a:p>
          <a:p>
            <a:r>
              <a:t>- Learn (the yellow arc underneath): every miss is diagnosed (which agent, step or context failed), the harness is tuned, and the fix is re-tested on the golden set; the miss becomes a new test case. That is the closed loop.</a:t>
            </a:r>
          </a:p>
          <a:p>
            <a:endParaRPr/>
          </a:p>
          <a:p>
            <a:r>
              <a:t>Around it all, guardrails in and out: harmful prompts and injection blocked, patient data redacted, no agent with a production credential, and agents can never edit tests or the evaluation set.</a:t>
            </a:r>
          </a:p>
          <a:p>
            <a:endParaRPr/>
          </a:p>
          <a:p>
            <a:r>
              <a:t>Top bar, the formula: reliability = observability (the traces) + evals (the engine in the centre), protected by guardrails (the frame around it).</a:t>
            </a:r>
          </a:p>
        </p:txBody>
      </p:sp>
    </p:spTree>
    <p:extLst>
      <p:ext uri="{BB962C8B-B14F-4D97-AF65-F5344CB8AC3E}">
        <p14:creationId xmlns:p14="http://schemas.microsoft.com/office/powerpoint/2010/main" val="25817696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endParaRPr/>
          </a:p>
          <a:p>
            <a:r>
              <a:t>KEY MESSAGE</a:t>
            </a:r>
          </a:p>
          <a:p>
            <a:r>
              <a:t>We do not only measure whether a story ended well. Each agent is scored on its own job, so when something slips we know exactly which agent to fix.</a:t>
            </a:r>
          </a:p>
          <a:p>
            <a:endParaRPr/>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endParaRPr/>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endParaRPr/>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extLst>
      <p:ext uri="{BB962C8B-B14F-4D97-AF65-F5344CB8AC3E}">
        <p14:creationId xmlns:p14="http://schemas.microsoft.com/office/powerpoint/2010/main" val="222581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endParaRPr/>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endParaRPr/>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endParaRPr/>
          </a:p>
          <a:p>
            <a:r>
              <a:t>WHY IT MATTERS FOR ASCENSION</a:t>
            </a:r>
          </a:p>
          <a:p>
            <a:r>
              <a:t>Investing in the harness now is not throw-away work: every run, approval, rejection and incident recorded today is exactly the evidence the next stage needs to earn more autonomy safely.</a:t>
            </a:r>
          </a:p>
          <a:p>
            <a:endParaRPr/>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endParaRPr/>
          </a:p>
          <a:p>
            <a:r>
              <a:t>WHAT NEVER CHANGES (the band at the bottom)</a:t>
            </a:r>
          </a:p>
          <a:p>
            <a:r>
              <a:t>At every stage, Ascension sets the goals and the limits, keeps the final say on production, and can see and stop any run.</a:t>
            </a:r>
          </a:p>
          <a:p>
            <a:endParaRPr/>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extLst>
      <p:ext uri="{BB962C8B-B14F-4D97-AF65-F5344CB8AC3E}">
        <p14:creationId xmlns:p14="http://schemas.microsoft.com/office/powerpoint/2010/main" val="373581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A Health Cloud change, 2 weeks today vs 2 days with the Agentic Harness   (about 3 minutes)</a:t>
            </a:r>
          </a:p>
          <a:p/>
          <a:p>
            <a:r>
              <a:t>KEY MESSAGE</a:t>
            </a:r>
          </a:p>
          <a:p>
            <a:r>
              <a:t>Any Health Cloud task on the Network Services pod, from Jira story to UAT sign-off, takes about two weeks today. On the Agentic Harness the same task takes about two days. People still approve at every gate.</a:t>
            </a:r>
          </a:p>
          <a:p/>
          <a:p>
            <a:r>
              <a:t>WALK IT</a:t>
            </a:r>
          </a:p>
          <a:p>
            <a:r>
              <a:t>- Left, today: nine steps, one hand-off at a time, inside office hours. About 10 working days. Most of the time goes on understanding the story, finding the impact by hand and writing tests by hand.</a:t>
            </a:r>
          </a:p>
          <a:p>
            <a:r>
              <a:t>- Right, with the harness: the same seven agents as every pod, with Health Cloud skills.</a:t>
            </a:r>
          </a:p>
          <a:p>
            <a:r>
              <a:t>  - Day 1 morning: the Requirements Agent turns the story into a brief and the product owner approves (H1). The Architect Agent reads impact and reuse from the knowledge graph and the architect approves (H2).</a:t>
            </a:r>
          </a:p>
          <a:p>
            <a:r>
              <a:t>  - Day 1 afternoon and overnight: the Developer Agent builds in DEV (Apex, LWC, Flows, sharing).</a:t>
            </a:r>
          </a:p>
          <a:p>
            <a:r>
              <a:t>  - Day 2: the Review Agent checks code, security and sharing and the tech lead approves (H3); the Test Agent runs Zephyr cases and Copado regression and people sign UAT (H4); the Release Agent promotes to SIT / UAT.</a:t>
            </a:r>
          </a:p>
          <a:p>
            <a:r>
              <a:t>- Production still goes through CAB in its normal window; the two days are story to UAT sign-off.</a:t>
            </a:r>
          </a:p>
          <a:p/>
          <a:p>
            <a:r>
              <a:t>THE NUMBERS</a:t>
            </a:r>
          </a:p>
          <a:p>
            <a:r>
              <a:t>- About 80% faster: 10 working days to about 2 days.</a:t>
            </a:r>
          </a:p>
          <a:p>
            <a:r>
              <a:t>- Already measured with agent-assisted delivery: 1-2 weeks down to 2-4 days. The harness adds the graph, the overnight build and the automated tests that take it to about 2 days. The 2 days is the target, confirmed against the Phase 0 baseline.</a:t>
            </a:r>
          </a:p>
          <a:p/>
          <a:p>
            <a:r>
              <a:t>BE READY FOR</a:t>
            </a:r>
          </a:p>
          <a:p>
            <a:r>
              <a:t>- "Does every task take 2 days?" Small changes take less; large or cross-pod changes take longer because more owners must approve. Two days is the typical Health Cloud task.</a:t>
            </a:r>
          </a:p>
          <a:p>
            <a:r>
              <a:t>- "Who approves?" The same people as today: product owner, architect, tech lead, business owner for UAT, and CAB for production.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Ascension, all pods   (about 3 minutes)</a:t>
            </a:r>
          </a:p>
          <a:p>
            <a:endParaRPr/>
          </a:p>
          <a:p>
            <a:r>
              <a:t>KEY MESSAGE</a:t>
            </a:r>
          </a:p>
          <a:p>
            <a:r>
              <a:t>Ascension spends about $16M a year across all pods, $48M over three years. With agent-first squads on the harness, annual spend comes down to about $7M in year 1, $5M in year 2 and $3M in year 3: about $33M saved over three years, roughly 69% of the spend and about 7x the build fee.</a:t>
            </a:r>
          </a:p>
          <a:p>
            <a:endParaRPr/>
          </a:p>
          <a:p>
            <a:r>
              <a:t>WALK IT</a:t>
            </a:r>
          </a:p>
          <a:p>
            <a:r>
              <a:t>- Top strip: the mechanism. In every pod, a squad of 4-5 developers and a QA becomes 1 developer directing the harness agent team, plus 1 QA. The agent drafts overnight; people design, review and approve. Every human gate stays.</a:t>
            </a:r>
          </a:p>
          <a:p>
            <a:r>
              <a:t>- Year 1: $16M to about $7M, saving $9M (56%), as pods move to agent-first squads through the year.</a:t>
            </a:r>
          </a:p>
          <a:p>
            <a:r>
              <a:t>- Year 2: $16M to about $5M, saving $11M (69%), every pod on the harness for the full year.</a:t>
            </a:r>
          </a:p>
          <a:p>
            <a:r>
              <a:t>- Year 3: $16M to about $3M, saving $13M (81%), full run rate.</a:t>
            </a:r>
          </a:p>
          <a:p>
            <a:r>
              <a:t>- Three years: $48M becomes about $15M. $33M saved, about 7x the $4.79M fixed build fee, paid back within year 1.</a:t>
            </a:r>
          </a:p>
          <a:p>
            <a:endParaRPr/>
          </a:p>
          <a:p>
            <a:r>
              <a:t>HOW THE NUMBERS ARE BUILT (for you, not the slide)</a:t>
            </a:r>
          </a:p>
          <a:p>
            <a:r>
              <a:t>- $16M a year is Ascension's figure for all pods.</a:t>
            </a:r>
          </a:p>
          <a:p>
            <a:r>
              <a:t>- "With the harness" includes the agent run cost and the managed service from month 19 (about $1.24M a year, commercials slide).</a:t>
            </a:r>
          </a:p>
          <a:p>
            <a:r>
              <a:t>- These are target figures set with Insight Global leadership. The business outcomes slide's 20-25% is the floor we commit to; every pod is measured against its own Phase 0 baseline.</a:t>
            </a:r>
          </a:p>
          <a:p>
            <a:endParaRPr/>
          </a:p>
          <a:p>
            <a:r>
              <a:t>BE READY FOR</a:t>
            </a:r>
          </a:p>
          <a:p>
            <a:r>
              <a:t>- "Year 1 is during the rollout; how can it already be $7M?" Answer: the target assumes pods move onto agent-first squads quickly after the pilots; it is confirmed pod by pod against the baseline.</a:t>
            </a:r>
          </a:p>
          <a:p>
            <a:r>
              <a:t>- "What happens to the people?" Ascension chooses: redeploy to backlog and other work, absorb through attrition, or keep people and deliver more. Reviewed quarterly.</a:t>
            </a:r>
          </a:p>
          <a:p>
            <a:r>
              <a:t>- "Is it guaranteed?" The commitment is the floor and the phase exits; these figures are the target.</a:t>
            </a:r>
          </a:p>
        </p:txBody>
      </p:sp>
    </p:spTree>
    <p:extLst>
      <p:ext uri="{BB962C8B-B14F-4D97-AF65-F5344CB8AC3E}">
        <p14:creationId xmlns:p14="http://schemas.microsoft.com/office/powerpoint/2010/main" val="4198490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35103763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25047429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Risks and mitigations   (about 3 minutes)</a:t>
            </a:r>
          </a:p>
          <a:p>
            <a:endParaRPr/>
          </a:p>
          <a:p>
            <a:r>
              <a:t>KEY MESSAGE</a:t>
            </a:r>
          </a:p>
          <a:p>
            <a:r>
              <a:t>We are not asking Ascension to trust that nothing goes wrong. Every risk we can see has a mitigation already built into the phases, a signal that warns us early, and a named owner.</a:t>
            </a:r>
          </a:p>
          <a:p>
            <a:endParaRPr/>
          </a:p>
          <a:p>
            <a:r>
              <a:t>WALK IT (pick three, do not read all nine)</a:t>
            </a:r>
          </a:p>
          <a:p>
            <a:r>
              <a:t>- Expert time (the only High / High): evals are only as good as the labels. We agree the hours per pod at Phase 0, agents pre-label and experts only confirm, and the weekly sample is small by design.</a:t>
            </a:r>
          </a:p>
          <a:p>
            <a:r>
              <a:t>- Patient data: low likelihood because the graph holds metadata, never patient records, and DLP runs in and out; high impact, so OpenAI's terms (BAA, zero data retention) are confirmed in Phase 0 and a pen test runs before production.</a:t>
            </a:r>
          </a:p>
          <a:p>
            <a:r>
              <a:t>- Adoption: the scale-up waits until two pilot pods have proven it on their own baseline. That is the strongest mitigation we have: pods see a peer pod's numbers, not our slides.</a:t>
            </a:r>
          </a:p>
          <a:p>
            <a:endParaRPr/>
          </a:p>
          <a:p>
            <a:r>
              <a:t>HOW IT TIES TO THE REST OF THE DECK</a:t>
            </a:r>
          </a:p>
          <a:p>
            <a:r>
              <a:t>- Most mitigations are phase exits (the previous slide): nothing moves on until the exit is signed.</a:t>
            </a:r>
          </a:p>
          <a:p>
            <a:r>
              <a:t>- Quality and model drift are handled by the evals slide: every change passes the evaluation set, and every step stops after five attempts.</a:t>
            </a:r>
          </a:p>
          <a:p>
            <a:r>
              <a:t>- Cross-pod breakage is the Change Guardian (back-up slide).</a:t>
            </a:r>
          </a:p>
          <a:p>
            <a:endParaRPr/>
          </a:p>
          <a:p>
            <a:r>
              <a:t>BE READY FOR</a:t>
            </a:r>
          </a:p>
          <a:p>
            <a:r>
              <a:t>- "What is your biggest risk?" Honest answer: expert time for labelling. Without labelled examples, the evals cannot be trusted, so we ask for it up front.</a:t>
            </a:r>
          </a:p>
          <a:p>
            <a:r>
              <a:t>- "What if Codex does not allow your plugin?" The harness runs headless on Cloud Run with the same tools and gateway; developers start runs from the approval page or Jira instead of Codex.</a:t>
            </a:r>
          </a:p>
          <a:p>
            <a:r>
              <a:t>- "Who owns the register?" Our engagement lead, reviewed with Ascension's sponsor at every phase exit.</a:t>
            </a:r>
          </a:p>
        </p:txBody>
      </p:sp>
    </p:spTree>
    <p:extLst>
      <p:ext uri="{BB962C8B-B14F-4D97-AF65-F5344CB8AC3E}">
        <p14:creationId xmlns:p14="http://schemas.microsoft.com/office/powerpoint/2010/main" val="896976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Closed-loop evals with bounded loops   (about 3 minutes)</a:t>
            </a:r>
          </a:p>
          <a:p>
            <a:endParaRPr/>
          </a:p>
          <a:p>
            <a:r>
              <a:t>KEY MESSAGE</a:t>
            </a:r>
          </a:p>
          <a:p>
            <a:r>
              <a:t>Evals are how we prove the harness works before Ascension relies on it, and how it keeps getting better after. Offline tests and live results feed one loop that never stops.</a:t>
            </a:r>
          </a:p>
          <a:p>
            <a:endParaRPr/>
          </a:p>
          <a:p>
            <a:r>
              <a:t>WALK THE LOOP (clockwise from the top)</a:t>
            </a:r>
          </a:p>
          <a:p>
            <a:r>
              <a:t>1 Golden set: real past Ascension changes, labelled by your own experts against a written rubric, covering every pod, cloud, change type and risk level.</a:t>
            </a:r>
          </a:p>
          <a:p>
            <a:r>
              <a:t>2 Offline gate: no prompt, skill or model change goes live unless it passes, scored per agent and as pass@1 to pass@5.</a:t>
            </a:r>
          </a:p>
          <a:p>
            <a:r>
              <a:t>3 Guarded run, the bounded loop: every live step is checked. If the outcome is not met the agent tries again with the failure as feedback, at most five times. After the fifth attempt the step stops: nothing is released, and a named owner gets every attempt, the failures and the evidence in Jira. Budgets and timeouts can stop it sooner. When the system is unsure, it stops rather than ships.</a:t>
            </a:r>
          </a:p>
          <a:p>
            <a:r>
              <a:t>4 Sample and label: each week a sample of approved changes is re-reviewed blind by Ascension experts with the same rubric, so we see drift that offline tests miss.</a:t>
            </a:r>
          </a:p>
          <a:p>
            <a:r>
              <a:t>5 Diagnose: a diagnoser run pins each miss on the agent, step or missing context that caused it.</a:t>
            </a:r>
          </a:p>
          <a:p>
            <a:r>
              <a:t>6 Tune and re-test: we fix the harness, re-run the golden set, and only then release the fix. Back to 1: the new case joins the golden set.</a:t>
            </a:r>
          </a:p>
          <a:p>
            <a:endParaRPr/>
          </a:p>
          <a:p>
            <a:r>
              <a:t>NO GAMING THE EVALS</a:t>
            </a:r>
          </a:p>
          <a:p>
            <a:r>
              <a:t>An agent judged by tests can learn to weaken the tests. So agents cannot edit tests or the evaluation set, a held-out set is never shown to any agent, and the Guardian blocks any change that deletes or weakens a test.</a:t>
            </a:r>
          </a:p>
          <a:p>
            <a:endParaRPr/>
          </a:p>
          <a:p>
            <a:r>
              <a:t>PROVEN AT SCALE</a:t>
            </a:r>
          </a:p>
          <a:p>
            <a:r>
              <a:t>Uber presented the same closed-loop pattern for the Uber Eats food-photo agent at AI Engineer World's Fair 2026: human-labelled golden sets, pass@k, a QA gate before publishing, human labels on production samples, and a diagnoser that triggers tuning. Different domain, same discipline.</a:t>
            </a:r>
          </a:p>
          <a:p>
            <a:endParaRPr/>
          </a:p>
          <a:p>
            <a:r>
              <a:t>IF ASKED</a:t>
            </a:r>
          </a:p>
          <a:p>
            <a:r>
              <a:t>- Who labels the golden set? Ascension's architects, tech leads and product owners, about a few hours a week in Phase 1 and the pilots, against a rubric we write together.</a:t>
            </a:r>
          </a:p>
          <a:p>
            <a:r>
              <a:t>- Isn't the AI marking its own homework? No: tests, the Guardian and humans judge; the Review Agent's verdicts are themselves measured against human reviewers.</a:t>
            </a:r>
          </a:p>
          <a:p>
            <a:endParaRPr/>
          </a:p>
          <a:p>
            <a:r>
              <a:t>EVERY RUN REPORTS (right panel)</a:t>
            </a:r>
          </a:p>
          <a:p>
            <a:r>
              <a:t>Every step, attempt and wait is logged (change passport in BigQuery and Cloud Logging), so we report pass@1 to pass@5, time per step and end to end, time and cost spent re-running, waiting time at human gates, agent scores, escaped defects, and stopped runs with where, why and who took over. Weekly to each pod lead.</a:t>
            </a:r>
          </a:p>
          <a:p>
            <a:endParaRPr/>
          </a:p>
          <a:p>
            <a:r>
              <a:t>WHY FIVE</a:t>
            </a:r>
          </a:p>
          <a:p>
            <a:r>
              <a:t>Enough for an agent to correct itself on most failures, low enough to keep cost and time predictable. It is a setting; Ascension can change it per step.</a:t>
            </a:r>
          </a:p>
        </p:txBody>
      </p:sp>
    </p:spTree>
    <p:extLst>
      <p:ext uri="{BB962C8B-B14F-4D97-AF65-F5344CB8AC3E}">
        <p14:creationId xmlns:p14="http://schemas.microsoft.com/office/powerpoint/2010/main" val="3980426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is built   (about 4 minutes)</a:t>
            </a:r>
          </a:p>
          <a:p>
            <a:endParaRPr/>
          </a:p>
          <a:p>
            <a:r>
              <a:t>KEY MESSAGE</a:t>
            </a:r>
          </a:p>
          <a:p>
            <a:r>
              <a:t>Two phases, one picture. Phase 1 is the Engineering Context Knowledge Graph: what the agents know. Phase 2 is the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1701365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 Id="rId5"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15.png"/><Relationship Id="rId16" Type="http://schemas.openxmlformats.org/officeDocument/2006/relationships/image" Target="../media/image14.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7.png"/><Relationship Id="rId20"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An Agentic Harness on an Engineering Context Knowledge Graph: one common agent team that turns tickets into reviewed, tested, deployable Salesforce changes for every pod</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r>
              <a:rPr lang="en-US" sz="756" b="1" kern="0" spc="284">
                <a:solidFill>
                  <a:srgbClr val="00273B"/>
                </a:solidFill>
                <a:latin typeface="Trenda IG Text" pitchFamily="34" charset="0"/>
                <a:ea typeface="Trenda IG Text" pitchFamily="34" charset="-122"/>
                <a:cs typeface="Trenda IG Text" pitchFamily="34" charset="-120"/>
              </a:rPr>
              <a:t>ASCENSION AGENTIC HARNESS</a:t>
            </a:r>
            <a:endParaRPr lang="en-US" sz="756"/>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a:solidFill>
                  <a:srgbClr val="000000"/>
                </a:solidFill>
                <a:latin typeface="Trenda IG Text" pitchFamily="34" charset="0"/>
                <a:ea typeface="Trenda IG Text" pitchFamily="34" charset="-122"/>
                <a:cs typeface="Trenda IG Text" pitchFamily="34" charset="-120"/>
              </a:rPr>
              <a:t>One agent team, reused by every pod</a:t>
            </a:r>
            <a:endParaRPr lang="en-US" sz="2079"/>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Knowledge graph · what agents read</a:t>
            </a:r>
            <a:endParaRPr lang="en-US" sz="945"/>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Jira</a:t>
            </a:r>
            <a:endParaRPr lang="en-US" sz="898"/>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Stories, acceptance criteria, history</a:t>
            </a:r>
            <a:endParaRPr lang="en-US" sz="737"/>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Confluence</a:t>
            </a:r>
            <a:endParaRPr lang="en-US" sz="898"/>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Design, business rules, runbooks</a:t>
            </a:r>
            <a:endParaRPr lang="en-US" sz="737"/>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Salesforce</a:t>
            </a:r>
            <a:endParaRPr lang="en-US" sz="898"/>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Objects, fields, Flows, Apex, deps</a:t>
            </a:r>
            <a:endParaRPr lang="en-US" sz="737"/>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Git</a:t>
            </a:r>
            <a:endParaRPr lang="en-US" sz="898"/>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Apex, LWC, metadata, unit tests</a:t>
            </a:r>
            <a:endParaRPr lang="en-US" sz="737"/>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Copado</a:t>
            </a:r>
            <a:endParaRPr lang="en-US" sz="898"/>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Releases, robotic and regression runs</a:t>
            </a:r>
            <a:endParaRPr lang="en-US" sz="737"/>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Google Drive</a:t>
            </a:r>
            <a:endParaRPr lang="en-US" sz="898"/>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Specs, mapping sheets, evidence</a:t>
            </a:r>
            <a:endParaRPr lang="en-US" sz="737"/>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a:solidFill>
                  <a:srgbClr val="000000"/>
                </a:solidFill>
                <a:latin typeface="Trenda IG Text" pitchFamily="34" charset="0"/>
                <a:ea typeface="Trenda IG Text" pitchFamily="34" charset="-122"/>
                <a:cs typeface="Trenda IG Text" pitchFamily="34" charset="-120"/>
              </a:rPr>
              <a:t>7 common agents · the same on every pod</a:t>
            </a:r>
            <a:endParaRPr lang="en-US" sz="945"/>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a:solidFill>
                  <a:srgbClr val="595959"/>
                </a:solidFill>
                <a:latin typeface="Trenda IG Text" pitchFamily="34" charset="0"/>
                <a:ea typeface="Trenda IG Text" pitchFamily="34" charset="-122"/>
                <a:cs typeface="Trenda IG Text" pitchFamily="34" charset="-120"/>
              </a:rPr>
              <a:t>BUILT FROM TODAY</a:t>
            </a:r>
            <a:endParaRPr lang="en-US" sz="614"/>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1</a:t>
            </a:r>
            <a:endParaRPr lang="en-US" sz="756"/>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Orchestrator</a:t>
            </a:r>
            <a:endParaRPr lang="en-US" sz="898"/>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UI + backend Orchestrator</a:t>
            </a:r>
            <a:endParaRPr lang="en-US" sz="643"/>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a:solidFill>
                  <a:srgbClr val="00273B"/>
                </a:solidFill>
                <a:latin typeface="Trenda IG Text" pitchFamily="34" charset="0"/>
                <a:ea typeface="Trenda IG Text" pitchFamily="34" charset="-122"/>
                <a:cs typeface="Trenda IG Text" pitchFamily="34" charset="-120"/>
              </a:rPr>
              <a:t>Coordinates</a:t>
            </a:r>
            <a:endParaRPr lang="en-US" sz="662"/>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2</a:t>
            </a:r>
            <a:endParaRPr lang="en-US" sz="756"/>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Requirements Agent</a:t>
            </a:r>
            <a:endParaRPr lang="en-US" sz="898"/>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JiraAgent, Figma/Confluence</a:t>
            </a:r>
            <a:endParaRPr lang="en-US" sz="643"/>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3</a:t>
            </a:r>
            <a:endParaRPr lang="en-US" sz="756"/>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Architect Agent</a:t>
            </a:r>
            <a:endParaRPr lang="en-US" sz="898"/>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ArchitectAgent, Architect</a:t>
            </a:r>
            <a:endParaRPr lang="en-US" sz="643"/>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4</a:t>
            </a:r>
            <a:endParaRPr lang="en-US" sz="756"/>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Developer Agent</a:t>
            </a:r>
            <a:endParaRPr lang="en-US" sz="898"/>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DevelopmentAgent, Developer</a:t>
            </a:r>
            <a:endParaRPr lang="en-US" sz="643"/>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5</a:t>
            </a:r>
            <a:endParaRPr lang="en-US" sz="756"/>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Review Agent</a:t>
            </a:r>
            <a:endParaRPr lang="en-US" sz="898"/>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ReviewAgent</a:t>
            </a:r>
            <a:endParaRPr lang="en-US" sz="643"/>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6</a:t>
            </a:r>
            <a:endParaRPr lang="en-US" sz="756"/>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Test Agent</a:t>
            </a:r>
            <a:endParaRPr lang="en-US" sz="898"/>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TestAgent, Test Engineer, 4 QA</a:t>
            </a:r>
            <a:endParaRPr lang="en-US" sz="643"/>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7</a:t>
            </a:r>
            <a:endParaRPr lang="en-US" sz="756"/>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Release Agent</a:t>
            </a:r>
            <a:endParaRPr lang="en-US" sz="898"/>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AI Release Service (next)</a:t>
            </a:r>
            <a:endParaRPr lang="en-US" sz="643"/>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Pod skills · what changes per pod</a:t>
            </a:r>
            <a:endParaRPr lang="en-US" sz="945"/>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Health Cloud pods</a:t>
            </a:r>
            <a:endParaRPr lang="en-US" sz="898"/>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Marketing Cloud pods</a:t>
            </a:r>
            <a:endParaRPr lang="en-US" sz="898"/>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Nudge / Demand, VBC outreach</a:t>
            </a:r>
            <a:endParaRPr lang="en-US" sz="68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QA, all pods</a:t>
            </a:r>
            <a:endParaRPr lang="en-US" sz="898"/>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Every release</a:t>
            </a:r>
            <a:endParaRPr lang="en-US" sz="68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a:solidFill>
                  <a:srgbClr val="00273B"/>
                </a:solidFill>
                <a:latin typeface="Trenda IG Text" pitchFamily="34" charset="0"/>
                <a:ea typeface="Trenda IG Text" pitchFamily="34" charset="-122"/>
                <a:cs typeface="Trenda IG Text" pitchFamily="34" charset="-120"/>
              </a:rPr>
              <a:t>GOVERNED PATH, UNCHANGED</a:t>
            </a:r>
            <a:endParaRPr lang="en-US" sz="709"/>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AI build</a:t>
            </a:r>
            <a:endParaRPr lang="en-US" sz="756"/>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Copado</a:t>
            </a:r>
            <a:endParaRPr lang="en-US" sz="756"/>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Quality gates</a:t>
            </a:r>
            <a:endParaRPr lang="en-US" sz="756"/>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DEV</a:t>
            </a:r>
            <a:endParaRPr lang="en-US" sz="756"/>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SIT</a:t>
            </a:r>
            <a:endParaRPr lang="en-US" sz="756"/>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UAT</a:t>
            </a:r>
            <a:endParaRPr lang="en-US" sz="756"/>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Human approval</a:t>
            </a:r>
            <a:endParaRPr lang="en-US" sz="756"/>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CAB</a:t>
            </a:r>
            <a:endParaRPr lang="en-US" sz="756"/>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PROD</a:t>
            </a:r>
            <a:endParaRPr lang="en-US" sz="756"/>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D6F2"/>
                </a:solidFill>
              </a:rPr>
              <a:t>ASCENSION AGENTIC HARNESS · PLATFORM</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lang="en-IN" sz="2200" b="1">
                <a:solidFill>
                  <a:srgbClr val="FFFFFF"/>
                </a:solidFill>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350865"/>
          </a:xfrm>
          <a:prstGeom prst="rect">
            <a:avLst/>
          </a:prstGeom>
          <a:noFill/>
        </p:spPr>
        <p:txBody>
          <a:bodyPr wrap="square" lIns="0" tIns="0" rIns="0" bIns="0" anchor="t">
            <a:spAutoFit/>
          </a:bodyPr>
          <a:lstStyle/>
          <a:p>
            <a:pPr>
              <a:lnSpc>
                <a:spcPct val="95000"/>
              </a:lnSpc>
            </a:pPr>
            <a:r>
              <a:rPr lang="en-IN" sz="1200">
                <a:solidFill>
                  <a:srgbClr val="FFFFFF"/>
                </a:solidFill>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dirty="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169277"/>
          </a:xfrm>
          <a:prstGeom prst="rect">
            <a:avLst/>
          </a:prstGeom>
          <a:noFill/>
        </p:spPr>
        <p:txBody>
          <a:bodyPr wrap="square" lIns="0" tIns="0" rIns="0" bIns="0" anchor="t">
            <a:spAutoFit/>
          </a:bodyPr>
          <a:lstStyle/>
          <a:p>
            <a:r>
              <a:rPr lang="en-IN" sz="1100" b="1">
                <a:solidFill>
                  <a:srgbClr val="FFFFFF"/>
                </a:solidFill>
                <a:latin typeface="Trenda IG Text"/>
              </a:rPr>
              <a:t>Harness</a:t>
            </a:r>
            <a:r>
              <a:rPr sz="1100" b="1" i="0">
                <a:solidFill>
                  <a:srgbClr val="FFFFFF"/>
                </a:solidFill>
                <a:latin typeface="Trenda IG Text"/>
              </a:rPr>
              <a:t>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184666"/>
          </a:xfrm>
          <a:prstGeom prst="rect">
            <a:avLst/>
          </a:prstGeom>
          <a:noFill/>
        </p:spPr>
        <p:txBody>
          <a:bodyPr wrap="square" lIns="0" tIns="0" rIns="0" bIns="0" anchor="t">
            <a:spAutoFit/>
          </a:bodyPr>
          <a:lstStyle/>
          <a:p>
            <a:r>
              <a:rPr lang="en-IN" sz="1200" b="0" i="0">
                <a:solidFill>
                  <a:srgbClr val="FFFFFF"/>
                </a:solidFill>
                <a:latin typeface="Trenda IG Text"/>
              </a:rPr>
              <a:t>Harness</a:t>
            </a:r>
            <a:r>
              <a:rPr sz="1200" b="0" i="0">
                <a:solidFill>
                  <a:srgbClr val="FFFFFF"/>
                </a:solidFill>
                <a:latin typeface="Trenda IG Text"/>
              </a:rPr>
              <a:t>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3</a:t>
            </a:fld>
            <a:endParaRPr lang="en-US" sz="800">
              <a:solidFill>
                <a:srgbClr val="FFFFFF"/>
              </a:solidFill>
              <a:latin typeface="Trenda IG Text"/>
            </a:endParaRPr>
          </a:p>
        </p:txBody>
      </p:sp>
      <p:sp>
        <p:nvSpPr>
          <p:cNvPr id="108" name="draw.io link">
            <a:hlinkClick r:id="rId4"/>
          </p:cNvPr>
          <p:cNvSpPr txBox="1"/>
          <p:nvPr/>
        </p:nvSpPr>
        <p:spPr>
          <a:xfrm>
            <a:off x="9286579" y="6421540"/>
            <a:ext cx="1869101" cy="123111"/>
          </a:xfrm>
          <a:prstGeom prst="rect">
            <a:avLst/>
          </a:prstGeom>
          <a:noFill/>
        </p:spPr>
        <p:txBody>
          <a:bodyPr wrap="none" lIns="0" tIns="0" rIns="0" bIns="0" anchor="ctr">
            <a:spAutoFit/>
          </a:bodyPr>
          <a:lstStyle/>
          <a:p>
            <a:pPr algn="r"/>
            <a:r>
              <a:rPr sz="800" b="1" u="sng" dirty="0">
                <a:solidFill>
                  <a:srgbClr val="00D6F2"/>
                </a:solidFill>
                <a:latin typeface="Trenda IG Text"/>
                <a:hlinkClick r:id="rId5"/>
              </a:rPr>
              <a:t>Open the detailed design in draw.io  ↗</a:t>
            </a:r>
            <a:endParaRPr sz="800" b="1" u="sng" dirty="0">
              <a:solidFill>
                <a:srgbClr val="00D6F2"/>
              </a:solidFill>
              <a:latin typeface="Trenda IG Text"/>
              <a:hlinkClick r:id="rId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0233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200" normalizeH="0" baseline="0" noProof="0">
                <a:ln>
                  <a:noFill/>
                </a:ln>
                <a:solidFill>
                  <a:srgbClr val="00D6F2"/>
                </a:solidFill>
                <a:effectLst/>
                <a:uLnTx/>
                <a:uFillTx/>
                <a:latin typeface="Trenda IG Text"/>
                <a:ea typeface="+mn-ea"/>
                <a:cs typeface="+mn-cs"/>
              </a:rPr>
              <a:t>THE AGENTIC HARNESS</a:t>
            </a:r>
            <a:r>
              <a:rPr kumimoji="0" sz="900" b="0" i="0" u="none" strike="noStrike" kern="1200" cap="none" spc="0" normalizeH="0" baseline="0" noProof="0">
                <a:ln>
                  <a:noFill/>
                </a:ln>
                <a:solidFill>
                  <a:srgbClr val="BFBFBF"/>
                </a:solidFill>
                <a:effectLst/>
                <a:uLnTx/>
                <a:uFillTx/>
                <a:latin typeface="Trenda IG Text"/>
                <a:ea typeface="+mn-ea"/>
                <a:cs typeface="+mn-cs"/>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 name="Text 8"/>
          <p:cNvSpPr txBox="1"/>
          <p:nvPr/>
        </p:nvSpPr>
        <p:spPr>
          <a:xfrm>
            <a:off x="57607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0" name="Text 9"/>
          <p:cNvSpPr txBox="1"/>
          <p:nvPr/>
        </p:nvSpPr>
        <p:spPr>
          <a:xfrm>
            <a:off x="57607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1" name="Text 10"/>
          <p:cNvSpPr txBox="1"/>
          <p:nvPr/>
        </p:nvSpPr>
        <p:spPr>
          <a:xfrm>
            <a:off x="57607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57607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4"/>
          <p:cNvSpPr txBox="1"/>
          <p:nvPr/>
        </p:nvSpPr>
        <p:spPr>
          <a:xfrm>
            <a:off x="74066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74066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74066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74066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287670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8" name="Text 27"/>
          <p:cNvSpPr txBox="1"/>
          <p:nvPr/>
        </p:nvSpPr>
        <p:spPr>
          <a:xfrm>
            <a:off x="287670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9" name="Text 28"/>
          <p:cNvSpPr txBox="1"/>
          <p:nvPr/>
        </p:nvSpPr>
        <p:spPr>
          <a:xfrm>
            <a:off x="287670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7670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304129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304129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304129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304129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517733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46" name="Text 45"/>
          <p:cNvSpPr txBox="1"/>
          <p:nvPr/>
        </p:nvSpPr>
        <p:spPr>
          <a:xfrm>
            <a:off x="517733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47" name="Text 46"/>
          <p:cNvSpPr txBox="1"/>
          <p:nvPr/>
        </p:nvSpPr>
        <p:spPr>
          <a:xfrm>
            <a:off x="517733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517733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534192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534192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34192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534192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47796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64" name="Text 63"/>
          <p:cNvSpPr txBox="1"/>
          <p:nvPr/>
        </p:nvSpPr>
        <p:spPr>
          <a:xfrm>
            <a:off x="747796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65" name="Text 64"/>
          <p:cNvSpPr txBox="1"/>
          <p:nvPr/>
        </p:nvSpPr>
        <p:spPr>
          <a:xfrm>
            <a:off x="747796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747796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764255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764255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3"/>
          <p:cNvSpPr txBox="1"/>
          <p:nvPr/>
        </p:nvSpPr>
        <p:spPr>
          <a:xfrm>
            <a:off x="764255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764255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977859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82" name="Text 81"/>
          <p:cNvSpPr txBox="1"/>
          <p:nvPr/>
        </p:nvSpPr>
        <p:spPr>
          <a:xfrm>
            <a:off x="977859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83" name="Text 82"/>
          <p:cNvSpPr txBox="1"/>
          <p:nvPr/>
        </p:nvSpPr>
        <p:spPr>
          <a:xfrm>
            <a:off x="977859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977859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994318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994318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994318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994318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8" name="Text 97"/>
          <p:cNvSpPr txBox="1"/>
          <p:nvPr/>
        </p:nvSpPr>
        <p:spPr>
          <a:xfrm>
            <a:off x="640080" y="5230368"/>
            <a:ext cx="2194560"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99" name="Text 98"/>
          <p:cNvSpPr txBox="1"/>
          <p:nvPr/>
        </p:nvSpPr>
        <p:spPr>
          <a:xfrm>
            <a:off x="2788920" y="5230368"/>
            <a:ext cx="8759952"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The org health report is a read-only Review Agent run: it changes nothing in the org.</a:t>
            </a:r>
          </a:p>
        </p:txBody>
      </p:sp>
      <p:pic>
        <p:nvPicPr>
          <p:cNvPr id="101" name="Picture 100" descr="image.png"/>
          <p:cNvPicPr>
            <a:picLocks noChangeAspect="1"/>
          </p:cNvPicPr>
          <p:nvPr/>
        </p:nvPicPr>
        <p:blipFill>
          <a:blip r:embed="rId3"/>
          <a:stretch>
            <a:fillRect/>
          </a:stretch>
        </p:blipFill>
        <p:spPr>
          <a:xfrm>
            <a:off x="502920" y="6428232"/>
            <a:ext cx="496062" cy="103601"/>
          </a:xfrm>
          <a:prstGeom prst="rect">
            <a:avLst/>
          </a:prstGeom>
        </p:spPr>
      </p:pic>
      <p:sp>
        <p:nvSpPr>
          <p:cNvPr id="10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2510581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EVALS AND RELIABILITY</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Evals are how we earn reliability</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AI is non-deterministic, so reliability is earned run by run: every output is tested before it moves on, and every miss becomes a new test.</a:t>
            </a:r>
          </a:p>
        </p:txBody>
      </p:sp>
      <p:sp>
        <p:nvSpPr>
          <p:cNvPr id="5" name="Shape 4"/>
          <p:cNvSpPr/>
          <p:nvPr/>
        </p:nvSpPr>
        <p:spPr>
          <a:xfrm>
            <a:off x="411480" y="1188720"/>
            <a:ext cx="11365992" cy="475488"/>
          </a:xfrm>
          <a:prstGeom prst="roundRect">
            <a:avLst>
              <a:gd name="adj" fmla="val 50000"/>
            </a:avLst>
          </a:prstGeom>
          <a:solidFill>
            <a:srgbClr val="000000">
              <a:alpha val="40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7548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600" b="1" i="0" u="none" strike="noStrike" kern="1200" cap="none" spc="150" normalizeH="0" baseline="0" noProof="0">
                <a:ln>
                  <a:noFill/>
                </a:ln>
                <a:solidFill>
                  <a:srgbClr val="FFFFFF"/>
                </a:solidFill>
                <a:effectLst/>
                <a:uLnTx/>
                <a:uFillTx/>
                <a:latin typeface="Trenda IG Text"/>
                <a:ea typeface="+mn-ea"/>
                <a:cs typeface="+mn-cs"/>
              </a:rPr>
              <a:t>RELIABILITY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00D6F2"/>
                </a:solidFill>
                <a:effectLst/>
                <a:uLnTx/>
                <a:uFillTx/>
                <a:latin typeface="Trenda IG Text"/>
                <a:ea typeface="+mn-ea"/>
                <a:cs typeface="+mn-cs"/>
              </a:rPr>
              <a:t>OBSERVABILITY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FFD700"/>
                </a:solidFill>
                <a:effectLst/>
                <a:uLnTx/>
                <a:uFillTx/>
                <a:latin typeface="Trenda IG Text"/>
                <a:ea typeface="+mn-ea"/>
                <a:cs typeface="+mn-cs"/>
              </a:rPr>
              <a:t>EVALS</a:t>
            </a:r>
            <a:r>
              <a:rPr kumimoji="0" sz="1000" b="0" i="0" u="none" strike="noStrike" kern="1200" cap="none" spc="150" normalizeH="0" baseline="0" noProof="0">
                <a:ln>
                  <a:noFill/>
                </a:ln>
                <a:solidFill>
                  <a:srgbClr val="BFBFBF"/>
                </a:solidFill>
                <a:effectLst/>
                <a:uLnTx/>
                <a:uFillTx/>
                <a:latin typeface="Trenda IG Text"/>
                <a:ea typeface="+mn-ea"/>
                <a:cs typeface="+mn-cs"/>
              </a:rPr>
              <a:t>        protected by </a:t>
            </a:r>
            <a:r>
              <a:rPr kumimoji="0" sz="1600" b="1" i="0" u="none" strike="noStrike" kern="1200" cap="none" spc="150" normalizeH="0" baseline="0" noProof="0">
                <a:ln>
                  <a:noFill/>
                </a:ln>
                <a:solidFill>
                  <a:srgbClr val="FF0069"/>
                </a:solidFill>
                <a:effectLst/>
                <a:uLnTx/>
                <a:uFillTx/>
                <a:latin typeface="Trenda IG Text"/>
                <a:ea typeface="+mn-ea"/>
                <a:cs typeface="+mn-cs"/>
              </a:rPr>
              <a:t>GUARDRAILS</a:t>
            </a:r>
          </a:p>
        </p:txBody>
      </p:sp>
      <p:sp>
        <p:nvSpPr>
          <p:cNvPr id="7" name="Shape 6"/>
          <p:cNvSpPr/>
          <p:nvPr/>
        </p:nvSpPr>
        <p:spPr>
          <a:xfrm>
            <a:off x="411480" y="1810512"/>
            <a:ext cx="11365992" cy="4224527"/>
          </a:xfrm>
          <a:prstGeom prst="roundRect">
            <a:avLst>
              <a:gd name="adj" fmla="val 5000"/>
            </a:avLst>
          </a:prstGeom>
          <a:noFill/>
          <a:ln w="15875">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566928" y="1847088"/>
            <a:ext cx="420624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150" normalizeH="0" baseline="0" noProof="0">
                <a:ln>
                  <a:noFill/>
                </a:ln>
                <a:solidFill>
                  <a:srgbClr val="FF0069"/>
                </a:solidFill>
                <a:effectLst/>
                <a:uLnTx/>
                <a:uFillTx/>
                <a:latin typeface="Trenda IG Text"/>
                <a:ea typeface="+mn-ea"/>
                <a:cs typeface="+mn-cs"/>
              </a:rPr>
              <a:t>GUARDRAILS IN AND OUT  </a:t>
            </a:r>
            <a:r>
              <a:rPr kumimoji="0" sz="650" b="0" i="0" u="none" strike="noStrike" kern="1200" cap="none" spc="0" normalizeH="0" baseline="0" noProof="0">
                <a:ln>
                  <a:noFill/>
                </a:ln>
                <a:solidFill>
                  <a:srgbClr val="BFBFBF"/>
                </a:solidFill>
                <a:effectLst/>
                <a:uLnTx/>
                <a:uFillTx/>
                <a:latin typeface="Trenda IG Text"/>
                <a:ea typeface="+mn-ea"/>
                <a:cs typeface="+mn-cs"/>
              </a:rPr>
              <a:t>no agent holds a production credential</a:t>
            </a:r>
          </a:p>
        </p:txBody>
      </p:sp>
      <p:sp>
        <p:nvSpPr>
          <p:cNvPr id="9" name="Shape 8"/>
          <p:cNvSpPr/>
          <p:nvPr/>
        </p:nvSpPr>
        <p:spPr>
          <a:xfrm>
            <a:off x="658368" y="230428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804672"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AGENT OUTPUT</a:t>
            </a:r>
          </a:p>
        </p:txBody>
      </p:sp>
      <p:sp>
        <p:nvSpPr>
          <p:cNvPr id="11" name="Text 10"/>
          <p:cNvSpPr txBox="1"/>
          <p:nvPr/>
        </p:nvSpPr>
        <p:spPr>
          <a:xfrm>
            <a:off x="804672"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brief, design, code, tests: every step's work</a:t>
            </a:r>
          </a:p>
        </p:txBody>
      </p:sp>
      <p:cxnSp>
        <p:nvCxnSpPr>
          <p:cNvPr id="12" name="Arrow 11"/>
          <p:cNvCxnSpPr/>
          <p:nvPr/>
        </p:nvCxnSpPr>
        <p:spPr>
          <a:xfrm>
            <a:off x="3392424" y="2688336"/>
            <a:ext cx="1641077" cy="726983"/>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658368" y="3493008"/>
            <a:ext cx="2697480" cy="768096"/>
          </a:xfrm>
          <a:prstGeom prst="roundRect">
            <a:avLst>
              <a:gd name="adj" fmla="val 12000"/>
            </a:avLst>
          </a:prstGeom>
          <a:solidFill>
            <a:srgbClr val="000000">
              <a:alpha val="6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Text 13"/>
          <p:cNvSpPr txBox="1"/>
          <p:nvPr/>
        </p:nvSpPr>
        <p:spPr>
          <a:xfrm>
            <a:off x="804672"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00D6F2"/>
                </a:solidFill>
                <a:effectLst/>
                <a:uLnTx/>
                <a:uFillTx/>
                <a:latin typeface="Trenda IG Text"/>
                <a:ea typeface="+mn-ea"/>
                <a:cs typeface="+mn-cs"/>
              </a:rPr>
              <a:t>AGENT TRACES</a:t>
            </a:r>
          </a:p>
        </p:txBody>
      </p:sp>
      <p:sp>
        <p:nvSpPr>
          <p:cNvPr id="15" name="Text 14"/>
          <p:cNvSpPr txBox="1"/>
          <p:nvPr/>
        </p:nvSpPr>
        <p:spPr>
          <a:xfrm>
            <a:off x="804672"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prompt, tool call, decision and cost (observability)</a:t>
            </a:r>
          </a:p>
        </p:txBody>
      </p:sp>
      <p:cxnSp>
        <p:nvCxnSpPr>
          <p:cNvPr id="16" name="Arrow 15"/>
          <p:cNvCxnSpPr/>
          <p:nvPr/>
        </p:nvCxnSpPr>
        <p:spPr>
          <a:xfrm>
            <a:off x="3392424" y="3877056"/>
            <a:ext cx="1545336" cy="0"/>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58368" y="468172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804672"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GOLDEN SET + WEEKLY SAMPLE</a:t>
            </a:r>
          </a:p>
        </p:txBody>
      </p:sp>
      <p:sp>
        <p:nvSpPr>
          <p:cNvPr id="19" name="Text 18"/>
          <p:cNvSpPr txBox="1"/>
          <p:nvPr/>
        </p:nvSpPr>
        <p:spPr>
          <a:xfrm>
            <a:off x="804672"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real Ascension changes, labelled by your experts</a:t>
            </a:r>
          </a:p>
        </p:txBody>
      </p:sp>
      <p:cxnSp>
        <p:nvCxnSpPr>
          <p:cNvPr id="20" name="Arrow 19"/>
          <p:cNvCxnSpPr/>
          <p:nvPr/>
        </p:nvCxnSpPr>
        <p:spPr>
          <a:xfrm flipV="1">
            <a:off x="3392424" y="4338792"/>
            <a:ext cx="1641077" cy="726984"/>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20"/>
          <p:cNvSpPr/>
          <p:nvPr/>
        </p:nvSpPr>
        <p:spPr>
          <a:xfrm>
            <a:off x="8833104" y="2304288"/>
            <a:ext cx="2697480" cy="768096"/>
          </a:xfrm>
          <a:prstGeom prst="roundRect">
            <a:avLst>
              <a:gd name="adj" fmla="val 12000"/>
            </a:avLst>
          </a:prstGeom>
          <a:solidFill>
            <a:srgbClr val="000000">
              <a:alpha val="65000"/>
            </a:srgbClr>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1"/>
          <p:cNvSpPr txBox="1"/>
          <p:nvPr/>
        </p:nvSpPr>
        <p:spPr>
          <a:xfrm>
            <a:off x="8979408"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0069"/>
                </a:solidFill>
                <a:effectLst/>
                <a:uLnTx/>
                <a:uFillTx/>
                <a:latin typeface="Trenda IG Text"/>
                <a:ea typeface="+mn-ea"/>
                <a:cs typeface="+mn-cs"/>
              </a:rPr>
              <a:t>RETRY</a:t>
            </a:r>
          </a:p>
        </p:txBody>
      </p:sp>
      <p:sp>
        <p:nvSpPr>
          <p:cNvPr id="23" name="Text 22"/>
          <p:cNvSpPr txBox="1"/>
          <p:nvPr/>
        </p:nvSpPr>
        <p:spPr>
          <a:xfrm>
            <a:off x="8979408"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fails: try again with the failure as feedback; max 5, then a named owner</a:t>
            </a:r>
          </a:p>
        </p:txBody>
      </p:sp>
      <p:cxnSp>
        <p:nvCxnSpPr>
          <p:cNvPr id="24" name="Arrow 23"/>
          <p:cNvCxnSpPr/>
          <p:nvPr/>
        </p:nvCxnSpPr>
        <p:spPr>
          <a:xfrm flipV="1">
            <a:off x="7164030" y="2688336"/>
            <a:ext cx="1632498" cy="725684"/>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hape 24"/>
          <p:cNvSpPr/>
          <p:nvPr/>
        </p:nvSpPr>
        <p:spPr>
          <a:xfrm>
            <a:off x="8833104" y="3493008"/>
            <a:ext cx="2697480" cy="768096"/>
          </a:xfrm>
          <a:prstGeom prst="roundRect">
            <a:avLst>
              <a:gd name="adj" fmla="val 12000"/>
            </a:avLst>
          </a:prstGeom>
          <a:solidFill>
            <a:srgbClr val="000000">
              <a:alpha val="65000"/>
            </a:srgbClr>
          </a:solidFill>
          <a:ln w="254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6" name="Text 25"/>
          <p:cNvSpPr txBox="1"/>
          <p:nvPr/>
        </p:nvSpPr>
        <p:spPr>
          <a:xfrm>
            <a:off x="8979408"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56E13B"/>
                </a:solidFill>
                <a:effectLst/>
                <a:uLnTx/>
                <a:uFillTx/>
                <a:latin typeface="Trenda IG Text"/>
                <a:ea typeface="+mn-ea"/>
                <a:cs typeface="+mn-cs"/>
              </a:rPr>
              <a:t>PASS</a:t>
            </a:r>
          </a:p>
        </p:txBody>
      </p:sp>
      <p:sp>
        <p:nvSpPr>
          <p:cNvPr id="27" name="Text 26"/>
          <p:cNvSpPr txBox="1"/>
          <p:nvPr/>
        </p:nvSpPr>
        <p:spPr>
          <a:xfrm>
            <a:off x="8979408"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FFFFFF"/>
                </a:solidFill>
                <a:effectLst/>
                <a:uLnTx/>
                <a:uFillTx/>
                <a:latin typeface="Trenda IG Text"/>
                <a:ea typeface="+mn-ea"/>
                <a:cs typeface="+mn-cs"/>
              </a:rPr>
              <a:t>output guardrails, then people approve at H1-H4 and CAB, then release</a:t>
            </a:r>
          </a:p>
        </p:txBody>
      </p:sp>
      <p:cxnSp>
        <p:nvCxnSpPr>
          <p:cNvPr id="28" name="Arrow 27"/>
          <p:cNvCxnSpPr/>
          <p:nvPr/>
        </p:nvCxnSpPr>
        <p:spPr>
          <a:xfrm>
            <a:off x="7260336" y="3877056"/>
            <a:ext cx="1536192" cy="0"/>
          </a:xfrm>
          <a:prstGeom prst="line">
            <a:avLst/>
          </a:prstGeom>
          <a:ln w="31750">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8833104" y="4681728"/>
            <a:ext cx="2697480" cy="768096"/>
          </a:xfrm>
          <a:prstGeom prst="roundRect">
            <a:avLst>
              <a:gd name="adj" fmla="val 12000"/>
            </a:avLst>
          </a:prstGeom>
          <a:solidFill>
            <a:srgbClr val="000000">
              <a:alpha val="65000"/>
            </a:srgbClr>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29"/>
          <p:cNvSpPr txBox="1"/>
          <p:nvPr/>
        </p:nvSpPr>
        <p:spPr>
          <a:xfrm>
            <a:off x="8979408"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D700"/>
                </a:solidFill>
                <a:effectLst/>
                <a:uLnTx/>
                <a:uFillTx/>
                <a:latin typeface="Trenda IG Text"/>
                <a:ea typeface="+mn-ea"/>
                <a:cs typeface="+mn-cs"/>
              </a:rPr>
              <a:t>LEARN</a:t>
            </a:r>
          </a:p>
        </p:txBody>
      </p:sp>
      <p:sp>
        <p:nvSpPr>
          <p:cNvPr id="31" name="Text 30"/>
          <p:cNvSpPr txBox="1"/>
          <p:nvPr/>
        </p:nvSpPr>
        <p:spPr>
          <a:xfrm>
            <a:off x="8979408"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miss: diagnose the agent or context, tune, re-test on the golden set</a:t>
            </a:r>
          </a:p>
        </p:txBody>
      </p:sp>
      <p:cxnSp>
        <p:nvCxnSpPr>
          <p:cNvPr id="32" name="Arrow 31"/>
          <p:cNvCxnSpPr/>
          <p:nvPr/>
        </p:nvCxnSpPr>
        <p:spPr>
          <a:xfrm>
            <a:off x="7164030" y="4340091"/>
            <a:ext cx="1632498" cy="725685"/>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4956048" y="2734056"/>
            <a:ext cx="2286000" cy="2286000"/>
          </a:xfrm>
          <a:prstGeom prst="ellipse">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Shape 33"/>
          <p:cNvSpPr/>
          <p:nvPr/>
        </p:nvSpPr>
        <p:spPr>
          <a:xfrm>
            <a:off x="5230368" y="3008376"/>
            <a:ext cx="1737360" cy="1737360"/>
          </a:xfrm>
          <a:prstGeom prst="ellipse">
            <a:avLst/>
          </a:prstGeom>
          <a:solidFill>
            <a:srgbClr val="000000">
              <a:alpha val="72000"/>
            </a:srgbClr>
          </a:solidFill>
          <a:ln w="381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5230368" y="3493008"/>
            <a:ext cx="1737360" cy="45720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800" b="1" i="0" u="none" strike="noStrike" kern="1200" cap="none" spc="100" normalizeH="0" baseline="0" noProof="0">
                <a:ln>
                  <a:noFill/>
                </a:ln>
                <a:solidFill>
                  <a:srgbClr val="FFD700"/>
                </a:solidFill>
                <a:effectLst/>
                <a:uLnTx/>
                <a:uFillTx/>
                <a:latin typeface="Trenda IG Text"/>
                <a:ea typeface="+mn-ea"/>
                <a:cs typeface="+mn-cs"/>
              </a:rPr>
              <a:t>EVALS</a:t>
            </a:r>
          </a:p>
        </p:txBody>
      </p:sp>
      <p:sp>
        <p:nvSpPr>
          <p:cNvPr id="36" name="Text 35"/>
          <p:cNvSpPr txBox="1"/>
          <p:nvPr/>
        </p:nvSpPr>
        <p:spPr>
          <a:xfrm>
            <a:off x="5230368" y="3950208"/>
            <a:ext cx="173736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QA for AI agents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on every run</a:t>
            </a:r>
          </a:p>
        </p:txBody>
      </p:sp>
      <p:sp>
        <p:nvSpPr>
          <p:cNvPr id="37" name="Shape 36"/>
          <p:cNvSpPr/>
          <p:nvPr/>
        </p:nvSpPr>
        <p:spPr>
          <a:xfrm>
            <a:off x="4471416"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562856"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Answer relevancy</a:t>
            </a:r>
          </a:p>
        </p:txBody>
      </p:sp>
      <p:sp>
        <p:nvSpPr>
          <p:cNvPr id="39" name="Text 38"/>
          <p:cNvSpPr txBox="1"/>
          <p:nvPr/>
        </p:nvSpPr>
        <p:spPr>
          <a:xfrm>
            <a:off x="4526280"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answers the story that was asked</a:t>
            </a:r>
          </a:p>
        </p:txBody>
      </p:sp>
      <p:sp>
        <p:nvSpPr>
          <p:cNvPr id="40" name="Shape 39"/>
          <p:cNvSpPr/>
          <p:nvPr/>
        </p:nvSpPr>
        <p:spPr>
          <a:xfrm>
            <a:off x="6153912"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6245351"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Groundedness</a:t>
            </a:r>
          </a:p>
        </p:txBody>
      </p:sp>
      <p:sp>
        <p:nvSpPr>
          <p:cNvPr id="42" name="Text 41"/>
          <p:cNvSpPr txBox="1"/>
          <p:nvPr/>
        </p:nvSpPr>
        <p:spPr>
          <a:xfrm>
            <a:off x="6208775"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every claim cites the graph or a tool</a:t>
            </a:r>
          </a:p>
        </p:txBody>
      </p:sp>
      <p:sp>
        <p:nvSpPr>
          <p:cNvPr id="43" name="Shape 42"/>
          <p:cNvSpPr/>
          <p:nvPr/>
        </p:nvSpPr>
        <p:spPr>
          <a:xfrm>
            <a:off x="4471416"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62856"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Tool sequence</a:t>
            </a:r>
          </a:p>
        </p:txBody>
      </p:sp>
      <p:sp>
        <p:nvSpPr>
          <p:cNvPr id="45" name="Text 44"/>
          <p:cNvSpPr txBox="1"/>
          <p:nvPr/>
        </p:nvSpPr>
        <p:spPr>
          <a:xfrm>
            <a:off x="4526280"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tools, right order, no repeats</a:t>
            </a:r>
          </a:p>
        </p:txBody>
      </p:sp>
      <p:sp>
        <p:nvSpPr>
          <p:cNvPr id="46" name="Shape 45"/>
          <p:cNvSpPr/>
          <p:nvPr/>
        </p:nvSpPr>
        <p:spPr>
          <a:xfrm>
            <a:off x="6153912"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6245351"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pass@k</a:t>
            </a:r>
          </a:p>
        </p:txBody>
      </p:sp>
      <p:sp>
        <p:nvSpPr>
          <p:cNvPr id="48" name="Text 47"/>
          <p:cNvSpPr txBox="1"/>
          <p:nvPr/>
        </p:nvSpPr>
        <p:spPr>
          <a:xfrm>
            <a:off x="6208775"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first time, and by attempt 5</a:t>
            </a:r>
          </a:p>
        </p:txBody>
      </p:sp>
      <p:sp>
        <p:nvSpPr>
          <p:cNvPr id="49" name="Freeform 48"/>
          <p:cNvSpPr/>
          <p:nvPr/>
        </p:nvSpPr>
        <p:spPr>
          <a:xfrm>
            <a:off x="2007108" y="1993392"/>
            <a:ext cx="8174736" cy="310896"/>
          </a:xfrm>
          <a:custGeom>
            <a:avLst/>
            <a:gdLst/>
            <a:ahLst/>
            <a:cxnLst/>
            <a:rect l="l" t="t" r="r" b="b"/>
            <a:pathLst>
              <a:path w="8174736" h="310896">
                <a:moveTo>
                  <a:pt x="8174736" y="310896"/>
                </a:moveTo>
                <a:lnTo>
                  <a:pt x="8162136" y="286503"/>
                </a:lnTo>
                <a:lnTo>
                  <a:pt x="8124413" y="262261"/>
                </a:lnTo>
                <a:lnTo>
                  <a:pt x="8061801" y="238318"/>
                </a:lnTo>
                <a:lnTo>
                  <a:pt x="7974685" y="214823"/>
                </a:lnTo>
                <a:lnTo>
                  <a:pt x="7863603" y="191921"/>
                </a:lnTo>
                <a:lnTo>
                  <a:pt x="7729239" y="169752"/>
                </a:lnTo>
                <a:lnTo>
                  <a:pt x="7572422" y="148453"/>
                </a:lnTo>
                <a:lnTo>
                  <a:pt x="7394118" y="128155"/>
                </a:lnTo>
                <a:lnTo>
                  <a:pt x="7195427" y="108985"/>
                </a:lnTo>
                <a:lnTo>
                  <a:pt x="6977573" y="91059"/>
                </a:lnTo>
                <a:lnTo>
                  <a:pt x="6741901" y="74488"/>
                </a:lnTo>
                <a:lnTo>
                  <a:pt x="6489862" y="59375"/>
                </a:lnTo>
                <a:lnTo>
                  <a:pt x="6223011" y="45813"/>
                </a:lnTo>
                <a:lnTo>
                  <a:pt x="5942994" y="33885"/>
                </a:lnTo>
                <a:lnTo>
                  <a:pt x="5651536" y="23665"/>
                </a:lnTo>
                <a:lnTo>
                  <a:pt x="5350434" y="15216"/>
                </a:lnTo>
                <a:lnTo>
                  <a:pt x="5041545" y="8590"/>
                </a:lnTo>
                <a:lnTo>
                  <a:pt x="4726773" y="3827"/>
                </a:lnTo>
                <a:lnTo>
                  <a:pt x="4408059" y="958"/>
                </a:lnTo>
                <a:lnTo>
                  <a:pt x="4087368" y="0"/>
                </a:lnTo>
                <a:lnTo>
                  <a:pt x="3766676" y="958"/>
                </a:lnTo>
                <a:lnTo>
                  <a:pt x="3447962" y="3827"/>
                </a:lnTo>
                <a:lnTo>
                  <a:pt x="3133190" y="8590"/>
                </a:lnTo>
                <a:lnTo>
                  <a:pt x="2824301" y="15216"/>
                </a:lnTo>
                <a:lnTo>
                  <a:pt x="2523199" y="23665"/>
                </a:lnTo>
                <a:lnTo>
                  <a:pt x="2231741" y="33885"/>
                </a:lnTo>
                <a:lnTo>
                  <a:pt x="1951724" y="45813"/>
                </a:lnTo>
                <a:lnTo>
                  <a:pt x="1684873" y="59375"/>
                </a:lnTo>
                <a:lnTo>
                  <a:pt x="1432834" y="74488"/>
                </a:lnTo>
                <a:lnTo>
                  <a:pt x="1197162" y="91059"/>
                </a:lnTo>
                <a:lnTo>
                  <a:pt x="979308" y="108985"/>
                </a:lnTo>
                <a:lnTo>
                  <a:pt x="780617" y="128155"/>
                </a:lnTo>
                <a:lnTo>
                  <a:pt x="602313" y="148453"/>
                </a:lnTo>
                <a:lnTo>
                  <a:pt x="445496" y="169752"/>
                </a:lnTo>
                <a:lnTo>
                  <a:pt x="311132" y="191921"/>
                </a:lnTo>
                <a:lnTo>
                  <a:pt x="200050" y="214823"/>
                </a:lnTo>
                <a:lnTo>
                  <a:pt x="112934" y="238318"/>
                </a:lnTo>
                <a:lnTo>
                  <a:pt x="50322" y="262261"/>
                </a:lnTo>
                <a:lnTo>
                  <a:pt x="12599" y="286503"/>
                </a:lnTo>
                <a:lnTo>
                  <a:pt x="0" y="310896"/>
                </a:lnTo>
              </a:path>
            </a:pathLst>
          </a:custGeom>
          <a:noFill/>
          <a:ln w="25400">
            <a:solidFill>
              <a:srgbClr val="FF0069"/>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Shape 48"/>
          <p:cNvSpPr/>
          <p:nvPr/>
        </p:nvSpPr>
        <p:spPr>
          <a:xfrm>
            <a:off x="4041648" y="1892807"/>
            <a:ext cx="4114800" cy="201168"/>
          </a:xfrm>
          <a:prstGeom prst="roundRect">
            <a:avLst>
              <a:gd name="adj" fmla="val 50000"/>
            </a:avLst>
          </a:prstGeom>
          <a:solidFill>
            <a:srgbClr val="00000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49"/>
          <p:cNvSpPr txBox="1"/>
          <p:nvPr/>
        </p:nvSpPr>
        <p:spPr>
          <a:xfrm>
            <a:off x="3904487" y="1892807"/>
            <a:ext cx="438912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0069"/>
                </a:solidFill>
                <a:effectLst/>
                <a:uLnTx/>
                <a:uFillTx/>
                <a:latin typeface="Trenda IG Text"/>
                <a:ea typeface="+mn-ea"/>
                <a:cs typeface="+mn-cs"/>
              </a:rPr>
              <a:t>BOUNDED LOOP  </a:t>
            </a:r>
            <a:r>
              <a:rPr kumimoji="0" sz="750" b="0" i="0" u="none" strike="noStrike" kern="1200" cap="none" spc="0" normalizeH="0" baseline="0" noProof="0">
                <a:ln>
                  <a:noFill/>
                </a:ln>
                <a:solidFill>
                  <a:srgbClr val="FFFFFF"/>
                </a:solidFill>
                <a:effectLst/>
                <a:uLnTx/>
                <a:uFillTx/>
                <a:latin typeface="Trenda IG Text"/>
                <a:ea typeface="+mn-ea"/>
                <a:cs typeface="+mn-cs"/>
              </a:rPr>
              <a:t>back to the agent, max 5 attempts, then a named owner</a:t>
            </a:r>
          </a:p>
        </p:txBody>
      </p:sp>
      <p:sp>
        <p:nvSpPr>
          <p:cNvPr id="52" name="Freeform 51"/>
          <p:cNvSpPr/>
          <p:nvPr/>
        </p:nvSpPr>
        <p:spPr>
          <a:xfrm>
            <a:off x="2007108" y="5449824"/>
            <a:ext cx="8174736" cy="347472"/>
          </a:xfrm>
          <a:custGeom>
            <a:avLst/>
            <a:gdLst/>
            <a:ahLst/>
            <a:cxnLst/>
            <a:rect l="l" t="t" r="r" b="b"/>
            <a:pathLst>
              <a:path w="8174736" h="347472">
                <a:moveTo>
                  <a:pt x="8174736" y="0"/>
                </a:moveTo>
                <a:lnTo>
                  <a:pt x="8162136" y="27262"/>
                </a:lnTo>
                <a:lnTo>
                  <a:pt x="8124413" y="54356"/>
                </a:lnTo>
                <a:lnTo>
                  <a:pt x="8061801" y="81115"/>
                </a:lnTo>
                <a:lnTo>
                  <a:pt x="7974685" y="107374"/>
                </a:lnTo>
                <a:lnTo>
                  <a:pt x="7863603" y="132971"/>
                </a:lnTo>
                <a:lnTo>
                  <a:pt x="7729239" y="157748"/>
                </a:lnTo>
                <a:lnTo>
                  <a:pt x="7572422" y="181553"/>
                </a:lnTo>
                <a:lnTo>
                  <a:pt x="7394118" y="204238"/>
                </a:lnTo>
                <a:lnTo>
                  <a:pt x="7195427" y="225665"/>
                </a:lnTo>
                <a:lnTo>
                  <a:pt x="6977573" y="245699"/>
                </a:lnTo>
                <a:lnTo>
                  <a:pt x="6741901" y="264219"/>
                </a:lnTo>
                <a:lnTo>
                  <a:pt x="6489862" y="281110"/>
                </a:lnTo>
                <a:lnTo>
                  <a:pt x="6223011" y="296268"/>
                </a:lnTo>
                <a:lnTo>
                  <a:pt x="5942994" y="309599"/>
                </a:lnTo>
                <a:lnTo>
                  <a:pt x="5651536" y="321022"/>
                </a:lnTo>
                <a:lnTo>
                  <a:pt x="5350434" y="330465"/>
                </a:lnTo>
                <a:lnTo>
                  <a:pt x="5041545" y="337871"/>
                </a:lnTo>
                <a:lnTo>
                  <a:pt x="4726773" y="343194"/>
                </a:lnTo>
                <a:lnTo>
                  <a:pt x="4408059" y="346400"/>
                </a:lnTo>
                <a:lnTo>
                  <a:pt x="4087368" y="347472"/>
                </a:lnTo>
                <a:lnTo>
                  <a:pt x="3766676" y="346400"/>
                </a:lnTo>
                <a:lnTo>
                  <a:pt x="3447962" y="343194"/>
                </a:lnTo>
                <a:lnTo>
                  <a:pt x="3133190" y="337871"/>
                </a:lnTo>
                <a:lnTo>
                  <a:pt x="2824301" y="330465"/>
                </a:lnTo>
                <a:lnTo>
                  <a:pt x="2523199" y="321022"/>
                </a:lnTo>
                <a:lnTo>
                  <a:pt x="2231741" y="309599"/>
                </a:lnTo>
                <a:lnTo>
                  <a:pt x="1951724" y="296268"/>
                </a:lnTo>
                <a:lnTo>
                  <a:pt x="1684873" y="281110"/>
                </a:lnTo>
                <a:lnTo>
                  <a:pt x="1432834" y="264219"/>
                </a:lnTo>
                <a:lnTo>
                  <a:pt x="1197162" y="245699"/>
                </a:lnTo>
                <a:lnTo>
                  <a:pt x="979308" y="225665"/>
                </a:lnTo>
                <a:lnTo>
                  <a:pt x="780617" y="204238"/>
                </a:lnTo>
                <a:lnTo>
                  <a:pt x="602313" y="181553"/>
                </a:lnTo>
                <a:lnTo>
                  <a:pt x="445496" y="157748"/>
                </a:lnTo>
                <a:lnTo>
                  <a:pt x="311132" y="132971"/>
                </a:lnTo>
                <a:lnTo>
                  <a:pt x="200050" y="107374"/>
                </a:lnTo>
                <a:lnTo>
                  <a:pt x="112934" y="81115"/>
                </a:lnTo>
                <a:lnTo>
                  <a:pt x="50322" y="54356"/>
                </a:lnTo>
                <a:lnTo>
                  <a:pt x="12599" y="27262"/>
                </a:lnTo>
                <a:lnTo>
                  <a:pt x="0" y="0"/>
                </a:lnTo>
              </a:path>
            </a:pathLst>
          </a:custGeom>
          <a:noFill/>
          <a:ln w="31750">
            <a:solidFill>
              <a:srgbClr val="FFD700"/>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Shape 50"/>
          <p:cNvSpPr/>
          <p:nvPr/>
        </p:nvSpPr>
        <p:spPr>
          <a:xfrm>
            <a:off x="4407408" y="5696712"/>
            <a:ext cx="3383280" cy="201168"/>
          </a:xfrm>
          <a:prstGeom prst="roundRect">
            <a:avLst>
              <a:gd name="adj" fmla="val 50000"/>
            </a:avLst>
          </a:prstGeom>
          <a:solidFill>
            <a:srgbClr val="0000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1"/>
          <p:cNvSpPr txBox="1"/>
          <p:nvPr/>
        </p:nvSpPr>
        <p:spPr>
          <a:xfrm>
            <a:off x="3721608" y="5696712"/>
            <a:ext cx="475488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D700"/>
                </a:solidFill>
                <a:effectLst/>
                <a:uLnTx/>
                <a:uFillTx/>
                <a:latin typeface="Trenda IG Text"/>
                <a:ea typeface="+mn-ea"/>
                <a:cs typeface="+mn-cs"/>
              </a:rPr>
              <a:t>CLOSED LOOP  </a:t>
            </a:r>
            <a:r>
              <a:rPr kumimoji="0" sz="750" b="0" i="0" u="none" strike="noStrike" kern="1200" cap="none" spc="0" normalizeH="0" baseline="0" noProof="0">
                <a:ln>
                  <a:noFill/>
                </a:ln>
                <a:solidFill>
                  <a:srgbClr val="FFFFFF"/>
                </a:solidFill>
                <a:effectLst/>
                <a:uLnTx/>
                <a:uFillTx/>
                <a:latin typeface="Trenda IG Text"/>
                <a:ea typeface="+mn-ea"/>
                <a:cs typeface="+mn-cs"/>
              </a:rPr>
              <a:t>every miss becomes a new test case</a:t>
            </a:r>
          </a:p>
        </p:txBody>
      </p:sp>
    </p:spTree>
    <p:extLst>
      <p:ext uri="{BB962C8B-B14F-4D97-AF65-F5344CB8AC3E}">
        <p14:creationId xmlns:p14="http://schemas.microsoft.com/office/powerpoint/2010/main" val="4768734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AGENT</a:t>
            </a:r>
          </a:p>
        </p:txBody>
      </p:sp>
      <p:sp>
        <p:nvSpPr>
          <p:cNvPr id="6" name="Text 5"/>
          <p:cNvSpPr txBox="1"/>
          <p:nvPr/>
        </p:nvSpPr>
        <p:spPr>
          <a:xfrm>
            <a:off x="2258568" y="1188720"/>
            <a:ext cx="269747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WHAT WE CHECK</a:t>
            </a:r>
          </a:p>
        </p:txBody>
      </p:sp>
      <p:sp>
        <p:nvSpPr>
          <p:cNvPr id="7" name="Text 6"/>
          <p:cNvSpPr txBox="1"/>
          <p:nvPr/>
        </p:nvSpPr>
        <p:spPr>
          <a:xfrm>
            <a:off x="5138928" y="1188720"/>
            <a:ext cx="379475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METRIC</a:t>
            </a:r>
          </a:p>
        </p:txBody>
      </p:sp>
      <p:sp>
        <p:nvSpPr>
          <p:cNvPr id="8" name="Text 7"/>
          <p:cNvSpPr txBox="1"/>
          <p:nvPr/>
        </p:nvSpPr>
        <p:spPr>
          <a:xfrm>
            <a:off x="9116567" y="1188720"/>
            <a:ext cx="2587751"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Text 11"/>
          <p:cNvSpPr txBox="1"/>
          <p:nvPr/>
        </p:nvSpPr>
        <p:spPr>
          <a:xfrm>
            <a:off x="630936" y="1554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Orchestrator</a:t>
            </a:r>
          </a:p>
        </p:txBody>
      </p:sp>
      <p:sp>
        <p:nvSpPr>
          <p:cNvPr id="13" name="Text 12"/>
          <p:cNvSpPr txBox="1"/>
          <p:nvPr/>
        </p:nvSpPr>
        <p:spPr>
          <a:xfrm>
            <a:off x="2258568" y="1554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630936" y="2011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Requirements</a:t>
            </a:r>
          </a:p>
        </p:txBody>
      </p:sp>
      <p:sp>
        <p:nvSpPr>
          <p:cNvPr id="18" name="Text 17"/>
          <p:cNvSpPr txBox="1"/>
          <p:nvPr/>
        </p:nvSpPr>
        <p:spPr>
          <a:xfrm>
            <a:off x="2258568" y="2011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630936" y="2468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Architect</a:t>
            </a:r>
          </a:p>
        </p:txBody>
      </p:sp>
      <p:sp>
        <p:nvSpPr>
          <p:cNvPr id="24" name="Text 23"/>
          <p:cNvSpPr txBox="1"/>
          <p:nvPr/>
        </p:nvSpPr>
        <p:spPr>
          <a:xfrm>
            <a:off x="2258568" y="2468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Impact, reuse and owners are right</a:t>
            </a:r>
          </a:p>
        </p:txBody>
      </p:sp>
      <p:sp>
        <p:nvSpPr>
          <p:cNvPr id="25" name="Text 24"/>
          <p:cNvSpPr txBox="1"/>
          <p:nvPr/>
        </p:nvSpPr>
        <p:spPr>
          <a:xfrm>
            <a:off x="5138928" y="2468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630936" y="29260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Developer</a:t>
            </a:r>
          </a:p>
        </p:txBody>
      </p:sp>
      <p:sp>
        <p:nvSpPr>
          <p:cNvPr id="29" name="Text 28"/>
          <p:cNvSpPr txBox="1"/>
          <p:nvPr/>
        </p:nvSpPr>
        <p:spPr>
          <a:xfrm>
            <a:off x="2258568" y="29260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passes every check</a:t>
            </a:r>
          </a:p>
        </p:txBody>
      </p:sp>
      <p:sp>
        <p:nvSpPr>
          <p:cNvPr id="30" name="Text 29"/>
          <p:cNvSpPr txBox="1"/>
          <p:nvPr/>
        </p:nvSpPr>
        <p:spPr>
          <a:xfrm>
            <a:off x="5138928" y="29260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pass@1 and pass@5; attempts per story</a:t>
            </a:r>
          </a:p>
        </p:txBody>
      </p:sp>
      <p:sp>
        <p:nvSpPr>
          <p:cNvPr id="31" name="Text 30"/>
          <p:cNvSpPr txBox="1"/>
          <p:nvPr/>
        </p:nvSpPr>
        <p:spPr>
          <a:xfrm>
            <a:off x="9116567" y="29260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630936" y="33832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Review</a:t>
            </a:r>
          </a:p>
        </p:txBody>
      </p:sp>
      <p:sp>
        <p:nvSpPr>
          <p:cNvPr id="35" name="Text 34"/>
          <p:cNvSpPr txBox="1"/>
          <p:nvPr/>
        </p:nvSpPr>
        <p:spPr>
          <a:xfrm>
            <a:off x="2258568" y="33832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Its verdict matches a human reviewer</a:t>
            </a:r>
          </a:p>
        </p:txBody>
      </p:sp>
      <p:sp>
        <p:nvSpPr>
          <p:cNvPr id="36" name="Text 35"/>
          <p:cNvSpPr txBox="1"/>
          <p:nvPr/>
        </p:nvSpPr>
        <p:spPr>
          <a:xfrm>
            <a:off x="5138928" y="33832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Judge agreement with tech leads</a:t>
            </a:r>
          </a:p>
        </p:txBody>
      </p:sp>
      <p:sp>
        <p:nvSpPr>
          <p:cNvPr id="37" name="Text 36"/>
          <p:cNvSpPr txBox="1"/>
          <p:nvPr/>
        </p:nvSpPr>
        <p:spPr>
          <a:xfrm>
            <a:off x="9116567" y="33832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630936" y="3840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Test</a:t>
            </a:r>
          </a:p>
        </p:txBody>
      </p:sp>
      <p:sp>
        <p:nvSpPr>
          <p:cNvPr id="40" name="Text 39"/>
          <p:cNvSpPr txBox="1"/>
          <p:nvPr/>
        </p:nvSpPr>
        <p:spPr>
          <a:xfrm>
            <a:off x="2258568" y="3840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Defects are caught before UAT</a:t>
            </a:r>
          </a:p>
        </p:txBody>
      </p:sp>
      <p:sp>
        <p:nvSpPr>
          <p:cNvPr id="41" name="Text 40"/>
          <p:cNvSpPr txBox="1"/>
          <p:nvPr/>
        </p:nvSpPr>
        <p:spPr>
          <a:xfrm>
            <a:off x="5138928" y="3840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630936" y="4297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Release</a:t>
            </a:r>
          </a:p>
        </p:txBody>
      </p:sp>
      <p:sp>
        <p:nvSpPr>
          <p:cNvPr id="46" name="Text 45"/>
          <p:cNvSpPr txBox="1"/>
          <p:nvPr/>
        </p:nvSpPr>
        <p:spPr>
          <a:xfrm>
            <a:off x="2258568" y="4297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Package deploys cleanly</a:t>
            </a:r>
          </a:p>
        </p:txBody>
      </p:sp>
      <p:sp>
        <p:nvSpPr>
          <p:cNvPr id="47" name="Text 46"/>
          <p:cNvSpPr txBox="1"/>
          <p:nvPr/>
        </p:nvSpPr>
        <p:spPr>
          <a:xfrm>
            <a:off x="5138928" y="4297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630936" y="4754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Change Guardian</a:t>
            </a:r>
          </a:p>
        </p:txBody>
      </p:sp>
      <p:sp>
        <p:nvSpPr>
          <p:cNvPr id="51" name="Text 50"/>
          <p:cNvSpPr txBox="1"/>
          <p:nvPr/>
        </p:nvSpPr>
        <p:spPr>
          <a:xfrm>
            <a:off x="2258568" y="4754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Missed conflicts and false blocks</a:t>
            </a:r>
          </a:p>
        </p:txBody>
      </p:sp>
      <p:sp>
        <p:nvSpPr>
          <p:cNvPr id="53" name="Text 52"/>
          <p:cNvSpPr txBox="1"/>
          <p:nvPr/>
        </p:nvSpPr>
        <p:spPr>
          <a:xfrm>
            <a:off x="9116567" y="4754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411480" y="5266944"/>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pass@k </a:t>
            </a:r>
            <a:r>
              <a:rPr kumimoji="0" sz="800" b="0" i="0" u="none" strike="noStrike" kern="1200" cap="none" spc="0" normalizeH="0" baseline="0" noProof="0">
                <a:ln>
                  <a:noFill/>
                </a:ln>
                <a:solidFill>
                  <a:srgbClr val="BFBFBF"/>
                </a:solidFill>
                <a:effectLst/>
                <a:uLnTx/>
                <a:uFillTx/>
                <a:latin typeface="Trenda IG Text"/>
                <a:ea typeface="+mn-ea"/>
                <a:cs typeface="+mn-cs"/>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640080" y="5541264"/>
            <a:ext cx="2194560"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HOW TARGETS ARE SET</a:t>
            </a:r>
          </a:p>
        </p:txBody>
      </p:sp>
      <p:sp>
        <p:nvSpPr>
          <p:cNvPr id="58" name="Text 57"/>
          <p:cNvSpPr txBox="1"/>
          <p:nvPr/>
        </p:nvSpPr>
        <p:spPr>
          <a:xfrm>
            <a:off x="2743200" y="5541264"/>
            <a:ext cx="880567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FFFFFF"/>
                </a:solidFill>
                <a:effectLst/>
                <a:uLnTx/>
                <a:uFillTx/>
                <a:latin typeface="Trenda IG Text"/>
                <a:ea typeface="+mn-ea"/>
                <a:cs typeface="+mn-cs"/>
              </a:rPr>
              <a:t>Each target comes from the Phase 0 baseline and is agreed with Ascension. </a:t>
            </a:r>
            <a:r>
              <a:rPr kumimoji="0" sz="900" b="0" i="0" u="none" strike="noStrike" kern="1200" cap="none" spc="0" normalizeH="0" baseline="0" noProof="0" dirty="0">
                <a:ln>
                  <a:noFill/>
                </a:ln>
                <a:solidFill>
                  <a:srgbClr val="BFBFBF"/>
                </a:solidFill>
                <a:effectLst/>
                <a:uLnTx/>
                <a:uFillTx/>
                <a:latin typeface="Trenda IG Text"/>
                <a:ea typeface="+mn-ea"/>
                <a:cs typeface="+mn-cs"/>
              </a:rPr>
              <a:t>Scores are reviewed monthly; a falling score sends that agent back through diagnose and tune.</a:t>
            </a:r>
          </a:p>
        </p:txBody>
      </p:sp>
    </p:spTree>
    <p:extLst>
      <p:ext uri="{BB962C8B-B14F-4D97-AF65-F5344CB8AC3E}">
        <p14:creationId xmlns:p14="http://schemas.microsoft.com/office/powerpoint/2010/main" val="2660977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FUTURE STATE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Agentic Harness</a:t>
            </a:r>
          </a:p>
        </p:txBody>
      </p:sp>
      <p:sp>
        <p:nvSpPr>
          <p:cNvPr id="10" name="Text 10"/>
          <p:cNvSpPr txBox="1"/>
          <p:nvPr/>
        </p:nvSpPr>
        <p:spPr>
          <a:xfrm>
            <a:off x="2039112" y="1261872"/>
            <a:ext cx="544068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BFBFBF"/>
                </a:solidFill>
                <a:effectLst/>
                <a:uLnTx/>
                <a:uFillTx/>
                <a:latin typeface="Trenda IG Text"/>
                <a:ea typeface="+mn-ea"/>
                <a:cs typeface="+mn-cs"/>
              </a:rPr>
              <a:t>TODAY · THIS PROPOSAL</a:t>
            </a:r>
          </a:p>
        </p:txBody>
      </p:sp>
      <p:sp>
        <p:nvSpPr>
          <p:cNvPr id="11" name="Text 11"/>
          <p:cNvSpPr txBox="1"/>
          <p:nvPr/>
        </p:nvSpPr>
        <p:spPr>
          <a:xfrm>
            <a:off x="2039112" y="1792224"/>
            <a:ext cx="544068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FFD700"/>
                </a:solidFill>
                <a:effectLst/>
                <a:uLnTx/>
                <a:uFillTx/>
                <a:latin typeface="Trenda IG Text"/>
                <a:ea typeface="+mn-ea"/>
                <a:cs typeface="+mn-cs"/>
              </a:rPr>
              <a:t>AGI</a:t>
            </a:r>
            <a:r>
              <a:rPr kumimoji="0" sz="1500" b="1" i="0" u="none" strike="noStrike" kern="1200" cap="none" spc="0" normalizeH="0" baseline="0" noProof="0">
                <a:ln>
                  <a:noFill/>
                </a:ln>
                <a:solidFill>
                  <a:srgbClr val="FFFFFF"/>
                </a:solidFill>
                <a:effectLst/>
                <a:uLnTx/>
                <a:uFillTx/>
                <a:latin typeface="Trenda IG Text"/>
                <a:ea typeface="+mn-ea"/>
                <a:cs typeface="+mn-cs"/>
              </a:rPr>
              <a:t>   Dynamic self-harness</a:t>
            </a:r>
          </a:p>
        </p:txBody>
      </p:sp>
      <p:sp>
        <p:nvSpPr>
          <p:cNvPr id="13" name="Text 13"/>
          <p:cNvSpPr txBox="1"/>
          <p:nvPr/>
        </p:nvSpPr>
        <p:spPr>
          <a:xfrm>
            <a:off x="8028432" y="1261872"/>
            <a:ext cx="3639311"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D700"/>
                </a:solidFill>
                <a:effectLst/>
                <a:uLnTx/>
                <a:uFillTx/>
                <a:latin typeface="Trenda IG Text"/>
                <a:ea typeface="+mn-ea"/>
                <a:cs typeface="+mn-cs"/>
              </a:rPr>
              <a:t>FUTURE STATE</a:t>
            </a:r>
          </a:p>
        </p:txBody>
      </p:sp>
      <p:sp>
        <p:nvSpPr>
          <p:cNvPr id="14" name="Text 14"/>
          <p:cNvSpPr txBox="1"/>
          <p:nvPr/>
        </p:nvSpPr>
        <p:spPr>
          <a:xfrm>
            <a:off x="8028432" y="1792224"/>
            <a:ext cx="3639311"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7"/>
          <p:cNvSpPr txBox="1"/>
          <p:nvPr/>
        </p:nvSpPr>
        <p:spPr>
          <a:xfrm>
            <a:off x="411480" y="2212848"/>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8" name="Text 18"/>
          <p:cNvSpPr txBox="1"/>
          <p:nvPr/>
        </p:nvSpPr>
        <p:spPr>
          <a:xfrm>
            <a:off x="758952" y="2212848"/>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9" name="Text 19"/>
          <p:cNvSpPr txBox="1"/>
          <p:nvPr/>
        </p:nvSpPr>
        <p:spPr>
          <a:xfrm>
            <a:off x="2039112" y="2194560"/>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connect the sources and write the AGENTS.md maps</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2"/>
          <p:cNvSpPr txBox="1"/>
          <p:nvPr/>
        </p:nvSpPr>
        <p:spPr>
          <a:xfrm>
            <a:off x="411480" y="2651760"/>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3" name="Text 23"/>
          <p:cNvSpPr txBox="1"/>
          <p:nvPr/>
        </p:nvSpPr>
        <p:spPr>
          <a:xfrm>
            <a:off x="758952" y="2651760"/>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4" name="Text 24"/>
          <p:cNvSpPr txBox="1"/>
          <p:nvPr/>
        </p:nvSpPr>
        <p:spPr>
          <a:xfrm>
            <a:off x="2039112" y="2633472"/>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grant each tool, step by step</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request a new tool with the reason</a:t>
            </a:r>
          </a:p>
        </p:txBody>
      </p:sp>
      <p:sp>
        <p:nvSpPr>
          <p:cNvPr id="25" name="Text 25"/>
          <p:cNvSpPr txBox="1"/>
          <p:nvPr/>
        </p:nvSpPr>
        <p:spPr>
          <a:xfrm>
            <a:off x="8028432" y="2651760"/>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411480" y="3090672"/>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8" name="Text 28"/>
          <p:cNvSpPr txBox="1"/>
          <p:nvPr/>
        </p:nvSpPr>
        <p:spPr>
          <a:xfrm>
            <a:off x="758952" y="3090672"/>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29" name="Text 29"/>
          <p:cNvSpPr txBox="1"/>
          <p:nvPr/>
        </p:nvSpPr>
        <p:spPr>
          <a:xfrm>
            <a:off x="2039112" y="3072384"/>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design the nine-step run</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2"/>
          <p:cNvSpPr txBox="1"/>
          <p:nvPr/>
        </p:nvSpPr>
        <p:spPr>
          <a:xfrm>
            <a:off x="411480" y="3529584"/>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33" name="Text 33"/>
          <p:cNvSpPr txBox="1"/>
          <p:nvPr/>
        </p:nvSpPr>
        <p:spPr>
          <a:xfrm>
            <a:off x="758952" y="3529584"/>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34" name="Text 34"/>
          <p:cNvSpPr txBox="1"/>
          <p:nvPr/>
        </p:nvSpPr>
        <p:spPr>
          <a:xfrm>
            <a:off x="2039112" y="3511296"/>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write the Guardian rules and approve at H1-H4</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7"/>
          <p:cNvSpPr txBox="1"/>
          <p:nvPr/>
        </p:nvSpPr>
        <p:spPr>
          <a:xfrm>
            <a:off x="411480" y="3968496"/>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8" name="Text 38"/>
          <p:cNvSpPr txBox="1"/>
          <p:nvPr/>
        </p:nvSpPr>
        <p:spPr>
          <a:xfrm>
            <a:off x="758952" y="3968496"/>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39" name="Text 39"/>
          <p:cNvSpPr txBox="1"/>
          <p:nvPr/>
        </p:nvSpPr>
        <p:spPr>
          <a:xfrm>
            <a:off x="2039112" y="3950208"/>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review results and approve every fix</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4"/>
          <p:cNvSpPr txBox="1"/>
          <p:nvPr/>
        </p:nvSpPr>
        <p:spPr>
          <a:xfrm>
            <a:off x="681228" y="4686300"/>
            <a:ext cx="228600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100" normalizeH="0" baseline="0" noProof="0">
                <a:ln>
                  <a:noFill/>
                </a:ln>
                <a:solidFill>
                  <a:srgbClr val="FFFFFF"/>
                </a:solidFill>
                <a:effectLst/>
                <a:uLnTx/>
                <a:uFillTx/>
                <a:latin typeface="Trenda IG Text"/>
                <a:ea typeface="+mn-ea"/>
                <a:cs typeface="+mn-cs"/>
              </a:rPr>
              <a:t>HOW WE TRUST </a:t>
            </a:r>
            <a:r>
              <a:rPr kumimoji="0" sz="1400" b="1" i="0" u="none" strike="noStrike" kern="1200" cap="none" spc="100" normalizeH="0" baseline="0" noProof="0">
                <a:ln>
                  <a:noFill/>
                </a:ln>
                <a:solidFill>
                  <a:srgbClr val="FFD700"/>
                </a:solidFill>
                <a:effectLst/>
                <a:uLnTx/>
                <a:uFillTx/>
                <a:latin typeface="Trenda IG Text"/>
                <a:ea typeface="+mn-ea"/>
                <a:cs typeface="+mn-cs"/>
              </a:rPr>
              <a:t>AGI</a:t>
            </a:r>
          </a:p>
        </p:txBody>
      </p:sp>
      <p:sp>
        <p:nvSpPr>
          <p:cNvPr id="44" name="Text 45"/>
          <p:cNvSpPr txBox="1"/>
          <p:nvPr/>
        </p:nvSpPr>
        <p:spPr>
          <a:xfrm>
            <a:off x="681228" y="5015483"/>
            <a:ext cx="2240280"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7"/>
          <p:cNvSpPr txBox="1"/>
          <p:nvPr/>
        </p:nvSpPr>
        <p:spPr>
          <a:xfrm>
            <a:off x="3168396"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1  </a:t>
            </a:r>
            <a:r>
              <a:rPr kumimoji="0" sz="1000" b="1" i="0" u="none" strike="noStrike" kern="1200" cap="none" spc="0" normalizeH="0" baseline="0" noProof="0">
                <a:ln>
                  <a:noFill/>
                </a:ln>
                <a:solidFill>
                  <a:srgbClr val="FFFFFF"/>
                </a:solidFill>
                <a:effectLst/>
                <a:uLnTx/>
                <a:uFillTx/>
                <a:latin typeface="Trenda IG Text"/>
                <a:ea typeface="+mn-ea"/>
                <a:cs typeface="+mn-cs"/>
              </a:rPr>
              <a:t>Earned step by step</a:t>
            </a:r>
          </a:p>
        </p:txBody>
      </p:sp>
      <p:sp>
        <p:nvSpPr>
          <p:cNvPr id="47" name="Text 48"/>
          <p:cNvSpPr txBox="1"/>
          <p:nvPr/>
        </p:nvSpPr>
        <p:spPr>
          <a:xfrm>
            <a:off x="3168396"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50"/>
          <p:cNvSpPr txBox="1"/>
          <p:nvPr/>
        </p:nvSpPr>
        <p:spPr>
          <a:xfrm>
            <a:off x="5269229"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2  </a:t>
            </a:r>
            <a:r>
              <a:rPr kumimoji="0" sz="1000" b="1" i="0" u="none" strike="noStrike" kern="1200" cap="none" spc="0" normalizeH="0" baseline="0" noProof="0">
                <a:ln>
                  <a:noFill/>
                </a:ln>
                <a:solidFill>
                  <a:srgbClr val="FFFFFF"/>
                </a:solidFill>
                <a:effectLst/>
                <a:uLnTx/>
                <a:uFillTx/>
                <a:latin typeface="Trenda IG Text"/>
                <a:ea typeface="+mn-ea"/>
                <a:cs typeface="+mn-cs"/>
              </a:rPr>
              <a:t>Every action on record</a:t>
            </a:r>
          </a:p>
        </p:txBody>
      </p:sp>
      <p:sp>
        <p:nvSpPr>
          <p:cNvPr id="50" name="Text 51"/>
          <p:cNvSpPr txBox="1"/>
          <p:nvPr/>
        </p:nvSpPr>
        <p:spPr>
          <a:xfrm>
            <a:off x="5269229"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2" name="Text 53"/>
          <p:cNvSpPr txBox="1"/>
          <p:nvPr/>
        </p:nvSpPr>
        <p:spPr>
          <a:xfrm>
            <a:off x="7370063"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3  </a:t>
            </a:r>
            <a:r>
              <a:rPr kumimoji="0" sz="1000" b="1" i="0" u="none" strike="noStrike" kern="1200" cap="none" spc="0" normalizeH="0" baseline="0" noProof="0">
                <a:ln>
                  <a:noFill/>
                </a:ln>
                <a:solidFill>
                  <a:srgbClr val="FFFFFF"/>
                </a:solidFill>
                <a:effectLst/>
                <a:uLnTx/>
                <a:uFillTx/>
                <a:latin typeface="Trenda IG Text"/>
                <a:ea typeface="+mn-ea"/>
                <a:cs typeface="+mn-cs"/>
              </a:rPr>
              <a:t>Hard limits it cannot change</a:t>
            </a:r>
          </a:p>
        </p:txBody>
      </p:sp>
      <p:sp>
        <p:nvSpPr>
          <p:cNvPr id="53" name="Text 54"/>
          <p:cNvSpPr txBox="1"/>
          <p:nvPr/>
        </p:nvSpPr>
        <p:spPr>
          <a:xfrm>
            <a:off x="7370063"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6"/>
          <p:cNvSpPr txBox="1"/>
          <p:nvPr/>
        </p:nvSpPr>
        <p:spPr>
          <a:xfrm>
            <a:off x="9470898"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4  </a:t>
            </a:r>
            <a:r>
              <a:rPr kumimoji="0" sz="1000" b="1" i="0" u="none" strike="noStrike" kern="1200" cap="none" spc="0" normalizeH="0" baseline="0" noProof="0">
                <a:ln>
                  <a:noFill/>
                </a:ln>
                <a:solidFill>
                  <a:srgbClr val="FFFFFF"/>
                </a:solidFill>
                <a:effectLst/>
                <a:uLnTx/>
                <a:uFillTx/>
                <a:latin typeface="Trenda IG Text"/>
                <a:ea typeface="+mn-ea"/>
                <a:cs typeface="+mn-cs"/>
              </a:rPr>
              <a:t>People can always stop it</a:t>
            </a:r>
          </a:p>
        </p:txBody>
      </p:sp>
      <p:sp>
        <p:nvSpPr>
          <p:cNvPr id="56" name="Text 57"/>
          <p:cNvSpPr txBox="1"/>
          <p:nvPr/>
        </p:nvSpPr>
        <p:spPr>
          <a:xfrm>
            <a:off x="9470898"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9"/>
          <p:cNvSpPr txBox="1"/>
          <p:nvPr/>
        </p:nvSpPr>
        <p:spPr>
          <a:xfrm>
            <a:off x="640080" y="5650992"/>
            <a:ext cx="219456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WHAT NEVER CHANGES</a:t>
            </a:r>
          </a:p>
        </p:txBody>
      </p:sp>
      <p:sp>
        <p:nvSpPr>
          <p:cNvPr id="59" name="Text 60"/>
          <p:cNvSpPr txBox="1"/>
          <p:nvPr/>
        </p:nvSpPr>
        <p:spPr>
          <a:xfrm>
            <a:off x="2788920" y="5650992"/>
            <a:ext cx="8759952"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Ascension sets the goals and the limits, keeps the final say on production, </a:t>
            </a:r>
            <a:r>
              <a:rPr kumimoji="0" sz="1000" b="0" i="0" u="none" strike="noStrike" kern="1200" cap="none" spc="0" normalizeH="0" baseline="0" noProof="0">
                <a:ln>
                  <a:noFill/>
                </a:ln>
                <a:solidFill>
                  <a:srgbClr val="BFBFBF"/>
                </a:solidFill>
                <a:effectLst/>
                <a:uLnTx/>
                <a:uFillTx/>
                <a:latin typeface="Trenda IG Text"/>
                <a:ea typeface="+mn-ea"/>
                <a:cs typeface="+mn-cs"/>
              </a:rPr>
              <a:t>and can see and stop any run.</a:t>
            </a:r>
          </a:p>
        </p:txBody>
      </p:sp>
      <p:sp>
        <p:nvSpPr>
          <p:cNvPr id="60" name="Text 61"/>
          <p:cNvSpPr txBox="1"/>
          <p:nvPr/>
        </p:nvSpPr>
        <p:spPr>
          <a:xfrm>
            <a:off x="411480" y="6035040"/>
            <a:ext cx="11365992"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The AGI (Artificial General Intelligence) column is a direction, not a commitment in this proposal. Each step up in autonomy is approved by Ascension. Today's harness already records the evidence the next stage is judged on.</a:t>
            </a:r>
          </a:p>
        </p:txBody>
      </p:sp>
    </p:spTree>
    <p:extLst>
      <p:ext uri="{BB962C8B-B14F-4D97-AF65-F5344CB8AC3E}">
        <p14:creationId xmlns:p14="http://schemas.microsoft.com/office/powerpoint/2010/main" val="279582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Launching a campaign: 90 days manual vs 15-20 days with the Agentic Harness </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a:solidFill>
                  <a:srgbClr val="FFFFFF"/>
                </a:solidFill>
                <a:latin typeface="Trenda IG Text" pitchFamily="34" charset="0"/>
                <a:ea typeface="Trenda IG Text" pitchFamily="34" charset="-122"/>
                <a:cs typeface="Trenda IG Text" pitchFamily="34" charset="-120"/>
              </a:rPr>
              <a:t>Today · manual delivery</a:t>
            </a:r>
            <a:endParaRPr lang="en-US" sz="935"/>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~90 days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30</a:t>
            </a:r>
            <a:endParaRPr lang="en-US" sz="654"/>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60</a:t>
            </a:r>
            <a:endParaRPr lang="en-US" sz="654"/>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90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Discovery &amp; PRD</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ADSI data readiness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Data Cloud ingestion</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Segment &amp; activation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SFMC data prep</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Content &amp; legal approval</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14d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Journey Builder build</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Testing &amp; UAT</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Deploy &amp; go-live</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15-20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MARKETING CLOUD SKILLS</a:t>
            </a:r>
            <a:endParaRPr lang="en-US" sz="701"/>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5</a:t>
            </a:r>
            <a:endParaRPr lang="en-US" sz="654"/>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10</a:t>
            </a:r>
            <a:endParaRPr lang="en-US" sz="654"/>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15</a:t>
            </a:r>
            <a:endParaRPr lang="en-US" sz="654"/>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20</a:t>
            </a:r>
            <a:endParaRPr lang="en-US" sz="654"/>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PRD, audience rules, KPIs</a:t>
            </a:r>
            <a:endParaRPr lang="en-US" sz="701"/>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Cloud, segment, SFMC DEs, SQL, journey</a:t>
            </a:r>
            <a:endParaRPr lang="en-US" sz="701"/>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7d</a:t>
            </a:r>
            <a:endParaRPr lang="en-US" sz="794"/>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3d</a:t>
            </a:r>
            <a:endParaRPr lang="en-US" sz="794"/>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to launch</a:t>
            </a:r>
            <a:endParaRPr lang="en-US" sz="794"/>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90 to 15-20 days, recorded averages</a:t>
            </a:r>
            <a:endParaRPr lang="en-US" sz="701"/>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common to every pod</a:t>
            </a:r>
            <a:endParaRPr lang="en-US" sz="794"/>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AI builds; people approve at 4 gates</a:t>
            </a:r>
            <a:endParaRPr lang="en-US" sz="701"/>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2-3x</a:t>
            </a:r>
            <a:endParaRPr lang="en-US" sz="1682"/>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campaigns per quarter</a:t>
            </a:r>
            <a:endParaRPr lang="en-US" sz="794"/>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Same squad; approvals still set the pace</a:t>
            </a:r>
            <a:endParaRPr lang="en-US" sz="701"/>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75-85%</a:t>
            </a:r>
            <a:endParaRPr lang="en-US" sz="1682"/>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t>
            </a:r>
            <a:endParaRPr lang="en-US" sz="794"/>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Measured with QA agents; people review</a:t>
            </a:r>
            <a:endParaRPr lang="en-US" sz="701"/>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a:p>
        </p:txBody>
      </p:sp>
      <p:sp>
        <p:nvSpPr>
          <p:cNvPr id="3" name="Text 1"/>
          <p:cNvSpPr txBox="1"/>
          <p:nvPr/>
        </p:nvSpPr>
        <p:spPr>
          <a:xfrm>
            <a:off x="783576" y="372077"/>
            <a:ext cx="10855974"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A Health Cloud change: 2 weeks today vs 2 days with the Agentic Harness</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Any Health Cloud task on the Network Services pod, from Jira story to UAT sign-off. Same 7 agents, Health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~2 weeks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~10 working days; one hand-off at a time, inside office hours</a:t>
            </a:r>
            <a:endParaRPr lang="en-US" sz="794"/>
          </a:p>
        </p:txBody>
      </p:sp>
      <p:sp>
        <p:nvSpPr>
          <p:cNvPr id="10" name="Shape 8"/>
          <p:cNvSpPr/>
          <p:nvPr/>
        </p:nvSpPr>
        <p:spPr>
          <a:xfrm>
            <a:off x="3858768"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273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690872"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43484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5</a:t>
            </a:r>
            <a:endParaRPr lang="en-US" sz="654"/>
          </a:p>
        </p:txBody>
      </p:sp>
      <p:sp>
        <p:nvSpPr>
          <p:cNvPr id="16" name="Shape 14"/>
          <p:cNvSpPr/>
          <p:nvPr/>
        </p:nvSpPr>
        <p:spPr>
          <a:xfrm>
            <a:off x="5522976"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694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Story intake</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story; criteria unclear; back and forth with the PO</a:t>
            </a:r>
            <a:endParaRPr lang="en-US" sz="701"/>
          </a:p>
        </p:txBody>
      </p:sp>
      <p:sp>
        <p:nvSpPr>
          <p:cNvPr id="22" name="Shape 20"/>
          <p:cNvSpPr/>
          <p:nvPr/>
        </p:nvSpPr>
        <p:spPr>
          <a:xfrm>
            <a:off x="3858768" y="231189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Clarify requirements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Confluence, meetings; acceptance criteria agreed</a:t>
            </a:r>
            <a:endParaRPr lang="en-US" sz="701"/>
          </a:p>
        </p:txBody>
      </p:sp>
      <p:sp>
        <p:nvSpPr>
          <p:cNvPr id="28" name="Shape 26"/>
          <p:cNvSpPr/>
          <p:nvPr/>
        </p:nvSpPr>
        <p:spPr>
          <a:xfrm>
            <a:off x="4025188" y="2619527"/>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Impact analysis</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Find the objects, Flows, sharing and who else uses them</a:t>
            </a:r>
            <a:endParaRPr lang="en-US" sz="701"/>
          </a:p>
        </p:txBody>
      </p:sp>
      <p:sp>
        <p:nvSpPr>
          <p:cNvPr id="34" name="Shape 32"/>
          <p:cNvSpPr/>
          <p:nvPr/>
        </p:nvSpPr>
        <p:spPr>
          <a:xfrm>
            <a:off x="4191609" y="2927163"/>
            <a:ext cx="24963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1.5d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Solution design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model, sharing and automation; architect review</a:t>
            </a:r>
            <a:endParaRPr lang="en-US" sz="701"/>
          </a:p>
        </p:txBody>
      </p:sp>
      <p:sp>
        <p:nvSpPr>
          <p:cNvPr id="40" name="Shape 38"/>
          <p:cNvSpPr/>
          <p:nvPr/>
        </p:nvSpPr>
        <p:spPr>
          <a:xfrm>
            <a:off x="4441240" y="3234798"/>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Build</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permission sets in DEV</a:t>
            </a:r>
            <a:endParaRPr lang="en-US" sz="701"/>
          </a:p>
        </p:txBody>
      </p:sp>
      <p:sp>
        <p:nvSpPr>
          <p:cNvPr id="46" name="Shape 44"/>
          <p:cNvSpPr/>
          <p:nvPr/>
        </p:nvSpPr>
        <p:spPr>
          <a:xfrm>
            <a:off x="4607661" y="3542434"/>
            <a:ext cx="332841"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Code review and fixes</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Peer review, Code Analyzer, rework</a:t>
            </a:r>
            <a:endParaRPr lang="en-US" sz="701"/>
          </a:p>
        </p:txBody>
      </p:sp>
      <p:sp>
        <p:nvSpPr>
          <p:cNvPr id="52" name="Shape 50"/>
          <p:cNvSpPr/>
          <p:nvPr/>
        </p:nvSpPr>
        <p:spPr>
          <a:xfrm>
            <a:off x="4940503" y="3850070"/>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preparation</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Write Zephyr cases and test data by hand</a:t>
            </a:r>
            <a:endParaRPr lang="en-US" sz="701"/>
          </a:p>
        </p:txBody>
      </p:sp>
      <p:sp>
        <p:nvSpPr>
          <p:cNvPr id="58" name="Shape 56"/>
          <p:cNvSpPr/>
          <p:nvPr/>
        </p:nvSpPr>
        <p:spPr>
          <a:xfrm>
            <a:off x="5106924" y="4157705"/>
            <a:ext cx="16642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QA and regression</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Run cases, Copado regression, fix defects</a:t>
            </a:r>
            <a:endParaRPr lang="en-US" sz="701"/>
          </a:p>
        </p:txBody>
      </p:sp>
      <p:sp>
        <p:nvSpPr>
          <p:cNvPr id="64" name="Shape 62"/>
          <p:cNvSpPr/>
          <p:nvPr/>
        </p:nvSpPr>
        <p:spPr>
          <a:xfrm>
            <a:off x="5273344" y="446534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Promote and UAT sign-off</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business signs off</a:t>
            </a:r>
            <a:endParaRPr lang="en-US" sz="701"/>
          </a:p>
        </p:txBody>
      </p:sp>
      <p:sp>
        <p:nvSpPr>
          <p:cNvPr id="70" name="Shape 68"/>
          <p:cNvSpPr/>
          <p:nvPr/>
        </p:nvSpPr>
        <p:spPr>
          <a:xfrm>
            <a:off x="5439765" y="4772977"/>
            <a:ext cx="8321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0.5d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~2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~2-day critical path; agents build overnight, people approve by day</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HEALTH CLOUD SKILLS</a:t>
            </a:r>
            <a:endParaRPr lang="en-US" sz="701"/>
          </a:p>
        </p:txBody>
      </p:sp>
      <p:sp>
        <p:nvSpPr>
          <p:cNvPr id="78" name="Shape 76"/>
          <p:cNvSpPr/>
          <p:nvPr/>
        </p:nvSpPr>
        <p:spPr>
          <a:xfrm>
            <a:off x="9784080"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804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33729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1008126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a:t>
            </a:r>
            <a:endParaRPr lang="en-US" sz="654"/>
          </a:p>
        </p:txBody>
      </p:sp>
      <p:sp>
        <p:nvSpPr>
          <p:cNvPr id="84" name="Shape 82"/>
          <p:cNvSpPr/>
          <p:nvPr/>
        </p:nvSpPr>
        <p:spPr>
          <a:xfrm>
            <a:off x="1089050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447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2</a:t>
            </a:r>
            <a:endParaRPr lang="en-US" sz="654"/>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change, routes agents, enforces gates</a:t>
            </a:r>
            <a:endParaRPr lang="en-US" sz="701"/>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1" name="Shape 89"/>
          <p:cNvSpPr/>
          <p:nvPr/>
        </p:nvSpPr>
        <p:spPr>
          <a:xfrm>
            <a:off x="9784080" y="2346073"/>
            <a:ext cx="1106424"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into a brief; product owner approves</a:t>
            </a:r>
            <a:endParaRPr lang="en-US" sz="701"/>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98" name="Shape 96"/>
          <p:cNvSpPr/>
          <p:nvPr/>
        </p:nvSpPr>
        <p:spPr>
          <a:xfrm>
            <a:off x="9784080" y="2741726"/>
            <a:ext cx="69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3h</a:t>
            </a:r>
            <a:endParaRPr lang="en-US" sz="794"/>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Impact and reuse from the graph; architect approves</a:t>
            </a:r>
            <a:endParaRPr lang="en-US" sz="701"/>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5" name="Shape 103"/>
          <p:cNvSpPr/>
          <p:nvPr/>
        </p:nvSpPr>
        <p:spPr>
          <a:xfrm>
            <a:off x="9853231" y="3137380"/>
            <a:ext cx="11525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5h</a:t>
            </a:r>
            <a:endParaRPr lang="en-US" sz="794"/>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sharing in DEV, overnight</a:t>
            </a:r>
            <a:endParaRPr lang="en-US" sz="701"/>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2" name="Shape 110"/>
          <p:cNvSpPr/>
          <p:nvPr/>
        </p:nvSpPr>
        <p:spPr>
          <a:xfrm>
            <a:off x="9968484" y="3533034"/>
            <a:ext cx="368808"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16h</a:t>
            </a:r>
            <a:endParaRPr lang="en-US" sz="794"/>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Code, security, sharing; tech lead approves</a:t>
            </a:r>
            <a:endParaRPr lang="en-US" sz="701"/>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19" name="Shape 117"/>
          <p:cNvSpPr/>
          <p:nvPr/>
        </p:nvSpPr>
        <p:spPr>
          <a:xfrm>
            <a:off x="10337292" y="3928688"/>
            <a:ext cx="138303"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6h</a:t>
            </a:r>
            <a:endParaRPr lang="en-US" sz="794"/>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6" name="Shape 124"/>
          <p:cNvSpPr/>
          <p:nvPr/>
        </p:nvSpPr>
        <p:spPr>
          <a:xfrm>
            <a:off x="10475595" y="4324342"/>
            <a:ext cx="27660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12h</a:t>
            </a:r>
            <a:endParaRPr lang="en-US" sz="794"/>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3" name="Shape 131"/>
          <p:cNvSpPr/>
          <p:nvPr/>
        </p:nvSpPr>
        <p:spPr>
          <a:xfrm>
            <a:off x="10752201" y="4719995"/>
            <a:ext cx="92202"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4h</a:t>
            </a:r>
            <a:endParaRPr lang="en-US" sz="794"/>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per task</a:t>
            </a:r>
            <a:endParaRPr lang="en-US" sz="794"/>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~2 weeks to ~2 days, story to UAT</a:t>
            </a:r>
            <a:endParaRPr lang="en-US" sz="701"/>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2-4 days</a:t>
            </a:r>
            <a:endParaRPr lang="en-US" sz="1682"/>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measured so far</a:t>
            </a:r>
            <a:endParaRPr lang="en-US" sz="794"/>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Agent-assisted today; the harness takes it to ~2</a:t>
            </a:r>
            <a:endParaRPr lang="en-US" sz="701"/>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4 gates</a:t>
            </a:r>
            <a:endParaRPr lang="en-US" sz="1682"/>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people still approve</a:t>
            </a:r>
            <a:endParaRPr lang="en-US" sz="794"/>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Requirements, design, code and UAT</a:t>
            </a:r>
            <a:endParaRPr lang="en-US" sz="701"/>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same as Marketing Cloud</a:t>
            </a:r>
            <a:endParaRPr lang="en-US" sz="794"/>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Built once, reused by every pod</a:t>
            </a:r>
            <a:endParaRPr lang="en-US" sz="701"/>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Today: a typical Health Cloud task on the Network Services pod, Jira story to UAT sign-off. Measured: Agentifying Ascension Ways of Working (1-2 weeks to 2-4 days with agent assistance). About 2 days is the harness target, confirmed against the Phase 0 baseline. Production release follows the normal CAB window.</a:t>
            </a:r>
            <a:endParaRPr lang="en-US" sz="654"/>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MEASURED TO DATE · AGENT-ASSISTED DELIVERY</a:t>
            </a:r>
            <a:endParaRPr lang="en-US" sz="701"/>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1-2 wks → 2-4 days</a:t>
            </a:r>
            <a:endParaRPr lang="en-US" sz="1495"/>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Health Cloud implementation</a:t>
            </a:r>
            <a:endParaRPr lang="en-US" sz="794"/>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Per change, latest agent-assisted approach</a:t>
            </a:r>
            <a:endParaRPr lang="en-US" sz="701"/>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90 → 15-20 days</a:t>
            </a:r>
            <a:endParaRPr lang="en-US" sz="1495"/>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Marketing Cloud campaign</a:t>
            </a:r>
            <a:endParaRPr lang="en-US" sz="794"/>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~80% lower recorded completion time</a:t>
            </a:r>
            <a:endParaRPr lang="en-US" sz="701"/>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75-85%</a:t>
            </a:r>
            <a:endParaRPr lang="en-US" sz="1495"/>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preparation</a:t>
            </a:r>
            <a:endParaRPr lang="en-US" sz="794"/>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People review every generated case</a:t>
            </a:r>
            <a:endParaRPr lang="en-US" sz="701"/>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30-40%</a:t>
            </a:r>
            <a:endParaRPr lang="en-US" sz="1682"/>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less effort per change</a:t>
            </a:r>
            <a:endParaRPr lang="en-US" sz="794"/>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1.4-1.6x</a:t>
            </a:r>
            <a:endParaRPr lang="en-US" sz="1682"/>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output per pod</a:t>
            </a:r>
            <a:endParaRPr lang="en-US" sz="794"/>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20-30%</a:t>
            </a:r>
            <a:endParaRPr lang="en-US" sz="1682"/>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smaller team for same scope</a:t>
            </a:r>
            <a:endParaRPr lang="en-US" sz="794"/>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Example: 8-person pod runs with 6</a:t>
            </a:r>
            <a:endParaRPr lang="en-US" sz="682"/>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20-25%</a:t>
            </a:r>
            <a:endParaRPr lang="en-US" sz="1682"/>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lower net run cost per pod</a:t>
            </a:r>
            <a:endParaRPr lang="en-US" sz="794"/>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After cloud, model usage and agent upkeep</a:t>
            </a:r>
            <a:endParaRPr lang="en-US" sz="682"/>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Today</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With </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Team impact</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Net cost per 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Nudge pod · Marketing Cloud</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New campaign ~90 days</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15-20 days; 2-3x campaigns per quarter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Network Services · Health Cloud</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1-2 weeks; new market ~9 months</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Other pods · VBC, CT, ARx, Contact Center, SR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manual pattern</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10-20% in year 1, 20-30% at steady state</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15-25%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How we prove it</a:t>
            </a:r>
            <a:endParaRPr lang="en-US" sz="841"/>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WHAT IT MEANS FOR ASCENSION</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All pods: $16M a year today. About $33M back over three years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Across every pod, each squad of 4-5 developers becomes 1 developer directing 1 harness agent, plus 1 QA. Savings grow as pods go live.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595959"/>
                </a:solidFill>
                <a:effectLst/>
                <a:uLnTx/>
                <a:uFillTx/>
                <a:latin typeface="Trenda IG Text"/>
                <a:ea typeface="+mn-ea"/>
                <a:cs typeface="+mn-cs"/>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595959"/>
                </a:solidFill>
                <a:effectLst/>
                <a:uLnTx/>
                <a:uFillTx/>
                <a:latin typeface="Trenda IG Text"/>
                <a:ea typeface="+mn-ea"/>
                <a:cs typeface="+mn-cs"/>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FFFF"/>
                </a:solidFill>
                <a:effectLst/>
                <a:uLnTx/>
                <a:uFillTx/>
                <a:latin typeface="Trenda IG Text"/>
                <a:ea typeface="+mn-ea"/>
                <a:cs typeface="+mn-cs"/>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Harness agent  </a:t>
            </a:r>
            <a:r>
              <a:rPr kumimoji="0" sz="750" b="0" i="0" u="none" strike="noStrike" kern="1200" cap="none" spc="0" normalizeH="0" baseline="0" noProof="0">
                <a:ln>
                  <a:noFill/>
                </a:ln>
                <a:solidFill>
                  <a:srgbClr val="595959"/>
                </a:solidFill>
                <a:effectLst/>
                <a:uLnTx/>
                <a:uFillTx/>
                <a:latin typeface="Trenda IG Text"/>
                <a:ea typeface="+mn-ea"/>
                <a:cs typeface="+mn-cs"/>
              </a:rPr>
              <a:t>drafts code, tests and the Copado package, overnight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Developer  </a:t>
            </a:r>
            <a:r>
              <a:rPr kumimoji="0" sz="750" b="0" i="0" u="none" strike="noStrike" kern="1200" cap="none" spc="0" normalizeH="0" baseline="0" noProof="0">
                <a:ln>
                  <a:noFill/>
                </a:ln>
                <a:solidFill>
                  <a:srgbClr val="595959"/>
                </a:solidFill>
                <a:effectLst/>
                <a:uLnTx/>
                <a:uFillTx/>
                <a:latin typeface="Trenda IG Text"/>
                <a:ea typeface="+mn-ea"/>
                <a:cs typeface="+mn-cs"/>
              </a:rPr>
              <a:t>designs, directs the agent, reviews and approves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QA  </a:t>
            </a:r>
            <a:r>
              <a:rPr kumimoji="0" sz="750" b="0" i="0" u="none" strike="noStrike" kern="1200" cap="none" spc="0" normalizeH="0" baseline="0" noProof="0">
                <a:ln>
                  <a:noFill/>
                </a:ln>
                <a:solidFill>
                  <a:srgbClr val="595959"/>
                </a:solidFill>
                <a:effectLst/>
                <a:uLnTx/>
                <a:uFillTx/>
                <a:latin typeface="Trenda IG Text"/>
                <a:ea typeface="+mn-ea"/>
                <a:cs typeface="+mn-cs"/>
              </a:rPr>
              <a:t>verifies against acceptance criteria and signs off tests</a:t>
            </a:r>
          </a:p>
        </p:txBody>
      </p:sp>
      <p:sp>
        <p:nvSpPr>
          <p:cNvPr id="31" name="Shape 31"/>
          <p:cNvSpPr/>
          <p:nvPr/>
        </p:nvSpPr>
        <p:spPr>
          <a:xfrm>
            <a:off x="411480"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2"/>
          <p:cNvSpPr txBox="1"/>
          <p:nvPr/>
        </p:nvSpPr>
        <p:spPr>
          <a:xfrm>
            <a:off x="594360" y="2578608"/>
            <a:ext cx="3282696"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00000"/>
                </a:solidFill>
                <a:effectLst/>
                <a:uLnTx/>
                <a:uFillTx/>
                <a:latin typeface="Trenda IG Text"/>
                <a:ea typeface="+mn-ea"/>
                <a:cs typeface="+mn-cs"/>
              </a:rPr>
              <a:t>Year 1</a:t>
            </a:r>
          </a:p>
        </p:txBody>
      </p:sp>
      <p:sp>
        <p:nvSpPr>
          <p:cNvPr id="33" name="Text 33"/>
          <p:cNvSpPr txBox="1"/>
          <p:nvPr/>
        </p:nvSpPr>
        <p:spPr>
          <a:xfrm>
            <a:off x="594360" y="2944368"/>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TODAY</a:t>
            </a:r>
          </a:p>
        </p:txBody>
      </p:sp>
      <p:sp>
        <p:nvSpPr>
          <p:cNvPr id="34" name="Text 34"/>
          <p:cNvSpPr txBox="1"/>
          <p:nvPr/>
        </p:nvSpPr>
        <p:spPr>
          <a:xfrm>
            <a:off x="594360" y="3090672"/>
            <a:ext cx="1463040"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595959"/>
                </a:solidFill>
                <a:effectLst/>
                <a:uLnTx/>
                <a:uFillTx/>
                <a:latin typeface="Trenda IG Text Light"/>
                <a:ea typeface="+mn-ea"/>
                <a:cs typeface="+mn-cs"/>
              </a:rPr>
              <a:t>$16M</a:t>
            </a:r>
          </a:p>
        </p:txBody>
      </p:sp>
      <p:cxnSp>
        <p:nvCxnSpPr>
          <p:cNvPr id="35" name="Arrow 35"/>
          <p:cNvCxnSpPr/>
          <p:nvPr/>
        </p:nvCxnSpPr>
        <p:spPr>
          <a:xfrm>
            <a:off x="1828800"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 36"/>
          <p:cNvSpPr txBox="1"/>
          <p:nvPr/>
        </p:nvSpPr>
        <p:spPr>
          <a:xfrm>
            <a:off x="2240280" y="2944368"/>
            <a:ext cx="1636775"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WITH THE HARNESS</a:t>
            </a:r>
          </a:p>
        </p:txBody>
      </p:sp>
      <p:sp>
        <p:nvSpPr>
          <p:cNvPr id="37" name="Text 37"/>
          <p:cNvSpPr txBox="1"/>
          <p:nvPr/>
        </p:nvSpPr>
        <p:spPr>
          <a:xfrm>
            <a:off x="2240280" y="3090672"/>
            <a:ext cx="1636775"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000000"/>
                </a:solidFill>
                <a:effectLst/>
                <a:uLnTx/>
                <a:uFillTx/>
                <a:latin typeface="Trenda IG Text Light"/>
                <a:ea typeface="+mn-ea"/>
                <a:cs typeface="+mn-cs"/>
              </a:rPr>
              <a:t>$7M</a:t>
            </a:r>
          </a:p>
        </p:txBody>
      </p:sp>
      <p:sp>
        <p:nvSpPr>
          <p:cNvPr id="38" name="Differentiator Border 39"/>
          <p:cNvSpPr/>
          <p:nvPr/>
        </p:nvSpPr>
        <p:spPr>
          <a:xfrm>
            <a:off x="594360"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Shape 40"/>
          <p:cNvSpPr/>
          <p:nvPr/>
        </p:nvSpPr>
        <p:spPr>
          <a:xfrm>
            <a:off x="635508"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Text 41"/>
          <p:cNvSpPr txBox="1"/>
          <p:nvPr/>
        </p:nvSpPr>
        <p:spPr>
          <a:xfrm>
            <a:off x="772668" y="3698748"/>
            <a:ext cx="1463040" cy="52120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000000"/>
                </a:solidFill>
                <a:effectLst/>
                <a:uLnTx/>
                <a:uFillTx/>
                <a:latin typeface="Trenda IG Text"/>
                <a:ea typeface="+mn-ea"/>
                <a:cs typeface="+mn-cs"/>
              </a:rPr>
              <a:t>SAVES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56% of the year's spend</a:t>
            </a:r>
          </a:p>
        </p:txBody>
      </p:sp>
      <p:sp>
        <p:nvSpPr>
          <p:cNvPr id="41" name="Text 42"/>
          <p:cNvSpPr txBox="1"/>
          <p:nvPr/>
        </p:nvSpPr>
        <p:spPr>
          <a:xfrm>
            <a:off x="2098548" y="3698748"/>
            <a:ext cx="1600200" cy="521208"/>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2600" b="1" i="0" u="none" strike="noStrike" kern="1200" cap="none" spc="0" normalizeH="0" baseline="0" noProof="0">
                <a:ln>
                  <a:noFill/>
                </a:ln>
                <a:solidFill>
                  <a:srgbClr val="000000"/>
                </a:solidFill>
                <a:effectLst/>
                <a:uLnTx/>
                <a:uFillTx/>
                <a:latin typeface="Trenda IG Text"/>
                <a:ea typeface="+mn-ea"/>
                <a:cs typeface="+mn-cs"/>
              </a:rPr>
              <a:t>$9M</a:t>
            </a:r>
          </a:p>
        </p:txBody>
      </p:sp>
      <p:sp>
        <p:nvSpPr>
          <p:cNvPr id="42" name="Text 43"/>
          <p:cNvSpPr txBox="1"/>
          <p:nvPr/>
        </p:nvSpPr>
        <p:spPr>
          <a:xfrm>
            <a:off x="594360" y="4352544"/>
            <a:ext cx="3282696"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595959"/>
                </a:solidFill>
                <a:effectLst/>
                <a:uLnTx/>
                <a:uFillTx/>
                <a:latin typeface="Trenda IG Text"/>
                <a:ea typeface="+mn-ea"/>
                <a:cs typeface="+mn-cs"/>
              </a:rPr>
              <a:t>Pods move to agent-first squads through the year.</a:t>
            </a:r>
          </a:p>
        </p:txBody>
      </p:sp>
      <p:sp>
        <p:nvSpPr>
          <p:cNvPr id="43" name="Shape 44"/>
          <p:cNvSpPr/>
          <p:nvPr/>
        </p:nvSpPr>
        <p:spPr>
          <a:xfrm>
            <a:off x="4270248"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5"/>
          <p:cNvSpPr txBox="1"/>
          <p:nvPr/>
        </p:nvSpPr>
        <p:spPr>
          <a:xfrm>
            <a:off x="4453128" y="2578608"/>
            <a:ext cx="3282696"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00000"/>
                </a:solidFill>
                <a:effectLst/>
                <a:uLnTx/>
                <a:uFillTx/>
                <a:latin typeface="Trenda IG Text"/>
                <a:ea typeface="+mn-ea"/>
                <a:cs typeface="+mn-cs"/>
              </a:rPr>
              <a:t>Year 2</a:t>
            </a:r>
          </a:p>
        </p:txBody>
      </p:sp>
      <p:sp>
        <p:nvSpPr>
          <p:cNvPr id="45" name="Text 46"/>
          <p:cNvSpPr txBox="1"/>
          <p:nvPr/>
        </p:nvSpPr>
        <p:spPr>
          <a:xfrm>
            <a:off x="4453128" y="2944368"/>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TODAY</a:t>
            </a:r>
          </a:p>
        </p:txBody>
      </p:sp>
      <p:sp>
        <p:nvSpPr>
          <p:cNvPr id="46" name="Text 47"/>
          <p:cNvSpPr txBox="1"/>
          <p:nvPr/>
        </p:nvSpPr>
        <p:spPr>
          <a:xfrm>
            <a:off x="4453128" y="3090672"/>
            <a:ext cx="1463040"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595959"/>
                </a:solidFill>
                <a:effectLst/>
                <a:uLnTx/>
                <a:uFillTx/>
                <a:latin typeface="Trenda IG Text Light"/>
                <a:ea typeface="+mn-ea"/>
                <a:cs typeface="+mn-cs"/>
              </a:rPr>
              <a:t>$16M</a:t>
            </a:r>
          </a:p>
        </p:txBody>
      </p:sp>
      <p:cxnSp>
        <p:nvCxnSpPr>
          <p:cNvPr id="47" name="Arrow 48"/>
          <p:cNvCxnSpPr/>
          <p:nvPr/>
        </p:nvCxnSpPr>
        <p:spPr>
          <a:xfrm>
            <a:off x="5687568"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 49"/>
          <p:cNvSpPr txBox="1"/>
          <p:nvPr/>
        </p:nvSpPr>
        <p:spPr>
          <a:xfrm>
            <a:off x="6099048" y="2944368"/>
            <a:ext cx="1636775"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WITH THE HARNESS</a:t>
            </a:r>
          </a:p>
        </p:txBody>
      </p:sp>
      <p:sp>
        <p:nvSpPr>
          <p:cNvPr id="49" name="Text 50"/>
          <p:cNvSpPr txBox="1"/>
          <p:nvPr/>
        </p:nvSpPr>
        <p:spPr>
          <a:xfrm>
            <a:off x="6099048" y="3090672"/>
            <a:ext cx="1636775"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000000"/>
                </a:solidFill>
                <a:effectLst/>
                <a:uLnTx/>
                <a:uFillTx/>
                <a:latin typeface="Trenda IG Text Light"/>
                <a:ea typeface="+mn-ea"/>
                <a:cs typeface="+mn-cs"/>
              </a:rPr>
              <a:t>$5M</a:t>
            </a:r>
          </a:p>
        </p:txBody>
      </p:sp>
      <p:sp>
        <p:nvSpPr>
          <p:cNvPr id="50" name="Differentiator Border 52"/>
          <p:cNvSpPr/>
          <p:nvPr/>
        </p:nvSpPr>
        <p:spPr>
          <a:xfrm>
            <a:off x="4453128"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Shape 53"/>
          <p:cNvSpPr/>
          <p:nvPr/>
        </p:nvSpPr>
        <p:spPr>
          <a:xfrm>
            <a:off x="4494276"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2" name="Text 54"/>
          <p:cNvSpPr txBox="1"/>
          <p:nvPr/>
        </p:nvSpPr>
        <p:spPr>
          <a:xfrm>
            <a:off x="4631436" y="3698748"/>
            <a:ext cx="1463040" cy="52120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000000"/>
                </a:solidFill>
                <a:effectLst/>
                <a:uLnTx/>
                <a:uFillTx/>
                <a:latin typeface="Trenda IG Text"/>
                <a:ea typeface="+mn-ea"/>
                <a:cs typeface="+mn-cs"/>
              </a:rPr>
              <a:t>SAVES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69% of the year's spend</a:t>
            </a:r>
          </a:p>
        </p:txBody>
      </p:sp>
      <p:sp>
        <p:nvSpPr>
          <p:cNvPr id="53" name="Text 55"/>
          <p:cNvSpPr txBox="1"/>
          <p:nvPr/>
        </p:nvSpPr>
        <p:spPr>
          <a:xfrm>
            <a:off x="5957316" y="3698748"/>
            <a:ext cx="1600200" cy="521208"/>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2600" b="1" i="0" u="none" strike="noStrike" kern="1200" cap="none" spc="0" normalizeH="0" baseline="0" noProof="0">
                <a:ln>
                  <a:noFill/>
                </a:ln>
                <a:solidFill>
                  <a:srgbClr val="000000"/>
                </a:solidFill>
                <a:effectLst/>
                <a:uLnTx/>
                <a:uFillTx/>
                <a:latin typeface="Trenda IG Text"/>
                <a:ea typeface="+mn-ea"/>
                <a:cs typeface="+mn-cs"/>
              </a:rPr>
              <a:t>$11M</a:t>
            </a:r>
          </a:p>
        </p:txBody>
      </p:sp>
      <p:sp>
        <p:nvSpPr>
          <p:cNvPr id="54" name="Text 56"/>
          <p:cNvSpPr txBox="1"/>
          <p:nvPr/>
        </p:nvSpPr>
        <p:spPr>
          <a:xfrm>
            <a:off x="4453128" y="4352544"/>
            <a:ext cx="3282696"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595959"/>
                </a:solidFill>
                <a:effectLst/>
                <a:uLnTx/>
                <a:uFillTx/>
                <a:latin typeface="Trenda IG Text"/>
                <a:ea typeface="+mn-ea"/>
                <a:cs typeface="+mn-cs"/>
              </a:rPr>
              <a:t>Every pod on the harness for the full year.</a:t>
            </a:r>
          </a:p>
        </p:txBody>
      </p:sp>
      <p:sp>
        <p:nvSpPr>
          <p:cNvPr id="55" name="Shape 57"/>
          <p:cNvSpPr/>
          <p:nvPr/>
        </p:nvSpPr>
        <p:spPr>
          <a:xfrm>
            <a:off x="8129015"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8"/>
          <p:cNvSpPr txBox="1"/>
          <p:nvPr/>
        </p:nvSpPr>
        <p:spPr>
          <a:xfrm>
            <a:off x="8311895" y="2578608"/>
            <a:ext cx="3282696"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00000"/>
                </a:solidFill>
                <a:effectLst/>
                <a:uLnTx/>
                <a:uFillTx/>
                <a:latin typeface="Trenda IG Text"/>
                <a:ea typeface="+mn-ea"/>
                <a:cs typeface="+mn-cs"/>
              </a:rPr>
              <a:t>Year 3</a:t>
            </a:r>
          </a:p>
        </p:txBody>
      </p:sp>
      <p:sp>
        <p:nvSpPr>
          <p:cNvPr id="57" name="Text 59"/>
          <p:cNvSpPr txBox="1"/>
          <p:nvPr/>
        </p:nvSpPr>
        <p:spPr>
          <a:xfrm>
            <a:off x="8311895" y="2944368"/>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TODAY</a:t>
            </a:r>
          </a:p>
        </p:txBody>
      </p:sp>
      <p:sp>
        <p:nvSpPr>
          <p:cNvPr id="58" name="Text 60"/>
          <p:cNvSpPr txBox="1"/>
          <p:nvPr/>
        </p:nvSpPr>
        <p:spPr>
          <a:xfrm>
            <a:off x="8311895" y="3090672"/>
            <a:ext cx="1463040"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595959"/>
                </a:solidFill>
                <a:effectLst/>
                <a:uLnTx/>
                <a:uFillTx/>
                <a:latin typeface="Trenda IG Text Light"/>
                <a:ea typeface="+mn-ea"/>
                <a:cs typeface="+mn-cs"/>
              </a:rPr>
              <a:t>$16M</a:t>
            </a:r>
          </a:p>
        </p:txBody>
      </p:sp>
      <p:cxnSp>
        <p:nvCxnSpPr>
          <p:cNvPr id="59" name="Arrow 61"/>
          <p:cNvCxnSpPr/>
          <p:nvPr/>
        </p:nvCxnSpPr>
        <p:spPr>
          <a:xfrm>
            <a:off x="9546336"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 62"/>
          <p:cNvSpPr txBox="1"/>
          <p:nvPr/>
        </p:nvSpPr>
        <p:spPr>
          <a:xfrm>
            <a:off x="9957815" y="2944368"/>
            <a:ext cx="1636775"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WITH THE HARNESS</a:t>
            </a:r>
          </a:p>
        </p:txBody>
      </p:sp>
      <p:sp>
        <p:nvSpPr>
          <p:cNvPr id="61" name="Text 63"/>
          <p:cNvSpPr txBox="1"/>
          <p:nvPr/>
        </p:nvSpPr>
        <p:spPr>
          <a:xfrm>
            <a:off x="9957815" y="3090672"/>
            <a:ext cx="1636775" cy="42062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0" i="0" u="none" strike="noStrike" kern="1200" cap="none" spc="0" normalizeH="0" baseline="0" noProof="0">
                <a:ln>
                  <a:noFill/>
                </a:ln>
                <a:solidFill>
                  <a:srgbClr val="000000"/>
                </a:solidFill>
                <a:effectLst/>
                <a:uLnTx/>
                <a:uFillTx/>
                <a:latin typeface="Trenda IG Text Light"/>
                <a:ea typeface="+mn-ea"/>
                <a:cs typeface="+mn-cs"/>
              </a:rPr>
              <a:t>$3M</a:t>
            </a:r>
          </a:p>
        </p:txBody>
      </p:sp>
      <p:sp>
        <p:nvSpPr>
          <p:cNvPr id="62" name="Differentiator Border 65"/>
          <p:cNvSpPr/>
          <p:nvPr/>
        </p:nvSpPr>
        <p:spPr>
          <a:xfrm>
            <a:off x="8311895"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Shape 66"/>
          <p:cNvSpPr/>
          <p:nvPr/>
        </p:nvSpPr>
        <p:spPr>
          <a:xfrm>
            <a:off x="8353043"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4" name="Text 67"/>
          <p:cNvSpPr txBox="1"/>
          <p:nvPr/>
        </p:nvSpPr>
        <p:spPr>
          <a:xfrm>
            <a:off x="8490203" y="3698748"/>
            <a:ext cx="1463040" cy="52120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000000"/>
                </a:solidFill>
                <a:effectLst/>
                <a:uLnTx/>
                <a:uFillTx/>
                <a:latin typeface="Trenda IG Text"/>
                <a:ea typeface="+mn-ea"/>
                <a:cs typeface="+mn-cs"/>
              </a:rPr>
              <a:t>SAVES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81% of the year's spend</a:t>
            </a:r>
          </a:p>
        </p:txBody>
      </p:sp>
      <p:sp>
        <p:nvSpPr>
          <p:cNvPr id="65" name="Text 68"/>
          <p:cNvSpPr txBox="1"/>
          <p:nvPr/>
        </p:nvSpPr>
        <p:spPr>
          <a:xfrm>
            <a:off x="9816083" y="3698748"/>
            <a:ext cx="1600200" cy="521208"/>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2600" b="1" i="0" u="none" strike="noStrike" kern="1200" cap="none" spc="0" normalizeH="0" baseline="0" noProof="0">
                <a:ln>
                  <a:noFill/>
                </a:ln>
                <a:solidFill>
                  <a:srgbClr val="000000"/>
                </a:solidFill>
                <a:effectLst/>
                <a:uLnTx/>
                <a:uFillTx/>
                <a:latin typeface="Trenda IG Text"/>
                <a:ea typeface="+mn-ea"/>
                <a:cs typeface="+mn-cs"/>
              </a:rPr>
              <a:t>$13M</a:t>
            </a:r>
          </a:p>
        </p:txBody>
      </p:sp>
      <p:sp>
        <p:nvSpPr>
          <p:cNvPr id="66" name="Text 69"/>
          <p:cNvSpPr txBox="1"/>
          <p:nvPr/>
        </p:nvSpPr>
        <p:spPr>
          <a:xfrm>
            <a:off x="8311895" y="4352544"/>
            <a:ext cx="3282696"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595959"/>
                </a:solidFill>
                <a:effectLst/>
                <a:uLnTx/>
                <a:uFillTx/>
                <a:latin typeface="Trenda IG Text"/>
                <a:ea typeface="+mn-ea"/>
                <a:cs typeface="+mn-cs"/>
              </a:rPr>
              <a:t>Full run rate: agents carry the delivery, people steer.</a:t>
            </a:r>
          </a:p>
        </p:txBody>
      </p:sp>
      <p:sp>
        <p:nvSpPr>
          <p:cNvPr id="67" name="Shape 70"/>
          <p:cNvSpPr/>
          <p:nvPr/>
        </p:nvSpPr>
        <p:spPr>
          <a:xfrm>
            <a:off x="411480" y="493776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8" name="Text 71"/>
          <p:cNvSpPr txBox="1"/>
          <p:nvPr/>
        </p:nvSpPr>
        <p:spPr>
          <a:xfrm>
            <a:off x="640080" y="5029200"/>
            <a:ext cx="3657600"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D700"/>
                </a:solidFill>
                <a:effectLst/>
                <a:uLnTx/>
                <a:uFillTx/>
                <a:latin typeface="Trenda IG Text"/>
                <a:ea typeface="+mn-ea"/>
                <a:cs typeface="+mn-cs"/>
              </a:rPr>
              <a:t>THREE YEARS, ALL PODS</a:t>
            </a:r>
          </a:p>
        </p:txBody>
      </p:sp>
      <p:sp>
        <p:nvSpPr>
          <p:cNvPr id="69" name="Text 72"/>
          <p:cNvSpPr txBox="1"/>
          <p:nvPr/>
        </p:nvSpPr>
        <p:spPr>
          <a:xfrm>
            <a:off x="640080" y="5230368"/>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Spend today</a:t>
            </a:r>
          </a:p>
        </p:txBody>
      </p:sp>
      <p:sp>
        <p:nvSpPr>
          <p:cNvPr id="70" name="Text 73"/>
          <p:cNvSpPr txBox="1"/>
          <p:nvPr/>
        </p:nvSpPr>
        <p:spPr>
          <a:xfrm>
            <a:off x="640080" y="5394960"/>
            <a:ext cx="2567178"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FFFFFF"/>
                </a:solidFill>
                <a:effectLst/>
                <a:uLnTx/>
                <a:uFillTx/>
                <a:latin typeface="Trenda IG Text Light"/>
                <a:ea typeface="+mn-ea"/>
                <a:cs typeface="+mn-cs"/>
              </a:rPr>
              <a:t>$48M</a:t>
            </a:r>
          </a:p>
        </p:txBody>
      </p:sp>
      <p:sp>
        <p:nvSpPr>
          <p:cNvPr id="71" name="Text 74"/>
          <p:cNvSpPr txBox="1"/>
          <p:nvPr/>
        </p:nvSpPr>
        <p:spPr>
          <a:xfrm>
            <a:off x="640080" y="5724144"/>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$16M a year x 3</a:t>
            </a:r>
          </a:p>
        </p:txBody>
      </p:sp>
      <p:sp>
        <p:nvSpPr>
          <p:cNvPr id="72" name="Text 75"/>
          <p:cNvSpPr txBox="1"/>
          <p:nvPr/>
        </p:nvSpPr>
        <p:spPr>
          <a:xfrm>
            <a:off x="3481578" y="5230368"/>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With the harness</a:t>
            </a:r>
          </a:p>
        </p:txBody>
      </p:sp>
      <p:sp>
        <p:nvSpPr>
          <p:cNvPr id="73" name="Text 76"/>
          <p:cNvSpPr txBox="1"/>
          <p:nvPr/>
        </p:nvSpPr>
        <p:spPr>
          <a:xfrm>
            <a:off x="3481578" y="5394960"/>
            <a:ext cx="2567178"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FFFFFF"/>
                </a:solidFill>
                <a:effectLst/>
                <a:uLnTx/>
                <a:uFillTx/>
                <a:latin typeface="Trenda IG Text Light"/>
                <a:ea typeface="+mn-ea"/>
                <a:cs typeface="+mn-cs"/>
              </a:rPr>
              <a:t>$15M</a:t>
            </a:r>
          </a:p>
        </p:txBody>
      </p:sp>
      <p:sp>
        <p:nvSpPr>
          <p:cNvPr id="74" name="Text 77"/>
          <p:cNvSpPr txBox="1"/>
          <p:nvPr/>
        </p:nvSpPr>
        <p:spPr>
          <a:xfrm>
            <a:off x="3481578" y="5724144"/>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agents included</a:t>
            </a:r>
          </a:p>
        </p:txBody>
      </p:sp>
      <p:sp>
        <p:nvSpPr>
          <p:cNvPr id="75" name="Text 78"/>
          <p:cNvSpPr txBox="1"/>
          <p:nvPr/>
        </p:nvSpPr>
        <p:spPr>
          <a:xfrm>
            <a:off x="6323076" y="5230368"/>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Saved over 3 years</a:t>
            </a:r>
          </a:p>
        </p:txBody>
      </p:sp>
      <p:sp>
        <p:nvSpPr>
          <p:cNvPr id="76" name="Text 79"/>
          <p:cNvSpPr txBox="1"/>
          <p:nvPr/>
        </p:nvSpPr>
        <p:spPr>
          <a:xfrm>
            <a:off x="6323076" y="5394960"/>
            <a:ext cx="2567178"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D6F2"/>
                </a:solidFill>
                <a:effectLst/>
                <a:uLnTx/>
                <a:uFillTx/>
                <a:latin typeface="Trenda IG Text"/>
                <a:ea typeface="+mn-ea"/>
                <a:cs typeface="+mn-cs"/>
              </a:rPr>
              <a:t>$33M</a:t>
            </a:r>
          </a:p>
        </p:txBody>
      </p:sp>
      <p:sp>
        <p:nvSpPr>
          <p:cNvPr id="77" name="Text 80"/>
          <p:cNvSpPr txBox="1"/>
          <p:nvPr/>
        </p:nvSpPr>
        <p:spPr>
          <a:xfrm>
            <a:off x="6323076" y="5724144"/>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69% of three years' spend</a:t>
            </a:r>
          </a:p>
        </p:txBody>
      </p:sp>
      <p:sp>
        <p:nvSpPr>
          <p:cNvPr id="78" name="Text 81"/>
          <p:cNvSpPr txBox="1"/>
          <p:nvPr/>
        </p:nvSpPr>
        <p:spPr>
          <a:xfrm>
            <a:off x="9164574" y="5230368"/>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Return on the build fee</a:t>
            </a:r>
          </a:p>
        </p:txBody>
      </p:sp>
      <p:sp>
        <p:nvSpPr>
          <p:cNvPr id="79" name="Text 82"/>
          <p:cNvSpPr txBox="1"/>
          <p:nvPr/>
        </p:nvSpPr>
        <p:spPr>
          <a:xfrm>
            <a:off x="9164574" y="5394960"/>
            <a:ext cx="2567178"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D700"/>
                </a:solidFill>
                <a:effectLst/>
                <a:uLnTx/>
                <a:uFillTx/>
                <a:latin typeface="Trenda IG Text"/>
                <a:ea typeface="+mn-ea"/>
                <a:cs typeface="+mn-cs"/>
              </a:rPr>
              <a:t>7x</a:t>
            </a:r>
          </a:p>
        </p:txBody>
      </p:sp>
      <p:sp>
        <p:nvSpPr>
          <p:cNvPr id="80" name="Text 83"/>
          <p:cNvSpPr txBox="1"/>
          <p:nvPr/>
        </p:nvSpPr>
        <p:spPr>
          <a:xfrm>
            <a:off x="9164574" y="5724144"/>
            <a:ext cx="2567178" cy="16459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$4.79M fixed fee, paid back in year 1</a:t>
            </a:r>
          </a:p>
        </p:txBody>
      </p:sp>
      <p:sp>
        <p:nvSpPr>
          <p:cNvPr id="81" name="Text 84"/>
          <p:cNvSpPr txBox="1"/>
          <p:nvPr/>
        </p:nvSpPr>
        <p:spPr>
          <a:xfrm>
            <a:off x="411480" y="5998464"/>
            <a:ext cx="11365992" cy="2926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Ascension's spend across all pods, about $16M a year, as provided. Savings ramp as pods go live (two pods by month 9, all pods by month 17) and include agent run costs. Planning estimates, confirmed against each pod's Phase 0 baseline; the business outcomes slide's 20-25% is the floor.</a:t>
            </a:r>
          </a:p>
        </p:txBody>
      </p:sp>
    </p:spTree>
    <p:extLst>
      <p:ext uri="{BB962C8B-B14F-4D97-AF65-F5344CB8AC3E}">
        <p14:creationId xmlns:p14="http://schemas.microsoft.com/office/powerpoint/2010/main" val="815528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1  </a:t>
            </a:r>
            <a:r>
              <a:rPr kumimoji="0" sz="750" b="0"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2  </a:t>
            </a:r>
            <a:r>
              <a:rPr kumimoji="0" sz="750" b="0" i="0" u="none" strike="noStrike" kern="1200" cap="none" spc="0" normalizeH="0" baseline="0" noProof="0">
                <a:ln>
                  <a:noFill/>
                </a:ln>
                <a:solidFill>
                  <a:srgbClr val="000000"/>
                </a:solidFill>
                <a:effectLst/>
                <a:uLnTx/>
                <a:uFillTx/>
                <a:latin typeface="Trenda IG Text"/>
                <a:ea typeface="+mn-ea"/>
                <a:cs typeface="+mn-cs"/>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3  </a:t>
            </a:r>
            <a:r>
              <a:rPr kumimoji="0" sz="750" b="0" i="0" u="none" strike="noStrike" kern="1200" cap="none" spc="0" normalizeH="0" baseline="0" noProof="0">
                <a:ln>
                  <a:noFill/>
                </a:ln>
                <a:solidFill>
                  <a:srgbClr val="000000"/>
                </a:solidFill>
                <a:effectLst/>
                <a:uLnTx/>
                <a:uFillTx/>
                <a:latin typeface="Trenda IG Text"/>
                <a:ea typeface="+mn-ea"/>
                <a:cs typeface="+mn-cs"/>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4  </a:t>
            </a:r>
            <a:r>
              <a:rPr kumimoji="0" sz="750" b="0" i="0" u="none" strike="noStrike" kern="1200" cap="none" spc="0" normalizeH="0" baseline="0" noProof="0">
                <a:ln>
                  <a:noFill/>
                </a:ln>
                <a:solidFill>
                  <a:srgbClr val="000000"/>
                </a:solidFill>
                <a:effectLst/>
                <a:uLnTx/>
                <a:uFillTx/>
                <a:latin typeface="Trenda IG Text"/>
                <a:ea typeface="+mn-ea"/>
                <a:cs typeface="+mn-cs"/>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5  </a:t>
            </a:r>
            <a:r>
              <a:rPr kumimoji="0" sz="750" b="0" i="0" u="none" strike="noStrike" kern="1200" cap="none" spc="0" normalizeH="0" baseline="0" noProof="0">
                <a:ln>
                  <a:noFill/>
                </a:ln>
                <a:solidFill>
                  <a:srgbClr val="000000"/>
                </a:solidFill>
                <a:effectLst/>
                <a:uLnTx/>
                <a:uFillTx/>
                <a:latin typeface="Trenda IG Text"/>
                <a:ea typeface="+mn-ea"/>
                <a:cs typeface="+mn-cs"/>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Run</a:t>
            </a:r>
          </a:p>
        </p:txBody>
      </p:sp>
      <p:sp>
        <p:nvSpPr>
          <p:cNvPr id="104" name="Text 103"/>
          <p:cNvSpPr txBox="1"/>
          <p:nvPr/>
        </p:nvSpPr>
        <p:spPr>
          <a:xfrm>
            <a:off x="411480" y="5266944"/>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 EXIT · SIGNED</a:t>
            </a:r>
          </a:p>
        </p:txBody>
      </p:sp>
      <p:sp>
        <p:nvSpPr>
          <p:cNvPr id="105" name="Text 104"/>
          <p:cNvSpPr txBox="1"/>
          <p:nvPr/>
        </p:nvSpPr>
        <p:spPr>
          <a:xfrm>
            <a:off x="411480" y="5413248"/>
            <a:ext cx="18288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8" name="Text 107"/>
          <p:cNvSpPr txBox="1"/>
          <p:nvPr/>
        </p:nvSpPr>
        <p:spPr>
          <a:xfrm>
            <a:off x="2170684"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  </a:t>
            </a:r>
            <a:r>
              <a:rPr kumimoji="0" sz="650" b="0" i="0" u="none" strike="noStrike" kern="1200" cap="none" spc="0" normalizeH="0" baseline="0" noProof="0">
                <a:ln>
                  <a:noFill/>
                </a:ln>
                <a:solidFill>
                  <a:srgbClr val="000000"/>
                </a:solidFill>
                <a:effectLst/>
                <a:uLnTx/>
                <a:uFillTx/>
                <a:latin typeface="Trenda IG Text"/>
                <a:ea typeface="+mn-ea"/>
                <a:cs typeface="+mn-cs"/>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0" name="Text 109"/>
          <p:cNvSpPr txBox="1"/>
          <p:nvPr/>
        </p:nvSpPr>
        <p:spPr>
          <a:xfrm>
            <a:off x="4269740"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M5  </a:t>
            </a:r>
            <a:r>
              <a:rPr kumimoji="0" sz="650" b="0" i="0" u="none" strike="noStrike" kern="1200" cap="none" spc="0" normalizeH="0" baseline="0" noProof="0">
                <a:ln>
                  <a:noFill/>
                </a:ln>
                <a:solidFill>
                  <a:srgbClr val="000000"/>
                </a:solidFill>
                <a:effectLst/>
                <a:uLnTx/>
                <a:uFillTx/>
                <a:latin typeface="Trenda IG Text"/>
                <a:ea typeface="+mn-ea"/>
                <a:cs typeface="+mn-cs"/>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2" name="Text 111"/>
          <p:cNvSpPr txBox="1"/>
          <p:nvPr/>
        </p:nvSpPr>
        <p:spPr>
          <a:xfrm>
            <a:off x="636879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M9  </a:t>
            </a:r>
            <a:r>
              <a:rPr kumimoji="0" sz="650" b="0" i="0" u="none" strike="noStrike" kern="1200" cap="none" spc="0" normalizeH="0" baseline="0" noProof="0">
                <a:ln>
                  <a:noFill/>
                </a:ln>
                <a:solidFill>
                  <a:srgbClr val="000000"/>
                </a:solidFill>
                <a:effectLst/>
                <a:uLnTx/>
                <a:uFillTx/>
                <a:latin typeface="Trenda IG Text"/>
                <a:ea typeface="+mn-ea"/>
                <a:cs typeface="+mn-cs"/>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4" name="Text 113"/>
          <p:cNvSpPr txBox="1"/>
          <p:nvPr/>
        </p:nvSpPr>
        <p:spPr>
          <a:xfrm>
            <a:off x="7418324"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M11  </a:t>
            </a:r>
            <a:r>
              <a:rPr kumimoji="0" sz="650" b="0" i="0" u="none" strike="noStrike" kern="1200" cap="none" spc="0" normalizeH="0" baseline="0" noProof="0">
                <a:ln>
                  <a:noFill/>
                </a:ln>
                <a:solidFill>
                  <a:srgbClr val="000000"/>
                </a:solidFill>
                <a:effectLst/>
                <a:uLnTx/>
                <a:uFillTx/>
                <a:latin typeface="Trenda IG Text"/>
                <a:ea typeface="+mn-ea"/>
                <a:cs typeface="+mn-cs"/>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6" name="Text 115"/>
          <p:cNvSpPr txBox="1"/>
          <p:nvPr/>
        </p:nvSpPr>
        <p:spPr>
          <a:xfrm>
            <a:off x="899261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M14  </a:t>
            </a:r>
            <a:r>
              <a:rPr kumimoji="0" sz="650" b="0" i="0" u="none" strike="noStrike" kern="1200" cap="none" spc="0" normalizeH="0" baseline="0" noProof="0">
                <a:ln>
                  <a:noFill/>
                </a:ln>
                <a:solidFill>
                  <a:srgbClr val="000000"/>
                </a:solidFill>
                <a:effectLst/>
                <a:uLnTx/>
                <a:uFillTx/>
                <a:latin typeface="Trenda IG Text"/>
                <a:ea typeface="+mn-ea"/>
                <a:cs typeface="+mn-cs"/>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8" name="Text 117"/>
          <p:cNvSpPr txBox="1"/>
          <p:nvPr/>
        </p:nvSpPr>
        <p:spPr>
          <a:xfrm>
            <a:off x="10405872" y="581558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M17  </a:t>
            </a:r>
            <a:r>
              <a:rPr kumimoji="0" sz="650" b="0" i="0" u="none" strike="noStrike" kern="1200" cap="none" spc="0" normalizeH="0" baseline="0" noProof="0">
                <a:ln>
                  <a:noFill/>
                </a:ln>
                <a:solidFill>
                  <a:srgbClr val="000000"/>
                </a:solidFill>
                <a:effectLst/>
                <a:uLnTx/>
                <a:uFillTx/>
                <a:latin typeface="Trenda IG Text"/>
                <a:ea typeface="+mn-ea"/>
                <a:cs typeface="+mn-cs"/>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0" name="Text 119"/>
          <p:cNvSpPr txBox="1"/>
          <p:nvPr/>
        </p:nvSpPr>
        <p:spPr>
          <a:xfrm>
            <a:off x="10405872" y="554126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M18  </a:t>
            </a:r>
            <a:r>
              <a:rPr kumimoji="0" sz="650" b="0" i="0" u="none" strike="noStrike" kern="1200" cap="none" spc="0" normalizeH="0" baseline="0" noProof="0">
                <a:ln>
                  <a:noFill/>
                </a:ln>
                <a:solidFill>
                  <a:srgbClr val="000000"/>
                </a:solidFill>
                <a:effectLst/>
                <a:uLnTx/>
                <a:uFillTx/>
                <a:latin typeface="Trenda IG Text"/>
                <a:ea typeface="+mn-ea"/>
                <a:cs typeface="+mn-cs"/>
              </a:rPr>
              <a:t>Run team operating, handover signed</a:t>
            </a:r>
          </a:p>
        </p:txBody>
      </p:sp>
      <p:sp>
        <p:nvSpPr>
          <p:cNvPr id="121" name="Text 120"/>
          <p:cNvSpPr txBox="1"/>
          <p:nvPr/>
        </p:nvSpPr>
        <p:spPr>
          <a:xfrm>
            <a:off x="411480" y="6153912"/>
            <a:ext cx="11338560" cy="16459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Pods live: 0 until month 8 · 2 at month 9 (Network Services, Nudge) · 5 at month 14 · all 9-10 at month 17. Each phase starts only after the previous exit is signed; the next slide shows how each exit is measured.</a:t>
            </a:r>
          </a:p>
        </p:txBody>
      </p:sp>
    </p:spTree>
    <p:extLst>
      <p:ext uri="{BB962C8B-B14F-4D97-AF65-F5344CB8AC3E}">
        <p14:creationId xmlns:p14="http://schemas.microsoft.com/office/powerpoint/2010/main" val="26696571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Phase</a:t>
            </a:r>
          </a:p>
        </p:txBody>
      </p:sp>
      <p:sp>
        <p:nvSpPr>
          <p:cNvPr id="6" name="Text 5"/>
          <p:cNvSpPr txBox="1"/>
          <p:nvPr/>
        </p:nvSpPr>
        <p:spPr>
          <a:xfrm>
            <a:off x="2084832" y="1170432"/>
            <a:ext cx="233172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Outcome we hand over</a:t>
            </a:r>
          </a:p>
        </p:txBody>
      </p:sp>
      <p:sp>
        <p:nvSpPr>
          <p:cNvPr id="7" name="Text 6"/>
          <p:cNvSpPr txBox="1"/>
          <p:nvPr/>
        </p:nvSpPr>
        <p:spPr>
          <a:xfrm>
            <a:off x="4507992" y="1170432"/>
            <a:ext cx="4434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measure success (exit criteria)</a:t>
            </a:r>
          </a:p>
        </p:txBody>
      </p:sp>
      <p:sp>
        <p:nvSpPr>
          <p:cNvPr id="8" name="Text 7"/>
          <p:cNvSpPr txBox="1"/>
          <p:nvPr/>
        </p:nvSpPr>
        <p:spPr>
          <a:xfrm>
            <a:off x="9034272" y="1170432"/>
            <a:ext cx="11887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Signed by</a:t>
            </a:r>
          </a:p>
        </p:txBody>
      </p:sp>
      <p:sp>
        <p:nvSpPr>
          <p:cNvPr id="9" name="Text 8"/>
          <p:cNvSpPr txBox="1"/>
          <p:nvPr/>
        </p:nvSpPr>
        <p:spPr>
          <a:xfrm>
            <a:off x="10314432" y="1170432"/>
            <a:ext cx="144475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66344" y="1536192"/>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14" name="Text 13"/>
          <p:cNvSpPr txBox="1"/>
          <p:nvPr/>
        </p:nvSpPr>
        <p:spPr>
          <a:xfrm>
            <a:off x="868680" y="1517904"/>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Mobilise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a:t>
            </a:r>
          </a:p>
        </p:txBody>
      </p:sp>
      <p:sp>
        <p:nvSpPr>
          <p:cNvPr id="15" name="Text 14"/>
          <p:cNvSpPr txBox="1"/>
          <p:nvPr/>
        </p:nvSpPr>
        <p:spPr>
          <a:xfrm>
            <a:off x="2084832" y="1517904"/>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Google Cloud landing zone with VPC-SC live; three harness identities created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Read-only access tested to all six sources: Jira, Confluence, Salesforce, Git, Copado, Drive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 + security</a:t>
            </a:r>
          </a:p>
        </p:txBody>
      </p:sp>
      <p:sp>
        <p:nvSpPr>
          <p:cNvPr id="18" name="Text 17"/>
          <p:cNvSpPr txBox="1"/>
          <p:nvPr/>
        </p:nvSpPr>
        <p:spPr>
          <a:xfrm>
            <a:off x="10314432" y="1517904"/>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466344" y="2195866"/>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1</a:t>
            </a:r>
          </a:p>
        </p:txBody>
      </p:sp>
      <p:sp>
        <p:nvSpPr>
          <p:cNvPr id="21" name="Text 20"/>
          <p:cNvSpPr txBox="1"/>
          <p:nvPr/>
        </p:nvSpPr>
        <p:spPr>
          <a:xfrm>
            <a:off x="868680" y="2177578"/>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Knowledge graph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2-5</a:t>
            </a:r>
          </a:p>
        </p:txBody>
      </p:sp>
      <p:sp>
        <p:nvSpPr>
          <p:cNvPr id="22" name="Text 21"/>
          <p:cNvSpPr txBox="1"/>
          <p:nvPr/>
        </p:nvSpPr>
        <p:spPr>
          <a:xfrm>
            <a:off x="2084832" y="2177578"/>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All six connectors syncing on schedule; every fact traceable to its source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Replayed on 10-15 past changes: exists, impact and owner answers match the architects' at least 90% of the time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architects</a:t>
            </a:r>
          </a:p>
        </p:txBody>
      </p:sp>
      <p:sp>
        <p:nvSpPr>
          <p:cNvPr id="25" name="Text 24"/>
          <p:cNvSpPr txBox="1"/>
          <p:nvPr/>
        </p:nvSpPr>
        <p:spPr>
          <a:xfrm>
            <a:off x="10314432" y="2177578"/>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466344" y="2855540"/>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2</a:t>
            </a:r>
          </a:p>
        </p:txBody>
      </p:sp>
      <p:sp>
        <p:nvSpPr>
          <p:cNvPr id="29" name="Text 28"/>
          <p:cNvSpPr txBox="1"/>
          <p:nvPr/>
        </p:nvSpPr>
        <p:spPr>
          <a:xfrm>
            <a:off x="868680" y="2837252"/>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Harness pilot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6-9</a:t>
            </a:r>
          </a:p>
        </p:txBody>
      </p:sp>
      <p:sp>
        <p:nvSpPr>
          <p:cNvPr id="30" name="Text 29"/>
          <p:cNvSpPr txBox="1"/>
          <p:nvPr/>
        </p:nvSpPr>
        <p:spPr>
          <a:xfrm>
            <a:off x="2084832" y="2837252"/>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At least 10 stories per pod through all nine steps and every human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Cycle time vs baseline: Health Cloud change toward 2-4 days; campaign toward 15-20 days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Pilot pod leads + product owners</a:t>
            </a:r>
          </a:p>
        </p:txBody>
      </p:sp>
      <p:sp>
        <p:nvSpPr>
          <p:cNvPr id="33" name="Text 32"/>
          <p:cNvSpPr txBox="1"/>
          <p:nvPr/>
        </p:nvSpPr>
        <p:spPr>
          <a:xfrm>
            <a:off x="10314432" y="2837252"/>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66344" y="3515214"/>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3</a:t>
            </a:r>
          </a:p>
        </p:txBody>
      </p:sp>
      <p:sp>
        <p:nvSpPr>
          <p:cNvPr id="36" name="Text 35"/>
          <p:cNvSpPr txBox="1"/>
          <p:nvPr/>
        </p:nvSpPr>
        <p:spPr>
          <a:xfrm>
            <a:off x="868680" y="3496926"/>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Harden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10-11</a:t>
            </a:r>
          </a:p>
        </p:txBody>
      </p:sp>
      <p:sp>
        <p:nvSpPr>
          <p:cNvPr id="37" name="Text 36"/>
          <p:cNvSpPr txBox="1"/>
          <p:nvPr/>
        </p:nvSpPr>
        <p:spPr>
          <a:xfrm>
            <a:off x="2084832" y="3496926"/>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Pen test: no open critical or high findings; disaster-recovery test resumes a run from its checkpoint</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Evaluation set passes on every prompt, skill or model change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security + CAB</a:t>
            </a:r>
          </a:p>
        </p:txBody>
      </p:sp>
      <p:sp>
        <p:nvSpPr>
          <p:cNvPr id="40" name="Text 39"/>
          <p:cNvSpPr txBox="1"/>
          <p:nvPr/>
        </p:nvSpPr>
        <p:spPr>
          <a:xfrm>
            <a:off x="10314432" y="3496926"/>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66344" y="4174889"/>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4</a:t>
            </a:r>
          </a:p>
        </p:txBody>
      </p:sp>
      <p:sp>
        <p:nvSpPr>
          <p:cNvPr id="44" name="Text 43"/>
          <p:cNvSpPr txBox="1"/>
          <p:nvPr/>
        </p:nvSpPr>
        <p:spPr>
          <a:xfrm>
            <a:off x="868680" y="4156601"/>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12-14</a:t>
            </a:r>
          </a:p>
        </p:txBody>
      </p:sp>
      <p:sp>
        <p:nvSpPr>
          <p:cNvPr id="45" name="Text 44"/>
          <p:cNvSpPr txBox="1"/>
          <p:nvPr/>
        </p:nvSpPr>
        <p:spPr>
          <a:xfrm>
            <a:off x="2084832" y="4156601"/>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 sources in the graph and skills loaded in about two weeks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pod's first stories through all nine steps and every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48" name="Text 47"/>
          <p:cNvSpPr txBox="1"/>
          <p:nvPr/>
        </p:nvSpPr>
        <p:spPr>
          <a:xfrm>
            <a:off x="10314432" y="4156601"/>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466344" y="4834563"/>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5</a:t>
            </a:r>
          </a:p>
        </p:txBody>
      </p:sp>
      <p:sp>
        <p:nvSpPr>
          <p:cNvPr id="51" name="Text 50"/>
          <p:cNvSpPr txBox="1"/>
          <p:nvPr/>
        </p:nvSpPr>
        <p:spPr>
          <a:xfrm>
            <a:off x="868680" y="4816275"/>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15-17</a:t>
            </a:r>
          </a:p>
        </p:txBody>
      </p:sp>
      <p:sp>
        <p:nvSpPr>
          <p:cNvPr id="52" name="Text 51"/>
          <p:cNvSpPr txBox="1"/>
          <p:nvPr/>
        </p:nvSpPr>
        <p:spPr>
          <a:xfrm>
            <a:off x="2084832" y="4816275"/>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9-10 pods live on the harness</a:t>
            </a:r>
          </a:p>
        </p:txBody>
      </p:sp>
      <p:sp>
        <p:nvSpPr>
          <p:cNvPr id="53" name="Text 52"/>
          <p:cNvSpPr txBox="1"/>
          <p:nvPr/>
        </p:nvSpPr>
        <p:spPr>
          <a:xfrm>
            <a:off x="4507992" y="4807131"/>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Same onboarding checklist passed by every remaining pod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Wave 1 pods on track to 10-20% lower net cost in year 1 (business outcomes slide)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55" name="Text 54"/>
          <p:cNvSpPr txBox="1"/>
          <p:nvPr/>
        </p:nvSpPr>
        <p:spPr>
          <a:xfrm>
            <a:off x="10314432" y="4816275"/>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7"/>
          <p:cNvSpPr txBox="1"/>
          <p:nvPr/>
        </p:nvSpPr>
        <p:spPr>
          <a:xfrm>
            <a:off x="466344" y="5494237"/>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59" name="Text 58"/>
          <p:cNvSpPr txBox="1"/>
          <p:nvPr/>
        </p:nvSpPr>
        <p:spPr>
          <a:xfrm>
            <a:off x="868680" y="5475949"/>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Handover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18</a:t>
            </a:r>
          </a:p>
        </p:txBody>
      </p:sp>
      <p:sp>
        <p:nvSpPr>
          <p:cNvPr id="60" name="Text 59"/>
          <p:cNvSpPr txBox="1"/>
          <p:nvPr/>
        </p:nvSpPr>
        <p:spPr>
          <a:xfrm>
            <a:off x="2084832" y="5475949"/>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Runbooks, evaluation set, Guardian rulebook and graph pipelines handed over</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 team clears failed runs and adds a source unaided during a four-week shadow period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a:t>
            </a:r>
          </a:p>
        </p:txBody>
      </p:sp>
      <p:sp>
        <p:nvSpPr>
          <p:cNvPr id="63" name="Text 62"/>
          <p:cNvSpPr txBox="1"/>
          <p:nvPr/>
        </p:nvSpPr>
        <p:spPr>
          <a:xfrm>
            <a:off x="10314432" y="5475949"/>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411480" y="6108192"/>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extLst>
      <p:ext uri="{BB962C8B-B14F-4D97-AF65-F5344CB8AC3E}">
        <p14:creationId xmlns:p14="http://schemas.microsoft.com/office/powerpoint/2010/main" val="39933543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RISKS AND MITIGATIONS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What could go wrong, and what is already in the plan to stop it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risk has a mitigation built into the phases, a signal that warns us early and a named owner. The register is reviewed at every phase exit.</a:t>
            </a:r>
          </a:p>
        </p:txBody>
      </p:sp>
      <p:sp>
        <p:nvSpPr>
          <p:cNvPr id="5" name="Text 4"/>
          <p:cNvSpPr txBox="1"/>
          <p:nvPr/>
        </p:nvSpPr>
        <p:spPr>
          <a:xfrm>
            <a:off x="484632" y="1170432"/>
            <a:ext cx="2148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Risk</a:t>
            </a:r>
          </a:p>
        </p:txBody>
      </p:sp>
      <p:sp>
        <p:nvSpPr>
          <p:cNvPr id="6" name="Text 5"/>
          <p:cNvSpPr txBox="1"/>
          <p:nvPr/>
        </p:nvSpPr>
        <p:spPr>
          <a:xfrm>
            <a:off x="2724912" y="1170432"/>
            <a:ext cx="17373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If it happens</a:t>
            </a:r>
          </a:p>
        </p:txBody>
      </p:sp>
      <p:sp>
        <p:nvSpPr>
          <p:cNvPr id="7" name="Text 6"/>
          <p:cNvSpPr txBox="1"/>
          <p:nvPr/>
        </p:nvSpPr>
        <p:spPr>
          <a:xfrm>
            <a:off x="4553712" y="1170432"/>
            <a:ext cx="9601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Likelihood · impact</a:t>
            </a:r>
          </a:p>
        </p:txBody>
      </p:sp>
      <p:sp>
        <p:nvSpPr>
          <p:cNvPr id="8" name="Text 7"/>
          <p:cNvSpPr txBox="1"/>
          <p:nvPr/>
        </p:nvSpPr>
        <p:spPr>
          <a:xfrm>
            <a:off x="5605272" y="1170432"/>
            <a:ext cx="34290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mitigate it</a:t>
            </a:r>
          </a:p>
        </p:txBody>
      </p:sp>
      <p:sp>
        <p:nvSpPr>
          <p:cNvPr id="9" name="Text 8"/>
          <p:cNvSpPr txBox="1"/>
          <p:nvPr/>
        </p:nvSpPr>
        <p:spPr>
          <a:xfrm>
            <a:off x="9125712" y="1170432"/>
            <a:ext cx="13716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Early warning</a:t>
            </a:r>
          </a:p>
        </p:txBody>
      </p:sp>
      <p:sp>
        <p:nvSpPr>
          <p:cNvPr id="10" name="Text 9"/>
          <p:cNvSpPr txBox="1"/>
          <p:nvPr/>
        </p:nvSpPr>
        <p:spPr>
          <a:xfrm>
            <a:off x="10588752" y="1170432"/>
            <a:ext cx="117043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Owner</a:t>
            </a:r>
          </a:p>
        </p:txBody>
      </p:sp>
      <p:sp>
        <p:nvSpPr>
          <p:cNvPr id="11" name="Shape 10"/>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11480" y="1444752"/>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84632" y="1490472"/>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Access and environments arrive late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14" name="Text 13"/>
          <p:cNvSpPr txBox="1"/>
          <p:nvPr/>
        </p:nvSpPr>
        <p:spPr>
          <a:xfrm>
            <a:off x="2724912" y="1490472"/>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cannot start; the plan slips month by month</a:t>
            </a:r>
          </a:p>
        </p:txBody>
      </p:sp>
      <p:sp>
        <p:nvSpPr>
          <p:cNvPr id="15" name="Shape 14"/>
          <p:cNvSpPr/>
          <p:nvPr/>
        </p:nvSpPr>
        <p:spPr>
          <a:xfrm>
            <a:off x="4553712" y="160985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 name="Text 15"/>
          <p:cNvSpPr txBox="1"/>
          <p:nvPr/>
        </p:nvSpPr>
        <p:spPr>
          <a:xfrm>
            <a:off x="4553712"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17" name="Shape 16"/>
          <p:cNvSpPr/>
          <p:nvPr/>
        </p:nvSpPr>
        <p:spPr>
          <a:xfrm>
            <a:off x="5029200" y="160985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5029200"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19" name="Text 18"/>
          <p:cNvSpPr txBox="1"/>
          <p:nvPr/>
        </p:nvSpPr>
        <p:spPr>
          <a:xfrm>
            <a:off x="5605272" y="148132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Access list, sandboxes and named approvers are the Phase 0 exit; Phase 1 starts only after it is signed. Read-only access first, write access later.</a:t>
            </a:r>
          </a:p>
        </p:txBody>
      </p:sp>
      <p:sp>
        <p:nvSpPr>
          <p:cNvPr id="20" name="Text 19"/>
          <p:cNvSpPr txBox="1"/>
          <p:nvPr/>
        </p:nvSpPr>
        <p:spPr>
          <a:xfrm>
            <a:off x="9125712" y="1490472"/>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Phase 0 items still open in week 3</a:t>
            </a:r>
          </a:p>
        </p:txBody>
      </p:sp>
      <p:sp>
        <p:nvSpPr>
          <p:cNvPr id="21" name="Text 20"/>
          <p:cNvSpPr txBox="1"/>
          <p:nvPr/>
        </p:nvSpPr>
        <p:spPr>
          <a:xfrm>
            <a:off x="10588752" y="1490472"/>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IG engagement lead</a:t>
            </a:r>
          </a:p>
        </p:txBody>
      </p:sp>
      <p:sp>
        <p:nvSpPr>
          <p:cNvPr id="22" name="Text 21"/>
          <p:cNvSpPr txBox="1"/>
          <p:nvPr/>
        </p:nvSpPr>
        <p:spPr>
          <a:xfrm>
            <a:off x="484632" y="20035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Experts have no time to label evals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PEOPLE</a:t>
            </a:r>
          </a:p>
        </p:txBody>
      </p:sp>
      <p:sp>
        <p:nvSpPr>
          <p:cNvPr id="23" name="Text 22"/>
          <p:cNvSpPr txBox="1"/>
          <p:nvPr/>
        </p:nvSpPr>
        <p:spPr>
          <a:xfrm>
            <a:off x="2724912" y="20035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Golden set stays thin; evals cannot be trusted</a:t>
            </a:r>
          </a:p>
        </p:txBody>
      </p:sp>
      <p:sp>
        <p:nvSpPr>
          <p:cNvPr id="24" name="Shape 23"/>
          <p:cNvSpPr/>
          <p:nvPr/>
        </p:nvSpPr>
        <p:spPr>
          <a:xfrm>
            <a:off x="4553712"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4"/>
          <p:cNvSpPr txBox="1"/>
          <p:nvPr/>
        </p:nvSpPr>
        <p:spPr>
          <a:xfrm>
            <a:off x="4553712"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6" name="Shape 25"/>
          <p:cNvSpPr/>
          <p:nvPr/>
        </p:nvSpPr>
        <p:spPr>
          <a:xfrm>
            <a:off x="5029200"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5029200"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8" name="Text 27"/>
          <p:cNvSpPr txBox="1"/>
          <p:nvPr/>
        </p:nvSpPr>
        <p:spPr>
          <a:xfrm>
            <a:off x="5605272" y="199440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Hours per pod agreed at Phase 0 (a few hours a week). Agents pre-label, experts only confirm. The weekly sample is small by design.</a:t>
            </a:r>
          </a:p>
        </p:txBody>
      </p:sp>
      <p:sp>
        <p:nvSpPr>
          <p:cNvPr id="29" name="Text 28"/>
          <p:cNvSpPr txBox="1"/>
          <p:nvPr/>
        </p:nvSpPr>
        <p:spPr>
          <a:xfrm>
            <a:off x="9125712" y="20035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Weekly sample not reviewed within 5 days</a:t>
            </a:r>
          </a:p>
        </p:txBody>
      </p:sp>
      <p:sp>
        <p:nvSpPr>
          <p:cNvPr id="30" name="Text 29"/>
          <p:cNvSpPr txBox="1"/>
          <p:nvPr/>
        </p:nvSpPr>
        <p:spPr>
          <a:xfrm>
            <a:off x="10588752" y="20035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a:t>
            </a:r>
          </a:p>
        </p:txBody>
      </p:sp>
      <p:sp>
        <p:nvSpPr>
          <p:cNvPr id="31" name="Shape 30"/>
          <p:cNvSpPr/>
          <p:nvPr/>
        </p:nvSpPr>
        <p:spPr>
          <a:xfrm>
            <a:off x="411480" y="247091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1"/>
          <p:cNvSpPr txBox="1"/>
          <p:nvPr/>
        </p:nvSpPr>
        <p:spPr>
          <a:xfrm>
            <a:off x="484632" y="25166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Codex policy blocks plugins or MCP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33" name="Text 32"/>
          <p:cNvSpPr txBox="1"/>
          <p:nvPr/>
        </p:nvSpPr>
        <p:spPr>
          <a:xfrm>
            <a:off x="2724912" y="25166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Developers cannot start the harness from Codex</a:t>
            </a:r>
          </a:p>
        </p:txBody>
      </p:sp>
      <p:sp>
        <p:nvSpPr>
          <p:cNvPr id="34" name="Shape 33"/>
          <p:cNvSpPr/>
          <p:nvPr/>
        </p:nvSpPr>
        <p:spPr>
          <a:xfrm>
            <a:off x="4553712" y="26360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553712"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36" name="Shape 35"/>
          <p:cNvSpPr/>
          <p:nvPr/>
        </p:nvSpPr>
        <p:spPr>
          <a:xfrm>
            <a:off x="5029200" y="26360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5029200"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38" name="Text 37"/>
          <p:cNvSpPr txBox="1"/>
          <p:nvPr/>
        </p:nvSpPr>
        <p:spPr>
          <a:xfrm>
            <a:off x="5605272" y="25074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Confirmed with Ascension's Codex Enterprise admins in Phase 0. Fallback: the harness runs headless on Cloud Run with the same tools and gateway.</a:t>
            </a:r>
          </a:p>
        </p:txBody>
      </p:sp>
      <p:sp>
        <p:nvSpPr>
          <p:cNvPr id="39" name="Text 38"/>
          <p:cNvSpPr txBox="1"/>
          <p:nvPr/>
        </p:nvSpPr>
        <p:spPr>
          <a:xfrm>
            <a:off x="9125712" y="25166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No admin approval by the Phase 0 exit</a:t>
            </a:r>
          </a:p>
        </p:txBody>
      </p:sp>
      <p:sp>
        <p:nvSpPr>
          <p:cNvPr id="40" name="Text 39"/>
          <p:cNvSpPr txBox="1"/>
          <p:nvPr/>
        </p:nvSpPr>
        <p:spPr>
          <a:xfrm>
            <a:off x="10588752" y="25166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Codex admins + AI harness architect</a:t>
            </a:r>
          </a:p>
        </p:txBody>
      </p:sp>
      <p:sp>
        <p:nvSpPr>
          <p:cNvPr id="41" name="Text 40"/>
          <p:cNvSpPr txBox="1"/>
          <p:nvPr/>
        </p:nvSpPr>
        <p:spPr>
          <a:xfrm>
            <a:off x="484632" y="30297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Patient data or secrets reach a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SECURITY</a:t>
            </a:r>
          </a:p>
        </p:txBody>
      </p:sp>
      <p:sp>
        <p:nvSpPr>
          <p:cNvPr id="42" name="Text 41"/>
          <p:cNvSpPr txBox="1"/>
          <p:nvPr/>
        </p:nvSpPr>
        <p:spPr>
          <a:xfrm>
            <a:off x="2724912" y="30297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HIPAA exposure; trust in the programme is lost</a:t>
            </a:r>
          </a:p>
        </p:txBody>
      </p:sp>
      <p:sp>
        <p:nvSpPr>
          <p:cNvPr id="43" name="Shape 42"/>
          <p:cNvSpPr/>
          <p:nvPr/>
        </p:nvSpPr>
        <p:spPr>
          <a:xfrm>
            <a:off x="4553712" y="3149091"/>
            <a:ext cx="420624" cy="182880"/>
          </a:xfrm>
          <a:prstGeom prst="roundRect">
            <a:avLst>
              <a:gd name="adj" fmla="val 4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53712"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Low</a:t>
            </a:r>
          </a:p>
        </p:txBody>
      </p:sp>
      <p:sp>
        <p:nvSpPr>
          <p:cNvPr id="45" name="Shape 44"/>
          <p:cNvSpPr/>
          <p:nvPr/>
        </p:nvSpPr>
        <p:spPr>
          <a:xfrm>
            <a:off x="5029200" y="314909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5"/>
          <p:cNvSpPr txBox="1"/>
          <p:nvPr/>
        </p:nvSpPr>
        <p:spPr>
          <a:xfrm>
            <a:off x="5029200"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47" name="Text 46"/>
          <p:cNvSpPr txBox="1"/>
          <p:nvPr/>
        </p:nvSpPr>
        <p:spPr>
          <a:xfrm>
            <a:off x="5605272" y="30205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The graph holds metadata, never patient records. DLP redacts on the way in and scans on the way out. OpenAI terms (BAA, zero retention) confirmed in Phase 0; pen test before production.</a:t>
            </a:r>
          </a:p>
        </p:txBody>
      </p:sp>
      <p:sp>
        <p:nvSpPr>
          <p:cNvPr id="48" name="Text 47"/>
          <p:cNvSpPr txBox="1"/>
          <p:nvPr/>
        </p:nvSpPr>
        <p:spPr>
          <a:xfrm>
            <a:off x="9125712" y="30297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Any DLP hit on an output</a:t>
            </a:r>
          </a:p>
        </p:txBody>
      </p:sp>
      <p:sp>
        <p:nvSpPr>
          <p:cNvPr id="49" name="Text 48"/>
          <p:cNvSpPr txBox="1"/>
          <p:nvPr/>
        </p:nvSpPr>
        <p:spPr>
          <a:xfrm>
            <a:off x="10588752" y="30297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security engineer + Ascension security</a:t>
            </a:r>
          </a:p>
        </p:txBody>
      </p:sp>
      <p:sp>
        <p:nvSpPr>
          <p:cNvPr id="50" name="Shape 49"/>
          <p:cNvSpPr/>
          <p:nvPr/>
        </p:nvSpPr>
        <p:spPr>
          <a:xfrm>
            <a:off x="411480" y="349707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84632" y="354279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Graph facts are incomplete or stale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DATA</a:t>
            </a:r>
          </a:p>
        </p:txBody>
      </p:sp>
      <p:sp>
        <p:nvSpPr>
          <p:cNvPr id="52" name="Text 51"/>
          <p:cNvSpPr txBox="1"/>
          <p:nvPr/>
        </p:nvSpPr>
        <p:spPr>
          <a:xfrm>
            <a:off x="2724912" y="354279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Agents build on a wrong picture of the org</a:t>
            </a:r>
          </a:p>
        </p:txBody>
      </p:sp>
      <p:sp>
        <p:nvSpPr>
          <p:cNvPr id="53" name="Shape 52"/>
          <p:cNvSpPr/>
          <p:nvPr/>
        </p:nvSpPr>
        <p:spPr>
          <a:xfrm>
            <a:off x="4553712" y="366217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3"/>
          <p:cNvSpPr txBox="1"/>
          <p:nvPr/>
        </p:nvSpPr>
        <p:spPr>
          <a:xfrm>
            <a:off x="4553712"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55" name="Shape 54"/>
          <p:cNvSpPr/>
          <p:nvPr/>
        </p:nvSpPr>
        <p:spPr>
          <a:xfrm>
            <a:off x="5029200" y="366217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029200"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57" name="Text 56"/>
          <p:cNvSpPr txBox="1"/>
          <p:nvPr/>
        </p:nvSpPr>
        <p:spPr>
          <a:xfrm>
            <a:off x="5605272" y="353364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exit: ≥90% agreement with architects on 10-15 past changes. Freshness and coverage checks; nightly drift watch; unknowns go to the owner, never guessed.</a:t>
            </a:r>
          </a:p>
        </p:txBody>
      </p:sp>
      <p:sp>
        <p:nvSpPr>
          <p:cNvPr id="58" name="Text 57"/>
          <p:cNvSpPr txBox="1"/>
          <p:nvPr/>
        </p:nvSpPr>
        <p:spPr>
          <a:xfrm>
            <a:off x="9125712" y="354279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Coverage or freshness below target</a:t>
            </a:r>
          </a:p>
        </p:txBody>
      </p:sp>
      <p:sp>
        <p:nvSpPr>
          <p:cNvPr id="59" name="Text 58"/>
          <p:cNvSpPr txBox="1"/>
          <p:nvPr/>
        </p:nvSpPr>
        <p:spPr>
          <a:xfrm>
            <a:off x="10588752" y="354279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Knowledge graph engineers</a:t>
            </a:r>
          </a:p>
        </p:txBody>
      </p:sp>
      <p:sp>
        <p:nvSpPr>
          <p:cNvPr id="60" name="Text 59"/>
          <p:cNvSpPr txBox="1"/>
          <p:nvPr/>
        </p:nvSpPr>
        <p:spPr>
          <a:xfrm>
            <a:off x="484632" y="405587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quality drifts, or a new model behaves differently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QUALITY</a:t>
            </a:r>
          </a:p>
        </p:txBody>
      </p:sp>
      <p:sp>
        <p:nvSpPr>
          <p:cNvPr id="61" name="Text 60"/>
          <p:cNvSpPr txBox="1"/>
          <p:nvPr/>
        </p:nvSpPr>
        <p:spPr>
          <a:xfrm>
            <a:off x="2724912" y="405587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More rework; reviewers lose confidence</a:t>
            </a:r>
          </a:p>
        </p:txBody>
      </p:sp>
      <p:sp>
        <p:nvSpPr>
          <p:cNvPr id="62" name="Shape 61"/>
          <p:cNvSpPr/>
          <p:nvPr/>
        </p:nvSpPr>
        <p:spPr>
          <a:xfrm>
            <a:off x="4553712"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4553712"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4" name="Shape 63"/>
          <p:cNvSpPr/>
          <p:nvPr/>
        </p:nvSpPr>
        <p:spPr>
          <a:xfrm>
            <a:off x="5029200"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5029200"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6" name="Text 65"/>
          <p:cNvSpPr txBox="1"/>
          <p:nvPr/>
        </p:nvSpPr>
        <p:spPr>
          <a:xfrm>
            <a:off x="5605272" y="404672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Evals gate every prompt, skill and model change; held-out set; weekly blind sample. The model is pinned and changes only by config after passing evals. Max 5 attempts, then an owner.</a:t>
            </a:r>
          </a:p>
        </p:txBody>
      </p:sp>
      <p:sp>
        <p:nvSpPr>
          <p:cNvPr id="67" name="Text 66"/>
          <p:cNvSpPr txBox="1"/>
          <p:nvPr/>
        </p:nvSpPr>
        <p:spPr>
          <a:xfrm>
            <a:off x="9125712" y="405587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pass@1 or judge agreement falls</a:t>
            </a:r>
          </a:p>
        </p:txBody>
      </p:sp>
      <p:sp>
        <p:nvSpPr>
          <p:cNvPr id="68" name="Text 67"/>
          <p:cNvSpPr txBox="1"/>
          <p:nvPr/>
        </p:nvSpPr>
        <p:spPr>
          <a:xfrm>
            <a:off x="10588752" y="405587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AI harness architect</a:t>
            </a:r>
          </a:p>
        </p:txBody>
      </p:sp>
      <p:sp>
        <p:nvSpPr>
          <p:cNvPr id="69" name="Shape 68"/>
          <p:cNvSpPr/>
          <p:nvPr/>
        </p:nvSpPr>
        <p:spPr>
          <a:xfrm>
            <a:off x="411480" y="452323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69"/>
          <p:cNvSpPr txBox="1"/>
          <p:nvPr/>
        </p:nvSpPr>
        <p:spPr>
          <a:xfrm>
            <a:off x="484632" y="45689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 change breaks another pod's process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71" name="Text 70"/>
          <p:cNvSpPr txBox="1"/>
          <p:nvPr/>
        </p:nvSpPr>
        <p:spPr>
          <a:xfrm>
            <a:off x="2724912" y="45689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Incident in a shared object; pods stop trusting the harness</a:t>
            </a:r>
          </a:p>
        </p:txBody>
      </p:sp>
      <p:sp>
        <p:nvSpPr>
          <p:cNvPr id="72" name="Shape 71"/>
          <p:cNvSpPr/>
          <p:nvPr/>
        </p:nvSpPr>
        <p:spPr>
          <a:xfrm>
            <a:off x="4553712" y="468833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553712"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74" name="Shape 73"/>
          <p:cNvSpPr/>
          <p:nvPr/>
        </p:nvSpPr>
        <p:spPr>
          <a:xfrm>
            <a:off x="5029200" y="46883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5029200"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76" name="Text 75"/>
          <p:cNvSpPr txBox="1"/>
          <p:nvPr/>
        </p:nvSpPr>
        <p:spPr>
          <a:xfrm>
            <a:off x="5605272" y="455980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Change Guardian checks design, commit and promotion against the ownership graph; affected pods sign; CAB unchanged; every release has a rollback plan.</a:t>
            </a:r>
          </a:p>
        </p:txBody>
      </p:sp>
      <p:sp>
        <p:nvSpPr>
          <p:cNvPr id="77" name="Text 76"/>
          <p:cNvSpPr txBox="1"/>
          <p:nvPr/>
        </p:nvSpPr>
        <p:spPr>
          <a:xfrm>
            <a:off x="9125712" y="45689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Guardian blocks or approval backlog rising</a:t>
            </a:r>
          </a:p>
        </p:txBody>
      </p:sp>
      <p:sp>
        <p:nvSpPr>
          <p:cNvPr id="78" name="Text 77"/>
          <p:cNvSpPr txBox="1"/>
          <p:nvPr/>
        </p:nvSpPr>
        <p:spPr>
          <a:xfrm>
            <a:off x="10588752" y="45689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 + Guardian rulebook owner</a:t>
            </a:r>
          </a:p>
        </p:txBody>
      </p:sp>
      <p:sp>
        <p:nvSpPr>
          <p:cNvPr id="79" name="Text 78"/>
          <p:cNvSpPr txBox="1"/>
          <p:nvPr/>
        </p:nvSpPr>
        <p:spPr>
          <a:xfrm>
            <a:off x="484632" y="50820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Pods keep working the old way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ADOPTION</a:t>
            </a:r>
          </a:p>
        </p:txBody>
      </p:sp>
      <p:sp>
        <p:nvSpPr>
          <p:cNvPr id="80" name="Text 79"/>
          <p:cNvSpPr txBox="1"/>
          <p:nvPr/>
        </p:nvSpPr>
        <p:spPr>
          <a:xfrm>
            <a:off x="2724912" y="50820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Harness built but under-used; benefits do not land</a:t>
            </a:r>
          </a:p>
        </p:txBody>
      </p:sp>
      <p:sp>
        <p:nvSpPr>
          <p:cNvPr id="81" name="Shape 80"/>
          <p:cNvSpPr/>
          <p:nvPr/>
        </p:nvSpPr>
        <p:spPr>
          <a:xfrm>
            <a:off x="4553712" y="52014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2" name="Text 81"/>
          <p:cNvSpPr txBox="1"/>
          <p:nvPr/>
        </p:nvSpPr>
        <p:spPr>
          <a:xfrm>
            <a:off x="4553712"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83" name="Shape 82"/>
          <p:cNvSpPr/>
          <p:nvPr/>
        </p:nvSpPr>
        <p:spPr>
          <a:xfrm>
            <a:off x="5029200" y="52014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4" name="Text 83"/>
          <p:cNvSpPr txBox="1"/>
          <p:nvPr/>
        </p:nvSpPr>
        <p:spPr>
          <a:xfrm>
            <a:off x="5029200"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85" name="Text 84"/>
          <p:cNvSpPr txBox="1"/>
          <p:nvPr/>
        </p:nvSpPr>
        <p:spPr>
          <a:xfrm>
            <a:off x="5605272" y="50728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Two pilot pods prove it on their own baseline before any scale-up. Onboarding waves with training; a dashboard per pod; people keep every approval.</a:t>
            </a:r>
          </a:p>
        </p:txBody>
      </p:sp>
      <p:sp>
        <p:nvSpPr>
          <p:cNvPr id="86" name="Text 85"/>
          <p:cNvSpPr txBox="1"/>
          <p:nvPr/>
        </p:nvSpPr>
        <p:spPr>
          <a:xfrm>
            <a:off x="9125712" y="50820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Stories through the harness below plan</a:t>
            </a:r>
          </a:p>
        </p:txBody>
      </p:sp>
      <p:sp>
        <p:nvSpPr>
          <p:cNvPr id="87" name="Text 86"/>
          <p:cNvSpPr txBox="1"/>
          <p:nvPr/>
        </p:nvSpPr>
        <p:spPr>
          <a:xfrm>
            <a:off x="10588752" y="50820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engagement lead</a:t>
            </a:r>
          </a:p>
        </p:txBody>
      </p:sp>
      <p:sp>
        <p:nvSpPr>
          <p:cNvPr id="88" name="Shape 87"/>
          <p:cNvSpPr/>
          <p:nvPr/>
        </p:nvSpPr>
        <p:spPr>
          <a:xfrm>
            <a:off x="411480" y="554939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484632" y="55951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run cost grows faster than planned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90" name="Text 89"/>
          <p:cNvSpPr txBox="1"/>
          <p:nvPr/>
        </p:nvSpPr>
        <p:spPr>
          <a:xfrm>
            <a:off x="2724912" y="55951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Model and cloud usage eat into the benefit</a:t>
            </a:r>
          </a:p>
        </p:txBody>
      </p:sp>
      <p:sp>
        <p:nvSpPr>
          <p:cNvPr id="91" name="Shape 90"/>
          <p:cNvSpPr/>
          <p:nvPr/>
        </p:nvSpPr>
        <p:spPr>
          <a:xfrm>
            <a:off x="4553712"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4553712"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3" name="Shape 92"/>
          <p:cNvSpPr/>
          <p:nvPr/>
        </p:nvSpPr>
        <p:spPr>
          <a:xfrm>
            <a:off x="5029200"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Text 93"/>
          <p:cNvSpPr txBox="1"/>
          <p:nvPr/>
        </p:nvSpPr>
        <p:spPr>
          <a:xfrm>
            <a:off x="5029200"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5" name="Text 94"/>
          <p:cNvSpPr txBox="1"/>
          <p:nvPr/>
        </p:nvSpPr>
        <p:spPr>
          <a:xfrm>
            <a:off x="5605272" y="55859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Token budgets per step and per run; a run stops at its budget. Cost per step is in every run report and reviewed monthly.</a:t>
            </a:r>
          </a:p>
        </p:txBody>
      </p:sp>
      <p:sp>
        <p:nvSpPr>
          <p:cNvPr id="96" name="Text 95"/>
          <p:cNvSpPr txBox="1"/>
          <p:nvPr/>
        </p:nvSpPr>
        <p:spPr>
          <a:xfrm>
            <a:off x="9125712" y="55951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Cost per story over budget two weeks running</a:t>
            </a:r>
          </a:p>
        </p:txBody>
      </p:sp>
      <p:sp>
        <p:nvSpPr>
          <p:cNvPr id="97" name="Text 96"/>
          <p:cNvSpPr txBox="1"/>
          <p:nvPr/>
        </p:nvSpPr>
        <p:spPr>
          <a:xfrm>
            <a:off x="10588752" y="55951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and DevOps engineers</a:t>
            </a:r>
          </a:p>
        </p:txBody>
      </p:sp>
      <p:sp>
        <p:nvSpPr>
          <p:cNvPr id="98" name="Shape 97"/>
          <p:cNvSpPr/>
          <p:nvPr/>
        </p:nvSpPr>
        <p:spPr>
          <a:xfrm>
            <a:off x="411480" y="6062471"/>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411480" y="6108191"/>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Likelihood and impact are our starting view, agreed with Ascension at the Phase 0 exit. The engagement lead keeps the register; new risks are added at each phase exit and in the monthly steering meeting.</a:t>
            </a:r>
          </a:p>
        </p:txBody>
      </p:sp>
    </p:spTree>
    <p:extLst>
      <p:ext uri="{BB962C8B-B14F-4D97-AF65-F5344CB8AC3E}">
        <p14:creationId xmlns:p14="http://schemas.microsoft.com/office/powerpoint/2010/main" val="2560747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dirty="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tIns="0" r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tIns="0" r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tIns="0" r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tIns="0" r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tIns="0" r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2"/>
          <p:cNvSpPr txBox="1"/>
          <p:nvPr/>
        </p:nvSpPr>
        <p:spPr>
          <a:xfrm>
            <a:off x="612648" y="1444752"/>
            <a:ext cx="1911095" cy="402336"/>
          </a:xfrm>
          <a:prstGeom prst="rect">
            <a:avLst/>
          </a:prstGeom>
          <a:noFill/>
        </p:spPr>
        <p:txBody>
          <a:bodyPr wrap="square" lIns="0" tIns="0" r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tIns="0" r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tIns="0" r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 18"/>
          <p:cNvSpPr txBox="1"/>
          <p:nvPr/>
        </p:nvSpPr>
        <p:spPr>
          <a:xfrm>
            <a:off x="612648" y="1847088"/>
            <a:ext cx="1911095" cy="402336"/>
          </a:xfrm>
          <a:prstGeom prst="rect">
            <a:avLst/>
          </a:prstGeom>
          <a:noFill/>
        </p:spPr>
        <p:txBody>
          <a:bodyPr wrap="square" lIns="0" tIns="0" r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tIns="0" r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tIns="0" r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612648" y="2392884"/>
            <a:ext cx="1911095" cy="115416"/>
          </a:xfrm>
          <a:prstGeom prst="rect">
            <a:avLst/>
          </a:prstGeom>
          <a:noFill/>
        </p:spPr>
        <p:txBody>
          <a:bodyPr wrap="square" lIns="0" tIns="0" rIns="0" bIns="0" anchor="ctr">
            <a:spAutoFit/>
          </a:bodyPr>
          <a:lstStyle/>
          <a:p>
            <a:r>
              <a:rPr sz="750" b="1" i="0">
                <a:solidFill>
                  <a:srgbClr val="000000"/>
                </a:solidFill>
                <a:latin typeface="Trenda IG Text"/>
              </a:rPr>
              <a:t>AI </a:t>
            </a:r>
            <a:r>
              <a:rPr lang="en-IN" sz="750" b="1">
                <a:solidFill>
                  <a:srgbClr val="000000"/>
                </a:solidFill>
              </a:rPr>
              <a:t>harness </a:t>
            </a:r>
            <a:r>
              <a:rPr sz="750" b="1" i="0">
                <a:solidFill>
                  <a:srgbClr val="000000"/>
                </a:solidFill>
                <a:latin typeface="Trenda IG Text"/>
              </a:rPr>
              <a:t>architect</a:t>
            </a:r>
          </a:p>
        </p:txBody>
      </p:sp>
      <p:sp>
        <p:nvSpPr>
          <p:cNvPr id="27" name="Text 26"/>
          <p:cNvSpPr txBox="1"/>
          <p:nvPr/>
        </p:nvSpPr>
        <p:spPr>
          <a:xfrm>
            <a:off x="2606040" y="2342870"/>
            <a:ext cx="3438144" cy="215444"/>
          </a:xfrm>
          <a:prstGeom prst="rect">
            <a:avLst/>
          </a:prstGeom>
          <a:noFill/>
        </p:spPr>
        <p:txBody>
          <a:bodyPr wrap="square" lIns="0" tIns="0" rIns="0" bIns="0" anchor="ctr">
            <a:spAutoFit/>
          </a:bodyPr>
          <a:lstStyle/>
          <a:p>
            <a:r>
              <a:rPr lang="en-IN" sz="700">
                <a:solidFill>
                  <a:srgbClr val="000000"/>
                </a:solidFill>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tIns="0" r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1"/>
          <p:cNvSpPr txBox="1"/>
          <p:nvPr/>
        </p:nvSpPr>
        <p:spPr>
          <a:xfrm>
            <a:off x="612648" y="2795220"/>
            <a:ext cx="1911095" cy="115416"/>
          </a:xfrm>
          <a:prstGeom prst="rect">
            <a:avLst/>
          </a:prstGeom>
          <a:noFill/>
        </p:spPr>
        <p:txBody>
          <a:bodyPr wrap="square" lIns="0" tIns="0" rIns="0" bIns="0" anchor="ctr">
            <a:spAutoFit/>
          </a:bodyPr>
          <a:lstStyle/>
          <a:p>
            <a:r>
              <a:rPr sz="750" b="1" i="0">
                <a:solidFill>
                  <a:srgbClr val="000000"/>
                </a:solidFill>
                <a:latin typeface="Trenda IG Text"/>
              </a:rPr>
              <a:t>Forward deployed AI</a:t>
            </a:r>
            <a:r>
              <a:rPr lang="en-IN" sz="750" b="1">
                <a:solidFill>
                  <a:srgbClr val="000000"/>
                </a:solidFill>
              </a:rPr>
              <a:t> Harness</a:t>
            </a:r>
            <a:r>
              <a:rPr sz="750" b="1" i="0">
                <a:solidFill>
                  <a:srgbClr val="000000"/>
                </a:solidFill>
                <a:latin typeface="Trenda IG Text"/>
              </a:rPr>
              <a:t> engineers</a:t>
            </a:r>
          </a:p>
        </p:txBody>
      </p:sp>
      <p:sp>
        <p:nvSpPr>
          <p:cNvPr id="33" name="Text 32"/>
          <p:cNvSpPr txBox="1"/>
          <p:nvPr/>
        </p:nvSpPr>
        <p:spPr>
          <a:xfrm>
            <a:off x="2606040" y="2745206"/>
            <a:ext cx="3438144" cy="215444"/>
          </a:xfrm>
          <a:prstGeom prst="rect">
            <a:avLst/>
          </a:prstGeom>
          <a:noFill/>
        </p:spPr>
        <p:txBody>
          <a:bodyPr wrap="square" lIns="0" tIns="0" rIns="0" bIns="0" anchor="ctr">
            <a:spAutoFit/>
          </a:bodyPr>
          <a:lstStyle/>
          <a:p>
            <a:r>
              <a:rPr lang="en-US" sz="700">
                <a:solidFill>
                  <a:srgbClr val="000000"/>
                </a:solidFill>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tIns="0" r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612648" y="3054096"/>
            <a:ext cx="1911095" cy="402336"/>
          </a:xfrm>
          <a:prstGeom prst="rect">
            <a:avLst/>
          </a:prstGeom>
          <a:noFill/>
        </p:spPr>
        <p:txBody>
          <a:bodyPr wrap="square" lIns="0" tIns="0" r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tIns="0" r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tIns="0" r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44"/>
          <p:cNvSpPr txBox="1"/>
          <p:nvPr/>
        </p:nvSpPr>
        <p:spPr>
          <a:xfrm>
            <a:off x="612648" y="3456432"/>
            <a:ext cx="1911095" cy="402336"/>
          </a:xfrm>
          <a:prstGeom prst="rect">
            <a:avLst/>
          </a:prstGeom>
          <a:noFill/>
        </p:spPr>
        <p:txBody>
          <a:bodyPr wrap="square" lIns="0" tIns="0" r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tIns="0" r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tIns="0" r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1"/>
          <p:cNvSpPr txBox="1"/>
          <p:nvPr/>
        </p:nvSpPr>
        <p:spPr>
          <a:xfrm>
            <a:off x="612648" y="3858768"/>
            <a:ext cx="1911095" cy="402336"/>
          </a:xfrm>
          <a:prstGeom prst="rect">
            <a:avLst/>
          </a:prstGeom>
          <a:noFill/>
        </p:spPr>
        <p:txBody>
          <a:bodyPr wrap="square" lIns="0" tIns="0" r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tIns="0" r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tIns="0" r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 57"/>
          <p:cNvSpPr txBox="1"/>
          <p:nvPr/>
        </p:nvSpPr>
        <p:spPr>
          <a:xfrm>
            <a:off x="612648" y="4261104"/>
            <a:ext cx="1911095" cy="402336"/>
          </a:xfrm>
          <a:prstGeom prst="rect">
            <a:avLst/>
          </a:prstGeom>
          <a:noFill/>
        </p:spPr>
        <p:txBody>
          <a:bodyPr wrap="square" lIns="0" tIns="0" r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tIns="0" r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tIns="0" r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12648" y="4663440"/>
            <a:ext cx="1911095" cy="402336"/>
          </a:xfrm>
          <a:prstGeom prst="rect">
            <a:avLst/>
          </a:prstGeom>
          <a:noFill/>
        </p:spPr>
        <p:txBody>
          <a:bodyPr wrap="square" lIns="0" tIns="0" r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tIns="0" r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tIns="0" r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0"/>
          <p:cNvSpPr txBox="1"/>
          <p:nvPr/>
        </p:nvSpPr>
        <p:spPr>
          <a:xfrm>
            <a:off x="612648" y="5065776"/>
            <a:ext cx="1911095" cy="402336"/>
          </a:xfrm>
          <a:prstGeom prst="rect">
            <a:avLst/>
          </a:prstGeom>
          <a:noFill/>
        </p:spPr>
        <p:txBody>
          <a:bodyPr wrap="square" lIns="0" tIns="0" r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tIns="0" r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tIns="0" r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tIns="0" r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tIns="0" r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6"/>
          <p:cNvSpPr txBox="1"/>
          <p:nvPr/>
        </p:nvSpPr>
        <p:spPr>
          <a:xfrm>
            <a:off x="411480" y="5513832"/>
            <a:ext cx="7635240" cy="182880"/>
          </a:xfrm>
          <a:prstGeom prst="rect">
            <a:avLst/>
          </a:prstGeom>
          <a:noFill/>
        </p:spPr>
        <p:txBody>
          <a:bodyPr wrap="square" lIns="0" tIns="0" r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AI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8"/>
          <p:cNvSpPr txBox="1"/>
          <p:nvPr/>
        </p:nvSpPr>
        <p:spPr>
          <a:xfrm>
            <a:off x="8394192" y="1207008"/>
            <a:ext cx="981456" cy="347472"/>
          </a:xfrm>
          <a:prstGeom prst="rect">
            <a:avLst/>
          </a:prstGeom>
          <a:noFill/>
        </p:spPr>
        <p:txBody>
          <a:bodyPr wrap="square" lIns="0" tIns="0" r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tIns="0" r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 81"/>
          <p:cNvSpPr txBox="1"/>
          <p:nvPr/>
        </p:nvSpPr>
        <p:spPr>
          <a:xfrm>
            <a:off x="9576816" y="1207008"/>
            <a:ext cx="981456" cy="347472"/>
          </a:xfrm>
          <a:prstGeom prst="rect">
            <a:avLst/>
          </a:prstGeom>
          <a:noFill/>
        </p:spPr>
        <p:txBody>
          <a:bodyPr wrap="square" lIns="0" tIns="0" r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tIns="0" r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4"/>
          <p:cNvSpPr txBox="1"/>
          <p:nvPr/>
        </p:nvSpPr>
        <p:spPr>
          <a:xfrm>
            <a:off x="10759440" y="1207008"/>
            <a:ext cx="981456" cy="347472"/>
          </a:xfrm>
          <a:prstGeom prst="rect">
            <a:avLst/>
          </a:prstGeom>
          <a:noFill/>
        </p:spPr>
        <p:txBody>
          <a:bodyPr wrap="square" lIns="0" tIns="0" r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tIns="0" r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tIns="0" r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xmlns:r="http://schemas.openxmlformats.org/officeDocument/2006/relationships" r:id="rId3"/>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 88"/>
          <p:cNvSpPr txBox="1"/>
          <p:nvPr/>
        </p:nvSpPr>
        <p:spPr>
          <a:xfrm>
            <a:off x="8430767" y="4142232"/>
            <a:ext cx="3236976" cy="182880"/>
          </a:xfrm>
          <a:prstGeom prst="rect">
            <a:avLst/>
          </a:prstGeom>
          <a:noFill/>
        </p:spPr>
        <p:txBody>
          <a:bodyPr wrap="square" lIns="0" tIns="0" r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Text 90"/>
          <p:cNvSpPr txBox="1"/>
          <p:nvPr/>
        </p:nvSpPr>
        <p:spPr>
          <a:xfrm>
            <a:off x="8577072" y="4398264"/>
            <a:ext cx="3090672" cy="182880"/>
          </a:xfrm>
          <a:prstGeom prst="rect">
            <a:avLst/>
          </a:prstGeom>
          <a:noFill/>
        </p:spPr>
        <p:txBody>
          <a:bodyPr wrap="square" lIns="0" tIns="0" r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2"/>
          <p:cNvSpPr txBox="1"/>
          <p:nvPr/>
        </p:nvSpPr>
        <p:spPr>
          <a:xfrm>
            <a:off x="8577072" y="4645152"/>
            <a:ext cx="3090672" cy="182880"/>
          </a:xfrm>
          <a:prstGeom prst="rect">
            <a:avLst/>
          </a:prstGeom>
          <a:noFill/>
        </p:spPr>
        <p:txBody>
          <a:bodyPr wrap="square" lIns="0" tIns="0" r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4"/>
          <p:cNvSpPr txBox="1"/>
          <p:nvPr/>
        </p:nvSpPr>
        <p:spPr>
          <a:xfrm>
            <a:off x="8577072" y="4892040"/>
            <a:ext cx="3090672" cy="182880"/>
          </a:xfrm>
          <a:prstGeom prst="rect">
            <a:avLst/>
          </a:prstGeom>
          <a:noFill/>
        </p:spPr>
        <p:txBody>
          <a:bodyPr wrap="square" lIns="0" tIns="0" r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Text 96"/>
          <p:cNvSpPr txBox="1"/>
          <p:nvPr/>
        </p:nvSpPr>
        <p:spPr>
          <a:xfrm>
            <a:off x="8577072" y="5138928"/>
            <a:ext cx="3090672" cy="182880"/>
          </a:xfrm>
          <a:prstGeom prst="rect">
            <a:avLst/>
          </a:prstGeom>
          <a:noFill/>
        </p:spPr>
        <p:txBody>
          <a:bodyPr wrap="square" lIns="0" tIns="0" r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8"/>
          <p:cNvSpPr txBox="1"/>
          <p:nvPr/>
        </p:nvSpPr>
        <p:spPr>
          <a:xfrm>
            <a:off x="8577072" y="5385816"/>
            <a:ext cx="3090672" cy="182880"/>
          </a:xfrm>
          <a:prstGeom prst="rect">
            <a:avLst/>
          </a:prstGeom>
          <a:noFill/>
        </p:spPr>
        <p:txBody>
          <a:bodyPr wrap="square" lIns="0" tIns="0" r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 100"/>
          <p:cNvSpPr txBox="1"/>
          <p:nvPr/>
        </p:nvSpPr>
        <p:spPr>
          <a:xfrm>
            <a:off x="8577072" y="5632704"/>
            <a:ext cx="3090672" cy="182880"/>
          </a:xfrm>
          <a:prstGeom prst="rect">
            <a:avLst/>
          </a:prstGeom>
          <a:noFill/>
        </p:spPr>
        <p:txBody>
          <a:bodyPr wrap="square" lIns="0" tIns="0" r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4" name="Text 102"/>
          <p:cNvSpPr txBox="1"/>
          <p:nvPr/>
        </p:nvSpPr>
        <p:spPr>
          <a:xfrm>
            <a:off x="8577072" y="5879592"/>
            <a:ext cx="3090672" cy="182880"/>
          </a:xfrm>
          <a:prstGeom prst="rect">
            <a:avLst/>
          </a:prstGeom>
          <a:noFill/>
        </p:spPr>
        <p:txBody>
          <a:bodyPr wrap="square" lIns="0" tIns="0" r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0000"/>
                </a:solidFill>
              </a:rPr>
              <a:t>ASCENSION AGENTIC HARNESS · COMMERCIALS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runs as a managed service.</a:t>
            </a:r>
          </a:p>
        </p:txBody>
      </p:sp>
      <p:sp>
        <p:nvSpPr>
          <p:cNvPr id="5" name="Text 4"/>
          <p:cNvSpPr txBox="1"/>
          <p:nvPr/>
        </p:nvSpPr>
        <p:spPr>
          <a:xfrm>
            <a:off x="457200" y="1170432"/>
            <a:ext cx="1554480" cy="219456"/>
          </a:xfrm>
          <a:prstGeom prst="rect">
            <a:avLst/>
          </a:prstGeom>
          <a:noFill/>
        </p:spPr>
        <p:txBody>
          <a:bodyPr wrap="square" lIns="0" tIns="0" r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tIns="0" r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tIns="0" r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tIns="0" r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tIns="0" r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tIns="0" r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2"/>
          <p:cNvSpPr txBox="1"/>
          <p:nvPr/>
        </p:nvSpPr>
        <p:spPr>
          <a:xfrm>
            <a:off x="457200" y="1444752"/>
            <a:ext cx="1508760" cy="384048"/>
          </a:xfrm>
          <a:prstGeom prst="rect">
            <a:avLst/>
          </a:prstGeom>
          <a:noFill/>
        </p:spPr>
        <p:txBody>
          <a:bodyPr wrap="square" lIns="0" tIns="0" r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tIns="0" r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tIns="0" r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tIns="0" r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tIns="0" r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tIns="0" r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457200" y="2347164"/>
            <a:ext cx="1508760" cy="115416"/>
          </a:xfrm>
          <a:prstGeom prst="rect">
            <a:avLst/>
          </a:prstGeom>
          <a:noFill/>
        </p:spPr>
        <p:txBody>
          <a:bodyPr wrap="square" lIns="0" tIns="0" rIns="0" bIns="0" anchor="ctr">
            <a:spAutoFit/>
          </a:bodyPr>
          <a:lstStyle/>
          <a:p>
            <a:r>
              <a:rPr sz="750" b="1" i="0">
                <a:solidFill>
                  <a:srgbClr val="000000"/>
                </a:solidFill>
                <a:latin typeface="Trenda IG Text"/>
              </a:rPr>
              <a:t>2   pilot</a:t>
            </a:r>
          </a:p>
        </p:txBody>
      </p:sp>
      <p:sp>
        <p:nvSpPr>
          <p:cNvPr id="27" name="Text 26"/>
          <p:cNvSpPr txBox="1"/>
          <p:nvPr/>
        </p:nvSpPr>
        <p:spPr>
          <a:xfrm>
            <a:off x="2057400" y="2212848"/>
            <a:ext cx="685799" cy="384048"/>
          </a:xfrm>
          <a:prstGeom prst="rect">
            <a:avLst/>
          </a:prstGeom>
          <a:noFill/>
        </p:spPr>
        <p:txBody>
          <a:bodyPr wrap="square" lIns="0" tIns="0" r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tIns="0" r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tIns="0" r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tIns="0" r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tIns="0" r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457200" y="2980944"/>
            <a:ext cx="1508760" cy="384048"/>
          </a:xfrm>
          <a:prstGeom prst="rect">
            <a:avLst/>
          </a:prstGeom>
          <a:noFill/>
        </p:spPr>
        <p:txBody>
          <a:bodyPr wrap="square" lIns="0" tIns="0" r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tIns="0" r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tIns="0" r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tIns="0" r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tIns="0" r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tIns="0" r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1"/>
          <p:cNvSpPr txBox="1"/>
          <p:nvPr/>
        </p:nvSpPr>
        <p:spPr>
          <a:xfrm>
            <a:off x="457200" y="3749039"/>
            <a:ext cx="1508760" cy="384048"/>
          </a:xfrm>
          <a:prstGeom prst="rect">
            <a:avLst/>
          </a:prstGeom>
          <a:noFill/>
        </p:spPr>
        <p:txBody>
          <a:bodyPr wrap="square" lIns="0" tIns="0" r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tIns="0" r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tIns="0" r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57200" y="4160520"/>
            <a:ext cx="1508760" cy="310896"/>
          </a:xfrm>
          <a:prstGeom prst="rect">
            <a:avLst/>
          </a:prstGeom>
          <a:noFill/>
        </p:spPr>
        <p:txBody>
          <a:bodyPr wrap="square" lIns="0" tIns="0" r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tIns="0" r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tIns="0" rIns="0" bIns="0" anchor="ctr">
            <a:spAutoFit/>
          </a:bodyPr>
          <a:lstStyle/>
          <a:p>
            <a:pPr algn="r"/>
            <a:endParaRPr/>
          </a:p>
        </p:txBody>
      </p:sp>
      <p:sp>
        <p:nvSpPr>
          <p:cNvPr id="62" name="Text 61"/>
          <p:cNvSpPr txBox="1"/>
          <p:nvPr/>
        </p:nvSpPr>
        <p:spPr>
          <a:xfrm>
            <a:off x="3566160" y="4160520"/>
            <a:ext cx="1051560" cy="310896"/>
          </a:xfrm>
          <a:prstGeom prst="rect">
            <a:avLst/>
          </a:prstGeom>
          <a:noFill/>
        </p:spPr>
        <p:txBody>
          <a:bodyPr wrap="square" lIns="0" tIns="0" r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tIns="0" r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tIns="0" r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5"/>
          <p:cNvSpPr txBox="1"/>
          <p:nvPr/>
        </p:nvSpPr>
        <p:spPr>
          <a:xfrm>
            <a:off x="521208" y="4571999"/>
            <a:ext cx="7187183" cy="512064"/>
          </a:xfrm>
          <a:prstGeom prst="rect">
            <a:avLst/>
          </a:prstGeom>
          <a:noFill/>
        </p:spPr>
        <p:txBody>
          <a:bodyPr wrap="square" lIns="0" tIns="0" r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tIns="0" r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70"/>
          <p:cNvSpPr txBox="1"/>
          <p:nvPr/>
        </p:nvSpPr>
        <p:spPr>
          <a:xfrm>
            <a:off x="8243315" y="1467612"/>
            <a:ext cx="2231136" cy="182880"/>
          </a:xfrm>
          <a:prstGeom prst="rect">
            <a:avLst/>
          </a:prstGeom>
          <a:noFill/>
        </p:spPr>
        <p:txBody>
          <a:bodyPr wrap="square" lIns="0" tIns="0" r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tIns="0" r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4"/>
          <p:cNvSpPr txBox="1"/>
          <p:nvPr/>
        </p:nvSpPr>
        <p:spPr>
          <a:xfrm>
            <a:off x="10712196" y="2007108"/>
            <a:ext cx="914400" cy="146304"/>
          </a:xfrm>
          <a:prstGeom prst="rect">
            <a:avLst/>
          </a:prstGeom>
          <a:noFill/>
        </p:spPr>
        <p:txBody>
          <a:bodyPr wrap="square" lIns="0" tIns="0" r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6"/>
          <p:cNvSpPr txBox="1"/>
          <p:nvPr/>
        </p:nvSpPr>
        <p:spPr>
          <a:xfrm>
            <a:off x="8202167" y="2395728"/>
            <a:ext cx="2313432" cy="182880"/>
          </a:xfrm>
          <a:prstGeom prst="rect">
            <a:avLst/>
          </a:prstGeom>
          <a:noFill/>
        </p:spPr>
        <p:txBody>
          <a:bodyPr wrap="square" lIns="0" tIns="0" r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tIns="0" r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tIns="0" r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1"/>
          <p:cNvSpPr txBox="1"/>
          <p:nvPr/>
        </p:nvSpPr>
        <p:spPr>
          <a:xfrm>
            <a:off x="8202167" y="3364992"/>
            <a:ext cx="2313432" cy="182880"/>
          </a:xfrm>
          <a:prstGeom prst="rect">
            <a:avLst/>
          </a:prstGeom>
          <a:noFill/>
        </p:spPr>
        <p:txBody>
          <a:bodyPr wrap="square" lIns="0" tIns="0" r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tIns="0" r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tIns="0" r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5"/>
          <p:cNvSpPr txBox="1"/>
          <p:nvPr/>
        </p:nvSpPr>
        <p:spPr>
          <a:xfrm>
            <a:off x="8257031" y="4005072"/>
            <a:ext cx="3355848" cy="256032"/>
          </a:xfrm>
          <a:prstGeom prst="rect">
            <a:avLst/>
          </a:prstGeom>
          <a:noFill/>
        </p:spPr>
        <p:txBody>
          <a:bodyPr wrap="square" lIns="0" tIns="0" r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7"/>
          <p:cNvSpPr txBox="1"/>
          <p:nvPr/>
        </p:nvSpPr>
        <p:spPr>
          <a:xfrm>
            <a:off x="8220456" y="4517136"/>
            <a:ext cx="3429000" cy="182880"/>
          </a:xfrm>
          <a:prstGeom prst="rect">
            <a:avLst/>
          </a:prstGeom>
          <a:noFill/>
        </p:spPr>
        <p:txBody>
          <a:bodyPr wrap="square" lIns="0" tIns="0" r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984885"/>
          </a:xfrm>
          <a:prstGeom prst="rect">
            <a:avLst/>
          </a:prstGeom>
          <a:noFill/>
        </p:spPr>
        <p:txBody>
          <a:bodyPr wrap="square" lIns="0" tIns="0" r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every further pod on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tIns="0" r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1–3 · Per-source pipeline</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Jira</a:t>
            </a:r>
            <a:endParaRPr lang="en-US" sz="881"/>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requirements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Epics, components, labels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Kanban &amp; sprint history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Linked issues &amp; defects</a:t>
            </a:r>
            <a:endParaRPr lang="en-US" sz="686"/>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(3LO) or API token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scopes only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Cursor pagination (startAt / maxResults=100)</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issue payload</a:t>
            </a:r>
            <a:endParaRPr lang="en-US" sz="686"/>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ADF JSON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statement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 (Given / When / Then)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graph: blocks, relates, implements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issue key, updated, SHA-256</a:t>
            </a:r>
            <a:endParaRPr lang="en-US" sz="686"/>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Confluence</a:t>
            </a:r>
            <a:endParaRPr lang="en-US" sz="881"/>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Functional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Technical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Integration diagrams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HFN / HPF &amp; credentialing runbooks</a:t>
            </a:r>
            <a:endParaRPr lang="en-US" sz="686"/>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PAT / API token authentication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Space + label scoped retrieval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Storage-format HTML (body.storage)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 + lastUpdated tracking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Rate limiting (token bucket)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content hashing</a:t>
            </a:r>
            <a:endParaRPr lang="en-US" sz="686"/>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Jsoup HTML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sentence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page id, version, SHA-256</a:t>
            </a:r>
            <a:endParaRPr lang="en-US" sz="686"/>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Salesforce</a:t>
            </a:r>
            <a:endParaRPr lang="en-US" sz="881"/>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HCP / Account, Healthcare Facility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HPF, HFN, CPA / Fee Schedule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Fields, record types,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Flows, validation rules, Apex</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permission sets, sharing</a:t>
            </a:r>
            <a:endParaRPr lang="en-US" sz="686"/>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Connected App, JWT bearer flow</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permission set, metadata scope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record-data access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Tooling API + Metadata API retrieve()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MetadataComponentDependency queries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for fields &amp;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component body</a:t>
            </a:r>
            <a:endParaRPr lang="en-US" sz="686"/>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 objects, fields, types, rels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methods, SOQL, DML, sObjects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Triggers: object + before / after events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 rule formulas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Dependency API → component edges</a:t>
            </a:r>
            <a:endParaRPr lang="en-US" sz="686"/>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Git</a:t>
            </a:r>
            <a:endParaRPr lang="en-US" sz="881"/>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force-app source tree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&amp; triggers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test classes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*-meta.xml metadata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Commits, branches, tags, PRs</a:t>
            </a:r>
            <a:endParaRPr lang="en-US" sz="686"/>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SSH deploy key / read-only fine-grained PAT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Shallow clone + fetch per branch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 SHA, author, timestamp capture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Per-file SHA-256 + git blob SHA cross-check</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SFDX source-format traversal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parsing incl. @isTest / @future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 class → covered class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 parsing (js / html / meta)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XML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repo, branch, path, commit SHA</a:t>
            </a:r>
            <a:endParaRPr lang="en-US" sz="686"/>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Copado</a:t>
            </a:r>
            <a:endParaRPr lang="en-US" sz="881"/>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promotions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testing suites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test runs &amp;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DEV · SIT · UAT · PREPROD · PROD</a:t>
            </a:r>
            <a:endParaRPr lang="en-US" sz="686"/>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client credentials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API user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promotion pull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 regression test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per environment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stage topology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record payload</a:t>
            </a:r>
            <a:endParaRPr lang="en-US" sz="686"/>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Promotion &amp; deployment record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results: pass / fail + evidence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story id, run id, deployment id</a:t>
            </a:r>
            <a:endParaRPr lang="en-US" sz="686"/>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Google Drive</a:t>
            </a:r>
            <a:endParaRPr lang="en-US" sz="881"/>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Shared delivery documents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&amp; field-mapping sheets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Evidence exports &amp; sign-offs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Decision &amp; meeting notes</a:t>
            </a:r>
            <a:endParaRPr lang="en-US" sz="686"/>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service account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Drive API v3, shared-drive scoped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files.list + files.export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exported to text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Change-token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file revision</a:t>
            </a:r>
            <a:endParaRPr lang="en-US" sz="686"/>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text 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Sheet table extraction (headers, rows)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 business-capability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fileId, revision, SHA-256</a:t>
            </a:r>
            <a:endParaRPr lang="en-US" sz="686"/>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a:t>
            </a:r>
            <a:r>
              <a:rPr lang="en-IN" sz="1050">
                <a:solidFill>
                  <a:srgbClr val="595959"/>
                </a:solidFill>
              </a:rPr>
              <a:t>Agentic Harness adds</a:t>
            </a:r>
            <a:r>
              <a:rPr sz="1050" b="0" i="0">
                <a:solidFill>
                  <a:srgbClr val="595959"/>
                </a:solidFill>
                <a:latin typeface="Trenda IG Text"/>
              </a:rPr>
              <a:t>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115416"/>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91332"/>
            <a:ext cx="3794760" cy="115416"/>
          </a:xfrm>
          <a:prstGeom prst="rect">
            <a:avLst/>
          </a:prstGeom>
          <a:noFill/>
        </p:spPr>
        <p:txBody>
          <a:bodyPr wrap="square" lIns="0" tIns="0" rIns="0" bIns="0" anchor="ctr">
            <a:spAutoFit/>
          </a:bodyPr>
          <a:lstStyle/>
          <a:p>
            <a:r>
              <a:rPr sz="750" b="1" i="0">
                <a:solidFill>
                  <a:srgbClr val="000000"/>
                </a:solidFill>
                <a:latin typeface="Trenda IG Text"/>
              </a:rPr>
              <a:t>What </a:t>
            </a:r>
            <a:r>
              <a:rPr lang="en-IN" sz="750" b="1">
                <a:solidFill>
                  <a:srgbClr val="000000"/>
                </a:solidFill>
              </a:rPr>
              <a:t>the harness</a:t>
            </a:r>
            <a:r>
              <a:rPr sz="750" b="1" i="0">
                <a:solidFill>
                  <a:srgbClr val="000000"/>
                </a:solidFill>
                <a:latin typeface="Trenda IG Text"/>
              </a:rPr>
              <a:t>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dirty="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dirty="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dirty="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CLOSED-LOOP EVALS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Closed-loop evals: every attempt bounded, every miss makes it better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Offline tests and live results feed one loop. No step runs forever: after 5 attempts it stops and a named owner takes over.</a:t>
            </a:r>
          </a:p>
        </p:txBody>
      </p:sp>
      <p:sp>
        <p:nvSpPr>
          <p:cNvPr id="5" name="Shape 4"/>
          <p:cNvSpPr/>
          <p:nvPr/>
        </p:nvSpPr>
        <p:spPr>
          <a:xfrm>
            <a:off x="457200"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566928"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1</a:t>
            </a:r>
          </a:p>
        </p:txBody>
      </p:sp>
      <p:sp>
        <p:nvSpPr>
          <p:cNvPr id="7" name="Text 6"/>
          <p:cNvSpPr txBox="1"/>
          <p:nvPr/>
        </p:nvSpPr>
        <p:spPr>
          <a:xfrm>
            <a:off x="859536"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Golden set</a:t>
            </a:r>
          </a:p>
        </p:txBody>
      </p:sp>
      <p:sp>
        <p:nvSpPr>
          <p:cNvPr id="8" name="Text 7"/>
          <p:cNvSpPr txBox="1"/>
          <p:nvPr/>
        </p:nvSpPr>
        <p:spPr>
          <a:xfrm>
            <a:off x="585216"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Past Ascension changes labelled by your experts against a written rubric: every pod, cloud, change type and risk level.</a:t>
            </a:r>
          </a:p>
        </p:txBody>
      </p:sp>
      <p:sp>
        <p:nvSpPr>
          <p:cNvPr id="9" name="Shape 8"/>
          <p:cNvSpPr/>
          <p:nvPr/>
        </p:nvSpPr>
        <p:spPr>
          <a:xfrm>
            <a:off x="2706624"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2816352"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2</a:t>
            </a:r>
          </a:p>
        </p:txBody>
      </p:sp>
      <p:sp>
        <p:nvSpPr>
          <p:cNvPr id="11" name="Text 10"/>
          <p:cNvSpPr txBox="1"/>
          <p:nvPr/>
        </p:nvSpPr>
        <p:spPr>
          <a:xfrm>
            <a:off x="3108960"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Offline gate</a:t>
            </a:r>
          </a:p>
        </p:txBody>
      </p:sp>
      <p:sp>
        <p:nvSpPr>
          <p:cNvPr id="12" name="Text 11"/>
          <p:cNvSpPr txBox="1"/>
          <p:nvPr/>
        </p:nvSpPr>
        <p:spPr>
          <a:xfrm>
            <a:off x="2834640"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No prompt, skill or model change goes live unless it passes: per-agent scores, pass@1 to pass@5.</a:t>
            </a:r>
          </a:p>
        </p:txBody>
      </p:sp>
      <p:sp>
        <p:nvSpPr>
          <p:cNvPr id="13" name="Differentiator Border 13"/>
          <p:cNvSpPr/>
          <p:nvPr/>
        </p:nvSpPr>
        <p:spPr>
          <a:xfrm>
            <a:off x="4956048" y="1280160"/>
            <a:ext cx="2011680" cy="14813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Shape 14"/>
          <p:cNvSpPr/>
          <p:nvPr/>
        </p:nvSpPr>
        <p:spPr>
          <a:xfrm>
            <a:off x="4992624" y="1316736"/>
            <a:ext cx="1938528" cy="14081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5"/>
          <p:cNvSpPr txBox="1"/>
          <p:nvPr/>
        </p:nvSpPr>
        <p:spPr>
          <a:xfrm>
            <a:off x="5102352" y="13898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3</a:t>
            </a:r>
          </a:p>
        </p:txBody>
      </p:sp>
      <p:sp>
        <p:nvSpPr>
          <p:cNvPr id="16" name="Text 16"/>
          <p:cNvSpPr txBox="1"/>
          <p:nvPr/>
        </p:nvSpPr>
        <p:spPr>
          <a:xfrm>
            <a:off x="5394960" y="1389888"/>
            <a:ext cx="146304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Guarded run</a:t>
            </a:r>
          </a:p>
        </p:txBody>
      </p:sp>
      <p:sp>
        <p:nvSpPr>
          <p:cNvPr id="17" name="Text 17"/>
          <p:cNvSpPr txBox="1"/>
          <p:nvPr/>
        </p:nvSpPr>
        <p:spPr>
          <a:xfrm>
            <a:off x="5120640" y="1682495"/>
            <a:ext cx="1700784"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step checked; at most 5 attempts</a:t>
            </a:r>
          </a:p>
        </p:txBody>
      </p:sp>
      <p:sp>
        <p:nvSpPr>
          <p:cNvPr id="18" name="Shape 18"/>
          <p:cNvSpPr/>
          <p:nvPr/>
        </p:nvSpPr>
        <p:spPr>
          <a:xfrm>
            <a:off x="5138928"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Text 19"/>
          <p:cNvSpPr txBox="1"/>
          <p:nvPr/>
        </p:nvSpPr>
        <p:spPr>
          <a:xfrm>
            <a:off x="5138928"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1</a:t>
            </a:r>
          </a:p>
        </p:txBody>
      </p:sp>
      <p:sp>
        <p:nvSpPr>
          <p:cNvPr id="20" name="Shape 20"/>
          <p:cNvSpPr/>
          <p:nvPr/>
        </p:nvSpPr>
        <p:spPr>
          <a:xfrm>
            <a:off x="5486400"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 name="Text 21"/>
          <p:cNvSpPr txBox="1"/>
          <p:nvPr/>
        </p:nvSpPr>
        <p:spPr>
          <a:xfrm>
            <a:off x="5486400"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2</a:t>
            </a:r>
          </a:p>
        </p:txBody>
      </p:sp>
      <p:sp>
        <p:nvSpPr>
          <p:cNvPr id="22" name="Shape 22"/>
          <p:cNvSpPr/>
          <p:nvPr/>
        </p:nvSpPr>
        <p:spPr>
          <a:xfrm>
            <a:off x="5833872"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3"/>
          <p:cNvSpPr txBox="1"/>
          <p:nvPr/>
        </p:nvSpPr>
        <p:spPr>
          <a:xfrm>
            <a:off x="5833872"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3</a:t>
            </a:r>
          </a:p>
        </p:txBody>
      </p:sp>
      <p:sp>
        <p:nvSpPr>
          <p:cNvPr id="24" name="Shape 24"/>
          <p:cNvSpPr/>
          <p:nvPr/>
        </p:nvSpPr>
        <p:spPr>
          <a:xfrm>
            <a:off x="6181344"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5"/>
          <p:cNvSpPr txBox="1"/>
          <p:nvPr/>
        </p:nvSpPr>
        <p:spPr>
          <a:xfrm>
            <a:off x="6181344"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4</a:t>
            </a:r>
          </a:p>
        </p:txBody>
      </p:sp>
      <p:sp>
        <p:nvSpPr>
          <p:cNvPr id="26" name="Shape 26"/>
          <p:cNvSpPr/>
          <p:nvPr/>
        </p:nvSpPr>
        <p:spPr>
          <a:xfrm>
            <a:off x="6528816" y="1993391"/>
            <a:ext cx="256032" cy="256032"/>
          </a:xfrm>
          <a:prstGeom prst="ellipse">
            <a:avLst/>
          </a:prstGeom>
          <a:solidFill>
            <a:srgbClr val="FF0069"/>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6528816"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5</a:t>
            </a:r>
          </a:p>
        </p:txBody>
      </p:sp>
      <p:sp>
        <p:nvSpPr>
          <p:cNvPr id="28" name="Text 28"/>
          <p:cNvSpPr txBox="1"/>
          <p:nvPr/>
        </p:nvSpPr>
        <p:spPr>
          <a:xfrm>
            <a:off x="5120640" y="2304288"/>
            <a:ext cx="1700784"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D700"/>
                </a:solidFill>
                <a:effectLst/>
                <a:uLnTx/>
                <a:uFillTx/>
                <a:latin typeface="Trenda IG Text"/>
                <a:ea typeface="+mn-ea"/>
                <a:cs typeface="+mn-cs"/>
              </a:rPr>
              <a:t>STOP: </a:t>
            </a:r>
            <a:r>
              <a:rPr kumimoji="0" sz="750" b="0" i="0" u="none" strike="noStrike" kern="1200" cap="none" spc="0" normalizeH="0" baseline="0" noProof="0">
                <a:ln>
                  <a:noFill/>
                </a:ln>
                <a:solidFill>
                  <a:srgbClr val="FFFFFF"/>
                </a:solidFill>
                <a:effectLst/>
                <a:uLnTx/>
                <a:uFillTx/>
                <a:latin typeface="Trenda IG Text"/>
                <a:ea typeface="+mn-ea"/>
                <a:cs typeface="+mn-cs"/>
              </a:rPr>
              <a:t>nothing released; the owner gets every attempt in Jira.</a:t>
            </a:r>
          </a:p>
        </p:txBody>
      </p:sp>
      <p:sp>
        <p:nvSpPr>
          <p:cNvPr id="29" name="Shape 29"/>
          <p:cNvSpPr/>
          <p:nvPr/>
        </p:nvSpPr>
        <p:spPr>
          <a:xfrm>
            <a:off x="4956048"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30"/>
          <p:cNvSpPr txBox="1"/>
          <p:nvPr/>
        </p:nvSpPr>
        <p:spPr>
          <a:xfrm>
            <a:off x="5065776"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4</a:t>
            </a:r>
          </a:p>
        </p:txBody>
      </p:sp>
      <p:sp>
        <p:nvSpPr>
          <p:cNvPr id="31" name="Text 31"/>
          <p:cNvSpPr txBox="1"/>
          <p:nvPr/>
        </p:nvSpPr>
        <p:spPr>
          <a:xfrm>
            <a:off x="5358384"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Sample + label</a:t>
            </a:r>
          </a:p>
        </p:txBody>
      </p:sp>
      <p:sp>
        <p:nvSpPr>
          <p:cNvPr id="32" name="Text 32"/>
          <p:cNvSpPr txBox="1"/>
          <p:nvPr/>
        </p:nvSpPr>
        <p:spPr>
          <a:xfrm>
            <a:off x="5084064"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Each week a sample of approved changes is re-reviewed blind by Ascension experts, same rubric.</a:t>
            </a:r>
          </a:p>
        </p:txBody>
      </p:sp>
      <p:sp>
        <p:nvSpPr>
          <p:cNvPr id="33" name="Shape 33"/>
          <p:cNvSpPr/>
          <p:nvPr/>
        </p:nvSpPr>
        <p:spPr>
          <a:xfrm>
            <a:off x="2706624"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4"/>
          <p:cNvSpPr txBox="1"/>
          <p:nvPr/>
        </p:nvSpPr>
        <p:spPr>
          <a:xfrm>
            <a:off x="2816352"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5</a:t>
            </a:r>
          </a:p>
        </p:txBody>
      </p:sp>
      <p:sp>
        <p:nvSpPr>
          <p:cNvPr id="35" name="Text 35"/>
          <p:cNvSpPr txBox="1"/>
          <p:nvPr/>
        </p:nvSpPr>
        <p:spPr>
          <a:xfrm>
            <a:off x="3108960"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Diagnose</a:t>
            </a:r>
          </a:p>
        </p:txBody>
      </p:sp>
      <p:sp>
        <p:nvSpPr>
          <p:cNvPr id="36" name="Text 36"/>
          <p:cNvSpPr txBox="1"/>
          <p:nvPr/>
        </p:nvSpPr>
        <p:spPr>
          <a:xfrm>
            <a:off x="2834640"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A diagnoser run pins each miss to the agent, step or missing context that caused it.</a:t>
            </a:r>
          </a:p>
        </p:txBody>
      </p:sp>
      <p:sp>
        <p:nvSpPr>
          <p:cNvPr id="37" name="Shape 37"/>
          <p:cNvSpPr/>
          <p:nvPr/>
        </p:nvSpPr>
        <p:spPr>
          <a:xfrm>
            <a:off x="457200"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8"/>
          <p:cNvSpPr txBox="1"/>
          <p:nvPr/>
        </p:nvSpPr>
        <p:spPr>
          <a:xfrm>
            <a:off x="566928"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6</a:t>
            </a:r>
          </a:p>
        </p:txBody>
      </p:sp>
      <p:sp>
        <p:nvSpPr>
          <p:cNvPr id="39" name="Text 39"/>
          <p:cNvSpPr txBox="1"/>
          <p:nvPr/>
        </p:nvSpPr>
        <p:spPr>
          <a:xfrm>
            <a:off x="859536"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Tune + re-test</a:t>
            </a:r>
          </a:p>
        </p:txBody>
      </p:sp>
      <p:sp>
        <p:nvSpPr>
          <p:cNvPr id="40" name="Text 40"/>
          <p:cNvSpPr txBox="1"/>
          <p:nvPr/>
        </p:nvSpPr>
        <p:spPr>
          <a:xfrm>
            <a:off x="585216"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Fix the harness: context, skill, rule or prompt. Re-run the golden set, then release.</a:t>
            </a:r>
          </a:p>
        </p:txBody>
      </p:sp>
      <p:cxnSp>
        <p:nvCxnSpPr>
          <p:cNvPr id="41" name="Arrow 41"/>
          <p:cNvCxnSpPr/>
          <p:nvPr/>
        </p:nvCxnSpPr>
        <p:spPr>
          <a:xfrm>
            <a:off x="2487168"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42"/>
          <p:cNvCxnSpPr/>
          <p:nvPr/>
        </p:nvCxnSpPr>
        <p:spPr>
          <a:xfrm>
            <a:off x="4736592"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43"/>
          <p:cNvCxnSpPr/>
          <p:nvPr/>
        </p:nvCxnSpPr>
        <p:spPr>
          <a:xfrm flipH="1">
            <a:off x="4736592"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Arrow 44"/>
          <p:cNvCxnSpPr/>
          <p:nvPr/>
        </p:nvCxnSpPr>
        <p:spPr>
          <a:xfrm flipH="1">
            <a:off x="2487168"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5"/>
          <p:cNvCxnSpPr/>
          <p:nvPr/>
        </p:nvCxnSpPr>
        <p:spPr>
          <a:xfrm>
            <a:off x="5961888"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6"/>
          <p:cNvCxnSpPr/>
          <p:nvPr/>
        </p:nvCxnSpPr>
        <p:spPr>
          <a:xfrm flipV="1">
            <a:off x="1463040"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 47"/>
          <p:cNvSpPr txBox="1"/>
          <p:nvPr/>
        </p:nvSpPr>
        <p:spPr>
          <a:xfrm>
            <a:off x="2706624" y="2953512"/>
            <a:ext cx="201168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150" normalizeH="0" baseline="0" noProof="0">
                <a:ln>
                  <a:noFill/>
                </a:ln>
                <a:solidFill>
                  <a:srgbClr val="00D6F2"/>
                </a:solidFill>
                <a:effectLst/>
                <a:uLnTx/>
                <a:uFillTx/>
                <a:latin typeface="Trenda IG Text"/>
                <a:ea typeface="+mn-ea"/>
                <a:cs typeface="+mn-cs"/>
              </a:rPr>
              <a:t>CLOSED-LOOP</a:t>
            </a:r>
          </a:p>
        </p:txBody>
      </p:sp>
      <p:sp>
        <p:nvSpPr>
          <p:cNvPr id="48" name="Text 48"/>
          <p:cNvSpPr txBox="1"/>
          <p:nvPr/>
        </p:nvSpPr>
        <p:spPr>
          <a:xfrm>
            <a:off x="2706624" y="3227832"/>
            <a:ext cx="201168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150" normalizeH="0" baseline="0" noProof="0">
                <a:ln>
                  <a:noFill/>
                </a:ln>
                <a:solidFill>
                  <a:srgbClr val="FFFFFF"/>
                </a:solidFill>
                <a:effectLst/>
                <a:uLnTx/>
                <a:uFillTx/>
                <a:latin typeface="Trenda IG Text"/>
                <a:ea typeface="+mn-ea"/>
                <a:cs typeface="+mn-cs"/>
              </a:rPr>
              <a:t>EVALS</a:t>
            </a:r>
          </a:p>
        </p:txBody>
      </p:sp>
      <p:sp>
        <p:nvSpPr>
          <p:cNvPr id="49" name="Text 49"/>
          <p:cNvSpPr txBox="1"/>
          <p:nvPr/>
        </p:nvSpPr>
        <p:spPr>
          <a:xfrm>
            <a:off x="2432304" y="3611880"/>
            <a:ext cx="256032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one loop that never stops; no step that never ends</a:t>
            </a:r>
          </a:p>
        </p:txBody>
      </p:sp>
      <p:sp>
        <p:nvSpPr>
          <p:cNvPr id="50" name="Shape 50"/>
          <p:cNvSpPr/>
          <p:nvPr/>
        </p:nvSpPr>
        <p:spPr>
          <a:xfrm>
            <a:off x="7086600" y="1280160"/>
            <a:ext cx="4690872" cy="2999232"/>
          </a:xfrm>
          <a:prstGeom prst="roundRect">
            <a:avLst>
              <a:gd name="adj" fmla="val 6000"/>
            </a:avLst>
          </a:prstGeom>
          <a:solidFill>
            <a:srgbClr val="000000">
              <a:alpha val="5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1"/>
          <p:cNvSpPr txBox="1"/>
          <p:nvPr/>
        </p:nvSpPr>
        <p:spPr>
          <a:xfrm>
            <a:off x="7287768" y="1426463"/>
            <a:ext cx="4325112"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EVERY RUN REPORTS</a:t>
            </a:r>
          </a:p>
        </p:txBody>
      </p:sp>
      <p:sp>
        <p:nvSpPr>
          <p:cNvPr id="52" name="Text 52"/>
          <p:cNvSpPr txBox="1"/>
          <p:nvPr/>
        </p:nvSpPr>
        <p:spPr>
          <a:xfrm>
            <a:off x="7287768" y="166420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pass@k</a:t>
            </a:r>
          </a:p>
        </p:txBody>
      </p:sp>
      <p:sp>
        <p:nvSpPr>
          <p:cNvPr id="53" name="Text 53"/>
          <p:cNvSpPr txBox="1"/>
          <p:nvPr/>
        </p:nvSpPr>
        <p:spPr>
          <a:xfrm>
            <a:off x="8686800" y="166420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steps passing on attempt 1, and by attempt 5</a:t>
            </a:r>
          </a:p>
        </p:txBody>
      </p:sp>
      <p:sp>
        <p:nvSpPr>
          <p:cNvPr id="54" name="Shape 54"/>
          <p:cNvSpPr/>
          <p:nvPr/>
        </p:nvSpPr>
        <p:spPr>
          <a:xfrm>
            <a:off x="7287768" y="200645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5"/>
          <p:cNvSpPr txBox="1"/>
          <p:nvPr/>
        </p:nvSpPr>
        <p:spPr>
          <a:xfrm>
            <a:off x="7287768" y="202474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Time</a:t>
            </a:r>
          </a:p>
        </p:txBody>
      </p:sp>
      <p:sp>
        <p:nvSpPr>
          <p:cNvPr id="56" name="Text 56"/>
          <p:cNvSpPr txBox="1"/>
          <p:nvPr/>
        </p:nvSpPr>
        <p:spPr>
          <a:xfrm>
            <a:off x="8686800" y="202474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per step and end to end, story to release</a:t>
            </a:r>
          </a:p>
        </p:txBody>
      </p:sp>
      <p:sp>
        <p:nvSpPr>
          <p:cNvPr id="57" name="Shape 57"/>
          <p:cNvSpPr/>
          <p:nvPr/>
        </p:nvSpPr>
        <p:spPr>
          <a:xfrm>
            <a:off x="7287768" y="236698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8"/>
          <p:cNvSpPr txBox="1"/>
          <p:nvPr/>
        </p:nvSpPr>
        <p:spPr>
          <a:xfrm>
            <a:off x="7287768" y="238527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Re-run time</a:t>
            </a:r>
          </a:p>
        </p:txBody>
      </p:sp>
      <p:sp>
        <p:nvSpPr>
          <p:cNvPr id="59" name="Text 59"/>
          <p:cNvSpPr txBox="1"/>
          <p:nvPr/>
        </p:nvSpPr>
        <p:spPr>
          <a:xfrm>
            <a:off x="8686800" y="238527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time and cost spent on attempts 2 to 5</a:t>
            </a:r>
          </a:p>
        </p:txBody>
      </p:sp>
      <p:sp>
        <p:nvSpPr>
          <p:cNvPr id="60" name="Shape 60"/>
          <p:cNvSpPr/>
          <p:nvPr/>
        </p:nvSpPr>
        <p:spPr>
          <a:xfrm>
            <a:off x="7287768" y="272752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1"/>
          <p:cNvSpPr txBox="1"/>
          <p:nvPr/>
        </p:nvSpPr>
        <p:spPr>
          <a:xfrm>
            <a:off x="7287768" y="274581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Waiting time</a:t>
            </a:r>
          </a:p>
        </p:txBody>
      </p:sp>
      <p:sp>
        <p:nvSpPr>
          <p:cNvPr id="62" name="Text 62"/>
          <p:cNvSpPr txBox="1"/>
          <p:nvPr/>
        </p:nvSpPr>
        <p:spPr>
          <a:xfrm>
            <a:off x="8686800" y="274581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how long each human gate held the run</a:t>
            </a:r>
          </a:p>
        </p:txBody>
      </p:sp>
      <p:sp>
        <p:nvSpPr>
          <p:cNvPr id="63" name="Shape 63"/>
          <p:cNvSpPr/>
          <p:nvPr/>
        </p:nvSpPr>
        <p:spPr>
          <a:xfrm>
            <a:off x="7287768" y="308805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4" name="Text 64"/>
          <p:cNvSpPr txBox="1"/>
          <p:nvPr/>
        </p:nvSpPr>
        <p:spPr>
          <a:xfrm>
            <a:off x="7287768" y="310634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Agent scores</a:t>
            </a:r>
          </a:p>
        </p:txBody>
      </p:sp>
      <p:sp>
        <p:nvSpPr>
          <p:cNvPr id="65" name="Text 65"/>
          <p:cNvSpPr txBox="1"/>
          <p:nvPr/>
        </p:nvSpPr>
        <p:spPr>
          <a:xfrm>
            <a:off x="8686800" y="310634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each agent on its own job; Review Agent vs tech leads</a:t>
            </a:r>
          </a:p>
        </p:txBody>
      </p:sp>
      <p:sp>
        <p:nvSpPr>
          <p:cNvPr id="66" name="Shape 66"/>
          <p:cNvSpPr/>
          <p:nvPr/>
        </p:nvSpPr>
        <p:spPr>
          <a:xfrm>
            <a:off x="7287768" y="344859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7"/>
          <p:cNvSpPr txBox="1"/>
          <p:nvPr/>
        </p:nvSpPr>
        <p:spPr>
          <a:xfrm>
            <a:off x="7287768" y="346688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Escaped defects</a:t>
            </a:r>
          </a:p>
        </p:txBody>
      </p:sp>
      <p:sp>
        <p:nvSpPr>
          <p:cNvPr id="68" name="Text 68"/>
          <p:cNvSpPr txBox="1"/>
          <p:nvPr/>
        </p:nvSpPr>
        <p:spPr>
          <a:xfrm>
            <a:off x="8686800" y="346688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found in UAT or production, vs baseline</a:t>
            </a:r>
          </a:p>
        </p:txBody>
      </p:sp>
      <p:sp>
        <p:nvSpPr>
          <p:cNvPr id="69" name="Shape 69"/>
          <p:cNvSpPr/>
          <p:nvPr/>
        </p:nvSpPr>
        <p:spPr>
          <a:xfrm>
            <a:off x="7287768" y="380912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70"/>
          <p:cNvSpPr txBox="1"/>
          <p:nvPr/>
        </p:nvSpPr>
        <p:spPr>
          <a:xfrm>
            <a:off x="7287768" y="382741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Stopped runs</a:t>
            </a:r>
          </a:p>
        </p:txBody>
      </p:sp>
      <p:sp>
        <p:nvSpPr>
          <p:cNvPr id="71" name="Text 71"/>
          <p:cNvSpPr txBox="1"/>
          <p:nvPr/>
        </p:nvSpPr>
        <p:spPr>
          <a:xfrm>
            <a:off x="8686800" y="382741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where it stopped, why, and who took over</a:t>
            </a:r>
          </a:p>
        </p:txBody>
      </p:sp>
      <p:sp>
        <p:nvSpPr>
          <p:cNvPr id="72" name="Differentiator Border 73"/>
          <p:cNvSpPr/>
          <p:nvPr/>
        </p:nvSpPr>
        <p:spPr>
          <a:xfrm>
            <a:off x="7086600" y="4407407"/>
            <a:ext cx="469087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4"/>
          <p:cNvSpPr/>
          <p:nvPr/>
        </p:nvSpPr>
        <p:spPr>
          <a:xfrm>
            <a:off x="7123176" y="4443983"/>
            <a:ext cx="4617720" cy="822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5"/>
          <p:cNvSpPr txBox="1"/>
          <p:nvPr/>
        </p:nvSpPr>
        <p:spPr>
          <a:xfrm>
            <a:off x="7287768" y="4517136"/>
            <a:ext cx="4288536"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D700"/>
                </a:solidFill>
                <a:effectLst/>
                <a:uLnTx/>
                <a:uFillTx/>
                <a:latin typeface="Trenda IG Text"/>
                <a:ea typeface="+mn-ea"/>
                <a:cs typeface="+mn-cs"/>
              </a:rPr>
              <a:t>PROVEN AT SCALE</a:t>
            </a:r>
          </a:p>
        </p:txBody>
      </p:sp>
      <p:sp>
        <p:nvSpPr>
          <p:cNvPr id="75" name="Text 76"/>
          <p:cNvSpPr txBox="1"/>
          <p:nvPr/>
        </p:nvSpPr>
        <p:spPr>
          <a:xfrm>
            <a:off x="7287768" y="4754879"/>
            <a:ext cx="4288536" cy="4572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FFFF"/>
                </a:solidFill>
                <a:effectLst/>
                <a:uLnTx/>
                <a:uFillTx/>
                <a:latin typeface="Trenda IG Text"/>
                <a:ea typeface="+mn-ea"/>
                <a:cs typeface="+mn-cs"/>
              </a:rPr>
              <a:t>Uber Eats runs its food-photo agent on the same closed loop: </a:t>
            </a:r>
            <a:r>
              <a:rPr kumimoji="0" sz="750" b="0" i="0" u="none" strike="noStrike" kern="1200" cap="none" spc="0" normalizeH="0" baseline="0" noProof="0">
                <a:ln>
                  <a:noFill/>
                </a:ln>
                <a:solidFill>
                  <a:srgbClr val="BFBFBF"/>
                </a:solidFill>
                <a:effectLst/>
                <a:uLnTx/>
                <a:uFillTx/>
                <a:latin typeface="Trenda IG Text"/>
                <a:ea typeface="+mn-ea"/>
                <a:cs typeface="+mn-cs"/>
              </a:rPr>
              <a:t>labelled golden sets, pass@k, a QA gate before publishing, human labels on production samples and a diagnoser that triggers tuning (AI Engineer World's Fair 2026).</a:t>
            </a:r>
          </a:p>
        </p:txBody>
      </p:sp>
      <p:sp>
        <p:nvSpPr>
          <p:cNvPr id="76" name="Shape 77"/>
          <p:cNvSpPr/>
          <p:nvPr/>
        </p:nvSpPr>
        <p:spPr>
          <a:xfrm>
            <a:off x="411480" y="5486400"/>
            <a:ext cx="11365992" cy="475488"/>
          </a:xfrm>
          <a:prstGeom prst="roundRect">
            <a:avLst>
              <a:gd name="adj" fmla="val 25000"/>
            </a:avLst>
          </a:prstGeom>
          <a:solidFill>
            <a:srgbClr val="000000">
              <a:alpha val="4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8"/>
          <p:cNvSpPr txBox="1"/>
          <p:nvPr/>
        </p:nvSpPr>
        <p:spPr>
          <a:xfrm>
            <a:off x="640080" y="5486400"/>
            <a:ext cx="219456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NO GAMING THE EVALS</a:t>
            </a:r>
          </a:p>
        </p:txBody>
      </p:sp>
      <p:sp>
        <p:nvSpPr>
          <p:cNvPr id="78" name="Text 79"/>
          <p:cNvSpPr txBox="1"/>
          <p:nvPr/>
        </p:nvSpPr>
        <p:spPr>
          <a:xfrm>
            <a:off x="2743200" y="5486400"/>
            <a:ext cx="886968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Trenda IG Text"/>
                <a:ea typeface="+mn-ea"/>
                <a:cs typeface="+mn-cs"/>
              </a:rPr>
              <a:t>Agents cannot edit tests or the evaluation set; </a:t>
            </a:r>
            <a:r>
              <a:rPr kumimoji="0" sz="900" b="0" i="0" u="none" strike="noStrike" kern="1200" cap="none" spc="0" normalizeH="0" baseline="0" noProof="0">
                <a:ln>
                  <a:noFill/>
                </a:ln>
                <a:solidFill>
                  <a:srgbClr val="BFBFBF"/>
                </a:solidFill>
                <a:effectLst/>
                <a:uLnTx/>
                <a:uFillTx/>
                <a:latin typeface="Trenda IG Text"/>
                <a:ea typeface="+mn-ea"/>
                <a:cs typeface="+mn-cs"/>
              </a:rPr>
              <a:t>a held-out set no agent ever sees; any change that deletes or weakens a test is blocked by the Guardian.</a:t>
            </a:r>
          </a:p>
        </p:txBody>
      </p:sp>
    </p:spTree>
    <p:extLst>
      <p:ext uri="{BB962C8B-B14F-4D97-AF65-F5344CB8AC3E}">
        <p14:creationId xmlns:p14="http://schemas.microsoft.com/office/powerpoint/2010/main" val="3951767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Layer 4 · NetworkServicesContext</a:t>
            </a:r>
            <a:endParaRPr lang="en-US" sz="881"/>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Root object</a:t>
            </a:r>
            <a:endParaRPr lang="en-US" sz="783"/>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applicationName: "NETWORK_SERVICES"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applicationVersion, createdAt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snapshotId: UUID of this sync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 createdBy, derivationMethod</a:t>
            </a:r>
            <a:endParaRPr lang="en-US" sz="734"/>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requirementId, title, acceptanceCriteria[]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businessCapability, status, riskTier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linkedIssues / documents /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businessRules[] with objectsReferenced[]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objectApiName, recordTypes[]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relationships[]: lookup / master-detail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objectsTouched[], dmlOperations[], soqlQueries[]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releaseId, environment, componentsDeployed[]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5 · Graph Storage (JSON)</a:t>
            </a:r>
            <a:endParaRPr lang="en-US" sz="881"/>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"version":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"applicationName": "NETWORK_SERVICES",</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"snapshotId": "b7f1c2e4-...",</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"exportedAt": "2026-09-09T14:30:00Z",</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"nodes":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"sobj:HealthcareFacility__c",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"name": "Healthcare Facility",</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"properties":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"fieldCount": 148, "automationCount": 12,</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"testCoverage": 81, "riskTier": "HIGH"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"sourceType": "SALESFORCE_METADATA",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"artifactId": "01I5f000000XyZa",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"artifactPath": "objects/...object-meta.xml",</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"artifactHash": "sha256:9f2b...c41d",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"retrievedAt": "2026-09-09T14:28:11Z"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"provenance": { "createdBy": "ai-read-service",</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"derivationMethod": "AUTOMATED"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"relationships":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"rel:flow-HFN_Gen-&gt;sobj-HFN__c",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"FLOW_UPDATES_SOBJECT",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"fromNodeId": "flow:HFN_Generation",</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"toNodeId": "sobj:HFN__c",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"origin": "FACTUAL", "status": "APPROVED",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"confidence":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"metadata": { "operation": "UPDATE"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6 · Graph Exporter</a:t>
            </a:r>
            <a:endParaRPr lang="en-US" sz="881"/>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Node types</a:t>
            </a:r>
            <a:endParaRPr lang="en-US" sz="783"/>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APPLICATION · BUSINESS_CAPABILITY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(Jira)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 · FIELD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 APEX_CLASS · APEX_TRIGGER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VALIDATION_RULE · LWC_COMPONENT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TEST_CASE · REPOSITORY · COMPONENT_FILE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 · ENVIRONMENT · INTEGRATION_EVENT</a:t>
            </a:r>
            <a:endParaRPr lang="en-US" sz="686"/>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REQUIREMENT_TARGETS_CAPABILITY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REQUIREMENT_SPECIFIED_BY_DOCUMENT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RULE_CONSTRAINS_SOBJECT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TRIGGER_FIRES_ON_SOBJECT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COMPONENT_DEPENDS_ON_COMPONENT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TEST_COVERS_COMPONENT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REQUIREMENT_IMPLEMENTED_BY_COMPONENT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RELEASE_DEPLOYS_COMPONENT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COMPONENT_PUBLISHES_EVENT (→ APDH)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REQUIREMENT_REUSES_COMPONENT (inferred)</a:t>
            </a:r>
            <a:endParaRPr lang="en-US" sz="686"/>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All metadata from the domain contexts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Source references with exact locations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Confidence: 1.0 factual, &lt; 1.0 inferred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Risk tier on components and integrations</a:t>
            </a:r>
            <a:endParaRPr lang="en-US" sz="686"/>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Today every pod carries its own full delivery stack. With , lean pods share one agent platform that runs on one set of Ascension standards, around the clock.</a:t>
            </a:r>
            <a:endParaRPr lang="en-US" sz="995"/>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a:solidFill>
                  <a:srgbClr val="595959"/>
                </a:solidFill>
                <a:latin typeface="Trenda IG Text" pitchFamily="34" charset="0"/>
                <a:ea typeface="Trenda IG Text" pitchFamily="34" charset="-122"/>
                <a:cs typeface="Trenda IG Text" pitchFamily="34" charset="-120"/>
              </a:rPr>
              <a:t>TODAY</a:t>
            </a:r>
            <a:endParaRPr lang="en-US" sz="758"/>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a:solidFill>
                  <a:srgbClr val="00273B"/>
                </a:solidFill>
                <a:latin typeface="Trenda IG Text" pitchFamily="34" charset="0"/>
                <a:ea typeface="Trenda IG Text" pitchFamily="34" charset="-122"/>
                <a:cs typeface="Trenda IG Text" pitchFamily="34" charset="-120"/>
              </a:rPr>
              <a:t>WITH </a:t>
            </a:r>
            <a:endParaRPr lang="en-US" sz="758"/>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Productivity</a:t>
            </a:r>
            <a:endParaRPr lang="en-US" sz="90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Developer</a:t>
            </a:r>
            <a:endParaRPr lang="en-US" sz="644"/>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Scalability</a:t>
            </a:r>
            <a:endParaRPr lang="en-US" sz="90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Knowledge graph</a:t>
            </a:r>
            <a:endParaRPr lang="en-US" sz="644"/>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Best practice</a:t>
            </a:r>
            <a:endParaRPr lang="en-US" sz="90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Security</a:t>
            </a:r>
            <a:endParaRPr lang="en-US" sz="90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Tech debt</a:t>
            </a:r>
            <a:endParaRPr lang="en-US" sz="90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Architect · Developer</a:t>
            </a:r>
            <a:endParaRPr lang="en-US" sz="644"/>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Run &amp; support</a:t>
            </a:r>
            <a:endParaRPr lang="en-US" sz="90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graph</a:t>
            </a:r>
            <a:endParaRPr lang="en-US" sz="644"/>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Operating model shift</a:t>
            </a:r>
            <a:endParaRPr lang="en-US" sz="948"/>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a:solidFill>
                  <a:srgbClr val="595959"/>
                </a:solidFill>
                <a:latin typeface="Trenda IG Text" pitchFamily="34" charset="0"/>
                <a:ea typeface="Trenda IG Text" pitchFamily="34" charset="-122"/>
                <a:cs typeface="Trenda IG Text" pitchFamily="34" charset="-120"/>
              </a:rPr>
              <a:t>TODAY · EVERY POD, FULL STACK</a:t>
            </a:r>
            <a:endParaRPr lang="en-US" sz="663"/>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A</a:t>
            </a:r>
            <a:endParaRPr lang="en-US" sz="711"/>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B</a:t>
            </a:r>
            <a:endParaRPr lang="en-US" sz="711"/>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C</a:t>
            </a:r>
            <a:endParaRPr lang="en-US" sz="711"/>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a:solidFill>
                  <a:srgbClr val="00273B"/>
                </a:solidFill>
                <a:latin typeface="Trenda IG Text" pitchFamily="34" charset="0"/>
                <a:ea typeface="Trenda IG Text" pitchFamily="34" charset="-122"/>
                <a:cs typeface="Trenda IG Text" pitchFamily="34" charset="-120"/>
              </a:rPr>
              <a:t>WITH  · LEAN PODS ON ONE PLATFORM</a:t>
            </a:r>
            <a:endParaRPr lang="en-US" sz="663"/>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A</a:t>
            </a:r>
            <a:endParaRPr lang="en-US" sz="711"/>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B</a:t>
            </a:r>
            <a:endParaRPr lang="en-US" sz="711"/>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C</a:t>
            </a:r>
            <a:endParaRPr lang="en-US" sz="711"/>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Shared  platform: 7 agents · knowledge graph · standards</a:t>
            </a:r>
            <a:endParaRPr lang="en-US" sz="72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a:solidFill>
                  <a:srgbClr val="FF0069"/>
                </a:solidFill>
                <a:latin typeface="Trenda IG Text" pitchFamily="34" charset="0"/>
                <a:ea typeface="Trenda IG Text" pitchFamily="34" charset="-122"/>
                <a:cs typeface="Trenda IG Text" pitchFamily="34" charset="-120"/>
              </a:rPr>
              <a:t>THE BOLD VERSION</a:t>
            </a:r>
            <a:endParaRPr lang="en-US" sz="644"/>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a:solidFill>
                  <a:srgbClr val="000000"/>
                </a:solidFill>
                <a:latin typeface="Trenda IG Text" pitchFamily="34" charset="0"/>
                <a:ea typeface="Trenda IG Text" pitchFamily="34" charset="-122"/>
                <a:cs typeface="Trenda IG Text" pitchFamily="34" charset="-120"/>
              </a:rPr>
              <a:t>A new pod goes live on  in 2 weeks, not 2 months: connect its sources to the graph and switch on the agents.</a:t>
            </a:r>
            <a:endParaRPr lang="en-US" sz="72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~20 h</a:t>
            </a:r>
            <a:endParaRPr lang="en-US" sz="1611"/>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delivery per day</a:t>
            </a:r>
            <a:endParaRPr lang="en-US" sz="787"/>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 week</a:t>
            </a:r>
            <a:endParaRPr lang="en-US" sz="1611"/>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productive</a:t>
            </a:r>
            <a:endParaRPr lang="en-US" sz="787"/>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New engineer, down from 4-6 weeks</a:t>
            </a:r>
            <a:endParaRPr lang="en-US" sz="692"/>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a:t>
            </a:r>
            <a:endParaRPr lang="en-US" sz="787"/>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Same standards, every pod, every change</a:t>
            </a:r>
            <a:endParaRPr lang="en-US" sz="692"/>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-50%</a:t>
            </a:r>
            <a:endParaRPr lang="en-US" sz="1611"/>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incident triage time</a:t>
            </a:r>
            <a:endParaRPr lang="en-US" sz="787"/>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Graph shows component, pod, last change</a:t>
            </a:r>
            <a:endParaRPr lang="en-US" sz="692"/>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The extra piece  adds: a dedicated Change Guardian Agent that sits across every pod, between each change and the shared org. Nothing reaches the org without passing it.</a:t>
            </a:r>
            <a:endParaRPr lang="en-US" sz="995"/>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Today · changes judged in isolation</a:t>
            </a:r>
            <a:endParaRPr lang="en-US" sz="948"/>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Network Svcs</a:t>
            </a:r>
            <a:endParaRPr lang="en-US" sz="597"/>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Clinical Transf.</a:t>
            </a:r>
            <a:endParaRPr lang="en-US" sz="597"/>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Contact Center</a:t>
            </a:r>
            <a:endParaRPr lang="en-US" sz="597"/>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ARx</a:t>
            </a:r>
            <a:endParaRPr lang="en-US" sz="597"/>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Member</a:t>
            </a:r>
            <a:endParaRPr lang="en-US" sz="597"/>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Service Rec.</a:t>
            </a:r>
            <a:endParaRPr lang="en-US" sz="597"/>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a:solidFill>
                  <a:srgbClr val="000000"/>
                </a:solidFill>
                <a:latin typeface="Trenda IG Text" pitchFamily="34" charset="0"/>
                <a:ea typeface="Trenda IG Text" pitchFamily="34" charset="-122"/>
                <a:cs typeface="Trenda IG Text" pitchFamily="34" charset="-120"/>
              </a:rPr>
              <a:t>Shared org</a:t>
            </a:r>
            <a:endParaRPr lang="en-US" sz="616"/>
          </a:p>
          <a:p>
            <a:pPr marL="0" indent="0" algn="ctr">
              <a:buNone/>
            </a:pPr>
            <a:r>
              <a:rPr lang="en-US" sz="616" b="1">
                <a:solidFill>
                  <a:srgbClr val="000000"/>
                </a:solidFill>
                <a:latin typeface="Trenda IG Text" pitchFamily="34" charset="0"/>
                <a:ea typeface="Trenda IG Text" pitchFamily="34" charset="-122"/>
                <a:cs typeface="Trenda IG Text" pitchFamily="34" charset="-120"/>
              </a:rPr>
              <a:t>Account · common Apex · flows</a:t>
            </a:r>
            <a:endParaRPr lang="en-US" sz="616"/>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a:solidFill>
                  <a:srgbClr val="FFFFFF"/>
                </a:solidFill>
                <a:latin typeface="Trenda IG Text" pitchFamily="34" charset="0"/>
                <a:ea typeface="Trenda IG Text" pitchFamily="34" charset="-122"/>
                <a:cs typeface="Trenda IG Text" pitchFamily="34" charset="-120"/>
              </a:rPr>
              <a:t>Pod change</a:t>
            </a:r>
            <a:endParaRPr lang="en-US" sz="644"/>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a:solidFill>
                  <a:srgbClr val="FF0069"/>
                </a:solidFill>
                <a:latin typeface="Trenda IG Text" pitchFamily="34" charset="0"/>
                <a:ea typeface="Trenda IG Text" pitchFamily="34" charset="-122"/>
                <a:cs typeface="Trenda IG Text" pitchFamily="34" charset="-120"/>
              </a:rPr>
              <a:t>NEW</a:t>
            </a:r>
            <a:endParaRPr lang="en-US" sz="711"/>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HOW IT DECIDES</a:t>
            </a:r>
            <a:endParaRPr lang="en-US" sz="663"/>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The change</a:t>
            </a:r>
            <a:endParaRPr lang="en-US" sz="72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Code diff and metadata from the commit</a:t>
            </a:r>
            <a:endParaRPr lang="en-US" sz="626"/>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Ownership map</a:t>
            </a:r>
            <a:endParaRPr lang="en-US" sz="72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Who owns and who uses each component</a:t>
            </a:r>
            <a:endParaRPr lang="en-US" sz="626"/>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Guardrail rulebook</a:t>
            </a:r>
            <a:endParaRPr lang="en-US" sz="72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Ascension rules, written as code</a:t>
            </a:r>
            <a:endParaRPr lang="en-US" sz="626"/>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a:solidFill>
                  <a:srgbClr val="FFFFFF"/>
                </a:solidFill>
                <a:latin typeface="Trenda IG Text" pitchFamily="34" charset="0"/>
                <a:ea typeface="Trenda IG Text" pitchFamily="34" charset="-122"/>
                <a:cs typeface="Trenda IG Text" pitchFamily="34" charset="-120"/>
              </a:rPr>
              <a:t>Change Guardian Agent</a:t>
            </a:r>
            <a:endParaRPr lang="en-US" sz="90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PASS</a:t>
            </a:r>
            <a:endParaRPr lang="en-US" sz="72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Moves on with its change passport</a:t>
            </a:r>
            <a:endParaRPr lang="en-US" sz="663"/>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NEEDS APPROVAL</a:t>
            </a:r>
            <a:endParaRPr lang="en-US" sz="72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Affected pod leads must sign first</a:t>
            </a:r>
            <a:endParaRPr lang="en-US" sz="663"/>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a:solidFill>
                  <a:srgbClr val="FF0069"/>
                </a:solidFill>
                <a:latin typeface="Trenda IG Text" pitchFamily="34" charset="0"/>
                <a:ea typeface="Trenda IG Text" pitchFamily="34" charset="-122"/>
                <a:cs typeface="Trenda IG Text" pitchFamily="34" charset="-120"/>
              </a:rPr>
              <a:t>BLOCK + FIX</a:t>
            </a:r>
            <a:endParaRPr lang="en-US" sz="72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1</a:t>
            </a:r>
            <a:endParaRPr lang="en-US" sz="758"/>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Story intake</a:t>
            </a:r>
            <a:endParaRPr lang="en-US" sz="777"/>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build</a:t>
            </a:r>
            <a:endParaRPr lang="en-US" sz="626"/>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2</a:t>
            </a:r>
            <a:endParaRPr lang="en-US" sz="758"/>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Every commit</a:t>
            </a:r>
            <a:endParaRPr lang="en-US" sz="777"/>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merge</a:t>
            </a:r>
            <a:endParaRPr lang="en-US" sz="626"/>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3</a:t>
            </a:r>
            <a:endParaRPr lang="en-US" sz="758"/>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Copado promotion</a:t>
            </a:r>
            <a:endParaRPr lang="en-US" sz="777"/>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SIT / UAT</a:t>
            </a:r>
            <a:endParaRPr lang="en-US" sz="626"/>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a:t>
            </a:r>
            <a:endParaRPr lang="en-US" sz="758"/>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Always on</a:t>
            </a:r>
            <a:endParaRPr lang="en-US" sz="777"/>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a:solidFill>
                  <a:srgbClr val="00273B"/>
                </a:solidFill>
                <a:latin typeface="Trenda IG Text" pitchFamily="34" charset="0"/>
                <a:ea typeface="Trenda IG Text" pitchFamily="34" charset="-122"/>
                <a:cs typeface="Trenda IG Text" pitchFamily="34" charset="-120"/>
              </a:rPr>
              <a:t>Every night</a:t>
            </a:r>
            <a:endParaRPr lang="en-US" sz="626"/>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Hardcoded IDs, or SOQL / DML inside loops</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a:solidFill>
                  <a:srgbClr val="FF0069"/>
                </a:solidFill>
                <a:latin typeface="Trenda IG Text" pitchFamily="34" charset="0"/>
                <a:ea typeface="Trenda IG Text" pitchFamily="34" charset="-122"/>
                <a:cs typeface="Trenda IG Text" pitchFamily="34" charset="-120"/>
              </a:rPr>
              <a:t>THE BOLD VERSION</a:t>
            </a:r>
            <a:endParaRPr lang="en-US" sz="626"/>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Pre-build</a:t>
            </a:r>
            <a:endParaRPr lang="en-US" sz="1611"/>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cross-pod impact known</a:t>
            </a:r>
            <a:endParaRPr lang="en-US" sz="787"/>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Instead of in another pod’s UAT</a:t>
            </a:r>
            <a:endParaRPr lang="en-US" sz="692"/>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 by the Guardian</a:t>
            </a:r>
            <a:endParaRPr lang="en-US" sz="787"/>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At intake, commit and promotion</a:t>
            </a:r>
            <a:endParaRPr lang="en-US" sz="692"/>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&lt; 24 h</a:t>
            </a:r>
            <a:endParaRPr lang="en-US" sz="1611"/>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catch out-of-pipeline edits</a:t>
            </a:r>
            <a:endParaRPr lang="en-US" sz="787"/>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Nightly drift watch on every org</a:t>
            </a:r>
            <a:endParaRPr lang="en-US" sz="692"/>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Minutes</a:t>
            </a:r>
            <a:endParaRPr lang="en-US" sz="1611"/>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assemble CAB evidence</a:t>
            </a:r>
            <a:endParaRPr lang="en-US" sz="787"/>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Change passport, not manual collation</a:t>
            </a:r>
            <a:endParaRPr lang="en-US" sz="692"/>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7 · Semantica ContextGraph</a:t>
            </a:r>
            <a:endParaRPr lang="en-US" sz="881"/>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In-memory directed property graph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Nodes with types and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Edges with types, weights, metadata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Adjacency indexes per edge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O(1) node access; type indexes</a:t>
            </a:r>
            <a:endParaRPr lang="en-US" sz="734"/>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add_node(id, type,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add_edge(src, tgt, type, weight, ...)</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find_node(node_id) · has_node(node_id)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find_nodes(node_type=...)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find_edges(edge_type=...)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retract (temporal removal)</a:t>
            </a:r>
            <a:endParaRPr lang="en-US" sz="734"/>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Bi-directional provenance chains</a:t>
            </a:r>
            <a:endParaRPr lang="en-US" sz="734"/>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8 · Adapter API + Codex</a:t>
            </a:r>
            <a:endParaRPr lang="en-US" sz="881"/>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load_from_json(path) → stats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get_node(node_id) → Node | None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get_nodes_by_type(type) → List[Node]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get_outgoing_edges(node_id,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get_incoming_edges(node_id,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get_neighbors(node_id, max_hops, dir)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find_path(from_id, to_id, max_hops)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get_graph_stats() → Dict</a:t>
            </a:r>
            <a:endParaRPr lang="en-US" sz="734"/>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find_reuse(capability_id) → List[Component]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trace_downstream_events(component_id)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coverage_report(component_ids)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build_context_slice(requirement_id)</a:t>
            </a:r>
            <a:endParaRPr lang="en-US" sz="734"/>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jira.read · copado.status</a:t>
            </a:r>
            <a:endParaRPr lang="en-US" sz="734"/>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Where it runs · Google Cloud</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How it deploys on Google Cloud</a:t>
            </a:r>
            <a:endParaRPr lang="en-US" sz="881"/>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Ingestion</a:t>
            </a:r>
            <a:endParaRPr lang="en-US" sz="783"/>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Scales to zero between syncs and queries</a:t>
            </a:r>
            <a:endParaRPr lang="en-US" sz="734"/>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Networking</a:t>
            </a:r>
            <a:endParaRPr lang="en-US" sz="783"/>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Why Google Cloud for this client</a:t>
            </a:r>
            <a:endParaRPr lang="en-US" sz="881"/>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IAM model to review rather than two</a:t>
            </a:r>
            <a:endParaRPr lang="en-US" sz="734"/>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Scope note</a:t>
            </a:r>
            <a:endParaRPr lang="en-US" sz="783"/>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Alternatives</a:t>
            </a:r>
            <a:endParaRPr lang="en-US" sz="881"/>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S3 replaces one box, the snapshot store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The Engineering Context Knowledge Graph</a:t>
            </a:r>
            <a:endParaRPr lang="en-US" sz="1959"/>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What goes in</a:t>
            </a:r>
            <a:endParaRPr lang="en-US" sz="93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Jira</a:t>
            </a:r>
            <a:endParaRPr lang="en-US" sz="832"/>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Confluence</a:t>
            </a:r>
            <a:endParaRPr lang="en-US" sz="832"/>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Salesforce</a:t>
            </a:r>
            <a:endParaRPr lang="en-US" sz="832"/>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Git</a:t>
            </a:r>
            <a:endParaRPr lang="en-US" sz="832"/>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Copado</a:t>
            </a:r>
            <a:endParaRPr lang="en-US" sz="832"/>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Google Drive</a:t>
            </a:r>
            <a:endParaRPr lang="en-US" sz="832"/>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Requirement</a:t>
            </a:r>
            <a:endParaRPr lang="en-US" sz="686"/>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Test, robotic</a:t>
            </a:r>
            <a:endParaRPr lang="en-US" sz="686"/>
          </a:p>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Context</a:t>
            </a:r>
            <a:endParaRPr lang="en-US" sz="930"/>
          </a:p>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Graph</a:t>
            </a:r>
            <a:endParaRPr lang="en-US" sz="93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a:solidFill>
                  <a:srgbClr val="000000"/>
                </a:solidFill>
                <a:latin typeface="Trenda IG Text" pitchFamily="34" charset="0"/>
                <a:ea typeface="Trenda IG Text" pitchFamily="34" charset="-122"/>
                <a:cs typeface="Trenda IG Text" pitchFamily="34" charset="-120"/>
              </a:rPr>
              <a:t>How Codex uses it</a:t>
            </a:r>
            <a:endParaRPr lang="en-US" sz="93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analyze_impact("req:NS-1234")</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find_reuse("cap:network-participation")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blast_radius("sobj:HPF__c", hops=3)</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trace_downstream_events("apex:HFNGen")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get_provenance("rule:hfn-active-hpf")</a:t>
            </a:r>
            <a:endParaRPr lang="en-US" sz="627"/>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Business capability affected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Objects, fields and automation touched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Existing implementation to reuse</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Covering robotic &amp; regression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Downstream APDH publishing impact</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Risk tier and the approver it routes to</a:t>
            </a:r>
            <a:endParaRPr lang="en-US" sz="705"/>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Apex, Flows, validation rules, metadata</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LWC config and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DEV + branch only, after human approval</a:t>
            </a:r>
            <a:endParaRPr lang="en-US" sz="705"/>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659914"/>
            <a:ext cx="5513832" cy="100027"/>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tIns="0" r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00027"/>
          </a:xfrm>
          <a:prstGeom prst="rect">
            <a:avLst/>
          </a:prstGeom>
          <a:noFill/>
        </p:spPr>
        <p:txBody>
          <a:bodyPr wrap="square" lIns="0" tIns="0" rIns="0" bIns="0" anchor="t">
            <a:spAutoFit/>
          </a:bodyPr>
          <a:lstStyle/>
          <a:p>
            <a:r>
              <a:rPr sz="650" b="0" i="0">
                <a:solidFill>
                  <a:srgbClr val="000000"/>
                </a:solidFill>
                <a:latin typeface="Trenda IG Text"/>
              </a:rPr>
              <a:t>Nightly drift watch flags edits 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a:solidFill>
                  <a:srgbClr val="FFFFFF"/>
                </a:solidFill>
                <a:latin typeface="Trenda IG Text" pitchFamily="34" charset="0"/>
                <a:ea typeface="Trenda IG Text" pitchFamily="34" charset="-122"/>
                <a:cs typeface="Trenda IG Text" pitchFamily="34" charset="-120"/>
              </a:rPr>
              <a:t>ASCENSION NETWORK SERVICES</a:t>
            </a:r>
            <a:endParaRPr lang="en-US" sz="1251"/>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Jira</a:t>
            </a:r>
            <a:endParaRPr lang="en-US" sz="818"/>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Requirements, acceptance criteria, history</a:t>
            </a:r>
            <a:endParaRPr lang="en-US" sz="626"/>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Confluence</a:t>
            </a:r>
            <a:endParaRPr lang="en-US" sz="818"/>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Salesforce</a:t>
            </a:r>
            <a:endParaRPr lang="en-US" sz="818"/>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Objects, fields, Flows, Apex dependencies</a:t>
            </a:r>
            <a:endParaRPr lang="en-US" sz="626"/>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Git</a:t>
            </a:r>
            <a:endParaRPr lang="en-US" sz="818"/>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Apex, LWC, metadata, unit tests</a:t>
            </a:r>
            <a:endParaRPr lang="en-US" sz="626"/>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Copado</a:t>
            </a:r>
            <a:endParaRPr lang="en-US" sz="818"/>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Releases, robotic &amp; regression testing</a:t>
            </a:r>
            <a:endParaRPr lang="en-US" sz="626"/>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Google Drive</a:t>
            </a:r>
            <a:endParaRPr lang="en-US" sz="818"/>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Specs, mapping sheets, evidence exports</a:t>
            </a:r>
            <a:endParaRPr lang="en-US" sz="626"/>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a:solidFill>
                  <a:srgbClr val="000000"/>
                </a:solidFill>
                <a:latin typeface="Trenda IG Text" pitchFamily="34" charset="0"/>
                <a:ea typeface="Trenda IG Text" pitchFamily="34" charset="-122"/>
                <a:cs typeface="Trenda IG Text" pitchFamily="34" charset="-120"/>
              </a:rPr>
              <a:t>CODEX</a:t>
            </a:r>
            <a:endParaRPr lang="en-US" sz="1059"/>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a:solidFill>
                  <a:srgbClr val="000000"/>
                </a:solidFill>
                <a:latin typeface="Trenda IG Text" pitchFamily="34" charset="0"/>
                <a:ea typeface="Trenda IG Text" pitchFamily="34" charset="-122"/>
                <a:cs typeface="Trenda IG Text" pitchFamily="34" charset="-120"/>
              </a:rPr>
              <a:t>AI reasoning layer · the way people ask</a:t>
            </a:r>
            <a:endParaRPr lang="en-US" sz="626"/>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Requirement understanding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Architecture reasoning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detection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classification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Build orchestration</a:t>
            </a:r>
            <a:endParaRPr lang="en-US" sz="722"/>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a:solidFill>
                  <a:srgbClr val="595959"/>
                </a:solidFill>
                <a:latin typeface="Trenda IG Text Semibold" pitchFamily="34" charset="0"/>
                <a:ea typeface="Trenda IG Text Semibold" pitchFamily="34" charset="-122"/>
                <a:cs typeface="Trenda IG Text Semibold" pitchFamily="34" charset="-120"/>
              </a:rPr>
              <a:t>question</a:t>
            </a:r>
            <a:endParaRPr lang="en-US" sz="577"/>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a:solidFill>
                  <a:srgbClr val="00273B"/>
                </a:solidFill>
                <a:latin typeface="Trenda IG Text" pitchFamily="34" charset="0"/>
                <a:ea typeface="Trenda IG Text" pitchFamily="34" charset="-122"/>
                <a:cs typeface="Trenda IG Text" pitchFamily="34" charset="-120"/>
              </a:rPr>
              <a:t>ENGINEERING CONTEXT KNOWLEDGE GRAPH</a:t>
            </a:r>
            <a:endParaRPr lang="en-US" sz="1059"/>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Business capability</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Requirement (Jira)</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Design doc &amp; business rule</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sObject + fields</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Flow / Apex / trigger / VR</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Test, robotic &amp; regression</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Release &amp; environment</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APDH integration event</a:t>
            </a:r>
            <a:endParaRPr lang="en-US" sz="674"/>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REQUIREMENT_TARGETS_CAPABILITY</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RULE_CONSTRAINS_SOBJECT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SOBJECT_HAS_FIELD</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FLOW_UPDATES_SOBJECT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APEX_REFERENCES_SOBJECT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TEST_COVERS_COMPONENT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RELEASE_DEPLOYS_COMPONENT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COMPONENT_PUBLISHES_EVENT</a:t>
            </a:r>
            <a:endParaRPr lang="en-US" sz="616"/>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a:solidFill>
                  <a:srgbClr val="000000"/>
                </a:solidFill>
                <a:latin typeface="Trenda IG Text" pitchFamily="34" charset="0"/>
                <a:ea typeface="Trenda IG Text" pitchFamily="34" charset="-122"/>
                <a:cs typeface="Trenda IG Text" pitchFamily="34" charset="-120"/>
              </a:rPr>
              <a:t>GOVERNED OUTPUT</a:t>
            </a:r>
            <a:endParaRPr lang="en-US" sz="962"/>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recommendation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Change plan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Generated Apex, Flows, VRs, tests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tier + required approver</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Audit evidence</a:t>
            </a:r>
            <a:endParaRPr lang="en-US" sz="722"/>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No back-write to Salesforce</a:t>
            </a:r>
            <a:endParaRPr lang="en-US" sz="674"/>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a:solidFill>
                  <a:srgbClr val="FFFFFF"/>
                </a:solidFill>
                <a:latin typeface="Trenda IG Text" pitchFamily="34" charset="0"/>
                <a:ea typeface="Trenda IG Text" pitchFamily="34" charset="-122"/>
                <a:cs typeface="Trenda IG Text" pitchFamily="34" charset="-120"/>
              </a:rPr>
              <a:t>ASCENSION NETWORK SERVICES</a:t>
            </a:r>
            <a:endParaRPr lang="en-US" sz="1073"/>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Jira</a:t>
            </a:r>
            <a:endParaRPr lang="en-US" sz="541"/>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Confluence</a:t>
            </a:r>
            <a:endParaRPr lang="en-US" sz="541"/>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Salesforce</a:t>
            </a:r>
            <a:endParaRPr lang="en-US" sz="541"/>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Git</a:t>
            </a:r>
            <a:endParaRPr lang="en-US" sz="541"/>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Copado</a:t>
            </a:r>
            <a:endParaRPr lang="en-US" sz="541"/>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Drive</a:t>
            </a:r>
            <a:endParaRPr lang="en-US" sz="541"/>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read-only · hashed · provenance-tagged</a:t>
            </a:r>
            <a:endParaRPr lang="en-US" sz="56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1</a:t>
            </a:r>
            <a:endParaRPr lang="en-US" sz="522"/>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Authoritative systems of record</a:t>
            </a:r>
            <a:endParaRPr lang="en-US" sz="485"/>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 Cloud</a:t>
            </a:r>
            <a:endParaRPr lang="en-US" sz="578"/>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 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Epics, components, labels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Kanban &amp; sprint history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Linked issues &amp; defects</a:t>
            </a:r>
            <a:endParaRPr lang="en-US" sz="513"/>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a:t>
            </a:r>
            <a:endParaRPr lang="en-US" sz="578"/>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Functional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Technical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tables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 diagrams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HFN / HPF runbooks</a:t>
            </a:r>
            <a:endParaRPr lang="en-US" sz="513"/>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a:t>
            </a:r>
            <a:endParaRPr lang="en-US" sz="578"/>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Health Cloud org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HCP / Account, Facility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HPF, HFN, CPA, Fee Sched.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record types, rels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Flows, Apex, LWC, perm sets</a:t>
            </a:r>
            <a:endParaRPr lang="en-US" sz="513"/>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force-app source tree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classes &amp; triggers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bundles &amp; meta XML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test classes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Commits, branches, tags</a:t>
            </a:r>
            <a:endParaRPr lang="en-US" sz="513"/>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a:t>
            </a:r>
            <a:endParaRPr lang="en-US" sz="578"/>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 &amp; promotions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testing suites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test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DEV → SIT → UAT → PROD</a:t>
            </a:r>
            <a:endParaRPr lang="en-US" sz="513"/>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 Drive</a:t>
            </a:r>
            <a:endParaRPr lang="en-US" sz="578"/>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Shared delivery documents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&amp; mapping sheets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Evidence exports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Decision &amp; meeting notes</a:t>
            </a:r>
            <a:endParaRPr lang="en-US" sz="513"/>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2</a:t>
            </a:r>
            <a:endParaRPr lang="en-US" sz="522"/>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AI Read Service · read-only</a:t>
            </a:r>
            <a:endParaRPr lang="en-US" sz="485"/>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(3LO) / API token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scopes only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JQL delta pull (lastSyncAt)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Paging, 429 backoff</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per issue payload</a:t>
            </a:r>
            <a:endParaRPr lang="en-US" sz="513"/>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PAT / API token auth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Space + label scoped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HTML via body.storage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 + lastUpdated delta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Rate limited · SHA-256</a:t>
            </a:r>
            <a:endParaRPr lang="en-US" sz="513"/>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App JWT bearer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perm set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record-data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Tooling + Metadata API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MetadataComponentDep.</a:t>
            </a:r>
            <a:endParaRPr lang="en-US" sz="513"/>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SSH deploy key / read PAT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Shallow clone + fetch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Branch &amp; tag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 SHA, author, date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Per-file SHA-256, no push</a:t>
            </a:r>
            <a:endParaRPr lang="en-US" sz="513"/>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client creds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API user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Stories + promotions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 regression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 per env</a:t>
            </a:r>
            <a:endParaRPr lang="en-US" sz="513"/>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service account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Drive API v3, shared drive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files.list + files.export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 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Change-token delta sync</a:t>
            </a:r>
            <a:endParaRPr lang="en-US" sz="513"/>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3</a:t>
            </a:r>
            <a:endParaRPr lang="en-US" sz="522"/>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Ingestors</a:t>
            </a:r>
            <a:endParaRPr lang="en-US" sz="746"/>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Parse → domain model</a:t>
            </a:r>
            <a:endParaRPr lang="en-US" sz="485"/>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ADF JSON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Given / When / Then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Capability tagging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key + hash</a:t>
            </a:r>
            <a:endParaRPr lang="en-US" sz="513"/>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Jsoup HTML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H1–H4</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headers, rows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sentences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version</a:t>
            </a:r>
            <a:endParaRPr lang="en-US" sz="513"/>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describe() → objects, fields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XML: elements, rules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SOQL, DML, sObjects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 rule formulas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Dependency API → edges</a:t>
            </a:r>
            <a:endParaRPr lang="en-US" sz="513"/>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Git → Code</a:t>
            </a:r>
            <a:endParaRPr lang="en-US" sz="578"/>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SFDX source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parsing (@isTest)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 → covered class map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 meta XML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path + commit</a:t>
            </a:r>
            <a:endParaRPr lang="en-US" sz="513"/>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Story → component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Promotion &amp; deployment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 → 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 evidence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 / stage map</a:t>
            </a:r>
            <a:endParaRPr lang="en-US" sz="513"/>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text 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Sheet table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 capability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 parse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 revision</a:t>
            </a:r>
            <a:endParaRPr lang="en-US" sz="513"/>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4</a:t>
            </a:r>
            <a:endParaRPr lang="en-US" sz="522"/>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Domain Model</a:t>
            </a:r>
            <a:endParaRPr lang="en-US" sz="746"/>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NetworkServicesContext</a:t>
            </a:r>
            <a:endParaRPr lang="en-US" sz="485"/>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Root object</a:t>
            </a:r>
            <a:endParaRPr lang="en-US" sz="578"/>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applicationVersion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createdAt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snapshotId (UUID per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a:t>
            </a:r>
            <a:endParaRPr lang="en-US" sz="513"/>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requirements[]</a:t>
            </a:r>
            <a:endParaRPr lang="en-US" sz="578"/>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requirementId (Jira key)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title, summary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businessCapability, status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priority, riskTier, links</a:t>
            </a:r>
            <a:endParaRPr lang="en-US" sz="513"/>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documents[]</a:t>
            </a:r>
            <a:endParaRPr lang="en-US" sz="578"/>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documentId (page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heading, level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links[]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businessRules[]: ruleText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objectsReferenced[], hash</a:t>
            </a:r>
            <a:endParaRPr lang="en-US" sz="513"/>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objectApiName, label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recordTypes[]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type, formula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relationships[]: lookup, M-D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sharingModel, permSets[]</a:t>
            </a:r>
            <a:endParaRPr lang="en-US" sz="513"/>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automations[]</a:t>
            </a:r>
            <a:endParaRPr lang="en-US" sz="578"/>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componentId, apiName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 APEX | TRIGGER | VR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objectsTouched[]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dmlOperations, soqlQueries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testCoverage · riskTier</a:t>
            </a:r>
            <a:endParaRPr lang="en-US" sz="513"/>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testAssets[]: robotic + regr.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assertions[], evidenceUri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releases[]: env,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integrations[]: APDH 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 → Queueable → Pub/Sub</a:t>
            </a:r>
            <a:endParaRPr lang="en-US" sz="513"/>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5</a:t>
            </a:r>
            <a:endParaRPr lang="en-US" sz="522"/>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Neutral JSON contract</a:t>
            </a:r>
            <a:endParaRPr lang="en-US" sz="485"/>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"snapshotId": "b7f1c2e4",</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"nodes":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"id": "</a:t>
            </a:r>
            <a:r>
              <a:rPr lang="en-US" sz="504" err="1">
                <a:solidFill>
                  <a:srgbClr val="000000"/>
                </a:solidFill>
                <a:latin typeface="Courier New" pitchFamily="34" charset="0"/>
                <a:ea typeface="Courier New" pitchFamily="34" charset="-122"/>
                <a:cs typeface="Courier New" pitchFamily="34" charset="-120"/>
              </a:rPr>
              <a:t>sobj:HFN</a:t>
            </a:r>
            <a:r>
              <a:rPr lang="en-US" sz="504">
                <a:solidFill>
                  <a:srgbClr val="000000"/>
                </a:solidFill>
                <a:latin typeface="Courier New" pitchFamily="34" charset="0"/>
                <a:ea typeface="Courier New" pitchFamily="34" charset="-122"/>
                <a:cs typeface="Courier New" pitchFamily="34" charset="-120"/>
              </a:rPr>
              <a:t>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 "SOBJECT",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"properties":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"fieldCount": 148,</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"testCoverage": 81,</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"riskTier": "HIGH"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"sourceReferences":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"artifactPath":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"objects/HFN__c.xml",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"artifactHash":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"sha256:9f2b...c41d"}]}],</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"relationships":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"FLOW_UPDATES_SOBJECT",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"from": "flow:HFN_Gen",</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"to": "sobj:HFN__c",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"origin": "FACTUAL",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"confidence": 1.0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node with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typed relationship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on each element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source references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One snapshot per sync run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Vendor-neutral, portable</a:t>
            </a:r>
            <a:endParaRPr lang="en-US" sz="513"/>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Rebuilt on each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Never written back to source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Versioned per snapshotId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change detection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 + sanitized 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Encrypted at rest</a:t>
            </a:r>
            <a:endParaRPr lang="en-US" sz="513"/>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6</a:t>
            </a:r>
            <a:endParaRPr lang="en-US" sz="522"/>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Context → graph export</a:t>
            </a:r>
            <a:endParaRPr lang="en-US" sz="485"/>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Node types</a:t>
            </a:r>
            <a:endParaRPr lang="en-US" sz="578"/>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DESIGN_DOCUMENT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APEX_CLASS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APEX_TRIGGER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REPOSITORY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INTEGRATION_EVENT</a:t>
            </a:r>
            <a:endParaRPr lang="en-US" sz="513"/>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REQ_TARGETS_CAPABILITY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REQ_SPECIFIED_BY_DOC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DOCUMENT_HAS_SECTION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SECTION_DEFINES_RULE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RULE_CONSTRAINS_SOBJECT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SOBJECT_HAS_FIELD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SOBJECT_RELATES_TO_SOBJ</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FLOW_UPDATES_SOBJECT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APEX_REFERENCES_SOBJECT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TRIGGER_FIRES_ON_SOBJECT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COMP_DEPENDS_ON_COMP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TEST_COVERS_COMPONENT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REQ_IMPLEMENTED_BY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RELEASE_DEPLOYS_COMP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COMP_PUBLISHES_EVENT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REQ_REUSES_COMPONENT</a:t>
            </a:r>
            <a:endParaRPr lang="en-US" sz="513"/>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All domain metadata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 derivation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Source refs, exact location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Confidence 1.0 / inferred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 tier per component</a:t>
            </a:r>
            <a:endParaRPr lang="en-US" sz="513"/>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Dependencies e explicit as a typed, queryable graph</a:t>
            </a:r>
            <a:endParaRPr lang="en-US" sz="485"/>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7</a:t>
            </a:r>
            <a:endParaRPr lang="en-US" sz="522"/>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In-memory knowledge graph</a:t>
            </a:r>
            <a:endParaRPr lang="en-US" sz="485"/>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In-memory directed graph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nodes +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edges + weights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Adjacency index per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O(1) node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indexes for scans</a:t>
            </a:r>
            <a:endParaRPr lang="en-US" sz="513"/>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add_node(id, type, props)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add_edge(src, tgt,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find_nodes(node_type)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find_edges(edge_type)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has_node · retract</a:t>
            </a:r>
            <a:endParaRPr lang="en-US" sz="513"/>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blast_radius(node,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reuse_candidates(capab.)</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risk_tier(components)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downstream_events → APDH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coverage_gap(component)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a:t>
            </a:r>
            <a:endParaRPr lang="en-US" sz="513"/>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stats(): counts, density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distributions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save / load_from_file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 diffing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Query &lt; 0.01s · 1M+ nodes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get_lineage, trace_source</a:t>
            </a:r>
            <a:endParaRPr lang="en-US" sz="513"/>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8</a:t>
            </a:r>
            <a:endParaRPr lang="en-US" sz="522"/>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SemanticaGraphAdapter → Codex</a:t>
            </a:r>
            <a:endParaRPr lang="en-US" sz="485"/>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load_from_json(path)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get_nodes_by_type(type)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get_outgoing_edges(id)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get_incoming_edges(id)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get_neighbors(id,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get_graph_stats()</a:t>
            </a:r>
            <a:endParaRPr lang="en-US" sz="513"/>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analyze_impact(requirement)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find_reuse(capability)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classify_risk(components)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trace_downstream_events()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coverage_report()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build_context_slice()</a:t>
            </a:r>
            <a:endParaRPr lang="en-US" sz="513"/>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graph.query · graph.impact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graph.reuse · graph.prov</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git.read_file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sf.describe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jira.read · copado.status</a:t>
            </a:r>
            <a:endParaRPr lang="en-US" sz="513"/>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Bounded graph slice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invented dependencies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claim cites a node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ImpactAnalysis · ChangePlan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GeneratedArtifacts, TestPlan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RiskAssessment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Write: DEV + branch only</a:t>
            </a:r>
            <a:endParaRPr lang="en-US" sz="513"/>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4527A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SourceArtifact: bytes + metadata + SHA-256</a:t>
            </a:r>
            <a:endParaRPr lang="en-US" sz="504"/>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Typed domain objects + provenance</a:t>
            </a:r>
            <a:endParaRPr lang="en-US" sz="504"/>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persisted as vendor-neutral JSON</a:t>
            </a:r>
            <a:endParaRPr lang="en-US" sz="504"/>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loaded into the in-memory graph</a:t>
            </a:r>
            <a:endParaRPr lang="en-US" sz="504"/>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adapter API: typed graph queries</a:t>
            </a:r>
            <a:endParaRPr lang="en-US" sz="504"/>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HANDOFF</a:t>
            </a:r>
            <a:endParaRPr lang="en-US" sz="466"/>
          </a:p>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is the discipline of building everything around it, so agents stay reliable at scale. Six disciplines, and where each lives in our harness.</a:t>
            </a:r>
          </a:p>
        </p:txBody>
      </p:sp>
      <p:sp>
        <p:nvSpPr>
          <p:cNvPr id="5" name="Shape 4"/>
          <p:cNvSpPr/>
          <p:nvPr/>
        </p:nvSpPr>
        <p:spPr>
          <a:xfrm>
            <a:off x="411480"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612648"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7" name="Text 6"/>
          <p:cNvSpPr txBox="1"/>
          <p:nvPr/>
        </p:nvSpPr>
        <p:spPr>
          <a:xfrm>
            <a:off x="1014984"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Context engineering</a:t>
            </a:r>
          </a:p>
        </p:txBody>
      </p:sp>
      <p:sp>
        <p:nvSpPr>
          <p:cNvPr id="8" name="Text 7"/>
          <p:cNvSpPr txBox="1"/>
          <p:nvPr/>
        </p:nvSpPr>
        <p:spPr>
          <a:xfrm>
            <a:off x="612648"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 before it acts</a:t>
            </a:r>
          </a:p>
        </p:txBody>
      </p:sp>
      <p:sp>
        <p:nvSpPr>
          <p:cNvPr id="9" name="Shape 8"/>
          <p:cNvSpPr/>
          <p:nvPr/>
        </p:nvSpPr>
        <p:spPr>
          <a:xfrm>
            <a:off x="612648"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612648"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1" name="Text 10"/>
          <p:cNvSpPr txBox="1"/>
          <p:nvPr/>
        </p:nvSpPr>
        <p:spPr>
          <a:xfrm>
            <a:off x="612648"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12" name="Shape 11"/>
          <p:cNvSpPr/>
          <p:nvPr/>
        </p:nvSpPr>
        <p:spPr>
          <a:xfrm>
            <a:off x="4261104"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462272"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14" name="Text 13"/>
          <p:cNvSpPr txBox="1"/>
          <p:nvPr/>
        </p:nvSpPr>
        <p:spPr>
          <a:xfrm>
            <a:off x="4864608"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Agent legibility</a:t>
            </a:r>
          </a:p>
        </p:txBody>
      </p:sp>
      <p:sp>
        <p:nvSpPr>
          <p:cNvPr id="15" name="Text 14"/>
          <p:cNvSpPr txBox="1"/>
          <p:nvPr/>
        </p:nvSpPr>
        <p:spPr>
          <a:xfrm>
            <a:off x="4462272"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Make the estate readable to an agent</a:t>
            </a:r>
          </a:p>
        </p:txBody>
      </p:sp>
      <p:sp>
        <p:nvSpPr>
          <p:cNvPr id="16" name="Shape 15"/>
          <p:cNvSpPr/>
          <p:nvPr/>
        </p:nvSpPr>
        <p:spPr>
          <a:xfrm>
            <a:off x="4462272"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4462272"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8" name="Text 17"/>
          <p:cNvSpPr txBox="1"/>
          <p:nvPr/>
        </p:nvSpPr>
        <p:spPr>
          <a:xfrm>
            <a:off x="4462272"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Points to Ascension standards, pod skills and graph tools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Versioned with the code; access follows repo permissions</a:t>
            </a:r>
          </a:p>
        </p:txBody>
      </p:sp>
      <p:sp>
        <p:nvSpPr>
          <p:cNvPr id="19" name="Shape 18"/>
          <p:cNvSpPr/>
          <p:nvPr/>
        </p:nvSpPr>
        <p:spPr>
          <a:xfrm>
            <a:off x="8110727"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8311896"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1" name="Text 20"/>
          <p:cNvSpPr txBox="1"/>
          <p:nvPr/>
        </p:nvSpPr>
        <p:spPr>
          <a:xfrm>
            <a:off x="8714232"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Architectural constraints</a:t>
            </a:r>
          </a:p>
        </p:txBody>
      </p:sp>
      <p:sp>
        <p:nvSpPr>
          <p:cNvPr id="22" name="Text 21"/>
          <p:cNvSpPr txBox="1"/>
          <p:nvPr/>
        </p:nvSpPr>
        <p:spPr>
          <a:xfrm>
            <a:off x="8311896"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a machine enforces, not a reviewer</a:t>
            </a:r>
          </a:p>
        </p:txBody>
      </p:sp>
      <p:sp>
        <p:nvSpPr>
          <p:cNvPr id="23" name="Shape 22"/>
          <p:cNvSpPr/>
          <p:nvPr/>
        </p:nvSpPr>
        <p:spPr>
          <a:xfrm>
            <a:off x="8311896"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Text 23"/>
          <p:cNvSpPr txBox="1"/>
          <p:nvPr/>
        </p:nvSpPr>
        <p:spPr>
          <a:xfrm>
            <a:off x="8311896"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25" name="Text 24"/>
          <p:cNvSpPr txBox="1"/>
          <p:nvPr/>
        </p:nvSpPr>
        <p:spPr>
          <a:xfrm>
            <a:off x="8311896"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promotion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Code Analyzer, pre-commit and CI checks on every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Gateway allow list; every output validated against its schema</a:t>
            </a:r>
          </a:p>
        </p:txBody>
      </p:sp>
      <p:sp>
        <p:nvSpPr>
          <p:cNvPr id="26" name="Shape 25"/>
          <p:cNvSpPr/>
          <p:nvPr/>
        </p:nvSpPr>
        <p:spPr>
          <a:xfrm>
            <a:off x="411480"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612648"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28" name="Text 27"/>
          <p:cNvSpPr txBox="1"/>
          <p:nvPr/>
        </p:nvSpPr>
        <p:spPr>
          <a:xfrm>
            <a:off x="1014984"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Feedback loops and evaluation</a:t>
            </a:r>
          </a:p>
        </p:txBody>
      </p:sp>
      <p:sp>
        <p:nvSpPr>
          <p:cNvPr id="29" name="Text 28"/>
          <p:cNvSpPr txBox="1"/>
          <p:nvPr/>
        </p:nvSpPr>
        <p:spPr>
          <a:xfrm>
            <a:off x="612648"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Every miss makes the harness better</a:t>
            </a:r>
          </a:p>
        </p:txBody>
      </p:sp>
      <p:sp>
        <p:nvSpPr>
          <p:cNvPr id="30" name="Shape 29"/>
          <p:cNvSpPr/>
          <p:nvPr/>
        </p:nvSpPr>
        <p:spPr>
          <a:xfrm>
            <a:off x="612648"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612648"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Text 31"/>
          <p:cNvSpPr txBox="1"/>
          <p:nvPr/>
        </p:nvSpPr>
        <p:spPr>
          <a:xfrm>
            <a:off x="612648"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Rejected outputs become new evaluation cases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Incidents become new Guardian rules</a:t>
            </a:r>
          </a:p>
        </p:txBody>
      </p:sp>
      <p:sp>
        <p:nvSpPr>
          <p:cNvPr id="33" name="Shape 32"/>
          <p:cNvSpPr/>
          <p:nvPr/>
        </p:nvSpPr>
        <p:spPr>
          <a:xfrm>
            <a:off x="4261104"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4462272"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5" name="Text 34"/>
          <p:cNvSpPr txBox="1"/>
          <p:nvPr/>
        </p:nvSpPr>
        <p:spPr>
          <a:xfrm>
            <a:off x="4864608"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Entropy management</a:t>
            </a:r>
          </a:p>
        </p:txBody>
      </p:sp>
      <p:sp>
        <p:nvSpPr>
          <p:cNvPr id="36" name="Text 35"/>
          <p:cNvSpPr txBox="1"/>
          <p:nvPr/>
        </p:nvSpPr>
        <p:spPr>
          <a:xfrm>
            <a:off x="4462272"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Spot decay early and tell the owners</a:t>
            </a:r>
          </a:p>
        </p:txBody>
      </p:sp>
      <p:sp>
        <p:nvSpPr>
          <p:cNvPr id="37" name="Shape 36"/>
          <p:cNvSpPr/>
          <p:nvPr/>
        </p:nvSpPr>
        <p:spPr>
          <a:xfrm>
            <a:off x="4462272"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462272"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9" name="Text 38"/>
          <p:cNvSpPr txBox="1"/>
          <p:nvPr/>
        </p:nvSpPr>
        <p:spPr>
          <a:xfrm>
            <a:off x="4462272"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Weekly org health report per pod: unused fields, duplicate Flows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Stale Confluence pages flagged to their owners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Read-only: owners decide what to fix, through normal stories</a:t>
            </a:r>
          </a:p>
        </p:txBody>
      </p:sp>
      <p:sp>
        <p:nvSpPr>
          <p:cNvPr id="40" name="Shape 39"/>
          <p:cNvSpPr/>
          <p:nvPr/>
        </p:nvSpPr>
        <p:spPr>
          <a:xfrm>
            <a:off x="8110727"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8311896"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06</a:t>
            </a:r>
          </a:p>
        </p:txBody>
      </p:sp>
      <p:sp>
        <p:nvSpPr>
          <p:cNvPr id="42" name="Text 41"/>
          <p:cNvSpPr txBox="1"/>
          <p:nvPr/>
        </p:nvSpPr>
        <p:spPr>
          <a:xfrm>
            <a:off x="8714232"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Observability and steering</a:t>
            </a:r>
          </a:p>
        </p:txBody>
      </p:sp>
      <p:sp>
        <p:nvSpPr>
          <p:cNvPr id="43" name="Text 42"/>
          <p:cNvSpPr txBox="1"/>
          <p:nvPr/>
        </p:nvSpPr>
        <p:spPr>
          <a:xfrm>
            <a:off x="8311896"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Humans steer; agents execute</a:t>
            </a:r>
          </a:p>
        </p:txBody>
      </p:sp>
      <p:sp>
        <p:nvSpPr>
          <p:cNvPr id="44" name="Shape 43"/>
          <p:cNvSpPr/>
          <p:nvPr/>
        </p:nvSpPr>
        <p:spPr>
          <a:xfrm>
            <a:off x="8311896"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8311896"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46" name="Text 45"/>
          <p:cNvSpPr txBox="1"/>
          <p:nvPr/>
        </p:nvSpPr>
        <p:spPr>
          <a:xfrm>
            <a:off x="8311896"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Humans approve at H1-H4 and CAB; no agent reaches production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Risk-routed approvals spend people's attention where risk is</a:t>
            </a:r>
          </a:p>
        </p:txBody>
      </p:sp>
      <p:sp>
        <p:nvSpPr>
          <p:cNvPr id="47" name="Shape 46"/>
          <p:cNvSpPr/>
          <p:nvPr/>
        </p:nvSpPr>
        <p:spPr>
          <a:xfrm>
            <a:off x="411480" y="5358384"/>
            <a:ext cx="11365992" cy="566928"/>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8" name="Text 47"/>
          <p:cNvSpPr txBox="1"/>
          <p:nvPr/>
        </p:nvSpPr>
        <p:spPr>
          <a:xfrm>
            <a:off x="640080" y="5358384"/>
            <a:ext cx="2194560"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49" name="Text 48"/>
          <p:cNvSpPr txBox="1"/>
          <p:nvPr/>
        </p:nvSpPr>
        <p:spPr>
          <a:xfrm>
            <a:off x="2788920" y="5358384"/>
            <a:ext cx="8759952"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 from the next run.</a:t>
            </a:r>
          </a:p>
        </p:txBody>
      </p:sp>
      <p:sp>
        <p:nvSpPr>
          <p:cNvPr id="50" name="Text 49"/>
          <p:cNvSpPr txBox="1"/>
          <p:nvPr/>
        </p:nvSpPr>
        <p:spPr>
          <a:xfrm>
            <a:off x="411480" y="5980176"/>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Health reports are read-only Review Agent runs: they change nothing in the org.</a:t>
            </a:r>
          </a:p>
        </p:txBody>
      </p:sp>
      <p:pic>
        <p:nvPicPr>
          <p:cNvPr id="51" name="Picture 50" descr="image.png"/>
          <p:cNvPicPr>
            <a:picLocks noChangeAspect="1"/>
          </p:cNvPicPr>
          <p:nvPr/>
        </p:nvPicPr>
        <p:blipFill>
          <a:blip r:embed="rId3"/>
          <a:stretch>
            <a:fillRect/>
          </a:stretch>
        </p:blipFill>
        <p:spPr>
          <a:xfrm>
            <a:off x="502920" y="6428232"/>
            <a:ext cx="496062" cy="103601"/>
          </a:xfrm>
          <a:prstGeom prst="rect">
            <a:avLst/>
          </a:prstGeom>
        </p:spPr>
      </p:pic>
      <p:sp>
        <p:nvSpPr>
          <p:cNvPr id="5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32697894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B044CED-A4E2-7522-92A4-ECBFE218FB8F}"/>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1276729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7FA7E6-FCF7-FE98-BD19-4DACE066E815}"/>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7318635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296322A-20F7-D373-F875-33BFA167D6BC}"/>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526011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ED2C2E4-5FB0-1B69-913B-CC1C9D5ADD47}"/>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5439864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WHAT IT MEANS FOR TWO PODS</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 $1.59-1.80M back every year</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312442"/>
            <a:ext cx="3291840" cy="100027"/>
          </a:xfrm>
          <a:prstGeom prst="rect">
            <a:avLst/>
          </a:prstGeom>
          <a:noFill/>
        </p:spPr>
        <p:txBody>
          <a:bodyPr wrap="square" lIns="0" tIns="0" rIns="0" bIns="0" anchor="ctr">
            <a:spAutoFit/>
          </a:bodyPr>
          <a:lstStyle/>
          <a:p>
            <a:r>
              <a:rPr sz="650" b="1" i="0" spc="150">
                <a:solidFill>
                  <a:srgbClr val="000000"/>
                </a:solidFill>
                <a:latin typeface="Trenda IG Text"/>
              </a:rPr>
              <a:t>WITH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652220"/>
            <a:ext cx="1024127" cy="115416"/>
          </a:xfrm>
          <a:prstGeom prst="rect">
            <a:avLst/>
          </a:prstGeom>
          <a:noFill/>
        </p:spPr>
        <p:txBody>
          <a:bodyPr wrap="square" lIns="0" tIns="0" rIns="0" bIns="0" anchor="ctr">
            <a:spAutoFit/>
          </a:bodyPr>
          <a:lstStyle/>
          <a:p>
            <a:pPr algn="ctr"/>
            <a:r>
              <a:rPr sz="750" b="1" i="0">
                <a:solidFill>
                  <a:srgbClr val="FFFFFF"/>
                </a:solidFill>
                <a:latin typeface="Trenda IG Text"/>
              </a:rPr>
              <a:t> </a:t>
            </a:r>
            <a:r>
              <a:rPr lang="en-IN" sz="750" b="1">
                <a:solidFill>
                  <a:srgbClr val="FFFFFF"/>
                </a:solidFill>
              </a:rPr>
              <a:t>Harness </a:t>
            </a:r>
            <a:r>
              <a:rPr sz="750" b="1" i="0">
                <a:solidFill>
                  <a:srgbClr val="FFFFFF"/>
                </a:solidFill>
                <a:latin typeface="Trenda IG Text"/>
              </a:rPr>
              <a:t>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423193"/>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dirty="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23111"/>
          </a:xfrm>
          <a:prstGeom prst="rect">
            <a:avLst/>
          </a:prstGeom>
          <a:noFill/>
        </p:spPr>
        <p:txBody>
          <a:bodyPr wrap="square" lIns="0" tIns="0" rIns="0" bIns="0" anchor="t">
            <a:spAutoFit/>
          </a:bodyPr>
          <a:lstStyle/>
          <a:p>
            <a:r>
              <a:rPr sz="800" b="0" i="0">
                <a:solidFill>
                  <a:srgbClr val="BFBFBF"/>
                </a:solidFill>
                <a:latin typeface="Trenda IG Text"/>
              </a:rPr>
              <a:t>With </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00055"/>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keeps today's cost for the people who stay (a developer and QA per squad, plus a tech lead in VBC) and adds agent run cost of $9K-18K per squad a year; the shared  platform is priced once for all pods on the commercials slide. Target once a pod runs fully on ; the 20-25% on the business outcomes slide is the floor. Each pod's Phase 0 baseline confirms it.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