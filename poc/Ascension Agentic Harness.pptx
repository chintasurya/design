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2" r:id="rId36"/>
    <p:sldId id="333" r:id="rId6"/>
    <p:sldId id="324" r:id="rId7"/>
    <p:sldId id="325" r:id="rId8"/>
    <p:sldId id="327" r:id="rId9"/>
    <p:sldId id="328" r:id="rId10"/>
    <p:sldId id="326" r:id="rId11"/>
    <p:sldId id="334" r:id="rId12"/>
    <p:sldId id="339" r:id="rId33"/>
    <p:sldId id="343" r:id="rId37"/>
    <p:sldId id="340" r:id="rId34"/>
    <p:sldId id="341" r:id="rId35"/>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(about 2 minutes)</a:t>
            </a:r>
          </a:p>
          <a:p/>
          <a:p>
            <a:r>
              <a:t>KEY MESSAGE</a:t>
            </a:r>
          </a:p>
          <a:p>
            <a:r>
              <a:t>The model is not the product; the harness is. Harness engineering is the discipline (named by OpenAI's Codex team in early 2026) of engineering everything around the model: what it knows, the rules it cannot break, how it learns from misses, and how quality is kept from decaying. Our design covers all six.</a:t>
            </a:r>
          </a:p>
          <a:p/>
          <a:p>
            <a:r>
              <a:t>WALK IT</a:t>
            </a:r>
          </a:p>
          <a:p>
            <a:r>
              <a:t>- 01 Context engineering: the knowledge graph. This is Phase 1.</a:t>
            </a:r>
          </a:p>
          <a:p>
            <a:r>
              <a:t>- 02 Agent legibility: every Salesforce repo carries a short AGENTS.md, the file Codex reads first. It is a map, not a manual: it points to Ascension standards, the pod's skills and the graph tools. OpenAI's team found one giant instruction file fails; a short map into versioned docs works.</a:t>
            </a:r>
          </a:p>
          <a:p>
            <a:r>
              <a:t>- 03 Architectural constraints: the Change Guardian rulebook, Code Analyzer, CI checks and the gateway allow list. Machines enforce the rules, so reviewers look at intent, not formatting.</a:t>
            </a:r>
          </a:p>
          <a:p>
            <a:r>
              <a:t>- 04 Feedback loops: the evaluation set gates every change to prompts, skills or models; every rejection and incident feeds back.</a:t>
            </a:r>
          </a:p>
          <a:p>
            <a:r>
              <a:t>- 05 Entropy management: a weekly, read-only org health report to each pod: unused fields, duplicate Flows, hardcoded IDs, and Confluence pages that no longer match the org. Nothing is cleaned automatically; the owners decide what to fix and raise normal stories for it.</a:t>
            </a:r>
          </a:p>
          <a:p>
            <a:r>
              <a:t>- 06 Observability and steering: change passport, gateway log, approvals. Humans steer; agents execute.</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and versioned with it: not in Google Cloud. Harness agents read it from their own checkout of the repo,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 the harness does not widen them.</a:t>
            </a:r>
          </a:p>
          <a:p>
            <a:r>
              <a:t>- Does the health report change anything? No. It is a read-only scheduled run of the Review Agent. Fixes go through the same stories and gates as any other change.</a:t>
            </a:r>
          </a:p>
          <a:p>
            <a:r>
              <a:t>- Does this change the team or the price? No. AGENTS.md files are part of the pod skill packs; the report reuses the Review Agent.</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Codex Enterprise is the engine. Harness engineering is the discipline of building everything around it, so agents stay reliable at scale. Six disciplines, and where each lives in our harness.</a:t>
            </a:r>
          </a:p>
        </p:txBody>
      </p:sp>
      <p:sp>
        <p:nvSpPr>
          <p:cNvPr id="5" name="Shape 4"/>
          <p:cNvSpPr/>
          <p:nvPr/>
        </p:nvSpPr>
        <p:spPr>
          <a:xfrm>
            <a:off x="411480" y="1207008"/>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207008"/>
            <a:ext cx="54864" cy="19385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612648" y="1335024"/>
            <a:ext cx="365760" cy="274320"/>
          </a:xfrm>
          <a:prstGeom prst="rect">
            <a:avLst/>
          </a:prstGeom>
          <a:noFill/>
        </p:spPr>
        <p:txBody>
          <a:bodyPr wrap="square" lIns="0" rIns="0" tIns="0" bIns="0" anchor="ctr">
            <a:spAutoFit/>
          </a:bodyPr>
          <a:lstStyle/>
          <a:p>
            <a:r>
              <a:rPr sz="1600" b="0" i="0">
                <a:solidFill>
                  <a:srgbClr val="595959"/>
                </a:solidFill>
                <a:latin typeface="Trenda IG Text Light"/>
              </a:rPr>
              <a:t>01</a:t>
            </a:r>
          </a:p>
        </p:txBody>
      </p:sp>
      <p:sp>
        <p:nvSpPr>
          <p:cNvPr id="8" name="Text 7"/>
          <p:cNvSpPr txBox="1"/>
          <p:nvPr/>
        </p:nvSpPr>
        <p:spPr>
          <a:xfrm>
            <a:off x="1014984" y="1316736"/>
            <a:ext cx="2935224" cy="310896"/>
          </a:xfrm>
          <a:prstGeom prst="rect">
            <a:avLst/>
          </a:prstGeom>
          <a:noFill/>
        </p:spPr>
        <p:txBody>
          <a:bodyPr wrap="square" lIns="0" rIns="0" tIns="0" bIns="0" anchor="ctr">
            <a:spAutoFit/>
          </a:bodyPr>
          <a:lstStyle/>
          <a:p>
            <a:r>
              <a:rPr sz="1200" b="1" i="0">
                <a:solidFill>
                  <a:srgbClr val="000000"/>
                </a:solidFill>
                <a:latin typeface="Trenda IG Text"/>
              </a:rPr>
              <a:t>Context engineering</a:t>
            </a:r>
          </a:p>
        </p:txBody>
      </p:sp>
      <p:sp>
        <p:nvSpPr>
          <p:cNvPr id="9" name="Text 8"/>
          <p:cNvSpPr txBox="1"/>
          <p:nvPr/>
        </p:nvSpPr>
        <p:spPr>
          <a:xfrm>
            <a:off x="612648" y="1664208"/>
            <a:ext cx="3300984" cy="201168"/>
          </a:xfrm>
          <a:prstGeom prst="rect">
            <a:avLst/>
          </a:prstGeom>
          <a:noFill/>
        </p:spPr>
        <p:txBody>
          <a:bodyPr wrap="square" lIns="0" rIns="0" tIns="0" bIns="0" anchor="t">
            <a:spAutoFit/>
          </a:bodyPr>
          <a:lstStyle/>
          <a:p>
            <a:r>
              <a:rPr sz="850" b="0" i="0">
                <a:solidFill>
                  <a:srgbClr val="595959"/>
                </a:solidFill>
                <a:latin typeface="Trenda IG Text"/>
              </a:rPr>
              <a:t>What the agent knows before it acts</a:t>
            </a:r>
          </a:p>
        </p:txBody>
      </p:sp>
      <p:sp>
        <p:nvSpPr>
          <p:cNvPr id="10" name="Shape 9"/>
          <p:cNvSpPr/>
          <p:nvPr/>
        </p:nvSpPr>
        <p:spPr>
          <a:xfrm>
            <a:off x="612648" y="1920240"/>
            <a:ext cx="330098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612648" y="1993392"/>
            <a:ext cx="330098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12" name="Text 11"/>
          <p:cNvSpPr txBox="1"/>
          <p:nvPr/>
        </p:nvSpPr>
        <p:spPr>
          <a:xfrm>
            <a:off x="612648" y="2176272"/>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Engineering Context Knowledge Graph from six sources</a:t>
            </a:r>
          </a:p>
          <a:p>
            <a:pPr>
              <a:spcAft>
                <a:spcPts val="300"/>
              </a:spcAft>
            </a:pPr>
            <a:r>
              <a:rPr sz="800" b="0" i="0">
                <a:solidFill>
                  <a:srgbClr val="00D6F2"/>
                </a:solidFill>
                <a:latin typeface="Trenda IG Text"/>
              </a:rPr>
              <a:t>▪  </a:t>
            </a:r>
            <a:r>
              <a:rPr sz="800" b="0" i="0">
                <a:solidFill>
                  <a:srgbClr val="000000"/>
                </a:solidFill>
                <a:latin typeface="Trenda IG Text"/>
              </a:rPr>
              <a:t>Every fact cited to its source and snapshot</a:t>
            </a:r>
          </a:p>
          <a:p>
            <a:pPr>
              <a:spcAft>
                <a:spcPts val="300"/>
              </a:spcAft>
            </a:pPr>
            <a:r>
              <a:rPr sz="800" b="0" i="0">
                <a:solidFill>
                  <a:srgbClr val="00D6F2"/>
                </a:solidFill>
                <a:latin typeface="Trenda IG Text"/>
              </a:rPr>
              <a:t>▪  </a:t>
            </a:r>
            <a:r>
              <a:rPr sz="800" b="0" i="0">
                <a:solidFill>
                  <a:srgbClr val="000000"/>
                </a:solidFill>
                <a:latin typeface="Trenda IG Text"/>
              </a:rPr>
              <a:t>Each step gets a bounded, redacted context slice</a:t>
            </a:r>
          </a:p>
        </p:txBody>
      </p:sp>
      <p:sp>
        <p:nvSpPr>
          <p:cNvPr id="13" name="Shape 12"/>
          <p:cNvSpPr/>
          <p:nvPr/>
        </p:nvSpPr>
        <p:spPr>
          <a:xfrm>
            <a:off x="4261104" y="1207008"/>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hape 13"/>
          <p:cNvSpPr/>
          <p:nvPr/>
        </p:nvSpPr>
        <p:spPr>
          <a:xfrm>
            <a:off x="4261104" y="1207008"/>
            <a:ext cx="54864" cy="19385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462272" y="1335024"/>
            <a:ext cx="365760" cy="274320"/>
          </a:xfrm>
          <a:prstGeom prst="rect">
            <a:avLst/>
          </a:prstGeom>
          <a:noFill/>
        </p:spPr>
        <p:txBody>
          <a:bodyPr wrap="square" lIns="0" rIns="0" tIns="0" bIns="0" anchor="ctr">
            <a:spAutoFit/>
          </a:bodyPr>
          <a:lstStyle/>
          <a:p>
            <a:r>
              <a:rPr sz="1600" b="0" i="0">
                <a:solidFill>
                  <a:srgbClr val="595959"/>
                </a:solidFill>
                <a:latin typeface="Trenda IG Text Light"/>
              </a:rPr>
              <a:t>02</a:t>
            </a:r>
          </a:p>
        </p:txBody>
      </p:sp>
      <p:sp>
        <p:nvSpPr>
          <p:cNvPr id="16" name="Text 15"/>
          <p:cNvSpPr txBox="1"/>
          <p:nvPr/>
        </p:nvSpPr>
        <p:spPr>
          <a:xfrm>
            <a:off x="4864608" y="1316736"/>
            <a:ext cx="2935224" cy="310896"/>
          </a:xfrm>
          <a:prstGeom prst="rect">
            <a:avLst/>
          </a:prstGeom>
          <a:noFill/>
        </p:spPr>
        <p:txBody>
          <a:bodyPr wrap="square" lIns="0" rIns="0" tIns="0" bIns="0" anchor="ctr">
            <a:spAutoFit/>
          </a:bodyPr>
          <a:lstStyle/>
          <a:p>
            <a:r>
              <a:rPr sz="1200" b="1" i="0">
                <a:solidFill>
                  <a:srgbClr val="000000"/>
                </a:solidFill>
                <a:latin typeface="Trenda IG Text"/>
              </a:rPr>
              <a:t>Agent legibility</a:t>
            </a:r>
          </a:p>
        </p:txBody>
      </p:sp>
      <p:sp>
        <p:nvSpPr>
          <p:cNvPr id="17" name="Text 16"/>
          <p:cNvSpPr txBox="1"/>
          <p:nvPr/>
        </p:nvSpPr>
        <p:spPr>
          <a:xfrm>
            <a:off x="4462272" y="1664208"/>
            <a:ext cx="3300984" cy="201168"/>
          </a:xfrm>
          <a:prstGeom prst="rect">
            <a:avLst/>
          </a:prstGeom>
          <a:noFill/>
        </p:spPr>
        <p:txBody>
          <a:bodyPr wrap="square" lIns="0" rIns="0" tIns="0" bIns="0" anchor="t">
            <a:spAutoFit/>
          </a:bodyPr>
          <a:lstStyle/>
          <a:p>
            <a:r>
              <a:rPr sz="850" b="0" i="0">
                <a:solidFill>
                  <a:srgbClr val="595959"/>
                </a:solidFill>
                <a:latin typeface="Trenda IG Text"/>
              </a:rPr>
              <a:t>Make the estate readable to an agent</a:t>
            </a:r>
          </a:p>
        </p:txBody>
      </p:sp>
      <p:sp>
        <p:nvSpPr>
          <p:cNvPr id="18" name="Shape 17"/>
          <p:cNvSpPr/>
          <p:nvPr/>
        </p:nvSpPr>
        <p:spPr>
          <a:xfrm>
            <a:off x="4462272" y="1920240"/>
            <a:ext cx="330098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4462272" y="1993392"/>
            <a:ext cx="330098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20" name="Text 19"/>
          <p:cNvSpPr txBox="1"/>
          <p:nvPr/>
        </p:nvSpPr>
        <p:spPr>
          <a:xfrm>
            <a:off x="4462272" y="2176272"/>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AGENTS.md in each Git repo: the map Codex reads first</a:t>
            </a:r>
          </a:p>
          <a:p>
            <a:pPr>
              <a:spcAft>
                <a:spcPts val="300"/>
              </a:spcAft>
            </a:pPr>
            <a:r>
              <a:rPr sz="800" b="0" i="0">
                <a:solidFill>
                  <a:srgbClr val="00D6F2"/>
                </a:solidFill>
                <a:latin typeface="Trenda IG Text"/>
              </a:rPr>
              <a:t>▪  </a:t>
            </a:r>
            <a:r>
              <a:rPr sz="800" b="0" i="0">
                <a:solidFill>
                  <a:srgbClr val="000000"/>
                </a:solidFill>
                <a:latin typeface="Trenda IG Text"/>
              </a:rPr>
              <a:t>Points to Ascension standards, pod skills and graph tools</a:t>
            </a:r>
          </a:p>
          <a:p>
            <a:pPr>
              <a:spcAft>
                <a:spcPts val="300"/>
              </a:spcAft>
            </a:pPr>
            <a:r>
              <a:rPr sz="800" b="0" i="0">
                <a:solidFill>
                  <a:srgbClr val="00D6F2"/>
                </a:solidFill>
                <a:latin typeface="Trenda IG Text"/>
              </a:rPr>
              <a:t>▪  </a:t>
            </a:r>
            <a:r>
              <a:rPr sz="800" b="0" i="0">
                <a:solidFill>
                  <a:srgbClr val="000000"/>
                </a:solidFill>
                <a:latin typeface="Trenda IG Text"/>
              </a:rPr>
              <a:t>Versioned with the code; access follows repo permissions</a:t>
            </a:r>
          </a:p>
        </p:txBody>
      </p:sp>
      <p:sp>
        <p:nvSpPr>
          <p:cNvPr id="21" name="Shape 20"/>
          <p:cNvSpPr/>
          <p:nvPr/>
        </p:nvSpPr>
        <p:spPr>
          <a:xfrm>
            <a:off x="8110727" y="1207008"/>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8110727" y="1207008"/>
            <a:ext cx="54864" cy="19385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8311896" y="1335024"/>
            <a:ext cx="365760" cy="274320"/>
          </a:xfrm>
          <a:prstGeom prst="rect">
            <a:avLst/>
          </a:prstGeom>
          <a:noFill/>
        </p:spPr>
        <p:txBody>
          <a:bodyPr wrap="square" lIns="0" rIns="0" tIns="0" bIns="0" anchor="ctr">
            <a:spAutoFit/>
          </a:bodyPr>
          <a:lstStyle/>
          <a:p>
            <a:r>
              <a:rPr sz="1600" b="0" i="0">
                <a:solidFill>
                  <a:srgbClr val="595959"/>
                </a:solidFill>
                <a:latin typeface="Trenda IG Text Light"/>
              </a:rPr>
              <a:t>03</a:t>
            </a:r>
          </a:p>
        </p:txBody>
      </p:sp>
      <p:sp>
        <p:nvSpPr>
          <p:cNvPr id="24" name="Text 23"/>
          <p:cNvSpPr txBox="1"/>
          <p:nvPr/>
        </p:nvSpPr>
        <p:spPr>
          <a:xfrm>
            <a:off x="8714232" y="1316736"/>
            <a:ext cx="2935224" cy="310896"/>
          </a:xfrm>
          <a:prstGeom prst="rect">
            <a:avLst/>
          </a:prstGeom>
          <a:noFill/>
        </p:spPr>
        <p:txBody>
          <a:bodyPr wrap="square" lIns="0" rIns="0" tIns="0" bIns="0" anchor="ctr">
            <a:spAutoFit/>
          </a:bodyPr>
          <a:lstStyle/>
          <a:p>
            <a:r>
              <a:rPr sz="1200" b="1" i="0">
                <a:solidFill>
                  <a:srgbClr val="000000"/>
                </a:solidFill>
                <a:latin typeface="Trenda IG Text"/>
              </a:rPr>
              <a:t>Architectural constraints</a:t>
            </a:r>
          </a:p>
        </p:txBody>
      </p:sp>
      <p:sp>
        <p:nvSpPr>
          <p:cNvPr id="25" name="Text 24"/>
          <p:cNvSpPr txBox="1"/>
          <p:nvPr/>
        </p:nvSpPr>
        <p:spPr>
          <a:xfrm>
            <a:off x="8311896" y="1664208"/>
            <a:ext cx="3300984" cy="201168"/>
          </a:xfrm>
          <a:prstGeom prst="rect">
            <a:avLst/>
          </a:prstGeom>
          <a:noFill/>
        </p:spPr>
        <p:txBody>
          <a:bodyPr wrap="square" lIns="0" rIns="0" tIns="0" bIns="0" anchor="t">
            <a:spAutoFit/>
          </a:bodyPr>
          <a:lstStyle/>
          <a:p>
            <a:r>
              <a:rPr sz="850" b="0" i="0">
                <a:solidFill>
                  <a:srgbClr val="595959"/>
                </a:solidFill>
                <a:latin typeface="Trenda IG Text"/>
              </a:rPr>
              <a:t>Rules a machine enforces, not a reviewer</a:t>
            </a:r>
          </a:p>
        </p:txBody>
      </p:sp>
      <p:sp>
        <p:nvSpPr>
          <p:cNvPr id="26" name="Shape 25"/>
          <p:cNvSpPr/>
          <p:nvPr/>
        </p:nvSpPr>
        <p:spPr>
          <a:xfrm>
            <a:off x="8311896" y="1920240"/>
            <a:ext cx="330098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8311896" y="1993392"/>
            <a:ext cx="330098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28" name="Text 27"/>
          <p:cNvSpPr txBox="1"/>
          <p:nvPr/>
        </p:nvSpPr>
        <p:spPr>
          <a:xfrm>
            <a:off x="8311896" y="2176272"/>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Change Guardian rules (OPA) at design, commit, promotion</a:t>
            </a:r>
          </a:p>
          <a:p>
            <a:pPr>
              <a:spcAft>
                <a:spcPts val="300"/>
              </a:spcAft>
            </a:pPr>
            <a:r>
              <a:rPr sz="800" b="0" i="0">
                <a:solidFill>
                  <a:srgbClr val="00D6F2"/>
                </a:solidFill>
                <a:latin typeface="Trenda IG Text"/>
              </a:rPr>
              <a:t>▪  </a:t>
            </a:r>
            <a:r>
              <a:rPr sz="800" b="0" i="0">
                <a:solidFill>
                  <a:srgbClr val="000000"/>
                </a:solidFill>
                <a:latin typeface="Trenda IG Text"/>
              </a:rPr>
              <a:t>Code Analyzer, pre-commit and CI checks on every change</a:t>
            </a:r>
          </a:p>
          <a:p>
            <a:pPr>
              <a:spcAft>
                <a:spcPts val="300"/>
              </a:spcAft>
            </a:pPr>
            <a:r>
              <a:rPr sz="800" b="0" i="0">
                <a:solidFill>
                  <a:srgbClr val="00D6F2"/>
                </a:solidFill>
                <a:latin typeface="Trenda IG Text"/>
              </a:rPr>
              <a:t>▪  </a:t>
            </a:r>
            <a:r>
              <a:rPr sz="800" b="0" i="0">
                <a:solidFill>
                  <a:srgbClr val="000000"/>
                </a:solidFill>
                <a:latin typeface="Trenda IG Text"/>
              </a:rPr>
              <a:t>Gateway allow list; every output validated against its schema</a:t>
            </a:r>
          </a:p>
        </p:txBody>
      </p:sp>
      <p:sp>
        <p:nvSpPr>
          <p:cNvPr id="29" name="Shape 28"/>
          <p:cNvSpPr/>
          <p:nvPr/>
        </p:nvSpPr>
        <p:spPr>
          <a:xfrm>
            <a:off x="411480" y="3291840"/>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9"/>
          <p:cNvSpPr/>
          <p:nvPr/>
        </p:nvSpPr>
        <p:spPr>
          <a:xfrm>
            <a:off x="411480" y="3291840"/>
            <a:ext cx="54864" cy="19385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612648" y="3419856"/>
            <a:ext cx="365760" cy="274320"/>
          </a:xfrm>
          <a:prstGeom prst="rect">
            <a:avLst/>
          </a:prstGeom>
          <a:noFill/>
        </p:spPr>
        <p:txBody>
          <a:bodyPr wrap="square" lIns="0" rIns="0" tIns="0" bIns="0" anchor="ctr">
            <a:spAutoFit/>
          </a:bodyPr>
          <a:lstStyle/>
          <a:p>
            <a:r>
              <a:rPr sz="1600" b="0" i="0">
                <a:solidFill>
                  <a:srgbClr val="595959"/>
                </a:solidFill>
                <a:latin typeface="Trenda IG Text Light"/>
              </a:rPr>
              <a:t>04</a:t>
            </a:r>
          </a:p>
        </p:txBody>
      </p:sp>
      <p:sp>
        <p:nvSpPr>
          <p:cNvPr id="32" name="Text 31"/>
          <p:cNvSpPr txBox="1"/>
          <p:nvPr/>
        </p:nvSpPr>
        <p:spPr>
          <a:xfrm>
            <a:off x="1014984" y="3401568"/>
            <a:ext cx="2935224" cy="310896"/>
          </a:xfrm>
          <a:prstGeom prst="rect">
            <a:avLst/>
          </a:prstGeom>
          <a:noFill/>
        </p:spPr>
        <p:txBody>
          <a:bodyPr wrap="square" lIns="0" rIns="0" tIns="0" bIns="0" anchor="ctr">
            <a:spAutoFit/>
          </a:bodyPr>
          <a:lstStyle/>
          <a:p>
            <a:r>
              <a:rPr sz="1200" b="1" i="0">
                <a:solidFill>
                  <a:srgbClr val="000000"/>
                </a:solidFill>
                <a:latin typeface="Trenda IG Text"/>
              </a:rPr>
              <a:t>Feedback loops and evaluation</a:t>
            </a:r>
          </a:p>
        </p:txBody>
      </p:sp>
      <p:sp>
        <p:nvSpPr>
          <p:cNvPr id="33" name="Text 32"/>
          <p:cNvSpPr txBox="1"/>
          <p:nvPr/>
        </p:nvSpPr>
        <p:spPr>
          <a:xfrm>
            <a:off x="612648" y="3749040"/>
            <a:ext cx="3300984" cy="201168"/>
          </a:xfrm>
          <a:prstGeom prst="rect">
            <a:avLst/>
          </a:prstGeom>
          <a:noFill/>
        </p:spPr>
        <p:txBody>
          <a:bodyPr wrap="square" lIns="0" rIns="0" tIns="0" bIns="0" anchor="t">
            <a:spAutoFit/>
          </a:bodyPr>
          <a:lstStyle/>
          <a:p>
            <a:r>
              <a:rPr sz="850" b="0" i="0">
                <a:solidFill>
                  <a:srgbClr val="595959"/>
                </a:solidFill>
                <a:latin typeface="Trenda IG Text"/>
              </a:rPr>
              <a:t>Every miss makes the harness better</a:t>
            </a:r>
          </a:p>
        </p:txBody>
      </p:sp>
      <p:sp>
        <p:nvSpPr>
          <p:cNvPr id="34" name="Shape 33"/>
          <p:cNvSpPr/>
          <p:nvPr/>
        </p:nvSpPr>
        <p:spPr>
          <a:xfrm>
            <a:off x="612648" y="4005072"/>
            <a:ext cx="330098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612648" y="4078224"/>
            <a:ext cx="330098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36" name="Text 35"/>
          <p:cNvSpPr txBox="1"/>
          <p:nvPr/>
        </p:nvSpPr>
        <p:spPr>
          <a:xfrm>
            <a:off x="612648" y="4261104"/>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Evaluation set gates every prompt, skill or model change</a:t>
            </a:r>
          </a:p>
          <a:p>
            <a:pPr>
              <a:spcAft>
                <a:spcPts val="300"/>
              </a:spcAft>
            </a:pPr>
            <a:r>
              <a:rPr sz="800" b="0" i="0">
                <a:solidFill>
                  <a:srgbClr val="00D6F2"/>
                </a:solidFill>
                <a:latin typeface="Trenda IG Text"/>
              </a:rPr>
              <a:t>▪  </a:t>
            </a:r>
            <a:r>
              <a:rPr sz="800" b="0" i="0">
                <a:solidFill>
                  <a:srgbClr val="000000"/>
                </a:solidFill>
                <a:latin typeface="Trenda IG Text"/>
              </a:rPr>
              <a:t>Rejected outputs become new evaluation cases</a:t>
            </a:r>
          </a:p>
          <a:p>
            <a:pPr>
              <a:spcAft>
                <a:spcPts val="300"/>
              </a:spcAft>
            </a:pPr>
            <a:r>
              <a:rPr sz="800" b="0" i="0">
                <a:solidFill>
                  <a:srgbClr val="00D6F2"/>
                </a:solidFill>
                <a:latin typeface="Trenda IG Text"/>
              </a:rPr>
              <a:t>▪  </a:t>
            </a:r>
            <a:r>
              <a:rPr sz="800" b="0" i="0">
                <a:solidFill>
                  <a:srgbClr val="000000"/>
                </a:solidFill>
                <a:latin typeface="Trenda IG Text"/>
              </a:rPr>
              <a:t>Incidents become new Guardian rules</a:t>
            </a:r>
          </a:p>
        </p:txBody>
      </p:sp>
      <p:sp>
        <p:nvSpPr>
          <p:cNvPr id="37" name="Shape 36"/>
          <p:cNvSpPr/>
          <p:nvPr/>
        </p:nvSpPr>
        <p:spPr>
          <a:xfrm>
            <a:off x="4261104" y="3291840"/>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261104" y="3291840"/>
            <a:ext cx="54864" cy="19385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462272" y="3419856"/>
            <a:ext cx="365760" cy="274320"/>
          </a:xfrm>
          <a:prstGeom prst="rect">
            <a:avLst/>
          </a:prstGeom>
          <a:noFill/>
        </p:spPr>
        <p:txBody>
          <a:bodyPr wrap="square" lIns="0" rIns="0" tIns="0" bIns="0" anchor="ctr">
            <a:spAutoFit/>
          </a:bodyPr>
          <a:lstStyle/>
          <a:p>
            <a:r>
              <a:rPr sz="1600" b="0" i="0">
                <a:solidFill>
                  <a:srgbClr val="595959"/>
                </a:solidFill>
                <a:latin typeface="Trenda IG Text Light"/>
              </a:rPr>
              <a:t>05</a:t>
            </a:r>
          </a:p>
        </p:txBody>
      </p:sp>
      <p:sp>
        <p:nvSpPr>
          <p:cNvPr id="40" name="Text 39"/>
          <p:cNvSpPr txBox="1"/>
          <p:nvPr/>
        </p:nvSpPr>
        <p:spPr>
          <a:xfrm>
            <a:off x="4864608" y="3401568"/>
            <a:ext cx="2935224" cy="310896"/>
          </a:xfrm>
          <a:prstGeom prst="rect">
            <a:avLst/>
          </a:prstGeom>
          <a:noFill/>
        </p:spPr>
        <p:txBody>
          <a:bodyPr wrap="square" lIns="0" rIns="0" tIns="0" bIns="0" anchor="ctr">
            <a:spAutoFit/>
          </a:bodyPr>
          <a:lstStyle/>
          <a:p>
            <a:r>
              <a:rPr sz="1200" b="1" i="0">
                <a:solidFill>
                  <a:srgbClr val="000000"/>
                </a:solidFill>
                <a:latin typeface="Trenda IG Text"/>
              </a:rPr>
              <a:t>Entropy management</a:t>
            </a:r>
          </a:p>
        </p:txBody>
      </p:sp>
      <p:sp>
        <p:nvSpPr>
          <p:cNvPr id="41" name="Text 40"/>
          <p:cNvSpPr txBox="1"/>
          <p:nvPr/>
        </p:nvSpPr>
        <p:spPr>
          <a:xfrm>
            <a:off x="4462272" y="3749040"/>
            <a:ext cx="3300984" cy="201168"/>
          </a:xfrm>
          <a:prstGeom prst="rect">
            <a:avLst/>
          </a:prstGeom>
          <a:noFill/>
        </p:spPr>
        <p:txBody>
          <a:bodyPr wrap="square" lIns="0" rIns="0" tIns="0" bIns="0" anchor="t">
            <a:spAutoFit/>
          </a:bodyPr>
          <a:lstStyle/>
          <a:p>
            <a:r>
              <a:rPr sz="850" b="0" i="0">
                <a:solidFill>
                  <a:srgbClr val="595959"/>
                </a:solidFill>
                <a:latin typeface="Trenda IG Text"/>
              </a:rPr>
              <a:t>Spot decay early and tell the owners</a:t>
            </a:r>
          </a:p>
        </p:txBody>
      </p:sp>
      <p:sp>
        <p:nvSpPr>
          <p:cNvPr id="42" name="Shape 41"/>
          <p:cNvSpPr/>
          <p:nvPr/>
        </p:nvSpPr>
        <p:spPr>
          <a:xfrm>
            <a:off x="4462272" y="4005072"/>
            <a:ext cx="330098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462272" y="4078224"/>
            <a:ext cx="330098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44" name="Text 43"/>
          <p:cNvSpPr txBox="1"/>
          <p:nvPr/>
        </p:nvSpPr>
        <p:spPr>
          <a:xfrm>
            <a:off x="4462272" y="4261104"/>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Weekly org health report per pod: unused fields, duplicate Flows</a:t>
            </a:r>
          </a:p>
          <a:p>
            <a:pPr>
              <a:spcAft>
                <a:spcPts val="300"/>
              </a:spcAft>
            </a:pPr>
            <a:r>
              <a:rPr sz="800" b="0" i="0">
                <a:solidFill>
                  <a:srgbClr val="00D6F2"/>
                </a:solidFill>
                <a:latin typeface="Trenda IG Text"/>
              </a:rPr>
              <a:t>▪  </a:t>
            </a:r>
            <a:r>
              <a:rPr sz="800" b="0" i="0">
                <a:solidFill>
                  <a:srgbClr val="000000"/>
                </a:solidFill>
                <a:latin typeface="Trenda IG Text"/>
              </a:rPr>
              <a:t>Stale Confluence pages flagged to their owners</a:t>
            </a:r>
          </a:p>
          <a:p>
            <a:pPr>
              <a:spcAft>
                <a:spcPts val="300"/>
              </a:spcAft>
            </a:pPr>
            <a:r>
              <a:rPr sz="800" b="0" i="0">
                <a:solidFill>
                  <a:srgbClr val="00D6F2"/>
                </a:solidFill>
                <a:latin typeface="Trenda IG Text"/>
              </a:rPr>
              <a:t>▪  </a:t>
            </a:r>
            <a:r>
              <a:rPr sz="800" b="0" i="0">
                <a:solidFill>
                  <a:srgbClr val="000000"/>
                </a:solidFill>
                <a:latin typeface="Trenda IG Text"/>
              </a:rPr>
              <a:t>Read-only: owners decide what to fix, through normal stories</a:t>
            </a:r>
          </a:p>
        </p:txBody>
      </p:sp>
      <p:sp>
        <p:nvSpPr>
          <p:cNvPr id="45" name="Shape 44"/>
          <p:cNvSpPr/>
          <p:nvPr/>
        </p:nvSpPr>
        <p:spPr>
          <a:xfrm>
            <a:off x="8110727" y="3291840"/>
            <a:ext cx="3666744" cy="19385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5"/>
          <p:cNvSpPr/>
          <p:nvPr/>
        </p:nvSpPr>
        <p:spPr>
          <a:xfrm>
            <a:off x="8110727" y="3291840"/>
            <a:ext cx="54864" cy="193852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311896" y="3419856"/>
            <a:ext cx="365760" cy="274320"/>
          </a:xfrm>
          <a:prstGeom prst="rect">
            <a:avLst/>
          </a:prstGeom>
          <a:noFill/>
        </p:spPr>
        <p:txBody>
          <a:bodyPr wrap="square" lIns="0" rIns="0" tIns="0" bIns="0" anchor="ctr">
            <a:spAutoFit/>
          </a:bodyPr>
          <a:lstStyle/>
          <a:p>
            <a:r>
              <a:rPr sz="1600" b="0" i="0">
                <a:solidFill>
                  <a:srgbClr val="595959"/>
                </a:solidFill>
                <a:latin typeface="Trenda IG Text Light"/>
              </a:rPr>
              <a:t>06</a:t>
            </a:r>
          </a:p>
        </p:txBody>
      </p:sp>
      <p:sp>
        <p:nvSpPr>
          <p:cNvPr id="48" name="Text 47"/>
          <p:cNvSpPr txBox="1"/>
          <p:nvPr/>
        </p:nvSpPr>
        <p:spPr>
          <a:xfrm>
            <a:off x="8714232" y="3401568"/>
            <a:ext cx="2935224" cy="310896"/>
          </a:xfrm>
          <a:prstGeom prst="rect">
            <a:avLst/>
          </a:prstGeom>
          <a:noFill/>
        </p:spPr>
        <p:txBody>
          <a:bodyPr wrap="square" lIns="0" rIns="0" tIns="0" bIns="0" anchor="ctr">
            <a:spAutoFit/>
          </a:bodyPr>
          <a:lstStyle/>
          <a:p>
            <a:r>
              <a:rPr sz="1200" b="1" i="0">
                <a:solidFill>
                  <a:srgbClr val="000000"/>
                </a:solidFill>
                <a:latin typeface="Trenda IG Text"/>
              </a:rPr>
              <a:t>Observability and steering</a:t>
            </a:r>
          </a:p>
        </p:txBody>
      </p:sp>
      <p:sp>
        <p:nvSpPr>
          <p:cNvPr id="49" name="Text 48"/>
          <p:cNvSpPr txBox="1"/>
          <p:nvPr/>
        </p:nvSpPr>
        <p:spPr>
          <a:xfrm>
            <a:off x="8311896" y="3749040"/>
            <a:ext cx="3300984" cy="201168"/>
          </a:xfrm>
          <a:prstGeom prst="rect">
            <a:avLst/>
          </a:prstGeom>
          <a:noFill/>
        </p:spPr>
        <p:txBody>
          <a:bodyPr wrap="square" lIns="0" rIns="0" tIns="0" bIns="0" anchor="t">
            <a:spAutoFit/>
          </a:bodyPr>
          <a:lstStyle/>
          <a:p>
            <a:r>
              <a:rPr sz="850" b="0" i="0">
                <a:solidFill>
                  <a:srgbClr val="595959"/>
                </a:solidFill>
                <a:latin typeface="Trenda IG Text"/>
              </a:rPr>
              <a:t>Humans steer; agents execute</a:t>
            </a:r>
          </a:p>
        </p:txBody>
      </p:sp>
      <p:sp>
        <p:nvSpPr>
          <p:cNvPr id="50" name="Shape 49"/>
          <p:cNvSpPr/>
          <p:nvPr/>
        </p:nvSpPr>
        <p:spPr>
          <a:xfrm>
            <a:off x="8311896" y="4005072"/>
            <a:ext cx="3300984"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8311896" y="4078224"/>
            <a:ext cx="3300984" cy="128016"/>
          </a:xfrm>
          <a:prstGeom prst="rect">
            <a:avLst/>
          </a:prstGeom>
          <a:noFill/>
        </p:spPr>
        <p:txBody>
          <a:bodyPr wrap="square" lIns="0" rIns="0" tIns="0" bIns="0" anchor="ctr">
            <a:spAutoFit/>
          </a:bodyPr>
          <a:lstStyle/>
          <a:p>
            <a:r>
              <a:rPr sz="650" b="1" i="0" spc="150">
                <a:solidFill>
                  <a:srgbClr val="000000"/>
                </a:solidFill>
                <a:latin typeface="Trenda IG Text"/>
              </a:rPr>
              <a:t>IN OUR HARNESS</a:t>
            </a:r>
          </a:p>
        </p:txBody>
      </p:sp>
      <p:sp>
        <p:nvSpPr>
          <p:cNvPr id="52" name="Text 51"/>
          <p:cNvSpPr txBox="1"/>
          <p:nvPr/>
        </p:nvSpPr>
        <p:spPr>
          <a:xfrm>
            <a:off x="8311896" y="4261104"/>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000000"/>
                </a:solidFill>
                <a:latin typeface="Trenda IG Text"/>
              </a:rPr>
              <a:t>Change passport and gateway log record every action</a:t>
            </a:r>
          </a:p>
          <a:p>
            <a:pPr>
              <a:spcAft>
                <a:spcPts val="300"/>
              </a:spcAft>
            </a:pPr>
            <a:r>
              <a:rPr sz="800" b="0" i="0">
                <a:solidFill>
                  <a:srgbClr val="00D6F2"/>
                </a:solidFill>
                <a:latin typeface="Trenda IG Text"/>
              </a:rPr>
              <a:t>▪  </a:t>
            </a:r>
            <a:r>
              <a:rPr sz="800" b="0" i="0">
                <a:solidFill>
                  <a:srgbClr val="000000"/>
                </a:solidFill>
                <a:latin typeface="Trenda IG Text"/>
              </a:rPr>
              <a:t>Humans approve at H1-H4 and CAB; no agent reaches production</a:t>
            </a:r>
          </a:p>
          <a:p>
            <a:pPr>
              <a:spcAft>
                <a:spcPts val="300"/>
              </a:spcAft>
            </a:pPr>
            <a:r>
              <a:rPr sz="800" b="0" i="0">
                <a:solidFill>
                  <a:srgbClr val="00D6F2"/>
                </a:solidFill>
                <a:latin typeface="Trenda IG Text"/>
              </a:rPr>
              <a:t>▪  </a:t>
            </a:r>
            <a:r>
              <a:rPr sz="800" b="0" i="0">
                <a:solidFill>
                  <a:srgbClr val="000000"/>
                </a:solidFill>
                <a:latin typeface="Trenda IG Text"/>
              </a:rPr>
              <a:t>Risk-routed approvals spend people's attention where risk is</a:t>
            </a:r>
          </a:p>
        </p:txBody>
      </p:sp>
      <p:sp>
        <p:nvSpPr>
          <p:cNvPr id="53" name="Shape 52"/>
          <p:cNvSpPr/>
          <p:nvPr/>
        </p:nvSpPr>
        <p:spPr>
          <a:xfrm>
            <a:off x="411480" y="5358384"/>
            <a:ext cx="11365992" cy="5669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0080" y="5358384"/>
            <a:ext cx="2194560" cy="566928"/>
          </a:xfrm>
          <a:prstGeom prst="rect">
            <a:avLst/>
          </a:prstGeom>
          <a:noFill/>
        </p:spPr>
        <p:txBody>
          <a:bodyPr wrap="square" lIns="0" rIns="0" tIns="0" bIns="0" anchor="ctr">
            <a:spAutoFit/>
          </a:bodyPr>
          <a:lstStyle/>
          <a:p>
            <a:r>
              <a:rPr sz="750" b="1" i="0" spc="200">
                <a:solidFill>
                  <a:srgbClr val="FFD700"/>
                </a:solidFill>
                <a:latin typeface="Trenda IG Text"/>
              </a:rPr>
              <a:t>THE OPERATING RULE</a:t>
            </a:r>
          </a:p>
        </p:txBody>
      </p:sp>
      <p:sp>
        <p:nvSpPr>
          <p:cNvPr id="55" name="Text 54"/>
          <p:cNvSpPr txBox="1"/>
          <p:nvPr/>
        </p:nvSpPr>
        <p:spPr>
          <a:xfrm>
            <a:off x="2788920" y="5358384"/>
            <a:ext cx="8759952" cy="566928"/>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 from the next run.</a:t>
            </a:r>
          </a:p>
        </p:txBody>
      </p:sp>
      <p:sp>
        <p:nvSpPr>
          <p:cNvPr id="56" name="Text 55"/>
          <p:cNvSpPr txBox="1"/>
          <p:nvPr/>
        </p:nvSpPr>
        <p:spPr>
          <a:xfrm>
            <a:off x="411480" y="5980176"/>
            <a:ext cx="11365992" cy="182880"/>
          </a:xfrm>
          <a:prstGeom prst="rect">
            <a:avLst/>
          </a:prstGeom>
          <a:noFill/>
        </p:spPr>
        <p:txBody>
          <a:bodyPr wrap="square" lIns="0" rIns="0" tIns="0" bIns="0" anchor="t">
            <a:spAutoFit/>
          </a:bodyPr>
          <a:lstStyle/>
          <a:p>
            <a:r>
              <a:rPr sz="650" b="0" i="0">
                <a:solidFill>
                  <a:srgbClr val="595959"/>
                </a:solidFill>
                <a:latin typeface="Trenda IG Text"/>
              </a:rPr>
              <a:t>Harness engineering as described by OpenAI's Codex team ("Harness engineering", February 2026) and Martin Fowler; mapped here to the Ascension design. Health reports are read-only Review Agent runs: they change nothing in the org.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