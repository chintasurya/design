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4" r:id="rId38"/>
    <p:sldId id="345" r:id="rId39"/>
    <p:sldId id="339" r:id="rId33"/>
    <p:sldId id="346" r:id="rId40"/>
    <p:sldId id="324" r:id="rId7"/>
    <p:sldId id="325" r:id="rId8"/>
    <p:sldId id="327" r:id="rId9"/>
    <p:sldId id="326" r:id="rId11"/>
    <p:sldId id="340" r:id="rId34"/>
    <p:sldId id="341" r:id="rId35"/>
    <p:sldId id="347" r:id="rId41"/>
    <p:sldId id="348" r:id="rId42"/>
    <p:sldId id="342" r:id="rId36"/>
    <p:sldId id="343" r:id="rId37"/>
    <p:sldId id="338" r:id="rId16"/>
    <p:sldId id="349" r:id="rId43"/>
    <p:sldId id="328" r:id="rId10"/>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set by configuration in the agent runtime; the tools sit behind MCP, so they stay the same whichever model runs them.</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milliseconds,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ADLC?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ADLC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ADLC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up to five times, then the step stops and goes to a named owner.</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Evals are how we earn reliability   (about 4 minutes)</a:t>
            </a:r>
          </a:p>
          <a:p/>
          <a:p>
            <a:r>
              <a:t>KEY MESSAGE</a:t>
            </a:r>
          </a:p>
          <a:p>
            <a:r>
              <a:t>AI is non-deterministic, so reliability is not assumed; it is earned, run by run. Evals are the engine that earns it: every output is tested before it moves on, and every miss becomes a new test. Reliability = observability + evals, inside guardrails.</a:t>
            </a:r>
          </a:p>
          <a:p/>
          <a:p>
            <a:r>
              <a:t>WALK IT</a:t>
            </a:r>
          </a:p>
          <a:p>
            <a:r>
              <a:t>Inputs (left):</a:t>
            </a:r>
          </a:p>
          <a:p>
            <a:r>
              <a:t>- Agent output: what each step produced (brief, design, code, tests).</a:t>
            </a:r>
          </a:p>
          <a:p>
            <a:r>
              <a:t>- Agent traces: observability. Every prompt, skill version, tool call, decision and cost. Without traces you cannot evaluate.</a:t>
            </a:r>
          </a:p>
          <a:p>
            <a:r>
              <a:t>- Golden set and weekly sample: real Ascension changes labelled by your experts, plus a weekly blind sample of approved changes. This is the ground truth.</a:t>
            </a:r>
          </a:p>
          <a:p/>
          <a:p>
            <a:r>
              <a:t>The engine (centre), scored on every run:</a:t>
            </a:r>
          </a:p>
          <a:p>
            <a:r>
              <a:t>- Answer relevancy: does the output answer the story that was asked?</a:t>
            </a:r>
          </a:p>
          <a:p>
            <a:r>
              <a:t>- Groundedness: is every claim backed by a graph fact or a tool response? This is how we catch hallucination.</a:t>
            </a:r>
          </a:p>
          <a:p>
            <a:r>
              <a:t>- Tool sequence: did the agent call the right tools in the right order, without repeating them? Measured with precision and recall.</a:t>
            </a:r>
          </a:p>
          <a:p>
            <a:r>
              <a:t>- pass@k: right first time (pass@1), and right by the fifth and last attempt (pass@5).</a:t>
            </a:r>
          </a:p>
          <a:p>
            <a:r>
              <a:t>Where the Review Agent acts as the judge, its verdicts are themselves measured against your tech leads.</a:t>
            </a:r>
          </a:p>
          <a:p/>
          <a:p>
            <a:r>
              <a:t>Outcomes (right):</a:t>
            </a:r>
          </a:p>
          <a:p>
            <a:r>
              <a:t>- Pass: output guardrails, then people approve at H1-H4 and CAB, then release. This is the reliable path.</a:t>
            </a:r>
          </a:p>
          <a:p>
            <a:r>
              <a:t>- Retry (the magenta arc over the top): back to the agent with the failure as feedback, at most five times; then the step stops, nothing is released, and a named owner takes over. No infinite loops.</a:t>
            </a:r>
          </a:p>
          <a:p>
            <a:r>
              <a:t>- Learn (the yellow arc underneath): every miss is diagnosed (which agent, step or context failed), the harness is tuned, and the fix is re-tested on the golden set; the miss becomes a new test case. That is the closed loop.</a:t>
            </a:r>
          </a:p>
          <a:p/>
          <a:p>
            <a:r>
              <a:t>Around it all, guardrails in and out: harmful prompts and injection blocked, patient data redacted, no agent with a production credential, and agents can never edit tests or the evaluation set.</a:t>
            </a:r>
          </a:p>
          <a:p/>
          <a:p>
            <a:r>
              <a:t>Top bar, the formula: reliability = observability (the traces) + evals (the engine in the centre), protected by guardrails (the frame around it).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all pods   (about 3 minutes)</a:t>
            </a:r>
          </a:p>
          <a:p/>
          <a:p>
            <a:r>
              <a:t>KEY MESSAGE</a:t>
            </a:r>
          </a:p>
          <a:p>
            <a:r>
              <a:t>Ascension spends about $16M a year across all pods, $48M over three years. Once the 18-month implementation is done and every pod is on the harness, annual spend comes down to about $7M in the first year after go-live, $5M in the second and $3M in the third: about $33M saved over three years, roughly 69% of the spend and about 7x the build fee.</a:t>
            </a:r>
          </a:p>
          <a:p/>
          <a:p>
            <a:r>
              <a:t>WALK IT</a:t>
            </a:r>
          </a:p>
          <a:p>
            <a:r>
              <a:t>- Top strip: the mechanism. In every pod, a squad of 4-5 developers and a QA becomes 1 developer directing the harness agent team, plus 1 QA. The agent drafts overnight; people design, review and approve. Every human gate stays.</a:t>
            </a:r>
          </a:p>
          <a:p>
            <a:r>
              <a:t>- The clock: these three years start after the implementation (month 19 on), when every pod is already live. The 18 months of build are not in these numbers.</a:t>
            </a:r>
          </a:p>
          <a:p>
            <a:r>
              <a:t>- Year 1 after go-live: $16M to about $7M, saving $9M (56%), as squads settle into the agent-first model.</a:t>
            </a:r>
          </a:p>
          <a:p>
            <a:r>
              <a:t>- Year 2: $16M to about $5M, saving $11M (69%), as agents take on more of each story.</a:t>
            </a:r>
          </a:p>
          <a:p>
            <a:r>
              <a:t>- Year 3: $16M to about $3M, saving $13M (81%), full run rate.</a:t>
            </a:r>
          </a:p>
          <a:p>
            <a:r>
              <a:t>- Three years: $48M becomes about $15M. $33M saved, about 7x the $4.79M fixed build fee, paid back within the first year after go-live.</a:t>
            </a:r>
          </a:p>
          <a:p/>
          <a:p>
            <a:r>
              <a:t>HOW THE NUMBERS ARE BUILT (for you, not the slide)</a:t>
            </a:r>
          </a:p>
          <a:p>
            <a:r>
              <a:t>- $16M a year is Ascension's figure for all pods.</a:t>
            </a:r>
          </a:p>
          <a:p>
            <a:r>
              <a:t>- "With the harness" includes the agent run cost and the managed service from month 19 (about $1.24M a year, commercials slide).</a:t>
            </a:r>
          </a:p>
          <a:p>
            <a:r>
              <a:t>- These are target figures set with Insight Global leadership. The business outcomes slide's 20-25% is the floor we commit to; every pod is measured against its own Phase 0 baseline.</a:t>
            </a:r>
          </a:p>
          <a:p/>
          <a:p>
            <a:r>
              <a:t>BE READY FOR</a:t>
            </a:r>
          </a:p>
          <a:p>
            <a:r>
              <a:t>- "Does year 1 overlap the rollout?" No. Year 1 starts after the 18-month implementation, with every pod live. During the build, savings are measured pod by pod against the Phase 0 baseline at each phase exit.</a:t>
            </a:r>
          </a:p>
          <a:p>
            <a:r>
              <a:t>- "What happens to the people?" Ascension chooses: redeploy to backlog and other work, absorb through attrition, or keep people and deliver more. Reviewed quarterly.</a:t>
            </a:r>
          </a:p>
          <a:p>
            <a:r>
              <a:t>- "Is it guaranteed?" The commitment is the floor and the phase exits; these figures are the target.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p>
            <a:r>
              <a:t>WHY IT MATTERS FOR ASCENSION</a:t>
            </a:r>
          </a:p>
          <a:p>
            <a:r>
              <a:t>Investing in the harness now is not throw-away work: every run, approval, rejection and incident recorded today is exactly the evidence the next stage needs to earn more autonomy safely.</a:t>
            </a:r>
          </a:p>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p>
            <a:r>
              <a:t>WHAT NEVER CHANGES (the band at the bottom)</a:t>
            </a:r>
          </a:p>
          <a:p>
            <a:r>
              <a:t>At every stage, Ascension sets the goals and the limits, keeps the final say on production, and can see and stop any run.</a:t>
            </a:r>
          </a:p>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p>
            <a:r>
              <a:t>KEY MESSAGE</a:t>
            </a:r>
          </a:p>
          <a:p>
            <a:r>
              <a:t>We do not only measure whether a story ended well. Each agent is scored on its own job, so when something slips we know exactly which agent to fix.</a:t>
            </a:r>
          </a:p>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Risks and mitigations   (about 3 minutes)</a:t>
            </a:r>
          </a:p>
          <a:p/>
          <a:p>
            <a:r>
              <a:t>KEY MESSAGE</a:t>
            </a:r>
          </a:p>
          <a:p>
            <a:r>
              <a:t>We are not asking Ascension to trust that nothing goes wrong. Every risk we can see has a mitigation already built into the phases, a signal that warns us early, and a named owner.</a:t>
            </a:r>
          </a:p>
          <a:p/>
          <a:p>
            <a:r>
              <a:t>WALK IT (pick three, do not read all nine)</a:t>
            </a:r>
          </a:p>
          <a:p>
            <a:r>
              <a:t>- Expert time (the only High / High): evals are only as good as the labels. We agree the hours per pod at Phase 0, agents pre-label and experts only confirm, and the weekly sample is small by design.</a:t>
            </a:r>
          </a:p>
          <a:p>
            <a:r>
              <a:t>- Patient data: low likelihood because the graph holds metadata, never patient records, and DLP runs in and out; high impact, so OpenAI's terms (BAA, zero data retention) are confirmed in Phase 0 and a pen test runs before production.</a:t>
            </a:r>
          </a:p>
          <a:p>
            <a:r>
              <a:t>- Adoption: the scale-up waits until two pilot pods have proven it on their own baseline. That is the strongest mitigation we have: pods see a peer pod's numbers, not our slides.</a:t>
            </a:r>
          </a:p>
          <a:p/>
          <a:p>
            <a:r>
              <a:t>HOW IT TIES TO THE REST OF THE DECK</a:t>
            </a:r>
          </a:p>
          <a:p>
            <a:r>
              <a:t>- Most mitigations are phase exits (the previous slide): nothing moves on until the exit is signed.</a:t>
            </a:r>
          </a:p>
          <a:p>
            <a:r>
              <a:t>- Quality and model drift are handled by the evals slide: every change passes the evaluation set, and every step stops after five attempts.</a:t>
            </a:r>
          </a:p>
          <a:p>
            <a:r>
              <a:t>- Cross-pod breakage is the Change Guardian (back-up slide).</a:t>
            </a:r>
          </a:p>
          <a:p/>
          <a:p>
            <a:r>
              <a:t>BE READY FOR</a:t>
            </a:r>
          </a:p>
          <a:p>
            <a:r>
              <a:t>- "What is your biggest risk?" Honest answer: expert time for labelling. Without labelled examples, the evals cannot be trusted, so we ask for it up front.</a:t>
            </a:r>
          </a:p>
          <a:p>
            <a:r>
              <a:t>- "What if Codex does not allow your plugin?" The harness runs headless on Cloud Run with the same tools and gateway; developers start runs from the approval page or Jira instead of Codex.</a:t>
            </a:r>
          </a:p>
          <a:p>
            <a:r>
              <a:t>- "Who owns the register?" Our engagement lead, reviewed with Ascension's sponsor at every phase exit.</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Ask us anything   (about 4 minutes; let the client pick the questions)</a:t>
            </a:r>
          </a:p>
          <a:p/>
          <a:p>
            <a:r>
              <a:t>HOW TO USE THIS SLIDE</a:t>
            </a:r>
          </a:p>
          <a:p>
            <a:r>
              <a:t>Do not read it top to bottom. Say: "In healthcare, these are the questions everyone asks about AI. Pick any one." Then answer it and point to its ring. Every question already has an answer in the design.</a:t>
            </a:r>
          </a:p>
          <a:p/>
          <a:p>
            <a:r>
              <a:t>THE PICTURE</a:t>
            </a:r>
          </a:p>
          <a:p>
            <a:r>
              <a:t>The agent (Codex Enterprise) sits at the centre. Around it, three layers make it reliable, and people sit outside all of them:</a:t>
            </a:r>
          </a:p>
          <a:p>
            <a:r>
              <a:t>- Evals (yellow, innermost): QA for AI agents. Scored on every run.</a:t>
            </a:r>
          </a:p>
          <a:p>
            <a:r>
              <a:t>- Observability (cyan): agent traces. Every prompt, skill version, tool call, decision, approval, time and cost, kept in the change passport.</a:t>
            </a:r>
          </a:p>
          <a:p>
            <a:r>
              <a:t>- Guardrails (magenta): checks on the way in and on the way out, and on every action in between.</a:t>
            </a:r>
          </a:p>
          <a:p>
            <a:r>
              <a:t>- People (white, outside): the final say at H1-H4 and CAB.</a:t>
            </a:r>
          </a:p>
          <a:p>
            <a:r>
              <a:t>The formula at the bottom: reliability = observability + evals, inside guardrails, under people. Observability powers evals: without traces you cannot evaluate.</a:t>
            </a:r>
          </a:p>
          <a:p/>
          <a:p>
            <a:r>
              <a:t>THE ANSWERS, IN MORE DEPTH</a:t>
            </a:r>
          </a:p>
          <a:p>
            <a:r>
              <a:t>- Harmful input: moderation and prompt-injection checks run before any model call; the attempt is blocked and logged with the user; repeated attempts alert security.</a:t>
            </a:r>
          </a:p>
          <a:p>
            <a:r>
              <a:t>- Patient data: Cloud DLP redacts patient data and secrets before anything reaches a model; the output scan checks every diff and document again.</a:t>
            </a:r>
          </a:p>
          <a:p>
            <a:r>
              <a:t>- Training on our data: no model is trained on Ascension data; Ascension's Codex Enterprise terms govern data use, and the harness sends only a bounded, redacted context slice.</a:t>
            </a:r>
          </a:p>
          <a:p>
            <a:r>
              <a:t>- Production: each step uses only its own tools through the gateway, with one of three identities (read, develop, release); none of them can reach production. Owning teams deploy after CAB.</a:t>
            </a:r>
          </a:p>
          <a:p>
            <a:r>
              <a:t>- What it did: agent traces in the change passport (BigQuery) and Cloud Logging, kept per run and per step.</a:t>
            </a:r>
          </a:p>
          <a:p>
            <a:r>
              <a:t>- Stuck or costly: every step stops after five attempts and hands everything to a named owner in Jira; time, re-run time and cost are reported per step; budgets and timeouts can stop a run sooner.</a:t>
            </a:r>
          </a:p>
          <a:p>
            <a:r>
              <a:t>- Final say: named people approve at H1 (requirements), H2 (design), H3 (code and security), H4 (UAT) and CAB.</a:t>
            </a:r>
          </a:p>
          <a:p>
            <a:r>
              <a:t>- Makes something up: groundedness. Every claim must cite a graph fact or a tool response; uncited claims are rejected.</a:t>
            </a:r>
          </a:p>
          <a:p>
            <a:r>
              <a:t>- Wrong question: answer relevancy. The output is scored against the story and acceptance criteria.</a:t>
            </a:r>
          </a:p>
          <a:p>
            <a:r>
              <a:t>- Wrong tools: tool-sequence accuracy, measured with precision and recall (for example, the agent must read the graph before building).</a:t>
            </a:r>
          </a:p>
          <a:p>
            <a:r>
              <a:t>- Who checks the checker: where the Review Agent acts as judge, its verdicts are measured against tech leads.</a:t>
            </a:r>
          </a:p>
          <a:p>
            <a:r>
              <a:t>- Drift or a new model: each week a sample of approved changes is re-reviewed blind by Ascension's experts; no prompt, skill or model change goes live without passing the golden set.</a:t>
            </a:r>
          </a:p>
          <a:p>
            <a:r>
              <a:t>- Getting better: every agent's scores are tracked and reviewed monthly; a falling score sends that agent through diagnose and tune, and the fix must pass the golden set.</a:t>
            </a:r>
          </a:p>
          <a:p>
            <a:r>
              <a:t>- Gaming the tests: agents cannot edit tests or the evaluation set, a held-out set is never shown to them, and the Guardian blocks any change that weakens a test.</a:t>
            </a:r>
          </a:p>
          <a:p/>
          <a:p>
            <a:r>
              <a:t>THE CLOSED LOOP (bottom band)</a:t>
            </a:r>
          </a:p>
          <a:p>
            <a:r>
              <a:t>Golden set, offline gate, guarded run, weekly sample, diagnose, tune and re-test, and round again: the harness keeps improving, and no step ever loops forever.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Master" Target="../slideMasters/slideMaster1.xml"/><Relationship Id="rId3"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3"/>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jpg"/><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model set in config;
tools portable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Spanner 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Spanner Graph: managed property graph on Google Cloud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Indexed lookups by node id and type</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Loaded from the versioned JSON snapshot;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GQL queries in milliseconds · scales horizontally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load_snapshot(snapshot_id)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Spanner Graph holds the graph; the adapter API runs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Spanner Graph is native to Google Cloud: no separate graph database to buy or approve</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adapter is a container, and the graph reloads from JSON into any graph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Only the graph store is Google Cloud native, and it reloads from the JSON snapshot</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in milliseconds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set by config, tools via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Spanner 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GQL queries in milliseconds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Spanner 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Managed graph on Google Cloud</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Spanner property graph (GQL)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Indexed lookups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 from JSON snapshot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Millisecond GQL · scales out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milliseconds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SpannerGraphAdapter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load_snapshot(snapshot_id)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Spanner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EVALS AND RELIABILITY</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Evals are how we earn reliability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AI is non-deterministic, so reliability is earned run by run: every output is tested before it moves on, and every miss becomes a new test.</a:t>
            </a:r>
          </a:p>
        </p:txBody>
      </p:sp>
      <p:sp>
        <p:nvSpPr>
          <p:cNvPr id="5" name="Shape 4"/>
          <p:cNvSpPr/>
          <p:nvPr/>
        </p:nvSpPr>
        <p:spPr>
          <a:xfrm>
            <a:off x="411480" y="1188720"/>
            <a:ext cx="11365992" cy="475488"/>
          </a:xfrm>
          <a:prstGeom prst="roundRect">
            <a:avLst>
              <a:gd name="adj" fmla="val 50000"/>
            </a:avLst>
          </a:prstGeom>
          <a:solidFill>
            <a:srgbClr val="000000">
              <a:alpha val="40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75488"/>
          </a:xfrm>
          <a:prstGeom prst="rect">
            <a:avLst/>
          </a:prstGeom>
          <a:noFill/>
        </p:spPr>
        <p:txBody>
          <a:bodyPr wrap="square" lIns="0" rIns="0" tIns="0" bIns="0" anchor="ctr">
            <a:spAutoFit/>
          </a:bodyPr>
          <a:lstStyle/>
          <a:p>
            <a:pPr algn="ctr"/>
            <a:r>
              <a:rPr sz="1600" b="1" i="0" spc="150">
                <a:solidFill>
                  <a:srgbClr val="FFFFFF"/>
                </a:solidFill>
                <a:latin typeface="Trenda IG Text"/>
              </a:rPr>
              <a:t>RELIABILITY</a:t>
            </a:r>
            <a:r>
              <a:rPr sz="1600" b="0" i="0" spc="150">
                <a:solidFill>
                  <a:srgbClr val="BFBFBF"/>
                </a:solidFill>
                <a:latin typeface="Trenda IG Text"/>
              </a:rPr>
              <a:t>   =   </a:t>
            </a:r>
            <a:r>
              <a:rPr sz="1600" b="1" i="0" spc="150">
                <a:solidFill>
                  <a:srgbClr val="00D6F2"/>
                </a:solidFill>
                <a:latin typeface="Trenda IG Text"/>
              </a:rPr>
              <a:t>OBSERVABILITY</a:t>
            </a:r>
            <a:r>
              <a:rPr sz="1600" b="0" i="0" spc="150">
                <a:solidFill>
                  <a:srgbClr val="BFBFBF"/>
                </a:solidFill>
                <a:latin typeface="Trenda IG Text"/>
              </a:rPr>
              <a:t>   +   </a:t>
            </a:r>
            <a:r>
              <a:rPr sz="1600" b="1" i="0" spc="150">
                <a:solidFill>
                  <a:srgbClr val="FFD700"/>
                </a:solidFill>
                <a:latin typeface="Trenda IG Text"/>
              </a:rPr>
              <a:t>EVALS</a:t>
            </a:r>
            <a:r>
              <a:rPr sz="1000" b="0" i="0" spc="150">
                <a:solidFill>
                  <a:srgbClr val="BFBFBF"/>
                </a:solidFill>
                <a:latin typeface="Trenda IG Text"/>
              </a:rPr>
              <a:t>        protected by </a:t>
            </a:r>
            <a:r>
              <a:rPr sz="1600" b="1" i="0" spc="150">
                <a:solidFill>
                  <a:srgbClr val="FF0069"/>
                </a:solidFill>
                <a:latin typeface="Trenda IG Text"/>
              </a:rPr>
              <a:t>GUARDRAILS</a:t>
            </a:r>
          </a:p>
        </p:txBody>
      </p:sp>
      <p:sp>
        <p:nvSpPr>
          <p:cNvPr id="7" name="Shape 6"/>
          <p:cNvSpPr/>
          <p:nvPr/>
        </p:nvSpPr>
        <p:spPr>
          <a:xfrm>
            <a:off x="411480" y="1810512"/>
            <a:ext cx="11365992" cy="4224527"/>
          </a:xfrm>
          <a:prstGeom prst="roundRect">
            <a:avLst>
              <a:gd name="adj" fmla="val 5000"/>
            </a:avLst>
          </a:prstGeom>
          <a:noFill/>
          <a:ln w="15875">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66928" y="1847088"/>
            <a:ext cx="4206240" cy="182880"/>
          </a:xfrm>
          <a:prstGeom prst="rect">
            <a:avLst/>
          </a:prstGeom>
          <a:noFill/>
        </p:spPr>
        <p:txBody>
          <a:bodyPr wrap="square" lIns="0" rIns="0" tIns="0" bIns="0" anchor="ctr">
            <a:spAutoFit/>
          </a:bodyPr>
          <a:lstStyle/>
          <a:p>
            <a:r>
              <a:rPr sz="700" b="1" i="0" spc="150">
                <a:solidFill>
                  <a:srgbClr val="FF0069"/>
                </a:solidFill>
                <a:latin typeface="Trenda IG Text"/>
              </a:rPr>
              <a:t>GUARDRAILS IN AND OUT  </a:t>
            </a:r>
            <a:r>
              <a:rPr sz="650" b="0" i="0">
                <a:solidFill>
                  <a:srgbClr val="BFBFBF"/>
                </a:solidFill>
                <a:latin typeface="Trenda IG Text"/>
              </a:rPr>
              <a:t>no agent holds a production credential</a:t>
            </a:r>
          </a:p>
        </p:txBody>
      </p:sp>
      <p:sp>
        <p:nvSpPr>
          <p:cNvPr id="9" name="Shape 8"/>
          <p:cNvSpPr/>
          <p:nvPr/>
        </p:nvSpPr>
        <p:spPr>
          <a:xfrm>
            <a:off x="658368" y="230428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804672" y="2377440"/>
            <a:ext cx="2423160" cy="219456"/>
          </a:xfrm>
          <a:prstGeom prst="rect">
            <a:avLst/>
          </a:prstGeom>
          <a:noFill/>
        </p:spPr>
        <p:txBody>
          <a:bodyPr wrap="square" lIns="0" rIns="0" tIns="0" bIns="0" anchor="ctr">
            <a:spAutoFit/>
          </a:bodyPr>
          <a:lstStyle/>
          <a:p>
            <a:r>
              <a:rPr sz="900" b="1" i="0" spc="100">
                <a:solidFill>
                  <a:srgbClr val="FFFFFF"/>
                </a:solidFill>
                <a:latin typeface="Trenda IG Text"/>
              </a:rPr>
              <a:t>AGENT OUTPUT</a:t>
            </a:r>
          </a:p>
        </p:txBody>
      </p:sp>
      <p:sp>
        <p:nvSpPr>
          <p:cNvPr id="11" name="Text 10"/>
          <p:cNvSpPr txBox="1"/>
          <p:nvPr/>
        </p:nvSpPr>
        <p:spPr>
          <a:xfrm>
            <a:off x="804672" y="2615184"/>
            <a:ext cx="2423160" cy="420624"/>
          </a:xfrm>
          <a:prstGeom prst="rect">
            <a:avLst/>
          </a:prstGeom>
          <a:noFill/>
        </p:spPr>
        <p:txBody>
          <a:bodyPr wrap="square" lIns="0" rIns="0" tIns="0" bIns="0" anchor="t">
            <a:spAutoFit/>
          </a:bodyPr>
          <a:lstStyle/>
          <a:p>
            <a:r>
              <a:rPr sz="750" b="0" i="0">
                <a:solidFill>
                  <a:srgbClr val="BFBFBF"/>
                </a:solidFill>
                <a:latin typeface="Trenda IG Text"/>
              </a:rPr>
              <a:t>brief, design, code, tests: every step's work</a:t>
            </a:r>
          </a:p>
        </p:txBody>
      </p:sp>
      <p:cxnSp>
        <p:nvCxnSpPr>
          <p:cNvPr id="12" name="Arrow 11"/>
          <p:cNvCxnSpPr/>
          <p:nvPr/>
        </p:nvCxnSpPr>
        <p:spPr>
          <a:xfrm>
            <a:off x="3392424" y="2688336"/>
            <a:ext cx="1641077" cy="726983"/>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658368" y="3493008"/>
            <a:ext cx="2697480" cy="768096"/>
          </a:xfrm>
          <a:prstGeom prst="roundRect">
            <a:avLst>
              <a:gd name="adj" fmla="val 12000"/>
            </a:avLst>
          </a:prstGeom>
          <a:solidFill>
            <a:srgbClr val="000000">
              <a:alpha val="6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804672" y="3566160"/>
            <a:ext cx="2423160" cy="219456"/>
          </a:xfrm>
          <a:prstGeom prst="rect">
            <a:avLst/>
          </a:prstGeom>
          <a:noFill/>
        </p:spPr>
        <p:txBody>
          <a:bodyPr wrap="square" lIns="0" rIns="0" tIns="0" bIns="0" anchor="ctr">
            <a:spAutoFit/>
          </a:bodyPr>
          <a:lstStyle/>
          <a:p>
            <a:r>
              <a:rPr sz="900" b="1" i="0" spc="100">
                <a:solidFill>
                  <a:srgbClr val="00D6F2"/>
                </a:solidFill>
                <a:latin typeface="Trenda IG Text"/>
              </a:rPr>
              <a:t>AGENT TRACES</a:t>
            </a:r>
          </a:p>
        </p:txBody>
      </p:sp>
      <p:sp>
        <p:nvSpPr>
          <p:cNvPr id="15" name="Text 14"/>
          <p:cNvSpPr txBox="1"/>
          <p:nvPr/>
        </p:nvSpPr>
        <p:spPr>
          <a:xfrm>
            <a:off x="804672" y="3803904"/>
            <a:ext cx="2423160" cy="420624"/>
          </a:xfrm>
          <a:prstGeom prst="rect">
            <a:avLst/>
          </a:prstGeom>
          <a:noFill/>
        </p:spPr>
        <p:txBody>
          <a:bodyPr wrap="square" lIns="0" rIns="0" tIns="0" bIns="0" anchor="t">
            <a:spAutoFit/>
          </a:bodyPr>
          <a:lstStyle/>
          <a:p>
            <a:r>
              <a:rPr sz="750" b="0" i="0">
                <a:solidFill>
                  <a:srgbClr val="BFBFBF"/>
                </a:solidFill>
                <a:latin typeface="Trenda IG Text"/>
              </a:rPr>
              <a:t>every prompt, tool call, decision and cost (observability)</a:t>
            </a:r>
          </a:p>
        </p:txBody>
      </p:sp>
      <p:cxnSp>
        <p:nvCxnSpPr>
          <p:cNvPr id="16" name="Arrow 15"/>
          <p:cNvCxnSpPr/>
          <p:nvPr/>
        </p:nvCxnSpPr>
        <p:spPr>
          <a:xfrm>
            <a:off x="3392424" y="3877056"/>
            <a:ext cx="1545336" cy="0"/>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58368" y="468172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804672" y="4754880"/>
            <a:ext cx="2423160" cy="219456"/>
          </a:xfrm>
          <a:prstGeom prst="rect">
            <a:avLst/>
          </a:prstGeom>
          <a:noFill/>
        </p:spPr>
        <p:txBody>
          <a:bodyPr wrap="square" lIns="0" rIns="0" tIns="0" bIns="0" anchor="ctr">
            <a:spAutoFit/>
          </a:bodyPr>
          <a:lstStyle/>
          <a:p>
            <a:r>
              <a:rPr sz="900" b="1" i="0" spc="100">
                <a:solidFill>
                  <a:srgbClr val="FFFFFF"/>
                </a:solidFill>
                <a:latin typeface="Trenda IG Text"/>
              </a:rPr>
              <a:t>GOLDEN SET + WEEKLY SAMPLE</a:t>
            </a:r>
          </a:p>
        </p:txBody>
      </p:sp>
      <p:sp>
        <p:nvSpPr>
          <p:cNvPr id="19" name="Text 18"/>
          <p:cNvSpPr txBox="1"/>
          <p:nvPr/>
        </p:nvSpPr>
        <p:spPr>
          <a:xfrm>
            <a:off x="804672" y="4992624"/>
            <a:ext cx="2423160" cy="420624"/>
          </a:xfrm>
          <a:prstGeom prst="rect">
            <a:avLst/>
          </a:prstGeom>
          <a:noFill/>
        </p:spPr>
        <p:txBody>
          <a:bodyPr wrap="square" lIns="0" rIns="0" tIns="0" bIns="0" anchor="t">
            <a:spAutoFit/>
          </a:bodyPr>
          <a:lstStyle/>
          <a:p>
            <a:r>
              <a:rPr sz="750" b="0" i="0">
                <a:solidFill>
                  <a:srgbClr val="BFBFBF"/>
                </a:solidFill>
                <a:latin typeface="Trenda IG Text"/>
              </a:rPr>
              <a:t>real Ascension changes, labelled by your experts</a:t>
            </a:r>
          </a:p>
        </p:txBody>
      </p:sp>
      <p:cxnSp>
        <p:nvCxnSpPr>
          <p:cNvPr id="20" name="Arrow 19"/>
          <p:cNvCxnSpPr/>
          <p:nvPr/>
        </p:nvCxnSpPr>
        <p:spPr>
          <a:xfrm flipV="1">
            <a:off x="3392424" y="4338792"/>
            <a:ext cx="1641077" cy="726984"/>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20"/>
          <p:cNvSpPr/>
          <p:nvPr/>
        </p:nvSpPr>
        <p:spPr>
          <a:xfrm>
            <a:off x="8833104" y="2304288"/>
            <a:ext cx="2697480" cy="768096"/>
          </a:xfrm>
          <a:prstGeom prst="roundRect">
            <a:avLst>
              <a:gd name="adj" fmla="val 12000"/>
            </a:avLst>
          </a:prstGeom>
          <a:solidFill>
            <a:srgbClr val="000000">
              <a:alpha val="65000"/>
            </a:srgbClr>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8979408" y="2377440"/>
            <a:ext cx="2423160" cy="219456"/>
          </a:xfrm>
          <a:prstGeom prst="rect">
            <a:avLst/>
          </a:prstGeom>
          <a:noFill/>
        </p:spPr>
        <p:txBody>
          <a:bodyPr wrap="square" lIns="0" rIns="0" tIns="0" bIns="0" anchor="ctr">
            <a:spAutoFit/>
          </a:bodyPr>
          <a:lstStyle/>
          <a:p>
            <a:r>
              <a:rPr sz="1000" b="1" i="0" spc="150">
                <a:solidFill>
                  <a:srgbClr val="FF0069"/>
                </a:solidFill>
                <a:latin typeface="Trenda IG Text"/>
              </a:rPr>
              <a:t>RETRY</a:t>
            </a:r>
          </a:p>
        </p:txBody>
      </p:sp>
      <p:sp>
        <p:nvSpPr>
          <p:cNvPr id="23" name="Text 22"/>
          <p:cNvSpPr txBox="1"/>
          <p:nvPr/>
        </p:nvSpPr>
        <p:spPr>
          <a:xfrm>
            <a:off x="8979408" y="2615184"/>
            <a:ext cx="2423160" cy="420624"/>
          </a:xfrm>
          <a:prstGeom prst="rect">
            <a:avLst/>
          </a:prstGeom>
          <a:noFill/>
        </p:spPr>
        <p:txBody>
          <a:bodyPr wrap="square" lIns="0" rIns="0" tIns="0" bIns="0" anchor="t">
            <a:spAutoFit/>
          </a:bodyPr>
          <a:lstStyle/>
          <a:p>
            <a:r>
              <a:rPr sz="750" b="0" i="0">
                <a:solidFill>
                  <a:srgbClr val="BFBFBF"/>
                </a:solidFill>
                <a:latin typeface="Trenda IG Text"/>
              </a:rPr>
              <a:t>fails: try again with the failure as feedback; max 5, then a named owner</a:t>
            </a:r>
          </a:p>
        </p:txBody>
      </p:sp>
      <p:cxnSp>
        <p:nvCxnSpPr>
          <p:cNvPr id="24" name="Arrow 23"/>
          <p:cNvCxnSpPr/>
          <p:nvPr/>
        </p:nvCxnSpPr>
        <p:spPr>
          <a:xfrm flipV="1">
            <a:off x="7164030" y="2688336"/>
            <a:ext cx="1632498" cy="725684"/>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8833104" y="3493008"/>
            <a:ext cx="2697480" cy="768096"/>
          </a:xfrm>
          <a:prstGeom prst="roundRect">
            <a:avLst>
              <a:gd name="adj" fmla="val 12000"/>
            </a:avLst>
          </a:prstGeom>
          <a:solidFill>
            <a:srgbClr val="000000">
              <a:alpha val="65000"/>
            </a:srgbClr>
          </a:solidFill>
          <a:ln w="254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8979408" y="3566160"/>
            <a:ext cx="2423160" cy="219456"/>
          </a:xfrm>
          <a:prstGeom prst="rect">
            <a:avLst/>
          </a:prstGeom>
          <a:noFill/>
        </p:spPr>
        <p:txBody>
          <a:bodyPr wrap="square" lIns="0" rIns="0" tIns="0" bIns="0" anchor="ctr">
            <a:spAutoFit/>
          </a:bodyPr>
          <a:lstStyle/>
          <a:p>
            <a:r>
              <a:rPr sz="1000" b="1" i="0" spc="150">
                <a:solidFill>
                  <a:srgbClr val="56E13B"/>
                </a:solidFill>
                <a:latin typeface="Trenda IG Text"/>
              </a:rPr>
              <a:t>PASS</a:t>
            </a:r>
          </a:p>
        </p:txBody>
      </p:sp>
      <p:sp>
        <p:nvSpPr>
          <p:cNvPr id="27" name="Text 26"/>
          <p:cNvSpPr txBox="1"/>
          <p:nvPr/>
        </p:nvSpPr>
        <p:spPr>
          <a:xfrm>
            <a:off x="8979408" y="3803904"/>
            <a:ext cx="2423160" cy="420624"/>
          </a:xfrm>
          <a:prstGeom prst="rect">
            <a:avLst/>
          </a:prstGeom>
          <a:noFill/>
        </p:spPr>
        <p:txBody>
          <a:bodyPr wrap="square" lIns="0" rIns="0" tIns="0" bIns="0" anchor="t">
            <a:spAutoFit/>
          </a:bodyPr>
          <a:lstStyle/>
          <a:p>
            <a:r>
              <a:rPr sz="750" b="0" i="0">
                <a:solidFill>
                  <a:srgbClr val="FFFFFF"/>
                </a:solidFill>
                <a:latin typeface="Trenda IG Text"/>
              </a:rPr>
              <a:t>output guardrails, then people approve at H1-H4 and CAB, then release</a:t>
            </a:r>
          </a:p>
        </p:txBody>
      </p:sp>
      <p:cxnSp>
        <p:nvCxnSpPr>
          <p:cNvPr id="28" name="Arrow 27"/>
          <p:cNvCxnSpPr/>
          <p:nvPr/>
        </p:nvCxnSpPr>
        <p:spPr>
          <a:xfrm>
            <a:off x="7260336" y="3877056"/>
            <a:ext cx="1536192" cy="0"/>
          </a:xfrm>
          <a:prstGeom prst="line">
            <a:avLst/>
          </a:prstGeom>
          <a:ln w="317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8833104" y="4681728"/>
            <a:ext cx="2697480" cy="768096"/>
          </a:xfrm>
          <a:prstGeom prst="roundRect">
            <a:avLst>
              <a:gd name="adj" fmla="val 12000"/>
            </a:avLst>
          </a:prstGeom>
          <a:solidFill>
            <a:srgbClr val="000000">
              <a:alpha val="65000"/>
            </a:srgbClr>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8979408" y="4754880"/>
            <a:ext cx="2423160" cy="219456"/>
          </a:xfrm>
          <a:prstGeom prst="rect">
            <a:avLst/>
          </a:prstGeom>
          <a:noFill/>
        </p:spPr>
        <p:txBody>
          <a:bodyPr wrap="square" lIns="0" rIns="0" tIns="0" bIns="0" anchor="ctr">
            <a:spAutoFit/>
          </a:bodyPr>
          <a:lstStyle/>
          <a:p>
            <a:r>
              <a:rPr sz="1000" b="1" i="0" spc="150">
                <a:solidFill>
                  <a:srgbClr val="FFD700"/>
                </a:solidFill>
                <a:latin typeface="Trenda IG Text"/>
              </a:rPr>
              <a:t>LEARN</a:t>
            </a:r>
          </a:p>
        </p:txBody>
      </p:sp>
      <p:sp>
        <p:nvSpPr>
          <p:cNvPr id="31" name="Text 30"/>
          <p:cNvSpPr txBox="1"/>
          <p:nvPr/>
        </p:nvSpPr>
        <p:spPr>
          <a:xfrm>
            <a:off x="8979408" y="4992624"/>
            <a:ext cx="2423160" cy="420624"/>
          </a:xfrm>
          <a:prstGeom prst="rect">
            <a:avLst/>
          </a:prstGeom>
          <a:noFill/>
        </p:spPr>
        <p:txBody>
          <a:bodyPr wrap="square" lIns="0" rIns="0" tIns="0" bIns="0" anchor="t">
            <a:spAutoFit/>
          </a:bodyPr>
          <a:lstStyle/>
          <a:p>
            <a:r>
              <a:rPr sz="750" b="0" i="0">
                <a:solidFill>
                  <a:srgbClr val="BFBFBF"/>
                </a:solidFill>
                <a:latin typeface="Trenda IG Text"/>
              </a:rPr>
              <a:t>every miss: diagnose the agent or context, tune, re-test on the golden set</a:t>
            </a:r>
          </a:p>
        </p:txBody>
      </p:sp>
      <p:cxnSp>
        <p:nvCxnSpPr>
          <p:cNvPr id="32" name="Arrow 31"/>
          <p:cNvCxnSpPr/>
          <p:nvPr/>
        </p:nvCxnSpPr>
        <p:spPr>
          <a:xfrm>
            <a:off x="7164030" y="4340091"/>
            <a:ext cx="1632498" cy="725685"/>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4956048" y="2734056"/>
            <a:ext cx="2286000" cy="2286000"/>
          </a:xfrm>
          <a:prstGeom prst="ellipse">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3"/>
          <p:cNvSpPr/>
          <p:nvPr/>
        </p:nvSpPr>
        <p:spPr>
          <a:xfrm>
            <a:off x="5230368" y="3008376"/>
            <a:ext cx="1737360" cy="1737360"/>
          </a:xfrm>
          <a:prstGeom prst="ellipse">
            <a:avLst/>
          </a:prstGeom>
          <a:solidFill>
            <a:srgbClr val="000000">
              <a:alpha val="72000"/>
            </a:srgbClr>
          </a:solidFill>
          <a:ln w="381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5230368" y="3493008"/>
            <a:ext cx="1737360" cy="457200"/>
          </a:xfrm>
          <a:prstGeom prst="rect">
            <a:avLst/>
          </a:prstGeom>
          <a:noFill/>
        </p:spPr>
        <p:txBody>
          <a:bodyPr wrap="square" lIns="0" rIns="0" tIns="0" bIns="0" anchor="ctr">
            <a:spAutoFit/>
          </a:bodyPr>
          <a:lstStyle/>
          <a:p>
            <a:pPr algn="ctr"/>
            <a:r>
              <a:rPr sz="2800" b="1" i="0" spc="100">
                <a:solidFill>
                  <a:srgbClr val="FFD700"/>
                </a:solidFill>
                <a:latin typeface="Trenda IG Text"/>
              </a:rPr>
              <a:t>EVALS</a:t>
            </a:r>
          </a:p>
        </p:txBody>
      </p:sp>
      <p:sp>
        <p:nvSpPr>
          <p:cNvPr id="36" name="Text 35"/>
          <p:cNvSpPr txBox="1"/>
          <p:nvPr/>
        </p:nvSpPr>
        <p:spPr>
          <a:xfrm>
            <a:off x="5230368" y="3950208"/>
            <a:ext cx="1737360" cy="274320"/>
          </a:xfrm>
          <a:prstGeom prst="rect">
            <a:avLst/>
          </a:prstGeom>
          <a:noFill/>
        </p:spPr>
        <p:txBody>
          <a:bodyPr wrap="square" lIns="0" rIns="0" tIns="0" bIns="0" anchor="t">
            <a:spAutoFit/>
          </a:bodyPr>
          <a:lstStyle/>
          <a:p>
            <a:pPr algn="ctr"/>
            <a:r>
              <a:rPr sz="800" b="0" i="0">
                <a:solidFill>
                  <a:srgbClr val="FFFFFF"/>
                </a:solidFill>
                <a:latin typeface="Trenda IG Text"/>
              </a:rPr>
              <a:t>QA for AI agents</a:t>
            </a:r>
          </a:p>
          <a:p>
            <a:pPr algn="ctr"/>
            <a:r>
              <a:rPr sz="800" b="0" i="0">
                <a:solidFill>
                  <a:srgbClr val="FFFFFF"/>
                </a:solidFill>
                <a:latin typeface="Trenda IG Text"/>
              </a:rPr>
              <a:t>on every run</a:t>
            </a:r>
          </a:p>
        </p:txBody>
      </p:sp>
      <p:sp>
        <p:nvSpPr>
          <p:cNvPr id="37" name="Shape 36"/>
          <p:cNvSpPr/>
          <p:nvPr/>
        </p:nvSpPr>
        <p:spPr>
          <a:xfrm>
            <a:off x="4471416"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562856" y="2212848"/>
            <a:ext cx="1389888" cy="201168"/>
          </a:xfrm>
          <a:prstGeom prst="rect">
            <a:avLst/>
          </a:prstGeom>
          <a:noFill/>
        </p:spPr>
        <p:txBody>
          <a:bodyPr wrap="square" lIns="0" rIns="0" tIns="0" bIns="0" anchor="ctr">
            <a:spAutoFit/>
          </a:bodyPr>
          <a:lstStyle/>
          <a:p>
            <a:pPr algn="ctr"/>
            <a:r>
              <a:rPr sz="850" b="1" i="0">
                <a:solidFill>
                  <a:srgbClr val="FFD700"/>
                </a:solidFill>
                <a:latin typeface="Trenda IG Text"/>
              </a:rPr>
              <a:t>Answer relevancy</a:t>
            </a:r>
          </a:p>
        </p:txBody>
      </p:sp>
      <p:sp>
        <p:nvSpPr>
          <p:cNvPr id="39" name="Text 38"/>
          <p:cNvSpPr txBox="1"/>
          <p:nvPr/>
        </p:nvSpPr>
        <p:spPr>
          <a:xfrm>
            <a:off x="4526280" y="2414016"/>
            <a:ext cx="1463040" cy="201168"/>
          </a:xfrm>
          <a:prstGeom prst="rect">
            <a:avLst/>
          </a:prstGeom>
          <a:noFill/>
        </p:spPr>
        <p:txBody>
          <a:bodyPr wrap="square" lIns="0" rIns="0" tIns="0" bIns="0" anchor="ctr">
            <a:spAutoFit/>
          </a:bodyPr>
          <a:lstStyle/>
          <a:p>
            <a:pPr algn="ctr"/>
            <a:r>
              <a:rPr sz="650" b="0" i="0">
                <a:solidFill>
                  <a:srgbClr val="BFBFBF"/>
                </a:solidFill>
                <a:latin typeface="Trenda IG Text"/>
              </a:rPr>
              <a:t>answers the story that was asked</a:t>
            </a:r>
          </a:p>
        </p:txBody>
      </p:sp>
      <p:sp>
        <p:nvSpPr>
          <p:cNvPr id="40" name="Shape 39"/>
          <p:cNvSpPr/>
          <p:nvPr/>
        </p:nvSpPr>
        <p:spPr>
          <a:xfrm>
            <a:off x="6153912"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6245351" y="2212848"/>
            <a:ext cx="1389888" cy="201168"/>
          </a:xfrm>
          <a:prstGeom prst="rect">
            <a:avLst/>
          </a:prstGeom>
          <a:noFill/>
        </p:spPr>
        <p:txBody>
          <a:bodyPr wrap="square" lIns="0" rIns="0" tIns="0" bIns="0" anchor="ctr">
            <a:spAutoFit/>
          </a:bodyPr>
          <a:lstStyle/>
          <a:p>
            <a:pPr algn="ctr"/>
            <a:r>
              <a:rPr sz="850" b="1" i="0">
                <a:solidFill>
                  <a:srgbClr val="FFD700"/>
                </a:solidFill>
                <a:latin typeface="Trenda IG Text"/>
              </a:rPr>
              <a:t>Groundedness</a:t>
            </a:r>
          </a:p>
        </p:txBody>
      </p:sp>
      <p:sp>
        <p:nvSpPr>
          <p:cNvPr id="42" name="Text 41"/>
          <p:cNvSpPr txBox="1"/>
          <p:nvPr/>
        </p:nvSpPr>
        <p:spPr>
          <a:xfrm>
            <a:off x="6208775" y="2414016"/>
            <a:ext cx="1463040" cy="201168"/>
          </a:xfrm>
          <a:prstGeom prst="rect">
            <a:avLst/>
          </a:prstGeom>
          <a:noFill/>
        </p:spPr>
        <p:txBody>
          <a:bodyPr wrap="square" lIns="0" rIns="0" tIns="0" bIns="0" anchor="ctr">
            <a:spAutoFit/>
          </a:bodyPr>
          <a:lstStyle/>
          <a:p>
            <a:pPr algn="ctr"/>
            <a:r>
              <a:rPr sz="650" b="0" i="0">
                <a:solidFill>
                  <a:srgbClr val="BFBFBF"/>
                </a:solidFill>
                <a:latin typeface="Trenda IG Text"/>
              </a:rPr>
              <a:t>every claim cites the graph or a tool</a:t>
            </a:r>
          </a:p>
        </p:txBody>
      </p:sp>
      <p:sp>
        <p:nvSpPr>
          <p:cNvPr id="43" name="Shape 42"/>
          <p:cNvSpPr/>
          <p:nvPr/>
        </p:nvSpPr>
        <p:spPr>
          <a:xfrm>
            <a:off x="4471416"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4562856" y="5138928"/>
            <a:ext cx="1389888" cy="201168"/>
          </a:xfrm>
          <a:prstGeom prst="rect">
            <a:avLst/>
          </a:prstGeom>
          <a:noFill/>
        </p:spPr>
        <p:txBody>
          <a:bodyPr wrap="square" lIns="0" rIns="0" tIns="0" bIns="0" anchor="ctr">
            <a:spAutoFit/>
          </a:bodyPr>
          <a:lstStyle/>
          <a:p>
            <a:pPr algn="ctr"/>
            <a:r>
              <a:rPr sz="850" b="1" i="0">
                <a:solidFill>
                  <a:srgbClr val="FFD700"/>
                </a:solidFill>
                <a:latin typeface="Trenda IG Text"/>
              </a:rPr>
              <a:t>Tool sequence</a:t>
            </a:r>
          </a:p>
        </p:txBody>
      </p:sp>
      <p:sp>
        <p:nvSpPr>
          <p:cNvPr id="45" name="Text 44"/>
          <p:cNvSpPr txBox="1"/>
          <p:nvPr/>
        </p:nvSpPr>
        <p:spPr>
          <a:xfrm>
            <a:off x="4526280" y="5340096"/>
            <a:ext cx="1463040" cy="201168"/>
          </a:xfrm>
          <a:prstGeom prst="rect">
            <a:avLst/>
          </a:prstGeom>
          <a:noFill/>
        </p:spPr>
        <p:txBody>
          <a:bodyPr wrap="square" lIns="0" rIns="0" tIns="0" bIns="0" anchor="ctr">
            <a:spAutoFit/>
          </a:bodyPr>
          <a:lstStyle/>
          <a:p>
            <a:pPr algn="ctr"/>
            <a:r>
              <a:rPr sz="650" b="0" i="0">
                <a:solidFill>
                  <a:srgbClr val="BFBFBF"/>
                </a:solidFill>
                <a:latin typeface="Trenda IG Text"/>
              </a:rPr>
              <a:t>right tools, right order, no repeats</a:t>
            </a:r>
          </a:p>
        </p:txBody>
      </p:sp>
      <p:sp>
        <p:nvSpPr>
          <p:cNvPr id="46" name="Shape 45"/>
          <p:cNvSpPr/>
          <p:nvPr/>
        </p:nvSpPr>
        <p:spPr>
          <a:xfrm>
            <a:off x="6153912"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6245351" y="5138928"/>
            <a:ext cx="1389888" cy="201168"/>
          </a:xfrm>
          <a:prstGeom prst="rect">
            <a:avLst/>
          </a:prstGeom>
          <a:noFill/>
        </p:spPr>
        <p:txBody>
          <a:bodyPr wrap="square" lIns="0" rIns="0" tIns="0" bIns="0" anchor="ctr">
            <a:spAutoFit/>
          </a:bodyPr>
          <a:lstStyle/>
          <a:p>
            <a:pPr algn="ctr"/>
            <a:r>
              <a:rPr sz="850" b="1" i="0">
                <a:solidFill>
                  <a:srgbClr val="FFD700"/>
                </a:solidFill>
                <a:latin typeface="Trenda IG Text"/>
              </a:rPr>
              <a:t>pass@k</a:t>
            </a:r>
          </a:p>
        </p:txBody>
      </p:sp>
      <p:sp>
        <p:nvSpPr>
          <p:cNvPr id="48" name="Text 47"/>
          <p:cNvSpPr txBox="1"/>
          <p:nvPr/>
        </p:nvSpPr>
        <p:spPr>
          <a:xfrm>
            <a:off x="6208775" y="5340096"/>
            <a:ext cx="1463040" cy="201168"/>
          </a:xfrm>
          <a:prstGeom prst="rect">
            <a:avLst/>
          </a:prstGeom>
          <a:noFill/>
        </p:spPr>
        <p:txBody>
          <a:bodyPr wrap="square" lIns="0" rIns="0" tIns="0" bIns="0" anchor="ctr">
            <a:spAutoFit/>
          </a:bodyPr>
          <a:lstStyle/>
          <a:p>
            <a:pPr algn="ctr"/>
            <a:r>
              <a:rPr sz="650" b="0" i="0">
                <a:solidFill>
                  <a:srgbClr val="BFBFBF"/>
                </a:solidFill>
                <a:latin typeface="Trenda IG Text"/>
              </a:rPr>
              <a:t>right first time, and by attempt 5</a:t>
            </a:r>
          </a:p>
        </p:txBody>
      </p:sp>
      <p:sp>
        <p:nvSpPr>
          <p:cNvPr id="49" name="Freeform 48"/>
          <p:cNvSpPr/>
          <p:nvPr/>
        </p:nvSpPr>
        <p:spPr>
          <a:xfrm>
            <a:off x="2007108" y="1993392"/>
            <a:ext cx="8174736" cy="310896"/>
          </a:xfrm>
          <a:custGeom>
            <a:avLst/>
            <a:gdLst/>
            <a:ahLst/>
            <a:cxnLst/>
            <a:rect l="l" t="t" r="r" b="b"/>
            <a:pathLst>
              <a:path w="8174736" h="310896">
                <a:moveTo>
                  <a:pt x="8174736" y="310896"/>
                </a:moveTo>
                <a:lnTo>
                  <a:pt x="8162136" y="286503"/>
                </a:lnTo>
                <a:lnTo>
                  <a:pt x="8124413" y="262261"/>
                </a:lnTo>
                <a:lnTo>
                  <a:pt x="8061801" y="238318"/>
                </a:lnTo>
                <a:lnTo>
                  <a:pt x="7974685" y="214823"/>
                </a:lnTo>
                <a:lnTo>
                  <a:pt x="7863603" y="191921"/>
                </a:lnTo>
                <a:lnTo>
                  <a:pt x="7729239" y="169752"/>
                </a:lnTo>
                <a:lnTo>
                  <a:pt x="7572422" y="148453"/>
                </a:lnTo>
                <a:lnTo>
                  <a:pt x="7394118" y="128155"/>
                </a:lnTo>
                <a:lnTo>
                  <a:pt x="7195427" y="108985"/>
                </a:lnTo>
                <a:lnTo>
                  <a:pt x="6977573" y="91059"/>
                </a:lnTo>
                <a:lnTo>
                  <a:pt x="6741901" y="74488"/>
                </a:lnTo>
                <a:lnTo>
                  <a:pt x="6489862" y="59375"/>
                </a:lnTo>
                <a:lnTo>
                  <a:pt x="6223011" y="45813"/>
                </a:lnTo>
                <a:lnTo>
                  <a:pt x="5942994" y="33885"/>
                </a:lnTo>
                <a:lnTo>
                  <a:pt x="5651536" y="23665"/>
                </a:lnTo>
                <a:lnTo>
                  <a:pt x="5350434" y="15216"/>
                </a:lnTo>
                <a:lnTo>
                  <a:pt x="5041545" y="8590"/>
                </a:lnTo>
                <a:lnTo>
                  <a:pt x="4726773" y="3827"/>
                </a:lnTo>
                <a:lnTo>
                  <a:pt x="4408059" y="958"/>
                </a:lnTo>
                <a:lnTo>
                  <a:pt x="4087368" y="0"/>
                </a:lnTo>
                <a:lnTo>
                  <a:pt x="3766676" y="958"/>
                </a:lnTo>
                <a:lnTo>
                  <a:pt x="3447962" y="3827"/>
                </a:lnTo>
                <a:lnTo>
                  <a:pt x="3133190" y="8590"/>
                </a:lnTo>
                <a:lnTo>
                  <a:pt x="2824301" y="15216"/>
                </a:lnTo>
                <a:lnTo>
                  <a:pt x="2523199" y="23665"/>
                </a:lnTo>
                <a:lnTo>
                  <a:pt x="2231741" y="33885"/>
                </a:lnTo>
                <a:lnTo>
                  <a:pt x="1951724" y="45813"/>
                </a:lnTo>
                <a:lnTo>
                  <a:pt x="1684873" y="59375"/>
                </a:lnTo>
                <a:lnTo>
                  <a:pt x="1432834" y="74488"/>
                </a:lnTo>
                <a:lnTo>
                  <a:pt x="1197162" y="91059"/>
                </a:lnTo>
                <a:lnTo>
                  <a:pt x="979308" y="108985"/>
                </a:lnTo>
                <a:lnTo>
                  <a:pt x="780617" y="128155"/>
                </a:lnTo>
                <a:lnTo>
                  <a:pt x="602313" y="148453"/>
                </a:lnTo>
                <a:lnTo>
                  <a:pt x="445496" y="169752"/>
                </a:lnTo>
                <a:lnTo>
                  <a:pt x="311132" y="191921"/>
                </a:lnTo>
                <a:lnTo>
                  <a:pt x="200050" y="214823"/>
                </a:lnTo>
                <a:lnTo>
                  <a:pt x="112934" y="238318"/>
                </a:lnTo>
                <a:lnTo>
                  <a:pt x="50322" y="262261"/>
                </a:lnTo>
                <a:lnTo>
                  <a:pt x="12599" y="286503"/>
                </a:lnTo>
                <a:lnTo>
                  <a:pt x="0" y="310896"/>
                </a:lnTo>
              </a:path>
            </a:pathLst>
          </a:custGeom>
          <a:noFill/>
          <a:ln w="25400">
            <a:solidFill>
              <a:srgbClr val="FF0069"/>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Shape 48"/>
          <p:cNvSpPr/>
          <p:nvPr/>
        </p:nvSpPr>
        <p:spPr>
          <a:xfrm>
            <a:off x="4041648" y="1892807"/>
            <a:ext cx="4114800" cy="201168"/>
          </a:xfrm>
          <a:prstGeom prst="roundRect">
            <a:avLst>
              <a:gd name="adj" fmla="val 50000"/>
            </a:avLst>
          </a:prstGeom>
          <a:solidFill>
            <a:srgbClr val="00000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9"/>
          <p:cNvSpPr txBox="1"/>
          <p:nvPr/>
        </p:nvSpPr>
        <p:spPr>
          <a:xfrm>
            <a:off x="3904487" y="1892807"/>
            <a:ext cx="4389120" cy="201168"/>
          </a:xfrm>
          <a:prstGeom prst="rect">
            <a:avLst/>
          </a:prstGeom>
          <a:noFill/>
        </p:spPr>
        <p:txBody>
          <a:bodyPr wrap="square" lIns="0" rIns="0" tIns="0" bIns="0" anchor="ctr">
            <a:spAutoFit/>
          </a:bodyPr>
          <a:lstStyle/>
          <a:p>
            <a:pPr algn="ctr"/>
            <a:r>
              <a:rPr sz="750" b="1" i="0" spc="120">
                <a:solidFill>
                  <a:srgbClr val="FF0069"/>
                </a:solidFill>
                <a:latin typeface="Trenda IG Text"/>
              </a:rPr>
              <a:t>BOUNDED LOOP  </a:t>
            </a:r>
            <a:r>
              <a:rPr sz="750" b="0" i="0">
                <a:solidFill>
                  <a:srgbClr val="FFFFFF"/>
                </a:solidFill>
                <a:latin typeface="Trenda IG Text"/>
              </a:rPr>
              <a:t>back to the agent, max 5 attempts, then a named owner</a:t>
            </a:r>
          </a:p>
        </p:txBody>
      </p:sp>
      <p:sp>
        <p:nvSpPr>
          <p:cNvPr id="52" name="Freeform 51"/>
          <p:cNvSpPr/>
          <p:nvPr/>
        </p:nvSpPr>
        <p:spPr>
          <a:xfrm>
            <a:off x="2007108" y="5449824"/>
            <a:ext cx="8174736" cy="347472"/>
          </a:xfrm>
          <a:custGeom>
            <a:avLst/>
            <a:gdLst/>
            <a:ahLst/>
            <a:cxnLst/>
            <a:rect l="l" t="t" r="r" b="b"/>
            <a:pathLst>
              <a:path w="8174736" h="347472">
                <a:moveTo>
                  <a:pt x="8174736" y="0"/>
                </a:moveTo>
                <a:lnTo>
                  <a:pt x="8162136" y="27262"/>
                </a:lnTo>
                <a:lnTo>
                  <a:pt x="8124413" y="54356"/>
                </a:lnTo>
                <a:lnTo>
                  <a:pt x="8061801" y="81115"/>
                </a:lnTo>
                <a:lnTo>
                  <a:pt x="7974685" y="107374"/>
                </a:lnTo>
                <a:lnTo>
                  <a:pt x="7863603" y="132971"/>
                </a:lnTo>
                <a:lnTo>
                  <a:pt x="7729239" y="157748"/>
                </a:lnTo>
                <a:lnTo>
                  <a:pt x="7572422" y="181553"/>
                </a:lnTo>
                <a:lnTo>
                  <a:pt x="7394118" y="204238"/>
                </a:lnTo>
                <a:lnTo>
                  <a:pt x="7195427" y="225665"/>
                </a:lnTo>
                <a:lnTo>
                  <a:pt x="6977573" y="245699"/>
                </a:lnTo>
                <a:lnTo>
                  <a:pt x="6741901" y="264219"/>
                </a:lnTo>
                <a:lnTo>
                  <a:pt x="6489862" y="281110"/>
                </a:lnTo>
                <a:lnTo>
                  <a:pt x="6223011" y="296268"/>
                </a:lnTo>
                <a:lnTo>
                  <a:pt x="5942994" y="309599"/>
                </a:lnTo>
                <a:lnTo>
                  <a:pt x="5651536" y="321022"/>
                </a:lnTo>
                <a:lnTo>
                  <a:pt x="5350434" y="330465"/>
                </a:lnTo>
                <a:lnTo>
                  <a:pt x="5041545" y="337871"/>
                </a:lnTo>
                <a:lnTo>
                  <a:pt x="4726773" y="343194"/>
                </a:lnTo>
                <a:lnTo>
                  <a:pt x="4408059" y="346400"/>
                </a:lnTo>
                <a:lnTo>
                  <a:pt x="4087368" y="347472"/>
                </a:lnTo>
                <a:lnTo>
                  <a:pt x="3766676" y="346400"/>
                </a:lnTo>
                <a:lnTo>
                  <a:pt x="3447962" y="343194"/>
                </a:lnTo>
                <a:lnTo>
                  <a:pt x="3133190" y="337871"/>
                </a:lnTo>
                <a:lnTo>
                  <a:pt x="2824301" y="330465"/>
                </a:lnTo>
                <a:lnTo>
                  <a:pt x="2523199" y="321022"/>
                </a:lnTo>
                <a:lnTo>
                  <a:pt x="2231741" y="309599"/>
                </a:lnTo>
                <a:lnTo>
                  <a:pt x="1951724" y="296268"/>
                </a:lnTo>
                <a:lnTo>
                  <a:pt x="1684873" y="281110"/>
                </a:lnTo>
                <a:lnTo>
                  <a:pt x="1432834" y="264219"/>
                </a:lnTo>
                <a:lnTo>
                  <a:pt x="1197162" y="245699"/>
                </a:lnTo>
                <a:lnTo>
                  <a:pt x="979308" y="225665"/>
                </a:lnTo>
                <a:lnTo>
                  <a:pt x="780617" y="204238"/>
                </a:lnTo>
                <a:lnTo>
                  <a:pt x="602313" y="181553"/>
                </a:lnTo>
                <a:lnTo>
                  <a:pt x="445496" y="157748"/>
                </a:lnTo>
                <a:lnTo>
                  <a:pt x="311132" y="132971"/>
                </a:lnTo>
                <a:lnTo>
                  <a:pt x="200050" y="107374"/>
                </a:lnTo>
                <a:lnTo>
                  <a:pt x="112934" y="81115"/>
                </a:lnTo>
                <a:lnTo>
                  <a:pt x="50322" y="54356"/>
                </a:lnTo>
                <a:lnTo>
                  <a:pt x="12599" y="27262"/>
                </a:lnTo>
                <a:lnTo>
                  <a:pt x="0" y="0"/>
                </a:lnTo>
              </a:path>
            </a:pathLst>
          </a:custGeom>
          <a:noFill/>
          <a:ln w="31750">
            <a:solidFill>
              <a:srgbClr val="FFD700"/>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Shape 50"/>
          <p:cNvSpPr/>
          <p:nvPr/>
        </p:nvSpPr>
        <p:spPr>
          <a:xfrm>
            <a:off x="4407408" y="5696712"/>
            <a:ext cx="3383280" cy="201168"/>
          </a:xfrm>
          <a:prstGeom prst="roundRect">
            <a:avLst>
              <a:gd name="adj" fmla="val 50000"/>
            </a:avLst>
          </a:prstGeom>
          <a:solidFill>
            <a:srgbClr val="0000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3721608" y="5696712"/>
            <a:ext cx="4754880" cy="201168"/>
          </a:xfrm>
          <a:prstGeom prst="rect">
            <a:avLst/>
          </a:prstGeom>
          <a:noFill/>
        </p:spPr>
        <p:txBody>
          <a:bodyPr wrap="square" lIns="0" rIns="0" tIns="0" bIns="0" anchor="ctr">
            <a:spAutoFit/>
          </a:bodyPr>
          <a:lstStyle/>
          <a:p>
            <a:pPr algn="ctr"/>
            <a:r>
              <a:rPr sz="750" b="1" i="0" spc="120">
                <a:solidFill>
                  <a:srgbClr val="FFD700"/>
                </a:solidFill>
                <a:latin typeface="Trenda IG Text"/>
              </a:rPr>
              <a:t>CLOSED LOOP  </a:t>
            </a:r>
            <a:r>
              <a:rPr sz="750" b="0" i="0">
                <a:solidFill>
                  <a:srgbClr val="FFFFFF"/>
                </a:solidFill>
                <a:latin typeface="Trenda IG Text"/>
              </a:rPr>
              <a:t>every miss becomes a new test case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All pods: $16M a year today. About $33M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Across every pod, each squad of 4-5 developers becomes 1 developer directing 1 harness agent, plus 1 QA. Savings count from go-live, after the 18-month implementation.</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76072" y="1298448"/>
            <a:ext cx="3474720" cy="128016"/>
          </a:xfrm>
          <a:prstGeom prst="rect">
            <a:avLst/>
          </a:prstGeom>
          <a:noFill/>
        </p:spPr>
        <p:txBody>
          <a:bodyPr wrap="square" lIns="0" rIns="0" t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7607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121615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85623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49631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13639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rIns="0" t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010912" y="1298448"/>
            <a:ext cx="3291840"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01091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007607" y="1554480"/>
            <a:ext cx="1024127" cy="310896"/>
          </a:xfrm>
          <a:prstGeom prst="rect">
            <a:avLst/>
          </a:prstGeom>
          <a:noFill/>
        </p:spPr>
        <p:txBody>
          <a:bodyPr wrap="square" lIns="0" rIns="0" t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715975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rIns="0" t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rIns="0" t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rIns="0" t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594360"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1 after go-live</a:t>
            </a:r>
          </a:p>
        </p:txBody>
      </p:sp>
      <p:sp>
        <p:nvSpPr>
          <p:cNvPr id="33" name="Text 33"/>
          <p:cNvSpPr txBox="1"/>
          <p:nvPr/>
        </p:nvSpPr>
        <p:spPr>
          <a:xfrm>
            <a:off x="594360"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34" name="Text 34"/>
          <p:cNvSpPr txBox="1"/>
          <p:nvPr/>
        </p:nvSpPr>
        <p:spPr>
          <a:xfrm>
            <a:off x="594360"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35" name="Arrow 35"/>
          <p:cNvCxnSpPr/>
          <p:nvPr/>
        </p:nvCxnSpPr>
        <p:spPr>
          <a:xfrm>
            <a:off x="1828800"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 36"/>
          <p:cNvSpPr txBox="1"/>
          <p:nvPr/>
        </p:nvSpPr>
        <p:spPr>
          <a:xfrm>
            <a:off x="2240280"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37" name="Text 37"/>
          <p:cNvSpPr txBox="1"/>
          <p:nvPr/>
        </p:nvSpPr>
        <p:spPr>
          <a:xfrm>
            <a:off x="2240280"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$7M</a:t>
            </a:r>
          </a:p>
        </p:txBody>
      </p:sp>
      <p:sp>
        <p:nvSpPr>
          <p:cNvPr id="38" name="Differentiator Border 39"/>
          <p:cNvSpPr/>
          <p:nvPr/>
        </p:nvSpPr>
        <p:spPr>
          <a:xfrm>
            <a:off x="594360"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40"/>
          <p:cNvSpPr/>
          <p:nvPr/>
        </p:nvSpPr>
        <p:spPr>
          <a:xfrm>
            <a:off x="635508"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1"/>
          <p:cNvSpPr txBox="1"/>
          <p:nvPr/>
        </p:nvSpPr>
        <p:spPr>
          <a:xfrm>
            <a:off x="772668"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56% of the year's spend</a:t>
            </a:r>
          </a:p>
        </p:txBody>
      </p:sp>
      <p:sp>
        <p:nvSpPr>
          <p:cNvPr id="41" name="Text 42"/>
          <p:cNvSpPr txBox="1"/>
          <p:nvPr/>
        </p:nvSpPr>
        <p:spPr>
          <a:xfrm>
            <a:off x="2098548"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$9M</a:t>
            </a:r>
          </a:p>
        </p:txBody>
      </p:sp>
      <p:sp>
        <p:nvSpPr>
          <p:cNvPr id="42" name="Text 43"/>
          <p:cNvSpPr txBox="1"/>
          <p:nvPr/>
        </p:nvSpPr>
        <p:spPr>
          <a:xfrm>
            <a:off x="594360" y="4352544"/>
            <a:ext cx="3282696" cy="384048"/>
          </a:xfrm>
          <a:prstGeom prst="rect">
            <a:avLst/>
          </a:prstGeom>
          <a:noFill/>
        </p:spPr>
        <p:txBody>
          <a:bodyPr wrap="square" lIns="0" rIns="0" tIns="0" bIns="0" anchor="t">
            <a:spAutoFit/>
          </a:bodyPr>
          <a:lstStyle/>
          <a:p>
            <a:r>
              <a:rPr sz="800" b="0" i="0">
                <a:solidFill>
                  <a:srgbClr val="595959"/>
                </a:solidFill>
                <a:latin typeface="Trenda IG Text"/>
              </a:rPr>
              <a:t>Every pod live on the harness; squads settle into the agent-first model.</a:t>
            </a:r>
          </a:p>
        </p:txBody>
      </p:sp>
      <p:sp>
        <p:nvSpPr>
          <p:cNvPr id="43" name="Shape 44"/>
          <p:cNvSpPr/>
          <p:nvPr/>
        </p:nvSpPr>
        <p:spPr>
          <a:xfrm>
            <a:off x="4270248"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5"/>
          <p:cNvSpPr txBox="1"/>
          <p:nvPr/>
        </p:nvSpPr>
        <p:spPr>
          <a:xfrm>
            <a:off x="4453128"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2 after go-live</a:t>
            </a:r>
          </a:p>
        </p:txBody>
      </p:sp>
      <p:sp>
        <p:nvSpPr>
          <p:cNvPr id="45" name="Text 46"/>
          <p:cNvSpPr txBox="1"/>
          <p:nvPr/>
        </p:nvSpPr>
        <p:spPr>
          <a:xfrm>
            <a:off x="4453128"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46" name="Text 47"/>
          <p:cNvSpPr txBox="1"/>
          <p:nvPr/>
        </p:nvSpPr>
        <p:spPr>
          <a:xfrm>
            <a:off x="4453128"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47" name="Arrow 48"/>
          <p:cNvCxnSpPr/>
          <p:nvPr/>
        </p:nvCxnSpPr>
        <p:spPr>
          <a:xfrm>
            <a:off x="5687568"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 49"/>
          <p:cNvSpPr txBox="1"/>
          <p:nvPr/>
        </p:nvSpPr>
        <p:spPr>
          <a:xfrm>
            <a:off x="6099048"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49" name="Text 50"/>
          <p:cNvSpPr txBox="1"/>
          <p:nvPr/>
        </p:nvSpPr>
        <p:spPr>
          <a:xfrm>
            <a:off x="6099048"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$5M</a:t>
            </a:r>
          </a:p>
        </p:txBody>
      </p:sp>
      <p:sp>
        <p:nvSpPr>
          <p:cNvPr id="50" name="Differentiator Border 52"/>
          <p:cNvSpPr/>
          <p:nvPr/>
        </p:nvSpPr>
        <p:spPr>
          <a:xfrm>
            <a:off x="4453128"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3"/>
          <p:cNvSpPr/>
          <p:nvPr/>
        </p:nvSpPr>
        <p:spPr>
          <a:xfrm>
            <a:off x="4494276"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4"/>
          <p:cNvSpPr txBox="1"/>
          <p:nvPr/>
        </p:nvSpPr>
        <p:spPr>
          <a:xfrm>
            <a:off x="4631436"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69% of the year's spend</a:t>
            </a:r>
          </a:p>
        </p:txBody>
      </p:sp>
      <p:sp>
        <p:nvSpPr>
          <p:cNvPr id="53" name="Text 55"/>
          <p:cNvSpPr txBox="1"/>
          <p:nvPr/>
        </p:nvSpPr>
        <p:spPr>
          <a:xfrm>
            <a:off x="5957316"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$11M</a:t>
            </a:r>
          </a:p>
        </p:txBody>
      </p:sp>
      <p:sp>
        <p:nvSpPr>
          <p:cNvPr id="54" name="Text 56"/>
          <p:cNvSpPr txBox="1"/>
          <p:nvPr/>
        </p:nvSpPr>
        <p:spPr>
          <a:xfrm>
            <a:off x="4453128" y="4352544"/>
            <a:ext cx="3282696" cy="384048"/>
          </a:xfrm>
          <a:prstGeom prst="rect">
            <a:avLst/>
          </a:prstGeom>
          <a:noFill/>
        </p:spPr>
        <p:txBody>
          <a:bodyPr wrap="square" lIns="0" rIns="0" tIns="0" bIns="0" anchor="t">
            <a:spAutoFit/>
          </a:bodyPr>
          <a:lstStyle/>
          <a:p>
            <a:r>
              <a:rPr sz="800" b="0" i="0">
                <a:solidFill>
                  <a:srgbClr val="595959"/>
                </a:solidFill>
                <a:latin typeface="Trenda IG Text"/>
              </a:rPr>
              <a:t>Agents take on more of each story as skills and evals mature.</a:t>
            </a:r>
          </a:p>
        </p:txBody>
      </p:sp>
      <p:sp>
        <p:nvSpPr>
          <p:cNvPr id="55" name="Shape 57"/>
          <p:cNvSpPr/>
          <p:nvPr/>
        </p:nvSpPr>
        <p:spPr>
          <a:xfrm>
            <a:off x="8129015"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8"/>
          <p:cNvSpPr txBox="1"/>
          <p:nvPr/>
        </p:nvSpPr>
        <p:spPr>
          <a:xfrm>
            <a:off x="8311895"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3 after go-live</a:t>
            </a:r>
          </a:p>
        </p:txBody>
      </p:sp>
      <p:sp>
        <p:nvSpPr>
          <p:cNvPr id="57" name="Text 59"/>
          <p:cNvSpPr txBox="1"/>
          <p:nvPr/>
        </p:nvSpPr>
        <p:spPr>
          <a:xfrm>
            <a:off x="8311895"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58" name="Text 60"/>
          <p:cNvSpPr txBox="1"/>
          <p:nvPr/>
        </p:nvSpPr>
        <p:spPr>
          <a:xfrm>
            <a:off x="8311895"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59" name="Arrow 61"/>
          <p:cNvCxnSpPr/>
          <p:nvPr/>
        </p:nvCxnSpPr>
        <p:spPr>
          <a:xfrm>
            <a:off x="9546336"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 62"/>
          <p:cNvSpPr txBox="1"/>
          <p:nvPr/>
        </p:nvSpPr>
        <p:spPr>
          <a:xfrm>
            <a:off x="9957815"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61" name="Text 63"/>
          <p:cNvSpPr txBox="1"/>
          <p:nvPr/>
        </p:nvSpPr>
        <p:spPr>
          <a:xfrm>
            <a:off x="9957815"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$3M</a:t>
            </a:r>
          </a:p>
        </p:txBody>
      </p:sp>
      <p:sp>
        <p:nvSpPr>
          <p:cNvPr id="62" name="Differentiator Border 65"/>
          <p:cNvSpPr/>
          <p:nvPr/>
        </p:nvSpPr>
        <p:spPr>
          <a:xfrm>
            <a:off x="8311895"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6"/>
          <p:cNvSpPr/>
          <p:nvPr/>
        </p:nvSpPr>
        <p:spPr>
          <a:xfrm>
            <a:off x="8353043"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7"/>
          <p:cNvSpPr txBox="1"/>
          <p:nvPr/>
        </p:nvSpPr>
        <p:spPr>
          <a:xfrm>
            <a:off x="8490203"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81% of the year's spend</a:t>
            </a:r>
          </a:p>
        </p:txBody>
      </p:sp>
      <p:sp>
        <p:nvSpPr>
          <p:cNvPr id="65" name="Text 68"/>
          <p:cNvSpPr txBox="1"/>
          <p:nvPr/>
        </p:nvSpPr>
        <p:spPr>
          <a:xfrm>
            <a:off x="9816083"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$13M</a:t>
            </a:r>
          </a:p>
        </p:txBody>
      </p:sp>
      <p:sp>
        <p:nvSpPr>
          <p:cNvPr id="66" name="Text 69"/>
          <p:cNvSpPr txBox="1"/>
          <p:nvPr/>
        </p:nvSpPr>
        <p:spPr>
          <a:xfrm>
            <a:off x="8311895" y="4352544"/>
            <a:ext cx="3282696" cy="384048"/>
          </a:xfrm>
          <a:prstGeom prst="rect">
            <a:avLst/>
          </a:prstGeom>
          <a:noFill/>
        </p:spPr>
        <p:txBody>
          <a:bodyPr wrap="square" lIns="0" rIns="0" tIns="0" bIns="0" anchor="t">
            <a:spAutoFit/>
          </a:bodyPr>
          <a:lstStyle/>
          <a:p>
            <a:r>
              <a:rPr sz="800" b="0" i="0">
                <a:solidFill>
                  <a:srgbClr val="595959"/>
                </a:solidFill>
                <a:latin typeface="Trenda IG Text"/>
              </a:rPr>
              <a:t>Full run rate: agents carry the delivery, people steer.</a:t>
            </a:r>
          </a:p>
        </p:txBody>
      </p:sp>
      <p:sp>
        <p:nvSpPr>
          <p:cNvPr id="67" name="Shape 70"/>
          <p:cNvSpPr/>
          <p:nvPr/>
        </p:nvSpPr>
        <p:spPr>
          <a:xfrm>
            <a:off x="411480" y="493776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71"/>
          <p:cNvSpPr txBox="1"/>
          <p:nvPr/>
        </p:nvSpPr>
        <p:spPr>
          <a:xfrm>
            <a:off x="640080" y="5029200"/>
            <a:ext cx="3657600" cy="182880"/>
          </a:xfrm>
          <a:prstGeom prst="rect">
            <a:avLst/>
          </a:prstGeom>
          <a:noFill/>
        </p:spPr>
        <p:txBody>
          <a:bodyPr wrap="square" lIns="0" rIns="0" tIns="0" bIns="0" anchor="t">
            <a:spAutoFit/>
          </a:bodyPr>
          <a:lstStyle/>
          <a:p>
            <a:r>
              <a:rPr sz="750" b="1" i="0" spc="200">
                <a:solidFill>
                  <a:srgbClr val="FFD700"/>
                </a:solidFill>
                <a:latin typeface="Trenda IG Text"/>
              </a:rPr>
              <a:t>THREE YEARS AFTER GO-LIVE, ALL PODS</a:t>
            </a:r>
          </a:p>
        </p:txBody>
      </p:sp>
      <p:sp>
        <p:nvSpPr>
          <p:cNvPr id="69" name="Text 72"/>
          <p:cNvSpPr txBox="1"/>
          <p:nvPr/>
        </p:nvSpPr>
        <p:spPr>
          <a:xfrm>
            <a:off x="640080" y="5230368"/>
            <a:ext cx="2567178" cy="164592"/>
          </a:xfrm>
          <a:prstGeom prst="rect">
            <a:avLst/>
          </a:prstGeom>
          <a:noFill/>
        </p:spPr>
        <p:txBody>
          <a:bodyPr wrap="square" lIns="0" rIns="0" tIns="0" bIns="0" anchor="t">
            <a:spAutoFit/>
          </a:bodyPr>
          <a:lstStyle/>
          <a:p>
            <a:r>
              <a:rPr sz="800" b="0" i="0">
                <a:solidFill>
                  <a:srgbClr val="BFBFBF"/>
                </a:solidFill>
                <a:latin typeface="Trenda IG Text"/>
              </a:rPr>
              <a:t>Spend today</a:t>
            </a:r>
          </a:p>
        </p:txBody>
      </p:sp>
      <p:sp>
        <p:nvSpPr>
          <p:cNvPr id="70" name="Text 73"/>
          <p:cNvSpPr txBox="1"/>
          <p:nvPr/>
        </p:nvSpPr>
        <p:spPr>
          <a:xfrm>
            <a:off x="640080" y="539496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$48M</a:t>
            </a:r>
          </a:p>
        </p:txBody>
      </p:sp>
      <p:sp>
        <p:nvSpPr>
          <p:cNvPr id="71" name="Text 74"/>
          <p:cNvSpPr txBox="1"/>
          <p:nvPr/>
        </p:nvSpPr>
        <p:spPr>
          <a:xfrm>
            <a:off x="640080" y="5724144"/>
            <a:ext cx="2567178" cy="164592"/>
          </a:xfrm>
          <a:prstGeom prst="rect">
            <a:avLst/>
          </a:prstGeom>
          <a:noFill/>
        </p:spPr>
        <p:txBody>
          <a:bodyPr wrap="square" lIns="0" rIns="0" tIns="0" bIns="0" anchor="t">
            <a:spAutoFit/>
          </a:bodyPr>
          <a:lstStyle/>
          <a:p>
            <a:r>
              <a:rPr sz="750" b="0" i="0">
                <a:solidFill>
                  <a:srgbClr val="BFBFBF"/>
                </a:solidFill>
                <a:latin typeface="Trenda IG Text"/>
              </a:rPr>
              <a:t>$16M a year x 3</a:t>
            </a:r>
          </a:p>
        </p:txBody>
      </p:sp>
      <p:sp>
        <p:nvSpPr>
          <p:cNvPr id="72" name="Text 75"/>
          <p:cNvSpPr txBox="1"/>
          <p:nvPr/>
        </p:nvSpPr>
        <p:spPr>
          <a:xfrm>
            <a:off x="3481578" y="5230368"/>
            <a:ext cx="2567178" cy="164592"/>
          </a:xfrm>
          <a:prstGeom prst="rect">
            <a:avLst/>
          </a:prstGeom>
          <a:noFill/>
        </p:spPr>
        <p:txBody>
          <a:bodyPr wrap="square" lIns="0" rIns="0" tIns="0" bIns="0" anchor="t">
            <a:spAutoFit/>
          </a:bodyPr>
          <a:lstStyle/>
          <a:p>
            <a:r>
              <a:rPr sz="800" b="0" i="0">
                <a:solidFill>
                  <a:srgbClr val="BFBFBF"/>
                </a:solidFill>
                <a:latin typeface="Trenda IG Text"/>
              </a:rPr>
              <a:t>With the harness</a:t>
            </a:r>
          </a:p>
        </p:txBody>
      </p:sp>
      <p:sp>
        <p:nvSpPr>
          <p:cNvPr id="73" name="Text 76"/>
          <p:cNvSpPr txBox="1"/>
          <p:nvPr/>
        </p:nvSpPr>
        <p:spPr>
          <a:xfrm>
            <a:off x="3481578" y="539496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$15M</a:t>
            </a:r>
          </a:p>
        </p:txBody>
      </p:sp>
      <p:sp>
        <p:nvSpPr>
          <p:cNvPr id="74" name="Text 77"/>
          <p:cNvSpPr txBox="1"/>
          <p:nvPr/>
        </p:nvSpPr>
        <p:spPr>
          <a:xfrm>
            <a:off x="3481578" y="5724144"/>
            <a:ext cx="2567178" cy="164592"/>
          </a:xfrm>
          <a:prstGeom prst="rect">
            <a:avLst/>
          </a:prstGeom>
          <a:noFill/>
        </p:spPr>
        <p:txBody>
          <a:bodyPr wrap="square" lIns="0" rIns="0" tIns="0" bIns="0" anchor="t">
            <a:spAutoFit/>
          </a:bodyPr>
          <a:lstStyle/>
          <a:p>
            <a:r>
              <a:rPr sz="750" b="0" i="0">
                <a:solidFill>
                  <a:srgbClr val="BFBFBF"/>
                </a:solidFill>
                <a:latin typeface="Trenda IG Text"/>
              </a:rPr>
              <a:t>agents included</a:t>
            </a:r>
          </a:p>
        </p:txBody>
      </p:sp>
      <p:sp>
        <p:nvSpPr>
          <p:cNvPr id="75" name="Text 78"/>
          <p:cNvSpPr txBox="1"/>
          <p:nvPr/>
        </p:nvSpPr>
        <p:spPr>
          <a:xfrm>
            <a:off x="6323076" y="5230368"/>
            <a:ext cx="2567178" cy="164592"/>
          </a:xfrm>
          <a:prstGeom prst="rect">
            <a:avLst/>
          </a:prstGeom>
          <a:noFill/>
        </p:spPr>
        <p:txBody>
          <a:bodyPr wrap="square" lIns="0" rIns="0" tIns="0" bIns="0" anchor="t">
            <a:spAutoFit/>
          </a:bodyPr>
          <a:lstStyle/>
          <a:p>
            <a:r>
              <a:rPr sz="800" b="0" i="0">
                <a:solidFill>
                  <a:srgbClr val="BFBFBF"/>
                </a:solidFill>
                <a:latin typeface="Trenda IG Text"/>
              </a:rPr>
              <a:t>Saved over 3 years</a:t>
            </a:r>
          </a:p>
        </p:txBody>
      </p:sp>
      <p:sp>
        <p:nvSpPr>
          <p:cNvPr id="76" name="Text 79"/>
          <p:cNvSpPr txBox="1"/>
          <p:nvPr/>
        </p:nvSpPr>
        <p:spPr>
          <a:xfrm>
            <a:off x="6323076" y="5394960"/>
            <a:ext cx="2567178" cy="347472"/>
          </a:xfrm>
          <a:prstGeom prst="rect">
            <a:avLst/>
          </a:prstGeom>
          <a:noFill/>
        </p:spPr>
        <p:txBody>
          <a:bodyPr wrap="square" lIns="0" rIns="0" tIns="0" bIns="0" anchor="ctr">
            <a:spAutoFit/>
          </a:bodyPr>
          <a:lstStyle/>
          <a:p>
            <a:r>
              <a:rPr sz="2200" b="1" i="0">
                <a:solidFill>
                  <a:srgbClr val="00D6F2"/>
                </a:solidFill>
                <a:latin typeface="Trenda IG Text"/>
              </a:rPr>
              <a:t>$33M</a:t>
            </a:r>
          </a:p>
        </p:txBody>
      </p:sp>
      <p:sp>
        <p:nvSpPr>
          <p:cNvPr id="77" name="Text 80"/>
          <p:cNvSpPr txBox="1"/>
          <p:nvPr/>
        </p:nvSpPr>
        <p:spPr>
          <a:xfrm>
            <a:off x="6323076" y="5724144"/>
            <a:ext cx="2567178" cy="164592"/>
          </a:xfrm>
          <a:prstGeom prst="rect">
            <a:avLst/>
          </a:prstGeom>
          <a:noFill/>
        </p:spPr>
        <p:txBody>
          <a:bodyPr wrap="square" lIns="0" rIns="0" tIns="0" bIns="0" anchor="t">
            <a:spAutoFit/>
          </a:bodyPr>
          <a:lstStyle/>
          <a:p>
            <a:r>
              <a:rPr sz="750" b="0" i="0">
                <a:solidFill>
                  <a:srgbClr val="BFBFBF"/>
                </a:solidFill>
                <a:latin typeface="Trenda IG Text"/>
              </a:rPr>
              <a:t>69% of three years' spend</a:t>
            </a:r>
          </a:p>
        </p:txBody>
      </p:sp>
      <p:sp>
        <p:nvSpPr>
          <p:cNvPr id="78" name="Text 81"/>
          <p:cNvSpPr txBox="1"/>
          <p:nvPr/>
        </p:nvSpPr>
        <p:spPr>
          <a:xfrm>
            <a:off x="9164574" y="5230368"/>
            <a:ext cx="2567178" cy="164592"/>
          </a:xfrm>
          <a:prstGeom prst="rect">
            <a:avLst/>
          </a:prstGeom>
          <a:noFill/>
        </p:spPr>
        <p:txBody>
          <a:bodyPr wrap="square" lIns="0" rIns="0" tIns="0" bIns="0" anchor="t">
            <a:spAutoFit/>
          </a:bodyPr>
          <a:lstStyle/>
          <a:p>
            <a:r>
              <a:rPr sz="800" b="0" i="0">
                <a:solidFill>
                  <a:srgbClr val="BFBFBF"/>
                </a:solidFill>
                <a:latin typeface="Trenda IG Text"/>
              </a:rPr>
              <a:t>Return on the build fee</a:t>
            </a:r>
          </a:p>
        </p:txBody>
      </p:sp>
      <p:sp>
        <p:nvSpPr>
          <p:cNvPr id="79" name="Text 82"/>
          <p:cNvSpPr txBox="1"/>
          <p:nvPr/>
        </p:nvSpPr>
        <p:spPr>
          <a:xfrm>
            <a:off x="9164574" y="5394960"/>
            <a:ext cx="2567178" cy="347472"/>
          </a:xfrm>
          <a:prstGeom prst="rect">
            <a:avLst/>
          </a:prstGeom>
          <a:noFill/>
        </p:spPr>
        <p:txBody>
          <a:bodyPr wrap="square" lIns="0" rIns="0" tIns="0" bIns="0" anchor="ctr">
            <a:spAutoFit/>
          </a:bodyPr>
          <a:lstStyle/>
          <a:p>
            <a:r>
              <a:rPr sz="2200" b="1" i="0">
                <a:solidFill>
                  <a:srgbClr val="FFD700"/>
                </a:solidFill>
                <a:latin typeface="Trenda IG Text"/>
              </a:rPr>
              <a:t>7x</a:t>
            </a:r>
          </a:p>
        </p:txBody>
      </p:sp>
      <p:sp>
        <p:nvSpPr>
          <p:cNvPr id="80" name="Text 83"/>
          <p:cNvSpPr txBox="1"/>
          <p:nvPr/>
        </p:nvSpPr>
        <p:spPr>
          <a:xfrm>
            <a:off x="9164574" y="5724144"/>
            <a:ext cx="2567178" cy="164592"/>
          </a:xfrm>
          <a:prstGeom prst="rect">
            <a:avLst/>
          </a:prstGeom>
          <a:noFill/>
        </p:spPr>
        <p:txBody>
          <a:bodyPr wrap="square" lIns="0" rIns="0" tIns="0" bIns="0" anchor="t">
            <a:spAutoFit/>
          </a:bodyPr>
          <a:lstStyle/>
          <a:p>
            <a:r>
              <a:rPr sz="750" b="0" i="0">
                <a:solidFill>
                  <a:srgbClr val="BFBFBF"/>
                </a:solidFill>
                <a:latin typeface="Trenda IG Text"/>
              </a:rPr>
              <a:t>$4.79M fee, paid back in year 1 after go-live</a:t>
            </a:r>
          </a:p>
        </p:txBody>
      </p:sp>
      <p:sp>
        <p:nvSpPr>
          <p:cNvPr id="81" name="Text 84"/>
          <p:cNvSpPr txBox="1"/>
          <p:nvPr/>
        </p:nvSpPr>
        <p:spPr>
          <a:xfrm>
            <a:off x="411480" y="5998464"/>
            <a:ext cx="11365992" cy="292608"/>
          </a:xfrm>
          <a:prstGeom prst="rect">
            <a:avLst/>
          </a:prstGeom>
          <a:noFill/>
        </p:spPr>
        <p:txBody>
          <a:bodyPr wrap="square" lIns="0" rIns="0" tIns="0" bIns="0" anchor="t">
            <a:spAutoFit/>
          </a:bodyPr>
          <a:lstStyle/>
          <a:p>
            <a:r>
              <a:rPr sz="650" b="0" i="0">
                <a:solidFill>
                  <a:srgbClr val="595959"/>
                </a:solidFill>
                <a:latin typeface="Trenda IG Text"/>
              </a:rPr>
              <a:t>Ascension's spend across all pods, about $16M a year, as provided. Years 1-3 start once the 18-month implementation is done (month 19 on) and every pod is live; they include agent run costs and the managed service. Planning estimates, confirmed against each pod's Phase 0 baseline; the business outcomes slide's 20-25% is the floor.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Across all pods, about $33M saved over three years </a:t>
            </a:r>
            <a:r>
              <a:rPr sz="900" b="0" i="0">
                <a:solidFill>
                  <a:srgbClr val="BFBFBF"/>
                </a:solidFill>
                <a:latin typeface="Trenda IG Text"/>
              </a:rPr>
              <a:t>($16M a year today).</a:t>
            </a:r>
          </a:p>
          <a:p>
            <a:pPr>
              <a:spcAft>
                <a:spcPts val="600"/>
              </a:spcAft>
            </a:pPr>
            <a:r>
              <a:rPr sz="900" b="0" i="0">
                <a:solidFill>
                  <a:srgbClr val="FFFFFF"/>
                </a:solidFill>
                <a:latin typeface="Trenda IG Text"/>
              </a:rPr>
              <a:t>That is about 7x the build fee, paid back during year 1.</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02336"/>
          </a:xfrm>
          <a:prstGeom prst="rect">
            <a:avLst/>
          </a:prstGeom>
          <a:noFill/>
        </p:spPr>
        <p:txBody>
          <a:bodyPr wrap="square" lIns="0" rIns="0" tIns="0" bIns="0" anchor="ctr">
            <a:spAutoFit/>
          </a:bodyPr>
          <a:lstStyle/>
          <a:p>
            <a:pPr algn="ctr"/>
            <a:r>
              <a:rPr sz="900" b="1" i="0" spc="200">
                <a:solidFill>
                  <a:srgbClr val="00D6F2"/>
                </a:solidFill>
                <a:latin typeface="Trenda IG Text"/>
              </a:rPr>
              <a:t>THE AGENTIC HARNESS</a:t>
            </a:r>
            <a:r>
              <a:rPr sz="900" b="0" i="0">
                <a:solidFill>
                  <a:srgbClr val="BFBFBF"/>
                </a:solidFill>
                <a:latin typeface="Trenda IG Text"/>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57607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01</a:t>
            </a:r>
          </a:p>
        </p:txBody>
      </p:sp>
      <p:sp>
        <p:nvSpPr>
          <p:cNvPr id="10" name="Text 9"/>
          <p:cNvSpPr txBox="1"/>
          <p:nvPr/>
        </p:nvSpPr>
        <p:spPr>
          <a:xfrm>
            <a:off x="57607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Context</a:t>
            </a:r>
          </a:p>
        </p:txBody>
      </p:sp>
      <p:sp>
        <p:nvSpPr>
          <p:cNvPr id="11" name="Text 10"/>
          <p:cNvSpPr txBox="1"/>
          <p:nvPr/>
        </p:nvSpPr>
        <p:spPr>
          <a:xfrm>
            <a:off x="57607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7607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4066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066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4066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4066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87670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02</a:t>
            </a:r>
          </a:p>
        </p:txBody>
      </p:sp>
      <p:sp>
        <p:nvSpPr>
          <p:cNvPr id="28" name="Text 27"/>
          <p:cNvSpPr txBox="1"/>
          <p:nvPr/>
        </p:nvSpPr>
        <p:spPr>
          <a:xfrm>
            <a:off x="287670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Action</a:t>
            </a:r>
          </a:p>
        </p:txBody>
      </p:sp>
      <p:sp>
        <p:nvSpPr>
          <p:cNvPr id="29" name="Text 28"/>
          <p:cNvSpPr txBox="1"/>
          <p:nvPr/>
        </p:nvSpPr>
        <p:spPr>
          <a:xfrm>
            <a:off x="287670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7670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304129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304129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04129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04129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17733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03</a:t>
            </a:r>
          </a:p>
        </p:txBody>
      </p:sp>
      <p:sp>
        <p:nvSpPr>
          <p:cNvPr id="46" name="Text 45"/>
          <p:cNvSpPr txBox="1"/>
          <p:nvPr/>
        </p:nvSpPr>
        <p:spPr>
          <a:xfrm>
            <a:off x="517733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Orchestration</a:t>
            </a:r>
          </a:p>
        </p:txBody>
      </p:sp>
      <p:sp>
        <p:nvSpPr>
          <p:cNvPr id="47" name="Text 46"/>
          <p:cNvSpPr txBox="1"/>
          <p:nvPr/>
        </p:nvSpPr>
        <p:spPr>
          <a:xfrm>
            <a:off x="517733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17733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4192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534192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34192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34192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47796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04</a:t>
            </a:r>
          </a:p>
        </p:txBody>
      </p:sp>
      <p:sp>
        <p:nvSpPr>
          <p:cNvPr id="64" name="Text 63"/>
          <p:cNvSpPr txBox="1"/>
          <p:nvPr/>
        </p:nvSpPr>
        <p:spPr>
          <a:xfrm>
            <a:off x="747796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Control</a:t>
            </a:r>
          </a:p>
        </p:txBody>
      </p:sp>
      <p:sp>
        <p:nvSpPr>
          <p:cNvPr id="65" name="Text 64"/>
          <p:cNvSpPr txBox="1"/>
          <p:nvPr/>
        </p:nvSpPr>
        <p:spPr>
          <a:xfrm>
            <a:off x="747796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747796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64255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64255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64255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764255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977859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05</a:t>
            </a:r>
          </a:p>
        </p:txBody>
      </p:sp>
      <p:sp>
        <p:nvSpPr>
          <p:cNvPr id="82" name="Text 81"/>
          <p:cNvSpPr txBox="1"/>
          <p:nvPr/>
        </p:nvSpPr>
        <p:spPr>
          <a:xfrm>
            <a:off x="977859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Feedback</a:t>
            </a:r>
          </a:p>
        </p:txBody>
      </p:sp>
      <p:sp>
        <p:nvSpPr>
          <p:cNvPr id="83" name="Text 82"/>
          <p:cNvSpPr txBox="1"/>
          <p:nvPr/>
        </p:nvSpPr>
        <p:spPr>
          <a:xfrm>
            <a:off x="977859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977859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994318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94318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94318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94318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40080" y="5230368"/>
            <a:ext cx="2194560" cy="512064"/>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99" name="Text 98"/>
          <p:cNvSpPr txBox="1"/>
          <p:nvPr/>
        </p:nvSpPr>
        <p:spPr>
          <a:xfrm>
            <a:off x="2788920" y="5230368"/>
            <a:ext cx="8759952" cy="512064"/>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The org health report is a read-only Review Agent run: it changes nothing in the org.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FUTURE STATE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rIns="0" tIns="0" bIns="0" anchor="ctr">
            <a:spAutoFit/>
          </a:bodyPr>
          <a:lstStyle/>
          <a:p>
            <a:r>
              <a:rPr sz="1500" b="1" i="0">
                <a:solidFill>
                  <a:srgbClr val="FFFFFF"/>
                </a:solidFill>
                <a:latin typeface="Trenda IG Text"/>
              </a:rPr>
              <a:t>Agentic Harness</a:t>
            </a:r>
          </a:p>
        </p:txBody>
      </p:sp>
      <p:sp>
        <p:nvSpPr>
          <p:cNvPr id="10" name="Text 10"/>
          <p:cNvSpPr txBox="1"/>
          <p:nvPr/>
        </p:nvSpPr>
        <p:spPr>
          <a:xfrm>
            <a:off x="2039112" y="1261872"/>
            <a:ext cx="5440680" cy="182880"/>
          </a:xfrm>
          <a:prstGeom prst="rect">
            <a:avLst/>
          </a:prstGeom>
          <a:noFill/>
        </p:spPr>
        <p:txBody>
          <a:bodyPr wrap="square" lIns="0" rIns="0" tIns="0" bIns="0" anchor="ctr">
            <a:spAutoFit/>
          </a:bodyPr>
          <a:lstStyle/>
          <a:p>
            <a:r>
              <a:rPr sz="700" b="1" i="0" spc="200">
                <a:solidFill>
                  <a:srgbClr val="BFBFBF"/>
                </a:solidFill>
                <a:latin typeface="Trenda IG Text"/>
              </a:rPr>
              <a:t>TODAY · THIS PROPOSAL</a:t>
            </a:r>
          </a:p>
        </p:txBody>
      </p:sp>
      <p:sp>
        <p:nvSpPr>
          <p:cNvPr id="11" name="Text 11"/>
          <p:cNvSpPr txBox="1"/>
          <p:nvPr/>
        </p:nvSpPr>
        <p:spPr>
          <a:xfrm>
            <a:off x="2039112" y="1792224"/>
            <a:ext cx="5440680" cy="237744"/>
          </a:xfrm>
          <a:prstGeom prst="rect">
            <a:avLst/>
          </a:prstGeom>
          <a:noFill/>
        </p:spPr>
        <p:txBody>
          <a:bodyPr wrap="square" lIns="0" rIns="0" tIns="0" bIns="0" anchor="t">
            <a:spAutoFit/>
          </a:bodyPr>
          <a:lstStyle/>
          <a:p>
            <a:r>
              <a:rPr sz="800" b="0" i="0">
                <a:solidFill>
                  <a:srgbClr val="BFBFBF"/>
                </a:solidFill>
                <a:latin typeface="Trenda IG Text"/>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rIns="0" tIns="0" bIns="0" anchor="ctr">
            <a:spAutoFit/>
          </a:bodyPr>
          <a:lstStyle/>
          <a:p>
            <a:r>
              <a:rPr sz="2400" b="1" i="0">
                <a:solidFill>
                  <a:srgbClr val="FFD700"/>
                </a:solidFill>
                <a:latin typeface="Trenda IG Text"/>
              </a:rPr>
              <a:t>AGI</a:t>
            </a:r>
            <a:r>
              <a:rPr sz="1500" b="1" i="0">
                <a:solidFill>
                  <a:srgbClr val="FFFFFF"/>
                </a:solidFill>
                <a:latin typeface="Trenda IG Text"/>
              </a:rPr>
              <a:t>   Dynamic self-harness</a:t>
            </a:r>
          </a:p>
        </p:txBody>
      </p:sp>
      <p:sp>
        <p:nvSpPr>
          <p:cNvPr id="13" name="Text 13"/>
          <p:cNvSpPr txBox="1"/>
          <p:nvPr/>
        </p:nvSpPr>
        <p:spPr>
          <a:xfrm>
            <a:off x="8028432" y="1261872"/>
            <a:ext cx="3639311" cy="182880"/>
          </a:xfrm>
          <a:prstGeom prst="rect">
            <a:avLst/>
          </a:prstGeom>
          <a:noFill/>
        </p:spPr>
        <p:txBody>
          <a:bodyPr wrap="square" lIns="0" rIns="0" tIns="0" bIns="0" anchor="ctr">
            <a:spAutoFit/>
          </a:bodyPr>
          <a:lstStyle/>
          <a:p>
            <a:r>
              <a:rPr sz="700" b="1" i="0" spc="200">
                <a:solidFill>
                  <a:srgbClr val="FFD700"/>
                </a:solidFill>
                <a:latin typeface="Trenda IG Text"/>
              </a:rPr>
              <a:t>FUTURE STATE</a:t>
            </a:r>
          </a:p>
        </p:txBody>
      </p:sp>
      <p:sp>
        <p:nvSpPr>
          <p:cNvPr id="14" name="Text 14"/>
          <p:cNvSpPr txBox="1"/>
          <p:nvPr/>
        </p:nvSpPr>
        <p:spPr>
          <a:xfrm>
            <a:off x="8028432" y="1792224"/>
            <a:ext cx="3639311" cy="237744"/>
          </a:xfrm>
          <a:prstGeom prst="rect">
            <a:avLst/>
          </a:prstGeom>
          <a:noFill/>
        </p:spPr>
        <p:txBody>
          <a:bodyPr wrap="square" lIns="0" rIns="0" tIns="0" bIns="0" anchor="t">
            <a:spAutoFit/>
          </a:bodyPr>
          <a:lstStyle/>
          <a:p>
            <a:r>
              <a:rPr sz="800" b="0" i="0">
                <a:solidFill>
                  <a:srgbClr val="BFBFBF"/>
                </a:solidFill>
                <a:latin typeface="Trenda IG Text"/>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rIns="0" tIns="0" bIns="0" anchor="ctr">
            <a:spAutoFit/>
          </a:bodyPr>
          <a:lstStyle/>
          <a:p>
            <a:r>
              <a:rPr sz="650" b="1" i="0" spc="150">
                <a:solidFill>
                  <a:srgbClr val="FFD700"/>
                </a:solidFill>
                <a:latin typeface="Trenda IG Text"/>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411480" y="2212848"/>
            <a:ext cx="320040" cy="347472"/>
          </a:xfrm>
          <a:prstGeom prst="rect">
            <a:avLst/>
          </a:prstGeom>
          <a:noFill/>
        </p:spPr>
        <p:txBody>
          <a:bodyPr wrap="square" lIns="0" rIns="0" tIns="0" bIns="0" anchor="ctr">
            <a:spAutoFit/>
          </a:bodyPr>
          <a:lstStyle/>
          <a:p>
            <a:r>
              <a:rPr sz="1200" b="0" i="0">
                <a:solidFill>
                  <a:srgbClr val="00D6F2"/>
                </a:solidFill>
                <a:latin typeface="Trenda IG Text Light"/>
              </a:rPr>
              <a:t>01</a:t>
            </a:r>
          </a:p>
        </p:txBody>
      </p:sp>
      <p:sp>
        <p:nvSpPr>
          <p:cNvPr id="18" name="Text 18"/>
          <p:cNvSpPr txBox="1"/>
          <p:nvPr/>
        </p:nvSpPr>
        <p:spPr>
          <a:xfrm>
            <a:off x="758952" y="2212848"/>
            <a:ext cx="1097280" cy="347472"/>
          </a:xfrm>
          <a:prstGeom prst="rect">
            <a:avLst/>
          </a:prstGeom>
          <a:noFill/>
        </p:spPr>
        <p:txBody>
          <a:bodyPr wrap="square" lIns="0" rIns="0" tIns="0" bIns="0" anchor="ctr">
            <a:spAutoFit/>
          </a:bodyPr>
          <a:lstStyle/>
          <a:p>
            <a:r>
              <a:rPr sz="1100" b="1" i="0">
                <a:solidFill>
                  <a:srgbClr val="FFFFFF"/>
                </a:solidFill>
                <a:latin typeface="Trenda IG Text"/>
              </a:rPr>
              <a:t>Context</a:t>
            </a:r>
          </a:p>
        </p:txBody>
      </p:sp>
      <p:sp>
        <p:nvSpPr>
          <p:cNvPr id="19" name="Text 19"/>
          <p:cNvSpPr txBox="1"/>
          <p:nvPr/>
        </p:nvSpPr>
        <p:spPr>
          <a:xfrm>
            <a:off x="2039112" y="2194560"/>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connect the sources and write the AGENTS.md maps</a:t>
            </a:r>
          </a:p>
          <a:p>
            <a:pPr>
              <a:spcAft>
                <a:spcPts val="200"/>
              </a:spcAft>
            </a:pPr>
            <a:r>
              <a:rPr sz="850" b="1" i="0">
                <a:solidFill>
                  <a:srgbClr val="00D6F2"/>
                </a:solidFill>
                <a:latin typeface="Trenda IG Text"/>
              </a:rPr>
              <a:t>Agents  </a:t>
            </a:r>
            <a:r>
              <a:rPr sz="850" b="0" i="0">
                <a:solidFill>
                  <a:srgbClr val="FFFFFF"/>
                </a:solidFill>
                <a:latin typeface="Trenda IG Text"/>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2"/>
          <p:cNvSpPr txBox="1"/>
          <p:nvPr/>
        </p:nvSpPr>
        <p:spPr>
          <a:xfrm>
            <a:off x="411480" y="2651760"/>
            <a:ext cx="320040" cy="347472"/>
          </a:xfrm>
          <a:prstGeom prst="rect">
            <a:avLst/>
          </a:prstGeom>
          <a:noFill/>
        </p:spPr>
        <p:txBody>
          <a:bodyPr wrap="square" lIns="0" rIns="0" tIns="0" bIns="0" anchor="ctr">
            <a:spAutoFit/>
          </a:bodyPr>
          <a:lstStyle/>
          <a:p>
            <a:r>
              <a:rPr sz="1200" b="0" i="0">
                <a:solidFill>
                  <a:srgbClr val="00D6F2"/>
                </a:solidFill>
                <a:latin typeface="Trenda IG Text Light"/>
              </a:rPr>
              <a:t>02</a:t>
            </a:r>
          </a:p>
        </p:txBody>
      </p:sp>
      <p:sp>
        <p:nvSpPr>
          <p:cNvPr id="23" name="Text 23"/>
          <p:cNvSpPr txBox="1"/>
          <p:nvPr/>
        </p:nvSpPr>
        <p:spPr>
          <a:xfrm>
            <a:off x="758952" y="2651760"/>
            <a:ext cx="1097280" cy="347472"/>
          </a:xfrm>
          <a:prstGeom prst="rect">
            <a:avLst/>
          </a:prstGeom>
          <a:noFill/>
        </p:spPr>
        <p:txBody>
          <a:bodyPr wrap="square" lIns="0" rIns="0" tIns="0" bIns="0" anchor="ctr">
            <a:spAutoFit/>
          </a:bodyPr>
          <a:lstStyle/>
          <a:p>
            <a:r>
              <a:rPr sz="1100" b="1" i="0">
                <a:solidFill>
                  <a:srgbClr val="FFFFFF"/>
                </a:solidFill>
                <a:latin typeface="Trenda IG Text"/>
              </a:rPr>
              <a:t>Action</a:t>
            </a:r>
          </a:p>
        </p:txBody>
      </p:sp>
      <p:sp>
        <p:nvSpPr>
          <p:cNvPr id="24" name="Text 24"/>
          <p:cNvSpPr txBox="1"/>
          <p:nvPr/>
        </p:nvSpPr>
        <p:spPr>
          <a:xfrm>
            <a:off x="2039112" y="2633472"/>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grant each tool, step by step</a:t>
            </a:r>
          </a:p>
          <a:p>
            <a:pPr>
              <a:spcAft>
                <a:spcPts val="200"/>
              </a:spcAft>
            </a:pPr>
            <a:r>
              <a:rPr sz="850" b="1" i="0">
                <a:solidFill>
                  <a:srgbClr val="00D6F2"/>
                </a:solidFill>
                <a:latin typeface="Trenda IG Text"/>
              </a:rPr>
              <a:t>Agents  </a:t>
            </a:r>
            <a:r>
              <a:rPr sz="850" b="0" i="0">
                <a:solidFill>
                  <a:srgbClr val="FFFFFF"/>
                </a:solidFill>
                <a:latin typeface="Trenda IG Text"/>
              </a:rPr>
              <a:t>request a new tool with the reason</a:t>
            </a:r>
          </a:p>
        </p:txBody>
      </p:sp>
      <p:sp>
        <p:nvSpPr>
          <p:cNvPr id="25" name="Text 25"/>
          <p:cNvSpPr txBox="1"/>
          <p:nvPr/>
        </p:nvSpPr>
        <p:spPr>
          <a:xfrm>
            <a:off x="8028432" y="2651760"/>
            <a:ext cx="3639311" cy="347472"/>
          </a:xfrm>
          <a:prstGeom prst="rect">
            <a:avLst/>
          </a:prstGeom>
          <a:noFill/>
        </p:spPr>
        <p:txBody>
          <a:bodyPr wrap="square" lIns="0" rIns="0" tIns="0" bIns="0" anchor="ctr">
            <a:spAutoFit/>
          </a:bodyPr>
          <a:lstStyle/>
          <a:p>
            <a:r>
              <a:rPr sz="850" b="1" i="0">
                <a:solidFill>
                  <a:srgbClr val="FFFFFF"/>
                </a:solidFill>
                <a:latin typeface="Trenda IG Text"/>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411480" y="3090672"/>
            <a:ext cx="320040" cy="347472"/>
          </a:xfrm>
          <a:prstGeom prst="rect">
            <a:avLst/>
          </a:prstGeom>
          <a:noFill/>
        </p:spPr>
        <p:txBody>
          <a:bodyPr wrap="square" lIns="0" rIns="0" tIns="0" bIns="0" anchor="ctr">
            <a:spAutoFit/>
          </a:bodyPr>
          <a:lstStyle/>
          <a:p>
            <a:r>
              <a:rPr sz="1200" b="0" i="0">
                <a:solidFill>
                  <a:srgbClr val="00D6F2"/>
                </a:solidFill>
                <a:latin typeface="Trenda IG Text Light"/>
              </a:rPr>
              <a:t>03</a:t>
            </a:r>
          </a:p>
        </p:txBody>
      </p:sp>
      <p:sp>
        <p:nvSpPr>
          <p:cNvPr id="28" name="Text 28"/>
          <p:cNvSpPr txBox="1"/>
          <p:nvPr/>
        </p:nvSpPr>
        <p:spPr>
          <a:xfrm>
            <a:off x="758952" y="3090672"/>
            <a:ext cx="1097280" cy="347472"/>
          </a:xfrm>
          <a:prstGeom prst="rect">
            <a:avLst/>
          </a:prstGeom>
          <a:noFill/>
        </p:spPr>
        <p:txBody>
          <a:bodyPr wrap="square" lIns="0" rIns="0" tIns="0" bIns="0" anchor="ctr">
            <a:spAutoFit/>
          </a:bodyPr>
          <a:lstStyle/>
          <a:p>
            <a:r>
              <a:rPr sz="1100" b="1" i="0">
                <a:solidFill>
                  <a:srgbClr val="FFFFFF"/>
                </a:solidFill>
                <a:latin typeface="Trenda IG Text"/>
              </a:rPr>
              <a:t>Orchestration</a:t>
            </a:r>
          </a:p>
        </p:txBody>
      </p:sp>
      <p:sp>
        <p:nvSpPr>
          <p:cNvPr id="29" name="Text 29"/>
          <p:cNvSpPr txBox="1"/>
          <p:nvPr/>
        </p:nvSpPr>
        <p:spPr>
          <a:xfrm>
            <a:off x="2039112" y="3072384"/>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design the nine-step run</a:t>
            </a:r>
          </a:p>
          <a:p>
            <a:pPr>
              <a:spcAft>
                <a:spcPts val="200"/>
              </a:spcAft>
            </a:pPr>
            <a:r>
              <a:rPr sz="850" b="1" i="0">
                <a:solidFill>
                  <a:srgbClr val="00D6F2"/>
                </a:solidFill>
                <a:latin typeface="Trenda IG Text"/>
              </a:rPr>
              <a:t>Agents  </a:t>
            </a:r>
            <a:r>
              <a:rPr sz="850" b="0" i="0">
                <a:solidFill>
                  <a:srgbClr val="FFFFFF"/>
                </a:solidFill>
                <a:latin typeface="Trenda IG Text"/>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411480" y="3529584"/>
            <a:ext cx="320040" cy="347472"/>
          </a:xfrm>
          <a:prstGeom prst="rect">
            <a:avLst/>
          </a:prstGeom>
          <a:noFill/>
        </p:spPr>
        <p:txBody>
          <a:bodyPr wrap="square" lIns="0" rIns="0" tIns="0" bIns="0" anchor="ctr">
            <a:spAutoFit/>
          </a:bodyPr>
          <a:lstStyle/>
          <a:p>
            <a:r>
              <a:rPr sz="1200" b="0" i="0">
                <a:solidFill>
                  <a:srgbClr val="00D6F2"/>
                </a:solidFill>
                <a:latin typeface="Trenda IG Text Light"/>
              </a:rPr>
              <a:t>04</a:t>
            </a:r>
          </a:p>
        </p:txBody>
      </p:sp>
      <p:sp>
        <p:nvSpPr>
          <p:cNvPr id="33" name="Text 33"/>
          <p:cNvSpPr txBox="1"/>
          <p:nvPr/>
        </p:nvSpPr>
        <p:spPr>
          <a:xfrm>
            <a:off x="758952" y="3529584"/>
            <a:ext cx="1097280" cy="347472"/>
          </a:xfrm>
          <a:prstGeom prst="rect">
            <a:avLst/>
          </a:prstGeom>
          <a:noFill/>
        </p:spPr>
        <p:txBody>
          <a:bodyPr wrap="square" lIns="0" rIns="0" tIns="0" bIns="0" anchor="ctr">
            <a:spAutoFit/>
          </a:bodyPr>
          <a:lstStyle/>
          <a:p>
            <a:r>
              <a:rPr sz="1100" b="1" i="0">
                <a:solidFill>
                  <a:srgbClr val="FFFFFF"/>
                </a:solidFill>
                <a:latin typeface="Trenda IG Text"/>
              </a:rPr>
              <a:t>Control</a:t>
            </a:r>
          </a:p>
        </p:txBody>
      </p:sp>
      <p:sp>
        <p:nvSpPr>
          <p:cNvPr id="34" name="Text 34"/>
          <p:cNvSpPr txBox="1"/>
          <p:nvPr/>
        </p:nvSpPr>
        <p:spPr>
          <a:xfrm>
            <a:off x="2039112" y="3511296"/>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write the Guardian rules and approve at H1-H4</a:t>
            </a:r>
          </a:p>
          <a:p>
            <a:pPr>
              <a:spcAft>
                <a:spcPts val="200"/>
              </a:spcAft>
            </a:pPr>
            <a:r>
              <a:rPr sz="850" b="1" i="0">
                <a:solidFill>
                  <a:srgbClr val="00D6F2"/>
                </a:solidFill>
                <a:latin typeface="Trenda IG Text"/>
              </a:rPr>
              <a:t>Agents  </a:t>
            </a:r>
            <a:r>
              <a:rPr sz="850" b="0" i="0">
                <a:solidFill>
                  <a:srgbClr val="FFFFFF"/>
                </a:solidFill>
                <a:latin typeface="Trenda IG Text"/>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411480" y="3968496"/>
            <a:ext cx="320040" cy="347472"/>
          </a:xfrm>
          <a:prstGeom prst="rect">
            <a:avLst/>
          </a:prstGeom>
          <a:noFill/>
        </p:spPr>
        <p:txBody>
          <a:bodyPr wrap="square" lIns="0" rIns="0" tIns="0" bIns="0" anchor="ctr">
            <a:spAutoFit/>
          </a:bodyPr>
          <a:lstStyle/>
          <a:p>
            <a:r>
              <a:rPr sz="1200" b="0" i="0">
                <a:solidFill>
                  <a:srgbClr val="00D6F2"/>
                </a:solidFill>
                <a:latin typeface="Trenda IG Text Light"/>
              </a:rPr>
              <a:t>05</a:t>
            </a:r>
          </a:p>
        </p:txBody>
      </p:sp>
      <p:sp>
        <p:nvSpPr>
          <p:cNvPr id="38" name="Text 38"/>
          <p:cNvSpPr txBox="1"/>
          <p:nvPr/>
        </p:nvSpPr>
        <p:spPr>
          <a:xfrm>
            <a:off x="758952" y="3968496"/>
            <a:ext cx="1097280" cy="347472"/>
          </a:xfrm>
          <a:prstGeom prst="rect">
            <a:avLst/>
          </a:prstGeom>
          <a:noFill/>
        </p:spPr>
        <p:txBody>
          <a:bodyPr wrap="square" lIns="0" rIns="0" tIns="0" bIns="0" anchor="ctr">
            <a:spAutoFit/>
          </a:bodyPr>
          <a:lstStyle/>
          <a:p>
            <a:r>
              <a:rPr sz="1100" b="1" i="0">
                <a:solidFill>
                  <a:srgbClr val="FFFFFF"/>
                </a:solidFill>
                <a:latin typeface="Trenda IG Text"/>
              </a:rPr>
              <a:t>Feedback</a:t>
            </a:r>
          </a:p>
        </p:txBody>
      </p:sp>
      <p:sp>
        <p:nvSpPr>
          <p:cNvPr id="39" name="Text 39"/>
          <p:cNvSpPr txBox="1"/>
          <p:nvPr/>
        </p:nvSpPr>
        <p:spPr>
          <a:xfrm>
            <a:off x="2039112" y="3950208"/>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review results and approve every fix</a:t>
            </a:r>
          </a:p>
          <a:p>
            <a:pPr>
              <a:spcAft>
                <a:spcPts val="200"/>
              </a:spcAft>
            </a:pPr>
            <a:r>
              <a:rPr sz="850" b="1" i="0">
                <a:solidFill>
                  <a:srgbClr val="00D6F2"/>
                </a:solidFill>
                <a:latin typeface="Trenda IG Text"/>
              </a:rPr>
              <a:t>Agents  </a:t>
            </a:r>
            <a:r>
              <a:rPr sz="850" b="0" i="0">
                <a:solidFill>
                  <a:srgbClr val="FFFFFF"/>
                </a:solidFill>
                <a:latin typeface="Trenda IG Text"/>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rIns="0" tIns="0" bIns="0" anchor="ctr">
            <a:spAutoFit/>
          </a:bodyPr>
          <a:lstStyle/>
          <a:p>
            <a:r>
              <a:rPr sz="850" b="1" i="0">
                <a:solidFill>
                  <a:srgbClr val="FFFFFF"/>
                </a:solidFill>
                <a:latin typeface="Trenda IG Text"/>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81228" y="4686300"/>
            <a:ext cx="2286000" cy="310896"/>
          </a:xfrm>
          <a:prstGeom prst="rect">
            <a:avLst/>
          </a:prstGeom>
          <a:noFill/>
        </p:spPr>
        <p:txBody>
          <a:bodyPr wrap="square" lIns="0" rIns="0" tIns="0" bIns="0" anchor="ctr">
            <a:spAutoFit/>
          </a:bodyPr>
          <a:lstStyle/>
          <a:p>
            <a:r>
              <a:rPr sz="1400" b="1" i="0" spc="100">
                <a:solidFill>
                  <a:srgbClr val="FFFFFF"/>
                </a:solidFill>
                <a:latin typeface="Trenda IG Text"/>
              </a:rPr>
              <a:t>HOW WE TRUST </a:t>
            </a:r>
            <a:r>
              <a:rPr sz="1400" b="1" i="0" spc="100">
                <a:solidFill>
                  <a:srgbClr val="FFD700"/>
                </a:solidFill>
                <a:latin typeface="Trenda IG Text"/>
              </a:rPr>
              <a:t>AGI</a:t>
            </a:r>
          </a:p>
        </p:txBody>
      </p:sp>
      <p:sp>
        <p:nvSpPr>
          <p:cNvPr id="44" name="Text 45"/>
          <p:cNvSpPr txBox="1"/>
          <p:nvPr/>
        </p:nvSpPr>
        <p:spPr>
          <a:xfrm>
            <a:off x="681228" y="5015483"/>
            <a:ext cx="2240280" cy="603504"/>
          </a:xfrm>
          <a:prstGeom prst="rect">
            <a:avLst/>
          </a:prstGeom>
          <a:noFill/>
        </p:spPr>
        <p:txBody>
          <a:bodyPr wrap="square" lIns="0" rIns="0" tIns="0" bIns="0" anchor="t">
            <a:spAutoFit/>
          </a:bodyPr>
          <a:lstStyle/>
          <a:p>
            <a:r>
              <a:rPr sz="850" b="0" i="0">
                <a:solidFill>
                  <a:srgbClr val="BFBFBF"/>
                </a:solidFill>
                <a:latin typeface="Trenda IG Text"/>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3168396"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1  </a:t>
            </a:r>
            <a:r>
              <a:rPr sz="1000" b="1" i="0">
                <a:solidFill>
                  <a:srgbClr val="FFFFFF"/>
                </a:solidFill>
                <a:latin typeface="Trenda IG Text"/>
              </a:rPr>
              <a:t>Earned step by step</a:t>
            </a:r>
          </a:p>
        </p:txBody>
      </p:sp>
      <p:sp>
        <p:nvSpPr>
          <p:cNvPr id="47" name="Text 48"/>
          <p:cNvSpPr txBox="1"/>
          <p:nvPr/>
        </p:nvSpPr>
        <p:spPr>
          <a:xfrm>
            <a:off x="3168396"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5269229"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2  </a:t>
            </a:r>
            <a:r>
              <a:rPr sz="1000" b="1" i="0">
                <a:solidFill>
                  <a:srgbClr val="FFFFFF"/>
                </a:solidFill>
                <a:latin typeface="Trenda IG Text"/>
              </a:rPr>
              <a:t>Every action on record</a:t>
            </a:r>
          </a:p>
        </p:txBody>
      </p:sp>
      <p:sp>
        <p:nvSpPr>
          <p:cNvPr id="50" name="Text 51"/>
          <p:cNvSpPr txBox="1"/>
          <p:nvPr/>
        </p:nvSpPr>
        <p:spPr>
          <a:xfrm>
            <a:off x="5269229" y="5015483"/>
            <a:ext cx="1917953" cy="603504"/>
          </a:xfrm>
          <a:prstGeom prst="rect">
            <a:avLst/>
          </a:prstGeom>
          <a:noFill/>
        </p:spPr>
        <p:txBody>
          <a:bodyPr wrap="square" lIns="0" rIns="0" tIns="0" bIns="0" anchor="t">
            <a:spAutoFit/>
          </a:bodyPr>
          <a:lstStyle/>
          <a:p>
            <a:r>
              <a:rPr sz="850" b="0" i="0">
                <a:solidFill>
                  <a:srgbClr val="BFBFBF"/>
                </a:solidFill>
                <a:latin typeface="Trenda IG Text"/>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3"/>
          <p:cNvSpPr txBox="1"/>
          <p:nvPr/>
        </p:nvSpPr>
        <p:spPr>
          <a:xfrm>
            <a:off x="7370063"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3  </a:t>
            </a:r>
            <a:r>
              <a:rPr sz="1000" b="1" i="0">
                <a:solidFill>
                  <a:srgbClr val="FFFFFF"/>
                </a:solidFill>
                <a:latin typeface="Trenda IG Text"/>
              </a:rPr>
              <a:t>Hard limits it cannot change</a:t>
            </a:r>
          </a:p>
        </p:txBody>
      </p:sp>
      <p:sp>
        <p:nvSpPr>
          <p:cNvPr id="53" name="Text 54"/>
          <p:cNvSpPr txBox="1"/>
          <p:nvPr/>
        </p:nvSpPr>
        <p:spPr>
          <a:xfrm>
            <a:off x="7370063" y="5015483"/>
            <a:ext cx="1917953" cy="603504"/>
          </a:xfrm>
          <a:prstGeom prst="rect">
            <a:avLst/>
          </a:prstGeom>
          <a:noFill/>
        </p:spPr>
        <p:txBody>
          <a:bodyPr wrap="square" lIns="0" rIns="0" tIns="0" bIns="0" anchor="t">
            <a:spAutoFit/>
          </a:bodyPr>
          <a:lstStyle/>
          <a:p>
            <a:r>
              <a:rPr sz="850" b="0" i="0">
                <a:solidFill>
                  <a:srgbClr val="BFBFBF"/>
                </a:solidFill>
                <a:latin typeface="Trenda IG Text"/>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6"/>
          <p:cNvSpPr txBox="1"/>
          <p:nvPr/>
        </p:nvSpPr>
        <p:spPr>
          <a:xfrm>
            <a:off x="9470898"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4  </a:t>
            </a:r>
            <a:r>
              <a:rPr sz="1000" b="1" i="0">
                <a:solidFill>
                  <a:srgbClr val="FFFFFF"/>
                </a:solidFill>
                <a:latin typeface="Trenda IG Text"/>
              </a:rPr>
              <a:t>People can always stop it</a:t>
            </a:r>
          </a:p>
        </p:txBody>
      </p:sp>
      <p:sp>
        <p:nvSpPr>
          <p:cNvPr id="56" name="Text 57"/>
          <p:cNvSpPr txBox="1"/>
          <p:nvPr/>
        </p:nvSpPr>
        <p:spPr>
          <a:xfrm>
            <a:off x="9470898"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9"/>
          <p:cNvSpPr txBox="1"/>
          <p:nvPr/>
        </p:nvSpPr>
        <p:spPr>
          <a:xfrm>
            <a:off x="640080" y="5650992"/>
            <a:ext cx="2194560" cy="347472"/>
          </a:xfrm>
          <a:prstGeom prst="rect">
            <a:avLst/>
          </a:prstGeom>
          <a:noFill/>
        </p:spPr>
        <p:txBody>
          <a:bodyPr wrap="square" lIns="0" rIns="0" tIns="0" bIns="0" anchor="ctr">
            <a:spAutoFit/>
          </a:bodyPr>
          <a:lstStyle/>
          <a:p>
            <a:r>
              <a:rPr sz="750" b="1" i="0" spc="200">
                <a:solidFill>
                  <a:srgbClr val="FF0069"/>
                </a:solidFill>
                <a:latin typeface="Trenda IG Text"/>
              </a:rPr>
              <a:t>WHAT NEVER CHANGES</a:t>
            </a:r>
          </a:p>
        </p:txBody>
      </p:sp>
      <p:sp>
        <p:nvSpPr>
          <p:cNvPr id="59" name="Text 60"/>
          <p:cNvSpPr txBox="1"/>
          <p:nvPr/>
        </p:nvSpPr>
        <p:spPr>
          <a:xfrm>
            <a:off x="2788920" y="5650992"/>
            <a:ext cx="8759952" cy="347472"/>
          </a:xfrm>
          <a:prstGeom prst="rect">
            <a:avLst/>
          </a:prstGeom>
          <a:noFill/>
        </p:spPr>
        <p:txBody>
          <a:bodyPr wrap="square" lIns="0" rIns="0" tIns="0" bIns="0" anchor="ctr">
            <a:spAutoFit/>
          </a:bodyPr>
          <a:lstStyle/>
          <a:p>
            <a:r>
              <a:rPr sz="1000" b="1" i="0">
                <a:solidFill>
                  <a:srgbClr val="FFFFFF"/>
                </a:solidFill>
                <a:latin typeface="Trenda IG Text"/>
              </a:rPr>
              <a:t>Ascension sets the goals and the limits, keeps the final say on production, </a:t>
            </a:r>
            <a:r>
              <a:rPr sz="1000" b="0" i="0">
                <a:solidFill>
                  <a:srgbClr val="BFBFBF"/>
                </a:solidFill>
                <a:latin typeface="Trenda IG Text"/>
              </a:rPr>
              <a:t>and can see and stop any run.</a:t>
            </a:r>
          </a:p>
        </p:txBody>
      </p:sp>
      <p:sp>
        <p:nvSpPr>
          <p:cNvPr id="60" name="Text 61"/>
          <p:cNvSpPr txBox="1"/>
          <p:nvPr/>
        </p:nvSpPr>
        <p:spPr>
          <a:xfrm>
            <a:off x="411480" y="6035040"/>
            <a:ext cx="11365992" cy="274320"/>
          </a:xfrm>
          <a:prstGeom prst="rect">
            <a:avLst/>
          </a:prstGeom>
          <a:noFill/>
        </p:spPr>
        <p:txBody>
          <a:bodyPr wrap="square" lIns="0" rIns="0" tIns="0" bIns="0" anchor="t">
            <a:spAutoFit/>
          </a:bodyPr>
          <a:lstStyle/>
          <a:p>
            <a:r>
              <a:rPr sz="650" b="0" i="0">
                <a:solidFill>
                  <a:srgbClr val="BFBFBF"/>
                </a:solidFill>
                <a:latin typeface="Trenda IG Text"/>
              </a:rPr>
              <a:t>The AGI (Artificial General Intelligence) column is a direction, not a commitment in this proposal. Each step up in autonomy is approved by Ascension. Today's harness already records the evidence the next stage is judged 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rIns="0" tIns="0" bIns="0" anchor="ctr">
            <a:spAutoFit/>
          </a:bodyPr>
          <a:lstStyle/>
          <a:p>
            <a:r>
              <a:rPr sz="750" b="1" i="0" spc="150">
                <a:solidFill>
                  <a:srgbClr val="FFD700"/>
                </a:solidFill>
                <a:latin typeface="Trenda IG Text"/>
              </a:rPr>
              <a:t>AGENT</a:t>
            </a:r>
          </a:p>
        </p:txBody>
      </p:sp>
      <p:sp>
        <p:nvSpPr>
          <p:cNvPr id="6" name="Text 5"/>
          <p:cNvSpPr txBox="1"/>
          <p:nvPr/>
        </p:nvSpPr>
        <p:spPr>
          <a:xfrm>
            <a:off x="2258568" y="1188720"/>
            <a:ext cx="2697479" cy="274320"/>
          </a:xfrm>
          <a:prstGeom prst="rect">
            <a:avLst/>
          </a:prstGeom>
          <a:noFill/>
        </p:spPr>
        <p:txBody>
          <a:bodyPr wrap="square" lIns="0" rIns="0" tIns="0" bIns="0" anchor="ctr">
            <a:spAutoFit/>
          </a:bodyPr>
          <a:lstStyle/>
          <a:p>
            <a:r>
              <a:rPr sz="750" b="1" i="0" spc="150">
                <a:solidFill>
                  <a:srgbClr val="FFD700"/>
                </a:solidFill>
                <a:latin typeface="Trenda IG Text"/>
              </a:rPr>
              <a:t>WHAT WE CHECK</a:t>
            </a:r>
          </a:p>
        </p:txBody>
      </p:sp>
      <p:sp>
        <p:nvSpPr>
          <p:cNvPr id="7" name="Text 6"/>
          <p:cNvSpPr txBox="1"/>
          <p:nvPr/>
        </p:nvSpPr>
        <p:spPr>
          <a:xfrm>
            <a:off x="5138928" y="1188720"/>
            <a:ext cx="3794759" cy="274320"/>
          </a:xfrm>
          <a:prstGeom prst="rect">
            <a:avLst/>
          </a:prstGeom>
          <a:noFill/>
        </p:spPr>
        <p:txBody>
          <a:bodyPr wrap="square" lIns="0" rIns="0" tIns="0" bIns="0" anchor="ctr">
            <a:spAutoFit/>
          </a:bodyPr>
          <a:lstStyle/>
          <a:p>
            <a:r>
              <a:rPr sz="750" b="1" i="0" spc="150">
                <a:solidFill>
                  <a:srgbClr val="FFD700"/>
                </a:solidFill>
                <a:latin typeface="Trenda IG Text"/>
              </a:rPr>
              <a:t>METRIC</a:t>
            </a:r>
          </a:p>
        </p:txBody>
      </p:sp>
      <p:sp>
        <p:nvSpPr>
          <p:cNvPr id="8" name="Text 7"/>
          <p:cNvSpPr txBox="1"/>
          <p:nvPr/>
        </p:nvSpPr>
        <p:spPr>
          <a:xfrm>
            <a:off x="9116567" y="1188720"/>
            <a:ext cx="2587751" cy="274320"/>
          </a:xfrm>
          <a:prstGeom prst="rect">
            <a:avLst/>
          </a:prstGeom>
          <a:noFill/>
        </p:spPr>
        <p:txBody>
          <a:bodyPr wrap="square" lIns="0" rIns="0" tIns="0" bIns="0" anchor="ctr">
            <a:spAutoFit/>
          </a:bodyPr>
          <a:lstStyle/>
          <a:p>
            <a:r>
              <a:rPr sz="750" b="1" i="0" spc="150">
                <a:solidFill>
                  <a:srgbClr val="FFD700"/>
                </a:solidFill>
                <a:latin typeface="Trenda IG Text"/>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1554480"/>
            <a:ext cx="1444751" cy="457200"/>
          </a:xfrm>
          <a:prstGeom prst="rect">
            <a:avLst/>
          </a:prstGeom>
          <a:noFill/>
        </p:spPr>
        <p:txBody>
          <a:bodyPr wrap="square" lIns="0" rIns="0" tIns="0" bIns="0" anchor="ctr">
            <a:spAutoFit/>
          </a:bodyPr>
          <a:lstStyle/>
          <a:p>
            <a:r>
              <a:rPr sz="1000" b="1" i="0">
                <a:solidFill>
                  <a:srgbClr val="FFFFFF"/>
                </a:solidFill>
                <a:latin typeface="Trenda IG Text"/>
              </a:rPr>
              <a:t>Orchestrator</a:t>
            </a:r>
          </a:p>
        </p:txBody>
      </p:sp>
      <p:sp>
        <p:nvSpPr>
          <p:cNvPr id="13" name="Text 12"/>
          <p:cNvSpPr txBox="1"/>
          <p:nvPr/>
        </p:nvSpPr>
        <p:spPr>
          <a:xfrm>
            <a:off x="2258568" y="1554480"/>
            <a:ext cx="2697479" cy="457200"/>
          </a:xfrm>
          <a:prstGeom prst="rect">
            <a:avLst/>
          </a:prstGeom>
          <a:noFill/>
        </p:spPr>
        <p:txBody>
          <a:bodyPr wrap="square" lIns="0" rIns="0" tIns="0" bIns="0" anchor="ctr">
            <a:spAutoFit/>
          </a:bodyPr>
          <a:lstStyle/>
          <a:p>
            <a:r>
              <a:rPr sz="900" b="0" i="0">
                <a:solidFill>
                  <a:srgbClr val="FFFFFF"/>
                </a:solidFill>
                <a:latin typeface="Trenda IG Text"/>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rIns="0" tIns="0" bIns="0" anchor="ctr">
            <a:spAutoFit/>
          </a:bodyPr>
          <a:lstStyle/>
          <a:p>
            <a:r>
              <a:rPr sz="900" b="1" i="0">
                <a:solidFill>
                  <a:srgbClr val="00D6F2"/>
                </a:solidFill>
                <a:latin typeface="Trenda IG Text"/>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630936" y="2011680"/>
            <a:ext cx="1444751" cy="457200"/>
          </a:xfrm>
          <a:prstGeom prst="rect">
            <a:avLst/>
          </a:prstGeom>
          <a:noFill/>
        </p:spPr>
        <p:txBody>
          <a:bodyPr wrap="square" lIns="0" rIns="0" tIns="0" bIns="0" anchor="ctr">
            <a:spAutoFit/>
          </a:bodyPr>
          <a:lstStyle/>
          <a:p>
            <a:r>
              <a:rPr sz="1000" b="1" i="0">
                <a:solidFill>
                  <a:srgbClr val="FFFFFF"/>
                </a:solidFill>
                <a:latin typeface="Trenda IG Text"/>
              </a:rPr>
              <a:t>Requirements</a:t>
            </a:r>
          </a:p>
        </p:txBody>
      </p:sp>
      <p:sp>
        <p:nvSpPr>
          <p:cNvPr id="18" name="Text 17"/>
          <p:cNvSpPr txBox="1"/>
          <p:nvPr/>
        </p:nvSpPr>
        <p:spPr>
          <a:xfrm>
            <a:off x="2258568" y="2011680"/>
            <a:ext cx="2697479" cy="457200"/>
          </a:xfrm>
          <a:prstGeom prst="rect">
            <a:avLst/>
          </a:prstGeom>
          <a:noFill/>
        </p:spPr>
        <p:txBody>
          <a:bodyPr wrap="square" lIns="0" rIns="0" tIns="0" bIns="0" anchor="ctr">
            <a:spAutoFit/>
          </a:bodyPr>
          <a:lstStyle/>
          <a:p>
            <a:r>
              <a:rPr sz="900" b="0" i="0">
                <a:solidFill>
                  <a:srgbClr val="FFFFFF"/>
                </a:solidFill>
                <a:latin typeface="Trenda IG Text"/>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rIns="0" tIns="0" bIns="0" anchor="ctr">
            <a:spAutoFit/>
          </a:bodyPr>
          <a:lstStyle/>
          <a:p>
            <a:r>
              <a:rPr sz="900" b="1" i="0">
                <a:solidFill>
                  <a:srgbClr val="00D6F2"/>
                </a:solidFill>
                <a:latin typeface="Trenda IG Text"/>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rIns="0" tIns="0" bIns="0" anchor="ctr">
            <a:spAutoFit/>
          </a:bodyPr>
          <a:lstStyle/>
          <a:p>
            <a:r>
              <a:rPr sz="900" b="0" i="0">
                <a:solidFill>
                  <a:srgbClr val="BFBFBF"/>
                </a:solidFill>
                <a:latin typeface="Trenda IG Text"/>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630936" y="2468880"/>
            <a:ext cx="1444751" cy="457200"/>
          </a:xfrm>
          <a:prstGeom prst="rect">
            <a:avLst/>
          </a:prstGeom>
          <a:noFill/>
        </p:spPr>
        <p:txBody>
          <a:bodyPr wrap="square" lIns="0" rIns="0" tIns="0" bIns="0" anchor="ctr">
            <a:spAutoFit/>
          </a:bodyPr>
          <a:lstStyle/>
          <a:p>
            <a:r>
              <a:rPr sz="1000" b="1" i="0">
                <a:solidFill>
                  <a:srgbClr val="FFFFFF"/>
                </a:solidFill>
                <a:latin typeface="Trenda IG Text"/>
              </a:rPr>
              <a:t>Architect</a:t>
            </a:r>
          </a:p>
        </p:txBody>
      </p:sp>
      <p:sp>
        <p:nvSpPr>
          <p:cNvPr id="24" name="Text 23"/>
          <p:cNvSpPr txBox="1"/>
          <p:nvPr/>
        </p:nvSpPr>
        <p:spPr>
          <a:xfrm>
            <a:off x="2258568" y="2468880"/>
            <a:ext cx="2697479" cy="457200"/>
          </a:xfrm>
          <a:prstGeom prst="rect">
            <a:avLst/>
          </a:prstGeom>
          <a:noFill/>
        </p:spPr>
        <p:txBody>
          <a:bodyPr wrap="square" lIns="0" rIns="0" tIns="0" bIns="0" anchor="ctr">
            <a:spAutoFit/>
          </a:bodyPr>
          <a:lstStyle/>
          <a:p>
            <a:r>
              <a:rPr sz="900" b="0" i="0">
                <a:solidFill>
                  <a:srgbClr val="FFFFFF"/>
                </a:solidFill>
                <a:latin typeface="Trenda IG Text"/>
              </a:rPr>
              <a:t>Impact, reuse and owners are right</a:t>
            </a:r>
          </a:p>
        </p:txBody>
      </p:sp>
      <p:sp>
        <p:nvSpPr>
          <p:cNvPr id="25" name="Text 24"/>
          <p:cNvSpPr txBox="1"/>
          <p:nvPr/>
        </p:nvSpPr>
        <p:spPr>
          <a:xfrm>
            <a:off x="5138928" y="2468880"/>
            <a:ext cx="3794759" cy="457200"/>
          </a:xfrm>
          <a:prstGeom prst="rect">
            <a:avLst/>
          </a:prstGeom>
          <a:noFill/>
        </p:spPr>
        <p:txBody>
          <a:bodyPr wrap="square" lIns="0" rIns="0" tIns="0" bIns="0" anchor="ctr">
            <a:spAutoFit/>
          </a:bodyPr>
          <a:lstStyle/>
          <a:p>
            <a:r>
              <a:rPr sz="900" b="1" i="0">
                <a:solidFill>
                  <a:srgbClr val="00D6F2"/>
                </a:solidFill>
                <a:latin typeface="Trenda IG Text"/>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630936" y="2926080"/>
            <a:ext cx="1444751" cy="457200"/>
          </a:xfrm>
          <a:prstGeom prst="rect">
            <a:avLst/>
          </a:prstGeom>
          <a:noFill/>
        </p:spPr>
        <p:txBody>
          <a:bodyPr wrap="square" lIns="0" rIns="0" tIns="0" bIns="0" anchor="ctr">
            <a:spAutoFit/>
          </a:bodyPr>
          <a:lstStyle/>
          <a:p>
            <a:r>
              <a:rPr sz="1000" b="1" i="0">
                <a:solidFill>
                  <a:srgbClr val="FFFFFF"/>
                </a:solidFill>
                <a:latin typeface="Trenda IG Text"/>
              </a:rPr>
              <a:t>Developer</a:t>
            </a:r>
          </a:p>
        </p:txBody>
      </p:sp>
      <p:sp>
        <p:nvSpPr>
          <p:cNvPr id="29" name="Text 28"/>
          <p:cNvSpPr txBox="1"/>
          <p:nvPr/>
        </p:nvSpPr>
        <p:spPr>
          <a:xfrm>
            <a:off x="2258568" y="2926080"/>
            <a:ext cx="2697479" cy="457200"/>
          </a:xfrm>
          <a:prstGeom prst="rect">
            <a:avLst/>
          </a:prstGeom>
          <a:noFill/>
        </p:spPr>
        <p:txBody>
          <a:bodyPr wrap="square" lIns="0" rIns="0" tIns="0" bIns="0" anchor="ctr">
            <a:spAutoFit/>
          </a:bodyPr>
          <a:lstStyle/>
          <a:p>
            <a:r>
              <a:rPr sz="900" b="0" i="0">
                <a:solidFill>
                  <a:srgbClr val="FFFFFF"/>
                </a:solidFill>
                <a:latin typeface="Trenda IG Text"/>
              </a:rPr>
              <a:t>Code passes every check</a:t>
            </a:r>
          </a:p>
        </p:txBody>
      </p:sp>
      <p:sp>
        <p:nvSpPr>
          <p:cNvPr id="30" name="Text 29"/>
          <p:cNvSpPr txBox="1"/>
          <p:nvPr/>
        </p:nvSpPr>
        <p:spPr>
          <a:xfrm>
            <a:off x="5138928" y="2926080"/>
            <a:ext cx="3794759" cy="457200"/>
          </a:xfrm>
          <a:prstGeom prst="rect">
            <a:avLst/>
          </a:prstGeom>
          <a:noFill/>
        </p:spPr>
        <p:txBody>
          <a:bodyPr wrap="square" lIns="0" rIns="0" tIns="0" bIns="0" anchor="ctr">
            <a:spAutoFit/>
          </a:bodyPr>
          <a:lstStyle/>
          <a:p>
            <a:r>
              <a:rPr sz="900" b="1" i="0">
                <a:solidFill>
                  <a:srgbClr val="00D6F2"/>
                </a:solidFill>
                <a:latin typeface="Trenda IG Text"/>
              </a:rPr>
              <a:t>pass@1 and pass@5; attempts per story</a:t>
            </a:r>
          </a:p>
        </p:txBody>
      </p:sp>
      <p:sp>
        <p:nvSpPr>
          <p:cNvPr id="31" name="Text 30"/>
          <p:cNvSpPr txBox="1"/>
          <p:nvPr/>
        </p:nvSpPr>
        <p:spPr>
          <a:xfrm>
            <a:off x="9116567" y="2926080"/>
            <a:ext cx="2587751" cy="457200"/>
          </a:xfrm>
          <a:prstGeom prst="rect">
            <a:avLst/>
          </a:prstGeom>
          <a:noFill/>
        </p:spPr>
        <p:txBody>
          <a:bodyPr wrap="square" lIns="0" rIns="0" tIns="0" bIns="0" anchor="ctr">
            <a:spAutoFit/>
          </a:bodyPr>
          <a:lstStyle/>
          <a:p>
            <a:r>
              <a:rPr sz="900" b="0" i="0">
                <a:solidFill>
                  <a:srgbClr val="BFBFBF"/>
                </a:solidFill>
                <a:latin typeface="Trenda IG Text"/>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630936" y="3383280"/>
            <a:ext cx="1444751" cy="457200"/>
          </a:xfrm>
          <a:prstGeom prst="rect">
            <a:avLst/>
          </a:prstGeom>
          <a:noFill/>
        </p:spPr>
        <p:txBody>
          <a:bodyPr wrap="square" lIns="0" rIns="0" tIns="0" bIns="0" anchor="ctr">
            <a:spAutoFit/>
          </a:bodyPr>
          <a:lstStyle/>
          <a:p>
            <a:r>
              <a:rPr sz="1000" b="1" i="0">
                <a:solidFill>
                  <a:srgbClr val="FFFFFF"/>
                </a:solidFill>
                <a:latin typeface="Trenda IG Text"/>
              </a:rPr>
              <a:t>Review</a:t>
            </a:r>
          </a:p>
        </p:txBody>
      </p:sp>
      <p:sp>
        <p:nvSpPr>
          <p:cNvPr id="35" name="Text 34"/>
          <p:cNvSpPr txBox="1"/>
          <p:nvPr/>
        </p:nvSpPr>
        <p:spPr>
          <a:xfrm>
            <a:off x="2258568" y="3383280"/>
            <a:ext cx="2697479" cy="457200"/>
          </a:xfrm>
          <a:prstGeom prst="rect">
            <a:avLst/>
          </a:prstGeom>
          <a:noFill/>
        </p:spPr>
        <p:txBody>
          <a:bodyPr wrap="square" lIns="0" rIns="0" tIns="0" bIns="0" anchor="ctr">
            <a:spAutoFit/>
          </a:bodyPr>
          <a:lstStyle/>
          <a:p>
            <a:r>
              <a:rPr sz="900" b="0" i="0">
                <a:solidFill>
                  <a:srgbClr val="FFFFFF"/>
                </a:solidFill>
                <a:latin typeface="Trenda IG Text"/>
              </a:rPr>
              <a:t>Its verdict matches a human reviewer</a:t>
            </a:r>
          </a:p>
        </p:txBody>
      </p:sp>
      <p:sp>
        <p:nvSpPr>
          <p:cNvPr id="36" name="Text 35"/>
          <p:cNvSpPr txBox="1"/>
          <p:nvPr/>
        </p:nvSpPr>
        <p:spPr>
          <a:xfrm>
            <a:off x="5138928" y="3383280"/>
            <a:ext cx="3794759" cy="457200"/>
          </a:xfrm>
          <a:prstGeom prst="rect">
            <a:avLst/>
          </a:prstGeom>
          <a:noFill/>
        </p:spPr>
        <p:txBody>
          <a:bodyPr wrap="square" lIns="0" rIns="0" tIns="0" bIns="0" anchor="ctr">
            <a:spAutoFit/>
          </a:bodyPr>
          <a:lstStyle/>
          <a:p>
            <a:r>
              <a:rPr sz="900" b="1" i="0">
                <a:solidFill>
                  <a:srgbClr val="00D6F2"/>
                </a:solidFill>
                <a:latin typeface="Trenda IG Text"/>
              </a:rPr>
              <a:t>Judge agreement with tech leads</a:t>
            </a:r>
          </a:p>
        </p:txBody>
      </p:sp>
      <p:sp>
        <p:nvSpPr>
          <p:cNvPr id="37" name="Text 36"/>
          <p:cNvSpPr txBox="1"/>
          <p:nvPr/>
        </p:nvSpPr>
        <p:spPr>
          <a:xfrm>
            <a:off x="9116567" y="3383280"/>
            <a:ext cx="2587751" cy="457200"/>
          </a:xfrm>
          <a:prstGeom prst="rect">
            <a:avLst/>
          </a:prstGeom>
          <a:noFill/>
        </p:spPr>
        <p:txBody>
          <a:bodyPr wrap="square" lIns="0" rIns="0" tIns="0" bIns="0" anchor="ctr">
            <a:spAutoFit/>
          </a:bodyPr>
          <a:lstStyle/>
          <a:p>
            <a:r>
              <a:rPr sz="900" b="0" i="0">
                <a:solidFill>
                  <a:srgbClr val="BFBFBF"/>
                </a:solidFill>
                <a:latin typeface="Trenda IG Text"/>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30936" y="3840480"/>
            <a:ext cx="1444751" cy="457200"/>
          </a:xfrm>
          <a:prstGeom prst="rect">
            <a:avLst/>
          </a:prstGeom>
          <a:noFill/>
        </p:spPr>
        <p:txBody>
          <a:bodyPr wrap="square" lIns="0" rIns="0" tIns="0" bIns="0" anchor="ctr">
            <a:spAutoFit/>
          </a:bodyPr>
          <a:lstStyle/>
          <a:p>
            <a:r>
              <a:rPr sz="1000" b="1" i="0">
                <a:solidFill>
                  <a:srgbClr val="FFFFFF"/>
                </a:solidFill>
                <a:latin typeface="Trenda IG Text"/>
              </a:rPr>
              <a:t>Test</a:t>
            </a:r>
          </a:p>
        </p:txBody>
      </p:sp>
      <p:sp>
        <p:nvSpPr>
          <p:cNvPr id="40" name="Text 39"/>
          <p:cNvSpPr txBox="1"/>
          <p:nvPr/>
        </p:nvSpPr>
        <p:spPr>
          <a:xfrm>
            <a:off x="2258568" y="3840480"/>
            <a:ext cx="2697479" cy="457200"/>
          </a:xfrm>
          <a:prstGeom prst="rect">
            <a:avLst/>
          </a:prstGeom>
          <a:noFill/>
        </p:spPr>
        <p:txBody>
          <a:bodyPr wrap="square" lIns="0" rIns="0" tIns="0" bIns="0" anchor="ctr">
            <a:spAutoFit/>
          </a:bodyPr>
          <a:lstStyle/>
          <a:p>
            <a:r>
              <a:rPr sz="900" b="0" i="0">
                <a:solidFill>
                  <a:srgbClr val="FFFFFF"/>
                </a:solidFill>
                <a:latin typeface="Trenda IG Text"/>
              </a:rPr>
              <a:t>Defects are caught before UAT</a:t>
            </a:r>
          </a:p>
        </p:txBody>
      </p:sp>
      <p:sp>
        <p:nvSpPr>
          <p:cNvPr id="41" name="Text 40"/>
          <p:cNvSpPr txBox="1"/>
          <p:nvPr/>
        </p:nvSpPr>
        <p:spPr>
          <a:xfrm>
            <a:off x="5138928" y="3840480"/>
            <a:ext cx="3794759" cy="457200"/>
          </a:xfrm>
          <a:prstGeom prst="rect">
            <a:avLst/>
          </a:prstGeom>
          <a:noFill/>
        </p:spPr>
        <p:txBody>
          <a:bodyPr wrap="square" lIns="0" rIns="0" tIns="0" bIns="0" anchor="ctr">
            <a:spAutoFit/>
          </a:bodyPr>
          <a:lstStyle/>
          <a:p>
            <a:r>
              <a:rPr sz="900" b="1" i="0">
                <a:solidFill>
                  <a:srgbClr val="00D6F2"/>
                </a:solidFill>
                <a:latin typeface="Trenda IG Text"/>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rIns="0" tIns="0" bIns="0" anchor="ctr">
            <a:spAutoFit/>
          </a:bodyPr>
          <a:lstStyle/>
          <a:p>
            <a:r>
              <a:rPr sz="900" b="0" i="0">
                <a:solidFill>
                  <a:srgbClr val="BFBFBF"/>
                </a:solidFill>
                <a:latin typeface="Trenda IG Text"/>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30936" y="4297680"/>
            <a:ext cx="1444751" cy="457200"/>
          </a:xfrm>
          <a:prstGeom prst="rect">
            <a:avLst/>
          </a:prstGeom>
          <a:noFill/>
        </p:spPr>
        <p:txBody>
          <a:bodyPr wrap="square" lIns="0" rIns="0" tIns="0" bIns="0" anchor="ctr">
            <a:spAutoFit/>
          </a:bodyPr>
          <a:lstStyle/>
          <a:p>
            <a:r>
              <a:rPr sz="1000" b="1" i="0">
                <a:solidFill>
                  <a:srgbClr val="FFFFFF"/>
                </a:solidFill>
                <a:latin typeface="Trenda IG Text"/>
              </a:rPr>
              <a:t>Release</a:t>
            </a:r>
          </a:p>
        </p:txBody>
      </p:sp>
      <p:sp>
        <p:nvSpPr>
          <p:cNvPr id="46" name="Text 45"/>
          <p:cNvSpPr txBox="1"/>
          <p:nvPr/>
        </p:nvSpPr>
        <p:spPr>
          <a:xfrm>
            <a:off x="2258568" y="4297680"/>
            <a:ext cx="2697479" cy="457200"/>
          </a:xfrm>
          <a:prstGeom prst="rect">
            <a:avLst/>
          </a:prstGeom>
          <a:noFill/>
        </p:spPr>
        <p:txBody>
          <a:bodyPr wrap="square" lIns="0" rIns="0" tIns="0" bIns="0" anchor="ctr">
            <a:spAutoFit/>
          </a:bodyPr>
          <a:lstStyle/>
          <a:p>
            <a:r>
              <a:rPr sz="900" b="0" i="0">
                <a:solidFill>
                  <a:srgbClr val="FFFFFF"/>
                </a:solidFill>
                <a:latin typeface="Trenda IG Text"/>
              </a:rPr>
              <a:t>Package deploys cleanly</a:t>
            </a:r>
          </a:p>
        </p:txBody>
      </p:sp>
      <p:sp>
        <p:nvSpPr>
          <p:cNvPr id="47" name="Text 46"/>
          <p:cNvSpPr txBox="1"/>
          <p:nvPr/>
        </p:nvSpPr>
        <p:spPr>
          <a:xfrm>
            <a:off x="5138928" y="4297680"/>
            <a:ext cx="3794759" cy="457200"/>
          </a:xfrm>
          <a:prstGeom prst="rect">
            <a:avLst/>
          </a:prstGeom>
          <a:noFill/>
        </p:spPr>
        <p:txBody>
          <a:bodyPr wrap="square" lIns="0" rIns="0" tIns="0" bIns="0" anchor="ctr">
            <a:spAutoFit/>
          </a:bodyPr>
          <a:lstStyle/>
          <a:p>
            <a:r>
              <a:rPr sz="900" b="1" i="0">
                <a:solidFill>
                  <a:srgbClr val="00D6F2"/>
                </a:solidFill>
                <a:latin typeface="Trenda IG Text"/>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rIns="0" tIns="0" bIns="0" anchor="ctr">
            <a:spAutoFit/>
          </a:bodyPr>
          <a:lstStyle/>
          <a:p>
            <a:r>
              <a:rPr sz="900" b="0" i="0">
                <a:solidFill>
                  <a:srgbClr val="BFBFBF"/>
                </a:solidFill>
                <a:latin typeface="Trenda IG Text"/>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630936" y="4754880"/>
            <a:ext cx="1444751" cy="457200"/>
          </a:xfrm>
          <a:prstGeom prst="rect">
            <a:avLst/>
          </a:prstGeom>
          <a:noFill/>
        </p:spPr>
        <p:txBody>
          <a:bodyPr wrap="square" lIns="0" rIns="0" tIns="0" bIns="0" anchor="ctr">
            <a:spAutoFit/>
          </a:bodyPr>
          <a:lstStyle/>
          <a:p>
            <a:r>
              <a:rPr sz="1000" b="1" i="0">
                <a:solidFill>
                  <a:srgbClr val="FFFFFF"/>
                </a:solidFill>
                <a:latin typeface="Trenda IG Text"/>
              </a:rPr>
              <a:t>Change Guardian</a:t>
            </a:r>
          </a:p>
        </p:txBody>
      </p:sp>
      <p:sp>
        <p:nvSpPr>
          <p:cNvPr id="51" name="Text 50"/>
          <p:cNvSpPr txBox="1"/>
          <p:nvPr/>
        </p:nvSpPr>
        <p:spPr>
          <a:xfrm>
            <a:off x="2258568" y="4754880"/>
            <a:ext cx="2697479" cy="457200"/>
          </a:xfrm>
          <a:prstGeom prst="rect">
            <a:avLst/>
          </a:prstGeom>
          <a:noFill/>
        </p:spPr>
        <p:txBody>
          <a:bodyPr wrap="square" lIns="0" rIns="0" tIns="0" bIns="0" anchor="ctr">
            <a:spAutoFit/>
          </a:bodyPr>
          <a:lstStyle/>
          <a:p>
            <a:r>
              <a:rPr sz="900" b="0" i="0">
                <a:solidFill>
                  <a:srgbClr val="FFFFFF"/>
                </a:solidFill>
                <a:latin typeface="Trenda IG Text"/>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rIns="0" tIns="0" bIns="0" anchor="ctr">
            <a:spAutoFit/>
          </a:bodyPr>
          <a:lstStyle/>
          <a:p>
            <a:r>
              <a:rPr sz="900" b="1" i="0">
                <a:solidFill>
                  <a:srgbClr val="00D6F2"/>
                </a:solidFill>
                <a:latin typeface="Trenda IG Text"/>
              </a:rPr>
              <a:t>Missed conflicts and false blocks</a:t>
            </a:r>
          </a:p>
        </p:txBody>
      </p:sp>
      <p:sp>
        <p:nvSpPr>
          <p:cNvPr id="53" name="Text 52"/>
          <p:cNvSpPr txBox="1"/>
          <p:nvPr/>
        </p:nvSpPr>
        <p:spPr>
          <a:xfrm>
            <a:off x="9116567" y="4754880"/>
            <a:ext cx="2587751" cy="457200"/>
          </a:xfrm>
          <a:prstGeom prst="rect">
            <a:avLst/>
          </a:prstGeom>
          <a:noFill/>
        </p:spPr>
        <p:txBody>
          <a:bodyPr wrap="square" lIns="0" rIns="0" tIns="0" bIns="0" anchor="ctr">
            <a:spAutoFit/>
          </a:bodyPr>
          <a:lstStyle/>
          <a:p>
            <a:r>
              <a:rPr sz="900" b="0" i="0">
                <a:solidFill>
                  <a:srgbClr val="BFBFBF"/>
                </a:solidFill>
                <a:latin typeface="Trenda IG Text"/>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411480" y="5266944"/>
            <a:ext cx="11365992" cy="201168"/>
          </a:xfrm>
          <a:prstGeom prst="rect">
            <a:avLst/>
          </a:prstGeom>
          <a:noFill/>
        </p:spPr>
        <p:txBody>
          <a:bodyPr wrap="square" lIns="0" rIns="0" tIns="0" bIns="0" anchor="ctr">
            <a:spAutoFit/>
          </a:bodyPr>
          <a:lstStyle/>
          <a:p>
            <a:r>
              <a:rPr sz="800" b="1" i="0">
                <a:solidFill>
                  <a:srgbClr val="00D6F2"/>
                </a:solidFill>
                <a:latin typeface="Trenda IG Text"/>
              </a:rPr>
              <a:t>pass@k </a:t>
            </a:r>
            <a:r>
              <a:rPr sz="800" b="0" i="0">
                <a:solidFill>
                  <a:srgbClr val="BFBFBF"/>
                </a:solidFill>
                <a:latin typeface="Trenda IG Text"/>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640080" y="5541264"/>
            <a:ext cx="2194560" cy="457200"/>
          </a:xfrm>
          <a:prstGeom prst="rect">
            <a:avLst/>
          </a:prstGeom>
          <a:noFill/>
        </p:spPr>
        <p:txBody>
          <a:bodyPr wrap="square" lIns="0" rIns="0" tIns="0" bIns="0" anchor="ctr">
            <a:spAutoFit/>
          </a:bodyPr>
          <a:lstStyle/>
          <a:p>
            <a:r>
              <a:rPr sz="750" b="1" i="0" spc="200">
                <a:solidFill>
                  <a:srgbClr val="FF0069"/>
                </a:solidFill>
                <a:latin typeface="Trenda IG Text"/>
              </a:rPr>
              <a:t>HOW TARGETS ARE SET</a:t>
            </a:r>
          </a:p>
        </p:txBody>
      </p:sp>
      <p:sp>
        <p:nvSpPr>
          <p:cNvPr id="58" name="Text 57"/>
          <p:cNvSpPr txBox="1"/>
          <p:nvPr/>
        </p:nvSpPr>
        <p:spPr>
          <a:xfrm>
            <a:off x="2743200" y="5541264"/>
            <a:ext cx="8805672" cy="457200"/>
          </a:xfrm>
          <a:prstGeom prst="rect">
            <a:avLst/>
          </a:prstGeom>
          <a:noFill/>
        </p:spPr>
        <p:txBody>
          <a:bodyPr wrap="square" lIns="0" rIns="0" tIns="0" bIns="0" anchor="ctr">
            <a:spAutoFit/>
          </a:bodyPr>
          <a:lstStyle/>
          <a:p>
            <a:r>
              <a:rPr sz="900" b="1" i="0">
                <a:solidFill>
                  <a:srgbClr val="FFFFFF"/>
                </a:solidFill>
                <a:latin typeface="Trenda IG Text"/>
              </a:rPr>
              <a:t>Each target comes from the Phase 0 baseline and is agreed with Ascension. </a:t>
            </a:r>
            <a:r>
              <a:rPr sz="900" b="0" i="0">
                <a:solidFill>
                  <a:srgbClr val="BFBFBF"/>
                </a:solidFill>
                <a:latin typeface="Trenda IG Text"/>
              </a:rPr>
              <a:t>Scores are reviewed monthly; a falling score sends that agent back through diagnose and tune.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measured against their Phase 0 baseline and on track to the go-live savings target</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RISKS AND MITIGATIONS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What could go wrong, and what is already in the plan to stop it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risk has a mitigation built into the phases, a signal that warns us early and a named owner. The register is reviewed at every phase exit.</a:t>
            </a:r>
          </a:p>
        </p:txBody>
      </p:sp>
      <p:sp>
        <p:nvSpPr>
          <p:cNvPr id="5" name="Text 4"/>
          <p:cNvSpPr txBox="1"/>
          <p:nvPr/>
        </p:nvSpPr>
        <p:spPr>
          <a:xfrm>
            <a:off x="484632" y="1170432"/>
            <a:ext cx="2148840" cy="219456"/>
          </a:xfrm>
          <a:prstGeom prst="rect">
            <a:avLst/>
          </a:prstGeom>
          <a:noFill/>
        </p:spPr>
        <p:txBody>
          <a:bodyPr wrap="square" lIns="0" rIns="0" tIns="0" bIns="0" anchor="ctr">
            <a:spAutoFit/>
          </a:bodyPr>
          <a:lstStyle/>
          <a:p>
            <a:r>
              <a:rPr sz="800" b="1" i="0">
                <a:solidFill>
                  <a:srgbClr val="000000"/>
                </a:solidFill>
                <a:latin typeface="Trenda IG Text"/>
              </a:rPr>
              <a:t>Risk</a:t>
            </a:r>
          </a:p>
        </p:txBody>
      </p:sp>
      <p:sp>
        <p:nvSpPr>
          <p:cNvPr id="6" name="Text 5"/>
          <p:cNvSpPr txBox="1"/>
          <p:nvPr/>
        </p:nvSpPr>
        <p:spPr>
          <a:xfrm>
            <a:off x="2724912" y="1170432"/>
            <a:ext cx="1737360" cy="219456"/>
          </a:xfrm>
          <a:prstGeom prst="rect">
            <a:avLst/>
          </a:prstGeom>
          <a:noFill/>
        </p:spPr>
        <p:txBody>
          <a:bodyPr wrap="square" lIns="0" rIns="0" tIns="0" bIns="0" anchor="ctr">
            <a:spAutoFit/>
          </a:bodyPr>
          <a:lstStyle/>
          <a:p>
            <a:r>
              <a:rPr sz="800" b="1" i="0">
                <a:solidFill>
                  <a:srgbClr val="000000"/>
                </a:solidFill>
                <a:latin typeface="Trenda IG Text"/>
              </a:rPr>
              <a:t>If it happens</a:t>
            </a:r>
          </a:p>
        </p:txBody>
      </p:sp>
      <p:sp>
        <p:nvSpPr>
          <p:cNvPr id="7" name="Text 6"/>
          <p:cNvSpPr txBox="1"/>
          <p:nvPr/>
        </p:nvSpPr>
        <p:spPr>
          <a:xfrm>
            <a:off x="4553712" y="1170432"/>
            <a:ext cx="960119" cy="219456"/>
          </a:xfrm>
          <a:prstGeom prst="rect">
            <a:avLst/>
          </a:prstGeom>
          <a:noFill/>
        </p:spPr>
        <p:txBody>
          <a:bodyPr wrap="square" lIns="0" rIns="0" tIns="0" bIns="0" anchor="ctr">
            <a:spAutoFit/>
          </a:bodyPr>
          <a:lstStyle/>
          <a:p>
            <a:r>
              <a:rPr sz="800" b="1" i="0">
                <a:solidFill>
                  <a:srgbClr val="000000"/>
                </a:solidFill>
                <a:latin typeface="Trenda IG Text"/>
              </a:rPr>
              <a:t>Likelihood · impact</a:t>
            </a:r>
          </a:p>
        </p:txBody>
      </p:sp>
      <p:sp>
        <p:nvSpPr>
          <p:cNvPr id="8" name="Text 7"/>
          <p:cNvSpPr txBox="1"/>
          <p:nvPr/>
        </p:nvSpPr>
        <p:spPr>
          <a:xfrm>
            <a:off x="5605272" y="1170432"/>
            <a:ext cx="3429000" cy="219456"/>
          </a:xfrm>
          <a:prstGeom prst="rect">
            <a:avLst/>
          </a:prstGeom>
          <a:noFill/>
        </p:spPr>
        <p:txBody>
          <a:bodyPr wrap="square" lIns="0" rIns="0" tIns="0" bIns="0" anchor="ctr">
            <a:spAutoFit/>
          </a:bodyPr>
          <a:lstStyle/>
          <a:p>
            <a:r>
              <a:rPr sz="800" b="1" i="0">
                <a:solidFill>
                  <a:srgbClr val="000000"/>
                </a:solidFill>
                <a:latin typeface="Trenda IG Text"/>
              </a:rPr>
              <a:t>How we mitigate it</a:t>
            </a:r>
          </a:p>
        </p:txBody>
      </p:sp>
      <p:sp>
        <p:nvSpPr>
          <p:cNvPr id="9" name="Text 8"/>
          <p:cNvSpPr txBox="1"/>
          <p:nvPr/>
        </p:nvSpPr>
        <p:spPr>
          <a:xfrm>
            <a:off x="9125712" y="1170432"/>
            <a:ext cx="1371600" cy="219456"/>
          </a:xfrm>
          <a:prstGeom prst="rect">
            <a:avLst/>
          </a:prstGeom>
          <a:noFill/>
        </p:spPr>
        <p:txBody>
          <a:bodyPr wrap="square" lIns="0" rIns="0" tIns="0" bIns="0" anchor="ctr">
            <a:spAutoFit/>
          </a:bodyPr>
          <a:lstStyle/>
          <a:p>
            <a:r>
              <a:rPr sz="800" b="1" i="0">
                <a:solidFill>
                  <a:srgbClr val="000000"/>
                </a:solidFill>
                <a:latin typeface="Trenda IG Text"/>
              </a:rPr>
              <a:t>Early warning</a:t>
            </a:r>
          </a:p>
        </p:txBody>
      </p:sp>
      <p:sp>
        <p:nvSpPr>
          <p:cNvPr id="10" name="Text 9"/>
          <p:cNvSpPr txBox="1"/>
          <p:nvPr/>
        </p:nvSpPr>
        <p:spPr>
          <a:xfrm>
            <a:off x="10588752" y="1170432"/>
            <a:ext cx="1170431" cy="219456"/>
          </a:xfrm>
          <a:prstGeom prst="rect">
            <a:avLst/>
          </a:prstGeom>
          <a:noFill/>
        </p:spPr>
        <p:txBody>
          <a:bodyPr wrap="square" lIns="0" rIns="0" tIns="0" bIns="0" anchor="ctr">
            <a:spAutoFit/>
          </a:bodyPr>
          <a:lstStyle/>
          <a:p>
            <a:r>
              <a:rPr sz="800" b="1" i="0">
                <a:solidFill>
                  <a:srgbClr val="000000"/>
                </a:solidFill>
                <a:latin typeface="Trenda IG Text"/>
              </a:rPr>
              <a:t>Owner</a:t>
            </a:r>
          </a:p>
        </p:txBody>
      </p:sp>
      <p:sp>
        <p:nvSpPr>
          <p:cNvPr id="11" name="Shape 10"/>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84632" y="1490472"/>
            <a:ext cx="2112264" cy="439928"/>
          </a:xfrm>
          <a:prstGeom prst="rect">
            <a:avLst/>
          </a:prstGeom>
          <a:noFill/>
        </p:spPr>
        <p:txBody>
          <a:bodyPr wrap="square" lIns="0" rIns="0" tIns="0" bIns="0" anchor="ctr">
            <a:spAutoFit/>
          </a:bodyPr>
          <a:lstStyle/>
          <a:p>
            <a:r>
              <a:rPr sz="800" b="1" i="0">
                <a:solidFill>
                  <a:srgbClr val="000000"/>
                </a:solidFill>
                <a:latin typeface="Trenda IG Text"/>
              </a:rPr>
              <a:t>Access and environments arrive late</a:t>
            </a:r>
          </a:p>
          <a:p>
            <a:r>
              <a:rPr sz="600" b="0" i="0" spc="150">
                <a:solidFill>
                  <a:srgbClr val="595959"/>
                </a:solidFill>
                <a:latin typeface="Trenda IG Text"/>
              </a:rPr>
              <a:t>DELIVERY</a:t>
            </a:r>
          </a:p>
        </p:txBody>
      </p:sp>
      <p:sp>
        <p:nvSpPr>
          <p:cNvPr id="14" name="Text 13"/>
          <p:cNvSpPr txBox="1"/>
          <p:nvPr/>
        </p:nvSpPr>
        <p:spPr>
          <a:xfrm>
            <a:off x="2724912" y="1490472"/>
            <a:ext cx="1700784" cy="439928"/>
          </a:xfrm>
          <a:prstGeom prst="rect">
            <a:avLst/>
          </a:prstGeom>
          <a:noFill/>
        </p:spPr>
        <p:txBody>
          <a:bodyPr wrap="square" lIns="0" rIns="0" tIns="0" bIns="0" anchor="ctr">
            <a:spAutoFit/>
          </a:bodyPr>
          <a:lstStyle/>
          <a:p>
            <a:r>
              <a:rPr sz="700" b="0" i="0">
                <a:solidFill>
                  <a:srgbClr val="000000"/>
                </a:solidFill>
                <a:latin typeface="Trenda IG Text"/>
              </a:rPr>
              <a:t>Phase 1 cannot start; the plan slips month by month</a:t>
            </a:r>
          </a:p>
        </p:txBody>
      </p:sp>
      <p:sp>
        <p:nvSpPr>
          <p:cNvPr id="15" name="Shape 14"/>
          <p:cNvSpPr/>
          <p:nvPr/>
        </p:nvSpPr>
        <p:spPr>
          <a:xfrm>
            <a:off x="4553712" y="160985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4553712" y="1609852"/>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17" name="Shape 16"/>
          <p:cNvSpPr/>
          <p:nvPr/>
        </p:nvSpPr>
        <p:spPr>
          <a:xfrm>
            <a:off x="5029200" y="160985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029200" y="1609852"/>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19" name="Text 18"/>
          <p:cNvSpPr txBox="1"/>
          <p:nvPr/>
        </p:nvSpPr>
        <p:spPr>
          <a:xfrm>
            <a:off x="5605272" y="1481328"/>
            <a:ext cx="3392424" cy="458215"/>
          </a:xfrm>
          <a:prstGeom prst="rect">
            <a:avLst/>
          </a:prstGeom>
          <a:noFill/>
        </p:spPr>
        <p:txBody>
          <a:bodyPr wrap="square" lIns="0" rIns="0" tIns="0" bIns="0" anchor="ctr">
            <a:spAutoFit/>
          </a:bodyPr>
          <a:lstStyle/>
          <a:p>
            <a:r>
              <a:rPr sz="700" b="0" i="0">
                <a:solidFill>
                  <a:srgbClr val="000000"/>
                </a:solidFill>
                <a:latin typeface="Trenda IG Text"/>
              </a:rPr>
              <a:t>Access list, sandboxes and named approvers are the Phase 0 exit; Phase 1 starts only after it is signed. Read-only access first, write access later.</a:t>
            </a:r>
          </a:p>
        </p:txBody>
      </p:sp>
      <p:sp>
        <p:nvSpPr>
          <p:cNvPr id="20" name="Text 19"/>
          <p:cNvSpPr txBox="1"/>
          <p:nvPr/>
        </p:nvSpPr>
        <p:spPr>
          <a:xfrm>
            <a:off x="9125712" y="1490472"/>
            <a:ext cx="1335024" cy="439928"/>
          </a:xfrm>
          <a:prstGeom prst="rect">
            <a:avLst/>
          </a:prstGeom>
          <a:noFill/>
        </p:spPr>
        <p:txBody>
          <a:bodyPr wrap="square" lIns="0" rIns="0" tIns="0" bIns="0" anchor="ctr">
            <a:spAutoFit/>
          </a:bodyPr>
          <a:lstStyle/>
          <a:p>
            <a:r>
              <a:rPr sz="700" b="0" i="0">
                <a:solidFill>
                  <a:srgbClr val="595959"/>
                </a:solidFill>
                <a:latin typeface="Trenda IG Text"/>
              </a:rPr>
              <a:t>Phase 0 items still open in week 3</a:t>
            </a:r>
          </a:p>
        </p:txBody>
      </p:sp>
      <p:sp>
        <p:nvSpPr>
          <p:cNvPr id="21" name="Text 20"/>
          <p:cNvSpPr txBox="1"/>
          <p:nvPr/>
        </p:nvSpPr>
        <p:spPr>
          <a:xfrm>
            <a:off x="10588752" y="1490472"/>
            <a:ext cx="1152143" cy="439928"/>
          </a:xfrm>
          <a:prstGeom prst="rect">
            <a:avLst/>
          </a:prstGeom>
          <a:noFill/>
        </p:spPr>
        <p:txBody>
          <a:bodyPr wrap="square" lIns="0" rIns="0" tIns="0" bIns="0" anchor="ctr">
            <a:spAutoFit/>
          </a:bodyPr>
          <a:lstStyle/>
          <a:p>
            <a:r>
              <a:rPr sz="700" b="1" i="0">
                <a:solidFill>
                  <a:srgbClr val="000000"/>
                </a:solidFill>
                <a:latin typeface="Trenda IG Text"/>
              </a:rPr>
              <a:t>Ascension sponsor + IG engagement lead</a:t>
            </a:r>
          </a:p>
        </p:txBody>
      </p:sp>
      <p:sp>
        <p:nvSpPr>
          <p:cNvPr id="22" name="Text 21"/>
          <p:cNvSpPr txBox="1"/>
          <p:nvPr/>
        </p:nvSpPr>
        <p:spPr>
          <a:xfrm>
            <a:off x="484632" y="2003551"/>
            <a:ext cx="2112264" cy="439928"/>
          </a:xfrm>
          <a:prstGeom prst="rect">
            <a:avLst/>
          </a:prstGeom>
          <a:noFill/>
        </p:spPr>
        <p:txBody>
          <a:bodyPr wrap="square" lIns="0" rIns="0" tIns="0" bIns="0" anchor="ctr">
            <a:spAutoFit/>
          </a:bodyPr>
          <a:lstStyle/>
          <a:p>
            <a:r>
              <a:rPr sz="800" b="1" i="0">
                <a:solidFill>
                  <a:srgbClr val="000000"/>
                </a:solidFill>
                <a:latin typeface="Trenda IG Text"/>
              </a:rPr>
              <a:t>Experts have no time to label evals</a:t>
            </a:r>
          </a:p>
          <a:p>
            <a:r>
              <a:rPr sz="600" b="0" i="0" spc="150">
                <a:solidFill>
                  <a:srgbClr val="595959"/>
                </a:solidFill>
                <a:latin typeface="Trenda IG Text"/>
              </a:rPr>
              <a:t>PEOPLE</a:t>
            </a:r>
          </a:p>
        </p:txBody>
      </p:sp>
      <p:sp>
        <p:nvSpPr>
          <p:cNvPr id="23" name="Text 22"/>
          <p:cNvSpPr txBox="1"/>
          <p:nvPr/>
        </p:nvSpPr>
        <p:spPr>
          <a:xfrm>
            <a:off x="2724912" y="2003551"/>
            <a:ext cx="1700784" cy="439928"/>
          </a:xfrm>
          <a:prstGeom prst="rect">
            <a:avLst/>
          </a:prstGeom>
          <a:noFill/>
        </p:spPr>
        <p:txBody>
          <a:bodyPr wrap="square" lIns="0" rIns="0" tIns="0" bIns="0" anchor="ctr">
            <a:spAutoFit/>
          </a:bodyPr>
          <a:lstStyle/>
          <a:p>
            <a:r>
              <a:rPr sz="700" b="0" i="0">
                <a:solidFill>
                  <a:srgbClr val="000000"/>
                </a:solidFill>
                <a:latin typeface="Trenda IG Text"/>
              </a:rPr>
              <a:t>Golden set stays thin; evals cannot be trusted</a:t>
            </a:r>
          </a:p>
        </p:txBody>
      </p:sp>
      <p:sp>
        <p:nvSpPr>
          <p:cNvPr id="24" name="Shape 23"/>
          <p:cNvSpPr/>
          <p:nvPr/>
        </p:nvSpPr>
        <p:spPr>
          <a:xfrm>
            <a:off x="4553712"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4553712" y="212293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26" name="Shape 25"/>
          <p:cNvSpPr/>
          <p:nvPr/>
        </p:nvSpPr>
        <p:spPr>
          <a:xfrm>
            <a:off x="5029200"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5029200" y="212293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28" name="Text 27"/>
          <p:cNvSpPr txBox="1"/>
          <p:nvPr/>
        </p:nvSpPr>
        <p:spPr>
          <a:xfrm>
            <a:off x="5605272" y="1994408"/>
            <a:ext cx="3392424" cy="458215"/>
          </a:xfrm>
          <a:prstGeom prst="rect">
            <a:avLst/>
          </a:prstGeom>
          <a:noFill/>
        </p:spPr>
        <p:txBody>
          <a:bodyPr wrap="square" lIns="0" rIns="0" tIns="0" bIns="0" anchor="ctr">
            <a:spAutoFit/>
          </a:bodyPr>
          <a:lstStyle/>
          <a:p>
            <a:r>
              <a:rPr sz="700" b="0" i="0">
                <a:solidFill>
                  <a:srgbClr val="000000"/>
                </a:solidFill>
                <a:latin typeface="Trenda IG Text"/>
              </a:rPr>
              <a:t>Hours per pod agreed at Phase 0 (a few hours a week). Agents pre-label, experts only confirm. The weekly sample is small by design.</a:t>
            </a:r>
          </a:p>
        </p:txBody>
      </p:sp>
      <p:sp>
        <p:nvSpPr>
          <p:cNvPr id="29" name="Text 28"/>
          <p:cNvSpPr txBox="1"/>
          <p:nvPr/>
        </p:nvSpPr>
        <p:spPr>
          <a:xfrm>
            <a:off x="9125712" y="2003551"/>
            <a:ext cx="1335024" cy="439928"/>
          </a:xfrm>
          <a:prstGeom prst="rect">
            <a:avLst/>
          </a:prstGeom>
          <a:noFill/>
        </p:spPr>
        <p:txBody>
          <a:bodyPr wrap="square" lIns="0" rIns="0" tIns="0" bIns="0" anchor="ctr">
            <a:spAutoFit/>
          </a:bodyPr>
          <a:lstStyle/>
          <a:p>
            <a:r>
              <a:rPr sz="700" b="0" i="0">
                <a:solidFill>
                  <a:srgbClr val="595959"/>
                </a:solidFill>
                <a:latin typeface="Trenda IG Text"/>
              </a:rPr>
              <a:t>Weekly sample not reviewed within 5 days</a:t>
            </a:r>
          </a:p>
        </p:txBody>
      </p:sp>
      <p:sp>
        <p:nvSpPr>
          <p:cNvPr id="30" name="Text 29"/>
          <p:cNvSpPr txBox="1"/>
          <p:nvPr/>
        </p:nvSpPr>
        <p:spPr>
          <a:xfrm>
            <a:off x="10588752" y="2003551"/>
            <a:ext cx="1152143" cy="439928"/>
          </a:xfrm>
          <a:prstGeom prst="rect">
            <a:avLst/>
          </a:prstGeom>
          <a:noFill/>
        </p:spPr>
        <p:txBody>
          <a:bodyPr wrap="square" lIns="0" rIns="0" tIns="0" bIns="0" anchor="ctr">
            <a:spAutoFit/>
          </a:bodyPr>
          <a:lstStyle/>
          <a:p>
            <a:r>
              <a:rPr sz="700" b="1" i="0">
                <a:solidFill>
                  <a:srgbClr val="000000"/>
                </a:solidFill>
                <a:latin typeface="Trenda IG Text"/>
              </a:rPr>
              <a:t>Pod leads</a:t>
            </a:r>
          </a:p>
        </p:txBody>
      </p:sp>
      <p:sp>
        <p:nvSpPr>
          <p:cNvPr id="31" name="Shape 30"/>
          <p:cNvSpPr/>
          <p:nvPr/>
        </p:nvSpPr>
        <p:spPr>
          <a:xfrm>
            <a:off x="411480" y="247091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84632" y="2516631"/>
            <a:ext cx="2112264" cy="439928"/>
          </a:xfrm>
          <a:prstGeom prst="rect">
            <a:avLst/>
          </a:prstGeom>
          <a:noFill/>
        </p:spPr>
        <p:txBody>
          <a:bodyPr wrap="square" lIns="0" rIns="0" tIns="0" bIns="0" anchor="ctr">
            <a:spAutoFit/>
          </a:bodyPr>
          <a:lstStyle/>
          <a:p>
            <a:r>
              <a:rPr sz="800" b="1" i="0">
                <a:solidFill>
                  <a:srgbClr val="000000"/>
                </a:solidFill>
                <a:latin typeface="Trenda IG Text"/>
              </a:rPr>
              <a:t>Codex policy blocks plugins or MCP</a:t>
            </a:r>
          </a:p>
          <a:p>
            <a:r>
              <a:rPr sz="600" b="0" i="0" spc="150">
                <a:solidFill>
                  <a:srgbClr val="595959"/>
                </a:solidFill>
                <a:latin typeface="Trenda IG Text"/>
              </a:rPr>
              <a:t>PLATFORM</a:t>
            </a:r>
          </a:p>
        </p:txBody>
      </p:sp>
      <p:sp>
        <p:nvSpPr>
          <p:cNvPr id="33" name="Text 32"/>
          <p:cNvSpPr txBox="1"/>
          <p:nvPr/>
        </p:nvSpPr>
        <p:spPr>
          <a:xfrm>
            <a:off x="2724912" y="2516631"/>
            <a:ext cx="1700784" cy="439928"/>
          </a:xfrm>
          <a:prstGeom prst="rect">
            <a:avLst/>
          </a:prstGeom>
          <a:noFill/>
        </p:spPr>
        <p:txBody>
          <a:bodyPr wrap="square" lIns="0" rIns="0" tIns="0" bIns="0" anchor="ctr">
            <a:spAutoFit/>
          </a:bodyPr>
          <a:lstStyle/>
          <a:p>
            <a:r>
              <a:rPr sz="700" b="0" i="0">
                <a:solidFill>
                  <a:srgbClr val="000000"/>
                </a:solidFill>
                <a:latin typeface="Trenda IG Text"/>
              </a:rPr>
              <a:t>Developers cannot start the harness from Codex</a:t>
            </a:r>
          </a:p>
        </p:txBody>
      </p:sp>
      <p:sp>
        <p:nvSpPr>
          <p:cNvPr id="34" name="Shape 33"/>
          <p:cNvSpPr/>
          <p:nvPr/>
        </p:nvSpPr>
        <p:spPr>
          <a:xfrm>
            <a:off x="4553712" y="26360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553712" y="263601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36" name="Shape 35"/>
          <p:cNvSpPr/>
          <p:nvPr/>
        </p:nvSpPr>
        <p:spPr>
          <a:xfrm>
            <a:off x="5029200" y="26360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5029200" y="263601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38" name="Text 37"/>
          <p:cNvSpPr txBox="1"/>
          <p:nvPr/>
        </p:nvSpPr>
        <p:spPr>
          <a:xfrm>
            <a:off x="5605272" y="2507487"/>
            <a:ext cx="3392424" cy="458215"/>
          </a:xfrm>
          <a:prstGeom prst="rect">
            <a:avLst/>
          </a:prstGeom>
          <a:noFill/>
        </p:spPr>
        <p:txBody>
          <a:bodyPr wrap="square" lIns="0" rIns="0" tIns="0" bIns="0" anchor="ctr">
            <a:spAutoFit/>
          </a:bodyPr>
          <a:lstStyle/>
          <a:p>
            <a:r>
              <a:rPr sz="700" b="0" i="0">
                <a:solidFill>
                  <a:srgbClr val="000000"/>
                </a:solidFill>
                <a:latin typeface="Trenda IG Text"/>
              </a:rPr>
              <a:t>Confirmed with Ascension's Codex Enterprise admins in Phase 0. Fallback: the harness runs headless on Cloud Run with the same tools and gateway.</a:t>
            </a:r>
          </a:p>
        </p:txBody>
      </p:sp>
      <p:sp>
        <p:nvSpPr>
          <p:cNvPr id="39" name="Text 38"/>
          <p:cNvSpPr txBox="1"/>
          <p:nvPr/>
        </p:nvSpPr>
        <p:spPr>
          <a:xfrm>
            <a:off x="9125712" y="2516631"/>
            <a:ext cx="1335024" cy="439928"/>
          </a:xfrm>
          <a:prstGeom prst="rect">
            <a:avLst/>
          </a:prstGeom>
          <a:noFill/>
        </p:spPr>
        <p:txBody>
          <a:bodyPr wrap="square" lIns="0" rIns="0" tIns="0" bIns="0" anchor="ctr">
            <a:spAutoFit/>
          </a:bodyPr>
          <a:lstStyle/>
          <a:p>
            <a:r>
              <a:rPr sz="700" b="0" i="0">
                <a:solidFill>
                  <a:srgbClr val="595959"/>
                </a:solidFill>
                <a:latin typeface="Trenda IG Text"/>
              </a:rPr>
              <a:t>No admin approval by the Phase 0 exit</a:t>
            </a:r>
          </a:p>
        </p:txBody>
      </p:sp>
      <p:sp>
        <p:nvSpPr>
          <p:cNvPr id="40" name="Text 39"/>
          <p:cNvSpPr txBox="1"/>
          <p:nvPr/>
        </p:nvSpPr>
        <p:spPr>
          <a:xfrm>
            <a:off x="10588752" y="2516631"/>
            <a:ext cx="1152143" cy="439928"/>
          </a:xfrm>
          <a:prstGeom prst="rect">
            <a:avLst/>
          </a:prstGeom>
          <a:noFill/>
        </p:spPr>
        <p:txBody>
          <a:bodyPr wrap="square" lIns="0" rIns="0" tIns="0" bIns="0" anchor="ctr">
            <a:spAutoFit/>
          </a:bodyPr>
          <a:lstStyle/>
          <a:p>
            <a:r>
              <a:rPr sz="700" b="1" i="0">
                <a:solidFill>
                  <a:srgbClr val="000000"/>
                </a:solidFill>
                <a:latin typeface="Trenda IG Text"/>
              </a:rPr>
              <a:t>Codex admins + AI harness architect</a:t>
            </a:r>
          </a:p>
        </p:txBody>
      </p:sp>
      <p:sp>
        <p:nvSpPr>
          <p:cNvPr id="41" name="Text 40"/>
          <p:cNvSpPr txBox="1"/>
          <p:nvPr/>
        </p:nvSpPr>
        <p:spPr>
          <a:xfrm>
            <a:off x="484632" y="3029711"/>
            <a:ext cx="2112264" cy="439928"/>
          </a:xfrm>
          <a:prstGeom prst="rect">
            <a:avLst/>
          </a:prstGeom>
          <a:noFill/>
        </p:spPr>
        <p:txBody>
          <a:bodyPr wrap="square" lIns="0" rIns="0" tIns="0" bIns="0" anchor="ctr">
            <a:spAutoFit/>
          </a:bodyPr>
          <a:lstStyle/>
          <a:p>
            <a:r>
              <a:rPr sz="800" b="1" i="0">
                <a:solidFill>
                  <a:srgbClr val="000000"/>
                </a:solidFill>
                <a:latin typeface="Trenda IG Text"/>
              </a:rPr>
              <a:t>Patient data or secrets reach a model</a:t>
            </a:r>
          </a:p>
          <a:p>
            <a:r>
              <a:rPr sz="600" b="0" i="0" spc="150">
                <a:solidFill>
                  <a:srgbClr val="595959"/>
                </a:solidFill>
                <a:latin typeface="Trenda IG Text"/>
              </a:rPr>
              <a:t>SECURITY</a:t>
            </a:r>
          </a:p>
        </p:txBody>
      </p:sp>
      <p:sp>
        <p:nvSpPr>
          <p:cNvPr id="42" name="Text 41"/>
          <p:cNvSpPr txBox="1"/>
          <p:nvPr/>
        </p:nvSpPr>
        <p:spPr>
          <a:xfrm>
            <a:off x="2724912" y="3029711"/>
            <a:ext cx="1700784" cy="439928"/>
          </a:xfrm>
          <a:prstGeom prst="rect">
            <a:avLst/>
          </a:prstGeom>
          <a:noFill/>
        </p:spPr>
        <p:txBody>
          <a:bodyPr wrap="square" lIns="0" rIns="0" tIns="0" bIns="0" anchor="ctr">
            <a:spAutoFit/>
          </a:bodyPr>
          <a:lstStyle/>
          <a:p>
            <a:r>
              <a:rPr sz="700" b="0" i="0">
                <a:solidFill>
                  <a:srgbClr val="000000"/>
                </a:solidFill>
                <a:latin typeface="Trenda IG Text"/>
              </a:rPr>
              <a:t>HIPAA exposure; trust in the programme is lost</a:t>
            </a:r>
          </a:p>
        </p:txBody>
      </p:sp>
      <p:sp>
        <p:nvSpPr>
          <p:cNvPr id="43" name="Shape 42"/>
          <p:cNvSpPr/>
          <p:nvPr/>
        </p:nvSpPr>
        <p:spPr>
          <a:xfrm>
            <a:off x="4553712" y="3149091"/>
            <a:ext cx="420624" cy="182880"/>
          </a:xfrm>
          <a:prstGeom prst="roundRect">
            <a:avLst>
              <a:gd name="adj" fmla="val 4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4553712" y="314909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Low</a:t>
            </a:r>
          </a:p>
        </p:txBody>
      </p:sp>
      <p:sp>
        <p:nvSpPr>
          <p:cNvPr id="45" name="Shape 44"/>
          <p:cNvSpPr/>
          <p:nvPr/>
        </p:nvSpPr>
        <p:spPr>
          <a:xfrm>
            <a:off x="5029200" y="314909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5029200" y="314909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47" name="Text 46"/>
          <p:cNvSpPr txBox="1"/>
          <p:nvPr/>
        </p:nvSpPr>
        <p:spPr>
          <a:xfrm>
            <a:off x="5605272" y="3020567"/>
            <a:ext cx="3392424" cy="458215"/>
          </a:xfrm>
          <a:prstGeom prst="rect">
            <a:avLst/>
          </a:prstGeom>
          <a:noFill/>
        </p:spPr>
        <p:txBody>
          <a:bodyPr wrap="square" lIns="0" rIns="0" tIns="0" bIns="0" anchor="ctr">
            <a:spAutoFit/>
          </a:bodyPr>
          <a:lstStyle/>
          <a:p>
            <a:r>
              <a:rPr sz="700" b="0" i="0">
                <a:solidFill>
                  <a:srgbClr val="000000"/>
                </a:solidFill>
                <a:latin typeface="Trenda IG Text"/>
              </a:rPr>
              <a:t>The graph holds metadata, never patient records. DLP redacts on the way in and scans on the way out. OpenAI terms (BAA, zero retention) confirmed in Phase 0; pen test before production.</a:t>
            </a:r>
          </a:p>
        </p:txBody>
      </p:sp>
      <p:sp>
        <p:nvSpPr>
          <p:cNvPr id="48" name="Text 47"/>
          <p:cNvSpPr txBox="1"/>
          <p:nvPr/>
        </p:nvSpPr>
        <p:spPr>
          <a:xfrm>
            <a:off x="9125712" y="3029711"/>
            <a:ext cx="1335024" cy="439928"/>
          </a:xfrm>
          <a:prstGeom prst="rect">
            <a:avLst/>
          </a:prstGeom>
          <a:noFill/>
        </p:spPr>
        <p:txBody>
          <a:bodyPr wrap="square" lIns="0" rIns="0" tIns="0" bIns="0" anchor="ctr">
            <a:spAutoFit/>
          </a:bodyPr>
          <a:lstStyle/>
          <a:p>
            <a:r>
              <a:rPr sz="700" b="0" i="0">
                <a:solidFill>
                  <a:srgbClr val="595959"/>
                </a:solidFill>
                <a:latin typeface="Trenda IG Text"/>
              </a:rPr>
              <a:t>Any DLP hit on an output</a:t>
            </a:r>
          </a:p>
        </p:txBody>
      </p:sp>
      <p:sp>
        <p:nvSpPr>
          <p:cNvPr id="49" name="Text 48"/>
          <p:cNvSpPr txBox="1"/>
          <p:nvPr/>
        </p:nvSpPr>
        <p:spPr>
          <a:xfrm>
            <a:off x="10588752" y="3029711"/>
            <a:ext cx="1152143" cy="439928"/>
          </a:xfrm>
          <a:prstGeom prst="rect">
            <a:avLst/>
          </a:prstGeom>
          <a:noFill/>
        </p:spPr>
        <p:txBody>
          <a:bodyPr wrap="square" lIns="0" rIns="0" tIns="0" bIns="0" anchor="ctr">
            <a:spAutoFit/>
          </a:bodyPr>
          <a:lstStyle/>
          <a:p>
            <a:r>
              <a:rPr sz="700" b="1" i="0">
                <a:solidFill>
                  <a:srgbClr val="000000"/>
                </a:solidFill>
                <a:latin typeface="Trenda IG Text"/>
              </a:rPr>
              <a:t>Cloud security engineer + Ascension security</a:t>
            </a:r>
          </a:p>
        </p:txBody>
      </p:sp>
      <p:sp>
        <p:nvSpPr>
          <p:cNvPr id="50" name="Shape 49"/>
          <p:cNvSpPr/>
          <p:nvPr/>
        </p:nvSpPr>
        <p:spPr>
          <a:xfrm>
            <a:off x="411480" y="349707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84632" y="3542791"/>
            <a:ext cx="2112264" cy="439928"/>
          </a:xfrm>
          <a:prstGeom prst="rect">
            <a:avLst/>
          </a:prstGeom>
          <a:noFill/>
        </p:spPr>
        <p:txBody>
          <a:bodyPr wrap="square" lIns="0" rIns="0" tIns="0" bIns="0" anchor="ctr">
            <a:spAutoFit/>
          </a:bodyPr>
          <a:lstStyle/>
          <a:p>
            <a:r>
              <a:rPr sz="800" b="1" i="0">
                <a:solidFill>
                  <a:srgbClr val="000000"/>
                </a:solidFill>
                <a:latin typeface="Trenda IG Text"/>
              </a:rPr>
              <a:t>Graph facts are incomplete or stale</a:t>
            </a:r>
          </a:p>
          <a:p>
            <a:r>
              <a:rPr sz="600" b="0" i="0" spc="150">
                <a:solidFill>
                  <a:srgbClr val="595959"/>
                </a:solidFill>
                <a:latin typeface="Trenda IG Text"/>
              </a:rPr>
              <a:t>DATA</a:t>
            </a:r>
          </a:p>
        </p:txBody>
      </p:sp>
      <p:sp>
        <p:nvSpPr>
          <p:cNvPr id="52" name="Text 51"/>
          <p:cNvSpPr txBox="1"/>
          <p:nvPr/>
        </p:nvSpPr>
        <p:spPr>
          <a:xfrm>
            <a:off x="2724912" y="3542791"/>
            <a:ext cx="1700784" cy="439928"/>
          </a:xfrm>
          <a:prstGeom prst="rect">
            <a:avLst/>
          </a:prstGeom>
          <a:noFill/>
        </p:spPr>
        <p:txBody>
          <a:bodyPr wrap="square" lIns="0" rIns="0" tIns="0" bIns="0" anchor="ctr">
            <a:spAutoFit/>
          </a:bodyPr>
          <a:lstStyle/>
          <a:p>
            <a:r>
              <a:rPr sz="700" b="0" i="0">
                <a:solidFill>
                  <a:srgbClr val="000000"/>
                </a:solidFill>
                <a:latin typeface="Trenda IG Text"/>
              </a:rPr>
              <a:t>Agents build on a wrong picture of the org</a:t>
            </a:r>
          </a:p>
        </p:txBody>
      </p:sp>
      <p:sp>
        <p:nvSpPr>
          <p:cNvPr id="53" name="Shape 52"/>
          <p:cNvSpPr/>
          <p:nvPr/>
        </p:nvSpPr>
        <p:spPr>
          <a:xfrm>
            <a:off x="4553712" y="366217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4553712" y="3662172"/>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55" name="Shape 54"/>
          <p:cNvSpPr/>
          <p:nvPr/>
        </p:nvSpPr>
        <p:spPr>
          <a:xfrm>
            <a:off x="5029200" y="366217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029200" y="3662172"/>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57" name="Text 56"/>
          <p:cNvSpPr txBox="1"/>
          <p:nvPr/>
        </p:nvSpPr>
        <p:spPr>
          <a:xfrm>
            <a:off x="5605272" y="3533647"/>
            <a:ext cx="3392424" cy="458215"/>
          </a:xfrm>
          <a:prstGeom prst="rect">
            <a:avLst/>
          </a:prstGeom>
          <a:noFill/>
        </p:spPr>
        <p:txBody>
          <a:bodyPr wrap="square" lIns="0" rIns="0" tIns="0" bIns="0" anchor="ctr">
            <a:spAutoFit/>
          </a:bodyPr>
          <a:lstStyle/>
          <a:p>
            <a:r>
              <a:rPr sz="700" b="0" i="0">
                <a:solidFill>
                  <a:srgbClr val="000000"/>
                </a:solidFill>
                <a:latin typeface="Trenda IG Text"/>
              </a:rPr>
              <a:t>Phase 1 exit: ≥90% agreement with architects on 10-15 past changes. Freshness and coverage checks; nightly drift watch; unknowns go to the owner, never guessed.</a:t>
            </a:r>
          </a:p>
        </p:txBody>
      </p:sp>
      <p:sp>
        <p:nvSpPr>
          <p:cNvPr id="58" name="Text 57"/>
          <p:cNvSpPr txBox="1"/>
          <p:nvPr/>
        </p:nvSpPr>
        <p:spPr>
          <a:xfrm>
            <a:off x="9125712" y="3542791"/>
            <a:ext cx="1335024" cy="439928"/>
          </a:xfrm>
          <a:prstGeom prst="rect">
            <a:avLst/>
          </a:prstGeom>
          <a:noFill/>
        </p:spPr>
        <p:txBody>
          <a:bodyPr wrap="square" lIns="0" rIns="0" tIns="0" bIns="0" anchor="ctr">
            <a:spAutoFit/>
          </a:bodyPr>
          <a:lstStyle/>
          <a:p>
            <a:r>
              <a:rPr sz="700" b="0" i="0">
                <a:solidFill>
                  <a:srgbClr val="595959"/>
                </a:solidFill>
                <a:latin typeface="Trenda IG Text"/>
              </a:rPr>
              <a:t>Coverage or freshness below target</a:t>
            </a:r>
          </a:p>
        </p:txBody>
      </p:sp>
      <p:sp>
        <p:nvSpPr>
          <p:cNvPr id="59" name="Text 58"/>
          <p:cNvSpPr txBox="1"/>
          <p:nvPr/>
        </p:nvSpPr>
        <p:spPr>
          <a:xfrm>
            <a:off x="10588752" y="3542791"/>
            <a:ext cx="1152143" cy="439928"/>
          </a:xfrm>
          <a:prstGeom prst="rect">
            <a:avLst/>
          </a:prstGeom>
          <a:noFill/>
        </p:spPr>
        <p:txBody>
          <a:bodyPr wrap="square" lIns="0" rIns="0" tIns="0" bIns="0" anchor="ctr">
            <a:spAutoFit/>
          </a:bodyPr>
          <a:lstStyle/>
          <a:p>
            <a:r>
              <a:rPr sz="700" b="1" i="0">
                <a:solidFill>
                  <a:srgbClr val="000000"/>
                </a:solidFill>
                <a:latin typeface="Trenda IG Text"/>
              </a:rPr>
              <a:t>Knowledge graph engineers</a:t>
            </a:r>
          </a:p>
        </p:txBody>
      </p:sp>
      <p:sp>
        <p:nvSpPr>
          <p:cNvPr id="60" name="Text 59"/>
          <p:cNvSpPr txBox="1"/>
          <p:nvPr/>
        </p:nvSpPr>
        <p:spPr>
          <a:xfrm>
            <a:off x="484632" y="4055871"/>
            <a:ext cx="2112264" cy="439928"/>
          </a:xfrm>
          <a:prstGeom prst="rect">
            <a:avLst/>
          </a:prstGeom>
          <a:noFill/>
        </p:spPr>
        <p:txBody>
          <a:bodyPr wrap="square" lIns="0" rIns="0" tIns="0" bIns="0" anchor="ctr">
            <a:spAutoFit/>
          </a:bodyPr>
          <a:lstStyle/>
          <a:p>
            <a:r>
              <a:rPr sz="800" b="1" i="0">
                <a:solidFill>
                  <a:srgbClr val="000000"/>
                </a:solidFill>
                <a:latin typeface="Trenda IG Text"/>
              </a:rPr>
              <a:t>Agent quality drifts, or a new model behaves differently</a:t>
            </a:r>
          </a:p>
          <a:p>
            <a:r>
              <a:rPr sz="600" b="0" i="0" spc="150">
                <a:solidFill>
                  <a:srgbClr val="595959"/>
                </a:solidFill>
                <a:latin typeface="Trenda IG Text"/>
              </a:rPr>
              <a:t>QUALITY</a:t>
            </a:r>
          </a:p>
        </p:txBody>
      </p:sp>
      <p:sp>
        <p:nvSpPr>
          <p:cNvPr id="61" name="Text 60"/>
          <p:cNvSpPr txBox="1"/>
          <p:nvPr/>
        </p:nvSpPr>
        <p:spPr>
          <a:xfrm>
            <a:off x="2724912" y="4055871"/>
            <a:ext cx="1700784" cy="439928"/>
          </a:xfrm>
          <a:prstGeom prst="rect">
            <a:avLst/>
          </a:prstGeom>
          <a:noFill/>
        </p:spPr>
        <p:txBody>
          <a:bodyPr wrap="square" lIns="0" rIns="0" tIns="0" bIns="0" anchor="ctr">
            <a:spAutoFit/>
          </a:bodyPr>
          <a:lstStyle/>
          <a:p>
            <a:r>
              <a:rPr sz="700" b="0" i="0">
                <a:solidFill>
                  <a:srgbClr val="000000"/>
                </a:solidFill>
                <a:latin typeface="Trenda IG Text"/>
              </a:rPr>
              <a:t>More rework; reviewers lose confidence</a:t>
            </a:r>
          </a:p>
        </p:txBody>
      </p:sp>
      <p:sp>
        <p:nvSpPr>
          <p:cNvPr id="62" name="Shape 61"/>
          <p:cNvSpPr/>
          <p:nvPr/>
        </p:nvSpPr>
        <p:spPr>
          <a:xfrm>
            <a:off x="4553712"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553712" y="417525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64" name="Shape 63"/>
          <p:cNvSpPr/>
          <p:nvPr/>
        </p:nvSpPr>
        <p:spPr>
          <a:xfrm>
            <a:off x="5029200"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5029200" y="417525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66" name="Text 65"/>
          <p:cNvSpPr txBox="1"/>
          <p:nvPr/>
        </p:nvSpPr>
        <p:spPr>
          <a:xfrm>
            <a:off x="5605272" y="4046727"/>
            <a:ext cx="3392424" cy="458215"/>
          </a:xfrm>
          <a:prstGeom prst="rect">
            <a:avLst/>
          </a:prstGeom>
          <a:noFill/>
        </p:spPr>
        <p:txBody>
          <a:bodyPr wrap="square" lIns="0" rIns="0" tIns="0" bIns="0" anchor="ctr">
            <a:spAutoFit/>
          </a:bodyPr>
          <a:lstStyle/>
          <a:p>
            <a:r>
              <a:rPr sz="700" b="0" i="0">
                <a:solidFill>
                  <a:srgbClr val="000000"/>
                </a:solidFill>
                <a:latin typeface="Trenda IG Text"/>
              </a:rPr>
              <a:t>Evals gate every prompt, skill and model change; held-out set; weekly blind sample. The model is pinned and changes only by config after passing evals. Max 5 attempts, then an owner.</a:t>
            </a:r>
          </a:p>
        </p:txBody>
      </p:sp>
      <p:sp>
        <p:nvSpPr>
          <p:cNvPr id="67" name="Text 66"/>
          <p:cNvSpPr txBox="1"/>
          <p:nvPr/>
        </p:nvSpPr>
        <p:spPr>
          <a:xfrm>
            <a:off x="9125712" y="4055871"/>
            <a:ext cx="1335024" cy="439928"/>
          </a:xfrm>
          <a:prstGeom prst="rect">
            <a:avLst/>
          </a:prstGeom>
          <a:noFill/>
        </p:spPr>
        <p:txBody>
          <a:bodyPr wrap="square" lIns="0" rIns="0" tIns="0" bIns="0" anchor="ctr">
            <a:spAutoFit/>
          </a:bodyPr>
          <a:lstStyle/>
          <a:p>
            <a:r>
              <a:rPr sz="700" b="0" i="0">
                <a:solidFill>
                  <a:srgbClr val="595959"/>
                </a:solidFill>
                <a:latin typeface="Trenda IG Text"/>
              </a:rPr>
              <a:t>pass@1 or judge agreement falls</a:t>
            </a:r>
          </a:p>
        </p:txBody>
      </p:sp>
      <p:sp>
        <p:nvSpPr>
          <p:cNvPr id="68" name="Text 67"/>
          <p:cNvSpPr txBox="1"/>
          <p:nvPr/>
        </p:nvSpPr>
        <p:spPr>
          <a:xfrm>
            <a:off x="10588752" y="4055871"/>
            <a:ext cx="1152143" cy="439928"/>
          </a:xfrm>
          <a:prstGeom prst="rect">
            <a:avLst/>
          </a:prstGeom>
          <a:noFill/>
        </p:spPr>
        <p:txBody>
          <a:bodyPr wrap="square" lIns="0" rIns="0" tIns="0" bIns="0" anchor="ctr">
            <a:spAutoFit/>
          </a:bodyPr>
          <a:lstStyle/>
          <a:p>
            <a:r>
              <a:rPr sz="700" b="1" i="0">
                <a:solidFill>
                  <a:srgbClr val="000000"/>
                </a:solidFill>
                <a:latin typeface="Trenda IG Text"/>
              </a:rPr>
              <a:t>AI harness architect</a:t>
            </a:r>
          </a:p>
        </p:txBody>
      </p:sp>
      <p:sp>
        <p:nvSpPr>
          <p:cNvPr id="69" name="Shape 68"/>
          <p:cNvSpPr/>
          <p:nvPr/>
        </p:nvSpPr>
        <p:spPr>
          <a:xfrm>
            <a:off x="411480" y="452323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484632" y="4568951"/>
            <a:ext cx="2112264" cy="439928"/>
          </a:xfrm>
          <a:prstGeom prst="rect">
            <a:avLst/>
          </a:prstGeom>
          <a:noFill/>
        </p:spPr>
        <p:txBody>
          <a:bodyPr wrap="square" lIns="0" rIns="0" tIns="0" bIns="0" anchor="ctr">
            <a:spAutoFit/>
          </a:bodyPr>
          <a:lstStyle/>
          <a:p>
            <a:r>
              <a:rPr sz="800" b="1" i="0">
                <a:solidFill>
                  <a:srgbClr val="000000"/>
                </a:solidFill>
                <a:latin typeface="Trenda IG Text"/>
              </a:rPr>
              <a:t>A change breaks another pod's process</a:t>
            </a:r>
          </a:p>
          <a:p>
            <a:r>
              <a:rPr sz="600" b="0" i="0" spc="150">
                <a:solidFill>
                  <a:srgbClr val="595959"/>
                </a:solidFill>
                <a:latin typeface="Trenda IG Text"/>
              </a:rPr>
              <a:t>DELIVERY</a:t>
            </a:r>
          </a:p>
        </p:txBody>
      </p:sp>
      <p:sp>
        <p:nvSpPr>
          <p:cNvPr id="71" name="Text 70"/>
          <p:cNvSpPr txBox="1"/>
          <p:nvPr/>
        </p:nvSpPr>
        <p:spPr>
          <a:xfrm>
            <a:off x="2724912" y="4568951"/>
            <a:ext cx="1700784" cy="439928"/>
          </a:xfrm>
          <a:prstGeom prst="rect">
            <a:avLst/>
          </a:prstGeom>
          <a:noFill/>
        </p:spPr>
        <p:txBody>
          <a:bodyPr wrap="square" lIns="0" rIns="0" tIns="0" bIns="0" anchor="ctr">
            <a:spAutoFit/>
          </a:bodyPr>
          <a:lstStyle/>
          <a:p>
            <a:r>
              <a:rPr sz="700" b="0" i="0">
                <a:solidFill>
                  <a:srgbClr val="000000"/>
                </a:solidFill>
                <a:latin typeface="Trenda IG Text"/>
              </a:rPr>
              <a:t>Incident in a shared object; pods stop trusting the harness</a:t>
            </a:r>
          </a:p>
        </p:txBody>
      </p:sp>
      <p:sp>
        <p:nvSpPr>
          <p:cNvPr id="72" name="Shape 71"/>
          <p:cNvSpPr/>
          <p:nvPr/>
        </p:nvSpPr>
        <p:spPr>
          <a:xfrm>
            <a:off x="4553712" y="468833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553712" y="468833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74" name="Shape 73"/>
          <p:cNvSpPr/>
          <p:nvPr/>
        </p:nvSpPr>
        <p:spPr>
          <a:xfrm>
            <a:off x="5029200" y="46883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5029200" y="468833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76" name="Text 75"/>
          <p:cNvSpPr txBox="1"/>
          <p:nvPr/>
        </p:nvSpPr>
        <p:spPr>
          <a:xfrm>
            <a:off x="5605272" y="4559807"/>
            <a:ext cx="3392424" cy="458215"/>
          </a:xfrm>
          <a:prstGeom prst="rect">
            <a:avLst/>
          </a:prstGeom>
          <a:noFill/>
        </p:spPr>
        <p:txBody>
          <a:bodyPr wrap="square" lIns="0" rIns="0" tIns="0" bIns="0" anchor="ctr">
            <a:spAutoFit/>
          </a:bodyPr>
          <a:lstStyle/>
          <a:p>
            <a:r>
              <a:rPr sz="700" b="0" i="0">
                <a:solidFill>
                  <a:srgbClr val="000000"/>
                </a:solidFill>
                <a:latin typeface="Trenda IG Text"/>
              </a:rPr>
              <a:t>Change Guardian checks design, commit and promotion against the ownership graph; affected pods sign; CAB unchanged; every release has a rollback plan.</a:t>
            </a:r>
          </a:p>
        </p:txBody>
      </p:sp>
      <p:sp>
        <p:nvSpPr>
          <p:cNvPr id="77" name="Text 76"/>
          <p:cNvSpPr txBox="1"/>
          <p:nvPr/>
        </p:nvSpPr>
        <p:spPr>
          <a:xfrm>
            <a:off x="9125712" y="4568951"/>
            <a:ext cx="1335024" cy="439928"/>
          </a:xfrm>
          <a:prstGeom prst="rect">
            <a:avLst/>
          </a:prstGeom>
          <a:noFill/>
        </p:spPr>
        <p:txBody>
          <a:bodyPr wrap="square" lIns="0" rIns="0" tIns="0" bIns="0" anchor="ctr">
            <a:spAutoFit/>
          </a:bodyPr>
          <a:lstStyle/>
          <a:p>
            <a:r>
              <a:rPr sz="700" b="0" i="0">
                <a:solidFill>
                  <a:srgbClr val="595959"/>
                </a:solidFill>
                <a:latin typeface="Trenda IG Text"/>
              </a:rPr>
              <a:t>Guardian blocks or approval backlog rising</a:t>
            </a:r>
          </a:p>
        </p:txBody>
      </p:sp>
      <p:sp>
        <p:nvSpPr>
          <p:cNvPr id="78" name="Text 77"/>
          <p:cNvSpPr txBox="1"/>
          <p:nvPr/>
        </p:nvSpPr>
        <p:spPr>
          <a:xfrm>
            <a:off x="10588752" y="4568951"/>
            <a:ext cx="1152143" cy="439928"/>
          </a:xfrm>
          <a:prstGeom prst="rect">
            <a:avLst/>
          </a:prstGeom>
          <a:noFill/>
        </p:spPr>
        <p:txBody>
          <a:bodyPr wrap="square" lIns="0" rIns="0" tIns="0" bIns="0" anchor="ctr">
            <a:spAutoFit/>
          </a:bodyPr>
          <a:lstStyle/>
          <a:p>
            <a:r>
              <a:rPr sz="700" b="1" i="0">
                <a:solidFill>
                  <a:srgbClr val="000000"/>
                </a:solidFill>
                <a:latin typeface="Trenda IG Text"/>
              </a:rPr>
              <a:t>Pod leads + Guardian rulebook owner</a:t>
            </a:r>
          </a:p>
        </p:txBody>
      </p:sp>
      <p:sp>
        <p:nvSpPr>
          <p:cNvPr id="79" name="Text 78"/>
          <p:cNvSpPr txBox="1"/>
          <p:nvPr/>
        </p:nvSpPr>
        <p:spPr>
          <a:xfrm>
            <a:off x="484632" y="5082031"/>
            <a:ext cx="2112264" cy="439928"/>
          </a:xfrm>
          <a:prstGeom prst="rect">
            <a:avLst/>
          </a:prstGeom>
          <a:noFill/>
        </p:spPr>
        <p:txBody>
          <a:bodyPr wrap="square" lIns="0" rIns="0" tIns="0" bIns="0" anchor="ctr">
            <a:spAutoFit/>
          </a:bodyPr>
          <a:lstStyle/>
          <a:p>
            <a:r>
              <a:rPr sz="800" b="1" i="0">
                <a:solidFill>
                  <a:srgbClr val="000000"/>
                </a:solidFill>
                <a:latin typeface="Trenda IG Text"/>
              </a:rPr>
              <a:t>Pods keep working the old way</a:t>
            </a:r>
          </a:p>
          <a:p>
            <a:r>
              <a:rPr sz="600" b="0" i="0" spc="150">
                <a:solidFill>
                  <a:srgbClr val="595959"/>
                </a:solidFill>
                <a:latin typeface="Trenda IG Text"/>
              </a:rPr>
              <a:t>ADOPTION</a:t>
            </a:r>
          </a:p>
        </p:txBody>
      </p:sp>
      <p:sp>
        <p:nvSpPr>
          <p:cNvPr id="80" name="Text 79"/>
          <p:cNvSpPr txBox="1"/>
          <p:nvPr/>
        </p:nvSpPr>
        <p:spPr>
          <a:xfrm>
            <a:off x="2724912" y="5082031"/>
            <a:ext cx="1700784" cy="439928"/>
          </a:xfrm>
          <a:prstGeom prst="rect">
            <a:avLst/>
          </a:prstGeom>
          <a:noFill/>
        </p:spPr>
        <p:txBody>
          <a:bodyPr wrap="square" lIns="0" rIns="0" tIns="0" bIns="0" anchor="ctr">
            <a:spAutoFit/>
          </a:bodyPr>
          <a:lstStyle/>
          <a:p>
            <a:r>
              <a:rPr sz="700" b="0" i="0">
                <a:solidFill>
                  <a:srgbClr val="000000"/>
                </a:solidFill>
                <a:latin typeface="Trenda IG Text"/>
              </a:rPr>
              <a:t>Harness built but under-used; benefits do not land</a:t>
            </a:r>
          </a:p>
        </p:txBody>
      </p:sp>
      <p:sp>
        <p:nvSpPr>
          <p:cNvPr id="81" name="Shape 80"/>
          <p:cNvSpPr/>
          <p:nvPr/>
        </p:nvSpPr>
        <p:spPr>
          <a:xfrm>
            <a:off x="4553712" y="52014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4553712" y="520141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83" name="Shape 82"/>
          <p:cNvSpPr/>
          <p:nvPr/>
        </p:nvSpPr>
        <p:spPr>
          <a:xfrm>
            <a:off x="5029200" y="52014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5029200" y="520141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High</a:t>
            </a:r>
          </a:p>
        </p:txBody>
      </p:sp>
      <p:sp>
        <p:nvSpPr>
          <p:cNvPr id="85" name="Text 84"/>
          <p:cNvSpPr txBox="1"/>
          <p:nvPr/>
        </p:nvSpPr>
        <p:spPr>
          <a:xfrm>
            <a:off x="5605272" y="5072887"/>
            <a:ext cx="3392424" cy="458215"/>
          </a:xfrm>
          <a:prstGeom prst="rect">
            <a:avLst/>
          </a:prstGeom>
          <a:noFill/>
        </p:spPr>
        <p:txBody>
          <a:bodyPr wrap="square" lIns="0" rIns="0" tIns="0" bIns="0" anchor="ctr">
            <a:spAutoFit/>
          </a:bodyPr>
          <a:lstStyle/>
          <a:p>
            <a:r>
              <a:rPr sz="700" b="0" i="0">
                <a:solidFill>
                  <a:srgbClr val="000000"/>
                </a:solidFill>
                <a:latin typeface="Trenda IG Text"/>
              </a:rPr>
              <a:t>Two pilot pods prove it on their own baseline before any scale-up. Onboarding waves with training; a dashboard per pod; people keep every approval.</a:t>
            </a:r>
          </a:p>
        </p:txBody>
      </p:sp>
      <p:sp>
        <p:nvSpPr>
          <p:cNvPr id="86" name="Text 85"/>
          <p:cNvSpPr txBox="1"/>
          <p:nvPr/>
        </p:nvSpPr>
        <p:spPr>
          <a:xfrm>
            <a:off x="9125712" y="5082031"/>
            <a:ext cx="1335024" cy="439928"/>
          </a:xfrm>
          <a:prstGeom prst="rect">
            <a:avLst/>
          </a:prstGeom>
          <a:noFill/>
        </p:spPr>
        <p:txBody>
          <a:bodyPr wrap="square" lIns="0" rIns="0" tIns="0" bIns="0" anchor="ctr">
            <a:spAutoFit/>
          </a:bodyPr>
          <a:lstStyle/>
          <a:p>
            <a:r>
              <a:rPr sz="700" b="0" i="0">
                <a:solidFill>
                  <a:srgbClr val="595959"/>
                </a:solidFill>
                <a:latin typeface="Trenda IG Text"/>
              </a:rPr>
              <a:t>Stories through the harness below plan</a:t>
            </a:r>
          </a:p>
        </p:txBody>
      </p:sp>
      <p:sp>
        <p:nvSpPr>
          <p:cNvPr id="87" name="Text 86"/>
          <p:cNvSpPr txBox="1"/>
          <p:nvPr/>
        </p:nvSpPr>
        <p:spPr>
          <a:xfrm>
            <a:off x="10588752" y="5082031"/>
            <a:ext cx="1152143" cy="439928"/>
          </a:xfrm>
          <a:prstGeom prst="rect">
            <a:avLst/>
          </a:prstGeom>
          <a:noFill/>
        </p:spPr>
        <p:txBody>
          <a:bodyPr wrap="square" lIns="0" rIns="0" tIns="0" bIns="0" anchor="ctr">
            <a:spAutoFit/>
          </a:bodyPr>
          <a:lstStyle/>
          <a:p>
            <a:r>
              <a:rPr sz="700" b="1" i="0">
                <a:solidFill>
                  <a:srgbClr val="000000"/>
                </a:solidFill>
                <a:latin typeface="Trenda IG Text"/>
              </a:rPr>
              <a:t>Ascension sponsor + engagement lead</a:t>
            </a:r>
          </a:p>
        </p:txBody>
      </p:sp>
      <p:sp>
        <p:nvSpPr>
          <p:cNvPr id="88" name="Shape 87"/>
          <p:cNvSpPr/>
          <p:nvPr/>
        </p:nvSpPr>
        <p:spPr>
          <a:xfrm>
            <a:off x="411480" y="554939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484632" y="5595111"/>
            <a:ext cx="2112264" cy="439928"/>
          </a:xfrm>
          <a:prstGeom prst="rect">
            <a:avLst/>
          </a:prstGeom>
          <a:noFill/>
        </p:spPr>
        <p:txBody>
          <a:bodyPr wrap="square" lIns="0" rIns="0" tIns="0" bIns="0" anchor="ctr">
            <a:spAutoFit/>
          </a:bodyPr>
          <a:lstStyle/>
          <a:p>
            <a:r>
              <a:rPr sz="800" b="1" i="0">
                <a:solidFill>
                  <a:srgbClr val="000000"/>
                </a:solidFill>
                <a:latin typeface="Trenda IG Text"/>
              </a:rPr>
              <a:t>Agent run cost grows faster than planned</a:t>
            </a:r>
          </a:p>
          <a:p>
            <a:r>
              <a:rPr sz="600" b="0" i="0" spc="150">
                <a:solidFill>
                  <a:srgbClr val="595959"/>
                </a:solidFill>
                <a:latin typeface="Trenda IG Text"/>
              </a:rPr>
              <a:t>PLATFORM</a:t>
            </a:r>
          </a:p>
        </p:txBody>
      </p:sp>
      <p:sp>
        <p:nvSpPr>
          <p:cNvPr id="90" name="Text 89"/>
          <p:cNvSpPr txBox="1"/>
          <p:nvPr/>
        </p:nvSpPr>
        <p:spPr>
          <a:xfrm>
            <a:off x="2724912" y="5595111"/>
            <a:ext cx="1700784" cy="439928"/>
          </a:xfrm>
          <a:prstGeom prst="rect">
            <a:avLst/>
          </a:prstGeom>
          <a:noFill/>
        </p:spPr>
        <p:txBody>
          <a:bodyPr wrap="square" lIns="0" rIns="0" tIns="0" bIns="0" anchor="ctr">
            <a:spAutoFit/>
          </a:bodyPr>
          <a:lstStyle/>
          <a:p>
            <a:r>
              <a:rPr sz="700" b="0" i="0">
                <a:solidFill>
                  <a:srgbClr val="000000"/>
                </a:solidFill>
                <a:latin typeface="Trenda IG Text"/>
              </a:rPr>
              <a:t>Model and cloud usage eat into the benefit</a:t>
            </a:r>
          </a:p>
        </p:txBody>
      </p:sp>
      <p:sp>
        <p:nvSpPr>
          <p:cNvPr id="91" name="Shape 90"/>
          <p:cNvSpPr/>
          <p:nvPr/>
        </p:nvSpPr>
        <p:spPr>
          <a:xfrm>
            <a:off x="4553712"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4553712" y="571449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93" name="Shape 92"/>
          <p:cNvSpPr/>
          <p:nvPr/>
        </p:nvSpPr>
        <p:spPr>
          <a:xfrm>
            <a:off x="5029200"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5029200" y="5714491"/>
            <a:ext cx="420624" cy="182880"/>
          </a:xfrm>
          <a:prstGeom prst="rect">
            <a:avLst/>
          </a:prstGeom>
          <a:noFill/>
        </p:spPr>
        <p:txBody>
          <a:bodyPr wrap="square" lIns="0" rIns="0" tIns="0" bIns="0" anchor="ctr">
            <a:spAutoFit/>
          </a:bodyPr>
          <a:lstStyle/>
          <a:p>
            <a:pPr algn="ctr"/>
            <a:r>
              <a:rPr sz="650" b="1" i="0">
                <a:solidFill>
                  <a:srgbClr val="000000"/>
                </a:solidFill>
                <a:latin typeface="Trenda IG Text"/>
              </a:rPr>
              <a:t>Med</a:t>
            </a:r>
          </a:p>
        </p:txBody>
      </p:sp>
      <p:sp>
        <p:nvSpPr>
          <p:cNvPr id="95" name="Text 94"/>
          <p:cNvSpPr txBox="1"/>
          <p:nvPr/>
        </p:nvSpPr>
        <p:spPr>
          <a:xfrm>
            <a:off x="5605272" y="5585967"/>
            <a:ext cx="3392424" cy="458215"/>
          </a:xfrm>
          <a:prstGeom prst="rect">
            <a:avLst/>
          </a:prstGeom>
          <a:noFill/>
        </p:spPr>
        <p:txBody>
          <a:bodyPr wrap="square" lIns="0" rIns="0" tIns="0" bIns="0" anchor="ctr">
            <a:spAutoFit/>
          </a:bodyPr>
          <a:lstStyle/>
          <a:p>
            <a:r>
              <a:rPr sz="700" b="0" i="0">
                <a:solidFill>
                  <a:srgbClr val="000000"/>
                </a:solidFill>
                <a:latin typeface="Trenda IG Text"/>
              </a:rPr>
              <a:t>Token budgets per step and per run; a run stops at its budget. Cost per step is in every run report and reviewed monthly.</a:t>
            </a:r>
          </a:p>
        </p:txBody>
      </p:sp>
      <p:sp>
        <p:nvSpPr>
          <p:cNvPr id="96" name="Text 95"/>
          <p:cNvSpPr txBox="1"/>
          <p:nvPr/>
        </p:nvSpPr>
        <p:spPr>
          <a:xfrm>
            <a:off x="9125712" y="5595111"/>
            <a:ext cx="1335024" cy="439928"/>
          </a:xfrm>
          <a:prstGeom prst="rect">
            <a:avLst/>
          </a:prstGeom>
          <a:noFill/>
        </p:spPr>
        <p:txBody>
          <a:bodyPr wrap="square" lIns="0" rIns="0" tIns="0" bIns="0" anchor="ctr">
            <a:spAutoFit/>
          </a:bodyPr>
          <a:lstStyle/>
          <a:p>
            <a:r>
              <a:rPr sz="700" b="0" i="0">
                <a:solidFill>
                  <a:srgbClr val="595959"/>
                </a:solidFill>
                <a:latin typeface="Trenda IG Text"/>
              </a:rPr>
              <a:t>Cost per story over budget two weeks running</a:t>
            </a:r>
          </a:p>
        </p:txBody>
      </p:sp>
      <p:sp>
        <p:nvSpPr>
          <p:cNvPr id="97" name="Text 96"/>
          <p:cNvSpPr txBox="1"/>
          <p:nvPr/>
        </p:nvSpPr>
        <p:spPr>
          <a:xfrm>
            <a:off x="10588752" y="5595111"/>
            <a:ext cx="1152143" cy="439928"/>
          </a:xfrm>
          <a:prstGeom prst="rect">
            <a:avLst/>
          </a:prstGeom>
          <a:noFill/>
        </p:spPr>
        <p:txBody>
          <a:bodyPr wrap="square" lIns="0" rIns="0" tIns="0" bIns="0" anchor="ctr">
            <a:spAutoFit/>
          </a:bodyPr>
          <a:lstStyle/>
          <a:p>
            <a:r>
              <a:rPr sz="700" b="1" i="0">
                <a:solidFill>
                  <a:srgbClr val="000000"/>
                </a:solidFill>
                <a:latin typeface="Trenda IG Text"/>
              </a:rPr>
              <a:t>Cloud and DevOps engineers</a:t>
            </a:r>
          </a:p>
        </p:txBody>
      </p:sp>
      <p:sp>
        <p:nvSpPr>
          <p:cNvPr id="98" name="Shape 97"/>
          <p:cNvSpPr/>
          <p:nvPr/>
        </p:nvSpPr>
        <p:spPr>
          <a:xfrm>
            <a:off x="411480" y="6062471"/>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411480" y="6108191"/>
            <a:ext cx="11365992" cy="201168"/>
          </a:xfrm>
          <a:prstGeom prst="rect">
            <a:avLst/>
          </a:prstGeom>
          <a:noFill/>
        </p:spPr>
        <p:txBody>
          <a:bodyPr wrap="square" lIns="0" rIns="0" tIns="0" bIns="0" anchor="ctr">
            <a:spAutoFit/>
          </a:bodyPr>
          <a:lstStyle/>
          <a:p>
            <a:r>
              <a:rPr sz="650" b="0" i="0">
                <a:solidFill>
                  <a:srgbClr val="595959"/>
                </a:solidFill>
                <a:latin typeface="Trenda IG Text"/>
              </a:rPr>
              <a:t>Likelihood and impact are our starting view, agreed with Ascension at the Phase 0 exit. The engagement lead keeps the register; new risks are added at each phase exit and in the monthly steering meeting.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RELIABILITY</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Ask us anything: every “what if” already has an answer</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In healthcare, AI has to be reliable before it is useful. These are the questions your teams will ask, and the layer of the harness that answers each one.</a:t>
            </a:r>
          </a:p>
        </p:txBody>
      </p:sp>
      <p:sp>
        <p:nvSpPr>
          <p:cNvPr id="5" name="Shape 4"/>
          <p:cNvSpPr/>
          <p:nvPr/>
        </p:nvSpPr>
        <p:spPr>
          <a:xfrm>
            <a:off x="3854196" y="1307591"/>
            <a:ext cx="4480560" cy="4480560"/>
          </a:xfrm>
          <a:prstGeom prst="ellipse">
            <a:avLst/>
          </a:prstGeom>
          <a:noFill/>
          <a:ln w="1587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997196" y="1380743"/>
            <a:ext cx="2194560" cy="219456"/>
          </a:xfrm>
          <a:prstGeom prst="rect">
            <a:avLst/>
          </a:prstGeom>
          <a:noFill/>
        </p:spPr>
        <p:txBody>
          <a:bodyPr wrap="square" lIns="0" rIns="0" tIns="0" bIns="0" anchor="ctr">
            <a:spAutoFit/>
          </a:bodyPr>
          <a:lstStyle/>
          <a:p>
            <a:pPr algn="ctr"/>
            <a:r>
              <a:rPr sz="700" b="1" i="0" spc="200">
                <a:solidFill>
                  <a:srgbClr val="FFFFFF"/>
                </a:solidFill>
                <a:latin typeface="Trenda IG Text"/>
              </a:rPr>
              <a:t>PEOPLE</a:t>
            </a:r>
          </a:p>
        </p:txBody>
      </p:sp>
      <p:sp>
        <p:nvSpPr>
          <p:cNvPr id="7" name="Text 6"/>
          <p:cNvSpPr txBox="1"/>
          <p:nvPr/>
        </p:nvSpPr>
        <p:spPr>
          <a:xfrm>
            <a:off x="4997196" y="5504688"/>
            <a:ext cx="2194560" cy="201168"/>
          </a:xfrm>
          <a:prstGeom prst="rect">
            <a:avLst/>
          </a:prstGeom>
          <a:noFill/>
        </p:spPr>
        <p:txBody>
          <a:bodyPr wrap="square" lIns="0" rIns="0" tIns="0" bIns="0" anchor="ctr">
            <a:spAutoFit/>
          </a:bodyPr>
          <a:lstStyle/>
          <a:p>
            <a:pPr algn="ctr"/>
            <a:r>
              <a:rPr sz="650" b="0" i="0">
                <a:solidFill>
                  <a:srgbClr val="FFFFFF"/>
                </a:solidFill>
                <a:latin typeface="Trenda IG Text"/>
              </a:rPr>
              <a:t>final say</a:t>
            </a:r>
          </a:p>
        </p:txBody>
      </p:sp>
      <p:sp>
        <p:nvSpPr>
          <p:cNvPr id="8" name="Shape 7"/>
          <p:cNvSpPr/>
          <p:nvPr/>
        </p:nvSpPr>
        <p:spPr>
          <a:xfrm>
            <a:off x="4219956" y="1673352"/>
            <a:ext cx="3749039" cy="3749039"/>
          </a:xfrm>
          <a:prstGeom prst="ellipse">
            <a:avLst/>
          </a:prstGeom>
          <a:solidFill>
            <a:srgbClr val="3A0D25">
              <a:alpha val="85000"/>
            </a:srgbClr>
          </a:solidFill>
          <a:ln w="317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4997196" y="1778507"/>
            <a:ext cx="2194560" cy="219456"/>
          </a:xfrm>
          <a:prstGeom prst="rect">
            <a:avLst/>
          </a:prstGeom>
          <a:noFill/>
        </p:spPr>
        <p:txBody>
          <a:bodyPr wrap="square" lIns="0" rIns="0" tIns="0" bIns="0" anchor="ctr">
            <a:spAutoFit/>
          </a:bodyPr>
          <a:lstStyle/>
          <a:p>
            <a:pPr algn="ctr"/>
            <a:r>
              <a:rPr sz="800" b="1" i="0" spc="200">
                <a:solidFill>
                  <a:srgbClr val="FF0069"/>
                </a:solidFill>
                <a:latin typeface="Trenda IG Text"/>
              </a:rPr>
              <a:t>GUARDRAILS</a:t>
            </a:r>
          </a:p>
        </p:txBody>
      </p:sp>
      <p:sp>
        <p:nvSpPr>
          <p:cNvPr id="10" name="Text 9"/>
          <p:cNvSpPr txBox="1"/>
          <p:nvPr/>
        </p:nvSpPr>
        <p:spPr>
          <a:xfrm>
            <a:off x="4997196" y="5106924"/>
            <a:ext cx="2194560" cy="201168"/>
          </a:xfrm>
          <a:prstGeom prst="rect">
            <a:avLst/>
          </a:prstGeom>
          <a:noFill/>
        </p:spPr>
        <p:txBody>
          <a:bodyPr wrap="square" lIns="0" rIns="0" tIns="0" bIns="0" anchor="ctr">
            <a:spAutoFit/>
          </a:bodyPr>
          <a:lstStyle/>
          <a:p>
            <a:pPr algn="ctr"/>
            <a:r>
              <a:rPr sz="650" b="0" i="0">
                <a:solidFill>
                  <a:srgbClr val="BFBFBF"/>
                </a:solidFill>
                <a:latin typeface="Trenda IG Text"/>
              </a:rPr>
              <a:t>in and out</a:t>
            </a:r>
          </a:p>
        </p:txBody>
      </p:sp>
      <p:sp>
        <p:nvSpPr>
          <p:cNvPr id="11" name="Shape 10"/>
          <p:cNvSpPr/>
          <p:nvPr/>
        </p:nvSpPr>
        <p:spPr>
          <a:xfrm>
            <a:off x="4649724" y="2103120"/>
            <a:ext cx="2889504" cy="2889504"/>
          </a:xfrm>
          <a:prstGeom prst="ellipse">
            <a:avLst/>
          </a:prstGeom>
          <a:solidFill>
            <a:srgbClr val="06303F">
              <a:alpha val="85000"/>
            </a:srgbClr>
          </a:solidFill>
          <a:ln w="317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4997196" y="2212848"/>
            <a:ext cx="2194560" cy="219456"/>
          </a:xfrm>
          <a:prstGeom prst="rect">
            <a:avLst/>
          </a:prstGeom>
          <a:noFill/>
        </p:spPr>
        <p:txBody>
          <a:bodyPr wrap="square" lIns="0" rIns="0" tIns="0" bIns="0" anchor="ctr">
            <a:spAutoFit/>
          </a:bodyPr>
          <a:lstStyle/>
          <a:p>
            <a:pPr algn="ctr"/>
            <a:r>
              <a:rPr sz="800" b="1" i="0" spc="200">
                <a:solidFill>
                  <a:srgbClr val="00D6F2"/>
                </a:solidFill>
                <a:latin typeface="Trenda IG Text"/>
              </a:rPr>
              <a:t>OBSERVABILITY</a:t>
            </a:r>
          </a:p>
        </p:txBody>
      </p:sp>
      <p:sp>
        <p:nvSpPr>
          <p:cNvPr id="13" name="Text 12"/>
          <p:cNvSpPr txBox="1"/>
          <p:nvPr/>
        </p:nvSpPr>
        <p:spPr>
          <a:xfrm>
            <a:off x="4997196" y="4672583"/>
            <a:ext cx="2194560" cy="201168"/>
          </a:xfrm>
          <a:prstGeom prst="rect">
            <a:avLst/>
          </a:prstGeom>
          <a:noFill/>
        </p:spPr>
        <p:txBody>
          <a:bodyPr wrap="square" lIns="0" rIns="0" tIns="0" bIns="0" anchor="ctr">
            <a:spAutoFit/>
          </a:bodyPr>
          <a:lstStyle/>
          <a:p>
            <a:pPr algn="ctr"/>
            <a:r>
              <a:rPr sz="650" b="0" i="0">
                <a:solidFill>
                  <a:srgbClr val="BFBFBF"/>
                </a:solidFill>
                <a:latin typeface="Trenda IG Text"/>
              </a:rPr>
              <a:t>agent traces</a:t>
            </a:r>
          </a:p>
        </p:txBody>
      </p:sp>
      <p:sp>
        <p:nvSpPr>
          <p:cNvPr id="14" name="Shape 13"/>
          <p:cNvSpPr/>
          <p:nvPr/>
        </p:nvSpPr>
        <p:spPr>
          <a:xfrm>
            <a:off x="5088636" y="2542032"/>
            <a:ext cx="2011680" cy="2011680"/>
          </a:xfrm>
          <a:prstGeom prst="ellipse">
            <a:avLst/>
          </a:prstGeom>
          <a:solidFill>
            <a:srgbClr val="3A3205">
              <a:alpha val="85000"/>
            </a:srgbClr>
          </a:solidFill>
          <a:ln w="317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997196" y="2660903"/>
            <a:ext cx="2194560" cy="219456"/>
          </a:xfrm>
          <a:prstGeom prst="rect">
            <a:avLst/>
          </a:prstGeom>
          <a:noFill/>
        </p:spPr>
        <p:txBody>
          <a:bodyPr wrap="square" lIns="0" rIns="0" tIns="0" bIns="0" anchor="ctr">
            <a:spAutoFit/>
          </a:bodyPr>
          <a:lstStyle/>
          <a:p>
            <a:pPr algn="ctr"/>
            <a:r>
              <a:rPr sz="800" b="1" i="0" spc="200">
                <a:solidFill>
                  <a:srgbClr val="FFD700"/>
                </a:solidFill>
                <a:latin typeface="Trenda IG Text"/>
              </a:rPr>
              <a:t>EVALS</a:t>
            </a:r>
          </a:p>
        </p:txBody>
      </p:sp>
      <p:sp>
        <p:nvSpPr>
          <p:cNvPr id="16" name="Text 15"/>
          <p:cNvSpPr txBox="1"/>
          <p:nvPr/>
        </p:nvSpPr>
        <p:spPr>
          <a:xfrm>
            <a:off x="4997196" y="4224528"/>
            <a:ext cx="2194560" cy="201168"/>
          </a:xfrm>
          <a:prstGeom prst="rect">
            <a:avLst/>
          </a:prstGeom>
          <a:noFill/>
        </p:spPr>
        <p:txBody>
          <a:bodyPr wrap="square" lIns="0" rIns="0" tIns="0" bIns="0" anchor="ctr">
            <a:spAutoFit/>
          </a:bodyPr>
          <a:lstStyle/>
          <a:p>
            <a:pPr algn="ctr"/>
            <a:r>
              <a:rPr sz="650" b="0" i="0">
                <a:solidFill>
                  <a:srgbClr val="BFBFBF"/>
                </a:solidFill>
                <a:latin typeface="Trenda IG Text"/>
              </a:rPr>
              <a:t>QA for AI</a:t>
            </a:r>
          </a:p>
        </p:txBody>
      </p:sp>
      <p:sp>
        <p:nvSpPr>
          <p:cNvPr id="17" name="Shape 16"/>
          <p:cNvSpPr/>
          <p:nvPr/>
        </p:nvSpPr>
        <p:spPr>
          <a:xfrm>
            <a:off x="5545836" y="2999232"/>
            <a:ext cx="1097280" cy="1097280"/>
          </a:xfrm>
          <a:prstGeom prst="ellipse">
            <a:avLst/>
          </a:prstGeom>
          <a:solidFill>
            <a:srgbClr val="00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545836" y="3255264"/>
            <a:ext cx="1097280" cy="329184"/>
          </a:xfrm>
          <a:prstGeom prst="rect">
            <a:avLst/>
          </a:prstGeom>
          <a:noFill/>
        </p:spPr>
        <p:txBody>
          <a:bodyPr wrap="square" lIns="0" rIns="0" tIns="0" bIns="0" anchor="ctr">
            <a:spAutoFit/>
          </a:bodyPr>
          <a:lstStyle/>
          <a:p>
            <a:pPr algn="ctr"/>
            <a:r>
              <a:rPr sz="1300" b="1" i="0" spc="100">
                <a:solidFill>
                  <a:srgbClr val="FFFFFF"/>
                </a:solidFill>
                <a:latin typeface="Trenda IG Text"/>
              </a:rPr>
              <a:t>AGENT</a:t>
            </a:r>
          </a:p>
        </p:txBody>
      </p:sp>
      <p:sp>
        <p:nvSpPr>
          <p:cNvPr id="19" name="Text 18"/>
          <p:cNvSpPr txBox="1"/>
          <p:nvPr/>
        </p:nvSpPr>
        <p:spPr>
          <a:xfrm>
            <a:off x="5545836" y="3566160"/>
            <a:ext cx="1097280" cy="274320"/>
          </a:xfrm>
          <a:prstGeom prst="rect">
            <a:avLst/>
          </a:prstGeom>
          <a:noFill/>
        </p:spPr>
        <p:txBody>
          <a:bodyPr wrap="square" lIns="0" rIns="0" tIns="0" bIns="0" anchor="ctr">
            <a:spAutoFit/>
          </a:bodyPr>
          <a:lstStyle/>
          <a:p>
            <a:pPr algn="ctr"/>
            <a:r>
              <a:rPr sz="650" b="0" i="0">
                <a:solidFill>
                  <a:srgbClr val="BFBFBF"/>
                </a:solidFill>
                <a:latin typeface="Trenda IG Text"/>
              </a:rPr>
              <a:t>Codex Enterprise</a:t>
            </a:r>
          </a:p>
        </p:txBody>
      </p:sp>
      <p:sp>
        <p:nvSpPr>
          <p:cNvPr id="20" name="Shape 19"/>
          <p:cNvSpPr/>
          <p:nvPr/>
        </p:nvSpPr>
        <p:spPr>
          <a:xfrm>
            <a:off x="3611880" y="1335024"/>
            <a:ext cx="45720" cy="47548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411480" y="1307592"/>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What if someone types something harmful?</a:t>
            </a:r>
          </a:p>
        </p:txBody>
      </p:sp>
      <p:sp>
        <p:nvSpPr>
          <p:cNvPr id="22" name="Text 21"/>
          <p:cNvSpPr txBox="1"/>
          <p:nvPr/>
        </p:nvSpPr>
        <p:spPr>
          <a:xfrm>
            <a:off x="411480" y="1563624"/>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Blocked before any model call, and logged.</a:t>
            </a:r>
          </a:p>
        </p:txBody>
      </p:sp>
      <p:cxnSp>
        <p:nvCxnSpPr>
          <p:cNvPr id="23" name="Arrow 22"/>
          <p:cNvCxnSpPr/>
          <p:nvPr/>
        </p:nvCxnSpPr>
        <p:spPr>
          <a:xfrm>
            <a:off x="3712463" y="1572768"/>
            <a:ext cx="1104436" cy="915769"/>
          </a:xfrm>
          <a:prstGeom prst="line">
            <a:avLst/>
          </a:prstGeom>
          <a:ln w="9525">
            <a:solidFill>
              <a:srgbClr val="FF0069"/>
            </a:solidFill>
          </a:ln>
        </p:spPr>
        <p:style>
          <a:lnRef idx="2">
            <a:schemeClr val="accent1"/>
          </a:lnRef>
          <a:fillRef idx="0">
            <a:schemeClr val="accent1"/>
          </a:fillRef>
          <a:effectRef idx="1">
            <a:schemeClr val="accent1"/>
          </a:effectRef>
          <a:fontRef idx="minor">
            <a:schemeClr val="tx1"/>
          </a:fontRef>
        </p:style>
      </p:cxnSp>
      <p:sp>
        <p:nvSpPr>
          <p:cNvPr id="24" name="Shape 23"/>
          <p:cNvSpPr/>
          <p:nvPr/>
        </p:nvSpPr>
        <p:spPr>
          <a:xfrm>
            <a:off x="4775751" y="2447389"/>
            <a:ext cx="82296" cy="82296"/>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3611880" y="1993392"/>
            <a:ext cx="45720" cy="47548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11480" y="1965960"/>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What if patient data gets into a prompt?</a:t>
            </a:r>
          </a:p>
        </p:txBody>
      </p:sp>
      <p:sp>
        <p:nvSpPr>
          <p:cNvPr id="27" name="Text 26"/>
          <p:cNvSpPr txBox="1"/>
          <p:nvPr/>
        </p:nvSpPr>
        <p:spPr>
          <a:xfrm>
            <a:off x="411480" y="2221992"/>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Redacted on the way in, scanned again on the way out.</a:t>
            </a:r>
          </a:p>
        </p:txBody>
      </p:sp>
      <p:cxnSp>
        <p:nvCxnSpPr>
          <p:cNvPr id="28" name="Arrow 27"/>
          <p:cNvCxnSpPr/>
          <p:nvPr/>
        </p:nvCxnSpPr>
        <p:spPr>
          <a:xfrm>
            <a:off x="3712463" y="2231136"/>
            <a:ext cx="929523" cy="513824"/>
          </a:xfrm>
          <a:prstGeom prst="line">
            <a:avLst/>
          </a:prstGeom>
          <a:ln w="9525">
            <a:solidFill>
              <a:srgbClr val="FF0069"/>
            </a:solidFill>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4600838" y="2703812"/>
            <a:ext cx="82296" cy="82296"/>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9"/>
          <p:cNvSpPr/>
          <p:nvPr/>
        </p:nvSpPr>
        <p:spPr>
          <a:xfrm>
            <a:off x="3611880" y="2651760"/>
            <a:ext cx="45720" cy="47548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411480" y="2624327"/>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What if it tries to touch production?</a:t>
            </a:r>
          </a:p>
        </p:txBody>
      </p:sp>
      <p:sp>
        <p:nvSpPr>
          <p:cNvPr id="32" name="Text 31"/>
          <p:cNvSpPr txBox="1"/>
          <p:nvPr/>
        </p:nvSpPr>
        <p:spPr>
          <a:xfrm>
            <a:off x="411480" y="2880360"/>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It can't: no agent holds a production credential.</a:t>
            </a:r>
          </a:p>
        </p:txBody>
      </p:sp>
      <p:cxnSp>
        <p:nvCxnSpPr>
          <p:cNvPr id="33" name="Arrow 32"/>
          <p:cNvCxnSpPr/>
          <p:nvPr/>
        </p:nvCxnSpPr>
        <p:spPr>
          <a:xfrm>
            <a:off x="3712463" y="2889503"/>
            <a:ext cx="782353" cy="216236"/>
          </a:xfrm>
          <a:prstGeom prst="line">
            <a:avLst/>
          </a:prstGeom>
          <a:ln w="9525">
            <a:solidFill>
              <a:srgbClr val="FF0069"/>
            </a:solidFill>
          </a:ln>
        </p:spPr>
        <p:style>
          <a:lnRef idx="2">
            <a:schemeClr val="accent1"/>
          </a:lnRef>
          <a:fillRef idx="0">
            <a:schemeClr val="accent1"/>
          </a:fillRef>
          <a:effectRef idx="1">
            <a:schemeClr val="accent1"/>
          </a:effectRef>
          <a:fontRef idx="minor">
            <a:schemeClr val="tx1"/>
          </a:fontRef>
        </p:style>
      </p:cxnSp>
      <p:sp>
        <p:nvSpPr>
          <p:cNvPr id="34" name="Shape 33"/>
          <p:cNvSpPr/>
          <p:nvPr/>
        </p:nvSpPr>
        <p:spPr>
          <a:xfrm>
            <a:off x="4453668" y="3064591"/>
            <a:ext cx="82296" cy="82296"/>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4"/>
          <p:cNvSpPr/>
          <p:nvPr/>
        </p:nvSpPr>
        <p:spPr>
          <a:xfrm>
            <a:off x="3611880" y="3310128"/>
            <a:ext cx="45720" cy="47548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11480" y="3282696"/>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Is our data used to train the AI?</a:t>
            </a:r>
          </a:p>
        </p:txBody>
      </p:sp>
      <p:sp>
        <p:nvSpPr>
          <p:cNvPr id="37" name="Text 36"/>
          <p:cNvSpPr txBox="1"/>
          <p:nvPr/>
        </p:nvSpPr>
        <p:spPr>
          <a:xfrm>
            <a:off x="411480" y="3538728"/>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No: no model is ever trained on Ascension data.</a:t>
            </a:r>
          </a:p>
        </p:txBody>
      </p:sp>
      <p:cxnSp>
        <p:nvCxnSpPr>
          <p:cNvPr id="38" name="Arrow 37"/>
          <p:cNvCxnSpPr/>
          <p:nvPr/>
        </p:nvCxnSpPr>
        <p:spPr>
          <a:xfrm>
            <a:off x="3712463" y="3547872"/>
            <a:ext cx="722377" cy="0"/>
          </a:xfrm>
          <a:prstGeom prst="line">
            <a:avLst/>
          </a:prstGeom>
          <a:ln w="9525">
            <a:solidFill>
              <a:srgbClr val="FF0069"/>
            </a:solidFill>
          </a:ln>
        </p:spPr>
        <p:style>
          <a:lnRef idx="2">
            <a:schemeClr val="accent1"/>
          </a:lnRef>
          <a:fillRef idx="0">
            <a:schemeClr val="accent1"/>
          </a:fillRef>
          <a:effectRef idx="1">
            <a:schemeClr val="accent1"/>
          </a:effectRef>
          <a:fontRef idx="minor">
            <a:schemeClr val="tx1"/>
          </a:fontRef>
        </p:style>
      </p:cxnSp>
      <p:sp>
        <p:nvSpPr>
          <p:cNvPr id="39" name="Shape 38"/>
          <p:cNvSpPr/>
          <p:nvPr/>
        </p:nvSpPr>
        <p:spPr>
          <a:xfrm>
            <a:off x="4393692" y="3506724"/>
            <a:ext cx="82296" cy="82296"/>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611880" y="3968495"/>
            <a:ext cx="45720" cy="47548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411480" y="3941063"/>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How do we know what it actually did?</a:t>
            </a:r>
          </a:p>
        </p:txBody>
      </p:sp>
      <p:sp>
        <p:nvSpPr>
          <p:cNvPr id="42" name="Text 41"/>
          <p:cNvSpPr txBox="1"/>
          <p:nvPr/>
        </p:nvSpPr>
        <p:spPr>
          <a:xfrm>
            <a:off x="411480" y="4197095"/>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Every prompt, tool call and decision is traced and kept.</a:t>
            </a:r>
          </a:p>
        </p:txBody>
      </p:sp>
      <p:cxnSp>
        <p:nvCxnSpPr>
          <p:cNvPr id="43" name="Arrow 42"/>
          <p:cNvCxnSpPr/>
          <p:nvPr/>
        </p:nvCxnSpPr>
        <p:spPr>
          <a:xfrm flipV="1">
            <a:off x="3712463" y="3874294"/>
            <a:ext cx="1200997" cy="331946"/>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4872312" y="3833146"/>
            <a:ext cx="82296" cy="82296"/>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4"/>
          <p:cNvSpPr/>
          <p:nvPr/>
        </p:nvSpPr>
        <p:spPr>
          <a:xfrm>
            <a:off x="3611880" y="4626864"/>
            <a:ext cx="45720" cy="47548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411480" y="4599432"/>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What if it gets stuck, or costs too much?</a:t>
            </a:r>
          </a:p>
        </p:txBody>
      </p:sp>
      <p:sp>
        <p:nvSpPr>
          <p:cNvPr id="47" name="Text 46"/>
          <p:cNvSpPr txBox="1"/>
          <p:nvPr/>
        </p:nvSpPr>
        <p:spPr>
          <a:xfrm>
            <a:off x="411480" y="4855464"/>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5 attempts, then it stops; time and cost reported per step.</a:t>
            </a:r>
          </a:p>
        </p:txBody>
      </p:sp>
      <p:cxnSp>
        <p:nvCxnSpPr>
          <p:cNvPr id="48" name="Arrow 47"/>
          <p:cNvCxnSpPr/>
          <p:nvPr/>
        </p:nvCxnSpPr>
        <p:spPr>
          <a:xfrm flipV="1">
            <a:off x="3712463" y="4140655"/>
            <a:ext cx="1309651" cy="723953"/>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sp>
        <p:nvSpPr>
          <p:cNvPr id="49" name="Shape 48"/>
          <p:cNvSpPr/>
          <p:nvPr/>
        </p:nvSpPr>
        <p:spPr>
          <a:xfrm>
            <a:off x="4980966" y="4099507"/>
            <a:ext cx="82296" cy="82296"/>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611880" y="5285232"/>
            <a:ext cx="4572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5257800"/>
            <a:ext cx="3118103" cy="256032"/>
          </a:xfrm>
          <a:prstGeom prst="rect">
            <a:avLst/>
          </a:prstGeom>
          <a:noFill/>
        </p:spPr>
        <p:txBody>
          <a:bodyPr wrap="square" lIns="0" rIns="0" tIns="0" bIns="0" anchor="ctr">
            <a:spAutoFit/>
          </a:bodyPr>
          <a:lstStyle/>
          <a:p>
            <a:pPr algn="r"/>
            <a:r>
              <a:rPr sz="900" b="1" i="0">
                <a:solidFill>
                  <a:srgbClr val="FFFFFF"/>
                </a:solidFill>
                <a:latin typeface="Trenda IG Text"/>
              </a:rPr>
              <a:t>Who has the final say?</a:t>
            </a:r>
          </a:p>
        </p:txBody>
      </p:sp>
      <p:sp>
        <p:nvSpPr>
          <p:cNvPr id="52" name="Text 51"/>
          <p:cNvSpPr txBox="1"/>
          <p:nvPr/>
        </p:nvSpPr>
        <p:spPr>
          <a:xfrm>
            <a:off x="411480" y="5513832"/>
            <a:ext cx="3118103" cy="274320"/>
          </a:xfrm>
          <a:prstGeom prst="rect">
            <a:avLst/>
          </a:prstGeom>
          <a:noFill/>
        </p:spPr>
        <p:txBody>
          <a:bodyPr wrap="square" lIns="0" rIns="0" tIns="0" bIns="0" anchor="t">
            <a:spAutoFit/>
          </a:bodyPr>
          <a:lstStyle/>
          <a:p>
            <a:pPr algn="r"/>
            <a:r>
              <a:rPr sz="750" b="0" i="0">
                <a:solidFill>
                  <a:srgbClr val="BFBFBF"/>
                </a:solidFill>
                <a:latin typeface="Trenda IG Text"/>
              </a:rPr>
              <a:t>Your people, at H1-H4 and CAB. Always.</a:t>
            </a:r>
          </a:p>
        </p:txBody>
      </p:sp>
      <p:cxnSp>
        <p:nvCxnSpPr>
          <p:cNvPr id="53" name="Arrow 52"/>
          <p:cNvCxnSpPr/>
          <p:nvPr/>
        </p:nvCxnSpPr>
        <p:spPr>
          <a:xfrm flipV="1">
            <a:off x="3712463" y="4861096"/>
            <a:ext cx="798240" cy="66188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Shape 53"/>
          <p:cNvSpPr/>
          <p:nvPr/>
        </p:nvSpPr>
        <p:spPr>
          <a:xfrm>
            <a:off x="4469555" y="4819948"/>
            <a:ext cx="82296" cy="822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8531352" y="1335024"/>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8659368" y="1307592"/>
            <a:ext cx="3118103" cy="256032"/>
          </a:xfrm>
          <a:prstGeom prst="rect">
            <a:avLst/>
          </a:prstGeom>
          <a:noFill/>
        </p:spPr>
        <p:txBody>
          <a:bodyPr wrap="square" lIns="0" rIns="0" tIns="0" bIns="0" anchor="ctr">
            <a:spAutoFit/>
          </a:bodyPr>
          <a:lstStyle/>
          <a:p>
            <a:r>
              <a:rPr sz="900" b="1" i="0">
                <a:solidFill>
                  <a:srgbClr val="FFFFFF"/>
                </a:solidFill>
                <a:latin typeface="Trenda IG Text"/>
              </a:rPr>
              <a:t>What if it makes something up?</a:t>
            </a:r>
          </a:p>
        </p:txBody>
      </p:sp>
      <p:sp>
        <p:nvSpPr>
          <p:cNvPr id="57" name="Text 56"/>
          <p:cNvSpPr txBox="1"/>
          <p:nvPr/>
        </p:nvSpPr>
        <p:spPr>
          <a:xfrm>
            <a:off x="8659368" y="1563624"/>
            <a:ext cx="3118103" cy="274320"/>
          </a:xfrm>
          <a:prstGeom prst="rect">
            <a:avLst/>
          </a:prstGeom>
          <a:noFill/>
        </p:spPr>
        <p:txBody>
          <a:bodyPr wrap="square" lIns="0" rIns="0" tIns="0" bIns="0" anchor="t">
            <a:spAutoFit/>
          </a:bodyPr>
          <a:lstStyle/>
          <a:p>
            <a:r>
              <a:rPr sz="750" b="0" i="0">
                <a:solidFill>
                  <a:srgbClr val="BFBFBF"/>
                </a:solidFill>
                <a:latin typeface="Trenda IG Text"/>
              </a:rPr>
              <a:t>Groundedness: every claim cites the graph, or it is rejected.</a:t>
            </a:r>
          </a:p>
        </p:txBody>
      </p:sp>
      <p:cxnSp>
        <p:nvCxnSpPr>
          <p:cNvPr id="58" name="Arrow 57"/>
          <p:cNvCxnSpPr/>
          <p:nvPr/>
        </p:nvCxnSpPr>
        <p:spPr>
          <a:xfrm flipH="1">
            <a:off x="6692790" y="1572768"/>
            <a:ext cx="1783698" cy="1478997"/>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59" name="Shape 58"/>
          <p:cNvSpPr/>
          <p:nvPr/>
        </p:nvSpPr>
        <p:spPr>
          <a:xfrm>
            <a:off x="6651642" y="3010617"/>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9"/>
          <p:cNvSpPr/>
          <p:nvPr/>
        </p:nvSpPr>
        <p:spPr>
          <a:xfrm>
            <a:off x="8531352" y="1993392"/>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8659368" y="1965960"/>
            <a:ext cx="3118103" cy="256032"/>
          </a:xfrm>
          <a:prstGeom prst="rect">
            <a:avLst/>
          </a:prstGeom>
          <a:noFill/>
        </p:spPr>
        <p:txBody>
          <a:bodyPr wrap="square" lIns="0" rIns="0" tIns="0" bIns="0" anchor="ctr">
            <a:spAutoFit/>
          </a:bodyPr>
          <a:lstStyle/>
          <a:p>
            <a:r>
              <a:rPr sz="900" b="1" i="0">
                <a:solidFill>
                  <a:srgbClr val="FFFFFF"/>
                </a:solidFill>
                <a:latin typeface="Trenda IG Text"/>
              </a:rPr>
              <a:t>What if it answers the wrong question?</a:t>
            </a:r>
          </a:p>
        </p:txBody>
      </p:sp>
      <p:sp>
        <p:nvSpPr>
          <p:cNvPr id="62" name="Text 61"/>
          <p:cNvSpPr txBox="1"/>
          <p:nvPr/>
        </p:nvSpPr>
        <p:spPr>
          <a:xfrm>
            <a:off x="8659368" y="2221992"/>
            <a:ext cx="3118103" cy="274320"/>
          </a:xfrm>
          <a:prstGeom prst="rect">
            <a:avLst/>
          </a:prstGeom>
          <a:noFill/>
        </p:spPr>
        <p:txBody>
          <a:bodyPr wrap="square" lIns="0" rIns="0" tIns="0" bIns="0" anchor="t">
            <a:spAutoFit/>
          </a:bodyPr>
          <a:lstStyle/>
          <a:p>
            <a:r>
              <a:rPr sz="750" b="0" i="0">
                <a:solidFill>
                  <a:srgbClr val="BFBFBF"/>
                </a:solidFill>
                <a:latin typeface="Trenda IG Text"/>
              </a:rPr>
              <a:t>Answer relevancy is scored against the story, every run.</a:t>
            </a:r>
          </a:p>
        </p:txBody>
      </p:sp>
      <p:cxnSp>
        <p:nvCxnSpPr>
          <p:cNvPr id="63" name="Arrow 62"/>
          <p:cNvCxnSpPr/>
          <p:nvPr/>
        </p:nvCxnSpPr>
        <p:spPr>
          <a:xfrm flipH="1">
            <a:off x="6774705" y="2231136"/>
            <a:ext cx="1701783" cy="940716"/>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64" name="Shape 63"/>
          <p:cNvSpPr/>
          <p:nvPr/>
        </p:nvSpPr>
        <p:spPr>
          <a:xfrm>
            <a:off x="6733557" y="3130704"/>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8531352" y="2651760"/>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8659368" y="2624327"/>
            <a:ext cx="3118103" cy="256032"/>
          </a:xfrm>
          <a:prstGeom prst="rect">
            <a:avLst/>
          </a:prstGeom>
          <a:noFill/>
        </p:spPr>
        <p:txBody>
          <a:bodyPr wrap="square" lIns="0" rIns="0" tIns="0" bIns="0" anchor="ctr">
            <a:spAutoFit/>
          </a:bodyPr>
          <a:lstStyle/>
          <a:p>
            <a:r>
              <a:rPr sz="900" b="1" i="0">
                <a:solidFill>
                  <a:srgbClr val="FFFFFF"/>
                </a:solidFill>
                <a:latin typeface="Trenda IG Text"/>
              </a:rPr>
              <a:t>What if it uses the wrong tools?</a:t>
            </a:r>
          </a:p>
        </p:txBody>
      </p:sp>
      <p:sp>
        <p:nvSpPr>
          <p:cNvPr id="67" name="Text 66"/>
          <p:cNvSpPr txBox="1"/>
          <p:nvPr/>
        </p:nvSpPr>
        <p:spPr>
          <a:xfrm>
            <a:off x="8659368" y="2880360"/>
            <a:ext cx="3118103" cy="274320"/>
          </a:xfrm>
          <a:prstGeom prst="rect">
            <a:avLst/>
          </a:prstGeom>
          <a:noFill/>
        </p:spPr>
        <p:txBody>
          <a:bodyPr wrap="square" lIns="0" rIns="0" tIns="0" bIns="0" anchor="t">
            <a:spAutoFit/>
          </a:bodyPr>
          <a:lstStyle/>
          <a:p>
            <a:r>
              <a:rPr sz="750" b="0" i="0">
                <a:solidFill>
                  <a:srgbClr val="BFBFBF"/>
                </a:solidFill>
                <a:latin typeface="Trenda IG Text"/>
              </a:rPr>
              <a:t>Tool-sequence accuracy: right tools, in the right order.</a:t>
            </a:r>
          </a:p>
        </p:txBody>
      </p:sp>
      <p:cxnSp>
        <p:nvCxnSpPr>
          <p:cNvPr id="68" name="Arrow 67"/>
          <p:cNvCxnSpPr/>
          <p:nvPr/>
        </p:nvCxnSpPr>
        <p:spPr>
          <a:xfrm flipH="1">
            <a:off x="6843627" y="2889503"/>
            <a:ext cx="1632861" cy="451309"/>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69" name="Shape 68"/>
          <p:cNvSpPr/>
          <p:nvPr/>
        </p:nvSpPr>
        <p:spPr>
          <a:xfrm>
            <a:off x="6802479" y="3299664"/>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9"/>
          <p:cNvSpPr/>
          <p:nvPr/>
        </p:nvSpPr>
        <p:spPr>
          <a:xfrm>
            <a:off x="8531352" y="3310128"/>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659368" y="3282696"/>
            <a:ext cx="3118103" cy="256032"/>
          </a:xfrm>
          <a:prstGeom prst="rect">
            <a:avLst/>
          </a:prstGeom>
          <a:noFill/>
        </p:spPr>
        <p:txBody>
          <a:bodyPr wrap="square" lIns="0" rIns="0" tIns="0" bIns="0" anchor="ctr">
            <a:spAutoFit/>
          </a:bodyPr>
          <a:lstStyle/>
          <a:p>
            <a:r>
              <a:rPr sz="900" b="1" i="0">
                <a:solidFill>
                  <a:srgbClr val="FFFFFF"/>
                </a:solidFill>
                <a:latin typeface="Trenda IG Text"/>
              </a:rPr>
              <a:t>Who checks the checker?</a:t>
            </a:r>
          </a:p>
        </p:txBody>
      </p:sp>
      <p:sp>
        <p:nvSpPr>
          <p:cNvPr id="72" name="Text 71"/>
          <p:cNvSpPr txBox="1"/>
          <p:nvPr/>
        </p:nvSpPr>
        <p:spPr>
          <a:xfrm>
            <a:off x="8659368" y="3538728"/>
            <a:ext cx="3118103" cy="274320"/>
          </a:xfrm>
          <a:prstGeom prst="rect">
            <a:avLst/>
          </a:prstGeom>
          <a:noFill/>
        </p:spPr>
        <p:txBody>
          <a:bodyPr wrap="square" lIns="0" rIns="0" tIns="0" bIns="0" anchor="t">
            <a:spAutoFit/>
          </a:bodyPr>
          <a:lstStyle/>
          <a:p>
            <a:r>
              <a:rPr sz="750" b="0" i="0">
                <a:solidFill>
                  <a:srgbClr val="BFBFBF"/>
                </a:solidFill>
                <a:latin typeface="Trenda IG Text"/>
              </a:rPr>
              <a:t>The AI judge is scored against your tech leads.</a:t>
            </a:r>
          </a:p>
        </p:txBody>
      </p:sp>
      <p:cxnSp>
        <p:nvCxnSpPr>
          <p:cNvPr id="73" name="Arrow 72"/>
          <p:cNvCxnSpPr/>
          <p:nvPr/>
        </p:nvCxnSpPr>
        <p:spPr>
          <a:xfrm flipH="1">
            <a:off x="6871716" y="3547872"/>
            <a:ext cx="1604772" cy="0"/>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74" name="Shape 73"/>
          <p:cNvSpPr/>
          <p:nvPr/>
        </p:nvSpPr>
        <p:spPr>
          <a:xfrm>
            <a:off x="6830568" y="3506724"/>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8531352" y="3968495"/>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8659368" y="3941063"/>
            <a:ext cx="3118103" cy="256032"/>
          </a:xfrm>
          <a:prstGeom prst="rect">
            <a:avLst/>
          </a:prstGeom>
          <a:noFill/>
        </p:spPr>
        <p:txBody>
          <a:bodyPr wrap="square" lIns="0" rIns="0" tIns="0" bIns="0" anchor="ctr">
            <a:spAutoFit/>
          </a:bodyPr>
          <a:lstStyle/>
          <a:p>
            <a:r>
              <a:rPr sz="900" b="1" i="0">
                <a:solidFill>
                  <a:srgbClr val="FFFFFF"/>
                </a:solidFill>
                <a:latin typeface="Trenda IG Text"/>
              </a:rPr>
              <a:t>What if quality drifts, or a new model arrives?</a:t>
            </a:r>
          </a:p>
        </p:txBody>
      </p:sp>
      <p:sp>
        <p:nvSpPr>
          <p:cNvPr id="77" name="Text 76"/>
          <p:cNvSpPr txBox="1"/>
          <p:nvPr/>
        </p:nvSpPr>
        <p:spPr>
          <a:xfrm>
            <a:off x="8659368" y="4197095"/>
            <a:ext cx="3118103" cy="274320"/>
          </a:xfrm>
          <a:prstGeom prst="rect">
            <a:avLst/>
          </a:prstGeom>
          <a:noFill/>
        </p:spPr>
        <p:txBody>
          <a:bodyPr wrap="square" lIns="0" rIns="0" tIns="0" bIns="0" anchor="t">
            <a:spAutoFit/>
          </a:bodyPr>
          <a:lstStyle/>
          <a:p>
            <a:r>
              <a:rPr sz="750" b="0" i="0">
                <a:solidFill>
                  <a:srgbClr val="BFBFBF"/>
                </a:solidFill>
                <a:latin typeface="Trenda IG Text"/>
              </a:rPr>
              <a:t>Weekly blind samples; nothing ships without passing the golden set.</a:t>
            </a:r>
          </a:p>
        </p:txBody>
      </p:sp>
      <p:cxnSp>
        <p:nvCxnSpPr>
          <p:cNvPr id="78" name="Arrow 77"/>
          <p:cNvCxnSpPr/>
          <p:nvPr/>
        </p:nvCxnSpPr>
        <p:spPr>
          <a:xfrm flipH="1" flipV="1">
            <a:off x="6843627" y="3754931"/>
            <a:ext cx="1632861" cy="451309"/>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79" name="Shape 78"/>
          <p:cNvSpPr/>
          <p:nvPr/>
        </p:nvSpPr>
        <p:spPr>
          <a:xfrm>
            <a:off x="6802479" y="3713783"/>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8531352" y="4626864"/>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659368" y="4599432"/>
            <a:ext cx="3118103" cy="256032"/>
          </a:xfrm>
          <a:prstGeom prst="rect">
            <a:avLst/>
          </a:prstGeom>
          <a:noFill/>
        </p:spPr>
        <p:txBody>
          <a:bodyPr wrap="square" lIns="0" rIns="0" tIns="0" bIns="0" anchor="ctr">
            <a:spAutoFit/>
          </a:bodyPr>
          <a:lstStyle/>
          <a:p>
            <a:r>
              <a:rPr sz="900" b="1" i="0">
                <a:solidFill>
                  <a:srgbClr val="FFFFFF"/>
                </a:solidFill>
                <a:latin typeface="Trenda IG Text"/>
              </a:rPr>
              <a:t>Could it game its own tests?</a:t>
            </a:r>
          </a:p>
        </p:txBody>
      </p:sp>
      <p:sp>
        <p:nvSpPr>
          <p:cNvPr id="82" name="Text 81"/>
          <p:cNvSpPr txBox="1"/>
          <p:nvPr/>
        </p:nvSpPr>
        <p:spPr>
          <a:xfrm>
            <a:off x="8659368" y="4855464"/>
            <a:ext cx="3118103" cy="274320"/>
          </a:xfrm>
          <a:prstGeom prst="rect">
            <a:avLst/>
          </a:prstGeom>
          <a:noFill/>
        </p:spPr>
        <p:txBody>
          <a:bodyPr wrap="square" lIns="0" rIns="0" tIns="0" bIns="0" anchor="t">
            <a:spAutoFit/>
          </a:bodyPr>
          <a:lstStyle/>
          <a:p>
            <a:r>
              <a:rPr sz="750" b="0" i="0">
                <a:solidFill>
                  <a:srgbClr val="BFBFBF"/>
                </a:solidFill>
                <a:latin typeface="Trenda IG Text"/>
              </a:rPr>
              <a:t>No: tests and the eval set are off-limits; a held-out set stays hidden.</a:t>
            </a:r>
          </a:p>
        </p:txBody>
      </p:sp>
      <p:cxnSp>
        <p:nvCxnSpPr>
          <p:cNvPr id="83" name="Arrow 82"/>
          <p:cNvCxnSpPr/>
          <p:nvPr/>
        </p:nvCxnSpPr>
        <p:spPr>
          <a:xfrm flipH="1" flipV="1">
            <a:off x="6774705" y="3923891"/>
            <a:ext cx="1701783" cy="940717"/>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84" name="Shape 83"/>
          <p:cNvSpPr/>
          <p:nvPr/>
        </p:nvSpPr>
        <p:spPr>
          <a:xfrm>
            <a:off x="6733557" y="3882743"/>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4"/>
          <p:cNvSpPr/>
          <p:nvPr/>
        </p:nvSpPr>
        <p:spPr>
          <a:xfrm>
            <a:off x="8531352" y="5285232"/>
            <a:ext cx="45720" cy="47548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59368" y="5257800"/>
            <a:ext cx="3118103" cy="256032"/>
          </a:xfrm>
          <a:prstGeom prst="rect">
            <a:avLst/>
          </a:prstGeom>
          <a:noFill/>
        </p:spPr>
        <p:txBody>
          <a:bodyPr wrap="square" lIns="0" rIns="0" tIns="0" bIns="0" anchor="ctr">
            <a:spAutoFit/>
          </a:bodyPr>
          <a:lstStyle/>
          <a:p>
            <a:r>
              <a:rPr sz="900" b="1" i="0">
                <a:solidFill>
                  <a:srgbClr val="FFFFFF"/>
                </a:solidFill>
                <a:latin typeface="Trenda IG Text"/>
              </a:rPr>
              <a:t>How do we know it is getting better?</a:t>
            </a:r>
          </a:p>
        </p:txBody>
      </p:sp>
      <p:sp>
        <p:nvSpPr>
          <p:cNvPr id="87" name="Text 86"/>
          <p:cNvSpPr txBox="1"/>
          <p:nvPr/>
        </p:nvSpPr>
        <p:spPr>
          <a:xfrm>
            <a:off x="8659368" y="5513832"/>
            <a:ext cx="3118103" cy="274320"/>
          </a:xfrm>
          <a:prstGeom prst="rect">
            <a:avLst/>
          </a:prstGeom>
          <a:noFill/>
        </p:spPr>
        <p:txBody>
          <a:bodyPr wrap="square" lIns="0" rIns="0" tIns="0" bIns="0" anchor="t">
            <a:spAutoFit/>
          </a:bodyPr>
          <a:lstStyle/>
          <a:p>
            <a:r>
              <a:rPr sz="750" b="0" i="0">
                <a:solidFill>
                  <a:srgbClr val="BFBFBF"/>
                </a:solidFill>
                <a:latin typeface="Trenda IG Text"/>
              </a:rPr>
              <a:t>Scores tracked per agent; a falling score triggers diagnose and tune.</a:t>
            </a:r>
          </a:p>
        </p:txBody>
      </p:sp>
      <p:cxnSp>
        <p:nvCxnSpPr>
          <p:cNvPr id="88" name="Arrow 87"/>
          <p:cNvCxnSpPr/>
          <p:nvPr/>
        </p:nvCxnSpPr>
        <p:spPr>
          <a:xfrm flipH="1" flipV="1">
            <a:off x="6692790" y="4043978"/>
            <a:ext cx="1783698" cy="1478998"/>
          </a:xfrm>
          <a:prstGeom prst="line">
            <a:avLst/>
          </a:prstGeom>
          <a:ln w="9525">
            <a:solidFill>
              <a:srgbClr val="FFD700"/>
            </a:solidFill>
          </a:ln>
        </p:spPr>
        <p:style>
          <a:lnRef idx="2">
            <a:schemeClr val="accent1"/>
          </a:lnRef>
          <a:fillRef idx="0">
            <a:schemeClr val="accent1"/>
          </a:fillRef>
          <a:effectRef idx="1">
            <a:schemeClr val="accent1"/>
          </a:effectRef>
          <a:fontRef idx="minor">
            <a:schemeClr val="tx1"/>
          </a:fontRef>
        </p:style>
      </p:cxnSp>
      <p:sp>
        <p:nvSpPr>
          <p:cNvPr id="89" name="Shape 88"/>
          <p:cNvSpPr/>
          <p:nvPr/>
        </p:nvSpPr>
        <p:spPr>
          <a:xfrm>
            <a:off x="6651642" y="4002830"/>
            <a:ext cx="82296" cy="8229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ifferentiator Border 90"/>
          <p:cNvSpPr/>
          <p:nvPr/>
        </p:nvSpPr>
        <p:spPr>
          <a:xfrm>
            <a:off x="411480" y="5870448"/>
            <a:ext cx="11365992" cy="4389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1"/>
          <p:cNvSpPr/>
          <p:nvPr/>
        </p:nvSpPr>
        <p:spPr>
          <a:xfrm>
            <a:off x="443484" y="5902452"/>
            <a:ext cx="11301984" cy="37490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2"/>
          <p:cNvSpPr txBox="1"/>
          <p:nvPr/>
        </p:nvSpPr>
        <p:spPr>
          <a:xfrm>
            <a:off x="626364" y="5902452"/>
            <a:ext cx="10936224" cy="374904"/>
          </a:xfrm>
          <a:prstGeom prst="rect">
            <a:avLst/>
          </a:prstGeom>
          <a:noFill/>
        </p:spPr>
        <p:txBody>
          <a:bodyPr wrap="square" lIns="0" rIns="0" tIns="0" bIns="0" anchor="ctr">
            <a:spAutoFit/>
          </a:bodyPr>
          <a:lstStyle/>
          <a:p>
            <a:r>
              <a:rPr sz="950" b="1" i="0" spc="50">
                <a:solidFill>
                  <a:srgbClr val="FFFFFF"/>
                </a:solidFill>
                <a:latin typeface="Trenda IG Text"/>
              </a:rPr>
              <a:t>RELIABILITY</a:t>
            </a:r>
            <a:r>
              <a:rPr sz="950" b="0" i="0" spc="50">
                <a:solidFill>
                  <a:srgbClr val="BFBFBF"/>
                </a:solidFill>
                <a:latin typeface="Trenda IG Text"/>
              </a:rPr>
              <a:t>  =  </a:t>
            </a:r>
            <a:r>
              <a:rPr sz="950" b="1" i="0" spc="50">
                <a:solidFill>
                  <a:srgbClr val="00D6F2"/>
                </a:solidFill>
                <a:latin typeface="Trenda IG Text"/>
              </a:rPr>
              <a:t>OBSERVABILITY</a:t>
            </a:r>
            <a:r>
              <a:rPr sz="950" b="0" i="0" spc="50">
                <a:solidFill>
                  <a:srgbClr val="BFBFBF"/>
                </a:solidFill>
                <a:latin typeface="Trenda IG Text"/>
              </a:rPr>
              <a:t>  +  </a:t>
            </a:r>
            <a:r>
              <a:rPr sz="950" b="1" i="0" spc="50">
                <a:solidFill>
                  <a:srgbClr val="FFD700"/>
                </a:solidFill>
                <a:latin typeface="Trenda IG Text"/>
              </a:rPr>
              <a:t>EVALS</a:t>
            </a:r>
            <a:r>
              <a:rPr sz="950" b="0" i="0" spc="50">
                <a:solidFill>
                  <a:srgbClr val="BFBFBF"/>
                </a:solidFill>
                <a:latin typeface="Trenda IG Text"/>
              </a:rPr>
              <a:t>   inside </a:t>
            </a:r>
            <a:r>
              <a:rPr sz="950" b="1" i="0" spc="50">
                <a:solidFill>
                  <a:srgbClr val="FF0069"/>
                </a:solidFill>
                <a:latin typeface="Trenda IG Text"/>
              </a:rPr>
              <a:t>GUARDRAILS</a:t>
            </a:r>
            <a:r>
              <a:rPr sz="950" b="0" i="0" spc="50">
                <a:solidFill>
                  <a:srgbClr val="BFBFBF"/>
                </a:solidFill>
                <a:latin typeface="Trenda IG Text"/>
              </a:rPr>
              <a:t>   under </a:t>
            </a:r>
            <a:r>
              <a:rPr sz="950" b="1" i="0" spc="50">
                <a:solidFill>
                  <a:srgbClr val="FFFFFF"/>
                </a:solidFill>
                <a:latin typeface="Trenda IG Text"/>
              </a:rPr>
              <a:t>PEOPLE</a:t>
            </a:r>
            <a:r>
              <a:rPr sz="750" b="0" i="0" spc="50">
                <a:solidFill>
                  <a:srgbClr val="BFBFBF"/>
                </a:solidFill>
                <a:latin typeface="Trenda IG Text"/>
              </a:rPr>
              <a:t>          closed loop ↻  golden set → gate → guarded run → weekly sample → diagnose → tune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