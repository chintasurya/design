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3" r:id="rId37"/>
    <p:sldId id="344" r:id="rId38"/>
    <p:sldId id="333" r:id="rId6"/>
    <p:sldId id="345" r:id="rId39"/>
    <p:sldId id="346" r:id="rId40"/>
    <p:sldId id="324" r:id="rId7"/>
    <p:sldId id="325" r:id="rId8"/>
    <p:sldId id="327" r:id="rId9"/>
    <p:sldId id="328" r:id="rId10"/>
    <p:sldId id="326" r:id="rId11"/>
    <p:sldId id="339" r:id="rId33"/>
    <p:sldId id="340" r:id="rId34"/>
    <p:sldId id="347" r:id="rId41"/>
    <p:sldId id="341" r:id="rId35"/>
    <p:sldId id="342" r:id="rId36"/>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up to five times, then the step stops and goes to a named owner.</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Ascension, all pods   (about 3 minutes)</a:t>
            </a:r>
          </a:p>
          <a:p/>
          <a:p>
            <a:r>
              <a:t>KEY MESSAGE</a:t>
            </a:r>
          </a:p>
          <a:p>
            <a:r>
              <a:t>Ascension spends about $16M a year across all pods, $48M over three years. With agent-first squads on the harness, annual spend comes down to about $7M in year 1, $5M in year 2 and $3M in year 3: about $33M saved over three years, roughly 69% of the spend and about 7x the build fee.</a:t>
            </a:r>
          </a:p>
          <a:p/>
          <a:p>
            <a:r>
              <a:t>WALK IT</a:t>
            </a:r>
          </a:p>
          <a:p>
            <a:r>
              <a:t>- Top strip: the mechanism. In every pod, a squad of 4-5 developers and a QA becomes 1 developer directing the harness agent team, plus 1 QA. The agent drafts overnight; people design, review and approve. Every human gate stays.</a:t>
            </a:r>
          </a:p>
          <a:p>
            <a:r>
              <a:t>- Year 1: $16M to about $7M, saving $9M (56%), as pods move to agent-first squads through the year.</a:t>
            </a:r>
          </a:p>
          <a:p>
            <a:r>
              <a:t>- Year 2: $16M to about $5M, saving $11M (69%), every pod on the harness for the full year.</a:t>
            </a:r>
          </a:p>
          <a:p>
            <a:r>
              <a:t>- Year 3: $16M to about $3M, saving $13M (81%), full run rate.</a:t>
            </a:r>
          </a:p>
          <a:p>
            <a:r>
              <a:t>- Three years: $48M becomes about $15M. $33M saved, about 7x the $4.79M fixed build fee, paid back within year 1.</a:t>
            </a:r>
          </a:p>
          <a:p/>
          <a:p>
            <a:r>
              <a:t>HOW THE NUMBERS ARE BUILT (for you, not the slide)</a:t>
            </a:r>
          </a:p>
          <a:p>
            <a:r>
              <a:t>- $16M a year is Ascension's figure for all pods.</a:t>
            </a:r>
          </a:p>
          <a:p>
            <a:r>
              <a:t>- "With the harness" includes the agent run cost and the managed service from month 19 (about $1.24M a year, commercials slide).</a:t>
            </a:r>
          </a:p>
          <a:p>
            <a:r>
              <a:t>- These are target figures set with Insight Global leadership. The business outcomes slide's 20-25% is the floor we commit to; every pod is measured against its own Phase 0 baseline.</a:t>
            </a:r>
          </a:p>
          <a:p/>
          <a:p>
            <a:r>
              <a:t>BE READY FOR</a:t>
            </a:r>
          </a:p>
          <a:p>
            <a:r>
              <a:t>- "Year 1 is during the rollout; how can it already be $7M?" Answer: the target assumes pods move onto agent-first squads quickly after the pilots; it is confirmed pod by pod against the baseline.</a:t>
            </a:r>
          </a:p>
          <a:p>
            <a:r>
              <a:t>- "What happens to the people?" Ascension chooses: redeploy to backlog and other work, absorb through attrition, or keep people and deliver more. Reviewed quarterly.</a:t>
            </a:r>
          </a:p>
          <a:p>
            <a:r>
              <a:t>- "Is it guaranteed?" The commitment is the floor and the phase exits; these figures are the target.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five pillars   (about 2 minutes)</a:t>
            </a:r>
          </a:p>
          <a:p/>
          <a:p>
            <a:r>
              <a:t>KEY MESSAGE</a:t>
            </a:r>
          </a:p>
          <a:p>
            <a:r>
              <a:t>The model is not the product; the harness is. Codex Enterprise is the engine Ascension already licenses. Harness engineering (named by OpenAI's Codex team in early 2026) is everything we build around it. Five pillars, and every one maps to something concrete in our design.</a:t>
            </a:r>
          </a:p>
          <a:p/>
          <a:p>
            <a:r>
              <a:t>WALK IT</a:t>
            </a:r>
          </a:p>
          <a:p>
            <a:r>
              <a:t>- 01 Context, what the agent knows: the knowledge graph (Phase 1), cited facts, and a short AGENTS.md in each repo: a map Codex reads first that points to Ascension standards, the pod's skills and the graph tools. Each step only gets the slice it needs, with patient data redacted.</a:t>
            </a:r>
          </a:p>
          <a:p>
            <a:r>
              <a:t>- 02 Action, what it may do: every tool call goes through the MCP gateway, each step has its own allow list, three identities (read, develop, release), and no agent holds a production credential.</a:t>
            </a:r>
          </a:p>
          <a:p>
            <a:r>
              <a:t>- 03 Orchestration, how the work flows: the nine-step run on Cloud Workflows, one agent task per step, checkpoints, retries and budgets in Firestore; a failed run resumes where it stopped.</a:t>
            </a:r>
          </a:p>
          <a:p>
            <a:r>
              <a:t>- 04 Control, rules it cannot break: input and output guardrails, the Change Guardian rulebook, Code Analyzer and CI checks, and people approving at H1-H4 and CAB.</a:t>
            </a:r>
          </a:p>
          <a:p>
            <a:r>
              <a:t>- 05 Feedback, how it gets better: the evaluation set gates every change to prompts, skills or models; rejections become test cases and incidents become rules; the change passport records everything; each pod gets a weekly read-only org health report (unused fields, duplicate Flows, stale Confluence pages) and decides what to fix.</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versioned with it: not in Google Cloud. Harness agents read it from their own checkout,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a:t>
            </a:r>
          </a:p>
          <a:p>
            <a:r>
              <a:t>- Does the health report change anything? No. It is a read-only scheduled run of the Review Agent; fixes go through normal stories and gates.</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Future state, from Agentic Harness to dynamic self-harness   (about 2 minutes)</a:t>
            </a:r>
          </a:p>
          <a:p/>
          <a:p>
            <a:r>
              <a:t>KEY MESSAGE</a:t>
            </a:r>
          </a:p>
          <a:p>
            <a:r>
              <a:t>What we propose is the Agentic Harness: a harness we design: people decide the context, the tools, the steps, the rules and how it learns; agents work inside it and propose improvements, and people approve each one. As models move toward AGI, the harness starts to improve itself inside limits people set. What never changes is who sets the goals and holds the final say.</a:t>
            </a:r>
          </a:p>
          <a:p/>
          <a:p>
            <a:r>
              <a:t>WALK IT (left to right, then down the five pillars from the previous slide)</a:t>
            </a:r>
          </a:p>
          <a:p>
            <a:r>
              <a:t>- This proposal, the Agentic Harness: people connect the sources and write the maps, grant each tool, design the nine-step run, write the Guardian rules and approve every fix. Agents propose: missing context, a new tool with its reason, a step to add or skip by risk, a rule drafted from an incident, a fix tested on the evaluation set. Nothing changes without a person's approval.</a:t>
            </a:r>
          </a:p>
          <a:p>
            <a:r>
              <a:t>- Future state, AGI (Artificial General Intelligence), dynamic self-harness: the harness curates its own context, builds its own tools in a sandbox, plans its own workflow and writes and tests its own rules, continuously.</a:t>
            </a:r>
          </a:p>
          <a:p/>
          <a:p>
            <a:r>
              <a:t>WHY IT MATTERS FOR ASCENSION</a:t>
            </a:r>
          </a:p>
          <a:p>
            <a:r>
              <a:t>Investing in the harness now is not throw-away work: every run, approval, rejection and incident recorded today is exactly the evidence the next stage needs to earn more autonomy safely.</a:t>
            </a:r>
          </a:p>
          <a:p/>
          <a:p>
            <a:r>
              <a:t>IF ASKED</a:t>
            </a:r>
          </a:p>
          <a:p>
            <a:r>
              <a:t>- Is AGI part of this price or plan? No. The AGI column is a direction. The 18-month plan delivers the Agentic Harness, with the records the next stage needs.</a:t>
            </a:r>
          </a:p>
          <a:p>
            <a:r>
              <a:t>- When does autonomy increase? Only when the evaluation set and change passport show it is safe, and only with Ascension's approval, one pillar at a time.</a:t>
            </a:r>
          </a:p>
          <a:p>
            <a:r>
              <a:t>- Could it ever reach production on its own? Not in this design. Production stays with Ascension's owning teams and CAB at every stage.</a:t>
            </a:r>
          </a:p>
          <a:p/>
          <a:p>
            <a:r>
              <a:t>WHAT NEVER CHANGES (the band at the bottom)</a:t>
            </a:r>
          </a:p>
          <a:p>
            <a:r>
              <a:t>At every stage, Ascension sets the goals and the limits, keeps the final say on production, and can see and stop any run.</a:t>
            </a:r>
          </a:p>
          <a:p/>
          <a:p>
            <a:r>
              <a:t>HOW WE TRUST AGI (the highlighted panel)</a:t>
            </a:r>
          </a:p>
          <a:p>
            <a:r>
              <a:t>Why trust it at all: it is held to the same evidence as a person, and checked every time, which people cannot always do. How:</a:t>
            </a:r>
          </a:p>
          <a:p>
            <a:r>
              <a:t>1 Earned step by step: autonomy grows one pillar at a time, only when the evaluation set shows it performs at least as well as today's process.</a:t>
            </a:r>
          </a:p>
          <a:p>
            <a:r>
              <a:t>2 Every action on record: the change passport records what it did, why, and on which evidence, so any decision can be audited.</a:t>
            </a:r>
          </a:p>
          <a:p>
            <a:r>
              <a:t>3 Hard limits it cannot change: no production credential, patient-data rules and Ascension's goals sit outside its reach.</a:t>
            </a:r>
          </a:p>
          <a:p>
            <a:r>
              <a:t>4 People can always stop it: any run can be paused, any change rolled back, and CAB keeps the final say.</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Closed-loop evals with bounded loops   (about 3 minutes)</a:t>
            </a:r>
          </a:p>
          <a:p/>
          <a:p>
            <a:r>
              <a:t>KEY MESSAGE</a:t>
            </a:r>
          </a:p>
          <a:p>
            <a:r>
              <a:t>Evals are how we prove the harness works before Ascension relies on it, and how it keeps getting better after. Offline tests and live results feed one loop that never stops.</a:t>
            </a:r>
          </a:p>
          <a:p/>
          <a:p>
            <a:r>
              <a:t>WALK THE LOOP (clockwise from the top)</a:t>
            </a:r>
          </a:p>
          <a:p>
            <a:r>
              <a:t>1 Golden set: real past Ascension changes, labelled by your own experts against a written rubric, covering every pod, cloud, change type and risk level.</a:t>
            </a:r>
          </a:p>
          <a:p>
            <a:r>
              <a:t>2 Offline gate: no prompt, skill or model change goes live unless it passes, scored per agent and as pass@1 to pass@5.</a:t>
            </a:r>
          </a:p>
          <a:p>
            <a:r>
              <a:t>3 Guarded run, the bounded loop: every live step is checked. If the outcome is not met the agent tries again with the failure as feedback, at most five times. After the fifth attempt the step stops: nothing is released, and a named owner gets every attempt, the failures and the evidence in Jira. Budgets and timeouts can stop it sooner. When the system is unsure, it stops rather than ships.</a:t>
            </a:r>
          </a:p>
          <a:p>
            <a:r>
              <a:t>4 Sample and label: each week a sample of approved changes is re-reviewed blind by Ascension experts with the same rubric, so we see drift that offline tests miss.</a:t>
            </a:r>
          </a:p>
          <a:p>
            <a:r>
              <a:t>5 Diagnose: a diagnoser run pins each miss on the agent, step or missing context that caused it.</a:t>
            </a:r>
          </a:p>
          <a:p>
            <a:r>
              <a:t>6 Tune and re-test: we fix the harness, re-run the golden set, and only then release the fix. Back to 1: the new case joins the golden set.</a:t>
            </a:r>
          </a:p>
          <a:p/>
          <a:p>
            <a:r>
              <a:t>NO GAMING THE EVALS</a:t>
            </a:r>
          </a:p>
          <a:p>
            <a:r>
              <a:t>An agent judged by tests can learn to weaken the tests. So agents cannot edit tests or the evaluation set, a held-out set is never shown to any agent, and the Guardian blocks any change that deletes or weakens a test.</a:t>
            </a:r>
          </a:p>
          <a:p/>
          <a:p>
            <a:r>
              <a:t>PROVEN AT SCALE</a:t>
            </a:r>
          </a:p>
          <a:p>
            <a:r>
              <a:t>Uber presented the same closed-loop pattern for the Uber Eats food-photo agent at AI Engineer World's Fair 2026: human-labelled golden sets, pass@k, a QA gate before publishing, human labels on production samples, and a diagnoser that triggers tuning. Different domain, same discipline.</a:t>
            </a:r>
          </a:p>
          <a:p/>
          <a:p>
            <a:r>
              <a:t>IF ASKED</a:t>
            </a:r>
          </a:p>
          <a:p>
            <a:r>
              <a:t>- Who labels the golden set? Ascension's architects, tech leads and product owners, about a few hours a week in Phase 1 and the pilots, against a rubric we write together.</a:t>
            </a:r>
          </a:p>
          <a:p>
            <a:r>
              <a:t>- Isn't the AI marking its own homework? No: tests, the Guardian and humans judge; the Review Agent's verdicts are themselves measured against human reviewers.</a:t>
            </a:r>
          </a:p>
          <a:p/>
          <a:p>
            <a:r>
              <a:t>EVERY RUN REPORTS (right panel)</a:t>
            </a:r>
          </a:p>
          <a:p>
            <a:r>
              <a:t>Every step, attempt and wait is logged (change passport in BigQuery and Cloud Logging), so we report pass@1 to pass@5, time per step and end to end, time and cost spent re-running, waiting time at human gates, agent scores, escaped defects, and stopped runs with where, why and who took over. Weekly to each pod lead.</a:t>
            </a:r>
          </a:p>
          <a:p/>
          <a:p>
            <a:r>
              <a:t>WHY FIVE</a:t>
            </a:r>
          </a:p>
          <a:p>
            <a:r>
              <a:t>Enough for an agent to correct itself on most failures, low enough to keep cost and time predictable. It is a setting; Ascension can change it per step.</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Agent scorecard   (about 2 minutes)</a:t>
            </a:r>
          </a:p>
          <a:p/>
          <a:p>
            <a:r>
              <a:t>KEY MESSAGE</a:t>
            </a:r>
          </a:p>
          <a:p>
            <a:r>
              <a:t>We do not only measure whether a story ended well. Each agent is scored on its own job, so when something slips we know exactly which agent to fix.</a:t>
            </a:r>
          </a:p>
          <a:p/>
          <a:p>
            <a:r>
              <a:t>WALK IT</a:t>
            </a:r>
          </a:p>
          <a:p>
            <a:r>
              <a:t>- Orchestrator: is the risk level right? Precision and recall against architects' labels, with recall on high-risk changes kept highest: missing a risky change costs more than over-flagging a safe one.</a:t>
            </a:r>
          </a:p>
          <a:p>
            <a:r>
              <a:t>- Requirements: does the brief match what the product owner meant? First-pass acceptance at H1.</a:t>
            </a:r>
          </a:p>
          <a:p>
            <a:r>
              <a:t>- Architect: are impact, reuse and owners right? Agreement with architects on replayed past changes; the Phase 1 exit asks for at least 90%.</a:t>
            </a:r>
          </a:p>
          <a:p>
            <a:r>
              <a:t>- Developer: pass@1 and pass@5: how often code passes first time, and by the fifth attempt.</a:t>
            </a:r>
          </a:p>
          <a:p>
            <a:r>
              <a:t>- Review: the Review Agent is a judge, so we check the judge: its verdicts against tech leads' at H3.</a:t>
            </a:r>
          </a:p>
          <a:p>
            <a:r>
              <a:t>- Test: defects escaping to UAT and production, against the baseline.</a:t>
            </a:r>
          </a:p>
          <a:p>
            <a:r>
              <a:t>- Release: deployments that succeed, and rollbacks.</a:t>
            </a:r>
          </a:p>
          <a:p>
            <a:r>
              <a:t>- Change Guardian: conflicts it missed, and blocks that were not needed.</a:t>
            </a:r>
          </a:p>
          <a:p/>
          <a:p>
            <a:r>
              <a:t>WHAT IS PASS@K</a:t>
            </a:r>
          </a:p>
          <a:p>
            <a:r>
              <a:t>pass@k is the share of steps that pass every check within k attempts. pass@1 is "right first time". pass@5 is "right by the fifth attempt", which is the last one before the step stops and an owner takes over. Example: if 100 build steps run and 70 pass on the first attempt and 95 pass by the fifth, pass@1 is 70% and pass@5 is 95%; the other 5 stopped and went to a person. A high pass@5 with a low pass@1 means the agent gets there, but with a lot of rework.</a:t>
            </a:r>
          </a:p>
          <a:p/>
          <a:p>
            <a:r>
              <a:t>IF ASKED</a:t>
            </a:r>
          </a:p>
          <a:p>
            <a:r>
              <a:t>- What are the targets? Set from the Phase 0 baseline and agreed with Ascension, reviewed monthly.</a:t>
            </a:r>
          </a:p>
          <a:p>
            <a:r>
              <a:t>- What happens when a score falls? That agent goes back through diagnose and tune on the closed loop; the fix must pass the golden set before release.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Master" Target="../slideMasters/slideMaster1.xml"/><Relationship Id="rId3"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3"/>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WHAT IT MEANS FOR ASCENSION</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All pods: $16M a year today. About $33M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Across every pod, each squad of 4-5 developers becomes 1 developer directing 1 harness agent, plus 1 QA. Savings grow as pods go live.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76072" y="1298448"/>
            <a:ext cx="3474720" cy="128016"/>
          </a:xfrm>
          <a:prstGeom prst="rect">
            <a:avLst/>
          </a:prstGeom>
          <a:noFill/>
        </p:spPr>
        <p:txBody>
          <a:bodyPr wrap="square" lIns="0" rIns="0" t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7607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121615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85623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49631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13639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rIns="0" t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010912" y="1298448"/>
            <a:ext cx="3291840"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01091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007607" y="1554480"/>
            <a:ext cx="1024127" cy="310896"/>
          </a:xfrm>
          <a:prstGeom prst="rect">
            <a:avLst/>
          </a:prstGeom>
          <a:noFill/>
        </p:spPr>
        <p:txBody>
          <a:bodyPr wrap="square" lIns="0" rIns="0" t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715975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rIns="0" t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rIns="0" t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rIns="0" t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594360"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1</a:t>
            </a:r>
          </a:p>
        </p:txBody>
      </p:sp>
      <p:sp>
        <p:nvSpPr>
          <p:cNvPr id="33" name="Text 33"/>
          <p:cNvSpPr txBox="1"/>
          <p:nvPr/>
        </p:nvSpPr>
        <p:spPr>
          <a:xfrm>
            <a:off x="594360"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34" name="Text 34"/>
          <p:cNvSpPr txBox="1"/>
          <p:nvPr/>
        </p:nvSpPr>
        <p:spPr>
          <a:xfrm>
            <a:off x="594360"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35" name="Arrow 35"/>
          <p:cNvCxnSpPr/>
          <p:nvPr/>
        </p:nvCxnSpPr>
        <p:spPr>
          <a:xfrm>
            <a:off x="1828800"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 36"/>
          <p:cNvSpPr txBox="1"/>
          <p:nvPr/>
        </p:nvSpPr>
        <p:spPr>
          <a:xfrm>
            <a:off x="2240280"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37" name="Text 37"/>
          <p:cNvSpPr txBox="1"/>
          <p:nvPr/>
        </p:nvSpPr>
        <p:spPr>
          <a:xfrm>
            <a:off x="2240280"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$7M</a:t>
            </a:r>
          </a:p>
        </p:txBody>
      </p:sp>
      <p:sp>
        <p:nvSpPr>
          <p:cNvPr id="38" name="Differentiator Border 39"/>
          <p:cNvSpPr/>
          <p:nvPr/>
        </p:nvSpPr>
        <p:spPr>
          <a:xfrm>
            <a:off x="594360"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40"/>
          <p:cNvSpPr/>
          <p:nvPr/>
        </p:nvSpPr>
        <p:spPr>
          <a:xfrm>
            <a:off x="635508"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1"/>
          <p:cNvSpPr txBox="1"/>
          <p:nvPr/>
        </p:nvSpPr>
        <p:spPr>
          <a:xfrm>
            <a:off x="772668"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56% of the year's spend</a:t>
            </a:r>
          </a:p>
        </p:txBody>
      </p:sp>
      <p:sp>
        <p:nvSpPr>
          <p:cNvPr id="41" name="Text 42"/>
          <p:cNvSpPr txBox="1"/>
          <p:nvPr/>
        </p:nvSpPr>
        <p:spPr>
          <a:xfrm>
            <a:off x="2098548"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$9M</a:t>
            </a:r>
          </a:p>
        </p:txBody>
      </p:sp>
      <p:sp>
        <p:nvSpPr>
          <p:cNvPr id="42" name="Text 43"/>
          <p:cNvSpPr txBox="1"/>
          <p:nvPr/>
        </p:nvSpPr>
        <p:spPr>
          <a:xfrm>
            <a:off x="594360" y="4352544"/>
            <a:ext cx="3282696" cy="384048"/>
          </a:xfrm>
          <a:prstGeom prst="rect">
            <a:avLst/>
          </a:prstGeom>
          <a:noFill/>
        </p:spPr>
        <p:txBody>
          <a:bodyPr wrap="square" lIns="0" rIns="0" tIns="0" bIns="0" anchor="t">
            <a:spAutoFit/>
          </a:bodyPr>
          <a:lstStyle/>
          <a:p>
            <a:r>
              <a:rPr sz="800" b="0" i="0">
                <a:solidFill>
                  <a:srgbClr val="595959"/>
                </a:solidFill>
                <a:latin typeface="Trenda IG Text"/>
              </a:rPr>
              <a:t>Pods move to agent-first squads through the year.</a:t>
            </a:r>
          </a:p>
        </p:txBody>
      </p:sp>
      <p:sp>
        <p:nvSpPr>
          <p:cNvPr id="43" name="Shape 44"/>
          <p:cNvSpPr/>
          <p:nvPr/>
        </p:nvSpPr>
        <p:spPr>
          <a:xfrm>
            <a:off x="4270248"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5"/>
          <p:cNvSpPr txBox="1"/>
          <p:nvPr/>
        </p:nvSpPr>
        <p:spPr>
          <a:xfrm>
            <a:off x="4453128"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2</a:t>
            </a:r>
          </a:p>
        </p:txBody>
      </p:sp>
      <p:sp>
        <p:nvSpPr>
          <p:cNvPr id="45" name="Text 46"/>
          <p:cNvSpPr txBox="1"/>
          <p:nvPr/>
        </p:nvSpPr>
        <p:spPr>
          <a:xfrm>
            <a:off x="4453128"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46" name="Text 47"/>
          <p:cNvSpPr txBox="1"/>
          <p:nvPr/>
        </p:nvSpPr>
        <p:spPr>
          <a:xfrm>
            <a:off x="4453128"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47" name="Arrow 48"/>
          <p:cNvCxnSpPr/>
          <p:nvPr/>
        </p:nvCxnSpPr>
        <p:spPr>
          <a:xfrm>
            <a:off x="5687568"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 49"/>
          <p:cNvSpPr txBox="1"/>
          <p:nvPr/>
        </p:nvSpPr>
        <p:spPr>
          <a:xfrm>
            <a:off x="6099048"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49" name="Text 50"/>
          <p:cNvSpPr txBox="1"/>
          <p:nvPr/>
        </p:nvSpPr>
        <p:spPr>
          <a:xfrm>
            <a:off x="6099048"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$5M</a:t>
            </a:r>
          </a:p>
        </p:txBody>
      </p:sp>
      <p:sp>
        <p:nvSpPr>
          <p:cNvPr id="50" name="Differentiator Border 52"/>
          <p:cNvSpPr/>
          <p:nvPr/>
        </p:nvSpPr>
        <p:spPr>
          <a:xfrm>
            <a:off x="4453128"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3"/>
          <p:cNvSpPr/>
          <p:nvPr/>
        </p:nvSpPr>
        <p:spPr>
          <a:xfrm>
            <a:off x="4494276"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4"/>
          <p:cNvSpPr txBox="1"/>
          <p:nvPr/>
        </p:nvSpPr>
        <p:spPr>
          <a:xfrm>
            <a:off x="4631436"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69% of the year's spend</a:t>
            </a:r>
          </a:p>
        </p:txBody>
      </p:sp>
      <p:sp>
        <p:nvSpPr>
          <p:cNvPr id="53" name="Text 55"/>
          <p:cNvSpPr txBox="1"/>
          <p:nvPr/>
        </p:nvSpPr>
        <p:spPr>
          <a:xfrm>
            <a:off x="5957316"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$11M</a:t>
            </a:r>
          </a:p>
        </p:txBody>
      </p:sp>
      <p:sp>
        <p:nvSpPr>
          <p:cNvPr id="54" name="Text 56"/>
          <p:cNvSpPr txBox="1"/>
          <p:nvPr/>
        </p:nvSpPr>
        <p:spPr>
          <a:xfrm>
            <a:off x="4453128" y="4352544"/>
            <a:ext cx="3282696" cy="384048"/>
          </a:xfrm>
          <a:prstGeom prst="rect">
            <a:avLst/>
          </a:prstGeom>
          <a:noFill/>
        </p:spPr>
        <p:txBody>
          <a:bodyPr wrap="square" lIns="0" rIns="0" tIns="0" bIns="0" anchor="t">
            <a:spAutoFit/>
          </a:bodyPr>
          <a:lstStyle/>
          <a:p>
            <a:r>
              <a:rPr sz="800" b="0" i="0">
                <a:solidFill>
                  <a:srgbClr val="595959"/>
                </a:solidFill>
                <a:latin typeface="Trenda IG Text"/>
              </a:rPr>
              <a:t>Every pod on the harness for the full year.</a:t>
            </a:r>
          </a:p>
        </p:txBody>
      </p:sp>
      <p:sp>
        <p:nvSpPr>
          <p:cNvPr id="55" name="Shape 57"/>
          <p:cNvSpPr/>
          <p:nvPr/>
        </p:nvSpPr>
        <p:spPr>
          <a:xfrm>
            <a:off x="8129015" y="2468880"/>
            <a:ext cx="3648456"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8"/>
          <p:cNvSpPr txBox="1"/>
          <p:nvPr/>
        </p:nvSpPr>
        <p:spPr>
          <a:xfrm>
            <a:off x="8311895" y="2578608"/>
            <a:ext cx="3282696" cy="274320"/>
          </a:xfrm>
          <a:prstGeom prst="rect">
            <a:avLst/>
          </a:prstGeom>
          <a:noFill/>
        </p:spPr>
        <p:txBody>
          <a:bodyPr wrap="square" lIns="0" rIns="0" tIns="0" bIns="0" anchor="ctr">
            <a:spAutoFit/>
          </a:bodyPr>
          <a:lstStyle/>
          <a:p>
            <a:r>
              <a:rPr sz="1300" b="1" i="0">
                <a:solidFill>
                  <a:srgbClr val="000000"/>
                </a:solidFill>
                <a:latin typeface="Trenda IG Text"/>
              </a:rPr>
              <a:t>Year 3</a:t>
            </a:r>
          </a:p>
        </p:txBody>
      </p:sp>
      <p:sp>
        <p:nvSpPr>
          <p:cNvPr id="57" name="Text 59"/>
          <p:cNvSpPr txBox="1"/>
          <p:nvPr/>
        </p:nvSpPr>
        <p:spPr>
          <a:xfrm>
            <a:off x="8311895" y="2944368"/>
            <a:ext cx="146304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58" name="Text 60"/>
          <p:cNvSpPr txBox="1"/>
          <p:nvPr/>
        </p:nvSpPr>
        <p:spPr>
          <a:xfrm>
            <a:off x="8311895" y="3090672"/>
            <a:ext cx="1463040" cy="420624"/>
          </a:xfrm>
          <a:prstGeom prst="rect">
            <a:avLst/>
          </a:prstGeom>
          <a:noFill/>
        </p:spPr>
        <p:txBody>
          <a:bodyPr wrap="square" lIns="0" rIns="0" tIns="0" bIns="0" anchor="ctr">
            <a:spAutoFit/>
          </a:bodyPr>
          <a:lstStyle/>
          <a:p>
            <a:r>
              <a:rPr sz="2200" b="0" i="0">
                <a:solidFill>
                  <a:srgbClr val="595959"/>
                </a:solidFill>
                <a:latin typeface="Trenda IG Text Light"/>
              </a:rPr>
              <a:t>$16M</a:t>
            </a:r>
          </a:p>
        </p:txBody>
      </p:sp>
      <p:cxnSp>
        <p:nvCxnSpPr>
          <p:cNvPr id="59" name="Arrow 61"/>
          <p:cNvCxnSpPr/>
          <p:nvPr/>
        </p:nvCxnSpPr>
        <p:spPr>
          <a:xfrm>
            <a:off x="9546336" y="3300984"/>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 62"/>
          <p:cNvSpPr txBox="1"/>
          <p:nvPr/>
        </p:nvSpPr>
        <p:spPr>
          <a:xfrm>
            <a:off x="9957815" y="2944368"/>
            <a:ext cx="1636775" cy="128016"/>
          </a:xfrm>
          <a:prstGeom prst="rect">
            <a:avLst/>
          </a:prstGeom>
          <a:noFill/>
        </p:spPr>
        <p:txBody>
          <a:bodyPr wrap="square" lIns="0" rIns="0" tIns="0" bIns="0" anchor="ctr">
            <a:spAutoFit/>
          </a:bodyPr>
          <a:lstStyle/>
          <a:p>
            <a:r>
              <a:rPr sz="650" b="1" i="0" spc="150">
                <a:solidFill>
                  <a:srgbClr val="000000"/>
                </a:solidFill>
                <a:latin typeface="Trenda IG Text"/>
              </a:rPr>
              <a:t>WITH THE HARNESS</a:t>
            </a:r>
          </a:p>
        </p:txBody>
      </p:sp>
      <p:sp>
        <p:nvSpPr>
          <p:cNvPr id="61" name="Text 63"/>
          <p:cNvSpPr txBox="1"/>
          <p:nvPr/>
        </p:nvSpPr>
        <p:spPr>
          <a:xfrm>
            <a:off x="9957815" y="3090672"/>
            <a:ext cx="1636775" cy="420624"/>
          </a:xfrm>
          <a:prstGeom prst="rect">
            <a:avLst/>
          </a:prstGeom>
          <a:noFill/>
        </p:spPr>
        <p:txBody>
          <a:bodyPr wrap="square" lIns="0" rIns="0" tIns="0" bIns="0" anchor="ctr">
            <a:spAutoFit/>
          </a:bodyPr>
          <a:lstStyle/>
          <a:p>
            <a:r>
              <a:rPr sz="2200" b="0" i="0">
                <a:solidFill>
                  <a:srgbClr val="000000"/>
                </a:solidFill>
                <a:latin typeface="Trenda IG Text Light"/>
              </a:rPr>
              <a:t>$3M</a:t>
            </a:r>
          </a:p>
        </p:txBody>
      </p:sp>
      <p:sp>
        <p:nvSpPr>
          <p:cNvPr id="62" name="Differentiator Border 65"/>
          <p:cNvSpPr/>
          <p:nvPr/>
        </p:nvSpPr>
        <p:spPr>
          <a:xfrm>
            <a:off x="8311895" y="3657600"/>
            <a:ext cx="3282696" cy="6035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6"/>
          <p:cNvSpPr/>
          <p:nvPr/>
        </p:nvSpPr>
        <p:spPr>
          <a:xfrm>
            <a:off x="8353043" y="3698748"/>
            <a:ext cx="3200400" cy="521208"/>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7"/>
          <p:cNvSpPr txBox="1"/>
          <p:nvPr/>
        </p:nvSpPr>
        <p:spPr>
          <a:xfrm>
            <a:off x="8490203" y="3698748"/>
            <a:ext cx="1463040" cy="521208"/>
          </a:xfrm>
          <a:prstGeom prst="rect">
            <a:avLst/>
          </a:prstGeom>
          <a:noFill/>
        </p:spPr>
        <p:txBody>
          <a:bodyPr wrap="square" lIns="0" rIns="0" tIns="0" bIns="0" anchor="ctr">
            <a:spAutoFit/>
          </a:bodyPr>
          <a:lstStyle/>
          <a:p>
            <a:r>
              <a:rPr sz="700" b="1" i="0" spc="200">
                <a:solidFill>
                  <a:srgbClr val="000000"/>
                </a:solidFill>
                <a:latin typeface="Trenda IG Text"/>
              </a:rPr>
              <a:t>SAVES</a:t>
            </a:r>
          </a:p>
          <a:p>
            <a:r>
              <a:rPr sz="750" b="0" i="0">
                <a:solidFill>
                  <a:srgbClr val="000000"/>
                </a:solidFill>
                <a:latin typeface="Trenda IG Text"/>
              </a:rPr>
              <a:t>81% of the year's spend</a:t>
            </a:r>
          </a:p>
        </p:txBody>
      </p:sp>
      <p:sp>
        <p:nvSpPr>
          <p:cNvPr id="65" name="Text 68"/>
          <p:cNvSpPr txBox="1"/>
          <p:nvPr/>
        </p:nvSpPr>
        <p:spPr>
          <a:xfrm>
            <a:off x="9816083" y="3698748"/>
            <a:ext cx="1600200" cy="521208"/>
          </a:xfrm>
          <a:prstGeom prst="rect">
            <a:avLst/>
          </a:prstGeom>
          <a:noFill/>
        </p:spPr>
        <p:txBody>
          <a:bodyPr wrap="square" lIns="0" rIns="0" tIns="0" bIns="0" anchor="ctr">
            <a:spAutoFit/>
          </a:bodyPr>
          <a:lstStyle/>
          <a:p>
            <a:pPr algn="r"/>
            <a:r>
              <a:rPr sz="2600" b="1" i="0">
                <a:solidFill>
                  <a:srgbClr val="000000"/>
                </a:solidFill>
                <a:latin typeface="Trenda IG Text"/>
              </a:rPr>
              <a:t>$13M</a:t>
            </a:r>
          </a:p>
        </p:txBody>
      </p:sp>
      <p:sp>
        <p:nvSpPr>
          <p:cNvPr id="66" name="Text 69"/>
          <p:cNvSpPr txBox="1"/>
          <p:nvPr/>
        </p:nvSpPr>
        <p:spPr>
          <a:xfrm>
            <a:off x="8311895" y="4352544"/>
            <a:ext cx="3282696" cy="384048"/>
          </a:xfrm>
          <a:prstGeom prst="rect">
            <a:avLst/>
          </a:prstGeom>
          <a:noFill/>
        </p:spPr>
        <p:txBody>
          <a:bodyPr wrap="square" lIns="0" rIns="0" tIns="0" bIns="0" anchor="t">
            <a:spAutoFit/>
          </a:bodyPr>
          <a:lstStyle/>
          <a:p>
            <a:r>
              <a:rPr sz="800" b="0" i="0">
                <a:solidFill>
                  <a:srgbClr val="595959"/>
                </a:solidFill>
                <a:latin typeface="Trenda IG Text"/>
              </a:rPr>
              <a:t>Full run rate: agents carry the delivery, people steer.</a:t>
            </a:r>
          </a:p>
        </p:txBody>
      </p:sp>
      <p:sp>
        <p:nvSpPr>
          <p:cNvPr id="67" name="Shape 70"/>
          <p:cNvSpPr/>
          <p:nvPr/>
        </p:nvSpPr>
        <p:spPr>
          <a:xfrm>
            <a:off x="411480" y="493776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71"/>
          <p:cNvSpPr txBox="1"/>
          <p:nvPr/>
        </p:nvSpPr>
        <p:spPr>
          <a:xfrm>
            <a:off x="640080" y="5029200"/>
            <a:ext cx="3657600" cy="182880"/>
          </a:xfrm>
          <a:prstGeom prst="rect">
            <a:avLst/>
          </a:prstGeom>
          <a:noFill/>
        </p:spPr>
        <p:txBody>
          <a:bodyPr wrap="square" lIns="0" rIns="0" tIns="0" bIns="0" anchor="t">
            <a:spAutoFit/>
          </a:bodyPr>
          <a:lstStyle/>
          <a:p>
            <a:r>
              <a:rPr sz="750" b="1" i="0" spc="200">
                <a:solidFill>
                  <a:srgbClr val="FFD700"/>
                </a:solidFill>
                <a:latin typeface="Trenda IG Text"/>
              </a:rPr>
              <a:t>THREE YEARS, ALL PODS</a:t>
            </a:r>
          </a:p>
        </p:txBody>
      </p:sp>
      <p:sp>
        <p:nvSpPr>
          <p:cNvPr id="69" name="Text 72"/>
          <p:cNvSpPr txBox="1"/>
          <p:nvPr/>
        </p:nvSpPr>
        <p:spPr>
          <a:xfrm>
            <a:off x="640080"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Spend today</a:t>
            </a:r>
          </a:p>
        </p:txBody>
      </p:sp>
      <p:sp>
        <p:nvSpPr>
          <p:cNvPr id="70" name="Text 73"/>
          <p:cNvSpPr txBox="1"/>
          <p:nvPr/>
        </p:nvSpPr>
        <p:spPr>
          <a:xfrm>
            <a:off x="640080"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$48M</a:t>
            </a:r>
          </a:p>
        </p:txBody>
      </p:sp>
      <p:sp>
        <p:nvSpPr>
          <p:cNvPr id="71" name="Text 74"/>
          <p:cNvSpPr txBox="1"/>
          <p:nvPr/>
        </p:nvSpPr>
        <p:spPr>
          <a:xfrm>
            <a:off x="640080" y="5724144"/>
            <a:ext cx="2567178" cy="164592"/>
          </a:xfrm>
          <a:prstGeom prst="rect">
            <a:avLst/>
          </a:prstGeom>
          <a:noFill/>
        </p:spPr>
        <p:txBody>
          <a:bodyPr wrap="square" lIns="0" rIns="0" tIns="0" bIns="0" anchor="t">
            <a:spAutoFit/>
          </a:bodyPr>
          <a:lstStyle/>
          <a:p>
            <a:r>
              <a:rPr sz="750" b="0" i="0">
                <a:solidFill>
                  <a:srgbClr val="BFBFBF"/>
                </a:solidFill>
                <a:latin typeface="Trenda IG Text"/>
              </a:rPr>
              <a:t>$16M a year x 3</a:t>
            </a:r>
          </a:p>
        </p:txBody>
      </p:sp>
      <p:sp>
        <p:nvSpPr>
          <p:cNvPr id="72" name="Text 75"/>
          <p:cNvSpPr txBox="1"/>
          <p:nvPr/>
        </p:nvSpPr>
        <p:spPr>
          <a:xfrm>
            <a:off x="3481578" y="5230368"/>
            <a:ext cx="2567178" cy="164592"/>
          </a:xfrm>
          <a:prstGeom prst="rect">
            <a:avLst/>
          </a:prstGeom>
          <a:noFill/>
        </p:spPr>
        <p:txBody>
          <a:bodyPr wrap="square" lIns="0" rIns="0" tIns="0" bIns="0" anchor="t">
            <a:spAutoFit/>
          </a:bodyPr>
          <a:lstStyle/>
          <a:p>
            <a:r>
              <a:rPr sz="800" b="0" i="0">
                <a:solidFill>
                  <a:srgbClr val="BFBFBF"/>
                </a:solidFill>
                <a:latin typeface="Trenda IG Text"/>
              </a:rPr>
              <a:t>With the harness</a:t>
            </a:r>
          </a:p>
        </p:txBody>
      </p:sp>
      <p:sp>
        <p:nvSpPr>
          <p:cNvPr id="73" name="Text 76"/>
          <p:cNvSpPr txBox="1"/>
          <p:nvPr/>
        </p:nvSpPr>
        <p:spPr>
          <a:xfrm>
            <a:off x="3481578" y="539496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$15M</a:t>
            </a:r>
          </a:p>
        </p:txBody>
      </p:sp>
      <p:sp>
        <p:nvSpPr>
          <p:cNvPr id="74" name="Text 77"/>
          <p:cNvSpPr txBox="1"/>
          <p:nvPr/>
        </p:nvSpPr>
        <p:spPr>
          <a:xfrm>
            <a:off x="3481578" y="5724144"/>
            <a:ext cx="2567178" cy="164592"/>
          </a:xfrm>
          <a:prstGeom prst="rect">
            <a:avLst/>
          </a:prstGeom>
          <a:noFill/>
        </p:spPr>
        <p:txBody>
          <a:bodyPr wrap="square" lIns="0" rIns="0" tIns="0" bIns="0" anchor="t">
            <a:spAutoFit/>
          </a:bodyPr>
          <a:lstStyle/>
          <a:p>
            <a:r>
              <a:rPr sz="750" b="0" i="0">
                <a:solidFill>
                  <a:srgbClr val="BFBFBF"/>
                </a:solidFill>
                <a:latin typeface="Trenda IG Text"/>
              </a:rPr>
              <a:t>agents included</a:t>
            </a:r>
          </a:p>
        </p:txBody>
      </p:sp>
      <p:sp>
        <p:nvSpPr>
          <p:cNvPr id="75" name="Text 78"/>
          <p:cNvSpPr txBox="1"/>
          <p:nvPr/>
        </p:nvSpPr>
        <p:spPr>
          <a:xfrm>
            <a:off x="6323076" y="5230368"/>
            <a:ext cx="2567178" cy="164592"/>
          </a:xfrm>
          <a:prstGeom prst="rect">
            <a:avLst/>
          </a:prstGeom>
          <a:noFill/>
        </p:spPr>
        <p:txBody>
          <a:bodyPr wrap="square" lIns="0" rIns="0" tIns="0" bIns="0" anchor="t">
            <a:spAutoFit/>
          </a:bodyPr>
          <a:lstStyle/>
          <a:p>
            <a:r>
              <a:rPr sz="800" b="0" i="0">
                <a:solidFill>
                  <a:srgbClr val="BFBFBF"/>
                </a:solidFill>
                <a:latin typeface="Trenda IG Text"/>
              </a:rPr>
              <a:t>Saved over 3 years</a:t>
            </a:r>
          </a:p>
        </p:txBody>
      </p:sp>
      <p:sp>
        <p:nvSpPr>
          <p:cNvPr id="76" name="Text 79"/>
          <p:cNvSpPr txBox="1"/>
          <p:nvPr/>
        </p:nvSpPr>
        <p:spPr>
          <a:xfrm>
            <a:off x="6323076" y="5394960"/>
            <a:ext cx="2567178" cy="347472"/>
          </a:xfrm>
          <a:prstGeom prst="rect">
            <a:avLst/>
          </a:prstGeom>
          <a:noFill/>
        </p:spPr>
        <p:txBody>
          <a:bodyPr wrap="square" lIns="0" rIns="0" tIns="0" bIns="0" anchor="ctr">
            <a:spAutoFit/>
          </a:bodyPr>
          <a:lstStyle/>
          <a:p>
            <a:r>
              <a:rPr sz="2200" b="1" i="0">
                <a:solidFill>
                  <a:srgbClr val="00D6F2"/>
                </a:solidFill>
                <a:latin typeface="Trenda IG Text"/>
              </a:rPr>
              <a:t>$33M</a:t>
            </a:r>
          </a:p>
        </p:txBody>
      </p:sp>
      <p:sp>
        <p:nvSpPr>
          <p:cNvPr id="77" name="Text 80"/>
          <p:cNvSpPr txBox="1"/>
          <p:nvPr/>
        </p:nvSpPr>
        <p:spPr>
          <a:xfrm>
            <a:off x="6323076" y="5724144"/>
            <a:ext cx="2567178" cy="164592"/>
          </a:xfrm>
          <a:prstGeom prst="rect">
            <a:avLst/>
          </a:prstGeom>
          <a:noFill/>
        </p:spPr>
        <p:txBody>
          <a:bodyPr wrap="square" lIns="0" rIns="0" tIns="0" bIns="0" anchor="t">
            <a:spAutoFit/>
          </a:bodyPr>
          <a:lstStyle/>
          <a:p>
            <a:r>
              <a:rPr sz="750" b="0" i="0">
                <a:solidFill>
                  <a:srgbClr val="BFBFBF"/>
                </a:solidFill>
                <a:latin typeface="Trenda IG Text"/>
              </a:rPr>
              <a:t>69% of three years' spend</a:t>
            </a:r>
          </a:p>
        </p:txBody>
      </p:sp>
      <p:sp>
        <p:nvSpPr>
          <p:cNvPr id="78" name="Text 81"/>
          <p:cNvSpPr txBox="1"/>
          <p:nvPr/>
        </p:nvSpPr>
        <p:spPr>
          <a:xfrm>
            <a:off x="9164574" y="5230368"/>
            <a:ext cx="2567178" cy="164592"/>
          </a:xfrm>
          <a:prstGeom prst="rect">
            <a:avLst/>
          </a:prstGeom>
          <a:noFill/>
        </p:spPr>
        <p:txBody>
          <a:bodyPr wrap="square" lIns="0" rIns="0" tIns="0" bIns="0" anchor="t">
            <a:spAutoFit/>
          </a:bodyPr>
          <a:lstStyle/>
          <a:p>
            <a:r>
              <a:rPr sz="800" b="0" i="0">
                <a:solidFill>
                  <a:srgbClr val="BFBFBF"/>
                </a:solidFill>
                <a:latin typeface="Trenda IG Text"/>
              </a:rPr>
              <a:t>Return on the build fee</a:t>
            </a:r>
          </a:p>
        </p:txBody>
      </p:sp>
      <p:sp>
        <p:nvSpPr>
          <p:cNvPr id="79" name="Text 82"/>
          <p:cNvSpPr txBox="1"/>
          <p:nvPr/>
        </p:nvSpPr>
        <p:spPr>
          <a:xfrm>
            <a:off x="9164574" y="5394960"/>
            <a:ext cx="2567178" cy="347472"/>
          </a:xfrm>
          <a:prstGeom prst="rect">
            <a:avLst/>
          </a:prstGeom>
          <a:noFill/>
        </p:spPr>
        <p:txBody>
          <a:bodyPr wrap="square" lIns="0" rIns="0" tIns="0" bIns="0" anchor="ctr">
            <a:spAutoFit/>
          </a:bodyPr>
          <a:lstStyle/>
          <a:p>
            <a:r>
              <a:rPr sz="2200" b="1" i="0">
                <a:solidFill>
                  <a:srgbClr val="FFD700"/>
                </a:solidFill>
                <a:latin typeface="Trenda IG Text"/>
              </a:rPr>
              <a:t>7x</a:t>
            </a:r>
          </a:p>
        </p:txBody>
      </p:sp>
      <p:sp>
        <p:nvSpPr>
          <p:cNvPr id="80" name="Text 83"/>
          <p:cNvSpPr txBox="1"/>
          <p:nvPr/>
        </p:nvSpPr>
        <p:spPr>
          <a:xfrm>
            <a:off x="9164574" y="5724144"/>
            <a:ext cx="2567178" cy="164592"/>
          </a:xfrm>
          <a:prstGeom prst="rect">
            <a:avLst/>
          </a:prstGeom>
          <a:noFill/>
        </p:spPr>
        <p:txBody>
          <a:bodyPr wrap="square" lIns="0" rIns="0" tIns="0" bIns="0" anchor="t">
            <a:spAutoFit/>
          </a:bodyPr>
          <a:lstStyle/>
          <a:p>
            <a:r>
              <a:rPr sz="750" b="0" i="0">
                <a:solidFill>
                  <a:srgbClr val="BFBFBF"/>
                </a:solidFill>
                <a:latin typeface="Trenda IG Text"/>
              </a:rPr>
              <a:t>$4.79M fixed fee, paid back in year 1</a:t>
            </a:r>
          </a:p>
        </p:txBody>
      </p:sp>
      <p:sp>
        <p:nvSpPr>
          <p:cNvPr id="81" name="Text 84"/>
          <p:cNvSpPr txBox="1"/>
          <p:nvPr/>
        </p:nvSpPr>
        <p:spPr>
          <a:xfrm>
            <a:off x="411480" y="5998464"/>
            <a:ext cx="11365992" cy="292608"/>
          </a:xfrm>
          <a:prstGeom prst="rect">
            <a:avLst/>
          </a:prstGeom>
          <a:noFill/>
        </p:spPr>
        <p:txBody>
          <a:bodyPr wrap="square" lIns="0" rIns="0" tIns="0" bIns="0" anchor="t">
            <a:spAutoFit/>
          </a:bodyPr>
          <a:lstStyle/>
          <a:p>
            <a:r>
              <a:rPr sz="650" b="0" i="0">
                <a:solidFill>
                  <a:srgbClr val="595959"/>
                </a:solidFill>
                <a:latin typeface="Trenda IG Text"/>
              </a:rPr>
              <a:t>Ascension's spend across all pods, about $16M a year, as provided. Savings ramp as pods go live (two pods by month 9, all pods by month 17) and include agent run costs. Planning estimates, confirmed against each pod's Phase 0 baseline; the business outcomes slide's 20-25% is the floor.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Across all pods, about $33M saved over three years </a:t>
            </a:r>
            <a:r>
              <a:rPr sz="900" b="0" i="0">
                <a:solidFill>
                  <a:srgbClr val="BFBFBF"/>
                </a:solidFill>
                <a:latin typeface="Trenda IG Text"/>
              </a:rPr>
              <a:t>($16M a year today).</a:t>
            </a:r>
          </a:p>
          <a:p>
            <a:pPr>
              <a:spcAft>
                <a:spcPts val="600"/>
              </a:spcAft>
            </a:pPr>
            <a:r>
              <a:rPr sz="900" b="0" i="0">
                <a:solidFill>
                  <a:srgbClr val="FFFFFF"/>
                </a:solidFill>
                <a:latin typeface="Trenda IG Text"/>
              </a:rPr>
              <a:t>That is about 7x the build fee, paid back during year 1.</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builds everything around it, so agents stay reliable at scale. Five pillars, and where each lives in our harness.</a:t>
            </a:r>
          </a:p>
        </p:txBody>
      </p:sp>
      <p:sp>
        <p:nvSpPr>
          <p:cNvPr id="5" name="Shape 4"/>
          <p:cNvSpPr/>
          <p:nvPr/>
        </p:nvSpPr>
        <p:spPr>
          <a:xfrm>
            <a:off x="411480" y="1188720"/>
            <a:ext cx="11365992" cy="402336"/>
          </a:xfrm>
          <a:prstGeom prst="roundRect">
            <a:avLst>
              <a:gd name="adj" fmla="val 50000"/>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88720"/>
            <a:ext cx="11365992" cy="402336"/>
          </a:xfrm>
          <a:prstGeom prst="rect">
            <a:avLst/>
          </a:prstGeom>
          <a:noFill/>
        </p:spPr>
        <p:txBody>
          <a:bodyPr wrap="square" lIns="0" rIns="0" tIns="0" bIns="0" anchor="ctr">
            <a:spAutoFit/>
          </a:bodyPr>
          <a:lstStyle/>
          <a:p>
            <a:pPr algn="ctr"/>
            <a:r>
              <a:rPr sz="900" b="1" i="0" spc="200">
                <a:solidFill>
                  <a:srgbClr val="00D6F2"/>
                </a:solidFill>
                <a:latin typeface="Trenda IG Text"/>
              </a:rPr>
              <a:t>THE AGENTIC HARNESS</a:t>
            </a:r>
            <a:r>
              <a:rPr sz="900" b="0" i="0">
                <a:solidFill>
                  <a:srgbClr val="BFBFBF"/>
                </a:solidFill>
                <a:latin typeface="Trenda IG Text"/>
              </a:rPr>
              <a:t>     around Codex Enterprise, the engine Ascension already licenses</a:t>
            </a:r>
          </a:p>
        </p:txBody>
      </p:sp>
      <p:cxnSp>
        <p:nvCxnSpPr>
          <p:cNvPr id="7" name="Arrow 6"/>
          <p:cNvCxnSpPr/>
          <p:nvPr/>
        </p:nvCxnSpPr>
        <p:spPr>
          <a:xfrm>
            <a:off x="149321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41148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57607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01</a:t>
            </a:r>
          </a:p>
        </p:txBody>
      </p:sp>
      <p:sp>
        <p:nvSpPr>
          <p:cNvPr id="10" name="Text 9"/>
          <p:cNvSpPr txBox="1"/>
          <p:nvPr/>
        </p:nvSpPr>
        <p:spPr>
          <a:xfrm>
            <a:off x="57607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Context</a:t>
            </a:r>
          </a:p>
        </p:txBody>
      </p:sp>
      <p:sp>
        <p:nvSpPr>
          <p:cNvPr id="11" name="Text 10"/>
          <p:cNvSpPr txBox="1"/>
          <p:nvPr/>
        </p:nvSpPr>
        <p:spPr>
          <a:xfrm>
            <a:off x="57607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knows</a:t>
            </a:r>
          </a:p>
        </p:txBody>
      </p:sp>
      <p:sp>
        <p:nvSpPr>
          <p:cNvPr id="12" name="Shape 11"/>
          <p:cNvSpPr/>
          <p:nvPr/>
        </p:nvSpPr>
        <p:spPr>
          <a:xfrm>
            <a:off x="57607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7607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4" name="Shape 13"/>
          <p:cNvSpPr/>
          <p:nvPr/>
        </p:nvSpPr>
        <p:spPr>
          <a:xfrm>
            <a:off x="59436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74066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Engineering Context Knowledge Graph from six sources</a:t>
            </a:r>
          </a:p>
        </p:txBody>
      </p:sp>
      <p:sp>
        <p:nvSpPr>
          <p:cNvPr id="16" name="Shape 15"/>
          <p:cNvSpPr/>
          <p:nvPr/>
        </p:nvSpPr>
        <p:spPr>
          <a:xfrm>
            <a:off x="59436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066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Every fact cited to its source and snapshot</a:t>
            </a:r>
          </a:p>
        </p:txBody>
      </p:sp>
      <p:sp>
        <p:nvSpPr>
          <p:cNvPr id="18" name="Shape 17"/>
          <p:cNvSpPr/>
          <p:nvPr/>
        </p:nvSpPr>
        <p:spPr>
          <a:xfrm>
            <a:off x="59436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8"/>
          <p:cNvSpPr/>
          <p:nvPr/>
        </p:nvSpPr>
        <p:spPr>
          <a:xfrm>
            <a:off x="59436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74066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AGENTS.md in each Git repo: the map Codex reads first</a:t>
            </a:r>
          </a:p>
        </p:txBody>
      </p:sp>
      <p:sp>
        <p:nvSpPr>
          <p:cNvPr id="21" name="Shape 20"/>
          <p:cNvSpPr/>
          <p:nvPr/>
        </p:nvSpPr>
        <p:spPr>
          <a:xfrm>
            <a:off x="59436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59436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74066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gets a bounded, redacted context slice</a:t>
            </a:r>
          </a:p>
        </p:txBody>
      </p:sp>
      <p:sp>
        <p:nvSpPr>
          <p:cNvPr id="24" name="Shape 23"/>
          <p:cNvSpPr/>
          <p:nvPr/>
        </p:nvSpPr>
        <p:spPr>
          <a:xfrm>
            <a:off x="59436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5" name="Arrow 24"/>
          <p:cNvCxnSpPr/>
          <p:nvPr/>
        </p:nvCxnSpPr>
        <p:spPr>
          <a:xfrm>
            <a:off x="3793845"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271211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87670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02</a:t>
            </a:r>
          </a:p>
        </p:txBody>
      </p:sp>
      <p:sp>
        <p:nvSpPr>
          <p:cNvPr id="28" name="Text 27"/>
          <p:cNvSpPr txBox="1"/>
          <p:nvPr/>
        </p:nvSpPr>
        <p:spPr>
          <a:xfrm>
            <a:off x="287670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Action</a:t>
            </a:r>
          </a:p>
        </p:txBody>
      </p:sp>
      <p:sp>
        <p:nvSpPr>
          <p:cNvPr id="29" name="Text 28"/>
          <p:cNvSpPr txBox="1"/>
          <p:nvPr/>
        </p:nvSpPr>
        <p:spPr>
          <a:xfrm>
            <a:off x="287670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What the agent is allowed to do</a:t>
            </a:r>
          </a:p>
        </p:txBody>
      </p:sp>
      <p:sp>
        <p:nvSpPr>
          <p:cNvPr id="30" name="Shape 29"/>
          <p:cNvSpPr/>
          <p:nvPr/>
        </p:nvSpPr>
        <p:spPr>
          <a:xfrm>
            <a:off x="287670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7670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Shape 31"/>
          <p:cNvSpPr/>
          <p:nvPr/>
        </p:nvSpPr>
        <p:spPr>
          <a:xfrm>
            <a:off x="289499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304129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Tools only through the MCP tool gateway</a:t>
            </a:r>
          </a:p>
        </p:txBody>
      </p:sp>
      <p:sp>
        <p:nvSpPr>
          <p:cNvPr id="34" name="Shape 33"/>
          <p:cNvSpPr/>
          <p:nvPr/>
        </p:nvSpPr>
        <p:spPr>
          <a:xfrm>
            <a:off x="289499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304129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Each step has its own tool allow list</a:t>
            </a:r>
          </a:p>
        </p:txBody>
      </p:sp>
      <p:sp>
        <p:nvSpPr>
          <p:cNvPr id="36" name="Shape 35"/>
          <p:cNvSpPr/>
          <p:nvPr/>
        </p:nvSpPr>
        <p:spPr>
          <a:xfrm>
            <a:off x="289499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289499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04129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Three identities: read, develop, release</a:t>
            </a:r>
          </a:p>
        </p:txBody>
      </p:sp>
      <p:sp>
        <p:nvSpPr>
          <p:cNvPr id="39" name="Shape 38"/>
          <p:cNvSpPr/>
          <p:nvPr/>
        </p:nvSpPr>
        <p:spPr>
          <a:xfrm>
            <a:off x="289499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289499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04129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No agent holds a production credential</a:t>
            </a:r>
          </a:p>
        </p:txBody>
      </p:sp>
      <p:sp>
        <p:nvSpPr>
          <p:cNvPr id="42" name="Shape 41"/>
          <p:cNvSpPr/>
          <p:nvPr/>
        </p:nvSpPr>
        <p:spPr>
          <a:xfrm>
            <a:off x="289499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3" name="Arrow 42"/>
          <p:cNvCxnSpPr/>
          <p:nvPr/>
        </p:nvCxnSpPr>
        <p:spPr>
          <a:xfrm>
            <a:off x="609447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44" name="Shape 43"/>
          <p:cNvSpPr/>
          <p:nvPr/>
        </p:nvSpPr>
        <p:spPr>
          <a:xfrm>
            <a:off x="5012740"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177332"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03</a:t>
            </a:r>
          </a:p>
        </p:txBody>
      </p:sp>
      <p:sp>
        <p:nvSpPr>
          <p:cNvPr id="46" name="Text 45"/>
          <p:cNvSpPr txBox="1"/>
          <p:nvPr/>
        </p:nvSpPr>
        <p:spPr>
          <a:xfrm>
            <a:off x="5177332"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Orchestration</a:t>
            </a:r>
          </a:p>
        </p:txBody>
      </p:sp>
      <p:sp>
        <p:nvSpPr>
          <p:cNvPr id="47" name="Text 46"/>
          <p:cNvSpPr txBox="1"/>
          <p:nvPr/>
        </p:nvSpPr>
        <p:spPr>
          <a:xfrm>
            <a:off x="5177332"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the work flows</a:t>
            </a:r>
          </a:p>
        </p:txBody>
      </p:sp>
      <p:sp>
        <p:nvSpPr>
          <p:cNvPr id="48" name="Shape 47"/>
          <p:cNvSpPr/>
          <p:nvPr/>
        </p:nvSpPr>
        <p:spPr>
          <a:xfrm>
            <a:off x="5177332"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177332"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50" name="Shape 49"/>
          <p:cNvSpPr/>
          <p:nvPr/>
        </p:nvSpPr>
        <p:spPr>
          <a:xfrm>
            <a:off x="5195620"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41924" y="3127248"/>
            <a:ext cx="1706270" cy="406908"/>
          </a:xfrm>
          <a:prstGeom prst="rect">
            <a:avLst/>
          </a:prstGeom>
          <a:noFill/>
        </p:spPr>
        <p:txBody>
          <a:bodyPr wrap="square" lIns="0" rIns="0" tIns="0" bIns="0" anchor="t">
            <a:spAutoFit/>
          </a:bodyPr>
          <a:lstStyle/>
          <a:p>
            <a:r>
              <a:rPr sz="900" b="0" i="0">
                <a:solidFill>
                  <a:srgbClr val="FFFFFF"/>
                </a:solidFill>
                <a:latin typeface="Trenda IG Text"/>
              </a:rPr>
              <a:t>Nine-step run loop on Cloud Workflows</a:t>
            </a:r>
          </a:p>
        </p:txBody>
      </p:sp>
      <p:sp>
        <p:nvSpPr>
          <p:cNvPr id="52" name="Shape 51"/>
          <p:cNvSpPr/>
          <p:nvPr/>
        </p:nvSpPr>
        <p:spPr>
          <a:xfrm>
            <a:off x="5195620"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5341924" y="3607308"/>
            <a:ext cx="1706270" cy="406908"/>
          </a:xfrm>
          <a:prstGeom prst="rect">
            <a:avLst/>
          </a:prstGeom>
          <a:noFill/>
        </p:spPr>
        <p:txBody>
          <a:bodyPr wrap="square" lIns="0" rIns="0" tIns="0" bIns="0" anchor="t">
            <a:spAutoFit/>
          </a:bodyPr>
          <a:lstStyle/>
          <a:p>
            <a:r>
              <a:rPr sz="900" b="0" i="0">
                <a:solidFill>
                  <a:srgbClr val="FFFFFF"/>
                </a:solidFill>
                <a:latin typeface="Trenda IG Text"/>
              </a:rPr>
              <a:t>One agent task per step, dispatched on Cloud Run</a:t>
            </a:r>
          </a:p>
        </p:txBody>
      </p:sp>
      <p:sp>
        <p:nvSpPr>
          <p:cNvPr id="54" name="Shape 53"/>
          <p:cNvSpPr/>
          <p:nvPr/>
        </p:nvSpPr>
        <p:spPr>
          <a:xfrm>
            <a:off x="5195620"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4"/>
          <p:cNvSpPr/>
          <p:nvPr/>
        </p:nvSpPr>
        <p:spPr>
          <a:xfrm>
            <a:off x="5195620"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341924"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Checkpoints, retries and budgets in Firestore</a:t>
            </a:r>
          </a:p>
        </p:txBody>
      </p:sp>
      <p:sp>
        <p:nvSpPr>
          <p:cNvPr id="57" name="Shape 56"/>
          <p:cNvSpPr/>
          <p:nvPr/>
        </p:nvSpPr>
        <p:spPr>
          <a:xfrm>
            <a:off x="5195620"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7"/>
          <p:cNvSpPr/>
          <p:nvPr/>
        </p:nvSpPr>
        <p:spPr>
          <a:xfrm>
            <a:off x="5195620"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341924" y="4567428"/>
            <a:ext cx="1706270" cy="406908"/>
          </a:xfrm>
          <a:prstGeom prst="rect">
            <a:avLst/>
          </a:prstGeom>
          <a:noFill/>
        </p:spPr>
        <p:txBody>
          <a:bodyPr wrap="square" lIns="0" rIns="0" tIns="0" bIns="0" anchor="t">
            <a:spAutoFit/>
          </a:bodyPr>
          <a:lstStyle/>
          <a:p>
            <a:r>
              <a:rPr sz="900" b="0" i="0">
                <a:solidFill>
                  <a:srgbClr val="FFFFFF"/>
                </a:solidFill>
                <a:latin typeface="Trenda IG Text"/>
              </a:rPr>
              <a:t>A failed run resumes where it stopped</a:t>
            </a:r>
          </a:p>
        </p:txBody>
      </p:sp>
      <p:sp>
        <p:nvSpPr>
          <p:cNvPr id="60" name="Shape 59"/>
          <p:cNvSpPr/>
          <p:nvPr/>
        </p:nvSpPr>
        <p:spPr>
          <a:xfrm>
            <a:off x="5195620"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1" name="Arrow 60"/>
          <p:cNvCxnSpPr/>
          <p:nvPr/>
        </p:nvCxnSpPr>
        <p:spPr>
          <a:xfrm>
            <a:off x="839510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62" name="Shape 61"/>
          <p:cNvSpPr/>
          <p:nvPr/>
        </p:nvSpPr>
        <p:spPr>
          <a:xfrm>
            <a:off x="731337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47796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04</a:t>
            </a:r>
          </a:p>
        </p:txBody>
      </p:sp>
      <p:sp>
        <p:nvSpPr>
          <p:cNvPr id="64" name="Text 63"/>
          <p:cNvSpPr txBox="1"/>
          <p:nvPr/>
        </p:nvSpPr>
        <p:spPr>
          <a:xfrm>
            <a:off x="747796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Control</a:t>
            </a:r>
          </a:p>
        </p:txBody>
      </p:sp>
      <p:sp>
        <p:nvSpPr>
          <p:cNvPr id="65" name="Text 64"/>
          <p:cNvSpPr txBox="1"/>
          <p:nvPr/>
        </p:nvSpPr>
        <p:spPr>
          <a:xfrm>
            <a:off x="747796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Rules it cannot break</a:t>
            </a:r>
          </a:p>
        </p:txBody>
      </p:sp>
      <p:sp>
        <p:nvSpPr>
          <p:cNvPr id="66" name="Shape 65"/>
          <p:cNvSpPr/>
          <p:nvPr/>
        </p:nvSpPr>
        <p:spPr>
          <a:xfrm>
            <a:off x="747796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747796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68" name="Shape 67"/>
          <p:cNvSpPr/>
          <p:nvPr/>
        </p:nvSpPr>
        <p:spPr>
          <a:xfrm>
            <a:off x="749625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64255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Input and output guardrails on every request</a:t>
            </a:r>
          </a:p>
        </p:txBody>
      </p:sp>
      <p:sp>
        <p:nvSpPr>
          <p:cNvPr id="70" name="Shape 69"/>
          <p:cNvSpPr/>
          <p:nvPr/>
        </p:nvSpPr>
        <p:spPr>
          <a:xfrm>
            <a:off x="749625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64255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Change Guardian rules (OPA) at design, commit and promotion</a:t>
            </a:r>
          </a:p>
        </p:txBody>
      </p:sp>
      <p:sp>
        <p:nvSpPr>
          <p:cNvPr id="72" name="Shape 71"/>
          <p:cNvSpPr/>
          <p:nvPr/>
        </p:nvSpPr>
        <p:spPr>
          <a:xfrm>
            <a:off x="749625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2"/>
          <p:cNvSpPr/>
          <p:nvPr/>
        </p:nvSpPr>
        <p:spPr>
          <a:xfrm>
            <a:off x="749625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64255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Code Analyzer and CI checks; schema-valid outputs</a:t>
            </a:r>
          </a:p>
        </p:txBody>
      </p:sp>
      <p:sp>
        <p:nvSpPr>
          <p:cNvPr id="75" name="Shape 74"/>
          <p:cNvSpPr/>
          <p:nvPr/>
        </p:nvSpPr>
        <p:spPr>
          <a:xfrm>
            <a:off x="749625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5"/>
          <p:cNvSpPr/>
          <p:nvPr/>
        </p:nvSpPr>
        <p:spPr>
          <a:xfrm>
            <a:off x="749625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764255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People approve at H1-H4 and CAB</a:t>
            </a:r>
          </a:p>
        </p:txBody>
      </p:sp>
      <p:sp>
        <p:nvSpPr>
          <p:cNvPr id="78" name="Shape 77"/>
          <p:cNvSpPr/>
          <p:nvPr/>
        </p:nvSpPr>
        <p:spPr>
          <a:xfrm>
            <a:off x="749625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79" name="Arrow 78"/>
          <p:cNvCxnSpPr/>
          <p:nvPr/>
        </p:nvCxnSpPr>
        <p:spPr>
          <a:xfrm>
            <a:off x="10695736" y="1591056"/>
            <a:ext cx="0" cy="109728"/>
          </a:xfrm>
          <a:prstGeom prst="line">
            <a:avLst/>
          </a:prstGeom>
          <a:ln w="12700">
            <a:solidFill>
              <a:srgbClr val="00D6F2"/>
            </a:solidFill>
            <a:prstDash val="sysDot"/>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614001" y="1700784"/>
            <a:ext cx="2163470" cy="3401568"/>
          </a:xfrm>
          <a:prstGeom prst="roundRect">
            <a:avLst>
              <a:gd name="adj" fmla="val 5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9778593" y="1828800"/>
            <a:ext cx="457200" cy="329184"/>
          </a:xfrm>
          <a:prstGeom prst="rect">
            <a:avLst/>
          </a:prstGeom>
          <a:noFill/>
        </p:spPr>
        <p:txBody>
          <a:bodyPr wrap="square" lIns="0" rIns="0" tIns="0" bIns="0" anchor="ctr">
            <a:spAutoFit/>
          </a:bodyPr>
          <a:lstStyle/>
          <a:p>
            <a:r>
              <a:rPr sz="1800" b="0" i="0">
                <a:solidFill>
                  <a:srgbClr val="00D6F2"/>
                </a:solidFill>
                <a:latin typeface="Trenda IG Text Light"/>
              </a:rPr>
              <a:t>05</a:t>
            </a:r>
          </a:p>
        </p:txBody>
      </p:sp>
      <p:sp>
        <p:nvSpPr>
          <p:cNvPr id="82" name="Text 81"/>
          <p:cNvSpPr txBox="1"/>
          <p:nvPr/>
        </p:nvSpPr>
        <p:spPr>
          <a:xfrm>
            <a:off x="9778593" y="2176272"/>
            <a:ext cx="1889150" cy="329184"/>
          </a:xfrm>
          <a:prstGeom prst="rect">
            <a:avLst/>
          </a:prstGeom>
          <a:noFill/>
        </p:spPr>
        <p:txBody>
          <a:bodyPr wrap="square" lIns="0" rIns="0" tIns="0" bIns="0" anchor="ctr">
            <a:spAutoFit/>
          </a:bodyPr>
          <a:lstStyle/>
          <a:p>
            <a:r>
              <a:rPr sz="1500" b="1" i="0">
                <a:solidFill>
                  <a:srgbClr val="FFFFFF"/>
                </a:solidFill>
                <a:latin typeface="Trenda IG Text"/>
              </a:rPr>
              <a:t>Feedback</a:t>
            </a:r>
          </a:p>
        </p:txBody>
      </p:sp>
      <p:sp>
        <p:nvSpPr>
          <p:cNvPr id="83" name="Text 82"/>
          <p:cNvSpPr txBox="1"/>
          <p:nvPr/>
        </p:nvSpPr>
        <p:spPr>
          <a:xfrm>
            <a:off x="9778593" y="2523744"/>
            <a:ext cx="1889150" cy="201168"/>
          </a:xfrm>
          <a:prstGeom prst="rect">
            <a:avLst/>
          </a:prstGeom>
          <a:noFill/>
        </p:spPr>
        <p:txBody>
          <a:bodyPr wrap="square" lIns="0" rIns="0" tIns="0" bIns="0" anchor="t">
            <a:spAutoFit/>
          </a:bodyPr>
          <a:lstStyle/>
          <a:p>
            <a:r>
              <a:rPr sz="850" b="0" i="0">
                <a:solidFill>
                  <a:srgbClr val="BFBFBF"/>
                </a:solidFill>
                <a:latin typeface="Trenda IG Text"/>
              </a:rPr>
              <a:t>How it gets better</a:t>
            </a:r>
          </a:p>
        </p:txBody>
      </p:sp>
      <p:sp>
        <p:nvSpPr>
          <p:cNvPr id="84" name="Shape 83"/>
          <p:cNvSpPr/>
          <p:nvPr/>
        </p:nvSpPr>
        <p:spPr>
          <a:xfrm>
            <a:off x="9778593" y="2798064"/>
            <a:ext cx="1834286"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9778593" y="2889504"/>
            <a:ext cx="1834286"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86" name="Shape 85"/>
          <p:cNvSpPr/>
          <p:nvPr/>
        </p:nvSpPr>
        <p:spPr>
          <a:xfrm>
            <a:off x="9796881" y="319125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9943185" y="3127248"/>
            <a:ext cx="1706270" cy="406908"/>
          </a:xfrm>
          <a:prstGeom prst="rect">
            <a:avLst/>
          </a:prstGeom>
          <a:noFill/>
        </p:spPr>
        <p:txBody>
          <a:bodyPr wrap="square" lIns="0" rIns="0" tIns="0" bIns="0" anchor="t">
            <a:spAutoFit/>
          </a:bodyPr>
          <a:lstStyle/>
          <a:p>
            <a:r>
              <a:rPr sz="900" b="0" i="0">
                <a:solidFill>
                  <a:srgbClr val="FFFFFF"/>
                </a:solidFill>
                <a:latin typeface="Trenda IG Text"/>
              </a:rPr>
              <a:t>Evaluation set gates every prompt, skill or model change</a:t>
            </a:r>
          </a:p>
        </p:txBody>
      </p:sp>
      <p:sp>
        <p:nvSpPr>
          <p:cNvPr id="88" name="Shape 87"/>
          <p:cNvSpPr/>
          <p:nvPr/>
        </p:nvSpPr>
        <p:spPr>
          <a:xfrm>
            <a:off x="9796881" y="3671315"/>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943185" y="3607308"/>
            <a:ext cx="1706270" cy="406908"/>
          </a:xfrm>
          <a:prstGeom prst="rect">
            <a:avLst/>
          </a:prstGeom>
          <a:noFill/>
        </p:spPr>
        <p:txBody>
          <a:bodyPr wrap="square" lIns="0" rIns="0" tIns="0" bIns="0" anchor="t">
            <a:spAutoFit/>
          </a:bodyPr>
          <a:lstStyle/>
          <a:p>
            <a:r>
              <a:rPr sz="900" b="0" i="0">
                <a:solidFill>
                  <a:srgbClr val="FFFFFF"/>
                </a:solidFill>
                <a:latin typeface="Trenda IG Text"/>
              </a:rPr>
              <a:t>Rejected outputs become test cases; incidents become rules</a:t>
            </a:r>
          </a:p>
        </p:txBody>
      </p:sp>
      <p:sp>
        <p:nvSpPr>
          <p:cNvPr id="90" name="Shape 89"/>
          <p:cNvSpPr/>
          <p:nvPr/>
        </p:nvSpPr>
        <p:spPr>
          <a:xfrm>
            <a:off x="9796881" y="353415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9796881" y="415137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9943185" y="4087368"/>
            <a:ext cx="1706270" cy="406908"/>
          </a:xfrm>
          <a:prstGeom prst="rect">
            <a:avLst/>
          </a:prstGeom>
          <a:noFill/>
        </p:spPr>
        <p:txBody>
          <a:bodyPr wrap="square" lIns="0" rIns="0" tIns="0" bIns="0" anchor="t">
            <a:spAutoFit/>
          </a:bodyPr>
          <a:lstStyle/>
          <a:p>
            <a:r>
              <a:rPr sz="900" b="0" i="0">
                <a:solidFill>
                  <a:srgbClr val="FFFFFF"/>
                </a:solidFill>
                <a:latin typeface="Trenda IG Text"/>
              </a:rPr>
              <a:t>Change passport and gateway log record every action</a:t>
            </a:r>
          </a:p>
        </p:txBody>
      </p:sp>
      <p:sp>
        <p:nvSpPr>
          <p:cNvPr id="93" name="Shape 92"/>
          <p:cNvSpPr/>
          <p:nvPr/>
        </p:nvSpPr>
        <p:spPr>
          <a:xfrm>
            <a:off x="9796881" y="4014215"/>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796881" y="4631436"/>
            <a:ext cx="54864" cy="548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943185" y="4567428"/>
            <a:ext cx="1706270" cy="406908"/>
          </a:xfrm>
          <a:prstGeom prst="rect">
            <a:avLst/>
          </a:prstGeom>
          <a:noFill/>
        </p:spPr>
        <p:txBody>
          <a:bodyPr wrap="square" lIns="0" rIns="0" tIns="0" bIns="0" anchor="t">
            <a:spAutoFit/>
          </a:bodyPr>
          <a:lstStyle/>
          <a:p>
            <a:r>
              <a:rPr sz="900" b="0" i="0">
                <a:solidFill>
                  <a:srgbClr val="FFFFFF"/>
                </a:solidFill>
                <a:latin typeface="Trenda IG Text"/>
              </a:rPr>
              <a:t>Weekly read-only org health report to each pod</a:t>
            </a:r>
          </a:p>
        </p:txBody>
      </p:sp>
      <p:sp>
        <p:nvSpPr>
          <p:cNvPr id="96" name="Shape 95"/>
          <p:cNvSpPr/>
          <p:nvPr/>
        </p:nvSpPr>
        <p:spPr>
          <a:xfrm>
            <a:off x="9796881" y="4494276"/>
            <a:ext cx="1815998" cy="548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411480" y="5230368"/>
            <a:ext cx="11365992" cy="512064"/>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40080" y="5230368"/>
            <a:ext cx="2194560" cy="512064"/>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99" name="Text 98"/>
          <p:cNvSpPr txBox="1"/>
          <p:nvPr/>
        </p:nvSpPr>
        <p:spPr>
          <a:xfrm>
            <a:off x="2788920" y="5230368"/>
            <a:ext cx="8759952" cy="512064"/>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a:t>
            </a:r>
          </a:p>
        </p:txBody>
      </p:sp>
      <p:sp>
        <p:nvSpPr>
          <p:cNvPr id="100" name="Text 99"/>
          <p:cNvSpPr txBox="1"/>
          <p:nvPr/>
        </p:nvSpPr>
        <p:spPr>
          <a:xfrm>
            <a:off x="411480" y="5797295"/>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The org health report is a read-only Review Agent run: it changes nothing in the org.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FUTURE STATE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Future state: from Agentic Harness to dynamic self-harness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Today the Agentic Harness runs our agents inside guardrails we design. Toward AGI, it becomes a dynamic self-harness that tunes itself inside the limits Ascension sets.</a:t>
            </a:r>
          </a:p>
        </p:txBody>
      </p:sp>
      <p:sp>
        <p:nvSpPr>
          <p:cNvPr id="5" name="Differentiator Border 5"/>
          <p:cNvSpPr/>
          <p:nvPr/>
        </p:nvSpPr>
        <p:spPr>
          <a:xfrm>
            <a:off x="7827264" y="1152144"/>
            <a:ext cx="3986783" cy="32735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868412" y="1193292"/>
            <a:ext cx="3904487" cy="319125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7"/>
          <p:cNvSpPr/>
          <p:nvPr/>
        </p:nvSpPr>
        <p:spPr>
          <a:xfrm>
            <a:off x="1874520" y="1188720"/>
            <a:ext cx="5715000" cy="896112"/>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 name="Arrow 8"/>
          <p:cNvCxnSpPr/>
          <p:nvPr/>
        </p:nvCxnSpPr>
        <p:spPr>
          <a:xfrm>
            <a:off x="7607808" y="1636776"/>
            <a:ext cx="237744"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 9"/>
          <p:cNvSpPr txBox="1"/>
          <p:nvPr/>
        </p:nvSpPr>
        <p:spPr>
          <a:xfrm>
            <a:off x="2039112" y="1463040"/>
            <a:ext cx="5440680" cy="310896"/>
          </a:xfrm>
          <a:prstGeom prst="rect">
            <a:avLst/>
          </a:prstGeom>
          <a:noFill/>
        </p:spPr>
        <p:txBody>
          <a:bodyPr wrap="square" lIns="0" rIns="0" tIns="0" bIns="0" anchor="ctr">
            <a:spAutoFit/>
          </a:bodyPr>
          <a:lstStyle/>
          <a:p>
            <a:r>
              <a:rPr sz="1500" b="1" i="0">
                <a:solidFill>
                  <a:srgbClr val="FFFFFF"/>
                </a:solidFill>
                <a:latin typeface="Trenda IG Text"/>
              </a:rPr>
              <a:t>Agentic Harness</a:t>
            </a:r>
          </a:p>
        </p:txBody>
      </p:sp>
      <p:sp>
        <p:nvSpPr>
          <p:cNvPr id="10" name="Text 10"/>
          <p:cNvSpPr txBox="1"/>
          <p:nvPr/>
        </p:nvSpPr>
        <p:spPr>
          <a:xfrm>
            <a:off x="2039112" y="1261872"/>
            <a:ext cx="5440680" cy="182880"/>
          </a:xfrm>
          <a:prstGeom prst="rect">
            <a:avLst/>
          </a:prstGeom>
          <a:noFill/>
        </p:spPr>
        <p:txBody>
          <a:bodyPr wrap="square" lIns="0" rIns="0" tIns="0" bIns="0" anchor="ctr">
            <a:spAutoFit/>
          </a:bodyPr>
          <a:lstStyle/>
          <a:p>
            <a:r>
              <a:rPr sz="700" b="1" i="0" spc="200">
                <a:solidFill>
                  <a:srgbClr val="BFBFBF"/>
                </a:solidFill>
                <a:latin typeface="Trenda IG Text"/>
              </a:rPr>
              <a:t>TODAY · THIS PROPOSAL</a:t>
            </a:r>
          </a:p>
        </p:txBody>
      </p:sp>
      <p:sp>
        <p:nvSpPr>
          <p:cNvPr id="11" name="Text 11"/>
          <p:cNvSpPr txBox="1"/>
          <p:nvPr/>
        </p:nvSpPr>
        <p:spPr>
          <a:xfrm>
            <a:off x="2039112" y="1792224"/>
            <a:ext cx="5440680" cy="237744"/>
          </a:xfrm>
          <a:prstGeom prst="rect">
            <a:avLst/>
          </a:prstGeom>
          <a:noFill/>
        </p:spPr>
        <p:txBody>
          <a:bodyPr wrap="square" lIns="0" rIns="0" tIns="0" bIns="0" anchor="t">
            <a:spAutoFit/>
          </a:bodyPr>
          <a:lstStyle/>
          <a:p>
            <a:r>
              <a:rPr sz="800" b="0" i="0">
                <a:solidFill>
                  <a:srgbClr val="BFBFBF"/>
                </a:solidFill>
                <a:latin typeface="Trenda IG Text"/>
              </a:rPr>
              <a:t>Agents work inside a harness we design, and propose improvements to it.</a:t>
            </a:r>
          </a:p>
        </p:txBody>
      </p:sp>
      <p:sp>
        <p:nvSpPr>
          <p:cNvPr id="12" name="Text 12"/>
          <p:cNvSpPr txBox="1"/>
          <p:nvPr/>
        </p:nvSpPr>
        <p:spPr>
          <a:xfrm>
            <a:off x="8028432" y="1426464"/>
            <a:ext cx="3639311" cy="384048"/>
          </a:xfrm>
          <a:prstGeom prst="rect">
            <a:avLst/>
          </a:prstGeom>
          <a:noFill/>
        </p:spPr>
        <p:txBody>
          <a:bodyPr wrap="square" lIns="0" rIns="0" tIns="0" bIns="0" anchor="ctr">
            <a:spAutoFit/>
          </a:bodyPr>
          <a:lstStyle/>
          <a:p>
            <a:r>
              <a:rPr sz="2400" b="1" i="0">
                <a:solidFill>
                  <a:srgbClr val="FFD700"/>
                </a:solidFill>
                <a:latin typeface="Trenda IG Text"/>
              </a:rPr>
              <a:t>AGI</a:t>
            </a:r>
            <a:r>
              <a:rPr sz="1500" b="1" i="0">
                <a:solidFill>
                  <a:srgbClr val="FFFFFF"/>
                </a:solidFill>
                <a:latin typeface="Trenda IG Text"/>
              </a:rPr>
              <a:t>   Dynamic self-harness</a:t>
            </a:r>
          </a:p>
        </p:txBody>
      </p:sp>
      <p:sp>
        <p:nvSpPr>
          <p:cNvPr id="13" name="Text 13"/>
          <p:cNvSpPr txBox="1"/>
          <p:nvPr/>
        </p:nvSpPr>
        <p:spPr>
          <a:xfrm>
            <a:off x="8028432" y="1261872"/>
            <a:ext cx="3639311" cy="182880"/>
          </a:xfrm>
          <a:prstGeom prst="rect">
            <a:avLst/>
          </a:prstGeom>
          <a:noFill/>
        </p:spPr>
        <p:txBody>
          <a:bodyPr wrap="square" lIns="0" rIns="0" tIns="0" bIns="0" anchor="ctr">
            <a:spAutoFit/>
          </a:bodyPr>
          <a:lstStyle/>
          <a:p>
            <a:r>
              <a:rPr sz="700" b="1" i="0" spc="200">
                <a:solidFill>
                  <a:srgbClr val="FFD700"/>
                </a:solidFill>
                <a:latin typeface="Trenda IG Text"/>
              </a:rPr>
              <a:t>FUTURE STATE</a:t>
            </a:r>
          </a:p>
        </p:txBody>
      </p:sp>
      <p:sp>
        <p:nvSpPr>
          <p:cNvPr id="14" name="Text 14"/>
          <p:cNvSpPr txBox="1"/>
          <p:nvPr/>
        </p:nvSpPr>
        <p:spPr>
          <a:xfrm>
            <a:off x="8028432" y="1792224"/>
            <a:ext cx="3639311" cy="237744"/>
          </a:xfrm>
          <a:prstGeom prst="rect">
            <a:avLst/>
          </a:prstGeom>
          <a:noFill/>
        </p:spPr>
        <p:txBody>
          <a:bodyPr wrap="square" lIns="0" rIns="0" tIns="0" bIns="0" anchor="t">
            <a:spAutoFit/>
          </a:bodyPr>
          <a:lstStyle/>
          <a:p>
            <a:r>
              <a:rPr sz="800" b="0" i="0">
                <a:solidFill>
                  <a:srgbClr val="BFBFBF"/>
                </a:solidFill>
                <a:latin typeface="Trenda IG Text"/>
              </a:rPr>
              <a:t>Artificial General Intelligence: the harness tunes itself, inside the limits Ascension sets.</a:t>
            </a:r>
          </a:p>
        </p:txBody>
      </p:sp>
      <p:sp>
        <p:nvSpPr>
          <p:cNvPr id="15" name="Text 15"/>
          <p:cNvSpPr txBox="1"/>
          <p:nvPr/>
        </p:nvSpPr>
        <p:spPr>
          <a:xfrm>
            <a:off x="411480" y="1920240"/>
            <a:ext cx="1463040" cy="128016"/>
          </a:xfrm>
          <a:prstGeom prst="rect">
            <a:avLst/>
          </a:prstGeom>
          <a:noFill/>
        </p:spPr>
        <p:txBody>
          <a:bodyPr wrap="square" lIns="0" rIns="0" tIns="0" bIns="0" anchor="ctr">
            <a:spAutoFit/>
          </a:bodyPr>
          <a:lstStyle/>
          <a:p>
            <a:r>
              <a:rPr sz="650" b="1" i="0" spc="150">
                <a:solidFill>
                  <a:srgbClr val="FFD700"/>
                </a:solidFill>
                <a:latin typeface="Trenda IG Text"/>
              </a:rPr>
              <a:t>PILLAR</a:t>
            </a:r>
          </a:p>
        </p:txBody>
      </p:sp>
      <p:sp>
        <p:nvSpPr>
          <p:cNvPr id="16" name="Shape 16"/>
          <p:cNvSpPr/>
          <p:nvPr/>
        </p:nvSpPr>
        <p:spPr>
          <a:xfrm>
            <a:off x="411480" y="2157984"/>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411480" y="2212848"/>
            <a:ext cx="320040" cy="347472"/>
          </a:xfrm>
          <a:prstGeom prst="rect">
            <a:avLst/>
          </a:prstGeom>
          <a:noFill/>
        </p:spPr>
        <p:txBody>
          <a:bodyPr wrap="square" lIns="0" rIns="0" tIns="0" bIns="0" anchor="ctr">
            <a:spAutoFit/>
          </a:bodyPr>
          <a:lstStyle/>
          <a:p>
            <a:r>
              <a:rPr sz="1200" b="0" i="0">
                <a:solidFill>
                  <a:srgbClr val="00D6F2"/>
                </a:solidFill>
                <a:latin typeface="Trenda IG Text Light"/>
              </a:rPr>
              <a:t>01</a:t>
            </a:r>
          </a:p>
        </p:txBody>
      </p:sp>
      <p:sp>
        <p:nvSpPr>
          <p:cNvPr id="18" name="Text 18"/>
          <p:cNvSpPr txBox="1"/>
          <p:nvPr/>
        </p:nvSpPr>
        <p:spPr>
          <a:xfrm>
            <a:off x="758952" y="2212848"/>
            <a:ext cx="1097280" cy="347472"/>
          </a:xfrm>
          <a:prstGeom prst="rect">
            <a:avLst/>
          </a:prstGeom>
          <a:noFill/>
        </p:spPr>
        <p:txBody>
          <a:bodyPr wrap="square" lIns="0" rIns="0" tIns="0" bIns="0" anchor="ctr">
            <a:spAutoFit/>
          </a:bodyPr>
          <a:lstStyle/>
          <a:p>
            <a:r>
              <a:rPr sz="1100" b="1" i="0">
                <a:solidFill>
                  <a:srgbClr val="FFFFFF"/>
                </a:solidFill>
                <a:latin typeface="Trenda IG Text"/>
              </a:rPr>
              <a:t>Context</a:t>
            </a:r>
          </a:p>
        </p:txBody>
      </p:sp>
      <p:sp>
        <p:nvSpPr>
          <p:cNvPr id="19" name="Text 19"/>
          <p:cNvSpPr txBox="1"/>
          <p:nvPr/>
        </p:nvSpPr>
        <p:spPr>
          <a:xfrm>
            <a:off x="2039112" y="2194560"/>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connect the sources and write the AGENTS.md maps</a:t>
            </a:r>
          </a:p>
          <a:p>
            <a:pPr>
              <a:spcAft>
                <a:spcPts val="200"/>
              </a:spcAft>
            </a:pPr>
            <a:r>
              <a:rPr sz="850" b="1" i="0">
                <a:solidFill>
                  <a:srgbClr val="00D6F2"/>
                </a:solidFill>
                <a:latin typeface="Trenda IG Text"/>
              </a:rPr>
              <a:t>Agents  </a:t>
            </a:r>
            <a:r>
              <a:rPr sz="850" b="0" i="0">
                <a:solidFill>
                  <a:srgbClr val="FFFFFF"/>
                </a:solidFill>
                <a:latin typeface="Trenda IG Text"/>
              </a:rPr>
              <a:t>spot missing context and propose new sources and map updates</a:t>
            </a:r>
          </a:p>
        </p:txBody>
      </p:sp>
      <p:sp>
        <p:nvSpPr>
          <p:cNvPr id="20" name="Text 20"/>
          <p:cNvSpPr txBox="1"/>
          <p:nvPr/>
        </p:nvSpPr>
        <p:spPr>
          <a:xfrm>
            <a:off x="8028432" y="2212848"/>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finds and curates its own context</a:t>
            </a:r>
          </a:p>
        </p:txBody>
      </p:sp>
      <p:sp>
        <p:nvSpPr>
          <p:cNvPr id="21" name="Shape 21"/>
          <p:cNvSpPr/>
          <p:nvPr/>
        </p:nvSpPr>
        <p:spPr>
          <a:xfrm>
            <a:off x="411480" y="2596896"/>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2"/>
          <p:cNvSpPr txBox="1"/>
          <p:nvPr/>
        </p:nvSpPr>
        <p:spPr>
          <a:xfrm>
            <a:off x="411480" y="2651760"/>
            <a:ext cx="320040" cy="347472"/>
          </a:xfrm>
          <a:prstGeom prst="rect">
            <a:avLst/>
          </a:prstGeom>
          <a:noFill/>
        </p:spPr>
        <p:txBody>
          <a:bodyPr wrap="square" lIns="0" rIns="0" tIns="0" bIns="0" anchor="ctr">
            <a:spAutoFit/>
          </a:bodyPr>
          <a:lstStyle/>
          <a:p>
            <a:r>
              <a:rPr sz="1200" b="0" i="0">
                <a:solidFill>
                  <a:srgbClr val="00D6F2"/>
                </a:solidFill>
                <a:latin typeface="Trenda IG Text Light"/>
              </a:rPr>
              <a:t>02</a:t>
            </a:r>
          </a:p>
        </p:txBody>
      </p:sp>
      <p:sp>
        <p:nvSpPr>
          <p:cNvPr id="23" name="Text 23"/>
          <p:cNvSpPr txBox="1"/>
          <p:nvPr/>
        </p:nvSpPr>
        <p:spPr>
          <a:xfrm>
            <a:off x="758952" y="2651760"/>
            <a:ext cx="1097280" cy="347472"/>
          </a:xfrm>
          <a:prstGeom prst="rect">
            <a:avLst/>
          </a:prstGeom>
          <a:noFill/>
        </p:spPr>
        <p:txBody>
          <a:bodyPr wrap="square" lIns="0" rIns="0" tIns="0" bIns="0" anchor="ctr">
            <a:spAutoFit/>
          </a:bodyPr>
          <a:lstStyle/>
          <a:p>
            <a:r>
              <a:rPr sz="1100" b="1" i="0">
                <a:solidFill>
                  <a:srgbClr val="FFFFFF"/>
                </a:solidFill>
                <a:latin typeface="Trenda IG Text"/>
              </a:rPr>
              <a:t>Action</a:t>
            </a:r>
          </a:p>
        </p:txBody>
      </p:sp>
      <p:sp>
        <p:nvSpPr>
          <p:cNvPr id="24" name="Text 24"/>
          <p:cNvSpPr txBox="1"/>
          <p:nvPr/>
        </p:nvSpPr>
        <p:spPr>
          <a:xfrm>
            <a:off x="2039112" y="2633472"/>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grant each tool, step by step</a:t>
            </a:r>
          </a:p>
          <a:p>
            <a:pPr>
              <a:spcAft>
                <a:spcPts val="200"/>
              </a:spcAft>
            </a:pPr>
            <a:r>
              <a:rPr sz="850" b="1" i="0">
                <a:solidFill>
                  <a:srgbClr val="00D6F2"/>
                </a:solidFill>
                <a:latin typeface="Trenda IG Text"/>
              </a:rPr>
              <a:t>Agents  </a:t>
            </a:r>
            <a:r>
              <a:rPr sz="850" b="0" i="0">
                <a:solidFill>
                  <a:srgbClr val="FFFFFF"/>
                </a:solidFill>
                <a:latin typeface="Trenda IG Text"/>
              </a:rPr>
              <a:t>request a new tool with the reason</a:t>
            </a:r>
          </a:p>
        </p:txBody>
      </p:sp>
      <p:sp>
        <p:nvSpPr>
          <p:cNvPr id="25" name="Text 25"/>
          <p:cNvSpPr txBox="1"/>
          <p:nvPr/>
        </p:nvSpPr>
        <p:spPr>
          <a:xfrm>
            <a:off x="8028432" y="2651760"/>
            <a:ext cx="3639311" cy="347472"/>
          </a:xfrm>
          <a:prstGeom prst="rect">
            <a:avLst/>
          </a:prstGeom>
          <a:noFill/>
        </p:spPr>
        <p:txBody>
          <a:bodyPr wrap="square" lIns="0" rIns="0" tIns="0" bIns="0" anchor="ctr">
            <a:spAutoFit/>
          </a:bodyPr>
          <a:lstStyle/>
          <a:p>
            <a:r>
              <a:rPr sz="850" b="1" i="0">
                <a:solidFill>
                  <a:srgbClr val="FFFFFF"/>
                </a:solidFill>
                <a:latin typeface="Trenda IG Text"/>
              </a:rPr>
              <a:t>Agents build new tools in a sandbox, inside set limits</a:t>
            </a:r>
          </a:p>
        </p:txBody>
      </p:sp>
      <p:sp>
        <p:nvSpPr>
          <p:cNvPr id="26" name="Shape 26"/>
          <p:cNvSpPr/>
          <p:nvPr/>
        </p:nvSpPr>
        <p:spPr>
          <a:xfrm>
            <a:off x="411480" y="3035808"/>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411480" y="3090672"/>
            <a:ext cx="320040" cy="347472"/>
          </a:xfrm>
          <a:prstGeom prst="rect">
            <a:avLst/>
          </a:prstGeom>
          <a:noFill/>
        </p:spPr>
        <p:txBody>
          <a:bodyPr wrap="square" lIns="0" rIns="0" tIns="0" bIns="0" anchor="ctr">
            <a:spAutoFit/>
          </a:bodyPr>
          <a:lstStyle/>
          <a:p>
            <a:r>
              <a:rPr sz="1200" b="0" i="0">
                <a:solidFill>
                  <a:srgbClr val="00D6F2"/>
                </a:solidFill>
                <a:latin typeface="Trenda IG Text Light"/>
              </a:rPr>
              <a:t>03</a:t>
            </a:r>
          </a:p>
        </p:txBody>
      </p:sp>
      <p:sp>
        <p:nvSpPr>
          <p:cNvPr id="28" name="Text 28"/>
          <p:cNvSpPr txBox="1"/>
          <p:nvPr/>
        </p:nvSpPr>
        <p:spPr>
          <a:xfrm>
            <a:off x="758952" y="3090672"/>
            <a:ext cx="1097280" cy="347472"/>
          </a:xfrm>
          <a:prstGeom prst="rect">
            <a:avLst/>
          </a:prstGeom>
          <a:noFill/>
        </p:spPr>
        <p:txBody>
          <a:bodyPr wrap="square" lIns="0" rIns="0" tIns="0" bIns="0" anchor="ctr">
            <a:spAutoFit/>
          </a:bodyPr>
          <a:lstStyle/>
          <a:p>
            <a:r>
              <a:rPr sz="1100" b="1" i="0">
                <a:solidFill>
                  <a:srgbClr val="FFFFFF"/>
                </a:solidFill>
                <a:latin typeface="Trenda IG Text"/>
              </a:rPr>
              <a:t>Orchestration</a:t>
            </a:r>
          </a:p>
        </p:txBody>
      </p:sp>
      <p:sp>
        <p:nvSpPr>
          <p:cNvPr id="29" name="Text 29"/>
          <p:cNvSpPr txBox="1"/>
          <p:nvPr/>
        </p:nvSpPr>
        <p:spPr>
          <a:xfrm>
            <a:off x="2039112" y="3072384"/>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design the nine-step run</a:t>
            </a:r>
          </a:p>
          <a:p>
            <a:pPr>
              <a:spcAft>
                <a:spcPts val="200"/>
              </a:spcAft>
            </a:pPr>
            <a:r>
              <a:rPr sz="850" b="1" i="0">
                <a:solidFill>
                  <a:srgbClr val="00D6F2"/>
                </a:solidFill>
                <a:latin typeface="Trenda IG Text"/>
              </a:rPr>
              <a:t>Agents  </a:t>
            </a:r>
            <a:r>
              <a:rPr sz="850" b="0" i="0">
                <a:solidFill>
                  <a:srgbClr val="FFFFFF"/>
                </a:solidFill>
                <a:latin typeface="Trenda IG Text"/>
              </a:rPr>
              <a:t>suggest adding or skipping steps by risk</a:t>
            </a:r>
          </a:p>
        </p:txBody>
      </p:sp>
      <p:sp>
        <p:nvSpPr>
          <p:cNvPr id="30" name="Text 30"/>
          <p:cNvSpPr txBox="1"/>
          <p:nvPr/>
        </p:nvSpPr>
        <p:spPr>
          <a:xfrm>
            <a:off x="8028432" y="3090672"/>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plans its own workflow for each change</a:t>
            </a:r>
          </a:p>
        </p:txBody>
      </p:sp>
      <p:sp>
        <p:nvSpPr>
          <p:cNvPr id="31" name="Shape 31"/>
          <p:cNvSpPr/>
          <p:nvPr/>
        </p:nvSpPr>
        <p:spPr>
          <a:xfrm>
            <a:off x="411480" y="3474720"/>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411480" y="3529584"/>
            <a:ext cx="320040" cy="347472"/>
          </a:xfrm>
          <a:prstGeom prst="rect">
            <a:avLst/>
          </a:prstGeom>
          <a:noFill/>
        </p:spPr>
        <p:txBody>
          <a:bodyPr wrap="square" lIns="0" rIns="0" tIns="0" bIns="0" anchor="ctr">
            <a:spAutoFit/>
          </a:bodyPr>
          <a:lstStyle/>
          <a:p>
            <a:r>
              <a:rPr sz="1200" b="0" i="0">
                <a:solidFill>
                  <a:srgbClr val="00D6F2"/>
                </a:solidFill>
                <a:latin typeface="Trenda IG Text Light"/>
              </a:rPr>
              <a:t>04</a:t>
            </a:r>
          </a:p>
        </p:txBody>
      </p:sp>
      <p:sp>
        <p:nvSpPr>
          <p:cNvPr id="33" name="Text 33"/>
          <p:cNvSpPr txBox="1"/>
          <p:nvPr/>
        </p:nvSpPr>
        <p:spPr>
          <a:xfrm>
            <a:off x="758952" y="3529584"/>
            <a:ext cx="1097280" cy="347472"/>
          </a:xfrm>
          <a:prstGeom prst="rect">
            <a:avLst/>
          </a:prstGeom>
          <a:noFill/>
        </p:spPr>
        <p:txBody>
          <a:bodyPr wrap="square" lIns="0" rIns="0" tIns="0" bIns="0" anchor="ctr">
            <a:spAutoFit/>
          </a:bodyPr>
          <a:lstStyle/>
          <a:p>
            <a:r>
              <a:rPr sz="1100" b="1" i="0">
                <a:solidFill>
                  <a:srgbClr val="FFFFFF"/>
                </a:solidFill>
                <a:latin typeface="Trenda IG Text"/>
              </a:rPr>
              <a:t>Control</a:t>
            </a:r>
          </a:p>
        </p:txBody>
      </p:sp>
      <p:sp>
        <p:nvSpPr>
          <p:cNvPr id="34" name="Text 34"/>
          <p:cNvSpPr txBox="1"/>
          <p:nvPr/>
        </p:nvSpPr>
        <p:spPr>
          <a:xfrm>
            <a:off x="2039112" y="3511296"/>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write the Guardian rules and approve at H1-H4</a:t>
            </a:r>
          </a:p>
          <a:p>
            <a:pPr>
              <a:spcAft>
                <a:spcPts val="200"/>
              </a:spcAft>
            </a:pPr>
            <a:r>
              <a:rPr sz="850" b="1" i="0">
                <a:solidFill>
                  <a:srgbClr val="00D6F2"/>
                </a:solidFill>
                <a:latin typeface="Trenda IG Text"/>
              </a:rPr>
              <a:t>Agents  </a:t>
            </a:r>
            <a:r>
              <a:rPr sz="850" b="0" i="0">
                <a:solidFill>
                  <a:srgbClr val="FFFFFF"/>
                </a:solidFill>
                <a:latin typeface="Trenda IG Text"/>
              </a:rPr>
              <a:t>draft new rules from incidents for people to sign</a:t>
            </a:r>
          </a:p>
        </p:txBody>
      </p:sp>
      <p:sp>
        <p:nvSpPr>
          <p:cNvPr id="35" name="Text 35"/>
          <p:cNvSpPr txBox="1"/>
          <p:nvPr/>
        </p:nvSpPr>
        <p:spPr>
          <a:xfrm>
            <a:off x="8028432" y="3529584"/>
            <a:ext cx="3639311" cy="347472"/>
          </a:xfrm>
          <a:prstGeom prst="rect">
            <a:avLst/>
          </a:prstGeom>
          <a:noFill/>
        </p:spPr>
        <p:txBody>
          <a:bodyPr wrap="square" lIns="0" rIns="0" tIns="0" bIns="0" anchor="ctr">
            <a:spAutoFit/>
          </a:bodyPr>
          <a:lstStyle/>
          <a:p>
            <a:r>
              <a:rPr sz="850" b="1" i="0">
                <a:solidFill>
                  <a:srgbClr val="FFFFFF"/>
                </a:solidFill>
                <a:latin typeface="Trenda IG Text"/>
              </a:rPr>
              <a:t>The harness writes and tests its own rules</a:t>
            </a:r>
          </a:p>
        </p:txBody>
      </p:sp>
      <p:sp>
        <p:nvSpPr>
          <p:cNvPr id="36" name="Shape 36"/>
          <p:cNvSpPr/>
          <p:nvPr/>
        </p:nvSpPr>
        <p:spPr>
          <a:xfrm>
            <a:off x="411480" y="3913632"/>
            <a:ext cx="11365992" cy="5486"/>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411480" y="3968496"/>
            <a:ext cx="320040" cy="347472"/>
          </a:xfrm>
          <a:prstGeom prst="rect">
            <a:avLst/>
          </a:prstGeom>
          <a:noFill/>
        </p:spPr>
        <p:txBody>
          <a:bodyPr wrap="square" lIns="0" rIns="0" tIns="0" bIns="0" anchor="ctr">
            <a:spAutoFit/>
          </a:bodyPr>
          <a:lstStyle/>
          <a:p>
            <a:r>
              <a:rPr sz="1200" b="0" i="0">
                <a:solidFill>
                  <a:srgbClr val="00D6F2"/>
                </a:solidFill>
                <a:latin typeface="Trenda IG Text Light"/>
              </a:rPr>
              <a:t>05</a:t>
            </a:r>
          </a:p>
        </p:txBody>
      </p:sp>
      <p:sp>
        <p:nvSpPr>
          <p:cNvPr id="38" name="Text 38"/>
          <p:cNvSpPr txBox="1"/>
          <p:nvPr/>
        </p:nvSpPr>
        <p:spPr>
          <a:xfrm>
            <a:off x="758952" y="3968496"/>
            <a:ext cx="1097280" cy="347472"/>
          </a:xfrm>
          <a:prstGeom prst="rect">
            <a:avLst/>
          </a:prstGeom>
          <a:noFill/>
        </p:spPr>
        <p:txBody>
          <a:bodyPr wrap="square" lIns="0" rIns="0" tIns="0" bIns="0" anchor="ctr">
            <a:spAutoFit/>
          </a:bodyPr>
          <a:lstStyle/>
          <a:p>
            <a:r>
              <a:rPr sz="1100" b="1" i="0">
                <a:solidFill>
                  <a:srgbClr val="FFFFFF"/>
                </a:solidFill>
                <a:latin typeface="Trenda IG Text"/>
              </a:rPr>
              <a:t>Feedback</a:t>
            </a:r>
          </a:p>
        </p:txBody>
      </p:sp>
      <p:sp>
        <p:nvSpPr>
          <p:cNvPr id="39" name="Text 39"/>
          <p:cNvSpPr txBox="1"/>
          <p:nvPr/>
        </p:nvSpPr>
        <p:spPr>
          <a:xfrm>
            <a:off x="2039112" y="3950208"/>
            <a:ext cx="5440680" cy="365759"/>
          </a:xfrm>
          <a:prstGeom prst="rect">
            <a:avLst/>
          </a:prstGeom>
          <a:noFill/>
        </p:spPr>
        <p:txBody>
          <a:bodyPr wrap="square" lIns="0" rIns="0" tIns="0" bIns="0" anchor="ctr">
            <a:spAutoFit/>
          </a:bodyPr>
          <a:lstStyle/>
          <a:p>
            <a:pPr>
              <a:spcAft>
                <a:spcPts val="200"/>
              </a:spcAft>
            </a:pPr>
            <a:r>
              <a:rPr sz="850" b="1" i="0">
                <a:solidFill>
                  <a:srgbClr val="F5A623"/>
                </a:solidFill>
                <a:latin typeface="Trenda IG Text"/>
              </a:rPr>
              <a:t>People  </a:t>
            </a:r>
            <a:r>
              <a:rPr sz="850" b="0" i="0">
                <a:solidFill>
                  <a:srgbClr val="FFFFFF"/>
                </a:solidFill>
                <a:latin typeface="Trenda IG Text"/>
              </a:rPr>
              <a:t>review results and approve every fix</a:t>
            </a:r>
          </a:p>
          <a:p>
            <a:pPr>
              <a:spcAft>
                <a:spcPts val="200"/>
              </a:spcAft>
            </a:pPr>
            <a:r>
              <a:rPr sz="850" b="1" i="0">
                <a:solidFill>
                  <a:srgbClr val="00D6F2"/>
                </a:solidFill>
                <a:latin typeface="Trenda IG Text"/>
              </a:rPr>
              <a:t>Agents  </a:t>
            </a:r>
            <a:r>
              <a:rPr sz="850" b="0" i="0">
                <a:solidFill>
                  <a:srgbClr val="FFFFFF"/>
                </a:solidFill>
                <a:latin typeface="Trenda IG Text"/>
              </a:rPr>
              <a:t>run the evaluation set and propose their own fixes</a:t>
            </a:r>
          </a:p>
        </p:txBody>
      </p:sp>
      <p:sp>
        <p:nvSpPr>
          <p:cNvPr id="40" name="Text 40"/>
          <p:cNvSpPr txBox="1"/>
          <p:nvPr/>
        </p:nvSpPr>
        <p:spPr>
          <a:xfrm>
            <a:off x="8028432" y="3968496"/>
            <a:ext cx="3639311" cy="347472"/>
          </a:xfrm>
          <a:prstGeom prst="rect">
            <a:avLst/>
          </a:prstGeom>
          <a:noFill/>
        </p:spPr>
        <p:txBody>
          <a:bodyPr wrap="square" lIns="0" rIns="0" tIns="0" bIns="0" anchor="ctr">
            <a:spAutoFit/>
          </a:bodyPr>
          <a:lstStyle/>
          <a:p>
            <a:r>
              <a:rPr sz="850" b="1" i="0">
                <a:solidFill>
                  <a:srgbClr val="FFFFFF"/>
                </a:solidFill>
                <a:latin typeface="Trenda IG Text"/>
              </a:rPr>
              <a:t>Continuous self-evaluation and self-repair</a:t>
            </a:r>
          </a:p>
        </p:txBody>
      </p:sp>
      <p:sp>
        <p:nvSpPr>
          <p:cNvPr id="41" name="Differentiator Border 42"/>
          <p:cNvSpPr/>
          <p:nvPr/>
        </p:nvSpPr>
        <p:spPr>
          <a:xfrm>
            <a:off x="411480" y="4498848"/>
            <a:ext cx="11365992" cy="10789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3"/>
          <p:cNvSpPr/>
          <p:nvPr/>
        </p:nvSpPr>
        <p:spPr>
          <a:xfrm>
            <a:off x="452628" y="4539996"/>
            <a:ext cx="11283696" cy="996695"/>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81228" y="4686300"/>
            <a:ext cx="2286000" cy="310896"/>
          </a:xfrm>
          <a:prstGeom prst="rect">
            <a:avLst/>
          </a:prstGeom>
          <a:noFill/>
        </p:spPr>
        <p:txBody>
          <a:bodyPr wrap="square" lIns="0" rIns="0" tIns="0" bIns="0" anchor="ctr">
            <a:spAutoFit/>
          </a:bodyPr>
          <a:lstStyle/>
          <a:p>
            <a:r>
              <a:rPr sz="1400" b="1" i="0" spc="100">
                <a:solidFill>
                  <a:srgbClr val="FFFFFF"/>
                </a:solidFill>
                <a:latin typeface="Trenda IG Text"/>
              </a:rPr>
              <a:t>HOW WE TRUST </a:t>
            </a:r>
            <a:r>
              <a:rPr sz="1400" b="1" i="0" spc="100">
                <a:solidFill>
                  <a:srgbClr val="FFD700"/>
                </a:solidFill>
                <a:latin typeface="Trenda IG Text"/>
              </a:rPr>
              <a:t>AGI</a:t>
            </a:r>
          </a:p>
        </p:txBody>
      </p:sp>
      <p:sp>
        <p:nvSpPr>
          <p:cNvPr id="44" name="Text 45"/>
          <p:cNvSpPr txBox="1"/>
          <p:nvPr/>
        </p:nvSpPr>
        <p:spPr>
          <a:xfrm>
            <a:off x="681228" y="5015483"/>
            <a:ext cx="2240280" cy="603504"/>
          </a:xfrm>
          <a:prstGeom prst="rect">
            <a:avLst/>
          </a:prstGeom>
          <a:noFill/>
        </p:spPr>
        <p:txBody>
          <a:bodyPr wrap="square" lIns="0" rIns="0" tIns="0" bIns="0" anchor="t">
            <a:spAutoFit/>
          </a:bodyPr>
          <a:lstStyle/>
          <a:p>
            <a:r>
              <a:rPr sz="850" b="0" i="0">
                <a:solidFill>
                  <a:srgbClr val="BFBFBF"/>
                </a:solidFill>
                <a:latin typeface="Trenda IG Text"/>
              </a:rPr>
              <a:t>Trust is earned with evidence, not assumed. AGI is held to the same tests and records as people, applied every time.</a:t>
            </a:r>
          </a:p>
        </p:txBody>
      </p:sp>
      <p:sp>
        <p:nvSpPr>
          <p:cNvPr id="45" name="Shape 46"/>
          <p:cNvSpPr/>
          <p:nvPr/>
        </p:nvSpPr>
        <p:spPr>
          <a:xfrm>
            <a:off x="3040380"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3168396"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1  </a:t>
            </a:r>
            <a:r>
              <a:rPr sz="1000" b="1" i="0">
                <a:solidFill>
                  <a:srgbClr val="FFFFFF"/>
                </a:solidFill>
                <a:latin typeface="Trenda IG Text"/>
              </a:rPr>
              <a:t>Earned step by step</a:t>
            </a:r>
          </a:p>
        </p:txBody>
      </p:sp>
      <p:sp>
        <p:nvSpPr>
          <p:cNvPr id="47" name="Text 48"/>
          <p:cNvSpPr txBox="1"/>
          <p:nvPr/>
        </p:nvSpPr>
        <p:spPr>
          <a:xfrm>
            <a:off x="3168396"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Autonomy grows one pillar at a time, only after the evaluation set proves it safe.</a:t>
            </a:r>
          </a:p>
        </p:txBody>
      </p:sp>
      <p:sp>
        <p:nvSpPr>
          <p:cNvPr id="48" name="Shape 49"/>
          <p:cNvSpPr/>
          <p:nvPr/>
        </p:nvSpPr>
        <p:spPr>
          <a:xfrm>
            <a:off x="5141214"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5269229"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2  </a:t>
            </a:r>
            <a:r>
              <a:rPr sz="1000" b="1" i="0">
                <a:solidFill>
                  <a:srgbClr val="FFFFFF"/>
                </a:solidFill>
                <a:latin typeface="Trenda IG Text"/>
              </a:rPr>
              <a:t>Every action on record</a:t>
            </a:r>
          </a:p>
        </p:txBody>
      </p:sp>
      <p:sp>
        <p:nvSpPr>
          <p:cNvPr id="50" name="Text 51"/>
          <p:cNvSpPr txBox="1"/>
          <p:nvPr/>
        </p:nvSpPr>
        <p:spPr>
          <a:xfrm>
            <a:off x="5269229" y="5015483"/>
            <a:ext cx="1917953" cy="603504"/>
          </a:xfrm>
          <a:prstGeom prst="rect">
            <a:avLst/>
          </a:prstGeom>
          <a:noFill/>
        </p:spPr>
        <p:txBody>
          <a:bodyPr wrap="square" lIns="0" rIns="0" tIns="0" bIns="0" anchor="t">
            <a:spAutoFit/>
          </a:bodyPr>
          <a:lstStyle/>
          <a:p>
            <a:r>
              <a:rPr sz="850" b="0" i="0">
                <a:solidFill>
                  <a:srgbClr val="BFBFBF"/>
                </a:solidFill>
                <a:latin typeface="Trenda IG Text"/>
              </a:rPr>
              <a:t>The change passport shows what it did, why, and on which evidence: anyone can audit it.</a:t>
            </a:r>
          </a:p>
        </p:txBody>
      </p:sp>
      <p:sp>
        <p:nvSpPr>
          <p:cNvPr id="51" name="Shape 52"/>
          <p:cNvSpPr/>
          <p:nvPr/>
        </p:nvSpPr>
        <p:spPr>
          <a:xfrm>
            <a:off x="7242047"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3"/>
          <p:cNvSpPr txBox="1"/>
          <p:nvPr/>
        </p:nvSpPr>
        <p:spPr>
          <a:xfrm>
            <a:off x="7370063"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3  </a:t>
            </a:r>
            <a:r>
              <a:rPr sz="1000" b="1" i="0">
                <a:solidFill>
                  <a:srgbClr val="FFFFFF"/>
                </a:solidFill>
                <a:latin typeface="Trenda IG Text"/>
              </a:rPr>
              <a:t>Hard limits it cannot change</a:t>
            </a:r>
          </a:p>
        </p:txBody>
      </p:sp>
      <p:sp>
        <p:nvSpPr>
          <p:cNvPr id="53" name="Text 54"/>
          <p:cNvSpPr txBox="1"/>
          <p:nvPr/>
        </p:nvSpPr>
        <p:spPr>
          <a:xfrm>
            <a:off x="7370063" y="5015483"/>
            <a:ext cx="1917953" cy="603504"/>
          </a:xfrm>
          <a:prstGeom prst="rect">
            <a:avLst/>
          </a:prstGeom>
          <a:noFill/>
        </p:spPr>
        <p:txBody>
          <a:bodyPr wrap="square" lIns="0" rIns="0" tIns="0" bIns="0" anchor="t">
            <a:spAutoFit/>
          </a:bodyPr>
          <a:lstStyle/>
          <a:p>
            <a:r>
              <a:rPr sz="850" b="0" i="0">
                <a:solidFill>
                  <a:srgbClr val="BFBFBF"/>
                </a:solidFill>
                <a:latin typeface="Trenda IG Text"/>
              </a:rPr>
              <a:t>No production credential; patient-data rules and Ascension's goals stay fixed.</a:t>
            </a:r>
          </a:p>
        </p:txBody>
      </p:sp>
      <p:sp>
        <p:nvSpPr>
          <p:cNvPr id="54" name="Shape 55"/>
          <p:cNvSpPr/>
          <p:nvPr/>
        </p:nvSpPr>
        <p:spPr>
          <a:xfrm>
            <a:off x="9342882" y="4722876"/>
            <a:ext cx="7315" cy="63093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6"/>
          <p:cNvSpPr txBox="1"/>
          <p:nvPr/>
        </p:nvSpPr>
        <p:spPr>
          <a:xfrm>
            <a:off x="9470898" y="4686300"/>
            <a:ext cx="1917953" cy="274320"/>
          </a:xfrm>
          <a:prstGeom prst="rect">
            <a:avLst/>
          </a:prstGeom>
          <a:noFill/>
        </p:spPr>
        <p:txBody>
          <a:bodyPr wrap="square" lIns="0" rIns="0" tIns="0" bIns="0" anchor="ctr">
            <a:spAutoFit/>
          </a:bodyPr>
          <a:lstStyle/>
          <a:p>
            <a:r>
              <a:rPr sz="1000" b="1" i="0">
                <a:solidFill>
                  <a:srgbClr val="00D6F2"/>
                </a:solidFill>
                <a:latin typeface="Trenda IG Text Light"/>
              </a:rPr>
              <a:t>4  </a:t>
            </a:r>
            <a:r>
              <a:rPr sz="1000" b="1" i="0">
                <a:solidFill>
                  <a:srgbClr val="FFFFFF"/>
                </a:solidFill>
                <a:latin typeface="Trenda IG Text"/>
              </a:rPr>
              <a:t>People can always stop it</a:t>
            </a:r>
          </a:p>
        </p:txBody>
      </p:sp>
      <p:sp>
        <p:nvSpPr>
          <p:cNvPr id="56" name="Text 57"/>
          <p:cNvSpPr txBox="1"/>
          <p:nvPr/>
        </p:nvSpPr>
        <p:spPr>
          <a:xfrm>
            <a:off x="9470898" y="5015483"/>
            <a:ext cx="1917953" cy="603504"/>
          </a:xfrm>
          <a:prstGeom prst="rect">
            <a:avLst/>
          </a:prstGeom>
          <a:noFill/>
        </p:spPr>
        <p:txBody>
          <a:bodyPr wrap="square" lIns="0" rIns="0" tIns="0" bIns="0" anchor="t">
            <a:spAutoFit/>
          </a:bodyPr>
          <a:lstStyle/>
          <a:p>
            <a:r>
              <a:rPr sz="850" b="0" i="0">
                <a:solidFill>
                  <a:srgbClr val="BFBFBF"/>
                </a:solidFill>
                <a:latin typeface="Trenda IG Text"/>
              </a:rPr>
              <a:t>Any run can be paused and any change rolled back; CAB keeps the final say.</a:t>
            </a:r>
          </a:p>
        </p:txBody>
      </p:sp>
      <p:sp>
        <p:nvSpPr>
          <p:cNvPr id="57" name="Shape 58"/>
          <p:cNvSpPr/>
          <p:nvPr/>
        </p:nvSpPr>
        <p:spPr>
          <a:xfrm>
            <a:off x="411480" y="5650992"/>
            <a:ext cx="11365992" cy="347472"/>
          </a:xfrm>
          <a:prstGeom prst="roundRect">
            <a:avLst>
              <a:gd name="adj" fmla="val 3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9"/>
          <p:cNvSpPr txBox="1"/>
          <p:nvPr/>
        </p:nvSpPr>
        <p:spPr>
          <a:xfrm>
            <a:off x="640080" y="5650992"/>
            <a:ext cx="2194560" cy="347472"/>
          </a:xfrm>
          <a:prstGeom prst="rect">
            <a:avLst/>
          </a:prstGeom>
          <a:noFill/>
        </p:spPr>
        <p:txBody>
          <a:bodyPr wrap="square" lIns="0" rIns="0" tIns="0" bIns="0" anchor="ctr">
            <a:spAutoFit/>
          </a:bodyPr>
          <a:lstStyle/>
          <a:p>
            <a:r>
              <a:rPr sz="750" b="1" i="0" spc="200">
                <a:solidFill>
                  <a:srgbClr val="FF0069"/>
                </a:solidFill>
                <a:latin typeface="Trenda IG Text"/>
              </a:rPr>
              <a:t>WHAT NEVER CHANGES</a:t>
            </a:r>
          </a:p>
        </p:txBody>
      </p:sp>
      <p:sp>
        <p:nvSpPr>
          <p:cNvPr id="59" name="Text 60"/>
          <p:cNvSpPr txBox="1"/>
          <p:nvPr/>
        </p:nvSpPr>
        <p:spPr>
          <a:xfrm>
            <a:off x="2788920" y="5650992"/>
            <a:ext cx="8759952" cy="347472"/>
          </a:xfrm>
          <a:prstGeom prst="rect">
            <a:avLst/>
          </a:prstGeom>
          <a:noFill/>
        </p:spPr>
        <p:txBody>
          <a:bodyPr wrap="square" lIns="0" rIns="0" tIns="0" bIns="0" anchor="ctr">
            <a:spAutoFit/>
          </a:bodyPr>
          <a:lstStyle/>
          <a:p>
            <a:r>
              <a:rPr sz="1000" b="1" i="0">
                <a:solidFill>
                  <a:srgbClr val="FFFFFF"/>
                </a:solidFill>
                <a:latin typeface="Trenda IG Text"/>
              </a:rPr>
              <a:t>Ascension sets the goals and the limits, keeps the final say on production, </a:t>
            </a:r>
            <a:r>
              <a:rPr sz="1000" b="0" i="0">
                <a:solidFill>
                  <a:srgbClr val="BFBFBF"/>
                </a:solidFill>
                <a:latin typeface="Trenda IG Text"/>
              </a:rPr>
              <a:t>and can see and stop any run.</a:t>
            </a:r>
          </a:p>
        </p:txBody>
      </p:sp>
      <p:sp>
        <p:nvSpPr>
          <p:cNvPr id="60" name="Text 61"/>
          <p:cNvSpPr txBox="1"/>
          <p:nvPr/>
        </p:nvSpPr>
        <p:spPr>
          <a:xfrm>
            <a:off x="411480" y="6035040"/>
            <a:ext cx="11365992" cy="274320"/>
          </a:xfrm>
          <a:prstGeom prst="rect">
            <a:avLst/>
          </a:prstGeom>
          <a:noFill/>
        </p:spPr>
        <p:txBody>
          <a:bodyPr wrap="square" lIns="0" rIns="0" tIns="0" bIns="0" anchor="t">
            <a:spAutoFit/>
          </a:bodyPr>
          <a:lstStyle/>
          <a:p>
            <a:r>
              <a:rPr sz="650" b="0" i="0">
                <a:solidFill>
                  <a:srgbClr val="BFBFBF"/>
                </a:solidFill>
                <a:latin typeface="Trenda IG Text"/>
              </a:rPr>
              <a:t>The AGI (Artificial General Intelligence) column is a direction, not a commitment in this proposal. Each step up in autonomy is approved by Ascension. Today's harness already records the evidence the next stage is judged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CLOSED-LOOP EVALS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Closed-loop evals: every attempt bounded, every miss makes it better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Offline tests and live results feed one loop. No step runs forever: after 5 attempts it stops and a named owner takes over.</a:t>
            </a:r>
          </a:p>
        </p:txBody>
      </p:sp>
      <p:sp>
        <p:nvSpPr>
          <p:cNvPr id="5" name="Shape 4"/>
          <p:cNvSpPr/>
          <p:nvPr/>
        </p:nvSpPr>
        <p:spPr>
          <a:xfrm>
            <a:off x="457200"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66928"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1</a:t>
            </a:r>
          </a:p>
        </p:txBody>
      </p:sp>
      <p:sp>
        <p:nvSpPr>
          <p:cNvPr id="7" name="Text 6"/>
          <p:cNvSpPr txBox="1"/>
          <p:nvPr/>
        </p:nvSpPr>
        <p:spPr>
          <a:xfrm>
            <a:off x="859536"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Golden set</a:t>
            </a:r>
          </a:p>
        </p:txBody>
      </p:sp>
      <p:sp>
        <p:nvSpPr>
          <p:cNvPr id="8" name="Text 7"/>
          <p:cNvSpPr txBox="1"/>
          <p:nvPr/>
        </p:nvSpPr>
        <p:spPr>
          <a:xfrm>
            <a:off x="585216"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Past Ascension changes labelled by your experts against a written rubric: every pod, cloud, change type and risk level.</a:t>
            </a:r>
          </a:p>
        </p:txBody>
      </p:sp>
      <p:sp>
        <p:nvSpPr>
          <p:cNvPr id="9" name="Shape 8"/>
          <p:cNvSpPr/>
          <p:nvPr/>
        </p:nvSpPr>
        <p:spPr>
          <a:xfrm>
            <a:off x="2706624" y="1280160"/>
            <a:ext cx="2011680" cy="1481328"/>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2816352" y="1353312"/>
            <a:ext cx="292608" cy="256032"/>
          </a:xfrm>
          <a:prstGeom prst="rect">
            <a:avLst/>
          </a:prstGeom>
          <a:noFill/>
        </p:spPr>
        <p:txBody>
          <a:bodyPr wrap="square" lIns="0" rIns="0" tIns="0" bIns="0" anchor="ctr">
            <a:spAutoFit/>
          </a:bodyPr>
          <a:lstStyle/>
          <a:p>
            <a:r>
              <a:rPr sz="1300" b="0" i="0">
                <a:solidFill>
                  <a:srgbClr val="00D6F2"/>
                </a:solidFill>
                <a:latin typeface="Trenda IG Text Light"/>
              </a:rPr>
              <a:t>2</a:t>
            </a:r>
          </a:p>
        </p:txBody>
      </p:sp>
      <p:sp>
        <p:nvSpPr>
          <p:cNvPr id="11" name="Text 10"/>
          <p:cNvSpPr txBox="1"/>
          <p:nvPr/>
        </p:nvSpPr>
        <p:spPr>
          <a:xfrm>
            <a:off x="3108960" y="1353312"/>
            <a:ext cx="1536192" cy="256032"/>
          </a:xfrm>
          <a:prstGeom prst="rect">
            <a:avLst/>
          </a:prstGeom>
          <a:noFill/>
        </p:spPr>
        <p:txBody>
          <a:bodyPr wrap="square" lIns="0" rIns="0" tIns="0" bIns="0" anchor="ctr">
            <a:spAutoFit/>
          </a:bodyPr>
          <a:lstStyle/>
          <a:p>
            <a:r>
              <a:rPr sz="1050" b="1" i="0">
                <a:solidFill>
                  <a:srgbClr val="FFFFFF"/>
                </a:solidFill>
                <a:latin typeface="Trenda IG Text"/>
              </a:rPr>
              <a:t>Offline gate</a:t>
            </a:r>
          </a:p>
        </p:txBody>
      </p:sp>
      <p:sp>
        <p:nvSpPr>
          <p:cNvPr id="12" name="Text 11"/>
          <p:cNvSpPr txBox="1"/>
          <p:nvPr/>
        </p:nvSpPr>
        <p:spPr>
          <a:xfrm>
            <a:off x="2834640" y="1664207"/>
            <a:ext cx="1773936" cy="1060704"/>
          </a:xfrm>
          <a:prstGeom prst="rect">
            <a:avLst/>
          </a:prstGeom>
          <a:noFill/>
        </p:spPr>
        <p:txBody>
          <a:bodyPr wrap="square" lIns="0" rIns="0" tIns="0" bIns="0" anchor="t">
            <a:spAutoFit/>
          </a:bodyPr>
          <a:lstStyle/>
          <a:p>
            <a:r>
              <a:rPr sz="750" b="0" i="0">
                <a:solidFill>
                  <a:srgbClr val="BFBFBF"/>
                </a:solidFill>
                <a:latin typeface="Trenda IG Text"/>
              </a:rPr>
              <a:t>No prompt, skill or model change goes live unless it passes: per-agent scores, pass@1 to pass@5.</a:t>
            </a:r>
          </a:p>
        </p:txBody>
      </p:sp>
      <p:sp>
        <p:nvSpPr>
          <p:cNvPr id="13" name="Differentiator Border 13"/>
          <p:cNvSpPr/>
          <p:nvPr/>
        </p:nvSpPr>
        <p:spPr>
          <a:xfrm>
            <a:off x="4956048" y="1280160"/>
            <a:ext cx="2011680" cy="14813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4"/>
          <p:cNvSpPr/>
          <p:nvPr/>
        </p:nvSpPr>
        <p:spPr>
          <a:xfrm>
            <a:off x="4992624" y="1316736"/>
            <a:ext cx="1938528" cy="14081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5"/>
          <p:cNvSpPr txBox="1"/>
          <p:nvPr/>
        </p:nvSpPr>
        <p:spPr>
          <a:xfrm>
            <a:off x="5102352" y="13898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3</a:t>
            </a:r>
          </a:p>
        </p:txBody>
      </p:sp>
      <p:sp>
        <p:nvSpPr>
          <p:cNvPr id="16" name="Text 16"/>
          <p:cNvSpPr txBox="1"/>
          <p:nvPr/>
        </p:nvSpPr>
        <p:spPr>
          <a:xfrm>
            <a:off x="5394960" y="1389888"/>
            <a:ext cx="1463040" cy="256032"/>
          </a:xfrm>
          <a:prstGeom prst="rect">
            <a:avLst/>
          </a:prstGeom>
          <a:noFill/>
        </p:spPr>
        <p:txBody>
          <a:bodyPr wrap="square" lIns="0" rIns="0" tIns="0" bIns="0" anchor="ctr">
            <a:spAutoFit/>
          </a:bodyPr>
          <a:lstStyle/>
          <a:p>
            <a:r>
              <a:rPr sz="1050" b="1" i="0">
                <a:solidFill>
                  <a:srgbClr val="FFFFFF"/>
                </a:solidFill>
                <a:latin typeface="Trenda IG Text"/>
              </a:rPr>
              <a:t>Guarded run</a:t>
            </a:r>
          </a:p>
        </p:txBody>
      </p:sp>
      <p:sp>
        <p:nvSpPr>
          <p:cNvPr id="17" name="Text 17"/>
          <p:cNvSpPr txBox="1"/>
          <p:nvPr/>
        </p:nvSpPr>
        <p:spPr>
          <a:xfrm>
            <a:off x="5120640" y="1682495"/>
            <a:ext cx="1700784" cy="274320"/>
          </a:xfrm>
          <a:prstGeom prst="rect">
            <a:avLst/>
          </a:prstGeom>
          <a:noFill/>
        </p:spPr>
        <p:txBody>
          <a:bodyPr wrap="square" lIns="0" rIns="0" tIns="0" bIns="0" anchor="t">
            <a:spAutoFit/>
          </a:bodyPr>
          <a:lstStyle/>
          <a:p>
            <a:r>
              <a:rPr sz="750" b="0" i="0">
                <a:solidFill>
                  <a:srgbClr val="BFBFBF"/>
                </a:solidFill>
                <a:latin typeface="Trenda IG Text"/>
              </a:rPr>
              <a:t>Every step checked; at most 5 attempts</a:t>
            </a:r>
          </a:p>
        </p:txBody>
      </p:sp>
      <p:sp>
        <p:nvSpPr>
          <p:cNvPr id="18" name="Shape 18"/>
          <p:cNvSpPr/>
          <p:nvPr/>
        </p:nvSpPr>
        <p:spPr>
          <a:xfrm>
            <a:off x="5138928"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9"/>
          <p:cNvSpPr txBox="1"/>
          <p:nvPr/>
        </p:nvSpPr>
        <p:spPr>
          <a:xfrm>
            <a:off x="5138928"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1</a:t>
            </a:r>
          </a:p>
        </p:txBody>
      </p:sp>
      <p:sp>
        <p:nvSpPr>
          <p:cNvPr id="20" name="Shape 20"/>
          <p:cNvSpPr/>
          <p:nvPr/>
        </p:nvSpPr>
        <p:spPr>
          <a:xfrm>
            <a:off x="5486400"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1"/>
          <p:cNvSpPr txBox="1"/>
          <p:nvPr/>
        </p:nvSpPr>
        <p:spPr>
          <a:xfrm>
            <a:off x="5486400"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2</a:t>
            </a:r>
          </a:p>
        </p:txBody>
      </p:sp>
      <p:sp>
        <p:nvSpPr>
          <p:cNvPr id="22" name="Shape 22"/>
          <p:cNvSpPr/>
          <p:nvPr/>
        </p:nvSpPr>
        <p:spPr>
          <a:xfrm>
            <a:off x="5833872"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833872"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3</a:t>
            </a:r>
          </a:p>
        </p:txBody>
      </p:sp>
      <p:sp>
        <p:nvSpPr>
          <p:cNvPr id="24" name="Shape 24"/>
          <p:cNvSpPr/>
          <p:nvPr/>
        </p:nvSpPr>
        <p:spPr>
          <a:xfrm>
            <a:off x="6181344" y="1993391"/>
            <a:ext cx="256032" cy="256032"/>
          </a:xfrm>
          <a:prstGeom prst="ellipse">
            <a:avLst/>
          </a:prstGeom>
          <a:no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181344"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4</a:t>
            </a:r>
          </a:p>
        </p:txBody>
      </p:sp>
      <p:sp>
        <p:nvSpPr>
          <p:cNvPr id="26" name="Shape 26"/>
          <p:cNvSpPr/>
          <p:nvPr/>
        </p:nvSpPr>
        <p:spPr>
          <a:xfrm>
            <a:off x="6528816" y="1993391"/>
            <a:ext cx="256032" cy="256032"/>
          </a:xfrm>
          <a:prstGeom prst="ellipse">
            <a:avLst/>
          </a:prstGeom>
          <a:solidFill>
            <a:srgbClr val="FF0069"/>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6528816" y="1993391"/>
            <a:ext cx="256032" cy="256032"/>
          </a:xfrm>
          <a:prstGeom prst="rect">
            <a:avLst/>
          </a:prstGeom>
          <a:noFill/>
        </p:spPr>
        <p:txBody>
          <a:bodyPr wrap="square" lIns="0" rIns="0" tIns="0" bIns="0" anchor="ctr">
            <a:spAutoFit/>
          </a:bodyPr>
          <a:lstStyle/>
          <a:p>
            <a:pPr algn="ctr"/>
            <a:r>
              <a:rPr sz="800" b="1" i="0">
                <a:solidFill>
                  <a:srgbClr val="FFFFFF"/>
                </a:solidFill>
                <a:latin typeface="Trenda IG Text"/>
              </a:rPr>
              <a:t>5</a:t>
            </a:r>
          </a:p>
        </p:txBody>
      </p:sp>
      <p:sp>
        <p:nvSpPr>
          <p:cNvPr id="28" name="Text 28"/>
          <p:cNvSpPr txBox="1"/>
          <p:nvPr/>
        </p:nvSpPr>
        <p:spPr>
          <a:xfrm>
            <a:off x="5120640" y="2304288"/>
            <a:ext cx="1700784" cy="384048"/>
          </a:xfrm>
          <a:prstGeom prst="rect">
            <a:avLst/>
          </a:prstGeom>
          <a:noFill/>
        </p:spPr>
        <p:txBody>
          <a:bodyPr wrap="square" lIns="0" rIns="0" tIns="0" bIns="0" anchor="t">
            <a:spAutoFit/>
          </a:bodyPr>
          <a:lstStyle/>
          <a:p>
            <a:r>
              <a:rPr sz="750" b="1" i="0">
                <a:solidFill>
                  <a:srgbClr val="FFD700"/>
                </a:solidFill>
                <a:latin typeface="Trenda IG Text"/>
              </a:rPr>
              <a:t>STOP: </a:t>
            </a:r>
            <a:r>
              <a:rPr sz="750" b="0" i="0">
                <a:solidFill>
                  <a:srgbClr val="FFFFFF"/>
                </a:solidFill>
                <a:latin typeface="Trenda IG Text"/>
              </a:rPr>
              <a:t>nothing released; the owner gets every attempt in Jira.</a:t>
            </a:r>
          </a:p>
        </p:txBody>
      </p:sp>
      <p:sp>
        <p:nvSpPr>
          <p:cNvPr id="29" name="Shape 29"/>
          <p:cNvSpPr/>
          <p:nvPr/>
        </p:nvSpPr>
        <p:spPr>
          <a:xfrm>
            <a:off x="4956048"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30"/>
          <p:cNvSpPr txBox="1"/>
          <p:nvPr/>
        </p:nvSpPr>
        <p:spPr>
          <a:xfrm>
            <a:off x="5065776"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4</a:t>
            </a:r>
          </a:p>
        </p:txBody>
      </p:sp>
      <p:sp>
        <p:nvSpPr>
          <p:cNvPr id="31" name="Text 31"/>
          <p:cNvSpPr txBox="1"/>
          <p:nvPr/>
        </p:nvSpPr>
        <p:spPr>
          <a:xfrm>
            <a:off x="5358384"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Sample + label</a:t>
            </a:r>
          </a:p>
        </p:txBody>
      </p:sp>
      <p:sp>
        <p:nvSpPr>
          <p:cNvPr id="32" name="Text 32"/>
          <p:cNvSpPr txBox="1"/>
          <p:nvPr/>
        </p:nvSpPr>
        <p:spPr>
          <a:xfrm>
            <a:off x="5084064" y="4443984"/>
            <a:ext cx="1773936" cy="822960"/>
          </a:xfrm>
          <a:prstGeom prst="rect">
            <a:avLst/>
          </a:prstGeom>
          <a:noFill/>
        </p:spPr>
        <p:txBody>
          <a:bodyPr wrap="square" lIns="0" rIns="0" tIns="0" bIns="0" anchor="t">
            <a:spAutoFit/>
          </a:bodyPr>
          <a:lstStyle/>
          <a:p>
            <a:r>
              <a:rPr sz="750" b="0" i="0">
                <a:solidFill>
                  <a:srgbClr val="BFBFBF"/>
                </a:solidFill>
                <a:latin typeface="Trenda IG Text"/>
              </a:rPr>
              <a:t>Each week a sample of approved changes is re-reviewed blind by Ascension experts, same rubric.</a:t>
            </a:r>
          </a:p>
        </p:txBody>
      </p:sp>
      <p:sp>
        <p:nvSpPr>
          <p:cNvPr id="33" name="Shape 33"/>
          <p:cNvSpPr/>
          <p:nvPr/>
        </p:nvSpPr>
        <p:spPr>
          <a:xfrm>
            <a:off x="2706624"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2816352"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5</a:t>
            </a:r>
          </a:p>
        </p:txBody>
      </p:sp>
      <p:sp>
        <p:nvSpPr>
          <p:cNvPr id="35" name="Text 35"/>
          <p:cNvSpPr txBox="1"/>
          <p:nvPr/>
        </p:nvSpPr>
        <p:spPr>
          <a:xfrm>
            <a:off x="3108960"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Diagnose</a:t>
            </a:r>
          </a:p>
        </p:txBody>
      </p:sp>
      <p:sp>
        <p:nvSpPr>
          <p:cNvPr id="36" name="Text 36"/>
          <p:cNvSpPr txBox="1"/>
          <p:nvPr/>
        </p:nvSpPr>
        <p:spPr>
          <a:xfrm>
            <a:off x="2834640" y="4443984"/>
            <a:ext cx="1773936" cy="822960"/>
          </a:xfrm>
          <a:prstGeom prst="rect">
            <a:avLst/>
          </a:prstGeom>
          <a:noFill/>
        </p:spPr>
        <p:txBody>
          <a:bodyPr wrap="square" lIns="0" rIns="0" tIns="0" bIns="0" anchor="t">
            <a:spAutoFit/>
          </a:bodyPr>
          <a:lstStyle/>
          <a:p>
            <a:r>
              <a:rPr sz="750" b="0" i="0">
                <a:solidFill>
                  <a:srgbClr val="BFBFBF"/>
                </a:solidFill>
                <a:latin typeface="Trenda IG Text"/>
              </a:rPr>
              <a:t>A diagnoser run pins each miss to the agent, step or missing context that caused it.</a:t>
            </a:r>
          </a:p>
        </p:txBody>
      </p:sp>
      <p:sp>
        <p:nvSpPr>
          <p:cNvPr id="37" name="Shape 37"/>
          <p:cNvSpPr/>
          <p:nvPr/>
        </p:nvSpPr>
        <p:spPr>
          <a:xfrm>
            <a:off x="457200" y="4059936"/>
            <a:ext cx="2011680" cy="1243584"/>
          </a:xfrm>
          <a:prstGeom prst="roundRect">
            <a:avLst>
              <a:gd name="adj" fmla="val 6000"/>
            </a:avLst>
          </a:prstGeom>
          <a:solidFill>
            <a:srgbClr val="000000">
              <a:alpha val="55000"/>
            </a:srgbClr>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8"/>
          <p:cNvSpPr txBox="1"/>
          <p:nvPr/>
        </p:nvSpPr>
        <p:spPr>
          <a:xfrm>
            <a:off x="566928" y="4133088"/>
            <a:ext cx="292608" cy="256032"/>
          </a:xfrm>
          <a:prstGeom prst="rect">
            <a:avLst/>
          </a:prstGeom>
          <a:noFill/>
        </p:spPr>
        <p:txBody>
          <a:bodyPr wrap="square" lIns="0" rIns="0" tIns="0" bIns="0" anchor="ctr">
            <a:spAutoFit/>
          </a:bodyPr>
          <a:lstStyle/>
          <a:p>
            <a:r>
              <a:rPr sz="1300" b="0" i="0">
                <a:solidFill>
                  <a:srgbClr val="00D6F2"/>
                </a:solidFill>
                <a:latin typeface="Trenda IG Text Light"/>
              </a:rPr>
              <a:t>6</a:t>
            </a:r>
          </a:p>
        </p:txBody>
      </p:sp>
      <p:sp>
        <p:nvSpPr>
          <p:cNvPr id="39" name="Text 39"/>
          <p:cNvSpPr txBox="1"/>
          <p:nvPr/>
        </p:nvSpPr>
        <p:spPr>
          <a:xfrm>
            <a:off x="859536" y="4133088"/>
            <a:ext cx="1536192" cy="256032"/>
          </a:xfrm>
          <a:prstGeom prst="rect">
            <a:avLst/>
          </a:prstGeom>
          <a:noFill/>
        </p:spPr>
        <p:txBody>
          <a:bodyPr wrap="square" lIns="0" rIns="0" tIns="0" bIns="0" anchor="ctr">
            <a:spAutoFit/>
          </a:bodyPr>
          <a:lstStyle/>
          <a:p>
            <a:r>
              <a:rPr sz="1050" b="1" i="0">
                <a:solidFill>
                  <a:srgbClr val="FFFFFF"/>
                </a:solidFill>
                <a:latin typeface="Trenda IG Text"/>
              </a:rPr>
              <a:t>Tune + re-test</a:t>
            </a:r>
          </a:p>
        </p:txBody>
      </p:sp>
      <p:sp>
        <p:nvSpPr>
          <p:cNvPr id="40" name="Text 40"/>
          <p:cNvSpPr txBox="1"/>
          <p:nvPr/>
        </p:nvSpPr>
        <p:spPr>
          <a:xfrm>
            <a:off x="585216" y="4443984"/>
            <a:ext cx="1773936" cy="822960"/>
          </a:xfrm>
          <a:prstGeom prst="rect">
            <a:avLst/>
          </a:prstGeom>
          <a:noFill/>
        </p:spPr>
        <p:txBody>
          <a:bodyPr wrap="square" lIns="0" rIns="0" tIns="0" bIns="0" anchor="t">
            <a:spAutoFit/>
          </a:bodyPr>
          <a:lstStyle/>
          <a:p>
            <a:r>
              <a:rPr sz="750" b="0" i="0">
                <a:solidFill>
                  <a:srgbClr val="BFBFBF"/>
                </a:solidFill>
                <a:latin typeface="Trenda IG Text"/>
              </a:rPr>
              <a:t>Fix the harness: context, skill, rule or prompt. Re-run the golden set, then release.</a:t>
            </a:r>
          </a:p>
        </p:txBody>
      </p:sp>
      <p:cxnSp>
        <p:nvCxnSpPr>
          <p:cNvPr id="41" name="Arrow 41"/>
          <p:cNvCxnSpPr/>
          <p:nvPr/>
        </p:nvCxnSpPr>
        <p:spPr>
          <a:xfrm>
            <a:off x="2487168"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42"/>
          <p:cNvCxnSpPr/>
          <p:nvPr/>
        </p:nvCxnSpPr>
        <p:spPr>
          <a:xfrm>
            <a:off x="4736592" y="2020824"/>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43"/>
          <p:cNvCxnSpPr/>
          <p:nvPr/>
        </p:nvCxnSpPr>
        <p:spPr>
          <a:xfrm flipH="1">
            <a:off x="4736592"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Arrow 44"/>
          <p:cNvCxnSpPr/>
          <p:nvPr/>
        </p:nvCxnSpPr>
        <p:spPr>
          <a:xfrm flipH="1">
            <a:off x="2487168" y="4681728"/>
            <a:ext cx="2011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5"/>
          <p:cNvCxnSpPr/>
          <p:nvPr/>
        </p:nvCxnSpPr>
        <p:spPr>
          <a:xfrm>
            <a:off x="5961888"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6"/>
          <p:cNvCxnSpPr/>
          <p:nvPr/>
        </p:nvCxnSpPr>
        <p:spPr>
          <a:xfrm flipV="1">
            <a:off x="1463040" y="2798064"/>
            <a:ext cx="0" cy="12252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 47"/>
          <p:cNvSpPr txBox="1"/>
          <p:nvPr/>
        </p:nvSpPr>
        <p:spPr>
          <a:xfrm>
            <a:off x="2706624" y="2953512"/>
            <a:ext cx="2011680" cy="274320"/>
          </a:xfrm>
          <a:prstGeom prst="rect">
            <a:avLst/>
          </a:prstGeom>
          <a:noFill/>
        </p:spPr>
        <p:txBody>
          <a:bodyPr wrap="square" lIns="0" rIns="0" tIns="0" bIns="0" anchor="ctr">
            <a:spAutoFit/>
          </a:bodyPr>
          <a:lstStyle/>
          <a:p>
            <a:pPr algn="ctr"/>
            <a:r>
              <a:rPr sz="1100" b="1" i="0" spc="150">
                <a:solidFill>
                  <a:srgbClr val="00D6F2"/>
                </a:solidFill>
                <a:latin typeface="Trenda IG Text"/>
              </a:rPr>
              <a:t>CLOSED-LOOP</a:t>
            </a:r>
          </a:p>
        </p:txBody>
      </p:sp>
      <p:sp>
        <p:nvSpPr>
          <p:cNvPr id="48" name="Text 48"/>
          <p:cNvSpPr txBox="1"/>
          <p:nvPr/>
        </p:nvSpPr>
        <p:spPr>
          <a:xfrm>
            <a:off x="2706624" y="3227832"/>
            <a:ext cx="2011680" cy="365760"/>
          </a:xfrm>
          <a:prstGeom prst="rect">
            <a:avLst/>
          </a:prstGeom>
          <a:noFill/>
        </p:spPr>
        <p:txBody>
          <a:bodyPr wrap="square" lIns="0" rIns="0" tIns="0" bIns="0" anchor="ctr">
            <a:spAutoFit/>
          </a:bodyPr>
          <a:lstStyle/>
          <a:p>
            <a:pPr algn="ctr"/>
            <a:r>
              <a:rPr sz="2200" b="1" i="0" spc="150">
                <a:solidFill>
                  <a:srgbClr val="FFFFFF"/>
                </a:solidFill>
                <a:latin typeface="Trenda IG Text"/>
              </a:rPr>
              <a:t>EVALS</a:t>
            </a:r>
          </a:p>
        </p:txBody>
      </p:sp>
      <p:sp>
        <p:nvSpPr>
          <p:cNvPr id="49" name="Text 49"/>
          <p:cNvSpPr txBox="1"/>
          <p:nvPr/>
        </p:nvSpPr>
        <p:spPr>
          <a:xfrm>
            <a:off x="2432304" y="3611880"/>
            <a:ext cx="2560320" cy="274320"/>
          </a:xfrm>
          <a:prstGeom prst="rect">
            <a:avLst/>
          </a:prstGeom>
          <a:noFill/>
        </p:spPr>
        <p:txBody>
          <a:bodyPr wrap="square" lIns="0" rIns="0" tIns="0" bIns="0" anchor="t">
            <a:spAutoFit/>
          </a:bodyPr>
          <a:lstStyle/>
          <a:p>
            <a:pPr algn="ctr"/>
            <a:r>
              <a:rPr sz="750" b="0" i="0">
                <a:solidFill>
                  <a:srgbClr val="BFBFBF"/>
                </a:solidFill>
                <a:latin typeface="Trenda IG Text"/>
              </a:rPr>
              <a:t>one loop that never stops; no step that never ends</a:t>
            </a:r>
          </a:p>
        </p:txBody>
      </p:sp>
      <p:sp>
        <p:nvSpPr>
          <p:cNvPr id="50" name="Shape 50"/>
          <p:cNvSpPr/>
          <p:nvPr/>
        </p:nvSpPr>
        <p:spPr>
          <a:xfrm>
            <a:off x="7086600" y="1280160"/>
            <a:ext cx="4690872" cy="2999232"/>
          </a:xfrm>
          <a:prstGeom prst="roundRect">
            <a:avLst>
              <a:gd name="adj" fmla="val 6000"/>
            </a:avLst>
          </a:prstGeom>
          <a:solidFill>
            <a:srgbClr val="000000">
              <a:alpha val="55000"/>
            </a:srgbClr>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1"/>
          <p:cNvSpPr txBox="1"/>
          <p:nvPr/>
        </p:nvSpPr>
        <p:spPr>
          <a:xfrm>
            <a:off x="7287768" y="1426463"/>
            <a:ext cx="4325112" cy="128016"/>
          </a:xfrm>
          <a:prstGeom prst="rect">
            <a:avLst/>
          </a:prstGeom>
          <a:noFill/>
        </p:spPr>
        <p:txBody>
          <a:bodyPr wrap="square" lIns="0" rIns="0" tIns="0" bIns="0" anchor="ctr">
            <a:spAutoFit/>
          </a:bodyPr>
          <a:lstStyle/>
          <a:p>
            <a:r>
              <a:rPr sz="650" b="1" i="0" spc="150">
                <a:solidFill>
                  <a:srgbClr val="FFD700"/>
                </a:solidFill>
                <a:latin typeface="Trenda IG Text"/>
              </a:rPr>
              <a:t>EVERY RUN REPORTS</a:t>
            </a:r>
          </a:p>
        </p:txBody>
      </p:sp>
      <p:sp>
        <p:nvSpPr>
          <p:cNvPr id="52" name="Text 52"/>
          <p:cNvSpPr txBox="1"/>
          <p:nvPr/>
        </p:nvSpPr>
        <p:spPr>
          <a:xfrm>
            <a:off x="7287768" y="1664207"/>
            <a:ext cx="1371600" cy="323958"/>
          </a:xfrm>
          <a:prstGeom prst="rect">
            <a:avLst/>
          </a:prstGeom>
          <a:noFill/>
        </p:spPr>
        <p:txBody>
          <a:bodyPr wrap="square" lIns="0" rIns="0" tIns="0" bIns="0" anchor="ctr">
            <a:spAutoFit/>
          </a:bodyPr>
          <a:lstStyle/>
          <a:p>
            <a:r>
              <a:rPr sz="950" b="1" i="0">
                <a:solidFill>
                  <a:srgbClr val="FFFFFF"/>
                </a:solidFill>
                <a:latin typeface="Trenda IG Text"/>
              </a:rPr>
              <a:t>pass@k</a:t>
            </a:r>
          </a:p>
        </p:txBody>
      </p:sp>
      <p:sp>
        <p:nvSpPr>
          <p:cNvPr id="53" name="Text 53"/>
          <p:cNvSpPr txBox="1"/>
          <p:nvPr/>
        </p:nvSpPr>
        <p:spPr>
          <a:xfrm>
            <a:off x="8686800" y="1664207"/>
            <a:ext cx="2907791" cy="323958"/>
          </a:xfrm>
          <a:prstGeom prst="rect">
            <a:avLst/>
          </a:prstGeom>
          <a:noFill/>
        </p:spPr>
        <p:txBody>
          <a:bodyPr wrap="square" lIns="0" rIns="0" tIns="0" bIns="0" anchor="ctr">
            <a:spAutoFit/>
          </a:bodyPr>
          <a:lstStyle/>
          <a:p>
            <a:r>
              <a:rPr sz="800" b="0" i="0">
                <a:solidFill>
                  <a:srgbClr val="BFBFBF"/>
                </a:solidFill>
                <a:latin typeface="Trenda IG Text"/>
              </a:rPr>
              <a:t>steps passing on attempt 1, and by attempt 5</a:t>
            </a:r>
          </a:p>
        </p:txBody>
      </p:sp>
      <p:sp>
        <p:nvSpPr>
          <p:cNvPr id="54" name="Shape 54"/>
          <p:cNvSpPr/>
          <p:nvPr/>
        </p:nvSpPr>
        <p:spPr>
          <a:xfrm>
            <a:off x="7287768" y="200645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5"/>
          <p:cNvSpPr txBox="1"/>
          <p:nvPr/>
        </p:nvSpPr>
        <p:spPr>
          <a:xfrm>
            <a:off x="7287768" y="2024742"/>
            <a:ext cx="1371600" cy="323958"/>
          </a:xfrm>
          <a:prstGeom prst="rect">
            <a:avLst/>
          </a:prstGeom>
          <a:noFill/>
        </p:spPr>
        <p:txBody>
          <a:bodyPr wrap="square" lIns="0" rIns="0" tIns="0" bIns="0" anchor="ctr">
            <a:spAutoFit/>
          </a:bodyPr>
          <a:lstStyle/>
          <a:p>
            <a:r>
              <a:rPr sz="950" b="1" i="0">
                <a:solidFill>
                  <a:srgbClr val="FFFFFF"/>
                </a:solidFill>
                <a:latin typeface="Trenda IG Text"/>
              </a:rPr>
              <a:t>Time</a:t>
            </a:r>
          </a:p>
        </p:txBody>
      </p:sp>
      <p:sp>
        <p:nvSpPr>
          <p:cNvPr id="56" name="Text 56"/>
          <p:cNvSpPr txBox="1"/>
          <p:nvPr/>
        </p:nvSpPr>
        <p:spPr>
          <a:xfrm>
            <a:off x="8686800" y="2024742"/>
            <a:ext cx="2907791" cy="323958"/>
          </a:xfrm>
          <a:prstGeom prst="rect">
            <a:avLst/>
          </a:prstGeom>
          <a:noFill/>
        </p:spPr>
        <p:txBody>
          <a:bodyPr wrap="square" lIns="0" rIns="0" tIns="0" bIns="0" anchor="ctr">
            <a:spAutoFit/>
          </a:bodyPr>
          <a:lstStyle/>
          <a:p>
            <a:r>
              <a:rPr sz="800" b="0" i="0">
                <a:solidFill>
                  <a:srgbClr val="BFBFBF"/>
                </a:solidFill>
                <a:latin typeface="Trenda IG Text"/>
              </a:rPr>
              <a:t>per step and end to end, story to release</a:t>
            </a:r>
          </a:p>
        </p:txBody>
      </p:sp>
      <p:sp>
        <p:nvSpPr>
          <p:cNvPr id="57" name="Shape 57"/>
          <p:cNvSpPr/>
          <p:nvPr/>
        </p:nvSpPr>
        <p:spPr>
          <a:xfrm>
            <a:off x="7287768" y="236698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7287768" y="2385277"/>
            <a:ext cx="1371600" cy="323958"/>
          </a:xfrm>
          <a:prstGeom prst="rect">
            <a:avLst/>
          </a:prstGeom>
          <a:noFill/>
        </p:spPr>
        <p:txBody>
          <a:bodyPr wrap="square" lIns="0" rIns="0" tIns="0" bIns="0" anchor="ctr">
            <a:spAutoFit/>
          </a:bodyPr>
          <a:lstStyle/>
          <a:p>
            <a:r>
              <a:rPr sz="950" b="1" i="0">
                <a:solidFill>
                  <a:srgbClr val="FFFFFF"/>
                </a:solidFill>
                <a:latin typeface="Trenda IG Text"/>
              </a:rPr>
              <a:t>Re-run time</a:t>
            </a:r>
          </a:p>
        </p:txBody>
      </p:sp>
      <p:sp>
        <p:nvSpPr>
          <p:cNvPr id="59" name="Text 59"/>
          <p:cNvSpPr txBox="1"/>
          <p:nvPr/>
        </p:nvSpPr>
        <p:spPr>
          <a:xfrm>
            <a:off x="8686800" y="2385277"/>
            <a:ext cx="2907791" cy="323958"/>
          </a:xfrm>
          <a:prstGeom prst="rect">
            <a:avLst/>
          </a:prstGeom>
          <a:noFill/>
        </p:spPr>
        <p:txBody>
          <a:bodyPr wrap="square" lIns="0" rIns="0" tIns="0" bIns="0" anchor="ctr">
            <a:spAutoFit/>
          </a:bodyPr>
          <a:lstStyle/>
          <a:p>
            <a:r>
              <a:rPr sz="800" b="0" i="0">
                <a:solidFill>
                  <a:srgbClr val="BFBFBF"/>
                </a:solidFill>
                <a:latin typeface="Trenda IG Text"/>
              </a:rPr>
              <a:t>time and cost spent on attempts 2 to 5</a:t>
            </a:r>
          </a:p>
        </p:txBody>
      </p:sp>
      <p:sp>
        <p:nvSpPr>
          <p:cNvPr id="60" name="Shape 60"/>
          <p:cNvSpPr/>
          <p:nvPr/>
        </p:nvSpPr>
        <p:spPr>
          <a:xfrm>
            <a:off x="7287768" y="272752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1"/>
          <p:cNvSpPr txBox="1"/>
          <p:nvPr/>
        </p:nvSpPr>
        <p:spPr>
          <a:xfrm>
            <a:off x="7287768" y="2745812"/>
            <a:ext cx="1371600" cy="323958"/>
          </a:xfrm>
          <a:prstGeom prst="rect">
            <a:avLst/>
          </a:prstGeom>
          <a:noFill/>
        </p:spPr>
        <p:txBody>
          <a:bodyPr wrap="square" lIns="0" rIns="0" tIns="0" bIns="0" anchor="ctr">
            <a:spAutoFit/>
          </a:bodyPr>
          <a:lstStyle/>
          <a:p>
            <a:r>
              <a:rPr sz="950" b="1" i="0">
                <a:solidFill>
                  <a:srgbClr val="FFFFFF"/>
                </a:solidFill>
                <a:latin typeface="Trenda IG Text"/>
              </a:rPr>
              <a:t>Waiting time</a:t>
            </a:r>
          </a:p>
        </p:txBody>
      </p:sp>
      <p:sp>
        <p:nvSpPr>
          <p:cNvPr id="62" name="Text 62"/>
          <p:cNvSpPr txBox="1"/>
          <p:nvPr/>
        </p:nvSpPr>
        <p:spPr>
          <a:xfrm>
            <a:off x="8686800" y="2745812"/>
            <a:ext cx="2907791" cy="323958"/>
          </a:xfrm>
          <a:prstGeom prst="rect">
            <a:avLst/>
          </a:prstGeom>
          <a:noFill/>
        </p:spPr>
        <p:txBody>
          <a:bodyPr wrap="square" lIns="0" rIns="0" tIns="0" bIns="0" anchor="ctr">
            <a:spAutoFit/>
          </a:bodyPr>
          <a:lstStyle/>
          <a:p>
            <a:r>
              <a:rPr sz="800" b="0" i="0">
                <a:solidFill>
                  <a:srgbClr val="BFBFBF"/>
                </a:solidFill>
                <a:latin typeface="Trenda IG Text"/>
              </a:rPr>
              <a:t>how long each human gate held the run</a:t>
            </a:r>
          </a:p>
        </p:txBody>
      </p:sp>
      <p:sp>
        <p:nvSpPr>
          <p:cNvPr id="63" name="Shape 63"/>
          <p:cNvSpPr/>
          <p:nvPr/>
        </p:nvSpPr>
        <p:spPr>
          <a:xfrm>
            <a:off x="7287768" y="308805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7287768" y="3106347"/>
            <a:ext cx="1371600" cy="323958"/>
          </a:xfrm>
          <a:prstGeom prst="rect">
            <a:avLst/>
          </a:prstGeom>
          <a:noFill/>
        </p:spPr>
        <p:txBody>
          <a:bodyPr wrap="square" lIns="0" rIns="0" tIns="0" bIns="0" anchor="ctr">
            <a:spAutoFit/>
          </a:bodyPr>
          <a:lstStyle/>
          <a:p>
            <a:r>
              <a:rPr sz="950" b="1" i="0">
                <a:solidFill>
                  <a:srgbClr val="FFFFFF"/>
                </a:solidFill>
                <a:latin typeface="Trenda IG Text"/>
              </a:rPr>
              <a:t>Agent scores</a:t>
            </a:r>
          </a:p>
        </p:txBody>
      </p:sp>
      <p:sp>
        <p:nvSpPr>
          <p:cNvPr id="65" name="Text 65"/>
          <p:cNvSpPr txBox="1"/>
          <p:nvPr/>
        </p:nvSpPr>
        <p:spPr>
          <a:xfrm>
            <a:off x="8686800" y="3106347"/>
            <a:ext cx="2907791" cy="323958"/>
          </a:xfrm>
          <a:prstGeom prst="rect">
            <a:avLst/>
          </a:prstGeom>
          <a:noFill/>
        </p:spPr>
        <p:txBody>
          <a:bodyPr wrap="square" lIns="0" rIns="0" tIns="0" bIns="0" anchor="ctr">
            <a:spAutoFit/>
          </a:bodyPr>
          <a:lstStyle/>
          <a:p>
            <a:r>
              <a:rPr sz="800" b="0" i="0">
                <a:solidFill>
                  <a:srgbClr val="BFBFBF"/>
                </a:solidFill>
                <a:latin typeface="Trenda IG Text"/>
              </a:rPr>
              <a:t>each agent on its own job; Review Agent vs tech leads</a:t>
            </a:r>
          </a:p>
        </p:txBody>
      </p:sp>
      <p:sp>
        <p:nvSpPr>
          <p:cNvPr id="66" name="Shape 66"/>
          <p:cNvSpPr/>
          <p:nvPr/>
        </p:nvSpPr>
        <p:spPr>
          <a:xfrm>
            <a:off x="7287768" y="3448594"/>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7"/>
          <p:cNvSpPr txBox="1"/>
          <p:nvPr/>
        </p:nvSpPr>
        <p:spPr>
          <a:xfrm>
            <a:off x="7287768" y="3466882"/>
            <a:ext cx="1371600" cy="323958"/>
          </a:xfrm>
          <a:prstGeom prst="rect">
            <a:avLst/>
          </a:prstGeom>
          <a:noFill/>
        </p:spPr>
        <p:txBody>
          <a:bodyPr wrap="square" lIns="0" rIns="0" tIns="0" bIns="0" anchor="ctr">
            <a:spAutoFit/>
          </a:bodyPr>
          <a:lstStyle/>
          <a:p>
            <a:r>
              <a:rPr sz="950" b="1" i="0">
                <a:solidFill>
                  <a:srgbClr val="FFFFFF"/>
                </a:solidFill>
                <a:latin typeface="Trenda IG Text"/>
              </a:rPr>
              <a:t>Escaped defects</a:t>
            </a:r>
          </a:p>
        </p:txBody>
      </p:sp>
      <p:sp>
        <p:nvSpPr>
          <p:cNvPr id="68" name="Text 68"/>
          <p:cNvSpPr txBox="1"/>
          <p:nvPr/>
        </p:nvSpPr>
        <p:spPr>
          <a:xfrm>
            <a:off x="8686800" y="3466882"/>
            <a:ext cx="2907791" cy="323958"/>
          </a:xfrm>
          <a:prstGeom prst="rect">
            <a:avLst/>
          </a:prstGeom>
          <a:noFill/>
        </p:spPr>
        <p:txBody>
          <a:bodyPr wrap="square" lIns="0" rIns="0" tIns="0" bIns="0" anchor="ctr">
            <a:spAutoFit/>
          </a:bodyPr>
          <a:lstStyle/>
          <a:p>
            <a:r>
              <a:rPr sz="800" b="0" i="0">
                <a:solidFill>
                  <a:srgbClr val="BFBFBF"/>
                </a:solidFill>
                <a:latin typeface="Trenda IG Text"/>
              </a:rPr>
              <a:t>found in UAT or production, vs baseline</a:t>
            </a:r>
          </a:p>
        </p:txBody>
      </p:sp>
      <p:sp>
        <p:nvSpPr>
          <p:cNvPr id="69" name="Shape 69"/>
          <p:cNvSpPr/>
          <p:nvPr/>
        </p:nvSpPr>
        <p:spPr>
          <a:xfrm>
            <a:off x="7287768" y="3809129"/>
            <a:ext cx="4288536" cy="5486"/>
          </a:xfrm>
          <a:prstGeom prst="rect">
            <a:avLst/>
          </a:prstGeom>
          <a:solidFill>
            <a:srgbClr val="3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7287768" y="3827417"/>
            <a:ext cx="1371600" cy="323958"/>
          </a:xfrm>
          <a:prstGeom prst="rect">
            <a:avLst/>
          </a:prstGeom>
          <a:noFill/>
        </p:spPr>
        <p:txBody>
          <a:bodyPr wrap="square" lIns="0" rIns="0" tIns="0" bIns="0" anchor="ctr">
            <a:spAutoFit/>
          </a:bodyPr>
          <a:lstStyle/>
          <a:p>
            <a:r>
              <a:rPr sz="950" b="1" i="0">
                <a:solidFill>
                  <a:srgbClr val="FFFFFF"/>
                </a:solidFill>
                <a:latin typeface="Trenda IG Text"/>
              </a:rPr>
              <a:t>Stopped runs</a:t>
            </a:r>
          </a:p>
        </p:txBody>
      </p:sp>
      <p:sp>
        <p:nvSpPr>
          <p:cNvPr id="71" name="Text 71"/>
          <p:cNvSpPr txBox="1"/>
          <p:nvPr/>
        </p:nvSpPr>
        <p:spPr>
          <a:xfrm>
            <a:off x="8686800" y="3827417"/>
            <a:ext cx="2907791" cy="323958"/>
          </a:xfrm>
          <a:prstGeom prst="rect">
            <a:avLst/>
          </a:prstGeom>
          <a:noFill/>
        </p:spPr>
        <p:txBody>
          <a:bodyPr wrap="square" lIns="0" rIns="0" tIns="0" bIns="0" anchor="ctr">
            <a:spAutoFit/>
          </a:bodyPr>
          <a:lstStyle/>
          <a:p>
            <a:r>
              <a:rPr sz="800" b="0" i="0">
                <a:solidFill>
                  <a:srgbClr val="BFBFBF"/>
                </a:solidFill>
                <a:latin typeface="Trenda IG Text"/>
              </a:rPr>
              <a:t>where it stopped, why, and who took over</a:t>
            </a:r>
          </a:p>
        </p:txBody>
      </p:sp>
      <p:sp>
        <p:nvSpPr>
          <p:cNvPr id="72" name="Differentiator Border 73"/>
          <p:cNvSpPr/>
          <p:nvPr/>
        </p:nvSpPr>
        <p:spPr>
          <a:xfrm>
            <a:off x="7086600" y="4407407"/>
            <a:ext cx="469087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4"/>
          <p:cNvSpPr/>
          <p:nvPr/>
        </p:nvSpPr>
        <p:spPr>
          <a:xfrm>
            <a:off x="7123176" y="4443983"/>
            <a:ext cx="4617720" cy="822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5"/>
          <p:cNvSpPr txBox="1"/>
          <p:nvPr/>
        </p:nvSpPr>
        <p:spPr>
          <a:xfrm>
            <a:off x="7287768" y="4517136"/>
            <a:ext cx="4288536" cy="219456"/>
          </a:xfrm>
          <a:prstGeom prst="rect">
            <a:avLst/>
          </a:prstGeom>
          <a:noFill/>
        </p:spPr>
        <p:txBody>
          <a:bodyPr wrap="square" lIns="0" rIns="0" tIns="0" bIns="0" anchor="ctr">
            <a:spAutoFit/>
          </a:bodyPr>
          <a:lstStyle/>
          <a:p>
            <a:r>
              <a:rPr sz="750" b="1" i="0" spc="200">
                <a:solidFill>
                  <a:srgbClr val="FFD700"/>
                </a:solidFill>
                <a:latin typeface="Trenda IG Text"/>
              </a:rPr>
              <a:t>PROVEN AT SCALE</a:t>
            </a:r>
          </a:p>
        </p:txBody>
      </p:sp>
      <p:sp>
        <p:nvSpPr>
          <p:cNvPr id="75" name="Text 76"/>
          <p:cNvSpPr txBox="1"/>
          <p:nvPr/>
        </p:nvSpPr>
        <p:spPr>
          <a:xfrm>
            <a:off x="7287768" y="4754879"/>
            <a:ext cx="4288536" cy="457200"/>
          </a:xfrm>
          <a:prstGeom prst="rect">
            <a:avLst/>
          </a:prstGeom>
          <a:noFill/>
        </p:spPr>
        <p:txBody>
          <a:bodyPr wrap="square" lIns="0" rIns="0" tIns="0" bIns="0" anchor="t">
            <a:spAutoFit/>
          </a:bodyPr>
          <a:lstStyle/>
          <a:p>
            <a:r>
              <a:rPr sz="750" b="1" i="0">
                <a:solidFill>
                  <a:srgbClr val="FFFFFF"/>
                </a:solidFill>
                <a:latin typeface="Trenda IG Text"/>
              </a:rPr>
              <a:t>Uber Eats runs its food-photo agent on the same closed loop: </a:t>
            </a:r>
            <a:r>
              <a:rPr sz="750" b="0" i="0">
                <a:solidFill>
                  <a:srgbClr val="BFBFBF"/>
                </a:solidFill>
                <a:latin typeface="Trenda IG Text"/>
              </a:rPr>
              <a:t>labelled golden sets, pass@k, a QA gate before publishing, human labels on production samples and a diagnoser that triggers tuning (AI Engineer World's Fair 2026).</a:t>
            </a:r>
          </a:p>
        </p:txBody>
      </p:sp>
      <p:sp>
        <p:nvSpPr>
          <p:cNvPr id="76" name="Shape 77"/>
          <p:cNvSpPr/>
          <p:nvPr/>
        </p:nvSpPr>
        <p:spPr>
          <a:xfrm>
            <a:off x="411480" y="5486400"/>
            <a:ext cx="11365992" cy="475488"/>
          </a:xfrm>
          <a:prstGeom prst="roundRect">
            <a:avLst>
              <a:gd name="adj" fmla="val 25000"/>
            </a:avLst>
          </a:prstGeom>
          <a:solidFill>
            <a:srgbClr val="000000">
              <a:alpha val="45000"/>
            </a:srgbClr>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8"/>
          <p:cNvSpPr txBox="1"/>
          <p:nvPr/>
        </p:nvSpPr>
        <p:spPr>
          <a:xfrm>
            <a:off x="640080" y="5486400"/>
            <a:ext cx="2194560" cy="475488"/>
          </a:xfrm>
          <a:prstGeom prst="rect">
            <a:avLst/>
          </a:prstGeom>
          <a:noFill/>
        </p:spPr>
        <p:txBody>
          <a:bodyPr wrap="square" lIns="0" rIns="0" tIns="0" bIns="0" anchor="ctr">
            <a:spAutoFit/>
          </a:bodyPr>
          <a:lstStyle/>
          <a:p>
            <a:r>
              <a:rPr sz="750" b="1" i="0" spc="200">
                <a:solidFill>
                  <a:srgbClr val="FF0069"/>
                </a:solidFill>
                <a:latin typeface="Trenda IG Text"/>
              </a:rPr>
              <a:t>NO GAMING THE EVALS</a:t>
            </a:r>
          </a:p>
        </p:txBody>
      </p:sp>
      <p:sp>
        <p:nvSpPr>
          <p:cNvPr id="78" name="Text 79"/>
          <p:cNvSpPr txBox="1"/>
          <p:nvPr/>
        </p:nvSpPr>
        <p:spPr>
          <a:xfrm>
            <a:off x="2743200" y="5486400"/>
            <a:ext cx="8869680" cy="475488"/>
          </a:xfrm>
          <a:prstGeom prst="rect">
            <a:avLst/>
          </a:prstGeom>
          <a:noFill/>
        </p:spPr>
        <p:txBody>
          <a:bodyPr wrap="square" lIns="0" rIns="0" tIns="0" bIns="0" anchor="ctr">
            <a:spAutoFit/>
          </a:bodyPr>
          <a:lstStyle/>
          <a:p>
            <a:r>
              <a:rPr sz="900" b="1" i="0">
                <a:solidFill>
                  <a:srgbClr val="FFFFFF"/>
                </a:solidFill>
                <a:latin typeface="Trenda IG Text"/>
              </a:rPr>
              <a:t>Agents cannot edit tests or the evaluation set; </a:t>
            </a:r>
            <a:r>
              <a:rPr sz="900" b="0" i="0">
                <a:solidFill>
                  <a:srgbClr val="BFBFBF"/>
                </a:solidFill>
                <a:latin typeface="Trenda IG Text"/>
              </a:rPr>
              <a:t>a held-out set no agent ever sees; any change that deletes or weakens a test is blocked by the Guardian.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SCORECARD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Every agent has its own eval, not just the end result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good end result can hide a weak agent. Each agent is scored on its own job against Ascension's labelled examples, so a miss points straight at the agent to fix.</a:t>
            </a:r>
          </a:p>
        </p:txBody>
      </p:sp>
      <p:sp>
        <p:nvSpPr>
          <p:cNvPr id="5" name="Text 4"/>
          <p:cNvSpPr txBox="1"/>
          <p:nvPr/>
        </p:nvSpPr>
        <p:spPr>
          <a:xfrm>
            <a:off x="521208" y="1188720"/>
            <a:ext cx="1554480" cy="274320"/>
          </a:xfrm>
          <a:prstGeom prst="rect">
            <a:avLst/>
          </a:prstGeom>
          <a:noFill/>
        </p:spPr>
        <p:txBody>
          <a:bodyPr wrap="square" lIns="0" rIns="0" tIns="0" bIns="0" anchor="ctr">
            <a:spAutoFit/>
          </a:bodyPr>
          <a:lstStyle/>
          <a:p>
            <a:r>
              <a:rPr sz="750" b="1" i="0" spc="150">
                <a:solidFill>
                  <a:srgbClr val="FFD700"/>
                </a:solidFill>
                <a:latin typeface="Trenda IG Text"/>
              </a:rPr>
              <a:t>AGENT</a:t>
            </a:r>
          </a:p>
        </p:txBody>
      </p:sp>
      <p:sp>
        <p:nvSpPr>
          <p:cNvPr id="6" name="Text 5"/>
          <p:cNvSpPr txBox="1"/>
          <p:nvPr/>
        </p:nvSpPr>
        <p:spPr>
          <a:xfrm>
            <a:off x="2258568" y="1188720"/>
            <a:ext cx="2697479" cy="274320"/>
          </a:xfrm>
          <a:prstGeom prst="rect">
            <a:avLst/>
          </a:prstGeom>
          <a:noFill/>
        </p:spPr>
        <p:txBody>
          <a:bodyPr wrap="square" lIns="0" rIns="0" tIns="0" bIns="0" anchor="ctr">
            <a:spAutoFit/>
          </a:bodyPr>
          <a:lstStyle/>
          <a:p>
            <a:r>
              <a:rPr sz="750" b="1" i="0" spc="150">
                <a:solidFill>
                  <a:srgbClr val="FFD700"/>
                </a:solidFill>
                <a:latin typeface="Trenda IG Text"/>
              </a:rPr>
              <a:t>WHAT WE CHECK</a:t>
            </a:r>
          </a:p>
        </p:txBody>
      </p:sp>
      <p:sp>
        <p:nvSpPr>
          <p:cNvPr id="7" name="Text 6"/>
          <p:cNvSpPr txBox="1"/>
          <p:nvPr/>
        </p:nvSpPr>
        <p:spPr>
          <a:xfrm>
            <a:off x="5138928" y="1188720"/>
            <a:ext cx="3794759" cy="274320"/>
          </a:xfrm>
          <a:prstGeom prst="rect">
            <a:avLst/>
          </a:prstGeom>
          <a:noFill/>
        </p:spPr>
        <p:txBody>
          <a:bodyPr wrap="square" lIns="0" rIns="0" tIns="0" bIns="0" anchor="ctr">
            <a:spAutoFit/>
          </a:bodyPr>
          <a:lstStyle/>
          <a:p>
            <a:r>
              <a:rPr sz="750" b="1" i="0" spc="150">
                <a:solidFill>
                  <a:srgbClr val="FFD700"/>
                </a:solidFill>
                <a:latin typeface="Trenda IG Text"/>
              </a:rPr>
              <a:t>METRIC</a:t>
            </a:r>
          </a:p>
        </p:txBody>
      </p:sp>
      <p:sp>
        <p:nvSpPr>
          <p:cNvPr id="8" name="Text 7"/>
          <p:cNvSpPr txBox="1"/>
          <p:nvPr/>
        </p:nvSpPr>
        <p:spPr>
          <a:xfrm>
            <a:off x="9116567" y="1188720"/>
            <a:ext cx="2587751" cy="274320"/>
          </a:xfrm>
          <a:prstGeom prst="rect">
            <a:avLst/>
          </a:prstGeom>
          <a:noFill/>
        </p:spPr>
        <p:txBody>
          <a:bodyPr wrap="square" lIns="0" rIns="0" tIns="0" bIns="0" anchor="ctr">
            <a:spAutoFit/>
          </a:bodyPr>
          <a:lstStyle/>
          <a:p>
            <a:r>
              <a:rPr sz="750" b="1" i="0" spc="150">
                <a:solidFill>
                  <a:srgbClr val="FFD700"/>
                </a:solidFill>
                <a:latin typeface="Trenda IG Text"/>
              </a:rPr>
              <a:t>LABELLED OR JUDGED BY</a:t>
            </a:r>
          </a:p>
        </p:txBody>
      </p:sp>
      <p:sp>
        <p:nvSpPr>
          <p:cNvPr id="9" name="Shape 8"/>
          <p:cNvSpPr/>
          <p:nvPr/>
        </p:nvSpPr>
        <p:spPr>
          <a:xfrm>
            <a:off x="411480" y="1499616"/>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9"/>
          <p:cNvSpPr/>
          <p:nvPr/>
        </p:nvSpPr>
        <p:spPr>
          <a:xfrm>
            <a:off x="411480" y="15544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48056" y="1737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1554480"/>
            <a:ext cx="1444751" cy="457200"/>
          </a:xfrm>
          <a:prstGeom prst="rect">
            <a:avLst/>
          </a:prstGeom>
          <a:noFill/>
        </p:spPr>
        <p:txBody>
          <a:bodyPr wrap="square" lIns="0" rIns="0" tIns="0" bIns="0" anchor="ctr">
            <a:spAutoFit/>
          </a:bodyPr>
          <a:lstStyle/>
          <a:p>
            <a:r>
              <a:rPr sz="1000" b="1" i="0">
                <a:solidFill>
                  <a:srgbClr val="FFFFFF"/>
                </a:solidFill>
                <a:latin typeface="Trenda IG Text"/>
              </a:rPr>
              <a:t>Orchestrator</a:t>
            </a:r>
          </a:p>
        </p:txBody>
      </p:sp>
      <p:sp>
        <p:nvSpPr>
          <p:cNvPr id="13" name="Text 12"/>
          <p:cNvSpPr txBox="1"/>
          <p:nvPr/>
        </p:nvSpPr>
        <p:spPr>
          <a:xfrm>
            <a:off x="2258568" y="1554480"/>
            <a:ext cx="2697479" cy="457200"/>
          </a:xfrm>
          <a:prstGeom prst="rect">
            <a:avLst/>
          </a:prstGeom>
          <a:noFill/>
        </p:spPr>
        <p:txBody>
          <a:bodyPr wrap="square" lIns="0" rIns="0" tIns="0" bIns="0" anchor="ctr">
            <a:spAutoFit/>
          </a:bodyPr>
          <a:lstStyle/>
          <a:p>
            <a:r>
              <a:rPr sz="900" b="0" i="0">
                <a:solidFill>
                  <a:srgbClr val="FFFFFF"/>
                </a:solidFill>
                <a:latin typeface="Trenda IG Text"/>
              </a:rPr>
              <a:t>Routes the story and sets its risk level</a:t>
            </a:r>
          </a:p>
        </p:txBody>
      </p:sp>
      <p:sp>
        <p:nvSpPr>
          <p:cNvPr id="14" name="Text 13"/>
          <p:cNvSpPr txBox="1"/>
          <p:nvPr/>
        </p:nvSpPr>
        <p:spPr>
          <a:xfrm>
            <a:off x="5138928" y="1554480"/>
            <a:ext cx="3794759" cy="457200"/>
          </a:xfrm>
          <a:prstGeom prst="rect">
            <a:avLst/>
          </a:prstGeom>
          <a:noFill/>
        </p:spPr>
        <p:txBody>
          <a:bodyPr wrap="square" lIns="0" rIns="0" tIns="0" bIns="0" anchor="ctr">
            <a:spAutoFit/>
          </a:bodyPr>
          <a:lstStyle/>
          <a:p>
            <a:r>
              <a:rPr sz="900" b="1" i="0">
                <a:solidFill>
                  <a:srgbClr val="00D6F2"/>
                </a:solidFill>
                <a:latin typeface="Trenda IG Text"/>
              </a:rPr>
              <a:t>Precision and recall of risk level; high-risk recall kept highest</a:t>
            </a:r>
          </a:p>
        </p:txBody>
      </p:sp>
      <p:sp>
        <p:nvSpPr>
          <p:cNvPr id="15" name="Text 14"/>
          <p:cNvSpPr txBox="1"/>
          <p:nvPr/>
        </p:nvSpPr>
        <p:spPr>
          <a:xfrm>
            <a:off x="9116567" y="15544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 label a sample</a:t>
            </a:r>
          </a:p>
        </p:txBody>
      </p:sp>
      <p:sp>
        <p:nvSpPr>
          <p:cNvPr id="16" name="Shape 15"/>
          <p:cNvSpPr/>
          <p:nvPr/>
        </p:nvSpPr>
        <p:spPr>
          <a:xfrm>
            <a:off x="448056" y="2194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630936" y="2011680"/>
            <a:ext cx="1444751" cy="457200"/>
          </a:xfrm>
          <a:prstGeom prst="rect">
            <a:avLst/>
          </a:prstGeom>
          <a:noFill/>
        </p:spPr>
        <p:txBody>
          <a:bodyPr wrap="square" lIns="0" rIns="0" tIns="0" bIns="0" anchor="ctr">
            <a:spAutoFit/>
          </a:bodyPr>
          <a:lstStyle/>
          <a:p>
            <a:r>
              <a:rPr sz="1000" b="1" i="0">
                <a:solidFill>
                  <a:srgbClr val="FFFFFF"/>
                </a:solidFill>
                <a:latin typeface="Trenda IG Text"/>
              </a:rPr>
              <a:t>Requirements</a:t>
            </a:r>
          </a:p>
        </p:txBody>
      </p:sp>
      <p:sp>
        <p:nvSpPr>
          <p:cNvPr id="18" name="Text 17"/>
          <p:cNvSpPr txBox="1"/>
          <p:nvPr/>
        </p:nvSpPr>
        <p:spPr>
          <a:xfrm>
            <a:off x="2258568" y="2011680"/>
            <a:ext cx="2697479" cy="457200"/>
          </a:xfrm>
          <a:prstGeom prst="rect">
            <a:avLst/>
          </a:prstGeom>
          <a:noFill/>
        </p:spPr>
        <p:txBody>
          <a:bodyPr wrap="square" lIns="0" rIns="0" tIns="0" bIns="0" anchor="ctr">
            <a:spAutoFit/>
          </a:bodyPr>
          <a:lstStyle/>
          <a:p>
            <a:r>
              <a:rPr sz="900" b="0" i="0">
                <a:solidFill>
                  <a:srgbClr val="FFFFFF"/>
                </a:solidFill>
                <a:latin typeface="Trenda IG Text"/>
              </a:rPr>
              <a:t>Brief and acceptance criteria match the intent</a:t>
            </a:r>
          </a:p>
        </p:txBody>
      </p:sp>
      <p:sp>
        <p:nvSpPr>
          <p:cNvPr id="19" name="Text 18"/>
          <p:cNvSpPr txBox="1"/>
          <p:nvPr/>
        </p:nvSpPr>
        <p:spPr>
          <a:xfrm>
            <a:off x="5138928" y="2011680"/>
            <a:ext cx="3794759" cy="457200"/>
          </a:xfrm>
          <a:prstGeom prst="rect">
            <a:avLst/>
          </a:prstGeom>
          <a:noFill/>
        </p:spPr>
        <p:txBody>
          <a:bodyPr wrap="square" lIns="0" rIns="0" tIns="0" bIns="0" anchor="ctr">
            <a:spAutoFit/>
          </a:bodyPr>
          <a:lstStyle/>
          <a:p>
            <a:r>
              <a:rPr sz="900" b="1" i="0">
                <a:solidFill>
                  <a:srgbClr val="00D6F2"/>
                </a:solidFill>
                <a:latin typeface="Trenda IG Text"/>
              </a:rPr>
              <a:t>First-pass acceptance at H1; edits per brief</a:t>
            </a:r>
          </a:p>
        </p:txBody>
      </p:sp>
      <p:sp>
        <p:nvSpPr>
          <p:cNvPr id="20" name="Text 19"/>
          <p:cNvSpPr txBox="1"/>
          <p:nvPr/>
        </p:nvSpPr>
        <p:spPr>
          <a:xfrm>
            <a:off x="9116567" y="2011680"/>
            <a:ext cx="2587751" cy="457200"/>
          </a:xfrm>
          <a:prstGeom prst="rect">
            <a:avLst/>
          </a:prstGeom>
          <a:noFill/>
        </p:spPr>
        <p:txBody>
          <a:bodyPr wrap="square" lIns="0" rIns="0" tIns="0" bIns="0" anchor="ctr">
            <a:spAutoFit/>
          </a:bodyPr>
          <a:lstStyle/>
          <a:p>
            <a:r>
              <a:rPr sz="900" b="0" i="0">
                <a:solidFill>
                  <a:srgbClr val="BFBFBF"/>
                </a:solidFill>
                <a:latin typeface="Trenda IG Text"/>
              </a:rPr>
              <a:t>Product owners at H1</a:t>
            </a:r>
          </a:p>
        </p:txBody>
      </p:sp>
      <p:sp>
        <p:nvSpPr>
          <p:cNvPr id="21" name="Shape 20"/>
          <p:cNvSpPr/>
          <p:nvPr/>
        </p:nvSpPr>
        <p:spPr>
          <a:xfrm>
            <a:off x="411480" y="24688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448056" y="2651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630936" y="2468880"/>
            <a:ext cx="1444751" cy="457200"/>
          </a:xfrm>
          <a:prstGeom prst="rect">
            <a:avLst/>
          </a:prstGeom>
          <a:noFill/>
        </p:spPr>
        <p:txBody>
          <a:bodyPr wrap="square" lIns="0" rIns="0" tIns="0" bIns="0" anchor="ctr">
            <a:spAutoFit/>
          </a:bodyPr>
          <a:lstStyle/>
          <a:p>
            <a:r>
              <a:rPr sz="1000" b="1" i="0">
                <a:solidFill>
                  <a:srgbClr val="FFFFFF"/>
                </a:solidFill>
                <a:latin typeface="Trenda IG Text"/>
              </a:rPr>
              <a:t>Architect</a:t>
            </a:r>
          </a:p>
        </p:txBody>
      </p:sp>
      <p:sp>
        <p:nvSpPr>
          <p:cNvPr id="24" name="Text 23"/>
          <p:cNvSpPr txBox="1"/>
          <p:nvPr/>
        </p:nvSpPr>
        <p:spPr>
          <a:xfrm>
            <a:off x="2258568" y="2468880"/>
            <a:ext cx="2697479" cy="457200"/>
          </a:xfrm>
          <a:prstGeom prst="rect">
            <a:avLst/>
          </a:prstGeom>
          <a:noFill/>
        </p:spPr>
        <p:txBody>
          <a:bodyPr wrap="square" lIns="0" rIns="0" tIns="0" bIns="0" anchor="ctr">
            <a:spAutoFit/>
          </a:bodyPr>
          <a:lstStyle/>
          <a:p>
            <a:r>
              <a:rPr sz="900" b="0" i="0">
                <a:solidFill>
                  <a:srgbClr val="FFFFFF"/>
                </a:solidFill>
                <a:latin typeface="Trenda IG Text"/>
              </a:rPr>
              <a:t>Impact, reuse and owners are right</a:t>
            </a:r>
          </a:p>
        </p:txBody>
      </p:sp>
      <p:sp>
        <p:nvSpPr>
          <p:cNvPr id="25" name="Text 24"/>
          <p:cNvSpPr txBox="1"/>
          <p:nvPr/>
        </p:nvSpPr>
        <p:spPr>
          <a:xfrm>
            <a:off x="5138928" y="2468880"/>
            <a:ext cx="3794759" cy="457200"/>
          </a:xfrm>
          <a:prstGeom prst="rect">
            <a:avLst/>
          </a:prstGeom>
          <a:noFill/>
        </p:spPr>
        <p:txBody>
          <a:bodyPr wrap="square" lIns="0" rIns="0" tIns="0" bIns="0" anchor="ctr">
            <a:spAutoFit/>
          </a:bodyPr>
          <a:lstStyle/>
          <a:p>
            <a:r>
              <a:rPr sz="900" b="1" i="0">
                <a:solidFill>
                  <a:srgbClr val="00D6F2"/>
                </a:solidFill>
                <a:latin typeface="Trenda IG Text"/>
              </a:rPr>
              <a:t>Agreement with architects on replayed past changes</a:t>
            </a:r>
          </a:p>
        </p:txBody>
      </p:sp>
      <p:sp>
        <p:nvSpPr>
          <p:cNvPr id="26" name="Text 25"/>
          <p:cNvSpPr txBox="1"/>
          <p:nvPr/>
        </p:nvSpPr>
        <p:spPr>
          <a:xfrm>
            <a:off x="9116567" y="2468880"/>
            <a:ext cx="2587751" cy="457200"/>
          </a:xfrm>
          <a:prstGeom prst="rect">
            <a:avLst/>
          </a:prstGeom>
          <a:noFill/>
        </p:spPr>
        <p:txBody>
          <a:bodyPr wrap="square" lIns="0" rIns="0" tIns="0" bIns="0" anchor="ctr">
            <a:spAutoFit/>
          </a:bodyPr>
          <a:lstStyle/>
          <a:p>
            <a:r>
              <a:rPr sz="900" b="0" i="0">
                <a:solidFill>
                  <a:srgbClr val="BFBFBF"/>
                </a:solidFill>
                <a:latin typeface="Trenda IG Text"/>
              </a:rPr>
              <a:t>Architects</a:t>
            </a:r>
          </a:p>
        </p:txBody>
      </p:sp>
      <p:sp>
        <p:nvSpPr>
          <p:cNvPr id="27" name="Shape 26"/>
          <p:cNvSpPr/>
          <p:nvPr/>
        </p:nvSpPr>
        <p:spPr>
          <a:xfrm>
            <a:off x="448056" y="31089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630936" y="2926080"/>
            <a:ext cx="1444751" cy="457200"/>
          </a:xfrm>
          <a:prstGeom prst="rect">
            <a:avLst/>
          </a:prstGeom>
          <a:noFill/>
        </p:spPr>
        <p:txBody>
          <a:bodyPr wrap="square" lIns="0" rIns="0" tIns="0" bIns="0" anchor="ctr">
            <a:spAutoFit/>
          </a:bodyPr>
          <a:lstStyle/>
          <a:p>
            <a:r>
              <a:rPr sz="1000" b="1" i="0">
                <a:solidFill>
                  <a:srgbClr val="FFFFFF"/>
                </a:solidFill>
                <a:latin typeface="Trenda IG Text"/>
              </a:rPr>
              <a:t>Developer</a:t>
            </a:r>
          </a:p>
        </p:txBody>
      </p:sp>
      <p:sp>
        <p:nvSpPr>
          <p:cNvPr id="29" name="Text 28"/>
          <p:cNvSpPr txBox="1"/>
          <p:nvPr/>
        </p:nvSpPr>
        <p:spPr>
          <a:xfrm>
            <a:off x="2258568" y="2926080"/>
            <a:ext cx="2697479" cy="457200"/>
          </a:xfrm>
          <a:prstGeom prst="rect">
            <a:avLst/>
          </a:prstGeom>
          <a:noFill/>
        </p:spPr>
        <p:txBody>
          <a:bodyPr wrap="square" lIns="0" rIns="0" tIns="0" bIns="0" anchor="ctr">
            <a:spAutoFit/>
          </a:bodyPr>
          <a:lstStyle/>
          <a:p>
            <a:r>
              <a:rPr sz="900" b="0" i="0">
                <a:solidFill>
                  <a:srgbClr val="FFFFFF"/>
                </a:solidFill>
                <a:latin typeface="Trenda IG Text"/>
              </a:rPr>
              <a:t>Code passes every check</a:t>
            </a:r>
          </a:p>
        </p:txBody>
      </p:sp>
      <p:sp>
        <p:nvSpPr>
          <p:cNvPr id="30" name="Text 29"/>
          <p:cNvSpPr txBox="1"/>
          <p:nvPr/>
        </p:nvSpPr>
        <p:spPr>
          <a:xfrm>
            <a:off x="5138928" y="2926080"/>
            <a:ext cx="3794759" cy="457200"/>
          </a:xfrm>
          <a:prstGeom prst="rect">
            <a:avLst/>
          </a:prstGeom>
          <a:noFill/>
        </p:spPr>
        <p:txBody>
          <a:bodyPr wrap="square" lIns="0" rIns="0" tIns="0" bIns="0" anchor="ctr">
            <a:spAutoFit/>
          </a:bodyPr>
          <a:lstStyle/>
          <a:p>
            <a:r>
              <a:rPr sz="900" b="1" i="0">
                <a:solidFill>
                  <a:srgbClr val="00D6F2"/>
                </a:solidFill>
                <a:latin typeface="Trenda IG Text"/>
              </a:rPr>
              <a:t>pass@1 and pass@5; attempts per story</a:t>
            </a:r>
          </a:p>
        </p:txBody>
      </p:sp>
      <p:sp>
        <p:nvSpPr>
          <p:cNvPr id="31" name="Text 30"/>
          <p:cNvSpPr txBox="1"/>
          <p:nvPr/>
        </p:nvSpPr>
        <p:spPr>
          <a:xfrm>
            <a:off x="9116567" y="2926080"/>
            <a:ext cx="2587751" cy="457200"/>
          </a:xfrm>
          <a:prstGeom prst="rect">
            <a:avLst/>
          </a:prstGeom>
          <a:noFill/>
        </p:spPr>
        <p:txBody>
          <a:bodyPr wrap="square" lIns="0" rIns="0" tIns="0" bIns="0" anchor="ctr">
            <a:spAutoFit/>
          </a:bodyPr>
          <a:lstStyle/>
          <a:p>
            <a:r>
              <a:rPr sz="900" b="0" i="0">
                <a:solidFill>
                  <a:srgbClr val="BFBFBF"/>
                </a:solidFill>
                <a:latin typeface="Trenda IG Text"/>
              </a:rPr>
              <a:t>Automatic: tests, Code Analyzer, Guardian</a:t>
            </a:r>
          </a:p>
        </p:txBody>
      </p:sp>
      <p:sp>
        <p:nvSpPr>
          <p:cNvPr id="32" name="Shape 31"/>
          <p:cNvSpPr/>
          <p:nvPr/>
        </p:nvSpPr>
        <p:spPr>
          <a:xfrm>
            <a:off x="411480" y="33832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2"/>
          <p:cNvSpPr/>
          <p:nvPr/>
        </p:nvSpPr>
        <p:spPr>
          <a:xfrm>
            <a:off x="448056" y="35661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630936" y="3383280"/>
            <a:ext cx="1444751" cy="457200"/>
          </a:xfrm>
          <a:prstGeom prst="rect">
            <a:avLst/>
          </a:prstGeom>
          <a:noFill/>
        </p:spPr>
        <p:txBody>
          <a:bodyPr wrap="square" lIns="0" rIns="0" tIns="0" bIns="0" anchor="ctr">
            <a:spAutoFit/>
          </a:bodyPr>
          <a:lstStyle/>
          <a:p>
            <a:r>
              <a:rPr sz="1000" b="1" i="0">
                <a:solidFill>
                  <a:srgbClr val="FFFFFF"/>
                </a:solidFill>
                <a:latin typeface="Trenda IG Text"/>
              </a:rPr>
              <a:t>Review</a:t>
            </a:r>
          </a:p>
        </p:txBody>
      </p:sp>
      <p:sp>
        <p:nvSpPr>
          <p:cNvPr id="35" name="Text 34"/>
          <p:cNvSpPr txBox="1"/>
          <p:nvPr/>
        </p:nvSpPr>
        <p:spPr>
          <a:xfrm>
            <a:off x="2258568" y="3383280"/>
            <a:ext cx="2697479" cy="457200"/>
          </a:xfrm>
          <a:prstGeom prst="rect">
            <a:avLst/>
          </a:prstGeom>
          <a:noFill/>
        </p:spPr>
        <p:txBody>
          <a:bodyPr wrap="square" lIns="0" rIns="0" tIns="0" bIns="0" anchor="ctr">
            <a:spAutoFit/>
          </a:bodyPr>
          <a:lstStyle/>
          <a:p>
            <a:r>
              <a:rPr sz="900" b="0" i="0">
                <a:solidFill>
                  <a:srgbClr val="FFFFFF"/>
                </a:solidFill>
                <a:latin typeface="Trenda IG Text"/>
              </a:rPr>
              <a:t>Its verdict matches a human reviewer</a:t>
            </a:r>
          </a:p>
        </p:txBody>
      </p:sp>
      <p:sp>
        <p:nvSpPr>
          <p:cNvPr id="36" name="Text 35"/>
          <p:cNvSpPr txBox="1"/>
          <p:nvPr/>
        </p:nvSpPr>
        <p:spPr>
          <a:xfrm>
            <a:off x="5138928" y="3383280"/>
            <a:ext cx="3794759" cy="457200"/>
          </a:xfrm>
          <a:prstGeom prst="rect">
            <a:avLst/>
          </a:prstGeom>
          <a:noFill/>
        </p:spPr>
        <p:txBody>
          <a:bodyPr wrap="square" lIns="0" rIns="0" tIns="0" bIns="0" anchor="ctr">
            <a:spAutoFit/>
          </a:bodyPr>
          <a:lstStyle/>
          <a:p>
            <a:r>
              <a:rPr sz="900" b="1" i="0">
                <a:solidFill>
                  <a:srgbClr val="00D6F2"/>
                </a:solidFill>
                <a:latin typeface="Trenda IG Text"/>
              </a:rPr>
              <a:t>Judge agreement with tech leads</a:t>
            </a:r>
          </a:p>
        </p:txBody>
      </p:sp>
      <p:sp>
        <p:nvSpPr>
          <p:cNvPr id="37" name="Text 36"/>
          <p:cNvSpPr txBox="1"/>
          <p:nvPr/>
        </p:nvSpPr>
        <p:spPr>
          <a:xfrm>
            <a:off x="9116567" y="3383280"/>
            <a:ext cx="2587751" cy="457200"/>
          </a:xfrm>
          <a:prstGeom prst="rect">
            <a:avLst/>
          </a:prstGeom>
          <a:noFill/>
        </p:spPr>
        <p:txBody>
          <a:bodyPr wrap="square" lIns="0" rIns="0" tIns="0" bIns="0" anchor="ctr">
            <a:spAutoFit/>
          </a:bodyPr>
          <a:lstStyle/>
          <a:p>
            <a:r>
              <a:rPr sz="900" b="0" i="0">
                <a:solidFill>
                  <a:srgbClr val="BFBFBF"/>
                </a:solidFill>
                <a:latin typeface="Trenda IG Text"/>
              </a:rPr>
              <a:t>Tech leads at H3</a:t>
            </a:r>
          </a:p>
        </p:txBody>
      </p:sp>
      <p:sp>
        <p:nvSpPr>
          <p:cNvPr id="38" name="Shape 37"/>
          <p:cNvSpPr/>
          <p:nvPr/>
        </p:nvSpPr>
        <p:spPr>
          <a:xfrm>
            <a:off x="448056" y="40233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30936" y="3840480"/>
            <a:ext cx="1444751" cy="457200"/>
          </a:xfrm>
          <a:prstGeom prst="rect">
            <a:avLst/>
          </a:prstGeom>
          <a:noFill/>
        </p:spPr>
        <p:txBody>
          <a:bodyPr wrap="square" lIns="0" rIns="0" tIns="0" bIns="0" anchor="ctr">
            <a:spAutoFit/>
          </a:bodyPr>
          <a:lstStyle/>
          <a:p>
            <a:r>
              <a:rPr sz="1000" b="1" i="0">
                <a:solidFill>
                  <a:srgbClr val="FFFFFF"/>
                </a:solidFill>
                <a:latin typeface="Trenda IG Text"/>
              </a:rPr>
              <a:t>Test</a:t>
            </a:r>
          </a:p>
        </p:txBody>
      </p:sp>
      <p:sp>
        <p:nvSpPr>
          <p:cNvPr id="40" name="Text 39"/>
          <p:cNvSpPr txBox="1"/>
          <p:nvPr/>
        </p:nvSpPr>
        <p:spPr>
          <a:xfrm>
            <a:off x="2258568" y="3840480"/>
            <a:ext cx="2697479" cy="457200"/>
          </a:xfrm>
          <a:prstGeom prst="rect">
            <a:avLst/>
          </a:prstGeom>
          <a:noFill/>
        </p:spPr>
        <p:txBody>
          <a:bodyPr wrap="square" lIns="0" rIns="0" tIns="0" bIns="0" anchor="ctr">
            <a:spAutoFit/>
          </a:bodyPr>
          <a:lstStyle/>
          <a:p>
            <a:r>
              <a:rPr sz="900" b="0" i="0">
                <a:solidFill>
                  <a:srgbClr val="FFFFFF"/>
                </a:solidFill>
                <a:latin typeface="Trenda IG Text"/>
              </a:rPr>
              <a:t>Defects are caught before UAT</a:t>
            </a:r>
          </a:p>
        </p:txBody>
      </p:sp>
      <p:sp>
        <p:nvSpPr>
          <p:cNvPr id="41" name="Text 40"/>
          <p:cNvSpPr txBox="1"/>
          <p:nvPr/>
        </p:nvSpPr>
        <p:spPr>
          <a:xfrm>
            <a:off x="5138928" y="3840480"/>
            <a:ext cx="3794759" cy="457200"/>
          </a:xfrm>
          <a:prstGeom prst="rect">
            <a:avLst/>
          </a:prstGeom>
          <a:noFill/>
        </p:spPr>
        <p:txBody>
          <a:bodyPr wrap="square" lIns="0" rIns="0" tIns="0" bIns="0" anchor="ctr">
            <a:spAutoFit/>
          </a:bodyPr>
          <a:lstStyle/>
          <a:p>
            <a:r>
              <a:rPr sz="900" b="1" i="0">
                <a:solidFill>
                  <a:srgbClr val="00D6F2"/>
                </a:solidFill>
                <a:latin typeface="Trenda IG Text"/>
              </a:rPr>
              <a:t>Escaped defects in UAT and production vs baseline</a:t>
            </a:r>
          </a:p>
        </p:txBody>
      </p:sp>
      <p:sp>
        <p:nvSpPr>
          <p:cNvPr id="42" name="Text 41"/>
          <p:cNvSpPr txBox="1"/>
          <p:nvPr/>
        </p:nvSpPr>
        <p:spPr>
          <a:xfrm>
            <a:off x="9116567" y="3840480"/>
            <a:ext cx="2587751" cy="457200"/>
          </a:xfrm>
          <a:prstGeom prst="rect">
            <a:avLst/>
          </a:prstGeom>
          <a:noFill/>
        </p:spPr>
        <p:txBody>
          <a:bodyPr wrap="square" lIns="0" rIns="0" tIns="0" bIns="0" anchor="ctr">
            <a:spAutoFit/>
          </a:bodyPr>
          <a:lstStyle/>
          <a:p>
            <a:r>
              <a:rPr sz="900" b="0" i="0">
                <a:solidFill>
                  <a:srgbClr val="BFBFBF"/>
                </a:solidFill>
                <a:latin typeface="Trenda IG Text"/>
              </a:rPr>
              <a:t>QA and UAT results</a:t>
            </a:r>
          </a:p>
        </p:txBody>
      </p:sp>
      <p:sp>
        <p:nvSpPr>
          <p:cNvPr id="43" name="Shape 42"/>
          <p:cNvSpPr/>
          <p:nvPr/>
        </p:nvSpPr>
        <p:spPr>
          <a:xfrm>
            <a:off x="411480" y="4297680"/>
            <a:ext cx="11365992" cy="457200"/>
          </a:xfrm>
          <a:prstGeom prst="rect">
            <a:avLst/>
          </a:prstGeom>
          <a:solidFill>
            <a:srgbClr val="1C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48056" y="44805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30936" y="4297680"/>
            <a:ext cx="1444751" cy="457200"/>
          </a:xfrm>
          <a:prstGeom prst="rect">
            <a:avLst/>
          </a:prstGeom>
          <a:noFill/>
        </p:spPr>
        <p:txBody>
          <a:bodyPr wrap="square" lIns="0" rIns="0" tIns="0" bIns="0" anchor="ctr">
            <a:spAutoFit/>
          </a:bodyPr>
          <a:lstStyle/>
          <a:p>
            <a:r>
              <a:rPr sz="1000" b="1" i="0">
                <a:solidFill>
                  <a:srgbClr val="FFFFFF"/>
                </a:solidFill>
                <a:latin typeface="Trenda IG Text"/>
              </a:rPr>
              <a:t>Release</a:t>
            </a:r>
          </a:p>
        </p:txBody>
      </p:sp>
      <p:sp>
        <p:nvSpPr>
          <p:cNvPr id="46" name="Text 45"/>
          <p:cNvSpPr txBox="1"/>
          <p:nvPr/>
        </p:nvSpPr>
        <p:spPr>
          <a:xfrm>
            <a:off x="2258568" y="4297680"/>
            <a:ext cx="2697479" cy="457200"/>
          </a:xfrm>
          <a:prstGeom prst="rect">
            <a:avLst/>
          </a:prstGeom>
          <a:noFill/>
        </p:spPr>
        <p:txBody>
          <a:bodyPr wrap="square" lIns="0" rIns="0" tIns="0" bIns="0" anchor="ctr">
            <a:spAutoFit/>
          </a:bodyPr>
          <a:lstStyle/>
          <a:p>
            <a:r>
              <a:rPr sz="900" b="0" i="0">
                <a:solidFill>
                  <a:srgbClr val="FFFFFF"/>
                </a:solidFill>
                <a:latin typeface="Trenda IG Text"/>
              </a:rPr>
              <a:t>Package deploys cleanly</a:t>
            </a:r>
          </a:p>
        </p:txBody>
      </p:sp>
      <p:sp>
        <p:nvSpPr>
          <p:cNvPr id="47" name="Text 46"/>
          <p:cNvSpPr txBox="1"/>
          <p:nvPr/>
        </p:nvSpPr>
        <p:spPr>
          <a:xfrm>
            <a:off x="5138928" y="4297680"/>
            <a:ext cx="3794759" cy="457200"/>
          </a:xfrm>
          <a:prstGeom prst="rect">
            <a:avLst/>
          </a:prstGeom>
          <a:noFill/>
        </p:spPr>
        <p:txBody>
          <a:bodyPr wrap="square" lIns="0" rIns="0" tIns="0" bIns="0" anchor="ctr">
            <a:spAutoFit/>
          </a:bodyPr>
          <a:lstStyle/>
          <a:p>
            <a:r>
              <a:rPr sz="900" b="1" i="0">
                <a:solidFill>
                  <a:srgbClr val="00D6F2"/>
                </a:solidFill>
                <a:latin typeface="Trenda IG Text"/>
              </a:rPr>
              <a:t>Deployment success; rollbacks per release</a:t>
            </a:r>
          </a:p>
        </p:txBody>
      </p:sp>
      <p:sp>
        <p:nvSpPr>
          <p:cNvPr id="48" name="Text 47"/>
          <p:cNvSpPr txBox="1"/>
          <p:nvPr/>
        </p:nvSpPr>
        <p:spPr>
          <a:xfrm>
            <a:off x="9116567" y="4297680"/>
            <a:ext cx="2587751" cy="457200"/>
          </a:xfrm>
          <a:prstGeom prst="rect">
            <a:avLst/>
          </a:prstGeom>
          <a:noFill/>
        </p:spPr>
        <p:txBody>
          <a:bodyPr wrap="square" lIns="0" rIns="0" tIns="0" bIns="0" anchor="ctr">
            <a:spAutoFit/>
          </a:bodyPr>
          <a:lstStyle/>
          <a:p>
            <a:r>
              <a:rPr sz="900" b="0" i="0">
                <a:solidFill>
                  <a:srgbClr val="BFBFBF"/>
                </a:solidFill>
                <a:latin typeface="Trenda IG Text"/>
              </a:rPr>
              <a:t>Copado results</a:t>
            </a:r>
          </a:p>
        </p:txBody>
      </p:sp>
      <p:sp>
        <p:nvSpPr>
          <p:cNvPr id="49" name="Shape 48"/>
          <p:cNvSpPr/>
          <p:nvPr/>
        </p:nvSpPr>
        <p:spPr>
          <a:xfrm>
            <a:off x="448056" y="4937760"/>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630936" y="4754880"/>
            <a:ext cx="1444751" cy="457200"/>
          </a:xfrm>
          <a:prstGeom prst="rect">
            <a:avLst/>
          </a:prstGeom>
          <a:noFill/>
        </p:spPr>
        <p:txBody>
          <a:bodyPr wrap="square" lIns="0" rIns="0" tIns="0" bIns="0" anchor="ctr">
            <a:spAutoFit/>
          </a:bodyPr>
          <a:lstStyle/>
          <a:p>
            <a:r>
              <a:rPr sz="1000" b="1" i="0">
                <a:solidFill>
                  <a:srgbClr val="FFFFFF"/>
                </a:solidFill>
                <a:latin typeface="Trenda IG Text"/>
              </a:rPr>
              <a:t>Change Guardian</a:t>
            </a:r>
          </a:p>
        </p:txBody>
      </p:sp>
      <p:sp>
        <p:nvSpPr>
          <p:cNvPr id="51" name="Text 50"/>
          <p:cNvSpPr txBox="1"/>
          <p:nvPr/>
        </p:nvSpPr>
        <p:spPr>
          <a:xfrm>
            <a:off x="2258568" y="4754880"/>
            <a:ext cx="2697479" cy="457200"/>
          </a:xfrm>
          <a:prstGeom prst="rect">
            <a:avLst/>
          </a:prstGeom>
          <a:noFill/>
        </p:spPr>
        <p:txBody>
          <a:bodyPr wrap="square" lIns="0" rIns="0" tIns="0" bIns="0" anchor="ctr">
            <a:spAutoFit/>
          </a:bodyPr>
          <a:lstStyle/>
          <a:p>
            <a:r>
              <a:rPr sz="900" b="0" i="0">
                <a:solidFill>
                  <a:srgbClr val="FFFFFF"/>
                </a:solidFill>
                <a:latin typeface="Trenda IG Text"/>
              </a:rPr>
              <a:t>Blocks what it should, passes what it should</a:t>
            </a:r>
          </a:p>
        </p:txBody>
      </p:sp>
      <p:sp>
        <p:nvSpPr>
          <p:cNvPr id="52" name="Text 51"/>
          <p:cNvSpPr txBox="1"/>
          <p:nvPr/>
        </p:nvSpPr>
        <p:spPr>
          <a:xfrm>
            <a:off x="5138928" y="4754880"/>
            <a:ext cx="3794759" cy="457200"/>
          </a:xfrm>
          <a:prstGeom prst="rect">
            <a:avLst/>
          </a:prstGeom>
          <a:noFill/>
        </p:spPr>
        <p:txBody>
          <a:bodyPr wrap="square" lIns="0" rIns="0" tIns="0" bIns="0" anchor="ctr">
            <a:spAutoFit/>
          </a:bodyPr>
          <a:lstStyle/>
          <a:p>
            <a:r>
              <a:rPr sz="900" b="1" i="0">
                <a:solidFill>
                  <a:srgbClr val="00D6F2"/>
                </a:solidFill>
                <a:latin typeface="Trenda IG Text"/>
              </a:rPr>
              <a:t>Missed conflicts and false blocks</a:t>
            </a:r>
          </a:p>
        </p:txBody>
      </p:sp>
      <p:sp>
        <p:nvSpPr>
          <p:cNvPr id="53" name="Text 52"/>
          <p:cNvSpPr txBox="1"/>
          <p:nvPr/>
        </p:nvSpPr>
        <p:spPr>
          <a:xfrm>
            <a:off x="9116567" y="4754880"/>
            <a:ext cx="2587751" cy="457200"/>
          </a:xfrm>
          <a:prstGeom prst="rect">
            <a:avLst/>
          </a:prstGeom>
          <a:noFill/>
        </p:spPr>
        <p:txBody>
          <a:bodyPr wrap="square" lIns="0" rIns="0" tIns="0" bIns="0" anchor="ctr">
            <a:spAutoFit/>
          </a:bodyPr>
          <a:lstStyle/>
          <a:p>
            <a:r>
              <a:rPr sz="900" b="0" i="0">
                <a:solidFill>
                  <a:srgbClr val="BFBFBF"/>
                </a:solidFill>
                <a:latin typeface="Trenda IG Text"/>
              </a:rPr>
              <a:t>Pod owners review every block</a:t>
            </a:r>
          </a:p>
        </p:txBody>
      </p:sp>
      <p:sp>
        <p:nvSpPr>
          <p:cNvPr id="54" name="Shape 53"/>
          <p:cNvSpPr/>
          <p:nvPr/>
        </p:nvSpPr>
        <p:spPr>
          <a:xfrm>
            <a:off x="411480" y="5212080"/>
            <a:ext cx="11365992" cy="1097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11480" y="5266944"/>
            <a:ext cx="11365992" cy="201168"/>
          </a:xfrm>
          <a:prstGeom prst="rect">
            <a:avLst/>
          </a:prstGeom>
          <a:noFill/>
        </p:spPr>
        <p:txBody>
          <a:bodyPr wrap="square" lIns="0" rIns="0" tIns="0" bIns="0" anchor="ctr">
            <a:spAutoFit/>
          </a:bodyPr>
          <a:lstStyle/>
          <a:p>
            <a:r>
              <a:rPr sz="800" b="1" i="0">
                <a:solidFill>
                  <a:srgbClr val="00D6F2"/>
                </a:solidFill>
                <a:latin typeface="Trenda IG Text"/>
              </a:rPr>
              <a:t>pass@k </a:t>
            </a:r>
            <a:r>
              <a:rPr sz="800" b="0" i="0">
                <a:solidFill>
                  <a:srgbClr val="BFBFBF"/>
                </a:solidFill>
                <a:latin typeface="Trenda IG Text"/>
              </a:rPr>
              <a:t>= the share of steps that pass all checks within k attempts. pass@1: right first time. pass@5: right by the fifth and last attempt; the gap between them shows how much rework the agent needs.</a:t>
            </a:r>
          </a:p>
        </p:txBody>
      </p:sp>
      <p:sp>
        <p:nvSpPr>
          <p:cNvPr id="56" name="Shape 55"/>
          <p:cNvSpPr/>
          <p:nvPr/>
        </p:nvSpPr>
        <p:spPr>
          <a:xfrm>
            <a:off x="411480" y="5541264"/>
            <a:ext cx="11365992" cy="457200"/>
          </a:xfrm>
          <a:prstGeom prst="roundRect">
            <a:avLst>
              <a:gd name="adj" fmla="val 25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40080" y="5541264"/>
            <a:ext cx="2194560" cy="457200"/>
          </a:xfrm>
          <a:prstGeom prst="rect">
            <a:avLst/>
          </a:prstGeom>
          <a:noFill/>
        </p:spPr>
        <p:txBody>
          <a:bodyPr wrap="square" lIns="0" rIns="0" tIns="0" bIns="0" anchor="ctr">
            <a:spAutoFit/>
          </a:bodyPr>
          <a:lstStyle/>
          <a:p>
            <a:r>
              <a:rPr sz="750" b="1" i="0" spc="200">
                <a:solidFill>
                  <a:srgbClr val="FF0069"/>
                </a:solidFill>
                <a:latin typeface="Trenda IG Text"/>
              </a:rPr>
              <a:t>HOW TARGETS ARE SET</a:t>
            </a:r>
          </a:p>
        </p:txBody>
      </p:sp>
      <p:sp>
        <p:nvSpPr>
          <p:cNvPr id="58" name="Text 57"/>
          <p:cNvSpPr txBox="1"/>
          <p:nvPr/>
        </p:nvSpPr>
        <p:spPr>
          <a:xfrm>
            <a:off x="2743200" y="5541264"/>
            <a:ext cx="8805672" cy="457200"/>
          </a:xfrm>
          <a:prstGeom prst="rect">
            <a:avLst/>
          </a:prstGeom>
          <a:noFill/>
        </p:spPr>
        <p:txBody>
          <a:bodyPr wrap="square" lIns="0" rIns="0" tIns="0" bIns="0" anchor="ctr">
            <a:spAutoFit/>
          </a:bodyPr>
          <a:lstStyle/>
          <a:p>
            <a:r>
              <a:rPr sz="900" b="1" i="0">
                <a:solidFill>
                  <a:srgbClr val="FFFFFF"/>
                </a:solidFill>
                <a:latin typeface="Trenda IG Text"/>
              </a:rPr>
              <a:t>Each target comes from the Phase 0 baseline and is agreed with Ascension. </a:t>
            </a:r>
            <a:r>
              <a:rPr sz="900" b="0" i="0">
                <a:solidFill>
                  <a:srgbClr val="BFBFBF"/>
                </a:solidFill>
                <a:latin typeface="Trenda IG Text"/>
              </a:rPr>
              <a:t>Scores are reviewed monthly; a falling score sends that agent back through diagnose and tune.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