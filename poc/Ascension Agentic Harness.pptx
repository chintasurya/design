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23" r:id="rId4"/>
    <p:sldId id="330" r:id="rId5"/>
    <p:sldId id="356" r:id="rId46"/>
    <p:sldId id="345" r:id="rId6"/>
    <p:sldId id="354" r:id="rId7"/>
    <p:sldId id="347" r:id="rId8"/>
    <p:sldId id="352" r:id="rId9"/>
    <p:sldId id="324" r:id="rId10"/>
    <p:sldId id="325" r:id="rId11"/>
    <p:sldId id="326" r:id="rId12"/>
    <p:sldId id="357" r:id="rId47"/>
    <p:sldId id="341" r:id="rId14"/>
    <p:sldId id="342" r:id="rId15"/>
    <p:sldId id="355" r:id="rId16"/>
    <p:sldId id="358" r:id="rId48"/>
    <p:sldId id="338" r:id="rId19"/>
    <p:sldId id="340" r:id="rId18"/>
    <p:sldId id="320" r:id="rId20"/>
    <p:sldId id="333" r:id="rId21"/>
    <p:sldId id="346" r:id="rId22"/>
    <p:sldId id="321" r:id="rId23"/>
    <p:sldId id="327" r:id="rId24"/>
    <p:sldId id="328" r:id="rId25"/>
    <p:sldId id="322" r:id="rId26"/>
    <p:sldId id="258" r:id="rId27"/>
    <p:sldId id="257" r:id="rId28"/>
    <p:sldId id="331" r:id="rId29"/>
    <p:sldId id="332" r:id="rId30"/>
    <p:sldId id="256" r:id="rId31"/>
    <p:sldId id="319" r:id="rId32"/>
    <p:sldId id="344" r:id="rId33"/>
    <p:sldId id="348" r:id="rId34"/>
    <p:sldId id="349" r:id="rId35"/>
    <p:sldId id="350" r:id="rId36"/>
    <p:sldId id="351" r:id="rId37"/>
    <p:sldId id="334"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endParaRPr/>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endParaRPr/>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endParaRPr/>
          </a:p>
          <a:p>
            <a:r>
              <a:t>THE RULE AT THE BOTTOM</a:t>
            </a:r>
          </a:p>
          <a:p>
            <a:r>
              <a:t>When an agent struggles, we do not tweak a prompt for one story. We find what was missing (a tool, a rule, a document, a test), add it to the harness once, and every pod gets it.</a:t>
            </a:r>
          </a:p>
          <a:p>
            <a:endParaRPr/>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extLst>
      <p:ext uri="{BB962C8B-B14F-4D97-AF65-F5344CB8AC3E}">
        <p14:creationId xmlns:p14="http://schemas.microsoft.com/office/powerpoint/2010/main" val="2016330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Evals are how we earn reliability   (about 4 minutes)</a:t>
            </a:r>
          </a:p>
          <a:p>
            <a:endParaRPr/>
          </a:p>
          <a:p>
            <a:r>
              <a:t>KEY MESSAGE</a:t>
            </a:r>
          </a:p>
          <a:p>
            <a:r>
              <a:t>AI is non-deterministic, so reliability is not assumed; it is earned, run by run. Evals are the engine that earns it: every output is tested before it moves on, and every miss becomes a new test. Reliability = observability + evals, inside guardrails.</a:t>
            </a:r>
          </a:p>
          <a:p>
            <a:endParaRPr/>
          </a:p>
          <a:p>
            <a:r>
              <a:t>WALK IT</a:t>
            </a:r>
          </a:p>
          <a:p>
            <a:r>
              <a:t>Inputs (left):</a:t>
            </a:r>
          </a:p>
          <a:p>
            <a:r>
              <a:t>- Agent output: what each step produced (brief, design, code, tests).</a:t>
            </a:r>
          </a:p>
          <a:p>
            <a:r>
              <a:t>- Agent traces: observability. Every prompt, skill version, tool call, decision and cost. Without traces you cannot evaluate.</a:t>
            </a:r>
          </a:p>
          <a:p>
            <a:r>
              <a:t>- Golden set and weekly sample: real Ascension changes labelled by your experts, plus a weekly blind sample of approved changes. This is the ground truth.</a:t>
            </a:r>
          </a:p>
          <a:p>
            <a:endParaRPr/>
          </a:p>
          <a:p>
            <a:r>
              <a:t>The engine (centre), scored on every run:</a:t>
            </a:r>
          </a:p>
          <a:p>
            <a:r>
              <a:t>- Answer relevancy: does the output answer the story that was asked?</a:t>
            </a:r>
          </a:p>
          <a:p>
            <a:r>
              <a:t>- Groundedness: is every claim backed by a graph fact or a tool response? This is how we catch hallucination.</a:t>
            </a:r>
          </a:p>
          <a:p>
            <a:r>
              <a:t>- Tool sequence: did the agent call the right tools in the right order, without repeating them? Measured with precision and recall.</a:t>
            </a:r>
          </a:p>
          <a:p>
            <a:r>
              <a:t>- pass@k: right first time (pass@1), and right by the fifth and last attempt (pass@5).</a:t>
            </a:r>
          </a:p>
          <a:p>
            <a:r>
              <a:t>Where the Review Agent acts as the judge, its verdicts are themselves measured against your tech leads.</a:t>
            </a:r>
          </a:p>
          <a:p>
            <a:endParaRPr/>
          </a:p>
          <a:p>
            <a:r>
              <a:t>Outcomes (right):</a:t>
            </a:r>
          </a:p>
          <a:p>
            <a:r>
              <a:t>- Pass: output guardrails, then people approve at H1-H4 and CAB, then release. This is the reliable path.</a:t>
            </a:r>
          </a:p>
          <a:p>
            <a:r>
              <a:t>- Retry (the magenta arc over the top): back to the agent with the failure as feedback, at most five times; then the step stops, nothing is released, and a named owner takes over. No infinite loops.</a:t>
            </a:r>
          </a:p>
          <a:p>
            <a:r>
              <a:t>- Learn (the yellow arc underneath): every miss is diagnosed (which agent, step or context failed), the harness is tuned, and the fix is re-tested on the golden set; the miss becomes a new test case. That is the closed loop.</a:t>
            </a:r>
          </a:p>
          <a:p>
            <a:endParaRPr/>
          </a:p>
          <a:p>
            <a:r>
              <a:t>Around it all, guardrails in and out: harmful prompts and injection blocked, patient data redacted, no agent with a production credential, and agents can never edit tests or the evaluation set.</a:t>
            </a:r>
          </a:p>
          <a:p>
            <a:endParaRPr/>
          </a:p>
          <a:p>
            <a:r>
              <a:t>Top bar, the formula: reliability = observability (the traces) + evals (the engine in the centre), protected by guardrails (the frame around it).</a:t>
            </a:r>
          </a:p>
        </p:txBody>
      </p:sp>
    </p:spTree>
    <p:extLst>
      <p:ext uri="{BB962C8B-B14F-4D97-AF65-F5344CB8AC3E}">
        <p14:creationId xmlns:p14="http://schemas.microsoft.com/office/powerpoint/2010/main" val="25817696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endParaRPr/>
          </a:p>
          <a:p>
            <a:r>
              <a:t>KEY MESSAGE</a:t>
            </a:r>
          </a:p>
          <a:p>
            <a:r>
              <a:t>We do not only measure whether a story ended well. Each agent is scored on its own job, so when something slips we know exactly which agent to fix.</a:t>
            </a:r>
          </a:p>
          <a:p>
            <a:endParaRPr/>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endParaRPr/>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endParaRPr/>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extLst>
      <p:ext uri="{BB962C8B-B14F-4D97-AF65-F5344CB8AC3E}">
        <p14:creationId xmlns:p14="http://schemas.microsoft.com/office/powerpoint/2010/main" val="222581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endParaRPr/>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endParaRPr/>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endParaRPr/>
          </a:p>
          <a:p>
            <a:r>
              <a:t>WHY IT MATTERS FOR ASCENSION</a:t>
            </a:r>
          </a:p>
          <a:p>
            <a:r>
              <a:t>Investing in the harness now is not throw-away work: every run, approval, rejection and incident recorded today is exactly the evidence the next stage needs to earn more autonomy safely.</a:t>
            </a:r>
          </a:p>
          <a:p>
            <a:endParaRPr/>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endParaRPr/>
          </a:p>
          <a:p>
            <a:r>
              <a:t>WHAT NEVER CHANGES (the band at the bottom)</a:t>
            </a:r>
          </a:p>
          <a:p>
            <a:r>
              <a:t>At every stage, Ascension sets the goals and the limits, keeps the final say on production, and can see and stop any run.</a:t>
            </a:r>
          </a:p>
          <a:p>
            <a:endParaRPr/>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extLst>
      <p:ext uri="{BB962C8B-B14F-4D97-AF65-F5344CB8AC3E}">
        <p14:creationId xmlns:p14="http://schemas.microsoft.com/office/powerpoint/2010/main" val="373581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A Health Cloud change, 2 weeks today vs 2 days with the Agentic Harness   (about 3 minutes)</a:t>
            </a:r>
          </a:p>
          <a:p/>
          <a:p>
            <a:r>
              <a:t>KEY MESSAGE</a:t>
            </a:r>
          </a:p>
          <a:p>
            <a:r>
              <a:t>Any Health Cloud task on the Network Services pod, from Jira story to UAT sign-off, takes about two weeks today. On the Agentic Harness the same task takes about two days. People still approve at every gate.</a:t>
            </a:r>
          </a:p>
          <a:p/>
          <a:p>
            <a:r>
              <a:t>WALK IT</a:t>
            </a:r>
          </a:p>
          <a:p>
            <a:r>
              <a:t>- Left, today: nine steps, one hand-off at a time, inside office hours. About 10 working days. Most of the time goes on understanding the story, finding the impact by hand and writing tests by hand.</a:t>
            </a:r>
          </a:p>
          <a:p>
            <a:r>
              <a:t>- Right, with the harness: the same seven agents as every pod, with Health Cloud skills.</a:t>
            </a:r>
          </a:p>
          <a:p>
            <a:r>
              <a:t>  - Day 1 morning: the Requirements Agent turns the story into a brief and the product owner approves (H1). The Architect Agent reads impact and reuse from the knowledge graph and the architect approves (H2).</a:t>
            </a:r>
          </a:p>
          <a:p>
            <a:r>
              <a:t>  - Day 1 afternoon and overnight: the Developer Agent builds in DEV (Apex, LWC, Flows, sharing).</a:t>
            </a:r>
          </a:p>
          <a:p>
            <a:r>
              <a:t>  - Day 2: the Review Agent checks code, security and sharing and the tech lead approves (H3); the Test Agent runs Zephyr cases and Copado regression and people sign UAT (H4); the Release Agent promotes to SIT / UAT.</a:t>
            </a:r>
          </a:p>
          <a:p>
            <a:r>
              <a:t>- Production still goes through CAB in its normal window; the two days are story to UAT sign-off.</a:t>
            </a:r>
          </a:p>
          <a:p/>
          <a:p>
            <a:r>
              <a:t>THE NUMBERS</a:t>
            </a:r>
          </a:p>
          <a:p>
            <a:r>
              <a:t>- About 80% faster: 10 working days to about 2 days.</a:t>
            </a:r>
          </a:p>
          <a:p>
            <a:r>
              <a:t>- Already measured with agent-assisted delivery: 1-2 weeks down to 2-4 days. The harness adds the graph, the overnight build and the automated tests that take it to about 2 days. The 2 days is the target, confirmed against the Phase 0 baseline.</a:t>
            </a:r>
          </a:p>
          <a:p/>
          <a:p>
            <a:r>
              <a:t>BE READY FOR</a:t>
            </a:r>
          </a:p>
          <a:p>
            <a:r>
              <a:t>- "Does every task take 2 days?" Small changes take less; large or cross-pod changes take longer because more owners must approve. Two days is the typical Health Cloud task.</a:t>
            </a:r>
          </a:p>
          <a:p>
            <a:r>
              <a:t>- "Who approves?" The same people as today: product owner, architect, tech lead, business owner for UAT, and CAB for production.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35103763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25047429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Risks and mitigations   (about 3 minutes)</a:t>
            </a:r>
          </a:p>
          <a:p>
            <a:endParaRPr/>
          </a:p>
          <a:p>
            <a:r>
              <a:t>KEY MESSAGE</a:t>
            </a:r>
          </a:p>
          <a:p>
            <a:r>
              <a:t>We are not asking Ascension to trust that nothing goes wrong. Every risk we can see has a mitigation already built into the phases, a signal that warns us early, and a named owner.</a:t>
            </a:r>
          </a:p>
          <a:p>
            <a:endParaRPr/>
          </a:p>
          <a:p>
            <a:r>
              <a:t>WALK IT (pick three, do not read all nine)</a:t>
            </a:r>
          </a:p>
          <a:p>
            <a:r>
              <a:t>- Expert time (the only High / High): evals are only as good as the labels. We agree the hours per pod at Phase 0, agents pre-label and experts only confirm, and the weekly sample is small by design.</a:t>
            </a:r>
          </a:p>
          <a:p>
            <a:r>
              <a:t>- Patient data: low likelihood because the graph holds metadata, never patient records, and DLP runs in and out; high impact, so OpenAI's terms (BAA, zero data retention) are confirmed in Phase 0 and a pen test runs before production.</a:t>
            </a:r>
          </a:p>
          <a:p>
            <a:r>
              <a:t>- Adoption: the scale-up waits until two pilot pods have proven it on their own baseline. That is the strongest mitigation we have: pods see a peer pod's numbers, not our slides.</a:t>
            </a:r>
          </a:p>
          <a:p>
            <a:endParaRPr/>
          </a:p>
          <a:p>
            <a:r>
              <a:t>HOW IT TIES TO THE REST OF THE DECK</a:t>
            </a:r>
          </a:p>
          <a:p>
            <a:r>
              <a:t>- Most mitigations are phase exits (the previous slide): nothing moves on until the exit is signed.</a:t>
            </a:r>
          </a:p>
          <a:p>
            <a:r>
              <a:t>- Quality and model drift are handled by the evals slide: every change passes the evaluation set, and every step stops after five attempts.</a:t>
            </a:r>
          </a:p>
          <a:p>
            <a:r>
              <a:t>- Cross-pod breakage is the Change Guardian (back-up slide).</a:t>
            </a:r>
          </a:p>
          <a:p>
            <a:endParaRPr/>
          </a:p>
          <a:p>
            <a:r>
              <a:t>BE READY FOR</a:t>
            </a:r>
          </a:p>
          <a:p>
            <a:r>
              <a:t>- "What is your biggest risk?" Honest answer: expert time for labelling. Without labelled examples, the evals cannot be trusted, so we ask for it up front.</a:t>
            </a:r>
          </a:p>
          <a:p>
            <a:r>
              <a:t>- "What if Codex does not allow your plugin?" The harness runs headless on Cloud Run with the same tools and gateway; developers start runs from the approval page or Jira instead of Codex.</a:t>
            </a:r>
          </a:p>
          <a:p>
            <a:r>
              <a:t>- "Who owns the register?" Our engagement lead, reviewed with Ascension's sponsor at every phase exit.</a:t>
            </a:r>
          </a:p>
        </p:txBody>
      </p:sp>
    </p:spTree>
    <p:extLst>
      <p:ext uri="{BB962C8B-B14F-4D97-AF65-F5344CB8AC3E}">
        <p14:creationId xmlns:p14="http://schemas.microsoft.com/office/powerpoint/2010/main" val="896976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endParaRPr/>
          </a:p>
          <a:p>
            <a:r>
              <a:t>KEY MESSAGE</a:t>
            </a:r>
          </a:p>
          <a:p>
            <a:r>
              <a:t>Evals are how we prove the harness works before Ascension relies on it, and how it keeps getting better after. Offline tests and live results feed one loop that never stops.</a:t>
            </a:r>
          </a:p>
          <a:p>
            <a:endParaRPr/>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endParaRPr/>
          </a:p>
          <a:p>
            <a:r>
              <a:t>NO GAMING THE EVALS</a:t>
            </a:r>
          </a:p>
          <a:p>
            <a:r>
              <a:t>An agent judged by tests can learn to weaken the tests. So agents cannot edit tests or the evaluation set, a held-out set is never shown to any agent, and the Guardian blocks any change that deletes or weakens a test.</a:t>
            </a:r>
          </a:p>
          <a:p>
            <a:endParaRPr/>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endParaRPr/>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endParaRPr/>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endParaRPr/>
          </a:p>
          <a:p>
            <a:r>
              <a:t>WHY FIVE</a:t>
            </a:r>
          </a:p>
          <a:p>
            <a:r>
              <a:t>Enough for an agent to correct itself on most failures, low enough to keep cost and time predictable. It is a setting; Ascension can change it per step.</a:t>
            </a:r>
          </a:p>
        </p:txBody>
      </p:sp>
    </p:spTree>
    <p:extLst>
      <p:ext uri="{BB962C8B-B14F-4D97-AF65-F5344CB8AC3E}">
        <p14:creationId xmlns:p14="http://schemas.microsoft.com/office/powerpoint/2010/main" val="3980426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is built   (about 4 minutes)</a:t>
            </a:r>
          </a:p>
          <a:p>
            <a:endParaRPr/>
          </a:p>
          <a:p>
            <a:r>
              <a:t>KEY MESSAGE</a:t>
            </a:r>
          </a:p>
          <a:p>
            <a:r>
              <a:t>Two phases, one picture. Phase 1 is the Engineering Context Knowledge Graph: what the agents know. Phase 2 is the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1701365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4  |  Codex to Production: one campaign through the harness   (about 3 minutes)</a:t>
            </a:r>
          </a:p>
          <a:p>
            <a:r>
              <a:t>MAIN POINT: the complete governed lifecycle of one change, and every step waits for a human approval.</a:t>
            </a:r>
          </a:p>
          <a:p>
            <a:r>
              <a:t>Advance with Enter, Down arrow, Space or a click. The slide opens on the full design; each click spotlights the next part. Backspace or Up arrow goes back.</a:t>
            </a:r>
          </a:p>
          <a:p/>
          <a:p>
            <a:r>
              <a:t>[OPEN, full diagram] This is the main execution slide. Let's follow one Marketing Cloud campaign: the CHF post-discharge SMS nudge, Jira story VBC-412.</a:t>
            </a:r>
          </a:p>
          <a:p/>
          <a:p>
            <a:r>
              <a:t>[CLICK 1  Start in Salesforce] The marketer starts from the Agentic Harness console in Salesforce, gives the Jira key, picks the Marketing Cloud pod and attaches the design. Through Apex and a Named Credential the request reaches the harness, and Codex runs the delivery skills.</a:t>
            </a:r>
          </a:p>
          <a:p/>
          <a:p>
            <a:r>
              <a:t>[CLICK 2  Context first] Before anything is built, the Requirements Agent checks what already exists: the data extensions, journeys and Data Cloud segments in Salesforce, the Jira history and the Confluence design. The graph is filled by read-only connectors, with sources and snapshots, and the agent gets a bounded slice, never a full org dump.</a:t>
            </a:r>
          </a:p>
          <a:p/>
          <a:p>
            <a:r>
              <a:t>[CLICK 3  Orchestrated] Cloud Workflows coordinates the story. Agent workers handle requirements, design, build, review, test and release, with checkpoints and resumable runs.</a:t>
            </a:r>
          </a:p>
          <a:p/>
          <a:p>
            <a:r>
              <a:t>[CLICK 4  Gateway] Any action on Git, Salesforce, Marketing Cloud or Copado goes through the MCP gateway with the identity allowed for that step. The Change Guardian checks which other pods share the same data extensions, short code and STOP keyword.</a:t>
            </a:r>
          </a:p>
          <a:p/>
          <a:p>
            <a:r>
              <a:t>[CLICK 5  Evals: pass] Every output is scored before it moves on. Look at the EVALS tags along the bottom: each agent step is evaluated and its score updated, run by run. A pass goes to the gate, with the evidence.</a:t>
            </a:r>
          </a:p>
          <a:p/>
          <a:p>
            <a:r>
              <a:t>[CLICK 6  Evals: fail] If a check fails, the result goes back for correction, at most five times, then a named owner takes over.</a:t>
            </a:r>
          </a:p>
          <a:p/>
          <a:p>
            <a:r>
              <a:t>Now the most important part: nothing moves without a person.</a:t>
            </a:r>
          </a:p>
          <a:p/>
          <a:p>
            <a:r>
              <a:t>[CLICK 7  H1] The Requirements Agent posts the brief to the Jira story as a comment. The product owner approves at H1, and only then does design start.</a:t>
            </a:r>
          </a:p>
          <a:p/>
          <a:p>
            <a:r>
              <a:t>[CLICK 8  H2] The Architect Agent drafts the design in Confluence, reusing what exists; the Change Guardian names the affected pods. Architect and pod owners approve at H2.</a:t>
            </a:r>
          </a:p>
          <a:p/>
          <a:p>
            <a:r>
              <a:t>[CLICK 9  H3] The Developer Agent builds in the Marketing Cloud dev business unit; Review and Test Agents check it and the evals score it. Tech lead and security approve at H3.</a:t>
            </a:r>
          </a:p>
          <a:p/>
          <a:p>
            <a:r>
              <a:t>[CLICK 10  06 UAT, then H4] The Release Agent promotes through Copado to SIT and UAT (step 05). In step 06, marketing and clinical owners test every message variant; they sign off at H4.</a:t>
            </a:r>
          </a:p>
          <a:p/>
          <a:p>
            <a:r>
              <a:t>[CLICK 11  CAB] The CAB pack comes from the change passport. CAB approves the release, exactly as today.</a:t>
            </a:r>
          </a:p>
          <a:p/>
          <a:p>
            <a:r>
              <a:t>[CLICK 12  Production] The owning team activates the journey in production. No agent holds a production credential. Step 09 closes the story and resyncs the graph.</a:t>
            </a:r>
          </a:p>
          <a:p/>
          <a:p>
            <a:r>
              <a:t>[CLICK 13  Evidence] Every step and every approval is kept in the change passport, and we report cycle time, defects, rework and cost per change.</a:t>
            </a:r>
          </a:p>
          <a:p/>
          <a:p>
            <a:r>
              <a:t>[CLICK 14  back to the full design] So the whole execution runs on human approval at every step. It is not just automation: it is a controlled, auditable delivery process.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the return on the investment   (about 2 minutes)</a:t>
            </a:r>
          </a:p>
          <a:p/>
          <a:p>
            <a:r>
              <a:t>KEY MESSAGE</a:t>
            </a:r>
          </a:p>
          <a:p>
            <a:r>
              <a:t>Ascension invests $5.0M once. From go-live it gets $9M back every year: $16M a year today becomes $7M. That is a 80% return in the first year, paid back in under 7 months.</a:t>
            </a:r>
          </a:p>
          <a:p/>
          <a:p>
            <a:r>
              <a:t>WALK IT</a:t>
            </a:r>
          </a:p>
          <a:p>
            <a:r>
              <a:t>- The bars: what Ascension spends today, what it spends with the harness, the yearly saving, and the one-time investment, all on the same scale. The saving bar is bigger than the investment bar: the first year alone pays for the build almost twice.</a:t>
            </a:r>
          </a:p>
          <a:p>
            <a:r>
              <a:t>- Right: first-year ROI, payback and the return multiple.</a:t>
            </a:r>
          </a:p>
          <a:p>
            <a:r>
              <a:t>- Beyond the money: the measured and planned delivery results from earlier slides, so the saving has a mechanism behind it.</a:t>
            </a:r>
          </a:p>
          <a:p>
            <a:r>
              <a:t>- Black band: how each number is built, and the floor we commit to.</a:t>
            </a:r>
          </a:p>
          <a:p/>
          <a:p>
            <a:r>
              <a:t>HOW THE NUMBERS ARE BUILT (for you, not the slide)</a:t>
            </a:r>
          </a:p>
          <a:p>
            <a:r>
              <a:t>- Investment = fixed build fee $4.79M + Google Cloud and model usage during the build, at cost, about $0.23M.</a:t>
            </a:r>
          </a:p>
          <a:p>
            <a:r>
              <a:t>- Saving = $16M today minus $7M with the harness, the first full year after go-live with every pod live; the $7M includes agent run costs and the managed service.</a:t>
            </a:r>
          </a:p>
          <a:p>
            <a:r>
              <a:t>- First-year ROI = (saving minus investment) / investment.</a:t>
            </a:r>
          </a:p>
          <a:p>
            <a:r>
              <a:t>- The 20-25% lower run cost per pod on the business outcomes slide is the floor we commit to; this slide is the target, confirmed against each pod's Phase 0 baseline.</a:t>
            </a:r>
          </a:p>
          <a:p/>
          <a:p>
            <a:r>
              <a:t>BE READY FOR</a:t>
            </a:r>
          </a:p>
          <a:p>
            <a:r>
              <a:t>- "Is the ROI guaranteed?" The floor and the phase exits are the commitment; these numbers are the target, measured pod by pod.</a:t>
            </a:r>
          </a:p>
          <a:p>
            <a:r>
              <a:t>- "What about the people?" Ascension chooses: redeploy to backlog, absorb through attrition, or keep the team and deliver more.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team and the build cost   (about 2 minutes)</a:t>
            </a:r>
          </a:p>
          <a:p/>
          <a:p>
            <a:r>
              <a:t>KEY MESSAGE</a:t>
            </a:r>
          </a:p>
          <a:p>
            <a:r>
              <a:t>Seventeen people at peak across ten roles build the Agentic Harness in eighteen months, for one fixed build fee of $4.79M, invoiced only as each phase exit is signed.</a:t>
            </a:r>
          </a:p>
          <a:p/>
          <a:p>
            <a:r>
              <a:t>WALK IT</a:t>
            </a:r>
          </a:p>
          <a:p>
            <a:r>
              <a:t>- Left: who we bring, how many at peak, and when they are on the team.</a:t>
            </a:r>
          </a:p>
          <a:p>
            <a:r>
              <a:t>- Right: the one number for months 1 to 18. Fixed, paid by phase exit, so Ascension pays for outcomes it has signed.</a:t>
            </a:r>
          </a:p>
          <a:p/>
          <a:p>
            <a:r>
              <a:t>BE READY FOR</a:t>
            </a:r>
          </a:p>
          <a:p>
            <a:r>
              <a:t>- "Why so many harness engineers?" They build the agents, the run loop, the gateway and the evals, then tune them in each pod.</a:t>
            </a:r>
          </a:p>
          <a:p>
            <a:r>
              <a:t>- "What happens after month 18?" A small run team keeps the harness running as a managed service; that is a separate, later decision.</a:t>
            </a:r>
          </a:p>
          <a:p>
            <a:r>
              <a:t>- Rates are assumed for sizing; replace them with the Insight Global rate card before this goes to the client.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 Id="rId5"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15.png"/><Relationship Id="rId16" Type="http://schemas.openxmlformats.org/officeDocument/2006/relationships/image" Target="../media/image14.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7.png"/><Relationship Id="rId20"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An Agentic Harness on an Engineering Context Knowledge Graph: one common agent team that turns tickets into reviewed, tested, deployable Salesforce changes for every pod</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r>
              <a:rPr lang="en-US" sz="756" b="1" kern="0" spc="284">
                <a:solidFill>
                  <a:srgbClr val="00273B"/>
                </a:solidFill>
                <a:latin typeface="Trenda IG Text" pitchFamily="34" charset="0"/>
                <a:ea typeface="Trenda IG Text" pitchFamily="34" charset="-122"/>
                <a:cs typeface="Trenda IG Text" pitchFamily="34" charset="-120"/>
              </a:rPr>
              <a:t>ASCENSION AGENTIC HARNESS</a:t>
            </a:r>
            <a:endParaRPr lang="en-US" sz="756"/>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a:solidFill>
                  <a:srgbClr val="000000"/>
                </a:solidFill>
                <a:latin typeface="Trenda IG Text" pitchFamily="34" charset="0"/>
                <a:ea typeface="Trenda IG Text" pitchFamily="34" charset="-122"/>
                <a:cs typeface="Trenda IG Text" pitchFamily="34" charset="-120"/>
              </a:rPr>
              <a:t>One agent team, reused by every pod</a:t>
            </a:r>
            <a:endParaRPr lang="en-US" sz="2079"/>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Knowledge graph · what agents read</a:t>
            </a:r>
            <a:endParaRPr lang="en-US" sz="945"/>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Jira</a:t>
            </a:r>
            <a:endParaRPr lang="en-US" sz="898"/>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Stories, acceptance criteria, history</a:t>
            </a:r>
            <a:endParaRPr lang="en-US" sz="737"/>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Confluence</a:t>
            </a:r>
            <a:endParaRPr lang="en-US" sz="898"/>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Design, business rules, runbooks</a:t>
            </a:r>
            <a:endParaRPr lang="en-US" sz="737"/>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Salesforce</a:t>
            </a:r>
            <a:endParaRPr lang="en-US" sz="898"/>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Objects, fields, Flows, Apex, deps</a:t>
            </a:r>
            <a:endParaRPr lang="en-US" sz="737"/>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Git</a:t>
            </a:r>
            <a:endParaRPr lang="en-US" sz="898"/>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Apex, LWC, metadata, unit tests</a:t>
            </a:r>
            <a:endParaRPr lang="en-US" sz="737"/>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Copado</a:t>
            </a:r>
            <a:endParaRPr lang="en-US" sz="898"/>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Releases, robotic and regression runs</a:t>
            </a:r>
            <a:endParaRPr lang="en-US" sz="737"/>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Google Drive</a:t>
            </a:r>
            <a:endParaRPr lang="en-US" sz="898"/>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Specs, mapping sheets, evidence</a:t>
            </a:r>
            <a:endParaRPr lang="en-US" sz="737"/>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a:solidFill>
                  <a:srgbClr val="000000"/>
                </a:solidFill>
                <a:latin typeface="Trenda IG Text" pitchFamily="34" charset="0"/>
                <a:ea typeface="Trenda IG Text" pitchFamily="34" charset="-122"/>
                <a:cs typeface="Trenda IG Text" pitchFamily="34" charset="-120"/>
              </a:rPr>
              <a:t>7 common agents · the same on every pod</a:t>
            </a:r>
            <a:endParaRPr lang="en-US" sz="945"/>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a:solidFill>
                  <a:srgbClr val="595959"/>
                </a:solidFill>
                <a:latin typeface="Trenda IG Text" pitchFamily="34" charset="0"/>
                <a:ea typeface="Trenda IG Text" pitchFamily="34" charset="-122"/>
                <a:cs typeface="Trenda IG Text" pitchFamily="34" charset="-120"/>
              </a:rPr>
              <a:t>BUILT FROM TODAY</a:t>
            </a:r>
            <a:endParaRPr lang="en-US" sz="614"/>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1</a:t>
            </a:r>
            <a:endParaRPr lang="en-US" sz="756"/>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Orchestrator</a:t>
            </a:r>
            <a:endParaRPr lang="en-US" sz="898"/>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UI + backend Orchestrator</a:t>
            </a:r>
            <a:endParaRPr lang="en-US" sz="643"/>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a:solidFill>
                  <a:srgbClr val="00273B"/>
                </a:solidFill>
                <a:latin typeface="Trenda IG Text" pitchFamily="34" charset="0"/>
                <a:ea typeface="Trenda IG Text" pitchFamily="34" charset="-122"/>
                <a:cs typeface="Trenda IG Text" pitchFamily="34" charset="-120"/>
              </a:rPr>
              <a:t>Coordinates</a:t>
            </a:r>
            <a:endParaRPr lang="en-US" sz="662"/>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2</a:t>
            </a:r>
            <a:endParaRPr lang="en-US" sz="756"/>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Requirements Agent</a:t>
            </a:r>
            <a:endParaRPr lang="en-US" sz="898"/>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JiraAgent, Figma/Confluence</a:t>
            </a:r>
            <a:endParaRPr lang="en-US" sz="643"/>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3</a:t>
            </a:r>
            <a:endParaRPr lang="en-US" sz="756"/>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Architect Agent</a:t>
            </a:r>
            <a:endParaRPr lang="en-US" sz="898"/>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ArchitectAgent, Architect</a:t>
            </a:r>
            <a:endParaRPr lang="en-US" sz="643"/>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4</a:t>
            </a:r>
            <a:endParaRPr lang="en-US" sz="756"/>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Developer Agent</a:t>
            </a:r>
            <a:endParaRPr lang="en-US" sz="898"/>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DevelopmentAgent, Developer</a:t>
            </a:r>
            <a:endParaRPr lang="en-US" sz="643"/>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5</a:t>
            </a:r>
            <a:endParaRPr lang="en-US" sz="756"/>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Review Agent</a:t>
            </a:r>
            <a:endParaRPr lang="en-US" sz="898"/>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ReviewAgent</a:t>
            </a:r>
            <a:endParaRPr lang="en-US" sz="643"/>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6</a:t>
            </a:r>
            <a:endParaRPr lang="en-US" sz="756"/>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Test Agent</a:t>
            </a:r>
            <a:endParaRPr lang="en-US" sz="898"/>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TestAgent, Test Engineer, 4 QA</a:t>
            </a:r>
            <a:endParaRPr lang="en-US" sz="643"/>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7</a:t>
            </a:r>
            <a:endParaRPr lang="en-US" sz="756"/>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Release Agent</a:t>
            </a:r>
            <a:endParaRPr lang="en-US" sz="898"/>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AI Release Service (next)</a:t>
            </a:r>
            <a:endParaRPr lang="en-US" sz="643"/>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Pod skills · what changes per pod</a:t>
            </a:r>
            <a:endParaRPr lang="en-US" sz="945"/>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Health Cloud pods</a:t>
            </a:r>
            <a:endParaRPr lang="en-US" sz="898"/>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Marketing Cloud pods</a:t>
            </a:r>
            <a:endParaRPr lang="en-US" sz="898"/>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Nudge / Demand, VBC outreach</a:t>
            </a:r>
            <a:endParaRPr lang="en-US" sz="68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QA, all pods</a:t>
            </a:r>
            <a:endParaRPr lang="en-US" sz="898"/>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Every release</a:t>
            </a:r>
            <a:endParaRPr lang="en-US" sz="68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a:solidFill>
                  <a:srgbClr val="00273B"/>
                </a:solidFill>
                <a:latin typeface="Trenda IG Text" pitchFamily="34" charset="0"/>
                <a:ea typeface="Trenda IG Text" pitchFamily="34" charset="-122"/>
                <a:cs typeface="Trenda IG Text" pitchFamily="34" charset="-120"/>
              </a:rPr>
              <a:t>GOVERNED PATH, UNCHANGED</a:t>
            </a:r>
            <a:endParaRPr lang="en-US" sz="709"/>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AI build</a:t>
            </a:r>
            <a:endParaRPr lang="en-US" sz="756"/>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Copado</a:t>
            </a:r>
            <a:endParaRPr lang="en-US" sz="756"/>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Quality gates</a:t>
            </a:r>
            <a:endParaRPr lang="en-US" sz="756"/>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DEV</a:t>
            </a:r>
            <a:endParaRPr lang="en-US" sz="756"/>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SIT</a:t>
            </a:r>
            <a:endParaRPr lang="en-US" sz="756"/>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UAT</a:t>
            </a:r>
            <a:endParaRPr lang="en-US" sz="756"/>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Human approval</a:t>
            </a:r>
            <a:endParaRPr lang="en-US" sz="756"/>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CAB</a:t>
            </a:r>
            <a:endParaRPr lang="en-US" sz="756"/>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PROD</a:t>
            </a:r>
            <a:endParaRPr lang="en-US" sz="756"/>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D6F2"/>
                </a:solidFill>
              </a:rPr>
              <a:t>ASCENSION AGENTIC HARNESS · PLATFORM</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lang="en-IN" sz="2200" b="1">
                <a:solidFill>
                  <a:srgbClr val="FFFFFF"/>
                </a:solidFill>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350865"/>
          </a:xfrm>
          <a:prstGeom prst="rect">
            <a:avLst/>
          </a:prstGeom>
          <a:noFill/>
        </p:spPr>
        <p:txBody>
          <a:bodyPr wrap="square" lIns="0" tIns="0" rIns="0" bIns="0" anchor="t">
            <a:spAutoFit/>
          </a:bodyPr>
          <a:lstStyle/>
          <a:p>
            <a:pPr>
              <a:lnSpc>
                <a:spcPct val="95000"/>
              </a:lnSpc>
            </a:pPr>
            <a:r>
              <a:rPr lang="en-IN" sz="1200">
                <a:solidFill>
                  <a:srgbClr val="FFFFFF"/>
                </a:solidFill>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dirty="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a:p>
            <a:r>
              <a:rPr sz="700" b="0" i="0">
                <a:solidFill>
                  <a:srgbClr val="BFBFBF"/>
                </a:solidFill>
                <a:latin typeface="Trenda IG Text"/>
              </a:rPr>
              <a:t>start a run with a Jira number</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the harness reads the story;</a:t>
            </a:r>
          </a:p>
          <a:p>
            <a:r>
              <a:rPr sz="700" b="0" i="0">
                <a:solidFill>
                  <a:srgbClr val="BFBFBF"/>
                </a:solidFill>
                <a:latin typeface="Trenda IG Text"/>
              </a:rPr>
              <a:t>status tracked here</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169277"/>
          </a:xfrm>
          <a:prstGeom prst="rect">
            <a:avLst/>
          </a:prstGeom>
          <a:noFill/>
        </p:spPr>
        <p:txBody>
          <a:bodyPr wrap="square" lIns="0" tIns="0" rIns="0" bIns="0" anchor="t">
            <a:spAutoFit/>
          </a:bodyPr>
          <a:lstStyle/>
          <a:p>
            <a:r>
              <a:rPr lang="en-IN" sz="1100" b="1">
                <a:solidFill>
                  <a:srgbClr val="FFFFFF"/>
                </a:solidFill>
                <a:latin typeface="Trenda IG Text"/>
              </a:rPr>
              <a:t>Harness</a:t>
            </a:r>
            <a:r>
              <a:rPr sz="1100" b="1" i="0">
                <a:solidFill>
                  <a:srgbClr val="FFFFFF"/>
                </a:solidFill>
                <a:latin typeface="Trenda IG Text"/>
              </a:rPr>
              <a:t>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184666"/>
          </a:xfrm>
          <a:prstGeom prst="rect">
            <a:avLst/>
          </a:prstGeom>
          <a:noFill/>
        </p:spPr>
        <p:txBody>
          <a:bodyPr wrap="square" lIns="0" tIns="0" rIns="0" bIns="0" anchor="t">
            <a:spAutoFit/>
          </a:bodyPr>
          <a:lstStyle/>
          <a:p>
            <a:r>
              <a:rPr lang="en-IN" sz="1200" b="0" i="0">
                <a:solidFill>
                  <a:srgbClr val="FFFFFF"/>
                </a:solidFill>
                <a:latin typeface="Trenda IG Text"/>
              </a:rPr>
              <a:t>Harness</a:t>
            </a:r>
            <a:r>
              <a:rPr sz="1200" b="0" i="0">
                <a:solidFill>
                  <a:srgbClr val="FFFFFF"/>
                </a:solidFill>
                <a:latin typeface="Trenda IG Text"/>
              </a:rPr>
              <a:t>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Guardrails in + out · Model Armor</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a:t>
            </a:r>
          </a:p>
          <a:p>
            <a:r>
              <a:rPr sz="750" b="0" i="0">
                <a:solidFill>
                  <a:srgbClr val="FFFFFF"/>
                </a:solidFill>
                <a:latin typeface="Trenda IG Text"/>
              </a:rPr>
              <a:t>model set in config;</a:t>
            </a:r>
          </a:p>
          <a:p>
            <a:r>
              <a:rPr sz="750" b="0" i="0">
                <a:solidFill>
                  <a:srgbClr val="FFFFFF"/>
                </a:solidFill>
                <a:latin typeface="Trenda IG Text"/>
              </a:rPr>
              <a:t>tools portable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3</a:t>
            </a:fld>
            <a:endParaRPr lang="en-US" sz="800">
              <a:solidFill>
                <a:srgbClr val="FFFFFF"/>
              </a:solidFill>
              <a:latin typeface="Trenda IG Text"/>
            </a:endParaRPr>
          </a:p>
        </p:txBody>
      </p:sp>
      <p:sp>
        <p:nvSpPr>
          <p:cNvPr id="108" name="draw.io link">
            <a:hlinkClick r:id="rId4"/>
          </p:cNvPr>
          <p:cNvSpPr txBox="1"/>
          <p:nvPr/>
        </p:nvSpPr>
        <p:spPr>
          <a:xfrm>
            <a:off x="9286579" y="6421540"/>
            <a:ext cx="1869101" cy="123111"/>
          </a:xfrm>
          <a:prstGeom prst="rect">
            <a:avLst/>
          </a:prstGeom>
          <a:noFill/>
        </p:spPr>
        <p:txBody>
          <a:bodyPr wrap="none" lIns="0" tIns="0" rIns="0" bIns="0" anchor="ctr">
            <a:spAutoFit/>
          </a:bodyPr>
          <a:lstStyle/>
          <a:p>
            <a:pPr algn="r"/>
            <a:r>
              <a:rPr sz="800" b="1" u="sng" dirty="0">
                <a:solidFill>
                  <a:srgbClr val="00D6F2"/>
                </a:solidFill>
                <a:latin typeface="Trenda IG Text"/>
                <a:hlinkClick r:id="rId5"/>
              </a:rPr>
              <a:t>Open the detailed design in draw.io  ↗</a:t>
            </a:r>
            <a:endParaRPr sz="800" b="1" u="sng" dirty="0">
              <a:solidFill>
                <a:srgbClr val="00D6F2"/>
              </a:solidFill>
              <a:latin typeface="Trenda IG Text"/>
              <a:hlinkClick r:id="rId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0233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200" normalizeH="0" baseline="0" noProof="0">
                <a:ln>
                  <a:noFill/>
                </a:ln>
                <a:solidFill>
                  <a:srgbClr val="00D6F2"/>
                </a:solidFill>
                <a:effectLst/>
                <a:uLnTx/>
                <a:uFillTx/>
                <a:latin typeface="Trenda IG Text"/>
                <a:ea typeface="+mn-ea"/>
                <a:cs typeface="+mn-cs"/>
              </a:rPr>
              <a:t>THE AGENTIC HARNESS</a:t>
            </a:r>
            <a:r>
              <a:rPr kumimoji="0" sz="900" b="0" i="0" u="none" strike="noStrike" kern="1200" cap="none" spc="0" normalizeH="0" baseline="0" noProof="0">
                <a:ln>
                  <a:noFill/>
                </a:ln>
                <a:solidFill>
                  <a:srgbClr val="BFBFBF"/>
                </a:solidFill>
                <a:effectLst/>
                <a:uLnTx/>
                <a:uFillTx/>
                <a:latin typeface="Trenda IG Text"/>
                <a:ea typeface="+mn-ea"/>
                <a:cs typeface="+mn-cs"/>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 name="Text 8"/>
          <p:cNvSpPr txBox="1"/>
          <p:nvPr/>
        </p:nvSpPr>
        <p:spPr>
          <a:xfrm>
            <a:off x="57607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0" name="Text 9"/>
          <p:cNvSpPr txBox="1"/>
          <p:nvPr/>
        </p:nvSpPr>
        <p:spPr>
          <a:xfrm>
            <a:off x="57607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1" name="Text 10"/>
          <p:cNvSpPr txBox="1"/>
          <p:nvPr/>
        </p:nvSpPr>
        <p:spPr>
          <a:xfrm>
            <a:off x="57607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57607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4"/>
          <p:cNvSpPr txBox="1"/>
          <p:nvPr/>
        </p:nvSpPr>
        <p:spPr>
          <a:xfrm>
            <a:off x="74066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74066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74066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74066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287670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8" name="Text 27"/>
          <p:cNvSpPr txBox="1"/>
          <p:nvPr/>
        </p:nvSpPr>
        <p:spPr>
          <a:xfrm>
            <a:off x="287670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9" name="Text 28"/>
          <p:cNvSpPr txBox="1"/>
          <p:nvPr/>
        </p:nvSpPr>
        <p:spPr>
          <a:xfrm>
            <a:off x="287670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7670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304129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304129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304129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304129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517733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46" name="Text 45"/>
          <p:cNvSpPr txBox="1"/>
          <p:nvPr/>
        </p:nvSpPr>
        <p:spPr>
          <a:xfrm>
            <a:off x="517733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47" name="Text 46"/>
          <p:cNvSpPr txBox="1"/>
          <p:nvPr/>
        </p:nvSpPr>
        <p:spPr>
          <a:xfrm>
            <a:off x="517733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517733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534192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534192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34192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534192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47796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64" name="Text 63"/>
          <p:cNvSpPr txBox="1"/>
          <p:nvPr/>
        </p:nvSpPr>
        <p:spPr>
          <a:xfrm>
            <a:off x="747796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65" name="Text 64"/>
          <p:cNvSpPr txBox="1"/>
          <p:nvPr/>
        </p:nvSpPr>
        <p:spPr>
          <a:xfrm>
            <a:off x="747796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747796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764255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764255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3"/>
          <p:cNvSpPr txBox="1"/>
          <p:nvPr/>
        </p:nvSpPr>
        <p:spPr>
          <a:xfrm>
            <a:off x="764255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764255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977859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82" name="Text 81"/>
          <p:cNvSpPr txBox="1"/>
          <p:nvPr/>
        </p:nvSpPr>
        <p:spPr>
          <a:xfrm>
            <a:off x="977859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83" name="Text 82"/>
          <p:cNvSpPr txBox="1"/>
          <p:nvPr/>
        </p:nvSpPr>
        <p:spPr>
          <a:xfrm>
            <a:off x="977859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977859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994318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994318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994318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994318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8" name="Text 97"/>
          <p:cNvSpPr txBox="1"/>
          <p:nvPr/>
        </p:nvSpPr>
        <p:spPr>
          <a:xfrm>
            <a:off x="640080" y="5230368"/>
            <a:ext cx="2194560"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99" name="Text 98"/>
          <p:cNvSpPr txBox="1"/>
          <p:nvPr/>
        </p:nvSpPr>
        <p:spPr>
          <a:xfrm>
            <a:off x="2788920" y="5230368"/>
            <a:ext cx="8759952"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The org health report is a read-only Review Agent run: it changes nothing in the org.</a:t>
            </a:r>
          </a:p>
        </p:txBody>
      </p:sp>
      <p:pic>
        <p:nvPicPr>
          <p:cNvPr id="101" name="Picture 100" descr="image.png"/>
          <p:cNvPicPr>
            <a:picLocks noChangeAspect="1"/>
          </p:cNvPicPr>
          <p:nvPr/>
        </p:nvPicPr>
        <p:blipFill>
          <a:blip r:embed="rId3"/>
          <a:stretch>
            <a:fillRect/>
          </a:stretch>
        </p:blipFill>
        <p:spPr>
          <a:xfrm>
            <a:off x="502920" y="6428232"/>
            <a:ext cx="496062" cy="103601"/>
          </a:xfrm>
          <a:prstGeom prst="rect">
            <a:avLst/>
          </a:prstGeom>
        </p:spPr>
      </p:pic>
      <p:sp>
        <p:nvSpPr>
          <p:cNvPr id="10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2510581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EVALS AND RELIABILITY</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Evals are how we earn reliability</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AI is non-deterministic, so reliability is earned run by run: every output is tested before it moves on, and every miss becomes a new test.</a:t>
            </a:r>
          </a:p>
        </p:txBody>
      </p:sp>
      <p:sp>
        <p:nvSpPr>
          <p:cNvPr id="5" name="Shape 4"/>
          <p:cNvSpPr/>
          <p:nvPr/>
        </p:nvSpPr>
        <p:spPr>
          <a:xfrm>
            <a:off x="411480" y="1188720"/>
            <a:ext cx="11365992" cy="475488"/>
          </a:xfrm>
          <a:prstGeom prst="roundRect">
            <a:avLst>
              <a:gd name="adj" fmla="val 50000"/>
            </a:avLst>
          </a:prstGeom>
          <a:solidFill>
            <a:srgbClr val="000000">
              <a:alpha val="40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7548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600" b="1" i="0" u="none" strike="noStrike" kern="1200" cap="none" spc="150" normalizeH="0" baseline="0" noProof="0">
                <a:ln>
                  <a:noFill/>
                </a:ln>
                <a:solidFill>
                  <a:srgbClr val="FFFFFF"/>
                </a:solidFill>
                <a:effectLst/>
                <a:uLnTx/>
                <a:uFillTx/>
                <a:latin typeface="Trenda IG Text"/>
                <a:ea typeface="+mn-ea"/>
                <a:cs typeface="+mn-cs"/>
              </a:rPr>
              <a:t>RELIABILITY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00D6F2"/>
                </a:solidFill>
                <a:effectLst/>
                <a:uLnTx/>
                <a:uFillTx/>
                <a:latin typeface="Trenda IG Text"/>
                <a:ea typeface="+mn-ea"/>
                <a:cs typeface="+mn-cs"/>
              </a:rPr>
              <a:t>OBSERVABILITY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FFD700"/>
                </a:solidFill>
                <a:effectLst/>
                <a:uLnTx/>
                <a:uFillTx/>
                <a:latin typeface="Trenda IG Text"/>
                <a:ea typeface="+mn-ea"/>
                <a:cs typeface="+mn-cs"/>
              </a:rPr>
              <a:t>EVALS</a:t>
            </a:r>
            <a:r>
              <a:rPr kumimoji="0" sz="1000" b="0" i="0" u="none" strike="noStrike" kern="1200" cap="none" spc="150" normalizeH="0" baseline="0" noProof="0">
                <a:ln>
                  <a:noFill/>
                </a:ln>
                <a:solidFill>
                  <a:srgbClr val="BFBFBF"/>
                </a:solidFill>
                <a:effectLst/>
                <a:uLnTx/>
                <a:uFillTx/>
                <a:latin typeface="Trenda IG Text"/>
                <a:ea typeface="+mn-ea"/>
                <a:cs typeface="+mn-cs"/>
              </a:rPr>
              <a:t>        protected by </a:t>
            </a:r>
            <a:r>
              <a:rPr kumimoji="0" sz="1600" b="1" i="0" u="none" strike="noStrike" kern="1200" cap="none" spc="150" normalizeH="0" baseline="0" noProof="0">
                <a:ln>
                  <a:noFill/>
                </a:ln>
                <a:solidFill>
                  <a:srgbClr val="FF0069"/>
                </a:solidFill>
                <a:effectLst/>
                <a:uLnTx/>
                <a:uFillTx/>
                <a:latin typeface="Trenda IG Text"/>
                <a:ea typeface="+mn-ea"/>
                <a:cs typeface="+mn-cs"/>
              </a:rPr>
              <a:t>GUARDRAILS</a:t>
            </a:r>
          </a:p>
        </p:txBody>
      </p:sp>
      <p:sp>
        <p:nvSpPr>
          <p:cNvPr id="7" name="Shape 6"/>
          <p:cNvSpPr/>
          <p:nvPr/>
        </p:nvSpPr>
        <p:spPr>
          <a:xfrm>
            <a:off x="411480" y="1810512"/>
            <a:ext cx="11365992" cy="4224527"/>
          </a:xfrm>
          <a:prstGeom prst="roundRect">
            <a:avLst>
              <a:gd name="adj" fmla="val 5000"/>
            </a:avLst>
          </a:prstGeom>
          <a:noFill/>
          <a:ln w="15875">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566928" y="1847088"/>
            <a:ext cx="420624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150" normalizeH="0" baseline="0" noProof="0">
                <a:ln>
                  <a:noFill/>
                </a:ln>
                <a:solidFill>
                  <a:srgbClr val="FF0069"/>
                </a:solidFill>
                <a:effectLst/>
                <a:uLnTx/>
                <a:uFillTx/>
                <a:latin typeface="Trenda IG Text"/>
                <a:ea typeface="+mn-ea"/>
                <a:cs typeface="+mn-cs"/>
              </a:rPr>
              <a:t>GUARDRAILS IN AND OUT  </a:t>
            </a:r>
            <a:r>
              <a:rPr kumimoji="0" sz="650" b="0" i="0" u="none" strike="noStrike" kern="1200" cap="none" spc="0" normalizeH="0" baseline="0" noProof="0">
                <a:ln>
                  <a:noFill/>
                </a:ln>
                <a:solidFill>
                  <a:srgbClr val="BFBFBF"/>
                </a:solidFill>
                <a:effectLst/>
                <a:uLnTx/>
                <a:uFillTx/>
                <a:latin typeface="Trenda IG Text"/>
                <a:ea typeface="+mn-ea"/>
                <a:cs typeface="+mn-cs"/>
              </a:rPr>
              <a:t>no agent holds a production credential</a:t>
            </a:r>
          </a:p>
        </p:txBody>
      </p:sp>
      <p:sp>
        <p:nvSpPr>
          <p:cNvPr id="9" name="Shape 8"/>
          <p:cNvSpPr/>
          <p:nvPr/>
        </p:nvSpPr>
        <p:spPr>
          <a:xfrm>
            <a:off x="658368" y="230428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804672"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AGENT OUTPUT</a:t>
            </a:r>
          </a:p>
        </p:txBody>
      </p:sp>
      <p:sp>
        <p:nvSpPr>
          <p:cNvPr id="11" name="Text 10"/>
          <p:cNvSpPr txBox="1"/>
          <p:nvPr/>
        </p:nvSpPr>
        <p:spPr>
          <a:xfrm>
            <a:off x="804672"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brief, design, code, tests: every step's work</a:t>
            </a:r>
          </a:p>
        </p:txBody>
      </p:sp>
      <p:cxnSp>
        <p:nvCxnSpPr>
          <p:cNvPr id="12" name="Arrow 11"/>
          <p:cNvCxnSpPr/>
          <p:nvPr/>
        </p:nvCxnSpPr>
        <p:spPr>
          <a:xfrm>
            <a:off x="3392424" y="2688336"/>
            <a:ext cx="1641077" cy="726983"/>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658368" y="3493008"/>
            <a:ext cx="2697480" cy="768096"/>
          </a:xfrm>
          <a:prstGeom prst="roundRect">
            <a:avLst>
              <a:gd name="adj" fmla="val 12000"/>
            </a:avLst>
          </a:prstGeom>
          <a:solidFill>
            <a:srgbClr val="000000">
              <a:alpha val="6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Text 13"/>
          <p:cNvSpPr txBox="1"/>
          <p:nvPr/>
        </p:nvSpPr>
        <p:spPr>
          <a:xfrm>
            <a:off x="804672"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00D6F2"/>
                </a:solidFill>
                <a:effectLst/>
                <a:uLnTx/>
                <a:uFillTx/>
                <a:latin typeface="Trenda IG Text"/>
                <a:ea typeface="+mn-ea"/>
                <a:cs typeface="+mn-cs"/>
              </a:rPr>
              <a:t>AGENT TRACES</a:t>
            </a:r>
          </a:p>
        </p:txBody>
      </p:sp>
      <p:sp>
        <p:nvSpPr>
          <p:cNvPr id="15" name="Text 14"/>
          <p:cNvSpPr txBox="1"/>
          <p:nvPr/>
        </p:nvSpPr>
        <p:spPr>
          <a:xfrm>
            <a:off x="804672"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prompt, tool call, decision and cost (observability)</a:t>
            </a:r>
          </a:p>
        </p:txBody>
      </p:sp>
      <p:cxnSp>
        <p:nvCxnSpPr>
          <p:cNvPr id="16" name="Arrow 15"/>
          <p:cNvCxnSpPr/>
          <p:nvPr/>
        </p:nvCxnSpPr>
        <p:spPr>
          <a:xfrm>
            <a:off x="3392424" y="3877056"/>
            <a:ext cx="1545336" cy="0"/>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58368" y="468172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804672"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GOLDEN SET + WEEKLY SAMPLE</a:t>
            </a:r>
          </a:p>
        </p:txBody>
      </p:sp>
      <p:sp>
        <p:nvSpPr>
          <p:cNvPr id="19" name="Text 18"/>
          <p:cNvSpPr txBox="1"/>
          <p:nvPr/>
        </p:nvSpPr>
        <p:spPr>
          <a:xfrm>
            <a:off x="804672"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real Ascension changes, labelled by your experts</a:t>
            </a:r>
          </a:p>
        </p:txBody>
      </p:sp>
      <p:cxnSp>
        <p:nvCxnSpPr>
          <p:cNvPr id="20" name="Arrow 19"/>
          <p:cNvCxnSpPr/>
          <p:nvPr/>
        </p:nvCxnSpPr>
        <p:spPr>
          <a:xfrm flipV="1">
            <a:off x="3392424" y="4338792"/>
            <a:ext cx="1641077" cy="726984"/>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20"/>
          <p:cNvSpPr/>
          <p:nvPr/>
        </p:nvSpPr>
        <p:spPr>
          <a:xfrm>
            <a:off x="8833104" y="2304288"/>
            <a:ext cx="2697480" cy="768096"/>
          </a:xfrm>
          <a:prstGeom prst="roundRect">
            <a:avLst>
              <a:gd name="adj" fmla="val 12000"/>
            </a:avLst>
          </a:prstGeom>
          <a:solidFill>
            <a:srgbClr val="000000">
              <a:alpha val="65000"/>
            </a:srgbClr>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8979408"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0069"/>
                </a:solidFill>
                <a:effectLst/>
                <a:uLnTx/>
                <a:uFillTx/>
                <a:latin typeface="Trenda IG Text"/>
                <a:ea typeface="+mn-ea"/>
                <a:cs typeface="+mn-cs"/>
              </a:rPr>
              <a:t>RETRY</a:t>
            </a:r>
          </a:p>
        </p:txBody>
      </p:sp>
      <p:sp>
        <p:nvSpPr>
          <p:cNvPr id="23" name="Text 22"/>
          <p:cNvSpPr txBox="1"/>
          <p:nvPr/>
        </p:nvSpPr>
        <p:spPr>
          <a:xfrm>
            <a:off x="8979408"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fails: try again with the failure as feedback; max 5, then a named owner</a:t>
            </a:r>
          </a:p>
        </p:txBody>
      </p:sp>
      <p:cxnSp>
        <p:nvCxnSpPr>
          <p:cNvPr id="24" name="Arrow 23"/>
          <p:cNvCxnSpPr/>
          <p:nvPr/>
        </p:nvCxnSpPr>
        <p:spPr>
          <a:xfrm flipV="1">
            <a:off x="7164030" y="2688336"/>
            <a:ext cx="1632498" cy="725684"/>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hape 24"/>
          <p:cNvSpPr/>
          <p:nvPr/>
        </p:nvSpPr>
        <p:spPr>
          <a:xfrm>
            <a:off x="8833104" y="3493008"/>
            <a:ext cx="2697480" cy="768096"/>
          </a:xfrm>
          <a:prstGeom prst="roundRect">
            <a:avLst>
              <a:gd name="adj" fmla="val 12000"/>
            </a:avLst>
          </a:prstGeom>
          <a:solidFill>
            <a:srgbClr val="000000">
              <a:alpha val="65000"/>
            </a:srgbClr>
          </a:solidFill>
          <a:ln w="254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6" name="Text 25"/>
          <p:cNvSpPr txBox="1"/>
          <p:nvPr/>
        </p:nvSpPr>
        <p:spPr>
          <a:xfrm>
            <a:off x="8979408"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56E13B"/>
                </a:solidFill>
                <a:effectLst/>
                <a:uLnTx/>
                <a:uFillTx/>
                <a:latin typeface="Trenda IG Text"/>
                <a:ea typeface="+mn-ea"/>
                <a:cs typeface="+mn-cs"/>
              </a:rPr>
              <a:t>PASS</a:t>
            </a:r>
          </a:p>
        </p:txBody>
      </p:sp>
      <p:sp>
        <p:nvSpPr>
          <p:cNvPr id="27" name="Text 26"/>
          <p:cNvSpPr txBox="1"/>
          <p:nvPr/>
        </p:nvSpPr>
        <p:spPr>
          <a:xfrm>
            <a:off x="8979408"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FFFFFF"/>
                </a:solidFill>
                <a:effectLst/>
                <a:uLnTx/>
                <a:uFillTx/>
                <a:latin typeface="Trenda IG Text"/>
                <a:ea typeface="+mn-ea"/>
                <a:cs typeface="+mn-cs"/>
              </a:rPr>
              <a:t>output guardrails, then people approve at H1-H4 and CAB, then release</a:t>
            </a:r>
          </a:p>
        </p:txBody>
      </p:sp>
      <p:cxnSp>
        <p:nvCxnSpPr>
          <p:cNvPr id="28" name="Arrow 27"/>
          <p:cNvCxnSpPr/>
          <p:nvPr/>
        </p:nvCxnSpPr>
        <p:spPr>
          <a:xfrm>
            <a:off x="7260336" y="3877056"/>
            <a:ext cx="1536192" cy="0"/>
          </a:xfrm>
          <a:prstGeom prst="line">
            <a:avLst/>
          </a:prstGeom>
          <a:ln w="31750">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8833104" y="4681728"/>
            <a:ext cx="2697480" cy="768096"/>
          </a:xfrm>
          <a:prstGeom prst="roundRect">
            <a:avLst>
              <a:gd name="adj" fmla="val 12000"/>
            </a:avLst>
          </a:prstGeom>
          <a:solidFill>
            <a:srgbClr val="000000">
              <a:alpha val="65000"/>
            </a:srgbClr>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29"/>
          <p:cNvSpPr txBox="1"/>
          <p:nvPr/>
        </p:nvSpPr>
        <p:spPr>
          <a:xfrm>
            <a:off x="8979408"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D700"/>
                </a:solidFill>
                <a:effectLst/>
                <a:uLnTx/>
                <a:uFillTx/>
                <a:latin typeface="Trenda IG Text"/>
                <a:ea typeface="+mn-ea"/>
                <a:cs typeface="+mn-cs"/>
              </a:rPr>
              <a:t>LEARN</a:t>
            </a:r>
          </a:p>
        </p:txBody>
      </p:sp>
      <p:sp>
        <p:nvSpPr>
          <p:cNvPr id="31" name="Text 30"/>
          <p:cNvSpPr txBox="1"/>
          <p:nvPr/>
        </p:nvSpPr>
        <p:spPr>
          <a:xfrm>
            <a:off x="8979408"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miss: diagnose the agent or context, tune, re-test on the golden set</a:t>
            </a:r>
          </a:p>
        </p:txBody>
      </p:sp>
      <p:cxnSp>
        <p:nvCxnSpPr>
          <p:cNvPr id="32" name="Arrow 31"/>
          <p:cNvCxnSpPr/>
          <p:nvPr/>
        </p:nvCxnSpPr>
        <p:spPr>
          <a:xfrm>
            <a:off x="7164030" y="4340091"/>
            <a:ext cx="1632498" cy="725685"/>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4956048" y="2734056"/>
            <a:ext cx="2286000" cy="2286000"/>
          </a:xfrm>
          <a:prstGeom prst="ellipse">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Shape 33"/>
          <p:cNvSpPr/>
          <p:nvPr/>
        </p:nvSpPr>
        <p:spPr>
          <a:xfrm>
            <a:off x="5230368" y="3008376"/>
            <a:ext cx="1737360" cy="1737360"/>
          </a:xfrm>
          <a:prstGeom prst="ellipse">
            <a:avLst/>
          </a:prstGeom>
          <a:solidFill>
            <a:srgbClr val="000000">
              <a:alpha val="72000"/>
            </a:srgbClr>
          </a:solidFill>
          <a:ln w="381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5230368" y="3493008"/>
            <a:ext cx="1737360" cy="45720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800" b="1" i="0" u="none" strike="noStrike" kern="1200" cap="none" spc="100" normalizeH="0" baseline="0" noProof="0">
                <a:ln>
                  <a:noFill/>
                </a:ln>
                <a:solidFill>
                  <a:srgbClr val="FFD700"/>
                </a:solidFill>
                <a:effectLst/>
                <a:uLnTx/>
                <a:uFillTx/>
                <a:latin typeface="Trenda IG Text"/>
                <a:ea typeface="+mn-ea"/>
                <a:cs typeface="+mn-cs"/>
              </a:rPr>
              <a:t>EVALS</a:t>
            </a:r>
          </a:p>
        </p:txBody>
      </p:sp>
      <p:sp>
        <p:nvSpPr>
          <p:cNvPr id="36" name="Text 35"/>
          <p:cNvSpPr txBox="1"/>
          <p:nvPr/>
        </p:nvSpPr>
        <p:spPr>
          <a:xfrm>
            <a:off x="5230368" y="3950208"/>
            <a:ext cx="173736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QA for AI agents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on every run</a:t>
            </a:r>
          </a:p>
        </p:txBody>
      </p:sp>
      <p:sp>
        <p:nvSpPr>
          <p:cNvPr id="37" name="Shape 36"/>
          <p:cNvSpPr/>
          <p:nvPr/>
        </p:nvSpPr>
        <p:spPr>
          <a:xfrm>
            <a:off x="4471416"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562856"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Answer relevancy</a:t>
            </a:r>
          </a:p>
        </p:txBody>
      </p:sp>
      <p:sp>
        <p:nvSpPr>
          <p:cNvPr id="39" name="Text 38"/>
          <p:cNvSpPr txBox="1"/>
          <p:nvPr/>
        </p:nvSpPr>
        <p:spPr>
          <a:xfrm>
            <a:off x="4526280"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answers the story that was asked</a:t>
            </a:r>
          </a:p>
        </p:txBody>
      </p:sp>
      <p:sp>
        <p:nvSpPr>
          <p:cNvPr id="40" name="Shape 39"/>
          <p:cNvSpPr/>
          <p:nvPr/>
        </p:nvSpPr>
        <p:spPr>
          <a:xfrm>
            <a:off x="6153912"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6245351"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Groundedness</a:t>
            </a:r>
          </a:p>
        </p:txBody>
      </p:sp>
      <p:sp>
        <p:nvSpPr>
          <p:cNvPr id="42" name="Text 41"/>
          <p:cNvSpPr txBox="1"/>
          <p:nvPr/>
        </p:nvSpPr>
        <p:spPr>
          <a:xfrm>
            <a:off x="6208775"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every claim cites the graph or a tool</a:t>
            </a:r>
          </a:p>
        </p:txBody>
      </p:sp>
      <p:sp>
        <p:nvSpPr>
          <p:cNvPr id="43" name="Shape 42"/>
          <p:cNvSpPr/>
          <p:nvPr/>
        </p:nvSpPr>
        <p:spPr>
          <a:xfrm>
            <a:off x="4471416"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62856"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Tool sequence</a:t>
            </a:r>
          </a:p>
        </p:txBody>
      </p:sp>
      <p:sp>
        <p:nvSpPr>
          <p:cNvPr id="45" name="Text 44"/>
          <p:cNvSpPr txBox="1"/>
          <p:nvPr/>
        </p:nvSpPr>
        <p:spPr>
          <a:xfrm>
            <a:off x="4526280"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tools, right order, no repeats</a:t>
            </a:r>
          </a:p>
        </p:txBody>
      </p:sp>
      <p:sp>
        <p:nvSpPr>
          <p:cNvPr id="46" name="Shape 45"/>
          <p:cNvSpPr/>
          <p:nvPr/>
        </p:nvSpPr>
        <p:spPr>
          <a:xfrm>
            <a:off x="6153912"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6245351"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pass@k</a:t>
            </a:r>
          </a:p>
        </p:txBody>
      </p:sp>
      <p:sp>
        <p:nvSpPr>
          <p:cNvPr id="48" name="Text 47"/>
          <p:cNvSpPr txBox="1"/>
          <p:nvPr/>
        </p:nvSpPr>
        <p:spPr>
          <a:xfrm>
            <a:off x="6208775"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first time, and by attempt 5</a:t>
            </a:r>
          </a:p>
        </p:txBody>
      </p:sp>
      <p:sp>
        <p:nvSpPr>
          <p:cNvPr id="49" name="Freeform 48"/>
          <p:cNvSpPr/>
          <p:nvPr/>
        </p:nvSpPr>
        <p:spPr>
          <a:xfrm>
            <a:off x="2007108" y="1993392"/>
            <a:ext cx="8174736" cy="310896"/>
          </a:xfrm>
          <a:custGeom>
            <a:avLst/>
            <a:gdLst/>
            <a:ahLst/>
            <a:cxnLst/>
            <a:rect l="l" t="t" r="r" b="b"/>
            <a:pathLst>
              <a:path w="8174736" h="310896">
                <a:moveTo>
                  <a:pt x="8174736" y="310896"/>
                </a:moveTo>
                <a:lnTo>
                  <a:pt x="8162136" y="286503"/>
                </a:lnTo>
                <a:lnTo>
                  <a:pt x="8124413" y="262261"/>
                </a:lnTo>
                <a:lnTo>
                  <a:pt x="8061801" y="238318"/>
                </a:lnTo>
                <a:lnTo>
                  <a:pt x="7974685" y="214823"/>
                </a:lnTo>
                <a:lnTo>
                  <a:pt x="7863603" y="191921"/>
                </a:lnTo>
                <a:lnTo>
                  <a:pt x="7729239" y="169752"/>
                </a:lnTo>
                <a:lnTo>
                  <a:pt x="7572422" y="148453"/>
                </a:lnTo>
                <a:lnTo>
                  <a:pt x="7394118" y="128155"/>
                </a:lnTo>
                <a:lnTo>
                  <a:pt x="7195427" y="108985"/>
                </a:lnTo>
                <a:lnTo>
                  <a:pt x="6977573" y="91059"/>
                </a:lnTo>
                <a:lnTo>
                  <a:pt x="6741901" y="74488"/>
                </a:lnTo>
                <a:lnTo>
                  <a:pt x="6489862" y="59375"/>
                </a:lnTo>
                <a:lnTo>
                  <a:pt x="6223011" y="45813"/>
                </a:lnTo>
                <a:lnTo>
                  <a:pt x="5942994" y="33885"/>
                </a:lnTo>
                <a:lnTo>
                  <a:pt x="5651536" y="23665"/>
                </a:lnTo>
                <a:lnTo>
                  <a:pt x="5350434" y="15216"/>
                </a:lnTo>
                <a:lnTo>
                  <a:pt x="5041545" y="8590"/>
                </a:lnTo>
                <a:lnTo>
                  <a:pt x="4726773" y="3827"/>
                </a:lnTo>
                <a:lnTo>
                  <a:pt x="4408059" y="958"/>
                </a:lnTo>
                <a:lnTo>
                  <a:pt x="4087368" y="0"/>
                </a:lnTo>
                <a:lnTo>
                  <a:pt x="3766676" y="958"/>
                </a:lnTo>
                <a:lnTo>
                  <a:pt x="3447962" y="3827"/>
                </a:lnTo>
                <a:lnTo>
                  <a:pt x="3133190" y="8590"/>
                </a:lnTo>
                <a:lnTo>
                  <a:pt x="2824301" y="15216"/>
                </a:lnTo>
                <a:lnTo>
                  <a:pt x="2523199" y="23665"/>
                </a:lnTo>
                <a:lnTo>
                  <a:pt x="2231741" y="33885"/>
                </a:lnTo>
                <a:lnTo>
                  <a:pt x="1951724" y="45813"/>
                </a:lnTo>
                <a:lnTo>
                  <a:pt x="1684873" y="59375"/>
                </a:lnTo>
                <a:lnTo>
                  <a:pt x="1432834" y="74488"/>
                </a:lnTo>
                <a:lnTo>
                  <a:pt x="1197162" y="91059"/>
                </a:lnTo>
                <a:lnTo>
                  <a:pt x="979308" y="108985"/>
                </a:lnTo>
                <a:lnTo>
                  <a:pt x="780617" y="128155"/>
                </a:lnTo>
                <a:lnTo>
                  <a:pt x="602313" y="148453"/>
                </a:lnTo>
                <a:lnTo>
                  <a:pt x="445496" y="169752"/>
                </a:lnTo>
                <a:lnTo>
                  <a:pt x="311132" y="191921"/>
                </a:lnTo>
                <a:lnTo>
                  <a:pt x="200050" y="214823"/>
                </a:lnTo>
                <a:lnTo>
                  <a:pt x="112934" y="238318"/>
                </a:lnTo>
                <a:lnTo>
                  <a:pt x="50322" y="262261"/>
                </a:lnTo>
                <a:lnTo>
                  <a:pt x="12599" y="286503"/>
                </a:lnTo>
                <a:lnTo>
                  <a:pt x="0" y="310896"/>
                </a:lnTo>
              </a:path>
            </a:pathLst>
          </a:custGeom>
          <a:noFill/>
          <a:ln w="25400">
            <a:solidFill>
              <a:srgbClr val="FF0069"/>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Shape 48"/>
          <p:cNvSpPr/>
          <p:nvPr/>
        </p:nvSpPr>
        <p:spPr>
          <a:xfrm>
            <a:off x="4041648" y="1892807"/>
            <a:ext cx="4114800" cy="201168"/>
          </a:xfrm>
          <a:prstGeom prst="roundRect">
            <a:avLst>
              <a:gd name="adj" fmla="val 50000"/>
            </a:avLst>
          </a:prstGeom>
          <a:solidFill>
            <a:srgbClr val="00000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49"/>
          <p:cNvSpPr txBox="1"/>
          <p:nvPr/>
        </p:nvSpPr>
        <p:spPr>
          <a:xfrm>
            <a:off x="3904487" y="1892807"/>
            <a:ext cx="438912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0069"/>
                </a:solidFill>
                <a:effectLst/>
                <a:uLnTx/>
                <a:uFillTx/>
                <a:latin typeface="Trenda IG Text"/>
                <a:ea typeface="+mn-ea"/>
                <a:cs typeface="+mn-cs"/>
              </a:rPr>
              <a:t>BOUNDED LOOP  </a:t>
            </a:r>
            <a:r>
              <a:rPr kumimoji="0" sz="750" b="0" i="0" u="none" strike="noStrike" kern="1200" cap="none" spc="0" normalizeH="0" baseline="0" noProof="0">
                <a:ln>
                  <a:noFill/>
                </a:ln>
                <a:solidFill>
                  <a:srgbClr val="FFFFFF"/>
                </a:solidFill>
                <a:effectLst/>
                <a:uLnTx/>
                <a:uFillTx/>
                <a:latin typeface="Trenda IG Text"/>
                <a:ea typeface="+mn-ea"/>
                <a:cs typeface="+mn-cs"/>
              </a:rPr>
              <a:t>back to the agent, max 5 attempts, then a named owner</a:t>
            </a:r>
          </a:p>
        </p:txBody>
      </p:sp>
      <p:sp>
        <p:nvSpPr>
          <p:cNvPr id="52" name="Freeform 51"/>
          <p:cNvSpPr/>
          <p:nvPr/>
        </p:nvSpPr>
        <p:spPr>
          <a:xfrm>
            <a:off x="2007108" y="5449824"/>
            <a:ext cx="8174736" cy="347472"/>
          </a:xfrm>
          <a:custGeom>
            <a:avLst/>
            <a:gdLst/>
            <a:ahLst/>
            <a:cxnLst/>
            <a:rect l="l" t="t" r="r" b="b"/>
            <a:pathLst>
              <a:path w="8174736" h="347472">
                <a:moveTo>
                  <a:pt x="8174736" y="0"/>
                </a:moveTo>
                <a:lnTo>
                  <a:pt x="8162136" y="27262"/>
                </a:lnTo>
                <a:lnTo>
                  <a:pt x="8124413" y="54356"/>
                </a:lnTo>
                <a:lnTo>
                  <a:pt x="8061801" y="81115"/>
                </a:lnTo>
                <a:lnTo>
                  <a:pt x="7974685" y="107374"/>
                </a:lnTo>
                <a:lnTo>
                  <a:pt x="7863603" y="132971"/>
                </a:lnTo>
                <a:lnTo>
                  <a:pt x="7729239" y="157748"/>
                </a:lnTo>
                <a:lnTo>
                  <a:pt x="7572422" y="181553"/>
                </a:lnTo>
                <a:lnTo>
                  <a:pt x="7394118" y="204238"/>
                </a:lnTo>
                <a:lnTo>
                  <a:pt x="7195427" y="225665"/>
                </a:lnTo>
                <a:lnTo>
                  <a:pt x="6977573" y="245699"/>
                </a:lnTo>
                <a:lnTo>
                  <a:pt x="6741901" y="264219"/>
                </a:lnTo>
                <a:lnTo>
                  <a:pt x="6489862" y="281110"/>
                </a:lnTo>
                <a:lnTo>
                  <a:pt x="6223011" y="296268"/>
                </a:lnTo>
                <a:lnTo>
                  <a:pt x="5942994" y="309599"/>
                </a:lnTo>
                <a:lnTo>
                  <a:pt x="5651536" y="321022"/>
                </a:lnTo>
                <a:lnTo>
                  <a:pt x="5350434" y="330465"/>
                </a:lnTo>
                <a:lnTo>
                  <a:pt x="5041545" y="337871"/>
                </a:lnTo>
                <a:lnTo>
                  <a:pt x="4726773" y="343194"/>
                </a:lnTo>
                <a:lnTo>
                  <a:pt x="4408059" y="346400"/>
                </a:lnTo>
                <a:lnTo>
                  <a:pt x="4087368" y="347472"/>
                </a:lnTo>
                <a:lnTo>
                  <a:pt x="3766676" y="346400"/>
                </a:lnTo>
                <a:lnTo>
                  <a:pt x="3447962" y="343194"/>
                </a:lnTo>
                <a:lnTo>
                  <a:pt x="3133190" y="337871"/>
                </a:lnTo>
                <a:lnTo>
                  <a:pt x="2824301" y="330465"/>
                </a:lnTo>
                <a:lnTo>
                  <a:pt x="2523199" y="321022"/>
                </a:lnTo>
                <a:lnTo>
                  <a:pt x="2231741" y="309599"/>
                </a:lnTo>
                <a:lnTo>
                  <a:pt x="1951724" y="296268"/>
                </a:lnTo>
                <a:lnTo>
                  <a:pt x="1684873" y="281110"/>
                </a:lnTo>
                <a:lnTo>
                  <a:pt x="1432834" y="264219"/>
                </a:lnTo>
                <a:lnTo>
                  <a:pt x="1197162" y="245699"/>
                </a:lnTo>
                <a:lnTo>
                  <a:pt x="979308" y="225665"/>
                </a:lnTo>
                <a:lnTo>
                  <a:pt x="780617" y="204238"/>
                </a:lnTo>
                <a:lnTo>
                  <a:pt x="602313" y="181553"/>
                </a:lnTo>
                <a:lnTo>
                  <a:pt x="445496" y="157748"/>
                </a:lnTo>
                <a:lnTo>
                  <a:pt x="311132" y="132971"/>
                </a:lnTo>
                <a:lnTo>
                  <a:pt x="200050" y="107374"/>
                </a:lnTo>
                <a:lnTo>
                  <a:pt x="112934" y="81115"/>
                </a:lnTo>
                <a:lnTo>
                  <a:pt x="50322" y="54356"/>
                </a:lnTo>
                <a:lnTo>
                  <a:pt x="12599" y="27262"/>
                </a:lnTo>
                <a:lnTo>
                  <a:pt x="0" y="0"/>
                </a:lnTo>
              </a:path>
            </a:pathLst>
          </a:custGeom>
          <a:noFill/>
          <a:ln w="31750">
            <a:solidFill>
              <a:srgbClr val="FFD700"/>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Shape 50"/>
          <p:cNvSpPr/>
          <p:nvPr/>
        </p:nvSpPr>
        <p:spPr>
          <a:xfrm>
            <a:off x="4407408" y="5696712"/>
            <a:ext cx="3383280" cy="201168"/>
          </a:xfrm>
          <a:prstGeom prst="roundRect">
            <a:avLst>
              <a:gd name="adj" fmla="val 50000"/>
            </a:avLst>
          </a:prstGeom>
          <a:solidFill>
            <a:srgbClr val="0000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1"/>
          <p:cNvSpPr txBox="1"/>
          <p:nvPr/>
        </p:nvSpPr>
        <p:spPr>
          <a:xfrm>
            <a:off x="3721608" y="5696712"/>
            <a:ext cx="475488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D700"/>
                </a:solidFill>
                <a:effectLst/>
                <a:uLnTx/>
                <a:uFillTx/>
                <a:latin typeface="Trenda IG Text"/>
                <a:ea typeface="+mn-ea"/>
                <a:cs typeface="+mn-cs"/>
              </a:rPr>
              <a:t>CLOSED LOOP  </a:t>
            </a:r>
            <a:r>
              <a:rPr kumimoji="0" sz="750" b="0" i="0" u="none" strike="noStrike" kern="1200" cap="none" spc="0" normalizeH="0" baseline="0" noProof="0">
                <a:ln>
                  <a:noFill/>
                </a:ln>
                <a:solidFill>
                  <a:srgbClr val="FFFFFF"/>
                </a:solidFill>
                <a:effectLst/>
                <a:uLnTx/>
                <a:uFillTx/>
                <a:latin typeface="Trenda IG Text"/>
                <a:ea typeface="+mn-ea"/>
                <a:cs typeface="+mn-cs"/>
              </a:rPr>
              <a:t>every miss becomes a new test case</a:t>
            </a:r>
          </a:p>
        </p:txBody>
      </p:sp>
    </p:spTree>
    <p:extLst>
      <p:ext uri="{BB962C8B-B14F-4D97-AF65-F5344CB8AC3E}">
        <p14:creationId xmlns:p14="http://schemas.microsoft.com/office/powerpoint/2010/main" val="476873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AGENT</a:t>
            </a:r>
          </a:p>
        </p:txBody>
      </p:sp>
      <p:sp>
        <p:nvSpPr>
          <p:cNvPr id="6" name="Text 5"/>
          <p:cNvSpPr txBox="1"/>
          <p:nvPr/>
        </p:nvSpPr>
        <p:spPr>
          <a:xfrm>
            <a:off x="2258568" y="1188720"/>
            <a:ext cx="269747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WHAT WE CHECK</a:t>
            </a:r>
          </a:p>
        </p:txBody>
      </p:sp>
      <p:sp>
        <p:nvSpPr>
          <p:cNvPr id="7" name="Text 6"/>
          <p:cNvSpPr txBox="1"/>
          <p:nvPr/>
        </p:nvSpPr>
        <p:spPr>
          <a:xfrm>
            <a:off x="5138928" y="1188720"/>
            <a:ext cx="379475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METRIC</a:t>
            </a:r>
          </a:p>
        </p:txBody>
      </p:sp>
      <p:sp>
        <p:nvSpPr>
          <p:cNvPr id="8" name="Text 7"/>
          <p:cNvSpPr txBox="1"/>
          <p:nvPr/>
        </p:nvSpPr>
        <p:spPr>
          <a:xfrm>
            <a:off x="9116567" y="1188720"/>
            <a:ext cx="2587751"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Text 11"/>
          <p:cNvSpPr txBox="1"/>
          <p:nvPr/>
        </p:nvSpPr>
        <p:spPr>
          <a:xfrm>
            <a:off x="630936" y="1554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Orchestrator</a:t>
            </a:r>
          </a:p>
        </p:txBody>
      </p:sp>
      <p:sp>
        <p:nvSpPr>
          <p:cNvPr id="13" name="Text 12"/>
          <p:cNvSpPr txBox="1"/>
          <p:nvPr/>
        </p:nvSpPr>
        <p:spPr>
          <a:xfrm>
            <a:off x="2258568" y="1554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630936" y="2011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Requirements</a:t>
            </a:r>
          </a:p>
        </p:txBody>
      </p:sp>
      <p:sp>
        <p:nvSpPr>
          <p:cNvPr id="18" name="Text 17"/>
          <p:cNvSpPr txBox="1"/>
          <p:nvPr/>
        </p:nvSpPr>
        <p:spPr>
          <a:xfrm>
            <a:off x="2258568" y="2011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630936" y="2468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Architect</a:t>
            </a:r>
          </a:p>
        </p:txBody>
      </p:sp>
      <p:sp>
        <p:nvSpPr>
          <p:cNvPr id="24" name="Text 23"/>
          <p:cNvSpPr txBox="1"/>
          <p:nvPr/>
        </p:nvSpPr>
        <p:spPr>
          <a:xfrm>
            <a:off x="2258568" y="2468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Impact, reuse and owners are right</a:t>
            </a:r>
          </a:p>
        </p:txBody>
      </p:sp>
      <p:sp>
        <p:nvSpPr>
          <p:cNvPr id="25" name="Text 24"/>
          <p:cNvSpPr txBox="1"/>
          <p:nvPr/>
        </p:nvSpPr>
        <p:spPr>
          <a:xfrm>
            <a:off x="5138928" y="2468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630936" y="29260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Developer</a:t>
            </a:r>
          </a:p>
        </p:txBody>
      </p:sp>
      <p:sp>
        <p:nvSpPr>
          <p:cNvPr id="29" name="Text 28"/>
          <p:cNvSpPr txBox="1"/>
          <p:nvPr/>
        </p:nvSpPr>
        <p:spPr>
          <a:xfrm>
            <a:off x="2258568" y="29260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passes every check</a:t>
            </a:r>
          </a:p>
        </p:txBody>
      </p:sp>
      <p:sp>
        <p:nvSpPr>
          <p:cNvPr id="30" name="Text 29"/>
          <p:cNvSpPr txBox="1"/>
          <p:nvPr/>
        </p:nvSpPr>
        <p:spPr>
          <a:xfrm>
            <a:off x="5138928" y="29260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pass@1 and pass@5; attempts per story</a:t>
            </a:r>
          </a:p>
        </p:txBody>
      </p:sp>
      <p:sp>
        <p:nvSpPr>
          <p:cNvPr id="31" name="Text 30"/>
          <p:cNvSpPr txBox="1"/>
          <p:nvPr/>
        </p:nvSpPr>
        <p:spPr>
          <a:xfrm>
            <a:off x="9116567" y="29260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630936" y="33832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Review</a:t>
            </a:r>
          </a:p>
        </p:txBody>
      </p:sp>
      <p:sp>
        <p:nvSpPr>
          <p:cNvPr id="35" name="Text 34"/>
          <p:cNvSpPr txBox="1"/>
          <p:nvPr/>
        </p:nvSpPr>
        <p:spPr>
          <a:xfrm>
            <a:off x="2258568" y="33832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Its verdict matches a human reviewer</a:t>
            </a:r>
          </a:p>
        </p:txBody>
      </p:sp>
      <p:sp>
        <p:nvSpPr>
          <p:cNvPr id="36" name="Text 35"/>
          <p:cNvSpPr txBox="1"/>
          <p:nvPr/>
        </p:nvSpPr>
        <p:spPr>
          <a:xfrm>
            <a:off x="5138928" y="33832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Judge agreement with tech leads</a:t>
            </a:r>
          </a:p>
        </p:txBody>
      </p:sp>
      <p:sp>
        <p:nvSpPr>
          <p:cNvPr id="37" name="Text 36"/>
          <p:cNvSpPr txBox="1"/>
          <p:nvPr/>
        </p:nvSpPr>
        <p:spPr>
          <a:xfrm>
            <a:off x="9116567" y="33832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630936" y="3840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Test</a:t>
            </a:r>
          </a:p>
        </p:txBody>
      </p:sp>
      <p:sp>
        <p:nvSpPr>
          <p:cNvPr id="40" name="Text 39"/>
          <p:cNvSpPr txBox="1"/>
          <p:nvPr/>
        </p:nvSpPr>
        <p:spPr>
          <a:xfrm>
            <a:off x="2258568" y="3840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Defects are caught before UAT</a:t>
            </a:r>
          </a:p>
        </p:txBody>
      </p:sp>
      <p:sp>
        <p:nvSpPr>
          <p:cNvPr id="41" name="Text 40"/>
          <p:cNvSpPr txBox="1"/>
          <p:nvPr/>
        </p:nvSpPr>
        <p:spPr>
          <a:xfrm>
            <a:off x="5138928" y="3840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630936" y="4297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Release</a:t>
            </a:r>
          </a:p>
        </p:txBody>
      </p:sp>
      <p:sp>
        <p:nvSpPr>
          <p:cNvPr id="46" name="Text 45"/>
          <p:cNvSpPr txBox="1"/>
          <p:nvPr/>
        </p:nvSpPr>
        <p:spPr>
          <a:xfrm>
            <a:off x="2258568" y="4297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Package deploys cleanly</a:t>
            </a:r>
          </a:p>
        </p:txBody>
      </p:sp>
      <p:sp>
        <p:nvSpPr>
          <p:cNvPr id="47" name="Text 46"/>
          <p:cNvSpPr txBox="1"/>
          <p:nvPr/>
        </p:nvSpPr>
        <p:spPr>
          <a:xfrm>
            <a:off x="5138928" y="4297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630936" y="4754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Change Guardian</a:t>
            </a:r>
          </a:p>
        </p:txBody>
      </p:sp>
      <p:sp>
        <p:nvSpPr>
          <p:cNvPr id="51" name="Text 50"/>
          <p:cNvSpPr txBox="1"/>
          <p:nvPr/>
        </p:nvSpPr>
        <p:spPr>
          <a:xfrm>
            <a:off x="2258568" y="4754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Missed conflicts and false blocks</a:t>
            </a:r>
          </a:p>
        </p:txBody>
      </p:sp>
      <p:sp>
        <p:nvSpPr>
          <p:cNvPr id="53" name="Text 52"/>
          <p:cNvSpPr txBox="1"/>
          <p:nvPr/>
        </p:nvSpPr>
        <p:spPr>
          <a:xfrm>
            <a:off x="9116567" y="4754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411480" y="5266944"/>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pass@k </a:t>
            </a:r>
            <a:r>
              <a:rPr kumimoji="0" sz="800" b="0" i="0" u="none" strike="noStrike" kern="1200" cap="none" spc="0" normalizeH="0" baseline="0" noProof="0">
                <a:ln>
                  <a:noFill/>
                </a:ln>
                <a:solidFill>
                  <a:srgbClr val="BFBFBF"/>
                </a:solidFill>
                <a:effectLst/>
                <a:uLnTx/>
                <a:uFillTx/>
                <a:latin typeface="Trenda IG Text"/>
                <a:ea typeface="+mn-ea"/>
                <a:cs typeface="+mn-cs"/>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640080" y="5541264"/>
            <a:ext cx="2194560"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HOW TARGETS ARE SET</a:t>
            </a:r>
          </a:p>
        </p:txBody>
      </p:sp>
      <p:sp>
        <p:nvSpPr>
          <p:cNvPr id="58" name="Text 57"/>
          <p:cNvSpPr txBox="1"/>
          <p:nvPr/>
        </p:nvSpPr>
        <p:spPr>
          <a:xfrm>
            <a:off x="2743200" y="5541264"/>
            <a:ext cx="880567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FFFFFF"/>
                </a:solidFill>
                <a:effectLst/>
                <a:uLnTx/>
                <a:uFillTx/>
                <a:latin typeface="Trenda IG Text"/>
                <a:ea typeface="+mn-ea"/>
                <a:cs typeface="+mn-cs"/>
              </a:rPr>
              <a:t>Each target comes from the Phase 0 baseline and is agreed with Ascension. </a:t>
            </a:r>
            <a:r>
              <a:rPr kumimoji="0" sz="900" b="0" i="0" u="none" strike="noStrike" kern="1200" cap="none" spc="0" normalizeH="0" baseline="0" noProof="0" dirty="0">
                <a:ln>
                  <a:noFill/>
                </a:ln>
                <a:solidFill>
                  <a:srgbClr val="BFBFBF"/>
                </a:solidFill>
                <a:effectLst/>
                <a:uLnTx/>
                <a:uFillTx/>
                <a:latin typeface="Trenda IG Text"/>
                <a:ea typeface="+mn-ea"/>
                <a:cs typeface="+mn-cs"/>
              </a:rPr>
              <a:t>Scores are reviewed monthly; a falling score sends that agent back through diagnose and tune.</a:t>
            </a:r>
          </a:p>
        </p:txBody>
      </p:sp>
    </p:spTree>
    <p:extLst>
      <p:ext uri="{BB962C8B-B14F-4D97-AF65-F5344CB8AC3E}">
        <p14:creationId xmlns:p14="http://schemas.microsoft.com/office/powerpoint/2010/main" val="2660977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FUTURE STATE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Agentic Harness</a:t>
            </a:r>
          </a:p>
        </p:txBody>
      </p:sp>
      <p:sp>
        <p:nvSpPr>
          <p:cNvPr id="10" name="Text 10"/>
          <p:cNvSpPr txBox="1"/>
          <p:nvPr/>
        </p:nvSpPr>
        <p:spPr>
          <a:xfrm>
            <a:off x="2039112" y="1261872"/>
            <a:ext cx="544068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BFBFBF"/>
                </a:solidFill>
                <a:effectLst/>
                <a:uLnTx/>
                <a:uFillTx/>
                <a:latin typeface="Trenda IG Text"/>
                <a:ea typeface="+mn-ea"/>
                <a:cs typeface="+mn-cs"/>
              </a:rPr>
              <a:t>TODAY · THIS PROPOSAL</a:t>
            </a:r>
          </a:p>
        </p:txBody>
      </p:sp>
      <p:sp>
        <p:nvSpPr>
          <p:cNvPr id="11" name="Text 11"/>
          <p:cNvSpPr txBox="1"/>
          <p:nvPr/>
        </p:nvSpPr>
        <p:spPr>
          <a:xfrm>
            <a:off x="2039112" y="1792224"/>
            <a:ext cx="544068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D700"/>
                </a:solidFill>
                <a:effectLst/>
                <a:uLnTx/>
                <a:uFillTx/>
                <a:latin typeface="Trenda IG Text"/>
                <a:ea typeface="+mn-ea"/>
                <a:cs typeface="+mn-cs"/>
              </a:rPr>
              <a:t>AGI</a:t>
            </a:r>
            <a:r>
              <a:rPr kumimoji="0" sz="1500" b="1" i="0" u="none" strike="noStrike" kern="1200" cap="none" spc="0" normalizeH="0" baseline="0" noProof="0">
                <a:ln>
                  <a:noFill/>
                </a:ln>
                <a:solidFill>
                  <a:srgbClr val="FFFFFF"/>
                </a:solidFill>
                <a:effectLst/>
                <a:uLnTx/>
                <a:uFillTx/>
                <a:latin typeface="Trenda IG Text"/>
                <a:ea typeface="+mn-ea"/>
                <a:cs typeface="+mn-cs"/>
              </a:rPr>
              <a:t>   Dynamic self-harness</a:t>
            </a:r>
          </a:p>
        </p:txBody>
      </p:sp>
      <p:sp>
        <p:nvSpPr>
          <p:cNvPr id="13" name="Text 13"/>
          <p:cNvSpPr txBox="1"/>
          <p:nvPr/>
        </p:nvSpPr>
        <p:spPr>
          <a:xfrm>
            <a:off x="8028432" y="1261872"/>
            <a:ext cx="3639311"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D700"/>
                </a:solidFill>
                <a:effectLst/>
                <a:uLnTx/>
                <a:uFillTx/>
                <a:latin typeface="Trenda IG Text"/>
                <a:ea typeface="+mn-ea"/>
                <a:cs typeface="+mn-cs"/>
              </a:rPr>
              <a:t>FUTURE STATE</a:t>
            </a:r>
          </a:p>
        </p:txBody>
      </p:sp>
      <p:sp>
        <p:nvSpPr>
          <p:cNvPr id="14" name="Text 14"/>
          <p:cNvSpPr txBox="1"/>
          <p:nvPr/>
        </p:nvSpPr>
        <p:spPr>
          <a:xfrm>
            <a:off x="8028432" y="1792224"/>
            <a:ext cx="3639311"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7"/>
          <p:cNvSpPr txBox="1"/>
          <p:nvPr/>
        </p:nvSpPr>
        <p:spPr>
          <a:xfrm>
            <a:off x="411480" y="2212848"/>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8" name="Text 18"/>
          <p:cNvSpPr txBox="1"/>
          <p:nvPr/>
        </p:nvSpPr>
        <p:spPr>
          <a:xfrm>
            <a:off x="758952" y="2212848"/>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9" name="Text 19"/>
          <p:cNvSpPr txBox="1"/>
          <p:nvPr/>
        </p:nvSpPr>
        <p:spPr>
          <a:xfrm>
            <a:off x="2039112" y="2194560"/>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connect the sources and write the AGENTS.md maps</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2"/>
          <p:cNvSpPr txBox="1"/>
          <p:nvPr/>
        </p:nvSpPr>
        <p:spPr>
          <a:xfrm>
            <a:off x="411480" y="2651760"/>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3" name="Text 23"/>
          <p:cNvSpPr txBox="1"/>
          <p:nvPr/>
        </p:nvSpPr>
        <p:spPr>
          <a:xfrm>
            <a:off x="758952" y="2651760"/>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4" name="Text 24"/>
          <p:cNvSpPr txBox="1"/>
          <p:nvPr/>
        </p:nvSpPr>
        <p:spPr>
          <a:xfrm>
            <a:off x="2039112" y="2633472"/>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grant each tool, step by step</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request a new tool with the reason</a:t>
            </a:r>
          </a:p>
        </p:txBody>
      </p:sp>
      <p:sp>
        <p:nvSpPr>
          <p:cNvPr id="25" name="Text 25"/>
          <p:cNvSpPr txBox="1"/>
          <p:nvPr/>
        </p:nvSpPr>
        <p:spPr>
          <a:xfrm>
            <a:off x="8028432" y="2651760"/>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411480" y="3090672"/>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8" name="Text 28"/>
          <p:cNvSpPr txBox="1"/>
          <p:nvPr/>
        </p:nvSpPr>
        <p:spPr>
          <a:xfrm>
            <a:off x="758952" y="3090672"/>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29" name="Text 29"/>
          <p:cNvSpPr txBox="1"/>
          <p:nvPr/>
        </p:nvSpPr>
        <p:spPr>
          <a:xfrm>
            <a:off x="2039112" y="3072384"/>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design the nine-step run</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2"/>
          <p:cNvSpPr txBox="1"/>
          <p:nvPr/>
        </p:nvSpPr>
        <p:spPr>
          <a:xfrm>
            <a:off x="411480" y="3529584"/>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33" name="Text 33"/>
          <p:cNvSpPr txBox="1"/>
          <p:nvPr/>
        </p:nvSpPr>
        <p:spPr>
          <a:xfrm>
            <a:off x="758952" y="3529584"/>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34" name="Text 34"/>
          <p:cNvSpPr txBox="1"/>
          <p:nvPr/>
        </p:nvSpPr>
        <p:spPr>
          <a:xfrm>
            <a:off x="2039112" y="3511296"/>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write the Guardian rules and approve at H1-H4</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7"/>
          <p:cNvSpPr txBox="1"/>
          <p:nvPr/>
        </p:nvSpPr>
        <p:spPr>
          <a:xfrm>
            <a:off x="411480" y="3968496"/>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8" name="Text 38"/>
          <p:cNvSpPr txBox="1"/>
          <p:nvPr/>
        </p:nvSpPr>
        <p:spPr>
          <a:xfrm>
            <a:off x="758952" y="3968496"/>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39" name="Text 39"/>
          <p:cNvSpPr txBox="1"/>
          <p:nvPr/>
        </p:nvSpPr>
        <p:spPr>
          <a:xfrm>
            <a:off x="2039112" y="3950208"/>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review results and approve every fix</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4"/>
          <p:cNvSpPr txBox="1"/>
          <p:nvPr/>
        </p:nvSpPr>
        <p:spPr>
          <a:xfrm>
            <a:off x="681228" y="4686300"/>
            <a:ext cx="228600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100" normalizeH="0" baseline="0" noProof="0">
                <a:ln>
                  <a:noFill/>
                </a:ln>
                <a:solidFill>
                  <a:srgbClr val="FFFFFF"/>
                </a:solidFill>
                <a:effectLst/>
                <a:uLnTx/>
                <a:uFillTx/>
                <a:latin typeface="Trenda IG Text"/>
                <a:ea typeface="+mn-ea"/>
                <a:cs typeface="+mn-cs"/>
              </a:rPr>
              <a:t>HOW WE TRUST </a:t>
            </a:r>
            <a:r>
              <a:rPr kumimoji="0" sz="1400" b="1" i="0" u="none" strike="noStrike" kern="1200" cap="none" spc="100" normalizeH="0" baseline="0" noProof="0">
                <a:ln>
                  <a:noFill/>
                </a:ln>
                <a:solidFill>
                  <a:srgbClr val="FFD700"/>
                </a:solidFill>
                <a:effectLst/>
                <a:uLnTx/>
                <a:uFillTx/>
                <a:latin typeface="Trenda IG Text"/>
                <a:ea typeface="+mn-ea"/>
                <a:cs typeface="+mn-cs"/>
              </a:rPr>
              <a:t>AGI</a:t>
            </a:r>
          </a:p>
        </p:txBody>
      </p:sp>
      <p:sp>
        <p:nvSpPr>
          <p:cNvPr id="44" name="Text 45"/>
          <p:cNvSpPr txBox="1"/>
          <p:nvPr/>
        </p:nvSpPr>
        <p:spPr>
          <a:xfrm>
            <a:off x="681228" y="5015483"/>
            <a:ext cx="2240280"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7"/>
          <p:cNvSpPr txBox="1"/>
          <p:nvPr/>
        </p:nvSpPr>
        <p:spPr>
          <a:xfrm>
            <a:off x="3168396"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1  </a:t>
            </a:r>
            <a:r>
              <a:rPr kumimoji="0" sz="1000" b="1" i="0" u="none" strike="noStrike" kern="1200" cap="none" spc="0" normalizeH="0" baseline="0" noProof="0">
                <a:ln>
                  <a:noFill/>
                </a:ln>
                <a:solidFill>
                  <a:srgbClr val="FFFFFF"/>
                </a:solidFill>
                <a:effectLst/>
                <a:uLnTx/>
                <a:uFillTx/>
                <a:latin typeface="Trenda IG Text"/>
                <a:ea typeface="+mn-ea"/>
                <a:cs typeface="+mn-cs"/>
              </a:rPr>
              <a:t>Earned step by step</a:t>
            </a:r>
          </a:p>
        </p:txBody>
      </p:sp>
      <p:sp>
        <p:nvSpPr>
          <p:cNvPr id="47" name="Text 48"/>
          <p:cNvSpPr txBox="1"/>
          <p:nvPr/>
        </p:nvSpPr>
        <p:spPr>
          <a:xfrm>
            <a:off x="3168396"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50"/>
          <p:cNvSpPr txBox="1"/>
          <p:nvPr/>
        </p:nvSpPr>
        <p:spPr>
          <a:xfrm>
            <a:off x="5269229"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2  </a:t>
            </a:r>
            <a:r>
              <a:rPr kumimoji="0" sz="1000" b="1" i="0" u="none" strike="noStrike" kern="1200" cap="none" spc="0" normalizeH="0" baseline="0" noProof="0">
                <a:ln>
                  <a:noFill/>
                </a:ln>
                <a:solidFill>
                  <a:srgbClr val="FFFFFF"/>
                </a:solidFill>
                <a:effectLst/>
                <a:uLnTx/>
                <a:uFillTx/>
                <a:latin typeface="Trenda IG Text"/>
                <a:ea typeface="+mn-ea"/>
                <a:cs typeface="+mn-cs"/>
              </a:rPr>
              <a:t>Every action on record</a:t>
            </a:r>
          </a:p>
        </p:txBody>
      </p:sp>
      <p:sp>
        <p:nvSpPr>
          <p:cNvPr id="50" name="Text 51"/>
          <p:cNvSpPr txBox="1"/>
          <p:nvPr/>
        </p:nvSpPr>
        <p:spPr>
          <a:xfrm>
            <a:off x="5269229"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2" name="Text 53"/>
          <p:cNvSpPr txBox="1"/>
          <p:nvPr/>
        </p:nvSpPr>
        <p:spPr>
          <a:xfrm>
            <a:off x="7370063"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3  </a:t>
            </a:r>
            <a:r>
              <a:rPr kumimoji="0" sz="1000" b="1" i="0" u="none" strike="noStrike" kern="1200" cap="none" spc="0" normalizeH="0" baseline="0" noProof="0">
                <a:ln>
                  <a:noFill/>
                </a:ln>
                <a:solidFill>
                  <a:srgbClr val="FFFFFF"/>
                </a:solidFill>
                <a:effectLst/>
                <a:uLnTx/>
                <a:uFillTx/>
                <a:latin typeface="Trenda IG Text"/>
                <a:ea typeface="+mn-ea"/>
                <a:cs typeface="+mn-cs"/>
              </a:rPr>
              <a:t>Hard limits it cannot change</a:t>
            </a:r>
          </a:p>
        </p:txBody>
      </p:sp>
      <p:sp>
        <p:nvSpPr>
          <p:cNvPr id="53" name="Text 54"/>
          <p:cNvSpPr txBox="1"/>
          <p:nvPr/>
        </p:nvSpPr>
        <p:spPr>
          <a:xfrm>
            <a:off x="7370063"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6"/>
          <p:cNvSpPr txBox="1"/>
          <p:nvPr/>
        </p:nvSpPr>
        <p:spPr>
          <a:xfrm>
            <a:off x="9470898"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4  </a:t>
            </a:r>
            <a:r>
              <a:rPr kumimoji="0" sz="1000" b="1" i="0" u="none" strike="noStrike" kern="1200" cap="none" spc="0" normalizeH="0" baseline="0" noProof="0">
                <a:ln>
                  <a:noFill/>
                </a:ln>
                <a:solidFill>
                  <a:srgbClr val="FFFFFF"/>
                </a:solidFill>
                <a:effectLst/>
                <a:uLnTx/>
                <a:uFillTx/>
                <a:latin typeface="Trenda IG Text"/>
                <a:ea typeface="+mn-ea"/>
                <a:cs typeface="+mn-cs"/>
              </a:rPr>
              <a:t>People can always stop it</a:t>
            </a:r>
          </a:p>
        </p:txBody>
      </p:sp>
      <p:sp>
        <p:nvSpPr>
          <p:cNvPr id="56" name="Text 57"/>
          <p:cNvSpPr txBox="1"/>
          <p:nvPr/>
        </p:nvSpPr>
        <p:spPr>
          <a:xfrm>
            <a:off x="9470898"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9"/>
          <p:cNvSpPr txBox="1"/>
          <p:nvPr/>
        </p:nvSpPr>
        <p:spPr>
          <a:xfrm>
            <a:off x="640080" y="5650992"/>
            <a:ext cx="219456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WHAT NEVER CHANGES</a:t>
            </a:r>
          </a:p>
        </p:txBody>
      </p:sp>
      <p:sp>
        <p:nvSpPr>
          <p:cNvPr id="59" name="Text 60"/>
          <p:cNvSpPr txBox="1"/>
          <p:nvPr/>
        </p:nvSpPr>
        <p:spPr>
          <a:xfrm>
            <a:off x="2788920" y="5650992"/>
            <a:ext cx="8759952"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Ascension sets the goals and the limits, keeps the final say on production, </a:t>
            </a:r>
            <a:r>
              <a:rPr kumimoji="0" sz="1000" b="0" i="0" u="none" strike="noStrike" kern="1200" cap="none" spc="0" normalizeH="0" baseline="0" noProof="0">
                <a:ln>
                  <a:noFill/>
                </a:ln>
                <a:solidFill>
                  <a:srgbClr val="BFBFBF"/>
                </a:solidFill>
                <a:effectLst/>
                <a:uLnTx/>
                <a:uFillTx/>
                <a:latin typeface="Trenda IG Text"/>
                <a:ea typeface="+mn-ea"/>
                <a:cs typeface="+mn-cs"/>
              </a:rPr>
              <a:t>and can see and stop any run.</a:t>
            </a:r>
          </a:p>
        </p:txBody>
      </p:sp>
      <p:sp>
        <p:nvSpPr>
          <p:cNvPr id="60" name="Text 61"/>
          <p:cNvSpPr txBox="1"/>
          <p:nvPr/>
        </p:nvSpPr>
        <p:spPr>
          <a:xfrm>
            <a:off x="411480" y="6035040"/>
            <a:ext cx="11365992"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The AGI (Artificial General Intelligence) column is a direction, not a commitment in this proposal. Each step up in autonomy is approved by Ascension. Today's harness already records the evidence the next stage is judged on.</a:t>
            </a:r>
          </a:p>
        </p:txBody>
      </p:sp>
    </p:spTree>
    <p:extLst>
      <p:ext uri="{BB962C8B-B14F-4D97-AF65-F5344CB8AC3E}">
        <p14:creationId xmlns:p14="http://schemas.microsoft.com/office/powerpoint/2010/main" val="279582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Launching a campaign: 90 days manual vs 15-20 days with the Agentic Harness </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a:solidFill>
                  <a:srgbClr val="FFFFFF"/>
                </a:solidFill>
                <a:latin typeface="Trenda IG Text" pitchFamily="34" charset="0"/>
                <a:ea typeface="Trenda IG Text" pitchFamily="34" charset="-122"/>
                <a:cs typeface="Trenda IG Text" pitchFamily="34" charset="-120"/>
              </a:rPr>
              <a:t>Today · manual delivery</a:t>
            </a:r>
            <a:endParaRPr lang="en-US" sz="935"/>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~90 days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30</a:t>
            </a:r>
            <a:endParaRPr lang="en-US" sz="654"/>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60</a:t>
            </a:r>
            <a:endParaRPr lang="en-US" sz="654"/>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90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Discovery &amp; PRD</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ADSI data readiness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Data Cloud ingestion</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Segment &amp; activation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SFMC data prep</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Content &amp; legal approval</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14d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Journey Builder build</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Testing &amp; UAT</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Deploy &amp; go-live</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15-20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MARKETING CLOUD SKILLS</a:t>
            </a:r>
            <a:endParaRPr lang="en-US" sz="701"/>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5</a:t>
            </a:r>
            <a:endParaRPr lang="en-US" sz="654"/>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10</a:t>
            </a:r>
            <a:endParaRPr lang="en-US" sz="654"/>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15</a:t>
            </a:r>
            <a:endParaRPr lang="en-US" sz="654"/>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20</a:t>
            </a:r>
            <a:endParaRPr lang="en-US" sz="654"/>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PRD, audience rules, KPIs</a:t>
            </a:r>
            <a:endParaRPr lang="en-US" sz="701"/>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Cloud, segment, SFMC DEs, SQL, journey</a:t>
            </a:r>
            <a:endParaRPr lang="en-US" sz="701"/>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7d</a:t>
            </a:r>
            <a:endParaRPr lang="en-US" sz="794"/>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3d</a:t>
            </a:r>
            <a:endParaRPr lang="en-US" sz="794"/>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to launch</a:t>
            </a:r>
            <a:endParaRPr lang="en-US" sz="794"/>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90 to 15-20 days, recorded averages</a:t>
            </a:r>
            <a:endParaRPr lang="en-US" sz="701"/>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common to every pod</a:t>
            </a:r>
            <a:endParaRPr lang="en-US" sz="794"/>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AI builds; people approve at 4 gates</a:t>
            </a:r>
            <a:endParaRPr lang="en-US" sz="701"/>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2-3x</a:t>
            </a:r>
            <a:endParaRPr lang="en-US" sz="1682"/>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campaigns per quarter</a:t>
            </a:r>
            <a:endParaRPr lang="en-US" sz="794"/>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Same squad; approvals still set the pace</a:t>
            </a:r>
            <a:endParaRPr lang="en-US" sz="701"/>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75-85%</a:t>
            </a:r>
            <a:endParaRPr lang="en-US" sz="1682"/>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t>
            </a:r>
            <a:endParaRPr lang="en-US" sz="794"/>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Measured with QA agents; people review</a:t>
            </a:r>
            <a:endParaRPr lang="en-US" sz="701"/>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a:p>
        </p:txBody>
      </p:sp>
      <p:sp>
        <p:nvSpPr>
          <p:cNvPr id="3" name="Text 1"/>
          <p:cNvSpPr txBox="1"/>
          <p:nvPr/>
        </p:nvSpPr>
        <p:spPr>
          <a:xfrm>
            <a:off x="783576" y="372077"/>
            <a:ext cx="10855974"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A Health Cloud change: 2 weeks today vs 2 days with the Agentic Harness</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Any Health Cloud task on the Network Services pod, from Jira story to UAT sign-off. Same 7 agents, Health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~2 weeks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~10 working days; one hand-off at a time, inside office hours</a:t>
            </a:r>
            <a:endParaRPr lang="en-US" sz="794"/>
          </a:p>
        </p:txBody>
      </p:sp>
      <p:sp>
        <p:nvSpPr>
          <p:cNvPr id="10" name="Shape 8"/>
          <p:cNvSpPr/>
          <p:nvPr/>
        </p:nvSpPr>
        <p:spPr>
          <a:xfrm>
            <a:off x="3858768"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273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690872"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43484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5</a:t>
            </a:r>
            <a:endParaRPr lang="en-US" sz="654"/>
          </a:p>
        </p:txBody>
      </p:sp>
      <p:sp>
        <p:nvSpPr>
          <p:cNvPr id="16" name="Shape 14"/>
          <p:cNvSpPr/>
          <p:nvPr/>
        </p:nvSpPr>
        <p:spPr>
          <a:xfrm>
            <a:off x="5522976"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694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Story intake</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story; criteria unclear; back and forth with the PO</a:t>
            </a:r>
            <a:endParaRPr lang="en-US" sz="701"/>
          </a:p>
        </p:txBody>
      </p:sp>
      <p:sp>
        <p:nvSpPr>
          <p:cNvPr id="22" name="Shape 20"/>
          <p:cNvSpPr/>
          <p:nvPr/>
        </p:nvSpPr>
        <p:spPr>
          <a:xfrm>
            <a:off x="3858768" y="231189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Clarify requirements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Confluence, meetings; acceptance criteria agreed</a:t>
            </a:r>
            <a:endParaRPr lang="en-US" sz="701"/>
          </a:p>
        </p:txBody>
      </p:sp>
      <p:sp>
        <p:nvSpPr>
          <p:cNvPr id="28" name="Shape 26"/>
          <p:cNvSpPr/>
          <p:nvPr/>
        </p:nvSpPr>
        <p:spPr>
          <a:xfrm>
            <a:off x="4025188" y="2619527"/>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Impact analysis</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Find the objects, Flows, sharing and who else uses them</a:t>
            </a:r>
            <a:endParaRPr lang="en-US" sz="701"/>
          </a:p>
        </p:txBody>
      </p:sp>
      <p:sp>
        <p:nvSpPr>
          <p:cNvPr id="34" name="Shape 32"/>
          <p:cNvSpPr/>
          <p:nvPr/>
        </p:nvSpPr>
        <p:spPr>
          <a:xfrm>
            <a:off x="4191609" y="2927163"/>
            <a:ext cx="24963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1.5d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Solution design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model, sharing and automation; architect review</a:t>
            </a:r>
            <a:endParaRPr lang="en-US" sz="701"/>
          </a:p>
        </p:txBody>
      </p:sp>
      <p:sp>
        <p:nvSpPr>
          <p:cNvPr id="40" name="Shape 38"/>
          <p:cNvSpPr/>
          <p:nvPr/>
        </p:nvSpPr>
        <p:spPr>
          <a:xfrm>
            <a:off x="4441240" y="3234798"/>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Build</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permission sets in DEV</a:t>
            </a:r>
            <a:endParaRPr lang="en-US" sz="701"/>
          </a:p>
        </p:txBody>
      </p:sp>
      <p:sp>
        <p:nvSpPr>
          <p:cNvPr id="46" name="Shape 44"/>
          <p:cNvSpPr/>
          <p:nvPr/>
        </p:nvSpPr>
        <p:spPr>
          <a:xfrm>
            <a:off x="4607661" y="3542434"/>
            <a:ext cx="332841"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Code review and fixes</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Peer review, Code Analyzer, rework</a:t>
            </a:r>
            <a:endParaRPr lang="en-US" sz="701"/>
          </a:p>
        </p:txBody>
      </p:sp>
      <p:sp>
        <p:nvSpPr>
          <p:cNvPr id="52" name="Shape 50"/>
          <p:cNvSpPr/>
          <p:nvPr/>
        </p:nvSpPr>
        <p:spPr>
          <a:xfrm>
            <a:off x="4940503" y="3850070"/>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preparation</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Write Zephyr cases and test data by hand</a:t>
            </a:r>
            <a:endParaRPr lang="en-US" sz="701"/>
          </a:p>
        </p:txBody>
      </p:sp>
      <p:sp>
        <p:nvSpPr>
          <p:cNvPr id="58" name="Shape 56"/>
          <p:cNvSpPr/>
          <p:nvPr/>
        </p:nvSpPr>
        <p:spPr>
          <a:xfrm>
            <a:off x="5106924" y="4157705"/>
            <a:ext cx="16642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QA and regression</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Run cases, Copado regression, fix defects</a:t>
            </a:r>
            <a:endParaRPr lang="en-US" sz="701"/>
          </a:p>
        </p:txBody>
      </p:sp>
      <p:sp>
        <p:nvSpPr>
          <p:cNvPr id="64" name="Shape 62"/>
          <p:cNvSpPr/>
          <p:nvPr/>
        </p:nvSpPr>
        <p:spPr>
          <a:xfrm>
            <a:off x="5273344" y="446534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Promote and UAT sign-off</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business signs off</a:t>
            </a:r>
            <a:endParaRPr lang="en-US" sz="701"/>
          </a:p>
        </p:txBody>
      </p:sp>
      <p:sp>
        <p:nvSpPr>
          <p:cNvPr id="70" name="Shape 68"/>
          <p:cNvSpPr/>
          <p:nvPr/>
        </p:nvSpPr>
        <p:spPr>
          <a:xfrm>
            <a:off x="5439765" y="4772977"/>
            <a:ext cx="8321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0.5d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~2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~2-day critical path; agents build overnight, people approve by day</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HEALTH CLOUD SKILLS</a:t>
            </a:r>
            <a:endParaRPr lang="en-US" sz="701"/>
          </a:p>
        </p:txBody>
      </p:sp>
      <p:sp>
        <p:nvSpPr>
          <p:cNvPr id="78" name="Shape 76"/>
          <p:cNvSpPr/>
          <p:nvPr/>
        </p:nvSpPr>
        <p:spPr>
          <a:xfrm>
            <a:off x="9784080"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804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33729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1008126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a:t>
            </a:r>
            <a:endParaRPr lang="en-US" sz="654"/>
          </a:p>
        </p:txBody>
      </p:sp>
      <p:sp>
        <p:nvSpPr>
          <p:cNvPr id="84" name="Shape 82"/>
          <p:cNvSpPr/>
          <p:nvPr/>
        </p:nvSpPr>
        <p:spPr>
          <a:xfrm>
            <a:off x="1089050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447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2</a:t>
            </a:r>
            <a:endParaRPr lang="en-US" sz="654"/>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change, routes agents, enforces gates</a:t>
            </a:r>
            <a:endParaRPr lang="en-US" sz="701"/>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1" name="Shape 89"/>
          <p:cNvSpPr/>
          <p:nvPr/>
        </p:nvSpPr>
        <p:spPr>
          <a:xfrm>
            <a:off x="9784080" y="2346073"/>
            <a:ext cx="1106424"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into a brief; product owner approves</a:t>
            </a:r>
            <a:endParaRPr lang="en-US" sz="701"/>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98" name="Shape 96"/>
          <p:cNvSpPr/>
          <p:nvPr/>
        </p:nvSpPr>
        <p:spPr>
          <a:xfrm>
            <a:off x="9784080" y="2741726"/>
            <a:ext cx="69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3h</a:t>
            </a:r>
            <a:endParaRPr lang="en-US" sz="794"/>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Impact and reuse from the graph; architect approves</a:t>
            </a:r>
            <a:endParaRPr lang="en-US" sz="701"/>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5" name="Shape 103"/>
          <p:cNvSpPr/>
          <p:nvPr/>
        </p:nvSpPr>
        <p:spPr>
          <a:xfrm>
            <a:off x="9853231" y="3137380"/>
            <a:ext cx="11525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5h</a:t>
            </a:r>
            <a:endParaRPr lang="en-US" sz="794"/>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sharing in DEV, overnight</a:t>
            </a:r>
            <a:endParaRPr lang="en-US" sz="701"/>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2" name="Shape 110"/>
          <p:cNvSpPr/>
          <p:nvPr/>
        </p:nvSpPr>
        <p:spPr>
          <a:xfrm>
            <a:off x="9968484" y="3533034"/>
            <a:ext cx="368808"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16h</a:t>
            </a:r>
            <a:endParaRPr lang="en-US" sz="794"/>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Code, security, sharing; tech lead approves</a:t>
            </a:r>
            <a:endParaRPr lang="en-US" sz="701"/>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19" name="Shape 117"/>
          <p:cNvSpPr/>
          <p:nvPr/>
        </p:nvSpPr>
        <p:spPr>
          <a:xfrm>
            <a:off x="10337292" y="3928688"/>
            <a:ext cx="138303"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6h</a:t>
            </a:r>
            <a:endParaRPr lang="en-US" sz="794"/>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6" name="Shape 124"/>
          <p:cNvSpPr/>
          <p:nvPr/>
        </p:nvSpPr>
        <p:spPr>
          <a:xfrm>
            <a:off x="10475595" y="4324342"/>
            <a:ext cx="27660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12h</a:t>
            </a:r>
            <a:endParaRPr lang="en-US" sz="794"/>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3" name="Shape 131"/>
          <p:cNvSpPr/>
          <p:nvPr/>
        </p:nvSpPr>
        <p:spPr>
          <a:xfrm>
            <a:off x="10752201" y="4719995"/>
            <a:ext cx="92202"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4h</a:t>
            </a:r>
            <a:endParaRPr lang="en-US" sz="794"/>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per task</a:t>
            </a:r>
            <a:endParaRPr lang="en-US" sz="794"/>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~2 weeks to ~2 days, story to UAT</a:t>
            </a:r>
            <a:endParaRPr lang="en-US" sz="701"/>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2-4 days</a:t>
            </a:r>
            <a:endParaRPr lang="en-US" sz="1682"/>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measured so far</a:t>
            </a:r>
            <a:endParaRPr lang="en-US" sz="794"/>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Agent-assisted today; the harness takes it to ~2</a:t>
            </a:r>
            <a:endParaRPr lang="en-US" sz="701"/>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4 gates</a:t>
            </a:r>
            <a:endParaRPr lang="en-US" sz="1682"/>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people still approve</a:t>
            </a:r>
            <a:endParaRPr lang="en-US" sz="794"/>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Requirements, design, code and UAT</a:t>
            </a:r>
            <a:endParaRPr lang="en-US" sz="701"/>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same as Marketing Cloud</a:t>
            </a:r>
            <a:endParaRPr lang="en-US" sz="794"/>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Built once, reused by every pod</a:t>
            </a:r>
            <a:endParaRPr lang="en-US" sz="701"/>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Today: a typical Health Cloud task on the Network Services pod, Jira story to UAT sign-off. Measured: Agentifying Ascension Ways of Working (1-2 weeks to 2-4 days with agent assistance). About 2 days is the harness target, confirmed against the Phase 0 baseline. Production release follows the normal CAB window.</a:t>
            </a:r>
            <a:endParaRPr lang="en-US" sz="654"/>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MEASURED TO DATE · AGENT-ASSISTED DELIVERY</a:t>
            </a:r>
            <a:endParaRPr lang="en-US" sz="701"/>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1-2 wks → 2-4 days</a:t>
            </a:r>
            <a:endParaRPr lang="en-US" sz="1495"/>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Health Cloud implementation</a:t>
            </a:r>
            <a:endParaRPr lang="en-US" sz="794"/>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Per change, latest agent-assisted approach</a:t>
            </a:r>
            <a:endParaRPr lang="en-US" sz="701"/>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90 → 15-20 days</a:t>
            </a:r>
            <a:endParaRPr lang="en-US" sz="1495"/>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Marketing Cloud campaign</a:t>
            </a:r>
            <a:endParaRPr lang="en-US" sz="794"/>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~80% lower recorded completion time</a:t>
            </a:r>
            <a:endParaRPr lang="en-US" sz="701"/>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75-85%</a:t>
            </a:r>
            <a:endParaRPr lang="en-US" sz="1495"/>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preparation</a:t>
            </a:r>
            <a:endParaRPr lang="en-US" sz="794"/>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People review every generated case</a:t>
            </a:r>
            <a:endParaRPr lang="en-US" sz="701"/>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30-40%</a:t>
            </a:r>
            <a:endParaRPr lang="en-US" sz="1682"/>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less effort per change</a:t>
            </a:r>
            <a:endParaRPr lang="en-US" sz="794"/>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1.4-1.6x</a:t>
            </a:r>
            <a:endParaRPr lang="en-US" sz="1682"/>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output per pod</a:t>
            </a:r>
            <a:endParaRPr lang="en-US" sz="794"/>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20-30%</a:t>
            </a:r>
            <a:endParaRPr lang="en-US" sz="1682"/>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smaller team for same scope</a:t>
            </a:r>
            <a:endParaRPr lang="en-US" sz="794"/>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Example: 8-person pod runs with 6</a:t>
            </a:r>
            <a:endParaRPr lang="en-US" sz="682"/>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20-25%</a:t>
            </a:r>
            <a:endParaRPr lang="en-US" sz="1682"/>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lower net run cost per pod</a:t>
            </a:r>
            <a:endParaRPr lang="en-US" sz="794"/>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After cloud, model usage and agent upkeep</a:t>
            </a:r>
            <a:endParaRPr lang="en-US" sz="682"/>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Today</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With </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Team impact</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Net cost per 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Nudge pod · Marketing Cloud</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New campaign ~90 days</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15-20 days; 2-3x campaigns per quarter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Network Services · Health Cloud</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1-2 weeks; new market ~9 months</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Other pods · VBC, CT, ARx, Contact Center, SR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manual pattern</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10-20% in year 1, 20-30% at steady state</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15-25%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How we prove it</a:t>
            </a:r>
            <a:endParaRPr lang="en-US" sz="841"/>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1  </a:t>
            </a:r>
            <a:r>
              <a:rPr kumimoji="0" sz="750" b="0"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2  </a:t>
            </a:r>
            <a:r>
              <a:rPr kumimoji="0" sz="750" b="0" i="0" u="none" strike="noStrike" kern="1200" cap="none" spc="0" normalizeH="0" baseline="0" noProof="0">
                <a:ln>
                  <a:noFill/>
                </a:ln>
                <a:solidFill>
                  <a:srgbClr val="000000"/>
                </a:solidFill>
                <a:effectLst/>
                <a:uLnTx/>
                <a:uFillTx/>
                <a:latin typeface="Trenda IG Text"/>
                <a:ea typeface="+mn-ea"/>
                <a:cs typeface="+mn-cs"/>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3  </a:t>
            </a:r>
            <a:r>
              <a:rPr kumimoji="0" sz="750" b="0" i="0" u="none" strike="noStrike" kern="1200" cap="none" spc="0" normalizeH="0" baseline="0" noProof="0">
                <a:ln>
                  <a:noFill/>
                </a:ln>
                <a:solidFill>
                  <a:srgbClr val="000000"/>
                </a:solidFill>
                <a:effectLst/>
                <a:uLnTx/>
                <a:uFillTx/>
                <a:latin typeface="Trenda IG Text"/>
                <a:ea typeface="+mn-ea"/>
                <a:cs typeface="+mn-cs"/>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4  </a:t>
            </a:r>
            <a:r>
              <a:rPr kumimoji="0" sz="750" b="0" i="0" u="none" strike="noStrike" kern="1200" cap="none" spc="0" normalizeH="0" baseline="0" noProof="0">
                <a:ln>
                  <a:noFill/>
                </a:ln>
                <a:solidFill>
                  <a:srgbClr val="000000"/>
                </a:solidFill>
                <a:effectLst/>
                <a:uLnTx/>
                <a:uFillTx/>
                <a:latin typeface="Trenda IG Text"/>
                <a:ea typeface="+mn-ea"/>
                <a:cs typeface="+mn-cs"/>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5  </a:t>
            </a:r>
            <a:r>
              <a:rPr kumimoji="0" sz="750" b="0" i="0" u="none" strike="noStrike" kern="1200" cap="none" spc="0" normalizeH="0" baseline="0" noProof="0">
                <a:ln>
                  <a:noFill/>
                </a:ln>
                <a:solidFill>
                  <a:srgbClr val="000000"/>
                </a:solidFill>
                <a:effectLst/>
                <a:uLnTx/>
                <a:uFillTx/>
                <a:latin typeface="Trenda IG Text"/>
                <a:ea typeface="+mn-ea"/>
                <a:cs typeface="+mn-cs"/>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Run</a:t>
            </a:r>
          </a:p>
        </p:txBody>
      </p:sp>
      <p:sp>
        <p:nvSpPr>
          <p:cNvPr id="104" name="Text 103"/>
          <p:cNvSpPr txBox="1"/>
          <p:nvPr/>
        </p:nvSpPr>
        <p:spPr>
          <a:xfrm>
            <a:off x="411480" y="5266944"/>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 EXIT · SIGNED</a:t>
            </a:r>
          </a:p>
        </p:txBody>
      </p:sp>
      <p:sp>
        <p:nvSpPr>
          <p:cNvPr id="105" name="Text 104"/>
          <p:cNvSpPr txBox="1"/>
          <p:nvPr/>
        </p:nvSpPr>
        <p:spPr>
          <a:xfrm>
            <a:off x="411480" y="5413248"/>
            <a:ext cx="1828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8" name="Text 107"/>
          <p:cNvSpPr txBox="1"/>
          <p:nvPr/>
        </p:nvSpPr>
        <p:spPr>
          <a:xfrm>
            <a:off x="2170684"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  </a:t>
            </a:r>
            <a:r>
              <a:rPr kumimoji="0" sz="650" b="0" i="0" u="none" strike="noStrike" kern="1200" cap="none" spc="0" normalizeH="0" baseline="0" noProof="0">
                <a:ln>
                  <a:noFill/>
                </a:ln>
                <a:solidFill>
                  <a:srgbClr val="000000"/>
                </a:solidFill>
                <a:effectLst/>
                <a:uLnTx/>
                <a:uFillTx/>
                <a:latin typeface="Trenda IG Text"/>
                <a:ea typeface="+mn-ea"/>
                <a:cs typeface="+mn-cs"/>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0" name="Text 109"/>
          <p:cNvSpPr txBox="1"/>
          <p:nvPr/>
        </p:nvSpPr>
        <p:spPr>
          <a:xfrm>
            <a:off x="4269740"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M5  </a:t>
            </a:r>
            <a:r>
              <a:rPr kumimoji="0" sz="650" b="0" i="0" u="none" strike="noStrike" kern="1200" cap="none" spc="0" normalizeH="0" baseline="0" noProof="0">
                <a:ln>
                  <a:noFill/>
                </a:ln>
                <a:solidFill>
                  <a:srgbClr val="000000"/>
                </a:solidFill>
                <a:effectLst/>
                <a:uLnTx/>
                <a:uFillTx/>
                <a:latin typeface="Trenda IG Text"/>
                <a:ea typeface="+mn-ea"/>
                <a:cs typeface="+mn-cs"/>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2" name="Text 111"/>
          <p:cNvSpPr txBox="1"/>
          <p:nvPr/>
        </p:nvSpPr>
        <p:spPr>
          <a:xfrm>
            <a:off x="636879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M9  </a:t>
            </a:r>
            <a:r>
              <a:rPr kumimoji="0" sz="650" b="0" i="0" u="none" strike="noStrike" kern="1200" cap="none" spc="0" normalizeH="0" baseline="0" noProof="0">
                <a:ln>
                  <a:noFill/>
                </a:ln>
                <a:solidFill>
                  <a:srgbClr val="000000"/>
                </a:solidFill>
                <a:effectLst/>
                <a:uLnTx/>
                <a:uFillTx/>
                <a:latin typeface="Trenda IG Text"/>
                <a:ea typeface="+mn-ea"/>
                <a:cs typeface="+mn-cs"/>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4" name="Text 113"/>
          <p:cNvSpPr txBox="1"/>
          <p:nvPr/>
        </p:nvSpPr>
        <p:spPr>
          <a:xfrm>
            <a:off x="7418324"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M11  </a:t>
            </a:r>
            <a:r>
              <a:rPr kumimoji="0" sz="650" b="0" i="0" u="none" strike="noStrike" kern="1200" cap="none" spc="0" normalizeH="0" baseline="0" noProof="0">
                <a:ln>
                  <a:noFill/>
                </a:ln>
                <a:solidFill>
                  <a:srgbClr val="000000"/>
                </a:solidFill>
                <a:effectLst/>
                <a:uLnTx/>
                <a:uFillTx/>
                <a:latin typeface="Trenda IG Text"/>
                <a:ea typeface="+mn-ea"/>
                <a:cs typeface="+mn-cs"/>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6" name="Text 115"/>
          <p:cNvSpPr txBox="1"/>
          <p:nvPr/>
        </p:nvSpPr>
        <p:spPr>
          <a:xfrm>
            <a:off x="899261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M14  </a:t>
            </a:r>
            <a:r>
              <a:rPr kumimoji="0" sz="650" b="0" i="0" u="none" strike="noStrike" kern="1200" cap="none" spc="0" normalizeH="0" baseline="0" noProof="0">
                <a:ln>
                  <a:noFill/>
                </a:ln>
                <a:solidFill>
                  <a:srgbClr val="000000"/>
                </a:solidFill>
                <a:effectLst/>
                <a:uLnTx/>
                <a:uFillTx/>
                <a:latin typeface="Trenda IG Text"/>
                <a:ea typeface="+mn-ea"/>
                <a:cs typeface="+mn-cs"/>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8" name="Text 117"/>
          <p:cNvSpPr txBox="1"/>
          <p:nvPr/>
        </p:nvSpPr>
        <p:spPr>
          <a:xfrm>
            <a:off x="10405872" y="581558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M17  </a:t>
            </a:r>
            <a:r>
              <a:rPr kumimoji="0" sz="650" b="0" i="0" u="none" strike="noStrike" kern="1200" cap="none" spc="0" normalizeH="0" baseline="0" noProof="0">
                <a:ln>
                  <a:noFill/>
                </a:ln>
                <a:solidFill>
                  <a:srgbClr val="000000"/>
                </a:solidFill>
                <a:effectLst/>
                <a:uLnTx/>
                <a:uFillTx/>
                <a:latin typeface="Trenda IG Text"/>
                <a:ea typeface="+mn-ea"/>
                <a:cs typeface="+mn-cs"/>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0" name="Text 119"/>
          <p:cNvSpPr txBox="1"/>
          <p:nvPr/>
        </p:nvSpPr>
        <p:spPr>
          <a:xfrm>
            <a:off x="10405872" y="554126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M18  </a:t>
            </a:r>
            <a:r>
              <a:rPr kumimoji="0" sz="650" b="0" i="0" u="none" strike="noStrike" kern="1200" cap="none" spc="0" normalizeH="0" baseline="0" noProof="0">
                <a:ln>
                  <a:noFill/>
                </a:ln>
                <a:solidFill>
                  <a:srgbClr val="000000"/>
                </a:solidFill>
                <a:effectLst/>
                <a:uLnTx/>
                <a:uFillTx/>
                <a:latin typeface="Trenda IG Text"/>
                <a:ea typeface="+mn-ea"/>
                <a:cs typeface="+mn-cs"/>
              </a:rPr>
              <a:t>Run team operating, handover signed</a:t>
            </a:r>
          </a:p>
        </p:txBody>
      </p:sp>
      <p:sp>
        <p:nvSpPr>
          <p:cNvPr id="121" name="Text 120"/>
          <p:cNvSpPr txBox="1"/>
          <p:nvPr/>
        </p:nvSpPr>
        <p:spPr>
          <a:xfrm>
            <a:off x="411480" y="6153912"/>
            <a:ext cx="11338560" cy="16459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Pods live: 0 until month 8 · 2 at month 9 (Network Services, Nudge) · 5 at month 14 · all 9-10 at month 17. Each phase starts only after the previous exit is signed; the next slide shows how each exit is measured.</a:t>
            </a:r>
          </a:p>
        </p:txBody>
      </p:sp>
    </p:spTree>
    <p:extLst>
      <p:ext uri="{BB962C8B-B14F-4D97-AF65-F5344CB8AC3E}">
        <p14:creationId xmlns:p14="http://schemas.microsoft.com/office/powerpoint/2010/main" val="26696571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Phase</a:t>
            </a:r>
          </a:p>
        </p:txBody>
      </p:sp>
      <p:sp>
        <p:nvSpPr>
          <p:cNvPr id="6" name="Text 5"/>
          <p:cNvSpPr txBox="1"/>
          <p:nvPr/>
        </p:nvSpPr>
        <p:spPr>
          <a:xfrm>
            <a:off x="2084832" y="1170432"/>
            <a:ext cx="233172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Outcome we hand over</a:t>
            </a:r>
          </a:p>
        </p:txBody>
      </p:sp>
      <p:sp>
        <p:nvSpPr>
          <p:cNvPr id="7" name="Text 6"/>
          <p:cNvSpPr txBox="1"/>
          <p:nvPr/>
        </p:nvSpPr>
        <p:spPr>
          <a:xfrm>
            <a:off x="4507992" y="1170432"/>
            <a:ext cx="4434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measure success (exit criteria)</a:t>
            </a:r>
          </a:p>
        </p:txBody>
      </p:sp>
      <p:sp>
        <p:nvSpPr>
          <p:cNvPr id="8" name="Text 7"/>
          <p:cNvSpPr txBox="1"/>
          <p:nvPr/>
        </p:nvSpPr>
        <p:spPr>
          <a:xfrm>
            <a:off x="9034272" y="1170432"/>
            <a:ext cx="11887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Signed by</a:t>
            </a:r>
          </a:p>
        </p:txBody>
      </p:sp>
      <p:sp>
        <p:nvSpPr>
          <p:cNvPr id="9" name="Text 8"/>
          <p:cNvSpPr txBox="1"/>
          <p:nvPr/>
        </p:nvSpPr>
        <p:spPr>
          <a:xfrm>
            <a:off x="10314432" y="1170432"/>
            <a:ext cx="144475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66344" y="1536192"/>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14" name="Text 13"/>
          <p:cNvSpPr txBox="1"/>
          <p:nvPr/>
        </p:nvSpPr>
        <p:spPr>
          <a:xfrm>
            <a:off x="868680" y="1517904"/>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Mobilise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a:t>
            </a:r>
          </a:p>
        </p:txBody>
      </p:sp>
      <p:sp>
        <p:nvSpPr>
          <p:cNvPr id="15" name="Text 14"/>
          <p:cNvSpPr txBox="1"/>
          <p:nvPr/>
        </p:nvSpPr>
        <p:spPr>
          <a:xfrm>
            <a:off x="2084832" y="1517904"/>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Google Cloud landing zone with VPC-SC live; three harness identities created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Read-only access tested to all six sources: Jira, Confluence, Salesforce, Git, Copado, Drive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 + security</a:t>
            </a:r>
          </a:p>
        </p:txBody>
      </p:sp>
      <p:sp>
        <p:nvSpPr>
          <p:cNvPr id="18" name="Text 17"/>
          <p:cNvSpPr txBox="1"/>
          <p:nvPr/>
        </p:nvSpPr>
        <p:spPr>
          <a:xfrm>
            <a:off x="10314432" y="1517904"/>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466344" y="2195866"/>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1</a:t>
            </a:r>
          </a:p>
        </p:txBody>
      </p:sp>
      <p:sp>
        <p:nvSpPr>
          <p:cNvPr id="21" name="Text 20"/>
          <p:cNvSpPr txBox="1"/>
          <p:nvPr/>
        </p:nvSpPr>
        <p:spPr>
          <a:xfrm>
            <a:off x="868680" y="2177578"/>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Knowledge graph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2-5</a:t>
            </a:r>
          </a:p>
        </p:txBody>
      </p:sp>
      <p:sp>
        <p:nvSpPr>
          <p:cNvPr id="22" name="Text 21"/>
          <p:cNvSpPr txBox="1"/>
          <p:nvPr/>
        </p:nvSpPr>
        <p:spPr>
          <a:xfrm>
            <a:off x="2084832" y="2177578"/>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All six connectors syncing on schedule; every fact traceable to its source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Replayed on 10-15 past changes: exists, impact and owner answers match the architects' at least 90% of the time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architects</a:t>
            </a:r>
          </a:p>
        </p:txBody>
      </p:sp>
      <p:sp>
        <p:nvSpPr>
          <p:cNvPr id="25" name="Text 24"/>
          <p:cNvSpPr txBox="1"/>
          <p:nvPr/>
        </p:nvSpPr>
        <p:spPr>
          <a:xfrm>
            <a:off x="10314432" y="2177578"/>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466344" y="2855540"/>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2</a:t>
            </a:r>
          </a:p>
        </p:txBody>
      </p:sp>
      <p:sp>
        <p:nvSpPr>
          <p:cNvPr id="29" name="Text 28"/>
          <p:cNvSpPr txBox="1"/>
          <p:nvPr/>
        </p:nvSpPr>
        <p:spPr>
          <a:xfrm>
            <a:off x="868680" y="2837252"/>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Harness pilot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6-9</a:t>
            </a:r>
          </a:p>
        </p:txBody>
      </p:sp>
      <p:sp>
        <p:nvSpPr>
          <p:cNvPr id="30" name="Text 29"/>
          <p:cNvSpPr txBox="1"/>
          <p:nvPr/>
        </p:nvSpPr>
        <p:spPr>
          <a:xfrm>
            <a:off x="2084832" y="2837252"/>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At least 10 stories per pod through all nine steps and every human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Cycle time vs baseline: Health Cloud change toward 2-4 days; campaign toward 15-20 days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Pilot pod leads + product owners</a:t>
            </a:r>
          </a:p>
        </p:txBody>
      </p:sp>
      <p:sp>
        <p:nvSpPr>
          <p:cNvPr id="33" name="Text 32"/>
          <p:cNvSpPr txBox="1"/>
          <p:nvPr/>
        </p:nvSpPr>
        <p:spPr>
          <a:xfrm>
            <a:off x="10314432" y="2837252"/>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66344" y="3515214"/>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3</a:t>
            </a:r>
          </a:p>
        </p:txBody>
      </p:sp>
      <p:sp>
        <p:nvSpPr>
          <p:cNvPr id="36" name="Text 35"/>
          <p:cNvSpPr txBox="1"/>
          <p:nvPr/>
        </p:nvSpPr>
        <p:spPr>
          <a:xfrm>
            <a:off x="868680" y="3496926"/>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Harden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10-11</a:t>
            </a:r>
          </a:p>
        </p:txBody>
      </p:sp>
      <p:sp>
        <p:nvSpPr>
          <p:cNvPr id="37" name="Text 36"/>
          <p:cNvSpPr txBox="1"/>
          <p:nvPr/>
        </p:nvSpPr>
        <p:spPr>
          <a:xfrm>
            <a:off x="2084832" y="3496926"/>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Pen test: no open critical or high findings; disaster-recovery test resumes a run from its checkpoint</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Evaluation set passes on every prompt, skill or model change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security + CAB</a:t>
            </a:r>
          </a:p>
        </p:txBody>
      </p:sp>
      <p:sp>
        <p:nvSpPr>
          <p:cNvPr id="40" name="Text 39"/>
          <p:cNvSpPr txBox="1"/>
          <p:nvPr/>
        </p:nvSpPr>
        <p:spPr>
          <a:xfrm>
            <a:off x="10314432" y="3496926"/>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66344" y="4174889"/>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4</a:t>
            </a:r>
          </a:p>
        </p:txBody>
      </p:sp>
      <p:sp>
        <p:nvSpPr>
          <p:cNvPr id="44" name="Text 43"/>
          <p:cNvSpPr txBox="1"/>
          <p:nvPr/>
        </p:nvSpPr>
        <p:spPr>
          <a:xfrm>
            <a:off x="868680" y="4156601"/>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12-14</a:t>
            </a:r>
          </a:p>
        </p:txBody>
      </p:sp>
      <p:sp>
        <p:nvSpPr>
          <p:cNvPr id="45" name="Text 44"/>
          <p:cNvSpPr txBox="1"/>
          <p:nvPr/>
        </p:nvSpPr>
        <p:spPr>
          <a:xfrm>
            <a:off x="2084832" y="4156601"/>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 sources in the graph and skills loaded in about two weeks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pod's first stories through all nine steps and every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48" name="Text 47"/>
          <p:cNvSpPr txBox="1"/>
          <p:nvPr/>
        </p:nvSpPr>
        <p:spPr>
          <a:xfrm>
            <a:off x="10314432" y="4156601"/>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466344" y="4834563"/>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5</a:t>
            </a:r>
          </a:p>
        </p:txBody>
      </p:sp>
      <p:sp>
        <p:nvSpPr>
          <p:cNvPr id="51" name="Text 50"/>
          <p:cNvSpPr txBox="1"/>
          <p:nvPr/>
        </p:nvSpPr>
        <p:spPr>
          <a:xfrm>
            <a:off x="868680" y="4816275"/>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15-17</a:t>
            </a:r>
          </a:p>
        </p:txBody>
      </p:sp>
      <p:sp>
        <p:nvSpPr>
          <p:cNvPr id="52" name="Text 51"/>
          <p:cNvSpPr txBox="1"/>
          <p:nvPr/>
        </p:nvSpPr>
        <p:spPr>
          <a:xfrm>
            <a:off x="2084832" y="4816275"/>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9-10 pods live on the harness</a:t>
            </a:r>
          </a:p>
        </p:txBody>
      </p:sp>
      <p:sp>
        <p:nvSpPr>
          <p:cNvPr id="53" name="Text 52"/>
          <p:cNvSpPr txBox="1"/>
          <p:nvPr/>
        </p:nvSpPr>
        <p:spPr>
          <a:xfrm>
            <a:off x="4507992" y="4807131"/>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Same onboarding checklist passed by every remaining pod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Wave 1 pods on track to 10-20% lower net cost in year 1 (business outcomes slide)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55" name="Text 54"/>
          <p:cNvSpPr txBox="1"/>
          <p:nvPr/>
        </p:nvSpPr>
        <p:spPr>
          <a:xfrm>
            <a:off x="10314432" y="4816275"/>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7"/>
          <p:cNvSpPr txBox="1"/>
          <p:nvPr/>
        </p:nvSpPr>
        <p:spPr>
          <a:xfrm>
            <a:off x="466344" y="5494237"/>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59" name="Text 58"/>
          <p:cNvSpPr txBox="1"/>
          <p:nvPr/>
        </p:nvSpPr>
        <p:spPr>
          <a:xfrm>
            <a:off x="868680" y="5475949"/>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Handover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18</a:t>
            </a:r>
          </a:p>
        </p:txBody>
      </p:sp>
      <p:sp>
        <p:nvSpPr>
          <p:cNvPr id="60" name="Text 59"/>
          <p:cNvSpPr txBox="1"/>
          <p:nvPr/>
        </p:nvSpPr>
        <p:spPr>
          <a:xfrm>
            <a:off x="2084832" y="5475949"/>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Runbooks, evaluation set, Guardian rulebook and graph pipelines handed over</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 team clears failed runs and adds a source unaided during a four-week shadow period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a:t>
            </a:r>
          </a:p>
        </p:txBody>
      </p:sp>
      <p:sp>
        <p:nvSpPr>
          <p:cNvPr id="63" name="Text 62"/>
          <p:cNvSpPr txBox="1"/>
          <p:nvPr/>
        </p:nvSpPr>
        <p:spPr>
          <a:xfrm>
            <a:off x="10314432" y="5475949"/>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411480" y="6108192"/>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extLst>
      <p:ext uri="{BB962C8B-B14F-4D97-AF65-F5344CB8AC3E}">
        <p14:creationId xmlns:p14="http://schemas.microsoft.com/office/powerpoint/2010/main" val="39933543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RISKS AND MITIGATIONS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What could go wrong, and what is already in the plan to stop it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risk has a mitigation built into the phases, a signal that warns us early and a named owner. The register is reviewed at every phase exit.</a:t>
            </a:r>
          </a:p>
        </p:txBody>
      </p:sp>
      <p:sp>
        <p:nvSpPr>
          <p:cNvPr id="5" name="Text 4"/>
          <p:cNvSpPr txBox="1"/>
          <p:nvPr/>
        </p:nvSpPr>
        <p:spPr>
          <a:xfrm>
            <a:off x="484632" y="1170432"/>
            <a:ext cx="2148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Risk</a:t>
            </a:r>
          </a:p>
        </p:txBody>
      </p:sp>
      <p:sp>
        <p:nvSpPr>
          <p:cNvPr id="6" name="Text 5"/>
          <p:cNvSpPr txBox="1"/>
          <p:nvPr/>
        </p:nvSpPr>
        <p:spPr>
          <a:xfrm>
            <a:off x="2724912" y="1170432"/>
            <a:ext cx="17373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If it happens</a:t>
            </a:r>
          </a:p>
        </p:txBody>
      </p:sp>
      <p:sp>
        <p:nvSpPr>
          <p:cNvPr id="7" name="Text 6"/>
          <p:cNvSpPr txBox="1"/>
          <p:nvPr/>
        </p:nvSpPr>
        <p:spPr>
          <a:xfrm>
            <a:off x="4553712" y="1170432"/>
            <a:ext cx="9601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Likelihood · impact</a:t>
            </a:r>
          </a:p>
        </p:txBody>
      </p:sp>
      <p:sp>
        <p:nvSpPr>
          <p:cNvPr id="8" name="Text 7"/>
          <p:cNvSpPr txBox="1"/>
          <p:nvPr/>
        </p:nvSpPr>
        <p:spPr>
          <a:xfrm>
            <a:off x="5605272" y="1170432"/>
            <a:ext cx="34290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mitigate it</a:t>
            </a:r>
          </a:p>
        </p:txBody>
      </p:sp>
      <p:sp>
        <p:nvSpPr>
          <p:cNvPr id="9" name="Text 8"/>
          <p:cNvSpPr txBox="1"/>
          <p:nvPr/>
        </p:nvSpPr>
        <p:spPr>
          <a:xfrm>
            <a:off x="9125712" y="1170432"/>
            <a:ext cx="13716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Early warning</a:t>
            </a:r>
          </a:p>
        </p:txBody>
      </p:sp>
      <p:sp>
        <p:nvSpPr>
          <p:cNvPr id="10" name="Text 9"/>
          <p:cNvSpPr txBox="1"/>
          <p:nvPr/>
        </p:nvSpPr>
        <p:spPr>
          <a:xfrm>
            <a:off x="10588752" y="1170432"/>
            <a:ext cx="117043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Owner</a:t>
            </a:r>
          </a:p>
        </p:txBody>
      </p:sp>
      <p:sp>
        <p:nvSpPr>
          <p:cNvPr id="11" name="Shape 10"/>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11480" y="1444752"/>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84632" y="1490472"/>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Access and environments arrive late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14" name="Text 13"/>
          <p:cNvSpPr txBox="1"/>
          <p:nvPr/>
        </p:nvSpPr>
        <p:spPr>
          <a:xfrm>
            <a:off x="2724912" y="1490472"/>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cannot start; the plan slips month by month</a:t>
            </a:r>
          </a:p>
        </p:txBody>
      </p:sp>
      <p:sp>
        <p:nvSpPr>
          <p:cNvPr id="15" name="Shape 14"/>
          <p:cNvSpPr/>
          <p:nvPr/>
        </p:nvSpPr>
        <p:spPr>
          <a:xfrm>
            <a:off x="4553712" y="160985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4553712"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17" name="Shape 16"/>
          <p:cNvSpPr/>
          <p:nvPr/>
        </p:nvSpPr>
        <p:spPr>
          <a:xfrm>
            <a:off x="5029200" y="160985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5029200"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19" name="Text 18"/>
          <p:cNvSpPr txBox="1"/>
          <p:nvPr/>
        </p:nvSpPr>
        <p:spPr>
          <a:xfrm>
            <a:off x="5605272" y="148132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Access list, sandboxes and named approvers are the Phase 0 exit; Phase 1 starts only after it is signed. Read-only access first, write access later.</a:t>
            </a:r>
          </a:p>
        </p:txBody>
      </p:sp>
      <p:sp>
        <p:nvSpPr>
          <p:cNvPr id="20" name="Text 19"/>
          <p:cNvSpPr txBox="1"/>
          <p:nvPr/>
        </p:nvSpPr>
        <p:spPr>
          <a:xfrm>
            <a:off x="9125712" y="1490472"/>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Phase 0 items still open in week 3</a:t>
            </a:r>
          </a:p>
        </p:txBody>
      </p:sp>
      <p:sp>
        <p:nvSpPr>
          <p:cNvPr id="21" name="Text 20"/>
          <p:cNvSpPr txBox="1"/>
          <p:nvPr/>
        </p:nvSpPr>
        <p:spPr>
          <a:xfrm>
            <a:off x="10588752" y="1490472"/>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IG engagement lead</a:t>
            </a:r>
          </a:p>
        </p:txBody>
      </p:sp>
      <p:sp>
        <p:nvSpPr>
          <p:cNvPr id="22" name="Text 21"/>
          <p:cNvSpPr txBox="1"/>
          <p:nvPr/>
        </p:nvSpPr>
        <p:spPr>
          <a:xfrm>
            <a:off x="484632" y="20035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Experts have no time to label evals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PEOPLE</a:t>
            </a:r>
          </a:p>
        </p:txBody>
      </p:sp>
      <p:sp>
        <p:nvSpPr>
          <p:cNvPr id="23" name="Text 22"/>
          <p:cNvSpPr txBox="1"/>
          <p:nvPr/>
        </p:nvSpPr>
        <p:spPr>
          <a:xfrm>
            <a:off x="2724912" y="20035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Golden set stays thin; evals cannot be trusted</a:t>
            </a:r>
          </a:p>
        </p:txBody>
      </p:sp>
      <p:sp>
        <p:nvSpPr>
          <p:cNvPr id="24" name="Shape 23"/>
          <p:cNvSpPr/>
          <p:nvPr/>
        </p:nvSpPr>
        <p:spPr>
          <a:xfrm>
            <a:off x="4553712"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4"/>
          <p:cNvSpPr txBox="1"/>
          <p:nvPr/>
        </p:nvSpPr>
        <p:spPr>
          <a:xfrm>
            <a:off x="4553712"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6" name="Shape 25"/>
          <p:cNvSpPr/>
          <p:nvPr/>
        </p:nvSpPr>
        <p:spPr>
          <a:xfrm>
            <a:off x="5029200"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5029200"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8" name="Text 27"/>
          <p:cNvSpPr txBox="1"/>
          <p:nvPr/>
        </p:nvSpPr>
        <p:spPr>
          <a:xfrm>
            <a:off x="5605272" y="199440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Hours per pod agreed at Phase 0 (a few hours a week). Agents pre-label, experts only confirm. The weekly sample is small by design.</a:t>
            </a:r>
          </a:p>
        </p:txBody>
      </p:sp>
      <p:sp>
        <p:nvSpPr>
          <p:cNvPr id="29" name="Text 28"/>
          <p:cNvSpPr txBox="1"/>
          <p:nvPr/>
        </p:nvSpPr>
        <p:spPr>
          <a:xfrm>
            <a:off x="9125712" y="20035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Weekly sample not reviewed within 5 days</a:t>
            </a:r>
          </a:p>
        </p:txBody>
      </p:sp>
      <p:sp>
        <p:nvSpPr>
          <p:cNvPr id="30" name="Text 29"/>
          <p:cNvSpPr txBox="1"/>
          <p:nvPr/>
        </p:nvSpPr>
        <p:spPr>
          <a:xfrm>
            <a:off x="10588752" y="20035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a:t>
            </a:r>
          </a:p>
        </p:txBody>
      </p:sp>
      <p:sp>
        <p:nvSpPr>
          <p:cNvPr id="31" name="Shape 30"/>
          <p:cNvSpPr/>
          <p:nvPr/>
        </p:nvSpPr>
        <p:spPr>
          <a:xfrm>
            <a:off x="411480" y="247091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1"/>
          <p:cNvSpPr txBox="1"/>
          <p:nvPr/>
        </p:nvSpPr>
        <p:spPr>
          <a:xfrm>
            <a:off x="484632" y="25166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Codex policy blocks plugins or MCP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33" name="Text 32"/>
          <p:cNvSpPr txBox="1"/>
          <p:nvPr/>
        </p:nvSpPr>
        <p:spPr>
          <a:xfrm>
            <a:off x="2724912" y="25166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Developers cannot start the harness from Codex</a:t>
            </a:r>
          </a:p>
        </p:txBody>
      </p:sp>
      <p:sp>
        <p:nvSpPr>
          <p:cNvPr id="34" name="Shape 33"/>
          <p:cNvSpPr/>
          <p:nvPr/>
        </p:nvSpPr>
        <p:spPr>
          <a:xfrm>
            <a:off x="4553712" y="26360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553712"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36" name="Shape 35"/>
          <p:cNvSpPr/>
          <p:nvPr/>
        </p:nvSpPr>
        <p:spPr>
          <a:xfrm>
            <a:off x="5029200" y="26360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5029200"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38" name="Text 37"/>
          <p:cNvSpPr txBox="1"/>
          <p:nvPr/>
        </p:nvSpPr>
        <p:spPr>
          <a:xfrm>
            <a:off x="5605272" y="25074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Confirmed with Ascension's Codex Enterprise admins in Phase 0. Fallback: the harness runs headless on Cloud Run with the same tools and gateway.</a:t>
            </a:r>
          </a:p>
        </p:txBody>
      </p:sp>
      <p:sp>
        <p:nvSpPr>
          <p:cNvPr id="39" name="Text 38"/>
          <p:cNvSpPr txBox="1"/>
          <p:nvPr/>
        </p:nvSpPr>
        <p:spPr>
          <a:xfrm>
            <a:off x="9125712" y="25166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No admin approval by the Phase 0 exit</a:t>
            </a:r>
          </a:p>
        </p:txBody>
      </p:sp>
      <p:sp>
        <p:nvSpPr>
          <p:cNvPr id="40" name="Text 39"/>
          <p:cNvSpPr txBox="1"/>
          <p:nvPr/>
        </p:nvSpPr>
        <p:spPr>
          <a:xfrm>
            <a:off x="10588752" y="25166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Codex admins + AI harness architect</a:t>
            </a:r>
          </a:p>
        </p:txBody>
      </p:sp>
      <p:sp>
        <p:nvSpPr>
          <p:cNvPr id="41" name="Text 40"/>
          <p:cNvSpPr txBox="1"/>
          <p:nvPr/>
        </p:nvSpPr>
        <p:spPr>
          <a:xfrm>
            <a:off x="484632" y="30297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Patient data or secrets reach a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SECURITY</a:t>
            </a:r>
          </a:p>
        </p:txBody>
      </p:sp>
      <p:sp>
        <p:nvSpPr>
          <p:cNvPr id="42" name="Text 41"/>
          <p:cNvSpPr txBox="1"/>
          <p:nvPr/>
        </p:nvSpPr>
        <p:spPr>
          <a:xfrm>
            <a:off x="2724912" y="30297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HIPAA exposure; trust in the programme is lost</a:t>
            </a:r>
          </a:p>
        </p:txBody>
      </p:sp>
      <p:sp>
        <p:nvSpPr>
          <p:cNvPr id="43" name="Shape 42"/>
          <p:cNvSpPr/>
          <p:nvPr/>
        </p:nvSpPr>
        <p:spPr>
          <a:xfrm>
            <a:off x="4553712" y="3149091"/>
            <a:ext cx="420624" cy="182880"/>
          </a:xfrm>
          <a:prstGeom prst="roundRect">
            <a:avLst>
              <a:gd name="adj" fmla="val 4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53712"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Low</a:t>
            </a:r>
          </a:p>
        </p:txBody>
      </p:sp>
      <p:sp>
        <p:nvSpPr>
          <p:cNvPr id="45" name="Shape 44"/>
          <p:cNvSpPr/>
          <p:nvPr/>
        </p:nvSpPr>
        <p:spPr>
          <a:xfrm>
            <a:off x="5029200" y="314909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5"/>
          <p:cNvSpPr txBox="1"/>
          <p:nvPr/>
        </p:nvSpPr>
        <p:spPr>
          <a:xfrm>
            <a:off x="5029200"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47" name="Text 46"/>
          <p:cNvSpPr txBox="1"/>
          <p:nvPr/>
        </p:nvSpPr>
        <p:spPr>
          <a:xfrm>
            <a:off x="5605272" y="30205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The graph holds metadata, never patient records. DLP redacts on the way in and scans on the way out. OpenAI terms (BAA, zero retention) confirmed in Phase 0; pen test before production.</a:t>
            </a:r>
          </a:p>
        </p:txBody>
      </p:sp>
      <p:sp>
        <p:nvSpPr>
          <p:cNvPr id="48" name="Text 47"/>
          <p:cNvSpPr txBox="1"/>
          <p:nvPr/>
        </p:nvSpPr>
        <p:spPr>
          <a:xfrm>
            <a:off x="9125712" y="30297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Any DLP hit on an output</a:t>
            </a:r>
          </a:p>
        </p:txBody>
      </p:sp>
      <p:sp>
        <p:nvSpPr>
          <p:cNvPr id="49" name="Text 48"/>
          <p:cNvSpPr txBox="1"/>
          <p:nvPr/>
        </p:nvSpPr>
        <p:spPr>
          <a:xfrm>
            <a:off x="10588752" y="30297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security engineer + Ascension security</a:t>
            </a:r>
          </a:p>
        </p:txBody>
      </p:sp>
      <p:sp>
        <p:nvSpPr>
          <p:cNvPr id="50" name="Shape 49"/>
          <p:cNvSpPr/>
          <p:nvPr/>
        </p:nvSpPr>
        <p:spPr>
          <a:xfrm>
            <a:off x="411480" y="349707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84632" y="354279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Graph facts are incomplete or stale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DATA</a:t>
            </a:r>
          </a:p>
        </p:txBody>
      </p:sp>
      <p:sp>
        <p:nvSpPr>
          <p:cNvPr id="52" name="Text 51"/>
          <p:cNvSpPr txBox="1"/>
          <p:nvPr/>
        </p:nvSpPr>
        <p:spPr>
          <a:xfrm>
            <a:off x="2724912" y="354279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Agents build on a wrong picture of the org</a:t>
            </a:r>
          </a:p>
        </p:txBody>
      </p:sp>
      <p:sp>
        <p:nvSpPr>
          <p:cNvPr id="53" name="Shape 52"/>
          <p:cNvSpPr/>
          <p:nvPr/>
        </p:nvSpPr>
        <p:spPr>
          <a:xfrm>
            <a:off x="4553712" y="366217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3"/>
          <p:cNvSpPr txBox="1"/>
          <p:nvPr/>
        </p:nvSpPr>
        <p:spPr>
          <a:xfrm>
            <a:off x="4553712"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55" name="Shape 54"/>
          <p:cNvSpPr/>
          <p:nvPr/>
        </p:nvSpPr>
        <p:spPr>
          <a:xfrm>
            <a:off x="5029200" y="366217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029200"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57" name="Text 56"/>
          <p:cNvSpPr txBox="1"/>
          <p:nvPr/>
        </p:nvSpPr>
        <p:spPr>
          <a:xfrm>
            <a:off x="5605272" y="353364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exit: ≥90% agreement with architects on 10-15 past changes. Freshness and coverage checks; nightly drift watch; unknowns go to the owner, never guessed.</a:t>
            </a:r>
          </a:p>
        </p:txBody>
      </p:sp>
      <p:sp>
        <p:nvSpPr>
          <p:cNvPr id="58" name="Text 57"/>
          <p:cNvSpPr txBox="1"/>
          <p:nvPr/>
        </p:nvSpPr>
        <p:spPr>
          <a:xfrm>
            <a:off x="9125712" y="354279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Coverage or freshness below target</a:t>
            </a:r>
          </a:p>
        </p:txBody>
      </p:sp>
      <p:sp>
        <p:nvSpPr>
          <p:cNvPr id="59" name="Text 58"/>
          <p:cNvSpPr txBox="1"/>
          <p:nvPr/>
        </p:nvSpPr>
        <p:spPr>
          <a:xfrm>
            <a:off x="10588752" y="354279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Knowledge graph engineers</a:t>
            </a:r>
          </a:p>
        </p:txBody>
      </p:sp>
      <p:sp>
        <p:nvSpPr>
          <p:cNvPr id="60" name="Text 59"/>
          <p:cNvSpPr txBox="1"/>
          <p:nvPr/>
        </p:nvSpPr>
        <p:spPr>
          <a:xfrm>
            <a:off x="484632" y="405587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quality drifts, or a new model behaves differently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QUALITY</a:t>
            </a:r>
          </a:p>
        </p:txBody>
      </p:sp>
      <p:sp>
        <p:nvSpPr>
          <p:cNvPr id="61" name="Text 60"/>
          <p:cNvSpPr txBox="1"/>
          <p:nvPr/>
        </p:nvSpPr>
        <p:spPr>
          <a:xfrm>
            <a:off x="2724912" y="405587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More rework; reviewers lose confidence</a:t>
            </a:r>
          </a:p>
        </p:txBody>
      </p:sp>
      <p:sp>
        <p:nvSpPr>
          <p:cNvPr id="62" name="Shape 61"/>
          <p:cNvSpPr/>
          <p:nvPr/>
        </p:nvSpPr>
        <p:spPr>
          <a:xfrm>
            <a:off x="4553712"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4553712"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4" name="Shape 63"/>
          <p:cNvSpPr/>
          <p:nvPr/>
        </p:nvSpPr>
        <p:spPr>
          <a:xfrm>
            <a:off x="5029200"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5029200"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6" name="Text 65"/>
          <p:cNvSpPr txBox="1"/>
          <p:nvPr/>
        </p:nvSpPr>
        <p:spPr>
          <a:xfrm>
            <a:off x="5605272" y="404672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Evals gate every prompt, skill and model change; held-out set; weekly blind sample. The model is pinned and changes only by config after passing evals. Max 5 attempts, then an owner.</a:t>
            </a:r>
          </a:p>
        </p:txBody>
      </p:sp>
      <p:sp>
        <p:nvSpPr>
          <p:cNvPr id="67" name="Text 66"/>
          <p:cNvSpPr txBox="1"/>
          <p:nvPr/>
        </p:nvSpPr>
        <p:spPr>
          <a:xfrm>
            <a:off x="9125712" y="405587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pass@1 or judge agreement falls</a:t>
            </a:r>
          </a:p>
        </p:txBody>
      </p:sp>
      <p:sp>
        <p:nvSpPr>
          <p:cNvPr id="68" name="Text 67"/>
          <p:cNvSpPr txBox="1"/>
          <p:nvPr/>
        </p:nvSpPr>
        <p:spPr>
          <a:xfrm>
            <a:off x="10588752" y="405587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AI harness architect</a:t>
            </a:r>
          </a:p>
        </p:txBody>
      </p:sp>
      <p:sp>
        <p:nvSpPr>
          <p:cNvPr id="69" name="Shape 68"/>
          <p:cNvSpPr/>
          <p:nvPr/>
        </p:nvSpPr>
        <p:spPr>
          <a:xfrm>
            <a:off x="411480" y="452323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69"/>
          <p:cNvSpPr txBox="1"/>
          <p:nvPr/>
        </p:nvSpPr>
        <p:spPr>
          <a:xfrm>
            <a:off x="484632" y="45689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 change breaks another pod's process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71" name="Text 70"/>
          <p:cNvSpPr txBox="1"/>
          <p:nvPr/>
        </p:nvSpPr>
        <p:spPr>
          <a:xfrm>
            <a:off x="2724912" y="45689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Incident in a shared object; pods stop trusting the harness</a:t>
            </a:r>
          </a:p>
        </p:txBody>
      </p:sp>
      <p:sp>
        <p:nvSpPr>
          <p:cNvPr id="72" name="Shape 71"/>
          <p:cNvSpPr/>
          <p:nvPr/>
        </p:nvSpPr>
        <p:spPr>
          <a:xfrm>
            <a:off x="4553712" y="468833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553712"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74" name="Shape 73"/>
          <p:cNvSpPr/>
          <p:nvPr/>
        </p:nvSpPr>
        <p:spPr>
          <a:xfrm>
            <a:off x="5029200" y="46883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5029200"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76" name="Text 75"/>
          <p:cNvSpPr txBox="1"/>
          <p:nvPr/>
        </p:nvSpPr>
        <p:spPr>
          <a:xfrm>
            <a:off x="5605272" y="455980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Change Guardian checks design, commit and promotion against the ownership graph; affected pods sign; CAB unchanged; every release has a rollback plan.</a:t>
            </a:r>
          </a:p>
        </p:txBody>
      </p:sp>
      <p:sp>
        <p:nvSpPr>
          <p:cNvPr id="77" name="Text 76"/>
          <p:cNvSpPr txBox="1"/>
          <p:nvPr/>
        </p:nvSpPr>
        <p:spPr>
          <a:xfrm>
            <a:off x="9125712" y="45689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Guardian blocks or approval backlog rising</a:t>
            </a:r>
          </a:p>
        </p:txBody>
      </p:sp>
      <p:sp>
        <p:nvSpPr>
          <p:cNvPr id="78" name="Text 77"/>
          <p:cNvSpPr txBox="1"/>
          <p:nvPr/>
        </p:nvSpPr>
        <p:spPr>
          <a:xfrm>
            <a:off x="10588752" y="45689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 + Guardian rulebook owner</a:t>
            </a:r>
          </a:p>
        </p:txBody>
      </p:sp>
      <p:sp>
        <p:nvSpPr>
          <p:cNvPr id="79" name="Text 78"/>
          <p:cNvSpPr txBox="1"/>
          <p:nvPr/>
        </p:nvSpPr>
        <p:spPr>
          <a:xfrm>
            <a:off x="484632" y="50820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Pods keep working the old way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ADOPTION</a:t>
            </a:r>
          </a:p>
        </p:txBody>
      </p:sp>
      <p:sp>
        <p:nvSpPr>
          <p:cNvPr id="80" name="Text 79"/>
          <p:cNvSpPr txBox="1"/>
          <p:nvPr/>
        </p:nvSpPr>
        <p:spPr>
          <a:xfrm>
            <a:off x="2724912" y="50820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Harness built but under-used; benefits do not land</a:t>
            </a:r>
          </a:p>
        </p:txBody>
      </p:sp>
      <p:sp>
        <p:nvSpPr>
          <p:cNvPr id="81" name="Shape 80"/>
          <p:cNvSpPr/>
          <p:nvPr/>
        </p:nvSpPr>
        <p:spPr>
          <a:xfrm>
            <a:off x="4553712" y="52014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2" name="Text 81"/>
          <p:cNvSpPr txBox="1"/>
          <p:nvPr/>
        </p:nvSpPr>
        <p:spPr>
          <a:xfrm>
            <a:off x="4553712"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83" name="Shape 82"/>
          <p:cNvSpPr/>
          <p:nvPr/>
        </p:nvSpPr>
        <p:spPr>
          <a:xfrm>
            <a:off x="5029200" y="52014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83"/>
          <p:cNvSpPr txBox="1"/>
          <p:nvPr/>
        </p:nvSpPr>
        <p:spPr>
          <a:xfrm>
            <a:off x="5029200"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85" name="Text 84"/>
          <p:cNvSpPr txBox="1"/>
          <p:nvPr/>
        </p:nvSpPr>
        <p:spPr>
          <a:xfrm>
            <a:off x="5605272" y="50728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Two pilot pods prove it on their own baseline before any scale-up. Onboarding waves with training; a dashboard per pod; people keep every approval.</a:t>
            </a:r>
          </a:p>
        </p:txBody>
      </p:sp>
      <p:sp>
        <p:nvSpPr>
          <p:cNvPr id="86" name="Text 85"/>
          <p:cNvSpPr txBox="1"/>
          <p:nvPr/>
        </p:nvSpPr>
        <p:spPr>
          <a:xfrm>
            <a:off x="9125712" y="50820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Stories through the harness below plan</a:t>
            </a:r>
          </a:p>
        </p:txBody>
      </p:sp>
      <p:sp>
        <p:nvSpPr>
          <p:cNvPr id="87" name="Text 86"/>
          <p:cNvSpPr txBox="1"/>
          <p:nvPr/>
        </p:nvSpPr>
        <p:spPr>
          <a:xfrm>
            <a:off x="10588752" y="50820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engagement lead</a:t>
            </a:r>
          </a:p>
        </p:txBody>
      </p:sp>
      <p:sp>
        <p:nvSpPr>
          <p:cNvPr id="88" name="Shape 87"/>
          <p:cNvSpPr/>
          <p:nvPr/>
        </p:nvSpPr>
        <p:spPr>
          <a:xfrm>
            <a:off x="411480" y="554939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484632" y="55951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run cost grows faster than planned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90" name="Text 89"/>
          <p:cNvSpPr txBox="1"/>
          <p:nvPr/>
        </p:nvSpPr>
        <p:spPr>
          <a:xfrm>
            <a:off x="2724912" y="55951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Model and cloud usage eat into the benefit</a:t>
            </a:r>
          </a:p>
        </p:txBody>
      </p:sp>
      <p:sp>
        <p:nvSpPr>
          <p:cNvPr id="91" name="Shape 90"/>
          <p:cNvSpPr/>
          <p:nvPr/>
        </p:nvSpPr>
        <p:spPr>
          <a:xfrm>
            <a:off x="4553712"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4553712"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3" name="Shape 92"/>
          <p:cNvSpPr/>
          <p:nvPr/>
        </p:nvSpPr>
        <p:spPr>
          <a:xfrm>
            <a:off x="5029200"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Text 93"/>
          <p:cNvSpPr txBox="1"/>
          <p:nvPr/>
        </p:nvSpPr>
        <p:spPr>
          <a:xfrm>
            <a:off x="5029200"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5" name="Text 94"/>
          <p:cNvSpPr txBox="1"/>
          <p:nvPr/>
        </p:nvSpPr>
        <p:spPr>
          <a:xfrm>
            <a:off x="5605272" y="55859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Token budgets per step and per run; a run stops at its budget. Cost per step is in every run report and reviewed monthly.</a:t>
            </a:r>
          </a:p>
        </p:txBody>
      </p:sp>
      <p:sp>
        <p:nvSpPr>
          <p:cNvPr id="96" name="Text 95"/>
          <p:cNvSpPr txBox="1"/>
          <p:nvPr/>
        </p:nvSpPr>
        <p:spPr>
          <a:xfrm>
            <a:off x="9125712" y="55951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Cost per story over budget two weeks running</a:t>
            </a:r>
          </a:p>
        </p:txBody>
      </p:sp>
      <p:sp>
        <p:nvSpPr>
          <p:cNvPr id="97" name="Text 96"/>
          <p:cNvSpPr txBox="1"/>
          <p:nvPr/>
        </p:nvSpPr>
        <p:spPr>
          <a:xfrm>
            <a:off x="10588752" y="55951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and DevOps engineers</a:t>
            </a:r>
          </a:p>
        </p:txBody>
      </p:sp>
      <p:sp>
        <p:nvSpPr>
          <p:cNvPr id="98" name="Shape 97"/>
          <p:cNvSpPr/>
          <p:nvPr/>
        </p:nvSpPr>
        <p:spPr>
          <a:xfrm>
            <a:off x="411480" y="6062471"/>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411480" y="6108191"/>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Likelihood and impact are our starting view, agreed with Ascension at the Phase 0 exit. The engagement lead keeps the register; new risks are added at each phase exit and in the monthly steering meeting.</a:t>
            </a:r>
          </a:p>
        </p:txBody>
      </p:sp>
    </p:spTree>
    <p:extLst>
      <p:ext uri="{BB962C8B-B14F-4D97-AF65-F5344CB8AC3E}">
        <p14:creationId xmlns:p14="http://schemas.microsoft.com/office/powerpoint/2010/main" val="25607479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0000"/>
                </a:solidFill>
              </a:rPr>
              <a:t>ASCENSION AGENTIC HARNESS · COMMERCIALS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runs as a managed service.</a:t>
            </a:r>
          </a:p>
        </p:txBody>
      </p:sp>
      <p:sp>
        <p:nvSpPr>
          <p:cNvPr id="5" name="Text 4"/>
          <p:cNvSpPr txBox="1"/>
          <p:nvPr/>
        </p:nvSpPr>
        <p:spPr>
          <a:xfrm>
            <a:off x="457200" y="1170432"/>
            <a:ext cx="1554480" cy="219456"/>
          </a:xfrm>
          <a:prstGeom prst="rect">
            <a:avLst/>
          </a:prstGeom>
          <a:noFill/>
        </p:spPr>
        <p:txBody>
          <a:bodyPr wrap="square" lIns="0" tIns="0" r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tIns="0" r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tIns="0" r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tIns="0" r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tIns="0" r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tIns="0" r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2"/>
          <p:cNvSpPr txBox="1"/>
          <p:nvPr/>
        </p:nvSpPr>
        <p:spPr>
          <a:xfrm>
            <a:off x="457200" y="1444752"/>
            <a:ext cx="1508760" cy="384048"/>
          </a:xfrm>
          <a:prstGeom prst="rect">
            <a:avLst/>
          </a:prstGeom>
          <a:noFill/>
        </p:spPr>
        <p:txBody>
          <a:bodyPr wrap="square" lIns="0" tIns="0" r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tIns="0" r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tIns="0" r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tIns="0" r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tIns="0" r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tIns="0" r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457200" y="2347164"/>
            <a:ext cx="1508760" cy="115416"/>
          </a:xfrm>
          <a:prstGeom prst="rect">
            <a:avLst/>
          </a:prstGeom>
          <a:noFill/>
        </p:spPr>
        <p:txBody>
          <a:bodyPr wrap="square" lIns="0" tIns="0" rIns="0" bIns="0" anchor="ctr">
            <a:spAutoFit/>
          </a:bodyPr>
          <a:lstStyle/>
          <a:p>
            <a:r>
              <a:rPr sz="750" b="1" i="0">
                <a:solidFill>
                  <a:srgbClr val="000000"/>
                </a:solidFill>
                <a:latin typeface="Trenda IG Text"/>
              </a:rPr>
              <a:t>2   pilot</a:t>
            </a:r>
          </a:p>
        </p:txBody>
      </p:sp>
      <p:sp>
        <p:nvSpPr>
          <p:cNvPr id="27" name="Text 26"/>
          <p:cNvSpPr txBox="1"/>
          <p:nvPr/>
        </p:nvSpPr>
        <p:spPr>
          <a:xfrm>
            <a:off x="2057400" y="2212848"/>
            <a:ext cx="685799" cy="384048"/>
          </a:xfrm>
          <a:prstGeom prst="rect">
            <a:avLst/>
          </a:prstGeom>
          <a:noFill/>
        </p:spPr>
        <p:txBody>
          <a:bodyPr wrap="square" lIns="0" tIns="0" r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tIns="0" r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tIns="0" r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tIns="0" r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tIns="0" r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457200" y="2980944"/>
            <a:ext cx="1508760" cy="384048"/>
          </a:xfrm>
          <a:prstGeom prst="rect">
            <a:avLst/>
          </a:prstGeom>
          <a:noFill/>
        </p:spPr>
        <p:txBody>
          <a:bodyPr wrap="square" lIns="0" tIns="0" r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tIns="0" r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tIns="0" r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tIns="0" r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tIns="0" r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tIns="0" r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457200" y="3749039"/>
            <a:ext cx="1508760" cy="384048"/>
          </a:xfrm>
          <a:prstGeom prst="rect">
            <a:avLst/>
          </a:prstGeom>
          <a:noFill/>
        </p:spPr>
        <p:txBody>
          <a:bodyPr wrap="square" lIns="0" tIns="0" r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tIns="0" r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tIns="0" r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57200" y="4160520"/>
            <a:ext cx="1508760" cy="310896"/>
          </a:xfrm>
          <a:prstGeom prst="rect">
            <a:avLst/>
          </a:prstGeom>
          <a:noFill/>
        </p:spPr>
        <p:txBody>
          <a:bodyPr wrap="square" lIns="0" tIns="0" r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tIns="0" r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tIns="0" rIns="0" bIns="0" anchor="ctr">
            <a:spAutoFit/>
          </a:bodyPr>
          <a:lstStyle/>
          <a:p>
            <a:pPr algn="r"/>
            <a:endParaRPr/>
          </a:p>
        </p:txBody>
      </p:sp>
      <p:sp>
        <p:nvSpPr>
          <p:cNvPr id="62" name="Text 61"/>
          <p:cNvSpPr txBox="1"/>
          <p:nvPr/>
        </p:nvSpPr>
        <p:spPr>
          <a:xfrm>
            <a:off x="3566160" y="4160520"/>
            <a:ext cx="1051560" cy="310896"/>
          </a:xfrm>
          <a:prstGeom prst="rect">
            <a:avLst/>
          </a:prstGeom>
          <a:noFill/>
        </p:spPr>
        <p:txBody>
          <a:bodyPr wrap="square" lIns="0" tIns="0" r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tIns="0" r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tIns="0" r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5"/>
          <p:cNvSpPr txBox="1"/>
          <p:nvPr/>
        </p:nvSpPr>
        <p:spPr>
          <a:xfrm>
            <a:off x="521208" y="4571999"/>
            <a:ext cx="7187183" cy="512064"/>
          </a:xfrm>
          <a:prstGeom prst="rect">
            <a:avLst/>
          </a:prstGeom>
          <a:noFill/>
        </p:spPr>
        <p:txBody>
          <a:bodyPr wrap="square" lIns="0" tIns="0" r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tIns="0" r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70"/>
          <p:cNvSpPr txBox="1"/>
          <p:nvPr/>
        </p:nvSpPr>
        <p:spPr>
          <a:xfrm>
            <a:off x="8243315" y="1467612"/>
            <a:ext cx="2231136" cy="182880"/>
          </a:xfrm>
          <a:prstGeom prst="rect">
            <a:avLst/>
          </a:prstGeom>
          <a:noFill/>
        </p:spPr>
        <p:txBody>
          <a:bodyPr wrap="square" lIns="0" tIns="0" r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tIns="0" r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4"/>
          <p:cNvSpPr txBox="1"/>
          <p:nvPr/>
        </p:nvSpPr>
        <p:spPr>
          <a:xfrm>
            <a:off x="10712196" y="2007108"/>
            <a:ext cx="914400" cy="146304"/>
          </a:xfrm>
          <a:prstGeom prst="rect">
            <a:avLst/>
          </a:prstGeom>
          <a:noFill/>
        </p:spPr>
        <p:txBody>
          <a:bodyPr wrap="square" lIns="0" tIns="0" r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6"/>
          <p:cNvSpPr txBox="1"/>
          <p:nvPr/>
        </p:nvSpPr>
        <p:spPr>
          <a:xfrm>
            <a:off x="8202167" y="2395728"/>
            <a:ext cx="2313432" cy="182880"/>
          </a:xfrm>
          <a:prstGeom prst="rect">
            <a:avLst/>
          </a:prstGeom>
          <a:noFill/>
        </p:spPr>
        <p:txBody>
          <a:bodyPr wrap="square" lIns="0" tIns="0" r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tIns="0" r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tIns="0" r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1"/>
          <p:cNvSpPr txBox="1"/>
          <p:nvPr/>
        </p:nvSpPr>
        <p:spPr>
          <a:xfrm>
            <a:off x="8202167" y="3364992"/>
            <a:ext cx="2313432" cy="182880"/>
          </a:xfrm>
          <a:prstGeom prst="rect">
            <a:avLst/>
          </a:prstGeom>
          <a:noFill/>
        </p:spPr>
        <p:txBody>
          <a:bodyPr wrap="square" lIns="0" tIns="0" r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tIns="0" r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tIns="0" r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5"/>
          <p:cNvSpPr txBox="1"/>
          <p:nvPr/>
        </p:nvSpPr>
        <p:spPr>
          <a:xfrm>
            <a:off x="8257031" y="4005072"/>
            <a:ext cx="3355848" cy="256032"/>
          </a:xfrm>
          <a:prstGeom prst="rect">
            <a:avLst/>
          </a:prstGeom>
          <a:noFill/>
        </p:spPr>
        <p:txBody>
          <a:bodyPr wrap="square" lIns="0" tIns="0" r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7"/>
          <p:cNvSpPr txBox="1"/>
          <p:nvPr/>
        </p:nvSpPr>
        <p:spPr>
          <a:xfrm>
            <a:off x="8220456" y="4517136"/>
            <a:ext cx="3429000" cy="182880"/>
          </a:xfrm>
          <a:prstGeom prst="rect">
            <a:avLst/>
          </a:prstGeom>
          <a:noFill/>
        </p:spPr>
        <p:txBody>
          <a:bodyPr wrap="square" lIns="0" tIns="0" r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984885"/>
          </a:xfrm>
          <a:prstGeom prst="rect">
            <a:avLst/>
          </a:prstGeom>
          <a:noFill/>
        </p:spPr>
        <p:txBody>
          <a:bodyPr wrap="square" lIns="0" tIns="0" r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every further pod on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tIns="0" r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1–3 · Per-source pipeline</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Jira</a:t>
            </a:r>
            <a:endParaRPr lang="en-US" sz="881"/>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requirements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Epics, components, labels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Kanban &amp; sprint history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Linked issues &amp; defects</a:t>
            </a:r>
            <a:endParaRPr lang="en-US" sz="686"/>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(3LO) or API token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scopes only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Cursor pagination (startAt / maxResults=100)</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issue payload</a:t>
            </a:r>
            <a:endParaRPr lang="en-US" sz="686"/>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ADF JSON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statement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 (Given / When / Then)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graph: blocks, relates, implements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issue key, updated, SHA-256</a:t>
            </a:r>
            <a:endParaRPr lang="en-US" sz="686"/>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Confluence</a:t>
            </a:r>
            <a:endParaRPr lang="en-US" sz="881"/>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Functional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Technical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Integration diagrams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HFN / HPF &amp; credentialing runbooks</a:t>
            </a:r>
            <a:endParaRPr lang="en-US" sz="686"/>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PAT / API token authentication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Space + label scoped retrieval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Storage-format HTML (body.storage)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 + lastUpdated tracking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Rate limiting (token bucket)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content hashing</a:t>
            </a:r>
            <a:endParaRPr lang="en-US" sz="686"/>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Jsoup HTML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sentence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page id, version, SHA-256</a:t>
            </a:r>
            <a:endParaRPr lang="en-US" sz="686"/>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Salesforce</a:t>
            </a:r>
            <a:endParaRPr lang="en-US" sz="881"/>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HCP / Account, Healthcare Facility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HPF, HFN, CPA / Fee Schedule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Fields, record types,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Flows, validation rules, Apex</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permission sets, sharing</a:t>
            </a:r>
            <a:endParaRPr lang="en-US" sz="686"/>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Connected App, JWT bearer flow</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permission set, metadata scope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record-data access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Tooling API + Metadata API retrieve()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MetadataComponentDependency queries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for fields &amp;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component body</a:t>
            </a:r>
            <a:endParaRPr lang="en-US" sz="686"/>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 objects, fields, types, rels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methods, SOQL, DML, sObjects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Triggers: object + before / after events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 rule formulas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Dependency API → component edges</a:t>
            </a:r>
            <a:endParaRPr lang="en-US" sz="686"/>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Git</a:t>
            </a:r>
            <a:endParaRPr lang="en-US" sz="881"/>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force-app source tree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&amp; triggers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test classes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*-meta.xml metadata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Commits, branches, tags, PRs</a:t>
            </a:r>
            <a:endParaRPr lang="en-US" sz="686"/>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SSH deploy key / read-only fine-grained PAT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Shallow clone + fetch per branch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 SHA, author, timestamp capture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Per-file SHA-256 + git blob SHA cross-check</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SFDX source-format traversal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parsing incl. @isTest / @future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 class → covered class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 parsing (js / html / meta)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XML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repo, branch, path, commit SHA</a:t>
            </a:r>
            <a:endParaRPr lang="en-US" sz="686"/>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Copado</a:t>
            </a:r>
            <a:endParaRPr lang="en-US" sz="881"/>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promotions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testing suites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test runs &amp;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DEV · SIT · UAT · PREPROD · PROD</a:t>
            </a:r>
            <a:endParaRPr lang="en-US" sz="686"/>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client credentials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API user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promotion pull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 regression test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per environment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stage topology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record payload</a:t>
            </a:r>
            <a:endParaRPr lang="en-US" sz="686"/>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Promotion &amp; deployment record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results: pass / fail + evidence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story id, run id, deployment id</a:t>
            </a:r>
            <a:endParaRPr lang="en-US" sz="686"/>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Google Drive</a:t>
            </a:r>
            <a:endParaRPr lang="en-US" sz="881"/>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Shared delivery documents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&amp; field-mapping sheets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Evidence exports &amp; sign-offs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Decision &amp; meeting notes</a:t>
            </a:r>
            <a:endParaRPr lang="en-US" sz="686"/>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service account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Drive API v3, shared-drive scoped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files.list + files.export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exported to text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Change-token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file revision</a:t>
            </a:r>
            <a:endParaRPr lang="en-US" sz="686"/>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text 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Sheet table extraction (headers, rows)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 business-capability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fileId, revision, SHA-256</a:t>
            </a:r>
            <a:endParaRPr lang="en-US" sz="686"/>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a:t>
            </a:r>
            <a:r>
              <a:rPr lang="en-IN" sz="1050">
                <a:solidFill>
                  <a:srgbClr val="595959"/>
                </a:solidFill>
              </a:rPr>
              <a:t>Agentic Harness adds</a:t>
            </a:r>
            <a:r>
              <a:rPr sz="1050" b="0" i="0">
                <a:solidFill>
                  <a:srgbClr val="595959"/>
                </a:solidFill>
                <a:latin typeface="Trenda IG Text"/>
              </a:rPr>
              <a:t>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115416"/>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91332"/>
            <a:ext cx="3794760" cy="115416"/>
          </a:xfrm>
          <a:prstGeom prst="rect">
            <a:avLst/>
          </a:prstGeom>
          <a:noFill/>
        </p:spPr>
        <p:txBody>
          <a:bodyPr wrap="square" lIns="0" tIns="0" rIns="0" bIns="0" anchor="ctr">
            <a:spAutoFit/>
          </a:bodyPr>
          <a:lstStyle/>
          <a:p>
            <a:r>
              <a:rPr sz="750" b="1" i="0">
                <a:solidFill>
                  <a:srgbClr val="000000"/>
                </a:solidFill>
                <a:latin typeface="Trenda IG Text"/>
              </a:rPr>
              <a:t>What </a:t>
            </a:r>
            <a:r>
              <a:rPr lang="en-IN" sz="750" b="1">
                <a:solidFill>
                  <a:srgbClr val="000000"/>
                </a:solidFill>
              </a:rPr>
              <a:t>the harness</a:t>
            </a:r>
            <a:r>
              <a:rPr sz="750" b="1" i="0">
                <a:solidFill>
                  <a:srgbClr val="000000"/>
                </a:solidFill>
                <a:latin typeface="Trenda IG Text"/>
              </a:rPr>
              <a:t>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dirty="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dirty="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dirty="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566928"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1</a:t>
            </a:r>
          </a:p>
        </p:txBody>
      </p:sp>
      <p:sp>
        <p:nvSpPr>
          <p:cNvPr id="7" name="Text 6"/>
          <p:cNvSpPr txBox="1"/>
          <p:nvPr/>
        </p:nvSpPr>
        <p:spPr>
          <a:xfrm>
            <a:off x="859536"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Golden set</a:t>
            </a:r>
          </a:p>
        </p:txBody>
      </p:sp>
      <p:sp>
        <p:nvSpPr>
          <p:cNvPr id="8" name="Text 7"/>
          <p:cNvSpPr txBox="1"/>
          <p:nvPr/>
        </p:nvSpPr>
        <p:spPr>
          <a:xfrm>
            <a:off x="585216"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2816352"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2</a:t>
            </a:r>
          </a:p>
        </p:txBody>
      </p:sp>
      <p:sp>
        <p:nvSpPr>
          <p:cNvPr id="11" name="Text 10"/>
          <p:cNvSpPr txBox="1"/>
          <p:nvPr/>
        </p:nvSpPr>
        <p:spPr>
          <a:xfrm>
            <a:off x="3108960"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Offline gate</a:t>
            </a:r>
          </a:p>
        </p:txBody>
      </p:sp>
      <p:sp>
        <p:nvSpPr>
          <p:cNvPr id="12" name="Text 11"/>
          <p:cNvSpPr txBox="1"/>
          <p:nvPr/>
        </p:nvSpPr>
        <p:spPr>
          <a:xfrm>
            <a:off x="2834640"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5"/>
          <p:cNvSpPr txBox="1"/>
          <p:nvPr/>
        </p:nvSpPr>
        <p:spPr>
          <a:xfrm>
            <a:off x="5102352" y="13898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3</a:t>
            </a:r>
          </a:p>
        </p:txBody>
      </p:sp>
      <p:sp>
        <p:nvSpPr>
          <p:cNvPr id="16" name="Text 16"/>
          <p:cNvSpPr txBox="1"/>
          <p:nvPr/>
        </p:nvSpPr>
        <p:spPr>
          <a:xfrm>
            <a:off x="5394960" y="1389888"/>
            <a:ext cx="146304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Guarded run</a:t>
            </a:r>
          </a:p>
        </p:txBody>
      </p:sp>
      <p:sp>
        <p:nvSpPr>
          <p:cNvPr id="17" name="Text 17"/>
          <p:cNvSpPr txBox="1"/>
          <p:nvPr/>
        </p:nvSpPr>
        <p:spPr>
          <a:xfrm>
            <a:off x="5120640" y="1682495"/>
            <a:ext cx="1700784"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Text 19"/>
          <p:cNvSpPr txBox="1"/>
          <p:nvPr/>
        </p:nvSpPr>
        <p:spPr>
          <a:xfrm>
            <a:off x="5138928"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 name="Text 21"/>
          <p:cNvSpPr txBox="1"/>
          <p:nvPr/>
        </p:nvSpPr>
        <p:spPr>
          <a:xfrm>
            <a:off x="5486400"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3"/>
          <p:cNvSpPr txBox="1"/>
          <p:nvPr/>
        </p:nvSpPr>
        <p:spPr>
          <a:xfrm>
            <a:off x="5833872"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5"/>
          <p:cNvSpPr txBox="1"/>
          <p:nvPr/>
        </p:nvSpPr>
        <p:spPr>
          <a:xfrm>
            <a:off x="6181344"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6528816"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5</a:t>
            </a:r>
          </a:p>
        </p:txBody>
      </p:sp>
      <p:sp>
        <p:nvSpPr>
          <p:cNvPr id="28" name="Text 28"/>
          <p:cNvSpPr txBox="1"/>
          <p:nvPr/>
        </p:nvSpPr>
        <p:spPr>
          <a:xfrm>
            <a:off x="5120640" y="2304288"/>
            <a:ext cx="1700784"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D700"/>
                </a:solidFill>
                <a:effectLst/>
                <a:uLnTx/>
                <a:uFillTx/>
                <a:latin typeface="Trenda IG Text"/>
                <a:ea typeface="+mn-ea"/>
                <a:cs typeface="+mn-cs"/>
              </a:rPr>
              <a:t>STOP: </a:t>
            </a:r>
            <a:r>
              <a:rPr kumimoji="0" sz="750" b="0" i="0" u="none" strike="noStrike" kern="1200" cap="none" spc="0" normalizeH="0" baseline="0" noProof="0">
                <a:ln>
                  <a:noFill/>
                </a:ln>
                <a:solidFill>
                  <a:srgbClr val="FFFFFF"/>
                </a:solidFill>
                <a:effectLst/>
                <a:uLnTx/>
                <a:uFillTx/>
                <a:latin typeface="Trenda IG Text"/>
                <a:ea typeface="+mn-ea"/>
                <a:cs typeface="+mn-cs"/>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30"/>
          <p:cNvSpPr txBox="1"/>
          <p:nvPr/>
        </p:nvSpPr>
        <p:spPr>
          <a:xfrm>
            <a:off x="5065776"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4</a:t>
            </a:r>
          </a:p>
        </p:txBody>
      </p:sp>
      <p:sp>
        <p:nvSpPr>
          <p:cNvPr id="31" name="Text 31"/>
          <p:cNvSpPr txBox="1"/>
          <p:nvPr/>
        </p:nvSpPr>
        <p:spPr>
          <a:xfrm>
            <a:off x="5358384"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Sample + label</a:t>
            </a:r>
          </a:p>
        </p:txBody>
      </p:sp>
      <p:sp>
        <p:nvSpPr>
          <p:cNvPr id="32" name="Text 32"/>
          <p:cNvSpPr txBox="1"/>
          <p:nvPr/>
        </p:nvSpPr>
        <p:spPr>
          <a:xfrm>
            <a:off x="5084064"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4"/>
          <p:cNvSpPr txBox="1"/>
          <p:nvPr/>
        </p:nvSpPr>
        <p:spPr>
          <a:xfrm>
            <a:off x="2816352"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5</a:t>
            </a:r>
          </a:p>
        </p:txBody>
      </p:sp>
      <p:sp>
        <p:nvSpPr>
          <p:cNvPr id="35" name="Text 35"/>
          <p:cNvSpPr txBox="1"/>
          <p:nvPr/>
        </p:nvSpPr>
        <p:spPr>
          <a:xfrm>
            <a:off x="3108960"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Diagnose</a:t>
            </a:r>
          </a:p>
        </p:txBody>
      </p:sp>
      <p:sp>
        <p:nvSpPr>
          <p:cNvPr id="36" name="Text 36"/>
          <p:cNvSpPr txBox="1"/>
          <p:nvPr/>
        </p:nvSpPr>
        <p:spPr>
          <a:xfrm>
            <a:off x="2834640"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8"/>
          <p:cNvSpPr txBox="1"/>
          <p:nvPr/>
        </p:nvSpPr>
        <p:spPr>
          <a:xfrm>
            <a:off x="566928"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6</a:t>
            </a:r>
          </a:p>
        </p:txBody>
      </p:sp>
      <p:sp>
        <p:nvSpPr>
          <p:cNvPr id="39" name="Text 39"/>
          <p:cNvSpPr txBox="1"/>
          <p:nvPr/>
        </p:nvSpPr>
        <p:spPr>
          <a:xfrm>
            <a:off x="859536"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Tune + re-test</a:t>
            </a:r>
          </a:p>
        </p:txBody>
      </p:sp>
      <p:sp>
        <p:nvSpPr>
          <p:cNvPr id="40" name="Text 40"/>
          <p:cNvSpPr txBox="1"/>
          <p:nvPr/>
        </p:nvSpPr>
        <p:spPr>
          <a:xfrm>
            <a:off x="585216"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150" normalizeH="0" baseline="0" noProof="0">
                <a:ln>
                  <a:noFill/>
                </a:ln>
                <a:solidFill>
                  <a:srgbClr val="00D6F2"/>
                </a:solidFill>
                <a:effectLst/>
                <a:uLnTx/>
                <a:uFillTx/>
                <a:latin typeface="Trenda IG Text"/>
                <a:ea typeface="+mn-ea"/>
                <a:cs typeface="+mn-cs"/>
              </a:rPr>
              <a:t>CLOSED-LOOP</a:t>
            </a:r>
          </a:p>
        </p:txBody>
      </p:sp>
      <p:sp>
        <p:nvSpPr>
          <p:cNvPr id="48" name="Text 48"/>
          <p:cNvSpPr txBox="1"/>
          <p:nvPr/>
        </p:nvSpPr>
        <p:spPr>
          <a:xfrm>
            <a:off x="2706624" y="3227832"/>
            <a:ext cx="201168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150" normalizeH="0" baseline="0" noProof="0">
                <a:ln>
                  <a:noFill/>
                </a:ln>
                <a:solidFill>
                  <a:srgbClr val="FFFFFF"/>
                </a:solidFill>
                <a:effectLst/>
                <a:uLnTx/>
                <a:uFillTx/>
                <a:latin typeface="Trenda IG Text"/>
                <a:ea typeface="+mn-ea"/>
                <a:cs typeface="+mn-cs"/>
              </a:rPr>
              <a:t>EVALS</a:t>
            </a:r>
          </a:p>
        </p:txBody>
      </p:sp>
      <p:sp>
        <p:nvSpPr>
          <p:cNvPr id="49" name="Text 49"/>
          <p:cNvSpPr txBox="1"/>
          <p:nvPr/>
        </p:nvSpPr>
        <p:spPr>
          <a:xfrm>
            <a:off x="2432304" y="3611880"/>
            <a:ext cx="256032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1"/>
          <p:cNvSpPr txBox="1"/>
          <p:nvPr/>
        </p:nvSpPr>
        <p:spPr>
          <a:xfrm>
            <a:off x="7287768" y="1426463"/>
            <a:ext cx="4325112"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EVERY RUN REPORTS</a:t>
            </a:r>
          </a:p>
        </p:txBody>
      </p:sp>
      <p:sp>
        <p:nvSpPr>
          <p:cNvPr id="52" name="Text 52"/>
          <p:cNvSpPr txBox="1"/>
          <p:nvPr/>
        </p:nvSpPr>
        <p:spPr>
          <a:xfrm>
            <a:off x="7287768" y="166420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pass@k</a:t>
            </a:r>
          </a:p>
        </p:txBody>
      </p:sp>
      <p:sp>
        <p:nvSpPr>
          <p:cNvPr id="53" name="Text 53"/>
          <p:cNvSpPr txBox="1"/>
          <p:nvPr/>
        </p:nvSpPr>
        <p:spPr>
          <a:xfrm>
            <a:off x="8686800" y="166420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5"/>
          <p:cNvSpPr txBox="1"/>
          <p:nvPr/>
        </p:nvSpPr>
        <p:spPr>
          <a:xfrm>
            <a:off x="7287768" y="202474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Time</a:t>
            </a:r>
          </a:p>
        </p:txBody>
      </p:sp>
      <p:sp>
        <p:nvSpPr>
          <p:cNvPr id="56" name="Text 56"/>
          <p:cNvSpPr txBox="1"/>
          <p:nvPr/>
        </p:nvSpPr>
        <p:spPr>
          <a:xfrm>
            <a:off x="8686800" y="202474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8"/>
          <p:cNvSpPr txBox="1"/>
          <p:nvPr/>
        </p:nvSpPr>
        <p:spPr>
          <a:xfrm>
            <a:off x="7287768" y="238527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Re-run time</a:t>
            </a:r>
          </a:p>
        </p:txBody>
      </p:sp>
      <p:sp>
        <p:nvSpPr>
          <p:cNvPr id="59" name="Text 59"/>
          <p:cNvSpPr txBox="1"/>
          <p:nvPr/>
        </p:nvSpPr>
        <p:spPr>
          <a:xfrm>
            <a:off x="8686800" y="238527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1"/>
          <p:cNvSpPr txBox="1"/>
          <p:nvPr/>
        </p:nvSpPr>
        <p:spPr>
          <a:xfrm>
            <a:off x="7287768" y="274581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Waiting time</a:t>
            </a:r>
          </a:p>
        </p:txBody>
      </p:sp>
      <p:sp>
        <p:nvSpPr>
          <p:cNvPr id="62" name="Text 62"/>
          <p:cNvSpPr txBox="1"/>
          <p:nvPr/>
        </p:nvSpPr>
        <p:spPr>
          <a:xfrm>
            <a:off x="8686800" y="274581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4" name="Text 64"/>
          <p:cNvSpPr txBox="1"/>
          <p:nvPr/>
        </p:nvSpPr>
        <p:spPr>
          <a:xfrm>
            <a:off x="7287768" y="310634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Agent scores</a:t>
            </a:r>
          </a:p>
        </p:txBody>
      </p:sp>
      <p:sp>
        <p:nvSpPr>
          <p:cNvPr id="65" name="Text 65"/>
          <p:cNvSpPr txBox="1"/>
          <p:nvPr/>
        </p:nvSpPr>
        <p:spPr>
          <a:xfrm>
            <a:off x="8686800" y="310634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7"/>
          <p:cNvSpPr txBox="1"/>
          <p:nvPr/>
        </p:nvSpPr>
        <p:spPr>
          <a:xfrm>
            <a:off x="7287768" y="346688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Escaped defects</a:t>
            </a:r>
          </a:p>
        </p:txBody>
      </p:sp>
      <p:sp>
        <p:nvSpPr>
          <p:cNvPr id="68" name="Text 68"/>
          <p:cNvSpPr txBox="1"/>
          <p:nvPr/>
        </p:nvSpPr>
        <p:spPr>
          <a:xfrm>
            <a:off x="8686800" y="346688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70"/>
          <p:cNvSpPr txBox="1"/>
          <p:nvPr/>
        </p:nvSpPr>
        <p:spPr>
          <a:xfrm>
            <a:off x="7287768" y="382741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Stopped runs</a:t>
            </a:r>
          </a:p>
        </p:txBody>
      </p:sp>
      <p:sp>
        <p:nvSpPr>
          <p:cNvPr id="71" name="Text 71"/>
          <p:cNvSpPr txBox="1"/>
          <p:nvPr/>
        </p:nvSpPr>
        <p:spPr>
          <a:xfrm>
            <a:off x="8686800" y="382741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5"/>
          <p:cNvSpPr txBox="1"/>
          <p:nvPr/>
        </p:nvSpPr>
        <p:spPr>
          <a:xfrm>
            <a:off x="7287768" y="4517136"/>
            <a:ext cx="4288536"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D700"/>
                </a:solidFill>
                <a:effectLst/>
                <a:uLnTx/>
                <a:uFillTx/>
                <a:latin typeface="Trenda IG Text"/>
                <a:ea typeface="+mn-ea"/>
                <a:cs typeface="+mn-cs"/>
              </a:rPr>
              <a:t>PROVEN AT SCALE</a:t>
            </a:r>
          </a:p>
        </p:txBody>
      </p:sp>
      <p:sp>
        <p:nvSpPr>
          <p:cNvPr id="75" name="Text 76"/>
          <p:cNvSpPr txBox="1"/>
          <p:nvPr/>
        </p:nvSpPr>
        <p:spPr>
          <a:xfrm>
            <a:off x="7287768" y="4754879"/>
            <a:ext cx="4288536" cy="4572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FFFF"/>
                </a:solidFill>
                <a:effectLst/>
                <a:uLnTx/>
                <a:uFillTx/>
                <a:latin typeface="Trenda IG Text"/>
                <a:ea typeface="+mn-ea"/>
                <a:cs typeface="+mn-cs"/>
              </a:rPr>
              <a:t>Uber Eats runs its food-photo agent on the same closed loop: </a:t>
            </a:r>
            <a:r>
              <a:rPr kumimoji="0" sz="750" b="0" i="0" u="none" strike="noStrike" kern="1200" cap="none" spc="0" normalizeH="0" baseline="0" noProof="0">
                <a:ln>
                  <a:noFill/>
                </a:ln>
                <a:solidFill>
                  <a:srgbClr val="BFBFBF"/>
                </a:solidFill>
                <a:effectLst/>
                <a:uLnTx/>
                <a:uFillTx/>
                <a:latin typeface="Trenda IG Text"/>
                <a:ea typeface="+mn-ea"/>
                <a:cs typeface="+mn-cs"/>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8"/>
          <p:cNvSpPr txBox="1"/>
          <p:nvPr/>
        </p:nvSpPr>
        <p:spPr>
          <a:xfrm>
            <a:off x="640080" y="5486400"/>
            <a:ext cx="219456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NO GAMING THE EVALS</a:t>
            </a:r>
          </a:p>
        </p:txBody>
      </p:sp>
      <p:sp>
        <p:nvSpPr>
          <p:cNvPr id="78" name="Text 79"/>
          <p:cNvSpPr txBox="1"/>
          <p:nvPr/>
        </p:nvSpPr>
        <p:spPr>
          <a:xfrm>
            <a:off x="2743200" y="5486400"/>
            <a:ext cx="886968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Trenda IG Text"/>
                <a:ea typeface="+mn-ea"/>
                <a:cs typeface="+mn-cs"/>
              </a:rPr>
              <a:t>Agents cannot edit tests or the evaluation set; </a:t>
            </a:r>
            <a:r>
              <a:rPr kumimoji="0" sz="900" b="0" i="0" u="none" strike="noStrike" kern="1200" cap="none" spc="0" normalizeH="0" baseline="0" noProof="0">
                <a:ln>
                  <a:noFill/>
                </a:ln>
                <a:solidFill>
                  <a:srgbClr val="BFBFBF"/>
                </a:solidFill>
                <a:effectLst/>
                <a:uLnTx/>
                <a:uFillTx/>
                <a:latin typeface="Trenda IG Text"/>
                <a:ea typeface="+mn-ea"/>
                <a:cs typeface="+mn-cs"/>
              </a:rPr>
              <a:t>a held-out set no agent ever sees; any change that deletes or weakens a test is blocked by the Guardian.</a:t>
            </a:r>
          </a:p>
        </p:txBody>
      </p:sp>
    </p:spTree>
    <p:extLst>
      <p:ext uri="{BB962C8B-B14F-4D97-AF65-F5344CB8AC3E}">
        <p14:creationId xmlns:p14="http://schemas.microsoft.com/office/powerpoint/2010/main" val="3951767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Layer 4 · NetworkServicesContext</a:t>
            </a:r>
            <a:endParaRPr lang="en-US" sz="881"/>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Root object</a:t>
            </a:r>
            <a:endParaRPr lang="en-US" sz="783"/>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applicationName: "NETWORK_SERVICES"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applicationVersion, createdAt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snapshotId: UUID of this sync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 createdBy, derivationMethod</a:t>
            </a:r>
            <a:endParaRPr lang="en-US" sz="734"/>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requirementId, title, acceptanceCriteria[]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businessCapability, status, riskTier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linkedIssues / documents /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businessRules[] with objectsReferenced[]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objectApiName, recordTypes[]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relationships[]: lookup / master-detail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objectsTouched[], dmlOperations[], soqlQueries[]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releaseId, environment, componentsDeployed[]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5 · Graph Storage (JSON)</a:t>
            </a:r>
            <a:endParaRPr lang="en-US" sz="881"/>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"version":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"applicationName": "NETWORK_SERVICES",</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"snapshotId": "b7f1c2e4-...",</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"exportedAt": "2026-09-09T14:30:00Z",</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"nodes":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"sobj:HealthcareFacility__c",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"name": "Healthcare Facility",</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"properties":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"fieldCount": 148, "automationCount": 12,</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"testCoverage": 81, "riskTier": "HIGH"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"sourceType": "SALESFORCE_METADATA",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"artifactId": "01I5f000000XyZa",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"artifactPath": "objects/...object-meta.xml",</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"artifactHash": "sha256:9f2b...c41d",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"retrievedAt": "2026-09-09T14:28:11Z"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"provenance": { "createdBy": "ai-read-service",</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"derivationMethod": "AUTOMATED"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"relationships":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"rel:flow-HFN_Gen-&gt;sobj-HFN__c",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"FLOW_UPDATES_SOBJECT",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"fromNodeId": "flow:HFN_Generation",</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"toNodeId": "sobj:HFN__c",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"origin": "FACTUAL", "status": "APPROVED",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"confidence":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"metadata": { "operation": "UPDATE"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6 · Graph Exporter</a:t>
            </a:r>
            <a:endParaRPr lang="en-US" sz="881"/>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Node types</a:t>
            </a:r>
            <a:endParaRPr lang="en-US" sz="783"/>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APPLICATION · BUSINESS_CAPABILITY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(Jira)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 · FIELD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 APEX_CLASS · APEX_TRIGGER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VALIDATION_RULE · LWC_COMPONENT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TEST_CASE · REPOSITORY · COMPONENT_FILE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 · ENVIRONMENT · INTEGRATION_EVENT</a:t>
            </a:r>
            <a:endParaRPr lang="en-US" sz="686"/>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REQUIREMENT_TARGETS_CAPABILITY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REQUIREMENT_SPECIFIED_BY_DOCUMENT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RULE_CONSTRAINS_SOBJECT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TRIGGER_FIRES_ON_SOBJECT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COMPONENT_DEPENDS_ON_COMPONENT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TEST_COVERS_COMPONENT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REQUIREMENT_IMPLEMENTED_BY_COMPONENT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RELEASE_DEPLOYS_COMPONENT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COMPONENT_PUBLISHES_EVENT (→ APDH)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REQUIREMENT_REUSES_COMPONENT (inferred)</a:t>
            </a:r>
            <a:endParaRPr lang="en-US" sz="686"/>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All metadata from the domain contexts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Source references with exact locations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Confidence: 1.0 factual, &lt; 1.0 inferred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Risk tier on components and integrations</a:t>
            </a:r>
            <a:endParaRPr lang="en-US" sz="686"/>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Today every pod carries its own full delivery stack. With , lean pods share one agent platform that runs on one set of Ascension standards, around the clock.</a:t>
            </a:r>
            <a:endParaRPr lang="en-US" sz="995"/>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a:solidFill>
                  <a:srgbClr val="595959"/>
                </a:solidFill>
                <a:latin typeface="Trenda IG Text" pitchFamily="34" charset="0"/>
                <a:ea typeface="Trenda IG Text" pitchFamily="34" charset="-122"/>
                <a:cs typeface="Trenda IG Text" pitchFamily="34" charset="-120"/>
              </a:rPr>
              <a:t>TODAY</a:t>
            </a:r>
            <a:endParaRPr lang="en-US" sz="758"/>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a:solidFill>
                  <a:srgbClr val="00273B"/>
                </a:solidFill>
                <a:latin typeface="Trenda IG Text" pitchFamily="34" charset="0"/>
                <a:ea typeface="Trenda IG Text" pitchFamily="34" charset="-122"/>
                <a:cs typeface="Trenda IG Text" pitchFamily="34" charset="-120"/>
              </a:rPr>
              <a:t>WITH </a:t>
            </a:r>
            <a:endParaRPr lang="en-US" sz="758"/>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Productivity</a:t>
            </a:r>
            <a:endParaRPr lang="en-US" sz="90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Developer</a:t>
            </a:r>
            <a:endParaRPr lang="en-US" sz="644"/>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Scalability</a:t>
            </a:r>
            <a:endParaRPr lang="en-US" sz="90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Knowledge graph</a:t>
            </a:r>
            <a:endParaRPr lang="en-US" sz="644"/>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Best practice</a:t>
            </a:r>
            <a:endParaRPr lang="en-US" sz="90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Security</a:t>
            </a:r>
            <a:endParaRPr lang="en-US" sz="90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Tech debt</a:t>
            </a:r>
            <a:endParaRPr lang="en-US" sz="90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Architect · Developer</a:t>
            </a:r>
            <a:endParaRPr lang="en-US" sz="644"/>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Run &amp; support</a:t>
            </a:r>
            <a:endParaRPr lang="en-US" sz="90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graph</a:t>
            </a:r>
            <a:endParaRPr lang="en-US" sz="644"/>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Operating model shift</a:t>
            </a:r>
            <a:endParaRPr lang="en-US" sz="948"/>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a:solidFill>
                  <a:srgbClr val="595959"/>
                </a:solidFill>
                <a:latin typeface="Trenda IG Text" pitchFamily="34" charset="0"/>
                <a:ea typeface="Trenda IG Text" pitchFamily="34" charset="-122"/>
                <a:cs typeface="Trenda IG Text" pitchFamily="34" charset="-120"/>
              </a:rPr>
              <a:t>TODAY · EVERY POD, FULL STACK</a:t>
            </a:r>
            <a:endParaRPr lang="en-US" sz="663"/>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A</a:t>
            </a:r>
            <a:endParaRPr lang="en-US" sz="711"/>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B</a:t>
            </a:r>
            <a:endParaRPr lang="en-US" sz="711"/>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C</a:t>
            </a:r>
            <a:endParaRPr lang="en-US" sz="711"/>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a:solidFill>
                  <a:srgbClr val="00273B"/>
                </a:solidFill>
                <a:latin typeface="Trenda IG Text" pitchFamily="34" charset="0"/>
                <a:ea typeface="Trenda IG Text" pitchFamily="34" charset="-122"/>
                <a:cs typeface="Trenda IG Text" pitchFamily="34" charset="-120"/>
              </a:rPr>
              <a:t>WITH  · LEAN PODS ON ONE PLATFORM</a:t>
            </a:r>
            <a:endParaRPr lang="en-US" sz="663"/>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A</a:t>
            </a:r>
            <a:endParaRPr lang="en-US" sz="711"/>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B</a:t>
            </a:r>
            <a:endParaRPr lang="en-US" sz="711"/>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C</a:t>
            </a:r>
            <a:endParaRPr lang="en-US" sz="711"/>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Shared  platform: 7 agents · knowledge graph · standards</a:t>
            </a:r>
            <a:endParaRPr lang="en-US" sz="72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a:solidFill>
                  <a:srgbClr val="FF0069"/>
                </a:solidFill>
                <a:latin typeface="Trenda IG Text" pitchFamily="34" charset="0"/>
                <a:ea typeface="Trenda IG Text" pitchFamily="34" charset="-122"/>
                <a:cs typeface="Trenda IG Text" pitchFamily="34" charset="-120"/>
              </a:rPr>
              <a:t>THE BOLD VERSION</a:t>
            </a:r>
            <a:endParaRPr lang="en-US" sz="644"/>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a:solidFill>
                  <a:srgbClr val="000000"/>
                </a:solidFill>
                <a:latin typeface="Trenda IG Text" pitchFamily="34" charset="0"/>
                <a:ea typeface="Trenda IG Text" pitchFamily="34" charset="-122"/>
                <a:cs typeface="Trenda IG Text" pitchFamily="34" charset="-120"/>
              </a:rPr>
              <a:t>A new pod goes live on  in 2 weeks, not 2 months: connect its sources to the graph and switch on the agents.</a:t>
            </a:r>
            <a:endParaRPr lang="en-US" sz="72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~20 h</a:t>
            </a:r>
            <a:endParaRPr lang="en-US" sz="1611"/>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delivery per day</a:t>
            </a:r>
            <a:endParaRPr lang="en-US" sz="787"/>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 week</a:t>
            </a:r>
            <a:endParaRPr lang="en-US" sz="1611"/>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productive</a:t>
            </a:r>
            <a:endParaRPr lang="en-US" sz="787"/>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New engineer, down from 4-6 weeks</a:t>
            </a:r>
            <a:endParaRPr lang="en-US" sz="692"/>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a:t>
            </a:r>
            <a:endParaRPr lang="en-US" sz="787"/>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Same standards, every pod, every change</a:t>
            </a:r>
            <a:endParaRPr lang="en-US" sz="692"/>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-50%</a:t>
            </a:r>
            <a:endParaRPr lang="en-US" sz="1611"/>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incident triage time</a:t>
            </a:r>
            <a:endParaRPr lang="en-US" sz="787"/>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Graph shows component, pod, last change</a:t>
            </a:r>
            <a:endParaRPr lang="en-US" sz="692"/>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The extra piece  adds: a dedicated Change Guardian Agent that sits across every pod, between each change and the shared org. Nothing reaches the org without passing it.</a:t>
            </a:r>
            <a:endParaRPr lang="en-US" sz="995"/>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Today · changes judged in isolation</a:t>
            </a:r>
            <a:endParaRPr lang="en-US" sz="948"/>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Network Svcs</a:t>
            </a:r>
            <a:endParaRPr lang="en-US" sz="597"/>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Clinical Transf.</a:t>
            </a:r>
            <a:endParaRPr lang="en-US" sz="597"/>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Contact Center</a:t>
            </a:r>
            <a:endParaRPr lang="en-US" sz="597"/>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ARx</a:t>
            </a:r>
            <a:endParaRPr lang="en-US" sz="597"/>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Member</a:t>
            </a:r>
            <a:endParaRPr lang="en-US" sz="597"/>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Service Rec.</a:t>
            </a:r>
            <a:endParaRPr lang="en-US" sz="597"/>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a:solidFill>
                  <a:srgbClr val="000000"/>
                </a:solidFill>
                <a:latin typeface="Trenda IG Text" pitchFamily="34" charset="0"/>
                <a:ea typeface="Trenda IG Text" pitchFamily="34" charset="-122"/>
                <a:cs typeface="Trenda IG Text" pitchFamily="34" charset="-120"/>
              </a:rPr>
              <a:t>Shared org</a:t>
            </a:r>
            <a:endParaRPr lang="en-US" sz="616"/>
          </a:p>
          <a:p>
            <a:pPr marL="0" indent="0" algn="ctr">
              <a:buNone/>
            </a:pPr>
            <a:r>
              <a:rPr lang="en-US" sz="616" b="1">
                <a:solidFill>
                  <a:srgbClr val="000000"/>
                </a:solidFill>
                <a:latin typeface="Trenda IG Text" pitchFamily="34" charset="0"/>
                <a:ea typeface="Trenda IG Text" pitchFamily="34" charset="-122"/>
                <a:cs typeface="Trenda IG Text" pitchFamily="34" charset="-120"/>
              </a:rPr>
              <a:t>Account · common Apex · flows</a:t>
            </a:r>
            <a:endParaRPr lang="en-US" sz="616"/>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a:solidFill>
                  <a:srgbClr val="FFFFFF"/>
                </a:solidFill>
                <a:latin typeface="Trenda IG Text" pitchFamily="34" charset="0"/>
                <a:ea typeface="Trenda IG Text" pitchFamily="34" charset="-122"/>
                <a:cs typeface="Trenda IG Text" pitchFamily="34" charset="-120"/>
              </a:rPr>
              <a:t>Pod change</a:t>
            </a:r>
            <a:endParaRPr lang="en-US" sz="644"/>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a:solidFill>
                  <a:srgbClr val="FF0069"/>
                </a:solidFill>
                <a:latin typeface="Trenda IG Text" pitchFamily="34" charset="0"/>
                <a:ea typeface="Trenda IG Text" pitchFamily="34" charset="-122"/>
                <a:cs typeface="Trenda IG Text" pitchFamily="34" charset="-120"/>
              </a:rPr>
              <a:t>NEW</a:t>
            </a:r>
            <a:endParaRPr lang="en-US" sz="711"/>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HOW IT DECIDES</a:t>
            </a:r>
            <a:endParaRPr lang="en-US" sz="663"/>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The change</a:t>
            </a:r>
            <a:endParaRPr lang="en-US" sz="72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Code diff and metadata from the commit</a:t>
            </a:r>
            <a:endParaRPr lang="en-US" sz="626"/>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Ownership map</a:t>
            </a:r>
            <a:endParaRPr lang="en-US" sz="72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Who owns and who uses each component</a:t>
            </a:r>
            <a:endParaRPr lang="en-US" sz="626"/>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Guardrail rulebook</a:t>
            </a:r>
            <a:endParaRPr lang="en-US" sz="72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Ascension rules, written as code</a:t>
            </a:r>
            <a:endParaRPr lang="en-US" sz="626"/>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a:solidFill>
                  <a:srgbClr val="FFFFFF"/>
                </a:solidFill>
                <a:latin typeface="Trenda IG Text" pitchFamily="34" charset="0"/>
                <a:ea typeface="Trenda IG Text" pitchFamily="34" charset="-122"/>
                <a:cs typeface="Trenda IG Text" pitchFamily="34" charset="-120"/>
              </a:rPr>
              <a:t>Change Guardian Agent</a:t>
            </a:r>
            <a:endParaRPr lang="en-US" sz="90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PASS</a:t>
            </a:r>
            <a:endParaRPr lang="en-US" sz="72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Moves on with its change passport</a:t>
            </a:r>
            <a:endParaRPr lang="en-US" sz="663"/>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NEEDS APPROVAL</a:t>
            </a:r>
            <a:endParaRPr lang="en-US" sz="72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Affected pod leads must sign first</a:t>
            </a:r>
            <a:endParaRPr lang="en-US" sz="663"/>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a:solidFill>
                  <a:srgbClr val="FF0069"/>
                </a:solidFill>
                <a:latin typeface="Trenda IG Text" pitchFamily="34" charset="0"/>
                <a:ea typeface="Trenda IG Text" pitchFamily="34" charset="-122"/>
                <a:cs typeface="Trenda IG Text" pitchFamily="34" charset="-120"/>
              </a:rPr>
              <a:t>BLOCK + FIX</a:t>
            </a:r>
            <a:endParaRPr lang="en-US" sz="72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1</a:t>
            </a:r>
            <a:endParaRPr lang="en-US" sz="758"/>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Story intake</a:t>
            </a:r>
            <a:endParaRPr lang="en-US" sz="777"/>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build</a:t>
            </a:r>
            <a:endParaRPr lang="en-US" sz="626"/>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2</a:t>
            </a:r>
            <a:endParaRPr lang="en-US" sz="758"/>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Every commit</a:t>
            </a:r>
            <a:endParaRPr lang="en-US" sz="777"/>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merge</a:t>
            </a:r>
            <a:endParaRPr lang="en-US" sz="626"/>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3</a:t>
            </a:r>
            <a:endParaRPr lang="en-US" sz="758"/>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Copado promotion</a:t>
            </a:r>
            <a:endParaRPr lang="en-US" sz="777"/>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SIT / UAT</a:t>
            </a:r>
            <a:endParaRPr lang="en-US" sz="626"/>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a:t>
            </a:r>
            <a:endParaRPr lang="en-US" sz="758"/>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Always on</a:t>
            </a:r>
            <a:endParaRPr lang="en-US" sz="777"/>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a:solidFill>
                  <a:srgbClr val="00273B"/>
                </a:solidFill>
                <a:latin typeface="Trenda IG Text" pitchFamily="34" charset="0"/>
                <a:ea typeface="Trenda IG Text" pitchFamily="34" charset="-122"/>
                <a:cs typeface="Trenda IG Text" pitchFamily="34" charset="-120"/>
              </a:rPr>
              <a:t>Every night</a:t>
            </a:r>
            <a:endParaRPr lang="en-US" sz="626"/>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Hardcoded IDs, or SOQL / DML inside loops</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a:solidFill>
                  <a:srgbClr val="FF0069"/>
                </a:solidFill>
                <a:latin typeface="Trenda IG Text" pitchFamily="34" charset="0"/>
                <a:ea typeface="Trenda IG Text" pitchFamily="34" charset="-122"/>
                <a:cs typeface="Trenda IG Text" pitchFamily="34" charset="-120"/>
              </a:rPr>
              <a:t>THE BOLD VERSION</a:t>
            </a:r>
            <a:endParaRPr lang="en-US" sz="626"/>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Pre-build</a:t>
            </a:r>
            <a:endParaRPr lang="en-US" sz="1611"/>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cross-pod impact known</a:t>
            </a:r>
            <a:endParaRPr lang="en-US" sz="787"/>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Instead of in another pod’s UAT</a:t>
            </a:r>
            <a:endParaRPr lang="en-US" sz="692"/>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 by the Guardian</a:t>
            </a:r>
            <a:endParaRPr lang="en-US" sz="787"/>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At intake, commit and promotion</a:t>
            </a:r>
            <a:endParaRPr lang="en-US" sz="692"/>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&lt; 24 h</a:t>
            </a:r>
            <a:endParaRPr lang="en-US" sz="1611"/>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catch out-of-pipeline edits</a:t>
            </a:r>
            <a:endParaRPr lang="en-US" sz="787"/>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Nightly drift watch on every org</a:t>
            </a:r>
            <a:endParaRPr lang="en-US" sz="692"/>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Minutes</a:t>
            </a:r>
            <a:endParaRPr lang="en-US" sz="1611"/>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assemble CAB evidence</a:t>
            </a:r>
            <a:endParaRPr lang="en-US" sz="787"/>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Change passport, not manual collation</a:t>
            </a:r>
            <a:endParaRPr lang="en-US" sz="692"/>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7 · Semantica ContextGraph</a:t>
            </a:r>
            <a:endParaRPr lang="en-US" sz="881"/>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In-memory directed property graph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Nodes with types and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Edges with types, weights, metadata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Adjacency indexes per edge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O(1) node access; type indexes</a:t>
            </a:r>
            <a:endParaRPr lang="en-US" sz="734"/>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add_node(id, type,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add_edge(src, tgt, type, weight, ...)</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find_node(node_id) · has_node(node_id)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find_nodes(node_type=...)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find_edges(edge_type=...)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retract (temporal removal)</a:t>
            </a:r>
            <a:endParaRPr lang="en-US" sz="734"/>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Bi-directional provenance chains</a:t>
            </a:r>
            <a:endParaRPr lang="en-US" sz="734"/>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8 · Adapter API + Codex</a:t>
            </a:r>
            <a:endParaRPr lang="en-US" sz="881"/>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load_from_json(path) → stats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get_node(node_id) → Node | None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get_nodes_by_type(type) → List[Node]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get_outgoing_edges(node_id,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get_incoming_edges(node_id,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get_neighbors(node_id, max_hops, dir)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find_path(from_id, to_id, max_hops)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get_graph_stats() → Dict</a:t>
            </a:r>
            <a:endParaRPr lang="en-US" sz="734"/>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find_reuse(capability_id) → List[Component]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trace_downstream_events(component_id)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coverage_report(component_ids)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build_context_slice(requirement_id)</a:t>
            </a:r>
            <a:endParaRPr lang="en-US" sz="734"/>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jira.read · copado.status</a:t>
            </a:r>
            <a:endParaRPr lang="en-US" sz="734"/>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Where it runs · Google Cloud</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How it deploys on Google Cloud</a:t>
            </a:r>
            <a:endParaRPr lang="en-US" sz="881"/>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Ingestion</a:t>
            </a:r>
            <a:endParaRPr lang="en-US" sz="783"/>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Scales to zero between syncs and queries</a:t>
            </a:r>
            <a:endParaRPr lang="en-US" sz="734"/>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Networking</a:t>
            </a:r>
            <a:endParaRPr lang="en-US" sz="783"/>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Why Google Cloud for this client</a:t>
            </a:r>
            <a:endParaRPr lang="en-US" sz="881"/>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IAM model to review rather than two</a:t>
            </a:r>
            <a:endParaRPr lang="en-US" sz="734"/>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Scope note</a:t>
            </a:r>
            <a:endParaRPr lang="en-US" sz="783"/>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Alternatives</a:t>
            </a:r>
            <a:endParaRPr lang="en-US" sz="881"/>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S3 replaces one box, the snapshot store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The Engineering Context Knowledge Graph</a:t>
            </a:r>
            <a:endParaRPr lang="en-US" sz="1959"/>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What goes in</a:t>
            </a:r>
            <a:endParaRPr lang="en-US" sz="93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Jira</a:t>
            </a:r>
            <a:endParaRPr lang="en-US" sz="832"/>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Confluence</a:t>
            </a:r>
            <a:endParaRPr lang="en-US" sz="832"/>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Salesforce</a:t>
            </a:r>
            <a:endParaRPr lang="en-US" sz="832"/>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Git</a:t>
            </a:r>
            <a:endParaRPr lang="en-US" sz="832"/>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Copado</a:t>
            </a:r>
            <a:endParaRPr lang="en-US" sz="832"/>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Google Drive</a:t>
            </a:r>
            <a:endParaRPr lang="en-US" sz="832"/>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Requirement</a:t>
            </a:r>
            <a:endParaRPr lang="en-US" sz="686"/>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Test, robotic</a:t>
            </a:r>
            <a:endParaRPr lang="en-US" sz="686"/>
          </a:p>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Context</a:t>
            </a:r>
            <a:endParaRPr lang="en-US" sz="930"/>
          </a:p>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Graph</a:t>
            </a:r>
            <a:endParaRPr lang="en-US" sz="93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a:solidFill>
                  <a:srgbClr val="000000"/>
                </a:solidFill>
                <a:latin typeface="Trenda IG Text" pitchFamily="34" charset="0"/>
                <a:ea typeface="Trenda IG Text" pitchFamily="34" charset="-122"/>
                <a:cs typeface="Trenda IG Text" pitchFamily="34" charset="-120"/>
              </a:rPr>
              <a:t>How Codex uses it</a:t>
            </a:r>
            <a:endParaRPr lang="en-US" sz="93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analyze_impact("req:NS-1234")</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find_reuse("cap:network-participation")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blast_radius("sobj:HPF__c", hops=3)</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trace_downstream_events("apex:HFNGen")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get_provenance("rule:hfn-active-hpf")</a:t>
            </a:r>
            <a:endParaRPr lang="en-US" sz="627"/>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Business capability affected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Objects, fields and automation touched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Existing implementation to reuse</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Covering robotic &amp; regression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Downstream APDH publishing impact</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Risk tier and the approver it routes to</a:t>
            </a:r>
            <a:endParaRPr lang="en-US" sz="705"/>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Apex, Flows, validation rules, metadata</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LWC config and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DEV + branch only, after human approval</a:t>
            </a:r>
            <a:endParaRPr lang="en-US" sz="705"/>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659914"/>
            <a:ext cx="5513832" cy="100027"/>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tIns="0" r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00027"/>
          </a:xfrm>
          <a:prstGeom prst="rect">
            <a:avLst/>
          </a:prstGeom>
          <a:noFill/>
        </p:spPr>
        <p:txBody>
          <a:bodyPr wrap="square" lIns="0" tIns="0" rIns="0" bIns="0" anchor="t">
            <a:spAutoFit/>
          </a:bodyPr>
          <a:lstStyle/>
          <a:p>
            <a:r>
              <a:rPr sz="650" b="0" i="0">
                <a:solidFill>
                  <a:srgbClr val="000000"/>
                </a:solidFill>
                <a:latin typeface="Trenda IG Text"/>
              </a:rPr>
              <a:t>Nightly drift watch flags edits 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a:solidFill>
                  <a:srgbClr val="FFFFFF"/>
                </a:solidFill>
                <a:latin typeface="Trenda IG Text" pitchFamily="34" charset="0"/>
                <a:ea typeface="Trenda IG Text" pitchFamily="34" charset="-122"/>
                <a:cs typeface="Trenda IG Text" pitchFamily="34" charset="-120"/>
              </a:rPr>
              <a:t>ASCENSION NETWORK SERVICES</a:t>
            </a:r>
            <a:endParaRPr lang="en-US" sz="1251"/>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Jira</a:t>
            </a:r>
            <a:endParaRPr lang="en-US" sz="818"/>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Requirements, acceptance criteria, history</a:t>
            </a:r>
            <a:endParaRPr lang="en-US" sz="626"/>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Confluence</a:t>
            </a:r>
            <a:endParaRPr lang="en-US" sz="818"/>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Salesforce</a:t>
            </a:r>
            <a:endParaRPr lang="en-US" sz="818"/>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Objects, fields, Flows, Apex dependencies</a:t>
            </a:r>
            <a:endParaRPr lang="en-US" sz="626"/>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Git</a:t>
            </a:r>
            <a:endParaRPr lang="en-US" sz="818"/>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Apex, LWC, metadata, unit tests</a:t>
            </a:r>
            <a:endParaRPr lang="en-US" sz="626"/>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Copado</a:t>
            </a:r>
            <a:endParaRPr lang="en-US" sz="818"/>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Releases, robotic &amp; regression testing</a:t>
            </a:r>
            <a:endParaRPr lang="en-US" sz="626"/>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Google Drive</a:t>
            </a:r>
            <a:endParaRPr lang="en-US" sz="818"/>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Specs, mapping sheets, evidence exports</a:t>
            </a:r>
            <a:endParaRPr lang="en-US" sz="626"/>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a:solidFill>
                  <a:srgbClr val="000000"/>
                </a:solidFill>
                <a:latin typeface="Trenda IG Text" pitchFamily="34" charset="0"/>
                <a:ea typeface="Trenda IG Text" pitchFamily="34" charset="-122"/>
                <a:cs typeface="Trenda IG Text" pitchFamily="34" charset="-120"/>
              </a:rPr>
              <a:t>CODEX</a:t>
            </a:r>
            <a:endParaRPr lang="en-US" sz="1059"/>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a:solidFill>
                  <a:srgbClr val="000000"/>
                </a:solidFill>
                <a:latin typeface="Trenda IG Text" pitchFamily="34" charset="0"/>
                <a:ea typeface="Trenda IG Text" pitchFamily="34" charset="-122"/>
                <a:cs typeface="Trenda IG Text" pitchFamily="34" charset="-120"/>
              </a:rPr>
              <a:t>AI reasoning layer · the way people ask</a:t>
            </a:r>
            <a:endParaRPr lang="en-US" sz="626"/>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Requirement understanding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Architecture reasoning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detection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classification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Build orchestration</a:t>
            </a:r>
            <a:endParaRPr lang="en-US" sz="722"/>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a:solidFill>
                  <a:srgbClr val="595959"/>
                </a:solidFill>
                <a:latin typeface="Trenda IG Text Semibold" pitchFamily="34" charset="0"/>
                <a:ea typeface="Trenda IG Text Semibold" pitchFamily="34" charset="-122"/>
                <a:cs typeface="Trenda IG Text Semibold" pitchFamily="34" charset="-120"/>
              </a:rPr>
              <a:t>question</a:t>
            </a:r>
            <a:endParaRPr lang="en-US" sz="577"/>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a:solidFill>
                  <a:srgbClr val="00273B"/>
                </a:solidFill>
                <a:latin typeface="Trenda IG Text" pitchFamily="34" charset="0"/>
                <a:ea typeface="Trenda IG Text" pitchFamily="34" charset="-122"/>
                <a:cs typeface="Trenda IG Text" pitchFamily="34" charset="-120"/>
              </a:rPr>
              <a:t>ENGINEERING CONTEXT KNOWLEDGE GRAPH</a:t>
            </a:r>
            <a:endParaRPr lang="en-US" sz="1059"/>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Business capability</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Requirement (Jira)</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Design doc &amp; business rule</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sObject + fields</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Flow / Apex / trigger / VR</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Test, robotic &amp; regression</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Release &amp; environment</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APDH integration event</a:t>
            </a:r>
            <a:endParaRPr lang="en-US" sz="674"/>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REQUIREMENT_TARGETS_CAPABILITY</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RULE_CONSTRAINS_SOBJECT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SOBJECT_HAS_FIELD</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FLOW_UPDATES_SOBJECT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APEX_REFERENCES_SOBJECT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TEST_COVERS_COMPONENT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RELEASE_DEPLOYS_COMPONENT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COMPONENT_PUBLISHES_EVENT</a:t>
            </a:r>
            <a:endParaRPr lang="en-US" sz="616"/>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a:solidFill>
                  <a:srgbClr val="000000"/>
                </a:solidFill>
                <a:latin typeface="Trenda IG Text" pitchFamily="34" charset="0"/>
                <a:ea typeface="Trenda IG Text" pitchFamily="34" charset="-122"/>
                <a:cs typeface="Trenda IG Text" pitchFamily="34" charset="-120"/>
              </a:rPr>
              <a:t>GOVERNED OUTPUT</a:t>
            </a:r>
            <a:endParaRPr lang="en-US" sz="962"/>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recommendation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Change plan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Generated Apex, Flows, VRs, tests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tier + required approver</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Audit evidence</a:t>
            </a:r>
            <a:endParaRPr lang="en-US" sz="722"/>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No back-write to Salesforce</a:t>
            </a:r>
            <a:endParaRPr lang="en-US" sz="674"/>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a:solidFill>
                  <a:srgbClr val="FFFFFF"/>
                </a:solidFill>
                <a:latin typeface="Trenda IG Text" pitchFamily="34" charset="0"/>
                <a:ea typeface="Trenda IG Text" pitchFamily="34" charset="-122"/>
                <a:cs typeface="Trenda IG Text" pitchFamily="34" charset="-120"/>
              </a:rPr>
              <a:t>ASCENSION NETWORK SERVICES</a:t>
            </a:r>
            <a:endParaRPr lang="en-US" sz="1073"/>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Jira</a:t>
            </a:r>
            <a:endParaRPr lang="en-US" sz="541"/>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Confluence</a:t>
            </a:r>
            <a:endParaRPr lang="en-US" sz="541"/>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Salesforce</a:t>
            </a:r>
            <a:endParaRPr lang="en-US" sz="541"/>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Git</a:t>
            </a:r>
            <a:endParaRPr lang="en-US" sz="541"/>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Copado</a:t>
            </a:r>
            <a:endParaRPr lang="en-US" sz="541"/>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Drive</a:t>
            </a:r>
            <a:endParaRPr lang="en-US" sz="541"/>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read-only · hashed · provenance-tagged</a:t>
            </a:r>
            <a:endParaRPr lang="en-US" sz="56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1</a:t>
            </a:r>
            <a:endParaRPr lang="en-US" sz="522"/>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Authoritative systems of record</a:t>
            </a:r>
            <a:endParaRPr lang="en-US" sz="485"/>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 Cloud</a:t>
            </a:r>
            <a:endParaRPr lang="en-US" sz="578"/>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 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Epics, components, labels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Kanban &amp; sprint history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Linked issues &amp; defects</a:t>
            </a:r>
            <a:endParaRPr lang="en-US" sz="513"/>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a:t>
            </a:r>
            <a:endParaRPr lang="en-US" sz="578"/>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Functional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Technical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tables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 diagrams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HFN / HPF runbooks</a:t>
            </a:r>
            <a:endParaRPr lang="en-US" sz="513"/>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a:t>
            </a:r>
            <a:endParaRPr lang="en-US" sz="578"/>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Health Cloud org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HCP / Account, Facility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HPF, HFN, CPA, Fee Sched.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record types, rels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Flows, Apex, LWC, perm sets</a:t>
            </a:r>
            <a:endParaRPr lang="en-US" sz="513"/>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force-app source tree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classes &amp; triggers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bundles &amp; meta XML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test classes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Commits, branches, tags</a:t>
            </a:r>
            <a:endParaRPr lang="en-US" sz="513"/>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a:t>
            </a:r>
            <a:endParaRPr lang="en-US" sz="578"/>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 &amp; promotions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testing suites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test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DEV → SIT → UAT → PROD</a:t>
            </a:r>
            <a:endParaRPr lang="en-US" sz="513"/>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 Drive</a:t>
            </a:r>
            <a:endParaRPr lang="en-US" sz="578"/>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Shared delivery documents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&amp; mapping sheets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Evidence exports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Decision &amp; meeting notes</a:t>
            </a:r>
            <a:endParaRPr lang="en-US" sz="513"/>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2</a:t>
            </a:r>
            <a:endParaRPr lang="en-US" sz="522"/>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AI Read Service · read-only</a:t>
            </a:r>
            <a:endParaRPr lang="en-US" sz="485"/>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(3LO) / API token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scopes only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JQL delta pull (lastSyncAt)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Paging, 429 backoff</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per issue payload</a:t>
            </a:r>
            <a:endParaRPr lang="en-US" sz="513"/>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PAT / API token auth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Space + label scoped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HTML via body.storage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 + lastUpdated delta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Rate limited · SHA-256</a:t>
            </a:r>
            <a:endParaRPr lang="en-US" sz="513"/>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App JWT bearer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perm set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record-data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Tooling + Metadata API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MetadataComponentDep.</a:t>
            </a:r>
            <a:endParaRPr lang="en-US" sz="513"/>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SSH deploy key / read PAT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Shallow clone + fetch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Branch &amp; tag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 SHA, author, date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Per-file SHA-256, no push</a:t>
            </a:r>
            <a:endParaRPr lang="en-US" sz="513"/>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client creds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API user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Stories + promotions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 regression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 per env</a:t>
            </a:r>
            <a:endParaRPr lang="en-US" sz="513"/>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service account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Drive API v3, shared drive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files.list + files.export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 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Change-token delta sync</a:t>
            </a:r>
            <a:endParaRPr lang="en-US" sz="513"/>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3</a:t>
            </a:r>
            <a:endParaRPr lang="en-US" sz="522"/>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Ingestors</a:t>
            </a:r>
            <a:endParaRPr lang="en-US" sz="746"/>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Parse → domain model</a:t>
            </a:r>
            <a:endParaRPr lang="en-US" sz="485"/>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ADF JSON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Given / When / Then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Capability tagging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key + hash</a:t>
            </a:r>
            <a:endParaRPr lang="en-US" sz="513"/>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Jsoup HTML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H1–H4</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headers, rows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sentences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version</a:t>
            </a:r>
            <a:endParaRPr lang="en-US" sz="513"/>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describe() → objects, fields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XML: elements, rules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SOQL, DML, sObjects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 rule formulas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Dependency API → edges</a:t>
            </a:r>
            <a:endParaRPr lang="en-US" sz="513"/>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Git → Code</a:t>
            </a:r>
            <a:endParaRPr lang="en-US" sz="578"/>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SFDX source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parsing (@isTest)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 → covered class map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 meta XML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path + commit</a:t>
            </a:r>
            <a:endParaRPr lang="en-US" sz="513"/>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Story → component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Promotion &amp; deployment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 → 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 evidence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 / stage map</a:t>
            </a:r>
            <a:endParaRPr lang="en-US" sz="513"/>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text 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Sheet table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 capability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 parse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 revision</a:t>
            </a:r>
            <a:endParaRPr lang="en-US" sz="513"/>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4</a:t>
            </a:r>
            <a:endParaRPr lang="en-US" sz="522"/>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Domain Model</a:t>
            </a:r>
            <a:endParaRPr lang="en-US" sz="746"/>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NetworkServicesContext</a:t>
            </a:r>
            <a:endParaRPr lang="en-US" sz="485"/>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Root object</a:t>
            </a:r>
            <a:endParaRPr lang="en-US" sz="578"/>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applicationVersion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createdAt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snapshotId (UUID per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a:t>
            </a:r>
            <a:endParaRPr lang="en-US" sz="513"/>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requirements[]</a:t>
            </a:r>
            <a:endParaRPr lang="en-US" sz="578"/>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requirementId (Jira key)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title, summary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businessCapability, status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priority, riskTier, links</a:t>
            </a:r>
            <a:endParaRPr lang="en-US" sz="513"/>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documents[]</a:t>
            </a:r>
            <a:endParaRPr lang="en-US" sz="578"/>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documentId (page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heading, level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links[]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businessRules[]: ruleText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objectsReferenced[], hash</a:t>
            </a:r>
            <a:endParaRPr lang="en-US" sz="513"/>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objectApiName, label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recordTypes[]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type, formula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relationships[]: lookup, M-D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sharingModel, permSets[]</a:t>
            </a:r>
            <a:endParaRPr lang="en-US" sz="513"/>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automations[]</a:t>
            </a:r>
            <a:endParaRPr lang="en-US" sz="578"/>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componentId, apiName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 APEX | TRIGGER | VR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objectsTouched[]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dmlOperations, soqlQueries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testCoverage · riskTier</a:t>
            </a:r>
            <a:endParaRPr lang="en-US" sz="513"/>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testAssets[]: robotic + regr.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assertions[], evidenceUri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releases[]: env,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integrations[]: APDH 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 → Queueable → Pub/Sub</a:t>
            </a:r>
            <a:endParaRPr lang="en-US" sz="513"/>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5</a:t>
            </a:r>
            <a:endParaRPr lang="en-US" sz="522"/>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Neutral JSON contract</a:t>
            </a:r>
            <a:endParaRPr lang="en-US" sz="485"/>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"snapshotId": "b7f1c2e4",</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"nodes":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"id": "</a:t>
            </a:r>
            <a:r>
              <a:rPr lang="en-US" sz="504" err="1">
                <a:solidFill>
                  <a:srgbClr val="000000"/>
                </a:solidFill>
                <a:latin typeface="Courier New" pitchFamily="34" charset="0"/>
                <a:ea typeface="Courier New" pitchFamily="34" charset="-122"/>
                <a:cs typeface="Courier New" pitchFamily="34" charset="-120"/>
              </a:rPr>
              <a:t>sobj:HFN</a:t>
            </a:r>
            <a:r>
              <a:rPr lang="en-US" sz="504">
                <a:solidFill>
                  <a:srgbClr val="000000"/>
                </a:solidFill>
                <a:latin typeface="Courier New" pitchFamily="34" charset="0"/>
                <a:ea typeface="Courier New" pitchFamily="34" charset="-122"/>
                <a:cs typeface="Courier New" pitchFamily="34" charset="-120"/>
              </a:rPr>
              <a:t>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 "SOBJECT",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"properties":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"fieldCount": 148,</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"testCoverage": 81,</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"riskTier": "HIGH"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"sourceReferences":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"artifactPath":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"objects/HFN__c.xml",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"artifactHash":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"sha256:9f2b...c41d"}]}],</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"relationships":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"FLOW_UPDATES_SOBJECT",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"from": "flow:HFN_Gen",</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"to": "sobj:HFN__c",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"origin": "FACTUAL",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"confidence": 1.0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node with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typed relationship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on each element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source references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One snapshot per sync run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Vendor-neutral, portable</a:t>
            </a:r>
            <a:endParaRPr lang="en-US" sz="513"/>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Rebuilt on each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Never written back to source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Versioned per snapshotId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change detection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 + sanitized 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Encrypted at rest</a:t>
            </a:r>
            <a:endParaRPr lang="en-US" sz="513"/>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6</a:t>
            </a:r>
            <a:endParaRPr lang="en-US" sz="522"/>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Context → graph export</a:t>
            </a:r>
            <a:endParaRPr lang="en-US" sz="485"/>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Node types</a:t>
            </a:r>
            <a:endParaRPr lang="en-US" sz="578"/>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DESIGN_DOCUMENT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APEX_CLASS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APEX_TRIGGER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REPOSITORY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INTEGRATION_EVENT</a:t>
            </a:r>
            <a:endParaRPr lang="en-US" sz="513"/>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REQ_TARGETS_CAPABILITY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REQ_SPECIFIED_BY_DOC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DOCUMENT_HAS_SECTION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SECTION_DEFINES_RULE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RULE_CONSTRAINS_SOBJECT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SOBJECT_HAS_FIELD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SOBJECT_RELATES_TO_SOBJ</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FLOW_UPDATES_SOBJECT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APEX_REFERENCES_SOBJECT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TRIGGER_FIRES_ON_SOBJECT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COMP_DEPENDS_ON_COMP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TEST_COVERS_COMPONENT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REQ_IMPLEMENTED_BY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RELEASE_DEPLOYS_COMP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COMP_PUBLISHES_EVENT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REQ_REUSES_COMPONENT</a:t>
            </a:r>
            <a:endParaRPr lang="en-US" sz="513"/>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All domain metadata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 derivation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Source refs, exact location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Confidence 1.0 / inferred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 tier per component</a:t>
            </a:r>
            <a:endParaRPr lang="en-US" sz="513"/>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Dependencies e explicit as a typed, queryable graph</a:t>
            </a:r>
            <a:endParaRPr lang="en-US" sz="485"/>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7</a:t>
            </a:r>
            <a:endParaRPr lang="en-US" sz="522"/>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In-memory knowledge graph</a:t>
            </a:r>
            <a:endParaRPr lang="en-US" sz="485"/>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In-memory directed graph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nodes +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edges + weights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Adjacency index per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O(1) node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indexes for scans</a:t>
            </a:r>
            <a:endParaRPr lang="en-US" sz="513"/>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add_node(id, type, props)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add_edge(src, tgt,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find_nodes(node_type)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find_edges(edge_type)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has_node · retract</a:t>
            </a:r>
            <a:endParaRPr lang="en-US" sz="513"/>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blast_radius(node,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reuse_candidates(capab.)</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risk_tier(components)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downstream_events → APDH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coverage_gap(component)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a:t>
            </a:r>
            <a:endParaRPr lang="en-US" sz="513"/>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stats(): counts, density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distributions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save / load_from_file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 diffing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Query &lt; 0.01s · 1M+ nodes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get_lineage, trace_source</a:t>
            </a:r>
            <a:endParaRPr lang="en-US" sz="513"/>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8</a:t>
            </a:r>
            <a:endParaRPr lang="en-US" sz="522"/>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SemanticaGraphAdapter → Codex</a:t>
            </a:r>
            <a:endParaRPr lang="en-US" sz="485"/>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load_from_json(path)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get_nodes_by_type(type)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get_outgoing_edges(id)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get_incoming_edges(id)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get_neighbors(id,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get_graph_stats()</a:t>
            </a:r>
            <a:endParaRPr lang="en-US" sz="513"/>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analyze_impact(requirement)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find_reuse(capability)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classify_risk(components)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trace_downstream_events()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coverage_report()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build_context_slice()</a:t>
            </a:r>
            <a:endParaRPr lang="en-US" sz="513"/>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graph.query · graph.impact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graph.reuse · graph.prov</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git.read_file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sf.describe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jira.read · copado.status</a:t>
            </a:r>
            <a:endParaRPr lang="en-US" sz="513"/>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Bounded graph slice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invented dependencies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claim cites a node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ImpactAnalysis · ChangePlan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GeneratedArtifacts, TestPlan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RiskAssessment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Write: DEV + branch only</a:t>
            </a:r>
            <a:endParaRPr lang="en-US" sz="513"/>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4527A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SourceArtifact: bytes + metadata + SHA-256</a:t>
            </a:r>
            <a:endParaRPr lang="en-US" sz="504"/>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Typed domain objects + provenance</a:t>
            </a:r>
            <a:endParaRPr lang="en-US" sz="504"/>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persisted as vendor-neutral JSON</a:t>
            </a:r>
            <a:endParaRPr lang="en-US" sz="504"/>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loaded into the in-memory graph</a:t>
            </a:r>
            <a:endParaRPr lang="en-US" sz="504"/>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adapter API: typed graph queries</a:t>
            </a:r>
            <a:endParaRPr lang="en-US" sz="504"/>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HANDOFF</a:t>
            </a:r>
            <a:endParaRPr lang="en-US" sz="466"/>
          </a:p>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is the discipline of building everything around it, so agents stay reliable at scale. Six disciplines, and where each lives in our harness.</a:t>
            </a:r>
          </a:p>
        </p:txBody>
      </p:sp>
      <p:sp>
        <p:nvSpPr>
          <p:cNvPr id="5" name="Shape 4"/>
          <p:cNvSpPr/>
          <p:nvPr/>
        </p:nvSpPr>
        <p:spPr>
          <a:xfrm>
            <a:off x="411480"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612648"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7" name="Text 6"/>
          <p:cNvSpPr txBox="1"/>
          <p:nvPr/>
        </p:nvSpPr>
        <p:spPr>
          <a:xfrm>
            <a:off x="1014984"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Context engineering</a:t>
            </a:r>
          </a:p>
        </p:txBody>
      </p:sp>
      <p:sp>
        <p:nvSpPr>
          <p:cNvPr id="8" name="Text 7"/>
          <p:cNvSpPr txBox="1"/>
          <p:nvPr/>
        </p:nvSpPr>
        <p:spPr>
          <a:xfrm>
            <a:off x="612648"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 before it acts</a:t>
            </a:r>
          </a:p>
        </p:txBody>
      </p:sp>
      <p:sp>
        <p:nvSpPr>
          <p:cNvPr id="9" name="Shape 8"/>
          <p:cNvSpPr/>
          <p:nvPr/>
        </p:nvSpPr>
        <p:spPr>
          <a:xfrm>
            <a:off x="612648"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612648"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1" name="Text 10"/>
          <p:cNvSpPr txBox="1"/>
          <p:nvPr/>
        </p:nvSpPr>
        <p:spPr>
          <a:xfrm>
            <a:off x="612648"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12" name="Shape 11"/>
          <p:cNvSpPr/>
          <p:nvPr/>
        </p:nvSpPr>
        <p:spPr>
          <a:xfrm>
            <a:off x="4261104"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462272"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14" name="Text 13"/>
          <p:cNvSpPr txBox="1"/>
          <p:nvPr/>
        </p:nvSpPr>
        <p:spPr>
          <a:xfrm>
            <a:off x="4864608"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Agent legibility</a:t>
            </a:r>
          </a:p>
        </p:txBody>
      </p:sp>
      <p:sp>
        <p:nvSpPr>
          <p:cNvPr id="15" name="Text 14"/>
          <p:cNvSpPr txBox="1"/>
          <p:nvPr/>
        </p:nvSpPr>
        <p:spPr>
          <a:xfrm>
            <a:off x="4462272"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Make the estate readable to an agent</a:t>
            </a:r>
          </a:p>
        </p:txBody>
      </p:sp>
      <p:sp>
        <p:nvSpPr>
          <p:cNvPr id="16" name="Shape 15"/>
          <p:cNvSpPr/>
          <p:nvPr/>
        </p:nvSpPr>
        <p:spPr>
          <a:xfrm>
            <a:off x="4462272"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4462272"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8" name="Text 17"/>
          <p:cNvSpPr txBox="1"/>
          <p:nvPr/>
        </p:nvSpPr>
        <p:spPr>
          <a:xfrm>
            <a:off x="4462272"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Points to Ascension standards, pod skills and graph tools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Versioned with the code; access follows repo permissions</a:t>
            </a:r>
          </a:p>
        </p:txBody>
      </p:sp>
      <p:sp>
        <p:nvSpPr>
          <p:cNvPr id="19" name="Shape 18"/>
          <p:cNvSpPr/>
          <p:nvPr/>
        </p:nvSpPr>
        <p:spPr>
          <a:xfrm>
            <a:off x="8110727"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8311896"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1" name="Text 20"/>
          <p:cNvSpPr txBox="1"/>
          <p:nvPr/>
        </p:nvSpPr>
        <p:spPr>
          <a:xfrm>
            <a:off x="8714232"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Architectural constraints</a:t>
            </a:r>
          </a:p>
        </p:txBody>
      </p:sp>
      <p:sp>
        <p:nvSpPr>
          <p:cNvPr id="22" name="Text 21"/>
          <p:cNvSpPr txBox="1"/>
          <p:nvPr/>
        </p:nvSpPr>
        <p:spPr>
          <a:xfrm>
            <a:off x="8311896"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a machine enforces, not a reviewer</a:t>
            </a:r>
          </a:p>
        </p:txBody>
      </p:sp>
      <p:sp>
        <p:nvSpPr>
          <p:cNvPr id="23" name="Shape 22"/>
          <p:cNvSpPr/>
          <p:nvPr/>
        </p:nvSpPr>
        <p:spPr>
          <a:xfrm>
            <a:off x="8311896"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Text 23"/>
          <p:cNvSpPr txBox="1"/>
          <p:nvPr/>
        </p:nvSpPr>
        <p:spPr>
          <a:xfrm>
            <a:off x="8311896"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25" name="Text 24"/>
          <p:cNvSpPr txBox="1"/>
          <p:nvPr/>
        </p:nvSpPr>
        <p:spPr>
          <a:xfrm>
            <a:off x="8311896"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promotion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Code Analyzer, pre-commit and CI checks on every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Gateway allow list; every output validated against its schema</a:t>
            </a:r>
          </a:p>
        </p:txBody>
      </p:sp>
      <p:sp>
        <p:nvSpPr>
          <p:cNvPr id="26" name="Shape 25"/>
          <p:cNvSpPr/>
          <p:nvPr/>
        </p:nvSpPr>
        <p:spPr>
          <a:xfrm>
            <a:off x="411480"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612648"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28" name="Text 27"/>
          <p:cNvSpPr txBox="1"/>
          <p:nvPr/>
        </p:nvSpPr>
        <p:spPr>
          <a:xfrm>
            <a:off x="1014984"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Feedback loops and evaluation</a:t>
            </a:r>
          </a:p>
        </p:txBody>
      </p:sp>
      <p:sp>
        <p:nvSpPr>
          <p:cNvPr id="29" name="Text 28"/>
          <p:cNvSpPr txBox="1"/>
          <p:nvPr/>
        </p:nvSpPr>
        <p:spPr>
          <a:xfrm>
            <a:off x="612648"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Every miss makes the harness better</a:t>
            </a:r>
          </a:p>
        </p:txBody>
      </p:sp>
      <p:sp>
        <p:nvSpPr>
          <p:cNvPr id="30" name="Shape 29"/>
          <p:cNvSpPr/>
          <p:nvPr/>
        </p:nvSpPr>
        <p:spPr>
          <a:xfrm>
            <a:off x="612648"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612648"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Text 31"/>
          <p:cNvSpPr txBox="1"/>
          <p:nvPr/>
        </p:nvSpPr>
        <p:spPr>
          <a:xfrm>
            <a:off x="612648"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Rejected outputs become new evaluation cases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Incidents become new Guardian rules</a:t>
            </a:r>
          </a:p>
        </p:txBody>
      </p:sp>
      <p:sp>
        <p:nvSpPr>
          <p:cNvPr id="33" name="Shape 32"/>
          <p:cNvSpPr/>
          <p:nvPr/>
        </p:nvSpPr>
        <p:spPr>
          <a:xfrm>
            <a:off x="4261104"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4462272"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5" name="Text 34"/>
          <p:cNvSpPr txBox="1"/>
          <p:nvPr/>
        </p:nvSpPr>
        <p:spPr>
          <a:xfrm>
            <a:off x="4864608"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Entropy management</a:t>
            </a:r>
          </a:p>
        </p:txBody>
      </p:sp>
      <p:sp>
        <p:nvSpPr>
          <p:cNvPr id="36" name="Text 35"/>
          <p:cNvSpPr txBox="1"/>
          <p:nvPr/>
        </p:nvSpPr>
        <p:spPr>
          <a:xfrm>
            <a:off x="4462272"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Spot decay early and tell the owners</a:t>
            </a:r>
          </a:p>
        </p:txBody>
      </p:sp>
      <p:sp>
        <p:nvSpPr>
          <p:cNvPr id="37" name="Shape 36"/>
          <p:cNvSpPr/>
          <p:nvPr/>
        </p:nvSpPr>
        <p:spPr>
          <a:xfrm>
            <a:off x="4462272"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462272"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9" name="Text 38"/>
          <p:cNvSpPr txBox="1"/>
          <p:nvPr/>
        </p:nvSpPr>
        <p:spPr>
          <a:xfrm>
            <a:off x="4462272"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Weekly org health report per pod: unused fields, duplicate Flows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Stale Confluence pages flagged to their owners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Read-only: owners decide what to fix, through normal stories</a:t>
            </a:r>
          </a:p>
        </p:txBody>
      </p:sp>
      <p:sp>
        <p:nvSpPr>
          <p:cNvPr id="40" name="Shape 39"/>
          <p:cNvSpPr/>
          <p:nvPr/>
        </p:nvSpPr>
        <p:spPr>
          <a:xfrm>
            <a:off x="8110727"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8311896"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06</a:t>
            </a:r>
          </a:p>
        </p:txBody>
      </p:sp>
      <p:sp>
        <p:nvSpPr>
          <p:cNvPr id="42" name="Text 41"/>
          <p:cNvSpPr txBox="1"/>
          <p:nvPr/>
        </p:nvSpPr>
        <p:spPr>
          <a:xfrm>
            <a:off x="8714232"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Observability and steering</a:t>
            </a:r>
          </a:p>
        </p:txBody>
      </p:sp>
      <p:sp>
        <p:nvSpPr>
          <p:cNvPr id="43" name="Text 42"/>
          <p:cNvSpPr txBox="1"/>
          <p:nvPr/>
        </p:nvSpPr>
        <p:spPr>
          <a:xfrm>
            <a:off x="8311896"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Humans steer; agents execute</a:t>
            </a:r>
          </a:p>
        </p:txBody>
      </p:sp>
      <p:sp>
        <p:nvSpPr>
          <p:cNvPr id="44" name="Shape 43"/>
          <p:cNvSpPr/>
          <p:nvPr/>
        </p:nvSpPr>
        <p:spPr>
          <a:xfrm>
            <a:off x="8311896"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8311896"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46" name="Text 45"/>
          <p:cNvSpPr txBox="1"/>
          <p:nvPr/>
        </p:nvSpPr>
        <p:spPr>
          <a:xfrm>
            <a:off x="8311896"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Humans approve at H1-H4 and CAB; no agent reaches production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Risk-routed approvals spend people's attention where risk is</a:t>
            </a:r>
          </a:p>
        </p:txBody>
      </p:sp>
      <p:sp>
        <p:nvSpPr>
          <p:cNvPr id="47" name="Shape 46"/>
          <p:cNvSpPr/>
          <p:nvPr/>
        </p:nvSpPr>
        <p:spPr>
          <a:xfrm>
            <a:off x="411480" y="5358384"/>
            <a:ext cx="11365992" cy="566928"/>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7"/>
          <p:cNvSpPr txBox="1"/>
          <p:nvPr/>
        </p:nvSpPr>
        <p:spPr>
          <a:xfrm>
            <a:off x="640080" y="5358384"/>
            <a:ext cx="2194560"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49" name="Text 48"/>
          <p:cNvSpPr txBox="1"/>
          <p:nvPr/>
        </p:nvSpPr>
        <p:spPr>
          <a:xfrm>
            <a:off x="2788920" y="5358384"/>
            <a:ext cx="8759952"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 from the next run.</a:t>
            </a:r>
          </a:p>
        </p:txBody>
      </p:sp>
      <p:sp>
        <p:nvSpPr>
          <p:cNvPr id="50" name="Text 49"/>
          <p:cNvSpPr txBox="1"/>
          <p:nvPr/>
        </p:nvSpPr>
        <p:spPr>
          <a:xfrm>
            <a:off x="411480" y="5980176"/>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Health reports are read-only Review Agent runs: they change nothing in the org.</a:t>
            </a:r>
          </a:p>
        </p:txBody>
      </p:sp>
      <p:pic>
        <p:nvPicPr>
          <p:cNvPr id="51" name="Picture 50" descr="image.png"/>
          <p:cNvPicPr>
            <a:picLocks noChangeAspect="1"/>
          </p:cNvPicPr>
          <p:nvPr/>
        </p:nvPicPr>
        <p:blipFill>
          <a:blip r:embed="rId3"/>
          <a:stretch>
            <a:fillRect/>
          </a:stretch>
        </p:blipFill>
        <p:spPr>
          <a:xfrm>
            <a:off x="502920" y="6428232"/>
            <a:ext cx="496062" cy="103601"/>
          </a:xfrm>
          <a:prstGeom prst="rect">
            <a:avLst/>
          </a:prstGeom>
        </p:spPr>
      </p:pic>
      <p:sp>
        <p:nvSpPr>
          <p:cNvPr id="5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3269789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B044CED-A4E2-7522-92A4-ECBFE218FB8F}"/>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1276729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7FA7E6-FCF7-FE98-BD19-4DACE066E815}"/>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7318635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296322A-20F7-D373-F875-33BFA167D6BC}"/>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526011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D2C2E4-5FB0-1B69-913B-CC1C9D5ADD47}"/>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5439864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WHAT IT MEANS FOR TWO PODS</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 $1.59-1.80M back every year</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312442"/>
            <a:ext cx="3291840" cy="100027"/>
          </a:xfrm>
          <a:prstGeom prst="rect">
            <a:avLst/>
          </a:prstGeom>
          <a:noFill/>
        </p:spPr>
        <p:txBody>
          <a:bodyPr wrap="square" lIns="0" tIns="0" rIns="0" bIns="0" anchor="ctr">
            <a:spAutoFit/>
          </a:bodyPr>
          <a:lstStyle/>
          <a:p>
            <a:r>
              <a:rPr sz="650" b="1" i="0" spc="150">
                <a:solidFill>
                  <a:srgbClr val="000000"/>
                </a:solidFill>
                <a:latin typeface="Trenda IG Text"/>
              </a:rPr>
              <a:t>WITH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652220"/>
            <a:ext cx="1024127" cy="115416"/>
          </a:xfrm>
          <a:prstGeom prst="rect">
            <a:avLst/>
          </a:prstGeom>
          <a:noFill/>
        </p:spPr>
        <p:txBody>
          <a:bodyPr wrap="square" lIns="0" tIns="0" rIns="0" bIns="0" anchor="ctr">
            <a:spAutoFit/>
          </a:bodyPr>
          <a:lstStyle/>
          <a:p>
            <a:pPr algn="ctr"/>
            <a:r>
              <a:rPr sz="750" b="1" i="0">
                <a:solidFill>
                  <a:srgbClr val="FFFFFF"/>
                </a:solidFill>
                <a:latin typeface="Trenda IG Text"/>
              </a:rPr>
              <a:t> </a:t>
            </a:r>
            <a:r>
              <a:rPr lang="en-IN" sz="750" b="1">
                <a:solidFill>
                  <a:srgbClr val="FFFFFF"/>
                </a:solidFill>
              </a:rPr>
              <a:t>Harness </a:t>
            </a:r>
            <a:r>
              <a:rPr sz="750" b="1" i="0">
                <a:solidFill>
                  <a:srgbClr val="FFFFFF"/>
                </a:solidFill>
                <a:latin typeface="Trenda IG Text"/>
              </a:rPr>
              <a:t>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423193"/>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dirty="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23111"/>
          </a:xfrm>
          <a:prstGeom prst="rect">
            <a:avLst/>
          </a:prstGeom>
          <a:noFill/>
        </p:spPr>
        <p:txBody>
          <a:bodyPr wrap="square" lIns="0" tIns="0" rIns="0" bIns="0" anchor="t">
            <a:spAutoFit/>
          </a:bodyPr>
          <a:lstStyle/>
          <a:p>
            <a:r>
              <a:rPr sz="800" b="0" i="0">
                <a:solidFill>
                  <a:srgbClr val="BFBFBF"/>
                </a:solidFill>
                <a:latin typeface="Trenda IG Text"/>
              </a:rPr>
              <a:t>With </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00055"/>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keeps today's cost for the people who stay (a developer and QA per squad, plus a tech lead in VBC) and adds agent run cost of $9K-18K per squad a year; the shared  platform is priced once for all pods on the commercials slide. Target once a pod runs fully on ; the 20-25% on the business outcomes slide is the floor. Each pod's Phase 0 baseline confirms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HIGH-LEVEL DESIGN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Codex to Production: one story through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People give their inputs in Salesforce, Codex does the work, the knowledge graph grounds it, evals score every step, and people approve every gate.</a:t>
            </a:r>
          </a:p>
        </p:txBody>
      </p:sp>
      <p:sp>
        <p:nvSpPr>
          <p:cNvPr id="5" name="Shape 4"/>
          <p:cNvSpPr/>
          <p:nvPr/>
        </p:nvSpPr>
        <p:spPr>
          <a:xfrm>
            <a:off x="411480" y="1161288"/>
            <a:ext cx="2029968"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61288"/>
            <a:ext cx="1847088" cy="256032"/>
          </a:xfrm>
          <a:prstGeom prst="rect">
            <a:avLst/>
          </a:prstGeom>
          <a:noFill/>
        </p:spPr>
        <p:txBody>
          <a:bodyPr wrap="square" lIns="0" rIns="0" tIns="0" bIns="0" anchor="ctr">
            <a:spAutoFit/>
          </a:bodyPr>
          <a:lstStyle/>
          <a:p>
            <a:r>
              <a:rPr sz="750" b="1" i="0" spc="150">
                <a:solidFill>
                  <a:srgbClr val="FFFFFF"/>
                </a:solidFill>
                <a:latin typeface="Trenda IG Text"/>
              </a:rPr>
              <a:t>USER + ADLC</a:t>
            </a:r>
            <a:r>
              <a:rPr sz="750" b="0" i="0">
                <a:solidFill>
                  <a:srgbClr val="BFBFBF"/>
                </a:solidFill>
                <a:latin typeface="Trenda IG Text"/>
              </a:rPr>
              <a:t>   in Salesforce</a:t>
            </a:r>
          </a:p>
        </p:txBody>
      </p:sp>
      <p:sp>
        <p:nvSpPr>
          <p:cNvPr id="7" name="Shape 6"/>
          <p:cNvSpPr/>
          <p:nvPr/>
        </p:nvSpPr>
        <p:spPr>
          <a:xfrm>
            <a:off x="411480" y="1417320"/>
            <a:ext cx="2029968"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490472"/>
            <a:ext cx="1847088" cy="365760"/>
          </a:xfrm>
          <a:prstGeom prst="rect">
            <a:avLst/>
          </a:prstGeom>
          <a:noFill/>
        </p:spPr>
        <p:txBody>
          <a:bodyPr wrap="square" lIns="0" rIns="0" tIns="0" bIns="0" anchor="t">
            <a:spAutoFit/>
          </a:bodyPr>
          <a:lstStyle/>
          <a:p>
            <a:r>
              <a:rPr sz="750" b="1" i="0">
                <a:solidFill>
                  <a:srgbClr val="000000"/>
                </a:solidFill>
                <a:latin typeface="Trenda IG Text"/>
              </a:rPr>
              <a:t>People</a:t>
            </a:r>
          </a:p>
          <a:p>
            <a:r>
              <a:rPr sz="630" b="0" i="0">
                <a:solidFill>
                  <a:srgbClr val="595959"/>
                </a:solidFill>
                <a:latin typeface="Trenda IG Text"/>
              </a:rPr>
              <a:t>PM, tech lead, developer, QA; approvers at H1-H4 and CAB</a:t>
            </a:r>
          </a:p>
        </p:txBody>
      </p:sp>
      <p:sp>
        <p:nvSpPr>
          <p:cNvPr id="9" name="Shape 8"/>
          <p:cNvSpPr/>
          <p:nvPr/>
        </p:nvSpPr>
        <p:spPr>
          <a:xfrm>
            <a:off x="502920" y="1810512"/>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10512"/>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1</a:t>
            </a:r>
          </a:p>
        </p:txBody>
      </p:sp>
      <p:sp>
        <p:nvSpPr>
          <p:cNvPr id="11" name="Text 10"/>
          <p:cNvSpPr txBox="1"/>
          <p:nvPr/>
        </p:nvSpPr>
        <p:spPr>
          <a:xfrm>
            <a:off x="713232" y="1810512"/>
            <a:ext cx="1645920" cy="173736"/>
          </a:xfrm>
          <a:prstGeom prst="rect">
            <a:avLst/>
          </a:prstGeom>
          <a:noFill/>
        </p:spPr>
        <p:txBody>
          <a:bodyPr wrap="square" lIns="0" rIns="0" tIns="0" bIns="0" anchor="ctr">
            <a:spAutoFit/>
          </a:bodyPr>
          <a:lstStyle/>
          <a:p>
            <a:r>
              <a:rPr sz="630" b="0" i="0">
                <a:solidFill>
                  <a:srgbClr val="595959"/>
                </a:solidFill>
                <a:latin typeface="Trenda IG Text"/>
              </a:rPr>
              <a:t>gives inputs</a:t>
            </a:r>
          </a:p>
        </p:txBody>
      </p:sp>
      <p:sp>
        <p:nvSpPr>
          <p:cNvPr id="12" name="Shape 11"/>
          <p:cNvSpPr/>
          <p:nvPr/>
        </p:nvSpPr>
        <p:spPr>
          <a:xfrm>
            <a:off x="502920" y="2029968"/>
            <a:ext cx="1847088" cy="932688"/>
          </a:xfrm>
          <a:prstGeom prst="roundRect">
            <a:avLst>
              <a:gd name="adj" fmla="val 6000"/>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alesforce.png"/>
          <p:cNvPicPr>
            <a:picLocks noChangeAspect="1"/>
          </p:cNvPicPr>
          <p:nvPr/>
        </p:nvPicPr>
        <p:blipFill>
          <a:blip r:embed="rId2"/>
          <a:stretch>
            <a:fillRect/>
          </a:stretch>
        </p:blipFill>
        <p:spPr>
          <a:xfrm>
            <a:off x="2093976" y="2093976"/>
            <a:ext cx="182880" cy="182880"/>
          </a:xfrm>
          <a:prstGeom prst="rect">
            <a:avLst/>
          </a:prstGeom>
        </p:spPr>
      </p:pic>
      <p:sp>
        <p:nvSpPr>
          <p:cNvPr id="14" name="Text 12"/>
          <p:cNvSpPr txBox="1"/>
          <p:nvPr/>
        </p:nvSpPr>
        <p:spPr>
          <a:xfrm>
            <a:off x="576072" y="2084832"/>
            <a:ext cx="1463040" cy="84124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Salesforce LWC · Agentic Harness console</a:t>
            </a:r>
          </a:p>
          <a:p>
            <a:pPr>
              <a:spcAft>
                <a:spcPts val="100"/>
              </a:spcAft>
            </a:pPr>
            <a:r>
              <a:rPr sz="630" b="0" i="0">
                <a:solidFill>
                  <a:srgbClr val="2B2B2B"/>
                </a:solidFill>
                <a:latin typeface="Trenda IG Text"/>
              </a:rPr>
              <a:t>Connect to Codex, enter the Jira key or the requirement, pick the pod, attach the design. Approve at each gate and watch every step.</a:t>
            </a:r>
          </a:p>
        </p:txBody>
      </p:sp>
      <p:cxnSp>
        <p:nvCxnSpPr>
          <p:cNvPr id="15" name="Arrow 13"/>
          <p:cNvCxnSpPr/>
          <p:nvPr/>
        </p:nvCxnSpPr>
        <p:spPr>
          <a:xfrm>
            <a:off x="1426464" y="2962656"/>
            <a:ext cx="0" cy="237744"/>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 14"/>
          <p:cNvSpPr txBox="1"/>
          <p:nvPr/>
        </p:nvSpPr>
        <p:spPr>
          <a:xfrm>
            <a:off x="1481328" y="2990088"/>
            <a:ext cx="960120" cy="182880"/>
          </a:xfrm>
          <a:prstGeom prst="rect">
            <a:avLst/>
          </a:prstGeom>
          <a:noFill/>
        </p:spPr>
        <p:txBody>
          <a:bodyPr wrap="square" lIns="0" rIns="0" tIns="0" bIns="0" anchor="ctr">
            <a:spAutoFit/>
          </a:bodyPr>
          <a:lstStyle/>
          <a:p>
            <a:r>
              <a:rPr sz="580" b="0" i="0">
                <a:solidFill>
                  <a:srgbClr val="595959"/>
                </a:solidFill>
                <a:latin typeface="Trenda IG Text"/>
              </a:rPr>
              <a:t>Apex · Named Credential</a:t>
            </a:r>
          </a:p>
        </p:txBody>
      </p:sp>
      <p:sp>
        <p:nvSpPr>
          <p:cNvPr id="17" name="Shape 15"/>
          <p:cNvSpPr/>
          <p:nvPr/>
        </p:nvSpPr>
        <p:spPr>
          <a:xfrm>
            <a:off x="502920" y="3200400"/>
            <a:ext cx="1847088" cy="1024128"/>
          </a:xfrm>
          <a:prstGeom prst="roundRect">
            <a:avLst>
              <a:gd name="adj" fmla="val 6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openai-white.png"/>
          <p:cNvPicPr>
            <a:picLocks noChangeAspect="1"/>
          </p:cNvPicPr>
          <p:nvPr/>
        </p:nvPicPr>
        <p:blipFill>
          <a:blip r:embed="rId3"/>
          <a:stretch>
            <a:fillRect/>
          </a:stretch>
        </p:blipFill>
        <p:spPr>
          <a:xfrm>
            <a:off x="2112264" y="3264408"/>
            <a:ext cx="182880" cy="182880"/>
          </a:xfrm>
          <a:prstGeom prst="rect">
            <a:avLst/>
          </a:prstGeom>
        </p:spPr>
      </p:pic>
      <p:sp>
        <p:nvSpPr>
          <p:cNvPr id="19" name="Text 16"/>
          <p:cNvSpPr txBox="1"/>
          <p:nvPr/>
        </p:nvSpPr>
        <p:spPr>
          <a:xfrm>
            <a:off x="576072" y="3255264"/>
            <a:ext cx="1499616" cy="932688"/>
          </a:xfrm>
          <a:prstGeom prst="rect">
            <a:avLst/>
          </a:prstGeom>
          <a:noFill/>
        </p:spPr>
        <p:txBody>
          <a:bodyPr wrap="square" lIns="0" rIns="0" tIns="0" bIns="0" anchor="t">
            <a:spAutoFit/>
          </a:bodyPr>
          <a:lstStyle/>
          <a:p>
            <a:pPr>
              <a:spcAft>
                <a:spcPts val="100"/>
              </a:spcAft>
            </a:pPr>
            <a:r>
              <a:rPr sz="750" b="1" i="0">
                <a:solidFill>
                  <a:srgbClr val="FFFFFF"/>
                </a:solidFill>
                <a:latin typeface="Trenda IG Text"/>
              </a:rPr>
              <a:t>OpenAI Codex · ADLC skills</a:t>
            </a:r>
          </a:p>
          <a:p>
            <a:pPr>
              <a:spcAft>
                <a:spcPts val="100"/>
              </a:spcAft>
            </a:pPr>
            <a:r>
              <a:rPr sz="630" b="0" i="0">
                <a:solidFill>
                  <a:srgbClr val="D9D9D9"/>
                </a:solidFill>
                <a:latin typeface="Trenda IG Text"/>
              </a:rPr>
              <a:t>Each user signs in to their own Codex Enterprise account (SSO). The run starts from the Jira key; the ADLC skills take it through understand, design, build, verify, promote, release and close.</a:t>
            </a:r>
          </a:p>
        </p:txBody>
      </p:sp>
      <p:sp>
        <p:nvSpPr>
          <p:cNvPr id="20" name="Shape 17"/>
          <p:cNvSpPr/>
          <p:nvPr/>
        </p:nvSpPr>
        <p:spPr>
          <a:xfrm>
            <a:off x="502920" y="4315968"/>
            <a:ext cx="1847088" cy="1033271"/>
          </a:xfrm>
          <a:prstGeom prst="roundRect">
            <a:avLst>
              <a:gd name="adj" fmla="val 6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76072" y="4370832"/>
            <a:ext cx="1755648" cy="960120"/>
          </a:xfrm>
          <a:prstGeom prst="rect">
            <a:avLst/>
          </a:prstGeom>
          <a:noFill/>
        </p:spPr>
        <p:txBody>
          <a:bodyPr wrap="square" lIns="0" rIns="0" tIns="0" bIns="0" anchor="t">
            <a:spAutoFit/>
          </a:bodyPr>
          <a:lstStyle/>
          <a:p>
            <a:pPr>
              <a:spcAft>
                <a:spcPts val="50"/>
              </a:spcAft>
            </a:pPr>
            <a:r>
              <a:rPr sz="750" b="1" i="0">
                <a:solidFill>
                  <a:srgbClr val="000000"/>
                </a:solidFill>
                <a:latin typeface="Trenda IG Text"/>
              </a:rPr>
              <a:t>Trust built in</a:t>
            </a:r>
          </a:p>
          <a:p>
            <a:pPr>
              <a:spcAft>
                <a:spcPts val="50"/>
              </a:spcAft>
            </a:pPr>
            <a:r>
              <a:rPr sz="620" b="1" i="0">
                <a:solidFill>
                  <a:srgbClr val="56E13B"/>
                </a:solidFill>
                <a:latin typeface="Trenda IG Text"/>
              </a:rPr>
              <a:t>✓  </a:t>
            </a:r>
            <a:r>
              <a:rPr sz="620" b="0" i="0">
                <a:solidFill>
                  <a:srgbClr val="000000"/>
                </a:solidFill>
                <a:latin typeface="Trenda IG Text"/>
              </a:rPr>
              <a:t>No production identity for any agent</a:t>
            </a:r>
          </a:p>
          <a:p>
            <a:pPr>
              <a:spcAft>
                <a:spcPts val="50"/>
              </a:spcAft>
            </a:pPr>
            <a:r>
              <a:rPr sz="620" b="1" i="0">
                <a:solidFill>
                  <a:srgbClr val="56E13B"/>
                </a:solidFill>
                <a:latin typeface="Trenda IG Text"/>
              </a:rPr>
              <a:t>✓  </a:t>
            </a:r>
            <a:r>
              <a:rPr sz="620" b="0" i="0">
                <a:solidFill>
                  <a:srgbClr val="000000"/>
                </a:solidFill>
                <a:latin typeface="Trenda IG Text"/>
              </a:rPr>
              <a:t>No agent approves its own work</a:t>
            </a:r>
          </a:p>
          <a:p>
            <a:pPr>
              <a:spcAft>
                <a:spcPts val="50"/>
              </a:spcAft>
            </a:pPr>
            <a:r>
              <a:rPr sz="620" b="1" i="0">
                <a:solidFill>
                  <a:srgbClr val="56E13B"/>
                </a:solidFill>
                <a:latin typeface="Trenda IG Text"/>
              </a:rPr>
              <a:t>✓  </a:t>
            </a:r>
            <a:r>
              <a:rPr sz="620" b="0" i="0">
                <a:solidFill>
                  <a:srgbClr val="000000"/>
                </a:solidFill>
                <a:latin typeface="Trenda IG Text"/>
              </a:rPr>
              <a:t>Every claim cites a source + SHA-256</a:t>
            </a:r>
          </a:p>
          <a:p>
            <a:pPr>
              <a:spcAft>
                <a:spcPts val="50"/>
              </a:spcAft>
            </a:pPr>
            <a:r>
              <a:rPr sz="620" b="1" i="0">
                <a:solidFill>
                  <a:srgbClr val="56E13B"/>
                </a:solidFill>
                <a:latin typeface="Trenda IG Text"/>
              </a:rPr>
              <a:t>✓  </a:t>
            </a:r>
            <a:r>
              <a:rPr sz="620" b="0" i="0">
                <a:solidFill>
                  <a:srgbClr val="000000"/>
                </a:solidFill>
                <a:latin typeface="Trenda IG Text"/>
              </a:rPr>
              <a:t>Every tool call checked and logged</a:t>
            </a:r>
          </a:p>
          <a:p>
            <a:pPr>
              <a:spcAft>
                <a:spcPts val="50"/>
              </a:spcAft>
            </a:pPr>
            <a:r>
              <a:rPr sz="620" b="1" i="0">
                <a:solidFill>
                  <a:srgbClr val="56E13B"/>
                </a:solidFill>
                <a:latin typeface="Trenda IG Text"/>
              </a:rPr>
              <a:t>✓  </a:t>
            </a:r>
            <a:r>
              <a:rPr sz="620" b="0" i="0">
                <a:solidFill>
                  <a:srgbClr val="000000"/>
                </a:solidFill>
                <a:latin typeface="Trenda IG Text"/>
              </a:rPr>
              <a:t>No model trained on Ascension data</a:t>
            </a:r>
          </a:p>
        </p:txBody>
      </p:sp>
      <p:sp>
        <p:nvSpPr>
          <p:cNvPr id="22" name="Shape 19"/>
          <p:cNvSpPr/>
          <p:nvPr/>
        </p:nvSpPr>
        <p:spPr>
          <a:xfrm>
            <a:off x="2587752" y="1161288"/>
            <a:ext cx="6885432" cy="4279392"/>
          </a:xfrm>
          <a:prstGeom prst="roundRect">
            <a:avLst>
              <a:gd name="adj" fmla="val 2000"/>
            </a:avLst>
          </a:prstGeom>
          <a:noFill/>
          <a:ln w="12700">
            <a:solidFill>
              <a:srgbClr val="0027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4"/>
          <a:stretch>
            <a:fillRect/>
          </a:stretch>
        </p:blipFill>
        <p:spPr>
          <a:xfrm>
            <a:off x="2697480" y="1188720"/>
            <a:ext cx="155448" cy="155448"/>
          </a:xfrm>
          <a:prstGeom prst="rect">
            <a:avLst/>
          </a:prstGeom>
        </p:spPr>
      </p:pic>
      <p:sp>
        <p:nvSpPr>
          <p:cNvPr id="24" name="Text 20"/>
          <p:cNvSpPr txBox="1"/>
          <p:nvPr/>
        </p:nvSpPr>
        <p:spPr>
          <a:xfrm>
            <a:off x="2898648" y="1179576"/>
            <a:ext cx="2743200" cy="182880"/>
          </a:xfrm>
          <a:prstGeom prst="rect">
            <a:avLst/>
          </a:prstGeom>
          <a:noFill/>
        </p:spPr>
        <p:txBody>
          <a:bodyPr wrap="square" lIns="0" rIns="0" tIns="0" bIns="0" anchor="ctr">
            <a:spAutoFit/>
          </a:bodyPr>
          <a:lstStyle/>
          <a:p>
            <a:r>
              <a:rPr sz="700" b="1" i="0">
                <a:solidFill>
                  <a:srgbClr val="000000"/>
                </a:solidFill>
                <a:latin typeface="Trenda IG Text"/>
              </a:rPr>
              <a:t>The Agentic Harness</a:t>
            </a:r>
            <a:r>
              <a:rPr sz="700" b="0" i="0">
                <a:solidFill>
                  <a:srgbClr val="595959"/>
                </a:solidFill>
                <a:latin typeface="Trenda IG Text"/>
              </a:rPr>
              <a:t>  on Google Cloud</a:t>
            </a:r>
          </a:p>
        </p:txBody>
      </p:sp>
      <p:sp>
        <p:nvSpPr>
          <p:cNvPr id="25" name="Shape 21"/>
          <p:cNvSpPr/>
          <p:nvPr/>
        </p:nvSpPr>
        <p:spPr>
          <a:xfrm>
            <a:off x="8736177" y="1193292"/>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2"/>
          <p:cNvSpPr txBox="1"/>
          <p:nvPr/>
        </p:nvSpPr>
        <p:spPr>
          <a:xfrm>
            <a:off x="8736177" y="1193292"/>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27" name="Shape 23"/>
          <p:cNvSpPr/>
          <p:nvPr/>
        </p:nvSpPr>
        <p:spPr>
          <a:xfrm>
            <a:off x="8129016"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4"/>
          <p:cNvSpPr txBox="1"/>
          <p:nvPr/>
        </p:nvSpPr>
        <p:spPr>
          <a:xfrm>
            <a:off x="8129016"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29" name="Shape 25"/>
          <p:cNvSpPr/>
          <p:nvPr/>
        </p:nvSpPr>
        <p:spPr>
          <a:xfrm>
            <a:off x="7236561" y="1193292"/>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6"/>
          <p:cNvSpPr txBox="1"/>
          <p:nvPr/>
        </p:nvSpPr>
        <p:spPr>
          <a:xfrm>
            <a:off x="7236561" y="1193292"/>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31" name="Shape 27"/>
          <p:cNvSpPr/>
          <p:nvPr/>
        </p:nvSpPr>
        <p:spPr>
          <a:xfrm>
            <a:off x="6676948" y="1193292"/>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8"/>
          <p:cNvSpPr txBox="1"/>
          <p:nvPr/>
        </p:nvSpPr>
        <p:spPr>
          <a:xfrm>
            <a:off x="6676948" y="1193292"/>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sp>
        <p:nvSpPr>
          <p:cNvPr id="33" name="Shape 29"/>
          <p:cNvSpPr/>
          <p:nvPr/>
        </p:nvSpPr>
        <p:spPr>
          <a:xfrm>
            <a:off x="6069787"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0"/>
          <p:cNvSpPr txBox="1"/>
          <p:nvPr/>
        </p:nvSpPr>
        <p:spPr>
          <a:xfrm>
            <a:off x="6069787"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35" name="Text 31"/>
          <p:cNvSpPr txBox="1"/>
          <p:nvPr/>
        </p:nvSpPr>
        <p:spPr>
          <a:xfrm>
            <a:off x="4442155" y="1179576"/>
            <a:ext cx="1554480" cy="182880"/>
          </a:xfrm>
          <a:prstGeom prst="rect">
            <a:avLst/>
          </a:prstGeom>
          <a:noFill/>
        </p:spPr>
        <p:txBody>
          <a:bodyPr wrap="square" lIns="0" rIns="0" tIns="0" bIns="0" anchor="ctr">
            <a:spAutoFit/>
          </a:bodyPr>
          <a:lstStyle/>
          <a:p>
            <a:pPr algn="r"/>
            <a:r>
              <a:rPr sz="600" b="1" i="0" spc="120">
                <a:solidFill>
                  <a:srgbClr val="000000"/>
                </a:solidFill>
                <a:latin typeface="Trenda IG Text"/>
              </a:rPr>
              <a:t>HARNESS ENGINEERING</a:t>
            </a:r>
          </a:p>
        </p:txBody>
      </p:sp>
      <p:sp>
        <p:nvSpPr>
          <p:cNvPr id="36" name="Shape 32"/>
          <p:cNvSpPr/>
          <p:nvPr/>
        </p:nvSpPr>
        <p:spPr>
          <a:xfrm>
            <a:off x="2697480" y="1417320"/>
            <a:ext cx="6665976" cy="1097280"/>
          </a:xfrm>
          <a:prstGeom prst="roundRect">
            <a:avLst>
              <a:gd name="adj" fmla="val 4000"/>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3"/>
          <p:cNvSpPr/>
          <p:nvPr/>
        </p:nvSpPr>
        <p:spPr>
          <a:xfrm>
            <a:off x="2788920" y="1335024"/>
            <a:ext cx="3108960" cy="182880"/>
          </a:xfrm>
          <a:prstGeom prst="roundRect">
            <a:avLst>
              <a:gd name="adj" fmla="val 50000"/>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2788920" y="1335024"/>
            <a:ext cx="310896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1 · ENGINEERING CONTEXT KNOWLEDGE GRAPH</a:t>
            </a:r>
          </a:p>
        </p:txBody>
      </p:sp>
      <p:sp>
        <p:nvSpPr>
          <p:cNvPr id="39" name="Shape 35"/>
          <p:cNvSpPr/>
          <p:nvPr/>
        </p:nvSpPr>
        <p:spPr>
          <a:xfrm>
            <a:off x="2788920" y="1600200"/>
            <a:ext cx="23774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6"/>
          <p:cNvSpPr txBox="1"/>
          <p:nvPr/>
        </p:nvSpPr>
        <p:spPr>
          <a:xfrm>
            <a:off x="2862072" y="1655064"/>
            <a:ext cx="2231136"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Graph API + MCP server</a:t>
            </a:r>
          </a:p>
          <a:p>
            <a:pPr>
              <a:spcAft>
                <a:spcPts val="100"/>
              </a:spcAft>
            </a:pPr>
            <a:r>
              <a:rPr sz="630" b="0" i="0">
                <a:solidFill>
                  <a:srgbClr val="2B2B2B"/>
                </a:solidFill>
                <a:latin typeface="Trenda IG Text"/>
              </a:rPr>
              <a:t>graph.exists · find_reuse · blast_radius · owners · context_slice. Every answer cites node, source and SHA-256; agents never write queries.</a:t>
            </a:r>
          </a:p>
        </p:txBody>
      </p:sp>
      <p:sp>
        <p:nvSpPr>
          <p:cNvPr id="41" name="Shape 37"/>
          <p:cNvSpPr/>
          <p:nvPr/>
        </p:nvSpPr>
        <p:spPr>
          <a:xfrm>
            <a:off x="5257800" y="1600200"/>
            <a:ext cx="16916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googlecloudspanner.png"/>
          <p:cNvPicPr>
            <a:picLocks noChangeAspect="1"/>
          </p:cNvPicPr>
          <p:nvPr/>
        </p:nvPicPr>
        <p:blipFill>
          <a:blip r:embed="rId5"/>
          <a:stretch>
            <a:fillRect/>
          </a:stretch>
        </p:blipFill>
        <p:spPr>
          <a:xfrm>
            <a:off x="6693407" y="1664208"/>
            <a:ext cx="182880" cy="182880"/>
          </a:xfrm>
          <a:prstGeom prst="rect">
            <a:avLst/>
          </a:prstGeom>
        </p:spPr>
      </p:pic>
      <p:sp>
        <p:nvSpPr>
          <p:cNvPr id="43" name="Text 38"/>
          <p:cNvSpPr txBox="1"/>
          <p:nvPr/>
        </p:nvSpPr>
        <p:spPr>
          <a:xfrm>
            <a:off x="5330952" y="1655064"/>
            <a:ext cx="130759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Spanner Graph</a:t>
            </a:r>
          </a:p>
          <a:p>
            <a:pPr>
              <a:spcAft>
                <a:spcPts val="100"/>
              </a:spcAft>
            </a:pPr>
            <a:r>
              <a:rPr sz="630" b="0" i="0">
                <a:solidFill>
                  <a:srgbClr val="2B2B2B"/>
                </a:solidFill>
                <a:latin typeface="Trenda IG Text"/>
              </a:rPr>
              <a:t>Property graph, GQL. History and ownership edges for every component.</a:t>
            </a:r>
          </a:p>
        </p:txBody>
      </p:sp>
      <p:sp>
        <p:nvSpPr>
          <p:cNvPr id="44" name="Shape 39"/>
          <p:cNvSpPr/>
          <p:nvPr/>
        </p:nvSpPr>
        <p:spPr>
          <a:xfrm>
            <a:off x="7040880" y="1600200"/>
            <a:ext cx="2231136"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0"/>
          <p:cNvSpPr txBox="1"/>
          <p:nvPr/>
        </p:nvSpPr>
        <p:spPr>
          <a:xfrm>
            <a:off x="7114032" y="1655064"/>
            <a:ext cx="208483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Ingest pipeline · Cloud Run Jobs</a:t>
            </a:r>
          </a:p>
          <a:p>
            <a:pPr>
              <a:spcAft>
                <a:spcPts val="100"/>
              </a:spcAft>
            </a:pPr>
            <a:r>
              <a:rPr sz="630" b="0" i="0">
                <a:solidFill>
                  <a:srgbClr val="2B2B2B"/>
                </a:solidFill>
                <a:latin typeface="Trenda IG Text"/>
              </a:rPr>
              <a:t>Read-only connectors, on a schedule and on webhooks. DLP de-identifies text; parse, validate and link before anything is stored.</a:t>
            </a:r>
          </a:p>
        </p:txBody>
      </p:sp>
      <p:cxnSp>
        <p:nvCxnSpPr>
          <p:cNvPr id="46" name="Arrow 41"/>
          <p:cNvCxnSpPr/>
          <p:nvPr/>
        </p:nvCxnSpPr>
        <p:spPr>
          <a:xfrm flipH="1">
            <a:off x="694944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Arrow 42"/>
          <p:cNvCxnSpPr/>
          <p:nvPr/>
        </p:nvCxnSpPr>
        <p:spPr>
          <a:xfrm flipH="1">
            <a:off x="516636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3"/>
          <p:cNvSpPr/>
          <p:nvPr/>
        </p:nvSpPr>
        <p:spPr>
          <a:xfrm>
            <a:off x="8692286" y="1339596"/>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4"/>
          <p:cNvSpPr txBox="1"/>
          <p:nvPr/>
        </p:nvSpPr>
        <p:spPr>
          <a:xfrm>
            <a:off x="8692286" y="1339596"/>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50" name="Shape 45"/>
          <p:cNvSpPr/>
          <p:nvPr/>
        </p:nvSpPr>
        <p:spPr>
          <a:xfrm>
            <a:off x="2697480" y="2670048"/>
            <a:ext cx="6665976" cy="1874519"/>
          </a:xfrm>
          <a:prstGeom prst="roundRect">
            <a:avLst>
              <a:gd name="adj" fmla="val 3000"/>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6"/>
          <p:cNvSpPr/>
          <p:nvPr/>
        </p:nvSpPr>
        <p:spPr>
          <a:xfrm>
            <a:off x="2788920" y="2587752"/>
            <a:ext cx="2377440" cy="182880"/>
          </a:xfrm>
          <a:prstGeom prst="roundRect">
            <a:avLst>
              <a:gd name="adj" fmla="val 50000"/>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2788920" y="2587752"/>
            <a:ext cx="237744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2 · AGENTIC HARNESS RUNTIME</a:t>
            </a:r>
          </a:p>
        </p:txBody>
      </p:sp>
      <p:sp>
        <p:nvSpPr>
          <p:cNvPr id="53" name="Shape 48"/>
          <p:cNvSpPr/>
          <p:nvPr/>
        </p:nvSpPr>
        <p:spPr>
          <a:xfrm>
            <a:off x="2788920" y="2852928"/>
            <a:ext cx="1664208" cy="9601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2862072" y="2907792"/>
            <a:ext cx="1517904" cy="8686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Run orchestration</a:t>
            </a:r>
          </a:p>
          <a:p>
            <a:pPr>
              <a:spcAft>
                <a:spcPts val="100"/>
              </a:spcAft>
            </a:pPr>
            <a:r>
              <a:rPr sz="630" b="0" i="0">
                <a:solidFill>
                  <a:srgbClr val="2B2B2B"/>
                </a:solidFill>
                <a:latin typeface="Trenda IG Text"/>
              </a:rPr>
              <a:t>Run API starts the run · Cloud Workflows: 9 steps, retries, gate callbacks · Firestore checkpoints, resumable · Dispatcher starts one job per step.</a:t>
            </a:r>
          </a:p>
        </p:txBody>
      </p:sp>
      <p:sp>
        <p:nvSpPr>
          <p:cNvPr id="55" name="Shape 50"/>
          <p:cNvSpPr/>
          <p:nvPr/>
        </p:nvSpPr>
        <p:spPr>
          <a:xfrm>
            <a:off x="2788920" y="3886200"/>
            <a:ext cx="1664208" cy="566928"/>
          </a:xfrm>
          <a:prstGeom prst="roundRect">
            <a:avLst>
              <a:gd name="adj" fmla="val 6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2862072" y="3941063"/>
            <a:ext cx="1517904"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Approval service · IAP</a:t>
            </a:r>
          </a:p>
          <a:p>
            <a:pPr>
              <a:spcAft>
                <a:spcPts val="100"/>
              </a:spcAft>
            </a:pPr>
            <a:r>
              <a:rPr sz="630" b="0" i="0">
                <a:solidFill>
                  <a:srgbClr val="2B2B2B"/>
                </a:solidFill>
                <a:latin typeface="Trenda IG Text"/>
              </a:rPr>
              <a:t>Shows each gate's evidence and eval scores; the signed decision resumes the run.</a:t>
            </a:r>
          </a:p>
        </p:txBody>
      </p:sp>
      <p:sp>
        <p:nvSpPr>
          <p:cNvPr id="57" name="Shape 52"/>
          <p:cNvSpPr/>
          <p:nvPr/>
        </p:nvSpPr>
        <p:spPr>
          <a:xfrm>
            <a:off x="4544568" y="2852928"/>
            <a:ext cx="2651760" cy="960120"/>
          </a:xfrm>
          <a:prstGeom prst="roundRect">
            <a:avLst>
              <a:gd name="adj" fmla="val 5000"/>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4617720" y="2889504"/>
            <a:ext cx="2505456" cy="164592"/>
          </a:xfrm>
          <a:prstGeom prst="rect">
            <a:avLst/>
          </a:prstGeom>
          <a:noFill/>
        </p:spPr>
        <p:txBody>
          <a:bodyPr wrap="square" lIns="0" rIns="0" tIns="0" bIns="0" anchor="ctr">
            <a:spAutoFit/>
          </a:bodyPr>
          <a:lstStyle/>
          <a:p>
            <a:r>
              <a:rPr sz="750" b="1" i="0">
                <a:solidFill>
                  <a:srgbClr val="000000"/>
                </a:solidFill>
                <a:latin typeface="Trenda IG Text"/>
              </a:rPr>
              <a:t>Agent workers</a:t>
            </a:r>
            <a:r>
              <a:rPr sz="620" b="0" i="0">
                <a:solidFill>
                  <a:srgbClr val="595959"/>
                </a:solidFill>
                <a:latin typeface="Trenda IG Text"/>
              </a:rPr>
              <a:t>  Cloud Run Jobs, one per step</a:t>
            </a:r>
          </a:p>
        </p:txBody>
      </p:sp>
      <p:sp>
        <p:nvSpPr>
          <p:cNvPr id="59" name="Shape 54"/>
          <p:cNvSpPr/>
          <p:nvPr/>
        </p:nvSpPr>
        <p:spPr>
          <a:xfrm>
            <a:off x="4617720"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672584"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Requirements</a:t>
            </a:r>
            <a:r>
              <a:rPr sz="550" b="0" i="0">
                <a:solidFill>
                  <a:srgbClr val="595959"/>
                </a:solidFill>
                <a:latin typeface="Trenda IG Text"/>
              </a:rPr>
              <a:t>  sa-ai-read</a:t>
            </a:r>
          </a:p>
        </p:txBody>
      </p:sp>
      <p:sp>
        <p:nvSpPr>
          <p:cNvPr id="61" name="Shape 56"/>
          <p:cNvSpPr/>
          <p:nvPr/>
        </p:nvSpPr>
        <p:spPr>
          <a:xfrm>
            <a:off x="5907024"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5961888"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Architect</a:t>
            </a:r>
            <a:r>
              <a:rPr sz="550" b="0" i="0">
                <a:solidFill>
                  <a:srgbClr val="595959"/>
                </a:solidFill>
                <a:latin typeface="Trenda IG Text"/>
              </a:rPr>
              <a:t>  sa-ai-read</a:t>
            </a:r>
          </a:p>
        </p:txBody>
      </p:sp>
      <p:sp>
        <p:nvSpPr>
          <p:cNvPr id="63" name="Shape 58"/>
          <p:cNvSpPr/>
          <p:nvPr/>
        </p:nvSpPr>
        <p:spPr>
          <a:xfrm>
            <a:off x="4617720"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4672584"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Developer · Codex</a:t>
            </a:r>
            <a:r>
              <a:rPr sz="550" b="0" i="0">
                <a:solidFill>
                  <a:srgbClr val="595959"/>
                </a:solidFill>
                <a:latin typeface="Trenda IG Text"/>
              </a:rPr>
              <a:t>  sa-ai-dev</a:t>
            </a:r>
          </a:p>
        </p:txBody>
      </p:sp>
      <p:sp>
        <p:nvSpPr>
          <p:cNvPr id="65" name="Shape 60"/>
          <p:cNvSpPr/>
          <p:nvPr/>
        </p:nvSpPr>
        <p:spPr>
          <a:xfrm>
            <a:off x="5907024"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961888"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Review</a:t>
            </a:r>
            <a:r>
              <a:rPr sz="550" b="0" i="0">
                <a:solidFill>
                  <a:srgbClr val="595959"/>
                </a:solidFill>
                <a:latin typeface="Trenda IG Text"/>
              </a:rPr>
              <a:t>  sa-ai-read</a:t>
            </a:r>
          </a:p>
        </p:txBody>
      </p:sp>
      <p:sp>
        <p:nvSpPr>
          <p:cNvPr id="67" name="Shape 62"/>
          <p:cNvSpPr/>
          <p:nvPr/>
        </p:nvSpPr>
        <p:spPr>
          <a:xfrm>
            <a:off x="4617720"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4672584"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Test · Codex</a:t>
            </a:r>
            <a:r>
              <a:rPr sz="550" b="0" i="0">
                <a:solidFill>
                  <a:srgbClr val="595959"/>
                </a:solidFill>
                <a:latin typeface="Trenda IG Text"/>
              </a:rPr>
              <a:t>  sa-ai-dev</a:t>
            </a:r>
          </a:p>
        </p:txBody>
      </p:sp>
      <p:sp>
        <p:nvSpPr>
          <p:cNvPr id="69" name="Shape 64"/>
          <p:cNvSpPr/>
          <p:nvPr/>
        </p:nvSpPr>
        <p:spPr>
          <a:xfrm>
            <a:off x="5907024"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5961888"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Release</a:t>
            </a:r>
            <a:r>
              <a:rPr sz="550" b="0" i="0">
                <a:solidFill>
                  <a:srgbClr val="595959"/>
                </a:solidFill>
                <a:latin typeface="Trenda IG Text"/>
              </a:rPr>
              <a:t>  sa-ai-release</a:t>
            </a:r>
          </a:p>
        </p:txBody>
      </p:sp>
      <p:sp>
        <p:nvSpPr>
          <p:cNvPr id="71" name="Shape 66"/>
          <p:cNvSpPr/>
          <p:nvPr/>
        </p:nvSpPr>
        <p:spPr>
          <a:xfrm>
            <a:off x="4544568" y="3886200"/>
            <a:ext cx="2651760" cy="566928"/>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4636008" y="3931920"/>
            <a:ext cx="2057400" cy="493776"/>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Evals on every step</a:t>
            </a:r>
          </a:p>
          <a:p>
            <a:pPr>
              <a:spcAft>
                <a:spcPts val="100"/>
              </a:spcAft>
            </a:pPr>
            <a:r>
              <a:rPr sz="610" b="0" i="0">
                <a:solidFill>
                  <a:srgbClr val="000000"/>
                </a:solidFill>
                <a:latin typeface="Trenda IG Text"/>
              </a:rPr>
              <a:t>Each output is scored before it moves: relevancy, groundedness, tool sequence, pass@k. Pass to the gate; fail retries with feedback, max 5, then a named owner.</a:t>
            </a:r>
          </a:p>
        </p:txBody>
      </p:sp>
      <p:sp>
        <p:nvSpPr>
          <p:cNvPr id="73" name="Shape 68"/>
          <p:cNvSpPr/>
          <p:nvPr/>
        </p:nvSpPr>
        <p:spPr>
          <a:xfrm>
            <a:off x="6702552" y="3941063"/>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6702552" y="3941063"/>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75" name="Arrow 70"/>
          <p:cNvCxnSpPr/>
          <p:nvPr/>
        </p:nvCxnSpPr>
        <p:spPr>
          <a:xfrm>
            <a:off x="5870448" y="3813048"/>
            <a:ext cx="0" cy="73152"/>
          </a:xfrm>
          <a:prstGeom prst="line">
            <a:avLst/>
          </a:prstGeom>
          <a:ln w="19050">
            <a:solidFill>
              <a:srgbClr val="C9A8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Shape 71"/>
          <p:cNvSpPr/>
          <p:nvPr/>
        </p:nvSpPr>
        <p:spPr>
          <a:xfrm>
            <a:off x="7287768" y="2852928"/>
            <a:ext cx="1984248" cy="566928"/>
          </a:xfrm>
          <a:prstGeom prst="roundRect">
            <a:avLst>
              <a:gd name="adj" fmla="val 6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360919" y="2907792"/>
            <a:ext cx="1837943"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Guardian · OPA</a:t>
            </a:r>
          </a:p>
          <a:p>
            <a:pPr>
              <a:spcAft>
                <a:spcPts val="100"/>
              </a:spcAft>
            </a:pPr>
            <a:r>
              <a:rPr sz="630" b="0" i="0">
                <a:solidFill>
                  <a:srgbClr val="2B2B2B"/>
                </a:solidFill>
                <a:latin typeface="Trenda IG Text"/>
              </a:rPr>
              <a:t>Diff + ownership graph: PASS, NEEDS OWNER APPROVAL or BLOCK.</a:t>
            </a:r>
          </a:p>
        </p:txBody>
      </p:sp>
      <p:sp>
        <p:nvSpPr>
          <p:cNvPr id="78" name="Shape 73"/>
          <p:cNvSpPr/>
          <p:nvPr/>
        </p:nvSpPr>
        <p:spPr>
          <a:xfrm>
            <a:off x="7287768" y="3493008"/>
            <a:ext cx="1984248" cy="960120"/>
          </a:xfrm>
          <a:prstGeom prst="roundRect">
            <a:avLst>
              <a:gd name="adj" fmla="val 6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4"/>
          <p:cNvSpPr txBox="1"/>
          <p:nvPr/>
        </p:nvSpPr>
        <p:spPr>
          <a:xfrm>
            <a:off x="7360919" y="3538728"/>
            <a:ext cx="1837943"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MCP tool gateway</a:t>
            </a:r>
          </a:p>
          <a:p>
            <a:pPr>
              <a:spcAft>
                <a:spcPts val="100"/>
              </a:spcAft>
            </a:pPr>
            <a:r>
              <a:rPr sz="610" b="0" i="0">
                <a:solidFill>
                  <a:srgbClr val="000000"/>
                </a:solidFill>
                <a:latin typeface="Trenda IG Text"/>
              </a:rPr>
              <a:t>Checks identity, tool, target and approval, then acts; every decision logged.</a:t>
            </a:r>
          </a:p>
        </p:txBody>
      </p:sp>
      <p:sp>
        <p:nvSpPr>
          <p:cNvPr id="80" name="Shape 75"/>
          <p:cNvSpPr/>
          <p:nvPr/>
        </p:nvSpPr>
        <p:spPr>
          <a:xfrm>
            <a:off x="736091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6"/>
          <p:cNvSpPr txBox="1"/>
          <p:nvPr/>
        </p:nvSpPr>
        <p:spPr>
          <a:xfrm>
            <a:off x="736091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sa-ai-read</a:t>
            </a:r>
          </a:p>
        </p:txBody>
      </p:sp>
      <p:sp>
        <p:nvSpPr>
          <p:cNvPr id="82" name="Shape 77"/>
          <p:cNvSpPr/>
          <p:nvPr/>
        </p:nvSpPr>
        <p:spPr>
          <a:xfrm>
            <a:off x="798575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98575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sa-ai-dev</a:t>
            </a:r>
          </a:p>
        </p:txBody>
      </p:sp>
      <p:sp>
        <p:nvSpPr>
          <p:cNvPr id="84" name="Shape 79"/>
          <p:cNvSpPr/>
          <p:nvPr/>
        </p:nvSpPr>
        <p:spPr>
          <a:xfrm>
            <a:off x="8610600"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0"/>
          <p:cNvSpPr txBox="1"/>
          <p:nvPr/>
        </p:nvSpPr>
        <p:spPr>
          <a:xfrm>
            <a:off x="8610600"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sa-ai-release</a:t>
            </a:r>
          </a:p>
        </p:txBody>
      </p:sp>
      <p:sp>
        <p:nvSpPr>
          <p:cNvPr id="86" name="Text 81"/>
          <p:cNvSpPr txBox="1"/>
          <p:nvPr/>
        </p:nvSpPr>
        <p:spPr>
          <a:xfrm>
            <a:off x="7360919" y="4224528"/>
            <a:ext cx="1837943" cy="182880"/>
          </a:xfrm>
          <a:prstGeom prst="rect">
            <a:avLst/>
          </a:prstGeom>
          <a:noFill/>
        </p:spPr>
        <p:txBody>
          <a:bodyPr wrap="square" lIns="0" rIns="0" tIns="0" bIns="0" anchor="ctr">
            <a:spAutoFit/>
          </a:bodyPr>
          <a:lstStyle/>
          <a:p>
            <a:r>
              <a:rPr sz="600" b="1" i="0">
                <a:solidFill>
                  <a:srgbClr val="FF0069"/>
                </a:solidFill>
                <a:latin typeface="Trenda IG Text"/>
              </a:rPr>
              <a:t>No production identity for any agent.</a:t>
            </a:r>
          </a:p>
        </p:txBody>
      </p:sp>
      <p:sp>
        <p:nvSpPr>
          <p:cNvPr id="87" name="Shape 82"/>
          <p:cNvSpPr/>
          <p:nvPr/>
        </p:nvSpPr>
        <p:spPr>
          <a:xfrm>
            <a:off x="3551529" y="2738628"/>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3551529" y="2738628"/>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89" name="Shape 84"/>
          <p:cNvSpPr/>
          <p:nvPr/>
        </p:nvSpPr>
        <p:spPr>
          <a:xfrm>
            <a:off x="8637422" y="2738628"/>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5"/>
          <p:cNvSpPr txBox="1"/>
          <p:nvPr/>
        </p:nvSpPr>
        <p:spPr>
          <a:xfrm>
            <a:off x="8637422" y="2738628"/>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91" name="Shape 86"/>
          <p:cNvSpPr/>
          <p:nvPr/>
        </p:nvSpPr>
        <p:spPr>
          <a:xfrm>
            <a:off x="8684971" y="3378708"/>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7"/>
          <p:cNvSpPr txBox="1"/>
          <p:nvPr/>
        </p:nvSpPr>
        <p:spPr>
          <a:xfrm>
            <a:off x="8684971" y="3378708"/>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cxnSp>
        <p:nvCxnSpPr>
          <p:cNvPr id="93" name="Arrow 88"/>
          <p:cNvCxnSpPr/>
          <p:nvPr/>
        </p:nvCxnSpPr>
        <p:spPr>
          <a:xfrm>
            <a:off x="4453128" y="3310128"/>
            <a:ext cx="91440"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9"/>
          <p:cNvCxnSpPr/>
          <p:nvPr/>
        </p:nvCxnSpPr>
        <p:spPr>
          <a:xfrm>
            <a:off x="7196328" y="3767328"/>
            <a:ext cx="9144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Shape 90"/>
          <p:cNvSpPr/>
          <p:nvPr/>
        </p:nvSpPr>
        <p:spPr>
          <a:xfrm>
            <a:off x="7150608" y="3511296"/>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1"/>
          <p:cNvSpPr txBox="1"/>
          <p:nvPr/>
        </p:nvSpPr>
        <p:spPr>
          <a:xfrm>
            <a:off x="7150608" y="3511296"/>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4</a:t>
            </a:r>
          </a:p>
        </p:txBody>
      </p:sp>
      <p:cxnSp>
        <p:nvCxnSpPr>
          <p:cNvPr id="97" name="Arrow 92"/>
          <p:cNvCxnSpPr/>
          <p:nvPr/>
        </p:nvCxnSpPr>
        <p:spPr>
          <a:xfrm>
            <a:off x="8279892" y="3419856"/>
            <a:ext cx="0" cy="73152"/>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3"/>
          <p:cNvCxnSpPr/>
          <p:nvPr/>
        </p:nvCxnSpPr>
        <p:spPr>
          <a:xfrm flipV="1">
            <a:off x="5001768" y="2423160"/>
            <a:ext cx="0" cy="429768"/>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Shape 94"/>
          <p:cNvSpPr/>
          <p:nvPr/>
        </p:nvSpPr>
        <p:spPr>
          <a:xfrm>
            <a:off x="5093208" y="252374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93208" y="252374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3</a:t>
            </a:r>
          </a:p>
        </p:txBody>
      </p:sp>
      <p:sp>
        <p:nvSpPr>
          <p:cNvPr id="101" name="Text 96"/>
          <p:cNvSpPr txBox="1"/>
          <p:nvPr/>
        </p:nvSpPr>
        <p:spPr>
          <a:xfrm>
            <a:off x="5294376" y="2523744"/>
            <a:ext cx="1463040" cy="173736"/>
          </a:xfrm>
          <a:prstGeom prst="rect">
            <a:avLst/>
          </a:prstGeom>
          <a:noFill/>
        </p:spPr>
        <p:txBody>
          <a:bodyPr wrap="square" lIns="0" rIns="0" tIns="0" bIns="0" anchor="ctr">
            <a:spAutoFit/>
          </a:bodyPr>
          <a:lstStyle/>
          <a:p>
            <a:r>
              <a:rPr sz="600" b="1" i="0">
                <a:solidFill>
                  <a:srgbClr val="4527A0"/>
                </a:solidFill>
                <a:latin typeface="Trenda IG Text"/>
              </a:rPr>
              <a:t>graph.* · cited facts</a:t>
            </a:r>
          </a:p>
        </p:txBody>
      </p:sp>
      <p:sp>
        <p:nvSpPr>
          <p:cNvPr id="102" name="Shape 97"/>
          <p:cNvSpPr/>
          <p:nvPr/>
        </p:nvSpPr>
        <p:spPr>
          <a:xfrm>
            <a:off x="2697480" y="4636008"/>
            <a:ext cx="2286000" cy="731520"/>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8"/>
          <p:cNvSpPr txBox="1"/>
          <p:nvPr/>
        </p:nvSpPr>
        <p:spPr>
          <a:xfrm>
            <a:off x="2788920" y="4681728"/>
            <a:ext cx="1737360" cy="65836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 gate · Cloud Build</a:t>
            </a:r>
          </a:p>
          <a:p>
            <a:pPr>
              <a:spcAft>
                <a:spcPts val="100"/>
              </a:spcAft>
            </a:pPr>
            <a:r>
              <a:rPr sz="610" b="0" i="0">
                <a:solidFill>
                  <a:srgbClr val="000000"/>
                </a:solidFill>
                <a:latin typeface="Trenda IG Text"/>
              </a:rPr>
              <a:t>Golden set + held-out set pass before any prompt, skill or model change. Weekly blind sample labelled by your experts.</a:t>
            </a:r>
          </a:p>
        </p:txBody>
      </p:sp>
      <p:sp>
        <p:nvSpPr>
          <p:cNvPr id="104" name="Shape 99"/>
          <p:cNvSpPr/>
          <p:nvPr/>
        </p:nvSpPr>
        <p:spPr>
          <a:xfrm>
            <a:off x="4489704" y="4690872"/>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4489704" y="4690872"/>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sp>
        <p:nvSpPr>
          <p:cNvPr id="106" name="Shape 101"/>
          <p:cNvSpPr/>
          <p:nvPr/>
        </p:nvSpPr>
        <p:spPr>
          <a:xfrm>
            <a:off x="2788920" y="4521708"/>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2788920" y="4521708"/>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108" name="Shape 103"/>
          <p:cNvSpPr/>
          <p:nvPr/>
        </p:nvSpPr>
        <p:spPr>
          <a:xfrm>
            <a:off x="5074920" y="4636008"/>
            <a:ext cx="14630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5148072" y="4690872"/>
            <a:ext cx="13167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passport · BigQuery</a:t>
            </a:r>
          </a:p>
          <a:p>
            <a:pPr>
              <a:spcAft>
                <a:spcPts val="100"/>
              </a:spcAft>
            </a:pPr>
            <a:r>
              <a:rPr sz="630" b="0" i="0">
                <a:solidFill>
                  <a:srgbClr val="2B2B2B"/>
                </a:solidFill>
                <a:latin typeface="Trenda IG Text"/>
              </a:rPr>
              <a:t>One hash-chained row per event: tamper-evident.</a:t>
            </a:r>
          </a:p>
        </p:txBody>
      </p:sp>
      <p:sp>
        <p:nvSpPr>
          <p:cNvPr id="110" name="Shape 105"/>
          <p:cNvSpPr/>
          <p:nvPr/>
        </p:nvSpPr>
        <p:spPr>
          <a:xfrm>
            <a:off x="6629400" y="4636008"/>
            <a:ext cx="12344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6"/>
          <p:cNvSpPr txBox="1"/>
          <p:nvPr/>
        </p:nvSpPr>
        <p:spPr>
          <a:xfrm>
            <a:off x="6702552" y="4690872"/>
            <a:ext cx="10881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Measured per pod</a:t>
            </a:r>
          </a:p>
          <a:p>
            <a:pPr>
              <a:spcAft>
                <a:spcPts val="100"/>
              </a:spcAft>
            </a:pPr>
            <a:r>
              <a:rPr sz="630" b="0" i="0">
                <a:solidFill>
                  <a:srgbClr val="2B2B2B"/>
                </a:solidFill>
                <a:latin typeface="Trenda IG Text"/>
              </a:rPr>
              <a:t>Cycle time, rework, defects, cost per change.</a:t>
            </a:r>
          </a:p>
        </p:txBody>
      </p:sp>
      <p:sp>
        <p:nvSpPr>
          <p:cNvPr id="112" name="Shape 107"/>
          <p:cNvSpPr/>
          <p:nvPr/>
        </p:nvSpPr>
        <p:spPr>
          <a:xfrm>
            <a:off x="7955279" y="4636008"/>
            <a:ext cx="1408176"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3" name="Picture 112" descr="openai.png"/>
          <p:cNvPicPr>
            <a:picLocks noChangeAspect="1"/>
          </p:cNvPicPr>
          <p:nvPr/>
        </p:nvPicPr>
        <p:blipFill>
          <a:blip r:embed="rId6"/>
          <a:stretch>
            <a:fillRect/>
          </a:stretch>
        </p:blipFill>
        <p:spPr>
          <a:xfrm>
            <a:off x="9107424" y="4700016"/>
            <a:ext cx="182880" cy="182880"/>
          </a:xfrm>
          <a:prstGeom prst="rect">
            <a:avLst/>
          </a:prstGeom>
        </p:spPr>
      </p:pic>
      <p:sp>
        <p:nvSpPr>
          <p:cNvPr id="114" name="Text 108"/>
          <p:cNvSpPr txBox="1"/>
          <p:nvPr/>
        </p:nvSpPr>
        <p:spPr>
          <a:xfrm>
            <a:off x="8028431" y="4690872"/>
            <a:ext cx="1024128"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Codex Enterprise</a:t>
            </a:r>
          </a:p>
          <a:p>
            <a:pPr>
              <a:spcAft>
                <a:spcPts val="100"/>
              </a:spcAft>
            </a:pPr>
            <a:r>
              <a:rPr sz="630" b="0" i="0">
                <a:solidFill>
                  <a:srgbClr val="2B2B2B"/>
                </a:solidFill>
                <a:latin typeface="Trenda IG Text"/>
              </a:rPr>
              <a:t>Model Armor screens every prompt and response; enterprise data protection signed.</a:t>
            </a:r>
          </a:p>
        </p:txBody>
      </p:sp>
      <p:sp>
        <p:nvSpPr>
          <p:cNvPr id="115" name="Shape 109"/>
          <p:cNvSpPr/>
          <p:nvPr/>
        </p:nvSpPr>
        <p:spPr>
          <a:xfrm>
            <a:off x="9601200" y="1161288"/>
            <a:ext cx="2176272"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692640" y="1161288"/>
            <a:ext cx="1993391" cy="256032"/>
          </a:xfrm>
          <a:prstGeom prst="rect">
            <a:avLst/>
          </a:prstGeom>
          <a:noFill/>
        </p:spPr>
        <p:txBody>
          <a:bodyPr wrap="square" lIns="0" rIns="0" tIns="0" bIns="0" anchor="ctr">
            <a:spAutoFit/>
          </a:bodyPr>
          <a:lstStyle/>
          <a:p>
            <a:r>
              <a:rPr sz="750" b="1" i="0" spc="150">
                <a:solidFill>
                  <a:srgbClr val="FFFFFF"/>
                </a:solidFill>
                <a:latin typeface="Trenda IG Text"/>
              </a:rPr>
              <a:t>SYSTEMS OF RECORD</a:t>
            </a:r>
            <a:r>
              <a:rPr sz="750" b="0" i="0">
                <a:solidFill>
                  <a:srgbClr val="BFBFBF"/>
                </a:solidFill>
                <a:latin typeface="Trenda IG Text"/>
              </a:rPr>
              <a:t>   read · write</a:t>
            </a:r>
          </a:p>
        </p:txBody>
      </p:sp>
      <p:sp>
        <p:nvSpPr>
          <p:cNvPr id="117" name="Shape 111"/>
          <p:cNvSpPr/>
          <p:nvPr/>
        </p:nvSpPr>
        <p:spPr>
          <a:xfrm>
            <a:off x="9601200" y="1417320"/>
            <a:ext cx="2176272"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jira.png"/>
          <p:cNvPicPr>
            <a:picLocks noChangeAspect="1"/>
          </p:cNvPicPr>
          <p:nvPr/>
        </p:nvPicPr>
        <p:blipFill>
          <a:blip r:embed="rId7"/>
          <a:stretch>
            <a:fillRect/>
          </a:stretch>
        </p:blipFill>
        <p:spPr>
          <a:xfrm>
            <a:off x="9692640" y="1508760"/>
            <a:ext cx="164592" cy="164592"/>
          </a:xfrm>
          <a:prstGeom prst="rect">
            <a:avLst/>
          </a:prstGeom>
        </p:spPr>
      </p:pic>
      <p:sp>
        <p:nvSpPr>
          <p:cNvPr id="119" name="Text 112"/>
          <p:cNvSpPr txBox="1"/>
          <p:nvPr/>
        </p:nvSpPr>
        <p:spPr>
          <a:xfrm>
            <a:off x="9912096" y="1508760"/>
            <a:ext cx="1773936" cy="164592"/>
          </a:xfrm>
          <a:prstGeom prst="rect">
            <a:avLst/>
          </a:prstGeom>
          <a:noFill/>
        </p:spPr>
        <p:txBody>
          <a:bodyPr wrap="square" lIns="0" rIns="0" tIns="0" bIns="0" anchor="ctr">
            <a:spAutoFit/>
          </a:bodyPr>
          <a:lstStyle/>
          <a:p>
            <a:r>
              <a:rPr sz="750" b="1" i="0">
                <a:solidFill>
                  <a:srgbClr val="000000"/>
                </a:solidFill>
                <a:latin typeface="Trenda IG Text"/>
              </a:rPr>
              <a:t>Jira</a:t>
            </a:r>
          </a:p>
        </p:txBody>
      </p:sp>
      <p:sp>
        <p:nvSpPr>
          <p:cNvPr id="120" name="Shape 113"/>
          <p:cNvSpPr/>
          <p:nvPr/>
        </p:nvSpPr>
        <p:spPr>
          <a:xfrm>
            <a:off x="9692640" y="1700784"/>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9692640" y="1700784"/>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22" name="Text 115"/>
          <p:cNvSpPr txBox="1"/>
          <p:nvPr/>
        </p:nvSpPr>
        <p:spPr>
          <a:xfrm>
            <a:off x="10094976" y="1682495"/>
            <a:ext cx="1591055" cy="146304"/>
          </a:xfrm>
          <a:prstGeom prst="rect">
            <a:avLst/>
          </a:prstGeom>
          <a:noFill/>
        </p:spPr>
        <p:txBody>
          <a:bodyPr wrap="square" lIns="0" rIns="0" tIns="0" bIns="0" anchor="ctr">
            <a:spAutoFit/>
          </a:bodyPr>
          <a:lstStyle/>
          <a:p>
            <a:r>
              <a:rPr sz="600" b="0" i="0">
                <a:solidFill>
                  <a:srgbClr val="2B2B2B"/>
                </a:solidFill>
                <a:latin typeface="Trenda IG Text"/>
              </a:rPr>
              <a:t>stories, criteria</a:t>
            </a:r>
          </a:p>
        </p:txBody>
      </p:sp>
      <p:sp>
        <p:nvSpPr>
          <p:cNvPr id="123" name="Shape 116"/>
          <p:cNvSpPr/>
          <p:nvPr/>
        </p:nvSpPr>
        <p:spPr>
          <a:xfrm>
            <a:off x="9692640" y="1837943"/>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9692640" y="1837943"/>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25" name="Text 118"/>
          <p:cNvSpPr txBox="1"/>
          <p:nvPr/>
        </p:nvSpPr>
        <p:spPr>
          <a:xfrm>
            <a:off x="10094976" y="1819655"/>
            <a:ext cx="1591055" cy="146304"/>
          </a:xfrm>
          <a:prstGeom prst="rect">
            <a:avLst/>
          </a:prstGeom>
          <a:noFill/>
        </p:spPr>
        <p:txBody>
          <a:bodyPr wrap="square" lIns="0" rIns="0" tIns="0" bIns="0" anchor="ctr">
            <a:spAutoFit/>
          </a:bodyPr>
          <a:lstStyle/>
          <a:p>
            <a:r>
              <a:rPr sz="600" b="0" i="0">
                <a:solidFill>
                  <a:srgbClr val="2B2B2B"/>
                </a:solidFill>
                <a:latin typeface="Trenda IG Text"/>
              </a:rPr>
              <a:t>brief, status to Done</a:t>
            </a:r>
          </a:p>
        </p:txBody>
      </p:sp>
      <p:pic>
        <p:nvPicPr>
          <p:cNvPr id="126" name="Picture 125" descr="confluence.png"/>
          <p:cNvPicPr>
            <a:picLocks noChangeAspect="1"/>
          </p:cNvPicPr>
          <p:nvPr/>
        </p:nvPicPr>
        <p:blipFill>
          <a:blip r:embed="rId8"/>
          <a:stretch>
            <a:fillRect/>
          </a:stretch>
        </p:blipFill>
        <p:spPr>
          <a:xfrm>
            <a:off x="9692640" y="2029967"/>
            <a:ext cx="164592" cy="164592"/>
          </a:xfrm>
          <a:prstGeom prst="rect">
            <a:avLst/>
          </a:prstGeom>
        </p:spPr>
      </p:pic>
      <p:sp>
        <p:nvSpPr>
          <p:cNvPr id="127" name="Text 119"/>
          <p:cNvSpPr txBox="1"/>
          <p:nvPr/>
        </p:nvSpPr>
        <p:spPr>
          <a:xfrm>
            <a:off x="9912096" y="2029967"/>
            <a:ext cx="1773936" cy="164592"/>
          </a:xfrm>
          <a:prstGeom prst="rect">
            <a:avLst/>
          </a:prstGeom>
          <a:noFill/>
        </p:spPr>
        <p:txBody>
          <a:bodyPr wrap="square" lIns="0" rIns="0" tIns="0" bIns="0" anchor="ctr">
            <a:spAutoFit/>
          </a:bodyPr>
          <a:lstStyle/>
          <a:p>
            <a:r>
              <a:rPr sz="750" b="1" i="0">
                <a:solidFill>
                  <a:srgbClr val="000000"/>
                </a:solidFill>
                <a:latin typeface="Trenda IG Text"/>
              </a:rPr>
              <a:t>Confluence</a:t>
            </a:r>
          </a:p>
        </p:txBody>
      </p:sp>
      <p:sp>
        <p:nvSpPr>
          <p:cNvPr id="128" name="Shape 120"/>
          <p:cNvSpPr/>
          <p:nvPr/>
        </p:nvSpPr>
        <p:spPr>
          <a:xfrm>
            <a:off x="9692640" y="2221991"/>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1"/>
          <p:cNvSpPr txBox="1"/>
          <p:nvPr/>
        </p:nvSpPr>
        <p:spPr>
          <a:xfrm>
            <a:off x="9692640" y="2221991"/>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0" name="Text 122"/>
          <p:cNvSpPr txBox="1"/>
          <p:nvPr/>
        </p:nvSpPr>
        <p:spPr>
          <a:xfrm>
            <a:off x="10094976" y="2203703"/>
            <a:ext cx="1591055" cy="146304"/>
          </a:xfrm>
          <a:prstGeom prst="rect">
            <a:avLst/>
          </a:prstGeom>
          <a:noFill/>
        </p:spPr>
        <p:txBody>
          <a:bodyPr wrap="square" lIns="0" rIns="0" tIns="0" bIns="0" anchor="ctr">
            <a:spAutoFit/>
          </a:bodyPr>
          <a:lstStyle/>
          <a:p>
            <a:r>
              <a:rPr sz="600" b="0" i="0">
                <a:solidFill>
                  <a:srgbClr val="2B2B2B"/>
                </a:solidFill>
                <a:latin typeface="Trenda IG Text"/>
              </a:rPr>
              <a:t>designs, rules</a:t>
            </a:r>
          </a:p>
        </p:txBody>
      </p:sp>
      <p:sp>
        <p:nvSpPr>
          <p:cNvPr id="131" name="Shape 123"/>
          <p:cNvSpPr/>
          <p:nvPr/>
        </p:nvSpPr>
        <p:spPr>
          <a:xfrm>
            <a:off x="9692640" y="2359151"/>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24"/>
          <p:cNvSpPr txBox="1"/>
          <p:nvPr/>
        </p:nvSpPr>
        <p:spPr>
          <a:xfrm>
            <a:off x="9692640" y="2359151"/>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33" name="Text 125"/>
          <p:cNvSpPr txBox="1"/>
          <p:nvPr/>
        </p:nvSpPr>
        <p:spPr>
          <a:xfrm>
            <a:off x="10094976" y="2340863"/>
            <a:ext cx="1591055" cy="146304"/>
          </a:xfrm>
          <a:prstGeom prst="rect">
            <a:avLst/>
          </a:prstGeom>
          <a:noFill/>
        </p:spPr>
        <p:txBody>
          <a:bodyPr wrap="square" lIns="0" rIns="0" tIns="0" bIns="0" anchor="ctr">
            <a:spAutoFit/>
          </a:bodyPr>
          <a:lstStyle/>
          <a:p>
            <a:r>
              <a:rPr sz="600" b="0" i="0">
                <a:solidFill>
                  <a:srgbClr val="2B2B2B"/>
                </a:solidFill>
                <a:latin typeface="Trenda IG Text"/>
              </a:rPr>
              <a:t>design draft, as-built</a:t>
            </a:r>
          </a:p>
        </p:txBody>
      </p:sp>
      <p:pic>
        <p:nvPicPr>
          <p:cNvPr id="134" name="Picture 133" descr="googledrive.png"/>
          <p:cNvPicPr>
            <a:picLocks noChangeAspect="1"/>
          </p:cNvPicPr>
          <p:nvPr/>
        </p:nvPicPr>
        <p:blipFill>
          <a:blip r:embed="rId9"/>
          <a:stretch>
            <a:fillRect/>
          </a:stretch>
        </p:blipFill>
        <p:spPr>
          <a:xfrm>
            <a:off x="9692640" y="2551176"/>
            <a:ext cx="164592" cy="164592"/>
          </a:xfrm>
          <a:prstGeom prst="rect">
            <a:avLst/>
          </a:prstGeom>
        </p:spPr>
      </p:pic>
      <p:sp>
        <p:nvSpPr>
          <p:cNvPr id="135" name="Text 126"/>
          <p:cNvSpPr txBox="1"/>
          <p:nvPr/>
        </p:nvSpPr>
        <p:spPr>
          <a:xfrm>
            <a:off x="9912096" y="2551176"/>
            <a:ext cx="1773936" cy="164592"/>
          </a:xfrm>
          <a:prstGeom prst="rect">
            <a:avLst/>
          </a:prstGeom>
          <a:noFill/>
        </p:spPr>
        <p:txBody>
          <a:bodyPr wrap="square" lIns="0" rIns="0" tIns="0" bIns="0" anchor="ctr">
            <a:spAutoFit/>
          </a:bodyPr>
          <a:lstStyle/>
          <a:p>
            <a:r>
              <a:rPr sz="750" b="1" i="0">
                <a:solidFill>
                  <a:srgbClr val="000000"/>
                </a:solidFill>
                <a:latin typeface="Trenda IG Text"/>
              </a:rPr>
              <a:t>Google Drive</a:t>
            </a:r>
          </a:p>
        </p:txBody>
      </p:sp>
      <p:sp>
        <p:nvSpPr>
          <p:cNvPr id="136" name="Shape 127"/>
          <p:cNvSpPr/>
          <p:nvPr/>
        </p:nvSpPr>
        <p:spPr>
          <a:xfrm>
            <a:off x="9692640" y="2743200"/>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8"/>
          <p:cNvSpPr txBox="1"/>
          <p:nvPr/>
        </p:nvSpPr>
        <p:spPr>
          <a:xfrm>
            <a:off x="9692640" y="2743200"/>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8" name="Text 129"/>
          <p:cNvSpPr txBox="1"/>
          <p:nvPr/>
        </p:nvSpPr>
        <p:spPr>
          <a:xfrm>
            <a:off x="10094976" y="2724912"/>
            <a:ext cx="1591055" cy="146304"/>
          </a:xfrm>
          <a:prstGeom prst="rect">
            <a:avLst/>
          </a:prstGeom>
          <a:noFill/>
        </p:spPr>
        <p:txBody>
          <a:bodyPr wrap="square" lIns="0" rIns="0" tIns="0" bIns="0" anchor="ctr">
            <a:spAutoFit/>
          </a:bodyPr>
          <a:lstStyle/>
          <a:p>
            <a:r>
              <a:rPr sz="600" b="0" i="0">
                <a:solidFill>
                  <a:srgbClr val="2B2B2B"/>
                </a:solidFill>
                <a:latin typeface="Trenda IG Text"/>
              </a:rPr>
              <a:t>specs, mapping sheets</a:t>
            </a:r>
          </a:p>
        </p:txBody>
      </p:sp>
      <p:pic>
        <p:nvPicPr>
          <p:cNvPr id="139" name="Picture 138" descr="git.png"/>
          <p:cNvPicPr>
            <a:picLocks noChangeAspect="1"/>
          </p:cNvPicPr>
          <p:nvPr/>
        </p:nvPicPr>
        <p:blipFill>
          <a:blip r:embed="rId10"/>
          <a:stretch>
            <a:fillRect/>
          </a:stretch>
        </p:blipFill>
        <p:spPr>
          <a:xfrm>
            <a:off x="9692640" y="2935224"/>
            <a:ext cx="164592" cy="164592"/>
          </a:xfrm>
          <a:prstGeom prst="rect">
            <a:avLst/>
          </a:prstGeom>
        </p:spPr>
      </p:pic>
      <p:sp>
        <p:nvSpPr>
          <p:cNvPr id="140" name="Text 130"/>
          <p:cNvSpPr txBox="1"/>
          <p:nvPr/>
        </p:nvSpPr>
        <p:spPr>
          <a:xfrm>
            <a:off x="9912096" y="2935224"/>
            <a:ext cx="1773936" cy="164592"/>
          </a:xfrm>
          <a:prstGeom prst="rect">
            <a:avLst/>
          </a:prstGeom>
          <a:noFill/>
        </p:spPr>
        <p:txBody>
          <a:bodyPr wrap="square" lIns="0" rIns="0" tIns="0" bIns="0" anchor="ctr">
            <a:spAutoFit/>
          </a:bodyPr>
          <a:lstStyle/>
          <a:p>
            <a:r>
              <a:rPr sz="750" b="1" i="0">
                <a:solidFill>
                  <a:srgbClr val="000000"/>
                </a:solidFill>
                <a:latin typeface="Trenda IG Text"/>
              </a:rPr>
              <a:t>Git</a:t>
            </a:r>
          </a:p>
        </p:txBody>
      </p:sp>
      <p:sp>
        <p:nvSpPr>
          <p:cNvPr id="141" name="Shape 131"/>
          <p:cNvSpPr/>
          <p:nvPr/>
        </p:nvSpPr>
        <p:spPr>
          <a:xfrm>
            <a:off x="9692640" y="3127248"/>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2"/>
          <p:cNvSpPr txBox="1"/>
          <p:nvPr/>
        </p:nvSpPr>
        <p:spPr>
          <a:xfrm>
            <a:off x="9692640" y="3127248"/>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43" name="Text 133"/>
          <p:cNvSpPr txBox="1"/>
          <p:nvPr/>
        </p:nvSpPr>
        <p:spPr>
          <a:xfrm>
            <a:off x="10094976" y="3108960"/>
            <a:ext cx="1591055" cy="146304"/>
          </a:xfrm>
          <a:prstGeom prst="rect">
            <a:avLst/>
          </a:prstGeom>
          <a:noFill/>
        </p:spPr>
        <p:txBody>
          <a:bodyPr wrap="square" lIns="0" rIns="0" tIns="0" bIns="0" anchor="ctr">
            <a:spAutoFit/>
          </a:bodyPr>
          <a:lstStyle/>
          <a:p>
            <a:r>
              <a:rPr sz="600" b="0" i="0">
                <a:solidFill>
                  <a:srgbClr val="2B2B2B"/>
                </a:solidFill>
                <a:latin typeface="Trenda IG Text"/>
              </a:rPr>
              <a:t>Apex, LWC, metadata</a:t>
            </a:r>
          </a:p>
        </p:txBody>
      </p:sp>
      <p:sp>
        <p:nvSpPr>
          <p:cNvPr id="144" name="Shape 134"/>
          <p:cNvSpPr/>
          <p:nvPr/>
        </p:nvSpPr>
        <p:spPr>
          <a:xfrm>
            <a:off x="9692640" y="3264408"/>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5"/>
          <p:cNvSpPr txBox="1"/>
          <p:nvPr/>
        </p:nvSpPr>
        <p:spPr>
          <a:xfrm>
            <a:off x="9692640" y="3264408"/>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46" name="Text 136"/>
          <p:cNvSpPr txBox="1"/>
          <p:nvPr/>
        </p:nvSpPr>
        <p:spPr>
          <a:xfrm>
            <a:off x="10094976" y="3246120"/>
            <a:ext cx="1591055" cy="146304"/>
          </a:xfrm>
          <a:prstGeom prst="rect">
            <a:avLst/>
          </a:prstGeom>
          <a:noFill/>
        </p:spPr>
        <p:txBody>
          <a:bodyPr wrap="square" lIns="0" rIns="0" tIns="0" bIns="0" anchor="ctr">
            <a:spAutoFit/>
          </a:bodyPr>
          <a:lstStyle/>
          <a:p>
            <a:r>
              <a:rPr sz="600" b="0" i="0">
                <a:solidFill>
                  <a:srgbClr val="2B2B2B"/>
                </a:solidFill>
                <a:latin typeface="Trenda IG Text"/>
              </a:rPr>
              <a:t>branch, pull request</a:t>
            </a:r>
          </a:p>
        </p:txBody>
      </p:sp>
      <p:pic>
        <p:nvPicPr>
          <p:cNvPr id="147" name="Picture 146" descr="salesforce.png"/>
          <p:cNvPicPr>
            <a:picLocks noChangeAspect="1"/>
          </p:cNvPicPr>
          <p:nvPr/>
        </p:nvPicPr>
        <p:blipFill>
          <a:blip r:embed="rId2"/>
          <a:stretch>
            <a:fillRect/>
          </a:stretch>
        </p:blipFill>
        <p:spPr>
          <a:xfrm>
            <a:off x="9692640" y="3456432"/>
            <a:ext cx="164592" cy="164592"/>
          </a:xfrm>
          <a:prstGeom prst="rect">
            <a:avLst/>
          </a:prstGeom>
        </p:spPr>
      </p:pic>
      <p:sp>
        <p:nvSpPr>
          <p:cNvPr id="148" name="Text 137"/>
          <p:cNvSpPr txBox="1"/>
          <p:nvPr/>
        </p:nvSpPr>
        <p:spPr>
          <a:xfrm>
            <a:off x="9912096" y="3456432"/>
            <a:ext cx="1773936" cy="164592"/>
          </a:xfrm>
          <a:prstGeom prst="rect">
            <a:avLst/>
          </a:prstGeom>
          <a:noFill/>
        </p:spPr>
        <p:txBody>
          <a:bodyPr wrap="square" lIns="0" rIns="0" tIns="0" bIns="0" anchor="ctr">
            <a:spAutoFit/>
          </a:bodyPr>
          <a:lstStyle/>
          <a:p>
            <a:r>
              <a:rPr sz="750" b="1" i="0">
                <a:solidFill>
                  <a:srgbClr val="000000"/>
                </a:solidFill>
                <a:latin typeface="Trenda IG Text"/>
              </a:rPr>
              <a:t>Salesforce</a:t>
            </a:r>
          </a:p>
        </p:txBody>
      </p:sp>
      <p:sp>
        <p:nvSpPr>
          <p:cNvPr id="149" name="Shape 138"/>
          <p:cNvSpPr/>
          <p:nvPr/>
        </p:nvSpPr>
        <p:spPr>
          <a:xfrm>
            <a:off x="9692640" y="3648456"/>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9"/>
          <p:cNvSpPr txBox="1"/>
          <p:nvPr/>
        </p:nvSpPr>
        <p:spPr>
          <a:xfrm>
            <a:off x="9692640" y="3648456"/>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51" name="Text 140"/>
          <p:cNvSpPr txBox="1"/>
          <p:nvPr/>
        </p:nvSpPr>
        <p:spPr>
          <a:xfrm>
            <a:off x="10094976" y="3630168"/>
            <a:ext cx="1591055" cy="146304"/>
          </a:xfrm>
          <a:prstGeom prst="rect">
            <a:avLst/>
          </a:prstGeom>
          <a:noFill/>
        </p:spPr>
        <p:txBody>
          <a:bodyPr wrap="square" lIns="0" rIns="0" tIns="0" bIns="0" anchor="ctr">
            <a:spAutoFit/>
          </a:bodyPr>
          <a:lstStyle/>
          <a:p>
            <a:r>
              <a:rPr sz="600" b="0" i="0">
                <a:solidFill>
                  <a:srgbClr val="2B2B2B"/>
                </a:solidFill>
                <a:latin typeface="Trenda IG Text"/>
              </a:rPr>
              <a:t>Health, Data, Marketing Cloud</a:t>
            </a:r>
          </a:p>
        </p:txBody>
      </p:sp>
      <p:sp>
        <p:nvSpPr>
          <p:cNvPr id="152" name="Shape 141"/>
          <p:cNvSpPr/>
          <p:nvPr/>
        </p:nvSpPr>
        <p:spPr>
          <a:xfrm>
            <a:off x="9692640" y="3785615"/>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2"/>
          <p:cNvSpPr txBox="1"/>
          <p:nvPr/>
        </p:nvSpPr>
        <p:spPr>
          <a:xfrm>
            <a:off x="9692640" y="3785615"/>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54" name="Text 143"/>
          <p:cNvSpPr txBox="1"/>
          <p:nvPr/>
        </p:nvSpPr>
        <p:spPr>
          <a:xfrm>
            <a:off x="10094976" y="3767328"/>
            <a:ext cx="1591055" cy="146304"/>
          </a:xfrm>
          <a:prstGeom prst="rect">
            <a:avLst/>
          </a:prstGeom>
          <a:noFill/>
        </p:spPr>
        <p:txBody>
          <a:bodyPr wrap="square" lIns="0" rIns="0" tIns="0" bIns="0" anchor="ctr">
            <a:spAutoFit/>
          </a:bodyPr>
          <a:lstStyle/>
          <a:p>
            <a:r>
              <a:rPr sz="600" b="0" i="0">
                <a:solidFill>
                  <a:srgbClr val="2B2B2B"/>
                </a:solidFill>
                <a:latin typeface="Trenda IG Text"/>
              </a:rPr>
              <a:t>DEV sandbox deploy</a:t>
            </a:r>
          </a:p>
        </p:txBody>
      </p:sp>
      <p:sp>
        <p:nvSpPr>
          <p:cNvPr id="155" name="Shape 144"/>
          <p:cNvSpPr/>
          <p:nvPr/>
        </p:nvSpPr>
        <p:spPr>
          <a:xfrm>
            <a:off x="9692640" y="3977640"/>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5"/>
          <p:cNvSpPr txBox="1"/>
          <p:nvPr/>
        </p:nvSpPr>
        <p:spPr>
          <a:xfrm>
            <a:off x="9692640" y="3977640"/>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ZS</a:t>
            </a:r>
          </a:p>
        </p:txBody>
      </p:sp>
      <p:sp>
        <p:nvSpPr>
          <p:cNvPr id="157" name="Text 146"/>
          <p:cNvSpPr txBox="1"/>
          <p:nvPr/>
        </p:nvSpPr>
        <p:spPr>
          <a:xfrm>
            <a:off x="9912096" y="3977640"/>
            <a:ext cx="1773936" cy="164592"/>
          </a:xfrm>
          <a:prstGeom prst="rect">
            <a:avLst/>
          </a:prstGeom>
          <a:noFill/>
        </p:spPr>
        <p:txBody>
          <a:bodyPr wrap="square" lIns="0" rIns="0" tIns="0" bIns="0" anchor="ctr">
            <a:spAutoFit/>
          </a:bodyPr>
          <a:lstStyle/>
          <a:p>
            <a:r>
              <a:rPr sz="750" b="1" i="0">
                <a:solidFill>
                  <a:srgbClr val="000000"/>
                </a:solidFill>
                <a:latin typeface="Trenda IG Text"/>
              </a:rPr>
              <a:t>Zephyr Scale</a:t>
            </a:r>
          </a:p>
        </p:txBody>
      </p:sp>
      <p:sp>
        <p:nvSpPr>
          <p:cNvPr id="158" name="Shape 147"/>
          <p:cNvSpPr/>
          <p:nvPr/>
        </p:nvSpPr>
        <p:spPr>
          <a:xfrm>
            <a:off x="9692640" y="4169664"/>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8"/>
          <p:cNvSpPr txBox="1"/>
          <p:nvPr/>
        </p:nvSpPr>
        <p:spPr>
          <a:xfrm>
            <a:off x="9692640" y="4169664"/>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0" name="Text 149"/>
          <p:cNvSpPr txBox="1"/>
          <p:nvPr/>
        </p:nvSpPr>
        <p:spPr>
          <a:xfrm>
            <a:off x="10094976" y="4151376"/>
            <a:ext cx="1591055" cy="146304"/>
          </a:xfrm>
          <a:prstGeom prst="rect">
            <a:avLst/>
          </a:prstGeom>
          <a:noFill/>
        </p:spPr>
        <p:txBody>
          <a:bodyPr wrap="square" lIns="0" rIns="0" tIns="0" bIns="0" anchor="ctr">
            <a:spAutoFit/>
          </a:bodyPr>
          <a:lstStyle/>
          <a:p>
            <a:r>
              <a:rPr sz="600" b="0" i="0">
                <a:solidFill>
                  <a:srgbClr val="2B2B2B"/>
                </a:solidFill>
                <a:latin typeface="Trenda IG Text"/>
              </a:rPr>
              <a:t>test cases, results</a:t>
            </a:r>
          </a:p>
        </p:txBody>
      </p:sp>
      <p:sp>
        <p:nvSpPr>
          <p:cNvPr id="161" name="Shape 150"/>
          <p:cNvSpPr/>
          <p:nvPr/>
        </p:nvSpPr>
        <p:spPr>
          <a:xfrm>
            <a:off x="9692640" y="4361688"/>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1"/>
          <p:cNvSpPr txBox="1"/>
          <p:nvPr/>
        </p:nvSpPr>
        <p:spPr>
          <a:xfrm>
            <a:off x="9692640" y="4361688"/>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Co</a:t>
            </a:r>
          </a:p>
        </p:txBody>
      </p:sp>
      <p:sp>
        <p:nvSpPr>
          <p:cNvPr id="163" name="Text 152"/>
          <p:cNvSpPr txBox="1"/>
          <p:nvPr/>
        </p:nvSpPr>
        <p:spPr>
          <a:xfrm>
            <a:off x="9912096" y="4361688"/>
            <a:ext cx="1773936" cy="164592"/>
          </a:xfrm>
          <a:prstGeom prst="rect">
            <a:avLst/>
          </a:prstGeom>
          <a:noFill/>
        </p:spPr>
        <p:txBody>
          <a:bodyPr wrap="square" lIns="0" rIns="0" tIns="0" bIns="0" anchor="ctr">
            <a:spAutoFit/>
          </a:bodyPr>
          <a:lstStyle/>
          <a:p>
            <a:r>
              <a:rPr sz="750" b="1" i="0">
                <a:solidFill>
                  <a:srgbClr val="000000"/>
                </a:solidFill>
                <a:latin typeface="Trenda IG Text"/>
              </a:rPr>
              <a:t>Copado</a:t>
            </a:r>
          </a:p>
        </p:txBody>
      </p:sp>
      <p:sp>
        <p:nvSpPr>
          <p:cNvPr id="164" name="Shape 153"/>
          <p:cNvSpPr/>
          <p:nvPr/>
        </p:nvSpPr>
        <p:spPr>
          <a:xfrm>
            <a:off x="9692640" y="4553712"/>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4"/>
          <p:cNvSpPr txBox="1"/>
          <p:nvPr/>
        </p:nvSpPr>
        <p:spPr>
          <a:xfrm>
            <a:off x="9692640" y="4553712"/>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66" name="Text 155"/>
          <p:cNvSpPr txBox="1"/>
          <p:nvPr/>
        </p:nvSpPr>
        <p:spPr>
          <a:xfrm>
            <a:off x="10094976" y="4535424"/>
            <a:ext cx="1591055" cy="146304"/>
          </a:xfrm>
          <a:prstGeom prst="rect">
            <a:avLst/>
          </a:prstGeom>
          <a:noFill/>
        </p:spPr>
        <p:txBody>
          <a:bodyPr wrap="square" lIns="0" rIns="0" tIns="0" bIns="0" anchor="ctr">
            <a:spAutoFit/>
          </a:bodyPr>
          <a:lstStyle/>
          <a:p>
            <a:r>
              <a:rPr sz="600" b="0" i="0">
                <a:solidFill>
                  <a:srgbClr val="2B2B2B"/>
                </a:solidFill>
                <a:latin typeface="Trenda IG Text"/>
              </a:rPr>
              <a:t>promotions, test runs</a:t>
            </a:r>
          </a:p>
        </p:txBody>
      </p:sp>
      <p:sp>
        <p:nvSpPr>
          <p:cNvPr id="167" name="Shape 156"/>
          <p:cNvSpPr/>
          <p:nvPr/>
        </p:nvSpPr>
        <p:spPr>
          <a:xfrm>
            <a:off x="9692640" y="4690872"/>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7"/>
          <p:cNvSpPr txBox="1"/>
          <p:nvPr/>
        </p:nvSpPr>
        <p:spPr>
          <a:xfrm>
            <a:off x="9692640" y="4690872"/>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9" name="Text 158"/>
          <p:cNvSpPr txBox="1"/>
          <p:nvPr/>
        </p:nvSpPr>
        <p:spPr>
          <a:xfrm>
            <a:off x="10094976" y="4672584"/>
            <a:ext cx="1591055" cy="146304"/>
          </a:xfrm>
          <a:prstGeom prst="rect">
            <a:avLst/>
          </a:prstGeom>
          <a:noFill/>
        </p:spPr>
        <p:txBody>
          <a:bodyPr wrap="square" lIns="0" rIns="0" tIns="0" bIns="0" anchor="ctr">
            <a:spAutoFit/>
          </a:bodyPr>
          <a:lstStyle/>
          <a:p>
            <a:r>
              <a:rPr sz="600" b="0" i="0">
                <a:solidFill>
                  <a:srgbClr val="2B2B2B"/>
                </a:solidFill>
                <a:latin typeface="Trenda IG Text"/>
              </a:rPr>
              <a:t>user story, SIT to UAT</a:t>
            </a:r>
          </a:p>
        </p:txBody>
      </p:sp>
      <p:sp>
        <p:nvSpPr>
          <p:cNvPr id="170" name="Shape 159"/>
          <p:cNvSpPr/>
          <p:nvPr/>
        </p:nvSpPr>
        <p:spPr>
          <a:xfrm>
            <a:off x="9692640" y="4901184"/>
            <a:ext cx="1993391" cy="502920"/>
          </a:xfrm>
          <a:prstGeom prst="roundRect">
            <a:avLst>
              <a:gd name="adj" fmla="val 8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0"/>
          <p:cNvSpPr txBox="1"/>
          <p:nvPr/>
        </p:nvSpPr>
        <p:spPr>
          <a:xfrm>
            <a:off x="9765792" y="4928616"/>
            <a:ext cx="1847088"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Production</a:t>
            </a:r>
          </a:p>
          <a:p>
            <a:pPr>
              <a:spcAft>
                <a:spcPts val="100"/>
              </a:spcAft>
            </a:pPr>
            <a:r>
              <a:rPr sz="600" b="0" i="0">
                <a:solidFill>
                  <a:srgbClr val="595959"/>
                </a:solidFill>
                <a:latin typeface="Trenda IG Text"/>
              </a:rPr>
              <a:t>The owning team deploys after CAB. No agent credential, no agent path.</a:t>
            </a:r>
          </a:p>
        </p:txBody>
      </p:sp>
      <p:cxnSp>
        <p:nvCxnSpPr>
          <p:cNvPr id="172" name="Arrow 161"/>
          <p:cNvCxnSpPr/>
          <p:nvPr/>
        </p:nvCxnSpPr>
        <p:spPr>
          <a:xfrm flipH="1">
            <a:off x="9363456" y="2011680"/>
            <a:ext cx="237744" cy="0"/>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3" name="Arrow 162"/>
          <p:cNvCxnSpPr/>
          <p:nvPr/>
        </p:nvCxnSpPr>
        <p:spPr>
          <a:xfrm>
            <a:off x="9363456" y="3950208"/>
            <a:ext cx="237744"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Arrow 163"/>
          <p:cNvCxnSpPr/>
          <p:nvPr/>
        </p:nvCxnSpPr>
        <p:spPr>
          <a:xfrm>
            <a:off x="2350008" y="3566160"/>
            <a:ext cx="438912" cy="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64"/>
          <p:cNvSpPr/>
          <p:nvPr/>
        </p:nvSpPr>
        <p:spPr>
          <a:xfrm>
            <a:off x="2459736" y="334670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65"/>
          <p:cNvSpPr txBox="1"/>
          <p:nvPr/>
        </p:nvSpPr>
        <p:spPr>
          <a:xfrm>
            <a:off x="2459736" y="334670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2</a:t>
            </a:r>
          </a:p>
        </p:txBody>
      </p:sp>
      <p:cxnSp>
        <p:nvCxnSpPr>
          <p:cNvPr id="177" name="Arrow 166"/>
          <p:cNvCxnSpPr/>
          <p:nvPr/>
        </p:nvCxnSpPr>
        <p:spPr>
          <a:xfrm flipH="1">
            <a:off x="2514600" y="3081528"/>
            <a:ext cx="274320"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8" name="Arrow 167"/>
          <p:cNvCxnSpPr/>
          <p:nvPr/>
        </p:nvCxnSpPr>
        <p:spPr>
          <a:xfrm flipV="1">
            <a:off x="2514600" y="2514600"/>
            <a:ext cx="0" cy="566928"/>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9" name="Arrow 168"/>
          <p:cNvCxnSpPr/>
          <p:nvPr/>
        </p:nvCxnSpPr>
        <p:spPr>
          <a:xfrm flipH="1">
            <a:off x="2350008" y="2514600"/>
            <a:ext cx="164592" cy="0"/>
          </a:xfrm>
          <a:prstGeom prst="line">
            <a:avLst/>
          </a:prstGeom>
          <a:ln w="12700">
            <a:solidFill>
              <a:srgbClr val="0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0" name="Shape 169"/>
          <p:cNvSpPr/>
          <p:nvPr/>
        </p:nvSpPr>
        <p:spPr>
          <a:xfrm>
            <a:off x="2551176" y="261518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 170"/>
          <p:cNvSpPr txBox="1"/>
          <p:nvPr/>
        </p:nvSpPr>
        <p:spPr>
          <a:xfrm>
            <a:off x="2551176" y="261518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5</a:t>
            </a:r>
          </a:p>
        </p:txBody>
      </p:sp>
      <p:sp>
        <p:nvSpPr>
          <p:cNvPr id="182" name="Text 171"/>
          <p:cNvSpPr txBox="1"/>
          <p:nvPr/>
        </p:nvSpPr>
        <p:spPr>
          <a:xfrm>
            <a:off x="411480" y="5550408"/>
            <a:ext cx="960120" cy="365760"/>
          </a:xfrm>
          <a:prstGeom prst="rect">
            <a:avLst/>
          </a:prstGeom>
          <a:noFill/>
        </p:spPr>
        <p:txBody>
          <a:bodyPr wrap="square" lIns="0" rIns="0" tIns="0" bIns="0" anchor="ctr">
            <a:spAutoFit/>
          </a:bodyPr>
          <a:lstStyle/>
          <a:p>
            <a:r>
              <a:rPr sz="630" b="1" i="0" spc="150">
                <a:solidFill>
                  <a:srgbClr val="000000"/>
                </a:solidFill>
                <a:latin typeface="Trenda IG Text"/>
              </a:rPr>
              <a:t>EACH RUN</a:t>
            </a:r>
          </a:p>
          <a:p>
            <a:r>
              <a:rPr sz="630" b="0" i="0">
                <a:solidFill>
                  <a:srgbClr val="595959"/>
                </a:solidFill>
                <a:latin typeface="Trenda IG Text"/>
              </a:rPr>
              <a:t>step by step</a:t>
            </a:r>
          </a:p>
        </p:txBody>
      </p:sp>
      <p:sp>
        <p:nvSpPr>
          <p:cNvPr id="183" name="Shape 172"/>
          <p:cNvSpPr/>
          <p:nvPr/>
        </p:nvSpPr>
        <p:spPr>
          <a:xfrm>
            <a:off x="141732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73"/>
          <p:cNvSpPr txBox="1"/>
          <p:nvPr/>
        </p:nvSpPr>
        <p:spPr>
          <a:xfrm>
            <a:off x="144475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01 Understand</a:t>
            </a:r>
          </a:p>
          <a:p>
            <a:pPr algn="ctr"/>
            <a:r>
              <a:rPr sz="530" b="0" i="0">
                <a:solidFill>
                  <a:srgbClr val="2B2B2B"/>
                </a:solidFill>
                <a:latin typeface="Trenda IG Text"/>
              </a:rPr>
              <a:t>Requirements</a:t>
            </a:r>
          </a:p>
        </p:txBody>
      </p:sp>
      <p:sp>
        <p:nvSpPr>
          <p:cNvPr id="185" name="Shape 174"/>
          <p:cNvSpPr/>
          <p:nvPr/>
        </p:nvSpPr>
        <p:spPr>
          <a:xfrm>
            <a:off x="155448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5"/>
          <p:cNvSpPr txBox="1"/>
          <p:nvPr/>
        </p:nvSpPr>
        <p:spPr>
          <a:xfrm>
            <a:off x="155448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87" name="Arrow 176"/>
          <p:cNvCxnSpPr/>
          <p:nvPr/>
        </p:nvCxnSpPr>
        <p:spPr>
          <a:xfrm>
            <a:off x="211226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7"/>
          <p:cNvSpPr/>
          <p:nvPr/>
        </p:nvSpPr>
        <p:spPr>
          <a:xfrm>
            <a:off x="215798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78"/>
          <p:cNvSpPr txBox="1"/>
          <p:nvPr/>
        </p:nvSpPr>
        <p:spPr>
          <a:xfrm>
            <a:off x="218541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H1</a:t>
            </a:r>
          </a:p>
          <a:p>
            <a:pPr algn="ctr"/>
            <a:r>
              <a:rPr sz="530" b="0" i="0">
                <a:solidFill>
                  <a:srgbClr val="2B2B2B"/>
                </a:solidFill>
                <a:latin typeface="Trenda IG Text"/>
              </a:rPr>
              <a:t>product owner</a:t>
            </a:r>
          </a:p>
        </p:txBody>
      </p:sp>
      <p:cxnSp>
        <p:nvCxnSpPr>
          <p:cNvPr id="190" name="Arrow 179"/>
          <p:cNvCxnSpPr/>
          <p:nvPr/>
        </p:nvCxnSpPr>
        <p:spPr>
          <a:xfrm>
            <a:off x="285292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0"/>
          <p:cNvSpPr/>
          <p:nvPr/>
        </p:nvSpPr>
        <p:spPr>
          <a:xfrm>
            <a:off x="289864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1"/>
          <p:cNvSpPr txBox="1"/>
          <p:nvPr/>
        </p:nvSpPr>
        <p:spPr>
          <a:xfrm>
            <a:off x="2926079"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02 Design</a:t>
            </a:r>
          </a:p>
          <a:p>
            <a:pPr algn="ctr"/>
            <a:r>
              <a:rPr sz="530" b="0" i="0">
                <a:solidFill>
                  <a:srgbClr val="2B2B2B"/>
                </a:solidFill>
                <a:latin typeface="Trenda IG Text"/>
              </a:rPr>
              <a:t>Architect + CG</a:t>
            </a:r>
          </a:p>
        </p:txBody>
      </p:sp>
      <p:sp>
        <p:nvSpPr>
          <p:cNvPr id="193" name="Shape 182"/>
          <p:cNvSpPr/>
          <p:nvPr/>
        </p:nvSpPr>
        <p:spPr>
          <a:xfrm>
            <a:off x="303580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3"/>
          <p:cNvSpPr txBox="1"/>
          <p:nvPr/>
        </p:nvSpPr>
        <p:spPr>
          <a:xfrm>
            <a:off x="303580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95" name="Arrow 184"/>
          <p:cNvCxnSpPr/>
          <p:nvPr/>
        </p:nvCxnSpPr>
        <p:spPr>
          <a:xfrm>
            <a:off x="3593591"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5"/>
          <p:cNvSpPr/>
          <p:nvPr/>
        </p:nvSpPr>
        <p:spPr>
          <a:xfrm>
            <a:off x="3639312"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6"/>
          <p:cNvSpPr txBox="1"/>
          <p:nvPr/>
        </p:nvSpPr>
        <p:spPr>
          <a:xfrm>
            <a:off x="366674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H2</a:t>
            </a:r>
          </a:p>
          <a:p>
            <a:pPr algn="ctr"/>
            <a:r>
              <a:rPr sz="530" b="0" i="0">
                <a:solidFill>
                  <a:srgbClr val="2B2B2B"/>
                </a:solidFill>
                <a:latin typeface="Trenda IG Text"/>
              </a:rPr>
              <a:t>architect + pods</a:t>
            </a:r>
          </a:p>
        </p:txBody>
      </p:sp>
      <p:cxnSp>
        <p:nvCxnSpPr>
          <p:cNvPr id="198" name="Arrow 187"/>
          <p:cNvCxnSpPr/>
          <p:nvPr/>
        </p:nvCxnSpPr>
        <p:spPr>
          <a:xfrm>
            <a:off x="433425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9" name="Shape 188"/>
          <p:cNvSpPr/>
          <p:nvPr/>
        </p:nvSpPr>
        <p:spPr>
          <a:xfrm>
            <a:off x="4379976"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 189"/>
          <p:cNvSpPr txBox="1"/>
          <p:nvPr/>
        </p:nvSpPr>
        <p:spPr>
          <a:xfrm>
            <a:off x="440740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03 Build</a:t>
            </a:r>
          </a:p>
          <a:p>
            <a:pPr algn="ctr"/>
            <a:r>
              <a:rPr sz="530" b="0" i="0">
                <a:solidFill>
                  <a:srgbClr val="2B2B2B"/>
                </a:solidFill>
                <a:latin typeface="Trenda IG Text"/>
              </a:rPr>
              <a:t>Developer</a:t>
            </a:r>
          </a:p>
        </p:txBody>
      </p:sp>
      <p:sp>
        <p:nvSpPr>
          <p:cNvPr id="201" name="Shape 190"/>
          <p:cNvSpPr/>
          <p:nvPr/>
        </p:nvSpPr>
        <p:spPr>
          <a:xfrm>
            <a:off x="4517136"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91"/>
          <p:cNvSpPr txBox="1"/>
          <p:nvPr/>
        </p:nvSpPr>
        <p:spPr>
          <a:xfrm>
            <a:off x="4517136"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3" name="Arrow 192"/>
          <p:cNvCxnSpPr/>
          <p:nvPr/>
        </p:nvCxnSpPr>
        <p:spPr>
          <a:xfrm>
            <a:off x="507492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4" name="Shape 193"/>
          <p:cNvSpPr/>
          <p:nvPr/>
        </p:nvSpPr>
        <p:spPr>
          <a:xfrm>
            <a:off x="512064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4"/>
          <p:cNvSpPr txBox="1"/>
          <p:nvPr/>
        </p:nvSpPr>
        <p:spPr>
          <a:xfrm>
            <a:off x="514807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04 Verify</a:t>
            </a:r>
          </a:p>
          <a:p>
            <a:pPr algn="ctr"/>
            <a:r>
              <a:rPr sz="530" b="0" i="0">
                <a:solidFill>
                  <a:srgbClr val="2B2B2B"/>
                </a:solidFill>
                <a:latin typeface="Trenda IG Text"/>
              </a:rPr>
              <a:t>Review + Test</a:t>
            </a:r>
          </a:p>
        </p:txBody>
      </p:sp>
      <p:sp>
        <p:nvSpPr>
          <p:cNvPr id="206" name="Shape 195"/>
          <p:cNvSpPr/>
          <p:nvPr/>
        </p:nvSpPr>
        <p:spPr>
          <a:xfrm>
            <a:off x="525780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6"/>
          <p:cNvSpPr txBox="1"/>
          <p:nvPr/>
        </p:nvSpPr>
        <p:spPr>
          <a:xfrm>
            <a:off x="525780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8" name="Arrow 197"/>
          <p:cNvCxnSpPr/>
          <p:nvPr/>
        </p:nvCxnSpPr>
        <p:spPr>
          <a:xfrm>
            <a:off x="581558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9" name="Shape 198"/>
          <p:cNvSpPr/>
          <p:nvPr/>
        </p:nvSpPr>
        <p:spPr>
          <a:xfrm>
            <a:off x="586130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9"/>
          <p:cNvSpPr txBox="1"/>
          <p:nvPr/>
        </p:nvSpPr>
        <p:spPr>
          <a:xfrm>
            <a:off x="588873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H3</a:t>
            </a:r>
          </a:p>
          <a:p>
            <a:pPr algn="ctr"/>
            <a:r>
              <a:rPr sz="530" b="0" i="0">
                <a:solidFill>
                  <a:srgbClr val="2B2B2B"/>
                </a:solidFill>
                <a:latin typeface="Trenda IG Text"/>
              </a:rPr>
              <a:t>tech lead + security</a:t>
            </a:r>
          </a:p>
        </p:txBody>
      </p:sp>
      <p:cxnSp>
        <p:nvCxnSpPr>
          <p:cNvPr id="211" name="Arrow 200"/>
          <p:cNvCxnSpPr/>
          <p:nvPr/>
        </p:nvCxnSpPr>
        <p:spPr>
          <a:xfrm>
            <a:off x="655624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2" name="Shape 201"/>
          <p:cNvSpPr/>
          <p:nvPr/>
        </p:nvSpPr>
        <p:spPr>
          <a:xfrm>
            <a:off x="660196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202"/>
          <p:cNvSpPr txBox="1"/>
          <p:nvPr/>
        </p:nvSpPr>
        <p:spPr>
          <a:xfrm>
            <a:off x="662940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05 Promote</a:t>
            </a:r>
          </a:p>
          <a:p>
            <a:pPr algn="ctr"/>
            <a:r>
              <a:rPr sz="530" b="0" i="0">
                <a:solidFill>
                  <a:srgbClr val="2B2B2B"/>
                </a:solidFill>
                <a:latin typeface="Trenda IG Text"/>
              </a:rPr>
              <a:t>Release · SIT, UAT</a:t>
            </a:r>
          </a:p>
        </p:txBody>
      </p:sp>
      <p:sp>
        <p:nvSpPr>
          <p:cNvPr id="214" name="Shape 203"/>
          <p:cNvSpPr/>
          <p:nvPr/>
        </p:nvSpPr>
        <p:spPr>
          <a:xfrm>
            <a:off x="673912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 204"/>
          <p:cNvSpPr txBox="1"/>
          <p:nvPr/>
        </p:nvSpPr>
        <p:spPr>
          <a:xfrm>
            <a:off x="673912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16" name="Arrow 205"/>
          <p:cNvCxnSpPr/>
          <p:nvPr/>
        </p:nvCxnSpPr>
        <p:spPr>
          <a:xfrm>
            <a:off x="7296912" y="5742432"/>
            <a:ext cx="4571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7" name="Shape 206"/>
          <p:cNvSpPr/>
          <p:nvPr/>
        </p:nvSpPr>
        <p:spPr>
          <a:xfrm>
            <a:off x="734263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 207"/>
          <p:cNvSpPr txBox="1"/>
          <p:nvPr/>
        </p:nvSpPr>
        <p:spPr>
          <a:xfrm>
            <a:off x="737006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06 UAT</a:t>
            </a:r>
          </a:p>
          <a:p>
            <a:pPr algn="ctr"/>
            <a:r>
              <a:rPr sz="530" b="0" i="0">
                <a:solidFill>
                  <a:srgbClr val="2B2B2B"/>
                </a:solidFill>
                <a:latin typeface="Trenda IG Text"/>
              </a:rPr>
              <a:t>business testers</a:t>
            </a:r>
          </a:p>
        </p:txBody>
      </p:sp>
      <p:cxnSp>
        <p:nvCxnSpPr>
          <p:cNvPr id="219" name="Arrow 208"/>
          <p:cNvCxnSpPr/>
          <p:nvPr/>
        </p:nvCxnSpPr>
        <p:spPr>
          <a:xfrm>
            <a:off x="803757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Shape 209"/>
          <p:cNvSpPr/>
          <p:nvPr/>
        </p:nvSpPr>
        <p:spPr>
          <a:xfrm>
            <a:off x="8083296"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 210"/>
          <p:cNvSpPr txBox="1"/>
          <p:nvPr/>
        </p:nvSpPr>
        <p:spPr>
          <a:xfrm>
            <a:off x="811072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H4</a:t>
            </a:r>
          </a:p>
          <a:p>
            <a:pPr algn="ctr"/>
            <a:r>
              <a:rPr sz="530" b="0" i="0">
                <a:solidFill>
                  <a:srgbClr val="2B2B2B"/>
                </a:solidFill>
                <a:latin typeface="Trenda IG Text"/>
              </a:rPr>
              <a:t>business sign-off</a:t>
            </a:r>
          </a:p>
        </p:txBody>
      </p:sp>
      <p:cxnSp>
        <p:nvCxnSpPr>
          <p:cNvPr id="222" name="Arrow 211"/>
          <p:cNvCxnSpPr/>
          <p:nvPr/>
        </p:nvCxnSpPr>
        <p:spPr>
          <a:xfrm>
            <a:off x="877824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3" name="Shape 212"/>
          <p:cNvSpPr/>
          <p:nvPr/>
        </p:nvSpPr>
        <p:spPr>
          <a:xfrm>
            <a:off x="882396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 213"/>
          <p:cNvSpPr txBox="1"/>
          <p:nvPr/>
        </p:nvSpPr>
        <p:spPr>
          <a:xfrm>
            <a:off x="885139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07 Prepare</a:t>
            </a:r>
          </a:p>
          <a:p>
            <a:pPr algn="ctr"/>
            <a:r>
              <a:rPr sz="530" b="0" i="0">
                <a:solidFill>
                  <a:srgbClr val="2B2B2B"/>
                </a:solidFill>
                <a:latin typeface="Trenda IG Text"/>
              </a:rPr>
              <a:t>Release · CAB pack</a:t>
            </a:r>
          </a:p>
        </p:txBody>
      </p:sp>
      <p:sp>
        <p:nvSpPr>
          <p:cNvPr id="225" name="Shape 214"/>
          <p:cNvSpPr/>
          <p:nvPr/>
        </p:nvSpPr>
        <p:spPr>
          <a:xfrm>
            <a:off x="896112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 215"/>
          <p:cNvSpPr txBox="1"/>
          <p:nvPr/>
        </p:nvSpPr>
        <p:spPr>
          <a:xfrm>
            <a:off x="896112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27" name="Arrow 216"/>
          <p:cNvCxnSpPr/>
          <p:nvPr/>
        </p:nvCxnSpPr>
        <p:spPr>
          <a:xfrm>
            <a:off x="951890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8" name="Shape 217"/>
          <p:cNvSpPr/>
          <p:nvPr/>
        </p:nvSpPr>
        <p:spPr>
          <a:xfrm>
            <a:off x="956462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Text 218"/>
          <p:cNvSpPr txBox="1"/>
          <p:nvPr/>
        </p:nvSpPr>
        <p:spPr>
          <a:xfrm>
            <a:off x="959205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CAB</a:t>
            </a:r>
          </a:p>
          <a:p>
            <a:pPr algn="ctr"/>
            <a:r>
              <a:rPr sz="530" b="0" i="0">
                <a:solidFill>
                  <a:srgbClr val="2B2B2B"/>
                </a:solidFill>
                <a:latin typeface="Trenda IG Text"/>
              </a:rPr>
              <a:t>release owner</a:t>
            </a:r>
          </a:p>
        </p:txBody>
      </p:sp>
      <p:cxnSp>
        <p:nvCxnSpPr>
          <p:cNvPr id="230" name="Arrow 219"/>
          <p:cNvCxnSpPr/>
          <p:nvPr/>
        </p:nvCxnSpPr>
        <p:spPr>
          <a:xfrm>
            <a:off x="1025956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1" name="Shape 220"/>
          <p:cNvSpPr/>
          <p:nvPr/>
        </p:nvSpPr>
        <p:spPr>
          <a:xfrm>
            <a:off x="10305288" y="5550408"/>
            <a:ext cx="694944" cy="384048"/>
          </a:xfrm>
          <a:prstGeom prst="roundRect">
            <a:avLst>
              <a:gd name="adj" fmla="val 25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 221"/>
          <p:cNvSpPr txBox="1"/>
          <p:nvPr/>
        </p:nvSpPr>
        <p:spPr>
          <a:xfrm>
            <a:off x="1033272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08 Deploy</a:t>
            </a:r>
          </a:p>
          <a:p>
            <a:pPr algn="ctr"/>
            <a:r>
              <a:rPr sz="530" b="0" i="0">
                <a:solidFill>
                  <a:srgbClr val="2B2B2B"/>
                </a:solidFill>
                <a:latin typeface="Trenda IG Text"/>
              </a:rPr>
              <a:t>owning team</a:t>
            </a:r>
          </a:p>
        </p:txBody>
      </p:sp>
      <p:cxnSp>
        <p:nvCxnSpPr>
          <p:cNvPr id="233" name="Arrow 222"/>
          <p:cNvCxnSpPr/>
          <p:nvPr/>
        </p:nvCxnSpPr>
        <p:spPr>
          <a:xfrm>
            <a:off x="11000232"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4" name="Shape 223"/>
          <p:cNvSpPr/>
          <p:nvPr/>
        </p:nvSpPr>
        <p:spPr>
          <a:xfrm>
            <a:off x="1104595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Text 224"/>
          <p:cNvSpPr txBox="1"/>
          <p:nvPr/>
        </p:nvSpPr>
        <p:spPr>
          <a:xfrm>
            <a:off x="1107338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09 Close</a:t>
            </a:r>
          </a:p>
          <a:p>
            <a:pPr algn="ctr"/>
            <a:r>
              <a:rPr sz="530" b="0" i="0">
                <a:solidFill>
                  <a:srgbClr val="2B2B2B"/>
                </a:solidFill>
                <a:latin typeface="Trenda IG Text"/>
              </a:rPr>
              <a:t>resync, Jira Done</a:t>
            </a:r>
          </a:p>
        </p:txBody>
      </p:sp>
      <p:sp>
        <p:nvSpPr>
          <p:cNvPr id="236" name="Text 225"/>
          <p:cNvSpPr txBox="1"/>
          <p:nvPr/>
        </p:nvSpPr>
        <p:spPr>
          <a:xfrm>
            <a:off x="411480" y="5980176"/>
            <a:ext cx="960120" cy="146304"/>
          </a:xfrm>
          <a:prstGeom prst="rect">
            <a:avLst/>
          </a:prstGeom>
          <a:noFill/>
        </p:spPr>
        <p:txBody>
          <a:bodyPr wrap="square" lIns="0" rIns="0" tIns="0" bIns="0" anchor="ctr">
            <a:spAutoFit/>
          </a:bodyPr>
          <a:lstStyle/>
          <a:p>
            <a:r>
              <a:rPr sz="550" b="1" i="0">
                <a:solidFill>
                  <a:srgbClr val="C9A800"/>
                </a:solidFill>
                <a:latin typeface="Trenda IG Text"/>
              </a:rPr>
              <a:t>EVALS</a:t>
            </a:r>
          </a:p>
        </p:txBody>
      </p:sp>
      <p:sp>
        <p:nvSpPr>
          <p:cNvPr id="237" name="Text 226"/>
          <p:cNvSpPr txBox="1"/>
          <p:nvPr/>
        </p:nvSpPr>
        <p:spPr>
          <a:xfrm>
            <a:off x="411480" y="6117336"/>
            <a:ext cx="960120" cy="182880"/>
          </a:xfrm>
          <a:prstGeom prst="rect">
            <a:avLst/>
          </a:prstGeom>
          <a:noFill/>
        </p:spPr>
        <p:txBody>
          <a:bodyPr wrap="square" lIns="0" rIns="0" tIns="0" bIns="0" anchor="t">
            <a:spAutoFit/>
          </a:bodyPr>
          <a:lstStyle/>
          <a:p>
            <a:r>
              <a:rPr sz="530" b="0" i="0">
                <a:solidFill>
                  <a:srgbClr val="595959"/>
                </a:solidFill>
                <a:latin typeface="Trenda IG Text"/>
              </a:rPr>
              <a:t>scored before it moves</a:t>
            </a:r>
          </a:p>
        </p:txBody>
      </p:sp>
      <p:grpSp>
        <p:nvGrpSpPr>
          <p:cNvPr id="238" name="Step 1 highlight"/>
          <p:cNvGrpSpPr/>
          <p:nvPr/>
        </p:nvGrpSpPr>
        <p:grpSpPr>
          <a:xfrm>
            <a:off x="365760" y="1115568"/>
            <a:ext cx="11457432" cy="5239512"/>
            <a:chOff x="365760" y="1115568"/>
            <a:chExt cx="11457432" cy="5239512"/>
          </a:xfrm>
        </p:grpSpPr>
        <p:sp>
          <p:nvSpPr>
            <p:cNvPr id="239" name="Shape 1"/>
            <p:cNvSpPr/>
            <p:nvPr/>
          </p:nvSpPr>
          <p:spPr>
            <a:xfrm>
              <a:off x="365760" y="1115568"/>
              <a:ext cx="11457432" cy="85039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Shape 2"/>
            <p:cNvSpPr/>
            <p:nvPr/>
          </p:nvSpPr>
          <p:spPr>
            <a:xfrm>
              <a:off x="365760" y="1965960"/>
              <a:ext cx="91439"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Shape 3"/>
            <p:cNvSpPr/>
            <p:nvPr/>
          </p:nvSpPr>
          <p:spPr>
            <a:xfrm>
              <a:off x="2395728" y="1965960"/>
              <a:ext cx="9427463"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Shape 4"/>
            <p:cNvSpPr/>
            <p:nvPr/>
          </p:nvSpPr>
          <p:spPr>
            <a:xfrm>
              <a:off x="365760" y="3429000"/>
              <a:ext cx="91439"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Shape 5"/>
            <p:cNvSpPr/>
            <p:nvPr/>
          </p:nvSpPr>
          <p:spPr>
            <a:xfrm>
              <a:off x="2834640" y="3429000"/>
              <a:ext cx="8988552"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Shape 6"/>
            <p:cNvSpPr/>
            <p:nvPr/>
          </p:nvSpPr>
          <p:spPr>
            <a:xfrm>
              <a:off x="365760" y="3703320"/>
              <a:ext cx="91439"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Shape 7"/>
            <p:cNvSpPr/>
            <p:nvPr/>
          </p:nvSpPr>
          <p:spPr>
            <a:xfrm>
              <a:off x="2395728" y="3703320"/>
              <a:ext cx="94274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Shape 8"/>
            <p:cNvSpPr/>
            <p:nvPr/>
          </p:nvSpPr>
          <p:spPr>
            <a:xfrm>
              <a:off x="365760" y="4270248"/>
              <a:ext cx="11457432" cy="2084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Shape 9"/>
            <p:cNvSpPr/>
            <p:nvPr/>
          </p:nvSpPr>
          <p:spPr>
            <a:xfrm>
              <a:off x="466344" y="1993392"/>
              <a:ext cx="1920240" cy="100584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Shape 10"/>
            <p:cNvSpPr/>
            <p:nvPr/>
          </p:nvSpPr>
          <p:spPr>
            <a:xfrm>
              <a:off x="466344" y="3163824"/>
              <a:ext cx="1920240" cy="10972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Shape 11"/>
            <p:cNvSpPr/>
            <p:nvPr/>
          </p:nvSpPr>
          <p:spPr>
            <a:xfrm>
              <a:off x="3063240" y="205740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 12"/>
            <p:cNvSpPr txBox="1"/>
            <p:nvPr/>
          </p:nvSpPr>
          <p:spPr>
            <a:xfrm>
              <a:off x="3191256" y="212140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 / 13   </a:t>
              </a:r>
              <a:r>
                <a:rPr sz="800" b="1" i="0" spc="120">
                  <a:solidFill>
                    <a:srgbClr val="FFFFFF"/>
                  </a:solidFill>
                  <a:latin typeface="Trenda IG Text"/>
                </a:rPr>
                <a:t>START IN SALESFORCE</a:t>
              </a:r>
            </a:p>
            <a:p>
              <a:pPr>
                <a:spcAft>
                  <a:spcPts val="200"/>
                </a:spcAft>
              </a:pPr>
              <a:r>
                <a:rPr sz="750" b="0" i="0">
                  <a:solidFill>
                    <a:srgbClr val="E6E6E6"/>
                  </a:solidFill>
                  <a:latin typeface="Trenda IG Text"/>
                </a:rPr>
                <a:t>Campaign story VBC-412: the CHF post-discharge SMS nudge. The marketer enters the Jira key, picks the Marketing Cloud pod and attaches the design; Apex reaches the harness and Codex runs the ADLC skills.</a:t>
              </a:r>
            </a:p>
          </p:txBody>
        </p:sp>
      </p:grpSp>
      <p:grpSp>
        <p:nvGrpSpPr>
          <p:cNvPr id="251" name="Step 1 arrows"/>
          <p:cNvGrpSpPr/>
          <p:nvPr/>
        </p:nvGrpSpPr>
        <p:grpSpPr>
          <a:xfrm>
            <a:off x="1426464" y="2962656"/>
            <a:ext cx="1362456" cy="603504"/>
            <a:chOff x="1426464" y="2962656"/>
            <a:chExt cx="1362456" cy="603504"/>
          </a:xfrm>
        </p:grpSpPr>
        <p:cxnSp>
          <p:nvCxnSpPr>
            <p:cNvPr id="252" name="Arrow 1"/>
            <p:cNvCxnSpPr/>
            <p:nvPr/>
          </p:nvCxnSpPr>
          <p:spPr>
            <a:xfrm>
              <a:off x="1426464" y="2962656"/>
              <a:ext cx="0" cy="23774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3" name="Arrow 2"/>
            <p:cNvCxnSpPr/>
            <p:nvPr/>
          </p:nvCxnSpPr>
          <p:spPr>
            <a:xfrm>
              <a:off x="2350008" y="3566160"/>
              <a:ext cx="438912"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54" name="Step 2 highlight"/>
          <p:cNvGrpSpPr/>
          <p:nvPr/>
        </p:nvGrpSpPr>
        <p:grpSpPr>
          <a:xfrm>
            <a:off x="365760" y="1115568"/>
            <a:ext cx="11457432" cy="5239512"/>
            <a:chOff x="365760" y="1115568"/>
            <a:chExt cx="11457432" cy="5239512"/>
          </a:xfrm>
        </p:grpSpPr>
        <p:sp>
          <p:nvSpPr>
            <p:cNvPr id="255" name="Shape 1"/>
            <p:cNvSpPr/>
            <p:nvPr/>
          </p:nvSpPr>
          <p:spPr>
            <a:xfrm>
              <a:off x="365760" y="1115568"/>
              <a:ext cx="11457432" cy="1828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Shape 2"/>
            <p:cNvSpPr/>
            <p:nvPr/>
          </p:nvSpPr>
          <p:spPr>
            <a:xfrm>
              <a:off x="365760" y="1298448"/>
              <a:ext cx="2286000"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Shape 3"/>
            <p:cNvSpPr/>
            <p:nvPr/>
          </p:nvSpPr>
          <p:spPr>
            <a:xfrm>
              <a:off x="9409176" y="1298448"/>
              <a:ext cx="2414016"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Shape 4"/>
            <p:cNvSpPr/>
            <p:nvPr/>
          </p:nvSpPr>
          <p:spPr>
            <a:xfrm>
              <a:off x="365760" y="1417320"/>
              <a:ext cx="228600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Shape 5"/>
            <p:cNvSpPr/>
            <p:nvPr/>
          </p:nvSpPr>
          <p:spPr>
            <a:xfrm>
              <a:off x="9409176" y="1417320"/>
              <a:ext cx="192024"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Shape 6"/>
            <p:cNvSpPr/>
            <p:nvPr/>
          </p:nvSpPr>
          <p:spPr>
            <a:xfrm>
              <a:off x="11777472" y="1417320"/>
              <a:ext cx="4572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Shape 7"/>
            <p:cNvSpPr/>
            <p:nvPr/>
          </p:nvSpPr>
          <p:spPr>
            <a:xfrm>
              <a:off x="365760" y="2560320"/>
              <a:ext cx="923544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Shape 8"/>
            <p:cNvSpPr/>
            <p:nvPr/>
          </p:nvSpPr>
          <p:spPr>
            <a:xfrm>
              <a:off x="11777472" y="2560320"/>
              <a:ext cx="4572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Shape 9"/>
            <p:cNvSpPr/>
            <p:nvPr/>
          </p:nvSpPr>
          <p:spPr>
            <a:xfrm>
              <a:off x="365760" y="3054096"/>
              <a:ext cx="420624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Shape 10"/>
            <p:cNvSpPr/>
            <p:nvPr/>
          </p:nvSpPr>
          <p:spPr>
            <a:xfrm>
              <a:off x="5879592" y="3054096"/>
              <a:ext cx="3721608"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Shape 11"/>
            <p:cNvSpPr/>
            <p:nvPr/>
          </p:nvSpPr>
          <p:spPr>
            <a:xfrm>
              <a:off x="11777472" y="3054096"/>
              <a:ext cx="4572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Shape 12"/>
            <p:cNvSpPr/>
            <p:nvPr/>
          </p:nvSpPr>
          <p:spPr>
            <a:xfrm>
              <a:off x="365760" y="3346703"/>
              <a:ext cx="923544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Shape 13"/>
            <p:cNvSpPr/>
            <p:nvPr/>
          </p:nvSpPr>
          <p:spPr>
            <a:xfrm>
              <a:off x="11777472" y="3346703"/>
              <a:ext cx="4572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Shape 14"/>
            <p:cNvSpPr/>
            <p:nvPr/>
          </p:nvSpPr>
          <p:spPr>
            <a:xfrm>
              <a:off x="365760" y="3995928"/>
              <a:ext cx="11457432" cy="2359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Shape 15"/>
            <p:cNvSpPr/>
            <p:nvPr/>
          </p:nvSpPr>
          <p:spPr>
            <a:xfrm>
              <a:off x="2660904" y="1307592"/>
              <a:ext cx="6739128" cy="124358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Shape 16"/>
            <p:cNvSpPr/>
            <p:nvPr/>
          </p:nvSpPr>
          <p:spPr>
            <a:xfrm>
              <a:off x="9564624" y="1426464"/>
              <a:ext cx="2249423" cy="117043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Shape 17"/>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Shape 18"/>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Shape 19"/>
            <p:cNvSpPr/>
            <p:nvPr/>
          </p:nvSpPr>
          <p:spPr>
            <a:xfrm>
              <a:off x="2743200" y="3931920"/>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 20"/>
            <p:cNvSpPr txBox="1"/>
            <p:nvPr/>
          </p:nvSpPr>
          <p:spPr>
            <a:xfrm>
              <a:off x="2871216" y="399592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2 / 13   </a:t>
              </a:r>
              <a:r>
                <a:rPr sz="800" b="1" i="0" spc="120">
                  <a:solidFill>
                    <a:srgbClr val="FFFFFF"/>
                  </a:solidFill>
                  <a:latin typeface="Trenda IG Text"/>
                </a:rPr>
                <a:t>CONTEXT FIRST</a:t>
              </a:r>
            </a:p>
            <a:p>
              <a:pPr>
                <a:spcAft>
                  <a:spcPts val="200"/>
                </a:spcAft>
              </a:pPr>
              <a:r>
                <a:rPr sz="750" b="0" i="0">
                  <a:solidFill>
                    <a:srgbClr val="E6E6E6"/>
                  </a:solidFill>
                  <a:latin typeface="Trenda IG Text"/>
                </a:rPr>
                <a:t>The Requirements Agent checks what already exists before anything is built: data extensions, journeys and Data Cloud segments in Salesforce, the Jira history and the Confluence design. Read-only, cited, a bounded slice, never an org dump.</a:t>
              </a:r>
            </a:p>
          </p:txBody>
        </p:sp>
      </p:grpSp>
      <p:grpSp>
        <p:nvGrpSpPr>
          <p:cNvPr id="275" name="Step 2 arrows"/>
          <p:cNvGrpSpPr/>
          <p:nvPr/>
        </p:nvGrpSpPr>
        <p:grpSpPr>
          <a:xfrm>
            <a:off x="5001768" y="2011680"/>
            <a:ext cx="4599432" cy="1088136"/>
            <a:chOff x="5001768" y="2011680"/>
            <a:chExt cx="4599432" cy="1088136"/>
          </a:xfrm>
        </p:grpSpPr>
        <p:cxnSp>
          <p:nvCxnSpPr>
            <p:cNvPr id="276" name="Arrow 1"/>
            <p:cNvCxnSpPr/>
            <p:nvPr/>
          </p:nvCxnSpPr>
          <p:spPr>
            <a:xfrm flipV="1">
              <a:off x="5001768" y="2423160"/>
              <a:ext cx="0" cy="676656"/>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7" name="Arrow 2"/>
            <p:cNvCxnSpPr/>
            <p:nvPr/>
          </p:nvCxnSpPr>
          <p:spPr>
            <a:xfrm flipH="1">
              <a:off x="9363456" y="2011680"/>
              <a:ext cx="23774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78" name="Step 3 highlight"/>
          <p:cNvGrpSpPr/>
          <p:nvPr/>
        </p:nvGrpSpPr>
        <p:grpSpPr>
          <a:xfrm>
            <a:off x="365760" y="1115568"/>
            <a:ext cx="11457432" cy="5239512"/>
            <a:chOff x="365760" y="1115568"/>
            <a:chExt cx="11457432" cy="5239512"/>
          </a:xfrm>
        </p:grpSpPr>
        <p:sp>
          <p:nvSpPr>
            <p:cNvPr id="27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Shape 2"/>
            <p:cNvSpPr/>
            <p:nvPr/>
          </p:nvSpPr>
          <p:spPr>
            <a:xfrm>
              <a:off x="365760" y="2761488"/>
              <a:ext cx="2359152"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Shape 3"/>
            <p:cNvSpPr/>
            <p:nvPr/>
          </p:nvSpPr>
          <p:spPr>
            <a:xfrm>
              <a:off x="7251192" y="2761488"/>
              <a:ext cx="4572000"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Shape 4"/>
            <p:cNvSpPr/>
            <p:nvPr/>
          </p:nvSpPr>
          <p:spPr>
            <a:xfrm>
              <a:off x="365760" y="3858768"/>
              <a:ext cx="11457432" cy="24963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Shape 5"/>
            <p:cNvSpPr/>
            <p:nvPr/>
          </p:nvSpPr>
          <p:spPr>
            <a:xfrm>
              <a:off x="2752344" y="2816352"/>
              <a:ext cx="173736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Shape 6"/>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Shape 7"/>
            <p:cNvSpPr/>
            <p:nvPr/>
          </p:nvSpPr>
          <p:spPr>
            <a:xfrm>
              <a:off x="2743200" y="3977639"/>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 8"/>
            <p:cNvSpPr txBox="1"/>
            <p:nvPr/>
          </p:nvSpPr>
          <p:spPr>
            <a:xfrm>
              <a:off x="2871216" y="404164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3 / 13   </a:t>
              </a:r>
              <a:r>
                <a:rPr sz="800" b="1" i="0" spc="120">
                  <a:solidFill>
                    <a:srgbClr val="FFFFFF"/>
                  </a:solidFill>
                  <a:latin typeface="Trenda IG Text"/>
                </a:rPr>
                <a:t>ORCHESTRATED, STEP BY STEP</a:t>
              </a:r>
            </a:p>
            <a:p>
              <a:pPr>
                <a:spcAft>
                  <a:spcPts val="200"/>
                </a:spcAft>
              </a:pPr>
              <a:r>
                <a:rPr sz="750" b="0" i="0">
                  <a:solidFill>
                    <a:srgbClr val="E6E6E6"/>
                  </a:solidFill>
                  <a:latin typeface="Trenda IG Text"/>
                </a:rPr>
                <a:t>Cloud Workflows coordinates the campaign story. One agent job per step: requirements, design, build, review, test, release. Checkpoints mean a failed run resumes where it stopped.</a:t>
              </a:r>
            </a:p>
          </p:txBody>
        </p:sp>
      </p:grpSp>
      <p:grpSp>
        <p:nvGrpSpPr>
          <p:cNvPr id="287" name="Step 3 arrows"/>
          <p:cNvGrpSpPr/>
          <p:nvPr/>
        </p:nvGrpSpPr>
        <p:grpSpPr>
          <a:xfrm>
            <a:off x="4453128" y="3310128"/>
            <a:ext cx="91440" cy="0"/>
            <a:chOff x="4453128" y="3310128"/>
            <a:chExt cx="91440" cy="0"/>
          </a:xfrm>
        </p:grpSpPr>
        <p:cxnSp>
          <p:nvCxnSpPr>
            <p:cNvPr id="288" name="Arrow 1"/>
            <p:cNvCxnSpPr/>
            <p:nvPr/>
          </p:nvCxnSpPr>
          <p:spPr>
            <a:xfrm>
              <a:off x="4453128" y="33101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89" name="Step 4 highlight"/>
          <p:cNvGrpSpPr/>
          <p:nvPr/>
        </p:nvGrpSpPr>
        <p:grpSpPr>
          <a:xfrm>
            <a:off x="365760" y="1115568"/>
            <a:ext cx="11457432" cy="5239511"/>
            <a:chOff x="365760" y="1115568"/>
            <a:chExt cx="11457432" cy="5239511"/>
          </a:xfrm>
        </p:grpSpPr>
        <p:sp>
          <p:nvSpPr>
            <p:cNvPr id="290"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Shape 2"/>
            <p:cNvSpPr/>
            <p:nvPr/>
          </p:nvSpPr>
          <p:spPr>
            <a:xfrm>
              <a:off x="365760" y="2761488"/>
              <a:ext cx="4133087"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Shape 3"/>
            <p:cNvSpPr/>
            <p:nvPr/>
          </p:nvSpPr>
          <p:spPr>
            <a:xfrm>
              <a:off x="9317736" y="2761488"/>
              <a:ext cx="2505456"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Shape 4"/>
            <p:cNvSpPr/>
            <p:nvPr/>
          </p:nvSpPr>
          <p:spPr>
            <a:xfrm>
              <a:off x="365760" y="2907792"/>
              <a:ext cx="4133087"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Shape 5"/>
            <p:cNvSpPr/>
            <p:nvPr/>
          </p:nvSpPr>
          <p:spPr>
            <a:xfrm>
              <a:off x="9317736" y="2907792"/>
              <a:ext cx="283464"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Shape 6"/>
            <p:cNvSpPr/>
            <p:nvPr/>
          </p:nvSpPr>
          <p:spPr>
            <a:xfrm>
              <a:off x="11777472" y="2907792"/>
              <a:ext cx="45720"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Shape 7"/>
            <p:cNvSpPr/>
            <p:nvPr/>
          </p:nvSpPr>
          <p:spPr>
            <a:xfrm>
              <a:off x="365760" y="4498848"/>
              <a:ext cx="923544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Shape 8"/>
            <p:cNvSpPr/>
            <p:nvPr/>
          </p:nvSpPr>
          <p:spPr>
            <a:xfrm>
              <a:off x="11777472" y="4498848"/>
              <a:ext cx="4572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Shape 9"/>
            <p:cNvSpPr/>
            <p:nvPr/>
          </p:nvSpPr>
          <p:spPr>
            <a:xfrm>
              <a:off x="365760" y="4919472"/>
              <a:ext cx="11457432" cy="1435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Shape 10"/>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Shape 11"/>
            <p:cNvSpPr/>
            <p:nvPr/>
          </p:nvSpPr>
          <p:spPr>
            <a:xfrm>
              <a:off x="7251192" y="3456432"/>
              <a:ext cx="205740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Shape 12"/>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Shape 13"/>
            <p:cNvSpPr/>
            <p:nvPr/>
          </p:nvSpPr>
          <p:spPr>
            <a:xfrm>
              <a:off x="9564624" y="4315968"/>
              <a:ext cx="2249424" cy="603503"/>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Shape 14"/>
            <p:cNvSpPr/>
            <p:nvPr/>
          </p:nvSpPr>
          <p:spPr>
            <a:xfrm>
              <a:off x="457200" y="288036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 15"/>
            <p:cNvSpPr txBox="1"/>
            <p:nvPr/>
          </p:nvSpPr>
          <p:spPr>
            <a:xfrm>
              <a:off x="585216" y="294436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4 / 13   </a:t>
              </a:r>
              <a:r>
                <a:rPr sz="800" b="1" i="0" spc="120">
                  <a:solidFill>
                    <a:srgbClr val="FFFFFF"/>
                  </a:solidFill>
                  <a:latin typeface="Trenda IG Text"/>
                </a:rPr>
                <a:t>ACT ONLY THROUGH THE GATEWAY</a:t>
              </a:r>
            </a:p>
            <a:p>
              <a:pPr>
                <a:spcAft>
                  <a:spcPts val="200"/>
                </a:spcAft>
              </a:pPr>
              <a:r>
                <a:rPr sz="750" b="0" i="0">
                  <a:solidFill>
                    <a:srgbClr val="E6E6E6"/>
                  </a:solidFill>
                  <a:latin typeface="Trenda IG Text"/>
                </a:rPr>
                <a:t>Git, Salesforce, Marketing Cloud and Copado are touched only through the MCP gateway, with the identity allowed for that step. The Change Guardian checks which other pods use the same data extensions, short code and STOP keyword.</a:t>
              </a:r>
            </a:p>
          </p:txBody>
        </p:sp>
      </p:grpSp>
      <p:grpSp>
        <p:nvGrpSpPr>
          <p:cNvPr id="305" name="Step 4 arrows"/>
          <p:cNvGrpSpPr/>
          <p:nvPr/>
        </p:nvGrpSpPr>
        <p:grpSpPr>
          <a:xfrm>
            <a:off x="7196328" y="3767328"/>
            <a:ext cx="2404872" cy="182880"/>
            <a:chOff x="7196328" y="3767328"/>
            <a:chExt cx="2404872" cy="182880"/>
          </a:xfrm>
        </p:grpSpPr>
        <p:cxnSp>
          <p:nvCxnSpPr>
            <p:cNvPr id="306" name="Arrow 1"/>
            <p:cNvCxnSpPr/>
            <p:nvPr/>
          </p:nvCxnSpPr>
          <p:spPr>
            <a:xfrm>
              <a:off x="7196328" y="37673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7" name="Arrow 2"/>
            <p:cNvCxnSpPr/>
            <p:nvPr/>
          </p:nvCxnSpPr>
          <p:spPr>
            <a:xfrm>
              <a:off x="9272016" y="3950208"/>
              <a:ext cx="32918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08" name="Step 5 highlight"/>
          <p:cNvGrpSpPr/>
          <p:nvPr/>
        </p:nvGrpSpPr>
        <p:grpSpPr>
          <a:xfrm>
            <a:off x="365760" y="1115568"/>
            <a:ext cx="11457432" cy="5239511"/>
            <a:chOff x="365760" y="1115568"/>
            <a:chExt cx="11457432" cy="5239511"/>
          </a:xfrm>
        </p:grpSpPr>
        <p:sp>
          <p:nvSpPr>
            <p:cNvPr id="30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Shape 4"/>
            <p:cNvSpPr/>
            <p:nvPr/>
          </p:nvSpPr>
          <p:spPr>
            <a:xfrm>
              <a:off x="365760" y="4498848"/>
              <a:ext cx="11457432" cy="142646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Shape 5"/>
            <p:cNvSpPr/>
            <p:nvPr/>
          </p:nvSpPr>
          <p:spPr>
            <a:xfrm>
              <a:off x="365760" y="5925312"/>
              <a:ext cx="9198864"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Shape 6"/>
            <p:cNvSpPr/>
            <p:nvPr/>
          </p:nvSpPr>
          <p:spPr>
            <a:xfrm>
              <a:off x="11786616" y="5925312"/>
              <a:ext cx="36575"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Shape 7"/>
            <p:cNvSpPr/>
            <p:nvPr/>
          </p:nvSpPr>
          <p:spPr>
            <a:xfrm>
              <a:off x="365760" y="5934456"/>
              <a:ext cx="1005840"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Shape 8"/>
            <p:cNvSpPr/>
            <p:nvPr/>
          </p:nvSpPr>
          <p:spPr>
            <a:xfrm>
              <a:off x="11786616" y="5934456"/>
              <a:ext cx="36575"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7" name="Shape 9"/>
            <p:cNvSpPr/>
            <p:nvPr/>
          </p:nvSpPr>
          <p:spPr>
            <a:xfrm>
              <a:off x="365760" y="6181344"/>
              <a:ext cx="1005840"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Shape 10"/>
            <p:cNvSpPr/>
            <p:nvPr/>
          </p:nvSpPr>
          <p:spPr>
            <a:xfrm>
              <a:off x="11786616" y="6181344"/>
              <a:ext cx="36575"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9" name="Shape 11"/>
            <p:cNvSpPr/>
            <p:nvPr/>
          </p:nvSpPr>
          <p:spPr>
            <a:xfrm>
              <a:off x="365760" y="6181344"/>
              <a:ext cx="11457432" cy="17373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Shape 12"/>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Shape 13"/>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Shape 14"/>
            <p:cNvSpPr/>
            <p:nvPr/>
          </p:nvSpPr>
          <p:spPr>
            <a:xfrm>
              <a:off x="151790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3" name="Shape 15"/>
            <p:cNvSpPr/>
            <p:nvPr/>
          </p:nvSpPr>
          <p:spPr>
            <a:xfrm>
              <a:off x="299923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Shape 16"/>
            <p:cNvSpPr/>
            <p:nvPr/>
          </p:nvSpPr>
          <p:spPr>
            <a:xfrm>
              <a:off x="4480560"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Shape 17"/>
            <p:cNvSpPr/>
            <p:nvPr/>
          </p:nvSpPr>
          <p:spPr>
            <a:xfrm>
              <a:off x="522122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Shape 18"/>
            <p:cNvSpPr/>
            <p:nvPr/>
          </p:nvSpPr>
          <p:spPr>
            <a:xfrm>
              <a:off x="670255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Shape 19"/>
            <p:cNvSpPr/>
            <p:nvPr/>
          </p:nvSpPr>
          <p:spPr>
            <a:xfrm>
              <a:off x="892454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Shape 20"/>
            <p:cNvSpPr/>
            <p:nvPr/>
          </p:nvSpPr>
          <p:spPr>
            <a:xfrm>
              <a:off x="7406640" y="283464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Text 21"/>
            <p:cNvSpPr txBox="1"/>
            <p:nvPr/>
          </p:nvSpPr>
          <p:spPr>
            <a:xfrm>
              <a:off x="7534656" y="2898648"/>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5 / 13   </a:t>
              </a:r>
              <a:r>
                <a:rPr sz="800" b="1" i="0" spc="120">
                  <a:solidFill>
                    <a:srgbClr val="FFFFFF"/>
                  </a:solidFill>
                  <a:latin typeface="Trenda IG Text"/>
                </a:rPr>
                <a:t>EVALS ON EVERY STEP: PASS</a:t>
              </a:r>
            </a:p>
            <a:p>
              <a:pPr>
                <a:spcAft>
                  <a:spcPts val="200"/>
                </a:spcAft>
              </a:pPr>
              <a:r>
                <a:rPr sz="750" b="0" i="0">
                  <a:solidFill>
                    <a:srgbClr val="E6E6E6"/>
                  </a:solidFill>
                  <a:latin typeface="Trenda IG Text"/>
                </a:rPr>
                <a:t>Every output is scored before it moves on: does the journey match the brief, is every field real, are consent and STOP checks in place. Each step is evaluated and its score updated (the EVALS tags below); a pass goes to the gate with the evidence.</a:t>
              </a:r>
            </a:p>
          </p:txBody>
        </p:sp>
      </p:grpSp>
      <p:grpSp>
        <p:nvGrpSpPr>
          <p:cNvPr id="330" name="Step 5 arrows"/>
          <p:cNvGrpSpPr/>
          <p:nvPr/>
        </p:nvGrpSpPr>
        <p:grpSpPr>
          <a:xfrm>
            <a:off x="4069080" y="3685032"/>
            <a:ext cx="7680960" cy="2459736"/>
            <a:chOff x="4069080" y="3685032"/>
            <a:chExt cx="7680960" cy="2459736"/>
          </a:xfrm>
        </p:grpSpPr>
        <p:cxnSp>
          <p:nvCxnSpPr>
            <p:cNvPr id="331" name="Arrow 1"/>
            <p:cNvCxnSpPr/>
            <p:nvPr/>
          </p:nvCxnSpPr>
          <p:spPr>
            <a:xfrm>
              <a:off x="5870448" y="3813048"/>
              <a:ext cx="0" cy="73152"/>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2" name="Arrow 2"/>
            <p:cNvCxnSpPr/>
            <p:nvPr/>
          </p:nvCxnSpPr>
          <p:spPr>
            <a:xfrm flipH="1">
              <a:off x="4453128" y="4169663"/>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3" name="Shape 3"/>
            <p:cNvSpPr/>
            <p:nvPr/>
          </p:nvSpPr>
          <p:spPr>
            <a:xfrm>
              <a:off x="4069080" y="3685032"/>
              <a:ext cx="86868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 4"/>
            <p:cNvSpPr txBox="1"/>
            <p:nvPr/>
          </p:nvSpPr>
          <p:spPr>
            <a:xfrm>
              <a:off x="4069080" y="3685032"/>
              <a:ext cx="868680" cy="182880"/>
            </a:xfrm>
            <a:prstGeom prst="rect">
              <a:avLst/>
            </a:prstGeom>
            <a:noFill/>
          </p:spPr>
          <p:txBody>
            <a:bodyPr wrap="square" lIns="0" rIns="0" tIns="0" bIns="0" anchor="ctr">
              <a:spAutoFit/>
            </a:bodyPr>
            <a:lstStyle/>
            <a:p>
              <a:pPr algn="ctr"/>
              <a:r>
                <a:rPr sz="650" b="1" i="0" spc="60">
                  <a:solidFill>
                    <a:srgbClr val="FFFFFF"/>
                  </a:solidFill>
                  <a:latin typeface="Trenda IG Text"/>
                </a:rPr>
                <a:t>PASS → GATE</a:t>
              </a:r>
            </a:p>
          </p:txBody>
        </p:sp>
        <p:sp>
          <p:nvSpPr>
            <p:cNvPr id="335" name="Shape 5"/>
            <p:cNvSpPr/>
            <p:nvPr/>
          </p:nvSpPr>
          <p:spPr>
            <a:xfrm>
              <a:off x="9601200" y="5961888"/>
              <a:ext cx="2148840" cy="182880"/>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 6"/>
            <p:cNvSpPr txBox="1"/>
            <p:nvPr/>
          </p:nvSpPr>
          <p:spPr>
            <a:xfrm>
              <a:off x="9601200" y="5961888"/>
              <a:ext cx="2148840" cy="182880"/>
            </a:xfrm>
            <a:prstGeom prst="rect">
              <a:avLst/>
            </a:prstGeom>
            <a:noFill/>
          </p:spPr>
          <p:txBody>
            <a:bodyPr wrap="square" lIns="0" rIns="0" tIns="0" bIns="0" anchor="ctr">
              <a:spAutoFit/>
            </a:bodyPr>
            <a:lstStyle/>
            <a:p>
              <a:pPr algn="ctr"/>
              <a:r>
                <a:rPr sz="650" b="1" i="0" spc="60">
                  <a:solidFill>
                    <a:srgbClr val="FFFFFF"/>
                  </a:solidFill>
                  <a:latin typeface="Trenda IG Text"/>
                </a:rPr>
                <a:t>EVERY STEP SCORED · SCORE UPDATED</a:t>
              </a:r>
            </a:p>
          </p:txBody>
        </p:sp>
      </p:grpSp>
      <p:grpSp>
        <p:nvGrpSpPr>
          <p:cNvPr id="337" name="Step 6 highlight"/>
          <p:cNvGrpSpPr/>
          <p:nvPr/>
        </p:nvGrpSpPr>
        <p:grpSpPr>
          <a:xfrm>
            <a:off x="365760" y="1115568"/>
            <a:ext cx="11457432" cy="5239511"/>
            <a:chOff x="365760" y="1115568"/>
            <a:chExt cx="11457432" cy="5239511"/>
          </a:xfrm>
        </p:grpSpPr>
        <p:sp>
          <p:nvSpPr>
            <p:cNvPr id="338"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1" name="Shape 4"/>
            <p:cNvSpPr/>
            <p:nvPr/>
          </p:nvSpPr>
          <p:spPr>
            <a:xfrm>
              <a:off x="365760" y="4498848"/>
              <a:ext cx="11457432" cy="142646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Shape 5"/>
            <p:cNvSpPr/>
            <p:nvPr/>
          </p:nvSpPr>
          <p:spPr>
            <a:xfrm>
              <a:off x="365760" y="5925312"/>
              <a:ext cx="9198864"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Shape 6"/>
            <p:cNvSpPr/>
            <p:nvPr/>
          </p:nvSpPr>
          <p:spPr>
            <a:xfrm>
              <a:off x="11786616" y="5925312"/>
              <a:ext cx="36575" cy="9143"/>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Shape 7"/>
            <p:cNvSpPr/>
            <p:nvPr/>
          </p:nvSpPr>
          <p:spPr>
            <a:xfrm>
              <a:off x="365760" y="5934456"/>
              <a:ext cx="1005840"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Shape 8"/>
            <p:cNvSpPr/>
            <p:nvPr/>
          </p:nvSpPr>
          <p:spPr>
            <a:xfrm>
              <a:off x="11786616" y="5934456"/>
              <a:ext cx="36575" cy="24688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Shape 9"/>
            <p:cNvSpPr/>
            <p:nvPr/>
          </p:nvSpPr>
          <p:spPr>
            <a:xfrm>
              <a:off x="365760" y="6181344"/>
              <a:ext cx="1005840"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Shape 10"/>
            <p:cNvSpPr/>
            <p:nvPr/>
          </p:nvSpPr>
          <p:spPr>
            <a:xfrm>
              <a:off x="11786616" y="6181344"/>
              <a:ext cx="36575" cy="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Shape 11"/>
            <p:cNvSpPr/>
            <p:nvPr/>
          </p:nvSpPr>
          <p:spPr>
            <a:xfrm>
              <a:off x="365760" y="6181344"/>
              <a:ext cx="11457432" cy="17373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Shape 12"/>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Shape 13"/>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Shape 14"/>
            <p:cNvSpPr/>
            <p:nvPr/>
          </p:nvSpPr>
          <p:spPr>
            <a:xfrm>
              <a:off x="151790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Shape 15"/>
            <p:cNvSpPr/>
            <p:nvPr/>
          </p:nvSpPr>
          <p:spPr>
            <a:xfrm>
              <a:off x="299923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Shape 16"/>
            <p:cNvSpPr/>
            <p:nvPr/>
          </p:nvSpPr>
          <p:spPr>
            <a:xfrm>
              <a:off x="4480560"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Shape 17"/>
            <p:cNvSpPr/>
            <p:nvPr/>
          </p:nvSpPr>
          <p:spPr>
            <a:xfrm>
              <a:off x="522122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Shape 18"/>
            <p:cNvSpPr/>
            <p:nvPr/>
          </p:nvSpPr>
          <p:spPr>
            <a:xfrm>
              <a:off x="6702552"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Shape 19"/>
            <p:cNvSpPr/>
            <p:nvPr/>
          </p:nvSpPr>
          <p:spPr>
            <a:xfrm>
              <a:off x="8924544" y="5943600"/>
              <a:ext cx="493776" cy="219456"/>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Shape 20"/>
            <p:cNvSpPr/>
            <p:nvPr/>
          </p:nvSpPr>
          <p:spPr>
            <a:xfrm>
              <a:off x="7406640" y="196596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 21"/>
            <p:cNvSpPr txBox="1"/>
            <p:nvPr/>
          </p:nvSpPr>
          <p:spPr>
            <a:xfrm>
              <a:off x="7534656" y="2029967"/>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6 / 13   </a:t>
              </a:r>
              <a:r>
                <a:rPr sz="800" b="1" i="0" spc="120">
                  <a:solidFill>
                    <a:srgbClr val="FFFFFF"/>
                  </a:solidFill>
                  <a:latin typeface="Trenda IG Text"/>
                </a:rPr>
                <a:t>FAIL: A BOUNDED RETRY</a:t>
              </a:r>
            </a:p>
            <a:p>
              <a:pPr>
                <a:spcAft>
                  <a:spcPts val="200"/>
                </a:spcAft>
              </a:pPr>
              <a:r>
                <a:rPr sz="750" b="0" i="0">
                  <a:solidFill>
                    <a:srgbClr val="E6E6E6"/>
                  </a:solidFill>
                  <a:latin typeface="Trenda IG Text"/>
                </a:rPr>
                <a:t>A failed check goes back to the agent with the reason, at most five times. Then the step stops, nothing is released, and a named owner takes over. No infinite loops.</a:t>
              </a:r>
            </a:p>
          </p:txBody>
        </p:sp>
      </p:grpSp>
      <p:grpSp>
        <p:nvGrpSpPr>
          <p:cNvPr id="359" name="Step 6 arrows"/>
          <p:cNvGrpSpPr/>
          <p:nvPr/>
        </p:nvGrpSpPr>
        <p:grpSpPr>
          <a:xfrm>
            <a:off x="4892040" y="3310128"/>
            <a:ext cx="6858000" cy="2834640"/>
            <a:chOff x="4892040" y="3310128"/>
            <a:chExt cx="6858000" cy="2834640"/>
          </a:xfrm>
        </p:grpSpPr>
        <p:cxnSp>
          <p:nvCxnSpPr>
            <p:cNvPr id="360" name="Arrow 1"/>
            <p:cNvCxnSpPr/>
            <p:nvPr/>
          </p:nvCxnSpPr>
          <p:spPr>
            <a:xfrm>
              <a:off x="7196328" y="4169663"/>
              <a:ext cx="393192" cy="0"/>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61" name="Arrow 2"/>
            <p:cNvCxnSpPr/>
            <p:nvPr/>
          </p:nvCxnSpPr>
          <p:spPr>
            <a:xfrm flipV="1">
              <a:off x="7589520" y="3310128"/>
              <a:ext cx="0" cy="859535"/>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62" name="Arrow 3"/>
            <p:cNvCxnSpPr/>
            <p:nvPr/>
          </p:nvCxnSpPr>
          <p:spPr>
            <a:xfrm flipH="1">
              <a:off x="7196328" y="3310128"/>
              <a:ext cx="393192" cy="0"/>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3" name="Arrow 4"/>
            <p:cNvCxnSpPr/>
            <p:nvPr/>
          </p:nvCxnSpPr>
          <p:spPr>
            <a:xfrm>
              <a:off x="5870448" y="4453128"/>
              <a:ext cx="0" cy="164592"/>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4" name="Shape 5"/>
            <p:cNvSpPr/>
            <p:nvPr/>
          </p:nvSpPr>
          <p:spPr>
            <a:xfrm>
              <a:off x="7662672" y="3611880"/>
              <a:ext cx="118872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Text 6"/>
            <p:cNvSpPr txBox="1"/>
            <p:nvPr/>
          </p:nvSpPr>
          <p:spPr>
            <a:xfrm>
              <a:off x="7662672" y="3611880"/>
              <a:ext cx="1188720" cy="182880"/>
            </a:xfrm>
            <a:prstGeom prst="rect">
              <a:avLst/>
            </a:prstGeom>
            <a:noFill/>
          </p:spPr>
          <p:txBody>
            <a:bodyPr wrap="square" lIns="0" rIns="0" tIns="0" bIns="0" anchor="ctr">
              <a:spAutoFit/>
            </a:bodyPr>
            <a:lstStyle/>
            <a:p>
              <a:pPr algn="ctr"/>
              <a:r>
                <a:rPr sz="650" b="1" i="0" spc="60">
                  <a:solidFill>
                    <a:srgbClr val="FFFFFF"/>
                  </a:solidFill>
                  <a:latin typeface="Trenda IG Text"/>
                </a:rPr>
                <a:t>FAIL · RETRY ≤ 5</a:t>
              </a:r>
            </a:p>
          </p:txBody>
        </p:sp>
        <p:sp>
          <p:nvSpPr>
            <p:cNvPr id="366" name="Shape 7"/>
            <p:cNvSpPr/>
            <p:nvPr/>
          </p:nvSpPr>
          <p:spPr>
            <a:xfrm>
              <a:off x="4892040" y="4626864"/>
              <a:ext cx="196596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7" name="Text 8"/>
            <p:cNvSpPr txBox="1"/>
            <p:nvPr/>
          </p:nvSpPr>
          <p:spPr>
            <a:xfrm>
              <a:off x="4892040" y="4626864"/>
              <a:ext cx="1965960" cy="182880"/>
            </a:xfrm>
            <a:prstGeom prst="rect">
              <a:avLst/>
            </a:prstGeom>
            <a:noFill/>
          </p:spPr>
          <p:txBody>
            <a:bodyPr wrap="square" lIns="0" rIns="0" tIns="0" bIns="0" anchor="ctr">
              <a:spAutoFit/>
            </a:bodyPr>
            <a:lstStyle/>
            <a:p>
              <a:pPr algn="ctr"/>
              <a:r>
                <a:rPr sz="650" b="1" i="0" spc="60">
                  <a:solidFill>
                    <a:srgbClr val="FFFFFF"/>
                  </a:solidFill>
                  <a:latin typeface="Trenda IG Text"/>
                </a:rPr>
                <a:t>AFTER 5 → NAMED OWNER</a:t>
              </a:r>
            </a:p>
          </p:txBody>
        </p:sp>
        <p:sp>
          <p:nvSpPr>
            <p:cNvPr id="368" name="Shape 9"/>
            <p:cNvSpPr/>
            <p:nvPr/>
          </p:nvSpPr>
          <p:spPr>
            <a:xfrm>
              <a:off x="9601200" y="5961888"/>
              <a:ext cx="2148840" cy="182880"/>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Text 10"/>
            <p:cNvSpPr txBox="1"/>
            <p:nvPr/>
          </p:nvSpPr>
          <p:spPr>
            <a:xfrm>
              <a:off x="9601200" y="5961888"/>
              <a:ext cx="2148840" cy="182880"/>
            </a:xfrm>
            <a:prstGeom prst="rect">
              <a:avLst/>
            </a:prstGeom>
            <a:noFill/>
          </p:spPr>
          <p:txBody>
            <a:bodyPr wrap="square" lIns="0" rIns="0" tIns="0" bIns="0" anchor="ctr">
              <a:spAutoFit/>
            </a:bodyPr>
            <a:lstStyle/>
            <a:p>
              <a:pPr algn="ctr"/>
              <a:r>
                <a:rPr sz="650" b="1" i="0" spc="60">
                  <a:solidFill>
                    <a:srgbClr val="FFFFFF"/>
                  </a:solidFill>
                  <a:latin typeface="Trenda IG Text"/>
                </a:rPr>
                <a:t>FAIL SCORED · RETRY RE-SCORED</a:t>
              </a:r>
            </a:p>
          </p:txBody>
        </p:sp>
      </p:grpSp>
      <p:grpSp>
        <p:nvGrpSpPr>
          <p:cNvPr id="370" name="Step 7 highlight"/>
          <p:cNvGrpSpPr/>
          <p:nvPr/>
        </p:nvGrpSpPr>
        <p:grpSpPr>
          <a:xfrm>
            <a:off x="365760" y="1115568"/>
            <a:ext cx="11457432" cy="5239511"/>
            <a:chOff x="365760" y="1115568"/>
            <a:chExt cx="11457432" cy="5239511"/>
          </a:xfrm>
        </p:grpSpPr>
        <p:sp>
          <p:nvSpPr>
            <p:cNvPr id="371"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Shape 4"/>
            <p:cNvSpPr/>
            <p:nvPr/>
          </p:nvSpPr>
          <p:spPr>
            <a:xfrm>
              <a:off x="365760" y="2011680"/>
              <a:ext cx="11457432" cy="104241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Shape 5"/>
            <p:cNvSpPr/>
            <p:nvPr/>
          </p:nvSpPr>
          <p:spPr>
            <a:xfrm>
              <a:off x="365760" y="3054096"/>
              <a:ext cx="420624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Shape 6"/>
            <p:cNvSpPr/>
            <p:nvPr/>
          </p:nvSpPr>
          <p:spPr>
            <a:xfrm>
              <a:off x="5879592" y="3054096"/>
              <a:ext cx="5943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Shape 7"/>
            <p:cNvSpPr/>
            <p:nvPr/>
          </p:nvSpPr>
          <p:spPr>
            <a:xfrm>
              <a:off x="365760" y="3346704"/>
              <a:ext cx="11457432" cy="53949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Shape 8"/>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Shape 9"/>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Shape 10"/>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Shape 11"/>
            <p:cNvSpPr/>
            <p:nvPr/>
          </p:nvSpPr>
          <p:spPr>
            <a:xfrm>
              <a:off x="365760" y="5513832"/>
              <a:ext cx="102412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Shape 12"/>
            <p:cNvSpPr/>
            <p:nvPr/>
          </p:nvSpPr>
          <p:spPr>
            <a:xfrm>
              <a:off x="2880360" y="5513832"/>
              <a:ext cx="894283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Shape 14"/>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Shape 15"/>
            <p:cNvSpPr/>
            <p:nvPr/>
          </p:nvSpPr>
          <p:spPr>
            <a:xfrm>
              <a:off x="9564624" y="142646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Shape 16"/>
            <p:cNvSpPr/>
            <p:nvPr/>
          </p:nvSpPr>
          <p:spPr>
            <a:xfrm>
              <a:off x="1417320"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Shape 17"/>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7 / 13   </a:t>
              </a:r>
              <a:r>
                <a:rPr sz="800" b="1" i="0" spc="120">
                  <a:solidFill>
                    <a:srgbClr val="FFFFFF"/>
                  </a:solidFill>
                  <a:latin typeface="Trenda IG Text"/>
                </a:rPr>
                <a:t>H1 · REQUIREMENTS APPROVED</a:t>
              </a:r>
            </a:p>
            <a:p>
              <a:pPr>
                <a:spcAft>
                  <a:spcPts val="200"/>
                </a:spcAft>
              </a:pPr>
              <a:r>
                <a:rPr sz="750" b="0" i="0">
                  <a:solidFill>
                    <a:srgbClr val="E6E6E6"/>
                  </a:solidFill>
                  <a:latin typeface="Trenda IG Text"/>
                </a:rPr>
                <a:t>The Requirements Agent posts the brief to the Jira story as a comment: audience, consent rules, KPIs, open questions. The product owner approves at H1; only then does design start.</a:t>
              </a:r>
            </a:p>
          </p:txBody>
        </p:sp>
      </p:grpSp>
      <p:grpSp>
        <p:nvGrpSpPr>
          <p:cNvPr id="390" name="Step 7 arrows"/>
          <p:cNvGrpSpPr/>
          <p:nvPr/>
        </p:nvGrpSpPr>
        <p:grpSpPr>
          <a:xfrm>
            <a:off x="1773936" y="4453128"/>
            <a:ext cx="1847088" cy="1700784"/>
            <a:chOff x="1773936" y="4453128"/>
            <a:chExt cx="1847088" cy="1700784"/>
          </a:xfrm>
        </p:grpSpPr>
        <p:cxnSp>
          <p:nvCxnSpPr>
            <p:cNvPr id="39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2" name="Arrow 2"/>
            <p:cNvCxnSpPr/>
            <p:nvPr/>
          </p:nvCxnSpPr>
          <p:spPr>
            <a:xfrm flipH="1">
              <a:off x="2505456" y="5449824"/>
              <a:ext cx="1115568"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3" name="Arrow 3"/>
            <p:cNvCxnSpPr/>
            <p:nvPr/>
          </p:nvCxnSpPr>
          <p:spPr>
            <a:xfrm>
              <a:off x="250545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4" name="Shape 4"/>
            <p:cNvSpPr/>
            <p:nvPr/>
          </p:nvSpPr>
          <p:spPr>
            <a:xfrm>
              <a:off x="177393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5" name="Text 5"/>
            <p:cNvSpPr txBox="1"/>
            <p:nvPr/>
          </p:nvSpPr>
          <p:spPr>
            <a:xfrm>
              <a:off x="177393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H1 APPROVED → 02 DESIGN</a:t>
              </a:r>
            </a:p>
          </p:txBody>
        </p:sp>
      </p:grpSp>
      <p:grpSp>
        <p:nvGrpSpPr>
          <p:cNvPr id="396" name="Step 8 highlight"/>
          <p:cNvGrpSpPr/>
          <p:nvPr/>
        </p:nvGrpSpPr>
        <p:grpSpPr>
          <a:xfrm>
            <a:off x="365760" y="1115568"/>
            <a:ext cx="11457432" cy="5239511"/>
            <a:chOff x="365760" y="1115568"/>
            <a:chExt cx="11457432" cy="5239511"/>
          </a:xfrm>
        </p:grpSpPr>
        <p:sp>
          <p:nvSpPr>
            <p:cNvPr id="397" name="Shape 1"/>
            <p:cNvSpPr/>
            <p:nvPr/>
          </p:nvSpPr>
          <p:spPr>
            <a:xfrm>
              <a:off x="365760" y="1115568"/>
              <a:ext cx="11457432" cy="8961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Shape 2"/>
            <p:cNvSpPr/>
            <p:nvPr/>
          </p:nvSpPr>
          <p:spPr>
            <a:xfrm>
              <a:off x="365760" y="201168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9" name="Shape 3"/>
            <p:cNvSpPr/>
            <p:nvPr/>
          </p:nvSpPr>
          <p:spPr>
            <a:xfrm>
              <a:off x="11777472" y="201168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Shape 4"/>
            <p:cNvSpPr/>
            <p:nvPr/>
          </p:nvSpPr>
          <p:spPr>
            <a:xfrm>
              <a:off x="365760" y="2560320"/>
              <a:ext cx="11457432" cy="256031"/>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Shape 5"/>
            <p:cNvSpPr/>
            <p:nvPr/>
          </p:nvSpPr>
          <p:spPr>
            <a:xfrm>
              <a:off x="365760" y="2816352"/>
              <a:ext cx="6885431"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Shape 6"/>
            <p:cNvSpPr/>
            <p:nvPr/>
          </p:nvSpPr>
          <p:spPr>
            <a:xfrm>
              <a:off x="9308592" y="2816352"/>
              <a:ext cx="2514600"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Shape 7"/>
            <p:cNvSpPr/>
            <p:nvPr/>
          </p:nvSpPr>
          <p:spPr>
            <a:xfrm>
              <a:off x="365760" y="3054096"/>
              <a:ext cx="5495544"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Shape 8"/>
            <p:cNvSpPr/>
            <p:nvPr/>
          </p:nvSpPr>
          <p:spPr>
            <a:xfrm>
              <a:off x="7168896" y="3054096"/>
              <a:ext cx="82295"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Shape 9"/>
            <p:cNvSpPr/>
            <p:nvPr/>
          </p:nvSpPr>
          <p:spPr>
            <a:xfrm>
              <a:off x="9308592" y="3054096"/>
              <a:ext cx="2514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Shape 10"/>
            <p:cNvSpPr/>
            <p:nvPr/>
          </p:nvSpPr>
          <p:spPr>
            <a:xfrm>
              <a:off x="365760" y="3346704"/>
              <a:ext cx="6885431"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Shape 11"/>
            <p:cNvSpPr/>
            <p:nvPr/>
          </p:nvSpPr>
          <p:spPr>
            <a:xfrm>
              <a:off x="9308592" y="3346704"/>
              <a:ext cx="2514600"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Shape 12"/>
            <p:cNvSpPr/>
            <p:nvPr/>
          </p:nvSpPr>
          <p:spPr>
            <a:xfrm>
              <a:off x="365760" y="3456432"/>
              <a:ext cx="11457432"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Shape 13"/>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Shape 14"/>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Shape 15"/>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Shape 16"/>
            <p:cNvSpPr/>
            <p:nvPr/>
          </p:nvSpPr>
          <p:spPr>
            <a:xfrm>
              <a:off x="365760" y="5513832"/>
              <a:ext cx="250545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Shape 17"/>
            <p:cNvSpPr/>
            <p:nvPr/>
          </p:nvSpPr>
          <p:spPr>
            <a:xfrm>
              <a:off x="4361688" y="5513832"/>
              <a:ext cx="7461504"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Shape 18"/>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Shape 19"/>
            <p:cNvSpPr/>
            <p:nvPr/>
          </p:nvSpPr>
          <p:spPr>
            <a:xfrm>
              <a:off x="5870448"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Shape 20"/>
            <p:cNvSpPr/>
            <p:nvPr/>
          </p:nvSpPr>
          <p:spPr>
            <a:xfrm>
              <a:off x="9564624" y="197510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Shape 21"/>
            <p:cNvSpPr/>
            <p:nvPr/>
          </p:nvSpPr>
          <p:spPr>
            <a:xfrm>
              <a:off x="2898648"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Shape 22"/>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Shape 23"/>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Shape 2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Text 2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8 / 13   </a:t>
              </a:r>
              <a:r>
                <a:rPr sz="800" b="1" i="0" spc="120">
                  <a:solidFill>
                    <a:srgbClr val="FFFFFF"/>
                  </a:solidFill>
                  <a:latin typeface="Trenda IG Text"/>
                </a:rPr>
                <a:t>H2 · DESIGN APPROVED</a:t>
              </a:r>
            </a:p>
            <a:p>
              <a:pPr>
                <a:spcAft>
                  <a:spcPts val="200"/>
                </a:spcAft>
              </a:pPr>
              <a:r>
                <a:rPr sz="750" b="0" i="0">
                  <a:solidFill>
                    <a:srgbClr val="E6E6E6"/>
                  </a:solidFill>
                  <a:latin typeface="Trenda IG Text"/>
                </a:rPr>
                <a:t>The Architect Agent drafts the design in Confluence: reuse the existing data extensions and segment, a new journey. The Change Guardian names the pods affected. Architect and pod owners approve at H2.</a:t>
              </a:r>
            </a:p>
          </p:txBody>
        </p:sp>
      </p:grpSp>
      <p:grpSp>
        <p:nvGrpSpPr>
          <p:cNvPr id="422" name="Step 8 arrows"/>
          <p:cNvGrpSpPr/>
          <p:nvPr/>
        </p:nvGrpSpPr>
        <p:grpSpPr>
          <a:xfrm>
            <a:off x="3255264" y="4453128"/>
            <a:ext cx="1463040" cy="1700784"/>
            <a:chOff x="3255264" y="4453128"/>
            <a:chExt cx="1463040" cy="1700784"/>
          </a:xfrm>
        </p:grpSpPr>
        <p:cxnSp>
          <p:nvCxnSpPr>
            <p:cNvPr id="42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24" name="Arrow 2"/>
            <p:cNvCxnSpPr/>
            <p:nvPr/>
          </p:nvCxnSpPr>
          <p:spPr>
            <a:xfrm>
              <a:off x="3621024" y="5449824"/>
              <a:ext cx="365760"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25" name="Arrow 3"/>
            <p:cNvCxnSpPr/>
            <p:nvPr/>
          </p:nvCxnSpPr>
          <p:spPr>
            <a:xfrm>
              <a:off x="3986784"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6" name="Shape 4"/>
            <p:cNvSpPr/>
            <p:nvPr/>
          </p:nvSpPr>
          <p:spPr>
            <a:xfrm>
              <a:off x="3255264"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Text 5"/>
            <p:cNvSpPr txBox="1"/>
            <p:nvPr/>
          </p:nvSpPr>
          <p:spPr>
            <a:xfrm>
              <a:off x="3255264"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H2 APPROVED → 03 BUILD</a:t>
              </a:r>
            </a:p>
          </p:txBody>
        </p:sp>
      </p:grpSp>
      <p:grpSp>
        <p:nvGrpSpPr>
          <p:cNvPr id="428" name="Step 9 highlight"/>
          <p:cNvGrpSpPr/>
          <p:nvPr/>
        </p:nvGrpSpPr>
        <p:grpSpPr>
          <a:xfrm>
            <a:off x="365760" y="1115568"/>
            <a:ext cx="11457432" cy="5239511"/>
            <a:chOff x="365760" y="1115568"/>
            <a:chExt cx="11457432" cy="5239511"/>
          </a:xfrm>
        </p:grpSpPr>
        <p:sp>
          <p:nvSpPr>
            <p:cNvPr id="429" name="Shape 1"/>
            <p:cNvSpPr/>
            <p:nvPr/>
          </p:nvSpPr>
          <p:spPr>
            <a:xfrm>
              <a:off x="365760" y="1115568"/>
              <a:ext cx="11457432" cy="18105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Shape 2"/>
            <p:cNvSpPr/>
            <p:nvPr/>
          </p:nvSpPr>
          <p:spPr>
            <a:xfrm>
              <a:off x="365760" y="2926080"/>
              <a:ext cx="923544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1" name="Shape 3"/>
            <p:cNvSpPr/>
            <p:nvPr/>
          </p:nvSpPr>
          <p:spPr>
            <a:xfrm>
              <a:off x="11777472" y="2926080"/>
              <a:ext cx="4572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Shape 4"/>
            <p:cNvSpPr/>
            <p:nvPr/>
          </p:nvSpPr>
          <p:spPr>
            <a:xfrm>
              <a:off x="365760" y="3287268"/>
              <a:ext cx="420624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3" name="Shape 5"/>
            <p:cNvSpPr/>
            <p:nvPr/>
          </p:nvSpPr>
          <p:spPr>
            <a:xfrm>
              <a:off x="7168896" y="3287268"/>
              <a:ext cx="2432304"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Shape 6"/>
            <p:cNvSpPr/>
            <p:nvPr/>
          </p:nvSpPr>
          <p:spPr>
            <a:xfrm>
              <a:off x="11777472" y="3287268"/>
              <a:ext cx="4572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5" name="Shape 7"/>
            <p:cNvSpPr/>
            <p:nvPr/>
          </p:nvSpPr>
          <p:spPr>
            <a:xfrm>
              <a:off x="365760" y="3813048"/>
              <a:ext cx="923544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Shape 8"/>
            <p:cNvSpPr/>
            <p:nvPr/>
          </p:nvSpPr>
          <p:spPr>
            <a:xfrm>
              <a:off x="11777472" y="3813048"/>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7" name="Shape 9"/>
            <p:cNvSpPr/>
            <p:nvPr/>
          </p:nvSpPr>
          <p:spPr>
            <a:xfrm>
              <a:off x="365760" y="3849624"/>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8" name="Shape 10"/>
            <p:cNvSpPr/>
            <p:nvPr/>
          </p:nvSpPr>
          <p:spPr>
            <a:xfrm>
              <a:off x="7232904" y="3849624"/>
              <a:ext cx="2368296"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9" name="Shape 11"/>
            <p:cNvSpPr/>
            <p:nvPr/>
          </p:nvSpPr>
          <p:spPr>
            <a:xfrm>
              <a:off x="11777472" y="3849624"/>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0" name="Shape 12"/>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1" name="Shape 13"/>
            <p:cNvSpPr/>
            <p:nvPr/>
          </p:nvSpPr>
          <p:spPr>
            <a:xfrm>
              <a:off x="4453128" y="3886200"/>
              <a:ext cx="548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2" name="Shape 14"/>
            <p:cNvSpPr/>
            <p:nvPr/>
          </p:nvSpPr>
          <p:spPr>
            <a:xfrm>
              <a:off x="7232904" y="3886200"/>
              <a:ext cx="2368296"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3" name="Shape 15"/>
            <p:cNvSpPr/>
            <p:nvPr/>
          </p:nvSpPr>
          <p:spPr>
            <a:xfrm>
              <a:off x="11777472" y="3886200"/>
              <a:ext cx="4572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4" name="Shape 16"/>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5" name="Shape 17"/>
            <p:cNvSpPr/>
            <p:nvPr/>
          </p:nvSpPr>
          <p:spPr>
            <a:xfrm>
              <a:off x="4453128" y="3977639"/>
              <a:ext cx="54863"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6" name="Shape 18"/>
            <p:cNvSpPr/>
            <p:nvPr/>
          </p:nvSpPr>
          <p:spPr>
            <a:xfrm>
              <a:off x="7232904" y="3977639"/>
              <a:ext cx="4590288"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7" name="Shape 19"/>
            <p:cNvSpPr/>
            <p:nvPr/>
          </p:nvSpPr>
          <p:spPr>
            <a:xfrm>
              <a:off x="365760" y="4453128"/>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8" name="Shape 20"/>
            <p:cNvSpPr/>
            <p:nvPr/>
          </p:nvSpPr>
          <p:spPr>
            <a:xfrm>
              <a:off x="7232904" y="4453128"/>
              <a:ext cx="4590288"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9" name="Shape 21"/>
            <p:cNvSpPr/>
            <p:nvPr/>
          </p:nvSpPr>
          <p:spPr>
            <a:xfrm>
              <a:off x="365760" y="4489704"/>
              <a:ext cx="11457432" cy="10241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0" name="Shape 22"/>
            <p:cNvSpPr/>
            <p:nvPr/>
          </p:nvSpPr>
          <p:spPr>
            <a:xfrm>
              <a:off x="365760" y="5513832"/>
              <a:ext cx="398678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1" name="Shape 23"/>
            <p:cNvSpPr/>
            <p:nvPr/>
          </p:nvSpPr>
          <p:spPr>
            <a:xfrm>
              <a:off x="6583679" y="5513832"/>
              <a:ext cx="523951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2" name="Shape 24"/>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3" name="Shape 25"/>
            <p:cNvSpPr/>
            <p:nvPr/>
          </p:nvSpPr>
          <p:spPr>
            <a:xfrm>
              <a:off x="4581144"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4" name="Shape 26"/>
            <p:cNvSpPr/>
            <p:nvPr/>
          </p:nvSpPr>
          <p:spPr>
            <a:xfrm>
              <a:off x="5870448"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5" name="Shape 27"/>
            <p:cNvSpPr/>
            <p:nvPr/>
          </p:nvSpPr>
          <p:spPr>
            <a:xfrm>
              <a:off x="4581144"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6" name="Shape 28"/>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7" name="Shape 29"/>
            <p:cNvSpPr/>
            <p:nvPr/>
          </p:nvSpPr>
          <p:spPr>
            <a:xfrm>
              <a:off x="4379976"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8" name="Shape 30"/>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9" name="Shape 31"/>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0" name="Shape 32"/>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1" name="Text 33"/>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9 / 13   </a:t>
              </a:r>
              <a:r>
                <a:rPr sz="800" b="1" i="0" spc="120">
                  <a:solidFill>
                    <a:srgbClr val="FFFFFF"/>
                  </a:solidFill>
                  <a:latin typeface="Trenda IG Text"/>
                </a:rPr>
                <a:t>H3 · CODE AND TESTS APPROVED</a:t>
              </a:r>
            </a:p>
            <a:p>
              <a:pPr>
                <a:spcAft>
                  <a:spcPts val="200"/>
                </a:spcAft>
              </a:pPr>
              <a:r>
                <a:rPr sz="750" b="0" i="0">
                  <a:solidFill>
                    <a:srgbClr val="E6E6E6"/>
                  </a:solidFill>
                  <a:latin typeface="Trenda IG Text"/>
                </a:rPr>
                <a:t>The Developer Agent builds in the Marketing Cloud dev business unit: data extensions, SQL, AMPscript, the journey as a draft. Review and Test Agents check it, evals score it. Tech lead and security approve at H3.</a:t>
              </a:r>
            </a:p>
          </p:txBody>
        </p:sp>
      </p:grpSp>
      <p:grpSp>
        <p:nvGrpSpPr>
          <p:cNvPr id="462" name="Step 9 arrows"/>
          <p:cNvGrpSpPr/>
          <p:nvPr/>
        </p:nvGrpSpPr>
        <p:grpSpPr>
          <a:xfrm>
            <a:off x="3621024" y="4453128"/>
            <a:ext cx="3319272" cy="1700784"/>
            <a:chOff x="3621024" y="4453128"/>
            <a:chExt cx="3319272" cy="1700784"/>
          </a:xfrm>
        </p:grpSpPr>
        <p:cxnSp>
          <p:nvCxnSpPr>
            <p:cNvPr id="46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4" name="Arrow 2"/>
            <p:cNvCxnSpPr/>
            <p:nvPr/>
          </p:nvCxnSpPr>
          <p:spPr>
            <a:xfrm>
              <a:off x="3621024" y="5449824"/>
              <a:ext cx="258775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5" name="Arrow 3"/>
            <p:cNvCxnSpPr/>
            <p:nvPr/>
          </p:nvCxnSpPr>
          <p:spPr>
            <a:xfrm>
              <a:off x="620877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6" name="Shape 4"/>
            <p:cNvSpPr/>
            <p:nvPr/>
          </p:nvSpPr>
          <p:spPr>
            <a:xfrm>
              <a:off x="547725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7" name="Text 5"/>
            <p:cNvSpPr txBox="1"/>
            <p:nvPr/>
          </p:nvSpPr>
          <p:spPr>
            <a:xfrm>
              <a:off x="547725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H3 APPROVED → 05 PROMOTE</a:t>
              </a:r>
            </a:p>
          </p:txBody>
        </p:sp>
      </p:grpSp>
      <p:grpSp>
        <p:nvGrpSpPr>
          <p:cNvPr id="468" name="Step 10 highlight"/>
          <p:cNvGrpSpPr/>
          <p:nvPr/>
        </p:nvGrpSpPr>
        <p:grpSpPr>
          <a:xfrm>
            <a:off x="365760" y="1115568"/>
            <a:ext cx="11457432" cy="5239511"/>
            <a:chOff x="365760" y="1115568"/>
            <a:chExt cx="11457432" cy="5239511"/>
          </a:xfrm>
        </p:grpSpPr>
        <p:sp>
          <p:nvSpPr>
            <p:cNvPr id="469"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0"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1"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2"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3" name="Shape 5"/>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4" name="Shape 6"/>
            <p:cNvSpPr/>
            <p:nvPr/>
          </p:nvSpPr>
          <p:spPr>
            <a:xfrm>
              <a:off x="4453128" y="3886200"/>
              <a:ext cx="73700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5" name="Shape 7"/>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6" name="Shape 8"/>
            <p:cNvSpPr/>
            <p:nvPr/>
          </p:nvSpPr>
          <p:spPr>
            <a:xfrm>
              <a:off x="4453128" y="3977639"/>
              <a:ext cx="5148072"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7" name="Shape 9"/>
            <p:cNvSpPr/>
            <p:nvPr/>
          </p:nvSpPr>
          <p:spPr>
            <a:xfrm>
              <a:off x="11777472" y="3977639"/>
              <a:ext cx="4572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8" name="Shape 10"/>
            <p:cNvSpPr/>
            <p:nvPr/>
          </p:nvSpPr>
          <p:spPr>
            <a:xfrm>
              <a:off x="365760" y="4453128"/>
              <a:ext cx="923544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9" name="Shape 11"/>
            <p:cNvSpPr/>
            <p:nvPr/>
          </p:nvSpPr>
          <p:spPr>
            <a:xfrm>
              <a:off x="11777472" y="4453128"/>
              <a:ext cx="4572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0" name="Shape 12"/>
            <p:cNvSpPr/>
            <p:nvPr/>
          </p:nvSpPr>
          <p:spPr>
            <a:xfrm>
              <a:off x="365760" y="4882896"/>
              <a:ext cx="11457432" cy="63093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1" name="Shape 13"/>
            <p:cNvSpPr/>
            <p:nvPr/>
          </p:nvSpPr>
          <p:spPr>
            <a:xfrm>
              <a:off x="365760" y="5513832"/>
              <a:ext cx="6208775"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2" name="Shape 14"/>
            <p:cNvSpPr/>
            <p:nvPr/>
          </p:nvSpPr>
          <p:spPr>
            <a:xfrm>
              <a:off x="8805672" y="5513832"/>
              <a:ext cx="3017519"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3" name="Shape 15"/>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4" name="Shape 16"/>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5" name="Shape 17"/>
            <p:cNvSpPr/>
            <p:nvPr/>
          </p:nvSpPr>
          <p:spPr>
            <a:xfrm>
              <a:off x="9564624" y="3941063"/>
              <a:ext cx="2249423" cy="978408"/>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6" name="Shape 18"/>
            <p:cNvSpPr/>
            <p:nvPr/>
          </p:nvSpPr>
          <p:spPr>
            <a:xfrm>
              <a:off x="6601968"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7" name="Shape 19"/>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8" name="Shape 20"/>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9" name="Text 21"/>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10 / 13   </a:t>
              </a:r>
              <a:r>
                <a:rPr sz="800" b="1" i="0" spc="120">
                  <a:solidFill>
                    <a:srgbClr val="FFFFFF"/>
                  </a:solidFill>
                  <a:latin typeface="Trenda IG Text"/>
                </a:rPr>
                <a:t>06 UAT, THEN H4 · BUSINESS SIGN-OFF</a:t>
              </a:r>
            </a:p>
            <a:p>
              <a:pPr>
                <a:spcAft>
                  <a:spcPts val="200"/>
                </a:spcAft>
              </a:pPr>
              <a:r>
                <a:rPr sz="750" b="0" i="0">
                  <a:solidFill>
                    <a:srgbClr val="E6E6E6"/>
                  </a:solidFill>
                  <a:latin typeface="Trenda IG Text"/>
                </a:rPr>
                <a:t>The Release Agent promotes the campaign through Copado to SIT and UAT. Marketing and clinical owners test every message variant and sign off UAT at H4.</a:t>
              </a:r>
            </a:p>
          </p:txBody>
        </p:sp>
      </p:grpSp>
      <p:grpSp>
        <p:nvGrpSpPr>
          <p:cNvPr id="490" name="Step 10 arrows"/>
          <p:cNvGrpSpPr/>
          <p:nvPr/>
        </p:nvGrpSpPr>
        <p:grpSpPr>
          <a:xfrm>
            <a:off x="3621024" y="4453128"/>
            <a:ext cx="5541264" cy="1700784"/>
            <a:chOff x="3621024" y="4453128"/>
            <a:chExt cx="5541264" cy="1700784"/>
          </a:xfrm>
        </p:grpSpPr>
        <p:cxnSp>
          <p:nvCxnSpPr>
            <p:cNvPr id="49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92" name="Arrow 2"/>
            <p:cNvCxnSpPr/>
            <p:nvPr/>
          </p:nvCxnSpPr>
          <p:spPr>
            <a:xfrm>
              <a:off x="3621024" y="5449824"/>
              <a:ext cx="4809744"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93" name="Arrow 3"/>
            <p:cNvCxnSpPr/>
            <p:nvPr/>
          </p:nvCxnSpPr>
          <p:spPr>
            <a:xfrm>
              <a:off x="8430768"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4" name="Shape 4"/>
            <p:cNvSpPr/>
            <p:nvPr/>
          </p:nvSpPr>
          <p:spPr>
            <a:xfrm>
              <a:off x="7699248"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5" name="Text 5"/>
            <p:cNvSpPr txBox="1"/>
            <p:nvPr/>
          </p:nvSpPr>
          <p:spPr>
            <a:xfrm>
              <a:off x="7699248"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H4 SIGNED → 07 PREPARE</a:t>
              </a:r>
            </a:p>
          </p:txBody>
        </p:sp>
      </p:grpSp>
      <p:grpSp>
        <p:nvGrpSpPr>
          <p:cNvPr id="496" name="Step 11 highlight"/>
          <p:cNvGrpSpPr/>
          <p:nvPr/>
        </p:nvGrpSpPr>
        <p:grpSpPr>
          <a:xfrm>
            <a:off x="365760" y="1115568"/>
            <a:ext cx="11457432" cy="5239511"/>
            <a:chOff x="365760" y="1115568"/>
            <a:chExt cx="11457432" cy="5239511"/>
          </a:xfrm>
        </p:grpSpPr>
        <p:sp>
          <p:nvSpPr>
            <p:cNvPr id="497"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8"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9"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0"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1" name="Shape 5"/>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2" name="Shape 6"/>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3" name="Shape 7"/>
            <p:cNvSpPr/>
            <p:nvPr/>
          </p:nvSpPr>
          <p:spPr>
            <a:xfrm>
              <a:off x="365760" y="4453128"/>
              <a:ext cx="11457432" cy="13715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4" name="Shape 8"/>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5" name="Shape 9"/>
            <p:cNvSpPr/>
            <p:nvPr/>
          </p:nvSpPr>
          <p:spPr>
            <a:xfrm>
              <a:off x="6583680" y="4590288"/>
              <a:ext cx="5239512"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6" name="Shape 10"/>
            <p:cNvSpPr/>
            <p:nvPr/>
          </p:nvSpPr>
          <p:spPr>
            <a:xfrm>
              <a:off x="365760" y="5413248"/>
              <a:ext cx="11457432" cy="10058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7" name="Shape 11"/>
            <p:cNvSpPr/>
            <p:nvPr/>
          </p:nvSpPr>
          <p:spPr>
            <a:xfrm>
              <a:off x="365760" y="5513832"/>
              <a:ext cx="843076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8" name="Shape 12"/>
            <p:cNvSpPr/>
            <p:nvPr/>
          </p:nvSpPr>
          <p:spPr>
            <a:xfrm>
              <a:off x="10287000" y="5513832"/>
              <a:ext cx="1536191"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9"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0" name="Shape 14"/>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1" name="Shape 15"/>
            <p:cNvSpPr/>
            <p:nvPr/>
          </p:nvSpPr>
          <p:spPr>
            <a:xfrm>
              <a:off x="8823960" y="5550408"/>
              <a:ext cx="1435607"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2" name="Shape 16"/>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3" name="Shape 17"/>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4"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5"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11 / 13   </a:t>
              </a:r>
              <a:r>
                <a:rPr sz="800" b="1" i="0" spc="120">
                  <a:solidFill>
                    <a:srgbClr val="FFFFFF"/>
                  </a:solidFill>
                  <a:latin typeface="Trenda IG Text"/>
                </a:rPr>
                <a:t>CAB · RELEASE APPROVED</a:t>
              </a:r>
            </a:p>
            <a:p>
              <a:pPr>
                <a:spcAft>
                  <a:spcPts val="200"/>
                </a:spcAft>
              </a:pPr>
              <a:r>
                <a:rPr sz="750" b="0" i="0">
                  <a:solidFill>
                    <a:srgbClr val="E6E6E6"/>
                  </a:solidFill>
                  <a:latin typeface="Trenda IG Text"/>
                </a:rPr>
                <a:t>The Release Agent builds the CAB pack from the change passport: evidence, test results, rollback plan. CAB approves the release, exactly as today.</a:t>
              </a:r>
            </a:p>
          </p:txBody>
        </p:sp>
      </p:grpSp>
      <p:grpSp>
        <p:nvGrpSpPr>
          <p:cNvPr id="516" name="Step 11 arrows"/>
          <p:cNvGrpSpPr/>
          <p:nvPr/>
        </p:nvGrpSpPr>
        <p:grpSpPr>
          <a:xfrm>
            <a:off x="3621024" y="4453128"/>
            <a:ext cx="7022592" cy="1700784"/>
            <a:chOff x="3621024" y="4453128"/>
            <a:chExt cx="7022592" cy="1700784"/>
          </a:xfrm>
        </p:grpSpPr>
        <p:cxnSp>
          <p:nvCxnSpPr>
            <p:cNvPr id="517"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518" name="Arrow 2"/>
            <p:cNvCxnSpPr/>
            <p:nvPr/>
          </p:nvCxnSpPr>
          <p:spPr>
            <a:xfrm>
              <a:off x="3621024" y="5449824"/>
              <a:ext cx="629107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519" name="Arrow 3"/>
            <p:cNvCxnSpPr/>
            <p:nvPr/>
          </p:nvCxnSpPr>
          <p:spPr>
            <a:xfrm>
              <a:off x="991209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0" name="Shape 4"/>
            <p:cNvSpPr/>
            <p:nvPr/>
          </p:nvSpPr>
          <p:spPr>
            <a:xfrm>
              <a:off x="918057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1" name="Text 5"/>
            <p:cNvSpPr txBox="1"/>
            <p:nvPr/>
          </p:nvSpPr>
          <p:spPr>
            <a:xfrm>
              <a:off x="918057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CAB APPROVED → 08 DEPLOY</a:t>
              </a:r>
            </a:p>
          </p:txBody>
        </p:sp>
      </p:grpSp>
      <p:grpSp>
        <p:nvGrpSpPr>
          <p:cNvPr id="522" name="Step 12 highlight"/>
          <p:cNvGrpSpPr/>
          <p:nvPr/>
        </p:nvGrpSpPr>
        <p:grpSpPr>
          <a:xfrm>
            <a:off x="365760" y="1115568"/>
            <a:ext cx="11457432" cy="5239511"/>
            <a:chOff x="365760" y="1115568"/>
            <a:chExt cx="11457432" cy="5239511"/>
          </a:xfrm>
        </p:grpSpPr>
        <p:sp>
          <p:nvSpPr>
            <p:cNvPr id="523"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4"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5"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6" name="Shape 4"/>
            <p:cNvSpPr/>
            <p:nvPr/>
          </p:nvSpPr>
          <p:spPr>
            <a:xfrm>
              <a:off x="365760" y="2011680"/>
              <a:ext cx="11457432" cy="28346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7" name="Shape 5"/>
            <p:cNvSpPr/>
            <p:nvPr/>
          </p:nvSpPr>
          <p:spPr>
            <a:xfrm>
              <a:off x="365760" y="4846320"/>
              <a:ext cx="9281160"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8" name="Shape 6"/>
            <p:cNvSpPr/>
            <p:nvPr/>
          </p:nvSpPr>
          <p:spPr>
            <a:xfrm>
              <a:off x="11731752" y="4846320"/>
              <a:ext cx="91439"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9" name="Shape 7"/>
            <p:cNvSpPr/>
            <p:nvPr/>
          </p:nvSpPr>
          <p:spPr>
            <a:xfrm>
              <a:off x="365760" y="5449824"/>
              <a:ext cx="11457432" cy="640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0" name="Shape 8"/>
            <p:cNvSpPr/>
            <p:nvPr/>
          </p:nvSpPr>
          <p:spPr>
            <a:xfrm>
              <a:off x="365760" y="5513832"/>
              <a:ext cx="991209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1" name="Shape 9"/>
            <p:cNvSpPr/>
            <p:nvPr/>
          </p:nvSpPr>
          <p:spPr>
            <a:xfrm>
              <a:off x="11768328" y="5513832"/>
              <a:ext cx="5486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2" name="Shape 10"/>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3" name="Shape 11"/>
            <p:cNvSpPr/>
            <p:nvPr/>
          </p:nvSpPr>
          <p:spPr>
            <a:xfrm>
              <a:off x="10268712" y="5513832"/>
              <a:ext cx="1508760" cy="45720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4" name="Shape 12"/>
            <p:cNvSpPr/>
            <p:nvPr/>
          </p:nvSpPr>
          <p:spPr>
            <a:xfrm>
              <a:off x="9656064" y="4864608"/>
              <a:ext cx="2066544" cy="5760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5" name="Shape 13"/>
            <p:cNvSpPr/>
            <p:nvPr/>
          </p:nvSpPr>
          <p:spPr>
            <a:xfrm>
              <a:off x="9564624" y="1426464"/>
              <a:ext cx="2249424"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6" name="Shape 1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7" name="Text 1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12 / 13   </a:t>
              </a:r>
              <a:r>
                <a:rPr sz="800" b="1" i="0" spc="120">
                  <a:solidFill>
                    <a:srgbClr val="FFFFFF"/>
                  </a:solidFill>
                  <a:latin typeface="Trenda IG Text"/>
                </a:rPr>
                <a:t>PRODUCTION: THE OWNING TEAM DEPLOYS</a:t>
              </a:r>
            </a:p>
            <a:p>
              <a:pPr>
                <a:spcAft>
                  <a:spcPts val="200"/>
                </a:spcAft>
              </a:pPr>
              <a:r>
                <a:rPr sz="750" b="0" i="0">
                  <a:solidFill>
                    <a:srgbClr val="E6E6E6"/>
                  </a:solidFill>
                  <a:latin typeface="Trenda IG Text"/>
                </a:rPr>
                <a:t>The owning team activates the journey in production through its own pipeline. No agent holds a production credential. Step 09 closes the Jira story and resyncs the knowledge graph.</a:t>
              </a:r>
            </a:p>
          </p:txBody>
        </p:sp>
      </p:grpSp>
      <p:grpSp>
        <p:nvGrpSpPr>
          <p:cNvPr id="538" name="Step 12 arrows"/>
          <p:cNvGrpSpPr/>
          <p:nvPr/>
        </p:nvGrpSpPr>
        <p:grpSpPr>
          <a:xfrm>
            <a:off x="10652760" y="5404104"/>
            <a:ext cx="0" cy="146304"/>
            <a:chOff x="10652760" y="5404104"/>
            <a:chExt cx="0" cy="146304"/>
          </a:xfrm>
        </p:grpSpPr>
        <p:cxnSp>
          <p:nvCxnSpPr>
            <p:cNvPr id="539" name="Arrow 1"/>
            <p:cNvCxnSpPr/>
            <p:nvPr/>
          </p:nvCxnSpPr>
          <p:spPr>
            <a:xfrm flipV="1">
              <a:off x="10652760" y="5404104"/>
              <a:ext cx="0" cy="14630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540" name="Step 13 highlight"/>
          <p:cNvGrpSpPr/>
          <p:nvPr/>
        </p:nvGrpSpPr>
        <p:grpSpPr>
          <a:xfrm>
            <a:off x="365760" y="1115568"/>
            <a:ext cx="11457432" cy="5239512"/>
            <a:chOff x="365760" y="1115568"/>
            <a:chExt cx="11457432" cy="5239512"/>
          </a:xfrm>
        </p:grpSpPr>
        <p:sp>
          <p:nvSpPr>
            <p:cNvPr id="541" name="Shape 1"/>
            <p:cNvSpPr/>
            <p:nvPr/>
          </p:nvSpPr>
          <p:spPr>
            <a:xfrm>
              <a:off x="365760" y="1115568"/>
              <a:ext cx="11457432" cy="34747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2" name="Shape 2"/>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3" name="Shape 3"/>
            <p:cNvSpPr/>
            <p:nvPr/>
          </p:nvSpPr>
          <p:spPr>
            <a:xfrm>
              <a:off x="7909560" y="4590288"/>
              <a:ext cx="3913631"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4" name="Shape 4"/>
            <p:cNvSpPr/>
            <p:nvPr/>
          </p:nvSpPr>
          <p:spPr>
            <a:xfrm>
              <a:off x="365760" y="5413248"/>
              <a:ext cx="11457432" cy="941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5" name="Shape 5"/>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6" name="Shape 6"/>
            <p:cNvSpPr/>
            <p:nvPr/>
          </p:nvSpPr>
          <p:spPr>
            <a:xfrm>
              <a:off x="6592824" y="4599432"/>
              <a:ext cx="13075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7" name="Shape 7"/>
            <p:cNvSpPr/>
            <p:nvPr/>
          </p:nvSpPr>
          <p:spPr>
            <a:xfrm>
              <a:off x="4206240" y="3931920"/>
              <a:ext cx="47548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8" name="Text 8"/>
            <p:cNvSpPr txBox="1"/>
            <p:nvPr/>
          </p:nvSpPr>
          <p:spPr>
            <a:xfrm>
              <a:off x="4334255" y="3995928"/>
              <a:ext cx="44988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13 / 13   </a:t>
              </a:r>
              <a:r>
                <a:rPr sz="800" b="1" i="0" spc="120">
                  <a:solidFill>
                    <a:srgbClr val="FFFFFF"/>
                  </a:solidFill>
                  <a:latin typeface="Trenda IG Text"/>
                </a:rPr>
                <a:t>EVIDENCE ON EVERY CHANGE</a:t>
              </a:r>
            </a:p>
            <a:p>
              <a:pPr>
                <a:spcAft>
                  <a:spcPts val="200"/>
                </a:spcAft>
              </a:pPr>
              <a:r>
                <a:rPr sz="750" b="0" i="0">
                  <a:solidFill>
                    <a:srgbClr val="E6E6E6"/>
                  </a:solidFill>
                  <a:latin typeface="Trenda IG Text"/>
                </a:rPr>
                <a:t>Every step and every approval lands in the change passport; cycle time, defects, rework and cost per change are reported per pod. Not just automation: a controlled, auditable delivery process.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8"/>
                                        </p:tgtEl>
                                        <p:attrNameLst>
                                          <p:attrName>style.visibility</p:attrName>
                                        </p:attrNameLst>
                                      </p:cBhvr>
                                      <p:to>
                                        <p:strVal val="visible"/>
                                      </p:to>
                                    </p:set>
                                    <p:animEffect transition="in" filter="fade">
                                      <p:cBhvr>
                                        <p:cTn id="7" dur="350"/>
                                        <p:tgtEl>
                                          <p:spTgt spid="238"/>
                                        </p:tgtEl>
                                      </p:cBhvr>
                                    </p:animEffect>
                                  </p:childTnLst>
                                </p:cTn>
                              </p:par>
                            </p:childTnLst>
                          </p:cTn>
                        </p:par>
                        <p:par>
                          <p:cTn id="8" fill="hold">
                            <p:stCondLst>
                              <p:cond delay="400"/>
                            </p:stCondLst>
                            <p:childTnLst>
                              <p:par>
                                <p:cTn id="9" presetID="22" presetClass="entr" presetSubtype="8" fill="hold" grpId="0" nodeType="afterEffect">
                                  <p:stCondLst>
                                    <p:cond delay="0"/>
                                  </p:stCondLst>
                                  <p:childTnLst>
                                    <p:set>
                                      <p:cBhvr>
                                        <p:cTn id="10" dur="1" fill="hold">
                                          <p:stCondLst>
                                            <p:cond delay="0"/>
                                          </p:stCondLst>
                                        </p:cTn>
                                        <p:tgtEl>
                                          <p:spTgt spid="251"/>
                                        </p:tgtEl>
                                        <p:attrNameLst>
                                          <p:attrName>style.visibility</p:attrName>
                                        </p:attrNameLst>
                                      </p:cBhvr>
                                      <p:to>
                                        <p:strVal val="visible"/>
                                      </p:to>
                                    </p:set>
                                    <p:animEffect transition="in" filter="wipe(left)">
                                      <p:cBhvr>
                                        <p:cTn id="11" dur="600"/>
                                        <p:tgtEl>
                                          <p:spTgt spid="25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xit" presetSubtype="0" fill="hold" grpId="0" nodeType="clickEffect">
                                  <p:stCondLst>
                                    <p:cond delay="0"/>
                                  </p:stCondLst>
                                  <p:childTnLst>
                                    <p:animEffect transition="out" filter="fade">
                                      <p:cBhvr>
                                        <p:cTn id="15" dur="250"/>
                                        <p:tgtEl>
                                          <p:spTgt spid="238"/>
                                        </p:tgtEl>
                                      </p:cBhvr>
                                    </p:animEffect>
                                    <p:set>
                                      <p:cBhvr>
                                        <p:cTn id="16" dur="1" fill="hold">
                                          <p:stCondLst>
                                            <p:cond delay="249"/>
                                          </p:stCondLst>
                                        </p:cTn>
                                        <p:tgtEl>
                                          <p:spTgt spid="238"/>
                                        </p:tgtEl>
                                        <p:attrNameLst>
                                          <p:attrName>style.visibility</p:attrName>
                                        </p:attrNameLst>
                                      </p:cBhvr>
                                      <p:to>
                                        <p:strVal val="hidden"/>
                                      </p:to>
                                    </p:set>
                                  </p:childTnLst>
                                </p:cTn>
                              </p:par>
                              <p:par>
                                <p:cTn id="17" presetID="10" presetClass="exit" presetSubtype="0" fill="hold" grpId="0" nodeType="withEffect">
                                  <p:stCondLst>
                                    <p:cond delay="0"/>
                                  </p:stCondLst>
                                  <p:childTnLst>
                                    <p:animEffect transition="out" filter="fade">
                                      <p:cBhvr>
                                        <p:cTn id="18" dur="250"/>
                                        <p:tgtEl>
                                          <p:spTgt spid="251"/>
                                        </p:tgtEl>
                                      </p:cBhvr>
                                    </p:animEffect>
                                    <p:set>
                                      <p:cBhvr>
                                        <p:cTn id="19" dur="1" fill="hold">
                                          <p:stCondLst>
                                            <p:cond delay="249"/>
                                          </p:stCondLst>
                                        </p:cTn>
                                        <p:tgtEl>
                                          <p:spTgt spid="251"/>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21" dur="1" fill="hold">
                                          <p:stCondLst>
                                            <p:cond delay="0"/>
                                          </p:stCondLst>
                                        </p:cTn>
                                        <p:tgtEl>
                                          <p:spTgt spid="254"/>
                                        </p:tgtEl>
                                        <p:attrNameLst>
                                          <p:attrName>style.visibility</p:attrName>
                                        </p:attrNameLst>
                                      </p:cBhvr>
                                      <p:to>
                                        <p:strVal val="visible"/>
                                      </p:to>
                                    </p:set>
                                    <p:animEffect transition="in" filter="fade">
                                      <p:cBhvr>
                                        <p:cTn id="22" dur="350"/>
                                        <p:tgtEl>
                                          <p:spTgt spid="254"/>
                                        </p:tgtEl>
                                      </p:cBhvr>
                                    </p:animEffect>
                                  </p:childTnLst>
                                </p:cTn>
                              </p:par>
                            </p:childTnLst>
                          </p:cTn>
                        </p:par>
                        <p:par>
                          <p:cTn id="23" fill="hold">
                            <p:stCondLst>
                              <p:cond delay="400"/>
                            </p:stCondLst>
                            <p:childTnLst>
                              <p:par>
                                <p:cTn id="24" presetID="22" presetClass="entr" presetSubtype="8" fill="hold" grpId="0" nodeType="after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wipe(left)">
                                      <p:cBhvr>
                                        <p:cTn id="26" dur="600"/>
                                        <p:tgtEl>
                                          <p:spTgt spid="27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0" nodeType="clickEffect">
                                  <p:stCondLst>
                                    <p:cond delay="0"/>
                                  </p:stCondLst>
                                  <p:childTnLst>
                                    <p:animEffect transition="out" filter="fade">
                                      <p:cBhvr>
                                        <p:cTn id="30" dur="250"/>
                                        <p:tgtEl>
                                          <p:spTgt spid="254"/>
                                        </p:tgtEl>
                                      </p:cBhvr>
                                    </p:animEffect>
                                    <p:set>
                                      <p:cBhvr>
                                        <p:cTn id="31" dur="1" fill="hold">
                                          <p:stCondLst>
                                            <p:cond delay="249"/>
                                          </p:stCondLst>
                                        </p:cTn>
                                        <p:tgtEl>
                                          <p:spTgt spid="254"/>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3" dur="250"/>
                                        <p:tgtEl>
                                          <p:spTgt spid="275"/>
                                        </p:tgtEl>
                                      </p:cBhvr>
                                    </p:animEffect>
                                    <p:set>
                                      <p:cBhvr>
                                        <p:cTn id="34" dur="1" fill="hold">
                                          <p:stCondLst>
                                            <p:cond delay="249"/>
                                          </p:stCondLst>
                                        </p:cTn>
                                        <p:tgtEl>
                                          <p:spTgt spid="275"/>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6" dur="1" fill="hold">
                                          <p:stCondLst>
                                            <p:cond delay="0"/>
                                          </p:stCondLst>
                                        </p:cTn>
                                        <p:tgtEl>
                                          <p:spTgt spid="278"/>
                                        </p:tgtEl>
                                        <p:attrNameLst>
                                          <p:attrName>style.visibility</p:attrName>
                                        </p:attrNameLst>
                                      </p:cBhvr>
                                      <p:to>
                                        <p:strVal val="visible"/>
                                      </p:to>
                                    </p:set>
                                    <p:animEffect transition="in" filter="fade">
                                      <p:cBhvr>
                                        <p:cTn id="37" dur="350"/>
                                        <p:tgtEl>
                                          <p:spTgt spid="278"/>
                                        </p:tgtEl>
                                      </p:cBhvr>
                                    </p:animEffect>
                                  </p:childTnLst>
                                </p:cTn>
                              </p:par>
                            </p:childTnLst>
                          </p:cTn>
                        </p:par>
                        <p:par>
                          <p:cTn id="38" fill="hold">
                            <p:stCondLst>
                              <p:cond delay="400"/>
                            </p:stCondLst>
                            <p:childTnLst>
                              <p:par>
                                <p:cTn id="39" presetID="22" presetClass="entr" presetSubtype="8" fill="hold" grpId="0" nodeType="afterEffect">
                                  <p:stCondLst>
                                    <p:cond delay="0"/>
                                  </p:stCondLst>
                                  <p:childTnLst>
                                    <p:set>
                                      <p:cBhvr>
                                        <p:cTn id="40" dur="1" fill="hold">
                                          <p:stCondLst>
                                            <p:cond delay="0"/>
                                          </p:stCondLst>
                                        </p:cTn>
                                        <p:tgtEl>
                                          <p:spTgt spid="287"/>
                                        </p:tgtEl>
                                        <p:attrNameLst>
                                          <p:attrName>style.visibility</p:attrName>
                                        </p:attrNameLst>
                                      </p:cBhvr>
                                      <p:to>
                                        <p:strVal val="visible"/>
                                      </p:to>
                                    </p:set>
                                    <p:animEffect transition="in" filter="wipe(left)">
                                      <p:cBhvr>
                                        <p:cTn id="41" dur="600"/>
                                        <p:tgtEl>
                                          <p:spTgt spid="28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250"/>
                                        <p:tgtEl>
                                          <p:spTgt spid="278"/>
                                        </p:tgtEl>
                                      </p:cBhvr>
                                    </p:animEffect>
                                    <p:set>
                                      <p:cBhvr>
                                        <p:cTn id="46" dur="1" fill="hold">
                                          <p:stCondLst>
                                            <p:cond delay="249"/>
                                          </p:stCondLst>
                                        </p:cTn>
                                        <p:tgtEl>
                                          <p:spTgt spid="278"/>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250"/>
                                        <p:tgtEl>
                                          <p:spTgt spid="287"/>
                                        </p:tgtEl>
                                      </p:cBhvr>
                                    </p:animEffect>
                                    <p:set>
                                      <p:cBhvr>
                                        <p:cTn id="49" dur="1" fill="hold">
                                          <p:stCondLst>
                                            <p:cond delay="249"/>
                                          </p:stCondLst>
                                        </p:cTn>
                                        <p:tgtEl>
                                          <p:spTgt spid="287"/>
                                        </p:tgtEl>
                                        <p:attrNameLst>
                                          <p:attrName>style.visibility</p:attrName>
                                        </p:attrNameLst>
                                      </p:cBhvr>
                                      <p:to>
                                        <p:strVal val="hidden"/>
                                      </p:to>
                                    </p:set>
                                  </p:childTnLst>
                                </p:cTn>
                              </p:par>
                              <p:par>
                                <p:cTn id="50" presetID="10" presetClass="entr" presetSubtype="0" fill="hold" grpId="0" nodeType="withEffect">
                                  <p:stCondLst>
                                    <p:cond delay="0"/>
                                  </p:stCondLst>
                                  <p:childTnLst>
                                    <p:set>
                                      <p:cBhvr>
                                        <p:cTn id="51" dur="1" fill="hold">
                                          <p:stCondLst>
                                            <p:cond delay="0"/>
                                          </p:stCondLst>
                                        </p:cTn>
                                        <p:tgtEl>
                                          <p:spTgt spid="289"/>
                                        </p:tgtEl>
                                        <p:attrNameLst>
                                          <p:attrName>style.visibility</p:attrName>
                                        </p:attrNameLst>
                                      </p:cBhvr>
                                      <p:to>
                                        <p:strVal val="visible"/>
                                      </p:to>
                                    </p:set>
                                    <p:animEffect transition="in" filter="fade">
                                      <p:cBhvr>
                                        <p:cTn id="52" dur="350"/>
                                        <p:tgtEl>
                                          <p:spTgt spid="289"/>
                                        </p:tgtEl>
                                      </p:cBhvr>
                                    </p:animEffect>
                                  </p:childTnLst>
                                </p:cTn>
                              </p:par>
                            </p:childTnLst>
                          </p:cTn>
                        </p:par>
                        <p:par>
                          <p:cTn id="53" fill="hold">
                            <p:stCondLst>
                              <p:cond delay="400"/>
                            </p:stCondLst>
                            <p:childTnLst>
                              <p:par>
                                <p:cTn id="54" presetID="22" presetClass="entr" presetSubtype="8" fill="hold" grpId="0" nodeType="afterEffect">
                                  <p:stCondLst>
                                    <p:cond delay="0"/>
                                  </p:stCondLst>
                                  <p:childTnLst>
                                    <p:set>
                                      <p:cBhvr>
                                        <p:cTn id="55" dur="1" fill="hold">
                                          <p:stCondLst>
                                            <p:cond delay="0"/>
                                          </p:stCondLst>
                                        </p:cTn>
                                        <p:tgtEl>
                                          <p:spTgt spid="305"/>
                                        </p:tgtEl>
                                        <p:attrNameLst>
                                          <p:attrName>style.visibility</p:attrName>
                                        </p:attrNameLst>
                                      </p:cBhvr>
                                      <p:to>
                                        <p:strVal val="visible"/>
                                      </p:to>
                                    </p:set>
                                    <p:animEffect transition="in" filter="wipe(left)">
                                      <p:cBhvr>
                                        <p:cTn id="56" dur="600"/>
                                        <p:tgtEl>
                                          <p:spTgt spid="30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250"/>
                                        <p:tgtEl>
                                          <p:spTgt spid="289"/>
                                        </p:tgtEl>
                                      </p:cBhvr>
                                    </p:animEffect>
                                    <p:set>
                                      <p:cBhvr>
                                        <p:cTn id="61" dur="1" fill="hold">
                                          <p:stCondLst>
                                            <p:cond delay="249"/>
                                          </p:stCondLst>
                                        </p:cTn>
                                        <p:tgtEl>
                                          <p:spTgt spid="289"/>
                                        </p:tgtEl>
                                        <p:attrNameLst>
                                          <p:attrName>style.visibility</p:attrName>
                                        </p:attrNameLst>
                                      </p:cBhvr>
                                      <p:to>
                                        <p:strVal val="hidden"/>
                                      </p:to>
                                    </p:set>
                                  </p:childTnLst>
                                </p:cTn>
                              </p:par>
                              <p:par>
                                <p:cTn id="62" presetID="10" presetClass="exit" presetSubtype="0" fill="hold" grpId="0" nodeType="withEffect">
                                  <p:stCondLst>
                                    <p:cond delay="0"/>
                                  </p:stCondLst>
                                  <p:childTnLst>
                                    <p:animEffect transition="out" filter="fade">
                                      <p:cBhvr>
                                        <p:cTn id="63" dur="250"/>
                                        <p:tgtEl>
                                          <p:spTgt spid="305"/>
                                        </p:tgtEl>
                                      </p:cBhvr>
                                    </p:animEffect>
                                    <p:set>
                                      <p:cBhvr>
                                        <p:cTn id="64" dur="1" fill="hold">
                                          <p:stCondLst>
                                            <p:cond delay="249"/>
                                          </p:stCondLst>
                                        </p:cTn>
                                        <p:tgtEl>
                                          <p:spTgt spid="305"/>
                                        </p:tgtEl>
                                        <p:attrNameLst>
                                          <p:attrName>style.visibility</p:attrName>
                                        </p:attrNameLst>
                                      </p:cBhvr>
                                      <p:to>
                                        <p:strVal val="hidden"/>
                                      </p:to>
                                    </p:set>
                                  </p:childTnLst>
                                </p:cTn>
                              </p:par>
                              <p:par>
                                <p:cTn id="65" presetID="10" presetClass="entr" presetSubtype="0" fill="hold" grpId="0" nodeType="withEffect">
                                  <p:stCondLst>
                                    <p:cond delay="0"/>
                                  </p:stCondLst>
                                  <p:childTnLst>
                                    <p:set>
                                      <p:cBhvr>
                                        <p:cTn id="66" dur="1" fill="hold">
                                          <p:stCondLst>
                                            <p:cond delay="0"/>
                                          </p:stCondLst>
                                        </p:cTn>
                                        <p:tgtEl>
                                          <p:spTgt spid="308"/>
                                        </p:tgtEl>
                                        <p:attrNameLst>
                                          <p:attrName>style.visibility</p:attrName>
                                        </p:attrNameLst>
                                      </p:cBhvr>
                                      <p:to>
                                        <p:strVal val="visible"/>
                                      </p:to>
                                    </p:set>
                                    <p:animEffect transition="in" filter="fade">
                                      <p:cBhvr>
                                        <p:cTn id="67" dur="350"/>
                                        <p:tgtEl>
                                          <p:spTgt spid="308"/>
                                        </p:tgtEl>
                                      </p:cBhvr>
                                    </p:animEffect>
                                  </p:childTnLst>
                                </p:cTn>
                              </p:par>
                            </p:childTnLst>
                          </p:cTn>
                        </p:par>
                        <p:par>
                          <p:cTn id="68" fill="hold">
                            <p:stCondLst>
                              <p:cond delay="400"/>
                            </p:stCondLst>
                            <p:childTnLst>
                              <p:par>
                                <p:cTn id="69" presetID="22" presetClass="entr" presetSubtype="8" fill="hold" grpId="0" nodeType="afterEffect">
                                  <p:stCondLst>
                                    <p:cond delay="0"/>
                                  </p:stCondLst>
                                  <p:childTnLst>
                                    <p:set>
                                      <p:cBhvr>
                                        <p:cTn id="70" dur="1" fill="hold">
                                          <p:stCondLst>
                                            <p:cond delay="0"/>
                                          </p:stCondLst>
                                        </p:cTn>
                                        <p:tgtEl>
                                          <p:spTgt spid="330"/>
                                        </p:tgtEl>
                                        <p:attrNameLst>
                                          <p:attrName>style.visibility</p:attrName>
                                        </p:attrNameLst>
                                      </p:cBhvr>
                                      <p:to>
                                        <p:strVal val="visible"/>
                                      </p:to>
                                    </p:set>
                                    <p:animEffect transition="in" filter="wipe(left)">
                                      <p:cBhvr>
                                        <p:cTn id="71" dur="600"/>
                                        <p:tgtEl>
                                          <p:spTgt spid="330"/>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xit" presetSubtype="0" fill="hold" grpId="0" nodeType="clickEffect">
                                  <p:stCondLst>
                                    <p:cond delay="0"/>
                                  </p:stCondLst>
                                  <p:childTnLst>
                                    <p:animEffect transition="out" filter="fade">
                                      <p:cBhvr>
                                        <p:cTn id="75" dur="250"/>
                                        <p:tgtEl>
                                          <p:spTgt spid="308"/>
                                        </p:tgtEl>
                                      </p:cBhvr>
                                    </p:animEffect>
                                    <p:set>
                                      <p:cBhvr>
                                        <p:cTn id="76" dur="1" fill="hold">
                                          <p:stCondLst>
                                            <p:cond delay="249"/>
                                          </p:stCondLst>
                                        </p:cTn>
                                        <p:tgtEl>
                                          <p:spTgt spid="30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8" dur="250"/>
                                        <p:tgtEl>
                                          <p:spTgt spid="330"/>
                                        </p:tgtEl>
                                      </p:cBhvr>
                                    </p:animEffect>
                                    <p:set>
                                      <p:cBhvr>
                                        <p:cTn id="79" dur="1" fill="hold">
                                          <p:stCondLst>
                                            <p:cond delay="249"/>
                                          </p:stCondLst>
                                        </p:cTn>
                                        <p:tgtEl>
                                          <p:spTgt spid="330"/>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81" dur="1" fill="hold">
                                          <p:stCondLst>
                                            <p:cond delay="0"/>
                                          </p:stCondLst>
                                        </p:cTn>
                                        <p:tgtEl>
                                          <p:spTgt spid="337"/>
                                        </p:tgtEl>
                                        <p:attrNameLst>
                                          <p:attrName>style.visibility</p:attrName>
                                        </p:attrNameLst>
                                      </p:cBhvr>
                                      <p:to>
                                        <p:strVal val="visible"/>
                                      </p:to>
                                    </p:set>
                                    <p:animEffect transition="in" filter="fade">
                                      <p:cBhvr>
                                        <p:cTn id="82" dur="350"/>
                                        <p:tgtEl>
                                          <p:spTgt spid="337"/>
                                        </p:tgtEl>
                                      </p:cBhvr>
                                    </p:animEffect>
                                  </p:childTnLst>
                                </p:cTn>
                              </p:par>
                            </p:childTnLst>
                          </p:cTn>
                        </p:par>
                        <p:par>
                          <p:cTn id="83" fill="hold">
                            <p:stCondLst>
                              <p:cond delay="400"/>
                            </p:stCondLst>
                            <p:childTnLst>
                              <p:par>
                                <p:cTn id="84" presetID="22" presetClass="entr" presetSubtype="8" fill="hold" grpId="0" nodeType="afterEffect">
                                  <p:stCondLst>
                                    <p:cond delay="0"/>
                                  </p:stCondLst>
                                  <p:childTnLst>
                                    <p:set>
                                      <p:cBhvr>
                                        <p:cTn id="85" dur="1" fill="hold">
                                          <p:stCondLst>
                                            <p:cond delay="0"/>
                                          </p:stCondLst>
                                        </p:cTn>
                                        <p:tgtEl>
                                          <p:spTgt spid="359"/>
                                        </p:tgtEl>
                                        <p:attrNameLst>
                                          <p:attrName>style.visibility</p:attrName>
                                        </p:attrNameLst>
                                      </p:cBhvr>
                                      <p:to>
                                        <p:strVal val="visible"/>
                                      </p:to>
                                    </p:set>
                                    <p:animEffect transition="in" filter="wipe(left)">
                                      <p:cBhvr>
                                        <p:cTn id="86" dur="600"/>
                                        <p:tgtEl>
                                          <p:spTgt spid="35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grpId="0" nodeType="clickEffect">
                                  <p:stCondLst>
                                    <p:cond delay="0"/>
                                  </p:stCondLst>
                                  <p:childTnLst>
                                    <p:animEffect transition="out" filter="fade">
                                      <p:cBhvr>
                                        <p:cTn id="90" dur="250"/>
                                        <p:tgtEl>
                                          <p:spTgt spid="337"/>
                                        </p:tgtEl>
                                      </p:cBhvr>
                                    </p:animEffect>
                                    <p:set>
                                      <p:cBhvr>
                                        <p:cTn id="91" dur="1" fill="hold">
                                          <p:stCondLst>
                                            <p:cond delay="249"/>
                                          </p:stCondLst>
                                        </p:cTn>
                                        <p:tgtEl>
                                          <p:spTgt spid="337"/>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250"/>
                                        <p:tgtEl>
                                          <p:spTgt spid="359"/>
                                        </p:tgtEl>
                                      </p:cBhvr>
                                    </p:animEffect>
                                    <p:set>
                                      <p:cBhvr>
                                        <p:cTn id="94" dur="1" fill="hold">
                                          <p:stCondLst>
                                            <p:cond delay="249"/>
                                          </p:stCondLst>
                                        </p:cTn>
                                        <p:tgtEl>
                                          <p:spTgt spid="359"/>
                                        </p:tgtEl>
                                        <p:attrNameLst>
                                          <p:attrName>style.visibility</p:attrName>
                                        </p:attrNameLst>
                                      </p:cBhvr>
                                      <p:to>
                                        <p:strVal val="hidden"/>
                                      </p:to>
                                    </p:set>
                                  </p:childTnLst>
                                </p:cTn>
                              </p:par>
                              <p:par>
                                <p:cTn id="95" presetID="10" presetClass="entr" presetSubtype="0" fill="hold" grpId="0" nodeType="withEffect">
                                  <p:stCondLst>
                                    <p:cond delay="0"/>
                                  </p:stCondLst>
                                  <p:childTnLst>
                                    <p:set>
                                      <p:cBhvr>
                                        <p:cTn id="96" dur="1" fill="hold">
                                          <p:stCondLst>
                                            <p:cond delay="0"/>
                                          </p:stCondLst>
                                        </p:cTn>
                                        <p:tgtEl>
                                          <p:spTgt spid="370"/>
                                        </p:tgtEl>
                                        <p:attrNameLst>
                                          <p:attrName>style.visibility</p:attrName>
                                        </p:attrNameLst>
                                      </p:cBhvr>
                                      <p:to>
                                        <p:strVal val="visible"/>
                                      </p:to>
                                    </p:set>
                                    <p:animEffect transition="in" filter="fade">
                                      <p:cBhvr>
                                        <p:cTn id="97" dur="350"/>
                                        <p:tgtEl>
                                          <p:spTgt spid="370"/>
                                        </p:tgtEl>
                                      </p:cBhvr>
                                    </p:animEffect>
                                  </p:childTnLst>
                                </p:cTn>
                              </p:par>
                            </p:childTnLst>
                          </p:cTn>
                        </p:par>
                        <p:par>
                          <p:cTn id="98" fill="hold">
                            <p:stCondLst>
                              <p:cond delay="400"/>
                            </p:stCondLst>
                            <p:childTnLst>
                              <p:par>
                                <p:cTn id="99" presetID="22" presetClass="entr" presetSubtype="8" fill="hold" grpId="0" nodeType="afterEffect">
                                  <p:stCondLst>
                                    <p:cond delay="0"/>
                                  </p:stCondLst>
                                  <p:childTnLst>
                                    <p:set>
                                      <p:cBhvr>
                                        <p:cTn id="100" dur="1" fill="hold">
                                          <p:stCondLst>
                                            <p:cond delay="0"/>
                                          </p:stCondLst>
                                        </p:cTn>
                                        <p:tgtEl>
                                          <p:spTgt spid="390"/>
                                        </p:tgtEl>
                                        <p:attrNameLst>
                                          <p:attrName>style.visibility</p:attrName>
                                        </p:attrNameLst>
                                      </p:cBhvr>
                                      <p:to>
                                        <p:strVal val="visible"/>
                                      </p:to>
                                    </p:set>
                                    <p:animEffect transition="in" filter="wipe(left)">
                                      <p:cBhvr>
                                        <p:cTn id="101" dur="600"/>
                                        <p:tgtEl>
                                          <p:spTgt spid="390"/>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xit" presetSubtype="0" fill="hold" grpId="0" nodeType="clickEffect">
                                  <p:stCondLst>
                                    <p:cond delay="0"/>
                                  </p:stCondLst>
                                  <p:childTnLst>
                                    <p:animEffect transition="out" filter="fade">
                                      <p:cBhvr>
                                        <p:cTn id="105" dur="250"/>
                                        <p:tgtEl>
                                          <p:spTgt spid="370"/>
                                        </p:tgtEl>
                                      </p:cBhvr>
                                    </p:animEffect>
                                    <p:set>
                                      <p:cBhvr>
                                        <p:cTn id="106" dur="1" fill="hold">
                                          <p:stCondLst>
                                            <p:cond delay="249"/>
                                          </p:stCondLst>
                                        </p:cTn>
                                        <p:tgtEl>
                                          <p:spTgt spid="370"/>
                                        </p:tgtEl>
                                        <p:attrNameLst>
                                          <p:attrName>style.visibility</p:attrName>
                                        </p:attrNameLst>
                                      </p:cBhvr>
                                      <p:to>
                                        <p:strVal val="hidden"/>
                                      </p:to>
                                    </p:set>
                                  </p:childTnLst>
                                </p:cTn>
                              </p:par>
                              <p:par>
                                <p:cTn id="107" presetID="10" presetClass="exit" presetSubtype="0" fill="hold" grpId="0" nodeType="withEffect">
                                  <p:stCondLst>
                                    <p:cond delay="0"/>
                                  </p:stCondLst>
                                  <p:childTnLst>
                                    <p:animEffect transition="out" filter="fade">
                                      <p:cBhvr>
                                        <p:cTn id="108" dur="250"/>
                                        <p:tgtEl>
                                          <p:spTgt spid="390"/>
                                        </p:tgtEl>
                                      </p:cBhvr>
                                    </p:animEffect>
                                    <p:set>
                                      <p:cBhvr>
                                        <p:cTn id="109" dur="1" fill="hold">
                                          <p:stCondLst>
                                            <p:cond delay="249"/>
                                          </p:stCondLst>
                                        </p:cTn>
                                        <p:tgtEl>
                                          <p:spTgt spid="390"/>
                                        </p:tgtEl>
                                        <p:attrNameLst>
                                          <p:attrName>style.visibility</p:attrName>
                                        </p:attrNameLst>
                                      </p:cBhvr>
                                      <p:to>
                                        <p:strVal val="hidden"/>
                                      </p:to>
                                    </p:set>
                                  </p:childTnLst>
                                </p:cTn>
                              </p:par>
                              <p:par>
                                <p:cTn id="110" presetID="10" presetClass="entr" presetSubtype="0" fill="hold" grpId="0" nodeType="withEffect">
                                  <p:stCondLst>
                                    <p:cond delay="0"/>
                                  </p:stCondLst>
                                  <p:childTnLst>
                                    <p:set>
                                      <p:cBhvr>
                                        <p:cTn id="111" dur="1" fill="hold">
                                          <p:stCondLst>
                                            <p:cond delay="0"/>
                                          </p:stCondLst>
                                        </p:cTn>
                                        <p:tgtEl>
                                          <p:spTgt spid="396"/>
                                        </p:tgtEl>
                                        <p:attrNameLst>
                                          <p:attrName>style.visibility</p:attrName>
                                        </p:attrNameLst>
                                      </p:cBhvr>
                                      <p:to>
                                        <p:strVal val="visible"/>
                                      </p:to>
                                    </p:set>
                                    <p:animEffect transition="in" filter="fade">
                                      <p:cBhvr>
                                        <p:cTn id="112" dur="350"/>
                                        <p:tgtEl>
                                          <p:spTgt spid="396"/>
                                        </p:tgtEl>
                                      </p:cBhvr>
                                    </p:animEffect>
                                  </p:childTnLst>
                                </p:cTn>
                              </p:par>
                            </p:childTnLst>
                          </p:cTn>
                        </p:par>
                        <p:par>
                          <p:cTn id="113" fill="hold">
                            <p:stCondLst>
                              <p:cond delay="400"/>
                            </p:stCondLst>
                            <p:childTnLst>
                              <p:par>
                                <p:cTn id="114" presetID="22" presetClass="entr" presetSubtype="8" fill="hold" grpId="0" nodeType="afterEffect">
                                  <p:stCondLst>
                                    <p:cond delay="0"/>
                                  </p:stCondLst>
                                  <p:childTnLst>
                                    <p:set>
                                      <p:cBhvr>
                                        <p:cTn id="115" dur="1" fill="hold">
                                          <p:stCondLst>
                                            <p:cond delay="0"/>
                                          </p:stCondLst>
                                        </p:cTn>
                                        <p:tgtEl>
                                          <p:spTgt spid="422"/>
                                        </p:tgtEl>
                                        <p:attrNameLst>
                                          <p:attrName>style.visibility</p:attrName>
                                        </p:attrNameLst>
                                      </p:cBhvr>
                                      <p:to>
                                        <p:strVal val="visible"/>
                                      </p:to>
                                    </p:set>
                                    <p:animEffect transition="in" filter="wipe(left)">
                                      <p:cBhvr>
                                        <p:cTn id="116" dur="600"/>
                                        <p:tgtEl>
                                          <p:spTgt spid="422"/>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xit" presetSubtype="0" fill="hold" grpId="0" nodeType="clickEffect">
                                  <p:stCondLst>
                                    <p:cond delay="0"/>
                                  </p:stCondLst>
                                  <p:childTnLst>
                                    <p:animEffect transition="out" filter="fade">
                                      <p:cBhvr>
                                        <p:cTn id="120" dur="250"/>
                                        <p:tgtEl>
                                          <p:spTgt spid="396"/>
                                        </p:tgtEl>
                                      </p:cBhvr>
                                    </p:animEffect>
                                    <p:set>
                                      <p:cBhvr>
                                        <p:cTn id="121" dur="1" fill="hold">
                                          <p:stCondLst>
                                            <p:cond delay="249"/>
                                          </p:stCondLst>
                                        </p:cTn>
                                        <p:tgtEl>
                                          <p:spTgt spid="396"/>
                                        </p:tgtEl>
                                        <p:attrNameLst>
                                          <p:attrName>style.visibility</p:attrName>
                                        </p:attrNameLst>
                                      </p:cBhvr>
                                      <p:to>
                                        <p:strVal val="hidden"/>
                                      </p:to>
                                    </p:set>
                                  </p:childTnLst>
                                </p:cTn>
                              </p:par>
                              <p:par>
                                <p:cTn id="122" presetID="10" presetClass="exit" presetSubtype="0" fill="hold" grpId="0" nodeType="withEffect">
                                  <p:stCondLst>
                                    <p:cond delay="0"/>
                                  </p:stCondLst>
                                  <p:childTnLst>
                                    <p:animEffect transition="out" filter="fade">
                                      <p:cBhvr>
                                        <p:cTn id="123" dur="250"/>
                                        <p:tgtEl>
                                          <p:spTgt spid="422"/>
                                        </p:tgtEl>
                                      </p:cBhvr>
                                    </p:animEffect>
                                    <p:set>
                                      <p:cBhvr>
                                        <p:cTn id="124" dur="1" fill="hold">
                                          <p:stCondLst>
                                            <p:cond delay="249"/>
                                          </p:stCondLst>
                                        </p:cTn>
                                        <p:tgtEl>
                                          <p:spTgt spid="422"/>
                                        </p:tgtEl>
                                        <p:attrNameLst>
                                          <p:attrName>style.visibility</p:attrName>
                                        </p:attrNameLst>
                                      </p:cBhvr>
                                      <p:to>
                                        <p:strVal val="hidden"/>
                                      </p:to>
                                    </p:set>
                                  </p:childTnLst>
                                </p:cTn>
                              </p:par>
                              <p:par>
                                <p:cTn id="125" presetID="10" presetClass="entr" presetSubtype="0" fill="hold" grpId="0" nodeType="withEffect">
                                  <p:stCondLst>
                                    <p:cond delay="0"/>
                                  </p:stCondLst>
                                  <p:childTnLst>
                                    <p:set>
                                      <p:cBhvr>
                                        <p:cTn id="126" dur="1" fill="hold">
                                          <p:stCondLst>
                                            <p:cond delay="0"/>
                                          </p:stCondLst>
                                        </p:cTn>
                                        <p:tgtEl>
                                          <p:spTgt spid="428"/>
                                        </p:tgtEl>
                                        <p:attrNameLst>
                                          <p:attrName>style.visibility</p:attrName>
                                        </p:attrNameLst>
                                      </p:cBhvr>
                                      <p:to>
                                        <p:strVal val="visible"/>
                                      </p:to>
                                    </p:set>
                                    <p:animEffect transition="in" filter="fade">
                                      <p:cBhvr>
                                        <p:cTn id="127" dur="350"/>
                                        <p:tgtEl>
                                          <p:spTgt spid="428"/>
                                        </p:tgtEl>
                                      </p:cBhvr>
                                    </p:animEffect>
                                  </p:childTnLst>
                                </p:cTn>
                              </p:par>
                            </p:childTnLst>
                          </p:cTn>
                        </p:par>
                        <p:par>
                          <p:cTn id="128" fill="hold">
                            <p:stCondLst>
                              <p:cond delay="400"/>
                            </p:stCondLst>
                            <p:childTnLst>
                              <p:par>
                                <p:cTn id="129" presetID="22" presetClass="entr" presetSubtype="8" fill="hold" grpId="0" nodeType="afterEffect">
                                  <p:stCondLst>
                                    <p:cond delay="0"/>
                                  </p:stCondLst>
                                  <p:childTnLst>
                                    <p:set>
                                      <p:cBhvr>
                                        <p:cTn id="130" dur="1" fill="hold">
                                          <p:stCondLst>
                                            <p:cond delay="0"/>
                                          </p:stCondLst>
                                        </p:cTn>
                                        <p:tgtEl>
                                          <p:spTgt spid="462"/>
                                        </p:tgtEl>
                                        <p:attrNameLst>
                                          <p:attrName>style.visibility</p:attrName>
                                        </p:attrNameLst>
                                      </p:cBhvr>
                                      <p:to>
                                        <p:strVal val="visible"/>
                                      </p:to>
                                    </p:set>
                                    <p:animEffect transition="in" filter="wipe(left)">
                                      <p:cBhvr>
                                        <p:cTn id="131" dur="600"/>
                                        <p:tgtEl>
                                          <p:spTgt spid="462"/>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xit" presetSubtype="0" fill="hold" grpId="0" nodeType="clickEffect">
                                  <p:stCondLst>
                                    <p:cond delay="0"/>
                                  </p:stCondLst>
                                  <p:childTnLst>
                                    <p:animEffect transition="out" filter="fade">
                                      <p:cBhvr>
                                        <p:cTn id="135" dur="250"/>
                                        <p:tgtEl>
                                          <p:spTgt spid="428"/>
                                        </p:tgtEl>
                                      </p:cBhvr>
                                    </p:animEffect>
                                    <p:set>
                                      <p:cBhvr>
                                        <p:cTn id="136" dur="1" fill="hold">
                                          <p:stCondLst>
                                            <p:cond delay="249"/>
                                          </p:stCondLst>
                                        </p:cTn>
                                        <p:tgtEl>
                                          <p:spTgt spid="428"/>
                                        </p:tgtEl>
                                        <p:attrNameLst>
                                          <p:attrName>style.visibility</p:attrName>
                                        </p:attrNameLst>
                                      </p:cBhvr>
                                      <p:to>
                                        <p:strVal val="hidden"/>
                                      </p:to>
                                    </p:set>
                                  </p:childTnLst>
                                </p:cTn>
                              </p:par>
                              <p:par>
                                <p:cTn id="137" presetID="10" presetClass="exit" presetSubtype="0" fill="hold" grpId="0" nodeType="withEffect">
                                  <p:stCondLst>
                                    <p:cond delay="0"/>
                                  </p:stCondLst>
                                  <p:childTnLst>
                                    <p:animEffect transition="out" filter="fade">
                                      <p:cBhvr>
                                        <p:cTn id="138" dur="250"/>
                                        <p:tgtEl>
                                          <p:spTgt spid="462"/>
                                        </p:tgtEl>
                                      </p:cBhvr>
                                    </p:animEffect>
                                    <p:set>
                                      <p:cBhvr>
                                        <p:cTn id="139" dur="1" fill="hold">
                                          <p:stCondLst>
                                            <p:cond delay="249"/>
                                          </p:stCondLst>
                                        </p:cTn>
                                        <p:tgtEl>
                                          <p:spTgt spid="462"/>
                                        </p:tgtEl>
                                        <p:attrNameLst>
                                          <p:attrName>style.visibility</p:attrName>
                                        </p:attrNameLst>
                                      </p:cBhvr>
                                      <p:to>
                                        <p:strVal val="hidden"/>
                                      </p:to>
                                    </p:set>
                                  </p:childTnLst>
                                </p:cTn>
                              </p:par>
                              <p:par>
                                <p:cTn id="140" presetID="10" presetClass="entr" presetSubtype="0" fill="hold" grpId="0" nodeType="withEffect">
                                  <p:stCondLst>
                                    <p:cond delay="0"/>
                                  </p:stCondLst>
                                  <p:childTnLst>
                                    <p:set>
                                      <p:cBhvr>
                                        <p:cTn id="141" dur="1" fill="hold">
                                          <p:stCondLst>
                                            <p:cond delay="0"/>
                                          </p:stCondLst>
                                        </p:cTn>
                                        <p:tgtEl>
                                          <p:spTgt spid="468"/>
                                        </p:tgtEl>
                                        <p:attrNameLst>
                                          <p:attrName>style.visibility</p:attrName>
                                        </p:attrNameLst>
                                      </p:cBhvr>
                                      <p:to>
                                        <p:strVal val="visible"/>
                                      </p:to>
                                    </p:set>
                                    <p:animEffect transition="in" filter="fade">
                                      <p:cBhvr>
                                        <p:cTn id="142" dur="350"/>
                                        <p:tgtEl>
                                          <p:spTgt spid="468"/>
                                        </p:tgtEl>
                                      </p:cBhvr>
                                    </p:animEffect>
                                  </p:childTnLst>
                                </p:cTn>
                              </p:par>
                            </p:childTnLst>
                          </p:cTn>
                        </p:par>
                        <p:par>
                          <p:cTn id="143" fill="hold">
                            <p:stCondLst>
                              <p:cond delay="400"/>
                            </p:stCondLst>
                            <p:childTnLst>
                              <p:par>
                                <p:cTn id="144" presetID="22" presetClass="entr" presetSubtype="8" fill="hold" grpId="0" nodeType="afterEffect">
                                  <p:stCondLst>
                                    <p:cond delay="0"/>
                                  </p:stCondLst>
                                  <p:childTnLst>
                                    <p:set>
                                      <p:cBhvr>
                                        <p:cTn id="145" dur="1" fill="hold">
                                          <p:stCondLst>
                                            <p:cond delay="0"/>
                                          </p:stCondLst>
                                        </p:cTn>
                                        <p:tgtEl>
                                          <p:spTgt spid="490"/>
                                        </p:tgtEl>
                                        <p:attrNameLst>
                                          <p:attrName>style.visibility</p:attrName>
                                        </p:attrNameLst>
                                      </p:cBhvr>
                                      <p:to>
                                        <p:strVal val="visible"/>
                                      </p:to>
                                    </p:set>
                                    <p:animEffect transition="in" filter="wipe(left)">
                                      <p:cBhvr>
                                        <p:cTn id="146" dur="600"/>
                                        <p:tgtEl>
                                          <p:spTgt spid="490"/>
                                        </p:tgtEl>
                                      </p:cBhvr>
                                    </p:animEffect>
                                  </p:childTnLst>
                                </p:cTn>
                              </p:par>
                            </p:childTnLst>
                          </p:cTn>
                        </p:par>
                      </p:childTnLst>
                    </p:cTn>
                  </p:par>
                  <p:par>
                    <p:cTn id="147" fill="hold">
                      <p:stCondLst>
                        <p:cond delay="indefinite"/>
                      </p:stCondLst>
                      <p:childTnLst>
                        <p:par>
                          <p:cTn id="148" fill="hold">
                            <p:stCondLst>
                              <p:cond delay="0"/>
                            </p:stCondLst>
                            <p:childTnLst>
                              <p:par>
                                <p:cTn id="149" presetID="10" presetClass="exit" presetSubtype="0" fill="hold" grpId="0" nodeType="clickEffect">
                                  <p:stCondLst>
                                    <p:cond delay="0"/>
                                  </p:stCondLst>
                                  <p:childTnLst>
                                    <p:animEffect transition="out" filter="fade">
                                      <p:cBhvr>
                                        <p:cTn id="150" dur="250"/>
                                        <p:tgtEl>
                                          <p:spTgt spid="468"/>
                                        </p:tgtEl>
                                      </p:cBhvr>
                                    </p:animEffect>
                                    <p:set>
                                      <p:cBhvr>
                                        <p:cTn id="151" dur="1" fill="hold">
                                          <p:stCondLst>
                                            <p:cond delay="249"/>
                                          </p:stCondLst>
                                        </p:cTn>
                                        <p:tgtEl>
                                          <p:spTgt spid="468"/>
                                        </p:tgtEl>
                                        <p:attrNameLst>
                                          <p:attrName>style.visibility</p:attrName>
                                        </p:attrNameLst>
                                      </p:cBhvr>
                                      <p:to>
                                        <p:strVal val="hidden"/>
                                      </p:to>
                                    </p:set>
                                  </p:childTnLst>
                                </p:cTn>
                              </p:par>
                              <p:par>
                                <p:cTn id="152" presetID="10" presetClass="exit" presetSubtype="0" fill="hold" grpId="0" nodeType="withEffect">
                                  <p:stCondLst>
                                    <p:cond delay="0"/>
                                  </p:stCondLst>
                                  <p:childTnLst>
                                    <p:animEffect transition="out" filter="fade">
                                      <p:cBhvr>
                                        <p:cTn id="153" dur="250"/>
                                        <p:tgtEl>
                                          <p:spTgt spid="490"/>
                                        </p:tgtEl>
                                      </p:cBhvr>
                                    </p:animEffect>
                                    <p:set>
                                      <p:cBhvr>
                                        <p:cTn id="154" dur="1" fill="hold">
                                          <p:stCondLst>
                                            <p:cond delay="249"/>
                                          </p:stCondLst>
                                        </p:cTn>
                                        <p:tgtEl>
                                          <p:spTgt spid="490"/>
                                        </p:tgtEl>
                                        <p:attrNameLst>
                                          <p:attrName>style.visibility</p:attrName>
                                        </p:attrNameLst>
                                      </p:cBhvr>
                                      <p:to>
                                        <p:strVal val="hidden"/>
                                      </p:to>
                                    </p:set>
                                  </p:childTnLst>
                                </p:cTn>
                              </p:par>
                              <p:par>
                                <p:cTn id="155" presetID="10" presetClass="entr" presetSubtype="0" fill="hold" grpId="0" nodeType="withEffect">
                                  <p:stCondLst>
                                    <p:cond delay="0"/>
                                  </p:stCondLst>
                                  <p:childTnLst>
                                    <p:set>
                                      <p:cBhvr>
                                        <p:cTn id="156" dur="1" fill="hold">
                                          <p:stCondLst>
                                            <p:cond delay="0"/>
                                          </p:stCondLst>
                                        </p:cTn>
                                        <p:tgtEl>
                                          <p:spTgt spid="496"/>
                                        </p:tgtEl>
                                        <p:attrNameLst>
                                          <p:attrName>style.visibility</p:attrName>
                                        </p:attrNameLst>
                                      </p:cBhvr>
                                      <p:to>
                                        <p:strVal val="visible"/>
                                      </p:to>
                                    </p:set>
                                    <p:animEffect transition="in" filter="fade">
                                      <p:cBhvr>
                                        <p:cTn id="157" dur="350"/>
                                        <p:tgtEl>
                                          <p:spTgt spid="496"/>
                                        </p:tgtEl>
                                      </p:cBhvr>
                                    </p:animEffect>
                                  </p:childTnLst>
                                </p:cTn>
                              </p:par>
                            </p:childTnLst>
                          </p:cTn>
                        </p:par>
                        <p:par>
                          <p:cTn id="158" fill="hold">
                            <p:stCondLst>
                              <p:cond delay="400"/>
                            </p:stCondLst>
                            <p:childTnLst>
                              <p:par>
                                <p:cTn id="159" presetID="22" presetClass="entr" presetSubtype="8" fill="hold" grpId="0" nodeType="afterEffect">
                                  <p:stCondLst>
                                    <p:cond delay="0"/>
                                  </p:stCondLst>
                                  <p:childTnLst>
                                    <p:set>
                                      <p:cBhvr>
                                        <p:cTn id="160" dur="1" fill="hold">
                                          <p:stCondLst>
                                            <p:cond delay="0"/>
                                          </p:stCondLst>
                                        </p:cTn>
                                        <p:tgtEl>
                                          <p:spTgt spid="516"/>
                                        </p:tgtEl>
                                        <p:attrNameLst>
                                          <p:attrName>style.visibility</p:attrName>
                                        </p:attrNameLst>
                                      </p:cBhvr>
                                      <p:to>
                                        <p:strVal val="visible"/>
                                      </p:to>
                                    </p:set>
                                    <p:animEffect transition="in" filter="wipe(left)">
                                      <p:cBhvr>
                                        <p:cTn id="161" dur="600"/>
                                        <p:tgtEl>
                                          <p:spTgt spid="516"/>
                                        </p:tgtEl>
                                      </p:cBhvr>
                                    </p:animEffect>
                                  </p:childTnLst>
                                </p:cTn>
                              </p:par>
                            </p:childTnLst>
                          </p:cTn>
                        </p:par>
                      </p:childTnLst>
                    </p:cTn>
                  </p:par>
                  <p:par>
                    <p:cTn id="162" fill="hold">
                      <p:stCondLst>
                        <p:cond delay="indefinite"/>
                      </p:stCondLst>
                      <p:childTnLst>
                        <p:par>
                          <p:cTn id="163" fill="hold">
                            <p:stCondLst>
                              <p:cond delay="0"/>
                            </p:stCondLst>
                            <p:childTnLst>
                              <p:par>
                                <p:cTn id="164" presetID="10" presetClass="exit" presetSubtype="0" fill="hold" grpId="0" nodeType="clickEffect">
                                  <p:stCondLst>
                                    <p:cond delay="0"/>
                                  </p:stCondLst>
                                  <p:childTnLst>
                                    <p:animEffect transition="out" filter="fade">
                                      <p:cBhvr>
                                        <p:cTn id="165" dur="250"/>
                                        <p:tgtEl>
                                          <p:spTgt spid="496"/>
                                        </p:tgtEl>
                                      </p:cBhvr>
                                    </p:animEffect>
                                    <p:set>
                                      <p:cBhvr>
                                        <p:cTn id="166" dur="1" fill="hold">
                                          <p:stCondLst>
                                            <p:cond delay="249"/>
                                          </p:stCondLst>
                                        </p:cTn>
                                        <p:tgtEl>
                                          <p:spTgt spid="496"/>
                                        </p:tgtEl>
                                        <p:attrNameLst>
                                          <p:attrName>style.visibility</p:attrName>
                                        </p:attrNameLst>
                                      </p:cBhvr>
                                      <p:to>
                                        <p:strVal val="hidden"/>
                                      </p:to>
                                    </p:set>
                                  </p:childTnLst>
                                </p:cTn>
                              </p:par>
                              <p:par>
                                <p:cTn id="167" presetID="10" presetClass="exit" presetSubtype="0" fill="hold" grpId="0" nodeType="withEffect">
                                  <p:stCondLst>
                                    <p:cond delay="0"/>
                                  </p:stCondLst>
                                  <p:childTnLst>
                                    <p:animEffect transition="out" filter="fade">
                                      <p:cBhvr>
                                        <p:cTn id="168" dur="250"/>
                                        <p:tgtEl>
                                          <p:spTgt spid="516"/>
                                        </p:tgtEl>
                                      </p:cBhvr>
                                    </p:animEffect>
                                    <p:set>
                                      <p:cBhvr>
                                        <p:cTn id="169" dur="1" fill="hold">
                                          <p:stCondLst>
                                            <p:cond delay="249"/>
                                          </p:stCondLst>
                                        </p:cTn>
                                        <p:tgtEl>
                                          <p:spTgt spid="516"/>
                                        </p:tgtEl>
                                        <p:attrNameLst>
                                          <p:attrName>style.visibility</p:attrName>
                                        </p:attrNameLst>
                                      </p:cBhvr>
                                      <p:to>
                                        <p:strVal val="hidden"/>
                                      </p:to>
                                    </p:set>
                                  </p:childTnLst>
                                </p:cTn>
                              </p:par>
                              <p:par>
                                <p:cTn id="170" presetID="10" presetClass="entr" presetSubtype="0" fill="hold" grpId="0" nodeType="withEffect">
                                  <p:stCondLst>
                                    <p:cond delay="0"/>
                                  </p:stCondLst>
                                  <p:childTnLst>
                                    <p:set>
                                      <p:cBhvr>
                                        <p:cTn id="171" dur="1" fill="hold">
                                          <p:stCondLst>
                                            <p:cond delay="0"/>
                                          </p:stCondLst>
                                        </p:cTn>
                                        <p:tgtEl>
                                          <p:spTgt spid="522"/>
                                        </p:tgtEl>
                                        <p:attrNameLst>
                                          <p:attrName>style.visibility</p:attrName>
                                        </p:attrNameLst>
                                      </p:cBhvr>
                                      <p:to>
                                        <p:strVal val="visible"/>
                                      </p:to>
                                    </p:set>
                                    <p:animEffect transition="in" filter="fade">
                                      <p:cBhvr>
                                        <p:cTn id="172" dur="350"/>
                                        <p:tgtEl>
                                          <p:spTgt spid="522"/>
                                        </p:tgtEl>
                                      </p:cBhvr>
                                    </p:animEffect>
                                  </p:childTnLst>
                                </p:cTn>
                              </p:par>
                            </p:childTnLst>
                          </p:cTn>
                        </p:par>
                        <p:par>
                          <p:cTn id="173" fill="hold">
                            <p:stCondLst>
                              <p:cond delay="400"/>
                            </p:stCondLst>
                            <p:childTnLst>
                              <p:par>
                                <p:cTn id="174" presetID="22" presetClass="entr" presetSubtype="8" fill="hold" grpId="0" nodeType="afterEffect">
                                  <p:stCondLst>
                                    <p:cond delay="0"/>
                                  </p:stCondLst>
                                  <p:childTnLst>
                                    <p:set>
                                      <p:cBhvr>
                                        <p:cTn id="175" dur="1" fill="hold">
                                          <p:stCondLst>
                                            <p:cond delay="0"/>
                                          </p:stCondLst>
                                        </p:cTn>
                                        <p:tgtEl>
                                          <p:spTgt spid="538"/>
                                        </p:tgtEl>
                                        <p:attrNameLst>
                                          <p:attrName>style.visibility</p:attrName>
                                        </p:attrNameLst>
                                      </p:cBhvr>
                                      <p:to>
                                        <p:strVal val="visible"/>
                                      </p:to>
                                    </p:set>
                                    <p:animEffect transition="in" filter="wipe(left)">
                                      <p:cBhvr>
                                        <p:cTn id="176" dur="600"/>
                                        <p:tgtEl>
                                          <p:spTgt spid="538"/>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xit" presetSubtype="0" fill="hold" grpId="0" nodeType="clickEffect">
                                  <p:stCondLst>
                                    <p:cond delay="0"/>
                                  </p:stCondLst>
                                  <p:childTnLst>
                                    <p:animEffect transition="out" filter="fade">
                                      <p:cBhvr>
                                        <p:cTn id="180" dur="250"/>
                                        <p:tgtEl>
                                          <p:spTgt spid="522"/>
                                        </p:tgtEl>
                                      </p:cBhvr>
                                    </p:animEffect>
                                    <p:set>
                                      <p:cBhvr>
                                        <p:cTn id="181" dur="1" fill="hold">
                                          <p:stCondLst>
                                            <p:cond delay="249"/>
                                          </p:stCondLst>
                                        </p:cTn>
                                        <p:tgtEl>
                                          <p:spTgt spid="522"/>
                                        </p:tgtEl>
                                        <p:attrNameLst>
                                          <p:attrName>style.visibility</p:attrName>
                                        </p:attrNameLst>
                                      </p:cBhvr>
                                      <p:to>
                                        <p:strVal val="hidden"/>
                                      </p:to>
                                    </p:set>
                                  </p:childTnLst>
                                </p:cTn>
                              </p:par>
                              <p:par>
                                <p:cTn id="182" presetID="10" presetClass="exit" presetSubtype="0" fill="hold" grpId="0" nodeType="withEffect">
                                  <p:stCondLst>
                                    <p:cond delay="0"/>
                                  </p:stCondLst>
                                  <p:childTnLst>
                                    <p:animEffect transition="out" filter="fade">
                                      <p:cBhvr>
                                        <p:cTn id="183" dur="250"/>
                                        <p:tgtEl>
                                          <p:spTgt spid="538"/>
                                        </p:tgtEl>
                                      </p:cBhvr>
                                    </p:animEffect>
                                    <p:set>
                                      <p:cBhvr>
                                        <p:cTn id="184" dur="1" fill="hold">
                                          <p:stCondLst>
                                            <p:cond delay="249"/>
                                          </p:stCondLst>
                                        </p:cTn>
                                        <p:tgtEl>
                                          <p:spTgt spid="538"/>
                                        </p:tgtEl>
                                        <p:attrNameLst>
                                          <p:attrName>style.visibility</p:attrName>
                                        </p:attrNameLst>
                                      </p:cBhvr>
                                      <p:to>
                                        <p:strVal val="hidden"/>
                                      </p:to>
                                    </p:set>
                                  </p:childTnLst>
                                </p:cTn>
                              </p:par>
                              <p:par>
                                <p:cTn id="185" presetID="10" presetClass="entr" presetSubtype="0" fill="hold" grpId="0" nodeType="withEffect">
                                  <p:stCondLst>
                                    <p:cond delay="0"/>
                                  </p:stCondLst>
                                  <p:childTnLst>
                                    <p:set>
                                      <p:cBhvr>
                                        <p:cTn id="186" dur="1" fill="hold">
                                          <p:stCondLst>
                                            <p:cond delay="0"/>
                                          </p:stCondLst>
                                        </p:cTn>
                                        <p:tgtEl>
                                          <p:spTgt spid="540"/>
                                        </p:tgtEl>
                                        <p:attrNameLst>
                                          <p:attrName>style.visibility</p:attrName>
                                        </p:attrNameLst>
                                      </p:cBhvr>
                                      <p:to>
                                        <p:strVal val="visible"/>
                                      </p:to>
                                    </p:set>
                                    <p:animEffect transition="in" filter="fade">
                                      <p:cBhvr>
                                        <p:cTn id="187" dur="350"/>
                                        <p:tgtEl>
                                          <p:spTgt spid="540"/>
                                        </p:tgtEl>
                                      </p:cBhvr>
                                    </p:animEffect>
                                  </p:childTnLst>
                                </p:cTn>
                              </p:par>
                            </p:childTnLst>
                          </p:cTn>
                        </p:par>
                      </p:childTnLst>
                    </p:cTn>
                  </p:par>
                  <p:par>
                    <p:cTn id="188" fill="hold">
                      <p:stCondLst>
                        <p:cond delay="indefinite"/>
                      </p:stCondLst>
                      <p:childTnLst>
                        <p:par>
                          <p:cTn id="189" fill="hold">
                            <p:stCondLst>
                              <p:cond delay="0"/>
                            </p:stCondLst>
                            <p:childTnLst>
                              <p:par>
                                <p:cTn id="190" presetID="10" presetClass="exit" presetSubtype="0" fill="hold" grpId="0" nodeType="clickEffect">
                                  <p:stCondLst>
                                    <p:cond delay="0"/>
                                  </p:stCondLst>
                                  <p:childTnLst>
                                    <p:animEffect transition="out" filter="fade">
                                      <p:cBhvr>
                                        <p:cTn id="191" dur="250"/>
                                        <p:tgtEl>
                                          <p:spTgt spid="540"/>
                                        </p:tgtEl>
                                      </p:cBhvr>
                                    </p:animEffect>
                                    <p:set>
                                      <p:cBhvr>
                                        <p:cTn id="192" dur="1" fill="hold">
                                          <p:stCondLst>
                                            <p:cond delay="249"/>
                                          </p:stCondLst>
                                        </p:cTn>
                                        <p:tgtEl>
                                          <p:spTgt spid="5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Return on investment: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squad of 4-5 developers becomes 1 developer directing the harness agent, plus 1 QA. All pods, first full year after go-live.</a:t>
            </a:r>
          </a:p>
        </p:txBody>
      </p:sp>
      <p:sp>
        <p:nvSpPr>
          <p:cNvPr id="5" name="Text 4"/>
          <p:cNvSpPr txBox="1"/>
          <p:nvPr/>
        </p:nvSpPr>
        <p:spPr>
          <a:xfrm>
            <a:off x="411480" y="1243584"/>
            <a:ext cx="5486400" cy="128016"/>
          </a:xfrm>
          <a:prstGeom prst="rect">
            <a:avLst/>
          </a:prstGeom>
          <a:noFill/>
        </p:spPr>
        <p:txBody>
          <a:bodyPr wrap="square" lIns="0" rIns="0" tIns="0" bIns="0" anchor="ctr">
            <a:spAutoFit/>
          </a:bodyPr>
          <a:lstStyle/>
          <a:p>
            <a:r>
              <a:rPr sz="650" b="1" i="0" spc="150">
                <a:solidFill>
                  <a:srgbClr val="000000"/>
                </a:solidFill>
                <a:latin typeface="Trenda IG Text"/>
              </a:rPr>
              <a:t>THE INVESTMENT AND THE RETURN, A YEAR</a:t>
            </a:r>
          </a:p>
        </p:txBody>
      </p:sp>
      <p:sp>
        <p:nvSpPr>
          <p:cNvPr id="6" name="Text 5"/>
          <p:cNvSpPr txBox="1"/>
          <p:nvPr/>
        </p:nvSpPr>
        <p:spPr>
          <a:xfrm>
            <a:off x="411480" y="1481328"/>
            <a:ext cx="1828799" cy="347472"/>
          </a:xfrm>
          <a:prstGeom prst="rect">
            <a:avLst/>
          </a:prstGeom>
          <a:noFill/>
        </p:spPr>
        <p:txBody>
          <a:bodyPr wrap="square" lIns="0" rIns="0" tIns="0" bIns="0" anchor="ctr">
            <a:spAutoFit/>
          </a:bodyPr>
          <a:lstStyle/>
          <a:p>
            <a:r>
              <a:rPr sz="900" b="1" i="0">
                <a:solidFill>
                  <a:srgbClr val="000000"/>
                </a:solidFill>
                <a:latin typeface="Trenda IG Text"/>
              </a:rPr>
              <a:t>Spend today</a:t>
            </a:r>
          </a:p>
          <a:p>
            <a:r>
              <a:rPr sz="650" b="0" i="0">
                <a:solidFill>
                  <a:srgbClr val="595959"/>
                </a:solidFill>
                <a:latin typeface="Trenda IG Text"/>
              </a:rPr>
              <a:t>a year, all pods</a:t>
            </a:r>
          </a:p>
        </p:txBody>
      </p:sp>
      <p:sp>
        <p:nvSpPr>
          <p:cNvPr id="7" name="Shape 6"/>
          <p:cNvSpPr/>
          <p:nvPr/>
        </p:nvSpPr>
        <p:spPr>
          <a:xfrm>
            <a:off x="2331720" y="1508760"/>
            <a:ext cx="4572000" cy="292608"/>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6995159" y="1481328"/>
            <a:ext cx="1097280" cy="347472"/>
          </a:xfrm>
          <a:prstGeom prst="rect">
            <a:avLst/>
          </a:prstGeom>
          <a:noFill/>
        </p:spPr>
        <p:txBody>
          <a:bodyPr wrap="square" lIns="0" rIns="0" tIns="0" bIns="0" anchor="ctr">
            <a:spAutoFit/>
          </a:bodyPr>
          <a:lstStyle/>
          <a:p>
            <a:r>
              <a:rPr sz="1300" b="0" i="0">
                <a:solidFill>
                  <a:srgbClr val="595959"/>
                </a:solidFill>
                <a:latin typeface="Trenda IG Text"/>
              </a:rPr>
              <a:t>$16M</a:t>
            </a:r>
          </a:p>
        </p:txBody>
      </p:sp>
      <p:sp>
        <p:nvSpPr>
          <p:cNvPr id="9" name="Text 8"/>
          <p:cNvSpPr txBox="1"/>
          <p:nvPr/>
        </p:nvSpPr>
        <p:spPr>
          <a:xfrm>
            <a:off x="411480" y="1911095"/>
            <a:ext cx="1828799" cy="347472"/>
          </a:xfrm>
          <a:prstGeom prst="rect">
            <a:avLst/>
          </a:prstGeom>
          <a:noFill/>
        </p:spPr>
        <p:txBody>
          <a:bodyPr wrap="square" lIns="0" rIns="0" tIns="0" bIns="0" anchor="ctr">
            <a:spAutoFit/>
          </a:bodyPr>
          <a:lstStyle/>
          <a:p>
            <a:r>
              <a:rPr sz="900" b="1" i="0">
                <a:solidFill>
                  <a:srgbClr val="000000"/>
                </a:solidFill>
                <a:latin typeface="Trenda IG Text"/>
              </a:rPr>
              <a:t>With the harness</a:t>
            </a:r>
          </a:p>
          <a:p>
            <a:r>
              <a:rPr sz="650" b="0" i="0">
                <a:solidFill>
                  <a:srgbClr val="595959"/>
                </a:solidFill>
                <a:latin typeface="Trenda IG Text"/>
              </a:rPr>
              <a:t>a year, agents included</a:t>
            </a:r>
          </a:p>
        </p:txBody>
      </p:sp>
      <p:sp>
        <p:nvSpPr>
          <p:cNvPr id="10" name="Shape 9"/>
          <p:cNvSpPr/>
          <p:nvPr/>
        </p:nvSpPr>
        <p:spPr>
          <a:xfrm>
            <a:off x="2331720" y="1938527"/>
            <a:ext cx="2000250" cy="29260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4423409" y="1911095"/>
            <a:ext cx="1097280" cy="347472"/>
          </a:xfrm>
          <a:prstGeom prst="rect">
            <a:avLst/>
          </a:prstGeom>
          <a:noFill/>
        </p:spPr>
        <p:txBody>
          <a:bodyPr wrap="square" lIns="0" rIns="0" tIns="0" bIns="0" anchor="ctr">
            <a:spAutoFit/>
          </a:bodyPr>
          <a:lstStyle/>
          <a:p>
            <a:r>
              <a:rPr sz="1300" b="0" i="0">
                <a:solidFill>
                  <a:srgbClr val="000000"/>
                </a:solidFill>
                <a:latin typeface="Trenda IG Text"/>
              </a:rPr>
              <a:t>$7M</a:t>
            </a:r>
          </a:p>
        </p:txBody>
      </p:sp>
      <p:sp>
        <p:nvSpPr>
          <p:cNvPr id="12" name="Text 11"/>
          <p:cNvSpPr txBox="1"/>
          <p:nvPr/>
        </p:nvSpPr>
        <p:spPr>
          <a:xfrm>
            <a:off x="411480" y="2340864"/>
            <a:ext cx="1828799" cy="347472"/>
          </a:xfrm>
          <a:prstGeom prst="rect">
            <a:avLst/>
          </a:prstGeom>
          <a:noFill/>
        </p:spPr>
        <p:txBody>
          <a:bodyPr wrap="square" lIns="0" rIns="0" tIns="0" bIns="0" anchor="ctr">
            <a:spAutoFit/>
          </a:bodyPr>
          <a:lstStyle/>
          <a:p>
            <a:r>
              <a:rPr sz="900" b="1" i="0">
                <a:solidFill>
                  <a:srgbClr val="000000"/>
                </a:solidFill>
                <a:latin typeface="Trenda IG Text"/>
              </a:rPr>
              <a:t>Saved</a:t>
            </a:r>
          </a:p>
          <a:p>
            <a:r>
              <a:rPr sz="650" b="0" i="0">
                <a:solidFill>
                  <a:srgbClr val="595959"/>
                </a:solidFill>
                <a:latin typeface="Trenda IG Text"/>
              </a:rPr>
              <a:t>every year from go-live</a:t>
            </a:r>
          </a:p>
        </p:txBody>
      </p:sp>
      <p:sp>
        <p:nvSpPr>
          <p:cNvPr id="13" name="Shape 12"/>
          <p:cNvSpPr/>
          <p:nvPr/>
        </p:nvSpPr>
        <p:spPr>
          <a:xfrm>
            <a:off x="2331720" y="2368296"/>
            <a:ext cx="2571750" cy="292608"/>
          </a:xfrm>
          <a:prstGeom prst="rect">
            <a:avLst/>
          </a:prstGeom>
          <a:solidFill>
            <a:srgbClr val="FFD7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4994909" y="2340864"/>
            <a:ext cx="1097280" cy="347472"/>
          </a:xfrm>
          <a:prstGeom prst="rect">
            <a:avLst/>
          </a:prstGeom>
          <a:noFill/>
        </p:spPr>
        <p:txBody>
          <a:bodyPr wrap="square" lIns="0" rIns="0" tIns="0" bIns="0" anchor="ctr">
            <a:spAutoFit/>
          </a:bodyPr>
          <a:lstStyle/>
          <a:p>
            <a:r>
              <a:rPr sz="1300" b="1" i="0">
                <a:solidFill>
                  <a:srgbClr val="000000"/>
                </a:solidFill>
                <a:latin typeface="Trenda IG Text"/>
              </a:rPr>
              <a:t>$9M</a:t>
            </a:r>
          </a:p>
        </p:txBody>
      </p:sp>
      <p:sp>
        <p:nvSpPr>
          <p:cNvPr id="15" name="Text 14"/>
          <p:cNvSpPr txBox="1"/>
          <p:nvPr/>
        </p:nvSpPr>
        <p:spPr>
          <a:xfrm>
            <a:off x="411480" y="2770632"/>
            <a:ext cx="1828799" cy="347472"/>
          </a:xfrm>
          <a:prstGeom prst="rect">
            <a:avLst/>
          </a:prstGeom>
          <a:noFill/>
        </p:spPr>
        <p:txBody>
          <a:bodyPr wrap="square" lIns="0" rIns="0" tIns="0" bIns="0" anchor="ctr">
            <a:spAutoFit/>
          </a:bodyPr>
          <a:lstStyle/>
          <a:p>
            <a:r>
              <a:rPr sz="900" b="1" i="0">
                <a:solidFill>
                  <a:srgbClr val="000000"/>
                </a:solidFill>
                <a:latin typeface="Trenda IG Text"/>
              </a:rPr>
              <a:t>Investment</a:t>
            </a:r>
          </a:p>
          <a:p>
            <a:r>
              <a:rPr sz="650" b="0" i="0">
                <a:solidFill>
                  <a:srgbClr val="595959"/>
                </a:solidFill>
                <a:latin typeface="Trenda IG Text"/>
              </a:rPr>
              <a:t>once, months 1 to 18</a:t>
            </a:r>
          </a:p>
        </p:txBody>
      </p:sp>
      <p:sp>
        <p:nvSpPr>
          <p:cNvPr id="16" name="Shape 15"/>
          <p:cNvSpPr/>
          <p:nvPr/>
        </p:nvSpPr>
        <p:spPr>
          <a:xfrm>
            <a:off x="2331720" y="2798064"/>
            <a:ext cx="1432564" cy="2926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3855724" y="2770632"/>
            <a:ext cx="1097280" cy="347472"/>
          </a:xfrm>
          <a:prstGeom prst="rect">
            <a:avLst/>
          </a:prstGeom>
          <a:noFill/>
        </p:spPr>
        <p:txBody>
          <a:bodyPr wrap="square" lIns="0" rIns="0" tIns="0" bIns="0" anchor="ctr">
            <a:spAutoFit/>
          </a:bodyPr>
          <a:lstStyle/>
          <a:p>
            <a:r>
              <a:rPr sz="1300" b="1" i="0">
                <a:solidFill>
                  <a:srgbClr val="00273B"/>
                </a:solidFill>
                <a:latin typeface="Trenda IG Text"/>
              </a:rPr>
              <a:t>$5.0M</a:t>
            </a:r>
          </a:p>
        </p:txBody>
      </p:sp>
      <p:sp>
        <p:nvSpPr>
          <p:cNvPr id="18" name="Differentiator Border 18"/>
          <p:cNvSpPr/>
          <p:nvPr/>
        </p:nvSpPr>
        <p:spPr>
          <a:xfrm>
            <a:off x="8229600" y="1188720"/>
            <a:ext cx="3547871" cy="21031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9"/>
          <p:cNvSpPr/>
          <p:nvPr/>
        </p:nvSpPr>
        <p:spPr>
          <a:xfrm>
            <a:off x="8284464" y="1243584"/>
            <a:ext cx="3438143" cy="1993391"/>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8558784" y="1444752"/>
            <a:ext cx="2889503" cy="128016"/>
          </a:xfrm>
          <a:prstGeom prst="rect">
            <a:avLst/>
          </a:prstGeom>
          <a:noFill/>
        </p:spPr>
        <p:txBody>
          <a:bodyPr wrap="square" lIns="0" rIns="0" tIns="0" bIns="0" anchor="ctr">
            <a:spAutoFit/>
          </a:bodyPr>
          <a:lstStyle/>
          <a:p>
            <a:r>
              <a:rPr sz="650" b="1" i="0" spc="150">
                <a:solidFill>
                  <a:srgbClr val="000000"/>
                </a:solidFill>
                <a:latin typeface="Trenda IG Text"/>
              </a:rPr>
              <a:t>FIRST-YEAR RETURN ON INVESTMENT</a:t>
            </a:r>
          </a:p>
        </p:txBody>
      </p:sp>
      <p:sp>
        <p:nvSpPr>
          <p:cNvPr id="21" name="Text 21"/>
          <p:cNvSpPr txBox="1"/>
          <p:nvPr/>
        </p:nvSpPr>
        <p:spPr>
          <a:xfrm>
            <a:off x="8558784" y="1655064"/>
            <a:ext cx="2889503" cy="868680"/>
          </a:xfrm>
          <a:prstGeom prst="rect">
            <a:avLst/>
          </a:prstGeom>
          <a:noFill/>
        </p:spPr>
        <p:txBody>
          <a:bodyPr wrap="square" lIns="0" rIns="0" tIns="0" bIns="0" anchor="ctr">
            <a:spAutoFit/>
          </a:bodyPr>
          <a:lstStyle/>
          <a:p>
            <a:r>
              <a:rPr sz="6000" b="1" i="0">
                <a:solidFill>
                  <a:srgbClr val="000000"/>
                </a:solidFill>
                <a:latin typeface="Trenda IG Text"/>
              </a:rPr>
              <a:t>80%</a:t>
            </a:r>
          </a:p>
        </p:txBody>
      </p:sp>
      <p:sp>
        <p:nvSpPr>
          <p:cNvPr id="22" name="Text 22"/>
          <p:cNvSpPr txBox="1"/>
          <p:nvPr/>
        </p:nvSpPr>
        <p:spPr>
          <a:xfrm>
            <a:off x="8558784" y="2569464"/>
            <a:ext cx="2889503" cy="594360"/>
          </a:xfrm>
          <a:prstGeom prst="rect">
            <a:avLst/>
          </a:prstGeom>
          <a:noFill/>
        </p:spPr>
        <p:txBody>
          <a:bodyPr wrap="square" lIns="0" rIns="0" tIns="0" bIns="0" anchor="t">
            <a:spAutoFit/>
          </a:bodyPr>
          <a:lstStyle/>
          <a:p>
            <a:pPr>
              <a:spcAft>
                <a:spcPts val="200"/>
              </a:spcAft>
            </a:pPr>
            <a:r>
              <a:rPr sz="1000" b="1" i="0">
                <a:solidFill>
                  <a:srgbClr val="000000"/>
                </a:solidFill>
                <a:latin typeface="Trenda IG Text"/>
              </a:rPr>
              <a:t>Paid back in under 7 months</a:t>
            </a:r>
          </a:p>
          <a:p>
            <a:pPr>
              <a:spcAft>
                <a:spcPts val="200"/>
              </a:spcAft>
            </a:pPr>
            <a:r>
              <a:rPr sz="1000" b="0" i="0">
                <a:solidFill>
                  <a:srgbClr val="595959"/>
                </a:solidFill>
                <a:latin typeface="Trenda IG Text"/>
              </a:rPr>
              <a:t>1.8x the investment back in year one</a:t>
            </a:r>
          </a:p>
        </p:txBody>
      </p:sp>
      <p:sp>
        <p:nvSpPr>
          <p:cNvPr id="23" name="Text 23"/>
          <p:cNvSpPr txBox="1"/>
          <p:nvPr/>
        </p:nvSpPr>
        <p:spPr>
          <a:xfrm>
            <a:off x="411480" y="3502152"/>
            <a:ext cx="5486400" cy="128016"/>
          </a:xfrm>
          <a:prstGeom prst="rect">
            <a:avLst/>
          </a:prstGeom>
          <a:noFill/>
        </p:spPr>
        <p:txBody>
          <a:bodyPr wrap="square" lIns="0" rIns="0" tIns="0" bIns="0" anchor="ctr">
            <a:spAutoFit/>
          </a:bodyPr>
          <a:lstStyle/>
          <a:p>
            <a:r>
              <a:rPr sz="650" b="1" i="0" spc="150">
                <a:solidFill>
                  <a:srgbClr val="000000"/>
                </a:solidFill>
                <a:latin typeface="Trenda IG Text"/>
              </a:rPr>
              <a:t>BEYOND THE MONEY: WHAT ASCENSION GETS BACK</a:t>
            </a:r>
          </a:p>
        </p:txBody>
      </p:sp>
      <p:sp>
        <p:nvSpPr>
          <p:cNvPr id="24" name="Shape 24"/>
          <p:cNvSpPr/>
          <p:nvPr/>
        </p:nvSpPr>
        <p:spPr>
          <a:xfrm>
            <a:off x="411480"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5"/>
          <p:cNvSpPr/>
          <p:nvPr/>
        </p:nvSpPr>
        <p:spPr>
          <a:xfrm>
            <a:off x="411480"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6"/>
          <p:cNvSpPr txBox="1"/>
          <p:nvPr/>
        </p:nvSpPr>
        <p:spPr>
          <a:xfrm>
            <a:off x="594360"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90 → 15-20 days</a:t>
            </a:r>
          </a:p>
        </p:txBody>
      </p:sp>
      <p:sp>
        <p:nvSpPr>
          <p:cNvPr id="27" name="Text 27"/>
          <p:cNvSpPr txBox="1"/>
          <p:nvPr/>
        </p:nvSpPr>
        <p:spPr>
          <a:xfrm>
            <a:off x="594360"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to launch a campaign</a:t>
            </a:r>
          </a:p>
        </p:txBody>
      </p:sp>
      <p:sp>
        <p:nvSpPr>
          <p:cNvPr id="28" name="Text 28"/>
          <p:cNvSpPr txBox="1"/>
          <p:nvPr/>
        </p:nvSpPr>
        <p:spPr>
          <a:xfrm>
            <a:off x="594360"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about 80% faster, recorded averages</a:t>
            </a:r>
          </a:p>
        </p:txBody>
      </p:sp>
      <p:sp>
        <p:nvSpPr>
          <p:cNvPr id="29" name="Shape 29"/>
          <p:cNvSpPr/>
          <p:nvPr/>
        </p:nvSpPr>
        <p:spPr>
          <a:xfrm>
            <a:off x="3298698"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30"/>
          <p:cNvSpPr/>
          <p:nvPr/>
        </p:nvSpPr>
        <p:spPr>
          <a:xfrm>
            <a:off x="3298698"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3481578"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2 weeks → 2 days</a:t>
            </a:r>
          </a:p>
        </p:txBody>
      </p:sp>
      <p:sp>
        <p:nvSpPr>
          <p:cNvPr id="32" name="Text 32"/>
          <p:cNvSpPr txBox="1"/>
          <p:nvPr/>
        </p:nvSpPr>
        <p:spPr>
          <a:xfrm>
            <a:off x="3481578"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for a Health Cloud task</a:t>
            </a:r>
          </a:p>
        </p:txBody>
      </p:sp>
      <p:sp>
        <p:nvSpPr>
          <p:cNvPr id="33" name="Text 33"/>
          <p:cNvSpPr txBox="1"/>
          <p:nvPr/>
        </p:nvSpPr>
        <p:spPr>
          <a:xfrm>
            <a:off x="3481578"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story to UAT sign-off</a:t>
            </a:r>
          </a:p>
        </p:txBody>
      </p:sp>
      <p:sp>
        <p:nvSpPr>
          <p:cNvPr id="34" name="Shape 34"/>
          <p:cNvSpPr/>
          <p:nvPr/>
        </p:nvSpPr>
        <p:spPr>
          <a:xfrm>
            <a:off x="6185916"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5"/>
          <p:cNvSpPr/>
          <p:nvPr/>
        </p:nvSpPr>
        <p:spPr>
          <a:xfrm>
            <a:off x="6185916"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6"/>
          <p:cNvSpPr txBox="1"/>
          <p:nvPr/>
        </p:nvSpPr>
        <p:spPr>
          <a:xfrm>
            <a:off x="6368796"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75-85%</a:t>
            </a:r>
          </a:p>
        </p:txBody>
      </p:sp>
      <p:sp>
        <p:nvSpPr>
          <p:cNvPr id="37" name="Text 37"/>
          <p:cNvSpPr txBox="1"/>
          <p:nvPr/>
        </p:nvSpPr>
        <p:spPr>
          <a:xfrm>
            <a:off x="6368796"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faster test-case preparation</a:t>
            </a:r>
          </a:p>
        </p:txBody>
      </p:sp>
      <p:sp>
        <p:nvSpPr>
          <p:cNvPr id="38" name="Text 38"/>
          <p:cNvSpPr txBox="1"/>
          <p:nvPr/>
        </p:nvSpPr>
        <p:spPr>
          <a:xfrm>
            <a:off x="6368796"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measured with QA agents</a:t>
            </a:r>
          </a:p>
        </p:txBody>
      </p:sp>
      <p:sp>
        <p:nvSpPr>
          <p:cNvPr id="39" name="Shape 39"/>
          <p:cNvSpPr/>
          <p:nvPr/>
        </p:nvSpPr>
        <p:spPr>
          <a:xfrm>
            <a:off x="9073134"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40"/>
          <p:cNvSpPr/>
          <p:nvPr/>
        </p:nvSpPr>
        <p:spPr>
          <a:xfrm>
            <a:off x="9073134"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1"/>
          <p:cNvSpPr txBox="1"/>
          <p:nvPr/>
        </p:nvSpPr>
        <p:spPr>
          <a:xfrm>
            <a:off x="9256013"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2-3x</a:t>
            </a:r>
          </a:p>
        </p:txBody>
      </p:sp>
      <p:sp>
        <p:nvSpPr>
          <p:cNvPr id="42" name="Text 42"/>
          <p:cNvSpPr txBox="1"/>
          <p:nvPr/>
        </p:nvSpPr>
        <p:spPr>
          <a:xfrm>
            <a:off x="9256013"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campaigns per quarter</a:t>
            </a:r>
          </a:p>
        </p:txBody>
      </p:sp>
      <p:sp>
        <p:nvSpPr>
          <p:cNvPr id="43" name="Text 43"/>
          <p:cNvSpPr txBox="1"/>
          <p:nvPr/>
        </p:nvSpPr>
        <p:spPr>
          <a:xfrm>
            <a:off x="9256013"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same squad; people still approve</a:t>
            </a:r>
          </a:p>
        </p:txBody>
      </p:sp>
      <p:sp>
        <p:nvSpPr>
          <p:cNvPr id="44" name="Shape 44"/>
          <p:cNvSpPr/>
          <p:nvPr/>
        </p:nvSpPr>
        <p:spPr>
          <a:xfrm>
            <a:off x="411480" y="4919472"/>
            <a:ext cx="11365992" cy="914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5"/>
          <p:cNvSpPr txBox="1"/>
          <p:nvPr/>
        </p:nvSpPr>
        <p:spPr>
          <a:xfrm>
            <a:off x="640080" y="5010912"/>
            <a:ext cx="3422904" cy="164592"/>
          </a:xfrm>
          <a:prstGeom prst="rect">
            <a:avLst/>
          </a:prstGeom>
          <a:noFill/>
        </p:spPr>
        <p:txBody>
          <a:bodyPr wrap="square" lIns="0" rIns="0" tIns="0" bIns="0" anchor="t">
            <a:spAutoFit/>
          </a:bodyPr>
          <a:lstStyle/>
          <a:p>
            <a:r>
              <a:rPr sz="800" b="0" i="0">
                <a:solidFill>
                  <a:srgbClr val="BFBFBF"/>
                </a:solidFill>
                <a:latin typeface="Trenda IG Text"/>
              </a:rPr>
              <a:t>Investment</a:t>
            </a:r>
          </a:p>
        </p:txBody>
      </p:sp>
      <p:sp>
        <p:nvSpPr>
          <p:cNvPr id="46" name="Text 46"/>
          <p:cNvSpPr txBox="1"/>
          <p:nvPr/>
        </p:nvSpPr>
        <p:spPr>
          <a:xfrm>
            <a:off x="640080" y="5193792"/>
            <a:ext cx="3422904" cy="347472"/>
          </a:xfrm>
          <a:prstGeom prst="rect">
            <a:avLst/>
          </a:prstGeom>
          <a:noFill/>
        </p:spPr>
        <p:txBody>
          <a:bodyPr wrap="square" lIns="0" rIns="0" tIns="0" bIns="0" anchor="ctr">
            <a:spAutoFit/>
          </a:bodyPr>
          <a:lstStyle/>
          <a:p>
            <a:r>
              <a:rPr sz="2000" b="1" i="0">
                <a:solidFill>
                  <a:srgbClr val="FFFFFF"/>
                </a:solidFill>
                <a:latin typeface="Trenda IG Text"/>
              </a:rPr>
              <a:t>$5.0M</a:t>
            </a:r>
          </a:p>
        </p:txBody>
      </p:sp>
      <p:sp>
        <p:nvSpPr>
          <p:cNvPr id="47" name="Text 47"/>
          <p:cNvSpPr txBox="1"/>
          <p:nvPr/>
        </p:nvSpPr>
        <p:spPr>
          <a:xfrm>
            <a:off x="640080" y="5559552"/>
            <a:ext cx="3422904" cy="228600"/>
          </a:xfrm>
          <a:prstGeom prst="rect">
            <a:avLst/>
          </a:prstGeom>
          <a:noFill/>
        </p:spPr>
        <p:txBody>
          <a:bodyPr wrap="square" lIns="0" rIns="0" tIns="0" bIns="0" anchor="t">
            <a:spAutoFit/>
          </a:bodyPr>
          <a:lstStyle/>
          <a:p>
            <a:r>
              <a:rPr sz="700" b="0" i="0">
                <a:solidFill>
                  <a:srgbClr val="BFBFBF"/>
                </a:solidFill>
                <a:latin typeface="Trenda IG Text"/>
              </a:rPr>
              <a:t>build fee $4.79M + cloud and model usage at cost $0.23M</a:t>
            </a:r>
          </a:p>
        </p:txBody>
      </p:sp>
      <p:sp>
        <p:nvSpPr>
          <p:cNvPr id="48" name="Text 48"/>
          <p:cNvSpPr txBox="1"/>
          <p:nvPr/>
        </p:nvSpPr>
        <p:spPr>
          <a:xfrm>
            <a:off x="4428744" y="5010912"/>
            <a:ext cx="3422904" cy="164592"/>
          </a:xfrm>
          <a:prstGeom prst="rect">
            <a:avLst/>
          </a:prstGeom>
          <a:noFill/>
        </p:spPr>
        <p:txBody>
          <a:bodyPr wrap="square" lIns="0" rIns="0" tIns="0" bIns="0" anchor="t">
            <a:spAutoFit/>
          </a:bodyPr>
          <a:lstStyle/>
          <a:p>
            <a:r>
              <a:rPr sz="800" b="0" i="0">
                <a:solidFill>
                  <a:srgbClr val="BFBFBF"/>
                </a:solidFill>
                <a:latin typeface="Trenda IG Text"/>
              </a:rPr>
              <a:t>Annual saving</a:t>
            </a:r>
          </a:p>
        </p:txBody>
      </p:sp>
      <p:sp>
        <p:nvSpPr>
          <p:cNvPr id="49" name="Text 49"/>
          <p:cNvSpPr txBox="1"/>
          <p:nvPr/>
        </p:nvSpPr>
        <p:spPr>
          <a:xfrm>
            <a:off x="4428744" y="5193792"/>
            <a:ext cx="3422904" cy="347472"/>
          </a:xfrm>
          <a:prstGeom prst="rect">
            <a:avLst/>
          </a:prstGeom>
          <a:noFill/>
        </p:spPr>
        <p:txBody>
          <a:bodyPr wrap="square" lIns="0" rIns="0" tIns="0" bIns="0" anchor="ctr">
            <a:spAutoFit/>
          </a:bodyPr>
          <a:lstStyle/>
          <a:p>
            <a:r>
              <a:rPr sz="2000" b="1" i="0">
                <a:solidFill>
                  <a:srgbClr val="FFD700"/>
                </a:solidFill>
                <a:latin typeface="Trenda IG Text"/>
              </a:rPr>
              <a:t>$9M</a:t>
            </a:r>
          </a:p>
        </p:txBody>
      </p:sp>
      <p:sp>
        <p:nvSpPr>
          <p:cNvPr id="50" name="Text 50"/>
          <p:cNvSpPr txBox="1"/>
          <p:nvPr/>
        </p:nvSpPr>
        <p:spPr>
          <a:xfrm>
            <a:off x="4428744" y="5559552"/>
            <a:ext cx="3422904" cy="228600"/>
          </a:xfrm>
          <a:prstGeom prst="rect">
            <a:avLst/>
          </a:prstGeom>
          <a:noFill/>
        </p:spPr>
        <p:txBody>
          <a:bodyPr wrap="square" lIns="0" rIns="0" tIns="0" bIns="0" anchor="t">
            <a:spAutoFit/>
          </a:bodyPr>
          <a:lstStyle/>
          <a:p>
            <a:r>
              <a:rPr sz="700" b="0" i="0">
                <a:solidFill>
                  <a:srgbClr val="BFBFBF"/>
                </a:solidFill>
                <a:latin typeface="Trenda IG Text"/>
              </a:rPr>
              <a:t>$16M today − $7M with the harness; agents and managed service included</a:t>
            </a:r>
          </a:p>
        </p:txBody>
      </p:sp>
      <p:sp>
        <p:nvSpPr>
          <p:cNvPr id="51" name="Text 51"/>
          <p:cNvSpPr txBox="1"/>
          <p:nvPr/>
        </p:nvSpPr>
        <p:spPr>
          <a:xfrm>
            <a:off x="8217408" y="5010912"/>
            <a:ext cx="3422904" cy="164592"/>
          </a:xfrm>
          <a:prstGeom prst="rect">
            <a:avLst/>
          </a:prstGeom>
          <a:noFill/>
        </p:spPr>
        <p:txBody>
          <a:bodyPr wrap="square" lIns="0" rIns="0" tIns="0" bIns="0" anchor="t">
            <a:spAutoFit/>
          </a:bodyPr>
          <a:lstStyle/>
          <a:p>
            <a:r>
              <a:rPr sz="800" b="0" i="0">
                <a:solidFill>
                  <a:srgbClr val="BFBFBF"/>
                </a:solidFill>
                <a:latin typeface="Trenda IG Text"/>
              </a:rPr>
              <a:t>Floor we commit to</a:t>
            </a:r>
          </a:p>
        </p:txBody>
      </p:sp>
      <p:sp>
        <p:nvSpPr>
          <p:cNvPr id="52" name="Text 52"/>
          <p:cNvSpPr txBox="1"/>
          <p:nvPr/>
        </p:nvSpPr>
        <p:spPr>
          <a:xfrm>
            <a:off x="8217408" y="5193792"/>
            <a:ext cx="3422904" cy="347472"/>
          </a:xfrm>
          <a:prstGeom prst="rect">
            <a:avLst/>
          </a:prstGeom>
          <a:noFill/>
        </p:spPr>
        <p:txBody>
          <a:bodyPr wrap="square" lIns="0" rIns="0" tIns="0" bIns="0" anchor="ctr">
            <a:spAutoFit/>
          </a:bodyPr>
          <a:lstStyle/>
          <a:p>
            <a:r>
              <a:rPr sz="2000" b="1" i="0">
                <a:solidFill>
                  <a:srgbClr val="00D6F2"/>
                </a:solidFill>
                <a:latin typeface="Trenda IG Text"/>
              </a:rPr>
              <a:t>20-25%</a:t>
            </a:r>
          </a:p>
        </p:txBody>
      </p:sp>
      <p:sp>
        <p:nvSpPr>
          <p:cNvPr id="53" name="Text 53"/>
          <p:cNvSpPr txBox="1"/>
          <p:nvPr/>
        </p:nvSpPr>
        <p:spPr>
          <a:xfrm>
            <a:off x="8217408" y="5559552"/>
            <a:ext cx="3422904" cy="228600"/>
          </a:xfrm>
          <a:prstGeom prst="rect">
            <a:avLst/>
          </a:prstGeom>
          <a:noFill/>
        </p:spPr>
        <p:txBody>
          <a:bodyPr wrap="square" lIns="0" rIns="0" tIns="0" bIns="0" anchor="t">
            <a:spAutoFit/>
          </a:bodyPr>
          <a:lstStyle/>
          <a:p>
            <a:r>
              <a:rPr sz="700" b="0" i="0">
                <a:solidFill>
                  <a:srgbClr val="BFBFBF"/>
                </a:solidFill>
                <a:latin typeface="Trenda IG Text"/>
              </a:rPr>
              <a:t>lower net run cost per pod, measured against each pod's baseline</a:t>
            </a:r>
          </a:p>
        </p:txBody>
      </p:sp>
      <p:sp>
        <p:nvSpPr>
          <p:cNvPr id="54" name="Text 54"/>
          <p:cNvSpPr txBox="1"/>
          <p:nvPr/>
        </p:nvSpPr>
        <p:spPr>
          <a:xfrm>
            <a:off x="411480" y="5943600"/>
            <a:ext cx="11365992" cy="292608"/>
          </a:xfrm>
          <a:prstGeom prst="rect">
            <a:avLst/>
          </a:prstGeom>
          <a:noFill/>
        </p:spPr>
        <p:txBody>
          <a:bodyPr wrap="square" lIns="0" rIns="0" tIns="0" bIns="0" anchor="t">
            <a:spAutoFit/>
          </a:bodyPr>
          <a:lstStyle/>
          <a:p>
            <a:r>
              <a:rPr sz="650" b="0" i="0">
                <a:solidFill>
                  <a:srgbClr val="595959"/>
                </a:solidFill>
                <a:latin typeface="Trenda IG Text"/>
              </a:rPr>
              <a:t>Ascension's spend across all pods, about $16M a year, as provided. The harness figure is the first full year after the 18-month implementation, with every pod live. First-year ROI = (saving − investment) ÷ investment. Planning estimates, confirmed against each pod's Phase 0 baseline.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TEAM AND BUILD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17 people, 10 roles, $4.79M to build in eighteen months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The team we bring for months 1 to 18, and one fixed build fee, invoiced as each phase exit is signed.</a:t>
            </a:r>
          </a:p>
        </p:txBody>
      </p:sp>
      <p:sp>
        <p:nvSpPr>
          <p:cNvPr id="5" name="Text 4"/>
          <p:cNvSpPr txBox="1"/>
          <p:nvPr/>
        </p:nvSpPr>
        <p:spPr>
          <a:xfrm>
            <a:off x="502920" y="1280160"/>
            <a:ext cx="3566160" cy="237744"/>
          </a:xfrm>
          <a:prstGeom prst="rect">
            <a:avLst/>
          </a:prstGeom>
          <a:noFill/>
        </p:spPr>
        <p:txBody>
          <a:bodyPr wrap="square" lIns="0" rIns="0" tIns="0" bIns="0" anchor="ctr">
            <a:spAutoFit/>
          </a:bodyPr>
          <a:lstStyle/>
          <a:p>
            <a:r>
              <a:rPr sz="900" b="1" i="0">
                <a:solidFill>
                  <a:srgbClr val="000000"/>
                </a:solidFill>
                <a:latin typeface="Trenda IG Text"/>
              </a:rPr>
              <a:t>Role</a:t>
            </a:r>
          </a:p>
        </p:txBody>
      </p:sp>
      <p:sp>
        <p:nvSpPr>
          <p:cNvPr id="6" name="Text 5"/>
          <p:cNvSpPr txBox="1"/>
          <p:nvPr/>
        </p:nvSpPr>
        <p:spPr>
          <a:xfrm>
            <a:off x="4160520" y="1280160"/>
            <a:ext cx="640080" cy="237744"/>
          </a:xfrm>
          <a:prstGeom prst="rect">
            <a:avLst/>
          </a:prstGeom>
          <a:noFill/>
        </p:spPr>
        <p:txBody>
          <a:bodyPr wrap="square" lIns="0" rIns="0" tIns="0" bIns="0" anchor="ctr">
            <a:spAutoFit/>
          </a:bodyPr>
          <a:lstStyle/>
          <a:p>
            <a:r>
              <a:rPr sz="900" b="1" i="0">
                <a:solidFill>
                  <a:srgbClr val="000000"/>
                </a:solidFill>
                <a:latin typeface="Trenda IG Text"/>
              </a:rPr>
              <a:t>Peak</a:t>
            </a:r>
          </a:p>
        </p:txBody>
      </p:sp>
      <p:sp>
        <p:nvSpPr>
          <p:cNvPr id="7" name="Text 6"/>
          <p:cNvSpPr txBox="1"/>
          <p:nvPr/>
        </p:nvSpPr>
        <p:spPr>
          <a:xfrm>
            <a:off x="4892040" y="1280160"/>
            <a:ext cx="1005839" cy="237744"/>
          </a:xfrm>
          <a:prstGeom prst="rect">
            <a:avLst/>
          </a:prstGeom>
          <a:noFill/>
        </p:spPr>
        <p:txBody>
          <a:bodyPr wrap="square" lIns="0" rIns="0" tIns="0" bIns="0" anchor="ctr">
            <a:spAutoFit/>
          </a:bodyPr>
          <a:lstStyle/>
          <a:p>
            <a:r>
              <a:rPr sz="900" b="1" i="0">
                <a:solidFill>
                  <a:srgbClr val="000000"/>
                </a:solidFill>
                <a:latin typeface="Trenda IG Text"/>
              </a:rPr>
              <a:t>On the team</a:t>
            </a:r>
          </a:p>
        </p:txBody>
      </p:sp>
      <p:sp>
        <p:nvSpPr>
          <p:cNvPr id="8" name="Shape 7"/>
          <p:cNvSpPr/>
          <p:nvPr/>
        </p:nvSpPr>
        <p:spPr>
          <a:xfrm>
            <a:off x="411480" y="1554480"/>
            <a:ext cx="548640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609343"/>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9"/>
          <p:cNvSpPr/>
          <p:nvPr/>
        </p:nvSpPr>
        <p:spPr>
          <a:xfrm>
            <a:off x="521208" y="1749413"/>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722376" y="1609343"/>
            <a:ext cx="3291840" cy="389866"/>
          </a:xfrm>
          <a:prstGeom prst="rect">
            <a:avLst/>
          </a:prstGeom>
          <a:noFill/>
        </p:spPr>
        <p:txBody>
          <a:bodyPr wrap="square" lIns="0" rIns="0" tIns="0" bIns="0" anchor="ctr">
            <a:spAutoFit/>
          </a:bodyPr>
          <a:lstStyle/>
          <a:p>
            <a:r>
              <a:rPr sz="950" b="1" i="0">
                <a:solidFill>
                  <a:srgbClr val="000000"/>
                </a:solidFill>
                <a:latin typeface="Trenda IG Text"/>
              </a:rPr>
              <a:t>Engagement lead / project manager</a:t>
            </a:r>
          </a:p>
        </p:txBody>
      </p:sp>
      <p:sp>
        <p:nvSpPr>
          <p:cNvPr id="12" name="Text 11"/>
          <p:cNvSpPr txBox="1"/>
          <p:nvPr/>
        </p:nvSpPr>
        <p:spPr>
          <a:xfrm>
            <a:off x="4069080" y="1609343"/>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13" name="Text 12"/>
          <p:cNvSpPr txBox="1"/>
          <p:nvPr/>
        </p:nvSpPr>
        <p:spPr>
          <a:xfrm>
            <a:off x="4892040" y="1609343"/>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14" name="Shape 13"/>
          <p:cNvSpPr/>
          <p:nvPr/>
        </p:nvSpPr>
        <p:spPr>
          <a:xfrm>
            <a:off x="521208" y="2139280"/>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22376" y="1999210"/>
            <a:ext cx="3291840" cy="389866"/>
          </a:xfrm>
          <a:prstGeom prst="rect">
            <a:avLst/>
          </a:prstGeom>
          <a:noFill/>
        </p:spPr>
        <p:txBody>
          <a:bodyPr wrap="square" lIns="0" rIns="0" tIns="0" bIns="0" anchor="ctr">
            <a:spAutoFit/>
          </a:bodyPr>
          <a:lstStyle/>
          <a:p>
            <a:r>
              <a:rPr sz="950" b="1" i="0">
                <a:solidFill>
                  <a:srgbClr val="000000"/>
                </a:solidFill>
                <a:latin typeface="Trenda IG Text"/>
              </a:rPr>
              <a:t>Solution architect</a:t>
            </a:r>
          </a:p>
        </p:txBody>
      </p:sp>
      <p:sp>
        <p:nvSpPr>
          <p:cNvPr id="16" name="Text 15"/>
          <p:cNvSpPr txBox="1"/>
          <p:nvPr/>
        </p:nvSpPr>
        <p:spPr>
          <a:xfrm>
            <a:off x="4069080" y="1999210"/>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17" name="Text 16"/>
          <p:cNvSpPr txBox="1"/>
          <p:nvPr/>
        </p:nvSpPr>
        <p:spPr>
          <a:xfrm>
            <a:off x="4892040" y="1999210"/>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18" name="Shape 17"/>
          <p:cNvSpPr/>
          <p:nvPr/>
        </p:nvSpPr>
        <p:spPr>
          <a:xfrm>
            <a:off x="411480" y="2389077"/>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21208" y="2529147"/>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22376" y="2389077"/>
            <a:ext cx="3291840" cy="389866"/>
          </a:xfrm>
          <a:prstGeom prst="rect">
            <a:avLst/>
          </a:prstGeom>
          <a:noFill/>
        </p:spPr>
        <p:txBody>
          <a:bodyPr wrap="square" lIns="0" rIns="0" tIns="0" bIns="0" anchor="ctr">
            <a:spAutoFit/>
          </a:bodyPr>
          <a:lstStyle/>
          <a:p>
            <a:r>
              <a:rPr sz="950" b="1" i="0">
                <a:solidFill>
                  <a:srgbClr val="000000"/>
                </a:solidFill>
                <a:latin typeface="Trenda IG Text"/>
              </a:rPr>
              <a:t>AI harness architect</a:t>
            </a:r>
          </a:p>
        </p:txBody>
      </p:sp>
      <p:sp>
        <p:nvSpPr>
          <p:cNvPr id="21" name="Text 20"/>
          <p:cNvSpPr txBox="1"/>
          <p:nvPr/>
        </p:nvSpPr>
        <p:spPr>
          <a:xfrm>
            <a:off x="4069080" y="2389077"/>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22" name="Text 21"/>
          <p:cNvSpPr txBox="1"/>
          <p:nvPr/>
        </p:nvSpPr>
        <p:spPr>
          <a:xfrm>
            <a:off x="4892040" y="2389077"/>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23" name="Shape 22"/>
          <p:cNvSpPr/>
          <p:nvPr/>
        </p:nvSpPr>
        <p:spPr>
          <a:xfrm>
            <a:off x="521208" y="2919014"/>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722376" y="2778944"/>
            <a:ext cx="3291840" cy="389866"/>
          </a:xfrm>
          <a:prstGeom prst="rect">
            <a:avLst/>
          </a:prstGeom>
          <a:noFill/>
        </p:spPr>
        <p:txBody>
          <a:bodyPr wrap="square" lIns="0" rIns="0" tIns="0" bIns="0" anchor="ctr">
            <a:spAutoFit/>
          </a:bodyPr>
          <a:lstStyle/>
          <a:p>
            <a:r>
              <a:rPr sz="950" b="1" i="0">
                <a:solidFill>
                  <a:srgbClr val="000000"/>
                </a:solidFill>
                <a:latin typeface="Trenda IG Text"/>
              </a:rPr>
              <a:t>Harness engineers</a:t>
            </a:r>
          </a:p>
        </p:txBody>
      </p:sp>
      <p:sp>
        <p:nvSpPr>
          <p:cNvPr id="25" name="Text 24"/>
          <p:cNvSpPr txBox="1"/>
          <p:nvPr/>
        </p:nvSpPr>
        <p:spPr>
          <a:xfrm>
            <a:off x="4069080" y="2778944"/>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3</a:t>
            </a:r>
          </a:p>
        </p:txBody>
      </p:sp>
      <p:sp>
        <p:nvSpPr>
          <p:cNvPr id="26" name="Text 25"/>
          <p:cNvSpPr txBox="1"/>
          <p:nvPr/>
        </p:nvSpPr>
        <p:spPr>
          <a:xfrm>
            <a:off x="4892040" y="2778944"/>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27" name="Shape 26"/>
          <p:cNvSpPr/>
          <p:nvPr/>
        </p:nvSpPr>
        <p:spPr>
          <a:xfrm>
            <a:off x="411480" y="3168811"/>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7"/>
          <p:cNvSpPr/>
          <p:nvPr/>
        </p:nvSpPr>
        <p:spPr>
          <a:xfrm>
            <a:off x="521208" y="3308881"/>
            <a:ext cx="109728" cy="109728"/>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722376" y="3168811"/>
            <a:ext cx="3291840" cy="389866"/>
          </a:xfrm>
          <a:prstGeom prst="rect">
            <a:avLst/>
          </a:prstGeom>
          <a:noFill/>
        </p:spPr>
        <p:txBody>
          <a:bodyPr wrap="square" lIns="0" rIns="0" tIns="0" bIns="0" anchor="ctr">
            <a:spAutoFit/>
          </a:bodyPr>
          <a:lstStyle/>
          <a:p>
            <a:r>
              <a:rPr sz="950" b="1" i="0">
                <a:solidFill>
                  <a:srgbClr val="000000"/>
                </a:solidFill>
                <a:latin typeface="Trenda IG Text"/>
              </a:rPr>
              <a:t>Knowledge graph engineers</a:t>
            </a:r>
          </a:p>
        </p:txBody>
      </p:sp>
      <p:sp>
        <p:nvSpPr>
          <p:cNvPr id="30" name="Text 29"/>
          <p:cNvSpPr txBox="1"/>
          <p:nvPr/>
        </p:nvSpPr>
        <p:spPr>
          <a:xfrm>
            <a:off x="4069080" y="3168811"/>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31" name="Text 30"/>
          <p:cNvSpPr txBox="1"/>
          <p:nvPr/>
        </p:nvSpPr>
        <p:spPr>
          <a:xfrm>
            <a:off x="4892040" y="3168811"/>
            <a:ext cx="1005839" cy="389866"/>
          </a:xfrm>
          <a:prstGeom prst="rect">
            <a:avLst/>
          </a:prstGeom>
          <a:noFill/>
        </p:spPr>
        <p:txBody>
          <a:bodyPr wrap="square" lIns="0" rIns="0" tIns="0" bIns="0" anchor="ctr">
            <a:spAutoFit/>
          </a:bodyPr>
          <a:lstStyle/>
          <a:p>
            <a:r>
              <a:rPr sz="900" b="0" i="0">
                <a:solidFill>
                  <a:srgbClr val="595959"/>
                </a:solidFill>
                <a:latin typeface="Trenda IG Text"/>
              </a:rPr>
              <a:t>M2-M17</a:t>
            </a:r>
          </a:p>
        </p:txBody>
      </p:sp>
      <p:sp>
        <p:nvSpPr>
          <p:cNvPr id="32" name="Shape 31"/>
          <p:cNvSpPr/>
          <p:nvPr/>
        </p:nvSpPr>
        <p:spPr>
          <a:xfrm>
            <a:off x="521208" y="3698748"/>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722376" y="3558678"/>
            <a:ext cx="3291840" cy="389866"/>
          </a:xfrm>
          <a:prstGeom prst="rect">
            <a:avLst/>
          </a:prstGeom>
          <a:noFill/>
        </p:spPr>
        <p:txBody>
          <a:bodyPr wrap="square" lIns="0" rIns="0" tIns="0" bIns="0" anchor="ctr">
            <a:spAutoFit/>
          </a:bodyPr>
          <a:lstStyle/>
          <a:p>
            <a:r>
              <a:rPr sz="950" b="1" i="0">
                <a:solidFill>
                  <a:srgbClr val="000000"/>
                </a:solidFill>
                <a:latin typeface="Trenda IG Text"/>
              </a:rPr>
              <a:t>Cloud and DevOps engineers</a:t>
            </a:r>
          </a:p>
        </p:txBody>
      </p:sp>
      <p:sp>
        <p:nvSpPr>
          <p:cNvPr id="34" name="Text 33"/>
          <p:cNvSpPr txBox="1"/>
          <p:nvPr/>
        </p:nvSpPr>
        <p:spPr>
          <a:xfrm>
            <a:off x="4069080" y="3558678"/>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35" name="Text 34"/>
          <p:cNvSpPr txBox="1"/>
          <p:nvPr/>
        </p:nvSpPr>
        <p:spPr>
          <a:xfrm>
            <a:off x="4892040" y="3558678"/>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36" name="Shape 35"/>
          <p:cNvSpPr/>
          <p:nvPr/>
        </p:nvSpPr>
        <p:spPr>
          <a:xfrm>
            <a:off x="411480" y="3948545"/>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521208" y="4088614"/>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722376" y="3948545"/>
            <a:ext cx="3291840" cy="389866"/>
          </a:xfrm>
          <a:prstGeom prst="rect">
            <a:avLst/>
          </a:prstGeom>
          <a:noFill/>
        </p:spPr>
        <p:txBody>
          <a:bodyPr wrap="square" lIns="0" rIns="0" tIns="0" bIns="0" anchor="ctr">
            <a:spAutoFit/>
          </a:bodyPr>
          <a:lstStyle/>
          <a:p>
            <a:r>
              <a:rPr sz="950" b="1" i="0">
                <a:solidFill>
                  <a:srgbClr val="000000"/>
                </a:solidFill>
                <a:latin typeface="Trenda IG Text"/>
              </a:rPr>
              <a:t>Salesforce Health Cloud developers</a:t>
            </a:r>
          </a:p>
        </p:txBody>
      </p:sp>
      <p:sp>
        <p:nvSpPr>
          <p:cNvPr id="39" name="Text 38"/>
          <p:cNvSpPr txBox="1"/>
          <p:nvPr/>
        </p:nvSpPr>
        <p:spPr>
          <a:xfrm>
            <a:off x="4069080" y="3948545"/>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40" name="Text 39"/>
          <p:cNvSpPr txBox="1"/>
          <p:nvPr/>
        </p:nvSpPr>
        <p:spPr>
          <a:xfrm>
            <a:off x="4892040" y="3948545"/>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41" name="Shape 40"/>
          <p:cNvSpPr/>
          <p:nvPr/>
        </p:nvSpPr>
        <p:spPr>
          <a:xfrm>
            <a:off x="521208" y="4478481"/>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722376" y="4338412"/>
            <a:ext cx="3291840" cy="389866"/>
          </a:xfrm>
          <a:prstGeom prst="rect">
            <a:avLst/>
          </a:prstGeom>
          <a:noFill/>
        </p:spPr>
        <p:txBody>
          <a:bodyPr wrap="square" lIns="0" rIns="0" tIns="0" bIns="0" anchor="ctr">
            <a:spAutoFit/>
          </a:bodyPr>
          <a:lstStyle/>
          <a:p>
            <a:r>
              <a:rPr sz="950" b="1" i="0">
                <a:solidFill>
                  <a:srgbClr val="000000"/>
                </a:solidFill>
                <a:latin typeface="Trenda IG Text"/>
              </a:rPr>
              <a:t>Marketing / Data Cloud developer</a:t>
            </a:r>
          </a:p>
        </p:txBody>
      </p:sp>
      <p:sp>
        <p:nvSpPr>
          <p:cNvPr id="43" name="Text 42"/>
          <p:cNvSpPr txBox="1"/>
          <p:nvPr/>
        </p:nvSpPr>
        <p:spPr>
          <a:xfrm>
            <a:off x="4069080" y="4338412"/>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44" name="Text 43"/>
          <p:cNvSpPr txBox="1"/>
          <p:nvPr/>
        </p:nvSpPr>
        <p:spPr>
          <a:xfrm>
            <a:off x="4892040" y="4338412"/>
            <a:ext cx="1005839" cy="389866"/>
          </a:xfrm>
          <a:prstGeom prst="rect">
            <a:avLst/>
          </a:prstGeom>
          <a:noFill/>
        </p:spPr>
        <p:txBody>
          <a:bodyPr wrap="square" lIns="0" rIns="0" tIns="0" bIns="0" anchor="ctr">
            <a:spAutoFit/>
          </a:bodyPr>
          <a:lstStyle/>
          <a:p>
            <a:r>
              <a:rPr sz="900" b="0" i="0">
                <a:solidFill>
                  <a:srgbClr val="595959"/>
                </a:solidFill>
                <a:latin typeface="Trenda IG Text"/>
              </a:rPr>
              <a:t>M6-M17</a:t>
            </a:r>
          </a:p>
        </p:txBody>
      </p:sp>
      <p:sp>
        <p:nvSpPr>
          <p:cNvPr id="45" name="Shape 44"/>
          <p:cNvSpPr/>
          <p:nvPr/>
        </p:nvSpPr>
        <p:spPr>
          <a:xfrm>
            <a:off x="411480" y="4728279"/>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5"/>
          <p:cNvSpPr/>
          <p:nvPr/>
        </p:nvSpPr>
        <p:spPr>
          <a:xfrm>
            <a:off x="521208" y="4868348"/>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722376" y="4728279"/>
            <a:ext cx="3291840" cy="389866"/>
          </a:xfrm>
          <a:prstGeom prst="rect">
            <a:avLst/>
          </a:prstGeom>
          <a:noFill/>
        </p:spPr>
        <p:txBody>
          <a:bodyPr wrap="square" lIns="0" rIns="0" tIns="0" bIns="0" anchor="ctr">
            <a:spAutoFit/>
          </a:bodyPr>
          <a:lstStyle/>
          <a:p>
            <a:r>
              <a:rPr sz="950" b="1" i="0">
                <a:solidFill>
                  <a:srgbClr val="000000"/>
                </a:solidFill>
                <a:latin typeface="Trenda IG Text"/>
              </a:rPr>
              <a:t>QA automation engineers</a:t>
            </a:r>
          </a:p>
        </p:txBody>
      </p:sp>
      <p:sp>
        <p:nvSpPr>
          <p:cNvPr id="48" name="Text 47"/>
          <p:cNvSpPr txBox="1"/>
          <p:nvPr/>
        </p:nvSpPr>
        <p:spPr>
          <a:xfrm>
            <a:off x="4069080" y="4728279"/>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3</a:t>
            </a:r>
          </a:p>
        </p:txBody>
      </p:sp>
      <p:sp>
        <p:nvSpPr>
          <p:cNvPr id="49" name="Text 48"/>
          <p:cNvSpPr txBox="1"/>
          <p:nvPr/>
        </p:nvSpPr>
        <p:spPr>
          <a:xfrm>
            <a:off x="4892040" y="4728279"/>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50" name="Shape 49"/>
          <p:cNvSpPr/>
          <p:nvPr/>
        </p:nvSpPr>
        <p:spPr>
          <a:xfrm>
            <a:off x="521208" y="5258215"/>
            <a:ext cx="109728" cy="10972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722376" y="5118146"/>
            <a:ext cx="3291840" cy="389866"/>
          </a:xfrm>
          <a:prstGeom prst="rect">
            <a:avLst/>
          </a:prstGeom>
          <a:noFill/>
        </p:spPr>
        <p:txBody>
          <a:bodyPr wrap="square" lIns="0" rIns="0" tIns="0" bIns="0" anchor="ctr">
            <a:spAutoFit/>
          </a:bodyPr>
          <a:lstStyle/>
          <a:p>
            <a:r>
              <a:rPr sz="950" b="1" i="0">
                <a:solidFill>
                  <a:srgbClr val="000000"/>
                </a:solidFill>
                <a:latin typeface="Trenda IG Text"/>
              </a:rPr>
              <a:t>Cloud security engineer (HIPAA)</a:t>
            </a:r>
          </a:p>
        </p:txBody>
      </p:sp>
      <p:sp>
        <p:nvSpPr>
          <p:cNvPr id="52" name="Text 51"/>
          <p:cNvSpPr txBox="1"/>
          <p:nvPr/>
        </p:nvSpPr>
        <p:spPr>
          <a:xfrm>
            <a:off x="4069080" y="5118146"/>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53" name="Text 52"/>
          <p:cNvSpPr txBox="1"/>
          <p:nvPr/>
        </p:nvSpPr>
        <p:spPr>
          <a:xfrm>
            <a:off x="4892040" y="5118146"/>
            <a:ext cx="1005839" cy="389866"/>
          </a:xfrm>
          <a:prstGeom prst="rect">
            <a:avLst/>
          </a:prstGeom>
          <a:noFill/>
        </p:spPr>
        <p:txBody>
          <a:bodyPr wrap="square" lIns="0" rIns="0" tIns="0" bIns="0" anchor="ctr">
            <a:spAutoFit/>
          </a:bodyPr>
          <a:lstStyle/>
          <a:p>
            <a:r>
              <a:rPr sz="900" b="0" i="0">
                <a:solidFill>
                  <a:srgbClr val="595959"/>
                </a:solidFill>
                <a:latin typeface="Trenda IG Text"/>
              </a:rPr>
              <a:t>M1-M17</a:t>
            </a:r>
          </a:p>
        </p:txBody>
      </p:sp>
      <p:sp>
        <p:nvSpPr>
          <p:cNvPr id="54" name="Shape 53"/>
          <p:cNvSpPr/>
          <p:nvPr/>
        </p:nvSpPr>
        <p:spPr>
          <a:xfrm>
            <a:off x="411480" y="5508013"/>
            <a:ext cx="548640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22376" y="5526301"/>
            <a:ext cx="3657600" cy="389866"/>
          </a:xfrm>
          <a:prstGeom prst="rect">
            <a:avLst/>
          </a:prstGeom>
          <a:noFill/>
        </p:spPr>
        <p:txBody>
          <a:bodyPr wrap="square" lIns="0" rIns="0" tIns="0" bIns="0" anchor="ctr">
            <a:spAutoFit/>
          </a:bodyPr>
          <a:lstStyle/>
          <a:p>
            <a:r>
              <a:rPr sz="950" b="1" i="0">
                <a:solidFill>
                  <a:srgbClr val="000000"/>
                </a:solidFill>
                <a:latin typeface="Trenda IG Text"/>
              </a:rPr>
              <a:t>Total at peak</a:t>
            </a:r>
          </a:p>
        </p:txBody>
      </p:sp>
      <p:sp>
        <p:nvSpPr>
          <p:cNvPr id="56" name="Text 55"/>
          <p:cNvSpPr txBox="1"/>
          <p:nvPr/>
        </p:nvSpPr>
        <p:spPr>
          <a:xfrm>
            <a:off x="4069080" y="5526301"/>
            <a:ext cx="731520" cy="389866"/>
          </a:xfrm>
          <a:prstGeom prst="rect">
            <a:avLst/>
          </a:prstGeom>
          <a:noFill/>
        </p:spPr>
        <p:txBody>
          <a:bodyPr wrap="square" lIns="0" rIns="0" tIns="0" bIns="0" anchor="ctr">
            <a:spAutoFit/>
          </a:bodyPr>
          <a:lstStyle/>
          <a:p>
            <a:pPr algn="ctr"/>
            <a:r>
              <a:rPr sz="1100" b="1" i="0">
                <a:solidFill>
                  <a:srgbClr val="000000"/>
                </a:solidFill>
                <a:latin typeface="Trenda IG Text"/>
              </a:rPr>
              <a:t>17</a:t>
            </a:r>
          </a:p>
        </p:txBody>
      </p:sp>
      <p:sp>
        <p:nvSpPr>
          <p:cNvPr id="57" name="Text 56"/>
          <p:cNvSpPr txBox="1"/>
          <p:nvPr/>
        </p:nvSpPr>
        <p:spPr>
          <a:xfrm>
            <a:off x="4892040" y="5526301"/>
            <a:ext cx="1097280" cy="389866"/>
          </a:xfrm>
          <a:prstGeom prst="rect">
            <a:avLst/>
          </a:prstGeom>
          <a:noFill/>
        </p:spPr>
        <p:txBody>
          <a:bodyPr wrap="square" lIns="0" rIns="0" tIns="0" bIns="0" anchor="ctr">
            <a:spAutoFit/>
          </a:bodyPr>
          <a:lstStyle/>
          <a:p>
            <a:r>
              <a:rPr sz="900" b="0" i="0">
                <a:solidFill>
                  <a:srgbClr val="595959"/>
                </a:solidFill>
                <a:latin typeface="Trenda IG Text"/>
              </a:rPr>
              <a:t>all offshore</a:t>
            </a:r>
          </a:p>
        </p:txBody>
      </p:sp>
      <p:sp>
        <p:nvSpPr>
          <p:cNvPr id="58" name="Differentiator Border 58"/>
          <p:cNvSpPr/>
          <p:nvPr/>
        </p:nvSpPr>
        <p:spPr>
          <a:xfrm>
            <a:off x="6355080" y="1280160"/>
            <a:ext cx="5422392" cy="292608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9"/>
          <p:cNvSpPr/>
          <p:nvPr/>
        </p:nvSpPr>
        <p:spPr>
          <a:xfrm>
            <a:off x="6409944" y="1335024"/>
            <a:ext cx="5312664" cy="2816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775704" y="1655064"/>
            <a:ext cx="4581144" cy="128016"/>
          </a:xfrm>
          <a:prstGeom prst="rect">
            <a:avLst/>
          </a:prstGeom>
          <a:noFill/>
        </p:spPr>
        <p:txBody>
          <a:bodyPr wrap="square" lIns="0" rIns="0" tIns="0" bIns="0" anchor="ctr">
            <a:spAutoFit/>
          </a:bodyPr>
          <a:lstStyle/>
          <a:p>
            <a:r>
              <a:rPr sz="650" b="1" i="0" spc="150">
                <a:solidFill>
                  <a:srgbClr val="000000"/>
                </a:solidFill>
                <a:latin typeface="Trenda IG Text"/>
              </a:rPr>
              <a:t>BUILD COST · MONTHS 1 TO 18</a:t>
            </a:r>
          </a:p>
        </p:txBody>
      </p:sp>
      <p:sp>
        <p:nvSpPr>
          <p:cNvPr id="61" name="Text 61"/>
          <p:cNvSpPr txBox="1"/>
          <p:nvPr/>
        </p:nvSpPr>
        <p:spPr>
          <a:xfrm>
            <a:off x="6775704" y="1975104"/>
            <a:ext cx="4581144" cy="1188720"/>
          </a:xfrm>
          <a:prstGeom prst="rect">
            <a:avLst/>
          </a:prstGeom>
          <a:noFill/>
        </p:spPr>
        <p:txBody>
          <a:bodyPr wrap="square" lIns="0" rIns="0" tIns="0" bIns="0" anchor="ctr">
            <a:spAutoFit/>
          </a:bodyPr>
          <a:lstStyle/>
          <a:p>
            <a:r>
              <a:rPr sz="8000" b="1" i="0">
                <a:solidFill>
                  <a:srgbClr val="000000"/>
                </a:solidFill>
                <a:latin typeface="Trenda IG Text"/>
              </a:rPr>
              <a:t>$4.79M</a:t>
            </a:r>
          </a:p>
        </p:txBody>
      </p:sp>
      <p:sp>
        <p:nvSpPr>
          <p:cNvPr id="62" name="Text 62"/>
          <p:cNvSpPr txBox="1"/>
          <p:nvPr/>
        </p:nvSpPr>
        <p:spPr>
          <a:xfrm>
            <a:off x="6775704" y="3255264"/>
            <a:ext cx="4581144" cy="731520"/>
          </a:xfrm>
          <a:prstGeom prst="rect">
            <a:avLst/>
          </a:prstGeom>
          <a:noFill/>
        </p:spPr>
        <p:txBody>
          <a:bodyPr wrap="square" lIns="0" rIns="0" tIns="0" bIns="0" anchor="t">
            <a:spAutoFit/>
          </a:bodyPr>
          <a:lstStyle/>
          <a:p>
            <a:pPr>
              <a:spcAft>
                <a:spcPts val="300"/>
              </a:spcAft>
            </a:pPr>
            <a:r>
              <a:rPr sz="1100" b="1" i="0">
                <a:solidFill>
                  <a:srgbClr val="000000"/>
                </a:solidFill>
                <a:latin typeface="Trenda IG Text"/>
              </a:rPr>
              <a:t>Fixed fee for the whole build.</a:t>
            </a:r>
          </a:p>
          <a:p>
            <a:pPr>
              <a:spcAft>
                <a:spcPts val="300"/>
              </a:spcAft>
            </a:pPr>
            <a:r>
              <a:rPr sz="1100" b="0" i="0">
                <a:solidFill>
                  <a:srgbClr val="595959"/>
                </a:solidFill>
                <a:latin typeface="Trenda IG Text"/>
              </a:rPr>
              <a:t>Invoiced only when each phase exit is signed: Ascension pays for outcomes it has accepted.</a:t>
            </a:r>
          </a:p>
        </p:txBody>
      </p:sp>
      <p:sp>
        <p:nvSpPr>
          <p:cNvPr id="63" name="Shape 63"/>
          <p:cNvSpPr/>
          <p:nvPr/>
        </p:nvSpPr>
        <p:spPr>
          <a:xfrm>
            <a:off x="6355080"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583680"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17</a:t>
            </a:r>
          </a:p>
        </p:txBody>
      </p:sp>
      <p:sp>
        <p:nvSpPr>
          <p:cNvPr id="65" name="Text 65"/>
          <p:cNvSpPr txBox="1"/>
          <p:nvPr/>
        </p:nvSpPr>
        <p:spPr>
          <a:xfrm>
            <a:off x="6583680" y="5120640"/>
            <a:ext cx="1197864" cy="274320"/>
          </a:xfrm>
          <a:prstGeom prst="rect">
            <a:avLst/>
          </a:prstGeom>
          <a:noFill/>
        </p:spPr>
        <p:txBody>
          <a:bodyPr wrap="square" lIns="0" rIns="0" tIns="0" bIns="0" anchor="t">
            <a:spAutoFit/>
          </a:bodyPr>
          <a:lstStyle/>
          <a:p>
            <a:r>
              <a:rPr sz="900" b="0" i="0">
                <a:solidFill>
                  <a:srgbClr val="595959"/>
                </a:solidFill>
                <a:latin typeface="Trenda IG Text"/>
              </a:rPr>
              <a:t>people at peak</a:t>
            </a:r>
          </a:p>
        </p:txBody>
      </p:sp>
      <p:sp>
        <p:nvSpPr>
          <p:cNvPr id="66" name="Shape 66"/>
          <p:cNvSpPr/>
          <p:nvPr/>
        </p:nvSpPr>
        <p:spPr>
          <a:xfrm>
            <a:off x="8238744"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7"/>
          <p:cNvSpPr txBox="1"/>
          <p:nvPr/>
        </p:nvSpPr>
        <p:spPr>
          <a:xfrm>
            <a:off x="8467344"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18</a:t>
            </a:r>
          </a:p>
        </p:txBody>
      </p:sp>
      <p:sp>
        <p:nvSpPr>
          <p:cNvPr id="68" name="Text 68"/>
          <p:cNvSpPr txBox="1"/>
          <p:nvPr/>
        </p:nvSpPr>
        <p:spPr>
          <a:xfrm>
            <a:off x="8467344" y="5120640"/>
            <a:ext cx="1197864" cy="274320"/>
          </a:xfrm>
          <a:prstGeom prst="rect">
            <a:avLst/>
          </a:prstGeom>
          <a:noFill/>
        </p:spPr>
        <p:txBody>
          <a:bodyPr wrap="square" lIns="0" rIns="0" tIns="0" bIns="0" anchor="t">
            <a:spAutoFit/>
          </a:bodyPr>
          <a:lstStyle/>
          <a:p>
            <a:r>
              <a:rPr sz="900" b="0" i="0">
                <a:solidFill>
                  <a:srgbClr val="595959"/>
                </a:solidFill>
                <a:latin typeface="Trenda IG Text"/>
              </a:rPr>
              <a:t>months, seven phases</a:t>
            </a:r>
          </a:p>
        </p:txBody>
      </p:sp>
      <p:sp>
        <p:nvSpPr>
          <p:cNvPr id="69" name="Shape 69"/>
          <p:cNvSpPr/>
          <p:nvPr/>
        </p:nvSpPr>
        <p:spPr>
          <a:xfrm>
            <a:off x="10122408"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10351008"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100%</a:t>
            </a:r>
          </a:p>
        </p:txBody>
      </p:sp>
      <p:sp>
        <p:nvSpPr>
          <p:cNvPr id="71" name="Text 71"/>
          <p:cNvSpPr txBox="1"/>
          <p:nvPr/>
        </p:nvSpPr>
        <p:spPr>
          <a:xfrm>
            <a:off x="10351008" y="5120640"/>
            <a:ext cx="1197864" cy="274320"/>
          </a:xfrm>
          <a:prstGeom prst="rect">
            <a:avLst/>
          </a:prstGeom>
          <a:noFill/>
        </p:spPr>
        <p:txBody>
          <a:bodyPr wrap="square" lIns="0" rIns="0" tIns="0" bIns="0" anchor="t">
            <a:spAutoFit/>
          </a:bodyPr>
          <a:lstStyle/>
          <a:p>
            <a:r>
              <a:rPr sz="900" b="0" i="0">
                <a:solidFill>
                  <a:srgbClr val="595959"/>
                </a:solidFill>
                <a:latin typeface="Trenda IG Text"/>
              </a:rPr>
              <a:t>offshore delivery</a:t>
            </a:r>
          </a:p>
        </p:txBody>
      </p:sp>
      <p:sp>
        <p:nvSpPr>
          <p:cNvPr id="72" name="Text 72"/>
          <p:cNvSpPr txBox="1"/>
          <p:nvPr/>
        </p:nvSpPr>
        <p:spPr>
          <a:xfrm>
            <a:off x="6355080" y="5760720"/>
            <a:ext cx="5422392" cy="274320"/>
          </a:xfrm>
          <a:prstGeom prst="rect">
            <a:avLst/>
          </a:prstGeom>
          <a:noFill/>
        </p:spPr>
        <p:txBody>
          <a:bodyPr wrap="square" lIns="0" rIns="0" tIns="0" bIns="0" anchor="t">
            <a:spAutoFit/>
          </a:bodyPr>
          <a:lstStyle/>
          <a:p>
            <a:r>
              <a:rPr sz="650" b="0" i="0">
                <a:solidFill>
                  <a:srgbClr val="595959"/>
                </a:solidFill>
                <a:latin typeface="Trenda IG Text"/>
              </a:rPr>
              <a:t>Rates assumed for sizing; replace with the Insight Global rate card before sharing.</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