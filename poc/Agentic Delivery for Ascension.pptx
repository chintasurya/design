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323" r:id="rId15"/>
    <p:sldId id="324" r:id="rId16"/>
    <p:sldId id="325" r:id="rId17"/>
    <p:sldId id="326" r:id="rId18"/>
    <p:sldId id="327" r:id="rId19"/>
    <p:sldId id="328" r:id="rId20"/>
    <p:sldId id="329" r:id="rId21"/>
    <p:sldId id="321" r:id="rId6"/>
    <p:sldId id="330" r:id="rId22"/>
    <p:sldId id="322" r:id="rId7"/>
    <p:sldId id="331" r:id="rId23"/>
    <p:sldId id="332" r:id="rId24"/>
    <p:sldId id="333" r:id="rId25"/>
    <p:sldId id="334" r:id="rId26"/>
    <p:sldId id="335" r:id="rId27"/>
    <p:sldId id="336" r:id="rId28"/>
    <p:sldId id="337" r:id="rId29"/>
    <p:sldId id="338" r:id="rId30"/>
    <p:sldId id="339" r:id="rId31"/>
    <p:sldId id="340"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EB7F3D-AF48-40FC-A8FB-ACACB1119627}" v="4" dt="2026-09-21T14:46:26.8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6/11/relationships/changesInfo" Target="changesInfos/changesInfo1.xml"/><Relationship Id="rId14" Type="http://schemas.microsoft.com/office/2015/10/relationships/revisionInfo" Target="revisionInfo.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 Chinta" userId="41ee6f01-053e-4268-a09b-364f54be2fbe" providerId="ADAL" clId="{E5143D04-8900-4457-BE49-945FECC57414}"/>
    <pc:docChg chg="custSel addSld modSld">
      <pc:chgData name="Surya Chinta" userId="41ee6f01-053e-4268-a09b-364f54be2fbe" providerId="ADAL" clId="{E5143D04-8900-4457-BE49-945FECC57414}" dt="2026-09-21T14:46:47.634" v="63" actId="20577"/>
      <pc:docMkLst>
        <pc:docMk/>
      </pc:docMkLst>
      <pc:sldChg chg="addSp modSp new mod">
        <pc:chgData name="Surya Chinta" userId="41ee6f01-053e-4268-a09b-364f54be2fbe" providerId="ADAL" clId="{E5143D04-8900-4457-BE49-945FECC57414}" dt="2026-09-21T14:46:47.634" v="63" actId="20577"/>
        <pc:sldMkLst>
          <pc:docMk/>
          <pc:sldMk cId="1586874623" sldId="259"/>
        </pc:sldMkLst>
        <pc:spChg chg="add mod">
          <ac:chgData name="Surya Chinta" userId="41ee6f01-053e-4268-a09b-364f54be2fbe" providerId="ADAL" clId="{E5143D04-8900-4457-BE49-945FECC57414}" dt="2026-09-21T14:46:47.634" v="63" actId="20577"/>
          <ac:spMkLst>
            <pc:docMk/>
            <pc:sldMk cId="1586874623" sldId="259"/>
            <ac:spMk id="2" creationId="{AF7C0828-14B9-ED98-E81B-846AB22DA4C6}"/>
          </ac:spMkLst>
        </pc:spChg>
      </pc:sldChg>
      <pc:sldChg chg="delSp modSp add mod">
        <pc:chgData name="Surya Chinta" userId="41ee6f01-053e-4268-a09b-364f54be2fbe" providerId="ADAL" clId="{E5143D04-8900-4457-BE49-945FECC57414}" dt="2026-09-21T14:45:39.583" v="10" actId="1076"/>
        <pc:sldMkLst>
          <pc:docMk/>
          <pc:sldMk cId="0" sldId="321"/>
        </pc:sldMkLst>
        <pc:spChg chg="mod">
          <ac:chgData name="Surya Chinta" userId="41ee6f01-053e-4268-a09b-364f54be2fbe" providerId="ADAL" clId="{E5143D04-8900-4457-BE49-945FECC57414}" dt="2026-09-21T14:45:33.314" v="9" actId="1076"/>
          <ac:spMkLst>
            <pc:docMk/>
            <pc:sldMk cId="0" sldId="321"/>
            <ac:spMk id="3" creationId="{00000000-0000-0000-0000-000000000000}"/>
          </ac:spMkLst>
        </pc:spChg>
        <pc:spChg chg="del mod">
          <ac:chgData name="Surya Chinta" userId="41ee6f01-053e-4268-a09b-364f54be2fbe" providerId="ADAL" clId="{E5143D04-8900-4457-BE49-945FECC57414}" dt="2026-09-21T14:45:10.536" v="3" actId="478"/>
          <ac:spMkLst>
            <pc:docMk/>
            <pc:sldMk cId="0" sldId="321"/>
            <ac:spMk id="4" creationId="{00000000-0000-0000-0000-000000000000}"/>
          </ac:spMkLst>
        </pc:spChg>
        <pc:spChg chg="mod">
          <ac:chgData name="Surya Chinta" userId="41ee6f01-053e-4268-a09b-364f54be2fbe" providerId="ADAL" clId="{E5143D04-8900-4457-BE49-945FECC57414}" dt="2026-09-21T14:45:39.583" v="10" actId="1076"/>
          <ac:spMkLst>
            <pc:docMk/>
            <pc:sldMk cId="0" sldId="321"/>
            <ac:spMk id="5" creationId="{00000000-0000-0000-0000-000000000000}"/>
          </ac:spMkLst>
        </pc:spChg>
      </pc:sldChg>
      <pc:sldChg chg="add setBg">
        <pc:chgData name="Surya Chinta" userId="41ee6f01-053e-4268-a09b-364f54be2fbe" providerId="ADAL" clId="{E5143D04-8900-4457-BE49-945FECC57414}" dt="2026-09-21T14:46:07.096" v="11"/>
        <pc:sldMkLst>
          <pc:docMk/>
          <pc:sldMk cId="0" sldId="32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99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End-to-end architecture with explicit connectivity. Six systems of record are read by dedicated read-only connectors (each with its own auth: OAuth 2.0 3LO, PAT, Connected App JWT bearer, SSH deploy key, client credentials, API token). Each connector emits a SourceArtifact of bytes plus metadata and a SHA-256 hash. Per-source ingestors parse those artifacts into the NetworkServicesContext domain model. That model is persisted as vendor-neutral JSON, then exported into typed nodes and relationships. The graph engine loads it in memory; the adapter API exposes typed queries; Codex reasons over bounded graph slices and returns an ImpactAnalysis and ChangePlan. Delivery stays governed: risk-routed human approval, CAB, and production owned by people.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Open with the outcome, not the technology. Today a pod of four to fourteen people carries a request from business conversation to production. This proposal shows how a PM and a Tech Lead, working with a team of AI agents and one shared knowledge graph of the Ascension org, can carry the same request, with a person approving every decision. We are asking for a four-month pilot on one pod before any wider change.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Two tiles, each with four to five pods. Two examples show the range: the Network Services pod is four people at about $117K, and the VBC pod is fourteen people at roughly $2.47M. Knowledge of what already exists lives in people, so the same capability gets built twice. A concrete example: Healthcare Facility Network records are created by Apex in some scenarios and by Flow in others.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not a greenfield idea. Agents are already in use across UI, backend and QA at Ascension. Health Cloud implementation went from one to two weeks to two to four days. Marketing Cloud recorded about 80 percent lower completion time. QA agents prepare 75 to 85 percent of initial test cases, which people then review. The point of this proposal is to join these agents into one governed flow.</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Slow down here. Coding agents are good at writing code; what they cannot do is see the org. Both examples are real and measured in the Ascension sandbox. Healthcare Facility has 135 fields and 17 pieces of automation; a request to create a field that already exists would be built again. HFN creation is split between Apex and Flow, so a change to one path silently diverges from the other.</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Three pieces. Codex is the single place a PM or Tech Lead types a request. Behind it, an orchestrator hands work to specialist agents, most of which Ascension already has. Every agent checks the Ascension Knowledge Graph before acting. The graph is read-only towards source systems; agents change things only through Jira, Confluence, Git pull requests and Copado, and only after approval. Agents reach the graph and the systems through MCP, the open tool standard Codex supports, so the model can change without rebuilding anything.</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Walk this left to right. The request starts in Codex. Before anything is written, the graph says whether it already exists, can be reused, or what it will affect; the PM and Tech Lead approve the scope. Only then is a Jira ticket raised, in the current sprint or the next one if the current sprint is closed. The architect agent chooses Flow, trigger or LWC from graph facts and publishes the design to Confluence; the Tech Lead approves it. Code is built and reviewed by agents, and the Tech Lead approves the pull request. Tests run automatically and Jira moves to QA. Copado deploys to QA and UAT; production still goes through Ascension's existing CAB.</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Six of these twelve exist today in the Ascension UI, backend and QA agent sets. Three are extensions: the Jira and Confluence agents read today and need to write; the Impact and Reuse agent is the knowledge-graph work, about 30 percent built and running in a sandbox. Three are new: Requirements, Deployment through Copado, and Support and RCA, because pods spend real time on production issues and the headcount case does not hold without it.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commercial point. The delivery graph is the engineering delivery pack of the Universal Gap Framework, the same core that runs the Clinical Network graph shown next. In both, a gap is a missing path between demand and supply. The core, meaning storage, the graph runtime and the gap engines, is built once; each new use declares its nouns, identity spine, rules and connectors.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answers the question developers ask every day: should this be a Flow or a trigger? The Architect agent asks the graph what already runs on the object and whether the capability already exists, then applies agreed rules. In the example, Account already has an entry trigger and record-triggered flows, and Healthcare Facility Network creation already exists in two places. The right answer is to extend what exists, not add a third path. The rules are a draft; Ascension's standards set the final list.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For a healthcare client this is the slide that matters most. Four human gates: scope, design, code and production, with production inside Ascension's existing CAB. Every ticket carries the full chain of evidence. Four principles from the framework's security design: three AI identities, none holding a production credential; review routed by risk; metadata, never patient records; and the graph answers first, so a model is only called when something genuinely new is needed.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tiles stay; the business structure Ascension knows does not change. Inside each tile, four to five pods become two agentic pods, each a PM and a Tech Lead with the agent team doing the build, test and documentation work. The Engineering Director oversees both tiles. Two things are shared and easy to forget: a small Agent Platform team that keeps the graph and agents healthy, and QA and release support pods can call on. This is the end state, reached in phases.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PM owns conversations, priorities, requirements and UAT sign-off, with the Requirements and Jira agents doing the writing. The Tech Lead approves the design, the code and, with the PM, the scope. The agent team drafts, builds, tests, documents and deploys to lower environments, and never approves its own work. The Agent Platform team is shared across both tiles and sized during the pilot.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VBC is the worked example: fourteen people, about $2.47M, roughly $176K per person. Phase one changes nothing on cost; we measure how much more the same team delivers. Phase two merges pods within each tile; seven to eight people for the same workload saves about $1.1M to $1.2M a year. Phase three, a PM and Tech Lead with agents; three to four people saves about $1.8M to $1.9M. These are gross: model usage, Google Cloud and the platform team come off the top, sized in the pilot.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Be direct. Most of the technology is already in use at Ascension or standard integration work. The knowledge graph is the newest piece and already runs for one pod in a sandbox. Two items are medium: the design agent is only as good as the standards it is given, and the graph must be kept current. The one conditional item is the end-state pod size, which depends on separation of duties, support cover and review capacity. The pilot is designed to answer those.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top row is about people and process. Separation of duties: in healthcare change control, the person who builds a change usually cannot be its only approver, so Tech Leads review across pods and production stays with CAB. Review depth follows risk. Two-person pods are paired. Production support has its own agent and a shared rota. The bottom row is technology, and each has a built-in control.</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About 30 percent of the foundation already exists. Months one and two move the graph to Google Cloud for the whole org and connect it to Codex. Months three and four run the full loop on ten to fifteen real Network Services tickets, measured against today. Only with those results do we merge pods in the first tile, then the second. The timeline is a proposal and depends on access being granted promptly.</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pilot produces the numbers the business case needs, measured on real tickets. The last six months of Network Services tickets are the baseline for request-to-QA time, people hours, defects reaching UAT and total cost per ticket. We also count requests the graph answered as already existing or reusable, which is work avoided entirely. The go / no-go criteria are proposals to agree at kickoff.</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Close on a small, reversible decision. We are not asking Ascension to restructure tiles today. We are asking for four months on one pod, with six things. At month four the results decide the next step: move to the first tile, adjust, or stop.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12464" y="109728"/>
            <a:ext cx="4764024" cy="566928"/>
          </a:xfrm>
          <a:prstGeom prst="roundRect">
            <a:avLst>
              <a:gd name="adj" fmla="val 9677"/>
            </a:avLst>
          </a:prstGeom>
          <a:solidFill>
            <a:srgbClr val="0E1B2E"/>
          </a:solidFill>
          <a:ln w="12700">
            <a:solidFill>
              <a:srgbClr val="0E1B2E"/>
            </a:solidFill>
            <a:prstDash val="solid"/>
          </a:ln>
        </p:spPr>
        <p:txBody>
          <a:bodyPr/>
          <a:lstStyle/>
          <a:p>
            <a:endParaRPr lang="en-IN"/>
          </a:p>
        </p:txBody>
      </p:sp>
      <p:sp>
        <p:nvSpPr>
          <p:cNvPr id="3" name="Text 1"/>
          <p:cNvSpPr txBox="1"/>
          <p:nvPr/>
        </p:nvSpPr>
        <p:spPr>
          <a:xfrm>
            <a:off x="3734753" y="292608"/>
            <a:ext cx="4672584" cy="207638"/>
          </a:xfrm>
          <a:prstGeom prst="rect">
            <a:avLst/>
          </a:prstGeom>
          <a:noFill/>
          <a:ln/>
        </p:spPr>
        <p:txBody>
          <a:bodyPr wrap="square" lIns="0" tIns="0" rIns="0" bIns="0" rtlCol="0" anchor="ctr"/>
          <a:lstStyle/>
          <a:p>
            <a:pPr algn="ctr"/>
            <a:r>
              <a:rPr lang="en-US" sz="1200" dirty="0">
                <a:solidFill>
                  <a:srgbClr val="5FD0E8"/>
                </a:solidFill>
                <a:latin typeface="Trenda IG Display Bold" pitchFamily="34" charset="0"/>
                <a:ea typeface="Trenda IG Display Bold" pitchFamily="34" charset="-122"/>
                <a:cs typeface="Trenda IG Display Bold" pitchFamily="34" charset="-120"/>
              </a:rPr>
              <a:t>Engineering Context Knowledge Graph Architecture</a:t>
            </a:r>
            <a:endParaRPr lang="en-US" sz="1200" dirty="0"/>
          </a:p>
          <a:p>
            <a:pPr marL="0" indent="0" algn="ctr">
              <a:buNone/>
            </a:pPr>
            <a:endParaRPr lang="en-US" sz="1150" dirty="0"/>
          </a:p>
        </p:txBody>
      </p:sp>
      <p:sp>
        <p:nvSpPr>
          <p:cNvPr id="5" name="Text 3"/>
          <p:cNvSpPr txBox="1"/>
          <p:nvPr/>
        </p:nvSpPr>
        <p:spPr>
          <a:xfrm>
            <a:off x="3758184" y="429768"/>
            <a:ext cx="4672584" cy="146304"/>
          </a:xfrm>
          <a:prstGeom prst="rect">
            <a:avLst/>
          </a:prstGeom>
          <a:noFill/>
          <a:ln/>
        </p:spPr>
        <p:txBody>
          <a:bodyPr wrap="square" lIns="0" tIns="0" rIns="0" bIns="0" rtlCol="0" anchor="ctr"/>
          <a:lstStyle/>
          <a:p>
            <a:pPr marL="0" indent="0" algn="ctr">
              <a:lnSpc>
                <a:spcPct val="95000"/>
              </a:lnSpc>
              <a:buNone/>
            </a:pPr>
            <a:r>
              <a:rPr lang="en-US" sz="600" dirty="0">
                <a:solidFill>
                  <a:srgbClr val="AEBED0"/>
                </a:solidFill>
                <a:latin typeface="Trenda IG Text" pitchFamily="34" charset="0"/>
                <a:ea typeface="Trenda IG Text" pitchFamily="34" charset="-122"/>
                <a:cs typeface="Trenda IG Text" pitchFamily="34" charset="-120"/>
              </a:rPr>
              <a:t>systems → connectors → ingestors → domain model → JSON storage → graph export → engine → Codex</a:t>
            </a:r>
            <a:endParaRPr lang="en-US" sz="600" dirty="0"/>
          </a:p>
        </p:txBody>
      </p:sp>
      <p:sp>
        <p:nvSpPr>
          <p:cNvPr id="6" name="Shape 4"/>
          <p:cNvSpPr/>
          <p:nvPr/>
        </p:nvSpPr>
        <p:spPr>
          <a:xfrm>
            <a:off x="164592" y="109728"/>
            <a:ext cx="3438144" cy="566928"/>
          </a:xfrm>
          <a:prstGeom prst="roundRect">
            <a:avLst>
              <a:gd name="adj" fmla="val 8065"/>
            </a:avLst>
          </a:prstGeom>
          <a:solidFill>
            <a:srgbClr val="FFFFFF"/>
          </a:solidFill>
          <a:ln w="12700">
            <a:solidFill>
              <a:srgbClr val="DCE4EE"/>
            </a:solidFill>
            <a:prstDash val="solid"/>
          </a:ln>
        </p:spPr>
        <p:txBody>
          <a:bodyPr/>
          <a:lstStyle/>
          <a:p>
            <a:endParaRPr lang="en-IN"/>
          </a:p>
        </p:txBody>
      </p:sp>
      <p:sp>
        <p:nvSpPr>
          <p:cNvPr id="7" name="Text 5"/>
          <p:cNvSpPr txBox="1"/>
          <p:nvPr/>
        </p:nvSpPr>
        <p:spPr>
          <a:xfrm>
            <a:off x="274320" y="146304"/>
            <a:ext cx="3218688" cy="137160"/>
          </a:xfrm>
          <a:prstGeom prst="rect">
            <a:avLst/>
          </a:prstGeom>
          <a:noFill/>
          <a:ln/>
        </p:spPr>
        <p:txBody>
          <a:bodyPr wrap="square" lIns="0" tIns="0" rIns="0" bIns="0" rtlCol="0" anchor="ctr"/>
          <a:lstStyle/>
          <a:p>
            <a:pPr marL="0" indent="0">
              <a:buNone/>
            </a:pPr>
            <a:r>
              <a:rPr lang="en-US" sz="740" b="0" kern="0" spc="30" dirty="0">
                <a:solidFill>
                  <a:srgbClr val="1B6BC0"/>
                </a:solidFill>
                <a:latin typeface="Trenda IG Text Semibold" pitchFamily="34" charset="0"/>
                <a:ea typeface="Trenda IG Text Semibold" pitchFamily="34" charset="-122"/>
                <a:cs typeface="Trenda IG Text Semibold" pitchFamily="34" charset="-120"/>
              </a:rPr>
              <a:t>SIX AUTHORITATIVE SYSTEMS OF RECORD</a:t>
            </a:r>
            <a:endParaRPr lang="en-US" sz="740" dirty="0"/>
          </a:p>
        </p:txBody>
      </p:sp>
      <p:pic>
        <p:nvPicPr>
          <p:cNvPr id="8" name="Image 0" descr="preencoded.png"/>
          <p:cNvPicPr>
            <a:picLocks noChangeAspect="1"/>
          </p:cNvPicPr>
          <p:nvPr/>
        </p:nvPicPr>
        <p:blipFill>
          <a:blip r:embed="rId3"/>
          <a:stretch>
            <a:fillRect/>
          </a:stretch>
        </p:blipFill>
        <p:spPr>
          <a:xfrm>
            <a:off x="347472" y="292608"/>
            <a:ext cx="137160" cy="137160"/>
          </a:xfrm>
          <a:prstGeom prst="rect">
            <a:avLst/>
          </a:prstGeom>
        </p:spPr>
      </p:pic>
      <p:sp>
        <p:nvSpPr>
          <p:cNvPr id="9" name="Text 6"/>
          <p:cNvSpPr txBox="1"/>
          <p:nvPr/>
        </p:nvSpPr>
        <p:spPr>
          <a:xfrm>
            <a:off x="201168"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Jira</a:t>
            </a:r>
            <a:endParaRPr lang="en-US" sz="580" dirty="0"/>
          </a:p>
        </p:txBody>
      </p:sp>
      <p:pic>
        <p:nvPicPr>
          <p:cNvPr id="10" name="Image 1" descr="preencoded.png"/>
          <p:cNvPicPr>
            <a:picLocks noChangeAspect="1"/>
          </p:cNvPicPr>
          <p:nvPr/>
        </p:nvPicPr>
        <p:blipFill>
          <a:blip r:embed="rId4"/>
          <a:stretch>
            <a:fillRect/>
          </a:stretch>
        </p:blipFill>
        <p:spPr>
          <a:xfrm>
            <a:off x="877824" y="292608"/>
            <a:ext cx="137160" cy="137160"/>
          </a:xfrm>
          <a:prstGeom prst="rect">
            <a:avLst/>
          </a:prstGeom>
        </p:spPr>
      </p:pic>
      <p:sp>
        <p:nvSpPr>
          <p:cNvPr id="11" name="Text 7"/>
          <p:cNvSpPr txBox="1"/>
          <p:nvPr/>
        </p:nvSpPr>
        <p:spPr>
          <a:xfrm>
            <a:off x="731520"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Confluence</a:t>
            </a:r>
            <a:endParaRPr lang="en-US" sz="580" dirty="0"/>
          </a:p>
        </p:txBody>
      </p:sp>
      <p:pic>
        <p:nvPicPr>
          <p:cNvPr id="12" name="Image 2" descr="preencoded.png"/>
          <p:cNvPicPr>
            <a:picLocks noChangeAspect="1"/>
          </p:cNvPicPr>
          <p:nvPr/>
        </p:nvPicPr>
        <p:blipFill>
          <a:blip r:embed="rId5"/>
          <a:stretch>
            <a:fillRect/>
          </a:stretch>
        </p:blipFill>
        <p:spPr>
          <a:xfrm>
            <a:off x="1408176" y="292608"/>
            <a:ext cx="137160" cy="137160"/>
          </a:xfrm>
          <a:prstGeom prst="rect">
            <a:avLst/>
          </a:prstGeom>
        </p:spPr>
      </p:pic>
      <p:sp>
        <p:nvSpPr>
          <p:cNvPr id="13" name="Text 8"/>
          <p:cNvSpPr txBox="1"/>
          <p:nvPr/>
        </p:nvSpPr>
        <p:spPr>
          <a:xfrm>
            <a:off x="1261872"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Salesforce</a:t>
            </a:r>
            <a:endParaRPr lang="en-US" sz="580" dirty="0"/>
          </a:p>
        </p:txBody>
      </p:sp>
      <p:pic>
        <p:nvPicPr>
          <p:cNvPr id="14" name="Image 3" descr="preencoded.png"/>
          <p:cNvPicPr>
            <a:picLocks noChangeAspect="1"/>
          </p:cNvPicPr>
          <p:nvPr/>
        </p:nvPicPr>
        <p:blipFill>
          <a:blip r:embed="rId6"/>
          <a:stretch>
            <a:fillRect/>
          </a:stretch>
        </p:blipFill>
        <p:spPr>
          <a:xfrm>
            <a:off x="1938528" y="292608"/>
            <a:ext cx="137160" cy="137160"/>
          </a:xfrm>
          <a:prstGeom prst="rect">
            <a:avLst/>
          </a:prstGeom>
        </p:spPr>
      </p:pic>
      <p:sp>
        <p:nvSpPr>
          <p:cNvPr id="15" name="Text 9"/>
          <p:cNvSpPr txBox="1"/>
          <p:nvPr/>
        </p:nvSpPr>
        <p:spPr>
          <a:xfrm>
            <a:off x="1792224"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Git</a:t>
            </a:r>
            <a:endParaRPr lang="en-US" sz="580" dirty="0"/>
          </a:p>
        </p:txBody>
      </p:sp>
      <p:pic>
        <p:nvPicPr>
          <p:cNvPr id="16" name="Image 4" descr="preencoded.png"/>
          <p:cNvPicPr>
            <a:picLocks noChangeAspect="1"/>
          </p:cNvPicPr>
          <p:nvPr/>
        </p:nvPicPr>
        <p:blipFill>
          <a:blip r:embed="rId7"/>
          <a:stretch>
            <a:fillRect/>
          </a:stretch>
        </p:blipFill>
        <p:spPr>
          <a:xfrm>
            <a:off x="2468880" y="292608"/>
            <a:ext cx="137160" cy="137160"/>
          </a:xfrm>
          <a:prstGeom prst="rect">
            <a:avLst/>
          </a:prstGeom>
        </p:spPr>
      </p:pic>
      <p:sp>
        <p:nvSpPr>
          <p:cNvPr id="17" name="Text 10"/>
          <p:cNvSpPr txBox="1"/>
          <p:nvPr/>
        </p:nvSpPr>
        <p:spPr>
          <a:xfrm>
            <a:off x="2322576"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Copado</a:t>
            </a:r>
            <a:endParaRPr lang="en-US" sz="580" dirty="0"/>
          </a:p>
        </p:txBody>
      </p:sp>
      <p:pic>
        <p:nvPicPr>
          <p:cNvPr id="18" name="Image 5" descr="preencoded.png"/>
          <p:cNvPicPr>
            <a:picLocks noChangeAspect="1"/>
          </p:cNvPicPr>
          <p:nvPr/>
        </p:nvPicPr>
        <p:blipFill>
          <a:blip r:embed="rId8"/>
          <a:stretch>
            <a:fillRect/>
          </a:stretch>
        </p:blipFill>
        <p:spPr>
          <a:xfrm>
            <a:off x="2999232" y="292608"/>
            <a:ext cx="137160" cy="137160"/>
          </a:xfrm>
          <a:prstGeom prst="rect">
            <a:avLst/>
          </a:prstGeom>
        </p:spPr>
      </p:pic>
      <p:sp>
        <p:nvSpPr>
          <p:cNvPr id="19" name="Text 11"/>
          <p:cNvSpPr txBox="1"/>
          <p:nvPr/>
        </p:nvSpPr>
        <p:spPr>
          <a:xfrm>
            <a:off x="2852928"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Drive</a:t>
            </a:r>
            <a:endParaRPr lang="en-US" sz="580" dirty="0"/>
          </a:p>
        </p:txBody>
      </p:sp>
      <p:sp>
        <p:nvSpPr>
          <p:cNvPr id="20" name="Text 12"/>
          <p:cNvSpPr txBox="1"/>
          <p:nvPr/>
        </p:nvSpPr>
        <p:spPr>
          <a:xfrm>
            <a:off x="274320" y="553212"/>
            <a:ext cx="3218688" cy="118872"/>
          </a:xfrm>
          <a:prstGeom prst="rect">
            <a:avLst/>
          </a:prstGeom>
          <a:noFill/>
          <a:ln/>
        </p:spPr>
        <p:txBody>
          <a:bodyPr wrap="square" lIns="0" tIns="0" rIns="0" bIns="0" rtlCol="0" anchor="ctr"/>
          <a:lstStyle/>
          <a:p>
            <a:pPr marL="0" indent="0">
              <a:buNone/>
            </a:pPr>
            <a:r>
              <a:rPr lang="en-US" sz="600" i="1" dirty="0">
                <a:solidFill>
                  <a:srgbClr val="5C6E85"/>
                </a:solidFill>
                <a:latin typeface="Trenda IG Text" pitchFamily="34" charset="0"/>
                <a:ea typeface="Trenda IG Text" pitchFamily="34" charset="-122"/>
                <a:cs typeface="Trenda IG Text" pitchFamily="34" charset="-120"/>
              </a:rPr>
              <a:t>read-only · hashed · provenance-tagged</a:t>
            </a:r>
            <a:endParaRPr lang="en-US" sz="600" dirty="0"/>
          </a:p>
        </p:txBody>
      </p:sp>
      <p:sp>
        <p:nvSpPr>
          <p:cNvPr id="21" name="Shape 13"/>
          <p:cNvSpPr/>
          <p:nvPr/>
        </p:nvSpPr>
        <p:spPr>
          <a:xfrm>
            <a:off x="8586216" y="109728"/>
            <a:ext cx="3438144" cy="566928"/>
          </a:xfrm>
          <a:prstGeom prst="roundRect">
            <a:avLst>
              <a:gd name="adj" fmla="val 8065"/>
            </a:avLst>
          </a:prstGeom>
          <a:solidFill>
            <a:srgbClr val="FFFFFF"/>
          </a:solidFill>
          <a:ln w="12700">
            <a:solidFill>
              <a:srgbClr val="DCE4EE"/>
            </a:solidFill>
            <a:prstDash val="solid"/>
          </a:ln>
        </p:spPr>
        <p:txBody>
          <a:bodyPr/>
          <a:lstStyle/>
          <a:p>
            <a:endParaRPr lang="en-IN"/>
          </a:p>
        </p:txBody>
      </p:sp>
      <p:sp>
        <p:nvSpPr>
          <p:cNvPr id="22" name="Text 14"/>
          <p:cNvSpPr txBox="1"/>
          <p:nvPr/>
        </p:nvSpPr>
        <p:spPr>
          <a:xfrm>
            <a:off x="8695944" y="146304"/>
            <a:ext cx="3218688" cy="137160"/>
          </a:xfrm>
          <a:prstGeom prst="rect">
            <a:avLst/>
          </a:prstGeom>
          <a:noFill/>
          <a:ln/>
        </p:spPr>
        <p:txBody>
          <a:bodyPr wrap="square" lIns="0" tIns="0" rIns="0" bIns="0" rtlCol="0" anchor="ctr"/>
          <a:lstStyle/>
          <a:p>
            <a:pPr marL="0" indent="0">
              <a:buNone/>
            </a:pPr>
            <a:r>
              <a:rPr lang="en-US" sz="740" b="0" kern="0" spc="30" dirty="0">
                <a:solidFill>
                  <a:srgbClr val="2E7D32"/>
                </a:solidFill>
                <a:latin typeface="Trenda IG Text Semibold" pitchFamily="34" charset="0"/>
                <a:ea typeface="Trenda IG Text Semibold" pitchFamily="34" charset="-122"/>
                <a:cs typeface="Trenda IG Text Semibold" pitchFamily="34" charset="-120"/>
              </a:rPr>
              <a:t>GOVERNED DELIVERY OUTCOMES</a:t>
            </a:r>
            <a:endParaRPr lang="en-US" sz="740" dirty="0"/>
          </a:p>
        </p:txBody>
      </p:sp>
      <p:sp>
        <p:nvSpPr>
          <p:cNvPr id="23" name="Text 15"/>
          <p:cNvSpPr txBox="1"/>
          <p:nvPr/>
        </p:nvSpPr>
        <p:spPr>
          <a:xfrm>
            <a:off x="8695944" y="292608"/>
            <a:ext cx="3218688" cy="256032"/>
          </a:xfrm>
          <a:prstGeom prst="rect">
            <a:avLst/>
          </a:prstGeom>
          <a:noFill/>
          <a:ln/>
        </p:spPr>
        <p:txBody>
          <a:bodyPr wrap="square" lIns="0" tIns="0" rIns="0" bIns="0" rtlCol="0" anchor="ctr"/>
          <a:lstStyle/>
          <a:p>
            <a:pPr marL="0" indent="0">
              <a:lnSpc>
                <a:spcPct val="95000"/>
              </a:lnSpc>
              <a:buNone/>
            </a:pPr>
            <a:r>
              <a:rPr lang="en-US" sz="680" dirty="0">
                <a:solidFill>
                  <a:srgbClr val="12233B"/>
                </a:solidFill>
                <a:latin typeface="Trenda IG Text" pitchFamily="34" charset="0"/>
                <a:ea typeface="Trenda IG Text" pitchFamily="34" charset="-122"/>
                <a:cs typeface="Trenda IG Text" pitchFamily="34" charset="-120"/>
              </a:rPr>
              <a:t>Impact analysis · reuse detection · risk-routed approval · generated change + tests · complete audit evidence</a:t>
            </a:r>
            <a:endParaRPr lang="en-US" sz="680" dirty="0"/>
          </a:p>
        </p:txBody>
      </p:sp>
      <p:sp>
        <p:nvSpPr>
          <p:cNvPr id="24" name="Text 16"/>
          <p:cNvSpPr txBox="1"/>
          <p:nvPr/>
        </p:nvSpPr>
        <p:spPr>
          <a:xfrm>
            <a:off x="8695944" y="553212"/>
            <a:ext cx="3218688" cy="118872"/>
          </a:xfrm>
          <a:prstGeom prst="rect">
            <a:avLst/>
          </a:prstGeom>
          <a:noFill/>
          <a:ln/>
        </p:spPr>
        <p:txBody>
          <a:bodyPr wrap="square" lIns="0" tIns="0" rIns="0" bIns="0" rtlCol="0" anchor="ctr"/>
          <a:lstStyle/>
          <a:p>
            <a:pPr marL="0" indent="0">
              <a:buNone/>
            </a:pPr>
            <a:r>
              <a:rPr lang="en-US" sz="600" i="1" dirty="0">
                <a:solidFill>
                  <a:srgbClr val="5C6E85"/>
                </a:solidFill>
                <a:latin typeface="Trenda IG Text" pitchFamily="34" charset="0"/>
                <a:ea typeface="Trenda IG Text" pitchFamily="34" charset="-122"/>
                <a:cs typeface="Trenda IG Text" pitchFamily="34" charset="-120"/>
              </a:rPr>
              <a:t>AI analyzes and builds · humans keep every decision</a:t>
            </a:r>
            <a:endParaRPr lang="en-US" sz="600" dirty="0"/>
          </a:p>
        </p:txBody>
      </p:sp>
      <p:sp>
        <p:nvSpPr>
          <p:cNvPr id="25" name="Shape 17"/>
          <p:cNvSpPr/>
          <p:nvPr/>
        </p:nvSpPr>
        <p:spPr>
          <a:xfrm>
            <a:off x="164592" y="722376"/>
            <a:ext cx="1386459" cy="5111496"/>
          </a:xfrm>
          <a:prstGeom prst="roundRect">
            <a:avLst>
              <a:gd name="adj" fmla="val 3298"/>
            </a:avLst>
          </a:prstGeom>
          <a:solidFill>
            <a:srgbClr val="EAF1FB"/>
          </a:solidFill>
          <a:ln w="9525">
            <a:solidFill>
              <a:srgbClr val="DCE4EE"/>
            </a:solidFill>
            <a:prstDash val="solid"/>
          </a:ln>
        </p:spPr>
        <p:txBody>
          <a:bodyPr/>
          <a:lstStyle/>
          <a:p>
            <a:endParaRPr lang="en-IN"/>
          </a:p>
        </p:txBody>
      </p:sp>
      <p:sp>
        <p:nvSpPr>
          <p:cNvPr id="26" name="Shape 18"/>
          <p:cNvSpPr/>
          <p:nvPr/>
        </p:nvSpPr>
        <p:spPr>
          <a:xfrm>
            <a:off x="164592" y="722376"/>
            <a:ext cx="1386459" cy="621792"/>
          </a:xfrm>
          <a:prstGeom prst="roundRect">
            <a:avLst>
              <a:gd name="adj" fmla="val 7353"/>
            </a:avLst>
          </a:prstGeom>
          <a:solidFill>
            <a:srgbClr val="1B6BC0"/>
          </a:solidFill>
          <a:ln w="12700">
            <a:solidFill>
              <a:srgbClr val="1B6BC0"/>
            </a:solidFill>
            <a:prstDash val="solid"/>
          </a:ln>
        </p:spPr>
        <p:txBody>
          <a:bodyPr/>
          <a:lstStyle/>
          <a:p>
            <a:endParaRPr lang="en-IN"/>
          </a:p>
        </p:txBody>
      </p:sp>
      <p:pic>
        <p:nvPicPr>
          <p:cNvPr id="27" name="Image 6" descr="preencoded.png"/>
          <p:cNvPicPr>
            <a:picLocks noChangeAspect="1"/>
          </p:cNvPicPr>
          <p:nvPr/>
        </p:nvPicPr>
        <p:blipFill>
          <a:blip r:embed="rId9"/>
          <a:stretch>
            <a:fillRect/>
          </a:stretch>
        </p:blipFill>
        <p:spPr>
          <a:xfrm>
            <a:off x="789242" y="754380"/>
            <a:ext cx="137160" cy="137160"/>
          </a:xfrm>
          <a:prstGeom prst="rect">
            <a:avLst/>
          </a:prstGeom>
        </p:spPr>
      </p:pic>
      <p:sp>
        <p:nvSpPr>
          <p:cNvPr id="28" name="Text 19"/>
          <p:cNvSpPr txBox="1"/>
          <p:nvPr/>
        </p:nvSpPr>
        <p:spPr>
          <a:xfrm>
            <a:off x="201168"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1</a:t>
            </a:r>
            <a:endParaRPr lang="en-US" sz="560" dirty="0"/>
          </a:p>
        </p:txBody>
      </p:sp>
      <p:sp>
        <p:nvSpPr>
          <p:cNvPr id="29" name="Text 20"/>
          <p:cNvSpPr txBox="1"/>
          <p:nvPr/>
        </p:nvSpPr>
        <p:spPr>
          <a:xfrm>
            <a:off x="192024"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Source Systems</a:t>
            </a:r>
            <a:endParaRPr lang="en-US" sz="800" dirty="0"/>
          </a:p>
        </p:txBody>
      </p:sp>
      <p:sp>
        <p:nvSpPr>
          <p:cNvPr id="30" name="Text 21"/>
          <p:cNvSpPr txBox="1"/>
          <p:nvPr/>
        </p:nvSpPr>
        <p:spPr>
          <a:xfrm>
            <a:off x="192024"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Authoritative systems of record</a:t>
            </a:r>
            <a:endParaRPr lang="en-US" sz="520" dirty="0"/>
          </a:p>
        </p:txBody>
      </p:sp>
      <p:sp>
        <p:nvSpPr>
          <p:cNvPr id="31" name="Shape 22"/>
          <p:cNvSpPr/>
          <p:nvPr/>
        </p:nvSpPr>
        <p:spPr>
          <a:xfrm>
            <a:off x="1558366"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32" name="Shape 23"/>
          <p:cNvSpPr/>
          <p:nvPr/>
        </p:nvSpPr>
        <p:spPr>
          <a:xfrm>
            <a:off x="210312" y="138988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33" name="Image 7" descr="preencoded.png"/>
          <p:cNvPicPr>
            <a:picLocks noChangeAspect="1"/>
          </p:cNvPicPr>
          <p:nvPr/>
        </p:nvPicPr>
        <p:blipFill>
          <a:blip r:embed="rId3"/>
          <a:stretch>
            <a:fillRect/>
          </a:stretch>
        </p:blipFill>
        <p:spPr>
          <a:xfrm>
            <a:off x="256032" y="1421892"/>
            <a:ext cx="96012" cy="96012"/>
          </a:xfrm>
          <a:prstGeom prst="rect">
            <a:avLst/>
          </a:prstGeom>
        </p:spPr>
      </p:pic>
      <p:sp>
        <p:nvSpPr>
          <p:cNvPr id="34" name="Text 24"/>
          <p:cNvSpPr txBox="1"/>
          <p:nvPr/>
        </p:nvSpPr>
        <p:spPr>
          <a:xfrm>
            <a:off x="379476" y="141549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Jira Cloud</a:t>
            </a:r>
            <a:endParaRPr lang="en-US" sz="620" dirty="0"/>
          </a:p>
        </p:txBody>
      </p:sp>
      <p:sp>
        <p:nvSpPr>
          <p:cNvPr id="35" name="Text 25"/>
          <p:cNvSpPr txBox="1"/>
          <p:nvPr/>
        </p:nvSpPr>
        <p:spPr>
          <a:xfrm>
            <a:off x="256032" y="154990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User stories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Acceptance criteria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Epics, components, labels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Kanban &amp; sprint history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Linked issues &amp; defects</a:t>
            </a:r>
            <a:endParaRPr lang="en-US" sz="550" dirty="0"/>
          </a:p>
        </p:txBody>
      </p:sp>
      <p:sp>
        <p:nvSpPr>
          <p:cNvPr id="36" name="Shape 26"/>
          <p:cNvSpPr/>
          <p:nvPr/>
        </p:nvSpPr>
        <p:spPr>
          <a:xfrm>
            <a:off x="210312" y="2059686"/>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37" name="Image 8" descr="preencoded.png"/>
          <p:cNvPicPr>
            <a:picLocks noChangeAspect="1"/>
          </p:cNvPicPr>
          <p:nvPr/>
        </p:nvPicPr>
        <p:blipFill>
          <a:blip r:embed="rId4"/>
          <a:stretch>
            <a:fillRect/>
          </a:stretch>
        </p:blipFill>
        <p:spPr>
          <a:xfrm>
            <a:off x="256032" y="2091690"/>
            <a:ext cx="96012" cy="96012"/>
          </a:xfrm>
          <a:prstGeom prst="rect">
            <a:avLst/>
          </a:prstGeom>
        </p:spPr>
      </p:pic>
      <p:sp>
        <p:nvSpPr>
          <p:cNvPr id="38" name="Text 27"/>
          <p:cNvSpPr txBox="1"/>
          <p:nvPr/>
        </p:nvSpPr>
        <p:spPr>
          <a:xfrm>
            <a:off x="379476" y="2085289"/>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Confluence</a:t>
            </a:r>
            <a:endParaRPr lang="en-US" sz="620" dirty="0"/>
          </a:p>
        </p:txBody>
      </p:sp>
      <p:sp>
        <p:nvSpPr>
          <p:cNvPr id="39" name="Text 28"/>
          <p:cNvSpPr txBox="1"/>
          <p:nvPr/>
        </p:nvSpPr>
        <p:spPr>
          <a:xfrm>
            <a:off x="256032" y="2219706"/>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Functional design pages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Technical design pages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Business-rule tables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Integration diagrams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HFN / HPF runbooks</a:t>
            </a:r>
            <a:endParaRPr lang="en-US" sz="550" dirty="0"/>
          </a:p>
        </p:txBody>
      </p:sp>
      <p:sp>
        <p:nvSpPr>
          <p:cNvPr id="40" name="Shape 29"/>
          <p:cNvSpPr/>
          <p:nvPr/>
        </p:nvSpPr>
        <p:spPr>
          <a:xfrm>
            <a:off x="210312" y="2729484"/>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41" name="Image 9" descr="preencoded.png"/>
          <p:cNvPicPr>
            <a:picLocks noChangeAspect="1"/>
          </p:cNvPicPr>
          <p:nvPr/>
        </p:nvPicPr>
        <p:blipFill>
          <a:blip r:embed="rId5"/>
          <a:stretch>
            <a:fillRect/>
          </a:stretch>
        </p:blipFill>
        <p:spPr>
          <a:xfrm>
            <a:off x="256032" y="2761488"/>
            <a:ext cx="96012" cy="96012"/>
          </a:xfrm>
          <a:prstGeom prst="rect">
            <a:avLst/>
          </a:prstGeom>
        </p:spPr>
      </p:pic>
      <p:sp>
        <p:nvSpPr>
          <p:cNvPr id="42" name="Text 30"/>
          <p:cNvSpPr txBox="1"/>
          <p:nvPr/>
        </p:nvSpPr>
        <p:spPr>
          <a:xfrm>
            <a:off x="379476" y="2755087"/>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Salesforce</a:t>
            </a:r>
            <a:endParaRPr lang="en-US" sz="620" dirty="0"/>
          </a:p>
        </p:txBody>
      </p:sp>
      <p:sp>
        <p:nvSpPr>
          <p:cNvPr id="43" name="Text 31"/>
          <p:cNvSpPr txBox="1"/>
          <p:nvPr/>
        </p:nvSpPr>
        <p:spPr>
          <a:xfrm>
            <a:off x="256032" y="2889504"/>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Health Cloud org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HCP / Account, Facility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HPF, HFN, CPA, Fee Sched.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Fields, record types, rels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Flows, Apex, LWC, perm sets</a:t>
            </a:r>
            <a:endParaRPr lang="en-US" sz="550" dirty="0"/>
          </a:p>
        </p:txBody>
      </p:sp>
      <p:sp>
        <p:nvSpPr>
          <p:cNvPr id="44" name="Shape 32"/>
          <p:cNvSpPr/>
          <p:nvPr/>
        </p:nvSpPr>
        <p:spPr>
          <a:xfrm>
            <a:off x="210312" y="3399282"/>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45" name="Image 10" descr="preencoded.png"/>
          <p:cNvPicPr>
            <a:picLocks noChangeAspect="1"/>
          </p:cNvPicPr>
          <p:nvPr/>
        </p:nvPicPr>
        <p:blipFill>
          <a:blip r:embed="rId6"/>
          <a:stretch>
            <a:fillRect/>
          </a:stretch>
        </p:blipFill>
        <p:spPr>
          <a:xfrm>
            <a:off x="256032" y="3431286"/>
            <a:ext cx="96012" cy="96012"/>
          </a:xfrm>
          <a:prstGeom prst="rect">
            <a:avLst/>
          </a:prstGeom>
        </p:spPr>
      </p:pic>
      <p:sp>
        <p:nvSpPr>
          <p:cNvPr id="46" name="Text 33"/>
          <p:cNvSpPr txBox="1"/>
          <p:nvPr/>
        </p:nvSpPr>
        <p:spPr>
          <a:xfrm>
            <a:off x="379476" y="3424885"/>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Git (SFDX repo)</a:t>
            </a:r>
            <a:endParaRPr lang="en-US" sz="620" dirty="0"/>
          </a:p>
        </p:txBody>
      </p:sp>
      <p:sp>
        <p:nvSpPr>
          <p:cNvPr id="47" name="Text 34"/>
          <p:cNvSpPr txBox="1"/>
          <p:nvPr/>
        </p:nvSpPr>
        <p:spPr>
          <a:xfrm>
            <a:off x="256032" y="3559302"/>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force-app source tree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 classes &amp; triggers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LWC bundles &amp; meta XML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 test classes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Commits, branches, tags</a:t>
            </a:r>
            <a:endParaRPr lang="en-US" sz="550" dirty="0"/>
          </a:p>
        </p:txBody>
      </p:sp>
      <p:sp>
        <p:nvSpPr>
          <p:cNvPr id="48" name="Shape 35"/>
          <p:cNvSpPr/>
          <p:nvPr/>
        </p:nvSpPr>
        <p:spPr>
          <a:xfrm>
            <a:off x="210312" y="4069080"/>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49" name="Image 11" descr="preencoded.png"/>
          <p:cNvPicPr>
            <a:picLocks noChangeAspect="1"/>
          </p:cNvPicPr>
          <p:nvPr/>
        </p:nvPicPr>
        <p:blipFill>
          <a:blip r:embed="rId7"/>
          <a:stretch>
            <a:fillRect/>
          </a:stretch>
        </p:blipFill>
        <p:spPr>
          <a:xfrm>
            <a:off x="256032" y="4101084"/>
            <a:ext cx="96012" cy="96012"/>
          </a:xfrm>
          <a:prstGeom prst="rect">
            <a:avLst/>
          </a:prstGeom>
        </p:spPr>
      </p:pic>
      <p:sp>
        <p:nvSpPr>
          <p:cNvPr id="50" name="Text 36"/>
          <p:cNvSpPr txBox="1"/>
          <p:nvPr/>
        </p:nvSpPr>
        <p:spPr>
          <a:xfrm>
            <a:off x="379476" y="4094683"/>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Copado</a:t>
            </a:r>
            <a:endParaRPr lang="en-US" sz="620" dirty="0"/>
          </a:p>
        </p:txBody>
      </p:sp>
      <p:sp>
        <p:nvSpPr>
          <p:cNvPr id="51" name="Text 37"/>
          <p:cNvSpPr txBox="1"/>
          <p:nvPr/>
        </p:nvSpPr>
        <p:spPr>
          <a:xfrm>
            <a:off x="256032" y="4229100"/>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User stories &amp; promotions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Deployment records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Robotic testing suites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Regression test runs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DEV → SIT → UAT → PROD</a:t>
            </a:r>
            <a:endParaRPr lang="en-US" sz="550" dirty="0"/>
          </a:p>
        </p:txBody>
      </p:sp>
      <p:sp>
        <p:nvSpPr>
          <p:cNvPr id="52" name="Shape 38"/>
          <p:cNvSpPr/>
          <p:nvPr/>
        </p:nvSpPr>
        <p:spPr>
          <a:xfrm>
            <a:off x="210312" y="473887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53" name="Image 12" descr="preencoded.png"/>
          <p:cNvPicPr>
            <a:picLocks noChangeAspect="1"/>
          </p:cNvPicPr>
          <p:nvPr/>
        </p:nvPicPr>
        <p:blipFill>
          <a:blip r:embed="rId8"/>
          <a:stretch>
            <a:fillRect/>
          </a:stretch>
        </p:blipFill>
        <p:spPr>
          <a:xfrm>
            <a:off x="256032" y="4770882"/>
            <a:ext cx="96012" cy="96012"/>
          </a:xfrm>
          <a:prstGeom prst="rect">
            <a:avLst/>
          </a:prstGeom>
        </p:spPr>
      </p:pic>
      <p:sp>
        <p:nvSpPr>
          <p:cNvPr id="54" name="Text 39"/>
          <p:cNvSpPr txBox="1"/>
          <p:nvPr/>
        </p:nvSpPr>
        <p:spPr>
          <a:xfrm>
            <a:off x="379476" y="476448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Google Drive</a:t>
            </a:r>
            <a:endParaRPr lang="en-US" sz="620" dirty="0"/>
          </a:p>
        </p:txBody>
      </p:sp>
      <p:sp>
        <p:nvSpPr>
          <p:cNvPr id="55" name="Text 40"/>
          <p:cNvSpPr txBox="1"/>
          <p:nvPr/>
        </p:nvSpPr>
        <p:spPr>
          <a:xfrm>
            <a:off x="256032" y="489889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Shared delivery documents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Spec &amp; mapping sheets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Test-data workbooks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Evidence exports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Decision &amp; meeting notes</a:t>
            </a:r>
            <a:endParaRPr lang="en-US" sz="550" dirty="0"/>
          </a:p>
        </p:txBody>
      </p:sp>
      <p:sp>
        <p:nvSpPr>
          <p:cNvPr id="56" name="Shape 41"/>
          <p:cNvSpPr/>
          <p:nvPr/>
        </p:nvSpPr>
        <p:spPr>
          <a:xfrm>
            <a:off x="210312" y="5404104"/>
            <a:ext cx="1295019" cy="384048"/>
          </a:xfrm>
          <a:prstGeom prst="roundRect">
            <a:avLst>
              <a:gd name="adj" fmla="val 9524"/>
            </a:avLst>
          </a:prstGeom>
          <a:solidFill>
            <a:srgbClr val="1B6BC0"/>
          </a:solidFill>
          <a:ln w="12700">
            <a:solidFill>
              <a:srgbClr val="1B6BC0"/>
            </a:solidFill>
            <a:prstDash val="solid"/>
          </a:ln>
        </p:spPr>
        <p:txBody>
          <a:bodyPr/>
          <a:lstStyle/>
          <a:p>
            <a:endParaRPr lang="en-IN"/>
          </a:p>
        </p:txBody>
      </p:sp>
      <p:sp>
        <p:nvSpPr>
          <p:cNvPr id="57" name="Text 42"/>
          <p:cNvSpPr txBox="1"/>
          <p:nvPr/>
        </p:nvSpPr>
        <p:spPr>
          <a:xfrm>
            <a:off x="256032"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58" name="Text 43"/>
          <p:cNvSpPr txBox="1"/>
          <p:nvPr/>
        </p:nvSpPr>
        <p:spPr>
          <a:xfrm>
            <a:off x="256032"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Every delivery fact in one place, no more tribal knowledge</a:t>
            </a:r>
            <a:endParaRPr lang="en-US" sz="520" dirty="0"/>
          </a:p>
        </p:txBody>
      </p:sp>
      <p:sp>
        <p:nvSpPr>
          <p:cNvPr id="59" name="Shape 44"/>
          <p:cNvSpPr/>
          <p:nvPr/>
        </p:nvSpPr>
        <p:spPr>
          <a:xfrm>
            <a:off x="1660779" y="722376"/>
            <a:ext cx="1386459" cy="5111496"/>
          </a:xfrm>
          <a:prstGeom prst="roundRect">
            <a:avLst>
              <a:gd name="adj" fmla="val 3298"/>
            </a:avLst>
          </a:prstGeom>
          <a:solidFill>
            <a:srgbClr val="E5F4F1"/>
          </a:solidFill>
          <a:ln w="9525">
            <a:solidFill>
              <a:srgbClr val="DCE4EE"/>
            </a:solidFill>
            <a:prstDash val="solid"/>
          </a:ln>
        </p:spPr>
        <p:txBody>
          <a:bodyPr/>
          <a:lstStyle/>
          <a:p>
            <a:endParaRPr lang="en-IN"/>
          </a:p>
        </p:txBody>
      </p:sp>
      <p:sp>
        <p:nvSpPr>
          <p:cNvPr id="60" name="Shape 45"/>
          <p:cNvSpPr/>
          <p:nvPr/>
        </p:nvSpPr>
        <p:spPr>
          <a:xfrm>
            <a:off x="1660779" y="722376"/>
            <a:ext cx="1386459" cy="621792"/>
          </a:xfrm>
          <a:prstGeom prst="roundRect">
            <a:avLst>
              <a:gd name="adj" fmla="val 7353"/>
            </a:avLst>
          </a:prstGeom>
          <a:solidFill>
            <a:srgbClr val="0E8A7D"/>
          </a:solidFill>
          <a:ln w="12700">
            <a:solidFill>
              <a:srgbClr val="0E8A7D"/>
            </a:solidFill>
            <a:prstDash val="solid"/>
          </a:ln>
        </p:spPr>
        <p:txBody>
          <a:bodyPr/>
          <a:lstStyle/>
          <a:p>
            <a:endParaRPr lang="en-IN"/>
          </a:p>
        </p:txBody>
      </p:sp>
      <p:pic>
        <p:nvPicPr>
          <p:cNvPr id="61" name="Image 13" descr="preencoded.png"/>
          <p:cNvPicPr>
            <a:picLocks noChangeAspect="1"/>
          </p:cNvPicPr>
          <p:nvPr/>
        </p:nvPicPr>
        <p:blipFill>
          <a:blip r:embed="rId10"/>
          <a:stretch>
            <a:fillRect/>
          </a:stretch>
        </p:blipFill>
        <p:spPr>
          <a:xfrm>
            <a:off x="2285428" y="754380"/>
            <a:ext cx="137160" cy="137160"/>
          </a:xfrm>
          <a:prstGeom prst="rect">
            <a:avLst/>
          </a:prstGeom>
        </p:spPr>
      </p:pic>
      <p:sp>
        <p:nvSpPr>
          <p:cNvPr id="62" name="Text 46"/>
          <p:cNvSpPr txBox="1"/>
          <p:nvPr/>
        </p:nvSpPr>
        <p:spPr>
          <a:xfrm>
            <a:off x="1697355"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2</a:t>
            </a:r>
            <a:endParaRPr lang="en-US" sz="560" dirty="0"/>
          </a:p>
        </p:txBody>
      </p:sp>
      <p:sp>
        <p:nvSpPr>
          <p:cNvPr id="63" name="Text 47"/>
          <p:cNvSpPr txBox="1"/>
          <p:nvPr/>
        </p:nvSpPr>
        <p:spPr>
          <a:xfrm>
            <a:off x="1688211"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Source Connectors</a:t>
            </a:r>
            <a:endParaRPr lang="en-US" sz="800" dirty="0"/>
          </a:p>
        </p:txBody>
      </p:sp>
      <p:sp>
        <p:nvSpPr>
          <p:cNvPr id="64" name="Text 48"/>
          <p:cNvSpPr txBox="1"/>
          <p:nvPr/>
        </p:nvSpPr>
        <p:spPr>
          <a:xfrm>
            <a:off x="1688211"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AI Read Service · read-only</a:t>
            </a:r>
            <a:endParaRPr lang="en-US" sz="520" dirty="0"/>
          </a:p>
        </p:txBody>
      </p:sp>
      <p:sp>
        <p:nvSpPr>
          <p:cNvPr id="65" name="Shape 49"/>
          <p:cNvSpPr/>
          <p:nvPr/>
        </p:nvSpPr>
        <p:spPr>
          <a:xfrm>
            <a:off x="3054553"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66" name="Shape 50"/>
          <p:cNvSpPr/>
          <p:nvPr/>
        </p:nvSpPr>
        <p:spPr>
          <a:xfrm>
            <a:off x="1706499" y="138988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67" name="Image 14" descr="preencoded.png"/>
          <p:cNvPicPr>
            <a:picLocks noChangeAspect="1"/>
          </p:cNvPicPr>
          <p:nvPr/>
        </p:nvPicPr>
        <p:blipFill>
          <a:blip r:embed="rId3"/>
          <a:stretch>
            <a:fillRect/>
          </a:stretch>
        </p:blipFill>
        <p:spPr>
          <a:xfrm>
            <a:off x="1752219" y="1421892"/>
            <a:ext cx="96012" cy="96012"/>
          </a:xfrm>
          <a:prstGeom prst="rect">
            <a:avLst/>
          </a:prstGeom>
        </p:spPr>
      </p:pic>
      <p:sp>
        <p:nvSpPr>
          <p:cNvPr id="68" name="Text 51"/>
          <p:cNvSpPr txBox="1"/>
          <p:nvPr/>
        </p:nvSpPr>
        <p:spPr>
          <a:xfrm>
            <a:off x="1875663" y="141549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JiraSourceConnector</a:t>
            </a:r>
            <a:endParaRPr lang="en-US" sz="620" dirty="0"/>
          </a:p>
        </p:txBody>
      </p:sp>
      <p:sp>
        <p:nvSpPr>
          <p:cNvPr id="69" name="Text 52"/>
          <p:cNvSpPr txBox="1"/>
          <p:nvPr/>
        </p:nvSpPr>
        <p:spPr>
          <a:xfrm>
            <a:off x="1752219" y="154990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OAuth 2.0 (3LO) / API token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Read-only scopes only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JQL delta pull (lastSyncAt)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Paging, 429 backoff</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SHA-256 per issue payload</a:t>
            </a:r>
            <a:endParaRPr lang="en-US" sz="550" dirty="0"/>
          </a:p>
        </p:txBody>
      </p:sp>
      <p:sp>
        <p:nvSpPr>
          <p:cNvPr id="70" name="Shape 53"/>
          <p:cNvSpPr/>
          <p:nvPr/>
        </p:nvSpPr>
        <p:spPr>
          <a:xfrm>
            <a:off x="1706499" y="2059686"/>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71" name="Image 15" descr="preencoded.png"/>
          <p:cNvPicPr>
            <a:picLocks noChangeAspect="1"/>
          </p:cNvPicPr>
          <p:nvPr/>
        </p:nvPicPr>
        <p:blipFill>
          <a:blip r:embed="rId4"/>
          <a:stretch>
            <a:fillRect/>
          </a:stretch>
        </p:blipFill>
        <p:spPr>
          <a:xfrm>
            <a:off x="1752219" y="2091690"/>
            <a:ext cx="96012" cy="96012"/>
          </a:xfrm>
          <a:prstGeom prst="rect">
            <a:avLst/>
          </a:prstGeom>
        </p:spPr>
      </p:pic>
      <p:sp>
        <p:nvSpPr>
          <p:cNvPr id="72" name="Text 54"/>
          <p:cNvSpPr txBox="1"/>
          <p:nvPr/>
        </p:nvSpPr>
        <p:spPr>
          <a:xfrm>
            <a:off x="1875663" y="2085289"/>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ConfluenceConnector</a:t>
            </a:r>
            <a:endParaRPr lang="en-US" sz="620" dirty="0"/>
          </a:p>
        </p:txBody>
      </p:sp>
      <p:sp>
        <p:nvSpPr>
          <p:cNvPr id="73" name="Text 55"/>
          <p:cNvSpPr txBox="1"/>
          <p:nvPr/>
        </p:nvSpPr>
        <p:spPr>
          <a:xfrm>
            <a:off x="1752219" y="2219706"/>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PAT / API token auth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Space + label scoped pull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HTML via body.storage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Version + lastUpdated delta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Rate limited · SHA-256</a:t>
            </a:r>
            <a:endParaRPr lang="en-US" sz="550" dirty="0"/>
          </a:p>
        </p:txBody>
      </p:sp>
      <p:sp>
        <p:nvSpPr>
          <p:cNvPr id="74" name="Shape 56"/>
          <p:cNvSpPr/>
          <p:nvPr/>
        </p:nvSpPr>
        <p:spPr>
          <a:xfrm>
            <a:off x="1706499" y="2729484"/>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75" name="Image 16" descr="preencoded.png"/>
          <p:cNvPicPr>
            <a:picLocks noChangeAspect="1"/>
          </p:cNvPicPr>
          <p:nvPr/>
        </p:nvPicPr>
        <p:blipFill>
          <a:blip r:embed="rId5"/>
          <a:stretch>
            <a:fillRect/>
          </a:stretch>
        </p:blipFill>
        <p:spPr>
          <a:xfrm>
            <a:off x="1752219" y="2761488"/>
            <a:ext cx="96012" cy="96012"/>
          </a:xfrm>
          <a:prstGeom prst="rect">
            <a:avLst/>
          </a:prstGeom>
        </p:spPr>
      </p:pic>
      <p:sp>
        <p:nvSpPr>
          <p:cNvPr id="76" name="Text 57"/>
          <p:cNvSpPr txBox="1"/>
          <p:nvPr/>
        </p:nvSpPr>
        <p:spPr>
          <a:xfrm>
            <a:off x="1875663" y="2755087"/>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SalesforceConnector</a:t>
            </a:r>
            <a:endParaRPr lang="en-US" sz="620" dirty="0"/>
          </a:p>
        </p:txBody>
      </p:sp>
      <p:sp>
        <p:nvSpPr>
          <p:cNvPr id="77" name="Text 58"/>
          <p:cNvSpPr txBox="1"/>
          <p:nvPr/>
        </p:nvSpPr>
        <p:spPr>
          <a:xfrm>
            <a:off x="1752219" y="2889504"/>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Connected App JWT bearer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Read-only perm set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No record-data access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Tooling + Metadata API</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MetadataComponentDep.</a:t>
            </a:r>
            <a:endParaRPr lang="en-US" sz="550" dirty="0"/>
          </a:p>
        </p:txBody>
      </p:sp>
      <p:sp>
        <p:nvSpPr>
          <p:cNvPr id="78" name="Shape 59"/>
          <p:cNvSpPr/>
          <p:nvPr/>
        </p:nvSpPr>
        <p:spPr>
          <a:xfrm>
            <a:off x="1706499" y="3399282"/>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79" name="Image 17" descr="preencoded.png"/>
          <p:cNvPicPr>
            <a:picLocks noChangeAspect="1"/>
          </p:cNvPicPr>
          <p:nvPr/>
        </p:nvPicPr>
        <p:blipFill>
          <a:blip r:embed="rId6"/>
          <a:stretch>
            <a:fillRect/>
          </a:stretch>
        </p:blipFill>
        <p:spPr>
          <a:xfrm>
            <a:off x="1752219" y="3431286"/>
            <a:ext cx="96012" cy="96012"/>
          </a:xfrm>
          <a:prstGeom prst="rect">
            <a:avLst/>
          </a:prstGeom>
        </p:spPr>
      </p:pic>
      <p:sp>
        <p:nvSpPr>
          <p:cNvPr id="80" name="Text 60"/>
          <p:cNvSpPr txBox="1"/>
          <p:nvPr/>
        </p:nvSpPr>
        <p:spPr>
          <a:xfrm>
            <a:off x="1875663" y="3424885"/>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GitSourceConnector</a:t>
            </a:r>
            <a:endParaRPr lang="en-US" sz="620" dirty="0"/>
          </a:p>
        </p:txBody>
      </p:sp>
      <p:sp>
        <p:nvSpPr>
          <p:cNvPr id="81" name="Text 61"/>
          <p:cNvSpPr txBox="1"/>
          <p:nvPr/>
        </p:nvSpPr>
        <p:spPr>
          <a:xfrm>
            <a:off x="1752219" y="3559302"/>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SSH deploy key / read PAT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Shallow clone + fetch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Branch &amp; tag traversal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Commit SHA, author, date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Per-file SHA-256, no push</a:t>
            </a:r>
            <a:endParaRPr lang="en-US" sz="550" dirty="0"/>
          </a:p>
        </p:txBody>
      </p:sp>
      <p:sp>
        <p:nvSpPr>
          <p:cNvPr id="82" name="Shape 62"/>
          <p:cNvSpPr/>
          <p:nvPr/>
        </p:nvSpPr>
        <p:spPr>
          <a:xfrm>
            <a:off x="1706499" y="4069080"/>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83" name="Image 18" descr="preencoded.png"/>
          <p:cNvPicPr>
            <a:picLocks noChangeAspect="1"/>
          </p:cNvPicPr>
          <p:nvPr/>
        </p:nvPicPr>
        <p:blipFill>
          <a:blip r:embed="rId7"/>
          <a:stretch>
            <a:fillRect/>
          </a:stretch>
        </p:blipFill>
        <p:spPr>
          <a:xfrm>
            <a:off x="1752219" y="4101084"/>
            <a:ext cx="96012" cy="96012"/>
          </a:xfrm>
          <a:prstGeom prst="rect">
            <a:avLst/>
          </a:prstGeom>
        </p:spPr>
      </p:pic>
      <p:sp>
        <p:nvSpPr>
          <p:cNvPr id="84" name="Text 63"/>
          <p:cNvSpPr txBox="1"/>
          <p:nvPr/>
        </p:nvSpPr>
        <p:spPr>
          <a:xfrm>
            <a:off x="1875663" y="4094683"/>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CopadoConnector</a:t>
            </a:r>
            <a:endParaRPr lang="en-US" sz="620" dirty="0"/>
          </a:p>
        </p:txBody>
      </p:sp>
      <p:sp>
        <p:nvSpPr>
          <p:cNvPr id="85" name="Text 64"/>
          <p:cNvSpPr txBox="1"/>
          <p:nvPr/>
        </p:nvSpPr>
        <p:spPr>
          <a:xfrm>
            <a:off x="1752219" y="4229100"/>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OAuth 2.0 client creds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Read-only API user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Stories + promotions pull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Robotic + regression runs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Deployment records per env</a:t>
            </a:r>
            <a:endParaRPr lang="en-US" sz="550" dirty="0"/>
          </a:p>
        </p:txBody>
      </p:sp>
      <p:sp>
        <p:nvSpPr>
          <p:cNvPr id="86" name="Shape 65"/>
          <p:cNvSpPr/>
          <p:nvPr/>
        </p:nvSpPr>
        <p:spPr>
          <a:xfrm>
            <a:off x="1706499" y="473887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87" name="Image 19" descr="preencoded.png"/>
          <p:cNvPicPr>
            <a:picLocks noChangeAspect="1"/>
          </p:cNvPicPr>
          <p:nvPr/>
        </p:nvPicPr>
        <p:blipFill>
          <a:blip r:embed="rId8"/>
          <a:stretch>
            <a:fillRect/>
          </a:stretch>
        </p:blipFill>
        <p:spPr>
          <a:xfrm>
            <a:off x="1752219" y="4770882"/>
            <a:ext cx="96012" cy="96012"/>
          </a:xfrm>
          <a:prstGeom prst="rect">
            <a:avLst/>
          </a:prstGeom>
        </p:spPr>
      </p:pic>
      <p:sp>
        <p:nvSpPr>
          <p:cNvPr id="88" name="Text 66"/>
          <p:cNvSpPr txBox="1"/>
          <p:nvPr/>
        </p:nvSpPr>
        <p:spPr>
          <a:xfrm>
            <a:off x="1875663" y="476448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GoogleDriveConnector</a:t>
            </a:r>
            <a:endParaRPr lang="en-US" sz="620" dirty="0"/>
          </a:p>
        </p:txBody>
      </p:sp>
      <p:sp>
        <p:nvSpPr>
          <p:cNvPr id="89" name="Text 67"/>
          <p:cNvSpPr txBox="1"/>
          <p:nvPr/>
        </p:nvSpPr>
        <p:spPr>
          <a:xfrm>
            <a:off x="1752219" y="489889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OAuth 2.0 service account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Drive API v3, shared drive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files.list + files.export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Docs / Sheets → text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Change-token delta sync</a:t>
            </a:r>
            <a:endParaRPr lang="en-US" sz="550" dirty="0"/>
          </a:p>
        </p:txBody>
      </p:sp>
      <p:sp>
        <p:nvSpPr>
          <p:cNvPr id="90" name="Shape 68"/>
          <p:cNvSpPr/>
          <p:nvPr/>
        </p:nvSpPr>
        <p:spPr>
          <a:xfrm>
            <a:off x="1706499" y="5404104"/>
            <a:ext cx="1295019" cy="384048"/>
          </a:xfrm>
          <a:prstGeom prst="roundRect">
            <a:avLst>
              <a:gd name="adj" fmla="val 9524"/>
            </a:avLst>
          </a:prstGeom>
          <a:solidFill>
            <a:srgbClr val="0E8A7D"/>
          </a:solidFill>
          <a:ln w="12700">
            <a:solidFill>
              <a:srgbClr val="0E8A7D"/>
            </a:solidFill>
            <a:prstDash val="solid"/>
          </a:ln>
        </p:spPr>
        <p:txBody>
          <a:bodyPr/>
          <a:lstStyle/>
          <a:p>
            <a:endParaRPr lang="en-IN"/>
          </a:p>
        </p:txBody>
      </p:sp>
      <p:sp>
        <p:nvSpPr>
          <p:cNvPr id="91" name="Text 69"/>
          <p:cNvSpPr txBox="1"/>
          <p:nvPr/>
        </p:nvSpPr>
        <p:spPr>
          <a:xfrm>
            <a:off x="1752219"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92" name="Text 70"/>
          <p:cNvSpPr txBox="1"/>
          <p:nvPr/>
        </p:nvSpPr>
        <p:spPr>
          <a:xfrm>
            <a:off x="1752219"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Safe, repeatable reads, no writes, no production credentials</a:t>
            </a:r>
            <a:endParaRPr lang="en-US" sz="520" dirty="0"/>
          </a:p>
        </p:txBody>
      </p:sp>
      <p:sp>
        <p:nvSpPr>
          <p:cNvPr id="93" name="Shape 71"/>
          <p:cNvSpPr/>
          <p:nvPr/>
        </p:nvSpPr>
        <p:spPr>
          <a:xfrm>
            <a:off x="3156966" y="722376"/>
            <a:ext cx="1386459" cy="5111496"/>
          </a:xfrm>
          <a:prstGeom prst="roundRect">
            <a:avLst>
              <a:gd name="adj" fmla="val 3298"/>
            </a:avLst>
          </a:prstGeom>
          <a:solidFill>
            <a:srgbClr val="F0EBFA"/>
          </a:solidFill>
          <a:ln w="9525">
            <a:solidFill>
              <a:srgbClr val="DCE4EE"/>
            </a:solidFill>
            <a:prstDash val="solid"/>
          </a:ln>
        </p:spPr>
        <p:txBody>
          <a:bodyPr/>
          <a:lstStyle/>
          <a:p>
            <a:endParaRPr lang="en-IN"/>
          </a:p>
        </p:txBody>
      </p:sp>
      <p:sp>
        <p:nvSpPr>
          <p:cNvPr id="94" name="Shape 72"/>
          <p:cNvSpPr/>
          <p:nvPr/>
        </p:nvSpPr>
        <p:spPr>
          <a:xfrm>
            <a:off x="3156966" y="722376"/>
            <a:ext cx="1386459" cy="621792"/>
          </a:xfrm>
          <a:prstGeom prst="roundRect">
            <a:avLst>
              <a:gd name="adj" fmla="val 7353"/>
            </a:avLst>
          </a:prstGeom>
          <a:solidFill>
            <a:srgbClr val="7A4FC0"/>
          </a:solidFill>
          <a:ln w="12700">
            <a:solidFill>
              <a:srgbClr val="7A4FC0"/>
            </a:solidFill>
            <a:prstDash val="solid"/>
          </a:ln>
        </p:spPr>
        <p:txBody>
          <a:bodyPr/>
          <a:lstStyle/>
          <a:p>
            <a:endParaRPr lang="en-IN"/>
          </a:p>
        </p:txBody>
      </p:sp>
      <p:pic>
        <p:nvPicPr>
          <p:cNvPr id="95" name="Image 20" descr="preencoded.png"/>
          <p:cNvPicPr>
            <a:picLocks noChangeAspect="1"/>
          </p:cNvPicPr>
          <p:nvPr/>
        </p:nvPicPr>
        <p:blipFill>
          <a:blip r:embed="rId11"/>
          <a:stretch>
            <a:fillRect/>
          </a:stretch>
        </p:blipFill>
        <p:spPr>
          <a:xfrm>
            <a:off x="3781616" y="754380"/>
            <a:ext cx="137160" cy="137160"/>
          </a:xfrm>
          <a:prstGeom prst="rect">
            <a:avLst/>
          </a:prstGeom>
        </p:spPr>
      </p:pic>
      <p:sp>
        <p:nvSpPr>
          <p:cNvPr id="96" name="Text 73"/>
          <p:cNvSpPr txBox="1"/>
          <p:nvPr/>
        </p:nvSpPr>
        <p:spPr>
          <a:xfrm>
            <a:off x="3193542"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3</a:t>
            </a:r>
            <a:endParaRPr lang="en-US" sz="560" dirty="0"/>
          </a:p>
        </p:txBody>
      </p:sp>
      <p:sp>
        <p:nvSpPr>
          <p:cNvPr id="97" name="Text 74"/>
          <p:cNvSpPr txBox="1"/>
          <p:nvPr/>
        </p:nvSpPr>
        <p:spPr>
          <a:xfrm>
            <a:off x="3184398"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Ingestors</a:t>
            </a:r>
            <a:endParaRPr lang="en-US" sz="800" dirty="0"/>
          </a:p>
        </p:txBody>
      </p:sp>
      <p:sp>
        <p:nvSpPr>
          <p:cNvPr id="98" name="Text 75"/>
          <p:cNvSpPr txBox="1"/>
          <p:nvPr/>
        </p:nvSpPr>
        <p:spPr>
          <a:xfrm>
            <a:off x="3184398"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Parse → domain model</a:t>
            </a:r>
            <a:endParaRPr lang="en-US" sz="520" dirty="0"/>
          </a:p>
        </p:txBody>
      </p:sp>
      <p:sp>
        <p:nvSpPr>
          <p:cNvPr id="99" name="Shape 76"/>
          <p:cNvSpPr/>
          <p:nvPr/>
        </p:nvSpPr>
        <p:spPr>
          <a:xfrm>
            <a:off x="4550740"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100" name="Shape 77"/>
          <p:cNvSpPr/>
          <p:nvPr/>
        </p:nvSpPr>
        <p:spPr>
          <a:xfrm>
            <a:off x="3202686" y="138988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01" name="Image 21" descr="preencoded.png"/>
          <p:cNvPicPr>
            <a:picLocks noChangeAspect="1"/>
          </p:cNvPicPr>
          <p:nvPr/>
        </p:nvPicPr>
        <p:blipFill>
          <a:blip r:embed="rId3"/>
          <a:stretch>
            <a:fillRect/>
          </a:stretch>
        </p:blipFill>
        <p:spPr>
          <a:xfrm>
            <a:off x="3248406" y="1421892"/>
            <a:ext cx="96012" cy="96012"/>
          </a:xfrm>
          <a:prstGeom prst="rect">
            <a:avLst/>
          </a:prstGeom>
        </p:spPr>
      </p:pic>
      <p:sp>
        <p:nvSpPr>
          <p:cNvPr id="102" name="Text 78"/>
          <p:cNvSpPr txBox="1"/>
          <p:nvPr/>
        </p:nvSpPr>
        <p:spPr>
          <a:xfrm>
            <a:off x="3371850" y="141549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Jira → Requirements</a:t>
            </a:r>
            <a:endParaRPr lang="en-US" sz="620" dirty="0"/>
          </a:p>
        </p:txBody>
      </p:sp>
      <p:sp>
        <p:nvSpPr>
          <p:cNvPr id="103" name="Text 79"/>
          <p:cNvSpPr txBox="1"/>
          <p:nvPr/>
        </p:nvSpPr>
        <p:spPr>
          <a:xfrm>
            <a:off x="3248406" y="154990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ADF JSON parsing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Requirement extraction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Given / When / Then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Capability tagging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key + hash</a:t>
            </a:r>
            <a:endParaRPr lang="en-US" sz="550" dirty="0"/>
          </a:p>
        </p:txBody>
      </p:sp>
      <p:sp>
        <p:nvSpPr>
          <p:cNvPr id="104" name="Shape 80"/>
          <p:cNvSpPr/>
          <p:nvPr/>
        </p:nvSpPr>
        <p:spPr>
          <a:xfrm>
            <a:off x="3202686" y="2059686"/>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05" name="Image 22" descr="preencoded.png"/>
          <p:cNvPicPr>
            <a:picLocks noChangeAspect="1"/>
          </p:cNvPicPr>
          <p:nvPr/>
        </p:nvPicPr>
        <p:blipFill>
          <a:blip r:embed="rId4"/>
          <a:stretch>
            <a:fillRect/>
          </a:stretch>
        </p:blipFill>
        <p:spPr>
          <a:xfrm>
            <a:off x="3248406" y="2091690"/>
            <a:ext cx="96012" cy="96012"/>
          </a:xfrm>
          <a:prstGeom prst="rect">
            <a:avLst/>
          </a:prstGeom>
        </p:spPr>
      </p:pic>
      <p:sp>
        <p:nvSpPr>
          <p:cNvPr id="106" name="Text 81"/>
          <p:cNvSpPr txBox="1"/>
          <p:nvPr/>
        </p:nvSpPr>
        <p:spPr>
          <a:xfrm>
            <a:off x="3371850" y="2085289"/>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Confluence → Design</a:t>
            </a:r>
            <a:endParaRPr lang="en-US" sz="620" dirty="0"/>
          </a:p>
        </p:txBody>
      </p:sp>
      <p:sp>
        <p:nvSpPr>
          <p:cNvPr id="107" name="Text 82"/>
          <p:cNvSpPr txBox="1"/>
          <p:nvPr/>
        </p:nvSpPr>
        <p:spPr>
          <a:xfrm>
            <a:off x="3248406" y="2219706"/>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Jsoup HTML parsing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Sections H1–H4</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Tables: headers, rows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Business-rule sentences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id, version</a:t>
            </a:r>
            <a:endParaRPr lang="en-US" sz="550" dirty="0"/>
          </a:p>
        </p:txBody>
      </p:sp>
      <p:sp>
        <p:nvSpPr>
          <p:cNvPr id="108" name="Shape 83"/>
          <p:cNvSpPr/>
          <p:nvPr/>
        </p:nvSpPr>
        <p:spPr>
          <a:xfrm>
            <a:off x="3202686" y="2729484"/>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09" name="Image 23" descr="preencoded.png"/>
          <p:cNvPicPr>
            <a:picLocks noChangeAspect="1"/>
          </p:cNvPicPr>
          <p:nvPr/>
        </p:nvPicPr>
        <p:blipFill>
          <a:blip r:embed="rId5"/>
          <a:stretch>
            <a:fillRect/>
          </a:stretch>
        </p:blipFill>
        <p:spPr>
          <a:xfrm>
            <a:off x="3248406" y="2761488"/>
            <a:ext cx="96012" cy="96012"/>
          </a:xfrm>
          <a:prstGeom prst="rect">
            <a:avLst/>
          </a:prstGeom>
        </p:spPr>
      </p:pic>
      <p:sp>
        <p:nvSpPr>
          <p:cNvPr id="110" name="Text 84"/>
          <p:cNvSpPr txBox="1"/>
          <p:nvPr/>
        </p:nvSpPr>
        <p:spPr>
          <a:xfrm>
            <a:off x="3371850" y="2755087"/>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Salesforce → Metadata</a:t>
            </a:r>
            <a:endParaRPr lang="en-US" sz="620" dirty="0"/>
          </a:p>
        </p:txBody>
      </p:sp>
      <p:sp>
        <p:nvSpPr>
          <p:cNvPr id="111" name="Text 85"/>
          <p:cNvSpPr txBox="1"/>
          <p:nvPr/>
        </p:nvSpPr>
        <p:spPr>
          <a:xfrm>
            <a:off x="3248406" y="2889504"/>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describe() → objects, fields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 XML: elements, rules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 SOQL, DML, sObjects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Validation rule formulas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Dependency API → edges</a:t>
            </a:r>
            <a:endParaRPr lang="en-US" sz="550" dirty="0"/>
          </a:p>
        </p:txBody>
      </p:sp>
      <p:sp>
        <p:nvSpPr>
          <p:cNvPr id="112" name="Shape 86"/>
          <p:cNvSpPr/>
          <p:nvPr/>
        </p:nvSpPr>
        <p:spPr>
          <a:xfrm>
            <a:off x="3202686" y="3399282"/>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13" name="Image 24" descr="preencoded.png"/>
          <p:cNvPicPr>
            <a:picLocks noChangeAspect="1"/>
          </p:cNvPicPr>
          <p:nvPr/>
        </p:nvPicPr>
        <p:blipFill>
          <a:blip r:embed="rId6"/>
          <a:stretch>
            <a:fillRect/>
          </a:stretch>
        </p:blipFill>
        <p:spPr>
          <a:xfrm>
            <a:off x="3248406" y="3431286"/>
            <a:ext cx="96012" cy="96012"/>
          </a:xfrm>
          <a:prstGeom prst="rect">
            <a:avLst/>
          </a:prstGeom>
        </p:spPr>
      </p:pic>
      <p:sp>
        <p:nvSpPr>
          <p:cNvPr id="114" name="Text 87"/>
          <p:cNvSpPr txBox="1"/>
          <p:nvPr/>
        </p:nvSpPr>
        <p:spPr>
          <a:xfrm>
            <a:off x="3371850" y="3424885"/>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Git → Code</a:t>
            </a:r>
            <a:endParaRPr lang="en-US" sz="620" dirty="0"/>
          </a:p>
        </p:txBody>
      </p:sp>
      <p:sp>
        <p:nvSpPr>
          <p:cNvPr id="115" name="Text 88"/>
          <p:cNvSpPr txBox="1"/>
          <p:nvPr/>
        </p:nvSpPr>
        <p:spPr>
          <a:xfrm>
            <a:off x="3248406" y="3559302"/>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SFDX source traversal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 parsing (@isTest)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 → covered class map</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LWC + meta XML parsing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path + commit</a:t>
            </a:r>
            <a:endParaRPr lang="en-US" sz="550" dirty="0"/>
          </a:p>
        </p:txBody>
      </p:sp>
      <p:sp>
        <p:nvSpPr>
          <p:cNvPr id="116" name="Shape 89"/>
          <p:cNvSpPr/>
          <p:nvPr/>
        </p:nvSpPr>
        <p:spPr>
          <a:xfrm>
            <a:off x="3202686" y="4069080"/>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17" name="Image 25" descr="preencoded.png"/>
          <p:cNvPicPr>
            <a:picLocks noChangeAspect="1"/>
          </p:cNvPicPr>
          <p:nvPr/>
        </p:nvPicPr>
        <p:blipFill>
          <a:blip r:embed="rId7"/>
          <a:stretch>
            <a:fillRect/>
          </a:stretch>
        </p:blipFill>
        <p:spPr>
          <a:xfrm>
            <a:off x="3248406" y="4101084"/>
            <a:ext cx="96012" cy="96012"/>
          </a:xfrm>
          <a:prstGeom prst="rect">
            <a:avLst/>
          </a:prstGeom>
        </p:spPr>
      </p:pic>
      <p:sp>
        <p:nvSpPr>
          <p:cNvPr id="118" name="Text 90"/>
          <p:cNvSpPr txBox="1"/>
          <p:nvPr/>
        </p:nvSpPr>
        <p:spPr>
          <a:xfrm>
            <a:off x="3371850" y="4094683"/>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Copado → Releases</a:t>
            </a:r>
            <a:endParaRPr lang="en-US" sz="620" dirty="0"/>
          </a:p>
        </p:txBody>
      </p:sp>
      <p:sp>
        <p:nvSpPr>
          <p:cNvPr id="119" name="Text 91"/>
          <p:cNvSpPr txBox="1"/>
          <p:nvPr/>
        </p:nvSpPr>
        <p:spPr>
          <a:xfrm>
            <a:off x="3248406" y="4229100"/>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Story → component mapping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Promotion &amp; deployment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Robotic test → component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Regression + evidence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Environment / stage map</a:t>
            </a:r>
            <a:endParaRPr lang="en-US" sz="550" dirty="0"/>
          </a:p>
        </p:txBody>
      </p:sp>
      <p:sp>
        <p:nvSpPr>
          <p:cNvPr id="120" name="Shape 92"/>
          <p:cNvSpPr/>
          <p:nvPr/>
        </p:nvSpPr>
        <p:spPr>
          <a:xfrm>
            <a:off x="3202686" y="473887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21" name="Image 26" descr="preencoded.png"/>
          <p:cNvPicPr>
            <a:picLocks noChangeAspect="1"/>
          </p:cNvPicPr>
          <p:nvPr/>
        </p:nvPicPr>
        <p:blipFill>
          <a:blip r:embed="rId8"/>
          <a:stretch>
            <a:fillRect/>
          </a:stretch>
        </p:blipFill>
        <p:spPr>
          <a:xfrm>
            <a:off x="3248406" y="4770882"/>
            <a:ext cx="96012" cy="96012"/>
          </a:xfrm>
          <a:prstGeom prst="rect">
            <a:avLst/>
          </a:prstGeom>
        </p:spPr>
      </p:pic>
      <p:sp>
        <p:nvSpPr>
          <p:cNvPr id="122" name="Text 93"/>
          <p:cNvSpPr txBox="1"/>
          <p:nvPr/>
        </p:nvSpPr>
        <p:spPr>
          <a:xfrm>
            <a:off x="3371850" y="476448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Drive → Documents</a:t>
            </a:r>
            <a:endParaRPr lang="en-US" sz="620" dirty="0"/>
          </a:p>
        </p:txBody>
      </p:sp>
      <p:sp>
        <p:nvSpPr>
          <p:cNvPr id="123" name="Text 94"/>
          <p:cNvSpPr txBox="1"/>
          <p:nvPr/>
        </p:nvSpPr>
        <p:spPr>
          <a:xfrm>
            <a:off x="3248406" y="489889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Docs / Sheets text export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Sheet table extraction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Spec → capability mapping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Test-data workbook parse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id + revision</a:t>
            </a:r>
            <a:endParaRPr lang="en-US" sz="550" dirty="0"/>
          </a:p>
        </p:txBody>
      </p:sp>
      <p:sp>
        <p:nvSpPr>
          <p:cNvPr id="124" name="Shape 95"/>
          <p:cNvSpPr/>
          <p:nvPr/>
        </p:nvSpPr>
        <p:spPr>
          <a:xfrm>
            <a:off x="3202686" y="5404104"/>
            <a:ext cx="1295019" cy="384048"/>
          </a:xfrm>
          <a:prstGeom prst="roundRect">
            <a:avLst>
              <a:gd name="adj" fmla="val 9524"/>
            </a:avLst>
          </a:prstGeom>
          <a:solidFill>
            <a:srgbClr val="7A4FC0"/>
          </a:solidFill>
          <a:ln w="12700">
            <a:solidFill>
              <a:srgbClr val="7A4FC0"/>
            </a:solidFill>
            <a:prstDash val="solid"/>
          </a:ln>
        </p:spPr>
        <p:txBody>
          <a:bodyPr/>
          <a:lstStyle/>
          <a:p>
            <a:endParaRPr lang="en-IN"/>
          </a:p>
        </p:txBody>
      </p:sp>
      <p:sp>
        <p:nvSpPr>
          <p:cNvPr id="125" name="Text 96"/>
          <p:cNvSpPr txBox="1"/>
          <p:nvPr/>
        </p:nvSpPr>
        <p:spPr>
          <a:xfrm>
            <a:off x="3248406"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126" name="Text 97"/>
          <p:cNvSpPr txBox="1"/>
          <p:nvPr/>
        </p:nvSpPr>
        <p:spPr>
          <a:xfrm>
            <a:off x="3248406"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Raw artifacts become structured facts with full provenance</a:t>
            </a:r>
            <a:endParaRPr lang="en-US" sz="520" dirty="0"/>
          </a:p>
        </p:txBody>
      </p:sp>
      <p:sp>
        <p:nvSpPr>
          <p:cNvPr id="127" name="Shape 98"/>
          <p:cNvSpPr/>
          <p:nvPr/>
        </p:nvSpPr>
        <p:spPr>
          <a:xfrm>
            <a:off x="4653153" y="722376"/>
            <a:ext cx="1386459" cy="5111496"/>
          </a:xfrm>
          <a:prstGeom prst="roundRect">
            <a:avLst>
              <a:gd name="adj" fmla="val 3298"/>
            </a:avLst>
          </a:prstGeom>
          <a:solidFill>
            <a:srgbClr val="FBE9F0"/>
          </a:solidFill>
          <a:ln w="9525">
            <a:solidFill>
              <a:srgbClr val="DCE4EE"/>
            </a:solidFill>
            <a:prstDash val="solid"/>
          </a:ln>
        </p:spPr>
        <p:txBody>
          <a:bodyPr/>
          <a:lstStyle/>
          <a:p>
            <a:endParaRPr lang="en-IN"/>
          </a:p>
        </p:txBody>
      </p:sp>
      <p:sp>
        <p:nvSpPr>
          <p:cNvPr id="128" name="Shape 99"/>
          <p:cNvSpPr/>
          <p:nvPr/>
        </p:nvSpPr>
        <p:spPr>
          <a:xfrm>
            <a:off x="4653153" y="722376"/>
            <a:ext cx="1386459" cy="621792"/>
          </a:xfrm>
          <a:prstGeom prst="roundRect">
            <a:avLst>
              <a:gd name="adj" fmla="val 7353"/>
            </a:avLst>
          </a:prstGeom>
          <a:solidFill>
            <a:srgbClr val="C2185B"/>
          </a:solidFill>
          <a:ln w="12700">
            <a:solidFill>
              <a:srgbClr val="C2185B"/>
            </a:solidFill>
            <a:prstDash val="solid"/>
          </a:ln>
        </p:spPr>
        <p:txBody>
          <a:bodyPr/>
          <a:lstStyle/>
          <a:p>
            <a:endParaRPr lang="en-IN"/>
          </a:p>
        </p:txBody>
      </p:sp>
      <p:pic>
        <p:nvPicPr>
          <p:cNvPr id="129" name="Image 27" descr="preencoded.png"/>
          <p:cNvPicPr>
            <a:picLocks noChangeAspect="1"/>
          </p:cNvPicPr>
          <p:nvPr/>
        </p:nvPicPr>
        <p:blipFill>
          <a:blip r:embed="rId12"/>
          <a:stretch>
            <a:fillRect/>
          </a:stretch>
        </p:blipFill>
        <p:spPr>
          <a:xfrm>
            <a:off x="5277802" y="754380"/>
            <a:ext cx="137160" cy="137160"/>
          </a:xfrm>
          <a:prstGeom prst="rect">
            <a:avLst/>
          </a:prstGeom>
        </p:spPr>
      </p:pic>
      <p:sp>
        <p:nvSpPr>
          <p:cNvPr id="130" name="Text 100"/>
          <p:cNvSpPr txBox="1"/>
          <p:nvPr/>
        </p:nvSpPr>
        <p:spPr>
          <a:xfrm>
            <a:off x="4689729"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4</a:t>
            </a:r>
            <a:endParaRPr lang="en-US" sz="560" dirty="0"/>
          </a:p>
        </p:txBody>
      </p:sp>
      <p:sp>
        <p:nvSpPr>
          <p:cNvPr id="131" name="Text 101"/>
          <p:cNvSpPr txBox="1"/>
          <p:nvPr/>
        </p:nvSpPr>
        <p:spPr>
          <a:xfrm>
            <a:off x="4680585"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Domain Model</a:t>
            </a:r>
            <a:endParaRPr lang="en-US" sz="800" dirty="0"/>
          </a:p>
        </p:txBody>
      </p:sp>
      <p:sp>
        <p:nvSpPr>
          <p:cNvPr id="132" name="Text 102"/>
          <p:cNvSpPr txBox="1"/>
          <p:nvPr/>
        </p:nvSpPr>
        <p:spPr>
          <a:xfrm>
            <a:off x="4680585"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NetworkServicesContext</a:t>
            </a:r>
            <a:endParaRPr lang="en-US" sz="520" dirty="0"/>
          </a:p>
        </p:txBody>
      </p:sp>
      <p:sp>
        <p:nvSpPr>
          <p:cNvPr id="133" name="Shape 103"/>
          <p:cNvSpPr/>
          <p:nvPr/>
        </p:nvSpPr>
        <p:spPr>
          <a:xfrm>
            <a:off x="6046927"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134" name="Shape 104"/>
          <p:cNvSpPr/>
          <p:nvPr/>
        </p:nvSpPr>
        <p:spPr>
          <a:xfrm>
            <a:off x="4698873" y="138988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35" name="Text 105"/>
          <p:cNvSpPr txBox="1"/>
          <p:nvPr/>
        </p:nvSpPr>
        <p:spPr>
          <a:xfrm>
            <a:off x="4744593"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Root object</a:t>
            </a:r>
            <a:endParaRPr lang="en-US" sz="620" dirty="0"/>
          </a:p>
        </p:txBody>
      </p:sp>
      <p:sp>
        <p:nvSpPr>
          <p:cNvPr id="136" name="Text 106"/>
          <p:cNvSpPr txBox="1"/>
          <p:nvPr/>
        </p:nvSpPr>
        <p:spPr>
          <a:xfrm>
            <a:off x="4744593" y="154990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applicationName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applicationVersion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createdAt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snapshotId (UUID per sync)</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a:t>
            </a:r>
            <a:endParaRPr lang="en-US" sz="550" dirty="0"/>
          </a:p>
        </p:txBody>
      </p:sp>
      <p:sp>
        <p:nvSpPr>
          <p:cNvPr id="137" name="Shape 107"/>
          <p:cNvSpPr/>
          <p:nvPr/>
        </p:nvSpPr>
        <p:spPr>
          <a:xfrm>
            <a:off x="4698873" y="2059686"/>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38" name="Text 108"/>
          <p:cNvSpPr txBox="1"/>
          <p:nvPr/>
        </p:nvSpPr>
        <p:spPr>
          <a:xfrm>
            <a:off x="4744593" y="2085289"/>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requirements[]</a:t>
            </a:r>
            <a:endParaRPr lang="en-US" sz="620" dirty="0"/>
          </a:p>
        </p:txBody>
      </p:sp>
      <p:sp>
        <p:nvSpPr>
          <p:cNvPr id="139" name="Text 109"/>
          <p:cNvSpPr txBox="1"/>
          <p:nvPr/>
        </p:nvSpPr>
        <p:spPr>
          <a:xfrm>
            <a:off x="4744593" y="2219706"/>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requirementId (Jira key)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title, summary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acceptanceCriteria[]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businessCapability, status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priority, riskTier, links</a:t>
            </a:r>
            <a:endParaRPr lang="en-US" sz="550" dirty="0"/>
          </a:p>
        </p:txBody>
      </p:sp>
      <p:sp>
        <p:nvSpPr>
          <p:cNvPr id="140" name="Shape 110"/>
          <p:cNvSpPr/>
          <p:nvPr/>
        </p:nvSpPr>
        <p:spPr>
          <a:xfrm>
            <a:off x="4698873" y="2729484"/>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41" name="Text 111"/>
          <p:cNvSpPr txBox="1"/>
          <p:nvPr/>
        </p:nvSpPr>
        <p:spPr>
          <a:xfrm>
            <a:off x="4744593" y="2755087"/>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documents[]</a:t>
            </a:r>
            <a:endParaRPr lang="en-US" sz="620" dirty="0"/>
          </a:p>
        </p:txBody>
      </p:sp>
      <p:sp>
        <p:nvSpPr>
          <p:cNvPr id="142" name="Text 112"/>
          <p:cNvSpPr txBox="1"/>
          <p:nvPr/>
        </p:nvSpPr>
        <p:spPr>
          <a:xfrm>
            <a:off x="4744593" y="2889504"/>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documentId (page 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sections[]: heading, level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tables[], links[]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businessRules[]: ruleText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objectsReferenced[], hash</a:t>
            </a:r>
            <a:endParaRPr lang="en-US" sz="550" dirty="0"/>
          </a:p>
        </p:txBody>
      </p:sp>
      <p:sp>
        <p:nvSpPr>
          <p:cNvPr id="143" name="Shape 113"/>
          <p:cNvSpPr/>
          <p:nvPr/>
        </p:nvSpPr>
        <p:spPr>
          <a:xfrm>
            <a:off x="4698873" y="3399282"/>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44" name="Text 114"/>
          <p:cNvSpPr txBox="1"/>
          <p:nvPr/>
        </p:nvSpPr>
        <p:spPr>
          <a:xfrm>
            <a:off x="4744593" y="3424885"/>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salesforceObjects[]</a:t>
            </a:r>
            <a:endParaRPr lang="en-US" sz="620" dirty="0"/>
          </a:p>
        </p:txBody>
      </p:sp>
      <p:sp>
        <p:nvSpPr>
          <p:cNvPr id="145" name="Text 115"/>
          <p:cNvSpPr txBox="1"/>
          <p:nvPr/>
        </p:nvSpPr>
        <p:spPr>
          <a:xfrm>
            <a:off x="4744593" y="3559302"/>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objectApiName, label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recordTypes[]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fields[]: type, formula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relationships[]: lookup, M-D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sharingModel, permSets[]</a:t>
            </a:r>
            <a:endParaRPr lang="en-US" sz="550" dirty="0"/>
          </a:p>
        </p:txBody>
      </p:sp>
      <p:sp>
        <p:nvSpPr>
          <p:cNvPr id="146" name="Shape 116"/>
          <p:cNvSpPr/>
          <p:nvPr/>
        </p:nvSpPr>
        <p:spPr>
          <a:xfrm>
            <a:off x="4698873" y="4069080"/>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47" name="Text 117"/>
          <p:cNvSpPr txBox="1"/>
          <p:nvPr/>
        </p:nvSpPr>
        <p:spPr>
          <a:xfrm>
            <a:off x="4744593" y="4094683"/>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automations[]</a:t>
            </a:r>
            <a:endParaRPr lang="en-US" sz="620" dirty="0"/>
          </a:p>
        </p:txBody>
      </p:sp>
      <p:sp>
        <p:nvSpPr>
          <p:cNvPr id="148" name="Text 118"/>
          <p:cNvSpPr txBox="1"/>
          <p:nvPr/>
        </p:nvSpPr>
        <p:spPr>
          <a:xfrm>
            <a:off x="4744593" y="4229100"/>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componentId, apiName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 | APEX | TRIGGER | VR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objectsTouched[]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dmlOperations, soqlQueries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testCoverage · riskTier</a:t>
            </a:r>
            <a:endParaRPr lang="en-US" sz="550" dirty="0"/>
          </a:p>
        </p:txBody>
      </p:sp>
      <p:sp>
        <p:nvSpPr>
          <p:cNvPr id="149" name="Shape 119"/>
          <p:cNvSpPr/>
          <p:nvPr/>
        </p:nvSpPr>
        <p:spPr>
          <a:xfrm>
            <a:off x="4698873" y="473887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50" name="Text 120"/>
          <p:cNvSpPr txBox="1"/>
          <p:nvPr/>
        </p:nvSpPr>
        <p:spPr>
          <a:xfrm>
            <a:off x="4744593" y="476448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Tests &amp; releases</a:t>
            </a:r>
            <a:endParaRPr lang="en-US" sz="620" dirty="0"/>
          </a:p>
        </p:txBody>
      </p:sp>
      <p:sp>
        <p:nvSpPr>
          <p:cNvPr id="151" name="Text 121"/>
          <p:cNvSpPr txBox="1"/>
          <p:nvPr/>
        </p:nvSpPr>
        <p:spPr>
          <a:xfrm>
            <a:off x="4744593" y="489889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testAssets[]: robotic + regr.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assertions[], evidenceUri</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releases[]: env, components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integrations[]: APDH events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SF → Queueable → Pub/Sub</a:t>
            </a:r>
            <a:endParaRPr lang="en-US" sz="550" dirty="0"/>
          </a:p>
        </p:txBody>
      </p:sp>
      <p:sp>
        <p:nvSpPr>
          <p:cNvPr id="152" name="Shape 122"/>
          <p:cNvSpPr/>
          <p:nvPr/>
        </p:nvSpPr>
        <p:spPr>
          <a:xfrm>
            <a:off x="4698873" y="5404104"/>
            <a:ext cx="1295019" cy="384048"/>
          </a:xfrm>
          <a:prstGeom prst="roundRect">
            <a:avLst>
              <a:gd name="adj" fmla="val 9524"/>
            </a:avLst>
          </a:prstGeom>
          <a:solidFill>
            <a:srgbClr val="C2185B"/>
          </a:solidFill>
          <a:ln w="12700">
            <a:solidFill>
              <a:srgbClr val="C2185B"/>
            </a:solidFill>
            <a:prstDash val="solid"/>
          </a:ln>
        </p:spPr>
        <p:txBody>
          <a:bodyPr/>
          <a:lstStyle/>
          <a:p>
            <a:endParaRPr lang="en-IN"/>
          </a:p>
        </p:txBody>
      </p:sp>
      <p:sp>
        <p:nvSpPr>
          <p:cNvPr id="153" name="Text 123"/>
          <p:cNvSpPr txBox="1"/>
          <p:nvPr/>
        </p:nvSpPr>
        <p:spPr>
          <a:xfrm>
            <a:off x="4744593"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154" name="Text 124"/>
          <p:cNvSpPr txBox="1"/>
          <p:nvPr/>
        </p:nvSpPr>
        <p:spPr>
          <a:xfrm>
            <a:off x="4744593"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One model linking requirements, code, objects, tests, releases</a:t>
            </a:r>
            <a:endParaRPr lang="en-US" sz="520" dirty="0"/>
          </a:p>
        </p:txBody>
      </p:sp>
      <p:sp>
        <p:nvSpPr>
          <p:cNvPr id="155" name="Shape 125"/>
          <p:cNvSpPr/>
          <p:nvPr/>
        </p:nvSpPr>
        <p:spPr>
          <a:xfrm>
            <a:off x="6149340" y="722376"/>
            <a:ext cx="1386459" cy="5111496"/>
          </a:xfrm>
          <a:prstGeom prst="roundRect">
            <a:avLst>
              <a:gd name="adj" fmla="val 3298"/>
            </a:avLst>
          </a:prstGeom>
          <a:solidFill>
            <a:srgbClr val="FDF1DE"/>
          </a:solidFill>
          <a:ln w="9525">
            <a:solidFill>
              <a:srgbClr val="DCE4EE"/>
            </a:solidFill>
            <a:prstDash val="solid"/>
          </a:ln>
        </p:spPr>
        <p:txBody>
          <a:bodyPr/>
          <a:lstStyle/>
          <a:p>
            <a:endParaRPr lang="en-IN"/>
          </a:p>
        </p:txBody>
      </p:sp>
      <p:sp>
        <p:nvSpPr>
          <p:cNvPr id="156" name="Shape 126"/>
          <p:cNvSpPr/>
          <p:nvPr/>
        </p:nvSpPr>
        <p:spPr>
          <a:xfrm>
            <a:off x="6149340" y="722376"/>
            <a:ext cx="1386459" cy="621792"/>
          </a:xfrm>
          <a:prstGeom prst="roundRect">
            <a:avLst>
              <a:gd name="adj" fmla="val 7353"/>
            </a:avLst>
          </a:prstGeom>
          <a:solidFill>
            <a:srgbClr val="C77400"/>
          </a:solidFill>
          <a:ln w="12700">
            <a:solidFill>
              <a:srgbClr val="C77400"/>
            </a:solidFill>
            <a:prstDash val="solid"/>
          </a:ln>
        </p:spPr>
        <p:txBody>
          <a:bodyPr/>
          <a:lstStyle/>
          <a:p>
            <a:endParaRPr lang="en-IN"/>
          </a:p>
        </p:txBody>
      </p:sp>
      <p:pic>
        <p:nvPicPr>
          <p:cNvPr id="157" name="Image 28" descr="preencoded.png"/>
          <p:cNvPicPr>
            <a:picLocks noChangeAspect="1"/>
          </p:cNvPicPr>
          <p:nvPr/>
        </p:nvPicPr>
        <p:blipFill>
          <a:blip r:embed="rId13"/>
          <a:stretch>
            <a:fillRect/>
          </a:stretch>
        </p:blipFill>
        <p:spPr>
          <a:xfrm>
            <a:off x="6773989" y="754380"/>
            <a:ext cx="137160" cy="137160"/>
          </a:xfrm>
          <a:prstGeom prst="rect">
            <a:avLst/>
          </a:prstGeom>
        </p:spPr>
      </p:pic>
      <p:sp>
        <p:nvSpPr>
          <p:cNvPr id="158" name="Text 127"/>
          <p:cNvSpPr txBox="1"/>
          <p:nvPr/>
        </p:nvSpPr>
        <p:spPr>
          <a:xfrm>
            <a:off x="6185916"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5</a:t>
            </a:r>
            <a:endParaRPr lang="en-US" sz="560" dirty="0"/>
          </a:p>
        </p:txBody>
      </p:sp>
      <p:sp>
        <p:nvSpPr>
          <p:cNvPr id="159" name="Text 128"/>
          <p:cNvSpPr txBox="1"/>
          <p:nvPr/>
        </p:nvSpPr>
        <p:spPr>
          <a:xfrm>
            <a:off x="6176772"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Graph Storage</a:t>
            </a:r>
            <a:endParaRPr lang="en-US" sz="800" dirty="0"/>
          </a:p>
        </p:txBody>
      </p:sp>
      <p:sp>
        <p:nvSpPr>
          <p:cNvPr id="160" name="Text 129"/>
          <p:cNvSpPr txBox="1"/>
          <p:nvPr/>
        </p:nvSpPr>
        <p:spPr>
          <a:xfrm>
            <a:off x="6176772"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Neutral JSON contract</a:t>
            </a:r>
            <a:endParaRPr lang="en-US" sz="520" dirty="0"/>
          </a:p>
        </p:txBody>
      </p:sp>
      <p:sp>
        <p:nvSpPr>
          <p:cNvPr id="161" name="Shape 130"/>
          <p:cNvSpPr/>
          <p:nvPr/>
        </p:nvSpPr>
        <p:spPr>
          <a:xfrm>
            <a:off x="7543114"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162" name="Shape 131"/>
          <p:cNvSpPr/>
          <p:nvPr/>
        </p:nvSpPr>
        <p:spPr>
          <a:xfrm>
            <a:off x="6195060" y="1389888"/>
            <a:ext cx="1295019" cy="2045056"/>
          </a:xfrm>
          <a:prstGeom prst="roundRect">
            <a:avLst>
              <a:gd name="adj" fmla="val 2824"/>
            </a:avLst>
          </a:prstGeom>
          <a:solidFill>
            <a:srgbClr val="FFFFFF"/>
          </a:solidFill>
          <a:ln w="9525">
            <a:solidFill>
              <a:srgbClr val="DCE4EE"/>
            </a:solidFill>
            <a:prstDash val="solid"/>
          </a:ln>
        </p:spPr>
        <p:txBody>
          <a:bodyPr/>
          <a:lstStyle/>
          <a:p>
            <a:endParaRPr lang="en-IN"/>
          </a:p>
        </p:txBody>
      </p:sp>
      <p:sp>
        <p:nvSpPr>
          <p:cNvPr id="163" name="Text 132"/>
          <p:cNvSpPr txBox="1"/>
          <p:nvPr/>
        </p:nvSpPr>
        <p:spPr>
          <a:xfrm>
            <a:off x="6240780"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77400"/>
                </a:solidFill>
                <a:latin typeface="Trenda IG Text Semibold" pitchFamily="34" charset="0"/>
                <a:ea typeface="Trenda IG Text Semibold" pitchFamily="34" charset="-122"/>
                <a:cs typeface="Trenda IG Text Semibold" pitchFamily="34" charset="-120"/>
              </a:rPr>
              <a:t>context.json (excerpt)</a:t>
            </a:r>
            <a:endParaRPr lang="en-US" sz="620" dirty="0"/>
          </a:p>
        </p:txBody>
      </p:sp>
      <p:sp>
        <p:nvSpPr>
          <p:cNvPr id="164" name="Text 133"/>
          <p:cNvSpPr txBox="1"/>
          <p:nvPr/>
        </p:nvSpPr>
        <p:spPr>
          <a:xfrm>
            <a:off x="6240780" y="1549908"/>
            <a:ext cx="1203579" cy="1853032"/>
          </a:xfrm>
          <a:prstGeom prst="rect">
            <a:avLst/>
          </a:prstGeom>
          <a:noFill/>
          <a:ln/>
        </p:spPr>
        <p:txBody>
          <a:bodyPr wrap="square" lIns="0" tIns="0" rIns="0" bIns="0" rtlCol="0" anchor="t"/>
          <a:lstStyle/>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"snapshotId": "b7f1c2e4",</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"nodes":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"id": "sobj:HFN__c",</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"type": "SOBJECT",</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"properties":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"fieldCount": 148,</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"testCoverage": 81,</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"riskTier": "HIGH"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"sourceReferences":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"artifactPath":</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"objects/HFN__c.xml",</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"artifactHash":</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"sha256:9f2b...c41d"}]}],</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"relationships":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"type":</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"FLOW_UPDATES_SOBJECT",</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"from": "flow:HFN_Gen",</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"to": "sobj:HFN__c",</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"origin": "FACTUAL",</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"confidence": 1.0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a:t>
            </a:r>
            <a:endParaRPr lang="en-US" sz="540" dirty="0"/>
          </a:p>
        </p:txBody>
      </p:sp>
      <p:sp>
        <p:nvSpPr>
          <p:cNvPr id="165" name="Shape 134"/>
          <p:cNvSpPr/>
          <p:nvPr/>
        </p:nvSpPr>
        <p:spPr>
          <a:xfrm>
            <a:off x="6195060" y="3476092"/>
            <a:ext cx="1295019" cy="925144"/>
          </a:xfrm>
          <a:prstGeom prst="roundRect">
            <a:avLst>
              <a:gd name="adj" fmla="val 3954"/>
            </a:avLst>
          </a:prstGeom>
          <a:solidFill>
            <a:srgbClr val="FFFFFF"/>
          </a:solidFill>
          <a:ln w="9525">
            <a:solidFill>
              <a:srgbClr val="DCE4EE"/>
            </a:solidFill>
            <a:prstDash val="solid"/>
          </a:ln>
        </p:spPr>
        <p:txBody>
          <a:bodyPr/>
          <a:lstStyle/>
          <a:p>
            <a:endParaRPr lang="en-IN"/>
          </a:p>
        </p:txBody>
      </p:sp>
      <p:sp>
        <p:nvSpPr>
          <p:cNvPr id="166" name="Text 135"/>
          <p:cNvSpPr txBox="1"/>
          <p:nvPr/>
        </p:nvSpPr>
        <p:spPr>
          <a:xfrm>
            <a:off x="6240780" y="3501695"/>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77400"/>
                </a:solidFill>
                <a:latin typeface="Trenda IG Text Semibold" pitchFamily="34" charset="0"/>
                <a:ea typeface="Trenda IG Text Semibold" pitchFamily="34" charset="-122"/>
                <a:cs typeface="Trenda IG Text Semibold" pitchFamily="34" charset="-120"/>
              </a:rPr>
              <a:t>What the file holds</a:t>
            </a:r>
            <a:endParaRPr lang="en-US" sz="620" dirty="0"/>
          </a:p>
        </p:txBody>
      </p:sp>
      <p:sp>
        <p:nvSpPr>
          <p:cNvPr id="167" name="Text 136"/>
          <p:cNvSpPr txBox="1"/>
          <p:nvPr/>
        </p:nvSpPr>
        <p:spPr>
          <a:xfrm>
            <a:off x="6240780" y="3636112"/>
            <a:ext cx="1203579" cy="733120"/>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Every node with properties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Every typed relationship</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on each element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SHA-256 source references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One snapshot per sync run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Vendor-neutral, portable</a:t>
            </a:r>
            <a:endParaRPr lang="en-US" sz="550" dirty="0"/>
          </a:p>
        </p:txBody>
      </p:sp>
      <p:sp>
        <p:nvSpPr>
          <p:cNvPr id="168" name="Shape 137"/>
          <p:cNvSpPr/>
          <p:nvPr/>
        </p:nvSpPr>
        <p:spPr>
          <a:xfrm>
            <a:off x="6195060" y="4442384"/>
            <a:ext cx="1295019" cy="925144"/>
          </a:xfrm>
          <a:prstGeom prst="roundRect">
            <a:avLst>
              <a:gd name="adj" fmla="val 3954"/>
            </a:avLst>
          </a:prstGeom>
          <a:solidFill>
            <a:srgbClr val="FFFFFF"/>
          </a:solidFill>
          <a:ln w="9525">
            <a:solidFill>
              <a:srgbClr val="DCE4EE"/>
            </a:solidFill>
            <a:prstDash val="solid"/>
          </a:ln>
        </p:spPr>
        <p:txBody>
          <a:bodyPr/>
          <a:lstStyle/>
          <a:p>
            <a:endParaRPr lang="en-IN"/>
          </a:p>
        </p:txBody>
      </p:sp>
      <p:sp>
        <p:nvSpPr>
          <p:cNvPr id="169" name="Text 138"/>
          <p:cNvSpPr txBox="1"/>
          <p:nvPr/>
        </p:nvSpPr>
        <p:spPr>
          <a:xfrm>
            <a:off x="6240780" y="4467987"/>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77400"/>
                </a:solidFill>
                <a:latin typeface="Trenda IG Text Semibold" pitchFamily="34" charset="0"/>
                <a:ea typeface="Trenda IG Text Semibold" pitchFamily="34" charset="-122"/>
                <a:cs typeface="Trenda IG Text Semibold" pitchFamily="34" charset="-120"/>
              </a:rPr>
              <a:t>Storage rules</a:t>
            </a:r>
            <a:endParaRPr lang="en-US" sz="620" dirty="0"/>
          </a:p>
        </p:txBody>
      </p:sp>
      <p:sp>
        <p:nvSpPr>
          <p:cNvPr id="170" name="Text 139"/>
          <p:cNvSpPr txBox="1"/>
          <p:nvPr/>
        </p:nvSpPr>
        <p:spPr>
          <a:xfrm>
            <a:off x="6240780" y="4602404"/>
            <a:ext cx="1203579" cy="733120"/>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Rebuilt on each sync</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Never written back to source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Versioned per snapshotId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SHA-256 change detection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Metadata + sanitized data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Encrypted at rest</a:t>
            </a:r>
            <a:endParaRPr lang="en-US" sz="550" dirty="0"/>
          </a:p>
        </p:txBody>
      </p:sp>
      <p:sp>
        <p:nvSpPr>
          <p:cNvPr id="171" name="Shape 140"/>
          <p:cNvSpPr/>
          <p:nvPr/>
        </p:nvSpPr>
        <p:spPr>
          <a:xfrm>
            <a:off x="6195060" y="5404104"/>
            <a:ext cx="1295019" cy="384048"/>
          </a:xfrm>
          <a:prstGeom prst="roundRect">
            <a:avLst>
              <a:gd name="adj" fmla="val 9524"/>
            </a:avLst>
          </a:prstGeom>
          <a:solidFill>
            <a:srgbClr val="C77400"/>
          </a:solidFill>
          <a:ln w="12700">
            <a:solidFill>
              <a:srgbClr val="C77400"/>
            </a:solidFill>
            <a:prstDash val="solid"/>
          </a:ln>
        </p:spPr>
        <p:txBody>
          <a:bodyPr/>
          <a:lstStyle/>
          <a:p>
            <a:endParaRPr lang="en-IN"/>
          </a:p>
        </p:txBody>
      </p:sp>
      <p:sp>
        <p:nvSpPr>
          <p:cNvPr id="172" name="Text 141"/>
          <p:cNvSpPr txBox="1"/>
          <p:nvPr/>
        </p:nvSpPr>
        <p:spPr>
          <a:xfrm>
            <a:off x="6240780"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173" name="Text 142"/>
          <p:cNvSpPr txBox="1"/>
          <p:nvPr/>
        </p:nvSpPr>
        <p:spPr>
          <a:xfrm>
            <a:off x="6240780"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A portable snapshot any tool or engine can consume</a:t>
            </a:r>
            <a:endParaRPr lang="en-US" sz="520" dirty="0"/>
          </a:p>
        </p:txBody>
      </p:sp>
      <p:sp>
        <p:nvSpPr>
          <p:cNvPr id="174" name="Shape 143"/>
          <p:cNvSpPr/>
          <p:nvPr/>
        </p:nvSpPr>
        <p:spPr>
          <a:xfrm>
            <a:off x="7645527" y="722376"/>
            <a:ext cx="1386459" cy="5111496"/>
          </a:xfrm>
          <a:prstGeom prst="roundRect">
            <a:avLst>
              <a:gd name="adj" fmla="val 3298"/>
            </a:avLst>
          </a:prstGeom>
          <a:solidFill>
            <a:srgbClr val="FBEAEA"/>
          </a:solidFill>
          <a:ln w="9525">
            <a:solidFill>
              <a:srgbClr val="DCE4EE"/>
            </a:solidFill>
            <a:prstDash val="solid"/>
          </a:ln>
        </p:spPr>
        <p:txBody>
          <a:bodyPr/>
          <a:lstStyle/>
          <a:p>
            <a:endParaRPr lang="en-IN"/>
          </a:p>
        </p:txBody>
      </p:sp>
      <p:sp>
        <p:nvSpPr>
          <p:cNvPr id="175" name="Shape 144"/>
          <p:cNvSpPr/>
          <p:nvPr/>
        </p:nvSpPr>
        <p:spPr>
          <a:xfrm>
            <a:off x="7645527" y="722376"/>
            <a:ext cx="1386459" cy="621792"/>
          </a:xfrm>
          <a:prstGeom prst="roundRect">
            <a:avLst>
              <a:gd name="adj" fmla="val 7353"/>
            </a:avLst>
          </a:prstGeom>
          <a:solidFill>
            <a:srgbClr val="C62828"/>
          </a:solidFill>
          <a:ln w="12700">
            <a:solidFill>
              <a:srgbClr val="C62828"/>
            </a:solidFill>
            <a:prstDash val="solid"/>
          </a:ln>
        </p:spPr>
        <p:txBody>
          <a:bodyPr/>
          <a:lstStyle/>
          <a:p>
            <a:endParaRPr lang="en-IN"/>
          </a:p>
        </p:txBody>
      </p:sp>
      <p:pic>
        <p:nvPicPr>
          <p:cNvPr id="176" name="Image 29" descr="preencoded.png"/>
          <p:cNvPicPr>
            <a:picLocks noChangeAspect="1"/>
          </p:cNvPicPr>
          <p:nvPr/>
        </p:nvPicPr>
        <p:blipFill>
          <a:blip r:embed="rId14"/>
          <a:stretch>
            <a:fillRect/>
          </a:stretch>
        </p:blipFill>
        <p:spPr>
          <a:xfrm>
            <a:off x="8270177" y="754380"/>
            <a:ext cx="137160" cy="137160"/>
          </a:xfrm>
          <a:prstGeom prst="rect">
            <a:avLst/>
          </a:prstGeom>
        </p:spPr>
      </p:pic>
      <p:sp>
        <p:nvSpPr>
          <p:cNvPr id="177" name="Text 145"/>
          <p:cNvSpPr txBox="1"/>
          <p:nvPr/>
        </p:nvSpPr>
        <p:spPr>
          <a:xfrm>
            <a:off x="7682103"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6</a:t>
            </a:r>
            <a:endParaRPr lang="en-US" sz="560" dirty="0"/>
          </a:p>
        </p:txBody>
      </p:sp>
      <p:sp>
        <p:nvSpPr>
          <p:cNvPr id="178" name="Text 146"/>
          <p:cNvSpPr txBox="1"/>
          <p:nvPr/>
        </p:nvSpPr>
        <p:spPr>
          <a:xfrm>
            <a:off x="7672959"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Graph Exporter</a:t>
            </a:r>
            <a:endParaRPr lang="en-US" sz="800" dirty="0"/>
          </a:p>
        </p:txBody>
      </p:sp>
      <p:sp>
        <p:nvSpPr>
          <p:cNvPr id="179" name="Text 147"/>
          <p:cNvSpPr txBox="1"/>
          <p:nvPr/>
        </p:nvSpPr>
        <p:spPr>
          <a:xfrm>
            <a:off x="7672959"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Context → graph export</a:t>
            </a:r>
            <a:endParaRPr lang="en-US" sz="520" dirty="0"/>
          </a:p>
        </p:txBody>
      </p:sp>
      <p:sp>
        <p:nvSpPr>
          <p:cNvPr id="180" name="Shape 148"/>
          <p:cNvSpPr/>
          <p:nvPr/>
        </p:nvSpPr>
        <p:spPr>
          <a:xfrm>
            <a:off x="9039301"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181" name="Shape 149"/>
          <p:cNvSpPr/>
          <p:nvPr/>
        </p:nvSpPr>
        <p:spPr>
          <a:xfrm>
            <a:off x="7691247" y="1389888"/>
            <a:ext cx="1295019" cy="1756921"/>
          </a:xfrm>
          <a:prstGeom prst="roundRect">
            <a:avLst>
              <a:gd name="adj" fmla="val 2824"/>
            </a:avLst>
          </a:prstGeom>
          <a:solidFill>
            <a:srgbClr val="FFFFFF"/>
          </a:solidFill>
          <a:ln w="9525">
            <a:solidFill>
              <a:srgbClr val="DCE4EE"/>
            </a:solidFill>
            <a:prstDash val="solid"/>
          </a:ln>
        </p:spPr>
        <p:txBody>
          <a:bodyPr/>
          <a:lstStyle/>
          <a:p>
            <a:endParaRPr lang="en-IN"/>
          </a:p>
        </p:txBody>
      </p:sp>
      <p:sp>
        <p:nvSpPr>
          <p:cNvPr id="182" name="Text 150"/>
          <p:cNvSpPr txBox="1"/>
          <p:nvPr/>
        </p:nvSpPr>
        <p:spPr>
          <a:xfrm>
            <a:off x="7736967"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62828"/>
                </a:solidFill>
                <a:latin typeface="Trenda IG Text Semibold" pitchFamily="34" charset="0"/>
                <a:ea typeface="Trenda IG Text Semibold" pitchFamily="34" charset="-122"/>
                <a:cs typeface="Trenda IG Text Semibold" pitchFamily="34" charset="-120"/>
              </a:rPr>
              <a:t>Node types</a:t>
            </a:r>
            <a:endParaRPr lang="en-US" sz="620" dirty="0"/>
          </a:p>
        </p:txBody>
      </p:sp>
      <p:sp>
        <p:nvSpPr>
          <p:cNvPr id="183" name="Text 151"/>
          <p:cNvSpPr txBox="1"/>
          <p:nvPr/>
        </p:nvSpPr>
        <p:spPr>
          <a:xfrm>
            <a:off x="7736967" y="1549908"/>
            <a:ext cx="1203579" cy="1564897"/>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APPLICATION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BUSINESS_CAPABILITY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REQUIREMENT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DESIGN_DOCUMENT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DOCUMENT_SECTION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BUSINESS_RULE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FIELD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APEX_CLASS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APEX_TRIGGER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VALIDATION_RULE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LWC_COMPONENT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TEST_CASE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REPOSITORY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COMPONENT_FILE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RELEASE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ENVIRONMENT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INTEGRATION_EVENT</a:t>
            </a:r>
            <a:endParaRPr lang="en-US" sz="550" dirty="0"/>
          </a:p>
        </p:txBody>
      </p:sp>
      <p:sp>
        <p:nvSpPr>
          <p:cNvPr id="184" name="Shape 152"/>
          <p:cNvSpPr/>
          <p:nvPr/>
        </p:nvSpPr>
        <p:spPr>
          <a:xfrm>
            <a:off x="7691247" y="3187957"/>
            <a:ext cx="1295019" cy="1515972"/>
          </a:xfrm>
          <a:prstGeom prst="roundRect">
            <a:avLst>
              <a:gd name="adj" fmla="val 2824"/>
            </a:avLst>
          </a:prstGeom>
          <a:solidFill>
            <a:srgbClr val="FFFFFF"/>
          </a:solidFill>
          <a:ln w="9525">
            <a:solidFill>
              <a:srgbClr val="DCE4EE"/>
            </a:solidFill>
            <a:prstDash val="solid"/>
          </a:ln>
        </p:spPr>
        <p:txBody>
          <a:bodyPr/>
          <a:lstStyle/>
          <a:p>
            <a:endParaRPr lang="en-IN"/>
          </a:p>
        </p:txBody>
      </p:sp>
      <p:sp>
        <p:nvSpPr>
          <p:cNvPr id="185" name="Text 153"/>
          <p:cNvSpPr txBox="1"/>
          <p:nvPr/>
        </p:nvSpPr>
        <p:spPr>
          <a:xfrm>
            <a:off x="7736967" y="3213560"/>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62828"/>
                </a:solidFill>
                <a:latin typeface="Trenda IG Text Semibold" pitchFamily="34" charset="0"/>
                <a:ea typeface="Trenda IG Text Semibold" pitchFamily="34" charset="-122"/>
                <a:cs typeface="Trenda IG Text Semibold" pitchFamily="34" charset="-120"/>
              </a:rPr>
              <a:t>Relationship types</a:t>
            </a:r>
            <a:endParaRPr lang="en-US" sz="620" dirty="0"/>
          </a:p>
        </p:txBody>
      </p:sp>
      <p:sp>
        <p:nvSpPr>
          <p:cNvPr id="186" name="Text 154"/>
          <p:cNvSpPr txBox="1"/>
          <p:nvPr/>
        </p:nvSpPr>
        <p:spPr>
          <a:xfrm>
            <a:off x="7736967" y="3347977"/>
            <a:ext cx="1203579" cy="1323948"/>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REQ_TARGETS_CAPABILITY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REQ_SPECIFIED_BY_DOC</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DOCUMENT_HAS_SECTION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SECTION_DEFINES_RULE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RULE_CONSTRAINS_SOBJECT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SOBJECT_HAS_FIELD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SOBJECT_RELATES_TO_SOBJ</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FLOW_UPDATES_SOBJECT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APEX_REFERENCES_SOBJECT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TRIGGER_FIRES_ON_SOBJECT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COMP_DEPENDS_ON_COMP</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TEST_COVERS_COMPONENT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REQ_IMPLEMENTED_BY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RELEASE_DEPLOYS_COMP</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COMP_PUBLISHES_EVENT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REQ_REUSES_COMPONENT</a:t>
            </a:r>
            <a:endParaRPr lang="en-US" sz="550" dirty="0"/>
          </a:p>
        </p:txBody>
      </p:sp>
      <p:sp>
        <p:nvSpPr>
          <p:cNvPr id="187" name="Shape 155"/>
          <p:cNvSpPr/>
          <p:nvPr/>
        </p:nvSpPr>
        <p:spPr>
          <a:xfrm>
            <a:off x="7691247" y="4745076"/>
            <a:ext cx="1295019" cy="622452"/>
          </a:xfrm>
          <a:prstGeom prst="roundRect">
            <a:avLst>
              <a:gd name="adj" fmla="val 5876"/>
            </a:avLst>
          </a:prstGeom>
          <a:solidFill>
            <a:srgbClr val="FFFFFF"/>
          </a:solidFill>
          <a:ln w="9525">
            <a:solidFill>
              <a:srgbClr val="DCE4EE"/>
            </a:solidFill>
            <a:prstDash val="solid"/>
          </a:ln>
        </p:spPr>
        <p:txBody>
          <a:bodyPr/>
          <a:lstStyle/>
          <a:p>
            <a:endParaRPr lang="en-IN"/>
          </a:p>
        </p:txBody>
      </p:sp>
      <p:sp>
        <p:nvSpPr>
          <p:cNvPr id="188" name="Text 156"/>
          <p:cNvSpPr txBox="1"/>
          <p:nvPr/>
        </p:nvSpPr>
        <p:spPr>
          <a:xfrm>
            <a:off x="7736967" y="4770679"/>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62828"/>
                </a:solidFill>
                <a:latin typeface="Trenda IG Text Semibold" pitchFamily="34" charset="0"/>
                <a:ea typeface="Trenda IG Text Semibold" pitchFamily="34" charset="-122"/>
                <a:cs typeface="Trenda IG Text Semibold" pitchFamily="34" charset="-120"/>
              </a:rPr>
              <a:t>Properties preserved</a:t>
            </a:r>
            <a:endParaRPr lang="en-US" sz="620" dirty="0"/>
          </a:p>
        </p:txBody>
      </p:sp>
      <p:sp>
        <p:nvSpPr>
          <p:cNvPr id="189" name="Text 157"/>
          <p:cNvSpPr txBox="1"/>
          <p:nvPr/>
        </p:nvSpPr>
        <p:spPr>
          <a:xfrm>
            <a:off x="7736967" y="4905096"/>
            <a:ext cx="1203579" cy="430428"/>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All domain metadata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 derivation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Source refs, exact location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Confidence 1.0 / inferred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Risk tier per component</a:t>
            </a:r>
            <a:endParaRPr lang="en-US" sz="550" dirty="0"/>
          </a:p>
        </p:txBody>
      </p:sp>
      <p:sp>
        <p:nvSpPr>
          <p:cNvPr id="190" name="Shape 158"/>
          <p:cNvSpPr/>
          <p:nvPr/>
        </p:nvSpPr>
        <p:spPr>
          <a:xfrm>
            <a:off x="7691247" y="5404104"/>
            <a:ext cx="1295019" cy="384048"/>
          </a:xfrm>
          <a:prstGeom prst="roundRect">
            <a:avLst>
              <a:gd name="adj" fmla="val 9524"/>
            </a:avLst>
          </a:prstGeom>
          <a:solidFill>
            <a:srgbClr val="C62828"/>
          </a:solidFill>
          <a:ln w="12700">
            <a:solidFill>
              <a:srgbClr val="C62828"/>
            </a:solidFill>
            <a:prstDash val="solid"/>
          </a:ln>
        </p:spPr>
        <p:txBody>
          <a:bodyPr/>
          <a:lstStyle/>
          <a:p>
            <a:endParaRPr lang="en-IN"/>
          </a:p>
        </p:txBody>
      </p:sp>
      <p:sp>
        <p:nvSpPr>
          <p:cNvPr id="191" name="Text 159"/>
          <p:cNvSpPr txBox="1"/>
          <p:nvPr/>
        </p:nvSpPr>
        <p:spPr>
          <a:xfrm>
            <a:off x="7736967"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192" name="Text 160"/>
          <p:cNvSpPr txBox="1"/>
          <p:nvPr/>
        </p:nvSpPr>
        <p:spPr>
          <a:xfrm>
            <a:off x="7736967"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Dependencies made explicit as a typed, queryable graph</a:t>
            </a:r>
            <a:endParaRPr lang="en-US" sz="520" dirty="0"/>
          </a:p>
        </p:txBody>
      </p:sp>
      <p:sp>
        <p:nvSpPr>
          <p:cNvPr id="193" name="Shape 161"/>
          <p:cNvSpPr/>
          <p:nvPr/>
        </p:nvSpPr>
        <p:spPr>
          <a:xfrm>
            <a:off x="9141714" y="722376"/>
            <a:ext cx="1386459" cy="5111496"/>
          </a:xfrm>
          <a:prstGeom prst="roundRect">
            <a:avLst>
              <a:gd name="adj" fmla="val 3298"/>
            </a:avLst>
          </a:prstGeom>
          <a:solidFill>
            <a:srgbClr val="E9F3EA"/>
          </a:solidFill>
          <a:ln w="9525">
            <a:solidFill>
              <a:srgbClr val="DCE4EE"/>
            </a:solidFill>
            <a:prstDash val="solid"/>
          </a:ln>
        </p:spPr>
        <p:txBody>
          <a:bodyPr/>
          <a:lstStyle/>
          <a:p>
            <a:endParaRPr lang="en-IN"/>
          </a:p>
        </p:txBody>
      </p:sp>
      <p:sp>
        <p:nvSpPr>
          <p:cNvPr id="194" name="Shape 162"/>
          <p:cNvSpPr/>
          <p:nvPr/>
        </p:nvSpPr>
        <p:spPr>
          <a:xfrm>
            <a:off x="9141714" y="722376"/>
            <a:ext cx="1386459" cy="621792"/>
          </a:xfrm>
          <a:prstGeom prst="roundRect">
            <a:avLst>
              <a:gd name="adj" fmla="val 7353"/>
            </a:avLst>
          </a:prstGeom>
          <a:solidFill>
            <a:srgbClr val="2E7D32"/>
          </a:solidFill>
          <a:ln w="12700">
            <a:solidFill>
              <a:srgbClr val="2E7D32"/>
            </a:solidFill>
            <a:prstDash val="solid"/>
          </a:ln>
        </p:spPr>
        <p:txBody>
          <a:bodyPr/>
          <a:lstStyle/>
          <a:p>
            <a:endParaRPr lang="en-IN"/>
          </a:p>
        </p:txBody>
      </p:sp>
      <p:pic>
        <p:nvPicPr>
          <p:cNvPr id="195" name="Image 30" descr="preencoded.png"/>
          <p:cNvPicPr>
            <a:picLocks noChangeAspect="1"/>
          </p:cNvPicPr>
          <p:nvPr/>
        </p:nvPicPr>
        <p:blipFill>
          <a:blip r:embed="rId15"/>
          <a:stretch>
            <a:fillRect/>
          </a:stretch>
        </p:blipFill>
        <p:spPr>
          <a:xfrm>
            <a:off x="9766364" y="754380"/>
            <a:ext cx="137160" cy="137160"/>
          </a:xfrm>
          <a:prstGeom prst="rect">
            <a:avLst/>
          </a:prstGeom>
        </p:spPr>
      </p:pic>
      <p:sp>
        <p:nvSpPr>
          <p:cNvPr id="196" name="Text 163"/>
          <p:cNvSpPr txBox="1"/>
          <p:nvPr/>
        </p:nvSpPr>
        <p:spPr>
          <a:xfrm>
            <a:off x="9178290"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7</a:t>
            </a:r>
            <a:endParaRPr lang="en-US" sz="560" dirty="0"/>
          </a:p>
        </p:txBody>
      </p:sp>
      <p:sp>
        <p:nvSpPr>
          <p:cNvPr id="197" name="Text 164"/>
          <p:cNvSpPr txBox="1"/>
          <p:nvPr/>
        </p:nvSpPr>
        <p:spPr>
          <a:xfrm>
            <a:off x="9169146"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Semantica ContextGraph</a:t>
            </a:r>
            <a:endParaRPr lang="en-US" sz="800" dirty="0"/>
          </a:p>
        </p:txBody>
      </p:sp>
      <p:sp>
        <p:nvSpPr>
          <p:cNvPr id="198" name="Text 165"/>
          <p:cNvSpPr txBox="1"/>
          <p:nvPr/>
        </p:nvSpPr>
        <p:spPr>
          <a:xfrm>
            <a:off x="9169146"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In-memory knowledge graph</a:t>
            </a:r>
            <a:endParaRPr lang="en-US" sz="520" dirty="0"/>
          </a:p>
        </p:txBody>
      </p:sp>
      <p:sp>
        <p:nvSpPr>
          <p:cNvPr id="199" name="Shape 166"/>
          <p:cNvSpPr/>
          <p:nvPr/>
        </p:nvSpPr>
        <p:spPr>
          <a:xfrm>
            <a:off x="10535488"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200" name="Shape 167"/>
          <p:cNvSpPr/>
          <p:nvPr/>
        </p:nvSpPr>
        <p:spPr>
          <a:xfrm>
            <a:off x="9187434" y="1389888"/>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01" name="Text 168"/>
          <p:cNvSpPr txBox="1"/>
          <p:nvPr/>
        </p:nvSpPr>
        <p:spPr>
          <a:xfrm>
            <a:off x="9233154"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2E7D32"/>
                </a:solidFill>
                <a:latin typeface="Trenda IG Text Semibold" pitchFamily="34" charset="0"/>
                <a:ea typeface="Trenda IG Text Semibold" pitchFamily="34" charset="-122"/>
                <a:cs typeface="Trenda IG Text Semibold" pitchFamily="34" charset="-120"/>
              </a:rPr>
              <a:t>Graph data structure</a:t>
            </a:r>
            <a:endParaRPr lang="en-US" sz="620" dirty="0"/>
          </a:p>
        </p:txBody>
      </p:sp>
      <p:sp>
        <p:nvSpPr>
          <p:cNvPr id="202" name="Text 169"/>
          <p:cNvSpPr txBox="1"/>
          <p:nvPr/>
        </p:nvSpPr>
        <p:spPr>
          <a:xfrm>
            <a:off x="9233154" y="1549908"/>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In-memory directed graph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Typed nodes + properties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Typed edges + weights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Adjacency index per 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O(1) node access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Type indexes for scans</a:t>
            </a:r>
            <a:endParaRPr lang="en-US" sz="550" dirty="0"/>
          </a:p>
        </p:txBody>
      </p:sp>
      <p:sp>
        <p:nvSpPr>
          <p:cNvPr id="203" name="Shape 170"/>
          <p:cNvSpPr/>
          <p:nvPr/>
        </p:nvSpPr>
        <p:spPr>
          <a:xfrm>
            <a:off x="9187434" y="2394585"/>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04" name="Text 171"/>
          <p:cNvSpPr txBox="1"/>
          <p:nvPr/>
        </p:nvSpPr>
        <p:spPr>
          <a:xfrm>
            <a:off x="9233154" y="2420188"/>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2E7D32"/>
                </a:solidFill>
                <a:latin typeface="Trenda IG Text Semibold" pitchFamily="34" charset="0"/>
                <a:ea typeface="Trenda IG Text Semibold" pitchFamily="34" charset="-122"/>
                <a:cs typeface="Trenda IG Text Semibold" pitchFamily="34" charset="-120"/>
              </a:rPr>
              <a:t>Graph operations</a:t>
            </a:r>
            <a:endParaRPr lang="en-US" sz="620" dirty="0"/>
          </a:p>
        </p:txBody>
      </p:sp>
      <p:sp>
        <p:nvSpPr>
          <p:cNvPr id="205" name="Text 172"/>
          <p:cNvSpPr txBox="1"/>
          <p:nvPr/>
        </p:nvSpPr>
        <p:spPr>
          <a:xfrm>
            <a:off x="9233154" y="2554605"/>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add_node(id, type, props)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add_edge(src, tgt, 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find_node(node_id)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find_nodes(node_type)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find_edges(edge_type)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has_node · retract</a:t>
            </a:r>
            <a:endParaRPr lang="en-US" sz="550" dirty="0"/>
          </a:p>
        </p:txBody>
      </p:sp>
      <p:sp>
        <p:nvSpPr>
          <p:cNvPr id="206" name="Shape 173"/>
          <p:cNvSpPr/>
          <p:nvPr/>
        </p:nvSpPr>
        <p:spPr>
          <a:xfrm>
            <a:off x="9187434" y="3399282"/>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07" name="Text 174"/>
          <p:cNvSpPr txBox="1"/>
          <p:nvPr/>
        </p:nvSpPr>
        <p:spPr>
          <a:xfrm>
            <a:off x="9233154" y="3424885"/>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2E7D32"/>
                </a:solidFill>
                <a:latin typeface="Trenda IG Text Semibold" pitchFamily="34" charset="0"/>
                <a:ea typeface="Trenda IG Text Semibold" pitchFamily="34" charset="-122"/>
                <a:cs typeface="Trenda IG Text Semibold" pitchFamily="34" charset="-120"/>
              </a:rPr>
              <a:t>Delivery analysis</a:t>
            </a:r>
            <a:endParaRPr lang="en-US" sz="620" dirty="0"/>
          </a:p>
        </p:txBody>
      </p:sp>
      <p:sp>
        <p:nvSpPr>
          <p:cNvPr id="208" name="Text 175"/>
          <p:cNvSpPr txBox="1"/>
          <p:nvPr/>
        </p:nvSpPr>
        <p:spPr>
          <a:xfrm>
            <a:off x="9233154" y="3559302"/>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blast_radius(node, hops)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reuse_candidates(capab.)</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risk_tier(components)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downstream_events → APDH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coverage_gap(component)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find_path(from, to)</a:t>
            </a:r>
            <a:endParaRPr lang="en-US" sz="550" dirty="0"/>
          </a:p>
        </p:txBody>
      </p:sp>
      <p:sp>
        <p:nvSpPr>
          <p:cNvPr id="209" name="Shape 176"/>
          <p:cNvSpPr/>
          <p:nvPr/>
        </p:nvSpPr>
        <p:spPr>
          <a:xfrm>
            <a:off x="9187434" y="4403979"/>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10" name="Text 177"/>
          <p:cNvSpPr txBox="1"/>
          <p:nvPr/>
        </p:nvSpPr>
        <p:spPr>
          <a:xfrm>
            <a:off x="9233154" y="4429582"/>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2E7D32"/>
                </a:solidFill>
                <a:latin typeface="Trenda IG Text Semibold" pitchFamily="34" charset="0"/>
                <a:ea typeface="Trenda IG Text Semibold" pitchFamily="34" charset="-122"/>
                <a:cs typeface="Trenda IG Text Semibold" pitchFamily="34" charset="-120"/>
              </a:rPr>
              <a:t>Analytics &amp; provenance</a:t>
            </a:r>
            <a:endParaRPr lang="en-US" sz="620" dirty="0"/>
          </a:p>
        </p:txBody>
      </p:sp>
      <p:sp>
        <p:nvSpPr>
          <p:cNvPr id="211" name="Text 178"/>
          <p:cNvSpPr txBox="1"/>
          <p:nvPr/>
        </p:nvSpPr>
        <p:spPr>
          <a:xfrm>
            <a:off x="9233154" y="4563999"/>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stats(): counts, density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Type distributions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Connected components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save / load_from_file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Snapshot diffing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Query &lt; 0.01s · 1M+ nodes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get_lineage, trace_source</a:t>
            </a:r>
            <a:endParaRPr lang="en-US" sz="550" dirty="0"/>
          </a:p>
        </p:txBody>
      </p:sp>
      <p:sp>
        <p:nvSpPr>
          <p:cNvPr id="212" name="Shape 179"/>
          <p:cNvSpPr/>
          <p:nvPr/>
        </p:nvSpPr>
        <p:spPr>
          <a:xfrm>
            <a:off x="9187434" y="5404104"/>
            <a:ext cx="1295019" cy="384048"/>
          </a:xfrm>
          <a:prstGeom prst="roundRect">
            <a:avLst>
              <a:gd name="adj" fmla="val 9524"/>
            </a:avLst>
          </a:prstGeom>
          <a:solidFill>
            <a:srgbClr val="2E7D32"/>
          </a:solidFill>
          <a:ln w="12700">
            <a:solidFill>
              <a:srgbClr val="2E7D32"/>
            </a:solidFill>
            <a:prstDash val="solid"/>
          </a:ln>
        </p:spPr>
        <p:txBody>
          <a:bodyPr/>
          <a:lstStyle/>
          <a:p>
            <a:endParaRPr lang="en-IN"/>
          </a:p>
        </p:txBody>
      </p:sp>
      <p:sp>
        <p:nvSpPr>
          <p:cNvPr id="213" name="Text 180"/>
          <p:cNvSpPr txBox="1"/>
          <p:nvPr/>
        </p:nvSpPr>
        <p:spPr>
          <a:xfrm>
            <a:off x="9233154"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214" name="Text 181"/>
          <p:cNvSpPr txBox="1"/>
          <p:nvPr/>
        </p:nvSpPr>
        <p:spPr>
          <a:xfrm>
            <a:off x="9233154"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Blast radius, reuse and risk answered in under 0.01s</a:t>
            </a:r>
            <a:endParaRPr lang="en-US" sz="520" dirty="0"/>
          </a:p>
        </p:txBody>
      </p:sp>
      <p:sp>
        <p:nvSpPr>
          <p:cNvPr id="215" name="Shape 182"/>
          <p:cNvSpPr/>
          <p:nvPr/>
        </p:nvSpPr>
        <p:spPr>
          <a:xfrm>
            <a:off x="10637901" y="722376"/>
            <a:ext cx="1386459" cy="5111496"/>
          </a:xfrm>
          <a:prstGeom prst="roundRect">
            <a:avLst>
              <a:gd name="adj" fmla="val 3298"/>
            </a:avLst>
          </a:prstGeom>
          <a:solidFill>
            <a:srgbClr val="E3F2F4"/>
          </a:solidFill>
          <a:ln w="9525">
            <a:solidFill>
              <a:srgbClr val="DCE4EE"/>
            </a:solidFill>
            <a:prstDash val="solid"/>
          </a:ln>
        </p:spPr>
        <p:txBody>
          <a:bodyPr/>
          <a:lstStyle/>
          <a:p>
            <a:endParaRPr lang="en-IN"/>
          </a:p>
        </p:txBody>
      </p:sp>
      <p:sp>
        <p:nvSpPr>
          <p:cNvPr id="216" name="Shape 183"/>
          <p:cNvSpPr/>
          <p:nvPr/>
        </p:nvSpPr>
        <p:spPr>
          <a:xfrm>
            <a:off x="10637901" y="722376"/>
            <a:ext cx="1386459" cy="621792"/>
          </a:xfrm>
          <a:prstGeom prst="roundRect">
            <a:avLst>
              <a:gd name="adj" fmla="val 7353"/>
            </a:avLst>
          </a:prstGeom>
          <a:solidFill>
            <a:srgbClr val="00757F"/>
          </a:solidFill>
          <a:ln w="12700">
            <a:solidFill>
              <a:srgbClr val="00757F"/>
            </a:solidFill>
            <a:prstDash val="solid"/>
          </a:ln>
        </p:spPr>
        <p:txBody>
          <a:bodyPr/>
          <a:lstStyle/>
          <a:p>
            <a:endParaRPr lang="en-IN"/>
          </a:p>
        </p:txBody>
      </p:sp>
      <p:pic>
        <p:nvPicPr>
          <p:cNvPr id="217" name="Image 31" descr="preencoded.png"/>
          <p:cNvPicPr>
            <a:picLocks noChangeAspect="1"/>
          </p:cNvPicPr>
          <p:nvPr/>
        </p:nvPicPr>
        <p:blipFill>
          <a:blip r:embed="rId16"/>
          <a:stretch>
            <a:fillRect/>
          </a:stretch>
        </p:blipFill>
        <p:spPr>
          <a:xfrm>
            <a:off x="11262551" y="754380"/>
            <a:ext cx="137160" cy="137160"/>
          </a:xfrm>
          <a:prstGeom prst="rect">
            <a:avLst/>
          </a:prstGeom>
        </p:spPr>
      </p:pic>
      <p:sp>
        <p:nvSpPr>
          <p:cNvPr id="218" name="Text 184"/>
          <p:cNvSpPr txBox="1"/>
          <p:nvPr/>
        </p:nvSpPr>
        <p:spPr>
          <a:xfrm>
            <a:off x="10674477"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8</a:t>
            </a:r>
            <a:endParaRPr lang="en-US" sz="560" dirty="0"/>
          </a:p>
        </p:txBody>
      </p:sp>
      <p:sp>
        <p:nvSpPr>
          <p:cNvPr id="219" name="Text 185"/>
          <p:cNvSpPr txBox="1"/>
          <p:nvPr/>
        </p:nvSpPr>
        <p:spPr>
          <a:xfrm>
            <a:off x="10665333"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Adapter API + Codex</a:t>
            </a:r>
            <a:endParaRPr lang="en-US" sz="800" dirty="0"/>
          </a:p>
        </p:txBody>
      </p:sp>
      <p:sp>
        <p:nvSpPr>
          <p:cNvPr id="220" name="Text 186"/>
          <p:cNvSpPr txBox="1"/>
          <p:nvPr/>
        </p:nvSpPr>
        <p:spPr>
          <a:xfrm>
            <a:off x="10665333"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SemanticaGraphAdapter → Codex</a:t>
            </a:r>
            <a:endParaRPr lang="en-US" sz="520" dirty="0"/>
          </a:p>
        </p:txBody>
      </p:sp>
      <p:sp>
        <p:nvSpPr>
          <p:cNvPr id="221" name="Shape 187"/>
          <p:cNvSpPr/>
          <p:nvPr/>
        </p:nvSpPr>
        <p:spPr>
          <a:xfrm>
            <a:off x="10683621" y="1389888"/>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22" name="Text 188"/>
          <p:cNvSpPr txBox="1"/>
          <p:nvPr/>
        </p:nvSpPr>
        <p:spPr>
          <a:xfrm>
            <a:off x="10729341"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00757F"/>
                </a:solidFill>
                <a:latin typeface="Trenda IG Text Semibold" pitchFamily="34" charset="0"/>
                <a:ea typeface="Trenda IG Text Semibold" pitchFamily="34" charset="-122"/>
                <a:cs typeface="Trenda IG Text Semibold" pitchFamily="34" charset="-120"/>
              </a:rPr>
              <a:t>Core query methods</a:t>
            </a:r>
            <a:endParaRPr lang="en-US" sz="620" dirty="0"/>
          </a:p>
        </p:txBody>
      </p:sp>
      <p:sp>
        <p:nvSpPr>
          <p:cNvPr id="223" name="Text 189"/>
          <p:cNvSpPr txBox="1"/>
          <p:nvPr/>
        </p:nvSpPr>
        <p:spPr>
          <a:xfrm>
            <a:off x="10729341" y="1549908"/>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load_from_json(path)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get_node(node_id)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get_nodes_by_type(type)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get_outgoing_edges(id)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get_incoming_edges(id)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get_neighbors(id, hops)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find_path(from, to, hops)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get_graph_stats()</a:t>
            </a:r>
            <a:endParaRPr lang="en-US" sz="550" dirty="0"/>
          </a:p>
        </p:txBody>
      </p:sp>
      <p:sp>
        <p:nvSpPr>
          <p:cNvPr id="224" name="Shape 190"/>
          <p:cNvSpPr/>
          <p:nvPr/>
        </p:nvSpPr>
        <p:spPr>
          <a:xfrm>
            <a:off x="10683621" y="2394585"/>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25" name="Text 191"/>
          <p:cNvSpPr txBox="1"/>
          <p:nvPr/>
        </p:nvSpPr>
        <p:spPr>
          <a:xfrm>
            <a:off x="10729341" y="2420188"/>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00757F"/>
                </a:solidFill>
                <a:latin typeface="Trenda IG Text Semibold" pitchFamily="34" charset="0"/>
                <a:ea typeface="Trenda IG Text Semibold" pitchFamily="34" charset="-122"/>
                <a:cs typeface="Trenda IG Text Semibold" pitchFamily="34" charset="-120"/>
              </a:rPr>
              <a:t>Delivery methods</a:t>
            </a:r>
            <a:endParaRPr lang="en-US" sz="620" dirty="0"/>
          </a:p>
        </p:txBody>
      </p:sp>
      <p:sp>
        <p:nvSpPr>
          <p:cNvPr id="226" name="Text 192"/>
          <p:cNvSpPr txBox="1"/>
          <p:nvPr/>
        </p:nvSpPr>
        <p:spPr>
          <a:xfrm>
            <a:off x="10729341" y="2554605"/>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analyze_impact(requirement)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find_reuse(capability)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classify_risk(components)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trace_downstream_events()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coverage_report()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build_context_slice()</a:t>
            </a:r>
            <a:endParaRPr lang="en-US" sz="550" dirty="0"/>
          </a:p>
        </p:txBody>
      </p:sp>
      <p:sp>
        <p:nvSpPr>
          <p:cNvPr id="227" name="Shape 193"/>
          <p:cNvSpPr/>
          <p:nvPr/>
        </p:nvSpPr>
        <p:spPr>
          <a:xfrm>
            <a:off x="10683621" y="3399282"/>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28" name="Text 194"/>
          <p:cNvSpPr txBox="1"/>
          <p:nvPr/>
        </p:nvSpPr>
        <p:spPr>
          <a:xfrm>
            <a:off x="10729341" y="3424885"/>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00757F"/>
                </a:solidFill>
                <a:latin typeface="Trenda IG Text Semibold" pitchFamily="34" charset="0"/>
                <a:ea typeface="Trenda IG Text Semibold" pitchFamily="34" charset="-122"/>
                <a:cs typeface="Trenda IG Text Semibold" pitchFamily="34" charset="-120"/>
              </a:rPr>
              <a:t>Codex tool surface</a:t>
            </a:r>
            <a:endParaRPr lang="en-US" sz="620" dirty="0"/>
          </a:p>
        </p:txBody>
      </p:sp>
      <p:sp>
        <p:nvSpPr>
          <p:cNvPr id="229" name="Text 195"/>
          <p:cNvSpPr txBox="1"/>
          <p:nvPr/>
        </p:nvSpPr>
        <p:spPr>
          <a:xfrm>
            <a:off x="10729341" y="3559302"/>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graph.query · graph.impact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graph.reuse · graph.prov</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git.read_file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sf.describe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jira.read · copado.status</a:t>
            </a:r>
            <a:endParaRPr lang="en-US" sz="550" dirty="0"/>
          </a:p>
        </p:txBody>
      </p:sp>
      <p:sp>
        <p:nvSpPr>
          <p:cNvPr id="230" name="Shape 196"/>
          <p:cNvSpPr/>
          <p:nvPr/>
        </p:nvSpPr>
        <p:spPr>
          <a:xfrm>
            <a:off x="10683621" y="4403979"/>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31" name="Text 197"/>
          <p:cNvSpPr txBox="1"/>
          <p:nvPr/>
        </p:nvSpPr>
        <p:spPr>
          <a:xfrm>
            <a:off x="10729341" y="4429582"/>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00757F"/>
                </a:solidFill>
                <a:latin typeface="Trenda IG Text Semibold" pitchFamily="34" charset="0"/>
                <a:ea typeface="Trenda IG Text Semibold" pitchFamily="34" charset="-122"/>
                <a:cs typeface="Trenda IG Text Semibold" pitchFamily="34" charset="-120"/>
              </a:rPr>
              <a:t>Output contract</a:t>
            </a:r>
            <a:endParaRPr lang="en-US" sz="620" dirty="0"/>
          </a:p>
        </p:txBody>
      </p:sp>
      <p:sp>
        <p:nvSpPr>
          <p:cNvPr id="232" name="Text 198"/>
          <p:cNvSpPr txBox="1"/>
          <p:nvPr/>
        </p:nvSpPr>
        <p:spPr>
          <a:xfrm>
            <a:off x="10729341" y="4563999"/>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Bounded graph slice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No invented dependencies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Every claim cites a node 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ImpactAnalysis · ChangePlan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GeneratedArtifacts, TestPlan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RiskAssessment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Write: DEV + branch only</a:t>
            </a:r>
            <a:endParaRPr lang="en-US" sz="550" dirty="0"/>
          </a:p>
        </p:txBody>
      </p:sp>
      <p:sp>
        <p:nvSpPr>
          <p:cNvPr id="233" name="Shape 199"/>
          <p:cNvSpPr/>
          <p:nvPr/>
        </p:nvSpPr>
        <p:spPr>
          <a:xfrm>
            <a:off x="10683621" y="5404104"/>
            <a:ext cx="1295019" cy="384048"/>
          </a:xfrm>
          <a:prstGeom prst="roundRect">
            <a:avLst>
              <a:gd name="adj" fmla="val 9524"/>
            </a:avLst>
          </a:prstGeom>
          <a:solidFill>
            <a:srgbClr val="00757F"/>
          </a:solidFill>
          <a:ln w="12700">
            <a:solidFill>
              <a:srgbClr val="00757F"/>
            </a:solidFill>
            <a:prstDash val="solid"/>
          </a:ln>
        </p:spPr>
        <p:txBody>
          <a:bodyPr/>
          <a:lstStyle/>
          <a:p>
            <a:endParaRPr lang="en-IN"/>
          </a:p>
        </p:txBody>
      </p:sp>
      <p:sp>
        <p:nvSpPr>
          <p:cNvPr id="234" name="Text 200"/>
          <p:cNvSpPr txBox="1"/>
          <p:nvPr/>
        </p:nvSpPr>
        <p:spPr>
          <a:xfrm>
            <a:off x="10729341"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235" name="Text 201"/>
          <p:cNvSpPr txBox="1"/>
          <p:nvPr/>
        </p:nvSpPr>
        <p:spPr>
          <a:xfrm>
            <a:off x="10729341"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Codex reasons on verified facts, never invented ones</a:t>
            </a:r>
            <a:endParaRPr lang="en-US" sz="520" dirty="0"/>
          </a:p>
        </p:txBody>
      </p:sp>
      <p:sp>
        <p:nvSpPr>
          <p:cNvPr id="236" name="Shape 202"/>
          <p:cNvSpPr/>
          <p:nvPr/>
        </p:nvSpPr>
        <p:spPr>
          <a:xfrm>
            <a:off x="984123"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37" name="Text 203"/>
          <p:cNvSpPr txBox="1"/>
          <p:nvPr/>
        </p:nvSpPr>
        <p:spPr>
          <a:xfrm>
            <a:off x="1029843"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0E8A7D"/>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REST v3 · OAuth 2.0 · JWT bearer · SSH key · API token</a:t>
            </a:r>
            <a:endParaRPr lang="en-US" sz="540" dirty="0"/>
          </a:p>
        </p:txBody>
      </p:sp>
      <p:sp>
        <p:nvSpPr>
          <p:cNvPr id="238" name="Shape 204"/>
          <p:cNvSpPr/>
          <p:nvPr/>
        </p:nvSpPr>
        <p:spPr>
          <a:xfrm>
            <a:off x="2480310"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39" name="Text 205"/>
          <p:cNvSpPr txBox="1"/>
          <p:nvPr/>
        </p:nvSpPr>
        <p:spPr>
          <a:xfrm>
            <a:off x="2526030"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7A4FC0"/>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SourceArtifact: bytes + metadata + SHA-256</a:t>
            </a:r>
            <a:endParaRPr lang="en-US" sz="540" dirty="0"/>
          </a:p>
        </p:txBody>
      </p:sp>
      <p:sp>
        <p:nvSpPr>
          <p:cNvPr id="240" name="Shape 206"/>
          <p:cNvSpPr/>
          <p:nvPr/>
        </p:nvSpPr>
        <p:spPr>
          <a:xfrm>
            <a:off x="3976497"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1" name="Text 207"/>
          <p:cNvSpPr txBox="1"/>
          <p:nvPr/>
        </p:nvSpPr>
        <p:spPr>
          <a:xfrm>
            <a:off x="4022217"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C2185B"/>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Typed domain objects + provenance</a:t>
            </a:r>
            <a:endParaRPr lang="en-US" sz="540" dirty="0"/>
          </a:p>
        </p:txBody>
      </p:sp>
      <p:sp>
        <p:nvSpPr>
          <p:cNvPr id="242" name="Shape 208"/>
          <p:cNvSpPr/>
          <p:nvPr/>
        </p:nvSpPr>
        <p:spPr>
          <a:xfrm>
            <a:off x="5472684"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3" name="Text 209"/>
          <p:cNvSpPr txBox="1"/>
          <p:nvPr/>
        </p:nvSpPr>
        <p:spPr>
          <a:xfrm>
            <a:off x="5518404"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C77400"/>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persisted as vendor-neutral JSON</a:t>
            </a:r>
            <a:endParaRPr lang="en-US" sz="540" dirty="0"/>
          </a:p>
        </p:txBody>
      </p:sp>
      <p:sp>
        <p:nvSpPr>
          <p:cNvPr id="244" name="Shape 210"/>
          <p:cNvSpPr/>
          <p:nvPr/>
        </p:nvSpPr>
        <p:spPr>
          <a:xfrm>
            <a:off x="6968871"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5" name="Text 211"/>
          <p:cNvSpPr txBox="1"/>
          <p:nvPr/>
        </p:nvSpPr>
        <p:spPr>
          <a:xfrm>
            <a:off x="7014591"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C62828"/>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export(NetworkServicesContext) → nodes + edges</a:t>
            </a:r>
            <a:endParaRPr lang="en-US" sz="540" dirty="0"/>
          </a:p>
        </p:txBody>
      </p:sp>
      <p:sp>
        <p:nvSpPr>
          <p:cNvPr id="246" name="Shape 212"/>
          <p:cNvSpPr/>
          <p:nvPr/>
        </p:nvSpPr>
        <p:spPr>
          <a:xfrm>
            <a:off x="8465058"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7" name="Text 213"/>
          <p:cNvSpPr txBox="1"/>
          <p:nvPr/>
        </p:nvSpPr>
        <p:spPr>
          <a:xfrm>
            <a:off x="8510778"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2E7D32"/>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loaded into the in-memory graph</a:t>
            </a:r>
            <a:endParaRPr lang="en-US" sz="540" dirty="0"/>
          </a:p>
        </p:txBody>
      </p:sp>
      <p:sp>
        <p:nvSpPr>
          <p:cNvPr id="248" name="Shape 214"/>
          <p:cNvSpPr/>
          <p:nvPr/>
        </p:nvSpPr>
        <p:spPr>
          <a:xfrm>
            <a:off x="9961245"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9" name="Text 215"/>
          <p:cNvSpPr txBox="1"/>
          <p:nvPr/>
        </p:nvSpPr>
        <p:spPr>
          <a:xfrm>
            <a:off x="10006965"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00757F"/>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adapter API: typed graph queries</a:t>
            </a:r>
            <a:endParaRPr lang="en-US" sz="540" dirty="0"/>
          </a:p>
        </p:txBody>
      </p:sp>
      <p:sp>
        <p:nvSpPr>
          <p:cNvPr id="250" name="Text 216"/>
          <p:cNvSpPr txBox="1"/>
          <p:nvPr/>
        </p:nvSpPr>
        <p:spPr>
          <a:xfrm>
            <a:off x="164592" y="5870448"/>
            <a:ext cx="786384" cy="274320"/>
          </a:xfrm>
          <a:prstGeom prst="rect">
            <a:avLst/>
          </a:prstGeom>
          <a:noFill/>
          <a:ln/>
        </p:spPr>
        <p:txBody>
          <a:bodyPr wrap="square" lIns="0" tIns="0" rIns="0" bIns="0" rtlCol="0" anchor="ctr"/>
          <a:lstStyle/>
          <a:p>
            <a:pPr marL="0" indent="0">
              <a:lnSpc>
                <a:spcPct val="90000"/>
              </a:lnSpc>
              <a:buNone/>
            </a:pPr>
            <a:r>
              <a:rPr lang="en-US" sz="500" b="0" dirty="0">
                <a:solidFill>
                  <a:srgbClr val="5C6E85"/>
                </a:solidFill>
                <a:latin typeface="Trenda IG Text Semibold" pitchFamily="34" charset="0"/>
                <a:ea typeface="Trenda IG Text Semibold" pitchFamily="34" charset="-122"/>
                <a:cs typeface="Trenda IG Text Semibold" pitchFamily="34" charset="-120"/>
              </a:rPr>
              <a:t>HANDOFF</a:t>
            </a:r>
            <a:endParaRPr lang="en-US" sz="500" dirty="0"/>
          </a:p>
          <a:p>
            <a:pPr marL="0" indent="0">
              <a:lnSpc>
                <a:spcPct val="90000"/>
              </a:lnSpc>
              <a:buNone/>
            </a:pPr>
            <a:r>
              <a:rPr lang="en-US" sz="500" b="0" dirty="0">
                <a:solidFill>
                  <a:srgbClr val="5C6E85"/>
                </a:solidFill>
                <a:latin typeface="Trenda IG Text Semibold" pitchFamily="34" charset="0"/>
                <a:ea typeface="Trenda IG Text Semibold" pitchFamily="34" charset="-122"/>
                <a:cs typeface="Trenda IG Text Semibold" pitchFamily="34" charset="-120"/>
              </a:rPr>
              <a:t>BETWEEN LAYERS</a:t>
            </a:r>
            <a:endParaRPr lang="en-US" sz="500" dirty="0"/>
          </a:p>
        </p:txBody>
      </p:sp>
      <p:sp>
        <p:nvSpPr>
          <p:cNvPr id="251" name="Shape 217"/>
          <p:cNvSpPr/>
          <p:nvPr/>
        </p:nvSpPr>
        <p:spPr>
          <a:xfrm>
            <a:off x="164592" y="6190488"/>
            <a:ext cx="2868930" cy="594360"/>
          </a:xfrm>
          <a:prstGeom prst="roundRect">
            <a:avLst>
              <a:gd name="adj" fmla="val 7692"/>
            </a:avLst>
          </a:prstGeom>
          <a:solidFill>
            <a:srgbClr val="FFFFFF"/>
          </a:solidFill>
          <a:ln w="12700">
            <a:solidFill>
              <a:srgbClr val="DCE4EE"/>
            </a:solidFill>
            <a:prstDash val="solid"/>
          </a:ln>
        </p:spPr>
        <p:txBody>
          <a:bodyPr/>
          <a:lstStyle/>
          <a:p>
            <a:endParaRPr lang="en-IN"/>
          </a:p>
        </p:txBody>
      </p:sp>
      <p:pic>
        <p:nvPicPr>
          <p:cNvPr id="252" name="Image 32" descr="preencoded.png"/>
          <p:cNvPicPr>
            <a:picLocks noChangeAspect="1"/>
          </p:cNvPicPr>
          <p:nvPr/>
        </p:nvPicPr>
        <p:blipFill>
          <a:blip r:embed="rId17"/>
          <a:stretch>
            <a:fillRect/>
          </a:stretch>
        </p:blipFill>
        <p:spPr>
          <a:xfrm>
            <a:off x="246888" y="6240780"/>
            <a:ext cx="128016" cy="128016"/>
          </a:xfrm>
          <a:prstGeom prst="rect">
            <a:avLst/>
          </a:prstGeom>
        </p:spPr>
      </p:pic>
      <p:sp>
        <p:nvSpPr>
          <p:cNvPr id="253" name="Text 218"/>
          <p:cNvSpPr txBox="1"/>
          <p:nvPr/>
        </p:nvSpPr>
        <p:spPr>
          <a:xfrm>
            <a:off x="420624" y="6231636"/>
            <a:ext cx="2521458" cy="146304"/>
          </a:xfrm>
          <a:prstGeom prst="rect">
            <a:avLst/>
          </a:prstGeom>
          <a:noFill/>
          <a:ln/>
        </p:spPr>
        <p:txBody>
          <a:bodyPr wrap="square" lIns="0" tIns="0" rIns="0" bIns="0" rtlCol="0" anchor="ctr"/>
          <a:lstStyle/>
          <a:p>
            <a:pPr marL="0" indent="0">
              <a:buNone/>
            </a:pPr>
            <a:r>
              <a:rPr lang="en-US" sz="700" b="0" dirty="0">
                <a:solidFill>
                  <a:srgbClr val="7A4FC0"/>
                </a:solidFill>
                <a:latin typeface="Trenda IG Text Semibold" pitchFamily="34" charset="0"/>
                <a:ea typeface="Trenda IG Text Semibold" pitchFamily="34" charset="-122"/>
                <a:cs typeface="Trenda IG Text Semibold" pitchFamily="34" charset="-120"/>
              </a:rPr>
              <a:t>Provenance &amp; authority</a:t>
            </a:r>
            <a:endParaRPr lang="en-US" sz="700" dirty="0"/>
          </a:p>
        </p:txBody>
      </p:sp>
      <p:sp>
        <p:nvSpPr>
          <p:cNvPr id="254" name="Text 219"/>
          <p:cNvSpPr txBox="1"/>
          <p:nvPr/>
        </p:nvSpPr>
        <p:spPr>
          <a:xfrm>
            <a:off x="246888" y="6396228"/>
            <a:ext cx="2704338" cy="356616"/>
          </a:xfrm>
          <a:prstGeom prst="rect">
            <a:avLst/>
          </a:prstGeom>
          <a:noFill/>
          <a:ln/>
        </p:spPr>
        <p:txBody>
          <a:bodyPr wrap="square" lIns="0" tIns="0" rIns="0" bIns="0" rtlCol="0" anchor="t"/>
          <a:lstStyle/>
          <a:p>
            <a:pPr marL="0" indent="0">
              <a:lnSpc>
                <a:spcPct val="90000"/>
              </a:lnSpc>
              <a:buNone/>
            </a:pPr>
            <a:r>
              <a:rPr lang="en-US" sz="560" dirty="0">
                <a:solidFill>
                  <a:srgbClr val="12233B"/>
                </a:solidFill>
                <a:latin typeface="Trenda IG Text" pitchFamily="34" charset="0"/>
                <a:ea typeface="Trenda IG Text" pitchFamily="34" charset="-122"/>
                <a:cs typeface="Trenda IG Text" pitchFamily="34" charset="-120"/>
              </a:rPr>
              <a:t>Every node and edge carries createdBy · createdAt · derivationMethod (AUTOMATED | MANUAL | INFERRED) · origin (FACTUAL | INFERRED) · confidence · sourceReferences (type, artifactId, path, SHA-256, retrievedAt). Authority stays with the source system.</a:t>
            </a:r>
            <a:endParaRPr lang="en-US" sz="560" dirty="0"/>
          </a:p>
        </p:txBody>
      </p:sp>
      <p:sp>
        <p:nvSpPr>
          <p:cNvPr id="255" name="Shape 220"/>
          <p:cNvSpPr/>
          <p:nvPr/>
        </p:nvSpPr>
        <p:spPr>
          <a:xfrm>
            <a:off x="3161538" y="6190488"/>
            <a:ext cx="2868930" cy="594360"/>
          </a:xfrm>
          <a:prstGeom prst="roundRect">
            <a:avLst>
              <a:gd name="adj" fmla="val 7692"/>
            </a:avLst>
          </a:prstGeom>
          <a:solidFill>
            <a:srgbClr val="FFFFFF"/>
          </a:solidFill>
          <a:ln w="12700">
            <a:solidFill>
              <a:srgbClr val="DCE4EE"/>
            </a:solidFill>
            <a:prstDash val="solid"/>
          </a:ln>
        </p:spPr>
        <p:txBody>
          <a:bodyPr/>
          <a:lstStyle/>
          <a:p>
            <a:endParaRPr lang="en-IN"/>
          </a:p>
        </p:txBody>
      </p:sp>
      <p:pic>
        <p:nvPicPr>
          <p:cNvPr id="256" name="Image 33" descr="preencoded.png"/>
          <p:cNvPicPr>
            <a:picLocks noChangeAspect="1"/>
          </p:cNvPicPr>
          <p:nvPr/>
        </p:nvPicPr>
        <p:blipFill>
          <a:blip r:embed="rId18"/>
          <a:stretch>
            <a:fillRect/>
          </a:stretch>
        </p:blipFill>
        <p:spPr>
          <a:xfrm>
            <a:off x="3243834" y="6240780"/>
            <a:ext cx="128016" cy="128016"/>
          </a:xfrm>
          <a:prstGeom prst="rect">
            <a:avLst/>
          </a:prstGeom>
        </p:spPr>
      </p:pic>
      <p:sp>
        <p:nvSpPr>
          <p:cNvPr id="257" name="Text 221"/>
          <p:cNvSpPr txBox="1"/>
          <p:nvPr/>
        </p:nvSpPr>
        <p:spPr>
          <a:xfrm>
            <a:off x="3417570" y="6231636"/>
            <a:ext cx="2521458" cy="146304"/>
          </a:xfrm>
          <a:prstGeom prst="rect">
            <a:avLst/>
          </a:prstGeom>
          <a:noFill/>
          <a:ln/>
        </p:spPr>
        <p:txBody>
          <a:bodyPr wrap="square" lIns="0" tIns="0" rIns="0" bIns="0" rtlCol="0" anchor="ctr"/>
          <a:lstStyle/>
          <a:p>
            <a:pPr marL="0" indent="0">
              <a:buNone/>
            </a:pPr>
            <a:r>
              <a:rPr lang="en-US" sz="700" b="0" dirty="0">
                <a:solidFill>
                  <a:srgbClr val="0E8A7D"/>
                </a:solidFill>
                <a:latin typeface="Trenda IG Text Semibold" pitchFamily="34" charset="0"/>
                <a:ea typeface="Trenda IG Text Semibold" pitchFamily="34" charset="-122"/>
                <a:cs typeface="Trenda IG Text Semibold" pitchFamily="34" charset="-120"/>
              </a:rPr>
              <a:t>Security &amp; access: three identities</a:t>
            </a:r>
            <a:endParaRPr lang="en-US" sz="700" dirty="0"/>
          </a:p>
        </p:txBody>
      </p:sp>
      <p:sp>
        <p:nvSpPr>
          <p:cNvPr id="258" name="Text 222"/>
          <p:cNvSpPr txBox="1"/>
          <p:nvPr/>
        </p:nvSpPr>
        <p:spPr>
          <a:xfrm>
            <a:off x="3243834" y="6396228"/>
            <a:ext cx="2704338" cy="356616"/>
          </a:xfrm>
          <a:prstGeom prst="rect">
            <a:avLst/>
          </a:prstGeom>
          <a:noFill/>
          <a:ln/>
        </p:spPr>
        <p:txBody>
          <a:bodyPr wrap="square" lIns="0" tIns="0" rIns="0" bIns="0" rtlCol="0" anchor="t"/>
          <a:lstStyle/>
          <a:p>
            <a:pPr marL="0" indent="0">
              <a:lnSpc>
                <a:spcPct val="90000"/>
              </a:lnSpc>
              <a:buNone/>
            </a:pPr>
            <a:r>
              <a:rPr lang="en-US" sz="560" dirty="0">
                <a:solidFill>
                  <a:srgbClr val="12233B"/>
                </a:solidFill>
                <a:latin typeface="Trenda IG Text" pitchFamily="34" charset="0"/>
                <a:ea typeface="Trenda IG Text" pitchFamily="34" charset="-122"/>
                <a:cs typeface="Trenda IG Text" pitchFamily="34" charset="-120"/>
              </a:rPr>
              <a:t>AI Read Service: read-only into the Context Graph · AI Development Service: DEV org plus source branch · AI Release Service: Copado, lower environments only. Production credentials are never available to the LLM agent.</a:t>
            </a:r>
            <a:endParaRPr lang="en-US" sz="560" dirty="0"/>
          </a:p>
        </p:txBody>
      </p:sp>
      <p:sp>
        <p:nvSpPr>
          <p:cNvPr id="259" name="Shape 223"/>
          <p:cNvSpPr/>
          <p:nvPr/>
        </p:nvSpPr>
        <p:spPr>
          <a:xfrm>
            <a:off x="6158484" y="6190488"/>
            <a:ext cx="2868930" cy="594360"/>
          </a:xfrm>
          <a:prstGeom prst="roundRect">
            <a:avLst>
              <a:gd name="adj" fmla="val 7692"/>
            </a:avLst>
          </a:prstGeom>
          <a:solidFill>
            <a:srgbClr val="FFFFFF"/>
          </a:solidFill>
          <a:ln w="12700">
            <a:solidFill>
              <a:srgbClr val="DCE4EE"/>
            </a:solidFill>
            <a:prstDash val="solid"/>
          </a:ln>
        </p:spPr>
        <p:txBody>
          <a:bodyPr/>
          <a:lstStyle/>
          <a:p>
            <a:endParaRPr lang="en-IN"/>
          </a:p>
        </p:txBody>
      </p:sp>
      <p:pic>
        <p:nvPicPr>
          <p:cNvPr id="260" name="Image 34" descr="preencoded.png"/>
          <p:cNvPicPr>
            <a:picLocks noChangeAspect="1"/>
          </p:cNvPicPr>
          <p:nvPr/>
        </p:nvPicPr>
        <p:blipFill>
          <a:blip r:embed="rId19"/>
          <a:stretch>
            <a:fillRect/>
          </a:stretch>
        </p:blipFill>
        <p:spPr>
          <a:xfrm>
            <a:off x="6240780" y="6240780"/>
            <a:ext cx="128016" cy="128016"/>
          </a:xfrm>
          <a:prstGeom prst="rect">
            <a:avLst/>
          </a:prstGeom>
        </p:spPr>
      </p:pic>
      <p:sp>
        <p:nvSpPr>
          <p:cNvPr id="261" name="Text 224"/>
          <p:cNvSpPr txBox="1"/>
          <p:nvPr/>
        </p:nvSpPr>
        <p:spPr>
          <a:xfrm>
            <a:off x="6414516" y="6231636"/>
            <a:ext cx="2521458" cy="146304"/>
          </a:xfrm>
          <a:prstGeom prst="rect">
            <a:avLst/>
          </a:prstGeom>
          <a:noFill/>
          <a:ln/>
        </p:spPr>
        <p:txBody>
          <a:bodyPr wrap="square" lIns="0" tIns="0" rIns="0" bIns="0" rtlCol="0" anchor="ctr"/>
          <a:lstStyle/>
          <a:p>
            <a:pPr marL="0" indent="0">
              <a:buNone/>
            </a:pPr>
            <a:r>
              <a:rPr lang="en-US" sz="700" b="0" dirty="0">
                <a:solidFill>
                  <a:srgbClr val="4527A0"/>
                </a:solidFill>
                <a:latin typeface="Trenda IG Text Semibold" pitchFamily="34" charset="0"/>
                <a:ea typeface="Trenda IG Text Semibold" pitchFamily="34" charset="-122"/>
                <a:cs typeface="Trenda IG Text Semibold" pitchFamily="34" charset="-120"/>
              </a:rPr>
              <a:t>Audit &amp; traceability</a:t>
            </a:r>
            <a:endParaRPr lang="en-US" sz="700" dirty="0"/>
          </a:p>
        </p:txBody>
      </p:sp>
      <p:sp>
        <p:nvSpPr>
          <p:cNvPr id="262" name="Text 225"/>
          <p:cNvSpPr txBox="1"/>
          <p:nvPr/>
        </p:nvSpPr>
        <p:spPr>
          <a:xfrm>
            <a:off x="6240780" y="6396228"/>
            <a:ext cx="2704338" cy="356616"/>
          </a:xfrm>
          <a:prstGeom prst="rect">
            <a:avLst/>
          </a:prstGeom>
          <a:noFill/>
          <a:ln/>
        </p:spPr>
        <p:txBody>
          <a:bodyPr wrap="square" lIns="0" tIns="0" rIns="0" bIns="0" rtlCol="0" anchor="t"/>
          <a:lstStyle/>
          <a:p>
            <a:pPr marL="0" indent="0">
              <a:lnSpc>
                <a:spcPct val="90000"/>
              </a:lnSpc>
              <a:buNone/>
            </a:pPr>
            <a:r>
              <a:rPr lang="en-US" sz="560" dirty="0">
                <a:solidFill>
                  <a:srgbClr val="12233B"/>
                </a:solidFill>
                <a:latin typeface="Trenda IG Text" pitchFamily="34" charset="0"/>
                <a:ea typeface="Trenda IG Text" pitchFamily="34" charset="-122"/>
                <a:cs typeface="Trenda IG Text" pitchFamily="34" charset="-120"/>
              </a:rPr>
              <a:t>Evidence in Jira · Git · Copado · AI Audit Store (Slack is notification only). Every action captures request, user, timestamp, source context, recommendation, approval, files changed, code diff, tests, environment, deployment and outcome.</a:t>
            </a:r>
            <a:endParaRPr lang="en-US" sz="560" dirty="0"/>
          </a:p>
        </p:txBody>
      </p:sp>
      <p:sp>
        <p:nvSpPr>
          <p:cNvPr id="263" name="Shape 226"/>
          <p:cNvSpPr/>
          <p:nvPr/>
        </p:nvSpPr>
        <p:spPr>
          <a:xfrm>
            <a:off x="9155430" y="6190488"/>
            <a:ext cx="2868930" cy="594360"/>
          </a:xfrm>
          <a:prstGeom prst="roundRect">
            <a:avLst>
              <a:gd name="adj" fmla="val 7692"/>
            </a:avLst>
          </a:prstGeom>
          <a:solidFill>
            <a:srgbClr val="FFFFFF"/>
          </a:solidFill>
          <a:ln w="12700">
            <a:solidFill>
              <a:srgbClr val="DCE4EE"/>
            </a:solidFill>
            <a:prstDash val="solid"/>
          </a:ln>
        </p:spPr>
        <p:txBody>
          <a:bodyPr/>
          <a:lstStyle/>
          <a:p>
            <a:endParaRPr lang="en-IN"/>
          </a:p>
        </p:txBody>
      </p:sp>
      <p:pic>
        <p:nvPicPr>
          <p:cNvPr id="264" name="Image 35" descr="preencoded.png"/>
          <p:cNvPicPr>
            <a:picLocks noChangeAspect="1"/>
          </p:cNvPicPr>
          <p:nvPr/>
        </p:nvPicPr>
        <p:blipFill>
          <a:blip r:embed="rId20"/>
          <a:stretch>
            <a:fillRect/>
          </a:stretch>
        </p:blipFill>
        <p:spPr>
          <a:xfrm>
            <a:off x="9237726" y="6240780"/>
            <a:ext cx="128016" cy="128016"/>
          </a:xfrm>
          <a:prstGeom prst="rect">
            <a:avLst/>
          </a:prstGeom>
        </p:spPr>
      </p:pic>
      <p:sp>
        <p:nvSpPr>
          <p:cNvPr id="265" name="Text 227"/>
          <p:cNvSpPr txBox="1"/>
          <p:nvPr/>
        </p:nvSpPr>
        <p:spPr>
          <a:xfrm>
            <a:off x="9411462" y="6231636"/>
            <a:ext cx="2521458" cy="146304"/>
          </a:xfrm>
          <a:prstGeom prst="rect">
            <a:avLst/>
          </a:prstGeom>
          <a:noFill/>
          <a:ln/>
        </p:spPr>
        <p:txBody>
          <a:bodyPr wrap="square" lIns="0" tIns="0" rIns="0" bIns="0" rtlCol="0" anchor="ctr"/>
          <a:lstStyle/>
          <a:p>
            <a:pPr marL="0" indent="0">
              <a:buNone/>
            </a:pPr>
            <a:r>
              <a:rPr lang="en-US" sz="700" b="0" dirty="0">
                <a:solidFill>
                  <a:srgbClr val="2E7D32"/>
                </a:solidFill>
                <a:latin typeface="Trenda IG Text Semibold" pitchFamily="34" charset="0"/>
                <a:ea typeface="Trenda IG Text Semibold" pitchFamily="34" charset="-122"/>
                <a:cs typeface="Trenda IG Text Semibold" pitchFamily="34" charset="-120"/>
              </a:rPr>
              <a:t>Governed delivery &amp; POC</a:t>
            </a:r>
            <a:endParaRPr lang="en-US" sz="700" dirty="0"/>
          </a:p>
        </p:txBody>
      </p:sp>
      <p:sp>
        <p:nvSpPr>
          <p:cNvPr id="266" name="Text 228"/>
          <p:cNvSpPr txBox="1"/>
          <p:nvPr/>
        </p:nvSpPr>
        <p:spPr>
          <a:xfrm>
            <a:off x="9237726" y="6396228"/>
            <a:ext cx="2704338" cy="356616"/>
          </a:xfrm>
          <a:prstGeom prst="rect">
            <a:avLst/>
          </a:prstGeom>
          <a:noFill/>
          <a:ln/>
        </p:spPr>
        <p:txBody>
          <a:bodyPr wrap="square" lIns="0" tIns="0" rIns="0" bIns="0" rtlCol="0" anchor="t"/>
          <a:lstStyle/>
          <a:p>
            <a:pPr marL="0" indent="0">
              <a:lnSpc>
                <a:spcPct val="90000"/>
              </a:lnSpc>
              <a:buNone/>
            </a:pPr>
            <a:r>
              <a:rPr lang="en-US" sz="560" dirty="0">
                <a:solidFill>
                  <a:srgbClr val="12233B"/>
                </a:solidFill>
                <a:latin typeface="Trenda IG Text" pitchFamily="34" charset="0"/>
                <a:ea typeface="Trenda IG Text" pitchFamily="34" charset="-122"/>
                <a:cs typeface="Trenda IG Text" pitchFamily="34" charset="-120"/>
              </a:rPr>
              <a:t>AI Build → Copado release → quality gates → DEV → SIT → UAT → human approval → CAB → PREPROD → PROD. Risk routing: low → developer · medium → tech lead · high → architecture · critical → security. POC: 10–15 changes; APDH, credentialing rules and HFN redesign excluded.</a:t>
            </a:r>
            <a:endParaRPr lang="en-US" sz="5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9728" y="64008"/>
            <a:ext cx="3200400" cy="612648"/>
          </a:xfrm>
          <a:prstGeom prst="rect">
            <a:avLst/>
          </a:prstGeom>
          <a:solidFill>
            <a:srgbClr val="FFFFFF"/>
          </a:solidFill>
          <a:ln w="9525">
            <a:solidFill>
              <a:srgbClr val="D5D9DE"/>
            </a:solidFill>
            <a:prstDash val="solid"/>
          </a:ln>
        </p:spPr>
        <p:txBody>
          <a:bodyPr/>
          <a:lstStyle/>
          <a:p>
            <a:endParaRPr lang="en-IN"/>
          </a:p>
        </p:txBody>
      </p:sp>
      <p:sp>
        <p:nvSpPr>
          <p:cNvPr id="3" name="Text 1"/>
          <p:cNvSpPr txBox="1"/>
          <p:nvPr/>
        </p:nvSpPr>
        <p:spPr>
          <a:xfrm>
            <a:off x="210312" y="118872"/>
            <a:ext cx="3017520" cy="173736"/>
          </a:xfrm>
          <a:prstGeom prst="rect">
            <a:avLst/>
          </a:prstGeom>
          <a:noFill/>
          <a:ln/>
        </p:spPr>
        <p:txBody>
          <a:bodyPr wrap="square" lIns="0" tIns="0" rIns="0" bIns="0" rtlCol="0" anchor="t"/>
          <a:lstStyle/>
          <a:p>
            <a:pPr marL="0" indent="0">
              <a:buNone/>
            </a:pPr>
            <a:r>
              <a:rPr lang="en-US" sz="950" kern="0" spc="50" dirty="0">
                <a:solidFill>
                  <a:srgbClr val="1B6BC0"/>
                </a:solidFill>
                <a:latin typeface="Trenda IG Display Bold" pitchFamily="34" charset="0"/>
                <a:ea typeface="Trenda IG Display Bold" pitchFamily="34" charset="-122"/>
                <a:cs typeface="Trenda IG Display Bold" pitchFamily="34" charset="-120"/>
              </a:rPr>
              <a:t>SEVEN AUTHORITATIVE SOURCES</a:t>
            </a:r>
            <a:endParaRPr lang="en-US" sz="950" dirty="0"/>
          </a:p>
        </p:txBody>
      </p:sp>
      <p:sp>
        <p:nvSpPr>
          <p:cNvPr id="4" name="Text 2"/>
          <p:cNvSpPr txBox="1"/>
          <p:nvPr/>
        </p:nvSpPr>
        <p:spPr>
          <a:xfrm>
            <a:off x="210312" y="292608"/>
            <a:ext cx="3017520" cy="237744"/>
          </a:xfrm>
          <a:prstGeom prst="rect">
            <a:avLst/>
          </a:prstGeom>
          <a:noFill/>
          <a:ln/>
        </p:spPr>
        <p:txBody>
          <a:bodyPr wrap="square" lIns="0" tIns="0" rIns="0" bIns="0" rtlCol="0" anchor="t"/>
          <a:lstStyle/>
          <a:p>
            <a:pPr marL="0" indent="0">
              <a:lnSpc>
                <a:spcPct val="100000"/>
              </a:lnSpc>
              <a:buNone/>
            </a:pPr>
            <a:r>
              <a:rPr lang="en-US" sz="750" dirty="0">
                <a:solidFill>
                  <a:srgbClr val="1A1A1A"/>
                </a:solidFill>
                <a:latin typeface="Trenda IG Text Semibold" pitchFamily="34" charset="0"/>
                <a:ea typeface="Trenda IG Text Semibold" pitchFamily="34" charset="-122"/>
                <a:cs typeface="Trenda IG Text Semibold" pitchFamily="34" charset="-120"/>
              </a:rPr>
              <a:t>EHR  ·  Credentialing  ·  Directory  ·  Scheduling  ·  Claims  ·  Referrals  ·  Geography</a:t>
            </a:r>
            <a:endParaRPr lang="en-US" sz="750" dirty="0"/>
          </a:p>
        </p:txBody>
      </p:sp>
      <p:sp>
        <p:nvSpPr>
          <p:cNvPr id="5" name="Text 3"/>
          <p:cNvSpPr txBox="1"/>
          <p:nvPr/>
        </p:nvSpPr>
        <p:spPr>
          <a:xfrm>
            <a:off x="210312" y="534924"/>
            <a:ext cx="3017520" cy="137160"/>
          </a:xfrm>
          <a:prstGeom prst="rect">
            <a:avLst/>
          </a:prstGeom>
          <a:noFill/>
          <a:ln/>
        </p:spPr>
        <p:txBody>
          <a:bodyPr wrap="square" lIns="0" tIns="0" rIns="0" bIns="0" rtlCol="0" anchor="t"/>
          <a:lstStyle/>
          <a:p>
            <a:pPr marL="0" indent="0">
              <a:buNone/>
            </a:pPr>
            <a:r>
              <a:rPr lang="en-US" sz="700" dirty="0">
                <a:solidFill>
                  <a:srgbClr val="5A6573"/>
                </a:solidFill>
                <a:latin typeface="Trenda IG Text Light" pitchFamily="34" charset="0"/>
                <a:ea typeface="Trenda IG Text Light" pitchFamily="34" charset="-122"/>
                <a:cs typeface="Trenda IG Text Light" pitchFamily="34" charset="-120"/>
              </a:rPr>
              <a:t>read only  ·  tokenised at the boundary  ·  provenance tagged</a:t>
            </a:r>
            <a:endParaRPr lang="en-US" sz="700" dirty="0"/>
          </a:p>
        </p:txBody>
      </p:sp>
      <p:sp>
        <p:nvSpPr>
          <p:cNvPr id="6" name="Shape 4"/>
          <p:cNvSpPr/>
          <p:nvPr/>
        </p:nvSpPr>
        <p:spPr>
          <a:xfrm>
            <a:off x="3456432" y="64008"/>
            <a:ext cx="5230368" cy="612648"/>
          </a:xfrm>
          <a:prstGeom prst="rect">
            <a:avLst/>
          </a:prstGeom>
          <a:solidFill>
            <a:srgbClr val="0E1B2E"/>
          </a:solidFill>
          <a:ln/>
        </p:spPr>
        <p:txBody>
          <a:bodyPr/>
          <a:lstStyle/>
          <a:p>
            <a:endParaRPr lang="en-IN"/>
          </a:p>
        </p:txBody>
      </p:sp>
      <p:sp>
        <p:nvSpPr>
          <p:cNvPr id="7" name="Text 5"/>
          <p:cNvSpPr txBox="1"/>
          <p:nvPr/>
        </p:nvSpPr>
        <p:spPr>
          <a:xfrm>
            <a:off x="3547872" y="109728"/>
            <a:ext cx="5047488" cy="228600"/>
          </a:xfrm>
          <a:prstGeom prst="rect">
            <a:avLst/>
          </a:prstGeom>
          <a:noFill/>
          <a:ln/>
        </p:spPr>
        <p:txBody>
          <a:bodyPr wrap="square" lIns="0" tIns="0" rIns="0" bIns="0" rtlCol="0" anchor="t"/>
          <a:lstStyle/>
          <a:p>
            <a:pPr marL="0" indent="0" algn="ctr">
              <a:buNone/>
            </a:pPr>
            <a:r>
              <a:rPr lang="en-US" sz="1450" dirty="0">
                <a:solidFill>
                  <a:srgbClr val="FFFFFF"/>
                </a:solidFill>
                <a:latin typeface="Trenda IG Display Bold" pitchFamily="34" charset="0"/>
                <a:ea typeface="Trenda IG Display Bold" pitchFamily="34" charset="-122"/>
                <a:cs typeface="Trenda IG Display Bold" pitchFamily="34" charset="-120"/>
              </a:rPr>
              <a:t>PROVIDER, FACILITY AND PATIENT DEMAND</a:t>
            </a:r>
            <a:endParaRPr lang="en-US" sz="1450" dirty="0"/>
          </a:p>
        </p:txBody>
      </p:sp>
      <p:sp>
        <p:nvSpPr>
          <p:cNvPr id="8" name="Text 6"/>
          <p:cNvSpPr txBox="1"/>
          <p:nvPr/>
        </p:nvSpPr>
        <p:spPr>
          <a:xfrm>
            <a:off x="3547872" y="329184"/>
            <a:ext cx="5047488" cy="182880"/>
          </a:xfrm>
          <a:prstGeom prst="rect">
            <a:avLst/>
          </a:prstGeom>
          <a:noFill/>
          <a:ln/>
        </p:spPr>
        <p:txBody>
          <a:bodyPr wrap="square" lIns="0" tIns="0" rIns="0" bIns="0" rtlCol="0" anchor="t"/>
          <a:lstStyle/>
          <a:p>
            <a:pPr marL="0" indent="0" algn="ctr">
              <a:buNone/>
            </a:pPr>
            <a:r>
              <a:rPr lang="en-US" sz="1000" dirty="0">
                <a:solidFill>
                  <a:srgbClr val="5FD0C0"/>
                </a:solidFill>
                <a:latin typeface="Trenda IG Display Semibold" pitchFamily="34" charset="0"/>
                <a:ea typeface="Trenda IG Display Semibold" pitchFamily="34" charset="-122"/>
                <a:cs typeface="Trenda IG Display Semibold" pitchFamily="34" charset="-120"/>
              </a:rPr>
              <a:t>Clinical Network Knowledge Graph Architecture</a:t>
            </a:r>
            <a:endParaRPr lang="en-US" sz="1000" dirty="0"/>
          </a:p>
        </p:txBody>
      </p:sp>
      <p:sp>
        <p:nvSpPr>
          <p:cNvPr id="9" name="Text 7"/>
          <p:cNvSpPr txBox="1"/>
          <p:nvPr/>
        </p:nvSpPr>
        <p:spPr>
          <a:xfrm>
            <a:off x="3547872" y="521208"/>
            <a:ext cx="5047488" cy="137160"/>
          </a:xfrm>
          <a:prstGeom prst="rect">
            <a:avLst/>
          </a:prstGeom>
          <a:noFill/>
          <a:ln/>
        </p:spPr>
        <p:txBody>
          <a:bodyPr wrap="square" lIns="0" tIns="0" rIns="0" bIns="0" rtlCol="0" anchor="t"/>
          <a:lstStyle/>
          <a:p>
            <a:pPr marL="0" indent="0" algn="ctr">
              <a:buNone/>
            </a:pPr>
            <a:r>
              <a:rPr lang="en-US" sz="620" dirty="0">
                <a:solidFill>
                  <a:srgbClr val="A9B4C2"/>
                </a:solidFill>
                <a:latin typeface="Trenda IG Text" pitchFamily="34" charset="0"/>
                <a:ea typeface="Trenda IG Text" pitchFamily="34" charset="-122"/>
                <a:cs typeface="Trenda IG Text" pitchFamily="34" charset="-120"/>
              </a:rPr>
              <a:t>sources → connectors → privacy boundary → identity → domain model → storage → derived edges → graph → gap engines</a:t>
            </a:r>
            <a:endParaRPr lang="en-US" sz="620" dirty="0"/>
          </a:p>
        </p:txBody>
      </p:sp>
      <p:sp>
        <p:nvSpPr>
          <p:cNvPr id="10" name="Shape 8"/>
          <p:cNvSpPr/>
          <p:nvPr/>
        </p:nvSpPr>
        <p:spPr>
          <a:xfrm>
            <a:off x="8796528" y="64008"/>
            <a:ext cx="3282696" cy="612648"/>
          </a:xfrm>
          <a:prstGeom prst="rect">
            <a:avLst/>
          </a:prstGeom>
          <a:solidFill>
            <a:srgbClr val="FFFFFF"/>
          </a:solidFill>
          <a:ln w="9525">
            <a:solidFill>
              <a:srgbClr val="D5D9DE"/>
            </a:solidFill>
            <a:prstDash val="solid"/>
          </a:ln>
        </p:spPr>
        <p:txBody>
          <a:bodyPr/>
          <a:lstStyle/>
          <a:p>
            <a:endParaRPr lang="en-IN"/>
          </a:p>
        </p:txBody>
      </p:sp>
      <p:sp>
        <p:nvSpPr>
          <p:cNvPr id="11" name="Text 9"/>
          <p:cNvSpPr txBox="1"/>
          <p:nvPr/>
        </p:nvSpPr>
        <p:spPr>
          <a:xfrm>
            <a:off x="8897112" y="118872"/>
            <a:ext cx="3108960" cy="173736"/>
          </a:xfrm>
          <a:prstGeom prst="rect">
            <a:avLst/>
          </a:prstGeom>
          <a:noFill/>
          <a:ln/>
        </p:spPr>
        <p:txBody>
          <a:bodyPr wrap="square" lIns="0" tIns="0" rIns="0" bIns="0" rtlCol="0" anchor="t"/>
          <a:lstStyle/>
          <a:p>
            <a:pPr marL="0" indent="0">
              <a:buNone/>
            </a:pPr>
            <a:r>
              <a:rPr lang="en-US" sz="950" kern="0" spc="50" dirty="0">
                <a:solidFill>
                  <a:srgbClr val="2E7D32"/>
                </a:solidFill>
                <a:latin typeface="Trenda IG Display Bold" pitchFamily="34" charset="0"/>
                <a:ea typeface="Trenda IG Display Bold" pitchFamily="34" charset="-122"/>
                <a:cs typeface="Trenda IG Display Bold" pitchFamily="34" charset="-120"/>
              </a:rPr>
              <a:t>WHAT THE GRAPH ANSWERS</a:t>
            </a:r>
            <a:endParaRPr lang="en-US" sz="950" dirty="0"/>
          </a:p>
        </p:txBody>
      </p:sp>
      <p:sp>
        <p:nvSpPr>
          <p:cNvPr id="12" name="Text 10"/>
          <p:cNvSpPr txBox="1"/>
          <p:nvPr/>
        </p:nvSpPr>
        <p:spPr>
          <a:xfrm>
            <a:off x="8897112" y="310896"/>
            <a:ext cx="3090672" cy="219456"/>
          </a:xfrm>
          <a:prstGeom prst="rect">
            <a:avLst/>
          </a:prstGeom>
          <a:noFill/>
          <a:ln/>
        </p:spPr>
        <p:txBody>
          <a:bodyPr wrap="square" lIns="0" tIns="0" rIns="0" bIns="0" rtlCol="0" anchor="t"/>
          <a:lstStyle/>
          <a:p>
            <a:pPr marL="0" indent="0">
              <a:lnSpc>
                <a:spcPct val="102000"/>
              </a:lnSpc>
              <a:buNone/>
            </a:pPr>
            <a:r>
              <a:rPr lang="en-US" sz="700" dirty="0">
                <a:solidFill>
                  <a:srgbClr val="1A1A1A"/>
                </a:solidFill>
                <a:latin typeface="Trenda IG Text" pitchFamily="34" charset="0"/>
                <a:ea typeface="Trenda IG Text" pitchFamily="34" charset="-122"/>
                <a:cs typeface="Trenda IG Text" pitchFamily="34" charset="-120"/>
              </a:rPr>
              <a:t>Where demand has no provider  ·  where a provider has no demand  ·  where capability and credential do not meet  ·  where patients leave</a:t>
            </a:r>
            <a:endParaRPr lang="en-US" sz="700" dirty="0"/>
          </a:p>
        </p:txBody>
      </p:sp>
      <p:sp>
        <p:nvSpPr>
          <p:cNvPr id="13" name="Text 11"/>
          <p:cNvSpPr txBox="1"/>
          <p:nvPr/>
        </p:nvSpPr>
        <p:spPr>
          <a:xfrm>
            <a:off x="8897112" y="521208"/>
            <a:ext cx="3090672" cy="137160"/>
          </a:xfrm>
          <a:prstGeom prst="rect">
            <a:avLst/>
          </a:prstGeom>
          <a:noFill/>
          <a:ln/>
        </p:spPr>
        <p:txBody>
          <a:bodyPr wrap="square" lIns="0" tIns="0" rIns="0" bIns="0" rtlCol="0" anchor="t"/>
          <a:lstStyle/>
          <a:p>
            <a:pPr marL="0" indent="0">
              <a:buNone/>
            </a:pPr>
            <a:r>
              <a:rPr lang="en-US" sz="700" dirty="0">
                <a:solidFill>
                  <a:srgbClr val="2E7D32"/>
                </a:solidFill>
                <a:latin typeface="Trenda IG Text Semibold" pitchFamily="34" charset="0"/>
                <a:ea typeface="Trenda IG Text Semibold" pitchFamily="34" charset="-122"/>
                <a:cs typeface="Trenda IG Text Semibold" pitchFamily="34" charset="-120"/>
              </a:rPr>
              <a:t>The missing edge is the answer</a:t>
            </a:r>
            <a:endParaRPr lang="en-US" sz="700" dirty="0"/>
          </a:p>
        </p:txBody>
      </p:sp>
      <p:sp>
        <p:nvSpPr>
          <p:cNvPr id="14" name="Shape 12"/>
          <p:cNvSpPr/>
          <p:nvPr/>
        </p:nvSpPr>
        <p:spPr>
          <a:xfrm>
            <a:off x="109728" y="713232"/>
            <a:ext cx="1289304" cy="621792"/>
          </a:xfrm>
          <a:prstGeom prst="rect">
            <a:avLst/>
          </a:prstGeom>
          <a:solidFill>
            <a:srgbClr val="1B6BC0"/>
          </a:solidFill>
          <a:ln/>
        </p:spPr>
        <p:txBody>
          <a:bodyPr/>
          <a:lstStyle/>
          <a:p>
            <a:endParaRPr lang="en-IN"/>
          </a:p>
        </p:txBody>
      </p:sp>
      <p:sp>
        <p:nvSpPr>
          <p:cNvPr id="15" name="Text 13"/>
          <p:cNvSpPr txBox="1"/>
          <p:nvPr/>
        </p:nvSpPr>
        <p:spPr>
          <a:xfrm>
            <a:off x="155448" y="758952"/>
            <a:ext cx="1197864" cy="137160"/>
          </a:xfrm>
          <a:prstGeom prst="rect">
            <a:avLst/>
          </a:prstGeom>
          <a:noFill/>
          <a:ln/>
        </p:spPr>
        <p:txBody>
          <a:bodyPr wrap="square" lIns="0" tIns="0" rIns="0" bIns="0" rtlCol="0" anchor="t"/>
          <a:lstStyle/>
          <a:p>
            <a:pPr marL="0" indent="0" algn="ctr">
              <a:buNone/>
            </a:pPr>
            <a:r>
              <a:rPr lang="en-US" sz="750" kern="0" spc="40" dirty="0">
                <a:solidFill>
                  <a:srgbClr val="FFFFFF"/>
                </a:solidFill>
                <a:latin typeface="Trenda IG Display Semibold" pitchFamily="34" charset="0"/>
                <a:ea typeface="Trenda IG Display Semibold" pitchFamily="34" charset="-122"/>
                <a:cs typeface="Trenda IG Display Semibold" pitchFamily="34" charset="-120"/>
              </a:rPr>
              <a:t>LAYER 1</a:t>
            </a:r>
            <a:endParaRPr lang="en-US" sz="750" dirty="0"/>
          </a:p>
        </p:txBody>
      </p:sp>
      <p:sp>
        <p:nvSpPr>
          <p:cNvPr id="16" name="Text 14"/>
          <p:cNvSpPr txBox="1"/>
          <p:nvPr/>
        </p:nvSpPr>
        <p:spPr>
          <a:xfrm>
            <a:off x="146304" y="886968"/>
            <a:ext cx="1216152" cy="329184"/>
          </a:xfrm>
          <a:prstGeom prst="rect">
            <a:avLst/>
          </a:prstGeom>
          <a:noFill/>
          <a:ln/>
        </p:spPr>
        <p:txBody>
          <a:bodyPr wrap="square" lIns="0" tIns="0" rIns="0" bIns="0" rtlCol="0" anchor="t"/>
          <a:lstStyle/>
          <a:p>
            <a:pPr marL="0" indent="0" algn="ctr">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Source Systems</a:t>
            </a:r>
            <a:endParaRPr lang="en-US" sz="1000" dirty="0"/>
          </a:p>
        </p:txBody>
      </p:sp>
      <p:sp>
        <p:nvSpPr>
          <p:cNvPr id="17" name="Text 15"/>
          <p:cNvSpPr txBox="1"/>
          <p:nvPr/>
        </p:nvSpPr>
        <p:spPr>
          <a:xfrm>
            <a:off x="155448" y="1188720"/>
            <a:ext cx="1197864" cy="137160"/>
          </a:xfrm>
          <a:prstGeom prst="rect">
            <a:avLst/>
          </a:prstGeom>
          <a:noFill/>
          <a:ln/>
        </p:spPr>
        <p:txBody>
          <a:bodyPr wrap="square" lIns="0" tIns="0" rIns="0" bIns="0" rtlCol="0" anchor="t"/>
          <a:lstStyle/>
          <a:p>
            <a:pPr marL="0" indent="0" algn="ctr">
              <a:buNone/>
            </a:pPr>
            <a:r>
              <a:rPr lang="en-US" sz="650" dirty="0">
                <a:solidFill>
                  <a:srgbClr val="E4EEF2"/>
                </a:solidFill>
                <a:latin typeface="Trenda IG Text Light" pitchFamily="34" charset="0"/>
                <a:ea typeface="Trenda IG Text Light" pitchFamily="34" charset="-122"/>
                <a:cs typeface="Trenda IG Text Light" pitchFamily="34" charset="-120"/>
              </a:rPr>
              <a:t>Systems of record</a:t>
            </a:r>
            <a:endParaRPr lang="en-US" sz="650" dirty="0"/>
          </a:p>
        </p:txBody>
      </p:sp>
      <p:sp>
        <p:nvSpPr>
          <p:cNvPr id="18" name="Shape 16"/>
          <p:cNvSpPr/>
          <p:nvPr/>
        </p:nvSpPr>
        <p:spPr>
          <a:xfrm>
            <a:off x="109728" y="1353312"/>
            <a:ext cx="1289304" cy="4334256"/>
          </a:xfrm>
          <a:prstGeom prst="rect">
            <a:avLst/>
          </a:prstGeom>
          <a:solidFill>
            <a:srgbClr val="FFFFFF"/>
          </a:solidFill>
          <a:ln w="9525">
            <a:solidFill>
              <a:srgbClr val="D5D9DE"/>
            </a:solidFill>
            <a:prstDash val="solid"/>
          </a:ln>
        </p:spPr>
        <p:txBody>
          <a:bodyPr/>
          <a:lstStyle/>
          <a:p>
            <a:endParaRPr lang="en-IN"/>
          </a:p>
        </p:txBody>
      </p:sp>
      <p:sp>
        <p:nvSpPr>
          <p:cNvPr id="19" name="Shape 17"/>
          <p:cNvSpPr/>
          <p:nvPr/>
        </p:nvSpPr>
        <p:spPr>
          <a:xfrm>
            <a:off x="182880" y="1467612"/>
            <a:ext cx="64008" cy="64008"/>
          </a:xfrm>
          <a:prstGeom prst="rect">
            <a:avLst/>
          </a:prstGeom>
          <a:solidFill>
            <a:srgbClr val="1B6BC0"/>
          </a:solidFill>
          <a:ln/>
        </p:spPr>
        <p:txBody>
          <a:bodyPr/>
          <a:lstStyle/>
          <a:p>
            <a:endParaRPr lang="en-IN"/>
          </a:p>
        </p:txBody>
      </p:sp>
      <p:sp>
        <p:nvSpPr>
          <p:cNvPr id="20" name="Text 18"/>
          <p:cNvSpPr txBox="1"/>
          <p:nvPr/>
        </p:nvSpPr>
        <p:spPr>
          <a:xfrm>
            <a:off x="283464" y="1435608"/>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1B6BC0"/>
                </a:solidFill>
                <a:latin typeface="Trenda IG Display Bold" pitchFamily="34" charset="0"/>
                <a:ea typeface="Trenda IG Display Bold" pitchFamily="34" charset="-122"/>
                <a:cs typeface="Trenda IG Display Bold" pitchFamily="34" charset="-120"/>
              </a:rPr>
              <a:t>EHR and clinical</a:t>
            </a:r>
            <a:endParaRPr lang="en-US" sz="800" dirty="0"/>
          </a:p>
        </p:txBody>
      </p:sp>
      <p:sp>
        <p:nvSpPr>
          <p:cNvPr id="21" name="Text 19"/>
          <p:cNvSpPr txBox="1"/>
          <p:nvPr/>
        </p:nvSpPr>
        <p:spPr>
          <a:xfrm>
            <a:off x="182880" y="160538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Encounters and diagnoses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ADT admit and discharge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Orders, results, problems</a:t>
            </a:r>
            <a:endParaRPr lang="en-US" sz="700" dirty="0"/>
          </a:p>
        </p:txBody>
      </p:sp>
      <p:sp>
        <p:nvSpPr>
          <p:cNvPr id="22" name="Shape 20"/>
          <p:cNvSpPr/>
          <p:nvPr/>
        </p:nvSpPr>
        <p:spPr>
          <a:xfrm>
            <a:off x="182880" y="2072183"/>
            <a:ext cx="64008" cy="64008"/>
          </a:xfrm>
          <a:prstGeom prst="rect">
            <a:avLst/>
          </a:prstGeom>
          <a:solidFill>
            <a:srgbClr val="1B6BC0"/>
          </a:solidFill>
          <a:ln/>
        </p:spPr>
        <p:txBody>
          <a:bodyPr/>
          <a:lstStyle/>
          <a:p>
            <a:endParaRPr lang="en-IN"/>
          </a:p>
        </p:txBody>
      </p:sp>
      <p:sp>
        <p:nvSpPr>
          <p:cNvPr id="23" name="Text 21"/>
          <p:cNvSpPr txBox="1"/>
          <p:nvPr/>
        </p:nvSpPr>
        <p:spPr>
          <a:xfrm>
            <a:off x="283464" y="2040179"/>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1B6BC0"/>
                </a:solidFill>
                <a:latin typeface="Trenda IG Display Bold" pitchFamily="34" charset="0"/>
                <a:ea typeface="Trenda IG Display Bold" pitchFamily="34" charset="-122"/>
                <a:cs typeface="Trenda IG Display Bold" pitchFamily="34" charset="-120"/>
              </a:rPr>
              <a:t>Credentialing</a:t>
            </a:r>
            <a:endParaRPr lang="en-US" sz="800" dirty="0"/>
          </a:p>
        </p:txBody>
      </p:sp>
      <p:sp>
        <p:nvSpPr>
          <p:cNvPr id="24" name="Text 22"/>
          <p:cNvSpPr txBox="1"/>
          <p:nvPr/>
        </p:nvSpPr>
        <p:spPr>
          <a:xfrm>
            <a:off x="182880" y="220995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Licence and board certs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Privileges by procedure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Expirables and sanctions</a:t>
            </a:r>
            <a:endParaRPr lang="en-US" sz="700" dirty="0"/>
          </a:p>
        </p:txBody>
      </p:sp>
      <p:sp>
        <p:nvSpPr>
          <p:cNvPr id="25" name="Shape 23"/>
          <p:cNvSpPr/>
          <p:nvPr/>
        </p:nvSpPr>
        <p:spPr>
          <a:xfrm>
            <a:off x="182880" y="2676754"/>
            <a:ext cx="64008" cy="64008"/>
          </a:xfrm>
          <a:prstGeom prst="rect">
            <a:avLst/>
          </a:prstGeom>
          <a:solidFill>
            <a:srgbClr val="1B6BC0"/>
          </a:solidFill>
          <a:ln/>
        </p:spPr>
        <p:txBody>
          <a:bodyPr/>
          <a:lstStyle/>
          <a:p>
            <a:endParaRPr lang="en-IN"/>
          </a:p>
        </p:txBody>
      </p:sp>
      <p:sp>
        <p:nvSpPr>
          <p:cNvPr id="26" name="Text 24"/>
          <p:cNvSpPr txBox="1"/>
          <p:nvPr/>
        </p:nvSpPr>
        <p:spPr>
          <a:xfrm>
            <a:off x="283464" y="2644750"/>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1B6BC0"/>
                </a:solidFill>
                <a:latin typeface="Trenda IG Display Bold" pitchFamily="34" charset="0"/>
                <a:ea typeface="Trenda IG Display Bold" pitchFamily="34" charset="-122"/>
                <a:cs typeface="Trenda IG Display Bold" pitchFamily="34" charset="-120"/>
              </a:rPr>
              <a:t>Directory and MDM</a:t>
            </a:r>
            <a:endParaRPr lang="en-US" sz="800" dirty="0"/>
          </a:p>
        </p:txBody>
      </p:sp>
      <p:sp>
        <p:nvSpPr>
          <p:cNvPr id="27" name="Text 25"/>
          <p:cNvSpPr txBox="1"/>
          <p:nvPr/>
        </p:nvSpPr>
        <p:spPr>
          <a:xfrm>
            <a:off x="182880" y="2814523"/>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Individual and org NPI</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NUCC taxonomy and sub</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Locations, TIN, panel</a:t>
            </a:r>
            <a:endParaRPr lang="en-US" sz="700" dirty="0"/>
          </a:p>
        </p:txBody>
      </p:sp>
      <p:sp>
        <p:nvSpPr>
          <p:cNvPr id="28" name="Shape 26"/>
          <p:cNvSpPr/>
          <p:nvPr/>
        </p:nvSpPr>
        <p:spPr>
          <a:xfrm>
            <a:off x="182880" y="3281324"/>
            <a:ext cx="64008" cy="64008"/>
          </a:xfrm>
          <a:prstGeom prst="rect">
            <a:avLst/>
          </a:prstGeom>
          <a:solidFill>
            <a:srgbClr val="1B6BC0"/>
          </a:solidFill>
          <a:ln/>
        </p:spPr>
        <p:txBody>
          <a:bodyPr/>
          <a:lstStyle/>
          <a:p>
            <a:endParaRPr lang="en-IN"/>
          </a:p>
        </p:txBody>
      </p:sp>
      <p:sp>
        <p:nvSpPr>
          <p:cNvPr id="29" name="Text 27"/>
          <p:cNvSpPr txBox="1"/>
          <p:nvPr/>
        </p:nvSpPr>
        <p:spPr>
          <a:xfrm>
            <a:off x="283464" y="3249320"/>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1B6BC0"/>
                </a:solidFill>
                <a:latin typeface="Trenda IG Display Bold" pitchFamily="34" charset="0"/>
                <a:ea typeface="Trenda IG Display Bold" pitchFamily="34" charset="-122"/>
                <a:cs typeface="Trenda IG Display Bold" pitchFamily="34" charset="-120"/>
              </a:rPr>
              <a:t>Booking and access</a:t>
            </a:r>
            <a:endParaRPr lang="en-US" sz="800" dirty="0"/>
          </a:p>
        </p:txBody>
      </p:sp>
      <p:sp>
        <p:nvSpPr>
          <p:cNvPr id="30" name="Text 28"/>
          <p:cNvSpPr txBox="1"/>
          <p:nvPr/>
        </p:nvSpPr>
        <p:spPr>
          <a:xfrm>
            <a:off x="182880" y="3419094"/>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Bookings and cancellations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Arrivals and no-shows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Waitlist and reminders</a:t>
            </a:r>
            <a:endParaRPr lang="en-US" sz="700" dirty="0"/>
          </a:p>
        </p:txBody>
      </p:sp>
      <p:sp>
        <p:nvSpPr>
          <p:cNvPr id="31" name="Shape 29"/>
          <p:cNvSpPr/>
          <p:nvPr/>
        </p:nvSpPr>
        <p:spPr>
          <a:xfrm>
            <a:off x="182880" y="3885895"/>
            <a:ext cx="64008" cy="64008"/>
          </a:xfrm>
          <a:prstGeom prst="rect">
            <a:avLst/>
          </a:prstGeom>
          <a:solidFill>
            <a:srgbClr val="1B6BC0"/>
          </a:solidFill>
          <a:ln/>
        </p:spPr>
        <p:txBody>
          <a:bodyPr/>
          <a:lstStyle/>
          <a:p>
            <a:endParaRPr lang="en-IN"/>
          </a:p>
        </p:txBody>
      </p:sp>
      <p:sp>
        <p:nvSpPr>
          <p:cNvPr id="32" name="Text 30"/>
          <p:cNvSpPr txBox="1"/>
          <p:nvPr/>
        </p:nvSpPr>
        <p:spPr>
          <a:xfrm>
            <a:off x="283464" y="3853891"/>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1B6BC0"/>
                </a:solidFill>
                <a:latin typeface="Trenda IG Display Bold" pitchFamily="34" charset="0"/>
                <a:ea typeface="Trenda IG Display Bold" pitchFamily="34" charset="-122"/>
                <a:cs typeface="Trenda IG Display Bold" pitchFamily="34" charset="-120"/>
              </a:rPr>
              <a:t>Claims, referrals, geo</a:t>
            </a:r>
            <a:endParaRPr lang="en-US" sz="800" dirty="0"/>
          </a:p>
        </p:txBody>
      </p:sp>
      <p:sp>
        <p:nvSpPr>
          <p:cNvPr id="33" name="Text 31"/>
          <p:cNvSpPr txBox="1"/>
          <p:nvPr/>
        </p:nvSpPr>
        <p:spPr>
          <a:xfrm>
            <a:off x="182880" y="4023665"/>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CPT, ICD-10, place of service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Referring to receiving</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Drive time and tracts</a:t>
            </a:r>
            <a:endParaRPr lang="en-US" sz="700" dirty="0"/>
          </a:p>
        </p:txBody>
      </p:sp>
      <p:sp>
        <p:nvSpPr>
          <p:cNvPr id="34" name="Shape 32"/>
          <p:cNvSpPr/>
          <p:nvPr/>
        </p:nvSpPr>
        <p:spPr>
          <a:xfrm>
            <a:off x="109728" y="5230368"/>
            <a:ext cx="1289304" cy="457200"/>
          </a:xfrm>
          <a:prstGeom prst="rect">
            <a:avLst/>
          </a:prstGeom>
          <a:solidFill>
            <a:srgbClr val="1B6BC0"/>
          </a:solidFill>
          <a:ln/>
        </p:spPr>
        <p:txBody>
          <a:bodyPr/>
          <a:lstStyle/>
          <a:p>
            <a:endParaRPr lang="en-IN"/>
          </a:p>
        </p:txBody>
      </p:sp>
      <p:sp>
        <p:nvSpPr>
          <p:cNvPr id="35" name="Text 33"/>
          <p:cNvSpPr txBox="1"/>
          <p:nvPr/>
        </p:nvSpPr>
        <p:spPr>
          <a:xfrm>
            <a:off x="182880" y="5276088"/>
            <a:ext cx="1143000" cy="128016"/>
          </a:xfrm>
          <a:prstGeom prst="rect">
            <a:avLst/>
          </a:prstGeom>
          <a:noFill/>
          <a:ln/>
        </p:spPr>
        <p:txBody>
          <a:bodyPr wrap="square" lIns="0" tIns="0" rIns="0" bIns="0" rtlCol="0" anchor="t"/>
          <a:lstStyle/>
          <a:p>
            <a:pPr marL="0" indent="0">
              <a:buNone/>
            </a:pPr>
            <a:r>
              <a:rPr lang="en-US" sz="650" kern="0" spc="4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36" name="Text 34"/>
          <p:cNvSpPr txBox="1"/>
          <p:nvPr/>
        </p:nvSpPr>
        <p:spPr>
          <a:xfrm>
            <a:off x="182880" y="5404104"/>
            <a:ext cx="1143000" cy="274320"/>
          </a:xfrm>
          <a:prstGeom prst="rect">
            <a:avLst/>
          </a:prstGeom>
          <a:noFill/>
          <a:ln/>
        </p:spPr>
        <p:txBody>
          <a:bodyPr wrap="square" lIns="0" tIns="0" rIns="0" bIns="0" rtlCol="0" anchor="t"/>
          <a:lstStyle/>
          <a:p>
            <a:pPr marL="0" indent="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Every network fact in one place</a:t>
            </a:r>
            <a:endParaRPr lang="en-US" sz="700" dirty="0"/>
          </a:p>
        </p:txBody>
      </p:sp>
      <p:sp>
        <p:nvSpPr>
          <p:cNvPr id="37" name="Text 35"/>
          <p:cNvSpPr txBox="1"/>
          <p:nvPr/>
        </p:nvSpPr>
        <p:spPr>
          <a:xfrm>
            <a:off x="1397203" y="914400"/>
            <a:ext cx="49378" cy="128016"/>
          </a:xfrm>
          <a:prstGeom prst="rect">
            <a:avLst/>
          </a:prstGeom>
          <a:noFill/>
          <a:ln/>
        </p:spPr>
        <p:txBody>
          <a:bodyPr wrap="square" lIns="0" tIns="0" rIns="0" bIns="0" rtlCol="0" anchor="t"/>
          <a:lstStyle/>
          <a:p>
            <a:pPr marL="0" indent="0" algn="ctr">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38" name="Shape 36"/>
          <p:cNvSpPr/>
          <p:nvPr/>
        </p:nvSpPr>
        <p:spPr>
          <a:xfrm>
            <a:off x="1444752" y="713232"/>
            <a:ext cx="1289304" cy="621792"/>
          </a:xfrm>
          <a:prstGeom prst="rect">
            <a:avLst/>
          </a:prstGeom>
          <a:solidFill>
            <a:srgbClr val="0E8A7D"/>
          </a:solidFill>
          <a:ln/>
        </p:spPr>
        <p:txBody>
          <a:bodyPr/>
          <a:lstStyle/>
          <a:p>
            <a:endParaRPr lang="en-IN"/>
          </a:p>
        </p:txBody>
      </p:sp>
      <p:sp>
        <p:nvSpPr>
          <p:cNvPr id="39" name="Text 37"/>
          <p:cNvSpPr txBox="1"/>
          <p:nvPr/>
        </p:nvSpPr>
        <p:spPr>
          <a:xfrm>
            <a:off x="1490472" y="758952"/>
            <a:ext cx="1197864" cy="137160"/>
          </a:xfrm>
          <a:prstGeom prst="rect">
            <a:avLst/>
          </a:prstGeom>
          <a:noFill/>
          <a:ln/>
        </p:spPr>
        <p:txBody>
          <a:bodyPr wrap="square" lIns="0" tIns="0" rIns="0" bIns="0" rtlCol="0" anchor="t"/>
          <a:lstStyle/>
          <a:p>
            <a:pPr marL="0" indent="0" algn="ctr">
              <a:buNone/>
            </a:pPr>
            <a:r>
              <a:rPr lang="en-US" sz="750" kern="0" spc="40" dirty="0">
                <a:solidFill>
                  <a:srgbClr val="FFFFFF"/>
                </a:solidFill>
                <a:latin typeface="Trenda IG Display Semibold" pitchFamily="34" charset="0"/>
                <a:ea typeface="Trenda IG Display Semibold" pitchFamily="34" charset="-122"/>
                <a:cs typeface="Trenda IG Display Semibold" pitchFamily="34" charset="-120"/>
              </a:rPr>
              <a:t>LAYER 2</a:t>
            </a:r>
            <a:endParaRPr lang="en-US" sz="750" dirty="0"/>
          </a:p>
        </p:txBody>
      </p:sp>
      <p:sp>
        <p:nvSpPr>
          <p:cNvPr id="40" name="Text 38"/>
          <p:cNvSpPr txBox="1"/>
          <p:nvPr/>
        </p:nvSpPr>
        <p:spPr>
          <a:xfrm>
            <a:off x="1481328" y="886968"/>
            <a:ext cx="1216152" cy="329184"/>
          </a:xfrm>
          <a:prstGeom prst="rect">
            <a:avLst/>
          </a:prstGeom>
          <a:noFill/>
          <a:ln/>
        </p:spPr>
        <p:txBody>
          <a:bodyPr wrap="square" lIns="0" tIns="0" rIns="0" bIns="0" rtlCol="0" anchor="t"/>
          <a:lstStyle/>
          <a:p>
            <a:pPr marL="0" indent="0" algn="ctr">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Source Connectors</a:t>
            </a:r>
            <a:endParaRPr lang="en-US" sz="1000" dirty="0"/>
          </a:p>
        </p:txBody>
      </p:sp>
      <p:sp>
        <p:nvSpPr>
          <p:cNvPr id="41" name="Text 39"/>
          <p:cNvSpPr txBox="1"/>
          <p:nvPr/>
        </p:nvSpPr>
        <p:spPr>
          <a:xfrm>
            <a:off x="1490472" y="1188720"/>
            <a:ext cx="1197864" cy="137160"/>
          </a:xfrm>
          <a:prstGeom prst="rect">
            <a:avLst/>
          </a:prstGeom>
          <a:noFill/>
          <a:ln/>
        </p:spPr>
        <p:txBody>
          <a:bodyPr wrap="square" lIns="0" tIns="0" rIns="0" bIns="0" rtlCol="0" anchor="t"/>
          <a:lstStyle/>
          <a:p>
            <a:pPr marL="0" indent="0" algn="ctr">
              <a:buNone/>
            </a:pPr>
            <a:r>
              <a:rPr lang="en-US" sz="650" dirty="0">
                <a:solidFill>
                  <a:srgbClr val="E4EEF2"/>
                </a:solidFill>
                <a:latin typeface="Trenda IG Text Light" pitchFamily="34" charset="0"/>
                <a:ea typeface="Trenda IG Text Light" pitchFamily="34" charset="-122"/>
                <a:cs typeface="Trenda IG Text Light" pitchFamily="34" charset="-120"/>
              </a:rPr>
              <a:t>Read only and replayable</a:t>
            </a:r>
            <a:endParaRPr lang="en-US" sz="650" dirty="0"/>
          </a:p>
        </p:txBody>
      </p:sp>
      <p:sp>
        <p:nvSpPr>
          <p:cNvPr id="42" name="Shape 40"/>
          <p:cNvSpPr/>
          <p:nvPr/>
        </p:nvSpPr>
        <p:spPr>
          <a:xfrm>
            <a:off x="1444752" y="1353312"/>
            <a:ext cx="1289304" cy="4334256"/>
          </a:xfrm>
          <a:prstGeom prst="rect">
            <a:avLst/>
          </a:prstGeom>
          <a:solidFill>
            <a:srgbClr val="FFFFFF"/>
          </a:solidFill>
          <a:ln w="9525">
            <a:solidFill>
              <a:srgbClr val="D5D9DE"/>
            </a:solidFill>
            <a:prstDash val="solid"/>
          </a:ln>
        </p:spPr>
        <p:txBody>
          <a:bodyPr/>
          <a:lstStyle/>
          <a:p>
            <a:endParaRPr lang="en-IN"/>
          </a:p>
        </p:txBody>
      </p:sp>
      <p:sp>
        <p:nvSpPr>
          <p:cNvPr id="43" name="Shape 41"/>
          <p:cNvSpPr/>
          <p:nvPr/>
        </p:nvSpPr>
        <p:spPr>
          <a:xfrm>
            <a:off x="1517904" y="1467612"/>
            <a:ext cx="64008" cy="64008"/>
          </a:xfrm>
          <a:prstGeom prst="rect">
            <a:avLst/>
          </a:prstGeom>
          <a:solidFill>
            <a:srgbClr val="0E8A7D"/>
          </a:solidFill>
          <a:ln/>
        </p:spPr>
        <p:txBody>
          <a:bodyPr/>
          <a:lstStyle/>
          <a:p>
            <a:endParaRPr lang="en-IN"/>
          </a:p>
        </p:txBody>
      </p:sp>
      <p:sp>
        <p:nvSpPr>
          <p:cNvPr id="44" name="Text 42"/>
          <p:cNvSpPr txBox="1"/>
          <p:nvPr/>
        </p:nvSpPr>
        <p:spPr>
          <a:xfrm>
            <a:off x="1618488" y="1435608"/>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0E8A7D"/>
                </a:solidFill>
                <a:latin typeface="Trenda IG Display Bold" pitchFamily="34" charset="0"/>
                <a:ea typeface="Trenda IG Display Bold" pitchFamily="34" charset="-122"/>
                <a:cs typeface="Trenda IG Display Bold" pitchFamily="34" charset="-120"/>
              </a:rPr>
              <a:t>Clinical connectors</a:t>
            </a:r>
            <a:endParaRPr lang="en-US" sz="800" dirty="0"/>
          </a:p>
        </p:txBody>
      </p:sp>
      <p:sp>
        <p:nvSpPr>
          <p:cNvPr id="45" name="Text 43"/>
          <p:cNvSpPr txBox="1"/>
          <p:nvPr/>
        </p:nvSpPr>
        <p:spPr>
          <a:xfrm>
            <a:off x="1517904" y="160538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FHIR R4 and HL7 v2</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Bulk export, ADT stream</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Read only accounts</a:t>
            </a:r>
            <a:endParaRPr lang="en-US" sz="700" dirty="0"/>
          </a:p>
        </p:txBody>
      </p:sp>
      <p:sp>
        <p:nvSpPr>
          <p:cNvPr id="46" name="Shape 44"/>
          <p:cNvSpPr/>
          <p:nvPr/>
        </p:nvSpPr>
        <p:spPr>
          <a:xfrm>
            <a:off x="1517904" y="2072183"/>
            <a:ext cx="64008" cy="64008"/>
          </a:xfrm>
          <a:prstGeom prst="rect">
            <a:avLst/>
          </a:prstGeom>
          <a:solidFill>
            <a:srgbClr val="0E8A7D"/>
          </a:solidFill>
          <a:ln/>
        </p:spPr>
        <p:txBody>
          <a:bodyPr/>
          <a:lstStyle/>
          <a:p>
            <a:endParaRPr lang="en-IN"/>
          </a:p>
        </p:txBody>
      </p:sp>
      <p:sp>
        <p:nvSpPr>
          <p:cNvPr id="47" name="Text 45"/>
          <p:cNvSpPr txBox="1"/>
          <p:nvPr/>
        </p:nvSpPr>
        <p:spPr>
          <a:xfrm>
            <a:off x="1618488" y="2040179"/>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0E8A7D"/>
                </a:solidFill>
                <a:latin typeface="Trenda IG Display Bold" pitchFamily="34" charset="0"/>
                <a:ea typeface="Trenda IG Display Bold" pitchFamily="34" charset="-122"/>
                <a:cs typeface="Trenda IG Display Bold" pitchFamily="34" charset="-120"/>
              </a:rPr>
              <a:t>Workforce connectors</a:t>
            </a:r>
            <a:endParaRPr lang="en-US" sz="800" dirty="0"/>
          </a:p>
        </p:txBody>
      </p:sp>
      <p:sp>
        <p:nvSpPr>
          <p:cNvPr id="48" name="Text 46"/>
          <p:cNvSpPr txBox="1"/>
          <p:nvPr/>
        </p:nvSpPr>
        <p:spPr>
          <a:xfrm>
            <a:off x="1517904" y="220995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Credentialing delta</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NPPES weekly, MDM API</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Taxonomy version pinned</a:t>
            </a:r>
            <a:endParaRPr lang="en-US" sz="700" dirty="0"/>
          </a:p>
        </p:txBody>
      </p:sp>
      <p:sp>
        <p:nvSpPr>
          <p:cNvPr id="49" name="Shape 47"/>
          <p:cNvSpPr/>
          <p:nvPr/>
        </p:nvSpPr>
        <p:spPr>
          <a:xfrm>
            <a:off x="1517904" y="2676754"/>
            <a:ext cx="64008" cy="64008"/>
          </a:xfrm>
          <a:prstGeom prst="rect">
            <a:avLst/>
          </a:prstGeom>
          <a:solidFill>
            <a:srgbClr val="0E8A7D"/>
          </a:solidFill>
          <a:ln/>
        </p:spPr>
        <p:txBody>
          <a:bodyPr/>
          <a:lstStyle/>
          <a:p>
            <a:endParaRPr lang="en-IN"/>
          </a:p>
        </p:txBody>
      </p:sp>
      <p:sp>
        <p:nvSpPr>
          <p:cNvPr id="50" name="Text 48"/>
          <p:cNvSpPr txBox="1"/>
          <p:nvPr/>
        </p:nvSpPr>
        <p:spPr>
          <a:xfrm>
            <a:off x="1618488" y="2644750"/>
            <a:ext cx="1051560" cy="266395"/>
          </a:xfrm>
          <a:prstGeom prst="rect">
            <a:avLst/>
          </a:prstGeom>
          <a:noFill/>
          <a:ln/>
        </p:spPr>
        <p:txBody>
          <a:bodyPr wrap="square" lIns="0" tIns="0" rIns="0" bIns="0" rtlCol="0" anchor="t"/>
          <a:lstStyle/>
          <a:p>
            <a:pPr marL="0" indent="0">
              <a:lnSpc>
                <a:spcPct val="98000"/>
              </a:lnSpc>
              <a:buNone/>
            </a:pPr>
            <a:r>
              <a:rPr lang="en-US" sz="800" dirty="0">
                <a:solidFill>
                  <a:srgbClr val="0E8A7D"/>
                </a:solidFill>
                <a:latin typeface="Trenda IG Display Bold" pitchFamily="34" charset="0"/>
                <a:ea typeface="Trenda IG Display Bold" pitchFamily="34" charset="-122"/>
                <a:cs typeface="Trenda IG Display Bold" pitchFamily="34" charset="-120"/>
              </a:rPr>
              <a:t>Operational connectors</a:t>
            </a:r>
            <a:endParaRPr lang="en-US" sz="800" dirty="0"/>
          </a:p>
        </p:txBody>
      </p:sp>
      <p:sp>
        <p:nvSpPr>
          <p:cNvPr id="51" name="Text 49"/>
          <p:cNvSpPr txBox="1"/>
          <p:nvPr/>
        </p:nvSpPr>
        <p:spPr>
          <a:xfrm>
            <a:off x="1517904" y="2938577"/>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Slot and template API</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Nightly bookable snapshot</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837 and 835 monthly</a:t>
            </a:r>
            <a:endParaRPr lang="en-US" sz="700" dirty="0"/>
          </a:p>
        </p:txBody>
      </p:sp>
      <p:sp>
        <p:nvSpPr>
          <p:cNvPr id="52" name="Shape 50"/>
          <p:cNvSpPr/>
          <p:nvPr/>
        </p:nvSpPr>
        <p:spPr>
          <a:xfrm>
            <a:off x="1517904" y="3405378"/>
            <a:ext cx="64008" cy="64008"/>
          </a:xfrm>
          <a:prstGeom prst="rect">
            <a:avLst/>
          </a:prstGeom>
          <a:solidFill>
            <a:srgbClr val="0E8A7D"/>
          </a:solidFill>
          <a:ln/>
        </p:spPr>
        <p:txBody>
          <a:bodyPr/>
          <a:lstStyle/>
          <a:p>
            <a:endParaRPr lang="en-IN"/>
          </a:p>
        </p:txBody>
      </p:sp>
      <p:sp>
        <p:nvSpPr>
          <p:cNvPr id="53" name="Text 51"/>
          <p:cNvSpPr txBox="1"/>
          <p:nvPr/>
        </p:nvSpPr>
        <p:spPr>
          <a:xfrm>
            <a:off x="1618488" y="3373374"/>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0E8A7D"/>
                </a:solidFill>
                <a:latin typeface="Trenda IG Display Bold" pitchFamily="34" charset="0"/>
                <a:ea typeface="Trenda IG Display Bold" pitchFamily="34" charset="-122"/>
                <a:cs typeface="Trenda IG Display Bold" pitchFamily="34" charset="-120"/>
              </a:rPr>
              <a:t>Connector contract</a:t>
            </a:r>
            <a:endParaRPr lang="en-US" sz="800" dirty="0"/>
          </a:p>
        </p:txBody>
      </p:sp>
      <p:sp>
        <p:nvSpPr>
          <p:cNvPr id="54" name="Text 52"/>
          <p:cNvSpPr txBox="1"/>
          <p:nvPr/>
        </p:nvSpPr>
        <p:spPr>
          <a:xfrm>
            <a:off x="1517904" y="3543148"/>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No writes, ever</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SHA-256 per record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Replay by extract id</a:t>
            </a:r>
            <a:endParaRPr lang="en-US" sz="700" dirty="0"/>
          </a:p>
        </p:txBody>
      </p:sp>
      <p:sp>
        <p:nvSpPr>
          <p:cNvPr id="55" name="Shape 53"/>
          <p:cNvSpPr/>
          <p:nvPr/>
        </p:nvSpPr>
        <p:spPr>
          <a:xfrm>
            <a:off x="1517904" y="4009949"/>
            <a:ext cx="64008" cy="64008"/>
          </a:xfrm>
          <a:prstGeom prst="rect">
            <a:avLst/>
          </a:prstGeom>
          <a:solidFill>
            <a:srgbClr val="0E8A7D"/>
          </a:solidFill>
          <a:ln/>
        </p:spPr>
        <p:txBody>
          <a:bodyPr/>
          <a:lstStyle/>
          <a:p>
            <a:endParaRPr lang="en-IN"/>
          </a:p>
        </p:txBody>
      </p:sp>
      <p:sp>
        <p:nvSpPr>
          <p:cNvPr id="56" name="Text 54"/>
          <p:cNvSpPr txBox="1"/>
          <p:nvPr/>
        </p:nvSpPr>
        <p:spPr>
          <a:xfrm>
            <a:off x="1618488" y="3977945"/>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0E8A7D"/>
                </a:solidFill>
                <a:latin typeface="Trenda IG Display Bold" pitchFamily="34" charset="0"/>
                <a:ea typeface="Trenda IG Display Bold" pitchFamily="34" charset="-122"/>
                <a:cs typeface="Trenda IG Display Bold" pitchFamily="34" charset="-120"/>
              </a:rPr>
              <a:t>Failure handling</a:t>
            </a:r>
            <a:endParaRPr lang="en-US" sz="800" dirty="0"/>
          </a:p>
        </p:txBody>
      </p:sp>
      <p:sp>
        <p:nvSpPr>
          <p:cNvPr id="57" name="Text 55"/>
          <p:cNvSpPr txBox="1"/>
          <p:nvPr/>
        </p:nvSpPr>
        <p:spPr>
          <a:xfrm>
            <a:off x="1517904" y="4147718"/>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Partial pull discarded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Late file supersedes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Every run leaves a receipt</a:t>
            </a:r>
            <a:endParaRPr lang="en-US" sz="700" dirty="0"/>
          </a:p>
        </p:txBody>
      </p:sp>
      <p:sp>
        <p:nvSpPr>
          <p:cNvPr id="58" name="Shape 56"/>
          <p:cNvSpPr/>
          <p:nvPr/>
        </p:nvSpPr>
        <p:spPr>
          <a:xfrm>
            <a:off x="1444752" y="5230368"/>
            <a:ext cx="1289304" cy="457200"/>
          </a:xfrm>
          <a:prstGeom prst="rect">
            <a:avLst/>
          </a:prstGeom>
          <a:solidFill>
            <a:srgbClr val="0E8A7D"/>
          </a:solidFill>
          <a:ln/>
        </p:spPr>
        <p:txBody>
          <a:bodyPr/>
          <a:lstStyle/>
          <a:p>
            <a:endParaRPr lang="en-IN"/>
          </a:p>
        </p:txBody>
      </p:sp>
      <p:sp>
        <p:nvSpPr>
          <p:cNvPr id="59" name="Text 57"/>
          <p:cNvSpPr txBox="1"/>
          <p:nvPr/>
        </p:nvSpPr>
        <p:spPr>
          <a:xfrm>
            <a:off x="1517904" y="5276088"/>
            <a:ext cx="1143000" cy="128016"/>
          </a:xfrm>
          <a:prstGeom prst="rect">
            <a:avLst/>
          </a:prstGeom>
          <a:noFill/>
          <a:ln/>
        </p:spPr>
        <p:txBody>
          <a:bodyPr wrap="square" lIns="0" tIns="0" rIns="0" bIns="0" rtlCol="0" anchor="t"/>
          <a:lstStyle/>
          <a:p>
            <a:pPr marL="0" indent="0">
              <a:buNone/>
            </a:pPr>
            <a:r>
              <a:rPr lang="en-US" sz="650" kern="0" spc="4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60" name="Text 58"/>
          <p:cNvSpPr txBox="1"/>
          <p:nvPr/>
        </p:nvSpPr>
        <p:spPr>
          <a:xfrm>
            <a:off x="1517904" y="5404104"/>
            <a:ext cx="1143000" cy="274320"/>
          </a:xfrm>
          <a:prstGeom prst="rect">
            <a:avLst/>
          </a:prstGeom>
          <a:noFill/>
          <a:ln/>
        </p:spPr>
        <p:txBody>
          <a:bodyPr wrap="square" lIns="0" tIns="0" rIns="0" bIns="0" rtlCol="0" anchor="t"/>
          <a:lstStyle/>
          <a:p>
            <a:pPr marL="0" indent="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Safe, repeatable reads. No writes anywhere</a:t>
            </a:r>
            <a:endParaRPr lang="en-US" sz="700" dirty="0"/>
          </a:p>
        </p:txBody>
      </p:sp>
      <p:sp>
        <p:nvSpPr>
          <p:cNvPr id="61" name="Text 59"/>
          <p:cNvSpPr txBox="1"/>
          <p:nvPr/>
        </p:nvSpPr>
        <p:spPr>
          <a:xfrm>
            <a:off x="2732227" y="914400"/>
            <a:ext cx="49378" cy="128016"/>
          </a:xfrm>
          <a:prstGeom prst="rect">
            <a:avLst/>
          </a:prstGeom>
          <a:noFill/>
          <a:ln/>
        </p:spPr>
        <p:txBody>
          <a:bodyPr wrap="square" lIns="0" tIns="0" rIns="0" bIns="0" rtlCol="0" anchor="t"/>
          <a:lstStyle/>
          <a:p>
            <a:pPr marL="0" indent="0" algn="ctr">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62" name="Shape 60"/>
          <p:cNvSpPr/>
          <p:nvPr/>
        </p:nvSpPr>
        <p:spPr>
          <a:xfrm>
            <a:off x="2779776" y="713232"/>
            <a:ext cx="1289304" cy="621792"/>
          </a:xfrm>
          <a:prstGeom prst="rect">
            <a:avLst/>
          </a:prstGeom>
          <a:solidFill>
            <a:srgbClr val="6A1B9A"/>
          </a:solidFill>
          <a:ln/>
        </p:spPr>
        <p:txBody>
          <a:bodyPr/>
          <a:lstStyle/>
          <a:p>
            <a:endParaRPr lang="en-IN"/>
          </a:p>
        </p:txBody>
      </p:sp>
      <p:sp>
        <p:nvSpPr>
          <p:cNvPr id="63" name="Text 61"/>
          <p:cNvSpPr txBox="1"/>
          <p:nvPr/>
        </p:nvSpPr>
        <p:spPr>
          <a:xfrm>
            <a:off x="2825496" y="758952"/>
            <a:ext cx="1197864" cy="137160"/>
          </a:xfrm>
          <a:prstGeom prst="rect">
            <a:avLst/>
          </a:prstGeom>
          <a:noFill/>
          <a:ln/>
        </p:spPr>
        <p:txBody>
          <a:bodyPr wrap="square" lIns="0" tIns="0" rIns="0" bIns="0" rtlCol="0" anchor="t"/>
          <a:lstStyle/>
          <a:p>
            <a:pPr marL="0" indent="0" algn="ctr">
              <a:buNone/>
            </a:pPr>
            <a:r>
              <a:rPr lang="en-US" sz="750" kern="0" spc="40" dirty="0">
                <a:solidFill>
                  <a:srgbClr val="FFFFFF"/>
                </a:solidFill>
                <a:latin typeface="Trenda IG Display Semibold" pitchFamily="34" charset="0"/>
                <a:ea typeface="Trenda IG Display Semibold" pitchFamily="34" charset="-122"/>
                <a:cs typeface="Trenda IG Display Semibold" pitchFamily="34" charset="-120"/>
              </a:rPr>
              <a:t>LAYER 3</a:t>
            </a:r>
            <a:endParaRPr lang="en-US" sz="750" dirty="0"/>
          </a:p>
        </p:txBody>
      </p:sp>
      <p:sp>
        <p:nvSpPr>
          <p:cNvPr id="64" name="Text 62"/>
          <p:cNvSpPr txBox="1"/>
          <p:nvPr/>
        </p:nvSpPr>
        <p:spPr>
          <a:xfrm>
            <a:off x="2816352" y="886968"/>
            <a:ext cx="1216152" cy="329184"/>
          </a:xfrm>
          <a:prstGeom prst="rect">
            <a:avLst/>
          </a:prstGeom>
          <a:noFill/>
          <a:ln/>
        </p:spPr>
        <p:txBody>
          <a:bodyPr wrap="square" lIns="0" tIns="0" rIns="0" bIns="0" rtlCol="0" anchor="t"/>
          <a:lstStyle/>
          <a:p>
            <a:pPr marL="0" indent="0" algn="ctr">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Trust and Privacy Boundary</a:t>
            </a:r>
            <a:endParaRPr lang="en-US" sz="1000" dirty="0"/>
          </a:p>
        </p:txBody>
      </p:sp>
      <p:sp>
        <p:nvSpPr>
          <p:cNvPr id="65" name="Text 63"/>
          <p:cNvSpPr txBox="1"/>
          <p:nvPr/>
        </p:nvSpPr>
        <p:spPr>
          <a:xfrm>
            <a:off x="2825496" y="1188720"/>
            <a:ext cx="1197864" cy="137160"/>
          </a:xfrm>
          <a:prstGeom prst="rect">
            <a:avLst/>
          </a:prstGeom>
          <a:noFill/>
          <a:ln/>
        </p:spPr>
        <p:txBody>
          <a:bodyPr wrap="square" lIns="0" tIns="0" rIns="0" bIns="0" rtlCol="0" anchor="t"/>
          <a:lstStyle/>
          <a:p>
            <a:pPr marL="0" indent="0" algn="ctr">
              <a:buNone/>
            </a:pPr>
            <a:r>
              <a:rPr lang="en-US" sz="650" dirty="0">
                <a:solidFill>
                  <a:srgbClr val="E4EEF2"/>
                </a:solidFill>
                <a:latin typeface="Trenda IG Text Light" pitchFamily="34" charset="0"/>
                <a:ea typeface="Trenda IG Text Light" pitchFamily="34" charset="-122"/>
                <a:cs typeface="Trenda IG Text Light" pitchFamily="34" charset="-120"/>
              </a:rPr>
              <a:t>Nothing crosses identified</a:t>
            </a:r>
            <a:endParaRPr lang="en-US" sz="650" dirty="0"/>
          </a:p>
        </p:txBody>
      </p:sp>
      <p:sp>
        <p:nvSpPr>
          <p:cNvPr id="66" name="Shape 64"/>
          <p:cNvSpPr/>
          <p:nvPr/>
        </p:nvSpPr>
        <p:spPr>
          <a:xfrm>
            <a:off x="2779776" y="1353312"/>
            <a:ext cx="1289304" cy="4334256"/>
          </a:xfrm>
          <a:prstGeom prst="rect">
            <a:avLst/>
          </a:prstGeom>
          <a:solidFill>
            <a:srgbClr val="FFFFFF"/>
          </a:solidFill>
          <a:ln w="9525">
            <a:solidFill>
              <a:srgbClr val="D5D9DE"/>
            </a:solidFill>
            <a:prstDash val="solid"/>
          </a:ln>
        </p:spPr>
        <p:txBody>
          <a:bodyPr/>
          <a:lstStyle/>
          <a:p>
            <a:endParaRPr lang="en-IN"/>
          </a:p>
        </p:txBody>
      </p:sp>
      <p:sp>
        <p:nvSpPr>
          <p:cNvPr id="67" name="Shape 65"/>
          <p:cNvSpPr/>
          <p:nvPr/>
        </p:nvSpPr>
        <p:spPr>
          <a:xfrm>
            <a:off x="2852928" y="1467612"/>
            <a:ext cx="64008" cy="64008"/>
          </a:xfrm>
          <a:prstGeom prst="rect">
            <a:avLst/>
          </a:prstGeom>
          <a:solidFill>
            <a:srgbClr val="6A1B9A"/>
          </a:solidFill>
          <a:ln/>
        </p:spPr>
        <p:txBody>
          <a:bodyPr/>
          <a:lstStyle/>
          <a:p>
            <a:endParaRPr lang="en-IN"/>
          </a:p>
        </p:txBody>
      </p:sp>
      <p:sp>
        <p:nvSpPr>
          <p:cNvPr id="68" name="Text 66"/>
          <p:cNvSpPr txBox="1"/>
          <p:nvPr/>
        </p:nvSpPr>
        <p:spPr>
          <a:xfrm>
            <a:off x="2953512" y="1435608"/>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6A1B9A"/>
                </a:solidFill>
                <a:latin typeface="Trenda IG Display Bold" pitchFamily="34" charset="0"/>
                <a:ea typeface="Trenda IG Display Bold" pitchFamily="34" charset="-122"/>
                <a:cs typeface="Trenda IG Display Bold" pitchFamily="34" charset="-120"/>
              </a:rPr>
              <a:t>De-identify at ingress</a:t>
            </a:r>
            <a:endParaRPr lang="en-US" sz="800" dirty="0"/>
          </a:p>
        </p:txBody>
      </p:sp>
      <p:sp>
        <p:nvSpPr>
          <p:cNvPr id="69" name="Text 67"/>
          <p:cNvSpPr txBox="1"/>
          <p:nvPr/>
        </p:nvSpPr>
        <p:spPr>
          <a:xfrm>
            <a:off x="2852928" y="160538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Safe Harbor identifiers out</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MRN to HMAC token</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Dates shifted per patient</a:t>
            </a:r>
            <a:endParaRPr lang="en-US" sz="700" dirty="0"/>
          </a:p>
        </p:txBody>
      </p:sp>
      <p:sp>
        <p:nvSpPr>
          <p:cNvPr id="70" name="Shape 68"/>
          <p:cNvSpPr/>
          <p:nvPr/>
        </p:nvSpPr>
        <p:spPr>
          <a:xfrm>
            <a:off x="2852928" y="2072183"/>
            <a:ext cx="64008" cy="64008"/>
          </a:xfrm>
          <a:prstGeom prst="rect">
            <a:avLst/>
          </a:prstGeom>
          <a:solidFill>
            <a:srgbClr val="6A1B9A"/>
          </a:solidFill>
          <a:ln/>
        </p:spPr>
        <p:txBody>
          <a:bodyPr/>
          <a:lstStyle/>
          <a:p>
            <a:endParaRPr lang="en-IN"/>
          </a:p>
        </p:txBody>
      </p:sp>
      <p:sp>
        <p:nvSpPr>
          <p:cNvPr id="71" name="Text 69"/>
          <p:cNvSpPr txBox="1"/>
          <p:nvPr/>
        </p:nvSpPr>
        <p:spPr>
          <a:xfrm>
            <a:off x="2953512" y="2040179"/>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6A1B9A"/>
                </a:solidFill>
                <a:latin typeface="Trenda IG Display Bold" pitchFamily="34" charset="0"/>
                <a:ea typeface="Trenda IG Display Bold" pitchFamily="34" charset="-122"/>
                <a:cs typeface="Trenda IG Display Bold" pitchFamily="34" charset="-120"/>
              </a:rPr>
              <a:t>Three data planes</a:t>
            </a:r>
            <a:endParaRPr lang="en-US" sz="800" dirty="0"/>
          </a:p>
        </p:txBody>
      </p:sp>
      <p:sp>
        <p:nvSpPr>
          <p:cNvPr id="72" name="Text 70"/>
          <p:cNvSpPr txBox="1"/>
          <p:nvPr/>
        </p:nvSpPr>
        <p:spPr>
          <a:xfrm>
            <a:off x="2852928" y="220995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Analytic: k-anonymous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Operational: LDS, BAA</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Identified: break glass</a:t>
            </a:r>
            <a:endParaRPr lang="en-US" sz="700" dirty="0"/>
          </a:p>
        </p:txBody>
      </p:sp>
      <p:sp>
        <p:nvSpPr>
          <p:cNvPr id="73" name="Shape 71"/>
          <p:cNvSpPr/>
          <p:nvPr/>
        </p:nvSpPr>
        <p:spPr>
          <a:xfrm>
            <a:off x="2852928" y="2676754"/>
            <a:ext cx="64008" cy="64008"/>
          </a:xfrm>
          <a:prstGeom prst="rect">
            <a:avLst/>
          </a:prstGeom>
          <a:solidFill>
            <a:srgbClr val="6A1B9A"/>
          </a:solidFill>
          <a:ln/>
        </p:spPr>
        <p:txBody>
          <a:bodyPr/>
          <a:lstStyle/>
          <a:p>
            <a:endParaRPr lang="en-IN"/>
          </a:p>
        </p:txBody>
      </p:sp>
      <p:sp>
        <p:nvSpPr>
          <p:cNvPr id="74" name="Text 72"/>
          <p:cNvSpPr txBox="1"/>
          <p:nvPr/>
        </p:nvSpPr>
        <p:spPr>
          <a:xfrm>
            <a:off x="2953512" y="2644750"/>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6A1B9A"/>
                </a:solidFill>
                <a:latin typeface="Trenda IG Display Bold" pitchFamily="34" charset="0"/>
                <a:ea typeface="Trenda IG Display Bold" pitchFamily="34" charset="-122"/>
                <a:cs typeface="Trenda IG Display Bold" pitchFamily="34" charset="-120"/>
              </a:rPr>
              <a:t>Keys and crypto</a:t>
            </a:r>
            <a:endParaRPr lang="en-US" sz="800" dirty="0"/>
          </a:p>
        </p:txBody>
      </p:sp>
      <p:sp>
        <p:nvSpPr>
          <p:cNvPr id="75" name="Text 73"/>
          <p:cNvSpPr txBox="1"/>
          <p:nvPr/>
        </p:nvSpPr>
        <p:spPr>
          <a:xfrm>
            <a:off x="2852928" y="2814523"/>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KMS or HSM held keys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Envelope per snapshot</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TLS 1.3, AES-256 at rest</a:t>
            </a:r>
            <a:endParaRPr lang="en-US" sz="700" dirty="0"/>
          </a:p>
        </p:txBody>
      </p:sp>
      <p:sp>
        <p:nvSpPr>
          <p:cNvPr id="76" name="Shape 74"/>
          <p:cNvSpPr/>
          <p:nvPr/>
        </p:nvSpPr>
        <p:spPr>
          <a:xfrm>
            <a:off x="2852928" y="3281324"/>
            <a:ext cx="64008" cy="64008"/>
          </a:xfrm>
          <a:prstGeom prst="rect">
            <a:avLst/>
          </a:prstGeom>
          <a:solidFill>
            <a:srgbClr val="6A1B9A"/>
          </a:solidFill>
          <a:ln/>
        </p:spPr>
        <p:txBody>
          <a:bodyPr/>
          <a:lstStyle/>
          <a:p>
            <a:endParaRPr lang="en-IN"/>
          </a:p>
        </p:txBody>
      </p:sp>
      <p:sp>
        <p:nvSpPr>
          <p:cNvPr id="77" name="Text 75"/>
          <p:cNvSpPr txBox="1"/>
          <p:nvPr/>
        </p:nvSpPr>
        <p:spPr>
          <a:xfrm>
            <a:off x="2953512" y="3249320"/>
            <a:ext cx="1051560" cy="266395"/>
          </a:xfrm>
          <a:prstGeom prst="rect">
            <a:avLst/>
          </a:prstGeom>
          <a:noFill/>
          <a:ln/>
        </p:spPr>
        <p:txBody>
          <a:bodyPr wrap="square" lIns="0" tIns="0" rIns="0" bIns="0" rtlCol="0" anchor="t"/>
          <a:lstStyle/>
          <a:p>
            <a:pPr marL="0" indent="0">
              <a:lnSpc>
                <a:spcPct val="98000"/>
              </a:lnSpc>
              <a:buNone/>
            </a:pPr>
            <a:r>
              <a:rPr lang="en-US" sz="800" dirty="0">
                <a:solidFill>
                  <a:srgbClr val="6A1B9A"/>
                </a:solidFill>
                <a:latin typeface="Trenda IG Display Bold" pitchFamily="34" charset="0"/>
                <a:ea typeface="Trenda IG Display Bold" pitchFamily="34" charset="-122"/>
                <a:cs typeface="Trenda IG Display Bold" pitchFamily="34" charset="-120"/>
              </a:rPr>
              <a:t>Re-identification defence</a:t>
            </a:r>
            <a:endParaRPr lang="en-US" sz="800" dirty="0"/>
          </a:p>
        </p:txBody>
      </p:sp>
      <p:sp>
        <p:nvSpPr>
          <p:cNvPr id="78" name="Text 76"/>
          <p:cNvSpPr txBox="1"/>
          <p:nvPr/>
        </p:nvSpPr>
        <p:spPr>
          <a:xfrm>
            <a:off x="2852928" y="3543148"/>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k-anonymity floor per cell</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Rare plus small suppressed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Query budget per user</a:t>
            </a:r>
            <a:endParaRPr lang="en-US" sz="700" dirty="0"/>
          </a:p>
        </p:txBody>
      </p:sp>
      <p:sp>
        <p:nvSpPr>
          <p:cNvPr id="79" name="Shape 77"/>
          <p:cNvSpPr/>
          <p:nvPr/>
        </p:nvSpPr>
        <p:spPr>
          <a:xfrm>
            <a:off x="2852928" y="4009949"/>
            <a:ext cx="64008" cy="64008"/>
          </a:xfrm>
          <a:prstGeom prst="rect">
            <a:avLst/>
          </a:prstGeom>
          <a:solidFill>
            <a:srgbClr val="6A1B9A"/>
          </a:solidFill>
          <a:ln/>
        </p:spPr>
        <p:txBody>
          <a:bodyPr/>
          <a:lstStyle/>
          <a:p>
            <a:endParaRPr lang="en-IN"/>
          </a:p>
        </p:txBody>
      </p:sp>
      <p:sp>
        <p:nvSpPr>
          <p:cNvPr id="80" name="Text 78"/>
          <p:cNvSpPr txBox="1"/>
          <p:nvPr/>
        </p:nvSpPr>
        <p:spPr>
          <a:xfrm>
            <a:off x="2953512" y="3977945"/>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6A1B9A"/>
                </a:solidFill>
                <a:latin typeface="Trenda IG Display Bold" pitchFamily="34" charset="0"/>
                <a:ea typeface="Trenda IG Display Bold" pitchFamily="34" charset="-122"/>
                <a:cs typeface="Trenda IG Display Bold" pitchFamily="34" charset="-120"/>
              </a:rPr>
              <a:t>Assurance</a:t>
            </a:r>
            <a:endParaRPr lang="en-US" sz="800" dirty="0"/>
          </a:p>
        </p:txBody>
      </p:sp>
      <p:sp>
        <p:nvSpPr>
          <p:cNvPr id="81" name="Text 79"/>
          <p:cNvSpPr txBox="1"/>
          <p:nvPr/>
        </p:nvSpPr>
        <p:spPr>
          <a:xfrm>
            <a:off x="2852928" y="4147718"/>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HIPAA, HITRUST, SOC 2</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Immutable WORM audit</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Quarterly re-id review</a:t>
            </a:r>
            <a:endParaRPr lang="en-US" sz="700" dirty="0"/>
          </a:p>
        </p:txBody>
      </p:sp>
      <p:sp>
        <p:nvSpPr>
          <p:cNvPr id="82" name="Shape 80"/>
          <p:cNvSpPr/>
          <p:nvPr/>
        </p:nvSpPr>
        <p:spPr>
          <a:xfrm>
            <a:off x="2779776" y="5230368"/>
            <a:ext cx="1289304" cy="457200"/>
          </a:xfrm>
          <a:prstGeom prst="rect">
            <a:avLst/>
          </a:prstGeom>
          <a:solidFill>
            <a:srgbClr val="6A1B9A"/>
          </a:solidFill>
          <a:ln/>
        </p:spPr>
        <p:txBody>
          <a:bodyPr/>
          <a:lstStyle/>
          <a:p>
            <a:endParaRPr lang="en-IN"/>
          </a:p>
        </p:txBody>
      </p:sp>
      <p:sp>
        <p:nvSpPr>
          <p:cNvPr id="83" name="Text 81"/>
          <p:cNvSpPr txBox="1"/>
          <p:nvPr/>
        </p:nvSpPr>
        <p:spPr>
          <a:xfrm>
            <a:off x="2852928" y="5276088"/>
            <a:ext cx="1143000" cy="128016"/>
          </a:xfrm>
          <a:prstGeom prst="rect">
            <a:avLst/>
          </a:prstGeom>
          <a:noFill/>
          <a:ln/>
        </p:spPr>
        <p:txBody>
          <a:bodyPr wrap="square" lIns="0" tIns="0" rIns="0" bIns="0" rtlCol="0" anchor="t"/>
          <a:lstStyle/>
          <a:p>
            <a:pPr marL="0" indent="0">
              <a:buNone/>
            </a:pPr>
            <a:r>
              <a:rPr lang="en-US" sz="650" kern="0" spc="4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84" name="Text 82"/>
          <p:cNvSpPr txBox="1"/>
          <p:nvPr/>
        </p:nvSpPr>
        <p:spPr>
          <a:xfrm>
            <a:off x="2852928" y="5404104"/>
            <a:ext cx="1143000" cy="274320"/>
          </a:xfrm>
          <a:prstGeom prst="rect">
            <a:avLst/>
          </a:prstGeom>
          <a:noFill/>
          <a:ln/>
        </p:spPr>
        <p:txBody>
          <a:bodyPr wrap="square" lIns="0" tIns="0" rIns="0" bIns="0" rtlCol="0" anchor="t"/>
          <a:lstStyle/>
          <a:p>
            <a:pPr marL="0" indent="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PHI never crosses the line in identifiable form</a:t>
            </a:r>
            <a:endParaRPr lang="en-US" sz="700" dirty="0"/>
          </a:p>
        </p:txBody>
      </p:sp>
      <p:sp>
        <p:nvSpPr>
          <p:cNvPr id="85" name="Text 83"/>
          <p:cNvSpPr txBox="1"/>
          <p:nvPr/>
        </p:nvSpPr>
        <p:spPr>
          <a:xfrm>
            <a:off x="4067251" y="914400"/>
            <a:ext cx="49378" cy="128016"/>
          </a:xfrm>
          <a:prstGeom prst="rect">
            <a:avLst/>
          </a:prstGeom>
          <a:noFill/>
          <a:ln/>
        </p:spPr>
        <p:txBody>
          <a:bodyPr wrap="square" lIns="0" tIns="0" rIns="0" bIns="0" rtlCol="0" anchor="t"/>
          <a:lstStyle/>
          <a:p>
            <a:pPr marL="0" indent="0" algn="ctr">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86" name="Shape 84"/>
          <p:cNvSpPr/>
          <p:nvPr/>
        </p:nvSpPr>
        <p:spPr>
          <a:xfrm>
            <a:off x="4114800" y="713232"/>
            <a:ext cx="1289304" cy="621792"/>
          </a:xfrm>
          <a:prstGeom prst="rect">
            <a:avLst/>
          </a:prstGeom>
          <a:solidFill>
            <a:srgbClr val="7A4FC0"/>
          </a:solidFill>
          <a:ln/>
        </p:spPr>
        <p:txBody>
          <a:bodyPr/>
          <a:lstStyle/>
          <a:p>
            <a:endParaRPr lang="en-IN"/>
          </a:p>
        </p:txBody>
      </p:sp>
      <p:sp>
        <p:nvSpPr>
          <p:cNvPr id="87" name="Text 85"/>
          <p:cNvSpPr txBox="1"/>
          <p:nvPr/>
        </p:nvSpPr>
        <p:spPr>
          <a:xfrm>
            <a:off x="4160520" y="758952"/>
            <a:ext cx="1197864" cy="137160"/>
          </a:xfrm>
          <a:prstGeom prst="rect">
            <a:avLst/>
          </a:prstGeom>
          <a:noFill/>
          <a:ln/>
        </p:spPr>
        <p:txBody>
          <a:bodyPr wrap="square" lIns="0" tIns="0" rIns="0" bIns="0" rtlCol="0" anchor="t"/>
          <a:lstStyle/>
          <a:p>
            <a:pPr marL="0" indent="0" algn="ctr">
              <a:buNone/>
            </a:pPr>
            <a:r>
              <a:rPr lang="en-US" sz="750" kern="0" spc="40" dirty="0">
                <a:solidFill>
                  <a:srgbClr val="FFFFFF"/>
                </a:solidFill>
                <a:latin typeface="Trenda IG Display Semibold" pitchFamily="34" charset="0"/>
                <a:ea typeface="Trenda IG Display Semibold" pitchFamily="34" charset="-122"/>
                <a:cs typeface="Trenda IG Display Semibold" pitchFamily="34" charset="-120"/>
              </a:rPr>
              <a:t>LAYER 4</a:t>
            </a:r>
            <a:endParaRPr lang="en-US" sz="750" dirty="0"/>
          </a:p>
        </p:txBody>
      </p:sp>
      <p:sp>
        <p:nvSpPr>
          <p:cNvPr id="88" name="Text 86"/>
          <p:cNvSpPr txBox="1"/>
          <p:nvPr/>
        </p:nvSpPr>
        <p:spPr>
          <a:xfrm>
            <a:off x="4151376" y="886968"/>
            <a:ext cx="1216152" cy="329184"/>
          </a:xfrm>
          <a:prstGeom prst="rect">
            <a:avLst/>
          </a:prstGeom>
          <a:noFill/>
          <a:ln/>
        </p:spPr>
        <p:txBody>
          <a:bodyPr wrap="square" lIns="0" tIns="0" rIns="0" bIns="0" rtlCol="0" anchor="t"/>
          <a:lstStyle/>
          <a:p>
            <a:pPr marL="0" indent="0" algn="ctr">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Ingest and Identity</a:t>
            </a:r>
            <a:endParaRPr lang="en-US" sz="1000" dirty="0"/>
          </a:p>
        </p:txBody>
      </p:sp>
      <p:sp>
        <p:nvSpPr>
          <p:cNvPr id="89" name="Text 87"/>
          <p:cNvSpPr txBox="1"/>
          <p:nvPr/>
        </p:nvSpPr>
        <p:spPr>
          <a:xfrm>
            <a:off x="4160520" y="1188720"/>
            <a:ext cx="1197864" cy="137160"/>
          </a:xfrm>
          <a:prstGeom prst="rect">
            <a:avLst/>
          </a:prstGeom>
          <a:noFill/>
          <a:ln/>
        </p:spPr>
        <p:txBody>
          <a:bodyPr wrap="square" lIns="0" tIns="0" rIns="0" bIns="0" rtlCol="0" anchor="t"/>
          <a:lstStyle/>
          <a:p>
            <a:pPr marL="0" indent="0" algn="ctr">
              <a:buNone/>
            </a:pPr>
            <a:r>
              <a:rPr lang="en-US" sz="650" dirty="0">
                <a:solidFill>
                  <a:srgbClr val="E4EEF2"/>
                </a:solidFill>
                <a:latin typeface="Trenda IG Text Light" pitchFamily="34" charset="0"/>
                <a:ea typeface="Trenda IG Text Light" pitchFamily="34" charset="-122"/>
                <a:cs typeface="Trenda IG Text Light" pitchFamily="34" charset="-120"/>
              </a:rPr>
              <a:t>Resolve, reconcile, prove</a:t>
            </a:r>
            <a:endParaRPr lang="en-US" sz="650" dirty="0"/>
          </a:p>
        </p:txBody>
      </p:sp>
      <p:sp>
        <p:nvSpPr>
          <p:cNvPr id="90" name="Shape 88"/>
          <p:cNvSpPr/>
          <p:nvPr/>
        </p:nvSpPr>
        <p:spPr>
          <a:xfrm>
            <a:off x="4114800" y="1353312"/>
            <a:ext cx="1289304" cy="4334256"/>
          </a:xfrm>
          <a:prstGeom prst="rect">
            <a:avLst/>
          </a:prstGeom>
          <a:solidFill>
            <a:srgbClr val="FFFFFF"/>
          </a:solidFill>
          <a:ln w="9525">
            <a:solidFill>
              <a:srgbClr val="D5D9DE"/>
            </a:solidFill>
            <a:prstDash val="solid"/>
          </a:ln>
        </p:spPr>
        <p:txBody>
          <a:bodyPr/>
          <a:lstStyle/>
          <a:p>
            <a:endParaRPr lang="en-IN"/>
          </a:p>
        </p:txBody>
      </p:sp>
      <p:sp>
        <p:nvSpPr>
          <p:cNvPr id="91" name="Shape 89"/>
          <p:cNvSpPr/>
          <p:nvPr/>
        </p:nvSpPr>
        <p:spPr>
          <a:xfrm>
            <a:off x="4187952" y="1467612"/>
            <a:ext cx="64008" cy="64008"/>
          </a:xfrm>
          <a:prstGeom prst="rect">
            <a:avLst/>
          </a:prstGeom>
          <a:solidFill>
            <a:srgbClr val="7A4FC0"/>
          </a:solidFill>
          <a:ln/>
        </p:spPr>
        <p:txBody>
          <a:bodyPr/>
          <a:lstStyle/>
          <a:p>
            <a:endParaRPr lang="en-IN"/>
          </a:p>
        </p:txBody>
      </p:sp>
      <p:sp>
        <p:nvSpPr>
          <p:cNvPr id="92" name="Text 90"/>
          <p:cNvSpPr txBox="1"/>
          <p:nvPr/>
        </p:nvSpPr>
        <p:spPr>
          <a:xfrm>
            <a:off x="4288536" y="1435608"/>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7A4FC0"/>
                </a:solidFill>
                <a:latin typeface="Trenda IG Display Bold" pitchFamily="34" charset="0"/>
                <a:ea typeface="Trenda IG Display Bold" pitchFamily="34" charset="-122"/>
                <a:cs typeface="Trenda IG Display Bold" pitchFamily="34" charset="-120"/>
              </a:rPr>
              <a:t>Parse and normalise</a:t>
            </a:r>
            <a:endParaRPr lang="en-US" sz="800" dirty="0"/>
          </a:p>
        </p:txBody>
      </p:sp>
      <p:sp>
        <p:nvSpPr>
          <p:cNvPr id="93" name="Text 91"/>
          <p:cNvSpPr txBox="1"/>
          <p:nvPr/>
        </p:nvSpPr>
        <p:spPr>
          <a:xfrm>
            <a:off x="4187952" y="160538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FHIR to domain objects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ICD-10, CPT, SNOMED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Taxonomy to specialty</a:t>
            </a:r>
            <a:endParaRPr lang="en-US" sz="700" dirty="0"/>
          </a:p>
        </p:txBody>
      </p:sp>
      <p:sp>
        <p:nvSpPr>
          <p:cNvPr id="94" name="Shape 92"/>
          <p:cNvSpPr/>
          <p:nvPr/>
        </p:nvSpPr>
        <p:spPr>
          <a:xfrm>
            <a:off x="4187952" y="2072183"/>
            <a:ext cx="64008" cy="64008"/>
          </a:xfrm>
          <a:prstGeom prst="rect">
            <a:avLst/>
          </a:prstGeom>
          <a:solidFill>
            <a:srgbClr val="7A4FC0"/>
          </a:solidFill>
          <a:ln/>
        </p:spPr>
        <p:txBody>
          <a:bodyPr/>
          <a:lstStyle/>
          <a:p>
            <a:endParaRPr lang="en-IN"/>
          </a:p>
        </p:txBody>
      </p:sp>
      <p:sp>
        <p:nvSpPr>
          <p:cNvPr id="95" name="Text 93"/>
          <p:cNvSpPr txBox="1"/>
          <p:nvPr/>
        </p:nvSpPr>
        <p:spPr>
          <a:xfrm>
            <a:off x="4288536" y="2040179"/>
            <a:ext cx="1051560" cy="266395"/>
          </a:xfrm>
          <a:prstGeom prst="rect">
            <a:avLst/>
          </a:prstGeom>
          <a:noFill/>
          <a:ln/>
        </p:spPr>
        <p:txBody>
          <a:bodyPr wrap="square" lIns="0" tIns="0" rIns="0" bIns="0" rtlCol="0" anchor="t"/>
          <a:lstStyle/>
          <a:p>
            <a:pPr marL="0" indent="0">
              <a:lnSpc>
                <a:spcPct val="98000"/>
              </a:lnSpc>
              <a:buNone/>
            </a:pPr>
            <a:r>
              <a:rPr lang="en-US" sz="800" dirty="0">
                <a:solidFill>
                  <a:srgbClr val="7A4FC0"/>
                </a:solidFill>
                <a:latin typeface="Trenda IG Display Bold" pitchFamily="34" charset="0"/>
                <a:ea typeface="Trenda IG Display Bold" pitchFamily="34" charset="-122"/>
                <a:cs typeface="Trenda IG Display Bold" pitchFamily="34" charset="-120"/>
              </a:rPr>
              <a:t>Patient identity, EMPI</a:t>
            </a:r>
            <a:endParaRPr lang="en-US" sz="800" dirty="0"/>
          </a:p>
        </p:txBody>
      </p:sp>
      <p:sp>
        <p:nvSpPr>
          <p:cNvPr id="96" name="Text 94"/>
          <p:cNvSpPr txBox="1"/>
          <p:nvPr/>
        </p:nvSpPr>
        <p:spPr>
          <a:xfrm>
            <a:off x="4187952" y="2334006"/>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Deterministic on token</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Probabilistic, reviewed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Links stay reversible</a:t>
            </a:r>
            <a:endParaRPr lang="en-US" sz="700" dirty="0"/>
          </a:p>
        </p:txBody>
      </p:sp>
      <p:sp>
        <p:nvSpPr>
          <p:cNvPr id="97" name="Shape 95"/>
          <p:cNvSpPr/>
          <p:nvPr/>
        </p:nvSpPr>
        <p:spPr>
          <a:xfrm>
            <a:off x="4187952" y="2800807"/>
            <a:ext cx="64008" cy="64008"/>
          </a:xfrm>
          <a:prstGeom prst="rect">
            <a:avLst/>
          </a:prstGeom>
          <a:solidFill>
            <a:srgbClr val="7A4FC0"/>
          </a:solidFill>
          <a:ln/>
        </p:spPr>
        <p:txBody>
          <a:bodyPr/>
          <a:lstStyle/>
          <a:p>
            <a:endParaRPr lang="en-IN"/>
          </a:p>
        </p:txBody>
      </p:sp>
      <p:sp>
        <p:nvSpPr>
          <p:cNvPr id="98" name="Text 96"/>
          <p:cNvSpPr txBox="1"/>
          <p:nvPr/>
        </p:nvSpPr>
        <p:spPr>
          <a:xfrm>
            <a:off x="4288536" y="2768803"/>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7A4FC0"/>
                </a:solidFill>
                <a:latin typeface="Trenda IG Display Bold" pitchFamily="34" charset="0"/>
                <a:ea typeface="Trenda IG Display Bold" pitchFamily="34" charset="-122"/>
                <a:cs typeface="Trenda IG Display Bold" pitchFamily="34" charset="-120"/>
              </a:rPr>
              <a:t>Provider and place</a:t>
            </a:r>
            <a:endParaRPr lang="en-US" sz="800" dirty="0"/>
          </a:p>
        </p:txBody>
      </p:sp>
      <p:sp>
        <p:nvSpPr>
          <p:cNvPr id="99" name="Text 97"/>
          <p:cNvSpPr txBox="1"/>
          <p:nvPr/>
        </p:nvSpPr>
        <p:spPr>
          <a:xfrm>
            <a:off x="4187952" y="2938577"/>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NPI is the person</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TIN plus NPI is practice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CCN is the facility</a:t>
            </a:r>
            <a:endParaRPr lang="en-US" sz="700" dirty="0"/>
          </a:p>
        </p:txBody>
      </p:sp>
      <p:sp>
        <p:nvSpPr>
          <p:cNvPr id="100" name="Shape 98"/>
          <p:cNvSpPr/>
          <p:nvPr/>
        </p:nvSpPr>
        <p:spPr>
          <a:xfrm>
            <a:off x="4187952" y="3405378"/>
            <a:ext cx="64008" cy="64008"/>
          </a:xfrm>
          <a:prstGeom prst="rect">
            <a:avLst/>
          </a:prstGeom>
          <a:solidFill>
            <a:srgbClr val="7A4FC0"/>
          </a:solidFill>
          <a:ln/>
        </p:spPr>
        <p:txBody>
          <a:bodyPr/>
          <a:lstStyle/>
          <a:p>
            <a:endParaRPr lang="en-IN"/>
          </a:p>
        </p:txBody>
      </p:sp>
      <p:sp>
        <p:nvSpPr>
          <p:cNvPr id="101" name="Text 99"/>
          <p:cNvSpPr txBox="1"/>
          <p:nvPr/>
        </p:nvSpPr>
        <p:spPr>
          <a:xfrm>
            <a:off x="4288536" y="3373374"/>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7A4FC0"/>
                </a:solidFill>
                <a:latin typeface="Trenda IG Display Bold" pitchFamily="34" charset="0"/>
                <a:ea typeface="Trenda IG Display Bold" pitchFamily="34" charset="-122"/>
                <a:cs typeface="Trenda IG Display Bold" pitchFamily="34" charset="-120"/>
              </a:rPr>
              <a:t>Conflict resolution</a:t>
            </a:r>
            <a:endParaRPr lang="en-US" sz="800" dirty="0"/>
          </a:p>
        </p:txBody>
      </p:sp>
      <p:sp>
        <p:nvSpPr>
          <p:cNvPr id="102" name="Text 100"/>
          <p:cNvSpPr txBox="1"/>
          <p:nvPr/>
        </p:nvSpPr>
        <p:spPr>
          <a:xfrm>
            <a:off x="4187952" y="3543148"/>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Precedence per attribute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Losing value retained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Confidence on every link</a:t>
            </a:r>
            <a:endParaRPr lang="en-US" sz="700" dirty="0"/>
          </a:p>
        </p:txBody>
      </p:sp>
      <p:sp>
        <p:nvSpPr>
          <p:cNvPr id="103" name="Shape 101"/>
          <p:cNvSpPr/>
          <p:nvPr/>
        </p:nvSpPr>
        <p:spPr>
          <a:xfrm>
            <a:off x="4187952" y="4009949"/>
            <a:ext cx="64008" cy="64008"/>
          </a:xfrm>
          <a:prstGeom prst="rect">
            <a:avLst/>
          </a:prstGeom>
          <a:solidFill>
            <a:srgbClr val="7A4FC0"/>
          </a:solidFill>
          <a:ln/>
        </p:spPr>
        <p:txBody>
          <a:bodyPr/>
          <a:lstStyle/>
          <a:p>
            <a:endParaRPr lang="en-IN"/>
          </a:p>
        </p:txBody>
      </p:sp>
      <p:sp>
        <p:nvSpPr>
          <p:cNvPr id="104" name="Text 102"/>
          <p:cNvSpPr txBox="1"/>
          <p:nvPr/>
        </p:nvSpPr>
        <p:spPr>
          <a:xfrm>
            <a:off x="4288536" y="3977945"/>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7A4FC0"/>
                </a:solidFill>
                <a:latin typeface="Trenda IG Display Bold" pitchFamily="34" charset="0"/>
                <a:ea typeface="Trenda IG Display Bold" pitchFamily="34" charset="-122"/>
                <a:cs typeface="Trenda IG Display Bold" pitchFamily="34" charset="-120"/>
              </a:rPr>
              <a:t>Provenance</a:t>
            </a:r>
            <a:endParaRPr lang="en-US" sz="800" dirty="0"/>
          </a:p>
        </p:txBody>
      </p:sp>
      <p:sp>
        <p:nvSpPr>
          <p:cNvPr id="105" name="Text 103"/>
          <p:cNvSpPr txBox="1"/>
          <p:nvPr/>
        </p:nvSpPr>
        <p:spPr>
          <a:xfrm>
            <a:off x="4187952" y="4147718"/>
            <a:ext cx="1188720" cy="283769"/>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Source, extract, hash</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FACTUAL or INFERRED</a:t>
            </a:r>
            <a:endParaRPr lang="en-US" sz="700" dirty="0"/>
          </a:p>
        </p:txBody>
      </p:sp>
      <p:sp>
        <p:nvSpPr>
          <p:cNvPr id="106" name="Shape 104"/>
          <p:cNvSpPr/>
          <p:nvPr/>
        </p:nvSpPr>
        <p:spPr>
          <a:xfrm>
            <a:off x="4114800" y="5230368"/>
            <a:ext cx="1289304" cy="457200"/>
          </a:xfrm>
          <a:prstGeom prst="rect">
            <a:avLst/>
          </a:prstGeom>
          <a:solidFill>
            <a:srgbClr val="7A4FC0"/>
          </a:solidFill>
          <a:ln/>
        </p:spPr>
        <p:txBody>
          <a:bodyPr/>
          <a:lstStyle/>
          <a:p>
            <a:endParaRPr lang="en-IN"/>
          </a:p>
        </p:txBody>
      </p:sp>
      <p:sp>
        <p:nvSpPr>
          <p:cNvPr id="107" name="Text 105"/>
          <p:cNvSpPr txBox="1"/>
          <p:nvPr/>
        </p:nvSpPr>
        <p:spPr>
          <a:xfrm>
            <a:off x="4187952" y="5276088"/>
            <a:ext cx="1143000" cy="128016"/>
          </a:xfrm>
          <a:prstGeom prst="rect">
            <a:avLst/>
          </a:prstGeom>
          <a:noFill/>
          <a:ln/>
        </p:spPr>
        <p:txBody>
          <a:bodyPr wrap="square" lIns="0" tIns="0" rIns="0" bIns="0" rtlCol="0" anchor="t"/>
          <a:lstStyle/>
          <a:p>
            <a:pPr marL="0" indent="0">
              <a:buNone/>
            </a:pPr>
            <a:r>
              <a:rPr lang="en-US" sz="650" kern="0" spc="4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108" name="Text 106"/>
          <p:cNvSpPr txBox="1"/>
          <p:nvPr/>
        </p:nvSpPr>
        <p:spPr>
          <a:xfrm>
            <a:off x="4187952" y="5404104"/>
            <a:ext cx="1143000" cy="274320"/>
          </a:xfrm>
          <a:prstGeom prst="rect">
            <a:avLst/>
          </a:prstGeom>
          <a:noFill/>
          <a:ln/>
        </p:spPr>
        <p:txBody>
          <a:bodyPr wrap="square" lIns="0" tIns="0" rIns="0" bIns="0" rtlCol="0" anchor="t"/>
          <a:lstStyle/>
          <a:p>
            <a:pPr marL="0" indent="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One patient, one provider, one place, with the proof</a:t>
            </a:r>
            <a:endParaRPr lang="en-US" sz="700" dirty="0"/>
          </a:p>
        </p:txBody>
      </p:sp>
      <p:sp>
        <p:nvSpPr>
          <p:cNvPr id="109" name="Text 107"/>
          <p:cNvSpPr txBox="1"/>
          <p:nvPr/>
        </p:nvSpPr>
        <p:spPr>
          <a:xfrm>
            <a:off x="5402275" y="914400"/>
            <a:ext cx="49378" cy="128016"/>
          </a:xfrm>
          <a:prstGeom prst="rect">
            <a:avLst/>
          </a:prstGeom>
          <a:noFill/>
          <a:ln/>
        </p:spPr>
        <p:txBody>
          <a:bodyPr wrap="square" lIns="0" tIns="0" rIns="0" bIns="0" rtlCol="0" anchor="t"/>
          <a:lstStyle/>
          <a:p>
            <a:pPr marL="0" indent="0" algn="ctr">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110" name="Shape 108"/>
          <p:cNvSpPr/>
          <p:nvPr/>
        </p:nvSpPr>
        <p:spPr>
          <a:xfrm>
            <a:off x="5449824" y="713232"/>
            <a:ext cx="1289304" cy="621792"/>
          </a:xfrm>
          <a:prstGeom prst="rect">
            <a:avLst/>
          </a:prstGeom>
          <a:solidFill>
            <a:srgbClr val="C2185B"/>
          </a:solidFill>
          <a:ln/>
        </p:spPr>
        <p:txBody>
          <a:bodyPr/>
          <a:lstStyle/>
          <a:p>
            <a:endParaRPr lang="en-IN"/>
          </a:p>
        </p:txBody>
      </p:sp>
      <p:sp>
        <p:nvSpPr>
          <p:cNvPr id="111" name="Text 109"/>
          <p:cNvSpPr txBox="1"/>
          <p:nvPr/>
        </p:nvSpPr>
        <p:spPr>
          <a:xfrm>
            <a:off x="5495544" y="758952"/>
            <a:ext cx="1197864" cy="137160"/>
          </a:xfrm>
          <a:prstGeom prst="rect">
            <a:avLst/>
          </a:prstGeom>
          <a:noFill/>
          <a:ln/>
        </p:spPr>
        <p:txBody>
          <a:bodyPr wrap="square" lIns="0" tIns="0" rIns="0" bIns="0" rtlCol="0" anchor="t"/>
          <a:lstStyle/>
          <a:p>
            <a:pPr marL="0" indent="0" algn="ctr">
              <a:buNone/>
            </a:pPr>
            <a:r>
              <a:rPr lang="en-US" sz="750" kern="0" spc="40" dirty="0">
                <a:solidFill>
                  <a:srgbClr val="FFFFFF"/>
                </a:solidFill>
                <a:latin typeface="Trenda IG Display Semibold" pitchFamily="34" charset="0"/>
                <a:ea typeface="Trenda IG Display Semibold" pitchFamily="34" charset="-122"/>
                <a:cs typeface="Trenda IG Display Semibold" pitchFamily="34" charset="-120"/>
              </a:rPr>
              <a:t>LAYER 5</a:t>
            </a:r>
            <a:endParaRPr lang="en-US" sz="750" dirty="0"/>
          </a:p>
        </p:txBody>
      </p:sp>
      <p:sp>
        <p:nvSpPr>
          <p:cNvPr id="112" name="Text 110"/>
          <p:cNvSpPr txBox="1"/>
          <p:nvPr/>
        </p:nvSpPr>
        <p:spPr>
          <a:xfrm>
            <a:off x="5486400" y="886968"/>
            <a:ext cx="1216152" cy="329184"/>
          </a:xfrm>
          <a:prstGeom prst="rect">
            <a:avLst/>
          </a:prstGeom>
          <a:noFill/>
          <a:ln/>
        </p:spPr>
        <p:txBody>
          <a:bodyPr wrap="square" lIns="0" tIns="0" rIns="0" bIns="0" rtlCol="0" anchor="t"/>
          <a:lstStyle/>
          <a:p>
            <a:pPr marL="0" indent="0" algn="ctr">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Domain Model</a:t>
            </a:r>
            <a:endParaRPr lang="en-US" sz="1000" dirty="0"/>
          </a:p>
        </p:txBody>
      </p:sp>
      <p:sp>
        <p:nvSpPr>
          <p:cNvPr id="113" name="Text 111"/>
          <p:cNvSpPr txBox="1"/>
          <p:nvPr/>
        </p:nvSpPr>
        <p:spPr>
          <a:xfrm>
            <a:off x="5495544" y="1188720"/>
            <a:ext cx="1197864" cy="137160"/>
          </a:xfrm>
          <a:prstGeom prst="rect">
            <a:avLst/>
          </a:prstGeom>
          <a:noFill/>
          <a:ln/>
        </p:spPr>
        <p:txBody>
          <a:bodyPr wrap="square" lIns="0" tIns="0" rIns="0" bIns="0" rtlCol="0" anchor="t"/>
          <a:lstStyle/>
          <a:p>
            <a:pPr marL="0" indent="0" algn="ctr">
              <a:buNone/>
            </a:pPr>
            <a:r>
              <a:rPr lang="en-US" sz="650" dirty="0">
                <a:solidFill>
                  <a:srgbClr val="E4EEF2"/>
                </a:solidFill>
                <a:latin typeface="Trenda IG Text Light" pitchFamily="34" charset="0"/>
                <a:ea typeface="Trenda IG Text Light" pitchFamily="34" charset="-122"/>
                <a:cs typeface="Trenda IG Text Light" pitchFamily="34" charset="-120"/>
              </a:rPr>
              <a:t>CareNetworkContext</a:t>
            </a:r>
            <a:endParaRPr lang="en-US" sz="650" dirty="0"/>
          </a:p>
        </p:txBody>
      </p:sp>
      <p:sp>
        <p:nvSpPr>
          <p:cNvPr id="114" name="Shape 112"/>
          <p:cNvSpPr/>
          <p:nvPr/>
        </p:nvSpPr>
        <p:spPr>
          <a:xfrm>
            <a:off x="5449824" y="1353312"/>
            <a:ext cx="1289304" cy="4334256"/>
          </a:xfrm>
          <a:prstGeom prst="rect">
            <a:avLst/>
          </a:prstGeom>
          <a:solidFill>
            <a:srgbClr val="FFFFFF"/>
          </a:solidFill>
          <a:ln w="9525">
            <a:solidFill>
              <a:srgbClr val="D5D9DE"/>
            </a:solidFill>
            <a:prstDash val="solid"/>
          </a:ln>
        </p:spPr>
        <p:txBody>
          <a:bodyPr/>
          <a:lstStyle/>
          <a:p>
            <a:endParaRPr lang="en-IN"/>
          </a:p>
        </p:txBody>
      </p:sp>
      <p:sp>
        <p:nvSpPr>
          <p:cNvPr id="115" name="Shape 113"/>
          <p:cNvSpPr/>
          <p:nvPr/>
        </p:nvSpPr>
        <p:spPr>
          <a:xfrm>
            <a:off x="5522976" y="1467612"/>
            <a:ext cx="64008" cy="64008"/>
          </a:xfrm>
          <a:prstGeom prst="rect">
            <a:avLst/>
          </a:prstGeom>
          <a:solidFill>
            <a:srgbClr val="C2185B"/>
          </a:solidFill>
          <a:ln/>
        </p:spPr>
        <p:txBody>
          <a:bodyPr/>
          <a:lstStyle/>
          <a:p>
            <a:endParaRPr lang="en-IN"/>
          </a:p>
        </p:txBody>
      </p:sp>
      <p:sp>
        <p:nvSpPr>
          <p:cNvPr id="116" name="Text 114"/>
          <p:cNvSpPr txBox="1"/>
          <p:nvPr/>
        </p:nvSpPr>
        <p:spPr>
          <a:xfrm>
            <a:off x="5623560" y="1435608"/>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C2185B"/>
                </a:solidFill>
                <a:latin typeface="Trenda IG Display Bold" pitchFamily="34" charset="0"/>
                <a:ea typeface="Trenda IG Display Bold" pitchFamily="34" charset="-122"/>
                <a:cs typeface="Trenda IG Display Bold" pitchFamily="34" charset="-120"/>
              </a:rPr>
              <a:t>Entities</a:t>
            </a:r>
            <a:endParaRPr lang="en-US" sz="800" dirty="0"/>
          </a:p>
        </p:txBody>
      </p:sp>
      <p:sp>
        <p:nvSpPr>
          <p:cNvPr id="117" name="Text 115"/>
          <p:cNvSpPr txBox="1"/>
          <p:nvPr/>
        </p:nvSpPr>
        <p:spPr>
          <a:xfrm>
            <a:off x="5522976" y="1605382"/>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providers[], facilities[]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serviceLines[], capabilities[]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appointments[], careIntent[]</a:t>
            </a:r>
            <a:endParaRPr lang="en-US" sz="700" dirty="0"/>
          </a:p>
        </p:txBody>
      </p:sp>
      <p:sp>
        <p:nvSpPr>
          <p:cNvPr id="118" name="Shape 116"/>
          <p:cNvSpPr/>
          <p:nvPr/>
        </p:nvSpPr>
        <p:spPr>
          <a:xfrm>
            <a:off x="5522976" y="2176729"/>
            <a:ext cx="64008" cy="64008"/>
          </a:xfrm>
          <a:prstGeom prst="rect">
            <a:avLst/>
          </a:prstGeom>
          <a:solidFill>
            <a:srgbClr val="C2185B"/>
          </a:solidFill>
          <a:ln/>
        </p:spPr>
        <p:txBody>
          <a:bodyPr/>
          <a:lstStyle/>
          <a:p>
            <a:endParaRPr lang="en-IN"/>
          </a:p>
        </p:txBody>
      </p:sp>
      <p:sp>
        <p:nvSpPr>
          <p:cNvPr id="119" name="Text 117"/>
          <p:cNvSpPr txBox="1"/>
          <p:nvPr/>
        </p:nvSpPr>
        <p:spPr>
          <a:xfrm>
            <a:off x="5623560" y="2144725"/>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C2185B"/>
                </a:solidFill>
                <a:latin typeface="Trenda IG Display Bold" pitchFamily="34" charset="0"/>
                <a:ea typeface="Trenda IG Display Bold" pitchFamily="34" charset="-122"/>
                <a:cs typeface="Trenda IG Display Bold" pitchFamily="34" charset="-120"/>
              </a:rPr>
              <a:t>Relationship objects</a:t>
            </a:r>
            <a:endParaRPr lang="en-US" sz="800" dirty="0"/>
          </a:p>
        </p:txBody>
      </p:sp>
      <p:sp>
        <p:nvSpPr>
          <p:cNvPr id="120" name="Text 118"/>
          <p:cNvSpPr txBox="1"/>
          <p:nvPr/>
        </p:nvSpPr>
        <p:spPr>
          <a:xfrm>
            <a:off x="5522976" y="2314499"/>
            <a:ext cx="1188720" cy="38831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Affiliation, Privilege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Coverage, Referral, Contract</a:t>
            </a:r>
            <a:endParaRPr lang="en-US" sz="700" dirty="0"/>
          </a:p>
        </p:txBody>
      </p:sp>
      <p:sp>
        <p:nvSpPr>
          <p:cNvPr id="121" name="Shape 119"/>
          <p:cNvSpPr/>
          <p:nvPr/>
        </p:nvSpPr>
        <p:spPr>
          <a:xfrm>
            <a:off x="5522976" y="2762250"/>
            <a:ext cx="64008" cy="64008"/>
          </a:xfrm>
          <a:prstGeom prst="rect">
            <a:avLst/>
          </a:prstGeom>
          <a:solidFill>
            <a:srgbClr val="C2185B"/>
          </a:solidFill>
          <a:ln/>
        </p:spPr>
        <p:txBody>
          <a:bodyPr/>
          <a:lstStyle/>
          <a:p>
            <a:endParaRPr lang="en-IN"/>
          </a:p>
        </p:txBody>
      </p:sp>
      <p:sp>
        <p:nvSpPr>
          <p:cNvPr id="122" name="Text 120"/>
          <p:cNvSpPr txBox="1"/>
          <p:nvPr/>
        </p:nvSpPr>
        <p:spPr>
          <a:xfrm>
            <a:off x="5623560" y="2730246"/>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C2185B"/>
                </a:solidFill>
                <a:latin typeface="Trenda IG Display Bold" pitchFamily="34" charset="0"/>
                <a:ea typeface="Trenda IG Display Bold" pitchFamily="34" charset="-122"/>
                <a:cs typeface="Trenda IG Display Bold" pitchFamily="34" charset="-120"/>
              </a:rPr>
              <a:t>Service line spec</a:t>
            </a:r>
            <a:endParaRPr lang="en-US" sz="800" dirty="0"/>
          </a:p>
        </p:txBody>
      </p:sp>
      <p:sp>
        <p:nvSpPr>
          <p:cNvPr id="123" name="Text 121"/>
          <p:cNvSpPr txBox="1"/>
          <p:nvPr/>
        </p:nvSpPr>
        <p:spPr>
          <a:xfrm>
            <a:off x="5522976" y="2900020"/>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requiredSpecialties[]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requiredCapabilities[]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coverageWindow, minVolume</a:t>
            </a:r>
            <a:endParaRPr lang="en-US" sz="700" dirty="0"/>
          </a:p>
        </p:txBody>
      </p:sp>
      <p:sp>
        <p:nvSpPr>
          <p:cNvPr id="124" name="Shape 122"/>
          <p:cNvSpPr/>
          <p:nvPr/>
        </p:nvSpPr>
        <p:spPr>
          <a:xfrm>
            <a:off x="5522976" y="3471367"/>
            <a:ext cx="64008" cy="64008"/>
          </a:xfrm>
          <a:prstGeom prst="rect">
            <a:avLst/>
          </a:prstGeom>
          <a:solidFill>
            <a:srgbClr val="C2185B"/>
          </a:solidFill>
          <a:ln/>
        </p:spPr>
        <p:txBody>
          <a:bodyPr/>
          <a:lstStyle/>
          <a:p>
            <a:endParaRPr lang="en-IN"/>
          </a:p>
        </p:txBody>
      </p:sp>
      <p:sp>
        <p:nvSpPr>
          <p:cNvPr id="125" name="Text 123"/>
          <p:cNvSpPr txBox="1"/>
          <p:nvPr/>
        </p:nvSpPr>
        <p:spPr>
          <a:xfrm>
            <a:off x="5623560" y="3439363"/>
            <a:ext cx="1051560" cy="266395"/>
          </a:xfrm>
          <a:prstGeom prst="rect">
            <a:avLst/>
          </a:prstGeom>
          <a:noFill/>
          <a:ln/>
        </p:spPr>
        <p:txBody>
          <a:bodyPr wrap="square" lIns="0" tIns="0" rIns="0" bIns="0" rtlCol="0" anchor="t"/>
          <a:lstStyle/>
          <a:p>
            <a:pPr marL="0" indent="0">
              <a:lnSpc>
                <a:spcPct val="98000"/>
              </a:lnSpc>
              <a:buNone/>
            </a:pPr>
            <a:r>
              <a:rPr lang="en-US" sz="800" dirty="0">
                <a:solidFill>
                  <a:srgbClr val="C2185B"/>
                </a:solidFill>
                <a:latin typeface="Trenda IG Display Bold" pitchFamily="34" charset="0"/>
                <a:ea typeface="Trenda IG Display Bold" pitchFamily="34" charset="-122"/>
                <a:cs typeface="Trenda IG Display Bold" pitchFamily="34" charset="-120"/>
              </a:rPr>
              <a:t>Appointment and demand</a:t>
            </a:r>
            <a:endParaRPr lang="en-US" sz="800" dirty="0"/>
          </a:p>
        </p:txBody>
      </p:sp>
      <p:sp>
        <p:nvSpPr>
          <p:cNvPr id="126" name="Text 124"/>
          <p:cNvSpPr txBox="1"/>
          <p:nvPr/>
        </p:nvSpPr>
        <p:spPr>
          <a:xfrm>
            <a:off x="5522976" y="3733190"/>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status, cancelledBy, leadTime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patients, encounters, trend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slots, thirdNextAvailable</a:t>
            </a:r>
            <a:endParaRPr lang="en-US" sz="700" dirty="0"/>
          </a:p>
        </p:txBody>
      </p:sp>
      <p:sp>
        <p:nvSpPr>
          <p:cNvPr id="127" name="Shape 125"/>
          <p:cNvSpPr/>
          <p:nvPr/>
        </p:nvSpPr>
        <p:spPr>
          <a:xfrm>
            <a:off x="5522976" y="4304538"/>
            <a:ext cx="64008" cy="64008"/>
          </a:xfrm>
          <a:prstGeom prst="rect">
            <a:avLst/>
          </a:prstGeom>
          <a:solidFill>
            <a:srgbClr val="C2185B"/>
          </a:solidFill>
          <a:ln/>
        </p:spPr>
        <p:txBody>
          <a:bodyPr/>
          <a:lstStyle/>
          <a:p>
            <a:endParaRPr lang="en-IN"/>
          </a:p>
        </p:txBody>
      </p:sp>
      <p:sp>
        <p:nvSpPr>
          <p:cNvPr id="128" name="Text 126"/>
          <p:cNvSpPr txBox="1"/>
          <p:nvPr/>
        </p:nvSpPr>
        <p:spPr>
          <a:xfrm>
            <a:off x="5623560" y="4272534"/>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C2185B"/>
                </a:solidFill>
                <a:latin typeface="Trenda IG Display Bold" pitchFamily="34" charset="0"/>
                <a:ea typeface="Trenda IG Display Bold" pitchFamily="34" charset="-122"/>
                <a:cs typeface="Trenda IG Display Bold" pitchFamily="34" charset="-120"/>
              </a:rPr>
              <a:t>Bitemporal by default</a:t>
            </a:r>
            <a:endParaRPr lang="en-US" sz="800" dirty="0"/>
          </a:p>
        </p:txBody>
      </p:sp>
      <p:sp>
        <p:nvSpPr>
          <p:cNvPr id="129" name="Text 127"/>
          <p:cNvSpPr txBox="1"/>
          <p:nvPr/>
        </p:nvSpPr>
        <p:spPr>
          <a:xfrm>
            <a:off x="5522976" y="4442308"/>
            <a:ext cx="1188720" cy="283769"/>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validFrom, validTo</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recordedAt, supersededAt</a:t>
            </a:r>
            <a:endParaRPr lang="en-US" sz="700" dirty="0"/>
          </a:p>
        </p:txBody>
      </p:sp>
      <p:sp>
        <p:nvSpPr>
          <p:cNvPr id="130" name="Shape 128"/>
          <p:cNvSpPr/>
          <p:nvPr/>
        </p:nvSpPr>
        <p:spPr>
          <a:xfrm>
            <a:off x="5449824" y="5230368"/>
            <a:ext cx="1289304" cy="457200"/>
          </a:xfrm>
          <a:prstGeom prst="rect">
            <a:avLst/>
          </a:prstGeom>
          <a:solidFill>
            <a:srgbClr val="C2185B"/>
          </a:solidFill>
          <a:ln/>
        </p:spPr>
        <p:txBody>
          <a:bodyPr/>
          <a:lstStyle/>
          <a:p>
            <a:endParaRPr lang="en-IN"/>
          </a:p>
        </p:txBody>
      </p:sp>
      <p:sp>
        <p:nvSpPr>
          <p:cNvPr id="131" name="Text 129"/>
          <p:cNvSpPr txBox="1"/>
          <p:nvPr/>
        </p:nvSpPr>
        <p:spPr>
          <a:xfrm>
            <a:off x="5522976" y="5276088"/>
            <a:ext cx="1143000" cy="128016"/>
          </a:xfrm>
          <a:prstGeom prst="rect">
            <a:avLst/>
          </a:prstGeom>
          <a:noFill/>
          <a:ln/>
        </p:spPr>
        <p:txBody>
          <a:bodyPr wrap="square" lIns="0" tIns="0" rIns="0" bIns="0" rtlCol="0" anchor="t"/>
          <a:lstStyle/>
          <a:p>
            <a:pPr marL="0" indent="0">
              <a:buNone/>
            </a:pPr>
            <a:r>
              <a:rPr lang="en-US" sz="650" kern="0" spc="4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132" name="Text 130"/>
          <p:cNvSpPr txBox="1"/>
          <p:nvPr/>
        </p:nvSpPr>
        <p:spPr>
          <a:xfrm>
            <a:off x="5522976" y="5404104"/>
            <a:ext cx="1143000" cy="274320"/>
          </a:xfrm>
          <a:prstGeom prst="rect">
            <a:avLst/>
          </a:prstGeom>
          <a:noFill/>
          <a:ln/>
        </p:spPr>
        <p:txBody>
          <a:bodyPr wrap="square" lIns="0" tIns="0" rIns="0" bIns="0" rtlCol="0" anchor="t"/>
          <a:lstStyle/>
          <a:p>
            <a:pPr marL="0" indent="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A typed, bitemporal model of the network</a:t>
            </a:r>
            <a:endParaRPr lang="en-US" sz="700" dirty="0"/>
          </a:p>
        </p:txBody>
      </p:sp>
      <p:sp>
        <p:nvSpPr>
          <p:cNvPr id="133" name="Text 131"/>
          <p:cNvSpPr txBox="1"/>
          <p:nvPr/>
        </p:nvSpPr>
        <p:spPr>
          <a:xfrm>
            <a:off x="6737299" y="914400"/>
            <a:ext cx="49378" cy="128016"/>
          </a:xfrm>
          <a:prstGeom prst="rect">
            <a:avLst/>
          </a:prstGeom>
          <a:noFill/>
          <a:ln/>
        </p:spPr>
        <p:txBody>
          <a:bodyPr wrap="square" lIns="0" tIns="0" rIns="0" bIns="0" rtlCol="0" anchor="t"/>
          <a:lstStyle/>
          <a:p>
            <a:pPr marL="0" indent="0" algn="ctr">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134" name="Shape 132"/>
          <p:cNvSpPr/>
          <p:nvPr/>
        </p:nvSpPr>
        <p:spPr>
          <a:xfrm>
            <a:off x="6784848" y="713232"/>
            <a:ext cx="1289304" cy="621792"/>
          </a:xfrm>
          <a:prstGeom prst="rect">
            <a:avLst/>
          </a:prstGeom>
          <a:solidFill>
            <a:srgbClr val="C77400"/>
          </a:solidFill>
          <a:ln/>
        </p:spPr>
        <p:txBody>
          <a:bodyPr/>
          <a:lstStyle/>
          <a:p>
            <a:endParaRPr lang="en-IN"/>
          </a:p>
        </p:txBody>
      </p:sp>
      <p:sp>
        <p:nvSpPr>
          <p:cNvPr id="135" name="Text 133"/>
          <p:cNvSpPr txBox="1"/>
          <p:nvPr/>
        </p:nvSpPr>
        <p:spPr>
          <a:xfrm>
            <a:off x="6830568" y="758952"/>
            <a:ext cx="1197864" cy="137160"/>
          </a:xfrm>
          <a:prstGeom prst="rect">
            <a:avLst/>
          </a:prstGeom>
          <a:noFill/>
          <a:ln/>
        </p:spPr>
        <p:txBody>
          <a:bodyPr wrap="square" lIns="0" tIns="0" rIns="0" bIns="0" rtlCol="0" anchor="t"/>
          <a:lstStyle/>
          <a:p>
            <a:pPr marL="0" indent="0" algn="ctr">
              <a:buNone/>
            </a:pPr>
            <a:r>
              <a:rPr lang="en-US" sz="750" kern="0" spc="40" dirty="0">
                <a:solidFill>
                  <a:srgbClr val="FFFFFF"/>
                </a:solidFill>
                <a:latin typeface="Trenda IG Display Semibold" pitchFamily="34" charset="0"/>
                <a:ea typeface="Trenda IG Display Semibold" pitchFamily="34" charset="-122"/>
                <a:cs typeface="Trenda IG Display Semibold" pitchFamily="34" charset="-120"/>
              </a:rPr>
              <a:t>LAYER 6</a:t>
            </a:r>
            <a:endParaRPr lang="en-US" sz="750" dirty="0"/>
          </a:p>
        </p:txBody>
      </p:sp>
      <p:sp>
        <p:nvSpPr>
          <p:cNvPr id="136" name="Text 134"/>
          <p:cNvSpPr txBox="1"/>
          <p:nvPr/>
        </p:nvSpPr>
        <p:spPr>
          <a:xfrm>
            <a:off x="6821424" y="886968"/>
            <a:ext cx="1216152" cy="329184"/>
          </a:xfrm>
          <a:prstGeom prst="rect">
            <a:avLst/>
          </a:prstGeom>
          <a:noFill/>
          <a:ln/>
        </p:spPr>
        <p:txBody>
          <a:bodyPr wrap="square" lIns="0" tIns="0" rIns="0" bIns="0" rtlCol="0" anchor="t"/>
          <a:lstStyle/>
          <a:p>
            <a:pPr marL="0" indent="0" algn="ctr">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Graph Storage</a:t>
            </a:r>
            <a:endParaRPr lang="en-US" sz="1000" dirty="0"/>
          </a:p>
        </p:txBody>
      </p:sp>
      <p:sp>
        <p:nvSpPr>
          <p:cNvPr id="137" name="Text 135"/>
          <p:cNvSpPr txBox="1"/>
          <p:nvPr/>
        </p:nvSpPr>
        <p:spPr>
          <a:xfrm>
            <a:off x="6830568" y="1188720"/>
            <a:ext cx="1197864" cy="137160"/>
          </a:xfrm>
          <a:prstGeom prst="rect">
            <a:avLst/>
          </a:prstGeom>
          <a:noFill/>
          <a:ln/>
        </p:spPr>
        <p:txBody>
          <a:bodyPr wrap="square" lIns="0" tIns="0" rIns="0" bIns="0" rtlCol="0" anchor="t"/>
          <a:lstStyle/>
          <a:p>
            <a:pPr marL="0" indent="0" algn="ctr">
              <a:buNone/>
            </a:pPr>
            <a:r>
              <a:rPr lang="en-US" sz="650" dirty="0">
                <a:solidFill>
                  <a:srgbClr val="E4EEF2"/>
                </a:solidFill>
                <a:latin typeface="Trenda IG Text Light" pitchFamily="34" charset="0"/>
                <a:ea typeface="Trenda IG Text Light" pitchFamily="34" charset="-122"/>
                <a:cs typeface="Trenda IG Text Light" pitchFamily="34" charset="-120"/>
              </a:rPr>
              <a:t>Bitemporal and immutable</a:t>
            </a:r>
            <a:endParaRPr lang="en-US" sz="650" dirty="0"/>
          </a:p>
        </p:txBody>
      </p:sp>
      <p:sp>
        <p:nvSpPr>
          <p:cNvPr id="138" name="Shape 136"/>
          <p:cNvSpPr/>
          <p:nvPr/>
        </p:nvSpPr>
        <p:spPr>
          <a:xfrm>
            <a:off x="6784848" y="1353312"/>
            <a:ext cx="1289304" cy="4334256"/>
          </a:xfrm>
          <a:prstGeom prst="rect">
            <a:avLst/>
          </a:prstGeom>
          <a:solidFill>
            <a:srgbClr val="FFFFFF"/>
          </a:solidFill>
          <a:ln w="9525">
            <a:solidFill>
              <a:srgbClr val="D5D9DE"/>
            </a:solidFill>
            <a:prstDash val="solid"/>
          </a:ln>
        </p:spPr>
        <p:txBody>
          <a:bodyPr/>
          <a:lstStyle/>
          <a:p>
            <a:endParaRPr lang="en-IN"/>
          </a:p>
        </p:txBody>
      </p:sp>
      <p:sp>
        <p:nvSpPr>
          <p:cNvPr id="139" name="Text 137"/>
          <p:cNvSpPr txBox="1"/>
          <p:nvPr/>
        </p:nvSpPr>
        <p:spPr>
          <a:xfrm>
            <a:off x="6858000" y="1435608"/>
            <a:ext cx="1143000" cy="124054"/>
          </a:xfrm>
          <a:prstGeom prst="rect">
            <a:avLst/>
          </a:prstGeom>
          <a:noFill/>
          <a:ln/>
        </p:spPr>
        <p:txBody>
          <a:bodyPr wrap="square" lIns="0" tIns="0" rIns="0" bIns="0" rtlCol="0" anchor="t"/>
          <a:lstStyle/>
          <a:p>
            <a:pPr marL="0" indent="0">
              <a:buNone/>
            </a:pPr>
            <a:r>
              <a:rPr lang="en-US" sz="800" dirty="0">
                <a:solidFill>
                  <a:srgbClr val="C77400"/>
                </a:solidFill>
                <a:latin typeface="Trenda IG Display Bold" pitchFamily="34" charset="0"/>
                <a:ea typeface="Trenda IG Display Bold" pitchFamily="34" charset="-122"/>
                <a:cs typeface="Trenda IG Display Bold" pitchFamily="34" charset="-120"/>
              </a:rPr>
              <a:t>network.json (excerpt)</a:t>
            </a:r>
            <a:endParaRPr lang="en-US" sz="800" dirty="0"/>
          </a:p>
        </p:txBody>
      </p:sp>
      <p:sp>
        <p:nvSpPr>
          <p:cNvPr id="140" name="Shape 138"/>
          <p:cNvSpPr/>
          <p:nvPr/>
        </p:nvSpPr>
        <p:spPr>
          <a:xfrm>
            <a:off x="6830568" y="1605382"/>
            <a:ext cx="1197864" cy="1395222"/>
          </a:xfrm>
          <a:prstGeom prst="rect">
            <a:avLst/>
          </a:prstGeom>
          <a:solidFill>
            <a:srgbClr val="F4F6F9"/>
          </a:solidFill>
          <a:ln w="9525">
            <a:solidFill>
              <a:srgbClr val="D5D9DE"/>
            </a:solidFill>
            <a:prstDash val="solid"/>
          </a:ln>
        </p:spPr>
        <p:txBody>
          <a:bodyPr/>
          <a:lstStyle/>
          <a:p>
            <a:endParaRPr lang="en-IN"/>
          </a:p>
        </p:txBody>
      </p:sp>
      <p:sp>
        <p:nvSpPr>
          <p:cNvPr id="141" name="Text 139"/>
          <p:cNvSpPr txBox="1"/>
          <p:nvPr/>
        </p:nvSpPr>
        <p:spPr>
          <a:xfrm>
            <a:off x="6922008" y="1633271"/>
            <a:ext cx="1124712" cy="1362456"/>
          </a:xfrm>
          <a:prstGeom prst="rect">
            <a:avLst/>
          </a:prstGeom>
          <a:noFill/>
          <a:ln/>
        </p:spPr>
        <p:txBody>
          <a:bodyPr wrap="square" lIns="0" tIns="0" rIns="0" bIns="0" rtlCol="0" anchor="t"/>
          <a:lstStyle/>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"snapshot": "sha256:7c41…",</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"nodes": [</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{"id": "prv:9f2a…",</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"type": "PROVIDER",</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"spec": "CARDIOLOGY",</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"fte": 0.6, "panel": "OPEN"}],</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"edges": [</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{"id": "cov:41b7…",</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"type": "COVERS",</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"from": "prv:9f2a…",</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"to": "svc:CARD@450214",</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"validFrom": "2024-07-01",</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"validTo": null,</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"recordedAt": "2026-08-02",</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"confidence": 0.92,</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"evidence": ["caqh:8821#r44"]</a:t>
            </a:r>
            <a:endParaRPr lang="en-US" sz="450" dirty="0"/>
          </a:p>
          <a:p>
            <a:pPr marL="0" indent="0">
              <a:lnSpc>
                <a:spcPct val="100000"/>
              </a:lnSpc>
              <a:buNone/>
            </a:pPr>
            <a:r>
              <a:rPr lang="en-US" sz="450" dirty="0">
                <a:solidFill>
                  <a:srgbClr val="1A1A1A"/>
                </a:solidFill>
                <a:latin typeface="Courier New" pitchFamily="34" charset="0"/>
                <a:ea typeface="Courier New" pitchFamily="34" charset="-122"/>
                <a:cs typeface="Courier New" pitchFamily="34" charset="-120"/>
              </a:rPr>
              <a:t>   }] }</a:t>
            </a:r>
            <a:endParaRPr lang="en-US" sz="450" dirty="0"/>
          </a:p>
        </p:txBody>
      </p:sp>
      <p:sp>
        <p:nvSpPr>
          <p:cNvPr id="142" name="Shape 140"/>
          <p:cNvSpPr/>
          <p:nvPr/>
        </p:nvSpPr>
        <p:spPr>
          <a:xfrm>
            <a:off x="6858000" y="3045562"/>
            <a:ext cx="64008" cy="64008"/>
          </a:xfrm>
          <a:prstGeom prst="rect">
            <a:avLst/>
          </a:prstGeom>
          <a:solidFill>
            <a:srgbClr val="C77400"/>
          </a:solidFill>
          <a:ln/>
        </p:spPr>
        <p:txBody>
          <a:bodyPr/>
          <a:lstStyle/>
          <a:p>
            <a:endParaRPr lang="en-IN"/>
          </a:p>
        </p:txBody>
      </p:sp>
      <p:sp>
        <p:nvSpPr>
          <p:cNvPr id="143" name="Text 141"/>
          <p:cNvSpPr txBox="1"/>
          <p:nvPr/>
        </p:nvSpPr>
        <p:spPr>
          <a:xfrm>
            <a:off x="6958584" y="3013558"/>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C77400"/>
                </a:solidFill>
                <a:latin typeface="Trenda IG Display Bold" pitchFamily="34" charset="0"/>
                <a:ea typeface="Trenda IG Display Bold" pitchFamily="34" charset="-122"/>
                <a:cs typeface="Trenda IG Display Bold" pitchFamily="34" charset="-120"/>
              </a:rPr>
              <a:t>What the file holds</a:t>
            </a:r>
            <a:endParaRPr lang="en-US" sz="800" dirty="0"/>
          </a:p>
        </p:txBody>
      </p:sp>
      <p:sp>
        <p:nvSpPr>
          <p:cNvPr id="144" name="Text 142"/>
          <p:cNvSpPr txBox="1"/>
          <p:nvPr/>
        </p:nvSpPr>
        <p:spPr>
          <a:xfrm>
            <a:off x="6858000" y="3183331"/>
            <a:ext cx="1188720" cy="635508"/>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Every node and edge typed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Two time axes per edge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Confidence and evidence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Tokens only, no ids</a:t>
            </a:r>
            <a:endParaRPr lang="en-US" sz="700" dirty="0"/>
          </a:p>
        </p:txBody>
      </p:sp>
      <p:sp>
        <p:nvSpPr>
          <p:cNvPr id="145" name="Shape 143"/>
          <p:cNvSpPr/>
          <p:nvPr/>
        </p:nvSpPr>
        <p:spPr>
          <a:xfrm>
            <a:off x="6858000" y="3878275"/>
            <a:ext cx="64008" cy="64008"/>
          </a:xfrm>
          <a:prstGeom prst="rect">
            <a:avLst/>
          </a:prstGeom>
          <a:solidFill>
            <a:srgbClr val="C77400"/>
          </a:solidFill>
          <a:ln/>
        </p:spPr>
        <p:txBody>
          <a:bodyPr/>
          <a:lstStyle/>
          <a:p>
            <a:endParaRPr lang="en-IN"/>
          </a:p>
        </p:txBody>
      </p:sp>
      <p:sp>
        <p:nvSpPr>
          <p:cNvPr id="146" name="Text 144"/>
          <p:cNvSpPr txBox="1"/>
          <p:nvPr/>
        </p:nvSpPr>
        <p:spPr>
          <a:xfrm>
            <a:off x="6958584" y="3846271"/>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C77400"/>
                </a:solidFill>
                <a:latin typeface="Trenda IG Display Bold" pitchFamily="34" charset="0"/>
                <a:ea typeface="Trenda IG Display Bold" pitchFamily="34" charset="-122"/>
                <a:cs typeface="Trenda IG Display Bold" pitchFamily="34" charset="-120"/>
              </a:rPr>
              <a:t>Storage rules</a:t>
            </a:r>
            <a:endParaRPr lang="en-US" sz="800" dirty="0"/>
          </a:p>
        </p:txBody>
      </p:sp>
      <p:sp>
        <p:nvSpPr>
          <p:cNvPr id="147" name="Text 145"/>
          <p:cNvSpPr txBox="1"/>
          <p:nvPr/>
        </p:nvSpPr>
        <p:spPr>
          <a:xfrm>
            <a:off x="6858000" y="4016045"/>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Content addressed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Rebuilt, never written back</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Encrypted per snapshot</a:t>
            </a:r>
            <a:endParaRPr lang="en-US" sz="700" dirty="0"/>
          </a:p>
        </p:txBody>
      </p:sp>
      <p:sp>
        <p:nvSpPr>
          <p:cNvPr id="148" name="Shape 146"/>
          <p:cNvSpPr/>
          <p:nvPr/>
        </p:nvSpPr>
        <p:spPr>
          <a:xfrm>
            <a:off x="6784848" y="5230368"/>
            <a:ext cx="1289304" cy="457200"/>
          </a:xfrm>
          <a:prstGeom prst="rect">
            <a:avLst/>
          </a:prstGeom>
          <a:solidFill>
            <a:srgbClr val="C77400"/>
          </a:solidFill>
          <a:ln/>
        </p:spPr>
        <p:txBody>
          <a:bodyPr/>
          <a:lstStyle/>
          <a:p>
            <a:endParaRPr lang="en-IN"/>
          </a:p>
        </p:txBody>
      </p:sp>
      <p:sp>
        <p:nvSpPr>
          <p:cNvPr id="149" name="Text 147"/>
          <p:cNvSpPr txBox="1"/>
          <p:nvPr/>
        </p:nvSpPr>
        <p:spPr>
          <a:xfrm>
            <a:off x="6858000" y="5276088"/>
            <a:ext cx="1143000" cy="128016"/>
          </a:xfrm>
          <a:prstGeom prst="rect">
            <a:avLst/>
          </a:prstGeom>
          <a:noFill/>
          <a:ln/>
        </p:spPr>
        <p:txBody>
          <a:bodyPr wrap="square" lIns="0" tIns="0" rIns="0" bIns="0" rtlCol="0" anchor="t"/>
          <a:lstStyle/>
          <a:p>
            <a:pPr marL="0" indent="0">
              <a:buNone/>
            </a:pPr>
            <a:r>
              <a:rPr lang="en-US" sz="650" kern="0" spc="4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150" name="Text 148"/>
          <p:cNvSpPr txBox="1"/>
          <p:nvPr/>
        </p:nvSpPr>
        <p:spPr>
          <a:xfrm>
            <a:off x="6858000" y="5404104"/>
            <a:ext cx="1143000" cy="274320"/>
          </a:xfrm>
          <a:prstGeom prst="rect">
            <a:avLst/>
          </a:prstGeom>
          <a:noFill/>
          <a:ln/>
        </p:spPr>
        <p:txBody>
          <a:bodyPr wrap="square" lIns="0" tIns="0" rIns="0" bIns="0" rtlCol="0" anchor="t"/>
          <a:lstStyle/>
          <a:p>
            <a:pPr marL="0" indent="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Any past state of the network, replayed exactly</a:t>
            </a:r>
            <a:endParaRPr lang="en-US" sz="700" dirty="0"/>
          </a:p>
        </p:txBody>
      </p:sp>
      <p:sp>
        <p:nvSpPr>
          <p:cNvPr id="151" name="Text 149"/>
          <p:cNvSpPr txBox="1"/>
          <p:nvPr/>
        </p:nvSpPr>
        <p:spPr>
          <a:xfrm>
            <a:off x="8072323" y="914400"/>
            <a:ext cx="49378" cy="128016"/>
          </a:xfrm>
          <a:prstGeom prst="rect">
            <a:avLst/>
          </a:prstGeom>
          <a:noFill/>
          <a:ln/>
        </p:spPr>
        <p:txBody>
          <a:bodyPr wrap="square" lIns="0" tIns="0" rIns="0" bIns="0" rtlCol="0" anchor="t"/>
          <a:lstStyle/>
          <a:p>
            <a:pPr marL="0" indent="0" algn="ctr">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152" name="Shape 150"/>
          <p:cNvSpPr/>
          <p:nvPr/>
        </p:nvSpPr>
        <p:spPr>
          <a:xfrm>
            <a:off x="8119872" y="713232"/>
            <a:ext cx="1289304" cy="621792"/>
          </a:xfrm>
          <a:prstGeom prst="rect">
            <a:avLst/>
          </a:prstGeom>
          <a:solidFill>
            <a:srgbClr val="C62828"/>
          </a:solidFill>
          <a:ln/>
        </p:spPr>
        <p:txBody>
          <a:bodyPr/>
          <a:lstStyle/>
          <a:p>
            <a:endParaRPr lang="en-IN"/>
          </a:p>
        </p:txBody>
      </p:sp>
      <p:sp>
        <p:nvSpPr>
          <p:cNvPr id="153" name="Text 151"/>
          <p:cNvSpPr txBox="1"/>
          <p:nvPr/>
        </p:nvSpPr>
        <p:spPr>
          <a:xfrm>
            <a:off x="8165592" y="758952"/>
            <a:ext cx="1197864" cy="137160"/>
          </a:xfrm>
          <a:prstGeom prst="rect">
            <a:avLst/>
          </a:prstGeom>
          <a:noFill/>
          <a:ln/>
        </p:spPr>
        <p:txBody>
          <a:bodyPr wrap="square" lIns="0" tIns="0" rIns="0" bIns="0" rtlCol="0" anchor="t"/>
          <a:lstStyle/>
          <a:p>
            <a:pPr marL="0" indent="0" algn="ctr">
              <a:buNone/>
            </a:pPr>
            <a:r>
              <a:rPr lang="en-US" sz="750" kern="0" spc="40" dirty="0">
                <a:solidFill>
                  <a:srgbClr val="FFFFFF"/>
                </a:solidFill>
                <a:latin typeface="Trenda IG Display Semibold" pitchFamily="34" charset="0"/>
                <a:ea typeface="Trenda IG Display Semibold" pitchFamily="34" charset="-122"/>
                <a:cs typeface="Trenda IG Display Semibold" pitchFamily="34" charset="-120"/>
              </a:rPr>
              <a:t>LAYER 7</a:t>
            </a:r>
            <a:endParaRPr lang="en-US" sz="750" dirty="0"/>
          </a:p>
        </p:txBody>
      </p:sp>
      <p:sp>
        <p:nvSpPr>
          <p:cNvPr id="154" name="Text 152"/>
          <p:cNvSpPr txBox="1"/>
          <p:nvPr/>
        </p:nvSpPr>
        <p:spPr>
          <a:xfrm>
            <a:off x="8156448" y="886968"/>
            <a:ext cx="1216152" cy="329184"/>
          </a:xfrm>
          <a:prstGeom prst="rect">
            <a:avLst/>
          </a:prstGeom>
          <a:noFill/>
          <a:ln/>
        </p:spPr>
        <p:txBody>
          <a:bodyPr wrap="square" lIns="0" tIns="0" rIns="0" bIns="0" rtlCol="0" anchor="t"/>
          <a:lstStyle/>
          <a:p>
            <a:pPr marL="0" indent="0" algn="ctr">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Derived Edge Engine</a:t>
            </a:r>
            <a:endParaRPr lang="en-US" sz="1000" dirty="0"/>
          </a:p>
        </p:txBody>
      </p:sp>
      <p:sp>
        <p:nvSpPr>
          <p:cNvPr id="155" name="Text 153"/>
          <p:cNvSpPr txBox="1"/>
          <p:nvPr/>
        </p:nvSpPr>
        <p:spPr>
          <a:xfrm>
            <a:off x="8165592" y="1188720"/>
            <a:ext cx="1197864" cy="137160"/>
          </a:xfrm>
          <a:prstGeom prst="rect">
            <a:avLst/>
          </a:prstGeom>
          <a:noFill/>
          <a:ln/>
        </p:spPr>
        <p:txBody>
          <a:bodyPr wrap="square" lIns="0" tIns="0" rIns="0" bIns="0" rtlCol="0" anchor="t"/>
          <a:lstStyle/>
          <a:p>
            <a:pPr marL="0" indent="0" algn="ctr">
              <a:buNone/>
            </a:pPr>
            <a:r>
              <a:rPr lang="en-US" sz="650" dirty="0">
                <a:solidFill>
                  <a:srgbClr val="E4EEF2"/>
                </a:solidFill>
                <a:latin typeface="Trenda IG Text Light" pitchFamily="34" charset="0"/>
                <a:ea typeface="Trenda IG Text Light" pitchFamily="34" charset="-122"/>
                <a:cs typeface="Trenda IG Text Light" pitchFamily="34" charset="-120"/>
              </a:rPr>
              <a:t>A gap becomes a number</a:t>
            </a:r>
            <a:endParaRPr lang="en-US" sz="650" dirty="0"/>
          </a:p>
        </p:txBody>
      </p:sp>
      <p:sp>
        <p:nvSpPr>
          <p:cNvPr id="156" name="Shape 154"/>
          <p:cNvSpPr/>
          <p:nvPr/>
        </p:nvSpPr>
        <p:spPr>
          <a:xfrm>
            <a:off x="8119872" y="1353312"/>
            <a:ext cx="1289304" cy="4334256"/>
          </a:xfrm>
          <a:prstGeom prst="rect">
            <a:avLst/>
          </a:prstGeom>
          <a:solidFill>
            <a:srgbClr val="FFFFFF"/>
          </a:solidFill>
          <a:ln w="9525">
            <a:solidFill>
              <a:srgbClr val="D5D9DE"/>
            </a:solidFill>
            <a:prstDash val="solid"/>
          </a:ln>
        </p:spPr>
        <p:txBody>
          <a:bodyPr/>
          <a:lstStyle/>
          <a:p>
            <a:endParaRPr lang="en-IN"/>
          </a:p>
        </p:txBody>
      </p:sp>
      <p:sp>
        <p:nvSpPr>
          <p:cNvPr id="157" name="Shape 155"/>
          <p:cNvSpPr/>
          <p:nvPr/>
        </p:nvSpPr>
        <p:spPr>
          <a:xfrm>
            <a:off x="8193024" y="1467612"/>
            <a:ext cx="64008" cy="64008"/>
          </a:xfrm>
          <a:prstGeom prst="rect">
            <a:avLst/>
          </a:prstGeom>
          <a:solidFill>
            <a:srgbClr val="C62828"/>
          </a:solidFill>
          <a:ln/>
        </p:spPr>
        <p:txBody>
          <a:bodyPr/>
          <a:lstStyle/>
          <a:p>
            <a:endParaRPr lang="en-IN"/>
          </a:p>
        </p:txBody>
      </p:sp>
      <p:sp>
        <p:nvSpPr>
          <p:cNvPr id="158" name="Text 156"/>
          <p:cNvSpPr txBox="1"/>
          <p:nvPr/>
        </p:nvSpPr>
        <p:spPr>
          <a:xfrm>
            <a:off x="8293608" y="1435608"/>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C62828"/>
                </a:solidFill>
                <a:latin typeface="Trenda IG Display Bold" pitchFamily="34" charset="0"/>
                <a:ea typeface="Trenda IG Display Bold" pitchFamily="34" charset="-122"/>
                <a:cs typeface="Trenda IG Display Bold" pitchFamily="34" charset="-120"/>
              </a:rPr>
              <a:t>Derived edges</a:t>
            </a:r>
            <a:endParaRPr lang="en-US" sz="800" dirty="0"/>
          </a:p>
        </p:txBody>
      </p:sp>
      <p:sp>
        <p:nvSpPr>
          <p:cNvPr id="159" name="Text 157"/>
          <p:cNvSpPr txBox="1"/>
          <p:nvPr/>
        </p:nvSpPr>
        <p:spPr>
          <a:xfrm>
            <a:off x="8193024" y="1605382"/>
            <a:ext cx="1188720" cy="53096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SERVES geo to site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REQUIRES line to specialty</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COVERS provider to line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SUBSTITUTE_FOR pairs</a:t>
            </a:r>
            <a:endParaRPr lang="en-US" sz="700" dirty="0"/>
          </a:p>
        </p:txBody>
      </p:sp>
      <p:sp>
        <p:nvSpPr>
          <p:cNvPr id="160" name="Shape 158"/>
          <p:cNvSpPr/>
          <p:nvPr/>
        </p:nvSpPr>
        <p:spPr>
          <a:xfrm>
            <a:off x="8193024" y="2195779"/>
            <a:ext cx="64008" cy="64008"/>
          </a:xfrm>
          <a:prstGeom prst="rect">
            <a:avLst/>
          </a:prstGeom>
          <a:solidFill>
            <a:srgbClr val="C62828"/>
          </a:solidFill>
          <a:ln/>
        </p:spPr>
        <p:txBody>
          <a:bodyPr/>
          <a:lstStyle/>
          <a:p>
            <a:endParaRPr lang="en-IN"/>
          </a:p>
        </p:txBody>
      </p:sp>
      <p:sp>
        <p:nvSpPr>
          <p:cNvPr id="161" name="Text 159"/>
          <p:cNvSpPr txBox="1"/>
          <p:nvPr/>
        </p:nvSpPr>
        <p:spPr>
          <a:xfrm>
            <a:off x="8293608" y="2163775"/>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C62828"/>
                </a:solidFill>
                <a:latin typeface="Trenda IG Display Bold" pitchFamily="34" charset="0"/>
                <a:ea typeface="Trenda IG Display Bold" pitchFamily="34" charset="-122"/>
                <a:cs typeface="Trenda IG Display Bold" pitchFamily="34" charset="-120"/>
              </a:rPr>
              <a:t>Constraint evaluation</a:t>
            </a:r>
            <a:endParaRPr lang="en-US" sz="800" dirty="0"/>
          </a:p>
        </p:txBody>
      </p:sp>
      <p:sp>
        <p:nvSpPr>
          <p:cNvPr id="162" name="Text 160"/>
          <p:cNvSpPr txBox="1"/>
          <p:nvPr/>
        </p:nvSpPr>
        <p:spPr>
          <a:xfrm>
            <a:off x="8193024" y="2333549"/>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Spec run against graph</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Unsatisfied means a gap</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New line is a spec row</a:t>
            </a:r>
            <a:endParaRPr lang="en-US" sz="700" dirty="0"/>
          </a:p>
        </p:txBody>
      </p:sp>
      <p:sp>
        <p:nvSpPr>
          <p:cNvPr id="163" name="Shape 161"/>
          <p:cNvSpPr/>
          <p:nvPr/>
        </p:nvSpPr>
        <p:spPr>
          <a:xfrm>
            <a:off x="8193024" y="2800350"/>
            <a:ext cx="64008" cy="64008"/>
          </a:xfrm>
          <a:prstGeom prst="rect">
            <a:avLst/>
          </a:prstGeom>
          <a:solidFill>
            <a:srgbClr val="C62828"/>
          </a:solidFill>
          <a:ln/>
        </p:spPr>
        <p:txBody>
          <a:bodyPr/>
          <a:lstStyle/>
          <a:p>
            <a:endParaRPr lang="en-IN"/>
          </a:p>
        </p:txBody>
      </p:sp>
      <p:sp>
        <p:nvSpPr>
          <p:cNvPr id="164" name="Text 162"/>
          <p:cNvSpPr txBox="1"/>
          <p:nvPr/>
        </p:nvSpPr>
        <p:spPr>
          <a:xfrm>
            <a:off x="8293608" y="2768346"/>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C62828"/>
                </a:solidFill>
                <a:latin typeface="Trenda IG Display Bold" pitchFamily="34" charset="0"/>
                <a:ea typeface="Trenda IG Display Bold" pitchFamily="34" charset="-122"/>
                <a:cs typeface="Trenda IG Display Bold" pitchFamily="34" charset="-120"/>
              </a:rPr>
              <a:t>Indices</a:t>
            </a:r>
            <a:endParaRPr lang="en-US" sz="800" dirty="0"/>
          </a:p>
        </p:txBody>
      </p:sp>
      <p:sp>
        <p:nvSpPr>
          <p:cNvPr id="165" name="Text 163"/>
          <p:cNvSpPr txBox="1"/>
          <p:nvPr/>
        </p:nvSpPr>
        <p:spPr>
          <a:xfrm>
            <a:off x="8193024" y="2938120"/>
            <a:ext cx="1188720" cy="53096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inflow, capacity, coverage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leakage, adequacy, depth</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no-show and slot recovery</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outcome O over E, shrunk</a:t>
            </a:r>
            <a:endParaRPr lang="en-US" sz="700" dirty="0"/>
          </a:p>
        </p:txBody>
      </p:sp>
      <p:sp>
        <p:nvSpPr>
          <p:cNvPr id="166" name="Shape 164"/>
          <p:cNvSpPr/>
          <p:nvPr/>
        </p:nvSpPr>
        <p:spPr>
          <a:xfrm>
            <a:off x="8193024" y="3528517"/>
            <a:ext cx="64008" cy="64008"/>
          </a:xfrm>
          <a:prstGeom prst="rect">
            <a:avLst/>
          </a:prstGeom>
          <a:solidFill>
            <a:srgbClr val="C62828"/>
          </a:solidFill>
          <a:ln/>
        </p:spPr>
        <p:txBody>
          <a:bodyPr/>
          <a:lstStyle/>
          <a:p>
            <a:endParaRPr lang="en-IN"/>
          </a:p>
        </p:txBody>
      </p:sp>
      <p:sp>
        <p:nvSpPr>
          <p:cNvPr id="167" name="Text 165"/>
          <p:cNvSpPr txBox="1"/>
          <p:nvPr/>
        </p:nvSpPr>
        <p:spPr>
          <a:xfrm>
            <a:off x="8293608" y="3496513"/>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C62828"/>
                </a:solidFill>
                <a:latin typeface="Trenda IG Display Bold" pitchFamily="34" charset="0"/>
                <a:ea typeface="Trenda IG Display Bold" pitchFamily="34" charset="-122"/>
                <a:cs typeface="Trenda IG Display Bold" pitchFamily="34" charset="-120"/>
              </a:rPr>
              <a:t>Guardrails</a:t>
            </a:r>
            <a:endParaRPr lang="en-US" sz="800" dirty="0"/>
          </a:p>
        </p:txBody>
      </p:sp>
      <p:sp>
        <p:nvSpPr>
          <p:cNvPr id="168" name="Text 166"/>
          <p:cNvSpPr txBox="1"/>
          <p:nvPr/>
        </p:nvSpPr>
        <p:spPr>
          <a:xfrm>
            <a:off x="8193024" y="3666287"/>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Minimum volume to rank</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Peer group by case mix</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Interval with every value</a:t>
            </a:r>
            <a:endParaRPr lang="en-US" sz="700" dirty="0"/>
          </a:p>
        </p:txBody>
      </p:sp>
      <p:sp>
        <p:nvSpPr>
          <p:cNvPr id="169" name="Shape 167"/>
          <p:cNvSpPr/>
          <p:nvPr/>
        </p:nvSpPr>
        <p:spPr>
          <a:xfrm>
            <a:off x="8119872" y="5230368"/>
            <a:ext cx="1289304" cy="457200"/>
          </a:xfrm>
          <a:prstGeom prst="rect">
            <a:avLst/>
          </a:prstGeom>
          <a:solidFill>
            <a:srgbClr val="C62828"/>
          </a:solidFill>
          <a:ln/>
        </p:spPr>
        <p:txBody>
          <a:bodyPr/>
          <a:lstStyle/>
          <a:p>
            <a:endParaRPr lang="en-IN"/>
          </a:p>
        </p:txBody>
      </p:sp>
      <p:sp>
        <p:nvSpPr>
          <p:cNvPr id="170" name="Text 168"/>
          <p:cNvSpPr txBox="1"/>
          <p:nvPr/>
        </p:nvSpPr>
        <p:spPr>
          <a:xfrm>
            <a:off x="8193024" y="5276088"/>
            <a:ext cx="1143000" cy="128016"/>
          </a:xfrm>
          <a:prstGeom prst="rect">
            <a:avLst/>
          </a:prstGeom>
          <a:noFill/>
          <a:ln/>
        </p:spPr>
        <p:txBody>
          <a:bodyPr wrap="square" lIns="0" tIns="0" rIns="0" bIns="0" rtlCol="0" anchor="t"/>
          <a:lstStyle/>
          <a:p>
            <a:pPr marL="0" indent="0">
              <a:buNone/>
            </a:pPr>
            <a:r>
              <a:rPr lang="en-US" sz="650" kern="0" spc="4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171" name="Text 169"/>
          <p:cNvSpPr txBox="1"/>
          <p:nvPr/>
        </p:nvSpPr>
        <p:spPr>
          <a:xfrm>
            <a:off x="8193024" y="5404104"/>
            <a:ext cx="1143000" cy="274320"/>
          </a:xfrm>
          <a:prstGeom prst="rect">
            <a:avLst/>
          </a:prstGeom>
          <a:noFill/>
          <a:ln/>
        </p:spPr>
        <p:txBody>
          <a:bodyPr wrap="square" lIns="0" tIns="0" rIns="0" bIns="0" rtlCol="0" anchor="t"/>
          <a:lstStyle/>
          <a:p>
            <a:pPr marL="0" indent="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The missing edge becomes a defensible number</a:t>
            </a:r>
            <a:endParaRPr lang="en-US" sz="700" dirty="0"/>
          </a:p>
        </p:txBody>
      </p:sp>
      <p:sp>
        <p:nvSpPr>
          <p:cNvPr id="172" name="Text 170"/>
          <p:cNvSpPr txBox="1"/>
          <p:nvPr/>
        </p:nvSpPr>
        <p:spPr>
          <a:xfrm>
            <a:off x="9407347" y="914400"/>
            <a:ext cx="49378" cy="128016"/>
          </a:xfrm>
          <a:prstGeom prst="rect">
            <a:avLst/>
          </a:prstGeom>
          <a:noFill/>
          <a:ln/>
        </p:spPr>
        <p:txBody>
          <a:bodyPr wrap="square" lIns="0" tIns="0" rIns="0" bIns="0" rtlCol="0" anchor="t"/>
          <a:lstStyle/>
          <a:p>
            <a:pPr marL="0" indent="0" algn="ctr">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173" name="Shape 171"/>
          <p:cNvSpPr/>
          <p:nvPr/>
        </p:nvSpPr>
        <p:spPr>
          <a:xfrm>
            <a:off x="9454896" y="713232"/>
            <a:ext cx="1289304" cy="621792"/>
          </a:xfrm>
          <a:prstGeom prst="rect">
            <a:avLst/>
          </a:prstGeom>
          <a:solidFill>
            <a:srgbClr val="2E7D32"/>
          </a:solidFill>
          <a:ln/>
        </p:spPr>
        <p:txBody>
          <a:bodyPr/>
          <a:lstStyle/>
          <a:p>
            <a:endParaRPr lang="en-IN"/>
          </a:p>
        </p:txBody>
      </p:sp>
      <p:sp>
        <p:nvSpPr>
          <p:cNvPr id="174" name="Text 172"/>
          <p:cNvSpPr txBox="1"/>
          <p:nvPr/>
        </p:nvSpPr>
        <p:spPr>
          <a:xfrm>
            <a:off x="9500616" y="758952"/>
            <a:ext cx="1197864" cy="137160"/>
          </a:xfrm>
          <a:prstGeom prst="rect">
            <a:avLst/>
          </a:prstGeom>
          <a:noFill/>
          <a:ln/>
        </p:spPr>
        <p:txBody>
          <a:bodyPr wrap="square" lIns="0" tIns="0" rIns="0" bIns="0" rtlCol="0" anchor="t"/>
          <a:lstStyle/>
          <a:p>
            <a:pPr marL="0" indent="0" algn="ctr">
              <a:buNone/>
            </a:pPr>
            <a:r>
              <a:rPr lang="en-US" sz="750" kern="0" spc="40" dirty="0">
                <a:solidFill>
                  <a:srgbClr val="FFFFFF"/>
                </a:solidFill>
                <a:latin typeface="Trenda IG Display Semibold" pitchFamily="34" charset="0"/>
                <a:ea typeface="Trenda IG Display Semibold" pitchFamily="34" charset="-122"/>
                <a:cs typeface="Trenda IG Display Semibold" pitchFamily="34" charset="-120"/>
              </a:rPr>
              <a:t>LAYER 8</a:t>
            </a:r>
            <a:endParaRPr lang="en-US" sz="750" dirty="0"/>
          </a:p>
        </p:txBody>
      </p:sp>
      <p:sp>
        <p:nvSpPr>
          <p:cNvPr id="175" name="Text 173"/>
          <p:cNvSpPr txBox="1"/>
          <p:nvPr/>
        </p:nvSpPr>
        <p:spPr>
          <a:xfrm>
            <a:off x="9491472" y="886968"/>
            <a:ext cx="1216152" cy="329184"/>
          </a:xfrm>
          <a:prstGeom prst="rect">
            <a:avLst/>
          </a:prstGeom>
          <a:noFill/>
          <a:ln/>
        </p:spPr>
        <p:txBody>
          <a:bodyPr wrap="square" lIns="0" tIns="0" rIns="0" bIns="0" rtlCol="0" anchor="t"/>
          <a:lstStyle/>
          <a:p>
            <a:pPr marL="0" indent="0" algn="ctr">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Network ContextGraph</a:t>
            </a:r>
            <a:endParaRPr lang="en-US" sz="1000" dirty="0"/>
          </a:p>
        </p:txBody>
      </p:sp>
      <p:sp>
        <p:nvSpPr>
          <p:cNvPr id="176" name="Text 174"/>
          <p:cNvSpPr txBox="1"/>
          <p:nvPr/>
        </p:nvSpPr>
        <p:spPr>
          <a:xfrm>
            <a:off x="9500616" y="1188720"/>
            <a:ext cx="1197864" cy="137160"/>
          </a:xfrm>
          <a:prstGeom prst="rect">
            <a:avLst/>
          </a:prstGeom>
          <a:noFill/>
          <a:ln/>
        </p:spPr>
        <p:txBody>
          <a:bodyPr wrap="square" lIns="0" tIns="0" rIns="0" bIns="0" rtlCol="0" anchor="t"/>
          <a:lstStyle/>
          <a:p>
            <a:pPr marL="0" indent="0" algn="ctr">
              <a:buNone/>
            </a:pPr>
            <a:r>
              <a:rPr lang="en-US" sz="650" dirty="0">
                <a:solidFill>
                  <a:srgbClr val="E4EEF2"/>
                </a:solidFill>
                <a:latin typeface="Trenda IG Text Light" pitchFamily="34" charset="0"/>
                <a:ea typeface="Trenda IG Text Light" pitchFamily="34" charset="-122"/>
                <a:cs typeface="Trenda IG Text Light" pitchFamily="34" charset="-120"/>
              </a:rPr>
              <a:t>Traversals and what-if</a:t>
            </a:r>
            <a:endParaRPr lang="en-US" sz="650" dirty="0"/>
          </a:p>
        </p:txBody>
      </p:sp>
      <p:sp>
        <p:nvSpPr>
          <p:cNvPr id="177" name="Shape 175"/>
          <p:cNvSpPr/>
          <p:nvPr/>
        </p:nvSpPr>
        <p:spPr>
          <a:xfrm>
            <a:off x="9454896" y="1353312"/>
            <a:ext cx="1289304" cy="4334256"/>
          </a:xfrm>
          <a:prstGeom prst="rect">
            <a:avLst/>
          </a:prstGeom>
          <a:solidFill>
            <a:srgbClr val="FFFFFF"/>
          </a:solidFill>
          <a:ln w="9525">
            <a:solidFill>
              <a:srgbClr val="D5D9DE"/>
            </a:solidFill>
            <a:prstDash val="solid"/>
          </a:ln>
        </p:spPr>
        <p:txBody>
          <a:bodyPr/>
          <a:lstStyle/>
          <a:p>
            <a:endParaRPr lang="en-IN"/>
          </a:p>
        </p:txBody>
      </p:sp>
      <p:sp>
        <p:nvSpPr>
          <p:cNvPr id="178" name="Shape 176"/>
          <p:cNvSpPr/>
          <p:nvPr/>
        </p:nvSpPr>
        <p:spPr>
          <a:xfrm>
            <a:off x="9528048" y="1467612"/>
            <a:ext cx="64008" cy="64008"/>
          </a:xfrm>
          <a:prstGeom prst="rect">
            <a:avLst/>
          </a:prstGeom>
          <a:solidFill>
            <a:srgbClr val="2E7D32"/>
          </a:solidFill>
          <a:ln/>
        </p:spPr>
        <p:txBody>
          <a:bodyPr/>
          <a:lstStyle/>
          <a:p>
            <a:endParaRPr lang="en-IN"/>
          </a:p>
        </p:txBody>
      </p:sp>
      <p:sp>
        <p:nvSpPr>
          <p:cNvPr id="179" name="Text 177"/>
          <p:cNvSpPr txBox="1"/>
          <p:nvPr/>
        </p:nvSpPr>
        <p:spPr>
          <a:xfrm>
            <a:off x="9628632" y="1435608"/>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2E7D32"/>
                </a:solidFill>
                <a:latin typeface="Trenda IG Display Bold" pitchFamily="34" charset="0"/>
                <a:ea typeface="Trenda IG Display Bold" pitchFamily="34" charset="-122"/>
                <a:cs typeface="Trenda IG Display Bold" pitchFamily="34" charset="-120"/>
              </a:rPr>
              <a:t>Graph runtime</a:t>
            </a:r>
            <a:endParaRPr lang="en-US" sz="800" dirty="0"/>
          </a:p>
        </p:txBody>
      </p:sp>
      <p:sp>
        <p:nvSpPr>
          <p:cNvPr id="180" name="Text 178"/>
          <p:cNvSpPr txBox="1"/>
          <p:nvPr/>
        </p:nvSpPr>
        <p:spPr>
          <a:xfrm>
            <a:off x="9528048" y="160538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Typed nodes and edges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Weights: time, volume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As-of views on any date</a:t>
            </a:r>
            <a:endParaRPr lang="en-US" sz="700" dirty="0"/>
          </a:p>
        </p:txBody>
      </p:sp>
      <p:sp>
        <p:nvSpPr>
          <p:cNvPr id="181" name="Shape 179"/>
          <p:cNvSpPr/>
          <p:nvPr/>
        </p:nvSpPr>
        <p:spPr>
          <a:xfrm>
            <a:off x="9528048" y="2072183"/>
            <a:ext cx="64008" cy="64008"/>
          </a:xfrm>
          <a:prstGeom prst="rect">
            <a:avLst/>
          </a:prstGeom>
          <a:solidFill>
            <a:srgbClr val="2E7D32"/>
          </a:solidFill>
          <a:ln/>
        </p:spPr>
        <p:txBody>
          <a:bodyPr/>
          <a:lstStyle/>
          <a:p>
            <a:endParaRPr lang="en-IN"/>
          </a:p>
        </p:txBody>
      </p:sp>
      <p:sp>
        <p:nvSpPr>
          <p:cNvPr id="182" name="Text 180"/>
          <p:cNvSpPr txBox="1"/>
          <p:nvPr/>
        </p:nvSpPr>
        <p:spPr>
          <a:xfrm>
            <a:off x="9628632" y="2040179"/>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2E7D32"/>
                </a:solidFill>
                <a:latin typeface="Trenda IG Display Bold" pitchFamily="34" charset="0"/>
                <a:ea typeface="Trenda IG Display Bold" pitchFamily="34" charset="-122"/>
                <a:cs typeface="Trenda IG Display Bold" pitchFamily="34" charset="-120"/>
              </a:rPr>
              <a:t>Traversals</a:t>
            </a:r>
            <a:endParaRPr lang="en-US" sz="800" dirty="0"/>
          </a:p>
        </p:txBody>
      </p:sp>
      <p:sp>
        <p:nvSpPr>
          <p:cNvPr id="183" name="Text 181"/>
          <p:cNvSpPr txBox="1"/>
          <p:nvPr/>
        </p:nvSpPr>
        <p:spPr>
          <a:xfrm>
            <a:off x="9528048" y="2209952"/>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coverage_path(geo, svc)</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missing_edge(dmd, sup)</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blast_radius(prv)</a:t>
            </a:r>
            <a:endParaRPr lang="en-US" sz="700" dirty="0"/>
          </a:p>
        </p:txBody>
      </p:sp>
      <p:sp>
        <p:nvSpPr>
          <p:cNvPr id="184" name="Shape 182"/>
          <p:cNvSpPr/>
          <p:nvPr/>
        </p:nvSpPr>
        <p:spPr>
          <a:xfrm>
            <a:off x="9528048" y="2676754"/>
            <a:ext cx="64008" cy="64008"/>
          </a:xfrm>
          <a:prstGeom prst="rect">
            <a:avLst/>
          </a:prstGeom>
          <a:solidFill>
            <a:srgbClr val="2E7D32"/>
          </a:solidFill>
          <a:ln/>
        </p:spPr>
        <p:txBody>
          <a:bodyPr/>
          <a:lstStyle/>
          <a:p>
            <a:endParaRPr lang="en-IN"/>
          </a:p>
        </p:txBody>
      </p:sp>
      <p:sp>
        <p:nvSpPr>
          <p:cNvPr id="185" name="Text 183"/>
          <p:cNvSpPr txBox="1"/>
          <p:nvPr/>
        </p:nvSpPr>
        <p:spPr>
          <a:xfrm>
            <a:off x="9628632" y="2644750"/>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2E7D32"/>
                </a:solidFill>
                <a:latin typeface="Trenda IG Display Bold" pitchFamily="34" charset="0"/>
                <a:ea typeface="Trenda IG Display Bold" pitchFamily="34" charset="-122"/>
                <a:cs typeface="Trenda IG Display Bold" pitchFamily="34" charset="-120"/>
              </a:rPr>
              <a:t>Vector plane</a:t>
            </a:r>
            <a:endParaRPr lang="en-US" sz="800" dirty="0"/>
          </a:p>
        </p:txBody>
      </p:sp>
      <p:sp>
        <p:nvSpPr>
          <p:cNvPr id="186" name="Text 184"/>
          <p:cNvSpPr txBox="1"/>
          <p:nvPr/>
        </p:nvSpPr>
        <p:spPr>
          <a:xfrm>
            <a:off x="9528048" y="2814523"/>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Embeddings per type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Substitutability search</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Anchor symbolic, rank vector</a:t>
            </a:r>
            <a:endParaRPr lang="en-US" sz="700" dirty="0"/>
          </a:p>
        </p:txBody>
      </p:sp>
      <p:sp>
        <p:nvSpPr>
          <p:cNvPr id="187" name="Shape 185"/>
          <p:cNvSpPr/>
          <p:nvPr/>
        </p:nvSpPr>
        <p:spPr>
          <a:xfrm>
            <a:off x="9528048" y="3385871"/>
            <a:ext cx="64008" cy="64008"/>
          </a:xfrm>
          <a:prstGeom prst="rect">
            <a:avLst/>
          </a:prstGeom>
          <a:solidFill>
            <a:srgbClr val="2E7D32"/>
          </a:solidFill>
          <a:ln/>
        </p:spPr>
        <p:txBody>
          <a:bodyPr/>
          <a:lstStyle/>
          <a:p>
            <a:endParaRPr lang="en-IN"/>
          </a:p>
        </p:txBody>
      </p:sp>
      <p:sp>
        <p:nvSpPr>
          <p:cNvPr id="188" name="Text 186"/>
          <p:cNvSpPr txBox="1"/>
          <p:nvPr/>
        </p:nvSpPr>
        <p:spPr>
          <a:xfrm>
            <a:off x="9628632" y="3353867"/>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2E7D32"/>
                </a:solidFill>
                <a:latin typeface="Trenda IG Display Bold" pitchFamily="34" charset="0"/>
                <a:ea typeface="Trenda IG Display Bold" pitchFamily="34" charset="-122"/>
                <a:cs typeface="Trenda IG Display Bold" pitchFamily="34" charset="-120"/>
              </a:rPr>
              <a:t>Shadow graph</a:t>
            </a:r>
            <a:endParaRPr lang="en-US" sz="800" dirty="0"/>
          </a:p>
        </p:txBody>
      </p:sp>
      <p:sp>
        <p:nvSpPr>
          <p:cNvPr id="189" name="Text 187"/>
          <p:cNvSpPr txBox="1"/>
          <p:nvPr/>
        </p:nvSpPr>
        <p:spPr>
          <a:xfrm>
            <a:off x="9528048" y="3523640"/>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Copy on write namespace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Insert hypothetical nodes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Diff against base</a:t>
            </a:r>
            <a:endParaRPr lang="en-US" sz="700" dirty="0"/>
          </a:p>
        </p:txBody>
      </p:sp>
      <p:sp>
        <p:nvSpPr>
          <p:cNvPr id="190" name="Shape 188"/>
          <p:cNvSpPr/>
          <p:nvPr/>
        </p:nvSpPr>
        <p:spPr>
          <a:xfrm>
            <a:off x="9528048" y="3990442"/>
            <a:ext cx="64008" cy="64008"/>
          </a:xfrm>
          <a:prstGeom prst="rect">
            <a:avLst/>
          </a:prstGeom>
          <a:solidFill>
            <a:srgbClr val="2E7D32"/>
          </a:solidFill>
          <a:ln/>
        </p:spPr>
        <p:txBody>
          <a:bodyPr/>
          <a:lstStyle/>
          <a:p>
            <a:endParaRPr lang="en-IN"/>
          </a:p>
        </p:txBody>
      </p:sp>
      <p:sp>
        <p:nvSpPr>
          <p:cNvPr id="191" name="Text 189"/>
          <p:cNvSpPr txBox="1"/>
          <p:nvPr/>
        </p:nvSpPr>
        <p:spPr>
          <a:xfrm>
            <a:off x="9628632" y="3958438"/>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2E7D32"/>
                </a:solidFill>
                <a:latin typeface="Trenda IG Display Bold" pitchFamily="34" charset="0"/>
                <a:ea typeface="Trenda IG Display Bold" pitchFamily="34" charset="-122"/>
                <a:cs typeface="Trenda IG Display Bold" pitchFamily="34" charset="-120"/>
              </a:rPr>
              <a:t>Prediction plane</a:t>
            </a:r>
            <a:endParaRPr lang="en-US" sz="800" dirty="0"/>
          </a:p>
        </p:txBody>
      </p:sp>
      <p:sp>
        <p:nvSpPr>
          <p:cNvPr id="192" name="Text 190"/>
          <p:cNvSpPr txBox="1"/>
          <p:nvPr/>
        </p:nvSpPr>
        <p:spPr>
          <a:xfrm>
            <a:off x="9528048" y="4128211"/>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Model registry per target</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Calibrated score plus reasons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Written back as a signal</a:t>
            </a:r>
            <a:endParaRPr lang="en-US" sz="700" dirty="0"/>
          </a:p>
        </p:txBody>
      </p:sp>
      <p:sp>
        <p:nvSpPr>
          <p:cNvPr id="193" name="Shape 191"/>
          <p:cNvSpPr/>
          <p:nvPr/>
        </p:nvSpPr>
        <p:spPr>
          <a:xfrm>
            <a:off x="9528048" y="4699559"/>
            <a:ext cx="64008" cy="64008"/>
          </a:xfrm>
          <a:prstGeom prst="rect">
            <a:avLst/>
          </a:prstGeom>
          <a:solidFill>
            <a:srgbClr val="2E7D32"/>
          </a:solidFill>
          <a:ln/>
        </p:spPr>
        <p:txBody>
          <a:bodyPr/>
          <a:lstStyle/>
          <a:p>
            <a:endParaRPr lang="en-IN"/>
          </a:p>
        </p:txBody>
      </p:sp>
      <p:sp>
        <p:nvSpPr>
          <p:cNvPr id="194" name="Text 192"/>
          <p:cNvSpPr txBox="1"/>
          <p:nvPr/>
        </p:nvSpPr>
        <p:spPr>
          <a:xfrm>
            <a:off x="9628632" y="4667555"/>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2E7D32"/>
                </a:solidFill>
                <a:latin typeface="Trenda IG Display Bold" pitchFamily="34" charset="0"/>
                <a:ea typeface="Trenda IG Display Bold" pitchFamily="34" charset="-122"/>
                <a:cs typeface="Trenda IG Display Bold" pitchFamily="34" charset="-120"/>
              </a:rPr>
              <a:t>Analytics</a:t>
            </a:r>
            <a:endParaRPr lang="en-US" sz="800" dirty="0"/>
          </a:p>
        </p:txBody>
      </p:sp>
      <p:sp>
        <p:nvSpPr>
          <p:cNvPr id="195" name="Text 193"/>
          <p:cNvSpPr txBox="1"/>
          <p:nvPr/>
        </p:nvSpPr>
        <p:spPr>
          <a:xfrm>
            <a:off x="9528048" y="4837328"/>
            <a:ext cx="1188720" cy="16017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Set cover: fewest hires</a:t>
            </a:r>
            <a:endParaRPr lang="en-US" sz="700" dirty="0"/>
          </a:p>
        </p:txBody>
      </p:sp>
      <p:sp>
        <p:nvSpPr>
          <p:cNvPr id="196" name="Shape 194"/>
          <p:cNvSpPr/>
          <p:nvPr/>
        </p:nvSpPr>
        <p:spPr>
          <a:xfrm>
            <a:off x="9454896" y="5230368"/>
            <a:ext cx="1289304" cy="457200"/>
          </a:xfrm>
          <a:prstGeom prst="rect">
            <a:avLst/>
          </a:prstGeom>
          <a:solidFill>
            <a:srgbClr val="2E7D32"/>
          </a:solidFill>
          <a:ln/>
        </p:spPr>
        <p:txBody>
          <a:bodyPr/>
          <a:lstStyle/>
          <a:p>
            <a:endParaRPr lang="en-IN"/>
          </a:p>
        </p:txBody>
      </p:sp>
      <p:sp>
        <p:nvSpPr>
          <p:cNvPr id="197" name="Text 195"/>
          <p:cNvSpPr txBox="1"/>
          <p:nvPr/>
        </p:nvSpPr>
        <p:spPr>
          <a:xfrm>
            <a:off x="9528048" y="5276088"/>
            <a:ext cx="1143000" cy="128016"/>
          </a:xfrm>
          <a:prstGeom prst="rect">
            <a:avLst/>
          </a:prstGeom>
          <a:noFill/>
          <a:ln/>
        </p:spPr>
        <p:txBody>
          <a:bodyPr wrap="square" lIns="0" tIns="0" rIns="0" bIns="0" rtlCol="0" anchor="t"/>
          <a:lstStyle/>
          <a:p>
            <a:pPr marL="0" indent="0">
              <a:buNone/>
            </a:pPr>
            <a:r>
              <a:rPr lang="en-US" sz="650" kern="0" spc="4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198" name="Text 196"/>
          <p:cNvSpPr txBox="1"/>
          <p:nvPr/>
        </p:nvSpPr>
        <p:spPr>
          <a:xfrm>
            <a:off x="9528048" y="5404104"/>
            <a:ext cx="1143000" cy="274320"/>
          </a:xfrm>
          <a:prstGeom prst="rect">
            <a:avLst/>
          </a:prstGeom>
          <a:noFill/>
          <a:ln/>
        </p:spPr>
        <p:txBody>
          <a:bodyPr wrap="square" lIns="0" tIns="0" rIns="0" bIns="0" rtlCol="0" anchor="t"/>
          <a:lstStyle/>
          <a:p>
            <a:pPr marL="0" indent="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Gap, blast radius and what-if in under a second</a:t>
            </a:r>
            <a:endParaRPr lang="en-US" sz="700" dirty="0"/>
          </a:p>
        </p:txBody>
      </p:sp>
      <p:sp>
        <p:nvSpPr>
          <p:cNvPr id="199" name="Text 197"/>
          <p:cNvSpPr txBox="1"/>
          <p:nvPr/>
        </p:nvSpPr>
        <p:spPr>
          <a:xfrm>
            <a:off x="10742371" y="914400"/>
            <a:ext cx="49378" cy="128016"/>
          </a:xfrm>
          <a:prstGeom prst="rect">
            <a:avLst/>
          </a:prstGeom>
          <a:noFill/>
          <a:ln/>
        </p:spPr>
        <p:txBody>
          <a:bodyPr wrap="square" lIns="0" tIns="0" rIns="0" bIns="0" rtlCol="0" anchor="t"/>
          <a:lstStyle/>
          <a:p>
            <a:pPr marL="0" indent="0" algn="ctr">
              <a:buNone/>
            </a:pPr>
            <a:r>
              <a:rPr lang="en-US" sz="450" dirty="0">
                <a:solidFill>
                  <a:srgbClr val="9AA4B0"/>
                </a:solidFill>
                <a:latin typeface="Trenda IG Text" pitchFamily="34" charset="0"/>
                <a:ea typeface="Trenda IG Text" pitchFamily="34" charset="-122"/>
                <a:cs typeface="Trenda IG Text" pitchFamily="34" charset="-120"/>
              </a:rPr>
              <a:t>▶</a:t>
            </a:r>
            <a:endParaRPr lang="en-US" sz="450" dirty="0"/>
          </a:p>
        </p:txBody>
      </p:sp>
      <p:sp>
        <p:nvSpPr>
          <p:cNvPr id="200" name="Shape 198"/>
          <p:cNvSpPr/>
          <p:nvPr/>
        </p:nvSpPr>
        <p:spPr>
          <a:xfrm>
            <a:off x="10789920" y="713232"/>
            <a:ext cx="1289304" cy="621792"/>
          </a:xfrm>
          <a:prstGeom prst="rect">
            <a:avLst/>
          </a:prstGeom>
          <a:solidFill>
            <a:srgbClr val="00757F"/>
          </a:solidFill>
          <a:ln/>
        </p:spPr>
        <p:txBody>
          <a:bodyPr/>
          <a:lstStyle/>
          <a:p>
            <a:endParaRPr lang="en-IN"/>
          </a:p>
        </p:txBody>
      </p:sp>
      <p:sp>
        <p:nvSpPr>
          <p:cNvPr id="201" name="Text 199"/>
          <p:cNvSpPr txBox="1"/>
          <p:nvPr/>
        </p:nvSpPr>
        <p:spPr>
          <a:xfrm>
            <a:off x="10835640" y="758952"/>
            <a:ext cx="1197864" cy="137160"/>
          </a:xfrm>
          <a:prstGeom prst="rect">
            <a:avLst/>
          </a:prstGeom>
          <a:noFill/>
          <a:ln/>
        </p:spPr>
        <p:txBody>
          <a:bodyPr wrap="square" lIns="0" tIns="0" rIns="0" bIns="0" rtlCol="0" anchor="t"/>
          <a:lstStyle/>
          <a:p>
            <a:pPr marL="0" indent="0" algn="ctr">
              <a:buNone/>
            </a:pPr>
            <a:r>
              <a:rPr lang="en-US" sz="750" kern="0" spc="40" dirty="0">
                <a:solidFill>
                  <a:srgbClr val="FFFFFF"/>
                </a:solidFill>
                <a:latin typeface="Trenda IG Display Semibold" pitchFamily="34" charset="0"/>
                <a:ea typeface="Trenda IG Display Semibold" pitchFamily="34" charset="-122"/>
                <a:cs typeface="Trenda IG Display Semibold" pitchFamily="34" charset="-120"/>
              </a:rPr>
              <a:t>LAYER 9</a:t>
            </a:r>
            <a:endParaRPr lang="en-US" sz="750" dirty="0"/>
          </a:p>
        </p:txBody>
      </p:sp>
      <p:sp>
        <p:nvSpPr>
          <p:cNvPr id="202" name="Text 200"/>
          <p:cNvSpPr txBox="1"/>
          <p:nvPr/>
        </p:nvSpPr>
        <p:spPr>
          <a:xfrm>
            <a:off x="10826496" y="886968"/>
            <a:ext cx="1216152" cy="329184"/>
          </a:xfrm>
          <a:prstGeom prst="rect">
            <a:avLst/>
          </a:prstGeom>
          <a:noFill/>
          <a:ln/>
        </p:spPr>
        <p:txBody>
          <a:bodyPr wrap="square" lIns="0" tIns="0" rIns="0" bIns="0" rtlCol="0" anchor="t"/>
          <a:lstStyle/>
          <a:p>
            <a:pPr marL="0" indent="0" algn="ctr">
              <a:lnSpc>
                <a:spcPct val="92000"/>
              </a:lnSpc>
              <a:buNone/>
            </a:pPr>
            <a:r>
              <a:rPr lang="en-US" sz="1000" dirty="0">
                <a:solidFill>
                  <a:srgbClr val="FFFFFF"/>
                </a:solidFill>
                <a:latin typeface="Trenda IG Display Bold" pitchFamily="34" charset="0"/>
                <a:ea typeface="Trenda IG Display Bold" pitchFamily="34" charset="-122"/>
                <a:cs typeface="Trenda IG Display Bold" pitchFamily="34" charset="-120"/>
              </a:rPr>
              <a:t>Gap Engines and API</a:t>
            </a:r>
            <a:endParaRPr lang="en-US" sz="1000" dirty="0"/>
          </a:p>
        </p:txBody>
      </p:sp>
      <p:sp>
        <p:nvSpPr>
          <p:cNvPr id="203" name="Text 201"/>
          <p:cNvSpPr txBox="1"/>
          <p:nvPr/>
        </p:nvSpPr>
        <p:spPr>
          <a:xfrm>
            <a:off x="10835640" y="1188720"/>
            <a:ext cx="1197864" cy="137160"/>
          </a:xfrm>
          <a:prstGeom prst="rect">
            <a:avLst/>
          </a:prstGeom>
          <a:noFill/>
          <a:ln/>
        </p:spPr>
        <p:txBody>
          <a:bodyPr wrap="square" lIns="0" tIns="0" rIns="0" bIns="0" rtlCol="0" anchor="t"/>
          <a:lstStyle/>
          <a:p>
            <a:pPr marL="0" indent="0" algn="ctr">
              <a:buNone/>
            </a:pPr>
            <a:r>
              <a:rPr lang="en-US" sz="650" dirty="0">
                <a:solidFill>
                  <a:srgbClr val="E4EEF2"/>
                </a:solidFill>
                <a:latin typeface="Trenda IG Text Light" pitchFamily="34" charset="0"/>
                <a:ea typeface="Trenda IG Text Light" pitchFamily="34" charset="-122"/>
                <a:cs typeface="Trenda IG Text Light" pitchFamily="34" charset="-120"/>
              </a:rPr>
              <a:t>Twelve scenarios, one engine</a:t>
            </a:r>
            <a:endParaRPr lang="en-US" sz="650" dirty="0"/>
          </a:p>
        </p:txBody>
      </p:sp>
      <p:sp>
        <p:nvSpPr>
          <p:cNvPr id="204" name="Shape 202"/>
          <p:cNvSpPr/>
          <p:nvPr/>
        </p:nvSpPr>
        <p:spPr>
          <a:xfrm>
            <a:off x="10789920" y="1353312"/>
            <a:ext cx="1289304" cy="4334256"/>
          </a:xfrm>
          <a:prstGeom prst="rect">
            <a:avLst/>
          </a:prstGeom>
          <a:solidFill>
            <a:srgbClr val="FFFFFF"/>
          </a:solidFill>
          <a:ln w="9525">
            <a:solidFill>
              <a:srgbClr val="D5D9DE"/>
            </a:solidFill>
            <a:prstDash val="solid"/>
          </a:ln>
        </p:spPr>
        <p:txBody>
          <a:bodyPr/>
          <a:lstStyle/>
          <a:p>
            <a:endParaRPr lang="en-IN"/>
          </a:p>
        </p:txBody>
      </p:sp>
      <p:sp>
        <p:nvSpPr>
          <p:cNvPr id="205" name="Shape 203"/>
          <p:cNvSpPr/>
          <p:nvPr/>
        </p:nvSpPr>
        <p:spPr>
          <a:xfrm>
            <a:off x="10863072" y="1467612"/>
            <a:ext cx="64008" cy="64008"/>
          </a:xfrm>
          <a:prstGeom prst="rect">
            <a:avLst/>
          </a:prstGeom>
          <a:solidFill>
            <a:srgbClr val="00757F"/>
          </a:solidFill>
          <a:ln/>
        </p:spPr>
        <p:txBody>
          <a:bodyPr/>
          <a:lstStyle/>
          <a:p>
            <a:endParaRPr lang="en-IN"/>
          </a:p>
        </p:txBody>
      </p:sp>
      <p:sp>
        <p:nvSpPr>
          <p:cNvPr id="206" name="Text 204"/>
          <p:cNvSpPr txBox="1"/>
          <p:nvPr/>
        </p:nvSpPr>
        <p:spPr>
          <a:xfrm>
            <a:off x="10963656" y="1435608"/>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00757F"/>
                </a:solidFill>
                <a:latin typeface="Trenda IG Display Bold" pitchFamily="34" charset="0"/>
                <a:ea typeface="Trenda IG Display Bold" pitchFamily="34" charset="-122"/>
                <a:cs typeface="Trenda IG Display Bold" pitchFamily="34" charset="-120"/>
              </a:rPr>
              <a:t>Gap engines</a:t>
            </a:r>
            <a:endParaRPr lang="en-US" sz="800" dirty="0"/>
          </a:p>
        </p:txBody>
      </p:sp>
      <p:sp>
        <p:nvSpPr>
          <p:cNvPr id="207" name="Text 205"/>
          <p:cNvSpPr txBox="1"/>
          <p:nvPr/>
        </p:nvSpPr>
        <p:spPr>
          <a:xfrm>
            <a:off x="10863072" y="1605382"/>
            <a:ext cx="1188720" cy="654558"/>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access_gap()</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idle_supply_gap()</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credential_gap()</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line_completeness()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leakage_gap()</a:t>
            </a:r>
            <a:endParaRPr lang="en-US" sz="700" dirty="0"/>
          </a:p>
        </p:txBody>
      </p:sp>
      <p:sp>
        <p:nvSpPr>
          <p:cNvPr id="208" name="Shape 206"/>
          <p:cNvSpPr/>
          <p:nvPr/>
        </p:nvSpPr>
        <p:spPr>
          <a:xfrm>
            <a:off x="10863072" y="2319376"/>
            <a:ext cx="64008" cy="64008"/>
          </a:xfrm>
          <a:prstGeom prst="rect">
            <a:avLst/>
          </a:prstGeom>
          <a:solidFill>
            <a:srgbClr val="00757F"/>
          </a:solidFill>
          <a:ln/>
        </p:spPr>
        <p:txBody>
          <a:bodyPr/>
          <a:lstStyle/>
          <a:p>
            <a:endParaRPr lang="en-IN"/>
          </a:p>
        </p:txBody>
      </p:sp>
      <p:sp>
        <p:nvSpPr>
          <p:cNvPr id="209" name="Text 207"/>
          <p:cNvSpPr txBox="1"/>
          <p:nvPr/>
        </p:nvSpPr>
        <p:spPr>
          <a:xfrm>
            <a:off x="10963656" y="2287372"/>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00757F"/>
                </a:solidFill>
                <a:latin typeface="Trenda IG Display Bold" pitchFamily="34" charset="0"/>
                <a:ea typeface="Trenda IG Display Bold" pitchFamily="34" charset="-122"/>
                <a:cs typeface="Trenda IG Display Bold" pitchFamily="34" charset="-120"/>
              </a:rPr>
              <a:t>Query API</a:t>
            </a:r>
            <a:endParaRPr lang="en-US" sz="800" dirty="0"/>
          </a:p>
        </p:txBody>
      </p:sp>
      <p:sp>
        <p:nvSpPr>
          <p:cNvPr id="210" name="Text 208"/>
          <p:cNvSpPr txBox="1"/>
          <p:nvPr/>
        </p:nvSpPr>
        <p:spPr>
          <a:xfrm>
            <a:off x="10863072" y="2457145"/>
            <a:ext cx="1188720" cy="635508"/>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graph.query, gap.rank</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appointment.risk(id)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slot.backfill(), whatif.simulate</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cohort.build, asof(date)</a:t>
            </a:r>
            <a:endParaRPr lang="en-US" sz="700" dirty="0"/>
          </a:p>
        </p:txBody>
      </p:sp>
      <p:sp>
        <p:nvSpPr>
          <p:cNvPr id="211" name="Shape 209"/>
          <p:cNvSpPr/>
          <p:nvPr/>
        </p:nvSpPr>
        <p:spPr>
          <a:xfrm>
            <a:off x="10863072" y="3152089"/>
            <a:ext cx="64008" cy="64008"/>
          </a:xfrm>
          <a:prstGeom prst="rect">
            <a:avLst/>
          </a:prstGeom>
          <a:solidFill>
            <a:srgbClr val="00757F"/>
          </a:solidFill>
          <a:ln/>
        </p:spPr>
        <p:txBody>
          <a:bodyPr/>
          <a:lstStyle/>
          <a:p>
            <a:endParaRPr lang="en-IN"/>
          </a:p>
        </p:txBody>
      </p:sp>
      <p:sp>
        <p:nvSpPr>
          <p:cNvPr id="212" name="Text 210"/>
          <p:cNvSpPr txBox="1"/>
          <p:nvPr/>
        </p:nvSpPr>
        <p:spPr>
          <a:xfrm>
            <a:off x="10963656" y="3120085"/>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00757F"/>
                </a:solidFill>
                <a:latin typeface="Trenda IG Display Bold" pitchFamily="34" charset="0"/>
                <a:ea typeface="Trenda IG Display Bold" pitchFamily="34" charset="-122"/>
                <a:cs typeface="Trenda IG Display Bold" pitchFamily="34" charset="-120"/>
              </a:rPr>
              <a:t>Policy at query time</a:t>
            </a:r>
            <a:endParaRPr lang="en-US" sz="800" dirty="0"/>
          </a:p>
        </p:txBody>
      </p:sp>
      <p:sp>
        <p:nvSpPr>
          <p:cNvPr id="213" name="Text 211"/>
          <p:cNvSpPr txBox="1"/>
          <p:nvPr/>
        </p:nvSpPr>
        <p:spPr>
          <a:xfrm>
            <a:off x="10863072" y="3289859"/>
            <a:ext cx="1188720" cy="511912"/>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Purpose of use required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Minimum necessary compiled</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k-anonymity pre-return</a:t>
            </a:r>
            <a:endParaRPr lang="en-US" sz="700" dirty="0"/>
          </a:p>
        </p:txBody>
      </p:sp>
      <p:sp>
        <p:nvSpPr>
          <p:cNvPr id="214" name="Shape 212"/>
          <p:cNvSpPr/>
          <p:nvPr/>
        </p:nvSpPr>
        <p:spPr>
          <a:xfrm>
            <a:off x="10863072" y="3861206"/>
            <a:ext cx="64008" cy="64008"/>
          </a:xfrm>
          <a:prstGeom prst="rect">
            <a:avLst/>
          </a:prstGeom>
          <a:solidFill>
            <a:srgbClr val="00757F"/>
          </a:solidFill>
          <a:ln/>
        </p:spPr>
        <p:txBody>
          <a:bodyPr/>
          <a:lstStyle/>
          <a:p>
            <a:endParaRPr lang="en-IN"/>
          </a:p>
        </p:txBody>
      </p:sp>
      <p:sp>
        <p:nvSpPr>
          <p:cNvPr id="215" name="Text 213"/>
          <p:cNvSpPr txBox="1"/>
          <p:nvPr/>
        </p:nvSpPr>
        <p:spPr>
          <a:xfrm>
            <a:off x="10963656" y="3829202"/>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00757F"/>
                </a:solidFill>
                <a:latin typeface="Trenda IG Display Bold" pitchFamily="34" charset="0"/>
                <a:ea typeface="Trenda IG Display Bold" pitchFamily="34" charset="-122"/>
                <a:cs typeface="Trenda IG Display Bold" pitchFamily="34" charset="-120"/>
              </a:rPr>
              <a:t>Feature packs</a:t>
            </a:r>
            <a:endParaRPr lang="en-US" sz="800" dirty="0"/>
          </a:p>
        </p:txBody>
      </p:sp>
      <p:sp>
        <p:nvSpPr>
          <p:cNvPr id="216" name="Text 214"/>
          <p:cNvSpPr txBox="1"/>
          <p:nvPr/>
        </p:nvSpPr>
        <p:spPr>
          <a:xfrm>
            <a:off x="10863072" y="3998976"/>
            <a:ext cx="1188720" cy="407365"/>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Declare entities and spec</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Declare signals and gaps</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Campaigns come for free</a:t>
            </a:r>
            <a:endParaRPr lang="en-US" sz="700" dirty="0"/>
          </a:p>
        </p:txBody>
      </p:sp>
      <p:sp>
        <p:nvSpPr>
          <p:cNvPr id="217" name="Shape 215"/>
          <p:cNvSpPr/>
          <p:nvPr/>
        </p:nvSpPr>
        <p:spPr>
          <a:xfrm>
            <a:off x="10863072" y="4465777"/>
            <a:ext cx="64008" cy="64008"/>
          </a:xfrm>
          <a:prstGeom prst="rect">
            <a:avLst/>
          </a:prstGeom>
          <a:solidFill>
            <a:srgbClr val="00757F"/>
          </a:solidFill>
          <a:ln/>
        </p:spPr>
        <p:txBody>
          <a:bodyPr/>
          <a:lstStyle/>
          <a:p>
            <a:endParaRPr lang="en-IN"/>
          </a:p>
        </p:txBody>
      </p:sp>
      <p:sp>
        <p:nvSpPr>
          <p:cNvPr id="218" name="Text 216"/>
          <p:cNvSpPr txBox="1"/>
          <p:nvPr/>
        </p:nvSpPr>
        <p:spPr>
          <a:xfrm>
            <a:off x="10963656" y="4433773"/>
            <a:ext cx="1051560" cy="142342"/>
          </a:xfrm>
          <a:prstGeom prst="rect">
            <a:avLst/>
          </a:prstGeom>
          <a:noFill/>
          <a:ln/>
        </p:spPr>
        <p:txBody>
          <a:bodyPr wrap="square" lIns="0" tIns="0" rIns="0" bIns="0" rtlCol="0" anchor="t"/>
          <a:lstStyle/>
          <a:p>
            <a:pPr marL="0" indent="0">
              <a:lnSpc>
                <a:spcPct val="98000"/>
              </a:lnSpc>
              <a:buNone/>
            </a:pPr>
            <a:r>
              <a:rPr lang="en-US" sz="800" dirty="0">
                <a:solidFill>
                  <a:srgbClr val="00757F"/>
                </a:solidFill>
                <a:latin typeface="Trenda IG Display Bold" pitchFamily="34" charset="0"/>
                <a:ea typeface="Trenda IG Display Bold" pitchFamily="34" charset="-122"/>
                <a:cs typeface="Trenda IG Display Bold" pitchFamily="34" charset="-120"/>
              </a:rPr>
              <a:t>Output contract</a:t>
            </a:r>
            <a:endParaRPr lang="en-US" sz="800" dirty="0"/>
          </a:p>
        </p:txBody>
      </p:sp>
      <p:sp>
        <p:nvSpPr>
          <p:cNvPr id="219" name="Text 217"/>
          <p:cNvSpPr txBox="1"/>
          <p:nvPr/>
        </p:nvSpPr>
        <p:spPr>
          <a:xfrm>
            <a:off x="10863072" y="4603547"/>
            <a:ext cx="1188720" cy="283769"/>
          </a:xfrm>
          <a:prstGeom prst="rect">
            <a:avLst/>
          </a:prstGeom>
          <a:noFill/>
          <a:ln/>
        </p:spPr>
        <p:txBody>
          <a:bodyPr wrap="square" lIns="0" tIns="0" rIns="0" bIns="0" rtlCol="0" anchor="t"/>
          <a:lstStyle/>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Ranked gap, evidence path</a:t>
            </a:r>
            <a:endParaRPr lang="en-US" sz="700" dirty="0"/>
          </a:p>
          <a:p>
            <a:pPr marL="91440" indent="-91440">
              <a:lnSpc>
                <a:spcPct val="98000"/>
              </a:lnSpc>
              <a:spcAft>
                <a:spcPts val="150"/>
              </a:spcAft>
              <a:buSzPct val="100000"/>
              <a:buChar char="•"/>
            </a:pPr>
            <a:r>
              <a:rPr lang="en-US" sz="700" dirty="0">
                <a:solidFill>
                  <a:srgbClr val="1A1A1A"/>
                </a:solidFill>
                <a:latin typeface="Trenda IG Text" pitchFamily="34" charset="0"/>
                <a:ea typeface="Trenda IG Text" pitchFamily="34" charset="-122"/>
                <a:cs typeface="Trenda IG Text" pitchFamily="34" charset="-120"/>
              </a:rPr>
              <a:t>Action, owner, cohort</a:t>
            </a:r>
            <a:endParaRPr lang="en-US" sz="700" dirty="0"/>
          </a:p>
        </p:txBody>
      </p:sp>
      <p:sp>
        <p:nvSpPr>
          <p:cNvPr id="220" name="Shape 218"/>
          <p:cNvSpPr/>
          <p:nvPr/>
        </p:nvSpPr>
        <p:spPr>
          <a:xfrm>
            <a:off x="10789920" y="5230368"/>
            <a:ext cx="1289304" cy="457200"/>
          </a:xfrm>
          <a:prstGeom prst="rect">
            <a:avLst/>
          </a:prstGeom>
          <a:solidFill>
            <a:srgbClr val="00757F"/>
          </a:solidFill>
          <a:ln/>
        </p:spPr>
        <p:txBody>
          <a:bodyPr/>
          <a:lstStyle/>
          <a:p>
            <a:endParaRPr lang="en-IN"/>
          </a:p>
        </p:txBody>
      </p:sp>
      <p:sp>
        <p:nvSpPr>
          <p:cNvPr id="221" name="Text 219"/>
          <p:cNvSpPr txBox="1"/>
          <p:nvPr/>
        </p:nvSpPr>
        <p:spPr>
          <a:xfrm>
            <a:off x="10863072" y="5276088"/>
            <a:ext cx="1143000" cy="128016"/>
          </a:xfrm>
          <a:prstGeom prst="rect">
            <a:avLst/>
          </a:prstGeom>
          <a:noFill/>
          <a:ln/>
        </p:spPr>
        <p:txBody>
          <a:bodyPr wrap="square" lIns="0" tIns="0" rIns="0" bIns="0" rtlCol="0" anchor="t"/>
          <a:lstStyle/>
          <a:p>
            <a:pPr marL="0" indent="0">
              <a:buNone/>
            </a:pPr>
            <a:r>
              <a:rPr lang="en-US" sz="650" kern="0" spc="40" dirty="0">
                <a:solidFill>
                  <a:srgbClr val="CFE6EE"/>
                </a:solidFill>
                <a:latin typeface="Trenda IG Text Semibold" pitchFamily="34" charset="0"/>
                <a:ea typeface="Trenda IG Text Semibold" pitchFamily="34" charset="-122"/>
                <a:cs typeface="Trenda IG Text Semibold" pitchFamily="34" charset="-120"/>
              </a:rPr>
              <a:t>WHAT YOU GET</a:t>
            </a:r>
            <a:endParaRPr lang="en-US" sz="650" dirty="0"/>
          </a:p>
        </p:txBody>
      </p:sp>
      <p:sp>
        <p:nvSpPr>
          <p:cNvPr id="222" name="Text 220"/>
          <p:cNvSpPr txBox="1"/>
          <p:nvPr/>
        </p:nvSpPr>
        <p:spPr>
          <a:xfrm>
            <a:off x="10863072" y="5404104"/>
            <a:ext cx="1143000" cy="274320"/>
          </a:xfrm>
          <a:prstGeom prst="rect">
            <a:avLst/>
          </a:prstGeom>
          <a:noFill/>
          <a:ln/>
        </p:spPr>
        <p:txBody>
          <a:bodyPr wrap="square" lIns="0" tIns="0" rIns="0" bIns="0" rtlCol="0" anchor="t"/>
          <a:lstStyle/>
          <a:p>
            <a:pPr marL="0" indent="0">
              <a:lnSpc>
                <a:spcPct val="97000"/>
              </a:lnSpc>
              <a:buNone/>
            </a:pPr>
            <a:r>
              <a:rPr lang="en-US" sz="700" dirty="0">
                <a:solidFill>
                  <a:srgbClr val="FFFFFF"/>
                </a:solidFill>
                <a:latin typeface="Trenda IG Text Semibold" pitchFamily="34" charset="0"/>
                <a:ea typeface="Trenda IG Text Semibold" pitchFamily="34" charset="-122"/>
                <a:cs typeface="Trenda IG Text Semibold" pitchFamily="34" charset="-120"/>
              </a:rPr>
              <a:t>Ranked, explainable gaps with the action attached</a:t>
            </a:r>
            <a:endParaRPr lang="en-US" sz="700" dirty="0"/>
          </a:p>
        </p:txBody>
      </p:sp>
      <p:sp>
        <p:nvSpPr>
          <p:cNvPr id="223" name="Text 221"/>
          <p:cNvSpPr txBox="1"/>
          <p:nvPr/>
        </p:nvSpPr>
        <p:spPr>
          <a:xfrm>
            <a:off x="109728" y="5742432"/>
            <a:ext cx="914400" cy="256032"/>
          </a:xfrm>
          <a:prstGeom prst="rect">
            <a:avLst/>
          </a:prstGeom>
          <a:noFill/>
          <a:ln/>
        </p:spPr>
        <p:txBody>
          <a:bodyPr wrap="square" lIns="0" tIns="0" rIns="0" bIns="0" rtlCol="0" anchor="t"/>
          <a:lstStyle/>
          <a:p>
            <a:pPr marL="0" indent="0">
              <a:lnSpc>
                <a:spcPct val="95000"/>
              </a:lnSpc>
              <a:buNone/>
            </a:pPr>
            <a:r>
              <a:rPr lang="en-US" sz="600" dirty="0">
                <a:solidFill>
                  <a:srgbClr val="5A6573"/>
                </a:solidFill>
                <a:latin typeface="Trenda IG Text Semibold" pitchFamily="34" charset="0"/>
                <a:ea typeface="Trenda IG Text Semibold" pitchFamily="34" charset="-122"/>
                <a:cs typeface="Trenda IG Text Semibold" pitchFamily="34" charset="-120"/>
              </a:rPr>
              <a:t>HANDOFF</a:t>
            </a:r>
            <a:endParaRPr lang="en-US" sz="600" dirty="0"/>
          </a:p>
          <a:p>
            <a:pPr marL="0" indent="0">
              <a:lnSpc>
                <a:spcPct val="95000"/>
              </a:lnSpc>
              <a:buNone/>
            </a:pPr>
            <a:r>
              <a:rPr lang="en-US" sz="600" dirty="0">
                <a:solidFill>
                  <a:srgbClr val="5A6573"/>
                </a:solidFill>
                <a:latin typeface="Trenda IG Text Semibold" pitchFamily="34" charset="0"/>
                <a:ea typeface="Trenda IG Text Semibold" pitchFamily="34" charset="-122"/>
                <a:cs typeface="Trenda IG Text Semibold" pitchFamily="34" charset="-120"/>
              </a:rPr>
              <a:t>BETWEEN LAYERS</a:t>
            </a:r>
            <a:endParaRPr lang="en-US" sz="600" dirty="0"/>
          </a:p>
        </p:txBody>
      </p:sp>
      <p:sp>
        <p:nvSpPr>
          <p:cNvPr id="224" name="Shape 222"/>
          <p:cNvSpPr/>
          <p:nvPr/>
        </p:nvSpPr>
        <p:spPr>
          <a:xfrm>
            <a:off x="1088136" y="5742432"/>
            <a:ext cx="1325880" cy="256032"/>
          </a:xfrm>
          <a:prstGeom prst="rect">
            <a:avLst/>
          </a:prstGeom>
          <a:solidFill>
            <a:srgbClr val="FFFFFF"/>
          </a:solidFill>
          <a:ln w="9525">
            <a:solidFill>
              <a:srgbClr val="D5D9DE"/>
            </a:solidFill>
            <a:prstDash val="solid"/>
          </a:ln>
        </p:spPr>
        <p:txBody>
          <a:bodyPr/>
          <a:lstStyle/>
          <a:p>
            <a:endParaRPr lang="en-IN"/>
          </a:p>
        </p:txBody>
      </p:sp>
      <p:sp>
        <p:nvSpPr>
          <p:cNvPr id="225" name="Shape 223"/>
          <p:cNvSpPr/>
          <p:nvPr/>
        </p:nvSpPr>
        <p:spPr>
          <a:xfrm>
            <a:off x="1152144" y="5833872"/>
            <a:ext cx="64008" cy="64008"/>
          </a:xfrm>
          <a:prstGeom prst="rect">
            <a:avLst/>
          </a:prstGeom>
          <a:solidFill>
            <a:srgbClr val="1B6BC0"/>
          </a:solidFill>
          <a:ln/>
        </p:spPr>
        <p:txBody>
          <a:bodyPr/>
          <a:lstStyle/>
          <a:p>
            <a:endParaRPr lang="en-IN"/>
          </a:p>
        </p:txBody>
      </p:sp>
      <p:sp>
        <p:nvSpPr>
          <p:cNvPr id="226" name="Text 224"/>
          <p:cNvSpPr txBox="1"/>
          <p:nvPr/>
        </p:nvSpPr>
        <p:spPr>
          <a:xfrm>
            <a:off x="1243584" y="5742432"/>
            <a:ext cx="1133856" cy="256032"/>
          </a:xfrm>
          <a:prstGeom prst="rect">
            <a:avLst/>
          </a:prstGeom>
          <a:noFill/>
          <a:ln/>
        </p:spPr>
        <p:txBody>
          <a:bodyPr wrap="square" lIns="0" tIns="0" rIns="0" bIns="0" rtlCol="0" anchor="ctr"/>
          <a:lstStyle/>
          <a:p>
            <a:pPr marL="0" indent="0">
              <a:buNone/>
            </a:pPr>
            <a:r>
              <a:rPr lang="en-US" sz="630" dirty="0">
                <a:solidFill>
                  <a:srgbClr val="1A1A1A"/>
                </a:solidFill>
                <a:latin typeface="Trenda IG Text" pitchFamily="34" charset="0"/>
                <a:ea typeface="Trenda IG Text" pitchFamily="34" charset="-122"/>
                <a:cs typeface="Trenda IG Text" pitchFamily="34" charset="-120"/>
              </a:rPr>
              <a:t>read only API pull</a:t>
            </a:r>
            <a:endParaRPr lang="en-US" sz="630" dirty="0"/>
          </a:p>
        </p:txBody>
      </p:sp>
      <p:sp>
        <p:nvSpPr>
          <p:cNvPr id="227" name="Shape 225"/>
          <p:cNvSpPr/>
          <p:nvPr/>
        </p:nvSpPr>
        <p:spPr>
          <a:xfrm>
            <a:off x="2466594" y="5742432"/>
            <a:ext cx="1325880" cy="256032"/>
          </a:xfrm>
          <a:prstGeom prst="rect">
            <a:avLst/>
          </a:prstGeom>
          <a:solidFill>
            <a:srgbClr val="FFFFFF"/>
          </a:solidFill>
          <a:ln w="9525">
            <a:solidFill>
              <a:srgbClr val="D5D9DE"/>
            </a:solidFill>
            <a:prstDash val="solid"/>
          </a:ln>
        </p:spPr>
        <p:txBody>
          <a:bodyPr/>
          <a:lstStyle/>
          <a:p>
            <a:endParaRPr lang="en-IN"/>
          </a:p>
        </p:txBody>
      </p:sp>
      <p:sp>
        <p:nvSpPr>
          <p:cNvPr id="228" name="Shape 226"/>
          <p:cNvSpPr/>
          <p:nvPr/>
        </p:nvSpPr>
        <p:spPr>
          <a:xfrm>
            <a:off x="2530602" y="5833872"/>
            <a:ext cx="64008" cy="64008"/>
          </a:xfrm>
          <a:prstGeom prst="rect">
            <a:avLst/>
          </a:prstGeom>
          <a:solidFill>
            <a:srgbClr val="0E8A7D"/>
          </a:solidFill>
          <a:ln/>
        </p:spPr>
        <p:txBody>
          <a:bodyPr/>
          <a:lstStyle/>
          <a:p>
            <a:endParaRPr lang="en-IN"/>
          </a:p>
        </p:txBody>
      </p:sp>
      <p:sp>
        <p:nvSpPr>
          <p:cNvPr id="229" name="Text 227"/>
          <p:cNvSpPr txBox="1"/>
          <p:nvPr/>
        </p:nvSpPr>
        <p:spPr>
          <a:xfrm>
            <a:off x="2622042" y="5742432"/>
            <a:ext cx="1133856" cy="256032"/>
          </a:xfrm>
          <a:prstGeom prst="rect">
            <a:avLst/>
          </a:prstGeom>
          <a:noFill/>
          <a:ln/>
        </p:spPr>
        <p:txBody>
          <a:bodyPr wrap="square" lIns="0" tIns="0" rIns="0" bIns="0" rtlCol="0" anchor="ctr"/>
          <a:lstStyle/>
          <a:p>
            <a:pPr marL="0" indent="0">
              <a:buNone/>
            </a:pPr>
            <a:r>
              <a:rPr lang="en-US" sz="630" dirty="0">
                <a:solidFill>
                  <a:srgbClr val="1A1A1A"/>
                </a:solidFill>
                <a:latin typeface="Trenda IG Text" pitchFamily="34" charset="0"/>
                <a:ea typeface="Trenda IG Text" pitchFamily="34" charset="-122"/>
                <a:cs typeface="Trenda IG Text" pitchFamily="34" charset="-120"/>
              </a:rPr>
              <a:t>bytes plus content hash</a:t>
            </a:r>
            <a:endParaRPr lang="en-US" sz="630" dirty="0"/>
          </a:p>
        </p:txBody>
      </p:sp>
      <p:sp>
        <p:nvSpPr>
          <p:cNvPr id="230" name="Shape 228"/>
          <p:cNvSpPr/>
          <p:nvPr/>
        </p:nvSpPr>
        <p:spPr>
          <a:xfrm>
            <a:off x="3845052" y="5742432"/>
            <a:ext cx="1325880" cy="256032"/>
          </a:xfrm>
          <a:prstGeom prst="rect">
            <a:avLst/>
          </a:prstGeom>
          <a:solidFill>
            <a:srgbClr val="FFFFFF"/>
          </a:solidFill>
          <a:ln w="9525">
            <a:solidFill>
              <a:srgbClr val="D5D9DE"/>
            </a:solidFill>
            <a:prstDash val="solid"/>
          </a:ln>
        </p:spPr>
        <p:txBody>
          <a:bodyPr/>
          <a:lstStyle/>
          <a:p>
            <a:endParaRPr lang="en-IN"/>
          </a:p>
        </p:txBody>
      </p:sp>
      <p:sp>
        <p:nvSpPr>
          <p:cNvPr id="231" name="Shape 229"/>
          <p:cNvSpPr/>
          <p:nvPr/>
        </p:nvSpPr>
        <p:spPr>
          <a:xfrm>
            <a:off x="3909060" y="5833872"/>
            <a:ext cx="64008" cy="64008"/>
          </a:xfrm>
          <a:prstGeom prst="rect">
            <a:avLst/>
          </a:prstGeom>
          <a:solidFill>
            <a:srgbClr val="6A1B9A"/>
          </a:solidFill>
          <a:ln/>
        </p:spPr>
        <p:txBody>
          <a:bodyPr/>
          <a:lstStyle/>
          <a:p>
            <a:endParaRPr lang="en-IN"/>
          </a:p>
        </p:txBody>
      </p:sp>
      <p:sp>
        <p:nvSpPr>
          <p:cNvPr id="232" name="Text 230"/>
          <p:cNvSpPr txBox="1"/>
          <p:nvPr/>
        </p:nvSpPr>
        <p:spPr>
          <a:xfrm>
            <a:off x="4000500" y="5742432"/>
            <a:ext cx="1133856" cy="256032"/>
          </a:xfrm>
          <a:prstGeom prst="rect">
            <a:avLst/>
          </a:prstGeom>
          <a:noFill/>
          <a:ln/>
        </p:spPr>
        <p:txBody>
          <a:bodyPr wrap="square" lIns="0" tIns="0" rIns="0" bIns="0" rtlCol="0" anchor="ctr"/>
          <a:lstStyle/>
          <a:p>
            <a:pPr marL="0" indent="0">
              <a:buNone/>
            </a:pPr>
            <a:r>
              <a:rPr lang="en-US" sz="630" dirty="0">
                <a:solidFill>
                  <a:srgbClr val="1A1A1A"/>
                </a:solidFill>
                <a:latin typeface="Trenda IG Text" pitchFamily="34" charset="0"/>
                <a:ea typeface="Trenda IG Text" pitchFamily="34" charset="-122"/>
                <a:cs typeface="Trenda IG Text" pitchFamily="34" charset="-120"/>
              </a:rPr>
              <a:t>tokenised, de-identified</a:t>
            </a:r>
            <a:endParaRPr lang="en-US" sz="630" dirty="0"/>
          </a:p>
        </p:txBody>
      </p:sp>
      <p:sp>
        <p:nvSpPr>
          <p:cNvPr id="233" name="Shape 231"/>
          <p:cNvSpPr/>
          <p:nvPr/>
        </p:nvSpPr>
        <p:spPr>
          <a:xfrm>
            <a:off x="5223510" y="5742432"/>
            <a:ext cx="1325880" cy="256032"/>
          </a:xfrm>
          <a:prstGeom prst="rect">
            <a:avLst/>
          </a:prstGeom>
          <a:solidFill>
            <a:srgbClr val="FFFFFF"/>
          </a:solidFill>
          <a:ln w="9525">
            <a:solidFill>
              <a:srgbClr val="D5D9DE"/>
            </a:solidFill>
            <a:prstDash val="solid"/>
          </a:ln>
        </p:spPr>
        <p:txBody>
          <a:bodyPr/>
          <a:lstStyle/>
          <a:p>
            <a:endParaRPr lang="en-IN"/>
          </a:p>
        </p:txBody>
      </p:sp>
      <p:sp>
        <p:nvSpPr>
          <p:cNvPr id="234" name="Shape 232"/>
          <p:cNvSpPr/>
          <p:nvPr/>
        </p:nvSpPr>
        <p:spPr>
          <a:xfrm>
            <a:off x="5287518" y="5833872"/>
            <a:ext cx="64008" cy="64008"/>
          </a:xfrm>
          <a:prstGeom prst="rect">
            <a:avLst/>
          </a:prstGeom>
          <a:solidFill>
            <a:srgbClr val="7A4FC0"/>
          </a:solidFill>
          <a:ln/>
        </p:spPr>
        <p:txBody>
          <a:bodyPr/>
          <a:lstStyle/>
          <a:p>
            <a:endParaRPr lang="en-IN"/>
          </a:p>
        </p:txBody>
      </p:sp>
      <p:sp>
        <p:nvSpPr>
          <p:cNvPr id="235" name="Text 233"/>
          <p:cNvSpPr txBox="1"/>
          <p:nvPr/>
        </p:nvSpPr>
        <p:spPr>
          <a:xfrm>
            <a:off x="5378958" y="5742432"/>
            <a:ext cx="1133856" cy="256032"/>
          </a:xfrm>
          <a:prstGeom prst="rect">
            <a:avLst/>
          </a:prstGeom>
          <a:noFill/>
          <a:ln/>
        </p:spPr>
        <p:txBody>
          <a:bodyPr wrap="square" lIns="0" tIns="0" rIns="0" bIns="0" rtlCol="0" anchor="ctr"/>
          <a:lstStyle/>
          <a:p>
            <a:pPr marL="0" indent="0">
              <a:buNone/>
            </a:pPr>
            <a:r>
              <a:rPr lang="en-US" sz="630" dirty="0">
                <a:solidFill>
                  <a:srgbClr val="1A1A1A"/>
                </a:solidFill>
                <a:latin typeface="Trenda IG Text" pitchFamily="34" charset="0"/>
                <a:ea typeface="Trenda IG Text" pitchFamily="34" charset="-122"/>
                <a:cs typeface="Trenda IG Text" pitchFamily="34" charset="-120"/>
              </a:rPr>
              <a:t>resolved entities, provenance</a:t>
            </a:r>
            <a:endParaRPr lang="en-US" sz="630" dirty="0"/>
          </a:p>
        </p:txBody>
      </p:sp>
      <p:sp>
        <p:nvSpPr>
          <p:cNvPr id="236" name="Shape 234"/>
          <p:cNvSpPr/>
          <p:nvPr/>
        </p:nvSpPr>
        <p:spPr>
          <a:xfrm>
            <a:off x="6601968" y="5742432"/>
            <a:ext cx="1325880" cy="256032"/>
          </a:xfrm>
          <a:prstGeom prst="rect">
            <a:avLst/>
          </a:prstGeom>
          <a:solidFill>
            <a:srgbClr val="FFFFFF"/>
          </a:solidFill>
          <a:ln w="9525">
            <a:solidFill>
              <a:srgbClr val="D5D9DE"/>
            </a:solidFill>
            <a:prstDash val="solid"/>
          </a:ln>
        </p:spPr>
        <p:txBody>
          <a:bodyPr/>
          <a:lstStyle/>
          <a:p>
            <a:endParaRPr lang="en-IN"/>
          </a:p>
        </p:txBody>
      </p:sp>
      <p:sp>
        <p:nvSpPr>
          <p:cNvPr id="237" name="Shape 235"/>
          <p:cNvSpPr/>
          <p:nvPr/>
        </p:nvSpPr>
        <p:spPr>
          <a:xfrm>
            <a:off x="6665976" y="5833872"/>
            <a:ext cx="64008" cy="64008"/>
          </a:xfrm>
          <a:prstGeom prst="rect">
            <a:avLst/>
          </a:prstGeom>
          <a:solidFill>
            <a:srgbClr val="C2185B"/>
          </a:solidFill>
          <a:ln/>
        </p:spPr>
        <p:txBody>
          <a:bodyPr/>
          <a:lstStyle/>
          <a:p>
            <a:endParaRPr lang="en-IN"/>
          </a:p>
        </p:txBody>
      </p:sp>
      <p:sp>
        <p:nvSpPr>
          <p:cNvPr id="238" name="Text 236"/>
          <p:cNvSpPr txBox="1"/>
          <p:nvPr/>
        </p:nvSpPr>
        <p:spPr>
          <a:xfrm>
            <a:off x="6757416" y="5742432"/>
            <a:ext cx="1133856" cy="256032"/>
          </a:xfrm>
          <a:prstGeom prst="rect">
            <a:avLst/>
          </a:prstGeom>
          <a:noFill/>
          <a:ln/>
        </p:spPr>
        <p:txBody>
          <a:bodyPr wrap="square" lIns="0" tIns="0" rIns="0" bIns="0" rtlCol="0" anchor="ctr"/>
          <a:lstStyle/>
          <a:p>
            <a:pPr marL="0" indent="0">
              <a:buNone/>
            </a:pPr>
            <a:r>
              <a:rPr lang="en-US" sz="630" dirty="0">
                <a:solidFill>
                  <a:srgbClr val="1A1A1A"/>
                </a:solidFill>
                <a:latin typeface="Trenda IG Text" pitchFamily="34" charset="0"/>
                <a:ea typeface="Trenda IG Text" pitchFamily="34" charset="-122"/>
                <a:cs typeface="Trenda IG Text" pitchFamily="34" charset="-120"/>
              </a:rPr>
              <a:t>typed CareNetworkContext</a:t>
            </a:r>
            <a:endParaRPr lang="en-US" sz="630" dirty="0"/>
          </a:p>
        </p:txBody>
      </p:sp>
      <p:sp>
        <p:nvSpPr>
          <p:cNvPr id="239" name="Shape 237"/>
          <p:cNvSpPr/>
          <p:nvPr/>
        </p:nvSpPr>
        <p:spPr>
          <a:xfrm>
            <a:off x="7980426" y="5742432"/>
            <a:ext cx="1325880" cy="256032"/>
          </a:xfrm>
          <a:prstGeom prst="rect">
            <a:avLst/>
          </a:prstGeom>
          <a:solidFill>
            <a:srgbClr val="FFFFFF"/>
          </a:solidFill>
          <a:ln w="9525">
            <a:solidFill>
              <a:srgbClr val="D5D9DE"/>
            </a:solidFill>
            <a:prstDash val="solid"/>
          </a:ln>
        </p:spPr>
        <p:txBody>
          <a:bodyPr/>
          <a:lstStyle/>
          <a:p>
            <a:endParaRPr lang="en-IN"/>
          </a:p>
        </p:txBody>
      </p:sp>
      <p:sp>
        <p:nvSpPr>
          <p:cNvPr id="240" name="Shape 238"/>
          <p:cNvSpPr/>
          <p:nvPr/>
        </p:nvSpPr>
        <p:spPr>
          <a:xfrm>
            <a:off x="8044434" y="5833872"/>
            <a:ext cx="64008" cy="64008"/>
          </a:xfrm>
          <a:prstGeom prst="rect">
            <a:avLst/>
          </a:prstGeom>
          <a:solidFill>
            <a:srgbClr val="C77400"/>
          </a:solidFill>
          <a:ln/>
        </p:spPr>
        <p:txBody>
          <a:bodyPr/>
          <a:lstStyle/>
          <a:p>
            <a:endParaRPr lang="en-IN"/>
          </a:p>
        </p:txBody>
      </p:sp>
      <p:sp>
        <p:nvSpPr>
          <p:cNvPr id="241" name="Text 239"/>
          <p:cNvSpPr txBox="1"/>
          <p:nvPr/>
        </p:nvSpPr>
        <p:spPr>
          <a:xfrm>
            <a:off x="8135874" y="5742432"/>
            <a:ext cx="1133856" cy="256032"/>
          </a:xfrm>
          <a:prstGeom prst="rect">
            <a:avLst/>
          </a:prstGeom>
          <a:noFill/>
          <a:ln/>
        </p:spPr>
        <p:txBody>
          <a:bodyPr wrap="square" lIns="0" tIns="0" rIns="0" bIns="0" rtlCol="0" anchor="ctr"/>
          <a:lstStyle/>
          <a:p>
            <a:pPr marL="0" indent="0">
              <a:buNone/>
            </a:pPr>
            <a:r>
              <a:rPr lang="en-US" sz="630" dirty="0">
                <a:solidFill>
                  <a:srgbClr val="1A1A1A"/>
                </a:solidFill>
                <a:latin typeface="Trenda IG Text" pitchFamily="34" charset="0"/>
                <a:ea typeface="Trenda IG Text" pitchFamily="34" charset="-122"/>
                <a:cs typeface="Trenda IG Text" pitchFamily="34" charset="-120"/>
              </a:rPr>
              <a:t>immutable JSON snapshot</a:t>
            </a:r>
            <a:endParaRPr lang="en-US" sz="630" dirty="0"/>
          </a:p>
        </p:txBody>
      </p:sp>
      <p:sp>
        <p:nvSpPr>
          <p:cNvPr id="242" name="Shape 240"/>
          <p:cNvSpPr/>
          <p:nvPr/>
        </p:nvSpPr>
        <p:spPr>
          <a:xfrm>
            <a:off x="9358884" y="5742432"/>
            <a:ext cx="1325880" cy="256032"/>
          </a:xfrm>
          <a:prstGeom prst="rect">
            <a:avLst/>
          </a:prstGeom>
          <a:solidFill>
            <a:srgbClr val="FFFFFF"/>
          </a:solidFill>
          <a:ln w="9525">
            <a:solidFill>
              <a:srgbClr val="D5D9DE"/>
            </a:solidFill>
            <a:prstDash val="solid"/>
          </a:ln>
        </p:spPr>
        <p:txBody>
          <a:bodyPr/>
          <a:lstStyle/>
          <a:p>
            <a:endParaRPr lang="en-IN"/>
          </a:p>
        </p:txBody>
      </p:sp>
      <p:sp>
        <p:nvSpPr>
          <p:cNvPr id="243" name="Shape 241"/>
          <p:cNvSpPr/>
          <p:nvPr/>
        </p:nvSpPr>
        <p:spPr>
          <a:xfrm>
            <a:off x="9422892" y="5833872"/>
            <a:ext cx="64008" cy="64008"/>
          </a:xfrm>
          <a:prstGeom prst="rect">
            <a:avLst/>
          </a:prstGeom>
          <a:solidFill>
            <a:srgbClr val="C62828"/>
          </a:solidFill>
          <a:ln/>
        </p:spPr>
        <p:txBody>
          <a:bodyPr/>
          <a:lstStyle/>
          <a:p>
            <a:endParaRPr lang="en-IN"/>
          </a:p>
        </p:txBody>
      </p:sp>
      <p:sp>
        <p:nvSpPr>
          <p:cNvPr id="244" name="Text 242"/>
          <p:cNvSpPr txBox="1"/>
          <p:nvPr/>
        </p:nvSpPr>
        <p:spPr>
          <a:xfrm>
            <a:off x="9514332" y="5742432"/>
            <a:ext cx="1133856" cy="256032"/>
          </a:xfrm>
          <a:prstGeom prst="rect">
            <a:avLst/>
          </a:prstGeom>
          <a:noFill/>
          <a:ln/>
        </p:spPr>
        <p:txBody>
          <a:bodyPr wrap="square" lIns="0" tIns="0" rIns="0" bIns="0" rtlCol="0" anchor="ctr"/>
          <a:lstStyle/>
          <a:p>
            <a:pPr marL="0" indent="0">
              <a:buNone/>
            </a:pPr>
            <a:r>
              <a:rPr lang="en-US" sz="630" dirty="0">
                <a:solidFill>
                  <a:srgbClr val="1A1A1A"/>
                </a:solidFill>
                <a:latin typeface="Trenda IG Text" pitchFamily="34" charset="0"/>
                <a:ea typeface="Trenda IG Text" pitchFamily="34" charset="-122"/>
                <a:cs typeface="Trenda IG Text" pitchFamily="34" charset="-120"/>
              </a:rPr>
              <a:t>derived edges, dated indices</a:t>
            </a:r>
            <a:endParaRPr lang="en-US" sz="630" dirty="0"/>
          </a:p>
        </p:txBody>
      </p:sp>
      <p:sp>
        <p:nvSpPr>
          <p:cNvPr id="245" name="Shape 243"/>
          <p:cNvSpPr/>
          <p:nvPr/>
        </p:nvSpPr>
        <p:spPr>
          <a:xfrm>
            <a:off x="10737342" y="5742432"/>
            <a:ext cx="1325880" cy="256032"/>
          </a:xfrm>
          <a:prstGeom prst="rect">
            <a:avLst/>
          </a:prstGeom>
          <a:solidFill>
            <a:srgbClr val="FFFFFF"/>
          </a:solidFill>
          <a:ln w="9525">
            <a:solidFill>
              <a:srgbClr val="D5D9DE"/>
            </a:solidFill>
            <a:prstDash val="solid"/>
          </a:ln>
        </p:spPr>
        <p:txBody>
          <a:bodyPr/>
          <a:lstStyle/>
          <a:p>
            <a:endParaRPr lang="en-IN"/>
          </a:p>
        </p:txBody>
      </p:sp>
      <p:sp>
        <p:nvSpPr>
          <p:cNvPr id="246" name="Shape 244"/>
          <p:cNvSpPr/>
          <p:nvPr/>
        </p:nvSpPr>
        <p:spPr>
          <a:xfrm>
            <a:off x="10801350" y="5833872"/>
            <a:ext cx="64008" cy="64008"/>
          </a:xfrm>
          <a:prstGeom prst="rect">
            <a:avLst/>
          </a:prstGeom>
          <a:solidFill>
            <a:srgbClr val="2E7D32"/>
          </a:solidFill>
          <a:ln/>
        </p:spPr>
        <p:txBody>
          <a:bodyPr/>
          <a:lstStyle/>
          <a:p>
            <a:endParaRPr lang="en-IN"/>
          </a:p>
        </p:txBody>
      </p:sp>
      <p:sp>
        <p:nvSpPr>
          <p:cNvPr id="247" name="Text 245"/>
          <p:cNvSpPr txBox="1"/>
          <p:nvPr/>
        </p:nvSpPr>
        <p:spPr>
          <a:xfrm>
            <a:off x="10892790" y="5742432"/>
            <a:ext cx="1133856" cy="256032"/>
          </a:xfrm>
          <a:prstGeom prst="rect">
            <a:avLst/>
          </a:prstGeom>
          <a:noFill/>
          <a:ln/>
        </p:spPr>
        <p:txBody>
          <a:bodyPr wrap="square" lIns="0" tIns="0" rIns="0" bIns="0" rtlCol="0" anchor="ctr"/>
          <a:lstStyle/>
          <a:p>
            <a:pPr marL="0" indent="0">
              <a:buNone/>
            </a:pPr>
            <a:r>
              <a:rPr lang="en-US" sz="630" dirty="0">
                <a:solidFill>
                  <a:srgbClr val="1A1A1A"/>
                </a:solidFill>
                <a:latin typeface="Trenda IG Text" pitchFamily="34" charset="0"/>
                <a:ea typeface="Trenda IG Text" pitchFamily="34" charset="-122"/>
                <a:cs typeface="Trenda IG Text" pitchFamily="34" charset="-120"/>
              </a:rPr>
              <a:t>graph loaded, traversals ready</a:t>
            </a:r>
            <a:endParaRPr lang="en-US" sz="630" dirty="0"/>
          </a:p>
        </p:txBody>
      </p:sp>
      <p:sp>
        <p:nvSpPr>
          <p:cNvPr id="248" name="Shape 246"/>
          <p:cNvSpPr/>
          <p:nvPr/>
        </p:nvSpPr>
        <p:spPr>
          <a:xfrm>
            <a:off x="109728" y="6071616"/>
            <a:ext cx="2937510" cy="722376"/>
          </a:xfrm>
          <a:prstGeom prst="rect">
            <a:avLst/>
          </a:prstGeom>
          <a:solidFill>
            <a:srgbClr val="FFFFFF"/>
          </a:solidFill>
          <a:ln w="9525">
            <a:solidFill>
              <a:srgbClr val="D5D9DE"/>
            </a:solidFill>
            <a:prstDash val="solid"/>
          </a:ln>
        </p:spPr>
        <p:txBody>
          <a:bodyPr/>
          <a:lstStyle/>
          <a:p>
            <a:endParaRPr lang="en-IN"/>
          </a:p>
        </p:txBody>
      </p:sp>
      <p:sp>
        <p:nvSpPr>
          <p:cNvPr id="249" name="Shape 247"/>
          <p:cNvSpPr/>
          <p:nvPr/>
        </p:nvSpPr>
        <p:spPr>
          <a:xfrm>
            <a:off x="201168" y="6163056"/>
            <a:ext cx="77724" cy="77724"/>
          </a:xfrm>
          <a:prstGeom prst="rect">
            <a:avLst/>
          </a:prstGeom>
          <a:solidFill>
            <a:srgbClr val="7A4FC0"/>
          </a:solidFill>
          <a:ln/>
        </p:spPr>
        <p:txBody>
          <a:bodyPr/>
          <a:lstStyle/>
          <a:p>
            <a:endParaRPr lang="en-IN"/>
          </a:p>
        </p:txBody>
      </p:sp>
      <p:sp>
        <p:nvSpPr>
          <p:cNvPr id="250" name="Text 248"/>
          <p:cNvSpPr txBox="1"/>
          <p:nvPr/>
        </p:nvSpPr>
        <p:spPr>
          <a:xfrm>
            <a:off x="329184" y="6126480"/>
            <a:ext cx="2633472" cy="155448"/>
          </a:xfrm>
          <a:prstGeom prst="rect">
            <a:avLst/>
          </a:prstGeom>
          <a:noFill/>
          <a:ln/>
        </p:spPr>
        <p:txBody>
          <a:bodyPr wrap="square" lIns="0" tIns="0" rIns="0" bIns="0" rtlCol="0" anchor="t"/>
          <a:lstStyle/>
          <a:p>
            <a:pPr marL="0" indent="0">
              <a:buNone/>
            </a:pPr>
            <a:r>
              <a:rPr lang="en-US" sz="800" dirty="0">
                <a:solidFill>
                  <a:srgbClr val="7A4FC0"/>
                </a:solidFill>
                <a:latin typeface="Trenda IG Display Bold" pitchFamily="34" charset="0"/>
                <a:ea typeface="Trenda IG Display Bold" pitchFamily="34" charset="-122"/>
                <a:cs typeface="Trenda IG Display Bold" pitchFamily="34" charset="-120"/>
              </a:rPr>
              <a:t>Provenance and authority</a:t>
            </a:r>
            <a:endParaRPr lang="en-US" sz="800" dirty="0"/>
          </a:p>
        </p:txBody>
      </p:sp>
      <p:sp>
        <p:nvSpPr>
          <p:cNvPr id="251" name="Text 249"/>
          <p:cNvSpPr txBox="1"/>
          <p:nvPr/>
        </p:nvSpPr>
        <p:spPr>
          <a:xfrm>
            <a:off x="201168" y="6309360"/>
            <a:ext cx="2770632" cy="457200"/>
          </a:xfrm>
          <a:prstGeom prst="rect">
            <a:avLst/>
          </a:prstGeom>
          <a:noFill/>
          <a:ln/>
        </p:spPr>
        <p:txBody>
          <a:bodyPr wrap="square" lIns="0" tIns="0" rIns="0" bIns="0" rtlCol="0" anchor="t"/>
          <a:lstStyle/>
          <a:p>
            <a:pPr marL="0" indent="0">
              <a:lnSpc>
                <a:spcPct val="100000"/>
              </a:lnSpc>
              <a:buNone/>
            </a:pPr>
            <a:r>
              <a:rPr lang="en-US" sz="680" dirty="0">
                <a:solidFill>
                  <a:srgbClr val="1A1A1A"/>
                </a:solidFill>
                <a:latin typeface="Trenda IG Text" pitchFamily="34" charset="0"/>
                <a:ea typeface="Trenda IG Text" pitchFamily="34" charset="-122"/>
                <a:cs typeface="Trenda IG Text" pitchFamily="34" charset="-120"/>
              </a:rPr>
              <a:t>Every node and edge carries source, extract id, content hash, retrievedAt and derivation: FACTUAL, INFERRED or MODELLED. Authority stays with the source system. The graph never becomes the system of record for a clinical fact.</a:t>
            </a:r>
            <a:endParaRPr lang="en-US" sz="680" dirty="0"/>
          </a:p>
        </p:txBody>
      </p:sp>
      <p:sp>
        <p:nvSpPr>
          <p:cNvPr id="252" name="Shape 250"/>
          <p:cNvSpPr/>
          <p:nvPr/>
        </p:nvSpPr>
        <p:spPr>
          <a:xfrm>
            <a:off x="3120390" y="6071616"/>
            <a:ext cx="2937510" cy="722376"/>
          </a:xfrm>
          <a:prstGeom prst="rect">
            <a:avLst/>
          </a:prstGeom>
          <a:solidFill>
            <a:srgbClr val="FFFFFF"/>
          </a:solidFill>
          <a:ln w="9525">
            <a:solidFill>
              <a:srgbClr val="D5D9DE"/>
            </a:solidFill>
            <a:prstDash val="solid"/>
          </a:ln>
        </p:spPr>
        <p:txBody>
          <a:bodyPr/>
          <a:lstStyle/>
          <a:p>
            <a:endParaRPr lang="en-IN"/>
          </a:p>
        </p:txBody>
      </p:sp>
      <p:sp>
        <p:nvSpPr>
          <p:cNvPr id="253" name="Shape 251"/>
          <p:cNvSpPr/>
          <p:nvPr/>
        </p:nvSpPr>
        <p:spPr>
          <a:xfrm>
            <a:off x="3211830" y="6163056"/>
            <a:ext cx="77724" cy="77724"/>
          </a:xfrm>
          <a:prstGeom prst="rect">
            <a:avLst/>
          </a:prstGeom>
          <a:solidFill>
            <a:srgbClr val="6A1B9A"/>
          </a:solidFill>
          <a:ln/>
        </p:spPr>
        <p:txBody>
          <a:bodyPr/>
          <a:lstStyle/>
          <a:p>
            <a:endParaRPr lang="en-IN"/>
          </a:p>
        </p:txBody>
      </p:sp>
      <p:sp>
        <p:nvSpPr>
          <p:cNvPr id="254" name="Text 252"/>
          <p:cNvSpPr txBox="1"/>
          <p:nvPr/>
        </p:nvSpPr>
        <p:spPr>
          <a:xfrm>
            <a:off x="3339846" y="6126480"/>
            <a:ext cx="2633472" cy="155448"/>
          </a:xfrm>
          <a:prstGeom prst="rect">
            <a:avLst/>
          </a:prstGeom>
          <a:noFill/>
          <a:ln/>
        </p:spPr>
        <p:txBody>
          <a:bodyPr wrap="square" lIns="0" tIns="0" rIns="0" bIns="0" rtlCol="0" anchor="t"/>
          <a:lstStyle/>
          <a:p>
            <a:pPr marL="0" indent="0">
              <a:buNone/>
            </a:pPr>
            <a:r>
              <a:rPr lang="en-US" sz="800" dirty="0">
                <a:solidFill>
                  <a:srgbClr val="6A1B9A"/>
                </a:solidFill>
                <a:latin typeface="Trenda IG Display Bold" pitchFamily="34" charset="0"/>
                <a:ea typeface="Trenda IG Display Bold" pitchFamily="34" charset="-122"/>
                <a:cs typeface="Trenda IG Display Bold" pitchFamily="34" charset="-120"/>
              </a:rPr>
              <a:t>Threat model, and the control for each</a:t>
            </a:r>
            <a:endParaRPr lang="en-US" sz="800" dirty="0"/>
          </a:p>
        </p:txBody>
      </p:sp>
      <p:sp>
        <p:nvSpPr>
          <p:cNvPr id="255" name="Text 253"/>
          <p:cNvSpPr txBox="1"/>
          <p:nvPr/>
        </p:nvSpPr>
        <p:spPr>
          <a:xfrm>
            <a:off x="3211830" y="6309360"/>
            <a:ext cx="2770632" cy="457200"/>
          </a:xfrm>
          <a:prstGeom prst="rect">
            <a:avLst/>
          </a:prstGeom>
          <a:noFill/>
          <a:ln/>
        </p:spPr>
        <p:txBody>
          <a:bodyPr wrap="square" lIns="0" tIns="0" rIns="0" bIns="0" rtlCol="0" anchor="t"/>
          <a:lstStyle/>
          <a:p>
            <a:pPr marL="0" indent="0">
              <a:lnSpc>
                <a:spcPct val="100000"/>
              </a:lnSpc>
              <a:buNone/>
            </a:pPr>
            <a:r>
              <a:rPr lang="en-US" sz="680" dirty="0">
                <a:solidFill>
                  <a:srgbClr val="1A1A1A"/>
                </a:solidFill>
                <a:latin typeface="Trenda IG Text" pitchFamily="34" charset="0"/>
                <a:ea typeface="Trenda IG Text" pitchFamily="34" charset="-122"/>
                <a:cs typeface="Trenda IG Text" pitchFamily="34" charset="-120"/>
              </a:rPr>
              <a:t>Re-identification from rare attribute combinations: k-anonymity at the query compiler. Insider browsing: purpose of use required per query. PHI reaching a model: aggregates unless BAA covered. Vendor sprawl: no copies leave the boundary.</a:t>
            </a:r>
            <a:endParaRPr lang="en-US" sz="680" dirty="0"/>
          </a:p>
        </p:txBody>
      </p:sp>
      <p:sp>
        <p:nvSpPr>
          <p:cNvPr id="256" name="Shape 254"/>
          <p:cNvSpPr/>
          <p:nvPr/>
        </p:nvSpPr>
        <p:spPr>
          <a:xfrm>
            <a:off x="6131052" y="6071616"/>
            <a:ext cx="2937510" cy="722376"/>
          </a:xfrm>
          <a:prstGeom prst="rect">
            <a:avLst/>
          </a:prstGeom>
          <a:solidFill>
            <a:srgbClr val="FFFFFF"/>
          </a:solidFill>
          <a:ln w="9525">
            <a:solidFill>
              <a:srgbClr val="D5D9DE"/>
            </a:solidFill>
            <a:prstDash val="solid"/>
          </a:ln>
        </p:spPr>
        <p:txBody>
          <a:bodyPr/>
          <a:lstStyle/>
          <a:p>
            <a:endParaRPr lang="en-IN"/>
          </a:p>
        </p:txBody>
      </p:sp>
      <p:sp>
        <p:nvSpPr>
          <p:cNvPr id="257" name="Shape 255"/>
          <p:cNvSpPr/>
          <p:nvPr/>
        </p:nvSpPr>
        <p:spPr>
          <a:xfrm>
            <a:off x="6222492" y="6163056"/>
            <a:ext cx="77724" cy="77724"/>
          </a:xfrm>
          <a:prstGeom prst="rect">
            <a:avLst/>
          </a:prstGeom>
          <a:solidFill>
            <a:srgbClr val="1B6BC0"/>
          </a:solidFill>
          <a:ln/>
        </p:spPr>
        <p:txBody>
          <a:bodyPr/>
          <a:lstStyle/>
          <a:p>
            <a:endParaRPr lang="en-IN"/>
          </a:p>
        </p:txBody>
      </p:sp>
      <p:sp>
        <p:nvSpPr>
          <p:cNvPr id="258" name="Text 256"/>
          <p:cNvSpPr txBox="1"/>
          <p:nvPr/>
        </p:nvSpPr>
        <p:spPr>
          <a:xfrm>
            <a:off x="6350508" y="6126480"/>
            <a:ext cx="2633472" cy="155448"/>
          </a:xfrm>
          <a:prstGeom prst="rect">
            <a:avLst/>
          </a:prstGeom>
          <a:noFill/>
          <a:ln/>
        </p:spPr>
        <p:txBody>
          <a:bodyPr wrap="square" lIns="0" tIns="0" rIns="0" bIns="0" rtlCol="0" anchor="t"/>
          <a:lstStyle/>
          <a:p>
            <a:pPr marL="0" indent="0">
              <a:buNone/>
            </a:pPr>
            <a:r>
              <a:rPr lang="en-US" sz="800" dirty="0">
                <a:solidFill>
                  <a:srgbClr val="1B6BC0"/>
                </a:solidFill>
                <a:latin typeface="Trenda IG Display Bold" pitchFamily="34" charset="0"/>
                <a:ea typeface="Trenda IG Display Bold" pitchFamily="34" charset="-122"/>
                <a:cs typeface="Trenda IG Display Bold" pitchFamily="34" charset="-120"/>
              </a:rPr>
              <a:t>Audit and traceability</a:t>
            </a:r>
            <a:endParaRPr lang="en-US" sz="800" dirty="0"/>
          </a:p>
        </p:txBody>
      </p:sp>
      <p:sp>
        <p:nvSpPr>
          <p:cNvPr id="259" name="Text 257"/>
          <p:cNvSpPr txBox="1"/>
          <p:nvPr/>
        </p:nvSpPr>
        <p:spPr>
          <a:xfrm>
            <a:off x="6222492" y="6309360"/>
            <a:ext cx="2770632" cy="457200"/>
          </a:xfrm>
          <a:prstGeom prst="rect">
            <a:avLst/>
          </a:prstGeom>
          <a:noFill/>
          <a:ln/>
        </p:spPr>
        <p:txBody>
          <a:bodyPr wrap="square" lIns="0" tIns="0" rIns="0" bIns="0" rtlCol="0" anchor="t"/>
          <a:lstStyle/>
          <a:p>
            <a:pPr marL="0" indent="0">
              <a:lnSpc>
                <a:spcPct val="100000"/>
              </a:lnSpc>
              <a:buNone/>
            </a:pPr>
            <a:r>
              <a:rPr lang="en-US" sz="680" dirty="0">
                <a:solidFill>
                  <a:srgbClr val="1A1A1A"/>
                </a:solidFill>
                <a:latin typeface="Trenda IG Text" pitchFamily="34" charset="0"/>
                <a:ea typeface="Trenda IG Text" pitchFamily="34" charset="-122"/>
                <a:cs typeface="Trenda IG Text" pitchFamily="34" charset="-120"/>
              </a:rPr>
              <a:t>Every gap resolves back to the source rows that produced it. Every query, answer and cohort is logged with user, purpose, timestamp, snapshot id and the evidence path returned. A gap that cannot be replayed is not published.</a:t>
            </a:r>
            <a:endParaRPr lang="en-US" sz="680" dirty="0"/>
          </a:p>
        </p:txBody>
      </p:sp>
      <p:sp>
        <p:nvSpPr>
          <p:cNvPr id="260" name="Shape 258"/>
          <p:cNvSpPr/>
          <p:nvPr/>
        </p:nvSpPr>
        <p:spPr>
          <a:xfrm>
            <a:off x="9141714" y="6071616"/>
            <a:ext cx="2937510" cy="722376"/>
          </a:xfrm>
          <a:prstGeom prst="rect">
            <a:avLst/>
          </a:prstGeom>
          <a:solidFill>
            <a:srgbClr val="FFFFFF"/>
          </a:solidFill>
          <a:ln w="9525">
            <a:solidFill>
              <a:srgbClr val="D5D9DE"/>
            </a:solidFill>
            <a:prstDash val="solid"/>
          </a:ln>
        </p:spPr>
        <p:txBody>
          <a:bodyPr/>
          <a:lstStyle/>
          <a:p>
            <a:endParaRPr lang="en-IN"/>
          </a:p>
        </p:txBody>
      </p:sp>
      <p:sp>
        <p:nvSpPr>
          <p:cNvPr id="261" name="Shape 259"/>
          <p:cNvSpPr/>
          <p:nvPr/>
        </p:nvSpPr>
        <p:spPr>
          <a:xfrm>
            <a:off x="9233154" y="6163056"/>
            <a:ext cx="77724" cy="77724"/>
          </a:xfrm>
          <a:prstGeom prst="rect">
            <a:avLst/>
          </a:prstGeom>
          <a:solidFill>
            <a:srgbClr val="2E7D32"/>
          </a:solidFill>
          <a:ln/>
        </p:spPr>
        <p:txBody>
          <a:bodyPr/>
          <a:lstStyle/>
          <a:p>
            <a:endParaRPr lang="en-IN"/>
          </a:p>
        </p:txBody>
      </p:sp>
      <p:sp>
        <p:nvSpPr>
          <p:cNvPr id="262" name="Text 260"/>
          <p:cNvSpPr txBox="1"/>
          <p:nvPr/>
        </p:nvSpPr>
        <p:spPr>
          <a:xfrm>
            <a:off x="9361170" y="6126480"/>
            <a:ext cx="2633472" cy="155448"/>
          </a:xfrm>
          <a:prstGeom prst="rect">
            <a:avLst/>
          </a:prstGeom>
          <a:noFill/>
          <a:ln/>
        </p:spPr>
        <p:txBody>
          <a:bodyPr wrap="square" lIns="0" tIns="0" rIns="0" bIns="0" rtlCol="0" anchor="t"/>
          <a:lstStyle/>
          <a:p>
            <a:pPr marL="0" indent="0">
              <a:buNone/>
            </a:pPr>
            <a:r>
              <a:rPr lang="en-US" sz="800" dirty="0">
                <a:solidFill>
                  <a:srgbClr val="2E7D32"/>
                </a:solidFill>
                <a:latin typeface="Trenda IG Display Bold" pitchFamily="34" charset="0"/>
                <a:ea typeface="Trenda IG Display Bold" pitchFamily="34" charset="-122"/>
                <a:cs typeface="Trenda IG Display Bold" pitchFamily="34" charset="-120"/>
              </a:rPr>
              <a:t>Scope of the proof</a:t>
            </a:r>
            <a:endParaRPr lang="en-US" sz="800" dirty="0"/>
          </a:p>
        </p:txBody>
      </p:sp>
      <p:sp>
        <p:nvSpPr>
          <p:cNvPr id="263" name="Text 261"/>
          <p:cNvSpPr txBox="1"/>
          <p:nvPr/>
        </p:nvSpPr>
        <p:spPr>
          <a:xfrm>
            <a:off x="9233154" y="6309360"/>
            <a:ext cx="2770632" cy="457200"/>
          </a:xfrm>
          <a:prstGeom prst="rect">
            <a:avLst/>
          </a:prstGeom>
          <a:noFill/>
          <a:ln/>
        </p:spPr>
        <p:txBody>
          <a:bodyPr wrap="square" lIns="0" tIns="0" rIns="0" bIns="0" rtlCol="0" anchor="t"/>
          <a:lstStyle/>
          <a:p>
            <a:pPr marL="0" indent="0">
              <a:lnSpc>
                <a:spcPct val="100000"/>
              </a:lnSpc>
              <a:buNone/>
            </a:pPr>
            <a:r>
              <a:rPr lang="en-US" sz="680" dirty="0">
                <a:solidFill>
                  <a:srgbClr val="1A1A1A"/>
                </a:solidFill>
                <a:latin typeface="Trenda IG Text" pitchFamily="34" charset="0"/>
                <a:ea typeface="Trenda IG Text" pitchFamily="34" charset="-122"/>
                <a:cs typeface="Trenda IG Text" pitchFamily="34" charset="-120"/>
              </a:rPr>
              <a:t>One market, two service lines, ninety days. Build order: privacy boundary, then identity, then graph, then two gap engines, then one what-if. Success is a gap list a clinical leader and a network leader both sign.</a:t>
            </a:r>
            <a:endParaRPr lang="en-US" sz="68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B2E"/>
        </a:solidFill>
        <a:effectLst/>
      </p:bgPr>
    </p:bg>
    <p:spTree>
      <p:nvGrpSpPr>
        <p:cNvPr id="1" name=""/>
        <p:cNvGrpSpPr/>
        <p:nvPr/>
      </p:nvGrpSpPr>
      <p:grpSpPr/>
      <p:sp>
        <p:nvSpPr>
          <p:cNvPr id="2" name="Rectangle 1"/>
          <p:cNvSpPr/>
          <p:nvPr/>
        </p:nvSpPr>
        <p:spPr>
          <a:xfrm>
            <a:off x="822960" y="1874519"/>
            <a:ext cx="146304" cy="146304"/>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8229600" cy="274320"/>
          </a:xfrm>
          <a:prstGeom prst="rect">
            <a:avLst/>
          </a:prstGeom>
          <a:noFill/>
        </p:spPr>
        <p:txBody>
          <a:bodyPr wrap="square" lIns="0" rIns="0" tIns="0" bIns="0" anchor="t">
            <a:spAutoFit/>
          </a:bodyPr>
          <a:lstStyle/>
          <a:p>
            <a:pPr>
              <a:buNone/>
            </a:pPr>
            <a:r>
              <a:rPr sz="1200" spc="150">
                <a:solidFill>
                  <a:srgbClr val="5FD0C0"/>
                </a:solidFill>
                <a:latin typeface="Trenda IG Display Semibold"/>
              </a:rPr>
              <a:t>AI-DRIVEN DELIVERY · PROPOSAL</a:t>
            </a:r>
          </a:p>
        </p:txBody>
      </p:sp>
      <p:sp>
        <p:nvSpPr>
          <p:cNvPr id="4" name="TextBox 3"/>
          <p:cNvSpPr txBox="1"/>
          <p:nvPr/>
        </p:nvSpPr>
        <p:spPr>
          <a:xfrm>
            <a:off x="822960" y="2286000"/>
            <a:ext cx="10058400" cy="1463040"/>
          </a:xfrm>
          <a:prstGeom prst="rect">
            <a:avLst/>
          </a:prstGeom>
          <a:noFill/>
        </p:spPr>
        <p:txBody>
          <a:bodyPr wrap="square" lIns="0" rIns="0" tIns="0" bIns="0" anchor="t">
            <a:spAutoFit/>
          </a:bodyPr>
          <a:lstStyle/>
          <a:p>
            <a:pPr>
              <a:lnSpc>
                <a:spcPct val="95000"/>
              </a:lnSpc>
              <a:buNone/>
            </a:pPr>
            <a:r>
              <a:rPr sz="4400">
                <a:solidFill>
                  <a:srgbClr val="FFFFFF"/>
                </a:solidFill>
                <a:latin typeface="Trenda IG Display Bold"/>
              </a:rPr>
              <a:t>Agentic Delivery</a:t>
            </a:r>
          </a:p>
          <a:p>
            <a:pPr>
              <a:lnSpc>
                <a:spcPct val="95000"/>
              </a:lnSpc>
              <a:buNone/>
            </a:pPr>
            <a:r>
              <a:rPr sz="4400">
                <a:solidFill>
                  <a:srgbClr val="FFFFFF"/>
                </a:solidFill>
                <a:latin typeface="Trenda IG Display Bold"/>
              </a:rPr>
              <a:t>for Ascension</a:t>
            </a:r>
          </a:p>
        </p:txBody>
      </p:sp>
      <p:sp>
        <p:nvSpPr>
          <p:cNvPr id="5" name="TextBox 4"/>
          <p:cNvSpPr txBox="1"/>
          <p:nvPr/>
        </p:nvSpPr>
        <p:spPr>
          <a:xfrm>
            <a:off x="822960" y="3931920"/>
            <a:ext cx="8595360" cy="822960"/>
          </a:xfrm>
          <a:prstGeom prst="rect">
            <a:avLst/>
          </a:prstGeom>
          <a:noFill/>
        </p:spPr>
        <p:txBody>
          <a:bodyPr wrap="square" lIns="0" rIns="0" tIns="0" bIns="0" anchor="t">
            <a:spAutoFit/>
          </a:bodyPr>
          <a:lstStyle/>
          <a:p>
            <a:pPr>
              <a:lnSpc>
                <a:spcPct val="115000"/>
              </a:lnSpc>
              <a:buNone/>
            </a:pPr>
            <a:r>
              <a:rPr sz="1500">
                <a:solidFill>
                  <a:srgbClr val="D8DEE6"/>
                </a:solidFill>
                <a:latin typeface="Trenda IG Text Light"/>
              </a:rPr>
              <a:t>One knowledge graph and a team of AI agents that take a business request to a tested, deployed Salesforce change, with people approving every step.</a:t>
            </a:r>
          </a:p>
        </p:txBody>
      </p:sp>
      <p:sp>
        <p:nvSpPr>
          <p:cNvPr id="6" name="TextBox 5"/>
          <p:cNvSpPr txBox="1"/>
          <p:nvPr/>
        </p:nvSpPr>
        <p:spPr>
          <a:xfrm>
            <a:off x="822960" y="5989320"/>
            <a:ext cx="8229600" cy="274320"/>
          </a:xfrm>
          <a:prstGeom prst="rect">
            <a:avLst/>
          </a:prstGeom>
          <a:noFill/>
        </p:spPr>
        <p:txBody>
          <a:bodyPr wrap="square" lIns="0" rIns="0" tIns="0" bIns="0" anchor="t">
            <a:spAutoFit/>
          </a:bodyPr>
          <a:lstStyle/>
          <a:p>
            <a:pPr>
              <a:buNone/>
            </a:pPr>
            <a:r>
              <a:rPr sz="1050">
                <a:solidFill>
                  <a:srgbClr val="A9B4C2"/>
                </a:solidFill>
                <a:latin typeface="Trenda IG Text Light"/>
              </a:rPr>
              <a:t>Consumer and Care Engagement tiles  ·  [Date]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WHERE WE ARE TODAY</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Delivery runs on many pods and on what people remember</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Two tiles, nine to ten pods, one shared org.</a:t>
            </a:r>
          </a:p>
        </p:txBody>
      </p:sp>
      <p:sp>
        <p:nvSpPr>
          <p:cNvPr id="6" name="Rectangle 5"/>
          <p:cNvSpPr/>
          <p:nvPr/>
        </p:nvSpPr>
        <p:spPr>
          <a:xfrm>
            <a:off x="109728" y="1097280"/>
            <a:ext cx="2855214" cy="182880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1325880"/>
            <a:ext cx="2398014" cy="731520"/>
          </a:xfrm>
          <a:prstGeom prst="rect">
            <a:avLst/>
          </a:prstGeom>
          <a:noFill/>
        </p:spPr>
        <p:txBody>
          <a:bodyPr wrap="square" lIns="0" rIns="0" tIns="0" bIns="0" anchor="t">
            <a:spAutoFit/>
          </a:bodyPr>
          <a:lstStyle/>
          <a:p>
            <a:pPr>
              <a:buNone/>
            </a:pPr>
            <a:r>
              <a:rPr sz="4000">
                <a:solidFill>
                  <a:srgbClr val="0E1B2E"/>
                </a:solidFill>
                <a:latin typeface="Trenda IG Display Bold"/>
              </a:rPr>
              <a:t>2</a:t>
            </a:r>
          </a:p>
        </p:txBody>
      </p:sp>
      <p:sp>
        <p:nvSpPr>
          <p:cNvPr id="8" name="TextBox 7"/>
          <p:cNvSpPr txBox="1"/>
          <p:nvPr/>
        </p:nvSpPr>
        <p:spPr>
          <a:xfrm>
            <a:off x="338328" y="2194560"/>
            <a:ext cx="2398014" cy="640080"/>
          </a:xfrm>
          <a:prstGeom prst="rect">
            <a:avLst/>
          </a:prstGeom>
          <a:noFill/>
        </p:spPr>
        <p:txBody>
          <a:bodyPr wrap="square" lIns="0" rIns="0" tIns="0" bIns="0" anchor="t">
            <a:spAutoFit/>
          </a:bodyPr>
          <a:lstStyle/>
          <a:p>
            <a:pPr>
              <a:buNone/>
            </a:pPr>
            <a:r>
              <a:rPr sz="1200">
                <a:solidFill>
                  <a:srgbClr val="5A6573"/>
                </a:solidFill>
                <a:latin typeface="Trenda IG Text"/>
              </a:rPr>
              <a:t>Tiles: Consumer and Care Engagement</a:t>
            </a:r>
          </a:p>
        </p:txBody>
      </p:sp>
      <p:sp>
        <p:nvSpPr>
          <p:cNvPr id="9" name="Rectangle 8"/>
          <p:cNvSpPr/>
          <p:nvPr/>
        </p:nvSpPr>
        <p:spPr>
          <a:xfrm>
            <a:off x="3147822" y="1097280"/>
            <a:ext cx="2855214" cy="182880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76422" y="1325880"/>
            <a:ext cx="2398014" cy="731520"/>
          </a:xfrm>
          <a:prstGeom prst="rect">
            <a:avLst/>
          </a:prstGeom>
          <a:noFill/>
        </p:spPr>
        <p:txBody>
          <a:bodyPr wrap="square" lIns="0" rIns="0" tIns="0" bIns="0" anchor="t">
            <a:spAutoFit/>
          </a:bodyPr>
          <a:lstStyle/>
          <a:p>
            <a:pPr>
              <a:buNone/>
            </a:pPr>
            <a:r>
              <a:rPr sz="4000">
                <a:solidFill>
                  <a:srgbClr val="0E1B2E"/>
                </a:solidFill>
                <a:latin typeface="Trenda IG Display Bold"/>
              </a:rPr>
              <a:t>9–10</a:t>
            </a:r>
          </a:p>
        </p:txBody>
      </p:sp>
      <p:sp>
        <p:nvSpPr>
          <p:cNvPr id="11" name="TextBox 10"/>
          <p:cNvSpPr txBox="1"/>
          <p:nvPr/>
        </p:nvSpPr>
        <p:spPr>
          <a:xfrm>
            <a:off x="3376422" y="2194560"/>
            <a:ext cx="2398014" cy="640080"/>
          </a:xfrm>
          <a:prstGeom prst="rect">
            <a:avLst/>
          </a:prstGeom>
          <a:noFill/>
        </p:spPr>
        <p:txBody>
          <a:bodyPr wrap="square" lIns="0" rIns="0" tIns="0" bIns="0" anchor="t">
            <a:spAutoFit/>
          </a:bodyPr>
          <a:lstStyle/>
          <a:p>
            <a:pPr>
              <a:buNone/>
            </a:pPr>
            <a:r>
              <a:rPr sz="1200">
                <a:solidFill>
                  <a:srgbClr val="5A6573"/>
                </a:solidFill>
                <a:latin typeface="Trenda IG Text"/>
              </a:rPr>
              <a:t>Pods, four to five in each tile</a:t>
            </a:r>
          </a:p>
        </p:txBody>
      </p:sp>
      <p:sp>
        <p:nvSpPr>
          <p:cNvPr id="12" name="Rectangle 11"/>
          <p:cNvSpPr/>
          <p:nvPr/>
        </p:nvSpPr>
        <p:spPr>
          <a:xfrm>
            <a:off x="6185916" y="1097280"/>
            <a:ext cx="2855214" cy="182880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1325880"/>
            <a:ext cx="2398014" cy="731520"/>
          </a:xfrm>
          <a:prstGeom prst="rect">
            <a:avLst/>
          </a:prstGeom>
          <a:noFill/>
        </p:spPr>
        <p:txBody>
          <a:bodyPr wrap="square" lIns="0" rIns="0" tIns="0" bIns="0" anchor="t">
            <a:spAutoFit/>
          </a:bodyPr>
          <a:lstStyle/>
          <a:p>
            <a:pPr>
              <a:buNone/>
            </a:pPr>
            <a:r>
              <a:rPr sz="4000">
                <a:solidFill>
                  <a:srgbClr val="0E1B2E"/>
                </a:solidFill>
                <a:latin typeface="Trenda IG Display Bold"/>
              </a:rPr>
              <a:t>$117K</a:t>
            </a:r>
          </a:p>
        </p:txBody>
      </p:sp>
      <p:sp>
        <p:nvSpPr>
          <p:cNvPr id="14" name="TextBox 13"/>
          <p:cNvSpPr txBox="1"/>
          <p:nvPr/>
        </p:nvSpPr>
        <p:spPr>
          <a:xfrm>
            <a:off x="6414516" y="2194560"/>
            <a:ext cx="2398014" cy="640080"/>
          </a:xfrm>
          <a:prstGeom prst="rect">
            <a:avLst/>
          </a:prstGeom>
          <a:noFill/>
        </p:spPr>
        <p:txBody>
          <a:bodyPr wrap="square" lIns="0" rIns="0" tIns="0" bIns="0" anchor="t">
            <a:spAutoFit/>
          </a:bodyPr>
          <a:lstStyle/>
          <a:p>
            <a:pPr>
              <a:buNone/>
            </a:pPr>
            <a:r>
              <a:rPr sz="1200">
                <a:solidFill>
                  <a:srgbClr val="5A6573"/>
                </a:solidFill>
                <a:latin typeface="Trenda IG Text"/>
              </a:rPr>
              <a:t>Network Services pod, 4 people</a:t>
            </a:r>
          </a:p>
        </p:txBody>
      </p:sp>
      <p:sp>
        <p:nvSpPr>
          <p:cNvPr id="15" name="Rectangle 14"/>
          <p:cNvSpPr/>
          <p:nvPr/>
        </p:nvSpPr>
        <p:spPr>
          <a:xfrm>
            <a:off x="9224010" y="1097280"/>
            <a:ext cx="2855214" cy="182880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52610" y="1325880"/>
            <a:ext cx="2398014" cy="731520"/>
          </a:xfrm>
          <a:prstGeom prst="rect">
            <a:avLst/>
          </a:prstGeom>
          <a:noFill/>
        </p:spPr>
        <p:txBody>
          <a:bodyPr wrap="square" lIns="0" rIns="0" tIns="0" bIns="0" anchor="t">
            <a:spAutoFit/>
          </a:bodyPr>
          <a:lstStyle/>
          <a:p>
            <a:pPr>
              <a:buNone/>
            </a:pPr>
            <a:r>
              <a:rPr sz="4000">
                <a:solidFill>
                  <a:srgbClr val="0E1B2E"/>
                </a:solidFill>
                <a:latin typeface="Trenda IG Display Bold"/>
              </a:rPr>
              <a:t>~$2.47M</a:t>
            </a:r>
          </a:p>
        </p:txBody>
      </p:sp>
      <p:sp>
        <p:nvSpPr>
          <p:cNvPr id="17" name="TextBox 16"/>
          <p:cNvSpPr txBox="1"/>
          <p:nvPr/>
        </p:nvSpPr>
        <p:spPr>
          <a:xfrm>
            <a:off x="9452610" y="2194560"/>
            <a:ext cx="2398014" cy="640080"/>
          </a:xfrm>
          <a:prstGeom prst="rect">
            <a:avLst/>
          </a:prstGeom>
          <a:noFill/>
        </p:spPr>
        <p:txBody>
          <a:bodyPr wrap="square" lIns="0" rIns="0" tIns="0" bIns="0" anchor="t">
            <a:spAutoFit/>
          </a:bodyPr>
          <a:lstStyle/>
          <a:p>
            <a:pPr>
              <a:buNone/>
            </a:pPr>
            <a:r>
              <a:rPr sz="1200">
                <a:solidFill>
                  <a:srgbClr val="5A6573"/>
                </a:solidFill>
                <a:latin typeface="Trenda IG Text"/>
              </a:rPr>
              <a:t>VBC pod, 14 people</a:t>
            </a:r>
          </a:p>
        </p:txBody>
      </p:sp>
      <p:sp>
        <p:nvSpPr>
          <p:cNvPr id="18" name="Rectangle 17"/>
          <p:cNvSpPr/>
          <p:nvPr/>
        </p:nvSpPr>
        <p:spPr>
          <a:xfrm>
            <a:off x="109728" y="3108960"/>
            <a:ext cx="3867911" cy="2066543"/>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2608" y="3310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3227832"/>
            <a:ext cx="3319271" cy="274320"/>
          </a:xfrm>
          <a:prstGeom prst="rect">
            <a:avLst/>
          </a:prstGeom>
          <a:noFill/>
        </p:spPr>
        <p:txBody>
          <a:bodyPr wrap="square" lIns="0" rIns="0" tIns="0" bIns="0" anchor="t">
            <a:spAutoFit/>
          </a:bodyPr>
          <a:lstStyle/>
          <a:p>
            <a:pPr>
              <a:buNone/>
            </a:pPr>
            <a:r>
              <a:rPr sz="1350">
                <a:solidFill>
                  <a:srgbClr val="1A1A1A"/>
                </a:solidFill>
                <a:latin typeface="Trenda IG Display Bold"/>
              </a:rPr>
              <a:t>Knowledge lives in people</a:t>
            </a:r>
          </a:p>
        </p:txBody>
      </p:sp>
      <p:sp>
        <p:nvSpPr>
          <p:cNvPr id="21" name="TextBox 20"/>
          <p:cNvSpPr txBox="1"/>
          <p:nvPr/>
        </p:nvSpPr>
        <p:spPr>
          <a:xfrm>
            <a:off x="292608" y="3584448"/>
            <a:ext cx="3502151" cy="1499615"/>
          </a:xfrm>
          <a:prstGeom prst="rect">
            <a:avLst/>
          </a:prstGeom>
          <a:noFill/>
        </p:spPr>
        <p:txBody>
          <a:bodyPr wrap="square" lIns="0" rIns="0" tIns="0" bIns="0" anchor="t">
            <a:spAutoFit/>
          </a:bodyPr>
          <a:lstStyle/>
          <a:p>
            <a:pPr>
              <a:lnSpc>
                <a:spcPct val="102000"/>
              </a:lnSpc>
              <a:spcAft>
                <a:spcPts val="700"/>
              </a:spcAft>
              <a:buNone/>
            </a:pPr>
            <a:r>
              <a:rPr sz="1250">
                <a:solidFill>
                  <a:srgbClr val="1A1A1A"/>
                </a:solidFill>
                <a:latin typeface="Trenda IG Text"/>
              </a:rPr>
              <a:t>What already exists in the org, and why, sits in a few heads rather than in a system anyone can ask.</a:t>
            </a:r>
          </a:p>
        </p:txBody>
      </p:sp>
      <p:sp>
        <p:nvSpPr>
          <p:cNvPr id="22" name="Rectangle 21"/>
          <p:cNvSpPr/>
          <p:nvPr/>
        </p:nvSpPr>
        <p:spPr>
          <a:xfrm>
            <a:off x="4160520" y="3108960"/>
            <a:ext cx="3867911" cy="2066543"/>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3310128"/>
            <a:ext cx="91440" cy="91440"/>
          </a:xfrm>
          <a:prstGeom prst="rect">
            <a:avLst/>
          </a:prstGeom>
          <a:solidFill>
            <a:srgbClr val="C218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80" y="3227832"/>
            <a:ext cx="3319271" cy="274320"/>
          </a:xfrm>
          <a:prstGeom prst="rect">
            <a:avLst/>
          </a:prstGeom>
          <a:noFill/>
        </p:spPr>
        <p:txBody>
          <a:bodyPr wrap="square" lIns="0" rIns="0" tIns="0" bIns="0" anchor="t">
            <a:spAutoFit/>
          </a:bodyPr>
          <a:lstStyle/>
          <a:p>
            <a:pPr>
              <a:buNone/>
            </a:pPr>
            <a:r>
              <a:rPr sz="1350">
                <a:solidFill>
                  <a:srgbClr val="1A1A1A"/>
                </a:solidFill>
                <a:latin typeface="Trenda IG Display Bold"/>
              </a:rPr>
              <a:t>The same job, built twice</a:t>
            </a:r>
          </a:p>
        </p:txBody>
      </p:sp>
      <p:sp>
        <p:nvSpPr>
          <p:cNvPr id="25" name="TextBox 24"/>
          <p:cNvSpPr txBox="1"/>
          <p:nvPr/>
        </p:nvSpPr>
        <p:spPr>
          <a:xfrm>
            <a:off x="4343400" y="3584448"/>
            <a:ext cx="3502151" cy="1499615"/>
          </a:xfrm>
          <a:prstGeom prst="rect">
            <a:avLst/>
          </a:prstGeom>
          <a:noFill/>
        </p:spPr>
        <p:txBody>
          <a:bodyPr wrap="square" lIns="0" rIns="0" tIns="0" bIns="0" anchor="t">
            <a:spAutoFit/>
          </a:bodyPr>
          <a:lstStyle/>
          <a:p>
            <a:pPr>
              <a:lnSpc>
                <a:spcPct val="102000"/>
              </a:lnSpc>
              <a:spcAft>
                <a:spcPts val="700"/>
              </a:spcAft>
              <a:buNone/>
            </a:pPr>
            <a:r>
              <a:rPr sz="1250">
                <a:solidFill>
                  <a:srgbClr val="1A1A1A"/>
                </a:solidFill>
                <a:latin typeface="Trenda IG Text"/>
              </a:rPr>
              <a:t>Healthcare Facility Network records are created in Apex in some scenarios and in Flow in others.</a:t>
            </a:r>
          </a:p>
        </p:txBody>
      </p:sp>
      <p:sp>
        <p:nvSpPr>
          <p:cNvPr id="26" name="Rectangle 25"/>
          <p:cNvSpPr/>
          <p:nvPr/>
        </p:nvSpPr>
        <p:spPr>
          <a:xfrm>
            <a:off x="8211311" y="3108960"/>
            <a:ext cx="3867911" cy="2066543"/>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94191" y="3310128"/>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77072" y="3227832"/>
            <a:ext cx="3319271" cy="274320"/>
          </a:xfrm>
          <a:prstGeom prst="rect">
            <a:avLst/>
          </a:prstGeom>
          <a:noFill/>
        </p:spPr>
        <p:txBody>
          <a:bodyPr wrap="square" lIns="0" rIns="0" tIns="0" bIns="0" anchor="t">
            <a:spAutoFit/>
          </a:bodyPr>
          <a:lstStyle/>
          <a:p>
            <a:pPr>
              <a:buNone/>
            </a:pPr>
            <a:r>
              <a:rPr sz="1350">
                <a:solidFill>
                  <a:srgbClr val="1A1A1A"/>
                </a:solidFill>
                <a:latin typeface="Trenda IG Display Bold"/>
              </a:rPr>
              <a:t>A queue at every hand-off</a:t>
            </a:r>
          </a:p>
        </p:txBody>
      </p:sp>
      <p:sp>
        <p:nvSpPr>
          <p:cNvPr id="29" name="TextBox 28"/>
          <p:cNvSpPr txBox="1"/>
          <p:nvPr/>
        </p:nvSpPr>
        <p:spPr>
          <a:xfrm>
            <a:off x="8394191" y="3584448"/>
            <a:ext cx="3502151" cy="1499615"/>
          </a:xfrm>
          <a:prstGeom prst="rect">
            <a:avLst/>
          </a:prstGeom>
          <a:noFill/>
        </p:spPr>
        <p:txBody>
          <a:bodyPr wrap="square" lIns="0" rIns="0" tIns="0" bIns="0" anchor="t">
            <a:spAutoFit/>
          </a:bodyPr>
          <a:lstStyle/>
          <a:p>
            <a:pPr>
              <a:lnSpc>
                <a:spcPct val="102000"/>
              </a:lnSpc>
              <a:spcAft>
                <a:spcPts val="700"/>
              </a:spcAft>
              <a:buNone/>
            </a:pPr>
            <a:r>
              <a:rPr sz="1250">
                <a:solidFill>
                  <a:srgbClr val="1A1A1A"/>
                </a:solidFill>
                <a:latin typeface="Trenda IG Text"/>
              </a:rPr>
              <a:t>Business analysis, design, build, test and release each wait on the step before.</a:t>
            </a:r>
          </a:p>
        </p:txBody>
      </p:sp>
      <p:sp>
        <p:nvSpPr>
          <p:cNvPr id="30" name="Rectangle 29"/>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358384"/>
            <a:ext cx="11521440" cy="566928"/>
          </a:xfrm>
          <a:prstGeom prst="rect">
            <a:avLst/>
          </a:prstGeom>
          <a:noFill/>
        </p:spPr>
        <p:txBody>
          <a:bodyPr wrap="square" lIns="0" rIns="0" tIns="0" bIns="0" anchor="ctr">
            <a:spAutoFit/>
          </a:bodyPr>
          <a:lstStyle/>
          <a:p>
            <a:pPr>
              <a:buNone/>
            </a:pPr>
            <a:r>
              <a:rPr sz="1050">
                <a:solidFill>
                  <a:srgbClr val="1A1A1A"/>
                </a:solidFill>
                <a:latin typeface="Trenda IG Text"/>
              </a:rPr>
              <a:t>The problem is not how fast code is written. It is that nobody can see what already exists before writing it.</a:t>
            </a:r>
          </a:p>
        </p:txBody>
      </p:sp>
      <p:sp>
        <p:nvSpPr>
          <p:cNvPr id="33" name="Rectangle 32"/>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Agents make building faster. Without org knowledge, they also make duplicate and conflicting work faster.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WHAT WE HAVE ALREADY PROVEN</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Agents are already shortening delivery at Ascension</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Source: Agentifying Ascension Ways of Working.</a:t>
            </a:r>
          </a:p>
        </p:txBody>
      </p:sp>
      <p:sp>
        <p:nvSpPr>
          <p:cNvPr id="6" name="Rectangle 5"/>
          <p:cNvSpPr/>
          <p:nvPr/>
        </p:nvSpPr>
        <p:spPr>
          <a:xfrm>
            <a:off x="109728" y="1097280"/>
            <a:ext cx="3867911" cy="278892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38328" y="1344168"/>
            <a:ext cx="91440" cy="91440"/>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280160"/>
            <a:ext cx="3227831" cy="228600"/>
          </a:xfrm>
          <a:prstGeom prst="rect">
            <a:avLst/>
          </a:prstGeom>
          <a:noFill/>
        </p:spPr>
        <p:txBody>
          <a:bodyPr wrap="square" lIns="0" rIns="0" tIns="0" bIns="0" anchor="t">
            <a:spAutoFit/>
          </a:bodyPr>
          <a:lstStyle/>
          <a:p>
            <a:pPr>
              <a:buNone/>
            </a:pPr>
            <a:r>
              <a:rPr sz="900" spc="80">
                <a:solidFill>
                  <a:srgbClr val="5A6573"/>
                </a:solidFill>
                <a:latin typeface="Trenda IG Text Semibold"/>
              </a:rPr>
              <a:t>HEALTH CLOUD</a:t>
            </a:r>
          </a:p>
        </p:txBody>
      </p:sp>
      <p:sp>
        <p:nvSpPr>
          <p:cNvPr id="9" name="TextBox 8"/>
          <p:cNvSpPr txBox="1"/>
          <p:nvPr/>
        </p:nvSpPr>
        <p:spPr>
          <a:xfrm>
            <a:off x="338328" y="1645920"/>
            <a:ext cx="3410711" cy="1097280"/>
          </a:xfrm>
          <a:prstGeom prst="rect">
            <a:avLst/>
          </a:prstGeom>
          <a:noFill/>
        </p:spPr>
        <p:txBody>
          <a:bodyPr wrap="square" lIns="0" rIns="0" tIns="0" bIns="0" anchor="t">
            <a:spAutoFit/>
          </a:bodyPr>
          <a:lstStyle/>
          <a:p>
            <a:pPr>
              <a:lnSpc>
                <a:spcPct val="95000"/>
              </a:lnSpc>
              <a:buNone/>
            </a:pPr>
            <a:r>
              <a:rPr sz="3000">
                <a:solidFill>
                  <a:srgbClr val="0E1B2E"/>
                </a:solidFill>
                <a:latin typeface="Trenda IG Display Bold"/>
              </a:rPr>
              <a:t>1–2 weeks</a:t>
            </a:r>
          </a:p>
          <a:p>
            <a:pPr>
              <a:lnSpc>
                <a:spcPct val="95000"/>
              </a:lnSpc>
              <a:buNone/>
            </a:pPr>
            <a:r>
              <a:rPr sz="3000">
                <a:solidFill>
                  <a:srgbClr val="0E1B2E"/>
                </a:solidFill>
                <a:latin typeface="Trenda IG Display Bold"/>
              </a:rPr>
              <a:t>→ 2–4 days</a:t>
            </a:r>
          </a:p>
        </p:txBody>
      </p:sp>
      <p:sp>
        <p:nvSpPr>
          <p:cNvPr id="10" name="TextBox 9"/>
          <p:cNvSpPr txBox="1"/>
          <p:nvPr/>
        </p:nvSpPr>
        <p:spPr>
          <a:xfrm>
            <a:off x="338328" y="2971800"/>
            <a:ext cx="3410711" cy="822960"/>
          </a:xfrm>
          <a:prstGeom prst="rect">
            <a:avLst/>
          </a:prstGeom>
          <a:noFill/>
        </p:spPr>
        <p:txBody>
          <a:bodyPr wrap="square" lIns="0" rIns="0" tIns="0" bIns="0" anchor="t">
            <a:spAutoFit/>
          </a:bodyPr>
          <a:lstStyle/>
          <a:p>
            <a:pPr>
              <a:lnSpc>
                <a:spcPct val="105000"/>
              </a:lnSpc>
              <a:buNone/>
            </a:pPr>
            <a:r>
              <a:rPr sz="1200">
                <a:solidFill>
                  <a:srgbClr val="1A1A1A"/>
                </a:solidFill>
                <a:latin typeface="Trenda IG Text"/>
              </a:rPr>
              <a:t>Implementation time with the latest agent-assisted approach.</a:t>
            </a:r>
          </a:p>
        </p:txBody>
      </p:sp>
      <p:sp>
        <p:nvSpPr>
          <p:cNvPr id="11" name="Rectangle 10"/>
          <p:cNvSpPr/>
          <p:nvPr/>
        </p:nvSpPr>
        <p:spPr>
          <a:xfrm>
            <a:off x="4160520" y="1097280"/>
            <a:ext cx="3867911" cy="278892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34416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280160"/>
            <a:ext cx="3227831" cy="228600"/>
          </a:xfrm>
          <a:prstGeom prst="rect">
            <a:avLst/>
          </a:prstGeom>
          <a:noFill/>
        </p:spPr>
        <p:txBody>
          <a:bodyPr wrap="square" lIns="0" rIns="0" tIns="0" bIns="0" anchor="t">
            <a:spAutoFit/>
          </a:bodyPr>
          <a:lstStyle/>
          <a:p>
            <a:pPr>
              <a:buNone/>
            </a:pPr>
            <a:r>
              <a:rPr sz="900" spc="80">
                <a:solidFill>
                  <a:srgbClr val="5A6573"/>
                </a:solidFill>
                <a:latin typeface="Trenda IG Text Semibold"/>
              </a:rPr>
              <a:t>MARKETING CLOUD</a:t>
            </a:r>
          </a:p>
        </p:txBody>
      </p:sp>
      <p:sp>
        <p:nvSpPr>
          <p:cNvPr id="14" name="TextBox 13"/>
          <p:cNvSpPr txBox="1"/>
          <p:nvPr/>
        </p:nvSpPr>
        <p:spPr>
          <a:xfrm>
            <a:off x="4389120" y="1645920"/>
            <a:ext cx="3410711" cy="1097280"/>
          </a:xfrm>
          <a:prstGeom prst="rect">
            <a:avLst/>
          </a:prstGeom>
          <a:noFill/>
        </p:spPr>
        <p:txBody>
          <a:bodyPr wrap="square" lIns="0" rIns="0" tIns="0" bIns="0" anchor="t">
            <a:spAutoFit/>
          </a:bodyPr>
          <a:lstStyle/>
          <a:p>
            <a:pPr>
              <a:lnSpc>
                <a:spcPct val="95000"/>
              </a:lnSpc>
              <a:buNone/>
            </a:pPr>
            <a:r>
              <a:rPr sz="3000">
                <a:solidFill>
                  <a:srgbClr val="0E1B2E"/>
                </a:solidFill>
                <a:latin typeface="Trenda IG Display Bold"/>
              </a:rPr>
              <a:t>90 days</a:t>
            </a:r>
          </a:p>
          <a:p>
            <a:pPr>
              <a:lnSpc>
                <a:spcPct val="95000"/>
              </a:lnSpc>
              <a:buNone/>
            </a:pPr>
            <a:r>
              <a:rPr sz="3000">
                <a:solidFill>
                  <a:srgbClr val="0E1B2E"/>
                </a:solidFill>
                <a:latin typeface="Trenda IG Display Bold"/>
              </a:rPr>
              <a:t>→ 15–20 days</a:t>
            </a:r>
          </a:p>
        </p:txBody>
      </p:sp>
      <p:sp>
        <p:nvSpPr>
          <p:cNvPr id="15" name="TextBox 14"/>
          <p:cNvSpPr txBox="1"/>
          <p:nvPr/>
        </p:nvSpPr>
        <p:spPr>
          <a:xfrm>
            <a:off x="4389120" y="2971800"/>
            <a:ext cx="3410711" cy="822960"/>
          </a:xfrm>
          <a:prstGeom prst="rect">
            <a:avLst/>
          </a:prstGeom>
          <a:noFill/>
        </p:spPr>
        <p:txBody>
          <a:bodyPr wrap="square" lIns="0" rIns="0" tIns="0" bIns="0" anchor="t">
            <a:spAutoFit/>
          </a:bodyPr>
          <a:lstStyle/>
          <a:p>
            <a:pPr>
              <a:lnSpc>
                <a:spcPct val="105000"/>
              </a:lnSpc>
              <a:buNone/>
            </a:pPr>
            <a:r>
              <a:rPr sz="1200">
                <a:solidFill>
                  <a:srgbClr val="1A1A1A"/>
                </a:solidFill>
                <a:latin typeface="Trenda IG Text"/>
              </a:rPr>
              <a:t>About 80% lower recorded completion time, around 75 fewer calendar days.</a:t>
            </a:r>
          </a:p>
        </p:txBody>
      </p:sp>
      <p:sp>
        <p:nvSpPr>
          <p:cNvPr id="16" name="Rectangle 15"/>
          <p:cNvSpPr/>
          <p:nvPr/>
        </p:nvSpPr>
        <p:spPr>
          <a:xfrm>
            <a:off x="8211311" y="1097280"/>
            <a:ext cx="3867911" cy="278892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39911" y="1344168"/>
            <a:ext cx="91440" cy="91440"/>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22791" y="1280160"/>
            <a:ext cx="3227831" cy="228600"/>
          </a:xfrm>
          <a:prstGeom prst="rect">
            <a:avLst/>
          </a:prstGeom>
          <a:noFill/>
        </p:spPr>
        <p:txBody>
          <a:bodyPr wrap="square" lIns="0" rIns="0" tIns="0" bIns="0" anchor="t">
            <a:spAutoFit/>
          </a:bodyPr>
          <a:lstStyle/>
          <a:p>
            <a:pPr>
              <a:buNone/>
            </a:pPr>
            <a:r>
              <a:rPr sz="900" spc="80">
                <a:solidFill>
                  <a:srgbClr val="5A6573"/>
                </a:solidFill>
                <a:latin typeface="Trenda IG Text Semibold"/>
              </a:rPr>
              <a:t>QA AND TEST DESIGN</a:t>
            </a:r>
          </a:p>
        </p:txBody>
      </p:sp>
      <p:sp>
        <p:nvSpPr>
          <p:cNvPr id="19" name="TextBox 18"/>
          <p:cNvSpPr txBox="1"/>
          <p:nvPr/>
        </p:nvSpPr>
        <p:spPr>
          <a:xfrm>
            <a:off x="8439911" y="1645920"/>
            <a:ext cx="3410711" cy="1097280"/>
          </a:xfrm>
          <a:prstGeom prst="rect">
            <a:avLst/>
          </a:prstGeom>
          <a:noFill/>
        </p:spPr>
        <p:txBody>
          <a:bodyPr wrap="square" lIns="0" rIns="0" tIns="0" bIns="0" anchor="t">
            <a:spAutoFit/>
          </a:bodyPr>
          <a:lstStyle/>
          <a:p>
            <a:pPr>
              <a:lnSpc>
                <a:spcPct val="95000"/>
              </a:lnSpc>
              <a:buNone/>
            </a:pPr>
            <a:r>
              <a:rPr sz="3000">
                <a:solidFill>
                  <a:srgbClr val="0E1B2E"/>
                </a:solidFill>
                <a:latin typeface="Trenda IG Display Bold"/>
              </a:rPr>
              <a:t>75–85%</a:t>
            </a:r>
          </a:p>
        </p:txBody>
      </p:sp>
      <p:sp>
        <p:nvSpPr>
          <p:cNvPr id="20" name="TextBox 19"/>
          <p:cNvSpPr txBox="1"/>
          <p:nvPr/>
        </p:nvSpPr>
        <p:spPr>
          <a:xfrm>
            <a:off x="8439911" y="2971800"/>
            <a:ext cx="3410711" cy="822960"/>
          </a:xfrm>
          <a:prstGeom prst="rect">
            <a:avLst/>
          </a:prstGeom>
          <a:noFill/>
        </p:spPr>
        <p:txBody>
          <a:bodyPr wrap="square" lIns="0" rIns="0" tIns="0" bIns="0" anchor="t">
            <a:spAutoFit/>
          </a:bodyPr>
          <a:lstStyle/>
          <a:p>
            <a:pPr>
              <a:lnSpc>
                <a:spcPct val="105000"/>
              </a:lnSpc>
              <a:buNone/>
            </a:pPr>
            <a:r>
              <a:rPr sz="1200">
                <a:solidFill>
                  <a:srgbClr val="1A1A1A"/>
                </a:solidFill>
                <a:latin typeface="Trenda IG Text"/>
              </a:rPr>
              <a:t>Of initial test-case preparation done by agents, then reviewed by people.</a:t>
            </a:r>
          </a:p>
        </p:txBody>
      </p:sp>
      <p:sp>
        <p:nvSpPr>
          <p:cNvPr id="21" name="Rectangle 20"/>
          <p:cNvSpPr/>
          <p:nvPr/>
        </p:nvSpPr>
        <p:spPr>
          <a:xfrm>
            <a:off x="109728" y="4069080"/>
            <a:ext cx="11969496" cy="169164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92608" y="428853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 y="4206240"/>
            <a:ext cx="11338560" cy="274320"/>
          </a:xfrm>
          <a:prstGeom prst="rect">
            <a:avLst/>
          </a:prstGeom>
          <a:noFill/>
        </p:spPr>
        <p:txBody>
          <a:bodyPr wrap="square" lIns="0" rIns="0" tIns="0" bIns="0" anchor="t">
            <a:spAutoFit/>
          </a:bodyPr>
          <a:lstStyle/>
          <a:p>
            <a:pPr>
              <a:buNone/>
            </a:pPr>
            <a:r>
              <a:rPr sz="1350">
                <a:solidFill>
                  <a:srgbClr val="FFFFFF"/>
                </a:solidFill>
                <a:latin typeface="Trenda IG Display Bold"/>
              </a:rPr>
              <a:t>Built so far</a:t>
            </a:r>
          </a:p>
        </p:txBody>
      </p:sp>
      <p:sp>
        <p:nvSpPr>
          <p:cNvPr id="24" name="TextBox 23"/>
          <p:cNvSpPr txBox="1"/>
          <p:nvPr/>
        </p:nvSpPr>
        <p:spPr>
          <a:xfrm>
            <a:off x="292608" y="4617720"/>
            <a:ext cx="11521440" cy="1051560"/>
          </a:xfrm>
          <a:prstGeom prst="rect">
            <a:avLst/>
          </a:prstGeom>
          <a:noFill/>
        </p:spPr>
        <p:txBody>
          <a:bodyPr wrap="square" lIns="0" rIns="0" tIns="0" bIns="0" anchor="t">
            <a:spAutoFit/>
          </a:bodyPr>
          <a:lstStyle/>
          <a:p>
            <a:pPr marL="114300" indent="-114300">
              <a:spcAft>
                <a:spcPts val="500"/>
              </a:spcAft>
              <a:buChar char="•"/>
            </a:pPr>
            <a:r>
              <a:rPr sz="1150">
                <a:solidFill>
                  <a:srgbClr val="D8DEE6"/>
                </a:solidFill>
                <a:latin typeface="Trenda IG Text"/>
              </a:rPr>
              <a:t>7 UI agents, 4 backend agents and 4 QA agents.</a:t>
            </a:r>
          </a:p>
          <a:p>
            <a:pPr marL="114300" indent="-114300">
              <a:spcAft>
                <a:spcPts val="500"/>
              </a:spcAft>
              <a:buChar char="•"/>
            </a:pPr>
            <a:r>
              <a:rPr sz="1150">
                <a:solidFill>
                  <a:srgbClr val="D8DEE6"/>
                </a:solidFill>
                <a:latin typeface="Trenda IG Text"/>
              </a:rPr>
              <a:t>From Jira context and architecture through development, review, unit tests, and Zephyr and Copado automation.</a:t>
            </a:r>
          </a:p>
          <a:p>
            <a:pPr marL="114300" indent="-114300">
              <a:spcAft>
                <a:spcPts val="500"/>
              </a:spcAft>
              <a:buChar char="•"/>
            </a:pPr>
            <a:r>
              <a:rPr sz="1150">
                <a:solidFill>
                  <a:srgbClr val="D8DEE6"/>
                </a:solidFill>
                <a:latin typeface="Trenda IG Text"/>
              </a:rPr>
              <a:t>Human review remains the validation point at every step.</a:t>
            </a:r>
          </a:p>
        </p:txBody>
      </p:sp>
      <p:sp>
        <p:nvSpPr>
          <p:cNvPr id="25" name="Rectangle 24"/>
          <p:cNvSpPr/>
          <p:nvPr/>
        </p:nvSpPr>
        <p:spPr>
          <a:xfrm>
            <a:off x="109728" y="5980176"/>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2608" y="6217920"/>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980176"/>
            <a:ext cx="11521440" cy="566928"/>
          </a:xfrm>
          <a:prstGeom prst="rect">
            <a:avLst/>
          </a:prstGeom>
          <a:noFill/>
        </p:spPr>
        <p:txBody>
          <a:bodyPr wrap="square" lIns="0" rIns="0" tIns="0" bIns="0" anchor="ctr">
            <a:spAutoFit/>
          </a:bodyPr>
          <a:lstStyle/>
          <a:p>
            <a:pPr>
              <a:buNone/>
            </a:pPr>
            <a:r>
              <a:rPr sz="1050">
                <a:solidFill>
                  <a:srgbClr val="1A1A1A"/>
                </a:solidFill>
                <a:latin typeface="Trenda IG Text"/>
              </a:rPr>
              <a:t>This proposal joins these agents into one governed flow, and gives them the one thing they lack.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THE MISSING PIECE</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Every agent knows the ticket. None knows the org.</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Both examples measured in an Ascension sandbox.</a:t>
            </a:r>
          </a:p>
        </p:txBody>
      </p:sp>
      <p:sp>
        <p:nvSpPr>
          <p:cNvPr id="6" name="Rectangle 5"/>
          <p:cNvSpPr/>
          <p:nvPr/>
        </p:nvSpPr>
        <p:spPr>
          <a:xfrm>
            <a:off x="109728" y="1097280"/>
            <a:ext cx="11969496" cy="141732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99032"/>
            <a:ext cx="128016" cy="128016"/>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98448"/>
            <a:ext cx="11064240" cy="1097280"/>
          </a:xfrm>
          <a:prstGeom prst="rect">
            <a:avLst/>
          </a:prstGeom>
          <a:noFill/>
        </p:spPr>
        <p:txBody>
          <a:bodyPr wrap="square" lIns="0" rIns="0" tIns="0" bIns="0" anchor="t">
            <a:spAutoFit/>
          </a:bodyPr>
          <a:lstStyle/>
          <a:p>
            <a:pPr>
              <a:lnSpc>
                <a:spcPct val="100000"/>
              </a:lnSpc>
              <a:buNone/>
            </a:pPr>
            <a:r>
              <a:rPr sz="2200">
                <a:solidFill>
                  <a:srgbClr val="FFFFFF"/>
                </a:solidFill>
                <a:latin typeface="Trenda IG Display Bold"/>
              </a:rPr>
              <a:t>None of today's agents knows what already exists in the Salesforce org, or what a change will break.</a:t>
            </a:r>
          </a:p>
        </p:txBody>
      </p:sp>
      <p:sp>
        <p:nvSpPr>
          <p:cNvPr id="9" name="Rectangle 8"/>
          <p:cNvSpPr/>
          <p:nvPr/>
        </p:nvSpPr>
        <p:spPr>
          <a:xfrm>
            <a:off x="109728" y="2697480"/>
            <a:ext cx="5893308" cy="2478024"/>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 y="2898648"/>
            <a:ext cx="91440" cy="91440"/>
          </a:xfrm>
          <a:prstGeom prst="rect">
            <a:avLst/>
          </a:prstGeom>
          <a:solidFill>
            <a:srgbClr val="C218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 y="2816352"/>
            <a:ext cx="5344668" cy="274320"/>
          </a:xfrm>
          <a:prstGeom prst="rect">
            <a:avLst/>
          </a:prstGeom>
          <a:noFill/>
        </p:spPr>
        <p:txBody>
          <a:bodyPr wrap="square" lIns="0" rIns="0" tIns="0" bIns="0" anchor="t">
            <a:spAutoFit/>
          </a:bodyPr>
          <a:lstStyle/>
          <a:p>
            <a:pPr>
              <a:buNone/>
            </a:pPr>
            <a:r>
              <a:rPr sz="1350">
                <a:solidFill>
                  <a:srgbClr val="1A1A1A"/>
                </a:solidFill>
                <a:latin typeface="Trenda IG Display Bold"/>
              </a:rPr>
              <a:t>A field built twice</a:t>
            </a:r>
          </a:p>
        </p:txBody>
      </p:sp>
      <p:sp>
        <p:nvSpPr>
          <p:cNvPr id="12" name="TextBox 11"/>
          <p:cNvSpPr txBox="1"/>
          <p:nvPr/>
        </p:nvSpPr>
        <p:spPr>
          <a:xfrm>
            <a:off x="292608" y="3172968"/>
            <a:ext cx="5527548" cy="1911095"/>
          </a:xfrm>
          <a:prstGeom prst="rect">
            <a:avLst/>
          </a:prstGeom>
          <a:noFill/>
        </p:spPr>
        <p:txBody>
          <a:bodyPr wrap="square" lIns="0" rIns="0" tIns="0" bIns="0" anchor="t">
            <a:spAutoFit/>
          </a:bodyPr>
          <a:lstStyle/>
          <a:p>
            <a:pPr>
              <a:lnSpc>
                <a:spcPct val="102000"/>
              </a:lnSpc>
              <a:spcAft>
                <a:spcPts val="700"/>
              </a:spcAft>
              <a:buNone/>
            </a:pPr>
            <a:r>
              <a:rPr sz="1350">
                <a:solidFill>
                  <a:srgbClr val="1A1A1A"/>
                </a:solidFill>
                <a:latin typeface="Trenda IG Text"/>
              </a:rPr>
              <a:t>Asked to add an Effective From Date field to Healthcare Facility, an assistant builds it. The field already exists: one of 135 on that object, with 17 automations running on it.</a:t>
            </a:r>
          </a:p>
        </p:txBody>
      </p:sp>
      <p:sp>
        <p:nvSpPr>
          <p:cNvPr id="13" name="Rectangle 12"/>
          <p:cNvSpPr/>
          <p:nvPr/>
        </p:nvSpPr>
        <p:spPr>
          <a:xfrm>
            <a:off x="6185916" y="2697480"/>
            <a:ext cx="5893308" cy="2478024"/>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68796" y="2898648"/>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1676" y="2816352"/>
            <a:ext cx="5344668" cy="274320"/>
          </a:xfrm>
          <a:prstGeom prst="rect">
            <a:avLst/>
          </a:prstGeom>
          <a:noFill/>
        </p:spPr>
        <p:txBody>
          <a:bodyPr wrap="square" lIns="0" rIns="0" tIns="0" bIns="0" anchor="t">
            <a:spAutoFit/>
          </a:bodyPr>
          <a:lstStyle/>
          <a:p>
            <a:pPr>
              <a:buNone/>
            </a:pPr>
            <a:r>
              <a:rPr sz="1350">
                <a:solidFill>
                  <a:srgbClr val="1A1A1A"/>
                </a:solidFill>
                <a:latin typeface="Trenda IG Display Bold"/>
              </a:rPr>
              <a:t>Two paths drifting apart</a:t>
            </a:r>
          </a:p>
        </p:txBody>
      </p:sp>
      <p:sp>
        <p:nvSpPr>
          <p:cNvPr id="16" name="TextBox 15"/>
          <p:cNvSpPr txBox="1"/>
          <p:nvPr/>
        </p:nvSpPr>
        <p:spPr>
          <a:xfrm>
            <a:off x="6368796" y="3172968"/>
            <a:ext cx="5527548" cy="1911095"/>
          </a:xfrm>
          <a:prstGeom prst="rect">
            <a:avLst/>
          </a:prstGeom>
          <a:noFill/>
        </p:spPr>
        <p:txBody>
          <a:bodyPr wrap="square" lIns="0" rIns="0" tIns="0" bIns="0" anchor="t">
            <a:spAutoFit/>
          </a:bodyPr>
          <a:lstStyle/>
          <a:p>
            <a:pPr>
              <a:lnSpc>
                <a:spcPct val="102000"/>
              </a:lnSpc>
              <a:spcAft>
                <a:spcPts val="700"/>
              </a:spcAft>
              <a:buNone/>
            </a:pPr>
            <a:r>
              <a:rPr sz="1350">
                <a:solidFill>
                  <a:srgbClr val="1A1A1A"/>
                </a:solidFill>
                <a:latin typeface="Trenda IG Text"/>
              </a:rPr>
              <a:t>Healthcare Facility Network creation lives half in Apex and half in Flow. Change one without seeing the other and the two drift apart.</a:t>
            </a:r>
          </a:p>
        </p:txBody>
      </p:sp>
      <p:sp>
        <p:nvSpPr>
          <p:cNvPr id="17" name="Rectangle 16"/>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5358384"/>
            <a:ext cx="11521440" cy="566928"/>
          </a:xfrm>
          <a:prstGeom prst="rect">
            <a:avLst/>
          </a:prstGeom>
          <a:noFill/>
        </p:spPr>
        <p:txBody>
          <a:bodyPr wrap="square" lIns="0" rIns="0" tIns="0" bIns="0" anchor="ctr">
            <a:spAutoFit/>
          </a:bodyPr>
          <a:lstStyle/>
          <a:p>
            <a:pPr>
              <a:buNone/>
            </a:pPr>
            <a:r>
              <a:rPr sz="1050">
                <a:solidFill>
                  <a:srgbClr val="1A1A1A"/>
                </a:solidFill>
                <a:latin typeface="Trenda IG Text"/>
              </a:rPr>
              <a:t>Coding assistants are good at writing code. Neither one of them can see the org.</a:t>
            </a:r>
          </a:p>
        </p:txBody>
      </p:sp>
      <p:sp>
        <p:nvSpPr>
          <p:cNvPr id="20" name="Rectangle 19"/>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The fix is a knowledge graph of the org that every agent checks before it acts.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THE SOLUTION</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One front door, a team of agents, one knowledge graph</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Agents reach the graph and systems through MCP.</a:t>
            </a:r>
          </a:p>
        </p:txBody>
      </p:sp>
      <p:sp>
        <p:nvSpPr>
          <p:cNvPr id="6" name="Rectangle 5"/>
          <p:cNvSpPr/>
          <p:nvPr/>
        </p:nvSpPr>
        <p:spPr>
          <a:xfrm>
            <a:off x="109728" y="1097280"/>
            <a:ext cx="1920240" cy="338328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2608" y="1325880"/>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243584"/>
            <a:ext cx="1463040" cy="548640"/>
          </a:xfrm>
          <a:prstGeom prst="rect">
            <a:avLst/>
          </a:prstGeom>
          <a:noFill/>
        </p:spPr>
        <p:txBody>
          <a:bodyPr wrap="square" lIns="0" rIns="0" tIns="0" bIns="0" anchor="t">
            <a:spAutoFit/>
          </a:bodyPr>
          <a:lstStyle/>
          <a:p>
            <a:pPr>
              <a:buNone/>
            </a:pPr>
            <a:r>
              <a:rPr sz="1350">
                <a:solidFill>
                  <a:srgbClr val="1A1A1A"/>
                </a:solidFill>
                <a:latin typeface="Trenda IG Display Bold"/>
              </a:rPr>
              <a:t>PM and Tech Lead</a:t>
            </a:r>
          </a:p>
        </p:txBody>
      </p:sp>
      <p:sp>
        <p:nvSpPr>
          <p:cNvPr id="9" name="TextBox 8"/>
          <p:cNvSpPr txBox="1"/>
          <p:nvPr/>
        </p:nvSpPr>
        <p:spPr>
          <a:xfrm>
            <a:off x="292608" y="1645919"/>
            <a:ext cx="1600200" cy="2194560"/>
          </a:xfrm>
          <a:prstGeom prst="rect">
            <a:avLst/>
          </a:prstGeom>
          <a:noFill/>
        </p:spPr>
        <p:txBody>
          <a:bodyPr wrap="square" lIns="0" rIns="0" tIns="0" bIns="0" anchor="t">
            <a:spAutoFit/>
          </a:bodyPr>
          <a:lstStyle/>
          <a:p>
            <a:pPr>
              <a:spcAft>
                <a:spcPts val="800"/>
              </a:spcAft>
              <a:buNone/>
            </a:pPr>
            <a:r>
              <a:rPr sz="1150">
                <a:solidFill>
                  <a:srgbClr val="1A1A1A"/>
                </a:solidFill>
                <a:latin typeface="Trenda IG Text"/>
              </a:rPr>
              <a:t>Ask in plain English.</a:t>
            </a:r>
          </a:p>
          <a:p>
            <a:pPr>
              <a:spcAft>
                <a:spcPts val="800"/>
              </a:spcAft>
              <a:buNone/>
            </a:pPr>
            <a:r>
              <a:rPr sz="1150">
                <a:solidFill>
                  <a:srgbClr val="1A1A1A"/>
                </a:solidFill>
                <a:latin typeface="Trenda IG Text"/>
              </a:rPr>
              <a:t>Approve at every gate.</a:t>
            </a:r>
          </a:p>
        </p:txBody>
      </p:sp>
      <p:sp>
        <p:nvSpPr>
          <p:cNvPr id="10" name="Right Arrow 9"/>
          <p:cNvSpPr/>
          <p:nvPr/>
        </p:nvSpPr>
        <p:spPr>
          <a:xfrm>
            <a:off x="2103120" y="2706624"/>
            <a:ext cx="256032" cy="164592"/>
          </a:xfrm>
          <a:prstGeom prst="rightArrow">
            <a:avLst/>
          </a:prstGeom>
          <a:solidFill>
            <a:srgbClr val="9AA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432304" y="1097280"/>
            <a:ext cx="2103120" cy="33832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15184" y="1325880"/>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98064" y="1243584"/>
            <a:ext cx="1645920" cy="274320"/>
          </a:xfrm>
          <a:prstGeom prst="rect">
            <a:avLst/>
          </a:prstGeom>
          <a:noFill/>
        </p:spPr>
        <p:txBody>
          <a:bodyPr wrap="square" lIns="0" rIns="0" tIns="0" bIns="0" anchor="t">
            <a:spAutoFit/>
          </a:bodyPr>
          <a:lstStyle/>
          <a:p>
            <a:pPr>
              <a:buNone/>
            </a:pPr>
            <a:r>
              <a:rPr sz="1350">
                <a:solidFill>
                  <a:srgbClr val="FFFFFF"/>
                </a:solidFill>
                <a:latin typeface="Trenda IG Display Bold"/>
              </a:rPr>
              <a:t>Codex</a:t>
            </a:r>
          </a:p>
        </p:txBody>
      </p:sp>
      <p:sp>
        <p:nvSpPr>
          <p:cNvPr id="14" name="TextBox 13"/>
          <p:cNvSpPr txBox="1"/>
          <p:nvPr/>
        </p:nvSpPr>
        <p:spPr>
          <a:xfrm>
            <a:off x="2615184" y="1645919"/>
            <a:ext cx="1783080" cy="2377440"/>
          </a:xfrm>
          <a:prstGeom prst="rect">
            <a:avLst/>
          </a:prstGeom>
          <a:noFill/>
        </p:spPr>
        <p:txBody>
          <a:bodyPr wrap="square" lIns="0" rIns="0" tIns="0" bIns="0" anchor="t">
            <a:spAutoFit/>
          </a:bodyPr>
          <a:lstStyle/>
          <a:p>
            <a:pPr>
              <a:spcAft>
                <a:spcPts val="800"/>
              </a:spcAft>
              <a:buNone/>
            </a:pPr>
            <a:r>
              <a:rPr sz="1150">
                <a:solidFill>
                  <a:srgbClr val="D8DEE6"/>
                </a:solidFill>
                <a:latin typeface="Trenda IG Text"/>
              </a:rPr>
              <a:t>The front door.</a:t>
            </a:r>
          </a:p>
          <a:p>
            <a:pPr>
              <a:spcAft>
                <a:spcPts val="800"/>
              </a:spcAft>
              <a:buNone/>
            </a:pPr>
            <a:r>
              <a:rPr sz="1150">
                <a:solidFill>
                  <a:srgbClr val="D8DEE6"/>
                </a:solidFill>
                <a:latin typeface="Trenda IG Text"/>
              </a:rPr>
              <a:t>Its orchestrator routes each request to the right agents.</a:t>
            </a:r>
          </a:p>
        </p:txBody>
      </p:sp>
      <p:sp>
        <p:nvSpPr>
          <p:cNvPr id="15" name="Right Arrow 14"/>
          <p:cNvSpPr/>
          <p:nvPr/>
        </p:nvSpPr>
        <p:spPr>
          <a:xfrm>
            <a:off x="4608576" y="2706624"/>
            <a:ext cx="256032" cy="164592"/>
          </a:xfrm>
          <a:prstGeom prst="rightArrow">
            <a:avLst/>
          </a:prstGeom>
          <a:solidFill>
            <a:srgbClr val="9AA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60" y="1097280"/>
            <a:ext cx="4206240" cy="338328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20640" y="1325880"/>
            <a:ext cx="91440" cy="91440"/>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1243584"/>
            <a:ext cx="3200400" cy="274320"/>
          </a:xfrm>
          <a:prstGeom prst="rect">
            <a:avLst/>
          </a:prstGeom>
          <a:noFill/>
        </p:spPr>
        <p:txBody>
          <a:bodyPr wrap="square" lIns="0" rIns="0" tIns="0" bIns="0" anchor="t">
            <a:spAutoFit/>
          </a:bodyPr>
          <a:lstStyle/>
          <a:p>
            <a:pPr>
              <a:buNone/>
            </a:pPr>
            <a:r>
              <a:rPr sz="1350">
                <a:solidFill>
                  <a:srgbClr val="1A1A1A"/>
                </a:solidFill>
                <a:latin typeface="Trenda IG Display Bold"/>
              </a:rPr>
              <a:t>Agent team</a:t>
            </a:r>
          </a:p>
        </p:txBody>
      </p:sp>
      <p:sp>
        <p:nvSpPr>
          <p:cNvPr id="19" name="Rectangle 18"/>
          <p:cNvSpPr/>
          <p:nvPr/>
        </p:nvSpPr>
        <p:spPr>
          <a:xfrm>
            <a:off x="5120640" y="1664207"/>
            <a:ext cx="1851659" cy="36576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30368" y="1664207"/>
            <a:ext cx="1668779" cy="365760"/>
          </a:xfrm>
          <a:prstGeom prst="rect">
            <a:avLst/>
          </a:prstGeom>
          <a:noFill/>
        </p:spPr>
        <p:txBody>
          <a:bodyPr wrap="square" lIns="0" rIns="0" tIns="0" bIns="0" anchor="ctr">
            <a:spAutoFit/>
          </a:bodyPr>
          <a:lstStyle/>
          <a:p>
            <a:pPr>
              <a:buNone/>
            </a:pPr>
            <a:r>
              <a:rPr sz="1000">
                <a:solidFill>
                  <a:srgbClr val="1A1A1A"/>
                </a:solidFill>
                <a:latin typeface="Trenda IG Text Semibold"/>
              </a:rPr>
              <a:t>Requirements</a:t>
            </a:r>
          </a:p>
        </p:txBody>
      </p:sp>
      <p:sp>
        <p:nvSpPr>
          <p:cNvPr id="21" name="Rectangle 20"/>
          <p:cNvSpPr/>
          <p:nvPr/>
        </p:nvSpPr>
        <p:spPr>
          <a:xfrm>
            <a:off x="7109460" y="1664207"/>
            <a:ext cx="1851659" cy="36576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19188" y="1664207"/>
            <a:ext cx="1668779" cy="365760"/>
          </a:xfrm>
          <a:prstGeom prst="rect">
            <a:avLst/>
          </a:prstGeom>
          <a:noFill/>
        </p:spPr>
        <p:txBody>
          <a:bodyPr wrap="square" lIns="0" rIns="0" tIns="0" bIns="0" anchor="ctr">
            <a:spAutoFit/>
          </a:bodyPr>
          <a:lstStyle/>
          <a:p>
            <a:pPr>
              <a:buNone/>
            </a:pPr>
            <a:r>
              <a:rPr sz="1000">
                <a:solidFill>
                  <a:srgbClr val="1A1A1A"/>
                </a:solidFill>
                <a:latin typeface="Trenda IG Text Semibold"/>
              </a:rPr>
              <a:t>Impact &amp; Reuse</a:t>
            </a:r>
          </a:p>
        </p:txBody>
      </p:sp>
      <p:sp>
        <p:nvSpPr>
          <p:cNvPr id="23" name="Rectangle 22"/>
          <p:cNvSpPr/>
          <p:nvPr/>
        </p:nvSpPr>
        <p:spPr>
          <a:xfrm>
            <a:off x="5120640" y="2103120"/>
            <a:ext cx="1851659" cy="36576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30368" y="2103120"/>
            <a:ext cx="1668779" cy="365760"/>
          </a:xfrm>
          <a:prstGeom prst="rect">
            <a:avLst/>
          </a:prstGeom>
          <a:noFill/>
        </p:spPr>
        <p:txBody>
          <a:bodyPr wrap="square" lIns="0" rIns="0" tIns="0" bIns="0" anchor="ctr">
            <a:spAutoFit/>
          </a:bodyPr>
          <a:lstStyle/>
          <a:p>
            <a:pPr>
              <a:buNone/>
            </a:pPr>
            <a:r>
              <a:rPr sz="1000">
                <a:solidFill>
                  <a:srgbClr val="1A1A1A"/>
                </a:solidFill>
                <a:latin typeface="Trenda IG Text Semibold"/>
              </a:rPr>
              <a:t>Jira</a:t>
            </a:r>
          </a:p>
        </p:txBody>
      </p:sp>
      <p:sp>
        <p:nvSpPr>
          <p:cNvPr id="25" name="Rectangle 24"/>
          <p:cNvSpPr/>
          <p:nvPr/>
        </p:nvSpPr>
        <p:spPr>
          <a:xfrm>
            <a:off x="7109460" y="2103120"/>
            <a:ext cx="1851659" cy="36576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19188" y="2103120"/>
            <a:ext cx="1668779" cy="365760"/>
          </a:xfrm>
          <a:prstGeom prst="rect">
            <a:avLst/>
          </a:prstGeom>
          <a:noFill/>
        </p:spPr>
        <p:txBody>
          <a:bodyPr wrap="square" lIns="0" rIns="0" tIns="0" bIns="0" anchor="ctr">
            <a:spAutoFit/>
          </a:bodyPr>
          <a:lstStyle/>
          <a:p>
            <a:pPr>
              <a:buNone/>
            </a:pPr>
            <a:r>
              <a:rPr sz="1000">
                <a:solidFill>
                  <a:srgbClr val="1A1A1A"/>
                </a:solidFill>
                <a:latin typeface="Trenda IG Text Semibold"/>
              </a:rPr>
              <a:t>Architect</a:t>
            </a:r>
          </a:p>
        </p:txBody>
      </p:sp>
      <p:sp>
        <p:nvSpPr>
          <p:cNvPr id="27" name="Rectangle 26"/>
          <p:cNvSpPr/>
          <p:nvPr/>
        </p:nvSpPr>
        <p:spPr>
          <a:xfrm>
            <a:off x="5120640" y="2542032"/>
            <a:ext cx="1851659" cy="36576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30368" y="2542032"/>
            <a:ext cx="1668779" cy="365760"/>
          </a:xfrm>
          <a:prstGeom prst="rect">
            <a:avLst/>
          </a:prstGeom>
          <a:noFill/>
        </p:spPr>
        <p:txBody>
          <a:bodyPr wrap="square" lIns="0" rIns="0" tIns="0" bIns="0" anchor="ctr">
            <a:spAutoFit/>
          </a:bodyPr>
          <a:lstStyle/>
          <a:p>
            <a:pPr>
              <a:buNone/>
            </a:pPr>
            <a:r>
              <a:rPr sz="1000">
                <a:solidFill>
                  <a:srgbClr val="1A1A1A"/>
                </a:solidFill>
                <a:latin typeface="Trenda IG Text Semibold"/>
              </a:rPr>
              <a:t>Confluence</a:t>
            </a:r>
          </a:p>
        </p:txBody>
      </p:sp>
      <p:sp>
        <p:nvSpPr>
          <p:cNvPr id="29" name="Rectangle 28"/>
          <p:cNvSpPr/>
          <p:nvPr/>
        </p:nvSpPr>
        <p:spPr>
          <a:xfrm>
            <a:off x="7109460" y="2542032"/>
            <a:ext cx="1851659" cy="36576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19188" y="2542032"/>
            <a:ext cx="1668779" cy="365760"/>
          </a:xfrm>
          <a:prstGeom prst="rect">
            <a:avLst/>
          </a:prstGeom>
          <a:noFill/>
        </p:spPr>
        <p:txBody>
          <a:bodyPr wrap="square" lIns="0" rIns="0" tIns="0" bIns="0" anchor="ctr">
            <a:spAutoFit/>
          </a:bodyPr>
          <a:lstStyle/>
          <a:p>
            <a:pPr>
              <a:buNone/>
            </a:pPr>
            <a:r>
              <a:rPr sz="1000">
                <a:solidFill>
                  <a:srgbClr val="1A1A1A"/>
                </a:solidFill>
                <a:latin typeface="Trenda IG Text Semibold"/>
              </a:rPr>
              <a:t>Developer</a:t>
            </a:r>
          </a:p>
        </p:txBody>
      </p:sp>
      <p:sp>
        <p:nvSpPr>
          <p:cNvPr id="31" name="Rectangle 30"/>
          <p:cNvSpPr/>
          <p:nvPr/>
        </p:nvSpPr>
        <p:spPr>
          <a:xfrm>
            <a:off x="5120640" y="2980944"/>
            <a:ext cx="1851659" cy="36576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30368" y="2980944"/>
            <a:ext cx="1668779" cy="365760"/>
          </a:xfrm>
          <a:prstGeom prst="rect">
            <a:avLst/>
          </a:prstGeom>
          <a:noFill/>
        </p:spPr>
        <p:txBody>
          <a:bodyPr wrap="square" lIns="0" rIns="0" tIns="0" bIns="0" anchor="ctr">
            <a:spAutoFit/>
          </a:bodyPr>
          <a:lstStyle/>
          <a:p>
            <a:pPr>
              <a:buNone/>
            </a:pPr>
            <a:r>
              <a:rPr sz="1000">
                <a:solidFill>
                  <a:srgbClr val="1A1A1A"/>
                </a:solidFill>
                <a:latin typeface="Trenda IG Text Semibold"/>
              </a:rPr>
              <a:t>Review</a:t>
            </a:r>
          </a:p>
        </p:txBody>
      </p:sp>
      <p:sp>
        <p:nvSpPr>
          <p:cNvPr id="33" name="Rectangle 32"/>
          <p:cNvSpPr/>
          <p:nvPr/>
        </p:nvSpPr>
        <p:spPr>
          <a:xfrm>
            <a:off x="7109460" y="2980944"/>
            <a:ext cx="1851659" cy="36576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19188" y="2980944"/>
            <a:ext cx="1668779" cy="365760"/>
          </a:xfrm>
          <a:prstGeom prst="rect">
            <a:avLst/>
          </a:prstGeom>
          <a:noFill/>
        </p:spPr>
        <p:txBody>
          <a:bodyPr wrap="square" lIns="0" rIns="0" tIns="0" bIns="0" anchor="ctr">
            <a:spAutoFit/>
          </a:bodyPr>
          <a:lstStyle/>
          <a:p>
            <a:pPr>
              <a:buNone/>
            </a:pPr>
            <a:r>
              <a:rPr sz="1000">
                <a:solidFill>
                  <a:srgbClr val="1A1A1A"/>
                </a:solidFill>
                <a:latin typeface="Trenda IG Text Semibold"/>
              </a:rPr>
              <a:t>Test</a:t>
            </a:r>
          </a:p>
        </p:txBody>
      </p:sp>
      <p:sp>
        <p:nvSpPr>
          <p:cNvPr id="35" name="Rectangle 34"/>
          <p:cNvSpPr/>
          <p:nvPr/>
        </p:nvSpPr>
        <p:spPr>
          <a:xfrm>
            <a:off x="5120640" y="3419856"/>
            <a:ext cx="1851659" cy="36576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30368" y="3419856"/>
            <a:ext cx="1668779" cy="365760"/>
          </a:xfrm>
          <a:prstGeom prst="rect">
            <a:avLst/>
          </a:prstGeom>
          <a:noFill/>
        </p:spPr>
        <p:txBody>
          <a:bodyPr wrap="square" lIns="0" rIns="0" tIns="0" bIns="0" anchor="ctr">
            <a:spAutoFit/>
          </a:bodyPr>
          <a:lstStyle/>
          <a:p>
            <a:pPr>
              <a:buNone/>
            </a:pPr>
            <a:r>
              <a:rPr sz="1000">
                <a:solidFill>
                  <a:srgbClr val="1A1A1A"/>
                </a:solidFill>
                <a:latin typeface="Trenda IG Text Semibold"/>
              </a:rPr>
              <a:t>QA automation</a:t>
            </a:r>
          </a:p>
        </p:txBody>
      </p:sp>
      <p:sp>
        <p:nvSpPr>
          <p:cNvPr id="37" name="Rectangle 36"/>
          <p:cNvSpPr/>
          <p:nvPr/>
        </p:nvSpPr>
        <p:spPr>
          <a:xfrm>
            <a:off x="7109460" y="3419856"/>
            <a:ext cx="1851659" cy="36576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19188" y="3419856"/>
            <a:ext cx="1668779" cy="365760"/>
          </a:xfrm>
          <a:prstGeom prst="rect">
            <a:avLst/>
          </a:prstGeom>
          <a:noFill/>
        </p:spPr>
        <p:txBody>
          <a:bodyPr wrap="square" lIns="0" rIns="0" tIns="0" bIns="0" anchor="ctr">
            <a:spAutoFit/>
          </a:bodyPr>
          <a:lstStyle/>
          <a:p>
            <a:pPr>
              <a:buNone/>
            </a:pPr>
            <a:r>
              <a:rPr sz="1000">
                <a:solidFill>
                  <a:srgbClr val="1A1A1A"/>
                </a:solidFill>
                <a:latin typeface="Trenda IG Text Semibold"/>
              </a:rPr>
              <a:t>Deployment</a:t>
            </a:r>
          </a:p>
        </p:txBody>
      </p:sp>
      <p:sp>
        <p:nvSpPr>
          <p:cNvPr id="39" name="Rectangle 38"/>
          <p:cNvSpPr/>
          <p:nvPr/>
        </p:nvSpPr>
        <p:spPr>
          <a:xfrm>
            <a:off x="5120640" y="3858768"/>
            <a:ext cx="1851659" cy="36576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30368" y="3858768"/>
            <a:ext cx="1668779" cy="365760"/>
          </a:xfrm>
          <a:prstGeom prst="rect">
            <a:avLst/>
          </a:prstGeom>
          <a:noFill/>
        </p:spPr>
        <p:txBody>
          <a:bodyPr wrap="square" lIns="0" rIns="0" tIns="0" bIns="0" anchor="ctr">
            <a:spAutoFit/>
          </a:bodyPr>
          <a:lstStyle/>
          <a:p>
            <a:pPr>
              <a:buNone/>
            </a:pPr>
            <a:r>
              <a:rPr sz="1000">
                <a:solidFill>
                  <a:srgbClr val="1A1A1A"/>
                </a:solidFill>
                <a:latin typeface="Trenda IG Text Semibold"/>
              </a:rPr>
              <a:t>Support &amp; RCA</a:t>
            </a:r>
          </a:p>
        </p:txBody>
      </p:sp>
      <p:sp>
        <p:nvSpPr>
          <p:cNvPr id="41" name="Rectangle 40"/>
          <p:cNvSpPr/>
          <p:nvPr/>
        </p:nvSpPr>
        <p:spPr>
          <a:xfrm>
            <a:off x="7109460" y="3858768"/>
            <a:ext cx="1851659" cy="36576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19188" y="3858768"/>
            <a:ext cx="1668779" cy="365760"/>
          </a:xfrm>
          <a:prstGeom prst="rect">
            <a:avLst/>
          </a:prstGeom>
          <a:noFill/>
        </p:spPr>
        <p:txBody>
          <a:bodyPr wrap="square" lIns="0" rIns="0" tIns="0" bIns="0" anchor="ctr">
            <a:spAutoFit/>
          </a:bodyPr>
          <a:lstStyle/>
          <a:p>
            <a:pPr>
              <a:buNone/>
            </a:pPr>
            <a:r>
              <a:rPr sz="1000">
                <a:solidFill>
                  <a:srgbClr val="1A1A1A"/>
                </a:solidFill>
                <a:latin typeface="Trenda IG Text Semibold"/>
              </a:rPr>
              <a:t>Orchestrator</a:t>
            </a:r>
          </a:p>
        </p:txBody>
      </p:sp>
      <p:sp>
        <p:nvSpPr>
          <p:cNvPr id="43" name="Right Arrow 42"/>
          <p:cNvSpPr/>
          <p:nvPr/>
        </p:nvSpPr>
        <p:spPr>
          <a:xfrm>
            <a:off x="9217152" y="2606039"/>
            <a:ext cx="274320" cy="146304"/>
          </a:xfrm>
          <a:prstGeom prst="rightArrow">
            <a:avLst/>
          </a:prstGeom>
          <a:solidFill>
            <a:srgbClr val="007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eft Arrow 43"/>
          <p:cNvSpPr/>
          <p:nvPr/>
        </p:nvSpPr>
        <p:spPr>
          <a:xfrm>
            <a:off x="9217152" y="2825496"/>
            <a:ext cx="274320" cy="146304"/>
          </a:xfrm>
          <a:prstGeom prst="leftArrow">
            <a:avLst/>
          </a:prstGeom>
          <a:solidFill>
            <a:srgbClr val="007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64624" y="1097280"/>
            <a:ext cx="2514600" cy="3383280"/>
          </a:xfrm>
          <a:prstGeom prst="rect">
            <a:avLst/>
          </a:prstGeom>
          <a:solidFill>
            <a:srgbClr val="E3F2F4"/>
          </a:solidFill>
          <a:ln w="15875">
            <a:solidFill>
              <a:srgbClr val="0075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747504" y="1325880"/>
            <a:ext cx="91440" cy="91440"/>
          </a:xfrm>
          <a:prstGeom prst="rect">
            <a:avLst/>
          </a:prstGeom>
          <a:solidFill>
            <a:srgbClr val="007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30384" y="1243584"/>
            <a:ext cx="2011680" cy="548640"/>
          </a:xfrm>
          <a:prstGeom prst="rect">
            <a:avLst/>
          </a:prstGeom>
          <a:noFill/>
        </p:spPr>
        <p:txBody>
          <a:bodyPr wrap="square" lIns="0" rIns="0" tIns="0" bIns="0" anchor="t">
            <a:spAutoFit/>
          </a:bodyPr>
          <a:lstStyle/>
          <a:p>
            <a:pPr>
              <a:buNone/>
            </a:pPr>
            <a:r>
              <a:rPr sz="1350">
                <a:solidFill>
                  <a:srgbClr val="1A1A1A"/>
                </a:solidFill>
                <a:latin typeface="Trenda IG Display Bold"/>
              </a:rPr>
              <a:t>Ascension Knowledge Graph</a:t>
            </a:r>
          </a:p>
        </p:txBody>
      </p:sp>
      <p:sp>
        <p:nvSpPr>
          <p:cNvPr id="48" name="TextBox 47"/>
          <p:cNvSpPr txBox="1"/>
          <p:nvPr/>
        </p:nvSpPr>
        <p:spPr>
          <a:xfrm>
            <a:off x="9747504" y="1965960"/>
            <a:ext cx="2148840" cy="2286000"/>
          </a:xfrm>
          <a:prstGeom prst="rect">
            <a:avLst/>
          </a:prstGeom>
          <a:noFill/>
        </p:spPr>
        <p:txBody>
          <a:bodyPr wrap="square" lIns="0" rIns="0" tIns="0" bIns="0" anchor="t">
            <a:spAutoFit/>
          </a:bodyPr>
          <a:lstStyle/>
          <a:p>
            <a:pPr>
              <a:spcAft>
                <a:spcPts val="800"/>
              </a:spcAft>
              <a:buNone/>
            </a:pPr>
            <a:r>
              <a:rPr sz="1150">
                <a:solidFill>
                  <a:srgbClr val="1A1A1A"/>
                </a:solidFill>
                <a:latin typeface="Trenda IG Text"/>
              </a:rPr>
              <a:t>On Google Cloud, built on the Universal Gap Framework.</a:t>
            </a:r>
          </a:p>
          <a:p>
            <a:pPr>
              <a:spcAft>
                <a:spcPts val="800"/>
              </a:spcAft>
              <a:buNone/>
            </a:pPr>
            <a:r>
              <a:rPr sz="1150">
                <a:solidFill>
                  <a:srgbClr val="1A1A1A"/>
                </a:solidFill>
                <a:latin typeface="Trenda IG Text"/>
              </a:rPr>
              <a:t>Every component, ticket and design page, and how they connect.</a:t>
            </a:r>
          </a:p>
        </p:txBody>
      </p:sp>
      <p:sp>
        <p:nvSpPr>
          <p:cNvPr id="49" name="Rectangle 48"/>
          <p:cNvSpPr/>
          <p:nvPr/>
        </p:nvSpPr>
        <p:spPr>
          <a:xfrm>
            <a:off x="109728" y="4663440"/>
            <a:ext cx="5893308" cy="91440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2608" y="4818888"/>
            <a:ext cx="5527548" cy="155448"/>
          </a:xfrm>
          <a:prstGeom prst="rect">
            <a:avLst/>
          </a:prstGeom>
          <a:noFill/>
        </p:spPr>
        <p:txBody>
          <a:bodyPr wrap="square" lIns="0" rIns="0" tIns="0" bIns="0" anchor="t">
            <a:spAutoFit/>
          </a:bodyPr>
          <a:lstStyle/>
          <a:p>
            <a:pPr>
              <a:buNone/>
            </a:pPr>
            <a:r>
              <a:rPr sz="750" spc="60">
                <a:solidFill>
                  <a:srgbClr val="1B6BC0"/>
                </a:solidFill>
                <a:latin typeface="Trenda IG Text Semibold"/>
              </a:rPr>
              <a:t>THE GRAPH READS FROM, READ-ONLY</a:t>
            </a:r>
          </a:p>
        </p:txBody>
      </p:sp>
      <p:sp>
        <p:nvSpPr>
          <p:cNvPr id="51" name="TextBox 50"/>
          <p:cNvSpPr txBox="1"/>
          <p:nvPr/>
        </p:nvSpPr>
        <p:spPr>
          <a:xfrm>
            <a:off x="292608" y="5093208"/>
            <a:ext cx="5527548" cy="365760"/>
          </a:xfrm>
          <a:prstGeom prst="rect">
            <a:avLst/>
          </a:prstGeom>
          <a:noFill/>
        </p:spPr>
        <p:txBody>
          <a:bodyPr wrap="square" lIns="0" rIns="0" tIns="0" bIns="0" anchor="t">
            <a:spAutoFit/>
          </a:bodyPr>
          <a:lstStyle/>
          <a:p>
            <a:pPr>
              <a:buNone/>
            </a:pPr>
            <a:r>
              <a:rPr sz="1150">
                <a:solidFill>
                  <a:srgbClr val="1A1A1A"/>
                </a:solidFill>
                <a:latin typeface="Trenda IG Text"/>
              </a:rPr>
              <a:t>Salesforce metadata  ·  Git and Copado  ·  Jira  ·  Confluence  ·  Drive</a:t>
            </a:r>
          </a:p>
        </p:txBody>
      </p:sp>
      <p:sp>
        <p:nvSpPr>
          <p:cNvPr id="52" name="Rectangle 51"/>
          <p:cNvSpPr/>
          <p:nvPr/>
        </p:nvSpPr>
        <p:spPr>
          <a:xfrm>
            <a:off x="6185916" y="4663440"/>
            <a:ext cx="5893308" cy="91440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68796" y="4818888"/>
            <a:ext cx="5527548" cy="155448"/>
          </a:xfrm>
          <a:prstGeom prst="rect">
            <a:avLst/>
          </a:prstGeom>
          <a:noFill/>
        </p:spPr>
        <p:txBody>
          <a:bodyPr wrap="square" lIns="0" rIns="0" tIns="0" bIns="0" anchor="t">
            <a:spAutoFit/>
          </a:bodyPr>
          <a:lstStyle/>
          <a:p>
            <a:pPr>
              <a:buNone/>
            </a:pPr>
            <a:r>
              <a:rPr sz="750" spc="60">
                <a:solidFill>
                  <a:srgbClr val="1B6BC0"/>
                </a:solidFill>
                <a:latin typeface="Trenda IG Text Semibold"/>
              </a:rPr>
              <a:t>AGENTS ACT THROUGH, WITH APPROVAL</a:t>
            </a:r>
          </a:p>
        </p:txBody>
      </p:sp>
      <p:sp>
        <p:nvSpPr>
          <p:cNvPr id="54" name="TextBox 53"/>
          <p:cNvSpPr txBox="1"/>
          <p:nvPr/>
        </p:nvSpPr>
        <p:spPr>
          <a:xfrm>
            <a:off x="6368796" y="5093208"/>
            <a:ext cx="5527548" cy="365760"/>
          </a:xfrm>
          <a:prstGeom prst="rect">
            <a:avLst/>
          </a:prstGeom>
          <a:noFill/>
        </p:spPr>
        <p:txBody>
          <a:bodyPr wrap="square" lIns="0" rIns="0" tIns="0" bIns="0" anchor="t">
            <a:spAutoFit/>
          </a:bodyPr>
          <a:lstStyle/>
          <a:p>
            <a:pPr>
              <a:buNone/>
            </a:pPr>
            <a:r>
              <a:rPr sz="1150">
                <a:solidFill>
                  <a:srgbClr val="1A1A1A"/>
                </a:solidFill>
                <a:latin typeface="Trenda IG Text"/>
              </a:rPr>
              <a:t>Jira tickets  ·  Confluence pages  ·  Git pull requests  ·  Copado deployments</a:t>
            </a:r>
          </a:p>
        </p:txBody>
      </p:sp>
      <p:sp>
        <p:nvSpPr>
          <p:cNvPr id="55" name="Rectangle 54"/>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Codex asks the graph. It never scans the org, and never invents a dependency.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HOW A REQUEST FLOWS</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One request, from business ask to production</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Four human gates. Everything else is automated.</a:t>
            </a:r>
          </a:p>
        </p:txBody>
      </p:sp>
      <p:sp>
        <p:nvSpPr>
          <p:cNvPr id="6" name="Rectangle 5"/>
          <p:cNvSpPr/>
          <p:nvPr/>
        </p:nvSpPr>
        <p:spPr>
          <a:xfrm>
            <a:off x="109728" y="1097280"/>
            <a:ext cx="2306116" cy="50292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6888" y="1097280"/>
            <a:ext cx="2031796" cy="502920"/>
          </a:xfrm>
          <a:prstGeom prst="rect">
            <a:avLst/>
          </a:prstGeom>
          <a:noFill/>
        </p:spPr>
        <p:txBody>
          <a:bodyPr wrap="square" lIns="0" rIns="0" tIns="0" bIns="0" anchor="ctr">
            <a:spAutoFit/>
          </a:bodyPr>
          <a:lstStyle/>
          <a:p>
            <a:pPr>
              <a:buNone/>
            </a:pPr>
            <a:r>
              <a:rPr sz="1350">
                <a:solidFill>
                  <a:srgbClr val="FFFFFF"/>
                </a:solidFill>
                <a:latin typeface="Trenda IG Display Bold"/>
              </a:rPr>
              <a:t>1 · Understand</a:t>
            </a:r>
          </a:p>
        </p:txBody>
      </p:sp>
      <p:sp>
        <p:nvSpPr>
          <p:cNvPr id="8" name="Rectangle 7"/>
          <p:cNvSpPr/>
          <p:nvPr/>
        </p:nvSpPr>
        <p:spPr>
          <a:xfrm>
            <a:off x="109728" y="1600200"/>
            <a:ext cx="2306116" cy="283464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6888" y="1783080"/>
            <a:ext cx="2031796" cy="2560320"/>
          </a:xfrm>
          <a:prstGeom prst="rect">
            <a:avLst/>
          </a:prstGeom>
          <a:noFill/>
        </p:spPr>
        <p:txBody>
          <a:bodyPr wrap="square" lIns="0" rIns="0" tIns="0" bIns="0" anchor="t">
            <a:spAutoFit/>
          </a:bodyPr>
          <a:lstStyle/>
          <a:p>
            <a:pPr marL="114300" indent="-114300">
              <a:lnSpc>
                <a:spcPct val="102000"/>
              </a:lnSpc>
              <a:spcAft>
                <a:spcPts val="1000"/>
              </a:spcAft>
              <a:buChar char="•"/>
            </a:pPr>
            <a:r>
              <a:rPr sz="1150">
                <a:solidFill>
                  <a:srgbClr val="1A1A1A"/>
                </a:solidFill>
                <a:latin typeface="Trenda IG Text"/>
              </a:rPr>
              <a:t>Request typed in Codex</a:t>
            </a:r>
          </a:p>
          <a:p>
            <a:pPr marL="114300" indent="-114300">
              <a:lnSpc>
                <a:spcPct val="102000"/>
              </a:lnSpc>
              <a:spcAft>
                <a:spcPts val="1000"/>
              </a:spcAft>
              <a:buChar char="•"/>
            </a:pPr>
            <a:r>
              <a:rPr sz="1150">
                <a:solidFill>
                  <a:srgbClr val="1A1A1A"/>
                </a:solidFill>
                <a:latin typeface="Trenda IG Text"/>
              </a:rPr>
              <a:t>Graph returns exists, reuse or impact</a:t>
            </a:r>
          </a:p>
          <a:p>
            <a:pPr marL="114300" indent="-114300">
              <a:lnSpc>
                <a:spcPct val="102000"/>
              </a:lnSpc>
              <a:spcAft>
                <a:spcPts val="1000"/>
              </a:spcAft>
              <a:buChar char="•"/>
            </a:pPr>
            <a:r>
              <a:rPr sz="1150">
                <a:solidFill>
                  <a:srgbClr val="1A1A1A"/>
                </a:solidFill>
                <a:latin typeface="Trenda IG Text"/>
              </a:rPr>
              <a:t>Story and acceptance criteria drafted</a:t>
            </a:r>
          </a:p>
        </p:txBody>
      </p:sp>
      <p:sp>
        <p:nvSpPr>
          <p:cNvPr id="10" name="Rectangle 9"/>
          <p:cNvSpPr/>
          <p:nvPr/>
        </p:nvSpPr>
        <p:spPr>
          <a:xfrm>
            <a:off x="109728" y="4434840"/>
            <a:ext cx="2306116" cy="777240"/>
          </a:xfrm>
          <a:prstGeom prst="rect">
            <a:avLst/>
          </a:prstGeom>
          <a:solidFill>
            <a:srgbClr val="FDF1DE"/>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46888" y="4581144"/>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4507992"/>
            <a:ext cx="1894636" cy="658368"/>
          </a:xfrm>
          <a:prstGeom prst="rect">
            <a:avLst/>
          </a:prstGeom>
          <a:noFill/>
        </p:spPr>
        <p:txBody>
          <a:bodyPr wrap="square" lIns="0" rIns="0" tIns="0" bIns="0" anchor="t">
            <a:spAutoFit/>
          </a:bodyPr>
          <a:lstStyle/>
          <a:p>
            <a:pPr>
              <a:lnSpc>
                <a:spcPct val="100000"/>
              </a:lnSpc>
              <a:buNone/>
            </a:pPr>
            <a:r>
              <a:rPr sz="1000">
                <a:solidFill>
                  <a:srgbClr val="1A1A1A"/>
                </a:solidFill>
                <a:latin typeface="Trenda IG Text Semibold"/>
              </a:rPr>
              <a:t>Gate 1 · PM and Tech Lead approve scope</a:t>
            </a:r>
          </a:p>
        </p:txBody>
      </p:sp>
      <p:sp>
        <p:nvSpPr>
          <p:cNvPr id="13" name="Rectangle 12"/>
          <p:cNvSpPr/>
          <p:nvPr/>
        </p:nvSpPr>
        <p:spPr>
          <a:xfrm>
            <a:off x="2525572" y="1097280"/>
            <a:ext cx="2306116" cy="502920"/>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62732" y="1097280"/>
            <a:ext cx="2031796" cy="502920"/>
          </a:xfrm>
          <a:prstGeom prst="rect">
            <a:avLst/>
          </a:prstGeom>
          <a:noFill/>
        </p:spPr>
        <p:txBody>
          <a:bodyPr wrap="square" lIns="0" rIns="0" tIns="0" bIns="0" anchor="ctr">
            <a:spAutoFit/>
          </a:bodyPr>
          <a:lstStyle/>
          <a:p>
            <a:pPr>
              <a:buNone/>
            </a:pPr>
            <a:r>
              <a:rPr sz="1350">
                <a:solidFill>
                  <a:srgbClr val="FFFFFF"/>
                </a:solidFill>
                <a:latin typeface="Trenda IG Display Bold"/>
              </a:rPr>
              <a:t>2 · Plan</a:t>
            </a:r>
          </a:p>
        </p:txBody>
      </p:sp>
      <p:sp>
        <p:nvSpPr>
          <p:cNvPr id="15" name="Rectangle 14"/>
          <p:cNvSpPr/>
          <p:nvPr/>
        </p:nvSpPr>
        <p:spPr>
          <a:xfrm>
            <a:off x="2525572" y="1600200"/>
            <a:ext cx="2306116" cy="283464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62732" y="1783080"/>
            <a:ext cx="2031796" cy="2560320"/>
          </a:xfrm>
          <a:prstGeom prst="rect">
            <a:avLst/>
          </a:prstGeom>
          <a:noFill/>
        </p:spPr>
        <p:txBody>
          <a:bodyPr wrap="square" lIns="0" rIns="0" tIns="0" bIns="0" anchor="t">
            <a:spAutoFit/>
          </a:bodyPr>
          <a:lstStyle/>
          <a:p>
            <a:pPr marL="114300" indent="-114300">
              <a:lnSpc>
                <a:spcPct val="102000"/>
              </a:lnSpc>
              <a:spcAft>
                <a:spcPts val="1000"/>
              </a:spcAft>
              <a:buChar char="•"/>
            </a:pPr>
            <a:r>
              <a:rPr sz="1150">
                <a:solidFill>
                  <a:srgbClr val="1A1A1A"/>
                </a:solidFill>
                <a:latin typeface="Trenda IG Text"/>
              </a:rPr>
              <a:t>Jira ticket in the current or next sprint</a:t>
            </a:r>
          </a:p>
          <a:p>
            <a:pPr marL="114300" indent="-114300">
              <a:lnSpc>
                <a:spcPct val="102000"/>
              </a:lnSpc>
              <a:spcAft>
                <a:spcPts val="1000"/>
              </a:spcAft>
              <a:buChar char="•"/>
            </a:pPr>
            <a:r>
              <a:rPr sz="1150">
                <a:solidFill>
                  <a:srgbClr val="1A1A1A"/>
                </a:solidFill>
                <a:latin typeface="Trenda IG Text"/>
              </a:rPr>
              <a:t>Flow, trigger or LWC chosen from facts</a:t>
            </a:r>
          </a:p>
          <a:p>
            <a:pPr marL="114300" indent="-114300">
              <a:lnSpc>
                <a:spcPct val="102000"/>
              </a:lnSpc>
              <a:spcAft>
                <a:spcPts val="1000"/>
              </a:spcAft>
              <a:buChar char="•"/>
            </a:pPr>
            <a:r>
              <a:rPr sz="1150">
                <a:solidFill>
                  <a:srgbClr val="1A1A1A"/>
                </a:solidFill>
                <a:latin typeface="Trenda IG Text"/>
              </a:rPr>
              <a:t>Design page published to Confluence</a:t>
            </a:r>
          </a:p>
        </p:txBody>
      </p:sp>
      <p:sp>
        <p:nvSpPr>
          <p:cNvPr id="17" name="Rectangle 16"/>
          <p:cNvSpPr/>
          <p:nvPr/>
        </p:nvSpPr>
        <p:spPr>
          <a:xfrm>
            <a:off x="2525572" y="4434840"/>
            <a:ext cx="2306116" cy="777240"/>
          </a:xfrm>
          <a:prstGeom prst="rect">
            <a:avLst/>
          </a:prstGeom>
          <a:solidFill>
            <a:srgbClr val="FDF1DE"/>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662732" y="4581144"/>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27324" y="4507992"/>
            <a:ext cx="1894636" cy="658368"/>
          </a:xfrm>
          <a:prstGeom prst="rect">
            <a:avLst/>
          </a:prstGeom>
          <a:noFill/>
        </p:spPr>
        <p:txBody>
          <a:bodyPr wrap="square" lIns="0" rIns="0" tIns="0" bIns="0" anchor="t">
            <a:spAutoFit/>
          </a:bodyPr>
          <a:lstStyle/>
          <a:p>
            <a:pPr>
              <a:lnSpc>
                <a:spcPct val="100000"/>
              </a:lnSpc>
              <a:buNone/>
            </a:pPr>
            <a:r>
              <a:rPr sz="1000">
                <a:solidFill>
                  <a:srgbClr val="1A1A1A"/>
                </a:solidFill>
                <a:latin typeface="Trenda IG Text Semibold"/>
              </a:rPr>
              <a:t>Gate 2 · Tech Lead approves design</a:t>
            </a:r>
          </a:p>
        </p:txBody>
      </p:sp>
      <p:sp>
        <p:nvSpPr>
          <p:cNvPr id="20" name="Rectangle 19"/>
          <p:cNvSpPr/>
          <p:nvPr/>
        </p:nvSpPr>
        <p:spPr>
          <a:xfrm>
            <a:off x="4941417" y="1097280"/>
            <a:ext cx="2306116" cy="502920"/>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78577" y="1097280"/>
            <a:ext cx="2031796" cy="502920"/>
          </a:xfrm>
          <a:prstGeom prst="rect">
            <a:avLst/>
          </a:prstGeom>
          <a:noFill/>
        </p:spPr>
        <p:txBody>
          <a:bodyPr wrap="square" lIns="0" rIns="0" tIns="0" bIns="0" anchor="ctr">
            <a:spAutoFit/>
          </a:bodyPr>
          <a:lstStyle/>
          <a:p>
            <a:pPr>
              <a:buNone/>
            </a:pPr>
            <a:r>
              <a:rPr sz="1350">
                <a:solidFill>
                  <a:srgbClr val="FFFFFF"/>
                </a:solidFill>
                <a:latin typeface="Trenda IG Display Bold"/>
              </a:rPr>
              <a:t>3 · Build</a:t>
            </a:r>
          </a:p>
        </p:txBody>
      </p:sp>
      <p:sp>
        <p:nvSpPr>
          <p:cNvPr id="22" name="Rectangle 21"/>
          <p:cNvSpPr/>
          <p:nvPr/>
        </p:nvSpPr>
        <p:spPr>
          <a:xfrm>
            <a:off x="4941417" y="1600200"/>
            <a:ext cx="2306116" cy="283464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8577" y="1783080"/>
            <a:ext cx="2031796" cy="2560320"/>
          </a:xfrm>
          <a:prstGeom prst="rect">
            <a:avLst/>
          </a:prstGeom>
          <a:noFill/>
        </p:spPr>
        <p:txBody>
          <a:bodyPr wrap="square" lIns="0" rIns="0" tIns="0" bIns="0" anchor="t">
            <a:spAutoFit/>
          </a:bodyPr>
          <a:lstStyle/>
          <a:p>
            <a:pPr marL="114300" indent="-114300">
              <a:lnSpc>
                <a:spcPct val="102000"/>
              </a:lnSpc>
              <a:spcAft>
                <a:spcPts val="1000"/>
              </a:spcAft>
              <a:buChar char="•"/>
            </a:pPr>
            <a:r>
              <a:rPr sz="1150">
                <a:solidFill>
                  <a:srgbClr val="1A1A1A"/>
                </a:solidFill>
                <a:latin typeface="Trenda IG Text"/>
              </a:rPr>
              <a:t>Code built to Ascension standards</a:t>
            </a:r>
          </a:p>
          <a:p>
            <a:pPr marL="114300" indent="-114300">
              <a:lnSpc>
                <a:spcPct val="102000"/>
              </a:lnSpc>
              <a:spcAft>
                <a:spcPts val="1000"/>
              </a:spcAft>
              <a:buChar char="•"/>
            </a:pPr>
            <a:r>
              <a:rPr sz="1150">
                <a:solidFill>
                  <a:srgbClr val="1A1A1A"/>
                </a:solidFill>
                <a:latin typeface="Trenda IG Text"/>
              </a:rPr>
              <a:t>Review agent checks quality and security</a:t>
            </a:r>
          </a:p>
          <a:p>
            <a:pPr marL="114300" indent="-114300">
              <a:lnSpc>
                <a:spcPct val="102000"/>
              </a:lnSpc>
              <a:spcAft>
                <a:spcPts val="1000"/>
              </a:spcAft>
              <a:buChar char="•"/>
            </a:pPr>
            <a:r>
              <a:rPr sz="1150">
                <a:solidFill>
                  <a:srgbClr val="1A1A1A"/>
                </a:solidFill>
                <a:latin typeface="Trenda IG Text"/>
              </a:rPr>
              <a:t>Pull request raised in Git</a:t>
            </a:r>
          </a:p>
        </p:txBody>
      </p:sp>
      <p:sp>
        <p:nvSpPr>
          <p:cNvPr id="24" name="Rectangle 23"/>
          <p:cNvSpPr/>
          <p:nvPr/>
        </p:nvSpPr>
        <p:spPr>
          <a:xfrm>
            <a:off x="4941417" y="4434840"/>
            <a:ext cx="2306116" cy="777240"/>
          </a:xfrm>
          <a:prstGeom prst="rect">
            <a:avLst/>
          </a:prstGeom>
          <a:solidFill>
            <a:srgbClr val="FDF1DE"/>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78577" y="4581144"/>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43169" y="4507992"/>
            <a:ext cx="1894636" cy="658368"/>
          </a:xfrm>
          <a:prstGeom prst="rect">
            <a:avLst/>
          </a:prstGeom>
          <a:noFill/>
        </p:spPr>
        <p:txBody>
          <a:bodyPr wrap="square" lIns="0" rIns="0" tIns="0" bIns="0" anchor="t">
            <a:spAutoFit/>
          </a:bodyPr>
          <a:lstStyle/>
          <a:p>
            <a:pPr>
              <a:lnSpc>
                <a:spcPct val="100000"/>
              </a:lnSpc>
              <a:buNone/>
            </a:pPr>
            <a:r>
              <a:rPr sz="1000">
                <a:solidFill>
                  <a:srgbClr val="1A1A1A"/>
                </a:solidFill>
                <a:latin typeface="Trenda IG Text Semibold"/>
              </a:rPr>
              <a:t>Gate 3 · Tech Lead approves the pull request</a:t>
            </a:r>
          </a:p>
        </p:txBody>
      </p:sp>
      <p:sp>
        <p:nvSpPr>
          <p:cNvPr id="27" name="Rectangle 26"/>
          <p:cNvSpPr/>
          <p:nvPr/>
        </p:nvSpPr>
        <p:spPr>
          <a:xfrm>
            <a:off x="7357262" y="1097280"/>
            <a:ext cx="2306116" cy="502920"/>
          </a:xfrm>
          <a:prstGeom prst="rect">
            <a:avLst/>
          </a:prstGeom>
          <a:solidFill>
            <a:srgbClr val="C218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4422" y="1097280"/>
            <a:ext cx="2031796" cy="502920"/>
          </a:xfrm>
          <a:prstGeom prst="rect">
            <a:avLst/>
          </a:prstGeom>
          <a:noFill/>
        </p:spPr>
        <p:txBody>
          <a:bodyPr wrap="square" lIns="0" rIns="0" tIns="0" bIns="0" anchor="ctr">
            <a:spAutoFit/>
          </a:bodyPr>
          <a:lstStyle/>
          <a:p>
            <a:pPr>
              <a:buNone/>
            </a:pPr>
            <a:r>
              <a:rPr sz="1350">
                <a:solidFill>
                  <a:srgbClr val="FFFFFF"/>
                </a:solidFill>
                <a:latin typeface="Trenda IG Display Bold"/>
              </a:rPr>
              <a:t>4 · Verify</a:t>
            </a:r>
          </a:p>
        </p:txBody>
      </p:sp>
      <p:sp>
        <p:nvSpPr>
          <p:cNvPr id="29" name="Rectangle 28"/>
          <p:cNvSpPr/>
          <p:nvPr/>
        </p:nvSpPr>
        <p:spPr>
          <a:xfrm>
            <a:off x="7357262" y="1600200"/>
            <a:ext cx="2306116" cy="283464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4422" y="1783080"/>
            <a:ext cx="2031796" cy="2560320"/>
          </a:xfrm>
          <a:prstGeom prst="rect">
            <a:avLst/>
          </a:prstGeom>
          <a:noFill/>
        </p:spPr>
        <p:txBody>
          <a:bodyPr wrap="square" lIns="0" rIns="0" tIns="0" bIns="0" anchor="t">
            <a:spAutoFit/>
          </a:bodyPr>
          <a:lstStyle/>
          <a:p>
            <a:pPr marL="114300" indent="-114300">
              <a:lnSpc>
                <a:spcPct val="102000"/>
              </a:lnSpc>
              <a:spcAft>
                <a:spcPts val="1000"/>
              </a:spcAft>
              <a:buChar char="•"/>
            </a:pPr>
            <a:r>
              <a:rPr sz="1150">
                <a:solidFill>
                  <a:srgbClr val="1A1A1A"/>
                </a:solidFill>
                <a:latin typeface="Trenda IG Text"/>
              </a:rPr>
              <a:t>Unit tests and coverage</a:t>
            </a:r>
          </a:p>
          <a:p>
            <a:pPr marL="114300" indent="-114300">
              <a:lnSpc>
                <a:spcPct val="102000"/>
              </a:lnSpc>
              <a:spcAft>
                <a:spcPts val="1000"/>
              </a:spcAft>
              <a:buChar char="•"/>
            </a:pPr>
            <a:r>
              <a:rPr sz="1150">
                <a:solidFill>
                  <a:srgbClr val="1A1A1A"/>
                </a:solidFill>
                <a:latin typeface="Trenda IG Text"/>
              </a:rPr>
              <a:t>Regression chosen by what the change touches</a:t>
            </a:r>
          </a:p>
          <a:p>
            <a:pPr marL="114300" indent="-114300">
              <a:lnSpc>
                <a:spcPct val="102000"/>
              </a:lnSpc>
              <a:spcAft>
                <a:spcPts val="1000"/>
              </a:spcAft>
              <a:buChar char="•"/>
            </a:pPr>
            <a:r>
              <a:rPr sz="1150">
                <a:solidFill>
                  <a:srgbClr val="1A1A1A"/>
                </a:solidFill>
                <a:latin typeface="Trenda IG Text"/>
              </a:rPr>
              <a:t>Zephyr cases, Copado automation</a:t>
            </a:r>
          </a:p>
        </p:txBody>
      </p:sp>
      <p:sp>
        <p:nvSpPr>
          <p:cNvPr id="31" name="Rectangle 30"/>
          <p:cNvSpPr/>
          <p:nvPr/>
        </p:nvSpPr>
        <p:spPr>
          <a:xfrm>
            <a:off x="7357262" y="4434840"/>
            <a:ext cx="2306116" cy="777240"/>
          </a:xfrm>
          <a:prstGeom prst="rect">
            <a:avLst/>
          </a:prstGeom>
          <a:solidFill>
            <a:srgbClr val="EAF1FB"/>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94422" y="4581144"/>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59014" y="4507992"/>
            <a:ext cx="1894636" cy="658368"/>
          </a:xfrm>
          <a:prstGeom prst="rect">
            <a:avLst/>
          </a:prstGeom>
          <a:noFill/>
        </p:spPr>
        <p:txBody>
          <a:bodyPr wrap="square" lIns="0" rIns="0" tIns="0" bIns="0" anchor="t">
            <a:spAutoFit/>
          </a:bodyPr>
          <a:lstStyle/>
          <a:p>
            <a:pPr>
              <a:lnSpc>
                <a:spcPct val="100000"/>
              </a:lnSpc>
              <a:buNone/>
            </a:pPr>
            <a:r>
              <a:rPr sz="1000">
                <a:solidFill>
                  <a:srgbClr val="1A1A1A"/>
                </a:solidFill>
                <a:latin typeface="Trenda IG Text Semibold"/>
              </a:rPr>
              <a:t>Automatic · Jira moves to QA with results</a:t>
            </a:r>
          </a:p>
        </p:txBody>
      </p:sp>
      <p:sp>
        <p:nvSpPr>
          <p:cNvPr id="34" name="Rectangle 33"/>
          <p:cNvSpPr/>
          <p:nvPr/>
        </p:nvSpPr>
        <p:spPr>
          <a:xfrm>
            <a:off x="9773107" y="1097280"/>
            <a:ext cx="2306116" cy="502920"/>
          </a:xfrm>
          <a:prstGeom prst="rect">
            <a:avLst/>
          </a:prstGeom>
          <a:solidFill>
            <a:srgbClr val="007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10267" y="1097280"/>
            <a:ext cx="2031796" cy="502920"/>
          </a:xfrm>
          <a:prstGeom prst="rect">
            <a:avLst/>
          </a:prstGeom>
          <a:noFill/>
        </p:spPr>
        <p:txBody>
          <a:bodyPr wrap="square" lIns="0" rIns="0" tIns="0" bIns="0" anchor="ctr">
            <a:spAutoFit/>
          </a:bodyPr>
          <a:lstStyle/>
          <a:p>
            <a:pPr>
              <a:buNone/>
            </a:pPr>
            <a:r>
              <a:rPr sz="1350">
                <a:solidFill>
                  <a:srgbClr val="FFFFFF"/>
                </a:solidFill>
                <a:latin typeface="Trenda IG Display Bold"/>
              </a:rPr>
              <a:t>5 · Release</a:t>
            </a:r>
          </a:p>
        </p:txBody>
      </p:sp>
      <p:sp>
        <p:nvSpPr>
          <p:cNvPr id="36" name="Rectangle 35"/>
          <p:cNvSpPr/>
          <p:nvPr/>
        </p:nvSpPr>
        <p:spPr>
          <a:xfrm>
            <a:off x="9773107" y="1600200"/>
            <a:ext cx="2306116" cy="283464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10267" y="1783080"/>
            <a:ext cx="2031796" cy="2560320"/>
          </a:xfrm>
          <a:prstGeom prst="rect">
            <a:avLst/>
          </a:prstGeom>
          <a:noFill/>
        </p:spPr>
        <p:txBody>
          <a:bodyPr wrap="square" lIns="0" rIns="0" tIns="0" bIns="0" anchor="t">
            <a:spAutoFit/>
          </a:bodyPr>
          <a:lstStyle/>
          <a:p>
            <a:pPr marL="114300" indent="-114300">
              <a:lnSpc>
                <a:spcPct val="102000"/>
              </a:lnSpc>
              <a:spcAft>
                <a:spcPts val="1000"/>
              </a:spcAft>
              <a:buChar char="•"/>
            </a:pPr>
            <a:r>
              <a:rPr sz="1150">
                <a:solidFill>
                  <a:srgbClr val="1A1A1A"/>
                </a:solidFill>
                <a:latin typeface="Trenda IG Text"/>
              </a:rPr>
              <a:t>Copado deploys to QA and UAT</a:t>
            </a:r>
          </a:p>
          <a:p>
            <a:pPr marL="114300" indent="-114300">
              <a:lnSpc>
                <a:spcPct val="102000"/>
              </a:lnSpc>
              <a:spcAft>
                <a:spcPts val="1000"/>
              </a:spcAft>
              <a:buChar char="•"/>
            </a:pPr>
            <a:r>
              <a:rPr sz="1150">
                <a:solidFill>
                  <a:srgbClr val="1A1A1A"/>
                </a:solidFill>
                <a:latin typeface="Trenda IG Text"/>
              </a:rPr>
              <a:t>Release notes and rollback plan</a:t>
            </a:r>
          </a:p>
          <a:p>
            <a:pPr marL="114300" indent="-114300">
              <a:lnSpc>
                <a:spcPct val="102000"/>
              </a:lnSpc>
              <a:spcAft>
                <a:spcPts val="1000"/>
              </a:spcAft>
              <a:buChar char="•"/>
            </a:pPr>
            <a:r>
              <a:rPr sz="1150">
                <a:solidFill>
                  <a:srgbClr val="1A1A1A"/>
                </a:solidFill>
                <a:latin typeface="Trenda IG Text"/>
              </a:rPr>
              <a:t>Graph re-synced with the change</a:t>
            </a:r>
          </a:p>
        </p:txBody>
      </p:sp>
      <p:sp>
        <p:nvSpPr>
          <p:cNvPr id="38" name="Rectangle 37"/>
          <p:cNvSpPr/>
          <p:nvPr/>
        </p:nvSpPr>
        <p:spPr>
          <a:xfrm>
            <a:off x="9773107" y="4434840"/>
            <a:ext cx="2306116" cy="777240"/>
          </a:xfrm>
          <a:prstGeom prst="rect">
            <a:avLst/>
          </a:prstGeom>
          <a:solidFill>
            <a:srgbClr val="FDF1DE"/>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910267" y="4581144"/>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74859" y="4507992"/>
            <a:ext cx="1894636" cy="658368"/>
          </a:xfrm>
          <a:prstGeom prst="rect">
            <a:avLst/>
          </a:prstGeom>
          <a:noFill/>
        </p:spPr>
        <p:txBody>
          <a:bodyPr wrap="square" lIns="0" rIns="0" tIns="0" bIns="0" anchor="t">
            <a:spAutoFit/>
          </a:bodyPr>
          <a:lstStyle/>
          <a:p>
            <a:pPr>
              <a:lnSpc>
                <a:spcPct val="100000"/>
              </a:lnSpc>
              <a:buNone/>
            </a:pPr>
            <a:r>
              <a:rPr sz="1000">
                <a:solidFill>
                  <a:srgbClr val="1A1A1A"/>
                </a:solidFill>
                <a:latin typeface="Trenda IG Text Semibold"/>
              </a:rPr>
              <a:t>Gate 4 · CAB approves production</a:t>
            </a:r>
          </a:p>
        </p:txBody>
      </p:sp>
      <p:sp>
        <p:nvSpPr>
          <p:cNvPr id="41" name="Rectangle 40"/>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5358384"/>
            <a:ext cx="11521440" cy="566928"/>
          </a:xfrm>
          <a:prstGeom prst="rect">
            <a:avLst/>
          </a:prstGeom>
          <a:noFill/>
        </p:spPr>
        <p:txBody>
          <a:bodyPr wrap="square" lIns="0" rIns="0" tIns="0" bIns="0" anchor="ctr">
            <a:spAutoFit/>
          </a:bodyPr>
          <a:lstStyle/>
          <a:p>
            <a:pPr>
              <a:buNone/>
            </a:pPr>
            <a:r>
              <a:rPr sz="1050">
                <a:solidFill>
                  <a:srgbClr val="1A1A1A"/>
                </a:solidFill>
                <a:latin typeface="Trenda IG Text"/>
              </a:rPr>
              <a:t>Every step is recorded on the Jira ticket: request, evidence, design, code, tests and deployment, traceable end to end.</a:t>
            </a:r>
          </a:p>
        </p:txBody>
      </p:sp>
      <p:sp>
        <p:nvSpPr>
          <p:cNvPr id="44" name="Rectangle 43"/>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Jira status moves on its own: Ticket created → In progress → QA → Done.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THE AGENT TEAM</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Twelve agents, six already built at Ascension</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Built · Extend · New, against the agents in use today.</a:t>
            </a:r>
          </a:p>
        </p:txBody>
      </p:sp>
      <p:sp>
        <p:nvSpPr>
          <p:cNvPr id="6" name="Rectangle 5"/>
          <p:cNvSpPr/>
          <p:nvPr/>
        </p:nvSpPr>
        <p:spPr>
          <a:xfrm>
            <a:off x="109728" y="1097280"/>
            <a:ext cx="2889504" cy="146304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243584"/>
            <a:ext cx="1792224" cy="274320"/>
          </a:xfrm>
          <a:prstGeom prst="rect">
            <a:avLst/>
          </a:prstGeom>
          <a:noFill/>
        </p:spPr>
        <p:txBody>
          <a:bodyPr wrap="square" lIns="0" rIns="0" tIns="0" bIns="0" anchor="t">
            <a:spAutoFit/>
          </a:bodyPr>
          <a:lstStyle/>
          <a:p>
            <a:pPr>
              <a:buNone/>
            </a:pPr>
            <a:r>
              <a:rPr sz="1350">
                <a:solidFill>
                  <a:srgbClr val="1A1A1A"/>
                </a:solidFill>
                <a:latin typeface="Trenda IG Display Bold"/>
              </a:rPr>
              <a:t>Orchestrator</a:t>
            </a:r>
          </a:p>
        </p:txBody>
      </p:sp>
      <p:sp>
        <p:nvSpPr>
          <p:cNvPr id="8" name="Rectangle 7"/>
          <p:cNvSpPr/>
          <p:nvPr/>
        </p:nvSpPr>
        <p:spPr>
          <a:xfrm>
            <a:off x="2221992" y="1280160"/>
            <a:ext cx="594360" cy="201168"/>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21992" y="1280160"/>
            <a:ext cx="59436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BUILT</a:t>
            </a:r>
          </a:p>
        </p:txBody>
      </p:sp>
      <p:sp>
        <p:nvSpPr>
          <p:cNvPr id="10" name="TextBox 9"/>
          <p:cNvSpPr txBox="1"/>
          <p:nvPr/>
        </p:nvSpPr>
        <p:spPr>
          <a:xfrm>
            <a:off x="292608" y="1664207"/>
            <a:ext cx="2523744" cy="822960"/>
          </a:xfrm>
          <a:prstGeom prst="rect">
            <a:avLst/>
          </a:prstGeom>
          <a:noFill/>
        </p:spPr>
        <p:txBody>
          <a:bodyPr wrap="square" lIns="0" rIns="0" tIns="0" bIns="0" anchor="t">
            <a:spAutoFit/>
          </a:bodyPr>
          <a:lstStyle/>
          <a:p>
            <a:pPr>
              <a:lnSpc>
                <a:spcPct val="105000"/>
              </a:lnSpc>
              <a:buNone/>
            </a:pPr>
            <a:r>
              <a:rPr sz="1150">
                <a:solidFill>
                  <a:srgbClr val="5A6573"/>
                </a:solidFill>
                <a:latin typeface="Trenda IG Text"/>
              </a:rPr>
              <a:t>Routes requests and enforces every gate</a:t>
            </a:r>
          </a:p>
        </p:txBody>
      </p:sp>
      <p:sp>
        <p:nvSpPr>
          <p:cNvPr id="11" name="Rectangle 10"/>
          <p:cNvSpPr/>
          <p:nvPr/>
        </p:nvSpPr>
        <p:spPr>
          <a:xfrm>
            <a:off x="3136392" y="1097280"/>
            <a:ext cx="2889504" cy="1463040"/>
          </a:xfrm>
          <a:prstGeom prst="rect">
            <a:avLst/>
          </a:prstGeom>
          <a:solidFill>
            <a:srgbClr val="ECEFF3"/>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9272" y="1243584"/>
            <a:ext cx="1792224" cy="274320"/>
          </a:xfrm>
          <a:prstGeom prst="rect">
            <a:avLst/>
          </a:prstGeom>
          <a:noFill/>
        </p:spPr>
        <p:txBody>
          <a:bodyPr wrap="square" lIns="0" rIns="0" tIns="0" bIns="0" anchor="t">
            <a:spAutoFit/>
          </a:bodyPr>
          <a:lstStyle/>
          <a:p>
            <a:pPr>
              <a:buNone/>
            </a:pPr>
            <a:r>
              <a:rPr sz="1350">
                <a:solidFill>
                  <a:srgbClr val="1A1A1A"/>
                </a:solidFill>
                <a:latin typeface="Trenda IG Display Bold"/>
              </a:rPr>
              <a:t>Requirements</a:t>
            </a:r>
          </a:p>
        </p:txBody>
      </p:sp>
      <p:sp>
        <p:nvSpPr>
          <p:cNvPr id="13" name="Rectangle 12"/>
          <p:cNvSpPr/>
          <p:nvPr/>
        </p:nvSpPr>
        <p:spPr>
          <a:xfrm>
            <a:off x="5248656" y="1280160"/>
            <a:ext cx="594360" cy="201168"/>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8656" y="1280160"/>
            <a:ext cx="59436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NEW</a:t>
            </a:r>
          </a:p>
        </p:txBody>
      </p:sp>
      <p:sp>
        <p:nvSpPr>
          <p:cNvPr id="15" name="TextBox 14"/>
          <p:cNvSpPr txBox="1"/>
          <p:nvPr/>
        </p:nvSpPr>
        <p:spPr>
          <a:xfrm>
            <a:off x="3319272" y="1664207"/>
            <a:ext cx="2523744" cy="822960"/>
          </a:xfrm>
          <a:prstGeom prst="rect">
            <a:avLst/>
          </a:prstGeom>
          <a:noFill/>
        </p:spPr>
        <p:txBody>
          <a:bodyPr wrap="square" lIns="0" rIns="0" tIns="0" bIns="0" anchor="t">
            <a:spAutoFit/>
          </a:bodyPr>
          <a:lstStyle/>
          <a:p>
            <a:pPr>
              <a:lnSpc>
                <a:spcPct val="105000"/>
              </a:lnSpc>
              <a:buNone/>
            </a:pPr>
            <a:r>
              <a:rPr sz="1150">
                <a:solidFill>
                  <a:srgbClr val="5A6573"/>
                </a:solidFill>
                <a:latin typeface="Trenda IG Text"/>
              </a:rPr>
              <a:t>Turns business notes into stories and acceptance criteria</a:t>
            </a:r>
          </a:p>
        </p:txBody>
      </p:sp>
      <p:sp>
        <p:nvSpPr>
          <p:cNvPr id="16" name="Rectangle 15"/>
          <p:cNvSpPr/>
          <p:nvPr/>
        </p:nvSpPr>
        <p:spPr>
          <a:xfrm>
            <a:off x="6163056" y="1097280"/>
            <a:ext cx="2889504" cy="146304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1243584"/>
            <a:ext cx="1792224" cy="274320"/>
          </a:xfrm>
          <a:prstGeom prst="rect">
            <a:avLst/>
          </a:prstGeom>
          <a:noFill/>
        </p:spPr>
        <p:txBody>
          <a:bodyPr wrap="square" lIns="0" rIns="0" tIns="0" bIns="0" anchor="t">
            <a:spAutoFit/>
          </a:bodyPr>
          <a:lstStyle/>
          <a:p>
            <a:pPr>
              <a:buNone/>
            </a:pPr>
            <a:r>
              <a:rPr sz="1350">
                <a:solidFill>
                  <a:srgbClr val="1A1A1A"/>
                </a:solidFill>
                <a:latin typeface="Trenda IG Display Bold"/>
              </a:rPr>
              <a:t>Impact &amp; Reuse</a:t>
            </a:r>
          </a:p>
        </p:txBody>
      </p:sp>
      <p:sp>
        <p:nvSpPr>
          <p:cNvPr id="18" name="Rectangle 17"/>
          <p:cNvSpPr/>
          <p:nvPr/>
        </p:nvSpPr>
        <p:spPr>
          <a:xfrm>
            <a:off x="8275320" y="1280160"/>
            <a:ext cx="594360" cy="201168"/>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1280160"/>
            <a:ext cx="59436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EXTEND</a:t>
            </a:r>
          </a:p>
        </p:txBody>
      </p:sp>
      <p:sp>
        <p:nvSpPr>
          <p:cNvPr id="20" name="TextBox 19"/>
          <p:cNvSpPr txBox="1"/>
          <p:nvPr/>
        </p:nvSpPr>
        <p:spPr>
          <a:xfrm>
            <a:off x="6345936" y="1664207"/>
            <a:ext cx="2523744" cy="822960"/>
          </a:xfrm>
          <a:prstGeom prst="rect">
            <a:avLst/>
          </a:prstGeom>
          <a:noFill/>
        </p:spPr>
        <p:txBody>
          <a:bodyPr wrap="square" lIns="0" rIns="0" tIns="0" bIns="0" anchor="t">
            <a:spAutoFit/>
          </a:bodyPr>
          <a:lstStyle/>
          <a:p>
            <a:pPr>
              <a:lnSpc>
                <a:spcPct val="105000"/>
              </a:lnSpc>
              <a:buNone/>
            </a:pPr>
            <a:r>
              <a:rPr sz="1150">
                <a:solidFill>
                  <a:srgbClr val="5A6573"/>
                </a:solidFill>
                <a:latin typeface="Trenda IG Text"/>
              </a:rPr>
              <a:t>Does it exist? What will it break? About 30% built</a:t>
            </a:r>
          </a:p>
        </p:txBody>
      </p:sp>
      <p:sp>
        <p:nvSpPr>
          <p:cNvPr id="21" name="Rectangle 20"/>
          <p:cNvSpPr/>
          <p:nvPr/>
        </p:nvSpPr>
        <p:spPr>
          <a:xfrm>
            <a:off x="9189719" y="1097280"/>
            <a:ext cx="2889504" cy="1463040"/>
          </a:xfrm>
          <a:prstGeom prst="rect">
            <a:avLst/>
          </a:prstGeom>
          <a:solidFill>
            <a:srgbClr val="ECEFF3"/>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72599" y="1243584"/>
            <a:ext cx="1792224" cy="274320"/>
          </a:xfrm>
          <a:prstGeom prst="rect">
            <a:avLst/>
          </a:prstGeom>
          <a:noFill/>
        </p:spPr>
        <p:txBody>
          <a:bodyPr wrap="square" lIns="0" rIns="0" tIns="0" bIns="0" anchor="t">
            <a:spAutoFit/>
          </a:bodyPr>
          <a:lstStyle/>
          <a:p>
            <a:pPr>
              <a:buNone/>
            </a:pPr>
            <a:r>
              <a:rPr sz="1350">
                <a:solidFill>
                  <a:srgbClr val="1A1A1A"/>
                </a:solidFill>
                <a:latin typeface="Trenda IG Display Bold"/>
              </a:rPr>
              <a:t>Jira</a:t>
            </a:r>
          </a:p>
        </p:txBody>
      </p:sp>
      <p:sp>
        <p:nvSpPr>
          <p:cNvPr id="23" name="Rectangle 22"/>
          <p:cNvSpPr/>
          <p:nvPr/>
        </p:nvSpPr>
        <p:spPr>
          <a:xfrm>
            <a:off x="11301984" y="1280160"/>
            <a:ext cx="594360" cy="201168"/>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301984" y="1280160"/>
            <a:ext cx="59436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EXTEND</a:t>
            </a:r>
          </a:p>
        </p:txBody>
      </p:sp>
      <p:sp>
        <p:nvSpPr>
          <p:cNvPr id="25" name="TextBox 24"/>
          <p:cNvSpPr txBox="1"/>
          <p:nvPr/>
        </p:nvSpPr>
        <p:spPr>
          <a:xfrm>
            <a:off x="9372599" y="1664207"/>
            <a:ext cx="2523744" cy="822960"/>
          </a:xfrm>
          <a:prstGeom prst="rect">
            <a:avLst/>
          </a:prstGeom>
          <a:noFill/>
        </p:spPr>
        <p:txBody>
          <a:bodyPr wrap="square" lIns="0" rIns="0" tIns="0" bIns="0" anchor="t">
            <a:spAutoFit/>
          </a:bodyPr>
          <a:lstStyle/>
          <a:p>
            <a:pPr>
              <a:lnSpc>
                <a:spcPct val="105000"/>
              </a:lnSpc>
              <a:buNone/>
            </a:pPr>
            <a:r>
              <a:rPr sz="1150">
                <a:solidFill>
                  <a:srgbClr val="5A6573"/>
                </a:solidFill>
                <a:latin typeface="Trenda IG Text"/>
              </a:rPr>
              <a:t>Raises the ticket in the right sprint and keeps status current</a:t>
            </a:r>
          </a:p>
        </p:txBody>
      </p:sp>
      <p:sp>
        <p:nvSpPr>
          <p:cNvPr id="26" name="Rectangle 25"/>
          <p:cNvSpPr/>
          <p:nvPr/>
        </p:nvSpPr>
        <p:spPr>
          <a:xfrm>
            <a:off x="109728" y="2697480"/>
            <a:ext cx="2889504" cy="146304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 y="2843784"/>
            <a:ext cx="1792224" cy="274320"/>
          </a:xfrm>
          <a:prstGeom prst="rect">
            <a:avLst/>
          </a:prstGeom>
          <a:noFill/>
        </p:spPr>
        <p:txBody>
          <a:bodyPr wrap="square" lIns="0" rIns="0" tIns="0" bIns="0" anchor="t">
            <a:spAutoFit/>
          </a:bodyPr>
          <a:lstStyle/>
          <a:p>
            <a:pPr>
              <a:buNone/>
            </a:pPr>
            <a:r>
              <a:rPr sz="1350">
                <a:solidFill>
                  <a:srgbClr val="1A1A1A"/>
                </a:solidFill>
                <a:latin typeface="Trenda IG Display Bold"/>
              </a:rPr>
              <a:t>Architect</a:t>
            </a:r>
          </a:p>
        </p:txBody>
      </p:sp>
      <p:sp>
        <p:nvSpPr>
          <p:cNvPr id="28" name="Rectangle 27"/>
          <p:cNvSpPr/>
          <p:nvPr/>
        </p:nvSpPr>
        <p:spPr>
          <a:xfrm>
            <a:off x="2221992" y="2880360"/>
            <a:ext cx="594360" cy="201168"/>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21992" y="2880360"/>
            <a:ext cx="59436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BUILT</a:t>
            </a:r>
          </a:p>
        </p:txBody>
      </p:sp>
      <p:sp>
        <p:nvSpPr>
          <p:cNvPr id="30" name="TextBox 29"/>
          <p:cNvSpPr txBox="1"/>
          <p:nvPr/>
        </p:nvSpPr>
        <p:spPr>
          <a:xfrm>
            <a:off x="292608" y="3264408"/>
            <a:ext cx="2523744" cy="822960"/>
          </a:xfrm>
          <a:prstGeom prst="rect">
            <a:avLst/>
          </a:prstGeom>
          <a:noFill/>
        </p:spPr>
        <p:txBody>
          <a:bodyPr wrap="square" lIns="0" rIns="0" tIns="0" bIns="0" anchor="t">
            <a:spAutoFit/>
          </a:bodyPr>
          <a:lstStyle/>
          <a:p>
            <a:pPr>
              <a:lnSpc>
                <a:spcPct val="105000"/>
              </a:lnSpc>
              <a:buNone/>
            </a:pPr>
            <a:r>
              <a:rPr sz="1150">
                <a:solidFill>
                  <a:srgbClr val="5A6573"/>
                </a:solidFill>
                <a:latin typeface="Trenda IG Text"/>
              </a:rPr>
              <a:t>Chooses Flow, trigger or LWC from graph facts</a:t>
            </a:r>
          </a:p>
        </p:txBody>
      </p:sp>
      <p:sp>
        <p:nvSpPr>
          <p:cNvPr id="31" name="Rectangle 30"/>
          <p:cNvSpPr/>
          <p:nvPr/>
        </p:nvSpPr>
        <p:spPr>
          <a:xfrm>
            <a:off x="3136392" y="2697480"/>
            <a:ext cx="2889504" cy="1463040"/>
          </a:xfrm>
          <a:prstGeom prst="rect">
            <a:avLst/>
          </a:prstGeom>
          <a:solidFill>
            <a:srgbClr val="ECEFF3"/>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19272" y="2843784"/>
            <a:ext cx="1792224" cy="274320"/>
          </a:xfrm>
          <a:prstGeom prst="rect">
            <a:avLst/>
          </a:prstGeom>
          <a:noFill/>
        </p:spPr>
        <p:txBody>
          <a:bodyPr wrap="square" lIns="0" rIns="0" tIns="0" bIns="0" anchor="t">
            <a:spAutoFit/>
          </a:bodyPr>
          <a:lstStyle/>
          <a:p>
            <a:pPr>
              <a:buNone/>
            </a:pPr>
            <a:r>
              <a:rPr sz="1350">
                <a:solidFill>
                  <a:srgbClr val="1A1A1A"/>
                </a:solidFill>
                <a:latin typeface="Trenda IG Display Bold"/>
              </a:rPr>
              <a:t>Confluence</a:t>
            </a:r>
          </a:p>
        </p:txBody>
      </p:sp>
      <p:sp>
        <p:nvSpPr>
          <p:cNvPr id="33" name="Rectangle 32"/>
          <p:cNvSpPr/>
          <p:nvPr/>
        </p:nvSpPr>
        <p:spPr>
          <a:xfrm>
            <a:off x="5248656" y="2880360"/>
            <a:ext cx="594360" cy="201168"/>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48656" y="2880360"/>
            <a:ext cx="59436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EXTEND</a:t>
            </a:r>
          </a:p>
        </p:txBody>
      </p:sp>
      <p:sp>
        <p:nvSpPr>
          <p:cNvPr id="35" name="TextBox 34"/>
          <p:cNvSpPr txBox="1"/>
          <p:nvPr/>
        </p:nvSpPr>
        <p:spPr>
          <a:xfrm>
            <a:off x="3319272" y="3264408"/>
            <a:ext cx="2523744" cy="822960"/>
          </a:xfrm>
          <a:prstGeom prst="rect">
            <a:avLst/>
          </a:prstGeom>
          <a:noFill/>
        </p:spPr>
        <p:txBody>
          <a:bodyPr wrap="square" lIns="0" rIns="0" tIns="0" bIns="0" anchor="t">
            <a:spAutoFit/>
          </a:bodyPr>
          <a:lstStyle/>
          <a:p>
            <a:pPr>
              <a:lnSpc>
                <a:spcPct val="105000"/>
              </a:lnSpc>
              <a:buNone/>
            </a:pPr>
            <a:r>
              <a:rPr sz="1150">
                <a:solidFill>
                  <a:srgbClr val="5A6573"/>
                </a:solidFill>
                <a:latin typeface="Trenda IG Text"/>
              </a:rPr>
              <a:t>Writes the design page, then the as-built record</a:t>
            </a:r>
          </a:p>
        </p:txBody>
      </p:sp>
      <p:sp>
        <p:nvSpPr>
          <p:cNvPr id="36" name="Rectangle 35"/>
          <p:cNvSpPr/>
          <p:nvPr/>
        </p:nvSpPr>
        <p:spPr>
          <a:xfrm>
            <a:off x="6163056" y="2697480"/>
            <a:ext cx="2889504" cy="146304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45936" y="2843784"/>
            <a:ext cx="1792224" cy="274320"/>
          </a:xfrm>
          <a:prstGeom prst="rect">
            <a:avLst/>
          </a:prstGeom>
          <a:noFill/>
        </p:spPr>
        <p:txBody>
          <a:bodyPr wrap="square" lIns="0" rIns="0" tIns="0" bIns="0" anchor="t">
            <a:spAutoFit/>
          </a:bodyPr>
          <a:lstStyle/>
          <a:p>
            <a:pPr>
              <a:buNone/>
            </a:pPr>
            <a:r>
              <a:rPr sz="1350">
                <a:solidFill>
                  <a:srgbClr val="1A1A1A"/>
                </a:solidFill>
                <a:latin typeface="Trenda IG Display Bold"/>
              </a:rPr>
              <a:t>Developer</a:t>
            </a:r>
          </a:p>
        </p:txBody>
      </p:sp>
      <p:sp>
        <p:nvSpPr>
          <p:cNvPr id="38" name="Rectangle 37"/>
          <p:cNvSpPr/>
          <p:nvPr/>
        </p:nvSpPr>
        <p:spPr>
          <a:xfrm>
            <a:off x="8275320" y="2880360"/>
            <a:ext cx="594360" cy="201168"/>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75320" y="2880360"/>
            <a:ext cx="59436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BUILT</a:t>
            </a:r>
          </a:p>
        </p:txBody>
      </p:sp>
      <p:sp>
        <p:nvSpPr>
          <p:cNvPr id="40" name="TextBox 39"/>
          <p:cNvSpPr txBox="1"/>
          <p:nvPr/>
        </p:nvSpPr>
        <p:spPr>
          <a:xfrm>
            <a:off x="6345936" y="3264408"/>
            <a:ext cx="2523744" cy="822960"/>
          </a:xfrm>
          <a:prstGeom prst="rect">
            <a:avLst/>
          </a:prstGeom>
          <a:noFill/>
        </p:spPr>
        <p:txBody>
          <a:bodyPr wrap="square" lIns="0" rIns="0" tIns="0" bIns="0" anchor="t">
            <a:spAutoFit/>
          </a:bodyPr>
          <a:lstStyle/>
          <a:p>
            <a:pPr>
              <a:lnSpc>
                <a:spcPct val="105000"/>
              </a:lnSpc>
              <a:buNone/>
            </a:pPr>
            <a:r>
              <a:rPr sz="1150">
                <a:solidFill>
                  <a:srgbClr val="5A6573"/>
                </a:solidFill>
                <a:latin typeface="Trenda IG Text"/>
              </a:rPr>
              <a:t>Builds Apex, Flow and LWC to Ascension standards</a:t>
            </a:r>
          </a:p>
        </p:txBody>
      </p:sp>
      <p:sp>
        <p:nvSpPr>
          <p:cNvPr id="41" name="Rectangle 40"/>
          <p:cNvSpPr/>
          <p:nvPr/>
        </p:nvSpPr>
        <p:spPr>
          <a:xfrm>
            <a:off x="9189719" y="2697480"/>
            <a:ext cx="2889504" cy="1463040"/>
          </a:xfrm>
          <a:prstGeom prst="rect">
            <a:avLst/>
          </a:prstGeom>
          <a:solidFill>
            <a:srgbClr val="ECEFF3"/>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72599" y="2843784"/>
            <a:ext cx="1792224" cy="274320"/>
          </a:xfrm>
          <a:prstGeom prst="rect">
            <a:avLst/>
          </a:prstGeom>
          <a:noFill/>
        </p:spPr>
        <p:txBody>
          <a:bodyPr wrap="square" lIns="0" rIns="0" tIns="0" bIns="0" anchor="t">
            <a:spAutoFit/>
          </a:bodyPr>
          <a:lstStyle/>
          <a:p>
            <a:pPr>
              <a:buNone/>
            </a:pPr>
            <a:r>
              <a:rPr sz="1350">
                <a:solidFill>
                  <a:srgbClr val="1A1A1A"/>
                </a:solidFill>
                <a:latin typeface="Trenda IG Display Bold"/>
              </a:rPr>
              <a:t>Review</a:t>
            </a:r>
          </a:p>
        </p:txBody>
      </p:sp>
      <p:sp>
        <p:nvSpPr>
          <p:cNvPr id="43" name="Rectangle 42"/>
          <p:cNvSpPr/>
          <p:nvPr/>
        </p:nvSpPr>
        <p:spPr>
          <a:xfrm>
            <a:off x="11301984" y="2880360"/>
            <a:ext cx="594360" cy="201168"/>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301984" y="2880360"/>
            <a:ext cx="59436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BUILT</a:t>
            </a:r>
          </a:p>
        </p:txBody>
      </p:sp>
      <p:sp>
        <p:nvSpPr>
          <p:cNvPr id="45" name="TextBox 44"/>
          <p:cNvSpPr txBox="1"/>
          <p:nvPr/>
        </p:nvSpPr>
        <p:spPr>
          <a:xfrm>
            <a:off x="9372599" y="3264408"/>
            <a:ext cx="2523744" cy="822960"/>
          </a:xfrm>
          <a:prstGeom prst="rect">
            <a:avLst/>
          </a:prstGeom>
          <a:noFill/>
        </p:spPr>
        <p:txBody>
          <a:bodyPr wrap="square" lIns="0" rIns="0" tIns="0" bIns="0" anchor="t">
            <a:spAutoFit/>
          </a:bodyPr>
          <a:lstStyle/>
          <a:p>
            <a:pPr>
              <a:lnSpc>
                <a:spcPct val="105000"/>
              </a:lnSpc>
              <a:buNone/>
            </a:pPr>
            <a:r>
              <a:rPr sz="1150">
                <a:solidFill>
                  <a:srgbClr val="5A6573"/>
                </a:solidFill>
                <a:latin typeface="Trenda IG Text"/>
              </a:rPr>
              <a:t>Checks quality, security and coding standards</a:t>
            </a:r>
          </a:p>
        </p:txBody>
      </p:sp>
      <p:sp>
        <p:nvSpPr>
          <p:cNvPr id="46" name="Rectangle 45"/>
          <p:cNvSpPr/>
          <p:nvPr/>
        </p:nvSpPr>
        <p:spPr>
          <a:xfrm>
            <a:off x="109728" y="4297680"/>
            <a:ext cx="2889504" cy="146304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2608" y="4443984"/>
            <a:ext cx="1792224" cy="274320"/>
          </a:xfrm>
          <a:prstGeom prst="rect">
            <a:avLst/>
          </a:prstGeom>
          <a:noFill/>
        </p:spPr>
        <p:txBody>
          <a:bodyPr wrap="square" lIns="0" rIns="0" tIns="0" bIns="0" anchor="t">
            <a:spAutoFit/>
          </a:bodyPr>
          <a:lstStyle/>
          <a:p>
            <a:pPr>
              <a:buNone/>
            </a:pPr>
            <a:r>
              <a:rPr sz="1350">
                <a:solidFill>
                  <a:srgbClr val="1A1A1A"/>
                </a:solidFill>
                <a:latin typeface="Trenda IG Display Bold"/>
              </a:rPr>
              <a:t>Test</a:t>
            </a:r>
          </a:p>
        </p:txBody>
      </p:sp>
      <p:sp>
        <p:nvSpPr>
          <p:cNvPr id="48" name="Rectangle 47"/>
          <p:cNvSpPr/>
          <p:nvPr/>
        </p:nvSpPr>
        <p:spPr>
          <a:xfrm>
            <a:off x="2221992" y="4480560"/>
            <a:ext cx="594360" cy="201168"/>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221992" y="4480560"/>
            <a:ext cx="59436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BUILT</a:t>
            </a:r>
          </a:p>
        </p:txBody>
      </p:sp>
      <p:sp>
        <p:nvSpPr>
          <p:cNvPr id="50" name="TextBox 49"/>
          <p:cNvSpPr txBox="1"/>
          <p:nvPr/>
        </p:nvSpPr>
        <p:spPr>
          <a:xfrm>
            <a:off x="292608" y="4864608"/>
            <a:ext cx="2523744" cy="822960"/>
          </a:xfrm>
          <a:prstGeom prst="rect">
            <a:avLst/>
          </a:prstGeom>
          <a:noFill/>
        </p:spPr>
        <p:txBody>
          <a:bodyPr wrap="square" lIns="0" rIns="0" tIns="0" bIns="0" anchor="t">
            <a:spAutoFit/>
          </a:bodyPr>
          <a:lstStyle/>
          <a:p>
            <a:pPr>
              <a:lnSpc>
                <a:spcPct val="105000"/>
              </a:lnSpc>
              <a:buNone/>
            </a:pPr>
            <a:r>
              <a:rPr sz="1150">
                <a:solidFill>
                  <a:srgbClr val="5A6573"/>
                </a:solidFill>
                <a:latin typeface="Trenda IG Text"/>
              </a:rPr>
              <a:t>Unit and regression tests, chosen by blast radius</a:t>
            </a:r>
          </a:p>
        </p:txBody>
      </p:sp>
      <p:sp>
        <p:nvSpPr>
          <p:cNvPr id="51" name="Rectangle 50"/>
          <p:cNvSpPr/>
          <p:nvPr/>
        </p:nvSpPr>
        <p:spPr>
          <a:xfrm>
            <a:off x="3136392" y="4297680"/>
            <a:ext cx="2889504" cy="1463040"/>
          </a:xfrm>
          <a:prstGeom prst="rect">
            <a:avLst/>
          </a:prstGeom>
          <a:solidFill>
            <a:srgbClr val="ECEFF3"/>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19272" y="4443984"/>
            <a:ext cx="1792224" cy="274320"/>
          </a:xfrm>
          <a:prstGeom prst="rect">
            <a:avLst/>
          </a:prstGeom>
          <a:noFill/>
        </p:spPr>
        <p:txBody>
          <a:bodyPr wrap="square" lIns="0" rIns="0" tIns="0" bIns="0" anchor="t">
            <a:spAutoFit/>
          </a:bodyPr>
          <a:lstStyle/>
          <a:p>
            <a:pPr>
              <a:buNone/>
            </a:pPr>
            <a:r>
              <a:rPr sz="1350">
                <a:solidFill>
                  <a:srgbClr val="1A1A1A"/>
                </a:solidFill>
                <a:latin typeface="Trenda IG Display Bold"/>
              </a:rPr>
              <a:t>QA automation</a:t>
            </a:r>
          </a:p>
        </p:txBody>
      </p:sp>
      <p:sp>
        <p:nvSpPr>
          <p:cNvPr id="53" name="Rectangle 52"/>
          <p:cNvSpPr/>
          <p:nvPr/>
        </p:nvSpPr>
        <p:spPr>
          <a:xfrm>
            <a:off x="5248656" y="4480560"/>
            <a:ext cx="594360" cy="201168"/>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248656" y="4480560"/>
            <a:ext cx="59436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BUILT</a:t>
            </a:r>
          </a:p>
        </p:txBody>
      </p:sp>
      <p:sp>
        <p:nvSpPr>
          <p:cNvPr id="55" name="TextBox 54"/>
          <p:cNvSpPr txBox="1"/>
          <p:nvPr/>
        </p:nvSpPr>
        <p:spPr>
          <a:xfrm>
            <a:off x="3319272" y="4864608"/>
            <a:ext cx="2523744" cy="822960"/>
          </a:xfrm>
          <a:prstGeom prst="rect">
            <a:avLst/>
          </a:prstGeom>
          <a:noFill/>
        </p:spPr>
        <p:txBody>
          <a:bodyPr wrap="square" lIns="0" rIns="0" tIns="0" bIns="0" anchor="t">
            <a:spAutoFit/>
          </a:bodyPr>
          <a:lstStyle/>
          <a:p>
            <a:pPr>
              <a:lnSpc>
                <a:spcPct val="105000"/>
              </a:lnSpc>
              <a:buNone/>
            </a:pPr>
            <a:r>
              <a:rPr sz="1150">
                <a:solidFill>
                  <a:srgbClr val="5A6573"/>
                </a:solidFill>
                <a:latin typeface="Trenda IG Text"/>
              </a:rPr>
              <a:t>Zephyr test cases and Copado functional automation</a:t>
            </a:r>
          </a:p>
        </p:txBody>
      </p:sp>
      <p:sp>
        <p:nvSpPr>
          <p:cNvPr id="56" name="Rectangle 55"/>
          <p:cNvSpPr/>
          <p:nvPr/>
        </p:nvSpPr>
        <p:spPr>
          <a:xfrm>
            <a:off x="6163056" y="4297680"/>
            <a:ext cx="2889504" cy="146304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45936" y="4443984"/>
            <a:ext cx="1792224" cy="274320"/>
          </a:xfrm>
          <a:prstGeom prst="rect">
            <a:avLst/>
          </a:prstGeom>
          <a:noFill/>
        </p:spPr>
        <p:txBody>
          <a:bodyPr wrap="square" lIns="0" rIns="0" tIns="0" bIns="0" anchor="t">
            <a:spAutoFit/>
          </a:bodyPr>
          <a:lstStyle/>
          <a:p>
            <a:pPr>
              <a:buNone/>
            </a:pPr>
            <a:r>
              <a:rPr sz="1350">
                <a:solidFill>
                  <a:srgbClr val="1A1A1A"/>
                </a:solidFill>
                <a:latin typeface="Trenda IG Display Bold"/>
              </a:rPr>
              <a:t>Deployment</a:t>
            </a:r>
          </a:p>
        </p:txBody>
      </p:sp>
      <p:sp>
        <p:nvSpPr>
          <p:cNvPr id="58" name="Rectangle 57"/>
          <p:cNvSpPr/>
          <p:nvPr/>
        </p:nvSpPr>
        <p:spPr>
          <a:xfrm>
            <a:off x="8275320" y="4480560"/>
            <a:ext cx="594360" cy="201168"/>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75320" y="4480560"/>
            <a:ext cx="59436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NEW</a:t>
            </a:r>
          </a:p>
        </p:txBody>
      </p:sp>
      <p:sp>
        <p:nvSpPr>
          <p:cNvPr id="60" name="TextBox 59"/>
          <p:cNvSpPr txBox="1"/>
          <p:nvPr/>
        </p:nvSpPr>
        <p:spPr>
          <a:xfrm>
            <a:off x="6345936" y="4864608"/>
            <a:ext cx="2523744" cy="822960"/>
          </a:xfrm>
          <a:prstGeom prst="rect">
            <a:avLst/>
          </a:prstGeom>
          <a:noFill/>
        </p:spPr>
        <p:txBody>
          <a:bodyPr wrap="square" lIns="0" rIns="0" tIns="0" bIns="0" anchor="t">
            <a:spAutoFit/>
          </a:bodyPr>
          <a:lstStyle/>
          <a:p>
            <a:pPr>
              <a:lnSpc>
                <a:spcPct val="105000"/>
              </a:lnSpc>
              <a:buNone/>
            </a:pPr>
            <a:r>
              <a:rPr sz="1150">
                <a:solidFill>
                  <a:srgbClr val="5A6573"/>
                </a:solidFill>
                <a:latin typeface="Trenda IG Text"/>
              </a:rPr>
              <a:t>Deploys through Copado to QA and UAT, with rollback</a:t>
            </a:r>
          </a:p>
        </p:txBody>
      </p:sp>
      <p:sp>
        <p:nvSpPr>
          <p:cNvPr id="61" name="Rectangle 60"/>
          <p:cNvSpPr/>
          <p:nvPr/>
        </p:nvSpPr>
        <p:spPr>
          <a:xfrm>
            <a:off x="9189719" y="4297680"/>
            <a:ext cx="2889504" cy="1463040"/>
          </a:xfrm>
          <a:prstGeom prst="rect">
            <a:avLst/>
          </a:prstGeom>
          <a:solidFill>
            <a:srgbClr val="ECEFF3"/>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372599" y="4443984"/>
            <a:ext cx="1792224" cy="274320"/>
          </a:xfrm>
          <a:prstGeom prst="rect">
            <a:avLst/>
          </a:prstGeom>
          <a:noFill/>
        </p:spPr>
        <p:txBody>
          <a:bodyPr wrap="square" lIns="0" rIns="0" tIns="0" bIns="0" anchor="t">
            <a:spAutoFit/>
          </a:bodyPr>
          <a:lstStyle/>
          <a:p>
            <a:pPr>
              <a:buNone/>
            </a:pPr>
            <a:r>
              <a:rPr sz="1350">
                <a:solidFill>
                  <a:srgbClr val="1A1A1A"/>
                </a:solidFill>
                <a:latin typeface="Trenda IG Display Bold"/>
              </a:rPr>
              <a:t>Support &amp; RCA</a:t>
            </a:r>
          </a:p>
        </p:txBody>
      </p:sp>
      <p:sp>
        <p:nvSpPr>
          <p:cNvPr id="63" name="Rectangle 62"/>
          <p:cNvSpPr/>
          <p:nvPr/>
        </p:nvSpPr>
        <p:spPr>
          <a:xfrm>
            <a:off x="11301984" y="4480560"/>
            <a:ext cx="594360" cy="201168"/>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301984" y="4480560"/>
            <a:ext cx="59436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NEW</a:t>
            </a:r>
          </a:p>
        </p:txBody>
      </p:sp>
      <p:sp>
        <p:nvSpPr>
          <p:cNvPr id="65" name="TextBox 64"/>
          <p:cNvSpPr txBox="1"/>
          <p:nvPr/>
        </p:nvSpPr>
        <p:spPr>
          <a:xfrm>
            <a:off x="9372599" y="4864608"/>
            <a:ext cx="2523744" cy="822960"/>
          </a:xfrm>
          <a:prstGeom prst="rect">
            <a:avLst/>
          </a:prstGeom>
          <a:noFill/>
        </p:spPr>
        <p:txBody>
          <a:bodyPr wrap="square" lIns="0" rIns="0" tIns="0" bIns="0" anchor="t">
            <a:spAutoFit/>
          </a:bodyPr>
          <a:lstStyle/>
          <a:p>
            <a:pPr>
              <a:lnSpc>
                <a:spcPct val="105000"/>
              </a:lnSpc>
              <a:buNone/>
            </a:pPr>
            <a:r>
              <a:rPr sz="1150">
                <a:solidFill>
                  <a:srgbClr val="5A6573"/>
                </a:solidFill>
                <a:latin typeface="Trenda IG Text"/>
              </a:rPr>
              <a:t>Finds what changed when an incident hits</a:t>
            </a:r>
          </a:p>
        </p:txBody>
      </p:sp>
      <p:sp>
        <p:nvSpPr>
          <p:cNvPr id="66" name="Rectangle 65"/>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Six built, three extended, three new. Support &amp; RCA matters most: pods spend real time on production issues.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ONE FRAMEWORK, TWO PACKS</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Change the nouns. The engine does not notice.</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The delivery graph and the clinical network graph share one core.</a:t>
            </a:r>
          </a:p>
        </p:txBody>
      </p:sp>
      <p:sp>
        <p:nvSpPr>
          <p:cNvPr id="6" name="Rectangle 5"/>
          <p:cNvSpPr/>
          <p:nvPr/>
        </p:nvSpPr>
        <p:spPr>
          <a:xfrm>
            <a:off x="109728" y="1097280"/>
            <a:ext cx="2340864" cy="31089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9456" y="1097280"/>
            <a:ext cx="2194560" cy="310896"/>
          </a:xfrm>
          <a:prstGeom prst="rect">
            <a:avLst/>
          </a:prstGeom>
          <a:noFill/>
        </p:spPr>
        <p:txBody>
          <a:bodyPr wrap="square" lIns="0" rIns="0" tIns="0" bIns="0" anchor="ctr">
            <a:spAutoFit/>
          </a:bodyPr>
          <a:lstStyle/>
          <a:p>
            <a:pPr>
              <a:buNone/>
            </a:pPr>
            <a:r>
              <a:rPr sz="800" spc="40">
                <a:solidFill>
                  <a:srgbClr val="FFFFFF"/>
                </a:solidFill>
                <a:latin typeface="Trenda IG Text Semibold"/>
              </a:rPr>
              <a:t>FRAMEWORK</a:t>
            </a:r>
          </a:p>
        </p:txBody>
      </p:sp>
      <p:sp>
        <p:nvSpPr>
          <p:cNvPr id="8" name="Rectangle 7"/>
          <p:cNvSpPr/>
          <p:nvPr/>
        </p:nvSpPr>
        <p:spPr>
          <a:xfrm>
            <a:off x="2487168" y="1097280"/>
            <a:ext cx="2615184" cy="310896"/>
          </a:xfrm>
          <a:prstGeom prst="rect">
            <a:avLst/>
          </a:prstGeom>
          <a:solidFill>
            <a:srgbClr val="C218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96896" y="1097280"/>
            <a:ext cx="2468879" cy="310896"/>
          </a:xfrm>
          <a:prstGeom prst="rect">
            <a:avLst/>
          </a:prstGeom>
          <a:noFill/>
        </p:spPr>
        <p:txBody>
          <a:bodyPr wrap="square" lIns="0" rIns="0" tIns="0" bIns="0" anchor="ctr">
            <a:spAutoFit/>
          </a:bodyPr>
          <a:lstStyle/>
          <a:p>
            <a:pPr>
              <a:buNone/>
            </a:pPr>
            <a:r>
              <a:rPr sz="800" spc="40">
                <a:solidFill>
                  <a:srgbClr val="FFFFFF"/>
                </a:solidFill>
                <a:latin typeface="Trenda IG Text Semibold"/>
              </a:rPr>
              <a:t>CLINICAL NETWORK</a:t>
            </a:r>
          </a:p>
        </p:txBody>
      </p:sp>
      <p:sp>
        <p:nvSpPr>
          <p:cNvPr id="10" name="Rectangle 9"/>
          <p:cNvSpPr/>
          <p:nvPr/>
        </p:nvSpPr>
        <p:spPr>
          <a:xfrm>
            <a:off x="5138928" y="1097280"/>
            <a:ext cx="2798064" cy="310896"/>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48656" y="1097280"/>
            <a:ext cx="2651760" cy="310896"/>
          </a:xfrm>
          <a:prstGeom prst="rect">
            <a:avLst/>
          </a:prstGeom>
          <a:noFill/>
        </p:spPr>
        <p:txBody>
          <a:bodyPr wrap="square" lIns="0" rIns="0" tIns="0" bIns="0" anchor="ctr">
            <a:spAutoFit/>
          </a:bodyPr>
          <a:lstStyle/>
          <a:p>
            <a:pPr>
              <a:buNone/>
            </a:pPr>
            <a:r>
              <a:rPr sz="800" spc="40">
                <a:solidFill>
                  <a:srgbClr val="FFFFFF"/>
                </a:solidFill>
                <a:latin typeface="Trenda IG Text Semibold"/>
              </a:rPr>
              <a:t>ENGINEERING DELIVERY</a:t>
            </a:r>
          </a:p>
        </p:txBody>
      </p:sp>
      <p:sp>
        <p:nvSpPr>
          <p:cNvPr id="12" name="Rectangle 11"/>
          <p:cNvSpPr/>
          <p:nvPr/>
        </p:nvSpPr>
        <p:spPr>
          <a:xfrm>
            <a:off x="109728" y="1463040"/>
            <a:ext cx="7827264" cy="429768"/>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 y="1463040"/>
            <a:ext cx="2194560" cy="429768"/>
          </a:xfrm>
          <a:prstGeom prst="rect">
            <a:avLst/>
          </a:prstGeom>
          <a:noFill/>
        </p:spPr>
        <p:txBody>
          <a:bodyPr wrap="square" lIns="0" rIns="0" tIns="0" bIns="0" anchor="ctr">
            <a:spAutoFit/>
          </a:bodyPr>
          <a:lstStyle/>
          <a:p>
            <a:pPr>
              <a:buNone/>
            </a:pPr>
            <a:r>
              <a:rPr sz="1050">
                <a:solidFill>
                  <a:srgbClr val="1A1A1A"/>
                </a:solidFill>
                <a:latin typeface="Trenda IG Text Semibold"/>
              </a:rPr>
              <a:t>Demand side</a:t>
            </a:r>
          </a:p>
        </p:txBody>
      </p:sp>
      <p:sp>
        <p:nvSpPr>
          <p:cNvPr id="14" name="TextBox 13"/>
          <p:cNvSpPr txBox="1"/>
          <p:nvPr/>
        </p:nvSpPr>
        <p:spPr>
          <a:xfrm>
            <a:off x="2596896" y="1463040"/>
            <a:ext cx="2468879" cy="429768"/>
          </a:xfrm>
          <a:prstGeom prst="rect">
            <a:avLst/>
          </a:prstGeom>
          <a:noFill/>
        </p:spPr>
        <p:txBody>
          <a:bodyPr wrap="square" lIns="0" rIns="0" tIns="0" bIns="0" anchor="ctr">
            <a:spAutoFit/>
          </a:bodyPr>
          <a:lstStyle/>
          <a:p>
            <a:pPr>
              <a:buNone/>
            </a:pPr>
            <a:r>
              <a:rPr sz="1050">
                <a:solidFill>
                  <a:srgbClr val="5A6573"/>
                </a:solidFill>
                <a:latin typeface="Trenda IG Text"/>
              </a:rPr>
              <a:t>Patient</a:t>
            </a:r>
          </a:p>
        </p:txBody>
      </p:sp>
      <p:sp>
        <p:nvSpPr>
          <p:cNvPr id="15" name="TextBox 14"/>
          <p:cNvSpPr txBox="1"/>
          <p:nvPr/>
        </p:nvSpPr>
        <p:spPr>
          <a:xfrm>
            <a:off x="5248656" y="1463040"/>
            <a:ext cx="2651760" cy="429768"/>
          </a:xfrm>
          <a:prstGeom prst="rect">
            <a:avLst/>
          </a:prstGeom>
          <a:noFill/>
        </p:spPr>
        <p:txBody>
          <a:bodyPr wrap="square" lIns="0" rIns="0" tIns="0" bIns="0" anchor="ctr">
            <a:spAutoFit/>
          </a:bodyPr>
          <a:lstStyle/>
          <a:p>
            <a:pPr>
              <a:buNone/>
            </a:pPr>
            <a:r>
              <a:rPr sz="1050">
                <a:solidFill>
                  <a:srgbClr val="5A6573"/>
                </a:solidFill>
                <a:latin typeface="Trenda IG Text"/>
              </a:rPr>
              <a:t>Requirement or request</a:t>
            </a:r>
          </a:p>
        </p:txBody>
      </p:sp>
      <p:sp>
        <p:nvSpPr>
          <p:cNvPr id="16" name="Rectangle 15"/>
          <p:cNvSpPr/>
          <p:nvPr/>
        </p:nvSpPr>
        <p:spPr>
          <a:xfrm>
            <a:off x="109728" y="1929384"/>
            <a:ext cx="7827264" cy="42976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 y="1929384"/>
            <a:ext cx="2194560" cy="429768"/>
          </a:xfrm>
          <a:prstGeom prst="rect">
            <a:avLst/>
          </a:prstGeom>
          <a:noFill/>
        </p:spPr>
        <p:txBody>
          <a:bodyPr wrap="square" lIns="0" rIns="0" tIns="0" bIns="0" anchor="ctr">
            <a:spAutoFit/>
          </a:bodyPr>
          <a:lstStyle/>
          <a:p>
            <a:pPr>
              <a:buNone/>
            </a:pPr>
            <a:r>
              <a:rPr sz="1050">
                <a:solidFill>
                  <a:srgbClr val="1A1A1A"/>
                </a:solidFill>
                <a:latin typeface="Trenda IG Text Semibold"/>
              </a:rPr>
              <a:t>Supply side</a:t>
            </a:r>
          </a:p>
        </p:txBody>
      </p:sp>
      <p:sp>
        <p:nvSpPr>
          <p:cNvPr id="18" name="TextBox 17"/>
          <p:cNvSpPr txBox="1"/>
          <p:nvPr/>
        </p:nvSpPr>
        <p:spPr>
          <a:xfrm>
            <a:off x="2596896" y="1929384"/>
            <a:ext cx="2468879" cy="429768"/>
          </a:xfrm>
          <a:prstGeom prst="rect">
            <a:avLst/>
          </a:prstGeom>
          <a:noFill/>
        </p:spPr>
        <p:txBody>
          <a:bodyPr wrap="square" lIns="0" rIns="0" tIns="0" bIns="0" anchor="ctr">
            <a:spAutoFit/>
          </a:bodyPr>
          <a:lstStyle/>
          <a:p>
            <a:pPr>
              <a:buNone/>
            </a:pPr>
            <a:r>
              <a:rPr sz="1050">
                <a:solidFill>
                  <a:srgbClr val="5A6573"/>
                </a:solidFill>
                <a:latin typeface="Trenda IG Text"/>
              </a:rPr>
              <a:t>Provider, facility</a:t>
            </a:r>
          </a:p>
        </p:txBody>
      </p:sp>
      <p:sp>
        <p:nvSpPr>
          <p:cNvPr id="19" name="TextBox 18"/>
          <p:cNvSpPr txBox="1"/>
          <p:nvPr/>
        </p:nvSpPr>
        <p:spPr>
          <a:xfrm>
            <a:off x="5248656" y="1929384"/>
            <a:ext cx="2651760" cy="429768"/>
          </a:xfrm>
          <a:prstGeom prst="rect">
            <a:avLst/>
          </a:prstGeom>
          <a:noFill/>
        </p:spPr>
        <p:txBody>
          <a:bodyPr wrap="square" lIns="0" rIns="0" tIns="0" bIns="0" anchor="ctr">
            <a:spAutoFit/>
          </a:bodyPr>
          <a:lstStyle/>
          <a:p>
            <a:pPr>
              <a:buNone/>
            </a:pPr>
            <a:r>
              <a:rPr sz="1050">
                <a:solidFill>
                  <a:srgbClr val="5A6573"/>
                </a:solidFill>
                <a:latin typeface="Trenda IG Text"/>
              </a:rPr>
              <a:t>Component, service, team</a:t>
            </a:r>
          </a:p>
        </p:txBody>
      </p:sp>
      <p:sp>
        <p:nvSpPr>
          <p:cNvPr id="20" name="Rectangle 19"/>
          <p:cNvSpPr/>
          <p:nvPr/>
        </p:nvSpPr>
        <p:spPr>
          <a:xfrm>
            <a:off x="109728" y="2395728"/>
            <a:ext cx="7827264" cy="429768"/>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9456" y="2395728"/>
            <a:ext cx="2194560" cy="429768"/>
          </a:xfrm>
          <a:prstGeom prst="rect">
            <a:avLst/>
          </a:prstGeom>
          <a:noFill/>
        </p:spPr>
        <p:txBody>
          <a:bodyPr wrap="square" lIns="0" rIns="0" tIns="0" bIns="0" anchor="ctr">
            <a:spAutoFit/>
          </a:bodyPr>
          <a:lstStyle/>
          <a:p>
            <a:pPr>
              <a:buNone/>
            </a:pPr>
            <a:r>
              <a:rPr sz="1050">
                <a:solidFill>
                  <a:srgbClr val="1A1A1A"/>
                </a:solidFill>
                <a:latin typeface="Trenda IG Text Semibold"/>
              </a:rPr>
              <a:t>Capability</a:t>
            </a:r>
          </a:p>
        </p:txBody>
      </p:sp>
      <p:sp>
        <p:nvSpPr>
          <p:cNvPr id="22" name="TextBox 21"/>
          <p:cNvSpPr txBox="1"/>
          <p:nvPr/>
        </p:nvSpPr>
        <p:spPr>
          <a:xfrm>
            <a:off x="2596896" y="2395728"/>
            <a:ext cx="2468879" cy="429768"/>
          </a:xfrm>
          <a:prstGeom prst="rect">
            <a:avLst/>
          </a:prstGeom>
          <a:noFill/>
        </p:spPr>
        <p:txBody>
          <a:bodyPr wrap="square" lIns="0" rIns="0" tIns="0" bIns="0" anchor="ctr">
            <a:spAutoFit/>
          </a:bodyPr>
          <a:lstStyle/>
          <a:p>
            <a:pPr>
              <a:buNone/>
            </a:pPr>
            <a:r>
              <a:rPr sz="1050">
                <a:solidFill>
                  <a:srgbClr val="5A6573"/>
                </a:solidFill>
                <a:latin typeface="Trenda IG Text"/>
              </a:rPr>
              <a:t>Specialty plus privilege</a:t>
            </a:r>
          </a:p>
        </p:txBody>
      </p:sp>
      <p:sp>
        <p:nvSpPr>
          <p:cNvPr id="23" name="TextBox 22"/>
          <p:cNvSpPr txBox="1"/>
          <p:nvPr/>
        </p:nvSpPr>
        <p:spPr>
          <a:xfrm>
            <a:off x="5248656" y="2395728"/>
            <a:ext cx="2651760" cy="429768"/>
          </a:xfrm>
          <a:prstGeom prst="rect">
            <a:avLst/>
          </a:prstGeom>
          <a:noFill/>
        </p:spPr>
        <p:txBody>
          <a:bodyPr wrap="square" lIns="0" rIns="0" tIns="0" bIns="0" anchor="ctr">
            <a:spAutoFit/>
          </a:bodyPr>
          <a:lstStyle/>
          <a:p>
            <a:pPr>
              <a:buNone/>
            </a:pPr>
            <a:r>
              <a:rPr sz="1050">
                <a:solidFill>
                  <a:srgbClr val="5A6573"/>
                </a:solidFill>
                <a:latin typeface="Trenda IG Text"/>
              </a:rPr>
              <a:t>Language, framework, API</a:t>
            </a:r>
          </a:p>
        </p:txBody>
      </p:sp>
      <p:sp>
        <p:nvSpPr>
          <p:cNvPr id="24" name="Rectangle 23"/>
          <p:cNvSpPr/>
          <p:nvPr/>
        </p:nvSpPr>
        <p:spPr>
          <a:xfrm>
            <a:off x="109728" y="2862072"/>
            <a:ext cx="7827264" cy="42976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 y="2862072"/>
            <a:ext cx="2194560" cy="429768"/>
          </a:xfrm>
          <a:prstGeom prst="rect">
            <a:avLst/>
          </a:prstGeom>
          <a:noFill/>
        </p:spPr>
        <p:txBody>
          <a:bodyPr wrap="square" lIns="0" rIns="0" tIns="0" bIns="0" anchor="ctr">
            <a:spAutoFit/>
          </a:bodyPr>
          <a:lstStyle/>
          <a:p>
            <a:pPr>
              <a:buNone/>
            </a:pPr>
            <a:r>
              <a:rPr sz="1050">
                <a:solidFill>
                  <a:srgbClr val="1A1A1A"/>
                </a:solidFill>
                <a:latin typeface="Trenda IG Text Semibold"/>
              </a:rPr>
              <a:t>Offering</a:t>
            </a:r>
          </a:p>
        </p:txBody>
      </p:sp>
      <p:sp>
        <p:nvSpPr>
          <p:cNvPr id="26" name="TextBox 25"/>
          <p:cNvSpPr txBox="1"/>
          <p:nvPr/>
        </p:nvSpPr>
        <p:spPr>
          <a:xfrm>
            <a:off x="2596896" y="2862072"/>
            <a:ext cx="2468879" cy="429768"/>
          </a:xfrm>
          <a:prstGeom prst="rect">
            <a:avLst/>
          </a:prstGeom>
          <a:noFill/>
        </p:spPr>
        <p:txBody>
          <a:bodyPr wrap="square" lIns="0" rIns="0" tIns="0" bIns="0" anchor="ctr">
            <a:spAutoFit/>
          </a:bodyPr>
          <a:lstStyle/>
          <a:p>
            <a:pPr>
              <a:buNone/>
            </a:pPr>
            <a:r>
              <a:rPr sz="1050">
                <a:solidFill>
                  <a:srgbClr val="5A6573"/>
                </a:solidFill>
                <a:latin typeface="Trenda IG Text"/>
              </a:rPr>
              <a:t>Service line</a:t>
            </a:r>
          </a:p>
        </p:txBody>
      </p:sp>
      <p:sp>
        <p:nvSpPr>
          <p:cNvPr id="27" name="TextBox 26"/>
          <p:cNvSpPr txBox="1"/>
          <p:nvPr/>
        </p:nvSpPr>
        <p:spPr>
          <a:xfrm>
            <a:off x="5248656" y="2862072"/>
            <a:ext cx="2651760" cy="429768"/>
          </a:xfrm>
          <a:prstGeom prst="rect">
            <a:avLst/>
          </a:prstGeom>
          <a:noFill/>
        </p:spPr>
        <p:txBody>
          <a:bodyPr wrap="square" lIns="0" rIns="0" tIns="0" bIns="0" anchor="ctr">
            <a:spAutoFit/>
          </a:bodyPr>
          <a:lstStyle/>
          <a:p>
            <a:pPr>
              <a:buNone/>
            </a:pPr>
            <a:r>
              <a:rPr sz="1050">
                <a:solidFill>
                  <a:srgbClr val="5A6573"/>
                </a:solidFill>
                <a:latin typeface="Trenda IG Text"/>
              </a:rPr>
              <a:t>Feature or change</a:t>
            </a:r>
          </a:p>
        </p:txBody>
      </p:sp>
      <p:sp>
        <p:nvSpPr>
          <p:cNvPr id="28" name="Rectangle 27"/>
          <p:cNvSpPr/>
          <p:nvPr/>
        </p:nvSpPr>
        <p:spPr>
          <a:xfrm>
            <a:off x="109728" y="3328416"/>
            <a:ext cx="7827264" cy="429768"/>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9456" y="3328416"/>
            <a:ext cx="2194560" cy="429768"/>
          </a:xfrm>
          <a:prstGeom prst="rect">
            <a:avLst/>
          </a:prstGeom>
          <a:noFill/>
        </p:spPr>
        <p:txBody>
          <a:bodyPr wrap="square" lIns="0" rIns="0" tIns="0" bIns="0" anchor="ctr">
            <a:spAutoFit/>
          </a:bodyPr>
          <a:lstStyle/>
          <a:p>
            <a:pPr>
              <a:buNone/>
            </a:pPr>
            <a:r>
              <a:rPr sz="1050">
                <a:solidFill>
                  <a:srgbClr val="1A1A1A"/>
                </a:solidFill>
                <a:latin typeface="Trenda IG Text Semibold"/>
              </a:rPr>
              <a:t>Interaction</a:t>
            </a:r>
          </a:p>
        </p:txBody>
      </p:sp>
      <p:sp>
        <p:nvSpPr>
          <p:cNvPr id="30" name="TextBox 29"/>
          <p:cNvSpPr txBox="1"/>
          <p:nvPr/>
        </p:nvSpPr>
        <p:spPr>
          <a:xfrm>
            <a:off x="2596896" y="3328416"/>
            <a:ext cx="2468879" cy="429768"/>
          </a:xfrm>
          <a:prstGeom prst="rect">
            <a:avLst/>
          </a:prstGeom>
          <a:noFill/>
        </p:spPr>
        <p:txBody>
          <a:bodyPr wrap="square" lIns="0" rIns="0" tIns="0" bIns="0" anchor="ctr">
            <a:spAutoFit/>
          </a:bodyPr>
          <a:lstStyle/>
          <a:p>
            <a:pPr>
              <a:buNone/>
            </a:pPr>
            <a:r>
              <a:rPr sz="1050">
                <a:solidFill>
                  <a:srgbClr val="5A6573"/>
                </a:solidFill>
                <a:latin typeface="Trenda IG Text"/>
              </a:rPr>
              <a:t>Encounter</a:t>
            </a:r>
          </a:p>
        </p:txBody>
      </p:sp>
      <p:sp>
        <p:nvSpPr>
          <p:cNvPr id="31" name="TextBox 30"/>
          <p:cNvSpPr txBox="1"/>
          <p:nvPr/>
        </p:nvSpPr>
        <p:spPr>
          <a:xfrm>
            <a:off x="5248656" y="3328416"/>
            <a:ext cx="2651760" cy="429768"/>
          </a:xfrm>
          <a:prstGeom prst="rect">
            <a:avLst/>
          </a:prstGeom>
          <a:noFill/>
        </p:spPr>
        <p:txBody>
          <a:bodyPr wrap="square" lIns="0" rIns="0" tIns="0" bIns="0" anchor="ctr">
            <a:spAutoFit/>
          </a:bodyPr>
          <a:lstStyle/>
          <a:p>
            <a:pPr>
              <a:buNone/>
            </a:pPr>
            <a:r>
              <a:rPr sz="1050">
                <a:solidFill>
                  <a:srgbClr val="5A6573"/>
                </a:solidFill>
                <a:latin typeface="Trenda IG Text"/>
              </a:rPr>
              <a:t>Deployment, incident</a:t>
            </a:r>
          </a:p>
        </p:txBody>
      </p:sp>
      <p:sp>
        <p:nvSpPr>
          <p:cNvPr id="32" name="Rectangle 31"/>
          <p:cNvSpPr/>
          <p:nvPr/>
        </p:nvSpPr>
        <p:spPr>
          <a:xfrm>
            <a:off x="109728" y="3794760"/>
            <a:ext cx="7827264" cy="42976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 y="3794760"/>
            <a:ext cx="2194560" cy="429768"/>
          </a:xfrm>
          <a:prstGeom prst="rect">
            <a:avLst/>
          </a:prstGeom>
          <a:noFill/>
        </p:spPr>
        <p:txBody>
          <a:bodyPr wrap="square" lIns="0" rIns="0" tIns="0" bIns="0" anchor="ctr">
            <a:spAutoFit/>
          </a:bodyPr>
          <a:lstStyle/>
          <a:p>
            <a:pPr>
              <a:buNone/>
            </a:pPr>
            <a:r>
              <a:rPr sz="1050">
                <a:solidFill>
                  <a:srgbClr val="1A1A1A"/>
                </a:solidFill>
                <a:latin typeface="Trenda IG Text Semibold"/>
              </a:rPr>
              <a:t>Commitment</a:t>
            </a:r>
          </a:p>
        </p:txBody>
      </p:sp>
      <p:sp>
        <p:nvSpPr>
          <p:cNvPr id="34" name="TextBox 33"/>
          <p:cNvSpPr txBox="1"/>
          <p:nvPr/>
        </p:nvSpPr>
        <p:spPr>
          <a:xfrm>
            <a:off x="2596896" y="3794760"/>
            <a:ext cx="2468879" cy="429768"/>
          </a:xfrm>
          <a:prstGeom prst="rect">
            <a:avLst/>
          </a:prstGeom>
          <a:noFill/>
        </p:spPr>
        <p:txBody>
          <a:bodyPr wrap="square" lIns="0" rIns="0" tIns="0" bIns="0" anchor="ctr">
            <a:spAutoFit/>
          </a:bodyPr>
          <a:lstStyle/>
          <a:p>
            <a:pPr>
              <a:buNone/>
            </a:pPr>
            <a:r>
              <a:rPr sz="1050">
                <a:solidFill>
                  <a:srgbClr val="5A6573"/>
                </a:solidFill>
                <a:latin typeface="Trenda IG Text"/>
              </a:rPr>
              <a:t>Appointment</a:t>
            </a:r>
          </a:p>
        </p:txBody>
      </p:sp>
      <p:sp>
        <p:nvSpPr>
          <p:cNvPr id="35" name="TextBox 34"/>
          <p:cNvSpPr txBox="1"/>
          <p:nvPr/>
        </p:nvSpPr>
        <p:spPr>
          <a:xfrm>
            <a:off x="5248656" y="3794760"/>
            <a:ext cx="2651760" cy="429768"/>
          </a:xfrm>
          <a:prstGeom prst="rect">
            <a:avLst/>
          </a:prstGeom>
          <a:noFill/>
        </p:spPr>
        <p:txBody>
          <a:bodyPr wrap="square" lIns="0" rIns="0" tIns="0" bIns="0" anchor="ctr">
            <a:spAutoFit/>
          </a:bodyPr>
          <a:lstStyle/>
          <a:p>
            <a:pPr>
              <a:buNone/>
            </a:pPr>
            <a:r>
              <a:rPr sz="1050">
                <a:solidFill>
                  <a:srgbClr val="5A6573"/>
                </a:solidFill>
                <a:latin typeface="Trenda IG Text"/>
              </a:rPr>
              <a:t>Work item</a:t>
            </a:r>
          </a:p>
        </p:txBody>
      </p:sp>
      <p:sp>
        <p:nvSpPr>
          <p:cNvPr id="36" name="Rectangle 35"/>
          <p:cNvSpPr/>
          <p:nvPr/>
        </p:nvSpPr>
        <p:spPr>
          <a:xfrm>
            <a:off x="109728" y="4261104"/>
            <a:ext cx="7827264" cy="429768"/>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19456" y="4261104"/>
            <a:ext cx="2194560" cy="429768"/>
          </a:xfrm>
          <a:prstGeom prst="rect">
            <a:avLst/>
          </a:prstGeom>
          <a:noFill/>
        </p:spPr>
        <p:txBody>
          <a:bodyPr wrap="square" lIns="0" rIns="0" tIns="0" bIns="0" anchor="ctr">
            <a:spAutoFit/>
          </a:bodyPr>
          <a:lstStyle/>
          <a:p>
            <a:pPr>
              <a:buNone/>
            </a:pPr>
            <a:r>
              <a:rPr sz="1050">
                <a:solidFill>
                  <a:srgbClr val="1A1A1A"/>
                </a:solidFill>
                <a:latin typeface="Trenda IG Text Semibold"/>
              </a:rPr>
              <a:t>Adequacy rule</a:t>
            </a:r>
          </a:p>
        </p:txBody>
      </p:sp>
      <p:sp>
        <p:nvSpPr>
          <p:cNvPr id="38" name="TextBox 37"/>
          <p:cNvSpPr txBox="1"/>
          <p:nvPr/>
        </p:nvSpPr>
        <p:spPr>
          <a:xfrm>
            <a:off x="2596896" y="4261104"/>
            <a:ext cx="2468879" cy="429768"/>
          </a:xfrm>
          <a:prstGeom prst="rect">
            <a:avLst/>
          </a:prstGeom>
          <a:noFill/>
        </p:spPr>
        <p:txBody>
          <a:bodyPr wrap="square" lIns="0" rIns="0" tIns="0" bIns="0" anchor="ctr">
            <a:spAutoFit/>
          </a:bodyPr>
          <a:lstStyle/>
          <a:p>
            <a:pPr>
              <a:buNone/>
            </a:pPr>
            <a:r>
              <a:rPr sz="1050">
                <a:solidFill>
                  <a:srgbClr val="5A6573"/>
                </a:solidFill>
                <a:latin typeface="Trenda IG Text"/>
              </a:rPr>
              <a:t>CMS time and distance</a:t>
            </a:r>
          </a:p>
        </p:txBody>
      </p:sp>
      <p:sp>
        <p:nvSpPr>
          <p:cNvPr id="39" name="TextBox 38"/>
          <p:cNvSpPr txBox="1"/>
          <p:nvPr/>
        </p:nvSpPr>
        <p:spPr>
          <a:xfrm>
            <a:off x="5248656" y="4261104"/>
            <a:ext cx="2651760" cy="429768"/>
          </a:xfrm>
          <a:prstGeom prst="rect">
            <a:avLst/>
          </a:prstGeom>
          <a:noFill/>
        </p:spPr>
        <p:txBody>
          <a:bodyPr wrap="square" lIns="0" rIns="0" tIns="0" bIns="0" anchor="ctr">
            <a:spAutoFit/>
          </a:bodyPr>
          <a:lstStyle/>
          <a:p>
            <a:pPr>
              <a:buNone/>
            </a:pPr>
            <a:r>
              <a:rPr sz="1050">
                <a:solidFill>
                  <a:srgbClr val="5A6573"/>
                </a:solidFill>
                <a:latin typeface="Trenda IG Text"/>
              </a:rPr>
              <a:t>Architecture standard or SLA</a:t>
            </a:r>
          </a:p>
        </p:txBody>
      </p:sp>
      <p:sp>
        <p:nvSpPr>
          <p:cNvPr id="40" name="Rectangle 39"/>
          <p:cNvSpPr/>
          <p:nvPr/>
        </p:nvSpPr>
        <p:spPr>
          <a:xfrm>
            <a:off x="109728" y="4727448"/>
            <a:ext cx="7827264" cy="42976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 y="4727448"/>
            <a:ext cx="2194560" cy="429768"/>
          </a:xfrm>
          <a:prstGeom prst="rect">
            <a:avLst/>
          </a:prstGeom>
          <a:noFill/>
        </p:spPr>
        <p:txBody>
          <a:bodyPr wrap="square" lIns="0" rIns="0" tIns="0" bIns="0" anchor="ctr">
            <a:spAutoFit/>
          </a:bodyPr>
          <a:lstStyle/>
          <a:p>
            <a:pPr>
              <a:buNone/>
            </a:pPr>
            <a:r>
              <a:rPr sz="1050">
                <a:solidFill>
                  <a:srgbClr val="1A1A1A"/>
                </a:solidFill>
                <a:latin typeface="Trenda IG Text Semibold"/>
              </a:rPr>
              <a:t>Identity spine</a:t>
            </a:r>
          </a:p>
        </p:txBody>
      </p:sp>
      <p:sp>
        <p:nvSpPr>
          <p:cNvPr id="42" name="TextBox 41"/>
          <p:cNvSpPr txBox="1"/>
          <p:nvPr/>
        </p:nvSpPr>
        <p:spPr>
          <a:xfrm>
            <a:off x="2596896" y="4727448"/>
            <a:ext cx="2468879" cy="429768"/>
          </a:xfrm>
          <a:prstGeom prst="rect">
            <a:avLst/>
          </a:prstGeom>
          <a:noFill/>
        </p:spPr>
        <p:txBody>
          <a:bodyPr wrap="square" lIns="0" rIns="0" tIns="0" bIns="0" anchor="ctr">
            <a:spAutoFit/>
          </a:bodyPr>
          <a:lstStyle/>
          <a:p>
            <a:pPr>
              <a:buNone/>
            </a:pPr>
            <a:r>
              <a:rPr sz="1050">
                <a:solidFill>
                  <a:srgbClr val="5A6573"/>
                </a:solidFill>
                <a:latin typeface="Trenda IG Text"/>
              </a:rPr>
              <a:t>NPI, TIN, CCN, EMPI</a:t>
            </a:r>
          </a:p>
        </p:txBody>
      </p:sp>
      <p:sp>
        <p:nvSpPr>
          <p:cNvPr id="43" name="TextBox 42"/>
          <p:cNvSpPr txBox="1"/>
          <p:nvPr/>
        </p:nvSpPr>
        <p:spPr>
          <a:xfrm>
            <a:off x="5248656" y="4727448"/>
            <a:ext cx="2651760" cy="429768"/>
          </a:xfrm>
          <a:prstGeom prst="rect">
            <a:avLst/>
          </a:prstGeom>
          <a:noFill/>
        </p:spPr>
        <p:txBody>
          <a:bodyPr wrap="square" lIns="0" rIns="0" tIns="0" bIns="0" anchor="ctr">
            <a:spAutoFit/>
          </a:bodyPr>
          <a:lstStyle/>
          <a:p>
            <a:pPr>
              <a:buNone/>
            </a:pPr>
            <a:r>
              <a:rPr sz="1050">
                <a:solidFill>
                  <a:srgbClr val="5A6573"/>
                </a:solidFill>
                <a:latin typeface="Trenda IG Text"/>
              </a:rPr>
              <a:t>Repo and component id</a:t>
            </a:r>
          </a:p>
        </p:txBody>
      </p:sp>
      <p:sp>
        <p:nvSpPr>
          <p:cNvPr id="44" name="Rectangle 43"/>
          <p:cNvSpPr/>
          <p:nvPr/>
        </p:nvSpPr>
        <p:spPr>
          <a:xfrm>
            <a:off x="8119871" y="1097280"/>
            <a:ext cx="3959352" cy="40690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302751" y="1298448"/>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85632" y="1216152"/>
            <a:ext cx="3410712" cy="274320"/>
          </a:xfrm>
          <a:prstGeom prst="rect">
            <a:avLst/>
          </a:prstGeom>
          <a:noFill/>
        </p:spPr>
        <p:txBody>
          <a:bodyPr wrap="square" lIns="0" rIns="0" tIns="0" bIns="0" anchor="t">
            <a:spAutoFit/>
          </a:bodyPr>
          <a:lstStyle/>
          <a:p>
            <a:pPr>
              <a:buNone/>
            </a:pPr>
            <a:r>
              <a:rPr sz="1350">
                <a:solidFill>
                  <a:srgbClr val="FFFFFF"/>
                </a:solidFill>
                <a:latin typeface="Trenda IG Display Bold"/>
              </a:rPr>
              <a:t>Why it matters to Ascension</a:t>
            </a:r>
          </a:p>
        </p:txBody>
      </p:sp>
      <p:sp>
        <p:nvSpPr>
          <p:cNvPr id="47" name="TextBox 46"/>
          <p:cNvSpPr txBox="1"/>
          <p:nvPr/>
        </p:nvSpPr>
        <p:spPr>
          <a:xfrm>
            <a:off x="8302751" y="1572768"/>
            <a:ext cx="3593592" cy="3502152"/>
          </a:xfrm>
          <a:prstGeom prst="rect">
            <a:avLst/>
          </a:prstGeom>
          <a:noFill/>
        </p:spPr>
        <p:txBody>
          <a:bodyPr wrap="square" lIns="0" rIns="0" tIns="0" bIns="0" anchor="t">
            <a:spAutoFit/>
          </a:bodyPr>
          <a:lstStyle/>
          <a:p>
            <a:pPr marL="114300" indent="-114300">
              <a:lnSpc>
                <a:spcPct val="102000"/>
              </a:lnSpc>
              <a:spcAft>
                <a:spcPts val="700"/>
              </a:spcAft>
              <a:buChar char="•"/>
            </a:pPr>
            <a:r>
              <a:rPr sz="1200">
                <a:solidFill>
                  <a:srgbClr val="D8DEE6"/>
                </a:solidFill>
                <a:latin typeface="Trenda IG Text"/>
              </a:rPr>
              <a:t>The core is built once: storage, graph runtime and gap engines.</a:t>
            </a:r>
          </a:p>
          <a:p>
            <a:pPr marL="114300" indent="-114300">
              <a:lnSpc>
                <a:spcPct val="102000"/>
              </a:lnSpc>
              <a:spcAft>
                <a:spcPts val="700"/>
              </a:spcAft>
              <a:buChar char="•"/>
            </a:pPr>
            <a:r>
              <a:rPr sz="1200">
                <a:solidFill>
                  <a:srgbClr val="D8DEE6"/>
                </a:solidFill>
                <a:latin typeface="Trenda IG Text"/>
              </a:rPr>
              <a:t>The delivery pilot builds the same core the Clinical Network graph runs on.</a:t>
            </a:r>
          </a:p>
          <a:p>
            <a:pPr marL="114300" indent="-114300">
              <a:lnSpc>
                <a:spcPct val="102000"/>
              </a:lnSpc>
              <a:spcAft>
                <a:spcPts val="700"/>
              </a:spcAft>
              <a:buChar char="•"/>
            </a:pPr>
            <a:r>
              <a:rPr sz="1200">
                <a:solidFill>
                  <a:srgbClr val="D8DEE6"/>
                </a:solidFill>
                <a:latin typeface="Trenda IG Text"/>
              </a:rPr>
              <a:t>A new use is a pack: five declarations and their connectors, not a new build.</a:t>
            </a:r>
          </a:p>
        </p:txBody>
      </p:sp>
      <p:sp>
        <p:nvSpPr>
          <p:cNvPr id="48" name="Rectangle 47"/>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5358384"/>
            <a:ext cx="11521440" cy="566928"/>
          </a:xfrm>
          <a:prstGeom prst="rect">
            <a:avLst/>
          </a:prstGeom>
          <a:noFill/>
        </p:spPr>
        <p:txBody>
          <a:bodyPr wrap="square" lIns="0" rIns="0" tIns="0" bIns="0" anchor="ctr">
            <a:spAutoFit/>
          </a:bodyPr>
          <a:lstStyle/>
          <a:p>
            <a:pPr>
              <a:buNone/>
            </a:pPr>
            <a:r>
              <a:rPr sz="1050">
                <a:solidFill>
                  <a:srgbClr val="1A1A1A"/>
                </a:solidFill>
                <a:latin typeface="Trenda IG Text"/>
              </a:rPr>
              <a:t>A county with demand and no credentialed cardiologist is the same query as a requirement with no component that implements it.</a:t>
            </a:r>
          </a:p>
        </p:txBody>
      </p:sp>
      <p:sp>
        <p:nvSpPr>
          <p:cNvPr id="51" name="Rectangle 50"/>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The investment in this pilot is also an investment in the clinical network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DESIGN FROM EVIDENCE</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Flow or trigger? The graph decides from facts</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Illustrative request. Rules are a draft.</a:t>
            </a:r>
          </a:p>
        </p:txBody>
      </p:sp>
      <p:sp>
        <p:nvSpPr>
          <p:cNvPr id="6" name="Rectangle 5"/>
          <p:cNvSpPr/>
          <p:nvPr/>
        </p:nvSpPr>
        <p:spPr>
          <a:xfrm>
            <a:off x="109728" y="1097280"/>
            <a:ext cx="5760720" cy="10515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207008"/>
            <a:ext cx="5394959" cy="155448"/>
          </a:xfrm>
          <a:prstGeom prst="rect">
            <a:avLst/>
          </a:prstGeom>
          <a:noFill/>
        </p:spPr>
        <p:txBody>
          <a:bodyPr wrap="square" lIns="0" rIns="0" tIns="0" bIns="0" anchor="t">
            <a:spAutoFit/>
          </a:bodyPr>
          <a:lstStyle/>
          <a:p>
            <a:pPr>
              <a:buNone/>
            </a:pPr>
            <a:r>
              <a:rPr sz="750" spc="60">
                <a:solidFill>
                  <a:srgbClr val="5A6573"/>
                </a:solidFill>
                <a:latin typeface="Trenda IG Text Semibold"/>
              </a:rPr>
              <a:t>EXAMPLE REQUEST</a:t>
            </a:r>
          </a:p>
        </p:txBody>
      </p:sp>
      <p:sp>
        <p:nvSpPr>
          <p:cNvPr id="8" name="TextBox 7"/>
          <p:cNvSpPr txBox="1"/>
          <p:nvPr/>
        </p:nvSpPr>
        <p:spPr>
          <a:xfrm>
            <a:off x="292608" y="1444752"/>
            <a:ext cx="5394959" cy="594360"/>
          </a:xfrm>
          <a:prstGeom prst="rect">
            <a:avLst/>
          </a:prstGeom>
          <a:noFill/>
        </p:spPr>
        <p:txBody>
          <a:bodyPr wrap="square" lIns="0" rIns="0" tIns="0" bIns="0" anchor="t">
            <a:spAutoFit/>
          </a:bodyPr>
          <a:lstStyle/>
          <a:p>
            <a:pPr>
              <a:lnSpc>
                <a:spcPct val="105000"/>
              </a:lnSpc>
              <a:buNone/>
            </a:pPr>
            <a:r>
              <a:rPr sz="1200">
                <a:solidFill>
                  <a:srgbClr val="1A1A1A"/>
                </a:solidFill>
                <a:latin typeface="Trenda IG Text"/>
              </a:rPr>
              <a:t>“When a provider Account is approved, create its Healthcare Facility Network record.”</a:t>
            </a:r>
          </a:p>
        </p:txBody>
      </p:sp>
      <p:sp>
        <p:nvSpPr>
          <p:cNvPr id="9" name="Rectangle 8"/>
          <p:cNvSpPr/>
          <p:nvPr/>
        </p:nvSpPr>
        <p:spPr>
          <a:xfrm>
            <a:off x="109728" y="2286000"/>
            <a:ext cx="5760720" cy="182880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2414016"/>
            <a:ext cx="5394959" cy="155448"/>
          </a:xfrm>
          <a:prstGeom prst="rect">
            <a:avLst/>
          </a:prstGeom>
          <a:noFill/>
        </p:spPr>
        <p:txBody>
          <a:bodyPr wrap="square" lIns="0" rIns="0" tIns="0" bIns="0" anchor="t">
            <a:spAutoFit/>
          </a:bodyPr>
          <a:lstStyle/>
          <a:p>
            <a:pPr>
              <a:buNone/>
            </a:pPr>
            <a:r>
              <a:rPr sz="750" spc="60">
                <a:solidFill>
                  <a:srgbClr val="5A6573"/>
                </a:solidFill>
                <a:latin typeface="Trenda IG Text Semibold"/>
              </a:rPr>
              <a:t>WHAT THE GRAPH RETURNS</a:t>
            </a:r>
          </a:p>
        </p:txBody>
      </p:sp>
      <p:sp>
        <p:nvSpPr>
          <p:cNvPr id="11" name="TextBox 10"/>
          <p:cNvSpPr txBox="1"/>
          <p:nvPr/>
        </p:nvSpPr>
        <p:spPr>
          <a:xfrm>
            <a:off x="292608" y="2688336"/>
            <a:ext cx="5394959" cy="1371600"/>
          </a:xfrm>
          <a:prstGeom prst="rect">
            <a:avLst/>
          </a:prstGeom>
          <a:noFill/>
        </p:spPr>
        <p:txBody>
          <a:bodyPr wrap="square" lIns="0" rIns="0" tIns="0" bIns="0" anchor="t">
            <a:spAutoFit/>
          </a:bodyPr>
          <a:lstStyle/>
          <a:p>
            <a:pPr marL="114300" indent="-114300">
              <a:spcAft>
                <a:spcPts val="700"/>
              </a:spcAft>
              <a:buChar char="•"/>
            </a:pPr>
            <a:r>
              <a:rPr sz="1150">
                <a:solidFill>
                  <a:srgbClr val="1A1A1A"/>
                </a:solidFill>
                <a:latin typeface="Trenda IG Text"/>
              </a:rPr>
              <a:t>AHC_AccountTrigger already runs on Account</a:t>
            </a:r>
          </a:p>
          <a:p>
            <a:pPr marL="114300" indent="-114300">
              <a:spcAft>
                <a:spcPts val="700"/>
              </a:spcAft>
              <a:buChar char="•"/>
            </a:pPr>
            <a:r>
              <a:rPr sz="1150">
                <a:solidFill>
                  <a:srgbClr val="1A1A1A"/>
                </a:solidFill>
                <a:latin typeface="Trenda IG Text"/>
              </a:rPr>
              <a:t>HFN records are already created, in Apex for some scenarios and in Flow for others</a:t>
            </a:r>
          </a:p>
          <a:p>
            <a:pPr marL="114300" indent="-114300">
              <a:spcAft>
                <a:spcPts val="700"/>
              </a:spcAft>
              <a:buChar char="•"/>
            </a:pPr>
            <a:r>
              <a:rPr sz="1150">
                <a:solidFill>
                  <a:srgbClr val="1A1A1A"/>
                </a:solidFill>
                <a:latin typeface="Trenda IG Text"/>
              </a:rPr>
              <a:t>Record-triggered flows already run on Account</a:t>
            </a:r>
          </a:p>
        </p:txBody>
      </p:sp>
      <p:sp>
        <p:nvSpPr>
          <p:cNvPr id="12" name="Rectangle 11"/>
          <p:cNvSpPr/>
          <p:nvPr/>
        </p:nvSpPr>
        <p:spPr>
          <a:xfrm>
            <a:off x="109728" y="4251960"/>
            <a:ext cx="5760720" cy="960120"/>
          </a:xfrm>
          <a:prstGeom prst="rect">
            <a:avLst/>
          </a:prstGeom>
          <a:solidFill>
            <a:srgbClr val="E3F2F4"/>
          </a:solidFill>
          <a:ln w="15875">
            <a:solidFill>
              <a:srgbClr val="0075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4370832"/>
            <a:ext cx="5394959" cy="155448"/>
          </a:xfrm>
          <a:prstGeom prst="rect">
            <a:avLst/>
          </a:prstGeom>
          <a:noFill/>
        </p:spPr>
        <p:txBody>
          <a:bodyPr wrap="square" lIns="0" rIns="0" tIns="0" bIns="0" anchor="t">
            <a:spAutoFit/>
          </a:bodyPr>
          <a:lstStyle/>
          <a:p>
            <a:pPr>
              <a:buNone/>
            </a:pPr>
            <a:r>
              <a:rPr sz="750" spc="60">
                <a:solidFill>
                  <a:srgbClr val="00757F"/>
                </a:solidFill>
                <a:latin typeface="Trenda IG Text Semibold"/>
              </a:rPr>
              <a:t>RECOMMENDATION</a:t>
            </a:r>
          </a:p>
        </p:txBody>
      </p:sp>
      <p:sp>
        <p:nvSpPr>
          <p:cNvPr id="14" name="TextBox 13"/>
          <p:cNvSpPr txBox="1"/>
          <p:nvPr/>
        </p:nvSpPr>
        <p:spPr>
          <a:xfrm>
            <a:off x="292608" y="4626864"/>
            <a:ext cx="5394959" cy="457200"/>
          </a:xfrm>
          <a:prstGeom prst="rect">
            <a:avLst/>
          </a:prstGeom>
          <a:noFill/>
        </p:spPr>
        <p:txBody>
          <a:bodyPr wrap="square" lIns="0" rIns="0" tIns="0" bIns="0" anchor="t">
            <a:spAutoFit/>
          </a:bodyPr>
          <a:lstStyle/>
          <a:p>
            <a:pPr>
              <a:buNone/>
            </a:pPr>
            <a:r>
              <a:rPr sz="1350">
                <a:solidFill>
                  <a:srgbClr val="1A1A1A"/>
                </a:solidFill>
                <a:latin typeface="Trenda IG Display Bold"/>
              </a:rPr>
              <a:t>Extend the existing creation logic. Do not add a third path.</a:t>
            </a:r>
          </a:p>
        </p:txBody>
      </p:sp>
      <p:sp>
        <p:nvSpPr>
          <p:cNvPr id="15" name="TextBox 14"/>
          <p:cNvSpPr txBox="1"/>
          <p:nvPr/>
        </p:nvSpPr>
        <p:spPr>
          <a:xfrm>
            <a:off x="6053328" y="1133856"/>
            <a:ext cx="6025896" cy="155448"/>
          </a:xfrm>
          <a:prstGeom prst="rect">
            <a:avLst/>
          </a:prstGeom>
          <a:noFill/>
        </p:spPr>
        <p:txBody>
          <a:bodyPr wrap="square" lIns="0" rIns="0" tIns="0" bIns="0" anchor="t">
            <a:spAutoFit/>
          </a:bodyPr>
          <a:lstStyle/>
          <a:p>
            <a:pPr>
              <a:buNone/>
            </a:pPr>
            <a:r>
              <a:rPr sz="750" spc="60">
                <a:solidFill>
                  <a:srgbClr val="5A6573"/>
                </a:solidFill>
                <a:latin typeface="Trenda IG Text Semibold"/>
              </a:rPr>
              <a:t>RULES THE ARCHITECT AGENT APPLIES</a:t>
            </a:r>
          </a:p>
        </p:txBody>
      </p:sp>
      <p:sp>
        <p:nvSpPr>
          <p:cNvPr id="16" name="Rectangle 15"/>
          <p:cNvSpPr/>
          <p:nvPr/>
        </p:nvSpPr>
        <p:spPr>
          <a:xfrm>
            <a:off x="6053328" y="1371600"/>
            <a:ext cx="6025896" cy="54864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371600"/>
            <a:ext cx="3312139" cy="548640"/>
          </a:xfrm>
          <a:prstGeom prst="rect">
            <a:avLst/>
          </a:prstGeom>
          <a:noFill/>
        </p:spPr>
        <p:txBody>
          <a:bodyPr wrap="square" lIns="0" rIns="0" tIns="0" bIns="0" anchor="ctr">
            <a:spAutoFit/>
          </a:bodyPr>
          <a:lstStyle/>
          <a:p>
            <a:pPr>
              <a:buNone/>
            </a:pPr>
            <a:r>
              <a:rPr sz="900">
                <a:solidFill>
                  <a:srgbClr val="FFFFFF"/>
                </a:solidFill>
                <a:latin typeface="Trenda IG Text Semibold"/>
              </a:rPr>
              <a:t>When the graph shows…</a:t>
            </a:r>
          </a:p>
        </p:txBody>
      </p:sp>
      <p:sp>
        <p:nvSpPr>
          <p:cNvPr id="18" name="TextBox 17"/>
          <p:cNvSpPr txBox="1"/>
          <p:nvPr/>
        </p:nvSpPr>
        <p:spPr>
          <a:xfrm>
            <a:off x="9548347" y="1371600"/>
            <a:ext cx="2393716" cy="548640"/>
          </a:xfrm>
          <a:prstGeom prst="rect">
            <a:avLst/>
          </a:prstGeom>
          <a:noFill/>
        </p:spPr>
        <p:txBody>
          <a:bodyPr wrap="square" lIns="0" rIns="0" tIns="0" bIns="0" anchor="ctr">
            <a:spAutoFit/>
          </a:bodyPr>
          <a:lstStyle/>
          <a:p>
            <a:pPr>
              <a:buNone/>
            </a:pPr>
            <a:r>
              <a:rPr sz="900">
                <a:solidFill>
                  <a:srgbClr val="FFFFFF"/>
                </a:solidFill>
                <a:latin typeface="Trenda IG Text Semibold"/>
              </a:rPr>
              <a:t>Build…</a:t>
            </a:r>
          </a:p>
        </p:txBody>
      </p:sp>
      <p:sp>
        <p:nvSpPr>
          <p:cNvPr id="19" name="Rectangle 18"/>
          <p:cNvSpPr/>
          <p:nvPr/>
        </p:nvSpPr>
        <p:spPr>
          <a:xfrm>
            <a:off x="6053328" y="1965960"/>
            <a:ext cx="6025896" cy="54864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0488" y="1965960"/>
            <a:ext cx="3312139" cy="548640"/>
          </a:xfrm>
          <a:prstGeom prst="rect">
            <a:avLst/>
          </a:prstGeom>
          <a:noFill/>
        </p:spPr>
        <p:txBody>
          <a:bodyPr wrap="square" lIns="0" rIns="0" tIns="0" bIns="0" anchor="ctr">
            <a:spAutoFit/>
          </a:bodyPr>
          <a:lstStyle/>
          <a:p>
            <a:pPr>
              <a:buNone/>
            </a:pPr>
            <a:r>
              <a:rPr sz="1100">
                <a:solidFill>
                  <a:srgbClr val="1A1A1A"/>
                </a:solidFill>
                <a:latin typeface="Trenda IG Text"/>
              </a:rPr>
              <a:t>The logic already exists</a:t>
            </a:r>
          </a:p>
        </p:txBody>
      </p:sp>
      <p:sp>
        <p:nvSpPr>
          <p:cNvPr id="21" name="TextBox 20"/>
          <p:cNvSpPr txBox="1"/>
          <p:nvPr/>
        </p:nvSpPr>
        <p:spPr>
          <a:xfrm>
            <a:off x="9548347" y="1965960"/>
            <a:ext cx="2393716" cy="548640"/>
          </a:xfrm>
          <a:prstGeom prst="rect">
            <a:avLst/>
          </a:prstGeom>
          <a:noFill/>
        </p:spPr>
        <p:txBody>
          <a:bodyPr wrap="square" lIns="0" rIns="0" tIns="0" bIns="0" anchor="ctr">
            <a:spAutoFit/>
          </a:bodyPr>
          <a:lstStyle/>
          <a:p>
            <a:pPr>
              <a:buNone/>
            </a:pPr>
            <a:r>
              <a:rPr sz="1100">
                <a:solidFill>
                  <a:srgbClr val="5A6573"/>
                </a:solidFill>
                <a:latin typeface="Trenda IG Text"/>
              </a:rPr>
              <a:t>Nothing new: reuse it</a:t>
            </a:r>
          </a:p>
        </p:txBody>
      </p:sp>
      <p:sp>
        <p:nvSpPr>
          <p:cNvPr id="22" name="Rectangle 21"/>
          <p:cNvSpPr/>
          <p:nvPr/>
        </p:nvSpPr>
        <p:spPr>
          <a:xfrm>
            <a:off x="6053328" y="2560320"/>
            <a:ext cx="6025896" cy="54864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0488" y="2560320"/>
            <a:ext cx="3312139" cy="548640"/>
          </a:xfrm>
          <a:prstGeom prst="rect">
            <a:avLst/>
          </a:prstGeom>
          <a:noFill/>
        </p:spPr>
        <p:txBody>
          <a:bodyPr wrap="square" lIns="0" rIns="0" tIns="0" bIns="0" anchor="ctr">
            <a:spAutoFit/>
          </a:bodyPr>
          <a:lstStyle/>
          <a:p>
            <a:pPr>
              <a:buNone/>
            </a:pPr>
            <a:r>
              <a:rPr sz="1100">
                <a:solidFill>
                  <a:srgbClr val="1A1A1A"/>
                </a:solidFill>
                <a:latin typeface="Trenda IG Text"/>
              </a:rPr>
              <a:t>A trigger handler on the object</a:t>
            </a:r>
          </a:p>
        </p:txBody>
      </p:sp>
      <p:sp>
        <p:nvSpPr>
          <p:cNvPr id="24" name="TextBox 23"/>
          <p:cNvSpPr txBox="1"/>
          <p:nvPr/>
        </p:nvSpPr>
        <p:spPr>
          <a:xfrm>
            <a:off x="9548347" y="2560320"/>
            <a:ext cx="2393716" cy="548640"/>
          </a:xfrm>
          <a:prstGeom prst="rect">
            <a:avLst/>
          </a:prstGeom>
          <a:noFill/>
        </p:spPr>
        <p:txBody>
          <a:bodyPr wrap="square" lIns="0" rIns="0" tIns="0" bIns="0" anchor="ctr">
            <a:spAutoFit/>
          </a:bodyPr>
          <a:lstStyle/>
          <a:p>
            <a:pPr>
              <a:buNone/>
            </a:pPr>
            <a:r>
              <a:rPr sz="1100">
                <a:solidFill>
                  <a:srgbClr val="5A6573"/>
                </a:solidFill>
                <a:latin typeface="Trenda IG Text"/>
              </a:rPr>
              <a:t>An extension to the handler</a:t>
            </a:r>
          </a:p>
        </p:txBody>
      </p:sp>
      <p:sp>
        <p:nvSpPr>
          <p:cNvPr id="25" name="Rectangle 24"/>
          <p:cNvSpPr/>
          <p:nvPr/>
        </p:nvSpPr>
        <p:spPr>
          <a:xfrm>
            <a:off x="6053328" y="3154680"/>
            <a:ext cx="6025896" cy="54864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90488" y="3154680"/>
            <a:ext cx="3312139" cy="548640"/>
          </a:xfrm>
          <a:prstGeom prst="rect">
            <a:avLst/>
          </a:prstGeom>
          <a:noFill/>
        </p:spPr>
        <p:txBody>
          <a:bodyPr wrap="square" lIns="0" rIns="0" tIns="0" bIns="0" anchor="ctr">
            <a:spAutoFit/>
          </a:bodyPr>
          <a:lstStyle/>
          <a:p>
            <a:pPr>
              <a:buNone/>
            </a:pPr>
            <a:r>
              <a:rPr sz="1100">
                <a:solidFill>
                  <a:srgbClr val="1A1A1A"/>
                </a:solidFill>
                <a:latin typeface="Trenda IG Text"/>
              </a:rPr>
              <a:t>A same-record update, no Apex on the object</a:t>
            </a:r>
          </a:p>
        </p:txBody>
      </p:sp>
      <p:sp>
        <p:nvSpPr>
          <p:cNvPr id="27" name="TextBox 26"/>
          <p:cNvSpPr txBox="1"/>
          <p:nvPr/>
        </p:nvSpPr>
        <p:spPr>
          <a:xfrm>
            <a:off x="9548347" y="3154680"/>
            <a:ext cx="2393716" cy="548640"/>
          </a:xfrm>
          <a:prstGeom prst="rect">
            <a:avLst/>
          </a:prstGeom>
          <a:noFill/>
        </p:spPr>
        <p:txBody>
          <a:bodyPr wrap="square" lIns="0" rIns="0" tIns="0" bIns="0" anchor="ctr">
            <a:spAutoFit/>
          </a:bodyPr>
          <a:lstStyle/>
          <a:p>
            <a:pPr>
              <a:buNone/>
            </a:pPr>
            <a:r>
              <a:rPr sz="1100">
                <a:solidFill>
                  <a:srgbClr val="5A6573"/>
                </a:solidFill>
                <a:latin typeface="Trenda IG Text"/>
              </a:rPr>
              <a:t>A before-save flow</a:t>
            </a:r>
          </a:p>
        </p:txBody>
      </p:sp>
      <p:sp>
        <p:nvSpPr>
          <p:cNvPr id="28" name="Rectangle 27"/>
          <p:cNvSpPr/>
          <p:nvPr/>
        </p:nvSpPr>
        <p:spPr>
          <a:xfrm>
            <a:off x="6053328" y="3749039"/>
            <a:ext cx="6025896" cy="54864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0488" y="3749039"/>
            <a:ext cx="3312139" cy="548640"/>
          </a:xfrm>
          <a:prstGeom prst="rect">
            <a:avLst/>
          </a:prstGeom>
          <a:noFill/>
        </p:spPr>
        <p:txBody>
          <a:bodyPr wrap="square" lIns="0" rIns="0" tIns="0" bIns="0" anchor="ctr">
            <a:spAutoFit/>
          </a:bodyPr>
          <a:lstStyle/>
          <a:p>
            <a:pPr>
              <a:buNone/>
            </a:pPr>
            <a:r>
              <a:rPr sz="1100">
                <a:solidFill>
                  <a:srgbClr val="1A1A1A"/>
                </a:solidFill>
                <a:latin typeface="Trenda IG Text"/>
              </a:rPr>
              <a:t>Callouts, high volume or complex logic</a:t>
            </a:r>
          </a:p>
        </p:txBody>
      </p:sp>
      <p:sp>
        <p:nvSpPr>
          <p:cNvPr id="30" name="TextBox 29"/>
          <p:cNvSpPr txBox="1"/>
          <p:nvPr/>
        </p:nvSpPr>
        <p:spPr>
          <a:xfrm>
            <a:off x="9548347" y="3749039"/>
            <a:ext cx="2393716" cy="548640"/>
          </a:xfrm>
          <a:prstGeom prst="rect">
            <a:avLst/>
          </a:prstGeom>
          <a:noFill/>
        </p:spPr>
        <p:txBody>
          <a:bodyPr wrap="square" lIns="0" rIns="0" tIns="0" bIns="0" anchor="ctr">
            <a:spAutoFit/>
          </a:bodyPr>
          <a:lstStyle/>
          <a:p>
            <a:pPr>
              <a:buNone/>
            </a:pPr>
            <a:r>
              <a:rPr sz="1100">
                <a:solidFill>
                  <a:srgbClr val="5A6573"/>
                </a:solidFill>
                <a:latin typeface="Trenda IG Text"/>
              </a:rPr>
              <a:t>Apex, through the handler</a:t>
            </a:r>
          </a:p>
        </p:txBody>
      </p:sp>
      <p:sp>
        <p:nvSpPr>
          <p:cNvPr id="31" name="Rectangle 30"/>
          <p:cNvSpPr/>
          <p:nvPr/>
        </p:nvSpPr>
        <p:spPr>
          <a:xfrm>
            <a:off x="6053328" y="4343400"/>
            <a:ext cx="6025896" cy="54864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0488" y="4343400"/>
            <a:ext cx="3312139" cy="548640"/>
          </a:xfrm>
          <a:prstGeom prst="rect">
            <a:avLst/>
          </a:prstGeom>
          <a:noFill/>
        </p:spPr>
        <p:txBody>
          <a:bodyPr wrap="square" lIns="0" rIns="0" tIns="0" bIns="0" anchor="ctr">
            <a:spAutoFit/>
          </a:bodyPr>
          <a:lstStyle/>
          <a:p>
            <a:pPr>
              <a:buNone/>
            </a:pPr>
            <a:r>
              <a:rPr sz="1100">
                <a:solidFill>
                  <a:srgbClr val="1A1A1A"/>
                </a:solidFill>
                <a:latin typeface="Trenda IG Text"/>
              </a:rPr>
              <a:t>Guided steps for a user</a:t>
            </a:r>
          </a:p>
        </p:txBody>
      </p:sp>
      <p:sp>
        <p:nvSpPr>
          <p:cNvPr id="33" name="TextBox 32"/>
          <p:cNvSpPr txBox="1"/>
          <p:nvPr/>
        </p:nvSpPr>
        <p:spPr>
          <a:xfrm>
            <a:off x="9548347" y="4343400"/>
            <a:ext cx="2393716" cy="548640"/>
          </a:xfrm>
          <a:prstGeom prst="rect">
            <a:avLst/>
          </a:prstGeom>
          <a:noFill/>
        </p:spPr>
        <p:txBody>
          <a:bodyPr wrap="square" lIns="0" rIns="0" tIns="0" bIns="0" anchor="ctr">
            <a:spAutoFit/>
          </a:bodyPr>
          <a:lstStyle/>
          <a:p>
            <a:pPr>
              <a:buNone/>
            </a:pPr>
            <a:r>
              <a:rPr sz="1100">
                <a:solidFill>
                  <a:srgbClr val="5A6573"/>
                </a:solidFill>
                <a:latin typeface="Trenda IG Text"/>
              </a:rPr>
              <a:t>A screen flow or LWC</a:t>
            </a:r>
          </a:p>
        </p:txBody>
      </p:sp>
      <p:sp>
        <p:nvSpPr>
          <p:cNvPr id="34" name="TextBox 33"/>
          <p:cNvSpPr txBox="1"/>
          <p:nvPr/>
        </p:nvSpPr>
        <p:spPr>
          <a:xfrm>
            <a:off x="6053328" y="4983480"/>
            <a:ext cx="6025896" cy="228600"/>
          </a:xfrm>
          <a:prstGeom prst="rect">
            <a:avLst/>
          </a:prstGeom>
          <a:noFill/>
        </p:spPr>
        <p:txBody>
          <a:bodyPr wrap="square" lIns="0" rIns="0" tIns="0" bIns="0" anchor="t">
            <a:spAutoFit/>
          </a:bodyPr>
          <a:lstStyle/>
          <a:p>
            <a:pPr>
              <a:buNone/>
            </a:pPr>
            <a:r>
              <a:rPr sz="900">
                <a:solidFill>
                  <a:srgbClr val="5A6573"/>
                </a:solidFill>
                <a:latin typeface="Trenda IG Text Light"/>
              </a:rPr>
              <a:t>Draft rules. Ascension's architecture standards set the final list.</a:t>
            </a:r>
          </a:p>
        </p:txBody>
      </p:sp>
      <p:sp>
        <p:nvSpPr>
          <p:cNvPr id="35" name="Rectangle 34"/>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5358384"/>
            <a:ext cx="11521440" cy="566928"/>
          </a:xfrm>
          <a:prstGeom prst="rect">
            <a:avLst/>
          </a:prstGeom>
          <a:noFill/>
        </p:spPr>
        <p:txBody>
          <a:bodyPr wrap="square" lIns="0" rIns="0" tIns="0" bIns="0" anchor="ctr">
            <a:spAutoFit/>
          </a:bodyPr>
          <a:lstStyle/>
          <a:p>
            <a:pPr>
              <a:buNone/>
            </a:pPr>
            <a:r>
              <a:rPr sz="1050">
                <a:solidFill>
                  <a:srgbClr val="1A1A1A"/>
                </a:solidFill>
                <a:latin typeface="Trenda IG Text"/>
              </a:rPr>
              <a:t>Today the answer depends on who picks up the ticket. Here it depends on what the org already contains.</a:t>
            </a:r>
          </a:p>
        </p:txBody>
      </p:sp>
      <p:sp>
        <p:nvSpPr>
          <p:cNvPr id="38" name="Rectangle 37"/>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Every recommendation cites the components it was based 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GOVERNANCE</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People keep every decision. Every change is traceable</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Aligned to the framework's security design.</a:t>
            </a:r>
          </a:p>
        </p:txBody>
      </p:sp>
      <p:sp>
        <p:nvSpPr>
          <p:cNvPr id="6" name="Rectangle 5"/>
          <p:cNvSpPr/>
          <p:nvPr/>
        </p:nvSpPr>
        <p:spPr>
          <a:xfrm>
            <a:off x="109728" y="1097280"/>
            <a:ext cx="2889504" cy="1188720"/>
          </a:xfrm>
          <a:prstGeom prst="rect">
            <a:avLst/>
          </a:prstGeom>
          <a:solidFill>
            <a:srgbClr val="FDF1DE"/>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2608" y="1280160"/>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216152"/>
            <a:ext cx="2340864" cy="228600"/>
          </a:xfrm>
          <a:prstGeom prst="rect">
            <a:avLst/>
          </a:prstGeom>
          <a:noFill/>
        </p:spPr>
        <p:txBody>
          <a:bodyPr wrap="square" lIns="0" rIns="0" tIns="0" bIns="0" anchor="t">
            <a:spAutoFit/>
          </a:bodyPr>
          <a:lstStyle/>
          <a:p>
            <a:pPr>
              <a:buNone/>
            </a:pPr>
            <a:r>
              <a:rPr sz="900" spc="60">
                <a:solidFill>
                  <a:srgbClr val="8A5620"/>
                </a:solidFill>
                <a:latin typeface="Trenda IG Text Semibold"/>
              </a:rPr>
              <a:t>GATE 1 · SCOPE</a:t>
            </a:r>
          </a:p>
        </p:txBody>
      </p:sp>
      <p:sp>
        <p:nvSpPr>
          <p:cNvPr id="9" name="TextBox 8"/>
          <p:cNvSpPr txBox="1"/>
          <p:nvPr/>
        </p:nvSpPr>
        <p:spPr>
          <a:xfrm>
            <a:off x="292608" y="1508760"/>
            <a:ext cx="2523744" cy="274320"/>
          </a:xfrm>
          <a:prstGeom prst="rect">
            <a:avLst/>
          </a:prstGeom>
          <a:noFill/>
        </p:spPr>
        <p:txBody>
          <a:bodyPr wrap="square" lIns="0" rIns="0" tIns="0" bIns="0" anchor="t">
            <a:spAutoFit/>
          </a:bodyPr>
          <a:lstStyle/>
          <a:p>
            <a:pPr>
              <a:buNone/>
            </a:pPr>
            <a:r>
              <a:rPr sz="1350">
                <a:solidFill>
                  <a:srgbClr val="1A1A1A"/>
                </a:solidFill>
                <a:latin typeface="Trenda IG Display Bold"/>
              </a:rPr>
              <a:t>PM and Tech Lead</a:t>
            </a:r>
          </a:p>
        </p:txBody>
      </p:sp>
      <p:sp>
        <p:nvSpPr>
          <p:cNvPr id="10" name="TextBox 9"/>
          <p:cNvSpPr txBox="1"/>
          <p:nvPr/>
        </p:nvSpPr>
        <p:spPr>
          <a:xfrm>
            <a:off x="292608" y="1847088"/>
            <a:ext cx="2523744" cy="365760"/>
          </a:xfrm>
          <a:prstGeom prst="rect">
            <a:avLst/>
          </a:prstGeom>
          <a:noFill/>
        </p:spPr>
        <p:txBody>
          <a:bodyPr wrap="square" lIns="0" rIns="0" tIns="0" bIns="0" anchor="t">
            <a:spAutoFit/>
          </a:bodyPr>
          <a:lstStyle/>
          <a:p>
            <a:pPr>
              <a:buNone/>
            </a:pPr>
            <a:r>
              <a:rPr sz="1000">
                <a:solidFill>
                  <a:srgbClr val="5A6573"/>
                </a:solidFill>
                <a:latin typeface="Trenda IG Text"/>
              </a:rPr>
              <a:t>After the impact verdict, before any ticket</a:t>
            </a:r>
          </a:p>
        </p:txBody>
      </p:sp>
      <p:sp>
        <p:nvSpPr>
          <p:cNvPr id="11" name="Rectangle 10"/>
          <p:cNvSpPr/>
          <p:nvPr/>
        </p:nvSpPr>
        <p:spPr>
          <a:xfrm>
            <a:off x="3136392" y="1097280"/>
            <a:ext cx="2889504" cy="1188720"/>
          </a:xfrm>
          <a:prstGeom prst="rect">
            <a:avLst/>
          </a:prstGeom>
          <a:solidFill>
            <a:srgbClr val="FDF1DE"/>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19272" y="1280160"/>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1216152"/>
            <a:ext cx="2340864" cy="228600"/>
          </a:xfrm>
          <a:prstGeom prst="rect">
            <a:avLst/>
          </a:prstGeom>
          <a:noFill/>
        </p:spPr>
        <p:txBody>
          <a:bodyPr wrap="square" lIns="0" rIns="0" tIns="0" bIns="0" anchor="t">
            <a:spAutoFit/>
          </a:bodyPr>
          <a:lstStyle/>
          <a:p>
            <a:pPr>
              <a:buNone/>
            </a:pPr>
            <a:r>
              <a:rPr sz="900" spc="60">
                <a:solidFill>
                  <a:srgbClr val="8A5620"/>
                </a:solidFill>
                <a:latin typeface="Trenda IG Text Semibold"/>
              </a:rPr>
              <a:t>GATE 2 · DESIGN</a:t>
            </a:r>
          </a:p>
        </p:txBody>
      </p:sp>
      <p:sp>
        <p:nvSpPr>
          <p:cNvPr id="14" name="TextBox 13"/>
          <p:cNvSpPr txBox="1"/>
          <p:nvPr/>
        </p:nvSpPr>
        <p:spPr>
          <a:xfrm>
            <a:off x="3319272" y="1508760"/>
            <a:ext cx="2523744" cy="274320"/>
          </a:xfrm>
          <a:prstGeom prst="rect">
            <a:avLst/>
          </a:prstGeom>
          <a:noFill/>
        </p:spPr>
        <p:txBody>
          <a:bodyPr wrap="square" lIns="0" rIns="0" tIns="0" bIns="0" anchor="t">
            <a:spAutoFit/>
          </a:bodyPr>
          <a:lstStyle/>
          <a:p>
            <a:pPr>
              <a:buNone/>
            </a:pPr>
            <a:r>
              <a:rPr sz="1350">
                <a:solidFill>
                  <a:srgbClr val="1A1A1A"/>
                </a:solidFill>
                <a:latin typeface="Trenda IG Display Bold"/>
              </a:rPr>
              <a:t>Tech Lead</a:t>
            </a:r>
          </a:p>
        </p:txBody>
      </p:sp>
      <p:sp>
        <p:nvSpPr>
          <p:cNvPr id="15" name="TextBox 14"/>
          <p:cNvSpPr txBox="1"/>
          <p:nvPr/>
        </p:nvSpPr>
        <p:spPr>
          <a:xfrm>
            <a:off x="3319272" y="1847088"/>
            <a:ext cx="2523744" cy="365760"/>
          </a:xfrm>
          <a:prstGeom prst="rect">
            <a:avLst/>
          </a:prstGeom>
          <a:noFill/>
        </p:spPr>
        <p:txBody>
          <a:bodyPr wrap="square" lIns="0" rIns="0" tIns="0" bIns="0" anchor="t">
            <a:spAutoFit/>
          </a:bodyPr>
          <a:lstStyle/>
          <a:p>
            <a:pPr>
              <a:buNone/>
            </a:pPr>
            <a:r>
              <a:rPr sz="1000">
                <a:solidFill>
                  <a:srgbClr val="5A6573"/>
                </a:solidFill>
                <a:latin typeface="Trenda IG Text"/>
              </a:rPr>
              <a:t>Before any code is written</a:t>
            </a:r>
          </a:p>
        </p:txBody>
      </p:sp>
      <p:sp>
        <p:nvSpPr>
          <p:cNvPr id="16" name="Rectangle 15"/>
          <p:cNvSpPr/>
          <p:nvPr/>
        </p:nvSpPr>
        <p:spPr>
          <a:xfrm>
            <a:off x="6163056" y="1097280"/>
            <a:ext cx="2889504" cy="1188720"/>
          </a:xfrm>
          <a:prstGeom prst="rect">
            <a:avLst/>
          </a:prstGeom>
          <a:solidFill>
            <a:srgbClr val="FDF1DE"/>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45936" y="1280160"/>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28816" y="1216152"/>
            <a:ext cx="2340864" cy="228600"/>
          </a:xfrm>
          <a:prstGeom prst="rect">
            <a:avLst/>
          </a:prstGeom>
          <a:noFill/>
        </p:spPr>
        <p:txBody>
          <a:bodyPr wrap="square" lIns="0" rIns="0" tIns="0" bIns="0" anchor="t">
            <a:spAutoFit/>
          </a:bodyPr>
          <a:lstStyle/>
          <a:p>
            <a:pPr>
              <a:buNone/>
            </a:pPr>
            <a:r>
              <a:rPr sz="900" spc="60">
                <a:solidFill>
                  <a:srgbClr val="8A5620"/>
                </a:solidFill>
                <a:latin typeface="Trenda IG Text Semibold"/>
              </a:rPr>
              <a:t>GATE 3 · CODE</a:t>
            </a:r>
          </a:p>
        </p:txBody>
      </p:sp>
      <p:sp>
        <p:nvSpPr>
          <p:cNvPr id="19" name="TextBox 18"/>
          <p:cNvSpPr txBox="1"/>
          <p:nvPr/>
        </p:nvSpPr>
        <p:spPr>
          <a:xfrm>
            <a:off x="6345936" y="1508760"/>
            <a:ext cx="2523744" cy="274320"/>
          </a:xfrm>
          <a:prstGeom prst="rect">
            <a:avLst/>
          </a:prstGeom>
          <a:noFill/>
        </p:spPr>
        <p:txBody>
          <a:bodyPr wrap="square" lIns="0" rIns="0" tIns="0" bIns="0" anchor="t">
            <a:spAutoFit/>
          </a:bodyPr>
          <a:lstStyle/>
          <a:p>
            <a:pPr>
              <a:buNone/>
            </a:pPr>
            <a:r>
              <a:rPr sz="1350">
                <a:solidFill>
                  <a:srgbClr val="1A1A1A"/>
                </a:solidFill>
                <a:latin typeface="Trenda IG Display Bold"/>
              </a:rPr>
              <a:t>Tech Lead</a:t>
            </a:r>
          </a:p>
        </p:txBody>
      </p:sp>
      <p:sp>
        <p:nvSpPr>
          <p:cNvPr id="20" name="TextBox 19"/>
          <p:cNvSpPr txBox="1"/>
          <p:nvPr/>
        </p:nvSpPr>
        <p:spPr>
          <a:xfrm>
            <a:off x="6345936" y="1847088"/>
            <a:ext cx="2523744" cy="365760"/>
          </a:xfrm>
          <a:prstGeom prst="rect">
            <a:avLst/>
          </a:prstGeom>
          <a:noFill/>
        </p:spPr>
        <p:txBody>
          <a:bodyPr wrap="square" lIns="0" rIns="0" tIns="0" bIns="0" anchor="t">
            <a:spAutoFit/>
          </a:bodyPr>
          <a:lstStyle/>
          <a:p>
            <a:pPr>
              <a:buNone/>
            </a:pPr>
            <a:r>
              <a:rPr sz="1000">
                <a:solidFill>
                  <a:srgbClr val="5A6573"/>
                </a:solidFill>
                <a:latin typeface="Trenda IG Text"/>
              </a:rPr>
              <a:t>Pull request review before merge</a:t>
            </a:r>
          </a:p>
        </p:txBody>
      </p:sp>
      <p:sp>
        <p:nvSpPr>
          <p:cNvPr id="21" name="Rectangle 20"/>
          <p:cNvSpPr/>
          <p:nvPr/>
        </p:nvSpPr>
        <p:spPr>
          <a:xfrm>
            <a:off x="9189719" y="1097280"/>
            <a:ext cx="2889504" cy="1188720"/>
          </a:xfrm>
          <a:prstGeom prst="rect">
            <a:avLst/>
          </a:prstGeom>
          <a:solidFill>
            <a:srgbClr val="FDF1DE"/>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72599" y="1280160"/>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55480" y="1216152"/>
            <a:ext cx="2340864" cy="228600"/>
          </a:xfrm>
          <a:prstGeom prst="rect">
            <a:avLst/>
          </a:prstGeom>
          <a:noFill/>
        </p:spPr>
        <p:txBody>
          <a:bodyPr wrap="square" lIns="0" rIns="0" tIns="0" bIns="0" anchor="t">
            <a:spAutoFit/>
          </a:bodyPr>
          <a:lstStyle/>
          <a:p>
            <a:pPr>
              <a:buNone/>
            </a:pPr>
            <a:r>
              <a:rPr sz="900" spc="60">
                <a:solidFill>
                  <a:srgbClr val="8A5620"/>
                </a:solidFill>
                <a:latin typeface="Trenda IG Text Semibold"/>
              </a:rPr>
              <a:t>GATE 4 · PRODUCTION</a:t>
            </a:r>
          </a:p>
        </p:txBody>
      </p:sp>
      <p:sp>
        <p:nvSpPr>
          <p:cNvPr id="24" name="TextBox 23"/>
          <p:cNvSpPr txBox="1"/>
          <p:nvPr/>
        </p:nvSpPr>
        <p:spPr>
          <a:xfrm>
            <a:off x="9372599" y="1508760"/>
            <a:ext cx="2523744" cy="274320"/>
          </a:xfrm>
          <a:prstGeom prst="rect">
            <a:avLst/>
          </a:prstGeom>
          <a:noFill/>
        </p:spPr>
        <p:txBody>
          <a:bodyPr wrap="square" lIns="0" rIns="0" tIns="0" bIns="0" anchor="t">
            <a:spAutoFit/>
          </a:bodyPr>
          <a:lstStyle/>
          <a:p>
            <a:pPr>
              <a:buNone/>
            </a:pPr>
            <a:r>
              <a:rPr sz="1350">
                <a:solidFill>
                  <a:srgbClr val="1A1A1A"/>
                </a:solidFill>
                <a:latin typeface="Trenda IG Display Bold"/>
              </a:rPr>
              <a:t>CAB and release manager</a:t>
            </a:r>
          </a:p>
        </p:txBody>
      </p:sp>
      <p:sp>
        <p:nvSpPr>
          <p:cNvPr id="25" name="TextBox 24"/>
          <p:cNvSpPr txBox="1"/>
          <p:nvPr/>
        </p:nvSpPr>
        <p:spPr>
          <a:xfrm>
            <a:off x="9372599" y="1847088"/>
            <a:ext cx="2523744" cy="365760"/>
          </a:xfrm>
          <a:prstGeom prst="rect">
            <a:avLst/>
          </a:prstGeom>
          <a:noFill/>
        </p:spPr>
        <p:txBody>
          <a:bodyPr wrap="square" lIns="0" rIns="0" tIns="0" bIns="0" anchor="t">
            <a:spAutoFit/>
          </a:bodyPr>
          <a:lstStyle/>
          <a:p>
            <a:pPr>
              <a:buNone/>
            </a:pPr>
            <a:r>
              <a:rPr sz="1000">
                <a:solidFill>
                  <a:srgbClr val="5A6573"/>
                </a:solidFill>
                <a:latin typeface="Trenda IG Text"/>
              </a:rPr>
              <a:t>Ascension's existing change process</a:t>
            </a:r>
          </a:p>
        </p:txBody>
      </p:sp>
      <p:sp>
        <p:nvSpPr>
          <p:cNvPr id="26" name="TextBox 25"/>
          <p:cNvSpPr txBox="1"/>
          <p:nvPr/>
        </p:nvSpPr>
        <p:spPr>
          <a:xfrm>
            <a:off x="109728" y="2468880"/>
            <a:ext cx="7315200" cy="155448"/>
          </a:xfrm>
          <a:prstGeom prst="rect">
            <a:avLst/>
          </a:prstGeom>
          <a:noFill/>
        </p:spPr>
        <p:txBody>
          <a:bodyPr wrap="square" lIns="0" rIns="0" tIns="0" bIns="0" anchor="t">
            <a:spAutoFit/>
          </a:bodyPr>
          <a:lstStyle/>
          <a:p>
            <a:pPr>
              <a:buNone/>
            </a:pPr>
            <a:r>
              <a:rPr sz="750" spc="60">
                <a:solidFill>
                  <a:srgbClr val="5A6573"/>
                </a:solidFill>
                <a:latin typeface="Trenda IG Text Semibold"/>
              </a:rPr>
              <a:t>THE EVIDENCE CHAIN, KEPT ON EVERY TICKET</a:t>
            </a:r>
          </a:p>
        </p:txBody>
      </p:sp>
      <p:sp>
        <p:nvSpPr>
          <p:cNvPr id="27" name="Rectangle 26"/>
          <p:cNvSpPr/>
          <p:nvPr/>
        </p:nvSpPr>
        <p:spPr>
          <a:xfrm>
            <a:off x="109728" y="2697480"/>
            <a:ext cx="1256157" cy="45720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 y="2697480"/>
            <a:ext cx="1256157" cy="457200"/>
          </a:xfrm>
          <a:prstGeom prst="rect">
            <a:avLst/>
          </a:prstGeom>
          <a:noFill/>
        </p:spPr>
        <p:txBody>
          <a:bodyPr wrap="square" lIns="0" rIns="0" tIns="0" bIns="0" anchor="ctr">
            <a:spAutoFit/>
          </a:bodyPr>
          <a:lstStyle/>
          <a:p>
            <a:pPr algn="ctr">
              <a:buNone/>
            </a:pPr>
            <a:r>
              <a:rPr sz="950">
                <a:solidFill>
                  <a:srgbClr val="FFFFFF"/>
                </a:solidFill>
                <a:latin typeface="Trenda IG Text Semibold"/>
              </a:rPr>
              <a:t>Request</a:t>
            </a:r>
          </a:p>
        </p:txBody>
      </p:sp>
      <p:sp>
        <p:nvSpPr>
          <p:cNvPr id="29" name="Right Arrow 28"/>
          <p:cNvSpPr/>
          <p:nvPr/>
        </p:nvSpPr>
        <p:spPr>
          <a:xfrm>
            <a:off x="1411605" y="2843784"/>
            <a:ext cx="182880" cy="164592"/>
          </a:xfrm>
          <a:prstGeom prst="rightArrow">
            <a:avLst/>
          </a:prstGeom>
          <a:solidFill>
            <a:srgbClr val="9AA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640205" y="2697480"/>
            <a:ext cx="1256157" cy="45720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40205" y="2697480"/>
            <a:ext cx="1256157" cy="457200"/>
          </a:xfrm>
          <a:prstGeom prst="rect">
            <a:avLst/>
          </a:prstGeom>
          <a:noFill/>
        </p:spPr>
        <p:txBody>
          <a:bodyPr wrap="square" lIns="0" rIns="0" tIns="0" bIns="0" anchor="ctr">
            <a:spAutoFit/>
          </a:bodyPr>
          <a:lstStyle/>
          <a:p>
            <a:pPr algn="ctr">
              <a:buNone/>
            </a:pPr>
            <a:r>
              <a:rPr sz="950">
                <a:solidFill>
                  <a:srgbClr val="FFFFFF"/>
                </a:solidFill>
                <a:latin typeface="Trenda IG Text Semibold"/>
              </a:rPr>
              <a:t>Graph verdict</a:t>
            </a:r>
          </a:p>
        </p:txBody>
      </p:sp>
      <p:sp>
        <p:nvSpPr>
          <p:cNvPr id="32" name="Right Arrow 31"/>
          <p:cNvSpPr/>
          <p:nvPr/>
        </p:nvSpPr>
        <p:spPr>
          <a:xfrm>
            <a:off x="2942082" y="2843784"/>
            <a:ext cx="182880" cy="164592"/>
          </a:xfrm>
          <a:prstGeom prst="rightArrow">
            <a:avLst/>
          </a:prstGeom>
          <a:solidFill>
            <a:srgbClr val="9AA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170682" y="2697480"/>
            <a:ext cx="1256157" cy="45720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70682" y="2697480"/>
            <a:ext cx="1256157" cy="457200"/>
          </a:xfrm>
          <a:prstGeom prst="rect">
            <a:avLst/>
          </a:prstGeom>
          <a:noFill/>
        </p:spPr>
        <p:txBody>
          <a:bodyPr wrap="square" lIns="0" rIns="0" tIns="0" bIns="0" anchor="ctr">
            <a:spAutoFit/>
          </a:bodyPr>
          <a:lstStyle/>
          <a:p>
            <a:pPr algn="ctr">
              <a:buNone/>
            </a:pPr>
            <a:r>
              <a:rPr sz="950">
                <a:solidFill>
                  <a:srgbClr val="FFFFFF"/>
                </a:solidFill>
                <a:latin typeface="Trenda IG Text Semibold"/>
              </a:rPr>
              <a:t>Jira ticket</a:t>
            </a:r>
          </a:p>
        </p:txBody>
      </p:sp>
      <p:sp>
        <p:nvSpPr>
          <p:cNvPr id="35" name="Right Arrow 34"/>
          <p:cNvSpPr/>
          <p:nvPr/>
        </p:nvSpPr>
        <p:spPr>
          <a:xfrm>
            <a:off x="4472559" y="2843784"/>
            <a:ext cx="182880" cy="164592"/>
          </a:xfrm>
          <a:prstGeom prst="rightArrow">
            <a:avLst/>
          </a:prstGeom>
          <a:solidFill>
            <a:srgbClr val="9AA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01159" y="2697480"/>
            <a:ext cx="1256157" cy="45720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01159" y="2697480"/>
            <a:ext cx="1256157" cy="457200"/>
          </a:xfrm>
          <a:prstGeom prst="rect">
            <a:avLst/>
          </a:prstGeom>
          <a:noFill/>
        </p:spPr>
        <p:txBody>
          <a:bodyPr wrap="square" lIns="0" rIns="0" tIns="0" bIns="0" anchor="ctr">
            <a:spAutoFit/>
          </a:bodyPr>
          <a:lstStyle/>
          <a:p>
            <a:pPr algn="ctr">
              <a:buNone/>
            </a:pPr>
            <a:r>
              <a:rPr sz="950">
                <a:solidFill>
                  <a:srgbClr val="FFFFFF"/>
                </a:solidFill>
                <a:latin typeface="Trenda IG Text Semibold"/>
              </a:rPr>
              <a:t>Design page</a:t>
            </a:r>
          </a:p>
        </p:txBody>
      </p:sp>
      <p:sp>
        <p:nvSpPr>
          <p:cNvPr id="38" name="Right Arrow 37"/>
          <p:cNvSpPr/>
          <p:nvPr/>
        </p:nvSpPr>
        <p:spPr>
          <a:xfrm>
            <a:off x="6003036" y="2843784"/>
            <a:ext cx="182880" cy="164592"/>
          </a:xfrm>
          <a:prstGeom prst="rightArrow">
            <a:avLst/>
          </a:prstGeom>
          <a:solidFill>
            <a:srgbClr val="9AA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31636" y="2697480"/>
            <a:ext cx="1256157" cy="45720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31636" y="2697480"/>
            <a:ext cx="1256157" cy="457200"/>
          </a:xfrm>
          <a:prstGeom prst="rect">
            <a:avLst/>
          </a:prstGeom>
          <a:noFill/>
        </p:spPr>
        <p:txBody>
          <a:bodyPr wrap="square" lIns="0" rIns="0" tIns="0" bIns="0" anchor="ctr">
            <a:spAutoFit/>
          </a:bodyPr>
          <a:lstStyle/>
          <a:p>
            <a:pPr algn="ctr">
              <a:buNone/>
            </a:pPr>
            <a:r>
              <a:rPr sz="950">
                <a:solidFill>
                  <a:srgbClr val="FFFFFF"/>
                </a:solidFill>
                <a:latin typeface="Trenda IG Text Semibold"/>
              </a:rPr>
              <a:t>Git commit</a:t>
            </a:r>
          </a:p>
        </p:txBody>
      </p:sp>
      <p:sp>
        <p:nvSpPr>
          <p:cNvPr id="41" name="Right Arrow 40"/>
          <p:cNvSpPr/>
          <p:nvPr/>
        </p:nvSpPr>
        <p:spPr>
          <a:xfrm>
            <a:off x="7533513" y="2843784"/>
            <a:ext cx="182880" cy="164592"/>
          </a:xfrm>
          <a:prstGeom prst="rightArrow">
            <a:avLst/>
          </a:prstGeom>
          <a:solidFill>
            <a:srgbClr val="9AA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62113" y="2697480"/>
            <a:ext cx="1256157" cy="45720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62113" y="2697480"/>
            <a:ext cx="1256157" cy="457200"/>
          </a:xfrm>
          <a:prstGeom prst="rect">
            <a:avLst/>
          </a:prstGeom>
          <a:noFill/>
        </p:spPr>
        <p:txBody>
          <a:bodyPr wrap="square" lIns="0" rIns="0" tIns="0" bIns="0" anchor="ctr">
            <a:spAutoFit/>
          </a:bodyPr>
          <a:lstStyle/>
          <a:p>
            <a:pPr algn="ctr">
              <a:buNone/>
            </a:pPr>
            <a:r>
              <a:rPr sz="950">
                <a:solidFill>
                  <a:srgbClr val="FFFFFF"/>
                </a:solidFill>
                <a:latin typeface="Trenda IG Text Semibold"/>
              </a:rPr>
              <a:t>Copado deploy</a:t>
            </a:r>
          </a:p>
        </p:txBody>
      </p:sp>
      <p:sp>
        <p:nvSpPr>
          <p:cNvPr id="44" name="Right Arrow 43"/>
          <p:cNvSpPr/>
          <p:nvPr/>
        </p:nvSpPr>
        <p:spPr>
          <a:xfrm>
            <a:off x="9063990" y="2843784"/>
            <a:ext cx="182880" cy="164592"/>
          </a:xfrm>
          <a:prstGeom prst="rightArrow">
            <a:avLst/>
          </a:prstGeom>
          <a:solidFill>
            <a:srgbClr val="9AA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292590" y="2697480"/>
            <a:ext cx="1256157" cy="45720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92590" y="2697480"/>
            <a:ext cx="1256157" cy="457200"/>
          </a:xfrm>
          <a:prstGeom prst="rect">
            <a:avLst/>
          </a:prstGeom>
          <a:noFill/>
        </p:spPr>
        <p:txBody>
          <a:bodyPr wrap="square" lIns="0" rIns="0" tIns="0" bIns="0" anchor="ctr">
            <a:spAutoFit/>
          </a:bodyPr>
          <a:lstStyle/>
          <a:p>
            <a:pPr algn="ctr">
              <a:buNone/>
            </a:pPr>
            <a:r>
              <a:rPr sz="950">
                <a:solidFill>
                  <a:srgbClr val="FFFFFF"/>
                </a:solidFill>
                <a:latin typeface="Trenda IG Text Semibold"/>
              </a:rPr>
              <a:t>Test results</a:t>
            </a:r>
          </a:p>
        </p:txBody>
      </p:sp>
      <p:sp>
        <p:nvSpPr>
          <p:cNvPr id="47" name="Right Arrow 46"/>
          <p:cNvSpPr/>
          <p:nvPr/>
        </p:nvSpPr>
        <p:spPr>
          <a:xfrm>
            <a:off x="10594467" y="2843784"/>
            <a:ext cx="182880" cy="164592"/>
          </a:xfrm>
          <a:prstGeom prst="rightArrow">
            <a:avLst/>
          </a:prstGeom>
          <a:solidFill>
            <a:srgbClr val="9AA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23067" y="2697480"/>
            <a:ext cx="1256157" cy="45720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823067" y="2697480"/>
            <a:ext cx="1256157" cy="457200"/>
          </a:xfrm>
          <a:prstGeom prst="rect">
            <a:avLst/>
          </a:prstGeom>
          <a:noFill/>
        </p:spPr>
        <p:txBody>
          <a:bodyPr wrap="square" lIns="0" rIns="0" tIns="0" bIns="0" anchor="ctr">
            <a:spAutoFit/>
          </a:bodyPr>
          <a:lstStyle/>
          <a:p>
            <a:pPr algn="ctr">
              <a:buNone/>
            </a:pPr>
            <a:r>
              <a:rPr sz="950">
                <a:solidFill>
                  <a:srgbClr val="FFFFFF"/>
                </a:solidFill>
                <a:latin typeface="Trenda IG Text Semibold"/>
              </a:rPr>
              <a:t>Graph snapshot</a:t>
            </a:r>
          </a:p>
        </p:txBody>
      </p:sp>
      <p:sp>
        <p:nvSpPr>
          <p:cNvPr id="50" name="Rectangle 49"/>
          <p:cNvSpPr/>
          <p:nvPr/>
        </p:nvSpPr>
        <p:spPr>
          <a:xfrm>
            <a:off x="109728" y="3383280"/>
            <a:ext cx="2889504" cy="1810512"/>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92608" y="3584448"/>
            <a:ext cx="91440" cy="91440"/>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75488" y="3502152"/>
            <a:ext cx="2340864" cy="274320"/>
          </a:xfrm>
          <a:prstGeom prst="rect">
            <a:avLst/>
          </a:prstGeom>
          <a:noFill/>
        </p:spPr>
        <p:txBody>
          <a:bodyPr wrap="square" lIns="0" rIns="0" tIns="0" bIns="0" anchor="t">
            <a:spAutoFit/>
          </a:bodyPr>
          <a:lstStyle/>
          <a:p>
            <a:pPr>
              <a:buNone/>
            </a:pPr>
            <a:r>
              <a:rPr sz="1350">
                <a:solidFill>
                  <a:srgbClr val="1A1A1A"/>
                </a:solidFill>
                <a:latin typeface="Trenda IG Display Bold"/>
              </a:rPr>
              <a:t>Three AI identities</a:t>
            </a:r>
          </a:p>
        </p:txBody>
      </p:sp>
      <p:sp>
        <p:nvSpPr>
          <p:cNvPr id="53" name="TextBox 52"/>
          <p:cNvSpPr txBox="1"/>
          <p:nvPr/>
        </p:nvSpPr>
        <p:spPr>
          <a:xfrm>
            <a:off x="292608" y="3858768"/>
            <a:ext cx="2523744" cy="1243584"/>
          </a:xfrm>
          <a:prstGeom prst="rect">
            <a:avLst/>
          </a:prstGeom>
          <a:noFill/>
        </p:spPr>
        <p:txBody>
          <a:bodyPr wrap="square" lIns="0" rIns="0" tIns="0" bIns="0" anchor="t">
            <a:spAutoFit/>
          </a:bodyPr>
          <a:lstStyle/>
          <a:p>
            <a:pPr>
              <a:lnSpc>
                <a:spcPct val="102000"/>
              </a:lnSpc>
              <a:spcAft>
                <a:spcPts val="700"/>
              </a:spcAft>
              <a:buNone/>
            </a:pPr>
            <a:r>
              <a:rPr sz="1100">
                <a:solidFill>
                  <a:srgbClr val="1A1A1A"/>
                </a:solidFill>
                <a:latin typeface="Trenda IG Text"/>
              </a:rPr>
              <a:t>Read, Development (DEV org and branch) and Release (lower environments). None holds a production credential.</a:t>
            </a:r>
          </a:p>
        </p:txBody>
      </p:sp>
      <p:sp>
        <p:nvSpPr>
          <p:cNvPr id="54" name="Rectangle 53"/>
          <p:cNvSpPr/>
          <p:nvPr/>
        </p:nvSpPr>
        <p:spPr>
          <a:xfrm>
            <a:off x="3136392" y="3383280"/>
            <a:ext cx="2889504" cy="1810512"/>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319272" y="3584448"/>
            <a:ext cx="91440" cy="914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502152" y="3502152"/>
            <a:ext cx="2340864" cy="274320"/>
          </a:xfrm>
          <a:prstGeom prst="rect">
            <a:avLst/>
          </a:prstGeom>
          <a:noFill/>
        </p:spPr>
        <p:txBody>
          <a:bodyPr wrap="square" lIns="0" rIns="0" tIns="0" bIns="0" anchor="t">
            <a:spAutoFit/>
          </a:bodyPr>
          <a:lstStyle/>
          <a:p>
            <a:pPr>
              <a:buNone/>
            </a:pPr>
            <a:r>
              <a:rPr sz="1350">
                <a:solidFill>
                  <a:srgbClr val="1A1A1A"/>
                </a:solidFill>
                <a:latin typeface="Trenda IG Display Bold"/>
              </a:rPr>
              <a:t>Review routed by risk</a:t>
            </a:r>
          </a:p>
        </p:txBody>
      </p:sp>
      <p:sp>
        <p:nvSpPr>
          <p:cNvPr id="57" name="TextBox 56"/>
          <p:cNvSpPr txBox="1"/>
          <p:nvPr/>
        </p:nvSpPr>
        <p:spPr>
          <a:xfrm>
            <a:off x="3319272" y="3858768"/>
            <a:ext cx="2523744" cy="1243584"/>
          </a:xfrm>
          <a:prstGeom prst="rect">
            <a:avLst/>
          </a:prstGeom>
          <a:noFill/>
        </p:spPr>
        <p:txBody>
          <a:bodyPr wrap="square" lIns="0" rIns="0" tIns="0" bIns="0" anchor="t">
            <a:spAutoFit/>
          </a:bodyPr>
          <a:lstStyle/>
          <a:p>
            <a:pPr>
              <a:lnSpc>
                <a:spcPct val="102000"/>
              </a:lnSpc>
              <a:spcAft>
                <a:spcPts val="700"/>
              </a:spcAft>
              <a:buNone/>
            </a:pPr>
            <a:r>
              <a:rPr sz="1100">
                <a:solidFill>
                  <a:srgbClr val="1A1A1A"/>
                </a:solidFill>
                <a:latin typeface="Trenda IG Text"/>
              </a:rPr>
              <a:t>Medium to the Tech Lead, high to architecture, critical to security.</a:t>
            </a:r>
          </a:p>
        </p:txBody>
      </p:sp>
      <p:sp>
        <p:nvSpPr>
          <p:cNvPr id="58" name="Rectangle 57"/>
          <p:cNvSpPr/>
          <p:nvPr/>
        </p:nvSpPr>
        <p:spPr>
          <a:xfrm>
            <a:off x="6163056" y="3383280"/>
            <a:ext cx="2889504" cy="1810512"/>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345936" y="3584448"/>
            <a:ext cx="91440" cy="91440"/>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28816" y="3502152"/>
            <a:ext cx="2340864" cy="274320"/>
          </a:xfrm>
          <a:prstGeom prst="rect">
            <a:avLst/>
          </a:prstGeom>
          <a:noFill/>
        </p:spPr>
        <p:txBody>
          <a:bodyPr wrap="square" lIns="0" rIns="0" tIns="0" bIns="0" anchor="t">
            <a:spAutoFit/>
          </a:bodyPr>
          <a:lstStyle/>
          <a:p>
            <a:pPr>
              <a:buNone/>
            </a:pPr>
            <a:r>
              <a:rPr sz="1350">
                <a:solidFill>
                  <a:srgbClr val="1A1A1A"/>
                </a:solidFill>
                <a:latin typeface="Trenda IG Display Bold"/>
              </a:rPr>
              <a:t>Metadata, not patient data</a:t>
            </a:r>
          </a:p>
        </p:txBody>
      </p:sp>
      <p:sp>
        <p:nvSpPr>
          <p:cNvPr id="61" name="TextBox 60"/>
          <p:cNvSpPr txBox="1"/>
          <p:nvPr/>
        </p:nvSpPr>
        <p:spPr>
          <a:xfrm>
            <a:off x="6345936" y="3858768"/>
            <a:ext cx="2523744" cy="1243584"/>
          </a:xfrm>
          <a:prstGeom prst="rect">
            <a:avLst/>
          </a:prstGeom>
          <a:noFill/>
        </p:spPr>
        <p:txBody>
          <a:bodyPr wrap="square" lIns="0" rIns="0" tIns="0" bIns="0" anchor="t">
            <a:spAutoFit/>
          </a:bodyPr>
          <a:lstStyle/>
          <a:p>
            <a:pPr>
              <a:lnSpc>
                <a:spcPct val="102000"/>
              </a:lnSpc>
              <a:spcAft>
                <a:spcPts val="700"/>
              </a:spcAft>
              <a:buNone/>
            </a:pPr>
            <a:r>
              <a:rPr sz="1100">
                <a:solidFill>
                  <a:srgbClr val="1A1A1A"/>
                </a:solidFill>
                <a:latin typeface="Trenda IG Text"/>
              </a:rPr>
              <a:t>The graph reads how the org is built, never its records.</a:t>
            </a:r>
          </a:p>
        </p:txBody>
      </p:sp>
      <p:sp>
        <p:nvSpPr>
          <p:cNvPr id="62" name="Rectangle 61"/>
          <p:cNvSpPr/>
          <p:nvPr/>
        </p:nvSpPr>
        <p:spPr>
          <a:xfrm>
            <a:off x="9189719" y="3383280"/>
            <a:ext cx="2889504" cy="1810512"/>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372599" y="358444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555480" y="3502152"/>
            <a:ext cx="2340864" cy="274320"/>
          </a:xfrm>
          <a:prstGeom prst="rect">
            <a:avLst/>
          </a:prstGeom>
          <a:noFill/>
        </p:spPr>
        <p:txBody>
          <a:bodyPr wrap="square" lIns="0" rIns="0" tIns="0" bIns="0" anchor="t">
            <a:spAutoFit/>
          </a:bodyPr>
          <a:lstStyle/>
          <a:p>
            <a:pPr>
              <a:buNone/>
            </a:pPr>
            <a:r>
              <a:rPr sz="1350">
                <a:solidFill>
                  <a:srgbClr val="1A1A1A"/>
                </a:solidFill>
                <a:latin typeface="Trenda IG Display Bold"/>
              </a:rPr>
              <a:t>Graph before model</a:t>
            </a:r>
          </a:p>
        </p:txBody>
      </p:sp>
      <p:sp>
        <p:nvSpPr>
          <p:cNvPr id="65" name="TextBox 64"/>
          <p:cNvSpPr txBox="1"/>
          <p:nvPr/>
        </p:nvSpPr>
        <p:spPr>
          <a:xfrm>
            <a:off x="9372599" y="3858768"/>
            <a:ext cx="2523744" cy="1243584"/>
          </a:xfrm>
          <a:prstGeom prst="rect">
            <a:avLst/>
          </a:prstGeom>
          <a:noFill/>
        </p:spPr>
        <p:txBody>
          <a:bodyPr wrap="square" lIns="0" rIns="0" tIns="0" bIns="0" anchor="t">
            <a:spAutoFit/>
          </a:bodyPr>
          <a:lstStyle/>
          <a:p>
            <a:pPr>
              <a:lnSpc>
                <a:spcPct val="102000"/>
              </a:lnSpc>
              <a:spcAft>
                <a:spcPts val="700"/>
              </a:spcAft>
              <a:buNone/>
            </a:pPr>
            <a:r>
              <a:rPr sz="1100">
                <a:solidFill>
                  <a:srgbClr val="1A1A1A"/>
                </a:solidFill>
                <a:latin typeface="Trenda IG Text"/>
              </a:rPr>
              <a:t>An AI model is called only when the graph shows something new is needed.</a:t>
            </a:r>
          </a:p>
        </p:txBody>
      </p:sp>
      <p:sp>
        <p:nvSpPr>
          <p:cNvPr id="66" name="Rectangle 65"/>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7200" y="5358384"/>
            <a:ext cx="11521440" cy="566928"/>
          </a:xfrm>
          <a:prstGeom prst="rect">
            <a:avLst/>
          </a:prstGeom>
          <a:noFill/>
        </p:spPr>
        <p:txBody>
          <a:bodyPr wrap="square" lIns="0" rIns="0" tIns="0" bIns="0" anchor="ctr">
            <a:spAutoFit/>
          </a:bodyPr>
          <a:lstStyle/>
          <a:p>
            <a:pPr>
              <a:buNone/>
            </a:pPr>
            <a:r>
              <a:rPr sz="1000">
                <a:solidFill>
                  <a:srgbClr val="1A1A1A"/>
                </a:solidFill>
                <a:latin typeface="Trenda IG Text"/>
              </a:rPr>
              <a:t>Evidence lives in Jira, Git, Copado and the AI audit store: who asked, what the graph found, who approved, what deployed, what the tests said.</a:t>
            </a:r>
          </a:p>
        </p:txBody>
      </p:sp>
      <p:sp>
        <p:nvSpPr>
          <p:cNvPr id="69" name="Rectangle 68"/>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Production stays inside Ascension's existing CAB process.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OPERATING MODEL</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Same tiles, fewer and stronger pods</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The target end state, reached in phases.</a:t>
            </a:r>
          </a:p>
        </p:txBody>
      </p:sp>
      <p:sp>
        <p:nvSpPr>
          <p:cNvPr id="6" name="Rectangle 5"/>
          <p:cNvSpPr/>
          <p:nvPr/>
        </p:nvSpPr>
        <p:spPr>
          <a:xfrm>
            <a:off x="109728" y="1097280"/>
            <a:ext cx="5715000" cy="411480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1234440"/>
            <a:ext cx="2743200" cy="155448"/>
          </a:xfrm>
          <a:prstGeom prst="rect">
            <a:avLst/>
          </a:prstGeom>
          <a:noFill/>
        </p:spPr>
        <p:txBody>
          <a:bodyPr wrap="square" lIns="0" rIns="0" tIns="0" bIns="0" anchor="t">
            <a:spAutoFit/>
          </a:bodyPr>
          <a:lstStyle/>
          <a:p>
            <a:pPr>
              <a:buNone/>
            </a:pPr>
            <a:r>
              <a:rPr sz="750" spc="60">
                <a:solidFill>
                  <a:srgbClr val="5A6573"/>
                </a:solidFill>
                <a:latin typeface="Trenda IG Text Semibold"/>
              </a:rPr>
              <a:t>TODAY</a:t>
            </a:r>
          </a:p>
        </p:txBody>
      </p:sp>
      <p:sp>
        <p:nvSpPr>
          <p:cNvPr id="8" name="Rectangle 7"/>
          <p:cNvSpPr/>
          <p:nvPr/>
        </p:nvSpPr>
        <p:spPr>
          <a:xfrm>
            <a:off x="338328" y="1508760"/>
            <a:ext cx="5257800" cy="411480"/>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 y="1508760"/>
            <a:ext cx="5257800" cy="411480"/>
          </a:xfrm>
          <a:prstGeom prst="rect">
            <a:avLst/>
          </a:prstGeom>
          <a:noFill/>
        </p:spPr>
        <p:txBody>
          <a:bodyPr wrap="square" lIns="0" rIns="0" tIns="0" bIns="0" anchor="ctr">
            <a:spAutoFit/>
          </a:bodyPr>
          <a:lstStyle/>
          <a:p>
            <a:pPr algn="ctr">
              <a:buNone/>
            </a:pPr>
            <a:r>
              <a:rPr sz="1100">
                <a:solidFill>
                  <a:srgbClr val="1A1A1A"/>
                </a:solidFill>
                <a:latin typeface="Trenda IG Text Semibold"/>
              </a:rPr>
              <a:t>Engineering Director</a:t>
            </a:r>
          </a:p>
        </p:txBody>
      </p:sp>
      <p:sp>
        <p:nvSpPr>
          <p:cNvPr id="10" name="Rectangle 9"/>
          <p:cNvSpPr/>
          <p:nvPr/>
        </p:nvSpPr>
        <p:spPr>
          <a:xfrm>
            <a:off x="338328" y="2057400"/>
            <a:ext cx="2537460" cy="205740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 y="2148840"/>
            <a:ext cx="2263140" cy="274320"/>
          </a:xfrm>
          <a:prstGeom prst="rect">
            <a:avLst/>
          </a:prstGeom>
          <a:noFill/>
        </p:spPr>
        <p:txBody>
          <a:bodyPr wrap="square" lIns="0" rIns="0" tIns="0" bIns="0" anchor="t">
            <a:spAutoFit/>
          </a:bodyPr>
          <a:lstStyle/>
          <a:p>
            <a:pPr>
              <a:buNone/>
            </a:pPr>
            <a:r>
              <a:rPr sz="1200">
                <a:solidFill>
                  <a:srgbClr val="1A1A1A"/>
                </a:solidFill>
                <a:latin typeface="Trenda IG Display Bold"/>
              </a:rPr>
              <a:t>Consumer</a:t>
            </a:r>
          </a:p>
        </p:txBody>
      </p:sp>
      <p:sp>
        <p:nvSpPr>
          <p:cNvPr id="12" name="Rectangle 11"/>
          <p:cNvSpPr/>
          <p:nvPr/>
        </p:nvSpPr>
        <p:spPr>
          <a:xfrm>
            <a:off x="475488" y="2560320"/>
            <a:ext cx="685800" cy="34747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560320"/>
            <a:ext cx="685800" cy="347472"/>
          </a:xfrm>
          <a:prstGeom prst="rect">
            <a:avLst/>
          </a:prstGeom>
          <a:noFill/>
        </p:spPr>
        <p:txBody>
          <a:bodyPr wrap="square" lIns="0" rIns="0" tIns="0" bIns="0" anchor="ctr">
            <a:spAutoFit/>
          </a:bodyPr>
          <a:lstStyle/>
          <a:p>
            <a:pPr algn="ctr">
              <a:buNone/>
            </a:pPr>
            <a:r>
              <a:rPr sz="950">
                <a:solidFill>
                  <a:srgbClr val="5A6573"/>
                </a:solidFill>
                <a:latin typeface="Trenda IG Text"/>
              </a:rPr>
              <a:t>Pod</a:t>
            </a:r>
          </a:p>
        </p:txBody>
      </p:sp>
      <p:sp>
        <p:nvSpPr>
          <p:cNvPr id="14" name="Rectangle 13"/>
          <p:cNvSpPr/>
          <p:nvPr/>
        </p:nvSpPr>
        <p:spPr>
          <a:xfrm>
            <a:off x="1252728" y="2560320"/>
            <a:ext cx="685800" cy="34747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52728" y="2560320"/>
            <a:ext cx="685800" cy="347472"/>
          </a:xfrm>
          <a:prstGeom prst="rect">
            <a:avLst/>
          </a:prstGeom>
          <a:noFill/>
        </p:spPr>
        <p:txBody>
          <a:bodyPr wrap="square" lIns="0" rIns="0" tIns="0" bIns="0" anchor="ctr">
            <a:spAutoFit/>
          </a:bodyPr>
          <a:lstStyle/>
          <a:p>
            <a:pPr algn="ctr">
              <a:buNone/>
            </a:pPr>
            <a:r>
              <a:rPr sz="950">
                <a:solidFill>
                  <a:srgbClr val="5A6573"/>
                </a:solidFill>
                <a:latin typeface="Trenda IG Text"/>
              </a:rPr>
              <a:t>Pod</a:t>
            </a:r>
          </a:p>
        </p:txBody>
      </p:sp>
      <p:sp>
        <p:nvSpPr>
          <p:cNvPr id="16" name="Rectangle 15"/>
          <p:cNvSpPr/>
          <p:nvPr/>
        </p:nvSpPr>
        <p:spPr>
          <a:xfrm>
            <a:off x="2029967" y="2560320"/>
            <a:ext cx="685800" cy="34747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29967" y="2560320"/>
            <a:ext cx="685800" cy="347472"/>
          </a:xfrm>
          <a:prstGeom prst="rect">
            <a:avLst/>
          </a:prstGeom>
          <a:noFill/>
        </p:spPr>
        <p:txBody>
          <a:bodyPr wrap="square" lIns="0" rIns="0" tIns="0" bIns="0" anchor="ctr">
            <a:spAutoFit/>
          </a:bodyPr>
          <a:lstStyle/>
          <a:p>
            <a:pPr algn="ctr">
              <a:buNone/>
            </a:pPr>
            <a:r>
              <a:rPr sz="950">
                <a:solidFill>
                  <a:srgbClr val="5A6573"/>
                </a:solidFill>
                <a:latin typeface="Trenda IG Text"/>
              </a:rPr>
              <a:t>Pod</a:t>
            </a:r>
          </a:p>
        </p:txBody>
      </p:sp>
      <p:sp>
        <p:nvSpPr>
          <p:cNvPr id="18" name="Rectangle 17"/>
          <p:cNvSpPr/>
          <p:nvPr/>
        </p:nvSpPr>
        <p:spPr>
          <a:xfrm>
            <a:off x="475488" y="3017520"/>
            <a:ext cx="685800" cy="34747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 y="3017520"/>
            <a:ext cx="685800" cy="347472"/>
          </a:xfrm>
          <a:prstGeom prst="rect">
            <a:avLst/>
          </a:prstGeom>
          <a:noFill/>
        </p:spPr>
        <p:txBody>
          <a:bodyPr wrap="square" lIns="0" rIns="0" tIns="0" bIns="0" anchor="ctr">
            <a:spAutoFit/>
          </a:bodyPr>
          <a:lstStyle/>
          <a:p>
            <a:pPr algn="ctr">
              <a:buNone/>
            </a:pPr>
            <a:r>
              <a:rPr sz="950">
                <a:solidFill>
                  <a:srgbClr val="5A6573"/>
                </a:solidFill>
                <a:latin typeface="Trenda IG Text"/>
              </a:rPr>
              <a:t>Pod</a:t>
            </a:r>
          </a:p>
        </p:txBody>
      </p:sp>
      <p:sp>
        <p:nvSpPr>
          <p:cNvPr id="20" name="Rectangle 19"/>
          <p:cNvSpPr/>
          <p:nvPr/>
        </p:nvSpPr>
        <p:spPr>
          <a:xfrm>
            <a:off x="1252728" y="3017520"/>
            <a:ext cx="685800" cy="34747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52728" y="3017520"/>
            <a:ext cx="685800" cy="347472"/>
          </a:xfrm>
          <a:prstGeom prst="rect">
            <a:avLst/>
          </a:prstGeom>
          <a:noFill/>
        </p:spPr>
        <p:txBody>
          <a:bodyPr wrap="square" lIns="0" rIns="0" tIns="0" bIns="0" anchor="ctr">
            <a:spAutoFit/>
          </a:bodyPr>
          <a:lstStyle/>
          <a:p>
            <a:pPr algn="ctr">
              <a:buNone/>
            </a:pPr>
            <a:r>
              <a:rPr sz="950">
                <a:solidFill>
                  <a:srgbClr val="5A6573"/>
                </a:solidFill>
                <a:latin typeface="Trenda IG Text"/>
              </a:rPr>
              <a:t>Pod</a:t>
            </a:r>
          </a:p>
        </p:txBody>
      </p:sp>
      <p:sp>
        <p:nvSpPr>
          <p:cNvPr id="22" name="Rectangle 21"/>
          <p:cNvSpPr/>
          <p:nvPr/>
        </p:nvSpPr>
        <p:spPr>
          <a:xfrm>
            <a:off x="3058668" y="2057400"/>
            <a:ext cx="2537460" cy="205740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95828" y="2148840"/>
            <a:ext cx="2263140" cy="274320"/>
          </a:xfrm>
          <a:prstGeom prst="rect">
            <a:avLst/>
          </a:prstGeom>
          <a:noFill/>
        </p:spPr>
        <p:txBody>
          <a:bodyPr wrap="square" lIns="0" rIns="0" tIns="0" bIns="0" anchor="t">
            <a:spAutoFit/>
          </a:bodyPr>
          <a:lstStyle/>
          <a:p>
            <a:pPr>
              <a:buNone/>
            </a:pPr>
            <a:r>
              <a:rPr sz="1200">
                <a:solidFill>
                  <a:srgbClr val="1A1A1A"/>
                </a:solidFill>
                <a:latin typeface="Trenda IG Display Bold"/>
              </a:rPr>
              <a:t>Care Engagement</a:t>
            </a:r>
          </a:p>
        </p:txBody>
      </p:sp>
      <p:sp>
        <p:nvSpPr>
          <p:cNvPr id="24" name="Rectangle 23"/>
          <p:cNvSpPr/>
          <p:nvPr/>
        </p:nvSpPr>
        <p:spPr>
          <a:xfrm>
            <a:off x="3195828" y="2560320"/>
            <a:ext cx="685800" cy="34747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95828" y="2560320"/>
            <a:ext cx="685800" cy="347472"/>
          </a:xfrm>
          <a:prstGeom prst="rect">
            <a:avLst/>
          </a:prstGeom>
          <a:noFill/>
        </p:spPr>
        <p:txBody>
          <a:bodyPr wrap="square" lIns="0" rIns="0" tIns="0" bIns="0" anchor="ctr">
            <a:spAutoFit/>
          </a:bodyPr>
          <a:lstStyle/>
          <a:p>
            <a:pPr algn="ctr">
              <a:buNone/>
            </a:pPr>
            <a:r>
              <a:rPr sz="950">
                <a:solidFill>
                  <a:srgbClr val="5A6573"/>
                </a:solidFill>
                <a:latin typeface="Trenda IG Text"/>
              </a:rPr>
              <a:t>Pod</a:t>
            </a:r>
          </a:p>
        </p:txBody>
      </p:sp>
      <p:sp>
        <p:nvSpPr>
          <p:cNvPr id="26" name="Rectangle 25"/>
          <p:cNvSpPr/>
          <p:nvPr/>
        </p:nvSpPr>
        <p:spPr>
          <a:xfrm>
            <a:off x="3973068" y="2560320"/>
            <a:ext cx="685800" cy="34747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73068" y="2560320"/>
            <a:ext cx="685800" cy="347472"/>
          </a:xfrm>
          <a:prstGeom prst="rect">
            <a:avLst/>
          </a:prstGeom>
          <a:noFill/>
        </p:spPr>
        <p:txBody>
          <a:bodyPr wrap="square" lIns="0" rIns="0" tIns="0" bIns="0" anchor="ctr">
            <a:spAutoFit/>
          </a:bodyPr>
          <a:lstStyle/>
          <a:p>
            <a:pPr algn="ctr">
              <a:buNone/>
            </a:pPr>
            <a:r>
              <a:rPr sz="950">
                <a:solidFill>
                  <a:srgbClr val="5A6573"/>
                </a:solidFill>
                <a:latin typeface="Trenda IG Text"/>
              </a:rPr>
              <a:t>Pod</a:t>
            </a:r>
          </a:p>
        </p:txBody>
      </p:sp>
      <p:sp>
        <p:nvSpPr>
          <p:cNvPr id="28" name="Rectangle 27"/>
          <p:cNvSpPr/>
          <p:nvPr/>
        </p:nvSpPr>
        <p:spPr>
          <a:xfrm>
            <a:off x="4750308" y="2560320"/>
            <a:ext cx="685800" cy="34747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0308" y="2560320"/>
            <a:ext cx="685800" cy="347472"/>
          </a:xfrm>
          <a:prstGeom prst="rect">
            <a:avLst/>
          </a:prstGeom>
          <a:noFill/>
        </p:spPr>
        <p:txBody>
          <a:bodyPr wrap="square" lIns="0" rIns="0" tIns="0" bIns="0" anchor="ctr">
            <a:spAutoFit/>
          </a:bodyPr>
          <a:lstStyle/>
          <a:p>
            <a:pPr algn="ctr">
              <a:buNone/>
            </a:pPr>
            <a:r>
              <a:rPr sz="950">
                <a:solidFill>
                  <a:srgbClr val="5A6573"/>
                </a:solidFill>
                <a:latin typeface="Trenda IG Text"/>
              </a:rPr>
              <a:t>Pod</a:t>
            </a:r>
          </a:p>
        </p:txBody>
      </p:sp>
      <p:sp>
        <p:nvSpPr>
          <p:cNvPr id="30" name="Rectangle 29"/>
          <p:cNvSpPr/>
          <p:nvPr/>
        </p:nvSpPr>
        <p:spPr>
          <a:xfrm>
            <a:off x="3195828" y="3017520"/>
            <a:ext cx="685800" cy="34747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95828" y="3017520"/>
            <a:ext cx="685800" cy="347472"/>
          </a:xfrm>
          <a:prstGeom prst="rect">
            <a:avLst/>
          </a:prstGeom>
          <a:noFill/>
        </p:spPr>
        <p:txBody>
          <a:bodyPr wrap="square" lIns="0" rIns="0" tIns="0" bIns="0" anchor="ctr">
            <a:spAutoFit/>
          </a:bodyPr>
          <a:lstStyle/>
          <a:p>
            <a:pPr algn="ctr">
              <a:buNone/>
            </a:pPr>
            <a:r>
              <a:rPr sz="950">
                <a:solidFill>
                  <a:srgbClr val="5A6573"/>
                </a:solidFill>
                <a:latin typeface="Trenda IG Text"/>
              </a:rPr>
              <a:t>Pod</a:t>
            </a:r>
          </a:p>
        </p:txBody>
      </p:sp>
      <p:sp>
        <p:nvSpPr>
          <p:cNvPr id="32" name="Rectangle 31"/>
          <p:cNvSpPr/>
          <p:nvPr/>
        </p:nvSpPr>
        <p:spPr>
          <a:xfrm>
            <a:off x="3973068" y="3017520"/>
            <a:ext cx="685800" cy="34747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73068" y="3017520"/>
            <a:ext cx="685800" cy="347472"/>
          </a:xfrm>
          <a:prstGeom prst="rect">
            <a:avLst/>
          </a:prstGeom>
          <a:noFill/>
        </p:spPr>
        <p:txBody>
          <a:bodyPr wrap="square" lIns="0" rIns="0" tIns="0" bIns="0" anchor="ctr">
            <a:spAutoFit/>
          </a:bodyPr>
          <a:lstStyle/>
          <a:p>
            <a:pPr algn="ctr">
              <a:buNone/>
            </a:pPr>
            <a:r>
              <a:rPr sz="950">
                <a:solidFill>
                  <a:srgbClr val="5A6573"/>
                </a:solidFill>
                <a:latin typeface="Trenda IG Text"/>
              </a:rPr>
              <a:t>Pod</a:t>
            </a:r>
          </a:p>
        </p:txBody>
      </p:sp>
      <p:sp>
        <p:nvSpPr>
          <p:cNvPr id="34" name="TextBox 33"/>
          <p:cNvSpPr txBox="1"/>
          <p:nvPr/>
        </p:nvSpPr>
        <p:spPr>
          <a:xfrm>
            <a:off x="475488" y="4251960"/>
            <a:ext cx="4983480" cy="731520"/>
          </a:xfrm>
          <a:prstGeom prst="rect">
            <a:avLst/>
          </a:prstGeom>
          <a:noFill/>
        </p:spPr>
        <p:txBody>
          <a:bodyPr wrap="square" lIns="0" rIns="0" tIns="0" bIns="0" anchor="ctr">
            <a:spAutoFit/>
          </a:bodyPr>
          <a:lstStyle/>
          <a:p>
            <a:pPr>
              <a:buNone/>
            </a:pPr>
            <a:r>
              <a:rPr sz="1000">
                <a:solidFill>
                  <a:srgbClr val="1A1A1A"/>
                </a:solidFill>
                <a:latin typeface="Trenda IG Text"/>
              </a:rPr>
              <a:t>Each pod: PM, BA, developers, QA and release. Four to fourteen people.</a:t>
            </a:r>
          </a:p>
        </p:txBody>
      </p:sp>
      <p:sp>
        <p:nvSpPr>
          <p:cNvPr id="35" name="Rectangle 34"/>
          <p:cNvSpPr/>
          <p:nvPr/>
        </p:nvSpPr>
        <p:spPr>
          <a:xfrm>
            <a:off x="6364224" y="1097280"/>
            <a:ext cx="5715000" cy="4114800"/>
          </a:xfrm>
          <a:prstGeom prst="rect">
            <a:avLst/>
          </a:prstGeom>
          <a:solidFill>
            <a:srgbClr val="F4F6F9"/>
          </a:solidFill>
          <a:ln w="19050">
            <a:solidFill>
              <a:srgbClr val="1B6B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92824" y="1234440"/>
            <a:ext cx="2743200" cy="155448"/>
          </a:xfrm>
          <a:prstGeom prst="rect">
            <a:avLst/>
          </a:prstGeom>
          <a:noFill/>
        </p:spPr>
        <p:txBody>
          <a:bodyPr wrap="square" lIns="0" rIns="0" tIns="0" bIns="0" anchor="t">
            <a:spAutoFit/>
          </a:bodyPr>
          <a:lstStyle/>
          <a:p>
            <a:pPr>
              <a:buNone/>
            </a:pPr>
            <a:r>
              <a:rPr sz="750" spc="60">
                <a:solidFill>
                  <a:srgbClr val="1B6BC0"/>
                </a:solidFill>
                <a:latin typeface="Trenda IG Text Semibold"/>
              </a:rPr>
              <a:t>TARGET</a:t>
            </a:r>
          </a:p>
        </p:txBody>
      </p:sp>
      <p:sp>
        <p:nvSpPr>
          <p:cNvPr id="37" name="Rectangle 36"/>
          <p:cNvSpPr/>
          <p:nvPr/>
        </p:nvSpPr>
        <p:spPr>
          <a:xfrm>
            <a:off x="6592824" y="1508760"/>
            <a:ext cx="5257800" cy="4114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92824" y="1508760"/>
            <a:ext cx="5257800" cy="411480"/>
          </a:xfrm>
          <a:prstGeom prst="rect">
            <a:avLst/>
          </a:prstGeom>
          <a:noFill/>
        </p:spPr>
        <p:txBody>
          <a:bodyPr wrap="square" lIns="0" rIns="0" tIns="0" bIns="0" anchor="ctr">
            <a:spAutoFit/>
          </a:bodyPr>
          <a:lstStyle/>
          <a:p>
            <a:pPr algn="ctr">
              <a:buNone/>
            </a:pPr>
            <a:r>
              <a:rPr sz="1100">
                <a:solidFill>
                  <a:srgbClr val="FFFFFF"/>
                </a:solidFill>
                <a:latin typeface="Trenda IG Text Semibold"/>
              </a:rPr>
              <a:t>Engineering Director</a:t>
            </a:r>
          </a:p>
        </p:txBody>
      </p:sp>
      <p:sp>
        <p:nvSpPr>
          <p:cNvPr id="39" name="Rectangle 38"/>
          <p:cNvSpPr/>
          <p:nvPr/>
        </p:nvSpPr>
        <p:spPr>
          <a:xfrm>
            <a:off x="6592824" y="2057400"/>
            <a:ext cx="2537460" cy="205740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29984" y="2148840"/>
            <a:ext cx="2263140" cy="274320"/>
          </a:xfrm>
          <a:prstGeom prst="rect">
            <a:avLst/>
          </a:prstGeom>
          <a:noFill/>
        </p:spPr>
        <p:txBody>
          <a:bodyPr wrap="square" lIns="0" rIns="0" tIns="0" bIns="0" anchor="t">
            <a:spAutoFit/>
          </a:bodyPr>
          <a:lstStyle/>
          <a:p>
            <a:pPr>
              <a:buNone/>
            </a:pPr>
            <a:r>
              <a:rPr sz="1200">
                <a:solidFill>
                  <a:srgbClr val="1A1A1A"/>
                </a:solidFill>
                <a:latin typeface="Trenda IG Display Bold"/>
              </a:rPr>
              <a:t>Consumer</a:t>
            </a:r>
          </a:p>
        </p:txBody>
      </p:sp>
      <p:sp>
        <p:nvSpPr>
          <p:cNvPr id="41" name="Rectangle 40"/>
          <p:cNvSpPr/>
          <p:nvPr/>
        </p:nvSpPr>
        <p:spPr>
          <a:xfrm>
            <a:off x="6729984" y="2514600"/>
            <a:ext cx="2263140" cy="64008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39712" y="2514600"/>
            <a:ext cx="2080260" cy="640080"/>
          </a:xfrm>
          <a:prstGeom prst="rect">
            <a:avLst/>
          </a:prstGeom>
          <a:noFill/>
        </p:spPr>
        <p:txBody>
          <a:bodyPr wrap="square" lIns="0" rIns="0" tIns="0" bIns="0" anchor="ctr">
            <a:spAutoFit/>
          </a:bodyPr>
          <a:lstStyle/>
          <a:p>
            <a:pPr>
              <a:buNone/>
            </a:pPr>
            <a:r>
              <a:rPr sz="950">
                <a:solidFill>
                  <a:srgbClr val="FFFFFF"/>
                </a:solidFill>
                <a:latin typeface="Trenda IG Text Semibold"/>
              </a:rPr>
              <a:t>Agentic pod</a:t>
            </a:r>
          </a:p>
          <a:p>
            <a:pPr>
              <a:buNone/>
            </a:pPr>
            <a:r>
              <a:rPr sz="950">
                <a:solidFill>
                  <a:srgbClr val="FFFFFF"/>
                </a:solidFill>
                <a:latin typeface="Trenda IG Text"/>
              </a:rPr>
              <a:t>PM + Tech Lead + agents</a:t>
            </a:r>
          </a:p>
        </p:txBody>
      </p:sp>
      <p:sp>
        <p:nvSpPr>
          <p:cNvPr id="43" name="Rectangle 42"/>
          <p:cNvSpPr/>
          <p:nvPr/>
        </p:nvSpPr>
        <p:spPr>
          <a:xfrm>
            <a:off x="6729984" y="3264408"/>
            <a:ext cx="2263140" cy="64008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39712" y="3264408"/>
            <a:ext cx="2080260" cy="640080"/>
          </a:xfrm>
          <a:prstGeom prst="rect">
            <a:avLst/>
          </a:prstGeom>
          <a:noFill/>
        </p:spPr>
        <p:txBody>
          <a:bodyPr wrap="square" lIns="0" rIns="0" tIns="0" bIns="0" anchor="ctr">
            <a:spAutoFit/>
          </a:bodyPr>
          <a:lstStyle/>
          <a:p>
            <a:pPr>
              <a:buNone/>
            </a:pPr>
            <a:r>
              <a:rPr sz="950">
                <a:solidFill>
                  <a:srgbClr val="FFFFFF"/>
                </a:solidFill>
                <a:latin typeface="Trenda IG Text Semibold"/>
              </a:rPr>
              <a:t>Agentic pod</a:t>
            </a:r>
          </a:p>
          <a:p>
            <a:pPr>
              <a:buNone/>
            </a:pPr>
            <a:r>
              <a:rPr sz="950">
                <a:solidFill>
                  <a:srgbClr val="FFFFFF"/>
                </a:solidFill>
                <a:latin typeface="Trenda IG Text"/>
              </a:rPr>
              <a:t>PM + Tech Lead + agents</a:t>
            </a:r>
          </a:p>
        </p:txBody>
      </p:sp>
      <p:sp>
        <p:nvSpPr>
          <p:cNvPr id="45" name="Rectangle 44"/>
          <p:cNvSpPr/>
          <p:nvPr/>
        </p:nvSpPr>
        <p:spPr>
          <a:xfrm>
            <a:off x="9313164" y="2057400"/>
            <a:ext cx="2537460" cy="205740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50324" y="2148840"/>
            <a:ext cx="2263140" cy="274320"/>
          </a:xfrm>
          <a:prstGeom prst="rect">
            <a:avLst/>
          </a:prstGeom>
          <a:noFill/>
        </p:spPr>
        <p:txBody>
          <a:bodyPr wrap="square" lIns="0" rIns="0" tIns="0" bIns="0" anchor="t">
            <a:spAutoFit/>
          </a:bodyPr>
          <a:lstStyle/>
          <a:p>
            <a:pPr>
              <a:buNone/>
            </a:pPr>
            <a:r>
              <a:rPr sz="1200">
                <a:solidFill>
                  <a:srgbClr val="1A1A1A"/>
                </a:solidFill>
                <a:latin typeface="Trenda IG Display Bold"/>
              </a:rPr>
              <a:t>Care Engagement</a:t>
            </a:r>
          </a:p>
        </p:txBody>
      </p:sp>
      <p:sp>
        <p:nvSpPr>
          <p:cNvPr id="47" name="Rectangle 46"/>
          <p:cNvSpPr/>
          <p:nvPr/>
        </p:nvSpPr>
        <p:spPr>
          <a:xfrm>
            <a:off x="9450324" y="2514600"/>
            <a:ext cx="2263140" cy="64008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560052" y="2514600"/>
            <a:ext cx="2080260" cy="640080"/>
          </a:xfrm>
          <a:prstGeom prst="rect">
            <a:avLst/>
          </a:prstGeom>
          <a:noFill/>
        </p:spPr>
        <p:txBody>
          <a:bodyPr wrap="square" lIns="0" rIns="0" tIns="0" bIns="0" anchor="ctr">
            <a:spAutoFit/>
          </a:bodyPr>
          <a:lstStyle/>
          <a:p>
            <a:pPr>
              <a:buNone/>
            </a:pPr>
            <a:r>
              <a:rPr sz="950">
                <a:solidFill>
                  <a:srgbClr val="FFFFFF"/>
                </a:solidFill>
                <a:latin typeface="Trenda IG Text Semibold"/>
              </a:rPr>
              <a:t>Agentic pod</a:t>
            </a:r>
          </a:p>
          <a:p>
            <a:pPr>
              <a:buNone/>
            </a:pPr>
            <a:r>
              <a:rPr sz="950">
                <a:solidFill>
                  <a:srgbClr val="FFFFFF"/>
                </a:solidFill>
                <a:latin typeface="Trenda IG Text"/>
              </a:rPr>
              <a:t>PM + Tech Lead + agents</a:t>
            </a:r>
          </a:p>
        </p:txBody>
      </p:sp>
      <p:sp>
        <p:nvSpPr>
          <p:cNvPr id="49" name="Rectangle 48"/>
          <p:cNvSpPr/>
          <p:nvPr/>
        </p:nvSpPr>
        <p:spPr>
          <a:xfrm>
            <a:off x="9450324" y="3264408"/>
            <a:ext cx="2263140" cy="64008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560052" y="3264408"/>
            <a:ext cx="2080260" cy="640080"/>
          </a:xfrm>
          <a:prstGeom prst="rect">
            <a:avLst/>
          </a:prstGeom>
          <a:noFill/>
        </p:spPr>
        <p:txBody>
          <a:bodyPr wrap="square" lIns="0" rIns="0" tIns="0" bIns="0" anchor="ctr">
            <a:spAutoFit/>
          </a:bodyPr>
          <a:lstStyle/>
          <a:p>
            <a:pPr>
              <a:buNone/>
            </a:pPr>
            <a:r>
              <a:rPr sz="950">
                <a:solidFill>
                  <a:srgbClr val="FFFFFF"/>
                </a:solidFill>
                <a:latin typeface="Trenda IG Text Semibold"/>
              </a:rPr>
              <a:t>Agentic pod</a:t>
            </a:r>
          </a:p>
          <a:p>
            <a:pPr>
              <a:buNone/>
            </a:pPr>
            <a:r>
              <a:rPr sz="950">
                <a:solidFill>
                  <a:srgbClr val="FFFFFF"/>
                </a:solidFill>
                <a:latin typeface="Trenda IG Text"/>
              </a:rPr>
              <a:t>PM + Tech Lead + agents</a:t>
            </a:r>
          </a:p>
        </p:txBody>
      </p:sp>
      <p:sp>
        <p:nvSpPr>
          <p:cNvPr id="51" name="Rectangle 50"/>
          <p:cNvSpPr/>
          <p:nvPr/>
        </p:nvSpPr>
        <p:spPr>
          <a:xfrm>
            <a:off x="6592824" y="4251960"/>
            <a:ext cx="5257800" cy="731520"/>
          </a:xfrm>
          <a:prstGeom prst="rect">
            <a:avLst/>
          </a:prstGeom>
          <a:solidFill>
            <a:srgbClr val="E3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29984" y="4251960"/>
            <a:ext cx="4983480" cy="731520"/>
          </a:xfrm>
          <a:prstGeom prst="rect">
            <a:avLst/>
          </a:prstGeom>
          <a:noFill/>
        </p:spPr>
        <p:txBody>
          <a:bodyPr wrap="square" lIns="0" rIns="0" tIns="0" bIns="0" anchor="ctr">
            <a:spAutoFit/>
          </a:bodyPr>
          <a:lstStyle/>
          <a:p>
            <a:pPr>
              <a:buNone/>
            </a:pPr>
            <a:r>
              <a:rPr sz="1000">
                <a:solidFill>
                  <a:srgbClr val="1A1A1A"/>
                </a:solidFill>
                <a:latin typeface="Trenda IG Text"/>
              </a:rPr>
              <a:t>Shared across both tiles: Agent Platform team, plus QA and release support on demand</a:t>
            </a:r>
          </a:p>
        </p:txBody>
      </p:sp>
      <p:sp>
        <p:nvSpPr>
          <p:cNvPr id="53" name="Right Arrow 52"/>
          <p:cNvSpPr/>
          <p:nvPr/>
        </p:nvSpPr>
        <p:spPr>
          <a:xfrm>
            <a:off x="5916168" y="2971800"/>
            <a:ext cx="365760" cy="274320"/>
          </a:xfrm>
          <a:prstGeom prst="rightArrow">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5358384"/>
            <a:ext cx="11521440" cy="566928"/>
          </a:xfrm>
          <a:prstGeom prst="rect">
            <a:avLst/>
          </a:prstGeom>
          <a:noFill/>
        </p:spPr>
        <p:txBody>
          <a:bodyPr wrap="square" lIns="0" rIns="0" tIns="0" bIns="0" anchor="ctr">
            <a:spAutoFit/>
          </a:bodyPr>
          <a:lstStyle/>
          <a:p>
            <a:pPr>
              <a:buNone/>
            </a:pPr>
            <a:r>
              <a:rPr sz="1050">
                <a:solidFill>
                  <a:srgbClr val="1A1A1A"/>
                </a:solidFill>
                <a:latin typeface="Trenda IG Text"/>
              </a:rPr>
              <a:t>The tiles stay; what changes is inside them. Four to five pods per tile become two agentic pods.</a:t>
            </a:r>
          </a:p>
        </p:txBody>
      </p:sp>
      <p:sp>
        <p:nvSpPr>
          <p:cNvPr id="57" name="Rectangle 56"/>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Each agentic pod: a PM who owns the business, a Tech Lead who designs, approves and releases.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ROLES</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Who does what in an agentic pod</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The platform team is sized in the pilot.</a:t>
            </a:r>
          </a:p>
        </p:txBody>
      </p:sp>
      <p:sp>
        <p:nvSpPr>
          <p:cNvPr id="6" name="Rectangle 5"/>
          <p:cNvSpPr/>
          <p:nvPr/>
        </p:nvSpPr>
        <p:spPr>
          <a:xfrm>
            <a:off x="109728" y="1097280"/>
            <a:ext cx="2889504" cy="50292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523744" cy="502920"/>
          </a:xfrm>
          <a:prstGeom prst="rect">
            <a:avLst/>
          </a:prstGeom>
          <a:noFill/>
        </p:spPr>
        <p:txBody>
          <a:bodyPr wrap="square" lIns="0" rIns="0" tIns="0" bIns="0" anchor="ctr">
            <a:spAutoFit/>
          </a:bodyPr>
          <a:lstStyle/>
          <a:p>
            <a:pPr>
              <a:buNone/>
            </a:pPr>
            <a:r>
              <a:rPr sz="1350">
                <a:solidFill>
                  <a:srgbClr val="FFFFFF"/>
                </a:solidFill>
                <a:latin typeface="Trenda IG Display Bold"/>
              </a:rPr>
              <a:t>Product Manager</a:t>
            </a:r>
          </a:p>
        </p:txBody>
      </p:sp>
      <p:sp>
        <p:nvSpPr>
          <p:cNvPr id="8" name="Rectangle 7"/>
          <p:cNvSpPr/>
          <p:nvPr/>
        </p:nvSpPr>
        <p:spPr>
          <a:xfrm>
            <a:off x="109728" y="1600200"/>
            <a:ext cx="2889504" cy="210312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737360"/>
            <a:ext cx="2523744" cy="155448"/>
          </a:xfrm>
          <a:prstGeom prst="rect">
            <a:avLst/>
          </a:prstGeom>
          <a:noFill/>
        </p:spPr>
        <p:txBody>
          <a:bodyPr wrap="square" lIns="0" rIns="0" tIns="0" bIns="0" anchor="t">
            <a:spAutoFit/>
          </a:bodyPr>
          <a:lstStyle/>
          <a:p>
            <a:pPr>
              <a:buNone/>
            </a:pPr>
            <a:r>
              <a:rPr sz="750" spc="60">
                <a:solidFill>
                  <a:srgbClr val="5A6573"/>
                </a:solidFill>
                <a:latin typeface="Trenda IG Text Semibold"/>
              </a:rPr>
              <a:t>OWNS</a:t>
            </a:r>
          </a:p>
        </p:txBody>
      </p:sp>
      <p:sp>
        <p:nvSpPr>
          <p:cNvPr id="10" name="TextBox 9"/>
          <p:cNvSpPr txBox="1"/>
          <p:nvPr/>
        </p:nvSpPr>
        <p:spPr>
          <a:xfrm>
            <a:off x="292608" y="2011680"/>
            <a:ext cx="2523744" cy="1645920"/>
          </a:xfrm>
          <a:prstGeom prst="rect">
            <a:avLst/>
          </a:prstGeom>
          <a:noFill/>
        </p:spPr>
        <p:txBody>
          <a:bodyPr wrap="square" lIns="0" rIns="0" tIns="0" bIns="0" anchor="t">
            <a:spAutoFit/>
          </a:bodyPr>
          <a:lstStyle/>
          <a:p>
            <a:pPr marL="114300" indent="-114300">
              <a:spcAft>
                <a:spcPts val="800"/>
              </a:spcAft>
              <a:buChar char="•"/>
            </a:pPr>
            <a:r>
              <a:rPr sz="1150">
                <a:solidFill>
                  <a:srgbClr val="1A1A1A"/>
                </a:solidFill>
                <a:latin typeface="Trenda IG Text"/>
              </a:rPr>
              <a:t>Business conversations and priorities</a:t>
            </a:r>
          </a:p>
          <a:p>
            <a:pPr marL="114300" indent="-114300">
              <a:spcAft>
                <a:spcPts val="800"/>
              </a:spcAft>
              <a:buChar char="•"/>
            </a:pPr>
            <a:r>
              <a:rPr sz="1150">
                <a:solidFill>
                  <a:srgbClr val="1A1A1A"/>
                </a:solidFill>
                <a:latin typeface="Trenda IG Text"/>
              </a:rPr>
              <a:t>Requirements and acceptance criteria</a:t>
            </a:r>
          </a:p>
          <a:p>
            <a:pPr marL="114300" indent="-114300">
              <a:spcAft>
                <a:spcPts val="800"/>
              </a:spcAft>
              <a:buChar char="•"/>
            </a:pPr>
            <a:r>
              <a:rPr sz="1150">
                <a:solidFill>
                  <a:srgbClr val="1A1A1A"/>
                </a:solidFill>
                <a:latin typeface="Trenda IG Text"/>
              </a:rPr>
              <a:t>UAT sign-off</a:t>
            </a:r>
          </a:p>
        </p:txBody>
      </p:sp>
      <p:sp>
        <p:nvSpPr>
          <p:cNvPr id="11" name="Rectangle 10"/>
          <p:cNvSpPr/>
          <p:nvPr/>
        </p:nvSpPr>
        <p:spPr>
          <a:xfrm>
            <a:off x="109728" y="3703320"/>
            <a:ext cx="2889504" cy="15087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 y="3840480"/>
            <a:ext cx="2523744" cy="1280160"/>
          </a:xfrm>
          <a:prstGeom prst="rect">
            <a:avLst/>
          </a:prstGeom>
          <a:noFill/>
        </p:spPr>
        <p:txBody>
          <a:bodyPr wrap="square" lIns="0" rIns="0" tIns="0" bIns="0" anchor="t">
            <a:spAutoFit/>
          </a:bodyPr>
          <a:lstStyle/>
          <a:p>
            <a:pPr>
              <a:lnSpc>
                <a:spcPct val="105000"/>
              </a:lnSpc>
              <a:buNone/>
            </a:pPr>
            <a:r>
              <a:rPr sz="1100">
                <a:solidFill>
                  <a:srgbClr val="5A6573"/>
                </a:solidFill>
                <a:latin typeface="Trenda IG Text"/>
              </a:rPr>
              <a:t>Approves Gate 1. Works with the Requirements and Jira agents.</a:t>
            </a:r>
          </a:p>
        </p:txBody>
      </p:sp>
      <p:sp>
        <p:nvSpPr>
          <p:cNvPr id="13" name="Rectangle 12"/>
          <p:cNvSpPr/>
          <p:nvPr/>
        </p:nvSpPr>
        <p:spPr>
          <a:xfrm>
            <a:off x="3136392" y="1097280"/>
            <a:ext cx="2889504" cy="502920"/>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19272" y="1097280"/>
            <a:ext cx="2523744" cy="502920"/>
          </a:xfrm>
          <a:prstGeom prst="rect">
            <a:avLst/>
          </a:prstGeom>
          <a:noFill/>
        </p:spPr>
        <p:txBody>
          <a:bodyPr wrap="square" lIns="0" rIns="0" tIns="0" bIns="0" anchor="ctr">
            <a:spAutoFit/>
          </a:bodyPr>
          <a:lstStyle/>
          <a:p>
            <a:pPr>
              <a:buNone/>
            </a:pPr>
            <a:r>
              <a:rPr sz="1350">
                <a:solidFill>
                  <a:srgbClr val="FFFFFF"/>
                </a:solidFill>
                <a:latin typeface="Trenda IG Display Bold"/>
              </a:rPr>
              <a:t>Tech Lead</a:t>
            </a:r>
          </a:p>
        </p:txBody>
      </p:sp>
      <p:sp>
        <p:nvSpPr>
          <p:cNvPr id="15" name="Rectangle 14"/>
          <p:cNvSpPr/>
          <p:nvPr/>
        </p:nvSpPr>
        <p:spPr>
          <a:xfrm>
            <a:off x="3136392" y="1600200"/>
            <a:ext cx="2889504" cy="210312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9272" y="1737360"/>
            <a:ext cx="2523744" cy="155448"/>
          </a:xfrm>
          <a:prstGeom prst="rect">
            <a:avLst/>
          </a:prstGeom>
          <a:noFill/>
        </p:spPr>
        <p:txBody>
          <a:bodyPr wrap="square" lIns="0" rIns="0" tIns="0" bIns="0" anchor="t">
            <a:spAutoFit/>
          </a:bodyPr>
          <a:lstStyle/>
          <a:p>
            <a:pPr>
              <a:buNone/>
            </a:pPr>
            <a:r>
              <a:rPr sz="750" spc="60">
                <a:solidFill>
                  <a:srgbClr val="5A6573"/>
                </a:solidFill>
                <a:latin typeface="Trenda IG Text Semibold"/>
              </a:rPr>
              <a:t>OWNS</a:t>
            </a:r>
          </a:p>
        </p:txBody>
      </p:sp>
      <p:sp>
        <p:nvSpPr>
          <p:cNvPr id="17" name="TextBox 16"/>
          <p:cNvSpPr txBox="1"/>
          <p:nvPr/>
        </p:nvSpPr>
        <p:spPr>
          <a:xfrm>
            <a:off x="3319272" y="2011680"/>
            <a:ext cx="2523744" cy="1645920"/>
          </a:xfrm>
          <a:prstGeom prst="rect">
            <a:avLst/>
          </a:prstGeom>
          <a:noFill/>
        </p:spPr>
        <p:txBody>
          <a:bodyPr wrap="square" lIns="0" rIns="0" tIns="0" bIns="0" anchor="t">
            <a:spAutoFit/>
          </a:bodyPr>
          <a:lstStyle/>
          <a:p>
            <a:pPr marL="114300" indent="-114300">
              <a:spcAft>
                <a:spcPts val="800"/>
              </a:spcAft>
              <a:buChar char="•"/>
            </a:pPr>
            <a:r>
              <a:rPr sz="1150">
                <a:solidFill>
                  <a:srgbClr val="1A1A1A"/>
                </a:solidFill>
                <a:latin typeface="Trenda IG Text"/>
              </a:rPr>
              <a:t>Solution design</a:t>
            </a:r>
          </a:p>
          <a:p>
            <a:pPr marL="114300" indent="-114300">
              <a:spcAft>
                <a:spcPts val="800"/>
              </a:spcAft>
              <a:buChar char="•"/>
            </a:pPr>
            <a:r>
              <a:rPr sz="1150">
                <a:solidFill>
                  <a:srgbClr val="1A1A1A"/>
                </a:solidFill>
                <a:latin typeface="Trenda IG Text"/>
              </a:rPr>
              <a:t>Code quality and security</a:t>
            </a:r>
          </a:p>
          <a:p>
            <a:pPr marL="114300" indent="-114300">
              <a:spcAft>
                <a:spcPts val="800"/>
              </a:spcAft>
              <a:buChar char="•"/>
            </a:pPr>
            <a:r>
              <a:rPr sz="1150">
                <a:solidFill>
                  <a:srgbClr val="1A1A1A"/>
                </a:solidFill>
                <a:latin typeface="Trenda IG Text"/>
              </a:rPr>
              <a:t>Release readiness</a:t>
            </a:r>
          </a:p>
        </p:txBody>
      </p:sp>
      <p:sp>
        <p:nvSpPr>
          <p:cNvPr id="18" name="Rectangle 17"/>
          <p:cNvSpPr/>
          <p:nvPr/>
        </p:nvSpPr>
        <p:spPr>
          <a:xfrm>
            <a:off x="3136392" y="3703320"/>
            <a:ext cx="2889504" cy="15087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19272" y="3840480"/>
            <a:ext cx="2523744" cy="1280160"/>
          </a:xfrm>
          <a:prstGeom prst="rect">
            <a:avLst/>
          </a:prstGeom>
          <a:noFill/>
        </p:spPr>
        <p:txBody>
          <a:bodyPr wrap="square" lIns="0" rIns="0" tIns="0" bIns="0" anchor="t">
            <a:spAutoFit/>
          </a:bodyPr>
          <a:lstStyle/>
          <a:p>
            <a:pPr>
              <a:lnSpc>
                <a:spcPct val="105000"/>
              </a:lnSpc>
              <a:buNone/>
            </a:pPr>
            <a:r>
              <a:rPr sz="1100">
                <a:solidFill>
                  <a:srgbClr val="5A6573"/>
                </a:solidFill>
                <a:latin typeface="Trenda IG Text"/>
              </a:rPr>
              <a:t>Approves Gates 1, 2 and 3. Works with the Architect, Developer, Review, Test and Deployment agents.</a:t>
            </a:r>
          </a:p>
        </p:txBody>
      </p:sp>
      <p:sp>
        <p:nvSpPr>
          <p:cNvPr id="20" name="Rectangle 19"/>
          <p:cNvSpPr/>
          <p:nvPr/>
        </p:nvSpPr>
        <p:spPr>
          <a:xfrm>
            <a:off x="6163056" y="1097280"/>
            <a:ext cx="2889504" cy="50292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936" y="1097280"/>
            <a:ext cx="2523744" cy="502920"/>
          </a:xfrm>
          <a:prstGeom prst="rect">
            <a:avLst/>
          </a:prstGeom>
          <a:noFill/>
        </p:spPr>
        <p:txBody>
          <a:bodyPr wrap="square" lIns="0" rIns="0" tIns="0" bIns="0" anchor="ctr">
            <a:spAutoFit/>
          </a:bodyPr>
          <a:lstStyle/>
          <a:p>
            <a:pPr>
              <a:buNone/>
            </a:pPr>
            <a:r>
              <a:rPr sz="1350">
                <a:solidFill>
                  <a:srgbClr val="FFFFFF"/>
                </a:solidFill>
                <a:latin typeface="Trenda IG Display Bold"/>
              </a:rPr>
              <a:t>Agent team</a:t>
            </a:r>
          </a:p>
        </p:txBody>
      </p:sp>
      <p:sp>
        <p:nvSpPr>
          <p:cNvPr id="22" name="Rectangle 21"/>
          <p:cNvSpPr/>
          <p:nvPr/>
        </p:nvSpPr>
        <p:spPr>
          <a:xfrm>
            <a:off x="6163056" y="1600200"/>
            <a:ext cx="2889504" cy="210312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5936" y="1737360"/>
            <a:ext cx="2523744" cy="155448"/>
          </a:xfrm>
          <a:prstGeom prst="rect">
            <a:avLst/>
          </a:prstGeom>
          <a:noFill/>
        </p:spPr>
        <p:txBody>
          <a:bodyPr wrap="square" lIns="0" rIns="0" tIns="0" bIns="0" anchor="t">
            <a:spAutoFit/>
          </a:bodyPr>
          <a:lstStyle/>
          <a:p>
            <a:pPr>
              <a:buNone/>
            </a:pPr>
            <a:r>
              <a:rPr sz="750" spc="60">
                <a:solidFill>
                  <a:srgbClr val="5A6573"/>
                </a:solidFill>
                <a:latin typeface="Trenda IG Text Semibold"/>
              </a:rPr>
              <a:t>OWNS</a:t>
            </a:r>
          </a:p>
        </p:txBody>
      </p:sp>
      <p:sp>
        <p:nvSpPr>
          <p:cNvPr id="24" name="TextBox 23"/>
          <p:cNvSpPr txBox="1"/>
          <p:nvPr/>
        </p:nvSpPr>
        <p:spPr>
          <a:xfrm>
            <a:off x="6345936" y="2011680"/>
            <a:ext cx="2523744" cy="1645920"/>
          </a:xfrm>
          <a:prstGeom prst="rect">
            <a:avLst/>
          </a:prstGeom>
          <a:noFill/>
        </p:spPr>
        <p:txBody>
          <a:bodyPr wrap="square" lIns="0" rIns="0" tIns="0" bIns="0" anchor="t">
            <a:spAutoFit/>
          </a:bodyPr>
          <a:lstStyle/>
          <a:p>
            <a:pPr marL="114300" indent="-114300">
              <a:spcAft>
                <a:spcPts val="800"/>
              </a:spcAft>
              <a:buChar char="•"/>
            </a:pPr>
            <a:r>
              <a:rPr sz="1150">
                <a:solidFill>
                  <a:srgbClr val="1A1A1A"/>
                </a:solidFill>
                <a:latin typeface="Trenda IG Text"/>
              </a:rPr>
              <a:t>Drafts stories, designs, code and tests</a:t>
            </a:r>
          </a:p>
          <a:p>
            <a:pPr marL="114300" indent="-114300">
              <a:spcAft>
                <a:spcPts val="800"/>
              </a:spcAft>
              <a:buChar char="•"/>
            </a:pPr>
            <a:r>
              <a:rPr sz="1150">
                <a:solidFill>
                  <a:srgbClr val="1A1A1A"/>
                </a:solidFill>
                <a:latin typeface="Trenda IG Text"/>
              </a:rPr>
              <a:t>Deploys to QA and UAT</a:t>
            </a:r>
          </a:p>
          <a:p>
            <a:pPr marL="114300" indent="-114300">
              <a:spcAft>
                <a:spcPts val="800"/>
              </a:spcAft>
              <a:buChar char="•"/>
            </a:pPr>
            <a:r>
              <a:rPr sz="1150">
                <a:solidFill>
                  <a:srgbClr val="1A1A1A"/>
                </a:solidFill>
                <a:latin typeface="Trenda IG Text"/>
              </a:rPr>
              <a:t>Keeps Jira and Confluence current</a:t>
            </a:r>
          </a:p>
        </p:txBody>
      </p:sp>
      <p:sp>
        <p:nvSpPr>
          <p:cNvPr id="25" name="Rectangle 24"/>
          <p:cNvSpPr/>
          <p:nvPr/>
        </p:nvSpPr>
        <p:spPr>
          <a:xfrm>
            <a:off x="6163056" y="3703320"/>
            <a:ext cx="2889504" cy="15087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5936" y="3840480"/>
            <a:ext cx="2523744" cy="1280160"/>
          </a:xfrm>
          <a:prstGeom prst="rect">
            <a:avLst/>
          </a:prstGeom>
          <a:noFill/>
        </p:spPr>
        <p:txBody>
          <a:bodyPr wrap="square" lIns="0" rIns="0" tIns="0" bIns="0" anchor="t">
            <a:spAutoFit/>
          </a:bodyPr>
          <a:lstStyle/>
          <a:p>
            <a:pPr>
              <a:lnSpc>
                <a:spcPct val="105000"/>
              </a:lnSpc>
              <a:buNone/>
            </a:pPr>
            <a:r>
              <a:rPr sz="1100">
                <a:solidFill>
                  <a:srgbClr val="5A6573"/>
                </a:solidFill>
                <a:latin typeface="Trenda IG Text"/>
              </a:rPr>
              <a:t>Never approves its own work or touches production.</a:t>
            </a:r>
          </a:p>
        </p:txBody>
      </p:sp>
      <p:sp>
        <p:nvSpPr>
          <p:cNvPr id="27" name="Rectangle 26"/>
          <p:cNvSpPr/>
          <p:nvPr/>
        </p:nvSpPr>
        <p:spPr>
          <a:xfrm>
            <a:off x="9189719" y="1097280"/>
            <a:ext cx="2889504" cy="502920"/>
          </a:xfrm>
          <a:prstGeom prst="rect">
            <a:avLst/>
          </a:prstGeom>
          <a:solidFill>
            <a:srgbClr val="007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72599" y="1097280"/>
            <a:ext cx="2523744" cy="502920"/>
          </a:xfrm>
          <a:prstGeom prst="rect">
            <a:avLst/>
          </a:prstGeom>
          <a:noFill/>
        </p:spPr>
        <p:txBody>
          <a:bodyPr wrap="square" lIns="0" rIns="0" tIns="0" bIns="0" anchor="ctr">
            <a:spAutoFit/>
          </a:bodyPr>
          <a:lstStyle/>
          <a:p>
            <a:pPr>
              <a:buNone/>
            </a:pPr>
            <a:r>
              <a:rPr sz="1350">
                <a:solidFill>
                  <a:srgbClr val="FFFFFF"/>
                </a:solidFill>
                <a:latin typeface="Trenda IG Display Bold"/>
              </a:rPr>
              <a:t>Agent Platform team</a:t>
            </a:r>
          </a:p>
        </p:txBody>
      </p:sp>
      <p:sp>
        <p:nvSpPr>
          <p:cNvPr id="29" name="Rectangle 28"/>
          <p:cNvSpPr/>
          <p:nvPr/>
        </p:nvSpPr>
        <p:spPr>
          <a:xfrm>
            <a:off x="9189719" y="1600200"/>
            <a:ext cx="2889504" cy="210312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72599" y="1737360"/>
            <a:ext cx="2523744" cy="155448"/>
          </a:xfrm>
          <a:prstGeom prst="rect">
            <a:avLst/>
          </a:prstGeom>
          <a:noFill/>
        </p:spPr>
        <p:txBody>
          <a:bodyPr wrap="square" lIns="0" rIns="0" tIns="0" bIns="0" anchor="t">
            <a:spAutoFit/>
          </a:bodyPr>
          <a:lstStyle/>
          <a:p>
            <a:pPr>
              <a:buNone/>
            </a:pPr>
            <a:r>
              <a:rPr sz="750" spc="60">
                <a:solidFill>
                  <a:srgbClr val="5A6573"/>
                </a:solidFill>
                <a:latin typeface="Trenda IG Text Semibold"/>
              </a:rPr>
              <a:t>OWNS</a:t>
            </a:r>
          </a:p>
        </p:txBody>
      </p:sp>
      <p:sp>
        <p:nvSpPr>
          <p:cNvPr id="31" name="TextBox 30"/>
          <p:cNvSpPr txBox="1"/>
          <p:nvPr/>
        </p:nvSpPr>
        <p:spPr>
          <a:xfrm>
            <a:off x="9372599" y="2011680"/>
            <a:ext cx="2523744" cy="1645920"/>
          </a:xfrm>
          <a:prstGeom prst="rect">
            <a:avLst/>
          </a:prstGeom>
          <a:noFill/>
        </p:spPr>
        <p:txBody>
          <a:bodyPr wrap="square" lIns="0" rIns="0" tIns="0" bIns="0" anchor="t">
            <a:spAutoFit/>
          </a:bodyPr>
          <a:lstStyle/>
          <a:p>
            <a:pPr marL="114300" indent="-114300">
              <a:spcAft>
                <a:spcPts val="800"/>
              </a:spcAft>
              <a:buChar char="•"/>
            </a:pPr>
            <a:r>
              <a:rPr sz="1150">
                <a:solidFill>
                  <a:srgbClr val="1A1A1A"/>
                </a:solidFill>
                <a:latin typeface="Trenda IG Text"/>
              </a:rPr>
              <a:t>Keeps the graph current</a:t>
            </a:r>
          </a:p>
          <a:p>
            <a:pPr marL="114300" indent="-114300">
              <a:spcAft>
                <a:spcPts val="800"/>
              </a:spcAft>
              <a:buChar char="•"/>
            </a:pPr>
            <a:r>
              <a:rPr sz="1150">
                <a:solidFill>
                  <a:srgbClr val="1A1A1A"/>
                </a:solidFill>
                <a:latin typeface="Trenda IG Text"/>
              </a:rPr>
              <a:t>Measures agent quality</a:t>
            </a:r>
          </a:p>
          <a:p>
            <a:pPr marL="114300" indent="-114300">
              <a:spcAft>
                <a:spcPts val="800"/>
              </a:spcAft>
              <a:buChar char="•"/>
            </a:pPr>
            <a:r>
              <a:rPr sz="1150">
                <a:solidFill>
                  <a:srgbClr val="1A1A1A"/>
                </a:solidFill>
                <a:latin typeface="Trenda IG Text"/>
              </a:rPr>
              <a:t>Turns standards into agent rules</a:t>
            </a:r>
          </a:p>
        </p:txBody>
      </p:sp>
      <p:sp>
        <p:nvSpPr>
          <p:cNvPr id="32" name="Rectangle 31"/>
          <p:cNvSpPr/>
          <p:nvPr/>
        </p:nvSpPr>
        <p:spPr>
          <a:xfrm>
            <a:off x="9189719" y="3703320"/>
            <a:ext cx="2889504" cy="15087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72599" y="3840480"/>
            <a:ext cx="2523744" cy="1280160"/>
          </a:xfrm>
          <a:prstGeom prst="rect">
            <a:avLst/>
          </a:prstGeom>
          <a:noFill/>
        </p:spPr>
        <p:txBody>
          <a:bodyPr wrap="square" lIns="0" rIns="0" tIns="0" bIns="0" anchor="t">
            <a:spAutoFit/>
          </a:bodyPr>
          <a:lstStyle/>
          <a:p>
            <a:pPr>
              <a:lnSpc>
                <a:spcPct val="105000"/>
              </a:lnSpc>
              <a:buNone/>
            </a:pPr>
            <a:r>
              <a:rPr sz="1100">
                <a:solidFill>
                  <a:srgbClr val="5A6573"/>
                </a:solidFill>
                <a:latin typeface="Trenda IG Text"/>
              </a:rPr>
              <a:t>Shared across both tiles: a small team sized in the pilot.</a:t>
            </a:r>
          </a:p>
        </p:txBody>
      </p:sp>
      <p:sp>
        <p:nvSpPr>
          <p:cNvPr id="34" name="Rectangle 33"/>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5358384"/>
            <a:ext cx="11521440" cy="566928"/>
          </a:xfrm>
          <a:prstGeom prst="rect">
            <a:avLst/>
          </a:prstGeom>
          <a:noFill/>
        </p:spPr>
        <p:txBody>
          <a:bodyPr wrap="square" lIns="0" rIns="0" tIns="0" bIns="0" anchor="ctr">
            <a:spAutoFit/>
          </a:bodyPr>
          <a:lstStyle/>
          <a:p>
            <a:pPr>
              <a:buNone/>
            </a:pPr>
            <a:r>
              <a:rPr sz="1000">
                <a:solidFill>
                  <a:srgbClr val="1A1A1A"/>
                </a:solidFill>
                <a:latin typeface="Trenda IG Text"/>
              </a:rPr>
              <a:t>The PM owns the business side. The Tech Lead owns the technical side. Agents do the drafting, building, testing and documenting.</a:t>
            </a:r>
          </a:p>
        </p:txBody>
      </p:sp>
      <p:sp>
        <p:nvSpPr>
          <p:cNvPr id="37" name="Rectangle 36"/>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No agent approves its own work.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THE VALUE</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Savings that are phased, measured and earned</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Planning figures, not commitments.</a:t>
            </a:r>
          </a:p>
        </p:txBody>
      </p:sp>
      <p:sp>
        <p:nvSpPr>
          <p:cNvPr id="6" name="Rectangle 5"/>
          <p:cNvSpPr/>
          <p:nvPr/>
        </p:nvSpPr>
        <p:spPr>
          <a:xfrm>
            <a:off x="109728" y="1097280"/>
            <a:ext cx="1975104" cy="36576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6888" y="1097280"/>
            <a:ext cx="1783080" cy="365760"/>
          </a:xfrm>
          <a:prstGeom prst="rect">
            <a:avLst/>
          </a:prstGeom>
          <a:noFill/>
        </p:spPr>
        <p:txBody>
          <a:bodyPr wrap="square" lIns="0" rIns="0" tIns="0" bIns="0" anchor="ctr">
            <a:spAutoFit/>
          </a:bodyPr>
          <a:lstStyle/>
          <a:p>
            <a:pPr>
              <a:buNone/>
            </a:pPr>
            <a:r>
              <a:rPr sz="850" spc="40">
                <a:solidFill>
                  <a:srgbClr val="FFFFFF"/>
                </a:solidFill>
                <a:latin typeface="Trenda IG Text Semibold"/>
              </a:rPr>
              <a:t>PHASE</a:t>
            </a:r>
          </a:p>
        </p:txBody>
      </p:sp>
      <p:sp>
        <p:nvSpPr>
          <p:cNvPr id="8" name="Rectangle 7"/>
          <p:cNvSpPr/>
          <p:nvPr/>
        </p:nvSpPr>
        <p:spPr>
          <a:xfrm>
            <a:off x="2121408" y="1097280"/>
            <a:ext cx="1700784" cy="36576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58568" y="1097280"/>
            <a:ext cx="1508760" cy="365760"/>
          </a:xfrm>
          <a:prstGeom prst="rect">
            <a:avLst/>
          </a:prstGeom>
          <a:noFill/>
        </p:spPr>
        <p:txBody>
          <a:bodyPr wrap="square" lIns="0" rIns="0" tIns="0" bIns="0" anchor="ctr">
            <a:spAutoFit/>
          </a:bodyPr>
          <a:lstStyle/>
          <a:p>
            <a:pPr>
              <a:buNone/>
            </a:pPr>
            <a:r>
              <a:rPr sz="850" spc="40">
                <a:solidFill>
                  <a:srgbClr val="FFFFFF"/>
                </a:solidFill>
                <a:latin typeface="Trenda IG Text Semibold"/>
              </a:rPr>
              <a:t>WHEN</a:t>
            </a:r>
          </a:p>
        </p:txBody>
      </p:sp>
      <p:sp>
        <p:nvSpPr>
          <p:cNvPr id="10" name="Rectangle 9"/>
          <p:cNvSpPr/>
          <p:nvPr/>
        </p:nvSpPr>
        <p:spPr>
          <a:xfrm>
            <a:off x="3858768" y="1097280"/>
            <a:ext cx="3255264" cy="36576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95928" y="1097280"/>
            <a:ext cx="3063240" cy="365760"/>
          </a:xfrm>
          <a:prstGeom prst="rect">
            <a:avLst/>
          </a:prstGeom>
          <a:noFill/>
        </p:spPr>
        <p:txBody>
          <a:bodyPr wrap="square" lIns="0" rIns="0" tIns="0" bIns="0" anchor="ctr">
            <a:spAutoFit/>
          </a:bodyPr>
          <a:lstStyle/>
          <a:p>
            <a:pPr>
              <a:buNone/>
            </a:pPr>
            <a:r>
              <a:rPr sz="850" spc="40">
                <a:solidFill>
                  <a:srgbClr val="FFFFFF"/>
                </a:solidFill>
                <a:latin typeface="Trenda IG Text Semibold"/>
              </a:rPr>
              <a:t>POD SHAPE</a:t>
            </a:r>
          </a:p>
        </p:txBody>
      </p:sp>
      <p:sp>
        <p:nvSpPr>
          <p:cNvPr id="12" name="Rectangle 11"/>
          <p:cNvSpPr/>
          <p:nvPr/>
        </p:nvSpPr>
        <p:spPr>
          <a:xfrm>
            <a:off x="7150608" y="1097280"/>
            <a:ext cx="2340864" cy="36576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87768" y="1097280"/>
            <a:ext cx="2148840" cy="365760"/>
          </a:xfrm>
          <a:prstGeom prst="rect">
            <a:avLst/>
          </a:prstGeom>
          <a:noFill/>
        </p:spPr>
        <p:txBody>
          <a:bodyPr wrap="square" lIns="0" rIns="0" tIns="0" bIns="0" anchor="ctr">
            <a:spAutoFit/>
          </a:bodyPr>
          <a:lstStyle/>
          <a:p>
            <a:pPr>
              <a:buNone/>
            </a:pPr>
            <a:r>
              <a:rPr sz="850" spc="40">
                <a:solidFill>
                  <a:srgbClr val="FFFFFF"/>
                </a:solidFill>
                <a:latin typeface="Trenda IG Text Semibold"/>
              </a:rPr>
              <a:t>VBC WORKLOAD</a:t>
            </a:r>
          </a:p>
        </p:txBody>
      </p:sp>
      <p:sp>
        <p:nvSpPr>
          <p:cNvPr id="14" name="Rectangle 13"/>
          <p:cNvSpPr/>
          <p:nvPr/>
        </p:nvSpPr>
        <p:spPr>
          <a:xfrm>
            <a:off x="9528048" y="1097280"/>
            <a:ext cx="2514600" cy="36576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65208" y="1097280"/>
            <a:ext cx="2322576" cy="365760"/>
          </a:xfrm>
          <a:prstGeom prst="rect">
            <a:avLst/>
          </a:prstGeom>
          <a:noFill/>
        </p:spPr>
        <p:txBody>
          <a:bodyPr wrap="square" lIns="0" rIns="0" tIns="0" bIns="0" anchor="ctr">
            <a:spAutoFit/>
          </a:bodyPr>
          <a:lstStyle/>
          <a:p>
            <a:pPr>
              <a:buNone/>
            </a:pPr>
            <a:r>
              <a:rPr sz="850" spc="40">
                <a:solidFill>
                  <a:srgbClr val="FFFFFF"/>
                </a:solidFill>
                <a:latin typeface="Trenda IG Text Semibold"/>
              </a:rPr>
              <a:t>ANNUAL SAVING</a:t>
            </a:r>
          </a:p>
        </p:txBody>
      </p:sp>
      <p:sp>
        <p:nvSpPr>
          <p:cNvPr id="16" name="Rectangle 15"/>
          <p:cNvSpPr/>
          <p:nvPr/>
        </p:nvSpPr>
        <p:spPr>
          <a:xfrm>
            <a:off x="109728" y="1517904"/>
            <a:ext cx="11932920" cy="512064"/>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 y="1517904"/>
            <a:ext cx="1783080" cy="512064"/>
          </a:xfrm>
          <a:prstGeom prst="rect">
            <a:avLst/>
          </a:prstGeom>
          <a:noFill/>
        </p:spPr>
        <p:txBody>
          <a:bodyPr wrap="square" lIns="0" rIns="0" tIns="0" bIns="0" anchor="ctr">
            <a:spAutoFit/>
          </a:bodyPr>
          <a:lstStyle/>
          <a:p>
            <a:pPr>
              <a:buNone/>
            </a:pPr>
            <a:r>
              <a:rPr sz="1050">
                <a:solidFill>
                  <a:srgbClr val="1A1A1A"/>
                </a:solidFill>
                <a:latin typeface="Trenda IG Text Semibold"/>
              </a:rPr>
              <a:t>Today</a:t>
            </a:r>
          </a:p>
        </p:txBody>
      </p:sp>
      <p:sp>
        <p:nvSpPr>
          <p:cNvPr id="18" name="TextBox 17"/>
          <p:cNvSpPr txBox="1"/>
          <p:nvPr/>
        </p:nvSpPr>
        <p:spPr>
          <a:xfrm>
            <a:off x="2258568" y="1517904"/>
            <a:ext cx="1508760" cy="512064"/>
          </a:xfrm>
          <a:prstGeom prst="rect">
            <a:avLst/>
          </a:prstGeom>
          <a:noFill/>
        </p:spPr>
        <p:txBody>
          <a:bodyPr wrap="square" lIns="0" rIns="0" tIns="0" bIns="0" anchor="ctr">
            <a:spAutoFit/>
          </a:bodyPr>
          <a:lstStyle/>
          <a:p>
            <a:pPr>
              <a:buNone/>
            </a:pPr>
            <a:r>
              <a:rPr sz="1050">
                <a:solidFill>
                  <a:srgbClr val="5A6573"/>
                </a:solidFill>
                <a:latin typeface="Trenda IG Text"/>
              </a:rPr>
              <a:t>Now</a:t>
            </a:r>
          </a:p>
        </p:txBody>
      </p:sp>
      <p:sp>
        <p:nvSpPr>
          <p:cNvPr id="19" name="TextBox 18"/>
          <p:cNvSpPr txBox="1"/>
          <p:nvPr/>
        </p:nvSpPr>
        <p:spPr>
          <a:xfrm>
            <a:off x="3995928" y="1517904"/>
            <a:ext cx="3063240" cy="512064"/>
          </a:xfrm>
          <a:prstGeom prst="rect">
            <a:avLst/>
          </a:prstGeom>
          <a:noFill/>
        </p:spPr>
        <p:txBody>
          <a:bodyPr wrap="square" lIns="0" rIns="0" tIns="0" bIns="0" anchor="ctr">
            <a:spAutoFit/>
          </a:bodyPr>
          <a:lstStyle/>
          <a:p>
            <a:pPr>
              <a:buNone/>
            </a:pPr>
            <a:r>
              <a:rPr sz="1050">
                <a:solidFill>
                  <a:srgbClr val="5A6573"/>
                </a:solidFill>
                <a:latin typeface="Trenda IG Text"/>
              </a:rPr>
              <a:t>PM, BA, developers, QA, release</a:t>
            </a:r>
          </a:p>
        </p:txBody>
      </p:sp>
      <p:sp>
        <p:nvSpPr>
          <p:cNvPr id="20" name="TextBox 19"/>
          <p:cNvSpPr txBox="1"/>
          <p:nvPr/>
        </p:nvSpPr>
        <p:spPr>
          <a:xfrm>
            <a:off x="7287768" y="1517904"/>
            <a:ext cx="2148840" cy="512064"/>
          </a:xfrm>
          <a:prstGeom prst="rect">
            <a:avLst/>
          </a:prstGeom>
          <a:noFill/>
        </p:spPr>
        <p:txBody>
          <a:bodyPr wrap="square" lIns="0" rIns="0" tIns="0" bIns="0" anchor="ctr">
            <a:spAutoFit/>
          </a:bodyPr>
          <a:lstStyle/>
          <a:p>
            <a:pPr>
              <a:buNone/>
            </a:pPr>
            <a:r>
              <a:rPr sz="1050">
                <a:solidFill>
                  <a:srgbClr val="1A1A1A"/>
                </a:solidFill>
                <a:latin typeface="Trenda IG Text"/>
              </a:rPr>
              <a:t>14 people, ~$2.47M</a:t>
            </a:r>
          </a:p>
        </p:txBody>
      </p:sp>
      <p:sp>
        <p:nvSpPr>
          <p:cNvPr id="21" name="TextBox 20"/>
          <p:cNvSpPr txBox="1"/>
          <p:nvPr/>
        </p:nvSpPr>
        <p:spPr>
          <a:xfrm>
            <a:off x="9665208" y="1517904"/>
            <a:ext cx="2322576" cy="512064"/>
          </a:xfrm>
          <a:prstGeom prst="rect">
            <a:avLst/>
          </a:prstGeom>
          <a:noFill/>
        </p:spPr>
        <p:txBody>
          <a:bodyPr wrap="square" lIns="0" rIns="0" tIns="0" bIns="0" anchor="ctr">
            <a:spAutoFit/>
          </a:bodyPr>
          <a:lstStyle/>
          <a:p>
            <a:pPr>
              <a:buNone/>
            </a:pPr>
            <a:r>
              <a:rPr sz="1050">
                <a:solidFill>
                  <a:srgbClr val="5A6573"/>
                </a:solidFill>
                <a:latin typeface="Trenda IG Text"/>
              </a:rPr>
              <a:t>None</a:t>
            </a:r>
          </a:p>
        </p:txBody>
      </p:sp>
      <p:sp>
        <p:nvSpPr>
          <p:cNvPr id="22" name="Rectangle 21"/>
          <p:cNvSpPr/>
          <p:nvPr/>
        </p:nvSpPr>
        <p:spPr>
          <a:xfrm>
            <a:off x="109728" y="2066543"/>
            <a:ext cx="11932920" cy="512064"/>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6888" y="2066543"/>
            <a:ext cx="1783080" cy="512064"/>
          </a:xfrm>
          <a:prstGeom prst="rect">
            <a:avLst/>
          </a:prstGeom>
          <a:noFill/>
        </p:spPr>
        <p:txBody>
          <a:bodyPr wrap="square" lIns="0" rIns="0" tIns="0" bIns="0" anchor="ctr">
            <a:spAutoFit/>
          </a:bodyPr>
          <a:lstStyle/>
          <a:p>
            <a:pPr>
              <a:buNone/>
            </a:pPr>
            <a:r>
              <a:rPr sz="1050">
                <a:solidFill>
                  <a:srgbClr val="1A1A1A"/>
                </a:solidFill>
                <a:latin typeface="Trenda IG Text Semibold"/>
              </a:rPr>
              <a:t>1 · Assist</a:t>
            </a:r>
          </a:p>
        </p:txBody>
      </p:sp>
      <p:sp>
        <p:nvSpPr>
          <p:cNvPr id="24" name="TextBox 23"/>
          <p:cNvSpPr txBox="1"/>
          <p:nvPr/>
        </p:nvSpPr>
        <p:spPr>
          <a:xfrm>
            <a:off x="2258568" y="2066543"/>
            <a:ext cx="1508760" cy="512064"/>
          </a:xfrm>
          <a:prstGeom prst="rect">
            <a:avLst/>
          </a:prstGeom>
          <a:noFill/>
        </p:spPr>
        <p:txBody>
          <a:bodyPr wrap="square" lIns="0" rIns="0" tIns="0" bIns="0" anchor="ctr">
            <a:spAutoFit/>
          </a:bodyPr>
          <a:lstStyle/>
          <a:p>
            <a:pPr>
              <a:buNone/>
            </a:pPr>
            <a:r>
              <a:rPr sz="1050">
                <a:solidFill>
                  <a:srgbClr val="5A6573"/>
                </a:solidFill>
                <a:latin typeface="Trenda IG Text"/>
              </a:rPr>
              <a:t>First 6 months</a:t>
            </a:r>
          </a:p>
        </p:txBody>
      </p:sp>
      <p:sp>
        <p:nvSpPr>
          <p:cNvPr id="25" name="TextBox 24"/>
          <p:cNvSpPr txBox="1"/>
          <p:nvPr/>
        </p:nvSpPr>
        <p:spPr>
          <a:xfrm>
            <a:off x="3995928" y="2066543"/>
            <a:ext cx="3063240" cy="512064"/>
          </a:xfrm>
          <a:prstGeom prst="rect">
            <a:avLst/>
          </a:prstGeom>
          <a:noFill/>
        </p:spPr>
        <p:txBody>
          <a:bodyPr wrap="square" lIns="0" rIns="0" tIns="0" bIns="0" anchor="ctr">
            <a:spAutoFit/>
          </a:bodyPr>
          <a:lstStyle/>
          <a:p>
            <a:pPr>
              <a:buNone/>
            </a:pPr>
            <a:r>
              <a:rPr sz="1050">
                <a:solidFill>
                  <a:srgbClr val="5A6573"/>
                </a:solidFill>
                <a:latin typeface="Trenda IG Text"/>
              </a:rPr>
              <a:t>Same team, agents in every step</a:t>
            </a:r>
          </a:p>
        </p:txBody>
      </p:sp>
      <p:sp>
        <p:nvSpPr>
          <p:cNvPr id="26" name="TextBox 25"/>
          <p:cNvSpPr txBox="1"/>
          <p:nvPr/>
        </p:nvSpPr>
        <p:spPr>
          <a:xfrm>
            <a:off x="7287768" y="2066543"/>
            <a:ext cx="2148840" cy="512064"/>
          </a:xfrm>
          <a:prstGeom prst="rect">
            <a:avLst/>
          </a:prstGeom>
          <a:noFill/>
        </p:spPr>
        <p:txBody>
          <a:bodyPr wrap="square" lIns="0" rIns="0" tIns="0" bIns="0" anchor="ctr">
            <a:spAutoFit/>
          </a:bodyPr>
          <a:lstStyle/>
          <a:p>
            <a:pPr>
              <a:buNone/>
            </a:pPr>
            <a:r>
              <a:rPr sz="1050">
                <a:solidFill>
                  <a:srgbClr val="1A1A1A"/>
                </a:solidFill>
                <a:latin typeface="Trenda IG Text"/>
              </a:rPr>
              <a:t>14 people</a:t>
            </a:r>
          </a:p>
        </p:txBody>
      </p:sp>
      <p:sp>
        <p:nvSpPr>
          <p:cNvPr id="27" name="TextBox 26"/>
          <p:cNvSpPr txBox="1"/>
          <p:nvPr/>
        </p:nvSpPr>
        <p:spPr>
          <a:xfrm>
            <a:off x="9665208" y="2066543"/>
            <a:ext cx="2322576" cy="512064"/>
          </a:xfrm>
          <a:prstGeom prst="rect">
            <a:avLst/>
          </a:prstGeom>
          <a:noFill/>
        </p:spPr>
        <p:txBody>
          <a:bodyPr wrap="square" lIns="0" rIns="0" tIns="0" bIns="0" anchor="ctr">
            <a:spAutoFit/>
          </a:bodyPr>
          <a:lstStyle/>
          <a:p>
            <a:pPr>
              <a:buNone/>
            </a:pPr>
            <a:r>
              <a:rPr sz="1050">
                <a:solidFill>
                  <a:srgbClr val="5A6573"/>
                </a:solidFill>
                <a:latin typeface="Trenda IG Text"/>
              </a:rPr>
              <a:t>More delivered per sprint</a:t>
            </a:r>
          </a:p>
        </p:txBody>
      </p:sp>
      <p:sp>
        <p:nvSpPr>
          <p:cNvPr id="28" name="Rectangle 27"/>
          <p:cNvSpPr/>
          <p:nvPr/>
        </p:nvSpPr>
        <p:spPr>
          <a:xfrm>
            <a:off x="109728" y="2615184"/>
            <a:ext cx="11932920" cy="512064"/>
          </a:xfrm>
          <a:prstGeom prst="rect">
            <a:avLst/>
          </a:prstGeom>
          <a:solidFill>
            <a:srgbClr val="EAF1FB"/>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46888" y="2615184"/>
            <a:ext cx="1783080" cy="512064"/>
          </a:xfrm>
          <a:prstGeom prst="rect">
            <a:avLst/>
          </a:prstGeom>
          <a:noFill/>
        </p:spPr>
        <p:txBody>
          <a:bodyPr wrap="square" lIns="0" rIns="0" tIns="0" bIns="0" anchor="ctr">
            <a:spAutoFit/>
          </a:bodyPr>
          <a:lstStyle/>
          <a:p>
            <a:pPr>
              <a:buNone/>
            </a:pPr>
            <a:r>
              <a:rPr sz="1050">
                <a:solidFill>
                  <a:srgbClr val="1A1A1A"/>
                </a:solidFill>
                <a:latin typeface="Trenda IG Text Semibold"/>
              </a:rPr>
              <a:t>2 · Consolidate</a:t>
            </a:r>
          </a:p>
        </p:txBody>
      </p:sp>
      <p:sp>
        <p:nvSpPr>
          <p:cNvPr id="30" name="TextBox 29"/>
          <p:cNvSpPr txBox="1"/>
          <p:nvPr/>
        </p:nvSpPr>
        <p:spPr>
          <a:xfrm>
            <a:off x="2258568" y="2615184"/>
            <a:ext cx="1508760" cy="512064"/>
          </a:xfrm>
          <a:prstGeom prst="rect">
            <a:avLst/>
          </a:prstGeom>
          <a:noFill/>
        </p:spPr>
        <p:txBody>
          <a:bodyPr wrap="square" lIns="0" rIns="0" tIns="0" bIns="0" anchor="ctr">
            <a:spAutoFit/>
          </a:bodyPr>
          <a:lstStyle/>
          <a:p>
            <a:pPr>
              <a:buNone/>
            </a:pPr>
            <a:r>
              <a:rPr sz="1050">
                <a:solidFill>
                  <a:srgbClr val="5A6573"/>
                </a:solidFill>
                <a:latin typeface="Trenda IG Text"/>
              </a:rPr>
              <a:t>6–12 months</a:t>
            </a:r>
          </a:p>
        </p:txBody>
      </p:sp>
      <p:sp>
        <p:nvSpPr>
          <p:cNvPr id="31" name="TextBox 30"/>
          <p:cNvSpPr txBox="1"/>
          <p:nvPr/>
        </p:nvSpPr>
        <p:spPr>
          <a:xfrm>
            <a:off x="3995928" y="2615184"/>
            <a:ext cx="3063240" cy="512064"/>
          </a:xfrm>
          <a:prstGeom prst="rect">
            <a:avLst/>
          </a:prstGeom>
          <a:noFill/>
        </p:spPr>
        <p:txBody>
          <a:bodyPr wrap="square" lIns="0" rIns="0" tIns="0" bIns="0" anchor="ctr">
            <a:spAutoFit/>
          </a:bodyPr>
          <a:lstStyle/>
          <a:p>
            <a:pPr>
              <a:buNone/>
            </a:pPr>
            <a:r>
              <a:rPr sz="1050">
                <a:solidFill>
                  <a:srgbClr val="5A6573"/>
                </a:solidFill>
                <a:latin typeface="Trenda IG Text"/>
              </a:rPr>
              <a:t>Pods merged within each tile</a:t>
            </a:r>
          </a:p>
        </p:txBody>
      </p:sp>
      <p:sp>
        <p:nvSpPr>
          <p:cNvPr id="32" name="TextBox 31"/>
          <p:cNvSpPr txBox="1"/>
          <p:nvPr/>
        </p:nvSpPr>
        <p:spPr>
          <a:xfrm>
            <a:off x="7287768" y="2615184"/>
            <a:ext cx="2148840" cy="512064"/>
          </a:xfrm>
          <a:prstGeom prst="rect">
            <a:avLst/>
          </a:prstGeom>
          <a:noFill/>
        </p:spPr>
        <p:txBody>
          <a:bodyPr wrap="square" lIns="0" rIns="0" tIns="0" bIns="0" anchor="ctr">
            <a:spAutoFit/>
          </a:bodyPr>
          <a:lstStyle/>
          <a:p>
            <a:pPr>
              <a:buNone/>
            </a:pPr>
            <a:r>
              <a:rPr sz="1050">
                <a:solidFill>
                  <a:srgbClr val="1A1A1A"/>
                </a:solidFill>
                <a:latin typeface="Trenda IG Text"/>
              </a:rPr>
              <a:t>7–8 people</a:t>
            </a:r>
          </a:p>
        </p:txBody>
      </p:sp>
      <p:sp>
        <p:nvSpPr>
          <p:cNvPr id="33" name="TextBox 32"/>
          <p:cNvSpPr txBox="1"/>
          <p:nvPr/>
        </p:nvSpPr>
        <p:spPr>
          <a:xfrm>
            <a:off x="9665208" y="2615184"/>
            <a:ext cx="2322576" cy="512064"/>
          </a:xfrm>
          <a:prstGeom prst="rect">
            <a:avLst/>
          </a:prstGeom>
          <a:noFill/>
        </p:spPr>
        <p:txBody>
          <a:bodyPr wrap="square" lIns="0" rIns="0" tIns="0" bIns="0" anchor="ctr">
            <a:spAutoFit/>
          </a:bodyPr>
          <a:lstStyle/>
          <a:p>
            <a:pPr>
              <a:buNone/>
            </a:pPr>
            <a:r>
              <a:rPr sz="1200">
                <a:solidFill>
                  <a:srgbClr val="1A1A1A"/>
                </a:solidFill>
                <a:latin typeface="Trenda IG Display Bold"/>
              </a:rPr>
              <a:t>≈ $1.1M–$1.2M</a:t>
            </a:r>
          </a:p>
        </p:txBody>
      </p:sp>
      <p:sp>
        <p:nvSpPr>
          <p:cNvPr id="34" name="Rectangle 33"/>
          <p:cNvSpPr/>
          <p:nvPr/>
        </p:nvSpPr>
        <p:spPr>
          <a:xfrm>
            <a:off x="109728" y="3163824"/>
            <a:ext cx="11932920" cy="512064"/>
          </a:xfrm>
          <a:prstGeom prst="rect">
            <a:avLst/>
          </a:prstGeom>
          <a:solidFill>
            <a:srgbClr val="E3F2F4"/>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46888" y="3163824"/>
            <a:ext cx="1783080" cy="512064"/>
          </a:xfrm>
          <a:prstGeom prst="rect">
            <a:avLst/>
          </a:prstGeom>
          <a:noFill/>
        </p:spPr>
        <p:txBody>
          <a:bodyPr wrap="square" lIns="0" rIns="0" tIns="0" bIns="0" anchor="ctr">
            <a:spAutoFit/>
          </a:bodyPr>
          <a:lstStyle/>
          <a:p>
            <a:pPr>
              <a:buNone/>
            </a:pPr>
            <a:r>
              <a:rPr sz="1050">
                <a:solidFill>
                  <a:srgbClr val="1A1A1A"/>
                </a:solidFill>
                <a:latin typeface="Trenda IG Text Semibold"/>
              </a:rPr>
              <a:t>3 · Agent-native</a:t>
            </a:r>
          </a:p>
        </p:txBody>
      </p:sp>
      <p:sp>
        <p:nvSpPr>
          <p:cNvPr id="36" name="TextBox 35"/>
          <p:cNvSpPr txBox="1"/>
          <p:nvPr/>
        </p:nvSpPr>
        <p:spPr>
          <a:xfrm>
            <a:off x="2258568" y="3163824"/>
            <a:ext cx="1508760" cy="512064"/>
          </a:xfrm>
          <a:prstGeom prst="rect">
            <a:avLst/>
          </a:prstGeom>
          <a:noFill/>
        </p:spPr>
        <p:txBody>
          <a:bodyPr wrap="square" lIns="0" rIns="0" tIns="0" bIns="0" anchor="ctr">
            <a:spAutoFit/>
          </a:bodyPr>
          <a:lstStyle/>
          <a:p>
            <a:pPr>
              <a:buNone/>
            </a:pPr>
            <a:r>
              <a:rPr sz="1050">
                <a:solidFill>
                  <a:srgbClr val="5A6573"/>
                </a:solidFill>
                <a:latin typeface="Trenda IG Text"/>
              </a:rPr>
              <a:t>Year 2</a:t>
            </a:r>
          </a:p>
        </p:txBody>
      </p:sp>
      <p:sp>
        <p:nvSpPr>
          <p:cNvPr id="37" name="TextBox 36"/>
          <p:cNvSpPr txBox="1"/>
          <p:nvPr/>
        </p:nvSpPr>
        <p:spPr>
          <a:xfrm>
            <a:off x="3995928" y="3163824"/>
            <a:ext cx="3063240" cy="512064"/>
          </a:xfrm>
          <a:prstGeom prst="rect">
            <a:avLst/>
          </a:prstGeom>
          <a:noFill/>
        </p:spPr>
        <p:txBody>
          <a:bodyPr wrap="square" lIns="0" rIns="0" tIns="0" bIns="0" anchor="ctr">
            <a:spAutoFit/>
          </a:bodyPr>
          <a:lstStyle/>
          <a:p>
            <a:pPr>
              <a:buNone/>
            </a:pPr>
            <a:r>
              <a:rPr sz="1050">
                <a:solidFill>
                  <a:srgbClr val="5A6573"/>
                </a:solidFill>
                <a:latin typeface="Trenda IG Text"/>
              </a:rPr>
              <a:t>PM + Tech Lead + agents</a:t>
            </a:r>
          </a:p>
        </p:txBody>
      </p:sp>
      <p:sp>
        <p:nvSpPr>
          <p:cNvPr id="38" name="TextBox 37"/>
          <p:cNvSpPr txBox="1"/>
          <p:nvPr/>
        </p:nvSpPr>
        <p:spPr>
          <a:xfrm>
            <a:off x="7287768" y="3163824"/>
            <a:ext cx="2148840" cy="512064"/>
          </a:xfrm>
          <a:prstGeom prst="rect">
            <a:avLst/>
          </a:prstGeom>
          <a:noFill/>
        </p:spPr>
        <p:txBody>
          <a:bodyPr wrap="square" lIns="0" rIns="0" tIns="0" bIns="0" anchor="ctr">
            <a:spAutoFit/>
          </a:bodyPr>
          <a:lstStyle/>
          <a:p>
            <a:pPr>
              <a:buNone/>
            </a:pPr>
            <a:r>
              <a:rPr sz="1050">
                <a:solidFill>
                  <a:srgbClr val="1A1A1A"/>
                </a:solidFill>
                <a:latin typeface="Trenda IG Text"/>
              </a:rPr>
              <a:t>3–4 people</a:t>
            </a:r>
          </a:p>
        </p:txBody>
      </p:sp>
      <p:sp>
        <p:nvSpPr>
          <p:cNvPr id="39" name="TextBox 38"/>
          <p:cNvSpPr txBox="1"/>
          <p:nvPr/>
        </p:nvSpPr>
        <p:spPr>
          <a:xfrm>
            <a:off x="9665208" y="3163824"/>
            <a:ext cx="2322576" cy="512064"/>
          </a:xfrm>
          <a:prstGeom prst="rect">
            <a:avLst/>
          </a:prstGeom>
          <a:noFill/>
        </p:spPr>
        <p:txBody>
          <a:bodyPr wrap="square" lIns="0" rIns="0" tIns="0" bIns="0" anchor="ctr">
            <a:spAutoFit/>
          </a:bodyPr>
          <a:lstStyle/>
          <a:p>
            <a:pPr>
              <a:buNone/>
            </a:pPr>
            <a:r>
              <a:rPr sz="1200">
                <a:solidFill>
                  <a:srgbClr val="1A1A1A"/>
                </a:solidFill>
                <a:latin typeface="Trenda IG Display Bold"/>
              </a:rPr>
              <a:t>≈ $1.8M–$1.9M</a:t>
            </a:r>
          </a:p>
        </p:txBody>
      </p:sp>
      <p:sp>
        <p:nvSpPr>
          <p:cNvPr id="40" name="Rectangle 39"/>
          <p:cNvSpPr/>
          <p:nvPr/>
        </p:nvSpPr>
        <p:spPr>
          <a:xfrm>
            <a:off x="109728" y="3840480"/>
            <a:ext cx="3867911" cy="137160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92608" y="404164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5488" y="3959352"/>
            <a:ext cx="3319271" cy="274320"/>
          </a:xfrm>
          <a:prstGeom prst="rect">
            <a:avLst/>
          </a:prstGeom>
          <a:noFill/>
        </p:spPr>
        <p:txBody>
          <a:bodyPr wrap="square" lIns="0" rIns="0" tIns="0" bIns="0" anchor="t">
            <a:spAutoFit/>
          </a:bodyPr>
          <a:lstStyle/>
          <a:p>
            <a:pPr>
              <a:buNone/>
            </a:pPr>
            <a:r>
              <a:rPr sz="1350">
                <a:solidFill>
                  <a:srgbClr val="1A1A1A"/>
                </a:solidFill>
                <a:latin typeface="Trenda IG Display Bold"/>
              </a:rPr>
              <a:t>Across both tiles</a:t>
            </a:r>
          </a:p>
        </p:txBody>
      </p:sp>
      <p:sp>
        <p:nvSpPr>
          <p:cNvPr id="43" name="TextBox 42"/>
          <p:cNvSpPr txBox="1"/>
          <p:nvPr/>
        </p:nvSpPr>
        <p:spPr>
          <a:xfrm>
            <a:off x="292608" y="4315968"/>
            <a:ext cx="3502151" cy="804672"/>
          </a:xfrm>
          <a:prstGeom prst="rect">
            <a:avLst/>
          </a:prstGeom>
          <a:noFill/>
        </p:spPr>
        <p:txBody>
          <a:bodyPr wrap="square" lIns="0" rIns="0" tIns="0" bIns="0" anchor="t">
            <a:spAutoFit/>
          </a:bodyPr>
          <a:lstStyle/>
          <a:p>
            <a:pPr>
              <a:lnSpc>
                <a:spcPct val="102000"/>
              </a:lnSpc>
              <a:spcAft>
                <a:spcPts val="700"/>
              </a:spcAft>
              <a:buNone/>
            </a:pPr>
            <a:r>
              <a:rPr sz="1100">
                <a:solidFill>
                  <a:srgbClr val="1A1A1A"/>
                </a:solidFill>
                <a:latin typeface="Trenda IG Text"/>
              </a:rPr>
              <a:t>[__] people in 9–10 pods today, moving to 4 agentic pods and a shared platform team.</a:t>
            </a:r>
          </a:p>
        </p:txBody>
      </p:sp>
      <p:sp>
        <p:nvSpPr>
          <p:cNvPr id="44" name="Rectangle 43"/>
          <p:cNvSpPr/>
          <p:nvPr/>
        </p:nvSpPr>
        <p:spPr>
          <a:xfrm>
            <a:off x="4160520" y="3840480"/>
            <a:ext cx="3867911" cy="137160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343400" y="4041648"/>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26280" y="3959352"/>
            <a:ext cx="3319271" cy="274320"/>
          </a:xfrm>
          <a:prstGeom prst="rect">
            <a:avLst/>
          </a:prstGeom>
          <a:noFill/>
        </p:spPr>
        <p:txBody>
          <a:bodyPr wrap="square" lIns="0" rIns="0" tIns="0" bIns="0" anchor="t">
            <a:spAutoFit/>
          </a:bodyPr>
          <a:lstStyle/>
          <a:p>
            <a:pPr>
              <a:buNone/>
            </a:pPr>
            <a:r>
              <a:rPr sz="1350">
                <a:solidFill>
                  <a:srgbClr val="1A1A1A"/>
                </a:solidFill>
                <a:latin typeface="Trenda IG Display Bold"/>
              </a:rPr>
              <a:t>Net of platform cost</a:t>
            </a:r>
          </a:p>
        </p:txBody>
      </p:sp>
      <p:sp>
        <p:nvSpPr>
          <p:cNvPr id="47" name="TextBox 46"/>
          <p:cNvSpPr txBox="1"/>
          <p:nvPr/>
        </p:nvSpPr>
        <p:spPr>
          <a:xfrm>
            <a:off x="4343400" y="4315968"/>
            <a:ext cx="3502151" cy="804672"/>
          </a:xfrm>
          <a:prstGeom prst="rect">
            <a:avLst/>
          </a:prstGeom>
          <a:noFill/>
        </p:spPr>
        <p:txBody>
          <a:bodyPr wrap="square" lIns="0" rIns="0" tIns="0" bIns="0" anchor="t">
            <a:spAutoFit/>
          </a:bodyPr>
          <a:lstStyle/>
          <a:p>
            <a:pPr>
              <a:lnSpc>
                <a:spcPct val="102000"/>
              </a:lnSpc>
              <a:spcAft>
                <a:spcPts val="700"/>
              </a:spcAft>
              <a:buNone/>
            </a:pPr>
            <a:r>
              <a:rPr sz="1100">
                <a:solidFill>
                  <a:srgbClr val="1A1A1A"/>
                </a:solidFill>
                <a:latin typeface="Trenda IG Text"/>
              </a:rPr>
              <a:t>AI model usage, Google Cloud and the Agent Platform team: [$___ a year], sized in the pilot.</a:t>
            </a:r>
          </a:p>
        </p:txBody>
      </p:sp>
      <p:sp>
        <p:nvSpPr>
          <p:cNvPr id="48" name="Rectangle 47"/>
          <p:cNvSpPr/>
          <p:nvPr/>
        </p:nvSpPr>
        <p:spPr>
          <a:xfrm>
            <a:off x="8211311" y="3840480"/>
            <a:ext cx="3867911" cy="137160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394191" y="4041648"/>
            <a:ext cx="91440" cy="91440"/>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77072" y="3959352"/>
            <a:ext cx="3319271" cy="274320"/>
          </a:xfrm>
          <a:prstGeom prst="rect">
            <a:avLst/>
          </a:prstGeom>
          <a:noFill/>
        </p:spPr>
        <p:txBody>
          <a:bodyPr wrap="square" lIns="0" rIns="0" tIns="0" bIns="0" anchor="t">
            <a:spAutoFit/>
          </a:bodyPr>
          <a:lstStyle/>
          <a:p>
            <a:pPr>
              <a:buNone/>
            </a:pPr>
            <a:r>
              <a:rPr sz="1350">
                <a:solidFill>
                  <a:srgbClr val="1A1A1A"/>
                </a:solidFill>
                <a:latin typeface="Trenda IG Display Bold"/>
              </a:rPr>
              <a:t>How the figures work</a:t>
            </a:r>
          </a:p>
        </p:txBody>
      </p:sp>
      <p:sp>
        <p:nvSpPr>
          <p:cNvPr id="51" name="TextBox 50"/>
          <p:cNvSpPr txBox="1"/>
          <p:nvPr/>
        </p:nvSpPr>
        <p:spPr>
          <a:xfrm>
            <a:off x="8394191" y="4315968"/>
            <a:ext cx="3502151" cy="804672"/>
          </a:xfrm>
          <a:prstGeom prst="rect">
            <a:avLst/>
          </a:prstGeom>
          <a:noFill/>
        </p:spPr>
        <p:txBody>
          <a:bodyPr wrap="square" lIns="0" rIns="0" tIns="0" bIns="0" anchor="t">
            <a:spAutoFit/>
          </a:bodyPr>
          <a:lstStyle/>
          <a:p>
            <a:pPr>
              <a:lnSpc>
                <a:spcPct val="102000"/>
              </a:lnSpc>
              <a:spcAft>
                <a:spcPts val="700"/>
              </a:spcAft>
              <a:buNone/>
            </a:pPr>
            <a:r>
              <a:rPr sz="1100">
                <a:solidFill>
                  <a:srgbClr val="1A1A1A"/>
                </a:solidFill>
                <a:latin typeface="Trenda IG Text"/>
              </a:rPr>
              <a:t>VBC's average cost per person, about $176K. Each phase starts only once the last is measured.</a:t>
            </a:r>
          </a:p>
        </p:txBody>
      </p:sp>
      <p:sp>
        <p:nvSpPr>
          <p:cNvPr id="52" name="Rectangle 51"/>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5358384"/>
            <a:ext cx="11521440" cy="566928"/>
          </a:xfrm>
          <a:prstGeom prst="rect">
            <a:avLst/>
          </a:prstGeom>
          <a:noFill/>
        </p:spPr>
        <p:txBody>
          <a:bodyPr wrap="square" lIns="0" rIns="0" tIns="0" bIns="0" anchor="ctr">
            <a:spAutoFit/>
          </a:bodyPr>
          <a:lstStyle/>
          <a:p>
            <a:pPr>
              <a:buNone/>
            </a:pPr>
            <a:r>
              <a:rPr sz="1000">
                <a:solidFill>
                  <a:srgbClr val="1A1A1A"/>
                </a:solidFill>
                <a:latin typeface="Trenda IG Text"/>
              </a:rPr>
              <a:t>Agents shorten build and test. Requirements, support and approvals still take people, which is why each phase is earned.</a:t>
            </a:r>
          </a:p>
        </p:txBody>
      </p:sp>
      <p:sp>
        <p:nvSpPr>
          <p:cNvPr id="55" name="Rectangle 54"/>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Phase one changes nothing on cost. It measures how much more the same team delivers.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FEASIBILITY</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Is it feasible? Yes, in stages</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The useful answer is not yes to everything.</a:t>
            </a:r>
          </a:p>
        </p:txBody>
      </p:sp>
      <p:sp>
        <p:nvSpPr>
          <p:cNvPr id="6" name="TextBox 5"/>
          <p:cNvSpPr txBox="1"/>
          <p:nvPr/>
        </p:nvSpPr>
        <p:spPr>
          <a:xfrm>
            <a:off x="109728" y="1005840"/>
            <a:ext cx="7315200" cy="155448"/>
          </a:xfrm>
          <a:prstGeom prst="rect">
            <a:avLst/>
          </a:prstGeom>
          <a:noFill/>
        </p:spPr>
        <p:txBody>
          <a:bodyPr wrap="square" lIns="0" rIns="0" tIns="0" bIns="0" anchor="t">
            <a:spAutoFit/>
          </a:bodyPr>
          <a:lstStyle/>
          <a:p>
            <a:pPr>
              <a:buNone/>
            </a:pPr>
            <a:r>
              <a:rPr sz="750" spc="60">
                <a:solidFill>
                  <a:srgbClr val="5A6573"/>
                </a:solidFill>
                <a:latin typeface="Trenda IG Text Semibold"/>
              </a:rPr>
              <a:t>CAPABILITY, WHERE IT STANDS, AND OUR RATING</a:t>
            </a:r>
          </a:p>
        </p:txBody>
      </p:sp>
      <p:sp>
        <p:nvSpPr>
          <p:cNvPr id="7" name="Rectangle 6"/>
          <p:cNvSpPr/>
          <p:nvPr/>
        </p:nvSpPr>
        <p:spPr>
          <a:xfrm>
            <a:off x="109728" y="1207008"/>
            <a:ext cx="7406640" cy="402336"/>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 y="1207008"/>
            <a:ext cx="457200" cy="40233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 y="1207008"/>
            <a:ext cx="457200" cy="402336"/>
          </a:xfrm>
          <a:prstGeom prst="rect">
            <a:avLst/>
          </a:prstGeom>
          <a:noFill/>
        </p:spPr>
        <p:txBody>
          <a:bodyPr wrap="square" lIns="0" rIns="0" tIns="0" bIns="0" anchor="ctr">
            <a:spAutoFit/>
          </a:bodyPr>
          <a:lstStyle/>
          <a:p>
            <a:pPr algn="ctr">
              <a:buNone/>
            </a:pPr>
            <a:r>
              <a:rPr sz="950">
                <a:solidFill>
                  <a:srgbClr val="FFFFFF"/>
                </a:solidFill>
                <a:latin typeface="Trenda IG Display Bold"/>
              </a:rPr>
              <a:t>1</a:t>
            </a:r>
          </a:p>
        </p:txBody>
      </p:sp>
      <p:sp>
        <p:nvSpPr>
          <p:cNvPr id="10" name="TextBox 9"/>
          <p:cNvSpPr txBox="1"/>
          <p:nvPr/>
        </p:nvSpPr>
        <p:spPr>
          <a:xfrm>
            <a:off x="658368" y="1207008"/>
            <a:ext cx="2377440" cy="402336"/>
          </a:xfrm>
          <a:prstGeom prst="rect">
            <a:avLst/>
          </a:prstGeom>
          <a:noFill/>
        </p:spPr>
        <p:txBody>
          <a:bodyPr wrap="square" lIns="0" rIns="0" tIns="0" bIns="0" anchor="ctr">
            <a:spAutoFit/>
          </a:bodyPr>
          <a:lstStyle/>
          <a:p>
            <a:pPr>
              <a:buNone/>
            </a:pPr>
            <a:r>
              <a:rPr sz="1000">
                <a:solidFill>
                  <a:srgbClr val="1A1A1A"/>
                </a:solidFill>
                <a:latin typeface="Trenda IG Text Semibold"/>
              </a:rPr>
              <a:t>Codex as the front door</a:t>
            </a:r>
          </a:p>
        </p:txBody>
      </p:sp>
      <p:sp>
        <p:nvSpPr>
          <p:cNvPr id="11" name="Rectangle 10"/>
          <p:cNvSpPr/>
          <p:nvPr/>
        </p:nvSpPr>
        <p:spPr>
          <a:xfrm>
            <a:off x="3108960" y="1307592"/>
            <a:ext cx="731520" cy="201168"/>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0" y="1307592"/>
            <a:ext cx="73152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HIGH</a:t>
            </a:r>
          </a:p>
        </p:txBody>
      </p:sp>
      <p:sp>
        <p:nvSpPr>
          <p:cNvPr id="13" name="TextBox 12"/>
          <p:cNvSpPr txBox="1"/>
          <p:nvPr/>
        </p:nvSpPr>
        <p:spPr>
          <a:xfrm>
            <a:off x="3986784" y="1207008"/>
            <a:ext cx="3474720" cy="402336"/>
          </a:xfrm>
          <a:prstGeom prst="rect">
            <a:avLst/>
          </a:prstGeom>
          <a:noFill/>
        </p:spPr>
        <p:txBody>
          <a:bodyPr wrap="square" lIns="0" rIns="0" tIns="0" bIns="0" anchor="ctr">
            <a:spAutoFit/>
          </a:bodyPr>
          <a:lstStyle/>
          <a:p>
            <a:pPr>
              <a:buNone/>
            </a:pPr>
            <a:r>
              <a:rPr sz="880">
                <a:solidFill>
                  <a:srgbClr val="5A6573"/>
                </a:solidFill>
                <a:latin typeface="Trenda IG Text"/>
              </a:rPr>
              <a:t>Available now; connects to tools through MCP</a:t>
            </a:r>
          </a:p>
        </p:txBody>
      </p:sp>
      <p:sp>
        <p:nvSpPr>
          <p:cNvPr id="14" name="Rectangle 13"/>
          <p:cNvSpPr/>
          <p:nvPr/>
        </p:nvSpPr>
        <p:spPr>
          <a:xfrm>
            <a:off x="109728" y="1664208"/>
            <a:ext cx="7406640" cy="402336"/>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 y="1664208"/>
            <a:ext cx="457200" cy="40233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 y="1664208"/>
            <a:ext cx="457200" cy="402336"/>
          </a:xfrm>
          <a:prstGeom prst="rect">
            <a:avLst/>
          </a:prstGeom>
          <a:noFill/>
        </p:spPr>
        <p:txBody>
          <a:bodyPr wrap="square" lIns="0" rIns="0" tIns="0" bIns="0" anchor="ctr">
            <a:spAutoFit/>
          </a:bodyPr>
          <a:lstStyle/>
          <a:p>
            <a:pPr algn="ctr">
              <a:buNone/>
            </a:pPr>
            <a:r>
              <a:rPr sz="950">
                <a:solidFill>
                  <a:srgbClr val="FFFFFF"/>
                </a:solidFill>
                <a:latin typeface="Trenda IG Display Bold"/>
              </a:rPr>
              <a:t>2</a:t>
            </a:r>
          </a:p>
        </p:txBody>
      </p:sp>
      <p:sp>
        <p:nvSpPr>
          <p:cNvPr id="17" name="TextBox 16"/>
          <p:cNvSpPr txBox="1"/>
          <p:nvPr/>
        </p:nvSpPr>
        <p:spPr>
          <a:xfrm>
            <a:off x="658368" y="1664208"/>
            <a:ext cx="2377440" cy="402336"/>
          </a:xfrm>
          <a:prstGeom prst="rect">
            <a:avLst/>
          </a:prstGeom>
          <a:noFill/>
        </p:spPr>
        <p:txBody>
          <a:bodyPr wrap="square" lIns="0" rIns="0" tIns="0" bIns="0" anchor="ctr">
            <a:spAutoFit/>
          </a:bodyPr>
          <a:lstStyle/>
          <a:p>
            <a:pPr>
              <a:buNone/>
            </a:pPr>
            <a:r>
              <a:rPr sz="1000">
                <a:solidFill>
                  <a:srgbClr val="1A1A1A"/>
                </a:solidFill>
                <a:latin typeface="Trenda IG Text Semibold"/>
              </a:rPr>
              <a:t>Developer, test and QA agents</a:t>
            </a:r>
          </a:p>
        </p:txBody>
      </p:sp>
      <p:sp>
        <p:nvSpPr>
          <p:cNvPr id="18" name="Rectangle 17"/>
          <p:cNvSpPr/>
          <p:nvPr/>
        </p:nvSpPr>
        <p:spPr>
          <a:xfrm>
            <a:off x="3108960" y="1764792"/>
            <a:ext cx="731520" cy="201168"/>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1764792"/>
            <a:ext cx="73152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PROVEN</a:t>
            </a:r>
          </a:p>
        </p:txBody>
      </p:sp>
      <p:sp>
        <p:nvSpPr>
          <p:cNvPr id="20" name="TextBox 19"/>
          <p:cNvSpPr txBox="1"/>
          <p:nvPr/>
        </p:nvSpPr>
        <p:spPr>
          <a:xfrm>
            <a:off x="3986784" y="1664208"/>
            <a:ext cx="3474720" cy="402336"/>
          </a:xfrm>
          <a:prstGeom prst="rect">
            <a:avLst/>
          </a:prstGeom>
          <a:noFill/>
        </p:spPr>
        <p:txBody>
          <a:bodyPr wrap="square" lIns="0" rIns="0" tIns="0" bIns="0" anchor="ctr">
            <a:spAutoFit/>
          </a:bodyPr>
          <a:lstStyle/>
          <a:p>
            <a:pPr>
              <a:buNone/>
            </a:pPr>
            <a:r>
              <a:rPr sz="880">
                <a:solidFill>
                  <a:srgbClr val="5A6573"/>
                </a:solidFill>
                <a:latin typeface="Trenda IG Text"/>
              </a:rPr>
              <a:t>Built and in use at Ascension</a:t>
            </a:r>
          </a:p>
        </p:txBody>
      </p:sp>
      <p:sp>
        <p:nvSpPr>
          <p:cNvPr id="21" name="Rectangle 20"/>
          <p:cNvSpPr/>
          <p:nvPr/>
        </p:nvSpPr>
        <p:spPr>
          <a:xfrm>
            <a:off x="109728" y="2121408"/>
            <a:ext cx="7406640" cy="402336"/>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 y="2121408"/>
            <a:ext cx="457200" cy="40233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 y="2121408"/>
            <a:ext cx="457200" cy="402336"/>
          </a:xfrm>
          <a:prstGeom prst="rect">
            <a:avLst/>
          </a:prstGeom>
          <a:noFill/>
        </p:spPr>
        <p:txBody>
          <a:bodyPr wrap="square" lIns="0" rIns="0" tIns="0" bIns="0" anchor="ctr">
            <a:spAutoFit/>
          </a:bodyPr>
          <a:lstStyle/>
          <a:p>
            <a:pPr algn="ctr">
              <a:buNone/>
            </a:pPr>
            <a:r>
              <a:rPr sz="950">
                <a:solidFill>
                  <a:srgbClr val="FFFFFF"/>
                </a:solidFill>
                <a:latin typeface="Trenda IG Display Bold"/>
              </a:rPr>
              <a:t>3</a:t>
            </a:r>
          </a:p>
        </p:txBody>
      </p:sp>
      <p:sp>
        <p:nvSpPr>
          <p:cNvPr id="24" name="TextBox 23"/>
          <p:cNvSpPr txBox="1"/>
          <p:nvPr/>
        </p:nvSpPr>
        <p:spPr>
          <a:xfrm>
            <a:off x="658368" y="2121408"/>
            <a:ext cx="2377440" cy="402336"/>
          </a:xfrm>
          <a:prstGeom prst="rect">
            <a:avLst/>
          </a:prstGeom>
          <a:noFill/>
        </p:spPr>
        <p:txBody>
          <a:bodyPr wrap="square" lIns="0" rIns="0" tIns="0" bIns="0" anchor="ctr">
            <a:spAutoFit/>
          </a:bodyPr>
          <a:lstStyle/>
          <a:p>
            <a:pPr>
              <a:buNone/>
            </a:pPr>
            <a:r>
              <a:rPr sz="1000">
                <a:solidFill>
                  <a:srgbClr val="1A1A1A"/>
                </a:solidFill>
                <a:latin typeface="Trenda IG Text Semibold"/>
              </a:rPr>
              <a:t>Jira and Confluence agents</a:t>
            </a:r>
          </a:p>
        </p:txBody>
      </p:sp>
      <p:sp>
        <p:nvSpPr>
          <p:cNvPr id="25" name="Rectangle 24"/>
          <p:cNvSpPr/>
          <p:nvPr/>
        </p:nvSpPr>
        <p:spPr>
          <a:xfrm>
            <a:off x="3108960" y="2221992"/>
            <a:ext cx="731520" cy="201168"/>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0" y="2221992"/>
            <a:ext cx="73152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HIGH</a:t>
            </a:r>
          </a:p>
        </p:txBody>
      </p:sp>
      <p:sp>
        <p:nvSpPr>
          <p:cNvPr id="27" name="TextBox 26"/>
          <p:cNvSpPr txBox="1"/>
          <p:nvPr/>
        </p:nvSpPr>
        <p:spPr>
          <a:xfrm>
            <a:off x="3986784" y="2121408"/>
            <a:ext cx="3474720" cy="402336"/>
          </a:xfrm>
          <a:prstGeom prst="rect">
            <a:avLst/>
          </a:prstGeom>
          <a:noFill/>
        </p:spPr>
        <p:txBody>
          <a:bodyPr wrap="square" lIns="0" rIns="0" tIns="0" bIns="0" anchor="ctr">
            <a:spAutoFit/>
          </a:bodyPr>
          <a:lstStyle/>
          <a:p>
            <a:pPr>
              <a:buNone/>
            </a:pPr>
            <a:r>
              <a:rPr sz="880">
                <a:solidFill>
                  <a:srgbClr val="5A6573"/>
                </a:solidFill>
                <a:latin typeface="Trenda IG Text"/>
              </a:rPr>
              <a:t>Reading built; writing is standard API work</a:t>
            </a:r>
          </a:p>
        </p:txBody>
      </p:sp>
      <p:sp>
        <p:nvSpPr>
          <p:cNvPr id="28" name="Rectangle 27"/>
          <p:cNvSpPr/>
          <p:nvPr/>
        </p:nvSpPr>
        <p:spPr>
          <a:xfrm>
            <a:off x="109728" y="2578608"/>
            <a:ext cx="7406640" cy="402336"/>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728" y="2578608"/>
            <a:ext cx="457200" cy="40233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 y="2578608"/>
            <a:ext cx="457200" cy="402336"/>
          </a:xfrm>
          <a:prstGeom prst="rect">
            <a:avLst/>
          </a:prstGeom>
          <a:noFill/>
        </p:spPr>
        <p:txBody>
          <a:bodyPr wrap="square" lIns="0" rIns="0" tIns="0" bIns="0" anchor="ctr">
            <a:spAutoFit/>
          </a:bodyPr>
          <a:lstStyle/>
          <a:p>
            <a:pPr algn="ctr">
              <a:buNone/>
            </a:pPr>
            <a:r>
              <a:rPr sz="950">
                <a:solidFill>
                  <a:srgbClr val="FFFFFF"/>
                </a:solidFill>
                <a:latin typeface="Trenda IG Display Bold"/>
              </a:rPr>
              <a:t>4</a:t>
            </a:r>
          </a:p>
        </p:txBody>
      </p:sp>
      <p:sp>
        <p:nvSpPr>
          <p:cNvPr id="31" name="TextBox 30"/>
          <p:cNvSpPr txBox="1"/>
          <p:nvPr/>
        </p:nvSpPr>
        <p:spPr>
          <a:xfrm>
            <a:off x="658368" y="2578608"/>
            <a:ext cx="2377440" cy="402336"/>
          </a:xfrm>
          <a:prstGeom prst="rect">
            <a:avLst/>
          </a:prstGeom>
          <a:noFill/>
        </p:spPr>
        <p:txBody>
          <a:bodyPr wrap="square" lIns="0" rIns="0" tIns="0" bIns="0" anchor="ctr">
            <a:spAutoFit/>
          </a:bodyPr>
          <a:lstStyle/>
          <a:p>
            <a:pPr>
              <a:buNone/>
            </a:pPr>
            <a:r>
              <a:rPr sz="1000">
                <a:solidFill>
                  <a:srgbClr val="1A1A1A"/>
                </a:solidFill>
                <a:latin typeface="Trenda IG Text Semibold"/>
              </a:rPr>
              <a:t>Knowledge graph</a:t>
            </a:r>
          </a:p>
        </p:txBody>
      </p:sp>
      <p:sp>
        <p:nvSpPr>
          <p:cNvPr id="32" name="Rectangle 31"/>
          <p:cNvSpPr/>
          <p:nvPr/>
        </p:nvSpPr>
        <p:spPr>
          <a:xfrm>
            <a:off x="3108960" y="2679192"/>
            <a:ext cx="731520" cy="201168"/>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08960" y="2679192"/>
            <a:ext cx="73152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HIGH</a:t>
            </a:r>
          </a:p>
        </p:txBody>
      </p:sp>
      <p:sp>
        <p:nvSpPr>
          <p:cNvPr id="34" name="TextBox 33"/>
          <p:cNvSpPr txBox="1"/>
          <p:nvPr/>
        </p:nvSpPr>
        <p:spPr>
          <a:xfrm>
            <a:off x="3986784" y="2578608"/>
            <a:ext cx="3474720" cy="402336"/>
          </a:xfrm>
          <a:prstGeom prst="rect">
            <a:avLst/>
          </a:prstGeom>
          <a:noFill/>
        </p:spPr>
        <p:txBody>
          <a:bodyPr wrap="square" lIns="0" rIns="0" tIns="0" bIns="0" anchor="ctr">
            <a:spAutoFit/>
          </a:bodyPr>
          <a:lstStyle/>
          <a:p>
            <a:pPr>
              <a:buNone/>
            </a:pPr>
            <a:r>
              <a:rPr sz="880">
                <a:solidFill>
                  <a:srgbClr val="5A6573"/>
                </a:solidFill>
                <a:latin typeface="Trenda IG Text"/>
              </a:rPr>
              <a:t>Framework designed; about 30% built in a sandbox</a:t>
            </a:r>
          </a:p>
        </p:txBody>
      </p:sp>
      <p:sp>
        <p:nvSpPr>
          <p:cNvPr id="35" name="Rectangle 34"/>
          <p:cNvSpPr/>
          <p:nvPr/>
        </p:nvSpPr>
        <p:spPr>
          <a:xfrm>
            <a:off x="109728" y="3035808"/>
            <a:ext cx="7406640" cy="402336"/>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9728" y="3035808"/>
            <a:ext cx="457200" cy="40233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 y="3035808"/>
            <a:ext cx="457200" cy="402336"/>
          </a:xfrm>
          <a:prstGeom prst="rect">
            <a:avLst/>
          </a:prstGeom>
          <a:noFill/>
        </p:spPr>
        <p:txBody>
          <a:bodyPr wrap="square" lIns="0" rIns="0" tIns="0" bIns="0" anchor="ctr">
            <a:spAutoFit/>
          </a:bodyPr>
          <a:lstStyle/>
          <a:p>
            <a:pPr algn="ctr">
              <a:buNone/>
            </a:pPr>
            <a:r>
              <a:rPr sz="950">
                <a:solidFill>
                  <a:srgbClr val="FFFFFF"/>
                </a:solidFill>
                <a:latin typeface="Trenda IG Display Bold"/>
              </a:rPr>
              <a:t>5</a:t>
            </a:r>
          </a:p>
        </p:txBody>
      </p:sp>
      <p:sp>
        <p:nvSpPr>
          <p:cNvPr id="38" name="TextBox 37"/>
          <p:cNvSpPr txBox="1"/>
          <p:nvPr/>
        </p:nvSpPr>
        <p:spPr>
          <a:xfrm>
            <a:off x="658368" y="3035808"/>
            <a:ext cx="2377440" cy="402336"/>
          </a:xfrm>
          <a:prstGeom prst="rect">
            <a:avLst/>
          </a:prstGeom>
          <a:noFill/>
        </p:spPr>
        <p:txBody>
          <a:bodyPr wrap="square" lIns="0" rIns="0" tIns="0" bIns="0" anchor="ctr">
            <a:spAutoFit/>
          </a:bodyPr>
          <a:lstStyle/>
          <a:p>
            <a:pPr>
              <a:buNone/>
            </a:pPr>
            <a:r>
              <a:rPr sz="1000">
                <a:solidFill>
                  <a:srgbClr val="1A1A1A"/>
                </a:solidFill>
                <a:latin typeface="Trenda IG Text Semibold"/>
              </a:rPr>
              <a:t>Reading what flows do</a:t>
            </a:r>
          </a:p>
        </p:txBody>
      </p:sp>
      <p:sp>
        <p:nvSpPr>
          <p:cNvPr id="39" name="Rectangle 38"/>
          <p:cNvSpPr/>
          <p:nvPr/>
        </p:nvSpPr>
        <p:spPr>
          <a:xfrm>
            <a:off x="3108960" y="3136392"/>
            <a:ext cx="731520" cy="201168"/>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08960" y="3136392"/>
            <a:ext cx="73152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HIGH</a:t>
            </a:r>
          </a:p>
        </p:txBody>
      </p:sp>
      <p:sp>
        <p:nvSpPr>
          <p:cNvPr id="41" name="TextBox 40"/>
          <p:cNvSpPr txBox="1"/>
          <p:nvPr/>
        </p:nvSpPr>
        <p:spPr>
          <a:xfrm>
            <a:off x="3986784" y="3035808"/>
            <a:ext cx="3474720" cy="402336"/>
          </a:xfrm>
          <a:prstGeom prst="rect">
            <a:avLst/>
          </a:prstGeom>
          <a:noFill/>
        </p:spPr>
        <p:txBody>
          <a:bodyPr wrap="square" lIns="0" rIns="0" tIns="0" bIns="0" anchor="ctr">
            <a:spAutoFit/>
          </a:bodyPr>
          <a:lstStyle/>
          <a:p>
            <a:pPr>
              <a:buNone/>
            </a:pPr>
            <a:r>
              <a:rPr sz="880">
                <a:solidFill>
                  <a:srgbClr val="5A6573"/>
                </a:solidFill>
                <a:latin typeface="Trenda IG Text"/>
              </a:rPr>
              <a:t>Proven readable in the sandbox; access being finalised</a:t>
            </a:r>
          </a:p>
        </p:txBody>
      </p:sp>
      <p:sp>
        <p:nvSpPr>
          <p:cNvPr id="42" name="Rectangle 41"/>
          <p:cNvSpPr/>
          <p:nvPr/>
        </p:nvSpPr>
        <p:spPr>
          <a:xfrm>
            <a:off x="109728" y="3493008"/>
            <a:ext cx="7406640" cy="402336"/>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9728" y="3493008"/>
            <a:ext cx="457200" cy="40233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9728" y="3493008"/>
            <a:ext cx="457200" cy="402336"/>
          </a:xfrm>
          <a:prstGeom prst="rect">
            <a:avLst/>
          </a:prstGeom>
          <a:noFill/>
        </p:spPr>
        <p:txBody>
          <a:bodyPr wrap="square" lIns="0" rIns="0" tIns="0" bIns="0" anchor="ctr">
            <a:spAutoFit/>
          </a:bodyPr>
          <a:lstStyle/>
          <a:p>
            <a:pPr algn="ctr">
              <a:buNone/>
            </a:pPr>
            <a:r>
              <a:rPr sz="950">
                <a:solidFill>
                  <a:srgbClr val="FFFFFF"/>
                </a:solidFill>
                <a:latin typeface="Trenda IG Display Bold"/>
              </a:rPr>
              <a:t>6</a:t>
            </a:r>
          </a:p>
        </p:txBody>
      </p:sp>
      <p:sp>
        <p:nvSpPr>
          <p:cNvPr id="45" name="TextBox 44"/>
          <p:cNvSpPr txBox="1"/>
          <p:nvPr/>
        </p:nvSpPr>
        <p:spPr>
          <a:xfrm>
            <a:off x="658368" y="3493008"/>
            <a:ext cx="2377440" cy="402336"/>
          </a:xfrm>
          <a:prstGeom prst="rect">
            <a:avLst/>
          </a:prstGeom>
          <a:noFill/>
        </p:spPr>
        <p:txBody>
          <a:bodyPr wrap="square" lIns="0" rIns="0" tIns="0" bIns="0" anchor="ctr">
            <a:spAutoFit/>
          </a:bodyPr>
          <a:lstStyle/>
          <a:p>
            <a:pPr>
              <a:buNone/>
            </a:pPr>
            <a:r>
              <a:rPr sz="1000">
                <a:solidFill>
                  <a:srgbClr val="1A1A1A"/>
                </a:solidFill>
                <a:latin typeface="Trenda IG Text Semibold"/>
              </a:rPr>
              <a:t>Design agent: Flow or trigger</a:t>
            </a:r>
          </a:p>
        </p:txBody>
      </p:sp>
      <p:sp>
        <p:nvSpPr>
          <p:cNvPr id="46" name="Rectangle 45"/>
          <p:cNvSpPr/>
          <p:nvPr/>
        </p:nvSpPr>
        <p:spPr>
          <a:xfrm>
            <a:off x="3108960" y="3593592"/>
            <a:ext cx="731520" cy="201168"/>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108960" y="3593592"/>
            <a:ext cx="73152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MEDIUM</a:t>
            </a:r>
          </a:p>
        </p:txBody>
      </p:sp>
      <p:sp>
        <p:nvSpPr>
          <p:cNvPr id="48" name="TextBox 47"/>
          <p:cNvSpPr txBox="1"/>
          <p:nvPr/>
        </p:nvSpPr>
        <p:spPr>
          <a:xfrm>
            <a:off x="3986784" y="3493008"/>
            <a:ext cx="3474720" cy="402336"/>
          </a:xfrm>
          <a:prstGeom prst="rect">
            <a:avLst/>
          </a:prstGeom>
          <a:noFill/>
        </p:spPr>
        <p:txBody>
          <a:bodyPr wrap="square" lIns="0" rIns="0" tIns="0" bIns="0" anchor="ctr">
            <a:spAutoFit/>
          </a:bodyPr>
          <a:lstStyle/>
          <a:p>
            <a:pPr>
              <a:buNone/>
            </a:pPr>
            <a:r>
              <a:rPr sz="880">
                <a:solidFill>
                  <a:srgbClr val="5A6573"/>
                </a:solidFill>
                <a:latin typeface="Trenda IG Text"/>
              </a:rPr>
              <a:t>Needs Ascension's standards written as rules</a:t>
            </a:r>
          </a:p>
        </p:txBody>
      </p:sp>
      <p:sp>
        <p:nvSpPr>
          <p:cNvPr id="49" name="Rectangle 48"/>
          <p:cNvSpPr/>
          <p:nvPr/>
        </p:nvSpPr>
        <p:spPr>
          <a:xfrm>
            <a:off x="109728" y="3950208"/>
            <a:ext cx="7406640" cy="402336"/>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9728" y="3950208"/>
            <a:ext cx="457200" cy="40233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 y="3950208"/>
            <a:ext cx="457200" cy="402336"/>
          </a:xfrm>
          <a:prstGeom prst="rect">
            <a:avLst/>
          </a:prstGeom>
          <a:noFill/>
        </p:spPr>
        <p:txBody>
          <a:bodyPr wrap="square" lIns="0" rIns="0" tIns="0" bIns="0" anchor="ctr">
            <a:spAutoFit/>
          </a:bodyPr>
          <a:lstStyle/>
          <a:p>
            <a:pPr algn="ctr">
              <a:buNone/>
            </a:pPr>
            <a:r>
              <a:rPr sz="950">
                <a:solidFill>
                  <a:srgbClr val="FFFFFF"/>
                </a:solidFill>
                <a:latin typeface="Trenda IG Display Bold"/>
              </a:rPr>
              <a:t>7</a:t>
            </a:r>
          </a:p>
        </p:txBody>
      </p:sp>
      <p:sp>
        <p:nvSpPr>
          <p:cNvPr id="52" name="TextBox 51"/>
          <p:cNvSpPr txBox="1"/>
          <p:nvPr/>
        </p:nvSpPr>
        <p:spPr>
          <a:xfrm>
            <a:off x="658368" y="3950208"/>
            <a:ext cx="2377440" cy="402336"/>
          </a:xfrm>
          <a:prstGeom prst="rect">
            <a:avLst/>
          </a:prstGeom>
          <a:noFill/>
        </p:spPr>
        <p:txBody>
          <a:bodyPr wrap="square" lIns="0" rIns="0" tIns="0" bIns="0" anchor="ctr">
            <a:spAutoFit/>
          </a:bodyPr>
          <a:lstStyle/>
          <a:p>
            <a:pPr>
              <a:buNone/>
            </a:pPr>
            <a:r>
              <a:rPr sz="1000">
                <a:solidFill>
                  <a:srgbClr val="1A1A1A"/>
                </a:solidFill>
                <a:latin typeface="Trenda IG Text Semibold"/>
              </a:rPr>
              <a:t>Deployment through Copado</a:t>
            </a:r>
          </a:p>
        </p:txBody>
      </p:sp>
      <p:sp>
        <p:nvSpPr>
          <p:cNvPr id="53" name="Rectangle 52"/>
          <p:cNvSpPr/>
          <p:nvPr/>
        </p:nvSpPr>
        <p:spPr>
          <a:xfrm>
            <a:off x="3108960" y="4050792"/>
            <a:ext cx="731520" cy="201168"/>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108960" y="4050792"/>
            <a:ext cx="73152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MED-HIGH</a:t>
            </a:r>
          </a:p>
        </p:txBody>
      </p:sp>
      <p:sp>
        <p:nvSpPr>
          <p:cNvPr id="55" name="TextBox 54"/>
          <p:cNvSpPr txBox="1"/>
          <p:nvPr/>
        </p:nvSpPr>
        <p:spPr>
          <a:xfrm>
            <a:off x="3986784" y="3950208"/>
            <a:ext cx="3474720" cy="402336"/>
          </a:xfrm>
          <a:prstGeom prst="rect">
            <a:avLst/>
          </a:prstGeom>
          <a:noFill/>
        </p:spPr>
        <p:txBody>
          <a:bodyPr wrap="square" lIns="0" rIns="0" tIns="0" bIns="0" anchor="ctr">
            <a:spAutoFit/>
          </a:bodyPr>
          <a:lstStyle/>
          <a:p>
            <a:pPr>
              <a:buNone/>
            </a:pPr>
            <a:r>
              <a:rPr sz="880">
                <a:solidFill>
                  <a:srgbClr val="5A6573"/>
                </a:solidFill>
                <a:latin typeface="Trenda IG Text"/>
              </a:rPr>
              <a:t>QA and UAT automated; production stays with CAB</a:t>
            </a:r>
          </a:p>
        </p:txBody>
      </p:sp>
      <p:sp>
        <p:nvSpPr>
          <p:cNvPr id="56" name="Rectangle 55"/>
          <p:cNvSpPr/>
          <p:nvPr/>
        </p:nvSpPr>
        <p:spPr>
          <a:xfrm>
            <a:off x="109728" y="4407408"/>
            <a:ext cx="7406640" cy="402336"/>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9728" y="4407408"/>
            <a:ext cx="457200" cy="40233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9728" y="4407408"/>
            <a:ext cx="457200" cy="402336"/>
          </a:xfrm>
          <a:prstGeom prst="rect">
            <a:avLst/>
          </a:prstGeom>
          <a:noFill/>
        </p:spPr>
        <p:txBody>
          <a:bodyPr wrap="square" lIns="0" rIns="0" tIns="0" bIns="0" anchor="ctr">
            <a:spAutoFit/>
          </a:bodyPr>
          <a:lstStyle/>
          <a:p>
            <a:pPr algn="ctr">
              <a:buNone/>
            </a:pPr>
            <a:r>
              <a:rPr sz="950">
                <a:solidFill>
                  <a:srgbClr val="FFFFFF"/>
                </a:solidFill>
                <a:latin typeface="Trenda IG Display Bold"/>
              </a:rPr>
              <a:t>8</a:t>
            </a:r>
          </a:p>
        </p:txBody>
      </p:sp>
      <p:sp>
        <p:nvSpPr>
          <p:cNvPr id="59" name="TextBox 58"/>
          <p:cNvSpPr txBox="1"/>
          <p:nvPr/>
        </p:nvSpPr>
        <p:spPr>
          <a:xfrm>
            <a:off x="658368" y="4407408"/>
            <a:ext cx="2377440" cy="402336"/>
          </a:xfrm>
          <a:prstGeom prst="rect">
            <a:avLst/>
          </a:prstGeom>
          <a:noFill/>
        </p:spPr>
        <p:txBody>
          <a:bodyPr wrap="square" lIns="0" rIns="0" tIns="0" bIns="0" anchor="ctr">
            <a:spAutoFit/>
          </a:bodyPr>
          <a:lstStyle/>
          <a:p>
            <a:pPr>
              <a:buNone/>
            </a:pPr>
            <a:r>
              <a:rPr sz="1000">
                <a:solidFill>
                  <a:srgbClr val="1A1A1A"/>
                </a:solidFill>
                <a:latin typeface="Trenda IG Text Semibold"/>
              </a:rPr>
              <a:t>Keeping the graph current</a:t>
            </a:r>
          </a:p>
        </p:txBody>
      </p:sp>
      <p:sp>
        <p:nvSpPr>
          <p:cNvPr id="60" name="Rectangle 59"/>
          <p:cNvSpPr/>
          <p:nvPr/>
        </p:nvSpPr>
        <p:spPr>
          <a:xfrm>
            <a:off x="3108960" y="4507992"/>
            <a:ext cx="731520" cy="201168"/>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108960" y="4507992"/>
            <a:ext cx="73152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MEDIUM</a:t>
            </a:r>
          </a:p>
        </p:txBody>
      </p:sp>
      <p:sp>
        <p:nvSpPr>
          <p:cNvPr id="62" name="TextBox 61"/>
          <p:cNvSpPr txBox="1"/>
          <p:nvPr/>
        </p:nvSpPr>
        <p:spPr>
          <a:xfrm>
            <a:off x="3986784" y="4407408"/>
            <a:ext cx="3474720" cy="402336"/>
          </a:xfrm>
          <a:prstGeom prst="rect">
            <a:avLst/>
          </a:prstGeom>
          <a:noFill/>
        </p:spPr>
        <p:txBody>
          <a:bodyPr wrap="square" lIns="0" rIns="0" tIns="0" bIns="0" anchor="ctr">
            <a:spAutoFit/>
          </a:bodyPr>
          <a:lstStyle/>
          <a:p>
            <a:pPr>
              <a:buNone/>
            </a:pPr>
            <a:r>
              <a:rPr sz="880">
                <a:solidFill>
                  <a:srgbClr val="5A6573"/>
                </a:solidFill>
                <a:latin typeface="Trenda IG Text"/>
              </a:rPr>
              <a:t>Re-sync after every deployment, plus nightly</a:t>
            </a:r>
          </a:p>
        </p:txBody>
      </p:sp>
      <p:sp>
        <p:nvSpPr>
          <p:cNvPr id="63" name="Rectangle 62"/>
          <p:cNvSpPr/>
          <p:nvPr/>
        </p:nvSpPr>
        <p:spPr>
          <a:xfrm>
            <a:off x="109728" y="4864608"/>
            <a:ext cx="7406640" cy="402336"/>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9728" y="4864608"/>
            <a:ext cx="457200" cy="40233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9728" y="4864608"/>
            <a:ext cx="457200" cy="402336"/>
          </a:xfrm>
          <a:prstGeom prst="rect">
            <a:avLst/>
          </a:prstGeom>
          <a:noFill/>
        </p:spPr>
        <p:txBody>
          <a:bodyPr wrap="square" lIns="0" rIns="0" tIns="0" bIns="0" anchor="ctr">
            <a:spAutoFit/>
          </a:bodyPr>
          <a:lstStyle/>
          <a:p>
            <a:pPr algn="ctr">
              <a:buNone/>
            </a:pPr>
            <a:r>
              <a:rPr sz="950">
                <a:solidFill>
                  <a:srgbClr val="FFFFFF"/>
                </a:solidFill>
                <a:latin typeface="Trenda IG Display Bold"/>
              </a:rPr>
              <a:t>9</a:t>
            </a:r>
          </a:p>
        </p:txBody>
      </p:sp>
      <p:sp>
        <p:nvSpPr>
          <p:cNvPr id="66" name="TextBox 65"/>
          <p:cNvSpPr txBox="1"/>
          <p:nvPr/>
        </p:nvSpPr>
        <p:spPr>
          <a:xfrm>
            <a:off x="658368" y="4864608"/>
            <a:ext cx="2377440" cy="402336"/>
          </a:xfrm>
          <a:prstGeom prst="rect">
            <a:avLst/>
          </a:prstGeom>
          <a:noFill/>
        </p:spPr>
        <p:txBody>
          <a:bodyPr wrap="square" lIns="0" rIns="0" tIns="0" bIns="0" anchor="ctr">
            <a:spAutoFit/>
          </a:bodyPr>
          <a:lstStyle/>
          <a:p>
            <a:pPr>
              <a:buNone/>
            </a:pPr>
            <a:r>
              <a:rPr sz="1000">
                <a:solidFill>
                  <a:srgbClr val="1A1A1A"/>
                </a:solidFill>
                <a:latin typeface="Trenda IG Text Semibold"/>
              </a:rPr>
              <a:t>Two-person pods</a:t>
            </a:r>
          </a:p>
        </p:txBody>
      </p:sp>
      <p:sp>
        <p:nvSpPr>
          <p:cNvPr id="67" name="Rectangle 66"/>
          <p:cNvSpPr/>
          <p:nvPr/>
        </p:nvSpPr>
        <p:spPr>
          <a:xfrm>
            <a:off x="3108960" y="4965192"/>
            <a:ext cx="731520" cy="201168"/>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08960" y="4965192"/>
            <a:ext cx="731520" cy="201168"/>
          </a:xfrm>
          <a:prstGeom prst="rect">
            <a:avLst/>
          </a:prstGeom>
          <a:noFill/>
        </p:spPr>
        <p:txBody>
          <a:bodyPr wrap="square" lIns="0" rIns="0" tIns="0" bIns="0" anchor="ctr">
            <a:spAutoFit/>
          </a:bodyPr>
          <a:lstStyle/>
          <a:p>
            <a:pPr algn="ctr">
              <a:buNone/>
            </a:pPr>
            <a:r>
              <a:rPr sz="680" spc="40">
                <a:solidFill>
                  <a:srgbClr val="FFFFFF"/>
                </a:solidFill>
                <a:latin typeface="Trenda IG Text Semibold"/>
              </a:rPr>
              <a:t>CONDITION</a:t>
            </a:r>
          </a:p>
        </p:txBody>
      </p:sp>
      <p:sp>
        <p:nvSpPr>
          <p:cNvPr id="69" name="TextBox 68"/>
          <p:cNvSpPr txBox="1"/>
          <p:nvPr/>
        </p:nvSpPr>
        <p:spPr>
          <a:xfrm>
            <a:off x="3986784" y="4864608"/>
            <a:ext cx="3474720" cy="402336"/>
          </a:xfrm>
          <a:prstGeom prst="rect">
            <a:avLst/>
          </a:prstGeom>
          <a:noFill/>
        </p:spPr>
        <p:txBody>
          <a:bodyPr wrap="square" lIns="0" rIns="0" tIns="0" bIns="0" anchor="ctr">
            <a:spAutoFit/>
          </a:bodyPr>
          <a:lstStyle/>
          <a:p>
            <a:pPr>
              <a:buNone/>
            </a:pPr>
            <a:r>
              <a:rPr sz="880">
                <a:solidFill>
                  <a:srgbClr val="5A6573"/>
                </a:solidFill>
                <a:latin typeface="Trenda IG Text"/>
              </a:rPr>
              <a:t>Depends on duties policy, support cover, review load</a:t>
            </a:r>
          </a:p>
        </p:txBody>
      </p:sp>
      <p:sp>
        <p:nvSpPr>
          <p:cNvPr id="70" name="Rectangle 69"/>
          <p:cNvSpPr/>
          <p:nvPr/>
        </p:nvSpPr>
        <p:spPr>
          <a:xfrm>
            <a:off x="7699248" y="1207008"/>
            <a:ext cx="4379976" cy="219456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882127" y="140817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065008" y="1325880"/>
            <a:ext cx="3831336" cy="274320"/>
          </a:xfrm>
          <a:prstGeom prst="rect">
            <a:avLst/>
          </a:prstGeom>
          <a:noFill/>
        </p:spPr>
        <p:txBody>
          <a:bodyPr wrap="square" lIns="0" rIns="0" tIns="0" bIns="0" anchor="t">
            <a:spAutoFit/>
          </a:bodyPr>
          <a:lstStyle/>
          <a:p>
            <a:pPr>
              <a:buNone/>
            </a:pPr>
            <a:r>
              <a:rPr sz="1350">
                <a:solidFill>
                  <a:srgbClr val="FFFFFF"/>
                </a:solidFill>
                <a:latin typeface="Trenda IG Display Bold"/>
              </a:rPr>
              <a:t>Our verdict</a:t>
            </a:r>
          </a:p>
        </p:txBody>
      </p:sp>
      <p:sp>
        <p:nvSpPr>
          <p:cNvPr id="73" name="TextBox 72"/>
          <p:cNvSpPr txBox="1"/>
          <p:nvPr/>
        </p:nvSpPr>
        <p:spPr>
          <a:xfrm>
            <a:off x="7882127" y="1682496"/>
            <a:ext cx="4014215" cy="1627631"/>
          </a:xfrm>
          <a:prstGeom prst="rect">
            <a:avLst/>
          </a:prstGeom>
          <a:noFill/>
        </p:spPr>
        <p:txBody>
          <a:bodyPr wrap="square" lIns="0" rIns="0" tIns="0" bIns="0" anchor="t">
            <a:spAutoFit/>
          </a:bodyPr>
          <a:lstStyle/>
          <a:p>
            <a:pPr marL="114300" indent="-114300">
              <a:lnSpc>
                <a:spcPct val="102000"/>
              </a:lnSpc>
              <a:spcAft>
                <a:spcPts val="700"/>
              </a:spcAft>
              <a:buChar char="•"/>
            </a:pPr>
            <a:r>
              <a:rPr sz="1000">
                <a:solidFill>
                  <a:srgbClr val="D8DEE6"/>
                </a:solidFill>
                <a:latin typeface="Trenda IG Text"/>
              </a:rPr>
              <a:t>Technology: ready or buildable now.</a:t>
            </a:r>
          </a:p>
          <a:p>
            <a:pPr marL="114300" indent="-114300">
              <a:lnSpc>
                <a:spcPct val="102000"/>
              </a:lnSpc>
              <a:spcAft>
                <a:spcPts val="700"/>
              </a:spcAft>
              <a:buChar char="•"/>
            </a:pPr>
            <a:r>
              <a:rPr sz="1000">
                <a:solidFill>
                  <a:srgbClr val="D8DEE6"/>
                </a:solidFill>
                <a:latin typeface="Trenda IG Text"/>
              </a:rPr>
              <a:t>Operating model: reachable in stages, each earned by measured results.</a:t>
            </a:r>
          </a:p>
          <a:p>
            <a:pPr marL="114300" indent="-114300">
              <a:lnSpc>
                <a:spcPct val="102000"/>
              </a:lnSpc>
              <a:spcAft>
                <a:spcPts val="700"/>
              </a:spcAft>
              <a:buChar char="•"/>
            </a:pPr>
            <a:r>
              <a:rPr sz="1000">
                <a:solidFill>
                  <a:srgbClr val="D8DEE6"/>
                </a:solidFill>
                <a:latin typeface="Trenda IG Text"/>
              </a:rPr>
              <a:t>The knowledge graph is the newest piece, and it already runs for one pod.</a:t>
            </a:r>
          </a:p>
        </p:txBody>
      </p:sp>
      <p:sp>
        <p:nvSpPr>
          <p:cNvPr id="74" name="Rectangle 73"/>
          <p:cNvSpPr/>
          <p:nvPr/>
        </p:nvSpPr>
        <p:spPr>
          <a:xfrm>
            <a:off x="7699248" y="3529584"/>
            <a:ext cx="4379976" cy="17373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882127" y="3730752"/>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065008" y="3648456"/>
            <a:ext cx="3831336" cy="274320"/>
          </a:xfrm>
          <a:prstGeom prst="rect">
            <a:avLst/>
          </a:prstGeom>
          <a:noFill/>
        </p:spPr>
        <p:txBody>
          <a:bodyPr wrap="square" lIns="0" rIns="0" tIns="0" bIns="0" anchor="t">
            <a:spAutoFit/>
          </a:bodyPr>
          <a:lstStyle/>
          <a:p>
            <a:pPr>
              <a:buNone/>
            </a:pPr>
            <a:r>
              <a:rPr sz="1350">
                <a:solidFill>
                  <a:srgbClr val="1A1A1A"/>
                </a:solidFill>
                <a:latin typeface="Trenda IG Display Bold"/>
              </a:rPr>
              <a:t>What the pilot must answer</a:t>
            </a:r>
          </a:p>
        </p:txBody>
      </p:sp>
      <p:sp>
        <p:nvSpPr>
          <p:cNvPr id="77" name="TextBox 76"/>
          <p:cNvSpPr txBox="1"/>
          <p:nvPr/>
        </p:nvSpPr>
        <p:spPr>
          <a:xfrm>
            <a:off x="7882127" y="4005072"/>
            <a:ext cx="4014215" cy="1170431"/>
          </a:xfrm>
          <a:prstGeom prst="rect">
            <a:avLst/>
          </a:prstGeom>
          <a:noFill/>
        </p:spPr>
        <p:txBody>
          <a:bodyPr wrap="square" lIns="0" rIns="0" tIns="0" bIns="0" anchor="t">
            <a:spAutoFit/>
          </a:bodyPr>
          <a:lstStyle/>
          <a:p>
            <a:pPr marL="114300" indent="-114300">
              <a:lnSpc>
                <a:spcPct val="102000"/>
              </a:lnSpc>
              <a:spcAft>
                <a:spcPts val="700"/>
              </a:spcAft>
              <a:buChar char="•"/>
            </a:pPr>
            <a:r>
              <a:rPr sz="1000">
                <a:solidFill>
                  <a:srgbClr val="1A1A1A"/>
                </a:solidFill>
                <a:latin typeface="Trenda IG Text"/>
              </a:rPr>
              <a:t>Ascension's separation-of-duties rule</a:t>
            </a:r>
          </a:p>
          <a:p>
            <a:pPr marL="114300" indent="-114300">
              <a:lnSpc>
                <a:spcPct val="102000"/>
              </a:lnSpc>
              <a:spcAft>
                <a:spcPts val="700"/>
              </a:spcAft>
              <a:buChar char="•"/>
            </a:pPr>
            <a:r>
              <a:rPr sz="1000">
                <a:solidFill>
                  <a:srgbClr val="1A1A1A"/>
                </a:solidFill>
                <a:latin typeface="Trenda IG Text"/>
              </a:rPr>
              <a:t>Production support cover in a smaller pod</a:t>
            </a:r>
          </a:p>
          <a:p>
            <a:pPr marL="114300" indent="-114300">
              <a:lnSpc>
                <a:spcPct val="102000"/>
              </a:lnSpc>
              <a:spcAft>
                <a:spcPts val="700"/>
              </a:spcAft>
              <a:buChar char="•"/>
            </a:pPr>
            <a:r>
              <a:rPr sz="1000">
                <a:solidFill>
                  <a:srgbClr val="1A1A1A"/>
                </a:solidFill>
                <a:latin typeface="Trenda IG Text"/>
              </a:rPr>
              <a:t>How much one Tech Lead can review</a:t>
            </a:r>
          </a:p>
        </p:txBody>
      </p:sp>
      <p:sp>
        <p:nvSpPr>
          <p:cNvPr id="78" name="Rectangle 77"/>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57200" y="5358384"/>
            <a:ext cx="11521440" cy="566928"/>
          </a:xfrm>
          <a:prstGeom prst="rect">
            <a:avLst/>
          </a:prstGeom>
          <a:noFill/>
        </p:spPr>
        <p:txBody>
          <a:bodyPr wrap="square" lIns="0" rIns="0" tIns="0" bIns="0" anchor="ctr">
            <a:spAutoFit/>
          </a:bodyPr>
          <a:lstStyle/>
          <a:p>
            <a:pPr>
              <a:buNone/>
            </a:pPr>
            <a:r>
              <a:rPr sz="1050">
                <a:solidFill>
                  <a:srgbClr val="1A1A1A"/>
                </a:solidFill>
                <a:latin typeface="Trenda IG Text"/>
              </a:rPr>
              <a:t>Most of the technology is already in use at Ascension or is standard integration work.</a:t>
            </a:r>
          </a:p>
        </p:txBody>
      </p:sp>
      <p:sp>
        <p:nvSpPr>
          <p:cNvPr id="81" name="Rectangle 80"/>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The one conditional item is the end-state pod size, and the pilot is designed to settle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RISKS</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The risks, and how we plan for each</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People risks first. They decide pod size.</a:t>
            </a:r>
          </a:p>
        </p:txBody>
      </p:sp>
      <p:sp>
        <p:nvSpPr>
          <p:cNvPr id="6" name="Rectangle 5"/>
          <p:cNvSpPr/>
          <p:nvPr/>
        </p:nvSpPr>
        <p:spPr>
          <a:xfrm>
            <a:off x="109728" y="1097280"/>
            <a:ext cx="2889504" cy="19659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2608" y="1298448"/>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216152"/>
            <a:ext cx="2340864" cy="274320"/>
          </a:xfrm>
          <a:prstGeom prst="rect">
            <a:avLst/>
          </a:prstGeom>
          <a:noFill/>
        </p:spPr>
        <p:txBody>
          <a:bodyPr wrap="square" lIns="0" rIns="0" tIns="0" bIns="0" anchor="t">
            <a:spAutoFit/>
          </a:bodyPr>
          <a:lstStyle/>
          <a:p>
            <a:pPr>
              <a:buNone/>
            </a:pPr>
            <a:r>
              <a:rPr sz="1350">
                <a:solidFill>
                  <a:srgbClr val="1A1A1A"/>
                </a:solidFill>
                <a:latin typeface="Trenda IG Display Bold"/>
              </a:rPr>
              <a:t>Separation of duties</a:t>
            </a:r>
          </a:p>
        </p:txBody>
      </p:sp>
      <p:sp>
        <p:nvSpPr>
          <p:cNvPr id="9" name="TextBox 8"/>
          <p:cNvSpPr txBox="1"/>
          <p:nvPr/>
        </p:nvSpPr>
        <p:spPr>
          <a:xfrm>
            <a:off x="292608" y="1572768"/>
            <a:ext cx="2523744" cy="1399031"/>
          </a:xfrm>
          <a:prstGeom prst="rect">
            <a:avLst/>
          </a:prstGeom>
          <a:noFill/>
        </p:spPr>
        <p:txBody>
          <a:bodyPr wrap="square" lIns="0" rIns="0" tIns="0" bIns="0" anchor="t">
            <a:spAutoFit/>
          </a:bodyPr>
          <a:lstStyle/>
          <a:p>
            <a:pPr>
              <a:lnSpc>
                <a:spcPct val="102000"/>
              </a:lnSpc>
              <a:spcAft>
                <a:spcPts val="700"/>
              </a:spcAft>
              <a:buNone/>
            </a:pPr>
            <a:r>
              <a:rPr sz="1150">
                <a:solidFill>
                  <a:srgbClr val="1A1A1A"/>
                </a:solidFill>
                <a:latin typeface="Trenda IG Text"/>
              </a:rPr>
              <a:t>Tech Leads review across pods; production stays with CAB.</a:t>
            </a:r>
          </a:p>
        </p:txBody>
      </p:sp>
      <p:sp>
        <p:nvSpPr>
          <p:cNvPr id="10" name="Rectangle 9"/>
          <p:cNvSpPr/>
          <p:nvPr/>
        </p:nvSpPr>
        <p:spPr>
          <a:xfrm>
            <a:off x="3136392" y="1097280"/>
            <a:ext cx="2889504" cy="19659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19272" y="1298448"/>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02152" y="1216152"/>
            <a:ext cx="2340864" cy="274320"/>
          </a:xfrm>
          <a:prstGeom prst="rect">
            <a:avLst/>
          </a:prstGeom>
          <a:noFill/>
        </p:spPr>
        <p:txBody>
          <a:bodyPr wrap="square" lIns="0" rIns="0" tIns="0" bIns="0" anchor="t">
            <a:spAutoFit/>
          </a:bodyPr>
          <a:lstStyle/>
          <a:p>
            <a:pPr>
              <a:buNone/>
            </a:pPr>
            <a:r>
              <a:rPr sz="1350">
                <a:solidFill>
                  <a:srgbClr val="1A1A1A"/>
                </a:solidFill>
                <a:latin typeface="Trenda IG Display Bold"/>
              </a:rPr>
              <a:t>Review bottleneck</a:t>
            </a:r>
          </a:p>
        </p:txBody>
      </p:sp>
      <p:sp>
        <p:nvSpPr>
          <p:cNvPr id="13" name="TextBox 12"/>
          <p:cNvSpPr txBox="1"/>
          <p:nvPr/>
        </p:nvSpPr>
        <p:spPr>
          <a:xfrm>
            <a:off x="3319272" y="1572768"/>
            <a:ext cx="2523744" cy="1399031"/>
          </a:xfrm>
          <a:prstGeom prst="rect">
            <a:avLst/>
          </a:prstGeom>
          <a:noFill/>
        </p:spPr>
        <p:txBody>
          <a:bodyPr wrap="square" lIns="0" rIns="0" tIns="0" bIns="0" anchor="t">
            <a:spAutoFit/>
          </a:bodyPr>
          <a:lstStyle/>
          <a:p>
            <a:pPr>
              <a:lnSpc>
                <a:spcPct val="102000"/>
              </a:lnSpc>
              <a:spcAft>
                <a:spcPts val="700"/>
              </a:spcAft>
              <a:buNone/>
            </a:pPr>
            <a:r>
              <a:rPr sz="1150">
                <a:solidFill>
                  <a:srgbClr val="1A1A1A"/>
                </a:solidFill>
                <a:latin typeface="Trenda IG Text"/>
              </a:rPr>
              <a:t>Review routed by risk: high to architecture, critical to security. Low-risk changes move faster.</a:t>
            </a:r>
          </a:p>
        </p:txBody>
      </p:sp>
      <p:sp>
        <p:nvSpPr>
          <p:cNvPr id="14" name="Rectangle 13"/>
          <p:cNvSpPr/>
          <p:nvPr/>
        </p:nvSpPr>
        <p:spPr>
          <a:xfrm>
            <a:off x="6163056" y="1097280"/>
            <a:ext cx="2889504" cy="19659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45936" y="1298448"/>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816" y="1216152"/>
            <a:ext cx="2340864" cy="274320"/>
          </a:xfrm>
          <a:prstGeom prst="rect">
            <a:avLst/>
          </a:prstGeom>
          <a:noFill/>
        </p:spPr>
        <p:txBody>
          <a:bodyPr wrap="square" lIns="0" rIns="0" tIns="0" bIns="0" anchor="t">
            <a:spAutoFit/>
          </a:bodyPr>
          <a:lstStyle/>
          <a:p>
            <a:pPr>
              <a:buNone/>
            </a:pPr>
            <a:r>
              <a:rPr sz="1350">
                <a:solidFill>
                  <a:srgbClr val="1A1A1A"/>
                </a:solidFill>
                <a:latin typeface="Trenda IG Display Bold"/>
              </a:rPr>
              <a:t>Leave and cover</a:t>
            </a:r>
          </a:p>
        </p:txBody>
      </p:sp>
      <p:sp>
        <p:nvSpPr>
          <p:cNvPr id="17" name="TextBox 16"/>
          <p:cNvSpPr txBox="1"/>
          <p:nvPr/>
        </p:nvSpPr>
        <p:spPr>
          <a:xfrm>
            <a:off x="6345936" y="1572768"/>
            <a:ext cx="2523744" cy="1399031"/>
          </a:xfrm>
          <a:prstGeom prst="rect">
            <a:avLst/>
          </a:prstGeom>
          <a:noFill/>
        </p:spPr>
        <p:txBody>
          <a:bodyPr wrap="square" lIns="0" rIns="0" tIns="0" bIns="0" anchor="t">
            <a:spAutoFit/>
          </a:bodyPr>
          <a:lstStyle/>
          <a:p>
            <a:pPr>
              <a:lnSpc>
                <a:spcPct val="102000"/>
              </a:lnSpc>
              <a:spcAft>
                <a:spcPts val="700"/>
              </a:spcAft>
              <a:buNone/>
            </a:pPr>
            <a:r>
              <a:rPr sz="1150">
                <a:solidFill>
                  <a:srgbClr val="1A1A1A"/>
                </a:solidFill>
                <a:latin typeface="Trenda IG Text"/>
              </a:rPr>
              <a:t>Paired pods cover each other. Designs and the graph hold the knowledge, not one person.</a:t>
            </a:r>
          </a:p>
        </p:txBody>
      </p:sp>
      <p:sp>
        <p:nvSpPr>
          <p:cNvPr id="18" name="Rectangle 17"/>
          <p:cNvSpPr/>
          <p:nvPr/>
        </p:nvSpPr>
        <p:spPr>
          <a:xfrm>
            <a:off x="9189719" y="1097280"/>
            <a:ext cx="2889504" cy="19659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372599" y="1298448"/>
            <a:ext cx="91440" cy="91440"/>
          </a:xfrm>
          <a:prstGeom prst="rect">
            <a:avLst/>
          </a:prstGeom>
          <a:solidFill>
            <a:srgbClr val="C7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55480" y="1216152"/>
            <a:ext cx="2340864" cy="274320"/>
          </a:xfrm>
          <a:prstGeom prst="rect">
            <a:avLst/>
          </a:prstGeom>
          <a:noFill/>
        </p:spPr>
        <p:txBody>
          <a:bodyPr wrap="square" lIns="0" rIns="0" tIns="0" bIns="0" anchor="t">
            <a:spAutoFit/>
          </a:bodyPr>
          <a:lstStyle/>
          <a:p>
            <a:pPr>
              <a:buNone/>
            </a:pPr>
            <a:r>
              <a:rPr sz="1350">
                <a:solidFill>
                  <a:srgbClr val="1A1A1A"/>
                </a:solidFill>
                <a:latin typeface="Trenda IG Display Bold"/>
              </a:rPr>
              <a:t>Production support</a:t>
            </a:r>
          </a:p>
        </p:txBody>
      </p:sp>
      <p:sp>
        <p:nvSpPr>
          <p:cNvPr id="21" name="TextBox 20"/>
          <p:cNvSpPr txBox="1"/>
          <p:nvPr/>
        </p:nvSpPr>
        <p:spPr>
          <a:xfrm>
            <a:off x="9372599" y="1572768"/>
            <a:ext cx="2523744" cy="1399031"/>
          </a:xfrm>
          <a:prstGeom prst="rect">
            <a:avLst/>
          </a:prstGeom>
          <a:noFill/>
        </p:spPr>
        <p:txBody>
          <a:bodyPr wrap="square" lIns="0" rIns="0" tIns="0" bIns="0" anchor="t">
            <a:spAutoFit/>
          </a:bodyPr>
          <a:lstStyle/>
          <a:p>
            <a:pPr>
              <a:lnSpc>
                <a:spcPct val="102000"/>
              </a:lnSpc>
              <a:spcAft>
                <a:spcPts val="700"/>
              </a:spcAft>
              <a:buNone/>
            </a:pPr>
            <a:r>
              <a:rPr sz="1150">
                <a:solidFill>
                  <a:srgbClr val="1A1A1A"/>
                </a:solidFill>
                <a:latin typeface="Trenda IG Text"/>
              </a:rPr>
              <a:t>A Support and RCA agent, and an on-call rota shared across merged pods.</a:t>
            </a:r>
          </a:p>
        </p:txBody>
      </p:sp>
      <p:sp>
        <p:nvSpPr>
          <p:cNvPr id="22" name="Rectangle 21"/>
          <p:cNvSpPr/>
          <p:nvPr/>
        </p:nvSpPr>
        <p:spPr>
          <a:xfrm>
            <a:off x="109728" y="3200400"/>
            <a:ext cx="2889504" cy="19659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2608" y="340156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3319272"/>
            <a:ext cx="2340864" cy="274320"/>
          </a:xfrm>
          <a:prstGeom prst="rect">
            <a:avLst/>
          </a:prstGeom>
          <a:noFill/>
        </p:spPr>
        <p:txBody>
          <a:bodyPr wrap="square" lIns="0" rIns="0" tIns="0" bIns="0" anchor="t">
            <a:spAutoFit/>
          </a:bodyPr>
          <a:lstStyle/>
          <a:p>
            <a:pPr>
              <a:buNone/>
            </a:pPr>
            <a:r>
              <a:rPr sz="1350">
                <a:solidFill>
                  <a:srgbClr val="1A1A1A"/>
                </a:solidFill>
                <a:latin typeface="Trenda IG Display Bold"/>
              </a:rPr>
              <a:t>A confident wrong answer</a:t>
            </a:r>
          </a:p>
        </p:txBody>
      </p:sp>
      <p:sp>
        <p:nvSpPr>
          <p:cNvPr id="25" name="TextBox 24"/>
          <p:cNvSpPr txBox="1"/>
          <p:nvPr/>
        </p:nvSpPr>
        <p:spPr>
          <a:xfrm>
            <a:off x="292608" y="3675887"/>
            <a:ext cx="2523744" cy="1399031"/>
          </a:xfrm>
          <a:prstGeom prst="rect">
            <a:avLst/>
          </a:prstGeom>
          <a:noFill/>
        </p:spPr>
        <p:txBody>
          <a:bodyPr wrap="square" lIns="0" rIns="0" tIns="0" bIns="0" anchor="t">
            <a:spAutoFit/>
          </a:bodyPr>
          <a:lstStyle/>
          <a:p>
            <a:pPr>
              <a:lnSpc>
                <a:spcPct val="102000"/>
              </a:lnSpc>
              <a:spcAft>
                <a:spcPts val="700"/>
              </a:spcAft>
              <a:buNone/>
            </a:pPr>
            <a:r>
              <a:rPr sz="1150">
                <a:solidFill>
                  <a:srgbClr val="1A1A1A"/>
                </a:solidFill>
                <a:latin typeface="Trenda IG Text"/>
              </a:rPr>
              <a:t>Every verdict shows its evidence. Tests and review run before any merge.</a:t>
            </a:r>
          </a:p>
        </p:txBody>
      </p:sp>
      <p:sp>
        <p:nvSpPr>
          <p:cNvPr id="26" name="Rectangle 25"/>
          <p:cNvSpPr/>
          <p:nvPr/>
        </p:nvSpPr>
        <p:spPr>
          <a:xfrm>
            <a:off x="3136392" y="3200400"/>
            <a:ext cx="2889504" cy="19659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19272" y="340156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02152" y="3319272"/>
            <a:ext cx="2340864" cy="274320"/>
          </a:xfrm>
          <a:prstGeom prst="rect">
            <a:avLst/>
          </a:prstGeom>
          <a:noFill/>
        </p:spPr>
        <p:txBody>
          <a:bodyPr wrap="square" lIns="0" rIns="0" tIns="0" bIns="0" anchor="t">
            <a:spAutoFit/>
          </a:bodyPr>
          <a:lstStyle/>
          <a:p>
            <a:pPr>
              <a:buNone/>
            </a:pPr>
            <a:r>
              <a:rPr sz="1350">
                <a:solidFill>
                  <a:srgbClr val="1A1A1A"/>
                </a:solidFill>
                <a:latin typeface="Trenda IG Display Bold"/>
              </a:rPr>
              <a:t>Graph out of date</a:t>
            </a:r>
          </a:p>
        </p:txBody>
      </p:sp>
      <p:sp>
        <p:nvSpPr>
          <p:cNvPr id="29" name="TextBox 28"/>
          <p:cNvSpPr txBox="1"/>
          <p:nvPr/>
        </p:nvSpPr>
        <p:spPr>
          <a:xfrm>
            <a:off x="3319272" y="3675887"/>
            <a:ext cx="2523744" cy="1399031"/>
          </a:xfrm>
          <a:prstGeom prst="rect">
            <a:avLst/>
          </a:prstGeom>
          <a:noFill/>
        </p:spPr>
        <p:txBody>
          <a:bodyPr wrap="square" lIns="0" rIns="0" tIns="0" bIns="0" anchor="t">
            <a:spAutoFit/>
          </a:bodyPr>
          <a:lstStyle/>
          <a:p>
            <a:pPr>
              <a:lnSpc>
                <a:spcPct val="102000"/>
              </a:lnSpc>
              <a:spcAft>
                <a:spcPts val="700"/>
              </a:spcAft>
              <a:buNone/>
            </a:pPr>
            <a:r>
              <a:rPr sz="1150">
                <a:solidFill>
                  <a:srgbClr val="1A1A1A"/>
                </a:solidFill>
                <a:latin typeface="Trenda IG Text"/>
              </a:rPr>
              <a:t>Re-synced after every deployment and nightly. Each answer names the snapshot it used.</a:t>
            </a:r>
          </a:p>
        </p:txBody>
      </p:sp>
      <p:sp>
        <p:nvSpPr>
          <p:cNvPr id="30" name="Rectangle 29"/>
          <p:cNvSpPr/>
          <p:nvPr/>
        </p:nvSpPr>
        <p:spPr>
          <a:xfrm>
            <a:off x="6163056" y="3200400"/>
            <a:ext cx="2889504" cy="19659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45936" y="340156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28816" y="3319272"/>
            <a:ext cx="2340864" cy="274320"/>
          </a:xfrm>
          <a:prstGeom prst="rect">
            <a:avLst/>
          </a:prstGeom>
          <a:noFill/>
        </p:spPr>
        <p:txBody>
          <a:bodyPr wrap="square" lIns="0" rIns="0" tIns="0" bIns="0" anchor="t">
            <a:spAutoFit/>
          </a:bodyPr>
          <a:lstStyle/>
          <a:p>
            <a:pPr>
              <a:buNone/>
            </a:pPr>
            <a:r>
              <a:rPr sz="1350">
                <a:solidFill>
                  <a:srgbClr val="1A1A1A"/>
                </a:solidFill>
                <a:latin typeface="Trenda IG Display Bold"/>
              </a:rPr>
              <a:t>Patient data and security</a:t>
            </a:r>
          </a:p>
        </p:txBody>
      </p:sp>
      <p:sp>
        <p:nvSpPr>
          <p:cNvPr id="33" name="TextBox 32"/>
          <p:cNvSpPr txBox="1"/>
          <p:nvPr/>
        </p:nvSpPr>
        <p:spPr>
          <a:xfrm>
            <a:off x="6345936" y="3675887"/>
            <a:ext cx="2523744" cy="1399031"/>
          </a:xfrm>
          <a:prstGeom prst="rect">
            <a:avLst/>
          </a:prstGeom>
          <a:noFill/>
        </p:spPr>
        <p:txBody>
          <a:bodyPr wrap="square" lIns="0" rIns="0" tIns="0" bIns="0" anchor="t">
            <a:spAutoFit/>
          </a:bodyPr>
          <a:lstStyle/>
          <a:p>
            <a:pPr>
              <a:lnSpc>
                <a:spcPct val="102000"/>
              </a:lnSpc>
              <a:spcAft>
                <a:spcPts val="700"/>
              </a:spcAft>
              <a:buNone/>
            </a:pPr>
            <a:r>
              <a:rPr sz="1150">
                <a:solidFill>
                  <a:srgbClr val="1A1A1A"/>
                </a:solidFill>
                <a:latin typeface="Trenda IG Text"/>
              </a:rPr>
              <a:t>Metadata only, sandbox credentials only, least-privilege service accounts.</a:t>
            </a:r>
          </a:p>
        </p:txBody>
      </p:sp>
      <p:sp>
        <p:nvSpPr>
          <p:cNvPr id="34" name="Rectangle 33"/>
          <p:cNvSpPr/>
          <p:nvPr/>
        </p:nvSpPr>
        <p:spPr>
          <a:xfrm>
            <a:off x="9189719" y="3200400"/>
            <a:ext cx="2889504" cy="196596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372599" y="340156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55480" y="3319272"/>
            <a:ext cx="2340864" cy="274320"/>
          </a:xfrm>
          <a:prstGeom prst="rect">
            <a:avLst/>
          </a:prstGeom>
          <a:noFill/>
        </p:spPr>
        <p:txBody>
          <a:bodyPr wrap="square" lIns="0" rIns="0" tIns="0" bIns="0" anchor="t">
            <a:spAutoFit/>
          </a:bodyPr>
          <a:lstStyle/>
          <a:p>
            <a:pPr>
              <a:buNone/>
            </a:pPr>
            <a:r>
              <a:rPr sz="1350">
                <a:solidFill>
                  <a:srgbClr val="1A1A1A"/>
                </a:solidFill>
                <a:latin typeface="Trenda IG Display Bold"/>
              </a:rPr>
              <a:t>Model lock-in</a:t>
            </a:r>
          </a:p>
        </p:txBody>
      </p:sp>
      <p:sp>
        <p:nvSpPr>
          <p:cNvPr id="37" name="TextBox 36"/>
          <p:cNvSpPr txBox="1"/>
          <p:nvPr/>
        </p:nvSpPr>
        <p:spPr>
          <a:xfrm>
            <a:off x="9372599" y="3675887"/>
            <a:ext cx="2523744" cy="1399031"/>
          </a:xfrm>
          <a:prstGeom prst="rect">
            <a:avLst/>
          </a:prstGeom>
          <a:noFill/>
        </p:spPr>
        <p:txBody>
          <a:bodyPr wrap="square" lIns="0" rIns="0" tIns="0" bIns="0" anchor="t">
            <a:spAutoFit/>
          </a:bodyPr>
          <a:lstStyle/>
          <a:p>
            <a:pPr>
              <a:lnSpc>
                <a:spcPct val="102000"/>
              </a:lnSpc>
              <a:spcAft>
                <a:spcPts val="700"/>
              </a:spcAft>
              <a:buNone/>
            </a:pPr>
            <a:r>
              <a:rPr sz="1150">
                <a:solidFill>
                  <a:srgbClr val="1A1A1A"/>
                </a:solidFill>
                <a:latin typeface="Trenda IG Text"/>
              </a:rPr>
              <a:t>Agents reach tools through MCP, an open standard, so the model can be swapped.</a:t>
            </a:r>
          </a:p>
        </p:txBody>
      </p:sp>
      <p:sp>
        <p:nvSpPr>
          <p:cNvPr id="38" name="Rectangle 37"/>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5358384"/>
            <a:ext cx="11521440" cy="566928"/>
          </a:xfrm>
          <a:prstGeom prst="rect">
            <a:avLst/>
          </a:prstGeom>
          <a:noFill/>
        </p:spPr>
        <p:txBody>
          <a:bodyPr wrap="square" lIns="0" rIns="0" tIns="0" bIns="0" anchor="ctr">
            <a:spAutoFit/>
          </a:bodyPr>
          <a:lstStyle/>
          <a:p>
            <a:pPr>
              <a:buNone/>
            </a:pPr>
            <a:r>
              <a:rPr sz="1000">
                <a:solidFill>
                  <a:srgbClr val="1A1A1A"/>
                </a:solidFill>
                <a:latin typeface="Trenda IG Text"/>
              </a:rPr>
              <a:t>Top row: people and process, which decide how small a pod can safely be. Bottom row: technology, each with a built-in control.</a:t>
            </a:r>
          </a:p>
        </p:txBody>
      </p:sp>
      <p:sp>
        <p:nvSpPr>
          <p:cNvPr id="41" name="Rectangle 40"/>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We will confirm Ascension's separation-of-duties rule in the first weeks of the pilot.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ROADMAP</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Prove it on one pod, then scale</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Proposed timeline. Depends on access.</a:t>
            </a:r>
          </a:p>
        </p:txBody>
      </p:sp>
      <p:sp>
        <p:nvSpPr>
          <p:cNvPr id="6" name="Rectangle 5"/>
          <p:cNvSpPr/>
          <p:nvPr/>
        </p:nvSpPr>
        <p:spPr>
          <a:xfrm>
            <a:off x="109728" y="1097280"/>
            <a:ext cx="2306116" cy="685800"/>
          </a:xfrm>
          <a:prstGeom prst="rect">
            <a:avLst/>
          </a:prstGeom>
          <a:solidFill>
            <a:srgbClr val="0E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6888" y="1161288"/>
            <a:ext cx="2031796" cy="201168"/>
          </a:xfrm>
          <a:prstGeom prst="rect">
            <a:avLst/>
          </a:prstGeom>
          <a:noFill/>
        </p:spPr>
        <p:txBody>
          <a:bodyPr wrap="square" lIns="0" rIns="0" tIns="0" bIns="0" anchor="t">
            <a:spAutoFit/>
          </a:bodyPr>
          <a:lstStyle/>
          <a:p>
            <a:pPr>
              <a:buNone/>
            </a:pPr>
            <a:r>
              <a:rPr sz="850" spc="40">
                <a:solidFill>
                  <a:srgbClr val="FFFFFF"/>
                </a:solidFill>
                <a:latin typeface="Trenda IG Text Semibold"/>
              </a:rPr>
              <a:t>DONE · ABOUT 30%</a:t>
            </a:r>
          </a:p>
        </p:txBody>
      </p:sp>
      <p:sp>
        <p:nvSpPr>
          <p:cNvPr id="8" name="TextBox 7"/>
          <p:cNvSpPr txBox="1"/>
          <p:nvPr/>
        </p:nvSpPr>
        <p:spPr>
          <a:xfrm>
            <a:off x="246888" y="1371600"/>
            <a:ext cx="2031796" cy="320040"/>
          </a:xfrm>
          <a:prstGeom prst="rect">
            <a:avLst/>
          </a:prstGeom>
          <a:noFill/>
        </p:spPr>
        <p:txBody>
          <a:bodyPr wrap="square" lIns="0" rIns="0" tIns="0" bIns="0" anchor="t">
            <a:spAutoFit/>
          </a:bodyPr>
          <a:lstStyle/>
          <a:p>
            <a:pPr>
              <a:buNone/>
            </a:pPr>
            <a:r>
              <a:rPr sz="1350">
                <a:solidFill>
                  <a:srgbClr val="FFFFFF"/>
                </a:solidFill>
                <a:latin typeface="Trenda IG Display Bold"/>
              </a:rPr>
              <a:t>Foundations</a:t>
            </a:r>
          </a:p>
        </p:txBody>
      </p:sp>
      <p:sp>
        <p:nvSpPr>
          <p:cNvPr id="9" name="Rectangle 8"/>
          <p:cNvSpPr/>
          <p:nvPr/>
        </p:nvSpPr>
        <p:spPr>
          <a:xfrm>
            <a:off x="109728" y="1783080"/>
            <a:ext cx="2306116" cy="2697480"/>
          </a:xfrm>
          <a:prstGeom prst="rect">
            <a:avLst/>
          </a:prstGeom>
          <a:solidFill>
            <a:srgbClr val="E5F4F1"/>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 y="1938528"/>
            <a:ext cx="2031796" cy="2468880"/>
          </a:xfrm>
          <a:prstGeom prst="rect">
            <a:avLst/>
          </a:prstGeom>
          <a:noFill/>
        </p:spPr>
        <p:txBody>
          <a:bodyPr wrap="square" lIns="0" rIns="0" tIns="0" bIns="0" anchor="t">
            <a:spAutoFit/>
          </a:bodyPr>
          <a:lstStyle/>
          <a:p>
            <a:pPr marL="114300" indent="-114300">
              <a:spcAft>
                <a:spcPts val="1000"/>
              </a:spcAft>
              <a:buChar char="•"/>
            </a:pPr>
            <a:r>
              <a:rPr sz="1150">
                <a:solidFill>
                  <a:srgbClr val="1A1A1A"/>
                </a:solidFill>
                <a:latin typeface="Trenda IG Text"/>
              </a:rPr>
              <a:t>Graph built in a sandbox for Network Services</a:t>
            </a:r>
          </a:p>
          <a:p>
            <a:pPr marL="114300" indent="-114300">
              <a:spcAft>
                <a:spcPts val="1000"/>
              </a:spcAft>
              <a:buChar char="•"/>
            </a:pPr>
            <a:r>
              <a:rPr sz="1150">
                <a:solidFill>
                  <a:srgbClr val="1A1A1A"/>
                </a:solidFill>
                <a:latin typeface="Trenda IG Text"/>
              </a:rPr>
              <a:t>Duplicate and impact checks working</a:t>
            </a:r>
          </a:p>
          <a:p>
            <a:pPr marL="114300" indent="-114300">
              <a:spcAft>
                <a:spcPts val="1000"/>
              </a:spcAft>
              <a:buChar char="•"/>
            </a:pPr>
            <a:r>
              <a:rPr sz="1150">
                <a:solidFill>
                  <a:srgbClr val="1A1A1A"/>
                </a:solidFill>
                <a:latin typeface="Trenda IG Text"/>
              </a:rPr>
              <a:t>Flow internals proven readable</a:t>
            </a:r>
          </a:p>
        </p:txBody>
      </p:sp>
      <p:sp>
        <p:nvSpPr>
          <p:cNvPr id="11" name="Rectangle 10"/>
          <p:cNvSpPr/>
          <p:nvPr/>
        </p:nvSpPr>
        <p:spPr>
          <a:xfrm>
            <a:off x="2525572" y="1097280"/>
            <a:ext cx="2306116" cy="68580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62732" y="1161288"/>
            <a:ext cx="2031796" cy="201168"/>
          </a:xfrm>
          <a:prstGeom prst="rect">
            <a:avLst/>
          </a:prstGeom>
          <a:noFill/>
        </p:spPr>
        <p:txBody>
          <a:bodyPr wrap="square" lIns="0" rIns="0" tIns="0" bIns="0" anchor="t">
            <a:spAutoFit/>
          </a:bodyPr>
          <a:lstStyle/>
          <a:p>
            <a:pPr>
              <a:buNone/>
            </a:pPr>
            <a:r>
              <a:rPr sz="850" spc="40">
                <a:solidFill>
                  <a:srgbClr val="FFFFFF"/>
                </a:solidFill>
                <a:latin typeface="Trenda IG Text Semibold"/>
              </a:rPr>
              <a:t>MONTHS 1–2</a:t>
            </a:r>
          </a:p>
        </p:txBody>
      </p:sp>
      <p:sp>
        <p:nvSpPr>
          <p:cNvPr id="13" name="TextBox 12"/>
          <p:cNvSpPr txBox="1"/>
          <p:nvPr/>
        </p:nvSpPr>
        <p:spPr>
          <a:xfrm>
            <a:off x="2662732" y="1371600"/>
            <a:ext cx="2031796" cy="320040"/>
          </a:xfrm>
          <a:prstGeom prst="rect">
            <a:avLst/>
          </a:prstGeom>
          <a:noFill/>
        </p:spPr>
        <p:txBody>
          <a:bodyPr wrap="square" lIns="0" rIns="0" tIns="0" bIns="0" anchor="t">
            <a:spAutoFit/>
          </a:bodyPr>
          <a:lstStyle/>
          <a:p>
            <a:pPr>
              <a:buNone/>
            </a:pPr>
            <a:r>
              <a:rPr sz="1350">
                <a:solidFill>
                  <a:srgbClr val="FFFFFF"/>
                </a:solidFill>
                <a:latin typeface="Trenda IG Display Bold"/>
              </a:rPr>
              <a:t>Platform</a:t>
            </a:r>
          </a:p>
        </p:txBody>
      </p:sp>
      <p:sp>
        <p:nvSpPr>
          <p:cNvPr id="14" name="Rectangle 13"/>
          <p:cNvSpPr/>
          <p:nvPr/>
        </p:nvSpPr>
        <p:spPr>
          <a:xfrm>
            <a:off x="2525572" y="1783080"/>
            <a:ext cx="2306116" cy="269748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62732" y="1938528"/>
            <a:ext cx="2031796" cy="2468880"/>
          </a:xfrm>
          <a:prstGeom prst="rect">
            <a:avLst/>
          </a:prstGeom>
          <a:noFill/>
        </p:spPr>
        <p:txBody>
          <a:bodyPr wrap="square" lIns="0" rIns="0" tIns="0" bIns="0" anchor="t">
            <a:spAutoFit/>
          </a:bodyPr>
          <a:lstStyle/>
          <a:p>
            <a:pPr marL="114300" indent="-114300">
              <a:spcAft>
                <a:spcPts val="1000"/>
              </a:spcAft>
              <a:buChar char="•"/>
            </a:pPr>
            <a:r>
              <a:rPr sz="1150">
                <a:solidFill>
                  <a:srgbClr val="1A1A1A"/>
                </a:solidFill>
                <a:latin typeface="Trenda IG Text"/>
              </a:rPr>
              <a:t>Graph on Google Cloud, whole org</a:t>
            </a:r>
          </a:p>
          <a:p>
            <a:pPr marL="114300" indent="-114300">
              <a:spcAft>
                <a:spcPts val="1000"/>
              </a:spcAft>
              <a:buChar char="•"/>
            </a:pPr>
            <a:r>
              <a:rPr sz="1150">
                <a:solidFill>
                  <a:srgbClr val="1A1A1A"/>
                </a:solidFill>
                <a:latin typeface="Trenda IG Text"/>
              </a:rPr>
              <a:t>Codex connected to the graph</a:t>
            </a:r>
          </a:p>
          <a:p>
            <a:pPr marL="114300" indent="-114300">
              <a:spcAft>
                <a:spcPts val="1000"/>
              </a:spcAft>
              <a:buChar char="•"/>
            </a:pPr>
            <a:r>
              <a:rPr sz="1150">
                <a:solidFill>
                  <a:srgbClr val="1A1A1A"/>
                </a:solidFill>
                <a:latin typeface="Trenda IG Text"/>
              </a:rPr>
              <a:t>Jira and Confluence agents writing</a:t>
            </a:r>
          </a:p>
        </p:txBody>
      </p:sp>
      <p:sp>
        <p:nvSpPr>
          <p:cNvPr id="16" name="Rectangle 15"/>
          <p:cNvSpPr/>
          <p:nvPr/>
        </p:nvSpPr>
        <p:spPr>
          <a:xfrm>
            <a:off x="4941417" y="1097280"/>
            <a:ext cx="2306116" cy="685800"/>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8577" y="1161288"/>
            <a:ext cx="2031796" cy="201168"/>
          </a:xfrm>
          <a:prstGeom prst="rect">
            <a:avLst/>
          </a:prstGeom>
          <a:noFill/>
        </p:spPr>
        <p:txBody>
          <a:bodyPr wrap="square" lIns="0" rIns="0" tIns="0" bIns="0" anchor="t">
            <a:spAutoFit/>
          </a:bodyPr>
          <a:lstStyle/>
          <a:p>
            <a:pPr>
              <a:buNone/>
            </a:pPr>
            <a:r>
              <a:rPr sz="850" spc="40">
                <a:solidFill>
                  <a:srgbClr val="FFFFFF"/>
                </a:solidFill>
                <a:latin typeface="Trenda IG Text Semibold"/>
              </a:rPr>
              <a:t>MONTHS 3–4</a:t>
            </a:r>
          </a:p>
        </p:txBody>
      </p:sp>
      <p:sp>
        <p:nvSpPr>
          <p:cNvPr id="18" name="TextBox 17"/>
          <p:cNvSpPr txBox="1"/>
          <p:nvPr/>
        </p:nvSpPr>
        <p:spPr>
          <a:xfrm>
            <a:off x="5078577" y="1371600"/>
            <a:ext cx="2031796" cy="320040"/>
          </a:xfrm>
          <a:prstGeom prst="rect">
            <a:avLst/>
          </a:prstGeom>
          <a:noFill/>
        </p:spPr>
        <p:txBody>
          <a:bodyPr wrap="square" lIns="0" rIns="0" tIns="0" bIns="0" anchor="t">
            <a:spAutoFit/>
          </a:bodyPr>
          <a:lstStyle/>
          <a:p>
            <a:pPr>
              <a:buNone/>
            </a:pPr>
            <a:r>
              <a:rPr sz="1350">
                <a:solidFill>
                  <a:srgbClr val="FFFFFF"/>
                </a:solidFill>
                <a:latin typeface="Trenda IG Display Bold"/>
              </a:rPr>
              <a:t>Pilot</a:t>
            </a:r>
          </a:p>
        </p:txBody>
      </p:sp>
      <p:sp>
        <p:nvSpPr>
          <p:cNvPr id="19" name="Rectangle 18"/>
          <p:cNvSpPr/>
          <p:nvPr/>
        </p:nvSpPr>
        <p:spPr>
          <a:xfrm>
            <a:off x="4941417" y="1783080"/>
            <a:ext cx="2306116" cy="269748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78577" y="1938528"/>
            <a:ext cx="2031796" cy="2468880"/>
          </a:xfrm>
          <a:prstGeom prst="rect">
            <a:avLst/>
          </a:prstGeom>
          <a:noFill/>
        </p:spPr>
        <p:txBody>
          <a:bodyPr wrap="square" lIns="0" rIns="0" tIns="0" bIns="0" anchor="t">
            <a:spAutoFit/>
          </a:bodyPr>
          <a:lstStyle/>
          <a:p>
            <a:pPr marL="114300" indent="-114300">
              <a:spcAft>
                <a:spcPts val="1000"/>
              </a:spcAft>
              <a:buChar char="•"/>
            </a:pPr>
            <a:r>
              <a:rPr sz="1150">
                <a:solidFill>
                  <a:srgbClr val="1A1A1A"/>
                </a:solidFill>
                <a:latin typeface="Trenda IG Text"/>
              </a:rPr>
              <a:t>Full loop on 10–15 Network Services tickets</a:t>
            </a:r>
          </a:p>
          <a:p>
            <a:pPr marL="114300" indent="-114300">
              <a:spcAft>
                <a:spcPts val="1000"/>
              </a:spcAft>
              <a:buChar char="•"/>
            </a:pPr>
            <a:r>
              <a:rPr sz="1150">
                <a:solidFill>
                  <a:srgbClr val="1A1A1A"/>
                </a:solidFill>
                <a:latin typeface="Trenda IG Text"/>
              </a:rPr>
              <a:t>Deployment and test agents on Copado</a:t>
            </a:r>
          </a:p>
          <a:p>
            <a:pPr marL="114300" indent="-114300">
              <a:spcAft>
                <a:spcPts val="1000"/>
              </a:spcAft>
              <a:buChar char="•"/>
            </a:pPr>
            <a:r>
              <a:rPr sz="1150">
                <a:solidFill>
                  <a:srgbClr val="1A1A1A"/>
                </a:solidFill>
                <a:latin typeface="Trenda IG Text"/>
              </a:rPr>
              <a:t>Measured against today's baseline</a:t>
            </a:r>
          </a:p>
        </p:txBody>
      </p:sp>
      <p:sp>
        <p:nvSpPr>
          <p:cNvPr id="21" name="Rectangle 20"/>
          <p:cNvSpPr/>
          <p:nvPr/>
        </p:nvSpPr>
        <p:spPr>
          <a:xfrm>
            <a:off x="7357262" y="1097280"/>
            <a:ext cx="2306116" cy="685800"/>
          </a:xfrm>
          <a:prstGeom prst="rect">
            <a:avLst/>
          </a:prstGeom>
          <a:solidFill>
            <a:srgbClr val="C218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4422" y="1161288"/>
            <a:ext cx="2031796" cy="201168"/>
          </a:xfrm>
          <a:prstGeom prst="rect">
            <a:avLst/>
          </a:prstGeom>
          <a:noFill/>
        </p:spPr>
        <p:txBody>
          <a:bodyPr wrap="square" lIns="0" rIns="0" tIns="0" bIns="0" anchor="t">
            <a:spAutoFit/>
          </a:bodyPr>
          <a:lstStyle/>
          <a:p>
            <a:pPr>
              <a:buNone/>
            </a:pPr>
            <a:r>
              <a:rPr sz="850" spc="40">
                <a:solidFill>
                  <a:srgbClr val="FFFFFF"/>
                </a:solidFill>
                <a:latin typeface="Trenda IG Text Semibold"/>
              </a:rPr>
              <a:t>MONTHS 5–9</a:t>
            </a:r>
          </a:p>
        </p:txBody>
      </p:sp>
      <p:sp>
        <p:nvSpPr>
          <p:cNvPr id="23" name="TextBox 22"/>
          <p:cNvSpPr txBox="1"/>
          <p:nvPr/>
        </p:nvSpPr>
        <p:spPr>
          <a:xfrm>
            <a:off x="7494422" y="1371600"/>
            <a:ext cx="2031796" cy="320040"/>
          </a:xfrm>
          <a:prstGeom prst="rect">
            <a:avLst/>
          </a:prstGeom>
          <a:noFill/>
        </p:spPr>
        <p:txBody>
          <a:bodyPr wrap="square" lIns="0" rIns="0" tIns="0" bIns="0" anchor="t">
            <a:spAutoFit/>
          </a:bodyPr>
          <a:lstStyle/>
          <a:p>
            <a:pPr>
              <a:buNone/>
            </a:pPr>
            <a:r>
              <a:rPr sz="1350">
                <a:solidFill>
                  <a:srgbClr val="FFFFFF"/>
                </a:solidFill>
                <a:latin typeface="Trenda IG Display Bold"/>
              </a:rPr>
              <a:t>First tile</a:t>
            </a:r>
          </a:p>
        </p:txBody>
      </p:sp>
      <p:sp>
        <p:nvSpPr>
          <p:cNvPr id="24" name="Rectangle 23"/>
          <p:cNvSpPr/>
          <p:nvPr/>
        </p:nvSpPr>
        <p:spPr>
          <a:xfrm>
            <a:off x="7357262" y="1783080"/>
            <a:ext cx="2306116" cy="269748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4422" y="1938528"/>
            <a:ext cx="2031796" cy="2468880"/>
          </a:xfrm>
          <a:prstGeom prst="rect">
            <a:avLst/>
          </a:prstGeom>
          <a:noFill/>
        </p:spPr>
        <p:txBody>
          <a:bodyPr wrap="square" lIns="0" rIns="0" tIns="0" bIns="0" anchor="t">
            <a:spAutoFit/>
          </a:bodyPr>
          <a:lstStyle/>
          <a:p>
            <a:pPr marL="114300" indent="-114300">
              <a:spcAft>
                <a:spcPts val="1000"/>
              </a:spcAft>
              <a:buChar char="•"/>
            </a:pPr>
            <a:r>
              <a:rPr sz="1150">
                <a:solidFill>
                  <a:srgbClr val="1A1A1A"/>
                </a:solidFill>
                <a:latin typeface="Trenda IG Text"/>
              </a:rPr>
              <a:t>Pods merged into agentic pods</a:t>
            </a:r>
          </a:p>
          <a:p>
            <a:pPr marL="114300" indent="-114300">
              <a:spcAft>
                <a:spcPts val="1000"/>
              </a:spcAft>
              <a:buChar char="•"/>
            </a:pPr>
            <a:r>
              <a:rPr sz="1150">
                <a:solidFill>
                  <a:srgbClr val="1A1A1A"/>
                </a:solidFill>
                <a:latin typeface="Trenda IG Text"/>
              </a:rPr>
              <a:t>Review depth tuned by risk</a:t>
            </a:r>
          </a:p>
          <a:p>
            <a:pPr marL="114300" indent="-114300">
              <a:spcAft>
                <a:spcPts val="1000"/>
              </a:spcAft>
              <a:buChar char="•"/>
            </a:pPr>
            <a:r>
              <a:rPr sz="1150">
                <a:solidFill>
                  <a:srgbClr val="1A1A1A"/>
                </a:solidFill>
                <a:latin typeface="Trenda IG Text"/>
              </a:rPr>
              <a:t>Support and RCA agent live</a:t>
            </a:r>
          </a:p>
        </p:txBody>
      </p:sp>
      <p:sp>
        <p:nvSpPr>
          <p:cNvPr id="26" name="Rectangle 25"/>
          <p:cNvSpPr/>
          <p:nvPr/>
        </p:nvSpPr>
        <p:spPr>
          <a:xfrm>
            <a:off x="9773107" y="1097280"/>
            <a:ext cx="2306116" cy="685800"/>
          </a:xfrm>
          <a:prstGeom prst="rect">
            <a:avLst/>
          </a:prstGeom>
          <a:solidFill>
            <a:srgbClr val="007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10267" y="1161288"/>
            <a:ext cx="2031796" cy="201168"/>
          </a:xfrm>
          <a:prstGeom prst="rect">
            <a:avLst/>
          </a:prstGeom>
          <a:noFill/>
        </p:spPr>
        <p:txBody>
          <a:bodyPr wrap="square" lIns="0" rIns="0" tIns="0" bIns="0" anchor="t">
            <a:spAutoFit/>
          </a:bodyPr>
          <a:lstStyle/>
          <a:p>
            <a:pPr>
              <a:buNone/>
            </a:pPr>
            <a:r>
              <a:rPr sz="850" spc="40">
                <a:solidFill>
                  <a:srgbClr val="FFFFFF"/>
                </a:solidFill>
                <a:latin typeface="Trenda IG Text Semibold"/>
              </a:rPr>
              <a:t>MONTHS 10–12+</a:t>
            </a:r>
          </a:p>
        </p:txBody>
      </p:sp>
      <p:sp>
        <p:nvSpPr>
          <p:cNvPr id="28" name="TextBox 27"/>
          <p:cNvSpPr txBox="1"/>
          <p:nvPr/>
        </p:nvSpPr>
        <p:spPr>
          <a:xfrm>
            <a:off x="9910267" y="1371600"/>
            <a:ext cx="2031796" cy="320040"/>
          </a:xfrm>
          <a:prstGeom prst="rect">
            <a:avLst/>
          </a:prstGeom>
          <a:noFill/>
        </p:spPr>
        <p:txBody>
          <a:bodyPr wrap="square" lIns="0" rIns="0" tIns="0" bIns="0" anchor="t">
            <a:spAutoFit/>
          </a:bodyPr>
          <a:lstStyle/>
          <a:p>
            <a:pPr>
              <a:buNone/>
            </a:pPr>
            <a:r>
              <a:rPr sz="1350">
                <a:solidFill>
                  <a:srgbClr val="FFFFFF"/>
                </a:solidFill>
                <a:latin typeface="Trenda IG Display Bold"/>
              </a:rPr>
              <a:t>Second tile</a:t>
            </a:r>
          </a:p>
        </p:txBody>
      </p:sp>
      <p:sp>
        <p:nvSpPr>
          <p:cNvPr id="29" name="Rectangle 28"/>
          <p:cNvSpPr/>
          <p:nvPr/>
        </p:nvSpPr>
        <p:spPr>
          <a:xfrm>
            <a:off x="9773107" y="1783080"/>
            <a:ext cx="2306116" cy="269748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10267" y="1938528"/>
            <a:ext cx="2031796" cy="2468880"/>
          </a:xfrm>
          <a:prstGeom prst="rect">
            <a:avLst/>
          </a:prstGeom>
          <a:noFill/>
        </p:spPr>
        <p:txBody>
          <a:bodyPr wrap="square" lIns="0" rIns="0" tIns="0" bIns="0" anchor="t">
            <a:spAutoFit/>
          </a:bodyPr>
          <a:lstStyle/>
          <a:p>
            <a:pPr marL="114300" indent="-114300">
              <a:spcAft>
                <a:spcPts val="1000"/>
              </a:spcAft>
              <a:buChar char="•"/>
            </a:pPr>
            <a:r>
              <a:rPr sz="1150">
                <a:solidFill>
                  <a:srgbClr val="1A1A1A"/>
                </a:solidFill>
                <a:latin typeface="Trenda IG Text"/>
              </a:rPr>
              <a:t>Second tile follows</a:t>
            </a:r>
          </a:p>
          <a:p>
            <a:pPr marL="114300" indent="-114300">
              <a:spcAft>
                <a:spcPts val="1000"/>
              </a:spcAft>
              <a:buChar char="•"/>
            </a:pPr>
            <a:r>
              <a:rPr sz="1150">
                <a:solidFill>
                  <a:srgbClr val="1A1A1A"/>
                </a:solidFill>
                <a:latin typeface="Trenda IG Text"/>
              </a:rPr>
              <a:t>Agent-native pods where results allow</a:t>
            </a:r>
          </a:p>
          <a:p>
            <a:pPr marL="114300" indent="-114300">
              <a:spcAft>
                <a:spcPts val="1000"/>
              </a:spcAft>
              <a:buChar char="•"/>
            </a:pPr>
            <a:r>
              <a:rPr sz="1150">
                <a:solidFill>
                  <a:srgbClr val="1A1A1A"/>
                </a:solidFill>
                <a:latin typeface="Trenda IG Text"/>
              </a:rPr>
              <a:t>Platform team runs the agents</a:t>
            </a:r>
          </a:p>
        </p:txBody>
      </p:sp>
      <p:sp>
        <p:nvSpPr>
          <p:cNvPr id="31" name="TextBox 30"/>
          <p:cNvSpPr txBox="1"/>
          <p:nvPr/>
        </p:nvSpPr>
        <p:spPr>
          <a:xfrm>
            <a:off x="109728" y="4645152"/>
            <a:ext cx="2306116" cy="457200"/>
          </a:xfrm>
          <a:prstGeom prst="rect">
            <a:avLst/>
          </a:prstGeom>
          <a:noFill/>
        </p:spPr>
        <p:txBody>
          <a:bodyPr wrap="square" lIns="0" rIns="0" tIns="0" bIns="0" anchor="ctr">
            <a:spAutoFit/>
          </a:bodyPr>
          <a:lstStyle/>
          <a:p>
            <a:pPr algn="ctr">
              <a:buNone/>
            </a:pPr>
            <a:r>
              <a:rPr sz="950">
                <a:solidFill>
                  <a:srgbClr val="5A6573"/>
                </a:solidFill>
                <a:latin typeface="Trenda IG Text Semibold"/>
              </a:rPr>
              <a:t>Already done</a:t>
            </a:r>
          </a:p>
        </p:txBody>
      </p:sp>
      <p:sp>
        <p:nvSpPr>
          <p:cNvPr id="32" name="Rectangle 31"/>
          <p:cNvSpPr/>
          <p:nvPr/>
        </p:nvSpPr>
        <p:spPr>
          <a:xfrm>
            <a:off x="2525572" y="4645152"/>
            <a:ext cx="4721961" cy="457200"/>
          </a:xfrm>
          <a:prstGeom prst="rect">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25572" y="4645152"/>
            <a:ext cx="4721961" cy="457200"/>
          </a:xfrm>
          <a:prstGeom prst="rect">
            <a:avLst/>
          </a:prstGeom>
          <a:noFill/>
        </p:spPr>
        <p:txBody>
          <a:bodyPr wrap="square" lIns="0" rIns="0" tIns="0" bIns="0" anchor="ctr">
            <a:spAutoFit/>
          </a:bodyPr>
          <a:lstStyle/>
          <a:p>
            <a:pPr algn="ctr">
              <a:buNone/>
            </a:pPr>
            <a:r>
              <a:rPr sz="950">
                <a:solidFill>
                  <a:srgbClr val="1A1A1A"/>
                </a:solidFill>
                <a:latin typeface="Trenda IG Text Semibold"/>
              </a:rPr>
              <a:t>Savings phase 1 · Assist</a:t>
            </a:r>
          </a:p>
        </p:txBody>
      </p:sp>
      <p:sp>
        <p:nvSpPr>
          <p:cNvPr id="34" name="Rectangle 33"/>
          <p:cNvSpPr/>
          <p:nvPr/>
        </p:nvSpPr>
        <p:spPr>
          <a:xfrm>
            <a:off x="7357262" y="4645152"/>
            <a:ext cx="2306116" cy="457200"/>
          </a:xfrm>
          <a:prstGeom prst="rect">
            <a:avLst/>
          </a:prstGeom>
          <a:solidFill>
            <a:srgbClr val="D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57262" y="4645152"/>
            <a:ext cx="2306116" cy="457200"/>
          </a:xfrm>
          <a:prstGeom prst="rect">
            <a:avLst/>
          </a:prstGeom>
          <a:noFill/>
        </p:spPr>
        <p:txBody>
          <a:bodyPr wrap="square" lIns="0" rIns="0" tIns="0" bIns="0" anchor="ctr">
            <a:spAutoFit/>
          </a:bodyPr>
          <a:lstStyle/>
          <a:p>
            <a:pPr algn="ctr">
              <a:buNone/>
            </a:pPr>
            <a:r>
              <a:rPr sz="950">
                <a:solidFill>
                  <a:srgbClr val="1A1A1A"/>
                </a:solidFill>
                <a:latin typeface="Trenda IG Text Semibold"/>
              </a:rPr>
              <a:t>Phase 2 · Consolidate</a:t>
            </a:r>
          </a:p>
        </p:txBody>
      </p:sp>
      <p:sp>
        <p:nvSpPr>
          <p:cNvPr id="36" name="Rectangle 35"/>
          <p:cNvSpPr/>
          <p:nvPr/>
        </p:nvSpPr>
        <p:spPr>
          <a:xfrm>
            <a:off x="9773107" y="4645152"/>
            <a:ext cx="2306116" cy="457200"/>
          </a:xfrm>
          <a:prstGeom prst="rect">
            <a:avLst/>
          </a:prstGeom>
          <a:solidFill>
            <a:srgbClr val="E3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73107" y="4645152"/>
            <a:ext cx="2306116" cy="457200"/>
          </a:xfrm>
          <a:prstGeom prst="rect">
            <a:avLst/>
          </a:prstGeom>
          <a:noFill/>
        </p:spPr>
        <p:txBody>
          <a:bodyPr wrap="square" lIns="0" rIns="0" tIns="0" bIns="0" anchor="ctr">
            <a:spAutoFit/>
          </a:bodyPr>
          <a:lstStyle/>
          <a:p>
            <a:pPr algn="ctr">
              <a:buNone/>
            </a:pPr>
            <a:r>
              <a:rPr sz="950">
                <a:solidFill>
                  <a:srgbClr val="1A1A1A"/>
                </a:solidFill>
                <a:latin typeface="Trenda IG Text Semibold"/>
              </a:rPr>
              <a:t>Phase 3 · Agent-native</a:t>
            </a:r>
          </a:p>
        </p:txBody>
      </p:sp>
      <p:sp>
        <p:nvSpPr>
          <p:cNvPr id="38" name="Rectangle 37"/>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5358384"/>
            <a:ext cx="11521440" cy="566928"/>
          </a:xfrm>
          <a:prstGeom prst="rect">
            <a:avLst/>
          </a:prstGeom>
          <a:noFill/>
        </p:spPr>
        <p:txBody>
          <a:bodyPr wrap="square" lIns="0" rIns="0" tIns="0" bIns="0" anchor="ctr">
            <a:spAutoFit/>
          </a:bodyPr>
          <a:lstStyle/>
          <a:p>
            <a:pPr>
              <a:buNone/>
            </a:pPr>
            <a:r>
              <a:rPr sz="1050">
                <a:solidFill>
                  <a:srgbClr val="1A1A1A"/>
                </a:solidFill>
                <a:latin typeface="Trenda IG Text"/>
              </a:rPr>
              <a:t>Only measured pilot results open the next phase. Nothing is restructured on a forecast.</a:t>
            </a:r>
          </a:p>
        </p:txBody>
      </p:sp>
      <p:sp>
        <p:nvSpPr>
          <p:cNvPr id="41" name="Rectangle 40"/>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Months 3–4 are the decision point: ten to fifteen real tickets, measured against how they are delivered today.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192024"/>
          </a:xfrm>
          <a:prstGeom prst="rect">
            <a:avLst/>
          </a:prstGeom>
          <a:noFill/>
        </p:spPr>
        <p:txBody>
          <a:bodyPr wrap="square" lIns="0" rIns="0" tIns="0" bIns="0" anchor="t">
            <a:spAutoFit/>
          </a:bodyPr>
          <a:lstStyle/>
          <a:p>
            <a:pPr>
              <a:buNone/>
            </a:pPr>
            <a:r>
              <a:rPr sz="1050" spc="120">
                <a:solidFill>
                  <a:srgbClr val="5FD0C0"/>
                </a:solidFill>
                <a:latin typeface="Trenda IG Display Semibold"/>
              </a:rPr>
              <a:t>THE PILOT</a:t>
            </a:r>
          </a:p>
        </p:txBody>
      </p:sp>
      <p:sp>
        <p:nvSpPr>
          <p:cNvPr id="4" name="TextBox 3"/>
          <p:cNvSpPr txBox="1"/>
          <p:nvPr/>
        </p:nvSpPr>
        <p:spPr>
          <a:xfrm>
            <a:off x="457200" y="365760"/>
            <a:ext cx="9144000" cy="347472"/>
          </a:xfrm>
          <a:prstGeom prst="rect">
            <a:avLst/>
          </a:prstGeom>
          <a:noFill/>
        </p:spPr>
        <p:txBody>
          <a:bodyPr wrap="square" lIns="0" rIns="0" tIns="0" bIns="0" anchor="t">
            <a:spAutoFit/>
          </a:bodyPr>
          <a:lstStyle/>
          <a:p>
            <a:pPr>
              <a:buNone/>
            </a:pPr>
            <a:r>
              <a:rPr sz="2200">
                <a:solidFill>
                  <a:srgbClr val="FFFFFF"/>
                </a:solidFill>
                <a:latin typeface="Trenda IG Display Bold"/>
              </a:rPr>
              <a:t>What we will measure, and what earns the next step</a:t>
            </a:r>
          </a:p>
        </p:txBody>
      </p:sp>
      <p:sp>
        <p:nvSpPr>
          <p:cNvPr id="5" name="TextBox 4"/>
          <p:cNvSpPr txBox="1"/>
          <p:nvPr/>
        </p:nvSpPr>
        <p:spPr>
          <a:xfrm>
            <a:off x="9784080" y="219456"/>
            <a:ext cx="2103120" cy="457200"/>
          </a:xfrm>
          <a:prstGeom prst="rect">
            <a:avLst/>
          </a:prstGeom>
          <a:noFill/>
        </p:spPr>
        <p:txBody>
          <a:bodyPr wrap="square" lIns="0" rIns="0" tIns="0" bIns="0" anchor="t">
            <a:spAutoFit/>
          </a:bodyPr>
          <a:lstStyle/>
          <a:p>
            <a:pPr>
              <a:lnSpc>
                <a:spcPct val="108000"/>
              </a:lnSpc>
              <a:buNone/>
            </a:pPr>
            <a:r>
              <a:rPr sz="900">
                <a:solidFill>
                  <a:srgbClr val="A9B4C2"/>
                </a:solidFill>
                <a:latin typeface="Trenda IG Text Light"/>
              </a:rPr>
              <a:t>Criteria agreed with Ascension at kickoff.</a:t>
            </a:r>
          </a:p>
        </p:txBody>
      </p:sp>
      <p:sp>
        <p:nvSpPr>
          <p:cNvPr id="6" name="TextBox 5"/>
          <p:cNvSpPr txBox="1"/>
          <p:nvPr/>
        </p:nvSpPr>
        <p:spPr>
          <a:xfrm>
            <a:off x="109728" y="1005840"/>
            <a:ext cx="7223760" cy="155448"/>
          </a:xfrm>
          <a:prstGeom prst="rect">
            <a:avLst/>
          </a:prstGeom>
          <a:noFill/>
        </p:spPr>
        <p:txBody>
          <a:bodyPr wrap="square" lIns="0" rIns="0" tIns="0" bIns="0" anchor="t">
            <a:spAutoFit/>
          </a:bodyPr>
          <a:lstStyle/>
          <a:p>
            <a:pPr>
              <a:buNone/>
            </a:pPr>
            <a:r>
              <a:rPr sz="750" spc="60">
                <a:solidFill>
                  <a:srgbClr val="5A6573"/>
                </a:solidFill>
                <a:latin typeface="Trenda IG Text Semibold"/>
              </a:rPr>
              <a:t>MEASURED ON EVERY PILOT TICKET</a:t>
            </a:r>
          </a:p>
        </p:txBody>
      </p:sp>
      <p:sp>
        <p:nvSpPr>
          <p:cNvPr id="7" name="Rectangle 6"/>
          <p:cNvSpPr/>
          <p:nvPr/>
        </p:nvSpPr>
        <p:spPr>
          <a:xfrm>
            <a:off x="109728" y="1207008"/>
            <a:ext cx="7223760" cy="50292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 y="1207008"/>
            <a:ext cx="2651760" cy="502920"/>
          </a:xfrm>
          <a:prstGeom prst="rect">
            <a:avLst/>
          </a:prstGeom>
          <a:noFill/>
        </p:spPr>
        <p:txBody>
          <a:bodyPr wrap="square" lIns="0" rIns="0" tIns="0" bIns="0" anchor="ctr">
            <a:spAutoFit/>
          </a:bodyPr>
          <a:lstStyle/>
          <a:p>
            <a:pPr>
              <a:buNone/>
            </a:pPr>
            <a:r>
              <a:rPr sz="900">
                <a:solidFill>
                  <a:srgbClr val="FFFFFF"/>
                </a:solidFill>
                <a:latin typeface="Trenda IG Text Semibold"/>
              </a:rPr>
              <a:t>Measure</a:t>
            </a:r>
          </a:p>
        </p:txBody>
      </p:sp>
      <p:sp>
        <p:nvSpPr>
          <p:cNvPr id="9" name="TextBox 8"/>
          <p:cNvSpPr txBox="1"/>
          <p:nvPr/>
        </p:nvSpPr>
        <p:spPr>
          <a:xfrm>
            <a:off x="3017520" y="1207008"/>
            <a:ext cx="4160520" cy="502920"/>
          </a:xfrm>
          <a:prstGeom prst="rect">
            <a:avLst/>
          </a:prstGeom>
          <a:noFill/>
        </p:spPr>
        <p:txBody>
          <a:bodyPr wrap="square" lIns="0" rIns="0" tIns="0" bIns="0" anchor="ctr">
            <a:spAutoFit/>
          </a:bodyPr>
          <a:lstStyle/>
          <a:p>
            <a:pPr>
              <a:buNone/>
            </a:pPr>
            <a:r>
              <a:rPr sz="900">
                <a:solidFill>
                  <a:srgbClr val="FFFFFF"/>
                </a:solidFill>
                <a:latin typeface="Trenda IG Text Semibold"/>
              </a:rPr>
              <a:t>How</a:t>
            </a:r>
          </a:p>
        </p:txBody>
      </p:sp>
      <p:sp>
        <p:nvSpPr>
          <p:cNvPr id="10" name="Rectangle 9"/>
          <p:cNvSpPr/>
          <p:nvPr/>
        </p:nvSpPr>
        <p:spPr>
          <a:xfrm>
            <a:off x="109728" y="1755648"/>
            <a:ext cx="7223760" cy="50292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 y="1755648"/>
            <a:ext cx="2651760" cy="502920"/>
          </a:xfrm>
          <a:prstGeom prst="rect">
            <a:avLst/>
          </a:prstGeom>
          <a:noFill/>
        </p:spPr>
        <p:txBody>
          <a:bodyPr wrap="square" lIns="0" rIns="0" tIns="0" bIns="0" anchor="ctr">
            <a:spAutoFit/>
          </a:bodyPr>
          <a:lstStyle/>
          <a:p>
            <a:pPr>
              <a:buNone/>
            </a:pPr>
            <a:r>
              <a:rPr sz="1150">
                <a:solidFill>
                  <a:srgbClr val="1A1A1A"/>
                </a:solidFill>
                <a:latin typeface="Trenda IG Text Semibold"/>
              </a:rPr>
              <a:t>Request to QA time</a:t>
            </a:r>
          </a:p>
        </p:txBody>
      </p:sp>
      <p:sp>
        <p:nvSpPr>
          <p:cNvPr id="12" name="TextBox 11"/>
          <p:cNvSpPr txBox="1"/>
          <p:nvPr/>
        </p:nvSpPr>
        <p:spPr>
          <a:xfrm>
            <a:off x="3017520" y="1755648"/>
            <a:ext cx="4160520" cy="502920"/>
          </a:xfrm>
          <a:prstGeom prst="rect">
            <a:avLst/>
          </a:prstGeom>
          <a:noFill/>
        </p:spPr>
        <p:txBody>
          <a:bodyPr wrap="square" lIns="0" rIns="0" tIns="0" bIns="0" anchor="ctr">
            <a:spAutoFit/>
          </a:bodyPr>
          <a:lstStyle/>
          <a:p>
            <a:pPr>
              <a:buNone/>
            </a:pPr>
            <a:r>
              <a:rPr sz="1150">
                <a:solidFill>
                  <a:srgbClr val="5A6573"/>
                </a:solidFill>
                <a:latin typeface="Trenda IG Text"/>
              </a:rPr>
              <a:t>Jira timestamps, against the last six months</a:t>
            </a:r>
          </a:p>
        </p:txBody>
      </p:sp>
      <p:sp>
        <p:nvSpPr>
          <p:cNvPr id="13" name="Rectangle 12"/>
          <p:cNvSpPr/>
          <p:nvPr/>
        </p:nvSpPr>
        <p:spPr>
          <a:xfrm>
            <a:off x="109728" y="2304288"/>
            <a:ext cx="7223760" cy="50292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6888" y="2304288"/>
            <a:ext cx="2651760" cy="502920"/>
          </a:xfrm>
          <a:prstGeom prst="rect">
            <a:avLst/>
          </a:prstGeom>
          <a:noFill/>
        </p:spPr>
        <p:txBody>
          <a:bodyPr wrap="square" lIns="0" rIns="0" tIns="0" bIns="0" anchor="ctr">
            <a:spAutoFit/>
          </a:bodyPr>
          <a:lstStyle/>
          <a:p>
            <a:pPr>
              <a:buNone/>
            </a:pPr>
            <a:r>
              <a:rPr sz="1150">
                <a:solidFill>
                  <a:srgbClr val="1A1A1A"/>
                </a:solidFill>
                <a:latin typeface="Trenda IG Text Semibold"/>
              </a:rPr>
              <a:t>People hours per ticket</a:t>
            </a:r>
          </a:p>
        </p:txBody>
      </p:sp>
      <p:sp>
        <p:nvSpPr>
          <p:cNvPr id="15" name="TextBox 14"/>
          <p:cNvSpPr txBox="1"/>
          <p:nvPr/>
        </p:nvSpPr>
        <p:spPr>
          <a:xfrm>
            <a:off x="3017520" y="2304288"/>
            <a:ext cx="4160520" cy="502920"/>
          </a:xfrm>
          <a:prstGeom prst="rect">
            <a:avLst/>
          </a:prstGeom>
          <a:noFill/>
        </p:spPr>
        <p:txBody>
          <a:bodyPr wrap="square" lIns="0" rIns="0" tIns="0" bIns="0" anchor="ctr">
            <a:spAutoFit/>
          </a:bodyPr>
          <a:lstStyle/>
          <a:p>
            <a:pPr>
              <a:buNone/>
            </a:pPr>
            <a:r>
              <a:rPr sz="1150">
                <a:solidFill>
                  <a:srgbClr val="5A6573"/>
                </a:solidFill>
                <a:latin typeface="Trenda IG Text"/>
              </a:rPr>
              <a:t>Time spent at each gate</a:t>
            </a:r>
          </a:p>
        </p:txBody>
      </p:sp>
      <p:sp>
        <p:nvSpPr>
          <p:cNvPr id="16" name="Rectangle 15"/>
          <p:cNvSpPr/>
          <p:nvPr/>
        </p:nvSpPr>
        <p:spPr>
          <a:xfrm>
            <a:off x="109728" y="2852928"/>
            <a:ext cx="7223760" cy="50292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 y="2852928"/>
            <a:ext cx="2651760" cy="502920"/>
          </a:xfrm>
          <a:prstGeom prst="rect">
            <a:avLst/>
          </a:prstGeom>
          <a:noFill/>
        </p:spPr>
        <p:txBody>
          <a:bodyPr wrap="square" lIns="0" rIns="0" tIns="0" bIns="0" anchor="ctr">
            <a:spAutoFit/>
          </a:bodyPr>
          <a:lstStyle/>
          <a:p>
            <a:pPr>
              <a:buNone/>
            </a:pPr>
            <a:r>
              <a:rPr sz="1150">
                <a:solidFill>
                  <a:srgbClr val="1A1A1A"/>
                </a:solidFill>
                <a:latin typeface="Trenda IG Text Semibold"/>
              </a:rPr>
              <a:t>Duplicate builds avoided</a:t>
            </a:r>
          </a:p>
        </p:txBody>
      </p:sp>
      <p:sp>
        <p:nvSpPr>
          <p:cNvPr id="18" name="TextBox 17"/>
          <p:cNvSpPr txBox="1"/>
          <p:nvPr/>
        </p:nvSpPr>
        <p:spPr>
          <a:xfrm>
            <a:off x="3017520" y="2852928"/>
            <a:ext cx="4160520" cy="502920"/>
          </a:xfrm>
          <a:prstGeom prst="rect">
            <a:avLst/>
          </a:prstGeom>
          <a:noFill/>
        </p:spPr>
        <p:txBody>
          <a:bodyPr wrap="square" lIns="0" rIns="0" tIns="0" bIns="0" anchor="ctr">
            <a:spAutoFit/>
          </a:bodyPr>
          <a:lstStyle/>
          <a:p>
            <a:pPr>
              <a:buNone/>
            </a:pPr>
            <a:r>
              <a:rPr sz="1150">
                <a:solidFill>
                  <a:srgbClr val="5A6573"/>
                </a:solidFill>
                <a:latin typeface="Trenda IG Text"/>
              </a:rPr>
              <a:t>Requests answered “exists” or “reuse”</a:t>
            </a:r>
          </a:p>
        </p:txBody>
      </p:sp>
      <p:sp>
        <p:nvSpPr>
          <p:cNvPr id="19" name="Rectangle 18"/>
          <p:cNvSpPr/>
          <p:nvPr/>
        </p:nvSpPr>
        <p:spPr>
          <a:xfrm>
            <a:off x="109728" y="3401568"/>
            <a:ext cx="7223760" cy="50292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6888" y="3401568"/>
            <a:ext cx="2651760" cy="502920"/>
          </a:xfrm>
          <a:prstGeom prst="rect">
            <a:avLst/>
          </a:prstGeom>
          <a:noFill/>
        </p:spPr>
        <p:txBody>
          <a:bodyPr wrap="square" lIns="0" rIns="0" tIns="0" bIns="0" anchor="ctr">
            <a:spAutoFit/>
          </a:bodyPr>
          <a:lstStyle/>
          <a:p>
            <a:pPr>
              <a:buNone/>
            </a:pPr>
            <a:r>
              <a:rPr sz="1150">
                <a:solidFill>
                  <a:srgbClr val="1A1A1A"/>
                </a:solidFill>
                <a:latin typeface="Trenda IG Text Semibold"/>
              </a:rPr>
              <a:t>Defects reaching UAT</a:t>
            </a:r>
          </a:p>
        </p:txBody>
      </p:sp>
      <p:sp>
        <p:nvSpPr>
          <p:cNvPr id="21" name="TextBox 20"/>
          <p:cNvSpPr txBox="1"/>
          <p:nvPr/>
        </p:nvSpPr>
        <p:spPr>
          <a:xfrm>
            <a:off x="3017520" y="3401568"/>
            <a:ext cx="4160520" cy="502920"/>
          </a:xfrm>
          <a:prstGeom prst="rect">
            <a:avLst/>
          </a:prstGeom>
          <a:noFill/>
        </p:spPr>
        <p:txBody>
          <a:bodyPr wrap="square" lIns="0" rIns="0" tIns="0" bIns="0" anchor="ctr">
            <a:spAutoFit/>
          </a:bodyPr>
          <a:lstStyle/>
          <a:p>
            <a:pPr>
              <a:buNone/>
            </a:pPr>
            <a:r>
              <a:rPr sz="1150">
                <a:solidFill>
                  <a:srgbClr val="5A6573"/>
                </a:solidFill>
                <a:latin typeface="Trenda IG Text"/>
              </a:rPr>
              <a:t>Zephyr and Jira defect counts</a:t>
            </a:r>
          </a:p>
        </p:txBody>
      </p:sp>
      <p:sp>
        <p:nvSpPr>
          <p:cNvPr id="22" name="Rectangle 21"/>
          <p:cNvSpPr/>
          <p:nvPr/>
        </p:nvSpPr>
        <p:spPr>
          <a:xfrm>
            <a:off x="109728" y="3950208"/>
            <a:ext cx="7223760" cy="502920"/>
          </a:xfrm>
          <a:prstGeom prst="rect">
            <a:avLst/>
          </a:prstGeom>
          <a:solidFill>
            <a:srgbClr val="FFFFFF"/>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6888" y="3950208"/>
            <a:ext cx="2651760" cy="502920"/>
          </a:xfrm>
          <a:prstGeom prst="rect">
            <a:avLst/>
          </a:prstGeom>
          <a:noFill/>
        </p:spPr>
        <p:txBody>
          <a:bodyPr wrap="square" lIns="0" rIns="0" tIns="0" bIns="0" anchor="ctr">
            <a:spAutoFit/>
          </a:bodyPr>
          <a:lstStyle/>
          <a:p>
            <a:pPr>
              <a:buNone/>
            </a:pPr>
            <a:r>
              <a:rPr sz="1150">
                <a:solidFill>
                  <a:srgbClr val="1A1A1A"/>
                </a:solidFill>
                <a:latin typeface="Trenda IG Text Semibold"/>
              </a:rPr>
              <a:t>Cost per ticket</a:t>
            </a:r>
          </a:p>
        </p:txBody>
      </p:sp>
      <p:sp>
        <p:nvSpPr>
          <p:cNvPr id="24" name="TextBox 23"/>
          <p:cNvSpPr txBox="1"/>
          <p:nvPr/>
        </p:nvSpPr>
        <p:spPr>
          <a:xfrm>
            <a:off x="3017520" y="3950208"/>
            <a:ext cx="4160520" cy="502920"/>
          </a:xfrm>
          <a:prstGeom prst="rect">
            <a:avLst/>
          </a:prstGeom>
          <a:noFill/>
        </p:spPr>
        <p:txBody>
          <a:bodyPr wrap="square" lIns="0" rIns="0" tIns="0" bIns="0" anchor="ctr">
            <a:spAutoFit/>
          </a:bodyPr>
          <a:lstStyle/>
          <a:p>
            <a:pPr>
              <a:buNone/>
            </a:pPr>
            <a:r>
              <a:rPr sz="1150">
                <a:solidFill>
                  <a:srgbClr val="5A6573"/>
                </a:solidFill>
                <a:latin typeface="Trenda IG Text"/>
              </a:rPr>
              <a:t>People time plus model and cloud spend</a:t>
            </a:r>
          </a:p>
        </p:txBody>
      </p:sp>
      <p:sp>
        <p:nvSpPr>
          <p:cNvPr id="25" name="Rectangle 24"/>
          <p:cNvSpPr/>
          <p:nvPr/>
        </p:nvSpPr>
        <p:spPr>
          <a:xfrm>
            <a:off x="109728" y="4498848"/>
            <a:ext cx="7223760" cy="502920"/>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6888" y="4498848"/>
            <a:ext cx="2651760" cy="502920"/>
          </a:xfrm>
          <a:prstGeom prst="rect">
            <a:avLst/>
          </a:prstGeom>
          <a:noFill/>
        </p:spPr>
        <p:txBody>
          <a:bodyPr wrap="square" lIns="0" rIns="0" tIns="0" bIns="0" anchor="ctr">
            <a:spAutoFit/>
          </a:bodyPr>
          <a:lstStyle/>
          <a:p>
            <a:pPr>
              <a:buNone/>
            </a:pPr>
            <a:r>
              <a:rPr sz="1150">
                <a:solidFill>
                  <a:srgbClr val="1A1A1A"/>
                </a:solidFill>
                <a:latin typeface="Trenda IG Text Semibold"/>
              </a:rPr>
              <a:t>Evidence completeness</a:t>
            </a:r>
          </a:p>
        </p:txBody>
      </p:sp>
      <p:sp>
        <p:nvSpPr>
          <p:cNvPr id="27" name="TextBox 26"/>
          <p:cNvSpPr txBox="1"/>
          <p:nvPr/>
        </p:nvSpPr>
        <p:spPr>
          <a:xfrm>
            <a:off x="3017520" y="4498848"/>
            <a:ext cx="4160520" cy="502920"/>
          </a:xfrm>
          <a:prstGeom prst="rect">
            <a:avLst/>
          </a:prstGeom>
          <a:noFill/>
        </p:spPr>
        <p:txBody>
          <a:bodyPr wrap="square" lIns="0" rIns="0" tIns="0" bIns="0" anchor="ctr">
            <a:spAutoFit/>
          </a:bodyPr>
          <a:lstStyle/>
          <a:p>
            <a:pPr>
              <a:buNone/>
            </a:pPr>
            <a:r>
              <a:rPr sz="1150">
                <a:solidFill>
                  <a:srgbClr val="5A6573"/>
                </a:solidFill>
                <a:latin typeface="Trenda IG Text"/>
              </a:rPr>
              <a:t>Verdict, design, tests and deploy on file</a:t>
            </a:r>
          </a:p>
        </p:txBody>
      </p:sp>
      <p:sp>
        <p:nvSpPr>
          <p:cNvPr id="28" name="Rectangle 27"/>
          <p:cNvSpPr/>
          <p:nvPr/>
        </p:nvSpPr>
        <p:spPr>
          <a:xfrm>
            <a:off x="7516367" y="1207008"/>
            <a:ext cx="4562856" cy="379476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99247" y="140817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82127" y="1325880"/>
            <a:ext cx="4014216" cy="274320"/>
          </a:xfrm>
          <a:prstGeom prst="rect">
            <a:avLst/>
          </a:prstGeom>
          <a:noFill/>
        </p:spPr>
        <p:txBody>
          <a:bodyPr wrap="square" lIns="0" rIns="0" tIns="0" bIns="0" anchor="t">
            <a:spAutoFit/>
          </a:bodyPr>
          <a:lstStyle/>
          <a:p>
            <a:pPr>
              <a:buNone/>
            </a:pPr>
            <a:r>
              <a:rPr sz="1350">
                <a:solidFill>
                  <a:srgbClr val="FFFFFF"/>
                </a:solidFill>
                <a:latin typeface="Trenda IG Display Bold"/>
              </a:rPr>
              <a:t>Proposed go / no-go for phase 2</a:t>
            </a:r>
          </a:p>
        </p:txBody>
      </p:sp>
      <p:sp>
        <p:nvSpPr>
          <p:cNvPr id="31" name="TextBox 30"/>
          <p:cNvSpPr txBox="1"/>
          <p:nvPr/>
        </p:nvSpPr>
        <p:spPr>
          <a:xfrm>
            <a:off x="7699247" y="1682496"/>
            <a:ext cx="4197096" cy="3227832"/>
          </a:xfrm>
          <a:prstGeom prst="rect">
            <a:avLst/>
          </a:prstGeom>
          <a:noFill/>
        </p:spPr>
        <p:txBody>
          <a:bodyPr wrap="square" lIns="0" rIns="0" tIns="0" bIns="0" anchor="t">
            <a:spAutoFit/>
          </a:bodyPr>
          <a:lstStyle/>
          <a:p>
            <a:pPr marL="114300" indent="-114300">
              <a:lnSpc>
                <a:spcPct val="102000"/>
              </a:lnSpc>
              <a:spcAft>
                <a:spcPts val="700"/>
              </a:spcAft>
              <a:buChar char="•"/>
            </a:pPr>
            <a:r>
              <a:rPr sz="1200">
                <a:solidFill>
                  <a:srgbClr val="D8DEE6"/>
                </a:solidFill>
                <a:latin typeface="Trenda IG Text"/>
              </a:rPr>
              <a:t>Request-to-QA time at least halved</a:t>
            </a:r>
          </a:p>
          <a:p>
            <a:pPr marL="114300" indent="-114300">
              <a:lnSpc>
                <a:spcPct val="102000"/>
              </a:lnSpc>
              <a:spcAft>
                <a:spcPts val="700"/>
              </a:spcAft>
              <a:buChar char="•"/>
            </a:pPr>
            <a:r>
              <a:rPr sz="1200">
                <a:solidFill>
                  <a:srgbClr val="D8DEE6"/>
                </a:solidFill>
                <a:latin typeface="Trenda IG Text"/>
              </a:rPr>
              <a:t>No rise in defects reaching UAT</a:t>
            </a:r>
          </a:p>
          <a:p>
            <a:pPr marL="114300" indent="-114300">
              <a:lnSpc>
                <a:spcPct val="102000"/>
              </a:lnSpc>
              <a:spcAft>
                <a:spcPts val="700"/>
              </a:spcAft>
              <a:buChar char="•"/>
            </a:pPr>
            <a:r>
              <a:rPr sz="1200">
                <a:solidFill>
                  <a:srgbClr val="D8DEE6"/>
                </a:solidFill>
                <a:latin typeface="Trenda IG Text"/>
              </a:rPr>
              <a:t>Every pilot ticket carries its full evidence chain</a:t>
            </a:r>
          </a:p>
          <a:p>
            <a:pPr marL="114300" indent="-114300">
              <a:lnSpc>
                <a:spcPct val="102000"/>
              </a:lnSpc>
              <a:spcAft>
                <a:spcPts val="700"/>
              </a:spcAft>
              <a:buChar char="•"/>
            </a:pPr>
            <a:r>
              <a:rPr sz="1200">
                <a:solidFill>
                  <a:srgbClr val="D8DEE6"/>
                </a:solidFill>
                <a:latin typeface="Trenda IG Text"/>
              </a:rPr>
              <a:t>Tech Lead review load judged sustainable</a:t>
            </a:r>
          </a:p>
        </p:txBody>
      </p:sp>
      <p:sp>
        <p:nvSpPr>
          <p:cNvPr id="32" name="Rectangle 31"/>
          <p:cNvSpPr/>
          <p:nvPr/>
        </p:nvSpPr>
        <p:spPr>
          <a:xfrm>
            <a:off x="109728" y="5358384"/>
            <a:ext cx="11969496" cy="566928"/>
          </a:xfrm>
          <a:prstGeom prst="rect">
            <a:avLst/>
          </a:prstGeom>
          <a:solidFill>
            <a:srgbClr val="F4F6F9"/>
          </a:solidFill>
          <a:ln w="9525">
            <a:solidFill>
              <a:srgbClr val="D5D9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92608" y="5596128"/>
            <a:ext cx="91440" cy="91440"/>
          </a:xfrm>
          <a:prstGeom prst="rect">
            <a:avLst/>
          </a:prstGeom>
          <a:solidFill>
            <a:srgbClr val="1B6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5358384"/>
            <a:ext cx="11521440" cy="566928"/>
          </a:xfrm>
          <a:prstGeom prst="rect">
            <a:avLst/>
          </a:prstGeom>
          <a:noFill/>
        </p:spPr>
        <p:txBody>
          <a:bodyPr wrap="square" lIns="0" rIns="0" tIns="0" bIns="0" anchor="ctr">
            <a:spAutoFit/>
          </a:bodyPr>
          <a:lstStyle/>
          <a:p>
            <a:pPr>
              <a:buNone/>
            </a:pPr>
            <a:r>
              <a:rPr sz="1050">
                <a:solidFill>
                  <a:srgbClr val="1A1A1A"/>
                </a:solidFill>
                <a:latin typeface="Trenda IG Text"/>
              </a:rPr>
              <a:t>The baseline is the last six months of Network Services tickets, so the comparison is like for like.</a:t>
            </a:r>
          </a:p>
        </p:txBody>
      </p:sp>
      <p:sp>
        <p:nvSpPr>
          <p:cNvPr id="35" name="Rectangle 34"/>
          <p:cNvSpPr/>
          <p:nvPr/>
        </p:nvSpPr>
        <p:spPr>
          <a:xfrm>
            <a:off x="109728" y="6053328"/>
            <a:ext cx="11969496" cy="49377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 y="625449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053328"/>
            <a:ext cx="11521440" cy="493776"/>
          </a:xfrm>
          <a:prstGeom prst="rect">
            <a:avLst/>
          </a:prstGeom>
          <a:noFill/>
        </p:spPr>
        <p:txBody>
          <a:bodyPr wrap="square" lIns="0" rIns="0" tIns="0" bIns="0" anchor="ctr">
            <a:spAutoFit/>
          </a:bodyPr>
          <a:lstStyle/>
          <a:p>
            <a:pPr>
              <a:buNone/>
            </a:pPr>
            <a:r>
              <a:rPr sz="1100">
                <a:solidFill>
                  <a:srgbClr val="FFFFFF"/>
                </a:solidFill>
                <a:latin typeface="Trenda IG Text"/>
              </a:rPr>
              <a:t>The decision to consolidate pods is made on evidence both sides agreed in advance.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1B2E"/>
        </a:solidFill>
        <a:effectLst/>
      </p:bgPr>
    </p:bg>
    <p:spTree>
      <p:nvGrpSpPr>
        <p:cNvPr id="1" name=""/>
        <p:cNvGrpSpPr/>
        <p:nvPr/>
      </p:nvGrpSpPr>
      <p:grpSpPr/>
      <p:sp>
        <p:nvSpPr>
          <p:cNvPr id="2" name="Rectangle 1"/>
          <p:cNvSpPr/>
          <p:nvPr/>
        </p:nvSpPr>
        <p:spPr>
          <a:xfrm>
            <a:off x="822960" y="1051560"/>
            <a:ext cx="146304" cy="146304"/>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05840"/>
            <a:ext cx="8229600" cy="274320"/>
          </a:xfrm>
          <a:prstGeom prst="rect">
            <a:avLst/>
          </a:prstGeom>
          <a:noFill/>
        </p:spPr>
        <p:txBody>
          <a:bodyPr wrap="square" lIns="0" rIns="0" tIns="0" bIns="0" anchor="t">
            <a:spAutoFit/>
          </a:bodyPr>
          <a:lstStyle/>
          <a:p>
            <a:pPr>
              <a:buNone/>
            </a:pPr>
            <a:r>
              <a:rPr sz="1200" spc="150">
                <a:solidFill>
                  <a:srgbClr val="5FD0C0"/>
                </a:solidFill>
                <a:latin typeface="Trenda IG Display Semibold"/>
              </a:rPr>
              <a:t>THE DECISION</a:t>
            </a:r>
          </a:p>
        </p:txBody>
      </p:sp>
      <p:sp>
        <p:nvSpPr>
          <p:cNvPr id="4" name="TextBox 3"/>
          <p:cNvSpPr txBox="1"/>
          <p:nvPr/>
        </p:nvSpPr>
        <p:spPr>
          <a:xfrm>
            <a:off x="822960" y="1463040"/>
            <a:ext cx="10515600" cy="1188720"/>
          </a:xfrm>
          <a:prstGeom prst="rect">
            <a:avLst/>
          </a:prstGeom>
          <a:noFill/>
        </p:spPr>
        <p:txBody>
          <a:bodyPr wrap="square" lIns="0" rIns="0" tIns="0" bIns="0" anchor="t">
            <a:spAutoFit/>
          </a:bodyPr>
          <a:lstStyle/>
          <a:p>
            <a:pPr>
              <a:lnSpc>
                <a:spcPct val="98000"/>
              </a:lnSpc>
              <a:buNone/>
            </a:pPr>
            <a:r>
              <a:rPr sz="3400">
                <a:solidFill>
                  <a:srgbClr val="FFFFFF"/>
                </a:solidFill>
                <a:latin typeface="Trenda IG Display Bold"/>
              </a:rPr>
              <a:t>Approve a four-month pilot</a:t>
            </a:r>
          </a:p>
          <a:p>
            <a:pPr>
              <a:lnSpc>
                <a:spcPct val="98000"/>
              </a:lnSpc>
              <a:buNone/>
            </a:pPr>
            <a:r>
              <a:rPr sz="3400">
                <a:solidFill>
                  <a:srgbClr val="FFFFFF"/>
                </a:solidFill>
                <a:latin typeface="Trenda IG Display Bold"/>
              </a:rPr>
              <a:t>on the Network Services pod</a:t>
            </a:r>
          </a:p>
        </p:txBody>
      </p:sp>
      <p:sp>
        <p:nvSpPr>
          <p:cNvPr id="5" name="Rectangle 4"/>
          <p:cNvSpPr/>
          <p:nvPr/>
        </p:nvSpPr>
        <p:spPr>
          <a:xfrm>
            <a:off x="822960" y="3017520"/>
            <a:ext cx="3398520" cy="804672"/>
          </a:xfrm>
          <a:prstGeom prst="rect">
            <a:avLst/>
          </a:prstGeom>
          <a:solidFill>
            <a:srgbClr val="1C32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 y="337413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017520"/>
            <a:ext cx="2849880" cy="804672"/>
          </a:xfrm>
          <a:prstGeom prst="rect">
            <a:avLst/>
          </a:prstGeom>
          <a:noFill/>
        </p:spPr>
        <p:txBody>
          <a:bodyPr wrap="square" lIns="0" rIns="0" tIns="0" bIns="0" anchor="ctr">
            <a:spAutoFit/>
          </a:bodyPr>
          <a:lstStyle/>
          <a:p>
            <a:pPr>
              <a:buNone/>
            </a:pPr>
            <a:r>
              <a:rPr sz="1200">
                <a:solidFill>
                  <a:srgbClr val="FFFFFF"/>
                </a:solidFill>
                <a:latin typeface="Trenda IG Text"/>
              </a:rPr>
              <a:t>A Google Cloud project for the graph</a:t>
            </a:r>
          </a:p>
        </p:txBody>
      </p:sp>
      <p:sp>
        <p:nvSpPr>
          <p:cNvPr id="8" name="Rectangle 7"/>
          <p:cNvSpPr/>
          <p:nvPr/>
        </p:nvSpPr>
        <p:spPr>
          <a:xfrm>
            <a:off x="4404360" y="3017520"/>
            <a:ext cx="3398520" cy="804672"/>
          </a:xfrm>
          <a:prstGeom prst="rect">
            <a:avLst/>
          </a:prstGeom>
          <a:solidFill>
            <a:srgbClr val="1C32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05528" y="337413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15840" y="3017520"/>
            <a:ext cx="2849880" cy="804672"/>
          </a:xfrm>
          <a:prstGeom prst="rect">
            <a:avLst/>
          </a:prstGeom>
          <a:noFill/>
        </p:spPr>
        <p:txBody>
          <a:bodyPr wrap="square" lIns="0" rIns="0" tIns="0" bIns="0" anchor="ctr">
            <a:spAutoFit/>
          </a:bodyPr>
          <a:lstStyle/>
          <a:p>
            <a:pPr>
              <a:buNone/>
            </a:pPr>
            <a:r>
              <a:rPr sz="1200">
                <a:solidFill>
                  <a:srgbClr val="FFFFFF"/>
                </a:solidFill>
                <a:latin typeface="Trenda IG Text"/>
              </a:rPr>
              <a:t>A sandbox integration user, read-only on metadata</a:t>
            </a:r>
          </a:p>
        </p:txBody>
      </p:sp>
      <p:sp>
        <p:nvSpPr>
          <p:cNvPr id="11" name="Rectangle 10"/>
          <p:cNvSpPr/>
          <p:nvPr/>
        </p:nvSpPr>
        <p:spPr>
          <a:xfrm>
            <a:off x="7985760" y="3017520"/>
            <a:ext cx="3398520" cy="804672"/>
          </a:xfrm>
          <a:prstGeom prst="rect">
            <a:avLst/>
          </a:prstGeom>
          <a:solidFill>
            <a:srgbClr val="1C32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86928" y="3374136"/>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7240" y="3017520"/>
            <a:ext cx="2849880" cy="804672"/>
          </a:xfrm>
          <a:prstGeom prst="rect">
            <a:avLst/>
          </a:prstGeom>
          <a:noFill/>
        </p:spPr>
        <p:txBody>
          <a:bodyPr wrap="square" lIns="0" rIns="0" tIns="0" bIns="0" anchor="ctr">
            <a:spAutoFit/>
          </a:bodyPr>
          <a:lstStyle/>
          <a:p>
            <a:pPr>
              <a:buNone/>
            </a:pPr>
            <a:r>
              <a:rPr sz="1200">
                <a:solidFill>
                  <a:srgbClr val="FFFFFF"/>
                </a:solidFill>
                <a:latin typeface="Trenda IG Text"/>
              </a:rPr>
              <a:t>Jira and Confluence service accounts</a:t>
            </a:r>
          </a:p>
        </p:txBody>
      </p:sp>
      <p:sp>
        <p:nvSpPr>
          <p:cNvPr id="14" name="Rectangle 13"/>
          <p:cNvSpPr/>
          <p:nvPr/>
        </p:nvSpPr>
        <p:spPr>
          <a:xfrm>
            <a:off x="822960" y="3977639"/>
            <a:ext cx="3398520" cy="804672"/>
          </a:xfrm>
          <a:prstGeom prst="rect">
            <a:avLst/>
          </a:prstGeom>
          <a:solidFill>
            <a:srgbClr val="1C32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24128" y="4334255"/>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3977639"/>
            <a:ext cx="2849880" cy="804672"/>
          </a:xfrm>
          <a:prstGeom prst="rect">
            <a:avLst/>
          </a:prstGeom>
          <a:noFill/>
        </p:spPr>
        <p:txBody>
          <a:bodyPr wrap="square" lIns="0" rIns="0" tIns="0" bIns="0" anchor="ctr">
            <a:spAutoFit/>
          </a:bodyPr>
          <a:lstStyle/>
          <a:p>
            <a:pPr>
              <a:buNone/>
            </a:pPr>
            <a:r>
              <a:rPr sz="1200">
                <a:solidFill>
                  <a:srgbClr val="FFFFFF"/>
                </a:solidFill>
                <a:latin typeface="Trenda IG Text"/>
              </a:rPr>
              <a:t>Copado pipeline access to QA and UAT</a:t>
            </a:r>
          </a:p>
        </p:txBody>
      </p:sp>
      <p:sp>
        <p:nvSpPr>
          <p:cNvPr id="17" name="Rectangle 16"/>
          <p:cNvSpPr/>
          <p:nvPr/>
        </p:nvSpPr>
        <p:spPr>
          <a:xfrm>
            <a:off x="4404360" y="3977639"/>
            <a:ext cx="3398520" cy="804672"/>
          </a:xfrm>
          <a:prstGeom prst="rect">
            <a:avLst/>
          </a:prstGeom>
          <a:solidFill>
            <a:srgbClr val="1C32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05528" y="4334255"/>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15840" y="3977639"/>
            <a:ext cx="2849880" cy="804672"/>
          </a:xfrm>
          <a:prstGeom prst="rect">
            <a:avLst/>
          </a:prstGeom>
          <a:noFill/>
        </p:spPr>
        <p:txBody>
          <a:bodyPr wrap="square" lIns="0" rIns="0" tIns="0" bIns="0" anchor="ctr">
            <a:spAutoFit/>
          </a:bodyPr>
          <a:lstStyle/>
          <a:p>
            <a:pPr>
              <a:buNone/>
            </a:pPr>
            <a:r>
              <a:rPr sz="1200">
                <a:solidFill>
                  <a:srgbClr val="FFFFFF"/>
                </a:solidFill>
                <a:latin typeface="Trenda IG Text"/>
              </a:rPr>
              <a:t>A named PM and Tech Lead</a:t>
            </a:r>
          </a:p>
        </p:txBody>
      </p:sp>
      <p:sp>
        <p:nvSpPr>
          <p:cNvPr id="20" name="Rectangle 19"/>
          <p:cNvSpPr/>
          <p:nvPr/>
        </p:nvSpPr>
        <p:spPr>
          <a:xfrm>
            <a:off x="7985760" y="3977639"/>
            <a:ext cx="3398520" cy="804672"/>
          </a:xfrm>
          <a:prstGeom prst="rect">
            <a:avLst/>
          </a:prstGeom>
          <a:solidFill>
            <a:srgbClr val="1C32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6928" y="4334255"/>
            <a:ext cx="91440" cy="91440"/>
          </a:xfrm>
          <a:prstGeom prst="rect">
            <a:avLst/>
          </a:prstGeom>
          <a:solidFill>
            <a:srgbClr val="5FD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97240" y="3977639"/>
            <a:ext cx="2849880" cy="804672"/>
          </a:xfrm>
          <a:prstGeom prst="rect">
            <a:avLst/>
          </a:prstGeom>
          <a:noFill/>
        </p:spPr>
        <p:txBody>
          <a:bodyPr wrap="square" lIns="0" rIns="0" tIns="0" bIns="0" anchor="ctr">
            <a:spAutoFit/>
          </a:bodyPr>
          <a:lstStyle/>
          <a:p>
            <a:pPr>
              <a:buNone/>
            </a:pPr>
            <a:r>
              <a:rPr sz="1200">
                <a:solidFill>
                  <a:srgbClr val="FFFFFF"/>
                </a:solidFill>
                <a:latin typeface="Trenda IG Text"/>
              </a:rPr>
              <a:t>10–15 real tickets from the backlog</a:t>
            </a:r>
          </a:p>
        </p:txBody>
      </p:sp>
      <p:sp>
        <p:nvSpPr>
          <p:cNvPr id="23" name="TextBox 22"/>
          <p:cNvSpPr txBox="1"/>
          <p:nvPr/>
        </p:nvSpPr>
        <p:spPr>
          <a:xfrm>
            <a:off x="822960" y="5257800"/>
            <a:ext cx="10515600" cy="457200"/>
          </a:xfrm>
          <a:prstGeom prst="rect">
            <a:avLst/>
          </a:prstGeom>
          <a:noFill/>
        </p:spPr>
        <p:txBody>
          <a:bodyPr wrap="square" lIns="0" rIns="0" tIns="0" bIns="0" anchor="t">
            <a:spAutoFit/>
          </a:bodyPr>
          <a:lstStyle/>
          <a:p>
            <a:pPr>
              <a:buNone/>
            </a:pPr>
            <a:r>
              <a:rPr sz="1500">
                <a:solidFill>
                  <a:srgbClr val="D8DEE6"/>
                </a:solidFill>
                <a:latin typeface="Trenda IG Text Light"/>
              </a:rPr>
              <a:t>Decision point at month four: move to the first tile, adjust, or stop.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4214</Words>
  <Application>Microsoft Office PowerPoint</Application>
  <PresentationFormat>Widescreen</PresentationFormat>
  <Paragraphs>784</Paragraphs>
  <Slides>6</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Arial</vt:lpstr>
      <vt:lpstr>Courier New</vt:lpstr>
      <vt:lpstr>Trenda IG Display Bold</vt:lpstr>
      <vt:lpstr>Trenda IG Display Semibold</vt:lpstr>
      <vt:lpstr>Trenda IG Text</vt:lpstr>
      <vt:lpstr>Trenda IG Text Light</vt:lpstr>
      <vt:lpstr>Trenda IG Text Semibold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Universal Gap Intelligence Framework</dc:title>
  <dc:subject>PptxGenJS Presentation</dc:subject>
  <dc:creator>Insight Global Labs</dc:creator>
  <cp:lastModifiedBy>Surya Chinta</cp:lastModifiedBy>
  <cp:revision>1</cp:revision>
  <dcterms:created xsi:type="dcterms:W3CDTF">2026-09-21T14:38:01Z</dcterms:created>
  <dcterms:modified xsi:type="dcterms:W3CDTF">2026-09-21T14:46:55Z</dcterms:modified>
</cp:coreProperties>
</file>