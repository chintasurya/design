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256" r:id="rId10"/>
    <p:sldId id="257" r:id="rId11"/>
    <p:sldId id="258" r:id="rId12"/>
    <p:sldId id="259" r:id="rId13"/>
    <p:sldId id="260" r:id="rId14"/>
    <p:sldId id="262" r:id="rId16"/>
    <p:sldId id="263" r:id="rId17"/>
    <p:sldId id="261" r:id="rId15"/>
    <p:sldId id="264" r:id="rId18"/>
    <p:sldId id="265" r:id="rId19"/>
    <p:sldId id="266"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agent sources. Agents read from and write to these systems, always through the tool gateway and never in production.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with who does each step. Delivery: the Developer Agent builds, the Release Agent moves it through Copado, Review and Test Agents run the quality gates; business users sign UAT and the change board approves at CAB. Campaigns: the Orchestrator takes the prompt, Strategist and Analytics plan on Gold A, Design and Readiness build and test, the SME and tech lead review before send, and the policy service releases.</a:t>
            </a:r>
          </a:p>
          <a:p>
            <a:r>
              <a:t>- The Change Guardian sits with the Architect Agent: it flags any change that affects another pod before anything is built.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verify the caller first; then a scoped scheduling API returns only that patient's data and enforces the rules (cancellation window, reschedule rules, provider restrictions); bookings are written to the scheduling system of record, never a GCP copy.</a:t>
            </a:r>
          </a:p>
          <a:p>
            <a:r>
              <a:t>- Right, after every call: hand-off to a person when needed, masked transcripts with retention limits, outcomes as aggregates into Gold A, and test calls before every release.</a:t>
            </a:r>
          </a:p>
          <a:p>
            <a:r>
              <a:t>- Bottom: the six safeguards.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harness serves every pod and three jobs: delivery, campaigns and the Sierra voice agent. Each agent is built once, scales across pods without losing accuracy, and stays under the same controls.</a:t>
            </a:r>
          </a:p>
          <a:p/>
          <a:p>
            <a:r>
              <a:t>WALK IT</a:t>
            </a:r>
          </a:p>
          <a:p>
            <a:r>
              <a:t>- Top: one harness,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fair share for every pod, a per-pod cap set in config so no pod crowds out another; scales with demand within model and API quotas, sized in the Phase 0 load test; extra requests wait, none are dropped. If asked for numbers: our starting design is a few runs per pod and a few dozen overall, both settings.</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team and cost saving   (about 2-3 minutes)</a:t>
            </a:r>
          </a:p>
          <a:p/>
          <a:p>
            <a:r>
              <a:t>KEY MESSAGE</a:t>
            </a:r>
          </a:p>
          <a:p>
            <a:r>
              <a:t>Every squad of 4-5 developers becomes 1 developer directing the harness agent, plus 1 QA. $16M a year today becomes $7M: $9M back every year on a $5.0M build, paid back in under 7 months.</a:t>
            </a:r>
          </a:p>
          <a:p/>
          <a:p>
            <a:r>
              <a:t>WALK IT</a:t>
            </a:r>
          </a:p>
          <a:p>
            <a:r>
              <a:t>- The squad: 4 developers and a QA today; with the harness, one developer directs the agent, a QA verifies, and the agent drafts code, tests and the Copado package overnight. People review, approve and own every change.</a:t>
            </a:r>
          </a:p>
          <a:p>
            <a:r>
              <a:t>- The pod: what changes for every pod (pilot targets, baselined per pod): a new engineer is productive in about a week instead of 4-6 weeks, because they ask the graph; agents work overnight, so delivery runs about 20 hours a day instead of office hours; every change is checked against the same standards; a new pod goes live on the platform in 2 weeks instead of about 2 months.</a:t>
            </a:r>
          </a:p>
          <a:p>
            <a:r>
              <a:t>- The build: 17 people at peak, 10 roles, 18 months, $4.79M fixed fee paid only when each gate is signed. From month 19 a run team of 4 keeps it running, about $1.24M a year with platform usage.</a:t>
            </a:r>
          </a:p>
          <a:p>
            <a:r>
              <a:t>- The return (target, first full year after go-live): $16M a year today, $7M with the harness, $9M saved every year, on a $5.0M investment. Paid back in under 7 months; 80% first-year return.</a:t>
            </a:r>
          </a:p>
          <a:p>
            <a:r>
              <a:t>- Floor we commit to: 20-25% lower net run cost per pod, measured against each pod's baseline.</a:t>
            </a:r>
          </a:p>
          <a:p/>
          <a:p>
            <a:r>
              <a:t>KEEP IT HONEST</a:t>
            </a:r>
          </a:p>
          <a:p>
            <a:r>
              <a:t>- Baseline every pod first. Year 1 delivers about 60-70% of steady state while pods onboard.</a:t>
            </a:r>
          </a:p>
          <a:p>
            <a:r>
              <a:t>- Approvals, UAT and CAB stay human and take the same time.</a:t>
            </a:r>
          </a:p>
          <a:p>
            <a:r>
              <a:t>- These figures cover delivery. The campaign data platform and the Sierra voice agent are sized separately, after Phase 0.</a:t>
            </a:r>
          </a:p>
          <a:p>
            <a:r>
              <a:t>- Rates are assumed for sizing; replace with the Insight Global rate card before sharing.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8.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9.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AGENTS FOR DELIVERY AND DATA</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Ascension Agentic Harness</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One harness, two jobs: Health Cloud delivery from Codex, and Marketing Cloud campaigns on governed, masked Google Cloud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1A1A1A"/>
                </a:solidFill>
                <a:latin typeface="Trenda IG Text"/>
              </a:rPr>
              <a:t>AGENT SOURCES</a:t>
            </a:r>
            <a:r>
              <a:rPr sz="700" b="0" i="0">
                <a:solidFill>
                  <a:srgbClr val="1A1A1A"/>
                </a:solidFill>
                <a:latin typeface="Trenda IG Text"/>
              </a:rPr>
              <a:t>   read + write via the gateway</a:t>
            </a:r>
          </a:p>
        </p:txBody>
      </p:sp>
      <p:sp>
        <p:nvSpPr>
          <p:cNvPr id="7" name="Shape 6"/>
          <p:cNvSpPr/>
          <p:nvPr/>
        </p:nvSpPr>
        <p:spPr>
          <a:xfrm>
            <a:off x="411480" y="1444752"/>
            <a:ext cx="2514600"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1A1A1A"/>
                </a:solidFill>
                <a:latin typeface="Trenda IG Text"/>
              </a:rPr>
              <a:t>Jira</a:t>
            </a:r>
          </a:p>
          <a:p>
            <a:r>
              <a:rPr sz="700" b="0" i="0">
                <a:solidFill>
                  <a:srgbClr val="6B6B6B"/>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1A1A1A"/>
                </a:solidFill>
                <a:latin typeface="Trenda IG Text"/>
              </a:rPr>
              <a:t>Confluence</a:t>
            </a:r>
          </a:p>
          <a:p>
            <a:r>
              <a:rPr sz="700" b="0" i="0">
                <a:solidFill>
                  <a:srgbClr val="6B6B6B"/>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1A1A1A"/>
                </a:solidFill>
                <a:latin typeface="Trenda IG Text"/>
              </a:rPr>
              <a:t>Salesforce</a:t>
            </a:r>
          </a:p>
          <a:p>
            <a:r>
              <a:rPr sz="700" b="0" i="0">
                <a:solidFill>
                  <a:srgbClr val="6B6B6B"/>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1A1A1A"/>
                </a:solidFill>
                <a:latin typeface="Trenda IG Text"/>
              </a:rPr>
              <a:t>Git</a:t>
            </a:r>
          </a:p>
          <a:p>
            <a:r>
              <a:rPr sz="700" b="0" i="0">
                <a:solidFill>
                  <a:srgbClr val="6B6B6B"/>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1A1A1A"/>
                </a:solidFill>
                <a:latin typeface="Trenda IG Text"/>
              </a:rPr>
              <a:t>Copado</a:t>
            </a:r>
          </a:p>
          <a:p>
            <a:r>
              <a:rPr sz="700" b="0" i="0">
                <a:solidFill>
                  <a:srgbClr val="6B6B6B"/>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1A1A1A"/>
                </a:solidFill>
                <a:latin typeface="Trenda IG Text"/>
              </a:rPr>
              <a:t>Google Drive</a:t>
            </a:r>
          </a:p>
          <a:p>
            <a:r>
              <a:rPr sz="700" b="0" i="0">
                <a:solidFill>
                  <a:srgbClr val="6B6B6B"/>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0089A0"/>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F5F5F5"/>
          </a:solidFill>
          <a:ln w="1587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1A1A1A"/>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4D4D4D"/>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6B6B6B"/>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1A1A1A"/>
                </a:solidFill>
                <a:latin typeface="Trenda IG Text"/>
              </a:rPr>
              <a:t>DELIVERY AGENTS</a:t>
            </a:r>
            <a:r>
              <a:rPr sz="700" b="0" i="0">
                <a:solidFill>
                  <a:srgbClr val="1A1A1A"/>
                </a:solidFill>
                <a:latin typeface="Trenda IG Text"/>
              </a:rPr>
              <a:t>   the same on every pod</a:t>
            </a:r>
          </a:p>
        </p:txBody>
      </p:sp>
      <p:sp>
        <p:nvSpPr>
          <p:cNvPr id="29" name="Shape 22"/>
          <p:cNvSpPr/>
          <p:nvPr/>
        </p:nvSpPr>
        <p:spPr>
          <a:xfrm>
            <a:off x="3063240" y="1499616"/>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4D4D4D"/>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36" name="Shape 29"/>
          <p:cNvSpPr/>
          <p:nvPr/>
        </p:nvSpPr>
        <p:spPr>
          <a:xfrm>
            <a:off x="3063240" y="1751990"/>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1A1A1A"/>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4D4D4D"/>
                </a:solidFill>
                <a:latin typeface="Trenda IG Text"/>
              </a:rPr>
              <a:t>User stories and functional decomposition from the Jira story</a:t>
            </a:r>
          </a:p>
        </p:txBody>
      </p:sp>
      <p:sp>
        <p:nvSpPr>
          <p:cNvPr id="41" name="Shape 34"/>
          <p:cNvSpPr/>
          <p:nvPr/>
        </p:nvSpPr>
        <p:spPr>
          <a:xfrm>
            <a:off x="7955279" y="1786737"/>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43" name="Shape 36"/>
          <p:cNvSpPr/>
          <p:nvPr/>
        </p:nvSpPr>
        <p:spPr>
          <a:xfrm>
            <a:off x="3063240" y="200436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1A1A1A"/>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4D4D4D"/>
                </a:solidFill>
                <a:latin typeface="Trenda IG Text"/>
              </a:rPr>
              <a:t>Impact and reuse from the graph; </a:t>
            </a:r>
            <a:r>
              <a:rPr sz="700" b="1" i="0">
                <a:solidFill>
                  <a:srgbClr val="1A1A1A"/>
                </a:solidFill>
                <a:latin typeface="Trenda IG Text"/>
              </a:rPr>
              <a:t>Change Guardian</a:t>
            </a:r>
            <a:r>
              <a:rPr sz="700" b="0" i="0">
                <a:solidFill>
                  <a:srgbClr val="4D4D4D"/>
                </a:solidFill>
                <a:latin typeface="Trenda IG Text"/>
              </a:rPr>
              <a:t> flags cross-pod risk</a:t>
            </a:r>
          </a:p>
        </p:txBody>
      </p:sp>
      <p:sp>
        <p:nvSpPr>
          <p:cNvPr id="48" name="Shape 41"/>
          <p:cNvSpPr/>
          <p:nvPr/>
        </p:nvSpPr>
        <p:spPr>
          <a:xfrm>
            <a:off x="7955279" y="2039112"/>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50" name="Shape 43"/>
          <p:cNvSpPr/>
          <p:nvPr/>
        </p:nvSpPr>
        <p:spPr>
          <a:xfrm>
            <a:off x="3063240" y="225673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1A1A1A"/>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4D4D4D"/>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57" name="Shape 50"/>
          <p:cNvSpPr/>
          <p:nvPr/>
        </p:nvSpPr>
        <p:spPr>
          <a:xfrm>
            <a:off x="3063240" y="250911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1A1A1A"/>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4D4D4D"/>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64" name="Shape 57"/>
          <p:cNvSpPr/>
          <p:nvPr/>
        </p:nvSpPr>
        <p:spPr>
          <a:xfrm>
            <a:off x="3063240" y="276148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1A1A1A"/>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4D4D4D"/>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71" name="Shape 64"/>
          <p:cNvSpPr/>
          <p:nvPr/>
        </p:nvSpPr>
        <p:spPr>
          <a:xfrm>
            <a:off x="3063240" y="301386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1A1A1A"/>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4D4D4D"/>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78" name="Shape 71"/>
          <p:cNvSpPr/>
          <p:nvPr/>
        </p:nvSpPr>
        <p:spPr>
          <a:xfrm>
            <a:off x="3063240" y="3321100"/>
            <a:ext cx="5806440"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1A1A1A"/>
                </a:solidFill>
                <a:latin typeface="Trenda IG Text"/>
              </a:rPr>
              <a:t>CAMPAIGN AGENTS</a:t>
            </a:r>
            <a:r>
              <a:rPr sz="700" b="0" i="0">
                <a:solidFill>
                  <a:srgbClr val="1A1A1A"/>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1A1A1A"/>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4D4D4D"/>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COORDINATES</a:t>
            </a:r>
          </a:p>
        </p:txBody>
      </p:sp>
      <p:sp>
        <p:nvSpPr>
          <p:cNvPr id="87" name="Shape 80"/>
          <p:cNvSpPr/>
          <p:nvPr/>
        </p:nvSpPr>
        <p:spPr>
          <a:xfrm>
            <a:off x="3063240" y="3902659"/>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4D4D4D"/>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94" name="Shape 87"/>
          <p:cNvSpPr/>
          <p:nvPr/>
        </p:nvSpPr>
        <p:spPr>
          <a:xfrm>
            <a:off x="3063240" y="4155033"/>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1A1A1A"/>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01" name="Shape 94"/>
          <p:cNvSpPr/>
          <p:nvPr/>
        </p:nvSpPr>
        <p:spPr>
          <a:xfrm>
            <a:off x="3063240" y="4407407"/>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4D4D4D"/>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08" name="Shape 101"/>
          <p:cNvSpPr/>
          <p:nvPr/>
        </p:nvSpPr>
        <p:spPr>
          <a:xfrm>
            <a:off x="3063240" y="4659782"/>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1A1A1A"/>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4D4D4D"/>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HUMAN GATE</a:t>
            </a:r>
          </a:p>
        </p:txBody>
      </p:sp>
      <p:sp>
        <p:nvSpPr>
          <p:cNvPr id="115" name="Shape 108"/>
          <p:cNvSpPr/>
          <p:nvPr/>
        </p:nvSpPr>
        <p:spPr>
          <a:xfrm>
            <a:off x="3063240" y="4912156"/>
            <a:ext cx="5806440" cy="21579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1A1A1A"/>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4D4D4D"/>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0089A0"/>
                </a:solidFill>
                <a:latin typeface="Trenda IG Text"/>
              </a:rPr>
              <a:t>GUARD</a:t>
            </a:r>
          </a:p>
        </p:txBody>
      </p:sp>
      <p:sp>
        <p:nvSpPr>
          <p:cNvPr id="122" name="Shape 115"/>
          <p:cNvSpPr/>
          <p:nvPr/>
        </p:nvSpPr>
        <p:spPr>
          <a:xfrm>
            <a:off x="3063240" y="5164531"/>
            <a:ext cx="5806440" cy="21579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4D4D4D"/>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1A1A1A"/>
                </a:solidFill>
                <a:latin typeface="Trenda IG Text"/>
              </a:rPr>
              <a:t>AI-LED</a:t>
            </a:r>
          </a:p>
        </p:txBody>
      </p:sp>
      <p:sp>
        <p:nvSpPr>
          <p:cNvPr id="129" name="Shape 122"/>
          <p:cNvSpPr/>
          <p:nvPr/>
        </p:nvSpPr>
        <p:spPr>
          <a:xfrm>
            <a:off x="9006840" y="1170432"/>
            <a:ext cx="277063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1A1A1A"/>
                </a:solidFill>
                <a:latin typeface="Trenda IG Text"/>
              </a:rPr>
              <a:t>POD SKILLS</a:t>
            </a:r>
            <a:r>
              <a:rPr sz="700" b="0" i="0">
                <a:solidFill>
                  <a:srgbClr val="1A1A1A"/>
                </a:solidFill>
                <a:latin typeface="Trenda IG Text"/>
              </a:rPr>
              <a:t>   what changes per pod</a:t>
            </a:r>
          </a:p>
        </p:txBody>
      </p:sp>
      <p:sp>
        <p:nvSpPr>
          <p:cNvPr id="131" name="Shape 124"/>
          <p:cNvSpPr/>
          <p:nvPr/>
        </p:nvSpPr>
        <p:spPr>
          <a:xfrm>
            <a:off x="9006840" y="1444752"/>
            <a:ext cx="2770632" cy="3995928"/>
          </a:xfrm>
          <a:prstGeom prst="rect">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1A1A1A"/>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6B6B6B"/>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1A1A1A"/>
                </a:solidFill>
                <a:latin typeface="Trenda IG Text"/>
              </a:rPr>
              <a:t>Apex, Flows, LWC, sharing, Health Cloud objects</a:t>
            </a:r>
          </a:p>
        </p:txBody>
      </p:sp>
      <p:sp>
        <p:nvSpPr>
          <p:cNvPr id="136" name="Shape 128"/>
          <p:cNvSpPr/>
          <p:nvPr/>
        </p:nvSpPr>
        <p:spPr>
          <a:xfrm>
            <a:off x="9116567" y="2267712"/>
            <a:ext cx="1060704" cy="164592"/>
          </a:xfrm>
          <a:prstGeom prst="roundRect">
            <a:avLst>
              <a:gd name="adj" fmla="val 50000"/>
            </a:avLst>
          </a:prstGeom>
          <a:noFill/>
          <a:ln w="9525">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1060704" cy="164592"/>
          </a:xfrm>
          <a:prstGeom prst="rect">
            <a:avLst/>
          </a:prstGeom>
          <a:noFill/>
        </p:spPr>
        <p:txBody>
          <a:bodyPr wrap="square" lIns="0" rIns="0" tIns="0" bIns="0" anchor="ctr">
            <a:spAutoFit/>
          </a:bodyPr>
          <a:lstStyle/>
          <a:p>
            <a:pPr algn="ctr"/>
            <a:r>
              <a:rPr sz="700" b="1" i="0" spc="80">
                <a:solidFill>
                  <a:srgbClr val="1A1A1A"/>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0089A0"/>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6B6B6B"/>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1A1A1A"/>
                </a:solidFill>
                <a:latin typeface="Trenda IG Text"/>
              </a:rPr>
              <a:t>Data Cloud, SFMC SQL, AMPscript, journeys</a:t>
            </a:r>
          </a:p>
        </p:txBody>
      </p:sp>
      <p:sp>
        <p:nvSpPr>
          <p:cNvPr id="142" name="Shape 133"/>
          <p:cNvSpPr/>
          <p:nvPr/>
        </p:nvSpPr>
        <p:spPr>
          <a:xfrm>
            <a:off x="9116567" y="3291840"/>
            <a:ext cx="1704441"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704441" cy="164592"/>
          </a:xfrm>
          <a:prstGeom prst="rect">
            <a:avLst/>
          </a:prstGeom>
          <a:noFill/>
        </p:spPr>
        <p:txBody>
          <a:bodyPr wrap="square" lIns="0" rIns="0" tIns="0" bIns="0" anchor="ctr">
            <a:spAutoFit/>
          </a:bodyPr>
          <a:lstStyle/>
          <a:p>
            <a:pPr algn="ctr"/>
            <a:r>
              <a:rPr sz="700" b="1" i="0" spc="80">
                <a:solidFill>
                  <a:srgbClr val="0089A0"/>
                </a:solidFill>
                <a:latin typeface="Trenda IG Text"/>
              </a:rPr>
              <a:t>DELIVERY + CAMPAIGN AGENTS</a:t>
            </a:r>
          </a:p>
        </p:txBody>
      </p:sp>
      <p:sp>
        <p:nvSpPr>
          <p:cNvPr id="144" name="Shape 135"/>
          <p:cNvSpPr/>
          <p:nvPr/>
        </p:nvSpPr>
        <p:spPr>
          <a:xfrm>
            <a:off x="10875873" y="3291840"/>
            <a:ext cx="651052"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875873" y="3291840"/>
            <a:ext cx="651052" cy="164592"/>
          </a:xfrm>
          <a:prstGeom prst="rect">
            <a:avLst/>
          </a:prstGeom>
          <a:noFill/>
        </p:spPr>
        <p:txBody>
          <a:bodyPr wrap="square" lIns="0" rIns="0" tIns="0" bIns="0" anchor="ctr">
            <a:spAutoFit/>
          </a:bodyPr>
          <a:lstStyle/>
          <a:p>
            <a:pPr algn="ctr"/>
            <a:r>
              <a:rPr sz="700" b="1" i="0" spc="80">
                <a:solidFill>
                  <a:srgbClr val="0089A0"/>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1A1A1A"/>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6B6B6B"/>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1A1A1A"/>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1A1A1A"/>
                </a:solidFill>
                <a:latin typeface="Trenda IG Text"/>
              </a:rPr>
              <a:t>A new pod adds its sources and skills, not new agents.</a:t>
            </a:r>
          </a:p>
        </p:txBody>
      </p:sp>
      <p:sp>
        <p:nvSpPr>
          <p:cNvPr id="151" name="Text 142"/>
          <p:cNvSpPr txBox="1"/>
          <p:nvPr/>
        </p:nvSpPr>
        <p:spPr>
          <a:xfrm>
            <a:off x="411480" y="5504688"/>
            <a:ext cx="1188720" cy="347472"/>
          </a:xfrm>
          <a:prstGeom prst="rect">
            <a:avLst/>
          </a:prstGeom>
          <a:noFill/>
        </p:spPr>
        <p:txBody>
          <a:bodyPr wrap="square" lIns="0" rIns="0" tIns="0" bIns="0" anchor="ctr">
            <a:spAutoFit/>
          </a:bodyPr>
          <a:lstStyle/>
          <a:p>
            <a:r>
              <a:rPr sz="700" b="1" i="0" spc="120">
                <a:solidFill>
                  <a:srgbClr val="1A1A1A"/>
                </a:solidFill>
                <a:latin typeface="Trenda IG Text"/>
              </a:rPr>
              <a:t>DELIVERY PATH</a:t>
            </a:r>
          </a:p>
        </p:txBody>
      </p:sp>
      <p:sp>
        <p:nvSpPr>
          <p:cNvPr id="152" name="Shape 143"/>
          <p:cNvSpPr/>
          <p:nvPr/>
        </p:nvSpPr>
        <p:spPr>
          <a:xfrm>
            <a:off x="1645920"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AI build</a:t>
            </a:r>
          </a:p>
          <a:p>
            <a:pPr algn="ctr">
              <a:lnSpc>
                <a:spcPct val="90000"/>
              </a:lnSpc>
            </a:pPr>
            <a:r>
              <a:rPr sz="700" b="0" i="0">
                <a:solidFill>
                  <a:srgbClr val="4D4D4D"/>
                </a:solidFill>
                <a:latin typeface="Trenda IG Text"/>
              </a:rPr>
              <a:t>Developer Agent</a:t>
            </a:r>
          </a:p>
        </p:txBody>
      </p:sp>
      <p:cxnSp>
        <p:nvCxnSpPr>
          <p:cNvPr id="154" name="Arrow 145"/>
          <p:cNvCxnSpPr/>
          <p:nvPr/>
        </p:nvCxnSpPr>
        <p:spPr>
          <a:xfrm>
            <a:off x="2848356"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921508"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921508"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Copado</a:t>
            </a:r>
          </a:p>
          <a:p>
            <a:pPr algn="ctr">
              <a:lnSpc>
                <a:spcPct val="90000"/>
              </a:lnSpc>
            </a:pPr>
            <a:r>
              <a:rPr sz="700" b="0" i="0">
                <a:solidFill>
                  <a:srgbClr val="4D4D4D"/>
                </a:solidFill>
                <a:latin typeface="Trenda IG Text"/>
              </a:rPr>
              <a:t>Release Agent</a:t>
            </a:r>
          </a:p>
        </p:txBody>
      </p:sp>
      <p:cxnSp>
        <p:nvCxnSpPr>
          <p:cNvPr id="157" name="Arrow 148"/>
          <p:cNvCxnSpPr/>
          <p:nvPr/>
        </p:nvCxnSpPr>
        <p:spPr>
          <a:xfrm>
            <a:off x="4123944"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4197096"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4197096"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Quality gates</a:t>
            </a:r>
          </a:p>
          <a:p>
            <a:pPr algn="ctr">
              <a:lnSpc>
                <a:spcPct val="90000"/>
              </a:lnSpc>
            </a:pPr>
            <a:r>
              <a:rPr sz="700" b="0" i="0">
                <a:solidFill>
                  <a:srgbClr val="4D4D4D"/>
                </a:solidFill>
                <a:latin typeface="Trenda IG Text"/>
              </a:rPr>
              <a:t>Review + Test Agents</a:t>
            </a:r>
          </a:p>
        </p:txBody>
      </p:sp>
      <p:cxnSp>
        <p:nvCxnSpPr>
          <p:cNvPr id="160" name="Arrow 151"/>
          <p:cNvCxnSpPr/>
          <p:nvPr/>
        </p:nvCxnSpPr>
        <p:spPr>
          <a:xfrm>
            <a:off x="5399531"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472683"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472683"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DEV</a:t>
            </a:r>
          </a:p>
          <a:p>
            <a:pPr algn="ctr">
              <a:lnSpc>
                <a:spcPct val="90000"/>
              </a:lnSpc>
            </a:pPr>
            <a:r>
              <a:rPr sz="700" b="0" i="0">
                <a:solidFill>
                  <a:srgbClr val="4D4D4D"/>
                </a:solidFill>
                <a:latin typeface="Trenda IG Text"/>
              </a:rPr>
              <a:t>Release Agent</a:t>
            </a:r>
          </a:p>
        </p:txBody>
      </p:sp>
      <p:cxnSp>
        <p:nvCxnSpPr>
          <p:cNvPr id="163" name="Arrow 154"/>
          <p:cNvCxnSpPr/>
          <p:nvPr/>
        </p:nvCxnSpPr>
        <p:spPr>
          <a:xfrm>
            <a:off x="6675119"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748271"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748271"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SIT</a:t>
            </a:r>
          </a:p>
          <a:p>
            <a:pPr algn="ctr">
              <a:lnSpc>
                <a:spcPct val="90000"/>
              </a:lnSpc>
            </a:pPr>
            <a:r>
              <a:rPr sz="700" b="0" i="0">
                <a:solidFill>
                  <a:srgbClr val="4D4D4D"/>
                </a:solidFill>
                <a:latin typeface="Trenda IG Text"/>
              </a:rPr>
              <a:t>Test Agent</a:t>
            </a:r>
          </a:p>
        </p:txBody>
      </p:sp>
      <p:cxnSp>
        <p:nvCxnSpPr>
          <p:cNvPr id="166" name="Arrow 157"/>
          <p:cNvCxnSpPr/>
          <p:nvPr/>
        </p:nvCxnSpPr>
        <p:spPr>
          <a:xfrm>
            <a:off x="7950707"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8023859" y="5504688"/>
            <a:ext cx="1202436"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8023859" y="5504688"/>
            <a:ext cx="1202436"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UAT</a:t>
            </a:r>
          </a:p>
          <a:p>
            <a:pPr algn="ctr">
              <a:lnSpc>
                <a:spcPct val="90000"/>
              </a:lnSpc>
            </a:pPr>
            <a:r>
              <a:rPr sz="700" b="0" i="0">
                <a:solidFill>
                  <a:srgbClr val="0089A0"/>
                </a:solidFill>
                <a:latin typeface="Trenda IG Text"/>
              </a:rPr>
              <a:t>business users</a:t>
            </a:r>
          </a:p>
        </p:txBody>
      </p:sp>
      <p:cxnSp>
        <p:nvCxnSpPr>
          <p:cNvPr id="169" name="Arrow 160"/>
          <p:cNvCxnSpPr/>
          <p:nvPr/>
        </p:nvCxnSpPr>
        <p:spPr>
          <a:xfrm>
            <a:off x="9226295"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9299447" y="5504688"/>
            <a:ext cx="1202436"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9299447" y="5504688"/>
            <a:ext cx="1202436"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CAB</a:t>
            </a:r>
          </a:p>
          <a:p>
            <a:pPr algn="ctr">
              <a:lnSpc>
                <a:spcPct val="90000"/>
              </a:lnSpc>
            </a:pPr>
            <a:r>
              <a:rPr sz="700" b="0" i="0">
                <a:solidFill>
                  <a:srgbClr val="0089A0"/>
                </a:solidFill>
                <a:latin typeface="Trenda IG Text"/>
              </a:rPr>
              <a:t>change board</a:t>
            </a:r>
          </a:p>
        </p:txBody>
      </p:sp>
      <p:cxnSp>
        <p:nvCxnSpPr>
          <p:cNvPr id="172" name="Arrow 163"/>
          <p:cNvCxnSpPr/>
          <p:nvPr/>
        </p:nvCxnSpPr>
        <p:spPr>
          <a:xfrm>
            <a:off x="10501883"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10575035" y="5504688"/>
            <a:ext cx="1202436" cy="347472"/>
          </a:xfrm>
          <a:prstGeom prst="roundRect">
            <a:avLst>
              <a:gd name="adj" fmla="val 30000"/>
            </a:avLst>
          </a:prstGeom>
          <a:solidFill>
            <a:srgbClr val="F5F5F5"/>
          </a:solidFill>
          <a:ln w="1143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10575035" y="5504688"/>
            <a:ext cx="1202436"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PROD</a:t>
            </a:r>
          </a:p>
          <a:p>
            <a:pPr algn="ctr">
              <a:lnSpc>
                <a:spcPct val="90000"/>
              </a:lnSpc>
            </a:pPr>
            <a:r>
              <a:rPr sz="700" b="0" i="0">
                <a:solidFill>
                  <a:srgbClr val="4D4D4D"/>
                </a:solidFill>
                <a:latin typeface="Trenda IG Text"/>
              </a:rPr>
              <a:t>owning team</a:t>
            </a:r>
          </a:p>
        </p:txBody>
      </p:sp>
      <p:sp>
        <p:nvSpPr>
          <p:cNvPr id="175" name="Text 166"/>
          <p:cNvSpPr txBox="1"/>
          <p:nvPr/>
        </p:nvSpPr>
        <p:spPr>
          <a:xfrm>
            <a:off x="411480" y="5907024"/>
            <a:ext cx="1188720" cy="347472"/>
          </a:xfrm>
          <a:prstGeom prst="rect">
            <a:avLst/>
          </a:prstGeom>
          <a:noFill/>
        </p:spPr>
        <p:txBody>
          <a:bodyPr wrap="square" lIns="0" rIns="0" tIns="0" bIns="0" anchor="ctr">
            <a:spAutoFit/>
          </a:bodyPr>
          <a:lstStyle/>
          <a:p>
            <a:r>
              <a:rPr sz="700" b="1" i="0" spc="120">
                <a:solidFill>
                  <a:srgbClr val="0089A0"/>
                </a:solidFill>
                <a:latin typeface="Trenda IG Text"/>
              </a:rPr>
              <a:t>CAMPAIGN PATH</a:t>
            </a:r>
          </a:p>
        </p:txBody>
      </p:sp>
      <p:sp>
        <p:nvSpPr>
          <p:cNvPr id="176" name="Shape 167"/>
          <p:cNvSpPr/>
          <p:nvPr/>
        </p:nvSpPr>
        <p:spPr>
          <a:xfrm>
            <a:off x="1645920"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645920"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Prompt in Codex</a:t>
            </a:r>
          </a:p>
          <a:p>
            <a:pPr algn="ctr">
              <a:lnSpc>
                <a:spcPct val="90000"/>
              </a:lnSpc>
            </a:pPr>
            <a:r>
              <a:rPr sz="700" b="0" i="0">
                <a:solidFill>
                  <a:srgbClr val="4D4D4D"/>
                </a:solidFill>
                <a:latin typeface="Trenda IG Text"/>
              </a:rPr>
              <a:t>Orchestrator</a:t>
            </a:r>
          </a:p>
        </p:txBody>
      </p:sp>
      <p:cxnSp>
        <p:nvCxnSpPr>
          <p:cNvPr id="178" name="Arrow 169"/>
          <p:cNvCxnSpPr/>
          <p:nvPr/>
        </p:nvCxnSpPr>
        <p:spPr>
          <a:xfrm>
            <a:off x="3273552"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70"/>
          <p:cNvSpPr/>
          <p:nvPr/>
        </p:nvSpPr>
        <p:spPr>
          <a:xfrm>
            <a:off x="3346704"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3346704"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Gold A insights</a:t>
            </a:r>
          </a:p>
          <a:p>
            <a:pPr algn="ctr">
              <a:lnSpc>
                <a:spcPct val="90000"/>
              </a:lnSpc>
            </a:pPr>
            <a:r>
              <a:rPr sz="700" b="0" i="0">
                <a:solidFill>
                  <a:srgbClr val="4D4D4D"/>
                </a:solidFill>
                <a:latin typeface="Trenda IG Text"/>
              </a:rPr>
              <a:t>Strategist + Analytics</a:t>
            </a:r>
          </a:p>
        </p:txBody>
      </p:sp>
      <p:cxnSp>
        <p:nvCxnSpPr>
          <p:cNvPr id="181" name="Arrow 172"/>
          <p:cNvCxnSpPr/>
          <p:nvPr/>
        </p:nvCxnSpPr>
        <p:spPr>
          <a:xfrm>
            <a:off x="4974336"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5047488"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5047488"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Build + test</a:t>
            </a:r>
          </a:p>
          <a:p>
            <a:pPr algn="ctr">
              <a:lnSpc>
                <a:spcPct val="90000"/>
              </a:lnSpc>
            </a:pPr>
            <a:r>
              <a:rPr sz="700" b="0" i="0">
                <a:solidFill>
                  <a:srgbClr val="4D4D4D"/>
                </a:solidFill>
                <a:latin typeface="Trenda IG Text"/>
              </a:rPr>
              <a:t>Design + Readiness</a:t>
            </a:r>
          </a:p>
        </p:txBody>
      </p:sp>
      <p:cxnSp>
        <p:nvCxnSpPr>
          <p:cNvPr id="184" name="Arrow 175"/>
          <p:cNvCxnSpPr/>
          <p:nvPr/>
        </p:nvCxnSpPr>
        <p:spPr>
          <a:xfrm>
            <a:off x="6675120"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6748272"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6748272" y="5907024"/>
            <a:ext cx="1627632" cy="347472"/>
          </a:xfrm>
          <a:prstGeom prst="rect">
            <a:avLst/>
          </a:prstGeom>
          <a:noFill/>
        </p:spPr>
        <p:txBody>
          <a:bodyPr wrap="square" lIns="0" rIns="0" tIns="0" bIns="0" anchor="ctr">
            <a:spAutoFit/>
          </a:bodyPr>
          <a:lstStyle/>
          <a:p>
            <a:pPr algn="ctr">
              <a:lnSpc>
                <a:spcPct val="90000"/>
              </a:lnSpc>
            </a:pPr>
            <a:r>
              <a:rPr sz="700" b="1" i="0">
                <a:solidFill>
                  <a:srgbClr val="0089A0"/>
                </a:solidFill>
                <a:latin typeface="Trenda IG Text"/>
              </a:rPr>
              <a:t>Pre-send review</a:t>
            </a:r>
          </a:p>
          <a:p>
            <a:pPr algn="ctr">
              <a:lnSpc>
                <a:spcPct val="90000"/>
              </a:lnSpc>
            </a:pPr>
            <a:r>
              <a:rPr sz="700" b="0" i="0">
                <a:solidFill>
                  <a:srgbClr val="0089A0"/>
                </a:solidFill>
                <a:latin typeface="Trenda IG Text"/>
              </a:rPr>
              <a:t>SME + tech lead</a:t>
            </a:r>
          </a:p>
        </p:txBody>
      </p:sp>
      <p:cxnSp>
        <p:nvCxnSpPr>
          <p:cNvPr id="187" name="Arrow 178"/>
          <p:cNvCxnSpPr/>
          <p:nvPr/>
        </p:nvCxnSpPr>
        <p:spPr>
          <a:xfrm>
            <a:off x="8375904"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8449056"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8449056"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Gateway release</a:t>
            </a:r>
          </a:p>
          <a:p>
            <a:pPr algn="ctr">
              <a:lnSpc>
                <a:spcPct val="90000"/>
              </a:lnSpc>
            </a:pPr>
            <a:r>
              <a:rPr sz="700" b="0" i="0">
                <a:solidFill>
                  <a:srgbClr val="4D4D4D"/>
                </a:solidFill>
                <a:latin typeface="Trenda IG Text"/>
              </a:rPr>
              <a:t>policy service</a:t>
            </a:r>
          </a:p>
        </p:txBody>
      </p:sp>
      <p:cxnSp>
        <p:nvCxnSpPr>
          <p:cNvPr id="190" name="Arrow 181"/>
          <p:cNvCxnSpPr/>
          <p:nvPr/>
        </p:nvCxnSpPr>
        <p:spPr>
          <a:xfrm>
            <a:off x="10076688"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10149840" y="5907024"/>
            <a:ext cx="1627632" cy="347472"/>
          </a:xfrm>
          <a:prstGeom prst="roundRect">
            <a:avLst>
              <a:gd name="adj" fmla="val 30000"/>
            </a:avLst>
          </a:prstGeom>
          <a:solidFill>
            <a:srgbClr val="F5F5F5"/>
          </a:solidFill>
          <a:ln w="1143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10149840" y="5907024"/>
            <a:ext cx="1627632" cy="347472"/>
          </a:xfrm>
          <a:prstGeom prst="rect">
            <a:avLst/>
          </a:prstGeom>
          <a:noFill/>
        </p:spPr>
        <p:txBody>
          <a:bodyPr wrap="square" lIns="0" rIns="0" tIns="0" bIns="0" anchor="ctr">
            <a:spAutoFit/>
          </a:bodyPr>
          <a:lstStyle/>
          <a:p>
            <a:pPr algn="ctr">
              <a:lnSpc>
                <a:spcPct val="90000"/>
              </a:lnSpc>
            </a:pPr>
            <a:r>
              <a:rPr sz="700" b="1" i="0">
                <a:solidFill>
                  <a:srgbClr val="1A1A1A"/>
                </a:solidFill>
                <a:latin typeface="Trenda IG Text"/>
              </a:rPr>
              <a:t>Journey runs</a:t>
            </a:r>
          </a:p>
          <a:p>
            <a:pPr algn="ctr">
              <a:lnSpc>
                <a:spcPct val="90000"/>
              </a:lnSpc>
            </a:pPr>
            <a:r>
              <a:rPr sz="700" b="0" i="0">
                <a:solidFill>
                  <a:srgbClr val="4D4D4D"/>
                </a:solidFill>
                <a:latin typeface="Trenda IG Text"/>
              </a:rPr>
              <a:t>Marketing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8A6D00"/>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1A1A1A"/>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1A1A1A"/>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1A1A1A"/>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C9A1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1A1A1A"/>
                </a:solidFill>
                <a:latin typeface="Trenda IG Text"/>
              </a:rPr>
              <a:t>Harness</a:t>
            </a:r>
          </a:p>
          <a:p>
            <a:pPr>
              <a:lnSpc>
                <a:spcPct val="90000"/>
              </a:lnSpc>
            </a:pPr>
            <a:r>
              <a:rPr sz="1000" b="0" i="0">
                <a:solidFill>
                  <a:srgbClr val="1A1A1A"/>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1A1A1A"/>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4D4D4D"/>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1A1A1A"/>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4D4D4D"/>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1A1A1A"/>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4D4D4D"/>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1A1A1A"/>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4D4D4D"/>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1A1A1A"/>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700" b="0" i="0">
                <a:solidFill>
                  <a:srgbClr val="4D4D4D"/>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1A1A1A"/>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6B6B6B"/>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1A1A1A"/>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4D4D4D"/>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1A1A1A"/>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6B6B6B"/>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1A1A1A"/>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4D4D4D"/>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8A6D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1A1A1A"/>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1A1A1A"/>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1A1A1A"/>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1A1A1A"/>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1A1A1A"/>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1A1A1A"/>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1A1A1A"/>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6B6B6B"/>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860" b="1" i="0">
                <a:solidFill>
                  <a:srgbClr val="8A6D00"/>
                </a:solidFill>
                <a:latin typeface="Trenda IG Text"/>
              </a:rPr>
              <a:t>Change Guardian</a:t>
            </a:r>
          </a:p>
        </p:txBody>
      </p:sp>
      <p:sp>
        <p:nvSpPr>
          <p:cNvPr id="88" name="Shape 81"/>
          <p:cNvSpPr/>
          <p:nvPr/>
        </p:nvSpPr>
        <p:spPr>
          <a:xfrm>
            <a:off x="7854696" y="2423160"/>
            <a:ext cx="694944" cy="155448"/>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7854696" y="2423160"/>
            <a:ext cx="694944" cy="155448"/>
          </a:xfrm>
          <a:prstGeom prst="rect">
            <a:avLst/>
          </a:prstGeom>
          <a:noFill/>
        </p:spPr>
        <p:txBody>
          <a:bodyPr wrap="square" lIns="0" rIns="0" tIns="0" bIns="0" anchor="ctr">
            <a:spAutoFit/>
          </a:bodyPr>
          <a:lstStyle/>
          <a:p>
            <a:pPr algn="ctr"/>
            <a:r>
              <a:rPr sz="700" b="1" i="0" spc="80">
                <a:solidFill>
                  <a:srgbClr val="1A1A1A"/>
                </a:solidFill>
                <a:latin typeface="Trenda IG Text"/>
              </a:rPr>
              <a:t>WE BUILD IT</a:t>
            </a:r>
          </a:p>
        </p:txBody>
      </p:sp>
      <p:sp>
        <p:nvSpPr>
          <p:cNvPr id="90" name="Text 83"/>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1A1A1A"/>
                </a:solidFill>
                <a:latin typeface="Trenda IG Text"/>
              </a:rPr>
              <a:t>Guardrails in + out · Model Armor</a:t>
            </a:r>
          </a:p>
        </p:txBody>
      </p:sp>
      <p:sp>
        <p:nvSpPr>
          <p:cNvPr id="91" name="Text 84"/>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1A1A1A"/>
                </a:solidFill>
                <a:latin typeface="Trenda IG Text"/>
              </a:rPr>
              <a:t>Identity + access</a:t>
            </a:r>
          </a:p>
        </p:txBody>
      </p:sp>
      <p:sp>
        <p:nvSpPr>
          <p:cNvPr id="92" name="Text 85"/>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1A1A1A"/>
                </a:solidFill>
                <a:latin typeface="Trenda IG Text"/>
              </a:rPr>
              <a:t>Collibra masking + DLP</a:t>
            </a:r>
          </a:p>
        </p:txBody>
      </p:sp>
      <p:sp>
        <p:nvSpPr>
          <p:cNvPr id="93" name="Shape 86"/>
          <p:cNvSpPr/>
          <p:nvPr/>
        </p:nvSpPr>
        <p:spPr>
          <a:xfrm>
            <a:off x="8202167" y="3474720"/>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87"/>
          <p:cNvSpPr txBox="1"/>
          <p:nvPr/>
        </p:nvSpPr>
        <p:spPr>
          <a:xfrm>
            <a:off x="8202167" y="3474720"/>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95" name="Text 88"/>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1A1A1A"/>
                </a:solidFill>
                <a:latin typeface="Trenda IG Text"/>
              </a:rPr>
              <a:t>Compliance Guardian + policy engine</a:t>
            </a:r>
          </a:p>
        </p:txBody>
      </p:sp>
      <p:sp>
        <p:nvSpPr>
          <p:cNvPr id="96" name="Shape 89"/>
          <p:cNvSpPr/>
          <p:nvPr/>
        </p:nvSpPr>
        <p:spPr>
          <a:xfrm>
            <a:off x="8202167" y="3822191"/>
            <a:ext cx="329184" cy="137160"/>
          </a:xfrm>
          <a:prstGeom prst="roundRect">
            <a:avLst>
              <a:gd name="adj" fmla="val 50000"/>
            </a:avLst>
          </a:prstGeom>
          <a:solidFill>
            <a:srgbClr val="FFD700"/>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0"/>
          <p:cNvSpPr txBox="1"/>
          <p:nvPr/>
        </p:nvSpPr>
        <p:spPr>
          <a:xfrm>
            <a:off x="8202167" y="3822191"/>
            <a:ext cx="329184" cy="137160"/>
          </a:xfrm>
          <a:prstGeom prst="rect">
            <a:avLst/>
          </a:prstGeom>
          <a:noFill/>
        </p:spPr>
        <p:txBody>
          <a:bodyPr wrap="square" lIns="0" rIns="0" tIns="0" bIns="0" anchor="ctr">
            <a:spAutoFit/>
          </a:bodyPr>
          <a:lstStyle/>
          <a:p>
            <a:pPr algn="ctr"/>
            <a:r>
              <a:rPr sz="700" b="1" i="0" spc="80">
                <a:solidFill>
                  <a:srgbClr val="1A1A1A"/>
                </a:solidFill>
                <a:latin typeface="Trenda IG Text"/>
              </a:rPr>
              <a:t>NEW</a:t>
            </a:r>
          </a:p>
        </p:txBody>
      </p:sp>
      <p:sp>
        <p:nvSpPr>
          <p:cNvPr id="98" name="Text 91"/>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1A1A1A"/>
                </a:solidFill>
                <a:latin typeface="Trenda IG Text"/>
              </a:rPr>
              <a:t>Human gates H1-H4, CAB, G1-G3</a:t>
            </a:r>
          </a:p>
        </p:txBody>
      </p:sp>
      <p:sp>
        <p:nvSpPr>
          <p:cNvPr id="99" name="Text 92"/>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1A1A1A"/>
                </a:solidFill>
                <a:latin typeface="Trenda IG Text"/>
              </a:rPr>
              <a:t>Evaluation set</a:t>
            </a:r>
          </a:p>
        </p:txBody>
      </p:sp>
      <p:sp>
        <p:nvSpPr>
          <p:cNvPr id="100" name="Text 93"/>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1A1A1A"/>
                </a:solidFill>
                <a:latin typeface="Trenda IG Text"/>
              </a:rPr>
              <a:t>Observability + change passport</a:t>
            </a:r>
          </a:p>
        </p:txBody>
      </p:sp>
      <p:sp>
        <p:nvSpPr>
          <p:cNvPr id="101" name="Text 94"/>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1A1A1A"/>
                </a:solidFill>
                <a:latin typeface="Trenda IG Text"/>
              </a:rPr>
              <a:t>Differentiators</a:t>
            </a:r>
          </a:p>
        </p:txBody>
      </p:sp>
      <p:sp>
        <p:nvSpPr>
          <p:cNvPr id="102" name="Shape 95"/>
          <p:cNvSpPr/>
          <p:nvPr/>
        </p:nvSpPr>
        <p:spPr>
          <a:xfrm>
            <a:off x="8897112" y="1920240"/>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2" name="Shape 95"/>
          <p:cNvSpPr/>
          <p:nvPr/>
        </p:nvSpPr>
        <p:spPr>
          <a:xfrm>
            <a:off x="8915400" y="1938528"/>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Shape 96"/>
          <p:cNvSpPr/>
          <p:nvPr/>
        </p:nvSpPr>
        <p:spPr>
          <a:xfrm>
            <a:off x="9025128" y="2066544"/>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97"/>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sp>
        <p:nvSpPr>
          <p:cNvPr id="105" name="Text 98"/>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1A1A1A"/>
                </a:solidFill>
                <a:latin typeface="Trenda IG Text"/>
              </a:rPr>
              <a:t>Grounded in the org and its data</a:t>
            </a:r>
          </a:p>
        </p:txBody>
      </p:sp>
      <p:sp>
        <p:nvSpPr>
          <p:cNvPr id="106" name="Text 99"/>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4D4D4D"/>
                </a:solidFill>
                <a:latin typeface="Trenda IG Text"/>
              </a:rPr>
              <a:t>Agents read a cited graph of the delivery estate, and masked aggregates for campaigns.</a:t>
            </a:r>
          </a:p>
        </p:txBody>
      </p:sp>
      <p:sp>
        <p:nvSpPr>
          <p:cNvPr id="107" name="Text 100"/>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1A1A1A"/>
                </a:solidFill>
                <a:latin typeface="Trenda IG Text"/>
              </a:rPr>
              <a:t>Ask before build.</a:t>
            </a:r>
          </a:p>
        </p:txBody>
      </p:sp>
      <p:sp>
        <p:nvSpPr>
          <p:cNvPr id="108" name="Shape 101"/>
          <p:cNvSpPr/>
          <p:nvPr/>
        </p:nvSpPr>
        <p:spPr>
          <a:xfrm>
            <a:off x="8897112" y="3035808"/>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08" name="Shape 101"/>
          <p:cNvSpPr/>
          <p:nvPr/>
        </p:nvSpPr>
        <p:spPr>
          <a:xfrm>
            <a:off x="8915400" y="3054096"/>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9025128" y="3182112"/>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111" name="Text 104"/>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1A1A1A"/>
                </a:solidFill>
                <a:latin typeface="Trenda IG Text"/>
              </a:rPr>
              <a:t>No pod breaks another</a:t>
            </a:r>
          </a:p>
        </p:txBody>
      </p:sp>
      <p:sp>
        <p:nvSpPr>
          <p:cNvPr id="112" name="Text 105"/>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4D4D4D"/>
                </a:solidFill>
                <a:latin typeface="Trenda IG Text"/>
              </a:rPr>
              <a:t>The </a:t>
            </a:r>
            <a:r>
              <a:rPr sz="700" b="1" i="0">
                <a:solidFill>
                  <a:srgbClr val="8A6D00"/>
                </a:solidFill>
                <a:latin typeface="Trenda IG Text"/>
              </a:rPr>
              <a:t>Change Guardian</a:t>
            </a:r>
            <a:r>
              <a:rPr sz="700" b="0" i="0">
                <a:solidFill>
                  <a:srgbClr val="4D4D4D"/>
                </a:solidFill>
                <a:latin typeface="Trenda IG Text"/>
              </a:rPr>
              <a:t> checks every change against who owns and uses it.</a:t>
            </a:r>
          </a:p>
        </p:txBody>
      </p:sp>
      <p:sp>
        <p:nvSpPr>
          <p:cNvPr id="113" name="Text 106"/>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1A1A1A"/>
                </a:solidFill>
                <a:latin typeface="Trenda IG Text"/>
              </a:rPr>
              <a:t>Governed by design.</a:t>
            </a:r>
          </a:p>
        </p:txBody>
      </p:sp>
      <p:sp>
        <p:nvSpPr>
          <p:cNvPr id="114" name="Shape 107"/>
          <p:cNvSpPr/>
          <p:nvPr/>
        </p:nvSpPr>
        <p:spPr>
          <a:xfrm>
            <a:off x="8897112" y="4151375"/>
            <a:ext cx="2898648" cy="1060704"/>
          </a:xfrm>
          <a:prstGeom prst="roundRect">
            <a:avLst>
              <a:gd name="adj" fmla="val 10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4" name="Shape 107"/>
          <p:cNvSpPr/>
          <p:nvPr/>
        </p:nvSpPr>
        <p:spPr>
          <a:xfrm>
            <a:off x="8915400" y="4169663"/>
            <a:ext cx="2862072" cy="1024128"/>
          </a:xfrm>
          <a:prstGeom prst="roundRect">
            <a:avLst>
              <a:gd name="adj" fmla="val 10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Shape 108"/>
          <p:cNvSpPr/>
          <p:nvPr/>
        </p:nvSpPr>
        <p:spPr>
          <a:xfrm>
            <a:off x="9025128" y="4297679"/>
            <a:ext cx="274320" cy="274320"/>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09"/>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117" name="Text 110"/>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1A1A1A"/>
                </a:solidFill>
                <a:latin typeface="Trenda IG Text"/>
              </a:rPr>
              <a:t>Minimum-data agent access</a:t>
            </a:r>
          </a:p>
        </p:txBody>
      </p:sp>
      <p:sp>
        <p:nvSpPr>
          <p:cNvPr id="118" name="Text 111"/>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4D4D4D"/>
                </a:solidFill>
                <a:latin typeface="Trenda IG Text"/>
              </a:rPr>
              <a:t>Agents get aggregates and masked views, never raw PHI; patient data leaves only through the gateway.</a:t>
            </a:r>
          </a:p>
        </p:txBody>
      </p:sp>
      <p:sp>
        <p:nvSpPr>
          <p:cNvPr id="119" name="Text 112"/>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1A1A1A"/>
                </a:solidFill>
                <a:latin typeface="Trenda IG Text"/>
              </a:rPr>
              <a:t>Private by design.</a:t>
            </a:r>
          </a:p>
        </p:txBody>
      </p:sp>
      <p:sp>
        <p:nvSpPr>
          <p:cNvPr id="120" name="Shape 113"/>
          <p:cNvSpPr/>
          <p:nvPr/>
        </p:nvSpPr>
        <p:spPr>
          <a:xfrm>
            <a:off x="411480" y="5394960"/>
            <a:ext cx="11365992" cy="868680"/>
          </a:xfrm>
          <a:prstGeom prst="roundRect">
            <a:avLst>
              <a:gd name="adj" fmla="val 40000"/>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1A1A1A"/>
                </a:solidFill>
                <a:latin typeface="Trenda IG Text"/>
              </a:rPr>
              <a:t>ASCENSION CORE COMPONENTS</a:t>
            </a:r>
          </a:p>
        </p:txBody>
      </p:sp>
      <p:sp>
        <p:nvSpPr>
          <p:cNvPr id="122" name="Text 115"/>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1A1A1A"/>
                </a:solidFill>
                <a:latin typeface="Trenda IG Text"/>
              </a:rPr>
              <a:t>Infrastructure</a:t>
            </a:r>
          </a:p>
          <a:p>
            <a:r>
              <a:rPr sz="700" b="0" i="0">
                <a:solidFill>
                  <a:srgbClr val="4D4D4D"/>
                </a:solidFill>
                <a:latin typeface="Trenda IG Text"/>
              </a:rPr>
              <a:t>Runs in Ascension's cloud</a:t>
            </a:r>
          </a:p>
        </p:txBody>
      </p:sp>
      <p:pic>
        <p:nvPicPr>
          <p:cNvPr id="123" name="Picture 122"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4" name="Text 116"/>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Salesforce</a:t>
            </a:r>
          </a:p>
        </p:txBody>
      </p:sp>
      <p:sp>
        <p:nvSpPr>
          <p:cNvPr id="125" name="Text 117"/>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4D4D4D"/>
                </a:solidFill>
                <a:latin typeface="Trenda IG Text"/>
              </a:rPr>
              <a:t>Health, Marketing + Data Cloud</a:t>
            </a:r>
          </a:p>
        </p:txBody>
      </p:sp>
      <p:pic>
        <p:nvPicPr>
          <p:cNvPr id="126" name="Picture 125" descr="git.png"/>
          <p:cNvPicPr>
            <a:picLocks noChangeAspect="1"/>
          </p:cNvPicPr>
          <p:nvPr/>
        </p:nvPicPr>
        <p:blipFill>
          <a:blip r:embed="rId8"/>
          <a:stretch>
            <a:fillRect/>
          </a:stretch>
        </p:blipFill>
        <p:spPr>
          <a:xfrm>
            <a:off x="4513478" y="5522976"/>
            <a:ext cx="201168" cy="201168"/>
          </a:xfrm>
          <a:prstGeom prst="rect">
            <a:avLst/>
          </a:prstGeom>
        </p:spPr>
      </p:pic>
      <p:sp>
        <p:nvSpPr>
          <p:cNvPr id="127" name="Text 118"/>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Delivery</a:t>
            </a:r>
          </a:p>
        </p:txBody>
      </p:sp>
      <p:sp>
        <p:nvSpPr>
          <p:cNvPr id="128" name="Text 119"/>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Copado, Git, Jira, Zephyr</a:t>
            </a:r>
          </a:p>
        </p:txBody>
      </p:sp>
      <p:pic>
        <p:nvPicPr>
          <p:cNvPr id="129" name="Picture 128"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30" name="Text 120"/>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Data</a:t>
            </a:r>
          </a:p>
        </p:txBody>
      </p:sp>
      <p:sp>
        <p:nvSpPr>
          <p:cNvPr id="131" name="Text 121"/>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4D4D4D"/>
                </a:solidFill>
                <a:latin typeface="Trenda IG Text"/>
              </a:rPr>
              <a:t>BigQuery, Collibra, DLP, Tableau, Spanner</a:t>
            </a:r>
          </a:p>
        </p:txBody>
      </p:sp>
      <p:pic>
        <p:nvPicPr>
          <p:cNvPr id="132" name="Picture 131"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3" name="Text 122"/>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Models</a:t>
            </a:r>
          </a:p>
        </p:txBody>
      </p:sp>
      <p:sp>
        <p:nvSpPr>
          <p:cNvPr id="134" name="Text 123"/>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4D4D4D"/>
                </a:solidFill>
                <a:latin typeface="Trenda IG Text"/>
              </a:rPr>
              <a:t>Codex Enterprise; model in config; tools via MCP</a:t>
            </a:r>
          </a:p>
        </p:txBody>
      </p:sp>
      <p:pic>
        <p:nvPicPr>
          <p:cNvPr id="135" name="Picture 134"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6" name="Text 124"/>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1A1A1A"/>
                </a:solidFill>
                <a:latin typeface="Trenda IG Text"/>
              </a:rPr>
              <a:t>Cloud</a:t>
            </a:r>
          </a:p>
        </p:txBody>
      </p:sp>
      <p:sp>
        <p:nvSpPr>
          <p:cNvPr id="137" name="Text 125"/>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4D4D4D"/>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FFFFFF"/>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1A1A1A"/>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4D4D4D"/>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1A1A1A"/>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User stories and functional decomposition from the Jira story; open questions flagged.</a:t>
            </a:r>
          </a:p>
        </p:txBody>
      </p:sp>
      <p:sp>
        <p:nvSpPr>
          <p:cNvPr id="26" name="Shape 24"/>
          <p:cNvSpPr/>
          <p:nvPr/>
        </p:nvSpPr>
        <p:spPr>
          <a:xfrm>
            <a:off x="937259"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1A1A1A"/>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1A1A1A"/>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1A1A1A"/>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1A1A1A"/>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1A1A1A"/>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DBDB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1A1A1A"/>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4D4D4D"/>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780276" y="1984248"/>
            <a:ext cx="237744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780276" y="1984248"/>
            <a:ext cx="2377440" cy="164592"/>
          </a:xfrm>
          <a:prstGeom prst="rect">
            <a:avLst/>
          </a:prstGeom>
          <a:noFill/>
        </p:spPr>
        <p:txBody>
          <a:bodyPr wrap="square" lIns="0" rIns="0" tIns="0" bIns="0" anchor="ctr">
            <a:spAutoFit/>
          </a:bodyPr>
          <a:lstStyle/>
          <a:p>
            <a:pPr algn="ctr"/>
            <a:r>
              <a:rPr sz="700" b="1" i="0" spc="80">
                <a:solidFill>
                  <a:srgbClr val="1A1A1A"/>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1A1A1A"/>
                </a:solidFill>
                <a:latin typeface="Trenda IG Text"/>
              </a:rPr>
              <a:t>ENGINEERING CONTEXT KNOWLEDGE GRAPH</a:t>
            </a:r>
            <a:r>
              <a:rPr sz="700" b="0" i="0">
                <a:solidFill>
                  <a:srgbClr val="4D4D4D"/>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700" b="0" i="0">
                <a:solidFill>
                  <a:srgbClr val="4D4D4D"/>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700" b="0" i="0">
                <a:solidFill>
                  <a:srgbClr val="4D4D4D"/>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700" b="0" i="0">
                <a:solidFill>
                  <a:srgbClr val="4D4D4D"/>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700" b="0" i="0">
                <a:solidFill>
                  <a:srgbClr val="4D4D4D"/>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700" b="0" i="0">
                <a:solidFill>
                  <a:srgbClr val="4D4D4D"/>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700" b="0" i="0">
                <a:solidFill>
                  <a:srgbClr val="4D4D4D"/>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F7F7F7"/>
          </a:solidFill>
          <a:ln w="6858">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1A1A1A"/>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700" b="0" i="0">
                <a:solidFill>
                  <a:srgbClr val="1A1A1A"/>
                </a:solidFill>
                <a:latin typeface="Trenda IG Text"/>
              </a:rPr>
              <a:t>not needed for Health Cloud</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1A1A1A"/>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1A1A1A"/>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1A1A1A"/>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1A1A1A"/>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EEEEEE"/>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1A1A1A"/>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4D4D4D"/>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1A1A1A"/>
                </a:solidFill>
                <a:latin typeface="Trenda IG Text"/>
              </a:rPr>
              <a:t>WHERE OUTPUT LANDS</a:t>
            </a:r>
            <a:r>
              <a:rPr sz="700" b="0" i="0">
                <a:solidFill>
                  <a:srgbClr val="4D4D4D"/>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Jira</a:t>
            </a:r>
            <a:r>
              <a:rPr sz="700" b="0" i="0">
                <a:solidFill>
                  <a:srgbClr val="4D4D4D"/>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1A1A1A"/>
                </a:solidFill>
                <a:latin typeface="Trenda IG Text"/>
              </a:rPr>
              <a:t>Confluence</a:t>
            </a:r>
            <a:r>
              <a:rPr sz="700" b="0" i="0">
                <a:solidFill>
                  <a:srgbClr val="4D4D4D"/>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Git</a:t>
            </a:r>
            <a:r>
              <a:rPr sz="700" b="0" i="0">
                <a:solidFill>
                  <a:srgbClr val="4D4D4D"/>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1A1A1A"/>
                </a:solidFill>
                <a:latin typeface="Trenda IG Text"/>
              </a:rPr>
              <a:t>Salesforce DEV</a:t>
            </a:r>
            <a:r>
              <a:rPr sz="700" b="0" i="0">
                <a:solidFill>
                  <a:srgbClr val="4D4D4D"/>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Copado</a:t>
            </a:r>
            <a:r>
              <a:rPr sz="700" b="0" i="0">
                <a:solidFill>
                  <a:srgbClr val="4D4D4D"/>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4D4D4D"/>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1A1A1A"/>
                </a:solidFill>
                <a:latin typeface="Trenda IG Text"/>
              </a:rPr>
              <a:t>Zephyr Scale</a:t>
            </a:r>
            <a:r>
              <a:rPr sz="700" b="0" i="0">
                <a:solidFill>
                  <a:srgbClr val="4D4D4D"/>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1A1A1A"/>
                </a:solidFill>
                <a:latin typeface="Trenda IG Text"/>
              </a:rPr>
              <a:t>Production: the owning team's pipeline after CAB. No agent path.</a:t>
            </a:r>
          </a:p>
        </p:txBody>
      </p:sp>
      <p:sp>
        <p:nvSpPr>
          <p:cNvPr id="152" name="Shape 136"/>
          <p:cNvSpPr/>
          <p:nvPr/>
        </p:nvSpPr>
        <p:spPr>
          <a:xfrm>
            <a:off x="393192"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2" name="Shape 136"/>
          <p:cNvSpPr/>
          <p:nvPr/>
        </p:nvSpPr>
        <p:spPr>
          <a:xfrm>
            <a:off x="411480"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~2 weeks → ~2 days</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per Health Cloud task, story to UAT</a:t>
            </a:r>
          </a:p>
        </p:txBody>
      </p:sp>
      <p:sp>
        <p:nvSpPr>
          <p:cNvPr id="156" name="Shape 140"/>
          <p:cNvSpPr/>
          <p:nvPr/>
        </p:nvSpPr>
        <p:spPr>
          <a:xfrm>
            <a:off x="4227576"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56" name="Shape 140"/>
          <p:cNvSpPr/>
          <p:nvPr/>
        </p:nvSpPr>
        <p:spPr>
          <a:xfrm>
            <a:off x="4245864"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H1, H2, H3, H4 and CAB, as today</a:t>
            </a:r>
          </a:p>
        </p:txBody>
      </p:sp>
      <p:sp>
        <p:nvSpPr>
          <p:cNvPr id="160" name="Shape 144"/>
          <p:cNvSpPr/>
          <p:nvPr/>
        </p:nvSpPr>
        <p:spPr>
          <a:xfrm>
            <a:off x="8061959" y="5422392"/>
            <a:ext cx="3733799" cy="813816"/>
          </a:xfrm>
          <a:prstGeom prst="rect">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60" name="Shape 144"/>
          <p:cNvSpPr/>
          <p:nvPr/>
        </p:nvSpPr>
        <p:spPr>
          <a:xfrm>
            <a:off x="8080247" y="5440680"/>
            <a:ext cx="3697223" cy="777240"/>
          </a:xfrm>
          <a:prstGeom prst="rect">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1A1A1A"/>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4D4D4D"/>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Shape 1"/>
          <p:cNvSpPr/>
          <p:nvPr/>
        </p:nvSpPr>
        <p:spPr>
          <a:xfrm>
            <a:off x="822960" y="1965960"/>
            <a:ext cx="1645920" cy="7315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 2"/>
          <p:cNvSpPr txBox="1"/>
          <p:nvPr/>
        </p:nvSpPr>
        <p:spPr>
          <a:xfrm>
            <a:off x="822960" y="2194560"/>
            <a:ext cx="10515600" cy="329184"/>
          </a:xfrm>
          <a:prstGeom prst="rect">
            <a:avLst/>
          </a:prstGeom>
          <a:noFill/>
        </p:spPr>
        <p:txBody>
          <a:bodyPr wrap="square" lIns="0" rIns="0" tIns="0" bIns="0" anchor="ctr">
            <a:spAutoFit/>
          </a:bodyPr>
          <a:lstStyle/>
          <a:p>
            <a:r>
              <a:rPr sz="1200" b="1" i="0" spc="300">
                <a:solidFill>
                  <a:srgbClr val="0089A0"/>
                </a:solidFill>
                <a:latin typeface="Trenda IG Text"/>
              </a:rPr>
              <a:t>MARKETING CLOUD CAMPAIGNS</a:t>
            </a:r>
          </a:p>
        </p:txBody>
      </p:sp>
      <p:sp>
        <p:nvSpPr>
          <p:cNvPr id="4" name="Text 3"/>
          <p:cNvSpPr txBox="1"/>
          <p:nvPr/>
        </p:nvSpPr>
        <p:spPr>
          <a:xfrm>
            <a:off x="822960" y="2606040"/>
            <a:ext cx="10515600" cy="1371600"/>
          </a:xfrm>
          <a:prstGeom prst="rect">
            <a:avLst/>
          </a:prstGeom>
          <a:noFill/>
        </p:spPr>
        <p:txBody>
          <a:bodyPr wrap="square" lIns="0" rIns="0" tIns="0" bIns="0" anchor="t">
            <a:spAutoFit/>
          </a:bodyPr>
          <a:lstStyle/>
          <a:p>
            <a:pPr>
              <a:lnSpc>
                <a:spcPct val="95000"/>
              </a:lnSpc>
            </a:pPr>
            <a:r>
              <a:rPr sz="4000" b="1" i="0">
                <a:solidFill>
                  <a:srgbClr val="1A1A1A"/>
                </a:solidFill>
                <a:latin typeface="Trenda IG Text"/>
              </a:rPr>
              <a:t>HIPAA-Aligned Agentic Healthcare Campaign Platform</a:t>
            </a:r>
          </a:p>
        </p:txBody>
      </p:sp>
      <p:sp>
        <p:nvSpPr>
          <p:cNvPr id="5" name="Text 4"/>
          <p:cNvSpPr txBox="1"/>
          <p:nvPr/>
        </p:nvSpPr>
        <p:spPr>
          <a:xfrm>
            <a:off x="822960" y="4069080"/>
            <a:ext cx="8686800" cy="731520"/>
          </a:xfrm>
          <a:prstGeom prst="rect">
            <a:avLst/>
          </a:prstGeom>
          <a:noFill/>
        </p:spPr>
        <p:txBody>
          <a:bodyPr wrap="square" lIns="0" rIns="0" tIns="0" bIns="0" anchor="t">
            <a:spAutoFit/>
          </a:bodyPr>
          <a:lstStyle/>
          <a:p>
            <a:r>
              <a:rPr sz="1500" b="0" i="0">
                <a:solidFill>
                  <a:srgbClr val="555555"/>
                </a:solidFill>
                <a:latin typeface="Trenda IG Text"/>
              </a:rPr>
              <a:t>Governed data in Google Cloud, agents on masked data, approved patients released to Marketing Cloud. Proposed target state.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1A1A1A"/>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1A1A1A"/>
                </a:solidFill>
                <a:latin typeface="Trenda IG Text"/>
              </a:rPr>
              <a:t>REVIEW</a:t>
            </a:r>
          </a:p>
          <a:p>
            <a:r>
              <a:rPr sz="700" b="0" i="0">
                <a:solidFill>
                  <a:srgbClr val="6B6B6B"/>
                </a:solidFill>
                <a:latin typeface="Courier New"/>
              </a:rPr>
              <a:t>Collibra</a:t>
            </a:r>
          </a:p>
        </p:txBody>
      </p:sp>
      <p:sp>
        <p:nvSpPr>
          <p:cNvPr id="10" name="Shape 8"/>
          <p:cNvSpPr/>
          <p:nvPr/>
        </p:nvSpPr>
        <p:spPr>
          <a:xfrm>
            <a:off x="411480" y="2020824"/>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1A1A1A"/>
                </a:solidFill>
                <a:latin typeface="Trenda IG Text"/>
              </a:rPr>
              <a:t>GOVERNANCE</a:t>
            </a:r>
          </a:p>
          <a:p>
            <a:r>
              <a:rPr sz="700" b="0" i="0">
                <a:solidFill>
                  <a:srgbClr val="6B6B6B"/>
                </a:solidFill>
                <a:latin typeface="Courier New"/>
              </a:rPr>
              <a:t>datarepository</a:t>
            </a:r>
          </a:p>
        </p:txBody>
      </p:sp>
      <p:sp>
        <p:nvSpPr>
          <p:cNvPr id="14" name="Shape 11"/>
          <p:cNvSpPr/>
          <p:nvPr/>
        </p:nvSpPr>
        <p:spPr>
          <a:xfrm>
            <a:off x="411480" y="2578608"/>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1A1A1A"/>
                </a:solidFill>
                <a:latin typeface="Trenda IG Text"/>
              </a:rPr>
              <a:t>COMPUTE</a:t>
            </a:r>
          </a:p>
          <a:p>
            <a:r>
              <a:rPr sz="700" b="0" i="0">
                <a:solidFill>
                  <a:srgbClr val="6B6B6B"/>
                </a:solidFill>
                <a:latin typeface="Courier New"/>
              </a:rPr>
              <a:t>datalake</a:t>
            </a:r>
          </a:p>
        </p:txBody>
      </p:sp>
      <p:sp>
        <p:nvSpPr>
          <p:cNvPr id="18" name="Shape 14"/>
          <p:cNvSpPr/>
          <p:nvPr/>
        </p:nvSpPr>
        <p:spPr>
          <a:xfrm>
            <a:off x="411480" y="3136392"/>
            <a:ext cx="6537959" cy="51206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1A1A1A"/>
                </a:solidFill>
                <a:latin typeface="Trenda IG Text"/>
              </a:rPr>
              <a:t>TARGET</a:t>
            </a:r>
          </a:p>
          <a:p>
            <a:r>
              <a:rPr sz="700" b="0" i="0">
                <a:solidFill>
                  <a:srgbClr val="6B6B6B"/>
                </a:solidFill>
                <a:latin typeface="Courier New"/>
              </a:rPr>
              <a:t>dataplace</a:t>
            </a:r>
          </a:p>
        </p:txBody>
      </p:sp>
      <p:cxnSp>
        <p:nvCxnSpPr>
          <p:cNvPr id="22" name="Arrow 17"/>
          <p:cNvCxnSpPr/>
          <p:nvPr/>
        </p:nvCxnSpPr>
        <p:spPr>
          <a:xfrm>
            <a:off x="2386584"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D0D0D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DBD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4D4D4D"/>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F5F5F5"/>
          </a:solidFill>
          <a:ln w="7620">
            <a:solidFill>
              <a:srgbClr val="C9A1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89A0"/>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1A1A1A"/>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FFFFFF"/>
          </a:solid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1A1A1A"/>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1A1A1A"/>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1A1A1A"/>
                </a:solidFill>
                <a:latin typeface="Trenda IG Text"/>
              </a:rPr>
              <a:t>Fail-closed: </a:t>
            </a:r>
            <a:r>
              <a:rPr sz="700" b="0" i="0">
                <a:solidFill>
                  <a:srgbClr val="4D4D4D"/>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8A6D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6B6B6B"/>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6B6B6B"/>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6B6B6B"/>
                </a:solidFill>
                <a:latin typeface="Trenda IG Text"/>
              </a:rPr>
              <a:t>HIPAA implication</a:t>
            </a:r>
          </a:p>
        </p:txBody>
      </p:sp>
      <p:sp>
        <p:nvSpPr>
          <p:cNvPr id="81" name="Shape 76"/>
          <p:cNvSpPr/>
          <p:nvPr/>
        </p:nvSpPr>
        <p:spPr>
          <a:xfrm>
            <a:off x="7187184" y="1682496"/>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1A1A1A"/>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1A1A1A"/>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4D4D4D"/>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1A1A1A"/>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1A1A1A"/>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4D4D4D"/>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1A1A1A"/>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1A1A1A"/>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4D4D4D"/>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1A1A1A"/>
                </a:solidFill>
                <a:latin typeface="Trenda IG Text"/>
              </a:rPr>
              <a:t>A token, a count, a diagnosis combination or a small cohort can remain sensitive. </a:t>
            </a:r>
            <a:r>
              <a:rPr sz="700" b="1" i="0">
                <a:solidFill>
                  <a:srgbClr val="8A6D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1A1A1A"/>
                </a:solidFill>
                <a:latin typeface="Trenda IG Text"/>
              </a:rPr>
              <a:t>WHAT MASKING ALONE DOES NOT GIVE US, AND WHAT WE ADD</a:t>
            </a:r>
            <a:r>
              <a:rPr sz="700" b="0" i="0">
                <a:solidFill>
                  <a:srgbClr val="4D4D4D"/>
                </a:solidFill>
                <a:latin typeface="Trenda IG Text"/>
              </a:rPr>
              <a:t>   proposed design</a:t>
            </a:r>
          </a:p>
        </p:txBody>
      </p:sp>
      <p:sp>
        <p:nvSpPr>
          <p:cNvPr id="98" name="Shape 93"/>
          <p:cNvSpPr/>
          <p:nvPr/>
        </p:nvSpPr>
        <p:spPr>
          <a:xfrm>
            <a:off x="39319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98" name="Shape 93"/>
          <p:cNvSpPr/>
          <p:nvPr/>
        </p:nvSpPr>
        <p:spPr>
          <a:xfrm>
            <a:off x="41148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1  </a:t>
            </a:r>
            <a:r>
              <a:rPr sz="720" b="1" i="0">
                <a:solidFill>
                  <a:srgbClr val="1A1A1A"/>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Agents get aggregates by default; tokenized rows only for an authorized task</a:t>
            </a:r>
          </a:p>
        </p:txBody>
      </p:sp>
      <p:sp>
        <p:nvSpPr>
          <p:cNvPr id="110" name="Shape 105"/>
          <p:cNvSpPr/>
          <p:nvPr/>
        </p:nvSpPr>
        <p:spPr>
          <a:xfrm>
            <a:off x="326212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10" name="Shape 105"/>
          <p:cNvSpPr/>
          <p:nvPr/>
        </p:nvSpPr>
        <p:spPr>
          <a:xfrm>
            <a:off x="328041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2  </a:t>
            </a:r>
            <a:r>
              <a:rPr sz="720" b="1" i="0">
                <a:solidFill>
                  <a:srgbClr val="1A1A1A"/>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Campaign Compliance Passport records purpose, rule version and approvals</a:t>
            </a:r>
          </a:p>
        </p:txBody>
      </p:sp>
      <p:sp>
        <p:nvSpPr>
          <p:cNvPr id="122" name="Shape 117"/>
          <p:cNvSpPr/>
          <p:nvPr/>
        </p:nvSpPr>
        <p:spPr>
          <a:xfrm>
            <a:off x="613105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22" name="Shape 117"/>
          <p:cNvSpPr/>
          <p:nvPr/>
        </p:nvSpPr>
        <p:spPr>
          <a:xfrm>
            <a:off x="614934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3  </a:t>
            </a:r>
            <a:r>
              <a:rPr sz="720" b="1" i="0">
                <a:solidFill>
                  <a:srgbClr val="1A1A1A"/>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No cross-tenant joins; proven with negative-access tests</a:t>
            </a:r>
          </a:p>
        </p:txBody>
      </p:sp>
      <p:sp>
        <p:nvSpPr>
          <p:cNvPr id="134" name="Shape 129"/>
          <p:cNvSpPr/>
          <p:nvPr/>
        </p:nvSpPr>
        <p:spPr>
          <a:xfrm>
            <a:off x="8999982" y="4169664"/>
            <a:ext cx="2795778" cy="1572768"/>
          </a:xfrm>
          <a:prstGeom prst="roundRect">
            <a:avLst>
              <a:gd name="adj" fmla="val 5000"/>
            </a:avLst>
          </a:prstGeom>
          <a:gradFill rotWithShape="1">
            <a:gsLst>
              <a:gs pos="0">
                <a:srgbClr val="FFD700"/>
              </a:gs>
              <a:gs pos="50000">
                <a:srgbClr val="FF0069"/>
              </a:gs>
              <a:gs pos="100000">
                <a:srgbClr val="00D6F2"/>
              </a:gs>
            </a:gsLst>
            <a:lin ang="0" scaled="0"/>
          </a:gradFill>
          <a:effectLst/>
          <a:ln>
            <a:noFill/>
          </a:ln>
        </p:spPr>
        <p:style>
          <a:lnRef idx="1">
            <a:schemeClr val="accent1"/>
          </a:lnRef>
          <a:fillRef idx="3">
            <a:schemeClr val="accent1"/>
          </a:fillRef>
          <a:effectRef idx="2">
            <a:schemeClr val="accent1"/>
          </a:effectRef>
          <a:fontRef idx="minor">
            <a:schemeClr val="lt1"/>
          </a:fontRef>
        </p:style>
      </p:sp>
      <p:sp>
        <p:nvSpPr>
          <p:cNvPr id="134" name="Shape 129"/>
          <p:cNvSpPr/>
          <p:nvPr/>
        </p:nvSpPr>
        <p:spPr>
          <a:xfrm>
            <a:off x="9018270" y="4187952"/>
            <a:ext cx="2759202" cy="1536192"/>
          </a:xfrm>
          <a:prstGeom prst="roundRect">
            <a:avLst>
              <a:gd name="adj" fmla="val 5000"/>
            </a:avLst>
          </a:prstGeom>
          <a:solidFill>
            <a:srgbClr val="F5F5F5"/>
          </a:solidFill>
          <a:effectLst/>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1A1A1A"/>
                </a:solidFill>
                <a:latin typeface="Trenda IG Text"/>
              </a:rPr>
              <a:t>4  </a:t>
            </a:r>
            <a:r>
              <a:rPr sz="720" b="1" i="0">
                <a:solidFill>
                  <a:srgbClr val="1A1A1A"/>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1A1A1A"/>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1A1A1A"/>
                </a:solidFill>
                <a:latin typeface="Trenda IG Text"/>
              </a:rPr>
              <a:t>Gap: </a:t>
            </a:r>
            <a:r>
              <a:rPr sz="700" b="0" i="0">
                <a:solidFill>
                  <a:srgbClr val="4D4D4D"/>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1A1A1A"/>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1A1A1A"/>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1A1A1A"/>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F5F5F5"/>
          </a:solidFill>
          <a:ln w="6858">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1A1A1A"/>
                </a:solidFill>
                <a:latin typeface="Trenda IG Text"/>
              </a:rPr>
              <a:t>HOW WE PROVE IT  </a:t>
            </a:r>
            <a:r>
              <a:rPr sz="700" b="0" i="0">
                <a:solidFill>
                  <a:srgbClr val="1A1A1A"/>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1A1A1A"/>
                </a:solidFill>
                <a:latin typeface="Trenda IG Text"/>
              </a:rPr>
              <a:t>PROPOSED items are design, not production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FFFFFF"/>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1A1A1A"/>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F8ECE0"/>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Bronze</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raw extracts with lineage and timestamps. Restricted access.</a:t>
            </a:r>
          </a:p>
        </p:txBody>
      </p:sp>
      <p:cxnSp>
        <p:nvCxnSpPr>
          <p:cNvPr id="21" name="Arrow 18"/>
          <p:cNvCxnSpPr/>
          <p:nvPr/>
        </p:nvCxnSpPr>
        <p:spPr>
          <a:xfrm>
            <a:off x="4831689"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DLP + Collibra</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DLP classifies, the Collibra steward approves, policy tags mask PHI.</a:t>
            </a:r>
          </a:p>
        </p:txBody>
      </p:sp>
      <p:cxnSp>
        <p:nvCxnSpPr>
          <p:cNvPr id="27" name="Arrow 24"/>
          <p:cNvCxnSpPr/>
          <p:nvPr/>
        </p:nvCxnSpPr>
        <p:spPr>
          <a:xfrm>
            <a:off x="7046366" y="19202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F0F1F2"/>
          </a:solidFill>
          <a:ln w="1587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1A1A1A"/>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FBF4DC"/>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1A1A1A"/>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1A1A1A"/>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1A1A1A"/>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Orchestrator, Strategist and Analytics read the graph and Gold A; counts only.</a:t>
            </a:r>
          </a:p>
        </p:txBody>
      </p:sp>
      <p:sp>
        <p:nvSpPr>
          <p:cNvPr id="64" name="Shape 58"/>
          <p:cNvSpPr/>
          <p:nvPr/>
        </p:nvSpPr>
        <p:spPr>
          <a:xfrm>
            <a:off x="4239768"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4D4D4D"/>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1A1A1A"/>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1A1A1A"/>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4D4D4D"/>
                </a:solidFill>
                <a:latin typeface="Trenda IG Text"/>
              </a:rPr>
              <a:t>Test contacts only; checks consent, STOP, links, hours. </a:t>
            </a:r>
            <a:r>
              <a:rPr sz="700" b="1" i="0">
                <a:solidFill>
                  <a:srgbClr val="1A1A1A"/>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1A1A1A"/>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4D4D4D"/>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6B6B6B"/>
                </a:solidFill>
                <a:latin typeface="Trenda IG Text"/>
              </a:rPr>
              <a:t>CONTEXT + OVERSIGHT</a:t>
            </a:r>
          </a:p>
          <a:p>
            <a:pPr>
              <a:spcAft>
                <a:spcPts val="100"/>
              </a:spcAft>
            </a:pPr>
            <a:r>
              <a:rPr sz="700" b="0" i="0">
                <a:solidFill>
                  <a:srgbClr val="6B6B6B"/>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1A1A1A"/>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1A1A1A"/>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1A1A1A"/>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1A1A1A"/>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4D4D4D"/>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359152"/>
            <a:ext cx="0" cy="9144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D0D0D0"/>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1A1A1A"/>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FFFFFF"/>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1A1A1A"/>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1A1A1A"/>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1A1A1A"/>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00D6F2"/>
          </a:solidFill>
          <a:ln w="635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1A1A1A"/>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4D4D4D"/>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1A1A1A"/>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1A1A1A"/>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4D4D4D"/>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F5F5F5"/>
          </a:solidFill>
          <a:ln w="762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F5F5F5"/>
          </a:solidFill>
          <a:ln w="7620">
            <a:solidFill>
              <a:srgbClr val="00B8D4"/>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1A1A1A"/>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1A1A1A"/>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1A1A1A"/>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1A1A1A"/>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1A1A1A"/>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1A1A1A"/>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87068"/>
            <a:ext cx="246889"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87068"/>
            <a:ext cx="0" cy="2756916"/>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920240"/>
            <a:ext cx="0" cy="381304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920240"/>
            <a:ext cx="246888" cy="0"/>
          </a:xfrm>
          <a:prstGeom prst="line">
            <a:avLst/>
          </a:prstGeom>
          <a:ln w="9525">
            <a:solidFill>
              <a:srgbClr val="D0D0D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1A1A1A"/>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1A1A1A"/>
                </a:solidFill>
                <a:latin typeface="Trenda IG Text"/>
              </a:rPr>
              <a:t>Send-time re-checks + feedback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1A1A1A"/>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0  </a:t>
            </a:r>
            <a:r>
              <a:rPr sz="700" b="1" i="0">
                <a:solidFill>
                  <a:srgbClr val="1A1A1A"/>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before 1</a:t>
            </a:r>
          </a:p>
        </p:txBody>
      </p:sp>
      <p:sp>
        <p:nvSpPr>
          <p:cNvPr id="11" name="Shape 10"/>
          <p:cNvSpPr/>
          <p:nvPr/>
        </p:nvSpPr>
        <p:spPr>
          <a:xfrm>
            <a:off x="50292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1A1A1A"/>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1A1A1A"/>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1A1A1A"/>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1A1A1A"/>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1  </a:t>
            </a:r>
            <a:r>
              <a:rPr sz="700" b="1" i="0">
                <a:solidFill>
                  <a:srgbClr val="1A1A1A"/>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 · 2 · 4 · 5 · 6</a:t>
            </a:r>
          </a:p>
        </p:txBody>
      </p:sp>
      <p:sp>
        <p:nvSpPr>
          <p:cNvPr id="27" name="Shape 26"/>
          <p:cNvSpPr/>
          <p:nvPr/>
        </p:nvSpPr>
        <p:spPr>
          <a:xfrm>
            <a:off x="213708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1A1A1A"/>
                </a:solidFill>
                <a:latin typeface="Trenda IG Text"/>
              </a:rPr>
              <a:t>Approved sources into Bronze</a:t>
            </a:r>
          </a:p>
        </p:txBody>
      </p:sp>
      <p:sp>
        <p:nvSpPr>
          <p:cNvPr id="29" name="Shape 28"/>
          <p:cNvSpPr/>
          <p:nvPr/>
        </p:nvSpPr>
        <p:spPr>
          <a:xfrm>
            <a:off x="2137083" y="2679191"/>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1A1A1A"/>
                </a:solidFill>
                <a:latin typeface="Trenda IG Text"/>
              </a:rPr>
              <a:t>Silver: identities, encounters, contacts, consent; keeps everyone</a:t>
            </a:r>
          </a:p>
        </p:txBody>
      </p:sp>
      <p:sp>
        <p:nvSpPr>
          <p:cNvPr id="31" name="Shape 30"/>
          <p:cNvSpPr/>
          <p:nvPr/>
        </p:nvSpPr>
        <p:spPr>
          <a:xfrm>
            <a:off x="2137083" y="3118103"/>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1A1A1A"/>
                </a:solidFill>
                <a:latin typeface="Trenda IG Text"/>
              </a:rPr>
              <a:t>Gold B (restricted) and Gold A (aggregates)</a:t>
            </a:r>
          </a:p>
        </p:txBody>
      </p:sp>
      <p:sp>
        <p:nvSpPr>
          <p:cNvPr id="33" name="Shape 32"/>
          <p:cNvSpPr/>
          <p:nvPr/>
        </p:nvSpPr>
        <p:spPr>
          <a:xfrm>
            <a:off x="2137083" y="355701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1A1A1A"/>
                </a:solidFill>
                <a:latin typeface="Trenda IG Text"/>
              </a:rPr>
              <a:t>Synthetic data first</a:t>
            </a:r>
          </a:p>
        </p:txBody>
      </p:sp>
      <p:sp>
        <p:nvSpPr>
          <p:cNvPr id="35" name="Shape 34"/>
          <p:cNvSpPr/>
          <p:nvPr/>
        </p:nvSpPr>
        <p:spPr>
          <a:xfrm>
            <a:off x="211879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2  </a:t>
            </a:r>
            <a:r>
              <a:rPr sz="700" b="1" i="0">
                <a:solidFill>
                  <a:srgbClr val="1A1A1A"/>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3</a:t>
            </a:r>
          </a:p>
        </p:txBody>
      </p:sp>
      <p:sp>
        <p:nvSpPr>
          <p:cNvPr id="43" name="Shape 42"/>
          <p:cNvSpPr/>
          <p:nvPr/>
        </p:nvSpPr>
        <p:spPr>
          <a:xfrm>
            <a:off x="3771246"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548640"/>
          </a:xfrm>
          <a:prstGeom prst="rect">
            <a:avLst/>
          </a:prstGeom>
          <a:noFill/>
        </p:spPr>
        <p:txBody>
          <a:bodyPr wrap="square" lIns="0" rIns="0" tIns="0" bIns="0" anchor="t">
            <a:spAutoFit/>
          </a:bodyPr>
          <a:lstStyle/>
          <a:p>
            <a:r>
              <a:rPr sz="700" b="0" i="0">
                <a:solidFill>
                  <a:srgbClr val="1A1A1A"/>
                </a:solidFill>
                <a:latin typeface="Trenda IG Text"/>
              </a:rPr>
              <a:t>DLP, Collibra steward approval, policy tags, masking, row access</a:t>
            </a:r>
          </a:p>
        </p:txBody>
      </p:sp>
      <p:sp>
        <p:nvSpPr>
          <p:cNvPr id="45" name="Shape 44"/>
          <p:cNvSpPr/>
          <p:nvPr/>
        </p:nvSpPr>
        <p:spPr>
          <a:xfrm>
            <a:off x="3771246"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724912"/>
            <a:ext cx="1304979" cy="548640"/>
          </a:xfrm>
          <a:prstGeom prst="rect">
            <a:avLst/>
          </a:prstGeom>
          <a:noFill/>
        </p:spPr>
        <p:txBody>
          <a:bodyPr wrap="square" lIns="0" rIns="0" tIns="0" bIns="0" anchor="t">
            <a:spAutoFit/>
          </a:bodyPr>
          <a:lstStyle/>
          <a:p>
            <a:r>
              <a:rPr sz="700" b="0" i="0">
                <a:solidFill>
                  <a:srgbClr val="1A1A1A"/>
                </a:solidFill>
                <a:latin typeface="Trenda IG Text"/>
              </a:rPr>
              <a:t>Separate service identities; fail-closed policy removal</a:t>
            </a:r>
          </a:p>
        </p:txBody>
      </p:sp>
      <p:sp>
        <p:nvSpPr>
          <p:cNvPr id="47" name="Shape 46"/>
          <p:cNvSpPr/>
          <p:nvPr/>
        </p:nvSpPr>
        <p:spPr>
          <a:xfrm>
            <a:off x="3771246"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291839"/>
            <a:ext cx="1304979" cy="548640"/>
          </a:xfrm>
          <a:prstGeom prst="rect">
            <a:avLst/>
          </a:prstGeom>
          <a:noFill/>
        </p:spPr>
        <p:txBody>
          <a:bodyPr wrap="square" lIns="0" rIns="0" tIns="0" bIns="0" anchor="t">
            <a:spAutoFit/>
          </a:bodyPr>
          <a:lstStyle/>
          <a:p>
            <a:r>
              <a:rPr sz="700" b="0" i="0">
                <a:solidFill>
                  <a:srgbClr val="1A1A1A"/>
                </a:solidFill>
                <a:latin typeface="Trenda IG Text"/>
              </a:rPr>
              <a:t>Negative-access tests</a:t>
            </a:r>
          </a:p>
        </p:txBody>
      </p:sp>
      <p:sp>
        <p:nvSpPr>
          <p:cNvPr id="49" name="Shape 48"/>
          <p:cNvSpPr/>
          <p:nvPr/>
        </p:nvSpPr>
        <p:spPr>
          <a:xfrm>
            <a:off x="3752958"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3  </a:t>
            </a:r>
            <a:r>
              <a:rPr sz="700" b="1" i="0">
                <a:solidFill>
                  <a:srgbClr val="1A1A1A"/>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6 → 7 · 8 · 9</a:t>
            </a:r>
          </a:p>
        </p:txBody>
      </p:sp>
      <p:sp>
        <p:nvSpPr>
          <p:cNvPr id="57" name="Shape 56"/>
          <p:cNvSpPr/>
          <p:nvPr/>
        </p:nvSpPr>
        <p:spPr>
          <a:xfrm>
            <a:off x="540541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Knowledge graph and Tableau on Gold A only</a:t>
            </a:r>
          </a:p>
        </p:txBody>
      </p:sp>
      <p:sp>
        <p:nvSpPr>
          <p:cNvPr id="59" name="Shape 58"/>
          <p:cNvSpPr/>
          <p:nvPr/>
        </p:nvSpPr>
        <p:spPr>
          <a:xfrm>
            <a:off x="540541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Codex prompt; Orchestrator, Strategist, Analytics</a:t>
            </a:r>
          </a:p>
        </p:txBody>
      </p:sp>
      <p:sp>
        <p:nvSpPr>
          <p:cNvPr id="61" name="Shape 60"/>
          <p:cNvSpPr/>
          <p:nvPr/>
        </p:nvSpPr>
        <p:spPr>
          <a:xfrm>
            <a:off x="540541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Opportunity Brief and G1</a:t>
            </a:r>
          </a:p>
        </p:txBody>
      </p:sp>
      <p:sp>
        <p:nvSpPr>
          <p:cNvPr id="63" name="Shape 62"/>
          <p:cNvSpPr/>
          <p:nvPr/>
        </p:nvSpPr>
        <p:spPr>
          <a:xfrm>
            <a:off x="538712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4  </a:t>
            </a:r>
            <a:r>
              <a:rPr sz="700" b="1" i="0">
                <a:solidFill>
                  <a:srgbClr val="1A1A1A"/>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10 · 11 · 12</a:t>
            </a:r>
          </a:p>
        </p:txBody>
      </p:sp>
      <p:sp>
        <p:nvSpPr>
          <p:cNvPr id="71" name="Shape 70"/>
          <p:cNvSpPr/>
          <p:nvPr/>
        </p:nvSpPr>
        <p:spPr>
          <a:xfrm>
            <a:off x="7039573"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1A1A1A"/>
                </a:solidFill>
                <a:latin typeface="Trenda IG Text"/>
              </a:rPr>
              <a:t>Campaign Design Agent: journey + data extension, paused</a:t>
            </a:r>
          </a:p>
        </p:txBody>
      </p:sp>
      <p:sp>
        <p:nvSpPr>
          <p:cNvPr id="73" name="Shape 72"/>
          <p:cNvSpPr/>
          <p:nvPr/>
        </p:nvSpPr>
        <p:spPr>
          <a:xfrm>
            <a:off x="7039573"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1A1A1A"/>
                </a:solidFill>
                <a:latin typeface="Trenda IG Text"/>
              </a:rPr>
              <a:t>Testing loop: test contacts, failure modes, 5-retry cap</a:t>
            </a:r>
          </a:p>
        </p:txBody>
      </p:sp>
      <p:sp>
        <p:nvSpPr>
          <p:cNvPr id="75" name="Shape 74"/>
          <p:cNvSpPr/>
          <p:nvPr/>
        </p:nvSpPr>
        <p:spPr>
          <a:xfrm>
            <a:off x="7039573"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1A1A1A"/>
                </a:solidFill>
                <a:latin typeface="Trenda IG Text"/>
              </a:rPr>
              <a:t>G3 approval flow</a:t>
            </a:r>
          </a:p>
        </p:txBody>
      </p:sp>
      <p:sp>
        <p:nvSpPr>
          <p:cNvPr id="77" name="Shape 76"/>
          <p:cNvSpPr/>
          <p:nvPr/>
        </p:nvSpPr>
        <p:spPr>
          <a:xfrm>
            <a:off x="7021285"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5  </a:t>
            </a:r>
            <a:r>
              <a:rPr sz="700" b="1" i="0">
                <a:solidFill>
                  <a:srgbClr val="1A1A1A"/>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F5F5F5"/>
          </a:solidFill>
          <a:ln w="762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F5F5F5"/>
          </a:solidFill>
          <a:ln w="635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13 → 19</a:t>
            </a:r>
          </a:p>
        </p:txBody>
      </p:sp>
      <p:sp>
        <p:nvSpPr>
          <p:cNvPr id="85" name="Shape 84"/>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1A1A1A"/>
                </a:solidFill>
                <a:latin typeface="Trenda IG Text"/>
              </a:rPr>
              <a:t>Eligibility service on Gold B</a:t>
            </a:r>
          </a:p>
        </p:txBody>
      </p:sp>
      <p:sp>
        <p:nvSpPr>
          <p:cNvPr id="87" name="Shape 86"/>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1A1A1A"/>
                </a:solidFill>
                <a:latin typeface="Trenda IG Text"/>
              </a:rPr>
              <a:t>G2 masked pre-send report</a:t>
            </a:r>
          </a:p>
        </p:txBody>
      </p:sp>
      <p:sp>
        <p:nvSpPr>
          <p:cNvPr id="89" name="Shape 88"/>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1A1A1A"/>
                </a:solidFill>
                <a:latin typeface="Trenda IG Text"/>
              </a:rPr>
              <a:t>Gateway + Compliance Passport</a:t>
            </a:r>
          </a:p>
        </p:txBody>
      </p:sp>
      <p:sp>
        <p:nvSpPr>
          <p:cNvPr id="91" name="Shape 90"/>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1A1A1A"/>
                </a:solidFill>
                <a:latin typeface="Trenda IG Text"/>
              </a:rPr>
              <a:t>Path A (Data Cloud) first; Path B after parity</a:t>
            </a:r>
          </a:p>
        </p:txBody>
      </p:sp>
      <p:sp>
        <p:nvSpPr>
          <p:cNvPr id="93" name="Shape 92"/>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1A1A1A"/>
                </a:solidFill>
                <a:latin typeface="Trenda IG Text"/>
              </a:rPr>
              <a:t>Pilot: synthetic, then a small real audience</a:t>
            </a:r>
          </a:p>
        </p:txBody>
      </p:sp>
      <p:sp>
        <p:nvSpPr>
          <p:cNvPr id="95" name="Shape 94"/>
          <p:cNvSpPr/>
          <p:nvPr/>
        </p:nvSpPr>
        <p:spPr>
          <a:xfrm>
            <a:off x="8655449"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8A6D00"/>
                </a:solidFill>
                <a:latin typeface="Trenda IG Text"/>
              </a:rPr>
              <a:t>EXIT  </a:t>
            </a:r>
          </a:p>
          <a:p>
            <a:pPr>
              <a:spcAft>
                <a:spcPts val="100"/>
              </a:spcAft>
            </a:pPr>
            <a:r>
              <a:rPr sz="700" b="1" i="0">
                <a:solidFill>
                  <a:srgbClr val="1A1A1A"/>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1A1A1A"/>
                </a:solidFill>
                <a:latin typeface="Trenda IG Text"/>
              </a:rPr>
              <a:t>PHASE 6  </a:t>
            </a:r>
            <a:r>
              <a:rPr sz="700" b="1" i="0">
                <a:solidFill>
                  <a:srgbClr val="1A1A1A"/>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6B6B6B"/>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F5F5F5"/>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1A1A1A"/>
                </a:solidFill>
                <a:latin typeface="Trenda IG Text"/>
              </a:rPr>
              <a:t>20 + feedback</a:t>
            </a:r>
          </a:p>
        </p:txBody>
      </p:sp>
      <p:sp>
        <p:nvSpPr>
          <p:cNvPr id="103" name="Shape 102"/>
          <p:cNvSpPr/>
          <p:nvPr/>
        </p:nvSpPr>
        <p:spPr>
          <a:xfrm>
            <a:off x="10307900" y="2240279"/>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1A1A1A"/>
                </a:solidFill>
                <a:latin typeface="Trenda IG Text"/>
              </a:rPr>
              <a:t>Measurement vs holdout; refresh Gold A</a:t>
            </a:r>
          </a:p>
        </p:txBody>
      </p:sp>
      <p:sp>
        <p:nvSpPr>
          <p:cNvPr id="105" name="Shape 104"/>
          <p:cNvSpPr/>
          <p:nvPr/>
        </p:nvSpPr>
        <p:spPr>
          <a:xfrm>
            <a:off x="10307900" y="2807208"/>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1A1A1A"/>
                </a:solidFill>
                <a:latin typeface="Trenda IG Text"/>
              </a:rPr>
              <a:t>Compare with the Phase 0 baseline: first real speed and ROI</a:t>
            </a:r>
          </a:p>
        </p:txBody>
      </p:sp>
      <p:sp>
        <p:nvSpPr>
          <p:cNvPr id="107" name="Shape 106"/>
          <p:cNvSpPr/>
          <p:nvPr/>
        </p:nvSpPr>
        <p:spPr>
          <a:xfrm>
            <a:off x="10307900" y="3374135"/>
            <a:ext cx="64008" cy="64008"/>
          </a:xfrm>
          <a:prstGeom prst="ellipse">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1A1A1A"/>
                </a:solidFill>
                <a:latin typeface="Trenda IG Text"/>
              </a:rPr>
              <a:t>More templates, Path B, monitoring, multi-tenancy</a:t>
            </a:r>
          </a:p>
        </p:txBody>
      </p:sp>
      <p:sp>
        <p:nvSpPr>
          <p:cNvPr id="109" name="Shape 108"/>
          <p:cNvSpPr/>
          <p:nvPr/>
        </p:nvSpPr>
        <p:spPr>
          <a:xfrm>
            <a:off x="10289612" y="3950208"/>
            <a:ext cx="1414707" cy="658368"/>
          </a:xfrm>
          <a:prstGeom prst="roundRect">
            <a:avLst>
              <a:gd name="adj" fmla="val 1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EXIT  </a:t>
            </a:r>
          </a:p>
          <a:p>
            <a:pPr>
              <a:spcAft>
                <a:spcPts val="100"/>
              </a:spcAft>
            </a:pPr>
            <a:r>
              <a:rPr sz="700" b="1" i="0">
                <a:solidFill>
                  <a:srgbClr val="1A1A1A"/>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1A1A1A"/>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E6E6E6"/>
          </a:solidFill>
          <a:ln w="63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700" b="1" i="0" spc="80">
                <a:solidFill>
                  <a:srgbClr val="1A1A1A"/>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D0D0D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1A1A1A"/>
                </a:solidFill>
                <a:latin typeface="Trenda IG Text"/>
              </a:rPr>
              <a:t>SYNTHETIC GOLD A FIRST</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1A1A1A"/>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1A1A1A"/>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Governance before agents</a:t>
            </a:r>
          </a:p>
          <a:p>
            <a:pPr>
              <a:spcAft>
                <a:spcPts val="100"/>
              </a:spcAft>
            </a:pPr>
            <a:r>
              <a:rPr sz="700" b="0" i="0">
                <a:solidFill>
                  <a:srgbClr val="4D4D4D"/>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Build and test before release</a:t>
            </a:r>
          </a:p>
          <a:p>
            <a:pPr>
              <a:spcAft>
                <a:spcPts val="100"/>
              </a:spcAft>
            </a:pPr>
            <a:r>
              <a:rPr sz="700" b="0" i="0">
                <a:solidFill>
                  <a:srgbClr val="4D4D4D"/>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1A1A1A"/>
                </a:solidFill>
                <a:latin typeface="Trenda IG Text"/>
              </a:rPr>
              <a:t>Data Cloud before direct</a:t>
            </a:r>
          </a:p>
          <a:p>
            <a:pPr>
              <a:spcAft>
                <a:spcPts val="100"/>
              </a:spcAft>
            </a:pPr>
            <a:r>
              <a:rPr sz="700" b="0" i="0">
                <a:solidFill>
                  <a:srgbClr val="4D4D4D"/>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1A1A1A"/>
                </a:solidFill>
                <a:latin typeface="Trenda IG Text"/>
              </a:rPr>
              <a:t>Nothing in Phase 5 touches real patients until Phases 2 and 4 pass their exits. </a:t>
            </a:r>
            <a:r>
              <a:rPr sz="700" b="0" i="0">
                <a:solidFill>
                  <a:srgbClr val="4D4D4D"/>
                </a:solidFill>
                <a:latin typeface="Trenda IG Text"/>
              </a:rPr>
              <a:t>No speed or ROI number is committed before Phase 6 compares the pilot with today's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1A1A1A"/>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4D4D4D"/>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1A1A1A"/>
                </a:solidFill>
                <a:latin typeface="Trenda IG Text"/>
              </a:rPr>
              <a:t>Sierra</a:t>
            </a:r>
          </a:p>
          <a:p>
            <a:pPr>
              <a:lnSpc>
                <a:spcPct val="90000"/>
              </a:lnSpc>
            </a:pPr>
            <a:r>
              <a:rPr sz="700" b="0" i="0">
                <a:solidFill>
                  <a:srgbClr val="4D4D4D"/>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Answers questions</a:t>
            </a:r>
          </a:p>
          <a:p>
            <a:pPr>
              <a:spcAft>
                <a:spcPts val="100"/>
              </a:spcAft>
            </a:pPr>
            <a:r>
              <a:rPr sz="700" b="0" i="0">
                <a:solidFill>
                  <a:srgbClr val="4D4D4D"/>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Verifies the caller</a:t>
            </a:r>
          </a:p>
          <a:p>
            <a:pPr>
              <a:spcAft>
                <a:spcPts val="100"/>
              </a:spcAft>
            </a:pPr>
            <a:r>
              <a:rPr sz="700" b="0" i="0">
                <a:solidFill>
                  <a:srgbClr val="4D4D4D"/>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Books, cancels, reschedules</a:t>
            </a:r>
          </a:p>
          <a:p>
            <a:pPr>
              <a:spcAft>
                <a:spcPts val="100"/>
              </a:spcAft>
            </a:pPr>
            <a:r>
              <a:rPr sz="700" b="0" i="0">
                <a:solidFill>
                  <a:srgbClr val="4D4D4D"/>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1A1A1A"/>
                </a:solidFill>
                <a:latin typeface="Trenda IG Text"/>
              </a:rPr>
              <a:t>Hands off to a person</a:t>
            </a:r>
          </a:p>
          <a:p>
            <a:pPr>
              <a:spcAft>
                <a:spcPts val="100"/>
              </a:spcAft>
            </a:pPr>
            <a:r>
              <a:rPr sz="700" b="0" i="0">
                <a:solidFill>
                  <a:srgbClr val="4D4D4D"/>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1A1A1A"/>
                </a:solidFill>
                <a:latin typeface="Trenda IG Text"/>
              </a:rPr>
              <a:t>1  KNOWLEDGE PATH</a:t>
            </a:r>
            <a:r>
              <a:rPr sz="700" b="0" i="0">
                <a:solidFill>
                  <a:srgbClr val="4D4D4D"/>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1A1A1A"/>
                </a:solidFill>
                <a:latin typeface="Trenda IG Text"/>
              </a:rPr>
              <a:t>2  PATIENT PATH</a:t>
            </a:r>
            <a:r>
              <a:rPr sz="700" b="0" i="0">
                <a:solidFill>
                  <a:srgbClr val="4D4D4D"/>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1A1A1A"/>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8A6D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4D4D4D"/>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F5F5F5"/>
          </a:solidFill>
          <a:ln w="12700">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1A1A1A"/>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B8D4"/>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89A0"/>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6B6B6B"/>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1A1A1A"/>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1A1A1A"/>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1A1A1A"/>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1A1A1A"/>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BDBDBD"/>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89A0"/>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rIns="0" tIns="0" bIns="0" anchor="ctr">
            <a:spAutoFit/>
          </a:bodyPr>
          <a:lstStyle/>
          <a:p>
            <a:r>
              <a:rPr sz="700" b="1" i="0">
                <a:solidFill>
                  <a:srgbClr val="8A6D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rIns="0" tIns="0" bIns="0" anchor="t">
            <a:spAutoFit/>
          </a:bodyPr>
          <a:lstStyle/>
          <a:p>
            <a:r>
              <a:rPr sz="700" b="0" i="0">
                <a:solidFill>
                  <a:srgbClr val="4D4D4D"/>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379976" y="3739896"/>
            <a:ext cx="2295144" cy="87782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471416" y="3776472"/>
            <a:ext cx="2112263" cy="237744"/>
          </a:xfrm>
          <a:prstGeom prst="rect">
            <a:avLst/>
          </a:prstGeom>
          <a:noFill/>
        </p:spPr>
        <p:txBody>
          <a:bodyPr wrap="square" lIns="0" rIns="0" tIns="0" bIns="0" anchor="ctr">
            <a:spAutoFit/>
          </a:bodyPr>
          <a:lstStyle/>
          <a:p>
            <a:r>
              <a:rPr sz="700" b="1" i="0">
                <a:solidFill>
                  <a:srgbClr val="1A1A1A"/>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rIns="0" tIns="0" bIns="0" anchor="t">
            <a:spAutoFit/>
          </a:bodyPr>
          <a:lstStyle/>
          <a:p>
            <a:r>
              <a:rPr sz="700" b="0" i="0">
                <a:solidFill>
                  <a:srgbClr val="4D4D4D"/>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8"/>
          <p:cNvSpPr/>
          <p:nvPr/>
        </p:nvSpPr>
        <p:spPr>
          <a:xfrm>
            <a:off x="6967728" y="3794760"/>
            <a:ext cx="329184" cy="182880"/>
          </a:xfrm>
          <a:prstGeom prst="roundRect">
            <a:avLst>
              <a:gd name="adj" fmla="val 30000"/>
            </a:avLst>
          </a:prstGeom>
          <a:solidFill>
            <a:srgbClr val="EEEEEE"/>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9"/>
          <p:cNvSpPr txBox="1"/>
          <p:nvPr/>
        </p:nvSpPr>
        <p:spPr>
          <a:xfrm>
            <a:off x="6967728" y="3794760"/>
            <a:ext cx="329184" cy="182880"/>
          </a:xfrm>
          <a:prstGeom prst="rect">
            <a:avLst/>
          </a:prstGeom>
          <a:noFill/>
        </p:spPr>
        <p:txBody>
          <a:bodyPr wrap="square" lIns="0" rIns="0" tIns="0" bIns="0" anchor="ctr">
            <a:spAutoFit/>
          </a:bodyPr>
          <a:lstStyle/>
          <a:p>
            <a:pPr algn="ctr"/>
            <a:r>
              <a:rPr sz="700" b="1" i="0">
                <a:solidFill>
                  <a:srgbClr val="1A1A1A"/>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rIns="0" tIns="0" bIns="0" anchor="ctr">
            <a:spAutoFit/>
          </a:bodyPr>
          <a:lstStyle/>
          <a:p>
            <a:r>
              <a:rPr sz="700" b="1" i="0">
                <a:solidFill>
                  <a:srgbClr val="1A1A1A"/>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rIns="0" tIns="0" bIns="0" anchor="t">
            <a:spAutoFit/>
          </a:bodyPr>
          <a:lstStyle/>
          <a:p>
            <a:r>
              <a:rPr sz="700" b="0" i="0">
                <a:solidFill>
                  <a:srgbClr val="4D4D4D"/>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B8D4"/>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6B6B6B"/>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8"/>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1A1A1A"/>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0"/>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1A1A1A"/>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2"/>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1A1A1A"/>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4"/>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1A1A1A"/>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F5F5F5"/>
          </a:solidFill>
          <a:ln w="762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6"/>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1A1A1A"/>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8"/>
          <p:cNvSpPr/>
          <p:nvPr/>
        </p:nvSpPr>
        <p:spPr>
          <a:xfrm>
            <a:off x="9189720" y="1188720"/>
            <a:ext cx="258775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1A1A1A"/>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FFF7CC"/>
          </a:solidFill>
          <a:ln w="11430">
            <a:solidFill>
              <a:srgbClr val="C9A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Picture 94" descr="people.png"/>
          <p:cNvPicPr>
            <a:picLocks noChangeAspect="1"/>
          </p:cNvPicPr>
          <p:nvPr/>
        </p:nvPicPr>
        <p:blipFill>
          <a:blip r:embed="rId2"/>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rIns="0" tIns="0" bIns="0" anchor="ctr">
            <a:spAutoFit/>
          </a:bodyPr>
          <a:lstStyle/>
          <a:p>
            <a:r>
              <a:rPr sz="700" b="1" i="0">
                <a:solidFill>
                  <a:srgbClr val="8A6D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rIns="0" tIns="0" bIns="0" anchor="t">
            <a:spAutoFit/>
          </a:bodyPr>
          <a:lstStyle/>
          <a:p>
            <a:r>
              <a:rPr sz="700" b="0" i="0">
                <a:solidFill>
                  <a:srgbClr val="4D4D4D"/>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4"/>
          <p:cNvSpPr txBox="1"/>
          <p:nvPr/>
        </p:nvSpPr>
        <p:spPr>
          <a:xfrm>
            <a:off x="9390888" y="2487168"/>
            <a:ext cx="2203704" cy="201168"/>
          </a:xfrm>
          <a:prstGeom prst="rect">
            <a:avLst/>
          </a:prstGeom>
          <a:noFill/>
        </p:spPr>
        <p:txBody>
          <a:bodyPr wrap="square" lIns="0" rIns="0" tIns="0" bIns="0" anchor="ctr">
            <a:spAutoFit/>
          </a:bodyPr>
          <a:lstStyle/>
          <a:p>
            <a:r>
              <a:rPr sz="700" b="1" i="0">
                <a:solidFill>
                  <a:srgbClr val="1A1A1A"/>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googlebigquery.png"/>
          <p:cNvPicPr>
            <a:picLocks noChangeAspect="1"/>
          </p:cNvPicPr>
          <p:nvPr/>
        </p:nvPicPr>
        <p:blipFill>
          <a:blip r:embed="rId4"/>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rIns="0" tIns="0" bIns="0" anchor="ctr">
            <a:spAutoFit/>
          </a:bodyPr>
          <a:lstStyle/>
          <a:p>
            <a:r>
              <a:rPr sz="700" b="1" i="0">
                <a:solidFill>
                  <a:srgbClr val="1A1A1A"/>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F5F5F5"/>
          </a:solidFill>
          <a:ln w="1270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0"/>
          <p:cNvSpPr txBox="1"/>
          <p:nvPr/>
        </p:nvSpPr>
        <p:spPr>
          <a:xfrm>
            <a:off x="9390888" y="4315968"/>
            <a:ext cx="2203704" cy="201168"/>
          </a:xfrm>
          <a:prstGeom prst="rect">
            <a:avLst/>
          </a:prstGeom>
          <a:noFill/>
        </p:spPr>
        <p:txBody>
          <a:bodyPr wrap="square" lIns="0" rIns="0" tIns="0" bIns="0" anchor="ctr">
            <a:spAutoFit/>
          </a:bodyPr>
          <a:lstStyle/>
          <a:p>
            <a:r>
              <a:rPr sz="700" b="1" i="0">
                <a:solidFill>
                  <a:srgbClr val="1A1A1A"/>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rIns="0" tIns="0" bIns="0" anchor="t">
            <a:spAutoFit/>
          </a:bodyPr>
          <a:lstStyle/>
          <a:p>
            <a:pPr>
              <a:spcAft>
                <a:spcPts val="100"/>
              </a:spcAft>
            </a:pPr>
            <a:r>
              <a:rPr sz="700" b="0" i="0">
                <a:solidFill>
                  <a:srgbClr val="4D4D4D"/>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SAFEGUARDS</a:t>
            </a:r>
          </a:p>
          <a:p>
            <a:pPr>
              <a:spcAft>
                <a:spcPts val="100"/>
              </a:spcAft>
            </a:pPr>
            <a:r>
              <a:rPr sz="700" b="0" i="0">
                <a:solidFill>
                  <a:srgbClr val="6B6B6B"/>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5"/>
          <p:cNvSpPr txBox="1"/>
          <p:nvPr/>
        </p:nvSpPr>
        <p:spPr>
          <a:xfrm>
            <a:off x="1792224"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BAA with Sierra</a:t>
            </a:r>
          </a:p>
          <a:p>
            <a:pPr>
              <a:spcAft>
                <a:spcPts val="100"/>
              </a:spcAft>
            </a:pPr>
            <a:r>
              <a:rPr sz="700" b="0" i="0">
                <a:solidFill>
                  <a:srgbClr val="4D4D4D"/>
                </a:solidFill>
                <a:latin typeface="Trenda IG Text"/>
              </a:rPr>
              <a:t>calls carry PHI</a:t>
            </a:r>
          </a:p>
        </p:txBody>
      </p:sp>
      <p:sp>
        <p:nvSpPr>
          <p:cNvPr id="112" name="Shape 106"/>
          <p:cNvSpPr/>
          <p:nvPr/>
        </p:nvSpPr>
        <p:spPr>
          <a:xfrm>
            <a:off x="3349752"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8"/>
          <p:cNvSpPr txBox="1"/>
          <p:nvPr/>
        </p:nvSpPr>
        <p:spPr>
          <a:xfrm>
            <a:off x="3496056"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Verify before any PHI</a:t>
            </a:r>
          </a:p>
          <a:p>
            <a:pPr>
              <a:spcAft>
                <a:spcPts val="100"/>
              </a:spcAft>
            </a:pPr>
            <a:r>
              <a:rPr sz="700" b="0" i="0">
                <a:solidFill>
                  <a:srgbClr val="4D4D4D"/>
                </a:solidFill>
                <a:latin typeface="Trenda IG Text"/>
              </a:rPr>
              <a:t>then this patient only</a:t>
            </a:r>
          </a:p>
        </p:txBody>
      </p:sp>
      <p:sp>
        <p:nvSpPr>
          <p:cNvPr id="115" name="Shape 109"/>
          <p:cNvSpPr/>
          <p:nvPr/>
        </p:nvSpPr>
        <p:spPr>
          <a:xfrm>
            <a:off x="5053584"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1"/>
          <p:cNvSpPr txBox="1"/>
          <p:nvPr/>
        </p:nvSpPr>
        <p:spPr>
          <a:xfrm>
            <a:off x="5199888"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System of record</a:t>
            </a:r>
          </a:p>
          <a:p>
            <a:pPr>
              <a:spcAft>
                <a:spcPts val="100"/>
              </a:spcAft>
            </a:pPr>
            <a:r>
              <a:rPr sz="700" b="0" i="0">
                <a:solidFill>
                  <a:srgbClr val="4D4D4D"/>
                </a:solidFill>
                <a:latin typeface="Trenda IG Text"/>
              </a:rPr>
              <a:t>never a GCP copy</a:t>
            </a:r>
          </a:p>
        </p:txBody>
      </p:sp>
      <p:sp>
        <p:nvSpPr>
          <p:cNvPr id="118" name="Shape 112"/>
          <p:cNvSpPr/>
          <p:nvPr/>
        </p:nvSpPr>
        <p:spPr>
          <a:xfrm>
            <a:off x="6757416"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4"/>
          <p:cNvSpPr txBox="1"/>
          <p:nvPr/>
        </p:nvSpPr>
        <p:spPr>
          <a:xfrm>
            <a:off x="6903720"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Rules in the API</a:t>
            </a:r>
          </a:p>
          <a:p>
            <a:pPr>
              <a:spcAft>
                <a:spcPts val="100"/>
              </a:spcAft>
            </a:pPr>
            <a:r>
              <a:rPr sz="700" b="0" i="0">
                <a:solidFill>
                  <a:srgbClr val="4D4D4D"/>
                </a:solidFill>
                <a:latin typeface="Trenda IG Text"/>
              </a:rPr>
              <a:t>not only in an article</a:t>
            </a:r>
          </a:p>
        </p:txBody>
      </p:sp>
      <p:sp>
        <p:nvSpPr>
          <p:cNvPr id="121" name="Shape 115"/>
          <p:cNvSpPr/>
          <p:nvPr/>
        </p:nvSpPr>
        <p:spPr>
          <a:xfrm>
            <a:off x="8461248"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7"/>
          <p:cNvSpPr txBox="1"/>
          <p:nvPr/>
        </p:nvSpPr>
        <p:spPr>
          <a:xfrm>
            <a:off x="8607552"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Governed articles</a:t>
            </a:r>
          </a:p>
          <a:p>
            <a:pPr>
              <a:spcAft>
                <a:spcPts val="100"/>
              </a:spcAft>
            </a:pPr>
            <a:r>
              <a:rPr sz="700" b="0" i="0">
                <a:solidFill>
                  <a:srgbClr val="4D4D4D"/>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0"/>
          <p:cNvSpPr txBox="1"/>
          <p:nvPr/>
        </p:nvSpPr>
        <p:spPr>
          <a:xfrm>
            <a:off x="10311384" y="5376672"/>
            <a:ext cx="1411224" cy="786384"/>
          </a:xfrm>
          <a:prstGeom prst="rect">
            <a:avLst/>
          </a:prstGeom>
          <a:noFill/>
        </p:spPr>
        <p:txBody>
          <a:bodyPr wrap="square" lIns="0" rIns="0" tIns="0" bIns="0" anchor="ctr">
            <a:spAutoFit/>
          </a:bodyPr>
          <a:lstStyle/>
          <a:p>
            <a:pPr>
              <a:spcAft>
                <a:spcPts val="100"/>
              </a:spcAft>
            </a:pPr>
            <a:r>
              <a:rPr sz="720" b="1" i="0">
                <a:solidFill>
                  <a:srgbClr val="1A1A1A"/>
                </a:solidFill>
                <a:latin typeface="Trenda IG Text"/>
              </a:rPr>
              <a:t>Tested before release</a:t>
            </a:r>
          </a:p>
          <a:p>
            <a:pPr>
              <a:spcAft>
                <a:spcPts val="100"/>
              </a:spcAft>
            </a:pPr>
            <a:r>
              <a:rPr sz="700" b="0" i="0">
                <a:solidFill>
                  <a:srgbClr val="4D4D4D"/>
                </a:solidFill>
                <a:latin typeface="Trenda IG Text"/>
              </a:rPr>
              <a:t>scripted test calls</a:t>
            </a:r>
          </a:p>
        </p:txBody>
      </p:sp>
      <p:sp>
        <p:nvSpPr>
          <p:cNvPr id="127" name="Shape 1"/>
          <p:cNvSpPr/>
          <p:nvPr/>
        </p:nvSpPr>
        <p:spPr>
          <a:xfrm>
            <a:off x="9464040" y="182880"/>
            <a:ext cx="2313432" cy="274320"/>
          </a:xfrm>
          <a:prstGeom prst="roundRect">
            <a:avLst>
              <a:gd name="adj" fmla="val 50000"/>
            </a:avLst>
          </a:prstGeom>
          <a:noFill/>
          <a:ln w="2222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2"/>
          <p:cNvSpPr txBox="1"/>
          <p:nvPr/>
        </p:nvSpPr>
        <p:spPr>
          <a:xfrm>
            <a:off x="9464040" y="182880"/>
            <a:ext cx="2313432" cy="274320"/>
          </a:xfrm>
          <a:prstGeom prst="rect">
            <a:avLst/>
          </a:prstGeom>
          <a:noFill/>
        </p:spPr>
        <p:txBody>
          <a:bodyPr wrap="square" lIns="0" rIns="0" tIns="0" bIns="0" anchor="ctr">
            <a:spAutoFit/>
          </a:bodyPr>
          <a:lstStyle/>
          <a:p>
            <a:pPr algn="ctr"/>
            <a:r>
              <a:rPr sz="800" b="1" i="0" spc="150">
                <a:solidFill>
                  <a:srgbClr val="1A1A1A"/>
                </a:solidFill>
                <a:latin typeface="Trenda IG Text"/>
              </a:rPr>
              <a:t>KEY DIFFERENTIATOR</a:t>
            </a:r>
          </a:p>
        </p:txBody>
      </p:sp>
      <p:sp>
        <p:nvSpPr>
          <p:cNvPr id="129" name="Shape 3"/>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Shape 4"/>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Platform fit: one harness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ONE HARNESS</a:t>
            </a:r>
          </a:p>
          <a:p>
            <a:pPr>
              <a:spcAft>
                <a:spcPts val="100"/>
              </a:spcAft>
            </a:pPr>
            <a:r>
              <a:rPr sz="700" b="0" i="0">
                <a:solidFill>
                  <a:srgbClr val="6B6B6B"/>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Delivery</a:t>
            </a:r>
          </a:p>
          <a:p>
            <a:r>
              <a:rPr sz="700" b="0" i="0">
                <a:solidFill>
                  <a:srgbClr val="4D4D4D"/>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1A1A1A"/>
                </a:solidFill>
                <a:latin typeface="Trenda IG Text"/>
              </a:rPr>
              <a:t>Campaigns</a:t>
            </a:r>
          </a:p>
          <a:p>
            <a:r>
              <a:rPr sz="700" b="0" i="0">
                <a:solidFill>
                  <a:srgbClr val="4D4D4D"/>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1A1A1A"/>
                </a:solidFill>
                <a:latin typeface="Trenda IG Text"/>
              </a:rPr>
              <a:t>Sierra voice agent</a:t>
            </a:r>
          </a:p>
          <a:p>
            <a:r>
              <a:rPr sz="700" b="0" i="0">
                <a:solidFill>
                  <a:srgbClr val="4D4D4D"/>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89A0"/>
                </a:solidFill>
                <a:latin typeface="Trenda IG Text"/>
              </a:rPr>
              <a:t>SHARED BY ALL THREE</a:t>
            </a:r>
          </a:p>
          <a:p>
            <a:pPr>
              <a:spcAft>
                <a:spcPts val="100"/>
              </a:spcAft>
            </a:pPr>
            <a:r>
              <a:rPr sz="700" b="0" i="0">
                <a:solidFill>
                  <a:srgbClr val="4D4D4D"/>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BUILD</a:t>
            </a:r>
          </a:p>
        </p:txBody>
      </p:sp>
      <p:sp>
        <p:nvSpPr>
          <p:cNvPr id="18" name="Shape 15"/>
          <p:cNvSpPr/>
          <p:nvPr/>
        </p:nvSpPr>
        <p:spPr>
          <a:xfrm>
            <a:off x="521208"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definition per agent</a:t>
            </a:r>
          </a:p>
          <a:p>
            <a:pPr>
              <a:spcAft>
                <a:spcPts val="200"/>
              </a:spcAft>
            </a:pPr>
            <a:r>
              <a:rPr sz="700" b="0" i="0">
                <a:solidFill>
                  <a:srgbClr val="4D4D4D"/>
                </a:solidFill>
                <a:latin typeface="Trenda IG Text"/>
              </a:rPr>
              <a:t>plus a skill pack per pod; a new pod adds skills, not agents</a:t>
            </a:r>
          </a:p>
        </p:txBody>
      </p:sp>
      <p:sp>
        <p:nvSpPr>
          <p:cNvPr id="21" name="Shape 18"/>
          <p:cNvSpPr/>
          <p:nvPr/>
        </p:nvSpPr>
        <p:spPr>
          <a:xfrm>
            <a:off x="521208"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Versioned</a:t>
            </a:r>
          </a:p>
          <a:p>
            <a:pPr>
              <a:spcAft>
                <a:spcPts val="200"/>
              </a:spcAft>
            </a:pPr>
            <a:r>
              <a:rPr sz="700" b="0" i="0">
                <a:solidFill>
                  <a:srgbClr val="4D4D4D"/>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Eval gate</a:t>
            </a:r>
          </a:p>
          <a:p>
            <a:pPr>
              <a:spcAft>
                <a:spcPts val="200"/>
              </a:spcAft>
            </a:pPr>
            <a:r>
              <a:rPr sz="700" b="0" i="0">
                <a:solidFill>
                  <a:srgbClr val="4D4D4D"/>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Pod by pod</a:t>
            </a:r>
          </a:p>
          <a:p>
            <a:pPr>
              <a:spcAft>
                <a:spcPts val="200"/>
              </a:spcAft>
            </a:pPr>
            <a:r>
              <a:rPr sz="700" b="0" i="0">
                <a:solidFill>
                  <a:srgbClr val="4D4D4D"/>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SCALES</a:t>
            </a:r>
            <a:r>
              <a:rPr sz="700" b="0" i="0">
                <a:solidFill>
                  <a:srgbClr val="4D4D4D"/>
                </a:solidFill>
                <a:latin typeface="Trenda IG Text"/>
              </a:rPr>
              <a:t>   concurrency</a:t>
            </a:r>
          </a:p>
        </p:txBody>
      </p:sp>
      <p:sp>
        <p:nvSpPr>
          <p:cNvPr id="33" name="Shape 30"/>
          <p:cNvSpPr/>
          <p:nvPr/>
        </p:nvSpPr>
        <p:spPr>
          <a:xfrm>
            <a:off x="2816352"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One isolated run per request</a:t>
            </a:r>
          </a:p>
          <a:p>
            <a:pPr>
              <a:spcAft>
                <a:spcPts val="200"/>
              </a:spcAft>
            </a:pPr>
            <a:r>
              <a:rPr sz="700" b="0" i="0">
                <a:solidFill>
                  <a:srgbClr val="4D4D4D"/>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Fair share for every pod</a:t>
            </a:r>
          </a:p>
          <a:p>
            <a:pPr>
              <a:spcAft>
                <a:spcPts val="200"/>
              </a:spcAft>
            </a:pPr>
            <a:r>
              <a:rPr sz="700" b="0" i="0">
                <a:solidFill>
                  <a:srgbClr val="4D4D4D"/>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Scales with demand</a:t>
            </a:r>
          </a:p>
          <a:p>
            <a:pPr>
              <a:spcAft>
                <a:spcPts val="200"/>
              </a:spcAft>
            </a:pPr>
            <a:r>
              <a:rPr sz="700" b="0" i="0">
                <a:solidFill>
                  <a:srgbClr val="4D4D4D"/>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Queued, never dropped</a:t>
            </a:r>
          </a:p>
          <a:p>
            <a:pPr>
              <a:spcAft>
                <a:spcPts val="200"/>
              </a:spcAft>
            </a:pPr>
            <a:r>
              <a:rPr sz="700" b="0" i="0">
                <a:solidFill>
                  <a:srgbClr val="4D4D4D"/>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IT STAYS ACCURATE</a:t>
            </a:r>
            <a:r>
              <a:rPr sz="700" b="0" i="0">
                <a:solidFill>
                  <a:srgbClr val="4D4D4D"/>
                </a:solidFill>
                <a:latin typeface="Trenda IG Text"/>
              </a:rPr>
              <a:t>   accuracy</a:t>
            </a:r>
          </a:p>
        </p:txBody>
      </p:sp>
      <p:sp>
        <p:nvSpPr>
          <p:cNvPr id="48" name="Shape 45"/>
          <p:cNvSpPr/>
          <p:nvPr/>
        </p:nvSpPr>
        <p:spPr>
          <a:xfrm>
            <a:off x="5111496"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Cited facts only</a:t>
            </a:r>
          </a:p>
          <a:p>
            <a:pPr>
              <a:spcAft>
                <a:spcPts val="200"/>
              </a:spcAft>
            </a:pPr>
            <a:r>
              <a:rPr sz="700" b="0" i="0">
                <a:solidFill>
                  <a:srgbClr val="4D4D4D"/>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Same bar for every pod</a:t>
            </a:r>
          </a:p>
          <a:p>
            <a:pPr>
              <a:spcAft>
                <a:spcPts val="200"/>
              </a:spcAft>
            </a:pPr>
            <a:r>
              <a:rPr sz="700" b="0" i="0">
                <a:solidFill>
                  <a:srgbClr val="4D4D4D"/>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Load changes the wait, not the answer</a:t>
            </a:r>
          </a:p>
          <a:p>
            <a:pPr>
              <a:spcAft>
                <a:spcPts val="200"/>
              </a:spcAft>
            </a:pPr>
            <a:r>
              <a:rPr sz="700" b="0" i="0">
                <a:solidFill>
                  <a:srgbClr val="4D4D4D"/>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Measured every run</a:t>
            </a:r>
          </a:p>
          <a:p>
            <a:pPr>
              <a:spcAft>
                <a:spcPts val="200"/>
              </a:spcAft>
            </a:pPr>
            <a:r>
              <a:rPr sz="700" b="0" i="0">
                <a:solidFill>
                  <a:srgbClr val="4D4D4D"/>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PROTECT DATA</a:t>
            </a:r>
            <a:r>
              <a:rPr sz="700" b="0" i="0">
                <a:solidFill>
                  <a:srgbClr val="4D4D4D"/>
                </a:solidFill>
                <a:latin typeface="Trenda IG Text"/>
              </a:rPr>
              <a:t>   measured</a:t>
            </a:r>
          </a:p>
        </p:txBody>
      </p:sp>
      <p:sp>
        <p:nvSpPr>
          <p:cNvPr id="63" name="Shape 60"/>
          <p:cNvSpPr/>
          <p:nvPr/>
        </p:nvSpPr>
        <p:spPr>
          <a:xfrm>
            <a:off x="7406640"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Classified and approved</a:t>
            </a:r>
          </a:p>
          <a:p>
            <a:pPr>
              <a:spcAft>
                <a:spcPts val="200"/>
              </a:spcAft>
            </a:pPr>
            <a:r>
              <a:rPr sz="700" b="0" i="0">
                <a:solidFill>
                  <a:srgbClr val="4D4D4D"/>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Masked and verified</a:t>
            </a:r>
          </a:p>
          <a:p>
            <a:pPr>
              <a:spcAft>
                <a:spcPts val="200"/>
              </a:spcAft>
            </a:pPr>
            <a:r>
              <a:rPr sz="700" b="0" i="0">
                <a:solidFill>
                  <a:srgbClr val="4D4D4D"/>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Zero unauthorized access</a:t>
            </a:r>
          </a:p>
          <a:p>
            <a:pPr>
              <a:spcAft>
                <a:spcPts val="200"/>
              </a:spcAft>
            </a:pPr>
            <a:r>
              <a:rPr sz="700" b="0" i="0">
                <a:solidFill>
                  <a:srgbClr val="4D4D4D"/>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Every access audited</a:t>
            </a:r>
          </a:p>
          <a:p>
            <a:pPr>
              <a:spcAft>
                <a:spcPts val="200"/>
              </a:spcAft>
            </a:pPr>
            <a:r>
              <a:rPr sz="700" b="0" i="0">
                <a:solidFill>
                  <a:srgbClr val="4D4D4D"/>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1A1A1A"/>
                </a:solidFill>
                <a:latin typeface="Trenda IG Text"/>
              </a:rPr>
              <a:t>HOW WE CONTROL</a:t>
            </a:r>
          </a:p>
        </p:txBody>
      </p:sp>
      <p:sp>
        <p:nvSpPr>
          <p:cNvPr id="78" name="Shape 75"/>
          <p:cNvSpPr/>
          <p:nvPr/>
        </p:nvSpPr>
        <p:spPr>
          <a:xfrm>
            <a:off x="9701783" y="213055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No production access</a:t>
            </a:r>
          </a:p>
          <a:p>
            <a:pPr>
              <a:spcAft>
                <a:spcPts val="200"/>
              </a:spcAft>
            </a:pPr>
            <a:r>
              <a:rPr sz="700" b="0" i="0">
                <a:solidFill>
                  <a:srgbClr val="4D4D4D"/>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Guardrails</a:t>
            </a:r>
          </a:p>
          <a:p>
            <a:pPr>
              <a:spcAft>
                <a:spcPts val="200"/>
              </a:spcAft>
            </a:pPr>
            <a:r>
              <a:rPr sz="700" b="0" i="0">
                <a:solidFill>
                  <a:srgbClr val="4D4D4D"/>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36576"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8A6D00"/>
                </a:solidFill>
                <a:latin typeface="Trenda IG Text"/>
              </a:rPr>
              <a:t>People decide</a:t>
            </a:r>
          </a:p>
          <a:p>
            <a:pPr>
              <a:spcAft>
                <a:spcPts val="200"/>
              </a:spcAft>
            </a:pPr>
            <a:r>
              <a:rPr sz="700" b="0" i="0">
                <a:solidFill>
                  <a:srgbClr val="4D4D4D"/>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36576"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1A1A1A"/>
                </a:solidFill>
                <a:latin typeface="Trenda IG Text"/>
              </a:rPr>
              <a:t>Quotas + kill switch</a:t>
            </a:r>
          </a:p>
          <a:p>
            <a:pPr>
              <a:spcAft>
                <a:spcPts val="200"/>
              </a:spcAft>
            </a:pPr>
            <a:r>
              <a:rPr sz="700" b="0" i="0">
                <a:solidFill>
                  <a:srgbClr val="4D4D4D"/>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CORE BENEFITS</a:t>
            </a:r>
          </a:p>
          <a:p>
            <a:pPr>
              <a:spcAft>
                <a:spcPts val="100"/>
              </a:spcAft>
            </a:pPr>
            <a:r>
              <a:rPr sz="700" b="0" i="0">
                <a:solidFill>
                  <a:srgbClr val="6B6B6B"/>
                </a:solidFill>
                <a:latin typeface="Trenda IG Text"/>
              </a:rPr>
              <a:t>beyond cost</a:t>
            </a:r>
          </a:p>
        </p:txBody>
      </p:sp>
      <p:sp>
        <p:nvSpPr>
          <p:cNvPr id="91" name="Shape 88"/>
          <p:cNvSpPr/>
          <p:nvPr/>
        </p:nvSpPr>
        <p:spPr>
          <a:xfrm>
            <a:off x="164592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Consistency</a:t>
            </a:r>
          </a:p>
          <a:p>
            <a:pPr>
              <a:spcAft>
                <a:spcPts val="200"/>
              </a:spcAft>
            </a:pPr>
            <a:r>
              <a:rPr sz="700" b="0" i="0">
                <a:solidFill>
                  <a:srgbClr val="4D4D4D"/>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Reuse</a:t>
            </a:r>
          </a:p>
          <a:p>
            <a:pPr>
              <a:spcAft>
                <a:spcPts val="200"/>
              </a:spcAft>
            </a:pPr>
            <a:r>
              <a:rPr sz="700" b="0" i="0">
                <a:solidFill>
                  <a:srgbClr val="4D4D4D"/>
                </a:solidFill>
                <a:latin typeface="Trenda IG Text"/>
              </a:rPr>
              <a:t>Build once; a new pod adds skills, not agents.</a:t>
            </a:r>
          </a:p>
        </p:txBody>
      </p:sp>
      <p:sp>
        <p:nvSpPr>
          <p:cNvPr id="97" name="Shape 94"/>
          <p:cNvSpPr/>
          <p:nvPr/>
        </p:nvSpPr>
        <p:spPr>
          <a:xfrm>
            <a:off x="5053584"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Knowledge kept</a:t>
            </a:r>
          </a:p>
          <a:p>
            <a:pPr>
              <a:spcAft>
                <a:spcPts val="200"/>
              </a:spcAft>
            </a:pPr>
            <a:r>
              <a:rPr sz="700" b="0" i="0">
                <a:solidFill>
                  <a:srgbClr val="4D4D4D"/>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Quality</a:t>
            </a:r>
          </a:p>
          <a:p>
            <a:pPr>
              <a:spcAft>
                <a:spcPts val="200"/>
              </a:spcAft>
            </a:pPr>
            <a:r>
              <a:rPr sz="700" b="0" i="0">
                <a:solidFill>
                  <a:srgbClr val="4D4D4D"/>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Auditability</a:t>
            </a:r>
          </a:p>
          <a:p>
            <a:pPr>
              <a:spcAft>
                <a:spcPts val="200"/>
              </a:spcAft>
            </a:pPr>
            <a:r>
              <a:rPr sz="700" b="0" i="0">
                <a:solidFill>
                  <a:srgbClr val="4D4D4D"/>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1A1A1A"/>
                </a:solidFill>
                <a:latin typeface="Trenda IG Text"/>
              </a:rPr>
              <a:t>Safe by design</a:t>
            </a:r>
          </a:p>
          <a:p>
            <a:pPr>
              <a:spcAft>
                <a:spcPts val="200"/>
              </a:spcAft>
            </a:pPr>
            <a:r>
              <a:rPr sz="700" b="0" i="0">
                <a:solidFill>
                  <a:srgbClr val="4D4D4D"/>
                </a:solidFill>
                <a:latin typeface="Trenda IG Text"/>
              </a:rPr>
              <a:t>No production credentials, no raw PHI for agents.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89A0"/>
                </a:solidFill>
                <a:latin typeface="Trenda IG Text"/>
              </a:rPr>
              <a:t>ASCENSION AGENTIC HARNESS · LEAN TEAM AND COST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1A1A1A"/>
                </a:solidFill>
                <a:latin typeface="Trenda IG Text"/>
              </a:rPr>
              <a:t>Lean teams on one platform: $9M back every year on a $5.0M build</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4D4D4D"/>
                </a:solidFill>
                <a:latin typeface="Trenda IG Text"/>
              </a:rPr>
              <a:t>Every squad of 4-5 developers becomes 1 developer directing the harness agent, plus 1 QA. People review, approve and own every change.</a:t>
            </a:r>
          </a:p>
        </p:txBody>
      </p:sp>
      <p:sp>
        <p:nvSpPr>
          <p:cNvPr id="5" name="Shape 4"/>
          <p:cNvSpPr/>
          <p:nvPr/>
        </p:nvSpPr>
        <p:spPr>
          <a:xfrm>
            <a:off x="411480" y="1188720"/>
            <a:ext cx="3715512" cy="1965960"/>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88720"/>
            <a:ext cx="371551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88720"/>
            <a:ext cx="3496056" cy="256032"/>
          </a:xfrm>
          <a:prstGeom prst="rect">
            <a:avLst/>
          </a:prstGeom>
          <a:noFill/>
        </p:spPr>
        <p:txBody>
          <a:bodyPr wrap="square" lIns="0" rIns="0" tIns="0" bIns="0" anchor="ctr">
            <a:spAutoFit/>
          </a:bodyPr>
          <a:lstStyle/>
          <a:p>
            <a:r>
              <a:rPr sz="700" b="1" i="0" spc="120">
                <a:solidFill>
                  <a:srgbClr val="1A1A1A"/>
                </a:solidFill>
                <a:latin typeface="Trenda IG Text"/>
              </a:rPr>
              <a:t>THE SQUAD</a:t>
            </a:r>
            <a:r>
              <a:rPr sz="700" b="0" i="0">
                <a:solidFill>
                  <a:srgbClr val="4D4D4D"/>
                </a:solidFill>
                <a:latin typeface="Trenda IG Text"/>
              </a:rPr>
              <a:t>   same scope, two people</a:t>
            </a:r>
          </a:p>
        </p:txBody>
      </p:sp>
      <p:sp>
        <p:nvSpPr>
          <p:cNvPr id="8" name="Text 7"/>
          <p:cNvSpPr txBox="1"/>
          <p:nvPr/>
        </p:nvSpPr>
        <p:spPr>
          <a:xfrm>
            <a:off x="539496" y="1536192"/>
            <a:ext cx="1371600" cy="164592"/>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9" name="Shape 8"/>
          <p:cNvSpPr/>
          <p:nvPr/>
        </p:nvSpPr>
        <p:spPr>
          <a:xfrm>
            <a:off x="539496" y="1719072"/>
            <a:ext cx="648004" cy="274320"/>
          </a:xfrm>
          <a:prstGeom prst="roundRect">
            <a:avLst>
              <a:gd name="adj" fmla="val 2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39496" y="1719072"/>
            <a:ext cx="648004" cy="274320"/>
          </a:xfrm>
          <a:prstGeom prst="rect">
            <a:avLst/>
          </a:prstGeom>
          <a:noFill/>
        </p:spPr>
        <p:txBody>
          <a:bodyPr wrap="square" lIns="0" rIns="0" tIns="0" bIns="0" anchor="ctr">
            <a:spAutoFit/>
          </a:bodyPr>
          <a:lstStyle/>
          <a:p>
            <a:pPr algn="ctr"/>
            <a:r>
              <a:rPr sz="700" b="1" i="0">
                <a:solidFill>
                  <a:srgbClr val="4D4D4D"/>
                </a:solidFill>
                <a:latin typeface="Trenda IG Text"/>
              </a:rPr>
              <a:t>Dev</a:t>
            </a:r>
          </a:p>
        </p:txBody>
      </p:sp>
      <p:sp>
        <p:nvSpPr>
          <p:cNvPr id="11" name="Shape 10"/>
          <p:cNvSpPr/>
          <p:nvPr/>
        </p:nvSpPr>
        <p:spPr>
          <a:xfrm>
            <a:off x="1242364" y="1719072"/>
            <a:ext cx="648004" cy="274320"/>
          </a:xfrm>
          <a:prstGeom prst="roundRect">
            <a:avLst>
              <a:gd name="adj" fmla="val 2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242364" y="1719072"/>
            <a:ext cx="648004" cy="274320"/>
          </a:xfrm>
          <a:prstGeom prst="rect">
            <a:avLst/>
          </a:prstGeom>
          <a:noFill/>
        </p:spPr>
        <p:txBody>
          <a:bodyPr wrap="square" lIns="0" rIns="0" tIns="0" bIns="0" anchor="ctr">
            <a:spAutoFit/>
          </a:bodyPr>
          <a:lstStyle/>
          <a:p>
            <a:pPr algn="ctr"/>
            <a:r>
              <a:rPr sz="700" b="1" i="0">
                <a:solidFill>
                  <a:srgbClr val="4D4D4D"/>
                </a:solidFill>
                <a:latin typeface="Trenda IG Text"/>
              </a:rPr>
              <a:t>Dev</a:t>
            </a:r>
          </a:p>
        </p:txBody>
      </p:sp>
      <p:sp>
        <p:nvSpPr>
          <p:cNvPr id="13" name="Shape 12"/>
          <p:cNvSpPr/>
          <p:nvPr/>
        </p:nvSpPr>
        <p:spPr>
          <a:xfrm>
            <a:off x="1945233" y="1719072"/>
            <a:ext cx="648004" cy="274320"/>
          </a:xfrm>
          <a:prstGeom prst="roundRect">
            <a:avLst>
              <a:gd name="adj" fmla="val 2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1945233" y="1719072"/>
            <a:ext cx="648004" cy="274320"/>
          </a:xfrm>
          <a:prstGeom prst="rect">
            <a:avLst/>
          </a:prstGeom>
          <a:noFill/>
        </p:spPr>
        <p:txBody>
          <a:bodyPr wrap="square" lIns="0" rIns="0" tIns="0" bIns="0" anchor="ctr">
            <a:spAutoFit/>
          </a:bodyPr>
          <a:lstStyle/>
          <a:p>
            <a:pPr algn="ctr"/>
            <a:r>
              <a:rPr sz="700" b="1" i="0">
                <a:solidFill>
                  <a:srgbClr val="4D4D4D"/>
                </a:solidFill>
                <a:latin typeface="Trenda IG Text"/>
              </a:rPr>
              <a:t>Dev</a:t>
            </a:r>
          </a:p>
        </p:txBody>
      </p:sp>
      <p:sp>
        <p:nvSpPr>
          <p:cNvPr id="15" name="Shape 14"/>
          <p:cNvSpPr/>
          <p:nvPr/>
        </p:nvSpPr>
        <p:spPr>
          <a:xfrm>
            <a:off x="2648102" y="1719072"/>
            <a:ext cx="648004" cy="274320"/>
          </a:xfrm>
          <a:prstGeom prst="roundRect">
            <a:avLst>
              <a:gd name="adj" fmla="val 2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648102" y="1719072"/>
            <a:ext cx="648004" cy="274320"/>
          </a:xfrm>
          <a:prstGeom prst="rect">
            <a:avLst/>
          </a:prstGeom>
          <a:noFill/>
        </p:spPr>
        <p:txBody>
          <a:bodyPr wrap="square" lIns="0" rIns="0" tIns="0" bIns="0" anchor="ctr">
            <a:spAutoFit/>
          </a:bodyPr>
          <a:lstStyle/>
          <a:p>
            <a:pPr algn="ctr"/>
            <a:r>
              <a:rPr sz="700" b="1" i="0">
                <a:solidFill>
                  <a:srgbClr val="4D4D4D"/>
                </a:solidFill>
                <a:latin typeface="Trenda IG Text"/>
              </a:rPr>
              <a:t>Dev</a:t>
            </a:r>
          </a:p>
        </p:txBody>
      </p:sp>
      <p:sp>
        <p:nvSpPr>
          <p:cNvPr id="17" name="Shape 16"/>
          <p:cNvSpPr/>
          <p:nvPr/>
        </p:nvSpPr>
        <p:spPr>
          <a:xfrm>
            <a:off x="3350971" y="1719072"/>
            <a:ext cx="648004" cy="274320"/>
          </a:xfrm>
          <a:prstGeom prst="roundRect">
            <a:avLst>
              <a:gd name="adj" fmla="val 25000"/>
            </a:avLst>
          </a:prstGeom>
          <a:solidFill>
            <a:srgbClr val="F5F5F5"/>
          </a:solidFill>
          <a:ln w="9525">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3350971" y="1719072"/>
            <a:ext cx="648004" cy="274320"/>
          </a:xfrm>
          <a:prstGeom prst="rect">
            <a:avLst/>
          </a:prstGeom>
          <a:noFill/>
        </p:spPr>
        <p:txBody>
          <a:bodyPr wrap="square" lIns="0" rIns="0" tIns="0" bIns="0" anchor="ctr">
            <a:spAutoFit/>
          </a:bodyPr>
          <a:lstStyle/>
          <a:p>
            <a:pPr algn="ctr"/>
            <a:r>
              <a:rPr sz="700" b="1" i="0">
                <a:solidFill>
                  <a:srgbClr val="4D4D4D"/>
                </a:solidFill>
                <a:latin typeface="Trenda IG Text"/>
              </a:rPr>
              <a:t>QA</a:t>
            </a:r>
          </a:p>
        </p:txBody>
      </p:sp>
      <p:sp>
        <p:nvSpPr>
          <p:cNvPr id="19" name="Text 18"/>
          <p:cNvSpPr txBox="1"/>
          <p:nvPr/>
        </p:nvSpPr>
        <p:spPr>
          <a:xfrm>
            <a:off x="539496" y="2084832"/>
            <a:ext cx="1371600" cy="164592"/>
          </a:xfrm>
          <a:prstGeom prst="rect">
            <a:avLst/>
          </a:prstGeom>
          <a:noFill/>
        </p:spPr>
        <p:txBody>
          <a:bodyPr wrap="square" lIns="0" rIns="0" tIns="0" bIns="0" anchor="ctr">
            <a:spAutoFit/>
          </a:bodyPr>
          <a:lstStyle/>
          <a:p>
            <a:r>
              <a:rPr sz="700" b="1" i="0" spc="100">
                <a:solidFill>
                  <a:srgbClr val="0089A0"/>
                </a:solidFill>
                <a:latin typeface="Trenda IG Text"/>
              </a:rPr>
              <a:t>WITH THE HARNESS</a:t>
            </a:r>
          </a:p>
        </p:txBody>
      </p:sp>
      <p:sp>
        <p:nvSpPr>
          <p:cNvPr id="20" name="Shape 19"/>
          <p:cNvSpPr/>
          <p:nvPr/>
        </p:nvSpPr>
        <p:spPr>
          <a:xfrm>
            <a:off x="539496" y="2267712"/>
            <a:ext cx="1116584" cy="274320"/>
          </a:xfrm>
          <a:prstGeom prst="roundRect">
            <a:avLst>
              <a:gd name="adj" fmla="val 25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539496" y="2267712"/>
            <a:ext cx="1116584" cy="274320"/>
          </a:xfrm>
          <a:prstGeom prst="rect">
            <a:avLst/>
          </a:prstGeom>
          <a:noFill/>
        </p:spPr>
        <p:txBody>
          <a:bodyPr wrap="square" lIns="0" rIns="0" tIns="0" bIns="0" anchor="ctr">
            <a:spAutoFit/>
          </a:bodyPr>
          <a:lstStyle/>
          <a:p>
            <a:pPr algn="ctr"/>
            <a:r>
              <a:rPr sz="700" b="1" i="0">
                <a:solidFill>
                  <a:srgbClr val="1A1A1A"/>
                </a:solidFill>
                <a:latin typeface="Trenda IG Text"/>
              </a:rPr>
              <a:t>Developer</a:t>
            </a:r>
          </a:p>
        </p:txBody>
      </p:sp>
      <p:sp>
        <p:nvSpPr>
          <p:cNvPr id="22" name="Shape 21"/>
          <p:cNvSpPr/>
          <p:nvPr/>
        </p:nvSpPr>
        <p:spPr>
          <a:xfrm>
            <a:off x="1710944" y="2267712"/>
            <a:ext cx="1116584" cy="274320"/>
          </a:xfrm>
          <a:prstGeom prst="roundRect">
            <a:avLst>
              <a:gd name="adj" fmla="val 25000"/>
            </a:avLst>
          </a:prstGeom>
          <a:solidFill>
            <a:srgbClr val="E0FAFE"/>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1784096" y="2322576"/>
            <a:ext cx="164592" cy="164592"/>
          </a:xfrm>
          <a:prstGeom prst="rect">
            <a:avLst/>
          </a:prstGeom>
        </p:spPr>
      </p:pic>
      <p:sp>
        <p:nvSpPr>
          <p:cNvPr id="24" name="Text 22"/>
          <p:cNvSpPr txBox="1"/>
          <p:nvPr/>
        </p:nvSpPr>
        <p:spPr>
          <a:xfrm>
            <a:off x="1930400" y="2267712"/>
            <a:ext cx="860551" cy="274320"/>
          </a:xfrm>
          <a:prstGeom prst="rect">
            <a:avLst/>
          </a:prstGeom>
          <a:noFill/>
        </p:spPr>
        <p:txBody>
          <a:bodyPr wrap="square" lIns="0" rIns="0" tIns="0" bIns="0" anchor="ctr">
            <a:spAutoFit/>
          </a:bodyPr>
          <a:lstStyle/>
          <a:p>
            <a:pPr algn="ctr"/>
            <a:r>
              <a:rPr sz="700" b="1" i="0">
                <a:solidFill>
                  <a:srgbClr val="0089A0"/>
                </a:solidFill>
                <a:latin typeface="Trenda IG Text"/>
              </a:rPr>
              <a:t>Harness agent</a:t>
            </a:r>
          </a:p>
        </p:txBody>
      </p:sp>
      <p:sp>
        <p:nvSpPr>
          <p:cNvPr id="25" name="Shape 23"/>
          <p:cNvSpPr/>
          <p:nvPr/>
        </p:nvSpPr>
        <p:spPr>
          <a:xfrm>
            <a:off x="2882392" y="2267712"/>
            <a:ext cx="1116584" cy="274320"/>
          </a:xfrm>
          <a:prstGeom prst="roundRect">
            <a:avLst>
              <a:gd name="adj" fmla="val 25000"/>
            </a:avLst>
          </a:prstGeom>
          <a:solidFill>
            <a:srgbClr val="F5F5F5"/>
          </a:solidFill>
          <a:ln w="9525">
            <a:solidFill>
              <a:srgbClr val="00B8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2882392" y="2267712"/>
            <a:ext cx="1116584" cy="274320"/>
          </a:xfrm>
          <a:prstGeom prst="rect">
            <a:avLst/>
          </a:prstGeom>
          <a:noFill/>
        </p:spPr>
        <p:txBody>
          <a:bodyPr wrap="square" lIns="0" rIns="0" tIns="0" bIns="0" anchor="ctr">
            <a:spAutoFit/>
          </a:bodyPr>
          <a:lstStyle/>
          <a:p>
            <a:pPr algn="ctr"/>
            <a:r>
              <a:rPr sz="700" b="1" i="0">
                <a:solidFill>
                  <a:srgbClr val="1A1A1A"/>
                </a:solidFill>
                <a:latin typeface="Trenda IG Text"/>
              </a:rPr>
              <a:t>QA</a:t>
            </a:r>
          </a:p>
        </p:txBody>
      </p:sp>
      <p:sp>
        <p:nvSpPr>
          <p:cNvPr id="27" name="Text 25"/>
          <p:cNvSpPr txBox="1"/>
          <p:nvPr/>
        </p:nvSpPr>
        <p:spPr>
          <a:xfrm>
            <a:off x="539496" y="2615184"/>
            <a:ext cx="3459480" cy="384048"/>
          </a:xfrm>
          <a:prstGeom prst="rect">
            <a:avLst/>
          </a:prstGeom>
          <a:noFill/>
        </p:spPr>
        <p:txBody>
          <a:bodyPr wrap="square" lIns="0" rIns="0" tIns="0" bIns="0" anchor="t">
            <a:spAutoFit/>
          </a:bodyPr>
          <a:lstStyle/>
          <a:p>
            <a:r>
              <a:rPr sz="700" b="1" i="0">
                <a:solidFill>
                  <a:srgbClr val="0089A0"/>
                </a:solidFill>
                <a:latin typeface="Trenda IG Text"/>
              </a:rPr>
              <a:t>Agent </a:t>
            </a:r>
            <a:r>
              <a:rPr sz="700" b="0" i="0">
                <a:solidFill>
                  <a:srgbClr val="4D4D4D"/>
                </a:solidFill>
                <a:latin typeface="Trenda IG Text"/>
              </a:rPr>
              <a:t>drafts code, tests and the Copado package overnight. </a:t>
            </a:r>
            <a:r>
              <a:rPr sz="700" b="1" i="0">
                <a:solidFill>
                  <a:srgbClr val="1A1A1A"/>
                </a:solidFill>
                <a:latin typeface="Trenda IG Text"/>
              </a:rPr>
              <a:t>Developer </a:t>
            </a:r>
            <a:r>
              <a:rPr sz="700" b="0" i="0">
                <a:solidFill>
                  <a:srgbClr val="4D4D4D"/>
                </a:solidFill>
                <a:latin typeface="Trenda IG Text"/>
              </a:rPr>
              <a:t>directs and approves. </a:t>
            </a:r>
            <a:r>
              <a:rPr sz="700" b="1" i="0">
                <a:solidFill>
                  <a:srgbClr val="1A1A1A"/>
                </a:solidFill>
                <a:latin typeface="Trenda IG Text"/>
              </a:rPr>
              <a:t>QA </a:t>
            </a:r>
            <a:r>
              <a:rPr sz="700" b="0" i="0">
                <a:solidFill>
                  <a:srgbClr val="4D4D4D"/>
                </a:solidFill>
                <a:latin typeface="Trenda IG Text"/>
              </a:rPr>
              <a:t>signs off.</a:t>
            </a:r>
          </a:p>
        </p:txBody>
      </p:sp>
      <p:sp>
        <p:nvSpPr>
          <p:cNvPr id="28" name="Shape 26"/>
          <p:cNvSpPr/>
          <p:nvPr/>
        </p:nvSpPr>
        <p:spPr>
          <a:xfrm>
            <a:off x="4236720" y="1188720"/>
            <a:ext cx="3715512" cy="1965960"/>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236720" y="1188720"/>
            <a:ext cx="371551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346448" y="1188720"/>
            <a:ext cx="3496056" cy="256032"/>
          </a:xfrm>
          <a:prstGeom prst="rect">
            <a:avLst/>
          </a:prstGeom>
          <a:noFill/>
        </p:spPr>
        <p:txBody>
          <a:bodyPr wrap="square" lIns="0" rIns="0" tIns="0" bIns="0" anchor="ctr">
            <a:spAutoFit/>
          </a:bodyPr>
          <a:lstStyle/>
          <a:p>
            <a:r>
              <a:rPr sz="700" b="1" i="0" spc="120">
                <a:solidFill>
                  <a:srgbClr val="1A1A1A"/>
                </a:solidFill>
                <a:latin typeface="Trenda IG Text"/>
              </a:rPr>
              <a:t>THE POD</a:t>
            </a:r>
            <a:r>
              <a:rPr sz="700" b="0" i="0">
                <a:solidFill>
                  <a:srgbClr val="4D4D4D"/>
                </a:solidFill>
                <a:latin typeface="Trenda IG Text"/>
              </a:rPr>
              <a:t>   what changes for every pod</a:t>
            </a:r>
          </a:p>
        </p:txBody>
      </p:sp>
      <p:sp>
        <p:nvSpPr>
          <p:cNvPr id="31" name="Text 29"/>
          <p:cNvSpPr txBox="1"/>
          <p:nvPr/>
        </p:nvSpPr>
        <p:spPr>
          <a:xfrm>
            <a:off x="5608320" y="1517904"/>
            <a:ext cx="914400" cy="164592"/>
          </a:xfrm>
          <a:prstGeom prst="rect">
            <a:avLst/>
          </a:prstGeom>
          <a:noFill/>
        </p:spPr>
        <p:txBody>
          <a:bodyPr wrap="square" lIns="0" rIns="0" tIns="0" bIns="0" anchor="ctr">
            <a:spAutoFit/>
          </a:bodyPr>
          <a:lstStyle/>
          <a:p>
            <a:r>
              <a:rPr sz="700" b="1" i="0" spc="100">
                <a:solidFill>
                  <a:srgbClr val="6B6B6B"/>
                </a:solidFill>
                <a:latin typeface="Trenda IG Text"/>
              </a:rPr>
              <a:t>TODAY</a:t>
            </a:r>
          </a:p>
        </p:txBody>
      </p:sp>
      <p:sp>
        <p:nvSpPr>
          <p:cNvPr id="32" name="Text 30"/>
          <p:cNvSpPr txBox="1"/>
          <p:nvPr/>
        </p:nvSpPr>
        <p:spPr>
          <a:xfrm>
            <a:off x="6614160" y="1517904"/>
            <a:ext cx="1280160" cy="164592"/>
          </a:xfrm>
          <a:prstGeom prst="rect">
            <a:avLst/>
          </a:prstGeom>
          <a:noFill/>
        </p:spPr>
        <p:txBody>
          <a:bodyPr wrap="square" lIns="0" rIns="0" tIns="0" bIns="0" anchor="ctr">
            <a:spAutoFit/>
          </a:bodyPr>
          <a:lstStyle/>
          <a:p>
            <a:r>
              <a:rPr sz="700" b="1" i="0" spc="100">
                <a:solidFill>
                  <a:srgbClr val="0089A0"/>
                </a:solidFill>
                <a:latin typeface="Trenda IG Text"/>
              </a:rPr>
              <a:t>WITH THE HARNESS</a:t>
            </a:r>
          </a:p>
        </p:txBody>
      </p:sp>
      <p:sp>
        <p:nvSpPr>
          <p:cNvPr id="33" name="Shape 31"/>
          <p:cNvSpPr/>
          <p:nvPr/>
        </p:nvSpPr>
        <p:spPr>
          <a:xfrm>
            <a:off x="4364736" y="1700784"/>
            <a:ext cx="3459480" cy="2286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2"/>
          <p:cNvSpPr txBox="1"/>
          <p:nvPr/>
        </p:nvSpPr>
        <p:spPr>
          <a:xfrm>
            <a:off x="4437888" y="1700784"/>
            <a:ext cx="1188720" cy="228600"/>
          </a:xfrm>
          <a:prstGeom prst="rect">
            <a:avLst/>
          </a:prstGeom>
          <a:noFill/>
        </p:spPr>
        <p:txBody>
          <a:bodyPr wrap="square" lIns="0" rIns="0" tIns="0" bIns="0" anchor="ctr">
            <a:spAutoFit/>
          </a:bodyPr>
          <a:lstStyle/>
          <a:p>
            <a:r>
              <a:rPr sz="700" b="1" i="0">
                <a:solidFill>
                  <a:srgbClr val="1A1A1A"/>
                </a:solidFill>
                <a:latin typeface="Trenda IG Text"/>
              </a:rPr>
              <a:t>New engineer productive</a:t>
            </a:r>
          </a:p>
        </p:txBody>
      </p:sp>
      <p:sp>
        <p:nvSpPr>
          <p:cNvPr id="35" name="Text 33"/>
          <p:cNvSpPr txBox="1"/>
          <p:nvPr/>
        </p:nvSpPr>
        <p:spPr>
          <a:xfrm>
            <a:off x="5608320" y="1700784"/>
            <a:ext cx="987552" cy="228600"/>
          </a:xfrm>
          <a:prstGeom prst="rect">
            <a:avLst/>
          </a:prstGeom>
          <a:noFill/>
        </p:spPr>
        <p:txBody>
          <a:bodyPr wrap="square" lIns="0" rIns="0" tIns="0" bIns="0" anchor="ctr">
            <a:spAutoFit/>
          </a:bodyPr>
          <a:lstStyle/>
          <a:p>
            <a:r>
              <a:rPr sz="700" b="0" i="0">
                <a:solidFill>
                  <a:srgbClr val="4D4D4D"/>
                </a:solidFill>
                <a:latin typeface="Trenda IG Text"/>
              </a:rPr>
              <a:t>4-6 weeks</a:t>
            </a:r>
          </a:p>
        </p:txBody>
      </p:sp>
      <p:sp>
        <p:nvSpPr>
          <p:cNvPr id="36" name="Text 34"/>
          <p:cNvSpPr txBox="1"/>
          <p:nvPr/>
        </p:nvSpPr>
        <p:spPr>
          <a:xfrm>
            <a:off x="6614160" y="1700784"/>
            <a:ext cx="1429512" cy="228600"/>
          </a:xfrm>
          <a:prstGeom prst="rect">
            <a:avLst/>
          </a:prstGeom>
          <a:noFill/>
        </p:spPr>
        <p:txBody>
          <a:bodyPr wrap="square" lIns="0" rIns="0" tIns="0" bIns="0" anchor="ctr">
            <a:spAutoFit/>
          </a:bodyPr>
          <a:lstStyle/>
          <a:p>
            <a:r>
              <a:rPr sz="700" b="1" i="0">
                <a:solidFill>
                  <a:srgbClr val="0089A0"/>
                </a:solidFill>
                <a:latin typeface="Trenda IG Text"/>
              </a:rPr>
              <a:t>about 1 week</a:t>
            </a:r>
          </a:p>
        </p:txBody>
      </p:sp>
      <p:sp>
        <p:nvSpPr>
          <p:cNvPr id="37" name="Shape 35"/>
          <p:cNvSpPr/>
          <p:nvPr/>
        </p:nvSpPr>
        <p:spPr>
          <a:xfrm>
            <a:off x="4364736" y="1965960"/>
            <a:ext cx="3459480" cy="2286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6"/>
          <p:cNvSpPr txBox="1"/>
          <p:nvPr/>
        </p:nvSpPr>
        <p:spPr>
          <a:xfrm>
            <a:off x="4437888" y="1965960"/>
            <a:ext cx="1188720" cy="228600"/>
          </a:xfrm>
          <a:prstGeom prst="rect">
            <a:avLst/>
          </a:prstGeom>
          <a:noFill/>
        </p:spPr>
        <p:txBody>
          <a:bodyPr wrap="square" lIns="0" rIns="0" tIns="0" bIns="0" anchor="ctr">
            <a:spAutoFit/>
          </a:bodyPr>
          <a:lstStyle/>
          <a:p>
            <a:r>
              <a:rPr sz="700" b="1" i="0">
                <a:solidFill>
                  <a:srgbClr val="1A1A1A"/>
                </a:solidFill>
                <a:latin typeface="Trenda IG Text"/>
              </a:rPr>
              <a:t>Delivery each day</a:t>
            </a:r>
          </a:p>
        </p:txBody>
      </p:sp>
      <p:sp>
        <p:nvSpPr>
          <p:cNvPr id="39" name="Text 37"/>
          <p:cNvSpPr txBox="1"/>
          <p:nvPr/>
        </p:nvSpPr>
        <p:spPr>
          <a:xfrm>
            <a:off x="5608320" y="1965960"/>
            <a:ext cx="987552" cy="228600"/>
          </a:xfrm>
          <a:prstGeom prst="rect">
            <a:avLst/>
          </a:prstGeom>
          <a:noFill/>
        </p:spPr>
        <p:txBody>
          <a:bodyPr wrap="square" lIns="0" rIns="0" tIns="0" bIns="0" anchor="ctr">
            <a:spAutoFit/>
          </a:bodyPr>
          <a:lstStyle/>
          <a:p>
            <a:r>
              <a:rPr sz="700" b="0" i="0">
                <a:solidFill>
                  <a:srgbClr val="4D4D4D"/>
                </a:solidFill>
                <a:latin typeface="Trenda IG Text"/>
              </a:rPr>
              <a:t>office hours</a:t>
            </a:r>
          </a:p>
        </p:txBody>
      </p:sp>
      <p:sp>
        <p:nvSpPr>
          <p:cNvPr id="40" name="Text 38"/>
          <p:cNvSpPr txBox="1"/>
          <p:nvPr/>
        </p:nvSpPr>
        <p:spPr>
          <a:xfrm>
            <a:off x="6614160" y="1965960"/>
            <a:ext cx="1429512" cy="228600"/>
          </a:xfrm>
          <a:prstGeom prst="rect">
            <a:avLst/>
          </a:prstGeom>
          <a:noFill/>
        </p:spPr>
        <p:txBody>
          <a:bodyPr wrap="square" lIns="0" rIns="0" tIns="0" bIns="0" anchor="ctr">
            <a:spAutoFit/>
          </a:bodyPr>
          <a:lstStyle/>
          <a:p>
            <a:r>
              <a:rPr sz="700" b="1" i="0">
                <a:solidFill>
                  <a:srgbClr val="0089A0"/>
                </a:solidFill>
                <a:latin typeface="Trenda IG Text"/>
              </a:rPr>
              <a:t>about 20 hours</a:t>
            </a:r>
          </a:p>
        </p:txBody>
      </p:sp>
      <p:sp>
        <p:nvSpPr>
          <p:cNvPr id="41" name="Shape 39"/>
          <p:cNvSpPr/>
          <p:nvPr/>
        </p:nvSpPr>
        <p:spPr>
          <a:xfrm>
            <a:off x="4364736" y="2231136"/>
            <a:ext cx="3459480" cy="2286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0"/>
          <p:cNvSpPr txBox="1"/>
          <p:nvPr/>
        </p:nvSpPr>
        <p:spPr>
          <a:xfrm>
            <a:off x="4437888" y="2231136"/>
            <a:ext cx="1188720" cy="228600"/>
          </a:xfrm>
          <a:prstGeom prst="rect">
            <a:avLst/>
          </a:prstGeom>
          <a:noFill/>
        </p:spPr>
        <p:txBody>
          <a:bodyPr wrap="square" lIns="0" rIns="0" tIns="0" bIns="0" anchor="ctr">
            <a:spAutoFit/>
          </a:bodyPr>
          <a:lstStyle/>
          <a:p>
            <a:r>
              <a:rPr sz="700" b="1" i="0">
                <a:solidFill>
                  <a:srgbClr val="1A1A1A"/>
                </a:solidFill>
                <a:latin typeface="Trenda IG Text"/>
              </a:rPr>
              <a:t>Changes checked</a:t>
            </a:r>
          </a:p>
        </p:txBody>
      </p:sp>
      <p:sp>
        <p:nvSpPr>
          <p:cNvPr id="43" name="Text 41"/>
          <p:cNvSpPr txBox="1"/>
          <p:nvPr/>
        </p:nvSpPr>
        <p:spPr>
          <a:xfrm>
            <a:off x="5608320" y="2231136"/>
            <a:ext cx="987552" cy="228600"/>
          </a:xfrm>
          <a:prstGeom prst="rect">
            <a:avLst/>
          </a:prstGeom>
          <a:noFill/>
        </p:spPr>
        <p:txBody>
          <a:bodyPr wrap="square" lIns="0" rIns="0" tIns="0" bIns="0" anchor="ctr">
            <a:spAutoFit/>
          </a:bodyPr>
          <a:lstStyle/>
          <a:p>
            <a:r>
              <a:rPr sz="700" b="0" i="0">
                <a:solidFill>
                  <a:srgbClr val="4D4D4D"/>
                </a:solidFill>
                <a:latin typeface="Trenda IG Text"/>
              </a:rPr>
              <a:t>depends on reviewer</a:t>
            </a:r>
          </a:p>
        </p:txBody>
      </p:sp>
      <p:sp>
        <p:nvSpPr>
          <p:cNvPr id="44" name="Text 42"/>
          <p:cNvSpPr txBox="1"/>
          <p:nvPr/>
        </p:nvSpPr>
        <p:spPr>
          <a:xfrm>
            <a:off x="6614160" y="2231136"/>
            <a:ext cx="1429512" cy="228600"/>
          </a:xfrm>
          <a:prstGeom prst="rect">
            <a:avLst/>
          </a:prstGeom>
          <a:noFill/>
        </p:spPr>
        <p:txBody>
          <a:bodyPr wrap="square" lIns="0" rIns="0" tIns="0" bIns="0" anchor="ctr">
            <a:spAutoFit/>
          </a:bodyPr>
          <a:lstStyle/>
          <a:p>
            <a:r>
              <a:rPr sz="700" b="1" i="0">
                <a:solidFill>
                  <a:srgbClr val="0089A0"/>
                </a:solidFill>
                <a:latin typeface="Trenda IG Text"/>
              </a:rPr>
              <a:t>100%, same standards</a:t>
            </a:r>
          </a:p>
        </p:txBody>
      </p:sp>
      <p:sp>
        <p:nvSpPr>
          <p:cNvPr id="45" name="Shape 43"/>
          <p:cNvSpPr/>
          <p:nvPr/>
        </p:nvSpPr>
        <p:spPr>
          <a:xfrm>
            <a:off x="4364736" y="2496312"/>
            <a:ext cx="3459480" cy="22860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4"/>
          <p:cNvSpPr txBox="1"/>
          <p:nvPr/>
        </p:nvSpPr>
        <p:spPr>
          <a:xfrm>
            <a:off x="4437888" y="2496312"/>
            <a:ext cx="1188720" cy="228600"/>
          </a:xfrm>
          <a:prstGeom prst="rect">
            <a:avLst/>
          </a:prstGeom>
          <a:noFill/>
        </p:spPr>
        <p:txBody>
          <a:bodyPr wrap="square" lIns="0" rIns="0" tIns="0" bIns="0" anchor="ctr">
            <a:spAutoFit/>
          </a:bodyPr>
          <a:lstStyle/>
          <a:p>
            <a:r>
              <a:rPr sz="700" b="1" i="0">
                <a:solidFill>
                  <a:srgbClr val="1A1A1A"/>
                </a:solidFill>
                <a:latin typeface="Trenda IG Text"/>
              </a:rPr>
              <a:t>New pod live</a:t>
            </a:r>
          </a:p>
        </p:txBody>
      </p:sp>
      <p:sp>
        <p:nvSpPr>
          <p:cNvPr id="47" name="Text 45"/>
          <p:cNvSpPr txBox="1"/>
          <p:nvPr/>
        </p:nvSpPr>
        <p:spPr>
          <a:xfrm>
            <a:off x="5608320" y="2496312"/>
            <a:ext cx="987552" cy="228600"/>
          </a:xfrm>
          <a:prstGeom prst="rect">
            <a:avLst/>
          </a:prstGeom>
          <a:noFill/>
        </p:spPr>
        <p:txBody>
          <a:bodyPr wrap="square" lIns="0" rIns="0" tIns="0" bIns="0" anchor="ctr">
            <a:spAutoFit/>
          </a:bodyPr>
          <a:lstStyle/>
          <a:p>
            <a:r>
              <a:rPr sz="700" b="0" i="0">
                <a:solidFill>
                  <a:srgbClr val="4D4D4D"/>
                </a:solidFill>
                <a:latin typeface="Trenda IG Text"/>
              </a:rPr>
              <a:t>about 2 months</a:t>
            </a:r>
          </a:p>
        </p:txBody>
      </p:sp>
      <p:sp>
        <p:nvSpPr>
          <p:cNvPr id="48" name="Text 46"/>
          <p:cNvSpPr txBox="1"/>
          <p:nvPr/>
        </p:nvSpPr>
        <p:spPr>
          <a:xfrm>
            <a:off x="6614160" y="2496312"/>
            <a:ext cx="1429512" cy="228600"/>
          </a:xfrm>
          <a:prstGeom prst="rect">
            <a:avLst/>
          </a:prstGeom>
          <a:noFill/>
        </p:spPr>
        <p:txBody>
          <a:bodyPr wrap="square" lIns="0" rIns="0" tIns="0" bIns="0" anchor="ctr">
            <a:spAutoFit/>
          </a:bodyPr>
          <a:lstStyle/>
          <a:p>
            <a:r>
              <a:rPr sz="700" b="1" i="0">
                <a:solidFill>
                  <a:srgbClr val="0089A0"/>
                </a:solidFill>
                <a:latin typeface="Trenda IG Text"/>
              </a:rPr>
              <a:t>2 weeks</a:t>
            </a:r>
          </a:p>
        </p:txBody>
      </p:sp>
      <p:sp>
        <p:nvSpPr>
          <p:cNvPr id="49" name="Text 47"/>
          <p:cNvSpPr txBox="1"/>
          <p:nvPr/>
        </p:nvSpPr>
        <p:spPr>
          <a:xfrm>
            <a:off x="4364736" y="2779776"/>
            <a:ext cx="3459480" cy="329184"/>
          </a:xfrm>
          <a:prstGeom prst="rect">
            <a:avLst/>
          </a:prstGeom>
          <a:noFill/>
        </p:spPr>
        <p:txBody>
          <a:bodyPr wrap="square" lIns="0" rIns="0" tIns="0" bIns="0" anchor="ctr">
            <a:spAutoFit/>
          </a:bodyPr>
          <a:lstStyle/>
          <a:p>
            <a:r>
              <a:rPr sz="700" b="0" i="0">
                <a:solidFill>
                  <a:srgbClr val="6B6B6B"/>
                </a:solidFill>
                <a:latin typeface="Trenda IG Text"/>
              </a:rPr>
              <a:t>Pilot targets, baselined per pod.</a:t>
            </a:r>
          </a:p>
        </p:txBody>
      </p:sp>
      <p:sp>
        <p:nvSpPr>
          <p:cNvPr id="50" name="Shape 48"/>
          <p:cNvSpPr/>
          <p:nvPr/>
        </p:nvSpPr>
        <p:spPr>
          <a:xfrm>
            <a:off x="8061960" y="1188720"/>
            <a:ext cx="3715512" cy="1965960"/>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9"/>
          <p:cNvSpPr/>
          <p:nvPr/>
        </p:nvSpPr>
        <p:spPr>
          <a:xfrm>
            <a:off x="8061960" y="1188720"/>
            <a:ext cx="371551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0"/>
          <p:cNvSpPr txBox="1"/>
          <p:nvPr/>
        </p:nvSpPr>
        <p:spPr>
          <a:xfrm>
            <a:off x="8171687" y="1188720"/>
            <a:ext cx="3496056" cy="256032"/>
          </a:xfrm>
          <a:prstGeom prst="rect">
            <a:avLst/>
          </a:prstGeom>
          <a:noFill/>
        </p:spPr>
        <p:txBody>
          <a:bodyPr wrap="square" lIns="0" rIns="0" tIns="0" bIns="0" anchor="ctr">
            <a:spAutoFit/>
          </a:bodyPr>
          <a:lstStyle/>
          <a:p>
            <a:r>
              <a:rPr sz="700" b="1" i="0" spc="120">
                <a:solidFill>
                  <a:srgbClr val="1A1A1A"/>
                </a:solidFill>
                <a:latin typeface="Trenda IG Text"/>
              </a:rPr>
              <a:t>THE BUILD AND RUN</a:t>
            </a:r>
            <a:r>
              <a:rPr sz="700" b="0" i="0">
                <a:solidFill>
                  <a:srgbClr val="4D4D4D"/>
                </a:solidFill>
                <a:latin typeface="Trenda IG Text"/>
              </a:rPr>
              <a:t>   fixed fee, paid by gate</a:t>
            </a:r>
          </a:p>
        </p:txBody>
      </p:sp>
      <p:sp>
        <p:nvSpPr>
          <p:cNvPr id="53" name="Shape 51"/>
          <p:cNvSpPr/>
          <p:nvPr/>
        </p:nvSpPr>
        <p:spPr>
          <a:xfrm>
            <a:off x="8189976" y="1554480"/>
            <a:ext cx="1104391" cy="89611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2"/>
          <p:cNvSpPr txBox="1"/>
          <p:nvPr/>
        </p:nvSpPr>
        <p:spPr>
          <a:xfrm>
            <a:off x="8281416" y="1591056"/>
            <a:ext cx="976376" cy="402336"/>
          </a:xfrm>
          <a:prstGeom prst="rect">
            <a:avLst/>
          </a:prstGeom>
          <a:noFill/>
        </p:spPr>
        <p:txBody>
          <a:bodyPr wrap="square" lIns="0" rIns="0" tIns="0" bIns="0" anchor="ctr">
            <a:spAutoFit/>
          </a:bodyPr>
          <a:lstStyle/>
          <a:p>
            <a:r>
              <a:rPr sz="1600" b="0" i="0">
                <a:solidFill>
                  <a:srgbClr val="1A1A1A"/>
                </a:solidFill>
                <a:latin typeface="Trenda IG Text"/>
              </a:rPr>
              <a:t>17</a:t>
            </a:r>
          </a:p>
        </p:txBody>
      </p:sp>
      <p:sp>
        <p:nvSpPr>
          <p:cNvPr id="55" name="Text 53"/>
          <p:cNvSpPr txBox="1"/>
          <p:nvPr/>
        </p:nvSpPr>
        <p:spPr>
          <a:xfrm>
            <a:off x="8281416" y="1993392"/>
            <a:ext cx="976376" cy="420624"/>
          </a:xfrm>
          <a:prstGeom prst="rect">
            <a:avLst/>
          </a:prstGeom>
          <a:noFill/>
        </p:spPr>
        <p:txBody>
          <a:bodyPr wrap="square" lIns="0" rIns="0" tIns="0" bIns="0" anchor="t">
            <a:spAutoFit/>
          </a:bodyPr>
          <a:lstStyle/>
          <a:p>
            <a:r>
              <a:rPr sz="700" b="0" i="0">
                <a:solidFill>
                  <a:srgbClr val="4D4D4D"/>
                </a:solidFill>
                <a:latin typeface="Trenda IG Text"/>
              </a:rPr>
              <a:t>people at peak, 10 roles</a:t>
            </a:r>
          </a:p>
        </p:txBody>
      </p:sp>
      <p:sp>
        <p:nvSpPr>
          <p:cNvPr id="56" name="Shape 54"/>
          <p:cNvSpPr/>
          <p:nvPr/>
        </p:nvSpPr>
        <p:spPr>
          <a:xfrm>
            <a:off x="9367520" y="1554480"/>
            <a:ext cx="1104391" cy="89611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5"/>
          <p:cNvSpPr txBox="1"/>
          <p:nvPr/>
        </p:nvSpPr>
        <p:spPr>
          <a:xfrm>
            <a:off x="9458960" y="1591056"/>
            <a:ext cx="976376" cy="402336"/>
          </a:xfrm>
          <a:prstGeom prst="rect">
            <a:avLst/>
          </a:prstGeom>
          <a:noFill/>
        </p:spPr>
        <p:txBody>
          <a:bodyPr wrap="square" lIns="0" rIns="0" tIns="0" bIns="0" anchor="ctr">
            <a:spAutoFit/>
          </a:bodyPr>
          <a:lstStyle/>
          <a:p>
            <a:r>
              <a:rPr sz="1600" b="0" i="0">
                <a:solidFill>
                  <a:srgbClr val="1A1A1A"/>
                </a:solidFill>
                <a:latin typeface="Trenda IG Text"/>
              </a:rPr>
              <a:t>18</a:t>
            </a:r>
          </a:p>
        </p:txBody>
      </p:sp>
      <p:sp>
        <p:nvSpPr>
          <p:cNvPr id="58" name="Text 56"/>
          <p:cNvSpPr txBox="1"/>
          <p:nvPr/>
        </p:nvSpPr>
        <p:spPr>
          <a:xfrm>
            <a:off x="9458960" y="1993392"/>
            <a:ext cx="976376" cy="420624"/>
          </a:xfrm>
          <a:prstGeom prst="rect">
            <a:avLst/>
          </a:prstGeom>
          <a:noFill/>
        </p:spPr>
        <p:txBody>
          <a:bodyPr wrap="square" lIns="0" rIns="0" tIns="0" bIns="0" anchor="t">
            <a:spAutoFit/>
          </a:bodyPr>
          <a:lstStyle/>
          <a:p>
            <a:r>
              <a:rPr sz="700" b="0" i="0">
                <a:solidFill>
                  <a:srgbClr val="4D4D4D"/>
                </a:solidFill>
                <a:latin typeface="Trenda IG Text"/>
              </a:rPr>
              <a:t>months, seven phases</a:t>
            </a:r>
          </a:p>
        </p:txBody>
      </p:sp>
      <p:sp>
        <p:nvSpPr>
          <p:cNvPr id="59" name="Shape 57"/>
          <p:cNvSpPr/>
          <p:nvPr/>
        </p:nvSpPr>
        <p:spPr>
          <a:xfrm>
            <a:off x="10545064" y="1554480"/>
            <a:ext cx="1104391" cy="89611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8"/>
          <p:cNvSpPr txBox="1"/>
          <p:nvPr/>
        </p:nvSpPr>
        <p:spPr>
          <a:xfrm>
            <a:off x="10636504" y="1591056"/>
            <a:ext cx="976376" cy="402336"/>
          </a:xfrm>
          <a:prstGeom prst="rect">
            <a:avLst/>
          </a:prstGeom>
          <a:noFill/>
        </p:spPr>
        <p:txBody>
          <a:bodyPr wrap="square" lIns="0" rIns="0" tIns="0" bIns="0" anchor="ctr">
            <a:spAutoFit/>
          </a:bodyPr>
          <a:lstStyle/>
          <a:p>
            <a:r>
              <a:rPr sz="1600" b="0" i="0">
                <a:solidFill>
                  <a:srgbClr val="1A1A1A"/>
                </a:solidFill>
                <a:latin typeface="Trenda IG Text"/>
              </a:rPr>
              <a:t>$4.79M</a:t>
            </a:r>
          </a:p>
        </p:txBody>
      </p:sp>
      <p:sp>
        <p:nvSpPr>
          <p:cNvPr id="61" name="Text 59"/>
          <p:cNvSpPr txBox="1"/>
          <p:nvPr/>
        </p:nvSpPr>
        <p:spPr>
          <a:xfrm>
            <a:off x="10636504" y="1993392"/>
            <a:ext cx="976376" cy="420624"/>
          </a:xfrm>
          <a:prstGeom prst="rect">
            <a:avLst/>
          </a:prstGeom>
          <a:noFill/>
        </p:spPr>
        <p:txBody>
          <a:bodyPr wrap="square" lIns="0" rIns="0" tIns="0" bIns="0" anchor="t">
            <a:spAutoFit/>
          </a:bodyPr>
          <a:lstStyle/>
          <a:p>
            <a:r>
              <a:rPr sz="700" b="0" i="0">
                <a:solidFill>
                  <a:srgbClr val="4D4D4D"/>
                </a:solidFill>
                <a:latin typeface="Trenda IG Text"/>
              </a:rPr>
              <a:t>fixed fee, paid as each gate is signed</a:t>
            </a:r>
          </a:p>
        </p:txBody>
      </p:sp>
      <p:sp>
        <p:nvSpPr>
          <p:cNvPr id="62" name="Text 60"/>
          <p:cNvSpPr txBox="1"/>
          <p:nvPr/>
        </p:nvSpPr>
        <p:spPr>
          <a:xfrm>
            <a:off x="8189976" y="2542032"/>
            <a:ext cx="3459480" cy="457200"/>
          </a:xfrm>
          <a:prstGeom prst="rect">
            <a:avLst/>
          </a:prstGeom>
          <a:noFill/>
        </p:spPr>
        <p:txBody>
          <a:bodyPr wrap="square" lIns="0" rIns="0" tIns="0" bIns="0" anchor="t">
            <a:spAutoFit/>
          </a:bodyPr>
          <a:lstStyle/>
          <a:p>
            <a:r>
              <a:rPr sz="700" b="1" i="0">
                <a:solidFill>
                  <a:srgbClr val="1A1A1A"/>
                </a:solidFill>
                <a:latin typeface="Trenda IG Text"/>
              </a:rPr>
              <a:t>From month 19 </a:t>
            </a:r>
            <a:r>
              <a:rPr sz="700" b="0" i="0">
                <a:solidFill>
                  <a:srgbClr val="4D4D4D"/>
                </a:solidFill>
                <a:latin typeface="Trenda IG Text"/>
              </a:rPr>
              <a:t>a run team of 4 keeps the graph, agents and evals current: about $1.24M a year with platform usage.</a:t>
            </a:r>
          </a:p>
        </p:txBody>
      </p:sp>
      <p:sp>
        <p:nvSpPr>
          <p:cNvPr id="63" name="Shape 61"/>
          <p:cNvSpPr/>
          <p:nvPr/>
        </p:nvSpPr>
        <p:spPr>
          <a:xfrm>
            <a:off x="411480" y="3291840"/>
            <a:ext cx="11365992" cy="1965960"/>
          </a:xfrm>
          <a:prstGeom prst="roundRect">
            <a:avLst>
              <a:gd name="adj" fmla="val 2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2"/>
          <p:cNvSpPr/>
          <p:nvPr/>
        </p:nvSpPr>
        <p:spPr>
          <a:xfrm>
            <a:off x="411480" y="3291840"/>
            <a:ext cx="11365992" cy="256032"/>
          </a:xfrm>
          <a:prstGeom prst="rect">
            <a:avLst/>
          </a:prstGeom>
          <a:solidFill>
            <a:srgbClr val="E6E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3"/>
          <p:cNvSpPr txBox="1"/>
          <p:nvPr/>
        </p:nvSpPr>
        <p:spPr>
          <a:xfrm>
            <a:off x="521208" y="3291840"/>
            <a:ext cx="11146536" cy="256032"/>
          </a:xfrm>
          <a:prstGeom prst="rect">
            <a:avLst/>
          </a:prstGeom>
          <a:noFill/>
        </p:spPr>
        <p:txBody>
          <a:bodyPr wrap="square" lIns="0" rIns="0" tIns="0" bIns="0" anchor="ctr">
            <a:spAutoFit/>
          </a:bodyPr>
          <a:lstStyle/>
          <a:p>
            <a:r>
              <a:rPr sz="700" b="1" i="0" spc="120">
                <a:solidFill>
                  <a:srgbClr val="1A1A1A"/>
                </a:solidFill>
                <a:latin typeface="Trenda IG Text"/>
              </a:rPr>
              <a:t>THE RETURN</a:t>
            </a:r>
            <a:r>
              <a:rPr sz="700" b="0" i="0">
                <a:solidFill>
                  <a:srgbClr val="4D4D4D"/>
                </a:solidFill>
                <a:latin typeface="Trenda IG Text"/>
              </a:rPr>
              <a:t>   target · first full year after go-live</a:t>
            </a:r>
          </a:p>
        </p:txBody>
      </p:sp>
      <p:sp>
        <p:nvSpPr>
          <p:cNvPr id="66" name="Shape 64"/>
          <p:cNvSpPr/>
          <p:nvPr/>
        </p:nvSpPr>
        <p:spPr>
          <a:xfrm>
            <a:off x="539496" y="3639312"/>
            <a:ext cx="1796796" cy="149047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5"/>
          <p:cNvSpPr txBox="1"/>
          <p:nvPr/>
        </p:nvSpPr>
        <p:spPr>
          <a:xfrm>
            <a:off x="667512" y="3977639"/>
            <a:ext cx="1577340" cy="457200"/>
          </a:xfrm>
          <a:prstGeom prst="rect">
            <a:avLst/>
          </a:prstGeom>
          <a:noFill/>
        </p:spPr>
        <p:txBody>
          <a:bodyPr wrap="square" lIns="0" rIns="0" tIns="0" bIns="0" anchor="ctr">
            <a:spAutoFit/>
          </a:bodyPr>
          <a:lstStyle/>
          <a:p>
            <a:r>
              <a:rPr sz="2200" b="0" i="0">
                <a:solidFill>
                  <a:srgbClr val="1A1A1A"/>
                </a:solidFill>
                <a:latin typeface="Trenda IG Text"/>
              </a:rPr>
              <a:t>$16M</a:t>
            </a:r>
          </a:p>
        </p:txBody>
      </p:sp>
      <p:sp>
        <p:nvSpPr>
          <p:cNvPr id="68" name="Text 66"/>
          <p:cNvSpPr txBox="1"/>
          <p:nvPr/>
        </p:nvSpPr>
        <p:spPr>
          <a:xfrm>
            <a:off x="667512" y="4453127"/>
            <a:ext cx="1577340" cy="201168"/>
          </a:xfrm>
          <a:prstGeom prst="rect">
            <a:avLst/>
          </a:prstGeom>
          <a:noFill/>
        </p:spPr>
        <p:txBody>
          <a:bodyPr wrap="square" lIns="0" rIns="0" tIns="0" bIns="0" anchor="ctr">
            <a:spAutoFit/>
          </a:bodyPr>
          <a:lstStyle/>
          <a:p>
            <a:r>
              <a:rPr sz="700" b="1" i="0">
                <a:solidFill>
                  <a:srgbClr val="1A1A1A"/>
                </a:solidFill>
                <a:latin typeface="Trenda IG Text"/>
              </a:rPr>
              <a:t>a year today</a:t>
            </a:r>
          </a:p>
        </p:txBody>
      </p:sp>
      <p:sp>
        <p:nvSpPr>
          <p:cNvPr id="69" name="Text 67"/>
          <p:cNvSpPr txBox="1"/>
          <p:nvPr/>
        </p:nvSpPr>
        <p:spPr>
          <a:xfrm>
            <a:off x="667512" y="4654296"/>
            <a:ext cx="1577340" cy="201168"/>
          </a:xfrm>
          <a:prstGeom prst="rect">
            <a:avLst/>
          </a:prstGeom>
          <a:noFill/>
        </p:spPr>
        <p:txBody>
          <a:bodyPr wrap="square" lIns="0" rIns="0" tIns="0" bIns="0" anchor="ctr">
            <a:spAutoFit/>
          </a:bodyPr>
          <a:lstStyle/>
          <a:p>
            <a:r>
              <a:rPr sz="700" b="0" i="0">
                <a:solidFill>
                  <a:srgbClr val="4D4D4D"/>
                </a:solidFill>
                <a:latin typeface="Trenda IG Text"/>
              </a:rPr>
              <a:t>as provided by Ascension</a:t>
            </a:r>
          </a:p>
        </p:txBody>
      </p:sp>
      <p:sp>
        <p:nvSpPr>
          <p:cNvPr id="70" name="Shape 68"/>
          <p:cNvSpPr/>
          <p:nvPr/>
        </p:nvSpPr>
        <p:spPr>
          <a:xfrm>
            <a:off x="2427732" y="3639312"/>
            <a:ext cx="1796796" cy="149047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9"/>
          <p:cNvSpPr txBox="1"/>
          <p:nvPr/>
        </p:nvSpPr>
        <p:spPr>
          <a:xfrm>
            <a:off x="2555748" y="3977639"/>
            <a:ext cx="1577340" cy="457200"/>
          </a:xfrm>
          <a:prstGeom prst="rect">
            <a:avLst/>
          </a:prstGeom>
          <a:noFill/>
        </p:spPr>
        <p:txBody>
          <a:bodyPr wrap="square" lIns="0" rIns="0" tIns="0" bIns="0" anchor="ctr">
            <a:spAutoFit/>
          </a:bodyPr>
          <a:lstStyle/>
          <a:p>
            <a:r>
              <a:rPr sz="2200" b="0" i="0">
                <a:solidFill>
                  <a:srgbClr val="1A1A1A"/>
                </a:solidFill>
                <a:latin typeface="Trenda IG Text"/>
              </a:rPr>
              <a:t>$7M</a:t>
            </a:r>
          </a:p>
        </p:txBody>
      </p:sp>
      <p:sp>
        <p:nvSpPr>
          <p:cNvPr id="72" name="Text 70"/>
          <p:cNvSpPr txBox="1"/>
          <p:nvPr/>
        </p:nvSpPr>
        <p:spPr>
          <a:xfrm>
            <a:off x="2555748" y="4453127"/>
            <a:ext cx="1577340" cy="201168"/>
          </a:xfrm>
          <a:prstGeom prst="rect">
            <a:avLst/>
          </a:prstGeom>
          <a:noFill/>
        </p:spPr>
        <p:txBody>
          <a:bodyPr wrap="square" lIns="0" rIns="0" tIns="0" bIns="0" anchor="ctr">
            <a:spAutoFit/>
          </a:bodyPr>
          <a:lstStyle/>
          <a:p>
            <a:r>
              <a:rPr sz="700" b="1" i="0">
                <a:solidFill>
                  <a:srgbClr val="1A1A1A"/>
                </a:solidFill>
                <a:latin typeface="Trenda IG Text"/>
              </a:rPr>
              <a:t>a year with the harness</a:t>
            </a:r>
          </a:p>
        </p:txBody>
      </p:sp>
      <p:sp>
        <p:nvSpPr>
          <p:cNvPr id="73" name="Text 71"/>
          <p:cNvSpPr txBox="1"/>
          <p:nvPr/>
        </p:nvSpPr>
        <p:spPr>
          <a:xfrm>
            <a:off x="2555748" y="4654296"/>
            <a:ext cx="1577340" cy="201168"/>
          </a:xfrm>
          <a:prstGeom prst="rect">
            <a:avLst/>
          </a:prstGeom>
          <a:noFill/>
        </p:spPr>
        <p:txBody>
          <a:bodyPr wrap="square" lIns="0" rIns="0" tIns="0" bIns="0" anchor="ctr">
            <a:spAutoFit/>
          </a:bodyPr>
          <a:lstStyle/>
          <a:p>
            <a:r>
              <a:rPr sz="700" b="0" i="0">
                <a:solidFill>
                  <a:srgbClr val="4D4D4D"/>
                </a:solidFill>
                <a:latin typeface="Trenda IG Text"/>
              </a:rPr>
              <a:t>agents and run team included</a:t>
            </a:r>
          </a:p>
        </p:txBody>
      </p:sp>
      <p:sp>
        <p:nvSpPr>
          <p:cNvPr id="74" name="Differentiator Border 73"/>
          <p:cNvSpPr/>
          <p:nvPr/>
        </p:nvSpPr>
        <p:spPr>
          <a:xfrm>
            <a:off x="4315968" y="3639312"/>
            <a:ext cx="1796796" cy="14904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4"/>
          <p:cNvSpPr/>
          <p:nvPr/>
        </p:nvSpPr>
        <p:spPr>
          <a:xfrm>
            <a:off x="4334255" y="3657600"/>
            <a:ext cx="1760220" cy="1453895"/>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4443983" y="3977639"/>
            <a:ext cx="1577340" cy="457200"/>
          </a:xfrm>
          <a:prstGeom prst="rect">
            <a:avLst/>
          </a:prstGeom>
          <a:noFill/>
        </p:spPr>
        <p:txBody>
          <a:bodyPr wrap="square" lIns="0" rIns="0" tIns="0" bIns="0" anchor="ctr">
            <a:spAutoFit/>
          </a:bodyPr>
          <a:lstStyle/>
          <a:p>
            <a:r>
              <a:rPr sz="2200" b="0" i="0">
                <a:solidFill>
                  <a:srgbClr val="0089A0"/>
                </a:solidFill>
                <a:latin typeface="Trenda IG Text"/>
              </a:rPr>
              <a:t>$9M</a:t>
            </a:r>
          </a:p>
        </p:txBody>
      </p:sp>
      <p:sp>
        <p:nvSpPr>
          <p:cNvPr id="77" name="Text 76"/>
          <p:cNvSpPr txBox="1"/>
          <p:nvPr/>
        </p:nvSpPr>
        <p:spPr>
          <a:xfrm>
            <a:off x="4443983" y="4453127"/>
            <a:ext cx="1577340" cy="201168"/>
          </a:xfrm>
          <a:prstGeom prst="rect">
            <a:avLst/>
          </a:prstGeom>
          <a:noFill/>
        </p:spPr>
        <p:txBody>
          <a:bodyPr wrap="square" lIns="0" rIns="0" tIns="0" bIns="0" anchor="ctr">
            <a:spAutoFit/>
          </a:bodyPr>
          <a:lstStyle/>
          <a:p>
            <a:r>
              <a:rPr sz="700" b="1" i="0">
                <a:solidFill>
                  <a:srgbClr val="1A1A1A"/>
                </a:solidFill>
                <a:latin typeface="Trenda IG Text"/>
              </a:rPr>
              <a:t>saved every year</a:t>
            </a:r>
          </a:p>
        </p:txBody>
      </p:sp>
      <p:sp>
        <p:nvSpPr>
          <p:cNvPr id="78" name="Text 77"/>
          <p:cNvSpPr txBox="1"/>
          <p:nvPr/>
        </p:nvSpPr>
        <p:spPr>
          <a:xfrm>
            <a:off x="4443983" y="4654296"/>
            <a:ext cx="1577340" cy="201168"/>
          </a:xfrm>
          <a:prstGeom prst="rect">
            <a:avLst/>
          </a:prstGeom>
          <a:noFill/>
        </p:spPr>
        <p:txBody>
          <a:bodyPr wrap="square" lIns="0" rIns="0" tIns="0" bIns="0" anchor="ctr">
            <a:spAutoFit/>
          </a:bodyPr>
          <a:lstStyle/>
          <a:p>
            <a:r>
              <a:rPr sz="700" b="0" i="0">
                <a:solidFill>
                  <a:srgbClr val="4D4D4D"/>
                </a:solidFill>
                <a:latin typeface="Trenda IG Text"/>
              </a:rPr>
              <a:t>from go-live</a:t>
            </a:r>
          </a:p>
        </p:txBody>
      </p:sp>
      <p:sp>
        <p:nvSpPr>
          <p:cNvPr id="79" name="Shape 78"/>
          <p:cNvSpPr/>
          <p:nvPr/>
        </p:nvSpPr>
        <p:spPr>
          <a:xfrm>
            <a:off x="6204204" y="3639312"/>
            <a:ext cx="1796796" cy="1490472"/>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6332220" y="3977639"/>
            <a:ext cx="1577340" cy="457200"/>
          </a:xfrm>
          <a:prstGeom prst="rect">
            <a:avLst/>
          </a:prstGeom>
          <a:noFill/>
        </p:spPr>
        <p:txBody>
          <a:bodyPr wrap="square" lIns="0" rIns="0" tIns="0" bIns="0" anchor="ctr">
            <a:spAutoFit/>
          </a:bodyPr>
          <a:lstStyle/>
          <a:p>
            <a:r>
              <a:rPr sz="2200" b="0" i="0">
                <a:solidFill>
                  <a:srgbClr val="1A1A1A"/>
                </a:solidFill>
                <a:latin typeface="Trenda IG Text"/>
              </a:rPr>
              <a:t>$5.0M</a:t>
            </a:r>
          </a:p>
        </p:txBody>
      </p:sp>
      <p:sp>
        <p:nvSpPr>
          <p:cNvPr id="81" name="Text 80"/>
          <p:cNvSpPr txBox="1"/>
          <p:nvPr/>
        </p:nvSpPr>
        <p:spPr>
          <a:xfrm>
            <a:off x="6332220" y="4453127"/>
            <a:ext cx="1577340" cy="201168"/>
          </a:xfrm>
          <a:prstGeom prst="rect">
            <a:avLst/>
          </a:prstGeom>
          <a:noFill/>
        </p:spPr>
        <p:txBody>
          <a:bodyPr wrap="square" lIns="0" rIns="0" tIns="0" bIns="0" anchor="ctr">
            <a:spAutoFit/>
          </a:bodyPr>
          <a:lstStyle/>
          <a:p>
            <a:r>
              <a:rPr sz="700" b="1" i="0">
                <a:solidFill>
                  <a:srgbClr val="1A1A1A"/>
                </a:solidFill>
                <a:latin typeface="Trenda IG Text"/>
              </a:rPr>
              <a:t>invested once</a:t>
            </a:r>
          </a:p>
        </p:txBody>
      </p:sp>
      <p:sp>
        <p:nvSpPr>
          <p:cNvPr id="82" name="Text 81"/>
          <p:cNvSpPr txBox="1"/>
          <p:nvPr/>
        </p:nvSpPr>
        <p:spPr>
          <a:xfrm>
            <a:off x="6332220" y="4654296"/>
            <a:ext cx="1577340" cy="201168"/>
          </a:xfrm>
          <a:prstGeom prst="rect">
            <a:avLst/>
          </a:prstGeom>
          <a:noFill/>
        </p:spPr>
        <p:txBody>
          <a:bodyPr wrap="square" lIns="0" rIns="0" tIns="0" bIns="0" anchor="ctr">
            <a:spAutoFit/>
          </a:bodyPr>
          <a:lstStyle/>
          <a:p>
            <a:r>
              <a:rPr sz="700" b="0" i="0">
                <a:solidFill>
                  <a:srgbClr val="4D4D4D"/>
                </a:solidFill>
                <a:latin typeface="Trenda IG Text"/>
              </a:rPr>
              <a:t>$4.79M build + $0.23M usage</a:t>
            </a:r>
          </a:p>
        </p:txBody>
      </p:sp>
      <p:sp>
        <p:nvSpPr>
          <p:cNvPr id="83" name="Shape 82"/>
          <p:cNvSpPr/>
          <p:nvPr/>
        </p:nvSpPr>
        <p:spPr>
          <a:xfrm>
            <a:off x="8220456" y="3639312"/>
            <a:ext cx="3429000" cy="699515"/>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Shape 83"/>
          <p:cNvSpPr/>
          <p:nvPr/>
        </p:nvSpPr>
        <p:spPr>
          <a:xfrm>
            <a:off x="8220456" y="3639312"/>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8385048" y="3639312"/>
            <a:ext cx="3191256" cy="699515"/>
          </a:xfrm>
          <a:prstGeom prst="rect">
            <a:avLst/>
          </a:prstGeom>
          <a:noFill/>
        </p:spPr>
        <p:txBody>
          <a:bodyPr wrap="square" lIns="0" rIns="0" tIns="0" bIns="0" anchor="ctr">
            <a:spAutoFit/>
          </a:bodyPr>
          <a:lstStyle/>
          <a:p>
            <a:pPr>
              <a:spcAft>
                <a:spcPts val="200"/>
              </a:spcAft>
            </a:pPr>
            <a:r>
              <a:rPr sz="800" b="1" i="0">
                <a:solidFill>
                  <a:srgbClr val="0089A0"/>
                </a:solidFill>
                <a:latin typeface="Trenda IG Text"/>
              </a:rPr>
              <a:t>Paid back in under 7 months</a:t>
            </a:r>
          </a:p>
          <a:p>
            <a:pPr>
              <a:spcAft>
                <a:spcPts val="200"/>
              </a:spcAft>
            </a:pPr>
            <a:r>
              <a:rPr sz="700" b="0" i="0">
                <a:solidFill>
                  <a:srgbClr val="4D4D4D"/>
                </a:solidFill>
                <a:latin typeface="Trenda IG Text"/>
              </a:rPr>
              <a:t>80% first-year return; 1.8x the investment back in year one</a:t>
            </a:r>
          </a:p>
        </p:txBody>
      </p:sp>
      <p:sp>
        <p:nvSpPr>
          <p:cNvPr id="86" name="Shape 85"/>
          <p:cNvSpPr/>
          <p:nvPr/>
        </p:nvSpPr>
        <p:spPr>
          <a:xfrm>
            <a:off x="8220456" y="4430268"/>
            <a:ext cx="3429000" cy="699515"/>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6"/>
          <p:cNvSpPr/>
          <p:nvPr/>
        </p:nvSpPr>
        <p:spPr>
          <a:xfrm>
            <a:off x="8220456" y="4430268"/>
            <a:ext cx="45720" cy="699515"/>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385048" y="4430268"/>
            <a:ext cx="3191256" cy="699515"/>
          </a:xfrm>
          <a:prstGeom prst="rect">
            <a:avLst/>
          </a:prstGeom>
          <a:noFill/>
        </p:spPr>
        <p:txBody>
          <a:bodyPr wrap="square" lIns="0" rIns="0" tIns="0" bIns="0" anchor="ctr">
            <a:spAutoFit/>
          </a:bodyPr>
          <a:lstStyle/>
          <a:p>
            <a:pPr>
              <a:spcAft>
                <a:spcPts val="200"/>
              </a:spcAft>
            </a:pPr>
            <a:r>
              <a:rPr sz="800" b="1" i="0">
                <a:solidFill>
                  <a:srgbClr val="8A6D00"/>
                </a:solidFill>
                <a:latin typeface="Trenda IG Text"/>
              </a:rPr>
              <a:t>Floor we commit to</a:t>
            </a:r>
          </a:p>
          <a:p>
            <a:pPr>
              <a:spcAft>
                <a:spcPts val="200"/>
              </a:spcAft>
            </a:pPr>
            <a:r>
              <a:rPr sz="700" b="0" i="0">
                <a:solidFill>
                  <a:srgbClr val="4D4D4D"/>
                </a:solidFill>
                <a:latin typeface="Trenda IG Text"/>
              </a:rPr>
              <a:t>20-25% lower net run cost per pod, against its own baseline</a:t>
            </a:r>
          </a:p>
        </p:txBody>
      </p:sp>
      <p:sp>
        <p:nvSpPr>
          <p:cNvPr id="89" name="Text 88"/>
          <p:cNvSpPr txBox="1"/>
          <p:nvPr/>
        </p:nvSpPr>
        <p:spPr>
          <a:xfrm>
            <a:off x="411480" y="5394960"/>
            <a:ext cx="1188720" cy="640080"/>
          </a:xfrm>
          <a:prstGeom prst="rect">
            <a:avLst/>
          </a:prstGeom>
          <a:noFill/>
        </p:spPr>
        <p:txBody>
          <a:bodyPr wrap="square" lIns="0" rIns="0" tIns="0" bIns="0" anchor="ctr">
            <a:spAutoFit/>
          </a:bodyPr>
          <a:lstStyle/>
          <a:p>
            <a:pPr>
              <a:spcAft>
                <a:spcPts val="100"/>
              </a:spcAft>
            </a:pPr>
            <a:r>
              <a:rPr sz="700" b="1" i="0" spc="120">
                <a:solidFill>
                  <a:srgbClr val="1A1A1A"/>
                </a:solidFill>
                <a:latin typeface="Trenda IG Text"/>
              </a:rPr>
              <a:t>KEEP IT HONEST</a:t>
            </a:r>
          </a:p>
          <a:p>
            <a:pPr>
              <a:spcAft>
                <a:spcPts val="100"/>
              </a:spcAft>
            </a:pPr>
            <a:r>
              <a:rPr sz="700" b="0" i="0">
                <a:solidFill>
                  <a:srgbClr val="6B6B6B"/>
                </a:solidFill>
                <a:latin typeface="Trenda IG Text"/>
              </a:rPr>
              <a:t>how the numbers hold</a:t>
            </a:r>
          </a:p>
        </p:txBody>
      </p:sp>
      <p:sp>
        <p:nvSpPr>
          <p:cNvPr id="90" name="Shape 89"/>
          <p:cNvSpPr/>
          <p:nvPr/>
        </p:nvSpPr>
        <p:spPr>
          <a:xfrm>
            <a:off x="1645920" y="5394960"/>
            <a:ext cx="2464308" cy="6400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Shape 90"/>
          <p:cNvSpPr/>
          <p:nvPr/>
        </p:nvSpPr>
        <p:spPr>
          <a:xfrm>
            <a:off x="1645920"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1773936" y="5394960"/>
            <a:ext cx="2281427" cy="640080"/>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Baseline every pod first</a:t>
            </a:r>
          </a:p>
          <a:p>
            <a:pPr>
              <a:spcAft>
                <a:spcPts val="100"/>
              </a:spcAft>
            </a:pPr>
            <a:r>
              <a:rPr sz="700" b="0" i="0">
                <a:solidFill>
                  <a:srgbClr val="4D4D4D"/>
                </a:solidFill>
                <a:latin typeface="Trenda IG Text"/>
              </a:rPr>
              <a:t>savings counted against each pod's own numbers</a:t>
            </a:r>
          </a:p>
        </p:txBody>
      </p:sp>
      <p:sp>
        <p:nvSpPr>
          <p:cNvPr id="93" name="Shape 92"/>
          <p:cNvSpPr/>
          <p:nvPr/>
        </p:nvSpPr>
        <p:spPr>
          <a:xfrm>
            <a:off x="4201668" y="5394960"/>
            <a:ext cx="2464308" cy="6400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Shape 93"/>
          <p:cNvSpPr/>
          <p:nvPr/>
        </p:nvSpPr>
        <p:spPr>
          <a:xfrm>
            <a:off x="4201668"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4329683" y="5394960"/>
            <a:ext cx="2281427" cy="640080"/>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Year 1 at 60-70%</a:t>
            </a:r>
          </a:p>
          <a:p>
            <a:pPr>
              <a:spcAft>
                <a:spcPts val="100"/>
              </a:spcAft>
            </a:pPr>
            <a:r>
              <a:rPr sz="700" b="0" i="0">
                <a:solidFill>
                  <a:srgbClr val="4D4D4D"/>
                </a:solidFill>
                <a:latin typeface="Trenda IG Text"/>
              </a:rPr>
              <a:t>of steady state while pods onboard</a:t>
            </a:r>
          </a:p>
        </p:txBody>
      </p:sp>
      <p:sp>
        <p:nvSpPr>
          <p:cNvPr id="96" name="Shape 95"/>
          <p:cNvSpPr/>
          <p:nvPr/>
        </p:nvSpPr>
        <p:spPr>
          <a:xfrm>
            <a:off x="6757416" y="5394960"/>
            <a:ext cx="2464308" cy="6400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6"/>
          <p:cNvSpPr/>
          <p:nvPr/>
        </p:nvSpPr>
        <p:spPr>
          <a:xfrm>
            <a:off x="6757416"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6885431" y="5394960"/>
            <a:ext cx="2281427" cy="640080"/>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Approvals stay human</a:t>
            </a:r>
          </a:p>
          <a:p>
            <a:pPr>
              <a:spcAft>
                <a:spcPts val="100"/>
              </a:spcAft>
            </a:pPr>
            <a:r>
              <a:rPr sz="700" b="0" i="0">
                <a:solidFill>
                  <a:srgbClr val="4D4D4D"/>
                </a:solidFill>
                <a:latin typeface="Trenda IG Text"/>
              </a:rPr>
              <a:t>UAT and CAB take the same time</a:t>
            </a:r>
          </a:p>
        </p:txBody>
      </p:sp>
      <p:sp>
        <p:nvSpPr>
          <p:cNvPr id="99" name="Shape 98"/>
          <p:cNvSpPr/>
          <p:nvPr/>
        </p:nvSpPr>
        <p:spPr>
          <a:xfrm>
            <a:off x="9313164" y="5394960"/>
            <a:ext cx="2464308" cy="640080"/>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99"/>
          <p:cNvSpPr/>
          <p:nvPr/>
        </p:nvSpPr>
        <p:spPr>
          <a:xfrm>
            <a:off x="9313164" y="5394960"/>
            <a:ext cx="36576" cy="64008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0"/>
          <p:cNvSpPr txBox="1"/>
          <p:nvPr/>
        </p:nvSpPr>
        <p:spPr>
          <a:xfrm>
            <a:off x="9441180" y="5394960"/>
            <a:ext cx="2281427" cy="640080"/>
          </a:xfrm>
          <a:prstGeom prst="rect">
            <a:avLst/>
          </a:prstGeom>
          <a:noFill/>
        </p:spPr>
        <p:txBody>
          <a:bodyPr wrap="square" lIns="0" rIns="0" tIns="0" bIns="0" anchor="ctr">
            <a:spAutoFit/>
          </a:bodyPr>
          <a:lstStyle/>
          <a:p>
            <a:pPr>
              <a:spcAft>
                <a:spcPts val="100"/>
              </a:spcAft>
            </a:pPr>
            <a:r>
              <a:rPr sz="700" b="1" i="0">
                <a:solidFill>
                  <a:srgbClr val="1A1A1A"/>
                </a:solidFill>
                <a:latin typeface="Trenda IG Text"/>
              </a:rPr>
              <a:t>Delivery only</a:t>
            </a:r>
          </a:p>
          <a:p>
            <a:pPr>
              <a:spcAft>
                <a:spcPts val="100"/>
              </a:spcAft>
            </a:pPr>
            <a:r>
              <a:rPr sz="700" b="0" i="0">
                <a:solidFill>
                  <a:srgbClr val="4D4D4D"/>
                </a:solidFill>
                <a:latin typeface="Trenda IG Text"/>
              </a:rPr>
              <a:t>campaign data platform and Sierra sized after Phase 0</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