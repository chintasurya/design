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2" r:id="rId16"/>
    <p:sldId id="263" r:id="rId17"/>
    <p:sldId id="261" r:id="rId15"/>
    <p:sldId id="264" r:id="rId18"/>
    <p:sldId id="265" r:id="rId19"/>
    <p:sldId id="26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up to 3 runs per pod so no pod crowds out another; about 30 at once, set by model and API quotas (proposed, sized in the Phase 0 load test); extra requests wait, none are dropped.</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WHAT AGENTS READ</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700" b="1" i="0">
                <a:solidFill>
                  <a:srgbClr val="0089A0"/>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1A1A1A"/>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Up to 3 runs per pod</a:t>
            </a:r>
          </a:p>
          <a:p>
            <a:pPr>
              <a:spcAft>
                <a:spcPts val="200"/>
              </a:spcAft>
            </a:pPr>
            <a:r>
              <a:rPr sz="700" b="0" i="0">
                <a:solidFill>
                  <a:srgbClr val="4D4D4D"/>
                </a:solidFill>
                <a:latin typeface="Trenda IG Text"/>
              </a:rPr>
              <a:t>fair share: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About 30 runs at once</a:t>
            </a:r>
          </a:p>
          <a:p>
            <a:pPr>
              <a:spcAft>
                <a:spcPts val="200"/>
              </a:spcAft>
            </a:pPr>
            <a:r>
              <a:rPr sz="700" b="0" i="0">
                <a:solidFill>
                  <a:srgbClr val="4D4D4D"/>
                </a:solidFill>
                <a:latin typeface="Trenda IG Text"/>
              </a:rPr>
              <a:t>set by model and API quotas; proposed, sized in the Phase 0 load test</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SQUAD</a:t>
            </a:r>
            <a:r>
              <a:rPr sz="700" b="0" i="0">
                <a:solidFill>
                  <a:srgbClr val="4D4D4D"/>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E0FAFE"/>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4D4D4D"/>
                </a:solidFill>
                <a:latin typeface="Trenda IG Text"/>
              </a:rPr>
              <a:t>drafts code, tests and the Copado package overnight. </a:t>
            </a:r>
            <a:r>
              <a:rPr sz="700" b="1" i="0">
                <a:solidFill>
                  <a:srgbClr val="1A1A1A"/>
                </a:solidFill>
                <a:latin typeface="Trenda IG Text"/>
              </a:rPr>
              <a:t>Developer </a:t>
            </a:r>
            <a:r>
              <a:rPr sz="700" b="0" i="0">
                <a:solidFill>
                  <a:srgbClr val="4D4D4D"/>
                </a:solidFill>
                <a:latin typeface="Trenda IG Text"/>
              </a:rPr>
              <a:t>directs and approves. </a:t>
            </a:r>
            <a:r>
              <a:rPr sz="700" b="1" i="0">
                <a:solidFill>
                  <a:srgbClr val="1A1A1A"/>
                </a:solidFill>
                <a:latin typeface="Trenda IG Text"/>
              </a:rPr>
              <a:t>QA </a:t>
            </a:r>
            <a:r>
              <a:rPr sz="700" b="0" i="0">
                <a:solidFill>
                  <a:srgbClr val="4D4D4D"/>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POD</a:t>
            </a:r>
            <a:r>
              <a:rPr sz="700" b="0" i="0">
                <a:solidFill>
                  <a:srgbClr val="4D4D4D"/>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33" name="Shape 31"/>
          <p:cNvSpPr/>
          <p:nvPr/>
        </p:nvSpPr>
        <p:spPr>
          <a:xfrm>
            <a:off x="4364736" y="1700784"/>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1A1A1A"/>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4D4D4D"/>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89A0"/>
                </a:solidFill>
                <a:latin typeface="Trenda IG Text"/>
              </a:rPr>
              <a:t>about 1 week</a:t>
            </a:r>
          </a:p>
        </p:txBody>
      </p:sp>
      <p:sp>
        <p:nvSpPr>
          <p:cNvPr id="37" name="Shape 35"/>
          <p:cNvSpPr/>
          <p:nvPr/>
        </p:nvSpPr>
        <p:spPr>
          <a:xfrm>
            <a:off x="4364736" y="1965960"/>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1A1A1A"/>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4D4D4D"/>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89A0"/>
                </a:solidFill>
                <a:latin typeface="Trenda IG Text"/>
              </a:rPr>
              <a:t>about 20 hours</a:t>
            </a:r>
          </a:p>
        </p:txBody>
      </p:sp>
      <p:sp>
        <p:nvSpPr>
          <p:cNvPr id="41" name="Shape 39"/>
          <p:cNvSpPr/>
          <p:nvPr/>
        </p:nvSpPr>
        <p:spPr>
          <a:xfrm>
            <a:off x="4364736" y="2231136"/>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1A1A1A"/>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4D4D4D"/>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89A0"/>
                </a:solidFill>
                <a:latin typeface="Trenda IG Text"/>
              </a:rPr>
              <a:t>100%, same standards</a:t>
            </a:r>
          </a:p>
        </p:txBody>
      </p:sp>
      <p:sp>
        <p:nvSpPr>
          <p:cNvPr id="45" name="Shape 43"/>
          <p:cNvSpPr/>
          <p:nvPr/>
        </p:nvSpPr>
        <p:spPr>
          <a:xfrm>
            <a:off x="4364736" y="2496312"/>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1A1A1A"/>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4D4D4D"/>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89A0"/>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6B6B6B"/>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BUILD AND RUN</a:t>
            </a:r>
            <a:r>
              <a:rPr sz="700" b="0" i="0">
                <a:solidFill>
                  <a:srgbClr val="4D4D4D"/>
                </a:solidFill>
                <a:latin typeface="Trenda IG Text"/>
              </a:rPr>
              <a:t>   fixed fee, paid by gate</a:t>
            </a:r>
          </a:p>
        </p:txBody>
      </p:sp>
      <p:sp>
        <p:nvSpPr>
          <p:cNvPr id="53" name="Shape 51"/>
          <p:cNvSpPr/>
          <p:nvPr/>
        </p:nvSpPr>
        <p:spPr>
          <a:xfrm>
            <a:off x="8189976"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4D4D4D"/>
                </a:solidFill>
                <a:latin typeface="Trenda IG Text"/>
              </a:rPr>
              <a:t>people at peak, 10 roles</a:t>
            </a:r>
          </a:p>
        </p:txBody>
      </p:sp>
      <p:sp>
        <p:nvSpPr>
          <p:cNvPr id="56" name="Shape 54"/>
          <p:cNvSpPr/>
          <p:nvPr/>
        </p:nvSpPr>
        <p:spPr>
          <a:xfrm>
            <a:off x="9367520"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4D4D4D"/>
                </a:solidFill>
                <a:latin typeface="Trenda IG Text"/>
              </a:rPr>
              <a:t>months, seven phases</a:t>
            </a:r>
          </a:p>
        </p:txBody>
      </p:sp>
      <p:sp>
        <p:nvSpPr>
          <p:cNvPr id="59" name="Shape 57"/>
          <p:cNvSpPr/>
          <p:nvPr/>
        </p:nvSpPr>
        <p:spPr>
          <a:xfrm>
            <a:off x="10545064"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4D4D4D"/>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1A1A1A"/>
                </a:solidFill>
                <a:latin typeface="Trenda IG Text"/>
              </a:rPr>
              <a:t>From month 19 </a:t>
            </a:r>
            <a:r>
              <a:rPr sz="700" b="0" i="0">
                <a:solidFill>
                  <a:srgbClr val="4D4D4D"/>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1A1A1A"/>
                </a:solidFill>
                <a:latin typeface="Trenda IG Text"/>
              </a:rPr>
              <a:t>THE RETURN</a:t>
            </a:r>
            <a:r>
              <a:rPr sz="700" b="0" i="0">
                <a:solidFill>
                  <a:srgbClr val="4D4D4D"/>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as provided by Ascension</a:t>
            </a:r>
          </a:p>
        </p:txBody>
      </p:sp>
      <p:sp>
        <p:nvSpPr>
          <p:cNvPr id="70" name="Shape 68"/>
          <p:cNvSpPr/>
          <p:nvPr/>
        </p:nvSpPr>
        <p:spPr>
          <a:xfrm>
            <a:off x="2427732"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89A0"/>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from go-live</a:t>
            </a:r>
          </a:p>
        </p:txBody>
      </p:sp>
      <p:sp>
        <p:nvSpPr>
          <p:cNvPr id="79" name="Shape 78"/>
          <p:cNvSpPr/>
          <p:nvPr/>
        </p:nvSpPr>
        <p:spPr>
          <a:xfrm>
            <a:off x="6204204"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$4.79M build + $0.23M usage</a:t>
            </a:r>
          </a:p>
        </p:txBody>
      </p:sp>
      <p:sp>
        <p:nvSpPr>
          <p:cNvPr id="83" name="Shape 82"/>
          <p:cNvSpPr/>
          <p:nvPr/>
        </p:nvSpPr>
        <p:spPr>
          <a:xfrm>
            <a:off x="8220456" y="3639312"/>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89A0"/>
                </a:solidFill>
                <a:latin typeface="Trenda IG Text"/>
              </a:rPr>
              <a:t>Paid back in under 7 months</a:t>
            </a:r>
          </a:p>
          <a:p>
            <a:pPr>
              <a:spcAft>
                <a:spcPts val="200"/>
              </a:spcAft>
            </a:pPr>
            <a:r>
              <a:rPr sz="700" b="0" i="0">
                <a:solidFill>
                  <a:srgbClr val="4D4D4D"/>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8A6D00"/>
                </a:solidFill>
                <a:latin typeface="Trenda IG Text"/>
              </a:rPr>
              <a:t>Floor we commit to</a:t>
            </a:r>
          </a:p>
          <a:p>
            <a:pPr>
              <a:spcAft>
                <a:spcPts val="200"/>
              </a:spcAft>
            </a:pPr>
            <a:r>
              <a:rPr sz="700" b="0" i="0">
                <a:solidFill>
                  <a:srgbClr val="4D4D4D"/>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KEEP IT HONEST</a:t>
            </a:r>
          </a:p>
          <a:p>
            <a:pPr>
              <a:spcAft>
                <a:spcPts val="100"/>
              </a:spcAft>
            </a:pPr>
            <a:r>
              <a:rPr sz="700" b="0" i="0">
                <a:solidFill>
                  <a:srgbClr val="6B6B6B"/>
                </a:solidFill>
                <a:latin typeface="Trenda IG Text"/>
              </a:rPr>
              <a:t>how the numbers hold</a:t>
            </a:r>
          </a:p>
        </p:txBody>
      </p:sp>
      <p:sp>
        <p:nvSpPr>
          <p:cNvPr id="90" name="Shape 89"/>
          <p:cNvSpPr/>
          <p:nvPr/>
        </p:nvSpPr>
        <p:spPr>
          <a:xfrm>
            <a:off x="1645920"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Baseline every pod first</a:t>
            </a:r>
          </a:p>
          <a:p>
            <a:pPr>
              <a:spcAft>
                <a:spcPts val="100"/>
              </a:spcAft>
            </a:pPr>
            <a:r>
              <a:rPr sz="700" b="0" i="0">
                <a:solidFill>
                  <a:srgbClr val="4D4D4D"/>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Year 1 at 60-70%</a:t>
            </a:r>
          </a:p>
          <a:p>
            <a:pPr>
              <a:spcAft>
                <a:spcPts val="100"/>
              </a:spcAft>
            </a:pPr>
            <a:r>
              <a:rPr sz="700" b="0" i="0">
                <a:solidFill>
                  <a:srgbClr val="4D4D4D"/>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Approvals stay human</a:t>
            </a:r>
          </a:p>
          <a:p>
            <a:pPr>
              <a:spcAft>
                <a:spcPts val="100"/>
              </a:spcAft>
            </a:pPr>
            <a:r>
              <a:rPr sz="700" b="0" i="0">
                <a:solidFill>
                  <a:srgbClr val="4D4D4D"/>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Delivery only</a:t>
            </a:r>
          </a:p>
          <a:p>
            <a:pPr>
              <a:spcAft>
                <a:spcPts val="100"/>
              </a:spcAft>
            </a:pPr>
            <a:r>
              <a:rPr sz="700" b="0" i="0">
                <a:solidFill>
                  <a:srgbClr val="4D4D4D"/>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