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5" r:id="rId19"/>
    <p:sldId id="264" r:id="rId18"/>
    <p:sldId id="262" r:id="rId16"/>
    <p:sldId id="266" r:id="rId20"/>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Harness   (about 2 minutes)</a:t>
            </a:r>
          </a:p>
          <a:p/>
          <a:p>
            <a:r>
              <a:t>KEY MESSAGE</a:t>
            </a:r>
          </a:p>
          <a:p>
            <a:r>
              <a:t>A typical Health Cloud task on the Network Services pod, from Jira story to UAT sign-off, takes about two weeks today. On the Agentic Harness the same task takes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HARNESS</a:t>
            </a:r>
          </a:p>
          <a:p>
            <a:r>
              <a:t>The same seven delivery agents as every pod, with Health Cloud skills. Day 1 morning: the Requirements Agent turns the story into a brief and the product owner approves (H1); the Architect Agent reads impact and reuse from the knowledge graph, the Change Guardian names affected pods, and the architect and pod owners approve (H2). Day 1 afternoon and overnight: the Developer Agent builds in DEV. Day 2: the Review and Test Agents check code, security and sharing and run the tests, and the tech lead approves (H3); the Release Agent promotes through Copado to SIT and UAT; the business signs UAT (H4).</a:t>
            </a:r>
          </a:p>
          <a:p/>
          <a:p>
            <a:r>
              <a:t>THE NUMBERS</a:t>
            </a:r>
          </a:p>
          <a:p>
            <a:r>
              <a:t>About 80% faster: 10 working days to about 2 days. Already measured with agent-assisted delivery: 1-2 weeks down to 2-4 days. The graph, the overnight build and the automated tests take it to about 2 days: the target, confirmed against the Phase 0 baseline.</a:t>
            </a:r>
          </a:p>
          <a:p/>
          <a:p>
            <a:r>
              <a:t>BE READY FOR</a:t>
            </a:r>
          </a:p>
          <a:p>
            <a:r>
              <a:t>- "Does every task take 2 days?" Small changes take less; large or cross-pod changes take longer because more owners approve.</a:t>
            </a:r>
          </a:p>
          <a:p>
            <a:r>
              <a:t>- "And production?" It still goes through CAB in its normal window; the two days are story to UAT sign-off.</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one engineer who directs the harness agent and verifies its work, and a tech lead shared across two or three squads. Across all pods, $16M a year today falls to about $8M at full run rate: about $20M saved over three years.</a:t>
            </a:r>
          </a:p>
          <a:p/>
          <a:p>
            <a:r>
              <a:t>TOP</a:t>
            </a:r>
          </a:p>
          <a:p>
            <a:r>
              <a:t>- Today's squad: PM / outcome owner, tech lead / SEM, 2-3 developers, 1-2 QA.</a:t>
            </a:r>
          </a:p>
          <a:p>
            <a:r>
              <a:t>- With the harness: the PM keeps ownership; one engineer (dev + QA) directs the agent and verifies; the tech lead / SEM is shared across 2-3 squads and still approves the code at H3.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Harness</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harness,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89A0"/>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8A6D00"/>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1A1A1A"/>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102" name="Shape 95"/>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2" name="Shape 95"/>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108" name="Shape 101"/>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8" name="Shape 101"/>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14" name="Shape 107"/>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4" name="Shape 107"/>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1A1A1A"/>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Jira story to UAT sign-off. The same seven delivery agents with Health Cloud skills; agents build overnight, people approve by day.</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95478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HARNESS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~48 hours elapsed: agents build overnight, people approve by day</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731377" y="2560320"/>
            <a:ext cx="318134"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731377" y="2560320"/>
            <a:ext cx="318134"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 overnight</a:t>
            </a:r>
          </a:p>
        </p:txBody>
      </p:sp>
      <p:sp>
        <p:nvSpPr>
          <p:cNvPr id="63" name="Shape 63"/>
          <p:cNvSpPr/>
          <p:nvPr/>
        </p:nvSpPr>
        <p:spPr>
          <a:xfrm>
            <a:off x="9049512" y="2971799"/>
            <a:ext cx="1018032"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049512" y="2971799"/>
            <a:ext cx="1018032" cy="201168"/>
          </a:xfrm>
          <a:prstGeom prst="rect">
            <a:avLst/>
          </a:prstGeom>
          <a:noFill/>
        </p:spPr>
        <p:txBody>
          <a:bodyPr wrap="square" lIns="0" rIns="0" tIns="0" bIns="0" anchor="ctr">
            <a:spAutoFit/>
          </a:bodyPr>
          <a:lstStyle/>
          <a:p>
            <a:pPr algn="ctr"/>
            <a:r>
              <a:rPr sz="700" b="1" i="0">
                <a:solidFill>
                  <a:srgbClr val="000000"/>
                </a:solidFill>
                <a:latin typeface="Trenda IG Text"/>
              </a:rPr>
              <a:t>16h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10067544" y="3383279"/>
            <a:ext cx="50901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10067544" y="3383279"/>
            <a:ext cx="509016"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576560" y="3794759"/>
            <a:ext cx="381762"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576560" y="3794759"/>
            <a:ext cx="381762" cy="201168"/>
          </a:xfrm>
          <a:prstGeom prst="rect">
            <a:avLst/>
          </a:prstGeom>
          <a:noFill/>
        </p:spPr>
        <p:txBody>
          <a:bodyPr wrap="square" lIns="0" rIns="0" tIns="0" bIns="0" anchor="ctr">
            <a:spAutoFit/>
          </a:bodyPr>
          <a:lstStyle/>
          <a:p>
            <a:pPr algn="ctr"/>
            <a:r>
              <a:rPr sz="700" b="1" i="0">
                <a:solidFill>
                  <a:srgbClr val="000000"/>
                </a:solidFill>
                <a:latin typeface="Trenda IG Text"/>
              </a:rPr>
              <a:t>6h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Business UAT sign-off · H4</a:t>
            </a:r>
          </a:p>
          <a:p>
            <a:r>
              <a:rPr sz="700" b="0" i="0">
                <a:solidFill>
                  <a:srgbClr val="4D4D4D"/>
                </a:solidFill>
                <a:latin typeface="Trenda IG Text"/>
              </a:rPr>
              <a:t>the business owner signs UAT</a:t>
            </a:r>
          </a:p>
        </p:txBody>
      </p:sp>
      <p:sp>
        <p:nvSpPr>
          <p:cNvPr id="75" name="Shape 75"/>
          <p:cNvSpPr/>
          <p:nvPr/>
        </p:nvSpPr>
        <p:spPr>
          <a:xfrm>
            <a:off x="10958322" y="4206240"/>
            <a:ext cx="636269"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958322" y="4206240"/>
            <a:ext cx="636269" cy="201168"/>
          </a:xfrm>
          <a:prstGeom prst="rect">
            <a:avLst/>
          </a:prstGeom>
          <a:noFill/>
        </p:spPr>
        <p:txBody>
          <a:bodyPr wrap="square" lIns="0" rIns="0" tIns="0" bIns="0" anchor="ctr">
            <a:spAutoFit/>
          </a:bodyPr>
          <a:lstStyle/>
          <a:p>
            <a:pPr algn="ctr"/>
            <a:r>
              <a:rPr sz="700" b="1" i="0">
                <a:solidFill>
                  <a:srgbClr val="000000"/>
                </a:solidFill>
                <a:latin typeface="Trenda IG Text"/>
              </a:rPr>
              <a:t>10h</a:t>
            </a:r>
          </a:p>
        </p:txBody>
      </p:sp>
      <p:sp>
        <p:nvSpPr>
          <p:cNvPr id="77" name="Text 7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78" name="Text 78"/>
          <p:cNvSpPr txBox="1"/>
          <p:nvPr/>
        </p:nvSpPr>
        <p:spPr>
          <a:xfrm>
            <a:off x="979322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9" name="Text 79"/>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80" name="Shape 80"/>
          <p:cNvSpPr/>
          <p:nvPr/>
        </p:nvSpPr>
        <p:spPr>
          <a:xfrm>
            <a:off x="8860536"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860536"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095232"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095232"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622280"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622280"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Production follows the normal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harness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then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is the harness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checks consent, STOP, links, hours. </a:t>
            </a:r>
            <a:r>
              <a:rPr sz="700" b="1" i="0">
                <a:solidFill>
                  <a:srgbClr val="1A1A1A"/>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as in the Agentic Harness deck.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1A1A1A"/>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HARNESS</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 about $20M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and one engineer directing the harness agent, with a shared tech lead.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HARNESS</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HARNESS · ~2.4 PEOPLE</a:t>
            </a:r>
          </a:p>
        </p:txBody>
      </p:sp>
      <p:sp>
        <p:nvSpPr>
          <p:cNvPr id="18" name="Shape 17"/>
          <p:cNvSpPr/>
          <p:nvPr/>
        </p:nvSpPr>
        <p:spPr>
          <a:xfrm>
            <a:off x="521208" y="2249424"/>
            <a:ext cx="749808"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20" name="Shape 19"/>
          <p:cNvSpPr/>
          <p:nvPr/>
        </p:nvSpPr>
        <p:spPr>
          <a:xfrm>
            <a:off x="1325880" y="2249424"/>
            <a:ext cx="1115568"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325880" y="2249424"/>
            <a:ext cx="1115568" cy="292608"/>
          </a:xfrm>
          <a:prstGeom prst="rect">
            <a:avLst/>
          </a:prstGeom>
          <a:noFill/>
        </p:spPr>
        <p:txBody>
          <a:bodyPr wrap="square" lIns="0" rIns="0" tIns="0" bIns="0" anchor="ctr">
            <a:spAutoFit/>
          </a:bodyPr>
          <a:lstStyle/>
          <a:p>
            <a:pPr algn="ctr"/>
            <a:r>
              <a:rPr sz="700" b="1" i="0">
                <a:solidFill>
                  <a:srgbClr val="1A1A1A"/>
                </a:solidFill>
                <a:latin typeface="Trenda IG Text"/>
              </a:rPr>
              <a:t>Engineer · dev + QA</a:t>
            </a:r>
          </a:p>
        </p:txBody>
      </p:sp>
      <p:sp>
        <p:nvSpPr>
          <p:cNvPr id="22" name="Shape 21"/>
          <p:cNvSpPr/>
          <p:nvPr/>
        </p:nvSpPr>
        <p:spPr>
          <a:xfrm>
            <a:off x="2496312"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551176" y="2322576"/>
            <a:ext cx="146304" cy="146304"/>
          </a:xfrm>
          <a:prstGeom prst="rect">
            <a:avLst/>
          </a:prstGeom>
        </p:spPr>
      </p:pic>
      <p:sp>
        <p:nvSpPr>
          <p:cNvPr id="24" name="Text 22"/>
          <p:cNvSpPr txBox="1"/>
          <p:nvPr/>
        </p:nvSpPr>
        <p:spPr>
          <a:xfrm>
            <a:off x="2679192"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538728" y="2249424"/>
            <a:ext cx="914400"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538728" y="2249424"/>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Engineer </a:t>
            </a:r>
            <a:r>
              <a:rPr sz="700" b="0" i="0">
                <a:solidFill>
                  <a:srgbClr val="1A1A1A"/>
                </a:solidFill>
                <a:latin typeface="Trenda IG Text"/>
              </a:rPr>
              <a:t>directs it and verifies. </a:t>
            </a:r>
            <a:r>
              <a:rPr sz="700" b="1" i="0">
                <a:solidFill>
                  <a:srgbClr val="1A1A1A"/>
                </a:solidFill>
                <a:latin typeface="Trenda IG Text"/>
              </a:rPr>
              <a:t>Tech lead </a:t>
            </a:r>
            <a:r>
              <a:rPr sz="700" b="0" i="0">
                <a:solidFill>
                  <a:srgbClr val="1A1A1A"/>
                </a:solidFill>
                <a:latin typeface="Trenda IG Text"/>
              </a:rPr>
              <a:t>approves at H3 for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harness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harness</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