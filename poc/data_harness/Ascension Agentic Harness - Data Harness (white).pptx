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39"/>
  </p:notesMasterIdLst>
  <p:sldIdLst>
    <p:sldId id="256" r:id="rId10"/>
    <p:sldId id="257" r:id="rId11"/>
    <p:sldId id="258" r:id="rId12"/>
    <p:sldId id="259" r:id="rId13"/>
    <p:sldId id="260" r:id="rId14"/>
    <p:sldId id="262" r:id="rId16"/>
    <p:sldId id="263" r:id="rId17"/>
    <p:sldId id="261" r:id="rId15"/>
    <p:sldId id="264" r:id="rId18"/>
    <p:sldId id="265"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7C935-1B6D-4E44-B47C-046E66B68172}" v="1" dt="2026-10-13T08:50:07.235"/>
    <p1510:client id="{D6061613-E3FA-45E3-B0BC-0BB213BEA706}" v="115" dt="2026-10-14T07:17:09.485"/>
    <p1510:client id="{FAAA239D-A7E8-691F-9086-0568C33ECAC9}" v="1" dt="2026-10-13T12:39:3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86" autoAdjust="0"/>
  </p:normalViewPr>
  <p:slideViewPr>
    <p:cSldViewPr snapToGrid="0">
      <p:cViewPr>
        <p:scale>
          <a:sx n="80" d="100"/>
          <a:sy n="80" d="100"/>
        </p:scale>
        <p:origin x="62"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microsoft.com/office/2016/11/relationships/changesInfo" Target="changesInfos/changesInfo1.xml"/><Relationship Id="rId4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andiraju" userId="S::sandeep.kandiraju@insightglobal.com::73c9edc8-56ca-4b73-b526-6c8c5936bb95" providerId="AD" clId="Web-{FAAA239D-A7E8-691F-9086-0568C33ECAC9}"/>
    <pc:docChg chg="delSld">
      <pc:chgData name="Sandeep Kandiraju" userId="S::sandeep.kandiraju@insightglobal.com::73c9edc8-56ca-4b73-b526-6c8c5936bb95" providerId="AD" clId="Web-{FAAA239D-A7E8-691F-9086-0568C33ECAC9}" dt="2026-10-13T12:39:32.049" v="0"/>
      <pc:docMkLst>
        <pc:docMk/>
      </pc:docMkLst>
      <pc:sldChg chg="del">
        <pc:chgData name="Sandeep Kandiraju" userId="S::sandeep.kandiraju@insightglobal.com::73c9edc8-56ca-4b73-b526-6c8c5936bb95" providerId="AD" clId="Web-{FAAA239D-A7E8-691F-9086-0568C33ECAC9}" dt="2026-10-13T12:39:32.049" v="0"/>
        <pc:sldMkLst>
          <pc:docMk/>
          <pc:sldMk cId="0" sldId="329"/>
        </pc:sldMkLst>
      </pc:sldChg>
    </pc:docChg>
  </pc:docChgLst>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4T07:17:09.485" v="319"/>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3T03:22:34.188" v="124" actId="6549"/>
        <pc:sldMkLst>
          <pc:docMk/>
          <pc:sldMk cId="3603168410" sldId="318"/>
        </pc:sldMkLst>
        <pc:spChg chg="mod">
          <ac:chgData name="Surya Chinta" userId="41ee6f01-053e-4268-a09b-364f54be2fbe" providerId="ADAL" clId="{E5143D04-8900-4457-BE49-945FECC57414}" dt="2026-10-13T03:22:34.188" v="124" actId="6549"/>
          <ac:spMkLst>
            <pc:docMk/>
            <pc:sldMk cId="3603168410" sldId="318"/>
            <ac:spMk id="2" creationId="{4EA92DF6-3BED-B26E-DE34-1D5A049BE760}"/>
          </ac:spMkLst>
        </pc:spChg>
        <pc:spChg chg="mod">
          <ac:chgData name="Surya Chinta" userId="41ee6f01-053e-4268-a09b-364f54be2fbe" providerId="ADAL" clId="{E5143D04-8900-4457-BE49-945FECC57414}" dt="2026-10-13T03:22:23.260" v="100"/>
          <ac:spMkLst>
            <pc:docMk/>
            <pc:sldMk cId="3603168410" sldId="318"/>
            <ac:spMk id="8" creationId="{D6B1835E-2C04-5EC5-9045-B9B64D0E8440}"/>
          </ac:spMkLst>
        </pc:spChg>
        <pc:spChg chg="mod">
          <ac:chgData name="Surya Chinta" userId="41ee6f01-053e-4268-a09b-364f54be2fbe" providerId="ADAL" clId="{E5143D04-8900-4457-BE49-945FECC57414}" dt="2026-10-13T03:22:06.748" v="99" actId="20577"/>
          <ac:spMkLst>
            <pc:docMk/>
            <pc:sldMk cId="3603168410" sldId="318"/>
            <ac:spMk id="11" creationId="{3CC066D7-8386-587D-D5CA-A9B0917A0A6A}"/>
          </ac:spMkLst>
        </pc:spChg>
      </pc:sldChg>
      <pc:sldChg chg="modSp">
        <pc:chgData name="Surya Chinta" userId="41ee6f01-053e-4268-a09b-364f54be2fbe" providerId="ADAL" clId="{E5143D04-8900-4457-BE49-945FECC57414}" dt="2026-10-13T03:28:34.048" v="185"/>
        <pc:sldMkLst>
          <pc:docMk/>
          <pc:sldMk cId="0" sldId="319"/>
        </pc:sldMkLst>
        <pc:spChg chg="mod">
          <ac:chgData name="Surya Chinta" userId="41ee6f01-053e-4268-a09b-364f54be2fbe" providerId="ADAL" clId="{E5143D04-8900-4457-BE49-945FECC57414}" dt="2026-10-13T03:28:34.048" v="185"/>
          <ac:spMkLst>
            <pc:docMk/>
            <pc:sldMk cId="0" sldId="319"/>
            <ac:spMk id="192"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Sp delSp modSp mod modNotes modNotesTx">
        <pc:chgData name="Surya Chinta" userId="41ee6f01-053e-4268-a09b-364f54be2fbe" providerId="ADAL" clId="{E5143D04-8900-4457-BE49-945FECC57414}" dt="2026-10-13T10:58:19.500" v="265" actId="767"/>
        <pc:sldMkLst>
          <pc:docMk/>
          <pc:sldMk cId="0" sldId="323"/>
        </pc:sldMkLst>
        <pc:spChg chg="mod">
          <ac:chgData name="Surya Chinta" userId="41ee6f01-053e-4268-a09b-364f54be2fbe" providerId="ADAL" clId="{E5143D04-8900-4457-BE49-945FECC57414}" dt="2026-10-13T03:23:44.191" v="129"/>
          <ac:spMkLst>
            <pc:docMk/>
            <pc:sldMk cId="0" sldId="323"/>
            <ac:spMk id="2" creationId="{00000000-0000-0000-0000-000000000000}"/>
          </ac:spMkLst>
        </pc:spChg>
        <pc:spChg chg="add del mod">
          <ac:chgData name="Surya Chinta" userId="41ee6f01-053e-4268-a09b-364f54be2fbe" providerId="ADAL" clId="{E5143D04-8900-4457-BE49-945FECC57414}" dt="2026-10-13T10:58:19.500" v="265" actId="767"/>
          <ac:spMkLst>
            <pc:docMk/>
            <pc:sldMk cId="0" sldId="323"/>
            <ac:spMk id="101" creationId="{9D224369-A1F1-48FA-2872-027FA25AA213}"/>
          </ac:spMkLst>
        </pc:spChg>
      </pc:sldChg>
      <pc:sldChg chg="modSp mod modNotes modNotesTx">
        <pc:chgData name="Surya Chinta" userId="41ee6f01-053e-4268-a09b-364f54be2fbe" providerId="ADAL" clId="{E5143D04-8900-4457-BE49-945FECC57414}" dt="2026-10-14T07:14:51.121" v="316"/>
        <pc:sldMkLst>
          <pc:docMk/>
          <pc:sldMk cId="0" sldId="324"/>
        </pc:sldMkLst>
        <pc:spChg chg="mod">
          <ac:chgData name="Surya Chinta" userId="41ee6f01-053e-4268-a09b-364f54be2fbe" providerId="ADAL" clId="{E5143D04-8900-4457-BE49-945FECC57414}" dt="2026-10-13T03:33:07.200" v="197"/>
          <ac:spMkLst>
            <pc:docMk/>
            <pc:sldMk cId="0" sldId="324"/>
            <ac:spMk id="2" creationId="{00000000-0000-0000-0000-000000000000}"/>
          </ac:spMkLst>
        </pc:spChg>
        <pc:spChg chg="mod">
          <ac:chgData name="Surya Chinta" userId="41ee6f01-053e-4268-a09b-364f54be2fbe" providerId="ADAL" clId="{E5143D04-8900-4457-BE49-945FECC57414}" dt="2026-10-13T03:29:40.233" v="187"/>
          <ac:spMkLst>
            <pc:docMk/>
            <pc:sldMk cId="0" sldId="324"/>
            <ac:spMk id="3" creationId="{00000000-0000-0000-0000-000000000000}"/>
          </ac:spMkLst>
        </pc:spChg>
        <pc:spChg chg="mod">
          <ac:chgData name="Surya Chinta" userId="41ee6f01-053e-4268-a09b-364f54be2fbe" providerId="ADAL" clId="{E5143D04-8900-4457-BE49-945FECC57414}" dt="2026-10-14T07:14:51.121" v="316"/>
          <ac:spMkLst>
            <pc:docMk/>
            <pc:sldMk cId="0" sldId="324"/>
            <ac:spMk id="74" creationId="{00000000-0000-0000-0000-000000000000}"/>
          </ac:spMkLst>
        </pc:spChg>
      </pc:sldChg>
      <pc:sldChg chg="modSp mod modNotes modNotesTx">
        <pc:chgData name="Surya Chinta" userId="41ee6f01-053e-4268-a09b-364f54be2fbe" providerId="ADAL" clId="{E5143D04-8900-4457-BE49-945FECC57414}" dt="2026-10-14T07:14:45.178" v="315"/>
        <pc:sldMkLst>
          <pc:docMk/>
          <pc:sldMk cId="0" sldId="325"/>
        </pc:sldMkLst>
        <pc:spChg chg="mod">
          <ac:chgData name="Surya Chinta" userId="41ee6f01-053e-4268-a09b-364f54be2fbe" providerId="ADAL" clId="{E5143D04-8900-4457-BE49-945FECC57414}" dt="2026-10-13T03:33:30.591" v="198"/>
          <ac:spMkLst>
            <pc:docMk/>
            <pc:sldMk cId="0" sldId="325"/>
            <ac:spMk id="2" creationId="{00000000-0000-0000-0000-000000000000}"/>
          </ac:spMkLst>
        </pc:spChg>
        <pc:spChg chg="mod">
          <ac:chgData name="Surya Chinta" userId="41ee6f01-053e-4268-a09b-364f54be2fbe" providerId="ADAL" clId="{E5143D04-8900-4457-BE49-945FECC57414}" dt="2026-10-13T03:29:48.285" v="190" actId="14100"/>
          <ac:spMkLst>
            <pc:docMk/>
            <pc:sldMk cId="0" sldId="325"/>
            <ac:spMk id="3" creationId="{00000000-0000-0000-0000-000000000000}"/>
          </ac:spMkLst>
        </pc:spChg>
        <pc:spChg chg="mod">
          <ac:chgData name="Surya Chinta" userId="41ee6f01-053e-4268-a09b-364f54be2fbe" providerId="ADAL" clId="{E5143D04-8900-4457-BE49-945FECC57414}" dt="2026-10-14T07:14:16.018" v="314" actId="20577"/>
          <ac:spMkLst>
            <pc:docMk/>
            <pc:sldMk cId="0" sldId="325"/>
            <ac:spMk id="7" creationId="{00000000-0000-0000-0000-000000000000}"/>
          </ac:spMkLst>
        </pc:spChg>
        <pc:spChg chg="mod">
          <ac:chgData name="Surya Chinta" userId="41ee6f01-053e-4268-a09b-364f54be2fbe" providerId="ADAL" clId="{E5143D04-8900-4457-BE49-945FECC57414}" dt="2026-10-14T07:14:45.178" v="315"/>
          <ac:spMkLst>
            <pc:docMk/>
            <pc:sldMk cId="0" sldId="325"/>
            <ac:spMk id="74" creationId="{00000000-0000-0000-0000-000000000000}"/>
          </ac:spMkLst>
        </pc:spChg>
      </pc:sldChg>
      <pc:sldChg chg="modSp modNotesTx">
        <pc:chgData name="Surya Chinta" userId="41ee6f01-053e-4268-a09b-364f54be2fbe" providerId="ADAL" clId="{E5143D04-8900-4457-BE49-945FECC57414}" dt="2026-10-13T04:22:22.021" v="251" actId="6549"/>
        <pc:sldMkLst>
          <pc:docMk/>
          <pc:sldMk cId="0" sldId="326"/>
        </pc:sldMkLst>
        <pc:spChg chg="mod">
          <ac:chgData name="Surya Chinta" userId="41ee6f01-053e-4268-a09b-364f54be2fbe" providerId="ADAL" clId="{E5143D04-8900-4457-BE49-945FECC57414}" dt="2026-10-13T03:34:02.933" v="201"/>
          <ac:spMkLst>
            <pc:docMk/>
            <pc:sldMk cId="0" sldId="326"/>
            <ac:spMk id="2" creationId="{00000000-0000-0000-0000-000000000000}"/>
          </ac:spMkLst>
        </pc:spChg>
        <pc:graphicFrameChg chg="mod">
          <ac:chgData name="Surya Chinta" userId="41ee6f01-053e-4268-a09b-364f54be2fbe" providerId="ADAL" clId="{E5143D04-8900-4457-BE49-945FECC57414}" dt="2026-10-13T03:28:34.048" v="185"/>
          <ac:graphicFrameMkLst>
            <pc:docMk/>
            <pc:sldMk cId="0" sldId="326"/>
            <ac:graphicFrameMk id="42" creationId="{00000000-0000-0000-0000-000000000000}"/>
          </ac:graphicFrameMkLst>
        </pc:graphicFrameChg>
      </pc:sldChg>
      <pc:sldChg chg="modSp add ord setBg modNotes modNotesTx">
        <pc:chgData name="Surya Chinta" userId="41ee6f01-053e-4268-a09b-364f54be2fbe" providerId="ADAL" clId="{E5143D04-8900-4457-BE49-945FECC57414}" dt="2026-10-14T07:16:00.554" v="318"/>
        <pc:sldMkLst>
          <pc:docMk/>
          <pc:sldMk cId="0" sldId="327"/>
        </pc:sldMkLst>
        <pc:spChg chg="mod">
          <ac:chgData name="Surya Chinta" userId="41ee6f01-053e-4268-a09b-364f54be2fbe" providerId="ADAL" clId="{E5143D04-8900-4457-BE49-945FECC57414}" dt="2026-10-13T03:33:41.285" v="199"/>
          <ac:spMkLst>
            <pc:docMk/>
            <pc:sldMk cId="0" sldId="327"/>
            <ac:spMk id="2" creationId="{00000000-0000-0000-0000-000000000000}"/>
          </ac:spMkLst>
        </pc:spChg>
        <pc:spChg chg="mod">
          <ac:chgData name="Surya Chinta" userId="41ee6f01-053e-4268-a09b-364f54be2fbe" providerId="ADAL" clId="{E5143D04-8900-4457-BE49-945FECC57414}" dt="2026-10-13T03:28:34.048" v="185"/>
          <ac:spMkLst>
            <pc:docMk/>
            <pc:sldMk cId="0" sldId="327"/>
            <ac:spMk id="4" creationId="{00000000-0000-0000-0000-000000000000}"/>
          </ac:spMkLst>
        </pc:spChg>
        <pc:spChg chg="mod">
          <ac:chgData name="Surya Chinta" userId="41ee6f01-053e-4268-a09b-364f54be2fbe" providerId="ADAL" clId="{E5143D04-8900-4457-BE49-945FECC57414}" dt="2026-10-13T03:28:34.048" v="185"/>
          <ac:spMkLst>
            <pc:docMk/>
            <pc:sldMk cId="0" sldId="327"/>
            <ac:spMk id="6" creationId="{00000000-0000-0000-0000-000000000000}"/>
          </ac:spMkLst>
        </pc:spChg>
        <pc:spChg chg="mod">
          <ac:chgData name="Surya Chinta" userId="41ee6f01-053e-4268-a09b-364f54be2fbe" providerId="ADAL" clId="{E5143D04-8900-4457-BE49-945FECC57414}" dt="2026-10-13T03:28:34.048" v="185"/>
          <ac:spMkLst>
            <pc:docMk/>
            <pc:sldMk cId="0" sldId="327"/>
            <ac:spMk id="69" creationId="{00000000-0000-0000-0000-000000000000}"/>
          </ac:spMkLst>
        </pc:spChg>
        <pc:spChg chg="mod">
          <ac:chgData name="Surya Chinta" userId="41ee6f01-053e-4268-a09b-364f54be2fbe" providerId="ADAL" clId="{E5143D04-8900-4457-BE49-945FECC57414}" dt="2026-10-13T03:28:34.048" v="185"/>
          <ac:spMkLst>
            <pc:docMk/>
            <pc:sldMk cId="0" sldId="327"/>
            <ac:spMk id="80" creationId="{00000000-0000-0000-0000-000000000000}"/>
          </ac:spMkLst>
        </pc:spChg>
        <pc:spChg chg="mod">
          <ac:chgData name="Surya Chinta" userId="41ee6f01-053e-4268-a09b-364f54be2fbe" providerId="ADAL" clId="{E5143D04-8900-4457-BE49-945FECC57414}" dt="2026-10-13T03:28:34.048" v="185"/>
          <ac:spMkLst>
            <pc:docMk/>
            <pc:sldMk cId="0" sldId="327"/>
            <ac:spMk id="84" creationId="{00000000-0000-0000-0000-000000000000}"/>
          </ac:spMkLst>
        </pc:spChg>
      </pc:sldChg>
      <pc:sldChg chg="modSp add ord setBg modNotes modNotesTx">
        <pc:chgData name="Surya Chinta" userId="41ee6f01-053e-4268-a09b-364f54be2fbe" providerId="ADAL" clId="{E5143D04-8900-4457-BE49-945FECC57414}" dt="2026-10-14T07:16:00.554" v="318"/>
        <pc:sldMkLst>
          <pc:docMk/>
          <pc:sldMk cId="0" sldId="328"/>
        </pc:sldMkLst>
        <pc:spChg chg="mod">
          <ac:chgData name="Surya Chinta" userId="41ee6f01-053e-4268-a09b-364f54be2fbe" providerId="ADAL" clId="{E5143D04-8900-4457-BE49-945FECC57414}" dt="2026-10-13T03:33:52.276" v="200"/>
          <ac:spMkLst>
            <pc:docMk/>
            <pc:sldMk cId="0" sldId="328"/>
            <ac:spMk id="2" creationId="{00000000-0000-0000-0000-000000000000}"/>
          </ac:spMkLst>
        </pc:spChg>
        <pc:spChg chg="mod">
          <ac:chgData name="Surya Chinta" userId="41ee6f01-053e-4268-a09b-364f54be2fbe" providerId="ADAL" clId="{E5143D04-8900-4457-BE49-945FECC57414}" dt="2026-10-13T03:28:34.048" v="185"/>
          <ac:spMkLst>
            <pc:docMk/>
            <pc:sldMk cId="0" sldId="328"/>
            <ac:spMk id="4" creationId="{00000000-0000-0000-0000-000000000000}"/>
          </ac:spMkLst>
        </pc:spChg>
      </pc:sldChg>
      <pc:sldChg chg="modSp mod modNotes modNotesTx">
        <pc:chgData name="Surya Chinta" userId="41ee6f01-053e-4268-a09b-364f54be2fbe" providerId="ADAL" clId="{E5143D04-8900-4457-BE49-945FECC57414}" dt="2026-10-13T10:58:02.892" v="260" actId="1076"/>
        <pc:sldMkLst>
          <pc:docMk/>
          <pc:sldMk cId="0" sldId="329"/>
        </pc:sldMkLst>
        <pc:spChg chg="mod">
          <ac:chgData name="Surya Chinta" userId="41ee6f01-053e-4268-a09b-364f54be2fbe" providerId="ADAL" clId="{E5143D04-8900-4457-BE49-945FECC57414}" dt="2026-10-13T03:22:50.685" v="125"/>
          <ac:spMkLst>
            <pc:docMk/>
            <pc:sldMk cId="0" sldId="329"/>
            <ac:spMk id="2" creationId="{00000000-0000-0000-0000-000000000000}"/>
          </ac:spMkLst>
        </pc:spChg>
        <pc:spChg chg="mod">
          <ac:chgData name="Surya Chinta" userId="41ee6f01-053e-4268-a09b-364f54be2fbe" providerId="ADAL" clId="{E5143D04-8900-4457-BE49-945FECC57414}" dt="2026-10-13T03:23:19.005" v="128" actId="20577"/>
          <ac:spMkLst>
            <pc:docMk/>
            <pc:sldMk cId="0" sldId="329"/>
            <ac:spMk id="4" creationId="{00000000-0000-0000-0000-000000000000}"/>
          </ac:spMkLst>
        </pc:spChg>
        <pc:picChg chg="mod">
          <ac:chgData name="Surya Chinta" userId="41ee6f01-053e-4268-a09b-364f54be2fbe" providerId="ADAL" clId="{E5143D04-8900-4457-BE49-945FECC57414}" dt="2026-10-13T10:58:02.892" v="260" actId="1076"/>
          <ac:picMkLst>
            <pc:docMk/>
            <pc:sldMk cId="0" sldId="329"/>
            <ac:picMk id="28" creationId="{00000000-0000-0000-0000-000000000000}"/>
          </ac:picMkLst>
        </pc:picChg>
      </pc:sldChg>
      <pc:sldChg chg="delSp modSp mod modNotes modNotesTx">
        <pc:chgData name="Surya Chinta" userId="41ee6f01-053e-4268-a09b-364f54be2fbe" providerId="ADAL" clId="{E5143D04-8900-4457-BE49-945FECC57414}" dt="2026-10-14T07:11:16.844" v="300" actId="478"/>
        <pc:sldMkLst>
          <pc:docMk/>
          <pc:sldMk cId="0" sldId="330"/>
        </pc:sldMkLst>
        <pc:spChg chg="mod">
          <ac:chgData name="Surya Chinta" userId="41ee6f01-053e-4268-a09b-364f54be2fbe" providerId="ADAL" clId="{E5143D04-8900-4457-BE49-945FECC57414}" dt="2026-10-13T03:24:18.366" v="130"/>
          <ac:spMkLst>
            <pc:docMk/>
            <pc:sldMk cId="0" sldId="330"/>
            <ac:spMk id="2" creationId="{00000000-0000-0000-0000-000000000000}"/>
          </ac:spMkLst>
        </pc:spChg>
        <pc:spChg chg="mod">
          <ac:chgData name="Surya Chinta" userId="41ee6f01-053e-4268-a09b-364f54be2fbe" providerId="ADAL" clId="{E5143D04-8900-4457-BE49-945FECC57414}" dt="2026-10-13T03:24:23.820" v="131"/>
          <ac:spMkLst>
            <pc:docMk/>
            <pc:sldMk cId="0" sldId="330"/>
            <ac:spMk id="3" creationId="{00000000-0000-0000-0000-000000000000}"/>
          </ac:spMkLst>
        </pc:spChg>
        <pc:spChg chg="mod">
          <ac:chgData name="Surya Chinta" userId="41ee6f01-053e-4268-a09b-364f54be2fbe" providerId="ADAL" clId="{E5143D04-8900-4457-BE49-945FECC57414}" dt="2026-10-13T03:24:34.197" v="133" actId="14100"/>
          <ac:spMkLst>
            <pc:docMk/>
            <pc:sldMk cId="0" sldId="330"/>
            <ac:spMk id="15" creationId="{00000000-0000-0000-0000-000000000000}"/>
          </ac:spMkLst>
        </pc:spChg>
        <pc:spChg chg="mod">
          <ac:chgData name="Surya Chinta" userId="41ee6f01-053e-4268-a09b-364f54be2fbe" providerId="ADAL" clId="{E5143D04-8900-4457-BE49-945FECC57414}" dt="2026-10-13T03:24:45.614" v="144" actId="20577"/>
          <ac:spMkLst>
            <pc:docMk/>
            <pc:sldMk cId="0" sldId="330"/>
            <ac:spMk id="24" creationId="{00000000-0000-0000-0000-000000000000}"/>
          </ac:spMkLst>
        </pc:spChg>
        <pc:spChg chg="mod">
          <ac:chgData name="Surya Chinta" userId="41ee6f01-053e-4268-a09b-364f54be2fbe" providerId="ADAL" clId="{E5143D04-8900-4457-BE49-945FECC57414}" dt="2026-10-13T03:24:51.269" v="151" actId="20577"/>
          <ac:spMkLst>
            <pc:docMk/>
            <pc:sldMk cId="0" sldId="330"/>
            <ac:spMk id="33" creationId="{00000000-0000-0000-0000-000000000000}"/>
          </ac:spMkLst>
        </pc:spChg>
        <pc:spChg chg="mod">
          <ac:chgData name="Surya Chinta" userId="41ee6f01-053e-4268-a09b-364f54be2fbe" providerId="ADAL" clId="{E5143D04-8900-4457-BE49-945FECC57414}" dt="2026-10-13T03:24:55.363" v="158" actId="20577"/>
          <ac:spMkLst>
            <pc:docMk/>
            <pc:sldMk cId="0" sldId="330"/>
            <ac:spMk id="42" creationId="{00000000-0000-0000-0000-000000000000}"/>
          </ac:spMkLst>
        </pc:spChg>
        <pc:spChg chg="mod">
          <ac:chgData name="Surya Chinta" userId="41ee6f01-053e-4268-a09b-364f54be2fbe" providerId="ADAL" clId="{E5143D04-8900-4457-BE49-945FECC57414}" dt="2026-10-13T03:25:01.556" v="165" actId="20577"/>
          <ac:spMkLst>
            <pc:docMk/>
            <pc:sldMk cId="0" sldId="330"/>
            <ac:spMk id="65" creationId="{00000000-0000-0000-0000-000000000000}"/>
          </ac:spMkLst>
        </pc:spChg>
        <pc:spChg chg="del mod">
          <ac:chgData name="Surya Chinta" userId="41ee6f01-053e-4268-a09b-364f54be2fbe" providerId="ADAL" clId="{E5143D04-8900-4457-BE49-945FECC57414}" dt="2026-10-14T07:11:16.844" v="300" actId="478"/>
          <ac:spMkLst>
            <pc:docMk/>
            <pc:sldMk cId="0" sldId="330"/>
            <ac:spMk id="105" creationId="{00000000-0000-0000-0000-000000000000}"/>
          </ac:spMkLst>
        </pc:spChg>
        <pc:spChg chg="mod">
          <ac:chgData name="Surya Chinta" userId="41ee6f01-053e-4268-a09b-364f54be2fbe" providerId="ADAL" clId="{E5143D04-8900-4457-BE49-945FECC57414}" dt="2026-10-13T03:26:45.288" v="166"/>
          <ac:spMkLst>
            <pc:docMk/>
            <pc:sldMk cId="0" sldId="330"/>
            <ac:spMk id="108"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1"/>
        </pc:sldMkLst>
        <pc:spChg chg="mod">
          <ac:chgData name="Surya Chinta" userId="41ee6f01-053e-4268-a09b-364f54be2fbe" providerId="ADAL" clId="{E5143D04-8900-4457-BE49-945FECC57414}" dt="2026-10-13T03:28:34.048" v="185"/>
          <ac:spMkLst>
            <pc:docMk/>
            <pc:sldMk cId="0" sldId="331"/>
            <ac:spMk id="2" creationId="{00000000-0000-0000-0000-000000000000}"/>
          </ac:spMkLst>
        </pc:spChg>
        <pc:spChg chg="mod">
          <ac:chgData name="Surya Chinta" userId="41ee6f01-053e-4268-a09b-364f54be2fbe" providerId="ADAL" clId="{E5143D04-8900-4457-BE49-945FECC57414}" dt="2026-10-13T03:28:34.048" v="185"/>
          <ac:spMkLst>
            <pc:docMk/>
            <pc:sldMk cId="0" sldId="331"/>
            <ac:spMk id="4" creationId="{00000000-0000-0000-0000-000000000000}"/>
          </ac:spMkLst>
        </pc:spChg>
        <pc:spChg chg="mod">
          <ac:chgData name="Surya Chinta" userId="41ee6f01-053e-4268-a09b-364f54be2fbe" providerId="ADAL" clId="{E5143D04-8900-4457-BE49-945FECC57414}" dt="2026-10-13T03:28:34.048" v="185"/>
          <ac:spMkLst>
            <pc:docMk/>
            <pc:sldMk cId="0" sldId="331"/>
            <ac:spMk id="81"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2"/>
        </pc:sldMkLst>
        <pc:spChg chg="mod">
          <ac:chgData name="Surya Chinta" userId="41ee6f01-053e-4268-a09b-364f54be2fbe" providerId="ADAL" clId="{E5143D04-8900-4457-BE49-945FECC57414}" dt="2026-10-13T03:28:34.048" v="185"/>
          <ac:spMkLst>
            <pc:docMk/>
            <pc:sldMk cId="0" sldId="332"/>
            <ac:spMk id="2" creationId="{00000000-0000-0000-0000-000000000000}"/>
          </ac:spMkLst>
        </pc:spChg>
        <pc:spChg chg="mod">
          <ac:chgData name="Surya Chinta" userId="41ee6f01-053e-4268-a09b-364f54be2fbe" providerId="ADAL" clId="{E5143D04-8900-4457-BE49-945FECC57414}" dt="2026-10-13T03:28:34.048" v="185"/>
          <ac:spMkLst>
            <pc:docMk/>
            <pc:sldMk cId="0" sldId="332"/>
            <ac:spMk id="126" creationId="{00000000-0000-0000-0000-000000000000}"/>
          </ac:spMkLst>
        </pc:spChg>
      </pc:sldChg>
      <pc:sldChg chg="modSp mod ord modNotesTx">
        <pc:chgData name="Surya Chinta" userId="41ee6f01-053e-4268-a09b-364f54be2fbe" providerId="ADAL" clId="{E5143D04-8900-4457-BE49-945FECC57414}" dt="2026-10-14T07:13:57.250" v="307"/>
        <pc:sldMkLst>
          <pc:docMk/>
          <pc:sldMk cId="0" sldId="333"/>
        </pc:sldMkLst>
        <pc:spChg chg="mod">
          <ac:chgData name="Surya Chinta" userId="41ee6f01-053e-4268-a09b-364f54be2fbe" providerId="ADAL" clId="{E5143D04-8900-4457-BE49-945FECC57414}" dt="2026-10-13T03:27:27.458" v="167"/>
          <ac:spMkLst>
            <pc:docMk/>
            <pc:sldMk cId="0" sldId="333"/>
            <ac:spMk id="2" creationId="{00000000-0000-0000-0000-000000000000}"/>
          </ac:spMkLst>
        </pc:spChg>
        <pc:spChg chg="mod">
          <ac:chgData name="Surya Chinta" userId="41ee6f01-053e-4268-a09b-364f54be2fbe" providerId="ADAL" clId="{E5143D04-8900-4457-BE49-945FECC57414}" dt="2026-10-13T03:28:16.684" v="183" actId="6549"/>
          <ac:spMkLst>
            <pc:docMk/>
            <pc:sldMk cId="0" sldId="333"/>
            <ac:spMk id="4" creationId="{00000000-0000-0000-0000-000000000000}"/>
          </ac:spMkLst>
        </pc:spChg>
        <pc:spChg chg="mod">
          <ac:chgData name="Surya Chinta" userId="41ee6f01-053e-4268-a09b-364f54be2fbe" providerId="ADAL" clId="{E5143D04-8900-4457-BE49-945FECC57414}" dt="2026-10-13T03:27:37.291" v="168"/>
          <ac:spMkLst>
            <pc:docMk/>
            <pc:sldMk cId="0" sldId="333"/>
            <ac:spMk id="25" creationId="{00000000-0000-0000-0000-000000000000}"/>
          </ac:spMkLst>
        </pc:spChg>
        <pc:spChg chg="mod">
          <ac:chgData name="Surya Chinta" userId="41ee6f01-053e-4268-a09b-364f54be2fbe" providerId="ADAL" clId="{E5143D04-8900-4457-BE49-945FECC57414}" dt="2026-10-13T03:28:34.048" v="185"/>
          <ac:spMkLst>
            <pc:docMk/>
            <pc:sldMk cId="0" sldId="333"/>
            <ac:spMk id="29" creationId="{00000000-0000-0000-0000-000000000000}"/>
          </ac:spMkLst>
        </pc:spChg>
        <pc:spChg chg="mod">
          <ac:chgData name="Surya Chinta" userId="41ee6f01-053e-4268-a09b-364f54be2fbe" providerId="ADAL" clId="{E5143D04-8900-4457-BE49-945FECC57414}" dt="2026-10-13T03:27:39.764" v="169"/>
          <ac:spMkLst>
            <pc:docMk/>
            <pc:sldMk cId="0" sldId="333"/>
            <ac:spMk id="40" creationId="{00000000-0000-0000-0000-000000000000}"/>
          </ac:spMkLst>
        </pc:spChg>
        <pc:spChg chg="mod">
          <ac:chgData name="Surya Chinta" userId="41ee6f01-053e-4268-a09b-364f54be2fbe" providerId="ADAL" clId="{E5143D04-8900-4457-BE49-945FECC57414}" dt="2026-10-13T03:27:41.143" v="170"/>
          <ac:spMkLst>
            <pc:docMk/>
            <pc:sldMk cId="0" sldId="333"/>
            <ac:spMk id="55" creationId="{00000000-0000-0000-0000-000000000000}"/>
          </ac:spMkLst>
        </pc:spChg>
        <pc:spChg chg="mod">
          <ac:chgData name="Surya Chinta" userId="41ee6f01-053e-4268-a09b-364f54be2fbe" providerId="ADAL" clId="{E5143D04-8900-4457-BE49-945FECC57414}" dt="2026-10-13T03:27:43.215" v="171"/>
          <ac:spMkLst>
            <pc:docMk/>
            <pc:sldMk cId="0" sldId="333"/>
            <ac:spMk id="70" creationId="{00000000-0000-0000-0000-000000000000}"/>
          </ac:spMkLst>
        </pc:spChg>
        <pc:spChg chg="mod">
          <ac:chgData name="Surya Chinta" userId="41ee6f01-053e-4268-a09b-364f54be2fbe" providerId="ADAL" clId="{E5143D04-8900-4457-BE49-945FECC57414}" dt="2026-10-13T03:27:45.250" v="172"/>
          <ac:spMkLst>
            <pc:docMk/>
            <pc:sldMk cId="0" sldId="333"/>
            <ac:spMk id="85" creationId="{00000000-0000-0000-0000-000000000000}"/>
          </ac:spMkLst>
        </pc:spChg>
        <pc:spChg chg="mod">
          <ac:chgData name="Surya Chinta" userId="41ee6f01-053e-4268-a09b-364f54be2fbe" providerId="ADAL" clId="{E5143D04-8900-4457-BE49-945FECC57414}" dt="2026-10-13T03:27:59.123" v="177"/>
          <ac:spMkLst>
            <pc:docMk/>
            <pc:sldMk cId="0" sldId="333"/>
            <ac:spMk id="96" creationId="{00000000-0000-0000-0000-000000000000}"/>
          </ac:spMkLst>
        </pc:spChg>
      </pc:sldChg>
      <pc:sldChg chg="modSp ord modNotes modNotesTx">
        <pc:chgData name="Surya Chinta" userId="41ee6f01-053e-4268-a09b-364f54be2fbe" providerId="ADAL" clId="{E5143D04-8900-4457-BE49-945FECC57414}" dt="2026-10-13T12:22:32.091" v="298"/>
        <pc:sldMkLst>
          <pc:docMk/>
          <pc:sldMk cId="0" sldId="334"/>
        </pc:sldMkLst>
        <pc:spChg chg="mod">
          <ac:chgData name="Surya Chinta" userId="41ee6f01-053e-4268-a09b-364f54be2fbe" providerId="ADAL" clId="{E5143D04-8900-4457-BE49-945FECC57414}" dt="2026-10-13T03:34:13.524" v="202"/>
          <ac:spMkLst>
            <pc:docMk/>
            <pc:sldMk cId="0" sldId="334"/>
            <ac:spMk id="2" creationId="{00000000-0000-0000-0000-000000000000}"/>
          </ac:spMkLst>
        </pc:spChg>
        <pc:spChg chg="mod">
          <ac:chgData name="Surya Chinta" userId="41ee6f01-053e-4268-a09b-364f54be2fbe" providerId="ADAL" clId="{E5143D04-8900-4457-BE49-945FECC57414}" dt="2026-10-13T03:28:34.048" v="185"/>
          <ac:spMkLst>
            <pc:docMk/>
            <pc:sldMk cId="0" sldId="334"/>
            <ac:spMk id="3" creationId="{00000000-0000-0000-0000-000000000000}"/>
          </ac:spMkLst>
        </pc:spChg>
        <pc:spChg chg="mod">
          <ac:chgData name="Surya Chinta" userId="41ee6f01-053e-4268-a09b-364f54be2fbe" providerId="ADAL" clId="{E5143D04-8900-4457-BE49-945FECC57414}" dt="2026-10-13T03:28:34.048" v="185"/>
          <ac:spMkLst>
            <pc:docMk/>
            <pc:sldMk cId="0" sldId="334"/>
            <ac:spMk id="4" creationId="{00000000-0000-0000-0000-000000000000}"/>
          </ac:spMkLst>
        </pc:spChg>
        <pc:spChg chg="mod">
          <ac:chgData name="Surya Chinta" userId="41ee6f01-053e-4268-a09b-364f54be2fbe" providerId="ADAL" clId="{E5143D04-8900-4457-BE49-945FECC57414}" dt="2026-10-13T03:28:34.048" v="185"/>
          <ac:spMkLst>
            <pc:docMk/>
            <pc:sldMk cId="0" sldId="334"/>
            <ac:spMk id="20" creationId="{00000000-0000-0000-0000-000000000000}"/>
          </ac:spMkLst>
        </pc:spChg>
        <pc:spChg chg="mod">
          <ac:chgData name="Surya Chinta" userId="41ee6f01-053e-4268-a09b-364f54be2fbe" providerId="ADAL" clId="{E5143D04-8900-4457-BE49-945FECC57414}" dt="2026-10-13T03:30:46.884" v="191"/>
          <ac:spMkLst>
            <pc:docMk/>
            <pc:sldMk cId="0" sldId="334"/>
            <ac:spMk id="25" creationId="{00000000-0000-0000-0000-000000000000}"/>
          </ac:spMkLst>
        </pc:spChg>
        <pc:spChg chg="mod">
          <ac:chgData name="Surya Chinta" userId="41ee6f01-053e-4268-a09b-364f54be2fbe" providerId="ADAL" clId="{E5143D04-8900-4457-BE49-945FECC57414}" dt="2026-10-13T03:28:34.048" v="185"/>
          <ac:spMkLst>
            <pc:docMk/>
            <pc:sldMk cId="0" sldId="334"/>
            <ac:spMk id="30" creationId="{00000000-0000-0000-0000-000000000000}"/>
          </ac:spMkLst>
        </pc:spChg>
        <pc:spChg chg="mod">
          <ac:chgData name="Surya Chinta" userId="41ee6f01-053e-4268-a09b-364f54be2fbe" providerId="ADAL" clId="{E5143D04-8900-4457-BE49-945FECC57414}" dt="2026-10-13T03:28:34.048" v="185"/>
          <ac:spMkLst>
            <pc:docMk/>
            <pc:sldMk cId="0" sldId="334"/>
            <ac:spMk id="37" creationId="{00000000-0000-0000-0000-000000000000}"/>
          </ac:spMkLst>
        </pc:spChg>
        <pc:spChg chg="mod">
          <ac:chgData name="Surya Chinta" userId="41ee6f01-053e-4268-a09b-364f54be2fbe" providerId="ADAL" clId="{E5143D04-8900-4457-BE49-945FECC57414}" dt="2026-10-13T03:28:34.048" v="185"/>
          <ac:spMkLst>
            <pc:docMk/>
            <pc:sldMk cId="0" sldId="334"/>
            <ac:spMk id="51" creationId="{00000000-0000-0000-0000-000000000000}"/>
          </ac:spMkLst>
        </pc:spChg>
        <pc:spChg chg="mod">
          <ac:chgData name="Surya Chinta" userId="41ee6f01-053e-4268-a09b-364f54be2fbe" providerId="ADAL" clId="{E5143D04-8900-4457-BE49-945FECC57414}" dt="2026-10-13T03:28:34.048" v="185"/>
          <ac:spMkLst>
            <pc:docMk/>
            <pc:sldMk cId="0" sldId="334"/>
            <ac:spMk id="64" creationId="{00000000-0000-0000-0000-000000000000}"/>
          </ac:spMkLst>
        </pc:spChg>
        <pc:spChg chg="mod">
          <ac:chgData name="Surya Chinta" userId="41ee6f01-053e-4268-a09b-364f54be2fbe" providerId="ADAL" clId="{E5143D04-8900-4457-BE49-945FECC57414}" dt="2026-10-13T03:28:34.048" v="185"/>
          <ac:spMkLst>
            <pc:docMk/>
            <pc:sldMk cId="0" sldId="334"/>
            <ac:spMk id="73" creationId="{00000000-0000-0000-0000-000000000000}"/>
          </ac:spMkLst>
        </pc:spChg>
      </pc:sldChg>
      <pc:sldChg chg="modSp del mod modNotes">
        <pc:chgData name="Surya Chinta" userId="41ee6f01-053e-4268-a09b-364f54be2fbe" providerId="ADAL" clId="{E5143D04-8900-4457-BE49-945FECC57414}" dt="2026-10-13T03:44:33.827" v="216" actId="47"/>
        <pc:sldMkLst>
          <pc:docMk/>
          <pc:sldMk cId="0" sldId="335"/>
        </pc:sldMkLst>
        <pc:spChg chg="mod">
          <ac:chgData name="Surya Chinta" userId="41ee6f01-053e-4268-a09b-364f54be2fbe" providerId="ADAL" clId="{E5143D04-8900-4457-BE49-945FECC57414}" dt="2026-10-13T03:34:23.697" v="203"/>
          <ac:spMkLst>
            <pc:docMk/>
            <pc:sldMk cId="0" sldId="335"/>
            <ac:spMk id="2" creationId="{00000000-0000-0000-0000-000000000000}"/>
          </ac:spMkLst>
        </pc:spChg>
        <pc:spChg chg="mod">
          <ac:chgData name="Surya Chinta" userId="41ee6f01-053e-4268-a09b-364f54be2fbe" providerId="ADAL" clId="{E5143D04-8900-4457-BE49-945FECC57414}" dt="2026-10-13T03:34:36.102" v="206"/>
          <ac:spMkLst>
            <pc:docMk/>
            <pc:sldMk cId="0" sldId="335"/>
            <ac:spMk id="3" creationId="{00000000-0000-0000-0000-000000000000}"/>
          </ac:spMkLst>
        </pc:spChg>
        <pc:spChg chg="mod">
          <ac:chgData name="Surya Chinta" userId="41ee6f01-053e-4268-a09b-364f54be2fbe" providerId="ADAL" clId="{E5143D04-8900-4457-BE49-945FECC57414}" dt="2026-10-13T03:34:51.317" v="207"/>
          <ac:spMkLst>
            <pc:docMk/>
            <pc:sldMk cId="0" sldId="335"/>
            <ac:spMk id="33" creationId="{00000000-0000-0000-0000-000000000000}"/>
          </ac:spMkLst>
        </pc:spChg>
      </pc:sldChg>
      <pc:sldChg chg="modSp mod modNotes modNotesTx">
        <pc:chgData name="Surya Chinta" userId="41ee6f01-053e-4268-a09b-364f54be2fbe" providerId="ADAL" clId="{E5143D04-8900-4457-BE49-945FECC57414}" dt="2026-10-13T04:22:34.933" v="255" actId="6549"/>
        <pc:sldMkLst>
          <pc:docMk/>
          <pc:sldMk cId="0" sldId="339"/>
        </pc:sldMkLst>
        <pc:spChg chg="mod">
          <ac:chgData name="Surya Chinta" userId="41ee6f01-053e-4268-a09b-364f54be2fbe" providerId="ADAL" clId="{E5143D04-8900-4457-BE49-945FECC57414}" dt="2026-10-13T03:35:26.985" v="208"/>
          <ac:spMkLst>
            <pc:docMk/>
            <pc:sldMk cId="0" sldId="339"/>
            <ac:spMk id="2" creationId="{00000000-0000-0000-0000-000000000000}"/>
          </ac:spMkLst>
        </pc:spChg>
        <pc:spChg chg="mod">
          <ac:chgData name="Surya Chinta" userId="41ee6f01-053e-4268-a09b-364f54be2fbe" providerId="ADAL" clId="{E5143D04-8900-4457-BE49-945FECC57414}" dt="2026-10-13T03:31:47.056" v="193"/>
          <ac:spMkLst>
            <pc:docMk/>
            <pc:sldMk cId="0" sldId="339"/>
            <ac:spMk id="26" creationId="{00000000-0000-0000-0000-000000000000}"/>
          </ac:spMkLst>
        </pc:spChg>
        <pc:spChg chg="mod">
          <ac:chgData name="Surya Chinta" userId="41ee6f01-053e-4268-a09b-364f54be2fbe" providerId="ADAL" clId="{E5143D04-8900-4457-BE49-945FECC57414}" dt="2026-10-13T03:31:41.142" v="192"/>
          <ac:spMkLst>
            <pc:docMk/>
            <pc:sldMk cId="0" sldId="339"/>
            <ac:spMk id="27" creationId="{00000000-0000-0000-0000-000000000000}"/>
          </ac:spMkLst>
        </pc:spChg>
        <pc:spChg chg="mod">
          <ac:chgData name="Surya Chinta" userId="41ee6f01-053e-4268-a09b-364f54be2fbe" providerId="ADAL" clId="{E5143D04-8900-4457-BE49-945FECC57414}" dt="2026-10-13T03:31:57.525" v="195"/>
          <ac:spMkLst>
            <pc:docMk/>
            <pc:sldMk cId="0" sldId="339"/>
            <ac:spMk id="32" creationId="{00000000-0000-0000-0000-000000000000}"/>
          </ac:spMkLst>
        </pc:spChg>
        <pc:spChg chg="mod">
          <ac:chgData name="Surya Chinta" userId="41ee6f01-053e-4268-a09b-364f54be2fbe" providerId="ADAL" clId="{E5143D04-8900-4457-BE49-945FECC57414}" dt="2026-10-13T03:32:04.546" v="196"/>
          <ac:spMkLst>
            <pc:docMk/>
            <pc:sldMk cId="0" sldId="339"/>
            <ac:spMk id="33" creationId="{00000000-0000-0000-0000-000000000000}"/>
          </ac:spMkLst>
        </pc:spChg>
      </pc:sldChg>
      <pc:sldChg chg="modSp">
        <pc:chgData name="Surya Chinta" userId="41ee6f01-053e-4268-a09b-364f54be2fbe" providerId="ADAL" clId="{E5143D04-8900-4457-BE49-945FECC57414}" dt="2026-10-13T03:35:36.466" v="209"/>
        <pc:sldMkLst>
          <pc:docMk/>
          <pc:sldMk cId="0" sldId="340"/>
        </pc:sldMkLst>
        <pc:spChg chg="mod">
          <ac:chgData name="Surya Chinta" userId="41ee6f01-053e-4268-a09b-364f54be2fbe" providerId="ADAL" clId="{E5143D04-8900-4457-BE49-945FECC57414}" dt="2026-10-13T03:35:36.466" v="209"/>
          <ac:spMkLst>
            <pc:docMk/>
            <pc:sldMk cId="0" sldId="340"/>
            <ac:spMk id="2" creationId="{00000000-0000-0000-0000-000000000000}"/>
          </ac:spMkLst>
        </pc:spChg>
        <pc:spChg chg="mod">
          <ac:chgData name="Surya Chinta" userId="41ee6f01-053e-4268-a09b-364f54be2fbe" providerId="ADAL" clId="{E5143D04-8900-4457-BE49-945FECC57414}" dt="2026-10-13T03:28:34.048" v="185"/>
          <ac:spMkLst>
            <pc:docMk/>
            <pc:sldMk cId="0" sldId="340"/>
            <ac:spMk id="4" creationId="{00000000-0000-0000-0000-000000000000}"/>
          </ac:spMkLst>
        </pc:spChg>
        <pc:spChg chg="mod">
          <ac:chgData name="Surya Chinta" userId="41ee6f01-053e-4268-a09b-364f54be2fbe" providerId="ADAL" clId="{E5143D04-8900-4457-BE49-945FECC57414}" dt="2026-10-13T03:28:34.048" v="185"/>
          <ac:spMkLst>
            <pc:docMk/>
            <pc:sldMk cId="0" sldId="340"/>
            <ac:spMk id="26" creationId="{00000000-0000-0000-0000-000000000000}"/>
          </ac:spMkLst>
        </pc:spChg>
        <pc:spChg chg="mod">
          <ac:chgData name="Surya Chinta" userId="41ee6f01-053e-4268-a09b-364f54be2fbe" providerId="ADAL" clId="{E5143D04-8900-4457-BE49-945FECC57414}" dt="2026-10-13T03:28:34.048" v="185"/>
          <ac:spMkLst>
            <pc:docMk/>
            <pc:sldMk cId="0" sldId="340"/>
            <ac:spMk id="88" creationId="{00000000-0000-0000-0000-000000000000}"/>
          </ac:spMkLst>
        </pc:spChg>
      </pc:sldChg>
      <pc:sldChg chg="add modNotesTx">
        <pc:chgData name="Surya Chinta" userId="41ee6f01-053e-4268-a09b-364f54be2fbe" providerId="ADAL" clId="{E5143D04-8900-4457-BE49-945FECC57414}" dt="2026-10-13T04:22:29.093" v="253" actId="6549"/>
        <pc:sldMkLst>
          <pc:docMk/>
          <pc:sldMk cId="2669657146" sldId="341"/>
        </pc:sldMkLst>
      </pc:sldChg>
      <pc:sldChg chg="add del">
        <pc:chgData name="Surya Chinta" userId="41ee6f01-053e-4268-a09b-364f54be2fbe" providerId="ADAL" clId="{E5143D04-8900-4457-BE49-945FECC57414}" dt="2026-10-13T03:44:16.334" v="213"/>
        <pc:sldMkLst>
          <pc:docMk/>
          <pc:sldMk cId="2818508910" sldId="341"/>
        </pc:sldMkLst>
      </pc:sldChg>
      <pc:sldChg chg="add del">
        <pc:chgData name="Surya Chinta" userId="41ee6f01-053e-4268-a09b-364f54be2fbe" providerId="ADAL" clId="{E5143D04-8900-4457-BE49-945FECC57414}" dt="2026-10-13T03:44:14.885" v="212"/>
        <pc:sldMkLst>
          <pc:docMk/>
          <pc:sldMk cId="3003088139" sldId="342"/>
        </pc:sldMkLst>
      </pc:sldChg>
      <pc:sldChg chg="add modNotesTx">
        <pc:chgData name="Surya Chinta" userId="41ee6f01-053e-4268-a09b-364f54be2fbe" providerId="ADAL" clId="{E5143D04-8900-4457-BE49-945FECC57414}" dt="2026-10-13T04:22:32.289" v="254" actId="6549"/>
        <pc:sldMkLst>
          <pc:docMk/>
          <pc:sldMk cId="3993354396" sldId="342"/>
        </pc:sldMkLst>
      </pc:sldChg>
      <pc:sldChg chg="new del">
        <pc:chgData name="Surya Chinta" userId="41ee6f01-053e-4268-a09b-364f54be2fbe" providerId="ADAL" clId="{E5143D04-8900-4457-BE49-945FECC57414}" dt="2026-10-13T04:11:46.664" v="218" actId="47"/>
        <pc:sldMkLst>
          <pc:docMk/>
          <pc:sldMk cId="737576513" sldId="343"/>
        </pc:sldMkLst>
      </pc:sldChg>
      <pc:sldChg chg="add del ord">
        <pc:chgData name="Surya Chinta" userId="41ee6f01-053e-4268-a09b-364f54be2fbe" providerId="ADAL" clId="{E5143D04-8900-4457-BE49-945FECC57414}" dt="2026-10-13T12:06:18.032" v="295" actId="47"/>
        <pc:sldMkLst>
          <pc:docMk/>
          <pc:sldMk cId="3339790584" sldId="343"/>
        </pc:sldMkLst>
      </pc:sldChg>
      <pc:sldChg chg="addSp delSp modSp add del mod">
        <pc:chgData name="Surya Chinta" userId="41ee6f01-053e-4268-a09b-364f54be2fbe" providerId="ADAL" clId="{E5143D04-8900-4457-BE49-945FECC57414}" dt="2026-10-13T04:15:22.525" v="238" actId="47"/>
        <pc:sldMkLst>
          <pc:docMk/>
          <pc:sldMk cId="3892843266" sldId="343"/>
        </pc:sldMkLst>
        <pc:spChg chg="mod">
          <ac:chgData name="Surya Chinta" userId="41ee6f01-053e-4268-a09b-364f54be2fbe" providerId="ADAL" clId="{E5143D04-8900-4457-BE49-945FECC57414}" dt="2026-10-13T04:12:55.407" v="230" actId="20577"/>
          <ac:spMkLst>
            <pc:docMk/>
            <pc:sldMk cId="3892843266" sldId="343"/>
            <ac:spMk id="2" creationId="{E0CE59E0-75BE-9435-6D4B-10DDEFDBC63E}"/>
          </ac:spMkLst>
        </pc:spChg>
        <pc:spChg chg="mod">
          <ac:chgData name="Surya Chinta" userId="41ee6f01-053e-4268-a09b-364f54be2fbe" providerId="ADAL" clId="{E5143D04-8900-4457-BE49-945FECC57414}" dt="2026-10-13T04:12:20.340" v="223" actId="207"/>
          <ac:spMkLst>
            <pc:docMk/>
            <pc:sldMk cId="3892843266" sldId="343"/>
            <ac:spMk id="3" creationId="{599C01BF-5D22-1106-AD67-6E63C9DE218F}"/>
          </ac:spMkLst>
        </pc:spChg>
        <pc:spChg chg="del">
          <ac:chgData name="Surya Chinta" userId="41ee6f01-053e-4268-a09b-364f54be2fbe" providerId="ADAL" clId="{E5143D04-8900-4457-BE49-945FECC57414}" dt="2026-10-13T04:12:00.043" v="220" actId="478"/>
          <ac:spMkLst>
            <pc:docMk/>
            <pc:sldMk cId="3892843266" sldId="343"/>
            <ac:spMk id="31" creationId="{8E183A8A-0725-6582-1943-F79D6A7046D1}"/>
          </ac:spMkLst>
        </pc:spChg>
        <pc:spChg chg="del">
          <ac:chgData name="Surya Chinta" userId="41ee6f01-053e-4268-a09b-364f54be2fbe" providerId="ADAL" clId="{E5143D04-8900-4457-BE49-945FECC57414}" dt="2026-10-13T04:12:00.043" v="220" actId="478"/>
          <ac:spMkLst>
            <pc:docMk/>
            <pc:sldMk cId="3892843266" sldId="343"/>
            <ac:spMk id="38" creationId="{63425C44-364C-C4B7-A2FC-0854385A8062}"/>
          </ac:spMkLst>
        </pc:spChg>
        <pc:spChg chg="del">
          <ac:chgData name="Surya Chinta" userId="41ee6f01-053e-4268-a09b-364f54be2fbe" providerId="ADAL" clId="{E5143D04-8900-4457-BE49-945FECC57414}" dt="2026-10-13T04:12:00.043" v="220" actId="478"/>
          <ac:spMkLst>
            <pc:docMk/>
            <pc:sldMk cId="3892843266" sldId="343"/>
            <ac:spMk id="41" creationId="{71DBD3F2-32CF-76F9-CBED-FD96AAC9137F}"/>
          </ac:spMkLst>
        </pc:spChg>
        <pc:spChg chg="del">
          <ac:chgData name="Surya Chinta" userId="41ee6f01-053e-4268-a09b-364f54be2fbe" providerId="ADAL" clId="{E5143D04-8900-4457-BE49-945FECC57414}" dt="2026-10-13T04:12:00.043" v="220" actId="478"/>
          <ac:spMkLst>
            <pc:docMk/>
            <pc:sldMk cId="3892843266" sldId="343"/>
            <ac:spMk id="46" creationId="{B0C810E7-5B23-8DF3-BF67-17B8277548AC}"/>
          </ac:spMkLst>
        </pc:spChg>
        <pc:spChg chg="del">
          <ac:chgData name="Surya Chinta" userId="41ee6f01-053e-4268-a09b-364f54be2fbe" providerId="ADAL" clId="{E5143D04-8900-4457-BE49-945FECC57414}" dt="2026-10-13T04:12:00.043" v="220" actId="478"/>
          <ac:spMkLst>
            <pc:docMk/>
            <pc:sldMk cId="3892843266" sldId="343"/>
            <ac:spMk id="53" creationId="{A2C8178C-C2E9-A652-8894-2357F0135A01}"/>
          </ac:spMkLst>
        </pc:spChg>
        <pc:spChg chg="del">
          <ac:chgData name="Surya Chinta" userId="41ee6f01-053e-4268-a09b-364f54be2fbe" providerId="ADAL" clId="{E5143D04-8900-4457-BE49-945FECC57414}" dt="2026-10-13T04:12:00.043" v="220" actId="478"/>
          <ac:spMkLst>
            <pc:docMk/>
            <pc:sldMk cId="3892843266" sldId="343"/>
            <ac:spMk id="55" creationId="{BA83F133-902C-1573-908A-16E49462339D}"/>
          </ac:spMkLst>
        </pc:spChg>
        <pc:spChg chg="del">
          <ac:chgData name="Surya Chinta" userId="41ee6f01-053e-4268-a09b-364f54be2fbe" providerId="ADAL" clId="{E5143D04-8900-4457-BE49-945FECC57414}" dt="2026-10-13T04:12:00.043" v="220" actId="478"/>
          <ac:spMkLst>
            <pc:docMk/>
            <pc:sldMk cId="3892843266" sldId="343"/>
            <ac:spMk id="68" creationId="{E0D90BEE-2932-970B-A7EE-EFEC78067453}"/>
          </ac:spMkLst>
        </pc:spChg>
        <pc:spChg chg="del">
          <ac:chgData name="Surya Chinta" userId="41ee6f01-053e-4268-a09b-364f54be2fbe" providerId="ADAL" clId="{E5143D04-8900-4457-BE49-945FECC57414}" dt="2026-10-13T04:12:00.043" v="220" actId="478"/>
          <ac:spMkLst>
            <pc:docMk/>
            <pc:sldMk cId="3892843266" sldId="343"/>
            <ac:spMk id="85" creationId="{AEE79047-C152-0D59-62D1-583DF2B29C2A}"/>
          </ac:spMkLst>
        </pc:spChg>
        <pc:spChg chg="del">
          <ac:chgData name="Surya Chinta" userId="41ee6f01-053e-4268-a09b-364f54be2fbe" providerId="ADAL" clId="{E5143D04-8900-4457-BE49-945FECC57414}" dt="2026-10-13T04:12:00.043" v="220" actId="478"/>
          <ac:spMkLst>
            <pc:docMk/>
            <pc:sldMk cId="3892843266" sldId="343"/>
            <ac:spMk id="91" creationId="{8D978C35-A29B-AAE8-BBD6-E44A4FC5102C}"/>
          </ac:spMkLst>
        </pc:spChg>
        <pc:spChg chg="del">
          <ac:chgData name="Surya Chinta" userId="41ee6f01-053e-4268-a09b-364f54be2fbe" providerId="ADAL" clId="{E5143D04-8900-4457-BE49-945FECC57414}" dt="2026-10-13T04:12:00.043" v="220" actId="478"/>
          <ac:spMkLst>
            <pc:docMk/>
            <pc:sldMk cId="3892843266" sldId="343"/>
            <ac:spMk id="99" creationId="{CA3C0FEA-71D2-2AA4-08CC-E641AF679B3B}"/>
          </ac:spMkLst>
        </pc:spChg>
        <pc:spChg chg="del">
          <ac:chgData name="Surya Chinta" userId="41ee6f01-053e-4268-a09b-364f54be2fbe" providerId="ADAL" clId="{E5143D04-8900-4457-BE49-945FECC57414}" dt="2026-10-13T04:12:01.841" v="221" actId="478"/>
          <ac:spMkLst>
            <pc:docMk/>
            <pc:sldMk cId="3892843266" sldId="343"/>
            <ac:spMk id="108" creationId="{E15381FE-68C1-22AF-4D5D-EDB6C331AF52}"/>
          </ac:spMkLst>
        </pc:spChg>
        <pc:spChg chg="add mod">
          <ac:chgData name="Surya Chinta" userId="41ee6f01-053e-4268-a09b-364f54be2fbe" providerId="ADAL" clId="{E5143D04-8900-4457-BE49-945FECC57414}" dt="2026-10-13T04:13:09.951" v="232" actId="1076"/>
          <ac:spMkLst>
            <pc:docMk/>
            <pc:sldMk cId="3892843266" sldId="343"/>
            <ac:spMk id="118" creationId="{4AF22FC1-5D27-8A16-A53B-FCB9926D906B}"/>
          </ac:spMkLst>
        </pc:spChg>
        <pc:spChg chg="add mod">
          <ac:chgData name="Surya Chinta" userId="41ee6f01-053e-4268-a09b-364f54be2fbe" providerId="ADAL" clId="{E5143D04-8900-4457-BE49-945FECC57414}" dt="2026-10-13T04:13:09.951" v="232" actId="1076"/>
          <ac:spMkLst>
            <pc:docMk/>
            <pc:sldMk cId="3892843266" sldId="343"/>
            <ac:spMk id="132" creationId="{466E524F-AB36-8918-1BE9-480623BB13C2}"/>
          </ac:spMkLst>
        </pc:spChg>
        <pc:spChg chg="add mod">
          <ac:chgData name="Surya Chinta" userId="41ee6f01-053e-4268-a09b-364f54be2fbe" providerId="ADAL" clId="{E5143D04-8900-4457-BE49-945FECC57414}" dt="2026-10-13T04:13:09.951" v="232" actId="1076"/>
          <ac:spMkLst>
            <pc:docMk/>
            <pc:sldMk cId="3892843266" sldId="343"/>
            <ac:spMk id="144" creationId="{EC556DE5-EC56-A467-97D2-D3368DFD65A4}"/>
          </ac:spMkLst>
        </pc:spChg>
        <pc:spChg chg="add mod">
          <ac:chgData name="Surya Chinta" userId="41ee6f01-053e-4268-a09b-364f54be2fbe" providerId="ADAL" clId="{E5143D04-8900-4457-BE49-945FECC57414}" dt="2026-10-13T04:13:09.951" v="232" actId="1076"/>
          <ac:spMkLst>
            <pc:docMk/>
            <pc:sldMk cId="3892843266" sldId="343"/>
            <ac:spMk id="170" creationId="{C5A72FE7-385F-9BB7-3B04-934C4FA758EE}"/>
          </ac:spMkLst>
        </pc:spChg>
        <pc:spChg chg="add mod">
          <ac:chgData name="Surya Chinta" userId="41ee6f01-053e-4268-a09b-364f54be2fbe" providerId="ADAL" clId="{E5143D04-8900-4457-BE49-945FECC57414}" dt="2026-10-13T04:13:09.951" v="232" actId="1076"/>
          <ac:spMkLst>
            <pc:docMk/>
            <pc:sldMk cId="3892843266" sldId="343"/>
            <ac:spMk id="172" creationId="{05B8221B-335C-34EE-460A-A86A4D248370}"/>
          </ac:spMkLst>
        </pc:spChg>
        <pc:spChg chg="add mod">
          <ac:chgData name="Surya Chinta" userId="41ee6f01-053e-4268-a09b-364f54be2fbe" providerId="ADAL" clId="{E5143D04-8900-4457-BE49-945FECC57414}" dt="2026-10-13T04:13:09.951" v="232" actId="1076"/>
          <ac:spMkLst>
            <pc:docMk/>
            <pc:sldMk cId="3892843266" sldId="343"/>
            <ac:spMk id="184" creationId="{202324D7-D099-6EEC-8176-12A508DA3E6B}"/>
          </ac:spMkLst>
        </pc:spChg>
        <pc:spChg chg="add mod">
          <ac:chgData name="Surya Chinta" userId="41ee6f01-053e-4268-a09b-364f54be2fbe" providerId="ADAL" clId="{E5143D04-8900-4457-BE49-945FECC57414}" dt="2026-10-13T04:13:09.951" v="232" actId="1076"/>
          <ac:spMkLst>
            <pc:docMk/>
            <pc:sldMk cId="3892843266" sldId="343"/>
            <ac:spMk id="188" creationId="{3693C6B7-C548-4D11-7D35-47285A407E03}"/>
          </ac:spMkLst>
        </pc:spChg>
        <pc:spChg chg="add mod">
          <ac:chgData name="Surya Chinta" userId="41ee6f01-053e-4268-a09b-364f54be2fbe" providerId="ADAL" clId="{E5143D04-8900-4457-BE49-945FECC57414}" dt="2026-10-13T04:13:09.951" v="232" actId="1076"/>
          <ac:spMkLst>
            <pc:docMk/>
            <pc:sldMk cId="3892843266" sldId="343"/>
            <ac:spMk id="190" creationId="{2128F82A-1AD6-0D43-8F62-A5BE8EB2BA93}"/>
          </ac:spMkLst>
        </pc:spChg>
        <pc:spChg chg="add mod">
          <ac:chgData name="Surya Chinta" userId="41ee6f01-053e-4268-a09b-364f54be2fbe" providerId="ADAL" clId="{E5143D04-8900-4457-BE49-945FECC57414}" dt="2026-10-13T04:13:09.951" v="232" actId="1076"/>
          <ac:spMkLst>
            <pc:docMk/>
            <pc:sldMk cId="3892843266" sldId="343"/>
            <ac:spMk id="192" creationId="{02DFBC2B-0868-6FA4-976D-CD8070FA3135}"/>
          </ac:spMkLst>
        </pc:spChg>
        <pc:spChg chg="add mod">
          <ac:chgData name="Surya Chinta" userId="41ee6f01-053e-4268-a09b-364f54be2fbe" providerId="ADAL" clId="{E5143D04-8900-4457-BE49-945FECC57414}" dt="2026-10-13T04:13:09.951" v="232" actId="1076"/>
          <ac:spMkLst>
            <pc:docMk/>
            <pc:sldMk cId="3892843266" sldId="343"/>
            <ac:spMk id="196" creationId="{56F795E0-33B3-64D3-5797-AE87CDE66C3C}"/>
          </ac:spMkLst>
        </pc:spChg>
      </pc:sldChg>
      <pc:sldChg chg="add ord modNotesTx">
        <pc:chgData name="Surya Chinta" userId="41ee6f01-053e-4268-a09b-364f54be2fbe" providerId="ADAL" clId="{E5143D04-8900-4457-BE49-945FECC57414}" dt="2026-10-13T11:51:43.874" v="285"/>
        <pc:sldMkLst>
          <pc:docMk/>
          <pc:sldMk cId="3269789473" sldId="344"/>
        </pc:sldMkLst>
      </pc:sldChg>
      <pc:sldChg chg="add del setBg">
        <pc:chgData name="Surya Chinta" userId="41ee6f01-053e-4268-a09b-364f54be2fbe" providerId="ADAL" clId="{E5143D04-8900-4457-BE49-945FECC57414}" dt="2026-10-13T04:15:16.367" v="234"/>
        <pc:sldMkLst>
          <pc:docMk/>
          <pc:sldMk cId="3998421934" sldId="344"/>
        </pc:sldMkLst>
      </pc:sldChg>
      <pc:sldChg chg="add ord">
        <pc:chgData name="Surya Chinta" userId="41ee6f01-053e-4268-a09b-364f54be2fbe" providerId="ADAL" clId="{E5143D04-8900-4457-BE49-945FECC57414}" dt="2026-10-13T11:51:39.320" v="283"/>
        <pc:sldMkLst>
          <pc:docMk/>
          <pc:sldMk cId="2510581986" sldId="345"/>
        </pc:sldMkLst>
      </pc:sldChg>
      <pc:sldChg chg="add del setBg">
        <pc:chgData name="Surya Chinta" userId="41ee6f01-053e-4268-a09b-364f54be2fbe" providerId="ADAL" clId="{E5143D04-8900-4457-BE49-945FECC57414}" dt="2026-10-13T11:12:46.491" v="267"/>
        <pc:sldMkLst>
          <pc:docMk/>
          <pc:sldMk cId="2168820613" sldId="346"/>
        </pc:sldMkLst>
      </pc:sldChg>
      <pc:sldChg chg="addSp delSp modSp add mod ord">
        <pc:chgData name="Surya Chinta" userId="41ee6f01-053e-4268-a09b-364f54be2fbe" providerId="ADAL" clId="{E5143D04-8900-4457-BE49-945FECC57414}" dt="2026-10-14T07:13:17.527" v="305"/>
        <pc:sldMkLst>
          <pc:docMk/>
          <pc:sldMk cId="3951767496" sldId="346"/>
        </pc:sldMkLst>
        <pc:spChg chg="add del mod">
          <ac:chgData name="Surya Chinta" userId="41ee6f01-053e-4268-a09b-364f54be2fbe" providerId="ADAL" clId="{E5143D04-8900-4457-BE49-945FECC57414}" dt="2026-10-13T11:13:14.607" v="272"/>
          <ac:spMkLst>
            <pc:docMk/>
            <pc:sldMk cId="3951767496" sldId="346"/>
            <ac:spMk id="79" creationId="{F2B1CF47-0C8F-0E49-D014-4F94A5BE112F}"/>
          </ac:spMkLst>
        </pc:spChg>
        <pc:spChg chg="add del mod">
          <ac:chgData name="Surya Chinta" userId="41ee6f01-053e-4268-a09b-364f54be2fbe" providerId="ADAL" clId="{E5143D04-8900-4457-BE49-945FECC57414}" dt="2026-10-13T11:13:16.074" v="275"/>
          <ac:spMkLst>
            <pc:docMk/>
            <pc:sldMk cId="3951767496" sldId="346"/>
            <ac:spMk id="80" creationId="{7FEC237C-6384-FF6A-D5A3-C979EE5C2DAC}"/>
          </ac:spMkLst>
        </pc:spChg>
      </pc:sldChg>
      <pc:sldChg chg="add ord">
        <pc:chgData name="Surya Chinta" userId="41ee6f01-053e-4268-a09b-364f54be2fbe" providerId="ADAL" clId="{E5143D04-8900-4457-BE49-945FECC57414}" dt="2026-10-13T11:27:13.592" v="281"/>
        <pc:sldMkLst>
          <pc:docMk/>
          <pc:sldMk cId="2660977724" sldId="347"/>
        </pc:sldMkLst>
      </pc:sldChg>
      <pc:sldChg chg="add ord">
        <pc:chgData name="Surya Chinta" userId="41ee6f01-053e-4268-a09b-364f54be2fbe" providerId="ADAL" clId="{E5143D04-8900-4457-BE49-945FECC57414}" dt="2026-10-13T11:55:14.336" v="291"/>
        <pc:sldMkLst>
          <pc:docMk/>
          <pc:sldMk cId="2127672974" sldId="348"/>
        </pc:sldMkLst>
      </pc:sldChg>
      <pc:sldChg chg="add ord">
        <pc:chgData name="Surya Chinta" userId="41ee6f01-053e-4268-a09b-364f54be2fbe" providerId="ADAL" clId="{E5143D04-8900-4457-BE49-945FECC57414}" dt="2026-10-13T11:55:14.336" v="291"/>
        <pc:sldMkLst>
          <pc:docMk/>
          <pc:sldMk cId="1731863554" sldId="349"/>
        </pc:sldMkLst>
      </pc:sldChg>
      <pc:sldChg chg="add ord">
        <pc:chgData name="Surya Chinta" userId="41ee6f01-053e-4268-a09b-364f54be2fbe" providerId="ADAL" clId="{E5143D04-8900-4457-BE49-945FECC57414}" dt="2026-10-13T11:55:14.336" v="291"/>
        <pc:sldMkLst>
          <pc:docMk/>
          <pc:sldMk cId="1526011613" sldId="350"/>
        </pc:sldMkLst>
      </pc:sldChg>
      <pc:sldChg chg="add ord">
        <pc:chgData name="Surya Chinta" userId="41ee6f01-053e-4268-a09b-364f54be2fbe" providerId="ADAL" clId="{E5143D04-8900-4457-BE49-945FECC57414}" dt="2026-10-13T11:55:14.336" v="291"/>
        <pc:sldMkLst>
          <pc:docMk/>
          <pc:sldMk cId="2543986423" sldId="351"/>
        </pc:sldMkLst>
      </pc:sldChg>
      <pc:sldChg chg="add">
        <pc:chgData name="Surya Chinta" userId="41ee6f01-053e-4268-a09b-364f54be2fbe" providerId="ADAL" clId="{E5143D04-8900-4457-BE49-945FECC57414}" dt="2026-10-13T12:06:15.251" v="294"/>
        <pc:sldMkLst>
          <pc:docMk/>
          <pc:sldMk cId="279582318" sldId="352"/>
        </pc:sldMkLst>
      </pc:sldChg>
      <pc:sldChg chg="add del setBg">
        <pc:chgData name="Surya Chinta" userId="41ee6f01-053e-4268-a09b-364f54be2fbe" providerId="ADAL" clId="{E5143D04-8900-4457-BE49-945FECC57414}" dt="2026-10-13T12:06:11.921" v="293"/>
        <pc:sldMkLst>
          <pc:docMk/>
          <pc:sldMk cId="967238637" sldId="352"/>
        </pc:sldMkLst>
      </pc:sldChg>
      <pc:sldChg chg="add">
        <pc:chgData name="Surya Chinta" userId="41ee6f01-053e-4268-a09b-364f54be2fbe" providerId="ADAL" clId="{E5143D04-8900-4457-BE49-945FECC57414}" dt="2026-10-13T12:22:23.052" v="296"/>
        <pc:sldMkLst>
          <pc:docMk/>
          <pc:sldMk cId="815528859" sldId="353"/>
        </pc:sldMkLst>
      </pc:sldChg>
      <pc:sldChg chg="add">
        <pc:chgData name="Surya Chinta" userId="41ee6f01-053e-4268-a09b-364f54be2fbe" providerId="ADAL" clId="{E5143D04-8900-4457-BE49-945FECC57414}" dt="2026-10-14T07:13:00.409" v="303"/>
        <pc:sldMkLst>
          <pc:docMk/>
          <pc:sldMk cId="476873487" sldId="354"/>
        </pc:sldMkLst>
      </pc:sldChg>
      <pc:sldChg chg="add del setBg">
        <pc:chgData name="Surya Chinta" userId="41ee6f01-053e-4268-a09b-364f54be2fbe" providerId="ADAL" clId="{E5143D04-8900-4457-BE49-945FECC57414}" dt="2026-10-14T07:12:57.371" v="302"/>
        <pc:sldMkLst>
          <pc:docMk/>
          <pc:sldMk cId="3194574060" sldId="354"/>
        </pc:sldMkLst>
      </pc:sldChg>
      <pc:sldChg chg="add">
        <pc:chgData name="Surya Chinta" userId="41ee6f01-053e-4268-a09b-364f54be2fbe" providerId="ADAL" clId="{E5143D04-8900-4457-BE49-945FECC57414}" dt="2026-10-14T07:17:09.485" v="319"/>
        <pc:sldMkLst>
          <pc:docMk/>
          <pc:sldMk cId="2560747931" sldId="355"/>
        </pc:sldMkLst>
      </pc:sldChg>
    </pc:docChg>
  </pc:docChgLst>
  <pc:docChgLst>
    <pc:chgData name="Sandeep Kandiraju" userId="73c9edc8-56ca-4b73-b526-6c8c5936bb95" providerId="ADAL" clId="{72C2FB20-06DE-4857-9800-006CD8C248A1}"/>
    <pc:docChg chg="custSel modSld">
      <pc:chgData name="Sandeep Kandiraju" userId="73c9edc8-56ca-4b73-b526-6c8c5936bb95" providerId="ADAL" clId="{72C2FB20-06DE-4857-9800-006CD8C248A1}" dt="2026-10-13T08:50:07.235" v="0" actId="33524"/>
      <pc:docMkLst>
        <pc:docMk/>
      </pc:docMkLst>
      <pc:sldChg chg="modSp mod">
        <pc:chgData name="Sandeep Kandiraju" userId="73c9edc8-56ca-4b73-b526-6c8c5936bb95" providerId="ADAL" clId="{72C2FB20-06DE-4857-9800-006CD8C248A1}" dt="2026-10-13T08:50:07.235" v="0" actId="33524"/>
        <pc:sldMkLst>
          <pc:docMk/>
          <pc:sldMk cId="0" sldId="324"/>
        </pc:sldMkLst>
        <pc:spChg chg="mod">
          <ac:chgData name="Sandeep Kandiraju" userId="73c9edc8-56ca-4b73-b526-6c8c5936bb95" providerId="ADAL" clId="{72C2FB20-06DE-4857-9800-006CD8C248A1}" dt="2026-10-13T08:50:07.235" v="0" actId="33524"/>
          <ac:spMkLst>
            <pc:docMk/>
            <pc:sldMk cId="0" sldId="324"/>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Open: the same Agentic Harness now does two jobs. For Health Cloud it takes a Jira story to a tested, approved change. For Marketing Cloud it plans and prepares campaigns on governed Google Cloud data, where agents only ever see masked data and people release the right patients.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One agent team: seven delivery agents and seven campaign agents   (about 2 minutes)</a:t>
            </a:r>
          </a:p>
          <a:p/>
          <a:p>
            <a:r>
              <a:t>KEY MESSAGE</a:t>
            </a:r>
          </a:p>
          <a:p>
            <a:r>
              <a:t>The seven delivery agents are unchanged and serve every pod. Seven campaign agents are added for Marketing Cloud campaigns on governed Google Cloud data. They work on aggregated, masked data only; deterministic services, not agents, resolve identity, evaluate eligibility, enforce policy and release patient data. People approve at every gate.</a:t>
            </a:r>
          </a:p>
          <a:p/>
          <a:p>
            <a:r>
              <a:t>WALK IT</a:t>
            </a:r>
          </a:p>
          <a:p>
            <a:r>
              <a:t>- Left: what the agents read. The engineering sources (Jira, Confluence, Salesforce, Git, Copado, Drive) for every pod. For Marketing Cloud pods, governed Google Cloud data: Gold A aggregates and masked views only.</a:t>
            </a:r>
          </a:p>
          <a:p>
            <a:r>
              <a:t>- Middle: the seven delivery agents, then the seven campaign agents:</a:t>
            </a:r>
          </a:p>
          <a:p>
            <a:r>
              <a:t>  Orchestrator (coordinates analysis, approvals and execution), Campaign Strategist (campaign opportunities from Gold A), Audience Analytics (cohorts, overlap and reach as counts), Compliance Guardian (policy risk and evidence; cannot override policy), Campaign Design (platform-ready specs, journeys with Marketing Cloud's native automation), Activation Readiness (tests on test contacts, readiness without raw PHI), Measurement (aggregated outcomes, forecasts, ROI).</a:t>
            </a:r>
          </a:p>
          <a:p>
            <a:r>
              <a:t>- Right: what changes per pod. Health Cloud pods use the delivery agents; Marketing Cloud pods use the delivery and the campaign agents.</a:t>
            </a:r>
          </a:p>
          <a:p>
            <a:r>
              <a:t>- Bottom: two governed paths. The delivery path is unchanged; the campaign path builds and tests first, then a masked pre-send review, then release through the gateway.</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The platform, now with the data harness   (about 2 minutes)</a:t>
            </a:r>
          </a:p>
          <a:p/>
          <a:p>
            <a:r>
              <a:t>KEY MESSAGE</a:t>
            </a:r>
          </a:p>
          <a:p>
            <a:r>
              <a:t>Codex is the engine; the Agentic Harness is everything around it. For campaigns it adds a masked data context (Gold A), Collibra masking, a Compliance Guardian with a deterministic policy engine, and a masked pre-send review. Agents get the minimum data they need, never raw PHI.</a:t>
            </a:r>
          </a:p>
          <a:p/>
          <a:p>
            <a:r>
              <a:t>WALK IT</a:t>
            </a:r>
          </a:p>
          <a:p>
            <a:r>
              <a:t>- Surface: where people work. Codex (a Jira number for a delivery story, or a campaign prompt), the Salesforce LWC console, the approval page, masked Tableau dashboards and the pre-send report, and Jira.</a:t>
            </a:r>
          </a:p>
          <a:p>
            <a:r>
              <a:t>- Runtime and Registry: unchanged. Durable runs, one agent task per step; tools, skills and templates, now including campaign skills and journey templates.</a:t>
            </a:r>
          </a:p>
          <a:p>
            <a:r>
              <a:t>- Context: the knowledge graph and cited retrieval, plus the data context: Gold A aggregates and masked views.</a:t>
            </a:r>
          </a:p>
          <a:p>
            <a:r>
              <a:t>- Govern: Change Guardian, Model Armor guardrails, identities, human gates, evals and the change passport, plus Collibra masking and DLP, and the Compliance Guardian with the policy engine. Patient data leaves only through the activation gateway.</a:t>
            </a:r>
          </a:p>
          <a:p>
            <a:r>
              <a:t>- Bottom: it all runs on what Ascension already owns, including BigQuery, Collibra, DLP, Tableau and Spanner.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Health Cloud: a story from Codex to production   (about 3 minutes)</a:t>
            </a:r>
          </a:p>
          <a:p/>
          <a:p>
            <a:r>
              <a:t>KEY MESSAGE</a:t>
            </a:r>
          </a:p>
          <a:p>
            <a:r>
              <a:t>For Health Cloud the harness delivers a change, not a campaign, so it needs the engineering context, not patient data. The governed GCP data source is shown grey: it is not used for delivery stories.</a:t>
            </a:r>
          </a:p>
          <a:p/>
          <a:p>
            <a:r>
              <a:t>WALK IT</a:t>
            </a:r>
          </a:p>
          <a:p>
            <a:r>
              <a:t>1 A team member enters NS-1234 in Codex or the Salesforce console: an HFN validation rule for Texas CIN.</a:t>
            </a:r>
          </a:p>
          <a:p>
            <a:r>
              <a:t>2 The Requirements Agent reads Jira and Confluence and the knowledge graph; the product owner approves the brief (H1).</a:t>
            </a:r>
          </a:p>
          <a:p>
            <a:r>
              <a:t>3 The Architect Agent checks what already exists, its impact and its owners; the Change Guardian names affected pods; the architect and pod owners approve (H2).</a:t>
            </a:r>
          </a:p>
          <a:p>
            <a:r>
              <a:t>4 The Developer Agent builds in the DEV sandbox on its own branch.</a:t>
            </a:r>
          </a:p>
          <a:p>
            <a:r>
              <a:t>5 The Review and Test Agents check code, security and sharing, and run the tests; a failed check goes back to the Developer Agent, at most five times, then to a named owner; the tech lead approves (H3).</a:t>
            </a:r>
          </a:p>
          <a:p>
            <a:r>
              <a:t>6 The Release Agent promotes through Copado to SIT and UAT; business signs UAT (H4); CAB approves; the owning team deploys to production. No agent holds a production credential.</a:t>
            </a:r>
          </a:p>
          <a:p>
            <a:r>
              <a:t>Every step is scored by evals and recorded in the change passport.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Section: the HIPAA-aligned agentic healthcare campaign platform. The same harness, now for Marketing Cloud campaigns: the data is governed in Google Cloud first, agents plan and build on masked data, and only approved patients are released. It is a proposed target state, piloted first on the CHF post-discharge nudge.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PHI governance: masking is one control, not HIPAA compliance   (about 3 minutes)</a:t>
            </a:r>
          </a:p>
          <a:p/>
          <a:p>
            <a:r>
              <a:t>KEY MESSAGE</a:t>
            </a:r>
          </a:p>
          <a:p>
            <a:r>
              <a:t>The classification-and-approval flow stays: DLP classifies, a Collibra steward approves, policies protect the columns and bindings prove it. But column masking only controls who sees a value. On its own it does not make data de-identified, establish permitted use, isolate tenants, or complete the HIPAA controls, so we add all four.</a:t>
            </a:r>
          </a:p>
          <a:p/>
          <a:p>
            <a:r>
              <a:t>WALK IT</a:t>
            </a:r>
          </a:p>
          <a:p>
            <a:r>
              <a:t>- Top left: today's flow, with its status. DLP and Collibra are upstream, the reviewed table, rollout gate and bindings are built, the tagger and policies are live in DEV. The rejected path is now fail-closed: rejecting a classification never removes existing protection.</a:t>
            </a:r>
          </a:p>
          <a:p>
            <a:r>
              <a:t>- Top right: three different things. Masking hides values from readers without access; the data underneath is still PHI. Tokenization can still be PHI, depending on linkability. Only HIPAA de-identification (Safe Harbor or Expert Determination) can take data out of PHI status.</a:t>
            </a:r>
          </a:p>
          <a:p>
            <a:r>
              <a:t>- Bottom, the four additions:</a:t>
            </a:r>
          </a:p>
          <a:p>
            <a:r>
              <a:t>  1 Safe de-identification: assess agent-facing data under Safe Harbor or Expert Determination; measure re-identification risk at column, row, combination and aggregate level; agents get aggregates by default.</a:t>
            </a:r>
          </a:p>
          <a:p>
            <a:r>
              <a:t>  2 Permitted use: privacy-approved purpose and authorization rules per campaign, as policy-as-code; consent and restrictions checked at release and again at send; the Compliance Passport records it.</a:t>
            </a:r>
          </a:p>
          <a:p>
            <a:r>
              <a:t>  3 Tenant isolation: per-customer projects, datasets, keys and identities; tenant-specific policies, retention and audit; no cross-tenant joins.</a:t>
            </a:r>
          </a:p>
          <a:p>
            <a:r>
              <a:t>  4 Complete HIPAA controls: a compliance control register mapping evidence to the Privacy, Security and Breach Notification Rule safeguards: BAAs, risk analysis, workforce training, access reviews, incident and breach handling.</a:t>
            </a:r>
          </a:p>
          <a:p>
            <a:r>
              <a:t>- Strip: how we prove it works, and a reminder that PROPOSED items are design, not production evidence.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From governed data to a tested, approved campaign   (about 3-4 minutes)</a:t>
            </a:r>
          </a:p>
          <a:p/>
          <a:p>
            <a:r>
              <a:t>OPEN</a:t>
            </a:r>
          </a:p>
          <a:p>
            <a:r>
              <a:t>This one slide is the whole platform. Read it top to bottom: first we govern the data in Google Cloud, then a marketer works with AI agents on masked data, and only at the end are approved patients released to Marketing Cloud. Two lines cross the slide; they are the two rules that keep patients safe.</a:t>
            </a:r>
          </a:p>
          <a:p/>
          <a:p>
            <a:r>
              <a:t>BAND 1 · GOVERN THE DATA IN GOOGLE CLOUD</a:t>
            </a:r>
          </a:p>
          <a:p>
            <a:r>
              <a:t>(1) Sources: Epic, athenahealth, ADSI, Strata, Salesforce, Marketing Cloud engagement. Approved datasets only, not the whole estate.</a:t>
            </a:r>
          </a:p>
          <a:p>
            <a:r>
              <a:t>(2) Bronze keeps raw extracts with lineage, under restricted access.</a:t>
            </a:r>
          </a:p>
          <a:p>
            <a:r>
              <a:t>(3) DLP finds the sensitive columns, a Collibra steward approves each classification, policy tags mask the PHI.</a:t>
            </a:r>
          </a:p>
          <a:p>
            <a:r>
              <a:t>(4) Silver standardizes identities, encounters, contacts and consent evidence. It keeps every patient: eligibility is decided per campaign.</a:t>
            </a:r>
          </a:p>
          <a:p>
            <a:r>
              <a:t>(5) Gold B: identity-linked eligibility inputs, restricted services only. (6) Gold A: protected aggregates (heart, maternity, general and more), the only thing agents use.</a:t>
            </a:r>
          </a:p>
          <a:p>
            <a:r>
              <a:t>This is prepared once and kept fresh, instead of rebuilt for every campaign.</a:t>
            </a:r>
          </a:p>
          <a:p/>
          <a:p>
            <a:r>
              <a:t>LINE 1 · TRUST BOUNDARY</a:t>
            </a:r>
          </a:p>
          <a:p>
            <a:r>
              <a:t>Agents have no access to raw patient data. Only Gold A's protected aggregates cross this line.</a:t>
            </a:r>
          </a:p>
          <a:p/>
          <a:p>
            <a:r>
              <a:t>BAND 2 · PROMPT IN CODEX, PLAN, BUILD + TEST</a:t>
            </a:r>
          </a:p>
          <a:p>
            <a:r>
              <a:t>(7) The marketer types in Codex or a business console: "Build a post-discharge follow-up campaign for heart patients."</a:t>
            </a:r>
          </a:p>
          <a:p>
            <a:r>
              <a:t>(8) The Orchestrator, Campaign Strategist and Analytics agents read the knowledge graph and Gold A and size the audience in counts, never names.</a:t>
            </a:r>
          </a:p>
          <a:p>
            <a:r>
              <a:t>(9) G1: the marketer and a clinical reviewer approve the Campaign Opportunity Brief, using masked Tableau dashboards.</a:t>
            </a:r>
          </a:p>
          <a:p>
            <a:r>
              <a:t>(10) The Campaign Design Agent uses Journey Builder to build the journey and data extension, paused.</a:t>
            </a:r>
          </a:p>
          <a:p>
            <a:r>
              <a:t>(11) The Activation Readiness Agent tests with test contacts only, against a catalog of failure modes (consent, STOP, links, quiet hours). Failures go back to 10, at most five times, then to a named owner.</a:t>
            </a:r>
          </a:p>
          <a:p>
            <a:r>
              <a:t>(12) G3: clinical and compliance approve the journey and content when every test passes. It waits, active, with no one in it.</a:t>
            </a:r>
          </a:p>
          <a:p>
            <a:r>
              <a:t>Underneath: the knowledge graph (metadata, never patients), Tableau, the Compliance Guardian, the Measurement Agent and the people who approve.</a:t>
            </a:r>
          </a:p>
          <a:p/>
          <a:p>
            <a:r>
              <a:t>LINE 2 · RECOMMENDATION IS NOT RELEASE</a:t>
            </a:r>
          </a:p>
          <a:p>
            <a:r>
              <a:t>An agent's recommendation is never permission to release data. Everything above is a proposal; release happens only below, through approved services.</a:t>
            </a:r>
          </a:p>
          <a:p/>
          <a:p>
            <a:r>
              <a:t>BAND 3 · RELEASE + SEND</a:t>
            </a:r>
          </a:p>
          <a:p>
            <a:r>
              <a:t>(13) A deterministic eligibility service applies the approved rules to Gold B: no consent, no phone or email, STOP, deceased, duplicates out, each with a reason.</a:t>
            </a:r>
          </a:p>
          <a:p>
            <a:r>
              <a:t>(14) G2: the SME and tech lead review a masked pre-send report. No PHI on screen.</a:t>
            </a:r>
          </a:p>
          <a:p>
            <a:r>
              <a:t>(15) The policy engine and activation gateway check purpose, consent, suppression and minimum fields, record a Compliance Passport, and release only the fields this campaign needs, for this run, time-limited.</a:t>
            </a:r>
          </a:p>
          <a:p>
            <a:r>
              <a:t>(16) Through Data Cloud today, or a direct pull once proven. (17-18) Records land in the data extension and the tested journey starts. (19) Consent, STOP and caps are checked again at send. (20) Measurement against a holdout refreshes Gold A; engagement returns to Bronze.</a:t>
            </a:r>
          </a:p>
          <a:p/>
          <a:p>
            <a:r>
              <a:t>CLOSE</a:t>
            </a:r>
          </a:p>
          <a:p>
            <a:r>
              <a:t>Build and test before data lands, a masked review, minimum fields after two approvals, no raw PHI for agents, steward-approved masking, a retry cap, and re-checks at send: faster campaigns, never the wrong or a no-consent patient.</a:t>
            </a:r>
          </a:p>
          <a:p/>
          <a:p>
            <a:r>
              <a:t>LIKELY QUESTIONS</a:t>
            </a:r>
          </a:p>
          <a:p>
            <a:r>
              <a:t>- Do agents see names? No: Gold A aggregates and counts only. Only the gateway resolves contact details, after G2 and G3.</a:t>
            </a:r>
          </a:p>
          <a:p>
            <a:r>
              <a:t>- Why test first? The data extension starts the journey by itself, so the journey must be ready before records arrive.</a:t>
            </a:r>
          </a:p>
          <a:p>
            <a:r>
              <a:t>- Are we replacing Data Cloud? No: it stays as Path A. Path B only after parity and security sign-off.</a:t>
            </a:r>
          </a:p>
          <a:p>
            <a:r>
              <a:t>- How much faster? No number yet: we measure today's CHF process against a pilot first.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How we build it   (about 2 minutes)</a:t>
            </a:r>
          </a:p>
          <a:p/>
          <a:p>
            <a:r>
              <a:t>KEY MESSAGE</a:t>
            </a:r>
          </a:p>
          <a:p>
            <a:r>
              <a:t>The 1-20 numbers are the order a campaign runs. We build in a different order: every safeguard exists, and release is proven on synthetic data, before any real patient moves.</a:t>
            </a:r>
          </a:p>
          <a:p/>
          <a:p>
            <a:r>
              <a:t>WALK IT</a:t>
            </a:r>
          </a:p>
          <a:p>
            <a:r>
              <a:t>- Phase 0: confirm what is in Google Cloud and who owns it, map today's CHF campaign, check BAAs and licences, and measure today's process as the baseline.</a:t>
            </a:r>
          </a:p>
          <a:p>
            <a:r>
              <a:t>- Phase 1: the data foundation, boxes 1, 2, 4, 5, 6, synthetic first.</a:t>
            </a:r>
          </a:p>
          <a:p>
            <a:r>
              <a:t>- Phase 2: PHI governance, box 3, overlapping Phase 1. Its exit is a hard gate: zero unauthorized PHI access in security tests before any agent connects.</a:t>
            </a:r>
          </a:p>
          <a:p>
            <a:r>
              <a:t>- Phase 3: the knowledge graph, Tableau and agents on Gold A, boxes 7-9. It can start on synthetic Gold A while Phase 2 finishes.</a:t>
            </a:r>
          </a:p>
          <a:p>
            <a:r>
              <a:t>- Phase 4: build and test the journey with test contacts only, boxes 10-12.</a:t>
            </a:r>
          </a:p>
          <a:p>
            <a:r>
              <a:t>- Phase 5: governed activation, boxes 13-19: Data Cloud first, the direct path only after parity; a pilot on synthetic data, then a small real audience.</a:t>
            </a:r>
          </a:p>
          <a:p>
            <a:r>
              <a:t>- Phase 6: measurement, box 20, compared with the Phase 0 baseline. Only here do we state speed and ROI numbers; then we scale to more campaigns.</a:t>
            </a:r>
          </a:p>
          <a:p/>
          <a:p>
            <a:r>
              <a:t>THREE RULES</a:t>
            </a:r>
          </a:p>
          <a:p>
            <a:r>
              <a:t>Governance before agents. Build and test before release. Data Cloud before direct.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Sierra voice agent: accurate answers, safe patient actions   (about 2 minutes)</a:t>
            </a:r>
          </a:p>
          <a:p/>
          <a:p>
            <a:r>
              <a:t>KEY MESSAGE</a:t>
            </a:r>
          </a:p>
          <a:p>
            <a:r>
              <a:t>Sierra answers questions from governed knowledge base articles in Google Cloud, and books, cancels or reschedules only through scoped APIs to the scheduling system of record, after the caller is verified. Patient records never go into the knowledge base.</a:t>
            </a:r>
          </a:p>
          <a:p/>
          <a:p>
            <a:r>
              <a:t>WALK IT</a:t>
            </a:r>
          </a:p>
          <a:p>
            <a:r>
              <a:t>- Left: the caller talks to the Sierra voice agent.</a:t>
            </a:r>
          </a:p>
          <a:p>
            <a:r>
              <a:t>- Top, knowledge path (no PHI): articles live in GCP with an owner, version, review date and approval; DLP and Collibra scan them for PHI; only approved articles are indexed and synced to Sierra when they change.</a:t>
            </a:r>
          </a:p>
          <a:p>
            <a:r>
              <a:t>- Bottom, patient path: verify the caller first; then a scoped scheduling API returns only that patient's data and enforces the rules (cancellation window, reschedule rules, provider restrictions); bookings are written to the scheduling system of record, never a GCP copy.</a:t>
            </a:r>
          </a:p>
          <a:p>
            <a:r>
              <a:t>- Right, after every call: hand-off to a person when needed, masked transcripts with retention limits, outcomes as aggregates into Gold A, and test calls before every release.</a:t>
            </a:r>
          </a:p>
          <a:p>
            <a:r>
              <a:t>- Bottom: the six safeguards.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Lean team and cost saving   (about 2-3 minutes)</a:t>
            </a:r>
          </a:p>
          <a:p/>
          <a:p>
            <a:r>
              <a:t>KEY MESSAGE</a:t>
            </a:r>
          </a:p>
          <a:p>
            <a:r>
              <a:t>Every squad of 4-5 developers becomes 1 developer directing the harness agent, plus 1 QA. $16M a year today becomes $7M: $9M back every year on a $5.0M build, paid back in under 7 months.</a:t>
            </a:r>
          </a:p>
          <a:p/>
          <a:p>
            <a:r>
              <a:t>WALK IT</a:t>
            </a:r>
          </a:p>
          <a:p>
            <a:r>
              <a:t>- The squad: 4 developers and a QA today; with the harness, one developer directs the agent, a QA verifies, and the agent drafts code, tests and the Copado package overnight. People review, approve and own every change.</a:t>
            </a:r>
          </a:p>
          <a:p>
            <a:r>
              <a:t>- The pod: what changes for every pod (pilot targets, baselined per pod): a new engineer is productive in about a week instead of 4-6 weeks, because they ask the graph; agents work overnight, so delivery runs about 20 hours a day instead of office hours; every change is checked against the same standards; a new pod goes live on the platform in 2 weeks instead of about 2 months.</a:t>
            </a:r>
          </a:p>
          <a:p>
            <a:r>
              <a:t>- The build: 17 people at peak, 10 roles, 18 months, $4.79M fixed fee paid only when each gate is signed. From month 19 a run team of 4 keeps it running, about $1.24M a year with platform usage.</a:t>
            </a:r>
          </a:p>
          <a:p>
            <a:r>
              <a:t>- The return (target, first full year after go-live): $16M a year today, $7M with the harness, $9M saved every year, on a $5.0M investment. Paid back in under 7 months; 80% first-year return.</a:t>
            </a:r>
          </a:p>
          <a:p>
            <a:r>
              <a:t>- Floor we commit to: 20-25% lower net run cost per pod, measured against each pod's baseline.</a:t>
            </a:r>
          </a:p>
          <a:p/>
          <a:p>
            <a:r>
              <a:t>KEEP IT HONEST</a:t>
            </a:r>
          </a:p>
          <a:p>
            <a:r>
              <a:t>- Baseline every pod first. Year 1 delivers about 60-70% of steady state while pods onboard.</a:t>
            </a:r>
          </a:p>
          <a:p>
            <a:r>
              <a:t>- Approvals, UAT and CAB stay human and take the same time.</a:t>
            </a:r>
          </a:p>
          <a:p>
            <a:r>
              <a:t>- These figures cover delivery. The campaign data platform and the Sierra voice agent are sized separately, after Phase 0.</a:t>
            </a:r>
          </a:p>
          <a:p>
            <a:r>
              <a:t>- Rates are assumed for sizing; replace with the Insight Global rate card before sharing.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extLst>
      <p:ext uri="{BB962C8B-B14F-4D97-AF65-F5344CB8AC3E}">
        <p14:creationId xmlns:p14="http://schemas.microsoft.com/office/powerpoint/2010/main" val="90801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659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3902"/>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image" Target="../media/image10.png"/><Relationship Id="rId9" Type="http://schemas.openxmlformats.org/officeDocument/2006/relationships/image" Target="../media/image17.png"/><Relationship Id="rId10" Type="http://schemas.openxmlformats.org/officeDocument/2006/relationships/image" Target="../media/image12.png"/><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8.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9.png"/><Relationship Id="rId8" Type="http://schemas.openxmlformats.org/officeDocument/2006/relationships/image" Target="../media/image16.png"/><Relationship Id="rId9" Type="http://schemas.openxmlformats.org/officeDocument/2006/relationships/image" Target="../media/image9.png"/><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hape 1"/>
          <p:cNvSpPr/>
          <p:nvPr/>
        </p:nvSpPr>
        <p:spPr>
          <a:xfrm>
            <a:off x="822960" y="1965960"/>
            <a:ext cx="1645920" cy="7315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 2"/>
          <p:cNvSpPr txBox="1"/>
          <p:nvPr/>
        </p:nvSpPr>
        <p:spPr>
          <a:xfrm>
            <a:off x="822960" y="2194560"/>
            <a:ext cx="10515600" cy="329184"/>
          </a:xfrm>
          <a:prstGeom prst="rect">
            <a:avLst/>
          </a:prstGeom>
          <a:noFill/>
        </p:spPr>
        <p:txBody>
          <a:bodyPr wrap="square" lIns="0" rIns="0" tIns="0" bIns="0" anchor="ctr">
            <a:spAutoFit/>
          </a:bodyPr>
          <a:lstStyle/>
          <a:p>
            <a:r>
              <a:rPr sz="1200" b="1" i="0" spc="300">
                <a:solidFill>
                  <a:srgbClr val="0089A0"/>
                </a:solidFill>
                <a:latin typeface="Trenda IG Text"/>
              </a:rPr>
              <a:t>AGENTS FOR DELIVERY AND DATA</a:t>
            </a:r>
          </a:p>
        </p:txBody>
      </p:sp>
      <p:sp>
        <p:nvSpPr>
          <p:cNvPr id="4" name="Text 3"/>
          <p:cNvSpPr txBox="1"/>
          <p:nvPr/>
        </p:nvSpPr>
        <p:spPr>
          <a:xfrm>
            <a:off x="822960" y="2606040"/>
            <a:ext cx="10515600" cy="1371600"/>
          </a:xfrm>
          <a:prstGeom prst="rect">
            <a:avLst/>
          </a:prstGeom>
          <a:noFill/>
        </p:spPr>
        <p:txBody>
          <a:bodyPr wrap="square" lIns="0" rIns="0" tIns="0" bIns="0" anchor="t">
            <a:spAutoFit/>
          </a:bodyPr>
          <a:lstStyle/>
          <a:p>
            <a:pPr>
              <a:lnSpc>
                <a:spcPct val="95000"/>
              </a:lnSpc>
            </a:pPr>
            <a:r>
              <a:rPr sz="4000" b="1" i="0">
                <a:solidFill>
                  <a:srgbClr val="1A1A1A"/>
                </a:solidFill>
                <a:latin typeface="Trenda IG Text"/>
              </a:rPr>
              <a:t>Ascension Agentic Harness</a:t>
            </a:r>
          </a:p>
        </p:txBody>
      </p:sp>
      <p:sp>
        <p:nvSpPr>
          <p:cNvPr id="5" name="Text 4"/>
          <p:cNvSpPr txBox="1"/>
          <p:nvPr/>
        </p:nvSpPr>
        <p:spPr>
          <a:xfrm>
            <a:off x="822960" y="4069080"/>
            <a:ext cx="8686800" cy="731520"/>
          </a:xfrm>
          <a:prstGeom prst="rect">
            <a:avLst/>
          </a:prstGeom>
          <a:noFill/>
        </p:spPr>
        <p:txBody>
          <a:bodyPr wrap="square" lIns="0" rIns="0" tIns="0" bIns="0" anchor="t">
            <a:spAutoFit/>
          </a:bodyPr>
          <a:lstStyle/>
          <a:p>
            <a:r>
              <a:rPr sz="1500" b="0" i="0">
                <a:solidFill>
                  <a:srgbClr val="555555"/>
                </a:solidFill>
                <a:latin typeface="Trenda IG Text"/>
              </a:rPr>
              <a:t>One harness, two jobs: Health Cloud delivery from Codex, and Marketing Cloud campaigns on governed, masked Google Cloud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1A1A1A"/>
                </a:solidFill>
                <a:latin typeface="Trenda IG Text"/>
              </a:rPr>
              <a:t>ASCENSION AGENTIC HARNESS · AGENT TEAM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One agent team: seven delivery agents and seven campaign agents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Delivery agents build and release changes for every pod. Campaign agents plan, design and test on masked data; deterministic services release patients. People approve at every gate.</a:t>
            </a:r>
          </a:p>
        </p:txBody>
      </p:sp>
      <p:sp>
        <p:nvSpPr>
          <p:cNvPr id="5" name="Shape 4"/>
          <p:cNvSpPr/>
          <p:nvPr/>
        </p:nvSpPr>
        <p:spPr>
          <a:xfrm>
            <a:off x="411480" y="1170432"/>
            <a:ext cx="2514600"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02920" y="1170432"/>
            <a:ext cx="2331720" cy="274320"/>
          </a:xfrm>
          <a:prstGeom prst="rect">
            <a:avLst/>
          </a:prstGeom>
          <a:noFill/>
        </p:spPr>
        <p:txBody>
          <a:bodyPr wrap="square" lIns="0" rIns="0" tIns="0" bIns="0" anchor="ctr">
            <a:spAutoFit/>
          </a:bodyPr>
          <a:lstStyle/>
          <a:p>
            <a:r>
              <a:rPr sz="700" b="1" i="0" spc="150">
                <a:solidFill>
                  <a:srgbClr val="1A1A1A"/>
                </a:solidFill>
                <a:latin typeface="Trenda IG Text"/>
              </a:rPr>
              <a:t>WHAT AGENTS READ</a:t>
            </a:r>
          </a:p>
        </p:txBody>
      </p:sp>
      <p:sp>
        <p:nvSpPr>
          <p:cNvPr id="7" name="Shape 6"/>
          <p:cNvSpPr/>
          <p:nvPr/>
        </p:nvSpPr>
        <p:spPr>
          <a:xfrm>
            <a:off x="411480" y="1444752"/>
            <a:ext cx="2514600" cy="3995928"/>
          </a:xfrm>
          <a:prstGeom prst="rect">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jira.png"/>
          <p:cNvPicPr>
            <a:picLocks noChangeAspect="1"/>
          </p:cNvPicPr>
          <p:nvPr/>
        </p:nvPicPr>
        <p:blipFill>
          <a:blip r:embed="rId2"/>
          <a:stretch>
            <a:fillRect/>
          </a:stretch>
        </p:blipFill>
        <p:spPr>
          <a:xfrm>
            <a:off x="521208" y="1609344"/>
            <a:ext cx="201168" cy="201168"/>
          </a:xfrm>
          <a:prstGeom prst="rect">
            <a:avLst/>
          </a:prstGeom>
        </p:spPr>
      </p:pic>
      <p:sp>
        <p:nvSpPr>
          <p:cNvPr id="9" name="Text 7"/>
          <p:cNvSpPr txBox="1"/>
          <p:nvPr/>
        </p:nvSpPr>
        <p:spPr>
          <a:xfrm>
            <a:off x="795528" y="1554480"/>
            <a:ext cx="2057400" cy="329184"/>
          </a:xfrm>
          <a:prstGeom prst="rect">
            <a:avLst/>
          </a:prstGeom>
          <a:noFill/>
        </p:spPr>
        <p:txBody>
          <a:bodyPr wrap="square" lIns="0" rIns="0" tIns="0" bIns="0" anchor="ctr">
            <a:spAutoFit/>
          </a:bodyPr>
          <a:lstStyle/>
          <a:p>
            <a:r>
              <a:rPr sz="740" b="1" i="0">
                <a:solidFill>
                  <a:srgbClr val="1A1A1A"/>
                </a:solidFill>
                <a:latin typeface="Trenda IG Text"/>
              </a:rPr>
              <a:t>Jira</a:t>
            </a:r>
          </a:p>
          <a:p>
            <a:r>
              <a:rPr sz="700" b="0" i="0">
                <a:solidFill>
                  <a:srgbClr val="6B6B6B"/>
                </a:solidFill>
                <a:latin typeface="Trenda IG Text"/>
              </a:rPr>
              <a:t>stories, criteria, history</a:t>
            </a:r>
          </a:p>
        </p:txBody>
      </p:sp>
      <p:pic>
        <p:nvPicPr>
          <p:cNvPr id="10" name="Picture 9" descr="confluence.png"/>
          <p:cNvPicPr>
            <a:picLocks noChangeAspect="1"/>
          </p:cNvPicPr>
          <p:nvPr/>
        </p:nvPicPr>
        <p:blipFill>
          <a:blip r:embed="rId3"/>
          <a:stretch>
            <a:fillRect/>
          </a:stretch>
        </p:blipFill>
        <p:spPr>
          <a:xfrm>
            <a:off x="521208" y="1993392"/>
            <a:ext cx="201168" cy="201168"/>
          </a:xfrm>
          <a:prstGeom prst="rect">
            <a:avLst/>
          </a:prstGeom>
        </p:spPr>
      </p:pic>
      <p:sp>
        <p:nvSpPr>
          <p:cNvPr id="11" name="Text 8"/>
          <p:cNvSpPr txBox="1"/>
          <p:nvPr/>
        </p:nvSpPr>
        <p:spPr>
          <a:xfrm>
            <a:off x="795528" y="1938528"/>
            <a:ext cx="2057400" cy="329184"/>
          </a:xfrm>
          <a:prstGeom prst="rect">
            <a:avLst/>
          </a:prstGeom>
          <a:noFill/>
        </p:spPr>
        <p:txBody>
          <a:bodyPr wrap="square" lIns="0" rIns="0" tIns="0" bIns="0" anchor="ctr">
            <a:spAutoFit/>
          </a:bodyPr>
          <a:lstStyle/>
          <a:p>
            <a:r>
              <a:rPr sz="740" b="1" i="0">
                <a:solidFill>
                  <a:srgbClr val="1A1A1A"/>
                </a:solidFill>
                <a:latin typeface="Trenda IG Text"/>
              </a:rPr>
              <a:t>Confluence</a:t>
            </a:r>
          </a:p>
          <a:p>
            <a:r>
              <a:rPr sz="700" b="0" i="0">
                <a:solidFill>
                  <a:srgbClr val="6B6B6B"/>
                </a:solidFill>
                <a:latin typeface="Trenda IG Text"/>
              </a:rPr>
              <a:t>designs, business rules</a:t>
            </a:r>
          </a:p>
        </p:txBody>
      </p:sp>
      <p:pic>
        <p:nvPicPr>
          <p:cNvPr id="12" name="Picture 11" descr="salesforce.png"/>
          <p:cNvPicPr>
            <a:picLocks noChangeAspect="1"/>
          </p:cNvPicPr>
          <p:nvPr/>
        </p:nvPicPr>
        <p:blipFill>
          <a:blip r:embed="rId4"/>
          <a:stretch>
            <a:fillRect/>
          </a:stretch>
        </p:blipFill>
        <p:spPr>
          <a:xfrm>
            <a:off x="521208" y="2377440"/>
            <a:ext cx="201168" cy="201168"/>
          </a:xfrm>
          <a:prstGeom prst="rect">
            <a:avLst/>
          </a:prstGeom>
        </p:spPr>
      </p:pic>
      <p:sp>
        <p:nvSpPr>
          <p:cNvPr id="13" name="Text 9"/>
          <p:cNvSpPr txBox="1"/>
          <p:nvPr/>
        </p:nvSpPr>
        <p:spPr>
          <a:xfrm>
            <a:off x="795528" y="2322576"/>
            <a:ext cx="2057400" cy="329184"/>
          </a:xfrm>
          <a:prstGeom prst="rect">
            <a:avLst/>
          </a:prstGeom>
          <a:noFill/>
        </p:spPr>
        <p:txBody>
          <a:bodyPr wrap="square" lIns="0" rIns="0" tIns="0" bIns="0" anchor="ctr">
            <a:spAutoFit/>
          </a:bodyPr>
          <a:lstStyle/>
          <a:p>
            <a:r>
              <a:rPr sz="740" b="1" i="0">
                <a:solidFill>
                  <a:srgbClr val="1A1A1A"/>
                </a:solidFill>
                <a:latin typeface="Trenda IG Text"/>
              </a:rPr>
              <a:t>Salesforce</a:t>
            </a:r>
          </a:p>
          <a:p>
            <a:r>
              <a:rPr sz="700" b="0" i="0">
                <a:solidFill>
                  <a:srgbClr val="6B6B6B"/>
                </a:solidFill>
                <a:latin typeface="Trenda IG Text"/>
              </a:rPr>
              <a:t>objects, Flows, Apex, journeys</a:t>
            </a:r>
          </a:p>
        </p:txBody>
      </p:sp>
      <p:pic>
        <p:nvPicPr>
          <p:cNvPr id="14" name="Picture 13" descr="git.png"/>
          <p:cNvPicPr>
            <a:picLocks noChangeAspect="1"/>
          </p:cNvPicPr>
          <p:nvPr/>
        </p:nvPicPr>
        <p:blipFill>
          <a:blip r:embed="rId5"/>
          <a:stretch>
            <a:fillRect/>
          </a:stretch>
        </p:blipFill>
        <p:spPr>
          <a:xfrm>
            <a:off x="521208" y="2761488"/>
            <a:ext cx="201168" cy="201168"/>
          </a:xfrm>
          <a:prstGeom prst="rect">
            <a:avLst/>
          </a:prstGeom>
        </p:spPr>
      </p:pic>
      <p:sp>
        <p:nvSpPr>
          <p:cNvPr id="15" name="Text 10"/>
          <p:cNvSpPr txBox="1"/>
          <p:nvPr/>
        </p:nvSpPr>
        <p:spPr>
          <a:xfrm>
            <a:off x="795528" y="2706624"/>
            <a:ext cx="2057400" cy="329184"/>
          </a:xfrm>
          <a:prstGeom prst="rect">
            <a:avLst/>
          </a:prstGeom>
          <a:noFill/>
        </p:spPr>
        <p:txBody>
          <a:bodyPr wrap="square" lIns="0" rIns="0" tIns="0" bIns="0" anchor="ctr">
            <a:spAutoFit/>
          </a:bodyPr>
          <a:lstStyle/>
          <a:p>
            <a:r>
              <a:rPr sz="740" b="1" i="0">
                <a:solidFill>
                  <a:srgbClr val="1A1A1A"/>
                </a:solidFill>
                <a:latin typeface="Trenda IG Text"/>
              </a:rPr>
              <a:t>Git</a:t>
            </a:r>
          </a:p>
          <a:p>
            <a:r>
              <a:rPr sz="700" b="0" i="0">
                <a:solidFill>
                  <a:srgbClr val="6B6B6B"/>
                </a:solidFill>
                <a:latin typeface="Trenda IG Text"/>
              </a:rPr>
              <a:t>Apex, LWC, metadata</a:t>
            </a:r>
          </a:p>
        </p:txBody>
      </p:sp>
      <p:sp>
        <p:nvSpPr>
          <p:cNvPr id="16" name="Shape 11"/>
          <p:cNvSpPr/>
          <p:nvPr/>
        </p:nvSpPr>
        <p:spPr>
          <a:xfrm>
            <a:off x="521208" y="3163824"/>
            <a:ext cx="201168" cy="182880"/>
          </a:xfrm>
          <a:prstGeom prst="roundRect">
            <a:avLst>
              <a:gd name="adj" fmla="val 50000"/>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2"/>
          <p:cNvSpPr txBox="1"/>
          <p:nvPr/>
        </p:nvSpPr>
        <p:spPr>
          <a:xfrm>
            <a:off x="521208" y="3163824"/>
            <a:ext cx="201168" cy="182880"/>
          </a:xfrm>
          <a:prstGeom prst="rect">
            <a:avLst/>
          </a:prstGeom>
          <a:noFill/>
        </p:spPr>
        <p:txBody>
          <a:bodyPr wrap="square" lIns="0" rIns="0" tIns="0" bIns="0" anchor="ctr">
            <a:spAutoFit/>
          </a:bodyPr>
          <a:lstStyle/>
          <a:p>
            <a:pPr algn="ctr"/>
            <a:r>
              <a:rPr sz="700" b="1" i="0" spc="80">
                <a:solidFill>
                  <a:srgbClr val="4D4D4D"/>
                </a:solidFill>
                <a:latin typeface="Trenda IG Text"/>
              </a:rPr>
              <a:t>Co</a:t>
            </a:r>
          </a:p>
        </p:txBody>
      </p:sp>
      <p:sp>
        <p:nvSpPr>
          <p:cNvPr id="18" name="Text 13"/>
          <p:cNvSpPr txBox="1"/>
          <p:nvPr/>
        </p:nvSpPr>
        <p:spPr>
          <a:xfrm>
            <a:off x="795528" y="3090672"/>
            <a:ext cx="2057400" cy="329184"/>
          </a:xfrm>
          <a:prstGeom prst="rect">
            <a:avLst/>
          </a:prstGeom>
          <a:noFill/>
        </p:spPr>
        <p:txBody>
          <a:bodyPr wrap="square" lIns="0" rIns="0" tIns="0" bIns="0" anchor="ctr">
            <a:spAutoFit/>
          </a:bodyPr>
          <a:lstStyle/>
          <a:p>
            <a:r>
              <a:rPr sz="740" b="1" i="0">
                <a:solidFill>
                  <a:srgbClr val="1A1A1A"/>
                </a:solidFill>
                <a:latin typeface="Trenda IG Text"/>
              </a:rPr>
              <a:t>Copado</a:t>
            </a:r>
          </a:p>
          <a:p>
            <a:r>
              <a:rPr sz="700" b="0" i="0">
                <a:solidFill>
                  <a:srgbClr val="6B6B6B"/>
                </a:solidFill>
                <a:latin typeface="Trenda IG Text"/>
              </a:rPr>
              <a:t>releases, test runs</a:t>
            </a:r>
          </a:p>
        </p:txBody>
      </p:sp>
      <p:pic>
        <p:nvPicPr>
          <p:cNvPr id="19" name="Picture 18" descr="googledrive.png"/>
          <p:cNvPicPr>
            <a:picLocks noChangeAspect="1"/>
          </p:cNvPicPr>
          <p:nvPr/>
        </p:nvPicPr>
        <p:blipFill>
          <a:blip r:embed="rId6"/>
          <a:stretch>
            <a:fillRect/>
          </a:stretch>
        </p:blipFill>
        <p:spPr>
          <a:xfrm>
            <a:off x="521208" y="3529584"/>
            <a:ext cx="201168" cy="201168"/>
          </a:xfrm>
          <a:prstGeom prst="rect">
            <a:avLst/>
          </a:prstGeom>
        </p:spPr>
      </p:pic>
      <p:sp>
        <p:nvSpPr>
          <p:cNvPr id="20" name="Text 14"/>
          <p:cNvSpPr txBox="1"/>
          <p:nvPr/>
        </p:nvSpPr>
        <p:spPr>
          <a:xfrm>
            <a:off x="795528" y="3474720"/>
            <a:ext cx="2057400" cy="329184"/>
          </a:xfrm>
          <a:prstGeom prst="rect">
            <a:avLst/>
          </a:prstGeom>
          <a:noFill/>
        </p:spPr>
        <p:txBody>
          <a:bodyPr wrap="square" lIns="0" rIns="0" tIns="0" bIns="0" anchor="ctr">
            <a:spAutoFit/>
          </a:bodyPr>
          <a:lstStyle/>
          <a:p>
            <a:r>
              <a:rPr sz="740" b="1" i="0">
                <a:solidFill>
                  <a:srgbClr val="1A1A1A"/>
                </a:solidFill>
                <a:latin typeface="Trenda IG Text"/>
              </a:rPr>
              <a:t>Google Drive</a:t>
            </a:r>
          </a:p>
          <a:p>
            <a:r>
              <a:rPr sz="700" b="0" i="0">
                <a:solidFill>
                  <a:srgbClr val="6B6B6B"/>
                </a:solidFill>
                <a:latin typeface="Trenda IG Text"/>
              </a:rPr>
              <a:t>specs, mapping sheets</a:t>
            </a:r>
          </a:p>
        </p:txBody>
      </p:sp>
      <p:sp>
        <p:nvSpPr>
          <p:cNvPr id="21" name="Text 15"/>
          <p:cNvSpPr txBox="1"/>
          <p:nvPr/>
        </p:nvSpPr>
        <p:spPr>
          <a:xfrm>
            <a:off x="521208" y="3877055"/>
            <a:ext cx="2295144" cy="182880"/>
          </a:xfrm>
          <a:prstGeom prst="rect">
            <a:avLst/>
          </a:prstGeom>
          <a:noFill/>
        </p:spPr>
        <p:txBody>
          <a:bodyPr wrap="square" lIns="0" rIns="0" tIns="0" bIns="0" anchor="t">
            <a:spAutoFit/>
          </a:bodyPr>
          <a:lstStyle/>
          <a:p>
            <a:r>
              <a:rPr sz="700" b="1" i="0" spc="120">
                <a:solidFill>
                  <a:srgbClr val="0089A0"/>
                </a:solidFill>
                <a:latin typeface="Trenda IG Text"/>
              </a:rPr>
              <a:t>FOR MARKETING CLOUD PODS</a:t>
            </a:r>
          </a:p>
        </p:txBody>
      </p:sp>
      <p:sp>
        <p:nvSpPr>
          <p:cNvPr id="22" name="Shape 16"/>
          <p:cNvSpPr/>
          <p:nvPr/>
        </p:nvSpPr>
        <p:spPr>
          <a:xfrm>
            <a:off x="502920" y="4087368"/>
            <a:ext cx="2331720" cy="786384"/>
          </a:xfrm>
          <a:prstGeom prst="roundRect">
            <a:avLst>
              <a:gd name="adj" fmla="val 8000"/>
            </a:avLst>
          </a:prstGeom>
          <a:solidFill>
            <a:srgbClr val="F5F5F5"/>
          </a:solidFill>
          <a:ln w="1587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googlecloud.png"/>
          <p:cNvPicPr>
            <a:picLocks noChangeAspect="1"/>
          </p:cNvPicPr>
          <p:nvPr/>
        </p:nvPicPr>
        <p:blipFill>
          <a:blip r:embed="rId7"/>
          <a:stretch>
            <a:fillRect/>
          </a:stretch>
        </p:blipFill>
        <p:spPr>
          <a:xfrm>
            <a:off x="594360" y="4160520"/>
            <a:ext cx="201168" cy="201168"/>
          </a:xfrm>
          <a:prstGeom prst="rect">
            <a:avLst/>
          </a:prstGeom>
        </p:spPr>
      </p:pic>
      <p:sp>
        <p:nvSpPr>
          <p:cNvPr id="24" name="Text 17"/>
          <p:cNvSpPr txBox="1"/>
          <p:nvPr/>
        </p:nvSpPr>
        <p:spPr>
          <a:xfrm>
            <a:off x="868680" y="4133087"/>
            <a:ext cx="1874519" cy="237744"/>
          </a:xfrm>
          <a:prstGeom prst="rect">
            <a:avLst/>
          </a:prstGeom>
          <a:noFill/>
        </p:spPr>
        <p:txBody>
          <a:bodyPr wrap="square" lIns="0" rIns="0" tIns="0" bIns="0" anchor="ctr">
            <a:spAutoFit/>
          </a:bodyPr>
          <a:lstStyle/>
          <a:p>
            <a:r>
              <a:rPr sz="780" b="1" i="0">
                <a:solidFill>
                  <a:srgbClr val="1A1A1A"/>
                </a:solidFill>
                <a:latin typeface="Trenda IG Text"/>
              </a:rPr>
              <a:t>Governed GCP data</a:t>
            </a:r>
          </a:p>
        </p:txBody>
      </p:sp>
      <p:sp>
        <p:nvSpPr>
          <p:cNvPr id="25" name="Text 18"/>
          <p:cNvSpPr txBox="1"/>
          <p:nvPr/>
        </p:nvSpPr>
        <p:spPr>
          <a:xfrm>
            <a:off x="594360" y="4389120"/>
            <a:ext cx="2148840" cy="457200"/>
          </a:xfrm>
          <a:prstGeom prst="rect">
            <a:avLst/>
          </a:prstGeom>
          <a:noFill/>
        </p:spPr>
        <p:txBody>
          <a:bodyPr wrap="square" lIns="0" rIns="0" tIns="0" bIns="0" anchor="t">
            <a:spAutoFit/>
          </a:bodyPr>
          <a:lstStyle/>
          <a:p>
            <a:r>
              <a:rPr sz="700" b="0" i="0">
                <a:solidFill>
                  <a:srgbClr val="4D4D4D"/>
                </a:solidFill>
                <a:latin typeface="Trenda IG Text"/>
              </a:rPr>
              <a:t>Gold A only: protected aggregates and masked views. Raw PHI stays behind the gateway.</a:t>
            </a:r>
          </a:p>
        </p:txBody>
      </p:sp>
      <p:sp>
        <p:nvSpPr>
          <p:cNvPr id="26" name="Text 19"/>
          <p:cNvSpPr txBox="1"/>
          <p:nvPr/>
        </p:nvSpPr>
        <p:spPr>
          <a:xfrm>
            <a:off x="521208" y="5056632"/>
            <a:ext cx="2295144" cy="329184"/>
          </a:xfrm>
          <a:prstGeom prst="rect">
            <a:avLst/>
          </a:prstGeom>
          <a:noFill/>
        </p:spPr>
        <p:txBody>
          <a:bodyPr wrap="square" lIns="0" rIns="0" tIns="0" bIns="0" anchor="ctr">
            <a:spAutoFit/>
          </a:bodyPr>
          <a:lstStyle/>
          <a:p>
            <a:r>
              <a:rPr sz="700" b="0" i="0">
                <a:solidFill>
                  <a:srgbClr val="6B6B6B"/>
                </a:solidFill>
                <a:latin typeface="Trenda IG Text"/>
              </a:rPr>
              <a:t>Every fact is cited with its source and SHA-256.</a:t>
            </a:r>
          </a:p>
        </p:txBody>
      </p:sp>
      <p:sp>
        <p:nvSpPr>
          <p:cNvPr id="27" name="Shape 20"/>
          <p:cNvSpPr/>
          <p:nvPr/>
        </p:nvSpPr>
        <p:spPr>
          <a:xfrm>
            <a:off x="3063240" y="1170432"/>
            <a:ext cx="5806440"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1"/>
          <p:cNvSpPr txBox="1"/>
          <p:nvPr/>
        </p:nvSpPr>
        <p:spPr>
          <a:xfrm>
            <a:off x="3154680" y="1170432"/>
            <a:ext cx="5623559" cy="274320"/>
          </a:xfrm>
          <a:prstGeom prst="rect">
            <a:avLst/>
          </a:prstGeom>
          <a:noFill/>
        </p:spPr>
        <p:txBody>
          <a:bodyPr wrap="square" lIns="0" rIns="0" tIns="0" bIns="0" anchor="ctr">
            <a:spAutoFit/>
          </a:bodyPr>
          <a:lstStyle/>
          <a:p>
            <a:r>
              <a:rPr sz="700" b="1" i="0" spc="150">
                <a:solidFill>
                  <a:srgbClr val="1A1A1A"/>
                </a:solidFill>
                <a:latin typeface="Trenda IG Text"/>
              </a:rPr>
              <a:t>DELIVERY AGENTS</a:t>
            </a:r>
            <a:r>
              <a:rPr sz="700" b="0" i="0">
                <a:solidFill>
                  <a:srgbClr val="1A1A1A"/>
                </a:solidFill>
                <a:latin typeface="Trenda IG Text"/>
              </a:rPr>
              <a:t>   the same on every pod</a:t>
            </a:r>
          </a:p>
        </p:txBody>
      </p:sp>
      <p:sp>
        <p:nvSpPr>
          <p:cNvPr id="29" name="Shape 22"/>
          <p:cNvSpPr/>
          <p:nvPr/>
        </p:nvSpPr>
        <p:spPr>
          <a:xfrm>
            <a:off x="3063240" y="1499616"/>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hape 23"/>
          <p:cNvSpPr/>
          <p:nvPr/>
        </p:nvSpPr>
        <p:spPr>
          <a:xfrm>
            <a:off x="3136392" y="1516075"/>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24"/>
          <p:cNvSpPr txBox="1"/>
          <p:nvPr/>
        </p:nvSpPr>
        <p:spPr>
          <a:xfrm>
            <a:off x="3136392" y="1516075"/>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a:t>
            </a:r>
          </a:p>
        </p:txBody>
      </p:sp>
      <p:sp>
        <p:nvSpPr>
          <p:cNvPr id="32" name="Text 25"/>
          <p:cNvSpPr txBox="1"/>
          <p:nvPr/>
        </p:nvSpPr>
        <p:spPr>
          <a:xfrm>
            <a:off x="3392424" y="1499616"/>
            <a:ext cx="1508760" cy="215798"/>
          </a:xfrm>
          <a:prstGeom prst="rect">
            <a:avLst/>
          </a:prstGeom>
          <a:noFill/>
        </p:spPr>
        <p:txBody>
          <a:bodyPr wrap="square" lIns="0" rIns="0" tIns="0" bIns="0" anchor="ctr">
            <a:spAutoFit/>
          </a:bodyPr>
          <a:lstStyle/>
          <a:p>
            <a:r>
              <a:rPr sz="700" b="1" i="0">
                <a:solidFill>
                  <a:srgbClr val="1A1A1A"/>
                </a:solidFill>
                <a:latin typeface="Trenda IG Text"/>
              </a:rPr>
              <a:t>Orchestrator</a:t>
            </a:r>
          </a:p>
        </p:txBody>
      </p:sp>
      <p:sp>
        <p:nvSpPr>
          <p:cNvPr id="33" name="Text 26"/>
          <p:cNvSpPr txBox="1"/>
          <p:nvPr/>
        </p:nvSpPr>
        <p:spPr>
          <a:xfrm>
            <a:off x="4892040" y="1499616"/>
            <a:ext cx="2971799" cy="215798"/>
          </a:xfrm>
          <a:prstGeom prst="rect">
            <a:avLst/>
          </a:prstGeom>
          <a:noFill/>
        </p:spPr>
        <p:txBody>
          <a:bodyPr wrap="square" lIns="0" rIns="0" tIns="0" bIns="0" anchor="ctr">
            <a:spAutoFit/>
          </a:bodyPr>
          <a:lstStyle/>
          <a:p>
            <a:r>
              <a:rPr sz="700" b="0" i="0">
                <a:solidFill>
                  <a:srgbClr val="4D4D4D"/>
                </a:solidFill>
                <a:latin typeface="Trenda IG Text"/>
              </a:rPr>
              <a:t>Classifies the task, gathers context, routes the chain, enforces gates</a:t>
            </a:r>
          </a:p>
        </p:txBody>
      </p:sp>
      <p:sp>
        <p:nvSpPr>
          <p:cNvPr id="34" name="Shape 27"/>
          <p:cNvSpPr/>
          <p:nvPr/>
        </p:nvSpPr>
        <p:spPr>
          <a:xfrm>
            <a:off x="7955279" y="1534363"/>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28"/>
          <p:cNvSpPr txBox="1"/>
          <p:nvPr/>
        </p:nvSpPr>
        <p:spPr>
          <a:xfrm>
            <a:off x="7955279" y="1534363"/>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COORDINATES</a:t>
            </a:r>
          </a:p>
        </p:txBody>
      </p:sp>
      <p:sp>
        <p:nvSpPr>
          <p:cNvPr id="36" name="Shape 29"/>
          <p:cNvSpPr/>
          <p:nvPr/>
        </p:nvSpPr>
        <p:spPr>
          <a:xfrm>
            <a:off x="3063240" y="1751990"/>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0"/>
          <p:cNvSpPr/>
          <p:nvPr/>
        </p:nvSpPr>
        <p:spPr>
          <a:xfrm>
            <a:off x="3136392" y="1768449"/>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1"/>
          <p:cNvSpPr txBox="1"/>
          <p:nvPr/>
        </p:nvSpPr>
        <p:spPr>
          <a:xfrm>
            <a:off x="3136392" y="1768449"/>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2</a:t>
            </a:r>
          </a:p>
        </p:txBody>
      </p:sp>
      <p:sp>
        <p:nvSpPr>
          <p:cNvPr id="39" name="Text 32"/>
          <p:cNvSpPr txBox="1"/>
          <p:nvPr/>
        </p:nvSpPr>
        <p:spPr>
          <a:xfrm>
            <a:off x="3392424" y="1751990"/>
            <a:ext cx="1508760" cy="215798"/>
          </a:xfrm>
          <a:prstGeom prst="rect">
            <a:avLst/>
          </a:prstGeom>
          <a:noFill/>
        </p:spPr>
        <p:txBody>
          <a:bodyPr wrap="square" lIns="0" rIns="0" tIns="0" bIns="0" anchor="ctr">
            <a:spAutoFit/>
          </a:bodyPr>
          <a:lstStyle/>
          <a:p>
            <a:r>
              <a:rPr sz="700" b="1" i="0">
                <a:solidFill>
                  <a:srgbClr val="1A1A1A"/>
                </a:solidFill>
                <a:latin typeface="Trenda IG Text"/>
              </a:rPr>
              <a:t>Requirements Agent</a:t>
            </a:r>
          </a:p>
        </p:txBody>
      </p:sp>
      <p:sp>
        <p:nvSpPr>
          <p:cNvPr id="40" name="Text 33"/>
          <p:cNvSpPr txBox="1"/>
          <p:nvPr/>
        </p:nvSpPr>
        <p:spPr>
          <a:xfrm>
            <a:off x="4892040" y="1751990"/>
            <a:ext cx="2971799" cy="215798"/>
          </a:xfrm>
          <a:prstGeom prst="rect">
            <a:avLst/>
          </a:prstGeom>
          <a:noFill/>
        </p:spPr>
        <p:txBody>
          <a:bodyPr wrap="square" lIns="0" rIns="0" tIns="0" bIns="0" anchor="ctr">
            <a:spAutoFit/>
          </a:bodyPr>
          <a:lstStyle/>
          <a:p>
            <a:r>
              <a:rPr sz="700" b="0" i="0">
                <a:solidFill>
                  <a:srgbClr val="4D4D4D"/>
                </a:solidFill>
                <a:latin typeface="Trenda IG Text"/>
              </a:rPr>
              <a:t>Jira story and Confluence design into a clear brief</a:t>
            </a:r>
          </a:p>
        </p:txBody>
      </p:sp>
      <p:sp>
        <p:nvSpPr>
          <p:cNvPr id="41" name="Shape 34"/>
          <p:cNvSpPr/>
          <p:nvPr/>
        </p:nvSpPr>
        <p:spPr>
          <a:xfrm>
            <a:off x="7955279" y="1786737"/>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35"/>
          <p:cNvSpPr txBox="1"/>
          <p:nvPr/>
        </p:nvSpPr>
        <p:spPr>
          <a:xfrm>
            <a:off x="7955279" y="1786737"/>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43" name="Shape 36"/>
          <p:cNvSpPr/>
          <p:nvPr/>
        </p:nvSpPr>
        <p:spPr>
          <a:xfrm>
            <a:off x="3063240" y="2004364"/>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37"/>
          <p:cNvSpPr/>
          <p:nvPr/>
        </p:nvSpPr>
        <p:spPr>
          <a:xfrm>
            <a:off x="3136392" y="2020824"/>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38"/>
          <p:cNvSpPr txBox="1"/>
          <p:nvPr/>
        </p:nvSpPr>
        <p:spPr>
          <a:xfrm>
            <a:off x="3136392" y="2020824"/>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3</a:t>
            </a:r>
          </a:p>
        </p:txBody>
      </p:sp>
      <p:sp>
        <p:nvSpPr>
          <p:cNvPr id="46" name="Text 39"/>
          <p:cNvSpPr txBox="1"/>
          <p:nvPr/>
        </p:nvSpPr>
        <p:spPr>
          <a:xfrm>
            <a:off x="3392424" y="2004364"/>
            <a:ext cx="1508760" cy="215798"/>
          </a:xfrm>
          <a:prstGeom prst="rect">
            <a:avLst/>
          </a:prstGeom>
          <a:noFill/>
        </p:spPr>
        <p:txBody>
          <a:bodyPr wrap="square" lIns="0" rIns="0" tIns="0" bIns="0" anchor="ctr">
            <a:spAutoFit/>
          </a:bodyPr>
          <a:lstStyle/>
          <a:p>
            <a:r>
              <a:rPr sz="700" b="1" i="0">
                <a:solidFill>
                  <a:srgbClr val="1A1A1A"/>
                </a:solidFill>
                <a:latin typeface="Trenda IG Text"/>
              </a:rPr>
              <a:t>Architect Agent</a:t>
            </a:r>
          </a:p>
        </p:txBody>
      </p:sp>
      <p:sp>
        <p:nvSpPr>
          <p:cNvPr id="47" name="Text 40"/>
          <p:cNvSpPr txBox="1"/>
          <p:nvPr/>
        </p:nvSpPr>
        <p:spPr>
          <a:xfrm>
            <a:off x="4892040" y="2004364"/>
            <a:ext cx="2971799" cy="215798"/>
          </a:xfrm>
          <a:prstGeom prst="rect">
            <a:avLst/>
          </a:prstGeom>
          <a:noFill/>
        </p:spPr>
        <p:txBody>
          <a:bodyPr wrap="square" lIns="0" rIns="0" tIns="0" bIns="0" anchor="ctr">
            <a:spAutoFit/>
          </a:bodyPr>
          <a:lstStyle/>
          <a:p>
            <a:r>
              <a:rPr sz="700" b="0" i="0">
                <a:solidFill>
                  <a:srgbClr val="4D4D4D"/>
                </a:solidFill>
                <a:latin typeface="Trenda IG Text"/>
              </a:rPr>
              <a:t>Impact, reuse and risk from the graph; the change plan</a:t>
            </a:r>
          </a:p>
        </p:txBody>
      </p:sp>
      <p:sp>
        <p:nvSpPr>
          <p:cNvPr id="48" name="Shape 41"/>
          <p:cNvSpPr/>
          <p:nvPr/>
        </p:nvSpPr>
        <p:spPr>
          <a:xfrm>
            <a:off x="7955279" y="2039112"/>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2"/>
          <p:cNvSpPr txBox="1"/>
          <p:nvPr/>
        </p:nvSpPr>
        <p:spPr>
          <a:xfrm>
            <a:off x="7955279" y="2039112"/>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50" name="Shape 43"/>
          <p:cNvSpPr/>
          <p:nvPr/>
        </p:nvSpPr>
        <p:spPr>
          <a:xfrm>
            <a:off x="3063240" y="2256739"/>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44"/>
          <p:cNvSpPr/>
          <p:nvPr/>
        </p:nvSpPr>
        <p:spPr>
          <a:xfrm>
            <a:off x="3136392" y="2273198"/>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5"/>
          <p:cNvSpPr txBox="1"/>
          <p:nvPr/>
        </p:nvSpPr>
        <p:spPr>
          <a:xfrm>
            <a:off x="3136392" y="2273198"/>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4</a:t>
            </a:r>
          </a:p>
        </p:txBody>
      </p:sp>
      <p:sp>
        <p:nvSpPr>
          <p:cNvPr id="53" name="Text 46"/>
          <p:cNvSpPr txBox="1"/>
          <p:nvPr/>
        </p:nvSpPr>
        <p:spPr>
          <a:xfrm>
            <a:off x="3392424" y="2256739"/>
            <a:ext cx="1508760" cy="215798"/>
          </a:xfrm>
          <a:prstGeom prst="rect">
            <a:avLst/>
          </a:prstGeom>
          <a:noFill/>
        </p:spPr>
        <p:txBody>
          <a:bodyPr wrap="square" lIns="0" rIns="0" tIns="0" bIns="0" anchor="ctr">
            <a:spAutoFit/>
          </a:bodyPr>
          <a:lstStyle/>
          <a:p>
            <a:r>
              <a:rPr sz="700" b="1" i="0">
                <a:solidFill>
                  <a:srgbClr val="1A1A1A"/>
                </a:solidFill>
                <a:latin typeface="Trenda IG Text"/>
              </a:rPr>
              <a:t>Developer Agent</a:t>
            </a:r>
          </a:p>
        </p:txBody>
      </p:sp>
      <p:sp>
        <p:nvSpPr>
          <p:cNvPr id="54" name="Text 47"/>
          <p:cNvSpPr txBox="1"/>
          <p:nvPr/>
        </p:nvSpPr>
        <p:spPr>
          <a:xfrm>
            <a:off x="4892040" y="2256739"/>
            <a:ext cx="2971799" cy="215798"/>
          </a:xfrm>
          <a:prstGeom prst="rect">
            <a:avLst/>
          </a:prstGeom>
          <a:noFill/>
        </p:spPr>
        <p:txBody>
          <a:bodyPr wrap="square" lIns="0" rIns="0" tIns="0" bIns="0" anchor="ctr">
            <a:spAutoFit/>
          </a:bodyPr>
          <a:lstStyle/>
          <a:p>
            <a:r>
              <a:rPr sz="700" b="0" i="0">
                <a:solidFill>
                  <a:srgbClr val="4D4D4D"/>
                </a:solidFill>
                <a:latin typeface="Trenda IG Text"/>
              </a:rPr>
              <a:t>Builds to Ascension standards in DEV; journeys for Marketing Cloud</a:t>
            </a:r>
          </a:p>
        </p:txBody>
      </p:sp>
      <p:sp>
        <p:nvSpPr>
          <p:cNvPr id="55" name="Shape 48"/>
          <p:cNvSpPr/>
          <p:nvPr/>
        </p:nvSpPr>
        <p:spPr>
          <a:xfrm>
            <a:off x="7955279" y="2291486"/>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49"/>
          <p:cNvSpPr txBox="1"/>
          <p:nvPr/>
        </p:nvSpPr>
        <p:spPr>
          <a:xfrm>
            <a:off x="7955279" y="2291486"/>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AI-LED</a:t>
            </a:r>
          </a:p>
        </p:txBody>
      </p:sp>
      <p:sp>
        <p:nvSpPr>
          <p:cNvPr id="57" name="Shape 50"/>
          <p:cNvSpPr/>
          <p:nvPr/>
        </p:nvSpPr>
        <p:spPr>
          <a:xfrm>
            <a:off x="3063240" y="2509113"/>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Shape 51"/>
          <p:cNvSpPr/>
          <p:nvPr/>
        </p:nvSpPr>
        <p:spPr>
          <a:xfrm>
            <a:off x="3136392" y="2525572"/>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2"/>
          <p:cNvSpPr txBox="1"/>
          <p:nvPr/>
        </p:nvSpPr>
        <p:spPr>
          <a:xfrm>
            <a:off x="3136392" y="2525572"/>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5</a:t>
            </a:r>
          </a:p>
        </p:txBody>
      </p:sp>
      <p:sp>
        <p:nvSpPr>
          <p:cNvPr id="60" name="Text 53"/>
          <p:cNvSpPr txBox="1"/>
          <p:nvPr/>
        </p:nvSpPr>
        <p:spPr>
          <a:xfrm>
            <a:off x="3392424" y="2509113"/>
            <a:ext cx="1508760" cy="215798"/>
          </a:xfrm>
          <a:prstGeom prst="rect">
            <a:avLst/>
          </a:prstGeom>
          <a:noFill/>
        </p:spPr>
        <p:txBody>
          <a:bodyPr wrap="square" lIns="0" rIns="0" tIns="0" bIns="0" anchor="ctr">
            <a:spAutoFit/>
          </a:bodyPr>
          <a:lstStyle/>
          <a:p>
            <a:r>
              <a:rPr sz="700" b="1" i="0">
                <a:solidFill>
                  <a:srgbClr val="1A1A1A"/>
                </a:solidFill>
                <a:latin typeface="Trenda IG Text"/>
              </a:rPr>
              <a:t>Review Agent</a:t>
            </a:r>
          </a:p>
        </p:txBody>
      </p:sp>
      <p:sp>
        <p:nvSpPr>
          <p:cNvPr id="61" name="Text 54"/>
          <p:cNvSpPr txBox="1"/>
          <p:nvPr/>
        </p:nvSpPr>
        <p:spPr>
          <a:xfrm>
            <a:off x="4892040" y="2509113"/>
            <a:ext cx="2971799" cy="215798"/>
          </a:xfrm>
          <a:prstGeom prst="rect">
            <a:avLst/>
          </a:prstGeom>
          <a:noFill/>
        </p:spPr>
        <p:txBody>
          <a:bodyPr wrap="square" lIns="0" rIns="0" tIns="0" bIns="0" anchor="ctr">
            <a:spAutoFit/>
          </a:bodyPr>
          <a:lstStyle/>
          <a:p>
            <a:r>
              <a:rPr sz="700" b="0" i="0">
                <a:solidFill>
                  <a:srgbClr val="4D4D4D"/>
                </a:solidFill>
                <a:latin typeface="Trenda IG Text"/>
              </a:rPr>
              <a:t>Quality, security and Ascension coding standards</a:t>
            </a:r>
          </a:p>
        </p:txBody>
      </p:sp>
      <p:sp>
        <p:nvSpPr>
          <p:cNvPr id="62" name="Shape 55"/>
          <p:cNvSpPr/>
          <p:nvPr/>
        </p:nvSpPr>
        <p:spPr>
          <a:xfrm>
            <a:off x="7955279" y="2543860"/>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6"/>
          <p:cNvSpPr txBox="1"/>
          <p:nvPr/>
        </p:nvSpPr>
        <p:spPr>
          <a:xfrm>
            <a:off x="7955279" y="2543860"/>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64" name="Shape 57"/>
          <p:cNvSpPr/>
          <p:nvPr/>
        </p:nvSpPr>
        <p:spPr>
          <a:xfrm>
            <a:off x="3063240" y="2761487"/>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hape 58"/>
          <p:cNvSpPr/>
          <p:nvPr/>
        </p:nvSpPr>
        <p:spPr>
          <a:xfrm>
            <a:off x="3136392" y="2777947"/>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59"/>
          <p:cNvSpPr txBox="1"/>
          <p:nvPr/>
        </p:nvSpPr>
        <p:spPr>
          <a:xfrm>
            <a:off x="3136392" y="2777947"/>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6</a:t>
            </a:r>
          </a:p>
        </p:txBody>
      </p:sp>
      <p:sp>
        <p:nvSpPr>
          <p:cNvPr id="67" name="Text 60"/>
          <p:cNvSpPr txBox="1"/>
          <p:nvPr/>
        </p:nvSpPr>
        <p:spPr>
          <a:xfrm>
            <a:off x="3392424" y="2761487"/>
            <a:ext cx="1508760" cy="215798"/>
          </a:xfrm>
          <a:prstGeom prst="rect">
            <a:avLst/>
          </a:prstGeom>
          <a:noFill/>
        </p:spPr>
        <p:txBody>
          <a:bodyPr wrap="square" lIns="0" rIns="0" tIns="0" bIns="0" anchor="ctr">
            <a:spAutoFit/>
          </a:bodyPr>
          <a:lstStyle/>
          <a:p>
            <a:r>
              <a:rPr sz="700" b="1" i="0">
                <a:solidFill>
                  <a:srgbClr val="1A1A1A"/>
                </a:solidFill>
                <a:latin typeface="Trenda IG Text"/>
              </a:rPr>
              <a:t>Test Agent</a:t>
            </a:r>
          </a:p>
        </p:txBody>
      </p:sp>
      <p:sp>
        <p:nvSpPr>
          <p:cNvPr id="68" name="Text 61"/>
          <p:cNvSpPr txBox="1"/>
          <p:nvPr/>
        </p:nvSpPr>
        <p:spPr>
          <a:xfrm>
            <a:off x="4892040" y="2761487"/>
            <a:ext cx="2971799" cy="215798"/>
          </a:xfrm>
          <a:prstGeom prst="rect">
            <a:avLst/>
          </a:prstGeom>
          <a:noFill/>
        </p:spPr>
        <p:txBody>
          <a:bodyPr wrap="square" lIns="0" rIns="0" tIns="0" bIns="0" anchor="ctr">
            <a:spAutoFit/>
          </a:bodyPr>
          <a:lstStyle/>
          <a:p>
            <a:r>
              <a:rPr sz="700" b="0" i="0">
                <a:solidFill>
                  <a:srgbClr val="4D4D4D"/>
                </a:solidFill>
                <a:latin typeface="Trenda IG Text"/>
              </a:rPr>
              <a:t>Unit, regression and performance tests; Zephyr to Copado</a:t>
            </a:r>
          </a:p>
        </p:txBody>
      </p:sp>
      <p:sp>
        <p:nvSpPr>
          <p:cNvPr id="69" name="Shape 62"/>
          <p:cNvSpPr/>
          <p:nvPr/>
        </p:nvSpPr>
        <p:spPr>
          <a:xfrm>
            <a:off x="7955279" y="2796235"/>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3"/>
          <p:cNvSpPr txBox="1"/>
          <p:nvPr/>
        </p:nvSpPr>
        <p:spPr>
          <a:xfrm>
            <a:off x="7955279" y="2796235"/>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71" name="Shape 64"/>
          <p:cNvSpPr/>
          <p:nvPr/>
        </p:nvSpPr>
        <p:spPr>
          <a:xfrm>
            <a:off x="3063240" y="3013862"/>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Shape 65"/>
          <p:cNvSpPr/>
          <p:nvPr/>
        </p:nvSpPr>
        <p:spPr>
          <a:xfrm>
            <a:off x="3136392" y="3030321"/>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6"/>
          <p:cNvSpPr txBox="1"/>
          <p:nvPr/>
        </p:nvSpPr>
        <p:spPr>
          <a:xfrm>
            <a:off x="3136392" y="3030321"/>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7</a:t>
            </a:r>
          </a:p>
        </p:txBody>
      </p:sp>
      <p:sp>
        <p:nvSpPr>
          <p:cNvPr id="74" name="Text 67"/>
          <p:cNvSpPr txBox="1"/>
          <p:nvPr/>
        </p:nvSpPr>
        <p:spPr>
          <a:xfrm>
            <a:off x="3392424" y="3013862"/>
            <a:ext cx="1508760" cy="215798"/>
          </a:xfrm>
          <a:prstGeom prst="rect">
            <a:avLst/>
          </a:prstGeom>
          <a:noFill/>
        </p:spPr>
        <p:txBody>
          <a:bodyPr wrap="square" lIns="0" rIns="0" tIns="0" bIns="0" anchor="ctr">
            <a:spAutoFit/>
          </a:bodyPr>
          <a:lstStyle/>
          <a:p>
            <a:r>
              <a:rPr sz="700" b="1" i="0">
                <a:solidFill>
                  <a:srgbClr val="1A1A1A"/>
                </a:solidFill>
                <a:latin typeface="Trenda IG Text"/>
              </a:rPr>
              <a:t>Release Agent</a:t>
            </a:r>
          </a:p>
        </p:txBody>
      </p:sp>
      <p:sp>
        <p:nvSpPr>
          <p:cNvPr id="75" name="Text 68"/>
          <p:cNvSpPr txBox="1"/>
          <p:nvPr/>
        </p:nvSpPr>
        <p:spPr>
          <a:xfrm>
            <a:off x="4892040" y="3013862"/>
            <a:ext cx="2971799" cy="215798"/>
          </a:xfrm>
          <a:prstGeom prst="rect">
            <a:avLst/>
          </a:prstGeom>
          <a:noFill/>
        </p:spPr>
        <p:txBody>
          <a:bodyPr wrap="square" lIns="0" rIns="0" tIns="0" bIns="0" anchor="ctr">
            <a:spAutoFit/>
          </a:bodyPr>
          <a:lstStyle/>
          <a:p>
            <a:r>
              <a:rPr sz="700" b="0" i="0">
                <a:solidFill>
                  <a:srgbClr val="4D4D4D"/>
                </a:solidFill>
                <a:latin typeface="Trenda IG Text"/>
              </a:rPr>
              <a:t>Packages and promotes through Copado to lower environments</a:t>
            </a:r>
          </a:p>
        </p:txBody>
      </p:sp>
      <p:sp>
        <p:nvSpPr>
          <p:cNvPr id="76" name="Shape 69"/>
          <p:cNvSpPr/>
          <p:nvPr/>
        </p:nvSpPr>
        <p:spPr>
          <a:xfrm>
            <a:off x="7955279" y="3048609"/>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0"/>
          <p:cNvSpPr txBox="1"/>
          <p:nvPr/>
        </p:nvSpPr>
        <p:spPr>
          <a:xfrm>
            <a:off x="7955279" y="3048609"/>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AI-LED</a:t>
            </a:r>
          </a:p>
        </p:txBody>
      </p:sp>
      <p:sp>
        <p:nvSpPr>
          <p:cNvPr id="78" name="Shape 71"/>
          <p:cNvSpPr/>
          <p:nvPr/>
        </p:nvSpPr>
        <p:spPr>
          <a:xfrm>
            <a:off x="3063240" y="3321100"/>
            <a:ext cx="5806440"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2"/>
          <p:cNvSpPr txBox="1"/>
          <p:nvPr/>
        </p:nvSpPr>
        <p:spPr>
          <a:xfrm>
            <a:off x="3154680" y="3321100"/>
            <a:ext cx="5623559" cy="274320"/>
          </a:xfrm>
          <a:prstGeom prst="rect">
            <a:avLst/>
          </a:prstGeom>
          <a:noFill/>
        </p:spPr>
        <p:txBody>
          <a:bodyPr wrap="square" lIns="0" rIns="0" tIns="0" bIns="0" anchor="ctr">
            <a:spAutoFit/>
          </a:bodyPr>
          <a:lstStyle/>
          <a:p>
            <a:r>
              <a:rPr sz="700" b="1" i="0" spc="150">
                <a:solidFill>
                  <a:srgbClr val="1A1A1A"/>
                </a:solidFill>
                <a:latin typeface="Trenda IG Text"/>
              </a:rPr>
              <a:t>CAMPAIGN AGENTS</a:t>
            </a:r>
            <a:r>
              <a:rPr sz="700" b="0" i="0">
                <a:solidFill>
                  <a:srgbClr val="1A1A1A"/>
                </a:solidFill>
                <a:latin typeface="Trenda IG Text"/>
              </a:rPr>
              <a:t>   new · masked data only · services, not agents, release patients</a:t>
            </a:r>
          </a:p>
        </p:txBody>
      </p:sp>
      <p:sp>
        <p:nvSpPr>
          <p:cNvPr id="80" name="Shape 73"/>
          <p:cNvSpPr/>
          <p:nvPr/>
        </p:nvSpPr>
        <p:spPr>
          <a:xfrm>
            <a:off x="3063240" y="3650284"/>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hape 74"/>
          <p:cNvSpPr/>
          <p:nvPr/>
        </p:nvSpPr>
        <p:spPr>
          <a:xfrm>
            <a:off x="3136392" y="3666743"/>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75"/>
          <p:cNvSpPr txBox="1"/>
          <p:nvPr/>
        </p:nvSpPr>
        <p:spPr>
          <a:xfrm>
            <a:off x="3136392" y="3666743"/>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8</a:t>
            </a:r>
          </a:p>
        </p:txBody>
      </p:sp>
      <p:sp>
        <p:nvSpPr>
          <p:cNvPr id="83" name="Text 76"/>
          <p:cNvSpPr txBox="1"/>
          <p:nvPr/>
        </p:nvSpPr>
        <p:spPr>
          <a:xfrm>
            <a:off x="3392424" y="3650284"/>
            <a:ext cx="1508760" cy="215798"/>
          </a:xfrm>
          <a:prstGeom prst="rect">
            <a:avLst/>
          </a:prstGeom>
          <a:noFill/>
        </p:spPr>
        <p:txBody>
          <a:bodyPr wrap="square" lIns="0" rIns="0" tIns="0" bIns="0" anchor="ctr">
            <a:spAutoFit/>
          </a:bodyPr>
          <a:lstStyle/>
          <a:p>
            <a:r>
              <a:rPr sz="700" b="1" i="0">
                <a:solidFill>
                  <a:srgbClr val="1A1A1A"/>
                </a:solidFill>
                <a:latin typeface="Trenda IG Text"/>
              </a:rPr>
              <a:t>Orchestrator Agent</a:t>
            </a:r>
          </a:p>
        </p:txBody>
      </p:sp>
      <p:sp>
        <p:nvSpPr>
          <p:cNvPr id="84" name="Text 77"/>
          <p:cNvSpPr txBox="1"/>
          <p:nvPr/>
        </p:nvSpPr>
        <p:spPr>
          <a:xfrm>
            <a:off x="4892040" y="3650284"/>
            <a:ext cx="2971799" cy="215798"/>
          </a:xfrm>
          <a:prstGeom prst="rect">
            <a:avLst/>
          </a:prstGeom>
          <a:noFill/>
        </p:spPr>
        <p:txBody>
          <a:bodyPr wrap="square" lIns="0" rIns="0" tIns="0" bIns="0" anchor="ctr">
            <a:spAutoFit/>
          </a:bodyPr>
          <a:lstStyle/>
          <a:p>
            <a:r>
              <a:rPr sz="700" b="0" i="0">
                <a:solidFill>
                  <a:srgbClr val="4D4D4D"/>
                </a:solidFill>
                <a:latin typeface="Trenda IG Text"/>
              </a:rPr>
              <a:t>Coordinates opportunity analysis, approvals and execution steps</a:t>
            </a:r>
          </a:p>
        </p:txBody>
      </p:sp>
      <p:sp>
        <p:nvSpPr>
          <p:cNvPr id="85" name="Shape 78"/>
          <p:cNvSpPr/>
          <p:nvPr/>
        </p:nvSpPr>
        <p:spPr>
          <a:xfrm>
            <a:off x="7955279" y="3685031"/>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79"/>
          <p:cNvSpPr txBox="1"/>
          <p:nvPr/>
        </p:nvSpPr>
        <p:spPr>
          <a:xfrm>
            <a:off x="7955279" y="3685031"/>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COORDINATES</a:t>
            </a:r>
          </a:p>
        </p:txBody>
      </p:sp>
      <p:sp>
        <p:nvSpPr>
          <p:cNvPr id="87" name="Shape 80"/>
          <p:cNvSpPr/>
          <p:nvPr/>
        </p:nvSpPr>
        <p:spPr>
          <a:xfrm>
            <a:off x="3063240" y="3902659"/>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Shape 81"/>
          <p:cNvSpPr/>
          <p:nvPr/>
        </p:nvSpPr>
        <p:spPr>
          <a:xfrm>
            <a:off x="3136392" y="3919118"/>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2"/>
          <p:cNvSpPr txBox="1"/>
          <p:nvPr/>
        </p:nvSpPr>
        <p:spPr>
          <a:xfrm>
            <a:off x="3136392" y="3919118"/>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9</a:t>
            </a:r>
          </a:p>
        </p:txBody>
      </p:sp>
      <p:sp>
        <p:nvSpPr>
          <p:cNvPr id="90" name="Text 83"/>
          <p:cNvSpPr txBox="1"/>
          <p:nvPr/>
        </p:nvSpPr>
        <p:spPr>
          <a:xfrm>
            <a:off x="3392424" y="3902659"/>
            <a:ext cx="1508760" cy="215798"/>
          </a:xfrm>
          <a:prstGeom prst="rect">
            <a:avLst/>
          </a:prstGeom>
          <a:noFill/>
        </p:spPr>
        <p:txBody>
          <a:bodyPr wrap="square" lIns="0" rIns="0" tIns="0" bIns="0" anchor="ctr">
            <a:spAutoFit/>
          </a:bodyPr>
          <a:lstStyle/>
          <a:p>
            <a:r>
              <a:rPr sz="700" b="1" i="0">
                <a:solidFill>
                  <a:srgbClr val="1A1A1A"/>
                </a:solidFill>
                <a:latin typeface="Trenda IG Text"/>
              </a:rPr>
              <a:t>Campaign Strategist</a:t>
            </a:r>
          </a:p>
        </p:txBody>
      </p:sp>
      <p:sp>
        <p:nvSpPr>
          <p:cNvPr id="91" name="Text 84"/>
          <p:cNvSpPr txBox="1"/>
          <p:nvPr/>
        </p:nvSpPr>
        <p:spPr>
          <a:xfrm>
            <a:off x="4892040" y="3902659"/>
            <a:ext cx="2971799" cy="215798"/>
          </a:xfrm>
          <a:prstGeom prst="rect">
            <a:avLst/>
          </a:prstGeom>
          <a:noFill/>
        </p:spPr>
        <p:txBody>
          <a:bodyPr wrap="square" lIns="0" rIns="0" tIns="0" bIns="0" anchor="ctr">
            <a:spAutoFit/>
          </a:bodyPr>
          <a:lstStyle/>
          <a:p>
            <a:r>
              <a:rPr sz="700" b="0" i="0">
                <a:solidFill>
                  <a:srgbClr val="4D4D4D"/>
                </a:solidFill>
                <a:latin typeface="Trenda IG Text"/>
              </a:rPr>
              <a:t>Identifies campaigns from approved, aggregated insight (Gold A)</a:t>
            </a:r>
          </a:p>
        </p:txBody>
      </p:sp>
      <p:sp>
        <p:nvSpPr>
          <p:cNvPr id="92" name="Shape 85"/>
          <p:cNvSpPr/>
          <p:nvPr/>
        </p:nvSpPr>
        <p:spPr>
          <a:xfrm>
            <a:off x="7955279" y="3937406"/>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6"/>
          <p:cNvSpPr txBox="1"/>
          <p:nvPr/>
        </p:nvSpPr>
        <p:spPr>
          <a:xfrm>
            <a:off x="7955279" y="3937406"/>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94" name="Shape 87"/>
          <p:cNvSpPr/>
          <p:nvPr/>
        </p:nvSpPr>
        <p:spPr>
          <a:xfrm>
            <a:off x="3063240" y="4155033"/>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hape 88"/>
          <p:cNvSpPr/>
          <p:nvPr/>
        </p:nvSpPr>
        <p:spPr>
          <a:xfrm>
            <a:off x="3136392" y="4171492"/>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89"/>
          <p:cNvSpPr txBox="1"/>
          <p:nvPr/>
        </p:nvSpPr>
        <p:spPr>
          <a:xfrm>
            <a:off x="3136392" y="4171492"/>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10</a:t>
            </a:r>
          </a:p>
        </p:txBody>
      </p:sp>
      <p:sp>
        <p:nvSpPr>
          <p:cNvPr id="97" name="Text 90"/>
          <p:cNvSpPr txBox="1"/>
          <p:nvPr/>
        </p:nvSpPr>
        <p:spPr>
          <a:xfrm>
            <a:off x="3392424" y="4155033"/>
            <a:ext cx="1508760" cy="215798"/>
          </a:xfrm>
          <a:prstGeom prst="rect">
            <a:avLst/>
          </a:prstGeom>
          <a:noFill/>
        </p:spPr>
        <p:txBody>
          <a:bodyPr wrap="square" lIns="0" rIns="0" tIns="0" bIns="0" anchor="ctr">
            <a:spAutoFit/>
          </a:bodyPr>
          <a:lstStyle/>
          <a:p>
            <a:r>
              <a:rPr sz="700" b="1" i="0">
                <a:solidFill>
                  <a:srgbClr val="1A1A1A"/>
                </a:solidFill>
                <a:latin typeface="Trenda IG Text"/>
              </a:rPr>
              <a:t>Audience Analytics</a:t>
            </a:r>
          </a:p>
        </p:txBody>
      </p:sp>
      <p:sp>
        <p:nvSpPr>
          <p:cNvPr id="98" name="Text 91"/>
          <p:cNvSpPr txBox="1"/>
          <p:nvPr/>
        </p:nvSpPr>
        <p:spPr>
          <a:xfrm>
            <a:off x="4892040" y="4155033"/>
            <a:ext cx="2971799" cy="215798"/>
          </a:xfrm>
          <a:prstGeom prst="rect">
            <a:avLst/>
          </a:prstGeom>
          <a:noFill/>
        </p:spPr>
        <p:txBody>
          <a:bodyPr wrap="square" lIns="0" rIns="0" tIns="0" bIns="0" anchor="ctr">
            <a:spAutoFit/>
          </a:bodyPr>
          <a:lstStyle/>
          <a:p>
            <a:r>
              <a:rPr sz="700" b="0" i="0">
                <a:solidFill>
                  <a:srgbClr val="4D4D4D"/>
                </a:solidFill>
                <a:latin typeface="Trenda IG Text"/>
              </a:rPr>
              <a:t>Aggregate cohorts, overlap and reach; counts, never names</a:t>
            </a:r>
          </a:p>
        </p:txBody>
      </p:sp>
      <p:sp>
        <p:nvSpPr>
          <p:cNvPr id="99" name="Shape 92"/>
          <p:cNvSpPr/>
          <p:nvPr/>
        </p:nvSpPr>
        <p:spPr>
          <a:xfrm>
            <a:off x="7955279" y="4189780"/>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3"/>
          <p:cNvSpPr txBox="1"/>
          <p:nvPr/>
        </p:nvSpPr>
        <p:spPr>
          <a:xfrm>
            <a:off x="7955279" y="4189780"/>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AI-LED</a:t>
            </a:r>
          </a:p>
        </p:txBody>
      </p:sp>
      <p:sp>
        <p:nvSpPr>
          <p:cNvPr id="101" name="Shape 94"/>
          <p:cNvSpPr/>
          <p:nvPr/>
        </p:nvSpPr>
        <p:spPr>
          <a:xfrm>
            <a:off x="3063240" y="4407407"/>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Shape 95"/>
          <p:cNvSpPr/>
          <p:nvPr/>
        </p:nvSpPr>
        <p:spPr>
          <a:xfrm>
            <a:off x="3136392" y="4423867"/>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96"/>
          <p:cNvSpPr txBox="1"/>
          <p:nvPr/>
        </p:nvSpPr>
        <p:spPr>
          <a:xfrm>
            <a:off x="3136392" y="4423867"/>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11</a:t>
            </a:r>
          </a:p>
        </p:txBody>
      </p:sp>
      <p:sp>
        <p:nvSpPr>
          <p:cNvPr id="104" name="Text 97"/>
          <p:cNvSpPr txBox="1"/>
          <p:nvPr/>
        </p:nvSpPr>
        <p:spPr>
          <a:xfrm>
            <a:off x="3392424" y="4407407"/>
            <a:ext cx="1508760" cy="215798"/>
          </a:xfrm>
          <a:prstGeom prst="rect">
            <a:avLst/>
          </a:prstGeom>
          <a:noFill/>
        </p:spPr>
        <p:txBody>
          <a:bodyPr wrap="square" lIns="0" rIns="0" tIns="0" bIns="0" anchor="ctr">
            <a:spAutoFit/>
          </a:bodyPr>
          <a:lstStyle/>
          <a:p>
            <a:r>
              <a:rPr sz="700" b="1" i="0">
                <a:solidFill>
                  <a:srgbClr val="1A1A1A"/>
                </a:solidFill>
                <a:latin typeface="Trenda IG Text"/>
              </a:rPr>
              <a:t>Compliance Guardian</a:t>
            </a:r>
          </a:p>
        </p:txBody>
      </p:sp>
      <p:sp>
        <p:nvSpPr>
          <p:cNvPr id="105" name="Text 98"/>
          <p:cNvSpPr txBox="1"/>
          <p:nvPr/>
        </p:nvSpPr>
        <p:spPr>
          <a:xfrm>
            <a:off x="4892040" y="4407407"/>
            <a:ext cx="2971799" cy="215798"/>
          </a:xfrm>
          <a:prstGeom prst="rect">
            <a:avLst/>
          </a:prstGeom>
          <a:noFill/>
        </p:spPr>
        <p:txBody>
          <a:bodyPr wrap="square" lIns="0" rIns="0" tIns="0" bIns="0" anchor="ctr">
            <a:spAutoFit/>
          </a:bodyPr>
          <a:lstStyle/>
          <a:p>
            <a:r>
              <a:rPr sz="700" b="0" i="0">
                <a:solidFill>
                  <a:srgbClr val="4D4D4D"/>
                </a:solidFill>
                <a:latin typeface="Trenda IG Text"/>
              </a:rPr>
              <a:t>Investigates policy risk, prepares evidence; cannot override policy</a:t>
            </a:r>
          </a:p>
        </p:txBody>
      </p:sp>
      <p:sp>
        <p:nvSpPr>
          <p:cNvPr id="106" name="Shape 99"/>
          <p:cNvSpPr/>
          <p:nvPr/>
        </p:nvSpPr>
        <p:spPr>
          <a:xfrm>
            <a:off x="7955279" y="4442155"/>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0"/>
          <p:cNvSpPr txBox="1"/>
          <p:nvPr/>
        </p:nvSpPr>
        <p:spPr>
          <a:xfrm>
            <a:off x="7955279" y="4442155"/>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GUARD</a:t>
            </a:r>
          </a:p>
        </p:txBody>
      </p:sp>
      <p:sp>
        <p:nvSpPr>
          <p:cNvPr id="108" name="Shape 101"/>
          <p:cNvSpPr/>
          <p:nvPr/>
        </p:nvSpPr>
        <p:spPr>
          <a:xfrm>
            <a:off x="3063240" y="4659782"/>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Shape 102"/>
          <p:cNvSpPr/>
          <p:nvPr/>
        </p:nvSpPr>
        <p:spPr>
          <a:xfrm>
            <a:off x="3136392" y="4676241"/>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3"/>
          <p:cNvSpPr txBox="1"/>
          <p:nvPr/>
        </p:nvSpPr>
        <p:spPr>
          <a:xfrm>
            <a:off x="3136392" y="4676241"/>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12</a:t>
            </a:r>
          </a:p>
        </p:txBody>
      </p:sp>
      <p:sp>
        <p:nvSpPr>
          <p:cNvPr id="111" name="Text 104"/>
          <p:cNvSpPr txBox="1"/>
          <p:nvPr/>
        </p:nvSpPr>
        <p:spPr>
          <a:xfrm>
            <a:off x="3392424" y="4659782"/>
            <a:ext cx="1508760" cy="215798"/>
          </a:xfrm>
          <a:prstGeom prst="rect">
            <a:avLst/>
          </a:prstGeom>
          <a:noFill/>
        </p:spPr>
        <p:txBody>
          <a:bodyPr wrap="square" lIns="0" rIns="0" tIns="0" bIns="0" anchor="ctr">
            <a:spAutoFit/>
          </a:bodyPr>
          <a:lstStyle/>
          <a:p>
            <a:r>
              <a:rPr sz="700" b="1" i="0">
                <a:solidFill>
                  <a:srgbClr val="1A1A1A"/>
                </a:solidFill>
                <a:latin typeface="Trenda IG Text"/>
              </a:rPr>
              <a:t>Campaign Design</a:t>
            </a:r>
          </a:p>
        </p:txBody>
      </p:sp>
      <p:sp>
        <p:nvSpPr>
          <p:cNvPr id="112" name="Text 105"/>
          <p:cNvSpPr txBox="1"/>
          <p:nvPr/>
        </p:nvSpPr>
        <p:spPr>
          <a:xfrm>
            <a:off x="4892040" y="4659782"/>
            <a:ext cx="2971799" cy="215798"/>
          </a:xfrm>
          <a:prstGeom prst="rect">
            <a:avLst/>
          </a:prstGeom>
          <a:noFill/>
        </p:spPr>
        <p:txBody>
          <a:bodyPr wrap="square" lIns="0" rIns="0" tIns="0" bIns="0" anchor="ctr">
            <a:spAutoFit/>
          </a:bodyPr>
          <a:lstStyle/>
          <a:p>
            <a:r>
              <a:rPr sz="700" b="0" i="0">
                <a:solidFill>
                  <a:srgbClr val="4D4D4D"/>
                </a:solidFill>
                <a:latin typeface="Trenda IG Text"/>
              </a:rPr>
              <a:t>Platform-ready specs; journeys on Marketing Cloud's native tools</a:t>
            </a:r>
          </a:p>
        </p:txBody>
      </p:sp>
      <p:sp>
        <p:nvSpPr>
          <p:cNvPr id="113" name="Shape 106"/>
          <p:cNvSpPr/>
          <p:nvPr/>
        </p:nvSpPr>
        <p:spPr>
          <a:xfrm>
            <a:off x="7955279" y="4694529"/>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7"/>
          <p:cNvSpPr txBox="1"/>
          <p:nvPr/>
        </p:nvSpPr>
        <p:spPr>
          <a:xfrm>
            <a:off x="7955279" y="4694529"/>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115" name="Shape 108"/>
          <p:cNvSpPr/>
          <p:nvPr/>
        </p:nvSpPr>
        <p:spPr>
          <a:xfrm>
            <a:off x="3063240" y="4912156"/>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Shape 109"/>
          <p:cNvSpPr/>
          <p:nvPr/>
        </p:nvSpPr>
        <p:spPr>
          <a:xfrm>
            <a:off x="3136392" y="4928615"/>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10"/>
          <p:cNvSpPr txBox="1"/>
          <p:nvPr/>
        </p:nvSpPr>
        <p:spPr>
          <a:xfrm>
            <a:off x="3136392" y="4928615"/>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13</a:t>
            </a:r>
          </a:p>
        </p:txBody>
      </p:sp>
      <p:sp>
        <p:nvSpPr>
          <p:cNvPr id="118" name="Text 111"/>
          <p:cNvSpPr txBox="1"/>
          <p:nvPr/>
        </p:nvSpPr>
        <p:spPr>
          <a:xfrm>
            <a:off x="3392424" y="4912156"/>
            <a:ext cx="1508760" cy="215798"/>
          </a:xfrm>
          <a:prstGeom prst="rect">
            <a:avLst/>
          </a:prstGeom>
          <a:noFill/>
        </p:spPr>
        <p:txBody>
          <a:bodyPr wrap="square" lIns="0" rIns="0" tIns="0" bIns="0" anchor="ctr">
            <a:spAutoFit/>
          </a:bodyPr>
          <a:lstStyle/>
          <a:p>
            <a:r>
              <a:rPr sz="700" b="1" i="0">
                <a:solidFill>
                  <a:srgbClr val="1A1A1A"/>
                </a:solidFill>
                <a:latin typeface="Trenda IG Text"/>
              </a:rPr>
              <a:t>Activation Readiness</a:t>
            </a:r>
          </a:p>
        </p:txBody>
      </p:sp>
      <p:sp>
        <p:nvSpPr>
          <p:cNvPr id="119" name="Text 112"/>
          <p:cNvSpPr txBox="1"/>
          <p:nvPr/>
        </p:nvSpPr>
        <p:spPr>
          <a:xfrm>
            <a:off x="4892040" y="4912156"/>
            <a:ext cx="2971799" cy="215798"/>
          </a:xfrm>
          <a:prstGeom prst="rect">
            <a:avLst/>
          </a:prstGeom>
          <a:noFill/>
        </p:spPr>
        <p:txBody>
          <a:bodyPr wrap="square" lIns="0" rIns="0" tIns="0" bIns="0" anchor="ctr">
            <a:spAutoFit/>
          </a:bodyPr>
          <a:lstStyle/>
          <a:p>
            <a:r>
              <a:rPr sz="700" b="0" i="0">
                <a:solidFill>
                  <a:srgbClr val="4D4D4D"/>
                </a:solidFill>
                <a:latin typeface="Trenda IG Text"/>
              </a:rPr>
              <a:t>Tests on test contacts; readiness report without raw PHI</a:t>
            </a:r>
          </a:p>
        </p:txBody>
      </p:sp>
      <p:sp>
        <p:nvSpPr>
          <p:cNvPr id="120" name="Shape 113"/>
          <p:cNvSpPr/>
          <p:nvPr/>
        </p:nvSpPr>
        <p:spPr>
          <a:xfrm>
            <a:off x="7955279" y="4946903"/>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14"/>
          <p:cNvSpPr txBox="1"/>
          <p:nvPr/>
        </p:nvSpPr>
        <p:spPr>
          <a:xfrm>
            <a:off x="7955279" y="4946903"/>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GUARD</a:t>
            </a:r>
          </a:p>
        </p:txBody>
      </p:sp>
      <p:sp>
        <p:nvSpPr>
          <p:cNvPr id="122" name="Shape 115"/>
          <p:cNvSpPr/>
          <p:nvPr/>
        </p:nvSpPr>
        <p:spPr>
          <a:xfrm>
            <a:off x="3063240" y="5164531"/>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Shape 116"/>
          <p:cNvSpPr/>
          <p:nvPr/>
        </p:nvSpPr>
        <p:spPr>
          <a:xfrm>
            <a:off x="3136392" y="5180990"/>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17"/>
          <p:cNvSpPr txBox="1"/>
          <p:nvPr/>
        </p:nvSpPr>
        <p:spPr>
          <a:xfrm>
            <a:off x="3136392" y="5180990"/>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14</a:t>
            </a:r>
          </a:p>
        </p:txBody>
      </p:sp>
      <p:sp>
        <p:nvSpPr>
          <p:cNvPr id="125" name="Text 118"/>
          <p:cNvSpPr txBox="1"/>
          <p:nvPr/>
        </p:nvSpPr>
        <p:spPr>
          <a:xfrm>
            <a:off x="3392424" y="5164531"/>
            <a:ext cx="1508760" cy="215798"/>
          </a:xfrm>
          <a:prstGeom prst="rect">
            <a:avLst/>
          </a:prstGeom>
          <a:noFill/>
        </p:spPr>
        <p:txBody>
          <a:bodyPr wrap="square" lIns="0" rIns="0" tIns="0" bIns="0" anchor="ctr">
            <a:spAutoFit/>
          </a:bodyPr>
          <a:lstStyle/>
          <a:p>
            <a:r>
              <a:rPr sz="700" b="1" i="0">
                <a:solidFill>
                  <a:srgbClr val="1A1A1A"/>
                </a:solidFill>
                <a:latin typeface="Trenda IG Text"/>
              </a:rPr>
              <a:t>Measurement Agent</a:t>
            </a:r>
          </a:p>
        </p:txBody>
      </p:sp>
      <p:sp>
        <p:nvSpPr>
          <p:cNvPr id="126" name="Text 119"/>
          <p:cNvSpPr txBox="1"/>
          <p:nvPr/>
        </p:nvSpPr>
        <p:spPr>
          <a:xfrm>
            <a:off x="4892040" y="5164531"/>
            <a:ext cx="2971799" cy="215798"/>
          </a:xfrm>
          <a:prstGeom prst="rect">
            <a:avLst/>
          </a:prstGeom>
          <a:noFill/>
        </p:spPr>
        <p:txBody>
          <a:bodyPr wrap="square" lIns="0" rIns="0" tIns="0" bIns="0" anchor="ctr">
            <a:spAutoFit/>
          </a:bodyPr>
          <a:lstStyle/>
          <a:p>
            <a:r>
              <a:rPr sz="700" b="0" i="0">
                <a:solidFill>
                  <a:srgbClr val="4D4D4D"/>
                </a:solidFill>
                <a:latin typeface="Trenda IG Text"/>
              </a:rPr>
              <a:t>Aggregated outcomes, forecasts and experiments; ROI report</a:t>
            </a:r>
          </a:p>
        </p:txBody>
      </p:sp>
      <p:sp>
        <p:nvSpPr>
          <p:cNvPr id="127" name="Shape 120"/>
          <p:cNvSpPr/>
          <p:nvPr/>
        </p:nvSpPr>
        <p:spPr>
          <a:xfrm>
            <a:off x="7955279" y="5199278"/>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 121"/>
          <p:cNvSpPr txBox="1"/>
          <p:nvPr/>
        </p:nvSpPr>
        <p:spPr>
          <a:xfrm>
            <a:off x="7955279" y="5199278"/>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AI-LED</a:t>
            </a:r>
          </a:p>
        </p:txBody>
      </p:sp>
      <p:sp>
        <p:nvSpPr>
          <p:cNvPr id="129" name="Shape 122"/>
          <p:cNvSpPr/>
          <p:nvPr/>
        </p:nvSpPr>
        <p:spPr>
          <a:xfrm>
            <a:off x="9006840" y="1170432"/>
            <a:ext cx="2770632"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 123"/>
          <p:cNvSpPr txBox="1"/>
          <p:nvPr/>
        </p:nvSpPr>
        <p:spPr>
          <a:xfrm>
            <a:off x="9098280" y="1170432"/>
            <a:ext cx="2587751" cy="274320"/>
          </a:xfrm>
          <a:prstGeom prst="rect">
            <a:avLst/>
          </a:prstGeom>
          <a:noFill/>
        </p:spPr>
        <p:txBody>
          <a:bodyPr wrap="square" lIns="0" rIns="0" tIns="0" bIns="0" anchor="ctr">
            <a:spAutoFit/>
          </a:bodyPr>
          <a:lstStyle/>
          <a:p>
            <a:r>
              <a:rPr sz="700" b="1" i="0" spc="150">
                <a:solidFill>
                  <a:srgbClr val="1A1A1A"/>
                </a:solidFill>
                <a:latin typeface="Trenda IG Text"/>
              </a:rPr>
              <a:t>POD SKILLS</a:t>
            </a:r>
            <a:r>
              <a:rPr sz="700" b="0" i="0">
                <a:solidFill>
                  <a:srgbClr val="1A1A1A"/>
                </a:solidFill>
                <a:latin typeface="Trenda IG Text"/>
              </a:rPr>
              <a:t>   what changes per pod</a:t>
            </a:r>
          </a:p>
        </p:txBody>
      </p:sp>
      <p:sp>
        <p:nvSpPr>
          <p:cNvPr id="131" name="Shape 124"/>
          <p:cNvSpPr/>
          <p:nvPr/>
        </p:nvSpPr>
        <p:spPr>
          <a:xfrm>
            <a:off x="9006840" y="1444752"/>
            <a:ext cx="2770632" cy="3995928"/>
          </a:xfrm>
          <a:prstGeom prst="rect">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2" name="Picture 131" descr="salesforce.png"/>
          <p:cNvPicPr>
            <a:picLocks noChangeAspect="1"/>
          </p:cNvPicPr>
          <p:nvPr/>
        </p:nvPicPr>
        <p:blipFill>
          <a:blip r:embed="rId4"/>
          <a:stretch>
            <a:fillRect/>
          </a:stretch>
        </p:blipFill>
        <p:spPr>
          <a:xfrm>
            <a:off x="9116567" y="1563624"/>
            <a:ext cx="182880" cy="182880"/>
          </a:xfrm>
          <a:prstGeom prst="rect">
            <a:avLst/>
          </a:prstGeom>
        </p:spPr>
      </p:pic>
      <p:sp>
        <p:nvSpPr>
          <p:cNvPr id="133" name="Text 125"/>
          <p:cNvSpPr txBox="1"/>
          <p:nvPr/>
        </p:nvSpPr>
        <p:spPr>
          <a:xfrm>
            <a:off x="9363455" y="1554480"/>
            <a:ext cx="2551176" cy="201168"/>
          </a:xfrm>
          <a:prstGeom prst="rect">
            <a:avLst/>
          </a:prstGeom>
          <a:noFill/>
        </p:spPr>
        <p:txBody>
          <a:bodyPr wrap="square" lIns="0" rIns="0" tIns="0" bIns="0" anchor="ctr">
            <a:spAutoFit/>
          </a:bodyPr>
          <a:lstStyle/>
          <a:p>
            <a:r>
              <a:rPr sz="800" b="1" i="0">
                <a:solidFill>
                  <a:srgbClr val="1A1A1A"/>
                </a:solidFill>
                <a:latin typeface="Trenda IG Text"/>
              </a:rPr>
              <a:t>Health Cloud pods</a:t>
            </a:r>
          </a:p>
        </p:txBody>
      </p:sp>
      <p:sp>
        <p:nvSpPr>
          <p:cNvPr id="134" name="Text 126"/>
          <p:cNvSpPr txBox="1"/>
          <p:nvPr/>
        </p:nvSpPr>
        <p:spPr>
          <a:xfrm>
            <a:off x="9116567" y="1755648"/>
            <a:ext cx="2551176" cy="182880"/>
          </a:xfrm>
          <a:prstGeom prst="rect">
            <a:avLst/>
          </a:prstGeom>
          <a:noFill/>
        </p:spPr>
        <p:txBody>
          <a:bodyPr wrap="square" lIns="0" rIns="0" tIns="0" bIns="0" anchor="t">
            <a:spAutoFit/>
          </a:bodyPr>
          <a:lstStyle/>
          <a:p>
            <a:r>
              <a:rPr sz="700" b="0" i="0">
                <a:solidFill>
                  <a:srgbClr val="6B6B6B"/>
                </a:solidFill>
                <a:latin typeface="Trenda IG Text"/>
              </a:rPr>
              <a:t>Network Services, Clinical Transformation, Contact Center</a:t>
            </a:r>
          </a:p>
        </p:txBody>
      </p:sp>
      <p:sp>
        <p:nvSpPr>
          <p:cNvPr id="135" name="Text 127"/>
          <p:cNvSpPr txBox="1"/>
          <p:nvPr/>
        </p:nvSpPr>
        <p:spPr>
          <a:xfrm>
            <a:off x="9116567" y="1938528"/>
            <a:ext cx="2551176" cy="329184"/>
          </a:xfrm>
          <a:prstGeom prst="rect">
            <a:avLst/>
          </a:prstGeom>
          <a:noFill/>
        </p:spPr>
        <p:txBody>
          <a:bodyPr wrap="square" lIns="0" rIns="0" tIns="0" bIns="0" anchor="t">
            <a:spAutoFit/>
          </a:bodyPr>
          <a:lstStyle/>
          <a:p>
            <a:r>
              <a:rPr sz="700" b="0" i="0">
                <a:solidFill>
                  <a:srgbClr val="1A1A1A"/>
                </a:solidFill>
                <a:latin typeface="Trenda IG Text"/>
              </a:rPr>
              <a:t>Apex, Flows, LWC, sharing, Health Cloud objects</a:t>
            </a:r>
          </a:p>
        </p:txBody>
      </p:sp>
      <p:sp>
        <p:nvSpPr>
          <p:cNvPr id="136" name="Shape 128"/>
          <p:cNvSpPr/>
          <p:nvPr/>
        </p:nvSpPr>
        <p:spPr>
          <a:xfrm>
            <a:off x="9116567" y="2267712"/>
            <a:ext cx="1060704" cy="164592"/>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 129"/>
          <p:cNvSpPr txBox="1"/>
          <p:nvPr/>
        </p:nvSpPr>
        <p:spPr>
          <a:xfrm>
            <a:off x="9116567" y="2267712"/>
            <a:ext cx="1060704" cy="164592"/>
          </a:xfrm>
          <a:prstGeom prst="rect">
            <a:avLst/>
          </a:prstGeom>
          <a:noFill/>
        </p:spPr>
        <p:txBody>
          <a:bodyPr wrap="square" lIns="0" rIns="0" tIns="0" bIns="0" anchor="ctr">
            <a:spAutoFit/>
          </a:bodyPr>
          <a:lstStyle/>
          <a:p>
            <a:pPr algn="ctr"/>
            <a:r>
              <a:rPr sz="700" b="1" i="0" spc="80">
                <a:solidFill>
                  <a:srgbClr val="1A1A1A"/>
                </a:solidFill>
                <a:latin typeface="Trenda IG Text"/>
              </a:rPr>
              <a:t>DELIVERY AGENTS</a:t>
            </a:r>
          </a:p>
        </p:txBody>
      </p:sp>
      <p:pic>
        <p:nvPicPr>
          <p:cNvPr id="138" name="Picture 137" descr="salesforce.png"/>
          <p:cNvPicPr>
            <a:picLocks noChangeAspect="1"/>
          </p:cNvPicPr>
          <p:nvPr/>
        </p:nvPicPr>
        <p:blipFill>
          <a:blip r:embed="rId4"/>
          <a:stretch>
            <a:fillRect/>
          </a:stretch>
        </p:blipFill>
        <p:spPr>
          <a:xfrm>
            <a:off x="9116567" y="2587752"/>
            <a:ext cx="182880" cy="182880"/>
          </a:xfrm>
          <a:prstGeom prst="rect">
            <a:avLst/>
          </a:prstGeom>
        </p:spPr>
      </p:pic>
      <p:sp>
        <p:nvSpPr>
          <p:cNvPr id="139" name="Text 130"/>
          <p:cNvSpPr txBox="1"/>
          <p:nvPr/>
        </p:nvSpPr>
        <p:spPr>
          <a:xfrm>
            <a:off x="9363455" y="2578608"/>
            <a:ext cx="2551176" cy="201168"/>
          </a:xfrm>
          <a:prstGeom prst="rect">
            <a:avLst/>
          </a:prstGeom>
          <a:noFill/>
        </p:spPr>
        <p:txBody>
          <a:bodyPr wrap="square" lIns="0" rIns="0" tIns="0" bIns="0" anchor="ctr">
            <a:spAutoFit/>
          </a:bodyPr>
          <a:lstStyle/>
          <a:p>
            <a:r>
              <a:rPr sz="800" b="1" i="0">
                <a:solidFill>
                  <a:srgbClr val="0089A0"/>
                </a:solidFill>
                <a:latin typeface="Trenda IG Text"/>
              </a:rPr>
              <a:t>Marketing Cloud pods</a:t>
            </a:r>
          </a:p>
        </p:txBody>
      </p:sp>
      <p:sp>
        <p:nvSpPr>
          <p:cNvPr id="140" name="Text 131"/>
          <p:cNvSpPr txBox="1"/>
          <p:nvPr/>
        </p:nvSpPr>
        <p:spPr>
          <a:xfrm>
            <a:off x="9116567" y="2779776"/>
            <a:ext cx="2551176" cy="182880"/>
          </a:xfrm>
          <a:prstGeom prst="rect">
            <a:avLst/>
          </a:prstGeom>
          <a:noFill/>
        </p:spPr>
        <p:txBody>
          <a:bodyPr wrap="square" lIns="0" rIns="0" tIns="0" bIns="0" anchor="t">
            <a:spAutoFit/>
          </a:bodyPr>
          <a:lstStyle/>
          <a:p>
            <a:r>
              <a:rPr sz="700" b="0" i="0">
                <a:solidFill>
                  <a:srgbClr val="6B6B6B"/>
                </a:solidFill>
                <a:latin typeface="Trenda IG Text"/>
              </a:rPr>
              <a:t>Nudge / Demand, VBC outreach</a:t>
            </a:r>
          </a:p>
        </p:txBody>
      </p:sp>
      <p:sp>
        <p:nvSpPr>
          <p:cNvPr id="141" name="Text 132"/>
          <p:cNvSpPr txBox="1"/>
          <p:nvPr/>
        </p:nvSpPr>
        <p:spPr>
          <a:xfrm>
            <a:off x="9116567" y="2962656"/>
            <a:ext cx="2551176" cy="329184"/>
          </a:xfrm>
          <a:prstGeom prst="rect">
            <a:avLst/>
          </a:prstGeom>
          <a:noFill/>
        </p:spPr>
        <p:txBody>
          <a:bodyPr wrap="square" lIns="0" rIns="0" tIns="0" bIns="0" anchor="t">
            <a:spAutoFit/>
          </a:bodyPr>
          <a:lstStyle/>
          <a:p>
            <a:r>
              <a:rPr sz="700" b="0" i="0">
                <a:solidFill>
                  <a:srgbClr val="1A1A1A"/>
                </a:solidFill>
                <a:latin typeface="Trenda IG Text"/>
              </a:rPr>
              <a:t>Data Cloud, SFMC SQL, AMPscript, journeys</a:t>
            </a:r>
          </a:p>
        </p:txBody>
      </p:sp>
      <p:sp>
        <p:nvSpPr>
          <p:cNvPr id="142" name="Shape 133"/>
          <p:cNvSpPr/>
          <p:nvPr/>
        </p:nvSpPr>
        <p:spPr>
          <a:xfrm>
            <a:off x="9116567" y="3291840"/>
            <a:ext cx="1704441" cy="164592"/>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 134"/>
          <p:cNvSpPr txBox="1"/>
          <p:nvPr/>
        </p:nvSpPr>
        <p:spPr>
          <a:xfrm>
            <a:off x="9116567" y="3291840"/>
            <a:ext cx="1704441" cy="164592"/>
          </a:xfrm>
          <a:prstGeom prst="rect">
            <a:avLst/>
          </a:prstGeom>
          <a:noFill/>
        </p:spPr>
        <p:txBody>
          <a:bodyPr wrap="square" lIns="0" rIns="0" tIns="0" bIns="0" anchor="ctr">
            <a:spAutoFit/>
          </a:bodyPr>
          <a:lstStyle/>
          <a:p>
            <a:pPr algn="ctr"/>
            <a:r>
              <a:rPr sz="700" b="1" i="0" spc="80">
                <a:solidFill>
                  <a:srgbClr val="0089A0"/>
                </a:solidFill>
                <a:latin typeface="Trenda IG Text"/>
              </a:rPr>
              <a:t>DELIVERY + CAMPAIGN AGENTS</a:t>
            </a:r>
          </a:p>
        </p:txBody>
      </p:sp>
      <p:sp>
        <p:nvSpPr>
          <p:cNvPr id="144" name="Shape 135"/>
          <p:cNvSpPr/>
          <p:nvPr/>
        </p:nvSpPr>
        <p:spPr>
          <a:xfrm>
            <a:off x="10875873" y="3291840"/>
            <a:ext cx="651052" cy="164592"/>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 136"/>
          <p:cNvSpPr txBox="1"/>
          <p:nvPr/>
        </p:nvSpPr>
        <p:spPr>
          <a:xfrm>
            <a:off x="10875873" y="3291840"/>
            <a:ext cx="651052" cy="164592"/>
          </a:xfrm>
          <a:prstGeom prst="rect">
            <a:avLst/>
          </a:prstGeom>
          <a:noFill/>
        </p:spPr>
        <p:txBody>
          <a:bodyPr wrap="square" lIns="0" rIns="0" tIns="0" bIns="0" anchor="ctr">
            <a:spAutoFit/>
          </a:bodyPr>
          <a:lstStyle/>
          <a:p>
            <a:pPr algn="ctr"/>
            <a:r>
              <a:rPr sz="700" b="1" i="0" spc="80">
                <a:solidFill>
                  <a:srgbClr val="0089A0"/>
                </a:solidFill>
                <a:latin typeface="Trenda IG Text"/>
              </a:rPr>
              <a:t>GCP DATA</a:t>
            </a:r>
          </a:p>
        </p:txBody>
      </p:sp>
      <p:sp>
        <p:nvSpPr>
          <p:cNvPr id="146" name="Text 137"/>
          <p:cNvSpPr txBox="1"/>
          <p:nvPr/>
        </p:nvSpPr>
        <p:spPr>
          <a:xfrm>
            <a:off x="9116567" y="3602736"/>
            <a:ext cx="2551176" cy="201168"/>
          </a:xfrm>
          <a:prstGeom prst="rect">
            <a:avLst/>
          </a:prstGeom>
          <a:noFill/>
        </p:spPr>
        <p:txBody>
          <a:bodyPr wrap="square" lIns="0" rIns="0" tIns="0" bIns="0" anchor="ctr">
            <a:spAutoFit/>
          </a:bodyPr>
          <a:lstStyle/>
          <a:p>
            <a:r>
              <a:rPr sz="800" b="1" i="0">
                <a:solidFill>
                  <a:srgbClr val="1A1A1A"/>
                </a:solidFill>
                <a:latin typeface="Trenda IG Text"/>
              </a:rPr>
              <a:t>QA, all pods</a:t>
            </a:r>
          </a:p>
        </p:txBody>
      </p:sp>
      <p:sp>
        <p:nvSpPr>
          <p:cNvPr id="147" name="Text 138"/>
          <p:cNvSpPr txBox="1"/>
          <p:nvPr/>
        </p:nvSpPr>
        <p:spPr>
          <a:xfrm>
            <a:off x="9116567" y="3803904"/>
            <a:ext cx="2551176" cy="182880"/>
          </a:xfrm>
          <a:prstGeom prst="rect">
            <a:avLst/>
          </a:prstGeom>
          <a:noFill/>
        </p:spPr>
        <p:txBody>
          <a:bodyPr wrap="square" lIns="0" rIns="0" tIns="0" bIns="0" anchor="t">
            <a:spAutoFit/>
          </a:bodyPr>
          <a:lstStyle/>
          <a:p>
            <a:r>
              <a:rPr sz="700" b="0" i="0">
                <a:solidFill>
                  <a:srgbClr val="6B6B6B"/>
                </a:solidFill>
                <a:latin typeface="Trenda IG Text"/>
              </a:rPr>
              <a:t>Every release</a:t>
            </a:r>
          </a:p>
        </p:txBody>
      </p:sp>
      <p:sp>
        <p:nvSpPr>
          <p:cNvPr id="148" name="Text 139"/>
          <p:cNvSpPr txBox="1"/>
          <p:nvPr/>
        </p:nvSpPr>
        <p:spPr>
          <a:xfrm>
            <a:off x="9116567" y="3986784"/>
            <a:ext cx="2551176" cy="329184"/>
          </a:xfrm>
          <a:prstGeom prst="rect">
            <a:avLst/>
          </a:prstGeom>
          <a:noFill/>
        </p:spPr>
        <p:txBody>
          <a:bodyPr wrap="square" lIns="0" rIns="0" tIns="0" bIns="0" anchor="t">
            <a:spAutoFit/>
          </a:bodyPr>
          <a:lstStyle/>
          <a:p>
            <a:r>
              <a:rPr sz="700" b="0" i="0">
                <a:solidFill>
                  <a:srgbClr val="1A1A1A"/>
                </a:solidFill>
                <a:latin typeface="Trenda IG Text"/>
              </a:rPr>
              <a:t>Zephyr test cases, Copado robotic and regression</a:t>
            </a:r>
          </a:p>
        </p:txBody>
      </p:sp>
      <p:sp>
        <p:nvSpPr>
          <p:cNvPr id="149" name="Shape 140"/>
          <p:cNvSpPr/>
          <p:nvPr/>
        </p:nvSpPr>
        <p:spPr>
          <a:xfrm>
            <a:off x="9098280" y="4873752"/>
            <a:ext cx="2587751" cy="457200"/>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41"/>
          <p:cNvSpPr txBox="1"/>
          <p:nvPr/>
        </p:nvSpPr>
        <p:spPr>
          <a:xfrm>
            <a:off x="9189719" y="4873752"/>
            <a:ext cx="2404872" cy="457200"/>
          </a:xfrm>
          <a:prstGeom prst="rect">
            <a:avLst/>
          </a:prstGeom>
          <a:noFill/>
        </p:spPr>
        <p:txBody>
          <a:bodyPr wrap="square" lIns="0" rIns="0" tIns="0" bIns="0" anchor="ctr">
            <a:spAutoFit/>
          </a:bodyPr>
          <a:lstStyle/>
          <a:p>
            <a:r>
              <a:rPr sz="700" b="0" i="0">
                <a:solidFill>
                  <a:srgbClr val="1A1A1A"/>
                </a:solidFill>
                <a:latin typeface="Trenda IG Text"/>
              </a:rPr>
              <a:t>A new pod adds its sources and skills, not new agents.</a:t>
            </a:r>
          </a:p>
        </p:txBody>
      </p:sp>
      <p:sp>
        <p:nvSpPr>
          <p:cNvPr id="151" name="Text 142"/>
          <p:cNvSpPr txBox="1"/>
          <p:nvPr/>
        </p:nvSpPr>
        <p:spPr>
          <a:xfrm>
            <a:off x="411480" y="5559552"/>
            <a:ext cx="1188720" cy="292608"/>
          </a:xfrm>
          <a:prstGeom prst="rect">
            <a:avLst/>
          </a:prstGeom>
          <a:noFill/>
        </p:spPr>
        <p:txBody>
          <a:bodyPr wrap="square" lIns="0" rIns="0" tIns="0" bIns="0" anchor="ctr">
            <a:spAutoFit/>
          </a:bodyPr>
          <a:lstStyle/>
          <a:p>
            <a:r>
              <a:rPr sz="700" b="1" i="0" spc="120">
                <a:solidFill>
                  <a:srgbClr val="1A1A1A"/>
                </a:solidFill>
                <a:latin typeface="Trenda IG Text"/>
              </a:rPr>
              <a:t>DELIVERY PATH</a:t>
            </a:r>
          </a:p>
        </p:txBody>
      </p:sp>
      <p:sp>
        <p:nvSpPr>
          <p:cNvPr id="152" name="Shape 143"/>
          <p:cNvSpPr/>
          <p:nvPr/>
        </p:nvSpPr>
        <p:spPr>
          <a:xfrm>
            <a:off x="1645920" y="5559552"/>
            <a:ext cx="1060704" cy="292608"/>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 144"/>
          <p:cNvSpPr txBox="1"/>
          <p:nvPr/>
        </p:nvSpPr>
        <p:spPr>
          <a:xfrm>
            <a:off x="1645920" y="5559552"/>
            <a:ext cx="1060704" cy="292608"/>
          </a:xfrm>
          <a:prstGeom prst="rect">
            <a:avLst/>
          </a:prstGeom>
          <a:noFill/>
        </p:spPr>
        <p:txBody>
          <a:bodyPr wrap="square" lIns="0" rIns="0" tIns="0" bIns="0" anchor="ctr">
            <a:spAutoFit/>
          </a:bodyPr>
          <a:lstStyle/>
          <a:p>
            <a:pPr algn="ctr"/>
            <a:r>
              <a:rPr sz="700" b="0" i="0">
                <a:solidFill>
                  <a:srgbClr val="1A1A1A"/>
                </a:solidFill>
                <a:latin typeface="Trenda IG Text"/>
              </a:rPr>
              <a:t>AI build</a:t>
            </a:r>
          </a:p>
        </p:txBody>
      </p:sp>
      <p:cxnSp>
        <p:nvCxnSpPr>
          <p:cNvPr id="154" name="Arrow 145"/>
          <p:cNvCxnSpPr/>
          <p:nvPr/>
        </p:nvCxnSpPr>
        <p:spPr>
          <a:xfrm>
            <a:off x="2706624"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 name="Shape 146"/>
          <p:cNvSpPr/>
          <p:nvPr/>
        </p:nvSpPr>
        <p:spPr>
          <a:xfrm>
            <a:off x="2779776" y="5559552"/>
            <a:ext cx="1060704" cy="292608"/>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 147"/>
          <p:cNvSpPr txBox="1"/>
          <p:nvPr/>
        </p:nvSpPr>
        <p:spPr>
          <a:xfrm>
            <a:off x="2779776" y="5559552"/>
            <a:ext cx="1060704" cy="292608"/>
          </a:xfrm>
          <a:prstGeom prst="rect">
            <a:avLst/>
          </a:prstGeom>
          <a:noFill/>
        </p:spPr>
        <p:txBody>
          <a:bodyPr wrap="square" lIns="0" rIns="0" tIns="0" bIns="0" anchor="ctr">
            <a:spAutoFit/>
          </a:bodyPr>
          <a:lstStyle/>
          <a:p>
            <a:pPr algn="ctr"/>
            <a:r>
              <a:rPr sz="700" b="0" i="0">
                <a:solidFill>
                  <a:srgbClr val="1A1A1A"/>
                </a:solidFill>
                <a:latin typeface="Trenda IG Text"/>
              </a:rPr>
              <a:t>Copado</a:t>
            </a:r>
          </a:p>
        </p:txBody>
      </p:sp>
      <p:cxnSp>
        <p:nvCxnSpPr>
          <p:cNvPr id="157" name="Arrow 148"/>
          <p:cNvCxnSpPr/>
          <p:nvPr/>
        </p:nvCxnSpPr>
        <p:spPr>
          <a:xfrm>
            <a:off x="3840480"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 name="Shape 149"/>
          <p:cNvSpPr/>
          <p:nvPr/>
        </p:nvSpPr>
        <p:spPr>
          <a:xfrm>
            <a:off x="3913632" y="5559552"/>
            <a:ext cx="1060704" cy="292608"/>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 150"/>
          <p:cNvSpPr txBox="1"/>
          <p:nvPr/>
        </p:nvSpPr>
        <p:spPr>
          <a:xfrm>
            <a:off x="3913632" y="5559552"/>
            <a:ext cx="1060704" cy="292608"/>
          </a:xfrm>
          <a:prstGeom prst="rect">
            <a:avLst/>
          </a:prstGeom>
          <a:noFill/>
        </p:spPr>
        <p:txBody>
          <a:bodyPr wrap="square" lIns="0" rIns="0" tIns="0" bIns="0" anchor="ctr">
            <a:spAutoFit/>
          </a:bodyPr>
          <a:lstStyle/>
          <a:p>
            <a:pPr algn="ctr"/>
            <a:r>
              <a:rPr sz="700" b="0" i="0">
                <a:solidFill>
                  <a:srgbClr val="1A1A1A"/>
                </a:solidFill>
                <a:latin typeface="Trenda IG Text"/>
              </a:rPr>
              <a:t>Quality gates</a:t>
            </a:r>
          </a:p>
        </p:txBody>
      </p:sp>
      <p:cxnSp>
        <p:nvCxnSpPr>
          <p:cNvPr id="160" name="Arrow 151"/>
          <p:cNvCxnSpPr/>
          <p:nvPr/>
        </p:nvCxnSpPr>
        <p:spPr>
          <a:xfrm>
            <a:off x="4974336"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 name="Shape 152"/>
          <p:cNvSpPr/>
          <p:nvPr/>
        </p:nvSpPr>
        <p:spPr>
          <a:xfrm>
            <a:off x="5047488" y="5559552"/>
            <a:ext cx="1060704" cy="292608"/>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 153"/>
          <p:cNvSpPr txBox="1"/>
          <p:nvPr/>
        </p:nvSpPr>
        <p:spPr>
          <a:xfrm>
            <a:off x="5047488" y="5559552"/>
            <a:ext cx="1060704" cy="292608"/>
          </a:xfrm>
          <a:prstGeom prst="rect">
            <a:avLst/>
          </a:prstGeom>
          <a:noFill/>
        </p:spPr>
        <p:txBody>
          <a:bodyPr wrap="square" lIns="0" rIns="0" tIns="0" bIns="0" anchor="ctr">
            <a:spAutoFit/>
          </a:bodyPr>
          <a:lstStyle/>
          <a:p>
            <a:pPr algn="ctr"/>
            <a:r>
              <a:rPr sz="700" b="0" i="0">
                <a:solidFill>
                  <a:srgbClr val="1A1A1A"/>
                </a:solidFill>
                <a:latin typeface="Trenda IG Text"/>
              </a:rPr>
              <a:t>DEV</a:t>
            </a:r>
          </a:p>
        </p:txBody>
      </p:sp>
      <p:cxnSp>
        <p:nvCxnSpPr>
          <p:cNvPr id="163" name="Arrow 154"/>
          <p:cNvCxnSpPr/>
          <p:nvPr/>
        </p:nvCxnSpPr>
        <p:spPr>
          <a:xfrm>
            <a:off x="6108192"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Shape 155"/>
          <p:cNvSpPr/>
          <p:nvPr/>
        </p:nvSpPr>
        <p:spPr>
          <a:xfrm>
            <a:off x="6181344" y="5559552"/>
            <a:ext cx="1060704" cy="292608"/>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 156"/>
          <p:cNvSpPr txBox="1"/>
          <p:nvPr/>
        </p:nvSpPr>
        <p:spPr>
          <a:xfrm>
            <a:off x="6181344" y="5559552"/>
            <a:ext cx="1060704" cy="292608"/>
          </a:xfrm>
          <a:prstGeom prst="rect">
            <a:avLst/>
          </a:prstGeom>
          <a:noFill/>
        </p:spPr>
        <p:txBody>
          <a:bodyPr wrap="square" lIns="0" rIns="0" tIns="0" bIns="0" anchor="ctr">
            <a:spAutoFit/>
          </a:bodyPr>
          <a:lstStyle/>
          <a:p>
            <a:pPr algn="ctr"/>
            <a:r>
              <a:rPr sz="700" b="0" i="0">
                <a:solidFill>
                  <a:srgbClr val="1A1A1A"/>
                </a:solidFill>
                <a:latin typeface="Trenda IG Text"/>
              </a:rPr>
              <a:t>SIT</a:t>
            </a:r>
          </a:p>
        </p:txBody>
      </p:sp>
      <p:cxnSp>
        <p:nvCxnSpPr>
          <p:cNvPr id="166" name="Arrow 157"/>
          <p:cNvCxnSpPr/>
          <p:nvPr/>
        </p:nvCxnSpPr>
        <p:spPr>
          <a:xfrm>
            <a:off x="7242048"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7" name="Shape 158"/>
          <p:cNvSpPr/>
          <p:nvPr/>
        </p:nvSpPr>
        <p:spPr>
          <a:xfrm>
            <a:off x="7315200" y="5559552"/>
            <a:ext cx="1060704" cy="292608"/>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 159"/>
          <p:cNvSpPr txBox="1"/>
          <p:nvPr/>
        </p:nvSpPr>
        <p:spPr>
          <a:xfrm>
            <a:off x="7315200" y="5559552"/>
            <a:ext cx="1060704" cy="292608"/>
          </a:xfrm>
          <a:prstGeom prst="rect">
            <a:avLst/>
          </a:prstGeom>
          <a:noFill/>
        </p:spPr>
        <p:txBody>
          <a:bodyPr wrap="square" lIns="0" rIns="0" tIns="0" bIns="0" anchor="ctr">
            <a:spAutoFit/>
          </a:bodyPr>
          <a:lstStyle/>
          <a:p>
            <a:pPr algn="ctr"/>
            <a:r>
              <a:rPr sz="700" b="1" i="0">
                <a:solidFill>
                  <a:srgbClr val="0089A0"/>
                </a:solidFill>
                <a:latin typeface="Trenda IG Text"/>
              </a:rPr>
              <a:t>UAT</a:t>
            </a:r>
          </a:p>
        </p:txBody>
      </p:sp>
      <p:cxnSp>
        <p:nvCxnSpPr>
          <p:cNvPr id="169" name="Arrow 160"/>
          <p:cNvCxnSpPr/>
          <p:nvPr/>
        </p:nvCxnSpPr>
        <p:spPr>
          <a:xfrm>
            <a:off x="8375904"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0" name="Shape 161"/>
          <p:cNvSpPr/>
          <p:nvPr/>
        </p:nvSpPr>
        <p:spPr>
          <a:xfrm>
            <a:off x="8449056" y="5559552"/>
            <a:ext cx="1060704" cy="292608"/>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Text 162"/>
          <p:cNvSpPr txBox="1"/>
          <p:nvPr/>
        </p:nvSpPr>
        <p:spPr>
          <a:xfrm>
            <a:off x="8449056" y="5559552"/>
            <a:ext cx="1060704" cy="292608"/>
          </a:xfrm>
          <a:prstGeom prst="rect">
            <a:avLst/>
          </a:prstGeom>
          <a:noFill/>
        </p:spPr>
        <p:txBody>
          <a:bodyPr wrap="square" lIns="0" rIns="0" tIns="0" bIns="0" anchor="ctr">
            <a:spAutoFit/>
          </a:bodyPr>
          <a:lstStyle/>
          <a:p>
            <a:pPr algn="ctr"/>
            <a:r>
              <a:rPr sz="700" b="1" i="0">
                <a:solidFill>
                  <a:srgbClr val="0089A0"/>
                </a:solidFill>
                <a:latin typeface="Trenda IG Text"/>
              </a:rPr>
              <a:t>Human approval</a:t>
            </a:r>
          </a:p>
        </p:txBody>
      </p:sp>
      <p:cxnSp>
        <p:nvCxnSpPr>
          <p:cNvPr id="172" name="Arrow 163"/>
          <p:cNvCxnSpPr/>
          <p:nvPr/>
        </p:nvCxnSpPr>
        <p:spPr>
          <a:xfrm>
            <a:off x="9509760"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3" name="Shape 164"/>
          <p:cNvSpPr/>
          <p:nvPr/>
        </p:nvSpPr>
        <p:spPr>
          <a:xfrm>
            <a:off x="9582912" y="5559552"/>
            <a:ext cx="1060704" cy="292608"/>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 165"/>
          <p:cNvSpPr txBox="1"/>
          <p:nvPr/>
        </p:nvSpPr>
        <p:spPr>
          <a:xfrm>
            <a:off x="9582912" y="5559552"/>
            <a:ext cx="1060704" cy="292608"/>
          </a:xfrm>
          <a:prstGeom prst="rect">
            <a:avLst/>
          </a:prstGeom>
          <a:noFill/>
        </p:spPr>
        <p:txBody>
          <a:bodyPr wrap="square" lIns="0" rIns="0" tIns="0" bIns="0" anchor="ctr">
            <a:spAutoFit/>
          </a:bodyPr>
          <a:lstStyle/>
          <a:p>
            <a:pPr algn="ctr"/>
            <a:r>
              <a:rPr sz="700" b="1" i="0">
                <a:solidFill>
                  <a:srgbClr val="0089A0"/>
                </a:solidFill>
                <a:latin typeface="Trenda IG Text"/>
              </a:rPr>
              <a:t>CAB</a:t>
            </a:r>
          </a:p>
        </p:txBody>
      </p:sp>
      <p:cxnSp>
        <p:nvCxnSpPr>
          <p:cNvPr id="175" name="Arrow 166"/>
          <p:cNvCxnSpPr/>
          <p:nvPr/>
        </p:nvCxnSpPr>
        <p:spPr>
          <a:xfrm>
            <a:off x="10643616" y="570585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6" name="Shape 167"/>
          <p:cNvSpPr/>
          <p:nvPr/>
        </p:nvSpPr>
        <p:spPr>
          <a:xfrm>
            <a:off x="10716768" y="5559552"/>
            <a:ext cx="1060704" cy="292608"/>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Text 168"/>
          <p:cNvSpPr txBox="1"/>
          <p:nvPr/>
        </p:nvSpPr>
        <p:spPr>
          <a:xfrm>
            <a:off x="10716768" y="5559552"/>
            <a:ext cx="1060704" cy="292608"/>
          </a:xfrm>
          <a:prstGeom prst="rect">
            <a:avLst/>
          </a:prstGeom>
          <a:noFill/>
        </p:spPr>
        <p:txBody>
          <a:bodyPr wrap="square" lIns="0" rIns="0" tIns="0" bIns="0" anchor="ctr">
            <a:spAutoFit/>
          </a:bodyPr>
          <a:lstStyle/>
          <a:p>
            <a:pPr algn="ctr"/>
            <a:r>
              <a:rPr sz="700" b="0" i="0">
                <a:solidFill>
                  <a:srgbClr val="1A1A1A"/>
                </a:solidFill>
                <a:latin typeface="Trenda IG Text"/>
              </a:rPr>
              <a:t>PROD</a:t>
            </a:r>
          </a:p>
        </p:txBody>
      </p:sp>
      <p:sp>
        <p:nvSpPr>
          <p:cNvPr id="178" name="Text 169"/>
          <p:cNvSpPr txBox="1"/>
          <p:nvPr/>
        </p:nvSpPr>
        <p:spPr>
          <a:xfrm>
            <a:off x="411480" y="5925312"/>
            <a:ext cx="1188720" cy="292608"/>
          </a:xfrm>
          <a:prstGeom prst="rect">
            <a:avLst/>
          </a:prstGeom>
          <a:noFill/>
        </p:spPr>
        <p:txBody>
          <a:bodyPr wrap="square" lIns="0" rIns="0" tIns="0" bIns="0" anchor="ctr">
            <a:spAutoFit/>
          </a:bodyPr>
          <a:lstStyle/>
          <a:p>
            <a:r>
              <a:rPr sz="700" b="1" i="0" spc="120">
                <a:solidFill>
                  <a:srgbClr val="0089A0"/>
                </a:solidFill>
                <a:latin typeface="Trenda IG Text"/>
              </a:rPr>
              <a:t>CAMPAIGN PATH</a:t>
            </a:r>
          </a:p>
        </p:txBody>
      </p:sp>
      <p:sp>
        <p:nvSpPr>
          <p:cNvPr id="179" name="Shape 170"/>
          <p:cNvSpPr/>
          <p:nvPr/>
        </p:nvSpPr>
        <p:spPr>
          <a:xfrm>
            <a:off x="1645920" y="5925312"/>
            <a:ext cx="1627632" cy="292608"/>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 171"/>
          <p:cNvSpPr txBox="1"/>
          <p:nvPr/>
        </p:nvSpPr>
        <p:spPr>
          <a:xfrm>
            <a:off x="1645920" y="5925312"/>
            <a:ext cx="1627632" cy="292608"/>
          </a:xfrm>
          <a:prstGeom prst="rect">
            <a:avLst/>
          </a:prstGeom>
          <a:noFill/>
        </p:spPr>
        <p:txBody>
          <a:bodyPr wrap="square" lIns="0" rIns="0" tIns="0" bIns="0" anchor="ctr">
            <a:spAutoFit/>
          </a:bodyPr>
          <a:lstStyle/>
          <a:p>
            <a:pPr algn="ctr"/>
            <a:r>
              <a:rPr sz="700" b="0" i="0">
                <a:solidFill>
                  <a:srgbClr val="1A1A1A"/>
                </a:solidFill>
                <a:latin typeface="Trenda IG Text"/>
              </a:rPr>
              <a:t>Prompt in Codex</a:t>
            </a:r>
          </a:p>
        </p:txBody>
      </p:sp>
      <p:cxnSp>
        <p:nvCxnSpPr>
          <p:cNvPr id="181" name="Arrow 172"/>
          <p:cNvCxnSpPr/>
          <p:nvPr/>
        </p:nvCxnSpPr>
        <p:spPr>
          <a:xfrm>
            <a:off x="3273552" y="607161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2" name="Shape 173"/>
          <p:cNvSpPr/>
          <p:nvPr/>
        </p:nvSpPr>
        <p:spPr>
          <a:xfrm>
            <a:off x="3346704" y="5925312"/>
            <a:ext cx="1627632" cy="292608"/>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Text 174"/>
          <p:cNvSpPr txBox="1"/>
          <p:nvPr/>
        </p:nvSpPr>
        <p:spPr>
          <a:xfrm>
            <a:off x="3346704" y="5925312"/>
            <a:ext cx="1627632" cy="292608"/>
          </a:xfrm>
          <a:prstGeom prst="rect">
            <a:avLst/>
          </a:prstGeom>
          <a:noFill/>
        </p:spPr>
        <p:txBody>
          <a:bodyPr wrap="square" lIns="0" rIns="0" tIns="0" bIns="0" anchor="ctr">
            <a:spAutoFit/>
          </a:bodyPr>
          <a:lstStyle/>
          <a:p>
            <a:pPr algn="ctr"/>
            <a:r>
              <a:rPr sz="700" b="0" i="0">
                <a:solidFill>
                  <a:srgbClr val="1A1A1A"/>
                </a:solidFill>
                <a:latin typeface="Trenda IG Text"/>
              </a:rPr>
              <a:t>Gold A insights</a:t>
            </a:r>
          </a:p>
        </p:txBody>
      </p:sp>
      <p:cxnSp>
        <p:nvCxnSpPr>
          <p:cNvPr id="184" name="Arrow 175"/>
          <p:cNvCxnSpPr/>
          <p:nvPr/>
        </p:nvCxnSpPr>
        <p:spPr>
          <a:xfrm>
            <a:off x="4974336" y="607161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5" name="Shape 176"/>
          <p:cNvSpPr/>
          <p:nvPr/>
        </p:nvSpPr>
        <p:spPr>
          <a:xfrm>
            <a:off x="5047488" y="5925312"/>
            <a:ext cx="1627632" cy="292608"/>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Text 177"/>
          <p:cNvSpPr txBox="1"/>
          <p:nvPr/>
        </p:nvSpPr>
        <p:spPr>
          <a:xfrm>
            <a:off x="5047488" y="5925312"/>
            <a:ext cx="1627632" cy="292608"/>
          </a:xfrm>
          <a:prstGeom prst="rect">
            <a:avLst/>
          </a:prstGeom>
          <a:noFill/>
        </p:spPr>
        <p:txBody>
          <a:bodyPr wrap="square" lIns="0" rIns="0" tIns="0" bIns="0" anchor="ctr">
            <a:spAutoFit/>
          </a:bodyPr>
          <a:lstStyle/>
          <a:p>
            <a:pPr algn="ctr"/>
            <a:r>
              <a:rPr sz="700" b="0" i="0">
                <a:solidFill>
                  <a:srgbClr val="1A1A1A"/>
                </a:solidFill>
                <a:latin typeface="Trenda IG Text"/>
              </a:rPr>
              <a:t>Build + test</a:t>
            </a:r>
          </a:p>
        </p:txBody>
      </p:sp>
      <p:cxnSp>
        <p:nvCxnSpPr>
          <p:cNvPr id="187" name="Arrow 178"/>
          <p:cNvCxnSpPr/>
          <p:nvPr/>
        </p:nvCxnSpPr>
        <p:spPr>
          <a:xfrm>
            <a:off x="6675120" y="607161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8" name="Shape 179"/>
          <p:cNvSpPr/>
          <p:nvPr/>
        </p:nvSpPr>
        <p:spPr>
          <a:xfrm>
            <a:off x="6748272" y="5925312"/>
            <a:ext cx="1627632" cy="292608"/>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Text 180"/>
          <p:cNvSpPr txBox="1"/>
          <p:nvPr/>
        </p:nvSpPr>
        <p:spPr>
          <a:xfrm>
            <a:off x="6748272" y="5925312"/>
            <a:ext cx="1627632" cy="292608"/>
          </a:xfrm>
          <a:prstGeom prst="rect">
            <a:avLst/>
          </a:prstGeom>
          <a:noFill/>
        </p:spPr>
        <p:txBody>
          <a:bodyPr wrap="square" lIns="0" rIns="0" tIns="0" bIns="0" anchor="ctr">
            <a:spAutoFit/>
          </a:bodyPr>
          <a:lstStyle/>
          <a:p>
            <a:pPr algn="ctr"/>
            <a:r>
              <a:rPr sz="700" b="1" i="0">
                <a:solidFill>
                  <a:srgbClr val="0089A0"/>
                </a:solidFill>
                <a:latin typeface="Trenda IG Text"/>
              </a:rPr>
              <a:t>Pre-send review</a:t>
            </a:r>
          </a:p>
        </p:txBody>
      </p:sp>
      <p:cxnSp>
        <p:nvCxnSpPr>
          <p:cNvPr id="190" name="Arrow 181"/>
          <p:cNvCxnSpPr/>
          <p:nvPr/>
        </p:nvCxnSpPr>
        <p:spPr>
          <a:xfrm>
            <a:off x="8375904" y="607161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Shape 182"/>
          <p:cNvSpPr/>
          <p:nvPr/>
        </p:nvSpPr>
        <p:spPr>
          <a:xfrm>
            <a:off x="8449056" y="5925312"/>
            <a:ext cx="1627632" cy="292608"/>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 183"/>
          <p:cNvSpPr txBox="1"/>
          <p:nvPr/>
        </p:nvSpPr>
        <p:spPr>
          <a:xfrm>
            <a:off x="8449056" y="5925312"/>
            <a:ext cx="1627632" cy="292608"/>
          </a:xfrm>
          <a:prstGeom prst="rect">
            <a:avLst/>
          </a:prstGeom>
          <a:noFill/>
        </p:spPr>
        <p:txBody>
          <a:bodyPr wrap="square" lIns="0" rIns="0" tIns="0" bIns="0" anchor="ctr">
            <a:spAutoFit/>
          </a:bodyPr>
          <a:lstStyle/>
          <a:p>
            <a:pPr algn="ctr"/>
            <a:r>
              <a:rPr sz="700" b="0" i="0">
                <a:solidFill>
                  <a:srgbClr val="1A1A1A"/>
                </a:solidFill>
                <a:latin typeface="Trenda IG Text"/>
              </a:rPr>
              <a:t>Gateway release</a:t>
            </a:r>
          </a:p>
        </p:txBody>
      </p:sp>
      <p:cxnSp>
        <p:nvCxnSpPr>
          <p:cNvPr id="193" name="Arrow 184"/>
          <p:cNvCxnSpPr/>
          <p:nvPr/>
        </p:nvCxnSpPr>
        <p:spPr>
          <a:xfrm>
            <a:off x="10076688" y="6071616"/>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4" name="Shape 185"/>
          <p:cNvSpPr/>
          <p:nvPr/>
        </p:nvSpPr>
        <p:spPr>
          <a:xfrm>
            <a:off x="10149840" y="5925312"/>
            <a:ext cx="1627632" cy="292608"/>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Text 186"/>
          <p:cNvSpPr txBox="1"/>
          <p:nvPr/>
        </p:nvSpPr>
        <p:spPr>
          <a:xfrm>
            <a:off x="10149840" y="5925312"/>
            <a:ext cx="1627632" cy="292608"/>
          </a:xfrm>
          <a:prstGeom prst="rect">
            <a:avLst/>
          </a:prstGeom>
          <a:noFill/>
        </p:spPr>
        <p:txBody>
          <a:bodyPr wrap="square" lIns="0" rIns="0" tIns="0" bIns="0" anchor="ctr">
            <a:spAutoFit/>
          </a:bodyPr>
          <a:lstStyle/>
          <a:p>
            <a:pPr algn="ctr"/>
            <a:r>
              <a:rPr sz="700" b="0" i="0">
                <a:solidFill>
                  <a:srgbClr val="1A1A1A"/>
                </a:solidFill>
                <a:latin typeface="Trenda IG Text"/>
              </a:rPr>
              <a:t>Journey runs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8A6D00"/>
                </a:solidFill>
                <a:latin typeface="Trenda IG Text"/>
              </a:rPr>
              <a:t>ASCENSION AGENTIC HARNESS · PLATFORM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Agentic Harness platform, now with the data harness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Codex is the engine; the harness is everything around it. New: a masked data context, Collibra masking, a Compliance Guardian with a policy engine, and a masked pre-send review.</a:t>
            </a:r>
          </a:p>
        </p:txBody>
      </p:sp>
      <p:sp>
        <p:nvSpPr>
          <p:cNvPr id="5" name="Shape 4"/>
          <p:cNvSpPr/>
          <p:nvPr/>
        </p:nvSpPr>
        <p:spPr>
          <a:xfrm>
            <a:off x="1463040" y="1161288"/>
            <a:ext cx="1531619" cy="329184"/>
          </a:xfrm>
          <a:prstGeom prst="roundRect">
            <a:avLst>
              <a:gd name="adj" fmla="val 50000"/>
            </a:avLst>
          </a:prstGeom>
          <a:no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1463040" y="1161288"/>
            <a:ext cx="1531619" cy="329184"/>
          </a:xfrm>
          <a:prstGeom prst="rect">
            <a:avLst/>
          </a:prstGeom>
          <a:noFill/>
        </p:spPr>
        <p:txBody>
          <a:bodyPr wrap="square" lIns="0" rIns="0" tIns="0" bIns="0" anchor="ctr">
            <a:spAutoFit/>
          </a:bodyPr>
          <a:lstStyle/>
          <a:p>
            <a:pPr algn="ctr"/>
            <a:r>
              <a:rPr sz="850" b="0" i="0">
                <a:solidFill>
                  <a:srgbClr val="1A1A1A"/>
                </a:solidFill>
                <a:latin typeface="Trenda IG Text"/>
              </a:rPr>
              <a:t>7 delivery agents</a:t>
            </a:r>
          </a:p>
        </p:txBody>
      </p:sp>
      <p:sp>
        <p:nvSpPr>
          <p:cNvPr id="7" name="Shape 6"/>
          <p:cNvSpPr/>
          <p:nvPr/>
        </p:nvSpPr>
        <p:spPr>
          <a:xfrm>
            <a:off x="3131820" y="1161288"/>
            <a:ext cx="1531619" cy="329184"/>
          </a:xfrm>
          <a:prstGeom prst="roundRect">
            <a:avLst>
              <a:gd name="adj" fmla="val 50000"/>
            </a:avLst>
          </a:prstGeom>
          <a:no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3131820" y="1161288"/>
            <a:ext cx="1531619" cy="329184"/>
          </a:xfrm>
          <a:prstGeom prst="rect">
            <a:avLst/>
          </a:prstGeom>
          <a:noFill/>
        </p:spPr>
        <p:txBody>
          <a:bodyPr wrap="square" lIns="0" rIns="0" tIns="0" bIns="0" anchor="ctr">
            <a:spAutoFit/>
          </a:bodyPr>
          <a:lstStyle/>
          <a:p>
            <a:pPr algn="ctr"/>
            <a:r>
              <a:rPr sz="850" b="0" i="0">
                <a:solidFill>
                  <a:srgbClr val="1A1A1A"/>
                </a:solidFill>
                <a:latin typeface="Trenda IG Text"/>
              </a:rPr>
              <a:t>7 campaign agents</a:t>
            </a:r>
          </a:p>
        </p:txBody>
      </p:sp>
      <p:sp>
        <p:nvSpPr>
          <p:cNvPr id="9" name="Shape 8"/>
          <p:cNvSpPr/>
          <p:nvPr/>
        </p:nvSpPr>
        <p:spPr>
          <a:xfrm>
            <a:off x="4800600" y="1161288"/>
            <a:ext cx="1394460" cy="329184"/>
          </a:xfrm>
          <a:prstGeom prst="roundRect">
            <a:avLst>
              <a:gd name="adj" fmla="val 50000"/>
            </a:avLst>
          </a:prstGeom>
          <a:no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4800600" y="1161288"/>
            <a:ext cx="1394460" cy="329184"/>
          </a:xfrm>
          <a:prstGeom prst="rect">
            <a:avLst/>
          </a:prstGeom>
          <a:noFill/>
        </p:spPr>
        <p:txBody>
          <a:bodyPr wrap="square" lIns="0" rIns="0" tIns="0" bIns="0" anchor="ctr">
            <a:spAutoFit/>
          </a:bodyPr>
          <a:lstStyle/>
          <a:p>
            <a:pPr algn="ctr"/>
            <a:r>
              <a:rPr sz="850" b="0" i="0">
                <a:solidFill>
                  <a:srgbClr val="1A1A1A"/>
                </a:solidFill>
                <a:latin typeface="Trenda IG Text"/>
              </a:rPr>
              <a:t>9-step workflow</a:t>
            </a:r>
          </a:p>
        </p:txBody>
      </p:sp>
      <p:sp>
        <p:nvSpPr>
          <p:cNvPr id="11" name="Shape 10"/>
          <p:cNvSpPr/>
          <p:nvPr/>
        </p:nvSpPr>
        <p:spPr>
          <a:xfrm>
            <a:off x="6332220" y="1161288"/>
            <a:ext cx="1188719" cy="329184"/>
          </a:xfrm>
          <a:prstGeom prst="roundRect">
            <a:avLst>
              <a:gd name="adj" fmla="val 50000"/>
            </a:avLst>
          </a:prstGeom>
          <a:no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6332220" y="1161288"/>
            <a:ext cx="1188719" cy="329184"/>
          </a:xfrm>
          <a:prstGeom prst="rect">
            <a:avLst/>
          </a:prstGeom>
          <a:noFill/>
        </p:spPr>
        <p:txBody>
          <a:bodyPr wrap="square" lIns="0" rIns="0" tIns="0" bIns="0" anchor="ctr">
            <a:spAutoFit/>
          </a:bodyPr>
          <a:lstStyle/>
          <a:p>
            <a:pPr algn="ctr"/>
            <a:r>
              <a:rPr sz="850" b="0" i="0">
                <a:solidFill>
                  <a:srgbClr val="1A1A1A"/>
                </a:solidFill>
                <a:latin typeface="Trenda IG Text"/>
              </a:rPr>
              <a:t>Campaign run</a:t>
            </a:r>
          </a:p>
        </p:txBody>
      </p:sp>
      <p:sp>
        <p:nvSpPr>
          <p:cNvPr id="13" name="Shape 12"/>
          <p:cNvSpPr/>
          <p:nvPr/>
        </p:nvSpPr>
        <p:spPr>
          <a:xfrm>
            <a:off x="7658100" y="1161288"/>
            <a:ext cx="1394460" cy="329184"/>
          </a:xfrm>
          <a:prstGeom prst="roundRect">
            <a:avLst>
              <a:gd name="adj" fmla="val 50000"/>
            </a:avLst>
          </a:prstGeom>
          <a:no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7658100" y="1161288"/>
            <a:ext cx="1394460" cy="329184"/>
          </a:xfrm>
          <a:prstGeom prst="rect">
            <a:avLst/>
          </a:prstGeom>
          <a:noFill/>
        </p:spPr>
        <p:txBody>
          <a:bodyPr wrap="square" lIns="0" rIns="0" tIns="0" bIns="0" anchor="ctr">
            <a:spAutoFit/>
          </a:bodyPr>
          <a:lstStyle/>
          <a:p>
            <a:pPr algn="ctr"/>
            <a:r>
              <a:rPr sz="850" b="0" i="0">
                <a:solidFill>
                  <a:srgbClr val="1A1A1A"/>
                </a:solidFill>
                <a:latin typeface="Trenda IG Text"/>
              </a:rPr>
              <a:t>Pod skill packs</a:t>
            </a:r>
          </a:p>
        </p:txBody>
      </p:sp>
      <p:sp>
        <p:nvSpPr>
          <p:cNvPr id="15" name="Shape 14"/>
          <p:cNvSpPr/>
          <p:nvPr/>
        </p:nvSpPr>
        <p:spPr>
          <a:xfrm>
            <a:off x="411480" y="1627632"/>
            <a:ext cx="8366760" cy="3639312"/>
          </a:xfrm>
          <a:prstGeom prst="roundRect">
            <a:avLst>
              <a:gd name="adj" fmla="val 3000"/>
            </a:avLst>
          </a:prstGeom>
          <a:noFill/>
          <a:ln w="7620">
            <a:solidFill>
              <a:srgbClr val="C9A1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hape 15"/>
          <p:cNvSpPr/>
          <p:nvPr/>
        </p:nvSpPr>
        <p:spPr>
          <a:xfrm>
            <a:off x="548640" y="1755648"/>
            <a:ext cx="1691640" cy="3383280"/>
          </a:xfrm>
          <a:prstGeom prst="roundRect">
            <a:avLst>
              <a:gd name="adj" fmla="val 5000"/>
            </a:avLst>
          </a:prstGeom>
          <a:noFill/>
          <a:ln w="9525">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arness.png"/>
          <p:cNvPicPr>
            <a:picLocks noChangeAspect="1"/>
          </p:cNvPicPr>
          <p:nvPr/>
        </p:nvPicPr>
        <p:blipFill>
          <a:blip r:embed="rId2"/>
          <a:stretch>
            <a:fillRect/>
          </a:stretch>
        </p:blipFill>
        <p:spPr>
          <a:xfrm>
            <a:off x="658368" y="1865376"/>
            <a:ext cx="256032" cy="256032"/>
          </a:xfrm>
          <a:prstGeom prst="rect">
            <a:avLst/>
          </a:prstGeom>
        </p:spPr>
      </p:pic>
      <p:sp>
        <p:nvSpPr>
          <p:cNvPr id="18" name="Text 16"/>
          <p:cNvSpPr txBox="1"/>
          <p:nvPr/>
        </p:nvSpPr>
        <p:spPr>
          <a:xfrm>
            <a:off x="987552" y="1810512"/>
            <a:ext cx="1179576" cy="384048"/>
          </a:xfrm>
          <a:prstGeom prst="rect">
            <a:avLst/>
          </a:prstGeom>
          <a:noFill/>
        </p:spPr>
        <p:txBody>
          <a:bodyPr wrap="square" lIns="0" rIns="0" tIns="0" bIns="0" anchor="t">
            <a:spAutoFit/>
          </a:bodyPr>
          <a:lstStyle/>
          <a:p>
            <a:pPr>
              <a:lnSpc>
                <a:spcPct val="90000"/>
              </a:lnSpc>
            </a:pPr>
            <a:r>
              <a:rPr sz="1000" b="0" i="0">
                <a:solidFill>
                  <a:srgbClr val="1A1A1A"/>
                </a:solidFill>
                <a:latin typeface="Trenda IG Text"/>
              </a:rPr>
              <a:t>Harness</a:t>
            </a:r>
          </a:p>
          <a:p>
            <a:pPr>
              <a:lnSpc>
                <a:spcPct val="90000"/>
              </a:lnSpc>
            </a:pPr>
            <a:r>
              <a:rPr sz="1000" b="0" i="0">
                <a:solidFill>
                  <a:srgbClr val="1A1A1A"/>
                </a:solidFill>
                <a:latin typeface="Trenda IG Text"/>
              </a:rPr>
              <a:t>Surface</a:t>
            </a:r>
          </a:p>
        </p:txBody>
      </p:sp>
      <p:pic>
        <p:nvPicPr>
          <p:cNvPr id="19" name="Picture 18" descr="openai-white.png"/>
          <p:cNvPicPr>
            <a:picLocks noChangeAspect="1"/>
          </p:cNvPicPr>
          <p:nvPr/>
        </p:nvPicPr>
        <p:blipFill>
          <a:blip r:embed="rId3"/>
          <a:stretch>
            <a:fillRect/>
          </a:stretch>
        </p:blipFill>
        <p:spPr>
          <a:xfrm>
            <a:off x="658368" y="2322576"/>
            <a:ext cx="182880" cy="182880"/>
          </a:xfrm>
          <a:prstGeom prst="rect">
            <a:avLst/>
          </a:prstGeom>
        </p:spPr>
      </p:pic>
      <p:sp>
        <p:nvSpPr>
          <p:cNvPr id="20" name="Text 17"/>
          <p:cNvSpPr txBox="1"/>
          <p:nvPr/>
        </p:nvSpPr>
        <p:spPr>
          <a:xfrm>
            <a:off x="914400" y="2313432"/>
            <a:ext cx="1252728" cy="182880"/>
          </a:xfrm>
          <a:prstGeom prst="rect">
            <a:avLst/>
          </a:prstGeom>
          <a:noFill/>
        </p:spPr>
        <p:txBody>
          <a:bodyPr wrap="square" lIns="0" rIns="0" tIns="0" bIns="0" anchor="ctr">
            <a:spAutoFit/>
          </a:bodyPr>
          <a:lstStyle/>
          <a:p>
            <a:r>
              <a:rPr sz="800" b="1" i="0">
                <a:solidFill>
                  <a:srgbClr val="1A1A1A"/>
                </a:solidFill>
                <a:latin typeface="Trenda IG Text"/>
              </a:rPr>
              <a:t>Codex</a:t>
            </a:r>
          </a:p>
        </p:txBody>
      </p:sp>
      <p:sp>
        <p:nvSpPr>
          <p:cNvPr id="21" name="Text 18"/>
          <p:cNvSpPr txBox="1"/>
          <p:nvPr/>
        </p:nvSpPr>
        <p:spPr>
          <a:xfrm>
            <a:off x="914400" y="2496312"/>
            <a:ext cx="1252728" cy="274320"/>
          </a:xfrm>
          <a:prstGeom prst="rect">
            <a:avLst/>
          </a:prstGeom>
          <a:noFill/>
        </p:spPr>
        <p:txBody>
          <a:bodyPr wrap="square" lIns="0" rIns="0" tIns="0" bIns="0" anchor="t">
            <a:spAutoFit/>
          </a:bodyPr>
          <a:lstStyle/>
          <a:p>
            <a:r>
              <a:rPr sz="700" b="0" i="0">
                <a:solidFill>
                  <a:srgbClr val="4D4D4D"/>
                </a:solidFill>
                <a:latin typeface="Trenda IG Text"/>
              </a:rPr>
              <a:t>a Jira number, or a campaign ask</a:t>
            </a:r>
          </a:p>
        </p:txBody>
      </p:sp>
      <p:pic>
        <p:nvPicPr>
          <p:cNvPr id="22" name="Picture 21" descr="salesforce.png"/>
          <p:cNvPicPr>
            <a:picLocks noChangeAspect="1"/>
          </p:cNvPicPr>
          <p:nvPr/>
        </p:nvPicPr>
        <p:blipFill>
          <a:blip r:embed="rId4"/>
          <a:stretch>
            <a:fillRect/>
          </a:stretch>
        </p:blipFill>
        <p:spPr>
          <a:xfrm>
            <a:off x="658368" y="2871216"/>
            <a:ext cx="182880" cy="182880"/>
          </a:xfrm>
          <a:prstGeom prst="rect">
            <a:avLst/>
          </a:prstGeom>
        </p:spPr>
      </p:pic>
      <p:sp>
        <p:nvSpPr>
          <p:cNvPr id="23" name="Text 19"/>
          <p:cNvSpPr txBox="1"/>
          <p:nvPr/>
        </p:nvSpPr>
        <p:spPr>
          <a:xfrm>
            <a:off x="914400" y="2862072"/>
            <a:ext cx="1252728" cy="182880"/>
          </a:xfrm>
          <a:prstGeom prst="rect">
            <a:avLst/>
          </a:prstGeom>
          <a:noFill/>
        </p:spPr>
        <p:txBody>
          <a:bodyPr wrap="square" lIns="0" rIns="0" tIns="0" bIns="0" anchor="ctr">
            <a:spAutoFit/>
          </a:bodyPr>
          <a:lstStyle/>
          <a:p>
            <a:r>
              <a:rPr sz="800" b="1" i="0">
                <a:solidFill>
                  <a:srgbClr val="1A1A1A"/>
                </a:solidFill>
                <a:latin typeface="Trenda IG Text"/>
              </a:rPr>
              <a:t>Salesforce LWC</a:t>
            </a:r>
          </a:p>
        </p:txBody>
      </p:sp>
      <p:sp>
        <p:nvSpPr>
          <p:cNvPr id="24" name="Text 20"/>
          <p:cNvSpPr txBox="1"/>
          <p:nvPr/>
        </p:nvSpPr>
        <p:spPr>
          <a:xfrm>
            <a:off x="914400" y="3044952"/>
            <a:ext cx="1252728" cy="274320"/>
          </a:xfrm>
          <a:prstGeom prst="rect">
            <a:avLst/>
          </a:prstGeom>
          <a:noFill/>
        </p:spPr>
        <p:txBody>
          <a:bodyPr wrap="square" lIns="0" rIns="0" tIns="0" bIns="0" anchor="t">
            <a:spAutoFit/>
          </a:bodyPr>
          <a:lstStyle/>
          <a:p>
            <a:r>
              <a:rPr sz="700" b="0" i="0">
                <a:solidFill>
                  <a:srgbClr val="4D4D4D"/>
                </a:solidFill>
                <a:latin typeface="Trenda IG Text"/>
              </a:rPr>
              <a:t>the Agentic Harness console</a:t>
            </a:r>
          </a:p>
        </p:txBody>
      </p:sp>
      <p:pic>
        <p:nvPicPr>
          <p:cNvPr id="25" name="Picture 24" descr="people.png"/>
          <p:cNvPicPr>
            <a:picLocks noChangeAspect="1"/>
          </p:cNvPicPr>
          <p:nvPr/>
        </p:nvPicPr>
        <p:blipFill>
          <a:blip r:embed="rId5"/>
          <a:stretch>
            <a:fillRect/>
          </a:stretch>
        </p:blipFill>
        <p:spPr>
          <a:xfrm>
            <a:off x="658368" y="3419856"/>
            <a:ext cx="182880" cy="182880"/>
          </a:xfrm>
          <a:prstGeom prst="rect">
            <a:avLst/>
          </a:prstGeom>
        </p:spPr>
      </p:pic>
      <p:sp>
        <p:nvSpPr>
          <p:cNvPr id="26" name="Text 21"/>
          <p:cNvSpPr txBox="1"/>
          <p:nvPr/>
        </p:nvSpPr>
        <p:spPr>
          <a:xfrm>
            <a:off x="914400" y="3410712"/>
            <a:ext cx="1252728" cy="182880"/>
          </a:xfrm>
          <a:prstGeom prst="rect">
            <a:avLst/>
          </a:prstGeom>
          <a:noFill/>
        </p:spPr>
        <p:txBody>
          <a:bodyPr wrap="square" lIns="0" rIns="0" tIns="0" bIns="0" anchor="ctr">
            <a:spAutoFit/>
          </a:bodyPr>
          <a:lstStyle/>
          <a:p>
            <a:r>
              <a:rPr sz="800" b="1" i="0">
                <a:solidFill>
                  <a:srgbClr val="1A1A1A"/>
                </a:solidFill>
                <a:latin typeface="Trenda IG Text"/>
              </a:rPr>
              <a:t>Approval page</a:t>
            </a:r>
          </a:p>
        </p:txBody>
      </p:sp>
      <p:sp>
        <p:nvSpPr>
          <p:cNvPr id="27" name="Text 22"/>
          <p:cNvSpPr txBox="1"/>
          <p:nvPr/>
        </p:nvSpPr>
        <p:spPr>
          <a:xfrm>
            <a:off x="914400" y="3593592"/>
            <a:ext cx="1252728" cy="274320"/>
          </a:xfrm>
          <a:prstGeom prst="rect">
            <a:avLst/>
          </a:prstGeom>
          <a:noFill/>
        </p:spPr>
        <p:txBody>
          <a:bodyPr wrap="square" lIns="0" rIns="0" tIns="0" bIns="0" anchor="t">
            <a:spAutoFit/>
          </a:bodyPr>
          <a:lstStyle/>
          <a:p>
            <a:r>
              <a:rPr sz="700" b="0" i="0">
                <a:solidFill>
                  <a:srgbClr val="4D4D4D"/>
                </a:solidFill>
                <a:latin typeface="Trenda IG Text"/>
              </a:rPr>
              <a:t>SSO · H1-H4 · G1-G3</a:t>
            </a:r>
          </a:p>
        </p:txBody>
      </p:sp>
      <p:pic>
        <p:nvPicPr>
          <p:cNvPr id="28" name="Picture 27" descr="tableau.png"/>
          <p:cNvPicPr>
            <a:picLocks noChangeAspect="1"/>
          </p:cNvPicPr>
          <p:nvPr/>
        </p:nvPicPr>
        <p:blipFill>
          <a:blip r:embed="rId6"/>
          <a:stretch>
            <a:fillRect/>
          </a:stretch>
        </p:blipFill>
        <p:spPr>
          <a:xfrm>
            <a:off x="658368" y="3968496"/>
            <a:ext cx="182880" cy="182880"/>
          </a:xfrm>
          <a:prstGeom prst="rect">
            <a:avLst/>
          </a:prstGeom>
        </p:spPr>
      </p:pic>
      <p:sp>
        <p:nvSpPr>
          <p:cNvPr id="29" name="Text 23"/>
          <p:cNvSpPr txBox="1"/>
          <p:nvPr/>
        </p:nvSpPr>
        <p:spPr>
          <a:xfrm>
            <a:off x="914400" y="3959352"/>
            <a:ext cx="1252728" cy="182880"/>
          </a:xfrm>
          <a:prstGeom prst="rect">
            <a:avLst/>
          </a:prstGeom>
          <a:noFill/>
        </p:spPr>
        <p:txBody>
          <a:bodyPr wrap="square" lIns="0" rIns="0" tIns="0" bIns="0" anchor="ctr">
            <a:spAutoFit/>
          </a:bodyPr>
          <a:lstStyle/>
          <a:p>
            <a:r>
              <a:rPr sz="800" b="1" i="0">
                <a:solidFill>
                  <a:srgbClr val="1A1A1A"/>
                </a:solidFill>
                <a:latin typeface="Trenda IG Text"/>
              </a:rPr>
              <a:t>Tableau review</a:t>
            </a:r>
          </a:p>
        </p:txBody>
      </p:sp>
      <p:sp>
        <p:nvSpPr>
          <p:cNvPr id="30" name="Text 24"/>
          <p:cNvSpPr txBox="1"/>
          <p:nvPr/>
        </p:nvSpPr>
        <p:spPr>
          <a:xfrm>
            <a:off x="914400" y="4142232"/>
            <a:ext cx="1252728" cy="274320"/>
          </a:xfrm>
          <a:prstGeom prst="rect">
            <a:avLst/>
          </a:prstGeom>
          <a:noFill/>
        </p:spPr>
        <p:txBody>
          <a:bodyPr wrap="square" lIns="0" rIns="0" tIns="0" bIns="0" anchor="t">
            <a:spAutoFit/>
          </a:bodyPr>
          <a:lstStyle/>
          <a:p>
            <a:r>
              <a:rPr sz="700" b="0" i="0">
                <a:solidFill>
                  <a:srgbClr val="4D4D4D"/>
                </a:solidFill>
                <a:latin typeface="Trenda IG Text"/>
              </a:rPr>
              <a:t>masked dashboards, pre-send report</a:t>
            </a:r>
          </a:p>
        </p:txBody>
      </p:sp>
      <p:sp>
        <p:nvSpPr>
          <p:cNvPr id="31" name="Shape 25"/>
          <p:cNvSpPr/>
          <p:nvPr/>
        </p:nvSpPr>
        <p:spPr>
          <a:xfrm>
            <a:off x="1819656" y="3986784"/>
            <a:ext cx="329184" cy="137160"/>
          </a:xfrm>
          <a:prstGeom prst="roundRect">
            <a:avLst>
              <a:gd name="adj" fmla="val 50000"/>
            </a:avLst>
          </a:prstGeom>
          <a:solidFill>
            <a:srgbClr val="FFD700"/>
          </a:solidFill>
          <a:ln w="635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26"/>
          <p:cNvSpPr txBox="1"/>
          <p:nvPr/>
        </p:nvSpPr>
        <p:spPr>
          <a:xfrm>
            <a:off x="1819656" y="3986784"/>
            <a:ext cx="329184" cy="137160"/>
          </a:xfrm>
          <a:prstGeom prst="rect">
            <a:avLst/>
          </a:prstGeom>
          <a:noFill/>
        </p:spPr>
        <p:txBody>
          <a:bodyPr wrap="square" lIns="0" rIns="0" tIns="0" bIns="0" anchor="ctr">
            <a:spAutoFit/>
          </a:bodyPr>
          <a:lstStyle/>
          <a:p>
            <a:pPr algn="ctr"/>
            <a:r>
              <a:rPr sz="700" b="1" i="0" spc="80">
                <a:solidFill>
                  <a:srgbClr val="1A1A1A"/>
                </a:solidFill>
                <a:latin typeface="Trenda IG Text"/>
              </a:rPr>
              <a:t>NEW</a:t>
            </a:r>
          </a:p>
        </p:txBody>
      </p:sp>
      <p:pic>
        <p:nvPicPr>
          <p:cNvPr id="33" name="Picture 32" descr="jira.png"/>
          <p:cNvPicPr>
            <a:picLocks noChangeAspect="1"/>
          </p:cNvPicPr>
          <p:nvPr/>
        </p:nvPicPr>
        <p:blipFill>
          <a:blip r:embed="rId7"/>
          <a:stretch>
            <a:fillRect/>
          </a:stretch>
        </p:blipFill>
        <p:spPr>
          <a:xfrm>
            <a:off x="658368" y="4517136"/>
            <a:ext cx="182880" cy="182880"/>
          </a:xfrm>
          <a:prstGeom prst="rect">
            <a:avLst/>
          </a:prstGeom>
        </p:spPr>
      </p:pic>
      <p:sp>
        <p:nvSpPr>
          <p:cNvPr id="34" name="Text 27"/>
          <p:cNvSpPr txBox="1"/>
          <p:nvPr/>
        </p:nvSpPr>
        <p:spPr>
          <a:xfrm>
            <a:off x="914400" y="4507992"/>
            <a:ext cx="1252728" cy="182880"/>
          </a:xfrm>
          <a:prstGeom prst="rect">
            <a:avLst/>
          </a:prstGeom>
          <a:noFill/>
        </p:spPr>
        <p:txBody>
          <a:bodyPr wrap="square" lIns="0" rIns="0" tIns="0" bIns="0" anchor="ctr">
            <a:spAutoFit/>
          </a:bodyPr>
          <a:lstStyle/>
          <a:p>
            <a:r>
              <a:rPr sz="800" b="1" i="0">
                <a:solidFill>
                  <a:srgbClr val="1A1A1A"/>
                </a:solidFill>
                <a:latin typeface="Trenda IG Text"/>
              </a:rPr>
              <a:t>Jira</a:t>
            </a:r>
          </a:p>
        </p:txBody>
      </p:sp>
      <p:sp>
        <p:nvSpPr>
          <p:cNvPr id="35" name="Text 28"/>
          <p:cNvSpPr txBox="1"/>
          <p:nvPr/>
        </p:nvSpPr>
        <p:spPr>
          <a:xfrm>
            <a:off x="914400" y="4690872"/>
            <a:ext cx="1252728" cy="274320"/>
          </a:xfrm>
          <a:prstGeom prst="rect">
            <a:avLst/>
          </a:prstGeom>
          <a:noFill/>
        </p:spPr>
        <p:txBody>
          <a:bodyPr wrap="square" lIns="0" rIns="0" tIns="0" bIns="0" anchor="t">
            <a:spAutoFit/>
          </a:bodyPr>
          <a:lstStyle/>
          <a:p>
            <a:r>
              <a:rPr sz="700" b="0" i="0">
                <a:solidFill>
                  <a:srgbClr val="4D4D4D"/>
                </a:solidFill>
                <a:latin typeface="Trenda IG Text"/>
              </a:rPr>
              <a:t>status of every step</a:t>
            </a:r>
          </a:p>
        </p:txBody>
      </p:sp>
      <p:sp>
        <p:nvSpPr>
          <p:cNvPr id="36" name="Shape 29"/>
          <p:cNvSpPr/>
          <p:nvPr/>
        </p:nvSpPr>
        <p:spPr>
          <a:xfrm>
            <a:off x="2377440" y="1755648"/>
            <a:ext cx="3886200" cy="822960"/>
          </a:xfrm>
          <a:prstGeom prst="roundRect">
            <a:avLst>
              <a:gd name="adj" fmla="val 5000"/>
            </a:avLst>
          </a:prstGeom>
          <a:noFill/>
          <a:ln w="9525">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30"/>
          <p:cNvSpPr txBox="1"/>
          <p:nvPr/>
        </p:nvSpPr>
        <p:spPr>
          <a:xfrm>
            <a:off x="2487168" y="1810512"/>
            <a:ext cx="1188720" cy="237744"/>
          </a:xfrm>
          <a:prstGeom prst="rect">
            <a:avLst/>
          </a:prstGeom>
          <a:noFill/>
        </p:spPr>
        <p:txBody>
          <a:bodyPr wrap="square" lIns="0" rIns="0" tIns="0" bIns="0" anchor="ctr">
            <a:spAutoFit/>
          </a:bodyPr>
          <a:lstStyle/>
          <a:p>
            <a:r>
              <a:rPr sz="1000" b="1" i="0">
                <a:solidFill>
                  <a:srgbClr val="1A1A1A"/>
                </a:solidFill>
                <a:latin typeface="Trenda IG Text"/>
              </a:rPr>
              <a:t>Runtime</a:t>
            </a:r>
          </a:p>
        </p:txBody>
      </p:sp>
      <p:sp>
        <p:nvSpPr>
          <p:cNvPr id="38" name="Text 31"/>
          <p:cNvSpPr txBox="1"/>
          <p:nvPr/>
        </p:nvSpPr>
        <p:spPr>
          <a:xfrm>
            <a:off x="2487168" y="2048255"/>
            <a:ext cx="1097280" cy="457200"/>
          </a:xfrm>
          <a:prstGeom prst="rect">
            <a:avLst/>
          </a:prstGeom>
          <a:noFill/>
        </p:spPr>
        <p:txBody>
          <a:bodyPr wrap="square" lIns="0" rIns="0" tIns="0" bIns="0" anchor="t">
            <a:spAutoFit/>
          </a:bodyPr>
          <a:lstStyle/>
          <a:p>
            <a:r>
              <a:rPr sz="700" b="0" i="0">
                <a:solidFill>
                  <a:srgbClr val="6B6B6B"/>
                </a:solidFill>
                <a:latin typeface="Trenda IG Text"/>
              </a:rPr>
              <a:t>Runs every story or campaign as a durable workflow.</a:t>
            </a:r>
          </a:p>
        </p:txBody>
      </p:sp>
      <p:sp>
        <p:nvSpPr>
          <p:cNvPr id="39" name="Text 32"/>
          <p:cNvSpPr txBox="1"/>
          <p:nvPr/>
        </p:nvSpPr>
        <p:spPr>
          <a:xfrm>
            <a:off x="3657600" y="1828800"/>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Orchestration</a:t>
            </a:r>
          </a:p>
        </p:txBody>
      </p:sp>
      <p:sp>
        <p:nvSpPr>
          <p:cNvPr id="40" name="Text 33"/>
          <p:cNvSpPr txBox="1"/>
          <p:nvPr/>
        </p:nvSpPr>
        <p:spPr>
          <a:xfrm>
            <a:off x="3657600" y="2029967"/>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Cloud Workflows</a:t>
            </a:r>
          </a:p>
        </p:txBody>
      </p:sp>
      <p:sp>
        <p:nvSpPr>
          <p:cNvPr id="41" name="Text 34"/>
          <p:cNvSpPr txBox="1"/>
          <p:nvPr/>
        </p:nvSpPr>
        <p:spPr>
          <a:xfrm>
            <a:off x="4480560" y="1828800"/>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Dispatcher</a:t>
            </a:r>
          </a:p>
        </p:txBody>
      </p:sp>
      <p:sp>
        <p:nvSpPr>
          <p:cNvPr id="42" name="Text 35"/>
          <p:cNvSpPr txBox="1"/>
          <p:nvPr/>
        </p:nvSpPr>
        <p:spPr>
          <a:xfrm>
            <a:off x="4480560" y="2029967"/>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one agent task per step</a:t>
            </a:r>
          </a:p>
        </p:txBody>
      </p:sp>
      <p:sp>
        <p:nvSpPr>
          <p:cNvPr id="43" name="Text 36"/>
          <p:cNvSpPr txBox="1"/>
          <p:nvPr/>
        </p:nvSpPr>
        <p:spPr>
          <a:xfrm>
            <a:off x="5303520" y="1828800"/>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State + memory</a:t>
            </a:r>
          </a:p>
        </p:txBody>
      </p:sp>
      <p:sp>
        <p:nvSpPr>
          <p:cNvPr id="44" name="Text 37"/>
          <p:cNvSpPr txBox="1"/>
          <p:nvPr/>
        </p:nvSpPr>
        <p:spPr>
          <a:xfrm>
            <a:off x="5303520" y="2029967"/>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Firestore checkpoints</a:t>
            </a:r>
          </a:p>
        </p:txBody>
      </p:sp>
      <p:sp>
        <p:nvSpPr>
          <p:cNvPr id="45" name="Shape 38"/>
          <p:cNvSpPr/>
          <p:nvPr/>
        </p:nvSpPr>
        <p:spPr>
          <a:xfrm>
            <a:off x="2377440" y="2651760"/>
            <a:ext cx="3886200" cy="868680"/>
          </a:xfrm>
          <a:prstGeom prst="roundRect">
            <a:avLst>
              <a:gd name="adj" fmla="val 5000"/>
            </a:avLst>
          </a:prstGeom>
          <a:noFill/>
          <a:ln w="9525">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39"/>
          <p:cNvSpPr txBox="1"/>
          <p:nvPr/>
        </p:nvSpPr>
        <p:spPr>
          <a:xfrm>
            <a:off x="2487168" y="2706624"/>
            <a:ext cx="1188720" cy="237744"/>
          </a:xfrm>
          <a:prstGeom prst="rect">
            <a:avLst/>
          </a:prstGeom>
          <a:noFill/>
        </p:spPr>
        <p:txBody>
          <a:bodyPr wrap="square" lIns="0" rIns="0" tIns="0" bIns="0" anchor="ctr">
            <a:spAutoFit/>
          </a:bodyPr>
          <a:lstStyle/>
          <a:p>
            <a:r>
              <a:rPr sz="1000" b="1" i="0">
                <a:solidFill>
                  <a:srgbClr val="1A1A1A"/>
                </a:solidFill>
                <a:latin typeface="Trenda IG Text"/>
              </a:rPr>
              <a:t>Registry</a:t>
            </a:r>
          </a:p>
        </p:txBody>
      </p:sp>
      <p:sp>
        <p:nvSpPr>
          <p:cNvPr id="47" name="Text 40"/>
          <p:cNvSpPr txBox="1"/>
          <p:nvPr/>
        </p:nvSpPr>
        <p:spPr>
          <a:xfrm>
            <a:off x="2487168" y="2944368"/>
            <a:ext cx="1097280" cy="457200"/>
          </a:xfrm>
          <a:prstGeom prst="rect">
            <a:avLst/>
          </a:prstGeom>
          <a:noFill/>
        </p:spPr>
        <p:txBody>
          <a:bodyPr wrap="square" lIns="0" rIns="0" tIns="0" bIns="0" anchor="t">
            <a:spAutoFit/>
          </a:bodyPr>
          <a:lstStyle/>
          <a:p>
            <a:r>
              <a:rPr sz="700" b="0" i="0">
                <a:solidFill>
                  <a:srgbClr val="6B6B6B"/>
                </a:solidFill>
                <a:latin typeface="Trenda IG Text"/>
              </a:rPr>
              <a:t>What agents may use.</a:t>
            </a:r>
          </a:p>
        </p:txBody>
      </p:sp>
      <p:sp>
        <p:nvSpPr>
          <p:cNvPr id="48" name="Text 41"/>
          <p:cNvSpPr txBox="1"/>
          <p:nvPr/>
        </p:nvSpPr>
        <p:spPr>
          <a:xfrm>
            <a:off x="3657600" y="2724912"/>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Tools</a:t>
            </a:r>
          </a:p>
        </p:txBody>
      </p:sp>
      <p:sp>
        <p:nvSpPr>
          <p:cNvPr id="49" name="Text 42"/>
          <p:cNvSpPr txBox="1"/>
          <p:nvPr/>
        </p:nvSpPr>
        <p:spPr>
          <a:xfrm>
            <a:off x="3657600" y="2926080"/>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MCP gateway tools</a:t>
            </a:r>
          </a:p>
        </p:txBody>
      </p:sp>
      <p:sp>
        <p:nvSpPr>
          <p:cNvPr id="50" name="Text 43"/>
          <p:cNvSpPr txBox="1"/>
          <p:nvPr/>
        </p:nvSpPr>
        <p:spPr>
          <a:xfrm>
            <a:off x="4480560" y="2724912"/>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Skills</a:t>
            </a:r>
          </a:p>
        </p:txBody>
      </p:sp>
      <p:sp>
        <p:nvSpPr>
          <p:cNvPr id="51" name="Text 44"/>
          <p:cNvSpPr txBox="1"/>
          <p:nvPr/>
        </p:nvSpPr>
        <p:spPr>
          <a:xfrm>
            <a:off x="4480560" y="2926080"/>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Health, Marketing, QA, campaign</a:t>
            </a:r>
          </a:p>
        </p:txBody>
      </p:sp>
      <p:sp>
        <p:nvSpPr>
          <p:cNvPr id="52" name="Shape 45"/>
          <p:cNvSpPr/>
          <p:nvPr/>
        </p:nvSpPr>
        <p:spPr>
          <a:xfrm>
            <a:off x="4704588" y="3319272"/>
            <a:ext cx="329184" cy="137160"/>
          </a:xfrm>
          <a:prstGeom prst="roundRect">
            <a:avLst>
              <a:gd name="adj" fmla="val 50000"/>
            </a:avLst>
          </a:prstGeom>
          <a:solidFill>
            <a:srgbClr val="FFD700"/>
          </a:solidFill>
          <a:ln w="635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46"/>
          <p:cNvSpPr txBox="1"/>
          <p:nvPr/>
        </p:nvSpPr>
        <p:spPr>
          <a:xfrm>
            <a:off x="4704588" y="3319272"/>
            <a:ext cx="329184" cy="137160"/>
          </a:xfrm>
          <a:prstGeom prst="rect">
            <a:avLst/>
          </a:prstGeom>
          <a:noFill/>
        </p:spPr>
        <p:txBody>
          <a:bodyPr wrap="square" lIns="0" rIns="0" tIns="0" bIns="0" anchor="ctr">
            <a:spAutoFit/>
          </a:bodyPr>
          <a:lstStyle/>
          <a:p>
            <a:pPr algn="ctr"/>
            <a:r>
              <a:rPr sz="700" b="1" i="0" spc="80">
                <a:solidFill>
                  <a:srgbClr val="1A1A1A"/>
                </a:solidFill>
                <a:latin typeface="Trenda IG Text"/>
              </a:rPr>
              <a:t>NEW</a:t>
            </a:r>
          </a:p>
        </p:txBody>
      </p:sp>
      <p:sp>
        <p:nvSpPr>
          <p:cNvPr id="54" name="Text 47"/>
          <p:cNvSpPr txBox="1"/>
          <p:nvPr/>
        </p:nvSpPr>
        <p:spPr>
          <a:xfrm>
            <a:off x="5303520" y="2724912"/>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Templates</a:t>
            </a:r>
          </a:p>
        </p:txBody>
      </p:sp>
      <p:sp>
        <p:nvSpPr>
          <p:cNvPr id="55" name="Text 48"/>
          <p:cNvSpPr txBox="1"/>
          <p:nvPr/>
        </p:nvSpPr>
        <p:spPr>
          <a:xfrm>
            <a:off x="5303520" y="2926080"/>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briefs, designs, journeys</a:t>
            </a:r>
          </a:p>
        </p:txBody>
      </p:sp>
      <p:sp>
        <p:nvSpPr>
          <p:cNvPr id="56" name="Shape 49"/>
          <p:cNvSpPr/>
          <p:nvPr/>
        </p:nvSpPr>
        <p:spPr>
          <a:xfrm>
            <a:off x="5527548" y="3319272"/>
            <a:ext cx="329184" cy="137160"/>
          </a:xfrm>
          <a:prstGeom prst="roundRect">
            <a:avLst>
              <a:gd name="adj" fmla="val 50000"/>
            </a:avLst>
          </a:prstGeom>
          <a:solidFill>
            <a:srgbClr val="FFD700"/>
          </a:solidFill>
          <a:ln w="635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0"/>
          <p:cNvSpPr txBox="1"/>
          <p:nvPr/>
        </p:nvSpPr>
        <p:spPr>
          <a:xfrm>
            <a:off x="5527548" y="3319272"/>
            <a:ext cx="329184" cy="137160"/>
          </a:xfrm>
          <a:prstGeom prst="rect">
            <a:avLst/>
          </a:prstGeom>
          <a:noFill/>
        </p:spPr>
        <p:txBody>
          <a:bodyPr wrap="square" lIns="0" rIns="0" tIns="0" bIns="0" anchor="ctr">
            <a:spAutoFit/>
          </a:bodyPr>
          <a:lstStyle/>
          <a:p>
            <a:pPr algn="ctr"/>
            <a:r>
              <a:rPr sz="700" b="1" i="0" spc="80">
                <a:solidFill>
                  <a:srgbClr val="1A1A1A"/>
                </a:solidFill>
                <a:latin typeface="Trenda IG Text"/>
              </a:rPr>
              <a:t>NEW</a:t>
            </a:r>
          </a:p>
        </p:txBody>
      </p:sp>
      <p:sp>
        <p:nvSpPr>
          <p:cNvPr id="58" name="Shape 51"/>
          <p:cNvSpPr/>
          <p:nvPr/>
        </p:nvSpPr>
        <p:spPr>
          <a:xfrm>
            <a:off x="2377440" y="3593591"/>
            <a:ext cx="3886200" cy="1545336"/>
          </a:xfrm>
          <a:prstGeom prst="roundRect">
            <a:avLst>
              <a:gd name="adj" fmla="val 5000"/>
            </a:avLst>
          </a:prstGeom>
          <a:noFill/>
          <a:ln w="9525">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2"/>
          <p:cNvSpPr txBox="1"/>
          <p:nvPr/>
        </p:nvSpPr>
        <p:spPr>
          <a:xfrm>
            <a:off x="2487168" y="3648456"/>
            <a:ext cx="1188720" cy="237744"/>
          </a:xfrm>
          <a:prstGeom prst="rect">
            <a:avLst/>
          </a:prstGeom>
          <a:noFill/>
        </p:spPr>
        <p:txBody>
          <a:bodyPr wrap="square" lIns="0" rIns="0" tIns="0" bIns="0" anchor="ctr">
            <a:spAutoFit/>
          </a:bodyPr>
          <a:lstStyle/>
          <a:p>
            <a:r>
              <a:rPr sz="1000" b="1" i="0">
                <a:solidFill>
                  <a:srgbClr val="1A1A1A"/>
                </a:solidFill>
                <a:latin typeface="Trenda IG Text"/>
              </a:rPr>
              <a:t>Context</a:t>
            </a:r>
          </a:p>
        </p:txBody>
      </p:sp>
      <p:sp>
        <p:nvSpPr>
          <p:cNvPr id="60" name="Text 53"/>
          <p:cNvSpPr txBox="1"/>
          <p:nvPr/>
        </p:nvSpPr>
        <p:spPr>
          <a:xfrm>
            <a:off x="2487168" y="3886200"/>
            <a:ext cx="1097280" cy="457200"/>
          </a:xfrm>
          <a:prstGeom prst="rect">
            <a:avLst/>
          </a:prstGeom>
          <a:noFill/>
        </p:spPr>
        <p:txBody>
          <a:bodyPr wrap="square" lIns="0" rIns="0" tIns="0" bIns="0" anchor="t">
            <a:spAutoFit/>
          </a:bodyPr>
          <a:lstStyle/>
          <a:p>
            <a:r>
              <a:rPr sz="700" b="0" i="0">
                <a:solidFill>
                  <a:srgbClr val="6B6B6B"/>
                </a:solidFill>
                <a:latin typeface="Trenda IG Text"/>
              </a:rPr>
              <a:t>What agents know, always cited.</a:t>
            </a:r>
          </a:p>
        </p:txBody>
      </p:sp>
      <p:sp>
        <p:nvSpPr>
          <p:cNvPr id="61" name="Text 54"/>
          <p:cNvSpPr txBox="1"/>
          <p:nvPr/>
        </p:nvSpPr>
        <p:spPr>
          <a:xfrm>
            <a:off x="3657600" y="3666744"/>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Knowledge graph</a:t>
            </a:r>
          </a:p>
        </p:txBody>
      </p:sp>
      <p:sp>
        <p:nvSpPr>
          <p:cNvPr id="62" name="Text 55"/>
          <p:cNvSpPr txBox="1"/>
          <p:nvPr/>
        </p:nvSpPr>
        <p:spPr>
          <a:xfrm>
            <a:off x="3657600" y="3867911"/>
            <a:ext cx="777239" cy="329184"/>
          </a:xfrm>
          <a:prstGeom prst="rect">
            <a:avLst/>
          </a:prstGeom>
          <a:noFill/>
        </p:spPr>
        <p:txBody>
          <a:bodyPr wrap="square" lIns="0" rIns="0" tIns="0" bIns="0" anchor="t">
            <a:spAutoFit/>
          </a:bodyPr>
          <a:lstStyle/>
          <a:p>
            <a:pPr algn="ctr"/>
            <a:r>
              <a:rPr sz="700" b="0" i="0">
                <a:solidFill>
                  <a:srgbClr val="4D4D4D"/>
                </a:solidFill>
                <a:latin typeface="Trenda IG Text"/>
              </a:rPr>
              <a:t>Spanner Graph, GQL</a:t>
            </a:r>
          </a:p>
        </p:txBody>
      </p:sp>
      <p:sp>
        <p:nvSpPr>
          <p:cNvPr id="63" name="Text 56"/>
          <p:cNvSpPr txBox="1"/>
          <p:nvPr/>
        </p:nvSpPr>
        <p:spPr>
          <a:xfrm>
            <a:off x="4480560" y="3666744"/>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Cited retrieval</a:t>
            </a:r>
          </a:p>
        </p:txBody>
      </p:sp>
      <p:sp>
        <p:nvSpPr>
          <p:cNvPr id="64" name="Text 57"/>
          <p:cNvSpPr txBox="1"/>
          <p:nvPr/>
        </p:nvSpPr>
        <p:spPr>
          <a:xfrm>
            <a:off x="4480560" y="3867911"/>
            <a:ext cx="777239" cy="329184"/>
          </a:xfrm>
          <a:prstGeom prst="rect">
            <a:avLst/>
          </a:prstGeom>
          <a:noFill/>
        </p:spPr>
        <p:txBody>
          <a:bodyPr wrap="square" lIns="0" rIns="0" tIns="0" bIns="0" anchor="t">
            <a:spAutoFit/>
          </a:bodyPr>
          <a:lstStyle/>
          <a:p>
            <a:pPr algn="ctr"/>
            <a:r>
              <a:rPr sz="700" b="0" i="0">
                <a:solidFill>
                  <a:srgbClr val="4D4D4D"/>
                </a:solidFill>
                <a:latin typeface="Trenda IG Text"/>
              </a:rPr>
              <a:t>Graph API over MCP</a:t>
            </a:r>
          </a:p>
        </p:txBody>
      </p:sp>
      <p:sp>
        <p:nvSpPr>
          <p:cNvPr id="65" name="Text 58"/>
          <p:cNvSpPr txBox="1"/>
          <p:nvPr/>
        </p:nvSpPr>
        <p:spPr>
          <a:xfrm>
            <a:off x="5303520" y="3666744"/>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Data context</a:t>
            </a:r>
          </a:p>
        </p:txBody>
      </p:sp>
      <p:sp>
        <p:nvSpPr>
          <p:cNvPr id="66" name="Text 59"/>
          <p:cNvSpPr txBox="1"/>
          <p:nvPr/>
        </p:nvSpPr>
        <p:spPr>
          <a:xfrm>
            <a:off x="5303520" y="3867911"/>
            <a:ext cx="777239" cy="329184"/>
          </a:xfrm>
          <a:prstGeom prst="rect">
            <a:avLst/>
          </a:prstGeom>
          <a:noFill/>
        </p:spPr>
        <p:txBody>
          <a:bodyPr wrap="square" lIns="0" rIns="0" tIns="0" bIns="0" anchor="t">
            <a:spAutoFit/>
          </a:bodyPr>
          <a:lstStyle/>
          <a:p>
            <a:pPr algn="ctr"/>
            <a:r>
              <a:rPr sz="700" b="0" i="0">
                <a:solidFill>
                  <a:srgbClr val="4D4D4D"/>
                </a:solidFill>
                <a:latin typeface="Trenda IG Text"/>
              </a:rPr>
              <a:t>masked BigQuery aggregates</a:t>
            </a:r>
          </a:p>
        </p:txBody>
      </p:sp>
      <p:sp>
        <p:nvSpPr>
          <p:cNvPr id="67" name="Shape 60"/>
          <p:cNvSpPr/>
          <p:nvPr/>
        </p:nvSpPr>
        <p:spPr>
          <a:xfrm>
            <a:off x="5527548" y="4160520"/>
            <a:ext cx="329184" cy="137160"/>
          </a:xfrm>
          <a:prstGeom prst="roundRect">
            <a:avLst>
              <a:gd name="adj" fmla="val 50000"/>
            </a:avLst>
          </a:prstGeom>
          <a:solidFill>
            <a:srgbClr val="FFD700"/>
          </a:solidFill>
          <a:ln w="635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1"/>
          <p:cNvSpPr txBox="1"/>
          <p:nvPr/>
        </p:nvSpPr>
        <p:spPr>
          <a:xfrm>
            <a:off x="5527548" y="4160520"/>
            <a:ext cx="329184" cy="137160"/>
          </a:xfrm>
          <a:prstGeom prst="rect">
            <a:avLst/>
          </a:prstGeom>
          <a:noFill/>
        </p:spPr>
        <p:txBody>
          <a:bodyPr wrap="square" lIns="0" rIns="0" tIns="0" bIns="0" anchor="ctr">
            <a:spAutoFit/>
          </a:bodyPr>
          <a:lstStyle/>
          <a:p>
            <a:pPr algn="ctr"/>
            <a:r>
              <a:rPr sz="700" b="1" i="0" spc="80">
                <a:solidFill>
                  <a:srgbClr val="1A1A1A"/>
                </a:solidFill>
                <a:latin typeface="Trenda IG Text"/>
              </a:rPr>
              <a:t>NEW</a:t>
            </a:r>
          </a:p>
        </p:txBody>
      </p:sp>
      <p:sp>
        <p:nvSpPr>
          <p:cNvPr id="69" name="Text 62"/>
          <p:cNvSpPr txBox="1"/>
          <p:nvPr/>
        </p:nvSpPr>
        <p:spPr>
          <a:xfrm>
            <a:off x="2487168" y="4398264"/>
            <a:ext cx="914400" cy="146304"/>
          </a:xfrm>
          <a:prstGeom prst="rect">
            <a:avLst/>
          </a:prstGeom>
          <a:noFill/>
        </p:spPr>
        <p:txBody>
          <a:bodyPr wrap="square" lIns="0" rIns="0" tIns="0" bIns="0" anchor="t">
            <a:spAutoFit/>
          </a:bodyPr>
          <a:lstStyle/>
          <a:p>
            <a:r>
              <a:rPr sz="700" b="1" i="0" spc="150">
                <a:solidFill>
                  <a:srgbClr val="8A6D00"/>
                </a:solidFill>
                <a:latin typeface="Trenda IG Text"/>
              </a:rPr>
              <a:t>SOURCES</a:t>
            </a:r>
          </a:p>
        </p:txBody>
      </p:sp>
      <p:sp>
        <p:nvSpPr>
          <p:cNvPr id="70" name="Shape 63"/>
          <p:cNvSpPr/>
          <p:nvPr/>
        </p:nvSpPr>
        <p:spPr>
          <a:xfrm>
            <a:off x="2487168" y="4581144"/>
            <a:ext cx="358444"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4"/>
          <p:cNvSpPr txBox="1"/>
          <p:nvPr/>
        </p:nvSpPr>
        <p:spPr>
          <a:xfrm>
            <a:off x="2487168" y="4581144"/>
            <a:ext cx="358444" cy="182880"/>
          </a:xfrm>
          <a:prstGeom prst="rect">
            <a:avLst/>
          </a:prstGeom>
          <a:noFill/>
        </p:spPr>
        <p:txBody>
          <a:bodyPr wrap="square" lIns="0" rIns="0" tIns="0" bIns="0" anchor="ctr">
            <a:spAutoFit/>
          </a:bodyPr>
          <a:lstStyle/>
          <a:p>
            <a:pPr algn="ctr"/>
            <a:r>
              <a:rPr sz="700" b="0" i="0">
                <a:solidFill>
                  <a:srgbClr val="1A1A1A"/>
                </a:solidFill>
                <a:latin typeface="Trenda IG Text"/>
              </a:rPr>
              <a:t>Jira</a:t>
            </a:r>
          </a:p>
        </p:txBody>
      </p:sp>
      <p:sp>
        <p:nvSpPr>
          <p:cNvPr id="72" name="Shape 65"/>
          <p:cNvSpPr/>
          <p:nvPr/>
        </p:nvSpPr>
        <p:spPr>
          <a:xfrm>
            <a:off x="2900476" y="4581144"/>
            <a:ext cx="676656"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6"/>
          <p:cNvSpPr txBox="1"/>
          <p:nvPr/>
        </p:nvSpPr>
        <p:spPr>
          <a:xfrm>
            <a:off x="2900476" y="4581144"/>
            <a:ext cx="676656" cy="182880"/>
          </a:xfrm>
          <a:prstGeom prst="rect">
            <a:avLst/>
          </a:prstGeom>
          <a:noFill/>
        </p:spPr>
        <p:txBody>
          <a:bodyPr wrap="square" lIns="0" rIns="0" tIns="0" bIns="0" anchor="ctr">
            <a:spAutoFit/>
          </a:bodyPr>
          <a:lstStyle/>
          <a:p>
            <a:pPr algn="ctr"/>
            <a:r>
              <a:rPr sz="700" b="0" i="0">
                <a:solidFill>
                  <a:srgbClr val="1A1A1A"/>
                </a:solidFill>
                <a:latin typeface="Trenda IG Text"/>
              </a:rPr>
              <a:t>Confluence</a:t>
            </a:r>
          </a:p>
        </p:txBody>
      </p:sp>
      <p:sp>
        <p:nvSpPr>
          <p:cNvPr id="74" name="Shape 67"/>
          <p:cNvSpPr/>
          <p:nvPr/>
        </p:nvSpPr>
        <p:spPr>
          <a:xfrm>
            <a:off x="3631996" y="4581144"/>
            <a:ext cx="676656"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68"/>
          <p:cNvSpPr txBox="1"/>
          <p:nvPr/>
        </p:nvSpPr>
        <p:spPr>
          <a:xfrm>
            <a:off x="3631996" y="4581144"/>
            <a:ext cx="676656" cy="182880"/>
          </a:xfrm>
          <a:prstGeom prst="rect">
            <a:avLst/>
          </a:prstGeom>
          <a:noFill/>
        </p:spPr>
        <p:txBody>
          <a:bodyPr wrap="square" lIns="0" rIns="0" tIns="0" bIns="0" anchor="ctr">
            <a:spAutoFit/>
          </a:bodyPr>
          <a:lstStyle/>
          <a:p>
            <a:pPr algn="ctr"/>
            <a:r>
              <a:rPr sz="700" b="0" i="0">
                <a:solidFill>
                  <a:srgbClr val="1A1A1A"/>
                </a:solidFill>
                <a:latin typeface="Trenda IG Text"/>
              </a:rPr>
              <a:t>Salesforce</a:t>
            </a:r>
          </a:p>
        </p:txBody>
      </p:sp>
      <p:sp>
        <p:nvSpPr>
          <p:cNvPr id="76" name="Shape 69"/>
          <p:cNvSpPr/>
          <p:nvPr/>
        </p:nvSpPr>
        <p:spPr>
          <a:xfrm>
            <a:off x="4363516" y="4581144"/>
            <a:ext cx="305409"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0"/>
          <p:cNvSpPr txBox="1"/>
          <p:nvPr/>
        </p:nvSpPr>
        <p:spPr>
          <a:xfrm>
            <a:off x="4363516" y="4581144"/>
            <a:ext cx="305409" cy="182880"/>
          </a:xfrm>
          <a:prstGeom prst="rect">
            <a:avLst/>
          </a:prstGeom>
          <a:noFill/>
        </p:spPr>
        <p:txBody>
          <a:bodyPr wrap="square" lIns="0" rIns="0" tIns="0" bIns="0" anchor="ctr">
            <a:spAutoFit/>
          </a:bodyPr>
          <a:lstStyle/>
          <a:p>
            <a:pPr algn="ctr"/>
            <a:r>
              <a:rPr sz="700" b="0" i="0">
                <a:solidFill>
                  <a:srgbClr val="1A1A1A"/>
                </a:solidFill>
                <a:latin typeface="Trenda IG Text"/>
              </a:rPr>
              <a:t>Git</a:t>
            </a:r>
          </a:p>
        </p:txBody>
      </p:sp>
      <p:sp>
        <p:nvSpPr>
          <p:cNvPr id="78" name="Shape 71"/>
          <p:cNvSpPr/>
          <p:nvPr/>
        </p:nvSpPr>
        <p:spPr>
          <a:xfrm>
            <a:off x="4723790" y="4581144"/>
            <a:ext cx="464515"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2"/>
          <p:cNvSpPr txBox="1"/>
          <p:nvPr/>
        </p:nvSpPr>
        <p:spPr>
          <a:xfrm>
            <a:off x="4723790" y="4581144"/>
            <a:ext cx="464515" cy="182880"/>
          </a:xfrm>
          <a:prstGeom prst="rect">
            <a:avLst/>
          </a:prstGeom>
          <a:noFill/>
        </p:spPr>
        <p:txBody>
          <a:bodyPr wrap="square" lIns="0" rIns="0" tIns="0" bIns="0" anchor="ctr">
            <a:spAutoFit/>
          </a:bodyPr>
          <a:lstStyle/>
          <a:p>
            <a:pPr algn="ctr"/>
            <a:r>
              <a:rPr sz="700" b="0" i="0">
                <a:solidFill>
                  <a:srgbClr val="1A1A1A"/>
                </a:solidFill>
                <a:latin typeface="Trenda IG Text"/>
              </a:rPr>
              <a:t>Copado</a:t>
            </a:r>
          </a:p>
        </p:txBody>
      </p:sp>
      <p:sp>
        <p:nvSpPr>
          <p:cNvPr id="80" name="Shape 73"/>
          <p:cNvSpPr/>
          <p:nvPr/>
        </p:nvSpPr>
        <p:spPr>
          <a:xfrm>
            <a:off x="5243169" y="4581144"/>
            <a:ext cx="782726"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74"/>
          <p:cNvSpPr txBox="1"/>
          <p:nvPr/>
        </p:nvSpPr>
        <p:spPr>
          <a:xfrm>
            <a:off x="5243169" y="4581144"/>
            <a:ext cx="782726" cy="182880"/>
          </a:xfrm>
          <a:prstGeom prst="rect">
            <a:avLst/>
          </a:prstGeom>
          <a:noFill/>
        </p:spPr>
        <p:txBody>
          <a:bodyPr wrap="square" lIns="0" rIns="0" tIns="0" bIns="0" anchor="ctr">
            <a:spAutoFit/>
          </a:bodyPr>
          <a:lstStyle/>
          <a:p>
            <a:pPr algn="ctr"/>
            <a:r>
              <a:rPr sz="700" b="0" i="0">
                <a:solidFill>
                  <a:srgbClr val="1A1A1A"/>
                </a:solidFill>
                <a:latin typeface="Trenda IG Text"/>
              </a:rPr>
              <a:t>Google Drive</a:t>
            </a:r>
          </a:p>
        </p:txBody>
      </p:sp>
      <p:sp>
        <p:nvSpPr>
          <p:cNvPr id="82" name="Shape 75"/>
          <p:cNvSpPr/>
          <p:nvPr/>
        </p:nvSpPr>
        <p:spPr>
          <a:xfrm>
            <a:off x="2487168" y="4818888"/>
            <a:ext cx="1366113" cy="182880"/>
          </a:xfrm>
          <a:prstGeom prst="roundRect">
            <a:avLst>
              <a:gd name="adj" fmla="val 4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76"/>
          <p:cNvSpPr txBox="1"/>
          <p:nvPr/>
        </p:nvSpPr>
        <p:spPr>
          <a:xfrm>
            <a:off x="2487168" y="4818888"/>
            <a:ext cx="1366113" cy="182880"/>
          </a:xfrm>
          <a:prstGeom prst="rect">
            <a:avLst/>
          </a:prstGeom>
          <a:noFill/>
        </p:spPr>
        <p:txBody>
          <a:bodyPr wrap="square" lIns="0" rIns="0" tIns="0" bIns="0" anchor="ctr">
            <a:spAutoFit/>
          </a:bodyPr>
          <a:lstStyle/>
          <a:p>
            <a:pPr algn="ctr"/>
            <a:r>
              <a:rPr sz="700" b="1" i="0">
                <a:solidFill>
                  <a:srgbClr val="1A1A1A"/>
                </a:solidFill>
                <a:latin typeface="Trenda IG Text"/>
              </a:rPr>
              <a:t>GCP · BigQuery (masked)</a:t>
            </a:r>
          </a:p>
        </p:txBody>
      </p:sp>
      <p:sp>
        <p:nvSpPr>
          <p:cNvPr id="84" name="Shape 77"/>
          <p:cNvSpPr/>
          <p:nvPr/>
        </p:nvSpPr>
        <p:spPr>
          <a:xfrm>
            <a:off x="6400800" y="1755648"/>
            <a:ext cx="2240280" cy="3383280"/>
          </a:xfrm>
          <a:prstGeom prst="roundRect">
            <a:avLst>
              <a:gd name="adj" fmla="val 5000"/>
            </a:avLst>
          </a:prstGeom>
          <a:noFill/>
          <a:ln w="1143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78"/>
          <p:cNvSpPr txBox="1"/>
          <p:nvPr/>
        </p:nvSpPr>
        <p:spPr>
          <a:xfrm>
            <a:off x="6528816" y="1810512"/>
            <a:ext cx="2057400" cy="256032"/>
          </a:xfrm>
          <a:prstGeom prst="rect">
            <a:avLst/>
          </a:prstGeom>
          <a:noFill/>
        </p:spPr>
        <p:txBody>
          <a:bodyPr wrap="square" lIns="0" rIns="0" tIns="0" bIns="0" anchor="ctr">
            <a:spAutoFit/>
          </a:bodyPr>
          <a:lstStyle/>
          <a:p>
            <a:r>
              <a:rPr sz="1000" b="0" i="0">
                <a:solidFill>
                  <a:srgbClr val="1A1A1A"/>
                </a:solidFill>
                <a:latin typeface="Trenda IG Text"/>
              </a:rPr>
              <a:t>Harness Govern</a:t>
            </a:r>
          </a:p>
        </p:txBody>
      </p:sp>
      <p:sp>
        <p:nvSpPr>
          <p:cNvPr id="86" name="Text 79"/>
          <p:cNvSpPr txBox="1"/>
          <p:nvPr/>
        </p:nvSpPr>
        <p:spPr>
          <a:xfrm>
            <a:off x="6528816" y="2057400"/>
            <a:ext cx="2057400" cy="182880"/>
          </a:xfrm>
          <a:prstGeom prst="rect">
            <a:avLst/>
          </a:prstGeom>
          <a:noFill/>
        </p:spPr>
        <p:txBody>
          <a:bodyPr wrap="square" lIns="0" rIns="0" tIns="0" bIns="0" anchor="t">
            <a:spAutoFit/>
          </a:bodyPr>
          <a:lstStyle/>
          <a:p>
            <a:r>
              <a:rPr sz="700" b="0" i="0">
                <a:solidFill>
                  <a:srgbClr val="6B6B6B"/>
                </a:solidFill>
                <a:latin typeface="Trenda IG Text"/>
              </a:rPr>
              <a:t>Safe, controlled and measurable.</a:t>
            </a:r>
          </a:p>
        </p:txBody>
      </p:sp>
      <p:sp>
        <p:nvSpPr>
          <p:cNvPr id="87" name="Text 80"/>
          <p:cNvSpPr txBox="1"/>
          <p:nvPr/>
        </p:nvSpPr>
        <p:spPr>
          <a:xfrm>
            <a:off x="6528816" y="2340864"/>
            <a:ext cx="1691640" cy="310896"/>
          </a:xfrm>
          <a:prstGeom prst="rect">
            <a:avLst/>
          </a:prstGeom>
          <a:noFill/>
        </p:spPr>
        <p:txBody>
          <a:bodyPr wrap="square" lIns="0" rIns="0" tIns="0" bIns="0" anchor="ctr">
            <a:spAutoFit/>
          </a:bodyPr>
          <a:lstStyle/>
          <a:p>
            <a:r>
              <a:rPr sz="740" b="1" i="0">
                <a:solidFill>
                  <a:srgbClr val="1A1A1A"/>
                </a:solidFill>
                <a:latin typeface="Trenda IG Text"/>
              </a:rPr>
              <a:t>Change Guardian</a:t>
            </a:r>
          </a:p>
        </p:txBody>
      </p:sp>
      <p:sp>
        <p:nvSpPr>
          <p:cNvPr id="88" name="Text 81"/>
          <p:cNvSpPr txBox="1"/>
          <p:nvPr/>
        </p:nvSpPr>
        <p:spPr>
          <a:xfrm>
            <a:off x="6528816" y="2688336"/>
            <a:ext cx="1691640" cy="310896"/>
          </a:xfrm>
          <a:prstGeom prst="rect">
            <a:avLst/>
          </a:prstGeom>
          <a:noFill/>
        </p:spPr>
        <p:txBody>
          <a:bodyPr wrap="square" lIns="0" rIns="0" tIns="0" bIns="0" anchor="ctr">
            <a:spAutoFit/>
          </a:bodyPr>
          <a:lstStyle/>
          <a:p>
            <a:r>
              <a:rPr sz="740" b="1" i="0">
                <a:solidFill>
                  <a:srgbClr val="1A1A1A"/>
                </a:solidFill>
                <a:latin typeface="Trenda IG Text"/>
              </a:rPr>
              <a:t>Guardrails in + out · Model Armor</a:t>
            </a:r>
          </a:p>
        </p:txBody>
      </p:sp>
      <p:sp>
        <p:nvSpPr>
          <p:cNvPr id="89" name="Text 82"/>
          <p:cNvSpPr txBox="1"/>
          <p:nvPr/>
        </p:nvSpPr>
        <p:spPr>
          <a:xfrm>
            <a:off x="6528816" y="3035808"/>
            <a:ext cx="1691640" cy="310896"/>
          </a:xfrm>
          <a:prstGeom prst="rect">
            <a:avLst/>
          </a:prstGeom>
          <a:noFill/>
        </p:spPr>
        <p:txBody>
          <a:bodyPr wrap="square" lIns="0" rIns="0" tIns="0" bIns="0" anchor="ctr">
            <a:spAutoFit/>
          </a:bodyPr>
          <a:lstStyle/>
          <a:p>
            <a:r>
              <a:rPr sz="740" b="1" i="0">
                <a:solidFill>
                  <a:srgbClr val="1A1A1A"/>
                </a:solidFill>
                <a:latin typeface="Trenda IG Text"/>
              </a:rPr>
              <a:t>Identity + access</a:t>
            </a:r>
          </a:p>
        </p:txBody>
      </p:sp>
      <p:sp>
        <p:nvSpPr>
          <p:cNvPr id="90" name="Text 83"/>
          <p:cNvSpPr txBox="1"/>
          <p:nvPr/>
        </p:nvSpPr>
        <p:spPr>
          <a:xfrm>
            <a:off x="6528816" y="3383279"/>
            <a:ext cx="1691640" cy="310896"/>
          </a:xfrm>
          <a:prstGeom prst="rect">
            <a:avLst/>
          </a:prstGeom>
          <a:noFill/>
        </p:spPr>
        <p:txBody>
          <a:bodyPr wrap="square" lIns="0" rIns="0" tIns="0" bIns="0" anchor="ctr">
            <a:spAutoFit/>
          </a:bodyPr>
          <a:lstStyle/>
          <a:p>
            <a:r>
              <a:rPr sz="740" b="1" i="0">
                <a:solidFill>
                  <a:srgbClr val="1A1A1A"/>
                </a:solidFill>
                <a:latin typeface="Trenda IG Text"/>
              </a:rPr>
              <a:t>Collibra masking + DLP</a:t>
            </a:r>
          </a:p>
        </p:txBody>
      </p:sp>
      <p:sp>
        <p:nvSpPr>
          <p:cNvPr id="91" name="Shape 84"/>
          <p:cNvSpPr/>
          <p:nvPr/>
        </p:nvSpPr>
        <p:spPr>
          <a:xfrm>
            <a:off x="8202167" y="3474720"/>
            <a:ext cx="329184" cy="137160"/>
          </a:xfrm>
          <a:prstGeom prst="roundRect">
            <a:avLst>
              <a:gd name="adj" fmla="val 50000"/>
            </a:avLst>
          </a:prstGeom>
          <a:solidFill>
            <a:srgbClr val="FFD700"/>
          </a:solidFill>
          <a:ln w="635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85"/>
          <p:cNvSpPr txBox="1"/>
          <p:nvPr/>
        </p:nvSpPr>
        <p:spPr>
          <a:xfrm>
            <a:off x="8202167" y="3474720"/>
            <a:ext cx="329184" cy="137160"/>
          </a:xfrm>
          <a:prstGeom prst="rect">
            <a:avLst/>
          </a:prstGeom>
          <a:noFill/>
        </p:spPr>
        <p:txBody>
          <a:bodyPr wrap="square" lIns="0" rIns="0" tIns="0" bIns="0" anchor="ctr">
            <a:spAutoFit/>
          </a:bodyPr>
          <a:lstStyle/>
          <a:p>
            <a:pPr algn="ctr"/>
            <a:r>
              <a:rPr sz="700" b="1" i="0" spc="80">
                <a:solidFill>
                  <a:srgbClr val="1A1A1A"/>
                </a:solidFill>
                <a:latin typeface="Trenda IG Text"/>
              </a:rPr>
              <a:t>NEW</a:t>
            </a:r>
          </a:p>
        </p:txBody>
      </p:sp>
      <p:sp>
        <p:nvSpPr>
          <p:cNvPr id="93" name="Text 86"/>
          <p:cNvSpPr txBox="1"/>
          <p:nvPr/>
        </p:nvSpPr>
        <p:spPr>
          <a:xfrm>
            <a:off x="6528816" y="3730752"/>
            <a:ext cx="1691640" cy="310896"/>
          </a:xfrm>
          <a:prstGeom prst="rect">
            <a:avLst/>
          </a:prstGeom>
          <a:noFill/>
        </p:spPr>
        <p:txBody>
          <a:bodyPr wrap="square" lIns="0" rIns="0" tIns="0" bIns="0" anchor="ctr">
            <a:spAutoFit/>
          </a:bodyPr>
          <a:lstStyle/>
          <a:p>
            <a:r>
              <a:rPr sz="740" b="1" i="0">
                <a:solidFill>
                  <a:srgbClr val="1A1A1A"/>
                </a:solidFill>
                <a:latin typeface="Trenda IG Text"/>
              </a:rPr>
              <a:t>Compliance Guardian + policy engine</a:t>
            </a:r>
          </a:p>
        </p:txBody>
      </p:sp>
      <p:sp>
        <p:nvSpPr>
          <p:cNvPr id="94" name="Shape 87"/>
          <p:cNvSpPr/>
          <p:nvPr/>
        </p:nvSpPr>
        <p:spPr>
          <a:xfrm>
            <a:off x="8202167" y="3822191"/>
            <a:ext cx="329184" cy="137160"/>
          </a:xfrm>
          <a:prstGeom prst="roundRect">
            <a:avLst>
              <a:gd name="adj" fmla="val 50000"/>
            </a:avLst>
          </a:prstGeom>
          <a:solidFill>
            <a:srgbClr val="FFD700"/>
          </a:solidFill>
          <a:ln w="635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88"/>
          <p:cNvSpPr txBox="1"/>
          <p:nvPr/>
        </p:nvSpPr>
        <p:spPr>
          <a:xfrm>
            <a:off x="8202167" y="3822191"/>
            <a:ext cx="329184" cy="137160"/>
          </a:xfrm>
          <a:prstGeom prst="rect">
            <a:avLst/>
          </a:prstGeom>
          <a:noFill/>
        </p:spPr>
        <p:txBody>
          <a:bodyPr wrap="square" lIns="0" rIns="0" tIns="0" bIns="0" anchor="ctr">
            <a:spAutoFit/>
          </a:bodyPr>
          <a:lstStyle/>
          <a:p>
            <a:pPr algn="ctr"/>
            <a:r>
              <a:rPr sz="700" b="1" i="0" spc="80">
                <a:solidFill>
                  <a:srgbClr val="1A1A1A"/>
                </a:solidFill>
                <a:latin typeface="Trenda IG Text"/>
              </a:rPr>
              <a:t>NEW</a:t>
            </a:r>
          </a:p>
        </p:txBody>
      </p:sp>
      <p:sp>
        <p:nvSpPr>
          <p:cNvPr id="96" name="Text 89"/>
          <p:cNvSpPr txBox="1"/>
          <p:nvPr/>
        </p:nvSpPr>
        <p:spPr>
          <a:xfrm>
            <a:off x="6528816" y="4078224"/>
            <a:ext cx="1691640" cy="310896"/>
          </a:xfrm>
          <a:prstGeom prst="rect">
            <a:avLst/>
          </a:prstGeom>
          <a:noFill/>
        </p:spPr>
        <p:txBody>
          <a:bodyPr wrap="square" lIns="0" rIns="0" tIns="0" bIns="0" anchor="ctr">
            <a:spAutoFit/>
          </a:bodyPr>
          <a:lstStyle/>
          <a:p>
            <a:r>
              <a:rPr sz="740" b="1" i="0">
                <a:solidFill>
                  <a:srgbClr val="1A1A1A"/>
                </a:solidFill>
                <a:latin typeface="Trenda IG Text"/>
              </a:rPr>
              <a:t>Human gates H1-H4, CAB, G1-G3</a:t>
            </a:r>
          </a:p>
        </p:txBody>
      </p:sp>
      <p:sp>
        <p:nvSpPr>
          <p:cNvPr id="97" name="Text 90"/>
          <p:cNvSpPr txBox="1"/>
          <p:nvPr/>
        </p:nvSpPr>
        <p:spPr>
          <a:xfrm>
            <a:off x="6528816" y="4425696"/>
            <a:ext cx="1691640" cy="310896"/>
          </a:xfrm>
          <a:prstGeom prst="rect">
            <a:avLst/>
          </a:prstGeom>
          <a:noFill/>
        </p:spPr>
        <p:txBody>
          <a:bodyPr wrap="square" lIns="0" rIns="0" tIns="0" bIns="0" anchor="ctr">
            <a:spAutoFit/>
          </a:bodyPr>
          <a:lstStyle/>
          <a:p>
            <a:r>
              <a:rPr sz="740" b="1" i="0">
                <a:solidFill>
                  <a:srgbClr val="1A1A1A"/>
                </a:solidFill>
                <a:latin typeface="Trenda IG Text"/>
              </a:rPr>
              <a:t>Evaluation set</a:t>
            </a:r>
          </a:p>
        </p:txBody>
      </p:sp>
      <p:sp>
        <p:nvSpPr>
          <p:cNvPr id="98" name="Text 91"/>
          <p:cNvSpPr txBox="1"/>
          <p:nvPr/>
        </p:nvSpPr>
        <p:spPr>
          <a:xfrm>
            <a:off x="6528816" y="4773168"/>
            <a:ext cx="1691640" cy="310896"/>
          </a:xfrm>
          <a:prstGeom prst="rect">
            <a:avLst/>
          </a:prstGeom>
          <a:noFill/>
        </p:spPr>
        <p:txBody>
          <a:bodyPr wrap="square" lIns="0" rIns="0" tIns="0" bIns="0" anchor="ctr">
            <a:spAutoFit/>
          </a:bodyPr>
          <a:lstStyle/>
          <a:p>
            <a:r>
              <a:rPr sz="740" b="1" i="0">
                <a:solidFill>
                  <a:srgbClr val="1A1A1A"/>
                </a:solidFill>
                <a:latin typeface="Trenda IG Text"/>
              </a:rPr>
              <a:t>Observability + change passport</a:t>
            </a:r>
          </a:p>
        </p:txBody>
      </p:sp>
      <p:sp>
        <p:nvSpPr>
          <p:cNvPr id="99" name="Text 92"/>
          <p:cNvSpPr txBox="1"/>
          <p:nvPr/>
        </p:nvSpPr>
        <p:spPr>
          <a:xfrm>
            <a:off x="8915400" y="1645920"/>
            <a:ext cx="2862072" cy="237744"/>
          </a:xfrm>
          <a:prstGeom prst="rect">
            <a:avLst/>
          </a:prstGeom>
          <a:noFill/>
        </p:spPr>
        <p:txBody>
          <a:bodyPr wrap="square" lIns="0" rIns="0" tIns="0" bIns="0" anchor="ctr">
            <a:spAutoFit/>
          </a:bodyPr>
          <a:lstStyle/>
          <a:p>
            <a:r>
              <a:rPr sz="1100" b="1" i="0">
                <a:solidFill>
                  <a:srgbClr val="1A1A1A"/>
                </a:solidFill>
                <a:latin typeface="Trenda IG Text"/>
              </a:rPr>
              <a:t>Differentiators</a:t>
            </a:r>
          </a:p>
        </p:txBody>
      </p:sp>
      <p:sp>
        <p:nvSpPr>
          <p:cNvPr id="100" name="Shape 93"/>
          <p:cNvSpPr/>
          <p:nvPr/>
        </p:nvSpPr>
        <p:spPr>
          <a:xfrm>
            <a:off x="8897112" y="1920240"/>
            <a:ext cx="2898648" cy="1060704"/>
          </a:xfrm>
          <a:prstGeom prst="roundRect">
            <a:avLst>
              <a:gd name="adj" fmla="val 10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00" name="Shape 93"/>
          <p:cNvSpPr/>
          <p:nvPr/>
        </p:nvSpPr>
        <p:spPr>
          <a:xfrm>
            <a:off x="8915400" y="1938528"/>
            <a:ext cx="2862072" cy="1024128"/>
          </a:xfrm>
          <a:prstGeom prst="roundRect">
            <a:avLst>
              <a:gd name="adj" fmla="val 10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Shape 94"/>
          <p:cNvSpPr/>
          <p:nvPr/>
        </p:nvSpPr>
        <p:spPr>
          <a:xfrm>
            <a:off x="9025128" y="2066544"/>
            <a:ext cx="274320" cy="27432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95"/>
          <p:cNvSpPr txBox="1"/>
          <p:nvPr/>
        </p:nvSpPr>
        <p:spPr>
          <a:xfrm>
            <a:off x="9025128" y="2066544"/>
            <a:ext cx="274320" cy="274320"/>
          </a:xfrm>
          <a:prstGeom prst="rect">
            <a:avLst/>
          </a:prstGeom>
          <a:noFill/>
        </p:spPr>
        <p:txBody>
          <a:bodyPr wrap="square" lIns="0" rIns="0" tIns="0" bIns="0" anchor="ctr">
            <a:spAutoFit/>
          </a:bodyPr>
          <a:lstStyle/>
          <a:p>
            <a:pPr algn="ctr"/>
            <a:r>
              <a:rPr sz="700" b="1" i="0">
                <a:solidFill>
                  <a:srgbClr val="1A1A1A"/>
                </a:solidFill>
                <a:latin typeface="Trenda IG Text"/>
              </a:rPr>
              <a:t>1</a:t>
            </a:r>
          </a:p>
        </p:txBody>
      </p:sp>
      <p:sp>
        <p:nvSpPr>
          <p:cNvPr id="103" name="Text 96"/>
          <p:cNvSpPr txBox="1"/>
          <p:nvPr/>
        </p:nvSpPr>
        <p:spPr>
          <a:xfrm>
            <a:off x="9390888" y="2029968"/>
            <a:ext cx="2313432" cy="237744"/>
          </a:xfrm>
          <a:prstGeom prst="rect">
            <a:avLst/>
          </a:prstGeom>
          <a:noFill/>
        </p:spPr>
        <p:txBody>
          <a:bodyPr wrap="square" lIns="0" rIns="0" tIns="0" bIns="0" anchor="ctr">
            <a:spAutoFit/>
          </a:bodyPr>
          <a:lstStyle/>
          <a:p>
            <a:r>
              <a:rPr sz="840" b="1" i="0">
                <a:solidFill>
                  <a:srgbClr val="1A1A1A"/>
                </a:solidFill>
                <a:latin typeface="Trenda IG Text"/>
              </a:rPr>
              <a:t>Grounded in the org and its data</a:t>
            </a:r>
          </a:p>
        </p:txBody>
      </p:sp>
      <p:sp>
        <p:nvSpPr>
          <p:cNvPr id="104" name="Text 97"/>
          <p:cNvSpPr txBox="1"/>
          <p:nvPr/>
        </p:nvSpPr>
        <p:spPr>
          <a:xfrm>
            <a:off x="9390888" y="2286000"/>
            <a:ext cx="2313432" cy="420624"/>
          </a:xfrm>
          <a:prstGeom prst="rect">
            <a:avLst/>
          </a:prstGeom>
          <a:noFill/>
        </p:spPr>
        <p:txBody>
          <a:bodyPr wrap="square" lIns="0" rIns="0" tIns="0" bIns="0" anchor="t">
            <a:spAutoFit/>
          </a:bodyPr>
          <a:lstStyle/>
          <a:p>
            <a:r>
              <a:rPr sz="700" b="0" i="0">
                <a:solidFill>
                  <a:srgbClr val="4D4D4D"/>
                </a:solidFill>
                <a:latin typeface="Trenda IG Text"/>
              </a:rPr>
              <a:t>Agents read a cited graph of the delivery estate, and masked aggregates for campaigns.</a:t>
            </a:r>
          </a:p>
        </p:txBody>
      </p:sp>
      <p:sp>
        <p:nvSpPr>
          <p:cNvPr id="105" name="Text 98"/>
          <p:cNvSpPr txBox="1"/>
          <p:nvPr/>
        </p:nvSpPr>
        <p:spPr>
          <a:xfrm>
            <a:off x="9390888" y="2706624"/>
            <a:ext cx="2313432" cy="182880"/>
          </a:xfrm>
          <a:prstGeom prst="rect">
            <a:avLst/>
          </a:prstGeom>
          <a:noFill/>
        </p:spPr>
        <p:txBody>
          <a:bodyPr wrap="square" lIns="0" rIns="0" tIns="0" bIns="0" anchor="t">
            <a:spAutoFit/>
          </a:bodyPr>
          <a:lstStyle/>
          <a:p>
            <a:r>
              <a:rPr sz="700" b="0" i="0">
                <a:solidFill>
                  <a:srgbClr val="1A1A1A"/>
                </a:solidFill>
                <a:latin typeface="Trenda IG Text"/>
              </a:rPr>
              <a:t>Ask before build.</a:t>
            </a:r>
          </a:p>
        </p:txBody>
      </p:sp>
      <p:sp>
        <p:nvSpPr>
          <p:cNvPr id="106" name="Shape 99"/>
          <p:cNvSpPr/>
          <p:nvPr/>
        </p:nvSpPr>
        <p:spPr>
          <a:xfrm>
            <a:off x="8897112" y="3035808"/>
            <a:ext cx="2898648" cy="1060704"/>
          </a:xfrm>
          <a:prstGeom prst="roundRect">
            <a:avLst>
              <a:gd name="adj" fmla="val 10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06" name="Shape 99"/>
          <p:cNvSpPr/>
          <p:nvPr/>
        </p:nvSpPr>
        <p:spPr>
          <a:xfrm>
            <a:off x="8915400" y="3054096"/>
            <a:ext cx="2862072" cy="1024128"/>
          </a:xfrm>
          <a:prstGeom prst="roundRect">
            <a:avLst>
              <a:gd name="adj" fmla="val 10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Shape 100"/>
          <p:cNvSpPr/>
          <p:nvPr/>
        </p:nvSpPr>
        <p:spPr>
          <a:xfrm>
            <a:off x="9025128" y="3182112"/>
            <a:ext cx="274320" cy="27432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101"/>
          <p:cNvSpPr txBox="1"/>
          <p:nvPr/>
        </p:nvSpPr>
        <p:spPr>
          <a:xfrm>
            <a:off x="9025128" y="3182112"/>
            <a:ext cx="274320" cy="274320"/>
          </a:xfrm>
          <a:prstGeom prst="rect">
            <a:avLst/>
          </a:prstGeom>
          <a:noFill/>
        </p:spPr>
        <p:txBody>
          <a:bodyPr wrap="square" lIns="0" rIns="0" tIns="0" bIns="0" anchor="ctr">
            <a:spAutoFit/>
          </a:bodyPr>
          <a:lstStyle/>
          <a:p>
            <a:pPr algn="ctr"/>
            <a:r>
              <a:rPr sz="700" b="1" i="0">
                <a:solidFill>
                  <a:srgbClr val="1A1A1A"/>
                </a:solidFill>
                <a:latin typeface="Trenda IG Text"/>
              </a:rPr>
              <a:t>2</a:t>
            </a:r>
          </a:p>
        </p:txBody>
      </p:sp>
      <p:sp>
        <p:nvSpPr>
          <p:cNvPr id="109" name="Text 102"/>
          <p:cNvSpPr txBox="1"/>
          <p:nvPr/>
        </p:nvSpPr>
        <p:spPr>
          <a:xfrm>
            <a:off x="9390888" y="3145536"/>
            <a:ext cx="2313432" cy="237744"/>
          </a:xfrm>
          <a:prstGeom prst="rect">
            <a:avLst/>
          </a:prstGeom>
          <a:noFill/>
        </p:spPr>
        <p:txBody>
          <a:bodyPr wrap="square" lIns="0" rIns="0" tIns="0" bIns="0" anchor="ctr">
            <a:spAutoFit/>
          </a:bodyPr>
          <a:lstStyle/>
          <a:p>
            <a:r>
              <a:rPr sz="840" b="1" i="0">
                <a:solidFill>
                  <a:srgbClr val="1A1A1A"/>
                </a:solidFill>
                <a:latin typeface="Trenda IG Text"/>
              </a:rPr>
              <a:t>No pod breaks another</a:t>
            </a:r>
          </a:p>
        </p:txBody>
      </p:sp>
      <p:sp>
        <p:nvSpPr>
          <p:cNvPr id="110" name="Text 103"/>
          <p:cNvSpPr txBox="1"/>
          <p:nvPr/>
        </p:nvSpPr>
        <p:spPr>
          <a:xfrm>
            <a:off x="9390888" y="3401568"/>
            <a:ext cx="2313432" cy="420624"/>
          </a:xfrm>
          <a:prstGeom prst="rect">
            <a:avLst/>
          </a:prstGeom>
          <a:noFill/>
        </p:spPr>
        <p:txBody>
          <a:bodyPr wrap="square" lIns="0" rIns="0" tIns="0" bIns="0" anchor="t">
            <a:spAutoFit/>
          </a:bodyPr>
          <a:lstStyle/>
          <a:p>
            <a:r>
              <a:rPr sz="700" b="0" i="0">
                <a:solidFill>
                  <a:srgbClr val="4D4D4D"/>
                </a:solidFill>
                <a:latin typeface="Trenda IG Text"/>
              </a:rPr>
              <a:t>The Change Guardian checks every change against who owns and uses it.</a:t>
            </a:r>
          </a:p>
        </p:txBody>
      </p:sp>
      <p:sp>
        <p:nvSpPr>
          <p:cNvPr id="111" name="Text 104"/>
          <p:cNvSpPr txBox="1"/>
          <p:nvPr/>
        </p:nvSpPr>
        <p:spPr>
          <a:xfrm>
            <a:off x="9390888" y="3822191"/>
            <a:ext cx="2313432" cy="182880"/>
          </a:xfrm>
          <a:prstGeom prst="rect">
            <a:avLst/>
          </a:prstGeom>
          <a:noFill/>
        </p:spPr>
        <p:txBody>
          <a:bodyPr wrap="square" lIns="0" rIns="0" tIns="0" bIns="0" anchor="t">
            <a:spAutoFit/>
          </a:bodyPr>
          <a:lstStyle/>
          <a:p>
            <a:r>
              <a:rPr sz="700" b="0" i="0">
                <a:solidFill>
                  <a:srgbClr val="1A1A1A"/>
                </a:solidFill>
                <a:latin typeface="Trenda IG Text"/>
              </a:rPr>
              <a:t>Governed by design.</a:t>
            </a:r>
          </a:p>
        </p:txBody>
      </p:sp>
      <p:sp>
        <p:nvSpPr>
          <p:cNvPr id="112" name="Shape 105"/>
          <p:cNvSpPr/>
          <p:nvPr/>
        </p:nvSpPr>
        <p:spPr>
          <a:xfrm>
            <a:off x="8897112" y="4151375"/>
            <a:ext cx="2898648" cy="1060704"/>
          </a:xfrm>
          <a:prstGeom prst="roundRect">
            <a:avLst>
              <a:gd name="adj" fmla="val 10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12" name="Shape 105"/>
          <p:cNvSpPr/>
          <p:nvPr/>
        </p:nvSpPr>
        <p:spPr>
          <a:xfrm>
            <a:off x="8915400" y="4169663"/>
            <a:ext cx="2862072" cy="1024128"/>
          </a:xfrm>
          <a:prstGeom prst="roundRect">
            <a:avLst>
              <a:gd name="adj" fmla="val 10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Shape 106"/>
          <p:cNvSpPr/>
          <p:nvPr/>
        </p:nvSpPr>
        <p:spPr>
          <a:xfrm>
            <a:off x="9025128" y="4297679"/>
            <a:ext cx="274320" cy="27432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7"/>
          <p:cNvSpPr txBox="1"/>
          <p:nvPr/>
        </p:nvSpPr>
        <p:spPr>
          <a:xfrm>
            <a:off x="9025128" y="4297679"/>
            <a:ext cx="274320" cy="274320"/>
          </a:xfrm>
          <a:prstGeom prst="rect">
            <a:avLst/>
          </a:prstGeom>
          <a:noFill/>
        </p:spPr>
        <p:txBody>
          <a:bodyPr wrap="square" lIns="0" rIns="0" tIns="0" bIns="0" anchor="ctr">
            <a:spAutoFit/>
          </a:bodyPr>
          <a:lstStyle/>
          <a:p>
            <a:pPr algn="ctr"/>
            <a:r>
              <a:rPr sz="700" b="1" i="0">
                <a:solidFill>
                  <a:srgbClr val="1A1A1A"/>
                </a:solidFill>
                <a:latin typeface="Trenda IG Text"/>
              </a:rPr>
              <a:t>3</a:t>
            </a:r>
          </a:p>
        </p:txBody>
      </p:sp>
      <p:sp>
        <p:nvSpPr>
          <p:cNvPr id="115" name="Text 108"/>
          <p:cNvSpPr txBox="1"/>
          <p:nvPr/>
        </p:nvSpPr>
        <p:spPr>
          <a:xfrm>
            <a:off x="9390888" y="4261103"/>
            <a:ext cx="2313432" cy="237744"/>
          </a:xfrm>
          <a:prstGeom prst="rect">
            <a:avLst/>
          </a:prstGeom>
          <a:noFill/>
        </p:spPr>
        <p:txBody>
          <a:bodyPr wrap="square" lIns="0" rIns="0" tIns="0" bIns="0" anchor="ctr">
            <a:spAutoFit/>
          </a:bodyPr>
          <a:lstStyle/>
          <a:p>
            <a:r>
              <a:rPr sz="840" b="1" i="0">
                <a:solidFill>
                  <a:srgbClr val="1A1A1A"/>
                </a:solidFill>
                <a:latin typeface="Trenda IG Text"/>
              </a:rPr>
              <a:t>Minimum-data agent access</a:t>
            </a:r>
          </a:p>
        </p:txBody>
      </p:sp>
      <p:sp>
        <p:nvSpPr>
          <p:cNvPr id="116" name="Text 109"/>
          <p:cNvSpPr txBox="1"/>
          <p:nvPr/>
        </p:nvSpPr>
        <p:spPr>
          <a:xfrm>
            <a:off x="9390888" y="4517136"/>
            <a:ext cx="2313432" cy="420624"/>
          </a:xfrm>
          <a:prstGeom prst="rect">
            <a:avLst/>
          </a:prstGeom>
          <a:noFill/>
        </p:spPr>
        <p:txBody>
          <a:bodyPr wrap="square" lIns="0" rIns="0" tIns="0" bIns="0" anchor="t">
            <a:spAutoFit/>
          </a:bodyPr>
          <a:lstStyle/>
          <a:p>
            <a:r>
              <a:rPr sz="700" b="0" i="0">
                <a:solidFill>
                  <a:srgbClr val="4D4D4D"/>
                </a:solidFill>
                <a:latin typeface="Trenda IG Text"/>
              </a:rPr>
              <a:t>Agents get aggregates and masked views, never raw PHI; patient data leaves only through the gateway.</a:t>
            </a:r>
          </a:p>
        </p:txBody>
      </p:sp>
      <p:sp>
        <p:nvSpPr>
          <p:cNvPr id="117" name="Text 110"/>
          <p:cNvSpPr txBox="1"/>
          <p:nvPr/>
        </p:nvSpPr>
        <p:spPr>
          <a:xfrm>
            <a:off x="9390888" y="4937759"/>
            <a:ext cx="2313432" cy="182880"/>
          </a:xfrm>
          <a:prstGeom prst="rect">
            <a:avLst/>
          </a:prstGeom>
          <a:noFill/>
        </p:spPr>
        <p:txBody>
          <a:bodyPr wrap="square" lIns="0" rIns="0" tIns="0" bIns="0" anchor="t">
            <a:spAutoFit/>
          </a:bodyPr>
          <a:lstStyle/>
          <a:p>
            <a:r>
              <a:rPr sz="700" b="0" i="0">
                <a:solidFill>
                  <a:srgbClr val="1A1A1A"/>
                </a:solidFill>
                <a:latin typeface="Trenda IG Text"/>
              </a:rPr>
              <a:t>Private by design.</a:t>
            </a:r>
          </a:p>
        </p:txBody>
      </p:sp>
      <p:sp>
        <p:nvSpPr>
          <p:cNvPr id="118" name="Shape 111"/>
          <p:cNvSpPr/>
          <p:nvPr/>
        </p:nvSpPr>
        <p:spPr>
          <a:xfrm>
            <a:off x="411480" y="5394960"/>
            <a:ext cx="11365992" cy="868680"/>
          </a:xfrm>
          <a:prstGeom prst="roundRect">
            <a:avLst>
              <a:gd name="adj" fmla="val 40000"/>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 112"/>
          <p:cNvSpPr txBox="1"/>
          <p:nvPr/>
        </p:nvSpPr>
        <p:spPr>
          <a:xfrm>
            <a:off x="731520" y="5468112"/>
            <a:ext cx="1965960" cy="182880"/>
          </a:xfrm>
          <a:prstGeom prst="rect">
            <a:avLst/>
          </a:prstGeom>
          <a:noFill/>
        </p:spPr>
        <p:txBody>
          <a:bodyPr wrap="square" lIns="0" rIns="0" tIns="0" bIns="0" anchor="t">
            <a:spAutoFit/>
          </a:bodyPr>
          <a:lstStyle/>
          <a:p>
            <a:r>
              <a:rPr sz="700" b="1" i="0" spc="60">
                <a:solidFill>
                  <a:srgbClr val="1A1A1A"/>
                </a:solidFill>
                <a:latin typeface="Trenda IG Text"/>
              </a:rPr>
              <a:t>ASCENSION CORE COMPONENTS</a:t>
            </a:r>
          </a:p>
        </p:txBody>
      </p:sp>
      <p:sp>
        <p:nvSpPr>
          <p:cNvPr id="120" name="Text 113"/>
          <p:cNvSpPr txBox="1"/>
          <p:nvPr/>
        </p:nvSpPr>
        <p:spPr>
          <a:xfrm>
            <a:off x="731520" y="5724144"/>
            <a:ext cx="1828800" cy="457200"/>
          </a:xfrm>
          <a:prstGeom prst="rect">
            <a:avLst/>
          </a:prstGeom>
          <a:noFill/>
        </p:spPr>
        <p:txBody>
          <a:bodyPr wrap="square" lIns="0" rIns="0" tIns="0" bIns="0" anchor="t">
            <a:spAutoFit/>
          </a:bodyPr>
          <a:lstStyle/>
          <a:p>
            <a:r>
              <a:rPr sz="1100" b="0" i="0">
                <a:solidFill>
                  <a:srgbClr val="1A1A1A"/>
                </a:solidFill>
                <a:latin typeface="Trenda IG Text"/>
              </a:rPr>
              <a:t>Infrastructure</a:t>
            </a:r>
          </a:p>
          <a:p>
            <a:r>
              <a:rPr sz="700" b="0" i="0">
                <a:solidFill>
                  <a:srgbClr val="4D4D4D"/>
                </a:solidFill>
                <a:latin typeface="Trenda IG Text"/>
              </a:rPr>
              <a:t>Runs in Ascension's cloud</a:t>
            </a:r>
          </a:p>
        </p:txBody>
      </p:sp>
      <p:pic>
        <p:nvPicPr>
          <p:cNvPr id="121" name="Picture 120" descr="salesforce.png"/>
          <p:cNvPicPr>
            <a:picLocks noChangeAspect="1"/>
          </p:cNvPicPr>
          <p:nvPr/>
        </p:nvPicPr>
        <p:blipFill>
          <a:blip r:embed="rId4"/>
          <a:stretch>
            <a:fillRect/>
          </a:stretch>
        </p:blipFill>
        <p:spPr>
          <a:xfrm>
            <a:off x="2743200" y="5522976"/>
            <a:ext cx="201168" cy="201168"/>
          </a:xfrm>
          <a:prstGeom prst="rect">
            <a:avLst/>
          </a:prstGeom>
        </p:spPr>
      </p:pic>
      <p:sp>
        <p:nvSpPr>
          <p:cNvPr id="122" name="Text 114"/>
          <p:cNvSpPr txBox="1"/>
          <p:nvPr/>
        </p:nvSpPr>
        <p:spPr>
          <a:xfrm>
            <a:off x="3017520" y="5504688"/>
            <a:ext cx="1404518" cy="237744"/>
          </a:xfrm>
          <a:prstGeom prst="rect">
            <a:avLst/>
          </a:prstGeom>
          <a:noFill/>
        </p:spPr>
        <p:txBody>
          <a:bodyPr wrap="square" lIns="0" rIns="0" tIns="0" bIns="0" anchor="ctr">
            <a:spAutoFit/>
          </a:bodyPr>
          <a:lstStyle/>
          <a:p>
            <a:r>
              <a:rPr sz="900" b="1" i="0">
                <a:solidFill>
                  <a:srgbClr val="1A1A1A"/>
                </a:solidFill>
                <a:latin typeface="Trenda IG Text"/>
              </a:rPr>
              <a:t>Salesforce</a:t>
            </a:r>
          </a:p>
        </p:txBody>
      </p:sp>
      <p:sp>
        <p:nvSpPr>
          <p:cNvPr id="123" name="Text 115"/>
          <p:cNvSpPr txBox="1"/>
          <p:nvPr/>
        </p:nvSpPr>
        <p:spPr>
          <a:xfrm>
            <a:off x="3017520" y="5760720"/>
            <a:ext cx="1404518" cy="411480"/>
          </a:xfrm>
          <a:prstGeom prst="rect">
            <a:avLst/>
          </a:prstGeom>
          <a:noFill/>
        </p:spPr>
        <p:txBody>
          <a:bodyPr wrap="square" lIns="0" rIns="0" tIns="0" bIns="0" anchor="t">
            <a:spAutoFit/>
          </a:bodyPr>
          <a:lstStyle/>
          <a:p>
            <a:r>
              <a:rPr sz="700" b="0" i="0">
                <a:solidFill>
                  <a:srgbClr val="4D4D4D"/>
                </a:solidFill>
                <a:latin typeface="Trenda IG Text"/>
              </a:rPr>
              <a:t>Health, Marketing + Data Cloud</a:t>
            </a:r>
          </a:p>
        </p:txBody>
      </p:sp>
      <p:pic>
        <p:nvPicPr>
          <p:cNvPr id="124" name="Picture 123" descr="git.png"/>
          <p:cNvPicPr>
            <a:picLocks noChangeAspect="1"/>
          </p:cNvPicPr>
          <p:nvPr/>
        </p:nvPicPr>
        <p:blipFill>
          <a:blip r:embed="rId8"/>
          <a:stretch>
            <a:fillRect/>
          </a:stretch>
        </p:blipFill>
        <p:spPr>
          <a:xfrm>
            <a:off x="4513478" y="5522976"/>
            <a:ext cx="201168" cy="201168"/>
          </a:xfrm>
          <a:prstGeom prst="rect">
            <a:avLst/>
          </a:prstGeom>
        </p:spPr>
      </p:pic>
      <p:sp>
        <p:nvSpPr>
          <p:cNvPr id="125" name="Text 116"/>
          <p:cNvSpPr txBox="1"/>
          <p:nvPr/>
        </p:nvSpPr>
        <p:spPr>
          <a:xfrm>
            <a:off x="4787798" y="5504688"/>
            <a:ext cx="1404518" cy="237744"/>
          </a:xfrm>
          <a:prstGeom prst="rect">
            <a:avLst/>
          </a:prstGeom>
          <a:noFill/>
        </p:spPr>
        <p:txBody>
          <a:bodyPr wrap="square" lIns="0" rIns="0" tIns="0" bIns="0" anchor="ctr">
            <a:spAutoFit/>
          </a:bodyPr>
          <a:lstStyle/>
          <a:p>
            <a:r>
              <a:rPr sz="900" b="1" i="0">
                <a:solidFill>
                  <a:srgbClr val="1A1A1A"/>
                </a:solidFill>
                <a:latin typeface="Trenda IG Text"/>
              </a:rPr>
              <a:t>Delivery</a:t>
            </a:r>
          </a:p>
        </p:txBody>
      </p:sp>
      <p:sp>
        <p:nvSpPr>
          <p:cNvPr id="126" name="Text 117"/>
          <p:cNvSpPr txBox="1"/>
          <p:nvPr/>
        </p:nvSpPr>
        <p:spPr>
          <a:xfrm>
            <a:off x="4787798" y="5760720"/>
            <a:ext cx="1404518" cy="411480"/>
          </a:xfrm>
          <a:prstGeom prst="rect">
            <a:avLst/>
          </a:prstGeom>
          <a:noFill/>
        </p:spPr>
        <p:txBody>
          <a:bodyPr wrap="square" lIns="0" rIns="0" tIns="0" bIns="0" anchor="t">
            <a:spAutoFit/>
          </a:bodyPr>
          <a:lstStyle/>
          <a:p>
            <a:r>
              <a:rPr sz="700" b="0" i="0">
                <a:solidFill>
                  <a:srgbClr val="4D4D4D"/>
                </a:solidFill>
                <a:latin typeface="Trenda IG Text"/>
              </a:rPr>
              <a:t>Copado, Git, Jira, Zephyr</a:t>
            </a:r>
          </a:p>
        </p:txBody>
      </p:sp>
      <p:pic>
        <p:nvPicPr>
          <p:cNvPr id="127" name="Picture 126" descr="googlebigquery.png"/>
          <p:cNvPicPr>
            <a:picLocks noChangeAspect="1"/>
          </p:cNvPicPr>
          <p:nvPr/>
        </p:nvPicPr>
        <p:blipFill>
          <a:blip r:embed="rId9"/>
          <a:stretch>
            <a:fillRect/>
          </a:stretch>
        </p:blipFill>
        <p:spPr>
          <a:xfrm>
            <a:off x="6283756" y="5522976"/>
            <a:ext cx="201168" cy="201168"/>
          </a:xfrm>
          <a:prstGeom prst="rect">
            <a:avLst/>
          </a:prstGeom>
        </p:spPr>
      </p:pic>
      <p:sp>
        <p:nvSpPr>
          <p:cNvPr id="128" name="Text 118"/>
          <p:cNvSpPr txBox="1"/>
          <p:nvPr/>
        </p:nvSpPr>
        <p:spPr>
          <a:xfrm>
            <a:off x="6558076" y="5504688"/>
            <a:ext cx="1404518" cy="237744"/>
          </a:xfrm>
          <a:prstGeom prst="rect">
            <a:avLst/>
          </a:prstGeom>
          <a:noFill/>
        </p:spPr>
        <p:txBody>
          <a:bodyPr wrap="square" lIns="0" rIns="0" tIns="0" bIns="0" anchor="ctr">
            <a:spAutoFit/>
          </a:bodyPr>
          <a:lstStyle/>
          <a:p>
            <a:r>
              <a:rPr sz="900" b="1" i="0">
                <a:solidFill>
                  <a:srgbClr val="1A1A1A"/>
                </a:solidFill>
                <a:latin typeface="Trenda IG Text"/>
              </a:rPr>
              <a:t>Data</a:t>
            </a:r>
          </a:p>
        </p:txBody>
      </p:sp>
      <p:sp>
        <p:nvSpPr>
          <p:cNvPr id="129" name="Text 119"/>
          <p:cNvSpPr txBox="1"/>
          <p:nvPr/>
        </p:nvSpPr>
        <p:spPr>
          <a:xfrm>
            <a:off x="6558076" y="5760720"/>
            <a:ext cx="1404518" cy="411480"/>
          </a:xfrm>
          <a:prstGeom prst="rect">
            <a:avLst/>
          </a:prstGeom>
          <a:noFill/>
        </p:spPr>
        <p:txBody>
          <a:bodyPr wrap="square" lIns="0" rIns="0" tIns="0" bIns="0" anchor="t">
            <a:spAutoFit/>
          </a:bodyPr>
          <a:lstStyle/>
          <a:p>
            <a:r>
              <a:rPr sz="700" b="0" i="0">
                <a:solidFill>
                  <a:srgbClr val="4D4D4D"/>
                </a:solidFill>
                <a:latin typeface="Trenda IG Text"/>
              </a:rPr>
              <a:t>BigQuery, Collibra, DLP, Tableau, Spanner</a:t>
            </a:r>
          </a:p>
        </p:txBody>
      </p:sp>
      <p:pic>
        <p:nvPicPr>
          <p:cNvPr id="130" name="Picture 129" descr="openai-white.png"/>
          <p:cNvPicPr>
            <a:picLocks noChangeAspect="1"/>
          </p:cNvPicPr>
          <p:nvPr/>
        </p:nvPicPr>
        <p:blipFill>
          <a:blip r:embed="rId3"/>
          <a:stretch>
            <a:fillRect/>
          </a:stretch>
        </p:blipFill>
        <p:spPr>
          <a:xfrm>
            <a:off x="8054035" y="5522976"/>
            <a:ext cx="201168" cy="201168"/>
          </a:xfrm>
          <a:prstGeom prst="rect">
            <a:avLst/>
          </a:prstGeom>
        </p:spPr>
      </p:pic>
      <p:sp>
        <p:nvSpPr>
          <p:cNvPr id="131" name="Text 120"/>
          <p:cNvSpPr txBox="1"/>
          <p:nvPr/>
        </p:nvSpPr>
        <p:spPr>
          <a:xfrm>
            <a:off x="8328355" y="5504688"/>
            <a:ext cx="1404518" cy="237744"/>
          </a:xfrm>
          <a:prstGeom prst="rect">
            <a:avLst/>
          </a:prstGeom>
          <a:noFill/>
        </p:spPr>
        <p:txBody>
          <a:bodyPr wrap="square" lIns="0" rIns="0" tIns="0" bIns="0" anchor="ctr">
            <a:spAutoFit/>
          </a:bodyPr>
          <a:lstStyle/>
          <a:p>
            <a:r>
              <a:rPr sz="900" b="1" i="0">
                <a:solidFill>
                  <a:srgbClr val="1A1A1A"/>
                </a:solidFill>
                <a:latin typeface="Trenda IG Text"/>
              </a:rPr>
              <a:t>Models</a:t>
            </a:r>
          </a:p>
        </p:txBody>
      </p:sp>
      <p:sp>
        <p:nvSpPr>
          <p:cNvPr id="132" name="Text 121"/>
          <p:cNvSpPr txBox="1"/>
          <p:nvPr/>
        </p:nvSpPr>
        <p:spPr>
          <a:xfrm>
            <a:off x="8328355" y="5760720"/>
            <a:ext cx="1404518" cy="411480"/>
          </a:xfrm>
          <a:prstGeom prst="rect">
            <a:avLst/>
          </a:prstGeom>
          <a:noFill/>
        </p:spPr>
        <p:txBody>
          <a:bodyPr wrap="square" lIns="0" rIns="0" tIns="0" bIns="0" anchor="t">
            <a:spAutoFit/>
          </a:bodyPr>
          <a:lstStyle/>
          <a:p>
            <a:r>
              <a:rPr sz="700" b="0" i="0">
                <a:solidFill>
                  <a:srgbClr val="4D4D4D"/>
                </a:solidFill>
                <a:latin typeface="Trenda IG Text"/>
              </a:rPr>
              <a:t>Codex Enterprise; model in config; tools via MCP</a:t>
            </a:r>
          </a:p>
        </p:txBody>
      </p:sp>
      <p:pic>
        <p:nvPicPr>
          <p:cNvPr id="133" name="Picture 132" descr="googlecloud.png"/>
          <p:cNvPicPr>
            <a:picLocks noChangeAspect="1"/>
          </p:cNvPicPr>
          <p:nvPr/>
        </p:nvPicPr>
        <p:blipFill>
          <a:blip r:embed="rId10"/>
          <a:stretch>
            <a:fillRect/>
          </a:stretch>
        </p:blipFill>
        <p:spPr>
          <a:xfrm>
            <a:off x="9824313" y="5522976"/>
            <a:ext cx="201168" cy="201168"/>
          </a:xfrm>
          <a:prstGeom prst="rect">
            <a:avLst/>
          </a:prstGeom>
        </p:spPr>
      </p:pic>
      <p:sp>
        <p:nvSpPr>
          <p:cNvPr id="134" name="Text 122"/>
          <p:cNvSpPr txBox="1"/>
          <p:nvPr/>
        </p:nvSpPr>
        <p:spPr>
          <a:xfrm>
            <a:off x="10098633" y="5504688"/>
            <a:ext cx="1404518" cy="237744"/>
          </a:xfrm>
          <a:prstGeom prst="rect">
            <a:avLst/>
          </a:prstGeom>
          <a:noFill/>
        </p:spPr>
        <p:txBody>
          <a:bodyPr wrap="square" lIns="0" rIns="0" tIns="0" bIns="0" anchor="ctr">
            <a:spAutoFit/>
          </a:bodyPr>
          <a:lstStyle/>
          <a:p>
            <a:r>
              <a:rPr sz="900" b="1" i="0">
                <a:solidFill>
                  <a:srgbClr val="1A1A1A"/>
                </a:solidFill>
                <a:latin typeface="Trenda IG Text"/>
              </a:rPr>
              <a:t>Cloud</a:t>
            </a:r>
          </a:p>
        </p:txBody>
      </p:sp>
      <p:sp>
        <p:nvSpPr>
          <p:cNvPr id="135" name="Text 123"/>
          <p:cNvSpPr txBox="1"/>
          <p:nvPr/>
        </p:nvSpPr>
        <p:spPr>
          <a:xfrm>
            <a:off x="10098633" y="5760720"/>
            <a:ext cx="1404518" cy="411480"/>
          </a:xfrm>
          <a:prstGeom prst="rect">
            <a:avLst/>
          </a:prstGeom>
          <a:noFill/>
        </p:spPr>
        <p:txBody>
          <a:bodyPr wrap="square" lIns="0" rIns="0" tIns="0" bIns="0" anchor="t">
            <a:spAutoFit/>
          </a:bodyPr>
          <a:lstStyle/>
          <a:p>
            <a:r>
              <a:rPr sz="700" b="0" i="0">
                <a:solidFill>
                  <a:srgbClr val="4D4D4D"/>
                </a:solidFill>
                <a:latin typeface="Trenda IG Text"/>
              </a:rPr>
              <a:t>Google Cloud: Cloud Run, VPC-SC, CMEK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ASCENSION AGENTIC HARNESS · HEALTH CLOUD FLOW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Health Cloud: one story from Codex to production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Example: NS-1234, an HFN validation rule for Texas CIN. Delivery needs the engineering context, not patient data, so the GCP data source stays out (grey).</a:t>
            </a:r>
          </a:p>
        </p:txBody>
      </p:sp>
      <p:sp>
        <p:nvSpPr>
          <p:cNvPr id="5" name="Shape 4"/>
          <p:cNvSpPr/>
          <p:nvPr/>
        </p:nvSpPr>
        <p:spPr>
          <a:xfrm>
            <a:off x="411480" y="1188720"/>
            <a:ext cx="2788920" cy="713232"/>
          </a:xfrm>
          <a:prstGeom prst="roundRect">
            <a:avLst>
              <a:gd name="adj" fmla="val 10000"/>
            </a:avLst>
          </a:prstGeom>
          <a:solidFill>
            <a:srgbClr val="FFFFFF"/>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84632" y="1261872"/>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 6"/>
          <p:cNvSpPr txBox="1"/>
          <p:nvPr/>
        </p:nvSpPr>
        <p:spPr>
          <a:xfrm>
            <a:off x="484632" y="1261872"/>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a:t>
            </a:r>
          </a:p>
        </p:txBody>
      </p:sp>
      <p:pic>
        <p:nvPicPr>
          <p:cNvPr id="8" name="Picture 7" descr="openai-white.png"/>
          <p:cNvPicPr>
            <a:picLocks noChangeAspect="1"/>
          </p:cNvPicPr>
          <p:nvPr/>
        </p:nvPicPr>
        <p:blipFill>
          <a:blip r:embed="rId2"/>
          <a:stretch>
            <a:fillRect/>
          </a:stretch>
        </p:blipFill>
        <p:spPr>
          <a:xfrm>
            <a:off x="749808" y="1252728"/>
            <a:ext cx="201168" cy="201168"/>
          </a:xfrm>
          <a:prstGeom prst="rect">
            <a:avLst/>
          </a:prstGeom>
        </p:spPr>
      </p:pic>
      <p:sp>
        <p:nvSpPr>
          <p:cNvPr id="9" name="Text 7"/>
          <p:cNvSpPr txBox="1"/>
          <p:nvPr/>
        </p:nvSpPr>
        <p:spPr>
          <a:xfrm>
            <a:off x="1005840" y="1234440"/>
            <a:ext cx="2103120" cy="237744"/>
          </a:xfrm>
          <a:prstGeom prst="rect">
            <a:avLst/>
          </a:prstGeom>
          <a:noFill/>
        </p:spPr>
        <p:txBody>
          <a:bodyPr wrap="square" lIns="0" rIns="0" tIns="0" bIns="0" anchor="ctr">
            <a:spAutoFit/>
          </a:bodyPr>
          <a:lstStyle/>
          <a:p>
            <a:r>
              <a:rPr sz="800" b="1" i="0">
                <a:solidFill>
                  <a:srgbClr val="1A1A1A"/>
                </a:solidFill>
                <a:latin typeface="Trenda IG Text"/>
              </a:rPr>
              <a:t>Start in Codex or the LWC</a:t>
            </a:r>
          </a:p>
        </p:txBody>
      </p:sp>
      <p:sp>
        <p:nvSpPr>
          <p:cNvPr id="10" name="Text 8"/>
          <p:cNvSpPr txBox="1"/>
          <p:nvPr/>
        </p:nvSpPr>
        <p:spPr>
          <a:xfrm>
            <a:off x="521207" y="1517904"/>
            <a:ext cx="2606040" cy="365760"/>
          </a:xfrm>
          <a:prstGeom prst="rect">
            <a:avLst/>
          </a:prstGeom>
          <a:noFill/>
        </p:spPr>
        <p:txBody>
          <a:bodyPr wrap="square" lIns="0" rIns="0" tIns="0" bIns="0" anchor="t">
            <a:spAutoFit/>
          </a:bodyPr>
          <a:lstStyle/>
          <a:p>
            <a:r>
              <a:rPr sz="700" b="0" i="0">
                <a:solidFill>
                  <a:srgbClr val="4D4D4D"/>
                </a:solidFill>
                <a:latin typeface="Courier New"/>
              </a:rPr>
              <a:t>“Deliver NS-1234: HFN validation rule for Texas CIN”</a:t>
            </a:r>
          </a:p>
        </p:txBody>
      </p:sp>
      <p:sp>
        <p:nvSpPr>
          <p:cNvPr id="11" name="Shape 9"/>
          <p:cNvSpPr/>
          <p:nvPr/>
        </p:nvSpPr>
        <p:spPr>
          <a:xfrm>
            <a:off x="3337560" y="1188720"/>
            <a:ext cx="2721864" cy="713232"/>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0"/>
          <p:cNvSpPr txBox="1"/>
          <p:nvPr/>
        </p:nvSpPr>
        <p:spPr>
          <a:xfrm>
            <a:off x="3429000" y="1243584"/>
            <a:ext cx="2557272" cy="201168"/>
          </a:xfrm>
          <a:prstGeom prst="rect">
            <a:avLst/>
          </a:prstGeom>
          <a:noFill/>
        </p:spPr>
        <p:txBody>
          <a:bodyPr wrap="square" lIns="0" rIns="0" tIns="0" bIns="0" anchor="ctr">
            <a:spAutoFit/>
          </a:bodyPr>
          <a:lstStyle/>
          <a:p>
            <a:r>
              <a:rPr sz="800" b="1" i="0">
                <a:solidFill>
                  <a:srgbClr val="1A1A1A"/>
                </a:solidFill>
                <a:latin typeface="Trenda IG Text"/>
              </a:rPr>
              <a:t>Run orchestration</a:t>
            </a:r>
          </a:p>
        </p:txBody>
      </p:sp>
      <p:sp>
        <p:nvSpPr>
          <p:cNvPr id="13" name="Text 11"/>
          <p:cNvSpPr txBox="1"/>
          <p:nvPr/>
        </p:nvSpPr>
        <p:spPr>
          <a:xfrm>
            <a:off x="3429000" y="1472184"/>
            <a:ext cx="2538983"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Cloud Workflows: 9 steps, checkpoints, resumable</a:t>
            </a:r>
          </a:p>
        </p:txBody>
      </p:sp>
      <p:sp>
        <p:nvSpPr>
          <p:cNvPr id="14" name="Shape 12"/>
          <p:cNvSpPr/>
          <p:nvPr/>
        </p:nvSpPr>
        <p:spPr>
          <a:xfrm>
            <a:off x="6196584" y="1188720"/>
            <a:ext cx="2721864" cy="71323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13"/>
          <p:cNvSpPr txBox="1"/>
          <p:nvPr/>
        </p:nvSpPr>
        <p:spPr>
          <a:xfrm>
            <a:off x="6288023" y="1243584"/>
            <a:ext cx="2557272" cy="201168"/>
          </a:xfrm>
          <a:prstGeom prst="rect">
            <a:avLst/>
          </a:prstGeom>
          <a:noFill/>
        </p:spPr>
        <p:txBody>
          <a:bodyPr wrap="square" lIns="0" rIns="0" tIns="0" bIns="0" anchor="ctr">
            <a:spAutoFit/>
          </a:bodyPr>
          <a:lstStyle/>
          <a:p>
            <a:r>
              <a:rPr sz="800" b="1" i="0">
                <a:solidFill>
                  <a:srgbClr val="1A1A1A"/>
                </a:solidFill>
                <a:latin typeface="Trenda IG Text"/>
              </a:rPr>
              <a:t>Tool gateway</a:t>
            </a:r>
          </a:p>
        </p:txBody>
      </p:sp>
      <p:sp>
        <p:nvSpPr>
          <p:cNvPr id="16" name="Text 14"/>
          <p:cNvSpPr txBox="1"/>
          <p:nvPr/>
        </p:nvSpPr>
        <p:spPr>
          <a:xfrm>
            <a:off x="6288023" y="1472184"/>
            <a:ext cx="2538983"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3 identities: read, develop, release; no production</a:t>
            </a:r>
          </a:p>
        </p:txBody>
      </p:sp>
      <p:sp>
        <p:nvSpPr>
          <p:cNvPr id="17" name="Shape 15"/>
          <p:cNvSpPr/>
          <p:nvPr/>
        </p:nvSpPr>
        <p:spPr>
          <a:xfrm>
            <a:off x="9055608" y="1188720"/>
            <a:ext cx="2721864" cy="713232"/>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6"/>
          <p:cNvSpPr txBox="1"/>
          <p:nvPr/>
        </p:nvSpPr>
        <p:spPr>
          <a:xfrm>
            <a:off x="9147047" y="1243584"/>
            <a:ext cx="2557272" cy="201168"/>
          </a:xfrm>
          <a:prstGeom prst="rect">
            <a:avLst/>
          </a:prstGeom>
          <a:noFill/>
        </p:spPr>
        <p:txBody>
          <a:bodyPr wrap="square" lIns="0" rIns="0" tIns="0" bIns="0" anchor="ctr">
            <a:spAutoFit/>
          </a:bodyPr>
          <a:lstStyle/>
          <a:p>
            <a:r>
              <a:rPr sz="800" b="1" i="0">
                <a:solidFill>
                  <a:srgbClr val="1A1A1A"/>
                </a:solidFill>
                <a:latin typeface="Trenda IG Text"/>
              </a:rPr>
              <a:t>Evals on every step</a:t>
            </a:r>
          </a:p>
        </p:txBody>
      </p:sp>
      <p:sp>
        <p:nvSpPr>
          <p:cNvPr id="19" name="Text 17"/>
          <p:cNvSpPr txBox="1"/>
          <p:nvPr/>
        </p:nvSpPr>
        <p:spPr>
          <a:xfrm>
            <a:off x="9147047" y="1472184"/>
            <a:ext cx="2538983"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Scored before it moves; max 5 retries, then a named owner</a:t>
            </a:r>
          </a:p>
        </p:txBody>
      </p:sp>
      <p:cxnSp>
        <p:nvCxnSpPr>
          <p:cNvPr id="20" name="Arrow 18"/>
          <p:cNvCxnSpPr/>
          <p:nvPr/>
        </p:nvCxnSpPr>
        <p:spPr>
          <a:xfrm>
            <a:off x="3200400" y="1545336"/>
            <a:ext cx="137160" cy="0"/>
          </a:xfrm>
          <a:prstGeom prst="line">
            <a:avLst/>
          </a:prstGeom>
          <a:ln w="1143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Shape 19"/>
          <p:cNvSpPr/>
          <p:nvPr/>
        </p:nvSpPr>
        <p:spPr>
          <a:xfrm>
            <a:off x="434339" y="2194560"/>
            <a:ext cx="1463040" cy="1115568"/>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hape 20"/>
          <p:cNvSpPr/>
          <p:nvPr/>
        </p:nvSpPr>
        <p:spPr>
          <a:xfrm>
            <a:off x="507491" y="2258568"/>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1"/>
          <p:cNvSpPr txBox="1"/>
          <p:nvPr/>
        </p:nvSpPr>
        <p:spPr>
          <a:xfrm>
            <a:off x="507491" y="2258568"/>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2</a:t>
            </a:r>
          </a:p>
        </p:txBody>
      </p:sp>
      <p:sp>
        <p:nvSpPr>
          <p:cNvPr id="24" name="Text 22"/>
          <p:cNvSpPr txBox="1"/>
          <p:nvPr/>
        </p:nvSpPr>
        <p:spPr>
          <a:xfrm>
            <a:off x="763523" y="2249424"/>
            <a:ext cx="1060704" cy="201168"/>
          </a:xfrm>
          <a:prstGeom prst="rect">
            <a:avLst/>
          </a:prstGeom>
          <a:noFill/>
        </p:spPr>
        <p:txBody>
          <a:bodyPr wrap="square" lIns="0" rIns="0" tIns="0" bIns="0" anchor="ctr">
            <a:spAutoFit/>
          </a:bodyPr>
          <a:lstStyle/>
          <a:p>
            <a:r>
              <a:rPr sz="740" b="1" i="0">
                <a:solidFill>
                  <a:srgbClr val="1A1A1A"/>
                </a:solidFill>
                <a:latin typeface="Trenda IG Text"/>
              </a:rPr>
              <a:t>Requirements Agent</a:t>
            </a:r>
          </a:p>
        </p:txBody>
      </p:sp>
      <p:sp>
        <p:nvSpPr>
          <p:cNvPr id="25" name="Text 23"/>
          <p:cNvSpPr txBox="1"/>
          <p:nvPr/>
        </p:nvSpPr>
        <p:spPr>
          <a:xfrm>
            <a:off x="525779" y="2478024"/>
            <a:ext cx="1280160" cy="8046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Brief from the Jira story + Confluence design; open questions flagged.</a:t>
            </a:r>
          </a:p>
        </p:txBody>
      </p:sp>
      <p:sp>
        <p:nvSpPr>
          <p:cNvPr id="26" name="Shape 24"/>
          <p:cNvSpPr/>
          <p:nvPr/>
        </p:nvSpPr>
        <p:spPr>
          <a:xfrm>
            <a:off x="937259" y="3364991"/>
            <a:ext cx="457200" cy="155448"/>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5"/>
          <p:cNvSpPr txBox="1"/>
          <p:nvPr/>
        </p:nvSpPr>
        <p:spPr>
          <a:xfrm>
            <a:off x="937259" y="3364991"/>
            <a:ext cx="457200" cy="155448"/>
          </a:xfrm>
          <a:prstGeom prst="rect">
            <a:avLst/>
          </a:prstGeom>
          <a:noFill/>
        </p:spPr>
        <p:txBody>
          <a:bodyPr wrap="square" lIns="0" rIns="0" tIns="0" bIns="0" anchor="ctr">
            <a:spAutoFit/>
          </a:bodyPr>
          <a:lstStyle/>
          <a:p>
            <a:pPr algn="ctr"/>
            <a:r>
              <a:rPr sz="700" b="1" i="0" spc="80">
                <a:solidFill>
                  <a:srgbClr val="1A1A1A"/>
                </a:solidFill>
                <a:latin typeface="Trenda IG Text"/>
              </a:rPr>
              <a:t>EVALS</a:t>
            </a:r>
          </a:p>
        </p:txBody>
      </p:sp>
      <p:sp>
        <p:nvSpPr>
          <p:cNvPr id="28" name="Shape 26"/>
          <p:cNvSpPr/>
          <p:nvPr/>
        </p:nvSpPr>
        <p:spPr>
          <a:xfrm>
            <a:off x="1988819"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people.png"/>
          <p:cNvPicPr>
            <a:picLocks noChangeAspect="1"/>
          </p:cNvPicPr>
          <p:nvPr/>
        </p:nvPicPr>
        <p:blipFill>
          <a:blip r:embed="rId3"/>
          <a:stretch>
            <a:fillRect/>
          </a:stretch>
        </p:blipFill>
        <p:spPr>
          <a:xfrm>
            <a:off x="2180844" y="2286000"/>
            <a:ext cx="182880" cy="182880"/>
          </a:xfrm>
          <a:prstGeom prst="rect">
            <a:avLst/>
          </a:prstGeom>
        </p:spPr>
      </p:pic>
      <p:sp>
        <p:nvSpPr>
          <p:cNvPr id="30" name="Text 27"/>
          <p:cNvSpPr txBox="1"/>
          <p:nvPr/>
        </p:nvSpPr>
        <p:spPr>
          <a:xfrm>
            <a:off x="2016251" y="2468879"/>
            <a:ext cx="512064" cy="274320"/>
          </a:xfrm>
          <a:prstGeom prst="rect">
            <a:avLst/>
          </a:prstGeom>
          <a:noFill/>
        </p:spPr>
        <p:txBody>
          <a:bodyPr wrap="square" lIns="0" rIns="0" tIns="0" bIns="0" anchor="ctr">
            <a:spAutoFit/>
          </a:bodyPr>
          <a:lstStyle/>
          <a:p>
            <a:pPr algn="ctr"/>
            <a:r>
              <a:rPr sz="850" b="1" i="0">
                <a:solidFill>
                  <a:srgbClr val="1A1A1A"/>
                </a:solidFill>
                <a:latin typeface="Trenda IG Text"/>
              </a:rPr>
              <a:t>H1</a:t>
            </a:r>
          </a:p>
        </p:txBody>
      </p:sp>
      <p:sp>
        <p:nvSpPr>
          <p:cNvPr id="31" name="Text 28"/>
          <p:cNvSpPr txBox="1"/>
          <p:nvPr/>
        </p:nvSpPr>
        <p:spPr>
          <a:xfrm>
            <a:off x="2016251" y="2761488"/>
            <a:ext cx="512064" cy="502920"/>
          </a:xfrm>
          <a:prstGeom prst="rect">
            <a:avLst/>
          </a:prstGeom>
          <a:noFill/>
        </p:spPr>
        <p:txBody>
          <a:bodyPr wrap="square" lIns="0" rIns="0" tIns="0" bIns="0" anchor="t">
            <a:spAutoFit/>
          </a:bodyPr>
          <a:lstStyle/>
          <a:p>
            <a:pPr algn="ctr"/>
            <a:r>
              <a:rPr sz="700" b="0" i="0">
                <a:solidFill>
                  <a:srgbClr val="1A1A1A"/>
                </a:solidFill>
                <a:latin typeface="Trenda IG Text"/>
              </a:rPr>
              <a:t>product owner</a:t>
            </a:r>
          </a:p>
        </p:txBody>
      </p:sp>
      <p:sp>
        <p:nvSpPr>
          <p:cNvPr id="32" name="Shape 29"/>
          <p:cNvSpPr/>
          <p:nvPr/>
        </p:nvSpPr>
        <p:spPr>
          <a:xfrm>
            <a:off x="2647187" y="2194560"/>
            <a:ext cx="1463040" cy="1115568"/>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hape 30"/>
          <p:cNvSpPr/>
          <p:nvPr/>
        </p:nvSpPr>
        <p:spPr>
          <a:xfrm>
            <a:off x="2720339" y="2258568"/>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1"/>
          <p:cNvSpPr txBox="1"/>
          <p:nvPr/>
        </p:nvSpPr>
        <p:spPr>
          <a:xfrm>
            <a:off x="2720339" y="2258568"/>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3</a:t>
            </a:r>
          </a:p>
        </p:txBody>
      </p:sp>
      <p:sp>
        <p:nvSpPr>
          <p:cNvPr id="35" name="Text 32"/>
          <p:cNvSpPr txBox="1"/>
          <p:nvPr/>
        </p:nvSpPr>
        <p:spPr>
          <a:xfrm>
            <a:off x="2976371" y="2249424"/>
            <a:ext cx="1060703" cy="201168"/>
          </a:xfrm>
          <a:prstGeom prst="rect">
            <a:avLst/>
          </a:prstGeom>
          <a:noFill/>
        </p:spPr>
        <p:txBody>
          <a:bodyPr wrap="square" lIns="0" rIns="0" tIns="0" bIns="0" anchor="ctr">
            <a:spAutoFit/>
          </a:bodyPr>
          <a:lstStyle/>
          <a:p>
            <a:r>
              <a:rPr sz="740" b="1" i="0">
                <a:solidFill>
                  <a:srgbClr val="1A1A1A"/>
                </a:solidFill>
                <a:latin typeface="Trenda IG Text"/>
              </a:rPr>
              <a:t>Architect Agent</a:t>
            </a:r>
          </a:p>
        </p:txBody>
      </p:sp>
      <p:sp>
        <p:nvSpPr>
          <p:cNvPr id="36" name="Text 33"/>
          <p:cNvSpPr txBox="1"/>
          <p:nvPr/>
        </p:nvSpPr>
        <p:spPr>
          <a:xfrm>
            <a:off x="2738627" y="2478024"/>
            <a:ext cx="1280160" cy="8046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Reuse and impact from the graph; Change Guardian names affected pods.</a:t>
            </a:r>
          </a:p>
        </p:txBody>
      </p:sp>
      <p:sp>
        <p:nvSpPr>
          <p:cNvPr id="37" name="Shape 34"/>
          <p:cNvSpPr/>
          <p:nvPr/>
        </p:nvSpPr>
        <p:spPr>
          <a:xfrm>
            <a:off x="3150107" y="3364991"/>
            <a:ext cx="457200" cy="155448"/>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5"/>
          <p:cNvSpPr txBox="1"/>
          <p:nvPr/>
        </p:nvSpPr>
        <p:spPr>
          <a:xfrm>
            <a:off x="3150107" y="3364991"/>
            <a:ext cx="457200" cy="155448"/>
          </a:xfrm>
          <a:prstGeom prst="rect">
            <a:avLst/>
          </a:prstGeom>
          <a:noFill/>
        </p:spPr>
        <p:txBody>
          <a:bodyPr wrap="square" lIns="0" rIns="0" tIns="0" bIns="0" anchor="ctr">
            <a:spAutoFit/>
          </a:bodyPr>
          <a:lstStyle/>
          <a:p>
            <a:pPr algn="ctr"/>
            <a:r>
              <a:rPr sz="700" b="1" i="0" spc="80">
                <a:solidFill>
                  <a:srgbClr val="1A1A1A"/>
                </a:solidFill>
                <a:latin typeface="Trenda IG Text"/>
              </a:rPr>
              <a:t>EVALS</a:t>
            </a:r>
          </a:p>
        </p:txBody>
      </p:sp>
      <p:sp>
        <p:nvSpPr>
          <p:cNvPr id="39" name="Shape 36"/>
          <p:cNvSpPr/>
          <p:nvPr/>
        </p:nvSpPr>
        <p:spPr>
          <a:xfrm>
            <a:off x="4201668"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people.png"/>
          <p:cNvPicPr>
            <a:picLocks noChangeAspect="1"/>
          </p:cNvPicPr>
          <p:nvPr/>
        </p:nvPicPr>
        <p:blipFill>
          <a:blip r:embed="rId3"/>
          <a:stretch>
            <a:fillRect/>
          </a:stretch>
        </p:blipFill>
        <p:spPr>
          <a:xfrm>
            <a:off x="4393692" y="2286000"/>
            <a:ext cx="182880" cy="182880"/>
          </a:xfrm>
          <a:prstGeom prst="rect">
            <a:avLst/>
          </a:prstGeom>
        </p:spPr>
      </p:pic>
      <p:sp>
        <p:nvSpPr>
          <p:cNvPr id="41" name="Text 37"/>
          <p:cNvSpPr txBox="1"/>
          <p:nvPr/>
        </p:nvSpPr>
        <p:spPr>
          <a:xfrm>
            <a:off x="4229100" y="2468879"/>
            <a:ext cx="512064" cy="274320"/>
          </a:xfrm>
          <a:prstGeom prst="rect">
            <a:avLst/>
          </a:prstGeom>
          <a:noFill/>
        </p:spPr>
        <p:txBody>
          <a:bodyPr wrap="square" lIns="0" rIns="0" tIns="0" bIns="0" anchor="ctr">
            <a:spAutoFit/>
          </a:bodyPr>
          <a:lstStyle/>
          <a:p>
            <a:pPr algn="ctr"/>
            <a:r>
              <a:rPr sz="850" b="1" i="0">
                <a:solidFill>
                  <a:srgbClr val="1A1A1A"/>
                </a:solidFill>
                <a:latin typeface="Trenda IG Text"/>
              </a:rPr>
              <a:t>H2</a:t>
            </a:r>
          </a:p>
        </p:txBody>
      </p:sp>
      <p:sp>
        <p:nvSpPr>
          <p:cNvPr id="42" name="Text 38"/>
          <p:cNvSpPr txBox="1"/>
          <p:nvPr/>
        </p:nvSpPr>
        <p:spPr>
          <a:xfrm>
            <a:off x="4229100" y="2761488"/>
            <a:ext cx="512064" cy="502920"/>
          </a:xfrm>
          <a:prstGeom prst="rect">
            <a:avLst/>
          </a:prstGeom>
          <a:noFill/>
        </p:spPr>
        <p:txBody>
          <a:bodyPr wrap="square" lIns="0" rIns="0" tIns="0" bIns="0" anchor="t">
            <a:spAutoFit/>
          </a:bodyPr>
          <a:lstStyle/>
          <a:p>
            <a:pPr algn="ctr"/>
            <a:r>
              <a:rPr sz="700" b="0" i="0">
                <a:solidFill>
                  <a:srgbClr val="1A1A1A"/>
                </a:solidFill>
                <a:latin typeface="Trenda IG Text"/>
              </a:rPr>
              <a:t>architect + pod owners</a:t>
            </a:r>
          </a:p>
        </p:txBody>
      </p:sp>
      <p:sp>
        <p:nvSpPr>
          <p:cNvPr id="43" name="Shape 39"/>
          <p:cNvSpPr/>
          <p:nvPr/>
        </p:nvSpPr>
        <p:spPr>
          <a:xfrm>
            <a:off x="4860036" y="2194560"/>
            <a:ext cx="1463040" cy="1115568"/>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40"/>
          <p:cNvSpPr/>
          <p:nvPr/>
        </p:nvSpPr>
        <p:spPr>
          <a:xfrm>
            <a:off x="4933188" y="2258568"/>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1"/>
          <p:cNvSpPr txBox="1"/>
          <p:nvPr/>
        </p:nvSpPr>
        <p:spPr>
          <a:xfrm>
            <a:off x="4933188" y="2258568"/>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4</a:t>
            </a:r>
          </a:p>
        </p:txBody>
      </p:sp>
      <p:sp>
        <p:nvSpPr>
          <p:cNvPr id="46" name="Text 42"/>
          <p:cNvSpPr txBox="1"/>
          <p:nvPr/>
        </p:nvSpPr>
        <p:spPr>
          <a:xfrm>
            <a:off x="5189220" y="2249424"/>
            <a:ext cx="1060703" cy="201168"/>
          </a:xfrm>
          <a:prstGeom prst="rect">
            <a:avLst/>
          </a:prstGeom>
          <a:noFill/>
        </p:spPr>
        <p:txBody>
          <a:bodyPr wrap="square" lIns="0" rIns="0" tIns="0" bIns="0" anchor="ctr">
            <a:spAutoFit/>
          </a:bodyPr>
          <a:lstStyle/>
          <a:p>
            <a:r>
              <a:rPr sz="740" b="1" i="0">
                <a:solidFill>
                  <a:srgbClr val="1A1A1A"/>
                </a:solidFill>
                <a:latin typeface="Trenda IG Text"/>
              </a:rPr>
              <a:t>Developer Agent</a:t>
            </a:r>
          </a:p>
        </p:txBody>
      </p:sp>
      <p:sp>
        <p:nvSpPr>
          <p:cNvPr id="47" name="Text 43"/>
          <p:cNvSpPr txBox="1"/>
          <p:nvPr/>
        </p:nvSpPr>
        <p:spPr>
          <a:xfrm>
            <a:off x="4951475" y="2478024"/>
            <a:ext cx="1280160" cy="8046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Validation rule, Flow and tests in the DEV sandbox, on its own branch.</a:t>
            </a:r>
          </a:p>
        </p:txBody>
      </p:sp>
      <p:sp>
        <p:nvSpPr>
          <p:cNvPr id="48" name="Shape 44"/>
          <p:cNvSpPr/>
          <p:nvPr/>
        </p:nvSpPr>
        <p:spPr>
          <a:xfrm>
            <a:off x="5362955" y="3364991"/>
            <a:ext cx="457200" cy="155448"/>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5"/>
          <p:cNvSpPr txBox="1"/>
          <p:nvPr/>
        </p:nvSpPr>
        <p:spPr>
          <a:xfrm>
            <a:off x="5362955" y="3364991"/>
            <a:ext cx="457200" cy="155448"/>
          </a:xfrm>
          <a:prstGeom prst="rect">
            <a:avLst/>
          </a:prstGeom>
          <a:noFill/>
        </p:spPr>
        <p:txBody>
          <a:bodyPr wrap="square" lIns="0" rIns="0" tIns="0" bIns="0" anchor="ctr">
            <a:spAutoFit/>
          </a:bodyPr>
          <a:lstStyle/>
          <a:p>
            <a:pPr algn="ctr"/>
            <a:r>
              <a:rPr sz="700" b="1" i="0" spc="80">
                <a:solidFill>
                  <a:srgbClr val="1A1A1A"/>
                </a:solidFill>
                <a:latin typeface="Trenda IG Text"/>
              </a:rPr>
              <a:t>EVALS</a:t>
            </a:r>
          </a:p>
        </p:txBody>
      </p:sp>
      <p:sp>
        <p:nvSpPr>
          <p:cNvPr id="50" name="Shape 46"/>
          <p:cNvSpPr/>
          <p:nvPr/>
        </p:nvSpPr>
        <p:spPr>
          <a:xfrm>
            <a:off x="6414516" y="2194560"/>
            <a:ext cx="1463040" cy="1115568"/>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47"/>
          <p:cNvSpPr/>
          <p:nvPr/>
        </p:nvSpPr>
        <p:spPr>
          <a:xfrm>
            <a:off x="6487668" y="2258568"/>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8"/>
          <p:cNvSpPr txBox="1"/>
          <p:nvPr/>
        </p:nvSpPr>
        <p:spPr>
          <a:xfrm>
            <a:off x="6487668" y="2258568"/>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5</a:t>
            </a:r>
          </a:p>
        </p:txBody>
      </p:sp>
      <p:sp>
        <p:nvSpPr>
          <p:cNvPr id="53" name="Text 49"/>
          <p:cNvSpPr txBox="1"/>
          <p:nvPr/>
        </p:nvSpPr>
        <p:spPr>
          <a:xfrm>
            <a:off x="6743700" y="2249424"/>
            <a:ext cx="1060704" cy="201168"/>
          </a:xfrm>
          <a:prstGeom prst="rect">
            <a:avLst/>
          </a:prstGeom>
          <a:noFill/>
        </p:spPr>
        <p:txBody>
          <a:bodyPr wrap="square" lIns="0" rIns="0" tIns="0" bIns="0" anchor="ctr">
            <a:spAutoFit/>
          </a:bodyPr>
          <a:lstStyle/>
          <a:p>
            <a:r>
              <a:rPr sz="740" b="1" i="0">
                <a:solidFill>
                  <a:srgbClr val="1A1A1A"/>
                </a:solidFill>
                <a:latin typeface="Trenda IG Text"/>
              </a:rPr>
              <a:t>Review + Test Agents</a:t>
            </a:r>
          </a:p>
        </p:txBody>
      </p:sp>
      <p:sp>
        <p:nvSpPr>
          <p:cNvPr id="54" name="Text 50"/>
          <p:cNvSpPr txBox="1"/>
          <p:nvPr/>
        </p:nvSpPr>
        <p:spPr>
          <a:xfrm>
            <a:off x="6505955" y="2478024"/>
            <a:ext cx="1280160" cy="8046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Code, security and sharing checks; Apex tests and Zephyr cases.</a:t>
            </a:r>
          </a:p>
        </p:txBody>
      </p:sp>
      <p:sp>
        <p:nvSpPr>
          <p:cNvPr id="55" name="Shape 51"/>
          <p:cNvSpPr/>
          <p:nvPr/>
        </p:nvSpPr>
        <p:spPr>
          <a:xfrm>
            <a:off x="6917436" y="3364991"/>
            <a:ext cx="457200" cy="155448"/>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2"/>
          <p:cNvSpPr txBox="1"/>
          <p:nvPr/>
        </p:nvSpPr>
        <p:spPr>
          <a:xfrm>
            <a:off x="6917436" y="3364991"/>
            <a:ext cx="457200" cy="155448"/>
          </a:xfrm>
          <a:prstGeom prst="rect">
            <a:avLst/>
          </a:prstGeom>
          <a:noFill/>
        </p:spPr>
        <p:txBody>
          <a:bodyPr wrap="square" lIns="0" rIns="0" tIns="0" bIns="0" anchor="ctr">
            <a:spAutoFit/>
          </a:bodyPr>
          <a:lstStyle/>
          <a:p>
            <a:pPr algn="ctr"/>
            <a:r>
              <a:rPr sz="700" b="1" i="0" spc="80">
                <a:solidFill>
                  <a:srgbClr val="1A1A1A"/>
                </a:solidFill>
                <a:latin typeface="Trenda IG Text"/>
              </a:rPr>
              <a:t>EVALS</a:t>
            </a:r>
          </a:p>
        </p:txBody>
      </p:sp>
      <p:sp>
        <p:nvSpPr>
          <p:cNvPr id="57" name="Shape 53"/>
          <p:cNvSpPr/>
          <p:nvPr/>
        </p:nvSpPr>
        <p:spPr>
          <a:xfrm>
            <a:off x="7968996"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Picture 57" descr="people.png"/>
          <p:cNvPicPr>
            <a:picLocks noChangeAspect="1"/>
          </p:cNvPicPr>
          <p:nvPr/>
        </p:nvPicPr>
        <p:blipFill>
          <a:blip r:embed="rId3"/>
          <a:stretch>
            <a:fillRect/>
          </a:stretch>
        </p:blipFill>
        <p:spPr>
          <a:xfrm>
            <a:off x="8161020" y="2286000"/>
            <a:ext cx="182880" cy="182880"/>
          </a:xfrm>
          <a:prstGeom prst="rect">
            <a:avLst/>
          </a:prstGeom>
        </p:spPr>
      </p:pic>
      <p:sp>
        <p:nvSpPr>
          <p:cNvPr id="59" name="Text 54"/>
          <p:cNvSpPr txBox="1"/>
          <p:nvPr/>
        </p:nvSpPr>
        <p:spPr>
          <a:xfrm>
            <a:off x="7996427" y="2468879"/>
            <a:ext cx="512064" cy="274320"/>
          </a:xfrm>
          <a:prstGeom prst="rect">
            <a:avLst/>
          </a:prstGeom>
          <a:noFill/>
        </p:spPr>
        <p:txBody>
          <a:bodyPr wrap="square" lIns="0" rIns="0" tIns="0" bIns="0" anchor="ctr">
            <a:spAutoFit/>
          </a:bodyPr>
          <a:lstStyle/>
          <a:p>
            <a:pPr algn="ctr"/>
            <a:r>
              <a:rPr sz="850" b="1" i="0">
                <a:solidFill>
                  <a:srgbClr val="1A1A1A"/>
                </a:solidFill>
                <a:latin typeface="Trenda IG Text"/>
              </a:rPr>
              <a:t>H3</a:t>
            </a:r>
          </a:p>
        </p:txBody>
      </p:sp>
      <p:sp>
        <p:nvSpPr>
          <p:cNvPr id="60" name="Text 55"/>
          <p:cNvSpPr txBox="1"/>
          <p:nvPr/>
        </p:nvSpPr>
        <p:spPr>
          <a:xfrm>
            <a:off x="7996427" y="2761488"/>
            <a:ext cx="512064" cy="502920"/>
          </a:xfrm>
          <a:prstGeom prst="rect">
            <a:avLst/>
          </a:prstGeom>
          <a:noFill/>
        </p:spPr>
        <p:txBody>
          <a:bodyPr wrap="square" lIns="0" rIns="0" tIns="0" bIns="0" anchor="t">
            <a:spAutoFit/>
          </a:bodyPr>
          <a:lstStyle/>
          <a:p>
            <a:pPr algn="ctr"/>
            <a:r>
              <a:rPr sz="700" b="0" i="0">
                <a:solidFill>
                  <a:srgbClr val="1A1A1A"/>
                </a:solidFill>
                <a:latin typeface="Trenda IG Text"/>
              </a:rPr>
              <a:t>tech lead + security</a:t>
            </a:r>
          </a:p>
        </p:txBody>
      </p:sp>
      <p:sp>
        <p:nvSpPr>
          <p:cNvPr id="61" name="Shape 56"/>
          <p:cNvSpPr/>
          <p:nvPr/>
        </p:nvSpPr>
        <p:spPr>
          <a:xfrm>
            <a:off x="8627364" y="2194560"/>
            <a:ext cx="1463040" cy="1115568"/>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hape 57"/>
          <p:cNvSpPr/>
          <p:nvPr/>
        </p:nvSpPr>
        <p:spPr>
          <a:xfrm>
            <a:off x="8700516" y="2258568"/>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8"/>
          <p:cNvSpPr txBox="1"/>
          <p:nvPr/>
        </p:nvSpPr>
        <p:spPr>
          <a:xfrm>
            <a:off x="8700516" y="2258568"/>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6</a:t>
            </a:r>
          </a:p>
        </p:txBody>
      </p:sp>
      <p:sp>
        <p:nvSpPr>
          <p:cNvPr id="64" name="Text 59"/>
          <p:cNvSpPr txBox="1"/>
          <p:nvPr/>
        </p:nvSpPr>
        <p:spPr>
          <a:xfrm>
            <a:off x="8956548" y="2249424"/>
            <a:ext cx="1060704" cy="201168"/>
          </a:xfrm>
          <a:prstGeom prst="rect">
            <a:avLst/>
          </a:prstGeom>
          <a:noFill/>
        </p:spPr>
        <p:txBody>
          <a:bodyPr wrap="square" lIns="0" rIns="0" tIns="0" bIns="0" anchor="ctr">
            <a:spAutoFit/>
          </a:bodyPr>
          <a:lstStyle/>
          <a:p>
            <a:r>
              <a:rPr sz="740" b="1" i="0">
                <a:solidFill>
                  <a:srgbClr val="1A1A1A"/>
                </a:solidFill>
                <a:latin typeface="Trenda IG Text"/>
              </a:rPr>
              <a:t>Release Agent</a:t>
            </a:r>
          </a:p>
        </p:txBody>
      </p:sp>
      <p:sp>
        <p:nvSpPr>
          <p:cNvPr id="65" name="Text 60"/>
          <p:cNvSpPr txBox="1"/>
          <p:nvPr/>
        </p:nvSpPr>
        <p:spPr>
          <a:xfrm>
            <a:off x="8718804" y="2478024"/>
            <a:ext cx="1280160" cy="8046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Copado promotion to SIT, then UAT; rollback plan and CAB pack.</a:t>
            </a:r>
          </a:p>
        </p:txBody>
      </p:sp>
      <p:sp>
        <p:nvSpPr>
          <p:cNvPr id="66" name="Shape 61"/>
          <p:cNvSpPr/>
          <p:nvPr/>
        </p:nvSpPr>
        <p:spPr>
          <a:xfrm>
            <a:off x="9130284" y="3364991"/>
            <a:ext cx="457200" cy="155448"/>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2"/>
          <p:cNvSpPr txBox="1"/>
          <p:nvPr/>
        </p:nvSpPr>
        <p:spPr>
          <a:xfrm>
            <a:off x="9130284" y="3364991"/>
            <a:ext cx="457200" cy="155448"/>
          </a:xfrm>
          <a:prstGeom prst="rect">
            <a:avLst/>
          </a:prstGeom>
          <a:noFill/>
        </p:spPr>
        <p:txBody>
          <a:bodyPr wrap="square" lIns="0" rIns="0" tIns="0" bIns="0" anchor="ctr">
            <a:spAutoFit/>
          </a:bodyPr>
          <a:lstStyle/>
          <a:p>
            <a:pPr algn="ctr"/>
            <a:r>
              <a:rPr sz="700" b="1" i="0" spc="80">
                <a:solidFill>
                  <a:srgbClr val="1A1A1A"/>
                </a:solidFill>
                <a:latin typeface="Trenda IG Text"/>
              </a:rPr>
              <a:t>EVALS</a:t>
            </a:r>
          </a:p>
        </p:txBody>
      </p:sp>
      <p:sp>
        <p:nvSpPr>
          <p:cNvPr id="68" name="Shape 63"/>
          <p:cNvSpPr/>
          <p:nvPr/>
        </p:nvSpPr>
        <p:spPr>
          <a:xfrm>
            <a:off x="10181844"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9" name="Picture 68" descr="people.png"/>
          <p:cNvPicPr>
            <a:picLocks noChangeAspect="1"/>
          </p:cNvPicPr>
          <p:nvPr/>
        </p:nvPicPr>
        <p:blipFill>
          <a:blip r:embed="rId3"/>
          <a:stretch>
            <a:fillRect/>
          </a:stretch>
        </p:blipFill>
        <p:spPr>
          <a:xfrm>
            <a:off x="10373868" y="2286000"/>
            <a:ext cx="182880" cy="182880"/>
          </a:xfrm>
          <a:prstGeom prst="rect">
            <a:avLst/>
          </a:prstGeom>
        </p:spPr>
      </p:pic>
      <p:sp>
        <p:nvSpPr>
          <p:cNvPr id="70" name="Text 64"/>
          <p:cNvSpPr txBox="1"/>
          <p:nvPr/>
        </p:nvSpPr>
        <p:spPr>
          <a:xfrm>
            <a:off x="10209276" y="2468879"/>
            <a:ext cx="512064" cy="274320"/>
          </a:xfrm>
          <a:prstGeom prst="rect">
            <a:avLst/>
          </a:prstGeom>
          <a:noFill/>
        </p:spPr>
        <p:txBody>
          <a:bodyPr wrap="square" lIns="0" rIns="0" tIns="0" bIns="0" anchor="ctr">
            <a:spAutoFit/>
          </a:bodyPr>
          <a:lstStyle/>
          <a:p>
            <a:pPr algn="ctr"/>
            <a:r>
              <a:rPr sz="850" b="1" i="0">
                <a:solidFill>
                  <a:srgbClr val="1A1A1A"/>
                </a:solidFill>
                <a:latin typeface="Trenda IG Text"/>
              </a:rPr>
              <a:t>H4 · CAB</a:t>
            </a:r>
          </a:p>
        </p:txBody>
      </p:sp>
      <p:sp>
        <p:nvSpPr>
          <p:cNvPr id="71" name="Text 65"/>
          <p:cNvSpPr txBox="1"/>
          <p:nvPr/>
        </p:nvSpPr>
        <p:spPr>
          <a:xfrm>
            <a:off x="10209276" y="2761488"/>
            <a:ext cx="512064" cy="502920"/>
          </a:xfrm>
          <a:prstGeom prst="rect">
            <a:avLst/>
          </a:prstGeom>
          <a:noFill/>
        </p:spPr>
        <p:txBody>
          <a:bodyPr wrap="square" lIns="0" rIns="0" tIns="0" bIns="0" anchor="t">
            <a:spAutoFit/>
          </a:bodyPr>
          <a:lstStyle/>
          <a:p>
            <a:pPr algn="ctr"/>
            <a:r>
              <a:rPr sz="700" b="0" i="0">
                <a:solidFill>
                  <a:srgbClr val="1A1A1A"/>
                </a:solidFill>
                <a:latin typeface="Trenda IG Text"/>
              </a:rPr>
              <a:t>business UAT, then CAB</a:t>
            </a:r>
          </a:p>
        </p:txBody>
      </p:sp>
      <p:sp>
        <p:nvSpPr>
          <p:cNvPr id="72" name="Shape 66"/>
          <p:cNvSpPr/>
          <p:nvPr/>
        </p:nvSpPr>
        <p:spPr>
          <a:xfrm>
            <a:off x="10840212" y="2194560"/>
            <a:ext cx="914400" cy="1115568"/>
          </a:xfrm>
          <a:prstGeom prst="roundRect">
            <a:avLst>
              <a:gd name="adj" fmla="val 10000"/>
            </a:avLst>
          </a:prstGeom>
          <a:noFill/>
          <a:ln w="7620">
            <a:solidFill>
              <a:srgbClr val="BDBDB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7"/>
          <p:cNvSpPr txBox="1"/>
          <p:nvPr/>
        </p:nvSpPr>
        <p:spPr>
          <a:xfrm>
            <a:off x="10895076" y="2286000"/>
            <a:ext cx="804672" cy="237744"/>
          </a:xfrm>
          <a:prstGeom prst="rect">
            <a:avLst/>
          </a:prstGeom>
          <a:noFill/>
        </p:spPr>
        <p:txBody>
          <a:bodyPr wrap="square" lIns="0" rIns="0" tIns="0" bIns="0" anchor="ctr">
            <a:spAutoFit/>
          </a:bodyPr>
          <a:lstStyle/>
          <a:p>
            <a:pPr algn="ctr"/>
            <a:r>
              <a:rPr sz="800" b="1" i="0">
                <a:solidFill>
                  <a:srgbClr val="1A1A1A"/>
                </a:solidFill>
                <a:latin typeface="Trenda IG Text"/>
              </a:rPr>
              <a:t>Production</a:t>
            </a:r>
          </a:p>
        </p:txBody>
      </p:sp>
      <p:sp>
        <p:nvSpPr>
          <p:cNvPr id="74" name="Text 68"/>
          <p:cNvSpPr txBox="1"/>
          <p:nvPr/>
        </p:nvSpPr>
        <p:spPr>
          <a:xfrm>
            <a:off x="10895076" y="2578608"/>
            <a:ext cx="804672" cy="640080"/>
          </a:xfrm>
          <a:prstGeom prst="rect">
            <a:avLst/>
          </a:prstGeom>
          <a:noFill/>
        </p:spPr>
        <p:txBody>
          <a:bodyPr wrap="square" lIns="0" rIns="0" tIns="0" bIns="0" anchor="t">
            <a:spAutoFit/>
          </a:bodyPr>
          <a:lstStyle/>
          <a:p>
            <a:pPr algn="ctr"/>
            <a:r>
              <a:rPr sz="700" b="0" i="0">
                <a:solidFill>
                  <a:srgbClr val="4D4D4D"/>
                </a:solidFill>
                <a:latin typeface="Trenda IG Text"/>
              </a:rPr>
              <a:t>the owning team deploys; no agent credential</a:t>
            </a:r>
          </a:p>
        </p:txBody>
      </p:sp>
      <p:cxnSp>
        <p:nvCxnSpPr>
          <p:cNvPr id="75" name="Arrow 69"/>
          <p:cNvCxnSpPr/>
          <p:nvPr/>
        </p:nvCxnSpPr>
        <p:spPr>
          <a:xfrm>
            <a:off x="1897379"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Arrow 70"/>
          <p:cNvCxnSpPr/>
          <p:nvPr/>
        </p:nvCxnSpPr>
        <p:spPr>
          <a:xfrm>
            <a:off x="2555748"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Arrow 71"/>
          <p:cNvCxnSpPr/>
          <p:nvPr/>
        </p:nvCxnSpPr>
        <p:spPr>
          <a:xfrm>
            <a:off x="4110227"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Arrow 72"/>
          <p:cNvCxnSpPr/>
          <p:nvPr/>
        </p:nvCxnSpPr>
        <p:spPr>
          <a:xfrm>
            <a:off x="4768596"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Arrow 73"/>
          <p:cNvCxnSpPr/>
          <p:nvPr/>
        </p:nvCxnSpPr>
        <p:spPr>
          <a:xfrm>
            <a:off x="6323075"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Arrow 74"/>
          <p:cNvCxnSpPr/>
          <p:nvPr/>
        </p:nvCxnSpPr>
        <p:spPr>
          <a:xfrm>
            <a:off x="7877556"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Arrow 75"/>
          <p:cNvCxnSpPr/>
          <p:nvPr/>
        </p:nvCxnSpPr>
        <p:spPr>
          <a:xfrm>
            <a:off x="8535924" y="2752344"/>
            <a:ext cx="91439"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Arrow 76"/>
          <p:cNvCxnSpPr/>
          <p:nvPr/>
        </p:nvCxnSpPr>
        <p:spPr>
          <a:xfrm>
            <a:off x="10090404"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Arrow 77"/>
          <p:cNvCxnSpPr/>
          <p:nvPr/>
        </p:nvCxnSpPr>
        <p:spPr>
          <a:xfrm>
            <a:off x="10748772"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Arrow 78"/>
          <p:cNvCxnSpPr/>
          <p:nvPr/>
        </p:nvCxnSpPr>
        <p:spPr>
          <a:xfrm>
            <a:off x="1165859" y="1901952"/>
            <a:ext cx="0" cy="292608"/>
          </a:xfrm>
          <a:prstGeom prst="line">
            <a:avLst/>
          </a:prstGeom>
          <a:ln w="1333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Arrow 79"/>
          <p:cNvCxnSpPr/>
          <p:nvPr/>
        </p:nvCxnSpPr>
        <p:spPr>
          <a:xfrm flipV="1">
            <a:off x="6734555" y="2066543"/>
            <a:ext cx="0" cy="128017"/>
          </a:xfrm>
          <a:prstGeom prst="line">
            <a:avLst/>
          </a:prstGeom>
          <a:ln w="13335">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86" name="Arrow 80"/>
          <p:cNvCxnSpPr/>
          <p:nvPr/>
        </p:nvCxnSpPr>
        <p:spPr>
          <a:xfrm flipH="1">
            <a:off x="6003036" y="2066543"/>
            <a:ext cx="731519" cy="0"/>
          </a:xfrm>
          <a:prstGeom prst="line">
            <a:avLst/>
          </a:prstGeom>
          <a:ln w="13335">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87" name="Arrow 81"/>
          <p:cNvCxnSpPr/>
          <p:nvPr/>
        </p:nvCxnSpPr>
        <p:spPr>
          <a:xfrm>
            <a:off x="6003036" y="2066543"/>
            <a:ext cx="0" cy="128017"/>
          </a:xfrm>
          <a:prstGeom prst="line">
            <a:avLst/>
          </a:prstGeom>
          <a:ln w="13335">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Shape 82"/>
          <p:cNvSpPr/>
          <p:nvPr/>
        </p:nvSpPr>
        <p:spPr>
          <a:xfrm>
            <a:off x="6780276" y="1984248"/>
            <a:ext cx="2377440" cy="164592"/>
          </a:xfrm>
          <a:prstGeom prst="roundRect">
            <a:avLst>
              <a:gd name="adj" fmla="val 50000"/>
            </a:avLst>
          </a:prstGeom>
          <a:solidFill>
            <a:srgbClr val="E6E6E6"/>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3"/>
          <p:cNvSpPr txBox="1"/>
          <p:nvPr/>
        </p:nvSpPr>
        <p:spPr>
          <a:xfrm>
            <a:off x="6780276" y="1984248"/>
            <a:ext cx="2377440" cy="164592"/>
          </a:xfrm>
          <a:prstGeom prst="rect">
            <a:avLst/>
          </a:prstGeom>
          <a:noFill/>
        </p:spPr>
        <p:txBody>
          <a:bodyPr wrap="square" lIns="0" rIns="0" tIns="0" bIns="0" anchor="ctr">
            <a:spAutoFit/>
          </a:bodyPr>
          <a:lstStyle/>
          <a:p>
            <a:pPr algn="ctr"/>
            <a:r>
              <a:rPr sz="700" b="1" i="0" spc="80">
                <a:solidFill>
                  <a:srgbClr val="1A1A1A"/>
                </a:solidFill>
                <a:latin typeface="Trenda IG Text"/>
              </a:rPr>
              <a:t>5 → 4  FAIL → FIX · MAX 5, THEN OWNER</a:t>
            </a:r>
          </a:p>
        </p:txBody>
      </p:sp>
      <p:sp>
        <p:nvSpPr>
          <p:cNvPr id="90" name="Shape 84"/>
          <p:cNvSpPr/>
          <p:nvPr/>
        </p:nvSpPr>
        <p:spPr>
          <a:xfrm>
            <a:off x="411480" y="3703320"/>
            <a:ext cx="6903720" cy="1572768"/>
          </a:xfrm>
          <a:prstGeom prst="roundRect">
            <a:avLst>
              <a:gd name="adj" fmla="val 5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85"/>
          <p:cNvSpPr txBox="1"/>
          <p:nvPr/>
        </p:nvSpPr>
        <p:spPr>
          <a:xfrm>
            <a:off x="539496" y="3758183"/>
            <a:ext cx="6629400" cy="219456"/>
          </a:xfrm>
          <a:prstGeom prst="rect">
            <a:avLst/>
          </a:prstGeom>
          <a:noFill/>
        </p:spPr>
        <p:txBody>
          <a:bodyPr wrap="square" lIns="0" rIns="0" tIns="0" bIns="0" anchor="ctr">
            <a:spAutoFit/>
          </a:bodyPr>
          <a:lstStyle/>
          <a:p>
            <a:r>
              <a:rPr sz="700" b="1" i="0" spc="150">
                <a:solidFill>
                  <a:srgbClr val="1A1A1A"/>
                </a:solidFill>
                <a:latin typeface="Trenda IG Text"/>
              </a:rPr>
              <a:t>ENGINEERING CONTEXT KNOWLEDGE GRAPH</a:t>
            </a:r>
            <a:r>
              <a:rPr sz="700" b="0" i="0">
                <a:solidFill>
                  <a:srgbClr val="4D4D4D"/>
                </a:solidFill>
                <a:latin typeface="Trenda IG Text"/>
              </a:rPr>
              <a:t>   Spanner Graph · every fact cited</a:t>
            </a:r>
          </a:p>
        </p:txBody>
      </p:sp>
      <p:sp>
        <p:nvSpPr>
          <p:cNvPr id="92" name="Shape 86"/>
          <p:cNvSpPr/>
          <p:nvPr/>
        </p:nvSpPr>
        <p:spPr>
          <a:xfrm>
            <a:off x="539496"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3" name="Picture 92" descr="jira.png"/>
          <p:cNvPicPr>
            <a:picLocks noChangeAspect="1"/>
          </p:cNvPicPr>
          <p:nvPr/>
        </p:nvPicPr>
        <p:blipFill>
          <a:blip r:embed="rId4"/>
          <a:stretch>
            <a:fillRect/>
          </a:stretch>
        </p:blipFill>
        <p:spPr>
          <a:xfrm>
            <a:off x="612648" y="4114800"/>
            <a:ext cx="182880" cy="182880"/>
          </a:xfrm>
          <a:prstGeom prst="rect">
            <a:avLst/>
          </a:prstGeom>
        </p:spPr>
      </p:pic>
      <p:sp>
        <p:nvSpPr>
          <p:cNvPr id="94" name="Text 87"/>
          <p:cNvSpPr txBox="1"/>
          <p:nvPr/>
        </p:nvSpPr>
        <p:spPr>
          <a:xfrm>
            <a:off x="841248"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Jira</a:t>
            </a:r>
          </a:p>
        </p:txBody>
      </p:sp>
      <p:sp>
        <p:nvSpPr>
          <p:cNvPr id="95" name="Text 88"/>
          <p:cNvSpPr txBox="1"/>
          <p:nvPr/>
        </p:nvSpPr>
        <p:spPr>
          <a:xfrm>
            <a:off x="612648" y="4343400"/>
            <a:ext cx="777239" cy="256032"/>
          </a:xfrm>
          <a:prstGeom prst="rect">
            <a:avLst/>
          </a:prstGeom>
          <a:noFill/>
        </p:spPr>
        <p:txBody>
          <a:bodyPr wrap="square" lIns="0" rIns="0" tIns="0" bIns="0" anchor="t">
            <a:spAutoFit/>
          </a:bodyPr>
          <a:lstStyle/>
          <a:p>
            <a:r>
              <a:rPr sz="700" b="0" i="0">
                <a:solidFill>
                  <a:srgbClr val="4D4D4D"/>
                </a:solidFill>
                <a:latin typeface="Trenda IG Text"/>
              </a:rPr>
              <a:t>stories, history</a:t>
            </a:r>
          </a:p>
        </p:txBody>
      </p:sp>
      <p:sp>
        <p:nvSpPr>
          <p:cNvPr id="96" name="Shape 89"/>
          <p:cNvSpPr/>
          <p:nvPr/>
        </p:nvSpPr>
        <p:spPr>
          <a:xfrm>
            <a:off x="1499616"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7" name="Picture 96" descr="confluence.png"/>
          <p:cNvPicPr>
            <a:picLocks noChangeAspect="1"/>
          </p:cNvPicPr>
          <p:nvPr/>
        </p:nvPicPr>
        <p:blipFill>
          <a:blip r:embed="rId5"/>
          <a:stretch>
            <a:fillRect/>
          </a:stretch>
        </p:blipFill>
        <p:spPr>
          <a:xfrm>
            <a:off x="1572768" y="4114800"/>
            <a:ext cx="182880" cy="182880"/>
          </a:xfrm>
          <a:prstGeom prst="rect">
            <a:avLst/>
          </a:prstGeom>
        </p:spPr>
      </p:pic>
      <p:sp>
        <p:nvSpPr>
          <p:cNvPr id="98" name="Text 90"/>
          <p:cNvSpPr txBox="1"/>
          <p:nvPr/>
        </p:nvSpPr>
        <p:spPr>
          <a:xfrm>
            <a:off x="1801368"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Confluence</a:t>
            </a:r>
          </a:p>
        </p:txBody>
      </p:sp>
      <p:sp>
        <p:nvSpPr>
          <p:cNvPr id="99" name="Text 91"/>
          <p:cNvSpPr txBox="1"/>
          <p:nvPr/>
        </p:nvSpPr>
        <p:spPr>
          <a:xfrm>
            <a:off x="1572768" y="4343400"/>
            <a:ext cx="777239" cy="256032"/>
          </a:xfrm>
          <a:prstGeom prst="rect">
            <a:avLst/>
          </a:prstGeom>
          <a:noFill/>
        </p:spPr>
        <p:txBody>
          <a:bodyPr wrap="square" lIns="0" rIns="0" tIns="0" bIns="0" anchor="t">
            <a:spAutoFit/>
          </a:bodyPr>
          <a:lstStyle/>
          <a:p>
            <a:r>
              <a:rPr sz="700" b="0" i="0">
                <a:solidFill>
                  <a:srgbClr val="4D4D4D"/>
                </a:solidFill>
                <a:latin typeface="Trenda IG Text"/>
              </a:rPr>
              <a:t>designs, rules</a:t>
            </a:r>
          </a:p>
        </p:txBody>
      </p:sp>
      <p:sp>
        <p:nvSpPr>
          <p:cNvPr id="100" name="Shape 92"/>
          <p:cNvSpPr/>
          <p:nvPr/>
        </p:nvSpPr>
        <p:spPr>
          <a:xfrm>
            <a:off x="2459735"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1" name="Picture 100" descr="salesforce.png"/>
          <p:cNvPicPr>
            <a:picLocks noChangeAspect="1"/>
          </p:cNvPicPr>
          <p:nvPr/>
        </p:nvPicPr>
        <p:blipFill>
          <a:blip r:embed="rId6"/>
          <a:stretch>
            <a:fillRect/>
          </a:stretch>
        </p:blipFill>
        <p:spPr>
          <a:xfrm>
            <a:off x="2532887" y="4114800"/>
            <a:ext cx="182880" cy="182880"/>
          </a:xfrm>
          <a:prstGeom prst="rect">
            <a:avLst/>
          </a:prstGeom>
        </p:spPr>
      </p:pic>
      <p:sp>
        <p:nvSpPr>
          <p:cNvPr id="102" name="Text 93"/>
          <p:cNvSpPr txBox="1"/>
          <p:nvPr/>
        </p:nvSpPr>
        <p:spPr>
          <a:xfrm>
            <a:off x="2761487"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Salesforce</a:t>
            </a:r>
          </a:p>
        </p:txBody>
      </p:sp>
      <p:sp>
        <p:nvSpPr>
          <p:cNvPr id="103" name="Text 94"/>
          <p:cNvSpPr txBox="1"/>
          <p:nvPr/>
        </p:nvSpPr>
        <p:spPr>
          <a:xfrm>
            <a:off x="2532887" y="4343400"/>
            <a:ext cx="777239" cy="256032"/>
          </a:xfrm>
          <a:prstGeom prst="rect">
            <a:avLst/>
          </a:prstGeom>
          <a:noFill/>
        </p:spPr>
        <p:txBody>
          <a:bodyPr wrap="square" lIns="0" rIns="0" tIns="0" bIns="0" anchor="t">
            <a:spAutoFit/>
          </a:bodyPr>
          <a:lstStyle/>
          <a:p>
            <a:r>
              <a:rPr sz="700" b="0" i="0">
                <a:solidFill>
                  <a:srgbClr val="4D4D4D"/>
                </a:solidFill>
                <a:latin typeface="Trenda IG Text"/>
              </a:rPr>
              <a:t>Health Cloud metadata</a:t>
            </a:r>
          </a:p>
        </p:txBody>
      </p:sp>
      <p:sp>
        <p:nvSpPr>
          <p:cNvPr id="104" name="Shape 95"/>
          <p:cNvSpPr/>
          <p:nvPr/>
        </p:nvSpPr>
        <p:spPr>
          <a:xfrm>
            <a:off x="3419855"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5" name="Picture 104" descr="git.png"/>
          <p:cNvPicPr>
            <a:picLocks noChangeAspect="1"/>
          </p:cNvPicPr>
          <p:nvPr/>
        </p:nvPicPr>
        <p:blipFill>
          <a:blip r:embed="rId7"/>
          <a:stretch>
            <a:fillRect/>
          </a:stretch>
        </p:blipFill>
        <p:spPr>
          <a:xfrm>
            <a:off x="3493007" y="4114800"/>
            <a:ext cx="182880" cy="182880"/>
          </a:xfrm>
          <a:prstGeom prst="rect">
            <a:avLst/>
          </a:prstGeom>
        </p:spPr>
      </p:pic>
      <p:sp>
        <p:nvSpPr>
          <p:cNvPr id="106" name="Text 96"/>
          <p:cNvSpPr txBox="1"/>
          <p:nvPr/>
        </p:nvSpPr>
        <p:spPr>
          <a:xfrm>
            <a:off x="3721607"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Git</a:t>
            </a:r>
          </a:p>
        </p:txBody>
      </p:sp>
      <p:sp>
        <p:nvSpPr>
          <p:cNvPr id="107" name="Text 97"/>
          <p:cNvSpPr txBox="1"/>
          <p:nvPr/>
        </p:nvSpPr>
        <p:spPr>
          <a:xfrm>
            <a:off x="3493007" y="4343400"/>
            <a:ext cx="777239" cy="256032"/>
          </a:xfrm>
          <a:prstGeom prst="rect">
            <a:avLst/>
          </a:prstGeom>
          <a:noFill/>
        </p:spPr>
        <p:txBody>
          <a:bodyPr wrap="square" lIns="0" rIns="0" tIns="0" bIns="0" anchor="t">
            <a:spAutoFit/>
          </a:bodyPr>
          <a:lstStyle/>
          <a:p>
            <a:r>
              <a:rPr sz="700" b="0" i="0">
                <a:solidFill>
                  <a:srgbClr val="4D4D4D"/>
                </a:solidFill>
                <a:latin typeface="Trenda IG Text"/>
              </a:rPr>
              <a:t>Apex, LWC, tests</a:t>
            </a:r>
          </a:p>
        </p:txBody>
      </p:sp>
      <p:sp>
        <p:nvSpPr>
          <p:cNvPr id="108" name="Shape 98"/>
          <p:cNvSpPr/>
          <p:nvPr/>
        </p:nvSpPr>
        <p:spPr>
          <a:xfrm>
            <a:off x="4379975"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Shape 99"/>
          <p:cNvSpPr/>
          <p:nvPr/>
        </p:nvSpPr>
        <p:spPr>
          <a:xfrm>
            <a:off x="4453127" y="4123944"/>
            <a:ext cx="182880" cy="164592"/>
          </a:xfrm>
          <a:prstGeom prst="roundRect">
            <a:avLst>
              <a:gd name="adj" fmla="val 50000"/>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0"/>
          <p:cNvSpPr txBox="1"/>
          <p:nvPr/>
        </p:nvSpPr>
        <p:spPr>
          <a:xfrm>
            <a:off x="4453127" y="4123944"/>
            <a:ext cx="182880" cy="164592"/>
          </a:xfrm>
          <a:prstGeom prst="rect">
            <a:avLst/>
          </a:prstGeom>
          <a:noFill/>
        </p:spPr>
        <p:txBody>
          <a:bodyPr wrap="square" lIns="0" rIns="0" tIns="0" bIns="0" anchor="ctr">
            <a:spAutoFit/>
          </a:bodyPr>
          <a:lstStyle/>
          <a:p>
            <a:pPr algn="ctr"/>
            <a:r>
              <a:rPr sz="700" b="1" i="0" spc="80">
                <a:solidFill>
                  <a:srgbClr val="4D4D4D"/>
                </a:solidFill>
                <a:latin typeface="Trenda IG Text"/>
              </a:rPr>
              <a:t>Co</a:t>
            </a:r>
          </a:p>
        </p:txBody>
      </p:sp>
      <p:sp>
        <p:nvSpPr>
          <p:cNvPr id="111" name="Text 101"/>
          <p:cNvSpPr txBox="1"/>
          <p:nvPr/>
        </p:nvSpPr>
        <p:spPr>
          <a:xfrm>
            <a:off x="4681727"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Copado</a:t>
            </a:r>
          </a:p>
        </p:txBody>
      </p:sp>
      <p:sp>
        <p:nvSpPr>
          <p:cNvPr id="112" name="Text 102"/>
          <p:cNvSpPr txBox="1"/>
          <p:nvPr/>
        </p:nvSpPr>
        <p:spPr>
          <a:xfrm>
            <a:off x="4453127" y="4343400"/>
            <a:ext cx="777239" cy="256032"/>
          </a:xfrm>
          <a:prstGeom prst="rect">
            <a:avLst/>
          </a:prstGeom>
          <a:noFill/>
        </p:spPr>
        <p:txBody>
          <a:bodyPr wrap="square" lIns="0" rIns="0" tIns="0" bIns="0" anchor="t">
            <a:spAutoFit/>
          </a:bodyPr>
          <a:lstStyle/>
          <a:p>
            <a:r>
              <a:rPr sz="700" b="0" i="0">
                <a:solidFill>
                  <a:srgbClr val="4D4D4D"/>
                </a:solidFill>
                <a:latin typeface="Trenda IG Text"/>
              </a:rPr>
              <a:t>releases, test runs</a:t>
            </a:r>
          </a:p>
        </p:txBody>
      </p:sp>
      <p:sp>
        <p:nvSpPr>
          <p:cNvPr id="113" name="Shape 103"/>
          <p:cNvSpPr/>
          <p:nvPr/>
        </p:nvSpPr>
        <p:spPr>
          <a:xfrm>
            <a:off x="5340095"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4" name="Picture 113" descr="googledrive.png"/>
          <p:cNvPicPr>
            <a:picLocks noChangeAspect="1"/>
          </p:cNvPicPr>
          <p:nvPr/>
        </p:nvPicPr>
        <p:blipFill>
          <a:blip r:embed="rId8"/>
          <a:stretch>
            <a:fillRect/>
          </a:stretch>
        </p:blipFill>
        <p:spPr>
          <a:xfrm>
            <a:off x="5413247" y="4114800"/>
            <a:ext cx="182880" cy="182880"/>
          </a:xfrm>
          <a:prstGeom prst="rect">
            <a:avLst/>
          </a:prstGeom>
        </p:spPr>
      </p:pic>
      <p:sp>
        <p:nvSpPr>
          <p:cNvPr id="115" name="Text 104"/>
          <p:cNvSpPr txBox="1"/>
          <p:nvPr/>
        </p:nvSpPr>
        <p:spPr>
          <a:xfrm>
            <a:off x="5641847"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Google Drive</a:t>
            </a:r>
          </a:p>
        </p:txBody>
      </p:sp>
      <p:sp>
        <p:nvSpPr>
          <p:cNvPr id="116" name="Text 105"/>
          <p:cNvSpPr txBox="1"/>
          <p:nvPr/>
        </p:nvSpPr>
        <p:spPr>
          <a:xfrm>
            <a:off x="5413247" y="4343400"/>
            <a:ext cx="777239" cy="256032"/>
          </a:xfrm>
          <a:prstGeom prst="rect">
            <a:avLst/>
          </a:prstGeom>
          <a:noFill/>
        </p:spPr>
        <p:txBody>
          <a:bodyPr wrap="square" lIns="0" rIns="0" tIns="0" bIns="0" anchor="t">
            <a:spAutoFit/>
          </a:bodyPr>
          <a:lstStyle/>
          <a:p>
            <a:r>
              <a:rPr sz="700" b="0" i="0">
                <a:solidFill>
                  <a:srgbClr val="4D4D4D"/>
                </a:solidFill>
                <a:latin typeface="Trenda IG Text"/>
              </a:rPr>
              <a:t>specs</a:t>
            </a:r>
          </a:p>
        </p:txBody>
      </p:sp>
      <p:sp>
        <p:nvSpPr>
          <p:cNvPr id="117" name="Shape 106"/>
          <p:cNvSpPr/>
          <p:nvPr/>
        </p:nvSpPr>
        <p:spPr>
          <a:xfrm>
            <a:off x="6300215" y="4050791"/>
            <a:ext cx="886967" cy="566928"/>
          </a:xfrm>
          <a:prstGeom prst="roundRect">
            <a:avLst>
              <a:gd name="adj" fmla="val 10000"/>
            </a:avLst>
          </a:prstGeom>
          <a:solidFill>
            <a:srgbClr val="F7F7F7"/>
          </a:solidFill>
          <a:ln w="6858">
            <a:solidFill>
              <a:srgbClr val="D0D0D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8" name="Picture 117" descr="googlecloud-grey.png"/>
          <p:cNvPicPr>
            <a:picLocks noChangeAspect="1"/>
          </p:cNvPicPr>
          <p:nvPr/>
        </p:nvPicPr>
        <p:blipFill>
          <a:blip r:embed="rId9"/>
          <a:stretch>
            <a:fillRect/>
          </a:stretch>
        </p:blipFill>
        <p:spPr>
          <a:xfrm>
            <a:off x="6373367" y="4114800"/>
            <a:ext cx="182880" cy="182880"/>
          </a:xfrm>
          <a:prstGeom prst="rect">
            <a:avLst/>
          </a:prstGeom>
        </p:spPr>
      </p:pic>
      <p:sp>
        <p:nvSpPr>
          <p:cNvPr id="119" name="Text 107"/>
          <p:cNvSpPr txBox="1"/>
          <p:nvPr/>
        </p:nvSpPr>
        <p:spPr>
          <a:xfrm>
            <a:off x="6601967"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GCP data</a:t>
            </a:r>
          </a:p>
        </p:txBody>
      </p:sp>
      <p:sp>
        <p:nvSpPr>
          <p:cNvPr id="120" name="Text 108"/>
          <p:cNvSpPr txBox="1"/>
          <p:nvPr/>
        </p:nvSpPr>
        <p:spPr>
          <a:xfrm>
            <a:off x="6373367" y="4306824"/>
            <a:ext cx="777239" cy="292608"/>
          </a:xfrm>
          <a:prstGeom prst="rect">
            <a:avLst/>
          </a:prstGeom>
          <a:noFill/>
        </p:spPr>
        <p:txBody>
          <a:bodyPr wrap="square" lIns="0" rIns="0" tIns="0" bIns="0" anchor="t">
            <a:spAutoFit/>
          </a:bodyPr>
          <a:lstStyle/>
          <a:p>
            <a:r>
              <a:rPr sz="700" b="0" i="0">
                <a:solidFill>
                  <a:srgbClr val="1A1A1A"/>
                </a:solidFill>
                <a:latin typeface="Trenda IG Text"/>
              </a:rPr>
              <a:t>not needed for Health Cloud</a:t>
            </a:r>
          </a:p>
        </p:txBody>
      </p:sp>
      <p:sp>
        <p:nvSpPr>
          <p:cNvPr id="121" name="Text 109"/>
          <p:cNvSpPr txBox="1"/>
          <p:nvPr/>
        </p:nvSpPr>
        <p:spPr>
          <a:xfrm>
            <a:off x="539496" y="4709160"/>
            <a:ext cx="1188720" cy="182880"/>
          </a:xfrm>
          <a:prstGeom prst="rect">
            <a:avLst/>
          </a:prstGeom>
          <a:noFill/>
        </p:spPr>
        <p:txBody>
          <a:bodyPr wrap="square" lIns="0" rIns="0" tIns="0" bIns="0" anchor="ctr">
            <a:spAutoFit/>
          </a:bodyPr>
          <a:lstStyle/>
          <a:p>
            <a:r>
              <a:rPr sz="700" b="1" i="0" spc="150">
                <a:solidFill>
                  <a:srgbClr val="1A1A1A"/>
                </a:solidFill>
                <a:latin typeface="Trenda IG Text"/>
              </a:rPr>
              <a:t>AGENTS ASK</a:t>
            </a:r>
          </a:p>
        </p:txBody>
      </p:sp>
      <p:sp>
        <p:nvSpPr>
          <p:cNvPr id="122" name="Shape 110"/>
          <p:cNvSpPr/>
          <p:nvPr/>
        </p:nvSpPr>
        <p:spPr>
          <a:xfrm>
            <a:off x="1316736" y="4709160"/>
            <a:ext cx="804672"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 111"/>
          <p:cNvSpPr txBox="1"/>
          <p:nvPr/>
        </p:nvSpPr>
        <p:spPr>
          <a:xfrm>
            <a:off x="1316736" y="4709160"/>
            <a:ext cx="804672" cy="182880"/>
          </a:xfrm>
          <a:prstGeom prst="rect">
            <a:avLst/>
          </a:prstGeom>
          <a:noFill/>
        </p:spPr>
        <p:txBody>
          <a:bodyPr wrap="square" lIns="0" rIns="0" tIns="0" bIns="0" anchor="ctr">
            <a:spAutoFit/>
          </a:bodyPr>
          <a:lstStyle/>
          <a:p>
            <a:pPr algn="ctr"/>
            <a:r>
              <a:rPr sz="700" b="0" i="0">
                <a:solidFill>
                  <a:srgbClr val="1A1A1A"/>
                </a:solidFill>
                <a:latin typeface="Courier New"/>
              </a:rPr>
              <a:t>graph.exists</a:t>
            </a:r>
          </a:p>
        </p:txBody>
      </p:sp>
      <p:sp>
        <p:nvSpPr>
          <p:cNvPr id="124" name="Shape 112"/>
          <p:cNvSpPr/>
          <p:nvPr/>
        </p:nvSpPr>
        <p:spPr>
          <a:xfrm>
            <a:off x="2176272" y="4709160"/>
            <a:ext cx="1024127"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 113"/>
          <p:cNvSpPr txBox="1"/>
          <p:nvPr/>
        </p:nvSpPr>
        <p:spPr>
          <a:xfrm>
            <a:off x="2176272" y="4709160"/>
            <a:ext cx="1024127" cy="182880"/>
          </a:xfrm>
          <a:prstGeom prst="rect">
            <a:avLst/>
          </a:prstGeom>
          <a:noFill/>
        </p:spPr>
        <p:txBody>
          <a:bodyPr wrap="square" lIns="0" rIns="0" tIns="0" bIns="0" anchor="ctr">
            <a:spAutoFit/>
          </a:bodyPr>
          <a:lstStyle/>
          <a:p>
            <a:pPr algn="ctr"/>
            <a:r>
              <a:rPr sz="700" b="0" i="0">
                <a:solidFill>
                  <a:srgbClr val="1A1A1A"/>
                </a:solidFill>
                <a:latin typeface="Courier New"/>
              </a:rPr>
              <a:t>graph.find_reuse</a:t>
            </a:r>
          </a:p>
        </p:txBody>
      </p:sp>
      <p:sp>
        <p:nvSpPr>
          <p:cNvPr id="126" name="Shape 114"/>
          <p:cNvSpPr/>
          <p:nvPr/>
        </p:nvSpPr>
        <p:spPr>
          <a:xfrm>
            <a:off x="3255263" y="4709160"/>
            <a:ext cx="1133856"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 115"/>
          <p:cNvSpPr txBox="1"/>
          <p:nvPr/>
        </p:nvSpPr>
        <p:spPr>
          <a:xfrm>
            <a:off x="3255263" y="4709160"/>
            <a:ext cx="1133856" cy="182880"/>
          </a:xfrm>
          <a:prstGeom prst="rect">
            <a:avLst/>
          </a:prstGeom>
          <a:noFill/>
        </p:spPr>
        <p:txBody>
          <a:bodyPr wrap="square" lIns="0" rIns="0" tIns="0" bIns="0" anchor="ctr">
            <a:spAutoFit/>
          </a:bodyPr>
          <a:lstStyle/>
          <a:p>
            <a:pPr algn="ctr"/>
            <a:r>
              <a:rPr sz="700" b="0" i="0">
                <a:solidFill>
                  <a:srgbClr val="1A1A1A"/>
                </a:solidFill>
                <a:latin typeface="Courier New"/>
              </a:rPr>
              <a:t>graph.blast_radius</a:t>
            </a:r>
          </a:p>
        </p:txBody>
      </p:sp>
      <p:sp>
        <p:nvSpPr>
          <p:cNvPr id="128" name="Shape 116"/>
          <p:cNvSpPr/>
          <p:nvPr/>
        </p:nvSpPr>
        <p:spPr>
          <a:xfrm>
            <a:off x="4443983" y="4709160"/>
            <a:ext cx="804672"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17"/>
          <p:cNvSpPr txBox="1"/>
          <p:nvPr/>
        </p:nvSpPr>
        <p:spPr>
          <a:xfrm>
            <a:off x="4443983" y="4709160"/>
            <a:ext cx="804672" cy="182880"/>
          </a:xfrm>
          <a:prstGeom prst="rect">
            <a:avLst/>
          </a:prstGeom>
          <a:noFill/>
        </p:spPr>
        <p:txBody>
          <a:bodyPr wrap="square" lIns="0" rIns="0" tIns="0" bIns="0" anchor="ctr">
            <a:spAutoFit/>
          </a:bodyPr>
          <a:lstStyle/>
          <a:p>
            <a:pPr algn="ctr"/>
            <a:r>
              <a:rPr sz="700" b="0" i="0">
                <a:solidFill>
                  <a:srgbClr val="1A1A1A"/>
                </a:solidFill>
                <a:latin typeface="Courier New"/>
              </a:rPr>
              <a:t>graph.owners</a:t>
            </a:r>
          </a:p>
        </p:txBody>
      </p:sp>
      <p:sp>
        <p:nvSpPr>
          <p:cNvPr id="130" name="Shape 118"/>
          <p:cNvSpPr/>
          <p:nvPr/>
        </p:nvSpPr>
        <p:spPr>
          <a:xfrm>
            <a:off x="5303519" y="4709160"/>
            <a:ext cx="1188719"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 119"/>
          <p:cNvSpPr txBox="1"/>
          <p:nvPr/>
        </p:nvSpPr>
        <p:spPr>
          <a:xfrm>
            <a:off x="5303519" y="4709160"/>
            <a:ext cx="1188719" cy="182880"/>
          </a:xfrm>
          <a:prstGeom prst="rect">
            <a:avLst/>
          </a:prstGeom>
          <a:noFill/>
        </p:spPr>
        <p:txBody>
          <a:bodyPr wrap="square" lIns="0" rIns="0" tIns="0" bIns="0" anchor="ctr">
            <a:spAutoFit/>
          </a:bodyPr>
          <a:lstStyle/>
          <a:p>
            <a:pPr algn="ctr"/>
            <a:r>
              <a:rPr sz="700" b="0" i="0">
                <a:solidFill>
                  <a:srgbClr val="1A1A1A"/>
                </a:solidFill>
                <a:latin typeface="Courier New"/>
              </a:rPr>
              <a:t>graph.context_slice</a:t>
            </a:r>
          </a:p>
        </p:txBody>
      </p:sp>
      <p:sp>
        <p:nvSpPr>
          <p:cNvPr id="132" name="Text 120"/>
          <p:cNvSpPr txBox="1"/>
          <p:nvPr/>
        </p:nvSpPr>
        <p:spPr>
          <a:xfrm>
            <a:off x="539496" y="4965192"/>
            <a:ext cx="6629400" cy="237744"/>
          </a:xfrm>
          <a:prstGeom prst="rect">
            <a:avLst/>
          </a:prstGeom>
          <a:noFill/>
        </p:spPr>
        <p:txBody>
          <a:bodyPr wrap="square" lIns="0" rIns="0" tIns="0" bIns="0" anchor="ctr">
            <a:spAutoFit/>
          </a:bodyPr>
          <a:lstStyle/>
          <a:p>
            <a:r>
              <a:rPr sz="700" b="0" i="0">
                <a:solidFill>
                  <a:srgbClr val="4D4D4D"/>
                </a:solidFill>
                <a:latin typeface="Trenda IG Text"/>
              </a:rPr>
              <a:t>A bounded, cited context slice for each step, never a raw org dump. Agents never write queries.</a:t>
            </a:r>
          </a:p>
        </p:txBody>
      </p:sp>
      <p:cxnSp>
        <p:nvCxnSpPr>
          <p:cNvPr id="133" name="Arrow 121"/>
          <p:cNvCxnSpPr/>
          <p:nvPr/>
        </p:nvCxnSpPr>
        <p:spPr>
          <a:xfrm flipV="1">
            <a:off x="708659" y="3310128"/>
            <a:ext cx="0" cy="393192"/>
          </a:xfrm>
          <a:prstGeom prst="line">
            <a:avLst/>
          </a:prstGeom>
          <a:ln w="11430">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4" name="Arrow 122"/>
          <p:cNvCxnSpPr/>
          <p:nvPr/>
        </p:nvCxnSpPr>
        <p:spPr>
          <a:xfrm flipV="1">
            <a:off x="2921507" y="3310128"/>
            <a:ext cx="0" cy="393192"/>
          </a:xfrm>
          <a:prstGeom prst="line">
            <a:avLst/>
          </a:prstGeom>
          <a:ln w="11430">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5" name="Shape 123"/>
          <p:cNvSpPr/>
          <p:nvPr/>
        </p:nvSpPr>
        <p:spPr>
          <a:xfrm>
            <a:off x="7452360" y="3703320"/>
            <a:ext cx="4325112" cy="1572768"/>
          </a:xfrm>
          <a:prstGeom prst="roundRect">
            <a:avLst>
              <a:gd name="adj" fmla="val 5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 124"/>
          <p:cNvSpPr txBox="1"/>
          <p:nvPr/>
        </p:nvSpPr>
        <p:spPr>
          <a:xfrm>
            <a:off x="7580376" y="3758183"/>
            <a:ext cx="4050792" cy="219456"/>
          </a:xfrm>
          <a:prstGeom prst="rect">
            <a:avLst/>
          </a:prstGeom>
          <a:noFill/>
        </p:spPr>
        <p:txBody>
          <a:bodyPr wrap="square" lIns="0" rIns="0" tIns="0" bIns="0" anchor="ctr">
            <a:spAutoFit/>
          </a:bodyPr>
          <a:lstStyle/>
          <a:p>
            <a:r>
              <a:rPr sz="700" b="1" i="0" spc="150">
                <a:solidFill>
                  <a:srgbClr val="1A1A1A"/>
                </a:solidFill>
                <a:latin typeface="Trenda IG Text"/>
              </a:rPr>
              <a:t>WHERE OUTPUT LANDS</a:t>
            </a:r>
            <a:r>
              <a:rPr sz="700" b="0" i="0">
                <a:solidFill>
                  <a:srgbClr val="4D4D4D"/>
                </a:solidFill>
                <a:latin typeface="Trenda IG Text"/>
              </a:rPr>
              <a:t>   through the tool gateway</a:t>
            </a:r>
          </a:p>
        </p:txBody>
      </p:sp>
      <p:pic>
        <p:nvPicPr>
          <p:cNvPr id="137" name="Picture 136" descr="jira.png"/>
          <p:cNvPicPr>
            <a:picLocks noChangeAspect="1"/>
          </p:cNvPicPr>
          <p:nvPr/>
        </p:nvPicPr>
        <p:blipFill>
          <a:blip r:embed="rId4"/>
          <a:stretch>
            <a:fillRect/>
          </a:stretch>
        </p:blipFill>
        <p:spPr>
          <a:xfrm>
            <a:off x="7580376" y="4078224"/>
            <a:ext cx="182880" cy="182880"/>
          </a:xfrm>
          <a:prstGeom prst="rect">
            <a:avLst/>
          </a:prstGeom>
        </p:spPr>
      </p:pic>
      <p:sp>
        <p:nvSpPr>
          <p:cNvPr id="138" name="Text 125"/>
          <p:cNvSpPr txBox="1"/>
          <p:nvPr/>
        </p:nvSpPr>
        <p:spPr>
          <a:xfrm>
            <a:off x="7827264" y="4032504"/>
            <a:ext cx="1783080" cy="292608"/>
          </a:xfrm>
          <a:prstGeom prst="rect">
            <a:avLst/>
          </a:prstGeom>
          <a:noFill/>
        </p:spPr>
        <p:txBody>
          <a:bodyPr wrap="square" lIns="0" rIns="0" tIns="0" bIns="0" anchor="ctr">
            <a:spAutoFit/>
          </a:bodyPr>
          <a:lstStyle/>
          <a:p>
            <a:r>
              <a:rPr sz="700" b="1" i="0">
                <a:solidFill>
                  <a:srgbClr val="1A1A1A"/>
                </a:solidFill>
                <a:latin typeface="Trenda IG Text"/>
              </a:rPr>
              <a:t>Jira</a:t>
            </a:r>
            <a:r>
              <a:rPr sz="700" b="0" i="0">
                <a:solidFill>
                  <a:srgbClr val="4D4D4D"/>
                </a:solidFill>
                <a:latin typeface="Trenda IG Text"/>
              </a:rPr>
              <a:t>  brief, status to Done</a:t>
            </a:r>
          </a:p>
        </p:txBody>
      </p:sp>
      <p:pic>
        <p:nvPicPr>
          <p:cNvPr id="139" name="Picture 138" descr="confluence.png"/>
          <p:cNvPicPr>
            <a:picLocks noChangeAspect="1"/>
          </p:cNvPicPr>
          <p:nvPr/>
        </p:nvPicPr>
        <p:blipFill>
          <a:blip r:embed="rId5"/>
          <a:stretch>
            <a:fillRect/>
          </a:stretch>
        </p:blipFill>
        <p:spPr>
          <a:xfrm>
            <a:off x="9637776" y="4078224"/>
            <a:ext cx="182880" cy="182880"/>
          </a:xfrm>
          <a:prstGeom prst="rect">
            <a:avLst/>
          </a:prstGeom>
        </p:spPr>
      </p:pic>
      <p:sp>
        <p:nvSpPr>
          <p:cNvPr id="140" name="Text 126"/>
          <p:cNvSpPr txBox="1"/>
          <p:nvPr/>
        </p:nvSpPr>
        <p:spPr>
          <a:xfrm>
            <a:off x="9884664" y="4032504"/>
            <a:ext cx="1783080" cy="292608"/>
          </a:xfrm>
          <a:prstGeom prst="rect">
            <a:avLst/>
          </a:prstGeom>
          <a:noFill/>
        </p:spPr>
        <p:txBody>
          <a:bodyPr wrap="square" lIns="0" rIns="0" tIns="0" bIns="0" anchor="ctr">
            <a:spAutoFit/>
          </a:bodyPr>
          <a:lstStyle/>
          <a:p>
            <a:r>
              <a:rPr sz="700" b="1" i="0">
                <a:solidFill>
                  <a:srgbClr val="1A1A1A"/>
                </a:solidFill>
                <a:latin typeface="Trenda IG Text"/>
              </a:rPr>
              <a:t>Confluence</a:t>
            </a:r>
            <a:r>
              <a:rPr sz="700" b="0" i="0">
                <a:solidFill>
                  <a:srgbClr val="4D4D4D"/>
                </a:solidFill>
                <a:latin typeface="Trenda IG Text"/>
              </a:rPr>
              <a:t>  design draft, as-built</a:t>
            </a:r>
          </a:p>
        </p:txBody>
      </p:sp>
      <p:pic>
        <p:nvPicPr>
          <p:cNvPr id="141" name="Picture 140" descr="git.png"/>
          <p:cNvPicPr>
            <a:picLocks noChangeAspect="1"/>
          </p:cNvPicPr>
          <p:nvPr/>
        </p:nvPicPr>
        <p:blipFill>
          <a:blip r:embed="rId7"/>
          <a:stretch>
            <a:fillRect/>
          </a:stretch>
        </p:blipFill>
        <p:spPr>
          <a:xfrm>
            <a:off x="7580376" y="4398264"/>
            <a:ext cx="182880" cy="182880"/>
          </a:xfrm>
          <a:prstGeom prst="rect">
            <a:avLst/>
          </a:prstGeom>
        </p:spPr>
      </p:pic>
      <p:sp>
        <p:nvSpPr>
          <p:cNvPr id="142" name="Text 127"/>
          <p:cNvSpPr txBox="1"/>
          <p:nvPr/>
        </p:nvSpPr>
        <p:spPr>
          <a:xfrm>
            <a:off x="7827264" y="4352544"/>
            <a:ext cx="1783080" cy="292608"/>
          </a:xfrm>
          <a:prstGeom prst="rect">
            <a:avLst/>
          </a:prstGeom>
          <a:noFill/>
        </p:spPr>
        <p:txBody>
          <a:bodyPr wrap="square" lIns="0" rIns="0" tIns="0" bIns="0" anchor="ctr">
            <a:spAutoFit/>
          </a:bodyPr>
          <a:lstStyle/>
          <a:p>
            <a:r>
              <a:rPr sz="700" b="1" i="0">
                <a:solidFill>
                  <a:srgbClr val="1A1A1A"/>
                </a:solidFill>
                <a:latin typeface="Trenda IG Text"/>
              </a:rPr>
              <a:t>Git</a:t>
            </a:r>
            <a:r>
              <a:rPr sz="700" b="0" i="0">
                <a:solidFill>
                  <a:srgbClr val="4D4D4D"/>
                </a:solidFill>
                <a:latin typeface="Trenda IG Text"/>
              </a:rPr>
              <a:t>  branch, pull request</a:t>
            </a:r>
          </a:p>
        </p:txBody>
      </p:sp>
      <p:pic>
        <p:nvPicPr>
          <p:cNvPr id="143" name="Picture 142" descr="salesforce.png"/>
          <p:cNvPicPr>
            <a:picLocks noChangeAspect="1"/>
          </p:cNvPicPr>
          <p:nvPr/>
        </p:nvPicPr>
        <p:blipFill>
          <a:blip r:embed="rId6"/>
          <a:stretch>
            <a:fillRect/>
          </a:stretch>
        </p:blipFill>
        <p:spPr>
          <a:xfrm>
            <a:off x="9637776" y="4398264"/>
            <a:ext cx="182880" cy="182880"/>
          </a:xfrm>
          <a:prstGeom prst="rect">
            <a:avLst/>
          </a:prstGeom>
        </p:spPr>
      </p:pic>
      <p:sp>
        <p:nvSpPr>
          <p:cNvPr id="144" name="Text 128"/>
          <p:cNvSpPr txBox="1"/>
          <p:nvPr/>
        </p:nvSpPr>
        <p:spPr>
          <a:xfrm>
            <a:off x="9884664" y="4352544"/>
            <a:ext cx="1783080" cy="292608"/>
          </a:xfrm>
          <a:prstGeom prst="rect">
            <a:avLst/>
          </a:prstGeom>
          <a:noFill/>
        </p:spPr>
        <p:txBody>
          <a:bodyPr wrap="square" lIns="0" rIns="0" tIns="0" bIns="0" anchor="ctr">
            <a:spAutoFit/>
          </a:bodyPr>
          <a:lstStyle/>
          <a:p>
            <a:r>
              <a:rPr sz="700" b="1" i="0">
                <a:solidFill>
                  <a:srgbClr val="1A1A1A"/>
                </a:solidFill>
                <a:latin typeface="Trenda IG Text"/>
              </a:rPr>
              <a:t>Salesforce DEV</a:t>
            </a:r>
            <a:r>
              <a:rPr sz="700" b="0" i="0">
                <a:solidFill>
                  <a:srgbClr val="4D4D4D"/>
                </a:solidFill>
                <a:latin typeface="Trenda IG Text"/>
              </a:rPr>
              <a:t>  deploy, Apex tests</a:t>
            </a:r>
          </a:p>
        </p:txBody>
      </p:sp>
      <p:sp>
        <p:nvSpPr>
          <p:cNvPr id="145" name="Shape 129"/>
          <p:cNvSpPr/>
          <p:nvPr/>
        </p:nvSpPr>
        <p:spPr>
          <a:xfrm>
            <a:off x="7580376" y="4727448"/>
            <a:ext cx="182880" cy="164592"/>
          </a:xfrm>
          <a:prstGeom prst="roundRect">
            <a:avLst>
              <a:gd name="adj" fmla="val 50000"/>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 130"/>
          <p:cNvSpPr txBox="1"/>
          <p:nvPr/>
        </p:nvSpPr>
        <p:spPr>
          <a:xfrm>
            <a:off x="7580376" y="4727448"/>
            <a:ext cx="182880" cy="164592"/>
          </a:xfrm>
          <a:prstGeom prst="rect">
            <a:avLst/>
          </a:prstGeom>
          <a:noFill/>
        </p:spPr>
        <p:txBody>
          <a:bodyPr wrap="square" lIns="0" rIns="0" tIns="0" bIns="0" anchor="ctr">
            <a:spAutoFit/>
          </a:bodyPr>
          <a:lstStyle/>
          <a:p>
            <a:pPr algn="ctr"/>
            <a:r>
              <a:rPr sz="700" b="1" i="0" spc="80">
                <a:solidFill>
                  <a:srgbClr val="4D4D4D"/>
                </a:solidFill>
                <a:latin typeface="Trenda IG Text"/>
              </a:rPr>
              <a:t>Co</a:t>
            </a:r>
          </a:p>
        </p:txBody>
      </p:sp>
      <p:sp>
        <p:nvSpPr>
          <p:cNvPr id="147" name="Text 131"/>
          <p:cNvSpPr txBox="1"/>
          <p:nvPr/>
        </p:nvSpPr>
        <p:spPr>
          <a:xfrm>
            <a:off x="7827264" y="4672584"/>
            <a:ext cx="1783080" cy="292608"/>
          </a:xfrm>
          <a:prstGeom prst="rect">
            <a:avLst/>
          </a:prstGeom>
          <a:noFill/>
        </p:spPr>
        <p:txBody>
          <a:bodyPr wrap="square" lIns="0" rIns="0" tIns="0" bIns="0" anchor="ctr">
            <a:spAutoFit/>
          </a:bodyPr>
          <a:lstStyle/>
          <a:p>
            <a:r>
              <a:rPr sz="700" b="1" i="0">
                <a:solidFill>
                  <a:srgbClr val="1A1A1A"/>
                </a:solidFill>
                <a:latin typeface="Trenda IG Text"/>
              </a:rPr>
              <a:t>Copado</a:t>
            </a:r>
            <a:r>
              <a:rPr sz="700" b="0" i="0">
                <a:solidFill>
                  <a:srgbClr val="4D4D4D"/>
                </a:solidFill>
                <a:latin typeface="Trenda IG Text"/>
              </a:rPr>
              <a:t>  SIT, then UAT</a:t>
            </a:r>
          </a:p>
        </p:txBody>
      </p:sp>
      <p:sp>
        <p:nvSpPr>
          <p:cNvPr id="148" name="Shape 132"/>
          <p:cNvSpPr/>
          <p:nvPr/>
        </p:nvSpPr>
        <p:spPr>
          <a:xfrm>
            <a:off x="9637776" y="4727448"/>
            <a:ext cx="182880" cy="164592"/>
          </a:xfrm>
          <a:prstGeom prst="roundRect">
            <a:avLst>
              <a:gd name="adj" fmla="val 50000"/>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Text 133"/>
          <p:cNvSpPr txBox="1"/>
          <p:nvPr/>
        </p:nvSpPr>
        <p:spPr>
          <a:xfrm>
            <a:off x="9637776" y="4727448"/>
            <a:ext cx="182880" cy="164592"/>
          </a:xfrm>
          <a:prstGeom prst="rect">
            <a:avLst/>
          </a:prstGeom>
          <a:noFill/>
        </p:spPr>
        <p:txBody>
          <a:bodyPr wrap="square" lIns="0" rIns="0" tIns="0" bIns="0" anchor="ctr">
            <a:spAutoFit/>
          </a:bodyPr>
          <a:lstStyle/>
          <a:p>
            <a:pPr algn="ctr"/>
            <a:r>
              <a:rPr sz="700" b="1" i="0" spc="80">
                <a:solidFill>
                  <a:srgbClr val="4D4D4D"/>
                </a:solidFill>
                <a:latin typeface="Trenda IG Text"/>
              </a:rPr>
              <a:t>ZS</a:t>
            </a:r>
          </a:p>
        </p:txBody>
      </p:sp>
      <p:sp>
        <p:nvSpPr>
          <p:cNvPr id="150" name="Text 134"/>
          <p:cNvSpPr txBox="1"/>
          <p:nvPr/>
        </p:nvSpPr>
        <p:spPr>
          <a:xfrm>
            <a:off x="9884664" y="4672584"/>
            <a:ext cx="1783080" cy="292608"/>
          </a:xfrm>
          <a:prstGeom prst="rect">
            <a:avLst/>
          </a:prstGeom>
          <a:noFill/>
        </p:spPr>
        <p:txBody>
          <a:bodyPr wrap="square" lIns="0" rIns="0" tIns="0" bIns="0" anchor="ctr">
            <a:spAutoFit/>
          </a:bodyPr>
          <a:lstStyle/>
          <a:p>
            <a:r>
              <a:rPr sz="700" b="1" i="0">
                <a:solidFill>
                  <a:srgbClr val="1A1A1A"/>
                </a:solidFill>
                <a:latin typeface="Trenda IG Text"/>
              </a:rPr>
              <a:t>Zephyr Scale</a:t>
            </a:r>
            <a:r>
              <a:rPr sz="700" b="0" i="0">
                <a:solidFill>
                  <a:srgbClr val="4D4D4D"/>
                </a:solidFill>
                <a:latin typeface="Trenda IG Text"/>
              </a:rPr>
              <a:t>  cases, results</a:t>
            </a:r>
          </a:p>
        </p:txBody>
      </p:sp>
      <p:sp>
        <p:nvSpPr>
          <p:cNvPr id="151" name="Text 135"/>
          <p:cNvSpPr txBox="1"/>
          <p:nvPr/>
        </p:nvSpPr>
        <p:spPr>
          <a:xfrm>
            <a:off x="7580376" y="5001768"/>
            <a:ext cx="4050792" cy="201168"/>
          </a:xfrm>
          <a:prstGeom prst="rect">
            <a:avLst/>
          </a:prstGeom>
          <a:noFill/>
        </p:spPr>
        <p:txBody>
          <a:bodyPr wrap="square" lIns="0" rIns="0" tIns="0" bIns="0" anchor="ctr">
            <a:spAutoFit/>
          </a:bodyPr>
          <a:lstStyle/>
          <a:p>
            <a:r>
              <a:rPr sz="700" b="1" i="0">
                <a:solidFill>
                  <a:srgbClr val="1A1A1A"/>
                </a:solidFill>
                <a:latin typeface="Trenda IG Text"/>
              </a:rPr>
              <a:t>Production: the owning team's pipeline after CAB. No agent path.</a:t>
            </a:r>
          </a:p>
        </p:txBody>
      </p:sp>
      <p:sp>
        <p:nvSpPr>
          <p:cNvPr id="152" name="Shape 136"/>
          <p:cNvSpPr/>
          <p:nvPr/>
        </p:nvSpPr>
        <p:spPr>
          <a:xfrm>
            <a:off x="393192" y="5422392"/>
            <a:ext cx="3733799" cy="813816"/>
          </a:xfrm>
          <a:prstGeom prst="rect">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52" name="Shape 136"/>
          <p:cNvSpPr/>
          <p:nvPr/>
        </p:nvSpPr>
        <p:spPr>
          <a:xfrm>
            <a:off x="411480" y="5440680"/>
            <a:ext cx="3697223" cy="777240"/>
          </a:xfrm>
          <a:prstGeom prst="rect">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Shape 137"/>
          <p:cNvSpPr/>
          <p:nvPr/>
        </p:nvSpPr>
        <p:spPr>
          <a:xfrm>
            <a:off x="411480" y="5440680"/>
            <a:ext cx="54864" cy="7772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 138"/>
          <p:cNvSpPr txBox="1"/>
          <p:nvPr/>
        </p:nvSpPr>
        <p:spPr>
          <a:xfrm>
            <a:off x="612648" y="5513832"/>
            <a:ext cx="3422904" cy="365760"/>
          </a:xfrm>
          <a:prstGeom prst="rect">
            <a:avLst/>
          </a:prstGeom>
          <a:noFill/>
        </p:spPr>
        <p:txBody>
          <a:bodyPr wrap="square" lIns="0" rIns="0" tIns="0" bIns="0" anchor="ctr">
            <a:spAutoFit/>
          </a:bodyPr>
          <a:lstStyle/>
          <a:p>
            <a:r>
              <a:rPr sz="1400" b="0" i="0">
                <a:solidFill>
                  <a:srgbClr val="1A1A1A"/>
                </a:solidFill>
                <a:latin typeface="Trenda IG Text"/>
              </a:rPr>
              <a:t>~2 weeks → ~2 days</a:t>
            </a:r>
          </a:p>
        </p:txBody>
      </p:sp>
      <p:sp>
        <p:nvSpPr>
          <p:cNvPr id="155" name="Text 139"/>
          <p:cNvSpPr txBox="1"/>
          <p:nvPr/>
        </p:nvSpPr>
        <p:spPr>
          <a:xfrm>
            <a:off x="612648" y="5879592"/>
            <a:ext cx="3422904" cy="274320"/>
          </a:xfrm>
          <a:prstGeom prst="rect">
            <a:avLst/>
          </a:prstGeom>
          <a:noFill/>
        </p:spPr>
        <p:txBody>
          <a:bodyPr wrap="square" lIns="0" rIns="0" tIns="0" bIns="0" anchor="ctr">
            <a:spAutoFit/>
          </a:bodyPr>
          <a:lstStyle/>
          <a:p>
            <a:r>
              <a:rPr sz="700" b="0" i="0">
                <a:solidFill>
                  <a:srgbClr val="4D4D4D"/>
                </a:solidFill>
                <a:latin typeface="Trenda IG Text"/>
              </a:rPr>
              <a:t>per Health Cloud task, story to UAT</a:t>
            </a:r>
          </a:p>
        </p:txBody>
      </p:sp>
      <p:sp>
        <p:nvSpPr>
          <p:cNvPr id="156" name="Shape 140"/>
          <p:cNvSpPr/>
          <p:nvPr/>
        </p:nvSpPr>
        <p:spPr>
          <a:xfrm>
            <a:off x="4227576" y="5422392"/>
            <a:ext cx="3733799" cy="813816"/>
          </a:xfrm>
          <a:prstGeom prst="rect">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56" name="Shape 140"/>
          <p:cNvSpPr/>
          <p:nvPr/>
        </p:nvSpPr>
        <p:spPr>
          <a:xfrm>
            <a:off x="4245864" y="5440680"/>
            <a:ext cx="3697223" cy="777240"/>
          </a:xfrm>
          <a:prstGeom prst="rect">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Shape 141"/>
          <p:cNvSpPr/>
          <p:nvPr/>
        </p:nvSpPr>
        <p:spPr>
          <a:xfrm>
            <a:off x="4245864" y="5440680"/>
            <a:ext cx="54864" cy="7772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 142"/>
          <p:cNvSpPr txBox="1"/>
          <p:nvPr/>
        </p:nvSpPr>
        <p:spPr>
          <a:xfrm>
            <a:off x="4447032" y="5513832"/>
            <a:ext cx="3422904" cy="365760"/>
          </a:xfrm>
          <a:prstGeom prst="rect">
            <a:avLst/>
          </a:prstGeom>
          <a:noFill/>
        </p:spPr>
        <p:txBody>
          <a:bodyPr wrap="square" lIns="0" rIns="0" tIns="0" bIns="0" anchor="ctr">
            <a:spAutoFit/>
          </a:bodyPr>
          <a:lstStyle/>
          <a:p>
            <a:r>
              <a:rPr sz="1400" b="0" i="0">
                <a:solidFill>
                  <a:srgbClr val="1A1A1A"/>
                </a:solidFill>
                <a:latin typeface="Trenda IG Text"/>
              </a:rPr>
              <a:t>People approve</a:t>
            </a:r>
          </a:p>
        </p:txBody>
      </p:sp>
      <p:sp>
        <p:nvSpPr>
          <p:cNvPr id="159" name="Text 143"/>
          <p:cNvSpPr txBox="1"/>
          <p:nvPr/>
        </p:nvSpPr>
        <p:spPr>
          <a:xfrm>
            <a:off x="4447032" y="5879592"/>
            <a:ext cx="3422904" cy="274320"/>
          </a:xfrm>
          <a:prstGeom prst="rect">
            <a:avLst/>
          </a:prstGeom>
          <a:noFill/>
        </p:spPr>
        <p:txBody>
          <a:bodyPr wrap="square" lIns="0" rIns="0" tIns="0" bIns="0" anchor="ctr">
            <a:spAutoFit/>
          </a:bodyPr>
          <a:lstStyle/>
          <a:p>
            <a:r>
              <a:rPr sz="700" b="0" i="0">
                <a:solidFill>
                  <a:srgbClr val="4D4D4D"/>
                </a:solidFill>
                <a:latin typeface="Trenda IG Text"/>
              </a:rPr>
              <a:t>H1, H2, H3, H4 and CAB, as today</a:t>
            </a:r>
          </a:p>
        </p:txBody>
      </p:sp>
      <p:sp>
        <p:nvSpPr>
          <p:cNvPr id="160" name="Shape 144"/>
          <p:cNvSpPr/>
          <p:nvPr/>
        </p:nvSpPr>
        <p:spPr>
          <a:xfrm>
            <a:off x="8061959" y="5422392"/>
            <a:ext cx="3733799" cy="813816"/>
          </a:xfrm>
          <a:prstGeom prst="rect">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60" name="Shape 144"/>
          <p:cNvSpPr/>
          <p:nvPr/>
        </p:nvSpPr>
        <p:spPr>
          <a:xfrm>
            <a:off x="8080247" y="5440680"/>
            <a:ext cx="3697223" cy="777240"/>
          </a:xfrm>
          <a:prstGeom prst="rect">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Shape 145"/>
          <p:cNvSpPr/>
          <p:nvPr/>
        </p:nvSpPr>
        <p:spPr>
          <a:xfrm>
            <a:off x="8080247" y="5440680"/>
            <a:ext cx="54864" cy="7772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 146"/>
          <p:cNvSpPr txBox="1"/>
          <p:nvPr/>
        </p:nvSpPr>
        <p:spPr>
          <a:xfrm>
            <a:off x="8281416" y="5513832"/>
            <a:ext cx="3422904" cy="365760"/>
          </a:xfrm>
          <a:prstGeom prst="rect">
            <a:avLst/>
          </a:prstGeom>
          <a:noFill/>
        </p:spPr>
        <p:txBody>
          <a:bodyPr wrap="square" lIns="0" rIns="0" tIns="0" bIns="0" anchor="ctr">
            <a:spAutoFit/>
          </a:bodyPr>
          <a:lstStyle/>
          <a:p>
            <a:r>
              <a:rPr sz="1400" b="0" i="0">
                <a:solidFill>
                  <a:srgbClr val="1A1A1A"/>
                </a:solidFill>
                <a:latin typeface="Trenda IG Text"/>
              </a:rPr>
              <a:t>Change passport</a:t>
            </a:r>
          </a:p>
        </p:txBody>
      </p:sp>
      <p:sp>
        <p:nvSpPr>
          <p:cNvPr id="163" name="Text 147"/>
          <p:cNvSpPr txBox="1"/>
          <p:nvPr/>
        </p:nvSpPr>
        <p:spPr>
          <a:xfrm>
            <a:off x="8281416" y="5879592"/>
            <a:ext cx="3422904" cy="274320"/>
          </a:xfrm>
          <a:prstGeom prst="rect">
            <a:avLst/>
          </a:prstGeom>
          <a:noFill/>
        </p:spPr>
        <p:txBody>
          <a:bodyPr wrap="square" lIns="0" rIns="0" tIns="0" bIns="0" anchor="ctr">
            <a:spAutoFit/>
          </a:bodyPr>
          <a:lstStyle/>
          <a:p>
            <a:r>
              <a:rPr sz="700" b="0" i="0">
                <a:solidFill>
                  <a:srgbClr val="4D4D4D"/>
                </a:solidFill>
                <a:latin typeface="Trenda IG Text"/>
              </a:rPr>
              <a:t>every step, approval and test recorded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hape 1"/>
          <p:cNvSpPr/>
          <p:nvPr/>
        </p:nvSpPr>
        <p:spPr>
          <a:xfrm>
            <a:off x="822960" y="1965960"/>
            <a:ext cx="1645920" cy="7315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 2"/>
          <p:cNvSpPr txBox="1"/>
          <p:nvPr/>
        </p:nvSpPr>
        <p:spPr>
          <a:xfrm>
            <a:off x="822960" y="2194560"/>
            <a:ext cx="10515600" cy="329184"/>
          </a:xfrm>
          <a:prstGeom prst="rect">
            <a:avLst/>
          </a:prstGeom>
          <a:noFill/>
        </p:spPr>
        <p:txBody>
          <a:bodyPr wrap="square" lIns="0" rIns="0" tIns="0" bIns="0" anchor="ctr">
            <a:spAutoFit/>
          </a:bodyPr>
          <a:lstStyle/>
          <a:p>
            <a:r>
              <a:rPr sz="1200" b="1" i="0" spc="300">
                <a:solidFill>
                  <a:srgbClr val="0089A0"/>
                </a:solidFill>
                <a:latin typeface="Trenda IG Text"/>
              </a:rPr>
              <a:t>MARKETING CLOUD CAMPAIGNS</a:t>
            </a:r>
          </a:p>
        </p:txBody>
      </p:sp>
      <p:sp>
        <p:nvSpPr>
          <p:cNvPr id="4" name="Text 3"/>
          <p:cNvSpPr txBox="1"/>
          <p:nvPr/>
        </p:nvSpPr>
        <p:spPr>
          <a:xfrm>
            <a:off x="822960" y="2606040"/>
            <a:ext cx="10515600" cy="1371600"/>
          </a:xfrm>
          <a:prstGeom prst="rect">
            <a:avLst/>
          </a:prstGeom>
          <a:noFill/>
        </p:spPr>
        <p:txBody>
          <a:bodyPr wrap="square" lIns="0" rIns="0" tIns="0" bIns="0" anchor="t">
            <a:spAutoFit/>
          </a:bodyPr>
          <a:lstStyle/>
          <a:p>
            <a:pPr>
              <a:lnSpc>
                <a:spcPct val="95000"/>
              </a:lnSpc>
            </a:pPr>
            <a:r>
              <a:rPr sz="4000" b="1" i="0">
                <a:solidFill>
                  <a:srgbClr val="1A1A1A"/>
                </a:solidFill>
                <a:latin typeface="Trenda IG Text"/>
              </a:rPr>
              <a:t>HIPAA-Aligned Agentic Healthcare Campaign Platform</a:t>
            </a:r>
          </a:p>
        </p:txBody>
      </p:sp>
      <p:sp>
        <p:nvSpPr>
          <p:cNvPr id="5" name="Text 4"/>
          <p:cNvSpPr txBox="1"/>
          <p:nvPr/>
        </p:nvSpPr>
        <p:spPr>
          <a:xfrm>
            <a:off x="822960" y="4069080"/>
            <a:ext cx="8686800" cy="731520"/>
          </a:xfrm>
          <a:prstGeom prst="rect">
            <a:avLst/>
          </a:prstGeom>
          <a:noFill/>
        </p:spPr>
        <p:txBody>
          <a:bodyPr wrap="square" lIns="0" rIns="0" tIns="0" bIns="0" anchor="t">
            <a:spAutoFit/>
          </a:bodyPr>
          <a:lstStyle/>
          <a:p>
            <a:r>
              <a:rPr sz="1500" b="0" i="0">
                <a:solidFill>
                  <a:srgbClr val="555555"/>
                </a:solidFill>
                <a:latin typeface="Trenda IG Text"/>
              </a:rPr>
              <a:t>Governed data in Google Cloud, agents on masked data, approved patients released to Marketing Cloud. Proposed target state.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AGENTIC HEALTHCARE CAMPAIGN PLATFORM · PHI GOVERNANCE</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Classification and approval stay. Masking alone is not HIPAA compliance.</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Column masking controls who sees a value. It does not by itself give safe de-identification, permitted use, tenant isolation or complete HIPAA controls, so we add all four.</a:t>
            </a:r>
          </a:p>
        </p:txBody>
      </p:sp>
      <p:sp>
        <p:nvSpPr>
          <p:cNvPr id="5" name="Text 4"/>
          <p:cNvSpPr txBox="1"/>
          <p:nvPr/>
        </p:nvSpPr>
        <p:spPr>
          <a:xfrm>
            <a:off x="411480" y="1188720"/>
            <a:ext cx="4572000" cy="201168"/>
          </a:xfrm>
          <a:prstGeom prst="rect">
            <a:avLst/>
          </a:prstGeom>
          <a:noFill/>
        </p:spPr>
        <p:txBody>
          <a:bodyPr wrap="square" lIns="0" rIns="0" tIns="0" bIns="0" anchor="ctr">
            <a:spAutoFit/>
          </a:bodyPr>
          <a:lstStyle/>
          <a:p>
            <a:r>
              <a:rPr sz="700" b="1" i="0" spc="120">
                <a:solidFill>
                  <a:srgbClr val="1A1A1A"/>
                </a:solidFill>
                <a:latin typeface="Trenda IG Text"/>
              </a:rPr>
              <a:t>TODAY'S FLOW STAYS, WITH STATUS</a:t>
            </a:r>
          </a:p>
        </p:txBody>
      </p:sp>
      <p:sp>
        <p:nvSpPr>
          <p:cNvPr id="6" name="Shape 5"/>
          <p:cNvSpPr/>
          <p:nvPr/>
        </p:nvSpPr>
        <p:spPr>
          <a:xfrm>
            <a:off x="411480" y="1463040"/>
            <a:ext cx="6537959" cy="5120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hape 6"/>
          <p:cNvSpPr/>
          <p:nvPr/>
        </p:nvSpPr>
        <p:spPr>
          <a:xfrm>
            <a:off x="411480" y="1463040"/>
            <a:ext cx="1097280" cy="51206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ople.png"/>
          <p:cNvPicPr>
            <a:picLocks noChangeAspect="1"/>
          </p:cNvPicPr>
          <p:nvPr/>
        </p:nvPicPr>
        <p:blipFill>
          <a:blip r:embed="rId2"/>
          <a:stretch>
            <a:fillRect/>
          </a:stretch>
        </p:blipFill>
        <p:spPr>
          <a:xfrm>
            <a:off x="466344" y="1636776"/>
            <a:ext cx="164592" cy="164592"/>
          </a:xfrm>
          <a:prstGeom prst="rect">
            <a:avLst/>
          </a:prstGeom>
        </p:spPr>
      </p:pic>
      <p:sp>
        <p:nvSpPr>
          <p:cNvPr id="9" name="Text 7"/>
          <p:cNvSpPr txBox="1"/>
          <p:nvPr/>
        </p:nvSpPr>
        <p:spPr>
          <a:xfrm>
            <a:off x="685800" y="1463040"/>
            <a:ext cx="804672" cy="512064"/>
          </a:xfrm>
          <a:prstGeom prst="rect">
            <a:avLst/>
          </a:prstGeom>
          <a:noFill/>
        </p:spPr>
        <p:txBody>
          <a:bodyPr wrap="square" lIns="0" rIns="0" tIns="0" bIns="0" anchor="ctr">
            <a:spAutoFit/>
          </a:bodyPr>
          <a:lstStyle/>
          <a:p>
            <a:r>
              <a:rPr sz="700" b="1" i="0">
                <a:solidFill>
                  <a:srgbClr val="1A1A1A"/>
                </a:solidFill>
                <a:latin typeface="Trenda IG Text"/>
              </a:rPr>
              <a:t>REVIEW</a:t>
            </a:r>
          </a:p>
          <a:p>
            <a:r>
              <a:rPr sz="700" b="0" i="0">
                <a:solidFill>
                  <a:srgbClr val="6B6B6B"/>
                </a:solidFill>
                <a:latin typeface="Courier New"/>
              </a:rPr>
              <a:t>Collibra</a:t>
            </a:r>
          </a:p>
        </p:txBody>
      </p:sp>
      <p:sp>
        <p:nvSpPr>
          <p:cNvPr id="10" name="Shape 8"/>
          <p:cNvSpPr/>
          <p:nvPr/>
        </p:nvSpPr>
        <p:spPr>
          <a:xfrm>
            <a:off x="411480" y="2020824"/>
            <a:ext cx="6537959" cy="5120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hape 9"/>
          <p:cNvSpPr/>
          <p:nvPr/>
        </p:nvSpPr>
        <p:spPr>
          <a:xfrm>
            <a:off x="411480" y="2020824"/>
            <a:ext cx="1097280" cy="51206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ooglecloud.png"/>
          <p:cNvPicPr>
            <a:picLocks noChangeAspect="1"/>
          </p:cNvPicPr>
          <p:nvPr/>
        </p:nvPicPr>
        <p:blipFill>
          <a:blip r:embed="rId3"/>
          <a:stretch>
            <a:fillRect/>
          </a:stretch>
        </p:blipFill>
        <p:spPr>
          <a:xfrm>
            <a:off x="466344" y="2194560"/>
            <a:ext cx="164592" cy="164592"/>
          </a:xfrm>
          <a:prstGeom prst="rect">
            <a:avLst/>
          </a:prstGeom>
        </p:spPr>
      </p:pic>
      <p:sp>
        <p:nvSpPr>
          <p:cNvPr id="13" name="Text 10"/>
          <p:cNvSpPr txBox="1"/>
          <p:nvPr/>
        </p:nvSpPr>
        <p:spPr>
          <a:xfrm>
            <a:off x="685800" y="2020824"/>
            <a:ext cx="804672" cy="512064"/>
          </a:xfrm>
          <a:prstGeom prst="rect">
            <a:avLst/>
          </a:prstGeom>
          <a:noFill/>
        </p:spPr>
        <p:txBody>
          <a:bodyPr wrap="square" lIns="0" rIns="0" tIns="0" bIns="0" anchor="ctr">
            <a:spAutoFit/>
          </a:bodyPr>
          <a:lstStyle/>
          <a:p>
            <a:r>
              <a:rPr sz="700" b="1" i="0">
                <a:solidFill>
                  <a:srgbClr val="1A1A1A"/>
                </a:solidFill>
                <a:latin typeface="Trenda IG Text"/>
              </a:rPr>
              <a:t>GOVERNANCE</a:t>
            </a:r>
          </a:p>
          <a:p>
            <a:r>
              <a:rPr sz="700" b="0" i="0">
                <a:solidFill>
                  <a:srgbClr val="6B6B6B"/>
                </a:solidFill>
                <a:latin typeface="Courier New"/>
              </a:rPr>
              <a:t>datarepository</a:t>
            </a:r>
          </a:p>
        </p:txBody>
      </p:sp>
      <p:sp>
        <p:nvSpPr>
          <p:cNvPr id="14" name="Shape 11"/>
          <p:cNvSpPr/>
          <p:nvPr/>
        </p:nvSpPr>
        <p:spPr>
          <a:xfrm>
            <a:off x="411480" y="2578608"/>
            <a:ext cx="6537959" cy="5120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hape 12"/>
          <p:cNvSpPr/>
          <p:nvPr/>
        </p:nvSpPr>
        <p:spPr>
          <a:xfrm>
            <a:off x="411480" y="2578608"/>
            <a:ext cx="1097280" cy="51206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ooglecloud.png"/>
          <p:cNvPicPr>
            <a:picLocks noChangeAspect="1"/>
          </p:cNvPicPr>
          <p:nvPr/>
        </p:nvPicPr>
        <p:blipFill>
          <a:blip r:embed="rId3"/>
          <a:stretch>
            <a:fillRect/>
          </a:stretch>
        </p:blipFill>
        <p:spPr>
          <a:xfrm>
            <a:off x="466344" y="2752344"/>
            <a:ext cx="164592" cy="164592"/>
          </a:xfrm>
          <a:prstGeom prst="rect">
            <a:avLst/>
          </a:prstGeom>
        </p:spPr>
      </p:pic>
      <p:sp>
        <p:nvSpPr>
          <p:cNvPr id="17" name="Text 13"/>
          <p:cNvSpPr txBox="1"/>
          <p:nvPr/>
        </p:nvSpPr>
        <p:spPr>
          <a:xfrm>
            <a:off x="685800" y="2578608"/>
            <a:ext cx="804672" cy="512064"/>
          </a:xfrm>
          <a:prstGeom prst="rect">
            <a:avLst/>
          </a:prstGeom>
          <a:noFill/>
        </p:spPr>
        <p:txBody>
          <a:bodyPr wrap="square" lIns="0" rIns="0" tIns="0" bIns="0" anchor="ctr">
            <a:spAutoFit/>
          </a:bodyPr>
          <a:lstStyle/>
          <a:p>
            <a:r>
              <a:rPr sz="700" b="1" i="0">
                <a:solidFill>
                  <a:srgbClr val="1A1A1A"/>
                </a:solidFill>
                <a:latin typeface="Trenda IG Text"/>
              </a:rPr>
              <a:t>COMPUTE</a:t>
            </a:r>
          </a:p>
          <a:p>
            <a:r>
              <a:rPr sz="700" b="0" i="0">
                <a:solidFill>
                  <a:srgbClr val="6B6B6B"/>
                </a:solidFill>
                <a:latin typeface="Courier New"/>
              </a:rPr>
              <a:t>datalake</a:t>
            </a:r>
          </a:p>
        </p:txBody>
      </p:sp>
      <p:sp>
        <p:nvSpPr>
          <p:cNvPr id="18" name="Shape 14"/>
          <p:cNvSpPr/>
          <p:nvPr/>
        </p:nvSpPr>
        <p:spPr>
          <a:xfrm>
            <a:off x="411480" y="3136392"/>
            <a:ext cx="6537959" cy="5120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hape 15"/>
          <p:cNvSpPr/>
          <p:nvPr/>
        </p:nvSpPr>
        <p:spPr>
          <a:xfrm>
            <a:off x="411480" y="3136392"/>
            <a:ext cx="1097280" cy="51206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googlecloud.png"/>
          <p:cNvPicPr>
            <a:picLocks noChangeAspect="1"/>
          </p:cNvPicPr>
          <p:nvPr/>
        </p:nvPicPr>
        <p:blipFill>
          <a:blip r:embed="rId3"/>
          <a:stretch>
            <a:fillRect/>
          </a:stretch>
        </p:blipFill>
        <p:spPr>
          <a:xfrm>
            <a:off x="466344" y="3310128"/>
            <a:ext cx="164592" cy="164592"/>
          </a:xfrm>
          <a:prstGeom prst="rect">
            <a:avLst/>
          </a:prstGeom>
        </p:spPr>
      </p:pic>
      <p:sp>
        <p:nvSpPr>
          <p:cNvPr id="21" name="Text 16"/>
          <p:cNvSpPr txBox="1"/>
          <p:nvPr/>
        </p:nvSpPr>
        <p:spPr>
          <a:xfrm>
            <a:off x="685800" y="3136392"/>
            <a:ext cx="804672" cy="512064"/>
          </a:xfrm>
          <a:prstGeom prst="rect">
            <a:avLst/>
          </a:prstGeom>
          <a:noFill/>
        </p:spPr>
        <p:txBody>
          <a:bodyPr wrap="square" lIns="0" rIns="0" tIns="0" bIns="0" anchor="ctr">
            <a:spAutoFit/>
          </a:bodyPr>
          <a:lstStyle/>
          <a:p>
            <a:r>
              <a:rPr sz="700" b="1" i="0">
                <a:solidFill>
                  <a:srgbClr val="1A1A1A"/>
                </a:solidFill>
                <a:latin typeface="Trenda IG Text"/>
              </a:rPr>
              <a:t>TARGET</a:t>
            </a:r>
          </a:p>
          <a:p>
            <a:r>
              <a:rPr sz="700" b="0" i="0">
                <a:solidFill>
                  <a:srgbClr val="6B6B6B"/>
                </a:solidFill>
                <a:latin typeface="Courier New"/>
              </a:rPr>
              <a:t>dataplace</a:t>
            </a:r>
          </a:p>
        </p:txBody>
      </p:sp>
      <p:cxnSp>
        <p:nvCxnSpPr>
          <p:cNvPr id="22" name="Arrow 17"/>
          <p:cNvCxnSpPr/>
          <p:nvPr/>
        </p:nvCxnSpPr>
        <p:spPr>
          <a:xfrm>
            <a:off x="2386584" y="2276856"/>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23" name="Arrow 18"/>
          <p:cNvCxnSpPr/>
          <p:nvPr/>
        </p:nvCxnSpPr>
        <p:spPr>
          <a:xfrm flipV="1">
            <a:off x="2423160" y="1719072"/>
            <a:ext cx="0" cy="557784"/>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24" name="Arrow 19"/>
          <p:cNvCxnSpPr/>
          <p:nvPr/>
        </p:nvCxnSpPr>
        <p:spPr>
          <a:xfrm>
            <a:off x="2423160" y="1719072"/>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Arrow 20"/>
          <p:cNvCxnSpPr/>
          <p:nvPr/>
        </p:nvCxnSpPr>
        <p:spPr>
          <a:xfrm>
            <a:off x="3282696" y="1719072"/>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26" name="Arrow 21"/>
          <p:cNvCxnSpPr/>
          <p:nvPr/>
        </p:nvCxnSpPr>
        <p:spPr>
          <a:xfrm>
            <a:off x="3319272" y="1719072"/>
            <a:ext cx="0" cy="557784"/>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27" name="Arrow 22"/>
          <p:cNvCxnSpPr/>
          <p:nvPr/>
        </p:nvCxnSpPr>
        <p:spPr>
          <a:xfrm>
            <a:off x="3319272" y="2276856"/>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rrow 23"/>
          <p:cNvCxnSpPr/>
          <p:nvPr/>
        </p:nvCxnSpPr>
        <p:spPr>
          <a:xfrm>
            <a:off x="4178808" y="2276856"/>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29" name="Arrow 24"/>
          <p:cNvCxnSpPr/>
          <p:nvPr/>
        </p:nvCxnSpPr>
        <p:spPr>
          <a:xfrm>
            <a:off x="4215384" y="2276856"/>
            <a:ext cx="0" cy="557784"/>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0" name="Arrow 25"/>
          <p:cNvCxnSpPr/>
          <p:nvPr/>
        </p:nvCxnSpPr>
        <p:spPr>
          <a:xfrm>
            <a:off x="4215384" y="2834640"/>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Arrow 26"/>
          <p:cNvCxnSpPr/>
          <p:nvPr/>
        </p:nvCxnSpPr>
        <p:spPr>
          <a:xfrm>
            <a:off x="4178808" y="2834640"/>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2" name="Arrow 27"/>
          <p:cNvCxnSpPr/>
          <p:nvPr/>
        </p:nvCxnSpPr>
        <p:spPr>
          <a:xfrm>
            <a:off x="4215384" y="2834640"/>
            <a:ext cx="0"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3" name="Arrow 28"/>
          <p:cNvCxnSpPr/>
          <p:nvPr/>
        </p:nvCxnSpPr>
        <p:spPr>
          <a:xfrm>
            <a:off x="4215384" y="2834640"/>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Arrow 29"/>
          <p:cNvCxnSpPr/>
          <p:nvPr/>
        </p:nvCxnSpPr>
        <p:spPr>
          <a:xfrm>
            <a:off x="5074920" y="2834640"/>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5" name="Arrow 30"/>
          <p:cNvCxnSpPr/>
          <p:nvPr/>
        </p:nvCxnSpPr>
        <p:spPr>
          <a:xfrm>
            <a:off x="5111496" y="2834640"/>
            <a:ext cx="0" cy="557784"/>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6" name="Arrow 31"/>
          <p:cNvCxnSpPr/>
          <p:nvPr/>
        </p:nvCxnSpPr>
        <p:spPr>
          <a:xfrm>
            <a:off x="5111496" y="3392424"/>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Arrow 32"/>
          <p:cNvCxnSpPr/>
          <p:nvPr/>
        </p:nvCxnSpPr>
        <p:spPr>
          <a:xfrm>
            <a:off x="5971032" y="3392424"/>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8" name="Arrow 33"/>
          <p:cNvCxnSpPr/>
          <p:nvPr/>
        </p:nvCxnSpPr>
        <p:spPr>
          <a:xfrm flipV="1">
            <a:off x="6007608" y="2276856"/>
            <a:ext cx="0" cy="1115568"/>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9" name="Arrow 34"/>
          <p:cNvCxnSpPr/>
          <p:nvPr/>
        </p:nvCxnSpPr>
        <p:spPr>
          <a:xfrm>
            <a:off x="6007608" y="2276856"/>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Arrow 35"/>
          <p:cNvCxnSpPr/>
          <p:nvPr/>
        </p:nvCxnSpPr>
        <p:spPr>
          <a:xfrm>
            <a:off x="4178808" y="2386584"/>
            <a:ext cx="1380744" cy="0"/>
          </a:xfrm>
          <a:prstGeom prst="line">
            <a:avLst/>
          </a:prstGeom>
          <a:ln w="9525">
            <a:solidFill>
              <a:srgbClr val="D0D0D0"/>
            </a:solidFill>
            <a:prstDash val="dash"/>
          </a:ln>
        </p:spPr>
        <p:style>
          <a:lnRef idx="2">
            <a:schemeClr val="accent1"/>
          </a:lnRef>
          <a:fillRef idx="0">
            <a:schemeClr val="accent1"/>
          </a:fillRef>
          <a:effectRef idx="1">
            <a:schemeClr val="accent1"/>
          </a:effectRef>
          <a:fontRef idx="minor">
            <a:schemeClr val="tx1"/>
          </a:fontRef>
        </p:style>
      </p:cxnSp>
      <p:cxnSp>
        <p:nvCxnSpPr>
          <p:cNvPr id="41" name="Arrow 36"/>
          <p:cNvCxnSpPr/>
          <p:nvPr/>
        </p:nvCxnSpPr>
        <p:spPr>
          <a:xfrm>
            <a:off x="5559552" y="2386584"/>
            <a:ext cx="0" cy="219456"/>
          </a:xfrm>
          <a:prstGeom prst="line">
            <a:avLst/>
          </a:prstGeom>
          <a:ln w="9525">
            <a:solidFill>
              <a:srgbClr val="D0D0D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Arrow 37"/>
          <p:cNvCxnSpPr/>
          <p:nvPr/>
        </p:nvCxnSpPr>
        <p:spPr>
          <a:xfrm>
            <a:off x="5559552" y="3063240"/>
            <a:ext cx="0" cy="100584"/>
          </a:xfrm>
          <a:prstGeom prst="line">
            <a:avLst/>
          </a:prstGeom>
          <a:ln w="9525">
            <a:solidFill>
              <a:srgbClr val="D0D0D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3" name="Shape 38"/>
          <p:cNvSpPr/>
          <p:nvPr/>
        </p:nvSpPr>
        <p:spPr>
          <a:xfrm>
            <a:off x="1563624" y="2048256"/>
            <a:ext cx="822960" cy="457200"/>
          </a:xfrm>
          <a:prstGeom prst="roundRect">
            <a:avLst>
              <a:gd name="adj" fmla="val 10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39"/>
          <p:cNvSpPr txBox="1"/>
          <p:nvPr/>
        </p:nvSpPr>
        <p:spPr>
          <a:xfrm>
            <a:off x="1609344" y="2075688"/>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DLP classification</a:t>
            </a:r>
          </a:p>
        </p:txBody>
      </p:sp>
      <p:sp>
        <p:nvSpPr>
          <p:cNvPr id="45" name="Shape 40"/>
          <p:cNvSpPr/>
          <p:nvPr/>
        </p:nvSpPr>
        <p:spPr>
          <a:xfrm>
            <a:off x="1609344" y="2322576"/>
            <a:ext cx="555955" cy="146304"/>
          </a:xfrm>
          <a:prstGeom prst="roundRect">
            <a:avLst>
              <a:gd name="adj" fmla="val 50000"/>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1"/>
          <p:cNvSpPr txBox="1"/>
          <p:nvPr/>
        </p:nvSpPr>
        <p:spPr>
          <a:xfrm>
            <a:off x="1609344" y="2322576"/>
            <a:ext cx="555955" cy="146304"/>
          </a:xfrm>
          <a:prstGeom prst="rect">
            <a:avLst/>
          </a:prstGeom>
          <a:noFill/>
        </p:spPr>
        <p:txBody>
          <a:bodyPr wrap="square" lIns="0" rIns="0" tIns="0" bIns="0" anchor="ctr">
            <a:spAutoFit/>
          </a:bodyPr>
          <a:lstStyle/>
          <a:p>
            <a:pPr algn="ctr"/>
            <a:r>
              <a:rPr sz="700" b="1" i="0">
                <a:solidFill>
                  <a:srgbClr val="4D4D4D"/>
                </a:solidFill>
                <a:latin typeface="Trenda IG Text"/>
              </a:rPr>
              <a:t>UPSTREAM</a:t>
            </a:r>
          </a:p>
        </p:txBody>
      </p:sp>
      <p:sp>
        <p:nvSpPr>
          <p:cNvPr id="47" name="Shape 42"/>
          <p:cNvSpPr/>
          <p:nvPr/>
        </p:nvSpPr>
        <p:spPr>
          <a:xfrm>
            <a:off x="2459736" y="1490472"/>
            <a:ext cx="822960" cy="457200"/>
          </a:xfrm>
          <a:prstGeom prst="roundRect">
            <a:avLst>
              <a:gd name="adj" fmla="val 10000"/>
            </a:avLst>
          </a:prstGeom>
          <a:solidFill>
            <a:srgbClr val="F5F5F5"/>
          </a:solidFill>
          <a:ln w="762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3"/>
          <p:cNvSpPr txBox="1"/>
          <p:nvPr/>
        </p:nvSpPr>
        <p:spPr>
          <a:xfrm>
            <a:off x="2505456" y="1517904"/>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Steward review</a:t>
            </a:r>
          </a:p>
        </p:txBody>
      </p:sp>
      <p:sp>
        <p:nvSpPr>
          <p:cNvPr id="49" name="Shape 44"/>
          <p:cNvSpPr/>
          <p:nvPr/>
        </p:nvSpPr>
        <p:spPr>
          <a:xfrm>
            <a:off x="2505456" y="1764792"/>
            <a:ext cx="555955" cy="146304"/>
          </a:xfrm>
          <a:prstGeom prst="roundRect">
            <a:avLst>
              <a:gd name="adj" fmla="val 50000"/>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5"/>
          <p:cNvSpPr txBox="1"/>
          <p:nvPr/>
        </p:nvSpPr>
        <p:spPr>
          <a:xfrm>
            <a:off x="2505456" y="1764792"/>
            <a:ext cx="555955" cy="146304"/>
          </a:xfrm>
          <a:prstGeom prst="rect">
            <a:avLst/>
          </a:prstGeom>
          <a:noFill/>
        </p:spPr>
        <p:txBody>
          <a:bodyPr wrap="square" lIns="0" rIns="0" tIns="0" bIns="0" anchor="ctr">
            <a:spAutoFit/>
          </a:bodyPr>
          <a:lstStyle/>
          <a:p>
            <a:pPr algn="ctr"/>
            <a:r>
              <a:rPr sz="700" b="1" i="0">
                <a:solidFill>
                  <a:srgbClr val="4D4D4D"/>
                </a:solidFill>
                <a:latin typeface="Trenda IG Text"/>
              </a:rPr>
              <a:t>UPSTREAM</a:t>
            </a:r>
          </a:p>
        </p:txBody>
      </p:sp>
      <p:sp>
        <p:nvSpPr>
          <p:cNvPr id="51" name="Shape 46"/>
          <p:cNvSpPr/>
          <p:nvPr/>
        </p:nvSpPr>
        <p:spPr>
          <a:xfrm>
            <a:off x="3355848" y="2048256"/>
            <a:ext cx="822960" cy="457200"/>
          </a:xfrm>
          <a:prstGeom prst="roundRect">
            <a:avLst>
              <a:gd name="adj" fmla="val 10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7"/>
          <p:cNvSpPr txBox="1"/>
          <p:nvPr/>
        </p:nvSpPr>
        <p:spPr>
          <a:xfrm>
            <a:off x="3401568" y="2075688"/>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Reviewed classifications</a:t>
            </a:r>
          </a:p>
        </p:txBody>
      </p:sp>
      <p:sp>
        <p:nvSpPr>
          <p:cNvPr id="53" name="Shape 48"/>
          <p:cNvSpPr/>
          <p:nvPr/>
        </p:nvSpPr>
        <p:spPr>
          <a:xfrm>
            <a:off x="3401568" y="2322576"/>
            <a:ext cx="402336" cy="146304"/>
          </a:xfrm>
          <a:prstGeom prst="roundRect">
            <a:avLst>
              <a:gd name="adj" fmla="val 50000"/>
            </a:avLst>
          </a:prstGeom>
          <a:no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49"/>
          <p:cNvSpPr txBox="1"/>
          <p:nvPr/>
        </p:nvSpPr>
        <p:spPr>
          <a:xfrm>
            <a:off x="3401568" y="2322576"/>
            <a:ext cx="402336" cy="146304"/>
          </a:xfrm>
          <a:prstGeom prst="rect">
            <a:avLst/>
          </a:prstGeom>
          <a:noFill/>
        </p:spPr>
        <p:txBody>
          <a:bodyPr wrap="square" lIns="0" rIns="0" tIns="0" bIns="0" anchor="ctr">
            <a:spAutoFit/>
          </a:bodyPr>
          <a:lstStyle/>
          <a:p>
            <a:pPr algn="ctr"/>
            <a:r>
              <a:rPr sz="700" b="1" i="0">
                <a:solidFill>
                  <a:srgbClr val="1A1A1A"/>
                </a:solidFill>
                <a:latin typeface="Trenda IG Text"/>
              </a:rPr>
              <a:t>BUILT</a:t>
            </a:r>
          </a:p>
        </p:txBody>
      </p:sp>
      <p:sp>
        <p:nvSpPr>
          <p:cNvPr id="55" name="Shape 50"/>
          <p:cNvSpPr/>
          <p:nvPr/>
        </p:nvSpPr>
        <p:spPr>
          <a:xfrm>
            <a:off x="3355848" y="2606040"/>
            <a:ext cx="822960" cy="457200"/>
          </a:xfrm>
          <a:prstGeom prst="roundRect">
            <a:avLst>
              <a:gd name="adj" fmla="val 10000"/>
            </a:avLst>
          </a:prstGeom>
          <a:solidFill>
            <a:srgbClr val="F5F5F5"/>
          </a:solidFill>
          <a:ln w="7620">
            <a:solidFill>
              <a:srgbClr val="C9A1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1"/>
          <p:cNvSpPr txBox="1"/>
          <p:nvPr/>
        </p:nvSpPr>
        <p:spPr>
          <a:xfrm>
            <a:off x="3401568" y="2633472"/>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Rollout gate</a:t>
            </a:r>
          </a:p>
        </p:txBody>
      </p:sp>
      <p:sp>
        <p:nvSpPr>
          <p:cNvPr id="57" name="Shape 52"/>
          <p:cNvSpPr/>
          <p:nvPr/>
        </p:nvSpPr>
        <p:spPr>
          <a:xfrm>
            <a:off x="3401568" y="2880360"/>
            <a:ext cx="402336" cy="146304"/>
          </a:xfrm>
          <a:prstGeom prst="roundRect">
            <a:avLst>
              <a:gd name="adj" fmla="val 50000"/>
            </a:avLst>
          </a:prstGeom>
          <a:no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3"/>
          <p:cNvSpPr txBox="1"/>
          <p:nvPr/>
        </p:nvSpPr>
        <p:spPr>
          <a:xfrm>
            <a:off x="3401568" y="2880360"/>
            <a:ext cx="402336" cy="146304"/>
          </a:xfrm>
          <a:prstGeom prst="rect">
            <a:avLst/>
          </a:prstGeom>
          <a:noFill/>
        </p:spPr>
        <p:txBody>
          <a:bodyPr wrap="square" lIns="0" rIns="0" tIns="0" bIns="0" anchor="ctr">
            <a:spAutoFit/>
          </a:bodyPr>
          <a:lstStyle/>
          <a:p>
            <a:pPr algn="ctr"/>
            <a:r>
              <a:rPr sz="700" b="1" i="0">
                <a:solidFill>
                  <a:srgbClr val="1A1A1A"/>
                </a:solidFill>
                <a:latin typeface="Trenda IG Text"/>
              </a:rPr>
              <a:t>BUILT</a:t>
            </a:r>
          </a:p>
        </p:txBody>
      </p:sp>
      <p:sp>
        <p:nvSpPr>
          <p:cNvPr id="59" name="Shape 54"/>
          <p:cNvSpPr/>
          <p:nvPr/>
        </p:nvSpPr>
        <p:spPr>
          <a:xfrm>
            <a:off x="4251960" y="2606040"/>
            <a:ext cx="822960" cy="457200"/>
          </a:xfrm>
          <a:prstGeom prst="roundRect">
            <a:avLst>
              <a:gd name="adj" fmla="val 10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5"/>
          <p:cNvSpPr txBox="1"/>
          <p:nvPr/>
        </p:nvSpPr>
        <p:spPr>
          <a:xfrm>
            <a:off x="4297680" y="2633472"/>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Data Policy Tagger</a:t>
            </a:r>
          </a:p>
        </p:txBody>
      </p:sp>
      <p:sp>
        <p:nvSpPr>
          <p:cNvPr id="61" name="Shape 56"/>
          <p:cNvSpPr/>
          <p:nvPr/>
        </p:nvSpPr>
        <p:spPr>
          <a:xfrm>
            <a:off x="4297680" y="2880360"/>
            <a:ext cx="709574" cy="146304"/>
          </a:xfrm>
          <a:prstGeom prst="roundRect">
            <a:avLst>
              <a:gd name="adj" fmla="val 50000"/>
            </a:avLst>
          </a:prstGeom>
          <a:no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57"/>
          <p:cNvSpPr txBox="1"/>
          <p:nvPr/>
        </p:nvSpPr>
        <p:spPr>
          <a:xfrm>
            <a:off x="4297680" y="2880360"/>
            <a:ext cx="709574" cy="146304"/>
          </a:xfrm>
          <a:prstGeom prst="rect">
            <a:avLst/>
          </a:prstGeom>
          <a:noFill/>
        </p:spPr>
        <p:txBody>
          <a:bodyPr wrap="square" lIns="0" rIns="0" tIns="0" bIns="0" anchor="ctr">
            <a:spAutoFit/>
          </a:bodyPr>
          <a:lstStyle/>
          <a:p>
            <a:pPr algn="ctr"/>
            <a:r>
              <a:rPr sz="700" b="1" i="0">
                <a:solidFill>
                  <a:srgbClr val="0089A0"/>
                </a:solidFill>
                <a:latin typeface="Trenda IG Text"/>
              </a:rPr>
              <a:t>LIVE IN DEV</a:t>
            </a:r>
          </a:p>
        </p:txBody>
      </p:sp>
      <p:sp>
        <p:nvSpPr>
          <p:cNvPr id="63" name="Shape 58"/>
          <p:cNvSpPr/>
          <p:nvPr/>
        </p:nvSpPr>
        <p:spPr>
          <a:xfrm>
            <a:off x="5148072" y="3163824"/>
            <a:ext cx="822960" cy="457200"/>
          </a:xfrm>
          <a:prstGeom prst="roundRect">
            <a:avLst>
              <a:gd name="adj" fmla="val 10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59"/>
          <p:cNvSpPr txBox="1"/>
          <p:nvPr/>
        </p:nvSpPr>
        <p:spPr>
          <a:xfrm>
            <a:off x="5193792" y="3191256"/>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Policies applied</a:t>
            </a:r>
          </a:p>
        </p:txBody>
      </p:sp>
      <p:sp>
        <p:nvSpPr>
          <p:cNvPr id="65" name="Shape 60"/>
          <p:cNvSpPr/>
          <p:nvPr/>
        </p:nvSpPr>
        <p:spPr>
          <a:xfrm>
            <a:off x="5193792" y="3438144"/>
            <a:ext cx="709574" cy="146304"/>
          </a:xfrm>
          <a:prstGeom prst="roundRect">
            <a:avLst>
              <a:gd name="adj" fmla="val 50000"/>
            </a:avLst>
          </a:prstGeom>
          <a:no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1"/>
          <p:cNvSpPr txBox="1"/>
          <p:nvPr/>
        </p:nvSpPr>
        <p:spPr>
          <a:xfrm>
            <a:off x="5193792" y="3438144"/>
            <a:ext cx="709574" cy="146304"/>
          </a:xfrm>
          <a:prstGeom prst="rect">
            <a:avLst/>
          </a:prstGeom>
          <a:noFill/>
        </p:spPr>
        <p:txBody>
          <a:bodyPr wrap="square" lIns="0" rIns="0" tIns="0" bIns="0" anchor="ctr">
            <a:spAutoFit/>
          </a:bodyPr>
          <a:lstStyle/>
          <a:p>
            <a:pPr algn="ctr"/>
            <a:r>
              <a:rPr sz="700" b="1" i="0">
                <a:solidFill>
                  <a:srgbClr val="0089A0"/>
                </a:solidFill>
                <a:latin typeface="Trenda IG Text"/>
              </a:rPr>
              <a:t>LIVE IN DEV</a:t>
            </a:r>
          </a:p>
        </p:txBody>
      </p:sp>
      <p:sp>
        <p:nvSpPr>
          <p:cNvPr id="67" name="Shape 62"/>
          <p:cNvSpPr/>
          <p:nvPr/>
        </p:nvSpPr>
        <p:spPr>
          <a:xfrm>
            <a:off x="6044184" y="2048256"/>
            <a:ext cx="822960" cy="457200"/>
          </a:xfrm>
          <a:prstGeom prst="roundRect">
            <a:avLst>
              <a:gd name="adj" fmla="val 10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3"/>
          <p:cNvSpPr txBox="1"/>
          <p:nvPr/>
        </p:nvSpPr>
        <p:spPr>
          <a:xfrm>
            <a:off x="6089904" y="2075688"/>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Bindings + validation</a:t>
            </a:r>
          </a:p>
        </p:txBody>
      </p:sp>
      <p:sp>
        <p:nvSpPr>
          <p:cNvPr id="69" name="Shape 64"/>
          <p:cNvSpPr/>
          <p:nvPr/>
        </p:nvSpPr>
        <p:spPr>
          <a:xfrm>
            <a:off x="6089904" y="2322576"/>
            <a:ext cx="402336" cy="146304"/>
          </a:xfrm>
          <a:prstGeom prst="roundRect">
            <a:avLst>
              <a:gd name="adj" fmla="val 50000"/>
            </a:avLst>
          </a:prstGeom>
          <a:no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5"/>
          <p:cNvSpPr txBox="1"/>
          <p:nvPr/>
        </p:nvSpPr>
        <p:spPr>
          <a:xfrm>
            <a:off x="6089904" y="2322576"/>
            <a:ext cx="402336" cy="146304"/>
          </a:xfrm>
          <a:prstGeom prst="rect">
            <a:avLst/>
          </a:prstGeom>
          <a:noFill/>
        </p:spPr>
        <p:txBody>
          <a:bodyPr wrap="square" lIns="0" rIns="0" tIns="0" bIns="0" anchor="ctr">
            <a:spAutoFit/>
          </a:bodyPr>
          <a:lstStyle/>
          <a:p>
            <a:pPr algn="ctr"/>
            <a:r>
              <a:rPr sz="700" b="1" i="0">
                <a:solidFill>
                  <a:srgbClr val="1A1A1A"/>
                </a:solidFill>
                <a:latin typeface="Trenda IG Text"/>
              </a:rPr>
              <a:t>BUILT</a:t>
            </a:r>
          </a:p>
        </p:txBody>
      </p:sp>
      <p:sp>
        <p:nvSpPr>
          <p:cNvPr id="71" name="Shape 66"/>
          <p:cNvSpPr/>
          <p:nvPr/>
        </p:nvSpPr>
        <p:spPr>
          <a:xfrm>
            <a:off x="5148072" y="2606040"/>
            <a:ext cx="822960" cy="457200"/>
          </a:xfrm>
          <a:prstGeom prst="roundRect">
            <a:avLst>
              <a:gd name="adj" fmla="val 10000"/>
            </a:avLst>
          </a:prstGeom>
          <a:solidFill>
            <a:srgbClr val="FFFFFF"/>
          </a:solidFill>
          <a:ln w="7620">
            <a:solidFill>
              <a:srgbClr val="D0D0D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67"/>
          <p:cNvSpPr txBox="1"/>
          <p:nvPr/>
        </p:nvSpPr>
        <p:spPr>
          <a:xfrm>
            <a:off x="5193792" y="2633472"/>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Policy change review</a:t>
            </a:r>
          </a:p>
        </p:txBody>
      </p:sp>
      <p:sp>
        <p:nvSpPr>
          <p:cNvPr id="73" name="Shape 68"/>
          <p:cNvSpPr/>
          <p:nvPr/>
        </p:nvSpPr>
        <p:spPr>
          <a:xfrm>
            <a:off x="5193792" y="2880360"/>
            <a:ext cx="555955" cy="146304"/>
          </a:xfrm>
          <a:prstGeom prst="roundRect">
            <a:avLst>
              <a:gd name="adj" fmla="val 50000"/>
            </a:avLst>
          </a:prstGeom>
          <a:no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69"/>
          <p:cNvSpPr txBox="1"/>
          <p:nvPr/>
        </p:nvSpPr>
        <p:spPr>
          <a:xfrm>
            <a:off x="5193792" y="2880360"/>
            <a:ext cx="555955" cy="146304"/>
          </a:xfrm>
          <a:prstGeom prst="rect">
            <a:avLst/>
          </a:prstGeom>
          <a:noFill/>
        </p:spPr>
        <p:txBody>
          <a:bodyPr wrap="square" lIns="0" rIns="0" tIns="0" bIns="0" anchor="ctr">
            <a:spAutoFit/>
          </a:bodyPr>
          <a:lstStyle/>
          <a:p>
            <a:pPr algn="ctr"/>
            <a:r>
              <a:rPr sz="700" b="1" i="0">
                <a:solidFill>
                  <a:srgbClr val="1A1A1A"/>
                </a:solidFill>
                <a:latin typeface="Trenda IG Text"/>
              </a:rPr>
              <a:t>PROPOSED</a:t>
            </a:r>
          </a:p>
        </p:txBody>
      </p:sp>
      <p:sp>
        <p:nvSpPr>
          <p:cNvPr id="75" name="Text 70"/>
          <p:cNvSpPr txBox="1"/>
          <p:nvPr/>
        </p:nvSpPr>
        <p:spPr>
          <a:xfrm>
            <a:off x="411480" y="3712464"/>
            <a:ext cx="6537959" cy="182880"/>
          </a:xfrm>
          <a:prstGeom prst="rect">
            <a:avLst/>
          </a:prstGeom>
          <a:noFill/>
        </p:spPr>
        <p:txBody>
          <a:bodyPr wrap="square" lIns="0" rIns="0" tIns="0" bIns="0" anchor="ctr">
            <a:spAutoFit/>
          </a:bodyPr>
          <a:lstStyle/>
          <a:p>
            <a:r>
              <a:rPr sz="700" b="1" i="0">
                <a:solidFill>
                  <a:srgbClr val="1A1A1A"/>
                </a:solidFill>
                <a:latin typeface="Trenda IG Text"/>
              </a:rPr>
              <a:t>Fail-closed: </a:t>
            </a:r>
            <a:r>
              <a:rPr sz="700" b="0" i="0">
                <a:solidFill>
                  <a:srgbClr val="4D4D4D"/>
                </a:solidFill>
                <a:latin typeface="Trenda IG Text"/>
              </a:rPr>
              <a:t>rejecting a classification never removes existing protection; relaxing a policy needs independent approval.</a:t>
            </a:r>
          </a:p>
        </p:txBody>
      </p:sp>
      <p:sp>
        <p:nvSpPr>
          <p:cNvPr id="76" name="Shape 71"/>
          <p:cNvSpPr/>
          <p:nvPr/>
        </p:nvSpPr>
        <p:spPr>
          <a:xfrm>
            <a:off x="7114032" y="1188720"/>
            <a:ext cx="4663440" cy="2487168"/>
          </a:xfrm>
          <a:prstGeom prst="roundRect">
            <a:avLst>
              <a:gd name="adj" fmla="val 4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2"/>
          <p:cNvSpPr txBox="1"/>
          <p:nvPr/>
        </p:nvSpPr>
        <p:spPr>
          <a:xfrm>
            <a:off x="7223760" y="1225296"/>
            <a:ext cx="4443984" cy="219456"/>
          </a:xfrm>
          <a:prstGeom prst="rect">
            <a:avLst/>
          </a:prstGeom>
          <a:noFill/>
        </p:spPr>
        <p:txBody>
          <a:bodyPr wrap="square" lIns="0" rIns="0" tIns="0" bIns="0" anchor="ctr">
            <a:spAutoFit/>
          </a:bodyPr>
          <a:lstStyle/>
          <a:p>
            <a:r>
              <a:rPr sz="700" b="1" i="0" spc="120">
                <a:solidFill>
                  <a:srgbClr val="8A6D00"/>
                </a:solidFill>
                <a:latin typeface="Trenda IG Text"/>
              </a:rPr>
              <a:t>MASKED IS NOT DE-IDENTIFIED</a:t>
            </a:r>
          </a:p>
        </p:txBody>
      </p:sp>
      <p:sp>
        <p:nvSpPr>
          <p:cNvPr id="78" name="Text 73"/>
          <p:cNvSpPr txBox="1"/>
          <p:nvPr/>
        </p:nvSpPr>
        <p:spPr>
          <a:xfrm>
            <a:off x="7223760" y="1481328"/>
            <a:ext cx="1097280" cy="164592"/>
          </a:xfrm>
          <a:prstGeom prst="rect">
            <a:avLst/>
          </a:prstGeom>
          <a:noFill/>
        </p:spPr>
        <p:txBody>
          <a:bodyPr wrap="square" lIns="0" rIns="0" tIns="0" bIns="0" anchor="t">
            <a:spAutoFit/>
          </a:bodyPr>
          <a:lstStyle/>
          <a:p>
            <a:r>
              <a:rPr sz="700" b="1" i="0">
                <a:solidFill>
                  <a:srgbClr val="6B6B6B"/>
                </a:solidFill>
                <a:latin typeface="Trenda IG Text"/>
              </a:rPr>
              <a:t/>
            </a:r>
          </a:p>
        </p:txBody>
      </p:sp>
      <p:sp>
        <p:nvSpPr>
          <p:cNvPr id="79" name="Text 74"/>
          <p:cNvSpPr txBox="1"/>
          <p:nvPr/>
        </p:nvSpPr>
        <p:spPr>
          <a:xfrm>
            <a:off x="8348472" y="1481328"/>
            <a:ext cx="1508760" cy="164592"/>
          </a:xfrm>
          <a:prstGeom prst="rect">
            <a:avLst/>
          </a:prstGeom>
          <a:noFill/>
        </p:spPr>
        <p:txBody>
          <a:bodyPr wrap="square" lIns="0" rIns="0" tIns="0" bIns="0" anchor="t">
            <a:spAutoFit/>
          </a:bodyPr>
          <a:lstStyle/>
          <a:p>
            <a:r>
              <a:rPr sz="700" b="1" i="0">
                <a:solidFill>
                  <a:srgbClr val="6B6B6B"/>
                </a:solidFill>
                <a:latin typeface="Trenda IG Text"/>
              </a:rPr>
              <a:t>What it does</a:t>
            </a:r>
          </a:p>
        </p:txBody>
      </p:sp>
      <p:sp>
        <p:nvSpPr>
          <p:cNvPr id="80" name="Text 75"/>
          <p:cNvSpPr txBox="1"/>
          <p:nvPr/>
        </p:nvSpPr>
        <p:spPr>
          <a:xfrm>
            <a:off x="9902952" y="1481328"/>
            <a:ext cx="1810512" cy="164592"/>
          </a:xfrm>
          <a:prstGeom prst="rect">
            <a:avLst/>
          </a:prstGeom>
          <a:noFill/>
        </p:spPr>
        <p:txBody>
          <a:bodyPr wrap="square" lIns="0" rIns="0" tIns="0" bIns="0" anchor="t">
            <a:spAutoFit/>
          </a:bodyPr>
          <a:lstStyle/>
          <a:p>
            <a:r>
              <a:rPr sz="700" b="1" i="0">
                <a:solidFill>
                  <a:srgbClr val="6B6B6B"/>
                </a:solidFill>
                <a:latin typeface="Trenda IG Text"/>
              </a:rPr>
              <a:t>HIPAA implication</a:t>
            </a:r>
          </a:p>
        </p:txBody>
      </p:sp>
      <p:sp>
        <p:nvSpPr>
          <p:cNvPr id="81" name="Shape 76"/>
          <p:cNvSpPr/>
          <p:nvPr/>
        </p:nvSpPr>
        <p:spPr>
          <a:xfrm>
            <a:off x="7187184" y="1682496"/>
            <a:ext cx="4517136" cy="4572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Shape 77"/>
          <p:cNvSpPr/>
          <p:nvPr/>
        </p:nvSpPr>
        <p:spPr>
          <a:xfrm>
            <a:off x="7187184" y="1682496"/>
            <a:ext cx="45720" cy="4572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78"/>
          <p:cNvSpPr txBox="1"/>
          <p:nvPr/>
        </p:nvSpPr>
        <p:spPr>
          <a:xfrm>
            <a:off x="7278624" y="1682496"/>
            <a:ext cx="1097280" cy="457200"/>
          </a:xfrm>
          <a:prstGeom prst="rect">
            <a:avLst/>
          </a:prstGeom>
          <a:noFill/>
        </p:spPr>
        <p:txBody>
          <a:bodyPr wrap="square" lIns="0" rIns="0" tIns="0" bIns="0" anchor="ctr">
            <a:spAutoFit/>
          </a:bodyPr>
          <a:lstStyle/>
          <a:p>
            <a:r>
              <a:rPr sz="700" b="1" i="0">
                <a:solidFill>
                  <a:srgbClr val="1A1A1A"/>
                </a:solidFill>
                <a:latin typeface="Trenda IG Text"/>
              </a:rPr>
              <a:t>Masking</a:t>
            </a:r>
          </a:p>
        </p:txBody>
      </p:sp>
      <p:sp>
        <p:nvSpPr>
          <p:cNvPr id="84" name="Text 79"/>
          <p:cNvSpPr txBox="1"/>
          <p:nvPr/>
        </p:nvSpPr>
        <p:spPr>
          <a:xfrm>
            <a:off x="8348472" y="1682496"/>
            <a:ext cx="1508760" cy="457200"/>
          </a:xfrm>
          <a:prstGeom prst="rect">
            <a:avLst/>
          </a:prstGeom>
          <a:noFill/>
        </p:spPr>
        <p:txBody>
          <a:bodyPr wrap="square" lIns="0" rIns="0" tIns="0" bIns="0" anchor="ctr">
            <a:spAutoFit/>
          </a:bodyPr>
          <a:lstStyle/>
          <a:p>
            <a:r>
              <a:rPr sz="700" b="0" i="0">
                <a:solidFill>
                  <a:srgbClr val="1A1A1A"/>
                </a:solidFill>
                <a:latin typeface="Trenda IG Text"/>
              </a:rPr>
              <a:t>Hides values from readers without access</a:t>
            </a:r>
          </a:p>
        </p:txBody>
      </p:sp>
      <p:sp>
        <p:nvSpPr>
          <p:cNvPr id="85" name="Text 80"/>
          <p:cNvSpPr txBox="1"/>
          <p:nvPr/>
        </p:nvSpPr>
        <p:spPr>
          <a:xfrm>
            <a:off x="9902952" y="1682496"/>
            <a:ext cx="1810512" cy="457200"/>
          </a:xfrm>
          <a:prstGeom prst="rect">
            <a:avLst/>
          </a:prstGeom>
          <a:noFill/>
        </p:spPr>
        <p:txBody>
          <a:bodyPr wrap="square" lIns="0" rIns="0" tIns="0" bIns="0" anchor="ctr">
            <a:spAutoFit/>
          </a:bodyPr>
          <a:lstStyle/>
          <a:p>
            <a:r>
              <a:rPr sz="700" b="0" i="0">
                <a:solidFill>
                  <a:srgbClr val="4D4D4D"/>
                </a:solidFill>
                <a:latin typeface="Trenda IG Text"/>
              </a:rPr>
              <a:t>An access control; the data underneath is still PHI</a:t>
            </a:r>
          </a:p>
        </p:txBody>
      </p:sp>
      <p:sp>
        <p:nvSpPr>
          <p:cNvPr id="86" name="Shape 81"/>
          <p:cNvSpPr/>
          <p:nvPr/>
        </p:nvSpPr>
        <p:spPr>
          <a:xfrm>
            <a:off x="7187184" y="2194560"/>
            <a:ext cx="4517136" cy="4572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hape 82"/>
          <p:cNvSpPr/>
          <p:nvPr/>
        </p:nvSpPr>
        <p:spPr>
          <a:xfrm>
            <a:off x="7187184" y="2194560"/>
            <a:ext cx="45720" cy="4572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3"/>
          <p:cNvSpPr txBox="1"/>
          <p:nvPr/>
        </p:nvSpPr>
        <p:spPr>
          <a:xfrm>
            <a:off x="7278624" y="2194560"/>
            <a:ext cx="1097280" cy="457200"/>
          </a:xfrm>
          <a:prstGeom prst="rect">
            <a:avLst/>
          </a:prstGeom>
          <a:noFill/>
        </p:spPr>
        <p:txBody>
          <a:bodyPr wrap="square" lIns="0" rIns="0" tIns="0" bIns="0" anchor="ctr">
            <a:spAutoFit/>
          </a:bodyPr>
          <a:lstStyle/>
          <a:p>
            <a:r>
              <a:rPr sz="700" b="1" i="0">
                <a:solidFill>
                  <a:srgbClr val="1A1A1A"/>
                </a:solidFill>
                <a:latin typeface="Trenda IG Text"/>
              </a:rPr>
              <a:t>Tokenization</a:t>
            </a:r>
          </a:p>
        </p:txBody>
      </p:sp>
      <p:sp>
        <p:nvSpPr>
          <p:cNvPr id="89" name="Text 84"/>
          <p:cNvSpPr txBox="1"/>
          <p:nvPr/>
        </p:nvSpPr>
        <p:spPr>
          <a:xfrm>
            <a:off x="8348472" y="2194560"/>
            <a:ext cx="1508760" cy="457200"/>
          </a:xfrm>
          <a:prstGeom prst="rect">
            <a:avLst/>
          </a:prstGeom>
          <a:noFill/>
        </p:spPr>
        <p:txBody>
          <a:bodyPr wrap="square" lIns="0" rIns="0" tIns="0" bIns="0" anchor="ctr">
            <a:spAutoFit/>
          </a:bodyPr>
          <a:lstStyle/>
          <a:p>
            <a:r>
              <a:rPr sz="700" b="0" i="0">
                <a:solidFill>
                  <a:srgbClr val="1A1A1A"/>
                </a:solidFill>
                <a:latin typeface="Trenda IG Text"/>
              </a:rPr>
              <a:t>Replaces identifiers; reversible through a separate map</a:t>
            </a:r>
          </a:p>
        </p:txBody>
      </p:sp>
      <p:sp>
        <p:nvSpPr>
          <p:cNvPr id="90" name="Text 85"/>
          <p:cNvSpPr txBox="1"/>
          <p:nvPr/>
        </p:nvSpPr>
        <p:spPr>
          <a:xfrm>
            <a:off x="9902952" y="2194560"/>
            <a:ext cx="1810512" cy="457200"/>
          </a:xfrm>
          <a:prstGeom prst="rect">
            <a:avLst/>
          </a:prstGeom>
          <a:noFill/>
        </p:spPr>
        <p:txBody>
          <a:bodyPr wrap="square" lIns="0" rIns="0" tIns="0" bIns="0" anchor="ctr">
            <a:spAutoFit/>
          </a:bodyPr>
          <a:lstStyle/>
          <a:p>
            <a:r>
              <a:rPr sz="700" b="0" i="0">
                <a:solidFill>
                  <a:srgbClr val="4D4D4D"/>
                </a:solidFill>
                <a:latin typeface="Trenda IG Text"/>
              </a:rPr>
              <a:t>Can still be PHI, depending on linkability and context</a:t>
            </a:r>
          </a:p>
        </p:txBody>
      </p:sp>
      <p:sp>
        <p:nvSpPr>
          <p:cNvPr id="91" name="Shape 86"/>
          <p:cNvSpPr/>
          <p:nvPr/>
        </p:nvSpPr>
        <p:spPr>
          <a:xfrm>
            <a:off x="7187184" y="2706624"/>
            <a:ext cx="4517136" cy="4572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87"/>
          <p:cNvSpPr/>
          <p:nvPr/>
        </p:nvSpPr>
        <p:spPr>
          <a:xfrm>
            <a:off x="7187184" y="2706624"/>
            <a:ext cx="45720" cy="4572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8"/>
          <p:cNvSpPr txBox="1"/>
          <p:nvPr/>
        </p:nvSpPr>
        <p:spPr>
          <a:xfrm>
            <a:off x="7278624" y="2706624"/>
            <a:ext cx="1097280" cy="457200"/>
          </a:xfrm>
          <a:prstGeom prst="rect">
            <a:avLst/>
          </a:prstGeom>
          <a:noFill/>
        </p:spPr>
        <p:txBody>
          <a:bodyPr wrap="square" lIns="0" rIns="0" tIns="0" bIns="0" anchor="ctr">
            <a:spAutoFit/>
          </a:bodyPr>
          <a:lstStyle/>
          <a:p>
            <a:r>
              <a:rPr sz="700" b="1" i="0">
                <a:solidFill>
                  <a:srgbClr val="1A1A1A"/>
                </a:solidFill>
                <a:latin typeface="Trenda IG Text"/>
              </a:rPr>
              <a:t>De-identification</a:t>
            </a:r>
          </a:p>
        </p:txBody>
      </p:sp>
      <p:sp>
        <p:nvSpPr>
          <p:cNvPr id="94" name="Text 89"/>
          <p:cNvSpPr txBox="1"/>
          <p:nvPr/>
        </p:nvSpPr>
        <p:spPr>
          <a:xfrm>
            <a:off x="8348472" y="2706624"/>
            <a:ext cx="1508760" cy="457200"/>
          </a:xfrm>
          <a:prstGeom prst="rect">
            <a:avLst/>
          </a:prstGeom>
          <a:noFill/>
        </p:spPr>
        <p:txBody>
          <a:bodyPr wrap="square" lIns="0" rIns="0" tIns="0" bIns="0" anchor="ctr">
            <a:spAutoFit/>
          </a:bodyPr>
          <a:lstStyle/>
          <a:p>
            <a:r>
              <a:rPr sz="700" b="0" i="0">
                <a:solidFill>
                  <a:srgbClr val="1A1A1A"/>
                </a:solidFill>
                <a:latin typeface="Trenda IG Text"/>
              </a:rPr>
              <a:t>Safe Harbor or Expert Determination met</a:t>
            </a:r>
          </a:p>
        </p:txBody>
      </p:sp>
      <p:sp>
        <p:nvSpPr>
          <p:cNvPr id="95" name="Text 90"/>
          <p:cNvSpPr txBox="1"/>
          <p:nvPr/>
        </p:nvSpPr>
        <p:spPr>
          <a:xfrm>
            <a:off x="9902952" y="2706624"/>
            <a:ext cx="1810512" cy="457200"/>
          </a:xfrm>
          <a:prstGeom prst="rect">
            <a:avLst/>
          </a:prstGeom>
          <a:noFill/>
        </p:spPr>
        <p:txBody>
          <a:bodyPr wrap="square" lIns="0" rIns="0" tIns="0" bIns="0" anchor="ctr">
            <a:spAutoFit/>
          </a:bodyPr>
          <a:lstStyle/>
          <a:p>
            <a:r>
              <a:rPr sz="700" b="0" i="0">
                <a:solidFill>
                  <a:srgbClr val="4D4D4D"/>
                </a:solidFill>
                <a:latin typeface="Trenda IG Text"/>
              </a:rPr>
              <a:t>Can leave PHI status when the standard is met</a:t>
            </a:r>
          </a:p>
        </p:txBody>
      </p:sp>
      <p:sp>
        <p:nvSpPr>
          <p:cNvPr id="96" name="Text 91"/>
          <p:cNvSpPr txBox="1"/>
          <p:nvPr/>
        </p:nvSpPr>
        <p:spPr>
          <a:xfrm>
            <a:off x="7223760" y="3218688"/>
            <a:ext cx="4443984" cy="420624"/>
          </a:xfrm>
          <a:prstGeom prst="rect">
            <a:avLst/>
          </a:prstGeom>
          <a:noFill/>
        </p:spPr>
        <p:txBody>
          <a:bodyPr wrap="square" lIns="0" rIns="0" tIns="0" bIns="0" anchor="ctr">
            <a:spAutoFit/>
          </a:bodyPr>
          <a:lstStyle/>
          <a:p>
            <a:r>
              <a:rPr sz="700" b="0" i="0">
                <a:solidFill>
                  <a:srgbClr val="1A1A1A"/>
                </a:solidFill>
                <a:latin typeface="Trenda IG Text"/>
              </a:rPr>
              <a:t>A token, a count, a diagnosis combination or a small cohort can remain sensitive. </a:t>
            </a:r>
            <a:r>
              <a:rPr sz="700" b="1" i="0">
                <a:solidFill>
                  <a:srgbClr val="8A6D00"/>
                </a:solidFill>
                <a:latin typeface="Trenda IG Text"/>
              </a:rPr>
              <a:t>Each is assessed, not assumed safe.</a:t>
            </a:r>
          </a:p>
        </p:txBody>
      </p:sp>
      <p:sp>
        <p:nvSpPr>
          <p:cNvPr id="97" name="Text 92"/>
          <p:cNvSpPr txBox="1"/>
          <p:nvPr/>
        </p:nvSpPr>
        <p:spPr>
          <a:xfrm>
            <a:off x="411480" y="3931920"/>
            <a:ext cx="8229600" cy="201168"/>
          </a:xfrm>
          <a:prstGeom prst="rect">
            <a:avLst/>
          </a:prstGeom>
          <a:noFill/>
        </p:spPr>
        <p:txBody>
          <a:bodyPr wrap="square" lIns="0" rIns="0" tIns="0" bIns="0" anchor="ctr">
            <a:spAutoFit/>
          </a:bodyPr>
          <a:lstStyle/>
          <a:p>
            <a:r>
              <a:rPr sz="700" b="1" i="0" spc="120">
                <a:solidFill>
                  <a:srgbClr val="1A1A1A"/>
                </a:solidFill>
                <a:latin typeface="Trenda IG Text"/>
              </a:rPr>
              <a:t>WHAT MASKING ALONE DOES NOT GIVE US, AND WHAT WE ADD</a:t>
            </a:r>
            <a:r>
              <a:rPr sz="700" b="0" i="0">
                <a:solidFill>
                  <a:srgbClr val="4D4D4D"/>
                </a:solidFill>
                <a:latin typeface="Trenda IG Text"/>
              </a:rPr>
              <a:t>   proposed design</a:t>
            </a:r>
          </a:p>
        </p:txBody>
      </p:sp>
      <p:sp>
        <p:nvSpPr>
          <p:cNvPr id="98" name="Shape 93"/>
          <p:cNvSpPr/>
          <p:nvPr/>
        </p:nvSpPr>
        <p:spPr>
          <a:xfrm>
            <a:off x="393192" y="4169664"/>
            <a:ext cx="2795778" cy="1572768"/>
          </a:xfrm>
          <a:prstGeom prst="roundRect">
            <a:avLst>
              <a:gd name="adj" fmla="val 5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98" name="Shape 93"/>
          <p:cNvSpPr/>
          <p:nvPr/>
        </p:nvSpPr>
        <p:spPr>
          <a:xfrm>
            <a:off x="411480" y="4187952"/>
            <a:ext cx="2759202" cy="1536192"/>
          </a:xfrm>
          <a:prstGeom prst="roundRect">
            <a:avLst>
              <a:gd name="adj" fmla="val 5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hape 94"/>
          <p:cNvSpPr/>
          <p:nvPr/>
        </p:nvSpPr>
        <p:spPr>
          <a:xfrm>
            <a:off x="411480" y="4187952"/>
            <a:ext cx="2759202"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5"/>
          <p:cNvSpPr txBox="1"/>
          <p:nvPr/>
        </p:nvSpPr>
        <p:spPr>
          <a:xfrm>
            <a:off x="502920" y="4187952"/>
            <a:ext cx="1936242" cy="274320"/>
          </a:xfrm>
          <a:prstGeom prst="rect">
            <a:avLst/>
          </a:prstGeom>
          <a:noFill/>
        </p:spPr>
        <p:txBody>
          <a:bodyPr wrap="square" lIns="0" rIns="0" tIns="0" bIns="0" anchor="ctr">
            <a:spAutoFit/>
          </a:bodyPr>
          <a:lstStyle/>
          <a:p>
            <a:r>
              <a:rPr sz="720" b="1" i="0">
                <a:solidFill>
                  <a:srgbClr val="1A1A1A"/>
                </a:solidFill>
                <a:latin typeface="Trenda IG Text"/>
              </a:rPr>
              <a:t>1  </a:t>
            </a:r>
            <a:r>
              <a:rPr sz="720" b="1" i="0">
                <a:solidFill>
                  <a:srgbClr val="1A1A1A"/>
                </a:solidFill>
                <a:latin typeface="Trenda IG Text"/>
              </a:rPr>
              <a:t>Safe de-identification</a:t>
            </a:r>
          </a:p>
        </p:txBody>
      </p:sp>
      <p:sp>
        <p:nvSpPr>
          <p:cNvPr id="101" name="Shape 96"/>
          <p:cNvSpPr/>
          <p:nvPr/>
        </p:nvSpPr>
        <p:spPr>
          <a:xfrm>
            <a:off x="2329434" y="4251960"/>
            <a:ext cx="749808" cy="146304"/>
          </a:xfrm>
          <a:prstGeom prst="roundRect">
            <a:avLst>
              <a:gd name="adj" fmla="val 50000"/>
            </a:avLst>
          </a:prstGeom>
          <a:noFill/>
          <a:ln w="635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97"/>
          <p:cNvSpPr txBox="1"/>
          <p:nvPr/>
        </p:nvSpPr>
        <p:spPr>
          <a:xfrm>
            <a:off x="2329434" y="4251960"/>
            <a:ext cx="749808" cy="146304"/>
          </a:xfrm>
          <a:prstGeom prst="rect">
            <a:avLst/>
          </a:prstGeom>
          <a:noFill/>
        </p:spPr>
        <p:txBody>
          <a:bodyPr wrap="square" lIns="0" rIns="0" tIns="0" bIns="0" anchor="ctr">
            <a:spAutoFit/>
          </a:bodyPr>
          <a:lstStyle/>
          <a:p>
            <a:pPr algn="ctr"/>
            <a:r>
              <a:rPr sz="700" b="1" i="0" spc="80">
                <a:solidFill>
                  <a:srgbClr val="1A1A1A"/>
                </a:solidFill>
                <a:latin typeface="Trenda IG Text"/>
              </a:rPr>
              <a:t>PROPOSED</a:t>
            </a:r>
          </a:p>
        </p:txBody>
      </p:sp>
      <p:sp>
        <p:nvSpPr>
          <p:cNvPr id="103" name="Text 98"/>
          <p:cNvSpPr txBox="1"/>
          <p:nvPr/>
        </p:nvSpPr>
        <p:spPr>
          <a:xfrm>
            <a:off x="502920" y="4498848"/>
            <a:ext cx="2576322" cy="310896"/>
          </a:xfrm>
          <a:prstGeom prst="rect">
            <a:avLst/>
          </a:prstGeom>
          <a:noFill/>
        </p:spPr>
        <p:txBody>
          <a:bodyPr wrap="square" lIns="0" rIns="0" tIns="0" bIns="0" anchor="t">
            <a:spAutoFit/>
          </a:bodyPr>
          <a:lstStyle/>
          <a:p>
            <a:r>
              <a:rPr sz="700" b="1" i="0">
                <a:solidFill>
                  <a:srgbClr val="1A1A1A"/>
                </a:solidFill>
                <a:latin typeface="Trenda IG Text"/>
              </a:rPr>
              <a:t>Gap: </a:t>
            </a:r>
            <a:r>
              <a:rPr sz="700" b="0" i="0">
                <a:solidFill>
                  <a:srgbClr val="4D4D4D"/>
                </a:solidFill>
                <a:latin typeface="Trenda IG Text"/>
              </a:rPr>
              <a:t>A masked or tokenized row can still identify a patient: dates, rare diagnoses, facility, geography.</a:t>
            </a:r>
          </a:p>
        </p:txBody>
      </p:sp>
      <p:sp>
        <p:nvSpPr>
          <p:cNvPr id="104" name="Shape 99"/>
          <p:cNvSpPr/>
          <p:nvPr/>
        </p:nvSpPr>
        <p:spPr>
          <a:xfrm>
            <a:off x="521208" y="4910328"/>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 100"/>
          <p:cNvSpPr txBox="1"/>
          <p:nvPr/>
        </p:nvSpPr>
        <p:spPr>
          <a:xfrm>
            <a:off x="630936" y="4846320"/>
            <a:ext cx="2466594" cy="274320"/>
          </a:xfrm>
          <a:prstGeom prst="rect">
            <a:avLst/>
          </a:prstGeom>
          <a:noFill/>
        </p:spPr>
        <p:txBody>
          <a:bodyPr wrap="square" lIns="0" rIns="0" tIns="0" bIns="0" anchor="t">
            <a:spAutoFit/>
          </a:bodyPr>
          <a:lstStyle/>
          <a:p>
            <a:r>
              <a:rPr sz="700" b="0" i="0">
                <a:solidFill>
                  <a:srgbClr val="1A1A1A"/>
                </a:solidFill>
                <a:latin typeface="Trenda IG Text"/>
              </a:rPr>
              <a:t>Safe Harbor or Expert Determination assessment for agent-facing data</a:t>
            </a:r>
          </a:p>
        </p:txBody>
      </p:sp>
      <p:sp>
        <p:nvSpPr>
          <p:cNvPr id="106" name="Shape 101"/>
          <p:cNvSpPr/>
          <p:nvPr/>
        </p:nvSpPr>
        <p:spPr>
          <a:xfrm>
            <a:off x="521208" y="5193792"/>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2"/>
          <p:cNvSpPr txBox="1"/>
          <p:nvPr/>
        </p:nvSpPr>
        <p:spPr>
          <a:xfrm>
            <a:off x="630936" y="5129783"/>
            <a:ext cx="2466594" cy="274320"/>
          </a:xfrm>
          <a:prstGeom prst="rect">
            <a:avLst/>
          </a:prstGeom>
          <a:noFill/>
        </p:spPr>
        <p:txBody>
          <a:bodyPr wrap="square" lIns="0" rIns="0" tIns="0" bIns="0" anchor="t">
            <a:spAutoFit/>
          </a:bodyPr>
          <a:lstStyle/>
          <a:p>
            <a:r>
              <a:rPr sz="700" b="0" i="0">
                <a:solidFill>
                  <a:srgbClr val="1A1A1A"/>
                </a:solidFill>
                <a:latin typeface="Trenda IG Text"/>
              </a:rPr>
              <a:t>Re-identification risk at column, row, combination and aggregate level; small-cell suppression</a:t>
            </a:r>
          </a:p>
        </p:txBody>
      </p:sp>
      <p:sp>
        <p:nvSpPr>
          <p:cNvPr id="108" name="Shape 103"/>
          <p:cNvSpPr/>
          <p:nvPr/>
        </p:nvSpPr>
        <p:spPr>
          <a:xfrm>
            <a:off x="521208" y="5477256"/>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04"/>
          <p:cNvSpPr txBox="1"/>
          <p:nvPr/>
        </p:nvSpPr>
        <p:spPr>
          <a:xfrm>
            <a:off x="630936" y="5413248"/>
            <a:ext cx="2466594" cy="274320"/>
          </a:xfrm>
          <a:prstGeom prst="rect">
            <a:avLst/>
          </a:prstGeom>
          <a:noFill/>
        </p:spPr>
        <p:txBody>
          <a:bodyPr wrap="square" lIns="0" rIns="0" tIns="0" bIns="0" anchor="t">
            <a:spAutoFit/>
          </a:bodyPr>
          <a:lstStyle/>
          <a:p>
            <a:r>
              <a:rPr sz="700" b="0" i="0">
                <a:solidFill>
                  <a:srgbClr val="1A1A1A"/>
                </a:solidFill>
                <a:latin typeface="Trenda IG Text"/>
              </a:rPr>
              <a:t>Agents get aggregates by default; tokenized rows only for an authorized task</a:t>
            </a:r>
          </a:p>
        </p:txBody>
      </p:sp>
      <p:sp>
        <p:nvSpPr>
          <p:cNvPr id="110" name="Shape 105"/>
          <p:cNvSpPr/>
          <p:nvPr/>
        </p:nvSpPr>
        <p:spPr>
          <a:xfrm>
            <a:off x="3262122" y="4169664"/>
            <a:ext cx="2795778" cy="1572768"/>
          </a:xfrm>
          <a:prstGeom prst="roundRect">
            <a:avLst>
              <a:gd name="adj" fmla="val 5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10" name="Shape 105"/>
          <p:cNvSpPr/>
          <p:nvPr/>
        </p:nvSpPr>
        <p:spPr>
          <a:xfrm>
            <a:off x="3280410" y="4187952"/>
            <a:ext cx="2759202" cy="1536192"/>
          </a:xfrm>
          <a:prstGeom prst="roundRect">
            <a:avLst>
              <a:gd name="adj" fmla="val 5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Shape 106"/>
          <p:cNvSpPr/>
          <p:nvPr/>
        </p:nvSpPr>
        <p:spPr>
          <a:xfrm>
            <a:off x="3280410" y="4187952"/>
            <a:ext cx="2759202"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07"/>
          <p:cNvSpPr txBox="1"/>
          <p:nvPr/>
        </p:nvSpPr>
        <p:spPr>
          <a:xfrm>
            <a:off x="3371850" y="4187952"/>
            <a:ext cx="1936242" cy="274320"/>
          </a:xfrm>
          <a:prstGeom prst="rect">
            <a:avLst/>
          </a:prstGeom>
          <a:noFill/>
        </p:spPr>
        <p:txBody>
          <a:bodyPr wrap="square" lIns="0" rIns="0" tIns="0" bIns="0" anchor="ctr">
            <a:spAutoFit/>
          </a:bodyPr>
          <a:lstStyle/>
          <a:p>
            <a:r>
              <a:rPr sz="720" b="1" i="0">
                <a:solidFill>
                  <a:srgbClr val="1A1A1A"/>
                </a:solidFill>
                <a:latin typeface="Trenda IG Text"/>
              </a:rPr>
              <a:t>2  </a:t>
            </a:r>
            <a:r>
              <a:rPr sz="720" b="1" i="0">
                <a:solidFill>
                  <a:srgbClr val="1A1A1A"/>
                </a:solidFill>
                <a:latin typeface="Trenda IG Text"/>
              </a:rPr>
              <a:t>Permitted use</a:t>
            </a:r>
          </a:p>
        </p:txBody>
      </p:sp>
      <p:sp>
        <p:nvSpPr>
          <p:cNvPr id="113" name="Shape 108"/>
          <p:cNvSpPr/>
          <p:nvPr/>
        </p:nvSpPr>
        <p:spPr>
          <a:xfrm>
            <a:off x="5198364" y="4251960"/>
            <a:ext cx="749808" cy="146304"/>
          </a:xfrm>
          <a:prstGeom prst="roundRect">
            <a:avLst>
              <a:gd name="adj" fmla="val 50000"/>
            </a:avLst>
          </a:prstGeom>
          <a:noFill/>
          <a:ln w="6350">
            <a:solidFill>
              <a:srgbClr val="FFFF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9"/>
          <p:cNvSpPr txBox="1"/>
          <p:nvPr/>
        </p:nvSpPr>
        <p:spPr>
          <a:xfrm>
            <a:off x="5198364" y="4251960"/>
            <a:ext cx="749808" cy="146304"/>
          </a:xfrm>
          <a:prstGeom prst="rect">
            <a:avLst/>
          </a:prstGeom>
          <a:noFill/>
        </p:spPr>
        <p:txBody>
          <a:bodyPr wrap="square" lIns="0" rIns="0" tIns="0" bIns="0" anchor="ctr">
            <a:spAutoFit/>
          </a:bodyPr>
          <a:lstStyle/>
          <a:p>
            <a:pPr algn="ctr"/>
            <a:r>
              <a:rPr sz="700" b="1" i="0" spc="80">
                <a:solidFill>
                  <a:srgbClr val="1A1A1A"/>
                </a:solidFill>
                <a:latin typeface="Trenda IG Text"/>
              </a:rPr>
              <a:t>PROPOSED</a:t>
            </a:r>
          </a:p>
        </p:txBody>
      </p:sp>
      <p:sp>
        <p:nvSpPr>
          <p:cNvPr id="115" name="Text 110"/>
          <p:cNvSpPr txBox="1"/>
          <p:nvPr/>
        </p:nvSpPr>
        <p:spPr>
          <a:xfrm>
            <a:off x="3371850" y="4498848"/>
            <a:ext cx="2576322" cy="310896"/>
          </a:xfrm>
          <a:prstGeom prst="rect">
            <a:avLst/>
          </a:prstGeom>
          <a:noFill/>
        </p:spPr>
        <p:txBody>
          <a:bodyPr wrap="square" lIns="0" rIns="0" tIns="0" bIns="0" anchor="t">
            <a:spAutoFit/>
          </a:bodyPr>
          <a:lstStyle/>
          <a:p>
            <a:r>
              <a:rPr sz="700" b="1" i="0">
                <a:solidFill>
                  <a:srgbClr val="1A1A1A"/>
                </a:solidFill>
                <a:latin typeface="Trenda IG Text"/>
              </a:rPr>
              <a:t>Gap: </a:t>
            </a:r>
            <a:r>
              <a:rPr sz="700" b="0" i="0">
                <a:solidFill>
                  <a:srgbClr val="4D4D4D"/>
                </a:solidFill>
                <a:latin typeface="Trenda IG Text"/>
              </a:rPr>
              <a:t>Having the data is not permission to use it for a campaign.</a:t>
            </a:r>
          </a:p>
        </p:txBody>
      </p:sp>
      <p:sp>
        <p:nvSpPr>
          <p:cNvPr id="116" name="Shape 111"/>
          <p:cNvSpPr/>
          <p:nvPr/>
        </p:nvSpPr>
        <p:spPr>
          <a:xfrm>
            <a:off x="3390138" y="4910328"/>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12"/>
          <p:cNvSpPr txBox="1"/>
          <p:nvPr/>
        </p:nvSpPr>
        <p:spPr>
          <a:xfrm>
            <a:off x="3499866" y="4846320"/>
            <a:ext cx="2466594" cy="274320"/>
          </a:xfrm>
          <a:prstGeom prst="rect">
            <a:avLst/>
          </a:prstGeom>
          <a:noFill/>
        </p:spPr>
        <p:txBody>
          <a:bodyPr wrap="square" lIns="0" rIns="0" tIns="0" bIns="0" anchor="t">
            <a:spAutoFit/>
          </a:bodyPr>
          <a:lstStyle/>
          <a:p>
            <a:r>
              <a:rPr sz="700" b="0" i="0">
                <a:solidFill>
                  <a:srgbClr val="1A1A1A"/>
                </a:solidFill>
                <a:latin typeface="Trenda IG Text"/>
              </a:rPr>
              <a:t>Privacy-approved purpose and authorization rules per campaign, as policy-as-code</a:t>
            </a:r>
          </a:p>
        </p:txBody>
      </p:sp>
      <p:sp>
        <p:nvSpPr>
          <p:cNvPr id="118" name="Shape 113"/>
          <p:cNvSpPr/>
          <p:nvPr/>
        </p:nvSpPr>
        <p:spPr>
          <a:xfrm>
            <a:off x="3390138" y="5193792"/>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 114"/>
          <p:cNvSpPr txBox="1"/>
          <p:nvPr/>
        </p:nvSpPr>
        <p:spPr>
          <a:xfrm>
            <a:off x="3499866" y="5129783"/>
            <a:ext cx="2466594" cy="274320"/>
          </a:xfrm>
          <a:prstGeom prst="rect">
            <a:avLst/>
          </a:prstGeom>
          <a:noFill/>
        </p:spPr>
        <p:txBody>
          <a:bodyPr wrap="square" lIns="0" rIns="0" tIns="0" bIns="0" anchor="t">
            <a:spAutoFit/>
          </a:bodyPr>
          <a:lstStyle/>
          <a:p>
            <a:r>
              <a:rPr sz="700" b="0" i="0">
                <a:solidFill>
                  <a:srgbClr val="1A1A1A"/>
                </a:solidFill>
                <a:latin typeface="Trenda IG Text"/>
              </a:rPr>
              <a:t>Consent and communication restrictions checked at release and again at send</a:t>
            </a:r>
          </a:p>
        </p:txBody>
      </p:sp>
      <p:sp>
        <p:nvSpPr>
          <p:cNvPr id="120" name="Shape 115"/>
          <p:cNvSpPr/>
          <p:nvPr/>
        </p:nvSpPr>
        <p:spPr>
          <a:xfrm>
            <a:off x="3390138" y="5477256"/>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16"/>
          <p:cNvSpPr txBox="1"/>
          <p:nvPr/>
        </p:nvSpPr>
        <p:spPr>
          <a:xfrm>
            <a:off x="3499866" y="5413248"/>
            <a:ext cx="2466594" cy="274320"/>
          </a:xfrm>
          <a:prstGeom prst="rect">
            <a:avLst/>
          </a:prstGeom>
          <a:noFill/>
        </p:spPr>
        <p:txBody>
          <a:bodyPr wrap="square" lIns="0" rIns="0" tIns="0" bIns="0" anchor="t">
            <a:spAutoFit/>
          </a:bodyPr>
          <a:lstStyle/>
          <a:p>
            <a:r>
              <a:rPr sz="700" b="0" i="0">
                <a:solidFill>
                  <a:srgbClr val="1A1A1A"/>
                </a:solidFill>
                <a:latin typeface="Trenda IG Text"/>
              </a:rPr>
              <a:t>Campaign Compliance Passport records purpose, rule version and approvals</a:t>
            </a:r>
          </a:p>
        </p:txBody>
      </p:sp>
      <p:sp>
        <p:nvSpPr>
          <p:cNvPr id="122" name="Shape 117"/>
          <p:cNvSpPr/>
          <p:nvPr/>
        </p:nvSpPr>
        <p:spPr>
          <a:xfrm>
            <a:off x="6131052" y="4169664"/>
            <a:ext cx="2795778" cy="1572768"/>
          </a:xfrm>
          <a:prstGeom prst="roundRect">
            <a:avLst>
              <a:gd name="adj" fmla="val 5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22" name="Shape 117"/>
          <p:cNvSpPr/>
          <p:nvPr/>
        </p:nvSpPr>
        <p:spPr>
          <a:xfrm>
            <a:off x="6149340" y="4187952"/>
            <a:ext cx="2759202" cy="1536192"/>
          </a:xfrm>
          <a:prstGeom prst="roundRect">
            <a:avLst>
              <a:gd name="adj" fmla="val 5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Shape 118"/>
          <p:cNvSpPr/>
          <p:nvPr/>
        </p:nvSpPr>
        <p:spPr>
          <a:xfrm>
            <a:off x="6149340" y="4187952"/>
            <a:ext cx="2759202"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19"/>
          <p:cNvSpPr txBox="1"/>
          <p:nvPr/>
        </p:nvSpPr>
        <p:spPr>
          <a:xfrm>
            <a:off x="6240780" y="4187952"/>
            <a:ext cx="1936242" cy="274320"/>
          </a:xfrm>
          <a:prstGeom prst="rect">
            <a:avLst/>
          </a:prstGeom>
          <a:noFill/>
        </p:spPr>
        <p:txBody>
          <a:bodyPr wrap="square" lIns="0" rIns="0" tIns="0" bIns="0" anchor="ctr">
            <a:spAutoFit/>
          </a:bodyPr>
          <a:lstStyle/>
          <a:p>
            <a:r>
              <a:rPr sz="720" b="1" i="0">
                <a:solidFill>
                  <a:srgbClr val="1A1A1A"/>
                </a:solidFill>
                <a:latin typeface="Trenda IG Text"/>
              </a:rPr>
              <a:t>3  </a:t>
            </a:r>
            <a:r>
              <a:rPr sz="720" b="1" i="0">
                <a:solidFill>
                  <a:srgbClr val="1A1A1A"/>
                </a:solidFill>
                <a:latin typeface="Trenda IG Text"/>
              </a:rPr>
              <a:t>Tenant isolation</a:t>
            </a:r>
          </a:p>
        </p:txBody>
      </p:sp>
      <p:sp>
        <p:nvSpPr>
          <p:cNvPr id="125" name="Shape 120"/>
          <p:cNvSpPr/>
          <p:nvPr/>
        </p:nvSpPr>
        <p:spPr>
          <a:xfrm>
            <a:off x="8067294" y="4251960"/>
            <a:ext cx="749808" cy="146304"/>
          </a:xfrm>
          <a:prstGeom prst="roundRect">
            <a:avLst>
              <a:gd name="adj" fmla="val 50000"/>
            </a:avLst>
          </a:prstGeom>
          <a:noFill/>
          <a:ln w="635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 121"/>
          <p:cNvSpPr txBox="1"/>
          <p:nvPr/>
        </p:nvSpPr>
        <p:spPr>
          <a:xfrm>
            <a:off x="8067294" y="4251960"/>
            <a:ext cx="749808" cy="146304"/>
          </a:xfrm>
          <a:prstGeom prst="rect">
            <a:avLst/>
          </a:prstGeom>
          <a:noFill/>
        </p:spPr>
        <p:txBody>
          <a:bodyPr wrap="square" lIns="0" rIns="0" tIns="0" bIns="0" anchor="ctr">
            <a:spAutoFit/>
          </a:bodyPr>
          <a:lstStyle/>
          <a:p>
            <a:pPr algn="ctr"/>
            <a:r>
              <a:rPr sz="700" b="1" i="0" spc="80">
                <a:solidFill>
                  <a:srgbClr val="1A1A1A"/>
                </a:solidFill>
                <a:latin typeface="Trenda IG Text"/>
              </a:rPr>
              <a:t>PROPOSED</a:t>
            </a:r>
          </a:p>
        </p:txBody>
      </p:sp>
      <p:sp>
        <p:nvSpPr>
          <p:cNvPr id="127" name="Text 122"/>
          <p:cNvSpPr txBox="1"/>
          <p:nvPr/>
        </p:nvSpPr>
        <p:spPr>
          <a:xfrm>
            <a:off x="6240780" y="4498848"/>
            <a:ext cx="2576322" cy="310896"/>
          </a:xfrm>
          <a:prstGeom prst="rect">
            <a:avLst/>
          </a:prstGeom>
          <a:noFill/>
        </p:spPr>
        <p:txBody>
          <a:bodyPr wrap="square" lIns="0" rIns="0" tIns="0" bIns="0" anchor="t">
            <a:spAutoFit/>
          </a:bodyPr>
          <a:lstStyle/>
          <a:p>
            <a:r>
              <a:rPr sz="700" b="1" i="0">
                <a:solidFill>
                  <a:srgbClr val="1A1A1A"/>
                </a:solidFill>
                <a:latin typeface="Trenda IG Text"/>
              </a:rPr>
              <a:t>Gap: </a:t>
            </a:r>
            <a:r>
              <a:rPr sz="700" b="0" i="0">
                <a:solidFill>
                  <a:srgbClr val="4D4D4D"/>
                </a:solidFill>
                <a:latin typeface="Trenda IG Text"/>
              </a:rPr>
              <a:t>A product for many healthcare organizations cannot mix their PHI or policies.</a:t>
            </a:r>
          </a:p>
        </p:txBody>
      </p:sp>
      <p:sp>
        <p:nvSpPr>
          <p:cNvPr id="128" name="Shape 123"/>
          <p:cNvSpPr/>
          <p:nvPr/>
        </p:nvSpPr>
        <p:spPr>
          <a:xfrm>
            <a:off x="6259068" y="4910328"/>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24"/>
          <p:cNvSpPr txBox="1"/>
          <p:nvPr/>
        </p:nvSpPr>
        <p:spPr>
          <a:xfrm>
            <a:off x="6368796" y="4846320"/>
            <a:ext cx="2466594" cy="274320"/>
          </a:xfrm>
          <a:prstGeom prst="rect">
            <a:avLst/>
          </a:prstGeom>
          <a:noFill/>
        </p:spPr>
        <p:txBody>
          <a:bodyPr wrap="square" lIns="0" rIns="0" tIns="0" bIns="0" anchor="t">
            <a:spAutoFit/>
          </a:bodyPr>
          <a:lstStyle/>
          <a:p>
            <a:r>
              <a:rPr sz="700" b="0" i="0">
                <a:solidFill>
                  <a:srgbClr val="1A1A1A"/>
                </a:solidFill>
                <a:latin typeface="Trenda IG Text"/>
              </a:rPr>
              <a:t>Per-customer projects, datasets, CMEK keys and service identities</a:t>
            </a:r>
          </a:p>
        </p:txBody>
      </p:sp>
      <p:sp>
        <p:nvSpPr>
          <p:cNvPr id="130" name="Shape 125"/>
          <p:cNvSpPr/>
          <p:nvPr/>
        </p:nvSpPr>
        <p:spPr>
          <a:xfrm>
            <a:off x="6259068" y="5193792"/>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 126"/>
          <p:cNvSpPr txBox="1"/>
          <p:nvPr/>
        </p:nvSpPr>
        <p:spPr>
          <a:xfrm>
            <a:off x="6368796" y="5129783"/>
            <a:ext cx="2466594" cy="274320"/>
          </a:xfrm>
          <a:prstGeom prst="rect">
            <a:avLst/>
          </a:prstGeom>
          <a:noFill/>
        </p:spPr>
        <p:txBody>
          <a:bodyPr wrap="square" lIns="0" rIns="0" tIns="0" bIns="0" anchor="t">
            <a:spAutoFit/>
          </a:bodyPr>
          <a:lstStyle/>
          <a:p>
            <a:r>
              <a:rPr sz="700" b="0" i="0">
                <a:solidFill>
                  <a:srgbClr val="1A1A1A"/>
                </a:solidFill>
                <a:latin typeface="Trenda IG Text"/>
              </a:rPr>
              <a:t>Tenant-specific policies, retention and audit boundaries</a:t>
            </a:r>
          </a:p>
        </p:txBody>
      </p:sp>
      <p:sp>
        <p:nvSpPr>
          <p:cNvPr id="132" name="Shape 127"/>
          <p:cNvSpPr/>
          <p:nvPr/>
        </p:nvSpPr>
        <p:spPr>
          <a:xfrm>
            <a:off x="6259068" y="5477256"/>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28"/>
          <p:cNvSpPr txBox="1"/>
          <p:nvPr/>
        </p:nvSpPr>
        <p:spPr>
          <a:xfrm>
            <a:off x="6368796" y="5413248"/>
            <a:ext cx="2466594" cy="274320"/>
          </a:xfrm>
          <a:prstGeom prst="rect">
            <a:avLst/>
          </a:prstGeom>
          <a:noFill/>
        </p:spPr>
        <p:txBody>
          <a:bodyPr wrap="square" lIns="0" rIns="0" tIns="0" bIns="0" anchor="t">
            <a:spAutoFit/>
          </a:bodyPr>
          <a:lstStyle/>
          <a:p>
            <a:r>
              <a:rPr sz="700" b="0" i="0">
                <a:solidFill>
                  <a:srgbClr val="1A1A1A"/>
                </a:solidFill>
                <a:latin typeface="Trenda IG Text"/>
              </a:rPr>
              <a:t>No cross-tenant joins; proven with negative-access tests</a:t>
            </a:r>
          </a:p>
        </p:txBody>
      </p:sp>
      <p:sp>
        <p:nvSpPr>
          <p:cNvPr id="134" name="Shape 129"/>
          <p:cNvSpPr/>
          <p:nvPr/>
        </p:nvSpPr>
        <p:spPr>
          <a:xfrm>
            <a:off x="8999982" y="4169664"/>
            <a:ext cx="2795778" cy="1572768"/>
          </a:xfrm>
          <a:prstGeom prst="roundRect">
            <a:avLst>
              <a:gd name="adj" fmla="val 5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34" name="Shape 129"/>
          <p:cNvSpPr/>
          <p:nvPr/>
        </p:nvSpPr>
        <p:spPr>
          <a:xfrm>
            <a:off x="9018270" y="4187952"/>
            <a:ext cx="2759202" cy="1536192"/>
          </a:xfrm>
          <a:prstGeom prst="roundRect">
            <a:avLst>
              <a:gd name="adj" fmla="val 5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Shape 130"/>
          <p:cNvSpPr/>
          <p:nvPr/>
        </p:nvSpPr>
        <p:spPr>
          <a:xfrm>
            <a:off x="9018270" y="4187952"/>
            <a:ext cx="2759202"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 131"/>
          <p:cNvSpPr txBox="1"/>
          <p:nvPr/>
        </p:nvSpPr>
        <p:spPr>
          <a:xfrm>
            <a:off x="9109710" y="4187952"/>
            <a:ext cx="1936242" cy="274320"/>
          </a:xfrm>
          <a:prstGeom prst="rect">
            <a:avLst/>
          </a:prstGeom>
          <a:noFill/>
        </p:spPr>
        <p:txBody>
          <a:bodyPr wrap="square" lIns="0" rIns="0" tIns="0" bIns="0" anchor="ctr">
            <a:spAutoFit/>
          </a:bodyPr>
          <a:lstStyle/>
          <a:p>
            <a:r>
              <a:rPr sz="720" b="1" i="0">
                <a:solidFill>
                  <a:srgbClr val="1A1A1A"/>
                </a:solidFill>
                <a:latin typeface="Trenda IG Text"/>
              </a:rPr>
              <a:t>4  </a:t>
            </a:r>
            <a:r>
              <a:rPr sz="720" b="1" i="0">
                <a:solidFill>
                  <a:srgbClr val="1A1A1A"/>
                </a:solidFill>
                <a:latin typeface="Trenda IG Text"/>
              </a:rPr>
              <a:t>Complete HIPAA controls</a:t>
            </a:r>
          </a:p>
        </p:txBody>
      </p:sp>
      <p:sp>
        <p:nvSpPr>
          <p:cNvPr id="137" name="Shape 132"/>
          <p:cNvSpPr/>
          <p:nvPr/>
        </p:nvSpPr>
        <p:spPr>
          <a:xfrm>
            <a:off x="10936224" y="4251960"/>
            <a:ext cx="749808" cy="146304"/>
          </a:xfrm>
          <a:prstGeom prst="roundRect">
            <a:avLst>
              <a:gd name="adj" fmla="val 50000"/>
            </a:avLst>
          </a:prstGeom>
          <a:noFill/>
          <a:ln w="635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 133"/>
          <p:cNvSpPr txBox="1"/>
          <p:nvPr/>
        </p:nvSpPr>
        <p:spPr>
          <a:xfrm>
            <a:off x="10936224" y="4251960"/>
            <a:ext cx="749808" cy="146304"/>
          </a:xfrm>
          <a:prstGeom prst="rect">
            <a:avLst/>
          </a:prstGeom>
          <a:noFill/>
        </p:spPr>
        <p:txBody>
          <a:bodyPr wrap="square" lIns="0" rIns="0" tIns="0" bIns="0" anchor="ctr">
            <a:spAutoFit/>
          </a:bodyPr>
          <a:lstStyle/>
          <a:p>
            <a:pPr algn="ctr"/>
            <a:r>
              <a:rPr sz="700" b="1" i="0" spc="80">
                <a:solidFill>
                  <a:srgbClr val="1A1A1A"/>
                </a:solidFill>
                <a:latin typeface="Trenda IG Text"/>
              </a:rPr>
              <a:t>PROPOSED</a:t>
            </a:r>
          </a:p>
        </p:txBody>
      </p:sp>
      <p:sp>
        <p:nvSpPr>
          <p:cNvPr id="139" name="Text 134"/>
          <p:cNvSpPr txBox="1"/>
          <p:nvPr/>
        </p:nvSpPr>
        <p:spPr>
          <a:xfrm>
            <a:off x="9109710" y="4498848"/>
            <a:ext cx="2576322" cy="310896"/>
          </a:xfrm>
          <a:prstGeom prst="rect">
            <a:avLst/>
          </a:prstGeom>
          <a:noFill/>
        </p:spPr>
        <p:txBody>
          <a:bodyPr wrap="square" lIns="0" rIns="0" tIns="0" bIns="0" anchor="t">
            <a:spAutoFit/>
          </a:bodyPr>
          <a:lstStyle/>
          <a:p>
            <a:r>
              <a:rPr sz="700" b="1" i="0">
                <a:solidFill>
                  <a:srgbClr val="1A1A1A"/>
                </a:solidFill>
                <a:latin typeface="Trenda IG Text"/>
              </a:rPr>
              <a:t>Gap: </a:t>
            </a:r>
            <a:r>
              <a:rPr sz="700" b="0" i="0">
                <a:solidFill>
                  <a:srgbClr val="4D4D4D"/>
                </a:solidFill>
                <a:latin typeface="Trenda IG Text"/>
              </a:rPr>
              <a:t>Technical controls and audit evidence are not compliance on their own.</a:t>
            </a:r>
          </a:p>
        </p:txBody>
      </p:sp>
      <p:sp>
        <p:nvSpPr>
          <p:cNvPr id="140" name="Shape 135"/>
          <p:cNvSpPr/>
          <p:nvPr/>
        </p:nvSpPr>
        <p:spPr>
          <a:xfrm>
            <a:off x="9127998" y="4910328"/>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 136"/>
          <p:cNvSpPr txBox="1"/>
          <p:nvPr/>
        </p:nvSpPr>
        <p:spPr>
          <a:xfrm>
            <a:off x="9237726" y="4846320"/>
            <a:ext cx="2466594" cy="274320"/>
          </a:xfrm>
          <a:prstGeom prst="rect">
            <a:avLst/>
          </a:prstGeom>
          <a:noFill/>
        </p:spPr>
        <p:txBody>
          <a:bodyPr wrap="square" lIns="0" rIns="0" tIns="0" bIns="0" anchor="t">
            <a:spAutoFit/>
          </a:bodyPr>
          <a:lstStyle/>
          <a:p>
            <a:r>
              <a:rPr sz="700" b="0" i="0">
                <a:solidFill>
                  <a:srgbClr val="1A1A1A"/>
                </a:solidFill>
                <a:latin typeface="Trenda IG Text"/>
              </a:rPr>
              <a:t>Compliance control register: evidence mapped to Privacy, Security and Breach Notification safeguards</a:t>
            </a:r>
          </a:p>
        </p:txBody>
      </p:sp>
      <p:sp>
        <p:nvSpPr>
          <p:cNvPr id="142" name="Shape 137"/>
          <p:cNvSpPr/>
          <p:nvPr/>
        </p:nvSpPr>
        <p:spPr>
          <a:xfrm>
            <a:off x="9127998" y="5193792"/>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 138"/>
          <p:cNvSpPr txBox="1"/>
          <p:nvPr/>
        </p:nvSpPr>
        <p:spPr>
          <a:xfrm>
            <a:off x="9237726" y="5129783"/>
            <a:ext cx="2466594" cy="274320"/>
          </a:xfrm>
          <a:prstGeom prst="rect">
            <a:avLst/>
          </a:prstGeom>
          <a:noFill/>
        </p:spPr>
        <p:txBody>
          <a:bodyPr wrap="square" lIns="0" rIns="0" tIns="0" bIns="0" anchor="t">
            <a:spAutoFit/>
          </a:bodyPr>
          <a:lstStyle/>
          <a:p>
            <a:r>
              <a:rPr sz="700" b="0" i="0">
                <a:solidFill>
                  <a:srgbClr val="1A1A1A"/>
                </a:solidFill>
                <a:latin typeface="Trenda IG Text"/>
              </a:rPr>
              <a:t>BAAs, risk analysis, workforce training, access reviews</a:t>
            </a:r>
          </a:p>
        </p:txBody>
      </p:sp>
      <p:sp>
        <p:nvSpPr>
          <p:cNvPr id="144" name="Shape 139"/>
          <p:cNvSpPr/>
          <p:nvPr/>
        </p:nvSpPr>
        <p:spPr>
          <a:xfrm>
            <a:off x="9127998" y="5477256"/>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 140"/>
          <p:cNvSpPr txBox="1"/>
          <p:nvPr/>
        </p:nvSpPr>
        <p:spPr>
          <a:xfrm>
            <a:off x="9237726" y="5413248"/>
            <a:ext cx="2466594" cy="274320"/>
          </a:xfrm>
          <a:prstGeom prst="rect">
            <a:avLst/>
          </a:prstGeom>
          <a:noFill/>
        </p:spPr>
        <p:txBody>
          <a:bodyPr wrap="square" lIns="0" rIns="0" tIns="0" bIns="0" anchor="t">
            <a:spAutoFit/>
          </a:bodyPr>
          <a:lstStyle/>
          <a:p>
            <a:r>
              <a:rPr sz="700" b="0" i="0">
                <a:solidFill>
                  <a:srgbClr val="1A1A1A"/>
                </a:solidFill>
                <a:latin typeface="Trenda IG Text"/>
              </a:rPr>
              <a:t>Incident and breach handling; independent approval to weaken any policy</a:t>
            </a:r>
          </a:p>
        </p:txBody>
      </p:sp>
      <p:sp>
        <p:nvSpPr>
          <p:cNvPr id="146" name="Shape 141"/>
          <p:cNvSpPr/>
          <p:nvPr/>
        </p:nvSpPr>
        <p:spPr>
          <a:xfrm>
            <a:off x="411480" y="5806440"/>
            <a:ext cx="11365992" cy="420624"/>
          </a:xfrm>
          <a:prstGeom prst="roundRect">
            <a:avLst>
              <a:gd name="adj" fmla="val 2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 142"/>
          <p:cNvSpPr txBox="1"/>
          <p:nvPr/>
        </p:nvSpPr>
        <p:spPr>
          <a:xfrm>
            <a:off x="548640" y="5806440"/>
            <a:ext cx="11064240" cy="420624"/>
          </a:xfrm>
          <a:prstGeom prst="rect">
            <a:avLst/>
          </a:prstGeom>
          <a:noFill/>
        </p:spPr>
        <p:txBody>
          <a:bodyPr wrap="square" lIns="0" rIns="0" tIns="0" bIns="0" anchor="ctr">
            <a:spAutoFit/>
          </a:bodyPr>
          <a:lstStyle/>
          <a:p>
            <a:r>
              <a:rPr sz="700" b="1" i="0" spc="100">
                <a:solidFill>
                  <a:srgbClr val="1A1A1A"/>
                </a:solidFill>
                <a:latin typeface="Trenda IG Text"/>
              </a:rPr>
              <a:t>HOW WE PROVE IT  </a:t>
            </a:r>
            <a:r>
              <a:rPr sz="700" b="0" i="0">
                <a:solidFill>
                  <a:srgbClr val="1A1A1A"/>
                </a:solidFill>
                <a:latin typeface="Trenda IG Text"/>
              </a:rPr>
              <a:t>Discovery inventory across the approved scope · row-level security and authorized views with masking · raw access isolated from the LLM runtime · negative-access tests · drift detection · periodic access review. </a:t>
            </a:r>
            <a:r>
              <a:rPr sz="700" b="1" i="0">
                <a:solidFill>
                  <a:srgbClr val="1A1A1A"/>
                </a:solidFill>
                <a:latin typeface="Trenda IG Text"/>
              </a:rPr>
              <a:t>PROPOSED items are design, not production evidence.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AGENTIC HEALTHCARE CAMPAIGN PLATFORM · END TO END (FOR REVIEW)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From governed data to a tested, approved campaign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Read top to bottom: the data is governed in Google Cloud first, then the user prompts in Codex, then approved patients are released to Marketing Cloud.</a:t>
            </a:r>
          </a:p>
        </p:txBody>
      </p:sp>
      <p:sp>
        <p:nvSpPr>
          <p:cNvPr id="5" name="Shape 4"/>
          <p:cNvSpPr/>
          <p:nvPr/>
        </p:nvSpPr>
        <p:spPr>
          <a:xfrm>
            <a:off x="411480" y="1170432"/>
            <a:ext cx="11201400" cy="1207008"/>
          </a:xfrm>
          <a:prstGeom prst="roundRect">
            <a:avLst>
              <a:gd name="adj" fmla="val 2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70432"/>
            <a:ext cx="11201400" cy="2377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googlecloud.png"/>
          <p:cNvPicPr>
            <a:picLocks noChangeAspect="1"/>
          </p:cNvPicPr>
          <p:nvPr/>
        </p:nvPicPr>
        <p:blipFill>
          <a:blip r:embed="rId2"/>
          <a:stretch>
            <a:fillRect/>
          </a:stretch>
        </p:blipFill>
        <p:spPr>
          <a:xfrm>
            <a:off x="484632" y="1197864"/>
            <a:ext cx="182880" cy="182880"/>
          </a:xfrm>
          <a:prstGeom prst="rect">
            <a:avLst/>
          </a:prstGeom>
        </p:spPr>
      </p:pic>
      <p:sp>
        <p:nvSpPr>
          <p:cNvPr id="8" name="Text 6"/>
          <p:cNvSpPr txBox="1"/>
          <p:nvPr/>
        </p:nvSpPr>
        <p:spPr>
          <a:xfrm>
            <a:off x="731520" y="1170432"/>
            <a:ext cx="10744200" cy="237744"/>
          </a:xfrm>
          <a:prstGeom prst="rect">
            <a:avLst/>
          </a:prstGeom>
          <a:noFill/>
        </p:spPr>
        <p:txBody>
          <a:bodyPr wrap="square" lIns="0" rIns="0" tIns="0" bIns="0" anchor="ctr">
            <a:spAutoFit/>
          </a:bodyPr>
          <a:lstStyle/>
          <a:p>
            <a:pPr algn="r"/>
            <a:r>
              <a:rPr sz="700" b="1" i="0" spc="100">
                <a:solidFill>
                  <a:srgbClr val="1A1A1A"/>
                </a:solidFill>
                <a:latin typeface="Trenda IG Text"/>
              </a:rPr>
              <a:t>1  GOVERN THE DATA IN GOOGLE CLOUD</a:t>
            </a:r>
          </a:p>
        </p:txBody>
      </p:sp>
      <p:sp>
        <p:nvSpPr>
          <p:cNvPr id="9" name="Shape 7"/>
          <p:cNvSpPr/>
          <p:nvPr/>
        </p:nvSpPr>
        <p:spPr>
          <a:xfrm>
            <a:off x="548640" y="1481328"/>
            <a:ext cx="2068372" cy="877824"/>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hape 8"/>
          <p:cNvSpPr/>
          <p:nvPr/>
        </p:nvSpPr>
        <p:spPr>
          <a:xfrm>
            <a:off x="621792" y="154533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 9"/>
          <p:cNvSpPr txBox="1"/>
          <p:nvPr/>
        </p:nvSpPr>
        <p:spPr>
          <a:xfrm>
            <a:off x="621792" y="154533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a:t>
            </a:r>
          </a:p>
        </p:txBody>
      </p:sp>
      <p:pic>
        <p:nvPicPr>
          <p:cNvPr id="12" name="Picture 11" descr="googlecloud.png"/>
          <p:cNvPicPr>
            <a:picLocks noChangeAspect="1"/>
          </p:cNvPicPr>
          <p:nvPr/>
        </p:nvPicPr>
        <p:blipFill>
          <a:blip r:embed="rId2"/>
          <a:stretch>
            <a:fillRect/>
          </a:stretch>
        </p:blipFill>
        <p:spPr>
          <a:xfrm>
            <a:off x="877824" y="1545336"/>
            <a:ext cx="182880" cy="182880"/>
          </a:xfrm>
          <a:prstGeom prst="rect">
            <a:avLst/>
          </a:prstGeom>
        </p:spPr>
      </p:pic>
      <p:sp>
        <p:nvSpPr>
          <p:cNvPr id="13" name="Text 10"/>
          <p:cNvSpPr txBox="1"/>
          <p:nvPr/>
        </p:nvSpPr>
        <p:spPr>
          <a:xfrm>
            <a:off x="1115568" y="1536192"/>
            <a:ext cx="1428292" cy="201168"/>
          </a:xfrm>
          <a:prstGeom prst="rect">
            <a:avLst/>
          </a:prstGeom>
          <a:noFill/>
        </p:spPr>
        <p:txBody>
          <a:bodyPr wrap="square" lIns="0" rIns="0" tIns="0" bIns="0" anchor="ctr">
            <a:spAutoFit/>
          </a:bodyPr>
          <a:lstStyle/>
          <a:p>
            <a:r>
              <a:rPr sz="700" b="1" i="0">
                <a:solidFill>
                  <a:srgbClr val="1A1A1A"/>
                </a:solidFill>
                <a:latin typeface="Trenda IG Text"/>
              </a:rPr>
              <a:t>Sources</a:t>
            </a:r>
          </a:p>
        </p:txBody>
      </p:sp>
      <p:sp>
        <p:nvSpPr>
          <p:cNvPr id="14" name="Text 11"/>
          <p:cNvSpPr txBox="1"/>
          <p:nvPr/>
        </p:nvSpPr>
        <p:spPr>
          <a:xfrm>
            <a:off x="640080" y="1764792"/>
            <a:ext cx="1885492" cy="566927"/>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Epic, athenahealth, ADSI, Strata, SFDC, SFMC engagement. Approved datasets only.</a:t>
            </a:r>
          </a:p>
        </p:txBody>
      </p:sp>
      <p:cxnSp>
        <p:nvCxnSpPr>
          <p:cNvPr id="15" name="Arrow 12"/>
          <p:cNvCxnSpPr/>
          <p:nvPr/>
        </p:nvCxnSpPr>
        <p:spPr>
          <a:xfrm>
            <a:off x="2617012" y="1920240"/>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hape 13"/>
          <p:cNvSpPr/>
          <p:nvPr/>
        </p:nvSpPr>
        <p:spPr>
          <a:xfrm>
            <a:off x="2763316" y="1481328"/>
            <a:ext cx="2068372" cy="877824"/>
          </a:xfrm>
          <a:prstGeom prst="roundRect">
            <a:avLst>
              <a:gd name="adj" fmla="val 7000"/>
            </a:avLst>
          </a:prstGeom>
          <a:solidFill>
            <a:srgbClr val="F8ECE0"/>
          </a:solidFill>
          <a:ln w="15875">
            <a:solidFill>
              <a:srgbClr val="CD7F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hape 14"/>
          <p:cNvSpPr/>
          <p:nvPr/>
        </p:nvSpPr>
        <p:spPr>
          <a:xfrm>
            <a:off x="2836468" y="1545336"/>
            <a:ext cx="201168" cy="201168"/>
          </a:xfrm>
          <a:prstGeom prst="ellipse">
            <a:avLst/>
          </a:prstGeom>
          <a:solidFill>
            <a:srgbClr val="CD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5"/>
          <p:cNvSpPr txBox="1"/>
          <p:nvPr/>
        </p:nvSpPr>
        <p:spPr>
          <a:xfrm>
            <a:off x="2836468" y="154533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2</a:t>
            </a:r>
          </a:p>
        </p:txBody>
      </p:sp>
      <p:sp>
        <p:nvSpPr>
          <p:cNvPr id="19" name="Text 16"/>
          <p:cNvSpPr txBox="1"/>
          <p:nvPr/>
        </p:nvSpPr>
        <p:spPr>
          <a:xfrm>
            <a:off x="3092500" y="1536192"/>
            <a:ext cx="1666036" cy="201168"/>
          </a:xfrm>
          <a:prstGeom prst="rect">
            <a:avLst/>
          </a:prstGeom>
          <a:noFill/>
        </p:spPr>
        <p:txBody>
          <a:bodyPr wrap="square" lIns="0" rIns="0" tIns="0" bIns="0" anchor="ctr">
            <a:spAutoFit/>
          </a:bodyPr>
          <a:lstStyle/>
          <a:p>
            <a:r>
              <a:rPr sz="700" b="1" i="0">
                <a:solidFill>
                  <a:srgbClr val="1A1A1A"/>
                </a:solidFill>
                <a:latin typeface="Trenda IG Text"/>
              </a:rPr>
              <a:t>Bronze</a:t>
            </a:r>
          </a:p>
        </p:txBody>
      </p:sp>
      <p:sp>
        <p:nvSpPr>
          <p:cNvPr id="20" name="Text 17"/>
          <p:cNvSpPr txBox="1"/>
          <p:nvPr/>
        </p:nvSpPr>
        <p:spPr>
          <a:xfrm>
            <a:off x="2854756" y="1764792"/>
            <a:ext cx="1885492" cy="566927"/>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Approved raw extracts with lineage and timestamps. Restricted access.</a:t>
            </a:r>
          </a:p>
        </p:txBody>
      </p:sp>
      <p:cxnSp>
        <p:nvCxnSpPr>
          <p:cNvPr id="21" name="Arrow 18"/>
          <p:cNvCxnSpPr/>
          <p:nvPr/>
        </p:nvCxnSpPr>
        <p:spPr>
          <a:xfrm>
            <a:off x="4831689" y="1920240"/>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hape 19"/>
          <p:cNvSpPr/>
          <p:nvPr/>
        </p:nvSpPr>
        <p:spPr>
          <a:xfrm>
            <a:off x="4977993" y="1481328"/>
            <a:ext cx="2068372" cy="877824"/>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hape 20"/>
          <p:cNvSpPr/>
          <p:nvPr/>
        </p:nvSpPr>
        <p:spPr>
          <a:xfrm>
            <a:off x="5051145" y="154533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1"/>
          <p:cNvSpPr txBox="1"/>
          <p:nvPr/>
        </p:nvSpPr>
        <p:spPr>
          <a:xfrm>
            <a:off x="5051145" y="154533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3</a:t>
            </a:r>
          </a:p>
        </p:txBody>
      </p:sp>
      <p:sp>
        <p:nvSpPr>
          <p:cNvPr id="25" name="Text 22"/>
          <p:cNvSpPr txBox="1"/>
          <p:nvPr/>
        </p:nvSpPr>
        <p:spPr>
          <a:xfrm>
            <a:off x="5307177" y="1536192"/>
            <a:ext cx="1666036" cy="201168"/>
          </a:xfrm>
          <a:prstGeom prst="rect">
            <a:avLst/>
          </a:prstGeom>
          <a:noFill/>
        </p:spPr>
        <p:txBody>
          <a:bodyPr wrap="square" lIns="0" rIns="0" tIns="0" bIns="0" anchor="ctr">
            <a:spAutoFit/>
          </a:bodyPr>
          <a:lstStyle/>
          <a:p>
            <a:r>
              <a:rPr sz="700" b="1" i="0">
                <a:solidFill>
                  <a:srgbClr val="1A1A1A"/>
                </a:solidFill>
                <a:latin typeface="Trenda IG Text"/>
              </a:rPr>
              <a:t>DLP + Collibra</a:t>
            </a:r>
          </a:p>
        </p:txBody>
      </p:sp>
      <p:sp>
        <p:nvSpPr>
          <p:cNvPr id="26" name="Text 23"/>
          <p:cNvSpPr txBox="1"/>
          <p:nvPr/>
        </p:nvSpPr>
        <p:spPr>
          <a:xfrm>
            <a:off x="5069433" y="1764792"/>
            <a:ext cx="1885492" cy="566927"/>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DLP classifies, the Collibra steward approves, policy tags mask PHI.</a:t>
            </a:r>
          </a:p>
        </p:txBody>
      </p:sp>
      <p:cxnSp>
        <p:nvCxnSpPr>
          <p:cNvPr id="27" name="Arrow 24"/>
          <p:cNvCxnSpPr/>
          <p:nvPr/>
        </p:nvCxnSpPr>
        <p:spPr>
          <a:xfrm>
            <a:off x="7046366" y="1920240"/>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hape 25"/>
          <p:cNvSpPr/>
          <p:nvPr/>
        </p:nvSpPr>
        <p:spPr>
          <a:xfrm>
            <a:off x="7192670" y="1481328"/>
            <a:ext cx="2068372" cy="877824"/>
          </a:xfrm>
          <a:prstGeom prst="roundRect">
            <a:avLst>
              <a:gd name="adj" fmla="val 7000"/>
            </a:avLst>
          </a:prstGeom>
          <a:solidFill>
            <a:srgbClr val="F0F1F2"/>
          </a:solidFill>
          <a:ln w="1587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hape 26"/>
          <p:cNvSpPr/>
          <p:nvPr/>
        </p:nvSpPr>
        <p:spPr>
          <a:xfrm>
            <a:off x="7265822" y="1545336"/>
            <a:ext cx="201168" cy="201168"/>
          </a:xfrm>
          <a:prstGeom prst="ellipse">
            <a:avLst/>
          </a:prstGeom>
          <a:solidFill>
            <a:srgbClr val="A8A9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7"/>
          <p:cNvSpPr txBox="1"/>
          <p:nvPr/>
        </p:nvSpPr>
        <p:spPr>
          <a:xfrm>
            <a:off x="7265822" y="154533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4</a:t>
            </a:r>
          </a:p>
        </p:txBody>
      </p:sp>
      <p:sp>
        <p:nvSpPr>
          <p:cNvPr id="31" name="Text 28"/>
          <p:cNvSpPr txBox="1"/>
          <p:nvPr/>
        </p:nvSpPr>
        <p:spPr>
          <a:xfrm>
            <a:off x="7521854" y="1536192"/>
            <a:ext cx="1666036" cy="201168"/>
          </a:xfrm>
          <a:prstGeom prst="rect">
            <a:avLst/>
          </a:prstGeom>
          <a:noFill/>
        </p:spPr>
        <p:txBody>
          <a:bodyPr wrap="square" lIns="0" rIns="0" tIns="0" bIns="0" anchor="ctr">
            <a:spAutoFit/>
          </a:bodyPr>
          <a:lstStyle/>
          <a:p>
            <a:r>
              <a:rPr sz="700" b="1" i="0">
                <a:solidFill>
                  <a:srgbClr val="1A1A1A"/>
                </a:solidFill>
                <a:latin typeface="Trenda IG Text"/>
              </a:rPr>
              <a:t>Silver</a:t>
            </a:r>
          </a:p>
        </p:txBody>
      </p:sp>
      <p:sp>
        <p:nvSpPr>
          <p:cNvPr id="32" name="Text 29"/>
          <p:cNvSpPr txBox="1"/>
          <p:nvPr/>
        </p:nvSpPr>
        <p:spPr>
          <a:xfrm>
            <a:off x="7284110" y="1764792"/>
            <a:ext cx="1885492" cy="566927"/>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Validated identities, encounters, contacts, consent evidence. Keeps everyone.</a:t>
            </a:r>
          </a:p>
        </p:txBody>
      </p:sp>
      <p:sp>
        <p:nvSpPr>
          <p:cNvPr id="33" name="Shape 30"/>
          <p:cNvSpPr/>
          <p:nvPr/>
        </p:nvSpPr>
        <p:spPr>
          <a:xfrm>
            <a:off x="9407347" y="1481328"/>
            <a:ext cx="2068372" cy="411479"/>
          </a:xfrm>
          <a:prstGeom prst="roundRect">
            <a:avLst>
              <a:gd name="adj" fmla="val 7000"/>
            </a:avLst>
          </a:prstGeom>
          <a:solidFill>
            <a:srgbClr val="FBF4DC"/>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Shape 31"/>
          <p:cNvSpPr/>
          <p:nvPr/>
        </p:nvSpPr>
        <p:spPr>
          <a:xfrm>
            <a:off x="9480499" y="1545336"/>
            <a:ext cx="201168" cy="20116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32"/>
          <p:cNvSpPr txBox="1"/>
          <p:nvPr/>
        </p:nvSpPr>
        <p:spPr>
          <a:xfrm>
            <a:off x="9480499" y="154533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5</a:t>
            </a:r>
          </a:p>
        </p:txBody>
      </p:sp>
      <p:sp>
        <p:nvSpPr>
          <p:cNvPr id="36" name="Text 33"/>
          <p:cNvSpPr txBox="1"/>
          <p:nvPr/>
        </p:nvSpPr>
        <p:spPr>
          <a:xfrm>
            <a:off x="9736531" y="1536192"/>
            <a:ext cx="1666036" cy="201168"/>
          </a:xfrm>
          <a:prstGeom prst="rect">
            <a:avLst/>
          </a:prstGeom>
          <a:noFill/>
        </p:spPr>
        <p:txBody>
          <a:bodyPr wrap="square" lIns="0" rIns="0" tIns="0" bIns="0" anchor="ctr">
            <a:spAutoFit/>
          </a:bodyPr>
          <a:lstStyle/>
          <a:p>
            <a:r>
              <a:rPr sz="700" b="1" i="0">
                <a:solidFill>
                  <a:srgbClr val="1A1A1A"/>
                </a:solidFill>
                <a:latin typeface="Trenda IG Text"/>
              </a:rPr>
              <a:t>Gold B · eligibility</a:t>
            </a:r>
          </a:p>
        </p:txBody>
      </p:sp>
      <p:sp>
        <p:nvSpPr>
          <p:cNvPr id="37" name="Text 34"/>
          <p:cNvSpPr txBox="1"/>
          <p:nvPr/>
        </p:nvSpPr>
        <p:spPr>
          <a:xfrm>
            <a:off x="9498787" y="1764792"/>
            <a:ext cx="1885492" cy="100583"/>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Identity-linked; restricted services only</a:t>
            </a:r>
          </a:p>
        </p:txBody>
      </p:sp>
      <p:sp>
        <p:nvSpPr>
          <p:cNvPr id="38" name="Shape 35"/>
          <p:cNvSpPr/>
          <p:nvPr/>
        </p:nvSpPr>
        <p:spPr>
          <a:xfrm>
            <a:off x="9407347" y="1947672"/>
            <a:ext cx="2068372" cy="411479"/>
          </a:xfrm>
          <a:prstGeom prst="roundRect">
            <a:avLst>
              <a:gd name="adj" fmla="val 7000"/>
            </a:avLst>
          </a:prstGeom>
          <a:solidFill>
            <a:srgbClr val="FBF4DC"/>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hape 36"/>
          <p:cNvSpPr/>
          <p:nvPr/>
        </p:nvSpPr>
        <p:spPr>
          <a:xfrm>
            <a:off x="9480499" y="2011680"/>
            <a:ext cx="201168" cy="20116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7"/>
          <p:cNvSpPr txBox="1"/>
          <p:nvPr/>
        </p:nvSpPr>
        <p:spPr>
          <a:xfrm>
            <a:off x="9480499" y="2011680"/>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6</a:t>
            </a:r>
          </a:p>
        </p:txBody>
      </p:sp>
      <p:pic>
        <p:nvPicPr>
          <p:cNvPr id="41" name="Picture 40" descr="googlebigquery.png"/>
          <p:cNvPicPr>
            <a:picLocks noChangeAspect="1"/>
          </p:cNvPicPr>
          <p:nvPr/>
        </p:nvPicPr>
        <p:blipFill>
          <a:blip r:embed="rId3"/>
          <a:stretch>
            <a:fillRect/>
          </a:stretch>
        </p:blipFill>
        <p:spPr>
          <a:xfrm>
            <a:off x="9736531" y="2011680"/>
            <a:ext cx="182880" cy="182880"/>
          </a:xfrm>
          <a:prstGeom prst="rect">
            <a:avLst/>
          </a:prstGeom>
        </p:spPr>
      </p:pic>
      <p:sp>
        <p:nvSpPr>
          <p:cNvPr id="42" name="Text 38"/>
          <p:cNvSpPr txBox="1"/>
          <p:nvPr/>
        </p:nvSpPr>
        <p:spPr>
          <a:xfrm>
            <a:off x="9974275" y="2002536"/>
            <a:ext cx="1428292" cy="201168"/>
          </a:xfrm>
          <a:prstGeom prst="rect">
            <a:avLst/>
          </a:prstGeom>
          <a:noFill/>
        </p:spPr>
        <p:txBody>
          <a:bodyPr wrap="square" lIns="0" rIns="0" tIns="0" bIns="0" anchor="ctr">
            <a:spAutoFit/>
          </a:bodyPr>
          <a:lstStyle/>
          <a:p>
            <a:r>
              <a:rPr sz="700" b="1" i="0">
                <a:solidFill>
                  <a:srgbClr val="1A1A1A"/>
                </a:solidFill>
                <a:latin typeface="Trenda IG Text"/>
              </a:rPr>
              <a:t>Gold A · intelligence</a:t>
            </a:r>
          </a:p>
        </p:txBody>
      </p:sp>
      <p:sp>
        <p:nvSpPr>
          <p:cNvPr id="43" name="Text 39"/>
          <p:cNvSpPr txBox="1"/>
          <p:nvPr/>
        </p:nvSpPr>
        <p:spPr>
          <a:xfrm>
            <a:off x="9498787" y="2231136"/>
            <a:ext cx="1885492" cy="100583"/>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Aggregates: Heart, Maternity, General, more</a:t>
            </a:r>
          </a:p>
        </p:txBody>
      </p:sp>
      <p:cxnSp>
        <p:nvCxnSpPr>
          <p:cNvPr id="44" name="Arrow 40"/>
          <p:cNvCxnSpPr/>
          <p:nvPr/>
        </p:nvCxnSpPr>
        <p:spPr>
          <a:xfrm>
            <a:off x="9261043" y="1687068"/>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Arrow 41"/>
          <p:cNvCxnSpPr/>
          <p:nvPr/>
        </p:nvCxnSpPr>
        <p:spPr>
          <a:xfrm>
            <a:off x="9261043" y="2153412"/>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Arrow 42"/>
          <p:cNvCxnSpPr/>
          <p:nvPr/>
        </p:nvCxnSpPr>
        <p:spPr>
          <a:xfrm>
            <a:off x="411480" y="2514600"/>
            <a:ext cx="11201400" cy="0"/>
          </a:xfrm>
          <a:prstGeom prst="line">
            <a:avLst/>
          </a:prstGeom>
          <a:ln w="9525">
            <a:solidFill>
              <a:srgbClr val="D0D0D0"/>
            </a:solidFill>
            <a:prstDash val="dash"/>
          </a:ln>
        </p:spPr>
        <p:style>
          <a:lnRef idx="2">
            <a:schemeClr val="accent1"/>
          </a:lnRef>
          <a:fillRef idx="0">
            <a:schemeClr val="accent1"/>
          </a:fillRef>
          <a:effectRef idx="1">
            <a:schemeClr val="accent1"/>
          </a:effectRef>
          <a:fontRef idx="minor">
            <a:schemeClr val="tx1"/>
          </a:fontRef>
        </p:style>
      </p:cxnSp>
      <p:sp>
        <p:nvSpPr>
          <p:cNvPr id="47" name="Shape 43"/>
          <p:cNvSpPr/>
          <p:nvPr/>
        </p:nvSpPr>
        <p:spPr>
          <a:xfrm>
            <a:off x="548640" y="2432304"/>
            <a:ext cx="2743200" cy="164592"/>
          </a:xfrm>
          <a:prstGeom prst="roundRect">
            <a:avLst>
              <a:gd name="adj" fmla="val 50000"/>
            </a:avLst>
          </a:prstGeom>
          <a:solidFill>
            <a:srgbClr val="E6E6E6"/>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4"/>
          <p:cNvSpPr txBox="1"/>
          <p:nvPr/>
        </p:nvSpPr>
        <p:spPr>
          <a:xfrm>
            <a:off x="548640" y="2432304"/>
            <a:ext cx="2743200" cy="164592"/>
          </a:xfrm>
          <a:prstGeom prst="rect">
            <a:avLst/>
          </a:prstGeom>
          <a:noFill/>
        </p:spPr>
        <p:txBody>
          <a:bodyPr wrap="square" lIns="0" rIns="0" tIns="0" bIns="0" anchor="ctr">
            <a:spAutoFit/>
          </a:bodyPr>
          <a:lstStyle/>
          <a:p>
            <a:pPr algn="ctr"/>
            <a:r>
              <a:rPr sz="700" b="1" i="0" spc="80">
                <a:solidFill>
                  <a:srgbClr val="1A1A1A"/>
                </a:solidFill>
                <a:latin typeface="Trenda IG Text"/>
              </a:rPr>
              <a:t>TRUST BOUNDARY · AGENTS: NO RAW-PHI ACCESS</a:t>
            </a:r>
          </a:p>
        </p:txBody>
      </p:sp>
      <p:sp>
        <p:nvSpPr>
          <p:cNvPr id="49" name="Shape 45"/>
          <p:cNvSpPr/>
          <p:nvPr/>
        </p:nvSpPr>
        <p:spPr>
          <a:xfrm>
            <a:off x="411480" y="2651760"/>
            <a:ext cx="11201400" cy="1600200"/>
          </a:xfrm>
          <a:prstGeom prst="roundRect">
            <a:avLst>
              <a:gd name="adj" fmla="val 2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Shape 46"/>
          <p:cNvSpPr/>
          <p:nvPr/>
        </p:nvSpPr>
        <p:spPr>
          <a:xfrm>
            <a:off x="411480" y="2651760"/>
            <a:ext cx="11201400" cy="2377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harness.png"/>
          <p:cNvPicPr>
            <a:picLocks noChangeAspect="1"/>
          </p:cNvPicPr>
          <p:nvPr/>
        </p:nvPicPr>
        <p:blipFill>
          <a:blip r:embed="rId4"/>
          <a:stretch>
            <a:fillRect/>
          </a:stretch>
        </p:blipFill>
        <p:spPr>
          <a:xfrm>
            <a:off x="484632" y="2679191"/>
            <a:ext cx="182880" cy="182880"/>
          </a:xfrm>
          <a:prstGeom prst="rect">
            <a:avLst/>
          </a:prstGeom>
        </p:spPr>
      </p:pic>
      <p:sp>
        <p:nvSpPr>
          <p:cNvPr id="52" name="Text 47"/>
          <p:cNvSpPr txBox="1"/>
          <p:nvPr/>
        </p:nvSpPr>
        <p:spPr>
          <a:xfrm>
            <a:off x="731520" y="2651760"/>
            <a:ext cx="10744200" cy="237744"/>
          </a:xfrm>
          <a:prstGeom prst="rect">
            <a:avLst/>
          </a:prstGeom>
          <a:noFill/>
        </p:spPr>
        <p:txBody>
          <a:bodyPr wrap="square" lIns="0" rIns="0" tIns="0" bIns="0" anchor="ctr">
            <a:spAutoFit/>
          </a:bodyPr>
          <a:lstStyle/>
          <a:p>
            <a:pPr algn="r"/>
            <a:r>
              <a:rPr sz="700" b="1" i="0" spc="100">
                <a:solidFill>
                  <a:srgbClr val="1A1A1A"/>
                </a:solidFill>
                <a:latin typeface="Trenda IG Text"/>
              </a:rPr>
              <a:t>2  PROMPT IN CODEX, PLAN, BUILD + TEST · MASKED DATA ONLY</a:t>
            </a:r>
          </a:p>
        </p:txBody>
      </p:sp>
      <p:sp>
        <p:nvSpPr>
          <p:cNvPr id="53" name="Shape 48"/>
          <p:cNvSpPr/>
          <p:nvPr/>
        </p:nvSpPr>
        <p:spPr>
          <a:xfrm>
            <a:off x="548640" y="2944368"/>
            <a:ext cx="1699259" cy="713232"/>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Shape 49"/>
          <p:cNvSpPr/>
          <p:nvPr/>
        </p:nvSpPr>
        <p:spPr>
          <a:xfrm>
            <a:off x="621792" y="3008375"/>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0"/>
          <p:cNvSpPr txBox="1"/>
          <p:nvPr/>
        </p:nvSpPr>
        <p:spPr>
          <a:xfrm>
            <a:off x="621792" y="3008375"/>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7</a:t>
            </a:r>
          </a:p>
        </p:txBody>
      </p:sp>
      <p:pic>
        <p:nvPicPr>
          <p:cNvPr id="56" name="Picture 55" descr="openai-white.png"/>
          <p:cNvPicPr>
            <a:picLocks noChangeAspect="1"/>
          </p:cNvPicPr>
          <p:nvPr/>
        </p:nvPicPr>
        <p:blipFill>
          <a:blip r:embed="rId5"/>
          <a:stretch>
            <a:fillRect/>
          </a:stretch>
        </p:blipFill>
        <p:spPr>
          <a:xfrm>
            <a:off x="877824" y="3008375"/>
            <a:ext cx="182880" cy="182880"/>
          </a:xfrm>
          <a:prstGeom prst="rect">
            <a:avLst/>
          </a:prstGeom>
        </p:spPr>
      </p:pic>
      <p:sp>
        <p:nvSpPr>
          <p:cNvPr id="57" name="Text 51"/>
          <p:cNvSpPr txBox="1"/>
          <p:nvPr/>
        </p:nvSpPr>
        <p:spPr>
          <a:xfrm>
            <a:off x="1115568" y="2999232"/>
            <a:ext cx="1059179" cy="201168"/>
          </a:xfrm>
          <a:prstGeom prst="rect">
            <a:avLst/>
          </a:prstGeom>
          <a:noFill/>
        </p:spPr>
        <p:txBody>
          <a:bodyPr wrap="square" lIns="0" rIns="0" tIns="0" bIns="0" anchor="ctr">
            <a:spAutoFit/>
          </a:bodyPr>
          <a:lstStyle/>
          <a:p>
            <a:r>
              <a:rPr sz="700" b="1" i="0">
                <a:solidFill>
                  <a:srgbClr val="1A1A1A"/>
                </a:solidFill>
                <a:latin typeface="Trenda IG Text"/>
              </a:rPr>
              <a:t>Prompt in Codex</a:t>
            </a:r>
          </a:p>
        </p:txBody>
      </p:sp>
      <p:sp>
        <p:nvSpPr>
          <p:cNvPr id="58" name="Text 52"/>
          <p:cNvSpPr txBox="1"/>
          <p:nvPr/>
        </p:nvSpPr>
        <p:spPr>
          <a:xfrm>
            <a:off x="640080" y="3227832"/>
            <a:ext cx="1516380"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“Build a post-discharge follow-up campaign for heart patients”. Or the business console.</a:t>
            </a:r>
          </a:p>
        </p:txBody>
      </p:sp>
      <p:sp>
        <p:nvSpPr>
          <p:cNvPr id="59" name="Shape 53"/>
          <p:cNvSpPr/>
          <p:nvPr/>
        </p:nvSpPr>
        <p:spPr>
          <a:xfrm>
            <a:off x="2394204" y="2944368"/>
            <a:ext cx="1699259" cy="71323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hape 54"/>
          <p:cNvSpPr/>
          <p:nvPr/>
        </p:nvSpPr>
        <p:spPr>
          <a:xfrm>
            <a:off x="2467356" y="3008375"/>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55"/>
          <p:cNvSpPr txBox="1"/>
          <p:nvPr/>
        </p:nvSpPr>
        <p:spPr>
          <a:xfrm>
            <a:off x="2467356" y="3008375"/>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8</a:t>
            </a:r>
          </a:p>
        </p:txBody>
      </p:sp>
      <p:sp>
        <p:nvSpPr>
          <p:cNvPr id="62" name="Text 56"/>
          <p:cNvSpPr txBox="1"/>
          <p:nvPr/>
        </p:nvSpPr>
        <p:spPr>
          <a:xfrm>
            <a:off x="2723387" y="2999232"/>
            <a:ext cx="1296924" cy="201168"/>
          </a:xfrm>
          <a:prstGeom prst="rect">
            <a:avLst/>
          </a:prstGeom>
          <a:noFill/>
        </p:spPr>
        <p:txBody>
          <a:bodyPr wrap="square" lIns="0" rIns="0" tIns="0" bIns="0" anchor="ctr">
            <a:spAutoFit/>
          </a:bodyPr>
          <a:lstStyle/>
          <a:p>
            <a:r>
              <a:rPr sz="700" b="1" i="0">
                <a:solidFill>
                  <a:srgbClr val="1A1A1A"/>
                </a:solidFill>
                <a:latin typeface="Trenda IG Text"/>
              </a:rPr>
              <a:t>Planning agents</a:t>
            </a:r>
          </a:p>
        </p:txBody>
      </p:sp>
      <p:sp>
        <p:nvSpPr>
          <p:cNvPr id="63" name="Text 57"/>
          <p:cNvSpPr txBox="1"/>
          <p:nvPr/>
        </p:nvSpPr>
        <p:spPr>
          <a:xfrm>
            <a:off x="2485644" y="3227832"/>
            <a:ext cx="1516380"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Orchestrator, Strategist and Analytics read the graph and Gold A; counts only.</a:t>
            </a:r>
          </a:p>
        </p:txBody>
      </p:sp>
      <p:sp>
        <p:nvSpPr>
          <p:cNvPr id="64" name="Shape 58"/>
          <p:cNvSpPr/>
          <p:nvPr/>
        </p:nvSpPr>
        <p:spPr>
          <a:xfrm>
            <a:off x="4239768" y="2944368"/>
            <a:ext cx="1699259" cy="713232"/>
          </a:xfrm>
          <a:prstGeom prst="roundRect">
            <a:avLst>
              <a:gd name="adj" fmla="val 8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hape 59"/>
          <p:cNvSpPr/>
          <p:nvPr/>
        </p:nvSpPr>
        <p:spPr>
          <a:xfrm>
            <a:off x="4312920" y="3008375"/>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0"/>
          <p:cNvSpPr txBox="1"/>
          <p:nvPr/>
        </p:nvSpPr>
        <p:spPr>
          <a:xfrm>
            <a:off x="4312920" y="3008375"/>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9</a:t>
            </a:r>
          </a:p>
        </p:txBody>
      </p:sp>
      <p:pic>
        <p:nvPicPr>
          <p:cNvPr id="67" name="Picture 66" descr="people.png"/>
          <p:cNvPicPr>
            <a:picLocks noChangeAspect="1"/>
          </p:cNvPicPr>
          <p:nvPr/>
        </p:nvPicPr>
        <p:blipFill>
          <a:blip r:embed="rId6"/>
          <a:stretch>
            <a:fillRect/>
          </a:stretch>
        </p:blipFill>
        <p:spPr>
          <a:xfrm>
            <a:off x="4541520" y="3008375"/>
            <a:ext cx="164592" cy="164592"/>
          </a:xfrm>
          <a:prstGeom prst="rect">
            <a:avLst/>
          </a:prstGeom>
        </p:spPr>
      </p:pic>
      <p:sp>
        <p:nvSpPr>
          <p:cNvPr id="68" name="Text 61"/>
          <p:cNvSpPr txBox="1"/>
          <p:nvPr/>
        </p:nvSpPr>
        <p:spPr>
          <a:xfrm>
            <a:off x="4751832" y="2980944"/>
            <a:ext cx="766571" cy="219456"/>
          </a:xfrm>
          <a:prstGeom prst="rect">
            <a:avLst/>
          </a:prstGeom>
          <a:noFill/>
        </p:spPr>
        <p:txBody>
          <a:bodyPr wrap="square" lIns="0" rIns="0" tIns="0" bIns="0" anchor="ctr">
            <a:spAutoFit/>
          </a:bodyPr>
          <a:lstStyle/>
          <a:p>
            <a:r>
              <a:rPr sz="700" b="1" i="0">
                <a:solidFill>
                  <a:srgbClr val="1A1A1A"/>
                </a:solidFill>
                <a:latin typeface="Trenda IG Text"/>
              </a:rPr>
              <a:t>Confirm brief</a:t>
            </a:r>
          </a:p>
        </p:txBody>
      </p:sp>
      <p:sp>
        <p:nvSpPr>
          <p:cNvPr id="69" name="Shape 62"/>
          <p:cNvSpPr/>
          <p:nvPr/>
        </p:nvSpPr>
        <p:spPr>
          <a:xfrm>
            <a:off x="5554980" y="3017520"/>
            <a:ext cx="310896" cy="137160"/>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3"/>
          <p:cNvSpPr txBox="1"/>
          <p:nvPr/>
        </p:nvSpPr>
        <p:spPr>
          <a:xfrm>
            <a:off x="5554980" y="3017520"/>
            <a:ext cx="310896" cy="137160"/>
          </a:xfrm>
          <a:prstGeom prst="rect">
            <a:avLst/>
          </a:prstGeom>
          <a:noFill/>
        </p:spPr>
        <p:txBody>
          <a:bodyPr wrap="square" lIns="0" rIns="0" tIns="0" bIns="0" anchor="ctr">
            <a:spAutoFit/>
          </a:bodyPr>
          <a:lstStyle/>
          <a:p>
            <a:pPr algn="ctr"/>
            <a:r>
              <a:rPr sz="700" b="1" i="0" spc="80">
                <a:solidFill>
                  <a:srgbClr val="1A1A1A"/>
                </a:solidFill>
                <a:latin typeface="Trenda IG Text"/>
              </a:rPr>
              <a:t>G1</a:t>
            </a:r>
          </a:p>
        </p:txBody>
      </p:sp>
      <p:sp>
        <p:nvSpPr>
          <p:cNvPr id="71" name="Text 64"/>
          <p:cNvSpPr txBox="1"/>
          <p:nvPr/>
        </p:nvSpPr>
        <p:spPr>
          <a:xfrm>
            <a:off x="4312920" y="3236975"/>
            <a:ext cx="1571244" cy="402336"/>
          </a:xfrm>
          <a:prstGeom prst="rect">
            <a:avLst/>
          </a:prstGeom>
          <a:noFill/>
        </p:spPr>
        <p:txBody>
          <a:bodyPr wrap="square" lIns="0" rIns="0" tIns="0" bIns="0" anchor="t">
            <a:spAutoFit/>
          </a:bodyPr>
          <a:lstStyle/>
          <a:p>
            <a:r>
              <a:rPr sz="700" b="0" i="0">
                <a:solidFill>
                  <a:srgbClr val="4D4D4D"/>
                </a:solidFill>
                <a:latin typeface="Trenda IG Text"/>
              </a:rPr>
              <a:t>Marketer + clinical approve the Campaign Opportunity Brief: size, channel, content plan.</a:t>
            </a:r>
          </a:p>
        </p:txBody>
      </p:sp>
      <p:sp>
        <p:nvSpPr>
          <p:cNvPr id="72" name="Shape 65"/>
          <p:cNvSpPr/>
          <p:nvPr/>
        </p:nvSpPr>
        <p:spPr>
          <a:xfrm>
            <a:off x="6085331" y="2944368"/>
            <a:ext cx="1699259" cy="71323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hape 66"/>
          <p:cNvSpPr/>
          <p:nvPr/>
        </p:nvSpPr>
        <p:spPr>
          <a:xfrm>
            <a:off x="6158483" y="3008375"/>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67"/>
          <p:cNvSpPr txBox="1"/>
          <p:nvPr/>
        </p:nvSpPr>
        <p:spPr>
          <a:xfrm>
            <a:off x="6158483" y="3008375"/>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10</a:t>
            </a:r>
          </a:p>
        </p:txBody>
      </p:sp>
      <p:sp>
        <p:nvSpPr>
          <p:cNvPr id="75" name="Text 68"/>
          <p:cNvSpPr txBox="1"/>
          <p:nvPr/>
        </p:nvSpPr>
        <p:spPr>
          <a:xfrm>
            <a:off x="6414516" y="2999232"/>
            <a:ext cx="1296923" cy="201168"/>
          </a:xfrm>
          <a:prstGeom prst="rect">
            <a:avLst/>
          </a:prstGeom>
          <a:noFill/>
        </p:spPr>
        <p:txBody>
          <a:bodyPr wrap="square" lIns="0" rIns="0" tIns="0" bIns="0" anchor="ctr">
            <a:spAutoFit/>
          </a:bodyPr>
          <a:lstStyle/>
          <a:p>
            <a:r>
              <a:rPr sz="700" b="1" i="0">
                <a:solidFill>
                  <a:srgbClr val="1A1A1A"/>
                </a:solidFill>
                <a:latin typeface="Trenda IG Text"/>
              </a:rPr>
              <a:t>Campaign Design Agent</a:t>
            </a:r>
          </a:p>
        </p:txBody>
      </p:sp>
      <p:sp>
        <p:nvSpPr>
          <p:cNvPr id="76" name="Text 69"/>
          <p:cNvSpPr txBox="1"/>
          <p:nvPr/>
        </p:nvSpPr>
        <p:spPr>
          <a:xfrm>
            <a:off x="6176771" y="3227832"/>
            <a:ext cx="1516380"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Invokes Journey Builder (native); builds the journey and data extension, paused; seeds risks.</a:t>
            </a:r>
          </a:p>
        </p:txBody>
      </p:sp>
      <p:sp>
        <p:nvSpPr>
          <p:cNvPr id="77" name="Shape 70"/>
          <p:cNvSpPr/>
          <p:nvPr/>
        </p:nvSpPr>
        <p:spPr>
          <a:xfrm>
            <a:off x="7930895" y="2944368"/>
            <a:ext cx="1699259" cy="71323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Shape 71"/>
          <p:cNvSpPr/>
          <p:nvPr/>
        </p:nvSpPr>
        <p:spPr>
          <a:xfrm>
            <a:off x="8004047" y="2999232"/>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2"/>
          <p:cNvSpPr txBox="1"/>
          <p:nvPr/>
        </p:nvSpPr>
        <p:spPr>
          <a:xfrm>
            <a:off x="8004047" y="2999232"/>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11</a:t>
            </a:r>
          </a:p>
        </p:txBody>
      </p:sp>
      <p:sp>
        <p:nvSpPr>
          <p:cNvPr id="80" name="Text 73"/>
          <p:cNvSpPr txBox="1"/>
          <p:nvPr/>
        </p:nvSpPr>
        <p:spPr>
          <a:xfrm>
            <a:off x="8260079" y="2980944"/>
            <a:ext cx="1333499" cy="201168"/>
          </a:xfrm>
          <a:prstGeom prst="rect">
            <a:avLst/>
          </a:prstGeom>
          <a:noFill/>
        </p:spPr>
        <p:txBody>
          <a:bodyPr wrap="square" lIns="0" rIns="0" tIns="0" bIns="0" anchor="ctr">
            <a:spAutoFit/>
          </a:bodyPr>
          <a:lstStyle/>
          <a:p>
            <a:r>
              <a:rPr sz="700" b="1" i="0">
                <a:solidFill>
                  <a:srgbClr val="1A1A1A"/>
                </a:solidFill>
                <a:latin typeface="Trenda IG Text"/>
              </a:rPr>
              <a:t>Readiness · testing</a:t>
            </a:r>
          </a:p>
        </p:txBody>
      </p:sp>
      <p:sp>
        <p:nvSpPr>
          <p:cNvPr id="81" name="Text 74"/>
          <p:cNvSpPr txBox="1"/>
          <p:nvPr/>
        </p:nvSpPr>
        <p:spPr>
          <a:xfrm>
            <a:off x="8004047" y="3200400"/>
            <a:ext cx="1571244" cy="438912"/>
          </a:xfrm>
          <a:prstGeom prst="rect">
            <a:avLst/>
          </a:prstGeom>
          <a:noFill/>
        </p:spPr>
        <p:txBody>
          <a:bodyPr wrap="square" lIns="0" rIns="0" tIns="0" bIns="0" anchor="t">
            <a:spAutoFit/>
          </a:bodyPr>
          <a:lstStyle/>
          <a:p>
            <a:r>
              <a:rPr sz="700" b="0" i="0">
                <a:solidFill>
                  <a:srgbClr val="4D4D4D"/>
                </a:solidFill>
                <a:latin typeface="Trenda IG Text"/>
              </a:rPr>
              <a:t>Test contacts only; checks consent, STOP, links, hours. </a:t>
            </a:r>
            <a:r>
              <a:rPr sz="700" b="1" i="0">
                <a:solidFill>
                  <a:srgbClr val="1A1A1A"/>
                </a:solidFill>
                <a:latin typeface="Trenda IG Text"/>
              </a:rPr>
              <a:t>Failed → 10, max 5, then an owner.</a:t>
            </a:r>
          </a:p>
        </p:txBody>
      </p:sp>
      <p:sp>
        <p:nvSpPr>
          <p:cNvPr id="82" name="Shape 75"/>
          <p:cNvSpPr/>
          <p:nvPr/>
        </p:nvSpPr>
        <p:spPr>
          <a:xfrm>
            <a:off x="9776459" y="2944368"/>
            <a:ext cx="1699259" cy="713232"/>
          </a:xfrm>
          <a:prstGeom prst="roundRect">
            <a:avLst>
              <a:gd name="adj" fmla="val 8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Shape 76"/>
          <p:cNvSpPr/>
          <p:nvPr/>
        </p:nvSpPr>
        <p:spPr>
          <a:xfrm>
            <a:off x="9849611" y="3008375"/>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77"/>
          <p:cNvSpPr txBox="1"/>
          <p:nvPr/>
        </p:nvSpPr>
        <p:spPr>
          <a:xfrm>
            <a:off x="9849611" y="3008375"/>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12</a:t>
            </a:r>
          </a:p>
        </p:txBody>
      </p:sp>
      <p:pic>
        <p:nvPicPr>
          <p:cNvPr id="85" name="Picture 84" descr="people.png"/>
          <p:cNvPicPr>
            <a:picLocks noChangeAspect="1"/>
          </p:cNvPicPr>
          <p:nvPr/>
        </p:nvPicPr>
        <p:blipFill>
          <a:blip r:embed="rId6"/>
          <a:stretch>
            <a:fillRect/>
          </a:stretch>
        </p:blipFill>
        <p:spPr>
          <a:xfrm>
            <a:off x="10078211" y="3008375"/>
            <a:ext cx="164592" cy="164592"/>
          </a:xfrm>
          <a:prstGeom prst="rect">
            <a:avLst/>
          </a:prstGeom>
        </p:spPr>
      </p:pic>
      <p:sp>
        <p:nvSpPr>
          <p:cNvPr id="86" name="Text 78"/>
          <p:cNvSpPr txBox="1"/>
          <p:nvPr/>
        </p:nvSpPr>
        <p:spPr>
          <a:xfrm>
            <a:off x="10288523" y="2980944"/>
            <a:ext cx="766571" cy="219456"/>
          </a:xfrm>
          <a:prstGeom prst="rect">
            <a:avLst/>
          </a:prstGeom>
          <a:noFill/>
        </p:spPr>
        <p:txBody>
          <a:bodyPr wrap="square" lIns="0" rIns="0" tIns="0" bIns="0" anchor="ctr">
            <a:spAutoFit/>
          </a:bodyPr>
          <a:lstStyle/>
          <a:p>
            <a:r>
              <a:rPr sz="700" b="1" i="0">
                <a:solidFill>
                  <a:srgbClr val="1A1A1A"/>
                </a:solidFill>
                <a:latin typeface="Trenda IG Text"/>
              </a:rPr>
              <a:t>Approve journey</a:t>
            </a:r>
          </a:p>
        </p:txBody>
      </p:sp>
      <p:sp>
        <p:nvSpPr>
          <p:cNvPr id="87" name="Shape 79"/>
          <p:cNvSpPr/>
          <p:nvPr/>
        </p:nvSpPr>
        <p:spPr>
          <a:xfrm>
            <a:off x="11091671" y="3017520"/>
            <a:ext cx="310896" cy="137160"/>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0"/>
          <p:cNvSpPr txBox="1"/>
          <p:nvPr/>
        </p:nvSpPr>
        <p:spPr>
          <a:xfrm>
            <a:off x="11091671" y="3017520"/>
            <a:ext cx="310896" cy="137160"/>
          </a:xfrm>
          <a:prstGeom prst="rect">
            <a:avLst/>
          </a:prstGeom>
          <a:noFill/>
        </p:spPr>
        <p:txBody>
          <a:bodyPr wrap="square" lIns="0" rIns="0" tIns="0" bIns="0" anchor="ctr">
            <a:spAutoFit/>
          </a:bodyPr>
          <a:lstStyle/>
          <a:p>
            <a:pPr algn="ctr"/>
            <a:r>
              <a:rPr sz="700" b="1" i="0" spc="80">
                <a:solidFill>
                  <a:srgbClr val="1A1A1A"/>
                </a:solidFill>
                <a:latin typeface="Trenda IG Text"/>
              </a:rPr>
              <a:t>G3</a:t>
            </a:r>
          </a:p>
        </p:txBody>
      </p:sp>
      <p:sp>
        <p:nvSpPr>
          <p:cNvPr id="89" name="Text 81"/>
          <p:cNvSpPr txBox="1"/>
          <p:nvPr/>
        </p:nvSpPr>
        <p:spPr>
          <a:xfrm>
            <a:off x="9849611" y="3236975"/>
            <a:ext cx="1571244" cy="402336"/>
          </a:xfrm>
          <a:prstGeom prst="rect">
            <a:avLst/>
          </a:prstGeom>
          <a:noFill/>
        </p:spPr>
        <p:txBody>
          <a:bodyPr wrap="square" lIns="0" rIns="0" tIns="0" bIns="0" anchor="t">
            <a:spAutoFit/>
          </a:bodyPr>
          <a:lstStyle/>
          <a:p>
            <a:r>
              <a:rPr sz="700" b="0" i="0">
                <a:solidFill>
                  <a:srgbClr val="4D4D4D"/>
                </a:solidFill>
                <a:latin typeface="Trenda IG Text"/>
              </a:rPr>
              <a:t>Clinical + compliance, when every test passes. The journey then waits, active.</a:t>
            </a:r>
          </a:p>
        </p:txBody>
      </p:sp>
      <p:cxnSp>
        <p:nvCxnSpPr>
          <p:cNvPr id="90" name="Arrow 82"/>
          <p:cNvCxnSpPr/>
          <p:nvPr/>
        </p:nvCxnSpPr>
        <p:spPr>
          <a:xfrm>
            <a:off x="2247899" y="3300984"/>
            <a:ext cx="146305"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Arrow 83"/>
          <p:cNvCxnSpPr/>
          <p:nvPr/>
        </p:nvCxnSpPr>
        <p:spPr>
          <a:xfrm>
            <a:off x="4093464" y="330098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Arrow 84"/>
          <p:cNvCxnSpPr/>
          <p:nvPr/>
        </p:nvCxnSpPr>
        <p:spPr>
          <a:xfrm>
            <a:off x="5939028" y="3300984"/>
            <a:ext cx="146303"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Arrow 85"/>
          <p:cNvCxnSpPr/>
          <p:nvPr/>
        </p:nvCxnSpPr>
        <p:spPr>
          <a:xfrm>
            <a:off x="7784591" y="330098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Arrow 86"/>
          <p:cNvCxnSpPr/>
          <p:nvPr/>
        </p:nvCxnSpPr>
        <p:spPr>
          <a:xfrm>
            <a:off x="9630155" y="330098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Arrow 87"/>
          <p:cNvCxnSpPr/>
          <p:nvPr/>
        </p:nvCxnSpPr>
        <p:spPr>
          <a:xfrm>
            <a:off x="8780526" y="3657600"/>
            <a:ext cx="0" cy="45720"/>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96" name="Arrow 88"/>
          <p:cNvCxnSpPr/>
          <p:nvPr/>
        </p:nvCxnSpPr>
        <p:spPr>
          <a:xfrm flipH="1">
            <a:off x="6934961" y="3703320"/>
            <a:ext cx="1845565" cy="0"/>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97" name="Arrow 89"/>
          <p:cNvCxnSpPr/>
          <p:nvPr/>
        </p:nvCxnSpPr>
        <p:spPr>
          <a:xfrm flipV="1">
            <a:off x="6934961" y="3657600"/>
            <a:ext cx="0" cy="45720"/>
          </a:xfrm>
          <a:prstGeom prst="line">
            <a:avLst/>
          </a:prstGeom>
          <a:ln w="11430">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8" name="Text 90"/>
          <p:cNvSpPr txBox="1"/>
          <p:nvPr/>
        </p:nvSpPr>
        <p:spPr>
          <a:xfrm>
            <a:off x="548640" y="3767328"/>
            <a:ext cx="1699259" cy="429768"/>
          </a:xfrm>
          <a:prstGeom prst="rect">
            <a:avLst/>
          </a:prstGeom>
          <a:noFill/>
        </p:spPr>
        <p:txBody>
          <a:bodyPr wrap="square" lIns="0" rIns="0" tIns="0" bIns="0" anchor="ctr">
            <a:spAutoFit/>
          </a:bodyPr>
          <a:lstStyle/>
          <a:p>
            <a:pPr>
              <a:spcAft>
                <a:spcPts val="100"/>
              </a:spcAft>
            </a:pPr>
            <a:r>
              <a:rPr sz="700" b="1" i="0" spc="100">
                <a:solidFill>
                  <a:srgbClr val="6B6B6B"/>
                </a:solidFill>
                <a:latin typeface="Trenda IG Text"/>
              </a:rPr>
              <a:t>CONTEXT + OVERSIGHT</a:t>
            </a:r>
          </a:p>
          <a:p>
            <a:pPr>
              <a:spcAft>
                <a:spcPts val="100"/>
              </a:spcAft>
            </a:pPr>
            <a:r>
              <a:rPr sz="700" b="0" i="0">
                <a:solidFill>
                  <a:srgbClr val="6B6B6B"/>
                </a:solidFill>
                <a:latin typeface="Trenda IG Text"/>
              </a:rPr>
              <a:t>masked data only</a:t>
            </a:r>
          </a:p>
        </p:txBody>
      </p:sp>
      <p:sp>
        <p:nvSpPr>
          <p:cNvPr id="99" name="Shape 91"/>
          <p:cNvSpPr/>
          <p:nvPr/>
        </p:nvSpPr>
        <p:spPr>
          <a:xfrm>
            <a:off x="2394204" y="3767328"/>
            <a:ext cx="1699259" cy="429768"/>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0" name="Picture 99" descr="googlecloudspanner.png"/>
          <p:cNvPicPr>
            <a:picLocks noChangeAspect="1"/>
          </p:cNvPicPr>
          <p:nvPr/>
        </p:nvPicPr>
        <p:blipFill>
          <a:blip r:embed="rId7"/>
          <a:stretch>
            <a:fillRect/>
          </a:stretch>
        </p:blipFill>
        <p:spPr>
          <a:xfrm>
            <a:off x="2485644" y="3831336"/>
            <a:ext cx="182880" cy="182880"/>
          </a:xfrm>
          <a:prstGeom prst="rect">
            <a:avLst/>
          </a:prstGeom>
        </p:spPr>
      </p:pic>
      <p:sp>
        <p:nvSpPr>
          <p:cNvPr id="101" name="Text 92"/>
          <p:cNvSpPr txBox="1"/>
          <p:nvPr/>
        </p:nvSpPr>
        <p:spPr>
          <a:xfrm>
            <a:off x="2723388" y="3822191"/>
            <a:ext cx="1296923" cy="201168"/>
          </a:xfrm>
          <a:prstGeom prst="rect">
            <a:avLst/>
          </a:prstGeom>
          <a:noFill/>
        </p:spPr>
        <p:txBody>
          <a:bodyPr wrap="square" lIns="0" rIns="0" tIns="0" bIns="0" anchor="ctr">
            <a:spAutoFit/>
          </a:bodyPr>
          <a:lstStyle/>
          <a:p>
            <a:r>
              <a:rPr sz="700" b="1" i="0">
                <a:solidFill>
                  <a:srgbClr val="1A1A1A"/>
                </a:solidFill>
                <a:latin typeface="Trenda IG Text"/>
              </a:rPr>
              <a:t>Knowledge graph</a:t>
            </a:r>
          </a:p>
        </p:txBody>
      </p:sp>
      <p:sp>
        <p:nvSpPr>
          <p:cNvPr id="102" name="Text 93"/>
          <p:cNvSpPr txBox="1"/>
          <p:nvPr/>
        </p:nvSpPr>
        <p:spPr>
          <a:xfrm>
            <a:off x="2485644" y="4050791"/>
            <a:ext cx="1516380" cy="1188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Metadata, rules, lineage; from 6.</a:t>
            </a:r>
          </a:p>
        </p:txBody>
      </p:sp>
      <p:sp>
        <p:nvSpPr>
          <p:cNvPr id="103" name="Shape 94"/>
          <p:cNvSpPr/>
          <p:nvPr/>
        </p:nvSpPr>
        <p:spPr>
          <a:xfrm>
            <a:off x="4239768" y="3767328"/>
            <a:ext cx="1699259" cy="429768"/>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4" name="Picture 103" descr="tableau.png"/>
          <p:cNvPicPr>
            <a:picLocks noChangeAspect="1"/>
          </p:cNvPicPr>
          <p:nvPr/>
        </p:nvPicPr>
        <p:blipFill>
          <a:blip r:embed="rId8"/>
          <a:stretch>
            <a:fillRect/>
          </a:stretch>
        </p:blipFill>
        <p:spPr>
          <a:xfrm>
            <a:off x="4331208" y="3831336"/>
            <a:ext cx="182880" cy="182880"/>
          </a:xfrm>
          <a:prstGeom prst="rect">
            <a:avLst/>
          </a:prstGeom>
        </p:spPr>
      </p:pic>
      <p:sp>
        <p:nvSpPr>
          <p:cNvPr id="105" name="Text 95"/>
          <p:cNvSpPr txBox="1"/>
          <p:nvPr/>
        </p:nvSpPr>
        <p:spPr>
          <a:xfrm>
            <a:off x="4568951" y="3822191"/>
            <a:ext cx="1296924" cy="201168"/>
          </a:xfrm>
          <a:prstGeom prst="rect">
            <a:avLst/>
          </a:prstGeom>
          <a:noFill/>
        </p:spPr>
        <p:txBody>
          <a:bodyPr wrap="square" lIns="0" rIns="0" tIns="0" bIns="0" anchor="ctr">
            <a:spAutoFit/>
          </a:bodyPr>
          <a:lstStyle/>
          <a:p>
            <a:r>
              <a:rPr sz="700" b="1" i="0">
                <a:solidFill>
                  <a:srgbClr val="1A1A1A"/>
                </a:solidFill>
                <a:latin typeface="Trenda IG Text"/>
              </a:rPr>
              <a:t>Tableau</a:t>
            </a:r>
          </a:p>
        </p:txBody>
      </p:sp>
      <p:sp>
        <p:nvSpPr>
          <p:cNvPr id="106" name="Text 96"/>
          <p:cNvSpPr txBox="1"/>
          <p:nvPr/>
        </p:nvSpPr>
        <p:spPr>
          <a:xfrm>
            <a:off x="4331208" y="4050791"/>
            <a:ext cx="1516380" cy="1188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Masked dashboards from 6.</a:t>
            </a:r>
          </a:p>
        </p:txBody>
      </p:sp>
      <p:sp>
        <p:nvSpPr>
          <p:cNvPr id="107" name="Shape 97"/>
          <p:cNvSpPr/>
          <p:nvPr/>
        </p:nvSpPr>
        <p:spPr>
          <a:xfrm>
            <a:off x="6085331" y="3767328"/>
            <a:ext cx="1699259" cy="429768"/>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98"/>
          <p:cNvSpPr txBox="1"/>
          <p:nvPr/>
        </p:nvSpPr>
        <p:spPr>
          <a:xfrm>
            <a:off x="6176771" y="3822191"/>
            <a:ext cx="1534667" cy="201168"/>
          </a:xfrm>
          <a:prstGeom prst="rect">
            <a:avLst/>
          </a:prstGeom>
          <a:noFill/>
        </p:spPr>
        <p:txBody>
          <a:bodyPr wrap="square" lIns="0" rIns="0" tIns="0" bIns="0" anchor="ctr">
            <a:spAutoFit/>
          </a:bodyPr>
          <a:lstStyle/>
          <a:p>
            <a:r>
              <a:rPr sz="700" b="1" i="0">
                <a:solidFill>
                  <a:srgbClr val="1A1A1A"/>
                </a:solidFill>
                <a:latin typeface="Trenda IG Text"/>
              </a:rPr>
              <a:t>Compliance Guardian</a:t>
            </a:r>
          </a:p>
        </p:txBody>
      </p:sp>
      <p:sp>
        <p:nvSpPr>
          <p:cNvPr id="109" name="Text 99"/>
          <p:cNvSpPr txBox="1"/>
          <p:nvPr/>
        </p:nvSpPr>
        <p:spPr>
          <a:xfrm>
            <a:off x="6176771" y="4050791"/>
            <a:ext cx="1516380" cy="1188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Explains exclusions for 14.</a:t>
            </a:r>
          </a:p>
        </p:txBody>
      </p:sp>
      <p:sp>
        <p:nvSpPr>
          <p:cNvPr id="110" name="Shape 100"/>
          <p:cNvSpPr/>
          <p:nvPr/>
        </p:nvSpPr>
        <p:spPr>
          <a:xfrm>
            <a:off x="7930895" y="3767328"/>
            <a:ext cx="1699259" cy="429768"/>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 101"/>
          <p:cNvSpPr txBox="1"/>
          <p:nvPr/>
        </p:nvSpPr>
        <p:spPr>
          <a:xfrm>
            <a:off x="8022335" y="3822191"/>
            <a:ext cx="1534667" cy="201168"/>
          </a:xfrm>
          <a:prstGeom prst="rect">
            <a:avLst/>
          </a:prstGeom>
          <a:noFill/>
        </p:spPr>
        <p:txBody>
          <a:bodyPr wrap="square" lIns="0" rIns="0" tIns="0" bIns="0" anchor="ctr">
            <a:spAutoFit/>
          </a:bodyPr>
          <a:lstStyle/>
          <a:p>
            <a:r>
              <a:rPr sz="700" b="1" i="0">
                <a:solidFill>
                  <a:srgbClr val="1A1A1A"/>
                </a:solidFill>
                <a:latin typeface="Trenda IG Text"/>
              </a:rPr>
              <a:t>Measurement Agent</a:t>
            </a:r>
          </a:p>
        </p:txBody>
      </p:sp>
      <p:sp>
        <p:nvSpPr>
          <p:cNvPr id="112" name="Text 102"/>
          <p:cNvSpPr txBox="1"/>
          <p:nvPr/>
        </p:nvSpPr>
        <p:spPr>
          <a:xfrm>
            <a:off x="8022335" y="4050791"/>
            <a:ext cx="1516380" cy="1188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Reads results from 20.</a:t>
            </a:r>
          </a:p>
        </p:txBody>
      </p:sp>
      <p:sp>
        <p:nvSpPr>
          <p:cNvPr id="113" name="Shape 103"/>
          <p:cNvSpPr/>
          <p:nvPr/>
        </p:nvSpPr>
        <p:spPr>
          <a:xfrm>
            <a:off x="9776459" y="3767328"/>
            <a:ext cx="1699259" cy="429768"/>
          </a:xfrm>
          <a:prstGeom prst="roundRect">
            <a:avLst>
              <a:gd name="adj" fmla="val 8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4" name="Picture 113" descr="people.png"/>
          <p:cNvPicPr>
            <a:picLocks noChangeAspect="1"/>
          </p:cNvPicPr>
          <p:nvPr/>
        </p:nvPicPr>
        <p:blipFill>
          <a:blip r:embed="rId6"/>
          <a:stretch>
            <a:fillRect/>
          </a:stretch>
        </p:blipFill>
        <p:spPr>
          <a:xfrm>
            <a:off x="9849611" y="3831336"/>
            <a:ext cx="164592" cy="164592"/>
          </a:xfrm>
          <a:prstGeom prst="rect">
            <a:avLst/>
          </a:prstGeom>
        </p:spPr>
      </p:pic>
      <p:sp>
        <p:nvSpPr>
          <p:cNvPr id="115" name="Text 104"/>
          <p:cNvSpPr txBox="1"/>
          <p:nvPr/>
        </p:nvSpPr>
        <p:spPr>
          <a:xfrm>
            <a:off x="10059923" y="3803904"/>
            <a:ext cx="995171" cy="219456"/>
          </a:xfrm>
          <a:prstGeom prst="rect">
            <a:avLst/>
          </a:prstGeom>
          <a:noFill/>
        </p:spPr>
        <p:txBody>
          <a:bodyPr wrap="square" lIns="0" rIns="0" tIns="0" bIns="0" anchor="ctr">
            <a:spAutoFit/>
          </a:bodyPr>
          <a:lstStyle/>
          <a:p>
            <a:r>
              <a:rPr sz="700" b="1" i="0">
                <a:solidFill>
                  <a:srgbClr val="1A1A1A"/>
                </a:solidFill>
                <a:latin typeface="Trenda IG Text"/>
              </a:rPr>
              <a:t>People approve</a:t>
            </a:r>
          </a:p>
        </p:txBody>
      </p:sp>
      <p:sp>
        <p:nvSpPr>
          <p:cNvPr id="116" name="Shape 105"/>
          <p:cNvSpPr/>
          <p:nvPr/>
        </p:nvSpPr>
        <p:spPr>
          <a:xfrm>
            <a:off x="11091671" y="3840480"/>
            <a:ext cx="310896" cy="137160"/>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06"/>
          <p:cNvSpPr txBox="1"/>
          <p:nvPr/>
        </p:nvSpPr>
        <p:spPr>
          <a:xfrm>
            <a:off x="11091671" y="3840480"/>
            <a:ext cx="310896" cy="137160"/>
          </a:xfrm>
          <a:prstGeom prst="rect">
            <a:avLst/>
          </a:prstGeom>
          <a:noFill/>
        </p:spPr>
        <p:txBody>
          <a:bodyPr wrap="square" lIns="0" rIns="0" tIns="0" bIns="0" anchor="ctr">
            <a:spAutoFit/>
          </a:bodyPr>
          <a:lstStyle/>
          <a:p>
            <a:pPr algn="ctr"/>
            <a:r>
              <a:rPr sz="700" b="1" i="0" spc="80">
                <a:solidFill>
                  <a:srgbClr val="1A1A1A"/>
                </a:solidFill>
                <a:latin typeface="Trenda IG Text"/>
              </a:rPr>
              <a:t>G1-3</a:t>
            </a:r>
          </a:p>
        </p:txBody>
      </p:sp>
      <p:sp>
        <p:nvSpPr>
          <p:cNvPr id="118" name="Text 107"/>
          <p:cNvSpPr txBox="1"/>
          <p:nvPr/>
        </p:nvSpPr>
        <p:spPr>
          <a:xfrm>
            <a:off x="9849611" y="4059936"/>
            <a:ext cx="1571244" cy="118871"/>
          </a:xfrm>
          <a:prstGeom prst="rect">
            <a:avLst/>
          </a:prstGeom>
          <a:noFill/>
        </p:spPr>
        <p:txBody>
          <a:bodyPr wrap="square" lIns="0" rIns="0" tIns="0" bIns="0" anchor="t">
            <a:spAutoFit/>
          </a:bodyPr>
          <a:lstStyle/>
          <a:p>
            <a:r>
              <a:rPr sz="700" b="0" i="0">
                <a:solidFill>
                  <a:srgbClr val="4D4D4D"/>
                </a:solidFill>
                <a:latin typeface="Trenda IG Text"/>
              </a:rPr>
              <a:t>Approvals go to the gateway (15).</a:t>
            </a:r>
          </a:p>
        </p:txBody>
      </p:sp>
      <p:cxnSp>
        <p:nvCxnSpPr>
          <p:cNvPr id="119" name="Arrow 108"/>
          <p:cNvCxnSpPr/>
          <p:nvPr/>
        </p:nvCxnSpPr>
        <p:spPr>
          <a:xfrm flipV="1">
            <a:off x="3243834" y="3657600"/>
            <a:ext cx="0" cy="109728"/>
          </a:xfrm>
          <a:prstGeom prst="line">
            <a:avLst/>
          </a:prstGeom>
          <a:ln w="9525">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0" name="Arrow 109"/>
          <p:cNvCxnSpPr/>
          <p:nvPr/>
        </p:nvCxnSpPr>
        <p:spPr>
          <a:xfrm flipV="1">
            <a:off x="5089398" y="3657600"/>
            <a:ext cx="0" cy="109728"/>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1" name="Arrow 110"/>
          <p:cNvCxnSpPr/>
          <p:nvPr/>
        </p:nvCxnSpPr>
        <p:spPr>
          <a:xfrm>
            <a:off x="10441533" y="2359152"/>
            <a:ext cx="0" cy="91440"/>
          </a:xfrm>
          <a:prstGeom prst="line">
            <a:avLst/>
          </a:prstGeom>
          <a:ln w="11430">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122" name="Arrow 111"/>
          <p:cNvCxnSpPr/>
          <p:nvPr/>
        </p:nvCxnSpPr>
        <p:spPr>
          <a:xfrm flipH="1">
            <a:off x="3518153" y="2450592"/>
            <a:ext cx="6923380" cy="0"/>
          </a:xfrm>
          <a:prstGeom prst="line">
            <a:avLst/>
          </a:prstGeom>
          <a:ln w="11430">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123" name="Arrow 112"/>
          <p:cNvCxnSpPr/>
          <p:nvPr/>
        </p:nvCxnSpPr>
        <p:spPr>
          <a:xfrm>
            <a:off x="3518153" y="2450592"/>
            <a:ext cx="0" cy="493776"/>
          </a:xfrm>
          <a:prstGeom prst="line">
            <a:avLst/>
          </a:prstGeom>
          <a:ln w="1143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4" name="Arrow 113"/>
          <p:cNvCxnSpPr/>
          <p:nvPr/>
        </p:nvCxnSpPr>
        <p:spPr>
          <a:xfrm>
            <a:off x="411480" y="4334256"/>
            <a:ext cx="11201400" cy="0"/>
          </a:xfrm>
          <a:prstGeom prst="line">
            <a:avLst/>
          </a:prstGeom>
          <a:ln w="9525">
            <a:solidFill>
              <a:srgbClr val="D0D0D0"/>
            </a:solidFill>
            <a:prstDash val="dash"/>
          </a:ln>
        </p:spPr>
        <p:style>
          <a:lnRef idx="2">
            <a:schemeClr val="accent1"/>
          </a:lnRef>
          <a:fillRef idx="0">
            <a:schemeClr val="accent1"/>
          </a:fillRef>
          <a:effectRef idx="1">
            <a:schemeClr val="accent1"/>
          </a:effectRef>
          <a:fontRef idx="minor">
            <a:schemeClr val="tx1"/>
          </a:fontRef>
        </p:style>
      </p:cxnSp>
      <p:sp>
        <p:nvSpPr>
          <p:cNvPr id="125" name="Shape 114"/>
          <p:cNvSpPr/>
          <p:nvPr/>
        </p:nvSpPr>
        <p:spPr>
          <a:xfrm>
            <a:off x="4572000" y="4251960"/>
            <a:ext cx="2743200" cy="164592"/>
          </a:xfrm>
          <a:prstGeom prst="roundRect">
            <a:avLst>
              <a:gd name="adj" fmla="val 50000"/>
            </a:avLst>
          </a:prstGeom>
          <a:solidFill>
            <a:srgbClr val="E6E6E6"/>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 115"/>
          <p:cNvSpPr txBox="1"/>
          <p:nvPr/>
        </p:nvSpPr>
        <p:spPr>
          <a:xfrm>
            <a:off x="4572000" y="4251960"/>
            <a:ext cx="2743200" cy="164592"/>
          </a:xfrm>
          <a:prstGeom prst="rect">
            <a:avLst/>
          </a:prstGeom>
          <a:noFill/>
        </p:spPr>
        <p:txBody>
          <a:bodyPr wrap="square" lIns="0" rIns="0" tIns="0" bIns="0" anchor="ctr">
            <a:spAutoFit/>
          </a:bodyPr>
          <a:lstStyle/>
          <a:p>
            <a:pPr algn="ctr"/>
            <a:r>
              <a:rPr sz="700" b="1" i="0" spc="80">
                <a:solidFill>
                  <a:srgbClr val="1A1A1A"/>
                </a:solidFill>
                <a:latin typeface="Trenda IG Text"/>
              </a:rPr>
              <a:t>RECOMMENDATION ≠ RELEASE</a:t>
            </a:r>
          </a:p>
        </p:txBody>
      </p:sp>
      <p:sp>
        <p:nvSpPr>
          <p:cNvPr id="127" name="Shape 116"/>
          <p:cNvSpPr/>
          <p:nvPr/>
        </p:nvSpPr>
        <p:spPr>
          <a:xfrm>
            <a:off x="411480" y="4526280"/>
            <a:ext cx="11201400" cy="1161288"/>
          </a:xfrm>
          <a:prstGeom prst="roundRect">
            <a:avLst>
              <a:gd name="adj" fmla="val 2000"/>
            </a:avLst>
          </a:prstGeom>
          <a:solidFill>
            <a:srgbClr val="FFFFFF"/>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Shape 117"/>
          <p:cNvSpPr/>
          <p:nvPr/>
        </p:nvSpPr>
        <p:spPr>
          <a:xfrm>
            <a:off x="411480" y="4526280"/>
            <a:ext cx="11201400" cy="2377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9" name="Picture 128" descr="salesforce.png"/>
          <p:cNvPicPr>
            <a:picLocks noChangeAspect="1"/>
          </p:cNvPicPr>
          <p:nvPr/>
        </p:nvPicPr>
        <p:blipFill>
          <a:blip r:embed="rId9"/>
          <a:stretch>
            <a:fillRect/>
          </a:stretch>
        </p:blipFill>
        <p:spPr>
          <a:xfrm>
            <a:off x="484632" y="4553712"/>
            <a:ext cx="182880" cy="182880"/>
          </a:xfrm>
          <a:prstGeom prst="rect">
            <a:avLst/>
          </a:prstGeom>
        </p:spPr>
      </p:pic>
      <p:sp>
        <p:nvSpPr>
          <p:cNvPr id="130" name="Text 118"/>
          <p:cNvSpPr txBox="1"/>
          <p:nvPr/>
        </p:nvSpPr>
        <p:spPr>
          <a:xfrm>
            <a:off x="731520" y="4526280"/>
            <a:ext cx="10744200" cy="237744"/>
          </a:xfrm>
          <a:prstGeom prst="rect">
            <a:avLst/>
          </a:prstGeom>
          <a:noFill/>
        </p:spPr>
        <p:txBody>
          <a:bodyPr wrap="square" lIns="0" rIns="0" tIns="0" bIns="0" anchor="ctr">
            <a:spAutoFit/>
          </a:bodyPr>
          <a:lstStyle/>
          <a:p>
            <a:pPr algn="r"/>
            <a:r>
              <a:rPr sz="700" b="1" i="0" spc="100">
                <a:solidFill>
                  <a:srgbClr val="1A1A1A"/>
                </a:solidFill>
                <a:latin typeface="Trenda IG Text"/>
              </a:rPr>
              <a:t>3  RELEASE + SEND · ONLY AFTER G2 + G3</a:t>
            </a:r>
          </a:p>
        </p:txBody>
      </p:sp>
      <p:sp>
        <p:nvSpPr>
          <p:cNvPr id="131" name="Shape 119"/>
          <p:cNvSpPr/>
          <p:nvPr/>
        </p:nvSpPr>
        <p:spPr>
          <a:xfrm>
            <a:off x="548640" y="4818888"/>
            <a:ext cx="1554480" cy="80467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Shape 120"/>
          <p:cNvSpPr/>
          <p:nvPr/>
        </p:nvSpPr>
        <p:spPr>
          <a:xfrm>
            <a:off x="621792" y="488289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21"/>
          <p:cNvSpPr txBox="1"/>
          <p:nvPr/>
        </p:nvSpPr>
        <p:spPr>
          <a:xfrm>
            <a:off x="621792" y="488289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13</a:t>
            </a:r>
          </a:p>
        </p:txBody>
      </p:sp>
      <p:sp>
        <p:nvSpPr>
          <p:cNvPr id="134" name="Text 122"/>
          <p:cNvSpPr txBox="1"/>
          <p:nvPr/>
        </p:nvSpPr>
        <p:spPr>
          <a:xfrm>
            <a:off x="877824" y="4873752"/>
            <a:ext cx="1152143" cy="201168"/>
          </a:xfrm>
          <a:prstGeom prst="rect">
            <a:avLst/>
          </a:prstGeom>
          <a:noFill/>
        </p:spPr>
        <p:txBody>
          <a:bodyPr wrap="square" lIns="0" rIns="0" tIns="0" bIns="0" anchor="ctr">
            <a:spAutoFit/>
          </a:bodyPr>
          <a:lstStyle/>
          <a:p>
            <a:r>
              <a:rPr sz="700" b="1" i="0">
                <a:solidFill>
                  <a:srgbClr val="1A1A1A"/>
                </a:solidFill>
                <a:latin typeface="Trenda IG Text"/>
              </a:rPr>
              <a:t>Eligibility service</a:t>
            </a:r>
          </a:p>
        </p:txBody>
      </p:sp>
      <p:sp>
        <p:nvSpPr>
          <p:cNvPr id="135" name="Text 123"/>
          <p:cNvSpPr txBox="1"/>
          <p:nvPr/>
        </p:nvSpPr>
        <p:spPr>
          <a:xfrm>
            <a:off x="640080" y="5102352"/>
            <a:ext cx="1371600" cy="49377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Gold B + approved rules: no consent, no phone or email, STOP, deceased, duplicates out, with reasons.</a:t>
            </a:r>
          </a:p>
        </p:txBody>
      </p:sp>
      <p:sp>
        <p:nvSpPr>
          <p:cNvPr id="136" name="Shape 124"/>
          <p:cNvSpPr/>
          <p:nvPr/>
        </p:nvSpPr>
        <p:spPr>
          <a:xfrm>
            <a:off x="2249424" y="4818888"/>
            <a:ext cx="1463040" cy="804672"/>
          </a:xfrm>
          <a:prstGeom prst="roundRect">
            <a:avLst>
              <a:gd name="adj" fmla="val 8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Shape 125"/>
          <p:cNvSpPr/>
          <p:nvPr/>
        </p:nvSpPr>
        <p:spPr>
          <a:xfrm>
            <a:off x="2322576" y="4882896"/>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 126"/>
          <p:cNvSpPr txBox="1"/>
          <p:nvPr/>
        </p:nvSpPr>
        <p:spPr>
          <a:xfrm>
            <a:off x="2322576" y="4882896"/>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14</a:t>
            </a:r>
          </a:p>
        </p:txBody>
      </p:sp>
      <p:pic>
        <p:nvPicPr>
          <p:cNvPr id="139" name="Picture 138" descr="people.png"/>
          <p:cNvPicPr>
            <a:picLocks noChangeAspect="1"/>
          </p:cNvPicPr>
          <p:nvPr/>
        </p:nvPicPr>
        <p:blipFill>
          <a:blip r:embed="rId6"/>
          <a:stretch>
            <a:fillRect/>
          </a:stretch>
        </p:blipFill>
        <p:spPr>
          <a:xfrm>
            <a:off x="2551176" y="4882896"/>
            <a:ext cx="164592" cy="164592"/>
          </a:xfrm>
          <a:prstGeom prst="rect">
            <a:avLst/>
          </a:prstGeom>
        </p:spPr>
      </p:pic>
      <p:sp>
        <p:nvSpPr>
          <p:cNvPr id="140" name="Text 127"/>
          <p:cNvSpPr txBox="1"/>
          <p:nvPr/>
        </p:nvSpPr>
        <p:spPr>
          <a:xfrm>
            <a:off x="2761488" y="4855464"/>
            <a:ext cx="530352" cy="219456"/>
          </a:xfrm>
          <a:prstGeom prst="rect">
            <a:avLst/>
          </a:prstGeom>
          <a:noFill/>
        </p:spPr>
        <p:txBody>
          <a:bodyPr wrap="square" lIns="0" rIns="0" tIns="0" bIns="0" anchor="ctr">
            <a:spAutoFit/>
          </a:bodyPr>
          <a:lstStyle/>
          <a:p>
            <a:r>
              <a:rPr sz="700" b="1" i="0">
                <a:solidFill>
                  <a:srgbClr val="1A1A1A"/>
                </a:solidFill>
                <a:latin typeface="Trenda IG Text"/>
              </a:rPr>
              <a:t>Pre-send</a:t>
            </a:r>
          </a:p>
        </p:txBody>
      </p:sp>
      <p:sp>
        <p:nvSpPr>
          <p:cNvPr id="141" name="Shape 128"/>
          <p:cNvSpPr/>
          <p:nvPr/>
        </p:nvSpPr>
        <p:spPr>
          <a:xfrm>
            <a:off x="3328416" y="4892040"/>
            <a:ext cx="310896" cy="137160"/>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 129"/>
          <p:cNvSpPr txBox="1"/>
          <p:nvPr/>
        </p:nvSpPr>
        <p:spPr>
          <a:xfrm>
            <a:off x="3328416" y="4892040"/>
            <a:ext cx="310896" cy="137160"/>
          </a:xfrm>
          <a:prstGeom prst="rect">
            <a:avLst/>
          </a:prstGeom>
          <a:noFill/>
        </p:spPr>
        <p:txBody>
          <a:bodyPr wrap="square" lIns="0" rIns="0" tIns="0" bIns="0" anchor="ctr">
            <a:spAutoFit/>
          </a:bodyPr>
          <a:lstStyle/>
          <a:p>
            <a:pPr algn="ctr"/>
            <a:r>
              <a:rPr sz="700" b="1" i="0" spc="80">
                <a:solidFill>
                  <a:srgbClr val="1A1A1A"/>
                </a:solidFill>
                <a:latin typeface="Trenda IG Text"/>
              </a:rPr>
              <a:t>G2</a:t>
            </a:r>
          </a:p>
        </p:txBody>
      </p:sp>
      <p:sp>
        <p:nvSpPr>
          <p:cNvPr id="143" name="Text 130"/>
          <p:cNvSpPr txBox="1"/>
          <p:nvPr/>
        </p:nvSpPr>
        <p:spPr>
          <a:xfrm>
            <a:off x="2322576" y="5111496"/>
            <a:ext cx="1335024" cy="493776"/>
          </a:xfrm>
          <a:prstGeom prst="rect">
            <a:avLst/>
          </a:prstGeom>
          <a:noFill/>
        </p:spPr>
        <p:txBody>
          <a:bodyPr wrap="square" lIns="0" rIns="0" tIns="0" bIns="0" anchor="t">
            <a:spAutoFit/>
          </a:bodyPr>
          <a:lstStyle/>
          <a:p>
            <a:r>
              <a:rPr sz="700" b="0" i="0">
                <a:solidFill>
                  <a:srgbClr val="4D4D4D"/>
                </a:solidFill>
                <a:latin typeface="Trenda IG Text"/>
              </a:rPr>
              <a:t>SME + tech lead review a masked report: counts, consent, exclusions. No PHI on screen.</a:t>
            </a:r>
          </a:p>
        </p:txBody>
      </p:sp>
      <p:sp>
        <p:nvSpPr>
          <p:cNvPr id="144" name="Differentiator Border 132"/>
          <p:cNvSpPr/>
          <p:nvPr/>
        </p:nvSpPr>
        <p:spPr>
          <a:xfrm>
            <a:off x="3858768" y="4818888"/>
            <a:ext cx="1828800" cy="80467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Shape 133"/>
          <p:cNvSpPr/>
          <p:nvPr/>
        </p:nvSpPr>
        <p:spPr>
          <a:xfrm>
            <a:off x="3877055" y="4837176"/>
            <a:ext cx="1792224" cy="768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Shape 134"/>
          <p:cNvSpPr/>
          <p:nvPr/>
        </p:nvSpPr>
        <p:spPr>
          <a:xfrm>
            <a:off x="3922775" y="4873752"/>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 135"/>
          <p:cNvSpPr txBox="1"/>
          <p:nvPr/>
        </p:nvSpPr>
        <p:spPr>
          <a:xfrm>
            <a:off x="3922775" y="4873752"/>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15</a:t>
            </a:r>
          </a:p>
        </p:txBody>
      </p:sp>
      <p:sp>
        <p:nvSpPr>
          <p:cNvPr id="148" name="Text 136"/>
          <p:cNvSpPr txBox="1"/>
          <p:nvPr/>
        </p:nvSpPr>
        <p:spPr>
          <a:xfrm>
            <a:off x="4151375" y="4846320"/>
            <a:ext cx="1481328" cy="329184"/>
          </a:xfrm>
          <a:prstGeom prst="rect">
            <a:avLst/>
          </a:prstGeom>
          <a:noFill/>
        </p:spPr>
        <p:txBody>
          <a:bodyPr wrap="square" lIns="0" rIns="0" tIns="0" bIns="0" anchor="t">
            <a:spAutoFit/>
          </a:bodyPr>
          <a:lstStyle/>
          <a:p>
            <a:pPr>
              <a:lnSpc>
                <a:spcPct val="90000"/>
              </a:lnSpc>
            </a:pPr>
            <a:r>
              <a:rPr sz="700" b="1" i="0">
                <a:solidFill>
                  <a:srgbClr val="1A1A1A"/>
                </a:solidFill>
                <a:latin typeface="Trenda IG Text"/>
              </a:rPr>
              <a:t>Policy engine + activation gateway</a:t>
            </a:r>
          </a:p>
        </p:txBody>
      </p:sp>
      <p:sp>
        <p:nvSpPr>
          <p:cNvPr id="149" name="Text 137"/>
          <p:cNvSpPr txBox="1"/>
          <p:nvPr/>
        </p:nvSpPr>
        <p:spPr>
          <a:xfrm>
            <a:off x="3950207" y="5184648"/>
            <a:ext cx="1664207" cy="411479"/>
          </a:xfrm>
          <a:prstGeom prst="rect">
            <a:avLst/>
          </a:prstGeom>
          <a:noFill/>
        </p:spPr>
        <p:txBody>
          <a:bodyPr wrap="square" lIns="0" rIns="0" tIns="0" bIns="0" anchor="t">
            <a:spAutoFit/>
          </a:bodyPr>
          <a:lstStyle/>
          <a:p>
            <a:r>
              <a:rPr sz="700" b="0" i="0">
                <a:solidFill>
                  <a:srgbClr val="4D4D4D"/>
                </a:solidFill>
                <a:latin typeface="Trenda IG Text"/>
              </a:rPr>
              <a:t>Purpose, consent, suppression, minimum fields, human authorization. Compliance Passport; time-limited.</a:t>
            </a:r>
          </a:p>
        </p:txBody>
      </p:sp>
      <p:sp>
        <p:nvSpPr>
          <p:cNvPr id="150" name="Shape 138"/>
          <p:cNvSpPr/>
          <p:nvPr/>
        </p:nvSpPr>
        <p:spPr>
          <a:xfrm>
            <a:off x="5833872" y="4818888"/>
            <a:ext cx="1325880" cy="374904"/>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Shape 139"/>
          <p:cNvSpPr/>
          <p:nvPr/>
        </p:nvSpPr>
        <p:spPr>
          <a:xfrm>
            <a:off x="5907024" y="488289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 140"/>
          <p:cNvSpPr txBox="1"/>
          <p:nvPr/>
        </p:nvSpPr>
        <p:spPr>
          <a:xfrm>
            <a:off x="5907024" y="488289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16</a:t>
            </a:r>
          </a:p>
        </p:txBody>
      </p:sp>
      <p:pic>
        <p:nvPicPr>
          <p:cNvPr id="153" name="Picture 152" descr="salesforce.png"/>
          <p:cNvPicPr>
            <a:picLocks noChangeAspect="1"/>
          </p:cNvPicPr>
          <p:nvPr/>
        </p:nvPicPr>
        <p:blipFill>
          <a:blip r:embed="rId9"/>
          <a:stretch>
            <a:fillRect/>
          </a:stretch>
        </p:blipFill>
        <p:spPr>
          <a:xfrm>
            <a:off x="6163056" y="4882896"/>
            <a:ext cx="182880" cy="182880"/>
          </a:xfrm>
          <a:prstGeom prst="rect">
            <a:avLst/>
          </a:prstGeom>
        </p:spPr>
      </p:pic>
      <p:sp>
        <p:nvSpPr>
          <p:cNvPr id="154" name="Text 141"/>
          <p:cNvSpPr txBox="1"/>
          <p:nvPr/>
        </p:nvSpPr>
        <p:spPr>
          <a:xfrm>
            <a:off x="6400800" y="4873752"/>
            <a:ext cx="685800" cy="201168"/>
          </a:xfrm>
          <a:prstGeom prst="rect">
            <a:avLst/>
          </a:prstGeom>
          <a:noFill/>
        </p:spPr>
        <p:txBody>
          <a:bodyPr wrap="square" lIns="0" rIns="0" tIns="0" bIns="0" anchor="ctr">
            <a:spAutoFit/>
          </a:bodyPr>
          <a:lstStyle/>
          <a:p>
            <a:r>
              <a:rPr sz="700" b="1" i="0">
                <a:solidFill>
                  <a:srgbClr val="1A1A1A"/>
                </a:solidFill>
                <a:latin typeface="Trenda IG Text"/>
              </a:rPr>
              <a:t>A · via Data Cloud</a:t>
            </a:r>
          </a:p>
        </p:txBody>
      </p:sp>
      <p:sp>
        <p:nvSpPr>
          <p:cNvPr id="155" name="Shape 142"/>
          <p:cNvSpPr/>
          <p:nvPr/>
        </p:nvSpPr>
        <p:spPr>
          <a:xfrm>
            <a:off x="5833872" y="5248656"/>
            <a:ext cx="1325880" cy="374904"/>
          </a:xfrm>
          <a:prstGeom prst="roundRect">
            <a:avLst>
              <a:gd name="adj" fmla="val 7000"/>
            </a:avLst>
          </a:prstGeom>
          <a:solidFill>
            <a:srgbClr val="F5F5F5"/>
          </a:solidFill>
          <a:ln w="7620">
            <a:solidFill>
              <a:srgbClr val="00B8D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 143"/>
          <p:cNvSpPr txBox="1"/>
          <p:nvPr/>
        </p:nvSpPr>
        <p:spPr>
          <a:xfrm>
            <a:off x="5925312" y="5303520"/>
            <a:ext cx="1161288" cy="201168"/>
          </a:xfrm>
          <a:prstGeom prst="rect">
            <a:avLst/>
          </a:prstGeom>
          <a:noFill/>
        </p:spPr>
        <p:txBody>
          <a:bodyPr wrap="square" lIns="0" rIns="0" tIns="0" bIns="0" anchor="ctr">
            <a:spAutoFit/>
          </a:bodyPr>
          <a:lstStyle/>
          <a:p>
            <a:r>
              <a:rPr sz="700" b="1" i="0">
                <a:solidFill>
                  <a:srgbClr val="1A1A1A"/>
                </a:solidFill>
                <a:latin typeface="Trenda IG Text"/>
              </a:rPr>
              <a:t>B · direct pull</a:t>
            </a:r>
          </a:p>
        </p:txBody>
      </p:sp>
      <p:sp>
        <p:nvSpPr>
          <p:cNvPr id="157" name="Shape 144"/>
          <p:cNvSpPr/>
          <p:nvPr/>
        </p:nvSpPr>
        <p:spPr>
          <a:xfrm>
            <a:off x="7306056" y="4818888"/>
            <a:ext cx="1325880" cy="80467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Shape 145"/>
          <p:cNvSpPr/>
          <p:nvPr/>
        </p:nvSpPr>
        <p:spPr>
          <a:xfrm>
            <a:off x="7379208" y="488289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 146"/>
          <p:cNvSpPr txBox="1"/>
          <p:nvPr/>
        </p:nvSpPr>
        <p:spPr>
          <a:xfrm>
            <a:off x="7379208" y="488289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17</a:t>
            </a:r>
          </a:p>
        </p:txBody>
      </p:sp>
      <p:pic>
        <p:nvPicPr>
          <p:cNvPr id="160" name="Picture 159" descr="salesforce.png"/>
          <p:cNvPicPr>
            <a:picLocks noChangeAspect="1"/>
          </p:cNvPicPr>
          <p:nvPr/>
        </p:nvPicPr>
        <p:blipFill>
          <a:blip r:embed="rId9"/>
          <a:stretch>
            <a:fillRect/>
          </a:stretch>
        </p:blipFill>
        <p:spPr>
          <a:xfrm>
            <a:off x="7635240" y="4882896"/>
            <a:ext cx="182880" cy="182880"/>
          </a:xfrm>
          <a:prstGeom prst="rect">
            <a:avLst/>
          </a:prstGeom>
        </p:spPr>
      </p:pic>
      <p:sp>
        <p:nvSpPr>
          <p:cNvPr id="161" name="Text 147"/>
          <p:cNvSpPr txBox="1"/>
          <p:nvPr/>
        </p:nvSpPr>
        <p:spPr>
          <a:xfrm>
            <a:off x="7872983" y="4873752"/>
            <a:ext cx="685800" cy="201168"/>
          </a:xfrm>
          <a:prstGeom prst="rect">
            <a:avLst/>
          </a:prstGeom>
          <a:noFill/>
        </p:spPr>
        <p:txBody>
          <a:bodyPr wrap="square" lIns="0" rIns="0" tIns="0" bIns="0" anchor="ctr">
            <a:spAutoFit/>
          </a:bodyPr>
          <a:lstStyle/>
          <a:p>
            <a:r>
              <a:rPr sz="700" b="1" i="0">
                <a:solidFill>
                  <a:srgbClr val="1A1A1A"/>
                </a:solidFill>
                <a:latin typeface="Trenda IG Text"/>
              </a:rPr>
              <a:t>Data extension</a:t>
            </a:r>
          </a:p>
        </p:txBody>
      </p:sp>
      <p:sp>
        <p:nvSpPr>
          <p:cNvPr id="162" name="Text 148"/>
          <p:cNvSpPr txBox="1"/>
          <p:nvPr/>
        </p:nvSpPr>
        <p:spPr>
          <a:xfrm>
            <a:off x="7397496" y="5102352"/>
            <a:ext cx="1143000" cy="49377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Approved records, this run only.</a:t>
            </a:r>
          </a:p>
        </p:txBody>
      </p:sp>
      <p:sp>
        <p:nvSpPr>
          <p:cNvPr id="163" name="Shape 149"/>
          <p:cNvSpPr/>
          <p:nvPr/>
        </p:nvSpPr>
        <p:spPr>
          <a:xfrm>
            <a:off x="8778240" y="4818888"/>
            <a:ext cx="1325880" cy="80467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Shape 150"/>
          <p:cNvSpPr/>
          <p:nvPr/>
        </p:nvSpPr>
        <p:spPr>
          <a:xfrm>
            <a:off x="8851392" y="488289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 151"/>
          <p:cNvSpPr txBox="1"/>
          <p:nvPr/>
        </p:nvSpPr>
        <p:spPr>
          <a:xfrm>
            <a:off x="8851392" y="488289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18</a:t>
            </a:r>
          </a:p>
        </p:txBody>
      </p:sp>
      <p:sp>
        <p:nvSpPr>
          <p:cNvPr id="166" name="Text 152"/>
          <p:cNvSpPr txBox="1"/>
          <p:nvPr/>
        </p:nvSpPr>
        <p:spPr>
          <a:xfrm>
            <a:off x="9107424" y="4873752"/>
            <a:ext cx="923543" cy="201168"/>
          </a:xfrm>
          <a:prstGeom prst="rect">
            <a:avLst/>
          </a:prstGeom>
          <a:noFill/>
        </p:spPr>
        <p:txBody>
          <a:bodyPr wrap="square" lIns="0" rIns="0" tIns="0" bIns="0" anchor="ctr">
            <a:spAutoFit/>
          </a:bodyPr>
          <a:lstStyle/>
          <a:p>
            <a:r>
              <a:rPr sz="700" b="1" i="0">
                <a:solidFill>
                  <a:srgbClr val="1A1A1A"/>
                </a:solidFill>
                <a:latin typeface="Trenda IG Text"/>
              </a:rPr>
              <a:t>Journey starts</a:t>
            </a:r>
          </a:p>
        </p:txBody>
      </p:sp>
      <p:sp>
        <p:nvSpPr>
          <p:cNvPr id="167" name="Text 153"/>
          <p:cNvSpPr txBox="1"/>
          <p:nvPr/>
        </p:nvSpPr>
        <p:spPr>
          <a:xfrm>
            <a:off x="8869680" y="5102352"/>
            <a:ext cx="1143000" cy="49377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Built in 10, tested in 11, approved in 12.</a:t>
            </a:r>
          </a:p>
        </p:txBody>
      </p:sp>
      <p:sp>
        <p:nvSpPr>
          <p:cNvPr id="168" name="Shape 154"/>
          <p:cNvSpPr/>
          <p:nvPr/>
        </p:nvSpPr>
        <p:spPr>
          <a:xfrm>
            <a:off x="10250424" y="4818888"/>
            <a:ext cx="1225296" cy="374904"/>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Shape 155"/>
          <p:cNvSpPr/>
          <p:nvPr/>
        </p:nvSpPr>
        <p:spPr>
          <a:xfrm>
            <a:off x="10323576" y="488289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 156"/>
          <p:cNvSpPr txBox="1"/>
          <p:nvPr/>
        </p:nvSpPr>
        <p:spPr>
          <a:xfrm>
            <a:off x="10323576" y="488289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19</a:t>
            </a:r>
          </a:p>
        </p:txBody>
      </p:sp>
      <p:sp>
        <p:nvSpPr>
          <p:cNvPr id="171" name="Text 157"/>
          <p:cNvSpPr txBox="1"/>
          <p:nvPr/>
        </p:nvSpPr>
        <p:spPr>
          <a:xfrm>
            <a:off x="10579607" y="4873752"/>
            <a:ext cx="822960" cy="201168"/>
          </a:xfrm>
          <a:prstGeom prst="rect">
            <a:avLst/>
          </a:prstGeom>
          <a:noFill/>
        </p:spPr>
        <p:txBody>
          <a:bodyPr wrap="square" lIns="0" rIns="0" tIns="0" bIns="0" anchor="ctr">
            <a:spAutoFit/>
          </a:bodyPr>
          <a:lstStyle/>
          <a:p>
            <a:r>
              <a:rPr sz="700" b="1" i="0">
                <a:solidFill>
                  <a:srgbClr val="1A1A1A"/>
                </a:solidFill>
                <a:latin typeface="Trenda IG Text"/>
              </a:rPr>
              <a:t>Send-time check</a:t>
            </a:r>
          </a:p>
        </p:txBody>
      </p:sp>
      <p:sp>
        <p:nvSpPr>
          <p:cNvPr id="172" name="Shape 158"/>
          <p:cNvSpPr/>
          <p:nvPr/>
        </p:nvSpPr>
        <p:spPr>
          <a:xfrm>
            <a:off x="10250424" y="5248656"/>
            <a:ext cx="1225296" cy="374904"/>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Shape 159"/>
          <p:cNvSpPr/>
          <p:nvPr/>
        </p:nvSpPr>
        <p:spPr>
          <a:xfrm>
            <a:off x="10323576" y="5312664"/>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 160"/>
          <p:cNvSpPr txBox="1"/>
          <p:nvPr/>
        </p:nvSpPr>
        <p:spPr>
          <a:xfrm>
            <a:off x="10323576" y="5312664"/>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20</a:t>
            </a:r>
          </a:p>
        </p:txBody>
      </p:sp>
      <p:sp>
        <p:nvSpPr>
          <p:cNvPr id="175" name="Text 161"/>
          <p:cNvSpPr txBox="1"/>
          <p:nvPr/>
        </p:nvSpPr>
        <p:spPr>
          <a:xfrm>
            <a:off x="10579607" y="5303520"/>
            <a:ext cx="822960" cy="201168"/>
          </a:xfrm>
          <a:prstGeom prst="rect">
            <a:avLst/>
          </a:prstGeom>
          <a:noFill/>
        </p:spPr>
        <p:txBody>
          <a:bodyPr wrap="square" lIns="0" rIns="0" tIns="0" bIns="0" anchor="ctr">
            <a:spAutoFit/>
          </a:bodyPr>
          <a:lstStyle/>
          <a:p>
            <a:r>
              <a:rPr sz="700" b="1" i="0">
                <a:solidFill>
                  <a:srgbClr val="1A1A1A"/>
                </a:solidFill>
                <a:latin typeface="Trenda IG Text"/>
              </a:rPr>
              <a:t>Measurement</a:t>
            </a:r>
          </a:p>
        </p:txBody>
      </p:sp>
      <p:cxnSp>
        <p:nvCxnSpPr>
          <p:cNvPr id="176" name="Arrow 162"/>
          <p:cNvCxnSpPr/>
          <p:nvPr/>
        </p:nvCxnSpPr>
        <p:spPr>
          <a:xfrm>
            <a:off x="10863072" y="5193792"/>
            <a:ext cx="0" cy="54864"/>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7" name="Arrow 163"/>
          <p:cNvCxnSpPr/>
          <p:nvPr/>
        </p:nvCxnSpPr>
        <p:spPr>
          <a:xfrm>
            <a:off x="2103120" y="522122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8" name="Arrow 164"/>
          <p:cNvCxnSpPr/>
          <p:nvPr/>
        </p:nvCxnSpPr>
        <p:spPr>
          <a:xfrm>
            <a:off x="3712464" y="522122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9" name="Arrow 165"/>
          <p:cNvCxnSpPr/>
          <p:nvPr/>
        </p:nvCxnSpPr>
        <p:spPr>
          <a:xfrm>
            <a:off x="5687568" y="5006340"/>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0" name="Arrow 166"/>
          <p:cNvCxnSpPr/>
          <p:nvPr/>
        </p:nvCxnSpPr>
        <p:spPr>
          <a:xfrm>
            <a:off x="7159752" y="5006340"/>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1" name="Arrow 167"/>
          <p:cNvCxnSpPr/>
          <p:nvPr/>
        </p:nvCxnSpPr>
        <p:spPr>
          <a:xfrm>
            <a:off x="5687568" y="5436108"/>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2" name="Arrow 168"/>
          <p:cNvCxnSpPr/>
          <p:nvPr/>
        </p:nvCxnSpPr>
        <p:spPr>
          <a:xfrm>
            <a:off x="7159752" y="5436108"/>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3" name="Arrow 169"/>
          <p:cNvCxnSpPr/>
          <p:nvPr/>
        </p:nvCxnSpPr>
        <p:spPr>
          <a:xfrm>
            <a:off x="8631936" y="522122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4" name="Arrow 170"/>
          <p:cNvCxnSpPr/>
          <p:nvPr/>
        </p:nvCxnSpPr>
        <p:spPr>
          <a:xfrm>
            <a:off x="10104119" y="5006340"/>
            <a:ext cx="146305"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5" name="Arrow 171"/>
          <p:cNvCxnSpPr/>
          <p:nvPr/>
        </p:nvCxnSpPr>
        <p:spPr>
          <a:xfrm>
            <a:off x="11475719" y="1687068"/>
            <a:ext cx="246889" cy="0"/>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86" name="Arrow 172"/>
          <p:cNvCxnSpPr/>
          <p:nvPr/>
        </p:nvCxnSpPr>
        <p:spPr>
          <a:xfrm>
            <a:off x="11722608" y="1687068"/>
            <a:ext cx="0" cy="2756916"/>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87" name="Arrow 173"/>
          <p:cNvCxnSpPr/>
          <p:nvPr/>
        </p:nvCxnSpPr>
        <p:spPr>
          <a:xfrm flipH="1">
            <a:off x="1005840" y="4443984"/>
            <a:ext cx="10716768" cy="0"/>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88" name="Arrow 174"/>
          <p:cNvCxnSpPr/>
          <p:nvPr/>
        </p:nvCxnSpPr>
        <p:spPr>
          <a:xfrm>
            <a:off x="1005840" y="4443984"/>
            <a:ext cx="0" cy="374904"/>
          </a:xfrm>
          <a:prstGeom prst="line">
            <a:avLst/>
          </a:prstGeom>
          <a:ln w="11430">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9" name="Arrow 175"/>
          <p:cNvCxnSpPr/>
          <p:nvPr/>
        </p:nvCxnSpPr>
        <p:spPr>
          <a:xfrm>
            <a:off x="10863072" y="5623560"/>
            <a:ext cx="0" cy="109728"/>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90" name="Arrow 176"/>
          <p:cNvCxnSpPr/>
          <p:nvPr/>
        </p:nvCxnSpPr>
        <p:spPr>
          <a:xfrm flipH="1">
            <a:off x="301752" y="5733288"/>
            <a:ext cx="1056132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91" name="Arrow 177"/>
          <p:cNvCxnSpPr/>
          <p:nvPr/>
        </p:nvCxnSpPr>
        <p:spPr>
          <a:xfrm flipV="1">
            <a:off x="301752" y="1920240"/>
            <a:ext cx="0" cy="3813048"/>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92" name="Arrow 178"/>
          <p:cNvCxnSpPr/>
          <p:nvPr/>
        </p:nvCxnSpPr>
        <p:spPr>
          <a:xfrm>
            <a:off x="301752" y="1920240"/>
            <a:ext cx="246888" cy="0"/>
          </a:xfrm>
          <a:prstGeom prst="line">
            <a:avLst/>
          </a:prstGeom>
          <a:ln w="9525">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3" name="Shape 179"/>
          <p:cNvSpPr/>
          <p:nvPr/>
        </p:nvSpPr>
        <p:spPr>
          <a:xfrm>
            <a:off x="7863840" y="5669279"/>
            <a:ext cx="2194560" cy="128016"/>
          </a:xfrm>
          <a:prstGeom prst="roundRect">
            <a:avLst>
              <a:gd name="adj" fmla="val 50000"/>
            </a:avLst>
          </a:prstGeom>
          <a:solidFill>
            <a:srgbClr val="E6E6E6"/>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4" name="Text 180"/>
          <p:cNvSpPr txBox="1"/>
          <p:nvPr/>
        </p:nvSpPr>
        <p:spPr>
          <a:xfrm>
            <a:off x="7863840" y="5669279"/>
            <a:ext cx="2194560" cy="128016"/>
          </a:xfrm>
          <a:prstGeom prst="rect">
            <a:avLst/>
          </a:prstGeom>
          <a:noFill/>
        </p:spPr>
        <p:txBody>
          <a:bodyPr wrap="square" lIns="0" rIns="0" tIns="0" bIns="0" anchor="ctr">
            <a:spAutoFit/>
          </a:bodyPr>
          <a:lstStyle/>
          <a:p>
            <a:pPr algn="ctr"/>
            <a:r>
              <a:rPr sz="700" b="1" i="0" spc="80">
                <a:solidFill>
                  <a:srgbClr val="1A1A1A"/>
                </a:solidFill>
                <a:latin typeface="Trenda IG Text"/>
              </a:rPr>
              <a:t>ENGAGEMENT BACK → NEXT RUN</a:t>
            </a:r>
          </a:p>
        </p:txBody>
      </p:sp>
      <p:sp>
        <p:nvSpPr>
          <p:cNvPr id="195" name="Text 181"/>
          <p:cNvSpPr txBox="1"/>
          <p:nvPr/>
        </p:nvSpPr>
        <p:spPr>
          <a:xfrm>
            <a:off x="411480" y="5815584"/>
            <a:ext cx="1143000" cy="457200"/>
          </a:xfrm>
          <a:prstGeom prst="rect">
            <a:avLst/>
          </a:prstGeom>
          <a:noFill/>
        </p:spPr>
        <p:txBody>
          <a:bodyPr wrap="square" lIns="0" rIns="0" tIns="0" bIns="0" anchor="ctr">
            <a:spAutoFit/>
          </a:bodyPr>
          <a:lstStyle/>
          <a:p>
            <a:pPr>
              <a:spcAft>
                <a:spcPts val="100"/>
              </a:spcAft>
            </a:pPr>
            <a:r>
              <a:rPr sz="700" b="1" i="0" spc="120">
                <a:solidFill>
                  <a:srgbClr val="1A1A1A"/>
                </a:solidFill>
                <a:latin typeface="Trenda IG Text"/>
              </a:rPr>
              <a:t>SAFEGUARDS</a:t>
            </a:r>
          </a:p>
          <a:p>
            <a:pPr>
              <a:spcAft>
                <a:spcPts val="100"/>
              </a:spcAft>
            </a:pPr>
            <a:r>
              <a:rPr sz="700" b="0" i="0">
                <a:solidFill>
                  <a:srgbClr val="6B6B6B"/>
                </a:solidFill>
                <a:latin typeface="Trenda IG Text"/>
              </a:rPr>
              <a:t>no wrong or no-consent patient</a:t>
            </a:r>
          </a:p>
        </p:txBody>
      </p:sp>
      <p:sp>
        <p:nvSpPr>
          <p:cNvPr id="196" name="Shape 182"/>
          <p:cNvSpPr/>
          <p:nvPr/>
        </p:nvSpPr>
        <p:spPr>
          <a:xfrm>
            <a:off x="1600200"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Shape 183"/>
          <p:cNvSpPr/>
          <p:nvPr/>
        </p:nvSpPr>
        <p:spPr>
          <a:xfrm>
            <a:off x="1600200"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 184"/>
          <p:cNvSpPr txBox="1"/>
          <p:nvPr/>
        </p:nvSpPr>
        <p:spPr>
          <a:xfrm>
            <a:off x="1709928"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Build and test before any data lands</a:t>
            </a:r>
          </a:p>
        </p:txBody>
      </p:sp>
      <p:sp>
        <p:nvSpPr>
          <p:cNvPr id="199" name="Shape 185"/>
          <p:cNvSpPr/>
          <p:nvPr/>
        </p:nvSpPr>
        <p:spPr>
          <a:xfrm>
            <a:off x="3041033"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Shape 186"/>
          <p:cNvSpPr/>
          <p:nvPr/>
        </p:nvSpPr>
        <p:spPr>
          <a:xfrm>
            <a:off x="3041033"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Text 187"/>
          <p:cNvSpPr txBox="1"/>
          <p:nvPr/>
        </p:nvSpPr>
        <p:spPr>
          <a:xfrm>
            <a:off x="3150761"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G2: masked pre-send report</a:t>
            </a:r>
          </a:p>
        </p:txBody>
      </p:sp>
      <p:sp>
        <p:nvSpPr>
          <p:cNvPr id="202" name="Shape 188"/>
          <p:cNvSpPr/>
          <p:nvPr/>
        </p:nvSpPr>
        <p:spPr>
          <a:xfrm>
            <a:off x="4481866"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Shape 189"/>
          <p:cNvSpPr/>
          <p:nvPr/>
        </p:nvSpPr>
        <p:spPr>
          <a:xfrm>
            <a:off x="4481866"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Text 190"/>
          <p:cNvSpPr txBox="1"/>
          <p:nvPr/>
        </p:nvSpPr>
        <p:spPr>
          <a:xfrm>
            <a:off x="4591594"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Minimum fields, only after G2 + G3</a:t>
            </a:r>
          </a:p>
        </p:txBody>
      </p:sp>
      <p:sp>
        <p:nvSpPr>
          <p:cNvPr id="205" name="Shape 191"/>
          <p:cNvSpPr/>
          <p:nvPr/>
        </p:nvSpPr>
        <p:spPr>
          <a:xfrm>
            <a:off x="5922699"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Shape 192"/>
          <p:cNvSpPr/>
          <p:nvPr/>
        </p:nvSpPr>
        <p:spPr>
          <a:xfrm>
            <a:off x="5922699"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Text 193"/>
          <p:cNvSpPr txBox="1"/>
          <p:nvPr/>
        </p:nvSpPr>
        <p:spPr>
          <a:xfrm>
            <a:off x="6032427"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Gateway release; agents hold no raw PHI</a:t>
            </a:r>
          </a:p>
        </p:txBody>
      </p:sp>
      <p:sp>
        <p:nvSpPr>
          <p:cNvPr id="208" name="Shape 194"/>
          <p:cNvSpPr/>
          <p:nvPr/>
        </p:nvSpPr>
        <p:spPr>
          <a:xfrm>
            <a:off x="7363532"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 name="Shape 195"/>
          <p:cNvSpPr/>
          <p:nvPr/>
        </p:nvSpPr>
        <p:spPr>
          <a:xfrm>
            <a:off x="7363532"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Text 196"/>
          <p:cNvSpPr txBox="1"/>
          <p:nvPr/>
        </p:nvSpPr>
        <p:spPr>
          <a:xfrm>
            <a:off x="7473260"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Collibra steward approves masking</a:t>
            </a:r>
          </a:p>
        </p:txBody>
      </p:sp>
      <p:sp>
        <p:nvSpPr>
          <p:cNvPr id="211" name="Shape 197"/>
          <p:cNvSpPr/>
          <p:nvPr/>
        </p:nvSpPr>
        <p:spPr>
          <a:xfrm>
            <a:off x="8804365"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Shape 198"/>
          <p:cNvSpPr/>
          <p:nvPr/>
        </p:nvSpPr>
        <p:spPr>
          <a:xfrm>
            <a:off x="8804365"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Text 199"/>
          <p:cNvSpPr txBox="1"/>
          <p:nvPr/>
        </p:nvSpPr>
        <p:spPr>
          <a:xfrm>
            <a:off x="8914093"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Retry cap: 5, then an owner</a:t>
            </a:r>
          </a:p>
        </p:txBody>
      </p:sp>
      <p:sp>
        <p:nvSpPr>
          <p:cNvPr id="214" name="Shape 200"/>
          <p:cNvSpPr/>
          <p:nvPr/>
        </p:nvSpPr>
        <p:spPr>
          <a:xfrm>
            <a:off x="10245198"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Shape 201"/>
          <p:cNvSpPr/>
          <p:nvPr/>
        </p:nvSpPr>
        <p:spPr>
          <a:xfrm>
            <a:off x="10245198"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Text 202"/>
          <p:cNvSpPr txBox="1"/>
          <p:nvPr/>
        </p:nvSpPr>
        <p:spPr>
          <a:xfrm>
            <a:off x="10354926"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Send-time re-checks + feedback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1A1A1A"/>
                </a:solidFill>
                <a:latin typeface="Trenda IG Text"/>
              </a:rPr>
              <a:t>AGENTIC HEALTHCARE CAMPAIGN PLATFORM · BUILD ORDER</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How we build it: safeguards first, release last</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The 1-20 numbers are the order a campaign runs. We build in this order, so every safeguard exists and release is proven on synthetic data before any real patient moves.</a:t>
            </a:r>
          </a:p>
        </p:txBody>
      </p:sp>
      <p:sp>
        <p:nvSpPr>
          <p:cNvPr id="5" name="Shape 4"/>
          <p:cNvSpPr/>
          <p:nvPr/>
        </p:nvSpPr>
        <p:spPr>
          <a:xfrm>
            <a:off x="411480" y="1188720"/>
            <a:ext cx="1561011" cy="329184"/>
          </a:xfrm>
          <a:prstGeom prst="homePlat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21208"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0  </a:t>
            </a:r>
            <a:r>
              <a:rPr sz="700" b="1" i="0">
                <a:solidFill>
                  <a:srgbClr val="1A1A1A"/>
                </a:solidFill>
                <a:latin typeface="Trenda IG Text"/>
              </a:rPr>
              <a:t>Discovery</a:t>
            </a:r>
          </a:p>
        </p:txBody>
      </p:sp>
      <p:sp>
        <p:nvSpPr>
          <p:cNvPr id="7" name="Shape 6"/>
          <p:cNvSpPr/>
          <p:nvPr/>
        </p:nvSpPr>
        <p:spPr>
          <a:xfrm>
            <a:off x="411480"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502920"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9" name="Shape 8"/>
          <p:cNvSpPr/>
          <p:nvPr/>
        </p:nvSpPr>
        <p:spPr>
          <a:xfrm>
            <a:off x="502920"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02920"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before 1</a:t>
            </a:r>
          </a:p>
        </p:txBody>
      </p:sp>
      <p:sp>
        <p:nvSpPr>
          <p:cNvPr id="11" name="Shape 10"/>
          <p:cNvSpPr/>
          <p:nvPr/>
        </p:nvSpPr>
        <p:spPr>
          <a:xfrm>
            <a:off x="502920"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612648" y="2157984"/>
            <a:ext cx="1304979" cy="420623"/>
          </a:xfrm>
          <a:prstGeom prst="rect">
            <a:avLst/>
          </a:prstGeom>
          <a:noFill/>
        </p:spPr>
        <p:txBody>
          <a:bodyPr wrap="square" lIns="0" rIns="0" tIns="0" bIns="0" anchor="t">
            <a:spAutoFit/>
          </a:bodyPr>
          <a:lstStyle/>
          <a:p>
            <a:r>
              <a:rPr sz="700" b="0" i="0">
                <a:solidFill>
                  <a:srgbClr val="1A1A1A"/>
                </a:solidFill>
                <a:latin typeface="Trenda IG Text"/>
              </a:rPr>
              <a:t>BigQuery inventory, PHI classifications, Collibra owners, refresh rates</a:t>
            </a:r>
          </a:p>
        </p:txBody>
      </p:sp>
      <p:sp>
        <p:nvSpPr>
          <p:cNvPr id="13" name="Shape 12"/>
          <p:cNvSpPr/>
          <p:nvPr/>
        </p:nvSpPr>
        <p:spPr>
          <a:xfrm>
            <a:off x="502920" y="2679191"/>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612648" y="2596896"/>
            <a:ext cx="1304979" cy="420623"/>
          </a:xfrm>
          <a:prstGeom prst="rect">
            <a:avLst/>
          </a:prstGeom>
          <a:noFill/>
        </p:spPr>
        <p:txBody>
          <a:bodyPr wrap="square" lIns="0" rIns="0" tIns="0" bIns="0" anchor="t">
            <a:spAutoFit/>
          </a:bodyPr>
          <a:lstStyle/>
          <a:p>
            <a:r>
              <a:rPr sz="700" b="0" i="0">
                <a:solidFill>
                  <a:srgbClr val="1A1A1A"/>
                </a:solidFill>
                <a:latin typeface="Trenda IG Text"/>
              </a:rPr>
              <a:t>Map today's CHF campaign end to end</a:t>
            </a:r>
          </a:p>
        </p:txBody>
      </p:sp>
      <p:sp>
        <p:nvSpPr>
          <p:cNvPr id="15" name="Shape 14"/>
          <p:cNvSpPr/>
          <p:nvPr/>
        </p:nvSpPr>
        <p:spPr>
          <a:xfrm>
            <a:off x="502920" y="3118103"/>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612648" y="3035808"/>
            <a:ext cx="1304979" cy="420623"/>
          </a:xfrm>
          <a:prstGeom prst="rect">
            <a:avLst/>
          </a:prstGeom>
          <a:noFill/>
        </p:spPr>
        <p:txBody>
          <a:bodyPr wrap="square" lIns="0" rIns="0" tIns="0" bIns="0" anchor="t">
            <a:spAutoFit/>
          </a:bodyPr>
          <a:lstStyle/>
          <a:p>
            <a:r>
              <a:rPr sz="700" b="0" i="0">
                <a:solidFill>
                  <a:srgbClr val="1A1A1A"/>
                </a:solidFill>
                <a:latin typeface="Trenda IG Text"/>
              </a:rPr>
              <a:t>BAAs, Salesforce licences, G1-G3 signers</a:t>
            </a:r>
          </a:p>
        </p:txBody>
      </p:sp>
      <p:sp>
        <p:nvSpPr>
          <p:cNvPr id="17" name="Shape 16"/>
          <p:cNvSpPr/>
          <p:nvPr/>
        </p:nvSpPr>
        <p:spPr>
          <a:xfrm>
            <a:off x="502920" y="355701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612648" y="3474720"/>
            <a:ext cx="1304979" cy="420623"/>
          </a:xfrm>
          <a:prstGeom prst="rect">
            <a:avLst/>
          </a:prstGeom>
          <a:noFill/>
        </p:spPr>
        <p:txBody>
          <a:bodyPr wrap="square" lIns="0" rIns="0" tIns="0" bIns="0" anchor="t">
            <a:spAutoFit/>
          </a:bodyPr>
          <a:lstStyle/>
          <a:p>
            <a:r>
              <a:rPr sz="700" b="0" i="0">
                <a:solidFill>
                  <a:srgbClr val="1A1A1A"/>
                </a:solidFill>
                <a:latin typeface="Trenda IG Text"/>
              </a:rPr>
              <a:t>Measure today's CHF process</a:t>
            </a:r>
          </a:p>
        </p:txBody>
      </p:sp>
      <p:sp>
        <p:nvSpPr>
          <p:cNvPr id="19" name="Shape 18"/>
          <p:cNvSpPr/>
          <p:nvPr/>
        </p:nvSpPr>
        <p:spPr>
          <a:xfrm>
            <a:off x="484632"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539496"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Approved architecture, owners, a baseline</a:t>
            </a:r>
          </a:p>
        </p:txBody>
      </p:sp>
      <p:sp>
        <p:nvSpPr>
          <p:cNvPr id="21" name="Shape 20"/>
          <p:cNvSpPr/>
          <p:nvPr/>
        </p:nvSpPr>
        <p:spPr>
          <a:xfrm>
            <a:off x="2045643" y="1188720"/>
            <a:ext cx="1561011" cy="329184"/>
          </a:xfrm>
          <a:prstGeom prst="chevron">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2283387"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1  </a:t>
            </a:r>
            <a:r>
              <a:rPr sz="700" b="1" i="0">
                <a:solidFill>
                  <a:srgbClr val="1A1A1A"/>
                </a:solidFill>
                <a:latin typeface="Trenda IG Text"/>
              </a:rPr>
              <a:t>Data foundation</a:t>
            </a:r>
          </a:p>
        </p:txBody>
      </p:sp>
      <p:sp>
        <p:nvSpPr>
          <p:cNvPr id="23" name="Shape 22"/>
          <p:cNvSpPr/>
          <p:nvPr/>
        </p:nvSpPr>
        <p:spPr>
          <a:xfrm>
            <a:off x="2045643"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2137083"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25" name="Shape 24"/>
          <p:cNvSpPr/>
          <p:nvPr/>
        </p:nvSpPr>
        <p:spPr>
          <a:xfrm>
            <a:off x="2137083"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2137083"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1 · 2 · 4 · 5 · 6</a:t>
            </a:r>
          </a:p>
        </p:txBody>
      </p:sp>
      <p:sp>
        <p:nvSpPr>
          <p:cNvPr id="27" name="Shape 26"/>
          <p:cNvSpPr/>
          <p:nvPr/>
        </p:nvSpPr>
        <p:spPr>
          <a:xfrm>
            <a:off x="2137083"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2246811" y="2157984"/>
            <a:ext cx="1304979" cy="420623"/>
          </a:xfrm>
          <a:prstGeom prst="rect">
            <a:avLst/>
          </a:prstGeom>
          <a:noFill/>
        </p:spPr>
        <p:txBody>
          <a:bodyPr wrap="square" lIns="0" rIns="0" tIns="0" bIns="0" anchor="t">
            <a:spAutoFit/>
          </a:bodyPr>
          <a:lstStyle/>
          <a:p>
            <a:r>
              <a:rPr sz="700" b="0" i="0">
                <a:solidFill>
                  <a:srgbClr val="1A1A1A"/>
                </a:solidFill>
                <a:latin typeface="Trenda IG Text"/>
              </a:rPr>
              <a:t>Approved sources into Bronze</a:t>
            </a:r>
          </a:p>
        </p:txBody>
      </p:sp>
      <p:sp>
        <p:nvSpPr>
          <p:cNvPr id="29" name="Shape 28"/>
          <p:cNvSpPr/>
          <p:nvPr/>
        </p:nvSpPr>
        <p:spPr>
          <a:xfrm>
            <a:off x="2137083" y="2679191"/>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9"/>
          <p:cNvSpPr txBox="1"/>
          <p:nvPr/>
        </p:nvSpPr>
        <p:spPr>
          <a:xfrm>
            <a:off x="2246811" y="2596896"/>
            <a:ext cx="1304979" cy="420623"/>
          </a:xfrm>
          <a:prstGeom prst="rect">
            <a:avLst/>
          </a:prstGeom>
          <a:noFill/>
        </p:spPr>
        <p:txBody>
          <a:bodyPr wrap="square" lIns="0" rIns="0" tIns="0" bIns="0" anchor="t">
            <a:spAutoFit/>
          </a:bodyPr>
          <a:lstStyle/>
          <a:p>
            <a:r>
              <a:rPr sz="700" b="0" i="0">
                <a:solidFill>
                  <a:srgbClr val="1A1A1A"/>
                </a:solidFill>
                <a:latin typeface="Trenda IG Text"/>
              </a:rPr>
              <a:t>Silver: identities, encounters, contacts, consent; keeps everyone</a:t>
            </a:r>
          </a:p>
        </p:txBody>
      </p:sp>
      <p:sp>
        <p:nvSpPr>
          <p:cNvPr id="31" name="Shape 30"/>
          <p:cNvSpPr/>
          <p:nvPr/>
        </p:nvSpPr>
        <p:spPr>
          <a:xfrm>
            <a:off x="2137083" y="3118103"/>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1"/>
          <p:cNvSpPr txBox="1"/>
          <p:nvPr/>
        </p:nvSpPr>
        <p:spPr>
          <a:xfrm>
            <a:off x="2246811" y="3035808"/>
            <a:ext cx="1304979" cy="420623"/>
          </a:xfrm>
          <a:prstGeom prst="rect">
            <a:avLst/>
          </a:prstGeom>
          <a:noFill/>
        </p:spPr>
        <p:txBody>
          <a:bodyPr wrap="square" lIns="0" rIns="0" tIns="0" bIns="0" anchor="t">
            <a:spAutoFit/>
          </a:bodyPr>
          <a:lstStyle/>
          <a:p>
            <a:r>
              <a:rPr sz="700" b="0" i="0">
                <a:solidFill>
                  <a:srgbClr val="1A1A1A"/>
                </a:solidFill>
                <a:latin typeface="Trenda IG Text"/>
              </a:rPr>
              <a:t>Gold B (restricted) and Gold A (aggregates)</a:t>
            </a:r>
          </a:p>
        </p:txBody>
      </p:sp>
      <p:sp>
        <p:nvSpPr>
          <p:cNvPr id="33" name="Shape 32"/>
          <p:cNvSpPr/>
          <p:nvPr/>
        </p:nvSpPr>
        <p:spPr>
          <a:xfrm>
            <a:off x="2137083" y="355701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2246811" y="3474720"/>
            <a:ext cx="1304979" cy="420623"/>
          </a:xfrm>
          <a:prstGeom prst="rect">
            <a:avLst/>
          </a:prstGeom>
          <a:noFill/>
        </p:spPr>
        <p:txBody>
          <a:bodyPr wrap="square" lIns="0" rIns="0" tIns="0" bIns="0" anchor="t">
            <a:spAutoFit/>
          </a:bodyPr>
          <a:lstStyle/>
          <a:p>
            <a:r>
              <a:rPr sz="700" b="0" i="0">
                <a:solidFill>
                  <a:srgbClr val="1A1A1A"/>
                </a:solidFill>
                <a:latin typeface="Trenda IG Text"/>
              </a:rPr>
              <a:t>Synthetic data first</a:t>
            </a:r>
          </a:p>
        </p:txBody>
      </p:sp>
      <p:sp>
        <p:nvSpPr>
          <p:cNvPr id="35" name="Shape 34"/>
          <p:cNvSpPr/>
          <p:nvPr/>
        </p:nvSpPr>
        <p:spPr>
          <a:xfrm>
            <a:off x="2118795"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5"/>
          <p:cNvSpPr txBox="1"/>
          <p:nvPr/>
        </p:nvSpPr>
        <p:spPr>
          <a:xfrm>
            <a:off x="2173659"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Data contracts, refresh times, quality checks pass</a:t>
            </a:r>
          </a:p>
        </p:txBody>
      </p:sp>
      <p:sp>
        <p:nvSpPr>
          <p:cNvPr id="37" name="Shape 36"/>
          <p:cNvSpPr/>
          <p:nvPr/>
        </p:nvSpPr>
        <p:spPr>
          <a:xfrm>
            <a:off x="3679806" y="1188720"/>
            <a:ext cx="1561011" cy="329184"/>
          </a:xfrm>
          <a:prstGeom prst="chevron">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3917550"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2  </a:t>
            </a:r>
            <a:r>
              <a:rPr sz="700" b="1" i="0">
                <a:solidFill>
                  <a:srgbClr val="1A1A1A"/>
                </a:solidFill>
                <a:latin typeface="Trenda IG Text"/>
              </a:rPr>
              <a:t>PHI governance</a:t>
            </a:r>
          </a:p>
        </p:txBody>
      </p:sp>
      <p:sp>
        <p:nvSpPr>
          <p:cNvPr id="39" name="Shape 38"/>
          <p:cNvSpPr/>
          <p:nvPr/>
        </p:nvSpPr>
        <p:spPr>
          <a:xfrm>
            <a:off x="3679806"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9"/>
          <p:cNvSpPr txBox="1"/>
          <p:nvPr/>
        </p:nvSpPr>
        <p:spPr>
          <a:xfrm>
            <a:off x="3771246"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41" name="Shape 40"/>
          <p:cNvSpPr/>
          <p:nvPr/>
        </p:nvSpPr>
        <p:spPr>
          <a:xfrm>
            <a:off x="3771246"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1"/>
          <p:cNvSpPr txBox="1"/>
          <p:nvPr/>
        </p:nvSpPr>
        <p:spPr>
          <a:xfrm>
            <a:off x="3771246"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3</a:t>
            </a:r>
          </a:p>
        </p:txBody>
      </p:sp>
      <p:sp>
        <p:nvSpPr>
          <p:cNvPr id="43" name="Shape 42"/>
          <p:cNvSpPr/>
          <p:nvPr/>
        </p:nvSpPr>
        <p:spPr>
          <a:xfrm>
            <a:off x="3771246"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3"/>
          <p:cNvSpPr txBox="1"/>
          <p:nvPr/>
        </p:nvSpPr>
        <p:spPr>
          <a:xfrm>
            <a:off x="3880974" y="2157984"/>
            <a:ext cx="1304979" cy="548640"/>
          </a:xfrm>
          <a:prstGeom prst="rect">
            <a:avLst/>
          </a:prstGeom>
          <a:noFill/>
        </p:spPr>
        <p:txBody>
          <a:bodyPr wrap="square" lIns="0" rIns="0" tIns="0" bIns="0" anchor="t">
            <a:spAutoFit/>
          </a:bodyPr>
          <a:lstStyle/>
          <a:p>
            <a:r>
              <a:rPr sz="700" b="0" i="0">
                <a:solidFill>
                  <a:srgbClr val="1A1A1A"/>
                </a:solidFill>
                <a:latin typeface="Trenda IG Text"/>
              </a:rPr>
              <a:t>DLP, Collibra steward approval, policy tags, masking, row access</a:t>
            </a:r>
          </a:p>
        </p:txBody>
      </p:sp>
      <p:sp>
        <p:nvSpPr>
          <p:cNvPr id="45" name="Shape 44"/>
          <p:cNvSpPr/>
          <p:nvPr/>
        </p:nvSpPr>
        <p:spPr>
          <a:xfrm>
            <a:off x="3771246" y="2807208"/>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5"/>
          <p:cNvSpPr txBox="1"/>
          <p:nvPr/>
        </p:nvSpPr>
        <p:spPr>
          <a:xfrm>
            <a:off x="3880974" y="2724912"/>
            <a:ext cx="1304979" cy="548640"/>
          </a:xfrm>
          <a:prstGeom prst="rect">
            <a:avLst/>
          </a:prstGeom>
          <a:noFill/>
        </p:spPr>
        <p:txBody>
          <a:bodyPr wrap="square" lIns="0" rIns="0" tIns="0" bIns="0" anchor="t">
            <a:spAutoFit/>
          </a:bodyPr>
          <a:lstStyle/>
          <a:p>
            <a:r>
              <a:rPr sz="700" b="0" i="0">
                <a:solidFill>
                  <a:srgbClr val="1A1A1A"/>
                </a:solidFill>
                <a:latin typeface="Trenda IG Text"/>
              </a:rPr>
              <a:t>Separate service identities; fail-closed policy removal</a:t>
            </a:r>
          </a:p>
        </p:txBody>
      </p:sp>
      <p:sp>
        <p:nvSpPr>
          <p:cNvPr id="47" name="Shape 46"/>
          <p:cNvSpPr/>
          <p:nvPr/>
        </p:nvSpPr>
        <p:spPr>
          <a:xfrm>
            <a:off x="3771246" y="337413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7"/>
          <p:cNvSpPr txBox="1"/>
          <p:nvPr/>
        </p:nvSpPr>
        <p:spPr>
          <a:xfrm>
            <a:off x="3880974" y="3291839"/>
            <a:ext cx="1304979" cy="548640"/>
          </a:xfrm>
          <a:prstGeom prst="rect">
            <a:avLst/>
          </a:prstGeom>
          <a:noFill/>
        </p:spPr>
        <p:txBody>
          <a:bodyPr wrap="square" lIns="0" rIns="0" tIns="0" bIns="0" anchor="t">
            <a:spAutoFit/>
          </a:bodyPr>
          <a:lstStyle/>
          <a:p>
            <a:r>
              <a:rPr sz="700" b="0" i="0">
                <a:solidFill>
                  <a:srgbClr val="1A1A1A"/>
                </a:solidFill>
                <a:latin typeface="Trenda IG Text"/>
              </a:rPr>
              <a:t>Negative-access tests</a:t>
            </a:r>
          </a:p>
        </p:txBody>
      </p:sp>
      <p:sp>
        <p:nvSpPr>
          <p:cNvPr id="49" name="Shape 48"/>
          <p:cNvSpPr/>
          <p:nvPr/>
        </p:nvSpPr>
        <p:spPr>
          <a:xfrm>
            <a:off x="3752958"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9"/>
          <p:cNvSpPr txBox="1"/>
          <p:nvPr/>
        </p:nvSpPr>
        <p:spPr>
          <a:xfrm>
            <a:off x="3807822"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Zero unauthorized PHI access in tests</a:t>
            </a:r>
          </a:p>
        </p:txBody>
      </p:sp>
      <p:sp>
        <p:nvSpPr>
          <p:cNvPr id="51" name="Shape 50"/>
          <p:cNvSpPr/>
          <p:nvPr/>
        </p:nvSpPr>
        <p:spPr>
          <a:xfrm>
            <a:off x="5313970" y="1188720"/>
            <a:ext cx="1561011" cy="329184"/>
          </a:xfrm>
          <a:prstGeom prst="chevron">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1"/>
          <p:cNvSpPr txBox="1"/>
          <p:nvPr/>
        </p:nvSpPr>
        <p:spPr>
          <a:xfrm>
            <a:off x="5551714"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3  </a:t>
            </a:r>
            <a:r>
              <a:rPr sz="700" b="1" i="0">
                <a:solidFill>
                  <a:srgbClr val="1A1A1A"/>
                </a:solidFill>
                <a:latin typeface="Trenda IG Text"/>
              </a:rPr>
              <a:t>Agentic intelligence</a:t>
            </a:r>
          </a:p>
        </p:txBody>
      </p:sp>
      <p:sp>
        <p:nvSpPr>
          <p:cNvPr id="53" name="Shape 52"/>
          <p:cNvSpPr/>
          <p:nvPr/>
        </p:nvSpPr>
        <p:spPr>
          <a:xfrm>
            <a:off x="5313970"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3"/>
          <p:cNvSpPr txBox="1"/>
          <p:nvPr/>
        </p:nvSpPr>
        <p:spPr>
          <a:xfrm>
            <a:off x="5405410"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55" name="Shape 54"/>
          <p:cNvSpPr/>
          <p:nvPr/>
        </p:nvSpPr>
        <p:spPr>
          <a:xfrm>
            <a:off x="5405410"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5"/>
          <p:cNvSpPr txBox="1"/>
          <p:nvPr/>
        </p:nvSpPr>
        <p:spPr>
          <a:xfrm>
            <a:off x="5405410"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6 → 7 · 8 · 9</a:t>
            </a:r>
          </a:p>
        </p:txBody>
      </p:sp>
      <p:sp>
        <p:nvSpPr>
          <p:cNvPr id="57" name="Shape 56"/>
          <p:cNvSpPr/>
          <p:nvPr/>
        </p:nvSpPr>
        <p:spPr>
          <a:xfrm>
            <a:off x="5405410"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7"/>
          <p:cNvSpPr txBox="1"/>
          <p:nvPr/>
        </p:nvSpPr>
        <p:spPr>
          <a:xfrm>
            <a:off x="5515138" y="2157984"/>
            <a:ext cx="1304979" cy="548640"/>
          </a:xfrm>
          <a:prstGeom prst="rect">
            <a:avLst/>
          </a:prstGeom>
          <a:noFill/>
        </p:spPr>
        <p:txBody>
          <a:bodyPr wrap="square" lIns="0" rIns="0" tIns="0" bIns="0" anchor="t">
            <a:spAutoFit/>
          </a:bodyPr>
          <a:lstStyle/>
          <a:p>
            <a:r>
              <a:rPr sz="700" b="0" i="0">
                <a:solidFill>
                  <a:srgbClr val="1A1A1A"/>
                </a:solidFill>
                <a:latin typeface="Trenda IG Text"/>
              </a:rPr>
              <a:t>Knowledge graph and Tableau on Gold A only</a:t>
            </a:r>
          </a:p>
        </p:txBody>
      </p:sp>
      <p:sp>
        <p:nvSpPr>
          <p:cNvPr id="59" name="Shape 58"/>
          <p:cNvSpPr/>
          <p:nvPr/>
        </p:nvSpPr>
        <p:spPr>
          <a:xfrm>
            <a:off x="5405410" y="2807208"/>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9"/>
          <p:cNvSpPr txBox="1"/>
          <p:nvPr/>
        </p:nvSpPr>
        <p:spPr>
          <a:xfrm>
            <a:off x="5515138" y="2724912"/>
            <a:ext cx="1304979" cy="548640"/>
          </a:xfrm>
          <a:prstGeom prst="rect">
            <a:avLst/>
          </a:prstGeom>
          <a:noFill/>
        </p:spPr>
        <p:txBody>
          <a:bodyPr wrap="square" lIns="0" rIns="0" tIns="0" bIns="0" anchor="t">
            <a:spAutoFit/>
          </a:bodyPr>
          <a:lstStyle/>
          <a:p>
            <a:r>
              <a:rPr sz="700" b="0" i="0">
                <a:solidFill>
                  <a:srgbClr val="1A1A1A"/>
                </a:solidFill>
                <a:latin typeface="Trenda IG Text"/>
              </a:rPr>
              <a:t>Codex prompt; Orchestrator, Strategist, Analytics</a:t>
            </a:r>
          </a:p>
        </p:txBody>
      </p:sp>
      <p:sp>
        <p:nvSpPr>
          <p:cNvPr id="61" name="Shape 60"/>
          <p:cNvSpPr/>
          <p:nvPr/>
        </p:nvSpPr>
        <p:spPr>
          <a:xfrm>
            <a:off x="5405410" y="337413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61"/>
          <p:cNvSpPr txBox="1"/>
          <p:nvPr/>
        </p:nvSpPr>
        <p:spPr>
          <a:xfrm>
            <a:off x="5515138" y="3291839"/>
            <a:ext cx="1304979" cy="548640"/>
          </a:xfrm>
          <a:prstGeom prst="rect">
            <a:avLst/>
          </a:prstGeom>
          <a:noFill/>
        </p:spPr>
        <p:txBody>
          <a:bodyPr wrap="square" lIns="0" rIns="0" tIns="0" bIns="0" anchor="t">
            <a:spAutoFit/>
          </a:bodyPr>
          <a:lstStyle/>
          <a:p>
            <a:r>
              <a:rPr sz="700" b="0" i="0">
                <a:solidFill>
                  <a:srgbClr val="1A1A1A"/>
                </a:solidFill>
                <a:latin typeface="Trenda IG Text"/>
              </a:rPr>
              <a:t>Opportunity Brief and G1</a:t>
            </a:r>
          </a:p>
        </p:txBody>
      </p:sp>
      <p:sp>
        <p:nvSpPr>
          <p:cNvPr id="63" name="Shape 62"/>
          <p:cNvSpPr/>
          <p:nvPr/>
        </p:nvSpPr>
        <p:spPr>
          <a:xfrm>
            <a:off x="5387122"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3"/>
          <p:cNvSpPr txBox="1"/>
          <p:nvPr/>
        </p:nvSpPr>
        <p:spPr>
          <a:xfrm>
            <a:off x="5441986"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A CHF brief from counts only, approved</a:t>
            </a:r>
          </a:p>
        </p:txBody>
      </p:sp>
      <p:sp>
        <p:nvSpPr>
          <p:cNvPr id="65" name="Shape 64"/>
          <p:cNvSpPr/>
          <p:nvPr/>
        </p:nvSpPr>
        <p:spPr>
          <a:xfrm>
            <a:off x="6948133" y="1188720"/>
            <a:ext cx="1561011" cy="329184"/>
          </a:xfrm>
          <a:prstGeom prst="chevron">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5"/>
          <p:cNvSpPr txBox="1"/>
          <p:nvPr/>
        </p:nvSpPr>
        <p:spPr>
          <a:xfrm>
            <a:off x="7185877"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4  </a:t>
            </a:r>
            <a:r>
              <a:rPr sz="700" b="1" i="0">
                <a:solidFill>
                  <a:srgbClr val="1A1A1A"/>
                </a:solidFill>
                <a:latin typeface="Trenda IG Text"/>
              </a:rPr>
              <a:t>Build + test</a:t>
            </a:r>
          </a:p>
        </p:txBody>
      </p:sp>
      <p:sp>
        <p:nvSpPr>
          <p:cNvPr id="67" name="Shape 66"/>
          <p:cNvSpPr/>
          <p:nvPr/>
        </p:nvSpPr>
        <p:spPr>
          <a:xfrm>
            <a:off x="6948133"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7"/>
          <p:cNvSpPr txBox="1"/>
          <p:nvPr/>
        </p:nvSpPr>
        <p:spPr>
          <a:xfrm>
            <a:off x="7039573"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69" name="Shape 68"/>
          <p:cNvSpPr/>
          <p:nvPr/>
        </p:nvSpPr>
        <p:spPr>
          <a:xfrm>
            <a:off x="7039573"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9"/>
          <p:cNvSpPr txBox="1"/>
          <p:nvPr/>
        </p:nvSpPr>
        <p:spPr>
          <a:xfrm>
            <a:off x="7039573"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10 · 11 · 12</a:t>
            </a:r>
          </a:p>
        </p:txBody>
      </p:sp>
      <p:sp>
        <p:nvSpPr>
          <p:cNvPr id="71" name="Shape 70"/>
          <p:cNvSpPr/>
          <p:nvPr/>
        </p:nvSpPr>
        <p:spPr>
          <a:xfrm>
            <a:off x="7039573"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71"/>
          <p:cNvSpPr txBox="1"/>
          <p:nvPr/>
        </p:nvSpPr>
        <p:spPr>
          <a:xfrm>
            <a:off x="7149301" y="2157984"/>
            <a:ext cx="1304979" cy="548640"/>
          </a:xfrm>
          <a:prstGeom prst="rect">
            <a:avLst/>
          </a:prstGeom>
          <a:noFill/>
        </p:spPr>
        <p:txBody>
          <a:bodyPr wrap="square" lIns="0" rIns="0" tIns="0" bIns="0" anchor="t">
            <a:spAutoFit/>
          </a:bodyPr>
          <a:lstStyle/>
          <a:p>
            <a:r>
              <a:rPr sz="700" b="0" i="0">
                <a:solidFill>
                  <a:srgbClr val="1A1A1A"/>
                </a:solidFill>
                <a:latin typeface="Trenda IG Text"/>
              </a:rPr>
              <a:t>Campaign Design Agent: journey + data extension, paused</a:t>
            </a:r>
          </a:p>
        </p:txBody>
      </p:sp>
      <p:sp>
        <p:nvSpPr>
          <p:cNvPr id="73" name="Shape 72"/>
          <p:cNvSpPr/>
          <p:nvPr/>
        </p:nvSpPr>
        <p:spPr>
          <a:xfrm>
            <a:off x="7039573" y="2807208"/>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3"/>
          <p:cNvSpPr txBox="1"/>
          <p:nvPr/>
        </p:nvSpPr>
        <p:spPr>
          <a:xfrm>
            <a:off x="7149301" y="2724912"/>
            <a:ext cx="1304979" cy="548640"/>
          </a:xfrm>
          <a:prstGeom prst="rect">
            <a:avLst/>
          </a:prstGeom>
          <a:noFill/>
        </p:spPr>
        <p:txBody>
          <a:bodyPr wrap="square" lIns="0" rIns="0" tIns="0" bIns="0" anchor="t">
            <a:spAutoFit/>
          </a:bodyPr>
          <a:lstStyle/>
          <a:p>
            <a:r>
              <a:rPr sz="700" b="0" i="0">
                <a:solidFill>
                  <a:srgbClr val="1A1A1A"/>
                </a:solidFill>
                <a:latin typeface="Trenda IG Text"/>
              </a:rPr>
              <a:t>Testing loop: test contacts, failure modes, 5-retry cap</a:t>
            </a:r>
          </a:p>
        </p:txBody>
      </p:sp>
      <p:sp>
        <p:nvSpPr>
          <p:cNvPr id="75" name="Shape 74"/>
          <p:cNvSpPr/>
          <p:nvPr/>
        </p:nvSpPr>
        <p:spPr>
          <a:xfrm>
            <a:off x="7039573" y="337413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5"/>
          <p:cNvSpPr txBox="1"/>
          <p:nvPr/>
        </p:nvSpPr>
        <p:spPr>
          <a:xfrm>
            <a:off x="7149301" y="3291839"/>
            <a:ext cx="1304979" cy="548640"/>
          </a:xfrm>
          <a:prstGeom prst="rect">
            <a:avLst/>
          </a:prstGeom>
          <a:noFill/>
        </p:spPr>
        <p:txBody>
          <a:bodyPr wrap="square" lIns="0" rIns="0" tIns="0" bIns="0" anchor="t">
            <a:spAutoFit/>
          </a:bodyPr>
          <a:lstStyle/>
          <a:p>
            <a:r>
              <a:rPr sz="700" b="0" i="0">
                <a:solidFill>
                  <a:srgbClr val="1A1A1A"/>
                </a:solidFill>
                <a:latin typeface="Trenda IG Text"/>
              </a:rPr>
              <a:t>G3 approval flow</a:t>
            </a:r>
          </a:p>
        </p:txBody>
      </p:sp>
      <p:sp>
        <p:nvSpPr>
          <p:cNvPr id="77" name="Shape 76"/>
          <p:cNvSpPr/>
          <p:nvPr/>
        </p:nvSpPr>
        <p:spPr>
          <a:xfrm>
            <a:off x="7021285"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7"/>
          <p:cNvSpPr txBox="1"/>
          <p:nvPr/>
        </p:nvSpPr>
        <p:spPr>
          <a:xfrm>
            <a:off x="7076149"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CHF journey built, tested, approved; no real patient</a:t>
            </a:r>
          </a:p>
        </p:txBody>
      </p:sp>
      <p:sp>
        <p:nvSpPr>
          <p:cNvPr id="79" name="Shape 78"/>
          <p:cNvSpPr/>
          <p:nvPr/>
        </p:nvSpPr>
        <p:spPr>
          <a:xfrm>
            <a:off x="8582297" y="1188720"/>
            <a:ext cx="1561011" cy="329184"/>
          </a:xfrm>
          <a:prstGeom prst="chevron">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 79"/>
          <p:cNvSpPr txBox="1"/>
          <p:nvPr/>
        </p:nvSpPr>
        <p:spPr>
          <a:xfrm>
            <a:off x="8820041"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5  </a:t>
            </a:r>
            <a:r>
              <a:rPr sz="700" b="1" i="0">
                <a:solidFill>
                  <a:srgbClr val="1A1A1A"/>
                </a:solidFill>
                <a:latin typeface="Trenda IG Text"/>
              </a:rPr>
              <a:t>Governed activation</a:t>
            </a:r>
          </a:p>
        </p:txBody>
      </p:sp>
      <p:sp>
        <p:nvSpPr>
          <p:cNvPr id="81" name="Shape 80"/>
          <p:cNvSpPr/>
          <p:nvPr/>
        </p:nvSpPr>
        <p:spPr>
          <a:xfrm>
            <a:off x="8582297" y="1591056"/>
            <a:ext cx="1561011" cy="3072384"/>
          </a:xfrm>
          <a:prstGeom prst="roundRect">
            <a:avLst>
              <a:gd name="adj" fmla="val 4000"/>
            </a:avLst>
          </a:prstGeom>
          <a:solidFill>
            <a:srgbClr val="F5F5F5"/>
          </a:solidFill>
          <a:ln w="762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81"/>
          <p:cNvSpPr txBox="1"/>
          <p:nvPr/>
        </p:nvSpPr>
        <p:spPr>
          <a:xfrm>
            <a:off x="8673737"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83" name="Shape 82"/>
          <p:cNvSpPr/>
          <p:nvPr/>
        </p:nvSpPr>
        <p:spPr>
          <a:xfrm>
            <a:off x="8673737" y="1828800"/>
            <a:ext cx="1378131" cy="237744"/>
          </a:xfrm>
          <a:prstGeom prst="roundRect">
            <a:avLst>
              <a:gd name="adj" fmla="val 30000"/>
            </a:avLst>
          </a:prstGeom>
          <a:solidFill>
            <a:srgbClr val="F5F5F5"/>
          </a:solidFill>
          <a:ln w="635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3"/>
          <p:cNvSpPr txBox="1"/>
          <p:nvPr/>
        </p:nvSpPr>
        <p:spPr>
          <a:xfrm>
            <a:off x="8673737"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13 → 19</a:t>
            </a:r>
          </a:p>
        </p:txBody>
      </p:sp>
      <p:sp>
        <p:nvSpPr>
          <p:cNvPr id="85" name="Shape 84"/>
          <p:cNvSpPr/>
          <p:nvPr/>
        </p:nvSpPr>
        <p:spPr>
          <a:xfrm>
            <a:off x="8673737" y="224027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5"/>
          <p:cNvSpPr txBox="1"/>
          <p:nvPr/>
        </p:nvSpPr>
        <p:spPr>
          <a:xfrm>
            <a:off x="8783465" y="2157984"/>
            <a:ext cx="1304979" cy="332841"/>
          </a:xfrm>
          <a:prstGeom prst="rect">
            <a:avLst/>
          </a:prstGeom>
          <a:noFill/>
        </p:spPr>
        <p:txBody>
          <a:bodyPr wrap="square" lIns="0" rIns="0" tIns="0" bIns="0" anchor="t">
            <a:spAutoFit/>
          </a:bodyPr>
          <a:lstStyle/>
          <a:p>
            <a:r>
              <a:rPr sz="700" b="0" i="0">
                <a:solidFill>
                  <a:srgbClr val="1A1A1A"/>
                </a:solidFill>
                <a:latin typeface="Trenda IG Text"/>
              </a:rPr>
              <a:t>Eligibility service on Gold B</a:t>
            </a:r>
          </a:p>
        </p:txBody>
      </p:sp>
      <p:sp>
        <p:nvSpPr>
          <p:cNvPr id="87" name="Shape 86"/>
          <p:cNvSpPr/>
          <p:nvPr/>
        </p:nvSpPr>
        <p:spPr>
          <a:xfrm>
            <a:off x="8673737" y="259140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7"/>
          <p:cNvSpPr txBox="1"/>
          <p:nvPr/>
        </p:nvSpPr>
        <p:spPr>
          <a:xfrm>
            <a:off x="8783465" y="2509113"/>
            <a:ext cx="1304979" cy="332841"/>
          </a:xfrm>
          <a:prstGeom prst="rect">
            <a:avLst/>
          </a:prstGeom>
          <a:noFill/>
        </p:spPr>
        <p:txBody>
          <a:bodyPr wrap="square" lIns="0" rIns="0" tIns="0" bIns="0" anchor="t">
            <a:spAutoFit/>
          </a:bodyPr>
          <a:lstStyle/>
          <a:p>
            <a:r>
              <a:rPr sz="700" b="0" i="0">
                <a:solidFill>
                  <a:srgbClr val="1A1A1A"/>
                </a:solidFill>
                <a:latin typeface="Trenda IG Text"/>
              </a:rPr>
              <a:t>G2 masked pre-send report</a:t>
            </a:r>
          </a:p>
        </p:txBody>
      </p:sp>
      <p:sp>
        <p:nvSpPr>
          <p:cNvPr id="89" name="Shape 88"/>
          <p:cNvSpPr/>
          <p:nvPr/>
        </p:nvSpPr>
        <p:spPr>
          <a:xfrm>
            <a:off x="8673737" y="294253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9"/>
          <p:cNvSpPr txBox="1"/>
          <p:nvPr/>
        </p:nvSpPr>
        <p:spPr>
          <a:xfrm>
            <a:off x="8783465" y="2860243"/>
            <a:ext cx="1304979" cy="332841"/>
          </a:xfrm>
          <a:prstGeom prst="rect">
            <a:avLst/>
          </a:prstGeom>
          <a:noFill/>
        </p:spPr>
        <p:txBody>
          <a:bodyPr wrap="square" lIns="0" rIns="0" tIns="0" bIns="0" anchor="t">
            <a:spAutoFit/>
          </a:bodyPr>
          <a:lstStyle/>
          <a:p>
            <a:r>
              <a:rPr sz="700" b="0" i="0">
                <a:solidFill>
                  <a:srgbClr val="1A1A1A"/>
                </a:solidFill>
                <a:latin typeface="Trenda IG Text"/>
              </a:rPr>
              <a:t>Gateway + Compliance Passport</a:t>
            </a:r>
          </a:p>
        </p:txBody>
      </p:sp>
      <p:sp>
        <p:nvSpPr>
          <p:cNvPr id="91" name="Shape 90"/>
          <p:cNvSpPr/>
          <p:nvPr/>
        </p:nvSpPr>
        <p:spPr>
          <a:xfrm>
            <a:off x="8673737" y="3293668"/>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91"/>
          <p:cNvSpPr txBox="1"/>
          <p:nvPr/>
        </p:nvSpPr>
        <p:spPr>
          <a:xfrm>
            <a:off x="8783465" y="3211372"/>
            <a:ext cx="1304979" cy="332841"/>
          </a:xfrm>
          <a:prstGeom prst="rect">
            <a:avLst/>
          </a:prstGeom>
          <a:noFill/>
        </p:spPr>
        <p:txBody>
          <a:bodyPr wrap="square" lIns="0" rIns="0" tIns="0" bIns="0" anchor="t">
            <a:spAutoFit/>
          </a:bodyPr>
          <a:lstStyle/>
          <a:p>
            <a:r>
              <a:rPr sz="700" b="0" i="0">
                <a:solidFill>
                  <a:srgbClr val="1A1A1A"/>
                </a:solidFill>
                <a:latin typeface="Trenda IG Text"/>
              </a:rPr>
              <a:t>Path A (Data Cloud) first; Path B after parity</a:t>
            </a:r>
          </a:p>
        </p:txBody>
      </p:sp>
      <p:sp>
        <p:nvSpPr>
          <p:cNvPr id="93" name="Shape 92"/>
          <p:cNvSpPr/>
          <p:nvPr/>
        </p:nvSpPr>
        <p:spPr>
          <a:xfrm>
            <a:off x="8673737" y="3644798"/>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3"/>
          <p:cNvSpPr txBox="1"/>
          <p:nvPr/>
        </p:nvSpPr>
        <p:spPr>
          <a:xfrm>
            <a:off x="8783465" y="3562502"/>
            <a:ext cx="1304979" cy="332841"/>
          </a:xfrm>
          <a:prstGeom prst="rect">
            <a:avLst/>
          </a:prstGeom>
          <a:noFill/>
        </p:spPr>
        <p:txBody>
          <a:bodyPr wrap="square" lIns="0" rIns="0" tIns="0" bIns="0" anchor="t">
            <a:spAutoFit/>
          </a:bodyPr>
          <a:lstStyle/>
          <a:p>
            <a:r>
              <a:rPr sz="700" b="0" i="0">
                <a:solidFill>
                  <a:srgbClr val="1A1A1A"/>
                </a:solidFill>
                <a:latin typeface="Trenda IG Text"/>
              </a:rPr>
              <a:t>Pilot: synthetic, then a small real audience</a:t>
            </a:r>
          </a:p>
        </p:txBody>
      </p:sp>
      <p:sp>
        <p:nvSpPr>
          <p:cNvPr id="95" name="Shape 94"/>
          <p:cNvSpPr/>
          <p:nvPr/>
        </p:nvSpPr>
        <p:spPr>
          <a:xfrm>
            <a:off x="8655449"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95"/>
          <p:cNvSpPr txBox="1"/>
          <p:nvPr/>
        </p:nvSpPr>
        <p:spPr>
          <a:xfrm>
            <a:off x="8710313" y="3950208"/>
            <a:ext cx="1341555" cy="658368"/>
          </a:xfrm>
          <a:prstGeom prst="rect">
            <a:avLst/>
          </a:prstGeom>
          <a:noFill/>
        </p:spPr>
        <p:txBody>
          <a:bodyPr wrap="square" lIns="0" rIns="0" tIns="0" bIns="0" anchor="ctr">
            <a:spAutoFit/>
          </a:bodyPr>
          <a:lstStyle/>
          <a:p>
            <a:pPr>
              <a:spcAft>
                <a:spcPts val="100"/>
              </a:spcAft>
            </a:pPr>
            <a:r>
              <a:rPr sz="700" b="1" i="0">
                <a:solidFill>
                  <a:srgbClr val="8A6D00"/>
                </a:solidFill>
                <a:latin typeface="Trenda IG Text"/>
              </a:rPr>
              <a:t>EXIT  </a:t>
            </a:r>
          </a:p>
          <a:p>
            <a:pPr>
              <a:spcAft>
                <a:spcPts val="100"/>
              </a:spcAft>
            </a:pPr>
            <a:r>
              <a:rPr sz="700" b="1" i="0">
                <a:solidFill>
                  <a:srgbClr val="1A1A1A"/>
                </a:solidFill>
                <a:latin typeface="Trenda IG Text"/>
              </a:rPr>
              <a:t>Real CHF audience, equal or stronger controls; release reconciles</a:t>
            </a:r>
          </a:p>
        </p:txBody>
      </p:sp>
      <p:sp>
        <p:nvSpPr>
          <p:cNvPr id="97" name="Shape 96"/>
          <p:cNvSpPr/>
          <p:nvPr/>
        </p:nvSpPr>
        <p:spPr>
          <a:xfrm>
            <a:off x="10216460" y="1188720"/>
            <a:ext cx="1561011" cy="329184"/>
          </a:xfrm>
          <a:prstGeom prst="chevron">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 97"/>
          <p:cNvSpPr txBox="1"/>
          <p:nvPr/>
        </p:nvSpPr>
        <p:spPr>
          <a:xfrm>
            <a:off x="10454204"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6  </a:t>
            </a:r>
            <a:r>
              <a:rPr sz="700" b="1" i="0">
                <a:solidFill>
                  <a:srgbClr val="1A1A1A"/>
                </a:solidFill>
                <a:latin typeface="Trenda IG Text"/>
              </a:rPr>
              <a:t>Measure + scale</a:t>
            </a:r>
          </a:p>
        </p:txBody>
      </p:sp>
      <p:sp>
        <p:nvSpPr>
          <p:cNvPr id="99" name="Shape 98"/>
          <p:cNvSpPr/>
          <p:nvPr/>
        </p:nvSpPr>
        <p:spPr>
          <a:xfrm>
            <a:off x="10216460"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9"/>
          <p:cNvSpPr txBox="1"/>
          <p:nvPr/>
        </p:nvSpPr>
        <p:spPr>
          <a:xfrm>
            <a:off x="10307900"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101" name="Shape 100"/>
          <p:cNvSpPr/>
          <p:nvPr/>
        </p:nvSpPr>
        <p:spPr>
          <a:xfrm>
            <a:off x="10307900"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101"/>
          <p:cNvSpPr txBox="1"/>
          <p:nvPr/>
        </p:nvSpPr>
        <p:spPr>
          <a:xfrm>
            <a:off x="10307900"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20 + feedback</a:t>
            </a:r>
          </a:p>
        </p:txBody>
      </p:sp>
      <p:sp>
        <p:nvSpPr>
          <p:cNvPr id="103" name="Shape 102"/>
          <p:cNvSpPr/>
          <p:nvPr/>
        </p:nvSpPr>
        <p:spPr>
          <a:xfrm>
            <a:off x="10307900"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 103"/>
          <p:cNvSpPr txBox="1"/>
          <p:nvPr/>
        </p:nvSpPr>
        <p:spPr>
          <a:xfrm>
            <a:off x="10417628" y="2157984"/>
            <a:ext cx="1304979" cy="548640"/>
          </a:xfrm>
          <a:prstGeom prst="rect">
            <a:avLst/>
          </a:prstGeom>
          <a:noFill/>
        </p:spPr>
        <p:txBody>
          <a:bodyPr wrap="square" lIns="0" rIns="0" tIns="0" bIns="0" anchor="t">
            <a:spAutoFit/>
          </a:bodyPr>
          <a:lstStyle/>
          <a:p>
            <a:r>
              <a:rPr sz="700" b="0" i="0">
                <a:solidFill>
                  <a:srgbClr val="1A1A1A"/>
                </a:solidFill>
                <a:latin typeface="Trenda IG Text"/>
              </a:rPr>
              <a:t>Measurement vs holdout; refresh Gold A</a:t>
            </a:r>
          </a:p>
        </p:txBody>
      </p:sp>
      <p:sp>
        <p:nvSpPr>
          <p:cNvPr id="105" name="Shape 104"/>
          <p:cNvSpPr/>
          <p:nvPr/>
        </p:nvSpPr>
        <p:spPr>
          <a:xfrm>
            <a:off x="10307900" y="2807208"/>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 105"/>
          <p:cNvSpPr txBox="1"/>
          <p:nvPr/>
        </p:nvSpPr>
        <p:spPr>
          <a:xfrm>
            <a:off x="10417628" y="2724912"/>
            <a:ext cx="1304979" cy="548640"/>
          </a:xfrm>
          <a:prstGeom prst="rect">
            <a:avLst/>
          </a:prstGeom>
          <a:noFill/>
        </p:spPr>
        <p:txBody>
          <a:bodyPr wrap="square" lIns="0" rIns="0" tIns="0" bIns="0" anchor="t">
            <a:spAutoFit/>
          </a:bodyPr>
          <a:lstStyle/>
          <a:p>
            <a:r>
              <a:rPr sz="700" b="0" i="0">
                <a:solidFill>
                  <a:srgbClr val="1A1A1A"/>
                </a:solidFill>
                <a:latin typeface="Trenda IG Text"/>
              </a:rPr>
              <a:t>Compare with the Phase 0 baseline: first real speed and ROI</a:t>
            </a:r>
          </a:p>
        </p:txBody>
      </p:sp>
      <p:sp>
        <p:nvSpPr>
          <p:cNvPr id="107" name="Shape 106"/>
          <p:cNvSpPr/>
          <p:nvPr/>
        </p:nvSpPr>
        <p:spPr>
          <a:xfrm>
            <a:off x="10307900" y="337413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107"/>
          <p:cNvSpPr txBox="1"/>
          <p:nvPr/>
        </p:nvSpPr>
        <p:spPr>
          <a:xfrm>
            <a:off x="10417628" y="3291839"/>
            <a:ext cx="1304979" cy="548640"/>
          </a:xfrm>
          <a:prstGeom prst="rect">
            <a:avLst/>
          </a:prstGeom>
          <a:noFill/>
        </p:spPr>
        <p:txBody>
          <a:bodyPr wrap="square" lIns="0" rIns="0" tIns="0" bIns="0" anchor="t">
            <a:spAutoFit/>
          </a:bodyPr>
          <a:lstStyle/>
          <a:p>
            <a:r>
              <a:rPr sz="700" b="0" i="0">
                <a:solidFill>
                  <a:srgbClr val="1A1A1A"/>
                </a:solidFill>
                <a:latin typeface="Trenda IG Text"/>
              </a:rPr>
              <a:t>More templates, Path B, monitoring, multi-tenancy</a:t>
            </a:r>
          </a:p>
        </p:txBody>
      </p:sp>
      <p:sp>
        <p:nvSpPr>
          <p:cNvPr id="109" name="Shape 108"/>
          <p:cNvSpPr/>
          <p:nvPr/>
        </p:nvSpPr>
        <p:spPr>
          <a:xfrm>
            <a:off x="10289612"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9"/>
          <p:cNvSpPr txBox="1"/>
          <p:nvPr/>
        </p:nvSpPr>
        <p:spPr>
          <a:xfrm>
            <a:off x="10344476"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A multi-campaign accelerator</a:t>
            </a:r>
          </a:p>
        </p:txBody>
      </p:sp>
      <p:sp>
        <p:nvSpPr>
          <p:cNvPr id="111" name="Shape 110"/>
          <p:cNvSpPr/>
          <p:nvPr/>
        </p:nvSpPr>
        <p:spPr>
          <a:xfrm>
            <a:off x="2137083" y="4754880"/>
            <a:ext cx="3012294" cy="182880"/>
          </a:xfrm>
          <a:prstGeom prst="roundRect">
            <a:avLst>
              <a:gd name="adj" fmla="val 50000"/>
            </a:avLst>
          </a:prstGeom>
          <a:noFill/>
          <a:ln w="7620">
            <a:solidFill>
              <a:srgbClr val="D0D0D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11"/>
          <p:cNvSpPr txBox="1"/>
          <p:nvPr/>
        </p:nvSpPr>
        <p:spPr>
          <a:xfrm>
            <a:off x="2137083" y="4754880"/>
            <a:ext cx="3012294" cy="182880"/>
          </a:xfrm>
          <a:prstGeom prst="rect">
            <a:avLst/>
          </a:prstGeom>
          <a:noFill/>
        </p:spPr>
        <p:txBody>
          <a:bodyPr wrap="square" lIns="0" rIns="0" tIns="0" bIns="0" anchor="ctr">
            <a:spAutoFit/>
          </a:bodyPr>
          <a:lstStyle/>
          <a:p>
            <a:pPr algn="ctr"/>
            <a:r>
              <a:rPr sz="700" b="1" i="0" spc="80">
                <a:solidFill>
                  <a:srgbClr val="1A1A1A"/>
                </a:solidFill>
                <a:latin typeface="Trenda IG Text"/>
              </a:rPr>
              <a:t>PHASES 1 + 2 RUN PARTLY IN PARALLEL</a:t>
            </a:r>
          </a:p>
        </p:txBody>
      </p:sp>
      <p:sp>
        <p:nvSpPr>
          <p:cNvPr id="113" name="Shape 112"/>
          <p:cNvSpPr/>
          <p:nvPr/>
        </p:nvSpPr>
        <p:spPr>
          <a:xfrm>
            <a:off x="4737898" y="1097280"/>
            <a:ext cx="914400" cy="146304"/>
          </a:xfrm>
          <a:prstGeom prst="roundRect">
            <a:avLst>
              <a:gd name="adj" fmla="val 50000"/>
            </a:avLst>
          </a:prstGeom>
          <a:solidFill>
            <a:srgbClr val="E6E6E6"/>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13"/>
          <p:cNvSpPr txBox="1"/>
          <p:nvPr/>
        </p:nvSpPr>
        <p:spPr>
          <a:xfrm>
            <a:off x="4737898" y="1097280"/>
            <a:ext cx="914400" cy="146304"/>
          </a:xfrm>
          <a:prstGeom prst="rect">
            <a:avLst/>
          </a:prstGeom>
          <a:noFill/>
        </p:spPr>
        <p:txBody>
          <a:bodyPr wrap="square" lIns="0" rIns="0" tIns="0" bIns="0" anchor="ctr">
            <a:spAutoFit/>
          </a:bodyPr>
          <a:lstStyle/>
          <a:p>
            <a:pPr algn="ctr"/>
            <a:r>
              <a:rPr sz="700" b="1" i="0" spc="80">
                <a:solidFill>
                  <a:srgbClr val="1A1A1A"/>
                </a:solidFill>
                <a:latin typeface="Trenda IG Text"/>
              </a:rPr>
              <a:t>HARD GATE</a:t>
            </a:r>
          </a:p>
        </p:txBody>
      </p:sp>
      <p:sp>
        <p:nvSpPr>
          <p:cNvPr id="115" name="Shape 114"/>
          <p:cNvSpPr/>
          <p:nvPr/>
        </p:nvSpPr>
        <p:spPr>
          <a:xfrm>
            <a:off x="5405410" y="4754880"/>
            <a:ext cx="1378131" cy="182880"/>
          </a:xfrm>
          <a:prstGeom prst="roundRect">
            <a:avLst>
              <a:gd name="adj" fmla="val 50000"/>
            </a:avLst>
          </a:prstGeom>
          <a:noFill/>
          <a:ln w="7620">
            <a:solidFill>
              <a:srgbClr val="D0D0D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5"/>
          <p:cNvSpPr txBox="1"/>
          <p:nvPr/>
        </p:nvSpPr>
        <p:spPr>
          <a:xfrm>
            <a:off x="5405410" y="4754880"/>
            <a:ext cx="1378131" cy="182880"/>
          </a:xfrm>
          <a:prstGeom prst="rect">
            <a:avLst/>
          </a:prstGeom>
          <a:noFill/>
        </p:spPr>
        <p:txBody>
          <a:bodyPr wrap="square" lIns="0" rIns="0" tIns="0" bIns="0" anchor="ctr">
            <a:spAutoFit/>
          </a:bodyPr>
          <a:lstStyle/>
          <a:p>
            <a:pPr algn="ctr"/>
            <a:r>
              <a:rPr sz="700" b="1" i="0">
                <a:solidFill>
                  <a:srgbClr val="1A1A1A"/>
                </a:solidFill>
                <a:latin typeface="Trenda IG Text"/>
              </a:rPr>
              <a:t>SYNTHETIC GOLD A FIRST</a:t>
            </a:r>
          </a:p>
        </p:txBody>
      </p:sp>
      <p:sp>
        <p:nvSpPr>
          <p:cNvPr id="117" name="Shape 116"/>
          <p:cNvSpPr/>
          <p:nvPr/>
        </p:nvSpPr>
        <p:spPr>
          <a:xfrm>
            <a:off x="8673737" y="4754880"/>
            <a:ext cx="1378131"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 117"/>
          <p:cNvSpPr txBox="1"/>
          <p:nvPr/>
        </p:nvSpPr>
        <p:spPr>
          <a:xfrm>
            <a:off x="8673737" y="4754880"/>
            <a:ext cx="1378131" cy="182880"/>
          </a:xfrm>
          <a:prstGeom prst="rect">
            <a:avLst/>
          </a:prstGeom>
          <a:noFill/>
        </p:spPr>
        <p:txBody>
          <a:bodyPr wrap="square" lIns="0" rIns="0" tIns="0" bIns="0" anchor="ctr">
            <a:spAutoFit/>
          </a:bodyPr>
          <a:lstStyle/>
          <a:p>
            <a:pPr algn="ctr"/>
            <a:r>
              <a:rPr sz="700" b="1" i="0" spc="80">
                <a:solidFill>
                  <a:srgbClr val="1A1A1A"/>
                </a:solidFill>
                <a:latin typeface="Trenda IG Text"/>
              </a:rPr>
              <a:t>FIRST REAL PATIENTS</a:t>
            </a:r>
          </a:p>
        </p:txBody>
      </p:sp>
      <p:sp>
        <p:nvSpPr>
          <p:cNvPr id="119" name="Text 118"/>
          <p:cNvSpPr txBox="1"/>
          <p:nvPr/>
        </p:nvSpPr>
        <p:spPr>
          <a:xfrm>
            <a:off x="411480" y="5047488"/>
            <a:ext cx="3657600" cy="182880"/>
          </a:xfrm>
          <a:prstGeom prst="rect">
            <a:avLst/>
          </a:prstGeom>
          <a:noFill/>
        </p:spPr>
        <p:txBody>
          <a:bodyPr wrap="square" lIns="0" rIns="0" tIns="0" bIns="0" anchor="ctr">
            <a:spAutoFit/>
          </a:bodyPr>
          <a:lstStyle/>
          <a:p>
            <a:r>
              <a:rPr sz="700" b="1" i="0" spc="120">
                <a:solidFill>
                  <a:srgbClr val="1A1A1A"/>
                </a:solidFill>
                <a:latin typeface="Trenda IG Text"/>
              </a:rPr>
              <a:t>THREE RULES SET THIS ORDER</a:t>
            </a:r>
          </a:p>
        </p:txBody>
      </p:sp>
      <p:sp>
        <p:nvSpPr>
          <p:cNvPr id="120" name="Shape 119"/>
          <p:cNvSpPr/>
          <p:nvPr/>
        </p:nvSpPr>
        <p:spPr>
          <a:xfrm>
            <a:off x="411480" y="5285232"/>
            <a:ext cx="3715512"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Shape 120"/>
          <p:cNvSpPr/>
          <p:nvPr/>
        </p:nvSpPr>
        <p:spPr>
          <a:xfrm>
            <a:off x="411480" y="5285232"/>
            <a:ext cx="45720" cy="60350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 121"/>
          <p:cNvSpPr txBox="1"/>
          <p:nvPr/>
        </p:nvSpPr>
        <p:spPr>
          <a:xfrm>
            <a:off x="576072" y="5285232"/>
            <a:ext cx="3477768" cy="603504"/>
          </a:xfrm>
          <a:prstGeom prst="rect">
            <a:avLst/>
          </a:prstGeom>
          <a:noFill/>
        </p:spPr>
        <p:txBody>
          <a:bodyPr wrap="square" lIns="0" rIns="0" tIns="0" bIns="0" anchor="ctr">
            <a:spAutoFit/>
          </a:bodyPr>
          <a:lstStyle/>
          <a:p>
            <a:pPr>
              <a:spcAft>
                <a:spcPts val="100"/>
              </a:spcAft>
            </a:pPr>
            <a:r>
              <a:rPr sz="760" b="1" i="0">
                <a:solidFill>
                  <a:srgbClr val="1A1A1A"/>
                </a:solidFill>
                <a:latin typeface="Trenda IG Text"/>
              </a:rPr>
              <a:t>Governance before agents</a:t>
            </a:r>
          </a:p>
          <a:p>
            <a:pPr>
              <a:spcAft>
                <a:spcPts val="100"/>
              </a:spcAft>
            </a:pPr>
            <a:r>
              <a:rPr sz="700" b="0" i="0">
                <a:solidFill>
                  <a:srgbClr val="4D4D4D"/>
                </a:solidFill>
                <a:latin typeface="Trenda IG Text"/>
              </a:rPr>
              <a:t>No agent connects until security tests prove it cannot see PHI (Phase 2 exit).</a:t>
            </a:r>
          </a:p>
        </p:txBody>
      </p:sp>
      <p:sp>
        <p:nvSpPr>
          <p:cNvPr id="123" name="Shape 122"/>
          <p:cNvSpPr/>
          <p:nvPr/>
        </p:nvSpPr>
        <p:spPr>
          <a:xfrm>
            <a:off x="4236720" y="5285232"/>
            <a:ext cx="3715512"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Shape 123"/>
          <p:cNvSpPr/>
          <p:nvPr/>
        </p:nvSpPr>
        <p:spPr>
          <a:xfrm>
            <a:off x="4236720" y="5285232"/>
            <a:ext cx="45720" cy="60350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 124"/>
          <p:cNvSpPr txBox="1"/>
          <p:nvPr/>
        </p:nvSpPr>
        <p:spPr>
          <a:xfrm>
            <a:off x="4401312" y="5285232"/>
            <a:ext cx="3477768" cy="603504"/>
          </a:xfrm>
          <a:prstGeom prst="rect">
            <a:avLst/>
          </a:prstGeom>
          <a:noFill/>
        </p:spPr>
        <p:txBody>
          <a:bodyPr wrap="square" lIns="0" rIns="0" tIns="0" bIns="0" anchor="ctr">
            <a:spAutoFit/>
          </a:bodyPr>
          <a:lstStyle/>
          <a:p>
            <a:pPr>
              <a:spcAft>
                <a:spcPts val="100"/>
              </a:spcAft>
            </a:pPr>
            <a:r>
              <a:rPr sz="760" b="1" i="0">
                <a:solidFill>
                  <a:srgbClr val="1A1A1A"/>
                </a:solidFill>
                <a:latin typeface="Trenda IG Text"/>
              </a:rPr>
              <a:t>Build and test before release</a:t>
            </a:r>
          </a:p>
          <a:p>
            <a:pPr>
              <a:spcAft>
                <a:spcPts val="100"/>
              </a:spcAft>
            </a:pPr>
            <a:r>
              <a:rPr sz="700" b="0" i="0">
                <a:solidFill>
                  <a:srgbClr val="4D4D4D"/>
                </a:solidFill>
                <a:latin typeface="Trenda IG Text"/>
              </a:rPr>
              <a:t>The data extension starts the journey by itself, so the journey is ready first (Phase 4 before 5).</a:t>
            </a:r>
          </a:p>
        </p:txBody>
      </p:sp>
      <p:sp>
        <p:nvSpPr>
          <p:cNvPr id="126" name="Shape 125"/>
          <p:cNvSpPr/>
          <p:nvPr/>
        </p:nvSpPr>
        <p:spPr>
          <a:xfrm>
            <a:off x="8061960" y="5285232"/>
            <a:ext cx="3715512"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Shape 126"/>
          <p:cNvSpPr/>
          <p:nvPr/>
        </p:nvSpPr>
        <p:spPr>
          <a:xfrm>
            <a:off x="8061960" y="5285232"/>
            <a:ext cx="45720" cy="60350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 127"/>
          <p:cNvSpPr txBox="1"/>
          <p:nvPr/>
        </p:nvSpPr>
        <p:spPr>
          <a:xfrm>
            <a:off x="8226551" y="5285232"/>
            <a:ext cx="3477768" cy="603504"/>
          </a:xfrm>
          <a:prstGeom prst="rect">
            <a:avLst/>
          </a:prstGeom>
          <a:noFill/>
        </p:spPr>
        <p:txBody>
          <a:bodyPr wrap="square" lIns="0" rIns="0" tIns="0" bIns="0" anchor="ctr">
            <a:spAutoFit/>
          </a:bodyPr>
          <a:lstStyle/>
          <a:p>
            <a:pPr>
              <a:spcAft>
                <a:spcPts val="100"/>
              </a:spcAft>
            </a:pPr>
            <a:r>
              <a:rPr sz="760" b="1" i="0">
                <a:solidFill>
                  <a:srgbClr val="1A1A1A"/>
                </a:solidFill>
                <a:latin typeface="Trenda IG Text"/>
              </a:rPr>
              <a:t>Data Cloud before direct</a:t>
            </a:r>
          </a:p>
          <a:p>
            <a:pPr>
              <a:spcAft>
                <a:spcPts val="100"/>
              </a:spcAft>
            </a:pPr>
            <a:r>
              <a:rPr sz="700" b="0" i="0">
                <a:solidFill>
                  <a:srgbClr val="4D4D4D"/>
                </a:solidFill>
                <a:latin typeface="Trenda IG Text"/>
              </a:rPr>
              <a:t>Keep today's proven route until the direct path passes parity and security review.</a:t>
            </a:r>
          </a:p>
        </p:txBody>
      </p:sp>
      <p:sp>
        <p:nvSpPr>
          <p:cNvPr id="129" name="Text 128"/>
          <p:cNvSpPr txBox="1"/>
          <p:nvPr/>
        </p:nvSpPr>
        <p:spPr>
          <a:xfrm>
            <a:off x="411480" y="5943600"/>
            <a:ext cx="11365992" cy="274320"/>
          </a:xfrm>
          <a:prstGeom prst="rect">
            <a:avLst/>
          </a:prstGeom>
          <a:noFill/>
        </p:spPr>
        <p:txBody>
          <a:bodyPr wrap="square" lIns="0" rIns="0" tIns="0" bIns="0" anchor="ctr">
            <a:spAutoFit/>
          </a:bodyPr>
          <a:lstStyle/>
          <a:p>
            <a:r>
              <a:rPr sz="700" b="1" i="0">
                <a:solidFill>
                  <a:srgbClr val="1A1A1A"/>
                </a:solidFill>
                <a:latin typeface="Trenda IG Text"/>
              </a:rPr>
              <a:t>Nothing in Phase 5 touches real patients until Phases 2 and 4 pass their exits. </a:t>
            </a:r>
            <a:r>
              <a:rPr sz="700" b="0" i="0">
                <a:solidFill>
                  <a:srgbClr val="4D4D4D"/>
                </a:solidFill>
                <a:latin typeface="Trenda IG Text"/>
              </a:rPr>
              <a:t>No speed or ROI number is committed before Phase 6 compares the pilot with today's baseline.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ASCENSION · SIERRA VOICE AGENT</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Sierra voice agent: governed knowledge for answers, scoped APIs for patient actions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Articles in Google Cloud keep every answer accurate. Booking, cancelling and rescheduling go through the scheduling system of record, only after the caller is verified.</a:t>
            </a:r>
          </a:p>
        </p:txBody>
      </p:sp>
      <p:sp>
        <p:nvSpPr>
          <p:cNvPr id="5" name="Shape 4"/>
          <p:cNvSpPr/>
          <p:nvPr/>
        </p:nvSpPr>
        <p:spPr>
          <a:xfrm>
            <a:off x="411480" y="1188720"/>
            <a:ext cx="1874519" cy="960120"/>
          </a:xfrm>
          <a:prstGeom prst="roundRect">
            <a:avLst>
              <a:gd name="adj" fmla="val 6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eople.png"/>
          <p:cNvPicPr>
            <a:picLocks noChangeAspect="1"/>
          </p:cNvPicPr>
          <p:nvPr/>
        </p:nvPicPr>
        <p:blipFill>
          <a:blip r:embed="rId2"/>
          <a:stretch>
            <a:fillRect/>
          </a:stretch>
        </p:blipFill>
        <p:spPr>
          <a:xfrm>
            <a:off x="521208" y="1280160"/>
            <a:ext cx="219456" cy="219456"/>
          </a:xfrm>
          <a:prstGeom prst="rect">
            <a:avLst/>
          </a:prstGeom>
        </p:spPr>
      </p:pic>
      <p:sp>
        <p:nvSpPr>
          <p:cNvPr id="7" name="Text 5"/>
          <p:cNvSpPr txBox="1"/>
          <p:nvPr/>
        </p:nvSpPr>
        <p:spPr>
          <a:xfrm>
            <a:off x="813816" y="1261872"/>
            <a:ext cx="1417319" cy="256032"/>
          </a:xfrm>
          <a:prstGeom prst="rect">
            <a:avLst/>
          </a:prstGeom>
          <a:noFill/>
        </p:spPr>
        <p:txBody>
          <a:bodyPr wrap="square" lIns="0" rIns="0" tIns="0" bIns="0" anchor="ctr">
            <a:spAutoFit/>
          </a:bodyPr>
          <a:lstStyle/>
          <a:p>
            <a:r>
              <a:rPr sz="800" b="1" i="0">
                <a:solidFill>
                  <a:srgbClr val="1A1A1A"/>
                </a:solidFill>
                <a:latin typeface="Trenda IG Text"/>
              </a:rPr>
              <a:t>Patient calls</a:t>
            </a:r>
          </a:p>
        </p:txBody>
      </p:sp>
      <p:sp>
        <p:nvSpPr>
          <p:cNvPr id="8" name="Text 6"/>
          <p:cNvSpPr txBox="1"/>
          <p:nvPr/>
        </p:nvSpPr>
        <p:spPr>
          <a:xfrm>
            <a:off x="521208" y="1572768"/>
            <a:ext cx="1673351" cy="548640"/>
          </a:xfrm>
          <a:prstGeom prst="rect">
            <a:avLst/>
          </a:prstGeom>
          <a:noFill/>
        </p:spPr>
        <p:txBody>
          <a:bodyPr wrap="square" lIns="0" rIns="0" tIns="0" bIns="0" anchor="t">
            <a:spAutoFit/>
          </a:bodyPr>
          <a:lstStyle/>
          <a:p>
            <a:r>
              <a:rPr sz="700" b="0" i="0">
                <a:solidFill>
                  <a:srgbClr val="4D4D4D"/>
                </a:solidFill>
                <a:latin typeface="Trenda IG Text"/>
              </a:rPr>
              <a:t>Book, cancel or reschedule, or ask a question: prep, locations, hours, insurance.</a:t>
            </a:r>
          </a:p>
        </p:txBody>
      </p:sp>
      <p:sp>
        <p:nvSpPr>
          <p:cNvPr id="9" name="Shape 7"/>
          <p:cNvSpPr/>
          <p:nvPr/>
        </p:nvSpPr>
        <p:spPr>
          <a:xfrm>
            <a:off x="411480" y="2377440"/>
            <a:ext cx="1874519" cy="2852927"/>
          </a:xfrm>
          <a:prstGeom prst="roundRect">
            <a:avLst>
              <a:gd name="adj" fmla="val 4000"/>
            </a:avLst>
          </a:prstGeom>
          <a:solidFill>
            <a:srgbClr val="F5F5F5"/>
          </a:solidFill>
          <a:ln w="1270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8"/>
          <p:cNvSpPr txBox="1"/>
          <p:nvPr/>
        </p:nvSpPr>
        <p:spPr>
          <a:xfrm>
            <a:off x="521208" y="2468880"/>
            <a:ext cx="1691639" cy="310896"/>
          </a:xfrm>
          <a:prstGeom prst="rect">
            <a:avLst/>
          </a:prstGeom>
          <a:noFill/>
        </p:spPr>
        <p:txBody>
          <a:bodyPr wrap="square" lIns="0" rIns="0" tIns="0" bIns="0" anchor="t">
            <a:spAutoFit/>
          </a:bodyPr>
          <a:lstStyle/>
          <a:p>
            <a:pPr>
              <a:lnSpc>
                <a:spcPct val="90000"/>
              </a:lnSpc>
            </a:pPr>
            <a:r>
              <a:rPr sz="840" b="1" i="0">
                <a:solidFill>
                  <a:srgbClr val="1A1A1A"/>
                </a:solidFill>
                <a:latin typeface="Trenda IG Text"/>
              </a:rPr>
              <a:t>Sierra</a:t>
            </a:r>
          </a:p>
          <a:p>
            <a:pPr>
              <a:lnSpc>
                <a:spcPct val="90000"/>
              </a:lnSpc>
            </a:pPr>
            <a:r>
              <a:rPr sz="700" b="0" i="0">
                <a:solidFill>
                  <a:srgbClr val="4D4D4D"/>
                </a:solidFill>
                <a:latin typeface="Trenda IG Text"/>
              </a:rPr>
              <a:t>voice agent</a:t>
            </a:r>
          </a:p>
        </p:txBody>
      </p:sp>
      <p:sp>
        <p:nvSpPr>
          <p:cNvPr id="11" name="Shape 9"/>
          <p:cNvSpPr/>
          <p:nvPr/>
        </p:nvSpPr>
        <p:spPr>
          <a:xfrm>
            <a:off x="521208" y="2990088"/>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0"/>
          <p:cNvSpPr txBox="1"/>
          <p:nvPr/>
        </p:nvSpPr>
        <p:spPr>
          <a:xfrm>
            <a:off x="649224" y="2926080"/>
            <a:ext cx="1563623" cy="512064"/>
          </a:xfrm>
          <a:prstGeom prst="rect">
            <a:avLst/>
          </a:prstGeom>
          <a:noFill/>
        </p:spPr>
        <p:txBody>
          <a:bodyPr wrap="square" lIns="0" rIns="0" tIns="0" bIns="0" anchor="t">
            <a:spAutoFit/>
          </a:bodyPr>
          <a:lstStyle/>
          <a:p>
            <a:pPr>
              <a:spcAft>
                <a:spcPts val="100"/>
              </a:spcAft>
            </a:pPr>
            <a:r>
              <a:rPr sz="700" b="1" i="0">
                <a:solidFill>
                  <a:srgbClr val="1A1A1A"/>
                </a:solidFill>
                <a:latin typeface="Trenda IG Text"/>
              </a:rPr>
              <a:t>Answers questions</a:t>
            </a:r>
          </a:p>
          <a:p>
            <a:pPr>
              <a:spcAft>
                <a:spcPts val="100"/>
              </a:spcAft>
            </a:pPr>
            <a:r>
              <a:rPr sz="700" b="0" i="0">
                <a:solidFill>
                  <a:srgbClr val="4D4D4D"/>
                </a:solidFill>
                <a:latin typeface="Trenda IG Text"/>
              </a:rPr>
              <a:t>from approved articles only</a:t>
            </a:r>
          </a:p>
        </p:txBody>
      </p:sp>
      <p:sp>
        <p:nvSpPr>
          <p:cNvPr id="13" name="Shape 11"/>
          <p:cNvSpPr/>
          <p:nvPr/>
        </p:nvSpPr>
        <p:spPr>
          <a:xfrm>
            <a:off x="521208" y="3557016"/>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2"/>
          <p:cNvSpPr txBox="1"/>
          <p:nvPr/>
        </p:nvSpPr>
        <p:spPr>
          <a:xfrm>
            <a:off x="649224" y="3493008"/>
            <a:ext cx="1563623" cy="512064"/>
          </a:xfrm>
          <a:prstGeom prst="rect">
            <a:avLst/>
          </a:prstGeom>
          <a:noFill/>
        </p:spPr>
        <p:txBody>
          <a:bodyPr wrap="square" lIns="0" rIns="0" tIns="0" bIns="0" anchor="t">
            <a:spAutoFit/>
          </a:bodyPr>
          <a:lstStyle/>
          <a:p>
            <a:pPr>
              <a:spcAft>
                <a:spcPts val="100"/>
              </a:spcAft>
            </a:pPr>
            <a:r>
              <a:rPr sz="700" b="1" i="0">
                <a:solidFill>
                  <a:srgbClr val="1A1A1A"/>
                </a:solidFill>
                <a:latin typeface="Trenda IG Text"/>
              </a:rPr>
              <a:t>Verifies the caller</a:t>
            </a:r>
          </a:p>
          <a:p>
            <a:pPr>
              <a:spcAft>
                <a:spcPts val="100"/>
              </a:spcAft>
            </a:pPr>
            <a:r>
              <a:rPr sz="700" b="0" i="0">
                <a:solidFill>
                  <a:srgbClr val="4D4D4D"/>
                </a:solidFill>
                <a:latin typeface="Trenda IG Text"/>
              </a:rPr>
              <a:t>before anything patient-specific</a:t>
            </a:r>
          </a:p>
        </p:txBody>
      </p:sp>
      <p:sp>
        <p:nvSpPr>
          <p:cNvPr id="15" name="Shape 13"/>
          <p:cNvSpPr/>
          <p:nvPr/>
        </p:nvSpPr>
        <p:spPr>
          <a:xfrm>
            <a:off x="521208" y="4123944"/>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4"/>
          <p:cNvSpPr txBox="1"/>
          <p:nvPr/>
        </p:nvSpPr>
        <p:spPr>
          <a:xfrm>
            <a:off x="649224" y="4059936"/>
            <a:ext cx="1563623" cy="512064"/>
          </a:xfrm>
          <a:prstGeom prst="rect">
            <a:avLst/>
          </a:prstGeom>
          <a:noFill/>
        </p:spPr>
        <p:txBody>
          <a:bodyPr wrap="square" lIns="0" rIns="0" tIns="0" bIns="0" anchor="t">
            <a:spAutoFit/>
          </a:bodyPr>
          <a:lstStyle/>
          <a:p>
            <a:pPr>
              <a:spcAft>
                <a:spcPts val="100"/>
              </a:spcAft>
            </a:pPr>
            <a:r>
              <a:rPr sz="700" b="1" i="0">
                <a:solidFill>
                  <a:srgbClr val="1A1A1A"/>
                </a:solidFill>
                <a:latin typeface="Trenda IG Text"/>
              </a:rPr>
              <a:t>Books, cancels, reschedules</a:t>
            </a:r>
          </a:p>
          <a:p>
            <a:pPr>
              <a:spcAft>
                <a:spcPts val="100"/>
              </a:spcAft>
            </a:pPr>
            <a:r>
              <a:rPr sz="700" b="0" i="0">
                <a:solidFill>
                  <a:srgbClr val="4D4D4D"/>
                </a:solidFill>
                <a:latin typeface="Trenda IG Text"/>
              </a:rPr>
              <a:t>through the scoped API</a:t>
            </a:r>
          </a:p>
        </p:txBody>
      </p:sp>
      <p:sp>
        <p:nvSpPr>
          <p:cNvPr id="17" name="Shape 15"/>
          <p:cNvSpPr/>
          <p:nvPr/>
        </p:nvSpPr>
        <p:spPr>
          <a:xfrm>
            <a:off x="521208" y="4690872"/>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6"/>
          <p:cNvSpPr txBox="1"/>
          <p:nvPr/>
        </p:nvSpPr>
        <p:spPr>
          <a:xfrm>
            <a:off x="649224" y="4626864"/>
            <a:ext cx="1563623" cy="512064"/>
          </a:xfrm>
          <a:prstGeom prst="rect">
            <a:avLst/>
          </a:prstGeom>
          <a:noFill/>
        </p:spPr>
        <p:txBody>
          <a:bodyPr wrap="square" lIns="0" rIns="0" tIns="0" bIns="0" anchor="t">
            <a:spAutoFit/>
          </a:bodyPr>
          <a:lstStyle/>
          <a:p>
            <a:pPr>
              <a:spcAft>
                <a:spcPts val="100"/>
              </a:spcAft>
            </a:pPr>
            <a:r>
              <a:rPr sz="700" b="1" i="0">
                <a:solidFill>
                  <a:srgbClr val="1A1A1A"/>
                </a:solidFill>
                <a:latin typeface="Trenda IG Text"/>
              </a:rPr>
              <a:t>Hands off to a person</a:t>
            </a:r>
          </a:p>
          <a:p>
            <a:pPr>
              <a:spcAft>
                <a:spcPts val="100"/>
              </a:spcAft>
            </a:pPr>
            <a:r>
              <a:rPr sz="700" b="0" i="0">
                <a:solidFill>
                  <a:srgbClr val="4D4D4D"/>
                </a:solidFill>
                <a:latin typeface="Trenda IG Text"/>
              </a:rPr>
              <a:t>when it should not decide</a:t>
            </a:r>
          </a:p>
        </p:txBody>
      </p:sp>
      <p:cxnSp>
        <p:nvCxnSpPr>
          <p:cNvPr id="19" name="Arrow 17"/>
          <p:cNvCxnSpPr/>
          <p:nvPr/>
        </p:nvCxnSpPr>
        <p:spPr>
          <a:xfrm>
            <a:off x="1348739" y="2148840"/>
            <a:ext cx="0" cy="22860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 18"/>
          <p:cNvSpPr/>
          <p:nvPr/>
        </p:nvSpPr>
        <p:spPr>
          <a:xfrm>
            <a:off x="2468880" y="1188720"/>
            <a:ext cx="6583680" cy="1874519"/>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hape 19"/>
          <p:cNvSpPr/>
          <p:nvPr/>
        </p:nvSpPr>
        <p:spPr>
          <a:xfrm>
            <a:off x="2468880" y="1188720"/>
            <a:ext cx="6583680"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0"/>
          <p:cNvSpPr txBox="1"/>
          <p:nvPr/>
        </p:nvSpPr>
        <p:spPr>
          <a:xfrm>
            <a:off x="2578608" y="1188720"/>
            <a:ext cx="6364224" cy="256032"/>
          </a:xfrm>
          <a:prstGeom prst="rect">
            <a:avLst/>
          </a:prstGeom>
          <a:noFill/>
        </p:spPr>
        <p:txBody>
          <a:bodyPr wrap="square" lIns="0" rIns="0" tIns="0" bIns="0" anchor="ctr">
            <a:spAutoFit/>
          </a:bodyPr>
          <a:lstStyle/>
          <a:p>
            <a:r>
              <a:rPr sz="700" b="1" i="0" spc="120">
                <a:solidFill>
                  <a:srgbClr val="1A1A1A"/>
                </a:solidFill>
                <a:latin typeface="Trenda IG Text"/>
              </a:rPr>
              <a:t>1  KNOWLEDGE PATH</a:t>
            </a:r>
            <a:r>
              <a:rPr sz="700" b="0" i="0">
                <a:solidFill>
                  <a:srgbClr val="4D4D4D"/>
                </a:solidFill>
                <a:latin typeface="Trenda IG Text"/>
              </a:rPr>
              <a:t>   no PHI · keeps every answer accurate</a:t>
            </a:r>
          </a:p>
        </p:txBody>
      </p:sp>
      <p:sp>
        <p:nvSpPr>
          <p:cNvPr id="23" name="Shape 21"/>
          <p:cNvSpPr/>
          <p:nvPr/>
        </p:nvSpPr>
        <p:spPr>
          <a:xfrm>
            <a:off x="2468880" y="3355848"/>
            <a:ext cx="6583680" cy="1874519"/>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hape 22"/>
          <p:cNvSpPr/>
          <p:nvPr/>
        </p:nvSpPr>
        <p:spPr>
          <a:xfrm>
            <a:off x="2468880" y="3355848"/>
            <a:ext cx="6583680"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3"/>
          <p:cNvSpPr txBox="1"/>
          <p:nvPr/>
        </p:nvSpPr>
        <p:spPr>
          <a:xfrm>
            <a:off x="2578608" y="3355848"/>
            <a:ext cx="6364224" cy="256032"/>
          </a:xfrm>
          <a:prstGeom prst="rect">
            <a:avLst/>
          </a:prstGeom>
          <a:noFill/>
        </p:spPr>
        <p:txBody>
          <a:bodyPr wrap="square" lIns="0" rIns="0" tIns="0" bIns="0" anchor="ctr">
            <a:spAutoFit/>
          </a:bodyPr>
          <a:lstStyle/>
          <a:p>
            <a:r>
              <a:rPr sz="700" b="1" i="0" spc="120">
                <a:solidFill>
                  <a:srgbClr val="1A1A1A"/>
                </a:solidFill>
                <a:latin typeface="Trenda IG Text"/>
              </a:rPr>
              <a:t>2  PATIENT PATH</a:t>
            </a:r>
            <a:r>
              <a:rPr sz="700" b="0" i="0">
                <a:solidFill>
                  <a:srgbClr val="4D4D4D"/>
                </a:solidFill>
                <a:latin typeface="Trenda IG Text"/>
              </a:rPr>
              <a:t>   PHI · verified caller only · this patient only</a:t>
            </a:r>
          </a:p>
        </p:txBody>
      </p:sp>
      <p:sp>
        <p:nvSpPr>
          <p:cNvPr id="26" name="Shape 24"/>
          <p:cNvSpPr/>
          <p:nvPr/>
        </p:nvSpPr>
        <p:spPr>
          <a:xfrm>
            <a:off x="2578608" y="1554480"/>
            <a:ext cx="1481328" cy="896112"/>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googlecloud.png"/>
          <p:cNvPicPr>
            <a:picLocks noChangeAspect="1"/>
          </p:cNvPicPr>
          <p:nvPr/>
        </p:nvPicPr>
        <p:blipFill>
          <a:blip r:embed="rId3"/>
          <a:stretch>
            <a:fillRect/>
          </a:stretch>
        </p:blipFill>
        <p:spPr>
          <a:xfrm>
            <a:off x="2670048" y="1618488"/>
            <a:ext cx="182880" cy="182880"/>
          </a:xfrm>
          <a:prstGeom prst="rect">
            <a:avLst/>
          </a:prstGeom>
        </p:spPr>
      </p:pic>
      <p:sp>
        <p:nvSpPr>
          <p:cNvPr id="28" name="Text 25"/>
          <p:cNvSpPr txBox="1"/>
          <p:nvPr/>
        </p:nvSpPr>
        <p:spPr>
          <a:xfrm>
            <a:off x="2907792" y="1609344"/>
            <a:ext cx="1078991" cy="201168"/>
          </a:xfrm>
          <a:prstGeom prst="rect">
            <a:avLst/>
          </a:prstGeom>
          <a:noFill/>
        </p:spPr>
        <p:txBody>
          <a:bodyPr wrap="square" lIns="0" rIns="0" tIns="0" bIns="0" anchor="ctr">
            <a:spAutoFit/>
          </a:bodyPr>
          <a:lstStyle/>
          <a:p>
            <a:r>
              <a:rPr sz="700" b="1" i="0">
                <a:solidFill>
                  <a:srgbClr val="1A1A1A"/>
                </a:solidFill>
                <a:latin typeface="Trenda IG Text"/>
              </a:rPr>
              <a:t>KB articles in GCP</a:t>
            </a:r>
          </a:p>
        </p:txBody>
      </p:sp>
      <p:sp>
        <p:nvSpPr>
          <p:cNvPr id="29" name="Text 26"/>
          <p:cNvSpPr txBox="1"/>
          <p:nvPr/>
        </p:nvSpPr>
        <p:spPr>
          <a:xfrm>
            <a:off x="2670048" y="1837944"/>
            <a:ext cx="1298448" cy="585215"/>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Source of truth. Each has an owner, version and review date.</a:t>
            </a:r>
          </a:p>
        </p:txBody>
      </p:sp>
      <p:sp>
        <p:nvSpPr>
          <p:cNvPr id="30" name="Shape 27"/>
          <p:cNvSpPr/>
          <p:nvPr/>
        </p:nvSpPr>
        <p:spPr>
          <a:xfrm>
            <a:off x="4206240" y="1554480"/>
            <a:ext cx="1481328" cy="896112"/>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28"/>
          <p:cNvSpPr txBox="1"/>
          <p:nvPr/>
        </p:nvSpPr>
        <p:spPr>
          <a:xfrm>
            <a:off x="4297680" y="1609344"/>
            <a:ext cx="1316736" cy="201168"/>
          </a:xfrm>
          <a:prstGeom prst="rect">
            <a:avLst/>
          </a:prstGeom>
          <a:noFill/>
        </p:spPr>
        <p:txBody>
          <a:bodyPr wrap="square" lIns="0" rIns="0" tIns="0" bIns="0" anchor="ctr">
            <a:spAutoFit/>
          </a:bodyPr>
          <a:lstStyle/>
          <a:p>
            <a:r>
              <a:rPr sz="700" b="1" i="0">
                <a:solidFill>
                  <a:srgbClr val="1A1A1A"/>
                </a:solidFill>
                <a:latin typeface="Trenda IG Text"/>
              </a:rPr>
              <a:t>PHI scan</a:t>
            </a:r>
          </a:p>
        </p:txBody>
      </p:sp>
      <p:sp>
        <p:nvSpPr>
          <p:cNvPr id="32" name="Text 29"/>
          <p:cNvSpPr txBox="1"/>
          <p:nvPr/>
        </p:nvSpPr>
        <p:spPr>
          <a:xfrm>
            <a:off x="4297680" y="1837944"/>
            <a:ext cx="1298448" cy="585215"/>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DLP and Collibra check every article; no patient example is published.</a:t>
            </a:r>
          </a:p>
        </p:txBody>
      </p:sp>
      <p:sp>
        <p:nvSpPr>
          <p:cNvPr id="33" name="Shape 30"/>
          <p:cNvSpPr/>
          <p:nvPr/>
        </p:nvSpPr>
        <p:spPr>
          <a:xfrm>
            <a:off x="5833872" y="1554480"/>
            <a:ext cx="1481328" cy="896112"/>
          </a:xfrm>
          <a:prstGeom prst="roundRect">
            <a:avLst>
              <a:gd name="adj" fmla="val 8000"/>
            </a:avLst>
          </a:prstGeom>
          <a:solidFill>
            <a:srgbClr val="FFF7CC"/>
          </a:solidFill>
          <a:ln w="1143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people.png"/>
          <p:cNvPicPr>
            <a:picLocks noChangeAspect="1"/>
          </p:cNvPicPr>
          <p:nvPr/>
        </p:nvPicPr>
        <p:blipFill>
          <a:blip r:embed="rId2"/>
          <a:stretch>
            <a:fillRect/>
          </a:stretch>
        </p:blipFill>
        <p:spPr>
          <a:xfrm>
            <a:off x="5925312" y="1627632"/>
            <a:ext cx="182880" cy="182880"/>
          </a:xfrm>
          <a:prstGeom prst="rect">
            <a:avLst/>
          </a:prstGeom>
        </p:spPr>
      </p:pic>
      <p:sp>
        <p:nvSpPr>
          <p:cNvPr id="35" name="Text 31"/>
          <p:cNvSpPr txBox="1"/>
          <p:nvPr/>
        </p:nvSpPr>
        <p:spPr>
          <a:xfrm>
            <a:off x="6163056" y="1600200"/>
            <a:ext cx="1078992" cy="237744"/>
          </a:xfrm>
          <a:prstGeom prst="rect">
            <a:avLst/>
          </a:prstGeom>
          <a:noFill/>
        </p:spPr>
        <p:txBody>
          <a:bodyPr wrap="square" lIns="0" rIns="0" tIns="0" bIns="0" anchor="ctr">
            <a:spAutoFit/>
          </a:bodyPr>
          <a:lstStyle/>
          <a:p>
            <a:r>
              <a:rPr sz="700" b="1" i="0">
                <a:solidFill>
                  <a:srgbClr val="8A6D00"/>
                </a:solidFill>
                <a:latin typeface="Trenda IG Text"/>
              </a:rPr>
              <a:t>Owner approves</a:t>
            </a:r>
          </a:p>
        </p:txBody>
      </p:sp>
      <p:sp>
        <p:nvSpPr>
          <p:cNvPr id="36" name="Text 32"/>
          <p:cNvSpPr txBox="1"/>
          <p:nvPr/>
        </p:nvSpPr>
        <p:spPr>
          <a:xfrm>
            <a:off x="5925312" y="1883664"/>
            <a:ext cx="1316736" cy="530352"/>
          </a:xfrm>
          <a:prstGeom prst="rect">
            <a:avLst/>
          </a:prstGeom>
          <a:noFill/>
        </p:spPr>
        <p:txBody>
          <a:bodyPr wrap="square" lIns="0" rIns="0" tIns="0" bIns="0" anchor="t">
            <a:spAutoFit/>
          </a:bodyPr>
          <a:lstStyle/>
          <a:p>
            <a:r>
              <a:rPr sz="700" b="0" i="0">
                <a:solidFill>
                  <a:srgbClr val="4D4D4D"/>
                </a:solidFill>
                <a:latin typeface="Trenda IG Text"/>
              </a:rPr>
              <a:t>Clinical content gets a clinical reviewer. Conflicting versions retired.</a:t>
            </a:r>
          </a:p>
        </p:txBody>
      </p:sp>
      <p:sp>
        <p:nvSpPr>
          <p:cNvPr id="37" name="Shape 33"/>
          <p:cNvSpPr/>
          <p:nvPr/>
        </p:nvSpPr>
        <p:spPr>
          <a:xfrm>
            <a:off x="7461504" y="1554480"/>
            <a:ext cx="1481328" cy="896112"/>
          </a:xfrm>
          <a:prstGeom prst="roundRect">
            <a:avLst>
              <a:gd name="adj" fmla="val 7000"/>
            </a:avLst>
          </a:prstGeom>
          <a:solidFill>
            <a:srgbClr val="F5F5F5"/>
          </a:solidFill>
          <a:ln w="1270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4"/>
          <p:cNvSpPr txBox="1"/>
          <p:nvPr/>
        </p:nvSpPr>
        <p:spPr>
          <a:xfrm>
            <a:off x="7552944" y="1609344"/>
            <a:ext cx="1316736" cy="201168"/>
          </a:xfrm>
          <a:prstGeom prst="rect">
            <a:avLst/>
          </a:prstGeom>
          <a:noFill/>
        </p:spPr>
        <p:txBody>
          <a:bodyPr wrap="square" lIns="0" rIns="0" tIns="0" bIns="0" anchor="ctr">
            <a:spAutoFit/>
          </a:bodyPr>
          <a:lstStyle/>
          <a:p>
            <a:r>
              <a:rPr sz="700" b="1" i="0">
                <a:solidFill>
                  <a:srgbClr val="1A1A1A"/>
                </a:solidFill>
                <a:latin typeface="Trenda IG Text"/>
              </a:rPr>
              <a:t>Approved KB index</a:t>
            </a:r>
          </a:p>
        </p:txBody>
      </p:sp>
      <p:sp>
        <p:nvSpPr>
          <p:cNvPr id="39" name="Text 35"/>
          <p:cNvSpPr txBox="1"/>
          <p:nvPr/>
        </p:nvSpPr>
        <p:spPr>
          <a:xfrm>
            <a:off x="7552944" y="1837944"/>
            <a:ext cx="1298448" cy="585215"/>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Synced to Sierra on every change, so no stale answer.</a:t>
            </a:r>
          </a:p>
        </p:txBody>
      </p:sp>
      <p:cxnSp>
        <p:nvCxnSpPr>
          <p:cNvPr id="40" name="Arrow 36"/>
          <p:cNvCxnSpPr/>
          <p:nvPr/>
        </p:nvCxnSpPr>
        <p:spPr>
          <a:xfrm>
            <a:off x="4059936"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Arrow 37"/>
          <p:cNvCxnSpPr/>
          <p:nvPr/>
        </p:nvCxnSpPr>
        <p:spPr>
          <a:xfrm>
            <a:off x="5687568"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Arrow 38"/>
          <p:cNvCxnSpPr/>
          <p:nvPr/>
        </p:nvCxnSpPr>
        <p:spPr>
          <a:xfrm>
            <a:off x="7315200"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Arrow 39"/>
          <p:cNvCxnSpPr/>
          <p:nvPr/>
        </p:nvCxnSpPr>
        <p:spPr>
          <a:xfrm>
            <a:off x="8805672" y="2450592"/>
            <a:ext cx="0" cy="429767"/>
          </a:xfrm>
          <a:prstGeom prst="line">
            <a:avLst/>
          </a:prstGeom>
          <a:ln w="1587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44" name="Arrow 40"/>
          <p:cNvCxnSpPr/>
          <p:nvPr/>
        </p:nvCxnSpPr>
        <p:spPr>
          <a:xfrm flipH="1">
            <a:off x="2286000" y="2880359"/>
            <a:ext cx="6519672"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 41"/>
          <p:cNvSpPr txBox="1"/>
          <p:nvPr/>
        </p:nvSpPr>
        <p:spPr>
          <a:xfrm>
            <a:off x="4297680" y="2724911"/>
            <a:ext cx="2743200" cy="137160"/>
          </a:xfrm>
          <a:prstGeom prst="rect">
            <a:avLst/>
          </a:prstGeom>
          <a:noFill/>
        </p:spPr>
        <p:txBody>
          <a:bodyPr wrap="square" lIns="0" rIns="0" tIns="0" bIns="0" anchor="ctr">
            <a:spAutoFit/>
          </a:bodyPr>
          <a:lstStyle/>
          <a:p>
            <a:r>
              <a:rPr sz="700" b="0" i="0">
                <a:solidFill>
                  <a:srgbClr val="0089A0"/>
                </a:solidFill>
                <a:latin typeface="Trenda IG Text"/>
              </a:rPr>
              <a:t>Sierra reads approved articles only</a:t>
            </a:r>
          </a:p>
        </p:txBody>
      </p:sp>
      <p:sp>
        <p:nvSpPr>
          <p:cNvPr id="46" name="Text 42"/>
          <p:cNvSpPr txBox="1"/>
          <p:nvPr/>
        </p:nvSpPr>
        <p:spPr>
          <a:xfrm>
            <a:off x="2578608" y="2542032"/>
            <a:ext cx="960120" cy="201168"/>
          </a:xfrm>
          <a:prstGeom prst="rect">
            <a:avLst/>
          </a:prstGeom>
          <a:noFill/>
        </p:spPr>
        <p:txBody>
          <a:bodyPr wrap="square" lIns="0" rIns="0" tIns="0" bIns="0" anchor="ctr">
            <a:spAutoFit/>
          </a:bodyPr>
          <a:lstStyle/>
          <a:p>
            <a:r>
              <a:rPr sz="700" b="1" i="0" spc="100">
                <a:solidFill>
                  <a:srgbClr val="6B6B6B"/>
                </a:solidFill>
                <a:latin typeface="Trenda IG Text"/>
              </a:rPr>
              <a:t>ARTICLES</a:t>
            </a:r>
          </a:p>
        </p:txBody>
      </p:sp>
      <p:sp>
        <p:nvSpPr>
          <p:cNvPr id="47" name="Shape 43"/>
          <p:cNvSpPr/>
          <p:nvPr/>
        </p:nvSpPr>
        <p:spPr>
          <a:xfrm>
            <a:off x="3566160" y="2542032"/>
            <a:ext cx="373075"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4"/>
          <p:cNvSpPr txBox="1"/>
          <p:nvPr/>
        </p:nvSpPr>
        <p:spPr>
          <a:xfrm>
            <a:off x="3566160" y="2542032"/>
            <a:ext cx="373075" cy="201168"/>
          </a:xfrm>
          <a:prstGeom prst="rect">
            <a:avLst/>
          </a:prstGeom>
          <a:noFill/>
        </p:spPr>
        <p:txBody>
          <a:bodyPr wrap="square" lIns="0" rIns="0" tIns="0" bIns="0" anchor="ctr">
            <a:spAutoFit/>
          </a:bodyPr>
          <a:lstStyle/>
          <a:p>
            <a:pPr algn="ctr"/>
            <a:r>
              <a:rPr sz="700" b="0" i="0">
                <a:solidFill>
                  <a:srgbClr val="1A1A1A"/>
                </a:solidFill>
                <a:latin typeface="Trenda IG Text"/>
              </a:rPr>
              <a:t>FAQs</a:t>
            </a:r>
          </a:p>
        </p:txBody>
      </p:sp>
      <p:sp>
        <p:nvSpPr>
          <p:cNvPr id="49" name="Shape 45"/>
          <p:cNvSpPr/>
          <p:nvPr/>
        </p:nvSpPr>
        <p:spPr>
          <a:xfrm>
            <a:off x="3994099" y="2542032"/>
            <a:ext cx="991209"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6"/>
          <p:cNvSpPr txBox="1"/>
          <p:nvPr/>
        </p:nvSpPr>
        <p:spPr>
          <a:xfrm>
            <a:off x="3994099" y="2542032"/>
            <a:ext cx="991209" cy="201168"/>
          </a:xfrm>
          <a:prstGeom prst="rect">
            <a:avLst/>
          </a:prstGeom>
          <a:noFill/>
        </p:spPr>
        <p:txBody>
          <a:bodyPr wrap="square" lIns="0" rIns="0" tIns="0" bIns="0" anchor="ctr">
            <a:spAutoFit/>
          </a:bodyPr>
          <a:lstStyle/>
          <a:p>
            <a:pPr algn="ctr"/>
            <a:r>
              <a:rPr sz="700" b="0" i="0">
                <a:solidFill>
                  <a:srgbClr val="1A1A1A"/>
                </a:solidFill>
                <a:latin typeface="Trenda IG Text"/>
              </a:rPr>
              <a:t>prep instructions</a:t>
            </a:r>
          </a:p>
        </p:txBody>
      </p:sp>
      <p:sp>
        <p:nvSpPr>
          <p:cNvPr id="51" name="Shape 47"/>
          <p:cNvSpPr/>
          <p:nvPr/>
        </p:nvSpPr>
        <p:spPr>
          <a:xfrm>
            <a:off x="5040172" y="2542032"/>
            <a:ext cx="991209"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8"/>
          <p:cNvSpPr txBox="1"/>
          <p:nvPr/>
        </p:nvSpPr>
        <p:spPr>
          <a:xfrm>
            <a:off x="5040172" y="2542032"/>
            <a:ext cx="991209" cy="201168"/>
          </a:xfrm>
          <a:prstGeom prst="rect">
            <a:avLst/>
          </a:prstGeom>
          <a:noFill/>
        </p:spPr>
        <p:txBody>
          <a:bodyPr wrap="square" lIns="0" rIns="0" tIns="0" bIns="0" anchor="ctr">
            <a:spAutoFit/>
          </a:bodyPr>
          <a:lstStyle/>
          <a:p>
            <a:pPr algn="ctr"/>
            <a:r>
              <a:rPr sz="700" b="0" i="0">
                <a:solidFill>
                  <a:srgbClr val="1A1A1A"/>
                </a:solidFill>
                <a:latin typeface="Trenda IG Text"/>
              </a:rPr>
              <a:t>locations + hours</a:t>
            </a:r>
          </a:p>
        </p:txBody>
      </p:sp>
      <p:sp>
        <p:nvSpPr>
          <p:cNvPr id="53" name="Shape 49"/>
          <p:cNvSpPr/>
          <p:nvPr/>
        </p:nvSpPr>
        <p:spPr>
          <a:xfrm>
            <a:off x="6086246" y="2542032"/>
            <a:ext cx="1086307"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0"/>
          <p:cNvSpPr txBox="1"/>
          <p:nvPr/>
        </p:nvSpPr>
        <p:spPr>
          <a:xfrm>
            <a:off x="6086246" y="2542032"/>
            <a:ext cx="1086307" cy="201168"/>
          </a:xfrm>
          <a:prstGeom prst="rect">
            <a:avLst/>
          </a:prstGeom>
          <a:noFill/>
        </p:spPr>
        <p:txBody>
          <a:bodyPr wrap="square" lIns="0" rIns="0" tIns="0" bIns="0" anchor="ctr">
            <a:spAutoFit/>
          </a:bodyPr>
          <a:lstStyle/>
          <a:p>
            <a:pPr algn="ctr"/>
            <a:r>
              <a:rPr sz="700" b="0" i="0">
                <a:solidFill>
                  <a:srgbClr val="1A1A1A"/>
                </a:solidFill>
                <a:latin typeface="Trenda IG Text"/>
              </a:rPr>
              <a:t>insurance + billing</a:t>
            </a:r>
          </a:p>
        </p:txBody>
      </p:sp>
      <p:sp>
        <p:nvSpPr>
          <p:cNvPr id="55" name="Shape 51"/>
          <p:cNvSpPr/>
          <p:nvPr/>
        </p:nvSpPr>
        <p:spPr>
          <a:xfrm>
            <a:off x="7227417" y="2542032"/>
            <a:ext cx="801014"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2"/>
          <p:cNvSpPr txBox="1"/>
          <p:nvPr/>
        </p:nvSpPr>
        <p:spPr>
          <a:xfrm>
            <a:off x="7227417" y="2542032"/>
            <a:ext cx="801014" cy="201168"/>
          </a:xfrm>
          <a:prstGeom prst="rect">
            <a:avLst/>
          </a:prstGeom>
          <a:noFill/>
        </p:spPr>
        <p:txBody>
          <a:bodyPr wrap="square" lIns="0" rIns="0" tIns="0" bIns="0" anchor="ctr">
            <a:spAutoFit/>
          </a:bodyPr>
          <a:lstStyle/>
          <a:p>
            <a:pPr algn="ctr"/>
            <a:r>
              <a:rPr sz="700" b="0" i="0">
                <a:solidFill>
                  <a:srgbClr val="1A1A1A"/>
                </a:solidFill>
                <a:latin typeface="Trenda IG Text"/>
              </a:rPr>
              <a:t>visitor rules</a:t>
            </a:r>
          </a:p>
        </p:txBody>
      </p:sp>
      <p:sp>
        <p:nvSpPr>
          <p:cNvPr id="57" name="Shape 53"/>
          <p:cNvSpPr/>
          <p:nvPr/>
        </p:nvSpPr>
        <p:spPr>
          <a:xfrm>
            <a:off x="8083296" y="2542032"/>
            <a:ext cx="563270"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4"/>
          <p:cNvSpPr txBox="1"/>
          <p:nvPr/>
        </p:nvSpPr>
        <p:spPr>
          <a:xfrm>
            <a:off x="8083296" y="2542032"/>
            <a:ext cx="563270" cy="201168"/>
          </a:xfrm>
          <a:prstGeom prst="rect">
            <a:avLst/>
          </a:prstGeom>
          <a:noFill/>
        </p:spPr>
        <p:txBody>
          <a:bodyPr wrap="square" lIns="0" rIns="0" tIns="0" bIns="0" anchor="ctr">
            <a:spAutoFit/>
          </a:bodyPr>
          <a:lstStyle/>
          <a:p>
            <a:pPr algn="ctr"/>
            <a:r>
              <a:rPr sz="700" b="0" i="0">
                <a:solidFill>
                  <a:srgbClr val="1A1A1A"/>
                </a:solidFill>
                <a:latin typeface="Trenda IG Text"/>
              </a:rPr>
              <a:t>policies</a:t>
            </a:r>
          </a:p>
        </p:txBody>
      </p:sp>
      <p:cxnSp>
        <p:nvCxnSpPr>
          <p:cNvPr id="59" name="Arrow 55"/>
          <p:cNvCxnSpPr/>
          <p:nvPr/>
        </p:nvCxnSpPr>
        <p:spPr>
          <a:xfrm>
            <a:off x="2468880" y="3209544"/>
            <a:ext cx="6583680" cy="0"/>
          </a:xfrm>
          <a:prstGeom prst="line">
            <a:avLst/>
          </a:prstGeom>
          <a:ln w="12700">
            <a:solidFill>
              <a:srgbClr val="BDBDBD"/>
            </a:solidFill>
            <a:prstDash val="dash"/>
          </a:ln>
        </p:spPr>
        <p:style>
          <a:lnRef idx="2">
            <a:schemeClr val="accent1"/>
          </a:lnRef>
          <a:fillRef idx="0">
            <a:schemeClr val="accent1"/>
          </a:fillRef>
          <a:effectRef idx="1">
            <a:schemeClr val="accent1"/>
          </a:effectRef>
          <a:fontRef idx="minor">
            <a:schemeClr val="tx1"/>
          </a:fontRef>
        </p:style>
      </p:cxnSp>
      <p:sp>
        <p:nvSpPr>
          <p:cNvPr id="60" name="Shape 56"/>
          <p:cNvSpPr/>
          <p:nvPr/>
        </p:nvSpPr>
        <p:spPr>
          <a:xfrm>
            <a:off x="4297680" y="3118103"/>
            <a:ext cx="292608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hape 57"/>
          <p:cNvSpPr/>
          <p:nvPr/>
        </p:nvSpPr>
        <p:spPr>
          <a:xfrm>
            <a:off x="4343400" y="3127248"/>
            <a:ext cx="2834640" cy="164592"/>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58"/>
          <p:cNvSpPr txBox="1"/>
          <p:nvPr/>
        </p:nvSpPr>
        <p:spPr>
          <a:xfrm>
            <a:off x="4343400" y="3127248"/>
            <a:ext cx="2834640" cy="164592"/>
          </a:xfrm>
          <a:prstGeom prst="rect">
            <a:avLst/>
          </a:prstGeom>
          <a:noFill/>
        </p:spPr>
        <p:txBody>
          <a:bodyPr wrap="square" lIns="0" rIns="0" tIns="0" bIns="0" anchor="ctr">
            <a:spAutoFit/>
          </a:bodyPr>
          <a:lstStyle/>
          <a:p>
            <a:pPr algn="ctr"/>
            <a:r>
              <a:rPr sz="700" b="1" i="0" spc="80">
                <a:solidFill>
                  <a:srgbClr val="0089A0"/>
                </a:solidFill>
                <a:latin typeface="Trenda IG Text"/>
              </a:rPr>
              <a:t>NO PATIENT RECORDS IN THE KNOWLEDGE BASE</a:t>
            </a:r>
          </a:p>
        </p:txBody>
      </p:sp>
      <p:sp>
        <p:nvSpPr>
          <p:cNvPr id="63" name="Shape 59"/>
          <p:cNvSpPr/>
          <p:nvPr/>
        </p:nvSpPr>
        <p:spPr>
          <a:xfrm>
            <a:off x="2578608" y="3721608"/>
            <a:ext cx="1600200" cy="914400"/>
          </a:xfrm>
          <a:prstGeom prst="roundRect">
            <a:avLst>
              <a:gd name="adj" fmla="val 8000"/>
            </a:avLst>
          </a:prstGeom>
          <a:solidFill>
            <a:srgbClr val="FFF7CC"/>
          </a:solidFill>
          <a:ln w="1143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Picture 63" descr="people.png"/>
          <p:cNvPicPr>
            <a:picLocks noChangeAspect="1"/>
          </p:cNvPicPr>
          <p:nvPr/>
        </p:nvPicPr>
        <p:blipFill>
          <a:blip r:embed="rId2"/>
          <a:stretch>
            <a:fillRect/>
          </a:stretch>
        </p:blipFill>
        <p:spPr>
          <a:xfrm>
            <a:off x="2670048" y="3794760"/>
            <a:ext cx="182880" cy="182880"/>
          </a:xfrm>
          <a:prstGeom prst="rect">
            <a:avLst/>
          </a:prstGeom>
        </p:spPr>
      </p:pic>
      <p:sp>
        <p:nvSpPr>
          <p:cNvPr id="65" name="Text 60"/>
          <p:cNvSpPr txBox="1"/>
          <p:nvPr/>
        </p:nvSpPr>
        <p:spPr>
          <a:xfrm>
            <a:off x="2907792" y="3767328"/>
            <a:ext cx="1197864" cy="237744"/>
          </a:xfrm>
          <a:prstGeom prst="rect">
            <a:avLst/>
          </a:prstGeom>
          <a:noFill/>
        </p:spPr>
        <p:txBody>
          <a:bodyPr wrap="square" lIns="0" rIns="0" tIns="0" bIns="0" anchor="ctr">
            <a:spAutoFit/>
          </a:bodyPr>
          <a:lstStyle/>
          <a:p>
            <a:r>
              <a:rPr sz="700" b="1" i="0">
                <a:solidFill>
                  <a:srgbClr val="8A6D00"/>
                </a:solidFill>
                <a:latin typeface="Trenda IG Text"/>
              </a:rPr>
              <a:t>Verify the caller</a:t>
            </a:r>
          </a:p>
        </p:txBody>
      </p:sp>
      <p:sp>
        <p:nvSpPr>
          <p:cNvPr id="66" name="Text 61"/>
          <p:cNvSpPr txBox="1"/>
          <p:nvPr/>
        </p:nvSpPr>
        <p:spPr>
          <a:xfrm>
            <a:off x="2670048" y="4050792"/>
            <a:ext cx="1435608" cy="548640"/>
          </a:xfrm>
          <a:prstGeom prst="rect">
            <a:avLst/>
          </a:prstGeom>
          <a:noFill/>
        </p:spPr>
        <p:txBody>
          <a:bodyPr wrap="square" lIns="0" rIns="0" tIns="0" bIns="0" anchor="t">
            <a:spAutoFit/>
          </a:bodyPr>
          <a:lstStyle/>
          <a:p>
            <a:r>
              <a:rPr sz="700" b="0" i="0">
                <a:solidFill>
                  <a:srgbClr val="4D4D4D"/>
                </a:solidFill>
                <a:latin typeface="Trenda IG Text"/>
              </a:rPr>
              <a:t>Date of birth plus a one-time code, before any patient detail.</a:t>
            </a:r>
          </a:p>
        </p:txBody>
      </p:sp>
      <p:sp>
        <p:nvSpPr>
          <p:cNvPr id="67" name="Differentiator Border 63"/>
          <p:cNvSpPr/>
          <p:nvPr/>
        </p:nvSpPr>
        <p:spPr>
          <a:xfrm>
            <a:off x="4361688" y="3721608"/>
            <a:ext cx="2331720" cy="914400"/>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hape 64"/>
          <p:cNvSpPr/>
          <p:nvPr/>
        </p:nvSpPr>
        <p:spPr>
          <a:xfrm>
            <a:off x="4379976" y="3739896"/>
            <a:ext cx="2295144" cy="87782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5"/>
          <p:cNvSpPr txBox="1"/>
          <p:nvPr/>
        </p:nvSpPr>
        <p:spPr>
          <a:xfrm>
            <a:off x="4471416" y="3776472"/>
            <a:ext cx="2112263" cy="237744"/>
          </a:xfrm>
          <a:prstGeom prst="rect">
            <a:avLst/>
          </a:prstGeom>
          <a:noFill/>
        </p:spPr>
        <p:txBody>
          <a:bodyPr wrap="square" lIns="0" rIns="0" tIns="0" bIns="0" anchor="ctr">
            <a:spAutoFit/>
          </a:bodyPr>
          <a:lstStyle/>
          <a:p>
            <a:r>
              <a:rPr sz="700" b="1" i="0">
                <a:solidFill>
                  <a:srgbClr val="1A1A1A"/>
                </a:solidFill>
                <a:latin typeface="Trenda IG Text"/>
              </a:rPr>
              <a:t>Scoped scheduling API</a:t>
            </a:r>
          </a:p>
        </p:txBody>
      </p:sp>
      <p:sp>
        <p:nvSpPr>
          <p:cNvPr id="70" name="Text 66"/>
          <p:cNvSpPr txBox="1"/>
          <p:nvPr/>
        </p:nvSpPr>
        <p:spPr>
          <a:xfrm>
            <a:off x="4471416" y="4032504"/>
            <a:ext cx="2130551" cy="566927"/>
          </a:xfrm>
          <a:prstGeom prst="rect">
            <a:avLst/>
          </a:prstGeom>
          <a:noFill/>
        </p:spPr>
        <p:txBody>
          <a:bodyPr wrap="square" lIns="0" rIns="0" tIns="0" bIns="0" anchor="t">
            <a:spAutoFit/>
          </a:bodyPr>
          <a:lstStyle/>
          <a:p>
            <a:r>
              <a:rPr sz="700" b="0" i="0">
                <a:solidFill>
                  <a:srgbClr val="4D4D4D"/>
                </a:solidFill>
                <a:latin typeface="Trenda IG Text"/>
              </a:rPr>
              <a:t>Returns only this patient's data and minimum fields. Enforces the rules; the agent never writes queries.</a:t>
            </a:r>
          </a:p>
        </p:txBody>
      </p:sp>
      <p:sp>
        <p:nvSpPr>
          <p:cNvPr id="71" name="Shape 67"/>
          <p:cNvSpPr/>
          <p:nvPr/>
        </p:nvSpPr>
        <p:spPr>
          <a:xfrm>
            <a:off x="6876288" y="3721608"/>
            <a:ext cx="2212848" cy="914400"/>
          </a:xfrm>
          <a:prstGeom prst="roundRect">
            <a:avLst>
              <a:gd name="adj" fmla="val 8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Shape 68"/>
          <p:cNvSpPr/>
          <p:nvPr/>
        </p:nvSpPr>
        <p:spPr>
          <a:xfrm>
            <a:off x="6967728" y="3794760"/>
            <a:ext cx="329184" cy="182880"/>
          </a:xfrm>
          <a:prstGeom prst="roundRect">
            <a:avLst>
              <a:gd name="adj" fmla="val 30000"/>
            </a:avLst>
          </a:prstGeom>
          <a:solidFill>
            <a:srgbClr val="EEEEEE"/>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9"/>
          <p:cNvSpPr txBox="1"/>
          <p:nvPr/>
        </p:nvSpPr>
        <p:spPr>
          <a:xfrm>
            <a:off x="6967728" y="3794760"/>
            <a:ext cx="329184" cy="182880"/>
          </a:xfrm>
          <a:prstGeom prst="rect">
            <a:avLst/>
          </a:prstGeom>
          <a:noFill/>
        </p:spPr>
        <p:txBody>
          <a:bodyPr wrap="square" lIns="0" rIns="0" tIns="0" bIns="0" anchor="ctr">
            <a:spAutoFit/>
          </a:bodyPr>
          <a:lstStyle/>
          <a:p>
            <a:pPr algn="ctr"/>
            <a:r>
              <a:rPr sz="700" b="1" i="0">
                <a:solidFill>
                  <a:srgbClr val="1A1A1A"/>
                </a:solidFill>
                <a:latin typeface="Trenda IG Text"/>
              </a:rPr>
              <a:t>Epic</a:t>
            </a:r>
          </a:p>
        </p:txBody>
      </p:sp>
      <p:sp>
        <p:nvSpPr>
          <p:cNvPr id="74" name="Text 70"/>
          <p:cNvSpPr txBox="1"/>
          <p:nvPr/>
        </p:nvSpPr>
        <p:spPr>
          <a:xfrm>
            <a:off x="7351776" y="3767328"/>
            <a:ext cx="1664207" cy="237744"/>
          </a:xfrm>
          <a:prstGeom prst="rect">
            <a:avLst/>
          </a:prstGeom>
          <a:noFill/>
        </p:spPr>
        <p:txBody>
          <a:bodyPr wrap="square" lIns="0" rIns="0" tIns="0" bIns="0" anchor="ctr">
            <a:spAutoFit/>
          </a:bodyPr>
          <a:lstStyle/>
          <a:p>
            <a:r>
              <a:rPr sz="700" b="1" i="0">
                <a:solidFill>
                  <a:srgbClr val="1A1A1A"/>
                </a:solidFill>
                <a:latin typeface="Trenda IG Text"/>
              </a:rPr>
              <a:t>Scheduling system of record</a:t>
            </a:r>
          </a:p>
        </p:txBody>
      </p:sp>
      <p:sp>
        <p:nvSpPr>
          <p:cNvPr id="75" name="Text 71"/>
          <p:cNvSpPr txBox="1"/>
          <p:nvPr/>
        </p:nvSpPr>
        <p:spPr>
          <a:xfrm>
            <a:off x="6967728" y="4050792"/>
            <a:ext cx="2048255" cy="548640"/>
          </a:xfrm>
          <a:prstGeom prst="rect">
            <a:avLst/>
          </a:prstGeom>
          <a:noFill/>
        </p:spPr>
        <p:txBody>
          <a:bodyPr wrap="square" lIns="0" rIns="0" tIns="0" bIns="0" anchor="t">
            <a:spAutoFit/>
          </a:bodyPr>
          <a:lstStyle/>
          <a:p>
            <a:r>
              <a:rPr sz="700" b="0" i="0">
                <a:solidFill>
                  <a:srgbClr val="4D4D4D"/>
                </a:solidFill>
                <a:latin typeface="Trenda IG Text"/>
              </a:rPr>
              <a:t>Live availability; book, cancel, reschedule written here. Never a GCP copy, which can lag.</a:t>
            </a:r>
          </a:p>
        </p:txBody>
      </p:sp>
      <p:cxnSp>
        <p:nvCxnSpPr>
          <p:cNvPr id="76" name="Arrow 72"/>
          <p:cNvCxnSpPr/>
          <p:nvPr/>
        </p:nvCxnSpPr>
        <p:spPr>
          <a:xfrm>
            <a:off x="4178808" y="4178808"/>
            <a:ext cx="182880"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Arrow 73"/>
          <p:cNvCxnSpPr/>
          <p:nvPr/>
        </p:nvCxnSpPr>
        <p:spPr>
          <a:xfrm>
            <a:off x="6693408" y="4069080"/>
            <a:ext cx="182880"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Arrow 74"/>
          <p:cNvCxnSpPr/>
          <p:nvPr/>
        </p:nvCxnSpPr>
        <p:spPr>
          <a:xfrm flipH="1">
            <a:off x="6693408" y="4288536"/>
            <a:ext cx="182880"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Arrow 75"/>
          <p:cNvCxnSpPr/>
          <p:nvPr/>
        </p:nvCxnSpPr>
        <p:spPr>
          <a:xfrm>
            <a:off x="2286000" y="4178808"/>
            <a:ext cx="292608"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Text 76"/>
          <p:cNvSpPr txBox="1"/>
          <p:nvPr/>
        </p:nvSpPr>
        <p:spPr>
          <a:xfrm>
            <a:off x="2578608" y="4764024"/>
            <a:ext cx="960120" cy="201168"/>
          </a:xfrm>
          <a:prstGeom prst="rect">
            <a:avLst/>
          </a:prstGeom>
          <a:noFill/>
        </p:spPr>
        <p:txBody>
          <a:bodyPr wrap="square" lIns="0" rIns="0" tIns="0" bIns="0" anchor="ctr">
            <a:spAutoFit/>
          </a:bodyPr>
          <a:lstStyle/>
          <a:p>
            <a:r>
              <a:rPr sz="700" b="1" i="0" spc="100">
                <a:solidFill>
                  <a:srgbClr val="6B6B6B"/>
                </a:solidFill>
                <a:latin typeface="Trenda IG Text"/>
              </a:rPr>
              <a:t>RULES IN THE API</a:t>
            </a:r>
          </a:p>
        </p:txBody>
      </p:sp>
      <p:sp>
        <p:nvSpPr>
          <p:cNvPr id="81" name="Shape 77"/>
          <p:cNvSpPr/>
          <p:nvPr/>
        </p:nvSpPr>
        <p:spPr>
          <a:xfrm>
            <a:off x="3566160" y="4764024"/>
            <a:ext cx="1086307"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78"/>
          <p:cNvSpPr txBox="1"/>
          <p:nvPr/>
        </p:nvSpPr>
        <p:spPr>
          <a:xfrm>
            <a:off x="3566160" y="4764024"/>
            <a:ext cx="1086307" cy="201168"/>
          </a:xfrm>
          <a:prstGeom prst="rect">
            <a:avLst/>
          </a:prstGeom>
          <a:noFill/>
        </p:spPr>
        <p:txBody>
          <a:bodyPr wrap="square" lIns="0" rIns="0" tIns="0" bIns="0" anchor="ctr">
            <a:spAutoFit/>
          </a:bodyPr>
          <a:lstStyle/>
          <a:p>
            <a:pPr algn="ctr"/>
            <a:r>
              <a:rPr sz="700" b="0" i="0">
                <a:solidFill>
                  <a:srgbClr val="1A1A1A"/>
                </a:solidFill>
                <a:latin typeface="Trenda IG Text"/>
              </a:rPr>
              <a:t>cancellation window</a:t>
            </a:r>
          </a:p>
        </p:txBody>
      </p:sp>
      <p:sp>
        <p:nvSpPr>
          <p:cNvPr id="83" name="Shape 79"/>
          <p:cNvSpPr/>
          <p:nvPr/>
        </p:nvSpPr>
        <p:spPr>
          <a:xfrm>
            <a:off x="4707331" y="4764024"/>
            <a:ext cx="943660"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0"/>
          <p:cNvSpPr txBox="1"/>
          <p:nvPr/>
        </p:nvSpPr>
        <p:spPr>
          <a:xfrm>
            <a:off x="4707331" y="4764024"/>
            <a:ext cx="943660" cy="201168"/>
          </a:xfrm>
          <a:prstGeom prst="rect">
            <a:avLst/>
          </a:prstGeom>
          <a:noFill/>
        </p:spPr>
        <p:txBody>
          <a:bodyPr wrap="square" lIns="0" rIns="0" tIns="0" bIns="0" anchor="ctr">
            <a:spAutoFit/>
          </a:bodyPr>
          <a:lstStyle/>
          <a:p>
            <a:pPr algn="ctr"/>
            <a:r>
              <a:rPr sz="700" b="0" i="0">
                <a:solidFill>
                  <a:srgbClr val="1A1A1A"/>
                </a:solidFill>
                <a:latin typeface="Trenda IG Text"/>
              </a:rPr>
              <a:t>reschedule rules</a:t>
            </a:r>
          </a:p>
        </p:txBody>
      </p:sp>
      <p:sp>
        <p:nvSpPr>
          <p:cNvPr id="85" name="Shape 81"/>
          <p:cNvSpPr/>
          <p:nvPr/>
        </p:nvSpPr>
        <p:spPr>
          <a:xfrm>
            <a:off x="5705856" y="4764024"/>
            <a:ext cx="705916"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2"/>
          <p:cNvSpPr txBox="1"/>
          <p:nvPr/>
        </p:nvSpPr>
        <p:spPr>
          <a:xfrm>
            <a:off x="5705856" y="4764024"/>
            <a:ext cx="705916" cy="201168"/>
          </a:xfrm>
          <a:prstGeom prst="rect">
            <a:avLst/>
          </a:prstGeom>
          <a:noFill/>
        </p:spPr>
        <p:txBody>
          <a:bodyPr wrap="square" lIns="0" rIns="0" tIns="0" bIns="0" anchor="ctr">
            <a:spAutoFit/>
          </a:bodyPr>
          <a:lstStyle/>
          <a:p>
            <a:pPr algn="ctr"/>
            <a:r>
              <a:rPr sz="700" b="0" i="0">
                <a:solidFill>
                  <a:srgbClr val="1A1A1A"/>
                </a:solidFill>
                <a:latin typeface="Trenda IG Text"/>
              </a:rPr>
              <a:t>visit types</a:t>
            </a:r>
          </a:p>
        </p:txBody>
      </p:sp>
      <p:sp>
        <p:nvSpPr>
          <p:cNvPr id="87" name="Shape 83"/>
          <p:cNvSpPr/>
          <p:nvPr/>
        </p:nvSpPr>
        <p:spPr>
          <a:xfrm>
            <a:off x="6466636" y="4764024"/>
            <a:ext cx="1181404"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4"/>
          <p:cNvSpPr txBox="1"/>
          <p:nvPr/>
        </p:nvSpPr>
        <p:spPr>
          <a:xfrm>
            <a:off x="6466636" y="4764024"/>
            <a:ext cx="1181404" cy="201168"/>
          </a:xfrm>
          <a:prstGeom prst="rect">
            <a:avLst/>
          </a:prstGeom>
          <a:noFill/>
        </p:spPr>
        <p:txBody>
          <a:bodyPr wrap="square" lIns="0" rIns="0" tIns="0" bIns="0" anchor="ctr">
            <a:spAutoFit/>
          </a:bodyPr>
          <a:lstStyle/>
          <a:p>
            <a:pPr algn="ctr"/>
            <a:r>
              <a:rPr sz="700" b="0" i="0">
                <a:solidFill>
                  <a:srgbClr val="1A1A1A"/>
                </a:solidFill>
                <a:latin typeface="Trenda IG Text"/>
              </a:rPr>
              <a:t>provider restrictions</a:t>
            </a:r>
          </a:p>
        </p:txBody>
      </p:sp>
      <p:sp>
        <p:nvSpPr>
          <p:cNvPr id="89" name="Shape 85"/>
          <p:cNvSpPr/>
          <p:nvPr/>
        </p:nvSpPr>
        <p:spPr>
          <a:xfrm>
            <a:off x="7702905" y="4764024"/>
            <a:ext cx="848563"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6"/>
          <p:cNvSpPr txBox="1"/>
          <p:nvPr/>
        </p:nvSpPr>
        <p:spPr>
          <a:xfrm>
            <a:off x="7702905" y="4764024"/>
            <a:ext cx="848563" cy="201168"/>
          </a:xfrm>
          <a:prstGeom prst="rect">
            <a:avLst/>
          </a:prstGeom>
          <a:noFill/>
        </p:spPr>
        <p:txBody>
          <a:bodyPr wrap="square" lIns="0" rIns="0" tIns="0" bIns="0" anchor="ctr">
            <a:spAutoFit/>
          </a:bodyPr>
          <a:lstStyle/>
          <a:p>
            <a:pPr algn="ctr"/>
            <a:r>
              <a:rPr sz="700" b="0" i="0">
                <a:solidFill>
                  <a:srgbClr val="1A1A1A"/>
                </a:solidFill>
                <a:latin typeface="Trenda IG Text"/>
              </a:rPr>
              <a:t>minimum fields</a:t>
            </a:r>
          </a:p>
        </p:txBody>
      </p:sp>
      <p:sp>
        <p:nvSpPr>
          <p:cNvPr id="91" name="Shape 87"/>
          <p:cNvSpPr/>
          <p:nvPr/>
        </p:nvSpPr>
        <p:spPr>
          <a:xfrm>
            <a:off x="9189720" y="1188720"/>
            <a:ext cx="2587752" cy="4041648"/>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88"/>
          <p:cNvSpPr/>
          <p:nvPr/>
        </p:nvSpPr>
        <p:spPr>
          <a:xfrm>
            <a:off x="9189720" y="1188720"/>
            <a:ext cx="2587752"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9"/>
          <p:cNvSpPr txBox="1"/>
          <p:nvPr/>
        </p:nvSpPr>
        <p:spPr>
          <a:xfrm>
            <a:off x="9299448" y="1188720"/>
            <a:ext cx="2368296" cy="256032"/>
          </a:xfrm>
          <a:prstGeom prst="rect">
            <a:avLst/>
          </a:prstGeom>
          <a:noFill/>
        </p:spPr>
        <p:txBody>
          <a:bodyPr wrap="square" lIns="0" rIns="0" tIns="0" bIns="0" anchor="ctr">
            <a:spAutoFit/>
          </a:bodyPr>
          <a:lstStyle/>
          <a:p>
            <a:r>
              <a:rPr sz="700" b="1" i="0" spc="120">
                <a:solidFill>
                  <a:srgbClr val="1A1A1A"/>
                </a:solidFill>
                <a:latin typeface="Trenda IG Text"/>
              </a:rPr>
              <a:t>3  AFTER EVERY CALL</a:t>
            </a:r>
          </a:p>
        </p:txBody>
      </p:sp>
      <p:sp>
        <p:nvSpPr>
          <p:cNvPr id="94" name="Shape 90"/>
          <p:cNvSpPr/>
          <p:nvPr/>
        </p:nvSpPr>
        <p:spPr>
          <a:xfrm>
            <a:off x="9299448" y="1554480"/>
            <a:ext cx="2368296" cy="749808"/>
          </a:xfrm>
          <a:prstGeom prst="roundRect">
            <a:avLst>
              <a:gd name="adj" fmla="val 8000"/>
            </a:avLst>
          </a:prstGeom>
          <a:solidFill>
            <a:srgbClr val="FFF7CC"/>
          </a:solidFill>
          <a:ln w="1143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5" name="Picture 94" descr="people.png"/>
          <p:cNvPicPr>
            <a:picLocks noChangeAspect="1"/>
          </p:cNvPicPr>
          <p:nvPr/>
        </p:nvPicPr>
        <p:blipFill>
          <a:blip r:embed="rId2"/>
          <a:stretch>
            <a:fillRect/>
          </a:stretch>
        </p:blipFill>
        <p:spPr>
          <a:xfrm>
            <a:off x="9390888" y="1627632"/>
            <a:ext cx="182880" cy="182880"/>
          </a:xfrm>
          <a:prstGeom prst="rect">
            <a:avLst/>
          </a:prstGeom>
        </p:spPr>
      </p:pic>
      <p:sp>
        <p:nvSpPr>
          <p:cNvPr id="96" name="Text 91"/>
          <p:cNvSpPr txBox="1"/>
          <p:nvPr/>
        </p:nvSpPr>
        <p:spPr>
          <a:xfrm>
            <a:off x="9628632" y="1600200"/>
            <a:ext cx="1965960" cy="237744"/>
          </a:xfrm>
          <a:prstGeom prst="rect">
            <a:avLst/>
          </a:prstGeom>
          <a:noFill/>
        </p:spPr>
        <p:txBody>
          <a:bodyPr wrap="square" lIns="0" rIns="0" tIns="0" bIns="0" anchor="ctr">
            <a:spAutoFit/>
          </a:bodyPr>
          <a:lstStyle/>
          <a:p>
            <a:r>
              <a:rPr sz="700" b="1" i="0">
                <a:solidFill>
                  <a:srgbClr val="8A6D00"/>
                </a:solidFill>
                <a:latin typeface="Trenda IG Text"/>
              </a:rPr>
              <a:t>Hand-off to a person</a:t>
            </a:r>
          </a:p>
        </p:txBody>
      </p:sp>
      <p:sp>
        <p:nvSpPr>
          <p:cNvPr id="97" name="Text 92"/>
          <p:cNvSpPr txBox="1"/>
          <p:nvPr/>
        </p:nvSpPr>
        <p:spPr>
          <a:xfrm>
            <a:off x="9390888" y="1883664"/>
            <a:ext cx="2203703" cy="384047"/>
          </a:xfrm>
          <a:prstGeom prst="rect">
            <a:avLst/>
          </a:prstGeom>
          <a:noFill/>
        </p:spPr>
        <p:txBody>
          <a:bodyPr wrap="square" lIns="0" rIns="0" tIns="0" bIns="0" anchor="t">
            <a:spAutoFit/>
          </a:bodyPr>
          <a:lstStyle/>
          <a:p>
            <a:r>
              <a:rPr sz="700" b="0" i="0">
                <a:solidFill>
                  <a:srgbClr val="4D4D4D"/>
                </a:solidFill>
                <a:latin typeface="Trenda IG Text"/>
              </a:rPr>
              <a:t>Identity not verified, upset caller or a clinical question.</a:t>
            </a:r>
          </a:p>
        </p:txBody>
      </p:sp>
      <p:sp>
        <p:nvSpPr>
          <p:cNvPr id="98" name="Shape 93"/>
          <p:cNvSpPr/>
          <p:nvPr/>
        </p:nvSpPr>
        <p:spPr>
          <a:xfrm>
            <a:off x="9299448" y="2432304"/>
            <a:ext cx="2368296" cy="822960"/>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 94"/>
          <p:cNvSpPr txBox="1"/>
          <p:nvPr/>
        </p:nvSpPr>
        <p:spPr>
          <a:xfrm>
            <a:off x="9390888" y="2487168"/>
            <a:ext cx="2203704" cy="201168"/>
          </a:xfrm>
          <a:prstGeom prst="rect">
            <a:avLst/>
          </a:prstGeom>
          <a:noFill/>
        </p:spPr>
        <p:txBody>
          <a:bodyPr wrap="square" lIns="0" rIns="0" tIns="0" bIns="0" anchor="ctr">
            <a:spAutoFit/>
          </a:bodyPr>
          <a:lstStyle/>
          <a:p>
            <a:r>
              <a:rPr sz="700" b="1" i="0">
                <a:solidFill>
                  <a:srgbClr val="1A1A1A"/>
                </a:solidFill>
                <a:latin typeface="Trenda IG Text"/>
              </a:rPr>
              <a:t>Masked transcripts</a:t>
            </a:r>
          </a:p>
        </p:txBody>
      </p:sp>
      <p:sp>
        <p:nvSpPr>
          <p:cNvPr id="100" name="Text 95"/>
          <p:cNvSpPr txBox="1"/>
          <p:nvPr/>
        </p:nvSpPr>
        <p:spPr>
          <a:xfrm>
            <a:off x="9390888" y="2715768"/>
            <a:ext cx="2185415" cy="512064"/>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Recordings hold PHI: access control, retention limits, masked before analytics.</a:t>
            </a:r>
          </a:p>
        </p:txBody>
      </p:sp>
      <p:sp>
        <p:nvSpPr>
          <p:cNvPr id="101" name="Shape 96"/>
          <p:cNvSpPr/>
          <p:nvPr/>
        </p:nvSpPr>
        <p:spPr>
          <a:xfrm>
            <a:off x="9299448" y="3346704"/>
            <a:ext cx="2368296" cy="822960"/>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2" name="Picture 101" descr="googlebigquery.png"/>
          <p:cNvPicPr>
            <a:picLocks noChangeAspect="1"/>
          </p:cNvPicPr>
          <p:nvPr/>
        </p:nvPicPr>
        <p:blipFill>
          <a:blip r:embed="rId4"/>
          <a:stretch>
            <a:fillRect/>
          </a:stretch>
        </p:blipFill>
        <p:spPr>
          <a:xfrm>
            <a:off x="9390888" y="3410712"/>
            <a:ext cx="182880" cy="182880"/>
          </a:xfrm>
          <a:prstGeom prst="rect">
            <a:avLst/>
          </a:prstGeom>
        </p:spPr>
      </p:pic>
      <p:sp>
        <p:nvSpPr>
          <p:cNvPr id="103" name="Text 97"/>
          <p:cNvSpPr txBox="1"/>
          <p:nvPr/>
        </p:nvSpPr>
        <p:spPr>
          <a:xfrm>
            <a:off x="9628632" y="3401568"/>
            <a:ext cx="1965960" cy="201168"/>
          </a:xfrm>
          <a:prstGeom prst="rect">
            <a:avLst/>
          </a:prstGeom>
          <a:noFill/>
        </p:spPr>
        <p:txBody>
          <a:bodyPr wrap="square" lIns="0" rIns="0" tIns="0" bIns="0" anchor="ctr">
            <a:spAutoFit/>
          </a:bodyPr>
          <a:lstStyle/>
          <a:p>
            <a:r>
              <a:rPr sz="700" b="1" i="0">
                <a:solidFill>
                  <a:srgbClr val="1A1A1A"/>
                </a:solidFill>
                <a:latin typeface="Trenda IG Text"/>
              </a:rPr>
              <a:t>Outcomes to Gold A</a:t>
            </a:r>
          </a:p>
        </p:txBody>
      </p:sp>
      <p:sp>
        <p:nvSpPr>
          <p:cNvPr id="104" name="Text 98"/>
          <p:cNvSpPr txBox="1"/>
          <p:nvPr/>
        </p:nvSpPr>
        <p:spPr>
          <a:xfrm>
            <a:off x="9390888" y="3630168"/>
            <a:ext cx="2185415" cy="512064"/>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Booked, cancelled, rescheduled, escalated, as aggregates for measurement.</a:t>
            </a:r>
          </a:p>
        </p:txBody>
      </p:sp>
      <p:sp>
        <p:nvSpPr>
          <p:cNvPr id="105" name="Shape 99"/>
          <p:cNvSpPr/>
          <p:nvPr/>
        </p:nvSpPr>
        <p:spPr>
          <a:xfrm>
            <a:off x="9299448" y="4261104"/>
            <a:ext cx="2368296" cy="822960"/>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 100"/>
          <p:cNvSpPr txBox="1"/>
          <p:nvPr/>
        </p:nvSpPr>
        <p:spPr>
          <a:xfrm>
            <a:off x="9390888" y="4315968"/>
            <a:ext cx="2203704" cy="201168"/>
          </a:xfrm>
          <a:prstGeom prst="rect">
            <a:avLst/>
          </a:prstGeom>
          <a:noFill/>
        </p:spPr>
        <p:txBody>
          <a:bodyPr wrap="square" lIns="0" rIns="0" tIns="0" bIns="0" anchor="ctr">
            <a:spAutoFit/>
          </a:bodyPr>
          <a:lstStyle/>
          <a:p>
            <a:r>
              <a:rPr sz="700" b="1" i="0">
                <a:solidFill>
                  <a:srgbClr val="1A1A1A"/>
                </a:solidFill>
                <a:latin typeface="Trenda IG Text"/>
              </a:rPr>
              <a:t>Test calls before go-live</a:t>
            </a:r>
          </a:p>
        </p:txBody>
      </p:sp>
      <p:sp>
        <p:nvSpPr>
          <p:cNvPr id="107" name="Text 101"/>
          <p:cNvSpPr txBox="1"/>
          <p:nvPr/>
        </p:nvSpPr>
        <p:spPr>
          <a:xfrm>
            <a:off x="9390888" y="4544568"/>
            <a:ext cx="2185415" cy="512064"/>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Wrong caller, outside the window, a question no article covers.</a:t>
            </a:r>
          </a:p>
        </p:txBody>
      </p:sp>
      <p:sp>
        <p:nvSpPr>
          <p:cNvPr id="108" name="Text 102"/>
          <p:cNvSpPr txBox="1"/>
          <p:nvPr/>
        </p:nvSpPr>
        <p:spPr>
          <a:xfrm>
            <a:off x="411480" y="5376672"/>
            <a:ext cx="1188720" cy="786384"/>
          </a:xfrm>
          <a:prstGeom prst="rect">
            <a:avLst/>
          </a:prstGeom>
          <a:noFill/>
        </p:spPr>
        <p:txBody>
          <a:bodyPr wrap="square" lIns="0" rIns="0" tIns="0" bIns="0" anchor="ctr">
            <a:spAutoFit/>
          </a:bodyPr>
          <a:lstStyle/>
          <a:p>
            <a:pPr>
              <a:spcAft>
                <a:spcPts val="100"/>
              </a:spcAft>
            </a:pPr>
            <a:r>
              <a:rPr sz="700" b="1" i="0" spc="120">
                <a:solidFill>
                  <a:srgbClr val="1A1A1A"/>
                </a:solidFill>
                <a:latin typeface="Trenda IG Text"/>
              </a:rPr>
              <a:t>SAFEGUARDS</a:t>
            </a:r>
          </a:p>
          <a:p>
            <a:pPr>
              <a:spcAft>
                <a:spcPts val="100"/>
              </a:spcAft>
            </a:pPr>
            <a:r>
              <a:rPr sz="700" b="0" i="0">
                <a:solidFill>
                  <a:srgbClr val="6B6B6B"/>
                </a:solidFill>
                <a:latin typeface="Trenda IG Text"/>
              </a:rPr>
              <a:t>accurate, and safe for patients</a:t>
            </a:r>
          </a:p>
        </p:txBody>
      </p:sp>
      <p:sp>
        <p:nvSpPr>
          <p:cNvPr id="109" name="Shape 103"/>
          <p:cNvSpPr/>
          <p:nvPr/>
        </p:nvSpPr>
        <p:spPr>
          <a:xfrm>
            <a:off x="1645920" y="5376672"/>
            <a:ext cx="1612392"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Shape 104"/>
          <p:cNvSpPr/>
          <p:nvPr/>
        </p:nvSpPr>
        <p:spPr>
          <a:xfrm>
            <a:off x="1645920"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 105"/>
          <p:cNvSpPr txBox="1"/>
          <p:nvPr/>
        </p:nvSpPr>
        <p:spPr>
          <a:xfrm>
            <a:off x="1792224" y="5376672"/>
            <a:ext cx="1411224"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BAA with Sierra</a:t>
            </a:r>
          </a:p>
          <a:p>
            <a:pPr>
              <a:spcAft>
                <a:spcPts val="100"/>
              </a:spcAft>
            </a:pPr>
            <a:r>
              <a:rPr sz="700" b="0" i="0">
                <a:solidFill>
                  <a:srgbClr val="4D4D4D"/>
                </a:solidFill>
                <a:latin typeface="Trenda IG Text"/>
              </a:rPr>
              <a:t>calls carry PHI</a:t>
            </a:r>
          </a:p>
        </p:txBody>
      </p:sp>
      <p:sp>
        <p:nvSpPr>
          <p:cNvPr id="112" name="Shape 106"/>
          <p:cNvSpPr/>
          <p:nvPr/>
        </p:nvSpPr>
        <p:spPr>
          <a:xfrm>
            <a:off x="3349752" y="5376672"/>
            <a:ext cx="1612392"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Shape 107"/>
          <p:cNvSpPr/>
          <p:nvPr/>
        </p:nvSpPr>
        <p:spPr>
          <a:xfrm>
            <a:off x="3349752"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8"/>
          <p:cNvSpPr txBox="1"/>
          <p:nvPr/>
        </p:nvSpPr>
        <p:spPr>
          <a:xfrm>
            <a:off x="3496056" y="5376672"/>
            <a:ext cx="1411224"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Verify before any PHI</a:t>
            </a:r>
          </a:p>
          <a:p>
            <a:pPr>
              <a:spcAft>
                <a:spcPts val="100"/>
              </a:spcAft>
            </a:pPr>
            <a:r>
              <a:rPr sz="700" b="0" i="0">
                <a:solidFill>
                  <a:srgbClr val="4D4D4D"/>
                </a:solidFill>
                <a:latin typeface="Trenda IG Text"/>
              </a:rPr>
              <a:t>then this patient only</a:t>
            </a:r>
          </a:p>
        </p:txBody>
      </p:sp>
      <p:sp>
        <p:nvSpPr>
          <p:cNvPr id="115" name="Shape 109"/>
          <p:cNvSpPr/>
          <p:nvPr/>
        </p:nvSpPr>
        <p:spPr>
          <a:xfrm>
            <a:off x="5053584" y="5376672"/>
            <a:ext cx="1612392"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Shape 110"/>
          <p:cNvSpPr/>
          <p:nvPr/>
        </p:nvSpPr>
        <p:spPr>
          <a:xfrm>
            <a:off x="5053584"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11"/>
          <p:cNvSpPr txBox="1"/>
          <p:nvPr/>
        </p:nvSpPr>
        <p:spPr>
          <a:xfrm>
            <a:off x="5199888" y="5376672"/>
            <a:ext cx="1411224"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System of record</a:t>
            </a:r>
          </a:p>
          <a:p>
            <a:pPr>
              <a:spcAft>
                <a:spcPts val="100"/>
              </a:spcAft>
            </a:pPr>
            <a:r>
              <a:rPr sz="700" b="0" i="0">
                <a:solidFill>
                  <a:srgbClr val="4D4D4D"/>
                </a:solidFill>
                <a:latin typeface="Trenda IG Text"/>
              </a:rPr>
              <a:t>never a GCP copy</a:t>
            </a:r>
          </a:p>
        </p:txBody>
      </p:sp>
      <p:sp>
        <p:nvSpPr>
          <p:cNvPr id="118" name="Shape 112"/>
          <p:cNvSpPr/>
          <p:nvPr/>
        </p:nvSpPr>
        <p:spPr>
          <a:xfrm>
            <a:off x="6757416" y="5376672"/>
            <a:ext cx="1612392"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Shape 113"/>
          <p:cNvSpPr/>
          <p:nvPr/>
        </p:nvSpPr>
        <p:spPr>
          <a:xfrm>
            <a:off x="6757416"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 114"/>
          <p:cNvSpPr txBox="1"/>
          <p:nvPr/>
        </p:nvSpPr>
        <p:spPr>
          <a:xfrm>
            <a:off x="6903720" y="5376672"/>
            <a:ext cx="1411224"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Rules in the API</a:t>
            </a:r>
          </a:p>
          <a:p>
            <a:pPr>
              <a:spcAft>
                <a:spcPts val="100"/>
              </a:spcAft>
            </a:pPr>
            <a:r>
              <a:rPr sz="700" b="0" i="0">
                <a:solidFill>
                  <a:srgbClr val="4D4D4D"/>
                </a:solidFill>
                <a:latin typeface="Trenda IG Text"/>
              </a:rPr>
              <a:t>not only in an article</a:t>
            </a:r>
          </a:p>
        </p:txBody>
      </p:sp>
      <p:sp>
        <p:nvSpPr>
          <p:cNvPr id="121" name="Shape 115"/>
          <p:cNvSpPr/>
          <p:nvPr/>
        </p:nvSpPr>
        <p:spPr>
          <a:xfrm>
            <a:off x="8461248" y="5376672"/>
            <a:ext cx="1612392"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Shape 116"/>
          <p:cNvSpPr/>
          <p:nvPr/>
        </p:nvSpPr>
        <p:spPr>
          <a:xfrm>
            <a:off x="8461248"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 117"/>
          <p:cNvSpPr txBox="1"/>
          <p:nvPr/>
        </p:nvSpPr>
        <p:spPr>
          <a:xfrm>
            <a:off x="8607552" y="5376672"/>
            <a:ext cx="1411224"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Governed articles</a:t>
            </a:r>
          </a:p>
          <a:p>
            <a:pPr>
              <a:spcAft>
                <a:spcPts val="100"/>
              </a:spcAft>
            </a:pPr>
            <a:r>
              <a:rPr sz="700" b="0" i="0">
                <a:solidFill>
                  <a:srgbClr val="4D4D4D"/>
                </a:solidFill>
                <a:latin typeface="Trenda IG Text"/>
              </a:rPr>
              <a:t>owner, version, PHI-scanned</a:t>
            </a:r>
          </a:p>
        </p:txBody>
      </p:sp>
      <p:sp>
        <p:nvSpPr>
          <p:cNvPr id="124" name="Shape 118"/>
          <p:cNvSpPr/>
          <p:nvPr/>
        </p:nvSpPr>
        <p:spPr>
          <a:xfrm>
            <a:off x="10165080" y="5376672"/>
            <a:ext cx="1612392"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Shape 119"/>
          <p:cNvSpPr/>
          <p:nvPr/>
        </p:nvSpPr>
        <p:spPr>
          <a:xfrm>
            <a:off x="10165080"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 120"/>
          <p:cNvSpPr txBox="1"/>
          <p:nvPr/>
        </p:nvSpPr>
        <p:spPr>
          <a:xfrm>
            <a:off x="10311384" y="5376672"/>
            <a:ext cx="1411224"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Tested before release</a:t>
            </a:r>
          </a:p>
          <a:p>
            <a:pPr>
              <a:spcAft>
                <a:spcPts val="100"/>
              </a:spcAft>
            </a:pPr>
            <a:r>
              <a:rPr sz="700" b="0" i="0">
                <a:solidFill>
                  <a:srgbClr val="4D4D4D"/>
                </a:solidFill>
                <a:latin typeface="Trenda IG Text"/>
              </a:rPr>
              <a:t>scripted test calls</a:t>
            </a:r>
          </a:p>
        </p:txBody>
      </p:sp>
      <p:sp>
        <p:nvSpPr>
          <p:cNvPr id="127" name="Shape 1"/>
          <p:cNvSpPr/>
          <p:nvPr/>
        </p:nvSpPr>
        <p:spPr>
          <a:xfrm>
            <a:off x="9464040" y="182880"/>
            <a:ext cx="2313432" cy="274320"/>
          </a:xfrm>
          <a:prstGeom prst="roundRect">
            <a:avLst>
              <a:gd name="adj" fmla="val 50000"/>
            </a:avLst>
          </a:prstGeom>
          <a:noFill/>
          <a:ln w="22225">
            <a:gradFill rotWithShape="1">
              <a:gsLst>
                <a:gs pos="0">
                  <a:srgbClr val="FFD700"/>
                </a:gs>
                <a:gs pos="50000">
                  <a:srgbClr val="FF0069"/>
                </a:gs>
                <a:gs pos="100000">
                  <a:srgbClr val="00D6F2"/>
                </a:gs>
              </a:gsLst>
              <a:lin ang="0" scaled="0"/>
            </a:gra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 2"/>
          <p:cNvSpPr txBox="1"/>
          <p:nvPr/>
        </p:nvSpPr>
        <p:spPr>
          <a:xfrm>
            <a:off x="9464040" y="182880"/>
            <a:ext cx="2313432" cy="274320"/>
          </a:xfrm>
          <a:prstGeom prst="rect">
            <a:avLst/>
          </a:prstGeom>
          <a:noFill/>
        </p:spPr>
        <p:txBody>
          <a:bodyPr wrap="square" lIns="0" rIns="0" tIns="0" bIns="0" anchor="ctr">
            <a:spAutoFit/>
          </a:bodyPr>
          <a:lstStyle/>
          <a:p>
            <a:pPr algn="ctr"/>
            <a:r>
              <a:rPr sz="800" b="1" i="0" spc="150">
                <a:solidFill>
                  <a:srgbClr val="1A1A1A"/>
                </a:solidFill>
                <a:latin typeface="Trenda IG Text"/>
              </a:rPr>
              <a:t>KEY DIFFERENTIATOR</a:t>
            </a:r>
          </a:p>
        </p:txBody>
      </p:sp>
      <p:sp>
        <p:nvSpPr>
          <p:cNvPr id="129" name="Shape 3"/>
          <p:cNvSpPr/>
          <p:nvPr/>
        </p:nvSpPr>
        <p:spPr>
          <a:xfrm>
            <a:off x="411480" y="1097280"/>
            <a:ext cx="11365992" cy="3657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Shape 4"/>
          <p:cNvSpPr/>
          <p:nvPr/>
        </p:nvSpPr>
        <p:spPr>
          <a:xfrm>
            <a:off x="393192" y="2359152"/>
            <a:ext cx="1911095" cy="2889504"/>
          </a:xfrm>
          <a:prstGeom prst="roundRect">
            <a:avLst>
              <a:gd name="adj" fmla="val 4000"/>
            </a:avLst>
          </a:prstGeom>
          <a:noFill/>
          <a:ln w="28575">
            <a:gradFill rotWithShape="1">
              <a:gsLst>
                <a:gs pos="0">
                  <a:srgbClr val="FFD700"/>
                </a:gs>
                <a:gs pos="50000">
                  <a:srgbClr val="FF0069"/>
                </a:gs>
                <a:gs pos="100000">
                  <a:srgbClr val="00D6F2"/>
                </a:gs>
              </a:gsLst>
              <a:lin ang="0" scaled="0"/>
            </a:gra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ASCENSION AGENTIC HARNESS · LEAN TEAM AND COST</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Lean teams on one platform: $9M back every year on a $5.0M build</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Every squad of 4-5 developers becomes 1 developer directing the harness agent, plus 1 QA. People review, approve and own every change.</a:t>
            </a:r>
          </a:p>
        </p:txBody>
      </p:sp>
      <p:sp>
        <p:nvSpPr>
          <p:cNvPr id="5" name="Shape 4"/>
          <p:cNvSpPr/>
          <p:nvPr/>
        </p:nvSpPr>
        <p:spPr>
          <a:xfrm>
            <a:off x="411480" y="1188720"/>
            <a:ext cx="3715512" cy="1965960"/>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88720"/>
            <a:ext cx="3715512"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 6"/>
          <p:cNvSpPr txBox="1"/>
          <p:nvPr/>
        </p:nvSpPr>
        <p:spPr>
          <a:xfrm>
            <a:off x="521208" y="1188720"/>
            <a:ext cx="3496056" cy="256032"/>
          </a:xfrm>
          <a:prstGeom prst="rect">
            <a:avLst/>
          </a:prstGeom>
          <a:noFill/>
        </p:spPr>
        <p:txBody>
          <a:bodyPr wrap="square" lIns="0" rIns="0" tIns="0" bIns="0" anchor="ctr">
            <a:spAutoFit/>
          </a:bodyPr>
          <a:lstStyle/>
          <a:p>
            <a:r>
              <a:rPr sz="700" b="1" i="0" spc="120">
                <a:solidFill>
                  <a:srgbClr val="1A1A1A"/>
                </a:solidFill>
                <a:latin typeface="Trenda IG Text"/>
              </a:rPr>
              <a:t>THE SQUAD</a:t>
            </a:r>
            <a:r>
              <a:rPr sz="700" b="0" i="0">
                <a:solidFill>
                  <a:srgbClr val="4D4D4D"/>
                </a:solidFill>
                <a:latin typeface="Trenda IG Text"/>
              </a:rPr>
              <a:t>   same scope, two people</a:t>
            </a:r>
          </a:p>
        </p:txBody>
      </p:sp>
      <p:sp>
        <p:nvSpPr>
          <p:cNvPr id="8" name="Text 7"/>
          <p:cNvSpPr txBox="1"/>
          <p:nvPr/>
        </p:nvSpPr>
        <p:spPr>
          <a:xfrm>
            <a:off x="539496" y="1536192"/>
            <a:ext cx="1371600" cy="164592"/>
          </a:xfrm>
          <a:prstGeom prst="rect">
            <a:avLst/>
          </a:prstGeom>
          <a:noFill/>
        </p:spPr>
        <p:txBody>
          <a:bodyPr wrap="square" lIns="0" rIns="0" tIns="0" bIns="0" anchor="ctr">
            <a:spAutoFit/>
          </a:bodyPr>
          <a:lstStyle/>
          <a:p>
            <a:r>
              <a:rPr sz="700" b="1" i="0" spc="100">
                <a:solidFill>
                  <a:srgbClr val="6B6B6B"/>
                </a:solidFill>
                <a:latin typeface="Trenda IG Text"/>
              </a:rPr>
              <a:t>TODAY</a:t>
            </a:r>
          </a:p>
        </p:txBody>
      </p:sp>
      <p:sp>
        <p:nvSpPr>
          <p:cNvPr id="9" name="Shape 8"/>
          <p:cNvSpPr/>
          <p:nvPr/>
        </p:nvSpPr>
        <p:spPr>
          <a:xfrm>
            <a:off x="539496" y="1719072"/>
            <a:ext cx="648004" cy="274320"/>
          </a:xfrm>
          <a:prstGeom prst="roundRect">
            <a:avLst>
              <a:gd name="adj" fmla="val 25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39496" y="1719072"/>
            <a:ext cx="648004" cy="274320"/>
          </a:xfrm>
          <a:prstGeom prst="rect">
            <a:avLst/>
          </a:prstGeom>
          <a:noFill/>
        </p:spPr>
        <p:txBody>
          <a:bodyPr wrap="square" lIns="0" rIns="0" tIns="0" bIns="0" anchor="ctr">
            <a:spAutoFit/>
          </a:bodyPr>
          <a:lstStyle/>
          <a:p>
            <a:pPr algn="ctr"/>
            <a:r>
              <a:rPr sz="700" b="1" i="0">
                <a:solidFill>
                  <a:srgbClr val="4D4D4D"/>
                </a:solidFill>
                <a:latin typeface="Trenda IG Text"/>
              </a:rPr>
              <a:t>Dev</a:t>
            </a:r>
          </a:p>
        </p:txBody>
      </p:sp>
      <p:sp>
        <p:nvSpPr>
          <p:cNvPr id="11" name="Shape 10"/>
          <p:cNvSpPr/>
          <p:nvPr/>
        </p:nvSpPr>
        <p:spPr>
          <a:xfrm>
            <a:off x="1242364" y="1719072"/>
            <a:ext cx="648004" cy="274320"/>
          </a:xfrm>
          <a:prstGeom prst="roundRect">
            <a:avLst>
              <a:gd name="adj" fmla="val 25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1242364" y="1719072"/>
            <a:ext cx="648004" cy="274320"/>
          </a:xfrm>
          <a:prstGeom prst="rect">
            <a:avLst/>
          </a:prstGeom>
          <a:noFill/>
        </p:spPr>
        <p:txBody>
          <a:bodyPr wrap="square" lIns="0" rIns="0" tIns="0" bIns="0" anchor="ctr">
            <a:spAutoFit/>
          </a:bodyPr>
          <a:lstStyle/>
          <a:p>
            <a:pPr algn="ctr"/>
            <a:r>
              <a:rPr sz="700" b="1" i="0">
                <a:solidFill>
                  <a:srgbClr val="4D4D4D"/>
                </a:solidFill>
                <a:latin typeface="Trenda IG Text"/>
              </a:rPr>
              <a:t>Dev</a:t>
            </a:r>
          </a:p>
        </p:txBody>
      </p:sp>
      <p:sp>
        <p:nvSpPr>
          <p:cNvPr id="13" name="Shape 12"/>
          <p:cNvSpPr/>
          <p:nvPr/>
        </p:nvSpPr>
        <p:spPr>
          <a:xfrm>
            <a:off x="1945233" y="1719072"/>
            <a:ext cx="648004" cy="274320"/>
          </a:xfrm>
          <a:prstGeom prst="roundRect">
            <a:avLst>
              <a:gd name="adj" fmla="val 25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1945233" y="1719072"/>
            <a:ext cx="648004" cy="274320"/>
          </a:xfrm>
          <a:prstGeom prst="rect">
            <a:avLst/>
          </a:prstGeom>
          <a:noFill/>
        </p:spPr>
        <p:txBody>
          <a:bodyPr wrap="square" lIns="0" rIns="0" tIns="0" bIns="0" anchor="ctr">
            <a:spAutoFit/>
          </a:bodyPr>
          <a:lstStyle/>
          <a:p>
            <a:pPr algn="ctr"/>
            <a:r>
              <a:rPr sz="700" b="1" i="0">
                <a:solidFill>
                  <a:srgbClr val="4D4D4D"/>
                </a:solidFill>
                <a:latin typeface="Trenda IG Text"/>
              </a:rPr>
              <a:t>Dev</a:t>
            </a:r>
          </a:p>
        </p:txBody>
      </p:sp>
      <p:sp>
        <p:nvSpPr>
          <p:cNvPr id="15" name="Shape 14"/>
          <p:cNvSpPr/>
          <p:nvPr/>
        </p:nvSpPr>
        <p:spPr>
          <a:xfrm>
            <a:off x="2648102" y="1719072"/>
            <a:ext cx="648004" cy="274320"/>
          </a:xfrm>
          <a:prstGeom prst="roundRect">
            <a:avLst>
              <a:gd name="adj" fmla="val 25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2648102" y="1719072"/>
            <a:ext cx="648004" cy="274320"/>
          </a:xfrm>
          <a:prstGeom prst="rect">
            <a:avLst/>
          </a:prstGeom>
          <a:noFill/>
        </p:spPr>
        <p:txBody>
          <a:bodyPr wrap="square" lIns="0" rIns="0" tIns="0" bIns="0" anchor="ctr">
            <a:spAutoFit/>
          </a:bodyPr>
          <a:lstStyle/>
          <a:p>
            <a:pPr algn="ctr"/>
            <a:r>
              <a:rPr sz="700" b="1" i="0">
                <a:solidFill>
                  <a:srgbClr val="4D4D4D"/>
                </a:solidFill>
                <a:latin typeface="Trenda IG Text"/>
              </a:rPr>
              <a:t>Dev</a:t>
            </a:r>
          </a:p>
        </p:txBody>
      </p:sp>
      <p:sp>
        <p:nvSpPr>
          <p:cNvPr id="17" name="Shape 16"/>
          <p:cNvSpPr/>
          <p:nvPr/>
        </p:nvSpPr>
        <p:spPr>
          <a:xfrm>
            <a:off x="3350971" y="1719072"/>
            <a:ext cx="648004" cy="274320"/>
          </a:xfrm>
          <a:prstGeom prst="roundRect">
            <a:avLst>
              <a:gd name="adj" fmla="val 25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3350971" y="1719072"/>
            <a:ext cx="648004" cy="274320"/>
          </a:xfrm>
          <a:prstGeom prst="rect">
            <a:avLst/>
          </a:prstGeom>
          <a:noFill/>
        </p:spPr>
        <p:txBody>
          <a:bodyPr wrap="square" lIns="0" rIns="0" tIns="0" bIns="0" anchor="ctr">
            <a:spAutoFit/>
          </a:bodyPr>
          <a:lstStyle/>
          <a:p>
            <a:pPr algn="ctr"/>
            <a:r>
              <a:rPr sz="700" b="1" i="0">
                <a:solidFill>
                  <a:srgbClr val="4D4D4D"/>
                </a:solidFill>
                <a:latin typeface="Trenda IG Text"/>
              </a:rPr>
              <a:t>QA</a:t>
            </a:r>
          </a:p>
        </p:txBody>
      </p:sp>
      <p:sp>
        <p:nvSpPr>
          <p:cNvPr id="19" name="Text 18"/>
          <p:cNvSpPr txBox="1"/>
          <p:nvPr/>
        </p:nvSpPr>
        <p:spPr>
          <a:xfrm>
            <a:off x="539496" y="2084832"/>
            <a:ext cx="1371600" cy="164592"/>
          </a:xfrm>
          <a:prstGeom prst="rect">
            <a:avLst/>
          </a:prstGeom>
          <a:noFill/>
        </p:spPr>
        <p:txBody>
          <a:bodyPr wrap="square" lIns="0" rIns="0" tIns="0" bIns="0" anchor="ctr">
            <a:spAutoFit/>
          </a:bodyPr>
          <a:lstStyle/>
          <a:p>
            <a:r>
              <a:rPr sz="700" b="1" i="0" spc="100">
                <a:solidFill>
                  <a:srgbClr val="0089A0"/>
                </a:solidFill>
                <a:latin typeface="Trenda IG Text"/>
              </a:rPr>
              <a:t>WITH THE HARNESS</a:t>
            </a:r>
          </a:p>
        </p:txBody>
      </p:sp>
      <p:sp>
        <p:nvSpPr>
          <p:cNvPr id="20" name="Shape 19"/>
          <p:cNvSpPr/>
          <p:nvPr/>
        </p:nvSpPr>
        <p:spPr>
          <a:xfrm>
            <a:off x="539496" y="2267712"/>
            <a:ext cx="1116584" cy="274320"/>
          </a:xfrm>
          <a:prstGeom prst="roundRect">
            <a:avLst>
              <a:gd name="adj" fmla="val 25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 20"/>
          <p:cNvSpPr txBox="1"/>
          <p:nvPr/>
        </p:nvSpPr>
        <p:spPr>
          <a:xfrm>
            <a:off x="539496" y="2267712"/>
            <a:ext cx="1116584" cy="274320"/>
          </a:xfrm>
          <a:prstGeom prst="rect">
            <a:avLst/>
          </a:prstGeom>
          <a:noFill/>
        </p:spPr>
        <p:txBody>
          <a:bodyPr wrap="square" lIns="0" rIns="0" tIns="0" bIns="0" anchor="ctr">
            <a:spAutoFit/>
          </a:bodyPr>
          <a:lstStyle/>
          <a:p>
            <a:pPr algn="ctr"/>
            <a:r>
              <a:rPr sz="700" b="1" i="0">
                <a:solidFill>
                  <a:srgbClr val="1A1A1A"/>
                </a:solidFill>
                <a:latin typeface="Trenda IG Text"/>
              </a:rPr>
              <a:t>Developer</a:t>
            </a:r>
          </a:p>
        </p:txBody>
      </p:sp>
      <p:sp>
        <p:nvSpPr>
          <p:cNvPr id="22" name="Shape 21"/>
          <p:cNvSpPr/>
          <p:nvPr/>
        </p:nvSpPr>
        <p:spPr>
          <a:xfrm>
            <a:off x="1710944" y="2267712"/>
            <a:ext cx="1116584" cy="274320"/>
          </a:xfrm>
          <a:prstGeom prst="roundRect">
            <a:avLst>
              <a:gd name="adj" fmla="val 25000"/>
            </a:avLst>
          </a:prstGeom>
          <a:solidFill>
            <a:srgbClr val="E0FAFE"/>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harness.png"/>
          <p:cNvPicPr>
            <a:picLocks noChangeAspect="1"/>
          </p:cNvPicPr>
          <p:nvPr/>
        </p:nvPicPr>
        <p:blipFill>
          <a:blip r:embed="rId2"/>
          <a:stretch>
            <a:fillRect/>
          </a:stretch>
        </p:blipFill>
        <p:spPr>
          <a:xfrm>
            <a:off x="1784096" y="2322576"/>
            <a:ext cx="164592" cy="164592"/>
          </a:xfrm>
          <a:prstGeom prst="rect">
            <a:avLst/>
          </a:prstGeom>
        </p:spPr>
      </p:pic>
      <p:sp>
        <p:nvSpPr>
          <p:cNvPr id="24" name="Text 22"/>
          <p:cNvSpPr txBox="1"/>
          <p:nvPr/>
        </p:nvSpPr>
        <p:spPr>
          <a:xfrm>
            <a:off x="1930400" y="2267712"/>
            <a:ext cx="860551" cy="274320"/>
          </a:xfrm>
          <a:prstGeom prst="rect">
            <a:avLst/>
          </a:prstGeom>
          <a:noFill/>
        </p:spPr>
        <p:txBody>
          <a:bodyPr wrap="square" lIns="0" rIns="0" tIns="0" bIns="0" anchor="ctr">
            <a:spAutoFit/>
          </a:bodyPr>
          <a:lstStyle/>
          <a:p>
            <a:pPr algn="ctr"/>
            <a:r>
              <a:rPr sz="700" b="1" i="0">
                <a:solidFill>
                  <a:srgbClr val="0089A0"/>
                </a:solidFill>
                <a:latin typeface="Trenda IG Text"/>
              </a:rPr>
              <a:t>Harness agent</a:t>
            </a:r>
          </a:p>
        </p:txBody>
      </p:sp>
      <p:sp>
        <p:nvSpPr>
          <p:cNvPr id="25" name="Shape 23"/>
          <p:cNvSpPr/>
          <p:nvPr/>
        </p:nvSpPr>
        <p:spPr>
          <a:xfrm>
            <a:off x="2882392" y="2267712"/>
            <a:ext cx="1116584" cy="274320"/>
          </a:xfrm>
          <a:prstGeom prst="roundRect">
            <a:avLst>
              <a:gd name="adj" fmla="val 25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4"/>
          <p:cNvSpPr txBox="1"/>
          <p:nvPr/>
        </p:nvSpPr>
        <p:spPr>
          <a:xfrm>
            <a:off x="2882392" y="2267712"/>
            <a:ext cx="1116584" cy="274320"/>
          </a:xfrm>
          <a:prstGeom prst="rect">
            <a:avLst/>
          </a:prstGeom>
          <a:noFill/>
        </p:spPr>
        <p:txBody>
          <a:bodyPr wrap="square" lIns="0" rIns="0" tIns="0" bIns="0" anchor="ctr">
            <a:spAutoFit/>
          </a:bodyPr>
          <a:lstStyle/>
          <a:p>
            <a:pPr algn="ctr"/>
            <a:r>
              <a:rPr sz="700" b="1" i="0">
                <a:solidFill>
                  <a:srgbClr val="1A1A1A"/>
                </a:solidFill>
                <a:latin typeface="Trenda IG Text"/>
              </a:rPr>
              <a:t>QA</a:t>
            </a:r>
          </a:p>
        </p:txBody>
      </p:sp>
      <p:sp>
        <p:nvSpPr>
          <p:cNvPr id="27" name="Text 25"/>
          <p:cNvSpPr txBox="1"/>
          <p:nvPr/>
        </p:nvSpPr>
        <p:spPr>
          <a:xfrm>
            <a:off x="539496" y="2615184"/>
            <a:ext cx="3459480" cy="384048"/>
          </a:xfrm>
          <a:prstGeom prst="rect">
            <a:avLst/>
          </a:prstGeom>
          <a:noFill/>
        </p:spPr>
        <p:txBody>
          <a:bodyPr wrap="square" lIns="0" rIns="0" tIns="0" bIns="0" anchor="t">
            <a:spAutoFit/>
          </a:bodyPr>
          <a:lstStyle/>
          <a:p>
            <a:r>
              <a:rPr sz="700" b="1" i="0">
                <a:solidFill>
                  <a:srgbClr val="0089A0"/>
                </a:solidFill>
                <a:latin typeface="Trenda IG Text"/>
              </a:rPr>
              <a:t>Agent </a:t>
            </a:r>
            <a:r>
              <a:rPr sz="700" b="0" i="0">
                <a:solidFill>
                  <a:srgbClr val="4D4D4D"/>
                </a:solidFill>
                <a:latin typeface="Trenda IG Text"/>
              </a:rPr>
              <a:t>drafts code, tests and the Copado package overnight. </a:t>
            </a:r>
            <a:r>
              <a:rPr sz="700" b="1" i="0">
                <a:solidFill>
                  <a:srgbClr val="1A1A1A"/>
                </a:solidFill>
                <a:latin typeface="Trenda IG Text"/>
              </a:rPr>
              <a:t>Developer </a:t>
            </a:r>
            <a:r>
              <a:rPr sz="700" b="0" i="0">
                <a:solidFill>
                  <a:srgbClr val="4D4D4D"/>
                </a:solidFill>
                <a:latin typeface="Trenda IG Text"/>
              </a:rPr>
              <a:t>directs and approves. </a:t>
            </a:r>
            <a:r>
              <a:rPr sz="700" b="1" i="0">
                <a:solidFill>
                  <a:srgbClr val="1A1A1A"/>
                </a:solidFill>
                <a:latin typeface="Trenda IG Text"/>
              </a:rPr>
              <a:t>QA </a:t>
            </a:r>
            <a:r>
              <a:rPr sz="700" b="0" i="0">
                <a:solidFill>
                  <a:srgbClr val="4D4D4D"/>
                </a:solidFill>
                <a:latin typeface="Trenda IG Text"/>
              </a:rPr>
              <a:t>signs off.</a:t>
            </a:r>
          </a:p>
        </p:txBody>
      </p:sp>
      <p:sp>
        <p:nvSpPr>
          <p:cNvPr id="28" name="Shape 26"/>
          <p:cNvSpPr/>
          <p:nvPr/>
        </p:nvSpPr>
        <p:spPr>
          <a:xfrm>
            <a:off x="4236720" y="1188720"/>
            <a:ext cx="3715512" cy="1965960"/>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hape 27"/>
          <p:cNvSpPr/>
          <p:nvPr/>
        </p:nvSpPr>
        <p:spPr>
          <a:xfrm>
            <a:off x="4236720" y="1188720"/>
            <a:ext cx="3715512"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8"/>
          <p:cNvSpPr txBox="1"/>
          <p:nvPr/>
        </p:nvSpPr>
        <p:spPr>
          <a:xfrm>
            <a:off x="4346448" y="1188720"/>
            <a:ext cx="3496056" cy="256032"/>
          </a:xfrm>
          <a:prstGeom prst="rect">
            <a:avLst/>
          </a:prstGeom>
          <a:noFill/>
        </p:spPr>
        <p:txBody>
          <a:bodyPr wrap="square" lIns="0" rIns="0" tIns="0" bIns="0" anchor="ctr">
            <a:spAutoFit/>
          </a:bodyPr>
          <a:lstStyle/>
          <a:p>
            <a:r>
              <a:rPr sz="700" b="1" i="0" spc="120">
                <a:solidFill>
                  <a:srgbClr val="1A1A1A"/>
                </a:solidFill>
                <a:latin typeface="Trenda IG Text"/>
              </a:rPr>
              <a:t>THE POD</a:t>
            </a:r>
            <a:r>
              <a:rPr sz="700" b="0" i="0">
                <a:solidFill>
                  <a:srgbClr val="4D4D4D"/>
                </a:solidFill>
                <a:latin typeface="Trenda IG Text"/>
              </a:rPr>
              <a:t>   what changes for every pod</a:t>
            </a:r>
          </a:p>
        </p:txBody>
      </p:sp>
      <p:sp>
        <p:nvSpPr>
          <p:cNvPr id="31" name="Text 29"/>
          <p:cNvSpPr txBox="1"/>
          <p:nvPr/>
        </p:nvSpPr>
        <p:spPr>
          <a:xfrm>
            <a:off x="5608320" y="1517904"/>
            <a:ext cx="914400" cy="164592"/>
          </a:xfrm>
          <a:prstGeom prst="rect">
            <a:avLst/>
          </a:prstGeom>
          <a:noFill/>
        </p:spPr>
        <p:txBody>
          <a:bodyPr wrap="square" lIns="0" rIns="0" tIns="0" bIns="0" anchor="ctr">
            <a:spAutoFit/>
          </a:bodyPr>
          <a:lstStyle/>
          <a:p>
            <a:r>
              <a:rPr sz="700" b="1" i="0" spc="100">
                <a:solidFill>
                  <a:srgbClr val="6B6B6B"/>
                </a:solidFill>
                <a:latin typeface="Trenda IG Text"/>
              </a:rPr>
              <a:t>TODAY</a:t>
            </a:r>
          </a:p>
        </p:txBody>
      </p:sp>
      <p:sp>
        <p:nvSpPr>
          <p:cNvPr id="32" name="Text 30"/>
          <p:cNvSpPr txBox="1"/>
          <p:nvPr/>
        </p:nvSpPr>
        <p:spPr>
          <a:xfrm>
            <a:off x="6614160" y="1517904"/>
            <a:ext cx="1280160" cy="164592"/>
          </a:xfrm>
          <a:prstGeom prst="rect">
            <a:avLst/>
          </a:prstGeom>
          <a:noFill/>
        </p:spPr>
        <p:txBody>
          <a:bodyPr wrap="square" lIns="0" rIns="0" tIns="0" bIns="0" anchor="ctr">
            <a:spAutoFit/>
          </a:bodyPr>
          <a:lstStyle/>
          <a:p>
            <a:r>
              <a:rPr sz="700" b="1" i="0" spc="100">
                <a:solidFill>
                  <a:srgbClr val="0089A0"/>
                </a:solidFill>
                <a:latin typeface="Trenda IG Text"/>
              </a:rPr>
              <a:t>WITH THE HARNESS</a:t>
            </a:r>
          </a:p>
        </p:txBody>
      </p:sp>
      <p:sp>
        <p:nvSpPr>
          <p:cNvPr id="33" name="Shape 31"/>
          <p:cNvSpPr/>
          <p:nvPr/>
        </p:nvSpPr>
        <p:spPr>
          <a:xfrm>
            <a:off x="4364736" y="1700784"/>
            <a:ext cx="3459480" cy="2286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2"/>
          <p:cNvSpPr txBox="1"/>
          <p:nvPr/>
        </p:nvSpPr>
        <p:spPr>
          <a:xfrm>
            <a:off x="4437888" y="1700784"/>
            <a:ext cx="1188720" cy="228600"/>
          </a:xfrm>
          <a:prstGeom prst="rect">
            <a:avLst/>
          </a:prstGeom>
          <a:noFill/>
        </p:spPr>
        <p:txBody>
          <a:bodyPr wrap="square" lIns="0" rIns="0" tIns="0" bIns="0" anchor="ctr">
            <a:spAutoFit/>
          </a:bodyPr>
          <a:lstStyle/>
          <a:p>
            <a:r>
              <a:rPr sz="700" b="1" i="0">
                <a:solidFill>
                  <a:srgbClr val="1A1A1A"/>
                </a:solidFill>
                <a:latin typeface="Trenda IG Text"/>
              </a:rPr>
              <a:t>New engineer productive</a:t>
            </a:r>
          </a:p>
        </p:txBody>
      </p:sp>
      <p:sp>
        <p:nvSpPr>
          <p:cNvPr id="35" name="Text 33"/>
          <p:cNvSpPr txBox="1"/>
          <p:nvPr/>
        </p:nvSpPr>
        <p:spPr>
          <a:xfrm>
            <a:off x="5608320" y="1700784"/>
            <a:ext cx="987552" cy="228600"/>
          </a:xfrm>
          <a:prstGeom prst="rect">
            <a:avLst/>
          </a:prstGeom>
          <a:noFill/>
        </p:spPr>
        <p:txBody>
          <a:bodyPr wrap="square" lIns="0" rIns="0" tIns="0" bIns="0" anchor="ctr">
            <a:spAutoFit/>
          </a:bodyPr>
          <a:lstStyle/>
          <a:p>
            <a:r>
              <a:rPr sz="700" b="0" i="0">
                <a:solidFill>
                  <a:srgbClr val="4D4D4D"/>
                </a:solidFill>
                <a:latin typeface="Trenda IG Text"/>
              </a:rPr>
              <a:t>4-6 weeks</a:t>
            </a:r>
          </a:p>
        </p:txBody>
      </p:sp>
      <p:sp>
        <p:nvSpPr>
          <p:cNvPr id="36" name="Text 34"/>
          <p:cNvSpPr txBox="1"/>
          <p:nvPr/>
        </p:nvSpPr>
        <p:spPr>
          <a:xfrm>
            <a:off x="6614160" y="1700784"/>
            <a:ext cx="1429512" cy="228600"/>
          </a:xfrm>
          <a:prstGeom prst="rect">
            <a:avLst/>
          </a:prstGeom>
          <a:noFill/>
        </p:spPr>
        <p:txBody>
          <a:bodyPr wrap="square" lIns="0" rIns="0" tIns="0" bIns="0" anchor="ctr">
            <a:spAutoFit/>
          </a:bodyPr>
          <a:lstStyle/>
          <a:p>
            <a:r>
              <a:rPr sz="700" b="1" i="0">
                <a:solidFill>
                  <a:srgbClr val="0089A0"/>
                </a:solidFill>
                <a:latin typeface="Trenda IG Text"/>
              </a:rPr>
              <a:t>about 1 week</a:t>
            </a:r>
          </a:p>
        </p:txBody>
      </p:sp>
      <p:sp>
        <p:nvSpPr>
          <p:cNvPr id="37" name="Shape 35"/>
          <p:cNvSpPr/>
          <p:nvPr/>
        </p:nvSpPr>
        <p:spPr>
          <a:xfrm>
            <a:off x="4364736" y="1965960"/>
            <a:ext cx="3459480" cy="2286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6"/>
          <p:cNvSpPr txBox="1"/>
          <p:nvPr/>
        </p:nvSpPr>
        <p:spPr>
          <a:xfrm>
            <a:off x="4437888" y="1965960"/>
            <a:ext cx="1188720" cy="228600"/>
          </a:xfrm>
          <a:prstGeom prst="rect">
            <a:avLst/>
          </a:prstGeom>
          <a:noFill/>
        </p:spPr>
        <p:txBody>
          <a:bodyPr wrap="square" lIns="0" rIns="0" tIns="0" bIns="0" anchor="ctr">
            <a:spAutoFit/>
          </a:bodyPr>
          <a:lstStyle/>
          <a:p>
            <a:r>
              <a:rPr sz="700" b="1" i="0">
                <a:solidFill>
                  <a:srgbClr val="1A1A1A"/>
                </a:solidFill>
                <a:latin typeface="Trenda IG Text"/>
              </a:rPr>
              <a:t>Delivery each day</a:t>
            </a:r>
          </a:p>
        </p:txBody>
      </p:sp>
      <p:sp>
        <p:nvSpPr>
          <p:cNvPr id="39" name="Text 37"/>
          <p:cNvSpPr txBox="1"/>
          <p:nvPr/>
        </p:nvSpPr>
        <p:spPr>
          <a:xfrm>
            <a:off x="5608320" y="1965960"/>
            <a:ext cx="987552" cy="228600"/>
          </a:xfrm>
          <a:prstGeom prst="rect">
            <a:avLst/>
          </a:prstGeom>
          <a:noFill/>
        </p:spPr>
        <p:txBody>
          <a:bodyPr wrap="square" lIns="0" rIns="0" tIns="0" bIns="0" anchor="ctr">
            <a:spAutoFit/>
          </a:bodyPr>
          <a:lstStyle/>
          <a:p>
            <a:r>
              <a:rPr sz="700" b="0" i="0">
                <a:solidFill>
                  <a:srgbClr val="4D4D4D"/>
                </a:solidFill>
                <a:latin typeface="Trenda IG Text"/>
              </a:rPr>
              <a:t>office hours</a:t>
            </a:r>
          </a:p>
        </p:txBody>
      </p:sp>
      <p:sp>
        <p:nvSpPr>
          <p:cNvPr id="40" name="Text 38"/>
          <p:cNvSpPr txBox="1"/>
          <p:nvPr/>
        </p:nvSpPr>
        <p:spPr>
          <a:xfrm>
            <a:off x="6614160" y="1965960"/>
            <a:ext cx="1429512" cy="228600"/>
          </a:xfrm>
          <a:prstGeom prst="rect">
            <a:avLst/>
          </a:prstGeom>
          <a:noFill/>
        </p:spPr>
        <p:txBody>
          <a:bodyPr wrap="square" lIns="0" rIns="0" tIns="0" bIns="0" anchor="ctr">
            <a:spAutoFit/>
          </a:bodyPr>
          <a:lstStyle/>
          <a:p>
            <a:r>
              <a:rPr sz="700" b="1" i="0">
                <a:solidFill>
                  <a:srgbClr val="0089A0"/>
                </a:solidFill>
                <a:latin typeface="Trenda IG Text"/>
              </a:rPr>
              <a:t>about 20 hours</a:t>
            </a:r>
          </a:p>
        </p:txBody>
      </p:sp>
      <p:sp>
        <p:nvSpPr>
          <p:cNvPr id="41" name="Shape 39"/>
          <p:cNvSpPr/>
          <p:nvPr/>
        </p:nvSpPr>
        <p:spPr>
          <a:xfrm>
            <a:off x="4364736" y="2231136"/>
            <a:ext cx="3459480" cy="2286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0"/>
          <p:cNvSpPr txBox="1"/>
          <p:nvPr/>
        </p:nvSpPr>
        <p:spPr>
          <a:xfrm>
            <a:off x="4437888" y="2231136"/>
            <a:ext cx="1188720" cy="228600"/>
          </a:xfrm>
          <a:prstGeom prst="rect">
            <a:avLst/>
          </a:prstGeom>
          <a:noFill/>
        </p:spPr>
        <p:txBody>
          <a:bodyPr wrap="square" lIns="0" rIns="0" tIns="0" bIns="0" anchor="ctr">
            <a:spAutoFit/>
          </a:bodyPr>
          <a:lstStyle/>
          <a:p>
            <a:r>
              <a:rPr sz="700" b="1" i="0">
                <a:solidFill>
                  <a:srgbClr val="1A1A1A"/>
                </a:solidFill>
                <a:latin typeface="Trenda IG Text"/>
              </a:rPr>
              <a:t>Changes checked</a:t>
            </a:r>
          </a:p>
        </p:txBody>
      </p:sp>
      <p:sp>
        <p:nvSpPr>
          <p:cNvPr id="43" name="Text 41"/>
          <p:cNvSpPr txBox="1"/>
          <p:nvPr/>
        </p:nvSpPr>
        <p:spPr>
          <a:xfrm>
            <a:off x="5608320" y="2231136"/>
            <a:ext cx="987552" cy="228600"/>
          </a:xfrm>
          <a:prstGeom prst="rect">
            <a:avLst/>
          </a:prstGeom>
          <a:noFill/>
        </p:spPr>
        <p:txBody>
          <a:bodyPr wrap="square" lIns="0" rIns="0" tIns="0" bIns="0" anchor="ctr">
            <a:spAutoFit/>
          </a:bodyPr>
          <a:lstStyle/>
          <a:p>
            <a:r>
              <a:rPr sz="700" b="0" i="0">
                <a:solidFill>
                  <a:srgbClr val="4D4D4D"/>
                </a:solidFill>
                <a:latin typeface="Trenda IG Text"/>
              </a:rPr>
              <a:t>depends on reviewer</a:t>
            </a:r>
          </a:p>
        </p:txBody>
      </p:sp>
      <p:sp>
        <p:nvSpPr>
          <p:cNvPr id="44" name="Text 42"/>
          <p:cNvSpPr txBox="1"/>
          <p:nvPr/>
        </p:nvSpPr>
        <p:spPr>
          <a:xfrm>
            <a:off x="6614160" y="2231136"/>
            <a:ext cx="1429512" cy="228600"/>
          </a:xfrm>
          <a:prstGeom prst="rect">
            <a:avLst/>
          </a:prstGeom>
          <a:noFill/>
        </p:spPr>
        <p:txBody>
          <a:bodyPr wrap="square" lIns="0" rIns="0" tIns="0" bIns="0" anchor="ctr">
            <a:spAutoFit/>
          </a:bodyPr>
          <a:lstStyle/>
          <a:p>
            <a:r>
              <a:rPr sz="700" b="1" i="0">
                <a:solidFill>
                  <a:srgbClr val="0089A0"/>
                </a:solidFill>
                <a:latin typeface="Trenda IG Text"/>
              </a:rPr>
              <a:t>100%, same standards</a:t>
            </a:r>
          </a:p>
        </p:txBody>
      </p:sp>
      <p:sp>
        <p:nvSpPr>
          <p:cNvPr id="45" name="Shape 43"/>
          <p:cNvSpPr/>
          <p:nvPr/>
        </p:nvSpPr>
        <p:spPr>
          <a:xfrm>
            <a:off x="4364736" y="2496312"/>
            <a:ext cx="3459480" cy="2286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4"/>
          <p:cNvSpPr txBox="1"/>
          <p:nvPr/>
        </p:nvSpPr>
        <p:spPr>
          <a:xfrm>
            <a:off x="4437888" y="2496312"/>
            <a:ext cx="1188720" cy="228600"/>
          </a:xfrm>
          <a:prstGeom prst="rect">
            <a:avLst/>
          </a:prstGeom>
          <a:noFill/>
        </p:spPr>
        <p:txBody>
          <a:bodyPr wrap="square" lIns="0" rIns="0" tIns="0" bIns="0" anchor="ctr">
            <a:spAutoFit/>
          </a:bodyPr>
          <a:lstStyle/>
          <a:p>
            <a:r>
              <a:rPr sz="700" b="1" i="0">
                <a:solidFill>
                  <a:srgbClr val="1A1A1A"/>
                </a:solidFill>
                <a:latin typeface="Trenda IG Text"/>
              </a:rPr>
              <a:t>New pod live</a:t>
            </a:r>
          </a:p>
        </p:txBody>
      </p:sp>
      <p:sp>
        <p:nvSpPr>
          <p:cNvPr id="47" name="Text 45"/>
          <p:cNvSpPr txBox="1"/>
          <p:nvPr/>
        </p:nvSpPr>
        <p:spPr>
          <a:xfrm>
            <a:off x="5608320" y="2496312"/>
            <a:ext cx="987552" cy="228600"/>
          </a:xfrm>
          <a:prstGeom prst="rect">
            <a:avLst/>
          </a:prstGeom>
          <a:noFill/>
        </p:spPr>
        <p:txBody>
          <a:bodyPr wrap="square" lIns="0" rIns="0" tIns="0" bIns="0" anchor="ctr">
            <a:spAutoFit/>
          </a:bodyPr>
          <a:lstStyle/>
          <a:p>
            <a:r>
              <a:rPr sz="700" b="0" i="0">
                <a:solidFill>
                  <a:srgbClr val="4D4D4D"/>
                </a:solidFill>
                <a:latin typeface="Trenda IG Text"/>
              </a:rPr>
              <a:t>about 2 months</a:t>
            </a:r>
          </a:p>
        </p:txBody>
      </p:sp>
      <p:sp>
        <p:nvSpPr>
          <p:cNvPr id="48" name="Text 46"/>
          <p:cNvSpPr txBox="1"/>
          <p:nvPr/>
        </p:nvSpPr>
        <p:spPr>
          <a:xfrm>
            <a:off x="6614160" y="2496312"/>
            <a:ext cx="1429512" cy="228600"/>
          </a:xfrm>
          <a:prstGeom prst="rect">
            <a:avLst/>
          </a:prstGeom>
          <a:noFill/>
        </p:spPr>
        <p:txBody>
          <a:bodyPr wrap="square" lIns="0" rIns="0" tIns="0" bIns="0" anchor="ctr">
            <a:spAutoFit/>
          </a:bodyPr>
          <a:lstStyle/>
          <a:p>
            <a:r>
              <a:rPr sz="700" b="1" i="0">
                <a:solidFill>
                  <a:srgbClr val="0089A0"/>
                </a:solidFill>
                <a:latin typeface="Trenda IG Text"/>
              </a:rPr>
              <a:t>2 weeks</a:t>
            </a:r>
          </a:p>
        </p:txBody>
      </p:sp>
      <p:sp>
        <p:nvSpPr>
          <p:cNvPr id="49" name="Text 47"/>
          <p:cNvSpPr txBox="1"/>
          <p:nvPr/>
        </p:nvSpPr>
        <p:spPr>
          <a:xfrm>
            <a:off x="4364736" y="2779776"/>
            <a:ext cx="3459480" cy="329184"/>
          </a:xfrm>
          <a:prstGeom prst="rect">
            <a:avLst/>
          </a:prstGeom>
          <a:noFill/>
        </p:spPr>
        <p:txBody>
          <a:bodyPr wrap="square" lIns="0" rIns="0" tIns="0" bIns="0" anchor="ctr">
            <a:spAutoFit/>
          </a:bodyPr>
          <a:lstStyle/>
          <a:p>
            <a:r>
              <a:rPr sz="700" b="0" i="0">
                <a:solidFill>
                  <a:srgbClr val="6B6B6B"/>
                </a:solidFill>
                <a:latin typeface="Trenda IG Text"/>
              </a:rPr>
              <a:t>Pilot targets, baselined per pod.</a:t>
            </a:r>
          </a:p>
        </p:txBody>
      </p:sp>
      <p:sp>
        <p:nvSpPr>
          <p:cNvPr id="50" name="Shape 48"/>
          <p:cNvSpPr/>
          <p:nvPr/>
        </p:nvSpPr>
        <p:spPr>
          <a:xfrm>
            <a:off x="8061960" y="1188720"/>
            <a:ext cx="3715512" cy="1965960"/>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49"/>
          <p:cNvSpPr/>
          <p:nvPr/>
        </p:nvSpPr>
        <p:spPr>
          <a:xfrm>
            <a:off x="8061960" y="1188720"/>
            <a:ext cx="3715512"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0"/>
          <p:cNvSpPr txBox="1"/>
          <p:nvPr/>
        </p:nvSpPr>
        <p:spPr>
          <a:xfrm>
            <a:off x="8171687" y="1188720"/>
            <a:ext cx="3496056" cy="256032"/>
          </a:xfrm>
          <a:prstGeom prst="rect">
            <a:avLst/>
          </a:prstGeom>
          <a:noFill/>
        </p:spPr>
        <p:txBody>
          <a:bodyPr wrap="square" lIns="0" rIns="0" tIns="0" bIns="0" anchor="ctr">
            <a:spAutoFit/>
          </a:bodyPr>
          <a:lstStyle/>
          <a:p>
            <a:r>
              <a:rPr sz="700" b="1" i="0" spc="120">
                <a:solidFill>
                  <a:srgbClr val="1A1A1A"/>
                </a:solidFill>
                <a:latin typeface="Trenda IG Text"/>
              </a:rPr>
              <a:t>THE BUILD AND RUN</a:t>
            </a:r>
            <a:r>
              <a:rPr sz="700" b="0" i="0">
                <a:solidFill>
                  <a:srgbClr val="4D4D4D"/>
                </a:solidFill>
                <a:latin typeface="Trenda IG Text"/>
              </a:rPr>
              <a:t>   fixed fee, paid by gate</a:t>
            </a:r>
          </a:p>
        </p:txBody>
      </p:sp>
      <p:sp>
        <p:nvSpPr>
          <p:cNvPr id="53" name="Shape 51"/>
          <p:cNvSpPr/>
          <p:nvPr/>
        </p:nvSpPr>
        <p:spPr>
          <a:xfrm>
            <a:off x="8189976" y="1554480"/>
            <a:ext cx="1104391" cy="89611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2"/>
          <p:cNvSpPr txBox="1"/>
          <p:nvPr/>
        </p:nvSpPr>
        <p:spPr>
          <a:xfrm>
            <a:off x="8281416" y="1591056"/>
            <a:ext cx="976376" cy="402336"/>
          </a:xfrm>
          <a:prstGeom prst="rect">
            <a:avLst/>
          </a:prstGeom>
          <a:noFill/>
        </p:spPr>
        <p:txBody>
          <a:bodyPr wrap="square" lIns="0" rIns="0" tIns="0" bIns="0" anchor="ctr">
            <a:spAutoFit/>
          </a:bodyPr>
          <a:lstStyle/>
          <a:p>
            <a:r>
              <a:rPr sz="1600" b="0" i="0">
                <a:solidFill>
                  <a:srgbClr val="1A1A1A"/>
                </a:solidFill>
                <a:latin typeface="Trenda IG Text"/>
              </a:rPr>
              <a:t>17</a:t>
            </a:r>
          </a:p>
        </p:txBody>
      </p:sp>
      <p:sp>
        <p:nvSpPr>
          <p:cNvPr id="55" name="Text 53"/>
          <p:cNvSpPr txBox="1"/>
          <p:nvPr/>
        </p:nvSpPr>
        <p:spPr>
          <a:xfrm>
            <a:off x="8281416" y="1993392"/>
            <a:ext cx="976376" cy="420624"/>
          </a:xfrm>
          <a:prstGeom prst="rect">
            <a:avLst/>
          </a:prstGeom>
          <a:noFill/>
        </p:spPr>
        <p:txBody>
          <a:bodyPr wrap="square" lIns="0" rIns="0" tIns="0" bIns="0" anchor="t">
            <a:spAutoFit/>
          </a:bodyPr>
          <a:lstStyle/>
          <a:p>
            <a:r>
              <a:rPr sz="700" b="0" i="0">
                <a:solidFill>
                  <a:srgbClr val="4D4D4D"/>
                </a:solidFill>
                <a:latin typeface="Trenda IG Text"/>
              </a:rPr>
              <a:t>people at peak, 10 roles</a:t>
            </a:r>
          </a:p>
        </p:txBody>
      </p:sp>
      <p:sp>
        <p:nvSpPr>
          <p:cNvPr id="56" name="Shape 54"/>
          <p:cNvSpPr/>
          <p:nvPr/>
        </p:nvSpPr>
        <p:spPr>
          <a:xfrm>
            <a:off x="9367520" y="1554480"/>
            <a:ext cx="1104391" cy="89611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5"/>
          <p:cNvSpPr txBox="1"/>
          <p:nvPr/>
        </p:nvSpPr>
        <p:spPr>
          <a:xfrm>
            <a:off x="9458960" y="1591056"/>
            <a:ext cx="976376" cy="402336"/>
          </a:xfrm>
          <a:prstGeom prst="rect">
            <a:avLst/>
          </a:prstGeom>
          <a:noFill/>
        </p:spPr>
        <p:txBody>
          <a:bodyPr wrap="square" lIns="0" rIns="0" tIns="0" bIns="0" anchor="ctr">
            <a:spAutoFit/>
          </a:bodyPr>
          <a:lstStyle/>
          <a:p>
            <a:r>
              <a:rPr sz="1600" b="0" i="0">
                <a:solidFill>
                  <a:srgbClr val="1A1A1A"/>
                </a:solidFill>
                <a:latin typeface="Trenda IG Text"/>
              </a:rPr>
              <a:t>18</a:t>
            </a:r>
          </a:p>
        </p:txBody>
      </p:sp>
      <p:sp>
        <p:nvSpPr>
          <p:cNvPr id="58" name="Text 56"/>
          <p:cNvSpPr txBox="1"/>
          <p:nvPr/>
        </p:nvSpPr>
        <p:spPr>
          <a:xfrm>
            <a:off x="9458960" y="1993392"/>
            <a:ext cx="976376" cy="420624"/>
          </a:xfrm>
          <a:prstGeom prst="rect">
            <a:avLst/>
          </a:prstGeom>
          <a:noFill/>
        </p:spPr>
        <p:txBody>
          <a:bodyPr wrap="square" lIns="0" rIns="0" tIns="0" bIns="0" anchor="t">
            <a:spAutoFit/>
          </a:bodyPr>
          <a:lstStyle/>
          <a:p>
            <a:r>
              <a:rPr sz="700" b="0" i="0">
                <a:solidFill>
                  <a:srgbClr val="4D4D4D"/>
                </a:solidFill>
                <a:latin typeface="Trenda IG Text"/>
              </a:rPr>
              <a:t>months, seven phases</a:t>
            </a:r>
          </a:p>
        </p:txBody>
      </p:sp>
      <p:sp>
        <p:nvSpPr>
          <p:cNvPr id="59" name="Shape 57"/>
          <p:cNvSpPr/>
          <p:nvPr/>
        </p:nvSpPr>
        <p:spPr>
          <a:xfrm>
            <a:off x="10545064" y="1554480"/>
            <a:ext cx="1104391" cy="89611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8"/>
          <p:cNvSpPr txBox="1"/>
          <p:nvPr/>
        </p:nvSpPr>
        <p:spPr>
          <a:xfrm>
            <a:off x="10636504" y="1591056"/>
            <a:ext cx="976376" cy="402336"/>
          </a:xfrm>
          <a:prstGeom prst="rect">
            <a:avLst/>
          </a:prstGeom>
          <a:noFill/>
        </p:spPr>
        <p:txBody>
          <a:bodyPr wrap="square" lIns="0" rIns="0" tIns="0" bIns="0" anchor="ctr">
            <a:spAutoFit/>
          </a:bodyPr>
          <a:lstStyle/>
          <a:p>
            <a:r>
              <a:rPr sz="1600" b="0" i="0">
                <a:solidFill>
                  <a:srgbClr val="1A1A1A"/>
                </a:solidFill>
                <a:latin typeface="Trenda IG Text"/>
              </a:rPr>
              <a:t>$4.79M</a:t>
            </a:r>
          </a:p>
        </p:txBody>
      </p:sp>
      <p:sp>
        <p:nvSpPr>
          <p:cNvPr id="61" name="Text 59"/>
          <p:cNvSpPr txBox="1"/>
          <p:nvPr/>
        </p:nvSpPr>
        <p:spPr>
          <a:xfrm>
            <a:off x="10636504" y="1993392"/>
            <a:ext cx="976376" cy="420624"/>
          </a:xfrm>
          <a:prstGeom prst="rect">
            <a:avLst/>
          </a:prstGeom>
          <a:noFill/>
        </p:spPr>
        <p:txBody>
          <a:bodyPr wrap="square" lIns="0" rIns="0" tIns="0" bIns="0" anchor="t">
            <a:spAutoFit/>
          </a:bodyPr>
          <a:lstStyle/>
          <a:p>
            <a:r>
              <a:rPr sz="700" b="0" i="0">
                <a:solidFill>
                  <a:srgbClr val="4D4D4D"/>
                </a:solidFill>
                <a:latin typeface="Trenda IG Text"/>
              </a:rPr>
              <a:t>fixed fee, paid as each gate is signed</a:t>
            </a:r>
          </a:p>
        </p:txBody>
      </p:sp>
      <p:sp>
        <p:nvSpPr>
          <p:cNvPr id="62" name="Text 60"/>
          <p:cNvSpPr txBox="1"/>
          <p:nvPr/>
        </p:nvSpPr>
        <p:spPr>
          <a:xfrm>
            <a:off x="8189976" y="2542032"/>
            <a:ext cx="3459480" cy="457200"/>
          </a:xfrm>
          <a:prstGeom prst="rect">
            <a:avLst/>
          </a:prstGeom>
          <a:noFill/>
        </p:spPr>
        <p:txBody>
          <a:bodyPr wrap="square" lIns="0" rIns="0" tIns="0" bIns="0" anchor="t">
            <a:spAutoFit/>
          </a:bodyPr>
          <a:lstStyle/>
          <a:p>
            <a:r>
              <a:rPr sz="700" b="1" i="0">
                <a:solidFill>
                  <a:srgbClr val="1A1A1A"/>
                </a:solidFill>
                <a:latin typeface="Trenda IG Text"/>
              </a:rPr>
              <a:t>From month 19 </a:t>
            </a:r>
            <a:r>
              <a:rPr sz="700" b="0" i="0">
                <a:solidFill>
                  <a:srgbClr val="4D4D4D"/>
                </a:solidFill>
                <a:latin typeface="Trenda IG Text"/>
              </a:rPr>
              <a:t>a run team of 4 keeps the graph, agents and evals current: about $1.24M a year with platform usage.</a:t>
            </a:r>
          </a:p>
        </p:txBody>
      </p:sp>
      <p:sp>
        <p:nvSpPr>
          <p:cNvPr id="63" name="Shape 61"/>
          <p:cNvSpPr/>
          <p:nvPr/>
        </p:nvSpPr>
        <p:spPr>
          <a:xfrm>
            <a:off x="411480" y="3291840"/>
            <a:ext cx="11365992" cy="1965960"/>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hape 62"/>
          <p:cNvSpPr/>
          <p:nvPr/>
        </p:nvSpPr>
        <p:spPr>
          <a:xfrm>
            <a:off x="411480" y="3291840"/>
            <a:ext cx="11365992"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63"/>
          <p:cNvSpPr txBox="1"/>
          <p:nvPr/>
        </p:nvSpPr>
        <p:spPr>
          <a:xfrm>
            <a:off x="521208" y="3291840"/>
            <a:ext cx="11146536" cy="256032"/>
          </a:xfrm>
          <a:prstGeom prst="rect">
            <a:avLst/>
          </a:prstGeom>
          <a:noFill/>
        </p:spPr>
        <p:txBody>
          <a:bodyPr wrap="square" lIns="0" rIns="0" tIns="0" bIns="0" anchor="ctr">
            <a:spAutoFit/>
          </a:bodyPr>
          <a:lstStyle/>
          <a:p>
            <a:r>
              <a:rPr sz="700" b="1" i="0" spc="120">
                <a:solidFill>
                  <a:srgbClr val="1A1A1A"/>
                </a:solidFill>
                <a:latin typeface="Trenda IG Text"/>
              </a:rPr>
              <a:t>THE RETURN</a:t>
            </a:r>
            <a:r>
              <a:rPr sz="700" b="0" i="0">
                <a:solidFill>
                  <a:srgbClr val="4D4D4D"/>
                </a:solidFill>
                <a:latin typeface="Trenda IG Text"/>
              </a:rPr>
              <a:t>   target · first full year after go-live</a:t>
            </a:r>
          </a:p>
        </p:txBody>
      </p:sp>
      <p:sp>
        <p:nvSpPr>
          <p:cNvPr id="66" name="Shape 64"/>
          <p:cNvSpPr/>
          <p:nvPr/>
        </p:nvSpPr>
        <p:spPr>
          <a:xfrm>
            <a:off x="539496" y="3639312"/>
            <a:ext cx="1796796" cy="149047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5"/>
          <p:cNvSpPr txBox="1"/>
          <p:nvPr/>
        </p:nvSpPr>
        <p:spPr>
          <a:xfrm>
            <a:off x="667512" y="3977639"/>
            <a:ext cx="1577340" cy="457200"/>
          </a:xfrm>
          <a:prstGeom prst="rect">
            <a:avLst/>
          </a:prstGeom>
          <a:noFill/>
        </p:spPr>
        <p:txBody>
          <a:bodyPr wrap="square" lIns="0" rIns="0" tIns="0" bIns="0" anchor="ctr">
            <a:spAutoFit/>
          </a:bodyPr>
          <a:lstStyle/>
          <a:p>
            <a:r>
              <a:rPr sz="2200" b="0" i="0">
                <a:solidFill>
                  <a:srgbClr val="1A1A1A"/>
                </a:solidFill>
                <a:latin typeface="Trenda IG Text"/>
              </a:rPr>
              <a:t>$16M</a:t>
            </a:r>
          </a:p>
        </p:txBody>
      </p:sp>
      <p:sp>
        <p:nvSpPr>
          <p:cNvPr id="68" name="Text 66"/>
          <p:cNvSpPr txBox="1"/>
          <p:nvPr/>
        </p:nvSpPr>
        <p:spPr>
          <a:xfrm>
            <a:off x="667512" y="4453127"/>
            <a:ext cx="1577340" cy="201168"/>
          </a:xfrm>
          <a:prstGeom prst="rect">
            <a:avLst/>
          </a:prstGeom>
          <a:noFill/>
        </p:spPr>
        <p:txBody>
          <a:bodyPr wrap="square" lIns="0" rIns="0" tIns="0" bIns="0" anchor="ctr">
            <a:spAutoFit/>
          </a:bodyPr>
          <a:lstStyle/>
          <a:p>
            <a:r>
              <a:rPr sz="700" b="1" i="0">
                <a:solidFill>
                  <a:srgbClr val="1A1A1A"/>
                </a:solidFill>
                <a:latin typeface="Trenda IG Text"/>
              </a:rPr>
              <a:t>a year today</a:t>
            </a:r>
          </a:p>
        </p:txBody>
      </p:sp>
      <p:sp>
        <p:nvSpPr>
          <p:cNvPr id="69" name="Text 67"/>
          <p:cNvSpPr txBox="1"/>
          <p:nvPr/>
        </p:nvSpPr>
        <p:spPr>
          <a:xfrm>
            <a:off x="667512" y="4654296"/>
            <a:ext cx="1577340" cy="201168"/>
          </a:xfrm>
          <a:prstGeom prst="rect">
            <a:avLst/>
          </a:prstGeom>
          <a:noFill/>
        </p:spPr>
        <p:txBody>
          <a:bodyPr wrap="square" lIns="0" rIns="0" tIns="0" bIns="0" anchor="ctr">
            <a:spAutoFit/>
          </a:bodyPr>
          <a:lstStyle/>
          <a:p>
            <a:r>
              <a:rPr sz="700" b="0" i="0">
                <a:solidFill>
                  <a:srgbClr val="4D4D4D"/>
                </a:solidFill>
                <a:latin typeface="Trenda IG Text"/>
              </a:rPr>
              <a:t>as provided by Ascension</a:t>
            </a:r>
          </a:p>
        </p:txBody>
      </p:sp>
      <p:sp>
        <p:nvSpPr>
          <p:cNvPr id="70" name="Shape 68"/>
          <p:cNvSpPr/>
          <p:nvPr/>
        </p:nvSpPr>
        <p:spPr>
          <a:xfrm>
            <a:off x="2427732" y="3639312"/>
            <a:ext cx="1796796" cy="149047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9"/>
          <p:cNvSpPr txBox="1"/>
          <p:nvPr/>
        </p:nvSpPr>
        <p:spPr>
          <a:xfrm>
            <a:off x="2555748" y="3977639"/>
            <a:ext cx="1577340" cy="457200"/>
          </a:xfrm>
          <a:prstGeom prst="rect">
            <a:avLst/>
          </a:prstGeom>
          <a:noFill/>
        </p:spPr>
        <p:txBody>
          <a:bodyPr wrap="square" lIns="0" rIns="0" tIns="0" bIns="0" anchor="ctr">
            <a:spAutoFit/>
          </a:bodyPr>
          <a:lstStyle/>
          <a:p>
            <a:r>
              <a:rPr sz="2200" b="0" i="0">
                <a:solidFill>
                  <a:srgbClr val="1A1A1A"/>
                </a:solidFill>
                <a:latin typeface="Trenda IG Text"/>
              </a:rPr>
              <a:t>$7M</a:t>
            </a:r>
          </a:p>
        </p:txBody>
      </p:sp>
      <p:sp>
        <p:nvSpPr>
          <p:cNvPr id="72" name="Text 70"/>
          <p:cNvSpPr txBox="1"/>
          <p:nvPr/>
        </p:nvSpPr>
        <p:spPr>
          <a:xfrm>
            <a:off x="2555748" y="4453127"/>
            <a:ext cx="1577340" cy="201168"/>
          </a:xfrm>
          <a:prstGeom prst="rect">
            <a:avLst/>
          </a:prstGeom>
          <a:noFill/>
        </p:spPr>
        <p:txBody>
          <a:bodyPr wrap="square" lIns="0" rIns="0" tIns="0" bIns="0" anchor="ctr">
            <a:spAutoFit/>
          </a:bodyPr>
          <a:lstStyle/>
          <a:p>
            <a:r>
              <a:rPr sz="700" b="1" i="0">
                <a:solidFill>
                  <a:srgbClr val="1A1A1A"/>
                </a:solidFill>
                <a:latin typeface="Trenda IG Text"/>
              </a:rPr>
              <a:t>a year with the harness</a:t>
            </a:r>
          </a:p>
        </p:txBody>
      </p:sp>
      <p:sp>
        <p:nvSpPr>
          <p:cNvPr id="73" name="Text 71"/>
          <p:cNvSpPr txBox="1"/>
          <p:nvPr/>
        </p:nvSpPr>
        <p:spPr>
          <a:xfrm>
            <a:off x="2555748" y="4654296"/>
            <a:ext cx="1577340" cy="201168"/>
          </a:xfrm>
          <a:prstGeom prst="rect">
            <a:avLst/>
          </a:prstGeom>
          <a:noFill/>
        </p:spPr>
        <p:txBody>
          <a:bodyPr wrap="square" lIns="0" rIns="0" tIns="0" bIns="0" anchor="ctr">
            <a:spAutoFit/>
          </a:bodyPr>
          <a:lstStyle/>
          <a:p>
            <a:r>
              <a:rPr sz="700" b="0" i="0">
                <a:solidFill>
                  <a:srgbClr val="4D4D4D"/>
                </a:solidFill>
                <a:latin typeface="Trenda IG Text"/>
              </a:rPr>
              <a:t>agents and run team included</a:t>
            </a:r>
          </a:p>
        </p:txBody>
      </p:sp>
      <p:sp>
        <p:nvSpPr>
          <p:cNvPr id="74" name="Differentiator Border 73"/>
          <p:cNvSpPr/>
          <p:nvPr/>
        </p:nvSpPr>
        <p:spPr>
          <a:xfrm>
            <a:off x="4315968" y="3639312"/>
            <a:ext cx="1796796" cy="149047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Shape 74"/>
          <p:cNvSpPr/>
          <p:nvPr/>
        </p:nvSpPr>
        <p:spPr>
          <a:xfrm>
            <a:off x="4334255" y="3657600"/>
            <a:ext cx="1760220" cy="145389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5"/>
          <p:cNvSpPr txBox="1"/>
          <p:nvPr/>
        </p:nvSpPr>
        <p:spPr>
          <a:xfrm>
            <a:off x="4443983" y="3977639"/>
            <a:ext cx="1577340" cy="457200"/>
          </a:xfrm>
          <a:prstGeom prst="rect">
            <a:avLst/>
          </a:prstGeom>
          <a:noFill/>
        </p:spPr>
        <p:txBody>
          <a:bodyPr wrap="square" lIns="0" rIns="0" tIns="0" bIns="0" anchor="ctr">
            <a:spAutoFit/>
          </a:bodyPr>
          <a:lstStyle/>
          <a:p>
            <a:r>
              <a:rPr sz="2200" b="0" i="0">
                <a:solidFill>
                  <a:srgbClr val="0089A0"/>
                </a:solidFill>
                <a:latin typeface="Trenda IG Text"/>
              </a:rPr>
              <a:t>$9M</a:t>
            </a:r>
          </a:p>
        </p:txBody>
      </p:sp>
      <p:sp>
        <p:nvSpPr>
          <p:cNvPr id="77" name="Text 76"/>
          <p:cNvSpPr txBox="1"/>
          <p:nvPr/>
        </p:nvSpPr>
        <p:spPr>
          <a:xfrm>
            <a:off x="4443983" y="4453127"/>
            <a:ext cx="1577340" cy="201168"/>
          </a:xfrm>
          <a:prstGeom prst="rect">
            <a:avLst/>
          </a:prstGeom>
          <a:noFill/>
        </p:spPr>
        <p:txBody>
          <a:bodyPr wrap="square" lIns="0" rIns="0" tIns="0" bIns="0" anchor="ctr">
            <a:spAutoFit/>
          </a:bodyPr>
          <a:lstStyle/>
          <a:p>
            <a:r>
              <a:rPr sz="700" b="1" i="0">
                <a:solidFill>
                  <a:srgbClr val="1A1A1A"/>
                </a:solidFill>
                <a:latin typeface="Trenda IG Text"/>
              </a:rPr>
              <a:t>saved every year</a:t>
            </a:r>
          </a:p>
        </p:txBody>
      </p:sp>
      <p:sp>
        <p:nvSpPr>
          <p:cNvPr id="78" name="Text 77"/>
          <p:cNvSpPr txBox="1"/>
          <p:nvPr/>
        </p:nvSpPr>
        <p:spPr>
          <a:xfrm>
            <a:off x="4443983" y="4654296"/>
            <a:ext cx="1577340" cy="201168"/>
          </a:xfrm>
          <a:prstGeom prst="rect">
            <a:avLst/>
          </a:prstGeom>
          <a:noFill/>
        </p:spPr>
        <p:txBody>
          <a:bodyPr wrap="square" lIns="0" rIns="0" tIns="0" bIns="0" anchor="ctr">
            <a:spAutoFit/>
          </a:bodyPr>
          <a:lstStyle/>
          <a:p>
            <a:r>
              <a:rPr sz="700" b="0" i="0">
                <a:solidFill>
                  <a:srgbClr val="4D4D4D"/>
                </a:solidFill>
                <a:latin typeface="Trenda IG Text"/>
              </a:rPr>
              <a:t>from go-live</a:t>
            </a:r>
          </a:p>
        </p:txBody>
      </p:sp>
      <p:sp>
        <p:nvSpPr>
          <p:cNvPr id="79" name="Shape 78"/>
          <p:cNvSpPr/>
          <p:nvPr/>
        </p:nvSpPr>
        <p:spPr>
          <a:xfrm>
            <a:off x="6204204" y="3639312"/>
            <a:ext cx="1796796" cy="1490472"/>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 79"/>
          <p:cNvSpPr txBox="1"/>
          <p:nvPr/>
        </p:nvSpPr>
        <p:spPr>
          <a:xfrm>
            <a:off x="6332220" y="3977639"/>
            <a:ext cx="1577340" cy="457200"/>
          </a:xfrm>
          <a:prstGeom prst="rect">
            <a:avLst/>
          </a:prstGeom>
          <a:noFill/>
        </p:spPr>
        <p:txBody>
          <a:bodyPr wrap="square" lIns="0" rIns="0" tIns="0" bIns="0" anchor="ctr">
            <a:spAutoFit/>
          </a:bodyPr>
          <a:lstStyle/>
          <a:p>
            <a:r>
              <a:rPr sz="2200" b="0" i="0">
                <a:solidFill>
                  <a:srgbClr val="1A1A1A"/>
                </a:solidFill>
                <a:latin typeface="Trenda IG Text"/>
              </a:rPr>
              <a:t>$5.0M</a:t>
            </a:r>
          </a:p>
        </p:txBody>
      </p:sp>
      <p:sp>
        <p:nvSpPr>
          <p:cNvPr id="81" name="Text 80"/>
          <p:cNvSpPr txBox="1"/>
          <p:nvPr/>
        </p:nvSpPr>
        <p:spPr>
          <a:xfrm>
            <a:off x="6332220" y="4453127"/>
            <a:ext cx="1577340" cy="201168"/>
          </a:xfrm>
          <a:prstGeom prst="rect">
            <a:avLst/>
          </a:prstGeom>
          <a:noFill/>
        </p:spPr>
        <p:txBody>
          <a:bodyPr wrap="square" lIns="0" rIns="0" tIns="0" bIns="0" anchor="ctr">
            <a:spAutoFit/>
          </a:bodyPr>
          <a:lstStyle/>
          <a:p>
            <a:r>
              <a:rPr sz="700" b="1" i="0">
                <a:solidFill>
                  <a:srgbClr val="1A1A1A"/>
                </a:solidFill>
                <a:latin typeface="Trenda IG Text"/>
              </a:rPr>
              <a:t>invested once</a:t>
            </a:r>
          </a:p>
        </p:txBody>
      </p:sp>
      <p:sp>
        <p:nvSpPr>
          <p:cNvPr id="82" name="Text 81"/>
          <p:cNvSpPr txBox="1"/>
          <p:nvPr/>
        </p:nvSpPr>
        <p:spPr>
          <a:xfrm>
            <a:off x="6332220" y="4654296"/>
            <a:ext cx="1577340" cy="201168"/>
          </a:xfrm>
          <a:prstGeom prst="rect">
            <a:avLst/>
          </a:prstGeom>
          <a:noFill/>
        </p:spPr>
        <p:txBody>
          <a:bodyPr wrap="square" lIns="0" rIns="0" tIns="0" bIns="0" anchor="ctr">
            <a:spAutoFit/>
          </a:bodyPr>
          <a:lstStyle/>
          <a:p>
            <a:r>
              <a:rPr sz="700" b="0" i="0">
                <a:solidFill>
                  <a:srgbClr val="4D4D4D"/>
                </a:solidFill>
                <a:latin typeface="Trenda IG Text"/>
              </a:rPr>
              <a:t>$4.79M build + $0.23M usage</a:t>
            </a:r>
          </a:p>
        </p:txBody>
      </p:sp>
      <p:sp>
        <p:nvSpPr>
          <p:cNvPr id="83" name="Shape 82"/>
          <p:cNvSpPr/>
          <p:nvPr/>
        </p:nvSpPr>
        <p:spPr>
          <a:xfrm>
            <a:off x="8220456" y="3639312"/>
            <a:ext cx="3429000" cy="69951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Shape 83"/>
          <p:cNvSpPr/>
          <p:nvPr/>
        </p:nvSpPr>
        <p:spPr>
          <a:xfrm>
            <a:off x="8220456" y="3639312"/>
            <a:ext cx="45720" cy="699515"/>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4"/>
          <p:cNvSpPr txBox="1"/>
          <p:nvPr/>
        </p:nvSpPr>
        <p:spPr>
          <a:xfrm>
            <a:off x="8385048" y="3639312"/>
            <a:ext cx="3191256" cy="699515"/>
          </a:xfrm>
          <a:prstGeom prst="rect">
            <a:avLst/>
          </a:prstGeom>
          <a:noFill/>
        </p:spPr>
        <p:txBody>
          <a:bodyPr wrap="square" lIns="0" rIns="0" tIns="0" bIns="0" anchor="ctr">
            <a:spAutoFit/>
          </a:bodyPr>
          <a:lstStyle/>
          <a:p>
            <a:pPr>
              <a:spcAft>
                <a:spcPts val="200"/>
              </a:spcAft>
            </a:pPr>
            <a:r>
              <a:rPr sz="800" b="1" i="0">
                <a:solidFill>
                  <a:srgbClr val="0089A0"/>
                </a:solidFill>
                <a:latin typeface="Trenda IG Text"/>
              </a:rPr>
              <a:t>Paid back in under 7 months</a:t>
            </a:r>
          </a:p>
          <a:p>
            <a:pPr>
              <a:spcAft>
                <a:spcPts val="200"/>
              </a:spcAft>
            </a:pPr>
            <a:r>
              <a:rPr sz="700" b="0" i="0">
                <a:solidFill>
                  <a:srgbClr val="4D4D4D"/>
                </a:solidFill>
                <a:latin typeface="Trenda IG Text"/>
              </a:rPr>
              <a:t>80% first-year return; 1.8x the investment back in year one</a:t>
            </a:r>
          </a:p>
        </p:txBody>
      </p:sp>
      <p:sp>
        <p:nvSpPr>
          <p:cNvPr id="86" name="Shape 85"/>
          <p:cNvSpPr/>
          <p:nvPr/>
        </p:nvSpPr>
        <p:spPr>
          <a:xfrm>
            <a:off x="8220456" y="4430268"/>
            <a:ext cx="3429000" cy="699515"/>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hape 86"/>
          <p:cNvSpPr/>
          <p:nvPr/>
        </p:nvSpPr>
        <p:spPr>
          <a:xfrm>
            <a:off x="8220456" y="4430268"/>
            <a:ext cx="45720" cy="699515"/>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7"/>
          <p:cNvSpPr txBox="1"/>
          <p:nvPr/>
        </p:nvSpPr>
        <p:spPr>
          <a:xfrm>
            <a:off x="8385048" y="4430268"/>
            <a:ext cx="3191256" cy="699515"/>
          </a:xfrm>
          <a:prstGeom prst="rect">
            <a:avLst/>
          </a:prstGeom>
          <a:noFill/>
        </p:spPr>
        <p:txBody>
          <a:bodyPr wrap="square" lIns="0" rIns="0" tIns="0" bIns="0" anchor="ctr">
            <a:spAutoFit/>
          </a:bodyPr>
          <a:lstStyle/>
          <a:p>
            <a:pPr>
              <a:spcAft>
                <a:spcPts val="200"/>
              </a:spcAft>
            </a:pPr>
            <a:r>
              <a:rPr sz="800" b="1" i="0">
                <a:solidFill>
                  <a:srgbClr val="8A6D00"/>
                </a:solidFill>
                <a:latin typeface="Trenda IG Text"/>
              </a:rPr>
              <a:t>Floor we commit to</a:t>
            </a:r>
          </a:p>
          <a:p>
            <a:pPr>
              <a:spcAft>
                <a:spcPts val="200"/>
              </a:spcAft>
            </a:pPr>
            <a:r>
              <a:rPr sz="700" b="0" i="0">
                <a:solidFill>
                  <a:srgbClr val="4D4D4D"/>
                </a:solidFill>
                <a:latin typeface="Trenda IG Text"/>
              </a:rPr>
              <a:t>20-25% lower net run cost per pod, against its own baseline</a:t>
            </a:r>
          </a:p>
        </p:txBody>
      </p:sp>
      <p:sp>
        <p:nvSpPr>
          <p:cNvPr id="89" name="Text 88"/>
          <p:cNvSpPr txBox="1"/>
          <p:nvPr/>
        </p:nvSpPr>
        <p:spPr>
          <a:xfrm>
            <a:off x="411480" y="5394960"/>
            <a:ext cx="1188720" cy="640080"/>
          </a:xfrm>
          <a:prstGeom prst="rect">
            <a:avLst/>
          </a:prstGeom>
          <a:noFill/>
        </p:spPr>
        <p:txBody>
          <a:bodyPr wrap="square" lIns="0" rIns="0" tIns="0" bIns="0" anchor="ctr">
            <a:spAutoFit/>
          </a:bodyPr>
          <a:lstStyle/>
          <a:p>
            <a:pPr>
              <a:spcAft>
                <a:spcPts val="100"/>
              </a:spcAft>
            </a:pPr>
            <a:r>
              <a:rPr sz="700" b="1" i="0" spc="120">
                <a:solidFill>
                  <a:srgbClr val="1A1A1A"/>
                </a:solidFill>
                <a:latin typeface="Trenda IG Text"/>
              </a:rPr>
              <a:t>KEEP IT HONEST</a:t>
            </a:r>
          </a:p>
          <a:p>
            <a:pPr>
              <a:spcAft>
                <a:spcPts val="100"/>
              </a:spcAft>
            </a:pPr>
            <a:r>
              <a:rPr sz="700" b="0" i="0">
                <a:solidFill>
                  <a:srgbClr val="6B6B6B"/>
                </a:solidFill>
                <a:latin typeface="Trenda IG Text"/>
              </a:rPr>
              <a:t>how the numbers hold</a:t>
            </a:r>
          </a:p>
        </p:txBody>
      </p:sp>
      <p:sp>
        <p:nvSpPr>
          <p:cNvPr id="90" name="Shape 89"/>
          <p:cNvSpPr/>
          <p:nvPr/>
        </p:nvSpPr>
        <p:spPr>
          <a:xfrm>
            <a:off x="1645920" y="5394960"/>
            <a:ext cx="2464308" cy="640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Shape 90"/>
          <p:cNvSpPr/>
          <p:nvPr/>
        </p:nvSpPr>
        <p:spPr>
          <a:xfrm>
            <a:off x="1645920" y="5394960"/>
            <a:ext cx="36576" cy="64008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91"/>
          <p:cNvSpPr txBox="1"/>
          <p:nvPr/>
        </p:nvSpPr>
        <p:spPr>
          <a:xfrm>
            <a:off x="1773936" y="5394960"/>
            <a:ext cx="2281427" cy="640080"/>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Baseline every pod first</a:t>
            </a:r>
          </a:p>
          <a:p>
            <a:pPr>
              <a:spcAft>
                <a:spcPts val="100"/>
              </a:spcAft>
            </a:pPr>
            <a:r>
              <a:rPr sz="700" b="0" i="0">
                <a:solidFill>
                  <a:srgbClr val="4D4D4D"/>
                </a:solidFill>
                <a:latin typeface="Trenda IG Text"/>
              </a:rPr>
              <a:t>savings counted against each pod's own numbers</a:t>
            </a:r>
          </a:p>
        </p:txBody>
      </p:sp>
      <p:sp>
        <p:nvSpPr>
          <p:cNvPr id="93" name="Shape 92"/>
          <p:cNvSpPr/>
          <p:nvPr/>
        </p:nvSpPr>
        <p:spPr>
          <a:xfrm>
            <a:off x="4201668" y="5394960"/>
            <a:ext cx="2464308" cy="640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Shape 93"/>
          <p:cNvSpPr/>
          <p:nvPr/>
        </p:nvSpPr>
        <p:spPr>
          <a:xfrm>
            <a:off x="4201668" y="5394960"/>
            <a:ext cx="36576" cy="64008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94"/>
          <p:cNvSpPr txBox="1"/>
          <p:nvPr/>
        </p:nvSpPr>
        <p:spPr>
          <a:xfrm>
            <a:off x="4329683" y="5394960"/>
            <a:ext cx="2281427" cy="640080"/>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Year 1 at 60-70%</a:t>
            </a:r>
          </a:p>
          <a:p>
            <a:pPr>
              <a:spcAft>
                <a:spcPts val="100"/>
              </a:spcAft>
            </a:pPr>
            <a:r>
              <a:rPr sz="700" b="0" i="0">
                <a:solidFill>
                  <a:srgbClr val="4D4D4D"/>
                </a:solidFill>
                <a:latin typeface="Trenda IG Text"/>
              </a:rPr>
              <a:t>of steady state while pods onboard</a:t>
            </a:r>
          </a:p>
        </p:txBody>
      </p:sp>
      <p:sp>
        <p:nvSpPr>
          <p:cNvPr id="96" name="Shape 95"/>
          <p:cNvSpPr/>
          <p:nvPr/>
        </p:nvSpPr>
        <p:spPr>
          <a:xfrm>
            <a:off x="6757416" y="5394960"/>
            <a:ext cx="2464308" cy="640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Shape 96"/>
          <p:cNvSpPr/>
          <p:nvPr/>
        </p:nvSpPr>
        <p:spPr>
          <a:xfrm>
            <a:off x="6757416" y="5394960"/>
            <a:ext cx="36576" cy="64008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 97"/>
          <p:cNvSpPr txBox="1"/>
          <p:nvPr/>
        </p:nvSpPr>
        <p:spPr>
          <a:xfrm>
            <a:off x="6885431" y="5394960"/>
            <a:ext cx="2281427" cy="640080"/>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Approvals stay human</a:t>
            </a:r>
          </a:p>
          <a:p>
            <a:pPr>
              <a:spcAft>
                <a:spcPts val="100"/>
              </a:spcAft>
            </a:pPr>
            <a:r>
              <a:rPr sz="700" b="0" i="0">
                <a:solidFill>
                  <a:srgbClr val="4D4D4D"/>
                </a:solidFill>
                <a:latin typeface="Trenda IG Text"/>
              </a:rPr>
              <a:t>UAT and CAB take the same time</a:t>
            </a:r>
          </a:p>
        </p:txBody>
      </p:sp>
      <p:sp>
        <p:nvSpPr>
          <p:cNvPr id="99" name="Shape 98"/>
          <p:cNvSpPr/>
          <p:nvPr/>
        </p:nvSpPr>
        <p:spPr>
          <a:xfrm>
            <a:off x="9313164" y="5394960"/>
            <a:ext cx="2464308" cy="6400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Shape 99"/>
          <p:cNvSpPr/>
          <p:nvPr/>
        </p:nvSpPr>
        <p:spPr>
          <a:xfrm>
            <a:off x="9313164" y="5394960"/>
            <a:ext cx="36576" cy="64008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 100"/>
          <p:cNvSpPr txBox="1"/>
          <p:nvPr/>
        </p:nvSpPr>
        <p:spPr>
          <a:xfrm>
            <a:off x="9441180" y="5394960"/>
            <a:ext cx="2281427" cy="640080"/>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Delivery only</a:t>
            </a:r>
          </a:p>
          <a:p>
            <a:pPr>
              <a:spcAft>
                <a:spcPts val="100"/>
              </a:spcAft>
            </a:pPr>
            <a:r>
              <a:rPr sz="700" b="0" i="0">
                <a:solidFill>
                  <a:srgbClr val="4D4D4D"/>
                </a:solidFill>
                <a:latin typeface="Trenda IG Text"/>
              </a:rPr>
              <a:t>campaign data platform and Sierra sized after Phase 0</a:t>
            </a:r>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21450</Words>
  <Application>Microsoft Office PowerPoint</Application>
  <PresentationFormat>Widescreen</PresentationFormat>
  <Paragraphs>2663</Paragraphs>
  <Slides>36</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Courier New</vt:lpstr>
      <vt:lpstr>Trenda IG Text</vt:lpstr>
      <vt:lpstr>Trenda IG Text Light</vt:lpstr>
      <vt:lpstr>Trenda IG Text Semibold</vt:lpstr>
      <vt:lpstr>Office Theme</vt:lpstr>
      <vt:lpstr>1_Office Theme</vt:lpstr>
      <vt:lpstr>Ascension AGENTIC HARNESS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1</cp:revision>
  <dcterms:created xsi:type="dcterms:W3CDTF">2026-09-09T12:37:24Z</dcterms:created>
  <dcterms:modified xsi:type="dcterms:W3CDTF">2026-10-14T07:17:18Z</dcterms:modified>
</cp:coreProperties>
</file>