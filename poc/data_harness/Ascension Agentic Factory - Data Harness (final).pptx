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 id="2147483655" r:id="rId3"/>
  </p:sldMasterIdLst>
  <p:notesMasterIdLst>
    <p:notesMasterId r:id="rId22"/>
  </p:notesMasterIdLst>
  <p:sldIdLst>
    <p:sldId id="318" r:id="rId4"/>
    <p:sldId id="319" r:id="rId5"/>
    <p:sldId id="320" r:id="rId6"/>
    <p:sldId id="321" r:id="rId7"/>
    <p:sldId id="322" r:id="rId8"/>
    <p:sldId id="323" r:id="rId9"/>
    <p:sldId id="335" r:id="rId10"/>
    <p:sldId id="331" r:id="rId11"/>
    <p:sldId id="336" r:id="rId29"/>
    <p:sldId id="337" r:id="rId30"/>
    <p:sldId id="327" r:id="rId14"/>
    <p:sldId id="324" r:id="rId15"/>
    <p:sldId id="326" r:id="rId16"/>
    <p:sldId id="328" r:id="rId17"/>
    <p:sldId id="329" r:id="rId18"/>
    <p:sldId id="334" r:id="rId19"/>
    <p:sldId id="330" r:id="rId20"/>
    <p:sldId id="291"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3DC"/>
    <a:srgbClr val="CD7F32"/>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FF5ECF-6212-48FA-A576-81C1669281C4}" v="12" dt="2026-10-27T10:23:04.5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290" autoAdjust="0"/>
  </p:normalViewPr>
  <p:slideViewPr>
    <p:cSldViewPr snapToGrid="0">
      <p:cViewPr varScale="1">
        <p:scale>
          <a:sx n="147" d="100"/>
          <a:sy n="147" d="100"/>
        </p:scale>
        <p:origin x="96" y="4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9.xml"/><Relationship Id="rId30"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27T10:23:34.288" v="409" actId="47"/>
      <pc:docMkLst>
        <pc:docMk/>
      </pc:docMkLst>
      <pc:sldChg chg="add del setBg">
        <pc:chgData name="Surya Chinta" userId="41ee6f01-053e-4268-a09b-364f54be2fbe" providerId="ADAL" clId="{E5143D04-8900-4457-BE49-945FECC57414}" dt="2026-10-23T12:57:17.610" v="370"/>
        <pc:sldMkLst>
          <pc:docMk/>
          <pc:sldMk cId="0" sldId="291"/>
        </pc:sldMkLst>
      </pc:sldChg>
      <pc:sldChg chg="modSp mod modNotesTx">
        <pc:chgData name="Surya Chinta" userId="41ee6f01-053e-4268-a09b-364f54be2fbe" providerId="ADAL" clId="{E5143D04-8900-4457-BE49-945FECC57414}" dt="2026-10-22T09:42:38.027" v="320" actId="20577"/>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modNotesTx">
        <pc:chgData name="Surya Chinta" userId="41ee6f01-053e-4268-a09b-364f54be2fbe" providerId="ADAL" clId="{E5143D04-8900-4457-BE49-945FECC57414}" dt="2026-10-22T09:42:41.562" v="321" actId="6549"/>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modNotesTx">
        <pc:chgData name="Surya Chinta" userId="41ee6f01-053e-4268-a09b-364f54be2fbe" providerId="ADAL" clId="{E5143D04-8900-4457-BE49-945FECC57414}" dt="2026-10-22T09:42:44.047" v="322" actId="6549"/>
        <pc:sldMkLst>
          <pc:docMk/>
          <pc:sldMk cId="0" sldId="320"/>
        </pc:sldMkLst>
      </pc:sldChg>
      <pc:sldChg chg="add ord setBg modNotesTx">
        <pc:chgData name="Surya Chinta" userId="41ee6f01-053e-4268-a09b-364f54be2fbe" providerId="ADAL" clId="{E5143D04-8900-4457-BE49-945FECC57414}" dt="2026-10-22T09:42:46.366" v="323" actId="6549"/>
        <pc:sldMkLst>
          <pc:docMk/>
          <pc:sldMk cId="0" sldId="321"/>
        </pc:sldMkLst>
      </pc:sldChg>
      <pc:sldChg chg="add ord setBg modNotesTx">
        <pc:chgData name="Surya Chinta" userId="41ee6f01-053e-4268-a09b-364f54be2fbe" providerId="ADAL" clId="{E5143D04-8900-4457-BE49-945FECC57414}" dt="2026-10-22T09:42:49.288" v="324" actId="6549"/>
        <pc:sldMkLst>
          <pc:docMk/>
          <pc:sldMk cId="0" sldId="322"/>
        </pc:sldMkLst>
      </pc:sldChg>
      <pc:sldChg chg="addSp delSp modSp mod modNotes modNotesTx">
        <pc:chgData name="Surya Chinta" userId="41ee6f01-053e-4268-a09b-364f54be2fbe" providerId="ADAL" clId="{E5143D04-8900-4457-BE49-945FECC57414}" dt="2026-10-22T09:42:53.137" v="325" actId="6549"/>
        <pc:sldMkLst>
          <pc:docMk/>
          <pc:sldMk cId="0" sldId="323"/>
        </pc:sldMkLst>
      </pc:sldChg>
      <pc:sldChg chg="modSp mod modNotes modNotesTx">
        <pc:chgData name="Surya Chinta" userId="41ee6f01-053e-4268-a09b-364f54be2fbe" providerId="ADAL" clId="{E5143D04-8900-4457-BE49-945FECC57414}" dt="2026-10-22T09:43:12.438" v="327" actId="6549"/>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del mod modNotes modNotesTx">
        <pc:chgData name="Surya Chinta" userId="41ee6f01-053e-4268-a09b-364f54be2fbe" providerId="ADAL" clId="{E5143D04-8900-4457-BE49-945FECC57414}" dt="2026-10-27T10:23:34.288" v="409" actId="47"/>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22T09:55:25.132" v="341" actId="207"/>
          <ac:spMkLst>
            <pc:docMk/>
            <pc:sldMk cId="0" sldId="325"/>
            <ac:spMk id="6" creationId="{00000000-0000-0000-0000-000000000000}"/>
          </ac:spMkLst>
        </pc:spChg>
        <pc:spChg chg="mod">
          <ac:chgData name="Surya Chinta" userId="41ee6f01-053e-4268-a09b-364f54be2fbe" providerId="ADAL" clId="{E5143D04-8900-4457-BE49-945FECC57414}" dt="2026-10-22T09:54:56.327" v="334" actId="208"/>
          <ac:spMkLst>
            <pc:docMk/>
            <pc:sldMk cId="0" sldId="325"/>
            <ac:spMk id="8" creationId="{00000000-0000-0000-0000-000000000000}"/>
          </ac:spMkLst>
        </pc:spChg>
        <pc:spChg chg="mod">
          <ac:chgData name="Surya Chinta" userId="41ee6f01-053e-4268-a09b-364f54be2fbe" providerId="ADAL" clId="{E5143D04-8900-4457-BE49-945FECC57414}" dt="2026-10-22T15:55:56.589" v="354" actId="208"/>
          <ac:spMkLst>
            <pc:docMk/>
            <pc:sldMk cId="0" sldId="325"/>
            <ac:spMk id="16" creationId="{00000000-0000-0000-0000-000000000000}"/>
          </ac:spMkLst>
        </pc:spChg>
        <pc:spChg chg="mod">
          <ac:chgData name="Surya Chinta" userId="41ee6f01-053e-4268-a09b-364f54be2fbe" providerId="ADAL" clId="{E5143D04-8900-4457-BE49-945FECC57414}" dt="2026-10-22T15:56:36.508" v="359" actId="207"/>
          <ac:spMkLst>
            <pc:docMk/>
            <pc:sldMk cId="0" sldId="325"/>
            <ac:spMk id="17" creationId="{00000000-0000-0000-0000-000000000000}"/>
          </ac:spMkLst>
        </pc:spChg>
        <pc:spChg chg="mod">
          <ac:chgData name="Surya Chinta" userId="41ee6f01-053e-4268-a09b-364f54be2fbe" providerId="ADAL" clId="{E5143D04-8900-4457-BE49-945FECC57414}" dt="2026-10-22T15:56:25.258" v="358" actId="108"/>
          <ac:spMkLst>
            <pc:docMk/>
            <pc:sldMk cId="0" sldId="325"/>
            <ac:spMk id="18" creationId="{00000000-0000-0000-0000-000000000000}"/>
          </ac:spMkLst>
        </pc:spChg>
        <pc:spChg chg="mod">
          <ac:chgData name="Surya Chinta" userId="41ee6f01-053e-4268-a09b-364f54be2fbe" providerId="ADAL" clId="{E5143D04-8900-4457-BE49-945FECC57414}" dt="2026-10-22T15:55:31.944" v="349"/>
          <ac:spMkLst>
            <pc:docMk/>
            <pc:sldMk cId="0" sldId="325"/>
            <ac:spMk id="19" creationId="{00000000-0000-0000-0000-000000000000}"/>
          </ac:spMkLst>
        </pc:spChg>
        <pc:spChg chg="mod">
          <ac:chgData name="Surya Chinta" userId="41ee6f01-053e-4268-a09b-364f54be2fbe" providerId="ADAL" clId="{E5143D04-8900-4457-BE49-945FECC57414}" dt="2026-10-22T15:55:42.743" v="353"/>
          <ac:spMkLst>
            <pc:docMk/>
            <pc:sldMk cId="0" sldId="325"/>
            <ac:spMk id="20" creationId="{00000000-0000-0000-0000-000000000000}"/>
          </ac:spMkLst>
        </pc:spChg>
        <pc:spChg chg="mod">
          <ac:chgData name="Surya Chinta" userId="41ee6f01-053e-4268-a09b-364f54be2fbe" providerId="ADAL" clId="{E5143D04-8900-4457-BE49-945FECC57414}" dt="2026-10-22T15:56:48.478" v="363" actId="108"/>
          <ac:spMkLst>
            <pc:docMk/>
            <pc:sldMk cId="0" sldId="325"/>
            <ac:spMk id="22" creationId="{00000000-0000-0000-0000-000000000000}"/>
          </ac:spMkLst>
        </pc:spChg>
        <pc:spChg chg="mod">
          <ac:chgData name="Surya Chinta" userId="41ee6f01-053e-4268-a09b-364f54be2fbe" providerId="ADAL" clId="{E5143D04-8900-4457-BE49-945FECC57414}" dt="2026-10-22T15:57:04.223" v="367" actId="207"/>
          <ac:spMkLst>
            <pc:docMk/>
            <pc:sldMk cId="0" sldId="325"/>
            <ac:spMk id="23" creationId="{00000000-0000-0000-0000-000000000000}"/>
          </ac:spMkLst>
        </pc:spChg>
        <pc:spChg chg="mod">
          <ac:chgData name="Surya Chinta" userId="41ee6f01-053e-4268-a09b-364f54be2fbe" providerId="ADAL" clId="{E5143D04-8900-4457-BE49-945FECC57414}" dt="2026-10-22T15:56:59.470" v="366" actId="207"/>
          <ac:spMkLst>
            <pc:docMk/>
            <pc:sldMk cId="0" sldId="325"/>
            <ac:spMk id="24" creationId="{00000000-0000-0000-0000-000000000000}"/>
          </ac:spMkLst>
        </pc:spChg>
        <pc:spChg chg="mod">
          <ac:chgData name="Surya Chinta" userId="41ee6f01-053e-4268-a09b-364f54be2fbe" providerId="ADAL" clId="{E5143D04-8900-4457-BE49-945FECC57414}" dt="2026-10-22T15:55:30.244" v="348" actId="21"/>
          <ac:spMkLst>
            <pc:docMk/>
            <pc:sldMk cId="0" sldId="325"/>
            <ac:spMk id="25" creationId="{00000000-0000-0000-0000-000000000000}"/>
          </ac:spMkLst>
        </pc:spChg>
        <pc:spChg chg="mod">
          <ac:chgData name="Surya Chinta" userId="41ee6f01-053e-4268-a09b-364f54be2fbe" providerId="ADAL" clId="{E5143D04-8900-4457-BE49-945FECC57414}" dt="2026-10-22T15:55:39.574" v="352" actId="21"/>
          <ac:spMkLst>
            <pc:docMk/>
            <pc:sldMk cId="0" sldId="325"/>
            <ac:spMk id="26" creationId="{00000000-0000-0000-0000-000000000000}"/>
          </ac:spMkLst>
        </pc:spChg>
        <pc:spChg chg="mod">
          <ac:chgData name="Surya Chinta" userId="41ee6f01-053e-4268-a09b-364f54be2fbe" providerId="ADAL" clId="{E5143D04-8900-4457-BE49-945FECC57414}" dt="2026-10-22T09:56:56.307" v="344" actId="207"/>
          <ac:spMkLst>
            <pc:docMk/>
            <pc:sldMk cId="0" sldId="325"/>
            <ac:spMk id="50"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ord modNotesTx">
        <pc:chgData name="Surya Chinta" userId="41ee6f01-053e-4268-a09b-364f54be2fbe" providerId="ADAL" clId="{E5143D04-8900-4457-BE49-945FECC57414}" dt="2026-10-27T10:21:10.579" v="382"/>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sldChg>
      <pc:sldChg chg="modSp add ord setBg modNotes modNotesTx">
        <pc:chgData name="Surya Chinta" userId="41ee6f01-053e-4268-a09b-364f54be2fbe" providerId="ADAL" clId="{E5143D04-8900-4457-BE49-945FECC57414}" dt="2026-10-22T09:43:09.667" v="326" actId="6549"/>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22T09:43:17.619" v="329" actId="6549"/>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22T09:43:15.673" v="328" actId="6549"/>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sldChg>
      <pc:sldChg chg="delSp modSp mod modNotes modNotesTx">
        <pc:chgData name="Surya Chinta" userId="41ee6f01-053e-4268-a09b-364f54be2fbe" providerId="ADAL" clId="{E5143D04-8900-4457-BE49-945FECC57414}" dt="2026-10-22T09:43:21.887" v="330" actId="6549"/>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add del setBg">
        <pc:chgData name="Surya Chinta" userId="41ee6f01-053e-4268-a09b-364f54be2fbe" providerId="ADAL" clId="{E5143D04-8900-4457-BE49-945FECC57414}" dt="2026-10-27T10:19:17.098" v="372"/>
        <pc:sldMkLst>
          <pc:docMk/>
          <pc:sldMk cId="474392296" sldId="331"/>
        </pc:sldMkLst>
      </pc:sldChg>
      <pc:sldChg chg="add">
        <pc:chgData name="Surya Chinta" userId="41ee6f01-053e-4268-a09b-364f54be2fbe" providerId="ADAL" clId="{E5143D04-8900-4457-BE49-945FECC57414}" dt="2026-10-27T10:19:22.721" v="373"/>
        <pc:sldMkLst>
          <pc:docMk/>
          <pc:sldMk cId="555910334" sldId="331"/>
        </pc:sldMkLst>
      </pc:sldChg>
      <pc:sldChg chg="add">
        <pc:chgData name="Surya Chinta" userId="41ee6f01-053e-4268-a09b-364f54be2fbe" providerId="ADAL" clId="{E5143D04-8900-4457-BE49-945FECC57414}" dt="2026-10-27T10:19:26.558" v="374"/>
        <pc:sldMkLst>
          <pc:docMk/>
          <pc:sldMk cId="1501926386" sldId="332"/>
        </pc:sldMkLst>
      </pc:sldChg>
      <pc:sldChg chg="add">
        <pc:chgData name="Surya Chinta" userId="41ee6f01-053e-4268-a09b-364f54be2fbe" providerId="ADAL" clId="{E5143D04-8900-4457-BE49-945FECC57414}" dt="2026-10-27T10:19:30.729" v="375"/>
        <pc:sldMkLst>
          <pc:docMk/>
          <pc:sldMk cId="3035125408" sldId="333"/>
        </pc:sldMkLst>
      </pc:sldChg>
      <pc:sldChg chg="add">
        <pc:chgData name="Surya Chinta" userId="41ee6f01-053e-4268-a09b-364f54be2fbe" providerId="ADAL" clId="{E5143D04-8900-4457-BE49-945FECC57414}" dt="2026-10-27T10:20:50.868" v="380"/>
        <pc:sldMkLst>
          <pc:docMk/>
          <pc:sldMk cId="2518166261" sldId="334"/>
        </pc:sldMkLst>
      </pc:sldChg>
      <pc:sldChg chg="addSp modSp add mod">
        <pc:chgData name="Surya Chinta" userId="41ee6f01-053e-4268-a09b-364f54be2fbe" providerId="ADAL" clId="{E5143D04-8900-4457-BE49-945FECC57414}" dt="2026-10-27T10:23:27.336" v="408" actId="208"/>
        <pc:sldMkLst>
          <pc:docMk/>
          <pc:sldMk cId="2487507549" sldId="335"/>
        </pc:sldMkLst>
        <pc:spChg chg="mod">
          <ac:chgData name="Surya Chinta" userId="41ee6f01-053e-4268-a09b-364f54be2fbe" providerId="ADAL" clId="{E5143D04-8900-4457-BE49-945FECC57414}" dt="2026-10-27T10:22:19.877" v="387" actId="208"/>
          <ac:spMkLst>
            <pc:docMk/>
            <pc:sldMk cId="2487507549" sldId="335"/>
            <ac:spMk id="5" creationId="{00000000-0000-0000-0000-000000000000}"/>
          </ac:spMkLst>
        </pc:spChg>
        <pc:spChg chg="mod">
          <ac:chgData name="Surya Chinta" userId="41ee6f01-053e-4268-a09b-364f54be2fbe" providerId="ADAL" clId="{E5143D04-8900-4457-BE49-945FECC57414}" dt="2026-10-27T10:22:16.063" v="386" actId="207"/>
          <ac:spMkLst>
            <pc:docMk/>
            <pc:sldMk cId="2487507549" sldId="335"/>
            <ac:spMk id="6" creationId="{00000000-0000-0000-0000-000000000000}"/>
          </ac:spMkLst>
        </pc:spChg>
        <pc:spChg chg="mod">
          <ac:chgData name="Surya Chinta" userId="41ee6f01-053e-4268-a09b-364f54be2fbe" providerId="ADAL" clId="{E5143D04-8900-4457-BE49-945FECC57414}" dt="2026-10-27T10:22:07.192" v="384" actId="108"/>
          <ac:spMkLst>
            <pc:docMk/>
            <pc:sldMk cId="2487507549" sldId="335"/>
            <ac:spMk id="8" creationId="{00000000-0000-0000-0000-000000000000}"/>
          </ac:spMkLst>
        </pc:spChg>
        <pc:spChg chg="mod">
          <ac:chgData name="Surya Chinta" userId="41ee6f01-053e-4268-a09b-364f54be2fbe" providerId="ADAL" clId="{E5143D04-8900-4457-BE49-945FECC57414}" dt="2026-10-27T10:23:27.336" v="408" actId="208"/>
          <ac:spMkLst>
            <pc:docMk/>
            <pc:sldMk cId="2487507549" sldId="335"/>
            <ac:spMk id="49" creationId="{00000000-0000-0000-0000-000000000000}"/>
          </ac:spMkLst>
        </pc:spChg>
        <pc:spChg chg="mod">
          <ac:chgData name="Surya Chinta" userId="41ee6f01-053e-4268-a09b-364f54be2fbe" providerId="ADAL" clId="{E5143D04-8900-4457-BE49-945FECC57414}" dt="2026-10-27T10:23:21.602" v="407" actId="208"/>
          <ac:spMkLst>
            <pc:docMk/>
            <pc:sldMk cId="2487507549" sldId="335"/>
            <ac:spMk id="50" creationId="{00000000-0000-0000-0000-000000000000}"/>
          </ac:spMkLst>
        </pc:spChg>
        <pc:spChg chg="mod">
          <ac:chgData name="Surya Chinta" userId="41ee6f01-053e-4268-a09b-364f54be2fbe" providerId="ADAL" clId="{E5143D04-8900-4457-BE49-945FECC57414}" dt="2026-10-27T10:23:07.061" v="401" actId="207"/>
          <ac:spMkLst>
            <pc:docMk/>
            <pc:sldMk cId="2487507549" sldId="335"/>
            <ac:spMk id="52" creationId="{00000000-0000-0000-0000-000000000000}"/>
          </ac:spMkLst>
        </pc:spChg>
        <pc:spChg chg="add mod">
          <ac:chgData name="Surya Chinta" userId="41ee6f01-053e-4268-a09b-364f54be2fbe" providerId="ADAL" clId="{E5143D04-8900-4457-BE49-945FECC57414}" dt="2026-10-27T10:23:04.566" v="397" actId="571"/>
          <ac:spMkLst>
            <pc:docMk/>
            <pc:sldMk cId="2487507549" sldId="335"/>
            <ac:spMk id="221" creationId="{98EC8605-2E45-47CA-0066-76DA006F3D11}"/>
          </ac:spMkLst>
        </pc:spChg>
        <pc:cxnChg chg="mod">
          <ac:chgData name="Surya Chinta" userId="41ee6f01-053e-4268-a09b-364f54be2fbe" providerId="ADAL" clId="{E5143D04-8900-4457-BE49-945FECC57414}" dt="2026-10-27T10:23:12.624" v="405" actId="1076"/>
          <ac:cxnSpMkLst>
            <pc:docMk/>
            <pc:sldMk cId="2487507549" sldId="335"/>
            <ac:cxnSpMk id="99" creationId="{00000000-0000-0000-0000-000000000000}"/>
          </ac:cxnSpMkLst>
        </pc:cxnChg>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endParaRPr/>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endParaRPr/>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endParaRPr/>
          </a:p>
          <a:p>
            <a:r>
              <a:t>LINE 1 · TRUST BOUNDARY</a:t>
            </a:r>
          </a:p>
          <a:p>
            <a:r>
              <a:t>Agents have no access to raw patient data. Only Gold A's protected aggregates cross this line.</a:t>
            </a:r>
          </a:p>
          <a:p>
            <a:endParaRPr/>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endParaRPr/>
          </a:p>
          <a:p>
            <a:r>
              <a:t>LINE 2 · RECOMMENDATION IS NOT RELEASE</a:t>
            </a:r>
          </a:p>
          <a:p>
            <a:r>
              <a:t>An agent's recommendation is never permission to release data. Everything above is a proposal; release happens only below, through approved services.</a:t>
            </a:r>
          </a:p>
          <a:p>
            <a:endParaRPr/>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endParaRPr/>
          </a:p>
          <a:p>
            <a:r>
              <a:t>CLOSE</a:t>
            </a:r>
          </a:p>
          <a:p>
            <a:r>
              <a:t>Build and test before data lands, a masked review, minimum fields after two approvals, no raw PHI for agents, steward-approved masking, a retry cap, and re-checks at send: faster campaigns, never the wrong or a no-consent patient.</a:t>
            </a:r>
          </a:p>
          <a:p>
            <a:endParaRPr/>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extLst>
      <p:ext uri="{BB962C8B-B14F-4D97-AF65-F5344CB8AC3E}">
        <p14:creationId xmlns:p14="http://schemas.microsoft.com/office/powerpoint/2010/main" val="30550854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endParaRPr/>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endParaRPr/>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extLst>
      <p:ext uri="{BB962C8B-B14F-4D97-AF65-F5344CB8AC3E}">
        <p14:creationId xmlns:p14="http://schemas.microsoft.com/office/powerpoint/2010/main" val="36111310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endParaRPr/>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endParaRPr/>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extLst>
      <p:ext uri="{BB962C8B-B14F-4D97-AF65-F5344CB8AC3E}">
        <p14:creationId xmlns:p14="http://schemas.microsoft.com/office/powerpoint/2010/main" val="32193997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The slide builds itself: brand, headline, three KPIs, then the customer wall.</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patients we cannot contact yet   (about 2 minutes)</a:t>
            </a:r>
          </a:p>
          <a:p/>
          <a:p>
            <a:r>
              <a:t>KEY MESSAGE</a:t>
            </a:r>
          </a:p>
          <a:p>
            <a:r>
              <a:t>Gold B holds the patients who have not given consent or whose information is incomplete. They stay restricted; we invite those we are allowed to ask to give consent or complete their details. When they opt in, they move to Gold A. Explicit opt-outs, STOP and deceased patients are never asked again.</a:t>
            </a:r>
          </a:p>
          <a:p/>
          <a:p>
            <a:r>
              <a:t>WALK IT</a:t>
            </a:r>
          </a:p>
          <a:p>
            <a:r>
              <a:t>- Top: Silver resolves identity and consent; patients without consent or with missing information land in Gold B. The Cohort Resolution Engine separates explicit opt-outs (never asked) from patients we may ask (consent unknown, details missing). After the masked G2 summary is approved, the Activation Engine unmasks only the minimum fields needed, for this run, and sends an update request through a permitted channel. Engagement decides the branch: opted in goes to Gold A; not opted in or still missing stays in Gold B.</a:t>
            </a:r>
          </a:p>
          <a:p>
            <a:r>
              <a:t>- Left, what is in it: the patient key, consent status, the missing information, the contact points we do have, the never-contact exclusions, preferences, and the history of requests.</a:t>
            </a:r>
          </a:p>
          <a:p>
            <a:r>
              <a:t>- Middle, who can read it: the two engines, for an approved run only; the Sierra voice agent for one verified caller. Agents, Codex, the semantic layer and the knowledge graph never; people see the masked G2 summary.</a:t>
            </a:r>
          </a:p>
          <a:p>
            <a:r>
              <a:t>- Right, what we can do with it: find who may be asked, never re-ask opt-outs, approve on counts, send the request, write the answers back to Epic and the consent system, and move consented patients to Gold A at the next refresh.</a:t>
            </a:r>
          </a:p>
          <a:p>
            <a:r>
              <a:t>- Bottom: the controls on Gold B.</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to the opted-in patient records in Gold A (consent, contact, STOP, deceased, duplicates). Anyone with no consent or missing information goes to Gold B, where an update request can invite them to opt in. A masked pre-send report goes to the SME and tech lead, who approve (G2).</a:t>
            </a:r>
          </a:p>
          <a:p>
            <a:r>
              <a:t>12-13 Only then does the activation engine check the policy, unmask only the minimum fields for the eligible patients, and release them, time-limited, to Marketing Cloud. 14 The journey sends, with consent re-checked at send. 15 Results come back as aggregates.</a:t>
            </a:r>
          </a:p>
          <a:p/>
          <a:p>
            <a:r>
              <a:t>BEFORE ANY REQUEST</a:t>
            </a:r>
          </a:p>
          <a:p>
            <a:r>
              <a:t>The data harness keeps Sources, Bronze and Silver current in Google Cloud; consented patients land in Gold A, and patients with no consent or missing information land in Gold B. DLP classifies and a Collibra steward approves the masking.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05293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7126878"/>
      </p:ext>
    </p:extLst>
  </p:cSld>
  <p:clrMap bg1="lt1" tx1="dk1" bg2="lt2" tx2="dk2" accent1="accent1" accent2="accent2" accent3="accent3" accent4="accent4" accent5="accent5" accent6="accent6" hlink="hlink" folHlink="folHlink"/>
  <p:sldLayoutIdLst>
    <p:sldLayoutId id="2147483656"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7.png"/><Relationship Id="rId9" Type="http://schemas.openxmlformats.org/officeDocument/2006/relationships/image" Target="../media/image10.png"/><Relationship Id="rId10" Type="http://schemas.openxmlformats.org/officeDocument/2006/relationships/image" Target="../media/image17.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3.png"/><Relationship Id="rId6" Type="http://schemas.openxmlformats.org/officeDocument/2006/relationships/image" Target="../media/image22.png"/><Relationship Id="rId7" Type="http://schemas.openxmlformats.org/officeDocument/2006/relationships/image" Target="../media/image15.png"/><Relationship Id="rId8" Type="http://schemas.openxmlformats.org/officeDocument/2006/relationships/image" Target="../media/image23.png"/><Relationship Id="rId9" Type="http://schemas.openxmlformats.org/officeDocument/2006/relationships/image" Target="../media/image16.png"/><Relationship Id="rId10"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15.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 Id="rId17" Type="http://schemas.openxmlformats.org/officeDocument/2006/relationships/image" Target="../media/image39.png"/><Relationship Id="rId18" Type="http://schemas.openxmlformats.org/officeDocument/2006/relationships/image" Target="../media/image40.png"/><Relationship Id="rId19" Type="http://schemas.openxmlformats.org/officeDocument/2006/relationships/image" Target="../media/image41.png"/><Relationship Id="rId20" Type="http://schemas.openxmlformats.org/officeDocument/2006/relationships/image" Target="../media/image42.png"/><Relationship Id="rId21" Type="http://schemas.openxmlformats.org/officeDocument/2006/relationships/image" Target="../media/image43.png"/><Relationship Id="rId22" Type="http://schemas.openxmlformats.org/officeDocument/2006/relationships/image" Target="../media/image44.png"/><Relationship Id="rId23" Type="http://schemas.openxmlformats.org/officeDocument/2006/relationships/image" Target="../media/image45.png"/><Relationship Id="rId24" Type="http://schemas.openxmlformats.org/officeDocument/2006/relationships/image" Target="../media/image46.png"/><Relationship Id="rId25" Type="http://schemas.openxmlformats.org/officeDocument/2006/relationships/image" Target="../media/image47.png"/><Relationship Id="rId26" Type="http://schemas.openxmlformats.org/officeDocument/2006/relationships/image" Target="../media/image48.png"/><Relationship Id="rId27" Type="http://schemas.openxmlformats.org/officeDocument/2006/relationships/image" Target="../media/image49.png"/><Relationship Id="rId28" Type="http://schemas.openxmlformats.org/officeDocument/2006/relationships/image" Target="../media/image50.png"/><Relationship Id="rId29" Type="http://schemas.openxmlformats.org/officeDocument/2006/relationships/image" Target="../media/image51.png"/><Relationship Id="rId30" Type="http://schemas.openxmlformats.org/officeDocument/2006/relationships/image" Target="../media/image52.png"/><Relationship Id="rId31" Type="http://schemas.openxmlformats.org/officeDocument/2006/relationships/image" Target="../media/image53.png"/><Relationship Id="rId32" Type="http://schemas.openxmlformats.org/officeDocument/2006/relationships/slide" Target="slide4.xml"/><Relationship Id="rId33" Type="http://schemas.openxmlformats.org/officeDocument/2006/relationships/slide" Target="slide13.xml"/><Relationship Id="rId34" Type="http://schemas.openxmlformats.org/officeDocument/2006/relationships/slide" Target="slide15.xml"/><Relationship Id="rId35" Type="http://schemas.openxmlformats.org/officeDocument/2006/relationships/slide" Target="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0.png"/><Relationship Id="rId7" Type="http://schemas.openxmlformats.org/officeDocument/2006/relationships/image" Target="../media/image24.png"/><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02920" y="1170432"/>
            <a:ext cx="2331720" cy="274320"/>
          </a:xfrm>
          <a:prstGeom prst="rect">
            <a:avLst/>
          </a:prstGeom>
          <a:noFill/>
        </p:spPr>
        <p:txBody>
          <a:bodyPr wrap="square" lIns="0" tIns="0" r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jira.png"/>
          <p:cNvPicPr>
            <a:picLocks noChangeAspect="1"/>
          </p:cNvPicPr>
          <p:nvPr/>
        </p:nvPicPr>
        <p:blipFill>
          <a:blip r:embed="rId3"/>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tIns="0" r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4"/>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tIns="0" r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5"/>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tIns="0" r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6"/>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tIns="0" r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2"/>
          <p:cNvSpPr txBox="1"/>
          <p:nvPr/>
        </p:nvSpPr>
        <p:spPr>
          <a:xfrm>
            <a:off x="521208" y="3163824"/>
            <a:ext cx="201168" cy="182880"/>
          </a:xfrm>
          <a:prstGeom prst="rect">
            <a:avLst/>
          </a:prstGeom>
          <a:noFill/>
        </p:spPr>
        <p:txBody>
          <a:bodyPr wrap="square" lIns="0" tIns="0" r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tIns="0" r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7"/>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tIns="0" r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tIns="0" r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googlecloud.png"/>
          <p:cNvPicPr>
            <a:picLocks noChangeAspect="1"/>
          </p:cNvPicPr>
          <p:nvPr/>
        </p:nvPicPr>
        <p:blipFill>
          <a:blip r:embed="rId8"/>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tIns="0" r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tIns="0" r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tIns="0" r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1"/>
          <p:cNvSpPr txBox="1"/>
          <p:nvPr/>
        </p:nvSpPr>
        <p:spPr>
          <a:xfrm>
            <a:off x="3154680" y="1170432"/>
            <a:ext cx="5623559" cy="274320"/>
          </a:xfrm>
          <a:prstGeom prst="rect">
            <a:avLst/>
          </a:prstGeom>
          <a:noFill/>
        </p:spPr>
        <p:txBody>
          <a:bodyPr wrap="square" lIns="0" tIns="0" r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24"/>
          <p:cNvSpPr txBox="1"/>
          <p:nvPr/>
        </p:nvSpPr>
        <p:spPr>
          <a:xfrm>
            <a:off x="3136392" y="1516075"/>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tIns="0" r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tIns="0" r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28"/>
          <p:cNvSpPr txBox="1"/>
          <p:nvPr/>
        </p:nvSpPr>
        <p:spPr>
          <a:xfrm>
            <a:off x="7955279" y="1534363"/>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1"/>
          <p:cNvSpPr txBox="1"/>
          <p:nvPr/>
        </p:nvSpPr>
        <p:spPr>
          <a:xfrm>
            <a:off x="3136392" y="1768449"/>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tIns="0" r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tIns="0" r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35"/>
          <p:cNvSpPr txBox="1"/>
          <p:nvPr/>
        </p:nvSpPr>
        <p:spPr>
          <a:xfrm>
            <a:off x="7955279" y="1786737"/>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38"/>
          <p:cNvSpPr txBox="1"/>
          <p:nvPr/>
        </p:nvSpPr>
        <p:spPr>
          <a:xfrm>
            <a:off x="3136392" y="2020824"/>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tIns="0" r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tIns="0" r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2"/>
          <p:cNvSpPr txBox="1"/>
          <p:nvPr/>
        </p:nvSpPr>
        <p:spPr>
          <a:xfrm>
            <a:off x="7955279" y="2039112"/>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45"/>
          <p:cNvSpPr txBox="1"/>
          <p:nvPr/>
        </p:nvSpPr>
        <p:spPr>
          <a:xfrm>
            <a:off x="3136392" y="2273198"/>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tIns="0" r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tIns="0" r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49"/>
          <p:cNvSpPr txBox="1"/>
          <p:nvPr/>
        </p:nvSpPr>
        <p:spPr>
          <a:xfrm>
            <a:off x="7955279" y="2291486"/>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2"/>
          <p:cNvSpPr txBox="1"/>
          <p:nvPr/>
        </p:nvSpPr>
        <p:spPr>
          <a:xfrm>
            <a:off x="3136392" y="2525572"/>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tIns="0" r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tIns="0" r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56"/>
          <p:cNvSpPr txBox="1"/>
          <p:nvPr/>
        </p:nvSpPr>
        <p:spPr>
          <a:xfrm>
            <a:off x="7955279" y="2543860"/>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59"/>
          <p:cNvSpPr txBox="1"/>
          <p:nvPr/>
        </p:nvSpPr>
        <p:spPr>
          <a:xfrm>
            <a:off x="3136392" y="2777947"/>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tIns="0" r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tIns="0" r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63"/>
          <p:cNvSpPr txBox="1"/>
          <p:nvPr/>
        </p:nvSpPr>
        <p:spPr>
          <a:xfrm>
            <a:off x="7955279" y="2796235"/>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66"/>
          <p:cNvSpPr txBox="1"/>
          <p:nvPr/>
        </p:nvSpPr>
        <p:spPr>
          <a:xfrm>
            <a:off x="3136392" y="3030321"/>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tIns="0" r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tIns="0" r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0"/>
          <p:cNvSpPr txBox="1"/>
          <p:nvPr/>
        </p:nvSpPr>
        <p:spPr>
          <a:xfrm>
            <a:off x="7955279" y="3048609"/>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2"/>
          <p:cNvSpPr txBox="1"/>
          <p:nvPr/>
        </p:nvSpPr>
        <p:spPr>
          <a:xfrm>
            <a:off x="3154680" y="3321100"/>
            <a:ext cx="5623559" cy="274320"/>
          </a:xfrm>
          <a:prstGeom prst="rect">
            <a:avLst/>
          </a:prstGeom>
          <a:noFill/>
        </p:spPr>
        <p:txBody>
          <a:bodyPr wrap="square" lIns="0" tIns="0" r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75"/>
          <p:cNvSpPr txBox="1"/>
          <p:nvPr/>
        </p:nvSpPr>
        <p:spPr>
          <a:xfrm>
            <a:off x="3136392" y="3666743"/>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tIns="0" r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tIns="0" r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79"/>
          <p:cNvSpPr txBox="1"/>
          <p:nvPr/>
        </p:nvSpPr>
        <p:spPr>
          <a:xfrm>
            <a:off x="7955279" y="3685031"/>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2"/>
          <p:cNvSpPr txBox="1"/>
          <p:nvPr/>
        </p:nvSpPr>
        <p:spPr>
          <a:xfrm>
            <a:off x="3136392" y="3919118"/>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tIns="0" r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tIns="0" r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86"/>
          <p:cNvSpPr txBox="1"/>
          <p:nvPr/>
        </p:nvSpPr>
        <p:spPr>
          <a:xfrm>
            <a:off x="7955279" y="3937406"/>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89"/>
          <p:cNvSpPr txBox="1"/>
          <p:nvPr/>
        </p:nvSpPr>
        <p:spPr>
          <a:xfrm>
            <a:off x="3136392" y="4171492"/>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tIns="0" r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tIns="0" r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3"/>
          <p:cNvSpPr txBox="1"/>
          <p:nvPr/>
        </p:nvSpPr>
        <p:spPr>
          <a:xfrm>
            <a:off x="7955279" y="4189780"/>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96"/>
          <p:cNvSpPr txBox="1"/>
          <p:nvPr/>
        </p:nvSpPr>
        <p:spPr>
          <a:xfrm>
            <a:off x="3136392" y="4423867"/>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tIns="0" r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tIns="0" r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0"/>
          <p:cNvSpPr txBox="1"/>
          <p:nvPr/>
        </p:nvSpPr>
        <p:spPr>
          <a:xfrm>
            <a:off x="7955279" y="4442155"/>
            <a:ext cx="822960" cy="146304"/>
          </a:xfrm>
          <a:prstGeom prst="rect">
            <a:avLst/>
          </a:prstGeom>
          <a:noFill/>
        </p:spPr>
        <p:txBody>
          <a:bodyPr wrap="square" lIns="0" tIns="0" r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Text 103"/>
          <p:cNvSpPr txBox="1"/>
          <p:nvPr/>
        </p:nvSpPr>
        <p:spPr>
          <a:xfrm>
            <a:off x="3136392" y="4676241"/>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tIns="0" r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tIns="0" r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07"/>
          <p:cNvSpPr txBox="1"/>
          <p:nvPr/>
        </p:nvSpPr>
        <p:spPr>
          <a:xfrm>
            <a:off x="7955279" y="4694529"/>
            <a:ext cx="822960" cy="146304"/>
          </a:xfrm>
          <a:prstGeom prst="rect">
            <a:avLst/>
          </a:prstGeom>
          <a:noFill/>
        </p:spPr>
        <p:txBody>
          <a:bodyPr wrap="square" lIns="0" tIns="0" r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0"/>
          <p:cNvSpPr txBox="1"/>
          <p:nvPr/>
        </p:nvSpPr>
        <p:spPr>
          <a:xfrm>
            <a:off x="3136392" y="4928615"/>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tIns="0" r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tIns="0" r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14"/>
          <p:cNvSpPr txBox="1"/>
          <p:nvPr/>
        </p:nvSpPr>
        <p:spPr>
          <a:xfrm>
            <a:off x="7955279" y="4946903"/>
            <a:ext cx="822960" cy="146304"/>
          </a:xfrm>
          <a:prstGeom prst="rect">
            <a:avLst/>
          </a:prstGeom>
          <a:noFill/>
        </p:spPr>
        <p:txBody>
          <a:bodyPr wrap="square" lIns="0" tIns="0" r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17"/>
          <p:cNvSpPr txBox="1"/>
          <p:nvPr/>
        </p:nvSpPr>
        <p:spPr>
          <a:xfrm>
            <a:off x="3136392" y="5180990"/>
            <a:ext cx="182880" cy="182880"/>
          </a:xfrm>
          <a:prstGeom prst="rect">
            <a:avLst/>
          </a:prstGeom>
          <a:noFill/>
        </p:spPr>
        <p:txBody>
          <a:bodyPr wrap="square" lIns="0" tIns="0" r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tIns="0" r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tIns="0" r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Text 121"/>
          <p:cNvSpPr txBox="1"/>
          <p:nvPr/>
        </p:nvSpPr>
        <p:spPr>
          <a:xfrm>
            <a:off x="7955279" y="5199278"/>
            <a:ext cx="822960" cy="146304"/>
          </a:xfrm>
          <a:prstGeom prst="rect">
            <a:avLst/>
          </a:prstGeom>
          <a:noFill/>
        </p:spPr>
        <p:txBody>
          <a:bodyPr wrap="square" lIns="0" tIns="0" r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23"/>
          <p:cNvSpPr txBox="1"/>
          <p:nvPr/>
        </p:nvSpPr>
        <p:spPr>
          <a:xfrm>
            <a:off x="9098280" y="1170432"/>
            <a:ext cx="2587751" cy="274320"/>
          </a:xfrm>
          <a:prstGeom prst="rect">
            <a:avLst/>
          </a:prstGeom>
          <a:noFill/>
        </p:spPr>
        <p:txBody>
          <a:bodyPr wrap="square" lIns="0" tIns="0" r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2" name="Picture 131" descr="salesforce.png"/>
          <p:cNvPicPr>
            <a:picLocks noChangeAspect="1"/>
          </p:cNvPicPr>
          <p:nvPr/>
        </p:nvPicPr>
        <p:blipFill>
          <a:blip r:embed="rId5"/>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tIns="0" r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tIns="0" r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tIns="0" r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29"/>
          <p:cNvSpPr txBox="1"/>
          <p:nvPr/>
        </p:nvSpPr>
        <p:spPr>
          <a:xfrm>
            <a:off x="9116567" y="2267712"/>
            <a:ext cx="978408" cy="164592"/>
          </a:xfrm>
          <a:prstGeom prst="rect">
            <a:avLst/>
          </a:prstGeom>
          <a:noFill/>
        </p:spPr>
        <p:txBody>
          <a:bodyPr wrap="square" lIns="0" tIns="0" r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5"/>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tIns="0" r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tIns="0" r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tIns="0" r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34"/>
          <p:cNvSpPr txBox="1"/>
          <p:nvPr/>
        </p:nvSpPr>
        <p:spPr>
          <a:xfrm>
            <a:off x="9116567" y="3291840"/>
            <a:ext cx="1561795" cy="164592"/>
          </a:xfrm>
          <a:prstGeom prst="rect">
            <a:avLst/>
          </a:prstGeom>
          <a:noFill/>
        </p:spPr>
        <p:txBody>
          <a:bodyPr wrap="square" lIns="0" tIns="0" r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36"/>
          <p:cNvSpPr txBox="1"/>
          <p:nvPr/>
        </p:nvSpPr>
        <p:spPr>
          <a:xfrm>
            <a:off x="10733227" y="3291840"/>
            <a:ext cx="607161" cy="164592"/>
          </a:xfrm>
          <a:prstGeom prst="rect">
            <a:avLst/>
          </a:prstGeom>
          <a:noFill/>
        </p:spPr>
        <p:txBody>
          <a:bodyPr wrap="square" lIns="0" tIns="0" r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tIns="0" r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tIns="0" r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tIns="0" r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41"/>
          <p:cNvSpPr txBox="1"/>
          <p:nvPr/>
        </p:nvSpPr>
        <p:spPr>
          <a:xfrm>
            <a:off x="9189719" y="4873752"/>
            <a:ext cx="2404872" cy="457200"/>
          </a:xfrm>
          <a:prstGeom prst="rect">
            <a:avLst/>
          </a:prstGeom>
          <a:noFill/>
        </p:spPr>
        <p:txBody>
          <a:bodyPr wrap="square" lIns="0" tIns="0" r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tIns="0" r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 144"/>
          <p:cNvSpPr txBox="1"/>
          <p:nvPr/>
        </p:nvSpPr>
        <p:spPr>
          <a:xfrm>
            <a:off x="1645920"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47"/>
          <p:cNvSpPr txBox="1"/>
          <p:nvPr/>
        </p:nvSpPr>
        <p:spPr>
          <a:xfrm>
            <a:off x="2921508"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50"/>
          <p:cNvSpPr txBox="1"/>
          <p:nvPr/>
        </p:nvSpPr>
        <p:spPr>
          <a:xfrm>
            <a:off x="4197096"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 153"/>
          <p:cNvSpPr txBox="1"/>
          <p:nvPr/>
        </p:nvSpPr>
        <p:spPr>
          <a:xfrm>
            <a:off x="5472683"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Text 156"/>
          <p:cNvSpPr txBox="1"/>
          <p:nvPr/>
        </p:nvSpPr>
        <p:spPr>
          <a:xfrm>
            <a:off x="6748271"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59"/>
          <p:cNvSpPr txBox="1"/>
          <p:nvPr/>
        </p:nvSpPr>
        <p:spPr>
          <a:xfrm>
            <a:off x="8023859" y="5504688"/>
            <a:ext cx="1202436" cy="347472"/>
          </a:xfrm>
          <a:prstGeom prst="rect">
            <a:avLst/>
          </a:prstGeom>
          <a:noFill/>
        </p:spPr>
        <p:txBody>
          <a:bodyPr wrap="square" lIns="0" tIns="0" r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Text 162"/>
          <p:cNvSpPr txBox="1"/>
          <p:nvPr/>
        </p:nvSpPr>
        <p:spPr>
          <a:xfrm>
            <a:off x="9299447" y="5504688"/>
            <a:ext cx="1202436" cy="347472"/>
          </a:xfrm>
          <a:prstGeom prst="rect">
            <a:avLst/>
          </a:prstGeom>
          <a:noFill/>
        </p:spPr>
        <p:txBody>
          <a:bodyPr wrap="square" lIns="0" tIns="0" r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ext 165"/>
          <p:cNvSpPr txBox="1"/>
          <p:nvPr/>
        </p:nvSpPr>
        <p:spPr>
          <a:xfrm>
            <a:off x="10575035" y="5504688"/>
            <a:ext cx="1202436"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tIns="0" r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7" name="Text 168"/>
          <p:cNvSpPr txBox="1"/>
          <p:nvPr/>
        </p:nvSpPr>
        <p:spPr>
          <a:xfrm>
            <a:off x="1645920" y="5907024"/>
            <a:ext cx="1627632"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71"/>
          <p:cNvSpPr txBox="1"/>
          <p:nvPr/>
        </p:nvSpPr>
        <p:spPr>
          <a:xfrm>
            <a:off x="3346704" y="5907024"/>
            <a:ext cx="1627632"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3" name="Text 174"/>
          <p:cNvSpPr txBox="1"/>
          <p:nvPr/>
        </p:nvSpPr>
        <p:spPr>
          <a:xfrm>
            <a:off x="5047488" y="5907024"/>
            <a:ext cx="1627632"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6" name="Text 177"/>
          <p:cNvSpPr txBox="1"/>
          <p:nvPr/>
        </p:nvSpPr>
        <p:spPr>
          <a:xfrm>
            <a:off x="6748272" y="5907024"/>
            <a:ext cx="1627632" cy="347472"/>
          </a:xfrm>
          <a:prstGeom prst="rect">
            <a:avLst/>
          </a:prstGeom>
          <a:noFill/>
        </p:spPr>
        <p:txBody>
          <a:bodyPr wrap="square" lIns="0" tIns="0" r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9" name="Text 180"/>
          <p:cNvSpPr txBox="1"/>
          <p:nvPr/>
        </p:nvSpPr>
        <p:spPr>
          <a:xfrm>
            <a:off x="8449056" y="5907024"/>
            <a:ext cx="1627632"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83"/>
          <p:cNvSpPr txBox="1"/>
          <p:nvPr/>
        </p:nvSpPr>
        <p:spPr>
          <a:xfrm>
            <a:off x="10149840" y="5907024"/>
            <a:ext cx="1627632" cy="347472"/>
          </a:xfrm>
          <a:prstGeom prst="rect">
            <a:avLst/>
          </a:prstGeom>
          <a:noFill/>
        </p:spPr>
        <p:txBody>
          <a:bodyPr wrap="square" lIns="0" tIns="0" r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1463040" y="1161288"/>
            <a:ext cx="1531619" cy="329184"/>
          </a:xfrm>
          <a:prstGeom prst="rect">
            <a:avLst/>
          </a:prstGeom>
          <a:noFill/>
        </p:spPr>
        <p:txBody>
          <a:bodyPr wrap="square" lIns="0" tIns="0" r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3131820" y="1161288"/>
            <a:ext cx="1531619" cy="329184"/>
          </a:xfrm>
          <a:prstGeom prst="rect">
            <a:avLst/>
          </a:prstGeom>
          <a:noFill/>
        </p:spPr>
        <p:txBody>
          <a:bodyPr wrap="square" lIns="0" tIns="0" r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4800600" y="1161288"/>
            <a:ext cx="1394460" cy="329184"/>
          </a:xfrm>
          <a:prstGeom prst="rect">
            <a:avLst/>
          </a:prstGeom>
          <a:noFill/>
        </p:spPr>
        <p:txBody>
          <a:bodyPr wrap="square" lIns="0" tIns="0" r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332220" y="1161288"/>
            <a:ext cx="1188719" cy="329184"/>
          </a:xfrm>
          <a:prstGeom prst="rect">
            <a:avLst/>
          </a:prstGeom>
          <a:noFill/>
        </p:spPr>
        <p:txBody>
          <a:bodyPr wrap="square" lIns="0" tIns="0" r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7658100" y="1161288"/>
            <a:ext cx="1394460" cy="329184"/>
          </a:xfrm>
          <a:prstGeom prst="rect">
            <a:avLst/>
          </a:prstGeom>
          <a:noFill/>
        </p:spPr>
        <p:txBody>
          <a:bodyPr wrap="square" lIns="0" tIns="0" r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harness.png"/>
          <p:cNvPicPr>
            <a:picLocks noChangeAspect="1"/>
          </p:cNvPicPr>
          <p:nvPr/>
        </p:nvPicPr>
        <p:blipFill>
          <a:blip r:embed="rId3"/>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tIns="0" r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4"/>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tIns="0" r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tIns="0" r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5"/>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tIns="0" r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tIns="0" r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6"/>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tIns="0" r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tIns="0" r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7"/>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tIns="0" r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tIns="0" r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8"/>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tIns="0" r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tIns="0" r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28"/>
          <p:cNvSpPr txBox="1"/>
          <p:nvPr/>
        </p:nvSpPr>
        <p:spPr>
          <a:xfrm>
            <a:off x="2487168" y="1810512"/>
            <a:ext cx="1188720" cy="237744"/>
          </a:xfrm>
          <a:prstGeom prst="rect">
            <a:avLst/>
          </a:prstGeom>
          <a:noFill/>
        </p:spPr>
        <p:txBody>
          <a:bodyPr wrap="square" lIns="0" tIns="0" r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tIns="0" r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37"/>
          <p:cNvSpPr txBox="1"/>
          <p:nvPr/>
        </p:nvSpPr>
        <p:spPr>
          <a:xfrm>
            <a:off x="2487168" y="2706624"/>
            <a:ext cx="1188720" cy="237744"/>
          </a:xfrm>
          <a:prstGeom prst="rect">
            <a:avLst/>
          </a:prstGeom>
          <a:noFill/>
        </p:spPr>
        <p:txBody>
          <a:bodyPr wrap="square" lIns="0" tIns="0" r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tIns="0" r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tIns="0" r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46"/>
          <p:cNvSpPr txBox="1"/>
          <p:nvPr/>
        </p:nvSpPr>
        <p:spPr>
          <a:xfrm>
            <a:off x="2487168" y="3648456"/>
            <a:ext cx="1188720" cy="237744"/>
          </a:xfrm>
          <a:prstGeom prst="rect">
            <a:avLst/>
          </a:prstGeom>
          <a:noFill/>
        </p:spPr>
        <p:txBody>
          <a:bodyPr wrap="square" lIns="0" tIns="0" r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tIns="0" r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tIns="0" r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tIns="0" r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tIns="0" r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tIns="0" r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tIns="0" r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tIns="0" r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56"/>
          <p:cNvSpPr txBox="1"/>
          <p:nvPr/>
        </p:nvSpPr>
        <p:spPr>
          <a:xfrm>
            <a:off x="2487168" y="4581144"/>
            <a:ext cx="358444" cy="182880"/>
          </a:xfrm>
          <a:prstGeom prst="rect">
            <a:avLst/>
          </a:prstGeom>
          <a:noFill/>
        </p:spPr>
        <p:txBody>
          <a:bodyPr wrap="square" lIns="0" tIns="0" r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58"/>
          <p:cNvSpPr txBox="1"/>
          <p:nvPr/>
        </p:nvSpPr>
        <p:spPr>
          <a:xfrm>
            <a:off x="2900476" y="4581144"/>
            <a:ext cx="676656" cy="182880"/>
          </a:xfrm>
          <a:prstGeom prst="rect">
            <a:avLst/>
          </a:prstGeom>
          <a:noFill/>
        </p:spPr>
        <p:txBody>
          <a:bodyPr wrap="square" lIns="0" tIns="0" r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0"/>
          <p:cNvSpPr txBox="1"/>
          <p:nvPr/>
        </p:nvSpPr>
        <p:spPr>
          <a:xfrm>
            <a:off x="3631996" y="4581144"/>
            <a:ext cx="676656" cy="182880"/>
          </a:xfrm>
          <a:prstGeom prst="rect">
            <a:avLst/>
          </a:prstGeom>
          <a:noFill/>
        </p:spPr>
        <p:txBody>
          <a:bodyPr wrap="square" lIns="0" tIns="0" r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2"/>
          <p:cNvSpPr txBox="1"/>
          <p:nvPr/>
        </p:nvSpPr>
        <p:spPr>
          <a:xfrm>
            <a:off x="4363516" y="4581144"/>
            <a:ext cx="305409" cy="182880"/>
          </a:xfrm>
          <a:prstGeom prst="rect">
            <a:avLst/>
          </a:prstGeom>
          <a:noFill/>
        </p:spPr>
        <p:txBody>
          <a:bodyPr wrap="square" lIns="0" tIns="0" r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64"/>
          <p:cNvSpPr txBox="1"/>
          <p:nvPr/>
        </p:nvSpPr>
        <p:spPr>
          <a:xfrm>
            <a:off x="4723790" y="4581144"/>
            <a:ext cx="464515" cy="182880"/>
          </a:xfrm>
          <a:prstGeom prst="rect">
            <a:avLst/>
          </a:prstGeom>
          <a:noFill/>
        </p:spPr>
        <p:txBody>
          <a:bodyPr wrap="square" lIns="0" tIns="0" r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66"/>
          <p:cNvSpPr txBox="1"/>
          <p:nvPr/>
        </p:nvSpPr>
        <p:spPr>
          <a:xfrm>
            <a:off x="5243169" y="4581144"/>
            <a:ext cx="782726" cy="182880"/>
          </a:xfrm>
          <a:prstGeom prst="rect">
            <a:avLst/>
          </a:prstGeom>
          <a:noFill/>
        </p:spPr>
        <p:txBody>
          <a:bodyPr wrap="square" lIns="0" tIns="0" r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68"/>
          <p:cNvSpPr txBox="1"/>
          <p:nvPr/>
        </p:nvSpPr>
        <p:spPr>
          <a:xfrm>
            <a:off x="2487168" y="4818888"/>
            <a:ext cx="1366113" cy="182880"/>
          </a:xfrm>
          <a:prstGeom prst="rect">
            <a:avLst/>
          </a:prstGeom>
          <a:noFill/>
        </p:spPr>
        <p:txBody>
          <a:bodyPr wrap="square" lIns="0" tIns="0" r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0"/>
          <p:cNvSpPr txBox="1"/>
          <p:nvPr/>
        </p:nvSpPr>
        <p:spPr>
          <a:xfrm>
            <a:off x="6528816" y="1810512"/>
            <a:ext cx="2057400" cy="256032"/>
          </a:xfrm>
          <a:prstGeom prst="rect">
            <a:avLst/>
          </a:prstGeom>
          <a:noFill/>
        </p:spPr>
        <p:txBody>
          <a:bodyPr wrap="square" lIns="0" tIns="0" r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tIns="0" r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tIns="0" r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tIns="0" r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tIns="0" r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tIns="0" r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tIns="0" r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tIns="0" r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tIns="0" r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tIns="0" r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 83"/>
          <p:cNvSpPr txBox="1"/>
          <p:nvPr/>
        </p:nvSpPr>
        <p:spPr>
          <a:xfrm>
            <a:off x="9025128" y="2066544"/>
            <a:ext cx="274320" cy="274320"/>
          </a:xfrm>
          <a:prstGeom prst="rect">
            <a:avLst/>
          </a:prstGeom>
          <a:noFill/>
        </p:spPr>
        <p:txBody>
          <a:bodyPr wrap="square" lIns="0" tIns="0" r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tIns="0" r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tIns="0" r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tIns="0" r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89"/>
          <p:cNvSpPr txBox="1"/>
          <p:nvPr/>
        </p:nvSpPr>
        <p:spPr>
          <a:xfrm>
            <a:off x="9025128" y="3182112"/>
            <a:ext cx="274320" cy="274320"/>
          </a:xfrm>
          <a:prstGeom prst="rect">
            <a:avLst/>
          </a:prstGeom>
          <a:noFill/>
        </p:spPr>
        <p:txBody>
          <a:bodyPr wrap="square" lIns="0" tIns="0" r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tIns="0" r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tIns="0" r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tIns="0" r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95"/>
          <p:cNvSpPr txBox="1"/>
          <p:nvPr/>
        </p:nvSpPr>
        <p:spPr>
          <a:xfrm>
            <a:off x="9025128" y="4297679"/>
            <a:ext cx="274320" cy="274320"/>
          </a:xfrm>
          <a:prstGeom prst="rect">
            <a:avLst/>
          </a:prstGeom>
          <a:noFill/>
        </p:spPr>
        <p:txBody>
          <a:bodyPr wrap="square" lIns="0" tIns="0" r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tIns="0" r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tIns="0" r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tIns="0" r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0"/>
          <p:cNvSpPr txBox="1"/>
          <p:nvPr/>
        </p:nvSpPr>
        <p:spPr>
          <a:xfrm>
            <a:off x="731520" y="5468112"/>
            <a:ext cx="1965960" cy="182880"/>
          </a:xfrm>
          <a:prstGeom prst="rect">
            <a:avLst/>
          </a:prstGeom>
          <a:noFill/>
        </p:spPr>
        <p:txBody>
          <a:bodyPr wrap="square" lIns="0" tIns="0" r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tIns="0" r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5"/>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tIns="0" r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tIns="0" r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9"/>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tIns="0" r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tIns="0" r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10"/>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tIns="0" r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tIns="0" r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4"/>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tIns="0" r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tIns="0" r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1"/>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tIns="0" r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tIns="0" r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6"/>
          <p:cNvSpPr txBox="1"/>
          <p:nvPr/>
        </p:nvSpPr>
        <p:spPr>
          <a:xfrm>
            <a:off x="484632" y="1261872"/>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3"/>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tIns="0" r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tIns="0" r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0"/>
          <p:cNvSpPr txBox="1"/>
          <p:nvPr/>
        </p:nvSpPr>
        <p:spPr>
          <a:xfrm>
            <a:off x="3429000" y="1243584"/>
            <a:ext cx="2557272" cy="201168"/>
          </a:xfrm>
          <a:prstGeom prst="rect">
            <a:avLst/>
          </a:prstGeom>
          <a:noFill/>
        </p:spPr>
        <p:txBody>
          <a:bodyPr wrap="square" lIns="0" tIns="0" r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3"/>
          <p:cNvSpPr txBox="1"/>
          <p:nvPr/>
        </p:nvSpPr>
        <p:spPr>
          <a:xfrm>
            <a:off x="6288023" y="1243584"/>
            <a:ext cx="2557272" cy="201168"/>
          </a:xfrm>
          <a:prstGeom prst="rect">
            <a:avLst/>
          </a:prstGeom>
          <a:noFill/>
        </p:spPr>
        <p:txBody>
          <a:bodyPr wrap="square" lIns="0" tIns="0" r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6"/>
          <p:cNvSpPr txBox="1"/>
          <p:nvPr/>
        </p:nvSpPr>
        <p:spPr>
          <a:xfrm>
            <a:off x="9147047" y="1243584"/>
            <a:ext cx="2557272" cy="201168"/>
          </a:xfrm>
          <a:prstGeom prst="rect">
            <a:avLst/>
          </a:prstGeom>
          <a:noFill/>
        </p:spPr>
        <p:txBody>
          <a:bodyPr wrap="square" lIns="0" tIns="0" r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1"/>
          <p:cNvSpPr txBox="1"/>
          <p:nvPr/>
        </p:nvSpPr>
        <p:spPr>
          <a:xfrm>
            <a:off x="507491" y="2258568"/>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tIns="0" r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5"/>
          <p:cNvSpPr txBox="1"/>
          <p:nvPr/>
        </p:nvSpPr>
        <p:spPr>
          <a:xfrm>
            <a:off x="937259" y="3364991"/>
            <a:ext cx="457200" cy="155448"/>
          </a:xfrm>
          <a:prstGeom prst="rect">
            <a:avLst/>
          </a:prstGeom>
          <a:noFill/>
        </p:spPr>
        <p:txBody>
          <a:bodyPr wrap="square" lIns="0" tIns="0" r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people-black.png"/>
          <p:cNvPicPr>
            <a:picLocks noChangeAspect="1"/>
          </p:cNvPicPr>
          <p:nvPr/>
        </p:nvPicPr>
        <p:blipFill>
          <a:blip r:embed="rId4"/>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tIns="0" r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tIns="0" r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1"/>
          <p:cNvSpPr txBox="1"/>
          <p:nvPr/>
        </p:nvSpPr>
        <p:spPr>
          <a:xfrm>
            <a:off x="2720339" y="2258568"/>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tIns="0" r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5"/>
          <p:cNvSpPr txBox="1"/>
          <p:nvPr/>
        </p:nvSpPr>
        <p:spPr>
          <a:xfrm>
            <a:off x="3150107" y="3364991"/>
            <a:ext cx="457200" cy="155448"/>
          </a:xfrm>
          <a:prstGeom prst="rect">
            <a:avLst/>
          </a:prstGeom>
          <a:noFill/>
        </p:spPr>
        <p:txBody>
          <a:bodyPr wrap="square" lIns="0" tIns="0" r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0" name="Picture 39" descr="people-black.png"/>
          <p:cNvPicPr>
            <a:picLocks noChangeAspect="1"/>
          </p:cNvPicPr>
          <p:nvPr/>
        </p:nvPicPr>
        <p:blipFill>
          <a:blip r:embed="rId4"/>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tIns="0" r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tIns="0" r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1"/>
          <p:cNvSpPr txBox="1"/>
          <p:nvPr/>
        </p:nvSpPr>
        <p:spPr>
          <a:xfrm>
            <a:off x="4933188" y="2258568"/>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tIns="0" r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5"/>
          <p:cNvSpPr txBox="1"/>
          <p:nvPr/>
        </p:nvSpPr>
        <p:spPr>
          <a:xfrm>
            <a:off x="5362955" y="3364991"/>
            <a:ext cx="457200" cy="155448"/>
          </a:xfrm>
          <a:prstGeom prst="rect">
            <a:avLst/>
          </a:prstGeom>
          <a:noFill/>
        </p:spPr>
        <p:txBody>
          <a:bodyPr wrap="square" lIns="0" tIns="0" r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48"/>
          <p:cNvSpPr txBox="1"/>
          <p:nvPr/>
        </p:nvSpPr>
        <p:spPr>
          <a:xfrm>
            <a:off x="6487668" y="2258568"/>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tIns="0" r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2"/>
          <p:cNvSpPr txBox="1"/>
          <p:nvPr/>
        </p:nvSpPr>
        <p:spPr>
          <a:xfrm>
            <a:off x="6917436" y="3364991"/>
            <a:ext cx="457200" cy="155448"/>
          </a:xfrm>
          <a:prstGeom prst="rect">
            <a:avLst/>
          </a:prstGeom>
          <a:noFill/>
        </p:spPr>
        <p:txBody>
          <a:bodyPr wrap="square" lIns="0" tIns="0" r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8" name="Picture 57" descr="people-black.png"/>
          <p:cNvPicPr>
            <a:picLocks noChangeAspect="1"/>
          </p:cNvPicPr>
          <p:nvPr/>
        </p:nvPicPr>
        <p:blipFill>
          <a:blip r:embed="rId4"/>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tIns="0" r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tIns="0" r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58"/>
          <p:cNvSpPr txBox="1"/>
          <p:nvPr/>
        </p:nvSpPr>
        <p:spPr>
          <a:xfrm>
            <a:off x="8700516" y="2258568"/>
            <a:ext cx="201168" cy="201168"/>
          </a:xfrm>
          <a:prstGeom prst="rect">
            <a:avLst/>
          </a:prstGeom>
          <a:noFill/>
        </p:spPr>
        <p:txBody>
          <a:bodyPr wrap="square" lIns="0" tIns="0" r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tIns="0" r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tIns="0" r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2"/>
          <p:cNvSpPr txBox="1"/>
          <p:nvPr/>
        </p:nvSpPr>
        <p:spPr>
          <a:xfrm>
            <a:off x="9130284" y="3364991"/>
            <a:ext cx="457200" cy="155448"/>
          </a:xfrm>
          <a:prstGeom prst="rect">
            <a:avLst/>
          </a:prstGeom>
          <a:noFill/>
        </p:spPr>
        <p:txBody>
          <a:bodyPr wrap="square" lIns="0" tIns="0" r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9" name="Picture 68" descr="people-black.png"/>
          <p:cNvPicPr>
            <a:picLocks noChangeAspect="1"/>
          </p:cNvPicPr>
          <p:nvPr/>
        </p:nvPicPr>
        <p:blipFill>
          <a:blip r:embed="rId4"/>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tIns="0" r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tIns="0" r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67"/>
          <p:cNvSpPr txBox="1"/>
          <p:nvPr/>
        </p:nvSpPr>
        <p:spPr>
          <a:xfrm>
            <a:off x="10895076" y="2286000"/>
            <a:ext cx="804672" cy="237744"/>
          </a:xfrm>
          <a:prstGeom prst="rect">
            <a:avLst/>
          </a:prstGeom>
          <a:noFill/>
        </p:spPr>
        <p:txBody>
          <a:bodyPr wrap="square" lIns="0" tIns="0" r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tIns="0" r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87"/>
          <p:cNvSpPr txBox="1"/>
          <p:nvPr/>
        </p:nvSpPr>
        <p:spPr>
          <a:xfrm>
            <a:off x="6844283" y="2020824"/>
            <a:ext cx="4905756" cy="164592"/>
          </a:xfrm>
          <a:prstGeom prst="rect">
            <a:avLst/>
          </a:prstGeom>
          <a:noFill/>
        </p:spPr>
        <p:txBody>
          <a:bodyPr wrap="square" lIns="0" tIns="0" r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89"/>
          <p:cNvSpPr txBox="1"/>
          <p:nvPr/>
        </p:nvSpPr>
        <p:spPr>
          <a:xfrm>
            <a:off x="539496" y="3758183"/>
            <a:ext cx="6629400" cy="219456"/>
          </a:xfrm>
          <a:prstGeom prst="rect">
            <a:avLst/>
          </a:prstGeom>
          <a:noFill/>
        </p:spPr>
        <p:txBody>
          <a:bodyPr wrap="square" lIns="0" tIns="0" r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7" name="Picture 96" descr="jira.png"/>
          <p:cNvPicPr>
            <a:picLocks noChangeAspect="1"/>
          </p:cNvPicPr>
          <p:nvPr/>
        </p:nvPicPr>
        <p:blipFill>
          <a:blip r:embed="rId5"/>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tIns="0" r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1" name="Picture 100" descr="confluence.png"/>
          <p:cNvPicPr>
            <a:picLocks noChangeAspect="1"/>
          </p:cNvPicPr>
          <p:nvPr/>
        </p:nvPicPr>
        <p:blipFill>
          <a:blip r:embed="rId6"/>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tIns="0" r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5" name="Picture 104" descr="salesforce.png"/>
          <p:cNvPicPr>
            <a:picLocks noChangeAspect="1"/>
          </p:cNvPicPr>
          <p:nvPr/>
        </p:nvPicPr>
        <p:blipFill>
          <a:blip r:embed="rId7"/>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tIns="0" r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9" name="Picture 108" descr="git.png"/>
          <p:cNvPicPr>
            <a:picLocks noChangeAspect="1"/>
          </p:cNvPicPr>
          <p:nvPr/>
        </p:nvPicPr>
        <p:blipFill>
          <a:blip r:embed="rId8"/>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tIns="0" r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04"/>
          <p:cNvSpPr txBox="1"/>
          <p:nvPr/>
        </p:nvSpPr>
        <p:spPr>
          <a:xfrm>
            <a:off x="4453127" y="4123944"/>
            <a:ext cx="182880" cy="164592"/>
          </a:xfrm>
          <a:prstGeom prst="rect">
            <a:avLst/>
          </a:prstGeom>
          <a:noFill/>
        </p:spPr>
        <p:txBody>
          <a:bodyPr wrap="square" lIns="0" tIns="0" r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tIns="0" r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8" name="Picture 117" descr="googledrive.png"/>
          <p:cNvPicPr>
            <a:picLocks noChangeAspect="1"/>
          </p:cNvPicPr>
          <p:nvPr/>
        </p:nvPicPr>
        <p:blipFill>
          <a:blip r:embed="rId9"/>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tIns="0" r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tIns="0" r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2" name="Picture 121" descr="googlecloud-grey.png"/>
          <p:cNvPicPr>
            <a:picLocks noChangeAspect="1"/>
          </p:cNvPicPr>
          <p:nvPr/>
        </p:nvPicPr>
        <p:blipFill>
          <a:blip r:embed="rId10"/>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tIns="0" r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tIns="0" r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tIns="0" r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15"/>
          <p:cNvSpPr txBox="1"/>
          <p:nvPr/>
        </p:nvSpPr>
        <p:spPr>
          <a:xfrm>
            <a:off x="1316736" y="4709160"/>
            <a:ext cx="804672" cy="182880"/>
          </a:xfrm>
          <a:prstGeom prst="rect">
            <a:avLst/>
          </a:prstGeom>
          <a:noFill/>
        </p:spPr>
        <p:txBody>
          <a:bodyPr wrap="square" lIns="0" tIns="0" r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17"/>
          <p:cNvSpPr txBox="1"/>
          <p:nvPr/>
        </p:nvSpPr>
        <p:spPr>
          <a:xfrm>
            <a:off x="2176272" y="4709160"/>
            <a:ext cx="1024127" cy="182880"/>
          </a:xfrm>
          <a:prstGeom prst="rect">
            <a:avLst/>
          </a:prstGeom>
          <a:noFill/>
        </p:spPr>
        <p:txBody>
          <a:bodyPr wrap="square" lIns="0" tIns="0" r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19"/>
          <p:cNvSpPr txBox="1"/>
          <p:nvPr/>
        </p:nvSpPr>
        <p:spPr>
          <a:xfrm>
            <a:off x="3255263" y="4709160"/>
            <a:ext cx="1133856" cy="182880"/>
          </a:xfrm>
          <a:prstGeom prst="rect">
            <a:avLst/>
          </a:prstGeom>
          <a:noFill/>
        </p:spPr>
        <p:txBody>
          <a:bodyPr wrap="square" lIns="0" tIns="0" r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21"/>
          <p:cNvSpPr txBox="1"/>
          <p:nvPr/>
        </p:nvSpPr>
        <p:spPr>
          <a:xfrm>
            <a:off x="4443983" y="4709160"/>
            <a:ext cx="804672" cy="182880"/>
          </a:xfrm>
          <a:prstGeom prst="rect">
            <a:avLst/>
          </a:prstGeom>
          <a:noFill/>
        </p:spPr>
        <p:txBody>
          <a:bodyPr wrap="square" lIns="0" tIns="0" r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23"/>
          <p:cNvSpPr txBox="1"/>
          <p:nvPr/>
        </p:nvSpPr>
        <p:spPr>
          <a:xfrm>
            <a:off x="5303519" y="4709160"/>
            <a:ext cx="1188719" cy="182880"/>
          </a:xfrm>
          <a:prstGeom prst="rect">
            <a:avLst/>
          </a:prstGeom>
          <a:noFill/>
        </p:spPr>
        <p:txBody>
          <a:bodyPr wrap="square" lIns="0" tIns="0" r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tIns="0" r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Text 128"/>
          <p:cNvSpPr txBox="1"/>
          <p:nvPr/>
        </p:nvSpPr>
        <p:spPr>
          <a:xfrm>
            <a:off x="7580376" y="3758183"/>
            <a:ext cx="4050792" cy="219456"/>
          </a:xfrm>
          <a:prstGeom prst="rect">
            <a:avLst/>
          </a:prstGeom>
          <a:noFill/>
        </p:spPr>
        <p:txBody>
          <a:bodyPr wrap="square" lIns="0" tIns="0" r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5"/>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tIns="0" r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6"/>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tIns="0" r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8"/>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tIns="0" r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7"/>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tIns="0" r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34"/>
          <p:cNvSpPr txBox="1"/>
          <p:nvPr/>
        </p:nvSpPr>
        <p:spPr>
          <a:xfrm>
            <a:off x="7580376" y="4727448"/>
            <a:ext cx="182880" cy="164592"/>
          </a:xfrm>
          <a:prstGeom prst="rect">
            <a:avLst/>
          </a:prstGeom>
          <a:noFill/>
        </p:spPr>
        <p:txBody>
          <a:bodyPr wrap="square" lIns="0" tIns="0" r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tIns="0" r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 137"/>
          <p:cNvSpPr txBox="1"/>
          <p:nvPr/>
        </p:nvSpPr>
        <p:spPr>
          <a:xfrm>
            <a:off x="9637776" y="4727448"/>
            <a:ext cx="182880" cy="164592"/>
          </a:xfrm>
          <a:prstGeom prst="rect">
            <a:avLst/>
          </a:prstGeom>
          <a:noFill/>
        </p:spPr>
        <p:txBody>
          <a:bodyPr wrap="square" lIns="0" tIns="0" r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tIns="0" r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tIns="0" r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Text 142"/>
          <p:cNvSpPr txBox="1"/>
          <p:nvPr/>
        </p:nvSpPr>
        <p:spPr>
          <a:xfrm>
            <a:off x="612648" y="5513832"/>
            <a:ext cx="3422904" cy="365760"/>
          </a:xfrm>
          <a:prstGeom prst="rect">
            <a:avLst/>
          </a:prstGeom>
          <a:noFill/>
        </p:spPr>
        <p:txBody>
          <a:bodyPr wrap="square" lIns="0" tIns="0" r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tIns="0" r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 146"/>
          <p:cNvSpPr txBox="1"/>
          <p:nvPr/>
        </p:nvSpPr>
        <p:spPr>
          <a:xfrm>
            <a:off x="4447032" y="5513832"/>
            <a:ext cx="3422904" cy="365760"/>
          </a:xfrm>
          <a:prstGeom prst="rect">
            <a:avLst/>
          </a:prstGeom>
          <a:noFill/>
        </p:spPr>
        <p:txBody>
          <a:bodyPr wrap="square" lIns="0" tIns="0" r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tIns="0" r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6" name="Text 150"/>
          <p:cNvSpPr txBox="1"/>
          <p:nvPr/>
        </p:nvSpPr>
        <p:spPr>
          <a:xfrm>
            <a:off x="8281416" y="5513832"/>
            <a:ext cx="3422904" cy="365760"/>
          </a:xfrm>
          <a:prstGeom prst="rect">
            <a:avLst/>
          </a:prstGeom>
          <a:noFill/>
        </p:spPr>
        <p:txBody>
          <a:bodyPr wrap="square" lIns="0" tIns="0" r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tIns="0" r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39496" y="1225296"/>
            <a:ext cx="2743200" cy="182880"/>
          </a:xfrm>
          <a:prstGeom prst="rect">
            <a:avLst/>
          </a:prstGeom>
          <a:noFill/>
        </p:spPr>
        <p:txBody>
          <a:bodyPr wrap="square" lIns="0" tIns="0" r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tIns="0" r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tIns="0" r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594360" y="2066543"/>
            <a:ext cx="1975103" cy="274320"/>
          </a:xfrm>
          <a:prstGeom prst="rect">
            <a:avLst/>
          </a:prstGeom>
          <a:noFill/>
        </p:spPr>
        <p:txBody>
          <a:bodyPr wrap="square" lIns="0" tIns="0" r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2606039" y="2148839"/>
            <a:ext cx="324612"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594360" y="2386584"/>
            <a:ext cx="1975103" cy="274320"/>
          </a:xfrm>
          <a:prstGeom prst="rect">
            <a:avLst/>
          </a:prstGeom>
          <a:noFill/>
        </p:spPr>
        <p:txBody>
          <a:bodyPr wrap="square" lIns="0" tIns="0" r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2930651" y="2468879"/>
            <a:ext cx="324612"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94360" y="2706624"/>
            <a:ext cx="1975103" cy="274320"/>
          </a:xfrm>
          <a:prstGeom prst="rect">
            <a:avLst/>
          </a:prstGeom>
          <a:noFill/>
        </p:spPr>
        <p:txBody>
          <a:bodyPr wrap="square" lIns="0" tIns="0" r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3255263" y="2788920"/>
            <a:ext cx="486917" cy="109727"/>
          </a:xfrm>
          <a:prstGeom prst="rect">
            <a:avLst/>
          </a:prstGeom>
          <a:noFill/>
        </p:spPr>
        <p:txBody>
          <a:bodyPr wrap="square" lIns="0" tIns="0" r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94360" y="3026663"/>
            <a:ext cx="1975103" cy="274320"/>
          </a:xfrm>
          <a:prstGeom prst="rect">
            <a:avLst/>
          </a:prstGeom>
          <a:noFill/>
        </p:spPr>
        <p:txBody>
          <a:bodyPr wrap="square" lIns="0" tIns="0" r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3742181" y="3108959"/>
            <a:ext cx="324612"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594360" y="3346703"/>
            <a:ext cx="1975103" cy="274320"/>
          </a:xfrm>
          <a:prstGeom prst="rect">
            <a:avLst/>
          </a:prstGeom>
          <a:noFill/>
        </p:spPr>
        <p:txBody>
          <a:bodyPr wrap="square" lIns="0" tIns="0" r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7"/>
          <p:cNvSpPr txBox="1"/>
          <p:nvPr/>
        </p:nvSpPr>
        <p:spPr>
          <a:xfrm>
            <a:off x="4066794" y="3428999"/>
            <a:ext cx="649224" cy="109727"/>
          </a:xfrm>
          <a:prstGeom prst="rect">
            <a:avLst/>
          </a:prstGeom>
          <a:noFill/>
        </p:spPr>
        <p:txBody>
          <a:bodyPr wrap="square" lIns="0" tIns="0" r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 29"/>
          <p:cNvSpPr txBox="1"/>
          <p:nvPr/>
        </p:nvSpPr>
        <p:spPr>
          <a:xfrm>
            <a:off x="594360" y="3666744"/>
            <a:ext cx="1975103" cy="274320"/>
          </a:xfrm>
          <a:prstGeom prst="rect">
            <a:avLst/>
          </a:prstGeom>
          <a:noFill/>
        </p:spPr>
        <p:txBody>
          <a:bodyPr wrap="square" lIns="0" tIns="0" r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1"/>
          <p:cNvSpPr txBox="1"/>
          <p:nvPr/>
        </p:nvSpPr>
        <p:spPr>
          <a:xfrm>
            <a:off x="4716018" y="3749039"/>
            <a:ext cx="324612"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3"/>
          <p:cNvSpPr txBox="1"/>
          <p:nvPr/>
        </p:nvSpPr>
        <p:spPr>
          <a:xfrm>
            <a:off x="594360" y="3986783"/>
            <a:ext cx="1975103" cy="274320"/>
          </a:xfrm>
          <a:prstGeom prst="rect">
            <a:avLst/>
          </a:prstGeom>
          <a:noFill/>
        </p:spPr>
        <p:txBody>
          <a:bodyPr wrap="square" lIns="0" tIns="0" r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5"/>
          <p:cNvSpPr txBox="1"/>
          <p:nvPr/>
        </p:nvSpPr>
        <p:spPr>
          <a:xfrm>
            <a:off x="5040630" y="4069079"/>
            <a:ext cx="324611"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594360" y="4306823"/>
            <a:ext cx="1975103" cy="274320"/>
          </a:xfrm>
          <a:prstGeom prst="rect">
            <a:avLst/>
          </a:prstGeom>
          <a:noFill/>
        </p:spPr>
        <p:txBody>
          <a:bodyPr wrap="square" lIns="0" tIns="0" r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39"/>
          <p:cNvSpPr txBox="1"/>
          <p:nvPr/>
        </p:nvSpPr>
        <p:spPr>
          <a:xfrm>
            <a:off x="5365242" y="4389119"/>
            <a:ext cx="324612" cy="109727"/>
          </a:xfrm>
          <a:prstGeom prst="rect">
            <a:avLst/>
          </a:prstGeom>
          <a:noFill/>
        </p:spPr>
        <p:txBody>
          <a:bodyPr wrap="square" lIns="0" tIns="0" r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594360" y="4626864"/>
            <a:ext cx="1975103" cy="274320"/>
          </a:xfrm>
          <a:prstGeom prst="rect">
            <a:avLst/>
          </a:prstGeom>
          <a:noFill/>
        </p:spPr>
        <p:txBody>
          <a:bodyPr wrap="square" lIns="0" tIns="0" r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5689854" y="4709159"/>
            <a:ext cx="274320" cy="109727"/>
          </a:xfrm>
          <a:prstGeom prst="rect">
            <a:avLst/>
          </a:prstGeom>
          <a:noFill/>
        </p:spPr>
        <p:txBody>
          <a:bodyPr wrap="square" lIns="0" tIns="0" r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 50"/>
          <p:cNvSpPr txBox="1"/>
          <p:nvPr/>
        </p:nvSpPr>
        <p:spPr>
          <a:xfrm>
            <a:off x="6309359" y="1225296"/>
            <a:ext cx="3657600" cy="182880"/>
          </a:xfrm>
          <a:prstGeom prst="rect">
            <a:avLst/>
          </a:prstGeom>
          <a:noFill/>
        </p:spPr>
        <p:txBody>
          <a:bodyPr wrap="square" lIns="0" tIns="0" r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tIns="0" r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tIns="0" r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4"/>
          <p:cNvSpPr txBox="1"/>
          <p:nvPr/>
        </p:nvSpPr>
        <p:spPr>
          <a:xfrm>
            <a:off x="6345936" y="2066543"/>
            <a:ext cx="2157984" cy="365760"/>
          </a:xfrm>
          <a:prstGeom prst="rect">
            <a:avLst/>
          </a:prstGeom>
          <a:noFill/>
        </p:spPr>
        <p:txBody>
          <a:bodyPr wrap="square" lIns="0" tIns="0" r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6"/>
          <p:cNvSpPr txBox="1"/>
          <p:nvPr/>
        </p:nvSpPr>
        <p:spPr>
          <a:xfrm>
            <a:off x="8540496" y="2148839"/>
            <a:ext cx="352395" cy="201168"/>
          </a:xfrm>
          <a:prstGeom prst="rect">
            <a:avLst/>
          </a:prstGeom>
          <a:noFill/>
        </p:spPr>
        <p:txBody>
          <a:bodyPr wrap="square" lIns="0" tIns="0" r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8"/>
          <p:cNvSpPr txBox="1"/>
          <p:nvPr/>
        </p:nvSpPr>
        <p:spPr>
          <a:xfrm>
            <a:off x="6345936" y="2478024"/>
            <a:ext cx="2157984" cy="365760"/>
          </a:xfrm>
          <a:prstGeom prst="rect">
            <a:avLst/>
          </a:prstGeom>
          <a:noFill/>
        </p:spPr>
        <p:txBody>
          <a:bodyPr wrap="square" lIns="0" tIns="0" r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0"/>
          <p:cNvSpPr txBox="1"/>
          <p:nvPr/>
        </p:nvSpPr>
        <p:spPr>
          <a:xfrm>
            <a:off x="8892891" y="2560320"/>
            <a:ext cx="587326" cy="201168"/>
          </a:xfrm>
          <a:prstGeom prst="rect">
            <a:avLst/>
          </a:prstGeom>
          <a:noFill/>
        </p:spPr>
        <p:txBody>
          <a:bodyPr wrap="square" lIns="0" tIns="0" r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62"/>
          <p:cNvSpPr txBox="1"/>
          <p:nvPr/>
        </p:nvSpPr>
        <p:spPr>
          <a:xfrm>
            <a:off x="6345936" y="2889503"/>
            <a:ext cx="2157984" cy="365760"/>
          </a:xfrm>
          <a:prstGeom prst="rect">
            <a:avLst/>
          </a:prstGeom>
          <a:noFill/>
        </p:spPr>
        <p:txBody>
          <a:bodyPr wrap="square" lIns="0" tIns="0" r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 64"/>
          <p:cNvSpPr txBox="1"/>
          <p:nvPr/>
        </p:nvSpPr>
        <p:spPr>
          <a:xfrm>
            <a:off x="9480217" y="2971799"/>
            <a:ext cx="469860" cy="201168"/>
          </a:xfrm>
          <a:prstGeom prst="rect">
            <a:avLst/>
          </a:prstGeom>
          <a:noFill/>
        </p:spPr>
        <p:txBody>
          <a:bodyPr wrap="square" lIns="0" tIns="0" r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6"/>
          <p:cNvSpPr txBox="1"/>
          <p:nvPr/>
        </p:nvSpPr>
        <p:spPr>
          <a:xfrm>
            <a:off x="6345936" y="3300984"/>
            <a:ext cx="2157984" cy="365760"/>
          </a:xfrm>
          <a:prstGeom prst="rect">
            <a:avLst/>
          </a:prstGeom>
          <a:noFill/>
        </p:spPr>
        <p:txBody>
          <a:bodyPr wrap="square" lIns="0" tIns="0" r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8"/>
          <p:cNvSpPr txBox="1"/>
          <p:nvPr/>
        </p:nvSpPr>
        <p:spPr>
          <a:xfrm>
            <a:off x="9950078" y="3383279"/>
            <a:ext cx="469860" cy="201168"/>
          </a:xfrm>
          <a:prstGeom prst="rect">
            <a:avLst/>
          </a:prstGeom>
          <a:noFill/>
        </p:spPr>
        <p:txBody>
          <a:bodyPr wrap="square" lIns="0" tIns="0" r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6345936" y="3712463"/>
            <a:ext cx="2157984" cy="365760"/>
          </a:xfrm>
          <a:prstGeom prst="rect">
            <a:avLst/>
          </a:prstGeom>
          <a:noFill/>
        </p:spPr>
        <p:txBody>
          <a:bodyPr wrap="square" lIns="0" tIns="0" r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2"/>
          <p:cNvSpPr txBox="1"/>
          <p:nvPr/>
        </p:nvSpPr>
        <p:spPr>
          <a:xfrm>
            <a:off x="10419939" y="3794759"/>
            <a:ext cx="274320" cy="201168"/>
          </a:xfrm>
          <a:prstGeom prst="rect">
            <a:avLst/>
          </a:prstGeom>
          <a:noFill/>
        </p:spPr>
        <p:txBody>
          <a:bodyPr wrap="square" lIns="0" tIns="0" r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6345936" y="4123944"/>
            <a:ext cx="2157984" cy="365760"/>
          </a:xfrm>
          <a:prstGeom prst="rect">
            <a:avLst/>
          </a:prstGeom>
          <a:noFill/>
        </p:spPr>
        <p:txBody>
          <a:bodyPr wrap="square" lIns="0" tIns="0" r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10654870" y="4206240"/>
            <a:ext cx="939721" cy="201168"/>
          </a:xfrm>
          <a:prstGeom prst="rect">
            <a:avLst/>
          </a:prstGeom>
          <a:noFill/>
        </p:spPr>
        <p:txBody>
          <a:bodyPr wrap="square" lIns="0" tIns="0" r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938611" y="2148839"/>
            <a:ext cx="310896" cy="201168"/>
          </a:xfrm>
          <a:prstGeom prst="rect">
            <a:avLst/>
          </a:prstGeom>
          <a:noFill/>
        </p:spPr>
        <p:txBody>
          <a:bodyPr wrap="square" lIns="0" tIns="0" r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3"/>
          <p:cNvSpPr txBox="1"/>
          <p:nvPr/>
        </p:nvSpPr>
        <p:spPr>
          <a:xfrm>
            <a:off x="9525937" y="2560320"/>
            <a:ext cx="310896" cy="201168"/>
          </a:xfrm>
          <a:prstGeom prst="rect">
            <a:avLst/>
          </a:prstGeom>
          <a:noFill/>
        </p:spPr>
        <p:txBody>
          <a:bodyPr wrap="square" lIns="0" tIns="0" r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10465659" y="3383279"/>
            <a:ext cx="310896" cy="201168"/>
          </a:xfrm>
          <a:prstGeom prst="rect">
            <a:avLst/>
          </a:prstGeom>
          <a:noFill/>
        </p:spPr>
        <p:txBody>
          <a:bodyPr wrap="square" lIns="0" tIns="0" r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tIns="0" r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9"/>
          <p:cNvSpPr txBox="1"/>
          <p:nvPr/>
        </p:nvSpPr>
        <p:spPr>
          <a:xfrm>
            <a:off x="576072" y="5266944"/>
            <a:ext cx="1097280" cy="676656"/>
          </a:xfrm>
          <a:prstGeom prst="rect">
            <a:avLst/>
          </a:prstGeom>
          <a:noFill/>
        </p:spPr>
        <p:txBody>
          <a:bodyPr wrap="square" lIns="0" tIns="0" r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3"/>
          <p:cNvSpPr txBox="1"/>
          <p:nvPr/>
        </p:nvSpPr>
        <p:spPr>
          <a:xfrm>
            <a:off x="3445002" y="5266944"/>
            <a:ext cx="1097280" cy="676656"/>
          </a:xfrm>
          <a:prstGeom prst="rect">
            <a:avLst/>
          </a:prstGeom>
          <a:noFill/>
        </p:spPr>
        <p:txBody>
          <a:bodyPr wrap="square" lIns="0" tIns="0" r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7"/>
          <p:cNvSpPr txBox="1"/>
          <p:nvPr/>
        </p:nvSpPr>
        <p:spPr>
          <a:xfrm>
            <a:off x="6313932" y="5266944"/>
            <a:ext cx="1097280" cy="676656"/>
          </a:xfrm>
          <a:prstGeom prst="rect">
            <a:avLst/>
          </a:prstGeom>
          <a:noFill/>
        </p:spPr>
        <p:txBody>
          <a:bodyPr wrap="square" lIns="0" tIns="0" r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1"/>
          <p:cNvSpPr txBox="1"/>
          <p:nvPr/>
        </p:nvSpPr>
        <p:spPr>
          <a:xfrm>
            <a:off x="9182862" y="5266944"/>
            <a:ext cx="1097280" cy="676656"/>
          </a:xfrm>
          <a:prstGeom prst="rect">
            <a:avLst/>
          </a:prstGeom>
          <a:noFill/>
        </p:spPr>
        <p:txBody>
          <a:bodyPr wrap="square" lIns="0" tIns="0" r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tIns="0" r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5"/>
          <p:cNvSpPr/>
          <p:nvPr/>
        </p:nvSpPr>
        <p:spPr>
          <a:xfrm>
            <a:off x="411480" y="1170432"/>
            <a:ext cx="11201400" cy="237744"/>
          </a:xfrm>
          <a:prstGeom prst="rect">
            <a:avLst/>
          </a:prstGeom>
          <a:solidFill>
            <a:srgbClr val="00C3DC"/>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7" name="Picture 6" descr="googlecloud.png"/>
          <p:cNvPicPr>
            <a:picLocks noChangeAspect="1"/>
          </p:cNvPicPr>
          <p:nvPr/>
        </p:nvPicPr>
        <p:blipFill>
          <a:blip r:embed="rId3"/>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tIns="0" rIns="0" bIns="0" anchor="ctr">
            <a:spAutoFit/>
          </a:bodyPr>
          <a:lstStyle>
            <a:lvl1pPr algn="r">
              <a:defRPr sz="700" b="1" i="0" spc="100">
                <a:solidFill>
                  <a:srgbClr val="FFFFFE"/>
                </a:solidFill>
                <a:latin typeface="Trenda IG Text"/>
              </a:defRPr>
            </a:lvl1pPr>
          </a:lstStyle>
          <a:p>
            <a:pPr/>
            <a: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Text 9"/>
          <p:cNvSpPr txBox="1"/>
          <p:nvPr/>
        </p:nvSpPr>
        <p:spPr>
          <a:xfrm>
            <a:off x="621792" y="154533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a:t>
            </a:r>
          </a:p>
        </p:txBody>
      </p:sp>
      <p:pic>
        <p:nvPicPr>
          <p:cNvPr id="12" name="Picture 11" descr="googlecloud.png"/>
          <p:cNvPicPr>
            <a:picLocks noChangeAspect="1"/>
          </p:cNvPicPr>
          <p:nvPr/>
        </p:nvPicPr>
        <p:blipFill>
          <a:blip r:embed="rId3"/>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Sources</a:t>
            </a:r>
          </a:p>
        </p:txBody>
      </p:sp>
      <p:sp>
        <p:nvSpPr>
          <p:cNvPr id="14" name="Text 11"/>
          <p:cNvSpPr txBox="1"/>
          <p:nvPr/>
        </p:nvSpPr>
        <p:spPr>
          <a:xfrm>
            <a:off x="640080" y="1764792"/>
            <a:ext cx="1885492" cy="56692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5"/>
          <p:cNvSpPr txBox="1"/>
          <p:nvPr/>
        </p:nvSpPr>
        <p:spPr>
          <a:xfrm>
            <a:off x="2836468" y="154533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19" name="Text 16"/>
          <p:cNvSpPr txBox="1"/>
          <p:nvPr/>
        </p:nvSpPr>
        <p:spPr>
          <a:xfrm>
            <a:off x="3092500" y="1536192"/>
            <a:ext cx="1666036"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DLP + Collibra</a:t>
            </a:r>
          </a:p>
        </p:txBody>
      </p:sp>
      <p:sp>
        <p:nvSpPr>
          <p:cNvPr id="20" name="Text 17"/>
          <p:cNvSpPr txBox="1"/>
          <p:nvPr/>
        </p:nvSpPr>
        <p:spPr>
          <a:xfrm>
            <a:off x="2854756" y="1764792"/>
            <a:ext cx="1885492" cy="56692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1"/>
          <p:cNvSpPr txBox="1"/>
          <p:nvPr/>
        </p:nvSpPr>
        <p:spPr>
          <a:xfrm>
            <a:off x="5051145" y="154533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25" name="Text 22"/>
          <p:cNvSpPr txBox="1"/>
          <p:nvPr/>
        </p:nvSpPr>
        <p:spPr>
          <a:xfrm>
            <a:off x="5307177" y="1536192"/>
            <a:ext cx="1666036"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Bronze</a:t>
            </a:r>
          </a:p>
        </p:txBody>
      </p:sp>
      <p:sp>
        <p:nvSpPr>
          <p:cNvPr id="26" name="Text 23"/>
          <p:cNvSpPr txBox="1"/>
          <p:nvPr/>
        </p:nvSpPr>
        <p:spPr>
          <a:xfrm>
            <a:off x="5069433" y="1764792"/>
            <a:ext cx="1885492" cy="56692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7"/>
          <p:cNvSpPr txBox="1"/>
          <p:nvPr/>
        </p:nvSpPr>
        <p:spPr>
          <a:xfrm>
            <a:off x="7265822" y="154533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31" name="Text 28"/>
          <p:cNvSpPr txBox="1"/>
          <p:nvPr/>
        </p:nvSpPr>
        <p:spPr>
          <a:xfrm>
            <a:off x="7521854" y="1536192"/>
            <a:ext cx="1666036"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Silver</a:t>
            </a:r>
          </a:p>
        </p:txBody>
      </p:sp>
      <p:sp>
        <p:nvSpPr>
          <p:cNvPr id="32" name="Text 29"/>
          <p:cNvSpPr txBox="1"/>
          <p:nvPr/>
        </p:nvSpPr>
        <p:spPr>
          <a:xfrm>
            <a:off x="7284110" y="1764792"/>
            <a:ext cx="1885492" cy="56692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2"/>
          <p:cNvSpPr txBox="1"/>
          <p:nvPr/>
        </p:nvSpPr>
        <p:spPr>
          <a:xfrm>
            <a:off x="9480499" y="154533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36" name="Text 33"/>
          <p:cNvSpPr txBox="1"/>
          <p:nvPr/>
        </p:nvSpPr>
        <p:spPr>
          <a:xfrm>
            <a:off x="9736531" y="1536192"/>
            <a:ext cx="1666036"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Gold B · eligibility</a:t>
            </a:r>
          </a:p>
        </p:txBody>
      </p:sp>
      <p:sp>
        <p:nvSpPr>
          <p:cNvPr id="37" name="Text 34"/>
          <p:cNvSpPr txBox="1"/>
          <p:nvPr/>
        </p:nvSpPr>
        <p:spPr>
          <a:xfrm>
            <a:off x="9498787" y="1764792"/>
            <a:ext cx="1885492" cy="10058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Text 37"/>
          <p:cNvSpPr txBox="1"/>
          <p:nvPr/>
        </p:nvSpPr>
        <p:spPr>
          <a:xfrm>
            <a:off x="9480499" y="2011680"/>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6</a:t>
            </a:r>
          </a:p>
        </p:txBody>
      </p:sp>
      <p:pic>
        <p:nvPicPr>
          <p:cNvPr id="41" name="Picture 40" descr="googlebigquery.png"/>
          <p:cNvPicPr>
            <a:picLocks noChangeAspect="1"/>
          </p:cNvPicPr>
          <p:nvPr/>
        </p:nvPicPr>
        <p:blipFill>
          <a:blip r:embed="rId4"/>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Gold A · intelligence</a:t>
            </a:r>
          </a:p>
        </p:txBody>
      </p:sp>
      <p:sp>
        <p:nvSpPr>
          <p:cNvPr id="43" name="Text 39"/>
          <p:cNvSpPr txBox="1"/>
          <p:nvPr/>
        </p:nvSpPr>
        <p:spPr>
          <a:xfrm>
            <a:off x="9498787" y="2231136"/>
            <a:ext cx="1885492" cy="10058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4"/>
          <p:cNvSpPr txBox="1"/>
          <p:nvPr/>
        </p:nvSpPr>
        <p:spPr>
          <a:xfrm>
            <a:off x="548640" y="2432304"/>
            <a:ext cx="2743200" cy="16459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FFFFFE"/>
                </a:solidFill>
                <a:effectLst/>
                <a:uLnTx/>
                <a:uFillTx/>
                <a:latin typeface="Trenda IG Text"/>
                <a:ea typeface="+mn-ea"/>
                <a:cs typeface="+mn-cs"/>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6"/>
          <p:cNvSpPr/>
          <p:nvPr/>
        </p:nvSpPr>
        <p:spPr>
          <a:xfrm>
            <a:off x="411480" y="2651760"/>
            <a:ext cx="11201400" cy="237744"/>
          </a:xfrm>
          <a:prstGeom prst="rect">
            <a:avLst/>
          </a:prstGeom>
          <a:solidFill>
            <a:srgbClr val="00C3DC"/>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51" name="Picture 50" descr="harness.png"/>
          <p:cNvPicPr>
            <a:picLocks noChangeAspect="1"/>
          </p:cNvPicPr>
          <p:nvPr/>
        </p:nvPicPr>
        <p:blipFill>
          <a:blip r:embed="rId5"/>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00" normalizeH="0" baseline="0" noProof="0">
                <a:ln>
                  <a:noFill/>
                </a:ln>
                <a:solidFill>
                  <a:srgbClr val="FFFFFE"/>
                </a:solidFill>
                <a:effectLst/>
                <a:uLnTx/>
                <a:uFillTx/>
                <a:latin typeface="Trenda IG Text"/>
                <a:ea typeface="+mn-ea"/>
                <a:cs typeface="+mn-cs"/>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0"/>
          <p:cNvSpPr txBox="1"/>
          <p:nvPr/>
        </p:nvSpPr>
        <p:spPr>
          <a:xfrm>
            <a:off x="621792" y="3008375"/>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7</a:t>
            </a:r>
          </a:p>
        </p:txBody>
      </p:sp>
      <p:pic>
        <p:nvPicPr>
          <p:cNvPr id="56" name="Picture 55" descr="openai-white.png"/>
          <p:cNvPicPr>
            <a:picLocks noChangeAspect="1"/>
          </p:cNvPicPr>
          <p:nvPr/>
        </p:nvPicPr>
        <p:blipFill>
          <a:blip r:embed="rId6"/>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Prompt in Codex</a:t>
            </a:r>
          </a:p>
        </p:txBody>
      </p:sp>
      <p:sp>
        <p:nvSpPr>
          <p:cNvPr id="58" name="Text 52"/>
          <p:cNvSpPr txBox="1"/>
          <p:nvPr/>
        </p:nvSpPr>
        <p:spPr>
          <a:xfrm>
            <a:off x="640080" y="3227832"/>
            <a:ext cx="1516380" cy="40233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55"/>
          <p:cNvSpPr txBox="1"/>
          <p:nvPr/>
        </p:nvSpPr>
        <p:spPr>
          <a:xfrm>
            <a:off x="2467356" y="3008375"/>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8</a:t>
            </a:r>
          </a:p>
        </p:txBody>
      </p:sp>
      <p:sp>
        <p:nvSpPr>
          <p:cNvPr id="62" name="Text 56"/>
          <p:cNvSpPr txBox="1"/>
          <p:nvPr/>
        </p:nvSpPr>
        <p:spPr>
          <a:xfrm>
            <a:off x="2723387" y="2999232"/>
            <a:ext cx="1296924"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Planning agents</a:t>
            </a:r>
          </a:p>
        </p:txBody>
      </p:sp>
      <p:sp>
        <p:nvSpPr>
          <p:cNvPr id="63" name="Text 57"/>
          <p:cNvSpPr txBox="1"/>
          <p:nvPr/>
        </p:nvSpPr>
        <p:spPr>
          <a:xfrm>
            <a:off x="2485644" y="3227832"/>
            <a:ext cx="1516380" cy="40233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6" name="Text 60"/>
          <p:cNvSpPr txBox="1"/>
          <p:nvPr/>
        </p:nvSpPr>
        <p:spPr>
          <a:xfrm>
            <a:off x="4312920" y="3008375"/>
            <a:ext cx="1828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9</a:t>
            </a:r>
          </a:p>
        </p:txBody>
      </p:sp>
      <p:pic>
        <p:nvPicPr>
          <p:cNvPr id="67" name="Picture 66" descr="people.png"/>
          <p:cNvPicPr>
            <a:picLocks noChangeAspect="1"/>
          </p:cNvPicPr>
          <p:nvPr/>
        </p:nvPicPr>
        <p:blipFill>
          <a:blip r:embed="rId7"/>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3"/>
          <p:cNvSpPr txBox="1"/>
          <p:nvPr/>
        </p:nvSpPr>
        <p:spPr>
          <a:xfrm>
            <a:off x="5554980" y="3017520"/>
            <a:ext cx="310896" cy="1371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000000"/>
                </a:solidFill>
                <a:effectLst/>
                <a:uLnTx/>
                <a:uFillTx/>
                <a:latin typeface="Trenda IG Text"/>
                <a:ea typeface="+mn-ea"/>
                <a:cs typeface="+mn-cs"/>
              </a:rPr>
              <a:t>G1</a:t>
            </a:r>
          </a:p>
        </p:txBody>
      </p:sp>
      <p:sp>
        <p:nvSpPr>
          <p:cNvPr id="71" name="Text 64"/>
          <p:cNvSpPr txBox="1"/>
          <p:nvPr/>
        </p:nvSpPr>
        <p:spPr>
          <a:xfrm>
            <a:off x="4312920" y="3236975"/>
            <a:ext cx="1571244" cy="40233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67"/>
          <p:cNvSpPr txBox="1"/>
          <p:nvPr/>
        </p:nvSpPr>
        <p:spPr>
          <a:xfrm>
            <a:off x="6158483" y="3008375"/>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10</a:t>
            </a:r>
          </a:p>
        </p:txBody>
      </p:sp>
      <p:sp>
        <p:nvSpPr>
          <p:cNvPr id="75" name="Text 68"/>
          <p:cNvSpPr txBox="1"/>
          <p:nvPr/>
        </p:nvSpPr>
        <p:spPr>
          <a:xfrm>
            <a:off x="6414516" y="2999232"/>
            <a:ext cx="1296923"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Campaign Design Agent</a:t>
            </a:r>
          </a:p>
        </p:txBody>
      </p:sp>
      <p:sp>
        <p:nvSpPr>
          <p:cNvPr id="76" name="Text 69"/>
          <p:cNvSpPr txBox="1"/>
          <p:nvPr/>
        </p:nvSpPr>
        <p:spPr>
          <a:xfrm>
            <a:off x="6176771" y="3227832"/>
            <a:ext cx="1516380" cy="40233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2"/>
          <p:cNvSpPr txBox="1"/>
          <p:nvPr/>
        </p:nvSpPr>
        <p:spPr>
          <a:xfrm>
            <a:off x="8004047" y="2999232"/>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11</a:t>
            </a:r>
          </a:p>
        </p:txBody>
      </p:sp>
      <p:sp>
        <p:nvSpPr>
          <p:cNvPr id="80" name="Text 73"/>
          <p:cNvSpPr txBox="1"/>
          <p:nvPr/>
        </p:nvSpPr>
        <p:spPr>
          <a:xfrm>
            <a:off x="8260079" y="2980944"/>
            <a:ext cx="1333499"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D6F2"/>
                </a:solidFill>
                <a:effectLst/>
                <a:uLnTx/>
                <a:uFillTx/>
                <a:latin typeface="Trenda IG Text"/>
                <a:ea typeface="+mn-ea"/>
                <a:cs typeface="+mn-cs"/>
              </a:rPr>
              <a:t>Readiness · testing</a:t>
            </a:r>
          </a:p>
        </p:txBody>
      </p:sp>
      <p:sp>
        <p:nvSpPr>
          <p:cNvPr id="81" name="Text 74"/>
          <p:cNvSpPr txBox="1"/>
          <p:nvPr/>
        </p:nvSpPr>
        <p:spPr>
          <a:xfrm>
            <a:off x="8004047" y="3200400"/>
            <a:ext cx="1571244"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Test contacts only: consent, STOP, links, hours. </a:t>
            </a:r>
            <a:r>
              <a:rPr kumimoji="0" sz="700" b="1" i="0" u="none" strike="noStrike" kern="1200" cap="none" spc="0" normalizeH="0" baseline="0" noProof="0">
                <a:ln>
                  <a:noFill/>
                </a:ln>
                <a:solidFill>
                  <a:srgbClr val="FF0069"/>
                </a:solidFill>
                <a:effectLst/>
                <a:uLnTx/>
                <a:uFillTx/>
                <a:latin typeface="Trenda IG Text"/>
                <a:ea typeface="+mn-ea"/>
                <a:cs typeface="+mn-cs"/>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77"/>
          <p:cNvSpPr txBox="1"/>
          <p:nvPr/>
        </p:nvSpPr>
        <p:spPr>
          <a:xfrm>
            <a:off x="9849611" y="3008375"/>
            <a:ext cx="1828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12</a:t>
            </a:r>
          </a:p>
        </p:txBody>
      </p:sp>
      <p:pic>
        <p:nvPicPr>
          <p:cNvPr id="85" name="Picture 84" descr="people.png"/>
          <p:cNvPicPr>
            <a:picLocks noChangeAspect="1"/>
          </p:cNvPicPr>
          <p:nvPr/>
        </p:nvPicPr>
        <p:blipFill>
          <a:blip r:embed="rId7"/>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8" name="Text 80"/>
          <p:cNvSpPr txBox="1"/>
          <p:nvPr/>
        </p:nvSpPr>
        <p:spPr>
          <a:xfrm>
            <a:off x="11091671" y="3017520"/>
            <a:ext cx="310896" cy="1371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000000"/>
                </a:solidFill>
                <a:effectLst/>
                <a:uLnTx/>
                <a:uFillTx/>
                <a:latin typeface="Trenda IG Text"/>
                <a:ea typeface="+mn-ea"/>
                <a:cs typeface="+mn-cs"/>
              </a:rPr>
              <a:t>G3</a:t>
            </a:r>
          </a:p>
        </p:txBody>
      </p:sp>
      <p:sp>
        <p:nvSpPr>
          <p:cNvPr id="89" name="Text 81"/>
          <p:cNvSpPr txBox="1"/>
          <p:nvPr/>
        </p:nvSpPr>
        <p:spPr>
          <a:xfrm>
            <a:off x="9849611" y="3236975"/>
            <a:ext cx="1571244" cy="40233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1" i="0" u="none" strike="noStrike" kern="1200" cap="none" spc="100" normalizeH="0" baseline="0" noProof="0">
                <a:ln>
                  <a:noFill/>
                </a:ln>
                <a:solidFill>
                  <a:srgbClr val="8C8C8C"/>
                </a:solidFill>
                <a:effectLst/>
                <a:uLnTx/>
                <a:uFillTx/>
                <a:latin typeface="Trenda IG Text"/>
                <a:ea typeface="+mn-ea"/>
                <a:cs typeface="+mn-cs"/>
              </a:rPr>
              <a:t>CONTEXT + OVERSIGHT</a:t>
            </a:r>
          </a:p>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8C8C8C"/>
                </a:solidFill>
                <a:effectLst/>
                <a:uLnTx/>
                <a:uFillTx/>
                <a:latin typeface="Trenda IG Text"/>
                <a:ea typeface="+mn-ea"/>
                <a:cs typeface="+mn-cs"/>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103" name="Picture 102" descr="googlecloudspanner.png"/>
          <p:cNvPicPr>
            <a:picLocks noChangeAspect="1"/>
          </p:cNvPicPr>
          <p:nvPr/>
        </p:nvPicPr>
        <p:blipFill>
          <a:blip r:embed="rId8"/>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Knowledge graph</a:t>
            </a:r>
          </a:p>
        </p:txBody>
      </p:sp>
      <p:sp>
        <p:nvSpPr>
          <p:cNvPr id="105" name="Text 96"/>
          <p:cNvSpPr txBox="1"/>
          <p:nvPr/>
        </p:nvSpPr>
        <p:spPr>
          <a:xfrm>
            <a:off x="2485644" y="4050791"/>
            <a:ext cx="1516380" cy="11887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107" name="Picture 106" descr="tableau.png"/>
          <p:cNvPicPr>
            <a:picLocks noChangeAspect="1"/>
          </p:cNvPicPr>
          <p:nvPr/>
        </p:nvPicPr>
        <p:blipFill>
          <a:blip r:embed="rId9"/>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Tableau</a:t>
            </a:r>
          </a:p>
        </p:txBody>
      </p:sp>
      <p:sp>
        <p:nvSpPr>
          <p:cNvPr id="109" name="Text 99"/>
          <p:cNvSpPr txBox="1"/>
          <p:nvPr/>
        </p:nvSpPr>
        <p:spPr>
          <a:xfrm>
            <a:off x="4331208" y="4050791"/>
            <a:ext cx="1516380" cy="11887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1" name="Text 101"/>
          <p:cNvSpPr txBox="1"/>
          <p:nvPr/>
        </p:nvSpPr>
        <p:spPr>
          <a:xfrm>
            <a:off x="6176771" y="3822191"/>
            <a:ext cx="1534667"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Compliance Guardian</a:t>
            </a:r>
          </a:p>
        </p:txBody>
      </p:sp>
      <p:sp>
        <p:nvSpPr>
          <p:cNvPr id="112" name="Text 102"/>
          <p:cNvSpPr txBox="1"/>
          <p:nvPr/>
        </p:nvSpPr>
        <p:spPr>
          <a:xfrm>
            <a:off x="6176771" y="4050791"/>
            <a:ext cx="1516380" cy="11887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04"/>
          <p:cNvSpPr txBox="1"/>
          <p:nvPr/>
        </p:nvSpPr>
        <p:spPr>
          <a:xfrm>
            <a:off x="8022335" y="3822191"/>
            <a:ext cx="1534667"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Measurement Agent</a:t>
            </a:r>
          </a:p>
        </p:txBody>
      </p:sp>
      <p:sp>
        <p:nvSpPr>
          <p:cNvPr id="115" name="Text 105"/>
          <p:cNvSpPr txBox="1"/>
          <p:nvPr/>
        </p:nvSpPr>
        <p:spPr>
          <a:xfrm>
            <a:off x="8022335" y="4050791"/>
            <a:ext cx="1516380" cy="11887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117" name="Picture 116" descr="people.png"/>
          <p:cNvPicPr>
            <a:picLocks noChangeAspect="1"/>
          </p:cNvPicPr>
          <p:nvPr/>
        </p:nvPicPr>
        <p:blipFill>
          <a:blip r:embed="rId7"/>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09"/>
          <p:cNvSpPr txBox="1"/>
          <p:nvPr/>
        </p:nvSpPr>
        <p:spPr>
          <a:xfrm>
            <a:off x="11091671" y="3840480"/>
            <a:ext cx="310896" cy="1371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000000"/>
                </a:solidFill>
                <a:effectLst/>
                <a:uLnTx/>
                <a:uFillTx/>
                <a:latin typeface="Trenda IG Text"/>
                <a:ea typeface="+mn-ea"/>
                <a:cs typeface="+mn-cs"/>
              </a:rPr>
              <a:t>G1-3</a:t>
            </a:r>
          </a:p>
        </p:txBody>
      </p:sp>
      <p:sp>
        <p:nvSpPr>
          <p:cNvPr id="121" name="Text 110"/>
          <p:cNvSpPr txBox="1"/>
          <p:nvPr/>
        </p:nvSpPr>
        <p:spPr>
          <a:xfrm>
            <a:off x="9849611" y="4059936"/>
            <a:ext cx="1571244" cy="11887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0" name="Text 119"/>
          <p:cNvSpPr txBox="1"/>
          <p:nvPr/>
        </p:nvSpPr>
        <p:spPr>
          <a:xfrm>
            <a:off x="4572000" y="4251960"/>
            <a:ext cx="2743200" cy="16459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FFFFFE"/>
                </a:solidFill>
                <a:effectLst/>
                <a:uLnTx/>
                <a:uFillTx/>
                <a:latin typeface="Trenda IG Text"/>
                <a:ea typeface="+mn-ea"/>
                <a:cs typeface="+mn-cs"/>
              </a:rPr>
              <a:t>RECOMMENDATION ≠ RELEASE</a:t>
            </a:r>
          </a:p>
        </p:txBody>
      </p:sp>
      <p:sp>
        <p:nvSpPr>
          <p:cNvPr id="131" name="Shape 120"/>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2" name="Shape 121"/>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133" name="Picture 132" descr="salesforce.png"/>
          <p:cNvPicPr>
            <a:picLocks noChangeAspect="1"/>
          </p:cNvPicPr>
          <p:nvPr/>
        </p:nvPicPr>
        <p:blipFill>
          <a:blip r:embed="rId10"/>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00" normalizeH="0" baseline="0" noProof="0">
                <a:ln>
                  <a:noFill/>
                </a:ln>
                <a:solidFill>
                  <a:srgbClr val="000000"/>
                </a:solidFill>
                <a:effectLst/>
                <a:uLnTx/>
                <a:uFillTx/>
                <a:latin typeface="Trenda IG Text"/>
                <a:ea typeface="+mn-ea"/>
                <a:cs typeface="+mn-cs"/>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6" name="Shape 124"/>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7" name="Text 125"/>
          <p:cNvSpPr txBox="1"/>
          <p:nvPr/>
        </p:nvSpPr>
        <p:spPr>
          <a:xfrm>
            <a:off x="621792" y="488289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13</a:t>
            </a:r>
          </a:p>
        </p:txBody>
      </p:sp>
      <p:sp>
        <p:nvSpPr>
          <p:cNvPr id="138" name="Text 126"/>
          <p:cNvSpPr txBox="1"/>
          <p:nvPr/>
        </p:nvSpPr>
        <p:spPr>
          <a:xfrm>
            <a:off x="877824" y="4873752"/>
            <a:ext cx="1152143"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Eligibility service</a:t>
            </a:r>
          </a:p>
        </p:txBody>
      </p:sp>
      <p:sp>
        <p:nvSpPr>
          <p:cNvPr id="139" name="Text 127"/>
          <p:cNvSpPr txBox="1"/>
          <p:nvPr/>
        </p:nvSpPr>
        <p:spPr>
          <a:xfrm>
            <a:off x="640080" y="5102352"/>
            <a:ext cx="1371600" cy="4937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1" name="Shape 129"/>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2" name="Text 130"/>
          <p:cNvSpPr txBox="1"/>
          <p:nvPr/>
        </p:nvSpPr>
        <p:spPr>
          <a:xfrm>
            <a:off x="2322576" y="4882896"/>
            <a:ext cx="1828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14</a:t>
            </a:r>
          </a:p>
        </p:txBody>
      </p:sp>
      <p:pic>
        <p:nvPicPr>
          <p:cNvPr id="143" name="Picture 142" descr="people.png"/>
          <p:cNvPicPr>
            <a:picLocks noChangeAspect="1"/>
          </p:cNvPicPr>
          <p:nvPr/>
        </p:nvPicPr>
        <p:blipFill>
          <a:blip r:embed="rId7"/>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Pre-send</a:t>
            </a:r>
          </a:p>
        </p:txBody>
      </p:sp>
      <p:sp>
        <p:nvSpPr>
          <p:cNvPr id="145" name="Shape 132"/>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6" name="Text 133"/>
          <p:cNvSpPr txBox="1"/>
          <p:nvPr/>
        </p:nvSpPr>
        <p:spPr>
          <a:xfrm>
            <a:off x="3328416" y="4892040"/>
            <a:ext cx="310896" cy="1371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000000"/>
                </a:solidFill>
                <a:effectLst/>
                <a:uLnTx/>
                <a:uFillTx/>
                <a:latin typeface="Trenda IG Text"/>
                <a:ea typeface="+mn-ea"/>
                <a:cs typeface="+mn-cs"/>
              </a:rPr>
              <a:t>G2</a:t>
            </a:r>
          </a:p>
        </p:txBody>
      </p:sp>
      <p:sp>
        <p:nvSpPr>
          <p:cNvPr id="147" name="Text 134"/>
          <p:cNvSpPr txBox="1"/>
          <p:nvPr/>
        </p:nvSpPr>
        <p:spPr>
          <a:xfrm>
            <a:off x="2322576" y="5111496"/>
            <a:ext cx="1335024" cy="4937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9" name="Shape 137"/>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0" name="Shape 138"/>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1" name="Text 139"/>
          <p:cNvSpPr txBox="1"/>
          <p:nvPr/>
        </p:nvSpPr>
        <p:spPr>
          <a:xfrm>
            <a:off x="3922775" y="4873752"/>
            <a:ext cx="1828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15</a:t>
            </a:r>
          </a:p>
        </p:txBody>
      </p:sp>
      <p:sp>
        <p:nvSpPr>
          <p:cNvPr id="152" name="Text 140"/>
          <p:cNvSpPr txBox="1"/>
          <p:nvPr/>
        </p:nvSpPr>
        <p:spPr>
          <a:xfrm>
            <a:off x="4151375" y="4846320"/>
            <a:ext cx="1481328" cy="329184"/>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Policy engine + activation gateway</a:t>
            </a:r>
          </a:p>
        </p:txBody>
      </p:sp>
      <p:sp>
        <p:nvSpPr>
          <p:cNvPr id="153" name="Text 141"/>
          <p:cNvSpPr txBox="1"/>
          <p:nvPr/>
        </p:nvSpPr>
        <p:spPr>
          <a:xfrm>
            <a:off x="3950207" y="5184648"/>
            <a:ext cx="1664207" cy="41147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5" name="Shape 143"/>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6" name="Text 144"/>
          <p:cNvSpPr txBox="1"/>
          <p:nvPr/>
        </p:nvSpPr>
        <p:spPr>
          <a:xfrm>
            <a:off x="5907024" y="488289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16</a:t>
            </a:r>
          </a:p>
        </p:txBody>
      </p:sp>
      <p:pic>
        <p:nvPicPr>
          <p:cNvPr id="157" name="Picture 156" descr="salesforce.png"/>
          <p:cNvPicPr>
            <a:picLocks noChangeAspect="1"/>
          </p:cNvPicPr>
          <p:nvPr/>
        </p:nvPicPr>
        <p:blipFill>
          <a:blip r:embed="rId10"/>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A · via Data Cloud</a:t>
            </a:r>
          </a:p>
        </p:txBody>
      </p:sp>
      <p:sp>
        <p:nvSpPr>
          <p:cNvPr id="159" name="Shape 146"/>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0" name="Text 147"/>
          <p:cNvSpPr txBox="1"/>
          <p:nvPr/>
        </p:nvSpPr>
        <p:spPr>
          <a:xfrm>
            <a:off x="5925312" y="5303520"/>
            <a:ext cx="1161288"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B · direct pull</a:t>
            </a:r>
          </a:p>
        </p:txBody>
      </p:sp>
      <p:sp>
        <p:nvSpPr>
          <p:cNvPr id="161" name="Shape 148"/>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2" name="Shape 149"/>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3" name="Text 150"/>
          <p:cNvSpPr txBox="1"/>
          <p:nvPr/>
        </p:nvSpPr>
        <p:spPr>
          <a:xfrm>
            <a:off x="7379208" y="488289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17</a:t>
            </a:r>
          </a:p>
        </p:txBody>
      </p:sp>
      <p:pic>
        <p:nvPicPr>
          <p:cNvPr id="164" name="Picture 163" descr="salesforce.png"/>
          <p:cNvPicPr>
            <a:picLocks noChangeAspect="1"/>
          </p:cNvPicPr>
          <p:nvPr/>
        </p:nvPicPr>
        <p:blipFill>
          <a:blip r:embed="rId10"/>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Data extension</a:t>
            </a:r>
          </a:p>
        </p:txBody>
      </p:sp>
      <p:sp>
        <p:nvSpPr>
          <p:cNvPr id="166" name="Text 152"/>
          <p:cNvSpPr txBox="1"/>
          <p:nvPr/>
        </p:nvSpPr>
        <p:spPr>
          <a:xfrm>
            <a:off x="7397496" y="5102352"/>
            <a:ext cx="1143000" cy="4937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8" name="Shape 154"/>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9" name="Text 155"/>
          <p:cNvSpPr txBox="1"/>
          <p:nvPr/>
        </p:nvSpPr>
        <p:spPr>
          <a:xfrm>
            <a:off x="8851392" y="488289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18</a:t>
            </a:r>
          </a:p>
        </p:txBody>
      </p:sp>
      <p:sp>
        <p:nvSpPr>
          <p:cNvPr id="170" name="Text 156"/>
          <p:cNvSpPr txBox="1"/>
          <p:nvPr/>
        </p:nvSpPr>
        <p:spPr>
          <a:xfrm>
            <a:off x="9107424" y="4873752"/>
            <a:ext cx="923543"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Journey starts</a:t>
            </a:r>
          </a:p>
        </p:txBody>
      </p:sp>
      <p:sp>
        <p:nvSpPr>
          <p:cNvPr id="171" name="Text 157"/>
          <p:cNvSpPr txBox="1"/>
          <p:nvPr/>
        </p:nvSpPr>
        <p:spPr>
          <a:xfrm>
            <a:off x="8869680" y="5102352"/>
            <a:ext cx="1143000" cy="4937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FBFBF"/>
                </a:solidFill>
                <a:effectLst/>
                <a:uLnTx/>
                <a:uFillTx/>
                <a:latin typeface="Trenda IG Text"/>
                <a:ea typeface="+mn-ea"/>
                <a:cs typeface="+mn-cs"/>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3" name="Shape 159"/>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4" name="Text 160"/>
          <p:cNvSpPr txBox="1"/>
          <p:nvPr/>
        </p:nvSpPr>
        <p:spPr>
          <a:xfrm>
            <a:off x="10323576" y="4882896"/>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19</a:t>
            </a:r>
          </a:p>
        </p:txBody>
      </p:sp>
      <p:sp>
        <p:nvSpPr>
          <p:cNvPr id="175" name="Text 161"/>
          <p:cNvSpPr txBox="1"/>
          <p:nvPr/>
        </p:nvSpPr>
        <p:spPr>
          <a:xfrm>
            <a:off x="10579607" y="4873752"/>
            <a:ext cx="822960"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Send-time check</a:t>
            </a:r>
          </a:p>
        </p:txBody>
      </p:sp>
      <p:sp>
        <p:nvSpPr>
          <p:cNvPr id="176" name="Shape 162"/>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7" name="Shape 163"/>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8" name="Text 164"/>
          <p:cNvSpPr txBox="1"/>
          <p:nvPr/>
        </p:nvSpPr>
        <p:spPr>
          <a:xfrm>
            <a:off x="10323576" y="5312664"/>
            <a:ext cx="20116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20</a:t>
            </a:r>
          </a:p>
        </p:txBody>
      </p:sp>
      <p:sp>
        <p:nvSpPr>
          <p:cNvPr id="179" name="Text 165"/>
          <p:cNvSpPr txBox="1"/>
          <p:nvPr/>
        </p:nvSpPr>
        <p:spPr>
          <a:xfrm>
            <a:off x="10579607" y="5303520"/>
            <a:ext cx="822960"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F"/>
                </a:solidFill>
                <a:effectLst/>
                <a:uLnTx/>
                <a:uFillTx/>
                <a:latin typeface="Trenda IG Text"/>
                <a:ea typeface="+mn-ea"/>
                <a:cs typeface="+mn-cs"/>
              </a:rPr>
              <a:t>Measurement</a:t>
            </a:r>
          </a:p>
        </p:txBody>
      </p:sp>
      <p:cxnSp>
        <p:nvCxnSpPr>
          <p:cNvPr id="180" name="Arrow 166"/>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8" name="Text 184"/>
          <p:cNvSpPr txBox="1"/>
          <p:nvPr/>
        </p:nvSpPr>
        <p:spPr>
          <a:xfrm>
            <a:off x="7863840" y="5669279"/>
            <a:ext cx="2194560" cy="12801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80" normalizeH="0" baseline="0" noProof="0">
                <a:ln>
                  <a:noFill/>
                </a:ln>
                <a:solidFill>
                  <a:srgbClr val="000000"/>
                </a:solidFill>
                <a:effectLst/>
                <a:uLnTx/>
                <a:uFillTx/>
                <a:latin typeface="Trenda IG Text"/>
                <a:ea typeface="+mn-ea"/>
                <a:cs typeface="+mn-cs"/>
              </a:rPr>
              <a:t>ENGAGEMENT BACK → NEXT RUN</a:t>
            </a:r>
          </a:p>
        </p:txBody>
      </p:sp>
      <p:sp>
        <p:nvSpPr>
          <p:cNvPr id="199" name="Text 185"/>
          <p:cNvSpPr txBox="1"/>
          <p:nvPr/>
        </p:nvSpPr>
        <p:spPr>
          <a:xfrm>
            <a:off x="411480" y="5815584"/>
            <a:ext cx="114300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1" i="0" u="none" strike="noStrike" kern="1200" cap="none" spc="120" normalizeH="0" baseline="0" noProof="0">
                <a:ln>
                  <a:noFill/>
                </a:ln>
                <a:solidFill>
                  <a:srgbClr val="FF0069"/>
                </a:solidFill>
                <a:effectLst/>
                <a:uLnTx/>
                <a:uFillTx/>
                <a:latin typeface="Trenda IG Text"/>
                <a:ea typeface="+mn-ea"/>
                <a:cs typeface="+mn-cs"/>
              </a:rPr>
              <a:t>SAFEGUARDS</a:t>
            </a:r>
          </a:p>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8C8C8C"/>
                </a:solidFill>
                <a:effectLst/>
                <a:uLnTx/>
                <a:uFillTx/>
                <a:latin typeface="Trenda IG Text"/>
                <a:ea typeface="+mn-ea"/>
                <a:cs typeface="+mn-cs"/>
              </a:rPr>
              <a:t>no wrong or no-consent patient</a:t>
            </a:r>
          </a:p>
        </p:txBody>
      </p:sp>
      <p:sp>
        <p:nvSpPr>
          <p:cNvPr id="200" name="Shape 186"/>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1" name="Shape 187"/>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2" name="Text 188"/>
          <p:cNvSpPr txBox="1"/>
          <p:nvPr/>
        </p:nvSpPr>
        <p:spPr>
          <a:xfrm>
            <a:off x="1709928"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Build and test before any data lands</a:t>
            </a:r>
          </a:p>
        </p:txBody>
      </p:sp>
      <p:sp>
        <p:nvSpPr>
          <p:cNvPr id="203" name="Shape 189"/>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4" name="Shape 190"/>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5" name="Text 191"/>
          <p:cNvSpPr txBox="1"/>
          <p:nvPr/>
        </p:nvSpPr>
        <p:spPr>
          <a:xfrm>
            <a:off x="3150761"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G2: masked pre-send report</a:t>
            </a:r>
          </a:p>
        </p:txBody>
      </p:sp>
      <p:sp>
        <p:nvSpPr>
          <p:cNvPr id="206" name="Shape 192"/>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7" name="Shape 193"/>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8" name="Text 194"/>
          <p:cNvSpPr txBox="1"/>
          <p:nvPr/>
        </p:nvSpPr>
        <p:spPr>
          <a:xfrm>
            <a:off x="4591594"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Minimum fields, only after G2 + G3</a:t>
            </a:r>
          </a:p>
        </p:txBody>
      </p:sp>
      <p:sp>
        <p:nvSpPr>
          <p:cNvPr id="209" name="Shape 195"/>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0" name="Shape 196"/>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1" name="Text 197"/>
          <p:cNvSpPr txBox="1"/>
          <p:nvPr/>
        </p:nvSpPr>
        <p:spPr>
          <a:xfrm>
            <a:off x="6032427"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Gateway release; agents hold no raw PHI</a:t>
            </a:r>
          </a:p>
        </p:txBody>
      </p:sp>
      <p:sp>
        <p:nvSpPr>
          <p:cNvPr id="212" name="Shape 198"/>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3" name="Shape 199"/>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4" name="Text 200"/>
          <p:cNvSpPr txBox="1"/>
          <p:nvPr/>
        </p:nvSpPr>
        <p:spPr>
          <a:xfrm>
            <a:off x="7473260"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Collibra steward approves masking</a:t>
            </a:r>
          </a:p>
        </p:txBody>
      </p:sp>
      <p:sp>
        <p:nvSpPr>
          <p:cNvPr id="215" name="Shape 201"/>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6" name="Shape 202"/>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7" name="Text 203"/>
          <p:cNvSpPr txBox="1"/>
          <p:nvPr/>
        </p:nvSpPr>
        <p:spPr>
          <a:xfrm>
            <a:off x="8914093"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Retry cap: 5, then an owner</a:t>
            </a:r>
          </a:p>
        </p:txBody>
      </p:sp>
      <p:sp>
        <p:nvSpPr>
          <p:cNvPr id="218" name="Shape 204"/>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9" name="Shape 205"/>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0" name="Text 206"/>
          <p:cNvSpPr txBox="1"/>
          <p:nvPr/>
        </p:nvSpPr>
        <p:spPr>
          <a:xfrm>
            <a:off x="10354926" y="5815584"/>
            <a:ext cx="1221377"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FFFF"/>
                </a:solidFill>
                <a:effectLst/>
                <a:uLnTx/>
                <a:uFillTx/>
                <a:latin typeface="Trenda IG Text"/>
                <a:ea typeface="+mn-ea"/>
                <a:cs typeface="+mn-cs"/>
              </a:rPr>
              <a:t>Send-time re-checks + feedback</a:t>
            </a:r>
          </a:p>
        </p:txBody>
      </p:sp>
    </p:spTree>
    <p:extLst>
      <p:ext uri="{BB962C8B-B14F-4D97-AF65-F5344CB8AC3E}">
        <p14:creationId xmlns:p14="http://schemas.microsoft.com/office/powerpoint/2010/main" val="2487507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70432"/>
            <a:ext cx="219456" cy="21945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7" name="Text 6"/>
          <p:cNvSpPr txBox="1"/>
          <p:nvPr/>
        </p:nvSpPr>
        <p:spPr>
          <a:xfrm>
            <a:off x="704088" y="1170432"/>
            <a:ext cx="41148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60" normalizeH="0" baseline="0" noProof="0">
                <a:ln>
                  <a:noFill/>
                </a:ln>
                <a:solidFill>
                  <a:srgbClr val="00D6F2"/>
                </a:solidFill>
                <a:effectLst/>
                <a:uLnTx/>
                <a:uFillTx/>
                <a:latin typeface="Trenda IG Text"/>
                <a:ea typeface="+mn-ea"/>
                <a:cs typeface="+mn-cs"/>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548640" y="1490472"/>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Authoritative sources</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48640" y="2110435"/>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DLP + Collibra</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548640" y="2730398"/>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Bronze → Silver</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8"/>
          <p:cNvSpPr txBox="1"/>
          <p:nvPr/>
        </p:nvSpPr>
        <p:spPr>
          <a:xfrm>
            <a:off x="548640" y="3350361"/>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Gold A · insight  |  restricted patient layer</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548640" y="3970324"/>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Kyvos semantic layer</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548640" y="4590288"/>
            <a:ext cx="254203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Spanner knowledge graph</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3337560" y="1170432"/>
            <a:ext cx="219456" cy="21945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35" name="Text 34"/>
          <p:cNvSpPr txBox="1"/>
          <p:nvPr/>
        </p:nvSpPr>
        <p:spPr>
          <a:xfrm>
            <a:off x="3630168" y="1170432"/>
            <a:ext cx="41148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60" normalizeH="0" baseline="0" noProof="0">
                <a:ln>
                  <a:noFill/>
                </a:ln>
                <a:solidFill>
                  <a:srgbClr val="FFD700"/>
                </a:solidFill>
                <a:effectLst/>
                <a:uLnTx/>
                <a:uFillTx/>
                <a:latin typeface="Trenda IG Text"/>
                <a:ea typeface="+mn-ea"/>
                <a:cs typeface="+mn-cs"/>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3337560" y="1536192"/>
            <a:ext cx="3749039" cy="2377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2F2F2"/>
                </a:solidFill>
                <a:effectLst/>
                <a:uLnTx/>
                <a:uFillTx/>
                <a:latin typeface="Trenda IG Text"/>
                <a:ea typeface="+mn-ea"/>
                <a:cs typeface="+mn-cs"/>
              </a:rPr>
              <a:t>ONE CONVERSATION · NAMED APPROVALS</a:t>
            </a:r>
          </a:p>
        </p:txBody>
      </p:sp>
      <p:sp>
        <p:nvSpPr>
          <p:cNvPr id="38" name="Text 37"/>
          <p:cNvSpPr txBox="1"/>
          <p:nvPr/>
        </p:nvSpPr>
        <p:spPr>
          <a:xfrm>
            <a:off x="3337560" y="1773936"/>
            <a:ext cx="3749039" cy="16459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FD700"/>
                </a:solidFill>
                <a:effectLst/>
                <a:uLnTx/>
                <a:uFillTx/>
                <a:latin typeface="Trenda IG Text"/>
                <a:ea typeface="+mn-ea"/>
                <a:cs typeface="+mn-cs"/>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621024" y="2057400"/>
            <a:ext cx="2724911"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A  </a:t>
            </a:r>
            <a:r>
              <a:rPr kumimoji="0" sz="800" b="1" i="0" u="none" strike="noStrike" kern="1200" cap="none" spc="0" normalizeH="0" baseline="0" noProof="0">
                <a:ln>
                  <a:noFill/>
                </a:ln>
                <a:solidFill>
                  <a:srgbClr val="F2F2F2"/>
                </a:solidFill>
                <a:effectLst/>
                <a:uLnTx/>
                <a:uFillTx/>
                <a:latin typeface="Trenda IG Text"/>
                <a:ea typeface="+mn-ea"/>
                <a:cs typeface="+mn-cs"/>
              </a:rPr>
              <a:t>Campaign goal</a:t>
            </a:r>
          </a:p>
        </p:txBody>
      </p:sp>
      <p:sp>
        <p:nvSpPr>
          <p:cNvPr id="42" name="Text 41"/>
          <p:cNvSpPr txBox="1"/>
          <p:nvPr/>
        </p:nvSpPr>
        <p:spPr>
          <a:xfrm>
            <a:off x="3621024" y="2295144"/>
            <a:ext cx="3227832"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3621024" y="2667762"/>
            <a:ext cx="2724911"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D700"/>
                </a:solidFill>
                <a:effectLst/>
                <a:uLnTx/>
                <a:uFillTx/>
                <a:latin typeface="Trenda IG Text"/>
                <a:ea typeface="+mn-ea"/>
                <a:cs typeface="+mn-cs"/>
              </a:rPr>
              <a:t>B  </a:t>
            </a:r>
            <a:r>
              <a:rPr kumimoji="0" sz="800" b="1" i="0" u="none" strike="noStrike" kern="1200" cap="none" spc="0" normalizeH="0" baseline="0" noProof="0">
                <a:ln>
                  <a:noFill/>
                </a:ln>
                <a:solidFill>
                  <a:srgbClr val="F2F2F2"/>
                </a:solidFill>
                <a:effectLst/>
                <a:uLnTx/>
                <a:uFillTx/>
                <a:latin typeface="Trenda IG Text"/>
                <a:ea typeface="+mn-ea"/>
                <a:cs typeface="+mn-cs"/>
              </a:rPr>
              <a:t>Cohort JSON + refresh policy</a:t>
            </a:r>
          </a:p>
        </p:txBody>
      </p:sp>
      <p:sp>
        <p:nvSpPr>
          <p:cNvPr id="46" name="Text 45"/>
          <p:cNvSpPr txBox="1"/>
          <p:nvPr/>
        </p:nvSpPr>
        <p:spPr>
          <a:xfrm>
            <a:off x="3621024" y="2905506"/>
            <a:ext cx="3227832"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37376" y="2704338"/>
            <a:ext cx="4114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3621024" y="3278124"/>
            <a:ext cx="2724911"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D700"/>
                </a:solidFill>
                <a:effectLst/>
                <a:uLnTx/>
                <a:uFillTx/>
                <a:latin typeface="Trenda IG Text"/>
                <a:ea typeface="+mn-ea"/>
                <a:cs typeface="+mn-cs"/>
              </a:rPr>
              <a:t>C  </a:t>
            </a:r>
            <a:r>
              <a:rPr kumimoji="0" sz="800" b="1" i="0" u="none" strike="noStrike" kern="1200" cap="none" spc="0" normalizeH="0" baseline="0" noProof="0">
                <a:ln>
                  <a:noFill/>
                </a:ln>
                <a:solidFill>
                  <a:srgbClr val="F2F2F2"/>
                </a:solidFill>
                <a:effectLst/>
                <a:uLnTx/>
                <a:uFillTx/>
                <a:latin typeface="Trenda IG Text"/>
                <a:ea typeface="+mn-ea"/>
                <a:cs typeface="+mn-cs"/>
              </a:rPr>
              <a:t>Build + test the journey</a:t>
            </a:r>
          </a:p>
        </p:txBody>
      </p:sp>
      <p:sp>
        <p:nvSpPr>
          <p:cNvPr id="52" name="Text 51"/>
          <p:cNvSpPr txBox="1"/>
          <p:nvPr/>
        </p:nvSpPr>
        <p:spPr>
          <a:xfrm>
            <a:off x="3621024" y="3515868"/>
            <a:ext cx="3227832"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6437376" y="3314700"/>
            <a:ext cx="4114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3621024" y="3888486"/>
            <a:ext cx="2724911"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D700"/>
                </a:solidFill>
                <a:effectLst/>
                <a:uLnTx/>
                <a:uFillTx/>
                <a:latin typeface="Trenda IG Text"/>
                <a:ea typeface="+mn-ea"/>
                <a:cs typeface="+mn-cs"/>
              </a:rPr>
              <a:t>D  </a:t>
            </a:r>
            <a:r>
              <a:rPr kumimoji="0" sz="800" b="1" i="0" u="none" strike="noStrike" kern="1200" cap="none" spc="0" normalizeH="0" baseline="0" noProof="0">
                <a:ln>
                  <a:noFill/>
                </a:ln>
                <a:solidFill>
                  <a:srgbClr val="F2F2F2"/>
                </a:solidFill>
                <a:effectLst/>
                <a:uLnTx/>
                <a:uFillTx/>
                <a:latin typeface="Trenda IG Text"/>
                <a:ea typeface="+mn-ea"/>
                <a:cs typeface="+mn-cs"/>
              </a:rPr>
              <a:t>First run</a:t>
            </a:r>
          </a:p>
        </p:txBody>
      </p:sp>
      <p:sp>
        <p:nvSpPr>
          <p:cNvPr id="58" name="Text 57"/>
          <p:cNvSpPr txBox="1"/>
          <p:nvPr/>
        </p:nvSpPr>
        <p:spPr>
          <a:xfrm>
            <a:off x="3621024" y="4126230"/>
            <a:ext cx="3227832"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0" name="Text 59"/>
          <p:cNvSpPr txBox="1"/>
          <p:nvPr/>
        </p:nvSpPr>
        <p:spPr>
          <a:xfrm>
            <a:off x="6437376" y="3925062"/>
            <a:ext cx="4114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3621024" y="4498848"/>
            <a:ext cx="2724911"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E  </a:t>
            </a:r>
            <a:r>
              <a:rPr kumimoji="0" sz="800" b="1" i="0" u="none" strike="noStrike" kern="1200" cap="none" spc="0" normalizeH="0" baseline="0" noProof="0">
                <a:ln>
                  <a:noFill/>
                </a:ln>
                <a:solidFill>
                  <a:srgbClr val="F2F2F2"/>
                </a:solidFill>
                <a:effectLst/>
                <a:uLnTx/>
                <a:uFillTx/>
                <a:latin typeface="Trenda IG Text"/>
                <a:ea typeface="+mn-ea"/>
                <a:cs typeface="+mn-cs"/>
              </a:rPr>
              <a:t>Ongoing status in Codex</a:t>
            </a:r>
          </a:p>
        </p:txBody>
      </p:sp>
      <p:sp>
        <p:nvSpPr>
          <p:cNvPr id="64" name="Text 63"/>
          <p:cNvSpPr txBox="1"/>
          <p:nvPr/>
        </p:nvSpPr>
        <p:spPr>
          <a:xfrm>
            <a:off x="3621024" y="4736592"/>
            <a:ext cx="3227832"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6" name="Text 65"/>
          <p:cNvSpPr txBox="1"/>
          <p:nvPr/>
        </p:nvSpPr>
        <p:spPr>
          <a:xfrm>
            <a:off x="7287768" y="1170432"/>
            <a:ext cx="219456" cy="21945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67" name="Text 66"/>
          <p:cNvSpPr txBox="1"/>
          <p:nvPr/>
        </p:nvSpPr>
        <p:spPr>
          <a:xfrm>
            <a:off x="7580375" y="1170432"/>
            <a:ext cx="41148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60" normalizeH="0" baseline="0" noProof="0">
                <a:ln>
                  <a:noFill/>
                </a:ln>
                <a:solidFill>
                  <a:srgbClr val="FF0069"/>
                </a:solidFill>
                <a:effectLst/>
                <a:uLnTx/>
                <a:uFillTx/>
                <a:latin typeface="Trenda IG Text"/>
                <a:ea typeface="+mn-ea"/>
                <a:cs typeface="+mn-cs"/>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7434071" y="1572768"/>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5  Cohort Resolution Engine</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8924544" y="1572768"/>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6  Patient query</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Text 75"/>
          <p:cNvSpPr txBox="1"/>
          <p:nvPr/>
        </p:nvSpPr>
        <p:spPr>
          <a:xfrm>
            <a:off x="10415015" y="1572768"/>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7  Eligibility checks</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8" name="Text 77"/>
          <p:cNvSpPr txBox="1"/>
          <p:nvPr/>
        </p:nvSpPr>
        <p:spPr>
          <a:xfrm>
            <a:off x="7434071" y="2231136"/>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8  Summary → Codex</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8924544" y="2231136"/>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9  Activation Engine</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checks G2, purpose, rule, fields; unmasks minimum fields</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10415015" y="2231136"/>
            <a:ext cx="1234440" cy="493776"/>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10  MC data extension</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7360919" y="2889504"/>
            <a:ext cx="219456" cy="21945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90" name="Text 89"/>
          <p:cNvSpPr txBox="1"/>
          <p:nvPr/>
        </p:nvSpPr>
        <p:spPr>
          <a:xfrm>
            <a:off x="7653527" y="2889504"/>
            <a:ext cx="41148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60" normalizeH="0" baseline="0" noProof="0">
                <a:ln>
                  <a:noFill/>
                </a:ln>
                <a:solidFill>
                  <a:srgbClr val="00D6F2"/>
                </a:solidFill>
                <a:effectLst/>
                <a:uLnTx/>
                <a:uFillTx/>
                <a:latin typeface="Trenda IG Text"/>
                <a:ea typeface="+mn-ea"/>
                <a:cs typeface="+mn-cs"/>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7562088" y="3236976"/>
            <a:ext cx="4014215"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0"/>
              </a:spcAft>
              <a:buClrTx/>
              <a:buSzTx/>
              <a:buFontTx/>
              <a:buNone/>
              <a:tabLst/>
              <a:defRPr/>
            </a:pPr>
            <a:r>
              <a:rPr kumimoji="0" sz="700" b="1" i="0" u="none" strike="noStrike" kern="1200" cap="none" spc="0" normalizeH="0" baseline="0" noProof="0">
                <a:ln>
                  <a:noFill/>
                </a:ln>
                <a:solidFill>
                  <a:srgbClr val="00D6F2"/>
                </a:solidFill>
                <a:effectLst/>
                <a:uLnTx/>
                <a:uFillTx/>
                <a:latin typeface="Trenda IG Text"/>
                <a:ea typeface="+mn-ea"/>
                <a:cs typeface="+mn-cs"/>
              </a:rPr>
              <a:t>11  </a:t>
            </a:r>
            <a:r>
              <a:rPr kumimoji="0" sz="700" b="1" i="0" u="none" strike="noStrike" kern="1200" cap="none" spc="0" normalizeH="0" baseline="0" noProof="0">
                <a:ln>
                  <a:noFill/>
                </a:ln>
                <a:solidFill>
                  <a:srgbClr val="F2F2F2"/>
                </a:solidFill>
                <a:effectLst/>
                <a:uLnTx/>
                <a:uFillTx/>
                <a:latin typeface="Trenda IG Text"/>
                <a:ea typeface="+mn-ea"/>
                <a:cs typeface="+mn-cs"/>
              </a:rPr>
              <a:t>Daily data refresh</a:t>
            </a:r>
            <a:r>
              <a:rPr kumimoji="0" sz="700" b="0" i="0" u="none" strike="noStrike" kern="1200" cap="none" spc="0" normalizeH="0" baseline="0" noProof="0">
                <a:ln>
                  <a:noFill/>
                </a:ln>
                <a:solidFill>
                  <a:srgbClr val="B3B3B3"/>
                </a:solidFill>
                <a:effectLst/>
                <a:uLnTx/>
                <a:uFillTx/>
                <a:latin typeface="Trenda IG Text"/>
                <a:ea typeface="+mn-ea"/>
                <a:cs typeface="+mn-cs"/>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7562088" y="3547872"/>
            <a:ext cx="4014215"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0"/>
              </a:spcAft>
              <a:buClrTx/>
              <a:buSzTx/>
              <a:buFontTx/>
              <a:buNone/>
              <a:tabLst/>
              <a:defRPr/>
            </a:pPr>
            <a:r>
              <a:rPr kumimoji="0" sz="700" b="1" i="0" u="none" strike="noStrike" kern="1200" cap="none" spc="0" normalizeH="0" baseline="0" noProof="0">
                <a:ln>
                  <a:noFill/>
                </a:ln>
                <a:solidFill>
                  <a:srgbClr val="00D6F2"/>
                </a:solidFill>
                <a:effectLst/>
                <a:uLnTx/>
                <a:uFillTx/>
                <a:latin typeface="Trenda IG Text"/>
                <a:ea typeface="+mn-ea"/>
                <a:cs typeface="+mn-cs"/>
              </a:rPr>
              <a:t>12  </a:t>
            </a:r>
            <a:r>
              <a:rPr kumimoji="0" sz="700" b="1" i="0" u="none" strike="noStrike" kern="1200" cap="none" spc="0" normalizeH="0" baseline="0" noProof="0">
                <a:ln>
                  <a:noFill/>
                </a:ln>
                <a:solidFill>
                  <a:srgbClr val="F2F2F2"/>
                </a:solidFill>
                <a:effectLst/>
                <a:uLnTx/>
                <a:uFillTx/>
                <a:latin typeface="Trenda IG Text"/>
                <a:ea typeface="+mn-ea"/>
                <a:cs typeface="+mn-cs"/>
              </a:rPr>
              <a:t>Refresh trigger</a:t>
            </a:r>
            <a:r>
              <a:rPr kumimoji="0" sz="700" b="0" i="0" u="none" strike="noStrike" kern="1200" cap="none" spc="0" normalizeH="0" baseline="0" noProof="0">
                <a:ln>
                  <a:noFill/>
                </a:ln>
                <a:solidFill>
                  <a:srgbClr val="B3B3B3"/>
                </a:solidFill>
                <a:effectLst/>
                <a:uLnTx/>
                <a:uFillTx/>
                <a:latin typeface="Trenda IG Text"/>
                <a:ea typeface="+mn-ea"/>
                <a:cs typeface="+mn-cs"/>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0" name="Text 99"/>
          <p:cNvSpPr txBox="1"/>
          <p:nvPr/>
        </p:nvSpPr>
        <p:spPr>
          <a:xfrm>
            <a:off x="7562088" y="3858768"/>
            <a:ext cx="4014215"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0"/>
              </a:spcAft>
              <a:buClrTx/>
              <a:buSzTx/>
              <a:buFontTx/>
              <a:buNone/>
              <a:tabLst/>
              <a:defRPr/>
            </a:pPr>
            <a:r>
              <a:rPr kumimoji="0" sz="700" b="1" i="0" u="none" strike="noStrike" kern="1200" cap="none" spc="0" normalizeH="0" baseline="0" noProof="0">
                <a:ln>
                  <a:noFill/>
                </a:ln>
                <a:solidFill>
                  <a:srgbClr val="00D6F2"/>
                </a:solidFill>
                <a:effectLst/>
                <a:uLnTx/>
                <a:uFillTx/>
                <a:latin typeface="Trenda IG Text"/>
                <a:ea typeface="+mn-ea"/>
                <a:cs typeface="+mn-cs"/>
              </a:rPr>
              <a:t>13  </a:t>
            </a:r>
            <a:r>
              <a:rPr kumimoji="0" sz="700" b="1" i="0" u="none" strike="noStrike" kern="1200" cap="none" spc="0" normalizeH="0" baseline="0" noProof="0">
                <a:ln>
                  <a:noFill/>
                </a:ln>
                <a:solidFill>
                  <a:srgbClr val="F2F2F2"/>
                </a:solidFill>
                <a:effectLst/>
                <a:uLnTx/>
                <a:uFillTx/>
                <a:latin typeface="Trenda IG Text"/>
                <a:ea typeface="+mn-ea"/>
                <a:cs typeface="+mn-cs"/>
              </a:rPr>
              <a:t>Incremental resolver</a:t>
            </a:r>
            <a:r>
              <a:rPr kumimoji="0" sz="700" b="0" i="0" u="none" strike="noStrike" kern="1200" cap="none" spc="0" normalizeH="0" baseline="0" noProof="0">
                <a:ln>
                  <a:noFill/>
                </a:ln>
                <a:solidFill>
                  <a:srgbClr val="B3B3B3"/>
                </a:solidFill>
                <a:effectLst/>
                <a:uLnTx/>
                <a:uFillTx/>
                <a:latin typeface="Trenda IG Text"/>
                <a:ea typeface="+mn-ea"/>
                <a:cs typeface="+mn-cs"/>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7562088" y="4169664"/>
            <a:ext cx="4014215"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0"/>
              </a:spcAft>
              <a:buClrTx/>
              <a:buSzTx/>
              <a:buFontTx/>
              <a:buNone/>
              <a:tabLst/>
              <a:defRPr/>
            </a:pPr>
            <a:r>
              <a:rPr kumimoji="0" sz="700" b="1" i="0" u="none" strike="noStrike" kern="1200" cap="none" spc="0" normalizeH="0" baseline="0" noProof="0">
                <a:ln>
                  <a:noFill/>
                </a:ln>
                <a:solidFill>
                  <a:srgbClr val="00D6F2"/>
                </a:solidFill>
                <a:effectLst/>
                <a:uLnTx/>
                <a:uFillTx/>
                <a:latin typeface="Trenda IG Text"/>
                <a:ea typeface="+mn-ea"/>
                <a:cs typeface="+mn-cs"/>
              </a:rPr>
              <a:t>14  </a:t>
            </a:r>
            <a:r>
              <a:rPr kumimoji="0" sz="700" b="1" i="0" u="none" strike="noStrike" kern="1200" cap="none" spc="0" normalizeH="0" baseline="0" noProof="0">
                <a:ln>
                  <a:noFill/>
                </a:ln>
                <a:solidFill>
                  <a:srgbClr val="F2F2F2"/>
                </a:solidFill>
                <a:effectLst/>
                <a:uLnTx/>
                <a:uFillTx/>
                <a:latin typeface="Trenda IG Text"/>
                <a:ea typeface="+mn-ea"/>
                <a:cs typeface="+mn-cs"/>
              </a:rPr>
              <a:t>Delta activation + exit sync</a:t>
            </a:r>
            <a:r>
              <a:rPr kumimoji="0" sz="700" b="0" i="0" u="none" strike="noStrike" kern="1200" cap="none" spc="0" normalizeH="0" baseline="0" noProof="0">
                <a:ln>
                  <a:noFill/>
                </a:ln>
                <a:solidFill>
                  <a:srgbClr val="B3B3B3"/>
                </a:solidFill>
                <a:effectLst/>
                <a:uLnTx/>
                <a:uFillTx/>
                <a:latin typeface="Trenda IG Text"/>
                <a:ea typeface="+mn-ea"/>
                <a:cs typeface="+mn-cs"/>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D700"/>
                </a:solidFill>
                <a:effectLst/>
                <a:uLnTx/>
                <a:uFillTx/>
                <a:latin typeface="Trenda IG Text"/>
                <a:ea typeface="+mn-ea"/>
                <a:cs typeface="+mn-cs"/>
              </a:rPr>
              <a:t>No daily approval </a:t>
            </a:r>
            <a:r>
              <a:rPr kumimoji="0" sz="700" b="0" i="0" u="none" strike="noStrike" kern="1200" cap="none" spc="0" normalizeH="0" baseline="0" noProof="0">
                <a:ln>
                  <a:noFill/>
                </a:ln>
                <a:solidFill>
                  <a:srgbClr val="F2F2F2"/>
                </a:solidFill>
                <a:effectLst/>
                <a:uLnTx/>
                <a:uFillTx/>
                <a:latin typeface="Trenda IG Text"/>
                <a:ea typeface="+mn-ea"/>
                <a:cs typeface="+mn-cs"/>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9" name="Text 108"/>
          <p:cNvSpPr txBox="1"/>
          <p:nvPr/>
        </p:nvSpPr>
        <p:spPr>
          <a:xfrm>
            <a:off x="548640" y="5193792"/>
            <a:ext cx="1188720" cy="6949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1" i="0" u="none" strike="noStrike" kern="1200" cap="none" spc="80" normalizeH="0" baseline="0" noProof="0">
                <a:ln>
                  <a:noFill/>
                </a:ln>
                <a:solidFill>
                  <a:srgbClr val="00D6F2"/>
                </a:solidFill>
                <a:effectLst/>
                <a:uLnTx/>
                <a:uFillTx/>
                <a:latin typeface="Trenda IG Text"/>
                <a:ea typeface="+mn-ea"/>
                <a:cs typeface="+mn-cs"/>
              </a:rPr>
              <a:t>MARKETING CLOUD</a:t>
            </a:r>
          </a:p>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1" i="0" u="none" strike="noStrike" kern="1200" cap="none" spc="80" normalizeH="0" baseline="0" noProof="0">
                <a:ln>
                  <a:noFill/>
                </a:ln>
                <a:solidFill>
                  <a:srgbClr val="00D6F2"/>
                </a:solidFill>
                <a:effectLst/>
                <a:uLnTx/>
                <a:uFillTx/>
                <a:latin typeface="Trenda IG Text"/>
                <a:ea typeface="+mn-ea"/>
                <a:cs typeface="+mn-cs"/>
              </a:rPr>
              <a:t>EXECUTION</a:t>
            </a:r>
          </a:p>
          <a:p>
            <a:pPr marL="0" marR="0" lvl="0" indent="0" algn="l" defTabSz="914400" rtl="0" eaLnBrk="1" fontAlgn="auto" latinLnBrk="0" hangingPunct="1">
              <a:lnSpc>
                <a:spcPct val="100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inside SFMC</a:t>
            </a:r>
          </a:p>
        </p:txBody>
      </p:sp>
      <p:sp>
        <p:nvSpPr>
          <p:cNvPr id="110" name="Shape 109"/>
          <p:cNvSpPr/>
          <p:nvPr/>
        </p:nvSpPr>
        <p:spPr>
          <a:xfrm>
            <a:off x="1783080"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1874519"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Contact key</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pseudonymous, stable; mapped only inside the boundary</a:t>
            </a:r>
          </a:p>
        </p:txBody>
      </p:sp>
      <p:sp>
        <p:nvSpPr>
          <p:cNvPr id="113" name="Shape 112"/>
          <p:cNvSpPr/>
          <p:nvPr/>
        </p:nvSpPr>
        <p:spPr>
          <a:xfrm>
            <a:off x="3030093"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5" name="Text 114"/>
          <p:cNvSpPr txBox="1"/>
          <p:nvPr/>
        </p:nvSpPr>
        <p:spPr>
          <a:xfrm>
            <a:off x="3121533"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Load method</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REST upsert or encrypted SFTP; flags exits</a:t>
            </a:r>
          </a:p>
        </p:txBody>
      </p:sp>
      <p:sp>
        <p:nvSpPr>
          <p:cNvPr id="116" name="Shape 115"/>
          <p:cNvSpPr/>
          <p:nvPr/>
        </p:nvSpPr>
        <p:spPr>
          <a:xfrm>
            <a:off x="4277106"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4368546"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Journey</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daily entry, re-entry rule, exit + goal; day 1 → 30</a:t>
            </a:r>
          </a:p>
        </p:txBody>
      </p:sp>
      <p:sp>
        <p:nvSpPr>
          <p:cNvPr id="119" name="Shape 118"/>
          <p:cNvSpPr/>
          <p:nvPr/>
        </p:nvSpPr>
        <p:spPr>
          <a:xfrm>
            <a:off x="5524119"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1" name="Text 120"/>
          <p:cNvSpPr txBox="1"/>
          <p:nvPr/>
        </p:nvSpPr>
        <p:spPr>
          <a:xfrm>
            <a:off x="5615559"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Consent sync</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two-way in minutes: STOP, unsubscribes</a:t>
            </a:r>
          </a:p>
        </p:txBody>
      </p:sp>
      <p:sp>
        <p:nvSpPr>
          <p:cNvPr id="122" name="Shape 121"/>
          <p:cNvSpPr/>
          <p:nvPr/>
        </p:nvSpPr>
        <p:spPr>
          <a:xfrm>
            <a:off x="6771132"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4" name="Text 123"/>
          <p:cNvSpPr txBox="1"/>
          <p:nvPr/>
        </p:nvSpPr>
        <p:spPr>
          <a:xfrm>
            <a:off x="6862572"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Channel rules</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TCPA, STOP/HELP, quiet hours; CAN-SPAM, DMARC</a:t>
            </a:r>
          </a:p>
        </p:txBody>
      </p:sp>
      <p:sp>
        <p:nvSpPr>
          <p:cNvPr id="125" name="Shape 124"/>
          <p:cNvSpPr/>
          <p:nvPr/>
        </p:nvSpPr>
        <p:spPr>
          <a:xfrm>
            <a:off x="8018145"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7" name="Text 126"/>
          <p:cNvSpPr txBox="1"/>
          <p:nvPr/>
        </p:nvSpPr>
        <p:spPr>
          <a:xfrm>
            <a:off x="8109585"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Content</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approved templates; no condition or PHI in text, URLs</a:t>
            </a:r>
          </a:p>
        </p:txBody>
      </p:sp>
      <p:sp>
        <p:nvSpPr>
          <p:cNvPr id="128" name="Shape 127"/>
          <p:cNvSpPr/>
          <p:nvPr/>
        </p:nvSpPr>
        <p:spPr>
          <a:xfrm>
            <a:off x="9265158"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0" name="Text 129"/>
          <p:cNvSpPr txBox="1"/>
          <p:nvPr/>
        </p:nvSpPr>
        <p:spPr>
          <a:xfrm>
            <a:off x="9356598"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Tracking back</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daily extract → restricted layer; bounces → contactability</a:t>
            </a:r>
          </a:p>
        </p:txBody>
      </p:sp>
      <p:sp>
        <p:nvSpPr>
          <p:cNvPr id="131" name="Shape 130"/>
          <p:cNvSpPr/>
          <p:nvPr/>
        </p:nvSpPr>
        <p:spPr>
          <a:xfrm>
            <a:off x="10512171"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3" name="Text 132"/>
          <p:cNvSpPr txBox="1"/>
          <p:nvPr/>
        </p:nvSpPr>
        <p:spPr>
          <a:xfrm>
            <a:off x="10603611" y="5285231"/>
            <a:ext cx="1045845"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92000"/>
              </a:lnSpc>
              <a:spcBef>
                <a:spcPts val="0"/>
              </a:spcBef>
              <a:spcAft>
                <a:spcPts val="100"/>
              </a:spcAft>
              <a:buClrTx/>
              <a:buSzTx/>
              <a:buFontTx/>
              <a:buNone/>
              <a:tabLst/>
              <a:defRPr/>
            </a:pPr>
            <a:r>
              <a:rPr kumimoji="0" sz="750" b="1" i="0" u="none" strike="noStrike" kern="1200" cap="none" spc="0" normalizeH="0" baseline="0" noProof="0">
                <a:ln>
                  <a:noFill/>
                </a:ln>
                <a:solidFill>
                  <a:srgbClr val="F2F2F2"/>
                </a:solidFill>
                <a:effectLst/>
                <a:uLnTx/>
                <a:uFillTx/>
                <a:latin typeface="Trenda IG Text"/>
                <a:ea typeface="+mn-ea"/>
                <a:cs typeface="+mn-cs"/>
              </a:rPr>
              <a:t>Security</a:t>
            </a:r>
          </a:p>
          <a:p>
            <a:pPr marL="0" marR="0" lvl="0" indent="0" algn="l" defTabSz="914400" rtl="0" eaLnBrk="1" fontAlgn="auto" latinLnBrk="0" hangingPunct="1">
              <a:lnSpc>
                <a:spcPct val="92000"/>
              </a:lnSpc>
              <a:spcBef>
                <a:spcPts val="0"/>
              </a:spcBef>
              <a:spcAft>
                <a:spcPts val="10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5" name="Text 134"/>
          <p:cNvSpPr txBox="1"/>
          <p:nvPr/>
        </p:nvSpPr>
        <p:spPr>
          <a:xfrm>
            <a:off x="548640" y="5952744"/>
            <a:ext cx="1109167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RE-APPROVAL REQUIRED </a:t>
            </a:r>
            <a:r>
              <a:rPr kumimoji="0" sz="750" b="0" i="0" u="none" strike="noStrike" kern="1200" cap="none" spc="0" normalizeH="0" baseline="0" noProof="0">
                <a:ln>
                  <a:noFill/>
                </a:ln>
                <a:solidFill>
                  <a:srgbClr val="F2F2F2"/>
                </a:solidFill>
                <a:effectLst/>
                <a:uLnTx/>
                <a:uFillTx/>
                <a:latin typeface="Trenda IG Text"/>
                <a:ea typeface="+mn-ea"/>
                <a:cs typeface="+mn-cs"/>
              </a:rPr>
              <a:t>only when cohort logic, purpose, permitted fields, destination, consent policy, a semantic definition or campaign status changes, or the approval expires. Opt-outs apply at once; spike alerts pause a run; every run is reconciled.</a:t>
            </a:r>
          </a:p>
        </p:txBody>
      </p:sp>
    </p:spTree>
    <p:extLst>
      <p:ext uri="{BB962C8B-B14F-4D97-AF65-F5344CB8AC3E}">
        <p14:creationId xmlns:p14="http://schemas.microsoft.com/office/powerpoint/2010/main" val="555910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39496" y="1225296"/>
            <a:ext cx="2743200" cy="182880"/>
          </a:xfrm>
          <a:prstGeom prst="rect">
            <a:avLst/>
          </a:prstGeom>
          <a:noFill/>
        </p:spPr>
        <p:txBody>
          <a:bodyPr wrap="square" lIns="0" tIns="0" r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tIns="0" r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tIns="0" r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594360" y="2066543"/>
            <a:ext cx="1975103" cy="274320"/>
          </a:xfrm>
          <a:prstGeom prst="rect">
            <a:avLst/>
          </a:prstGeom>
          <a:noFill/>
        </p:spPr>
        <p:txBody>
          <a:bodyPr wrap="square" lIns="0" tIns="0" r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2606039" y="2148839"/>
            <a:ext cx="360679" cy="109727"/>
          </a:xfrm>
          <a:prstGeom prst="rect">
            <a:avLst/>
          </a:prstGeom>
          <a:noFill/>
        </p:spPr>
        <p:txBody>
          <a:bodyPr wrap="square" lIns="0" tIns="0" r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594360" y="2386584"/>
            <a:ext cx="1975103" cy="274320"/>
          </a:xfrm>
          <a:prstGeom prst="rect">
            <a:avLst/>
          </a:prstGeom>
          <a:noFill/>
        </p:spPr>
        <p:txBody>
          <a:bodyPr wrap="square" lIns="0" tIns="0" r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2966719" y="2468879"/>
            <a:ext cx="360679" cy="109727"/>
          </a:xfrm>
          <a:prstGeom prst="rect">
            <a:avLst/>
          </a:prstGeom>
          <a:noFill/>
        </p:spPr>
        <p:txBody>
          <a:bodyPr wrap="square" lIns="0" tIns="0" r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94360" y="2706624"/>
            <a:ext cx="1975103" cy="274320"/>
          </a:xfrm>
          <a:prstGeom prst="rect">
            <a:avLst/>
          </a:prstGeom>
          <a:noFill/>
        </p:spPr>
        <p:txBody>
          <a:bodyPr wrap="square" lIns="0" tIns="0" r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3327399" y="2788920"/>
            <a:ext cx="432816" cy="109727"/>
          </a:xfrm>
          <a:prstGeom prst="rect">
            <a:avLst/>
          </a:prstGeom>
          <a:noFill/>
        </p:spPr>
        <p:txBody>
          <a:bodyPr wrap="square" lIns="0" tIns="0" r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94360" y="3026663"/>
            <a:ext cx="1975103" cy="274320"/>
          </a:xfrm>
          <a:prstGeom prst="rect">
            <a:avLst/>
          </a:prstGeom>
          <a:noFill/>
        </p:spPr>
        <p:txBody>
          <a:bodyPr wrap="square" lIns="0" tIns="0" r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3760216" y="3108959"/>
            <a:ext cx="288543" cy="109727"/>
          </a:xfrm>
          <a:prstGeom prst="rect">
            <a:avLst/>
          </a:prstGeom>
          <a:noFill/>
        </p:spPr>
        <p:txBody>
          <a:bodyPr wrap="square" lIns="0" tIns="0" r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594360" y="3346703"/>
            <a:ext cx="1975103" cy="274320"/>
          </a:xfrm>
          <a:prstGeom prst="rect">
            <a:avLst/>
          </a:prstGeom>
          <a:noFill/>
        </p:spPr>
        <p:txBody>
          <a:bodyPr wrap="square" lIns="0" tIns="0" r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7"/>
          <p:cNvSpPr txBox="1"/>
          <p:nvPr/>
        </p:nvSpPr>
        <p:spPr>
          <a:xfrm>
            <a:off x="4048759" y="3428999"/>
            <a:ext cx="288544" cy="109727"/>
          </a:xfrm>
          <a:prstGeom prst="rect">
            <a:avLst/>
          </a:prstGeom>
          <a:noFill/>
        </p:spPr>
        <p:txBody>
          <a:bodyPr wrap="square" lIns="0" tIns="0" r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 29"/>
          <p:cNvSpPr txBox="1"/>
          <p:nvPr/>
        </p:nvSpPr>
        <p:spPr>
          <a:xfrm>
            <a:off x="594360" y="3666744"/>
            <a:ext cx="1975103" cy="274320"/>
          </a:xfrm>
          <a:prstGeom prst="rect">
            <a:avLst/>
          </a:prstGeom>
          <a:noFill/>
        </p:spPr>
        <p:txBody>
          <a:bodyPr wrap="square" lIns="0" tIns="0" r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1"/>
          <p:cNvSpPr txBox="1"/>
          <p:nvPr/>
        </p:nvSpPr>
        <p:spPr>
          <a:xfrm>
            <a:off x="4337304" y="3749039"/>
            <a:ext cx="504952" cy="109727"/>
          </a:xfrm>
          <a:prstGeom prst="rect">
            <a:avLst/>
          </a:prstGeom>
          <a:noFill/>
        </p:spPr>
        <p:txBody>
          <a:bodyPr wrap="square" lIns="0" tIns="0" r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3"/>
          <p:cNvSpPr txBox="1"/>
          <p:nvPr/>
        </p:nvSpPr>
        <p:spPr>
          <a:xfrm>
            <a:off x="594360" y="3986783"/>
            <a:ext cx="1975103" cy="274320"/>
          </a:xfrm>
          <a:prstGeom prst="rect">
            <a:avLst/>
          </a:prstGeom>
          <a:noFill/>
        </p:spPr>
        <p:txBody>
          <a:bodyPr wrap="square" lIns="0" tIns="0" r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5"/>
          <p:cNvSpPr txBox="1"/>
          <p:nvPr/>
        </p:nvSpPr>
        <p:spPr>
          <a:xfrm>
            <a:off x="4842256" y="4069079"/>
            <a:ext cx="288543" cy="109727"/>
          </a:xfrm>
          <a:prstGeom prst="rect">
            <a:avLst/>
          </a:prstGeom>
          <a:noFill/>
        </p:spPr>
        <p:txBody>
          <a:bodyPr wrap="square" lIns="0" tIns="0" r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594360" y="4306823"/>
            <a:ext cx="1975103" cy="274320"/>
          </a:xfrm>
          <a:prstGeom prst="rect">
            <a:avLst/>
          </a:prstGeom>
          <a:noFill/>
        </p:spPr>
        <p:txBody>
          <a:bodyPr wrap="square" lIns="0" tIns="0" r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39"/>
          <p:cNvSpPr txBox="1"/>
          <p:nvPr/>
        </p:nvSpPr>
        <p:spPr>
          <a:xfrm>
            <a:off x="5130800" y="4389119"/>
            <a:ext cx="432816" cy="109727"/>
          </a:xfrm>
          <a:prstGeom prst="rect">
            <a:avLst/>
          </a:prstGeom>
          <a:noFill/>
        </p:spPr>
        <p:txBody>
          <a:bodyPr wrap="square" lIns="0" tIns="0" r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594360" y="4626864"/>
            <a:ext cx="1975103" cy="274320"/>
          </a:xfrm>
          <a:prstGeom prst="rect">
            <a:avLst/>
          </a:prstGeom>
          <a:noFill/>
        </p:spPr>
        <p:txBody>
          <a:bodyPr wrap="square" lIns="0" tIns="0" r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5563616" y="4709159"/>
            <a:ext cx="288543" cy="109727"/>
          </a:xfrm>
          <a:prstGeom prst="rect">
            <a:avLst/>
          </a:prstGeom>
          <a:noFill/>
        </p:spPr>
        <p:txBody>
          <a:bodyPr wrap="square" lIns="0" tIns="0" r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2"/>
          <p:cNvSpPr txBox="1"/>
          <p:nvPr/>
        </p:nvSpPr>
        <p:spPr>
          <a:xfrm>
            <a:off x="6309359" y="1225296"/>
            <a:ext cx="3657600" cy="182880"/>
          </a:xfrm>
          <a:prstGeom prst="rect">
            <a:avLst/>
          </a:prstGeom>
          <a:noFill/>
        </p:spPr>
        <p:txBody>
          <a:bodyPr wrap="square" lIns="0" tIns="0" r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tIns="0" r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tIns="0" r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6"/>
          <p:cNvSpPr txBox="1"/>
          <p:nvPr/>
        </p:nvSpPr>
        <p:spPr>
          <a:xfrm>
            <a:off x="6345936" y="2066543"/>
            <a:ext cx="2157984" cy="265176"/>
          </a:xfrm>
          <a:prstGeom prst="rect">
            <a:avLst/>
          </a:prstGeom>
          <a:noFill/>
        </p:spPr>
        <p:txBody>
          <a:bodyPr wrap="square" lIns="0" tIns="0" r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8"/>
          <p:cNvSpPr txBox="1"/>
          <p:nvPr/>
        </p:nvSpPr>
        <p:spPr>
          <a:xfrm>
            <a:off x="8540496" y="2148839"/>
            <a:ext cx="274320" cy="100584"/>
          </a:xfrm>
          <a:prstGeom prst="rect">
            <a:avLst/>
          </a:prstGeom>
          <a:noFill/>
        </p:spPr>
        <p:txBody>
          <a:bodyPr wrap="square" lIns="0" tIns="0" r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0"/>
          <p:cNvSpPr txBox="1"/>
          <p:nvPr/>
        </p:nvSpPr>
        <p:spPr>
          <a:xfrm>
            <a:off x="6345936" y="2377439"/>
            <a:ext cx="2157984" cy="265176"/>
          </a:xfrm>
          <a:prstGeom prst="rect">
            <a:avLst/>
          </a:prstGeom>
          <a:noFill/>
        </p:spPr>
        <p:txBody>
          <a:bodyPr wrap="square" lIns="0" tIns="0" r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62"/>
          <p:cNvSpPr txBox="1"/>
          <p:nvPr/>
        </p:nvSpPr>
        <p:spPr>
          <a:xfrm>
            <a:off x="8540496" y="2459735"/>
            <a:ext cx="566928" cy="100584"/>
          </a:xfrm>
          <a:prstGeom prst="rect">
            <a:avLst/>
          </a:prstGeom>
          <a:noFill/>
        </p:spPr>
        <p:txBody>
          <a:bodyPr wrap="square" lIns="0" tIns="0" r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 64"/>
          <p:cNvSpPr txBox="1"/>
          <p:nvPr/>
        </p:nvSpPr>
        <p:spPr>
          <a:xfrm>
            <a:off x="6345936" y="2688336"/>
            <a:ext cx="2157984" cy="265176"/>
          </a:xfrm>
          <a:prstGeom prst="rect">
            <a:avLst/>
          </a:prstGeom>
          <a:noFill/>
        </p:spPr>
        <p:txBody>
          <a:bodyPr wrap="square" lIns="0" tIns="0" r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6"/>
          <p:cNvSpPr txBox="1"/>
          <p:nvPr/>
        </p:nvSpPr>
        <p:spPr>
          <a:xfrm>
            <a:off x="8795004" y="2770632"/>
            <a:ext cx="274320" cy="100584"/>
          </a:xfrm>
          <a:prstGeom prst="rect">
            <a:avLst/>
          </a:prstGeom>
          <a:noFill/>
        </p:spPr>
        <p:txBody>
          <a:bodyPr wrap="square" lIns="0" tIns="0" r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8"/>
          <p:cNvSpPr txBox="1"/>
          <p:nvPr/>
        </p:nvSpPr>
        <p:spPr>
          <a:xfrm>
            <a:off x="6345936" y="2999232"/>
            <a:ext cx="2157984" cy="265176"/>
          </a:xfrm>
          <a:prstGeom prst="rect">
            <a:avLst/>
          </a:prstGeom>
          <a:noFill/>
        </p:spPr>
        <p:txBody>
          <a:bodyPr wrap="square" lIns="0" tIns="0" r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9049512" y="3081527"/>
            <a:ext cx="509016" cy="100584"/>
          </a:xfrm>
          <a:prstGeom prst="rect">
            <a:avLst/>
          </a:prstGeom>
          <a:noFill/>
        </p:spPr>
        <p:txBody>
          <a:bodyPr wrap="square" lIns="0" tIns="0" r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2"/>
          <p:cNvSpPr txBox="1"/>
          <p:nvPr/>
        </p:nvSpPr>
        <p:spPr>
          <a:xfrm>
            <a:off x="6345936" y="3310128"/>
            <a:ext cx="2157984" cy="265176"/>
          </a:xfrm>
          <a:prstGeom prst="rect">
            <a:avLst/>
          </a:prstGeom>
          <a:noFill/>
        </p:spPr>
        <p:txBody>
          <a:bodyPr wrap="square" lIns="0" tIns="0" r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9049512" y="3392424"/>
            <a:ext cx="1527048" cy="100584"/>
          </a:xfrm>
          <a:prstGeom prst="rect">
            <a:avLst/>
          </a:prstGeom>
          <a:noFill/>
        </p:spPr>
        <p:txBody>
          <a:bodyPr wrap="square" lIns="0" tIns="0" r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6345936" y="3621024"/>
            <a:ext cx="2157984" cy="265176"/>
          </a:xfrm>
          <a:prstGeom prst="rect">
            <a:avLst/>
          </a:prstGeom>
          <a:noFill/>
        </p:spPr>
        <p:txBody>
          <a:bodyPr wrap="square" lIns="0" tIns="0" r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8"/>
          <p:cNvSpPr txBox="1"/>
          <p:nvPr/>
        </p:nvSpPr>
        <p:spPr>
          <a:xfrm>
            <a:off x="10576560" y="3703320"/>
            <a:ext cx="509016" cy="100584"/>
          </a:xfrm>
          <a:prstGeom prst="rect">
            <a:avLst/>
          </a:prstGeom>
          <a:noFill/>
        </p:spPr>
        <p:txBody>
          <a:bodyPr wrap="square" lIns="0" tIns="0" r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 80"/>
          <p:cNvSpPr txBox="1"/>
          <p:nvPr/>
        </p:nvSpPr>
        <p:spPr>
          <a:xfrm>
            <a:off x="6345936" y="3931920"/>
            <a:ext cx="2157984" cy="265176"/>
          </a:xfrm>
          <a:prstGeom prst="rect">
            <a:avLst/>
          </a:prstGeom>
          <a:noFill/>
        </p:spPr>
        <p:txBody>
          <a:bodyPr wrap="square" lIns="0" tIns="0" r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82"/>
          <p:cNvSpPr txBox="1"/>
          <p:nvPr/>
        </p:nvSpPr>
        <p:spPr>
          <a:xfrm>
            <a:off x="11085576" y="4014215"/>
            <a:ext cx="274320" cy="100584"/>
          </a:xfrm>
          <a:prstGeom prst="rect">
            <a:avLst/>
          </a:prstGeom>
          <a:noFill/>
        </p:spPr>
        <p:txBody>
          <a:bodyPr wrap="square" lIns="0" tIns="0" r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 84"/>
          <p:cNvSpPr txBox="1"/>
          <p:nvPr/>
        </p:nvSpPr>
        <p:spPr>
          <a:xfrm>
            <a:off x="6345936" y="4242816"/>
            <a:ext cx="2157984" cy="265176"/>
          </a:xfrm>
          <a:prstGeom prst="rect">
            <a:avLst/>
          </a:prstGeom>
          <a:noFill/>
        </p:spPr>
        <p:txBody>
          <a:bodyPr wrap="square" lIns="0" tIns="0" r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6"/>
          <p:cNvSpPr txBox="1"/>
          <p:nvPr/>
        </p:nvSpPr>
        <p:spPr>
          <a:xfrm>
            <a:off x="11340084" y="4325112"/>
            <a:ext cx="274320" cy="100584"/>
          </a:xfrm>
          <a:prstGeom prst="rect">
            <a:avLst/>
          </a:prstGeom>
          <a:noFill/>
        </p:spPr>
        <p:txBody>
          <a:bodyPr wrap="square" lIns="0" tIns="0" r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tIns="0" r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tIns="0" r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4"/>
          <p:cNvSpPr txBox="1"/>
          <p:nvPr/>
        </p:nvSpPr>
        <p:spPr>
          <a:xfrm>
            <a:off x="576072" y="5266944"/>
            <a:ext cx="1097280" cy="676656"/>
          </a:xfrm>
          <a:prstGeom prst="rect">
            <a:avLst/>
          </a:prstGeom>
          <a:noFill/>
        </p:spPr>
        <p:txBody>
          <a:bodyPr wrap="square" lIns="0" tIns="0" r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Text 98"/>
          <p:cNvSpPr txBox="1"/>
          <p:nvPr/>
        </p:nvSpPr>
        <p:spPr>
          <a:xfrm>
            <a:off x="3445002" y="5266944"/>
            <a:ext cx="1097280" cy="676656"/>
          </a:xfrm>
          <a:prstGeom prst="rect">
            <a:avLst/>
          </a:prstGeom>
          <a:noFill/>
        </p:spPr>
        <p:txBody>
          <a:bodyPr wrap="square" lIns="0" tIns="0" r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102"/>
          <p:cNvSpPr txBox="1"/>
          <p:nvPr/>
        </p:nvSpPr>
        <p:spPr>
          <a:xfrm>
            <a:off x="6313932" y="5266944"/>
            <a:ext cx="1097280" cy="676656"/>
          </a:xfrm>
          <a:prstGeom prst="rect">
            <a:avLst/>
          </a:prstGeom>
          <a:noFill/>
        </p:spPr>
        <p:txBody>
          <a:bodyPr wrap="square" lIns="0" tIns="0" r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6"/>
          <p:cNvSpPr txBox="1"/>
          <p:nvPr/>
        </p:nvSpPr>
        <p:spPr>
          <a:xfrm>
            <a:off x="9182862" y="5266944"/>
            <a:ext cx="1097280" cy="676656"/>
          </a:xfrm>
          <a:prstGeom prst="rect">
            <a:avLst/>
          </a:prstGeom>
          <a:noFill/>
        </p:spPr>
        <p:txBody>
          <a:bodyPr wrap="square" lIns="0" tIns="0" r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tIns="0" r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tIns="0" r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tIns="0" r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people.png"/>
          <p:cNvPicPr>
            <a:picLocks noChangeAspect="1"/>
          </p:cNvPicPr>
          <p:nvPr/>
        </p:nvPicPr>
        <p:blipFill>
          <a:blip r:embed="rId3"/>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tIns="0" r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googlecloud.png"/>
          <p:cNvPicPr>
            <a:picLocks noChangeAspect="1"/>
          </p:cNvPicPr>
          <p:nvPr/>
        </p:nvPicPr>
        <p:blipFill>
          <a:blip r:embed="rId4"/>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tIns="0" r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googlecloud.png"/>
          <p:cNvPicPr>
            <a:picLocks noChangeAspect="1"/>
          </p:cNvPicPr>
          <p:nvPr/>
        </p:nvPicPr>
        <p:blipFill>
          <a:blip r:embed="rId4"/>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tIns="0" r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googlecloud.png"/>
          <p:cNvPicPr>
            <a:picLocks noChangeAspect="1"/>
          </p:cNvPicPr>
          <p:nvPr/>
        </p:nvPicPr>
        <p:blipFill>
          <a:blip r:embed="rId4"/>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tIns="0" r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39"/>
          <p:cNvSpPr txBox="1"/>
          <p:nvPr/>
        </p:nvSpPr>
        <p:spPr>
          <a:xfrm>
            <a:off x="1609344" y="2075688"/>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1"/>
          <p:cNvSpPr txBox="1"/>
          <p:nvPr/>
        </p:nvSpPr>
        <p:spPr>
          <a:xfrm>
            <a:off x="1609344" y="2322576"/>
            <a:ext cx="555955" cy="146304"/>
          </a:xfrm>
          <a:prstGeom prst="rect">
            <a:avLst/>
          </a:prstGeom>
          <a:noFill/>
        </p:spPr>
        <p:txBody>
          <a:bodyPr wrap="square" lIns="0" tIns="0" r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3"/>
          <p:cNvSpPr txBox="1"/>
          <p:nvPr/>
        </p:nvSpPr>
        <p:spPr>
          <a:xfrm>
            <a:off x="2505456" y="1517904"/>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 45"/>
          <p:cNvSpPr txBox="1"/>
          <p:nvPr/>
        </p:nvSpPr>
        <p:spPr>
          <a:xfrm>
            <a:off x="2505456" y="1764792"/>
            <a:ext cx="555955" cy="146304"/>
          </a:xfrm>
          <a:prstGeom prst="rect">
            <a:avLst/>
          </a:prstGeom>
          <a:noFill/>
        </p:spPr>
        <p:txBody>
          <a:bodyPr wrap="square" lIns="0" tIns="0" r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47"/>
          <p:cNvSpPr txBox="1"/>
          <p:nvPr/>
        </p:nvSpPr>
        <p:spPr>
          <a:xfrm>
            <a:off x="3401568" y="2075688"/>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49"/>
          <p:cNvSpPr txBox="1"/>
          <p:nvPr/>
        </p:nvSpPr>
        <p:spPr>
          <a:xfrm>
            <a:off x="3401568" y="2322576"/>
            <a:ext cx="402336" cy="146304"/>
          </a:xfrm>
          <a:prstGeom prst="rect">
            <a:avLst/>
          </a:prstGeom>
          <a:noFill/>
        </p:spPr>
        <p:txBody>
          <a:bodyPr wrap="square" lIns="0" tIns="0" r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1"/>
          <p:cNvSpPr txBox="1"/>
          <p:nvPr/>
        </p:nvSpPr>
        <p:spPr>
          <a:xfrm>
            <a:off x="3401568" y="2633472"/>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3"/>
          <p:cNvSpPr txBox="1"/>
          <p:nvPr/>
        </p:nvSpPr>
        <p:spPr>
          <a:xfrm>
            <a:off x="3401568" y="2880360"/>
            <a:ext cx="402336" cy="146304"/>
          </a:xfrm>
          <a:prstGeom prst="rect">
            <a:avLst/>
          </a:prstGeom>
          <a:noFill/>
        </p:spPr>
        <p:txBody>
          <a:bodyPr wrap="square" lIns="0" tIns="0" r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55"/>
          <p:cNvSpPr txBox="1"/>
          <p:nvPr/>
        </p:nvSpPr>
        <p:spPr>
          <a:xfrm>
            <a:off x="4297680" y="2633472"/>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57"/>
          <p:cNvSpPr txBox="1"/>
          <p:nvPr/>
        </p:nvSpPr>
        <p:spPr>
          <a:xfrm>
            <a:off x="4297680" y="2880360"/>
            <a:ext cx="709574" cy="146304"/>
          </a:xfrm>
          <a:prstGeom prst="rect">
            <a:avLst/>
          </a:prstGeom>
          <a:noFill/>
        </p:spPr>
        <p:txBody>
          <a:bodyPr wrap="square" lIns="0" tIns="0" r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 59"/>
          <p:cNvSpPr txBox="1"/>
          <p:nvPr/>
        </p:nvSpPr>
        <p:spPr>
          <a:xfrm>
            <a:off x="5193792" y="3191256"/>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1"/>
          <p:cNvSpPr txBox="1"/>
          <p:nvPr/>
        </p:nvSpPr>
        <p:spPr>
          <a:xfrm>
            <a:off x="5193792" y="3438144"/>
            <a:ext cx="709574" cy="146304"/>
          </a:xfrm>
          <a:prstGeom prst="rect">
            <a:avLst/>
          </a:prstGeom>
          <a:noFill/>
        </p:spPr>
        <p:txBody>
          <a:bodyPr wrap="square" lIns="0" tIns="0" r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3"/>
          <p:cNvSpPr txBox="1"/>
          <p:nvPr/>
        </p:nvSpPr>
        <p:spPr>
          <a:xfrm>
            <a:off x="6089904" y="2075688"/>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65"/>
          <p:cNvSpPr txBox="1"/>
          <p:nvPr/>
        </p:nvSpPr>
        <p:spPr>
          <a:xfrm>
            <a:off x="6089904" y="2322576"/>
            <a:ext cx="402336" cy="146304"/>
          </a:xfrm>
          <a:prstGeom prst="rect">
            <a:avLst/>
          </a:prstGeom>
          <a:noFill/>
        </p:spPr>
        <p:txBody>
          <a:bodyPr wrap="square" lIns="0" tIns="0" r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67"/>
          <p:cNvSpPr txBox="1"/>
          <p:nvPr/>
        </p:nvSpPr>
        <p:spPr>
          <a:xfrm>
            <a:off x="5193792" y="2633472"/>
            <a:ext cx="749808" cy="219456"/>
          </a:xfrm>
          <a:prstGeom prst="rect">
            <a:avLst/>
          </a:prstGeom>
          <a:noFill/>
        </p:spPr>
        <p:txBody>
          <a:bodyPr wrap="square" lIns="0" tIns="0" r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69"/>
          <p:cNvSpPr txBox="1"/>
          <p:nvPr/>
        </p:nvSpPr>
        <p:spPr>
          <a:xfrm>
            <a:off x="5193792" y="2880360"/>
            <a:ext cx="555955" cy="146304"/>
          </a:xfrm>
          <a:prstGeom prst="rect">
            <a:avLst/>
          </a:prstGeom>
          <a:noFill/>
        </p:spPr>
        <p:txBody>
          <a:bodyPr wrap="square" lIns="0" tIns="0" r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tIns="0" r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2"/>
          <p:cNvSpPr txBox="1"/>
          <p:nvPr/>
        </p:nvSpPr>
        <p:spPr>
          <a:xfrm>
            <a:off x="7223760" y="1225296"/>
            <a:ext cx="4443984" cy="219456"/>
          </a:xfrm>
          <a:prstGeom prst="rect">
            <a:avLst/>
          </a:prstGeom>
          <a:noFill/>
        </p:spPr>
        <p:txBody>
          <a:bodyPr wrap="square" lIns="0" tIns="0" r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tIns="0" rIns="0" bIns="0" anchor="t">
            <a:spAutoFit/>
          </a:bodyPr>
          <a:lstStyle/>
          <a:p>
            <a:endParaRPr/>
          </a:p>
        </p:txBody>
      </p:sp>
      <p:sp>
        <p:nvSpPr>
          <p:cNvPr id="79" name="Text 74"/>
          <p:cNvSpPr txBox="1"/>
          <p:nvPr/>
        </p:nvSpPr>
        <p:spPr>
          <a:xfrm>
            <a:off x="8348472" y="1481328"/>
            <a:ext cx="1508760" cy="164592"/>
          </a:xfrm>
          <a:prstGeom prst="rect">
            <a:avLst/>
          </a:prstGeom>
          <a:noFill/>
        </p:spPr>
        <p:txBody>
          <a:bodyPr wrap="square" lIns="0" tIns="0" r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tIns="0" r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78"/>
          <p:cNvSpPr txBox="1"/>
          <p:nvPr/>
        </p:nvSpPr>
        <p:spPr>
          <a:xfrm>
            <a:off x="7278624" y="1682496"/>
            <a:ext cx="1097280" cy="457200"/>
          </a:xfrm>
          <a:prstGeom prst="rect">
            <a:avLst/>
          </a:prstGeom>
          <a:noFill/>
        </p:spPr>
        <p:txBody>
          <a:bodyPr wrap="square" lIns="0" tIns="0" r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tIns="0" r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tIns="0" r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 83"/>
          <p:cNvSpPr txBox="1"/>
          <p:nvPr/>
        </p:nvSpPr>
        <p:spPr>
          <a:xfrm>
            <a:off x="7278624" y="2194560"/>
            <a:ext cx="1097280" cy="457200"/>
          </a:xfrm>
          <a:prstGeom prst="rect">
            <a:avLst/>
          </a:prstGeom>
          <a:noFill/>
        </p:spPr>
        <p:txBody>
          <a:bodyPr wrap="square" lIns="0" tIns="0" r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tIns="0" r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tIns="0" r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88"/>
          <p:cNvSpPr txBox="1"/>
          <p:nvPr/>
        </p:nvSpPr>
        <p:spPr>
          <a:xfrm>
            <a:off x="7278624" y="2706624"/>
            <a:ext cx="1097280" cy="457200"/>
          </a:xfrm>
          <a:prstGeom prst="rect">
            <a:avLst/>
          </a:prstGeom>
          <a:noFill/>
        </p:spPr>
        <p:txBody>
          <a:bodyPr wrap="square" lIns="0" tIns="0" r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tIns="0" r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tIns="0" r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tIns="0" r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tIns="0" r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5"/>
          <p:cNvSpPr txBox="1"/>
          <p:nvPr/>
        </p:nvSpPr>
        <p:spPr>
          <a:xfrm>
            <a:off x="502920" y="4187952"/>
            <a:ext cx="1936242" cy="274320"/>
          </a:xfrm>
          <a:prstGeom prst="rect">
            <a:avLst/>
          </a:prstGeom>
          <a:noFill/>
        </p:spPr>
        <p:txBody>
          <a:bodyPr wrap="square" lIns="0" tIns="0" rIns="0" bIns="0" anchor="ctr">
            <a:spAutoFit/>
          </a:bodyPr>
          <a:lstStyle/>
          <a:p>
            <a:r>
              <a:rPr sz="720" b="1" i="0">
                <a:solidFill>
                  <a:srgbClr val="000000"/>
                </a:solidFill>
                <a:latin typeface="Trenda IG Text"/>
              </a:rPr>
              <a:t>1  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97"/>
          <p:cNvSpPr txBox="1"/>
          <p:nvPr/>
        </p:nvSpPr>
        <p:spPr>
          <a:xfrm>
            <a:off x="2329434" y="4251960"/>
            <a:ext cx="749808" cy="146304"/>
          </a:xfrm>
          <a:prstGeom prst="rect">
            <a:avLst/>
          </a:prstGeom>
          <a:noFill/>
        </p:spPr>
        <p:txBody>
          <a:bodyPr wrap="square" lIns="0" tIns="0" r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tIns="0" r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 100"/>
          <p:cNvSpPr txBox="1"/>
          <p:nvPr/>
        </p:nvSpPr>
        <p:spPr>
          <a:xfrm>
            <a:off x="630936" y="4846320"/>
            <a:ext cx="2466594" cy="274320"/>
          </a:xfrm>
          <a:prstGeom prst="rect">
            <a:avLst/>
          </a:prstGeom>
          <a:noFill/>
        </p:spPr>
        <p:txBody>
          <a:bodyPr wrap="square" lIns="0" tIns="0" r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2"/>
          <p:cNvSpPr txBox="1"/>
          <p:nvPr/>
        </p:nvSpPr>
        <p:spPr>
          <a:xfrm>
            <a:off x="630936" y="5129783"/>
            <a:ext cx="2466594" cy="274320"/>
          </a:xfrm>
          <a:prstGeom prst="rect">
            <a:avLst/>
          </a:prstGeom>
          <a:noFill/>
        </p:spPr>
        <p:txBody>
          <a:bodyPr wrap="square" lIns="0" tIns="0" r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4"/>
          <p:cNvSpPr txBox="1"/>
          <p:nvPr/>
        </p:nvSpPr>
        <p:spPr>
          <a:xfrm>
            <a:off x="630936" y="5413248"/>
            <a:ext cx="2466594" cy="274320"/>
          </a:xfrm>
          <a:prstGeom prst="rect">
            <a:avLst/>
          </a:prstGeom>
          <a:noFill/>
        </p:spPr>
        <p:txBody>
          <a:bodyPr wrap="square" lIns="0" tIns="0" r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07"/>
          <p:cNvSpPr txBox="1"/>
          <p:nvPr/>
        </p:nvSpPr>
        <p:spPr>
          <a:xfrm>
            <a:off x="3371850" y="4187952"/>
            <a:ext cx="1936242" cy="274320"/>
          </a:xfrm>
          <a:prstGeom prst="rect">
            <a:avLst/>
          </a:prstGeom>
          <a:noFill/>
        </p:spPr>
        <p:txBody>
          <a:bodyPr wrap="square" lIns="0" tIns="0" rIns="0" bIns="0" anchor="ctr">
            <a:spAutoFit/>
          </a:bodyPr>
          <a:lstStyle/>
          <a:p>
            <a:r>
              <a:rPr sz="720" b="1" i="0">
                <a:solidFill>
                  <a:srgbClr val="FFFFFE"/>
                </a:solidFill>
                <a:latin typeface="Trenda IG Text"/>
              </a:rPr>
              <a:t>2  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09"/>
          <p:cNvSpPr txBox="1"/>
          <p:nvPr/>
        </p:nvSpPr>
        <p:spPr>
          <a:xfrm>
            <a:off x="5198364" y="4251960"/>
            <a:ext cx="749808" cy="146304"/>
          </a:xfrm>
          <a:prstGeom prst="rect">
            <a:avLst/>
          </a:prstGeom>
          <a:noFill/>
        </p:spPr>
        <p:txBody>
          <a:bodyPr wrap="square" lIns="0" tIns="0" r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tIns="0" r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2"/>
          <p:cNvSpPr txBox="1"/>
          <p:nvPr/>
        </p:nvSpPr>
        <p:spPr>
          <a:xfrm>
            <a:off x="3499866" y="4846320"/>
            <a:ext cx="2466594" cy="274320"/>
          </a:xfrm>
          <a:prstGeom prst="rect">
            <a:avLst/>
          </a:prstGeom>
          <a:noFill/>
        </p:spPr>
        <p:txBody>
          <a:bodyPr wrap="square" lIns="0" tIns="0" r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4"/>
          <p:cNvSpPr txBox="1"/>
          <p:nvPr/>
        </p:nvSpPr>
        <p:spPr>
          <a:xfrm>
            <a:off x="3499866" y="5129783"/>
            <a:ext cx="2466594" cy="274320"/>
          </a:xfrm>
          <a:prstGeom prst="rect">
            <a:avLst/>
          </a:prstGeom>
          <a:noFill/>
        </p:spPr>
        <p:txBody>
          <a:bodyPr wrap="square" lIns="0" tIns="0" r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16"/>
          <p:cNvSpPr txBox="1"/>
          <p:nvPr/>
        </p:nvSpPr>
        <p:spPr>
          <a:xfrm>
            <a:off x="3499866" y="5413248"/>
            <a:ext cx="2466594" cy="274320"/>
          </a:xfrm>
          <a:prstGeom prst="rect">
            <a:avLst/>
          </a:prstGeom>
          <a:noFill/>
        </p:spPr>
        <p:txBody>
          <a:bodyPr wrap="square" lIns="0" tIns="0" r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19"/>
          <p:cNvSpPr txBox="1"/>
          <p:nvPr/>
        </p:nvSpPr>
        <p:spPr>
          <a:xfrm>
            <a:off x="6240780" y="4187952"/>
            <a:ext cx="1936242" cy="274320"/>
          </a:xfrm>
          <a:prstGeom prst="rect">
            <a:avLst/>
          </a:prstGeom>
          <a:noFill/>
        </p:spPr>
        <p:txBody>
          <a:bodyPr wrap="square" lIns="0" tIns="0" rIns="0" bIns="0" anchor="ctr">
            <a:spAutoFit/>
          </a:bodyPr>
          <a:lstStyle/>
          <a:p>
            <a:r>
              <a:rPr sz="720" b="1" i="0">
                <a:solidFill>
                  <a:srgbClr val="000000"/>
                </a:solidFill>
                <a:latin typeface="Trenda IG Text"/>
              </a:rPr>
              <a:t>3  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1"/>
          <p:cNvSpPr txBox="1"/>
          <p:nvPr/>
        </p:nvSpPr>
        <p:spPr>
          <a:xfrm>
            <a:off x="8067294" y="4251960"/>
            <a:ext cx="749808" cy="146304"/>
          </a:xfrm>
          <a:prstGeom prst="rect">
            <a:avLst/>
          </a:prstGeom>
          <a:noFill/>
        </p:spPr>
        <p:txBody>
          <a:bodyPr wrap="square" lIns="0" tIns="0" r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tIns="0" r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4"/>
          <p:cNvSpPr txBox="1"/>
          <p:nvPr/>
        </p:nvSpPr>
        <p:spPr>
          <a:xfrm>
            <a:off x="6368796" y="4846320"/>
            <a:ext cx="2466594" cy="274320"/>
          </a:xfrm>
          <a:prstGeom prst="rect">
            <a:avLst/>
          </a:prstGeom>
          <a:noFill/>
        </p:spPr>
        <p:txBody>
          <a:bodyPr wrap="square" lIns="0" tIns="0" r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26"/>
          <p:cNvSpPr txBox="1"/>
          <p:nvPr/>
        </p:nvSpPr>
        <p:spPr>
          <a:xfrm>
            <a:off x="6368796" y="5129783"/>
            <a:ext cx="2466594" cy="274320"/>
          </a:xfrm>
          <a:prstGeom prst="rect">
            <a:avLst/>
          </a:prstGeom>
          <a:noFill/>
        </p:spPr>
        <p:txBody>
          <a:bodyPr wrap="square" lIns="0" tIns="0" r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28"/>
          <p:cNvSpPr txBox="1"/>
          <p:nvPr/>
        </p:nvSpPr>
        <p:spPr>
          <a:xfrm>
            <a:off x="6368796" y="5413248"/>
            <a:ext cx="2466594" cy="274320"/>
          </a:xfrm>
          <a:prstGeom prst="rect">
            <a:avLst/>
          </a:prstGeom>
          <a:noFill/>
        </p:spPr>
        <p:txBody>
          <a:bodyPr wrap="square" lIns="0" tIns="0" r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1"/>
          <p:cNvSpPr txBox="1"/>
          <p:nvPr/>
        </p:nvSpPr>
        <p:spPr>
          <a:xfrm>
            <a:off x="9109710" y="4187952"/>
            <a:ext cx="1936242" cy="274320"/>
          </a:xfrm>
          <a:prstGeom prst="rect">
            <a:avLst/>
          </a:prstGeom>
          <a:noFill/>
        </p:spPr>
        <p:txBody>
          <a:bodyPr wrap="square" lIns="0" tIns="0" rIns="0" bIns="0" anchor="ctr">
            <a:spAutoFit/>
          </a:bodyPr>
          <a:lstStyle/>
          <a:p>
            <a:r>
              <a:rPr sz="720" b="1" i="0">
                <a:solidFill>
                  <a:srgbClr val="000000"/>
                </a:solidFill>
                <a:latin typeface="Trenda IG Text"/>
              </a:rPr>
              <a:t>4  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33"/>
          <p:cNvSpPr txBox="1"/>
          <p:nvPr/>
        </p:nvSpPr>
        <p:spPr>
          <a:xfrm>
            <a:off x="10936224" y="4251960"/>
            <a:ext cx="749808" cy="146304"/>
          </a:xfrm>
          <a:prstGeom prst="rect">
            <a:avLst/>
          </a:prstGeom>
          <a:noFill/>
        </p:spPr>
        <p:txBody>
          <a:bodyPr wrap="square" lIns="0" tIns="0" r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tIns="0" r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36"/>
          <p:cNvSpPr txBox="1"/>
          <p:nvPr/>
        </p:nvSpPr>
        <p:spPr>
          <a:xfrm>
            <a:off x="9237726" y="4846320"/>
            <a:ext cx="2466594" cy="274320"/>
          </a:xfrm>
          <a:prstGeom prst="rect">
            <a:avLst/>
          </a:prstGeom>
          <a:noFill/>
        </p:spPr>
        <p:txBody>
          <a:bodyPr wrap="square" lIns="0" tIns="0" r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38"/>
          <p:cNvSpPr txBox="1"/>
          <p:nvPr/>
        </p:nvSpPr>
        <p:spPr>
          <a:xfrm>
            <a:off x="9237726" y="5129783"/>
            <a:ext cx="2466594" cy="274320"/>
          </a:xfrm>
          <a:prstGeom prst="rect">
            <a:avLst/>
          </a:prstGeom>
          <a:noFill/>
        </p:spPr>
        <p:txBody>
          <a:bodyPr wrap="square" lIns="0" tIns="0" r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0"/>
          <p:cNvSpPr txBox="1"/>
          <p:nvPr/>
        </p:nvSpPr>
        <p:spPr>
          <a:xfrm>
            <a:off x="9237726" y="5413248"/>
            <a:ext cx="2466594" cy="274320"/>
          </a:xfrm>
          <a:prstGeom prst="rect">
            <a:avLst/>
          </a:prstGeom>
          <a:noFill/>
        </p:spPr>
        <p:txBody>
          <a:bodyPr wrap="square" lIns="0" tIns="0" r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42"/>
          <p:cNvSpPr txBox="1"/>
          <p:nvPr/>
        </p:nvSpPr>
        <p:spPr>
          <a:xfrm>
            <a:off x="548640" y="5806440"/>
            <a:ext cx="11064240" cy="420624"/>
          </a:xfrm>
          <a:prstGeom prst="rect">
            <a:avLst/>
          </a:prstGeom>
          <a:noFill/>
        </p:spPr>
        <p:txBody>
          <a:bodyPr wrap="square" lIns="0" tIns="0" r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21208" y="1188720"/>
            <a:ext cx="1231827" cy="329184"/>
          </a:xfrm>
          <a:prstGeom prst="rect">
            <a:avLst/>
          </a:prstGeom>
          <a:noFill/>
        </p:spPr>
        <p:txBody>
          <a:bodyPr wrap="square" lIns="0" tIns="0" rIns="0" bIns="0" anchor="ctr">
            <a:spAutoFit/>
          </a:bodyPr>
          <a:lstStyle/>
          <a:p>
            <a:r>
              <a:rPr sz="700" b="1" i="0">
                <a:solidFill>
                  <a:srgbClr val="000000"/>
                </a:solidFill>
                <a:latin typeface="Trenda IG Text"/>
              </a:rPr>
              <a:t>PHASE 0  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502920"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2157984"/>
            <a:ext cx="1304979" cy="420623"/>
          </a:xfrm>
          <a:prstGeom prst="rect">
            <a:avLst/>
          </a:prstGeom>
          <a:noFill/>
        </p:spPr>
        <p:txBody>
          <a:bodyPr wrap="square" lIns="0" tIns="0" r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596896"/>
            <a:ext cx="1304979" cy="420623"/>
          </a:xfrm>
          <a:prstGeom prst="rect">
            <a:avLst/>
          </a:prstGeom>
          <a:noFill/>
        </p:spPr>
        <p:txBody>
          <a:bodyPr wrap="square" lIns="0" tIns="0" r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3035808"/>
            <a:ext cx="1304979" cy="420623"/>
          </a:xfrm>
          <a:prstGeom prst="rect">
            <a:avLst/>
          </a:prstGeom>
          <a:noFill/>
        </p:spPr>
        <p:txBody>
          <a:bodyPr wrap="square" lIns="0" tIns="0" r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612648" y="3474720"/>
            <a:ext cx="1304979" cy="420623"/>
          </a:xfrm>
          <a:prstGeom prst="rect">
            <a:avLst/>
          </a:prstGeom>
          <a:noFill/>
        </p:spPr>
        <p:txBody>
          <a:bodyPr wrap="square" lIns="0" tIns="0" r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39496" y="3950208"/>
            <a:ext cx="1341555" cy="658368"/>
          </a:xfrm>
          <a:prstGeom prst="rect">
            <a:avLst/>
          </a:prstGeom>
          <a:noFill/>
        </p:spPr>
        <p:txBody>
          <a:bodyPr wrap="square" lIns="0" tIns="0" r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2283387" y="1188720"/>
            <a:ext cx="1231827" cy="329184"/>
          </a:xfrm>
          <a:prstGeom prst="rect">
            <a:avLst/>
          </a:prstGeom>
          <a:noFill/>
        </p:spPr>
        <p:txBody>
          <a:bodyPr wrap="square" lIns="0" tIns="0" rIns="0" bIns="0" anchor="ctr">
            <a:spAutoFit/>
          </a:bodyPr>
          <a:lstStyle/>
          <a:p>
            <a:r>
              <a:rPr sz="700" b="1" i="0">
                <a:solidFill>
                  <a:srgbClr val="FFFFFE"/>
                </a:solidFill>
                <a:latin typeface="Trenda IG Text"/>
              </a:rPr>
              <a:t>PHASE 1  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37083"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2137083"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7"/>
          <p:cNvSpPr txBox="1"/>
          <p:nvPr/>
        </p:nvSpPr>
        <p:spPr>
          <a:xfrm>
            <a:off x="2246811" y="2157984"/>
            <a:ext cx="1304979" cy="420623"/>
          </a:xfrm>
          <a:prstGeom prst="rect">
            <a:avLst/>
          </a:prstGeom>
          <a:noFill/>
        </p:spPr>
        <p:txBody>
          <a:bodyPr wrap="square" lIns="0" tIns="0" r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 29"/>
          <p:cNvSpPr txBox="1"/>
          <p:nvPr/>
        </p:nvSpPr>
        <p:spPr>
          <a:xfrm>
            <a:off x="2246811" y="2596896"/>
            <a:ext cx="1304979" cy="420623"/>
          </a:xfrm>
          <a:prstGeom prst="rect">
            <a:avLst/>
          </a:prstGeom>
          <a:noFill/>
        </p:spPr>
        <p:txBody>
          <a:bodyPr wrap="square" lIns="0" tIns="0" r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1"/>
          <p:cNvSpPr txBox="1"/>
          <p:nvPr/>
        </p:nvSpPr>
        <p:spPr>
          <a:xfrm>
            <a:off x="2246811" y="3035808"/>
            <a:ext cx="1304979" cy="420623"/>
          </a:xfrm>
          <a:prstGeom prst="rect">
            <a:avLst/>
          </a:prstGeom>
          <a:noFill/>
        </p:spPr>
        <p:txBody>
          <a:bodyPr wrap="square" lIns="0" tIns="0" r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3"/>
          <p:cNvSpPr txBox="1"/>
          <p:nvPr/>
        </p:nvSpPr>
        <p:spPr>
          <a:xfrm>
            <a:off x="2246811" y="3474720"/>
            <a:ext cx="1304979" cy="420623"/>
          </a:xfrm>
          <a:prstGeom prst="rect">
            <a:avLst/>
          </a:prstGeom>
          <a:noFill/>
        </p:spPr>
        <p:txBody>
          <a:bodyPr wrap="square" lIns="0" tIns="0" r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5"/>
          <p:cNvSpPr txBox="1"/>
          <p:nvPr/>
        </p:nvSpPr>
        <p:spPr>
          <a:xfrm>
            <a:off x="2173659" y="3950208"/>
            <a:ext cx="1341555" cy="658368"/>
          </a:xfrm>
          <a:prstGeom prst="rect">
            <a:avLst/>
          </a:prstGeom>
          <a:noFill/>
        </p:spPr>
        <p:txBody>
          <a:bodyPr wrap="square" lIns="0" tIns="0" r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3917550" y="1188720"/>
            <a:ext cx="1231827" cy="329184"/>
          </a:xfrm>
          <a:prstGeom prst="rect">
            <a:avLst/>
          </a:prstGeom>
          <a:noFill/>
        </p:spPr>
        <p:txBody>
          <a:bodyPr wrap="square" lIns="0" tIns="0" rIns="0" bIns="0" anchor="ctr">
            <a:spAutoFit/>
          </a:bodyPr>
          <a:lstStyle/>
          <a:p>
            <a:r>
              <a:rPr sz="700" b="1" i="0">
                <a:solidFill>
                  <a:srgbClr val="FFFFFE"/>
                </a:solidFill>
                <a:latin typeface="Trenda IG Text"/>
              </a:rPr>
              <a:t>PHASE 2  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39"/>
          <p:cNvSpPr txBox="1"/>
          <p:nvPr/>
        </p:nvSpPr>
        <p:spPr>
          <a:xfrm>
            <a:off x="3771246"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3771246"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3880974" y="2157984"/>
            <a:ext cx="1304979" cy="548640"/>
          </a:xfrm>
          <a:prstGeom prst="rect">
            <a:avLst/>
          </a:prstGeom>
          <a:noFill/>
        </p:spPr>
        <p:txBody>
          <a:bodyPr wrap="square" lIns="0" tIns="0" r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3880974" y="2724912"/>
            <a:ext cx="1304979" cy="548640"/>
          </a:xfrm>
          <a:prstGeom prst="rect">
            <a:avLst/>
          </a:prstGeom>
          <a:noFill/>
        </p:spPr>
        <p:txBody>
          <a:bodyPr wrap="square" lIns="0" tIns="0" r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3880974" y="3291839"/>
            <a:ext cx="1304979" cy="548640"/>
          </a:xfrm>
          <a:prstGeom prst="rect">
            <a:avLst/>
          </a:prstGeom>
          <a:noFill/>
        </p:spPr>
        <p:txBody>
          <a:bodyPr wrap="square" lIns="0" tIns="0" r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 49"/>
          <p:cNvSpPr txBox="1"/>
          <p:nvPr/>
        </p:nvSpPr>
        <p:spPr>
          <a:xfrm>
            <a:off x="3807822" y="3950208"/>
            <a:ext cx="1341555" cy="658368"/>
          </a:xfrm>
          <a:prstGeom prst="rect">
            <a:avLst/>
          </a:prstGeom>
          <a:noFill/>
        </p:spPr>
        <p:txBody>
          <a:bodyPr wrap="square" lIns="0" tIns="0" r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5551714" y="1188720"/>
            <a:ext cx="1231827" cy="329184"/>
          </a:xfrm>
          <a:prstGeom prst="rect">
            <a:avLst/>
          </a:prstGeom>
          <a:noFill/>
        </p:spPr>
        <p:txBody>
          <a:bodyPr wrap="square" lIns="0" tIns="0" rIns="0" bIns="0" anchor="ctr">
            <a:spAutoFit/>
          </a:bodyPr>
          <a:lstStyle/>
          <a:p>
            <a:r>
              <a:rPr sz="700" b="1" i="0">
                <a:solidFill>
                  <a:srgbClr val="FFFFFE"/>
                </a:solidFill>
                <a:latin typeface="Trenda IG Text"/>
              </a:rPr>
              <a:t>PHASE 3  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3"/>
          <p:cNvSpPr txBox="1"/>
          <p:nvPr/>
        </p:nvSpPr>
        <p:spPr>
          <a:xfrm>
            <a:off x="5405410"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5"/>
          <p:cNvSpPr txBox="1"/>
          <p:nvPr/>
        </p:nvSpPr>
        <p:spPr>
          <a:xfrm>
            <a:off x="5405410"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7"/>
          <p:cNvSpPr txBox="1"/>
          <p:nvPr/>
        </p:nvSpPr>
        <p:spPr>
          <a:xfrm>
            <a:off x="5515138" y="2157984"/>
            <a:ext cx="1304979" cy="548640"/>
          </a:xfrm>
          <a:prstGeom prst="rect">
            <a:avLst/>
          </a:prstGeom>
          <a:noFill/>
        </p:spPr>
        <p:txBody>
          <a:bodyPr wrap="square" lIns="0" tIns="0" r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59"/>
          <p:cNvSpPr txBox="1"/>
          <p:nvPr/>
        </p:nvSpPr>
        <p:spPr>
          <a:xfrm>
            <a:off x="5515138" y="2724912"/>
            <a:ext cx="1304979" cy="548640"/>
          </a:xfrm>
          <a:prstGeom prst="rect">
            <a:avLst/>
          </a:prstGeom>
          <a:noFill/>
        </p:spPr>
        <p:txBody>
          <a:bodyPr wrap="square" lIns="0" tIns="0" r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61"/>
          <p:cNvSpPr txBox="1"/>
          <p:nvPr/>
        </p:nvSpPr>
        <p:spPr>
          <a:xfrm>
            <a:off x="5515138" y="3291839"/>
            <a:ext cx="1304979" cy="548640"/>
          </a:xfrm>
          <a:prstGeom prst="rect">
            <a:avLst/>
          </a:prstGeom>
          <a:noFill/>
        </p:spPr>
        <p:txBody>
          <a:bodyPr wrap="square" lIns="0" tIns="0" r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 63"/>
          <p:cNvSpPr txBox="1"/>
          <p:nvPr/>
        </p:nvSpPr>
        <p:spPr>
          <a:xfrm>
            <a:off x="5441986" y="3950208"/>
            <a:ext cx="1341555" cy="658368"/>
          </a:xfrm>
          <a:prstGeom prst="rect">
            <a:avLst/>
          </a:prstGeom>
          <a:noFill/>
        </p:spPr>
        <p:txBody>
          <a:bodyPr wrap="square" lIns="0" tIns="0" r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7185877" y="1188720"/>
            <a:ext cx="1231827" cy="329184"/>
          </a:xfrm>
          <a:prstGeom prst="rect">
            <a:avLst/>
          </a:prstGeom>
          <a:noFill/>
        </p:spPr>
        <p:txBody>
          <a:bodyPr wrap="square" lIns="0" tIns="0" rIns="0" bIns="0" anchor="ctr">
            <a:spAutoFit/>
          </a:bodyPr>
          <a:lstStyle/>
          <a:p>
            <a:r>
              <a:rPr sz="700" b="1" i="0">
                <a:solidFill>
                  <a:srgbClr val="000000"/>
                </a:solidFill>
                <a:latin typeface="Trenda IG Text"/>
              </a:rPr>
              <a:t>PHASE 4  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7039573"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69"/>
          <p:cNvSpPr txBox="1"/>
          <p:nvPr/>
        </p:nvSpPr>
        <p:spPr>
          <a:xfrm>
            <a:off x="7039573"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7149301" y="2157984"/>
            <a:ext cx="1304979" cy="548640"/>
          </a:xfrm>
          <a:prstGeom prst="rect">
            <a:avLst/>
          </a:prstGeom>
          <a:noFill/>
        </p:spPr>
        <p:txBody>
          <a:bodyPr wrap="square" lIns="0" tIns="0" r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7149301" y="2724912"/>
            <a:ext cx="1304979" cy="548640"/>
          </a:xfrm>
          <a:prstGeom prst="rect">
            <a:avLst/>
          </a:prstGeom>
          <a:noFill/>
        </p:spPr>
        <p:txBody>
          <a:bodyPr wrap="square" lIns="0" tIns="0" r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7149301" y="3291839"/>
            <a:ext cx="1304979" cy="548640"/>
          </a:xfrm>
          <a:prstGeom prst="rect">
            <a:avLst/>
          </a:prstGeom>
          <a:noFill/>
        </p:spPr>
        <p:txBody>
          <a:bodyPr wrap="square" lIns="0" tIns="0" r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7076149" y="3950208"/>
            <a:ext cx="1341555" cy="658368"/>
          </a:xfrm>
          <a:prstGeom prst="rect">
            <a:avLst/>
          </a:prstGeom>
          <a:noFill/>
        </p:spPr>
        <p:txBody>
          <a:bodyPr wrap="square" lIns="0" tIns="0" r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 79"/>
          <p:cNvSpPr txBox="1"/>
          <p:nvPr/>
        </p:nvSpPr>
        <p:spPr>
          <a:xfrm>
            <a:off x="8820041" y="1188720"/>
            <a:ext cx="1231827" cy="329184"/>
          </a:xfrm>
          <a:prstGeom prst="rect">
            <a:avLst/>
          </a:prstGeom>
          <a:noFill/>
        </p:spPr>
        <p:txBody>
          <a:bodyPr wrap="square" lIns="0" tIns="0" rIns="0" bIns="0" anchor="ctr">
            <a:spAutoFit/>
          </a:bodyPr>
          <a:lstStyle/>
          <a:p>
            <a:r>
              <a:rPr sz="700" b="1" i="0">
                <a:solidFill>
                  <a:srgbClr val="000000"/>
                </a:solidFill>
                <a:latin typeface="Trenda IG Text"/>
              </a:rPr>
              <a:t>PHASE 5  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81"/>
          <p:cNvSpPr txBox="1"/>
          <p:nvPr/>
        </p:nvSpPr>
        <p:spPr>
          <a:xfrm>
            <a:off x="8673737"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 83"/>
          <p:cNvSpPr txBox="1"/>
          <p:nvPr/>
        </p:nvSpPr>
        <p:spPr>
          <a:xfrm>
            <a:off x="8673737"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5"/>
          <p:cNvSpPr txBox="1"/>
          <p:nvPr/>
        </p:nvSpPr>
        <p:spPr>
          <a:xfrm>
            <a:off x="8783465" y="2157984"/>
            <a:ext cx="1304979" cy="332841"/>
          </a:xfrm>
          <a:prstGeom prst="rect">
            <a:avLst/>
          </a:prstGeom>
          <a:noFill/>
        </p:spPr>
        <p:txBody>
          <a:bodyPr wrap="square" lIns="0" tIns="0" r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 87"/>
          <p:cNvSpPr txBox="1"/>
          <p:nvPr/>
        </p:nvSpPr>
        <p:spPr>
          <a:xfrm>
            <a:off x="8783465" y="2509113"/>
            <a:ext cx="1304979" cy="332841"/>
          </a:xfrm>
          <a:prstGeom prst="rect">
            <a:avLst/>
          </a:prstGeom>
          <a:noFill/>
        </p:spPr>
        <p:txBody>
          <a:bodyPr wrap="square" lIns="0" tIns="0" r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 89"/>
          <p:cNvSpPr txBox="1"/>
          <p:nvPr/>
        </p:nvSpPr>
        <p:spPr>
          <a:xfrm>
            <a:off x="8783465" y="2860243"/>
            <a:ext cx="1304979" cy="332841"/>
          </a:xfrm>
          <a:prstGeom prst="rect">
            <a:avLst/>
          </a:prstGeom>
          <a:noFill/>
        </p:spPr>
        <p:txBody>
          <a:bodyPr wrap="square" lIns="0" tIns="0" r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Text 91"/>
          <p:cNvSpPr txBox="1"/>
          <p:nvPr/>
        </p:nvSpPr>
        <p:spPr>
          <a:xfrm>
            <a:off x="8783465" y="3211372"/>
            <a:ext cx="1304979" cy="332841"/>
          </a:xfrm>
          <a:prstGeom prst="rect">
            <a:avLst/>
          </a:prstGeom>
          <a:noFill/>
        </p:spPr>
        <p:txBody>
          <a:bodyPr wrap="square" lIns="0" tIns="0" r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3"/>
          <p:cNvSpPr txBox="1"/>
          <p:nvPr/>
        </p:nvSpPr>
        <p:spPr>
          <a:xfrm>
            <a:off x="8783465" y="3562502"/>
            <a:ext cx="1304979" cy="332841"/>
          </a:xfrm>
          <a:prstGeom prst="rect">
            <a:avLst/>
          </a:prstGeom>
          <a:noFill/>
        </p:spPr>
        <p:txBody>
          <a:bodyPr wrap="square" lIns="0" tIns="0" r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5"/>
          <p:cNvSpPr txBox="1"/>
          <p:nvPr/>
        </p:nvSpPr>
        <p:spPr>
          <a:xfrm>
            <a:off x="8710313" y="3950208"/>
            <a:ext cx="1341555" cy="658368"/>
          </a:xfrm>
          <a:prstGeom prst="rect">
            <a:avLst/>
          </a:prstGeom>
          <a:noFill/>
        </p:spPr>
        <p:txBody>
          <a:bodyPr wrap="square" lIns="0" tIns="0" r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Text 97"/>
          <p:cNvSpPr txBox="1"/>
          <p:nvPr/>
        </p:nvSpPr>
        <p:spPr>
          <a:xfrm>
            <a:off x="10454204" y="1188720"/>
            <a:ext cx="1231827" cy="329184"/>
          </a:xfrm>
          <a:prstGeom prst="rect">
            <a:avLst/>
          </a:prstGeom>
          <a:noFill/>
        </p:spPr>
        <p:txBody>
          <a:bodyPr wrap="square" lIns="0" tIns="0" rIns="0" bIns="0" anchor="ctr">
            <a:spAutoFit/>
          </a:bodyPr>
          <a:lstStyle/>
          <a:p>
            <a:r>
              <a:rPr sz="700" b="1" i="0">
                <a:solidFill>
                  <a:srgbClr val="000000"/>
                </a:solidFill>
                <a:latin typeface="Trenda IG Text"/>
              </a:rPr>
              <a:t>PHASE 6  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10307900" y="1645920"/>
            <a:ext cx="1378131" cy="164592"/>
          </a:xfrm>
          <a:prstGeom prst="rect">
            <a:avLst/>
          </a:prstGeom>
          <a:noFill/>
        </p:spPr>
        <p:txBody>
          <a:bodyPr wrap="square" lIns="0" tIns="0" r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101"/>
          <p:cNvSpPr txBox="1"/>
          <p:nvPr/>
        </p:nvSpPr>
        <p:spPr>
          <a:xfrm>
            <a:off x="10307900" y="1828800"/>
            <a:ext cx="1378131" cy="237744"/>
          </a:xfrm>
          <a:prstGeom prst="rect">
            <a:avLst/>
          </a:prstGeom>
          <a:noFill/>
        </p:spPr>
        <p:txBody>
          <a:bodyPr wrap="square" lIns="0" tIns="0" r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Text 103"/>
          <p:cNvSpPr txBox="1"/>
          <p:nvPr/>
        </p:nvSpPr>
        <p:spPr>
          <a:xfrm>
            <a:off x="10417628" y="2157984"/>
            <a:ext cx="1304979" cy="548640"/>
          </a:xfrm>
          <a:prstGeom prst="rect">
            <a:avLst/>
          </a:prstGeom>
          <a:noFill/>
        </p:spPr>
        <p:txBody>
          <a:bodyPr wrap="square" lIns="0" tIns="0" r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5"/>
          <p:cNvSpPr txBox="1"/>
          <p:nvPr/>
        </p:nvSpPr>
        <p:spPr>
          <a:xfrm>
            <a:off x="10417628" y="2724912"/>
            <a:ext cx="1304979" cy="548640"/>
          </a:xfrm>
          <a:prstGeom prst="rect">
            <a:avLst/>
          </a:prstGeom>
          <a:noFill/>
        </p:spPr>
        <p:txBody>
          <a:bodyPr wrap="square" lIns="0" tIns="0" r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 107"/>
          <p:cNvSpPr txBox="1"/>
          <p:nvPr/>
        </p:nvSpPr>
        <p:spPr>
          <a:xfrm>
            <a:off x="10417628" y="3291839"/>
            <a:ext cx="1304979" cy="548640"/>
          </a:xfrm>
          <a:prstGeom prst="rect">
            <a:avLst/>
          </a:prstGeom>
          <a:noFill/>
        </p:spPr>
        <p:txBody>
          <a:bodyPr wrap="square" lIns="0" tIns="0" r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Text 109"/>
          <p:cNvSpPr txBox="1"/>
          <p:nvPr/>
        </p:nvSpPr>
        <p:spPr>
          <a:xfrm>
            <a:off x="10344476" y="3950208"/>
            <a:ext cx="1341555" cy="658368"/>
          </a:xfrm>
          <a:prstGeom prst="rect">
            <a:avLst/>
          </a:prstGeom>
          <a:noFill/>
        </p:spPr>
        <p:txBody>
          <a:bodyPr wrap="square" lIns="0" tIns="0" r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1"/>
          <p:cNvSpPr txBox="1"/>
          <p:nvPr/>
        </p:nvSpPr>
        <p:spPr>
          <a:xfrm>
            <a:off x="2137083" y="4754880"/>
            <a:ext cx="3012294" cy="182880"/>
          </a:xfrm>
          <a:prstGeom prst="rect">
            <a:avLst/>
          </a:prstGeom>
          <a:noFill/>
        </p:spPr>
        <p:txBody>
          <a:bodyPr wrap="square" lIns="0" tIns="0" r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737898" y="1097280"/>
            <a:ext cx="914400" cy="146304"/>
          </a:xfrm>
          <a:prstGeom prst="rect">
            <a:avLst/>
          </a:prstGeom>
          <a:noFill/>
        </p:spPr>
        <p:txBody>
          <a:bodyPr wrap="square" lIns="0" tIns="0" r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Text 115"/>
          <p:cNvSpPr txBox="1"/>
          <p:nvPr/>
        </p:nvSpPr>
        <p:spPr>
          <a:xfrm>
            <a:off x="5405410" y="4754880"/>
            <a:ext cx="1378131" cy="182880"/>
          </a:xfrm>
          <a:prstGeom prst="rect">
            <a:avLst/>
          </a:prstGeom>
          <a:noFill/>
        </p:spPr>
        <p:txBody>
          <a:bodyPr wrap="square" lIns="0" tIns="0" r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17"/>
          <p:cNvSpPr txBox="1"/>
          <p:nvPr/>
        </p:nvSpPr>
        <p:spPr>
          <a:xfrm>
            <a:off x="8673737" y="4754880"/>
            <a:ext cx="1378131" cy="182880"/>
          </a:xfrm>
          <a:prstGeom prst="rect">
            <a:avLst/>
          </a:prstGeom>
          <a:noFill/>
        </p:spPr>
        <p:txBody>
          <a:bodyPr wrap="square" lIns="0" tIns="0" r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tIns="0" r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1"/>
          <p:cNvSpPr txBox="1"/>
          <p:nvPr/>
        </p:nvSpPr>
        <p:spPr>
          <a:xfrm>
            <a:off x="576072" y="5285232"/>
            <a:ext cx="3477768" cy="603504"/>
          </a:xfrm>
          <a:prstGeom prst="rect">
            <a:avLst/>
          </a:prstGeom>
          <a:noFill/>
        </p:spPr>
        <p:txBody>
          <a:bodyPr wrap="square" lIns="0" tIns="0" r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4401312" y="5285232"/>
            <a:ext cx="3477768" cy="603504"/>
          </a:xfrm>
          <a:prstGeom prst="rect">
            <a:avLst/>
          </a:prstGeom>
          <a:noFill/>
        </p:spPr>
        <p:txBody>
          <a:bodyPr wrap="square" lIns="0" tIns="0" r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Text 127"/>
          <p:cNvSpPr txBox="1"/>
          <p:nvPr/>
        </p:nvSpPr>
        <p:spPr>
          <a:xfrm>
            <a:off x="8226551" y="5285232"/>
            <a:ext cx="3477768" cy="603504"/>
          </a:xfrm>
          <a:prstGeom prst="rect">
            <a:avLst/>
          </a:prstGeom>
          <a:noFill/>
        </p:spPr>
        <p:txBody>
          <a:bodyPr wrap="square" lIns="0" tIns="0" r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tIns="0" r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people.png"/>
          <p:cNvPicPr>
            <a:picLocks noChangeAspect="1"/>
          </p:cNvPicPr>
          <p:nvPr/>
        </p:nvPicPr>
        <p:blipFill>
          <a:blip r:embed="rId3"/>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tIns="0" r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tIns="0" r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8"/>
          <p:cNvSpPr txBox="1"/>
          <p:nvPr/>
        </p:nvSpPr>
        <p:spPr>
          <a:xfrm>
            <a:off x="521208" y="2468880"/>
            <a:ext cx="1691639" cy="310896"/>
          </a:xfrm>
          <a:prstGeom prst="rect">
            <a:avLst/>
          </a:prstGeom>
          <a:noFill/>
        </p:spPr>
        <p:txBody>
          <a:bodyPr wrap="square" lIns="0" tIns="0" r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0"/>
          <p:cNvSpPr txBox="1"/>
          <p:nvPr/>
        </p:nvSpPr>
        <p:spPr>
          <a:xfrm>
            <a:off x="649224" y="2926080"/>
            <a:ext cx="1563623" cy="512064"/>
          </a:xfrm>
          <a:prstGeom prst="rect">
            <a:avLst/>
          </a:prstGeom>
          <a:noFill/>
        </p:spPr>
        <p:txBody>
          <a:bodyPr wrap="square" lIns="0" tIns="0" r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2"/>
          <p:cNvSpPr txBox="1"/>
          <p:nvPr/>
        </p:nvSpPr>
        <p:spPr>
          <a:xfrm>
            <a:off x="649224" y="3493008"/>
            <a:ext cx="1563623" cy="512064"/>
          </a:xfrm>
          <a:prstGeom prst="rect">
            <a:avLst/>
          </a:prstGeom>
          <a:noFill/>
        </p:spPr>
        <p:txBody>
          <a:bodyPr wrap="square" lIns="0" tIns="0" r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4"/>
          <p:cNvSpPr txBox="1"/>
          <p:nvPr/>
        </p:nvSpPr>
        <p:spPr>
          <a:xfrm>
            <a:off x="649224" y="4059936"/>
            <a:ext cx="1563623" cy="512064"/>
          </a:xfrm>
          <a:prstGeom prst="rect">
            <a:avLst/>
          </a:prstGeom>
          <a:noFill/>
        </p:spPr>
        <p:txBody>
          <a:bodyPr wrap="square" lIns="0" tIns="0" r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6"/>
          <p:cNvSpPr txBox="1"/>
          <p:nvPr/>
        </p:nvSpPr>
        <p:spPr>
          <a:xfrm>
            <a:off x="649224" y="4626864"/>
            <a:ext cx="1563623" cy="512064"/>
          </a:xfrm>
          <a:prstGeom prst="rect">
            <a:avLst/>
          </a:prstGeom>
          <a:noFill/>
        </p:spPr>
        <p:txBody>
          <a:bodyPr wrap="square" lIns="0" tIns="0" r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0"/>
          <p:cNvSpPr txBox="1"/>
          <p:nvPr/>
        </p:nvSpPr>
        <p:spPr>
          <a:xfrm>
            <a:off x="2578608" y="1188720"/>
            <a:ext cx="6364224" cy="256032"/>
          </a:xfrm>
          <a:prstGeom prst="rect">
            <a:avLst/>
          </a:prstGeom>
          <a:noFill/>
        </p:spPr>
        <p:txBody>
          <a:bodyPr wrap="square" lIns="0" tIns="0" r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3"/>
          <p:cNvSpPr txBox="1"/>
          <p:nvPr/>
        </p:nvSpPr>
        <p:spPr>
          <a:xfrm>
            <a:off x="2578608" y="3355848"/>
            <a:ext cx="6364224" cy="256032"/>
          </a:xfrm>
          <a:prstGeom prst="rect">
            <a:avLst/>
          </a:prstGeom>
          <a:noFill/>
        </p:spPr>
        <p:txBody>
          <a:bodyPr wrap="square" lIns="0" tIns="0" r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googlecloud.png"/>
          <p:cNvPicPr>
            <a:picLocks noChangeAspect="1"/>
          </p:cNvPicPr>
          <p:nvPr/>
        </p:nvPicPr>
        <p:blipFill>
          <a:blip r:embed="rId4"/>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tIns="0" r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28"/>
          <p:cNvSpPr txBox="1"/>
          <p:nvPr/>
        </p:nvSpPr>
        <p:spPr>
          <a:xfrm>
            <a:off x="4297680" y="1609344"/>
            <a:ext cx="1316736" cy="201168"/>
          </a:xfrm>
          <a:prstGeom prst="rect">
            <a:avLst/>
          </a:prstGeom>
          <a:noFill/>
        </p:spPr>
        <p:txBody>
          <a:bodyPr wrap="square" lIns="0" tIns="0" r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4" name="Picture 33" descr="people.png"/>
          <p:cNvPicPr>
            <a:picLocks noChangeAspect="1"/>
          </p:cNvPicPr>
          <p:nvPr/>
        </p:nvPicPr>
        <p:blipFill>
          <a:blip r:embed="rId3"/>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tIns="0" r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tIns="0" r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4"/>
          <p:cNvSpPr txBox="1"/>
          <p:nvPr/>
        </p:nvSpPr>
        <p:spPr>
          <a:xfrm>
            <a:off x="7552944" y="1609344"/>
            <a:ext cx="1316736" cy="201168"/>
          </a:xfrm>
          <a:prstGeom prst="rect">
            <a:avLst/>
          </a:prstGeom>
          <a:noFill/>
        </p:spPr>
        <p:txBody>
          <a:bodyPr wrap="square" lIns="0" tIns="0" r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tIns="0" r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tIns="0" r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4"/>
          <p:cNvSpPr txBox="1"/>
          <p:nvPr/>
        </p:nvSpPr>
        <p:spPr>
          <a:xfrm>
            <a:off x="3566160" y="2542032"/>
            <a:ext cx="373075" cy="201168"/>
          </a:xfrm>
          <a:prstGeom prst="rect">
            <a:avLst/>
          </a:prstGeom>
          <a:noFill/>
        </p:spPr>
        <p:txBody>
          <a:bodyPr wrap="square" lIns="0" tIns="0" r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 46"/>
          <p:cNvSpPr txBox="1"/>
          <p:nvPr/>
        </p:nvSpPr>
        <p:spPr>
          <a:xfrm>
            <a:off x="3994099" y="2542032"/>
            <a:ext cx="991209" cy="201168"/>
          </a:xfrm>
          <a:prstGeom prst="rect">
            <a:avLst/>
          </a:prstGeom>
          <a:noFill/>
        </p:spPr>
        <p:txBody>
          <a:bodyPr wrap="square" lIns="0" tIns="0" r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48"/>
          <p:cNvSpPr txBox="1"/>
          <p:nvPr/>
        </p:nvSpPr>
        <p:spPr>
          <a:xfrm>
            <a:off x="5040172" y="2542032"/>
            <a:ext cx="991209" cy="201168"/>
          </a:xfrm>
          <a:prstGeom prst="rect">
            <a:avLst/>
          </a:prstGeom>
          <a:noFill/>
        </p:spPr>
        <p:txBody>
          <a:bodyPr wrap="square" lIns="0" tIns="0" r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0"/>
          <p:cNvSpPr txBox="1"/>
          <p:nvPr/>
        </p:nvSpPr>
        <p:spPr>
          <a:xfrm>
            <a:off x="6086246" y="2542032"/>
            <a:ext cx="1086307" cy="201168"/>
          </a:xfrm>
          <a:prstGeom prst="rect">
            <a:avLst/>
          </a:prstGeom>
          <a:noFill/>
        </p:spPr>
        <p:txBody>
          <a:bodyPr wrap="square" lIns="0" tIns="0" r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2"/>
          <p:cNvSpPr txBox="1"/>
          <p:nvPr/>
        </p:nvSpPr>
        <p:spPr>
          <a:xfrm>
            <a:off x="7227417" y="2542032"/>
            <a:ext cx="801014" cy="201168"/>
          </a:xfrm>
          <a:prstGeom prst="rect">
            <a:avLst/>
          </a:prstGeom>
          <a:noFill/>
        </p:spPr>
        <p:txBody>
          <a:bodyPr wrap="square" lIns="0" tIns="0" r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 54"/>
          <p:cNvSpPr txBox="1"/>
          <p:nvPr/>
        </p:nvSpPr>
        <p:spPr>
          <a:xfrm>
            <a:off x="8083296" y="2542032"/>
            <a:ext cx="563270" cy="201168"/>
          </a:xfrm>
          <a:prstGeom prst="rect">
            <a:avLst/>
          </a:prstGeom>
          <a:noFill/>
        </p:spPr>
        <p:txBody>
          <a:bodyPr wrap="square" lIns="0" tIns="0" r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58"/>
          <p:cNvSpPr txBox="1"/>
          <p:nvPr/>
        </p:nvSpPr>
        <p:spPr>
          <a:xfrm>
            <a:off x="4343400" y="3127248"/>
            <a:ext cx="2834640" cy="164592"/>
          </a:xfrm>
          <a:prstGeom prst="rect">
            <a:avLst/>
          </a:prstGeom>
          <a:noFill/>
        </p:spPr>
        <p:txBody>
          <a:bodyPr wrap="square" lIns="0" tIns="0" r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4" name="Picture 63" descr="people.png"/>
          <p:cNvPicPr>
            <a:picLocks noChangeAspect="1"/>
          </p:cNvPicPr>
          <p:nvPr/>
        </p:nvPicPr>
        <p:blipFill>
          <a:blip r:embed="rId3"/>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tIns="0" r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tIns="0" r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5"/>
          <p:cNvSpPr txBox="1"/>
          <p:nvPr/>
        </p:nvSpPr>
        <p:spPr>
          <a:xfrm>
            <a:off x="4471416" y="3776472"/>
            <a:ext cx="2112263" cy="237744"/>
          </a:xfrm>
          <a:prstGeom prst="rect">
            <a:avLst/>
          </a:prstGeom>
          <a:noFill/>
        </p:spPr>
        <p:txBody>
          <a:bodyPr wrap="square" lIns="0" tIns="0" r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tIns="0" r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69"/>
          <p:cNvSpPr txBox="1"/>
          <p:nvPr/>
        </p:nvSpPr>
        <p:spPr>
          <a:xfrm>
            <a:off x="6967728" y="3794760"/>
            <a:ext cx="329184" cy="182880"/>
          </a:xfrm>
          <a:prstGeom prst="rect">
            <a:avLst/>
          </a:prstGeom>
          <a:noFill/>
        </p:spPr>
        <p:txBody>
          <a:bodyPr wrap="square" lIns="0" tIns="0" r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tIns="0" r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tIns="0" r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tIns="0" r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 78"/>
          <p:cNvSpPr txBox="1"/>
          <p:nvPr/>
        </p:nvSpPr>
        <p:spPr>
          <a:xfrm>
            <a:off x="3566160" y="4764024"/>
            <a:ext cx="1086307" cy="201168"/>
          </a:xfrm>
          <a:prstGeom prst="rect">
            <a:avLst/>
          </a:prstGeom>
          <a:noFill/>
        </p:spPr>
        <p:txBody>
          <a:bodyPr wrap="square" lIns="0" tIns="0" r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 80"/>
          <p:cNvSpPr txBox="1"/>
          <p:nvPr/>
        </p:nvSpPr>
        <p:spPr>
          <a:xfrm>
            <a:off x="4707331" y="4764024"/>
            <a:ext cx="943660" cy="201168"/>
          </a:xfrm>
          <a:prstGeom prst="rect">
            <a:avLst/>
          </a:prstGeom>
          <a:noFill/>
        </p:spPr>
        <p:txBody>
          <a:bodyPr wrap="square" lIns="0" tIns="0" r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2"/>
          <p:cNvSpPr txBox="1"/>
          <p:nvPr/>
        </p:nvSpPr>
        <p:spPr>
          <a:xfrm>
            <a:off x="5705856" y="4764024"/>
            <a:ext cx="705916" cy="201168"/>
          </a:xfrm>
          <a:prstGeom prst="rect">
            <a:avLst/>
          </a:prstGeom>
          <a:noFill/>
        </p:spPr>
        <p:txBody>
          <a:bodyPr wrap="square" lIns="0" tIns="0" r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 84"/>
          <p:cNvSpPr txBox="1"/>
          <p:nvPr/>
        </p:nvSpPr>
        <p:spPr>
          <a:xfrm>
            <a:off x="6466636" y="4764024"/>
            <a:ext cx="1181404" cy="201168"/>
          </a:xfrm>
          <a:prstGeom prst="rect">
            <a:avLst/>
          </a:prstGeom>
          <a:noFill/>
        </p:spPr>
        <p:txBody>
          <a:bodyPr wrap="square" lIns="0" tIns="0" r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 86"/>
          <p:cNvSpPr txBox="1"/>
          <p:nvPr/>
        </p:nvSpPr>
        <p:spPr>
          <a:xfrm>
            <a:off x="7702905" y="4764024"/>
            <a:ext cx="848563" cy="201168"/>
          </a:xfrm>
          <a:prstGeom prst="rect">
            <a:avLst/>
          </a:prstGeom>
          <a:noFill/>
        </p:spPr>
        <p:txBody>
          <a:bodyPr wrap="square" lIns="0" tIns="0" r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89"/>
          <p:cNvSpPr txBox="1"/>
          <p:nvPr/>
        </p:nvSpPr>
        <p:spPr>
          <a:xfrm>
            <a:off x="9299448" y="1188720"/>
            <a:ext cx="2368296" cy="256032"/>
          </a:xfrm>
          <a:prstGeom prst="rect">
            <a:avLst/>
          </a:prstGeom>
          <a:noFill/>
        </p:spPr>
        <p:txBody>
          <a:bodyPr wrap="square" lIns="0" tIns="0" r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5" name="Picture 94" descr="people.png"/>
          <p:cNvPicPr>
            <a:picLocks noChangeAspect="1"/>
          </p:cNvPicPr>
          <p:nvPr/>
        </p:nvPicPr>
        <p:blipFill>
          <a:blip r:embed="rId3"/>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tIns="0" r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tIns="0" r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4"/>
          <p:cNvSpPr txBox="1"/>
          <p:nvPr/>
        </p:nvSpPr>
        <p:spPr>
          <a:xfrm>
            <a:off x="9390888" y="2487168"/>
            <a:ext cx="2203704" cy="201168"/>
          </a:xfrm>
          <a:prstGeom prst="rect">
            <a:avLst/>
          </a:prstGeom>
          <a:noFill/>
        </p:spPr>
        <p:txBody>
          <a:bodyPr wrap="square" lIns="0" tIns="0" r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2" name="Picture 101" descr="googlebigquery.png"/>
          <p:cNvPicPr>
            <a:picLocks noChangeAspect="1"/>
          </p:cNvPicPr>
          <p:nvPr/>
        </p:nvPicPr>
        <p:blipFill>
          <a:blip r:embed="rId5"/>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tIns="0" r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0"/>
          <p:cNvSpPr txBox="1"/>
          <p:nvPr/>
        </p:nvSpPr>
        <p:spPr>
          <a:xfrm>
            <a:off x="9390888" y="4315968"/>
            <a:ext cx="2203704" cy="201168"/>
          </a:xfrm>
          <a:prstGeom prst="rect">
            <a:avLst/>
          </a:prstGeom>
          <a:noFill/>
        </p:spPr>
        <p:txBody>
          <a:bodyPr wrap="square" lIns="0" tIns="0" r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tIns="0" r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tIns="0" r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05"/>
          <p:cNvSpPr txBox="1"/>
          <p:nvPr/>
        </p:nvSpPr>
        <p:spPr>
          <a:xfrm>
            <a:off x="1792224"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08"/>
          <p:cNvSpPr txBox="1"/>
          <p:nvPr/>
        </p:nvSpPr>
        <p:spPr>
          <a:xfrm>
            <a:off x="3496056"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1"/>
          <p:cNvSpPr txBox="1"/>
          <p:nvPr/>
        </p:nvSpPr>
        <p:spPr>
          <a:xfrm>
            <a:off x="5199888"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14"/>
          <p:cNvSpPr txBox="1"/>
          <p:nvPr/>
        </p:nvSpPr>
        <p:spPr>
          <a:xfrm>
            <a:off x="6903720"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Text 117"/>
          <p:cNvSpPr txBox="1"/>
          <p:nvPr/>
        </p:nvSpPr>
        <p:spPr>
          <a:xfrm>
            <a:off x="8607552"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0"/>
          <p:cNvSpPr txBox="1"/>
          <p:nvPr/>
        </p:nvSpPr>
        <p:spPr>
          <a:xfrm>
            <a:off x="10311384" y="5376672"/>
            <a:ext cx="1411224" cy="786384"/>
          </a:xfrm>
          <a:prstGeom prst="rect">
            <a:avLst/>
          </a:prstGeom>
          <a:noFill/>
        </p:spPr>
        <p:txBody>
          <a:bodyPr wrap="square" lIns="0" tIns="0" r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tIns="0" r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openai-white.png"/>
          <p:cNvPicPr>
            <a:picLocks noChangeAspect="1"/>
          </p:cNvPicPr>
          <p:nvPr/>
        </p:nvPicPr>
        <p:blipFill>
          <a:blip r:embed="rId3"/>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tIns="0" r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salesforce.png"/>
          <p:cNvPicPr>
            <a:picLocks noChangeAspect="1"/>
          </p:cNvPicPr>
          <p:nvPr/>
        </p:nvPicPr>
        <p:blipFill>
          <a:blip r:embed="rId4"/>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tIns="0" r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0"/>
          <p:cNvSpPr txBox="1"/>
          <p:nvPr/>
        </p:nvSpPr>
        <p:spPr>
          <a:xfrm>
            <a:off x="6592824" y="1188720"/>
            <a:ext cx="2057400" cy="457200"/>
          </a:xfrm>
          <a:prstGeom prst="rect">
            <a:avLst/>
          </a:prstGeom>
          <a:noFill/>
        </p:spPr>
        <p:txBody>
          <a:bodyPr wrap="square" lIns="0" tIns="0" r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tIns="0" r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4"/>
          <p:cNvSpPr txBox="1"/>
          <p:nvPr/>
        </p:nvSpPr>
        <p:spPr>
          <a:xfrm>
            <a:off x="521208" y="1783080"/>
            <a:ext cx="1965959" cy="256032"/>
          </a:xfrm>
          <a:prstGeom prst="rect">
            <a:avLst/>
          </a:prstGeom>
          <a:noFill/>
        </p:spPr>
        <p:txBody>
          <a:bodyPr wrap="square" lIns="0" tIns="0" r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7"/>
          <p:cNvSpPr txBox="1"/>
          <p:nvPr/>
        </p:nvSpPr>
        <p:spPr>
          <a:xfrm>
            <a:off x="630936" y="216712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0"/>
          <p:cNvSpPr txBox="1"/>
          <p:nvPr/>
        </p:nvSpPr>
        <p:spPr>
          <a:xfrm>
            <a:off x="630936" y="292150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3"/>
          <p:cNvSpPr txBox="1"/>
          <p:nvPr/>
        </p:nvSpPr>
        <p:spPr>
          <a:xfrm>
            <a:off x="630936" y="3675887"/>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6"/>
          <p:cNvSpPr txBox="1"/>
          <p:nvPr/>
        </p:nvSpPr>
        <p:spPr>
          <a:xfrm>
            <a:off x="630936" y="443026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29"/>
          <p:cNvSpPr txBox="1"/>
          <p:nvPr/>
        </p:nvSpPr>
        <p:spPr>
          <a:xfrm>
            <a:off x="2816352" y="1783080"/>
            <a:ext cx="1965959" cy="256032"/>
          </a:xfrm>
          <a:prstGeom prst="rect">
            <a:avLst/>
          </a:prstGeom>
          <a:noFill/>
        </p:spPr>
        <p:txBody>
          <a:bodyPr wrap="square" lIns="0" tIns="0" r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2"/>
          <p:cNvSpPr txBox="1"/>
          <p:nvPr/>
        </p:nvSpPr>
        <p:spPr>
          <a:xfrm>
            <a:off x="2926080" y="2167128"/>
            <a:ext cx="1819655" cy="608075"/>
          </a:xfrm>
          <a:prstGeom prst="rect">
            <a:avLst/>
          </a:prstGeom>
          <a:noFill/>
        </p:spPr>
        <p:txBody>
          <a:bodyPr wrap="square" lIns="0" tIns="0" r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5"/>
          <p:cNvSpPr txBox="1"/>
          <p:nvPr/>
        </p:nvSpPr>
        <p:spPr>
          <a:xfrm>
            <a:off x="2926080" y="2921508"/>
            <a:ext cx="1819655" cy="608075"/>
          </a:xfrm>
          <a:prstGeom prst="rect">
            <a:avLst/>
          </a:prstGeom>
          <a:noFill/>
        </p:spPr>
        <p:txBody>
          <a:bodyPr wrap="square" lIns="0" tIns="0" r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38"/>
          <p:cNvSpPr txBox="1"/>
          <p:nvPr/>
        </p:nvSpPr>
        <p:spPr>
          <a:xfrm>
            <a:off x="2926080" y="3675887"/>
            <a:ext cx="1819655" cy="608075"/>
          </a:xfrm>
          <a:prstGeom prst="rect">
            <a:avLst/>
          </a:prstGeom>
          <a:noFill/>
        </p:spPr>
        <p:txBody>
          <a:bodyPr wrap="square" lIns="0" tIns="0" r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1"/>
          <p:cNvSpPr txBox="1"/>
          <p:nvPr/>
        </p:nvSpPr>
        <p:spPr>
          <a:xfrm>
            <a:off x="2926080" y="4430268"/>
            <a:ext cx="1819655" cy="608075"/>
          </a:xfrm>
          <a:prstGeom prst="rect">
            <a:avLst/>
          </a:prstGeom>
          <a:noFill/>
        </p:spPr>
        <p:txBody>
          <a:bodyPr wrap="square" lIns="0" tIns="0" r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4"/>
          <p:cNvSpPr txBox="1"/>
          <p:nvPr/>
        </p:nvSpPr>
        <p:spPr>
          <a:xfrm>
            <a:off x="5111496" y="1783080"/>
            <a:ext cx="1965959" cy="256032"/>
          </a:xfrm>
          <a:prstGeom prst="rect">
            <a:avLst/>
          </a:prstGeom>
          <a:noFill/>
        </p:spPr>
        <p:txBody>
          <a:bodyPr wrap="square" lIns="0" tIns="0" r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 47"/>
          <p:cNvSpPr txBox="1"/>
          <p:nvPr/>
        </p:nvSpPr>
        <p:spPr>
          <a:xfrm>
            <a:off x="5221224" y="216712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0"/>
          <p:cNvSpPr txBox="1"/>
          <p:nvPr/>
        </p:nvSpPr>
        <p:spPr>
          <a:xfrm>
            <a:off x="5221224" y="292150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3"/>
          <p:cNvSpPr txBox="1"/>
          <p:nvPr/>
        </p:nvSpPr>
        <p:spPr>
          <a:xfrm>
            <a:off x="5221224" y="3675887"/>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6"/>
          <p:cNvSpPr txBox="1"/>
          <p:nvPr/>
        </p:nvSpPr>
        <p:spPr>
          <a:xfrm>
            <a:off x="5221224" y="443026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 59"/>
          <p:cNvSpPr txBox="1"/>
          <p:nvPr/>
        </p:nvSpPr>
        <p:spPr>
          <a:xfrm>
            <a:off x="7406640" y="1783080"/>
            <a:ext cx="1965959" cy="256032"/>
          </a:xfrm>
          <a:prstGeom prst="rect">
            <a:avLst/>
          </a:prstGeom>
          <a:noFill/>
        </p:spPr>
        <p:txBody>
          <a:bodyPr wrap="square" lIns="0" tIns="0" r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2"/>
          <p:cNvSpPr txBox="1"/>
          <p:nvPr/>
        </p:nvSpPr>
        <p:spPr>
          <a:xfrm>
            <a:off x="7516367" y="216712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5"/>
          <p:cNvSpPr txBox="1"/>
          <p:nvPr/>
        </p:nvSpPr>
        <p:spPr>
          <a:xfrm>
            <a:off x="7516367" y="292150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68"/>
          <p:cNvSpPr txBox="1"/>
          <p:nvPr/>
        </p:nvSpPr>
        <p:spPr>
          <a:xfrm>
            <a:off x="7516367" y="3675887"/>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1"/>
          <p:cNvSpPr txBox="1"/>
          <p:nvPr/>
        </p:nvSpPr>
        <p:spPr>
          <a:xfrm>
            <a:off x="7516367" y="4430268"/>
            <a:ext cx="1819655" cy="608075"/>
          </a:xfrm>
          <a:prstGeom prst="rect">
            <a:avLst/>
          </a:prstGeom>
          <a:noFill/>
        </p:spPr>
        <p:txBody>
          <a:bodyPr wrap="square" lIns="0" tIns="0" r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4"/>
          <p:cNvSpPr txBox="1"/>
          <p:nvPr/>
        </p:nvSpPr>
        <p:spPr>
          <a:xfrm>
            <a:off x="9701783" y="1783080"/>
            <a:ext cx="1965959" cy="256032"/>
          </a:xfrm>
          <a:prstGeom prst="rect">
            <a:avLst/>
          </a:prstGeom>
          <a:noFill/>
        </p:spPr>
        <p:txBody>
          <a:bodyPr wrap="square" lIns="0" tIns="0" r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 77"/>
          <p:cNvSpPr txBox="1"/>
          <p:nvPr/>
        </p:nvSpPr>
        <p:spPr>
          <a:xfrm>
            <a:off x="9811511" y="216712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0"/>
          <p:cNvSpPr txBox="1"/>
          <p:nvPr/>
        </p:nvSpPr>
        <p:spPr>
          <a:xfrm>
            <a:off x="9811511" y="292150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3"/>
          <p:cNvSpPr txBox="1"/>
          <p:nvPr/>
        </p:nvSpPr>
        <p:spPr>
          <a:xfrm>
            <a:off x="9811511" y="3675887"/>
            <a:ext cx="1819655" cy="608075"/>
          </a:xfrm>
          <a:prstGeom prst="rect">
            <a:avLst/>
          </a:prstGeom>
          <a:noFill/>
        </p:spPr>
        <p:txBody>
          <a:bodyPr wrap="square" lIns="0" tIns="0" r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6"/>
          <p:cNvSpPr txBox="1"/>
          <p:nvPr/>
        </p:nvSpPr>
        <p:spPr>
          <a:xfrm>
            <a:off x="9811511" y="4430268"/>
            <a:ext cx="1819655" cy="608075"/>
          </a:xfrm>
          <a:prstGeom prst="rect">
            <a:avLst/>
          </a:prstGeom>
          <a:noFill/>
        </p:spPr>
        <p:txBody>
          <a:bodyPr wrap="square" lIns="0" tIns="0" r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tIns="0" r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0"/>
          <p:cNvSpPr txBox="1"/>
          <p:nvPr/>
        </p:nvSpPr>
        <p:spPr>
          <a:xfrm>
            <a:off x="1792224"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3"/>
          <p:cNvSpPr txBox="1"/>
          <p:nvPr/>
        </p:nvSpPr>
        <p:spPr>
          <a:xfrm>
            <a:off x="3496056"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6"/>
          <p:cNvSpPr txBox="1"/>
          <p:nvPr/>
        </p:nvSpPr>
        <p:spPr>
          <a:xfrm>
            <a:off x="5199888"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 99"/>
          <p:cNvSpPr txBox="1"/>
          <p:nvPr/>
        </p:nvSpPr>
        <p:spPr>
          <a:xfrm>
            <a:off x="6903720"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 102"/>
          <p:cNvSpPr txBox="1"/>
          <p:nvPr/>
        </p:nvSpPr>
        <p:spPr>
          <a:xfrm>
            <a:off x="8607552"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 105"/>
          <p:cNvSpPr txBox="1"/>
          <p:nvPr/>
        </p:nvSpPr>
        <p:spPr>
          <a:xfrm>
            <a:off x="10311384" y="5266944"/>
            <a:ext cx="1392936" cy="932688"/>
          </a:xfrm>
          <a:prstGeom prst="rect">
            <a:avLst/>
          </a:prstGeom>
          <a:noFill/>
        </p:spPr>
        <p:txBody>
          <a:bodyPr wrap="square" lIns="0" tIns="0" r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7" name="Picture 6" descr="googlecloud.png"/>
          <p:cNvPicPr>
            <a:picLocks noChangeAspect="1"/>
          </p:cNvPicPr>
          <p:nvPr/>
        </p:nvPicPr>
        <p:blipFill>
          <a:blip r:embed="rId3"/>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Shared knowledge</a:t>
            </a:r>
          </a:p>
        </p:txBody>
      </p:sp>
      <p:sp>
        <p:nvSpPr>
          <p:cNvPr id="9" name="Text 7"/>
          <p:cNvSpPr txBox="1"/>
          <p:nvPr/>
        </p:nvSpPr>
        <p:spPr>
          <a:xfrm>
            <a:off x="530352"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12" name="Picture 11" descr="people.png"/>
          <p:cNvPicPr>
            <a:picLocks noChangeAspect="1"/>
          </p:cNvPicPr>
          <p:nvPr/>
        </p:nvPicPr>
        <p:blipFill>
          <a:blip r:embed="rId4"/>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D700"/>
                </a:solidFill>
                <a:effectLst/>
                <a:uLnTx/>
                <a:uFillTx/>
                <a:latin typeface="Trenda IG Text"/>
                <a:ea typeface="+mn-ea"/>
                <a:cs typeface="+mn-cs"/>
              </a:rPr>
              <a:t>Patient</a:t>
            </a:r>
          </a:p>
        </p:txBody>
      </p:sp>
      <p:sp>
        <p:nvSpPr>
          <p:cNvPr id="14" name="Text 11"/>
          <p:cNvSpPr txBox="1"/>
          <p:nvPr/>
        </p:nvSpPr>
        <p:spPr>
          <a:xfrm>
            <a:off x="2154065"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4"/>
          <p:cNvSpPr txBox="1"/>
          <p:nvPr/>
        </p:nvSpPr>
        <p:spPr>
          <a:xfrm>
            <a:off x="3777778" y="1216152"/>
            <a:ext cx="1422545"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Sierra voice agent</a:t>
            </a:r>
          </a:p>
        </p:txBody>
      </p:sp>
      <p:sp>
        <p:nvSpPr>
          <p:cNvPr id="18" name="Text 15"/>
          <p:cNvSpPr txBox="1"/>
          <p:nvPr/>
        </p:nvSpPr>
        <p:spPr>
          <a:xfrm>
            <a:off x="3777778"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18"/>
          <p:cNvSpPr txBox="1"/>
          <p:nvPr/>
        </p:nvSpPr>
        <p:spPr>
          <a:xfrm>
            <a:off x="5401491" y="1216152"/>
            <a:ext cx="1422545"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D700"/>
                </a:solidFill>
                <a:effectLst/>
                <a:uLnTx/>
                <a:uFillTx/>
                <a:latin typeface="Trenda IG Text"/>
                <a:ea typeface="+mn-ea"/>
                <a:cs typeface="+mn-cs"/>
              </a:rPr>
              <a:t>Identity + verification</a:t>
            </a:r>
          </a:p>
        </p:txBody>
      </p:sp>
      <p:sp>
        <p:nvSpPr>
          <p:cNvPr id="22" name="Text 19"/>
          <p:cNvSpPr txBox="1"/>
          <p:nvPr/>
        </p:nvSpPr>
        <p:spPr>
          <a:xfrm>
            <a:off x="5401491"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4"/>
          <p:cNvSpPr txBox="1"/>
          <p:nvPr/>
        </p:nvSpPr>
        <p:spPr>
          <a:xfrm>
            <a:off x="7025204" y="1216152"/>
            <a:ext cx="1422545"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0069"/>
                </a:solidFill>
                <a:effectLst/>
                <a:uLnTx/>
                <a:uFillTx/>
                <a:latin typeface="Trenda IG Text"/>
                <a:ea typeface="+mn-ea"/>
                <a:cs typeface="+mn-cs"/>
              </a:rPr>
              <a:t>Verified Patient Action Engine</a:t>
            </a:r>
          </a:p>
        </p:txBody>
      </p:sp>
      <p:sp>
        <p:nvSpPr>
          <p:cNvPr id="27" name="Text 25"/>
          <p:cNvSpPr txBox="1"/>
          <p:nvPr/>
        </p:nvSpPr>
        <p:spPr>
          <a:xfrm>
            <a:off x="7025204"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8"/>
          <p:cNvSpPr txBox="1"/>
          <p:nvPr/>
        </p:nvSpPr>
        <p:spPr>
          <a:xfrm>
            <a:off x="8648917" y="1216152"/>
            <a:ext cx="1422545"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2F2F2"/>
                </a:solidFill>
                <a:effectLst/>
                <a:uLnTx/>
                <a:uFillTx/>
                <a:latin typeface="Trenda IG Text"/>
                <a:ea typeface="+mn-ea"/>
                <a:cs typeface="+mn-cs"/>
              </a:rPr>
              <a:t>Epic scheduling</a:t>
            </a:r>
          </a:p>
        </p:txBody>
      </p:sp>
      <p:sp>
        <p:nvSpPr>
          <p:cNvPr id="31" name="Text 29"/>
          <p:cNvSpPr txBox="1"/>
          <p:nvPr/>
        </p:nvSpPr>
        <p:spPr>
          <a:xfrm>
            <a:off x="8648917"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pic>
        <p:nvPicPr>
          <p:cNvPr id="34" name="Picture 33" descr="googlebigquery.png"/>
          <p:cNvPicPr>
            <a:picLocks noChangeAspect="1"/>
          </p:cNvPicPr>
          <p:nvPr/>
        </p:nvPicPr>
        <p:blipFill>
          <a:blip r:embed="rId5"/>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0069"/>
                </a:solidFill>
                <a:effectLst/>
                <a:uLnTx/>
                <a:uFillTx/>
                <a:latin typeface="Trenda IG Text"/>
                <a:ea typeface="+mn-ea"/>
                <a:cs typeface="+mn-cs"/>
              </a:rPr>
              <a:t>Gold B</a:t>
            </a:r>
          </a:p>
        </p:txBody>
      </p:sp>
      <p:sp>
        <p:nvSpPr>
          <p:cNvPr id="36" name="Text 33"/>
          <p:cNvSpPr txBox="1"/>
          <p:nvPr/>
        </p:nvSpPr>
        <p:spPr>
          <a:xfrm>
            <a:off x="10272630" y="1444752"/>
            <a:ext cx="1404257" cy="274320"/>
          </a:xfrm>
          <a:prstGeom prst="rect">
            <a:avLst/>
          </a:prstGeom>
          <a:noFill/>
        </p:spPr>
        <p:txBody>
          <a:bodyPr wrap="square" lIns="0" tIns="0" rIns="0" bIns="0" anchor="t">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6"/>
          <p:cNvSpPr txBox="1"/>
          <p:nvPr/>
        </p:nvSpPr>
        <p:spPr>
          <a:xfrm>
            <a:off x="2161249" y="1847088"/>
            <a:ext cx="374446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FFFFE"/>
                </a:solidFill>
                <a:effectLst/>
                <a:uLnTx/>
                <a:uFillTx/>
                <a:latin typeface="Trenda IG Text"/>
                <a:ea typeface="+mn-ea"/>
                <a:cs typeface="+mn-cs"/>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Text 39"/>
          <p:cNvSpPr txBox="1"/>
          <p:nvPr/>
        </p:nvSpPr>
        <p:spPr>
          <a:xfrm>
            <a:off x="2497618" y="2021305"/>
            <a:ext cx="232257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2"/>
          <p:cNvSpPr txBox="1"/>
          <p:nvPr/>
        </p:nvSpPr>
        <p:spPr>
          <a:xfrm>
            <a:off x="3165783" y="2222954"/>
            <a:ext cx="4233672"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5"/>
          <p:cNvSpPr txBox="1"/>
          <p:nvPr/>
        </p:nvSpPr>
        <p:spPr>
          <a:xfrm>
            <a:off x="3366951" y="2424603"/>
            <a:ext cx="383133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8"/>
          <p:cNvSpPr txBox="1"/>
          <p:nvPr/>
        </p:nvSpPr>
        <p:spPr>
          <a:xfrm>
            <a:off x="4516482" y="2626253"/>
            <a:ext cx="315598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7763909" y="2827902"/>
            <a:ext cx="1532273"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4"/>
          <p:cNvSpPr txBox="1"/>
          <p:nvPr/>
        </p:nvSpPr>
        <p:spPr>
          <a:xfrm>
            <a:off x="7763909" y="3029551"/>
            <a:ext cx="1532273"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0" name="Text 57"/>
          <p:cNvSpPr txBox="1"/>
          <p:nvPr/>
        </p:nvSpPr>
        <p:spPr>
          <a:xfrm>
            <a:off x="4516482" y="3231200"/>
            <a:ext cx="315598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0"/>
          <p:cNvSpPr txBox="1"/>
          <p:nvPr/>
        </p:nvSpPr>
        <p:spPr>
          <a:xfrm>
            <a:off x="2221012" y="3432850"/>
            <a:ext cx="2875788"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6" name="Text 63"/>
          <p:cNvSpPr txBox="1"/>
          <p:nvPr/>
        </p:nvSpPr>
        <p:spPr>
          <a:xfrm>
            <a:off x="2824516" y="3634499"/>
            <a:ext cx="1668780"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6"/>
          <p:cNvSpPr txBox="1"/>
          <p:nvPr/>
        </p:nvSpPr>
        <p:spPr>
          <a:xfrm>
            <a:off x="4516482" y="3836148"/>
            <a:ext cx="315598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2" name="Text 69"/>
          <p:cNvSpPr txBox="1"/>
          <p:nvPr/>
        </p:nvSpPr>
        <p:spPr>
          <a:xfrm>
            <a:off x="7763909" y="4037797"/>
            <a:ext cx="1532273"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2"/>
          <p:cNvSpPr txBox="1"/>
          <p:nvPr/>
        </p:nvSpPr>
        <p:spPr>
          <a:xfrm>
            <a:off x="2397034" y="4239447"/>
            <a:ext cx="2523744"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8" name="Text 75"/>
          <p:cNvSpPr txBox="1"/>
          <p:nvPr/>
        </p:nvSpPr>
        <p:spPr>
          <a:xfrm>
            <a:off x="2892769" y="4441096"/>
            <a:ext cx="1532273"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78"/>
          <p:cNvSpPr txBox="1"/>
          <p:nvPr/>
        </p:nvSpPr>
        <p:spPr>
          <a:xfrm>
            <a:off x="4516482" y="4642745"/>
            <a:ext cx="3155986"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1"/>
          <p:cNvSpPr txBox="1"/>
          <p:nvPr/>
        </p:nvSpPr>
        <p:spPr>
          <a:xfrm>
            <a:off x="7763909" y="4844394"/>
            <a:ext cx="1532273"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4"/>
          <p:cNvSpPr txBox="1"/>
          <p:nvPr/>
        </p:nvSpPr>
        <p:spPr>
          <a:xfrm>
            <a:off x="2892769" y="5046044"/>
            <a:ext cx="4779699"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B3B3B3"/>
                </a:solidFill>
                <a:effectLst/>
                <a:uLnTx/>
                <a:uFillTx/>
                <a:latin typeface="Trenda IG Text"/>
                <a:ea typeface="+mn-ea"/>
                <a:cs typeface="+mn-cs"/>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0" name="Text 87"/>
          <p:cNvSpPr txBox="1"/>
          <p:nvPr/>
        </p:nvSpPr>
        <p:spPr>
          <a:xfrm>
            <a:off x="1258279" y="5247693"/>
            <a:ext cx="3177540"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89"/>
          <p:cNvSpPr txBox="1"/>
          <p:nvPr/>
        </p:nvSpPr>
        <p:spPr>
          <a:xfrm>
            <a:off x="2161249" y="5476774"/>
            <a:ext cx="44988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2"/>
          <p:cNvSpPr txBox="1"/>
          <p:nvPr/>
        </p:nvSpPr>
        <p:spPr>
          <a:xfrm>
            <a:off x="7225066" y="5650991"/>
            <a:ext cx="4233672" cy="12344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F2F2F2"/>
                </a:solidFill>
                <a:effectLst/>
                <a:uLnTx/>
                <a:uFillTx/>
                <a:latin typeface="Trenda IG Text"/>
                <a:ea typeface="+mn-ea"/>
                <a:cs typeface="+mn-cs"/>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4"/>
          <p:cNvSpPr txBox="1"/>
          <p:nvPr/>
        </p:nvSpPr>
        <p:spPr>
          <a:xfrm>
            <a:off x="411480" y="5961888"/>
            <a:ext cx="5669280"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60" normalizeH="0" baseline="0" noProof="0">
                <a:ln>
                  <a:noFill/>
                </a:ln>
                <a:solidFill>
                  <a:srgbClr val="FFFFFE"/>
                </a:solidFill>
                <a:effectLst/>
                <a:uLnTx/>
                <a:uFillTx/>
                <a:latin typeface="Trenda IG Text"/>
                <a:ea typeface="+mn-ea"/>
                <a:cs typeface="+mn-cs"/>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F2F2F2"/>
                </a:solidFill>
                <a:effectLst/>
                <a:uLnTx/>
                <a:uFillTx/>
                <a:latin typeface="Trenda IG Text"/>
                <a:ea typeface="+mn-ea"/>
                <a:cs typeface="+mn-cs"/>
              </a:rPr>
              <a:t>Never: </a:t>
            </a:r>
            <a:r>
              <a:rPr kumimoji="0" sz="700" b="0" i="0" u="none" strike="noStrike" kern="1200" cap="none" spc="0" normalizeH="0" baseline="0" noProof="0">
                <a:ln>
                  <a:noFill/>
                </a:ln>
                <a:solidFill>
                  <a:srgbClr val="8C8C8C"/>
                </a:solidFill>
                <a:effectLst/>
                <a:uLnTx/>
                <a:uFillTx/>
                <a:latin typeface="Trenda IG Text"/>
                <a:ea typeface="+mn-ea"/>
                <a:cs typeface="+mn-cs"/>
              </a:rPr>
              <a:t>lists of patients, anyone else's data, or a Google Cloud copy of a booking. Transcripts hold PHI: access-controlled, retention-limited, masked before analytics.</a:t>
            </a:r>
          </a:p>
        </p:txBody>
      </p:sp>
    </p:spTree>
    <p:extLst>
      <p:ext uri="{BB962C8B-B14F-4D97-AF65-F5344CB8AC3E}">
        <p14:creationId xmlns:p14="http://schemas.microsoft.com/office/powerpoint/2010/main" val="2518166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6"/>
          <p:cNvSpPr txBox="1"/>
          <p:nvPr/>
        </p:nvSpPr>
        <p:spPr>
          <a:xfrm>
            <a:off x="521208" y="1170432"/>
            <a:ext cx="3986783" cy="256032"/>
          </a:xfrm>
          <a:prstGeom prst="rect">
            <a:avLst/>
          </a:prstGeom>
          <a:noFill/>
        </p:spPr>
        <p:txBody>
          <a:bodyPr wrap="square" lIns="0" tIns="0" r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tIns="0" r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521208" y="1664208"/>
            <a:ext cx="749808" cy="292608"/>
          </a:xfrm>
          <a:prstGeom prst="rect">
            <a:avLst/>
          </a:prstGeom>
          <a:noFill/>
        </p:spPr>
        <p:txBody>
          <a:bodyPr wrap="square" lIns="0" tIns="0" r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325880" y="1664208"/>
            <a:ext cx="914400" cy="292608"/>
          </a:xfrm>
          <a:prstGeom prst="rect">
            <a:avLst/>
          </a:prstGeom>
          <a:noFill/>
        </p:spPr>
        <p:txBody>
          <a:bodyPr wrap="square" lIns="0" tIns="0" r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295144" y="1664208"/>
            <a:ext cx="749808" cy="292608"/>
          </a:xfrm>
          <a:prstGeom prst="rect">
            <a:avLst/>
          </a:prstGeom>
          <a:noFill/>
        </p:spPr>
        <p:txBody>
          <a:bodyPr wrap="square" lIns="0" tIns="0" r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099815" y="1664208"/>
            <a:ext cx="676656" cy="292608"/>
          </a:xfrm>
          <a:prstGeom prst="rect">
            <a:avLst/>
          </a:prstGeom>
          <a:noFill/>
        </p:spPr>
        <p:txBody>
          <a:bodyPr wrap="square" lIns="0" tIns="0" r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tIns="0" r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18"/>
          <p:cNvSpPr txBox="1"/>
          <p:nvPr/>
        </p:nvSpPr>
        <p:spPr>
          <a:xfrm>
            <a:off x="521208" y="2249424"/>
            <a:ext cx="896112" cy="292608"/>
          </a:xfrm>
          <a:prstGeom prst="rect">
            <a:avLst/>
          </a:prstGeom>
          <a:noFill/>
        </p:spPr>
        <p:txBody>
          <a:bodyPr wrap="square" lIns="0" tIns="0" r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 20"/>
          <p:cNvSpPr txBox="1"/>
          <p:nvPr/>
        </p:nvSpPr>
        <p:spPr>
          <a:xfrm>
            <a:off x="1472184" y="2249424"/>
            <a:ext cx="896112" cy="292608"/>
          </a:xfrm>
          <a:prstGeom prst="rect">
            <a:avLst/>
          </a:prstGeom>
          <a:noFill/>
        </p:spPr>
        <p:txBody>
          <a:bodyPr wrap="square" lIns="0" tIns="0" r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harness.png"/>
          <p:cNvPicPr>
            <a:picLocks noChangeAspect="1"/>
          </p:cNvPicPr>
          <p:nvPr/>
        </p:nvPicPr>
        <p:blipFill>
          <a:blip r:embed="rId3"/>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tIns="0" r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4"/>
          <p:cNvSpPr txBox="1"/>
          <p:nvPr/>
        </p:nvSpPr>
        <p:spPr>
          <a:xfrm>
            <a:off x="3465576" y="2249424"/>
            <a:ext cx="969264" cy="292608"/>
          </a:xfrm>
          <a:prstGeom prst="rect">
            <a:avLst/>
          </a:prstGeom>
          <a:noFill/>
        </p:spPr>
        <p:txBody>
          <a:bodyPr wrap="square" lIns="0" tIns="0" r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tIns="0" r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 28"/>
          <p:cNvSpPr txBox="1"/>
          <p:nvPr/>
        </p:nvSpPr>
        <p:spPr>
          <a:xfrm>
            <a:off x="4837176" y="1170432"/>
            <a:ext cx="3986783" cy="256032"/>
          </a:xfrm>
          <a:prstGeom prst="rect">
            <a:avLst/>
          </a:prstGeom>
          <a:noFill/>
        </p:spPr>
        <p:txBody>
          <a:bodyPr wrap="square" lIns="0" tIns="0" r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3" name="Picture 32" descr="salesforce.png"/>
          <p:cNvPicPr>
            <a:picLocks noChangeAspect="1"/>
          </p:cNvPicPr>
          <p:nvPr/>
        </p:nvPicPr>
        <p:blipFill>
          <a:blip r:embed="rId4"/>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tIns="0" r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tIns="0" r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8" name="Picture 37" descr="salesforce.png"/>
          <p:cNvPicPr>
            <a:picLocks noChangeAspect="1"/>
          </p:cNvPicPr>
          <p:nvPr/>
        </p:nvPicPr>
        <p:blipFill>
          <a:blip r:embed="rId4"/>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tIns="0" r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tIns="0" r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39"/>
          <p:cNvSpPr txBox="1"/>
          <p:nvPr/>
        </p:nvSpPr>
        <p:spPr>
          <a:xfrm>
            <a:off x="4965192" y="2514600"/>
            <a:ext cx="3822191" cy="182880"/>
          </a:xfrm>
          <a:prstGeom prst="rect">
            <a:avLst/>
          </a:prstGeom>
          <a:noFill/>
        </p:spPr>
        <p:txBody>
          <a:bodyPr wrap="square" lIns="0" tIns="0" r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tIns="0" r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3"/>
          <p:cNvSpPr txBox="1"/>
          <p:nvPr/>
        </p:nvSpPr>
        <p:spPr>
          <a:xfrm>
            <a:off x="9153143" y="1170432"/>
            <a:ext cx="2514600" cy="256032"/>
          </a:xfrm>
          <a:prstGeom prst="rect">
            <a:avLst/>
          </a:prstGeom>
          <a:noFill/>
        </p:spPr>
        <p:txBody>
          <a:bodyPr wrap="square" lIns="0" tIns="0" r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5"/>
          <p:cNvSpPr txBox="1"/>
          <p:nvPr/>
        </p:nvSpPr>
        <p:spPr>
          <a:xfrm>
            <a:off x="9226295" y="1554480"/>
            <a:ext cx="679704" cy="384048"/>
          </a:xfrm>
          <a:prstGeom prst="rect">
            <a:avLst/>
          </a:prstGeom>
          <a:noFill/>
        </p:spPr>
        <p:txBody>
          <a:bodyPr wrap="square" lIns="0" tIns="0" r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tIns="0" r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48"/>
          <p:cNvSpPr txBox="1"/>
          <p:nvPr/>
        </p:nvSpPr>
        <p:spPr>
          <a:xfrm>
            <a:off x="10088879" y="1554480"/>
            <a:ext cx="679704" cy="384048"/>
          </a:xfrm>
          <a:prstGeom prst="rect">
            <a:avLst/>
          </a:prstGeom>
          <a:noFill/>
        </p:spPr>
        <p:txBody>
          <a:bodyPr wrap="square" lIns="0" tIns="0" r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tIns="0" r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1"/>
          <p:cNvSpPr txBox="1"/>
          <p:nvPr/>
        </p:nvSpPr>
        <p:spPr>
          <a:xfrm>
            <a:off x="10951463" y="1554480"/>
            <a:ext cx="679704" cy="384048"/>
          </a:xfrm>
          <a:prstGeom prst="rect">
            <a:avLst/>
          </a:prstGeom>
          <a:noFill/>
        </p:spPr>
        <p:txBody>
          <a:bodyPr wrap="square" lIns="0" tIns="0" r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tIns="0" r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tIns="0" r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5"/>
          <p:cNvSpPr txBox="1"/>
          <p:nvPr/>
        </p:nvSpPr>
        <p:spPr>
          <a:xfrm>
            <a:off x="557784" y="3218688"/>
            <a:ext cx="1828800" cy="256032"/>
          </a:xfrm>
          <a:prstGeom prst="rect">
            <a:avLst/>
          </a:prstGeom>
          <a:noFill/>
        </p:spPr>
        <p:txBody>
          <a:bodyPr wrap="square" lIns="0" tIns="0" r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tIns="0" r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tIns="0" r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tIns="0" r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tIns="0" r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4"/>
          <p:cNvSpPr txBox="1"/>
          <p:nvPr/>
        </p:nvSpPr>
        <p:spPr>
          <a:xfrm>
            <a:off x="694944" y="4087368"/>
            <a:ext cx="1828800" cy="457200"/>
          </a:xfrm>
          <a:prstGeom prst="rect">
            <a:avLst/>
          </a:prstGeom>
          <a:noFill/>
        </p:spPr>
        <p:txBody>
          <a:bodyPr wrap="square" lIns="0" tIns="0" r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tIns="0" r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tIns="0" r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68"/>
          <p:cNvSpPr txBox="1"/>
          <p:nvPr/>
        </p:nvSpPr>
        <p:spPr>
          <a:xfrm>
            <a:off x="4395216" y="3218688"/>
            <a:ext cx="1828800" cy="256032"/>
          </a:xfrm>
          <a:prstGeom prst="rect">
            <a:avLst/>
          </a:prstGeom>
          <a:noFill/>
        </p:spPr>
        <p:txBody>
          <a:bodyPr wrap="square" lIns="0" tIns="0" r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tIns="0" r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tIns="0" r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tIns="0" r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tIns="0" r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7"/>
          <p:cNvSpPr txBox="1"/>
          <p:nvPr/>
        </p:nvSpPr>
        <p:spPr>
          <a:xfrm>
            <a:off x="4532376" y="4087368"/>
            <a:ext cx="1828800" cy="457200"/>
          </a:xfrm>
          <a:prstGeom prst="rect">
            <a:avLst/>
          </a:prstGeom>
          <a:noFill/>
        </p:spPr>
        <p:txBody>
          <a:bodyPr wrap="square" lIns="0" tIns="0" r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tIns="0" r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tIns="0" r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1"/>
          <p:cNvSpPr txBox="1"/>
          <p:nvPr/>
        </p:nvSpPr>
        <p:spPr>
          <a:xfrm>
            <a:off x="8232647" y="3218688"/>
            <a:ext cx="1828800" cy="256032"/>
          </a:xfrm>
          <a:prstGeom prst="rect">
            <a:avLst/>
          </a:prstGeom>
          <a:noFill/>
        </p:spPr>
        <p:txBody>
          <a:bodyPr wrap="square" lIns="0" tIns="0" r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tIns="0" r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tIns="0" r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tIns="0" r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tIns="0" r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8369807" y="4087368"/>
            <a:ext cx="1828800" cy="457200"/>
          </a:xfrm>
          <a:prstGeom prst="rect">
            <a:avLst/>
          </a:prstGeom>
          <a:noFill/>
        </p:spPr>
        <p:txBody>
          <a:bodyPr wrap="square" lIns="0" tIns="0" r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tIns="0" r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tIns="0" r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548640" y="5065776"/>
            <a:ext cx="3657600" cy="182880"/>
          </a:xfrm>
          <a:prstGeom prst="rect">
            <a:avLst/>
          </a:prstGeom>
          <a:noFill/>
        </p:spPr>
        <p:txBody>
          <a:bodyPr wrap="square" lIns="0" tIns="0" r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tIns="0" r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tIns="0" r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tIns="0" r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tIns="0" r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tIns="0" r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tIns="0" r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tIns="0" r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tIns="0" r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tIns="0" r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tIns="0" r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tIns="0" r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tIns="0" r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tIns="0" r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Headline 78"/>
          <p:cNvSpPr txBox="1"/>
          <p:nvPr/>
        </p:nvSpPr>
        <p:spPr>
          <a:xfrm>
            <a:off x="474133" y="1185333"/>
            <a:ext cx="11637264" cy="422317"/>
          </a:xfrm>
          <a:prstGeom prst="rect">
            <a:avLst/>
          </a:prstGeom>
          <a:noFill/>
          <a:ln/>
        </p:spPr>
        <p:txBody>
          <a:bodyPr wrap="square" lIns="0" tIns="0" rIns="0" bIns="0" rtlCol="0" anchor="t"/>
          <a:lstStyle/>
          <a:p>
            <a:pPr marL="0" marR="0" lvl="0" indent="0" algn="l" defTabSz="914400" rtl="0" eaLnBrk="1" fontAlgn="auto" latinLnBrk="0" hangingPunct="1">
              <a:lnSpc>
                <a:spcPts val="3024"/>
              </a:lnSpc>
              <a:spcBef>
                <a:spcPts val="0"/>
              </a:spcBef>
              <a:spcAft>
                <a:spcPts val="0"/>
              </a:spcAft>
              <a:buClrTx/>
              <a:buSzTx/>
              <a:buFontTx/>
              <a:buNone/>
              <a:tabLst/>
              <a:defRPr/>
            </a:pPr>
            <a:r>
              <a:rPr kumimoji="0" lang="en-US" sz="2800" b="0" i="0" u="none" strike="noStrike" kern="0" cap="none" spc="-56" normalizeH="0" baseline="0" noProof="0" dirty="0">
                <a:ln>
                  <a:noFill/>
                </a:ln>
                <a:solidFill>
                  <a:srgbClr val="F4F6FA"/>
                </a:solidFill>
                <a:effectLst/>
                <a:uLnTx/>
                <a:uFillTx/>
                <a:latin typeface="Trenda IG Text Bold" pitchFamily="34" charset="0"/>
                <a:ea typeface="Trenda IG Text Bold" pitchFamily="34" charset="-122"/>
                <a:cs typeface="Trenda IG Text Bold" pitchFamily="34" charset="-120"/>
              </a:rPr>
              <a:t>Built on the best talent, proven inside the Fortune 500.</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KPI card 79"/>
          <p:cNvSpPr/>
          <p:nvPr/>
        </p:nvSpPr>
        <p:spPr>
          <a:xfrm>
            <a:off x="474133" y="1789515"/>
            <a:ext cx="3623733" cy="1348867"/>
          </a:xfrm>
          <a:prstGeom prst="roundRect">
            <a:avLst>
              <a:gd name="adj" fmla="val 7532"/>
            </a:avLst>
          </a:prstGeom>
          <a:solidFill>
            <a:srgbClr val="101219"/>
          </a:solidFill>
          <a:ln w="8467">
            <a:solidFill>
              <a:srgbClr val="FFFFFF">
                <a:alpha val="9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Agentic AI Talent 80"/>
          <p:cNvSpPr txBox="1"/>
          <p:nvPr/>
        </p:nvSpPr>
        <p:spPr>
          <a:xfrm>
            <a:off x="609600" y="1878944"/>
            <a:ext cx="3470148" cy="170286"/>
          </a:xfrm>
          <a:prstGeom prst="rect">
            <a:avLst/>
          </a:prstGeom>
          <a:noFill/>
          <a:ln/>
        </p:spPr>
        <p:txBody>
          <a:bodyPr wrap="square" lIns="0" tIns="0" rIns="0" bIns="0" rtlCol="0" anchor="t"/>
          <a:lstStyle/>
          <a:p>
            <a:pPr marL="0" marR="0" lvl="0" indent="0" algn="l" defTabSz="914400" rtl="0" eaLnBrk="1" fontAlgn="auto" latinLnBrk="0" hangingPunct="1">
              <a:lnSpc>
                <a:spcPts val="1112"/>
              </a:lnSpc>
              <a:spcBef>
                <a:spcPts val="0"/>
              </a:spcBef>
              <a:spcAft>
                <a:spcPts val="0"/>
              </a:spcAft>
              <a:buClrTx/>
              <a:buSzTx/>
              <a:buFontTx/>
              <a:buNone/>
              <a:tabLst/>
              <a:defRPr/>
            </a:pPr>
            <a:r>
              <a:rPr kumimoji="0" lang="en-US" sz="767" b="0" i="0" u="none" strike="noStrike" kern="0" cap="none" spc="8" normalizeH="0" baseline="0" noProof="0" dirty="0">
                <a:ln>
                  <a:noFill/>
                </a:ln>
                <a:solidFill>
                  <a:srgbClr val="00D6F2"/>
                </a:solidFill>
                <a:effectLst/>
                <a:uLnTx/>
                <a:uFillTx/>
                <a:latin typeface="Trenda IG Text Semibold" pitchFamily="34" charset="0"/>
                <a:ea typeface="Trenda IG Text Semibold" pitchFamily="34" charset="-122"/>
                <a:cs typeface="Trenda IG Text Semibold" pitchFamily="34" charset="-120"/>
              </a:rPr>
              <a:t>Agentic AI Talent</a:t>
            </a:r>
            <a:endParaRPr kumimoji="0" lang="en-US" sz="7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2% 81"/>
          <p:cNvSpPr txBox="1"/>
          <p:nvPr/>
        </p:nvSpPr>
        <p:spPr>
          <a:xfrm>
            <a:off x="609600" y="2100030"/>
            <a:ext cx="3470148" cy="459909"/>
          </a:xfrm>
          <a:prstGeom prst="rect">
            <a:avLst/>
          </a:prstGeom>
          <a:noFill/>
          <a:ln/>
        </p:spPr>
        <p:txBody>
          <a:bodyPr wrap="square" lIns="0" tIns="0" rIns="0" bIns="0" rtlCol="0" anchor="t"/>
          <a:lstStyle/>
          <a:p>
            <a:pPr marL="0" marR="0" lvl="0" indent="0" algn="l" defTabSz="914400" rtl="0" eaLnBrk="1" fontAlgn="auto" latinLnBrk="0" hangingPunct="1">
              <a:lnSpc>
                <a:spcPts val="3136"/>
              </a:lnSpc>
              <a:spcBef>
                <a:spcPts val="0"/>
              </a:spcBef>
              <a:spcAft>
                <a:spcPts val="0"/>
              </a:spcAft>
              <a:buClrTx/>
              <a:buSzTx/>
              <a:buFontTx/>
              <a:buNone/>
              <a:tabLst/>
              <a:defRPr/>
            </a:pPr>
            <a:r>
              <a:rPr kumimoji="0" lang="en-US" sz="3200" b="0" i="0" u="none" strike="noStrike" kern="0" cap="none" spc="-112" normalizeH="0" baseline="0" noProof="0" dirty="0">
                <a:ln>
                  <a:noFill/>
                </a:ln>
                <a:solidFill>
                  <a:srgbClr val="FF0069"/>
                </a:solidFill>
                <a:effectLst/>
                <a:uLnTx/>
                <a:uFillTx/>
                <a:latin typeface="Trenda IG Text Bold" pitchFamily="34" charset="0"/>
                <a:ea typeface="Trenda IG Text Bold" pitchFamily="34" charset="-122"/>
                <a:cs typeface="Trenda IG Text Bold" pitchFamily="34" charset="-120"/>
              </a:rPr>
              <a:t>2%</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Everyone says they are an AI expert. Les 82"/>
          <p:cNvSpPr txBox="1"/>
          <p:nvPr/>
        </p:nvSpPr>
        <p:spPr>
          <a:xfrm>
            <a:off x="609600" y="2563495"/>
            <a:ext cx="2320530" cy="490220"/>
          </a:xfrm>
          <a:prstGeom prst="rect">
            <a:avLst/>
          </a:prstGeom>
          <a:noFill/>
          <a:ln/>
        </p:spPr>
        <p:txBody>
          <a:bodyPr wrap="square" lIns="0" tIns="0" rIns="0" bIns="0" rtlCol="0" anchor="t"/>
          <a:lstStyle/>
          <a:p>
            <a:pPr marL="0" marR="0" lvl="0" indent="0" algn="l" defTabSz="914400" rtl="0" eaLnBrk="1" fontAlgn="auto" latinLnBrk="0" hangingPunct="1">
              <a:lnSpc>
                <a:spcPts val="1213"/>
              </a:lnSpc>
              <a:spcBef>
                <a:spcPts val="0"/>
              </a:spcBef>
              <a:spcAft>
                <a:spcPts val="0"/>
              </a:spcAft>
              <a:buClrTx/>
              <a:buSzTx/>
              <a:buFontTx/>
              <a:buNone/>
              <a:tabLst/>
              <a:defRPr/>
            </a:pPr>
            <a:r>
              <a:rPr kumimoji="0" lang="en-US" sz="867" b="0" i="0" u="none" strike="noStrike" kern="1200" cap="none" spc="0" normalizeH="0" baseline="0" noProof="0" dirty="0">
                <a:ln>
                  <a:noFill/>
                </a:ln>
                <a:solidFill>
                  <a:srgbClr val="9AA3B2"/>
                </a:solidFill>
                <a:effectLst/>
                <a:uLnTx/>
                <a:uFillTx/>
                <a:latin typeface="Trenda IG Text" pitchFamily="34" charset="0"/>
                <a:ea typeface="Trenda IG Text" pitchFamily="34" charset="-122"/>
                <a:cs typeface="Trenda IG Text" pitchFamily="34" charset="-120"/>
              </a:rPr>
              <a:t>Everyone says they are an AI expert. Less than 2% of those who interview with us get an offer.</a:t>
            </a:r>
            <a:endParaRPr kumimoji="0" lang="en-US" sz="8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KPI card 83"/>
          <p:cNvSpPr/>
          <p:nvPr/>
        </p:nvSpPr>
        <p:spPr>
          <a:xfrm>
            <a:off x="4284133" y="1789515"/>
            <a:ext cx="3623733" cy="1348867"/>
          </a:xfrm>
          <a:prstGeom prst="roundRect">
            <a:avLst>
              <a:gd name="adj" fmla="val 7532"/>
            </a:avLst>
          </a:prstGeom>
          <a:solidFill>
            <a:srgbClr val="101219"/>
          </a:solidFill>
          <a:ln w="8467">
            <a:solidFill>
              <a:srgbClr val="FFFFFF">
                <a:alpha val="9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Return 84"/>
          <p:cNvSpPr txBox="1"/>
          <p:nvPr/>
        </p:nvSpPr>
        <p:spPr>
          <a:xfrm>
            <a:off x="4419600" y="1878944"/>
            <a:ext cx="3470148" cy="170286"/>
          </a:xfrm>
          <a:prstGeom prst="rect">
            <a:avLst/>
          </a:prstGeom>
          <a:noFill/>
          <a:ln/>
        </p:spPr>
        <p:txBody>
          <a:bodyPr wrap="square" lIns="0" tIns="0" rIns="0" bIns="0" rtlCol="0" anchor="t"/>
          <a:lstStyle/>
          <a:p>
            <a:pPr marL="0" marR="0" lvl="0" indent="0" algn="l" defTabSz="914400" rtl="0" eaLnBrk="1" fontAlgn="auto" latinLnBrk="0" hangingPunct="1">
              <a:lnSpc>
                <a:spcPts val="1112"/>
              </a:lnSpc>
              <a:spcBef>
                <a:spcPts val="0"/>
              </a:spcBef>
              <a:spcAft>
                <a:spcPts val="0"/>
              </a:spcAft>
              <a:buClrTx/>
              <a:buSzTx/>
              <a:buFontTx/>
              <a:buNone/>
              <a:tabLst/>
              <a:defRPr/>
            </a:pPr>
            <a:r>
              <a:rPr kumimoji="0" lang="en-US" sz="767" b="0" i="0" u="none" strike="noStrike" kern="0" cap="none" spc="8" normalizeH="0" baseline="0" noProof="0" dirty="0">
                <a:ln>
                  <a:noFill/>
                </a:ln>
                <a:solidFill>
                  <a:srgbClr val="00D6F2"/>
                </a:solidFill>
                <a:effectLst/>
                <a:uLnTx/>
                <a:uFillTx/>
                <a:latin typeface="Trenda IG Text Semibold" pitchFamily="34" charset="0"/>
                <a:ea typeface="Trenda IG Text Semibold" pitchFamily="34" charset="-122"/>
                <a:cs typeface="Trenda IG Text Semibold" pitchFamily="34" charset="-120"/>
              </a:rPr>
              <a:t>Return</a:t>
            </a:r>
            <a:endParaRPr kumimoji="0" lang="en-US" sz="7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3× 85"/>
          <p:cNvSpPr txBox="1"/>
          <p:nvPr/>
        </p:nvSpPr>
        <p:spPr>
          <a:xfrm>
            <a:off x="4419600" y="2100030"/>
            <a:ext cx="3470148" cy="459909"/>
          </a:xfrm>
          <a:prstGeom prst="rect">
            <a:avLst/>
          </a:prstGeom>
          <a:noFill/>
          <a:ln/>
        </p:spPr>
        <p:txBody>
          <a:bodyPr wrap="square" lIns="0" tIns="0" rIns="0" bIns="0" rtlCol="0" anchor="t"/>
          <a:lstStyle/>
          <a:p>
            <a:pPr marL="0" marR="0" lvl="0" indent="0" algn="l" defTabSz="914400" rtl="0" eaLnBrk="1" fontAlgn="auto" latinLnBrk="0" hangingPunct="1">
              <a:lnSpc>
                <a:spcPts val="3136"/>
              </a:lnSpc>
              <a:spcBef>
                <a:spcPts val="0"/>
              </a:spcBef>
              <a:spcAft>
                <a:spcPts val="0"/>
              </a:spcAft>
              <a:buClrTx/>
              <a:buSzTx/>
              <a:buFontTx/>
              <a:buNone/>
              <a:tabLst/>
              <a:defRPr/>
            </a:pPr>
            <a:r>
              <a:rPr kumimoji="0" lang="en-US" sz="3200" b="0" i="0" u="none" strike="noStrike" kern="0" cap="none" spc="-112" normalizeH="0" baseline="0" noProof="0" dirty="0">
                <a:ln>
                  <a:noFill/>
                </a:ln>
                <a:solidFill>
                  <a:srgbClr val="FF0069"/>
                </a:solidFill>
                <a:effectLst/>
                <a:uLnTx/>
                <a:uFillTx/>
                <a:latin typeface="Trenda IG Text Bold" pitchFamily="34" charset="0"/>
                <a:ea typeface="Trenda IG Text Bold" pitchFamily="34" charset="-122"/>
                <a:cs typeface="Trenda IG Text Bold" pitchFamily="34" charset="-120"/>
              </a:rPr>
              <a:t>3×</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Every project we take on starts with the 86"/>
          <p:cNvSpPr txBox="1"/>
          <p:nvPr/>
        </p:nvSpPr>
        <p:spPr>
          <a:xfrm>
            <a:off x="4419600" y="2563495"/>
            <a:ext cx="2320530" cy="336127"/>
          </a:xfrm>
          <a:prstGeom prst="rect">
            <a:avLst/>
          </a:prstGeom>
          <a:noFill/>
          <a:ln/>
        </p:spPr>
        <p:txBody>
          <a:bodyPr wrap="square" lIns="0" tIns="0" rIns="0" bIns="0" rtlCol="0" anchor="t"/>
          <a:lstStyle/>
          <a:p>
            <a:pPr marL="0" marR="0" lvl="0" indent="0" algn="l" defTabSz="914400" rtl="0" eaLnBrk="1" fontAlgn="auto" latinLnBrk="0" hangingPunct="1">
              <a:lnSpc>
                <a:spcPts val="1213"/>
              </a:lnSpc>
              <a:spcBef>
                <a:spcPts val="0"/>
              </a:spcBef>
              <a:spcAft>
                <a:spcPts val="0"/>
              </a:spcAft>
              <a:buClrTx/>
              <a:buSzTx/>
              <a:buFontTx/>
              <a:buNone/>
              <a:tabLst/>
              <a:defRPr/>
            </a:pPr>
            <a:r>
              <a:rPr kumimoji="0" lang="en-US" sz="867" b="0" i="0" u="none" strike="noStrike" kern="1200" cap="none" spc="0" normalizeH="0" baseline="0" noProof="0" dirty="0">
                <a:ln>
                  <a:noFill/>
                </a:ln>
                <a:solidFill>
                  <a:srgbClr val="9AA3B2"/>
                </a:solidFill>
                <a:effectLst/>
                <a:uLnTx/>
                <a:uFillTx/>
                <a:latin typeface="Trenda IG Text" pitchFamily="34" charset="0"/>
                <a:ea typeface="Trenda IG Text" pitchFamily="34" charset="-122"/>
                <a:cs typeface="Trenda IG Text" pitchFamily="34" charset="-120"/>
              </a:rPr>
              <a:t>Every project we take on starts with the expectation of 3x return on investment.</a:t>
            </a:r>
            <a:endParaRPr kumimoji="0" lang="en-US" sz="8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KPI card 87"/>
          <p:cNvSpPr/>
          <p:nvPr/>
        </p:nvSpPr>
        <p:spPr>
          <a:xfrm>
            <a:off x="8094133" y="1789515"/>
            <a:ext cx="3623733" cy="1348867"/>
          </a:xfrm>
          <a:prstGeom prst="roundRect">
            <a:avLst>
              <a:gd name="adj" fmla="val 7532"/>
            </a:avLst>
          </a:prstGeom>
          <a:solidFill>
            <a:srgbClr val="101219"/>
          </a:solidFill>
          <a:ln w="8467">
            <a:solidFill>
              <a:srgbClr val="FFFFFF">
                <a:alpha val="9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Engagements 88"/>
          <p:cNvSpPr txBox="1"/>
          <p:nvPr/>
        </p:nvSpPr>
        <p:spPr>
          <a:xfrm>
            <a:off x="8229600" y="1878944"/>
            <a:ext cx="3470148" cy="170286"/>
          </a:xfrm>
          <a:prstGeom prst="rect">
            <a:avLst/>
          </a:prstGeom>
          <a:noFill/>
          <a:ln/>
        </p:spPr>
        <p:txBody>
          <a:bodyPr wrap="square" lIns="0" tIns="0" rIns="0" bIns="0" rtlCol="0" anchor="t"/>
          <a:lstStyle/>
          <a:p>
            <a:pPr marL="0" marR="0" lvl="0" indent="0" algn="l" defTabSz="914400" rtl="0" eaLnBrk="1" fontAlgn="auto" latinLnBrk="0" hangingPunct="1">
              <a:lnSpc>
                <a:spcPts val="1112"/>
              </a:lnSpc>
              <a:spcBef>
                <a:spcPts val="0"/>
              </a:spcBef>
              <a:spcAft>
                <a:spcPts val="0"/>
              </a:spcAft>
              <a:buClrTx/>
              <a:buSzTx/>
              <a:buFontTx/>
              <a:buNone/>
              <a:tabLst/>
              <a:defRPr/>
            </a:pPr>
            <a:r>
              <a:rPr kumimoji="0" lang="en-US" sz="767" b="0" i="0" u="none" strike="noStrike" kern="0" cap="none" spc="8" normalizeH="0" baseline="0" noProof="0" dirty="0">
                <a:ln>
                  <a:noFill/>
                </a:ln>
                <a:solidFill>
                  <a:srgbClr val="00D6F2"/>
                </a:solidFill>
                <a:effectLst/>
                <a:uLnTx/>
                <a:uFillTx/>
                <a:latin typeface="Trenda IG Text Semibold" pitchFamily="34" charset="0"/>
                <a:ea typeface="Trenda IG Text Semibold" pitchFamily="34" charset="-122"/>
                <a:cs typeface="Trenda IG Text Semibold" pitchFamily="34" charset="-120"/>
              </a:rPr>
              <a:t>Engagements</a:t>
            </a:r>
            <a:endParaRPr kumimoji="0" lang="en-US" sz="7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50 89"/>
          <p:cNvSpPr txBox="1"/>
          <p:nvPr/>
        </p:nvSpPr>
        <p:spPr>
          <a:xfrm>
            <a:off x="8229600" y="2100030"/>
            <a:ext cx="3470148" cy="459909"/>
          </a:xfrm>
          <a:prstGeom prst="rect">
            <a:avLst/>
          </a:prstGeom>
          <a:noFill/>
          <a:ln/>
        </p:spPr>
        <p:txBody>
          <a:bodyPr wrap="square" lIns="0" tIns="0" rIns="0" bIns="0" rtlCol="0" anchor="t"/>
          <a:lstStyle/>
          <a:p>
            <a:pPr marL="0" marR="0" lvl="0" indent="0" algn="l" defTabSz="914400" rtl="0" eaLnBrk="1" fontAlgn="auto" latinLnBrk="0" hangingPunct="1">
              <a:lnSpc>
                <a:spcPts val="3136"/>
              </a:lnSpc>
              <a:spcBef>
                <a:spcPts val="0"/>
              </a:spcBef>
              <a:spcAft>
                <a:spcPts val="0"/>
              </a:spcAft>
              <a:buClrTx/>
              <a:buSzTx/>
              <a:buFontTx/>
              <a:buNone/>
              <a:tabLst/>
              <a:defRPr/>
            </a:pPr>
            <a:r>
              <a:rPr kumimoji="0" lang="en-US" sz="3200" b="0" i="0" u="none" strike="noStrike" kern="0" cap="none" spc="-112" normalizeH="0" baseline="0" noProof="0" dirty="0">
                <a:ln>
                  <a:noFill/>
                </a:ln>
                <a:solidFill>
                  <a:srgbClr val="FF0069"/>
                </a:solidFill>
                <a:effectLst/>
                <a:uLnTx/>
                <a:uFillTx/>
                <a:latin typeface="Trenda IG Text Bold" pitchFamily="34" charset="0"/>
                <a:ea typeface="Trenda IG Text Bold" pitchFamily="34" charset="-122"/>
                <a:cs typeface="Trenda IG Text Bold" pitchFamily="34" charset="-120"/>
              </a:rPr>
              <a:t>+50</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Active agentic engagements across the Fo 90"/>
          <p:cNvSpPr txBox="1"/>
          <p:nvPr/>
        </p:nvSpPr>
        <p:spPr>
          <a:xfrm>
            <a:off x="8229600" y="2563495"/>
            <a:ext cx="2320530" cy="336127"/>
          </a:xfrm>
          <a:prstGeom prst="rect">
            <a:avLst/>
          </a:prstGeom>
          <a:noFill/>
          <a:ln/>
        </p:spPr>
        <p:txBody>
          <a:bodyPr wrap="square" lIns="0" tIns="0" rIns="0" bIns="0" rtlCol="0" anchor="t"/>
          <a:lstStyle/>
          <a:p>
            <a:pPr marL="0" marR="0" lvl="0" indent="0" algn="l" defTabSz="914400" rtl="0" eaLnBrk="1" fontAlgn="auto" latinLnBrk="0" hangingPunct="1">
              <a:lnSpc>
                <a:spcPts val="1213"/>
              </a:lnSpc>
              <a:spcBef>
                <a:spcPts val="0"/>
              </a:spcBef>
              <a:spcAft>
                <a:spcPts val="0"/>
              </a:spcAft>
              <a:buClrTx/>
              <a:buSzTx/>
              <a:buFontTx/>
              <a:buNone/>
              <a:tabLst/>
              <a:defRPr/>
            </a:pPr>
            <a:r>
              <a:rPr kumimoji="0" lang="en-US" sz="867" b="0" i="0" u="none" strike="noStrike" kern="1200" cap="none" spc="0" normalizeH="0" baseline="0" noProof="0" dirty="0">
                <a:ln>
                  <a:noFill/>
                </a:ln>
                <a:solidFill>
                  <a:srgbClr val="9AA3B2"/>
                </a:solidFill>
                <a:effectLst/>
                <a:uLnTx/>
                <a:uFillTx/>
                <a:latin typeface="Trenda IG Text" pitchFamily="34" charset="0"/>
                <a:ea typeface="Trenda IG Text" pitchFamily="34" charset="-122"/>
                <a:cs typeface="Trenda IG Text" pitchFamily="34" charset="-120"/>
              </a:rPr>
              <a:t>Active agentic engagements across the Fortune 500.</a:t>
            </a:r>
            <a:endParaRPr kumimoji="0" lang="en-US" sz="8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8" name="Hero rule 91" descr="preencoded.png"/>
          <p:cNvPicPr>
            <a:picLocks noChangeAspect="1"/>
          </p:cNvPicPr>
          <p:nvPr/>
        </p:nvPicPr>
        <p:blipFill>
          <a:blip r:embed="rId4"/>
          <a:stretch>
            <a:fillRect/>
          </a:stretch>
        </p:blipFill>
        <p:spPr>
          <a:xfrm>
            <a:off x="474133" y="3392382"/>
            <a:ext cx="11243733" cy="8467"/>
          </a:xfrm>
          <a:prstGeom prst="rect">
            <a:avLst/>
          </a:prstGeom>
        </p:spPr>
      </p:pic>
      <p:pic>
        <p:nvPicPr>
          <p:cNvPr id="19" name="Microsoft 92" descr="preencoded.png"/>
          <p:cNvPicPr>
            <a:picLocks noChangeAspect="1"/>
          </p:cNvPicPr>
          <p:nvPr/>
        </p:nvPicPr>
        <p:blipFill>
          <a:blip r:embed="rId5">
            <a:alphaModFix amt="82000"/>
          </a:blip>
          <a:stretch>
            <a:fillRect/>
          </a:stretch>
        </p:blipFill>
        <p:spPr>
          <a:xfrm>
            <a:off x="474133" y="3813106"/>
            <a:ext cx="895773" cy="191484"/>
          </a:xfrm>
          <a:prstGeom prst="rect">
            <a:avLst/>
          </a:prstGeom>
        </p:spPr>
      </p:pic>
      <p:pic>
        <p:nvPicPr>
          <p:cNvPr id="20" name="Walmart 93" descr="preencoded.png"/>
          <p:cNvPicPr>
            <a:picLocks noChangeAspect="1"/>
          </p:cNvPicPr>
          <p:nvPr/>
        </p:nvPicPr>
        <p:blipFill>
          <a:blip r:embed="rId6">
            <a:alphaModFix amt="82000"/>
          </a:blip>
          <a:stretch>
            <a:fillRect/>
          </a:stretch>
        </p:blipFill>
        <p:spPr>
          <a:xfrm>
            <a:off x="1959221" y="3781848"/>
            <a:ext cx="225146" cy="254000"/>
          </a:xfrm>
          <a:prstGeom prst="rect">
            <a:avLst/>
          </a:prstGeom>
        </p:spPr>
      </p:pic>
      <p:pic>
        <p:nvPicPr>
          <p:cNvPr id="21" name="Bank of America 94" descr="preencoded.png"/>
          <p:cNvPicPr>
            <a:picLocks noChangeAspect="1"/>
          </p:cNvPicPr>
          <p:nvPr/>
        </p:nvPicPr>
        <p:blipFill>
          <a:blip r:embed="rId7">
            <a:alphaModFix amt="82000"/>
          </a:blip>
          <a:stretch>
            <a:fillRect/>
          </a:stretch>
        </p:blipFill>
        <p:spPr>
          <a:xfrm>
            <a:off x="2988227" y="3781848"/>
            <a:ext cx="466679" cy="254000"/>
          </a:xfrm>
          <a:prstGeom prst="rect">
            <a:avLst/>
          </a:prstGeom>
        </p:spPr>
      </p:pic>
      <p:pic>
        <p:nvPicPr>
          <p:cNvPr id="22" name="AT T 95" descr="preencoded.png"/>
          <p:cNvPicPr>
            <a:picLocks noChangeAspect="1"/>
          </p:cNvPicPr>
          <p:nvPr/>
        </p:nvPicPr>
        <p:blipFill>
          <a:blip r:embed="rId8">
            <a:alphaModFix amt="82000"/>
          </a:blip>
          <a:stretch>
            <a:fillRect/>
          </a:stretch>
        </p:blipFill>
        <p:spPr>
          <a:xfrm>
            <a:off x="4060896" y="3781848"/>
            <a:ext cx="620889" cy="254000"/>
          </a:xfrm>
          <a:prstGeom prst="rect">
            <a:avLst/>
          </a:prstGeom>
        </p:spPr>
      </p:pic>
      <p:pic>
        <p:nvPicPr>
          <p:cNvPr id="23" name="Salesforce 96" descr="preencoded.png"/>
          <p:cNvPicPr>
            <a:picLocks noChangeAspect="1"/>
          </p:cNvPicPr>
          <p:nvPr/>
        </p:nvPicPr>
        <p:blipFill>
          <a:blip r:embed="rId9">
            <a:alphaModFix amt="82000"/>
          </a:blip>
          <a:stretch>
            <a:fillRect/>
          </a:stretch>
        </p:blipFill>
        <p:spPr>
          <a:xfrm>
            <a:off x="5073227" y="3799903"/>
            <a:ext cx="895773" cy="217891"/>
          </a:xfrm>
          <a:prstGeom prst="rect">
            <a:avLst/>
          </a:prstGeom>
        </p:spPr>
      </p:pic>
      <p:pic>
        <p:nvPicPr>
          <p:cNvPr id="24" name="PepsiCo 97" descr="preencoded.png"/>
          <p:cNvPicPr>
            <a:picLocks noChangeAspect="1"/>
          </p:cNvPicPr>
          <p:nvPr/>
        </p:nvPicPr>
        <p:blipFill>
          <a:blip r:embed="rId10">
            <a:alphaModFix amt="82000"/>
          </a:blip>
          <a:stretch>
            <a:fillRect/>
          </a:stretch>
        </p:blipFill>
        <p:spPr>
          <a:xfrm>
            <a:off x="6223000" y="3805469"/>
            <a:ext cx="895773" cy="206758"/>
          </a:xfrm>
          <a:prstGeom prst="rect">
            <a:avLst/>
          </a:prstGeom>
        </p:spPr>
      </p:pic>
      <p:pic>
        <p:nvPicPr>
          <p:cNvPr id="25" name="Nike 98" descr="preencoded.png"/>
          <p:cNvPicPr>
            <a:picLocks noChangeAspect="1"/>
          </p:cNvPicPr>
          <p:nvPr/>
        </p:nvPicPr>
        <p:blipFill>
          <a:blip r:embed="rId11">
            <a:alphaModFix amt="82000"/>
          </a:blip>
          <a:stretch>
            <a:fillRect/>
          </a:stretch>
        </p:blipFill>
        <p:spPr>
          <a:xfrm>
            <a:off x="7470593" y="3781848"/>
            <a:ext cx="700133" cy="254000"/>
          </a:xfrm>
          <a:prstGeom prst="rect">
            <a:avLst/>
          </a:prstGeom>
        </p:spPr>
      </p:pic>
      <p:pic>
        <p:nvPicPr>
          <p:cNvPr id="26" name="AWS and Cisco 99" descr="preencoded.png"/>
          <p:cNvPicPr>
            <a:picLocks noChangeAspect="1"/>
          </p:cNvPicPr>
          <p:nvPr/>
        </p:nvPicPr>
        <p:blipFill>
          <a:blip r:embed="rId12">
            <a:alphaModFix amt="82000"/>
          </a:blip>
          <a:stretch>
            <a:fillRect/>
          </a:stretch>
        </p:blipFill>
        <p:spPr>
          <a:xfrm>
            <a:off x="8522547" y="3785772"/>
            <a:ext cx="895773" cy="246154"/>
          </a:xfrm>
          <a:prstGeom prst="rect">
            <a:avLst/>
          </a:prstGeom>
        </p:spPr>
      </p:pic>
      <p:pic>
        <p:nvPicPr>
          <p:cNvPr id="27" name="Verizon 100" descr="preencoded.png"/>
          <p:cNvPicPr>
            <a:picLocks noChangeAspect="1"/>
          </p:cNvPicPr>
          <p:nvPr/>
        </p:nvPicPr>
        <p:blipFill>
          <a:blip r:embed="rId13">
            <a:alphaModFix amt="82000"/>
          </a:blip>
          <a:stretch>
            <a:fillRect/>
          </a:stretch>
        </p:blipFill>
        <p:spPr>
          <a:xfrm>
            <a:off x="9672320" y="3809490"/>
            <a:ext cx="895773" cy="198716"/>
          </a:xfrm>
          <a:prstGeom prst="rect">
            <a:avLst/>
          </a:prstGeom>
        </p:spPr>
      </p:pic>
      <p:pic>
        <p:nvPicPr>
          <p:cNvPr id="28" name="T-Mobile 101" descr="preencoded.png"/>
          <p:cNvPicPr>
            <a:picLocks noChangeAspect="1"/>
          </p:cNvPicPr>
          <p:nvPr/>
        </p:nvPicPr>
        <p:blipFill>
          <a:blip r:embed="rId14">
            <a:alphaModFix amt="82000"/>
          </a:blip>
          <a:stretch>
            <a:fillRect/>
          </a:stretch>
        </p:blipFill>
        <p:spPr>
          <a:xfrm>
            <a:off x="11163654" y="3781848"/>
            <a:ext cx="212651" cy="254000"/>
          </a:xfrm>
          <a:prstGeom prst="rect">
            <a:avLst/>
          </a:prstGeom>
        </p:spPr>
      </p:pic>
      <p:pic>
        <p:nvPicPr>
          <p:cNvPr id="29" name="Johnson   Johnson 102" descr="preencoded.png"/>
          <p:cNvPicPr>
            <a:picLocks noChangeAspect="1"/>
          </p:cNvPicPr>
          <p:nvPr/>
        </p:nvPicPr>
        <p:blipFill>
          <a:blip r:embed="rId15">
            <a:alphaModFix amt="82000"/>
          </a:blip>
          <a:stretch>
            <a:fillRect/>
          </a:stretch>
        </p:blipFill>
        <p:spPr>
          <a:xfrm>
            <a:off x="624273" y="4459182"/>
            <a:ext cx="595493" cy="254000"/>
          </a:xfrm>
          <a:prstGeom prst="rect">
            <a:avLst/>
          </a:prstGeom>
        </p:spPr>
      </p:pic>
      <p:pic>
        <p:nvPicPr>
          <p:cNvPr id="30" name="FedEx 103" descr="preencoded.png"/>
          <p:cNvPicPr>
            <a:picLocks noChangeAspect="1"/>
          </p:cNvPicPr>
          <p:nvPr/>
        </p:nvPicPr>
        <p:blipFill>
          <a:blip r:embed="rId16">
            <a:alphaModFix amt="82000"/>
          </a:blip>
          <a:stretch>
            <a:fillRect/>
          </a:stretch>
        </p:blipFill>
        <p:spPr>
          <a:xfrm>
            <a:off x="1657698" y="4459182"/>
            <a:ext cx="828191" cy="254000"/>
          </a:xfrm>
          <a:prstGeom prst="rect">
            <a:avLst/>
          </a:prstGeom>
        </p:spPr>
      </p:pic>
      <p:pic>
        <p:nvPicPr>
          <p:cNvPr id="31" name="PwC 104" descr="preencoded.png"/>
          <p:cNvPicPr>
            <a:picLocks noChangeAspect="1"/>
          </p:cNvPicPr>
          <p:nvPr/>
        </p:nvPicPr>
        <p:blipFill>
          <a:blip r:embed="rId17">
            <a:alphaModFix amt="82000"/>
          </a:blip>
          <a:stretch>
            <a:fillRect/>
          </a:stretch>
        </p:blipFill>
        <p:spPr>
          <a:xfrm>
            <a:off x="2966037" y="4459182"/>
            <a:ext cx="511060" cy="254000"/>
          </a:xfrm>
          <a:prstGeom prst="rect">
            <a:avLst/>
          </a:prstGeom>
        </p:spPr>
      </p:pic>
      <p:pic>
        <p:nvPicPr>
          <p:cNvPr id="32" name="Campbell's 105" descr="preencoded.png"/>
          <p:cNvPicPr>
            <a:picLocks noChangeAspect="1"/>
          </p:cNvPicPr>
          <p:nvPr/>
        </p:nvPicPr>
        <p:blipFill>
          <a:blip r:embed="rId18">
            <a:alphaModFix amt="82000"/>
          </a:blip>
          <a:stretch>
            <a:fillRect/>
          </a:stretch>
        </p:blipFill>
        <p:spPr>
          <a:xfrm>
            <a:off x="3923453" y="4483465"/>
            <a:ext cx="895773" cy="205433"/>
          </a:xfrm>
          <a:prstGeom prst="rect">
            <a:avLst/>
          </a:prstGeom>
        </p:spPr>
      </p:pic>
      <p:pic>
        <p:nvPicPr>
          <p:cNvPr id="33" name="The Home Depot 106" descr="preencoded.png"/>
          <p:cNvPicPr>
            <a:picLocks noChangeAspect="1"/>
          </p:cNvPicPr>
          <p:nvPr/>
        </p:nvPicPr>
        <p:blipFill>
          <a:blip r:embed="rId19">
            <a:alphaModFix amt="82000"/>
          </a:blip>
          <a:stretch>
            <a:fillRect/>
          </a:stretch>
        </p:blipFill>
        <p:spPr>
          <a:xfrm>
            <a:off x="5394113" y="4459182"/>
            <a:ext cx="254000" cy="254000"/>
          </a:xfrm>
          <a:prstGeom prst="rect">
            <a:avLst/>
          </a:prstGeom>
        </p:spPr>
      </p:pic>
      <p:pic>
        <p:nvPicPr>
          <p:cNvPr id="34" name="Client 1 107" descr="preencoded.png"/>
          <p:cNvPicPr>
            <a:picLocks noChangeAspect="1"/>
          </p:cNvPicPr>
          <p:nvPr/>
        </p:nvPicPr>
        <p:blipFill>
          <a:blip r:embed="rId20">
            <a:alphaModFix amt="82000"/>
          </a:blip>
          <a:stretch>
            <a:fillRect/>
          </a:stretch>
        </p:blipFill>
        <p:spPr>
          <a:xfrm>
            <a:off x="6543548" y="4459182"/>
            <a:ext cx="254677" cy="254000"/>
          </a:xfrm>
          <a:prstGeom prst="rect">
            <a:avLst/>
          </a:prstGeom>
        </p:spPr>
      </p:pic>
      <p:pic>
        <p:nvPicPr>
          <p:cNvPr id="35" name="PG E 108" descr="preencoded.png"/>
          <p:cNvPicPr>
            <a:picLocks noChangeAspect="1"/>
          </p:cNvPicPr>
          <p:nvPr/>
        </p:nvPicPr>
        <p:blipFill>
          <a:blip r:embed="rId21">
            <a:alphaModFix amt="82000"/>
          </a:blip>
          <a:stretch>
            <a:fillRect/>
          </a:stretch>
        </p:blipFill>
        <p:spPr>
          <a:xfrm>
            <a:off x="7698116" y="4459182"/>
            <a:ext cx="245088" cy="254000"/>
          </a:xfrm>
          <a:prstGeom prst="rect">
            <a:avLst/>
          </a:prstGeom>
        </p:spPr>
      </p:pic>
      <p:pic>
        <p:nvPicPr>
          <p:cNvPr id="36" name="Alaska Airlines 109" descr="preencoded.png"/>
          <p:cNvPicPr>
            <a:picLocks noChangeAspect="1"/>
          </p:cNvPicPr>
          <p:nvPr/>
        </p:nvPicPr>
        <p:blipFill>
          <a:blip r:embed="rId22">
            <a:alphaModFix amt="82000"/>
          </a:blip>
          <a:stretch>
            <a:fillRect/>
          </a:stretch>
        </p:blipFill>
        <p:spPr>
          <a:xfrm>
            <a:off x="8675598" y="4459182"/>
            <a:ext cx="589671" cy="254000"/>
          </a:xfrm>
          <a:prstGeom prst="rect">
            <a:avLst/>
          </a:prstGeom>
        </p:spPr>
      </p:pic>
      <p:pic>
        <p:nvPicPr>
          <p:cNvPr id="37" name="HD Supply 110" descr="preencoded.png"/>
          <p:cNvPicPr>
            <a:picLocks noChangeAspect="1"/>
          </p:cNvPicPr>
          <p:nvPr/>
        </p:nvPicPr>
        <p:blipFill>
          <a:blip r:embed="rId23">
            <a:alphaModFix amt="82000"/>
          </a:blip>
          <a:stretch>
            <a:fillRect/>
          </a:stretch>
        </p:blipFill>
        <p:spPr>
          <a:xfrm>
            <a:off x="9929605" y="4459182"/>
            <a:ext cx="381203" cy="254000"/>
          </a:xfrm>
          <a:prstGeom prst="rect">
            <a:avLst/>
          </a:prstGeom>
        </p:spPr>
      </p:pic>
      <p:pic>
        <p:nvPicPr>
          <p:cNvPr id="38" name="Meta 111" descr="preencoded.png"/>
          <p:cNvPicPr>
            <a:picLocks noChangeAspect="1"/>
          </p:cNvPicPr>
          <p:nvPr/>
        </p:nvPicPr>
        <p:blipFill>
          <a:blip r:embed="rId24">
            <a:alphaModFix amt="82000"/>
          </a:blip>
          <a:stretch>
            <a:fillRect/>
          </a:stretch>
        </p:blipFill>
        <p:spPr>
          <a:xfrm>
            <a:off x="10822093" y="4495968"/>
            <a:ext cx="895773" cy="180427"/>
          </a:xfrm>
          <a:prstGeom prst="rect">
            <a:avLst/>
          </a:prstGeom>
        </p:spPr>
      </p:pic>
      <p:pic>
        <p:nvPicPr>
          <p:cNvPr id="39" name="PayPal 112" descr="preencoded.png"/>
          <p:cNvPicPr>
            <a:picLocks noChangeAspect="1"/>
          </p:cNvPicPr>
          <p:nvPr/>
        </p:nvPicPr>
        <p:blipFill>
          <a:blip r:embed="rId25">
            <a:alphaModFix amt="82000"/>
          </a:blip>
          <a:stretch>
            <a:fillRect/>
          </a:stretch>
        </p:blipFill>
        <p:spPr>
          <a:xfrm>
            <a:off x="474133" y="5154864"/>
            <a:ext cx="895773" cy="217302"/>
          </a:xfrm>
          <a:prstGeom prst="rect">
            <a:avLst/>
          </a:prstGeom>
        </p:spPr>
      </p:pic>
      <p:pic>
        <p:nvPicPr>
          <p:cNvPr id="40" name="Cricket 113" descr="preencoded.png"/>
          <p:cNvPicPr>
            <a:picLocks noChangeAspect="1"/>
          </p:cNvPicPr>
          <p:nvPr/>
        </p:nvPicPr>
        <p:blipFill>
          <a:blip r:embed="rId26">
            <a:alphaModFix amt="82000"/>
          </a:blip>
          <a:stretch>
            <a:fillRect/>
          </a:stretch>
        </p:blipFill>
        <p:spPr>
          <a:xfrm>
            <a:off x="1707010" y="5136515"/>
            <a:ext cx="729566" cy="254000"/>
          </a:xfrm>
          <a:prstGeom prst="rect">
            <a:avLst/>
          </a:prstGeom>
        </p:spPr>
      </p:pic>
      <p:pic>
        <p:nvPicPr>
          <p:cNvPr id="41" name="Incyte 114" descr="preencoded.png"/>
          <p:cNvPicPr>
            <a:picLocks noChangeAspect="1"/>
          </p:cNvPicPr>
          <p:nvPr/>
        </p:nvPicPr>
        <p:blipFill>
          <a:blip r:embed="rId27">
            <a:alphaModFix amt="82000"/>
          </a:blip>
          <a:stretch>
            <a:fillRect/>
          </a:stretch>
        </p:blipFill>
        <p:spPr>
          <a:xfrm>
            <a:off x="3031162" y="5136515"/>
            <a:ext cx="380810" cy="254000"/>
          </a:xfrm>
          <a:prstGeom prst="rect">
            <a:avLst/>
          </a:prstGeom>
        </p:spPr>
      </p:pic>
      <p:pic>
        <p:nvPicPr>
          <p:cNvPr id="42" name="Client 2 115" descr="preencoded.png"/>
          <p:cNvPicPr>
            <a:picLocks noChangeAspect="1"/>
          </p:cNvPicPr>
          <p:nvPr/>
        </p:nvPicPr>
        <p:blipFill>
          <a:blip r:embed="rId28">
            <a:alphaModFix amt="82000"/>
          </a:blip>
          <a:stretch>
            <a:fillRect/>
          </a:stretch>
        </p:blipFill>
        <p:spPr>
          <a:xfrm>
            <a:off x="4245699" y="5136515"/>
            <a:ext cx="251283" cy="254000"/>
          </a:xfrm>
          <a:prstGeom prst="rect">
            <a:avLst/>
          </a:prstGeom>
        </p:spPr>
      </p:pic>
      <p:pic>
        <p:nvPicPr>
          <p:cNvPr id="43" name="Marathon 116" descr="preencoded.png"/>
          <p:cNvPicPr>
            <a:picLocks noChangeAspect="1"/>
          </p:cNvPicPr>
          <p:nvPr/>
        </p:nvPicPr>
        <p:blipFill>
          <a:blip r:embed="rId29">
            <a:alphaModFix amt="82000"/>
          </a:blip>
          <a:stretch>
            <a:fillRect/>
          </a:stretch>
        </p:blipFill>
        <p:spPr>
          <a:xfrm>
            <a:off x="5356878" y="5136515"/>
            <a:ext cx="328471" cy="254000"/>
          </a:xfrm>
          <a:prstGeom prst="rect">
            <a:avLst/>
          </a:prstGeom>
        </p:spPr>
      </p:pic>
      <p:pic>
        <p:nvPicPr>
          <p:cNvPr id="44" name="Amazon 117" descr="preencoded.png"/>
          <p:cNvPicPr>
            <a:picLocks noChangeAspect="1"/>
          </p:cNvPicPr>
          <p:nvPr/>
        </p:nvPicPr>
        <p:blipFill>
          <a:blip r:embed="rId30">
            <a:alphaModFix amt="82000"/>
          </a:blip>
          <a:stretch>
            <a:fillRect/>
          </a:stretch>
        </p:blipFill>
        <p:spPr>
          <a:xfrm>
            <a:off x="6248960" y="5136515"/>
            <a:ext cx="843854" cy="254000"/>
          </a:xfrm>
          <a:prstGeom prst="rect">
            <a:avLst/>
          </a:prstGeom>
        </p:spPr>
      </p:pic>
      <p:pic>
        <p:nvPicPr>
          <p:cNvPr id="45" name="Sephora 118" descr="preencoded.png"/>
          <p:cNvPicPr>
            <a:picLocks noChangeAspect="1"/>
          </p:cNvPicPr>
          <p:nvPr/>
        </p:nvPicPr>
        <p:blipFill>
          <a:blip r:embed="rId31">
            <a:alphaModFix amt="82000"/>
          </a:blip>
          <a:stretch>
            <a:fillRect/>
          </a:stretch>
        </p:blipFill>
        <p:spPr>
          <a:xfrm>
            <a:off x="7372773" y="5204312"/>
            <a:ext cx="895773" cy="118407"/>
          </a:xfrm>
          <a:prstGeom prst="rect">
            <a:avLst/>
          </a:prstGeom>
        </p:spPr>
      </p:pic>
      <p:sp>
        <p:nvSpPr>
          <p:cNvPr id="76" name="INSIGHT GLOBAL 149">
            <a:extLst>
              <a:ext uri="{FF2B5EF4-FFF2-40B4-BE49-F238E27FC236}">
                <a16:creationId xmlns:a16="http://schemas.microsoft.com/office/drawing/2014/main" id="{AACDFCAF-EEE6-4BE9-52F4-B3134659A547}"/>
              </a:ext>
            </a:extLst>
          </p:cNvPr>
          <p:cNvSpPr txBox="1"/>
          <p:nvPr/>
        </p:nvSpPr>
        <p:spPr>
          <a:xfrm>
            <a:off x="406400" y="826770"/>
            <a:ext cx="2037092" cy="147320"/>
          </a:xfrm>
          <a:prstGeom prst="rect">
            <a:avLst/>
          </a:prstGeom>
          <a:noFill/>
          <a:ln/>
        </p:spPr>
        <p:txBody>
          <a:bodyPr wrap="none" lIns="0" tIns="0" rIns="0" bIns="0" rtlCol="0" anchor="t"/>
          <a:lstStyle/>
          <a:p>
            <a:pPr marL="0" marR="0" lvl="0" indent="0" algn="l" defTabSz="914400" rtl="0" eaLnBrk="1" fontAlgn="auto" latinLnBrk="0" hangingPunct="1">
              <a:lnSpc>
                <a:spcPts val="1160"/>
              </a:lnSpc>
              <a:spcBef>
                <a:spcPts val="0"/>
              </a:spcBef>
              <a:spcAft>
                <a:spcPts val="0"/>
              </a:spcAft>
              <a:buClrTx/>
              <a:buSzTx/>
              <a:buFontTx/>
              <a:buNone/>
              <a:tabLst/>
              <a:defRPr/>
            </a:pPr>
            <a:r>
              <a:rPr kumimoji="0" lang="en-US" sz="800" b="0" i="0" u="none" strike="noStrike" kern="1200" cap="none" spc="240" normalizeH="0" baseline="0" noProof="0" dirty="0">
                <a:ln>
                  <a:noFill/>
                </a:ln>
                <a:solidFill>
                  <a:srgbClr val="FF0069"/>
                </a:solidFill>
                <a:effectLst/>
                <a:uLnTx/>
                <a:uFillTx/>
                <a:latin typeface="Trenda IG Text Semibold" pitchFamily="34" charset="0"/>
                <a:ea typeface="Trenda IG Text Semibold" pitchFamily="34" charset="-122"/>
                <a:cs typeface="Trenda IG Text Semibold" pitchFamily="34" charset="-120"/>
              </a:rPr>
              <a:t>INSIGHT GLOBAL</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2" name="Tab bar 1439"/>
          <p:cNvSpPr/>
          <p:nvPr/>
        </p:nvSpPr>
        <p:spPr>
          <a:xfrm>
            <a:off x="0" y="0"/>
            <a:ext cx="12192000" cy="508000"/>
          </a:xfrm>
          <a:prstGeom prst="rect">
            <a:avLst/>
          </a:prstGeom>
          <a:solidFill>
            <a:srgbClr val="04050A">
              <a:alpha val="86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 name="Tab bar rule 1440"/>
          <p:cNvSpPr/>
          <p:nvPr/>
        </p:nvSpPr>
        <p:spPr>
          <a:xfrm>
            <a:off x="0" y="499533"/>
            <a:ext cx="12192000" cy="8467"/>
          </a:xfrm>
          <a:prstGeom prst="rect">
            <a:avLst/>
          </a:prstGeom>
          <a:solidFill>
            <a:srgbClr val="FFFFFF">
              <a:alpha val="9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 name="Brand dot 1441"/>
          <p:cNvSpPr/>
          <p:nvPr/>
        </p:nvSpPr>
        <p:spPr>
          <a:xfrm>
            <a:off x="186267" y="215900"/>
            <a:ext cx="76200" cy="76200"/>
          </a:xfrm>
          <a:prstGeom prst="ellipse">
            <a:avLst/>
          </a:prstGeom>
          <a:solidFill>
            <a:srgbClr val="00D6F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 name="Brand dot 1442"/>
          <p:cNvSpPr/>
          <p:nvPr/>
        </p:nvSpPr>
        <p:spPr>
          <a:xfrm>
            <a:off x="304800" y="215900"/>
            <a:ext cx="76200" cy="76200"/>
          </a:xfrm>
          <a:prstGeom prst="ellipse">
            <a:avLst/>
          </a:prstGeom>
          <a:solidFill>
            <a:srgbClr val="FFD7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 name="Brand dot 1443"/>
          <p:cNvSpPr/>
          <p:nvPr/>
        </p:nvSpPr>
        <p:spPr>
          <a:xfrm>
            <a:off x="423333" y="215900"/>
            <a:ext cx="76200" cy="76200"/>
          </a:xfrm>
          <a:prstGeom prst="ellipse">
            <a:avLst/>
          </a:prstGeom>
          <a:solidFill>
            <a:srgbClr val="FF006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 name="Brand divider 1445"/>
          <p:cNvSpPr/>
          <p:nvPr/>
        </p:nvSpPr>
        <p:spPr>
          <a:xfrm>
            <a:off x="599575" y="110067"/>
            <a:ext cx="8467" cy="287867"/>
          </a:xfrm>
          <a:prstGeom prst="rect">
            <a:avLst/>
          </a:prstGeom>
          <a:solidFill>
            <a:srgbClr val="FFFFFF">
              <a:alpha val="9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 name="Active tab 1452"/>
          <p:cNvSpPr/>
          <p:nvPr/>
        </p:nvSpPr>
        <p:spPr>
          <a:xfrm>
            <a:off x="726948" y="101071"/>
            <a:ext cx="1022255" cy="305858"/>
          </a:xfrm>
          <a:prstGeom prst="roundRect">
            <a:avLst>
              <a:gd name="adj" fmla="val 24914"/>
            </a:avLst>
          </a:prstGeom>
          <a:solidFill>
            <a:srgbClr val="FFFFFF">
              <a:alpha val="6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 name="Active tab line 1453"/>
          <p:cNvSpPr/>
          <p:nvPr/>
        </p:nvSpPr>
        <p:spPr>
          <a:xfrm>
            <a:off x="760781" y="389996"/>
            <a:ext cx="954589" cy="16933"/>
          </a:xfrm>
          <a:prstGeom prst="rect">
            <a:avLst/>
          </a:prstGeom>
          <a:solidFill>
            <a:srgbClr val="FF006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 name="Tab no 1446"/>
          <p:cNvSpPr txBox="1"/>
          <p:nvPr/>
        </p:nvSpPr>
        <p:spPr>
          <a:xfrm>
            <a:off x="811621"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FF0069"/>
                </a:solidFill>
                <a:effectLst/>
                <a:uLnTx/>
                <a:uFillTx/>
                <a:latin typeface="Trenda IG Text Semibold" pitchFamily="34" charset="0"/>
                <a:ea typeface="Trenda IG Text Semibold" pitchFamily="34" charset="-122"/>
                <a:cs typeface="Trenda IG Text Semibold" pitchFamily="34" charset="-120"/>
              </a:rPr>
              <a:t>01</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1" name="Tab label 1447"/>
          <p:cNvSpPr txBox="1"/>
          <p:nvPr/>
        </p:nvSpPr>
        <p:spPr>
          <a:xfrm>
            <a:off x="1009132" y="164042"/>
            <a:ext cx="761651"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F4F6FA"/>
                </a:solidFill>
                <a:effectLst/>
                <a:uLnTx/>
                <a:uFillTx/>
                <a:latin typeface="Trenda IG Text Semibold" pitchFamily="34" charset="0"/>
                <a:ea typeface="Trenda IG Text Semibold" pitchFamily="34" charset="-122"/>
                <a:cs typeface="Trenda IG Text Semibold" pitchFamily="34" charset="-120"/>
              </a:rPr>
              <a:t>Introduction</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2" name="Tab link Introduction">
            <a:hlinkClick r:id="rId32" action="ppaction://hlinksldjump" tooltip="Introduction"/>
          </p:cNvPr>
          <p:cNvSpPr/>
          <p:nvPr/>
        </p:nvSpPr>
        <p:spPr>
          <a:xfrm>
            <a:off x="726948" y="101071"/>
            <a:ext cx="1022255"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 name="Tab no 1446"/>
          <p:cNvSpPr txBox="1"/>
          <p:nvPr/>
        </p:nvSpPr>
        <p:spPr>
          <a:xfrm>
            <a:off x="1901542"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697082"/>
                </a:solidFill>
                <a:effectLst/>
                <a:uLnTx/>
                <a:uFillTx/>
                <a:latin typeface="Trenda IG Text Semibold" pitchFamily="34" charset="0"/>
                <a:ea typeface="Trenda IG Text Semibold" pitchFamily="34" charset="-122"/>
                <a:cs typeface="Trenda IG Text Semibold" pitchFamily="34" charset="-120"/>
              </a:rPr>
              <a:t>02</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Tab label 1447"/>
          <p:cNvSpPr txBox="1"/>
          <p:nvPr/>
        </p:nvSpPr>
        <p:spPr>
          <a:xfrm>
            <a:off x="2099052" y="164042"/>
            <a:ext cx="696914"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t>AI maturity</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5" name="Tab link AI maturity">
            <a:hlinkClick r:id="rId33" action="ppaction://hlinksldjump" tooltip="AI maturity"/>
          </p:cNvPr>
          <p:cNvSpPr/>
          <p:nvPr/>
        </p:nvSpPr>
        <p:spPr>
          <a:xfrm>
            <a:off x="1816869" y="101071"/>
            <a:ext cx="957518"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 name="Tab no 1446"/>
          <p:cNvSpPr txBox="1"/>
          <p:nvPr/>
        </p:nvSpPr>
        <p:spPr>
          <a:xfrm>
            <a:off x="2926726"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697082"/>
                </a:solidFill>
                <a:effectLst/>
                <a:uLnTx/>
                <a:uFillTx/>
                <a:latin typeface="Trenda IG Text Semibold" pitchFamily="34" charset="0"/>
                <a:ea typeface="Trenda IG Text Semibold" pitchFamily="34" charset="-122"/>
                <a:cs typeface="Trenda IG Text Semibold" pitchFamily="34" charset="-120"/>
              </a:rPr>
              <a:t>03</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7" name="Tab label 1447"/>
          <p:cNvSpPr txBox="1"/>
          <p:nvPr/>
        </p:nvSpPr>
        <p:spPr>
          <a:xfrm>
            <a:off x="3124236" y="164042"/>
            <a:ext cx="937475"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t>Agentic factory</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8" name="Tab link Agentic factory">
            <a:hlinkClick r:id="rId34" action="ppaction://hlinksldjump" tooltip="Agentic factory"/>
          </p:cNvPr>
          <p:cNvSpPr/>
          <p:nvPr/>
        </p:nvSpPr>
        <p:spPr>
          <a:xfrm>
            <a:off x="2842052" y="101071"/>
            <a:ext cx="1198079"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 name="Tab no 1446"/>
          <p:cNvSpPr txBox="1"/>
          <p:nvPr/>
        </p:nvSpPr>
        <p:spPr>
          <a:xfrm>
            <a:off x="4192470"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697082"/>
                </a:solidFill>
                <a:effectLst/>
                <a:uLnTx/>
                <a:uFillTx/>
                <a:latin typeface="Trenda IG Text Semibold" pitchFamily="34" charset="0"/>
                <a:ea typeface="Trenda IG Text Semibold" pitchFamily="34" charset="-122"/>
                <a:cs typeface="Trenda IG Text Semibold" pitchFamily="34" charset="-120"/>
              </a:rPr>
              <a:t>04</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0" name="Tab label 1447"/>
          <p:cNvSpPr txBox="1"/>
          <p:nvPr/>
        </p:nvSpPr>
        <p:spPr>
          <a:xfrm>
            <a:off x="4389981" y="164042"/>
            <a:ext cx="883829"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t>SDLC use case</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1" name="Tab link SDLC use case">
            <a:hlinkClick r:id="rId35" action="ppaction://hlinksldjump" tooltip="SDLC use case"/>
          </p:cNvPr>
          <p:cNvSpPr/>
          <p:nvPr/>
        </p:nvSpPr>
        <p:spPr>
          <a:xfrm>
            <a:off x="4107797" y="101071"/>
            <a:ext cx="1144433"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 name="Tab no 1446"/>
          <p:cNvSpPr txBox="1"/>
          <p:nvPr/>
        </p:nvSpPr>
        <p:spPr>
          <a:xfrm>
            <a:off x="5404569"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697082"/>
                </a:solidFill>
                <a:effectLst/>
                <a:uLnTx/>
                <a:uFillTx/>
                <a:latin typeface="Trenda IG Text Semibold" pitchFamily="34" charset="0"/>
                <a:ea typeface="Trenda IG Text Semibold" pitchFamily="34" charset="-122"/>
                <a:cs typeface="Trenda IG Text Semibold" pitchFamily="34" charset="-120"/>
              </a:rPr>
              <a:t>05</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3" name="Tab label 1447"/>
          <p:cNvSpPr txBox="1"/>
          <p:nvPr/>
        </p:nvSpPr>
        <p:spPr>
          <a:xfrm>
            <a:off x="5602079" y="164042"/>
            <a:ext cx="864063"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t>Pod outcomes</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4" name="Tab link Pod outcomes">
            <a:hlinkClick r:id="" action="ppaction://noaction"/>
          </p:cNvPr>
          <p:cNvSpPr/>
          <p:nvPr/>
        </p:nvSpPr>
        <p:spPr>
          <a:xfrm>
            <a:off x="5319896" y="101071"/>
            <a:ext cx="1124667"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 name="Tab no 1446"/>
          <p:cNvSpPr txBox="1"/>
          <p:nvPr/>
        </p:nvSpPr>
        <p:spPr>
          <a:xfrm>
            <a:off x="6596902" y="178012"/>
            <a:ext cx="178174" cy="156951"/>
          </a:xfrm>
          <a:prstGeom prst="rect">
            <a:avLst/>
          </a:prstGeom>
          <a:noFill/>
          <a:ln/>
        </p:spPr>
        <p:txBody>
          <a:bodyPr wrap="square" lIns="0" tIns="0" rIns="0" bIns="0" rtlCol="0" anchor="t"/>
          <a:lstStyle/>
          <a:p>
            <a:pPr marL="0" marR="0" lvl="0" indent="0" algn="l" defTabSz="914400" rtl="0" eaLnBrk="1" fontAlgn="auto" latinLnBrk="0" hangingPunct="1">
              <a:lnSpc>
                <a:spcPts val="1015"/>
              </a:lnSpc>
              <a:spcBef>
                <a:spcPts val="0"/>
              </a:spcBef>
              <a:spcAft>
                <a:spcPts val="0"/>
              </a:spcAft>
              <a:buClrTx/>
              <a:buSzTx/>
              <a:buFontTx/>
              <a:buNone/>
              <a:tabLst/>
              <a:defRPr/>
            </a:pPr>
            <a:r>
              <a:rPr kumimoji="0" lang="en-US" sz="700" b="0" i="0" u="none" strike="noStrike" kern="0" cap="none" spc="98" normalizeH="0" baseline="0" noProof="0" dirty="0">
                <a:ln>
                  <a:noFill/>
                </a:ln>
                <a:solidFill>
                  <a:srgbClr val="697082"/>
                </a:solidFill>
                <a:effectLst/>
                <a:uLnTx/>
                <a:uFillTx/>
                <a:latin typeface="Trenda IG Text Semibold" pitchFamily="34" charset="0"/>
                <a:ea typeface="Trenda IG Text Semibold" pitchFamily="34" charset="-122"/>
                <a:cs typeface="Trenda IG Text Semibold" pitchFamily="34" charset="-120"/>
              </a:rPr>
              <a:t>06</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6" name="Tab label 1447"/>
          <p:cNvSpPr txBox="1"/>
          <p:nvPr/>
        </p:nvSpPr>
        <p:spPr>
          <a:xfrm>
            <a:off x="6794412" y="164042"/>
            <a:ext cx="812175" cy="183621"/>
          </a:xfrm>
          <a:prstGeom prst="rect">
            <a:avLst/>
          </a:prstGeom>
          <a:noFill/>
          <a:ln/>
        </p:spPr>
        <p:txBody>
          <a:bodyPr wrap="square" lIns="0" tIns="0" rIns="0" bIns="0" rtlCol="0" anchor="t"/>
          <a:lstStyle/>
          <a:p>
            <a:pPr marL="0" marR="0" lvl="0" indent="0" algn="l" defTabSz="914400" rtl="0" eaLnBrk="1" fontAlgn="auto" latinLnBrk="0" hangingPunct="1">
              <a:lnSpc>
                <a:spcPts val="1208"/>
              </a:lnSpc>
              <a:spcBef>
                <a:spcPts val="0"/>
              </a:spcBef>
              <a:spcAft>
                <a:spcPts val="0"/>
              </a:spcAft>
              <a:buClrTx/>
              <a:buSzTx/>
              <a:buFontTx/>
              <a:buNone/>
              <a:tabLst/>
              <a:defRPr/>
            </a:pPr>
            <a:r>
              <a:rPr kumimoji="0" lang="en-US" sz="833" b="0" i="0" u="none" strike="noStrike" kern="1200" cap="none" spc="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t>Delivery plan</a:t>
            </a:r>
            <a:endParaRPr kumimoji="0" lang="en-US" sz="8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7" name="Tab link Delivery plan">
            <a:hlinkClick r:id="" action="ppaction://noaction"/>
          </p:cNvPr>
          <p:cNvSpPr/>
          <p:nvPr/>
        </p:nvSpPr>
        <p:spPr>
          <a:xfrm>
            <a:off x="6512228" y="101071"/>
            <a:ext cx="1072779" cy="305858"/>
          </a:xfrm>
          <a:prstGeom prst="rect">
            <a:avLst/>
          </a:prstGeom>
          <a:solidFill>
            <a:srgbClr val="FFFFFF">
              <a:alpha val="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 name="Slide number"/>
          <p:cNvSpPr txBox="1"/>
          <p:nvPr/>
        </p:nvSpPr>
        <p:spPr>
          <a:xfrm>
            <a:off x="11054182" y="162763"/>
            <a:ext cx="731520" cy="182880"/>
          </a:xfrm>
          <a:prstGeom prst="rect">
            <a:avLst/>
          </a:prstGeom>
          <a:noFill/>
          <a:ln/>
        </p:spPr>
        <p:txBody>
          <a:bodyPr wrap="square" lIns="0" tIns="0" rIns="0" bIns="0" rtlCol="0" anchor="t"/>
          <a:lstStyle/>
          <a:p>
            <a:pPr marL="0" marR="0" lvl="0" indent="0" algn="r" defTabSz="914400" rtl="0" eaLnBrk="1" fontAlgn="auto" latinLnBrk="0" hangingPunct="1">
              <a:lnSpc>
                <a:spcPts val="1200"/>
              </a:lnSpc>
              <a:spcBef>
                <a:spcPts val="0"/>
              </a:spcBef>
              <a:spcAft>
                <a:spcPts val="0"/>
              </a:spcAft>
              <a:buClrTx/>
              <a:buSzTx/>
              <a:buFontTx/>
              <a:buNone/>
              <a:tabLst/>
              <a:defRPr/>
            </a:pPr>
            <a:fld id="{73B49A7E-2FDD-438F-AFDF-DD6460D96B38}" type="slidenum">
              <a:rPr kumimoji="0" lang="en-US" sz="900" b="0" i="0" u="none" strike="noStrike" kern="0" cap="none" spc="60" normalizeH="0" baseline="0" noProof="0" dirty="0">
                <a:ln>
                  <a:noFill/>
                </a:ln>
                <a:solidFill>
                  <a:srgbClr val="9AA3B2"/>
                </a:solidFill>
                <a:effectLst/>
                <a:uLnTx/>
                <a:uFillTx/>
                <a:latin typeface="Trenda IG Text Semibold" pitchFamily="34" charset="0"/>
                <a:ea typeface="Trenda IG Text Semibold" pitchFamily="34" charset="-122"/>
                <a:cs typeface="Trenda IG Text Semibold" pitchFamily="34" charset="-120"/>
              </a:rPr>
              <a:pPr marL="0" marR="0" lvl="0" indent="0" algn="r" defTabSz="914400" rtl="0" eaLnBrk="1" fontAlgn="auto" latinLnBrk="0" hangingPunct="1">
                <a:lnSpc>
                  <a:spcPts val="1200"/>
                </a:lnSpc>
                <a:spcBef>
                  <a:spcPts val="0"/>
                </a:spcBef>
                <a:spcAft>
                  <a:spcPts val="0"/>
                </a:spcAft>
                <a:buClrTx/>
                <a:buSzTx/>
                <a:buFontTx/>
                <a:buNone/>
                <a:tabLst/>
                <a:defRPr/>
              </a:pPr>
              <a:t>18</a:t>
            </a:fld>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4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50"/>
                                        <p:tgtEl>
                                          <p:spTgt spid="5"/>
                                        </p:tgtEl>
                                      </p:cBhvr>
                                    </p:animEffect>
                                  </p:childTnLst>
                                </p:cTn>
                              </p:par>
                              <p:par>
                                <p:cTn id="8" presetID="10" presetClass="entr" presetSubtype="0" fill="hold" grpId="0" nodeType="withEffect">
                                  <p:stCondLst>
                                    <p:cond delay="17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800"/>
                                        <p:tgtEl>
                                          <p:spTgt spid="6"/>
                                        </p:tgtEl>
                                      </p:cBhvr>
                                    </p:animEffect>
                                  </p:childTnLst>
                                </p:cTn>
                              </p:par>
                              <p:par>
                                <p:cTn id="11" presetID="10" presetClass="entr" presetSubtype="0" fill="hold" grpId="0" nodeType="withEffect">
                                  <p:stCondLst>
                                    <p:cond delay="17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800"/>
                                        <p:tgtEl>
                                          <p:spTgt spid="7"/>
                                        </p:tgtEl>
                                      </p:cBhvr>
                                    </p:animEffect>
                                  </p:childTnLst>
                                </p:cTn>
                              </p:par>
                              <p:par>
                                <p:cTn id="14" presetID="10" presetClass="entr" presetSubtype="0" fill="hold" grpId="0" nodeType="withEffect">
                                  <p:stCondLst>
                                    <p:cond delay="17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800"/>
                                        <p:tgtEl>
                                          <p:spTgt spid="9"/>
                                        </p:tgtEl>
                                      </p:cBhvr>
                                    </p:animEffect>
                                  </p:childTnLst>
                                </p:cTn>
                              </p:par>
                              <p:par>
                                <p:cTn id="17" presetID="10" presetClass="entr" presetSubtype="0" fill="hold" grpId="0" nodeType="withEffect">
                                  <p:stCondLst>
                                    <p:cond delay="175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800"/>
                                        <p:tgtEl>
                                          <p:spTgt spid="8"/>
                                        </p:tgtEl>
                                      </p:cBhvr>
                                    </p:animEffect>
                                  </p:childTnLst>
                                </p:cTn>
                              </p:par>
                              <p:par>
                                <p:cTn id="20" presetID="10" presetClass="entr" presetSubtype="0" fill="hold" grpId="0" nodeType="withEffect">
                                  <p:stCondLst>
                                    <p:cond delay="182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800"/>
                                        <p:tgtEl>
                                          <p:spTgt spid="10"/>
                                        </p:tgtEl>
                                      </p:cBhvr>
                                    </p:animEffect>
                                  </p:childTnLst>
                                </p:cTn>
                              </p:par>
                              <p:par>
                                <p:cTn id="23" presetID="10" presetClass="entr" presetSubtype="0" fill="hold" grpId="0" nodeType="withEffect">
                                  <p:stCondLst>
                                    <p:cond delay="182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800"/>
                                        <p:tgtEl>
                                          <p:spTgt spid="11"/>
                                        </p:tgtEl>
                                      </p:cBhvr>
                                    </p:animEffect>
                                  </p:childTnLst>
                                </p:cTn>
                              </p:par>
                              <p:par>
                                <p:cTn id="26" presetID="10" presetClass="entr" presetSubtype="0" fill="hold" grpId="0" nodeType="withEffect">
                                  <p:stCondLst>
                                    <p:cond delay="182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800"/>
                                        <p:tgtEl>
                                          <p:spTgt spid="13"/>
                                        </p:tgtEl>
                                      </p:cBhvr>
                                    </p:animEffect>
                                  </p:childTnLst>
                                </p:cTn>
                              </p:par>
                              <p:par>
                                <p:cTn id="29" presetID="10" presetClass="entr" presetSubtype="0" fill="hold" grpId="0" nodeType="withEffect">
                                  <p:stCondLst>
                                    <p:cond delay="187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800"/>
                                        <p:tgtEl>
                                          <p:spTgt spid="12"/>
                                        </p:tgtEl>
                                      </p:cBhvr>
                                    </p:animEffect>
                                  </p:childTnLst>
                                </p:cTn>
                              </p:par>
                              <p:par>
                                <p:cTn id="32" presetID="10" presetClass="entr" presetSubtype="0" fill="hold" grpId="0" nodeType="withEffect">
                                  <p:stCondLst>
                                    <p:cond delay="194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800"/>
                                        <p:tgtEl>
                                          <p:spTgt spid="14"/>
                                        </p:tgtEl>
                                      </p:cBhvr>
                                    </p:animEffect>
                                  </p:childTnLst>
                                </p:cTn>
                              </p:par>
                              <p:par>
                                <p:cTn id="35" presetID="10" presetClass="entr" presetSubtype="0" fill="hold" grpId="0" nodeType="withEffect">
                                  <p:stCondLst>
                                    <p:cond delay="194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800"/>
                                        <p:tgtEl>
                                          <p:spTgt spid="15"/>
                                        </p:tgtEl>
                                      </p:cBhvr>
                                    </p:animEffect>
                                  </p:childTnLst>
                                </p:cTn>
                              </p:par>
                              <p:par>
                                <p:cTn id="38" presetID="10" presetClass="entr" presetSubtype="0" fill="hold" grpId="0" nodeType="withEffect">
                                  <p:stCondLst>
                                    <p:cond delay="194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800"/>
                                        <p:tgtEl>
                                          <p:spTgt spid="17"/>
                                        </p:tgtEl>
                                      </p:cBhvr>
                                    </p:animEffect>
                                  </p:childTnLst>
                                </p:cTn>
                              </p:par>
                              <p:par>
                                <p:cTn id="41" presetID="10" presetClass="entr" presetSubtype="0" fill="hold" grpId="0" nodeType="withEffect">
                                  <p:stCondLst>
                                    <p:cond delay="199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800"/>
                                        <p:tgtEl>
                                          <p:spTgt spid="16"/>
                                        </p:tgtEl>
                                      </p:cBhvr>
                                    </p:animEffect>
                                  </p:childTnLst>
                                </p:cTn>
                              </p:par>
                              <p:par>
                                <p:cTn id="44" presetID="22" presetClass="entr" presetSubtype="8" fill="hold" nodeType="withEffect">
                                  <p:stCondLst>
                                    <p:cond delay="3250"/>
                                  </p:stCondLst>
                                  <p:childTnLst>
                                    <p:set>
                                      <p:cBhvr>
                                        <p:cTn id="45" dur="1" fill="hold">
                                          <p:stCondLst>
                                            <p:cond delay="0"/>
                                          </p:stCondLst>
                                        </p:cTn>
                                        <p:tgtEl>
                                          <p:spTgt spid="18"/>
                                        </p:tgtEl>
                                        <p:attrNameLst>
                                          <p:attrName>style.visibility</p:attrName>
                                        </p:attrNameLst>
                                      </p:cBhvr>
                                      <p:to>
                                        <p:strVal val="visible"/>
                                      </p:to>
                                    </p:set>
                                    <p:animEffect transition="in" filter="wipe(left)">
                                      <p:cBhvr>
                                        <p:cTn id="46" dur="1000"/>
                                        <p:tgtEl>
                                          <p:spTgt spid="18"/>
                                        </p:tgtEl>
                                      </p:cBhvr>
                                    </p:animEffect>
                                  </p:childTnLst>
                                </p:cTn>
                              </p:par>
                              <p:par>
                                <p:cTn id="47" presetID="10" presetClass="entr" presetSubtype="0" fill="hold" nodeType="withEffect">
                                  <p:stCondLst>
                                    <p:cond delay="355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720"/>
                                        <p:tgtEl>
                                          <p:spTgt spid="19"/>
                                        </p:tgtEl>
                                      </p:cBhvr>
                                    </p:animEffect>
                                  </p:childTnLst>
                                </p:cTn>
                              </p:par>
                              <p:par>
                                <p:cTn id="50" presetID="10" presetClass="entr" presetSubtype="0" fill="hold" nodeType="withEffect">
                                  <p:stCondLst>
                                    <p:cond delay="358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720"/>
                                        <p:tgtEl>
                                          <p:spTgt spid="20"/>
                                        </p:tgtEl>
                                      </p:cBhvr>
                                    </p:animEffect>
                                  </p:childTnLst>
                                </p:cTn>
                              </p:par>
                              <p:par>
                                <p:cTn id="53" presetID="10" presetClass="entr" presetSubtype="0" fill="hold" nodeType="withEffect">
                                  <p:stCondLst>
                                    <p:cond delay="361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720"/>
                                        <p:tgtEl>
                                          <p:spTgt spid="21"/>
                                        </p:tgtEl>
                                      </p:cBhvr>
                                    </p:animEffect>
                                  </p:childTnLst>
                                </p:cTn>
                              </p:par>
                              <p:par>
                                <p:cTn id="56" presetID="10" presetClass="entr" presetSubtype="0" fill="hold" nodeType="withEffect">
                                  <p:stCondLst>
                                    <p:cond delay="364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720"/>
                                        <p:tgtEl>
                                          <p:spTgt spid="22"/>
                                        </p:tgtEl>
                                      </p:cBhvr>
                                    </p:animEffect>
                                  </p:childTnLst>
                                </p:cTn>
                              </p:par>
                              <p:par>
                                <p:cTn id="59" presetID="10" presetClass="entr" presetSubtype="0" fill="hold" nodeType="withEffect">
                                  <p:stCondLst>
                                    <p:cond delay="367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720"/>
                                        <p:tgtEl>
                                          <p:spTgt spid="23"/>
                                        </p:tgtEl>
                                      </p:cBhvr>
                                    </p:animEffect>
                                  </p:childTnLst>
                                </p:cTn>
                              </p:par>
                              <p:par>
                                <p:cTn id="62" presetID="10" presetClass="entr" presetSubtype="0" fill="hold" nodeType="withEffect">
                                  <p:stCondLst>
                                    <p:cond delay="370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720"/>
                                        <p:tgtEl>
                                          <p:spTgt spid="24"/>
                                        </p:tgtEl>
                                      </p:cBhvr>
                                    </p:animEffect>
                                  </p:childTnLst>
                                </p:cTn>
                              </p:par>
                              <p:par>
                                <p:cTn id="65" presetID="10" presetClass="entr" presetSubtype="0" fill="hold" nodeType="withEffect">
                                  <p:stCondLst>
                                    <p:cond delay="37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20"/>
                                        <p:tgtEl>
                                          <p:spTgt spid="25"/>
                                        </p:tgtEl>
                                      </p:cBhvr>
                                    </p:animEffect>
                                  </p:childTnLst>
                                </p:cTn>
                              </p:par>
                              <p:par>
                                <p:cTn id="68" presetID="10" presetClass="entr" presetSubtype="0" fill="hold" nodeType="withEffect">
                                  <p:stCondLst>
                                    <p:cond delay="376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720"/>
                                        <p:tgtEl>
                                          <p:spTgt spid="26"/>
                                        </p:tgtEl>
                                      </p:cBhvr>
                                    </p:animEffect>
                                  </p:childTnLst>
                                </p:cTn>
                              </p:par>
                              <p:par>
                                <p:cTn id="71" presetID="10" presetClass="entr" presetSubtype="0" fill="hold" nodeType="withEffect">
                                  <p:stCondLst>
                                    <p:cond delay="379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720"/>
                                        <p:tgtEl>
                                          <p:spTgt spid="27"/>
                                        </p:tgtEl>
                                      </p:cBhvr>
                                    </p:animEffect>
                                  </p:childTnLst>
                                </p:cTn>
                              </p:par>
                              <p:par>
                                <p:cTn id="74" presetID="10" presetClass="entr" presetSubtype="0" fill="hold" nodeType="withEffect">
                                  <p:stCondLst>
                                    <p:cond delay="382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720"/>
                                        <p:tgtEl>
                                          <p:spTgt spid="28"/>
                                        </p:tgtEl>
                                      </p:cBhvr>
                                    </p:animEffect>
                                  </p:childTnLst>
                                </p:cTn>
                              </p:par>
                              <p:par>
                                <p:cTn id="77" presetID="10" presetClass="entr" presetSubtype="0" fill="hold" nodeType="withEffect">
                                  <p:stCondLst>
                                    <p:cond delay="388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720"/>
                                        <p:tgtEl>
                                          <p:spTgt spid="29"/>
                                        </p:tgtEl>
                                      </p:cBhvr>
                                    </p:animEffect>
                                  </p:childTnLst>
                                </p:cTn>
                              </p:par>
                              <p:par>
                                <p:cTn id="80" presetID="10" presetClass="entr" presetSubtype="0" fill="hold" nodeType="withEffect">
                                  <p:stCondLst>
                                    <p:cond delay="391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720"/>
                                        <p:tgtEl>
                                          <p:spTgt spid="30"/>
                                        </p:tgtEl>
                                      </p:cBhvr>
                                    </p:animEffect>
                                  </p:childTnLst>
                                </p:cTn>
                              </p:par>
                              <p:par>
                                <p:cTn id="83" presetID="10" presetClass="entr" presetSubtype="0" fill="hold" nodeType="withEffect">
                                  <p:stCondLst>
                                    <p:cond delay="394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720"/>
                                        <p:tgtEl>
                                          <p:spTgt spid="31"/>
                                        </p:tgtEl>
                                      </p:cBhvr>
                                    </p:animEffect>
                                  </p:childTnLst>
                                </p:cTn>
                              </p:par>
                              <p:par>
                                <p:cTn id="86" presetID="10" presetClass="entr" presetSubtype="0" fill="hold" nodeType="withEffect">
                                  <p:stCondLst>
                                    <p:cond delay="400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720"/>
                                        <p:tgtEl>
                                          <p:spTgt spid="32"/>
                                        </p:tgtEl>
                                      </p:cBhvr>
                                    </p:animEffect>
                                  </p:childTnLst>
                                </p:cTn>
                              </p:par>
                              <p:par>
                                <p:cTn id="89" presetID="10" presetClass="entr" presetSubtype="0" fill="hold" nodeType="withEffect">
                                  <p:stCondLst>
                                    <p:cond delay="403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720"/>
                                        <p:tgtEl>
                                          <p:spTgt spid="33"/>
                                        </p:tgtEl>
                                      </p:cBhvr>
                                    </p:animEffect>
                                  </p:childTnLst>
                                </p:cTn>
                              </p:par>
                              <p:par>
                                <p:cTn id="92" presetID="10" presetClass="entr" presetSubtype="0" fill="hold" nodeType="withEffect">
                                  <p:stCondLst>
                                    <p:cond delay="406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720"/>
                                        <p:tgtEl>
                                          <p:spTgt spid="34"/>
                                        </p:tgtEl>
                                      </p:cBhvr>
                                    </p:animEffect>
                                  </p:childTnLst>
                                </p:cTn>
                              </p:par>
                              <p:par>
                                <p:cTn id="95" presetID="10" presetClass="entr" presetSubtype="0" fill="hold" nodeType="withEffect">
                                  <p:stCondLst>
                                    <p:cond delay="409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720"/>
                                        <p:tgtEl>
                                          <p:spTgt spid="35"/>
                                        </p:tgtEl>
                                      </p:cBhvr>
                                    </p:animEffect>
                                  </p:childTnLst>
                                </p:cTn>
                              </p:par>
                              <p:par>
                                <p:cTn id="98" presetID="10" presetClass="entr" presetSubtype="0" fill="hold" nodeType="withEffect">
                                  <p:stCondLst>
                                    <p:cond delay="412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720"/>
                                        <p:tgtEl>
                                          <p:spTgt spid="36"/>
                                        </p:tgtEl>
                                      </p:cBhvr>
                                    </p:animEffect>
                                  </p:childTnLst>
                                </p:cTn>
                              </p:par>
                              <p:par>
                                <p:cTn id="101" presetID="10" presetClass="entr" presetSubtype="0" fill="hold" nodeType="withEffect">
                                  <p:stCondLst>
                                    <p:cond delay="415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720"/>
                                        <p:tgtEl>
                                          <p:spTgt spid="37"/>
                                        </p:tgtEl>
                                      </p:cBhvr>
                                    </p:animEffect>
                                  </p:childTnLst>
                                </p:cTn>
                              </p:par>
                              <p:par>
                                <p:cTn id="104" presetID="10" presetClass="entr" presetSubtype="0" fill="hold" nodeType="withEffect">
                                  <p:stCondLst>
                                    <p:cond delay="418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720"/>
                                        <p:tgtEl>
                                          <p:spTgt spid="38"/>
                                        </p:tgtEl>
                                      </p:cBhvr>
                                    </p:animEffect>
                                  </p:childTnLst>
                                </p:cTn>
                              </p:par>
                              <p:par>
                                <p:cTn id="107" presetID="10" presetClass="entr" presetSubtype="0" fill="hold" nodeType="withEffect">
                                  <p:stCondLst>
                                    <p:cond delay="421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720"/>
                                        <p:tgtEl>
                                          <p:spTgt spid="39"/>
                                        </p:tgtEl>
                                      </p:cBhvr>
                                    </p:animEffect>
                                  </p:childTnLst>
                                </p:cTn>
                              </p:par>
                              <p:par>
                                <p:cTn id="110" presetID="10" presetClass="entr" presetSubtype="0" fill="hold" nodeType="withEffect">
                                  <p:stCondLst>
                                    <p:cond delay="424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720"/>
                                        <p:tgtEl>
                                          <p:spTgt spid="40"/>
                                        </p:tgtEl>
                                      </p:cBhvr>
                                    </p:animEffect>
                                  </p:childTnLst>
                                </p:cTn>
                              </p:par>
                              <p:par>
                                <p:cTn id="113" presetID="10" presetClass="entr" presetSubtype="0" fill="hold" nodeType="withEffect">
                                  <p:stCondLst>
                                    <p:cond delay="427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720"/>
                                        <p:tgtEl>
                                          <p:spTgt spid="41"/>
                                        </p:tgtEl>
                                      </p:cBhvr>
                                    </p:animEffect>
                                  </p:childTnLst>
                                </p:cTn>
                              </p:par>
                              <p:par>
                                <p:cTn id="116" presetID="10" presetClass="entr" presetSubtype="0" fill="hold" nodeType="withEffect">
                                  <p:stCondLst>
                                    <p:cond delay="4300"/>
                                  </p:stCondLst>
                                  <p:childTnLst>
                                    <p:set>
                                      <p:cBhvr>
                                        <p:cTn id="117" dur="1" fill="hold">
                                          <p:stCondLst>
                                            <p:cond delay="0"/>
                                          </p:stCondLst>
                                        </p:cTn>
                                        <p:tgtEl>
                                          <p:spTgt spid="42"/>
                                        </p:tgtEl>
                                        <p:attrNameLst>
                                          <p:attrName>style.visibility</p:attrName>
                                        </p:attrNameLst>
                                      </p:cBhvr>
                                      <p:to>
                                        <p:strVal val="visible"/>
                                      </p:to>
                                    </p:set>
                                    <p:animEffect transition="in" filter="fade">
                                      <p:cBhvr>
                                        <p:cTn id="118" dur="720"/>
                                        <p:tgtEl>
                                          <p:spTgt spid="42"/>
                                        </p:tgtEl>
                                      </p:cBhvr>
                                    </p:animEffect>
                                  </p:childTnLst>
                                </p:cTn>
                              </p:par>
                              <p:par>
                                <p:cTn id="119" presetID="10" presetClass="entr" presetSubtype="0" fill="hold" nodeType="withEffect">
                                  <p:stCondLst>
                                    <p:cond delay="4330"/>
                                  </p:stCondLst>
                                  <p:childTnLst>
                                    <p:set>
                                      <p:cBhvr>
                                        <p:cTn id="120" dur="1" fill="hold">
                                          <p:stCondLst>
                                            <p:cond delay="0"/>
                                          </p:stCondLst>
                                        </p:cTn>
                                        <p:tgtEl>
                                          <p:spTgt spid="43"/>
                                        </p:tgtEl>
                                        <p:attrNameLst>
                                          <p:attrName>style.visibility</p:attrName>
                                        </p:attrNameLst>
                                      </p:cBhvr>
                                      <p:to>
                                        <p:strVal val="visible"/>
                                      </p:to>
                                    </p:set>
                                    <p:animEffect transition="in" filter="fade">
                                      <p:cBhvr>
                                        <p:cTn id="121" dur="720"/>
                                        <p:tgtEl>
                                          <p:spTgt spid="43"/>
                                        </p:tgtEl>
                                      </p:cBhvr>
                                    </p:animEffect>
                                  </p:childTnLst>
                                </p:cTn>
                              </p:par>
                              <p:par>
                                <p:cTn id="122" presetID="10" presetClass="entr" presetSubtype="0" fill="hold" nodeType="withEffect">
                                  <p:stCondLst>
                                    <p:cond delay="4360"/>
                                  </p:stCondLst>
                                  <p:childTnLst>
                                    <p:set>
                                      <p:cBhvr>
                                        <p:cTn id="123" dur="1" fill="hold">
                                          <p:stCondLst>
                                            <p:cond delay="0"/>
                                          </p:stCondLst>
                                        </p:cTn>
                                        <p:tgtEl>
                                          <p:spTgt spid="44"/>
                                        </p:tgtEl>
                                        <p:attrNameLst>
                                          <p:attrName>style.visibility</p:attrName>
                                        </p:attrNameLst>
                                      </p:cBhvr>
                                      <p:to>
                                        <p:strVal val="visible"/>
                                      </p:to>
                                    </p:set>
                                    <p:animEffect transition="in" filter="fade">
                                      <p:cBhvr>
                                        <p:cTn id="124" dur="720"/>
                                        <p:tgtEl>
                                          <p:spTgt spid="44"/>
                                        </p:tgtEl>
                                      </p:cBhvr>
                                    </p:animEffect>
                                  </p:childTnLst>
                                </p:cTn>
                              </p:par>
                              <p:par>
                                <p:cTn id="125" presetID="10" presetClass="entr" presetSubtype="0" fill="hold" nodeType="withEffect">
                                  <p:stCondLst>
                                    <p:cond delay="439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72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patients we cannot contact yet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Patients without consent or with missing information stay in Gold B, restricted. Those we may ask are invited to opt in or complete their details; when they opt in, they move to Gold A.</a:t>
            </a:r>
          </a:p>
        </p:txBody>
      </p:sp>
      <p:sp>
        <p:nvSpPr>
          <p:cNvPr id="5" name="Shape 4"/>
          <p:cNvSpPr/>
          <p:nvPr/>
        </p:nvSpPr>
        <p:spPr>
          <a:xfrm>
            <a:off x="411480"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704212"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850516"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923668"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 · restricted</a:t>
            </a:r>
          </a:p>
          <a:p>
            <a:pPr>
              <a:lnSpc>
                <a:spcPct val="92000"/>
              </a:lnSpc>
              <a:spcAft>
                <a:spcPts val="100"/>
              </a:spcAft>
            </a:pPr>
            <a:r>
              <a:rPr sz="700" b="0" i="0">
                <a:solidFill>
                  <a:srgbClr val="B3B3B3"/>
                </a:solidFill>
                <a:latin typeface="Trenda IG Text"/>
              </a:rPr>
              <a:t>opted out or missing information</a:t>
            </a:r>
          </a:p>
        </p:txBody>
      </p:sp>
      <p:cxnSp>
        <p:nvCxnSpPr>
          <p:cNvPr id="10" name="Arrow 9"/>
          <p:cNvCxnSpPr/>
          <p:nvPr/>
        </p:nvCxnSpPr>
        <p:spPr>
          <a:xfrm>
            <a:off x="3143249"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3289553" y="1152144"/>
            <a:ext cx="1292732" cy="65836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36270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 checks opt-outs + filled-in information</a:t>
            </a:r>
          </a:p>
        </p:txBody>
      </p:sp>
      <p:cxnSp>
        <p:nvCxnSpPr>
          <p:cNvPr id="13" name="Arrow 12"/>
          <p:cNvCxnSpPr/>
          <p:nvPr/>
        </p:nvCxnSpPr>
        <p:spPr>
          <a:xfrm>
            <a:off x="458228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728591" y="1152144"/>
            <a:ext cx="1292732" cy="65836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80174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6021323"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167627"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240779"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 unmasks the minimum fields</a:t>
            </a:r>
          </a:p>
        </p:txBody>
      </p:sp>
      <p:cxnSp>
        <p:nvCxnSpPr>
          <p:cNvPr id="19" name="Arrow 18"/>
          <p:cNvCxnSpPr/>
          <p:nvPr/>
        </p:nvCxnSpPr>
        <p:spPr>
          <a:xfrm>
            <a:off x="7460361"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7606664"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767981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update request: consent + details</a:t>
            </a:r>
          </a:p>
        </p:txBody>
      </p:sp>
      <p:cxnSp>
        <p:nvCxnSpPr>
          <p:cNvPr id="22" name="Arrow 21"/>
          <p:cNvCxnSpPr/>
          <p:nvPr/>
        </p:nvCxnSpPr>
        <p:spPr>
          <a:xfrm>
            <a:off x="889939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9045701"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911885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replies + updates</a:t>
            </a:r>
          </a:p>
        </p:txBody>
      </p:sp>
      <p:sp>
        <p:nvSpPr>
          <p:cNvPr id="25" name="Shape 24"/>
          <p:cNvSpPr/>
          <p:nvPr/>
        </p:nvSpPr>
        <p:spPr>
          <a:xfrm>
            <a:off x="10484738" y="1152144"/>
            <a:ext cx="1292732" cy="301751"/>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10557890" y="1188720"/>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A · opted in</a:t>
            </a:r>
          </a:p>
          <a:p>
            <a:pPr>
              <a:lnSpc>
                <a:spcPct val="92000"/>
              </a:lnSpc>
              <a:spcAft>
                <a:spcPts val="100"/>
              </a:spcAft>
            </a:pPr>
            <a:r>
              <a:rPr sz="700" b="0" i="0">
                <a:solidFill>
                  <a:srgbClr val="B3B3B3"/>
                </a:solidFill>
                <a:latin typeface="Trenda IG Text"/>
              </a:rPr>
              <a:t>consented; aggregates only</a:t>
            </a:r>
          </a:p>
        </p:txBody>
      </p:sp>
      <p:cxnSp>
        <p:nvCxnSpPr>
          <p:cNvPr id="27" name="Arrow 26"/>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flipV="1">
            <a:off x="10393299" y="1303020"/>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10393299" y="1303020"/>
            <a:ext cx="91439" cy="0"/>
          </a:xfrm>
          <a:prstGeom prst="line">
            <a:avLst/>
          </a:prstGeom>
          <a:ln w="1270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Shape 29"/>
          <p:cNvSpPr/>
          <p:nvPr/>
        </p:nvSpPr>
        <p:spPr>
          <a:xfrm>
            <a:off x="10484738" y="1508760"/>
            <a:ext cx="1292732" cy="301751"/>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10557890" y="1545336"/>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B · not opted in</a:t>
            </a:r>
          </a:p>
          <a:p>
            <a:pPr>
              <a:lnSpc>
                <a:spcPct val="92000"/>
              </a:lnSpc>
              <a:spcAft>
                <a:spcPts val="100"/>
              </a:spcAft>
            </a:pPr>
            <a:r>
              <a:rPr sz="700" b="0" i="0">
                <a:solidFill>
                  <a:srgbClr val="B3B3B3"/>
                </a:solidFill>
                <a:latin typeface="Trenda IG Text"/>
              </a:rPr>
              <a:t>or still missing; per patient</a:t>
            </a:r>
          </a:p>
        </p:txBody>
      </p:sp>
      <p:cxnSp>
        <p:nvCxnSpPr>
          <p:cNvPr id="32" name="Arrow 31"/>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3" name="Arrow 32"/>
          <p:cNvCxnSpPr/>
          <p:nvPr/>
        </p:nvCxnSpPr>
        <p:spPr>
          <a:xfrm>
            <a:off x="10393299" y="1481328"/>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4" name="Arrow 33"/>
          <p:cNvCxnSpPr/>
          <p:nvPr/>
        </p:nvCxnSpPr>
        <p:spPr>
          <a:xfrm>
            <a:off x="10393299" y="1659636"/>
            <a:ext cx="91439" cy="0"/>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11480" y="1975104"/>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21208" y="1975104"/>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7" name="Shape 36"/>
          <p:cNvSpPr/>
          <p:nvPr/>
        </p:nvSpPr>
        <p:spPr>
          <a:xfrm>
            <a:off x="4197096" y="1975104"/>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06824" y="1975104"/>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9" name="Shape 38"/>
          <p:cNvSpPr/>
          <p:nvPr/>
        </p:nvSpPr>
        <p:spPr>
          <a:xfrm>
            <a:off x="7891271" y="1975104"/>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8000999" y="1975104"/>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41" name="Shape 40"/>
          <p:cNvSpPr/>
          <p:nvPr/>
        </p:nvSpPr>
        <p:spPr>
          <a:xfrm>
            <a:off x="411480" y="2322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11480" y="2322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539496" y="2322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4" name="Shape 43"/>
          <p:cNvSpPr/>
          <p:nvPr/>
        </p:nvSpPr>
        <p:spPr>
          <a:xfrm>
            <a:off x="411480" y="2779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4"/>
          <p:cNvSpPr/>
          <p:nvPr/>
        </p:nvSpPr>
        <p:spPr>
          <a:xfrm>
            <a:off x="411480" y="2779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539496" y="2779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 status</a:t>
            </a:r>
            <a:r>
              <a:rPr sz="700" b="0" i="0">
                <a:solidFill>
                  <a:srgbClr val="B3B3B3"/>
                </a:solidFill>
                <a:latin typeface="Trenda IG Text"/>
              </a:rPr>
              <a:t>  opted out, or unknown / expired, per channel and purpose</a:t>
            </a:r>
          </a:p>
        </p:txBody>
      </p:sp>
      <p:sp>
        <p:nvSpPr>
          <p:cNvPr id="47" name="Shape 46"/>
          <p:cNvSpPr/>
          <p:nvPr/>
        </p:nvSpPr>
        <p:spPr>
          <a:xfrm>
            <a:off x="411480" y="32369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7"/>
          <p:cNvSpPr/>
          <p:nvPr/>
        </p:nvSpPr>
        <p:spPr>
          <a:xfrm>
            <a:off x="411480"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39496" y="32369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Missing information</a:t>
            </a:r>
            <a:r>
              <a:rPr sz="700" b="0" i="0">
                <a:solidFill>
                  <a:srgbClr val="B3B3B3"/>
                </a:solidFill>
                <a:latin typeface="Trenda IG Text"/>
              </a:rPr>
              <a:t>  no email, no mobile number, or unverified contact</a:t>
            </a:r>
          </a:p>
        </p:txBody>
      </p:sp>
      <p:sp>
        <p:nvSpPr>
          <p:cNvPr id="50" name="Shape 49"/>
          <p:cNvSpPr/>
          <p:nvPr/>
        </p:nvSpPr>
        <p:spPr>
          <a:xfrm>
            <a:off x="411480" y="36941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11480"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39496" y="36941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 we have</a:t>
            </a:r>
            <a:r>
              <a:rPr sz="700" b="0" i="0">
                <a:solidFill>
                  <a:srgbClr val="B3B3B3"/>
                </a:solidFill>
                <a:latin typeface="Trenda IG Text"/>
              </a:rPr>
              <a:t>  verified email or phone, where they exist</a:t>
            </a:r>
          </a:p>
        </p:txBody>
      </p:sp>
      <p:sp>
        <p:nvSpPr>
          <p:cNvPr id="53" name="Shape 52"/>
          <p:cNvSpPr/>
          <p:nvPr/>
        </p:nvSpPr>
        <p:spPr>
          <a:xfrm>
            <a:off x="411480" y="41513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53"/>
          <p:cNvSpPr/>
          <p:nvPr/>
        </p:nvSpPr>
        <p:spPr>
          <a:xfrm>
            <a:off x="411480" y="41513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539496" y="41513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Never-contact</a:t>
            </a:r>
            <a:r>
              <a:rPr sz="700" b="0" i="0">
                <a:solidFill>
                  <a:srgbClr val="B3B3B3"/>
                </a:solidFill>
                <a:latin typeface="Trenda IG Text"/>
              </a:rPr>
              <a:t>  explicit opt-out, STOP, deceased, do-not-contact</a:t>
            </a:r>
          </a:p>
        </p:txBody>
      </p:sp>
      <p:sp>
        <p:nvSpPr>
          <p:cNvPr id="56" name="Shape 55"/>
          <p:cNvSpPr/>
          <p:nvPr/>
        </p:nvSpPr>
        <p:spPr>
          <a:xfrm>
            <a:off x="411480" y="4608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11480" y="4608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39496" y="4608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9" name="Shape 58"/>
          <p:cNvSpPr/>
          <p:nvPr/>
        </p:nvSpPr>
        <p:spPr>
          <a:xfrm>
            <a:off x="411480" y="5065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9"/>
          <p:cNvSpPr/>
          <p:nvPr/>
        </p:nvSpPr>
        <p:spPr>
          <a:xfrm>
            <a:off x="411480" y="5065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39496" y="5065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Request history</a:t>
            </a:r>
            <a:r>
              <a:rPr sz="700" b="0" i="0">
                <a:solidFill>
                  <a:srgbClr val="B3B3B3"/>
                </a:solidFill>
                <a:latin typeface="Trenda IG Text"/>
              </a:rPr>
              <a:t>  update requests sent, replies, consents given</a:t>
            </a:r>
          </a:p>
        </p:txBody>
      </p:sp>
      <p:sp>
        <p:nvSpPr>
          <p:cNvPr id="62" name="Shape 61"/>
          <p:cNvSpPr/>
          <p:nvPr/>
        </p:nvSpPr>
        <p:spPr>
          <a:xfrm>
            <a:off x="4197096" y="2322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2"/>
          <p:cNvSpPr/>
          <p:nvPr/>
        </p:nvSpPr>
        <p:spPr>
          <a:xfrm>
            <a:off x="4197096"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4325112" y="2322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5" name="Shape 64"/>
          <p:cNvSpPr/>
          <p:nvPr/>
        </p:nvSpPr>
        <p:spPr>
          <a:xfrm>
            <a:off x="4197096" y="2779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4197096"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4325112" y="2779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unmasks the minimum fields, for the approved run</a:t>
            </a:r>
          </a:p>
        </p:txBody>
      </p:sp>
      <p:sp>
        <p:nvSpPr>
          <p:cNvPr id="68" name="Shape 67"/>
          <p:cNvSpPr/>
          <p:nvPr/>
        </p:nvSpPr>
        <p:spPr>
          <a:xfrm>
            <a:off x="4197096" y="32369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4197096"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4325112" y="32369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71" name="Shape 70"/>
          <p:cNvSpPr/>
          <p:nvPr/>
        </p:nvSpPr>
        <p:spPr>
          <a:xfrm>
            <a:off x="4197096" y="36941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1"/>
          <p:cNvSpPr/>
          <p:nvPr/>
        </p:nvSpPr>
        <p:spPr>
          <a:xfrm>
            <a:off x="4197096"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325112" y="36941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4" name="Shape 73"/>
          <p:cNvSpPr/>
          <p:nvPr/>
        </p:nvSpPr>
        <p:spPr>
          <a:xfrm>
            <a:off x="4197096" y="41513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197096"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325112" y="41513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7" name="Shape 76"/>
          <p:cNvSpPr/>
          <p:nvPr/>
        </p:nvSpPr>
        <p:spPr>
          <a:xfrm>
            <a:off x="4197096" y="4608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4197096"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4325112" y="4608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80" name="Shape 79"/>
          <p:cNvSpPr/>
          <p:nvPr/>
        </p:nvSpPr>
        <p:spPr>
          <a:xfrm>
            <a:off x="4197096" y="5065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4197096"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4325112" y="5065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83" name="Shape 82"/>
          <p:cNvSpPr/>
          <p:nvPr/>
        </p:nvSpPr>
        <p:spPr>
          <a:xfrm>
            <a:off x="7891271" y="2322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7891271"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019288" y="2322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Find who may be asked: consent unknown or information missing</a:t>
            </a:r>
            <a:r>
              <a:rPr sz="700" b="0" i="0">
                <a:solidFill>
                  <a:srgbClr val="B3B3B3"/>
                </a:solidFill>
                <a:latin typeface="Trenda IG Text"/>
              </a:rPr>
              <a:t>  </a:t>
            </a:r>
          </a:p>
        </p:txBody>
      </p:sp>
      <p:sp>
        <p:nvSpPr>
          <p:cNvPr id="86" name="Shape 85"/>
          <p:cNvSpPr/>
          <p:nvPr/>
        </p:nvSpPr>
        <p:spPr>
          <a:xfrm>
            <a:off x="7891271" y="2779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7891271"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019288" y="2779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Never re-ask explicit opt-outs, STOP, deceased or do-not-contact</a:t>
            </a:r>
            <a:r>
              <a:rPr sz="700" b="0" i="0">
                <a:solidFill>
                  <a:srgbClr val="B3B3B3"/>
                </a:solidFill>
                <a:latin typeface="Trenda IG Text"/>
              </a:rPr>
              <a:t>  </a:t>
            </a:r>
          </a:p>
        </p:txBody>
      </p:sp>
      <p:sp>
        <p:nvSpPr>
          <p:cNvPr id="89" name="Shape 88"/>
          <p:cNvSpPr/>
          <p:nvPr/>
        </p:nvSpPr>
        <p:spPr>
          <a:xfrm>
            <a:off x="7891271" y="32369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7891271" y="32369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019288" y="32369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by reason</a:t>
            </a:r>
            <a:r>
              <a:rPr sz="700" b="0" i="0">
                <a:solidFill>
                  <a:srgbClr val="B3B3B3"/>
                </a:solidFill>
                <a:latin typeface="Trenda IG Text"/>
              </a:rPr>
              <a:t>  </a:t>
            </a:r>
          </a:p>
        </p:txBody>
      </p:sp>
      <p:sp>
        <p:nvSpPr>
          <p:cNvPr id="92" name="Shape 91"/>
          <p:cNvSpPr/>
          <p:nvPr/>
        </p:nvSpPr>
        <p:spPr>
          <a:xfrm>
            <a:off x="7891271" y="36941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891271" y="36941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019288" y="36941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Send an update request by email where an address exists; else portal</a:t>
            </a:r>
            <a:r>
              <a:rPr sz="700" b="0" i="0">
                <a:solidFill>
                  <a:srgbClr val="B3B3B3"/>
                </a:solidFill>
                <a:latin typeface="Trenda IG Text"/>
              </a:rPr>
              <a:t>  </a:t>
            </a:r>
          </a:p>
        </p:txBody>
      </p:sp>
      <p:sp>
        <p:nvSpPr>
          <p:cNvPr id="95" name="Shape 94"/>
          <p:cNvSpPr/>
          <p:nvPr/>
        </p:nvSpPr>
        <p:spPr>
          <a:xfrm>
            <a:off x="7891271" y="41513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891271"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8019288" y="41513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Write answers back to Epic and the consent system, not to Gold B</a:t>
            </a:r>
            <a:r>
              <a:rPr sz="700" b="0" i="0">
                <a:solidFill>
                  <a:srgbClr val="B3B3B3"/>
                </a:solidFill>
                <a:latin typeface="Trenda IG Text"/>
              </a:rPr>
              <a:t>  </a:t>
            </a:r>
          </a:p>
        </p:txBody>
      </p:sp>
      <p:sp>
        <p:nvSpPr>
          <p:cNvPr id="98" name="Shape 97"/>
          <p:cNvSpPr/>
          <p:nvPr/>
        </p:nvSpPr>
        <p:spPr>
          <a:xfrm>
            <a:off x="7891271" y="4608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891271"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8019288" y="4608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Opted in: the patient moves to Gold A at the next daily refresh</a:t>
            </a:r>
            <a:r>
              <a:rPr sz="700" b="0" i="0">
                <a:solidFill>
                  <a:srgbClr val="B3B3B3"/>
                </a:solidFill>
                <a:latin typeface="Trenda IG Text"/>
              </a:rPr>
              <a:t>  </a:t>
            </a:r>
          </a:p>
        </p:txBody>
      </p:sp>
      <p:sp>
        <p:nvSpPr>
          <p:cNvPr id="101" name="Shape 100"/>
          <p:cNvSpPr/>
          <p:nvPr/>
        </p:nvSpPr>
        <p:spPr>
          <a:xfrm>
            <a:off x="7891271" y="5065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891271"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8019288" y="5065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Not opted in or still missing: stays in Gold B, restricted</a:t>
            </a:r>
            <a:r>
              <a:rPr sz="700" b="0" i="0">
                <a:solidFill>
                  <a:srgbClr val="B3B3B3"/>
                </a:solidFill>
                <a:latin typeface="Trenda IG Text"/>
              </a:rPr>
              <a:t>  </a:t>
            </a:r>
          </a:p>
        </p:txBody>
      </p:sp>
      <p:sp>
        <p:nvSpPr>
          <p:cNvPr id="104" name="Text 103"/>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5" name="Shape 104"/>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8" name="Shape 107"/>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8"/>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11" name="Shape 110"/>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hape 111"/>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4" name="Shape 113"/>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14"/>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7" name="Shape 116"/>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Shape 117"/>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Opt-outs never re-asked</a:t>
            </a:r>
          </a:p>
          <a:p>
            <a:pPr>
              <a:spcAft>
                <a:spcPts val="100"/>
              </a:spcAft>
            </a:pPr>
            <a:r>
              <a:rPr sz="700" b="0" i="0">
                <a:solidFill>
                  <a:srgbClr val="B3B3B3"/>
                </a:solidFill>
                <a:latin typeface="Trenda IG Text"/>
              </a:rPr>
              <a:t>STOP and deceased excluded</a:t>
            </a:r>
          </a:p>
        </p:txBody>
      </p:sp>
      <p:sp>
        <p:nvSpPr>
          <p:cNvPr id="120" name="Shape 119"/>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mag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opted in</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consented patients, masked for agents;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mage.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Eligibility service</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deterministic; runs on Gold A records</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Activation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policy checks; unmasks minimum fields</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imag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1969552" y="2887472"/>
            <a:ext cx="337870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1969552" y="2887472"/>
            <a:ext cx="3378708"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patient rows stay masked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on Gold A for the approved rule (no patient data comes back)</a:t>
            </a:r>
          </a:p>
        </p:txBody>
      </p:sp>
      <p:sp>
        <p:nvSpPr>
          <p:cNvPr id="75" name="Shape 69"/>
          <p:cNvSpPr/>
          <p:nvPr/>
        </p:nvSpPr>
        <p:spPr>
          <a:xfrm>
            <a:off x="6961196" y="4422647"/>
            <a:ext cx="4206240"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4206240"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no consent or missing → Gold B</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620217" y="4995671"/>
            <a:ext cx="181965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620217" y="4995671"/>
            <a:ext cx="1819656"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masked keys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348471" y="5206491"/>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348471" y="5206491"/>
            <a:ext cx="3429000" cy="128016"/>
          </a:xfrm>
          <a:prstGeom prst="rect">
            <a:avLst/>
          </a:prstGeom>
          <a:noFill/>
        </p:spPr>
        <p:txBody>
          <a:bodyPr wrap="square" lIns="0" rIns="0" tIns="0" bIns="0" anchor="ctr">
            <a:spAutoFit/>
          </a:bodyPr>
          <a:lstStyle/>
          <a:p>
            <a:pPr algn="ctr"/>
            <a:r>
              <a:rPr sz="700" b="0" i="0">
                <a:solidFill>
                  <a:srgbClr val="F2F2F2"/>
                </a:solidFill>
                <a:latin typeface="Trenda IG Text"/>
              </a:rPr>
              <a:t>13  Unmask the minimum fields; release after G2 + G3, time-limited</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current in Google Cloud; consented patients → Gold A, no consent or missing information → Gold B; DLP classifies and a Collibra steward approves the masking.</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9034</Words>
  <Application>Microsoft Office PowerPoint</Application>
  <PresentationFormat>Widescreen</PresentationFormat>
  <Paragraphs>1234</Paragraphs>
  <Slides>18</Slides>
  <Notes>18</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18</vt:i4>
      </vt:variant>
    </vt:vector>
  </HeadingPairs>
  <TitlesOfParts>
    <vt:vector size="29" baseType="lpstr">
      <vt:lpstr>Aptos</vt:lpstr>
      <vt:lpstr>Arial</vt:lpstr>
      <vt:lpstr>Calibri</vt:lpstr>
      <vt:lpstr>Courier New</vt:lpstr>
      <vt:lpstr>Trenda IG Text</vt:lpstr>
      <vt:lpstr>Trenda IG Text Bold</vt:lpstr>
      <vt:lpstr>Trenda IG Text Light</vt:lpstr>
      <vt:lpstr>Trenda IG Text Semibold</vt:lpstr>
      <vt:lpstr>Office Theme</vt:lpstr>
      <vt:lpstr>1_Office Theme</vt:lpstr>
      <vt:lpstr>2_Office Theme</vt:lpstr>
      <vt:lpstr>Ascension AGENTIC FACTORY</vt:lpstr>
      <vt:lpstr>PowerPoint Presentation</vt:lpstr>
      <vt:lpstr>PowerPoint Presentation</vt:lpstr>
      <vt:lpstr>PowerPoint Presentation</vt:lpstr>
      <vt:lpstr>PowerPoint Presentation</vt:lpstr>
      <vt:lpstr>HIPAA-Aligned Agentic Healthcare Campaign Platform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2026-10-27T10:24:07Z</dcterms:modified>
</cp:coreProperties>
</file>